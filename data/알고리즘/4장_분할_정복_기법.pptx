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rts/chart1.xml" ContentType="application/vnd.openxmlformats-officedocument.drawingml.chart+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3"/>
  </p:notesMasterIdLst>
  <p:sldIdLst>
    <p:sldId id="256" r:id="rId2"/>
    <p:sldId id="257" r:id="rId3"/>
    <p:sldId id="258" r:id="rId4"/>
    <p:sldId id="259" r:id="rId5"/>
    <p:sldId id="260" r:id="rId6"/>
    <p:sldId id="261" r:id="rId7"/>
    <p:sldId id="320"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23" r:id="rId35"/>
    <p:sldId id="324" r:id="rId36"/>
    <p:sldId id="325" r:id="rId37"/>
    <p:sldId id="262" r:id="rId38"/>
    <p:sldId id="263" r:id="rId39"/>
    <p:sldId id="264" r:id="rId40"/>
    <p:sldId id="265" r:id="rId41"/>
    <p:sldId id="266" r:id="rId42"/>
    <p:sldId id="267" r:id="rId43"/>
    <p:sldId id="268" r:id="rId44"/>
    <p:sldId id="269" r:id="rId45"/>
    <p:sldId id="270" r:id="rId46"/>
    <p:sldId id="271" r:id="rId47"/>
    <p:sldId id="326" r:id="rId48"/>
    <p:sldId id="327" r:id="rId49"/>
    <p:sldId id="372" r:id="rId50"/>
    <p:sldId id="373" r:id="rId51"/>
    <p:sldId id="374" r:id="rId52"/>
    <p:sldId id="375" r:id="rId53"/>
    <p:sldId id="330" r:id="rId54"/>
    <p:sldId id="331" r:id="rId55"/>
    <p:sldId id="332" r:id="rId56"/>
    <p:sldId id="333" r:id="rId57"/>
    <p:sldId id="334" r:id="rId58"/>
    <p:sldId id="335" r:id="rId59"/>
    <p:sldId id="371" r:id="rId60"/>
    <p:sldId id="376" r:id="rId61"/>
    <p:sldId id="377" r:id="rId62"/>
    <p:sldId id="378" r:id="rId63"/>
    <p:sldId id="379" r:id="rId64"/>
    <p:sldId id="380" r:id="rId65"/>
    <p:sldId id="381" r:id="rId66"/>
    <p:sldId id="382" r:id="rId67"/>
    <p:sldId id="383" r:id="rId68"/>
    <p:sldId id="384" r:id="rId69"/>
    <p:sldId id="385" r:id="rId70"/>
    <p:sldId id="386" r:id="rId71"/>
    <p:sldId id="387" r:id="rId72"/>
    <p:sldId id="388" r:id="rId73"/>
    <p:sldId id="389" r:id="rId74"/>
    <p:sldId id="390" r:id="rId75"/>
    <p:sldId id="391" r:id="rId76"/>
    <p:sldId id="392" r:id="rId77"/>
    <p:sldId id="338" r:id="rId78"/>
    <p:sldId id="339" r:id="rId79"/>
    <p:sldId id="340" r:id="rId80"/>
    <p:sldId id="341" r:id="rId81"/>
    <p:sldId id="342" r:id="rId82"/>
    <p:sldId id="343" r:id="rId83"/>
    <p:sldId id="344" r:id="rId84"/>
    <p:sldId id="272" r:id="rId85"/>
    <p:sldId id="273" r:id="rId86"/>
    <p:sldId id="274" r:id="rId87"/>
    <p:sldId id="275" r:id="rId88"/>
    <p:sldId id="276" r:id="rId89"/>
    <p:sldId id="277" r:id="rId90"/>
    <p:sldId id="278" r:id="rId91"/>
    <p:sldId id="279" r:id="rId92"/>
    <p:sldId id="280" r:id="rId93"/>
    <p:sldId id="281" r:id="rId94"/>
    <p:sldId id="282" r:id="rId95"/>
    <p:sldId id="283" r:id="rId96"/>
    <p:sldId id="284" r:id="rId97"/>
    <p:sldId id="285" r:id="rId98"/>
    <p:sldId id="286" r:id="rId99"/>
    <p:sldId id="287" r:id="rId100"/>
    <p:sldId id="288" r:id="rId101"/>
    <p:sldId id="289" r:id="rId102"/>
    <p:sldId id="290" r:id="rId103"/>
    <p:sldId id="291" r:id="rId104"/>
    <p:sldId id="292" r:id="rId105"/>
    <p:sldId id="293" r:id="rId106"/>
    <p:sldId id="294" r:id="rId107"/>
    <p:sldId id="295" r:id="rId108"/>
    <p:sldId id="296" r:id="rId109"/>
    <p:sldId id="297" r:id="rId110"/>
    <p:sldId id="298" r:id="rId111"/>
    <p:sldId id="299" r:id="rId112"/>
    <p:sldId id="300" r:id="rId113"/>
    <p:sldId id="301" r:id="rId114"/>
    <p:sldId id="302" r:id="rId115"/>
    <p:sldId id="303" r:id="rId116"/>
    <p:sldId id="304" r:id="rId117"/>
    <p:sldId id="305" r:id="rId118"/>
    <p:sldId id="306" r:id="rId119"/>
    <p:sldId id="307" r:id="rId120"/>
    <p:sldId id="308" r:id="rId121"/>
    <p:sldId id="309" r:id="rId122"/>
    <p:sldId id="310" r:id="rId123"/>
    <p:sldId id="311" r:id="rId124"/>
    <p:sldId id="312" r:id="rId125"/>
    <p:sldId id="313" r:id="rId126"/>
    <p:sldId id="314" r:id="rId127"/>
    <p:sldId id="315" r:id="rId128"/>
    <p:sldId id="316" r:id="rId129"/>
    <p:sldId id="317" r:id="rId130"/>
    <p:sldId id="318" r:id="rId131"/>
    <p:sldId id="319" r:id="rId13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일별 손익 변화</c:v>
          </c:tx>
          <c:spPr>
            <a:solidFill>
              <a:srgbClr val="7A9FA9"/>
            </a:solidFill>
          </c:spPr>
          <c:invertIfNegative val="0"/>
          <c:dPt>
            <c:idx val="2"/>
            <c:invertIfNegative val="0"/>
            <c:bubble3D val="0"/>
            <c:spPr>
              <a:solidFill>
                <a:srgbClr val="EA8D47"/>
              </a:solidFill>
            </c:spPr>
            <c:extLst>
              <c:ext xmlns:c16="http://schemas.microsoft.com/office/drawing/2014/chart" uri="{C3380CC4-5D6E-409C-BE32-E72D297353CC}">
                <c16:uniqueId val="{00000001-5D01-4430-8A6B-B253845AB292}"/>
              </c:ext>
            </c:extLst>
          </c:dPt>
          <c:dPt>
            <c:idx val="3"/>
            <c:invertIfNegative val="0"/>
            <c:bubble3D val="0"/>
            <c:spPr>
              <a:solidFill>
                <a:srgbClr val="EA8D47"/>
              </a:solidFill>
            </c:spPr>
            <c:extLst>
              <c:ext xmlns:c16="http://schemas.microsoft.com/office/drawing/2014/chart" uri="{C3380CC4-5D6E-409C-BE32-E72D297353CC}">
                <c16:uniqueId val="{00000003-5D01-4430-8A6B-B253845AB292}"/>
              </c:ext>
            </c:extLst>
          </c:dPt>
          <c:dPt>
            <c:idx val="4"/>
            <c:invertIfNegative val="0"/>
            <c:bubble3D val="0"/>
            <c:spPr>
              <a:solidFill>
                <a:srgbClr val="EA8D47"/>
              </a:solidFill>
            </c:spPr>
            <c:extLst>
              <c:ext xmlns:c16="http://schemas.microsoft.com/office/drawing/2014/chart" uri="{C3380CC4-5D6E-409C-BE32-E72D297353CC}">
                <c16:uniqueId val="{00000005-5D01-4430-8A6B-B253845AB292}"/>
              </c:ext>
            </c:extLst>
          </c:dPt>
          <c:dLbls>
            <c:dLbl>
              <c:idx val="0"/>
              <c:spPr/>
              <c:txPr>
                <a:bodyPr anchorCtr="1"/>
                <a:lstStyle/>
                <a:p>
                  <a:pPr>
                    <a:defRPr sz="1350" b="1">
                      <a:solidFill>
                        <a:srgbClr val="171717"/>
                      </a:solidFill>
                      <a:latin typeface="Malgun Gothic"/>
                      <a:ea typeface="Malgun Gothic"/>
                      <a:cs typeface="Malgun Gothic"/>
                    </a:defRPr>
                  </a:pPr>
                  <a:endParaRPr lang="ko-K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D01-4430-8A6B-B253845AB292}"/>
                </c:ext>
              </c:extLst>
            </c:dLbl>
            <c:dLbl>
              <c:idx val="1"/>
              <c:spPr/>
              <c:txPr>
                <a:bodyPr anchorCtr="1"/>
                <a:lstStyle/>
                <a:p>
                  <a:pPr>
                    <a:defRPr sz="1350" b="1">
                      <a:solidFill>
                        <a:srgbClr val="171717"/>
                      </a:solidFill>
                      <a:latin typeface="Malgun Gothic"/>
                      <a:ea typeface="Malgun Gothic"/>
                      <a:cs typeface="Malgun Gothic"/>
                    </a:defRPr>
                  </a:pPr>
                  <a:endParaRPr lang="ko-K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D01-4430-8A6B-B253845AB292}"/>
                </c:ext>
              </c:extLst>
            </c:dLbl>
            <c:dLbl>
              <c:idx val="2"/>
              <c:spPr/>
              <c:txPr>
                <a:bodyPr anchorCtr="1"/>
                <a:lstStyle/>
                <a:p>
                  <a:pPr>
                    <a:defRPr sz="1350" b="1">
                      <a:solidFill>
                        <a:srgbClr val="171717"/>
                      </a:solidFill>
                      <a:latin typeface="Malgun Gothic"/>
                      <a:ea typeface="Malgun Gothic"/>
                      <a:cs typeface="Malgun Gothic"/>
                    </a:defRPr>
                  </a:pPr>
                  <a:endParaRPr lang="ko-K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D01-4430-8A6B-B253845AB292}"/>
                </c:ext>
              </c:extLst>
            </c:dLbl>
            <c:dLbl>
              <c:idx val="3"/>
              <c:spPr/>
              <c:txPr>
                <a:bodyPr anchorCtr="1"/>
                <a:lstStyle/>
                <a:p>
                  <a:pPr>
                    <a:defRPr sz="1350" b="1">
                      <a:solidFill>
                        <a:srgbClr val="171717"/>
                      </a:solidFill>
                      <a:latin typeface="Malgun Gothic"/>
                      <a:ea typeface="Malgun Gothic"/>
                      <a:cs typeface="Malgun Gothic"/>
                    </a:defRPr>
                  </a:pPr>
                  <a:endParaRPr lang="ko-K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D01-4430-8A6B-B253845AB292}"/>
                </c:ext>
              </c:extLst>
            </c:dLbl>
            <c:dLbl>
              <c:idx val="4"/>
              <c:spPr/>
              <c:txPr>
                <a:bodyPr anchorCtr="1"/>
                <a:lstStyle/>
                <a:p>
                  <a:pPr>
                    <a:defRPr sz="1350" b="1">
                      <a:solidFill>
                        <a:srgbClr val="171717"/>
                      </a:solidFill>
                      <a:latin typeface="Malgun Gothic"/>
                      <a:ea typeface="Malgun Gothic"/>
                      <a:cs typeface="Malgun Gothic"/>
                    </a:defRPr>
                  </a:pPr>
                  <a:endParaRPr lang="ko-K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D01-4430-8A6B-B253845AB292}"/>
                </c:ext>
              </c:extLst>
            </c:dLbl>
            <c:dLbl>
              <c:idx val="5"/>
              <c:spPr/>
              <c:txPr>
                <a:bodyPr anchorCtr="1"/>
                <a:lstStyle/>
                <a:p>
                  <a:pPr>
                    <a:defRPr sz="1350" b="1">
                      <a:solidFill>
                        <a:srgbClr val="FFFFFF"/>
                      </a:solidFill>
                      <a:latin typeface="Malgun Gothic"/>
                      <a:ea typeface="Malgun Gothic"/>
                      <a:cs typeface="Malgun Gothic"/>
                    </a:defRPr>
                  </a:pPr>
                  <a:endParaRPr lang="ko-KR"/>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D01-4430-8A6B-B253845AB292}"/>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1일</c:v>
                </c:pt>
                <c:pt idx="1">
                  <c:v>2일</c:v>
                </c:pt>
                <c:pt idx="2">
                  <c:v>3일</c:v>
                </c:pt>
                <c:pt idx="3">
                  <c:v>4일</c:v>
                </c:pt>
                <c:pt idx="4">
                  <c:v>5일</c:v>
                </c:pt>
                <c:pt idx="5">
                  <c:v>6일</c:v>
                </c:pt>
              </c:strCache>
            </c:strRef>
          </c:cat>
          <c:val>
            <c:numRef>
              <c:f>'Chart Data'!$B$2:$B$7</c:f>
              <c:numCache>
                <c:formatCode>General</c:formatCode>
                <c:ptCount val="6"/>
                <c:pt idx="0">
                  <c:v>3</c:v>
                </c:pt>
                <c:pt idx="1">
                  <c:v>-5</c:v>
                </c:pt>
                <c:pt idx="2">
                  <c:v>12</c:v>
                </c:pt>
                <c:pt idx="3">
                  <c:v>-2</c:v>
                </c:pt>
                <c:pt idx="4">
                  <c:v>7</c:v>
                </c:pt>
                <c:pt idx="5">
                  <c:v>-9</c:v>
                </c:pt>
              </c:numCache>
            </c:numRef>
          </c:val>
          <c:extLst>
            <c:ext xmlns:c16="http://schemas.microsoft.com/office/drawing/2014/chart" uri="{C3380CC4-5D6E-409C-BE32-E72D297353CC}">
              <c16:uniqueId val="{00000009-5D01-4430-8A6B-B253845AB292}"/>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275">
                <a:solidFill>
                  <a:srgbClr val="171717"/>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15"/>
          <c:min val="-10"/>
        </c:scaling>
        <c:delete val="0"/>
        <c:axPos val="l"/>
        <c:majorGridlines>
          <c:spPr>
            <a:ln w="9525">
              <a:solidFill>
                <a:srgbClr val="DDDDDD"/>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75">
                <a:solidFill>
                  <a:srgbClr val="171717"/>
                </a:solidFill>
                <a:latin typeface="Malgun Gothic"/>
                <a:ea typeface="Malgun Gothic"/>
                <a:cs typeface="Malgun Gothic"/>
              </a:defRPr>
            </a:pPr>
            <a:endParaRPr lang="ko-KR"/>
          </a:p>
        </c:txPr>
        <c:crossAx val="48650112"/>
        <c:crosses val="autoZero"/>
        <c:crossBetween val="between"/>
        <c:majorUnit val="5"/>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분할 정복을 배우겠습니다. 3장에서는 더 작은 문제 하나를 남겨서 풀었다면, 이번에는 작은 문제 여러 개를 각각 풀고 결과를 합칩니다. 합병 정렬부터 시작해서 숫자, 평면의 점, 이미지, 행렬까지 같은 생각이 어떻게 이어지는지 보겠습니다. 코드를 볼 때는 어디서 나누고, 무엇을 재귀 호출하고, 돌아온 답을 어떻게 합치는지 찾아보세요.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이번 장에서는 분할 정복의 기본을 먼저 보고</a:t>
            </a:r>
            <a:r>
              <a:rPr lang="en-US" altLang="ko-KR"/>
              <a:t>, </a:t>
            </a:r>
            <a:r>
              <a:rPr lang="ko-KR" altLang="en-US"/>
              <a:t>머지 소트와 퀵 소트를 이어서 배웁니다</a:t>
            </a:r>
            <a:r>
              <a:rPr lang="en-US" altLang="ko-KR"/>
              <a:t>. </a:t>
            </a:r>
            <a:r>
              <a:rPr lang="ko-KR" altLang="en-US"/>
              <a:t>머지 소트는 반으로 나누고 정렬한 결과를 합칩니다</a:t>
            </a:r>
            <a:r>
              <a:rPr lang="en-US" altLang="ko-KR"/>
              <a:t>. </a:t>
            </a:r>
            <a:r>
              <a:rPr lang="ko-KR" altLang="en-US"/>
              <a:t>퀵 소트는 피벗을 기준으로 값을 나눕니다</a:t>
            </a:r>
            <a:r>
              <a:rPr lang="en-US" altLang="ko-KR"/>
              <a:t>. </a:t>
            </a:r>
            <a:r>
              <a:rPr lang="ko-KR" altLang="en-US"/>
              <a:t>두 정렬의 차이를 익힌 다음에는 최대 구간 합과 최근접 쌍</a:t>
            </a:r>
            <a:r>
              <a:rPr lang="en-US" altLang="ko-KR"/>
              <a:t>, </a:t>
            </a:r>
            <a:r>
              <a:rPr lang="ko-KR" altLang="en-US"/>
              <a:t>쿼드 트리 같은 응용을 보겠습니다</a:t>
            </a:r>
            <a:r>
              <a:rPr lang="en-US" altLang="ko-KR"/>
              <a:t>. </a:t>
            </a:r>
            <a:r>
              <a:rPr lang="ko-KR" altLang="en-US"/>
              <a:t>마스터 정리로 시간 복잡도를 정리하고</a:t>
            </a:r>
            <a:r>
              <a:rPr lang="en-US" altLang="ko-KR"/>
              <a:t>, </a:t>
            </a:r>
            <a:r>
              <a:rPr lang="ko-KR" altLang="en-US"/>
              <a:t>카라츠바와 스트라센의 아이디어도 살펴봅니다</a:t>
            </a:r>
            <a:r>
              <a:rPr lang="en-US" altLang="ko-KR"/>
              <a:t>. </a:t>
            </a:r>
            <a:r>
              <a:rPr lang="ko-KR" altLang="en-US"/>
              <a:t>마지막에는 색종이 만들기와 빠른 거듭제곱 예제를 풀어보겠습니다</a:t>
            </a:r>
            <a:r>
              <a:rPr lang="en-US" altLang="ko-KR"/>
              <a: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분할 정복이라는 이름을 코드의 동작으로 바꿔보겠습니다. 큰 입력을 작은 입력 여러 개로 나누고, 각 입력에서 얻은 답을 이용해 전체 답을 만드는 겁니다. 여기서 중요한 질문은 두 가지예요. 얼마나 작아지면 바로 답할 수 있는지, 그리고 작은 답들만 가지고 전체 답을 만들 수 있는지입니다. 이 두 가지가 정해져야 재귀 함수가 완성됩니다.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큰 문제를 작은 문제로 나누면 각각은 다루기 쉬워집니다. 하지만 잘게 나누기만 해서는 원래 문제의 답이 나오지 않겠죠. 작은 문제들을 해결한 다음, 그 결과를 올바르게 결합해야 합니다. 화면의 디바이드, 컨커, 컴바인은 각각 나누기, 해결하기, 합치기를 뜻해요. 이번 장에서는 특히 마지막 결합 단계가 빠짐없이 모든 경우를 처리하는지 확인하겠습니다.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천 페이지짜리 책을 요약한다고 해볼게요. 백 페이지씩 열 부분으로 나누고, 각 부분을 따로 요약한 뒤 순서에 맞춰 합치면 됩니다. 맡은 부분도 너무 길면 다시 나눌 수 있겠죠. 다만 장 사이의 연결 내용처럼 마지막에 정리해야 할 일이 남습니다. 알고리즘에서도 이 추가 작업이 결합 비용입니다. 여러 사람이 동시에 한다는 비유를 썼지만, 분할 정복 자체가 병렬 실행을 뜻하는 것은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의사코드를 위에서부터 보겠습니다. 먼저 문제 크기가 충분히 작으면 직접 풀고 반환합니다. 이것이 종료 조건이에요. 그렇지 않으면 작은 문제 여러 개를 만들고 각각 같은 함수를 호출합니다. 모든 호출이 답을 돌려주면 컴바인으로 전체 답을 만듭니다. 재귀 호출마다 입력이 실제로 작아지는지, 그리고 결합에 필요한 정보가 반환값에 모두 들어 있는지 확인하면 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병합 정렬을 배워 보겠습니다. 영어로는 머지 소트라고 하고, 합병 정렬이라고 부르는 자료도 있습니다. 모두 같은 정렬 방법입니다. 화면 위의 배열을 보세요. 8, 3, 6, 2, 7, 1, 5, 4가 섞여 있습니다. 우리가 원하는 것은 아래처럼 작은 값부터 1, 2, 3, 4, 5, 6, 7, 8로 만드는 것입니다.</a:t>
            </a:r>
          </a:p>
          <a:p>
            <a:endParaRPr/>
          </a:p>
          <a:p>
            <a:r>
              <a:t>여덟 개를 한꺼번에 정렬하려고 하면 어디서부터 손대야 할지 막막하죠. 병합 정렬은 문제를 작게 나눠서 생각합니다. 먼저 네 개씩, 그다음 두 개씩, 마지막에는 하나씩 남을 때까지 구간을 반으로 나눕니다. 원소 하나만 있는 배열은 이미 정렬되어 있습니다. 8 하나만 놓여 있다면 그 안에서 순서를 바꿀 대상이 없으니까요.</a:t>
            </a:r>
          </a:p>
          <a:p>
            <a:endParaRPr/>
          </a:p>
          <a:p>
            <a:r>
              <a:t>그다음에는 다시 합치면서 정렬합니다. 예를 들어 8 하나와 3 하나를 합칠 때 작은 3을 먼저 넣고 8을 뒤에 넣으면, 두 개짜리 정렬 결과가 생깁니다. 이런 결과 두 개를 다시 합치면 네 개짜리 정렬 결과가 됩니다. 마지막에는 정렬된 네 개짜리 배열 두 개를 합쳐 전체 정렬을 끝냅니다.</a:t>
            </a:r>
          </a:p>
          <a:p>
            <a:endParaRPr/>
          </a:p>
          <a:p>
            <a:r>
              <a:t>여기서 나누기만 하면 정렬되는 것은 아니라는 점을 기억하세요. 나눌 때는 구간만 나누고, 합칠 때 값을 비교해서 순서를 만듭니다. 다음 화면부터 이 배열이 어떻게 나뉘고 다시 합쳐지는지 하나씩 따라가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91389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나누는 단계부터 빠짐없이 보겠습니다. 맨 위에는 8, 3, 6, 2, 7, 1, 5, 4가 있습니다. 여덟 개의 가운데를 기준으로 왼쪽 네 개와 오른쪽 네 개를 나눕니다. 왼쪽은 8, 3, 6, 2이고 오른쪽은 7, 1, 5, 4입니다. 화면의 선은 어느 묶음이 어느 묶음으로 나뉘었는지 보여줍니다.</a:t>
            </a:r>
          </a:p>
          <a:p>
            <a:endParaRPr/>
          </a:p>
          <a:p>
            <a:r>
              <a:t>여기서 숫자의 크기는 아직 비교하지 않습니다. 가장 큰 8이 왼쪽에 있고 가장 작은 1이 오른쪽에 그대로 있죠. 작은 수를 왼쪽으로 옮기는 작업이 아닙니다. 현재 놓인 순서를 유지하면서 가운데 위치에서 구간만 자르는 것입니다. 그래서 나누기 직후의 두 배열은 아직 정렬되지 않았습니다.</a:t>
            </a:r>
          </a:p>
          <a:p>
            <a:endParaRPr/>
          </a:p>
          <a:p>
            <a:r>
              <a:t>코드에서는 원소 수의 절반을 mid로 잡고, 그 앞을 왼쪽 입력으로, 그 뒤를 오른쪽 입력으로 넘깁니다. Python에서는 왼쪽을 정렬하는 재귀 호출이 먼저 실행됩니다. 왼쪽 네 개도 아직 크므로 더 나눠야 합니다. 오른쪽 네 개의 호출은 왼쪽 호출이 끝나서 돌아온 다음에 실행됩니다.</a:t>
            </a:r>
          </a:p>
          <a:p>
            <a:endParaRPr/>
          </a:p>
          <a:p>
            <a:r>
              <a:t>지금 그림은 어떤 구간으로 나눌지 보여주는 전체 구조입니다. 두 가지를 구분해 주세요. 나누는 기준은 값의 크기가 아니라 가운데 위치이고, 두 재귀 호출의 실행은 동시에 일어나는 것이 아니라 왼쪽부터 차례대로 일어납니다. 다음 화면에서는 네 개짜리 구간 안쪽을 더 나눠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92884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네 개짜리 구간을 다시 반씩 나눕니다. 왼쪽의 8, 3, 6, 2는 8, 3과 6, 2가 됩니다. 오른쪽의 7, 1, 5, 4는 7, 1과 5, 4가 됩니다. 화면 아래에 두 개짜리 묶음이 네 개 생겼습니다. 위에서 내려오는 선을 따라가면 각 묶음이 어느 구간에서 나왔는지 알 수 있습니다.</a:t>
            </a:r>
          </a:p>
          <a:p>
            <a:endParaRPr/>
          </a:p>
          <a:p>
            <a:r>
              <a:t>여전히 값의 순서는 바꾸지 않았습니다. 8, 3을 나눠 얻었다고 해서 3, 8로 정렬한 것은 아니죠. 6, 2도 6이 먼저 있고, 7, 1과 5, 4도 원래 순서입니다. 병합 정렬에서 나누는 단계는 문제의 크기를 줄이는 단계입니다. 정렬은 뒤에서 두 결과를 합칠 때 일어납니다.</a:t>
            </a:r>
          </a:p>
          <a:p>
            <a:endParaRPr/>
          </a:p>
          <a:p>
            <a:r>
              <a:t>실제 호출은 맨 왼쪽의 8, 3부터 내려갑니다. 그 호출을 끝내고 나서 같은 부모 안의 6, 2를 처리합니다. 두 결과를 받은 뒤에는 왼쪽 네 개를 합칠 수 있습니다. 그때까지 오른쪽 네 개는 기다립니다. 지금 네 묶음이 같은 줄에 있다고 해서 컴퓨터가 네 묶음을 한꺼번에 처리한다고 생각하면 안 됩니다.</a:t>
            </a:r>
          </a:p>
          <a:p>
            <a:endParaRPr/>
          </a:p>
          <a:p>
            <a:r>
              <a:t>두 개짜리 구간도 아직 원소가 둘이니까 한 번 더 나눕니다. 다음 화면에서 원소 하나만 남을 때까지 내려가겠습니다. 그 뒤에는 이번에 만든 구간들이 정렬된 결과를 받아 위로 돌아오는 모습을 하나씩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8591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마지막 나누기입니다. 8, 3을 8 하나와 3 하나로 나누고, 6, 2를 6 하나와 2 하나로 나눕니다. 오른쪽에서도 7 하나, 1 하나, 5 하나, 4 하나가 됩니다. 아래 줄에 한 원소짜리 배열이 여덟 개 보입니다. 처음 배열의 값이 빠지거나 새로 생긴 것은 아닙니다. 같은 여덟 값을 작은 구간으로 나눠 바라보고 있습니다.</a:t>
            </a:r>
          </a:p>
          <a:p>
            <a:endParaRPr/>
          </a:p>
          <a:p>
            <a:r>
              <a:t>원소 하나인 배열은 이미 정렬되어 있다고 봅니다. 예를 들어 8 하나만 있는 배열에는 다른 값이 없어서 앞뒤 순서를 바꿀 일이 없죠. 이것이 재귀를 멈추는 이유입니다. 코드의 길이가 1 이하이면 바로 반환한다는 조건이 이 부분에 해당합니다. 빈 배열도 정렬할 값이 없으므로 같은 조건으로 끝냅니다.</a:t>
            </a:r>
          </a:p>
          <a:p>
            <a:endParaRPr/>
          </a:p>
          <a:p>
            <a:r>
              <a:t>처음의 8, 3을 정렬하는 호출은 왼쪽에서 8 하나를 돌려받고, 오른쪽에서 3 하나를 돌려받습니다. 두 입력이 각각 정렬되어 있으니 이제 merge를 호출할 수 있습니다. 작은 3을 먼저 놓고 8을 뒤에 놓으면 두 원소가 정렬됩니다. 이 두 개짜리 결과가 다시 위쪽 호출로 돌아갑니다.</a:t>
            </a:r>
          </a:p>
          <a:p>
            <a:endParaRPr/>
          </a:p>
          <a:p>
            <a:r>
              <a:t>한 원소를 반환하는 것은 정렬된 작은 문제의 답을 만드는 과정입니다. 그 답 두 개를 받아 더 큰 답을 만드는 것이 병합이고요. 다음 화면에서 실제 병합 순서를 먼저 확인한 뒤, 첫 번째 병합부터 마지막까지 모든 값의 비교와 화살표 이동을 따라가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29150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병합은 총 일곱 번 일어납니다. 아래에는 방금 나눈 한 원소짜리 배열이 있고, 위에는 병합해서 돌아올 결과가 있습니다. 그림을 아래에서 위로 읽어 주세요. 숫자에 붙인 동그라미 1번부터 7번은 실제 Python 재귀 코드가 병합을 실행하는 순서입니다.</a:t>
            </a:r>
          </a:p>
          <a:p>
            <a:endParaRPr/>
          </a:p>
          <a:p>
            <a:r>
              <a:t>먼저 왼쪽 네 개를 끝냅니다. 1번에서 8 하나와 3 하나를 합쳐 3, 8을 만듭니다. 2번에서는 6 하나와 2 하나를 합쳐 2, 6을 만듭니다. 이제 두 결과를 다 받았으니 3번에서 3, 8과 2, 6을 합쳐 2, 3, 6, 8을 만듭니다. 왼쪽 네 개의 정렬이 여기서 끝납니다.</a:t>
            </a:r>
          </a:p>
          <a:p>
            <a:endParaRPr/>
          </a:p>
          <a:p>
            <a:r>
              <a:t>그다음 오른쪽 네 개를 처리합니다. 4번에서 7과 1을 합쳐 1, 7을 만들고, 5번에서 5와 4를 합쳐 4, 5를 만듭니다. 6번에서 이 두 결과를 합치면 1, 4, 5, 7입니다. 마지막 7번은 왼쪽 네 개의 결과와 오른쪽 네 개의 결과를 받아 전체 여덟 개를 정렬합니다.</a:t>
            </a:r>
          </a:p>
          <a:p>
            <a:endParaRPr/>
          </a:p>
          <a:p>
            <a:r>
              <a:t>아래의 병합 네 개를 전부 먼저 끝내고 위로 올라가는 순서와는 차이가 있습니다. 실제 재귀 코드는 왼쪽 호출을 끝낸 뒤 오른쪽 호출을 실행하므로, 1번과 2번 다음에 곧바로 3번이 나옵니다. 그 뒤에야 4번을 시작합니다. 그림에서 같은 줄에 있는 묶음이 동시에 실행되는 것은 아닙니다.</a:t>
            </a:r>
          </a:p>
          <a:p>
            <a:endParaRPr/>
          </a:p>
          <a:p>
            <a:r>
              <a:t>지금은 결과를 한눈에 보여주는 지도입니다. 다음부터는 이 지도에 나온 병합을 한 번도 건너뛰지 않고 차례대로 보겠습니다. 한 값이 결과에 들어갈 때마다 어느 화살표가 움직이고, 그 정렬 결과가 다음 병합의 어느 입력이 되는지 확인하세요.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73975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병합입니다. 왼쪽 네 개 중 앞쪽의 8, 3을 한 원소씩 나눴습니다. 두 호출이 8 하나와 3 하나를 반환했으므로, 이 두 정렬된 결과를 합칠 차례입니다.</a:t>
            </a:r>
          </a:p>
          <a:p>
            <a:endParaRPr/>
          </a:p>
          <a:p>
            <a:r>
              <a:t>왼쪽 입력은 8이고 오른쪽 입력은 3입니다. 각 입력 안에서는 이미 정렬이 끝나 있습니다. 지금까지 다른 병합에서 사용한 화살표를 이어 쓰는 것이 아니라, 새 merge를 시작하므로 아이와 제이를 다시 0으로 놓습니다. 파란 아이는 왼쪽 첫 칸을, 초록 제이는 오른쪽 첫 칸을 가리킵니다. 아래 결과의 점은 아직 값을 넣지 않은 자리입니다.</a:t>
            </a:r>
          </a:p>
          <a:p>
            <a:endParaRPr/>
          </a:p>
          <a:p>
            <a:r>
              <a:t>지금 비교하는 것은 왼쪽 맨 앞의 8과 오른쪽 맨 앞의 3입니다. 더 작은 3을 먼저 넣어야 합니다. 입력이 각각 정렬되어 있으므로 뒤쪽에 더 작은 값이 숨어 있지 않습니다. 양쪽의 맨 앞 두 값만 비교하면 다음에 넣을 값을 정할 수 있습니다. 두 배열을 원래 순서대로 이어 붙이는 것은 병합 정렬의 비교를 대신하지 못합니다.</a:t>
            </a:r>
          </a:p>
          <a:p>
            <a:endParaRPr/>
          </a:p>
          <a:p>
            <a:r>
              <a:t>오른쪽의 작은 전체 배열에서는 이번에 처리하는 부분만 색으로 표시했습니다. 지금 보는 2개는 전체 여덟 개 중 왼쪽 4개의 앞쪽 두 개입니다. 이 정렬 결과는 세 번째 병합의 왼쪽 입력이 됩니다. 다음 화면에서는 첫 값을 붙인 직후, 어느 화살표만 움직였는지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32582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8과 오른쪽의 3입니다. 3이 더 작으므로 오른쪽의 값을 결과 뒤에 넣었습니다. 아래 결과는 3입니다. 사용한 값은 오른쪽에 있었으니 제이만 0에서 1로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오른쪽의 제이가 1가 되어 오른쪽 길이 1와 같아졌습니다. 오른쪽 값을 모두 사용한 것입니다. 왼쪽에는 8이 남아 있습니다. 다음에는 남은 왼쪽 값을 차례대로 붙입니다. 더 이상 오른쪽 배열을 읽지 않고, 왼쪽에 값이 남아 있는지만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95333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배열은 이미 모든 값을 사용했습니다. 따라서 이번에는 양쪽 값을 비교하지 않습니다. 왼쪽에 남은 8을 결과 뒤에 하나 붙입니다. 코드에서는 맨 위의 비교 while을 빠져나온 뒤, 왼쪽의 남은 값을 붙이는 while이 하는 일입니다. 아이는 0에서 1로 바뀝니다. 없는 오른쪽 원소를 다시 읽으면 배열 범위를 벗어나므로, 한쪽이 끝났다는 조건을 먼저 확인해야 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이제 두 입력의 원소 2개를 모두 사용했습니다. 결과는 3, 8이고 작은 값부터 정렬되어 있습니다. 새 결과를 반환하면 이번 호출이 끝납니다. ③번 병합에서 이 정렬 결과를 입력으로 사용합니다. 더 큰 병합이 시작될 때에는 아이와 제이를 다시 0에서 시작합니다.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8066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병합에서 3, 8을 만들었습니다. 하지만 이것을 아직 정렬되지 않은 6, 2와 바로 합치면 안 됩니다. 왼쪽 네 개의 나머지 두 원소도 먼저 정렬해야 합니다. 6, 2를 한 원소씩 나누고, 6 하나와 2 하나를 돌려받았습니다. 이제 두 번째 병합입니다.</a:t>
            </a:r>
          </a:p>
          <a:p>
            <a:endParaRPr/>
          </a:p>
          <a:p>
            <a:r>
              <a:t>왼쪽 입력은 6이고 오른쪽 입력은 2입니다. 각 입력 안에서는 이미 정렬이 끝나 있습니다. 지금까지 다른 병합에서 사용한 화살표를 이어 쓰는 것이 아니라, 새 merge를 시작하므로 아이와 제이를 다시 0으로 놓습니다. 파란 아이는 왼쪽 첫 칸을, 초록 제이는 오른쪽 첫 칸을 가리킵니다. 아래 결과의 점은 아직 값을 넣지 않은 자리입니다.</a:t>
            </a:r>
          </a:p>
          <a:p>
            <a:endParaRPr/>
          </a:p>
          <a:p>
            <a:r>
              <a:t>지금 비교하는 것은 왼쪽 맨 앞의 6과 오른쪽 맨 앞의 2입니다. 더 작은 2을 먼저 넣어야 합니다. 입력이 각각 정렬되어 있으므로 뒤쪽에 더 작은 값이 숨어 있지 않습니다. 양쪽의 맨 앞 두 값만 비교하면 다음에 넣을 값을 정할 수 있습니다. 두 배열을 원래 순서대로 이어 붙이는 것은 병합 정렬의 비교를 대신하지 못합니다.</a:t>
            </a:r>
          </a:p>
          <a:p>
            <a:endParaRPr/>
          </a:p>
          <a:p>
            <a:r>
              <a:t>오른쪽의 작은 전체 배열에서는 이번에 처리하는 부분만 색으로 표시했습니다. 지금 보는 2개는 전체 여덟 개 중 왼쪽 4개의 뒤쪽 두 개입니다. 이 정렬 결과는 세 번째 병합의 오른쪽 입력이 됩니다. 다음 화면에서는 첫 값을 붙인 직후, 어느 화살표만 움직였는지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2774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6과 오른쪽의 2입니다. 2이 더 작으므로 오른쪽의 값을 결과 뒤에 넣었습니다. 아래 결과는 2입니다. 사용한 값은 오른쪽에 있었으니 제이만 0에서 1로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오른쪽의 제이가 1가 되어 오른쪽 길이 1와 같아졌습니다. 오른쪽 값을 모두 사용한 것입니다. 왼쪽에는 6이 남아 있습니다. 다음에는 남은 왼쪽 값을 차례대로 붙입니다. 더 이상 오른쪽 배열을 읽지 않고, 왼쪽에 값이 남아 있는지만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4546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배열은 이미 모든 값을 사용했습니다. 따라서 이번에는 양쪽 값을 비교하지 않습니다. 왼쪽에 남은 6을 결과 뒤에 하나 붙입니다. 코드에서는 맨 위의 비교 while을 빠져나온 뒤, 왼쪽의 남은 값을 붙이는 while이 하는 일입니다. 아이는 0에서 1로 바뀝니다. 없는 오른쪽 원소를 다시 읽으면 배열 범위를 벗어나므로, 한쪽이 끝났다는 조건을 먼저 확인해야 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이제 두 입력의 원소 2개를 모두 사용했습니다. 결과는 2, 6이고 작은 값부터 정렬되어 있습니다. 새 결과를 반환하면 이번 호출이 끝납니다. ③번 병합에서 이 정렬 결과를 입력으로 사용합니다. 더 큰 병합이 시작될 때에는 아이와 제이를 다시 0에서 시작합니다.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16775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입력은 원래의 8, 3과 6, 2가 아닙니다. 첫 번째 병합이 만든 3, 8과 두 번째 병합이 만든 2, 6입니다. 더 작은 두 문제의 정렬 결과가 이번 merge의 입력이 된 것입니다. 이 두 배열을 합치면 원래 왼쪽 네 원소 전체의 정렬이 끝납니다.</a:t>
            </a:r>
          </a:p>
          <a:p>
            <a:endParaRPr/>
          </a:p>
          <a:p>
            <a:r>
              <a:t>왼쪽 입력은 3, 8이고 오른쪽 입력은 2, 6입니다. 각 입력 안에서는 이미 정렬이 끝나 있습니다. 지금까지 다른 병합에서 사용한 화살표를 이어 쓰는 것이 아니라, 새 merge를 시작하므로 아이와 제이를 다시 0으로 놓습니다. 파란 아이는 왼쪽 첫 칸을, 초록 제이는 오른쪽 첫 칸을 가리킵니다. 아래 결과의 점은 아직 값을 넣지 않은 자리입니다.</a:t>
            </a:r>
          </a:p>
          <a:p>
            <a:endParaRPr/>
          </a:p>
          <a:p>
            <a:r>
              <a:t>지금 비교하는 것은 왼쪽 맨 앞의 3과 오른쪽 맨 앞의 2입니다. 더 작은 2을 먼저 넣어야 합니다. 입력이 각각 정렬되어 있으므로 뒤쪽에 더 작은 값이 숨어 있지 않습니다. 양쪽의 맨 앞 두 값만 비교하면 다음에 넣을 값을 정할 수 있습니다. 두 배열을 원래 순서대로 이어 붙이는 것은 병합 정렬의 비교를 대신하지 못합니다.</a:t>
            </a:r>
          </a:p>
          <a:p>
            <a:endParaRPr/>
          </a:p>
          <a:p>
            <a:r>
              <a:t>오른쪽의 작은 전체 배열에서는 이번에 처리하는 부분만 색으로 표시했습니다. 지금 보는 4개는 전체 여덟 개 중 왼쪽 4개 전체입니다. 이 병합이 끝나면 왼쪽 네 개가 완성되고, 그다음 오른쪽 네 개를 정렬합니다. 다음 화면에서는 첫 값을 붙인 직후, 어느 화살표만 움직였는지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67093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3과 오른쪽의 2입니다. 2이 더 작으므로 오른쪽의 값을 결과 뒤에 넣었습니다. 아래 결과는 2입니다. 사용한 값은 오른쪽에 있었으니 제이만 0에서 1로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다음 비교 대상은 화살표가 가리키는 왼쪽 3과 오른쪽 6입니다. 이 둘 중 더 작은 3을 지금 결과 뒤에 넣으면 됩니다. 선택하지 않은 값이 다음 비교에 다시 등장하는 것은 정상입니다. 결과에 넣기 전까지 그쪽 화살표가 같은 칸을 가리키고 있기 때문입니다.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81578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3과 오른쪽의 6입니다. 3이 더 작으므로 왼쪽의 값을 결과 뒤에 넣었습니다. 아래 결과는 2, 3입니다. 사용한 값은 왼쪽에 있었으니 아이만 0에서 1로 이동했습니다. 반대쪽의 제이는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다음 비교 대상은 화살표가 가리키는 왼쪽 8과 오른쪽 6입니다. 이 둘 중 더 작은 6을 지금 결과 뒤에 넣으면 됩니다. 선택하지 않은 값이 다음 비교에 다시 등장하는 것은 정상입니다. 결과에 넣기 전까지 그쪽 화살표가 같은 칸을 가리키고 있기 때문입니다.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05061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8과 오른쪽의 6입니다. 6이 더 작으므로 오른쪽의 값을 결과 뒤에 넣었습니다. 아래 결과는 2, 3, 6입니다. 사용한 값은 오른쪽에 있었으니 제이만 1에서 2로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오른쪽의 제이가 2가 되어 오른쪽 길이 2와 같아졌습니다. 오른쪽 값을 모두 사용한 것입니다. 왼쪽에는 8이 남아 있습니다. 다음에는 남은 왼쪽 값을 차례대로 붙입니다. 더 이상 오른쪽 배열을 읽지 않고, 왼쪽에 값이 남아 있는지만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5329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배열은 이미 모든 값을 사용했습니다. 따라서 이번에는 양쪽 값을 비교하지 않습니다. 왼쪽에 남은 8을 결과 뒤에 하나 붙입니다. 코드에서는 맨 위의 비교 while을 빠져나온 뒤, 왼쪽의 남은 값을 붙이는 while이 하는 일입니다. 아이는 1에서 2로 바뀝니다. 없는 오른쪽 원소를 다시 읽으면 배열 범위를 벗어나므로, 한쪽이 끝났다는 조건을 먼저 확인해야 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이제 두 입력의 원소 4개를 모두 사용했습니다. 결과는 2, 3, 6, 8이고 작은 값부터 정렬되어 있습니다. 새 결과를 반환하면 이번 호출이 끝납니다. 왼쪽 네 개를 정렬하는 호출이 여기서 끝나고, 처음 함수로 돌아가 오른쪽 네 개의 호출을 시작합니다.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261599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 네 개를 정렬해서 2, 3, 6, 8을 반환했습니다. 이제 처음 함수의 다음 줄로 넘어가 오른쪽 네 개를 정렬합니다. 오른쪽의 7, 1, 5, 4도 같은 방식으로 나누며, 먼저 7 하나와 1 하나의 결과를 받습니다. 이것이 네 번째 병합입니다.</a:t>
            </a:r>
          </a:p>
          <a:p>
            <a:endParaRPr/>
          </a:p>
          <a:p>
            <a:r>
              <a:t>왼쪽 입력은 7이고 오른쪽 입력은 1입니다. 각 입력 안에서는 이미 정렬이 끝나 있습니다. 지금까지 다른 병합에서 사용한 화살표를 이어 쓰는 것이 아니라, 새 merge를 시작하므로 아이와 제이를 다시 0으로 놓습니다. 파란 아이는 왼쪽 첫 칸을, 초록 제이는 오른쪽 첫 칸을 가리킵니다. 아래 결과의 점은 아직 값을 넣지 않은 자리입니다.</a:t>
            </a:r>
          </a:p>
          <a:p>
            <a:endParaRPr/>
          </a:p>
          <a:p>
            <a:r>
              <a:t>지금 비교하는 것은 왼쪽 맨 앞의 7과 오른쪽 맨 앞의 1입니다. 더 작은 1을 먼저 넣어야 합니다. 입력이 각각 정렬되어 있으므로 뒤쪽에 더 작은 값이 숨어 있지 않습니다. 양쪽의 맨 앞 두 값만 비교하면 다음에 넣을 값을 정할 수 있습니다. 두 배열을 원래 순서대로 이어 붙이는 것은 병합 정렬의 비교를 대신하지 못합니다.</a:t>
            </a:r>
          </a:p>
          <a:p>
            <a:endParaRPr/>
          </a:p>
          <a:p>
            <a:r>
              <a:t>오른쪽의 작은 전체 배열에서는 이번에 처리하는 부분만 색으로 표시했습니다. 지금 보는 2개는 전체 여덟 개 중 오른쪽 4개의 앞쪽 두 개입니다. 이 정렬 결과는 여섯 번째 병합의 왼쪽 입력이 됩니다. 다음 화면에서는 첫 값을 붙인 직후, 어느 화살표만 움직였는지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125120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7과 오른쪽의 1입니다. 1이 더 작으므로 오른쪽의 값을 결과 뒤에 넣었습니다. 아래 결과는 1입니다. 사용한 값은 오른쪽에 있었으니 제이만 0에서 1로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오른쪽의 제이가 1가 되어 오른쪽 길이 1와 같아졌습니다. 오른쪽 값을 모두 사용한 것입니다. 왼쪽에는 7이 남아 있습니다. 다음에는 남은 왼쪽 값을 차례대로 붙입니다. 더 이상 오른쪽 배열을 읽지 않고, 왼쪽에 값이 남아 있는지만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6544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배열은 이미 모든 값을 사용했습니다. 따라서 이번에는 양쪽 값을 비교하지 않습니다. 왼쪽에 남은 7을 결과 뒤에 하나 붙입니다. 코드에서는 맨 위의 비교 while을 빠져나온 뒤, 왼쪽의 남은 값을 붙이는 while이 하는 일입니다. 아이는 0에서 1로 바뀝니다. 없는 오른쪽 원소를 다시 읽으면 배열 범위를 벗어나므로, 한쪽이 끝났다는 조건을 먼저 확인해야 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이제 두 입력의 원소 2개를 모두 사용했습니다. 결과는 1, 7이고 작은 값부터 정렬되어 있습니다. 새 결과를 반환하면 이번 호출이 끝납니다. ⑥번 병합에서 이 정렬 결과를 입력으로 사용합니다. 더 큰 병합이 시작될 때에는 아이와 제이를 다시 0에서 시작합니다.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12755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오른쪽의 앞쪽 두 원소는 네 번째 병합에서 1, 7이 되었습니다. 이제 뒤쪽의 5, 4를 처리합니다. 한 원소씩 나눠 5 하나와 4 하나를 돌려받았으므로, 이 둘을 정렬된 두 원소로 합칠 수 있습니다. 오른쪽 네 개를 합치기 전에 반드시 이 결과도 준비해야 합니다.</a:t>
            </a:r>
          </a:p>
          <a:p>
            <a:endParaRPr/>
          </a:p>
          <a:p>
            <a:r>
              <a:t>왼쪽 입력은 5이고 오른쪽 입력은 4입니다. 각 입력 안에서는 이미 정렬이 끝나 있습니다. 지금까지 다른 병합에서 사용한 화살표를 이어 쓰는 것이 아니라, 새 merge를 시작하므로 아이와 제이를 다시 0으로 놓습니다. 파란 아이는 왼쪽 첫 칸을, 초록 제이는 오른쪽 첫 칸을 가리킵니다. 아래 결과의 점은 아직 값을 넣지 않은 자리입니다.</a:t>
            </a:r>
          </a:p>
          <a:p>
            <a:endParaRPr/>
          </a:p>
          <a:p>
            <a:r>
              <a:t>지금 비교하는 것은 왼쪽 맨 앞의 5과 오른쪽 맨 앞의 4입니다. 더 작은 4을 먼저 넣어야 합니다. 입력이 각각 정렬되어 있으므로 뒤쪽에 더 작은 값이 숨어 있지 않습니다. 양쪽의 맨 앞 두 값만 비교하면 다음에 넣을 값을 정할 수 있습니다. 두 배열을 원래 순서대로 이어 붙이는 것은 병합 정렬의 비교를 대신하지 못합니다.</a:t>
            </a:r>
          </a:p>
          <a:p>
            <a:endParaRPr/>
          </a:p>
          <a:p>
            <a:r>
              <a:t>오른쪽의 작은 전체 배열에서는 이번에 처리하는 부분만 색으로 표시했습니다. 지금 보는 2개는 전체 여덟 개 중 오른쪽 4개의 뒤쪽 두 개입니다. 이 정렬 결과는 여섯 번째 병합의 오른쪽 입력이 됩니다. 다음 화면에서는 첫 값을 붙인 직후, 어느 화살표만 움직였는지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94542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5과 오른쪽의 4입니다. 4이 더 작으므로 오른쪽의 값을 결과 뒤에 넣었습니다. 아래 결과는 4입니다. 사용한 값은 오른쪽에 있었으니 제이만 0에서 1로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오른쪽의 제이가 1가 되어 오른쪽 길이 1와 같아졌습니다. 오른쪽 값을 모두 사용한 것입니다. 왼쪽에는 5이 남아 있습니다. 다음에는 남은 왼쪽 값을 차례대로 붙입니다. 더 이상 오른쪽 배열을 읽지 않고, 왼쪽에 값이 남아 있는지만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136344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배열은 이미 모든 값을 사용했습니다. 따라서 이번에는 양쪽 값을 비교하지 않습니다. 왼쪽에 남은 5을 결과 뒤에 하나 붙입니다. 코드에서는 맨 위의 비교 while을 빠져나온 뒤, 왼쪽의 남은 값을 붙이는 while이 하는 일입니다. 아이는 0에서 1로 바뀝니다. 없는 오른쪽 원소를 다시 읽으면 배열 범위를 벗어나므로, 한쪽이 끝났다는 조건을 먼저 확인해야 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이제 두 입력의 원소 2개를 모두 사용했습니다. 결과는 4, 5이고 작은 값부터 정렬되어 있습니다. 새 결과를 반환하면 이번 호출이 끝납니다. ⑥번 병합에서 이 정렬 결과를 입력으로 사용합니다. 더 큰 병합이 시작될 때에는 아이와 제이를 다시 0에서 시작합니다.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915895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네 개 안의 두 작은 문제가 모두 끝났습니다. 네 번째 병합에서 1, 7을 받았고, 다섯 번째 병합에서 4, 5를 받았습니다. 따라서 지금 비교할 두 배열은 1, 7과 4, 5입니다. 원래 순서인 7, 1과 5, 4를 그대로 쓰는 것이 아닙니다. 이 병합이 끝나면 오른쪽 네 개도 정렬된 결과를 반환합니다.</a:t>
            </a:r>
          </a:p>
          <a:p>
            <a:endParaRPr/>
          </a:p>
          <a:p>
            <a:r>
              <a:t>왼쪽 입력은 1, 7이고 오른쪽 입력은 4, 5입니다. 각 입력 안에서는 이미 정렬이 끝나 있습니다. 지금까지 다른 병합에서 사용한 화살표를 이어 쓰는 것이 아니라, 새 merge를 시작하므로 아이와 제이를 다시 0으로 놓습니다. 파란 아이는 왼쪽 첫 칸을, 초록 제이는 오른쪽 첫 칸을 가리킵니다. 아래 결과의 점은 아직 값을 넣지 않은 자리입니다.</a:t>
            </a:r>
          </a:p>
          <a:p>
            <a:endParaRPr/>
          </a:p>
          <a:p>
            <a:r>
              <a:t>지금 비교하는 것은 왼쪽 맨 앞의 1과 오른쪽 맨 앞의 4입니다. 더 작은 1을 먼저 넣어야 합니다. 입력이 각각 정렬되어 있으므로 뒤쪽에 더 작은 값이 숨어 있지 않습니다. 양쪽의 맨 앞 두 값만 비교하면 다음에 넣을 값을 정할 수 있습니다. 두 배열을 원래 순서대로 이어 붙이는 것은 병합 정렬의 비교를 대신하지 못합니다.</a:t>
            </a:r>
          </a:p>
          <a:p>
            <a:endParaRPr/>
          </a:p>
          <a:p>
            <a:r>
              <a:t>오른쪽의 작은 전체 배열에서는 이번에 처리하는 부분만 색으로 표시했습니다. 지금 보는 4개는 전체 여덟 개 중 오른쪽 4개 전체입니다. 이 병합이 끝나면 오른쪽 네 개가 완성되고, 마지막 전체 병합의 입력으로 넘깁니다. 다음 화면에서는 첫 값을 붙인 직후, 어느 화살표만 움직였는지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285797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1과 오른쪽의 4입니다. 1이 더 작으므로 왼쪽의 값을 결과 뒤에 넣었습니다. 아래 결과는 1입니다. 사용한 값은 왼쪽에 있었으니 아이만 0에서 1로 이동했습니다. 반대쪽의 제이는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다음 비교 대상은 화살표가 가리키는 왼쪽 7과 오른쪽 4입니다. 이 둘 중 더 작은 4을 지금 결과 뒤에 넣으면 됩니다. 선택하지 않은 값이 다음 비교에 다시 등장하는 것은 정상입니다. 결과에 넣기 전까지 그쪽 화살표가 같은 칸을 가리키고 있기 때문입니다.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434565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7과 오른쪽의 4입니다. 4이 더 작으므로 오른쪽의 값을 결과 뒤에 넣었습니다. 아래 결과는 1, 4입니다. 사용한 값은 오른쪽에 있었으니 제이만 0에서 1로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다음 비교 대상은 화살표가 가리키는 왼쪽 7과 오른쪽 5입니다. 이 둘 중 더 작은 5을 지금 결과 뒤에 넣으면 됩니다. 선택하지 않은 값이 다음 비교에 다시 등장하는 것은 정상입니다. 결과에 넣기 전까지 그쪽 화살표가 같은 칸을 가리키고 있기 때문입니다.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109012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방금 비교한 값은 왼쪽의 7과 오른쪽의 5입니다. 5이 더 작으므로 오른쪽의 값을 결과 뒤에 넣었습니다. 아래 결과는 1, 4, 5입니다. 사용한 값은 오른쪽에 있었으니 제이만 1에서 2로 이동했습니다. 반대쪽의 아이는 움직이지 않습니다. 아직 그쪽 값을 결과에 넣지 않았기 때문입니다. 두 화살표를 함께 옮기면 사용하지 않은 원소를 건너뛰게 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오른쪽의 제이가 2가 되어 오른쪽 길이 2와 같아졌습니다. 오른쪽 값을 모두 사용한 것입니다. 왼쪽에는 7이 남아 있습니다. 다음에는 남은 왼쪽 값을 차례대로 붙입니다. 더 이상 오른쪽 배열을 읽지 않고, 왼쪽에 값이 남아 있는지만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913050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배열은 이미 모든 값을 사용했습니다. 따라서 이번에는 양쪽 값을 비교하지 않습니다. 왼쪽에 남은 7을 결과 뒤에 하나 붙입니다. 코드에서는 맨 위의 비교 while을 빠져나온 뒤, 왼쪽의 남은 값을 붙이는 while이 하는 일입니다. 아이는 1에서 2로 바뀝니다. 없는 오른쪽 원소를 다시 읽으면 배열 범위를 벗어나므로, 한쪽이 끝났다는 조건을 먼저 확인해야 합니다.</a:t>
            </a:r>
          </a:p>
          <a:p>
            <a:endParaRPr/>
          </a:p>
          <a:p>
            <a:r>
              <a:t>입력 배열의 숫자 자체를 지우거나 앞으로 당긴 것은 아닙니다. 입력은 그대로 두고, 다음에 읽을 위치를 나타내는 인덱스만 바꿉니다. 회색으로 보이는 칸은 결과에 넣은 값이고, 화살표가 가리키는 칸부터는 아직 사용하지 않은 값입니다. 결과에도 선택한 값 하나만 추가되었는지 확인해 주세요.</a:t>
            </a:r>
          </a:p>
          <a:p>
            <a:endParaRPr/>
          </a:p>
          <a:p>
            <a:r>
              <a:t>이제 두 입력의 원소 4개를 모두 사용했습니다. 결과는 1, 4, 5, 7이고 작은 값부터 정렬되어 있습니다. 새 결과를 반환하면 이번 호출이 끝납니다. 오른쪽 네 개의 정렬도 끝났습니다. 처음 함수는 앞에서 받은 왼쪽 2, 3, 6, 8과 지금 받은 오른쪽 1, 4, 5, 7을 마지막 병합에 넘깁니다.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350426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마지막 병합을 시작하기 직전입니다. 왼쪽 배열은 2, 3, 6, 8이고 오른쪽 배열은 1, 4, 5, 7입니다. 두 배열은 각각 정렬되어 있지만, 이것을 그냥 이어 붙이면 2, 3, 6, 8, 1, 4, 5, 7이 되겠죠. 전체는 정렬되지 않습니다. 그래서 두 배열의 값을 작은 것부터 골라 새 결과에 넣어야 합니다.</a:t>
            </a:r>
          </a:p>
          <a:p>
            <a:endParaRPr/>
          </a:p>
          <a:p>
            <a:r>
              <a:t>파란 화살표 아이는 왼쪽에서 다음에 사용할 위치이고, 초록 화살표 제이는 오른쪽에서 다음에 사용할 위치입니다. 아직 아무 값도 사용하지 않았으므로 둘 다 인덱스 0, 즉 첫 번째 칸을 가리킵니다. 배열의 값 2와 인덱스 0은 서로 다른 것이라는 점도 구분해 주세요.</a:t>
            </a:r>
          </a:p>
          <a:p>
            <a:endParaRPr/>
          </a:p>
          <a:p>
            <a:r>
              <a:t>지금 비교하는 값은 왼쪽의 2와 오른쪽의 1입니다. 1이 더 작으므로 첫 결과로 1을 넣으면 됩니다. 왜 왼쪽 뒤의 3, 6, 8까지 전부 확인하지 않을까요? 왼쪽은 이미 정렬되어 있어서 맨 앞 2가 왼쪽의 남은 값 중 가장 작습니다. 오른쪽에서도 맨 앞 1이 가장 작습니다. 따라서 이 두 값 중 작은 것이 전체 남은 값 중에서도 가장 작습니다.</a:t>
            </a:r>
          </a:p>
          <a:p>
            <a:endParaRPr/>
          </a:p>
          <a:p>
            <a:r>
              <a:t>화면 아래의 점들은 아직 결과에 넣지 않은 자리입니다. 실제 코드에서는 처음에 빈 리스트로 시작하고, 값을 고를 때마다 맨 뒤에 하나씩 붙입니다. 다음 화면에서는 1을 붙인 뒤 어느 화살표만 움직이는지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223298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번째로 오른쪽의 1을 골라 결과에 넣었습니다. 아래 결과 배열의 첫 칸이 1로 바뀌었죠. 그다음 오른쪽 화살표 제이가 인덱스 0에서 1로 이동했습니다. 이제 오른쪽에서는 4를 보고 있습니다.</a:t>
            </a:r>
          </a:p>
          <a:p>
            <a:endParaRPr/>
          </a:p>
          <a:p>
            <a:r>
              <a:t>왼쪽 화살표 아이는 왜 그대로일까요? 왼쪽의 2를 아직 결과에 넣지 않았기 때문입니다. 값 하나를 사용했을 때 그 배열의 화살표만 다음 칸으로 옮깁니다. 양쪽을 동시에 옮기면 왼쪽의 2를 사용하지도 않고 지나쳐 버리게 됩니다. 반대로 오른쪽 화살표를 옮기지 않으면 이미 넣은 1을 다시 고르게 됩니다.</a:t>
            </a:r>
          </a:p>
          <a:p>
            <a:endParaRPr/>
          </a:p>
          <a:p>
            <a:r>
              <a:t>여기서 화살표가 움직인다는 것은 배열의 숫자가 움직인다는 뜻이 아닙니다. 오른쪽의 1을 배열에서 지워서 당기는 것도 아닙니다. 원래 두 배열은 그대로 두고, 다음에 읽을 위치를 나타내는 인덱스만 바꿉니다.</a:t>
            </a:r>
          </a:p>
          <a:p>
            <a:endParaRPr/>
          </a:p>
          <a:p>
            <a:r>
              <a:t>이제 다음 비교 대상은 왼쪽의 2와 오른쪽의 4입니다. 두 값 중 무엇을 넣어야 할까요? 2입니다. 결과에는 이미 1이 있으니, 그 뒤에 2를 붙이면 됩니다. 이번에는 왼쪽 값을 사용하므로 왼쪽 화살표가 움직이게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751191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비교에서는 왼쪽의 2와 오른쪽의 4를 봤습니다. 2가 더 작으니 결과 뒤에 2를 붙였습니다. 그래서 아래 결과가 1, 2가 되었고, 왼쪽 화살표 아이는 인덱스 0에서 1로 옮겨졌습니다. 이제 왼쪽의 다음 값은 3입니다.</a:t>
            </a:r>
          </a:p>
          <a:p>
            <a:endParaRPr/>
          </a:p>
          <a:p>
            <a:r>
              <a:t>오른쪽 화살표 제이는 인덱스 1에 그대로 있습니다. 오른쪽의 4를 아직 사용하지 않았기 때문입니다. 앞에서 1을 넣은 뒤 4가 비교 대상이 됐지만, 이번에는 2가 더 작아서 4가 선택되지 않은 것입니다. 다음 비교에도 4가 다시 나오는 것이 정상입니다.</a:t>
            </a:r>
          </a:p>
          <a:p>
            <a:endParaRPr/>
          </a:p>
          <a:p>
            <a:r>
              <a:t>지금 왼쪽에서 이미 사용한 값은 2이고, 오른쪽에서 이미 사용한 값은 1입니다. 두 화살표는 각 배열에서 아직 사용하지 않은 첫 값을 가리킵니다. 화살표가 지나간 칸은 결과에 들어간 값, 화살표부터 뒤쪽은 아직 남아 있는 값이라고 생각하면 됩니다.</a:t>
            </a:r>
          </a:p>
          <a:p>
            <a:endParaRPr/>
          </a:p>
          <a:p>
            <a:r>
              <a:t>다음에는 왼쪽의 3과 오른쪽의 4를 비교합니다. 다시 왼쪽의 3이 작죠. 그래서 3을 넣고 왼쪽 화살표만 한 칸 더 움직입니다. 어느 쪽 화살표가 움직이는지는 작은 값을 고른 쪽으로 결정됩니다.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710125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번째로 3을 넣은 상태입니다. 아래 결과는 1, 2, 3이 되었고, 왼쪽 화살표 아이는 인덱스 1에서 2로 이동했습니다. 이제 왼쪽에서 가리키는 값은 6입니다. 오른쪽 화살표는 여전히 인덱스 1의 4를 가리킵니다.</a:t>
            </a:r>
          </a:p>
          <a:p>
            <a:endParaRPr/>
          </a:p>
          <a:p>
            <a:r>
              <a:t>오른쪽의 4가 여러 번 비교에 등장하니까 이상하게 느껴질 수도 있습니다. 하지만 4보다 작은 왼쪽 값 2와 3을 먼저 사용한 것이죠. 아직 4를 넣지 않았으므로 오른쪽 화살표를 움직이면 안 됩니다. 오른쪽에 같은 값이 복사되어 생긴 것도 아니고, 비교할 때마다 결과에 들어가는 것도 아닙니다.</a:t>
            </a:r>
          </a:p>
          <a:p>
            <a:endParaRPr/>
          </a:p>
          <a:p>
            <a:r>
              <a:t>이제 남은 값들을 보세요. 왼쪽에는 6, 8이 있고 오른쪽에는 4, 5, 7이 있습니다. 각 배열의 첫 값인 6과 4만 비교하면, 남은 전체에서 가장 작은 값이 4라는 것을 알 수 있습니다. 이미 넣은 1, 2, 3을 다시 비교할 필요도 없습니다.</a:t>
            </a:r>
          </a:p>
          <a:p>
            <a:endParaRPr/>
          </a:p>
          <a:p>
            <a:r>
              <a:t>따라서 다음 단계에서는 오른쪽의 4를 넣습니다. 이번에는 왼쪽 화살표는 그대로 두고 오른쪽 화살표를 움직입니다. 비교 대상이 3과 4에서 6과 4로 바뀌었다는 것을 확인하고 다음 화면으로 넘어가겠습니다.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028225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왼쪽의 6보다 오른쪽의 4가 작았습니다. 그래서 결과 뒤에 4를 넣었고, 아래는 1, 2, 3, 4가 되었습니다. 오른쪽 화살표 제이는 인덱스 1에서 2로 이동해서 이제 5를 가리킵니다.</a:t>
            </a:r>
          </a:p>
          <a:p>
            <a:endParaRPr/>
          </a:p>
          <a:p>
            <a:r>
              <a:t>왼쪽 화살표 아이는 인덱스 2에 그대로 있습니다. 왼쪽의 6은 비교에는 참여했지만 선택되지 않았습니다. 비교했다는 것과 사용했다는 것을 구분해야 합니다. 사용한 값의 화살표만 움직이는 이유가 바로 이것입니다.</a:t>
            </a:r>
          </a:p>
          <a:p>
            <a:endParaRPr/>
          </a:p>
          <a:p>
            <a:r>
              <a:t>현재 왼쪽에서 남은 값은 6, 8이고, 오른쪽에서 남은 값은 5, 7입니다. 이 값들을 다시 처음부터 정렬할 필요는 없습니다. 각 배열 안에서는 이미 순서가 정해져 있으니 다음 두 값 6과 5만 보면 됩니다.</a:t>
            </a:r>
          </a:p>
          <a:p>
            <a:endParaRPr/>
          </a:p>
          <a:p>
            <a:r>
              <a:t>다음에는 5가 더 작아서 오른쪽 값을 한 번 더 넣게 됩니다. 이렇게 같은 쪽에서 두 번 연속 선택될 수도 있습니다. 병합은 왼쪽과 오른쪽을 번갈아 넣는 작업이 아니라, 그때그때 남은 값 중 더 작은 값을 넣는 작업입니다.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273176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다섯 번째 값으로 5를 넣었습니다. 왼쪽의 6과 오른쪽의 5를 비교해서 5가 더 작았기 때문입니다. 아래 결과는 1, 2, 3, 4, 5가 되었고, 오른쪽 화살표 제이는 인덱스 2에서 3으로 이동했습니다. 이제 오른쪽의 마지막 값 7을 보고 있습니다.</a:t>
            </a:r>
          </a:p>
          <a:p>
            <a:endParaRPr/>
          </a:p>
          <a:p>
            <a:r>
              <a:t>왼쪽 화살표는 여전히 6을 가리킵니다. 6보다 작은 오른쪽 값 4와 5가 먼저 들어간 것이지, 6을 건너뛴 것은 아닙니다. 이제 다음 비교 대상은 6과 7이 됩니다. 이번에는 6이 작으므로 다음 단계에서 왼쪽 값을 사용합니다.</a:t>
            </a:r>
          </a:p>
          <a:p>
            <a:endParaRPr/>
          </a:p>
          <a:p>
            <a:r>
              <a:t>여기까지 과정을 되짚어 보면, 결과에는 항상 현재 남은 값 중 가장 작은 값이 추가됐습니다. 그래서 이미 만들어진 결과 1, 2, 3, 4, 5의 순서가 흐트러지지 않습니다. 새로 넣는 값은 앞에서 넣은 값보다 작아지지 않습니다.</a:t>
            </a:r>
          </a:p>
          <a:p>
            <a:endParaRPr/>
          </a:p>
          <a:p>
            <a:r>
              <a:t>오른쪽 화살표가 마지막 칸에 있다고 해서 바로 병합을 끝내는 것도 아닙니다. 인덱스 3의 7은 아직 사용하지 않은 값입니다. 마지막 칸을 가리키는 상태와 배열을 모두 사용한 상태는 다르다는 점을 기억해 주세요.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332817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여섯 번째 비교에서는 왼쪽의 6과 오른쪽의 7을 봤고, 더 작은 6을 결과 뒤에 넣었습니다. 아래 결과는 1부터 6까지가 되었습니다. 왼쪽 화살표 아이가 인덱스 2에서 3으로 옮겨져서 이제 8을 가리킵니다.</a:t>
            </a:r>
          </a:p>
          <a:p>
            <a:endParaRPr/>
          </a:p>
          <a:p>
            <a:r>
              <a:t>현재 두 화살표는 모두 각 배열의 마지막 칸, 인덱스 3에 있습니다. 하지만 두 배열을 다 사용한 것은 아닙니다. 왼쪽에는 8이 하나 남아 있고 오른쪽에는 7이 하나 남아 있습니다. 그래서 비교 반복문을 한 번 더 실행해야 합니다.</a:t>
            </a:r>
          </a:p>
          <a:p>
            <a:endParaRPr/>
          </a:p>
          <a:p>
            <a:r>
              <a:t>여기서 코드의 조건이 인덱스가 배열 길이보다 작은지 확인하는 이유를 생각해 보세요. 길이가 4이면 사용할 수 있는 인덱스는 0, 1, 2, 3입니다. 지금 3은 정상적인 위치이므로 아직 읽어도 됩니다. 다음 칸인 4가 되면 그때는 읽을 값이 없습니다.</a:t>
            </a:r>
          </a:p>
          <a:p>
            <a:endParaRPr/>
          </a:p>
          <a:p>
            <a:r>
              <a:t>다음 비교는 8과 7입니다. 7이 더 작으므로 오른쪽의 마지막 값을 결과에 넣습니다. 그러면 오른쪽 화살표는 인덱스 4로 이동해서, 오른쪽 배열을 전부 사용했다는 상태가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366782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일곱 번째로 7을 넣었습니다. 왼쪽의 8보다 오른쪽의 7이 작았기 때문입니다. 아래 결과에는 1, 2, 3, 4, 5, 6, 7이 들어 있습니다. 이제 오른쪽의 1, 4, 5, 7을 모두 사용했습니다.</a:t>
            </a:r>
          </a:p>
          <a:p>
            <a:endParaRPr/>
          </a:p>
          <a:p>
            <a:r>
              <a:t>오른쪽 화살표 제이는 3에서 4로 증가했습니다. 길이가 4인 배열에는 인덱스 4의 원소가 없습니다. 화면에서 오른쪽 화살표 대신 사용 완료라고 표시한 이유입니다. 이때 오른쪽의 다음 값을 읽으려고 하면 오류가 납니다. 더 비교할 값이 없으니 비교 반복문을 멈춰야 합니다.</a:t>
            </a:r>
          </a:p>
          <a:p>
            <a:endParaRPr/>
          </a:p>
          <a:p>
            <a:r>
              <a:t>왼쪽에는 아직 8이 하나 남아 있습니다. 이 값을 어떻게 해야 할까요? 오른쪽과 다시 비교할 수는 없지만, 그대로 결과 뒤에 붙이면 됩니다. 두 입력이 각각 정렬되어 있었고 매번 더 작은 값을 먼저 골랐기 때문에, 남은 왼쪽 값도 현재 결과 뒤에 이어 붙일 수 있습니다.</a:t>
            </a:r>
          </a:p>
          <a:p>
            <a:endParaRPr/>
          </a:p>
          <a:p>
            <a:r>
              <a:t>오른쪽이 끝났다고 전체 정렬이 끝난 것으로 처리하면 8이 결과에서 빠집니다. 비교 반복문이 끝난 뒤에 남은 값을 붙이는 작업이 꼭 필요합니다. 다음 화면에서는 그 마지막 처리를 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135777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배열은 다 사용했고 왼쪽에 8이 하나 남아 있었습니다. 그 8을 결과 뒤에 붙여서 1, 2, 3, 4, 5, 6, 7, 8을 완성했습니다. 두 배열에 있던 원소가 빠짐없이 한 번씩 결과에 들어갔습니다.</a:t>
            </a:r>
          </a:p>
          <a:p>
            <a:endParaRPr/>
          </a:p>
          <a:p>
            <a:r>
              <a:t>여기서 마지막 8은 오른쪽 값과 비교해서 고른 것이 아닙니다. 오른쪽에 비교할 값이 더 없으므로, 왼쪽의 남은 부분을 그대로 붙인 것입니다. 이번에는 하나만 남았지만 여러 개가 남아도 마찬가지입니다. 남은 부분 자체가 이미 정렬되어 있어서 순서대로 이어 붙이면 됩니다.</a:t>
            </a:r>
          </a:p>
          <a:p>
            <a:endParaRPr/>
          </a:p>
          <a:p>
            <a:r>
              <a:t>반대로 왼쪽 배열이 먼저 끝날 수도 있습니다. 그때는 오른쪽의 남은 부분을 붙이면 됩니다. 어느 쪽이 먼저 끝날지는 입력 값에 따라 달라지므로 코드에서는 양쪽의 남은 부분을 모두 처리합니다. 다 쓴 쪽에서 남은 부분을 가져오면 빈 리스트가 나오기 때문에 아무 값도 추가되지 않습니다.</a:t>
            </a:r>
          </a:p>
          <a:p>
            <a:endParaRPr/>
          </a:p>
          <a:p>
            <a:r>
              <a:t>지금까지 한 일을 코드로 옮기면 세 가지입니다. 남은 값이 양쪽에 있는 동안 앞의 두 값을 비교하고, 선택한 값만 결과에 넣은 뒤 그쪽 인덱스를 늘리고, 한쪽이 끝나면 남은 부분을 붙입니다. 다음 화면에서는 이 세 동작이 각각 어느 줄에 있는지 연결해서 읽어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612053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앞에서 화살표로 따라간 병합을 이제 Python 코드로 읽어 보겠습니다. 함수 이름은 merge이고, left와 right라는 두 리스트를 받습니다. 여기서 중요한 조건이 있습니다. 두 리스트는 각각 이미 정렬되어 있어야 합니다. 앞에서 만든 왼쪽 2, 3, 6, 8과 오른쪽 1, 4, 5, 7이 바로 그런 입력입니다. 섞인 배열을 아무렇게나 둘로 잘라서 이 함수에 바로 넣는 것은 아닙니다. 두 구간을 먼저 정렬한 다음 이 함수를 호출합니다.</a:t>
            </a:r>
          </a:p>
          <a:p>
            <a:endParaRPr/>
          </a:p>
          <a:p>
            <a:r>
              <a:t>함수 안의 첫 줄에서 out을 빈 리스트로 만듭니다. 아웃은 지금부터 작은 값을 하나씩 모을 결과입니다. 다음 줄의 아이와 제이는 둘 다 0으로 시작합니다. 아이는 왼쪽에서 다음에 읽을 위치, 제이는 오른쪽에서 다음에 읽을 위치입니다. 숫자 0은 배열의 값이 아니라 첫 번째 칸의 인덱스입니다.</a:t>
            </a:r>
          </a:p>
          <a:p>
            <a:endParaRPr/>
          </a:p>
          <a:p>
            <a:r>
              <a:t>while 조건을 보세요. 아이가 왼쪽 길이보다 작고, 동시에 제이가 오른쪽 길이보다 작아야 합니다. 양쪽에 읽을 값이 남아 있을 때만 비교한다는 뜻입니다. 길이가 4이면 마지막 인덱스는 3입니다. 인덱스가 4가 되면 더 읽으면 안 되니까, 길이보다 작다는 조건을 씁니다. 가운데의 and 때문에 양쪽 조건을 모두 만족해야 반복문 안으로 들어갑니다.</a:t>
            </a:r>
          </a:p>
          <a:p>
            <a:endParaRPr/>
          </a:p>
          <a:p>
            <a:r>
              <a:t>이제 if에서 왼쪽의 현재 값과 오른쪽의 현재 값을 비교합니다. 처음에는 2와 1입니다. 2가 1 이하가 아니므로 else로 갑니다. 오른쪽의 1을 out의 맨 뒤에 붙이고, 제이만 하나 늘립니다. append는 값 하나를 리스트 끝에 추가하는 함수입니다. 그래서 결과는 1 하나가 되고, 다음 오른쪽 값은 4가 됩니다. 왼쪽의 2는 아직 사용하지 않았으니 아이는 그대로 0입니다.</a:t>
            </a:r>
          </a:p>
          <a:p>
            <a:endParaRPr/>
          </a:p>
          <a:p>
            <a:r>
              <a:t>다음 반복에서는 2와 4를 비교합니다. 이번에는 if가 참이므로 왼쪽의 2를 붙이고 아이만 하나 늘립니다. 결과는 1, 2이고, 다음 비교는 3과 4가 됩니다. 같은 방식으로 3, 4, 5, 6, 7이 차례로 들어갑니다. 두 인덱스를 동시에 늘리면 사용하지 않은 값을 건너뛰게 되므로, 선택한 쪽만 늘려야 합니다.</a:t>
            </a:r>
          </a:p>
          <a:p>
            <a:endParaRPr/>
          </a:p>
          <a:p>
            <a:r>
              <a:t>비교 기호가 작다만 있는 것이 아니라 작거나 같다라는 점도 보세요. 두 값이 같으면 왼쪽 값을 먼저 넣습니다. 예를 들어 값은 둘 다 2지만 서로 다른 학생의 기록이라고 생각하면, 왼쪽에 있던 기록의 순서를 먼저 유지하는 것입니다. 이 규칙이 병합 정렬의 안정성과 연결됩니다.</a:t>
            </a:r>
          </a:p>
          <a:p>
            <a:endParaRPr/>
          </a:p>
          <a:p>
            <a:r>
              <a:t>오른쪽의 마지막 7을 사용하면 제이는 4가 됩니다. 오른쪽 길이도 4이므로 맨 위 while의 조건이 거짓이 되어 비교를 멈춥니다. 하지만 왼쪽에는 8이 남아 있죠. 그래서 아래에 두 번째 while이 있습니다. 아이가 왼쪽 길이보다 작은 동안, left[i]를 append로 결과 뒤에 하나 붙이고 아이를 1 늘립니다. 지금 아이는 3이므로 왼쪽의 마지막 8을 붙인 다음 4가 됩니다. 다시 조건을 확인하면 4는 길이 4보다 작지 않으니 반복을 끝냅니다. 남은 값이 여러 개여도 같은 방식으로 하나씩 붙이면 됩니다. 왼쪽 자체가 이미 정렬되어 있고, 오른쪽 값은 모두 처리했으므로 여기서는 다시 두 값을 비교할 필요가 없습니다.</a:t>
            </a:r>
          </a:p>
          <a:p>
            <a:endParaRPr/>
          </a:p>
          <a:p>
            <a:r>
              <a:t>세 번째 while은 오른쪽에 남은 값을 붙이는 부분입니다. 이번 예에서는 제이가 이미 4이므로 처음부터 조건이 거짓이고 한 번도 실행하지 않습니다. 반대로 왼쪽이 먼저 끝나는 입력이라면 두 번째 while을 건너뛰고 이 세 번째 while에서 오른쪽 값을 하나씩 붙입니다. 예를 들어 왼쪽이 1, 2이고 오른쪽이 3, 4이면, 위의 비교에서 1과 2를 먼저 넣고 아래의 오른쪽 while에서 3과 4를 넣는 것입니다. 처음부터 한쪽이 빈 리스트여도 이 구조로 처리할 수 있습니다. 세 while의 역할을 정리하면, 첫 번째는 양쪽 값을 비교해서 작은 값을 넣고, 두 번째는 남은 왼쪽 값을 넣고, 세 번째는 남은 오른쪽 값을 넣습니다. 마지막 return은 완성된 결과를 호출한 곳으로 돌려줍니다. 원래 left와 right는 바꾸지 않고 새 정렬 결과를 반환합니다.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727812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 슬라이드의 merge는 정렬된 리스트 두 개를 합치는 함수였습니다. 그러면 아직 섞여 있는 리스트를 어떻게 정렬할까요? 지금 보는 merge_sort가 입력을 작게 나눠 정렬하고, 마지막에 merge를 호출하는 역할을 합니다. 두 함수의 역할을 구분해서 읽어 보겠습니다.</a:t>
            </a:r>
          </a:p>
          <a:p>
            <a:endParaRPr/>
          </a:p>
          <a:p>
            <a:r>
              <a:t>맨 위의 조건은 길이가 1 이하인지 확인합니다. 빈 리스트이거나 원소가 하나이면 이미 정렬되어 있으므로 더 나누지 않고 돌려줍니다. a[:]는 리스트 전체를 복사해서 반환한다는 뜻입니다. 여기서 빈 입력도 함께 처리하므로, 재귀를 계속 호출하지 않고 안전하게 끝낼 수 있습니다.</a:t>
            </a:r>
          </a:p>
          <a:p>
            <a:endParaRPr/>
          </a:p>
          <a:p>
            <a:r>
              <a:t>원소가 여러 개이면 mid를 길이의 절반으로 잡습니다. 여덟 개에서는 8을 2로 나눈 몫인 4입니다. a[:mid]는 인덱스 0부터 3까지, 즉 8, 3, 6, 2입니다. a[mid:]는 인덱스 4부터 끝까지, 즉 7, 1, 5, 4입니다. 슬라이싱의 끝 인덱스는 포함하지 않기 때문에, 가운데 원소를 중복해서 가져오거나 빠뜨리지 않습니다.</a:t>
            </a:r>
          </a:p>
          <a:p>
            <a:endParaRPr/>
          </a:p>
          <a:p>
            <a:r>
              <a:t>이제 left를 계산하는 줄을 보세요. 오른쪽에서 merge_sort를 다시 호출하고 있습니다. 재귀 호출은 같은 함수를 더 작은 입력으로 부르는 것입니다. 왼쪽 8, 3, 6, 2를 다시 8, 3과 6, 2로 나누고, 8, 3은 다시 8 하나와 3 하나로 나눕니다. 하나가 되면 첫 조건에서 반환합니다. 두 결과가 돌아오면 merge가 3, 8을 만들고, 같은 방법으로 2, 6도 만듭니다. 이 둘을 병합하면 왼쪽 전체의 정렬 결과 2, 3, 6, 8이 됩니다.</a:t>
            </a:r>
          </a:p>
          <a:p>
            <a:endParaRPr/>
          </a:p>
          <a:p>
            <a:r>
              <a:t>이 동안 처음의 여덟 개짜리 호출은 왼쪽 결과가 돌아오기를 기다립니다. 왼쪽 호출이 다 끝나야 다음 줄로 내려가서 오른쪽을 정렬합니다. 두 줄이 동시에 실행되는 것은 아닙니다. 오른쪽도 같은 과정을 거쳐 1, 4, 5, 7을 반환합니다. 그러면 현재 호출의 left와 right에는 모두 정렬된 결과가 들어 있습니다.</a:t>
            </a:r>
          </a:p>
          <a:p>
            <a:endParaRPr/>
          </a:p>
          <a:p>
            <a:r>
              <a:t>마지막 줄에서 이 두 결과를 merge에 넣습니다. 그래서 앞 슬라이드에서 말한, 두 입력이 이미 정렬되어 있다는 조건이 성립하는 것입니다. 정렬되지 않은 두 구간을 먼저 합치는 것이 아니라, 각 구간의 정렬 결과를 받아서 합칩니다. 호출은 내려가면서 작은 문제를 만들고, 반환하면서 정렬된 결과를 차례로 합칩니다.</a:t>
            </a:r>
          </a:p>
          <a:p>
            <a:endParaRPr/>
          </a:p>
          <a:p>
            <a:r>
              <a:t>아래 실행 예에서는 merge_sort가 반환한 새 리스트를 print로 출력합니다. 이 Python 코드는 원래 a를 제자리에서 바꾸는 코드가 아닙니다. merge_sort를 호출만 하고 반환값을 사용하지 않으면 정렬 결과를 놓치게 됩니다. 사용할 때는 반환값을 출력하거나 변수에 받아야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982283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C의 병합도 원리는 같습니다. 정렬된 두 구간의 앞쪽 값을 비교하고, 작은 값을 결과에 쓰는 것입니다. 다만 지금 코드는 left와 right라는 별도 배열 두 개를 만들지 않고, 하나의 배열 a 안에서 두 구간을 인덱스로 구분합니다. 그래서 먼저 구간의 의미부터 확인하겠습니다.</a:t>
            </a:r>
          </a:p>
          <a:p>
            <a:endParaRPr/>
          </a:p>
          <a:p>
            <a:r>
              <a:t>lo부터 mid까지가 왼쪽 구간이고, mid 플러스 1부터 hi까지가 오른쪽 구간입니다. 양쪽 끝 인덱스를 모두 포함합니다. 예를 들어 a에 2, 3, 6, 8, 1, 4, 5, 7이 들어 있다면, lo가 0, mid가 3, hi가 7일 때 왼쪽은 인덱스 0부터 3까지이고 오른쪽은 4부터 7까지입니다. 각 구간 안에서는 이미 정렬되어 있습니다.</a:t>
            </a:r>
          </a:p>
          <a:p>
            <a:endParaRPr/>
          </a:p>
          <a:p>
            <a:r>
              <a:t>첫 줄에서 아이는 lo, 제이는 mid 플러스 1, 케이는 lo로 시작합니다. 아이와 제이는 각각 왼쪽과 오른쪽에서 읽을 위치이고, 케이는 임시 배열 tmp에 쓸 위치입니다. 임시 배열을 사용하는 이유는 원래 a에서 아직 읽지 않은 값을 덮어쓰지 않기 위해서입니다. 원래 배열은 비교할 때 읽고, 선택한 값은 우선 tmp에 저장합니다.</a:t>
            </a:r>
          </a:p>
          <a:p>
            <a:endParaRPr/>
          </a:p>
          <a:p>
            <a:r>
              <a:t>while에서는 아이가 mid 이하이고 제이가 hi 이하인지 확인합니다. 양쪽에 값이 남아 있을 때만 비교한다는 뜻입니다. 첫 비교는 a[0]의 2와 a[4]의 1입니다. 오른쪽 1이 작으므로 else 줄이 실행됩니다. tmp의 첫 칸에 1을 쓰고, 쓰기 위치 케이와 오른쪽 읽기 위치 제이를 하나씩 늘립니다.</a:t>
            </a:r>
          </a:p>
          <a:p>
            <a:endParaRPr/>
          </a:p>
          <a:p>
            <a:r>
              <a:t>tmp[k++] = a[j++]처럼 더하기 두 번이 붙어 있으면 낯설 수 있습니다. 뒤에 붙은 증가는 현재 위치를 먼저 사용한 다음 인덱스를 늘린다는 뜻입니다. 지금 줄을 풀어 읽으면, tmp의 케이 위치에 a의 제이 위치 값을 넣고, 케이와 제이를 각각 하나 증가시키는 것입니다. 다음 반복에서는 왼쪽 2와 오른쪽 4를 비교해서 왼쪽의 2를 넣습니다. 그때는 케이와 아이만 증가합니다.</a:t>
            </a:r>
          </a:p>
          <a:p>
            <a:endParaRPr/>
          </a:p>
          <a:p>
            <a:r>
              <a:t>어느 한쪽이 끝나면 첫 while을 나옵니다. 그 뒤의 두 while은 남은 값을 옮기는 부분입니다. 왼쪽에 남아 있으면 아이부터 mid까지, 오른쪽에 남아 있으면 제이부터 hi까지 tmp에 이어 씁니다. 먼저 끝난 쪽의 조건은 이미 거짓이므로 아무것도 쓰지 않습니다.</a:t>
            </a:r>
          </a:p>
          <a:p>
            <a:endParaRPr/>
          </a:p>
          <a:p>
            <a:r>
              <a:t>이제 tmp의 lo부터 hi까지에 병합 결과가 완성되었습니다. 마지막 for는 이 결과를 a의 같은 구간으로 복사합니다. 이 줄이 없으면 정렬 결과가 tmp에만 있고 원래 a는 바뀌지 않습니다. 이 C 함수는 새 배열을 return하는 대신 원래 배열 a의 지정 구간을 정렬된 결과로 바꾸는 함수입니다.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06321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C에서 전체 병합 정렬을 호출하는 순서를 보겠습니다. 함수의 입력은 원래 배열 a, 임시 배열 tmp, 정렬할 구간의 처음 lo와 마지막 hi입니다. 앞에서 정한 것처럼 lo와 hi 위치를 모두 포함합니다. 배열 길이가 여덟 개라면 처음 구간은 0부터 7입니다.</a:t>
            </a:r>
          </a:p>
          <a:p>
            <a:endParaRPr/>
          </a:p>
          <a:p>
            <a:r>
              <a:t>첫 조건에서 lo가 hi 이상이면 바로 반환합니다. lo와 hi가 같으면 원소 하나인 구간입니다. lo가 hi보다 크면 빈 구간이고요. 둘 다 더 정렬할 필요가 없으니 재귀를 멈춥니다. 이 조건을 먼저 확인해야 작은 구간을 계속 나누는 일이 생기지 않습니다.</a:t>
            </a:r>
          </a:p>
          <a:p>
            <a:endParaRPr/>
          </a:p>
          <a:p>
            <a:r>
              <a:t>다음으로 가운데 인덱스 mid를 계산합니다. lo가 0이고 hi가 7이면 차이 7을 2로 나눈 정수 몫은 3이고, lo를 더하면 mid는 3입니다. 그래서 왼쪽 재귀 호출은 0부터 3까지, 오른쪽 재귀 호출은 4부터 7까지가 됩니다. 왼쪽에 mid를 포함하고 오른쪽은 mid 플러스 1부터 시작하므로 원소가 빠지거나 겹치지 않습니다.</a:t>
            </a:r>
          </a:p>
          <a:p>
            <a:endParaRPr/>
          </a:p>
          <a:p>
            <a:r>
              <a:t>첫 재귀 호출은 왼쪽 네 개를 정렬합니다. 그 안에서도 다시 0부터 1, 2부터 3으로 나누고, 한 칸이 될 때까지 내려갑니다. 작은 구간의 정렬이 끝나면서 병합 결과가 a에 복사됩니다. 왼쪽 호출이 모두 끝나면 a의 왼쪽 구간은 2, 3, 6, 8이 됩니다. 그다음 오른쪽 호출을 실행해서 1, 4, 5, 7을 만듭니다.</a:t>
            </a:r>
          </a:p>
          <a:p>
            <a:endParaRPr/>
          </a:p>
          <a:p>
            <a:r>
              <a:t>두 호출이 끝난 뒤에야 마지막 merge를 실행합니다. 이 순서 덕분에 merge가 받는 왼쪽과 오른쪽 구간은 이미 정렬되어 있습니다. 마지막 병합에서 tmp에 전체 결과를 만들고 a로 복사하면 1부터 8까지의 정렬이 끝납니다.</a:t>
            </a:r>
          </a:p>
          <a:p>
            <a:endParaRPr/>
          </a:p>
          <a:p>
            <a:r>
              <a:t>아래 실행 예를 보면 a와 크기 8의 tmp를 준비하고, merge_sort에 0과 7을 전달합니다. tmp는 정렬할 배열 전체를 담을 수 있는 크기로 준비하고 모든 재귀 호출에 같은 배열을 넘깁니다. 각 호출은 자기가 맡은 인덱스 구간만 사용합니다. 이 함수는 반환값을 받아서 사용하는 함수가 아닙니다. 호출이 끝난 뒤 a의 내용이 정렬되어 있는지 확인하면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582140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병합 정렬이 왜 n 로그 n 시간이 걸리는지, 화면의 여덟 개짜리 예로 생각해 보겠습니다. 여기서 n은 원소 수이고, 시간 복잡도는 원소 수가 늘어날 때 처리량이 어떤 속도로 늘어나는지 표현하는 것입니다. 실제로 몇 초 걸린다는 뜻은 아닙니다.</a:t>
            </a:r>
          </a:p>
          <a:p>
            <a:endParaRPr/>
          </a:p>
          <a:p>
            <a:r>
              <a:t>한 개짜리 배열 둘을 합치면 두 개짜리 결과가 됩니다. 이런 병합이 네 번 있으니, 그 단계에서 결과로 옮기는 원소는 두 개씩 네 번, 총 여덟 개입니다. 다음에는 두 개짜리 배열 둘을 합쳐 네 개짜리 결과를 만듭니다. 이것이 두 번이므로 네 개씩 두 번, 역시 여덟 개입니다. 마지막에는 네 개짜리 배열 둘을 합치며 여덟 개를 한 번 처리합니다.</a:t>
            </a:r>
          </a:p>
          <a:p>
            <a:endParaRPr/>
          </a:p>
          <a:p>
            <a:r>
              <a:t>각 단계의 전체 처리량이 모두 여덟 개라는 점을 보세요. 병합 하나만 보면 크기가 달라도, 같은 단계의 병합들을 모두 합치면 전체 원소를 한 번씩 처리합니다. 그래서 n개라면 단계 하나의 처리량이 n에 비례합니다. C의 결과 복사처럼 원소를 한 번 더 옮기는 작업이 있어도, 처리량이 n에 비례한다는 사실은 같습니다.</a:t>
            </a:r>
          </a:p>
          <a:p>
            <a:endParaRPr/>
          </a:p>
          <a:p>
            <a:r>
              <a:t>그런 단계는 몇 번 있을까요? 여덟 개에서는 2개짜리, 4개짜리, 8개짜리를 만드는 세 단계입니다. 여덟은 2를 세 번 곱한 수죠. 일반적으로 두 배씩 커져 n개가 될 때까지의 단계 수가 로그 n에 비례합니다. 따라서 단계당 n만큼의 작업을 로그 n단계 하므로 전체는 n 로그 n입니다.</a:t>
            </a:r>
          </a:p>
          <a:p>
            <a:endParaRPr/>
          </a:p>
          <a:p>
            <a:r>
              <a:t>현재 코드에서는 입력이 이미 정렬되어 있어도 같은 방식으로 나누고 병합합니다. 그래서 최선, 평균, 최악 모두 n 로그 n에 비례합니다. 화면의 세타 기호는 이 증가 규모를 나타냅니다.</a:t>
            </a:r>
          </a:p>
          <a:p>
            <a:endParaRPr/>
          </a:p>
          <a:p>
            <a:r>
              <a:t>마지막 줄의 안정 정렬도 확인하겠습니다. 같은 점수인 두 학생의 기록을 점수만 보고 정렬한다고 생각해 보세요. 점수가 같을 때 원래 먼저 있던 기록을 계속 먼저 둔다면 안정적이라고 합니다. 앞의 병합 코드가 같은 값에서 왼쪽을 먼저 선택하는 이유가 이것입니다. 숫자만 보면 같아 보이지만, 숫자에 붙어 있는 다른 기록의 순서를 보존하는 의미가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024035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왼쪽 2, 5와 오른쪽 1, 3, 7을 직접 병합해 보겠습니다. 앞의 코드를 외웠는지보다, 어느 값을 넣고 어느 인덱스를 움직여야 하는지 설명할 수 있는지 확인하는 문제입니다. 두 배열은 각각 이미 정렬되어 있습니다.</a:t>
            </a:r>
          </a:p>
          <a:p>
            <a:endParaRPr/>
          </a:p>
          <a:p>
            <a:r>
              <a:t>첫 비교는 왼쪽 2와 오른쪽 1입니다. 작은 1을 결과에 넣고 오른쪽 인덱스만 다음 칸으로 옮깁니다. 왼쪽의 2는 아직 사용하지 않았으므로 그대로 둡니다. 그러면 다음 비교는 2와 3입니다. 이번에는 2를 넣고 왼쪽을 움직입니다. 결과는 1, 2이고, 다음 비교 대상은 5와 3입니다.</a:t>
            </a:r>
          </a:p>
          <a:p>
            <a:endParaRPr/>
          </a:p>
          <a:p>
            <a:r>
              <a:t>3이 더 작으니 오른쪽의 3을 넣습니다. 오른쪽의 다음 값은 7입니다. 이제 5와 7을 비교해서 5를 넣습니다. 결과는 1, 2, 3, 5가 되고, 왼쪽의 두 원소를 모두 사용한 상태가 됩니다.</a:t>
            </a:r>
          </a:p>
          <a:p>
            <a:endParaRPr/>
          </a:p>
          <a:p>
            <a:r>
              <a:t>두 번째 질문은 바로 이 시점입니다. 왼쪽이 먼저 끝났으므로 오른쪽에서 아직 사용하지 않은 7을 결과 뒤에 붙입니다. 결과는 1, 2, 3, 5, 7입니다. 오른쪽 배열 전체를 다시 붙이면 이미 사용한 1과 3이 중복되겠죠. 반드시 오른쪽의 현재 인덱스부터 끝까지 남은 부분만 붙여야 합니다.</a:t>
            </a:r>
          </a:p>
          <a:p>
            <a:endParaRPr/>
          </a:p>
          <a:p>
            <a:r>
              <a:t>세 번째 질문도 생각해 보겠습니다. 왜 merge를 두 재귀 호출 뒤에 둘까요? 지금 우리가 맨 앞 두 값만 비교할 수 있었던 이유는 각 입력이 먼저 정렬되어 있었기 때문입니다. 왼쪽 재귀 호출과 오른쪽 재귀 호출이 그 정렬된 입력을 만들어 줍니다. 그 결과가 돌아온 다음 병합해야 전체를 올바르게 정렬할 수 있습니다. 재귀 호출을 했다는 사실만 말하는 것보다, 두 입력이 먼저 정렬되어야 병합이 가능하다고 연결해서 설명하면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26396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퀵 정렬을 시작하겠습니다. 여기서 피벗이라는 말이 처음 나왔죠. 피벗은 값을 두 쪽으로 나눌 때 사용하는 비교 기준값입니다. 현재 배열 안에서 원소 하나를 고르고, 다른 값들을 그 값과 비교합니다. 지금 배열은 8, 4, 6, 3, 7, 1이고, 이번 기준값은 6으로 잡겠습니다. 주황색 칸의 6을 봐 주세요.</a:t>
            </a:r>
          </a:p>
          <a:p>
            <a:endParaRPr/>
          </a:p>
          <a:p>
            <a:r>
              <a:t>이번 코드의 규칙은 피벗 이하인 값은 왼쪽에 모으고, 피벗보다 큰 값은 오른쪽에 모으는 것입니다. 6을 기준으로 보면 4, 3, 1은 왼쪽에 들어가고 8, 7은 오른쪽에 들어가야 합니다. 같은 값이 나온다면 우리 코드는 왼쪽에 넣습니다. 이렇게 어느 쪽에 둘지 기준을 정하고 배열 안의 위치를 바꿉니다.</a:t>
            </a:r>
          </a:p>
          <a:p>
            <a:endParaRPr/>
          </a:p>
          <a:p>
            <a:r>
              <a:t>양쪽으로 나누는 작업이 끝나면 피벗을 두 묶음 사이에 놓습니다. 6 왼쪽에는 6 이하인 값이, 오른쪽에는 6보다 큰 값이 있도록 놓는 것입니다. 그러면 다음 정렬에서는 그 피벗을 제외하고 왼쪽 묶음과 오른쪽 묶음을 각각 정렬합니다. 왼쪽 내부의 값들도 아직 크기순으로 정리해야 하므로, 두 묶음에 같은 정렬 함수를 다시 호출합니다.</a:t>
            </a:r>
          </a:p>
          <a:p>
            <a:endParaRPr/>
          </a:p>
          <a:p>
            <a:r>
              <a:t>여기서 바로 다음 배열로 넘어가기 전에 준비 과정을 보겠습니다. 먼저 왜 6을 골랐는지 확인하고, 6과 마지막 값 1을 실제로 바꿔 보겠습니다. 그다음 두 포인터를 어디에 놓는지 보겠습니다. 피벗을 선택하는 일, 검사하는 동안 옮겨 두는 일, 검사 후 최종 자리에 넣는 일은 차례대로 진행하는 서로 다른 동작입니다.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40200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피벗 6을 고르는 과정을 보겠습니다. 배열의 칸 번호인 인덱스는 0부터 시작합니다. 원소가 여섯 개이므로 처음 칸은 0, 마지막 칸은 5입니다. 화면에서 맨 왼쪽의 8이 인덱스 0에 있고, 맨 오른쪽의 1이 인덱스 5에 있습니다. lo는 현재 구간의 처음 인덱스, hi는 마지막 인덱스라는 뜻입니다. 따라서 지금 lo는 0이고 hi는 5입니다.</a:t>
            </a:r>
          </a:p>
          <a:p>
            <a:endParaRPr/>
          </a:p>
          <a:p>
            <a:r>
              <a:t>이번 코드에서는 현재 구간의 가운데 인덱스에 있는 값을 고릅니다. lo와 hi를 더하고 2로 나눈 정수 몫을 사용합니다. 0과 5를 더하면 5이고, 2로 나눈 정수 몫은 2입니다. Python의 슬래시 두 개는 소수 부분을 버리고 몫을 구하는 연산입니다. 그래서 pivot_idx는 2가 됩니다. 아래 코드 한 줄이 이 계산을 합니다.</a:t>
            </a:r>
          </a:p>
          <a:p>
            <a:endParaRPr/>
          </a:p>
          <a:p>
            <a:r>
              <a:t>인덱스 2의 칸을 보세요. 그 칸에 6이 있으므로 피벗의 값은 6입니다. 인덱스 2와 피벗 값 6을 구분해 주세요. 인덱스는 칸 번호이고, 값은 그 칸 안에 들어 있는 숫자입니다. 지금은 이 값 6을 다른 원소와 비교하는 기준으로 쓰겠습니다.</a:t>
            </a:r>
          </a:p>
          <a:p>
            <a:endParaRPr/>
          </a:p>
          <a:p>
            <a:r>
              <a:t>가운데라는 말은 현재 배열에서의 위치를 뜻합니다. 숫자를 크기순으로 미리 정렬하거나, 가운데 크기의 숫자를 따로 찾은 것이 아닙니다. 피벗을 고르는 방법은 여러 가지가 있고, 여기서는 그림과 Python, C 코드가 모두 가운데 위치의 값을 고르는 방식으로 통일되어 있습니다.</a:t>
            </a:r>
          </a:p>
          <a:p>
            <a:endParaRPr/>
          </a:p>
          <a:p>
            <a:r>
              <a:t>아직 배열의 순서는 8, 4, 6, 3, 7, 1 그대로입니다. 지금까지는 기준값을 선택했을 뿐입니다. 다음 화면에서 인덱스 2의 피벗 6과 마지막 인덱스 5의 값 1을 서로 교환하겠습니다.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59648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윗줄은 교환 전이고 아랫줄은 교환 후입니다. 먼저 윗줄에서 주황색 피벗 6을 찾아보세요. 인덱스 2에 있습니다. 맨 오른쪽 인덱스 5에는 값 1이 있습니다. 이제 이 두 칸의 값을 서로 바꾸겠습니다. 중간에 있는 3과 7이나 다른 칸의 값은 움직이지 않습니다.</a:t>
            </a:r>
          </a:p>
          <a:p>
            <a:endParaRPr/>
          </a:p>
          <a:p>
            <a:r>
              <a:t>교환 후인 아랫줄을 보세요. 인덱스 2에는 원래 맨 끝에 있던 1이 들어갔고, 인덱스 5에는 원래 가운데에 있던 피벗 6이 들어갔습니다. 그래서 배열은 8, 4, 1, 3, 7, 6입니다. 여섯 값이 그대로 남아 있고 두 값의 위치만 바뀌었습니다. 6을 끝에 추가하거나 1을 지운 것이 아닙니다.</a:t>
            </a:r>
          </a:p>
          <a:p>
            <a:endParaRPr/>
          </a:p>
          <a:p>
            <a:r>
              <a:t>화면의 Python 한 줄은 두 값을 동시에 교환하는 문법입니다. 오른쪽에 적은 두 값을 먼저 읽어서, 왼쪽의 두 칸에 각각 넣습니다. 피벗 칸에는 이전의 마지막 값을 넣고, 마지막 칸에는 이전의 피벗 값을 넣습니다. C 코드에서는 같은 동작을 swap 함수로 합니다. 그림의 교환과 코드의 교환이 같은 두 칸을 대상으로 한다는 점을 확인해 주세요.</a:t>
            </a:r>
          </a:p>
          <a:p>
            <a:endParaRPr/>
          </a:p>
          <a:p>
            <a:r>
              <a:t>그런데 왜 피벗을 마지막 칸으로 옮길까요? 지금부터 다른 값들을 왼쪽과 오른쪽으로 나누면서 여러 칸의 값을 바꿀 것입니다. 이 구현에서는 기준값인 피벗을 마지막 칸에 따로 두고, 그 앞의 다섯 값만 두 포인터로 검사합니다. 그러면 두 포인터가 값을 교환하는 동안 피벗 칸은 그대로 유지됩니다. 비교할 때 사용하는 기준값은 계속 6입니다.</a:t>
            </a:r>
          </a:p>
          <a:p>
            <a:endParaRPr/>
          </a:p>
          <a:p>
            <a:r>
              <a:t>지금 맨 끝은 검사하는 동안 잠시 두는 자리입니다. 아직 6의 최종 정렬 위치를 정한 것은 아닙니다. 앞의 값들을 모두 나눈 뒤에는 6 이하인 묶음과 6보다 큰 묶음 사이에 6을 넣습니다. 그때 두 번째 피벗 교환이 나옵니다. 첫 교환은 검사 준비이고, 마지막 교환은 피벗 자리 확정이라는 차이를 기억해 주세요.</a:t>
            </a:r>
          </a:p>
          <a:p>
            <a:endParaRPr/>
          </a:p>
          <a:p>
            <a:r>
              <a:t>다음 화면에서는 피벗을 제외한 나머지 구간에 L과 R을 놓겠습니다. 아랫줄의 배열을 그대로 이어서 사용합니다.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35120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교환 후의 배열 8, 4, 1, 3, 7, 6을 그대로 가져왔습니다. 마지막 칸의 주황색 6은 피벗이고, 검사하는 동안 그대로 둡니다. 이제 그 앞의 다섯 칸에 두 포인터를 놓습니다. L은 왼쪽에서 오른쪽으로 움직이고, R은 오른쪽에서 왼쪽으로 움직입니다.</a:t>
            </a:r>
          </a:p>
          <a:p>
            <a:endParaRPr/>
          </a:p>
          <a:p>
            <a:r>
              <a:t>L은 현재 구간의 처음인 lo에서 시작합니다. lo가 0이므로 L은 인덱스 0의 8을 가리킵니다. R은 마지막 칸인 hi에서 한 칸 앞, hi 마이너스 1에서 시작합니다. hi가 5이므로 R은 인덱스 4의 7을 가리킵니다. 화면에서 파란 L은 8 아래에 있고, 초록 R은 7 아래에 있습니다. 피벗 화살표는 맨 끝 6 아래에 따로 있습니다.</a:t>
            </a:r>
          </a:p>
          <a:p>
            <a:endParaRPr/>
          </a:p>
          <a:p>
            <a:r>
              <a:t>R을 5가 아니라 4에 놓는 이유가 중요합니다. 인덱스 5에는 검사 대상에서 빼 둔 피벗이 있기 때문입니다. 두 포인터는 인덱스 0부터 4까지에 있는 다른 원소들을 검사하고, 그 값들을 기준값 6과 비교합니다. 피벗을 검사 대상에서 제외한다고 해서 기준값 없이 비교하는 것은 아닙니다. pivot 변수에는 마지막 칸의 값 6이 들어 있습니다.</a:t>
            </a:r>
          </a:p>
          <a:p>
            <a:endParaRPr/>
          </a:p>
          <a:p>
            <a:r>
              <a:t>먼저 왼쪽 포인터 L의 조건을 봅니다. 왼쪽에 둘 수 있는 값은 6 이하입니다. 그런 값을 만나면 L을 오른쪽으로 한 칸 옮기고 다음 값을 확인합니다. 그런데 첫 값은 8입니다. 8은 6보다 크므로 오른쪽으로 보내야 합니다. 그래서 L은 지금 인덱스 0에서 멈춥니다. 아직 배열의 값을 교환하지 않았습니다.</a:t>
            </a:r>
          </a:p>
          <a:p>
            <a:endParaRPr/>
          </a:p>
          <a:p>
            <a:r>
              <a:t>이제 R이 반대쪽에서 왼쪽으로 보낼 값을 찾습니다. 현재 값 7은 6보다 크므로 오른쪽에 있어도 됩니다. 다음 화면에서는 R이 7의 칸을 지나 인덱스 3의 값 3으로 움직입니다. 그때 L은 8을, R은 3을 가리킵니다. 두 값의 자리를 바꾸면 큰 값은 오른쪽으로, 작은 값은 왼쪽으로 옮길 수 있습니다.</a:t>
            </a:r>
          </a:p>
          <a:p>
            <a:endParaRPr/>
          </a:p>
          <a:p>
            <a:r>
              <a:t>여기까지가 탐색을 시작하기 위한 준비입니다. 가운데 칸에서 6을 골랐고, 6과 1을 교환했고, 피벗 앞 구간에 L과 R을 놓았습니다. 다음부터는 이 상태에서 포인터가 한 칸씩 이동하는 모습을 따라가겠습니다.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062929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포인터 R이 인덱스 4에서 3으로 옮겨졌습니다. 방금 인덱스 4에 있던 7은 피벗 6보다 컸죠. 큰 값은 오른쪽에 있어야 하므로, 7을 건드릴 필요 없이 그 칸을 지나간 것입니다. 포인터만 옮겼고 배열의 값 순서는 아직 그대로입니다.</a:t>
            </a:r>
          </a:p>
          <a:p>
            <a:endParaRPr/>
          </a:p>
          <a:p>
            <a:r>
              <a:t>인덱스 3에서 R이 만난 값은 3입니다. 3은 피벗 6 이하이므로 왼쪽으로 보내야 하는 값입니다. 그런데 지금은 오른쪽에서 검사하다 만났으니 여기서 R을 멈춥니다. L은 아직 인덱스 0의 8을 가리키고 있습니다.</a:t>
            </a:r>
          </a:p>
          <a:p>
            <a:endParaRPr/>
          </a:p>
          <a:p>
            <a:r>
              <a:t>두 화살표가 멈춘 이유를 함께 보세요. 왼쪽의 8은 큰 값이라 오른쪽으로 보내야 하고, 오른쪽에서 찾은 3은 작은 값이라 왼쪽으로 보내야 합니다. 서로 반대쪽에 있어야 하는 값 두 개를 찾은 것입니다. 따라서 둘을 바꾸면 두 값이 동시에 자기 쪽으로 이동합니다.</a:t>
            </a:r>
          </a:p>
          <a:p>
            <a:endParaRPr/>
          </a:p>
          <a:p>
            <a:r>
              <a:t>다만 교환하기 전에 두 포인터가 아직 교차하지 않았는지도 확인합니다. 지금은 L이 0이고 R이 3이므로 L이 R보다 작습니다. 아직 검사할 구간 안에서 두 값을 찾은 상태라서 교환할 수 있습니다. 다음 화면에서는 8과 3만 바꾸겠습니다. 맨 끝 피벗 6은 그대로 둡니다.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413097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인덱스 0의 8과 인덱스 3의 3을 바꿨습니다. 배열은 3, 4, 1, 8, 7, 6이 되었습니다. 처음에 왼쪽에 잘못 있던 큰 값 8이 오른쪽으로 갔고, 오른쪽에서 찾은 작은 값 3이 왼쪽으로 왔습니다. 나머지 값들은 움직이지 않았습니다.</a:t>
            </a:r>
          </a:p>
          <a:p>
            <a:endParaRPr/>
          </a:p>
          <a:p>
            <a:r>
              <a:t>화살표 위치도 보세요. L은 0, R은 3에 그대로 있습니다. 값을 교환했다고 해서 이 화면에서 포인터를 함께 옮긴 것은 아닙니다. 현재 코드에서는 교환 다음에 바깥 반복문을 다시 시작하고, 안쪽 while 조건을 다시 검사하면서 포인터를 이동시킵니다.</a:t>
            </a:r>
          </a:p>
          <a:p>
            <a:endParaRPr/>
          </a:p>
          <a:p>
            <a:r>
              <a:t>그럼 같은 위치에서 계속 교환하는 것 아닐까요? 이제 L이 있는 자리에는 8이 아니라 3이 있습니다. 3은 피벗 6 이하이므로 다음 검사에서 L이 지나갈 수 있습니다. R이 있는 자리에는 3 대신 8이 들어왔고, 8은 피벗보다 크므로 R도 자기 검사에서 지나갈 수 있습니다. 교환 결과가 다음 이동을 가능하게 만듭니다.</a:t>
            </a:r>
          </a:p>
          <a:p>
            <a:endParaRPr/>
          </a:p>
          <a:p>
            <a:r>
              <a:t>현재 왼쪽 부분의 순서가 3, 4, 1이라고 해서 잘못된 것은 아닙니다. 지금 하는 것은 작은 값들을 왼쪽에 모으는 분할입니다. 왼쪽 내부를 1, 3, 4로 정렬하는 작업은 나중 재귀 호출에서 합니다. 다음에는 L의 이동부터 다시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531728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교환 후 반복문으로 돌아와서 L이 가리키는 값을 다시 검사했습니다. 인덱스 0의 값은 이제 3입니다. 3은 피벗 6 이하이므로 왼쪽에 있어도 되는 값입니다. 그래서 L을 인덱스 0에서 1로 한 칸 옮겼습니다.</a:t>
            </a:r>
          </a:p>
          <a:p>
            <a:endParaRPr/>
          </a:p>
          <a:p>
            <a:r>
              <a:t>L이 지나간 인덱스 0의 3은 왼쪽 묶음의 조건을 만족합니다. 하지만 3이 전체 정렬에서 첫 번째라는 뜻은 아닙니다. 뒤에 더 작은 1도 있으니까요. 지금 화살표가 확인하는 것은 정확한 크기순 순서가 아니라, 피벗을 기준으로 올바른 쪽에 놓였는지입니다.</a:t>
            </a:r>
          </a:p>
          <a:p>
            <a:endParaRPr/>
          </a:p>
          <a:p>
            <a:r>
              <a:t>배열은 여전히 3, 4, 1, 8, 7, 6입니다. 포인터를 옮기는 동안에는 값 자체를 이동시키지 않습니다. R은 아직 인덱스 3에 있습니다. 현재 코드는 왼쪽 while에서 지나갈 수 있는 값들을 먼저 모두 지나간 뒤, 오른쪽 while을 실행하기 때문입니다.</a:t>
            </a:r>
          </a:p>
          <a:p>
            <a:endParaRPr/>
          </a:p>
          <a:p>
            <a:r>
              <a:t>이제 L은 인덱스 1의 4를 가리킵니다. 4도 피벗 6 이하이므로 다음 검사에서 L이 한 번 더 이동할 수 있습니다. 왼쪽에서 6보다 큰 값을 만나거나, 두 포인터가 교차할 때까지 이 검사를 이어갑니다.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303526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L이 인덱스 1의 4를 검사했습니다. 4는 피벗 6 이하이므로 왼쪽에 있어도 됩니다. 그래서 L을 1에서 2로 옮겼습니다. 지금 화살표가 가리키는 값은 인덱스 2의 1입니다.</a:t>
            </a:r>
          </a:p>
          <a:p>
            <a:endParaRPr/>
          </a:p>
          <a:p>
            <a:r>
              <a:t>앞에서 L이 지나간 값은 3과 4입니다. 둘 다 피벗 이하라는 조건을 만족했습니다. 이 두 값이 크기순으로 정렬되어 있어서 지나간 것은 아닙니다. 실제로 다음 값 1은 둘보다 작죠. 하지만 1 역시 피벗 6 이하이므로 왼쪽에 있어도 되는 값입니다.</a:t>
            </a:r>
          </a:p>
          <a:p>
            <a:endParaRPr/>
          </a:p>
          <a:p>
            <a:r>
              <a:t>이 과정을 보고 3과 4를 왜 바로 비교해서 정렬하지 않느냐고 생각할 수 있습니다. 지금 partition 함수는 전체를 한 번에 정렬하는 함수가 아닙니다. 피벗을 기준으로 나누는 일만 맡습니다. 작은 값들 내부의 정렬까지 여기서 섞어 하려고 하면 코드의 역할이 달라집니다. 그 정렬은 왼쪽 구간의 재귀 호출이 맡습니다.</a:t>
            </a:r>
          </a:p>
          <a:p>
            <a:endParaRPr/>
          </a:p>
          <a:p>
            <a:r>
              <a:t>R은 여전히 인덱스 3의 8에 있습니다. 왼쪽 검사부터 계속 진행하므로 지금은 L만 옮깁니다. 다음 화면에서는 1도 지나가고, L이 8을 만났을 때 왜 멈추는지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38507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인덱스 2의 1도 피벗 6 이하이므로 L을 인덱스 3으로 옮겼습니다. 이제 L이 보는 값은 8입니다. 8은 피벗보다 크므로 왼쪽에 둘 수 없습니다. 그래서 왼쪽 while은 여기서 멈춥니다.</a:t>
            </a:r>
          </a:p>
          <a:p>
            <a:endParaRPr/>
          </a:p>
          <a:p>
            <a:r>
              <a:t>지금 L과 R이 둘 다 인덱스 3을 가리키고 있습니다. 화살표가 같은 칸에 겹쳐 보이는 이유입니다. 같은 칸을 가리키는 것과 서로 지나쳐 교차한 것은 다릅니다. 현재는 L이 R과 같아서, 아직 L 이하 R이라는 검사 범위 조건은 만족합니다.</a:t>
            </a:r>
          </a:p>
          <a:p>
            <a:endParaRPr/>
          </a:p>
          <a:p>
            <a:r>
              <a:t>하지만 이 칸의 8은 오른쪽에 있어도 되는 큰 값입니다. 따라서 뒤에 실행되는 오른쪽 while에서 R이 왼쪽으로 움직이게 됩니다. 왼쪽 검사가 멈췄다고 곧바로 값을 교환하는 것이 아니라, 오른쪽 검사까지 실행한 다음 두 포인터의 위치를 확인합니다.</a:t>
            </a:r>
          </a:p>
          <a:p>
            <a:endParaRPr/>
          </a:p>
          <a:p>
            <a:r>
              <a:t>지금 왼쪽에는 3, 4, 1이 모여 있고, 그 오른쪽에 8과 7이 있습니다. 작은 쪽과 큰 쪽의 경계가 만들어지고 있다는 것을 보세요. 다음 화면에서 R이 한 칸 이동하면 L과 R이 교차합니다. 그때는 새로운 두 값을 교환하는 일을 끝내야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831632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오른쪽 검사에서 인덱스 3의 8을 확인했습니다. 8은 피벗 6보다 크므로 오른쪽에 놓여도 되는 값입니다. 따라서 R을 3에서 2로 한 칸 옮겼습니다. L은 3에 그대로 있습니다. 이제 L이 3, R이 2라서 L이 R보다 커졌습니다.</a:t>
            </a:r>
          </a:p>
          <a:p>
            <a:endParaRPr/>
          </a:p>
          <a:p>
            <a:r>
              <a:t>두 포인터가 교차했다는 것은 사이에 아직 검사하지 않은 칸이 없다는 뜻입니다. L이 지나온 인덱스 0부터 2까지에는 3, 4, 1이 있고 모두 피벗 이하입니다. R이 지나온 인덱스 3부터 4까지에는 8, 7이 있고 모두 피벗보다 큽니다. 피벗은 아직 인덱스 5에 따로 있습니다.</a:t>
            </a:r>
          </a:p>
          <a:p>
            <a:endParaRPr/>
          </a:p>
          <a:p>
            <a:r>
              <a:t>여기서 인덱스 2의 1과 인덱스 3의 8을 바꾸면 안 됩니다. 이미 작은 쪽과 큰 쪽에 올바르게 놓인 값들입니다. 오른쪽 while도 L 이하 R이라는 조건을 먼저 검사하므로, 교차한 뒤에는 1을 읽고 계속 이동하지 않습니다. 바깥 반복문에서 교차를 확인하고 break로 빠져나옵니다.</a:t>
            </a:r>
          </a:p>
          <a:p>
            <a:endParaRPr/>
          </a:p>
          <a:p>
            <a:r>
              <a:t>이제 남은 일은 맨 끝 피벗 6을 경계에 놓는 것입니다. 경계의 위치는 L이 가리키는 인덱스 3입니다. 다음 화면에서는 그 자리에 있는 8과 맨 끝의 6을 바꿔 분할을 마무리하겠습니다.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42667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탐색이 끝난 순간으로 돌아오겠습니다. 윗줄의 배열은 3, 4, 1, 8, 7, 6입니다. 앞에서 8과 3을 바꾼 뒤 두 포인터를 계속 움직였죠. L은 인덱스 3, R은 인덱스 2가 되어 서로 교차했습니다. 따라서 더 교환할 검사 대상 쌍이 없고, 반복문을 끝낸 상태입니다.</a:t>
            </a:r>
          </a:p>
          <a:p>
            <a:endParaRPr/>
          </a:p>
          <a:p>
            <a:r>
              <a:t>이때 L을 기준으로 구간을 나눠 보세요. L보다 앞인 인덱스 0, 1, 2에는 3, 4, 1이 있습니다. 모두 피벗 6 이하입니다. L부터 피벗 바로 앞까지인 인덱스 3과 4에는 8과 7이 있습니다. 모두 6보다 큽니다. 그래서 L은 큰 값 구간의 첫 칸입니다. 피벗이 두 묶음 사이에 들어가려면 바로 이 L 위치에 놓여야 합니다.</a:t>
            </a:r>
          </a:p>
          <a:p>
            <a:endParaRPr/>
          </a:p>
          <a:p>
            <a:r>
              <a:t>지금 L 위치에는 8이 있으니, 맨 끝의 피벗 6과 8을 교환하겠습니다. 인덱스 3에는 6이 들어가고, 인덱스 5에는 8이 들어갑니다. 8은 피벗보다 큰 값이므로 오른쪽 끝으로 가도 올바른 쪽에 놓인 것입니다. 인덱스 4의 7은 이미 오른쪽에 잘 놓여 있어서 움직일 필요가 없습니다.</a:t>
            </a:r>
          </a:p>
          <a:p>
            <a:endParaRPr/>
          </a:p>
          <a:p>
            <a:r>
              <a:t>아랫줄을 보세요. 배열은 3, 4, 1, 6, 7, 8이 되었습니다. 피벗 6이 가운데 경계인 인덱스 3에 있고, 그 왼쪽에는 6 이하인 값 세 개, 오른쪽에는 6보다 큰 값 두 개가 있습니다. 나중에 전체를 오름차순으로 정렬해도 이 예의 6은 앞에 1, 3, 4 세 값이 오므로 인덱스 3에 놓입니다. 이 교환으로 피벗의 자리가 확정된 것입니다.</a:t>
            </a:r>
          </a:p>
          <a:p>
            <a:endParaRPr/>
          </a:p>
          <a:p>
            <a:r>
              <a:t>앞에서 했던 첫 교환과 함께 비교해 보겠습니다. 처음에는 가운데 인덱스 2의 6과 마지막의 1을 바꿨습니다. 그 교환은 다른 값들을 검사하는 동안 피벗을 따로 두기 위한 준비였습니다. 지금은 검사 결과를 바탕으로 마지막의 6을 L 위치에 넣습니다. 두 번 모두 마지막 칸이 등장하지만, 준비할 때는 피벗을 끝으로 보내고, 끝날 때는 피벗을 경계로 가져오는 것입니다.</a:t>
            </a:r>
          </a:p>
          <a:p>
            <a:endParaRPr/>
          </a:p>
          <a:p>
            <a:r>
              <a:t>아랫줄의 왼쪽 3, 4, 1은 아직 크기순으로 정렬되어 있지 않습니다. 이번 분할이 확정한 것은 피벗의 자리와 양쪽에 들어갈 값의 범위입니다. partition은 피벗 위치 3을 반환합니다. 정렬 함수는 인덱스 0부터 2까지와 인덱스 4부터 5까지에 같은 정렬을 다시 적용합니다. 인덱스 3의 피벗은 그 두 호출에서 제외합니다. 다음 화면에서는 양쪽 구간이 어떻게 이어지는지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315896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분할이 끝났습니다. 배열은 3, 4, 1, 6, 7, 8이고, 피벗 6은 인덱스 3에 자리를 잡았습니다. 하지만 왼쪽의 3, 4, 1은 아직 오름차순이 아니죠. 그래서 퀵 정렬은 여기서 끝나지 않습니다. 방금 했던 피벗 선택과 분할을 남은 구간에 다시 적용합니다.</a:t>
            </a:r>
          </a:p>
          <a:p>
            <a:endParaRPr/>
          </a:p>
          <a:p>
            <a:r>
              <a:t>partition이 돌려준 값 p는 피벗의 인덱스입니다. 지금은 3입니다. 처음 구간의 lo는 0, hi는 5였으니 왼쪽 호출은 0부터 p 마이너스 1, 즉 2까지입니다. 오른쪽 호출은 p 플러스 1인 4부터 5까지입니다. 인덱스 3의 피벗을 어느 호출에도 넣지 않는 이유는 그 값의 자리를 이미 정했기 때문입니다.</a:t>
            </a:r>
          </a:p>
          <a:p>
            <a:endParaRPr/>
          </a:p>
          <a:p>
            <a:r>
              <a:t>화면의 파란 세 칸이 먼저 처리할 왼쪽 구간입니다. 아래 코드에서는 왼쪽 호출을 먼저 적었습니다. 이 함수가 끝나서 돌아오기 전에는 다음 줄의 오른쪽 호출을 실행하지 않습니다. 두 구간을 한꺼번에 처리하는 것으로 생각하지 말고, 왼쪽을 끝내고 돌아와서 오른쪽으로 넘어간다고 보세요.</a:t>
            </a:r>
          </a:p>
          <a:p>
            <a:endParaRPr/>
          </a:p>
          <a:p>
            <a:r>
              <a:t>다음 화면부터는 왼쪽의 세 값만 검사하겠습니다. 회색으로 보이는 다른 칸은 이번 호출의 범위 밖입니다. 배열 전체는 그대로 하나이고, 같은 배열에서 검사할 처음과 끝 인덱스만 바뀝니다. 작은 새 배열을 따로 만들어 정렬하는 코드가 아닙니다.</a:t>
            </a:r>
          </a:p>
          <a:p>
            <a:endParaRPr/>
          </a:p>
          <a:p>
            <a:r>
              <a:t>왼쪽 구간에서 피벗을 다시 고르고, 포인터를 움직이고, 구간이 하나 이하가 될 때까지 따라가겠습니다. 그다음 원래 호출로 돌아와 오른쪽의 두 칸도 같은 코드로 처리하겠습니다.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353995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왼쪽 구간만 보겠습니다. 처음 인덱스는 0, 마지막 인덱스는 2입니다. 그 안의 값은 3, 4, 1입니다. 피벗을 고르는 규칙은 아까와 같습니다. 처음과 마지막 인덱스를 더하고 2로 나눈 정수 몫을 구합니다. 0 더하기 2를 2로 나누면 1이므로, 인덱스 1의 값 4를 피벗으로 고릅니다.</a:t>
            </a:r>
          </a:p>
          <a:p>
            <a:endParaRPr/>
          </a:p>
          <a:p>
            <a:r>
              <a:t>윗줄에서 주황색 4를 찾아보세요. 이제 그 값을 현재 구간의 마지막 칸으로 옮깁니다. 여기서 마지막이라는 말은 배열 전체의 마지막 인덱스 5가 아닙니다. 현재 호출의 hi인 인덱스 2를 말합니다. 이 칸에는 값 1이 있습니다. 따라서 4와 1을 서로 교환합니다.</a:t>
            </a:r>
          </a:p>
          <a:p>
            <a:endParaRPr/>
          </a:p>
          <a:p>
            <a:r>
              <a:t>아랫줄에서는 인덱스 1에 1이 들어가고 인덱스 2에 피벗 4가 들어갔습니다. 왼쪽 세 칸은 3, 1, 4가 되었습니다. 인덱스 0의 3은 그대로이고, 그 뒤의 6, 7, 8도 그대로입니다. 특히 앞에서 확정한 피벗 6을 다시 움직이지 않았다는 점을 확인해 주세요.</a:t>
            </a:r>
          </a:p>
          <a:p>
            <a:endParaRPr/>
          </a:p>
          <a:p>
            <a:r>
              <a:t>이 교환은 4를 최종 위치에 놓으려고 계산한 결과가 아니라, 다른 값들을 검사하기 위한 준비입니다. 검사 전에는 인덱스 2가 최종 자리인지 아직 판단하지 않았습니다. 앞의 3과 1을 모두 확인한 뒤 L이 어디에 멈췄는지로 최종 위치를 정합니다.</a:t>
            </a:r>
          </a:p>
          <a:p>
            <a:endParaRPr/>
          </a:p>
          <a:p>
            <a:r>
              <a:t>다음 화면에서는 L을 현재 구간의 처음인 0에, R을 피벗 바로 앞인 1에 놓습니다. 비교 기준은 새 피벗 4입니다. 이전 호출에서 사용한 피벗 6으로 계속 비교하는 것이 아닙니다. 호출마다 그 구간에 맞는 피벗을 새로 고릅니다.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470288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피벗을 옮긴 배열을 그대로 가져왔습니다. 현재 왼쪽 구간은 인덱스 0부터 2까지이고, 피벗 4는 맨 뒤인 인덱스 2에 있습니다. 두 포인터가 검사할 값은 그 앞의 3과 1뿐입니다. 화면의 회색 칸에 있는 6, 7, 8은 이번 분할에 참여하지 않습니다.</a:t>
            </a:r>
          </a:p>
          <a:p>
            <a:endParaRPr/>
          </a:p>
          <a:p>
            <a:r>
              <a:t>L은 lo에서 시작하므로 0입니다. R은 hi 마이너스 1에서 시작하므로 1입니다. 파란 L은 인덱스 0의 값 3을 가리키고, 초록 R은 인덱스 1의 값 1을 가리킵니다. 주황색 피벗 4는 인덱스 2에 그대로 둡니다.</a:t>
            </a:r>
          </a:p>
          <a:p>
            <a:endParaRPr/>
          </a:p>
          <a:p>
            <a:r>
              <a:t>이번 분할에서도 4 이하인 값은 왼쪽에 두고, 4보다 큰 값은 오른쪽으로 보냅니다. 코드는 L이 가리키는 값부터 검사합니다. 3은 4 이하이므로 지금 있는 왼쪽 자리에 두어도 됩니다. 이 조건이 맞으면 값의 자리를 바꾸는 대신 L만 오른쪽으로 한 칸 옮깁니다.</a:t>
            </a:r>
          </a:p>
          <a:p>
            <a:endParaRPr/>
          </a:p>
          <a:p>
            <a:r>
              <a:t>여기서는 아직 R을 움직이지 않았습니다. L 검사와 R 검사를 번갈아 무조건 한 칸씩 하는 코드가 아닙니다. L이 왼쪽에 둘 수 있는 값을 만나는 동안은 L의 반복문이 계속 진행됩니다. L이 큰 값을 만나거나 R을 넘어가면 그때 다음 조건을 확인합니다.</a:t>
            </a:r>
          </a:p>
          <a:p>
            <a:endParaRPr/>
          </a:p>
          <a:p>
            <a:r>
              <a:t>다음 화면에서 L이 0에서 1로 움직이는 모습을 보겠습니다. 배열 값은 그대로 두고 포인터만 이동합니다. 포인터의 숫자가 바뀌는 것과 배열 안의 값이 교환되는 것을 구분해 주세요.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80987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인덱스 0의 값 3이 피벗 4 이하라는 것을 확인했습니다. 그래서 3은 그대로 두고 L을 0에서 1로 늘렸습니다. 배열은 여전히 3, 1, 4, 6, 7, 8입니다. 이번 화면에서 바뀐 것은 L의 위치뿐입니다.</a:t>
            </a:r>
          </a:p>
          <a:p>
            <a:endParaRPr/>
          </a:p>
          <a:p>
            <a:r>
              <a:t>이제 파란 L과 초록 R이 같은 인덱스 1을 가리킵니다. 그렇다고 탐색을 바로 끝내지는 않습니다. 반복문은 L이 R 이하일 때 현재 칸을 검사하도록 되어 있습니다. 지금 L과 R이 둘 다 1이므로, 이 칸에 있는 값 1을 한 번 더 확인해야 합니다.</a:t>
            </a:r>
          </a:p>
          <a:p>
            <a:endParaRPr/>
          </a:p>
          <a:p>
            <a:r>
              <a:t>값 1을 피벗 4와 비교해 보겠습니다. 1도 4 이하입니다. 따라서 이 값도 왼쪽에 두어도 됩니다. 다음 동작은 L을 한 칸 더 늘리는 것입니다. 여기서 두 포인터가 같은 칸을 가리킨다고 자기 자신과 교환하거나 R을 함께 옮기지 않습니다. 코드의 L 반복문 조건을 그대로 따라갑니다.</a:t>
            </a:r>
          </a:p>
          <a:p>
            <a:endParaRPr/>
          </a:p>
          <a:p>
            <a:r>
              <a:t>R은 아직 1입니다. L이 이동하는 동안 R은 기다리고 있습니다. 첫 번째 전체 분할에서는 L이 처음부터 큰 값 8을 만나 멈춰서 R을 움직였지만, 지금은 작은 값 3과 1을 연달아 만났습니다. 입력 값에 따라 어느 포인터가 얼마나 움직이는지가 달라집니다.</a:t>
            </a:r>
          </a:p>
          <a:p>
            <a:endParaRPr/>
          </a:p>
          <a:p>
            <a:r>
              <a:t>다음에는 L이 2, R이 1이 되어 서로 교차합니다. 그 순간 검사할 앞쪽 값이 더는 남아 있지 않습니다. 피벗을 어디에 넣어야 하는지 L의 위치를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3578089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인덱스 1의 값 1도 피벗 4 이하였으므로 L을 2로 늘렸습니다. R은 그대로 1입니다. 이제 L이 R보다 커졌습니다. 검사할 구간을 모두 지나온 것이므로 포인터 탐색을 끝냅니다. 이때 R의 반복문은 앞에 붙은 L 이하 R 조건이 맞지 않아 더 검사하지 않습니다.</a:t>
            </a:r>
          </a:p>
          <a:p>
            <a:endParaRPr/>
          </a:p>
          <a:p>
            <a:r>
              <a:t>L은 큰 값 구간의 시작 위치를 나타냅니다. 이번에는 피벗 앞의 두 값이 모두 4 이하였으므로 큰 값 구간이 비어 있습니다. 그래서 L이 바로 피벗이 있는 인덱스 2에 도착했습니다. 주황색 피벗과 파란 L이 같은 칸에 보이는 이유입니다.</a:t>
            </a:r>
          </a:p>
          <a:p>
            <a:endParaRPr/>
          </a:p>
          <a:p>
            <a:r>
              <a:t>코드의 마지막 줄은 L 위치와 hi 위치를 교환합니다. 지금 L도 2이고 hi도 2이므로, 인덱스 2의 값 4를 자기 자신과 바꿉니다. 같은 칸에 같은 값이 들어가니 눈에 보이는 배열 변화가 없습니다. 그림이 빠진 것이 아니라 실제 코드에서도 값이 그대로인 경우입니다.</a:t>
            </a:r>
          </a:p>
          <a:p>
            <a:endParaRPr/>
          </a:p>
          <a:p>
            <a:r>
              <a:t>이제 partition은 피벗 위치 2를 반환합니다. 왼쪽에는 4 이하인 값 3과 1이 있고, 오른쪽에는 검사 대상 원소가 없습니다. 피벗 4의 자리는 확정했지만 앞의 3과 1은 아직 오름차순이 아닙니다. 둘의 순서를 정하는 호출이 한 번 더 필요합니다.</a:t>
            </a:r>
          </a:p>
          <a:p>
            <a:endParaRPr/>
          </a:p>
          <a:p>
            <a:r>
              <a:t>다음 왼쪽 호출 범위는 0부터 1까지입니다. 방금 확정한 인덱스 2의 4는 그 호출에서 제외합니다. 6을 제외했던 것과 같은 이유로, 이번에는 4도 더 움직이지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845410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배열의 앞부분은 3, 1, 4입니다. 4의 자리는 확정했지만 3과 1은 순서가 뒤집혀 있죠. 그래서 퀵 정렬 함수를 다시 호출합니다. 이번 범위는 인덱스 0부터 1까지입니다. 원소가 두 개이므로 종료 조건에 해당하지 않고, 피벗을 고르는 작업을 진행합니다.</a:t>
            </a:r>
          </a:p>
          <a:p>
            <a:endParaRPr/>
          </a:p>
          <a:p>
            <a:r>
              <a:t>앞의 호출에서 p가 2였으므로 왼쪽 끝은 p 마이너스 1인 1이 됩니다. lo는 계속 0입니다. 따라서 코드에 적힌 quick_sort에 같은 배열 a와 0, 1을 넘깁니다. 다시 말하지만 인덱스가 새로 0, 1로 재설정된 것이 아닙니다. 원래 배열의 그 두 칸을 가리킵니다.</a:t>
            </a:r>
          </a:p>
          <a:p>
            <a:endParaRPr/>
          </a:p>
          <a:p>
            <a:r>
              <a:t>회색 칸의 4와 6은 각 분할에서 위치를 확정한 값입니다. 이번 호출에서는 이 칸들을 피벗 후보로 고르거나 서로 교환하지 않습니다. 오른쪽의 7, 8도 원래 호출에서 처리할 차례를 기다리고 있으므로 그대로 둡니다.</a:t>
            </a:r>
          </a:p>
          <a:p>
            <a:endParaRPr/>
          </a:p>
          <a:p>
            <a:r>
              <a:t>지금 함수 호출은 왼쪽 안의 왼쪽으로 더 들어간 상태입니다. 원래 구간 0부터 5까지를 처리하던 함수가 0부터 2까지의 함수를 호출했고, 그 함수가 다시 0부터 1까지의 함수를 호출했습니다. 안쪽 호출이 끝나면 바깥 호출로 차례대로 돌아가겠습니다.</a:t>
            </a:r>
          </a:p>
          <a:p>
            <a:endParaRPr/>
          </a:p>
          <a:p>
            <a:r>
              <a:t>다음 화면에서 가운데 인덱스를 계산해 보겠습니다. 0과 1을 더한 뒤 2로 나눈 정수 몫은 0입니다. 그래서 이번 피벗은 인덱스 0의 값 3입니다. 두 칸인 경우에는 왼쪽 칸을 피벗으로 고르게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74649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두 칸만 정렬합니다. 윗줄의 인덱스 0에는 3, 인덱스 1에는 1이 있습니다. 가운데 인덱스 계산은 0 더하기 1을 2로 나눈 정수 몫입니다. 결과가 0이므로 값 3이 피벗입니다. 짝수 개의 칸에서 가운데 위치가 두 개일 때, 이 계산은 왼쪽 칸을 고릅니다.</a:t>
            </a:r>
          </a:p>
          <a:p>
            <a:endParaRPr/>
          </a:p>
          <a:p>
            <a:r>
              <a:t>피벗을 검사 준비를 위해 현재 구간의 끝인 hi로 옮깁니다. 지금 hi는 1입니다. 그래서 인덱스 0의 3과 인덱스 1의 1을 교환합니다. 아랫줄을 보면 1이 인덱스 0으로, 피벗 3이 인덱스 1로 옮겨갔습니다.</a:t>
            </a:r>
          </a:p>
          <a:p>
            <a:endParaRPr/>
          </a:p>
          <a:p>
            <a:r>
              <a:t>이제 배열 전체는 1, 3, 4, 6, 7, 8입니다. 벌써 오름차순으로 보이죠. 하지만 이 코드에는 배열이 우연히 정렬되어 있는지 검사해서 바로 끝내는 별도 단계가 없습니다. 정해진 분할 절차를 계속 따라 피벗 3의 위치를 확인하고, 남은 작은 구간의 종료 조건도 확인합니다.</a:t>
            </a:r>
          </a:p>
          <a:p>
            <a:endParaRPr/>
          </a:p>
          <a:p>
            <a:r>
              <a:t>이번에 바뀐 칸은 처음 두 칸뿐입니다. 이전 단계에서 확정한 4와 6은 그대로입니다. 피벗을 옮기려고 배열 전체의 맨 끝 값 8과 바꾸면 범위를 벗어난 잘못된 동작이 되므로, 지금 호출의 hi가 1이라는 점을 계속 확인해 주세요.</a:t>
            </a:r>
          </a:p>
          <a:p>
            <a:endParaRPr/>
          </a:p>
          <a:p>
            <a:r>
              <a:t>다음에는 검사할 값이 1 하나만 남아 있습니다. L은 0, R은 hi 마이너스 1인 0에서 시작합니다. 두 포인터가 같은 칸에서 시작하는 분할도 같은 조건으로 처리할 수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340343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교환 후의 처음 두 값은 1, 3입니다. 피벗 3을 인덱스 1에 두었으므로, 그 앞에서 검사할 값은 인덱스 0의 1 하나입니다. L은 lo인 0, R은 hi 마이너스 1인 0입니다. 그래서 두 화살표가 같은 칸을 가리킵니다.</a:t>
            </a:r>
          </a:p>
          <a:p>
            <a:endParaRPr/>
          </a:p>
          <a:p>
            <a:r>
              <a:t>아까도 L과 R이 같은 칸에서 한 번 만났죠. 이 코드에서는 L이 R 이하인 동안 값을 검사합니다. 같을 때도 조건이 맞으므로 이 칸을 확인해야 합니다. 포인터가 같아졌다고 곧바로 분할을 끝내는 것으로 외우면 마지막 한 칸을 놓칠 수 있습니다.</a:t>
            </a:r>
          </a:p>
          <a:p>
            <a:endParaRPr/>
          </a:p>
          <a:p>
            <a:r>
              <a:t>현재 값 1을 피벗 3과 비교하겠습니다. 1은 3 이하이므로 왼쪽에 두면 됩니다. 이 경우 배열 값을 교환할 필요가 없습니다. L만 0에서 1로 한 칸 움직입니다. R은 0에 그대로 있습니다.</a:t>
            </a:r>
          </a:p>
          <a:p>
            <a:endParaRPr/>
          </a:p>
          <a:p>
            <a:r>
              <a:t>여기서 L을 옮기면 두 포인터가 서로 교차하게 됩니다. 그다음 반복문에서 L 이하 R 조건이 맞지 않아 더는 배열 원소를 검사하지 않습니다. 피벗이 있는 인덱스 1의 값 3을 검사 대상에 다시 넣지도 않습니다. 그 값은 비교 기준으로 따로 둔 값입니다.</a:t>
            </a:r>
          </a:p>
          <a:p>
            <a:endParaRPr/>
          </a:p>
          <a:p>
            <a:r>
              <a:t>다음 화면에서는 L이 피벗 칸에 도착한 상태와 마지막 교환을 보겠습니다. 앞의 값이 모두 피벗 이하인 경우에는 피벗이 이미 들어가야 할 칸에 있는 경우가 다시 나옵니다.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728318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값 1이 피벗 3 이하라는 것을 확인하고 L을 1로 늘렸습니다. R은 0입니다. 이제 L이 R보다 크므로 탐색을 끝냅니다. 아랫줄 코드는 이번 구간의 마지막 교환을 그대로 숫자로 적은 것입니다.</a:t>
            </a:r>
          </a:p>
          <a:p>
            <a:endParaRPr/>
          </a:p>
          <a:p>
            <a:r>
              <a:t>L 위치는 인덱스 1이고 hi도 인덱스 1입니다. 그 칸에 피벗 3이 있습니다. 따라서 마지막 교환은 3을 자기 자신과 바꾸는 동작입니다. 배열은 1, 3, 4, 6, 7, 8 그대로입니다. 앞 단계의 피벗 4에서도 같은 경우를 보았습니다.</a:t>
            </a:r>
          </a:p>
          <a:p>
            <a:endParaRPr/>
          </a:p>
          <a:p>
            <a:r>
              <a:t>그렇다고 마지막 교환을 그림에서 임의로 생략한 것이 아닙니다. 코드의 교환문을 실행하지만 두 인덱스가 같아서 값이 변하지 않는 것입니다. 두 인덱스가 다른 경우에는 피벗이 움직이고, 같은 경우에는 지금처럼 제자리에 남습니다. 둘 다 같은 분할 코드가 처리합니다.</a:t>
            </a:r>
          </a:p>
          <a:p>
            <a:endParaRPr/>
          </a:p>
          <a:p>
            <a:r>
              <a:t>partition이 반환하는 피벗 위치 p는 1입니다. 그 왼쪽에는 값 1 하나가 있고 오른쪽 검사 구간은 비어 있습니다. 이제 이 두 구간에 퀵 정렬 함수를 다시 호출해 종료 조건을 확인하겠습니다. 피벗 3이 들어 있는 인덱스 1은 두 호출에서 제외합니다.</a:t>
            </a:r>
          </a:p>
          <a:p>
            <a:endParaRPr/>
          </a:p>
          <a:p>
            <a:r>
              <a:t>왼쪽 호출은 0부터 0까지입니다. 오른쪽 호출은 2부터 1까지입니다. 처음 인덱스가 마지막 인덱스보다 큰 오른쪽 범위는 원소가 없는 구간을 뜻합니다. 다음 화면에서 이 두 호출이 추가 분할 없이 끝나는 이유를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457585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피벗 3의 자리를 정했으므로 왼쪽과 오른쪽의 작은 구간에 함수를 호출합니다. 먼저 왼쪽은 인덱스 0부터 0까지입니다. 같은 처음과 끝이므로 값 1 하나만 들어 있습니다. 원소가 하나라면 서로 비교하거나 순서를 바꿀 다른 원소가 없습니다. 이미 정렬된 구간으로 보고 끝내면 됩니다.</a:t>
            </a:r>
          </a:p>
          <a:p>
            <a:endParaRPr/>
          </a:p>
          <a:p>
            <a:r>
              <a:t>코드 맨 위에는 lo가 hi 이상이면 return한다는 조건이 있습니다. 0은 0과 같으므로 이 조건이 맞습니다. 그래서 이 호출은 피벗을 고르지도 않고 partition을 실행하지도 않습니다. 곧바로 자신을 호출했던 구간 0부터 1까지의 함수로 돌아갑니다.</a:t>
            </a:r>
          </a:p>
          <a:p>
            <a:endParaRPr/>
          </a:p>
          <a:p>
            <a:r>
              <a:t>그다음 그 함수의 오른쪽 호출을 실행합니다. 범위는 2부터 1까지입니다. 처음 인덱스가 마지막 인덱스보다 크므로 여기에 들어가는 원소는 없습니다. 2번 칸에 있는 4를 검사하라는 뜻이 아닙니다. 이런 빈 구간도 lo가 hi 이상이라는 같은 조건으로 바로 끝냅니다.</a:t>
            </a:r>
          </a:p>
          <a:p>
            <a:endParaRPr/>
          </a:p>
          <a:p>
            <a:r>
              <a:t>두 호출이 모두 끝났으므로 구간 0부터 1까지의 정렬이 완료되었습니다. 처음 두 값은 1, 3입니다. 더 합치거나 복사할 작업은 없습니다. 이미 같은 배열 안에서 자리만 바꿨기 때문에 그 결과를 그대로 두고 함수 호출만 끝내면 됩니다.</a:t>
            </a:r>
          </a:p>
          <a:p>
            <a:endParaRPr/>
          </a:p>
          <a:p>
            <a:r>
              <a:t>다음에는 이 함수를 불렀던 구간 0부터 2까지의 함수로 돌아갑니다. 거기에는 아직 오른쪽 호출 한 줄이 남아 있습니다. 재귀가 끝난다는 말은 모든 호출을 한 번에 지우는 것이 아니라, 안쪽 함수부터 바깥 함수로 차례대로 돌아오는 것입니다.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664995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앞에서 구간 0부터 1까지의 호출을 끝냈습니다. 이제 그 함수를 불렀던 구간 0부터 2까지의 호출로 돌아왔습니다. 이 구간의 피벗은 값 4였고, 반환된 피벗 위치는 2였죠. 왼쪽 호출은 끝났으니 다음 줄의 오른쪽 호출을 실행할 차례입니다.</a:t>
            </a:r>
          </a:p>
          <a:p>
            <a:endParaRPr/>
          </a:p>
          <a:p>
            <a:r>
              <a:t>오른쪽 범위는 p 플러스 1인 3부터 hi인 2까지입니다. 3부터 2까지는 빈 구간입니다. 3이 2보다 크므로 종료 조건에 걸려 바로 돌아옵니다. 인덱스 3의 값 6을 다시 분할하는 것이 아닙니다. 이 호출에는 검사할 원소가 없습니다.</a:t>
            </a:r>
          </a:p>
          <a:p>
            <a:endParaRPr/>
          </a:p>
          <a:p>
            <a:r>
              <a:t>이렇게 구간 0부터 2까지의 양쪽 호출을 모두 끝냈습니다. 왼쪽 세 값은 이제 1, 3, 4입니다. 피벗 4 앞의 작은 값들이 정렬되었고, 그 뒤에는 추가 원소가 없었습니다. 따라서 이 함수도 끝내고 원래 구간 0부터 5까지의 함수로 돌아갑니다.</a:t>
            </a:r>
          </a:p>
          <a:p>
            <a:endParaRPr/>
          </a:p>
          <a:p>
            <a:r>
              <a:t>처음 호출에서는 피벗 6을 인덱스 3에 놓은 뒤 왼쪽 함수를 먼저 실행했었습니다. 지금이 바로 그 왼쪽 함수가 끝나서 돌아온 순간입니다. 이제 처음 호출의 다음 줄인 오른쪽 구간 4부터 5까지를 실행합니다. 코드에 적힌 순서대로 왼쪽을 완전히 끝낸 다음 오른쪽으로 넘어갑니다.</a:t>
            </a:r>
          </a:p>
          <a:p>
            <a:endParaRPr/>
          </a:p>
          <a:p>
            <a:r>
              <a:t>오른쪽 값은 7, 8이라 이미 크기순으로 보입니다. 하지만 이 코드는 두 값이 정렬되어 있는지 따로 확인하고 건너뛰지 않습니다. 원소가 두 개이므로 분할 절차를 실행합니다. 다음 화면에서 이 두 칸도 실제 코드대로 끝까지 처리해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6734043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오른쪽 구간을 시작합니다. 범위는 인덱스 4부터 5까지이고 값은 7, 8입니다. 왼쪽의 1, 3, 4와 앞에서 확정한 6은 이번 호출의 범위 밖이므로 그대로 둡니다. 같은 배열의 마지막 두 칸만 보겠습니다.</a:t>
            </a:r>
          </a:p>
          <a:p>
            <a:endParaRPr/>
          </a:p>
          <a:p>
            <a:r>
              <a:t>피벗 인덱스를 계산해 보겠습니다. 4와 5를 더하면 9이고, 2로 나눈 정수 몫은 4입니다. 따라서 인덱스 4의 값 7이 피벗입니다. 계산에 인덱스를 사용했다는 점을 기억해 주세요. 값 7과 8의 평균을 구한 것이 아닙니다.</a:t>
            </a:r>
          </a:p>
          <a:p>
            <a:endParaRPr/>
          </a:p>
          <a:p>
            <a:r>
              <a:t>이 구현은 피벗을 먼저 현재 구간의 마지막 칸으로 옮깁니다. 지금 hi는 5이므로 인덱스 4의 7과 인덱스 5의 8을 서로 바꿉니다. 아랫줄에서는 오른쪽 두 칸이 8, 7이 되었습니다. 배열 전체는 1, 3, 4, 6, 8, 7입니다.</a:t>
            </a:r>
          </a:p>
          <a:p>
            <a:endParaRPr/>
          </a:p>
          <a:p>
            <a:r>
              <a:t>정렬되어 있던 7, 8을 왜 다시 바꾸는지 궁금할 수 있습니다. 이 코드는 피벗을 마지막에 따로 두고 나머지 값들을 검사하도록 만든 분할 방식입니다. 준비 과정에서 잠시 순서가 바뀔 수 있고, 검사 후 피벗을 알맞은 위치에 다시 넣으면 됩니다. 중간 배열이 언제나 오름차순이어야 하는 것은 아닙니다.</a:t>
            </a:r>
          </a:p>
          <a:p>
            <a:endParaRPr/>
          </a:p>
          <a:p>
            <a:r>
              <a:t>이제 검사할 값은 피벗 앞의 8 하나입니다. L은 lo인 4, R은 hi 마이너스 1인 4에서 시작합니다. 다음 화면에서 값 8이 피벗 7보다 크다는 것을 확인하고, 어느 포인터가 움직이는지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7950395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피벗을 옮긴 오른쪽 두 칸은 8, 7입니다. 인덱스 5의 7을 기준값으로 따로 두고, 인덱스 4의 8을 검사하겠습니다. L과 R은 모두 4입니다. 같은 칸에서 시작한다는 점은 앞의 두 원소 분할과 같습니다.</a:t>
            </a:r>
          </a:p>
          <a:p>
            <a:endParaRPr/>
          </a:p>
          <a:p>
            <a:r>
              <a:t>먼저 L의 조건을 확인합니다. L은 피벗 이하인 값이면 오른쪽으로 지나갑니다. 그런데 현재 값은 8이고 피벗은 7입니다. 8은 7보다 크므로 왼쪽에 두면 안 됩니다. 따라서 L은 4에서 멈춥니다. 배열 값도 아직 바꾸지 않습니다.</a:t>
            </a:r>
          </a:p>
          <a:p>
            <a:endParaRPr/>
          </a:p>
          <a:p>
            <a:r>
              <a:t>이번에는 L이 멈췄고 두 포인터가 교차하지 않았으므로 R의 조건을 확인합니다. R은 피벗보다 큰 값이면 왼쪽으로 지나갑니다. 오른쪽에 두어도 되는 값을 찾았을 때 그 칸을 지나, 왼쪽으로 보내야 할 값이 있는지 찾는 것입니다.</a:t>
            </a:r>
          </a:p>
          <a:p>
            <a:endParaRPr/>
          </a:p>
          <a:p>
            <a:r>
              <a:t>R이 가리키는 값도 8입니다. 8은 피벗 7보다 크므로 R을 한 칸 왼쪽으로 움직입니다. 그러면 R은 3이 됩니다. 하지만 인덱스 3은 이번 구간의 처음인 4보다 앞에 있습니다. 다음 조건에서 L 이하 R이 맞지 않아 그 칸의 값 6은 검사하지 않습니다.</a:t>
            </a:r>
          </a:p>
          <a:p>
            <a:endParaRPr/>
          </a:p>
          <a:p>
            <a:r>
              <a:t>다음 화면에서는 L이 4에 그대로 있고 R만 3으로 이동해 교차한 모습을 보겠습니다. 두 포인터가 같은 칸에서 시작해도 값에 따라 L이 움직일 수도 있고 R이 움직일 수도 있습니다. 피벗과의 비교 결과를 따라가면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88786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R이 인덱스 4의 값 8을 확인했습니다. 8은 피벗 7보다 크므로 오른쪽에 두면 되는 값입니다. 따라서 R을 한 칸 왼쪽인 3으로 줄였습니다. L은 큰 값 8에서 멈춰 있으므로 계속 4입니다. 이제 L이 R보다 커져 두 포인터가 교차했습니다.</a:t>
            </a:r>
          </a:p>
          <a:p>
            <a:endParaRPr/>
          </a:p>
          <a:p>
            <a:r>
              <a:t>화면에서 초록 R이 인덱스 3의 값 6 아래에 있습니다. 이것은 포인터의 숫자가 3이라는 뜻입니다. 값 6을 새로 검사하거나 움직인다는 뜻은 아닙니다. R을 줄인 뒤 반복문 조건을 다시 확인할 때, 먼저 L이 R 이하인지 검사합니다. 지금 4는 3 이하가 아니므로 뒤의 배열 값 비교는 실행하지 않습니다.</a:t>
            </a:r>
          </a:p>
          <a:p>
            <a:endParaRPr/>
          </a:p>
          <a:p>
            <a:r>
              <a:t>이 조건 덕분에 현재 구간 바깥의 원소를 검사하지 않습니다. 앞에서 확정한 피벗 6은 그대로 남습니다. 이런 경계에서는 포인터가 가리키는 칸의 값보다, 계속 검사할 수 있는 범위인지를 먼저 확인하는 것이 중요합니다.</a:t>
            </a:r>
          </a:p>
          <a:p>
            <a:endParaRPr/>
          </a:p>
          <a:p>
            <a:r>
              <a:t>이번 분할에서는 L과 R이 가리키는 서로 다른 두 값을 교환할 기회가 없었습니다. 검사 대상이 8 하나였고, 그 값은 피벗보다 큰 쪽에 두면 되기 때문입니다. 이제 포인터 탐색을 끝내고 피벗의 최종 위치를 정합니다.</a:t>
            </a:r>
          </a:p>
          <a:p>
            <a:endParaRPr/>
          </a:p>
          <a:p>
            <a:r>
              <a:t>L은 인덱스 4입니다. 그 앞의 현재 검사 구간에는 7 이하인 값이 없고, L 위치의 8은 7보다 큽니다. 따라서 피벗 7을 L 위치에 넣어야 합니다. 다음 화면에서 인덱스 4의 8과 마지막 인덱스 5의 7을 교환하겠습니다.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1791250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포인터 탐색이 끝난 배열은 1, 3, 4, 6, 8, 7입니다. 오른쪽 구간에서 L은 인덱스 4를 가리킵니다. 그 칸의 값 8은 피벗 7보다 큽니다. 피벗이 앞에 오고 큰 값이 뒤에 오도록 이 두 값의 자리를 바꾸겠습니다.</a:t>
            </a:r>
          </a:p>
          <a:p>
            <a:endParaRPr/>
          </a:p>
          <a:p>
            <a:r>
              <a:t>윗줄에서 파란 L 아래의 8과 주황색 피벗 7을 찾아보세요. 인덱스 4와 5입니다. 코드의 마지막 교환문은 a의 L 위치와 hi 위치를 바꿉니다. 숫자를 넣어 보면 인덱스 4와 5의 교환입니다. 이 동작을 실행하면 인덱스 4에는 7, 인덱스 5에는 8이 들어갑니다.</a:t>
            </a:r>
          </a:p>
          <a:p>
            <a:endParaRPr/>
          </a:p>
          <a:p>
            <a:r>
              <a:t>아랫줄에서 오른쪽 구간이 다시 7, 8이 된 것을 볼 수 있습니다. 배열 전체도 1, 3, 4, 6, 7, 8입니다. 처음에 정렬되어 있던 두 값이 준비 교환 때문에 8, 7이 되었다가, 마지막 교환으로 다시 7, 8이 된 것입니다. 실제 코드에서는 두 교환을 모두 실행했습니다.</a:t>
            </a:r>
          </a:p>
          <a:p>
            <a:endParaRPr/>
          </a:p>
          <a:p>
            <a:r>
              <a:t>이제 partition은 피벗 위치 4를 반환합니다. 현재 구간 안에서 피벗 7보다 왼쪽인 구간은 비어 있고, 오른쪽에는 값 8 하나가 있습니다. 7의 자리를 정했으므로 다음 호출에서는 그 인덱스 4를 제외합니다.</a:t>
            </a:r>
          </a:p>
          <a:p>
            <a:endParaRPr/>
          </a:p>
          <a:p>
            <a:r>
              <a:t>배열이 오름차순으로 보이더라도 함수 호출을 아직 끝낸 것은 아닙니다. 남은 양쪽 호출이 종료 조건에 걸려 돌아오는 것까지 확인하겠습니다. 다음 화면의 왼쪽 범위는 4부터 3까지, 오른쪽 범위는 5부터 5까지입니다.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920434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피벗 7을 인덱스 4에 놓았으므로 양쪽 구간에 마지막으로 함수를 호출합니다. 이번 구간의 lo는 4, hi는 5였고, 피벗 위치 p는 4입니다. 왼쪽 범위는 lo부터 p 마이너스 1까지이므로 4부터 3까지입니다. 원소가 없는 빈 구간입니다.</a:t>
            </a:r>
          </a:p>
          <a:p>
            <a:endParaRPr/>
          </a:p>
          <a:p>
            <a:r>
              <a:t>왼쪽 호출은 처음 줄의 종료 조건에서 바로 끝납니다. 4가 3 이상이므로 피벗을 고르거나 배열 값을 읽을 필요가 없습니다. 인덱스 4의 7을 다시 검사하라는 뜻이 아닙니다. 피벗은 이미 양쪽 호출에서 제외했습니다.</a:t>
            </a:r>
          </a:p>
          <a:p>
            <a:endParaRPr/>
          </a:p>
          <a:p>
            <a:r>
              <a:t>그다음 오른쪽 호출은 p 플러스 1부터 hi까지이므로 5부터 5까지입니다. 인덱스 5의 값 8 하나가 들어 있습니다. 원소 하나는 그대로 정렬된 구간으로 볼 수 있으므로 5가 5 이상이라는 종료 조건에서 바로 돌아옵니다.</a:t>
            </a:r>
          </a:p>
          <a:p>
            <a:endParaRPr/>
          </a:p>
          <a:p>
            <a:r>
              <a:t>이제 구간 4부터 5까지의 왼쪽과 오른쪽 호출을 모두 끝냈습니다. 오른쪽 두 값은 7, 8이고, 더 처리할 구간은 없습니다. 이 함수도 끝내고 원래 구간 0부터 5까지의 함수로 돌아갑니다.</a:t>
            </a:r>
          </a:p>
          <a:p>
            <a:endParaRPr/>
          </a:p>
          <a:p>
            <a:r>
              <a:t>원래 함수는 왼쪽 구간을 이미 끝냈고 방금 오른쪽 구간도 끝냈습니다. 따라서 원래 함수에도 남은 정렬 호출이 없습니다. 다음 화면에서 완성된 배열과 실제 피벗 확정 순서를 한 번 정리하겠습니다.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909124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퀵 정렬을 끝까지 따라왔습니다. 최종 배열은 1, 3, 4, 6, 7, 8입니다. 처음 배열의 값 여섯 개가 그대로 있고, 위치만 오름차순으로 바뀌었습니다. 원래 구간 0부터 5까지의 호출이 끝나는 순간입니다.</a:t>
            </a:r>
          </a:p>
          <a:p>
            <a:endParaRPr/>
          </a:p>
          <a:p>
            <a:r>
              <a:t>피벗을 확정한 순서를 다시 확인해 보겠습니다. 첫 번째 전체 분할에서 피벗 6을 인덱스 3에 놓았습니다. 그 왼쪽 구간 0부터 2까지에서는 피벗 4를 인덱스 2에 놓았고, 다시 그 왼쪽 0부터 1까지에서는 피벗 3을 인덱스 1에 놓았습니다. 작은 구간이 하나 또는 빈 구간이 되자 종료 조건으로 돌아왔습니다.</a:t>
            </a:r>
          </a:p>
          <a:p>
            <a:endParaRPr/>
          </a:p>
          <a:p>
            <a:r>
              <a:t>왼쪽을 모두 끝내고 원래 호출로 돌아온 뒤에는 오른쪽 4부터 5까지를 처리했습니다. 그 구간의 피벗 7은 인덱스 4에 놓였습니다. 양쪽에 남은 빈 구간과 원소 하나의 구간도 바로 끝내서, 처음 호출에 더 남은 일이 없게 되었습니다.</a:t>
            </a:r>
          </a:p>
          <a:p>
            <a:endParaRPr/>
          </a:p>
          <a:p>
            <a:r>
              <a:t>여기서 합병 정렬과 다른 점도 보입니다. 합병 정렬은 양쪽 결과를 다시 합치는 반복문이 필요했죠. 이번 퀵 정렬은 분할하면서 같은 배열 안의 값들을 교환했고, 피벗 왼쪽과 오른쪽도 그 배열의 정해진 범위 안에서 정렬했습니다. 그래서 호출이 돌아올 때 별도의 병합 단계는 필요하지 않습니다.</a:t>
            </a:r>
          </a:p>
          <a:p>
            <a:endParaRPr/>
          </a:p>
          <a:p>
            <a:r>
              <a:t>가장 중요한 흐름은 피벗을 정하고, 그 피벗을 제외한 작은 구간에 같은 함수를 호출하며, 원소가 하나 이하가 되면 끝내는 것입니다. 이번 예에서는 값 6만 제자리에 놓는 데서 멈추지 않고, 남은 모든 호출까지 끝냈습니다. 다음 코드 화면에서도 이 피벗 선택과 포인터 이동, 두 재귀 호출, 종료 조건을 그림과 연결해 보겠습니다.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185633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지금 코드는 앞에서 그림으로 본 한 번의 분할을 Python으로 옮긴 것입니다. 함수 이름은 partition이고, 배열 a와 구간의 처음 lo, 마지막 hi를 받습니다. lo와 hi는 모두 포함하는 인덱스입니다. 이 함수의 결과는 정렬된 새 배열이 아니라, 배열을 바꾼 뒤 피벗이 놓인 위치입니다.</a:t>
            </a:r>
          </a:p>
          <a:p>
            <a:endParaRPr/>
          </a:p>
          <a:p>
            <a:r>
              <a:t>첫 줄에서 피벗으로 사용할 인덱스를 정합니다. 예제 구간은 0부터 5까지이므로 가운데 인덱스는 2이고 그 값은 6입니다. 다음 줄은 그 원소와 맨 끝 원소를 교환합니다. Python에서는 쉼표로 두 위치를 함께 대입해서 교환할 수 있습니다. 6과 1을 바꾸면 배열은 8, 4, 1, 3, 7, 6이 됩니다. 그다음 pivot에 맨 끝의 값 6을 저장해서 비교 기준으로 사용합니다.</a:t>
            </a:r>
          </a:p>
          <a:p>
            <a:endParaRPr/>
          </a:p>
          <a:p>
            <a:r>
              <a:t>L은 lo, R은 hi 마이너스 1로 시작합니다. 예제에서는 L이 0이고 R이 4입니다. 왜 R을 hi부터 시작하지 않을까요? hi 위치에는 피벗을 따로 뒀기 때문에, 두 포인터는 그 앞의 값들만 검사해야 합니다.</a:t>
            </a:r>
          </a:p>
          <a:p>
            <a:endParaRPr/>
          </a:p>
          <a:p>
            <a:r>
              <a:t>바깥의 while True는 분할을 반복하는 부분입니다. 먼저 안쪽의 왼쪽 while을 보세요. L이 R을 넘지 않았고, 현재 왼쪽 값이 피벗 이하이면 L을 하나 늘립니다. 왼쪽에 있어도 되는 값들을 지나가는 것입니다. 처음 L이 보는 8은 6보다 크니까 이 while은 이동하지 않고 멈춥니다.</a:t>
            </a:r>
          </a:p>
          <a:p>
            <a:endParaRPr/>
          </a:p>
          <a:p>
            <a:r>
              <a:t>다음 오른쪽 while은 현재 오른쪽 값이 피벗보다 큰 동안 R을 하나 줄입니다. 오른쪽에 있어도 되는 값들을 지나갑니다. 예제에서 7은 6보다 크므로 지나가고, 다음 3은 6 이하이므로 멈춥니다. 그래서 L은 8을, R은 3을 가리킵니다.</a:t>
            </a:r>
          </a:p>
          <a:p>
            <a:endParaRPr/>
          </a:p>
          <a:p>
            <a:r>
              <a:t>두 while 모두 맨 앞에 L 이하 R이라는 범위 검사를 두었습니다. and는 앞 조건이 거짓이면 뒤 조건을 읽지 않습니다. 따라서 포인터가 교차하면 배열 원소를 더 읽지 않습니다. 이 순서를 지키면 범위를 넘은 위치를 접근하는 문제를 막을 수 있습니다.</a:t>
            </a:r>
          </a:p>
          <a:p>
            <a:endParaRPr/>
          </a:p>
          <a:p>
            <a:r>
              <a:t>두 검사 뒤에 L이 R보다 커졌는지 확인합니다. 교차했다면 검사할 칸이 없어서 break로 바깥 반복문을 끝냅니다. 아직 교차하지 않았다면 두 포인터가 찾은 값을 교환합니다. 왼쪽에서 찾은 큰 값과 오른쪽에서 찾은 작은 값을 바꾸는 것입니다. 예제에서는 8과 3을 바꿔 3, 4, 1, 8, 7, 6을 만듭니다.</a:t>
            </a:r>
          </a:p>
          <a:p>
            <a:endParaRPr/>
          </a:p>
          <a:p>
            <a:r>
              <a:t>교환 다음에 L과 R을 직접 늘리고 줄이는 줄이 없는 것도 보세요. 다음 반복에서 교환된 값이 자기 쪽의 통과 조건을 만족하므로 안쪽 while이 이동시킵니다. 지금 L 자리의 3은 6 이하라서 지나가고, 오른쪽의 8은 6보다 커서 지나갑니다. 따라서 같은 두 값을 끝없이 다시 교환하지 않습니다.</a:t>
            </a:r>
          </a:p>
          <a:p>
            <a:endParaRPr/>
          </a:p>
          <a:p>
            <a:r>
              <a:t>그림처럼 L이 3, R이 2가 되면 반복문을 나옵니다. 마지막 교환은 다른 역할입니다. 맨 끝에 보관한 피벗 6을 L 위치의 8과 바꿔, 작은 쪽과 큰 쪽 사이에 놓습니다. 배열은 3, 4, 1, 6, 7, 8이고 피벗 위치는 3입니다. return L은 이 위치를 호출한 정렬 함수에 알려 줍니다. 그 함수가 피벗을 제외한 양쪽 구간을 다시 정렬하게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5427641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앞의 partition 함수는 피벗을 기준으로 나누는 일만 했습니다. 지금 quick_sort는 그 함수를 호출하고, 남은 양쪽 구간에 다시 같은 정렬을 적용합니다. 한 번 분할한 결과가 전체 정렬은 아니라는 점을 코드에서도 확인하겠습니다.</a:t>
            </a:r>
          </a:p>
          <a:p>
            <a:endParaRPr/>
          </a:p>
          <a:p>
            <a:r>
              <a:t>첫 조건은 lo가 hi 이상인지 확인합니다. 두 인덱스가 같으면 원소 하나인 구간이고, lo가 더 크면 빈 구간입니다. 둘 다 더 정렬할 필요가 없어서 바로 return합니다. 이때 반환하는 별도 결과값은 없습니다. 현재 함수는 원래 배열 a의 내용을 바꾸는 함수입니다.</a:t>
            </a:r>
          </a:p>
          <a:p>
            <a:endParaRPr/>
          </a:p>
          <a:p>
            <a:r>
              <a:t>여러 원소가 있으면 partition을 호출합니다. 아래 예제의 전체 구간은 0부터 5입니다. 앞에서 따라간 분할이 끝나면 배열은 3, 4, 1, 6, 7, 8이 되고, partition이 반환한 피벗 위치 3이 p에 들어갑니다. p는 피벗의 값 6이 아니라 그 값이 놓인 인덱스 3입니다. 값과 위치를 구분해야 합니다.</a:t>
            </a:r>
          </a:p>
          <a:p>
            <a:endParaRPr/>
          </a:p>
          <a:p>
            <a:r>
              <a:t>다음 호출은 왼쪽 0부터 p 마이너스 1, 즉 2까지를 정렬합니다. 그 안에 있는 3, 4, 1을 같은 방식으로 정렬해서 1, 3, 4로 만듭니다. 왼쪽 호출이 끝나면 오른쪽 p 플러스 1부터 5까지, 즉 4부터 5의 7, 8을 정렬합니다. 이미 자리가 정해진 피벗 위치 3은 어느 호출에도 들어가지 않습니다.</a:t>
            </a:r>
          </a:p>
          <a:p>
            <a:endParaRPr/>
          </a:p>
          <a:p>
            <a:r>
              <a:t>더 작은 구간들도 원소 하나 이하가 되면 첫 조건에서 끝납니다. 재귀 호출이 모두 돌아오면 전체 배열 a가 정렬되어 있습니다. 병합 정렬처럼 두 반환 리스트를 합치는 코드가 없는 이유는 분할할 때 작은 쪽과 큰 쪽을 원래 배열 안에서 이미 나눠 놓았기 때문입니다.</a:t>
            </a:r>
          </a:p>
          <a:p>
            <a:endParaRPr/>
          </a:p>
          <a:p>
            <a:r>
              <a:t>아래 실행 예에서는 quick_sort를 호출한 뒤 a를 출력합니다. 앞의 Python 병합 정렬은 반환한 새 리스트를 사용했지만, 이 코드는 원래 리스트를 바꿉니다. print(quick_sort(...))처럼 함수의 반환값을 출력하면 정렬된 배열이 아니라 None을 보게 됩니다. 호출 후 배열 a 자체를 확인해야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803872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 코드도 앞에서 본 가운데 피벗과 양쪽 포인터 분할을 그대로 사용합니다. Python과 다른 문법 때문에 복잡해 보일 수 있으니, 먼저 교환을 담당하는 swap부터 보겠습니다. 두 배열 원소의 값을 서로 바꾸는 작은 함수입니다.</a:t>
            </a:r>
          </a:p>
          <a:p>
            <a:endParaRPr/>
          </a:p>
          <a:p>
            <a:r>
              <a:t>swap의 x와 y는 정수 값 자체가 아니라 정수가 있는 위치를 받습니다. 별표가 붙은 포인터 매개변수입니다. 함수 안의 별표 x와 별표 y는 그 위치에 있는 실제 값을 뜻합니다. 먼저 첫 값을 임시 변수 t에 보관하고, 첫 위치에 두 번째 값을 넣고, 두 번째 위치에 보관했던 값을 넣습니다. 보관하지 않고 첫 값을 덮어쓰면 원래 첫 값을 잃어버리므로 t가 필요합니다.</a:t>
            </a:r>
          </a:p>
          <a:p>
            <a:endParaRPr/>
          </a:p>
          <a:p>
            <a:r>
              <a:t>partition에서 swap을 부를 때 a의 m 위치 앞과 hi 위치 앞에 앤드 기호를 붙인 것을 보세요. 여기서 앤드는 그 배열 원소의 주소, 즉 저장 위치를 넘긴다는 뜻입니다. 그래서 swap이 실제 배열 원소를 바꿀 수 있습니다. 값만 복사해서 넘겨 지역 변수끼리 바꾸는 것이 아닙니다.</a:t>
            </a:r>
          </a:p>
          <a:p>
            <a:endParaRPr/>
          </a:p>
          <a:p>
            <a:r>
              <a:t>가운데 인덱스 m은 lo에 구간 길이 차이의 절반을 더해 계산합니다. lo가 0이고 hi가 5이면 m은 2입니다. 현재 구간 안의 가운데 위치를 고른다는 뜻이고, lo와 hi를 먼저 더하는 방식보다 큰 인덱스의 덧셈을 피할 수 있습니다. 예제에서는 m 위치의 6과 hi 위치의 1을 바꿉니다.</a:t>
            </a:r>
          </a:p>
          <a:p>
            <a:endParaRPr/>
          </a:p>
          <a:p>
            <a:r>
              <a:t>이제 pivot에 맨 끝 값 6을 저장하고 L과 R을 정합니다. L은 구간 처음, R은 피벗 바로 앞입니다. while(1)은 Python의 while True처럼 반복하고, 안쪽 두 while에서 각각 왼쪽의 피벗 이하 값과 오른쪽의 피벗 초과 값을 지나갑니다. L++는 L을 하나 늘리고 R--는 R을 하나 줄이는 표현입니다.</a:t>
            </a:r>
          </a:p>
          <a:p>
            <a:endParaRPr/>
          </a:p>
          <a:p>
            <a:r>
              <a:t>조건에서 앤드 두 개는 두 조건을 모두 만족해야 한다는 뜻입니다. 여기서는 앞 조건 L 이하 R이 거짓이면 뒤의 배열 값을 읽지 않습니다. 포인터가 교차했을 때 범위를 더 읽지 않도록 앞에서 먼저 검사하는 것입니다. 주소를 넘길 때의 앤드 하나와 조건을 연결할 때의 앤드 두 개는 역할이 다릅니다.</a:t>
            </a:r>
          </a:p>
          <a:p>
            <a:endParaRPr/>
          </a:p>
          <a:p>
            <a:r>
              <a:t>두 포인터가 교차하면 break로 끝냅니다. 아직 교차하지 않았으면 swap으로 잘못 놓인 두 값을 바꿉니다. 예제에서는 처음 8과 3을 바꾸고, 다음 검사에서 L이 3, R이 2가 되어 교차합니다. 마지막 swap은 L 위치와 피벗이 있는 hi 위치를 바꿔 피벗을 제자리에 넣습니다.</a:t>
            </a:r>
          </a:p>
          <a:p>
            <a:endParaRPr/>
          </a:p>
          <a:p>
            <a:r>
              <a:t>결과는 그림과 같은 3, 4, 1, 6, 7, 8이고 반환 위치는 3입니다. Python과 C의 문법은 달라도 피벗 선택, 포인터 이동 조건, 교환 순서, 반환 위치는 같습니다. 이 함수 역시 전체를 정렬하는 것이 아니라 피벗을 기준으로 한 번 나누는 함수입니다.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017194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C의 quick_sort를 읽어 보겠습니다. 입력은 배열 a와 정렬할 구간의 양 끝 lo, hi입니다. 반환형이 void이므로 정렬된 새 배열이나 점수 같은 결과값을 돌려주는 함수가 아닙니다. 전달한 배열의 원소들을 직접 바꿉니다.</a:t>
            </a:r>
          </a:p>
          <a:p>
            <a:endParaRPr/>
          </a:p>
          <a:p>
            <a:r>
              <a:t>첫 줄은 lo가 hi 이상이면 반환하는 종료 조건입니다. 예를 들어 0부터 0이면 원소 하나이고, 0부터 마이너스 1이면 빈 구간입니다. 정렬할 값이 여러 개 있을 때만 partition으로 내려갑니다. 종료 조건을 분할 호출보다 먼저 두는 이유도 여기 있습니다. 빈 구간에서 피벗을 읽으려고 하면 안 됩니다.</a:t>
            </a:r>
          </a:p>
          <a:p>
            <a:endParaRPr/>
          </a:p>
          <a:p>
            <a:r>
              <a:t>partition의 반환값을 p에 저장합니다. 처음 0부터 5를 분할한 예에서는 p가 3입니다. 배열은 이미 3, 4, 1, 6, 7, 8로 바뀌어 있고, p는 피벗 6이 놓인 위치를 나타냅니다. 그다음 왼쪽 0부터 2를 정렬하고, 왼쪽 호출이 끝나면 오른쪽 4부터 5를 정렬합니다.</a:t>
            </a:r>
          </a:p>
          <a:p>
            <a:endParaRPr/>
          </a:p>
          <a:p>
            <a:r>
              <a:t>코드에 p 마이너스 1과 p 플러스 1이 있는 이유는 피벗 자체를 제외하기 위해서입니다. 이미 기준에 맞는 자리가 정해졌으므로 양쪽 내부만 정렬하면 됩니다. 남은 구간이 더 작아지고, 결국 종료 조건에 도달합니다. 재귀 호출 뒤에 merge 같은 추가 작업을 하지 않아도 전체 정렬이 완성됩니다.</a:t>
            </a:r>
          </a:p>
          <a:p>
            <a:endParaRPr/>
          </a:p>
          <a:p>
            <a:r>
              <a:t>아래 실행 예의 배열은 여섯 개라서 처음 호출은 0부터 5입니다. 마지막 인덱스를 6으로 쓰면 배열 범위를 넘으므로, 원소 수와 마지막 인덱스를 구분해 주세요. 앞의 swap과 partition을 함께 준비하고 이 호출을 실행하면 a가 1, 3, 4, 6, 7, 8로 바뀝니다. 호출 뒤에는 반환값이 아니라 a의 원소들을 출력해서 결과를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6242617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같은 값이 여러 개 있으면 포인터 이동을 특히 주의해야 합니다. 화면처럼 배열이 2, 2, 2이고 피벗도 2인 경우를 따라가 보겠습니다. 맨 끝에 피벗을 두고 시작하면 L은 인덱스 0, R은 인덱스 1입니다.</a:t>
            </a:r>
          </a:p>
          <a:p>
            <a:endParaRPr/>
          </a:p>
          <a:p>
            <a:r>
              <a:t>지금 왼쪽 while의 조건은 현재 값이 피벗 이하라는 것입니다. 첫 2는 피벗 2와 같으므로 조건을 만족해서 L이 1로 이동합니다. 다음 2도 같으니 L이 다시 2로 이동합니다. 이제 L이 R보다 커져서 범위 조건이 거짓이 됩니다. 피벗 칸을 계속 읽는 것이 아니라, 검사 구간을 지나왔기 때문에 반복을 끝내는 것입니다.</a:t>
            </a:r>
          </a:p>
          <a:p>
            <a:endParaRPr/>
          </a:p>
          <a:p>
            <a:r>
              <a:t>마지막에는 L 위치와 맨 끝 피벗 위치가 같은 인덱스 2입니다. 같은 자리끼리 바꾸므로 배열은 그대로 2, 2, 2이고, 피벗 위치 2가 반환됩니다. 남은 왼쪽 구간에는 두 개가 있고 오른쪽에는 아무것도 없습니다. 화면 아래의 분할 크기가 바로 이것입니다.</a:t>
            </a:r>
          </a:p>
          <a:p>
            <a:endParaRPr/>
          </a:p>
          <a:p>
            <a:r>
              <a:t>따라서 무한 반복은 일어나지 않지만, 항상 효율적으로 반씩 나뉘는 것도 아닙니다. 모두 같은 값이면 같은 값들이 전부 왼쪽으로 가고, 매번 피벗 하나만 제외됩니다. 큰 입력에서는 n개, n 마이너스 1개, n 마이너스 2개처럼 조금씩 줄어드는 구간을 처리하므로 시간이 n 제곱에 비례할 수 있습니다. 같은 값을 멈추는 조건을 아무렇게나 바꾸면 무한 교환이 생길 수도 있으니, 현재 코드의 규칙을 함께 이해해야 합니다.</a:t>
            </a:r>
          </a:p>
          <a:p>
            <a:endParaRPr/>
          </a:p>
          <a:p>
            <a:r>
              <a:t>빈 배열도 확인하겠습니다. 길이가 0이면 첫 호출의 hi는 마이너스 1입니다. lo가 0이라서 종료 조건 lo 이상 hi를 즉시 만족하고, partition을 부르지 않습니다. 원소 하나인 경우도 두 끝 인덱스가 같아서 바로 끝납니다. 같은 값이 있는 경우의 분할과, 빈 구간에서의 종료는 서로 다른 확인 사항입니다.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28529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퀵 정렬의 시간은 피벗으로 나눈 뒤 양쪽 크기가 어떻게 되는지에 따라 달라집니다. 먼저 분할 한 번만 생각해 보겠습니다. L은 오른쪽으로만 이동하고 R은 왼쪽으로만 이동합니다. 이미 지나간 칸을 처음부터 다시 훑지 않으므로, 한 구간을 분할하는 작업은 그 구간의 원소 수에 비례합니다.</a:t>
            </a:r>
          </a:p>
          <a:p>
            <a:endParaRPr/>
          </a:p>
          <a:p>
            <a:r>
              <a:t>피벗이 크기순으로 가운데에 가까운 값이면 작은 쪽과 큰 쪽에 원소가 비슷하게 남습니다. 예를 들어 여덟 개를 처리한 뒤 남은 두 구간이 대략 반씩 줄어든다고 생각해 보세요. 같은 단계의 구간들에서 처리하는 원소 수를 모두 합하면 최대 n 정도이고, 구간 크기를 계속 반으로 줄이면 단계 수는 로그 n 정도입니다. 따라서 균형 있게 나뉘는 경우 전체 시간은 n 로그 n에 비례합니다.</a:t>
            </a:r>
          </a:p>
          <a:p>
            <a:endParaRPr/>
          </a:p>
          <a:p>
            <a:r>
              <a:t>반대로 피벗이 계속 가장 큰 값이라면 어떻게 될까요? 다른 모든 값이 왼쪽에 남고 오른쪽은 비어 있습니다. 처음에는 n개를 분할하고, 다음에는 n 마이너스 1개를 분할하고, 그다음에는 n 마이너스 2개를 처리합니다. 거의 전체를 다시 훑는 일이 여러 번 이어집니다. 이런 작업량의 합이 n 제곱에 비례해서 최악의 시간은 세타 n 제곱입니다.</a:t>
            </a:r>
          </a:p>
          <a:p>
            <a:endParaRPr/>
          </a:p>
          <a:p>
            <a:r>
              <a:t>화면 마지막 문장을 보세요. 가운데 인덱스의 값과, 크기순으로 가운데인 값은 다릅니다. 가운데 칸에 가장 큰 수가 있을 수도 있습니다. 그래서 현재 코드가 가운데 위치를 피벗으로 고른다고 해서 항상 양쪽이 절반씩 나뉘는 것은 아닙니다. 앞에서 모든 값이 같은 예에서도 한쪽으로 치우쳤습니다.</a:t>
            </a:r>
          </a:p>
          <a:p>
            <a:endParaRPr/>
          </a:p>
          <a:p>
            <a:r>
              <a:t>서로 다른 값들의 순서가 무작위인 입력에서는 이 방식의 평균 시간을 n 로그 n으로 볼 수 있습니다. 하지만 특정 입력 하나에서도 반드시 그 시간이 보장된다는 뜻은 아닙니다. 입력 가정이 없는 최악의 경우와 무작위 입력에서의 평균을 구분해야 합니다. 지금은 한 번의 분할은 n에 비례하고, 남은 구간이 얼마나 잘 줄어드는지가 전체 시간을 결정한다는 점을 이해하면 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4131632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병합 정렬과 퀵 정렬을 함께 정리해 보겠습니다. 둘 다 큰 정렬 문제를 작은 구간의 정렬 문제로 나누지만, 구간을 나누는 기준과 정렬이 진행되는 지점이 다릅니다.</a:t>
            </a:r>
          </a:p>
          <a:p>
            <a:endParaRPr/>
          </a:p>
          <a:p>
            <a:r>
              <a:t>병합 정렬은 값의 크기와 상관없이 배열의 위치를 기준으로 반씩 나눕니다. 그래서 나누는 동안에는 8과 3의 순서가 그대로였습니다. 작은 구간의 정렬 결과가 돌아오면, 두 결과의 맨 앞을 비교하면서 병합합니다. 정렬된 두 입력을 합치는 단계가 전체 순서를 만들어 줍니다.</a:t>
            </a:r>
          </a:p>
          <a:p>
            <a:endParaRPr/>
          </a:p>
          <a:p>
            <a:r>
              <a:t>퀵 정렬은 피벗의 값을 기준으로 나눕니다. 왼쪽에는 피벗 이하, 오른쪽에는 피벗 초과의 값들을 두고 피벗을 그 사이에 놓았습니다. 분할하면서 피벗의 자리를 정하고, 그다음 양쪽 내부를 재귀로 정렬합니다. 이미 값의 크기에 따라 구간이 나뉘었기 때문에 양쪽 결과를 따로 병합할 필요가 없습니다.</a:t>
            </a:r>
          </a:p>
          <a:p>
            <a:endParaRPr/>
          </a:p>
          <a:p>
            <a:r>
              <a:t>그럼 퀵 정렬의 첫 분할이 끝나면 전체가 정렬되어 있을까요? 아까 결과 3, 4, 1, 6, 7, 8을 떠올려 보세요. 피벗 6의 위치는 맞지만 왼쪽의 1은 아직 뒤에 있습니다. 양쪽 내부의 재귀 정렬을 마쳐야 전체 정렬이 끝납니다. 피벗 자리가 정해졌다는 것과 전체가 정렬되었다는 것을 구분해야 합니다.</a:t>
            </a:r>
          </a:p>
          <a:p>
            <a:endParaRPr/>
          </a:p>
          <a:p>
            <a:r>
              <a:t>시간도 비교하겠습니다. 현재 병합 정렬은 구간을 반씩 나누고 모든 단계에서 병합하므로 최악에도 n 로그 n에 비례합니다. 퀵 정렬은 잘 나뉘면 n 로그 n이지만, 한쪽으로 계속 치우치면 n 제곱에 비례합니다.</a:t>
            </a:r>
          </a:p>
          <a:p>
            <a:endParaRPr/>
          </a:p>
          <a:p>
            <a:r>
              <a:t>안정성은 같은 값을 가진 원소들의 원래 순서를 유지하는 성질입니다. 병합 코드에서는 같은 값이면 왼쪽 기록을 먼저 넣어 그 순서를 유지합니다. 현재 퀵 코드는 멀리 떨어진 원소도 서로 바꾸기 때문에 같은 값을 가진 기록의 원래 순서를 보장하지 않습니다. 어느 정렬이 무조건 더 좋다고 외우기보다, 분할 기준과 실제 코드가 어떻게 움직이는지 설명할 수 있도록 두 방법을 연결해서 기억해 주세요.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169902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다음은 최대 구간 합입니다. 배열에서 연속된 구간 하나를 골라 합을 가장 크게 만드는 문제예요. 단순히 양수만 골라 더할 수는 없습니다. 중간 원소를 건너뛰면 연속 구간이 아니기 때문입니다. 왼쪽과 오른쪽으로 나눈 뒤, 양쪽에 걸친 구간을 별도로 계산하는 방법을 보겠습니다.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값이 삼, 마이너스 오, 십이, 마이너스 이, 칠, 마이너스 구로 주어졌습니다. 전체 합은 육이지만 십이부터 칠까지의 연속 구간을 선택하면 십칠이 됩니다. 중간의 마이너스 이를 포함해도 양옆의 이득이 더 크죠. 주가 예시에서는 각 값이 가격 자체가 아니라 기간별 변동분입니다. 해당 변동이 시작되기 전에 사서 구간 마지막 변동 이후에 판다고 해석하면 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시작점과 끝점을 모두 바꿔가며 후보 구간을 만들면 경우의 수는 엔 제곱에 비례합니다. 각 구간 합을 처음부터 다시 더하면 엔 세제곱까지 걸릴 수 있어요. 누적합을 미리 만들거나 끝점을 늘리면서 합을 갱신해야 엔 제곱에 계산할 수 있습니다. 입력이 십만 개면 후보가 수십억 개이므로 부담스럽습니다. 이제 이 후보들을 하나씩 나열하지 않고 답을 구해보겠습니다.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가운데를 기준으로 최적 구간의 위치를 분류해보세요. 왼쪽에만 있거나, 오른쪽에만 있거나, 경계를 넘어 양쪽에 걸쳐 있습니다. 이 세 경우가 모든 가능성을 포함합니다. 왼쪽과 오른쪽 문제는 원래 문제와 같은 형태이므로 재귀 호출하면 됩니다. 남은 것은 경계를 걸친 최대 합을 계산하는 일입니다. 마지막에 세 값의 최댓값을 선택하면 어느 위치에 답이 있어도 놓치지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경계를 걸친 구간은 왼쪽의 마지막 원소 미드와 오른쪽의 첫 원소 미드 더하기 일을 모두 포함해야 합니다. 그래서 미드에서 왼쪽으로 합을 늘려가며 가장 큰 값을 찾고, 미드 더하기 일에서 오른쪽으로 같은 작업을 합니다. 각각 왼쪽의 최대 접미 구간과 오른쪽의 최대 접두 구간이에요. 둘을 연결하면 끊김 없이 경계를 걸친 구간이 되고, 두 합을 더한 값이 이 경우의 최댓값입니다.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메인 함수의 종료 조건은 로우와 하이가 같은 경우입니다. 원소 하나를 반드시 선택하는 문제이므로 그 원소 값을 반환합니다. 나머지는 중간을 계산하고 왼쪽, 오른쪽, 경계를 걸친 경우를 각각 구해요. 마지막 맥스가 세 후보를 비교합니다. 입력 배열은 비어 있지 않다고 가정합니다. 빈 배열을 허용하려면 무엇을 반환할지 먼저 정의하고 별도의 처리를 추가해야 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 합의 최댓값을 음의 무한대로 시작하는 이유를 보겠습니다. 전부 음수인 배열에서 영으로 시작하면 아무 원소도 고르지 않은 값을 답으로 내놓게 됩니다. 하지만 이 문제는 적어도 한 원소를 선택해야 해요. 현재 합은 영에서 시작해 원소를 더하고, 최댓값은 음의 무한대에서 갱신합니다. 오른쪽도 동일하게 처리한 뒤 두 최댓값을 더합니다. 양쪽 반복을 합쳐 구간 길이만큼만 읽습니다.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파이썬의 레인지는 끝 값을 포함하지 않습니다. 그래서 미드에서 로우까지 내려가려면 끝을 로우 마이너스 일로 써야 해요. 오른쪽은 하이를 포함하려고 하이 더하기 일을 사용했습니다. 커런트 섬은 현재까지 이어 붙인 합이고, 레프트 섬과 라이트 섬은 그 과정에서 만난 최댓값입니다. 두 변수를 혼동하면 마지막 구간의 합만 반환하게 됩니다. 반복 방향과 최댓값 갱신을 함께 확인하세요.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메인 코드에서도 두 재귀 호출과 경계를 걸친 합을 구하는 호출이 구분됩니다. 예제 배열에서는 십이, 마이너스 이, 칠을 합한 십칠이 정답입니다. 함수는 합만 반환하므로 구간의 시작과 끝도 필요하면 인덱스를 함께 저장해야 해요. 전부 음수인 입력에서도 가장 덜 작은 음수를 반환하는지 확인하면 종료 조건과 초기값이 올바른지 점검할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인덱스로 가운데를 정하는 비용은 상수 시간입니다. 두 절반을 재귀적으로 풀고, 경계를 걸친 합을 계산할 때 구간을 한 번 훑습니다. 따라서 합병 정렬과 같은 점화식이 나옵니다. 전체 시간은 엔 로그 엔이에요. 이 문제에는 카데인 알고리즘이라는 선형 시간 풀이도 있습니다. 지금은 가장 빠른 풀이를 외우기보다 세 경우로 나누어 빠짐없이 결합하는 사고를 익히는 데 집중하겠습니다.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배열 대신 평면에 있는 점들을 다룹니다. 점 전체에서 가장 가까운 두 점의 거리를 찾는 문제예요. 각 절반 안에서 답을 구하는 것은 재귀 호출로 맡길 수 있습니다. 어려운 부분은 왼쪽 점 하나와 오른쪽 점 하나가 더 가까울 가능성을 처리하는 일입니다. 앞의 최대 구간 합과 같은 결합 문제가 다른 모습으로 등장합니다.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최근접 쌍은 전체 점 중에서 두 점을 고르는 문제입니다. 특정 위치에서 가장 가까운 시설 하나를 찾는 최근접 이웃 문제와는 입력과 목표가 조금 달라요. 여기서는 평면의 유클리드 거리를 사용하겠습니다. 실제 항공 충돌 예측에는 고도와 속도, 이동 방향도 필요하지만, 이 예제는 위치 사이의 거리 계산에 집중합니다. 두 점의 좌표 차이로 거리를 구하는 것부터 시작하겠습니다.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아이보다 큰 제이만 비교하므로 같은 점끼리 비교하지 않고, 같은 쌍을 두 번 세지도 않습니다. 쌍의 개수는 엔 곱하기 엔 마이너스 일 나누기 이입니다. 디스턴스 함수의 하이폿은 가로와 세로 차이로 직선거리를 계산합니다. 최솟값은 양의 무한대로 초기화해요. 점이 두 개보다 적으면 이 코드는 무한대를 반환합니다. 완전 탐색은 작은 입력에서 정답을 검증하는 기준으로도 유용합니다.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엑스 좌표로 정렬하고 점의 개수가 비슷하도록 양쪽을 나눕니다. 각 절반의 최소 거리 중 작은 값을 디라고 하겠습니다. 전체 정답이 디보다 작으려면 두 점이 서로 다른 절반에 있어야 합니다. 각 절반 안의 더 가까운 쌍은 이미 재귀 호출이 찾았기 때문이죠. 이제 경계를 넘어서는 쌍 중에서 디보다 가까운 것만 추가로 찾으면 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경계에서 수평으로 디 이상 떨어진 점은 반대편 점과 디보다 가까워질 수 없습니다. 그래서 폭이 이 디인 띠 안으로 후보를 줄입니다. 다음에는 와이 좌표로 정렬해 위아래 거리도 디보다 작은 후보만 비교합니다. 엑스 방향과 와이 방향에서 각각 불가능한 쌍을 제거하는 셈이에요. 다만 띠에 점이 많을 수 있으므로, 이것만으로 선형 시간이라고 결론 내리면 안 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각 절반 안에서는 이미 최소 거리가 디 이상이라는 사실을 이용합니다. 경계의 양쪽에 있는 디 곱하기 디 영역을 작은 정사각형으로 나누면, 같은 절반의 작은 칸 안에 두 점이 들어갈 수 없습니다. 그 칸의 대각선이 디보다 짧기 때문입니다. 이 배치 조건으로 현재 점 다음의 최대 일곱 점만 비교해도 충분하다는 상수 개수 제한이 나옵니다. 단순히 띠에 점이 적다고 가정한 결과가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코드는 점이 세 개 이하면 완전 탐색을 사용합니다. 그보다 크면 엑스 순서의 리스트를 반으로 나누고 양쪽 최소 거리를 구해요. 띠를 만든 뒤 와이 좌표로 정렬하고 다음 일곱 점까지 비교합니다. 레인지의 끝은 제외되므로 아이 더하기 팔을 써야 일곱 개가 포함됩니다. 이 간단한 구현은 재귀 호출마다 띠를 다시 정렬합니다. 따라서 전체 시간은 오 엔 로그 제곱 엔입니다. 와이 정렬 순서를 선형 시간에 전달하면 오 엔 로그 엔으로 개선할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예제에서 이, 삼인 점과 삼, 사인 점의 거리는 루트 이입니다. 코드의 출력인 약 일 점 사일사가 그 값이에요. 시간 분석에서는 화면의 구현이 매 단계 스트립을 정렬한다는 점을 포함해야 합니다. 결합 비용은 최악에 엔 로그 엔이고, 전체는 엔 로그 제곱 엔입니다. 이론적인 엔 로그 엔 알고리즘은 처음에 와이 순서도 준비하고 재귀마다 그 순서를 유지해야 합니다. 비교 횟수가 상수라는 사실만으로 정렬 비용까지 사라지지는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공간을 네 부분으로 나누는 쿼드 트리입니다. 정사각형 영역에 같은 값만 있다면 하나의 값으로 표현하고, 값이 섞여 있으면 네 영역을 각각 표현합니다. 이번에는 네 부분의 답을 트리나 문자열로 묶어서 전체 영역을 나타내겠습니다. 최솟값을 찾는 문제는 아니지만, 작은 문제 여러 개를 풀고 결합한다는 구조는 같습니다.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영역의 데이터가 균일한지 먼저 확인합니다. 모두 같은 색이면 더 나누지 않고 리프 노드 하나로 표현해요. 섞여 있으면 좌상, 우상, 좌하, 우하로 나눠 같은 검사를 반복합니다. 한 변은 절반이 되고 넓이는 사분의 일이 됩니다. 이 둘을 구분하세요. 여기서는 한 변 길이가 이의 거듭제곱인 정사각형을 가정하므로 한 칸에 도달하면 반드시 종료합니다.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이미지에서 영은 흰색, 일은 검은색이라고 약속하겠습니다. 큰 영역이 전부 영이면 픽셀을 모두 기록하는 대신 영 한 글자로 표현합니다. 색이 섞인 영역은 괄호 안에 네 하위 영역의 표현을 정해진 순서로 적어요. 읽는 쪽도 같은 순서를 알아야 원래 위치를 복원할 수 있습니다. 균일한 부분이 많으면 표현이 짧아지지만, 무늬가 복잡하면 괄호 때문에 오히려 길어질 수도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의사코드의 첫 반복문은 기준 색과 다른 값이 있는지 검사합니다. 균일하면 값을 가진 리프를 반환하고, 그렇지 않으면 내부 노드를 만든 뒤 네 자식에 재귀 결과를 연결합니다. 이 코드에서 엑스는 행, 와이는 열로 사용하고 있어요. 우상은 열에 하프를 더하고 좌하는 행에 하프를 더합니다. 한 변이 매번 절반이 되므로 루트에서 한 칸까지 내려가는 깊이는 로그 투 사이즈입니다.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파이썬 코드는 노드 대신 문자열을 반환합니다. 다른 색을 만나면 안쪽 반복을 빠져나오고, 플래그를 확인해 바깥 반복도 멈춥니다. 균일하면 색 한 글자를, 아니면 괄호로 묶은 네 재귀 결과를 반환해요. 예제는 좌상 영, 우상 일, 좌하의 섞인 영역, 우하 영 순서입니다. 출력 문자열의 각 괄호는 한 번의 분할을 뜻합니다. 문자 수와 픽셀 수 비교는 표현 길이의 예시이며 실제 파일의 바이트 압축률과 같지는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객체 천 개의 모든 쌍을 검사하면 한 프레임에 거의 오십만 쌍을 비교하게 됩니다. 쿼드 트리로 공간을 나누면 멀리 떨어진 객체를 후보에서 제외할 수 있어요. 다만 같은 노드 안의 객체끼리만 무조건 비교하면 경계를 걸친 충돌을 놓칩니다. 객체의 크기를 고려해 겹치는 이웃 영역도 질의하거나, 여러 영역에 걸친 객체를 상위 노드에서 관리해야 합니다. 공간 분할은 실제 충돌 검사를 하기 전 후보를 줄이는 단계입니다.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엘오디는 거리에 따라 표현의 세밀함을 조절하는 방법입니다. 가까운 지형은 세밀하게, 먼 지형은 크게 묶어서 표현할 수 있어요. 쿼드 트리는 이런 계층적인 지형 구역을 관리하는 데 활용할 수 있습니다. 다만 모든 엘오디가 쿼드 트리를 사용하는 것은 아니고, 트리만 만든다고 텍스처 해상도가 자동으로 바뀌지도 않습니다. 화면에서 필요한 세밀함을 판단하고 알맞은 표현을 선택하는 로직이 함께 필요합니다.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지금까지 재귀 트리의 층 수와 각 층의 비용을 더해서 시간을 구했습니다. 이제 일정한 형태의 점화식에는 그 계산을 정리한 마스터 정리를 적용해보겠습니다. 편리한 도구지만 모든 점화식을 풀어주지는 않습니다. 식이 적용 형태에 맞는지, 각 경우의 조건을 만족하는지 먼저 확인해야 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티 엔은 에이 곱하기 티 엔 나누기 비 더하기 에프 엔의 형태입니다. 에이는 재귀 호출 개수이고, 비는 문제 크기가 줄어드는 비율입니다. 에프 엔은 현재 호출에서 직접 하는 분할과 결합 작업이에요. 에이는 일 이상, 비는 일보다 큰 상수라고 가정합니다. 호출마다 크기가 제각각이거나 엔 마이너스 일로 줄어드는 식에는 이 기본 형태를 그대로 적용할 수 없습니다.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비교 기준은 엔의 로그 비 에이 승입니다. 에프 엔이 이 기준보다 다항식 차이로 작으면 첫 번째 경우, 같은 차수면 두 번째 경우입니다. 더 크면 세 번째 경우를 검토하는데, 이때는 아래 단계의 비용이 일정 비율 이하가 되는 정규성 조건도 필요합니다. 단순히 조금 크거나 작다는 이유만으로 선택하면 안 됩니다. 합병 정렬과 최대 구간 합은 둘 다 엔 차수의 결합 비용이므로 두 번째 경우에 해당합니다.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이진 탐색은 절반 중 한쪽만 호출하므로 에이는 일, 비는 이입니다. 인덱스 계산과 비교, 경계 갱신이 상수 시간이어서 에프 엔도 상수입니다. 기준값은 엔의 영 승, 즉 일입니다. 에프 엔과 같은 차수이므로 두 번째 경우를 적용해 로그 엔을 얻습니다. 이 분석은 인덱스로 범위를 좁히는 구현입니다. 매번 배열을 복사하는 슬라이싱 구현이라면 그 비용도 포함해야 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합병 정렬에서는 에이가 이, 비가 이이므로 기준값은 엔입니다. 병합 비용 역시 엔에 비례하니 두 번째 경우입니다. 따라서 기준값 엔에 로그 엔이 한 번 곱해집니다. 같은 식을 재귀 트리로 풀었을 때의 결과와 일치하죠. 정리를 사용하더라도 에프 엔이 왜 선형인지 설명할 수 있어야 합니다. 두 정렬된 조각의 각 원소를 한 번씩 꺼내기 때문입니다.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표를 볼 때 최종 시간만 외우지 말고 재귀 호출 수와 결합 비용을 먼저 읽어보세요. 같은 크기로 나누더라도 호출을 한 번 하느냐 두 번 하느냐에 따라 결과가 달라집니다. 최근접 쌍의 엔 로그 엔 결과는 와이 정렬을 유지하는 구현에 해당합니다. 다음 두 알고리즘은 덧셈을 조금 늘리는 대신 비싼 곱셈 재귀 호출을 줄입니다. 점화식의 에이를 줄였을 때 지수가 어떻게 달라지는지 보겠습니다.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카라츠바는 큰 정수의 곱셈을 빠르게 하는 방법입니다. 두 수를 앞부분과 뒷부분으로 나누면 보통 네 번의 작은 곱셈이 필요합니다. 그런데 전개식을 조금 바꾸면 세 번만 곱하고도 같은 결과를 얻을 수 있어요. 이번에는 입력 크기 엔이 정수의 값이 아니라 자릿수라는 점을 기억해주세요.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천이백삼십사는 십이 곱하기 백 더하기 삼십사로 나눌 수 있습니다. 같은 방법으로 두 수를 나누고 곱을 전개하면 앞끼리, 뒤끼리, 서로 교차하는 두 곱이 나옵니다. 절반 크기 곱셈을 네 번 하므로 점화식은 사 티 엔 나누기 이 더하기 오 엔입니다. 이대로는 엔 제곱 시간이어서 일반적인 자릿수 곱셈과 차수가 같습니다. 나누는 것만으로는 개선되지 않는 예입니다.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앞부분의 곱을 에이, 뒷부분의 곱을 비라고 하겠습니다. 두 수의 앞뒤를 각각 더한 뒤 곱하면 에이와 비, 그리고 필요한 두 교차항의 합이 한꺼번에 나옵니다. 여기서 이미 구한 에이와 비를 빼면 교차항만 남아요. 그래서 앞끼리 한 번, 뒤끼리 한 번, 합끼리 한 번, 총 세 번 곱하면 됩니다. 절약한 곱셈 대신 덧셈과 뺄셈이 늘어나는 구조입니다.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의사코드에서는 먼저 자릿수가 작으면 직접 곱합니다. 그렇지 않으면 앞과 뒤를 나누고 재귀 호출을 세 번 수행해요. 제트 원 로에서 제트 투와 제트 영을 빼 중간 계수를 만들고, 마지막에 십의 거듭제곱을 곱해 자리 위치를 맞춥니다. 분할 자릿수는 정수로 정해야 합니다. 실제 구현에서는 아주 작은 수까지 재귀 호출하기보다 적당한 크기에서 기본 곱셈으로 전환하며, 전환 기준은 환경에 따라 달라집니다.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파이썬에서 십의 엠 승으로 나눈 몫은 앞부분, 나머지는 뒷부분입니다. 에이와 비, 섬 프로드가 세 재귀 호출의 결과예요. 미드는 섬 프로드에서 에이와 비를 뺀 값이고, 마지막 식이 자릿수를 맞춰 결과를 합칩니다. 예제의 두 큰 정수를 곱한 값은 일반 곱셈과 같아야 합니다. 이 코드는 원리를 보여주는 비음수 정수용 예제입니다. 파이썬 내장 곱셈보다 항상 빠르다고 해석하지는 마세요.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카라츠바의 에이는 삼이고 비는 이입니다. 기준값은 엔의 로그 투 삼 승으로, 지수가 약 일 점 오팔오입니다. 자릿수 덧셈 비용인 엔보다 기준값이 다항식 차이로 크므로 첫 번째 경우를 적용합니다. 화면의 자릿수 비교는 성장률의 차이를 보여주는 계산입니다. 상수와 구현 비용을 생략했으므로 실제 실행 시간이 그 배수로 빨라진다는 측정 결과는 아닙니다. 큰 입력에서 지수 차이가 커진다는 점을 보세요.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스트라센은 같은 발상을 행렬 곱셈에 적용합니다. 행렬을 네 블록으로 나누면 표준 방식은 여덟 번의 작은 행렬 곱셈을 합니다. 스트라센은 이를 일곱 번으로 줄여요. 여기서는 엔이 행렬 한 변의 길이이고, 행렬 덧셈 비용이 엔 제곱이라는 점이 앞의 정수 곱셈과 다릅니다.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결과의 각 블록은 두 블록 곱의 합입니다. 예를 들어 씨 일일은 에이 일일 곱하기 비 일일에 에이 일이 곱하기 비 이일을 더합니다. 결과 블록이 네 개이고 각각 두 번 곱하므로 재귀 곱셈은 여덟 번입니다. 덧셈에는 엔 제곱 시간이 듭니다. 마스터 정리의 기준값이 엔 세제곱이므로 기존의 세 겹 반복문과 같은 차수입니다. 단순히 블록으로 나누는 것만으로는 빨라지지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화면에는 일곱 개의 중간 곱과 결과를 조립하는 식이 있습니다. 지금은 일곱 식을 통째로 외우기보다 각각을 전개했을 때 불필요한 항이 서로 지워진다는 원리를 보겠습니다. 예를 들어 씨 일이에 엠 삼과 엠 오를 더하면 중간의 반대 부호 항이 사라지고 필요한 두 곱만 남습니다. 행렬 곱은 순서를 바꿀 수 없으므로 식의 좌우 순서를 그대로 지켜야 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재귀 호출이 일곱 번이므로 기준값의 지수는 로그 투 칠, 약 이 점 팔영칠입니다. 덧셈 비용 엔 제곱보다 크기 때문에 전체는 엔의 이 점 팔영칠 승 차수입니다. 카라츠바와 마찬가지로 비싼 재귀 곱셈을 덧셈으로 대체했습니다. 다만 작은 행렬에서는 추가 덧셈과 메모리 비용 때문에 느릴 수 있고, 실수 계산에서는 오차도 고려해야 합니다. 차수 개선과 실제 성능 판단을 구분하세요.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앞에서 본 구조를 두 문제에 적용하겠습니다. 색종이 만들기는 균일한 영역을 멈추고 나머지를 네 부분으로 나누는 문제입니다. 거듭제곱 나머지는 절반 지수의 답을 한 번 구해 재사용하는 문제예요. 먼저 종료 조건과 반환값을 말로 정리한 다음 코드를 읽어보겠습니다.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색종이는 모든 칸이 같은 색이 될 때까지 네 등분합니다. 같은 색이 확인되면 그 영역은 한 장으로 세고 더 자르지 않습니다. 칸 수를 세는 것이 아니라 최종 종이 조각 수를 세는 거예요. 입력의 영은 흰색, 일은 파란색입니다. 흑백 도식에서는 파란 영역을 짙은 회색으로 구분합니다. 한 변이 이의 거듭제곱이므로 한 칸에 도달하면 반드시 균일해집니다.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영역에서 다른 색을 발견하면 곧바로 네 재귀 호출을 하고 반환합니다. 이 리턴이 없으면 분할한 영역을 또 한 장으로 세어버립니다. 반복문을 끝까지 통과했다면 균일하다는 뜻이므로 해당 색의 카운트를 하나 올립니다. 실행 전에 페이퍼에 전체 입력 배열을 저장하고 두 카운트를 영으로 초기화해야 합니다. 예제 입력을 사용하면 흰색 아홉 장, 파란색 일곱 장이 나옵니다.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지수가 수십억이면 한 번씩 곱하는 반복문은 너무 오래 걸립니다. 지수를 절반으로 줄여 계산한 값을 제곱하고, 홀수일 때만 에이를 한 번 더 곱하겠습니다. 매번 씨로 나눈 나머지만 유지해도 최종 나머지는 같습니다. 약 서른한 번이라는 수는 축소 단계 수이고, 실제 곱셈은 한 단계에 한두 번입니다. 절반 결과를 한 번만 계산하므로 재귀 호출도 단계마다 하나입니다.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비가 영이면 일 모드 씨를 반환합니다. 씨가 일인 경우까지 일관되게 처리하기 위한 기본값입니다. 하프를 한 번 구하고 제곱한 뒤 나머지를 계산해요. 비가 홀수면 에이를 한 번 더 곱합니다. 예제 지수는 십일, 오, 이, 일, 영 순서로 줄고, 돌아오면서 나머지가 계산되어 최종 사가 됩니다. 씨는 양수라고 가정합니다. 큰 수 연산의 비트 비용을 별도로 세지 않는 모델에서 단계 수는 로그 비입니다.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장의 공통 구조를 다시 보겠습니다. 하위 문제들을 풀고 나서 결합이 모든 경우를 포함해야 합니다. 최대 구간 합과 최근접 쌍은 경계를 걸친 경우가 핵심이었고, 쿼드 트리는 영역 표현을 합쳤습니다. 마스터 정리는 조건에 맞는 점화식을 정리하는 도구입니다. 카라츠바와 스트라센은 재귀 호출 수를 줄여 지수를 낮췄습니다. 코드와 복잡도를 연결할 때는 복사와 정렬처럼 숨어 있는 비용도 꼭 포함하세요.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여기까지 분할 정복을 마치겠습니다. 스스로 확인할 질문은 이겁니다. 지금 코드를 나누기, 재귀 호출, 결합으로 구분할 수 있나요? 또 결합에서 빠뜨린 경우가 없는 이유를 설명할 수 있나요? 막히는 예제가 있다면 작은 입력 두세 개로 호출과 반환을 따라가보세요. 다음 장에서는 여러 후보를 끝까지 비교하지 않고 현재의 선택을 확정하는 그리디 알고리즘을 배우겠습니다.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9971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68CFB8C8-6264-4320-87E9-5C33E726479D}"/>
              </a:ext>
            </a:extLst>
          </p:cNvPr>
          <p:cNvSpPr>
            <a:spLocks noGrp="1"/>
          </p:cNvSpPr>
          <p:nvPr/>
        </p:nvSpPr>
        <p:spPr>
          <a:xfrm>
            <a:off x="609600" y="514350"/>
            <a:ext cx="9525000" cy="304800"/>
          </a:xfrm>
          <a:prstGeom prst="rect">
            <a:avLst/>
          </a:prstGeom>
          <a:noFill/>
          <a:ln w="0">
            <a:noFill/>
          </a:ln>
        </p:spPr>
        <p:txBody>
          <a:bodyPr wrap="square" lIns="0" tIns="0" rIns="0" bIns="0" anchor="t">
            <a:noAutofit/>
          </a:bodyPr>
          <a:lstStyle/>
          <a:p>
            <a:pPr algn="l">
              <a:lnSpc>
                <a:spcPct val="104000"/>
              </a:lnSpc>
              <a:buNone/>
              <a:defRPr sz="1200" b="0" i="0">
                <a:solidFill>
                  <a:srgbClr val="BBBBBB"/>
                </a:solidFill>
                <a:latin typeface="Malgun Gothic"/>
                <a:ea typeface="Malgun Gothic"/>
                <a:cs typeface="Malgun Gothic"/>
              </a:defRPr>
            </a:pPr>
            <a:r>
              <a:rPr sz="1200" b="0" i="0">
                <a:solidFill>
                  <a:srgbClr val="BBBBBB"/>
                </a:solidFill>
                <a:latin typeface="Malgun Gothic"/>
                <a:ea typeface="Malgun Gothic"/>
                <a:cs typeface="Malgun Gothic"/>
              </a:rPr>
              <a:t>그림으로 쉽게 설명하는 파이썬 알고리즘</a:t>
            </a:r>
          </a:p>
        </p:txBody>
      </p:sp>
      <p:sp>
        <p:nvSpPr>
          <p:cNvPr id="2" name="직사각형 1">
            <a:extLst>
              <a:ext uri="{FF2B5EF4-FFF2-40B4-BE49-F238E27FC236}">
                <a16:creationId xmlns:a16="http://schemas.microsoft.com/office/drawing/2014/main" id="{9703A760-82F3-4A09-B876-F9C81DD31A97}"/>
              </a:ext>
            </a:extLst>
          </p:cNvPr>
          <p:cNvSpPr>
            <a:spLocks noGrp="1"/>
          </p:cNvSpPr>
          <p:nvPr/>
        </p:nvSpPr>
        <p:spPr>
          <a:xfrm>
            <a:off x="609600" y="1057275"/>
            <a:ext cx="10972800" cy="9525"/>
          </a:xfrm>
          <a:prstGeom prst="rect">
            <a:avLst/>
          </a:prstGeom>
          <a:solidFill>
            <a:srgbClr val="505050"/>
          </a:solidFill>
          <a:ln w="0">
            <a:noFill/>
          </a:ln>
        </p:spPr>
      </p:sp>
      <p:sp>
        <p:nvSpPr>
          <p:cNvPr id="3" name="직사각형 2">
            <a:extLst>
              <a:ext uri="{FF2B5EF4-FFF2-40B4-BE49-F238E27FC236}">
                <a16:creationId xmlns:a16="http://schemas.microsoft.com/office/drawing/2014/main" id="{333AD70F-2C67-40C7-9EC9-3001A0A7B28C}"/>
              </a:ext>
            </a:extLst>
          </p:cNvPr>
          <p:cNvSpPr>
            <a:spLocks noGrp="1"/>
          </p:cNvSpPr>
          <p:nvPr/>
        </p:nvSpPr>
        <p:spPr>
          <a:xfrm>
            <a:off x="609600" y="1943100"/>
            <a:ext cx="10001250" cy="819150"/>
          </a:xfrm>
          <a:prstGeom prst="rect">
            <a:avLst/>
          </a:prstGeom>
          <a:noFill/>
          <a:ln w="0">
            <a:noFill/>
          </a:ln>
        </p:spPr>
        <p:txBody>
          <a:bodyPr wrap="square" lIns="0" tIns="0" rIns="0" bIns="0" anchor="t">
            <a:noAutofit/>
          </a:bodyPr>
          <a:lstStyle/>
          <a:p>
            <a:pPr algn="l">
              <a:lnSpc>
                <a:spcPct val="104000"/>
              </a:lnSpc>
              <a:buNone/>
              <a:defRPr sz="5100" b="1" i="0">
                <a:solidFill>
                  <a:srgbClr val="FFFFFF"/>
                </a:solidFill>
                <a:latin typeface="Malgun Gothic"/>
                <a:ea typeface="Malgun Gothic"/>
                <a:cs typeface="Malgun Gothic"/>
              </a:defRPr>
            </a:pPr>
            <a:r>
              <a:rPr sz="5100" b="1" i="0">
                <a:solidFill>
                  <a:srgbClr val="FFFFFF"/>
                </a:solidFill>
                <a:latin typeface="Malgun Gothic"/>
                <a:ea typeface="Malgun Gothic"/>
                <a:cs typeface="Malgun Gothic"/>
              </a:rPr>
              <a:t>4장</a:t>
            </a:r>
          </a:p>
        </p:txBody>
      </p:sp>
      <p:sp>
        <p:nvSpPr>
          <p:cNvPr id="4" name="직사각형 3">
            <a:extLst>
              <a:ext uri="{FF2B5EF4-FFF2-40B4-BE49-F238E27FC236}">
                <a16:creationId xmlns:a16="http://schemas.microsoft.com/office/drawing/2014/main" id="{7EFC275A-CEF7-4D13-A3A4-47CFCE8A1D81}"/>
              </a:ext>
            </a:extLst>
          </p:cNvPr>
          <p:cNvSpPr>
            <a:spLocks noGrp="1"/>
          </p:cNvSpPr>
          <p:nvPr/>
        </p:nvSpPr>
        <p:spPr>
          <a:xfrm>
            <a:off x="609600" y="3105150"/>
            <a:ext cx="10972800" cy="952500"/>
          </a:xfrm>
          <a:prstGeom prst="rect">
            <a:avLst/>
          </a:prstGeom>
          <a:noFill/>
          <a:ln w="0">
            <a:noFill/>
          </a:ln>
        </p:spPr>
        <p:txBody>
          <a:bodyPr wrap="square" lIns="0" tIns="0" rIns="0" bIns="0" anchor="t">
            <a:noAutofit/>
          </a:bodyPr>
          <a:lstStyle/>
          <a:p>
            <a:pPr algn="l">
              <a:lnSpc>
                <a:spcPct val="104000"/>
              </a:lnSpc>
              <a:buNone/>
              <a:defRPr sz="5100" b="1" i="0">
                <a:solidFill>
                  <a:srgbClr val="FFFFFF"/>
                </a:solidFill>
                <a:latin typeface="Malgun Gothic"/>
                <a:ea typeface="Malgun Gothic"/>
                <a:cs typeface="Malgun Gothic"/>
              </a:defRPr>
            </a:pPr>
            <a:r>
              <a:rPr sz="5100" b="1" i="0">
                <a:solidFill>
                  <a:srgbClr val="FFFFFF"/>
                </a:solidFill>
                <a:latin typeface="Malgun Gothic"/>
                <a:ea typeface="Malgun Gothic"/>
                <a:cs typeface="Malgun Gothic"/>
              </a:rPr>
              <a:t>분할 정복 기법</a:t>
            </a:r>
          </a:p>
        </p:txBody>
      </p:sp>
      <p:sp>
        <p:nvSpPr>
          <p:cNvPr id="5" name="직사각형 4">
            <a:extLst>
              <a:ext uri="{FF2B5EF4-FFF2-40B4-BE49-F238E27FC236}">
                <a16:creationId xmlns:a16="http://schemas.microsoft.com/office/drawing/2014/main" id="{A82BC040-BCEC-4E7E-85FC-7771AA8A831D}"/>
              </a:ext>
            </a:extLst>
          </p:cNvPr>
          <p:cNvSpPr>
            <a:spLocks noGrp="1"/>
          </p:cNvSpPr>
          <p:nvPr/>
        </p:nvSpPr>
        <p:spPr>
          <a:xfrm>
            <a:off x="647700" y="4648200"/>
            <a:ext cx="10287000" cy="400050"/>
          </a:xfrm>
          <a:prstGeom prst="rect">
            <a:avLst/>
          </a:prstGeom>
          <a:noFill/>
          <a:ln w="0">
            <a:noFill/>
          </a:ln>
        </p:spPr>
        <p:txBody>
          <a:bodyPr wrap="square" lIns="0" tIns="0" rIns="0" bIns="0" anchor="t">
            <a:noAutofit/>
          </a:bodyPr>
          <a:lstStyle/>
          <a:p>
            <a:pPr algn="l">
              <a:lnSpc>
                <a:spcPct val="104000"/>
              </a:lnSpc>
              <a:buNone/>
              <a:defRPr sz="1875" b="0" i="0">
                <a:solidFill>
                  <a:srgbClr val="BBBBBB"/>
                </a:solidFill>
                <a:latin typeface="Consolas"/>
                <a:ea typeface="Consolas"/>
                <a:cs typeface="Consolas"/>
              </a:defRPr>
            </a:pPr>
            <a:r>
              <a:rPr sz="1875" b="0" i="0">
                <a:solidFill>
                  <a:srgbClr val="BBBBBB"/>
                </a:solidFill>
                <a:latin typeface="Consolas"/>
                <a:ea typeface="Consolas"/>
                <a:cs typeface="Consolas"/>
              </a:rPr>
              <a:t>DIVIDE AND CONQUER</a:t>
            </a:r>
          </a:p>
        </p:txBody>
      </p:sp>
      <p:sp>
        <p:nvSpPr>
          <p:cNvPr id="6" name="직사각형 5">
            <a:extLst>
              <a:ext uri="{FF2B5EF4-FFF2-40B4-BE49-F238E27FC236}">
                <a16:creationId xmlns:a16="http://schemas.microsoft.com/office/drawing/2014/main" id="{D5AD2507-CD92-4302-8FA6-829176CCD3F5}"/>
              </a:ext>
            </a:extLst>
          </p:cNvPr>
          <p:cNvSpPr>
            <a:spLocks noGrp="1"/>
          </p:cNvSpPr>
          <p:nvPr/>
        </p:nvSpPr>
        <p:spPr>
          <a:xfrm>
            <a:off x="647700" y="5295900"/>
            <a:ext cx="10477500" cy="628650"/>
          </a:xfrm>
          <a:prstGeom prst="rect">
            <a:avLst/>
          </a:prstGeom>
          <a:noFill/>
          <a:ln w="0">
            <a:noFill/>
          </a:ln>
        </p:spPr>
        <p:txBody>
          <a:bodyPr wrap="square" lIns="0" tIns="0" rIns="0" bIns="0" anchor="t">
            <a:noAutofit/>
          </a:bodyPr>
          <a:lstStyle/>
          <a:p>
            <a:pPr algn="l">
              <a:lnSpc>
                <a:spcPct val="104000"/>
              </a:lnSpc>
              <a:buNone/>
              <a:defRPr sz="1575" b="0" i="0">
                <a:solidFill>
                  <a:srgbClr val="BBBBBB"/>
                </a:solidFill>
                <a:latin typeface="Malgun Gothic"/>
                <a:ea typeface="Malgun Gothic"/>
                <a:cs typeface="Malgun Gothic"/>
              </a:defRPr>
            </a:pPr>
            <a:r>
              <a:rPr sz="1575" b="0" i="0">
                <a:solidFill>
                  <a:srgbClr val="BBBBBB"/>
                </a:solidFill>
                <a:latin typeface="Malgun Gothic"/>
                <a:ea typeface="Malgun Gothic"/>
                <a:cs typeface="Malgun Gothic"/>
              </a:rPr>
              <a:t>큰 문제를 잘게 쪼개어 정복하고, 다시 하나로 합친다</a:t>
            </a:r>
          </a:p>
        </p:txBody>
      </p:sp>
      <p:sp>
        <p:nvSpPr>
          <p:cNvPr id="7" name="직사각형 6">
            <a:extLst>
              <a:ext uri="{FF2B5EF4-FFF2-40B4-BE49-F238E27FC236}">
                <a16:creationId xmlns:a16="http://schemas.microsoft.com/office/drawing/2014/main" id="{E682CE22-A429-4BDB-9EFD-6289BE29CEDC}"/>
              </a:ext>
            </a:extLst>
          </p:cNvPr>
          <p:cNvSpPr>
            <a:spLocks noGrp="1"/>
          </p:cNvSpPr>
          <p:nvPr/>
        </p:nvSpPr>
        <p:spPr>
          <a:xfrm>
            <a:off x="609600" y="6438900"/>
            <a:ext cx="10972800" cy="9525"/>
          </a:xfrm>
          <a:prstGeom prst="rect">
            <a:avLst/>
          </a:prstGeom>
          <a:solidFill>
            <a:srgbClr val="505050"/>
          </a:solidFill>
          <a:ln w="0">
            <a:noFill/>
          </a:ln>
        </p:spPr>
      </p:sp>
      <p:sp>
        <p:nvSpPr>
          <p:cNvPr id="8" name="직사각형 7">
            <a:extLst>
              <a:ext uri="{FF2B5EF4-FFF2-40B4-BE49-F238E27FC236}">
                <a16:creationId xmlns:a16="http://schemas.microsoft.com/office/drawing/2014/main" id="{ECEC9CC7-95E7-43C7-9D75-E0AA3C2CEAAF}"/>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9" name="직사각형 8">
            <a:extLst>
              <a:ext uri="{FF2B5EF4-FFF2-40B4-BE49-F238E27FC236}">
                <a16:creationId xmlns:a16="http://schemas.microsoft.com/office/drawing/2014/main" id="{476704E3-08B1-4EB8-A67B-01C5BF22E98E}"/>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1</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829485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직사각형 40">
            <a:extLst>
              <a:ext uri="{FF2B5EF4-FFF2-40B4-BE49-F238E27FC236}">
                <a16:creationId xmlns:a16="http://schemas.microsoft.com/office/drawing/2014/main" id="{BDBCEF49-BD0F-496D-9A85-37995F2EE8AD}"/>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CHAPTER 04</a:t>
            </a:r>
          </a:p>
        </p:txBody>
      </p:sp>
      <p:sp>
        <p:nvSpPr>
          <p:cNvPr id="2" name="직사각형 1">
            <a:extLst>
              <a:ext uri="{FF2B5EF4-FFF2-40B4-BE49-F238E27FC236}">
                <a16:creationId xmlns:a16="http://schemas.microsoft.com/office/drawing/2014/main" id="{E2A341B3-1A72-4C93-B2E1-14A2F19A4D37}"/>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직사각형 2">
            <a:extLst>
              <a:ext uri="{FF2B5EF4-FFF2-40B4-BE49-F238E27FC236}">
                <a16:creationId xmlns:a16="http://schemas.microsoft.com/office/drawing/2014/main" id="{BCBAFF07-5EBF-43F8-A2E0-2831B58BB4FB}"/>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이번 장에서 배울 내용</a:t>
            </a:r>
          </a:p>
        </p:txBody>
      </p:sp>
      <p:sp>
        <p:nvSpPr>
          <p:cNvPr id="4" name="직사각형 3">
            <a:extLst>
              <a:ext uri="{FF2B5EF4-FFF2-40B4-BE49-F238E27FC236}">
                <a16:creationId xmlns:a16="http://schemas.microsoft.com/office/drawing/2014/main" id="{7B46D186-B386-45D0-8BF2-8C8B8822ED43}"/>
              </a:ext>
            </a:extLst>
          </p:cNvPr>
          <p:cNvSpPr>
            <a:spLocks noGrp="1"/>
          </p:cNvSpPr>
          <p:nvPr/>
        </p:nvSpPr>
        <p:spPr>
          <a:xfrm>
            <a:off x="609600" y="1381125"/>
            <a:ext cx="10972800" cy="19050"/>
          </a:xfrm>
          <a:prstGeom prst="rect">
            <a:avLst/>
          </a:prstGeom>
          <a:solidFill>
            <a:srgbClr val="171717"/>
          </a:solidFill>
          <a:ln w="0">
            <a:noFill/>
          </a:ln>
        </p:spPr>
      </p:sp>
      <p:sp>
        <p:nvSpPr>
          <p:cNvPr id="38" name="직사각형 37">
            <a:extLst>
              <a:ext uri="{FF2B5EF4-FFF2-40B4-BE49-F238E27FC236}">
                <a16:creationId xmlns:a16="http://schemas.microsoft.com/office/drawing/2014/main" id="{9DE3F90A-F584-4C18-AB98-532574AE2E35}"/>
              </a:ext>
            </a:extLst>
          </p:cNvPr>
          <p:cNvSpPr>
            <a:spLocks noGrp="1"/>
          </p:cNvSpPr>
          <p:nvPr/>
        </p:nvSpPr>
        <p:spPr>
          <a:xfrm>
            <a:off x="609600" y="6438900"/>
            <a:ext cx="10972800"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14656CA3-EA7B-486E-9825-0AE3BA3D81E1}"/>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0" name="직사각형 39">
            <a:extLst>
              <a:ext uri="{FF2B5EF4-FFF2-40B4-BE49-F238E27FC236}">
                <a16:creationId xmlns:a16="http://schemas.microsoft.com/office/drawing/2014/main" id="{B5CF2F2C-F158-406B-A424-1FF551437F35}"/>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2</a:t>
            </a:r>
            <a:endParaRPr sz="1050" b="1" i="0">
              <a:solidFill>
                <a:srgbClr val="171717"/>
              </a:solidFill>
              <a:latin typeface="Consolas"/>
              <a:ea typeface="Consolas"/>
              <a:cs typeface="Consolas"/>
            </a:endParaRPr>
          </a:p>
        </p:txBody>
      </p:sp>
      <p:sp>
        <p:nvSpPr>
          <p:cNvPr id="42" name="TextBox 41">
            <a:extLst>
              <a:ext uri="{FF2B5EF4-FFF2-40B4-BE49-F238E27FC236}">
                <a16:creationId xmlns:a16="http://schemas.microsoft.com/office/drawing/2014/main" id="{86690E00-D86F-766A-8277-BE4C235F9C67}"/>
              </a:ext>
            </a:extLst>
          </p:cNvPr>
          <p:cNvSpPr txBox="1"/>
          <p:nvPr/>
        </p:nvSpPr>
        <p:spPr>
          <a:xfrm>
            <a:off x="609600" y="1714500"/>
            <a:ext cx="5207000" cy="369332"/>
          </a:xfrm>
          <a:prstGeom prst="rect">
            <a:avLst/>
          </a:prstGeom>
          <a:noFill/>
        </p:spPr>
        <p:txBody>
          <a:bodyPr vert="horz" rtlCol="0">
            <a:spAutoFit/>
          </a:bodyPr>
          <a:lstStyle/>
          <a:p>
            <a:r>
              <a:rPr lang="en-US" altLang="ko-KR">
                <a:latin typeface="Malgun Gothic" panose="020B0503020000020004" pitchFamily="50" charset="-127"/>
              </a:rPr>
              <a:t>4.1   </a:t>
            </a:r>
            <a:r>
              <a:rPr lang="ko-KR" altLang="en-US">
                <a:latin typeface="Malgun Gothic" panose="020B0503020000020004" pitchFamily="50" charset="-127"/>
              </a:rPr>
              <a:t>분할 정복의 기본</a:t>
            </a:r>
          </a:p>
        </p:txBody>
      </p:sp>
      <p:sp>
        <p:nvSpPr>
          <p:cNvPr id="43" name="TextBox 42">
            <a:extLst>
              <a:ext uri="{FF2B5EF4-FFF2-40B4-BE49-F238E27FC236}">
                <a16:creationId xmlns:a16="http://schemas.microsoft.com/office/drawing/2014/main" id="{8D76C907-144C-845D-9938-8A40651A0818}"/>
              </a:ext>
            </a:extLst>
          </p:cNvPr>
          <p:cNvSpPr txBox="1"/>
          <p:nvPr/>
        </p:nvSpPr>
        <p:spPr>
          <a:xfrm>
            <a:off x="609600" y="2565400"/>
            <a:ext cx="5207000" cy="369332"/>
          </a:xfrm>
          <a:prstGeom prst="rect">
            <a:avLst/>
          </a:prstGeom>
          <a:noFill/>
        </p:spPr>
        <p:txBody>
          <a:bodyPr vert="horz" rtlCol="0">
            <a:spAutoFit/>
          </a:bodyPr>
          <a:lstStyle/>
          <a:p>
            <a:r>
              <a:rPr lang="en-US" altLang="ko-KR">
                <a:latin typeface="Malgun Gothic" panose="020B0503020000020004" pitchFamily="50" charset="-127"/>
              </a:rPr>
              <a:t>4.2   </a:t>
            </a:r>
            <a:r>
              <a:rPr lang="ko-KR" altLang="en-US">
                <a:latin typeface="Malgun Gothic" panose="020B0503020000020004" pitchFamily="50" charset="-127"/>
              </a:rPr>
              <a:t>병합 정렬 </a:t>
            </a:r>
            <a:r>
              <a:rPr lang="en-US" altLang="ko-KR">
                <a:latin typeface="Malgun Gothic" panose="020B0503020000020004" pitchFamily="50" charset="-127"/>
              </a:rPr>
              <a:t>(Merge Sort)</a:t>
            </a:r>
            <a:endParaRPr lang="ko-KR" altLang="en-US">
              <a:latin typeface="Malgun Gothic" panose="020B0503020000020004" pitchFamily="50" charset="-127"/>
            </a:endParaRPr>
          </a:p>
        </p:txBody>
      </p:sp>
      <p:sp>
        <p:nvSpPr>
          <p:cNvPr id="44" name="TextBox 43">
            <a:extLst>
              <a:ext uri="{FF2B5EF4-FFF2-40B4-BE49-F238E27FC236}">
                <a16:creationId xmlns:a16="http://schemas.microsoft.com/office/drawing/2014/main" id="{044EFE4A-4828-C2CE-B5DD-8C37DA08ADEB}"/>
              </a:ext>
            </a:extLst>
          </p:cNvPr>
          <p:cNvSpPr txBox="1"/>
          <p:nvPr/>
        </p:nvSpPr>
        <p:spPr>
          <a:xfrm>
            <a:off x="609600" y="3416300"/>
            <a:ext cx="5207000" cy="369332"/>
          </a:xfrm>
          <a:prstGeom prst="rect">
            <a:avLst/>
          </a:prstGeom>
          <a:noFill/>
        </p:spPr>
        <p:txBody>
          <a:bodyPr vert="horz" rtlCol="0">
            <a:spAutoFit/>
          </a:bodyPr>
          <a:lstStyle/>
          <a:p>
            <a:r>
              <a:rPr lang="en-US" altLang="ko-KR">
                <a:latin typeface="Malgun Gothic" panose="020B0503020000020004" pitchFamily="50" charset="-127"/>
              </a:rPr>
              <a:t>4.3   </a:t>
            </a:r>
            <a:r>
              <a:rPr lang="ko-KR" altLang="en-US">
                <a:latin typeface="Malgun Gothic" panose="020B0503020000020004" pitchFamily="50" charset="-127"/>
              </a:rPr>
              <a:t>퀵 정렬 </a:t>
            </a:r>
            <a:r>
              <a:rPr lang="en-US" altLang="ko-KR">
                <a:latin typeface="Malgun Gothic" panose="020B0503020000020004" pitchFamily="50" charset="-127"/>
              </a:rPr>
              <a:t>(Quick Sort)</a:t>
            </a:r>
            <a:endParaRPr lang="ko-KR" altLang="en-US">
              <a:latin typeface="Malgun Gothic" panose="020B0503020000020004" pitchFamily="50" charset="-127"/>
            </a:endParaRPr>
          </a:p>
        </p:txBody>
      </p:sp>
      <p:sp>
        <p:nvSpPr>
          <p:cNvPr id="45" name="TextBox 44">
            <a:extLst>
              <a:ext uri="{FF2B5EF4-FFF2-40B4-BE49-F238E27FC236}">
                <a16:creationId xmlns:a16="http://schemas.microsoft.com/office/drawing/2014/main" id="{BE4370E7-F519-B19F-0D61-B1E23AB3CE40}"/>
              </a:ext>
            </a:extLst>
          </p:cNvPr>
          <p:cNvSpPr txBox="1"/>
          <p:nvPr/>
        </p:nvSpPr>
        <p:spPr>
          <a:xfrm>
            <a:off x="609600" y="4267200"/>
            <a:ext cx="5207000" cy="369332"/>
          </a:xfrm>
          <a:prstGeom prst="rect">
            <a:avLst/>
          </a:prstGeom>
          <a:noFill/>
        </p:spPr>
        <p:txBody>
          <a:bodyPr vert="horz" rtlCol="0">
            <a:spAutoFit/>
          </a:bodyPr>
          <a:lstStyle/>
          <a:p>
            <a:r>
              <a:rPr lang="en-US" altLang="ko-KR">
                <a:latin typeface="Malgun Gothic" panose="020B0503020000020004" pitchFamily="50" charset="-127"/>
              </a:rPr>
              <a:t>4.4   </a:t>
            </a:r>
            <a:r>
              <a:rPr lang="ko-KR" altLang="en-US">
                <a:latin typeface="Malgun Gothic" panose="020B0503020000020004" pitchFamily="50" charset="-127"/>
              </a:rPr>
              <a:t>최대 구간 합</a:t>
            </a:r>
          </a:p>
        </p:txBody>
      </p:sp>
      <p:sp>
        <p:nvSpPr>
          <p:cNvPr id="46" name="TextBox 45">
            <a:extLst>
              <a:ext uri="{FF2B5EF4-FFF2-40B4-BE49-F238E27FC236}">
                <a16:creationId xmlns:a16="http://schemas.microsoft.com/office/drawing/2014/main" id="{A68C3D7E-0A8A-2A81-0CD6-B00FF61928C2}"/>
              </a:ext>
            </a:extLst>
          </p:cNvPr>
          <p:cNvSpPr txBox="1"/>
          <p:nvPr/>
        </p:nvSpPr>
        <p:spPr>
          <a:xfrm>
            <a:off x="609600" y="5118100"/>
            <a:ext cx="5207000" cy="369332"/>
          </a:xfrm>
          <a:prstGeom prst="rect">
            <a:avLst/>
          </a:prstGeom>
          <a:noFill/>
        </p:spPr>
        <p:txBody>
          <a:bodyPr vert="horz" rtlCol="0">
            <a:spAutoFit/>
          </a:bodyPr>
          <a:lstStyle/>
          <a:p>
            <a:r>
              <a:rPr lang="en-US" altLang="ko-KR">
                <a:latin typeface="Malgun Gothic" panose="020B0503020000020004" pitchFamily="50" charset="-127"/>
              </a:rPr>
              <a:t>4.5   </a:t>
            </a:r>
            <a:r>
              <a:rPr lang="ko-KR" altLang="en-US">
                <a:latin typeface="Malgun Gothic" panose="020B0503020000020004" pitchFamily="50" charset="-127"/>
              </a:rPr>
              <a:t>최근접 쌍</a:t>
            </a:r>
          </a:p>
        </p:txBody>
      </p:sp>
      <p:sp>
        <p:nvSpPr>
          <p:cNvPr id="47" name="TextBox 46">
            <a:extLst>
              <a:ext uri="{FF2B5EF4-FFF2-40B4-BE49-F238E27FC236}">
                <a16:creationId xmlns:a16="http://schemas.microsoft.com/office/drawing/2014/main" id="{996BB1C0-F25E-2786-E638-06E78D951611}"/>
              </a:ext>
            </a:extLst>
          </p:cNvPr>
          <p:cNvSpPr txBox="1"/>
          <p:nvPr/>
        </p:nvSpPr>
        <p:spPr>
          <a:xfrm>
            <a:off x="6248400" y="1714500"/>
            <a:ext cx="5207000" cy="369332"/>
          </a:xfrm>
          <a:prstGeom prst="rect">
            <a:avLst/>
          </a:prstGeom>
          <a:noFill/>
        </p:spPr>
        <p:txBody>
          <a:bodyPr vert="horz" rtlCol="0">
            <a:spAutoFit/>
          </a:bodyPr>
          <a:lstStyle/>
          <a:p>
            <a:r>
              <a:rPr lang="en-US" altLang="ko-KR">
                <a:latin typeface="Malgun Gothic" panose="020B0503020000020004" pitchFamily="50" charset="-127"/>
              </a:rPr>
              <a:t>4.6   </a:t>
            </a:r>
            <a:r>
              <a:rPr lang="ko-KR" altLang="en-US">
                <a:latin typeface="Malgun Gothic" panose="020B0503020000020004" pitchFamily="50" charset="-127"/>
              </a:rPr>
              <a:t>쿼드 트리</a:t>
            </a:r>
          </a:p>
        </p:txBody>
      </p:sp>
      <p:sp>
        <p:nvSpPr>
          <p:cNvPr id="48" name="TextBox 47">
            <a:extLst>
              <a:ext uri="{FF2B5EF4-FFF2-40B4-BE49-F238E27FC236}">
                <a16:creationId xmlns:a16="http://schemas.microsoft.com/office/drawing/2014/main" id="{DEEB98D6-A10F-2E95-9830-013A8B4E8DED}"/>
              </a:ext>
            </a:extLst>
          </p:cNvPr>
          <p:cNvSpPr txBox="1"/>
          <p:nvPr/>
        </p:nvSpPr>
        <p:spPr>
          <a:xfrm>
            <a:off x="6248400" y="2565400"/>
            <a:ext cx="5207000" cy="369332"/>
          </a:xfrm>
          <a:prstGeom prst="rect">
            <a:avLst/>
          </a:prstGeom>
          <a:noFill/>
        </p:spPr>
        <p:txBody>
          <a:bodyPr vert="horz" rtlCol="0">
            <a:spAutoFit/>
          </a:bodyPr>
          <a:lstStyle/>
          <a:p>
            <a:r>
              <a:rPr lang="en-US" altLang="ko-KR">
                <a:latin typeface="Malgun Gothic" panose="020B0503020000020004" pitchFamily="50" charset="-127"/>
              </a:rPr>
              <a:t>4.7   </a:t>
            </a:r>
            <a:r>
              <a:rPr lang="ko-KR" altLang="en-US">
                <a:latin typeface="Malgun Gothic" panose="020B0503020000020004" pitchFamily="50" charset="-127"/>
              </a:rPr>
              <a:t>마스터 정리</a:t>
            </a:r>
          </a:p>
        </p:txBody>
      </p:sp>
      <p:sp>
        <p:nvSpPr>
          <p:cNvPr id="49" name="TextBox 48">
            <a:extLst>
              <a:ext uri="{FF2B5EF4-FFF2-40B4-BE49-F238E27FC236}">
                <a16:creationId xmlns:a16="http://schemas.microsoft.com/office/drawing/2014/main" id="{8F4A288D-50AD-C1D3-2AF3-91AD50C95D8F}"/>
              </a:ext>
            </a:extLst>
          </p:cNvPr>
          <p:cNvSpPr txBox="1"/>
          <p:nvPr/>
        </p:nvSpPr>
        <p:spPr>
          <a:xfrm>
            <a:off x="6248400" y="3416300"/>
            <a:ext cx="5207000" cy="369332"/>
          </a:xfrm>
          <a:prstGeom prst="rect">
            <a:avLst/>
          </a:prstGeom>
          <a:noFill/>
        </p:spPr>
        <p:txBody>
          <a:bodyPr vert="horz" rtlCol="0">
            <a:spAutoFit/>
          </a:bodyPr>
          <a:lstStyle/>
          <a:p>
            <a:r>
              <a:rPr lang="en-US" altLang="ko-KR">
                <a:latin typeface="Malgun Gothic" panose="020B0503020000020004" pitchFamily="50" charset="-127"/>
              </a:rPr>
              <a:t>4.8   </a:t>
            </a:r>
            <a:r>
              <a:rPr lang="ko-KR" altLang="en-US">
                <a:latin typeface="Malgun Gothic" panose="020B0503020000020004" pitchFamily="50" charset="-127"/>
              </a:rPr>
              <a:t>카라츠바 알고리즘</a:t>
            </a:r>
          </a:p>
        </p:txBody>
      </p:sp>
      <p:sp>
        <p:nvSpPr>
          <p:cNvPr id="50" name="TextBox 49">
            <a:extLst>
              <a:ext uri="{FF2B5EF4-FFF2-40B4-BE49-F238E27FC236}">
                <a16:creationId xmlns:a16="http://schemas.microsoft.com/office/drawing/2014/main" id="{4DB78F2C-1E56-3087-5966-316E0C05D2D1}"/>
              </a:ext>
            </a:extLst>
          </p:cNvPr>
          <p:cNvSpPr txBox="1"/>
          <p:nvPr/>
        </p:nvSpPr>
        <p:spPr>
          <a:xfrm>
            <a:off x="6248400" y="4267200"/>
            <a:ext cx="5207000" cy="369332"/>
          </a:xfrm>
          <a:prstGeom prst="rect">
            <a:avLst/>
          </a:prstGeom>
          <a:noFill/>
        </p:spPr>
        <p:txBody>
          <a:bodyPr vert="horz" rtlCol="0">
            <a:spAutoFit/>
          </a:bodyPr>
          <a:lstStyle/>
          <a:p>
            <a:r>
              <a:rPr lang="en-US" altLang="ko-KR">
                <a:latin typeface="Malgun Gothic" panose="020B0503020000020004" pitchFamily="50" charset="-127"/>
              </a:rPr>
              <a:t>4.9   </a:t>
            </a:r>
            <a:r>
              <a:rPr lang="ko-KR" altLang="en-US">
                <a:latin typeface="Malgun Gothic" panose="020B0503020000020004" pitchFamily="50" charset="-127"/>
              </a:rPr>
              <a:t>스트라센 알고리즘</a:t>
            </a:r>
          </a:p>
        </p:txBody>
      </p:sp>
      <p:sp>
        <p:nvSpPr>
          <p:cNvPr id="51" name="TextBox 50">
            <a:extLst>
              <a:ext uri="{FF2B5EF4-FFF2-40B4-BE49-F238E27FC236}">
                <a16:creationId xmlns:a16="http://schemas.microsoft.com/office/drawing/2014/main" id="{A1F418B5-1302-921C-E1D9-1D38247C053E}"/>
              </a:ext>
            </a:extLst>
          </p:cNvPr>
          <p:cNvSpPr txBox="1"/>
          <p:nvPr/>
        </p:nvSpPr>
        <p:spPr>
          <a:xfrm>
            <a:off x="6248400" y="5118100"/>
            <a:ext cx="5207000" cy="369332"/>
          </a:xfrm>
          <a:prstGeom prst="rect">
            <a:avLst/>
          </a:prstGeom>
          <a:noFill/>
        </p:spPr>
        <p:txBody>
          <a:bodyPr vert="horz" rtlCol="0">
            <a:spAutoFit/>
          </a:bodyPr>
          <a:lstStyle/>
          <a:p>
            <a:r>
              <a:rPr lang="en-US" altLang="ko-KR">
                <a:latin typeface="Malgun Gothic" panose="020B0503020000020004" pitchFamily="50" charset="-127"/>
              </a:rPr>
              <a:t>4.10   </a:t>
            </a:r>
            <a:r>
              <a:rPr lang="ko-KR" altLang="en-US">
                <a:latin typeface="Malgun Gothic" panose="020B0503020000020004" pitchFamily="50" charset="-127"/>
              </a:rPr>
              <a:t>코딩 테스트 예제</a:t>
            </a:r>
          </a:p>
        </p:txBody>
      </p:sp>
    </p:spTree>
    <p:extLst>
      <p:ext uri="{BB962C8B-B14F-4D97-AF65-F5344CB8AC3E}">
        <p14:creationId xmlns:p14="http://schemas.microsoft.com/office/powerpoint/2010/main" val="67800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7DF0E395-95B6-4586-AEB7-A0D92747FBDC}"/>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5563D437-84B4-40E1-BBA2-B355A534B9A4}"/>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sz="7050" b="1" i="0">
                <a:solidFill>
                  <a:srgbClr val="474747"/>
                </a:solidFill>
                <a:latin typeface="Consolas"/>
                <a:ea typeface="Consolas"/>
                <a:cs typeface="Consolas"/>
              </a:rPr>
              <a:t>4.1</a:t>
            </a:r>
          </a:p>
        </p:txBody>
      </p:sp>
      <p:sp>
        <p:nvSpPr>
          <p:cNvPr id="3" name="직사각형 2">
            <a:extLst>
              <a:ext uri="{FF2B5EF4-FFF2-40B4-BE49-F238E27FC236}">
                <a16:creationId xmlns:a16="http://schemas.microsoft.com/office/drawing/2014/main" id="{A95F8981-62CE-4919-ABA0-A33AFAAB80B5}"/>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C4CDA3C8-FB7B-411E-AC3C-C5BA5D309CE7}"/>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분할 정복이란?</a:t>
            </a:r>
          </a:p>
        </p:txBody>
      </p:sp>
      <p:sp>
        <p:nvSpPr>
          <p:cNvPr id="5" name="직사각형 4">
            <a:extLst>
              <a:ext uri="{FF2B5EF4-FFF2-40B4-BE49-F238E27FC236}">
                <a16:creationId xmlns:a16="http://schemas.microsoft.com/office/drawing/2014/main" id="{E5B1E419-F6FA-42D7-9A95-D3B2DA7EB90C}"/>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"나누어라, 그리고 정복하라"</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큰 문제를 작은 문제로 쪼개어 해결하는 알고리즘 설계 전략</a:t>
            </a:r>
          </a:p>
        </p:txBody>
      </p:sp>
      <p:sp>
        <p:nvSpPr>
          <p:cNvPr id="6" name="직사각형 5">
            <a:extLst>
              <a:ext uri="{FF2B5EF4-FFF2-40B4-BE49-F238E27FC236}">
                <a16:creationId xmlns:a16="http://schemas.microsoft.com/office/drawing/2014/main" id="{45A6DBB3-7C4C-4B2C-9425-FCEFBA898A58}"/>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5D458BE9-67E7-4BBD-9681-85119F9C246A}"/>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9ABAA632-D5DC-493D-B15B-2FBA24766A76}"/>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3</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1098793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94EF7D87-ED1F-4144-818A-68EA49A8520C}"/>
              </a:ext>
            </a:extLst>
          </p:cNvPr>
          <p:cNvSpPr>
            <a:spLocks noGrp="1"/>
          </p:cNvSpPr>
          <p:nvPr/>
        </p:nvSpPr>
        <p:spPr>
          <a:xfrm>
            <a:off x="658368" y="1737360"/>
            <a:ext cx="4892040" cy="173736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큰 문제를 같은 유형의 작은 문제 여러 개로 나누어 각각 해결합니다. 작은 문제의 답을 결합해 원래 문제의 답을 만듭니다.</a:t>
            </a:r>
            <a:endParaRPr sz="1350"/>
          </a:p>
        </p:txBody>
      </p:sp>
      <p:sp>
        <p:nvSpPr>
          <p:cNvPr id="10" name="Text 6">
            <a:extLst>
              <a:ext uri="{FF2B5EF4-FFF2-40B4-BE49-F238E27FC236}">
                <a16:creationId xmlns:a16="http://schemas.microsoft.com/office/drawing/2014/main" id="{C4359194-5F87-42F4-9BAB-8454BAEE14C2}"/>
              </a:ext>
            </a:extLst>
          </p:cNvPr>
          <p:cNvSpPr>
            <a:spLocks noGrp="1"/>
          </p:cNvSpPr>
          <p:nvPr/>
        </p:nvSpPr>
        <p:spPr>
          <a:xfrm>
            <a:off x="1517904" y="3749040"/>
            <a:ext cx="3776472" cy="969264"/>
          </a:xfrm>
          <a:prstGeom prst="rect">
            <a:avLst/>
          </a:prstGeom>
          <a:noFill/>
          <a:ln w="0">
            <a:noFill/>
          </a:ln>
        </p:spPr>
        <p:txBody>
          <a:bodyPr wrap="square" lIns="0" tIns="0" rIns="0" bIns="0" anchor="ctr">
            <a:noAutofit/>
          </a:bodyPr>
          <a:lstStyle/>
          <a:p>
            <a:pPr marL="0" indent="0" algn="l">
              <a:lnSpc>
                <a:spcPct val="13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분할, 정복, 결합의 구조를 재귀적으로 적용합니다.</a:t>
            </a:r>
            <a:endParaRPr sz="1320"/>
          </a:p>
        </p:txBody>
      </p:sp>
      <p:sp>
        <p:nvSpPr>
          <p:cNvPr id="12" name="Text 8">
            <a:extLst>
              <a:ext uri="{FF2B5EF4-FFF2-40B4-BE49-F238E27FC236}">
                <a16:creationId xmlns:a16="http://schemas.microsoft.com/office/drawing/2014/main" id="{D69B7336-3C64-42FB-8D11-B5078E72F6D9}"/>
              </a:ext>
            </a:extLst>
          </p:cNvPr>
          <p:cNvSpPr>
            <a:spLocks noGrp="1"/>
          </p:cNvSpPr>
          <p:nvPr/>
        </p:nvSpPr>
        <p:spPr>
          <a:xfrm>
            <a:off x="795528" y="5120640"/>
            <a:ext cx="4617720" cy="566928"/>
          </a:xfrm>
          <a:prstGeom prst="rect">
            <a:avLst/>
          </a:prstGeom>
          <a:noFill/>
          <a:ln w="0">
            <a:noFill/>
          </a:ln>
        </p:spPr>
        <p:txBody>
          <a:bodyPr wrap="square" lIns="0" tIns="0" rIns="0" bIns="0" anchor="ctr">
            <a:noAutofit/>
          </a:bodyPr>
          <a:lstStyle/>
          <a:p>
            <a:pPr marL="0" indent="0" algn="ctr">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Divide   →   Conquer   →   Combine</a:t>
            </a:r>
            <a:endParaRPr sz="1500"/>
          </a:p>
        </p:txBody>
      </p:sp>
      <p:sp>
        <p:nvSpPr>
          <p:cNvPr id="19" name="직사각형 18">
            <a:extLst>
              <a:ext uri="{FF2B5EF4-FFF2-40B4-BE49-F238E27FC236}">
                <a16:creationId xmlns:a16="http://schemas.microsoft.com/office/drawing/2014/main" id="{E093F9EE-C2BC-456E-BA27-AF52DEDBC42F}"/>
              </a:ext>
            </a:extLst>
          </p:cNvPr>
          <p:cNvSpPr>
            <a:spLocks noGrp="1"/>
          </p:cNvSpPr>
          <p:nvPr/>
        </p:nvSpPr>
        <p:spPr>
          <a:xfrm>
            <a:off x="6035040" y="1737360"/>
            <a:ext cx="5495544" cy="9525"/>
          </a:xfrm>
          <a:prstGeom prst="rect">
            <a:avLst/>
          </a:prstGeom>
          <a:solidFill>
            <a:srgbClr val="D4D4D4"/>
          </a:solidFill>
          <a:ln w="0">
            <a:noFill/>
          </a:ln>
        </p:spPr>
      </p:sp>
      <p:sp>
        <p:nvSpPr>
          <p:cNvPr id="20" name="직사각형 19">
            <a:extLst>
              <a:ext uri="{FF2B5EF4-FFF2-40B4-BE49-F238E27FC236}">
                <a16:creationId xmlns:a16="http://schemas.microsoft.com/office/drawing/2014/main" id="{D1A8E724-043C-4454-9C09-8D5E7BD75A82}"/>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4.1  분할 정복이란?</a:t>
            </a:r>
          </a:p>
        </p:txBody>
      </p:sp>
      <p:sp>
        <p:nvSpPr>
          <p:cNvPr id="21" name="직사각형 20">
            <a:extLst>
              <a:ext uri="{FF2B5EF4-FFF2-40B4-BE49-F238E27FC236}">
                <a16:creationId xmlns:a16="http://schemas.microsoft.com/office/drawing/2014/main" id="{A5EEA710-3F80-4AD9-ACE6-9F84D2288B1A}"/>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22" name="직사각형 21">
            <a:extLst>
              <a:ext uri="{FF2B5EF4-FFF2-40B4-BE49-F238E27FC236}">
                <a16:creationId xmlns:a16="http://schemas.microsoft.com/office/drawing/2014/main" id="{8EC4DA45-5E6E-485F-835E-6A60666D6B77}"/>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나누어라, 그리고 정복하라</a:t>
            </a:r>
          </a:p>
        </p:txBody>
      </p:sp>
      <p:sp>
        <p:nvSpPr>
          <p:cNvPr id="23" name="직사각형 22">
            <a:extLst>
              <a:ext uri="{FF2B5EF4-FFF2-40B4-BE49-F238E27FC236}">
                <a16:creationId xmlns:a16="http://schemas.microsoft.com/office/drawing/2014/main" id="{25349CF6-87F7-4D4D-BC3B-671FE7BDBFCC}"/>
              </a:ext>
            </a:extLst>
          </p:cNvPr>
          <p:cNvSpPr>
            <a:spLocks noGrp="1"/>
          </p:cNvSpPr>
          <p:nvPr/>
        </p:nvSpPr>
        <p:spPr>
          <a:xfrm>
            <a:off x="609600" y="1381125"/>
            <a:ext cx="10972800" cy="19050"/>
          </a:xfrm>
          <a:prstGeom prst="rect">
            <a:avLst/>
          </a:prstGeom>
          <a:solidFill>
            <a:srgbClr val="171717"/>
          </a:solidFill>
          <a:ln w="0">
            <a:noFill/>
          </a:ln>
        </p:spPr>
      </p:sp>
      <p:sp>
        <p:nvSpPr>
          <p:cNvPr id="24" name="직사각형 23">
            <a:extLst>
              <a:ext uri="{FF2B5EF4-FFF2-40B4-BE49-F238E27FC236}">
                <a16:creationId xmlns:a16="http://schemas.microsoft.com/office/drawing/2014/main" id="{538829DD-7395-4E35-B1B6-84E36E5A42CC}"/>
              </a:ext>
            </a:extLst>
          </p:cNvPr>
          <p:cNvSpPr>
            <a:spLocks noGrp="1"/>
          </p:cNvSpPr>
          <p:nvPr/>
        </p:nvSpPr>
        <p:spPr>
          <a:xfrm>
            <a:off x="609600" y="6438900"/>
            <a:ext cx="10972800" cy="9525"/>
          </a:xfrm>
          <a:prstGeom prst="rect">
            <a:avLst/>
          </a:prstGeom>
          <a:solidFill>
            <a:srgbClr val="D4D4D4"/>
          </a:solidFill>
          <a:ln w="0">
            <a:noFill/>
          </a:ln>
        </p:spPr>
      </p:sp>
      <p:sp>
        <p:nvSpPr>
          <p:cNvPr id="25" name="직사각형 24">
            <a:extLst>
              <a:ext uri="{FF2B5EF4-FFF2-40B4-BE49-F238E27FC236}">
                <a16:creationId xmlns:a16="http://schemas.microsoft.com/office/drawing/2014/main" id="{51B072B2-B9CF-4BE7-BAB8-5629E1DB8EFE}"/>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26" name="직사각형 25">
            <a:extLst>
              <a:ext uri="{FF2B5EF4-FFF2-40B4-BE49-F238E27FC236}">
                <a16:creationId xmlns:a16="http://schemas.microsoft.com/office/drawing/2014/main" id="{E67D33F0-B39F-4195-8514-10988E93A622}"/>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4</a:t>
            </a:r>
            <a:endParaRPr sz="1050" b="1" i="0">
              <a:solidFill>
                <a:srgbClr val="171717"/>
              </a:solidFill>
              <a:latin typeface="Consolas"/>
              <a:ea typeface="Consolas"/>
              <a:cs typeface="Consolas"/>
            </a:endParaRPr>
          </a:p>
        </p:txBody>
      </p:sp>
      <p:pic>
        <p:nvPicPr>
          <p:cNvPr id="39" name="그림 38"/>
          <p:cNvPicPr>
            <a:picLocks noChangeAspect="1"/>
          </p:cNvPicPr>
          <p:nvPr/>
        </p:nvPicPr>
        <p:blipFill>
          <a:blip r:embed="rId3"/>
          <a:stretch/>
        </p:blipFill>
        <p:spPr>
          <a:xfrm>
            <a:off x="5949950" y="2310098"/>
            <a:ext cx="5433557" cy="2929922"/>
          </a:xfrm>
          <a:prstGeom prst="rect">
            <a:avLst/>
          </a:prstGeom>
        </p:spPr>
      </p:pic>
    </p:spTree>
    <p:extLst>
      <p:ext uri="{BB962C8B-B14F-4D97-AF65-F5344CB8AC3E}">
        <p14:creationId xmlns:p14="http://schemas.microsoft.com/office/powerpoint/2010/main" val="799755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C3AF4292-DB5F-4394-B1B7-6C8E27FE8C64}"/>
              </a:ext>
            </a:extLst>
          </p:cNvPr>
          <p:cNvSpPr>
            <a:spLocks noGrp="1"/>
          </p:cNvSpPr>
          <p:nvPr/>
        </p:nvSpPr>
        <p:spPr>
          <a:xfrm>
            <a:off x="658368" y="1645920"/>
            <a:ext cx="10872216" cy="310896"/>
          </a:xfrm>
          <a:prstGeom prst="rect">
            <a:avLst/>
          </a:prstGeom>
          <a:noFill/>
          <a:ln w="0">
            <a:noFill/>
          </a:ln>
        </p:spPr>
        <p:txBody>
          <a:bodyPr wrap="square" lIns="0" tIns="0" rIns="0" bIns="0" anchor="t">
            <a:noAutofit/>
          </a:bodyPr>
          <a:lstStyle/>
          <a:p>
            <a:pPr marL="0" indent="0" algn="l">
              <a:lnSpc>
                <a:spcPct val="142000"/>
              </a:lnSpc>
              <a:buNone/>
              <a:defRPr sz="1300" i="0">
                <a:solidFill>
                  <a:srgbClr val="171717"/>
                </a:solidFill>
                <a:latin typeface="Malgun Gothic"/>
                <a:ea typeface="Malgun Gothic"/>
                <a:cs typeface="Malgun Gothic"/>
              </a:defRPr>
            </a:pPr>
            <a:r>
              <a:rPr sz="1300" i="0">
                <a:solidFill>
                  <a:srgbClr val="171717"/>
                </a:solidFill>
                <a:latin typeface="Malgun Gothic"/>
                <a:ea typeface="Malgun Gothic"/>
                <a:cs typeface="Malgun Gothic"/>
              </a:rPr>
              <a:t>1,000페이지짜리 책을 혼자 요약하려면 막막하다. 하지만 친구 10명이 있다면 이야기가 달라진다.</a:t>
            </a:r>
            <a:endParaRPr sz="1300"/>
          </a:p>
        </p:txBody>
      </p:sp>
      <p:sp>
        <p:nvSpPr>
          <p:cNvPr id="12" name="Text 7">
            <a:extLst>
              <a:ext uri="{FF2B5EF4-FFF2-40B4-BE49-F238E27FC236}">
                <a16:creationId xmlns:a16="http://schemas.microsoft.com/office/drawing/2014/main" id="{B12364D9-4834-4A68-B48E-65EA6A4089CC}"/>
              </a:ext>
            </a:extLst>
          </p:cNvPr>
          <p:cNvSpPr>
            <a:spLocks noGrp="1"/>
          </p:cNvSpPr>
          <p:nvPr/>
        </p:nvSpPr>
        <p:spPr>
          <a:xfrm>
            <a:off x="7132320" y="2157984"/>
            <a:ext cx="4206240" cy="256032"/>
          </a:xfrm>
          <a:prstGeom prst="rect">
            <a:avLst/>
          </a:prstGeom>
          <a:noFill/>
          <a:ln w="0">
            <a:noFill/>
          </a:ln>
        </p:spPr>
        <p:txBody>
          <a:bodyPr wrap="square" lIns="0" tIns="0" rIns="0" bIns="0" anchor="ctr">
            <a:noAutofit/>
          </a:bodyPr>
          <a:lstStyle/>
          <a:p>
            <a:pPr marL="0" indent="0" algn="l">
              <a:buNone/>
              <a:defRPr sz="1280" i="0">
                <a:solidFill>
                  <a:srgbClr val="171717"/>
                </a:solidFill>
                <a:latin typeface="Malgun Gothic"/>
                <a:ea typeface="Malgun Gothic"/>
                <a:cs typeface="Malgun Gothic"/>
              </a:defRPr>
            </a:pPr>
            <a:r>
              <a:rPr sz="1280" b="1" i="0">
                <a:solidFill>
                  <a:srgbClr val="171717"/>
                </a:solidFill>
                <a:latin typeface="Malgun Gothic"/>
                <a:ea typeface="Malgun Gothic"/>
                <a:cs typeface="Malgun Gothic"/>
              </a:rPr>
              <a:t>나누기 (divide)</a:t>
            </a:r>
            <a:endParaRPr sz="1280"/>
          </a:p>
        </p:txBody>
      </p:sp>
      <p:sp>
        <p:nvSpPr>
          <p:cNvPr id="13" name="Text 8">
            <a:extLst>
              <a:ext uri="{FF2B5EF4-FFF2-40B4-BE49-F238E27FC236}">
                <a16:creationId xmlns:a16="http://schemas.microsoft.com/office/drawing/2014/main" id="{1561AB69-D387-4CF9-90C1-2327ACA0AF9A}"/>
              </a:ext>
            </a:extLst>
          </p:cNvPr>
          <p:cNvSpPr>
            <a:spLocks noGrp="1"/>
          </p:cNvSpPr>
          <p:nvPr/>
        </p:nvSpPr>
        <p:spPr>
          <a:xfrm>
            <a:off x="7132320" y="2432304"/>
            <a:ext cx="4206240" cy="384048"/>
          </a:xfrm>
          <a:prstGeom prst="rect">
            <a:avLst/>
          </a:prstGeom>
          <a:noFill/>
          <a:ln w="0">
            <a:noFill/>
          </a:ln>
        </p:spPr>
        <p:txBody>
          <a:bodyPr wrap="square" lIns="0" tIns="0" rIns="0" bIns="0" anchor="t">
            <a:noAutofit/>
          </a:bodyPr>
          <a:lstStyle/>
          <a:p>
            <a:pPr marL="0" indent="0" algn="l">
              <a:lnSpc>
                <a:spcPct val="116000"/>
              </a:lnSpc>
              <a:buNone/>
              <a:defRPr sz="1060" i="0">
                <a:solidFill>
                  <a:srgbClr val="171717"/>
                </a:solidFill>
                <a:latin typeface="Malgun Gothic"/>
                <a:ea typeface="Malgun Gothic"/>
                <a:cs typeface="Malgun Gothic"/>
              </a:defRPr>
            </a:pPr>
            <a:r>
              <a:rPr sz="1060" i="0">
                <a:solidFill>
                  <a:srgbClr val="171717"/>
                </a:solidFill>
                <a:latin typeface="Malgun Gothic"/>
                <a:ea typeface="Malgun Gothic"/>
                <a:cs typeface="Malgun Gothic"/>
              </a:rPr>
              <a:t>책을 100페이지씩 10등분하여 친구 10명에게 한 부분씩 나눠준다.</a:t>
            </a:r>
            <a:endParaRPr sz="1060"/>
          </a:p>
        </p:txBody>
      </p:sp>
      <p:sp>
        <p:nvSpPr>
          <p:cNvPr id="17" name="Text 11">
            <a:extLst>
              <a:ext uri="{FF2B5EF4-FFF2-40B4-BE49-F238E27FC236}">
                <a16:creationId xmlns:a16="http://schemas.microsoft.com/office/drawing/2014/main" id="{F865DA8F-DEEC-4030-91F3-9A97CBAD0C2D}"/>
              </a:ext>
            </a:extLst>
          </p:cNvPr>
          <p:cNvSpPr>
            <a:spLocks noGrp="1"/>
          </p:cNvSpPr>
          <p:nvPr/>
        </p:nvSpPr>
        <p:spPr>
          <a:xfrm>
            <a:off x="7132320" y="3090672"/>
            <a:ext cx="4206240" cy="256032"/>
          </a:xfrm>
          <a:prstGeom prst="rect">
            <a:avLst/>
          </a:prstGeom>
          <a:noFill/>
          <a:ln w="0">
            <a:noFill/>
          </a:ln>
        </p:spPr>
        <p:txBody>
          <a:bodyPr wrap="square" lIns="0" tIns="0" rIns="0" bIns="0" anchor="ctr">
            <a:noAutofit/>
          </a:bodyPr>
          <a:lstStyle/>
          <a:p>
            <a:pPr marL="0" indent="0" algn="l">
              <a:buNone/>
              <a:defRPr sz="1280" i="0">
                <a:solidFill>
                  <a:srgbClr val="171717"/>
                </a:solidFill>
                <a:latin typeface="Malgun Gothic"/>
                <a:ea typeface="Malgun Gothic"/>
                <a:cs typeface="Malgun Gothic"/>
              </a:defRPr>
            </a:pPr>
            <a:r>
              <a:rPr sz="1280" b="1" i="0">
                <a:solidFill>
                  <a:srgbClr val="171717"/>
                </a:solidFill>
                <a:latin typeface="Malgun Gothic"/>
                <a:ea typeface="Malgun Gothic"/>
                <a:cs typeface="Malgun Gothic"/>
              </a:rPr>
              <a:t>해결하기 (conquer)</a:t>
            </a:r>
            <a:endParaRPr sz="1280"/>
          </a:p>
        </p:txBody>
      </p:sp>
      <p:sp>
        <p:nvSpPr>
          <p:cNvPr id="18" name="Text 12">
            <a:extLst>
              <a:ext uri="{FF2B5EF4-FFF2-40B4-BE49-F238E27FC236}">
                <a16:creationId xmlns:a16="http://schemas.microsoft.com/office/drawing/2014/main" id="{1A66928C-6C79-46ED-AB53-EEA4A48273D0}"/>
              </a:ext>
            </a:extLst>
          </p:cNvPr>
          <p:cNvSpPr>
            <a:spLocks noGrp="1"/>
          </p:cNvSpPr>
          <p:nvPr/>
        </p:nvSpPr>
        <p:spPr>
          <a:xfrm>
            <a:off x="7132320" y="3364992"/>
            <a:ext cx="4206240" cy="384048"/>
          </a:xfrm>
          <a:prstGeom prst="rect">
            <a:avLst/>
          </a:prstGeom>
          <a:noFill/>
          <a:ln w="0">
            <a:noFill/>
          </a:ln>
        </p:spPr>
        <p:txBody>
          <a:bodyPr wrap="square" lIns="0" tIns="0" rIns="0" bIns="0" anchor="t">
            <a:noAutofit/>
          </a:bodyPr>
          <a:lstStyle/>
          <a:p>
            <a:pPr marL="0" indent="0" algn="l">
              <a:lnSpc>
                <a:spcPct val="116000"/>
              </a:lnSpc>
              <a:buNone/>
              <a:defRPr sz="1060" i="0">
                <a:solidFill>
                  <a:srgbClr val="171717"/>
                </a:solidFill>
                <a:latin typeface="Malgun Gothic"/>
                <a:ea typeface="Malgun Gothic"/>
                <a:cs typeface="Malgun Gothic"/>
              </a:defRPr>
            </a:pPr>
            <a:r>
              <a:rPr sz="1060" i="0">
                <a:solidFill>
                  <a:srgbClr val="171717"/>
                </a:solidFill>
                <a:latin typeface="Malgun Gothic"/>
                <a:ea typeface="Malgun Gothic"/>
                <a:cs typeface="Malgun Gothic"/>
              </a:rPr>
              <a:t>각 친구는 맡은 100페이지만 읽고 요약한다. 1,000페이지는 불가능해도 100페이지는 금방이다.</a:t>
            </a:r>
            <a:endParaRPr sz="1060"/>
          </a:p>
        </p:txBody>
      </p:sp>
      <p:sp>
        <p:nvSpPr>
          <p:cNvPr id="22" name="Text 15">
            <a:extLst>
              <a:ext uri="{FF2B5EF4-FFF2-40B4-BE49-F238E27FC236}">
                <a16:creationId xmlns:a16="http://schemas.microsoft.com/office/drawing/2014/main" id="{4C2975E0-85EF-42FD-ADB4-05CF8E4AA7EA}"/>
              </a:ext>
            </a:extLst>
          </p:cNvPr>
          <p:cNvSpPr>
            <a:spLocks noGrp="1"/>
          </p:cNvSpPr>
          <p:nvPr/>
        </p:nvSpPr>
        <p:spPr>
          <a:xfrm>
            <a:off x="7132320" y="4023360"/>
            <a:ext cx="4206240" cy="256032"/>
          </a:xfrm>
          <a:prstGeom prst="rect">
            <a:avLst/>
          </a:prstGeom>
          <a:noFill/>
          <a:ln w="0">
            <a:noFill/>
          </a:ln>
        </p:spPr>
        <p:txBody>
          <a:bodyPr wrap="square" lIns="0" tIns="0" rIns="0" bIns="0" anchor="ctr">
            <a:noAutofit/>
          </a:bodyPr>
          <a:lstStyle/>
          <a:p>
            <a:pPr marL="0" indent="0" algn="l">
              <a:buNone/>
              <a:defRPr sz="1280" i="0">
                <a:solidFill>
                  <a:srgbClr val="171717"/>
                </a:solidFill>
                <a:latin typeface="Malgun Gothic"/>
                <a:ea typeface="Malgun Gothic"/>
                <a:cs typeface="Malgun Gothic"/>
              </a:defRPr>
            </a:pPr>
            <a:r>
              <a:rPr sz="1280" b="1" i="0">
                <a:solidFill>
                  <a:srgbClr val="171717"/>
                </a:solidFill>
                <a:latin typeface="Malgun Gothic"/>
                <a:ea typeface="Malgun Gothic"/>
                <a:cs typeface="Malgun Gothic"/>
              </a:rPr>
              <a:t>합치기 (combine)</a:t>
            </a:r>
            <a:endParaRPr sz="1280"/>
          </a:p>
        </p:txBody>
      </p:sp>
      <p:sp>
        <p:nvSpPr>
          <p:cNvPr id="23" name="Text 16">
            <a:extLst>
              <a:ext uri="{FF2B5EF4-FFF2-40B4-BE49-F238E27FC236}">
                <a16:creationId xmlns:a16="http://schemas.microsoft.com/office/drawing/2014/main" id="{4CCE6C10-8B5F-4C66-B932-54EFD4D0F09D}"/>
              </a:ext>
            </a:extLst>
          </p:cNvPr>
          <p:cNvSpPr>
            <a:spLocks noGrp="1"/>
          </p:cNvSpPr>
          <p:nvPr/>
        </p:nvSpPr>
        <p:spPr>
          <a:xfrm>
            <a:off x="7132320" y="4297680"/>
            <a:ext cx="4206240" cy="384048"/>
          </a:xfrm>
          <a:prstGeom prst="rect">
            <a:avLst/>
          </a:prstGeom>
          <a:noFill/>
          <a:ln w="0">
            <a:noFill/>
          </a:ln>
        </p:spPr>
        <p:txBody>
          <a:bodyPr wrap="square" lIns="0" tIns="0" rIns="0" bIns="0" anchor="t">
            <a:noAutofit/>
          </a:bodyPr>
          <a:lstStyle/>
          <a:p>
            <a:pPr marL="0" indent="0" algn="l">
              <a:lnSpc>
                <a:spcPct val="116000"/>
              </a:lnSpc>
              <a:buNone/>
              <a:defRPr sz="1060" i="0">
                <a:solidFill>
                  <a:srgbClr val="171717"/>
                </a:solidFill>
                <a:latin typeface="Malgun Gothic"/>
                <a:ea typeface="Malgun Gothic"/>
                <a:cs typeface="Malgun Gothic"/>
              </a:defRPr>
            </a:pPr>
            <a:r>
              <a:rPr sz="1060" i="0">
                <a:solidFill>
                  <a:srgbClr val="171717"/>
                </a:solidFill>
                <a:latin typeface="Malgun Gothic"/>
                <a:ea typeface="Malgun Gothic"/>
                <a:cs typeface="Malgun Gothic"/>
              </a:rPr>
              <a:t>10개의 요약본을 순서대로 모아 붙인다. 1,000페이지 책의 최종 요약본이 완성된다.</a:t>
            </a:r>
            <a:endParaRPr sz="1060"/>
          </a:p>
        </p:txBody>
      </p:sp>
      <p:sp>
        <p:nvSpPr>
          <p:cNvPr id="27" name="Text 19">
            <a:extLst>
              <a:ext uri="{FF2B5EF4-FFF2-40B4-BE49-F238E27FC236}">
                <a16:creationId xmlns:a16="http://schemas.microsoft.com/office/drawing/2014/main" id="{95587E42-4A9C-4410-BC38-031C1A23F6F0}"/>
              </a:ext>
            </a:extLst>
          </p:cNvPr>
          <p:cNvSpPr>
            <a:spLocks noGrp="1"/>
          </p:cNvSpPr>
          <p:nvPr/>
        </p:nvSpPr>
        <p:spPr>
          <a:xfrm>
            <a:off x="1517904" y="5157216"/>
            <a:ext cx="9756648" cy="585216"/>
          </a:xfrm>
          <a:prstGeom prst="rect">
            <a:avLst/>
          </a:prstGeom>
          <a:noFill/>
          <a:ln w="0">
            <a:noFill/>
          </a:ln>
        </p:spPr>
        <p:txBody>
          <a:bodyPr wrap="square" lIns="0" tIns="0" rIns="0" bIns="0" anchor="ctr">
            <a:noAutofit/>
          </a:bodyPr>
          <a:lstStyle/>
          <a:p>
            <a:pPr marL="0" indent="0" algn="l">
              <a:lnSpc>
                <a:spcPct val="13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큰 문제를 그대로 상대하면 어렵지만, 작게 쪼개면 각각은 쉽다 — 이것이 분할 정복의 핵심 통찰이다.</a:t>
            </a:r>
            <a:endParaRPr sz="1300"/>
          </a:p>
        </p:txBody>
      </p:sp>
      <p:sp>
        <p:nvSpPr>
          <p:cNvPr id="31" name="직사각형 30">
            <a:extLst>
              <a:ext uri="{FF2B5EF4-FFF2-40B4-BE49-F238E27FC236}">
                <a16:creationId xmlns:a16="http://schemas.microsoft.com/office/drawing/2014/main" id="{592C4D8E-FBD7-4341-995C-AC562171A02E}"/>
              </a:ext>
            </a:extLst>
          </p:cNvPr>
          <p:cNvSpPr>
            <a:spLocks noGrp="1"/>
          </p:cNvSpPr>
          <p:nvPr/>
        </p:nvSpPr>
        <p:spPr>
          <a:xfrm>
            <a:off x="658368" y="4992624"/>
            <a:ext cx="10872216" cy="9525"/>
          </a:xfrm>
          <a:prstGeom prst="rect">
            <a:avLst/>
          </a:prstGeom>
          <a:solidFill>
            <a:srgbClr val="D4D4D4"/>
          </a:solidFill>
          <a:ln w="0">
            <a:noFill/>
          </a:ln>
        </p:spPr>
      </p:sp>
      <p:sp>
        <p:nvSpPr>
          <p:cNvPr id="32" name="직사각형 31">
            <a:extLst>
              <a:ext uri="{FF2B5EF4-FFF2-40B4-BE49-F238E27FC236}">
                <a16:creationId xmlns:a16="http://schemas.microsoft.com/office/drawing/2014/main" id="{5FC44190-386B-48F0-A6C7-E615209117BB}"/>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4.1  분할 정복이란?</a:t>
            </a:r>
          </a:p>
        </p:txBody>
      </p:sp>
      <p:sp>
        <p:nvSpPr>
          <p:cNvPr id="33" name="직사각형 32">
            <a:extLst>
              <a:ext uri="{FF2B5EF4-FFF2-40B4-BE49-F238E27FC236}">
                <a16:creationId xmlns:a16="http://schemas.microsoft.com/office/drawing/2014/main" id="{C9CBB51F-C88F-4B0D-8B1F-07860A4C9516}"/>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4" name="직사각형 33">
            <a:extLst>
              <a:ext uri="{FF2B5EF4-FFF2-40B4-BE49-F238E27FC236}">
                <a16:creationId xmlns:a16="http://schemas.microsoft.com/office/drawing/2014/main" id="{E8001C6E-F3DC-412D-9211-A570F64A76DB}"/>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직관적 이해 — 거대한 책 요약하기</a:t>
            </a:r>
          </a:p>
        </p:txBody>
      </p:sp>
      <p:sp>
        <p:nvSpPr>
          <p:cNvPr id="35" name="직사각형 34">
            <a:extLst>
              <a:ext uri="{FF2B5EF4-FFF2-40B4-BE49-F238E27FC236}">
                <a16:creationId xmlns:a16="http://schemas.microsoft.com/office/drawing/2014/main" id="{6B5E385D-A59F-4858-B129-FF3B72B675D9}"/>
              </a:ext>
            </a:extLst>
          </p:cNvPr>
          <p:cNvSpPr>
            <a:spLocks noGrp="1"/>
          </p:cNvSpPr>
          <p:nvPr/>
        </p:nvSpPr>
        <p:spPr>
          <a:xfrm>
            <a:off x="609600" y="1381125"/>
            <a:ext cx="10972800" cy="19050"/>
          </a:xfrm>
          <a:prstGeom prst="rect">
            <a:avLst/>
          </a:prstGeom>
          <a:solidFill>
            <a:srgbClr val="171717"/>
          </a:solidFill>
          <a:ln w="0">
            <a:noFill/>
          </a:ln>
        </p:spPr>
      </p:sp>
      <p:sp>
        <p:nvSpPr>
          <p:cNvPr id="36" name="직사각형 35">
            <a:extLst>
              <a:ext uri="{FF2B5EF4-FFF2-40B4-BE49-F238E27FC236}">
                <a16:creationId xmlns:a16="http://schemas.microsoft.com/office/drawing/2014/main" id="{F1B2F1D3-FC5F-4994-B547-D1A80ACE525F}"/>
              </a:ext>
            </a:extLst>
          </p:cNvPr>
          <p:cNvSpPr>
            <a:spLocks noGrp="1"/>
          </p:cNvSpPr>
          <p:nvPr/>
        </p:nvSpPr>
        <p:spPr>
          <a:xfrm>
            <a:off x="609600" y="6438900"/>
            <a:ext cx="10972800" cy="9525"/>
          </a:xfrm>
          <a:prstGeom prst="rect">
            <a:avLst/>
          </a:prstGeom>
          <a:solidFill>
            <a:srgbClr val="D4D4D4"/>
          </a:solidFill>
          <a:ln w="0">
            <a:noFill/>
          </a:ln>
        </p:spPr>
      </p:sp>
      <p:sp>
        <p:nvSpPr>
          <p:cNvPr id="37" name="직사각형 36">
            <a:extLst>
              <a:ext uri="{FF2B5EF4-FFF2-40B4-BE49-F238E27FC236}">
                <a16:creationId xmlns:a16="http://schemas.microsoft.com/office/drawing/2014/main" id="{357C5800-728F-4609-93A7-21A941E68685}"/>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8" name="직사각형 37">
            <a:extLst>
              <a:ext uri="{FF2B5EF4-FFF2-40B4-BE49-F238E27FC236}">
                <a16:creationId xmlns:a16="http://schemas.microsoft.com/office/drawing/2014/main" id="{B722451F-25DA-42AE-A04C-86E33DEAB3D2}"/>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5</a:t>
            </a:r>
            <a:endParaRPr sz="1050" b="1" i="0">
              <a:solidFill>
                <a:srgbClr val="171717"/>
              </a:solidFill>
              <a:latin typeface="Consolas"/>
              <a:ea typeface="Consolas"/>
              <a:cs typeface="Consolas"/>
            </a:endParaRPr>
          </a:p>
        </p:txBody>
      </p:sp>
      <p:pic>
        <p:nvPicPr>
          <p:cNvPr id="56" name="그림 55"/>
          <p:cNvPicPr>
            <a:picLocks noChangeAspect="1"/>
          </p:cNvPicPr>
          <p:nvPr/>
        </p:nvPicPr>
        <p:blipFill>
          <a:blip r:embed="rId3"/>
          <a:stretch/>
        </p:blipFill>
        <p:spPr>
          <a:xfrm>
            <a:off x="1146302" y="2189215"/>
            <a:ext cx="4616634" cy="2517670"/>
          </a:xfrm>
          <a:prstGeom prst="rect">
            <a:avLst/>
          </a:prstGeom>
        </p:spPr>
      </p:pic>
    </p:spTree>
    <p:extLst>
      <p:ext uri="{BB962C8B-B14F-4D97-AF65-F5344CB8AC3E}">
        <p14:creationId xmlns:p14="http://schemas.microsoft.com/office/powerpoint/2010/main" val="110997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 5">
            <a:extLst>
              <a:ext uri="{FF2B5EF4-FFF2-40B4-BE49-F238E27FC236}">
                <a16:creationId xmlns:a16="http://schemas.microsoft.com/office/drawing/2014/main" id="{10EA1148-DC5E-4940-A7F9-B034ECEB8978}"/>
              </a:ext>
            </a:extLst>
          </p:cNvPr>
          <p:cNvSpPr>
            <a:spLocks noGrp="1"/>
          </p:cNvSpPr>
          <p:nvPr/>
        </p:nvSpPr>
        <p:spPr>
          <a:xfrm>
            <a:off x="841248" y="2834640"/>
            <a:ext cx="2852928" cy="310896"/>
          </a:xfrm>
          <a:prstGeom prst="rect">
            <a:avLst/>
          </a:prstGeom>
          <a:noFill/>
          <a:ln w="0">
            <a:noFill/>
          </a:ln>
        </p:spPr>
        <p:txBody>
          <a:bodyPr wrap="square" lIns="0" tIns="0" rIns="0" bIns="0" anchor="ctr">
            <a:noAutofit/>
          </a:bodyPr>
          <a:lstStyle/>
          <a:p>
            <a:pPr marL="0" indent="0" algn="ctr">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분할 (Divide)</a:t>
            </a:r>
            <a:endParaRPr sz="1500"/>
          </a:p>
        </p:txBody>
      </p:sp>
      <p:sp>
        <p:nvSpPr>
          <p:cNvPr id="10" name="Text 6">
            <a:extLst>
              <a:ext uri="{FF2B5EF4-FFF2-40B4-BE49-F238E27FC236}">
                <a16:creationId xmlns:a16="http://schemas.microsoft.com/office/drawing/2014/main" id="{A65BEB10-A4A9-4128-AE5C-F2F7C30A2561}"/>
              </a:ext>
            </a:extLst>
          </p:cNvPr>
          <p:cNvSpPr>
            <a:spLocks noGrp="1"/>
          </p:cNvSpPr>
          <p:nvPr/>
        </p:nvSpPr>
        <p:spPr>
          <a:xfrm>
            <a:off x="932688" y="3200400"/>
            <a:ext cx="2670048" cy="566928"/>
          </a:xfrm>
          <a:prstGeom prst="rect">
            <a:avLst/>
          </a:prstGeom>
          <a:noFill/>
          <a:ln w="0">
            <a:noFill/>
          </a:ln>
        </p:spPr>
        <p:txBody>
          <a:bodyPr wrap="square" lIns="0" tIns="0" rIns="0" bIns="0" anchor="t">
            <a:noAutofit/>
          </a:bodyPr>
          <a:lstStyle/>
          <a:p>
            <a:pPr marL="0" indent="0" algn="ctr">
              <a:lnSpc>
                <a:spcPct val="128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문제를 같은 유형의 더 작은 하위 문제 여러 개로 나눈다.</a:t>
            </a:r>
            <a:endParaRPr sz="1180"/>
          </a:p>
        </p:txBody>
      </p:sp>
      <p:sp>
        <p:nvSpPr>
          <p:cNvPr id="11" name="Shape 7">
            <a:extLst>
              <a:ext uri="{FF2B5EF4-FFF2-40B4-BE49-F238E27FC236}">
                <a16:creationId xmlns:a16="http://schemas.microsoft.com/office/drawing/2014/main" id="{4F586B45-CABD-481B-AD29-6121C7C6BB74}"/>
              </a:ext>
            </a:extLst>
          </p:cNvPr>
          <p:cNvSpPr>
            <a:spLocks noGrp="1"/>
          </p:cNvSpPr>
          <p:nvPr/>
        </p:nvSpPr>
        <p:spPr>
          <a:xfrm>
            <a:off x="3995928" y="2670048"/>
            <a:ext cx="347472" cy="292608"/>
          </a:xfrm>
          <a:prstGeom prst="rightArrow">
            <a:avLst/>
          </a:prstGeom>
          <a:solidFill>
            <a:srgbClr val="E9E9E9"/>
          </a:solidFill>
          <a:ln w="5715">
            <a:solidFill>
              <a:srgbClr val="D4D4D4"/>
            </a:solidFill>
          </a:ln>
        </p:spPr>
      </p:sp>
      <p:sp>
        <p:nvSpPr>
          <p:cNvPr id="15" name="Text 10">
            <a:extLst>
              <a:ext uri="{FF2B5EF4-FFF2-40B4-BE49-F238E27FC236}">
                <a16:creationId xmlns:a16="http://schemas.microsoft.com/office/drawing/2014/main" id="{81239440-4F90-477B-9228-EF2288030E6B}"/>
              </a:ext>
            </a:extLst>
          </p:cNvPr>
          <p:cNvSpPr>
            <a:spLocks noGrp="1"/>
          </p:cNvSpPr>
          <p:nvPr/>
        </p:nvSpPr>
        <p:spPr>
          <a:xfrm>
            <a:off x="4636008" y="2834640"/>
            <a:ext cx="2852928" cy="310896"/>
          </a:xfrm>
          <a:prstGeom prst="rect">
            <a:avLst/>
          </a:prstGeom>
          <a:noFill/>
          <a:ln w="0">
            <a:noFill/>
          </a:ln>
        </p:spPr>
        <p:txBody>
          <a:bodyPr wrap="square" lIns="0" tIns="0" rIns="0" bIns="0" anchor="ctr">
            <a:noAutofit/>
          </a:bodyPr>
          <a:lstStyle/>
          <a:p>
            <a:pPr marL="0" indent="0" algn="ctr">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정복 (Conquer)</a:t>
            </a:r>
            <a:endParaRPr sz="1500"/>
          </a:p>
        </p:txBody>
      </p:sp>
      <p:sp>
        <p:nvSpPr>
          <p:cNvPr id="16" name="Text 11">
            <a:extLst>
              <a:ext uri="{FF2B5EF4-FFF2-40B4-BE49-F238E27FC236}">
                <a16:creationId xmlns:a16="http://schemas.microsoft.com/office/drawing/2014/main" id="{A7DE3AB6-BC79-40AC-9AC3-0B0ADDFF9714}"/>
              </a:ext>
            </a:extLst>
          </p:cNvPr>
          <p:cNvSpPr>
            <a:spLocks noGrp="1"/>
          </p:cNvSpPr>
          <p:nvPr/>
        </p:nvSpPr>
        <p:spPr>
          <a:xfrm>
            <a:off x="4727448" y="3200400"/>
            <a:ext cx="2670048" cy="566928"/>
          </a:xfrm>
          <a:prstGeom prst="rect">
            <a:avLst/>
          </a:prstGeom>
          <a:noFill/>
          <a:ln w="0">
            <a:noFill/>
          </a:ln>
        </p:spPr>
        <p:txBody>
          <a:bodyPr wrap="square" lIns="0" tIns="0" rIns="0" bIns="0" anchor="t">
            <a:noAutofit/>
          </a:bodyPr>
          <a:lstStyle/>
          <a:p>
            <a:pPr marL="0" indent="0" algn="ctr">
              <a:lnSpc>
                <a:spcPct val="128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하위 문제를 재귀적으로 해결한다. 충분히 작아지면 직접 푼다.</a:t>
            </a:r>
            <a:endParaRPr sz="1180"/>
          </a:p>
        </p:txBody>
      </p:sp>
      <p:sp>
        <p:nvSpPr>
          <p:cNvPr id="17" name="Shape 12">
            <a:extLst>
              <a:ext uri="{FF2B5EF4-FFF2-40B4-BE49-F238E27FC236}">
                <a16:creationId xmlns:a16="http://schemas.microsoft.com/office/drawing/2014/main" id="{B11AC180-2129-4535-B4DE-35B709C89E04}"/>
              </a:ext>
            </a:extLst>
          </p:cNvPr>
          <p:cNvSpPr>
            <a:spLocks noGrp="1"/>
          </p:cNvSpPr>
          <p:nvPr/>
        </p:nvSpPr>
        <p:spPr>
          <a:xfrm>
            <a:off x="7790688" y="2670048"/>
            <a:ext cx="347472" cy="292608"/>
          </a:xfrm>
          <a:prstGeom prst="rightArrow">
            <a:avLst/>
          </a:prstGeom>
          <a:solidFill>
            <a:srgbClr val="E9E9E9"/>
          </a:solidFill>
          <a:ln w="5715">
            <a:solidFill>
              <a:srgbClr val="D4D4D4"/>
            </a:solidFill>
          </a:ln>
        </p:spPr>
      </p:sp>
      <p:sp>
        <p:nvSpPr>
          <p:cNvPr id="21" name="Text 15">
            <a:extLst>
              <a:ext uri="{FF2B5EF4-FFF2-40B4-BE49-F238E27FC236}">
                <a16:creationId xmlns:a16="http://schemas.microsoft.com/office/drawing/2014/main" id="{EB2B8D17-DF1B-402C-8FBE-A68FCB282A02}"/>
              </a:ext>
            </a:extLst>
          </p:cNvPr>
          <p:cNvSpPr>
            <a:spLocks noGrp="1"/>
          </p:cNvSpPr>
          <p:nvPr/>
        </p:nvSpPr>
        <p:spPr>
          <a:xfrm>
            <a:off x="8430768" y="2834640"/>
            <a:ext cx="2852928" cy="310896"/>
          </a:xfrm>
          <a:prstGeom prst="rect">
            <a:avLst/>
          </a:prstGeom>
          <a:noFill/>
          <a:ln w="0">
            <a:noFill/>
          </a:ln>
        </p:spPr>
        <p:txBody>
          <a:bodyPr wrap="square" lIns="0" tIns="0" rIns="0" bIns="0" anchor="ctr">
            <a:noAutofit/>
          </a:bodyPr>
          <a:lstStyle/>
          <a:p>
            <a:pPr marL="0" indent="0" algn="ctr">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결합 (Combine)</a:t>
            </a:r>
            <a:endParaRPr sz="1500"/>
          </a:p>
        </p:txBody>
      </p:sp>
      <p:sp>
        <p:nvSpPr>
          <p:cNvPr id="22" name="Text 16">
            <a:extLst>
              <a:ext uri="{FF2B5EF4-FFF2-40B4-BE49-F238E27FC236}">
                <a16:creationId xmlns:a16="http://schemas.microsoft.com/office/drawing/2014/main" id="{011DF3C4-9E49-4842-8774-9B52D117046B}"/>
              </a:ext>
            </a:extLst>
          </p:cNvPr>
          <p:cNvSpPr>
            <a:spLocks noGrp="1"/>
          </p:cNvSpPr>
          <p:nvPr/>
        </p:nvSpPr>
        <p:spPr>
          <a:xfrm>
            <a:off x="8522208" y="3200400"/>
            <a:ext cx="2670048" cy="566928"/>
          </a:xfrm>
          <a:prstGeom prst="rect">
            <a:avLst/>
          </a:prstGeom>
          <a:noFill/>
          <a:ln w="0">
            <a:noFill/>
          </a:ln>
        </p:spPr>
        <p:txBody>
          <a:bodyPr wrap="square" lIns="0" tIns="0" rIns="0" bIns="0" anchor="t">
            <a:noAutofit/>
          </a:bodyPr>
          <a:lstStyle/>
          <a:p>
            <a:pPr marL="0" indent="0" algn="ctr">
              <a:lnSpc>
                <a:spcPct val="128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하위 문제의 해답을 조합해 원래 문제의 해답을 만든다.</a:t>
            </a:r>
            <a:endParaRPr sz="1180"/>
          </a:p>
        </p:txBody>
      </p:sp>
      <p:sp>
        <p:nvSpPr>
          <p:cNvPr id="26" name="Text 19">
            <a:extLst>
              <a:ext uri="{FF2B5EF4-FFF2-40B4-BE49-F238E27FC236}">
                <a16:creationId xmlns:a16="http://schemas.microsoft.com/office/drawing/2014/main" id="{1102D157-5C16-4C77-AF09-D141738E0316}"/>
              </a:ext>
            </a:extLst>
          </p:cNvPr>
          <p:cNvSpPr>
            <a:spLocks noGrp="1"/>
          </p:cNvSpPr>
          <p:nvPr/>
        </p:nvSpPr>
        <p:spPr>
          <a:xfrm>
            <a:off x="1517904" y="4297680"/>
            <a:ext cx="9756648" cy="292608"/>
          </a:xfrm>
          <a:prstGeom prst="rect">
            <a:avLst/>
          </a:prstGeom>
          <a:noFill/>
          <a:ln w="0">
            <a:noFill/>
          </a:ln>
        </p:spPr>
        <p:txBody>
          <a:bodyPr wrap="square" lIns="0" tIns="0" rIns="0" bIns="0" anchor="ctr">
            <a:noAutofit/>
          </a:bodyPr>
          <a:lstStyle/>
          <a:p>
            <a:pPr marL="0" indent="0" algn="l">
              <a:buNone/>
              <a:defRPr sz="1320" i="0">
                <a:solidFill>
                  <a:srgbClr val="171717"/>
                </a:solidFill>
                <a:latin typeface="Malgun Gothic"/>
                <a:ea typeface="Malgun Gothic"/>
                <a:cs typeface="Malgun Gothic"/>
              </a:defRPr>
            </a:pPr>
            <a:r>
              <a:rPr sz="1320" b="1" i="0">
                <a:solidFill>
                  <a:srgbClr val="171717"/>
                </a:solidFill>
                <a:latin typeface="Malgun Gothic"/>
                <a:ea typeface="Malgun Gothic"/>
                <a:cs typeface="Malgun Gothic"/>
              </a:rPr>
              <a:t>분할 정복은 한 번만 나누는 알고리즘이 아니다</a:t>
            </a:r>
            <a:endParaRPr sz="1320"/>
          </a:p>
        </p:txBody>
      </p:sp>
      <p:sp>
        <p:nvSpPr>
          <p:cNvPr id="27" name="Text 20">
            <a:extLst>
              <a:ext uri="{FF2B5EF4-FFF2-40B4-BE49-F238E27FC236}">
                <a16:creationId xmlns:a16="http://schemas.microsoft.com/office/drawing/2014/main" id="{69BF4270-E339-4FC5-87E4-885996890E3C}"/>
              </a:ext>
            </a:extLst>
          </p:cNvPr>
          <p:cNvSpPr>
            <a:spLocks noGrp="1"/>
          </p:cNvSpPr>
          <p:nvPr/>
        </p:nvSpPr>
        <p:spPr>
          <a:xfrm>
            <a:off x="1517904" y="4588002"/>
            <a:ext cx="9756648" cy="285750"/>
          </a:xfrm>
          <a:prstGeom prst="rect">
            <a:avLst/>
          </a:prstGeom>
          <a:noFill/>
          <a:ln w="0">
            <a:noFill/>
          </a:ln>
        </p:spPr>
        <p:txBody>
          <a:bodyPr wrap="square" lIns="0" tIns="0" rIns="0" bIns="0" anchor="t">
            <a:noAutofit/>
          </a:bodyPr>
          <a:lstStyle/>
          <a:p>
            <a:pPr marL="0" indent="0" algn="l">
              <a:lnSpc>
                <a:spcPct val="132000"/>
              </a:lnSpc>
              <a:buNone/>
              <a:defRPr sz="1200" i="0">
                <a:solidFill>
                  <a:srgbClr val="171717"/>
                </a:solidFill>
                <a:latin typeface="Malgun Gothic"/>
                <a:ea typeface="Malgun Gothic"/>
                <a:cs typeface="Malgun Gothic"/>
              </a:defRPr>
            </a:pPr>
            <a:r>
              <a:rPr sz="1200" i="0">
                <a:solidFill>
                  <a:srgbClr val="171717"/>
                </a:solidFill>
                <a:latin typeface="Malgun Gothic"/>
                <a:ea typeface="Malgun Gothic"/>
                <a:cs typeface="Malgun Gothic"/>
              </a:rPr>
              <a:t>분할된 문제가 아직 커서 즉시 해결할 수 없다면 다시 분할한다. 아주 쉽게 풀릴 때까지 계속 분할한다.</a:t>
            </a:r>
            <a:endParaRPr sz="1200"/>
          </a:p>
        </p:txBody>
      </p:sp>
      <p:sp>
        <p:nvSpPr>
          <p:cNvPr id="34" name="Text 27">
            <a:extLst>
              <a:ext uri="{FF2B5EF4-FFF2-40B4-BE49-F238E27FC236}">
                <a16:creationId xmlns:a16="http://schemas.microsoft.com/office/drawing/2014/main" id="{DA019235-389F-4FDC-BC33-9F1BEE9AC770}"/>
              </a:ext>
            </a:extLst>
          </p:cNvPr>
          <p:cNvSpPr>
            <a:spLocks noGrp="1"/>
          </p:cNvSpPr>
          <p:nvPr/>
        </p:nvSpPr>
        <p:spPr>
          <a:xfrm>
            <a:off x="859536" y="4943475"/>
            <a:ext cx="10506456"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divide_and_conquer.pseudo</a:t>
            </a:r>
            <a:endParaRPr sz="900"/>
          </a:p>
        </p:txBody>
      </p:sp>
      <p:sp>
        <p:nvSpPr>
          <p:cNvPr id="37" name="직사각형 36">
            <a:extLst>
              <a:ext uri="{FF2B5EF4-FFF2-40B4-BE49-F238E27FC236}">
                <a16:creationId xmlns:a16="http://schemas.microsoft.com/office/drawing/2014/main" id="{138631F1-6903-41F6-97C1-6C1C3EC71F99}"/>
              </a:ext>
            </a:extLst>
          </p:cNvPr>
          <p:cNvSpPr>
            <a:spLocks noGrp="1"/>
          </p:cNvSpPr>
          <p:nvPr/>
        </p:nvSpPr>
        <p:spPr>
          <a:xfrm>
            <a:off x="658368" y="1783080"/>
            <a:ext cx="3218688" cy="9525"/>
          </a:xfrm>
          <a:prstGeom prst="rect">
            <a:avLst/>
          </a:prstGeom>
          <a:solidFill>
            <a:srgbClr val="D4D4D4"/>
          </a:solidFill>
          <a:ln w="0">
            <a:noFill/>
          </a:ln>
        </p:spPr>
      </p:sp>
      <p:sp>
        <p:nvSpPr>
          <p:cNvPr id="38" name="직사각형 37">
            <a:extLst>
              <a:ext uri="{FF2B5EF4-FFF2-40B4-BE49-F238E27FC236}">
                <a16:creationId xmlns:a16="http://schemas.microsoft.com/office/drawing/2014/main" id="{04367143-378E-4D8A-AD60-AD500C9281E6}"/>
              </a:ext>
            </a:extLst>
          </p:cNvPr>
          <p:cNvSpPr>
            <a:spLocks noGrp="1"/>
          </p:cNvSpPr>
          <p:nvPr/>
        </p:nvSpPr>
        <p:spPr>
          <a:xfrm>
            <a:off x="4453128" y="1783080"/>
            <a:ext cx="3218688"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FC469F9A-761B-487E-8E72-F054E0567893}"/>
              </a:ext>
            </a:extLst>
          </p:cNvPr>
          <p:cNvSpPr>
            <a:spLocks noGrp="1"/>
          </p:cNvSpPr>
          <p:nvPr/>
        </p:nvSpPr>
        <p:spPr>
          <a:xfrm>
            <a:off x="8247888" y="1783080"/>
            <a:ext cx="3218688" cy="9525"/>
          </a:xfrm>
          <a:prstGeom prst="rect">
            <a:avLst/>
          </a:prstGeom>
          <a:solidFill>
            <a:srgbClr val="D4D4D4"/>
          </a:solidFill>
          <a:ln w="0">
            <a:noFill/>
          </a:ln>
        </p:spPr>
      </p:sp>
      <p:sp>
        <p:nvSpPr>
          <p:cNvPr id="40" name="직사각형 39">
            <a:extLst>
              <a:ext uri="{FF2B5EF4-FFF2-40B4-BE49-F238E27FC236}">
                <a16:creationId xmlns:a16="http://schemas.microsoft.com/office/drawing/2014/main" id="{EB874620-37A8-407B-8671-130F861C6A1B}"/>
              </a:ext>
            </a:extLst>
          </p:cNvPr>
          <p:cNvSpPr>
            <a:spLocks noGrp="1"/>
          </p:cNvSpPr>
          <p:nvPr/>
        </p:nvSpPr>
        <p:spPr>
          <a:xfrm>
            <a:off x="698373" y="5181600"/>
            <a:ext cx="10847070" cy="1143000"/>
          </a:xfrm>
          <a:prstGeom prst="rect">
            <a:avLst/>
          </a:prstGeom>
          <a:solidFill>
            <a:srgbClr val="171717"/>
          </a:solidFill>
          <a:ln w="0">
            <a:noFill/>
          </a:ln>
        </p:spPr>
        <p:txBody>
          <a:bodyPr wrap="none" lIns="142875" tIns="76200" rIns="142875" bIns="76200" anchor="t">
            <a:noAutofit/>
          </a:bodyPr>
          <a:lstStyle/>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DIVIDE_AND_CONQUER(P):</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if P의 크기가 충분히 작으면 then return SolveDirectly(P)</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P1, P2, ..., Pk &lt;- Divide(P)                  // 분할</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Si &lt;- DIVIDE_AND_CONQUER(Pi)   for i = 1..k   // 정복</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return Combine(S1, S2, ..., Sk)               // 결합</a:t>
            </a:r>
          </a:p>
        </p:txBody>
      </p:sp>
      <p:sp>
        <p:nvSpPr>
          <p:cNvPr id="41" name="직사각형 40">
            <a:extLst>
              <a:ext uri="{FF2B5EF4-FFF2-40B4-BE49-F238E27FC236}">
                <a16:creationId xmlns:a16="http://schemas.microsoft.com/office/drawing/2014/main" id="{262B3600-4658-42C3-BAC9-5A974C23CCF9}"/>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4.1  분할 정복이란?</a:t>
            </a:r>
          </a:p>
        </p:txBody>
      </p:sp>
      <p:sp>
        <p:nvSpPr>
          <p:cNvPr id="42" name="직사각형 41">
            <a:extLst>
              <a:ext uri="{FF2B5EF4-FFF2-40B4-BE49-F238E27FC236}">
                <a16:creationId xmlns:a16="http://schemas.microsoft.com/office/drawing/2014/main" id="{DB8CB566-7E47-4821-B9D8-5D7CB660601E}"/>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3" name="직사각형 42">
            <a:extLst>
              <a:ext uri="{FF2B5EF4-FFF2-40B4-BE49-F238E27FC236}">
                <a16:creationId xmlns:a16="http://schemas.microsoft.com/office/drawing/2014/main" id="{56BA1123-3BA8-4676-8FA2-E6EB62E34AC1}"/>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분할 정복의 3단계</a:t>
            </a:r>
          </a:p>
        </p:txBody>
      </p:sp>
      <p:sp>
        <p:nvSpPr>
          <p:cNvPr id="44" name="직사각형 43">
            <a:extLst>
              <a:ext uri="{FF2B5EF4-FFF2-40B4-BE49-F238E27FC236}">
                <a16:creationId xmlns:a16="http://schemas.microsoft.com/office/drawing/2014/main" id="{FD4F1B93-7E8E-445C-80BF-D244801314AC}"/>
              </a:ext>
            </a:extLst>
          </p:cNvPr>
          <p:cNvSpPr>
            <a:spLocks noGrp="1"/>
          </p:cNvSpPr>
          <p:nvPr/>
        </p:nvSpPr>
        <p:spPr>
          <a:xfrm>
            <a:off x="609600" y="1381125"/>
            <a:ext cx="10972800" cy="19050"/>
          </a:xfrm>
          <a:prstGeom prst="rect">
            <a:avLst/>
          </a:prstGeom>
          <a:solidFill>
            <a:srgbClr val="171717"/>
          </a:solidFill>
          <a:ln w="0">
            <a:noFill/>
          </a:ln>
        </p:spPr>
      </p:sp>
      <p:sp>
        <p:nvSpPr>
          <p:cNvPr id="45" name="직사각형 44">
            <a:extLst>
              <a:ext uri="{FF2B5EF4-FFF2-40B4-BE49-F238E27FC236}">
                <a16:creationId xmlns:a16="http://schemas.microsoft.com/office/drawing/2014/main" id="{C14C9F1D-46D7-48CE-8FA5-4BCCD8A74B85}"/>
              </a:ext>
            </a:extLst>
          </p:cNvPr>
          <p:cNvSpPr>
            <a:spLocks noGrp="1"/>
          </p:cNvSpPr>
          <p:nvPr/>
        </p:nvSpPr>
        <p:spPr>
          <a:xfrm>
            <a:off x="609600" y="6438900"/>
            <a:ext cx="10972800" cy="9525"/>
          </a:xfrm>
          <a:prstGeom prst="rect">
            <a:avLst/>
          </a:prstGeom>
          <a:solidFill>
            <a:srgbClr val="D4D4D4"/>
          </a:solidFill>
          <a:ln w="0">
            <a:noFill/>
          </a:ln>
        </p:spPr>
      </p:sp>
      <p:sp>
        <p:nvSpPr>
          <p:cNvPr id="46" name="직사각형 45">
            <a:extLst>
              <a:ext uri="{FF2B5EF4-FFF2-40B4-BE49-F238E27FC236}">
                <a16:creationId xmlns:a16="http://schemas.microsoft.com/office/drawing/2014/main" id="{4FDB7903-39C3-456F-A785-9EDE7F765418}"/>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7" name="직사각형 46">
            <a:extLst>
              <a:ext uri="{FF2B5EF4-FFF2-40B4-BE49-F238E27FC236}">
                <a16:creationId xmlns:a16="http://schemas.microsoft.com/office/drawing/2014/main" id="{677EF00B-4BE2-4DFA-B6FD-AB0138CAC363}"/>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6</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208412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D17E941D-1D68-4894-8AE4-34FF9B7FA574}"/>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E7F0CC93-C6D0-480E-8100-C4BC461EFA1D}"/>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D3A9CD9E-6180-4689-AA78-FF137EA556E4}"/>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정렬 (Merge Sort)</a:t>
            </a:r>
          </a:p>
        </p:txBody>
      </p:sp>
      <p:sp>
        <p:nvSpPr>
          <p:cNvPr id="4" name="직사각형 3">
            <a:extLst>
              <a:ext uri="{FF2B5EF4-FFF2-40B4-BE49-F238E27FC236}">
                <a16:creationId xmlns:a16="http://schemas.microsoft.com/office/drawing/2014/main" id="{11C95CF3-DAB3-4D8B-8607-AAAA2DFF67CA}"/>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반으로 나누고, 정렬된 두 배열을 합친다</a:t>
            </a:r>
          </a:p>
          <a:p>
            <a:pPr>
              <a:defRPr sz="2025" b="0">
                <a:solidFill>
                  <a:srgbClr val="151515"/>
                </a:solidFill>
              </a:defRPr>
            </a:pPr>
            <a:r>
              <a:rPr sz="2025" b="0">
                <a:solidFill>
                  <a:srgbClr val="151515"/>
                </a:solidFill>
                <a:latin typeface="Malgun Gothic" panose="020B0503020000020004" pitchFamily="50" charset="-127"/>
              </a:rPr>
              <a:t>원소가 하나이면 이미 정렬된 상태다.</a:t>
            </a:r>
          </a:p>
        </p:txBody>
      </p:sp>
      <p:sp>
        <p:nvSpPr>
          <p:cNvPr id="5" name="직사각형 4">
            <a:extLst>
              <a:ext uri="{FF2B5EF4-FFF2-40B4-BE49-F238E27FC236}">
                <a16:creationId xmlns:a16="http://schemas.microsoft.com/office/drawing/2014/main" id="{2A3C4D01-A93B-4264-B030-587B04D53BAB}"/>
              </a:ext>
            </a:extLst>
          </p:cNvPr>
          <p:cNvSpPr>
            <a:spLocks noGrp="1"/>
          </p:cNvSpPr>
          <p:nvPr/>
        </p:nvSpPr>
        <p:spPr>
          <a:xfrm>
            <a:off x="609600" y="335280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정렬 전</a:t>
            </a:r>
          </a:p>
        </p:txBody>
      </p:sp>
      <p:graphicFrame>
        <p:nvGraphicFramePr>
          <p:cNvPr id="6" name="표 5">
            <a:extLst>
              <a:ext uri="{FF2B5EF4-FFF2-40B4-BE49-F238E27FC236}">
                <a16:creationId xmlns:a16="http://schemas.microsoft.com/office/drawing/2014/main" id="{6EC5179F-7278-430A-A5F5-87B95DEDE31D}"/>
              </a:ext>
            </a:extLst>
          </p:cNvPr>
          <p:cNvGraphicFramePr/>
          <p:nvPr>
            <p:extLst>
              <p:ext uri="{D42A27DB-BD31-4B8C-83A1-F6EECF244321}">
                <p14:modId xmlns:p14="http://schemas.microsoft.com/office/powerpoint/2010/main" val="3941647764"/>
              </p:ext>
            </p:extLst>
          </p:nvPr>
        </p:nvGraphicFramePr>
        <p:xfrm>
          <a:off x="609600" y="3619500"/>
          <a:ext cx="10972800" cy="55245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tblGrid>
              <a:tr h="552450">
                <a:tc>
                  <a:txBody>
                    <a:bodyPr/>
                    <a:lstStyle/>
                    <a:p>
                      <a:pPr algn="ctr"/>
                      <a:r>
                        <a:rPr sz="2550" b="1">
                          <a:solidFill>
                            <a:srgbClr val="151515"/>
                          </a:solidFill>
                          <a:latin typeface="Malgun Gothic" panose="020B0503020000020004" pitchFamily="50" charset="-127"/>
                        </a:rPr>
                        <a:t>8</a:t>
                      </a:r>
                    </a:p>
                  </a:txBody>
                  <a:tcPr>
                    <a:solidFill>
                      <a:srgbClr val="F6F6F6"/>
                    </a:solidFill>
                  </a:tcPr>
                </a:tc>
                <a:tc>
                  <a:txBody>
                    <a:bodyPr/>
                    <a:lstStyle/>
                    <a:p>
                      <a:pPr algn="ctr"/>
                      <a:r>
                        <a:rPr sz="2550" b="1">
                          <a:solidFill>
                            <a:srgbClr val="151515"/>
                          </a:solidFill>
                          <a:latin typeface="Malgun Gothic" panose="020B0503020000020004" pitchFamily="50" charset="-127"/>
                        </a:rPr>
                        <a:t>3</a:t>
                      </a:r>
                    </a:p>
                  </a:txBody>
                  <a:tcPr>
                    <a:solidFill>
                      <a:srgbClr val="F6F6F6"/>
                    </a:solidFill>
                  </a:tcPr>
                </a:tc>
                <a:tc>
                  <a:txBody>
                    <a:bodyPr/>
                    <a:lstStyle/>
                    <a:p>
                      <a:pPr algn="ctr"/>
                      <a:r>
                        <a:rPr sz="2550" b="1">
                          <a:solidFill>
                            <a:srgbClr val="151515"/>
                          </a:solidFill>
                          <a:latin typeface="Malgun Gothic" panose="020B0503020000020004" pitchFamily="50" charset="-127"/>
                        </a:rPr>
                        <a:t>6</a:t>
                      </a:r>
                    </a:p>
                  </a:txBody>
                  <a:tcPr>
                    <a:solidFill>
                      <a:srgbClr val="F6F6F6"/>
                    </a:solidFill>
                  </a:tcPr>
                </a:tc>
                <a:tc>
                  <a:txBody>
                    <a:bodyPr/>
                    <a:lstStyle/>
                    <a:p>
                      <a:pPr algn="ctr"/>
                      <a:r>
                        <a:rPr sz="2550" b="1">
                          <a:solidFill>
                            <a:srgbClr val="151515"/>
                          </a:solidFill>
                          <a:latin typeface="Malgun Gothic" panose="020B0503020000020004" pitchFamily="50" charset="-127"/>
                        </a:rPr>
                        <a:t>2</a:t>
                      </a:r>
                    </a:p>
                  </a:txBody>
                  <a:tcPr>
                    <a:solidFill>
                      <a:srgbClr val="F6F6F6"/>
                    </a:solidFill>
                  </a:tcPr>
                </a:tc>
                <a:tc>
                  <a:txBody>
                    <a:bodyPr/>
                    <a:lstStyle/>
                    <a:p>
                      <a:pPr algn="ctr"/>
                      <a:r>
                        <a:rPr sz="2550" b="1">
                          <a:solidFill>
                            <a:srgbClr val="151515"/>
                          </a:solidFill>
                          <a:latin typeface="Malgun Gothic" panose="020B0503020000020004" pitchFamily="50" charset="-127"/>
                        </a:rPr>
                        <a:t>7</a:t>
                      </a:r>
                    </a:p>
                  </a:txBody>
                  <a:tcPr>
                    <a:solidFill>
                      <a:srgbClr val="F6F6F6"/>
                    </a:solidFill>
                  </a:tcPr>
                </a:tc>
                <a:tc>
                  <a:txBody>
                    <a:bodyPr/>
                    <a:lstStyle/>
                    <a:p>
                      <a:pPr algn="ctr"/>
                      <a:r>
                        <a:rPr sz="2550" b="1">
                          <a:solidFill>
                            <a:srgbClr val="151515"/>
                          </a:solidFill>
                          <a:latin typeface="Malgun Gothic" panose="020B0503020000020004" pitchFamily="50" charset="-127"/>
                        </a:rPr>
                        <a:t>1</a:t>
                      </a:r>
                    </a:p>
                  </a:txBody>
                  <a:tcPr>
                    <a:solidFill>
                      <a:srgbClr val="F6F6F6"/>
                    </a:solidFill>
                  </a:tcPr>
                </a:tc>
                <a:tc>
                  <a:txBody>
                    <a:bodyPr/>
                    <a:lstStyle/>
                    <a:p>
                      <a:pPr algn="ctr"/>
                      <a:r>
                        <a:rPr sz="2550" b="1">
                          <a:solidFill>
                            <a:srgbClr val="151515"/>
                          </a:solidFill>
                          <a:latin typeface="Malgun Gothic" panose="020B0503020000020004" pitchFamily="50" charset="-127"/>
                        </a:rPr>
                        <a:t>5</a:t>
                      </a:r>
                    </a:p>
                  </a:txBody>
                  <a:tcPr>
                    <a:solidFill>
                      <a:srgbClr val="F6F6F6"/>
                    </a:solidFill>
                  </a:tcPr>
                </a:tc>
                <a:tc>
                  <a:txBody>
                    <a:bodyPr/>
                    <a:lstStyle/>
                    <a:p>
                      <a:pPr algn="ctr"/>
                      <a:r>
                        <a:rPr sz="2550" b="1">
                          <a:solidFill>
                            <a:srgbClr val="151515"/>
                          </a:solidFill>
                          <a:latin typeface="Malgun Gothic" panose="020B0503020000020004" pitchFamily="50" charset="-127"/>
                        </a:rPr>
                        <a:t>4</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A4287628-1801-4B19-B92C-AA5FE0EF2CFE}"/>
              </a:ext>
            </a:extLst>
          </p:cNvPr>
          <p:cNvSpPr>
            <a:spLocks noGrp="1"/>
          </p:cNvSpPr>
          <p:nvPr/>
        </p:nvSpPr>
        <p:spPr>
          <a:xfrm>
            <a:off x="609600" y="443865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정렬 후</a:t>
            </a:r>
          </a:p>
        </p:txBody>
      </p:sp>
      <p:graphicFrame>
        <p:nvGraphicFramePr>
          <p:cNvPr id="8" name="표 7">
            <a:extLst>
              <a:ext uri="{FF2B5EF4-FFF2-40B4-BE49-F238E27FC236}">
                <a16:creationId xmlns:a16="http://schemas.microsoft.com/office/drawing/2014/main" id="{25590644-2C34-404C-BE10-7FCDAF1B1CA4}"/>
              </a:ext>
            </a:extLst>
          </p:cNvPr>
          <p:cNvGraphicFramePr/>
          <p:nvPr>
            <p:extLst>
              <p:ext uri="{D42A27DB-BD31-4B8C-83A1-F6EECF244321}">
                <p14:modId xmlns:p14="http://schemas.microsoft.com/office/powerpoint/2010/main" val="3786472120"/>
              </p:ext>
            </p:extLst>
          </p:nvPr>
        </p:nvGraphicFramePr>
        <p:xfrm>
          <a:off x="609600" y="4705350"/>
          <a:ext cx="10972800" cy="55245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tblGrid>
              <a:tr h="552450">
                <a:tc>
                  <a:txBody>
                    <a:bodyPr/>
                    <a:lstStyle/>
                    <a:p>
                      <a:pPr algn="ctr"/>
                      <a:r>
                        <a:rPr sz="2550" b="1">
                          <a:solidFill>
                            <a:srgbClr val="151515"/>
                          </a:solidFill>
                          <a:latin typeface="Malgun Gothic" panose="020B0503020000020004" pitchFamily="50" charset="-127"/>
                        </a:rPr>
                        <a:t>1</a:t>
                      </a:r>
                    </a:p>
                  </a:txBody>
                  <a:tcPr>
                    <a:solidFill>
                      <a:srgbClr val="F6F6F6"/>
                    </a:solidFill>
                  </a:tcPr>
                </a:tc>
                <a:tc>
                  <a:txBody>
                    <a:bodyPr/>
                    <a:lstStyle/>
                    <a:p>
                      <a:pPr algn="ctr"/>
                      <a:r>
                        <a:rPr sz="2550" b="1">
                          <a:solidFill>
                            <a:srgbClr val="151515"/>
                          </a:solidFill>
                          <a:latin typeface="Malgun Gothic" panose="020B0503020000020004" pitchFamily="50" charset="-127"/>
                        </a:rPr>
                        <a:t>2</a:t>
                      </a:r>
                    </a:p>
                  </a:txBody>
                  <a:tcPr>
                    <a:solidFill>
                      <a:srgbClr val="F6F6F6"/>
                    </a:solidFill>
                  </a:tcPr>
                </a:tc>
                <a:tc>
                  <a:txBody>
                    <a:bodyPr/>
                    <a:lstStyle/>
                    <a:p>
                      <a:pPr algn="ctr"/>
                      <a:r>
                        <a:rPr sz="2550" b="1">
                          <a:solidFill>
                            <a:srgbClr val="151515"/>
                          </a:solidFill>
                          <a:latin typeface="Malgun Gothic" panose="020B0503020000020004" pitchFamily="50" charset="-127"/>
                        </a:rPr>
                        <a:t>3</a:t>
                      </a:r>
                    </a:p>
                  </a:txBody>
                  <a:tcPr>
                    <a:solidFill>
                      <a:srgbClr val="F6F6F6"/>
                    </a:solidFill>
                  </a:tcPr>
                </a:tc>
                <a:tc>
                  <a:txBody>
                    <a:bodyPr/>
                    <a:lstStyle/>
                    <a:p>
                      <a:pPr algn="ctr"/>
                      <a:r>
                        <a:rPr sz="2550" b="1">
                          <a:solidFill>
                            <a:srgbClr val="151515"/>
                          </a:solidFill>
                          <a:latin typeface="Malgun Gothic" panose="020B0503020000020004" pitchFamily="50" charset="-127"/>
                        </a:rPr>
                        <a:t>4</a:t>
                      </a:r>
                    </a:p>
                  </a:txBody>
                  <a:tcPr>
                    <a:solidFill>
                      <a:srgbClr val="F6F6F6"/>
                    </a:solidFill>
                  </a:tcPr>
                </a:tc>
                <a:tc>
                  <a:txBody>
                    <a:bodyPr/>
                    <a:lstStyle/>
                    <a:p>
                      <a:pPr algn="ctr"/>
                      <a:r>
                        <a:rPr sz="2550" b="1">
                          <a:solidFill>
                            <a:srgbClr val="151515"/>
                          </a:solidFill>
                          <a:latin typeface="Malgun Gothic" panose="020B0503020000020004" pitchFamily="50" charset="-127"/>
                        </a:rPr>
                        <a:t>5</a:t>
                      </a:r>
                    </a:p>
                  </a:txBody>
                  <a:tcPr>
                    <a:solidFill>
                      <a:srgbClr val="F6F6F6"/>
                    </a:solidFill>
                  </a:tcPr>
                </a:tc>
                <a:tc>
                  <a:txBody>
                    <a:bodyPr/>
                    <a:lstStyle/>
                    <a:p>
                      <a:pPr algn="ctr"/>
                      <a:r>
                        <a:rPr sz="2550" b="1">
                          <a:solidFill>
                            <a:srgbClr val="151515"/>
                          </a:solidFill>
                          <a:latin typeface="Malgun Gothic" panose="020B0503020000020004" pitchFamily="50" charset="-127"/>
                        </a:rPr>
                        <a:t>6</a:t>
                      </a:r>
                    </a:p>
                  </a:txBody>
                  <a:tcPr>
                    <a:solidFill>
                      <a:srgbClr val="F6F6F6"/>
                    </a:solidFill>
                  </a:tcPr>
                </a:tc>
                <a:tc>
                  <a:txBody>
                    <a:bodyPr/>
                    <a:lstStyle/>
                    <a:p>
                      <a:pPr algn="ctr"/>
                      <a:r>
                        <a:rPr sz="2550" b="1">
                          <a:solidFill>
                            <a:srgbClr val="151515"/>
                          </a:solidFill>
                          <a:latin typeface="Malgun Gothic" panose="020B0503020000020004" pitchFamily="50" charset="-127"/>
                        </a:rPr>
                        <a:t>7</a:t>
                      </a:r>
                    </a:p>
                  </a:txBody>
                  <a:tcPr>
                    <a:solidFill>
                      <a:srgbClr val="F6F6F6"/>
                    </a:solidFill>
                  </a:tcPr>
                </a:tc>
                <a:tc>
                  <a:txBody>
                    <a:bodyPr/>
                    <a:lstStyle/>
                    <a:p>
                      <a:pPr algn="ctr"/>
                      <a:r>
                        <a:rPr sz="25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9" name="직사각형 8">
            <a:extLst>
              <a:ext uri="{FF2B5EF4-FFF2-40B4-BE49-F238E27FC236}">
                <a16:creationId xmlns:a16="http://schemas.microsoft.com/office/drawing/2014/main" id="{14B4206A-6B32-4B9E-A702-6B6941262687}"/>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0" name="직사각형 9">
            <a:extLst>
              <a:ext uri="{FF2B5EF4-FFF2-40B4-BE49-F238E27FC236}">
                <a16:creationId xmlns:a16="http://schemas.microsoft.com/office/drawing/2014/main" id="{DA8E1092-25B2-400D-A95D-6C5BE27D70BA}"/>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7</a:t>
            </a:r>
            <a:endParaRPr sz="1050" b="0">
              <a:solidFill>
                <a:srgbClr val="151515"/>
              </a:solidFill>
              <a:latin typeface="Consolas" panose="020B0609020204030204" pitchFamily="49" charset="0"/>
            </a:endParaRPr>
          </a:p>
        </p:txBody>
      </p:sp>
      <p:cxnSp>
        <p:nvCxnSpPr>
          <p:cNvPr id="12" name="직선 연결선 11">
            <a:extLst>
              <a:ext uri="{FF2B5EF4-FFF2-40B4-BE49-F238E27FC236}">
                <a16:creationId xmlns:a16="http://schemas.microsoft.com/office/drawing/2014/main" id="{A78CF5DF-F44A-DBF3-85AD-D0CBC596E2A2}"/>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250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ection">
            <a:extLst>
              <a:ext uri="{FF2B5EF4-FFF2-40B4-BE49-F238E27FC236}">
                <a16:creationId xmlns:a16="http://schemas.microsoft.com/office/drawing/2014/main" id="{5C341608-D0E0-484D-AE11-281C302EC1D8}"/>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901CACC0-BA67-4A6E-A6E7-AC62CFFDBA23}"/>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973D1EC5-1F24-4462-9172-14E51331448F}"/>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나누기 ① · 8개를 4개씩</a:t>
            </a:r>
          </a:p>
        </p:txBody>
      </p:sp>
      <p:sp>
        <p:nvSpPr>
          <p:cNvPr id="4" name="직사각형 3">
            <a:extLst>
              <a:ext uri="{FF2B5EF4-FFF2-40B4-BE49-F238E27FC236}">
                <a16:creationId xmlns:a16="http://schemas.microsoft.com/office/drawing/2014/main" id="{B5B38B9E-D04C-4EF3-B825-25A62315F179}"/>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CFC5494B-457B-4ED3-84CF-56F6305D3BCC}"/>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가운데 위치에서 나눕니다. 숫자의 크기는 아직 비교하지 않습니다.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[8,3,6,2], 오른쪽 [7,1,5,4]의 원래 순서를 유지합니다.</a:t>
            </a:r>
          </a:p>
        </p:txBody>
      </p:sp>
      <p:sp>
        <p:nvSpPr>
          <p:cNvPr id="6" name="footer">
            <a:extLst>
              <a:ext uri="{FF2B5EF4-FFF2-40B4-BE49-F238E27FC236}">
                <a16:creationId xmlns:a16="http://schemas.microsoft.com/office/drawing/2014/main" id="{C3F8AE1E-AF6E-44AE-BA54-AB15D29C0C09}"/>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CE3A422A-A9C7-42F2-8198-51E33DA9D379}"/>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8</a:t>
            </a:r>
            <a:endParaRPr sz="1050" b="0">
              <a:solidFill>
                <a:srgbClr val="151515"/>
              </a:solidFill>
              <a:latin typeface="Consolas"/>
              <a:ea typeface="Consolas"/>
              <a:cs typeface="Consolas"/>
            </a:endParaRPr>
          </a:p>
        </p:txBody>
      </p:sp>
      <p:sp>
        <p:nvSpPr>
          <p:cNvPr id="8" name="직사각형 7">
            <a:extLst>
              <a:ext uri="{FF2B5EF4-FFF2-40B4-BE49-F238E27FC236}">
                <a16:creationId xmlns:a16="http://schemas.microsoft.com/office/drawing/2014/main" id="{6B787700-2EF9-4747-9E71-E13664D17365}"/>
              </a:ext>
            </a:extLst>
          </p:cNvPr>
          <p:cNvSpPr>
            <a:spLocks noGrp="1"/>
          </p:cNvSpPr>
          <p:nvPr/>
        </p:nvSpPr>
        <p:spPr>
          <a:xfrm>
            <a:off x="6086475" y="2971800"/>
            <a:ext cx="19050" cy="257175"/>
          </a:xfrm>
          <a:prstGeom prst="rect">
            <a:avLst/>
          </a:prstGeom>
          <a:solidFill>
            <a:srgbClr val="AAAAAA"/>
          </a:solidFill>
          <a:ln w="0">
            <a:noFill/>
          </a:ln>
        </p:spPr>
      </p:sp>
      <p:sp>
        <p:nvSpPr>
          <p:cNvPr id="9" name="직사각형 8">
            <a:extLst>
              <a:ext uri="{FF2B5EF4-FFF2-40B4-BE49-F238E27FC236}">
                <a16:creationId xmlns:a16="http://schemas.microsoft.com/office/drawing/2014/main" id="{3AE6ED49-8F4A-428A-9408-86CE2D1CB692}"/>
              </a:ext>
            </a:extLst>
          </p:cNvPr>
          <p:cNvSpPr>
            <a:spLocks noGrp="1"/>
          </p:cNvSpPr>
          <p:nvPr/>
        </p:nvSpPr>
        <p:spPr>
          <a:xfrm>
            <a:off x="3352800" y="3228975"/>
            <a:ext cx="5486400" cy="19050"/>
          </a:xfrm>
          <a:prstGeom prst="rect">
            <a:avLst/>
          </a:prstGeom>
          <a:solidFill>
            <a:srgbClr val="AAAAAA"/>
          </a:solidFill>
          <a:ln w="0">
            <a:noFill/>
          </a:ln>
        </p:spPr>
      </p:sp>
      <p:sp>
        <p:nvSpPr>
          <p:cNvPr id="10" name="직사각형 9">
            <a:extLst>
              <a:ext uri="{FF2B5EF4-FFF2-40B4-BE49-F238E27FC236}">
                <a16:creationId xmlns:a16="http://schemas.microsoft.com/office/drawing/2014/main" id="{3372F96A-D143-4E34-8422-78D3DC7CD122}"/>
              </a:ext>
            </a:extLst>
          </p:cNvPr>
          <p:cNvSpPr>
            <a:spLocks noGrp="1"/>
          </p:cNvSpPr>
          <p:nvPr/>
        </p:nvSpPr>
        <p:spPr>
          <a:xfrm>
            <a:off x="3343275" y="3228975"/>
            <a:ext cx="19050" cy="295275"/>
          </a:xfrm>
          <a:prstGeom prst="rect">
            <a:avLst/>
          </a:prstGeom>
          <a:solidFill>
            <a:srgbClr val="AAAAAA"/>
          </a:solidFill>
          <a:ln w="0">
            <a:noFill/>
          </a:ln>
        </p:spPr>
      </p:sp>
      <p:sp>
        <p:nvSpPr>
          <p:cNvPr id="11" name="직사각형 10">
            <a:extLst>
              <a:ext uri="{FF2B5EF4-FFF2-40B4-BE49-F238E27FC236}">
                <a16:creationId xmlns:a16="http://schemas.microsoft.com/office/drawing/2014/main" id="{ABCD580F-8312-416B-A207-788C1B7EFA63}"/>
              </a:ext>
            </a:extLst>
          </p:cNvPr>
          <p:cNvSpPr>
            <a:spLocks noGrp="1"/>
          </p:cNvSpPr>
          <p:nvPr/>
        </p:nvSpPr>
        <p:spPr>
          <a:xfrm>
            <a:off x="8829675" y="3228975"/>
            <a:ext cx="19050" cy="295275"/>
          </a:xfrm>
          <a:prstGeom prst="rect">
            <a:avLst/>
          </a:prstGeom>
          <a:solidFill>
            <a:srgbClr val="AAAAAA"/>
          </a:solidFill>
          <a:ln w="0">
            <a:noFill/>
          </a:ln>
        </p:spPr>
      </p:sp>
      <p:graphicFrame>
        <p:nvGraphicFramePr>
          <p:cNvPr id="12" name="표 11">
            <a:extLst>
              <a:ext uri="{FF2B5EF4-FFF2-40B4-BE49-F238E27FC236}">
                <a16:creationId xmlns:a16="http://schemas.microsoft.com/office/drawing/2014/main" id="{1781B5A3-1697-4BF4-A68F-F00E8C069F33}"/>
              </a:ext>
            </a:extLst>
          </p:cNvPr>
          <p:cNvGraphicFramePr/>
          <p:nvPr/>
        </p:nvGraphicFramePr>
        <p:xfrm>
          <a:off x="1676400" y="2476500"/>
          <a:ext cx="88392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gridCol w="1104900">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1049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Consolas"/>
                          <a:ea typeface="Consolas"/>
                          <a:cs typeface="Consolas"/>
                        </a:rPr>
                        <a:t>8</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F6F6F6"/>
                    </a:solidFill>
                  </a:tcPr>
                </a:tc>
                <a:tc>
                  <a:txBody>
                    <a:bodyPr/>
                    <a:lstStyle/>
                    <a:p>
                      <a:pPr algn="ctr"/>
                      <a:r>
                        <a:rPr sz="2250" b="1">
                          <a:solidFill>
                            <a:srgbClr val="151515"/>
                          </a:solidFill>
                          <a:latin typeface="Consolas"/>
                          <a:ea typeface="Consolas"/>
                          <a:cs typeface="Consolas"/>
                        </a:rPr>
                        <a:t>2</a:t>
                      </a:r>
                    </a:p>
                  </a:txBody>
                  <a:tcPr anchor="ctr">
                    <a:solidFill>
                      <a:srgbClr val="F6F6F6"/>
                    </a:solidFill>
                  </a:tcPr>
                </a:tc>
                <a:tc>
                  <a:txBody>
                    <a:bodyPr/>
                    <a:lstStyle/>
                    <a:p>
                      <a:pPr algn="ctr"/>
                      <a:r>
                        <a:rPr sz="2250" b="1">
                          <a:solidFill>
                            <a:srgbClr val="151515"/>
                          </a:solidFill>
                          <a:latin typeface="Consolas"/>
                          <a:ea typeface="Consolas"/>
                          <a:cs typeface="Consolas"/>
                        </a:rPr>
                        <a:t>7</a:t>
                      </a:r>
                    </a:p>
                  </a:txBody>
                  <a:tcPr anchor="ctr">
                    <a:solidFill>
                      <a:srgbClr val="F6F6F6"/>
                    </a:solidFill>
                  </a:tcPr>
                </a:tc>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13" name="표 12">
            <a:extLst>
              <a:ext uri="{FF2B5EF4-FFF2-40B4-BE49-F238E27FC236}">
                <a16:creationId xmlns:a16="http://schemas.microsoft.com/office/drawing/2014/main" id="{75E08AC7-9A04-4BFD-B07E-EF6EF2932EB0}"/>
              </a:ext>
            </a:extLst>
          </p:cNvPr>
          <p:cNvGraphicFramePr/>
          <p:nvPr/>
        </p:nvGraphicFramePr>
        <p:xfrm>
          <a:off x="1143000" y="3524250"/>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8</a:t>
                      </a:r>
                    </a:p>
                  </a:txBody>
                  <a:tcPr anchor="ctr">
                    <a:solidFill>
                      <a:srgbClr val="DCECFB"/>
                    </a:solidFill>
                  </a:tcPr>
                </a:tc>
                <a:tc>
                  <a:txBody>
                    <a:bodyPr/>
                    <a:lstStyle/>
                    <a:p>
                      <a:pPr algn="ctr"/>
                      <a:r>
                        <a:rPr sz="2250" b="1">
                          <a:solidFill>
                            <a:srgbClr val="151515"/>
                          </a:solidFill>
                          <a:latin typeface="Consolas"/>
                          <a:ea typeface="Consolas"/>
                          <a:cs typeface="Consolas"/>
                        </a:rPr>
                        <a:t>3</a:t>
                      </a:r>
                    </a:p>
                  </a:txBody>
                  <a:tcPr anchor="ctr">
                    <a:solidFill>
                      <a:srgbClr val="DCECFB"/>
                    </a:solidFill>
                  </a:tcPr>
                </a:tc>
                <a:tc>
                  <a:txBody>
                    <a:bodyPr/>
                    <a:lstStyle/>
                    <a:p>
                      <a:pPr algn="ctr"/>
                      <a:r>
                        <a:rPr sz="2250" b="1">
                          <a:solidFill>
                            <a:srgbClr val="151515"/>
                          </a:solidFill>
                          <a:latin typeface="Consolas"/>
                          <a:ea typeface="Consolas"/>
                          <a:cs typeface="Consolas"/>
                        </a:rPr>
                        <a:t>6</a:t>
                      </a:r>
                    </a:p>
                  </a:txBody>
                  <a:tcPr anchor="ctr">
                    <a:solidFill>
                      <a:srgbClr val="DCECFB"/>
                    </a:solidFill>
                  </a:tcPr>
                </a:tc>
                <a:tc>
                  <a:txBody>
                    <a:bodyPr/>
                    <a:lstStyle/>
                    <a:p>
                      <a:pPr algn="ctr"/>
                      <a:r>
                        <a:rPr sz="2250" b="1">
                          <a:solidFill>
                            <a:srgbClr val="151515"/>
                          </a:solidFill>
                          <a:latin typeface="Consolas"/>
                          <a:ea typeface="Consolas"/>
                          <a:cs typeface="Consolas"/>
                        </a:rPr>
                        <a:t>2</a:t>
                      </a:r>
                    </a:p>
                  </a:txBody>
                  <a:tcPr anchor="ctr">
                    <a:solidFill>
                      <a:srgbClr val="DCECFB"/>
                    </a:solidFill>
                  </a:tcPr>
                </a:tc>
                <a:extLst>
                  <a:ext uri="{0D108BD9-81ED-4DB2-BD59-A6C34878D82A}">
                    <a16:rowId xmlns:a16="http://schemas.microsoft.com/office/drawing/2014/main" val="10000"/>
                  </a:ext>
                </a:extLst>
              </a:tr>
            </a:tbl>
          </a:graphicData>
        </a:graphic>
      </p:graphicFrame>
      <p:graphicFrame>
        <p:nvGraphicFramePr>
          <p:cNvPr id="14" name="표 13">
            <a:extLst>
              <a:ext uri="{FF2B5EF4-FFF2-40B4-BE49-F238E27FC236}">
                <a16:creationId xmlns:a16="http://schemas.microsoft.com/office/drawing/2014/main" id="{2CE87EE2-A411-4DAF-A552-682078A1F603}"/>
              </a:ext>
            </a:extLst>
          </p:cNvPr>
          <p:cNvGraphicFramePr/>
          <p:nvPr/>
        </p:nvGraphicFramePr>
        <p:xfrm>
          <a:off x="6629400" y="3524250"/>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7</a:t>
                      </a:r>
                    </a:p>
                  </a:txBody>
                  <a:tcPr anchor="ctr">
                    <a:solidFill>
                      <a:srgbClr val="DDEFE6"/>
                    </a:solidFill>
                  </a:tcPr>
                </a:tc>
                <a:tc>
                  <a:txBody>
                    <a:bodyPr/>
                    <a:lstStyle/>
                    <a:p>
                      <a:pPr algn="ctr"/>
                      <a:r>
                        <a:rPr sz="2250" b="1">
                          <a:solidFill>
                            <a:srgbClr val="151515"/>
                          </a:solidFill>
                          <a:latin typeface="Consolas"/>
                          <a:ea typeface="Consolas"/>
                          <a:cs typeface="Consolas"/>
                        </a:rPr>
                        <a:t>1</a:t>
                      </a:r>
                    </a:p>
                  </a:txBody>
                  <a:tcPr anchor="ctr">
                    <a:solidFill>
                      <a:srgbClr val="DDEFE6"/>
                    </a:solidFill>
                  </a:tcPr>
                </a:tc>
                <a:tc>
                  <a:txBody>
                    <a:bodyPr/>
                    <a:lstStyle/>
                    <a:p>
                      <a:pPr algn="ctr"/>
                      <a:r>
                        <a:rPr sz="2250" b="1">
                          <a:solidFill>
                            <a:srgbClr val="151515"/>
                          </a:solidFill>
                          <a:latin typeface="Consolas"/>
                          <a:ea typeface="Consolas"/>
                          <a:cs typeface="Consolas"/>
                        </a:rPr>
                        <a:t>5</a:t>
                      </a:r>
                    </a:p>
                  </a:txBody>
                  <a:tcPr anchor="ctr">
                    <a:solidFill>
                      <a:srgbClr val="DDEFE6"/>
                    </a:solidFill>
                  </a:tcPr>
                </a:tc>
                <a:tc>
                  <a:txBody>
                    <a:bodyPr/>
                    <a:lstStyle/>
                    <a:p>
                      <a:pPr algn="ctr"/>
                      <a:r>
                        <a:rPr sz="22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5" name="next">
            <a:extLst>
              <a:ext uri="{FF2B5EF4-FFF2-40B4-BE49-F238E27FC236}">
                <a16:creationId xmlns:a16="http://schemas.microsoft.com/office/drawing/2014/main" id="{F74E9B3A-1FA3-4588-8FFE-7847D233DA62}"/>
              </a:ext>
            </a:extLst>
          </p:cNvPr>
          <p:cNvSpPr>
            <a:spLocks noGrp="1"/>
          </p:cNvSpPr>
          <p:nvPr/>
        </p:nvSpPr>
        <p:spPr>
          <a:xfrm>
            <a:off x="1143000" y="5019675"/>
            <a:ext cx="9906000" cy="476250"/>
          </a:xfrm>
          <a:prstGeom prst="rect">
            <a:avLst/>
          </a:prstGeom>
          <a:noFill/>
          <a:ln w="0">
            <a:noFill/>
          </a:ln>
        </p:spPr>
        <p:txBody>
          <a:bodyPr wrap="none" lIns="0" tIns="0" rIns="0" bIns="0" anchor="t">
            <a:noAutofit/>
          </a:bodyPr>
          <a:lstStyle>
            <a:defPPr algn="l">
              <a:defRPr sz="2250" b="0">
                <a:solidFill>
                  <a:srgbClr val="151515"/>
                </a:solidFill>
                <a:latin typeface="Malgun Gothic"/>
                <a:ea typeface="Malgun Gothic"/>
                <a:cs typeface="Malgun Gothic"/>
              </a:defRPr>
            </a:defPPr>
          </a:lstStyle>
          <a:p>
            <a:pPr algn="l">
              <a:lnSpc>
                <a:spcPct val="106000"/>
              </a:lnSpc>
              <a:buNone/>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다음: 네 개짜리 구간도 더 작은 문제로 나눕니다.</a:t>
            </a:r>
          </a:p>
        </p:txBody>
      </p:sp>
    </p:spTree>
    <p:extLst>
      <p:ext uri="{BB962C8B-B14F-4D97-AF65-F5344CB8AC3E}">
        <p14:creationId xmlns:p14="http://schemas.microsoft.com/office/powerpoint/2010/main" val="367094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ection">
            <a:extLst>
              <a:ext uri="{FF2B5EF4-FFF2-40B4-BE49-F238E27FC236}">
                <a16:creationId xmlns:a16="http://schemas.microsoft.com/office/drawing/2014/main" id="{BEC96228-65E6-431A-9D22-698A7EA34645}"/>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50728B11-FCB0-4FD6-9A37-0637675479FD}"/>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D85D214D-BBA6-4E78-85DC-608C443C9CC4}"/>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나누기 ② · 4개를 2개씩</a:t>
            </a:r>
          </a:p>
        </p:txBody>
      </p:sp>
      <p:sp>
        <p:nvSpPr>
          <p:cNvPr id="4" name="직사각형 3">
            <a:extLst>
              <a:ext uri="{FF2B5EF4-FFF2-40B4-BE49-F238E27FC236}">
                <a16:creationId xmlns:a16="http://schemas.microsoft.com/office/drawing/2014/main" id="{8789F09C-C6FB-46DA-B89D-0CBAEBA7802F}"/>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ACFDD9E4-B2A2-4370-A0D0-04D4091DA043}"/>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네 개짜리 구간도 각각 가운데에서 나눕니다.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두 개짜리 네 묶음이 생겼지만, 아직 정렬된 결과는 아닙니다.</a:t>
            </a:r>
          </a:p>
        </p:txBody>
      </p:sp>
      <p:sp>
        <p:nvSpPr>
          <p:cNvPr id="6" name="footer">
            <a:extLst>
              <a:ext uri="{FF2B5EF4-FFF2-40B4-BE49-F238E27FC236}">
                <a16:creationId xmlns:a16="http://schemas.microsoft.com/office/drawing/2014/main" id="{3187B693-927C-4F38-8424-C1A909772BC7}"/>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CA5994B2-C3C9-45AB-A975-16BFE4477FF9}"/>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9</a:t>
            </a:r>
            <a:endParaRPr sz="1050" b="0">
              <a:solidFill>
                <a:srgbClr val="151515"/>
              </a:solidFill>
              <a:latin typeface="Consolas"/>
              <a:ea typeface="Consolas"/>
              <a:cs typeface="Consolas"/>
            </a:endParaRPr>
          </a:p>
        </p:txBody>
      </p:sp>
      <p:sp>
        <p:nvSpPr>
          <p:cNvPr id="8" name="직사각형 7">
            <a:extLst>
              <a:ext uri="{FF2B5EF4-FFF2-40B4-BE49-F238E27FC236}">
                <a16:creationId xmlns:a16="http://schemas.microsoft.com/office/drawing/2014/main" id="{1CC1F265-F9B9-461E-97D1-5C14601D62B6}"/>
              </a:ext>
            </a:extLst>
          </p:cNvPr>
          <p:cNvSpPr>
            <a:spLocks noGrp="1"/>
          </p:cNvSpPr>
          <p:nvPr/>
        </p:nvSpPr>
        <p:spPr>
          <a:xfrm>
            <a:off x="6086475" y="2971800"/>
            <a:ext cx="19050" cy="257175"/>
          </a:xfrm>
          <a:prstGeom prst="rect">
            <a:avLst/>
          </a:prstGeom>
          <a:solidFill>
            <a:srgbClr val="AAAAAA"/>
          </a:solidFill>
          <a:ln w="0">
            <a:noFill/>
          </a:ln>
        </p:spPr>
      </p:sp>
      <p:sp>
        <p:nvSpPr>
          <p:cNvPr id="9" name="직사각형 8">
            <a:extLst>
              <a:ext uri="{FF2B5EF4-FFF2-40B4-BE49-F238E27FC236}">
                <a16:creationId xmlns:a16="http://schemas.microsoft.com/office/drawing/2014/main" id="{93348592-3432-4044-84E0-DE98C0D71B0A}"/>
              </a:ext>
            </a:extLst>
          </p:cNvPr>
          <p:cNvSpPr>
            <a:spLocks noGrp="1"/>
          </p:cNvSpPr>
          <p:nvPr/>
        </p:nvSpPr>
        <p:spPr>
          <a:xfrm>
            <a:off x="3352800" y="3228975"/>
            <a:ext cx="5486400" cy="19050"/>
          </a:xfrm>
          <a:prstGeom prst="rect">
            <a:avLst/>
          </a:prstGeom>
          <a:solidFill>
            <a:srgbClr val="AAAAAA"/>
          </a:solidFill>
          <a:ln w="0">
            <a:noFill/>
          </a:ln>
        </p:spPr>
      </p:sp>
      <p:sp>
        <p:nvSpPr>
          <p:cNvPr id="10" name="직사각형 9">
            <a:extLst>
              <a:ext uri="{FF2B5EF4-FFF2-40B4-BE49-F238E27FC236}">
                <a16:creationId xmlns:a16="http://schemas.microsoft.com/office/drawing/2014/main" id="{0572469F-2908-4256-87B4-D45DB9A95254}"/>
              </a:ext>
            </a:extLst>
          </p:cNvPr>
          <p:cNvSpPr>
            <a:spLocks noGrp="1"/>
          </p:cNvSpPr>
          <p:nvPr/>
        </p:nvSpPr>
        <p:spPr>
          <a:xfrm>
            <a:off x="3343275" y="3228975"/>
            <a:ext cx="19050" cy="295275"/>
          </a:xfrm>
          <a:prstGeom prst="rect">
            <a:avLst/>
          </a:prstGeom>
          <a:solidFill>
            <a:srgbClr val="AAAAAA"/>
          </a:solidFill>
          <a:ln w="0">
            <a:noFill/>
          </a:ln>
        </p:spPr>
      </p:sp>
      <p:sp>
        <p:nvSpPr>
          <p:cNvPr id="11" name="직사각형 10">
            <a:extLst>
              <a:ext uri="{FF2B5EF4-FFF2-40B4-BE49-F238E27FC236}">
                <a16:creationId xmlns:a16="http://schemas.microsoft.com/office/drawing/2014/main" id="{F191EB16-5EC9-40B8-A389-CFADF30C6562}"/>
              </a:ext>
            </a:extLst>
          </p:cNvPr>
          <p:cNvSpPr>
            <a:spLocks noGrp="1"/>
          </p:cNvSpPr>
          <p:nvPr/>
        </p:nvSpPr>
        <p:spPr>
          <a:xfrm>
            <a:off x="8829675" y="3228975"/>
            <a:ext cx="19050" cy="295275"/>
          </a:xfrm>
          <a:prstGeom prst="rect">
            <a:avLst/>
          </a:prstGeom>
          <a:solidFill>
            <a:srgbClr val="AAAAAA"/>
          </a:solidFill>
          <a:ln w="0">
            <a:noFill/>
          </a:ln>
        </p:spPr>
      </p:sp>
      <p:graphicFrame>
        <p:nvGraphicFramePr>
          <p:cNvPr id="12" name="표 11">
            <a:extLst>
              <a:ext uri="{FF2B5EF4-FFF2-40B4-BE49-F238E27FC236}">
                <a16:creationId xmlns:a16="http://schemas.microsoft.com/office/drawing/2014/main" id="{3351E50C-54F4-4ED7-9FA8-88B125F2BBDE}"/>
              </a:ext>
            </a:extLst>
          </p:cNvPr>
          <p:cNvGraphicFramePr/>
          <p:nvPr/>
        </p:nvGraphicFramePr>
        <p:xfrm>
          <a:off x="1676400" y="2476500"/>
          <a:ext cx="88392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gridCol w="1104900">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1049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Consolas"/>
                          <a:ea typeface="Consolas"/>
                          <a:cs typeface="Consolas"/>
                        </a:rPr>
                        <a:t>8</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F6F6F6"/>
                    </a:solidFill>
                  </a:tcPr>
                </a:tc>
                <a:tc>
                  <a:txBody>
                    <a:bodyPr/>
                    <a:lstStyle/>
                    <a:p>
                      <a:pPr algn="ctr"/>
                      <a:r>
                        <a:rPr sz="2250" b="1">
                          <a:solidFill>
                            <a:srgbClr val="151515"/>
                          </a:solidFill>
                          <a:latin typeface="Consolas"/>
                          <a:ea typeface="Consolas"/>
                          <a:cs typeface="Consolas"/>
                        </a:rPr>
                        <a:t>2</a:t>
                      </a:r>
                    </a:p>
                  </a:txBody>
                  <a:tcPr anchor="ctr">
                    <a:solidFill>
                      <a:srgbClr val="F6F6F6"/>
                    </a:solidFill>
                  </a:tcPr>
                </a:tc>
                <a:tc>
                  <a:txBody>
                    <a:bodyPr/>
                    <a:lstStyle/>
                    <a:p>
                      <a:pPr algn="ctr"/>
                      <a:r>
                        <a:rPr sz="2250" b="1">
                          <a:solidFill>
                            <a:srgbClr val="151515"/>
                          </a:solidFill>
                          <a:latin typeface="Consolas"/>
                          <a:ea typeface="Consolas"/>
                          <a:cs typeface="Consolas"/>
                        </a:rPr>
                        <a:t>7</a:t>
                      </a:r>
                    </a:p>
                  </a:txBody>
                  <a:tcPr anchor="ctr">
                    <a:solidFill>
                      <a:srgbClr val="F6F6F6"/>
                    </a:solidFill>
                  </a:tcPr>
                </a:tc>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3" name="직사각형 12">
            <a:extLst>
              <a:ext uri="{FF2B5EF4-FFF2-40B4-BE49-F238E27FC236}">
                <a16:creationId xmlns:a16="http://schemas.microsoft.com/office/drawing/2014/main" id="{735B346A-B2FA-4023-8C5A-CB55F5FA01B6}"/>
              </a:ext>
            </a:extLst>
          </p:cNvPr>
          <p:cNvSpPr>
            <a:spLocks noGrp="1"/>
          </p:cNvSpPr>
          <p:nvPr/>
        </p:nvSpPr>
        <p:spPr>
          <a:xfrm>
            <a:off x="3343275" y="4019550"/>
            <a:ext cx="19050" cy="257175"/>
          </a:xfrm>
          <a:prstGeom prst="rect">
            <a:avLst/>
          </a:prstGeom>
          <a:solidFill>
            <a:srgbClr val="AAAAAA"/>
          </a:solidFill>
          <a:ln w="0">
            <a:noFill/>
          </a:ln>
        </p:spPr>
      </p:sp>
      <p:sp>
        <p:nvSpPr>
          <p:cNvPr id="14" name="직사각형 13">
            <a:extLst>
              <a:ext uri="{FF2B5EF4-FFF2-40B4-BE49-F238E27FC236}">
                <a16:creationId xmlns:a16="http://schemas.microsoft.com/office/drawing/2014/main" id="{C682CBCB-7221-40C4-A200-16BC77902014}"/>
              </a:ext>
            </a:extLst>
          </p:cNvPr>
          <p:cNvSpPr>
            <a:spLocks noGrp="1"/>
          </p:cNvSpPr>
          <p:nvPr/>
        </p:nvSpPr>
        <p:spPr>
          <a:xfrm>
            <a:off x="1981200" y="4276725"/>
            <a:ext cx="2743200" cy="19050"/>
          </a:xfrm>
          <a:prstGeom prst="rect">
            <a:avLst/>
          </a:prstGeom>
          <a:solidFill>
            <a:srgbClr val="AAAAAA"/>
          </a:solidFill>
          <a:ln w="0">
            <a:noFill/>
          </a:ln>
        </p:spPr>
      </p:sp>
      <p:sp>
        <p:nvSpPr>
          <p:cNvPr id="15" name="직사각형 14">
            <a:extLst>
              <a:ext uri="{FF2B5EF4-FFF2-40B4-BE49-F238E27FC236}">
                <a16:creationId xmlns:a16="http://schemas.microsoft.com/office/drawing/2014/main" id="{4472047A-A1A4-4990-BEEE-4B541769813A}"/>
              </a:ext>
            </a:extLst>
          </p:cNvPr>
          <p:cNvSpPr>
            <a:spLocks noGrp="1"/>
          </p:cNvSpPr>
          <p:nvPr/>
        </p:nvSpPr>
        <p:spPr>
          <a:xfrm>
            <a:off x="1971675" y="4276725"/>
            <a:ext cx="19050" cy="295275"/>
          </a:xfrm>
          <a:prstGeom prst="rect">
            <a:avLst/>
          </a:prstGeom>
          <a:solidFill>
            <a:srgbClr val="AAAAAA"/>
          </a:solidFill>
          <a:ln w="0">
            <a:noFill/>
          </a:ln>
        </p:spPr>
      </p:sp>
      <p:sp>
        <p:nvSpPr>
          <p:cNvPr id="16" name="직사각형 15">
            <a:extLst>
              <a:ext uri="{FF2B5EF4-FFF2-40B4-BE49-F238E27FC236}">
                <a16:creationId xmlns:a16="http://schemas.microsoft.com/office/drawing/2014/main" id="{A4451E41-4E0B-4AAB-815D-B3E09B5E6677}"/>
              </a:ext>
            </a:extLst>
          </p:cNvPr>
          <p:cNvSpPr>
            <a:spLocks noGrp="1"/>
          </p:cNvSpPr>
          <p:nvPr/>
        </p:nvSpPr>
        <p:spPr>
          <a:xfrm>
            <a:off x="4714875" y="4276725"/>
            <a:ext cx="19050" cy="295275"/>
          </a:xfrm>
          <a:prstGeom prst="rect">
            <a:avLst/>
          </a:prstGeom>
          <a:solidFill>
            <a:srgbClr val="AAAAAA"/>
          </a:solidFill>
          <a:ln w="0">
            <a:noFill/>
          </a:ln>
        </p:spPr>
      </p:sp>
      <p:sp>
        <p:nvSpPr>
          <p:cNvPr id="17" name="직사각형 16">
            <a:extLst>
              <a:ext uri="{FF2B5EF4-FFF2-40B4-BE49-F238E27FC236}">
                <a16:creationId xmlns:a16="http://schemas.microsoft.com/office/drawing/2014/main" id="{4120BEEA-5C50-48BF-8B95-5D08F0EE0060}"/>
              </a:ext>
            </a:extLst>
          </p:cNvPr>
          <p:cNvSpPr>
            <a:spLocks noGrp="1"/>
          </p:cNvSpPr>
          <p:nvPr/>
        </p:nvSpPr>
        <p:spPr>
          <a:xfrm>
            <a:off x="8829675" y="4019550"/>
            <a:ext cx="19050" cy="257175"/>
          </a:xfrm>
          <a:prstGeom prst="rect">
            <a:avLst/>
          </a:prstGeom>
          <a:solidFill>
            <a:srgbClr val="AAAAAA"/>
          </a:solidFill>
          <a:ln w="0">
            <a:noFill/>
          </a:ln>
        </p:spPr>
      </p:sp>
      <p:sp>
        <p:nvSpPr>
          <p:cNvPr id="18" name="직사각형 17">
            <a:extLst>
              <a:ext uri="{FF2B5EF4-FFF2-40B4-BE49-F238E27FC236}">
                <a16:creationId xmlns:a16="http://schemas.microsoft.com/office/drawing/2014/main" id="{99F429BF-15E1-4A65-A1CB-CC55BE4B1D67}"/>
              </a:ext>
            </a:extLst>
          </p:cNvPr>
          <p:cNvSpPr>
            <a:spLocks noGrp="1"/>
          </p:cNvSpPr>
          <p:nvPr/>
        </p:nvSpPr>
        <p:spPr>
          <a:xfrm>
            <a:off x="7467600" y="4276725"/>
            <a:ext cx="2743200" cy="19050"/>
          </a:xfrm>
          <a:prstGeom prst="rect">
            <a:avLst/>
          </a:prstGeom>
          <a:solidFill>
            <a:srgbClr val="AAAAAA"/>
          </a:solidFill>
          <a:ln w="0">
            <a:noFill/>
          </a:ln>
        </p:spPr>
      </p:sp>
      <p:sp>
        <p:nvSpPr>
          <p:cNvPr id="19" name="직사각형 18">
            <a:extLst>
              <a:ext uri="{FF2B5EF4-FFF2-40B4-BE49-F238E27FC236}">
                <a16:creationId xmlns:a16="http://schemas.microsoft.com/office/drawing/2014/main" id="{E8A29EF9-ECFB-4FF3-8891-A46B506E9106}"/>
              </a:ext>
            </a:extLst>
          </p:cNvPr>
          <p:cNvSpPr>
            <a:spLocks noGrp="1"/>
          </p:cNvSpPr>
          <p:nvPr/>
        </p:nvSpPr>
        <p:spPr>
          <a:xfrm>
            <a:off x="7458075" y="4276725"/>
            <a:ext cx="19050" cy="295275"/>
          </a:xfrm>
          <a:prstGeom prst="rect">
            <a:avLst/>
          </a:prstGeom>
          <a:solidFill>
            <a:srgbClr val="AAAAAA"/>
          </a:solidFill>
          <a:ln w="0">
            <a:noFill/>
          </a:ln>
        </p:spPr>
      </p:sp>
      <p:sp>
        <p:nvSpPr>
          <p:cNvPr id="20" name="직사각형 19">
            <a:extLst>
              <a:ext uri="{FF2B5EF4-FFF2-40B4-BE49-F238E27FC236}">
                <a16:creationId xmlns:a16="http://schemas.microsoft.com/office/drawing/2014/main" id="{D4CBFB01-5E30-462A-8330-83264E326553}"/>
              </a:ext>
            </a:extLst>
          </p:cNvPr>
          <p:cNvSpPr>
            <a:spLocks noGrp="1"/>
          </p:cNvSpPr>
          <p:nvPr/>
        </p:nvSpPr>
        <p:spPr>
          <a:xfrm>
            <a:off x="10201275" y="4276725"/>
            <a:ext cx="19050" cy="295275"/>
          </a:xfrm>
          <a:prstGeom prst="rect">
            <a:avLst/>
          </a:prstGeom>
          <a:solidFill>
            <a:srgbClr val="AAAAAA"/>
          </a:solidFill>
          <a:ln w="0">
            <a:noFill/>
          </a:ln>
        </p:spPr>
      </p:sp>
      <p:graphicFrame>
        <p:nvGraphicFramePr>
          <p:cNvPr id="21" name="표 20">
            <a:extLst>
              <a:ext uri="{FF2B5EF4-FFF2-40B4-BE49-F238E27FC236}">
                <a16:creationId xmlns:a16="http://schemas.microsoft.com/office/drawing/2014/main" id="{C2FBF41A-04B7-493B-BD79-7A740A3DE8D4}"/>
              </a:ext>
            </a:extLst>
          </p:cNvPr>
          <p:cNvGraphicFramePr/>
          <p:nvPr/>
        </p:nvGraphicFramePr>
        <p:xfrm>
          <a:off x="1143000" y="3524250"/>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8</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F6F6F6"/>
                    </a:solidFill>
                  </a:tcPr>
                </a:tc>
                <a:tc>
                  <a:txBody>
                    <a:bodyPr/>
                    <a:lstStyle/>
                    <a:p>
                      <a:pPr algn="ctr"/>
                      <a:r>
                        <a:rPr sz="2250" b="1">
                          <a:solidFill>
                            <a:srgbClr val="151515"/>
                          </a:solidFill>
                          <a:latin typeface="Consolas"/>
                          <a:ea typeface="Consolas"/>
                          <a:cs typeface="Consolas"/>
                        </a:rPr>
                        <a:t>2</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22" name="표 21">
            <a:extLst>
              <a:ext uri="{FF2B5EF4-FFF2-40B4-BE49-F238E27FC236}">
                <a16:creationId xmlns:a16="http://schemas.microsoft.com/office/drawing/2014/main" id="{BA74306C-3F9E-44EF-BE18-5C8A6C2D1D96}"/>
              </a:ext>
            </a:extLst>
          </p:cNvPr>
          <p:cNvGraphicFramePr/>
          <p:nvPr/>
        </p:nvGraphicFramePr>
        <p:xfrm>
          <a:off x="6629400" y="3524250"/>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7</a:t>
                      </a:r>
                    </a:p>
                  </a:txBody>
                  <a:tcPr anchor="ctr">
                    <a:solidFill>
                      <a:srgbClr val="F6F6F6"/>
                    </a:solidFill>
                  </a:tcPr>
                </a:tc>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23" name="표 22">
            <a:extLst>
              <a:ext uri="{FF2B5EF4-FFF2-40B4-BE49-F238E27FC236}">
                <a16:creationId xmlns:a16="http://schemas.microsoft.com/office/drawing/2014/main" id="{F3B87C7B-1EED-4E86-B999-9BBF4DAB1192}"/>
              </a:ext>
            </a:extLst>
          </p:cNvPr>
          <p:cNvGraphicFramePr/>
          <p:nvPr/>
        </p:nvGraphicFramePr>
        <p:xfrm>
          <a:off x="8763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8</a:t>
                      </a:r>
                    </a:p>
                  </a:txBody>
                  <a:tcPr anchor="ctr">
                    <a:solidFill>
                      <a:srgbClr val="DCECFB"/>
                    </a:solidFill>
                  </a:tcPr>
                </a:tc>
                <a:tc>
                  <a:txBody>
                    <a:bodyPr/>
                    <a:lstStyle/>
                    <a:p>
                      <a:pPr algn="ctr"/>
                      <a:r>
                        <a:rPr sz="2250" b="1">
                          <a:solidFill>
                            <a:srgbClr val="151515"/>
                          </a:solidFill>
                          <a:latin typeface="Consolas"/>
                          <a:ea typeface="Consolas"/>
                          <a:cs typeface="Consolas"/>
                        </a:rPr>
                        <a:t>3</a:t>
                      </a:r>
                    </a:p>
                  </a:txBody>
                  <a:tcPr anchor="ctr">
                    <a:solidFill>
                      <a:srgbClr val="DCECFB"/>
                    </a:solidFill>
                  </a:tcPr>
                </a:tc>
                <a:extLst>
                  <a:ext uri="{0D108BD9-81ED-4DB2-BD59-A6C34878D82A}">
                    <a16:rowId xmlns:a16="http://schemas.microsoft.com/office/drawing/2014/main" val="10000"/>
                  </a:ext>
                </a:extLst>
              </a:tr>
            </a:tbl>
          </a:graphicData>
        </a:graphic>
      </p:graphicFrame>
      <p:graphicFrame>
        <p:nvGraphicFramePr>
          <p:cNvPr id="24" name="표 23">
            <a:extLst>
              <a:ext uri="{FF2B5EF4-FFF2-40B4-BE49-F238E27FC236}">
                <a16:creationId xmlns:a16="http://schemas.microsoft.com/office/drawing/2014/main" id="{E72E64B7-AA1E-4CA6-ACFD-36D6747C6461}"/>
              </a:ext>
            </a:extLst>
          </p:cNvPr>
          <p:cNvGraphicFramePr/>
          <p:nvPr/>
        </p:nvGraphicFramePr>
        <p:xfrm>
          <a:off x="36195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6</a:t>
                      </a:r>
                    </a:p>
                  </a:txBody>
                  <a:tcPr anchor="ctr">
                    <a:solidFill>
                      <a:srgbClr val="DDEFE6"/>
                    </a:solidFill>
                  </a:tcPr>
                </a:tc>
                <a:tc>
                  <a:txBody>
                    <a:bodyPr/>
                    <a:lstStyle/>
                    <a:p>
                      <a:pPr algn="ctr"/>
                      <a:r>
                        <a:rPr sz="2250" b="1">
                          <a:solidFill>
                            <a:srgbClr val="151515"/>
                          </a:solidFill>
                          <a:latin typeface="Consolas"/>
                          <a:ea typeface="Consolas"/>
                          <a:cs typeface="Consolas"/>
                        </a:rPr>
                        <a:t>2</a:t>
                      </a:r>
                    </a:p>
                  </a:txBody>
                  <a:tcPr anchor="ctr">
                    <a:solidFill>
                      <a:srgbClr val="DDEFE6"/>
                    </a:solidFill>
                  </a:tcPr>
                </a:tc>
                <a:extLst>
                  <a:ext uri="{0D108BD9-81ED-4DB2-BD59-A6C34878D82A}">
                    <a16:rowId xmlns:a16="http://schemas.microsoft.com/office/drawing/2014/main" val="10000"/>
                  </a:ext>
                </a:extLst>
              </a:tr>
            </a:tbl>
          </a:graphicData>
        </a:graphic>
      </p:graphicFrame>
      <p:graphicFrame>
        <p:nvGraphicFramePr>
          <p:cNvPr id="25" name="표 24">
            <a:extLst>
              <a:ext uri="{FF2B5EF4-FFF2-40B4-BE49-F238E27FC236}">
                <a16:creationId xmlns:a16="http://schemas.microsoft.com/office/drawing/2014/main" id="{4346B2F5-469F-44A0-B32F-B81ADFF6DB38}"/>
              </a:ext>
            </a:extLst>
          </p:cNvPr>
          <p:cNvGraphicFramePr/>
          <p:nvPr/>
        </p:nvGraphicFramePr>
        <p:xfrm>
          <a:off x="63627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7</a:t>
                      </a:r>
                    </a:p>
                  </a:txBody>
                  <a:tcPr anchor="ctr">
                    <a:solidFill>
                      <a:srgbClr val="DCECFB"/>
                    </a:solidFill>
                  </a:tcPr>
                </a:tc>
                <a:tc>
                  <a:txBody>
                    <a:bodyPr/>
                    <a:lstStyle/>
                    <a:p>
                      <a:pPr algn="ctr"/>
                      <a:r>
                        <a:rPr sz="2250" b="1">
                          <a:solidFill>
                            <a:srgbClr val="151515"/>
                          </a:solidFill>
                          <a:latin typeface="Consolas"/>
                          <a:ea typeface="Consolas"/>
                          <a:cs typeface="Consolas"/>
                        </a:rPr>
                        <a:t>1</a:t>
                      </a:r>
                    </a:p>
                  </a:txBody>
                  <a:tcPr anchor="ctr">
                    <a:solidFill>
                      <a:srgbClr val="DCECFB"/>
                    </a:solidFill>
                  </a:tcPr>
                </a:tc>
                <a:extLst>
                  <a:ext uri="{0D108BD9-81ED-4DB2-BD59-A6C34878D82A}">
                    <a16:rowId xmlns:a16="http://schemas.microsoft.com/office/drawing/2014/main" val="10000"/>
                  </a:ext>
                </a:extLst>
              </a:tr>
            </a:tbl>
          </a:graphicData>
        </a:graphic>
      </p:graphicFrame>
      <p:graphicFrame>
        <p:nvGraphicFramePr>
          <p:cNvPr id="26" name="표 25">
            <a:extLst>
              <a:ext uri="{FF2B5EF4-FFF2-40B4-BE49-F238E27FC236}">
                <a16:creationId xmlns:a16="http://schemas.microsoft.com/office/drawing/2014/main" id="{C35F797B-F18E-4722-96B1-A754C8AB018B}"/>
              </a:ext>
            </a:extLst>
          </p:cNvPr>
          <p:cNvGraphicFramePr/>
          <p:nvPr/>
        </p:nvGraphicFramePr>
        <p:xfrm>
          <a:off x="91059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5</a:t>
                      </a:r>
                    </a:p>
                  </a:txBody>
                  <a:tcPr anchor="ctr">
                    <a:solidFill>
                      <a:srgbClr val="DDEFE6"/>
                    </a:solidFill>
                  </a:tcPr>
                </a:tc>
                <a:tc>
                  <a:txBody>
                    <a:bodyPr/>
                    <a:lstStyle/>
                    <a:p>
                      <a:pPr algn="ctr"/>
                      <a:r>
                        <a:rPr sz="22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7" name="next">
            <a:extLst>
              <a:ext uri="{FF2B5EF4-FFF2-40B4-BE49-F238E27FC236}">
                <a16:creationId xmlns:a16="http://schemas.microsoft.com/office/drawing/2014/main" id="{EC808234-5DC3-4751-81FC-918C11C5BC0D}"/>
              </a:ext>
            </a:extLst>
          </p:cNvPr>
          <p:cNvSpPr>
            <a:spLocks noGrp="1"/>
          </p:cNvSpPr>
          <p:nvPr/>
        </p:nvSpPr>
        <p:spPr>
          <a:xfrm>
            <a:off x="1143000" y="5829300"/>
            <a:ext cx="9906000" cy="38100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다음: 두 개짜리 구간을 원소 하나씩 나눕니다.</a:t>
            </a:r>
          </a:p>
        </p:txBody>
      </p:sp>
    </p:spTree>
    <p:extLst>
      <p:ext uri="{BB962C8B-B14F-4D97-AF65-F5344CB8AC3E}">
        <p14:creationId xmlns:p14="http://schemas.microsoft.com/office/powerpoint/2010/main" val="2303636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ection">
            <a:extLst>
              <a:ext uri="{FF2B5EF4-FFF2-40B4-BE49-F238E27FC236}">
                <a16:creationId xmlns:a16="http://schemas.microsoft.com/office/drawing/2014/main" id="{C2C6DDD3-AE24-4C47-A326-12C6BA0F006F}"/>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5D8929B6-93CB-45EC-8C21-FC3BCAF8990F}"/>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1A90E107-185B-470B-8501-5705CBF484A7}"/>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나누기 ③ · 2개를 1개씩</a:t>
            </a:r>
          </a:p>
        </p:txBody>
      </p:sp>
      <p:sp>
        <p:nvSpPr>
          <p:cNvPr id="4" name="직사각형 3">
            <a:extLst>
              <a:ext uri="{FF2B5EF4-FFF2-40B4-BE49-F238E27FC236}">
                <a16:creationId xmlns:a16="http://schemas.microsoft.com/office/drawing/2014/main" id="{C5504C76-C644-4ABE-9181-E223E7FF96E4}"/>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D431491F-5B14-413B-94F4-76BB430AD835}"/>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원소가 하나이면 더 정렬할 것이 없습니다. 여기서 재귀 호출을 멈춥니다.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이제 한 원소짜리 결과 두 개를 받아 병합을 시작합니다.</a:t>
            </a:r>
          </a:p>
        </p:txBody>
      </p:sp>
      <p:sp>
        <p:nvSpPr>
          <p:cNvPr id="6" name="footer">
            <a:extLst>
              <a:ext uri="{FF2B5EF4-FFF2-40B4-BE49-F238E27FC236}">
                <a16:creationId xmlns:a16="http://schemas.microsoft.com/office/drawing/2014/main" id="{21D84FF9-C92F-405F-A35B-135BB70062C1}"/>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4A916708-AEE2-40FF-B2D9-48D7DDC6E298}"/>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10</a:t>
            </a:r>
            <a:endParaRPr sz="1050" b="0">
              <a:solidFill>
                <a:srgbClr val="151515"/>
              </a:solidFill>
              <a:latin typeface="Consolas"/>
              <a:ea typeface="Consolas"/>
              <a:cs typeface="Consolas"/>
            </a:endParaRPr>
          </a:p>
        </p:txBody>
      </p:sp>
      <p:sp>
        <p:nvSpPr>
          <p:cNvPr id="8" name="직사각형 7">
            <a:extLst>
              <a:ext uri="{FF2B5EF4-FFF2-40B4-BE49-F238E27FC236}">
                <a16:creationId xmlns:a16="http://schemas.microsoft.com/office/drawing/2014/main" id="{48B9D429-5037-4214-9809-EF635FCD1DF3}"/>
              </a:ext>
            </a:extLst>
          </p:cNvPr>
          <p:cNvSpPr>
            <a:spLocks noGrp="1"/>
          </p:cNvSpPr>
          <p:nvPr/>
        </p:nvSpPr>
        <p:spPr>
          <a:xfrm>
            <a:off x="6086475" y="2971800"/>
            <a:ext cx="19050" cy="257175"/>
          </a:xfrm>
          <a:prstGeom prst="rect">
            <a:avLst/>
          </a:prstGeom>
          <a:solidFill>
            <a:srgbClr val="AAAAAA"/>
          </a:solidFill>
          <a:ln w="0">
            <a:noFill/>
          </a:ln>
        </p:spPr>
      </p:sp>
      <p:sp>
        <p:nvSpPr>
          <p:cNvPr id="9" name="직사각형 8">
            <a:extLst>
              <a:ext uri="{FF2B5EF4-FFF2-40B4-BE49-F238E27FC236}">
                <a16:creationId xmlns:a16="http://schemas.microsoft.com/office/drawing/2014/main" id="{B8A6111D-6A1B-4318-9DE9-877AAFC7D6FA}"/>
              </a:ext>
            </a:extLst>
          </p:cNvPr>
          <p:cNvSpPr>
            <a:spLocks noGrp="1"/>
          </p:cNvSpPr>
          <p:nvPr/>
        </p:nvSpPr>
        <p:spPr>
          <a:xfrm>
            <a:off x="3352800" y="3228975"/>
            <a:ext cx="5486400" cy="19050"/>
          </a:xfrm>
          <a:prstGeom prst="rect">
            <a:avLst/>
          </a:prstGeom>
          <a:solidFill>
            <a:srgbClr val="AAAAAA"/>
          </a:solidFill>
          <a:ln w="0">
            <a:noFill/>
          </a:ln>
        </p:spPr>
      </p:sp>
      <p:sp>
        <p:nvSpPr>
          <p:cNvPr id="10" name="직사각형 9">
            <a:extLst>
              <a:ext uri="{FF2B5EF4-FFF2-40B4-BE49-F238E27FC236}">
                <a16:creationId xmlns:a16="http://schemas.microsoft.com/office/drawing/2014/main" id="{325C7193-3CC1-4517-B58B-3143F79B4C35}"/>
              </a:ext>
            </a:extLst>
          </p:cNvPr>
          <p:cNvSpPr>
            <a:spLocks noGrp="1"/>
          </p:cNvSpPr>
          <p:nvPr/>
        </p:nvSpPr>
        <p:spPr>
          <a:xfrm>
            <a:off x="3343275" y="3228975"/>
            <a:ext cx="19050" cy="295275"/>
          </a:xfrm>
          <a:prstGeom prst="rect">
            <a:avLst/>
          </a:prstGeom>
          <a:solidFill>
            <a:srgbClr val="AAAAAA"/>
          </a:solidFill>
          <a:ln w="0">
            <a:noFill/>
          </a:ln>
        </p:spPr>
      </p:sp>
      <p:sp>
        <p:nvSpPr>
          <p:cNvPr id="11" name="직사각형 10">
            <a:extLst>
              <a:ext uri="{FF2B5EF4-FFF2-40B4-BE49-F238E27FC236}">
                <a16:creationId xmlns:a16="http://schemas.microsoft.com/office/drawing/2014/main" id="{BA591D12-AB41-4F42-96B6-450B909F464E}"/>
              </a:ext>
            </a:extLst>
          </p:cNvPr>
          <p:cNvSpPr>
            <a:spLocks noGrp="1"/>
          </p:cNvSpPr>
          <p:nvPr/>
        </p:nvSpPr>
        <p:spPr>
          <a:xfrm>
            <a:off x="8829675" y="3228975"/>
            <a:ext cx="19050" cy="295275"/>
          </a:xfrm>
          <a:prstGeom prst="rect">
            <a:avLst/>
          </a:prstGeom>
          <a:solidFill>
            <a:srgbClr val="AAAAAA"/>
          </a:solidFill>
          <a:ln w="0">
            <a:noFill/>
          </a:ln>
        </p:spPr>
      </p:sp>
      <p:graphicFrame>
        <p:nvGraphicFramePr>
          <p:cNvPr id="12" name="표 11">
            <a:extLst>
              <a:ext uri="{FF2B5EF4-FFF2-40B4-BE49-F238E27FC236}">
                <a16:creationId xmlns:a16="http://schemas.microsoft.com/office/drawing/2014/main" id="{DF5E61AC-CB46-4B3A-9405-C8EFFDE4140E}"/>
              </a:ext>
            </a:extLst>
          </p:cNvPr>
          <p:cNvGraphicFramePr/>
          <p:nvPr/>
        </p:nvGraphicFramePr>
        <p:xfrm>
          <a:off x="1676400" y="2476500"/>
          <a:ext cx="88392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gridCol w="1104900">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1049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Consolas"/>
                          <a:ea typeface="Consolas"/>
                          <a:cs typeface="Consolas"/>
                        </a:rPr>
                        <a:t>8</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F6F6F6"/>
                    </a:solidFill>
                  </a:tcPr>
                </a:tc>
                <a:tc>
                  <a:txBody>
                    <a:bodyPr/>
                    <a:lstStyle/>
                    <a:p>
                      <a:pPr algn="ctr"/>
                      <a:r>
                        <a:rPr sz="2250" b="1">
                          <a:solidFill>
                            <a:srgbClr val="151515"/>
                          </a:solidFill>
                          <a:latin typeface="Consolas"/>
                          <a:ea typeface="Consolas"/>
                          <a:cs typeface="Consolas"/>
                        </a:rPr>
                        <a:t>2</a:t>
                      </a:r>
                    </a:p>
                  </a:txBody>
                  <a:tcPr anchor="ctr">
                    <a:solidFill>
                      <a:srgbClr val="F6F6F6"/>
                    </a:solidFill>
                  </a:tcPr>
                </a:tc>
                <a:tc>
                  <a:txBody>
                    <a:bodyPr/>
                    <a:lstStyle/>
                    <a:p>
                      <a:pPr algn="ctr"/>
                      <a:r>
                        <a:rPr sz="2250" b="1">
                          <a:solidFill>
                            <a:srgbClr val="151515"/>
                          </a:solidFill>
                          <a:latin typeface="Consolas"/>
                          <a:ea typeface="Consolas"/>
                          <a:cs typeface="Consolas"/>
                        </a:rPr>
                        <a:t>7</a:t>
                      </a:r>
                    </a:p>
                  </a:txBody>
                  <a:tcPr anchor="ctr">
                    <a:solidFill>
                      <a:srgbClr val="F6F6F6"/>
                    </a:solidFill>
                  </a:tcPr>
                </a:tc>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3" name="직사각형 12">
            <a:extLst>
              <a:ext uri="{FF2B5EF4-FFF2-40B4-BE49-F238E27FC236}">
                <a16:creationId xmlns:a16="http://schemas.microsoft.com/office/drawing/2014/main" id="{70DA38BA-46E4-46DD-A87C-917959426287}"/>
              </a:ext>
            </a:extLst>
          </p:cNvPr>
          <p:cNvSpPr>
            <a:spLocks noGrp="1"/>
          </p:cNvSpPr>
          <p:nvPr/>
        </p:nvSpPr>
        <p:spPr>
          <a:xfrm>
            <a:off x="3343275" y="4019550"/>
            <a:ext cx="19050" cy="257175"/>
          </a:xfrm>
          <a:prstGeom prst="rect">
            <a:avLst/>
          </a:prstGeom>
          <a:solidFill>
            <a:srgbClr val="AAAAAA"/>
          </a:solidFill>
          <a:ln w="0">
            <a:noFill/>
          </a:ln>
        </p:spPr>
      </p:sp>
      <p:sp>
        <p:nvSpPr>
          <p:cNvPr id="14" name="직사각형 13">
            <a:extLst>
              <a:ext uri="{FF2B5EF4-FFF2-40B4-BE49-F238E27FC236}">
                <a16:creationId xmlns:a16="http://schemas.microsoft.com/office/drawing/2014/main" id="{E4567F0B-8EA4-4F1A-8346-F377F9A9CF8A}"/>
              </a:ext>
            </a:extLst>
          </p:cNvPr>
          <p:cNvSpPr>
            <a:spLocks noGrp="1"/>
          </p:cNvSpPr>
          <p:nvPr/>
        </p:nvSpPr>
        <p:spPr>
          <a:xfrm>
            <a:off x="1981200" y="4276725"/>
            <a:ext cx="2743200" cy="19050"/>
          </a:xfrm>
          <a:prstGeom prst="rect">
            <a:avLst/>
          </a:prstGeom>
          <a:solidFill>
            <a:srgbClr val="AAAAAA"/>
          </a:solidFill>
          <a:ln w="0">
            <a:noFill/>
          </a:ln>
        </p:spPr>
      </p:sp>
      <p:sp>
        <p:nvSpPr>
          <p:cNvPr id="15" name="직사각형 14">
            <a:extLst>
              <a:ext uri="{FF2B5EF4-FFF2-40B4-BE49-F238E27FC236}">
                <a16:creationId xmlns:a16="http://schemas.microsoft.com/office/drawing/2014/main" id="{E1B62485-A578-419A-A64E-008BAE1E0B9B}"/>
              </a:ext>
            </a:extLst>
          </p:cNvPr>
          <p:cNvSpPr>
            <a:spLocks noGrp="1"/>
          </p:cNvSpPr>
          <p:nvPr/>
        </p:nvSpPr>
        <p:spPr>
          <a:xfrm>
            <a:off x="1971675" y="4276725"/>
            <a:ext cx="19050" cy="295275"/>
          </a:xfrm>
          <a:prstGeom prst="rect">
            <a:avLst/>
          </a:prstGeom>
          <a:solidFill>
            <a:srgbClr val="AAAAAA"/>
          </a:solidFill>
          <a:ln w="0">
            <a:noFill/>
          </a:ln>
        </p:spPr>
      </p:sp>
      <p:sp>
        <p:nvSpPr>
          <p:cNvPr id="16" name="직사각형 15">
            <a:extLst>
              <a:ext uri="{FF2B5EF4-FFF2-40B4-BE49-F238E27FC236}">
                <a16:creationId xmlns:a16="http://schemas.microsoft.com/office/drawing/2014/main" id="{8245637B-1FB4-4C1A-A99B-AE8046057616}"/>
              </a:ext>
            </a:extLst>
          </p:cNvPr>
          <p:cNvSpPr>
            <a:spLocks noGrp="1"/>
          </p:cNvSpPr>
          <p:nvPr/>
        </p:nvSpPr>
        <p:spPr>
          <a:xfrm>
            <a:off x="4714875" y="4276725"/>
            <a:ext cx="19050" cy="295275"/>
          </a:xfrm>
          <a:prstGeom prst="rect">
            <a:avLst/>
          </a:prstGeom>
          <a:solidFill>
            <a:srgbClr val="AAAAAA"/>
          </a:solidFill>
          <a:ln w="0">
            <a:noFill/>
          </a:ln>
        </p:spPr>
      </p:sp>
      <p:sp>
        <p:nvSpPr>
          <p:cNvPr id="17" name="직사각형 16">
            <a:extLst>
              <a:ext uri="{FF2B5EF4-FFF2-40B4-BE49-F238E27FC236}">
                <a16:creationId xmlns:a16="http://schemas.microsoft.com/office/drawing/2014/main" id="{7290D1F0-C992-4F05-9AE5-C917A0DC0503}"/>
              </a:ext>
            </a:extLst>
          </p:cNvPr>
          <p:cNvSpPr>
            <a:spLocks noGrp="1"/>
          </p:cNvSpPr>
          <p:nvPr/>
        </p:nvSpPr>
        <p:spPr>
          <a:xfrm>
            <a:off x="8829675" y="4019550"/>
            <a:ext cx="19050" cy="257175"/>
          </a:xfrm>
          <a:prstGeom prst="rect">
            <a:avLst/>
          </a:prstGeom>
          <a:solidFill>
            <a:srgbClr val="AAAAAA"/>
          </a:solidFill>
          <a:ln w="0">
            <a:noFill/>
          </a:ln>
        </p:spPr>
      </p:sp>
      <p:sp>
        <p:nvSpPr>
          <p:cNvPr id="18" name="직사각형 17">
            <a:extLst>
              <a:ext uri="{FF2B5EF4-FFF2-40B4-BE49-F238E27FC236}">
                <a16:creationId xmlns:a16="http://schemas.microsoft.com/office/drawing/2014/main" id="{25047E3C-E05A-4DDF-9ACA-4191144D780F}"/>
              </a:ext>
            </a:extLst>
          </p:cNvPr>
          <p:cNvSpPr>
            <a:spLocks noGrp="1"/>
          </p:cNvSpPr>
          <p:nvPr/>
        </p:nvSpPr>
        <p:spPr>
          <a:xfrm>
            <a:off x="7467600" y="4276725"/>
            <a:ext cx="2743200" cy="19050"/>
          </a:xfrm>
          <a:prstGeom prst="rect">
            <a:avLst/>
          </a:prstGeom>
          <a:solidFill>
            <a:srgbClr val="AAAAAA"/>
          </a:solidFill>
          <a:ln w="0">
            <a:noFill/>
          </a:ln>
        </p:spPr>
      </p:sp>
      <p:sp>
        <p:nvSpPr>
          <p:cNvPr id="19" name="직사각형 18">
            <a:extLst>
              <a:ext uri="{FF2B5EF4-FFF2-40B4-BE49-F238E27FC236}">
                <a16:creationId xmlns:a16="http://schemas.microsoft.com/office/drawing/2014/main" id="{E20065E5-875F-405D-8EED-9688E36C840D}"/>
              </a:ext>
            </a:extLst>
          </p:cNvPr>
          <p:cNvSpPr>
            <a:spLocks noGrp="1"/>
          </p:cNvSpPr>
          <p:nvPr/>
        </p:nvSpPr>
        <p:spPr>
          <a:xfrm>
            <a:off x="7458075" y="4276725"/>
            <a:ext cx="19050" cy="295275"/>
          </a:xfrm>
          <a:prstGeom prst="rect">
            <a:avLst/>
          </a:prstGeom>
          <a:solidFill>
            <a:srgbClr val="AAAAAA"/>
          </a:solidFill>
          <a:ln w="0">
            <a:noFill/>
          </a:ln>
        </p:spPr>
      </p:sp>
      <p:sp>
        <p:nvSpPr>
          <p:cNvPr id="20" name="직사각형 19">
            <a:extLst>
              <a:ext uri="{FF2B5EF4-FFF2-40B4-BE49-F238E27FC236}">
                <a16:creationId xmlns:a16="http://schemas.microsoft.com/office/drawing/2014/main" id="{0A7C0173-F296-42D5-946F-0D1C4AF8BBF9}"/>
              </a:ext>
            </a:extLst>
          </p:cNvPr>
          <p:cNvSpPr>
            <a:spLocks noGrp="1"/>
          </p:cNvSpPr>
          <p:nvPr/>
        </p:nvSpPr>
        <p:spPr>
          <a:xfrm>
            <a:off x="10201275" y="4276725"/>
            <a:ext cx="19050" cy="295275"/>
          </a:xfrm>
          <a:prstGeom prst="rect">
            <a:avLst/>
          </a:prstGeom>
          <a:solidFill>
            <a:srgbClr val="AAAAAA"/>
          </a:solidFill>
          <a:ln w="0">
            <a:noFill/>
          </a:ln>
        </p:spPr>
      </p:sp>
      <p:graphicFrame>
        <p:nvGraphicFramePr>
          <p:cNvPr id="21" name="표 20">
            <a:extLst>
              <a:ext uri="{FF2B5EF4-FFF2-40B4-BE49-F238E27FC236}">
                <a16:creationId xmlns:a16="http://schemas.microsoft.com/office/drawing/2014/main" id="{741D8334-67B4-45B0-8CDC-DD2136BC2406}"/>
              </a:ext>
            </a:extLst>
          </p:cNvPr>
          <p:cNvGraphicFramePr/>
          <p:nvPr/>
        </p:nvGraphicFramePr>
        <p:xfrm>
          <a:off x="1143000" y="3524250"/>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8</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F6F6F6"/>
                    </a:solidFill>
                  </a:tcPr>
                </a:tc>
                <a:tc>
                  <a:txBody>
                    <a:bodyPr/>
                    <a:lstStyle/>
                    <a:p>
                      <a:pPr algn="ctr"/>
                      <a:r>
                        <a:rPr sz="2250" b="1">
                          <a:solidFill>
                            <a:srgbClr val="151515"/>
                          </a:solidFill>
                          <a:latin typeface="Consolas"/>
                          <a:ea typeface="Consolas"/>
                          <a:cs typeface="Consolas"/>
                        </a:rPr>
                        <a:t>2</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22" name="표 21">
            <a:extLst>
              <a:ext uri="{FF2B5EF4-FFF2-40B4-BE49-F238E27FC236}">
                <a16:creationId xmlns:a16="http://schemas.microsoft.com/office/drawing/2014/main" id="{2CFEB954-66BC-4FD6-A8B3-8C3D1BF2AF5A}"/>
              </a:ext>
            </a:extLst>
          </p:cNvPr>
          <p:cNvGraphicFramePr/>
          <p:nvPr/>
        </p:nvGraphicFramePr>
        <p:xfrm>
          <a:off x="6629400" y="3524250"/>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7</a:t>
                      </a:r>
                    </a:p>
                  </a:txBody>
                  <a:tcPr anchor="ctr">
                    <a:solidFill>
                      <a:srgbClr val="F6F6F6"/>
                    </a:solidFill>
                  </a:tcPr>
                </a:tc>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3" name="직사각형 22">
            <a:extLst>
              <a:ext uri="{FF2B5EF4-FFF2-40B4-BE49-F238E27FC236}">
                <a16:creationId xmlns:a16="http://schemas.microsoft.com/office/drawing/2014/main" id="{DFB4F1FF-A615-4264-A0A9-B9CB62BEBA87}"/>
              </a:ext>
            </a:extLst>
          </p:cNvPr>
          <p:cNvSpPr>
            <a:spLocks noGrp="1"/>
          </p:cNvSpPr>
          <p:nvPr/>
        </p:nvSpPr>
        <p:spPr>
          <a:xfrm>
            <a:off x="1971675" y="5067300"/>
            <a:ext cx="19050" cy="257175"/>
          </a:xfrm>
          <a:prstGeom prst="rect">
            <a:avLst/>
          </a:prstGeom>
          <a:solidFill>
            <a:srgbClr val="AAAAAA"/>
          </a:solidFill>
          <a:ln w="0">
            <a:noFill/>
          </a:ln>
        </p:spPr>
      </p:sp>
      <p:sp>
        <p:nvSpPr>
          <p:cNvPr id="24" name="직사각형 23">
            <a:extLst>
              <a:ext uri="{FF2B5EF4-FFF2-40B4-BE49-F238E27FC236}">
                <a16:creationId xmlns:a16="http://schemas.microsoft.com/office/drawing/2014/main" id="{7A152A80-D800-4CB7-B18D-0AC061C86ECC}"/>
              </a:ext>
            </a:extLst>
          </p:cNvPr>
          <p:cNvSpPr>
            <a:spLocks noGrp="1"/>
          </p:cNvSpPr>
          <p:nvPr/>
        </p:nvSpPr>
        <p:spPr>
          <a:xfrm>
            <a:off x="1295400" y="5324475"/>
            <a:ext cx="1371600" cy="19050"/>
          </a:xfrm>
          <a:prstGeom prst="rect">
            <a:avLst/>
          </a:prstGeom>
          <a:solidFill>
            <a:srgbClr val="AAAAAA"/>
          </a:solidFill>
          <a:ln w="0">
            <a:noFill/>
          </a:ln>
        </p:spPr>
      </p:sp>
      <p:sp>
        <p:nvSpPr>
          <p:cNvPr id="25" name="직사각형 24">
            <a:extLst>
              <a:ext uri="{FF2B5EF4-FFF2-40B4-BE49-F238E27FC236}">
                <a16:creationId xmlns:a16="http://schemas.microsoft.com/office/drawing/2014/main" id="{5B68F6EC-04AC-4D80-8A95-D7C0924BC210}"/>
              </a:ext>
            </a:extLst>
          </p:cNvPr>
          <p:cNvSpPr>
            <a:spLocks noGrp="1"/>
          </p:cNvSpPr>
          <p:nvPr/>
        </p:nvSpPr>
        <p:spPr>
          <a:xfrm>
            <a:off x="1285875" y="5324475"/>
            <a:ext cx="19050" cy="295275"/>
          </a:xfrm>
          <a:prstGeom prst="rect">
            <a:avLst/>
          </a:prstGeom>
          <a:solidFill>
            <a:srgbClr val="AAAAAA"/>
          </a:solidFill>
          <a:ln w="0">
            <a:noFill/>
          </a:ln>
        </p:spPr>
      </p:sp>
      <p:sp>
        <p:nvSpPr>
          <p:cNvPr id="26" name="직사각형 25">
            <a:extLst>
              <a:ext uri="{FF2B5EF4-FFF2-40B4-BE49-F238E27FC236}">
                <a16:creationId xmlns:a16="http://schemas.microsoft.com/office/drawing/2014/main" id="{4C9672DF-3FA0-4A1D-9FE6-A0374833D27F}"/>
              </a:ext>
            </a:extLst>
          </p:cNvPr>
          <p:cNvSpPr>
            <a:spLocks noGrp="1"/>
          </p:cNvSpPr>
          <p:nvPr/>
        </p:nvSpPr>
        <p:spPr>
          <a:xfrm>
            <a:off x="2657475" y="5324475"/>
            <a:ext cx="19050" cy="295275"/>
          </a:xfrm>
          <a:prstGeom prst="rect">
            <a:avLst/>
          </a:prstGeom>
          <a:solidFill>
            <a:srgbClr val="AAAAAA"/>
          </a:solidFill>
          <a:ln w="0">
            <a:noFill/>
          </a:ln>
        </p:spPr>
      </p:sp>
      <p:sp>
        <p:nvSpPr>
          <p:cNvPr id="27" name="직사각형 26">
            <a:extLst>
              <a:ext uri="{FF2B5EF4-FFF2-40B4-BE49-F238E27FC236}">
                <a16:creationId xmlns:a16="http://schemas.microsoft.com/office/drawing/2014/main" id="{76BC1CD8-1E08-4CBC-B0AF-E77062162AFB}"/>
              </a:ext>
            </a:extLst>
          </p:cNvPr>
          <p:cNvSpPr>
            <a:spLocks noGrp="1"/>
          </p:cNvSpPr>
          <p:nvPr/>
        </p:nvSpPr>
        <p:spPr>
          <a:xfrm>
            <a:off x="4714875" y="5067300"/>
            <a:ext cx="19050" cy="257175"/>
          </a:xfrm>
          <a:prstGeom prst="rect">
            <a:avLst/>
          </a:prstGeom>
          <a:solidFill>
            <a:srgbClr val="AAAAAA"/>
          </a:solidFill>
          <a:ln w="0">
            <a:noFill/>
          </a:ln>
        </p:spPr>
      </p:sp>
      <p:sp>
        <p:nvSpPr>
          <p:cNvPr id="28" name="직사각형 27">
            <a:extLst>
              <a:ext uri="{FF2B5EF4-FFF2-40B4-BE49-F238E27FC236}">
                <a16:creationId xmlns:a16="http://schemas.microsoft.com/office/drawing/2014/main" id="{51AF680A-179E-45D1-A318-AF83CE0AE053}"/>
              </a:ext>
            </a:extLst>
          </p:cNvPr>
          <p:cNvSpPr>
            <a:spLocks noGrp="1"/>
          </p:cNvSpPr>
          <p:nvPr/>
        </p:nvSpPr>
        <p:spPr>
          <a:xfrm>
            <a:off x="4038600" y="5324475"/>
            <a:ext cx="1371600" cy="19050"/>
          </a:xfrm>
          <a:prstGeom prst="rect">
            <a:avLst/>
          </a:prstGeom>
          <a:solidFill>
            <a:srgbClr val="AAAAAA"/>
          </a:solidFill>
          <a:ln w="0">
            <a:noFill/>
          </a:ln>
        </p:spPr>
      </p:sp>
      <p:sp>
        <p:nvSpPr>
          <p:cNvPr id="29" name="직사각형 28">
            <a:extLst>
              <a:ext uri="{FF2B5EF4-FFF2-40B4-BE49-F238E27FC236}">
                <a16:creationId xmlns:a16="http://schemas.microsoft.com/office/drawing/2014/main" id="{0DF89B62-D5DD-464F-8C74-E36C51ADF18B}"/>
              </a:ext>
            </a:extLst>
          </p:cNvPr>
          <p:cNvSpPr>
            <a:spLocks noGrp="1"/>
          </p:cNvSpPr>
          <p:nvPr/>
        </p:nvSpPr>
        <p:spPr>
          <a:xfrm>
            <a:off x="4029075" y="5324475"/>
            <a:ext cx="19050" cy="295275"/>
          </a:xfrm>
          <a:prstGeom prst="rect">
            <a:avLst/>
          </a:prstGeom>
          <a:solidFill>
            <a:srgbClr val="AAAAAA"/>
          </a:solidFill>
          <a:ln w="0">
            <a:noFill/>
          </a:ln>
        </p:spPr>
      </p:sp>
      <p:sp>
        <p:nvSpPr>
          <p:cNvPr id="30" name="직사각형 29">
            <a:extLst>
              <a:ext uri="{FF2B5EF4-FFF2-40B4-BE49-F238E27FC236}">
                <a16:creationId xmlns:a16="http://schemas.microsoft.com/office/drawing/2014/main" id="{D3B6A350-AFD4-4293-9C5C-23240EA7BEFC}"/>
              </a:ext>
            </a:extLst>
          </p:cNvPr>
          <p:cNvSpPr>
            <a:spLocks noGrp="1"/>
          </p:cNvSpPr>
          <p:nvPr/>
        </p:nvSpPr>
        <p:spPr>
          <a:xfrm>
            <a:off x="5400675" y="5324475"/>
            <a:ext cx="19050" cy="295275"/>
          </a:xfrm>
          <a:prstGeom prst="rect">
            <a:avLst/>
          </a:prstGeom>
          <a:solidFill>
            <a:srgbClr val="AAAAAA"/>
          </a:solidFill>
          <a:ln w="0">
            <a:noFill/>
          </a:ln>
        </p:spPr>
      </p:sp>
      <p:sp>
        <p:nvSpPr>
          <p:cNvPr id="31" name="직사각형 30">
            <a:extLst>
              <a:ext uri="{FF2B5EF4-FFF2-40B4-BE49-F238E27FC236}">
                <a16:creationId xmlns:a16="http://schemas.microsoft.com/office/drawing/2014/main" id="{5E72037C-8BBC-4DD4-8AA5-0BC13FAFE23C}"/>
              </a:ext>
            </a:extLst>
          </p:cNvPr>
          <p:cNvSpPr>
            <a:spLocks noGrp="1"/>
          </p:cNvSpPr>
          <p:nvPr/>
        </p:nvSpPr>
        <p:spPr>
          <a:xfrm>
            <a:off x="7458075" y="5067300"/>
            <a:ext cx="19050" cy="257175"/>
          </a:xfrm>
          <a:prstGeom prst="rect">
            <a:avLst/>
          </a:prstGeom>
          <a:solidFill>
            <a:srgbClr val="AAAAAA"/>
          </a:solidFill>
          <a:ln w="0">
            <a:noFill/>
          </a:ln>
        </p:spPr>
      </p:sp>
      <p:sp>
        <p:nvSpPr>
          <p:cNvPr id="32" name="직사각형 31">
            <a:extLst>
              <a:ext uri="{FF2B5EF4-FFF2-40B4-BE49-F238E27FC236}">
                <a16:creationId xmlns:a16="http://schemas.microsoft.com/office/drawing/2014/main" id="{89D891DB-9494-4F88-949A-0F339CAA2816}"/>
              </a:ext>
            </a:extLst>
          </p:cNvPr>
          <p:cNvSpPr>
            <a:spLocks noGrp="1"/>
          </p:cNvSpPr>
          <p:nvPr/>
        </p:nvSpPr>
        <p:spPr>
          <a:xfrm>
            <a:off x="6781800" y="5324475"/>
            <a:ext cx="1371600" cy="19050"/>
          </a:xfrm>
          <a:prstGeom prst="rect">
            <a:avLst/>
          </a:prstGeom>
          <a:solidFill>
            <a:srgbClr val="AAAAAA"/>
          </a:solidFill>
          <a:ln w="0">
            <a:noFill/>
          </a:ln>
        </p:spPr>
      </p:sp>
      <p:sp>
        <p:nvSpPr>
          <p:cNvPr id="33" name="직사각형 32">
            <a:extLst>
              <a:ext uri="{FF2B5EF4-FFF2-40B4-BE49-F238E27FC236}">
                <a16:creationId xmlns:a16="http://schemas.microsoft.com/office/drawing/2014/main" id="{F1BB8CB8-CE79-4CDF-BC81-21F1D4F916E5}"/>
              </a:ext>
            </a:extLst>
          </p:cNvPr>
          <p:cNvSpPr>
            <a:spLocks noGrp="1"/>
          </p:cNvSpPr>
          <p:nvPr/>
        </p:nvSpPr>
        <p:spPr>
          <a:xfrm>
            <a:off x="6772275" y="5324475"/>
            <a:ext cx="19050" cy="295275"/>
          </a:xfrm>
          <a:prstGeom prst="rect">
            <a:avLst/>
          </a:prstGeom>
          <a:solidFill>
            <a:srgbClr val="AAAAAA"/>
          </a:solidFill>
          <a:ln w="0">
            <a:noFill/>
          </a:ln>
        </p:spPr>
      </p:sp>
      <p:sp>
        <p:nvSpPr>
          <p:cNvPr id="34" name="직사각형 33">
            <a:extLst>
              <a:ext uri="{FF2B5EF4-FFF2-40B4-BE49-F238E27FC236}">
                <a16:creationId xmlns:a16="http://schemas.microsoft.com/office/drawing/2014/main" id="{BC561234-6CFD-4C92-8EB5-FA38185132EF}"/>
              </a:ext>
            </a:extLst>
          </p:cNvPr>
          <p:cNvSpPr>
            <a:spLocks noGrp="1"/>
          </p:cNvSpPr>
          <p:nvPr/>
        </p:nvSpPr>
        <p:spPr>
          <a:xfrm>
            <a:off x="8143875" y="5324475"/>
            <a:ext cx="19050" cy="295275"/>
          </a:xfrm>
          <a:prstGeom prst="rect">
            <a:avLst/>
          </a:prstGeom>
          <a:solidFill>
            <a:srgbClr val="AAAAAA"/>
          </a:solidFill>
          <a:ln w="0">
            <a:noFill/>
          </a:ln>
        </p:spPr>
      </p:sp>
      <p:sp>
        <p:nvSpPr>
          <p:cNvPr id="35" name="직사각형 34">
            <a:extLst>
              <a:ext uri="{FF2B5EF4-FFF2-40B4-BE49-F238E27FC236}">
                <a16:creationId xmlns:a16="http://schemas.microsoft.com/office/drawing/2014/main" id="{639FBB0D-5D70-4DFC-A7B6-417F433935C2}"/>
              </a:ext>
            </a:extLst>
          </p:cNvPr>
          <p:cNvSpPr>
            <a:spLocks noGrp="1"/>
          </p:cNvSpPr>
          <p:nvPr/>
        </p:nvSpPr>
        <p:spPr>
          <a:xfrm>
            <a:off x="10201275" y="5067300"/>
            <a:ext cx="19050" cy="257175"/>
          </a:xfrm>
          <a:prstGeom prst="rect">
            <a:avLst/>
          </a:prstGeom>
          <a:solidFill>
            <a:srgbClr val="AAAAAA"/>
          </a:solidFill>
          <a:ln w="0">
            <a:noFill/>
          </a:ln>
        </p:spPr>
      </p:sp>
      <p:sp>
        <p:nvSpPr>
          <p:cNvPr id="36" name="직사각형 35">
            <a:extLst>
              <a:ext uri="{FF2B5EF4-FFF2-40B4-BE49-F238E27FC236}">
                <a16:creationId xmlns:a16="http://schemas.microsoft.com/office/drawing/2014/main" id="{EFFAF92E-0F65-4A92-88CB-03608D1AD0E0}"/>
              </a:ext>
            </a:extLst>
          </p:cNvPr>
          <p:cNvSpPr>
            <a:spLocks noGrp="1"/>
          </p:cNvSpPr>
          <p:nvPr/>
        </p:nvSpPr>
        <p:spPr>
          <a:xfrm>
            <a:off x="9525000" y="5324475"/>
            <a:ext cx="1371600" cy="19050"/>
          </a:xfrm>
          <a:prstGeom prst="rect">
            <a:avLst/>
          </a:prstGeom>
          <a:solidFill>
            <a:srgbClr val="AAAAAA"/>
          </a:solidFill>
          <a:ln w="0">
            <a:noFill/>
          </a:ln>
        </p:spPr>
      </p:sp>
      <p:sp>
        <p:nvSpPr>
          <p:cNvPr id="37" name="직사각형 36">
            <a:extLst>
              <a:ext uri="{FF2B5EF4-FFF2-40B4-BE49-F238E27FC236}">
                <a16:creationId xmlns:a16="http://schemas.microsoft.com/office/drawing/2014/main" id="{BFD312EC-D170-447D-A1AB-B875995A2DCD}"/>
              </a:ext>
            </a:extLst>
          </p:cNvPr>
          <p:cNvSpPr>
            <a:spLocks noGrp="1"/>
          </p:cNvSpPr>
          <p:nvPr/>
        </p:nvSpPr>
        <p:spPr>
          <a:xfrm>
            <a:off x="9515475" y="5324475"/>
            <a:ext cx="19050" cy="295275"/>
          </a:xfrm>
          <a:prstGeom prst="rect">
            <a:avLst/>
          </a:prstGeom>
          <a:solidFill>
            <a:srgbClr val="AAAAAA"/>
          </a:solidFill>
          <a:ln w="0">
            <a:noFill/>
          </a:ln>
        </p:spPr>
      </p:sp>
      <p:sp>
        <p:nvSpPr>
          <p:cNvPr id="38" name="직사각형 37">
            <a:extLst>
              <a:ext uri="{FF2B5EF4-FFF2-40B4-BE49-F238E27FC236}">
                <a16:creationId xmlns:a16="http://schemas.microsoft.com/office/drawing/2014/main" id="{1B3FDA89-7053-4F50-ABC5-0CADF3F13341}"/>
              </a:ext>
            </a:extLst>
          </p:cNvPr>
          <p:cNvSpPr>
            <a:spLocks noGrp="1"/>
          </p:cNvSpPr>
          <p:nvPr/>
        </p:nvSpPr>
        <p:spPr>
          <a:xfrm>
            <a:off x="10887075" y="5324475"/>
            <a:ext cx="19050" cy="295275"/>
          </a:xfrm>
          <a:prstGeom prst="rect">
            <a:avLst/>
          </a:prstGeom>
          <a:solidFill>
            <a:srgbClr val="AAAAAA"/>
          </a:solidFill>
          <a:ln w="0">
            <a:noFill/>
          </a:ln>
        </p:spPr>
      </p:sp>
      <p:graphicFrame>
        <p:nvGraphicFramePr>
          <p:cNvPr id="39" name="표 38">
            <a:extLst>
              <a:ext uri="{FF2B5EF4-FFF2-40B4-BE49-F238E27FC236}">
                <a16:creationId xmlns:a16="http://schemas.microsoft.com/office/drawing/2014/main" id="{C3A68F19-35EE-4F31-87B6-7D556678FF13}"/>
              </a:ext>
            </a:extLst>
          </p:cNvPr>
          <p:cNvGraphicFramePr/>
          <p:nvPr/>
        </p:nvGraphicFramePr>
        <p:xfrm>
          <a:off x="8763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8</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40" name="표 39">
            <a:extLst>
              <a:ext uri="{FF2B5EF4-FFF2-40B4-BE49-F238E27FC236}">
                <a16:creationId xmlns:a16="http://schemas.microsoft.com/office/drawing/2014/main" id="{08776C10-934E-4108-9C4C-C38101E69637}"/>
              </a:ext>
            </a:extLst>
          </p:cNvPr>
          <p:cNvGraphicFramePr/>
          <p:nvPr/>
        </p:nvGraphicFramePr>
        <p:xfrm>
          <a:off x="36195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6</a:t>
                      </a:r>
                    </a:p>
                  </a:txBody>
                  <a:tcPr anchor="ctr">
                    <a:solidFill>
                      <a:srgbClr val="F6F6F6"/>
                    </a:solidFill>
                  </a:tcPr>
                </a:tc>
                <a:tc>
                  <a:txBody>
                    <a:bodyPr/>
                    <a:lstStyle/>
                    <a:p>
                      <a:pPr algn="ctr"/>
                      <a:r>
                        <a:rPr sz="2250" b="1">
                          <a:solidFill>
                            <a:srgbClr val="151515"/>
                          </a:solidFill>
                          <a:latin typeface="Consolas"/>
                          <a:ea typeface="Consolas"/>
                          <a:cs typeface="Consolas"/>
                        </a:rPr>
                        <a:t>2</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41" name="표 40">
            <a:extLst>
              <a:ext uri="{FF2B5EF4-FFF2-40B4-BE49-F238E27FC236}">
                <a16:creationId xmlns:a16="http://schemas.microsoft.com/office/drawing/2014/main" id="{2DE40EBA-9D21-4ED9-8EB2-EBAA7546F2DC}"/>
              </a:ext>
            </a:extLst>
          </p:cNvPr>
          <p:cNvGraphicFramePr/>
          <p:nvPr/>
        </p:nvGraphicFramePr>
        <p:xfrm>
          <a:off x="63627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7</a:t>
                      </a:r>
                    </a:p>
                  </a:txBody>
                  <a:tcPr anchor="ctr">
                    <a:solidFill>
                      <a:srgbClr val="F6F6F6"/>
                    </a:solidFill>
                  </a:tcPr>
                </a:tc>
                <a:tc>
                  <a:txBody>
                    <a:bodyPr/>
                    <a:lstStyle/>
                    <a:p>
                      <a:pPr algn="ctr"/>
                      <a:r>
                        <a:rPr sz="2250" b="1">
                          <a:solidFill>
                            <a:srgbClr val="151515"/>
                          </a:solidFill>
                          <a:latin typeface="Consolas"/>
                          <a:ea typeface="Consolas"/>
                          <a:cs typeface="Consolas"/>
                        </a:rPr>
                        <a:t>1</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42" name="표 41">
            <a:extLst>
              <a:ext uri="{FF2B5EF4-FFF2-40B4-BE49-F238E27FC236}">
                <a16:creationId xmlns:a16="http://schemas.microsoft.com/office/drawing/2014/main" id="{10A5A052-33FD-4CF6-8028-DE960E686135}"/>
              </a:ext>
            </a:extLst>
          </p:cNvPr>
          <p:cNvGraphicFramePr/>
          <p:nvPr/>
        </p:nvGraphicFramePr>
        <p:xfrm>
          <a:off x="9105900" y="45720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5</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43" name="표 42">
            <a:extLst>
              <a:ext uri="{FF2B5EF4-FFF2-40B4-BE49-F238E27FC236}">
                <a16:creationId xmlns:a16="http://schemas.microsoft.com/office/drawing/2014/main" id="{C4CD2744-3456-48E5-A0F0-46C74CB9C25D}"/>
              </a:ext>
            </a:extLst>
          </p:cNvPr>
          <p:cNvGraphicFramePr/>
          <p:nvPr/>
        </p:nvGraphicFramePr>
        <p:xfrm>
          <a:off x="9144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graphicFrame>
        <p:nvGraphicFramePr>
          <p:cNvPr id="44" name="표 43">
            <a:extLst>
              <a:ext uri="{FF2B5EF4-FFF2-40B4-BE49-F238E27FC236}">
                <a16:creationId xmlns:a16="http://schemas.microsoft.com/office/drawing/2014/main" id="{7837098A-3E36-4354-8339-E4413D062009}"/>
              </a:ext>
            </a:extLst>
          </p:cNvPr>
          <p:cNvGraphicFramePr/>
          <p:nvPr/>
        </p:nvGraphicFramePr>
        <p:xfrm>
          <a:off x="22860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3</a:t>
                      </a:r>
                    </a:p>
                  </a:txBody>
                  <a:tcPr anchor="ctr">
                    <a:solidFill>
                      <a:srgbClr val="DDEFE6"/>
                    </a:solidFill>
                  </a:tcPr>
                </a:tc>
                <a:extLst>
                  <a:ext uri="{0D108BD9-81ED-4DB2-BD59-A6C34878D82A}">
                    <a16:rowId xmlns:a16="http://schemas.microsoft.com/office/drawing/2014/main" val="10000"/>
                  </a:ext>
                </a:extLst>
              </a:tr>
            </a:tbl>
          </a:graphicData>
        </a:graphic>
      </p:graphicFrame>
      <p:graphicFrame>
        <p:nvGraphicFramePr>
          <p:cNvPr id="45" name="표 44">
            <a:extLst>
              <a:ext uri="{FF2B5EF4-FFF2-40B4-BE49-F238E27FC236}">
                <a16:creationId xmlns:a16="http://schemas.microsoft.com/office/drawing/2014/main" id="{EF5D8E68-A9B6-41DD-AC38-D2CD73C8F41D}"/>
              </a:ext>
            </a:extLst>
          </p:cNvPr>
          <p:cNvGraphicFramePr/>
          <p:nvPr/>
        </p:nvGraphicFramePr>
        <p:xfrm>
          <a:off x="36576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6</a:t>
                      </a:r>
                    </a:p>
                  </a:txBody>
                  <a:tcPr anchor="ctr">
                    <a:solidFill>
                      <a:srgbClr val="DCECFB"/>
                    </a:solidFill>
                  </a:tcPr>
                </a:tc>
                <a:extLst>
                  <a:ext uri="{0D108BD9-81ED-4DB2-BD59-A6C34878D82A}">
                    <a16:rowId xmlns:a16="http://schemas.microsoft.com/office/drawing/2014/main" val="10000"/>
                  </a:ext>
                </a:extLst>
              </a:tr>
            </a:tbl>
          </a:graphicData>
        </a:graphic>
      </p:graphicFrame>
      <p:graphicFrame>
        <p:nvGraphicFramePr>
          <p:cNvPr id="46" name="표 45">
            <a:extLst>
              <a:ext uri="{FF2B5EF4-FFF2-40B4-BE49-F238E27FC236}">
                <a16:creationId xmlns:a16="http://schemas.microsoft.com/office/drawing/2014/main" id="{029605BF-D463-4961-8225-5BDE668E8578}"/>
              </a:ext>
            </a:extLst>
          </p:cNvPr>
          <p:cNvGraphicFramePr/>
          <p:nvPr/>
        </p:nvGraphicFramePr>
        <p:xfrm>
          <a:off x="50292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2</a:t>
                      </a:r>
                    </a:p>
                  </a:txBody>
                  <a:tcPr anchor="ctr">
                    <a:solidFill>
                      <a:srgbClr val="DDEFE6"/>
                    </a:solidFill>
                  </a:tcPr>
                </a:tc>
                <a:extLst>
                  <a:ext uri="{0D108BD9-81ED-4DB2-BD59-A6C34878D82A}">
                    <a16:rowId xmlns:a16="http://schemas.microsoft.com/office/drawing/2014/main" val="10000"/>
                  </a:ext>
                </a:extLst>
              </a:tr>
            </a:tbl>
          </a:graphicData>
        </a:graphic>
      </p:graphicFrame>
      <p:graphicFrame>
        <p:nvGraphicFramePr>
          <p:cNvPr id="47" name="표 46">
            <a:extLst>
              <a:ext uri="{FF2B5EF4-FFF2-40B4-BE49-F238E27FC236}">
                <a16:creationId xmlns:a16="http://schemas.microsoft.com/office/drawing/2014/main" id="{CF9952A1-10A0-45F9-B89D-2A86985FE340}"/>
              </a:ext>
            </a:extLst>
          </p:cNvPr>
          <p:cNvGraphicFramePr/>
          <p:nvPr/>
        </p:nvGraphicFramePr>
        <p:xfrm>
          <a:off x="64008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7</a:t>
                      </a:r>
                    </a:p>
                  </a:txBody>
                  <a:tcPr anchor="ctr">
                    <a:solidFill>
                      <a:srgbClr val="DCECFB"/>
                    </a:solidFill>
                  </a:tcPr>
                </a:tc>
                <a:extLst>
                  <a:ext uri="{0D108BD9-81ED-4DB2-BD59-A6C34878D82A}">
                    <a16:rowId xmlns:a16="http://schemas.microsoft.com/office/drawing/2014/main" val="10000"/>
                  </a:ext>
                </a:extLst>
              </a:tr>
            </a:tbl>
          </a:graphicData>
        </a:graphic>
      </p:graphicFrame>
      <p:graphicFrame>
        <p:nvGraphicFramePr>
          <p:cNvPr id="48" name="표 47">
            <a:extLst>
              <a:ext uri="{FF2B5EF4-FFF2-40B4-BE49-F238E27FC236}">
                <a16:creationId xmlns:a16="http://schemas.microsoft.com/office/drawing/2014/main" id="{3630119E-9679-4970-98BA-21BD7E420AE5}"/>
              </a:ext>
            </a:extLst>
          </p:cNvPr>
          <p:cNvGraphicFramePr/>
          <p:nvPr/>
        </p:nvGraphicFramePr>
        <p:xfrm>
          <a:off x="77724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1</a:t>
                      </a:r>
                    </a:p>
                  </a:txBody>
                  <a:tcPr anchor="ctr">
                    <a:solidFill>
                      <a:srgbClr val="DDEFE6"/>
                    </a:solidFill>
                  </a:tcPr>
                </a:tc>
                <a:extLst>
                  <a:ext uri="{0D108BD9-81ED-4DB2-BD59-A6C34878D82A}">
                    <a16:rowId xmlns:a16="http://schemas.microsoft.com/office/drawing/2014/main" val="10000"/>
                  </a:ext>
                </a:extLst>
              </a:tr>
            </a:tbl>
          </a:graphicData>
        </a:graphic>
      </p:graphicFrame>
      <p:graphicFrame>
        <p:nvGraphicFramePr>
          <p:cNvPr id="49" name="표 48">
            <a:extLst>
              <a:ext uri="{FF2B5EF4-FFF2-40B4-BE49-F238E27FC236}">
                <a16:creationId xmlns:a16="http://schemas.microsoft.com/office/drawing/2014/main" id="{13E7D5BC-EFA8-4234-8D03-3131A45C2BA7}"/>
              </a:ext>
            </a:extLst>
          </p:cNvPr>
          <p:cNvGraphicFramePr/>
          <p:nvPr/>
        </p:nvGraphicFramePr>
        <p:xfrm>
          <a:off x="91440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5</a:t>
                      </a:r>
                    </a:p>
                  </a:txBody>
                  <a:tcPr anchor="ctr">
                    <a:solidFill>
                      <a:srgbClr val="DCECFB"/>
                    </a:solidFill>
                  </a:tcPr>
                </a:tc>
                <a:extLst>
                  <a:ext uri="{0D108BD9-81ED-4DB2-BD59-A6C34878D82A}">
                    <a16:rowId xmlns:a16="http://schemas.microsoft.com/office/drawing/2014/main" val="10000"/>
                  </a:ext>
                </a:extLst>
              </a:tr>
            </a:tbl>
          </a:graphicData>
        </a:graphic>
      </p:graphicFrame>
      <p:graphicFrame>
        <p:nvGraphicFramePr>
          <p:cNvPr id="50" name="표 49">
            <a:extLst>
              <a:ext uri="{FF2B5EF4-FFF2-40B4-BE49-F238E27FC236}">
                <a16:creationId xmlns:a16="http://schemas.microsoft.com/office/drawing/2014/main" id="{A85046C2-5AD4-41C3-9F01-6754E09BDCDB}"/>
              </a:ext>
            </a:extLst>
          </p:cNvPr>
          <p:cNvGraphicFramePr/>
          <p:nvPr/>
        </p:nvGraphicFramePr>
        <p:xfrm>
          <a:off x="10515600" y="5619750"/>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51" name="base">
            <a:extLst>
              <a:ext uri="{FF2B5EF4-FFF2-40B4-BE49-F238E27FC236}">
                <a16:creationId xmlns:a16="http://schemas.microsoft.com/office/drawing/2014/main" id="{51A1B54E-33A0-4E72-88DF-8FD8A7E932D7}"/>
              </a:ext>
            </a:extLst>
          </p:cNvPr>
          <p:cNvSpPr>
            <a:spLocks noGrp="1"/>
          </p:cNvSpPr>
          <p:nvPr/>
        </p:nvSpPr>
        <p:spPr>
          <a:xfrm>
            <a:off x="1143000" y="6315075"/>
            <a:ext cx="9906000" cy="238125"/>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한 원소 = 이미 정렬됨 → 반환 → 두 결과를 병합</a:t>
            </a:r>
          </a:p>
        </p:txBody>
      </p:sp>
    </p:spTree>
    <p:extLst>
      <p:ext uri="{BB962C8B-B14F-4D97-AF65-F5344CB8AC3E}">
        <p14:creationId xmlns:p14="http://schemas.microsoft.com/office/powerpoint/2010/main" val="3887734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ection">
            <a:extLst>
              <a:ext uri="{FF2B5EF4-FFF2-40B4-BE49-F238E27FC236}">
                <a16:creationId xmlns:a16="http://schemas.microsoft.com/office/drawing/2014/main" id="{A9280351-6432-4322-9071-45307EA496A9}"/>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0D260031-89B3-44F8-9576-9169B560D0A1}"/>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E7418F9F-8503-4A58-BBEA-A7853D6C49B7}"/>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실제 병합 순서 · 왼쪽부터 끝낸다</a:t>
            </a:r>
          </a:p>
        </p:txBody>
      </p:sp>
      <p:sp>
        <p:nvSpPr>
          <p:cNvPr id="4" name="직사각형 3">
            <a:extLst>
              <a:ext uri="{FF2B5EF4-FFF2-40B4-BE49-F238E27FC236}">
                <a16:creationId xmlns:a16="http://schemas.microsoft.com/office/drawing/2014/main" id="{1A605FD3-68B4-4A11-8186-A12CB99D99BF}"/>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990DC924-5C8B-4738-BD22-AFC0562A6675}"/>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① → ② → ③: 왼쪽 4개 완료     ④ → ⑤ → ⑥: 오른쪽 4개 완료</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⑦: 두 결과를 합쳐 전체 8개 정렬</a:t>
            </a:r>
          </a:p>
        </p:txBody>
      </p:sp>
      <p:sp>
        <p:nvSpPr>
          <p:cNvPr id="6" name="footer">
            <a:extLst>
              <a:ext uri="{FF2B5EF4-FFF2-40B4-BE49-F238E27FC236}">
                <a16:creationId xmlns:a16="http://schemas.microsoft.com/office/drawing/2014/main" id="{072D28AA-C8CB-406A-8E8E-CFD02C762486}"/>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E66B8030-5DD7-4810-A9B4-58D2E6951B2C}"/>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11</a:t>
            </a:r>
            <a:endParaRPr sz="1050" b="0">
              <a:solidFill>
                <a:srgbClr val="151515"/>
              </a:solidFill>
              <a:latin typeface="Consolas"/>
              <a:ea typeface="Consolas"/>
              <a:cs typeface="Consolas"/>
            </a:endParaRPr>
          </a:p>
        </p:txBody>
      </p:sp>
      <p:sp>
        <p:nvSpPr>
          <p:cNvPr id="8" name="직사각형 7">
            <a:extLst>
              <a:ext uri="{FF2B5EF4-FFF2-40B4-BE49-F238E27FC236}">
                <a16:creationId xmlns:a16="http://schemas.microsoft.com/office/drawing/2014/main" id="{7445BDD0-3D7E-4325-A816-70A11526F812}"/>
              </a:ext>
            </a:extLst>
          </p:cNvPr>
          <p:cNvSpPr>
            <a:spLocks noGrp="1"/>
          </p:cNvSpPr>
          <p:nvPr/>
        </p:nvSpPr>
        <p:spPr>
          <a:xfrm>
            <a:off x="6086475" y="3143250"/>
            <a:ext cx="19050" cy="257175"/>
          </a:xfrm>
          <a:prstGeom prst="rect">
            <a:avLst/>
          </a:prstGeom>
          <a:solidFill>
            <a:srgbClr val="AAAAAA"/>
          </a:solidFill>
          <a:ln w="0">
            <a:noFill/>
          </a:ln>
        </p:spPr>
      </p:sp>
      <p:sp>
        <p:nvSpPr>
          <p:cNvPr id="9" name="직사각형 8">
            <a:extLst>
              <a:ext uri="{FF2B5EF4-FFF2-40B4-BE49-F238E27FC236}">
                <a16:creationId xmlns:a16="http://schemas.microsoft.com/office/drawing/2014/main" id="{5F415256-9158-4359-A832-720783EA625C}"/>
              </a:ext>
            </a:extLst>
          </p:cNvPr>
          <p:cNvSpPr>
            <a:spLocks noGrp="1"/>
          </p:cNvSpPr>
          <p:nvPr/>
        </p:nvSpPr>
        <p:spPr>
          <a:xfrm>
            <a:off x="3352800" y="3400425"/>
            <a:ext cx="5486400" cy="19050"/>
          </a:xfrm>
          <a:prstGeom prst="rect">
            <a:avLst/>
          </a:prstGeom>
          <a:solidFill>
            <a:srgbClr val="AAAAAA"/>
          </a:solidFill>
          <a:ln w="0">
            <a:noFill/>
          </a:ln>
        </p:spPr>
      </p:sp>
      <p:sp>
        <p:nvSpPr>
          <p:cNvPr id="10" name="직사각형 9">
            <a:extLst>
              <a:ext uri="{FF2B5EF4-FFF2-40B4-BE49-F238E27FC236}">
                <a16:creationId xmlns:a16="http://schemas.microsoft.com/office/drawing/2014/main" id="{25CA24A3-F70D-4C15-80EC-0233FC9B4690}"/>
              </a:ext>
            </a:extLst>
          </p:cNvPr>
          <p:cNvSpPr>
            <a:spLocks noGrp="1"/>
          </p:cNvSpPr>
          <p:nvPr/>
        </p:nvSpPr>
        <p:spPr>
          <a:xfrm>
            <a:off x="3343275" y="3400425"/>
            <a:ext cx="19050" cy="247650"/>
          </a:xfrm>
          <a:prstGeom prst="rect">
            <a:avLst/>
          </a:prstGeom>
          <a:solidFill>
            <a:srgbClr val="AAAAAA"/>
          </a:solidFill>
          <a:ln w="0">
            <a:noFill/>
          </a:ln>
        </p:spPr>
      </p:sp>
      <p:sp>
        <p:nvSpPr>
          <p:cNvPr id="11" name="직사각형 10">
            <a:extLst>
              <a:ext uri="{FF2B5EF4-FFF2-40B4-BE49-F238E27FC236}">
                <a16:creationId xmlns:a16="http://schemas.microsoft.com/office/drawing/2014/main" id="{F25423F8-101F-4605-89C7-094183A34C8E}"/>
              </a:ext>
            </a:extLst>
          </p:cNvPr>
          <p:cNvSpPr>
            <a:spLocks noGrp="1"/>
          </p:cNvSpPr>
          <p:nvPr/>
        </p:nvSpPr>
        <p:spPr>
          <a:xfrm>
            <a:off x="8829675" y="3400425"/>
            <a:ext cx="19050" cy="247650"/>
          </a:xfrm>
          <a:prstGeom prst="rect">
            <a:avLst/>
          </a:prstGeom>
          <a:solidFill>
            <a:srgbClr val="AAAAAA"/>
          </a:solidFill>
          <a:ln w="0">
            <a:noFill/>
          </a:ln>
        </p:spPr>
      </p:sp>
      <p:sp>
        <p:nvSpPr>
          <p:cNvPr id="12" name="order-label-0-0">
            <a:extLst>
              <a:ext uri="{FF2B5EF4-FFF2-40B4-BE49-F238E27FC236}">
                <a16:creationId xmlns:a16="http://schemas.microsoft.com/office/drawing/2014/main" id="{39BAA391-BB60-4397-8D22-A495E6B9C4EE}"/>
              </a:ext>
            </a:extLst>
          </p:cNvPr>
          <p:cNvSpPr>
            <a:spLocks noGrp="1"/>
          </p:cNvSpPr>
          <p:nvPr/>
        </p:nvSpPr>
        <p:spPr>
          <a:xfrm>
            <a:off x="1676400" y="2400300"/>
            <a:ext cx="8839200" cy="238125"/>
          </a:xfrm>
          <a:prstGeom prst="rect">
            <a:avLst/>
          </a:prstGeom>
          <a:noFill/>
          <a:ln w="0">
            <a:noFill/>
          </a:ln>
        </p:spPr>
        <p:txBody>
          <a:bodyPr wrap="none" lIns="0" tIns="0" rIns="0" bIns="0" anchor="t">
            <a:noAutofit/>
          </a:bodyPr>
          <a:lstStyle>
            <a:defPPr algn="l">
              <a:defRPr sz="1500" b="1">
                <a:solidFill>
                  <a:srgbClr val="151515"/>
                </a:solidFill>
                <a:latin typeface="Malgun Gothic"/>
                <a:ea typeface="Malgun Gothic"/>
                <a:cs typeface="Malgun Gothic"/>
              </a:defRPr>
            </a:defPPr>
          </a:lstStyle>
          <a:p>
            <a:pPr algn="l">
              <a:lnSpc>
                <a:spcPct val="106000"/>
              </a:lnSpc>
              <a:buNone/>
              <a:defRPr sz="1500" b="1">
                <a:solidFill>
                  <a:srgbClr val="151515"/>
                </a:solidFill>
                <a:latin typeface="Malgun Gothic"/>
                <a:ea typeface="Malgun Gothic"/>
                <a:cs typeface="Malgun Gothic"/>
              </a:defRPr>
            </a:pPr>
            <a:r>
              <a:rPr sz="1500" b="1">
                <a:solidFill>
                  <a:srgbClr val="151515"/>
                </a:solidFill>
                <a:latin typeface="Malgun Gothic"/>
                <a:ea typeface="Malgun Gothic"/>
                <a:cs typeface="Malgun Gothic"/>
              </a:rPr>
              <a:t>⑦ 전체 병합</a:t>
            </a:r>
          </a:p>
        </p:txBody>
      </p:sp>
      <p:graphicFrame>
        <p:nvGraphicFramePr>
          <p:cNvPr id="13" name="표 12">
            <a:extLst>
              <a:ext uri="{FF2B5EF4-FFF2-40B4-BE49-F238E27FC236}">
                <a16:creationId xmlns:a16="http://schemas.microsoft.com/office/drawing/2014/main" id="{4A099375-F9C7-44CB-A5DD-BFE08EF88FB9}"/>
              </a:ext>
            </a:extLst>
          </p:cNvPr>
          <p:cNvGraphicFramePr/>
          <p:nvPr/>
        </p:nvGraphicFramePr>
        <p:xfrm>
          <a:off x="1676400" y="2647950"/>
          <a:ext cx="88392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gridCol w="1104900">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104900">
                  <a:extLst>
                    <a:ext uri="{9D8B030D-6E8A-4147-A177-3AD203B41FA5}">
                      <a16:colId xmlns:a16="http://schemas.microsoft.com/office/drawing/2014/main" val="20007"/>
                    </a:ext>
                  </a:extLst>
                </a:gridCol>
              </a:tblGrid>
              <a:tr h="495300">
                <a:tc>
                  <a:txBody>
                    <a:bodyPr/>
                    <a:lstStyle/>
                    <a:p>
                      <a:pPr algn="ctr"/>
                      <a:r>
                        <a:rPr sz="2175" b="1">
                          <a:solidFill>
                            <a:srgbClr val="151515"/>
                          </a:solidFill>
                          <a:latin typeface="Consolas"/>
                          <a:ea typeface="Consolas"/>
                          <a:cs typeface="Consolas"/>
                        </a:rPr>
                        <a:t>1</a:t>
                      </a:r>
                    </a:p>
                  </a:txBody>
                  <a:tcPr anchor="ctr">
                    <a:solidFill>
                      <a:srgbClr val="E7E7E7"/>
                    </a:solidFill>
                  </a:tcPr>
                </a:tc>
                <a:tc>
                  <a:txBody>
                    <a:bodyPr/>
                    <a:lstStyle/>
                    <a:p>
                      <a:pPr algn="ctr"/>
                      <a:r>
                        <a:rPr sz="2175" b="1">
                          <a:solidFill>
                            <a:srgbClr val="151515"/>
                          </a:solidFill>
                          <a:latin typeface="Consolas"/>
                          <a:ea typeface="Consolas"/>
                          <a:cs typeface="Consolas"/>
                        </a:rPr>
                        <a:t>2</a:t>
                      </a:r>
                    </a:p>
                  </a:txBody>
                  <a:tcPr anchor="ctr">
                    <a:solidFill>
                      <a:srgbClr val="E7E7E7"/>
                    </a:solidFill>
                  </a:tcPr>
                </a:tc>
                <a:tc>
                  <a:txBody>
                    <a:bodyPr/>
                    <a:lstStyle/>
                    <a:p>
                      <a:pPr algn="ctr"/>
                      <a:r>
                        <a:rPr sz="2175" b="1">
                          <a:solidFill>
                            <a:srgbClr val="151515"/>
                          </a:solidFill>
                          <a:latin typeface="Consolas"/>
                          <a:ea typeface="Consolas"/>
                          <a:cs typeface="Consolas"/>
                        </a:rPr>
                        <a:t>3</a:t>
                      </a:r>
                    </a:p>
                  </a:txBody>
                  <a:tcPr anchor="ctr">
                    <a:solidFill>
                      <a:srgbClr val="E7E7E7"/>
                    </a:solidFill>
                  </a:tcPr>
                </a:tc>
                <a:tc>
                  <a:txBody>
                    <a:bodyPr/>
                    <a:lstStyle/>
                    <a:p>
                      <a:pPr algn="ctr"/>
                      <a:r>
                        <a:rPr sz="2175" b="1">
                          <a:solidFill>
                            <a:srgbClr val="151515"/>
                          </a:solidFill>
                          <a:latin typeface="Consolas"/>
                          <a:ea typeface="Consolas"/>
                          <a:cs typeface="Consolas"/>
                        </a:rPr>
                        <a:t>4</a:t>
                      </a:r>
                    </a:p>
                  </a:txBody>
                  <a:tcPr anchor="ctr">
                    <a:solidFill>
                      <a:srgbClr val="E7E7E7"/>
                    </a:solidFill>
                  </a:tcPr>
                </a:tc>
                <a:tc>
                  <a:txBody>
                    <a:bodyPr/>
                    <a:lstStyle/>
                    <a:p>
                      <a:pPr algn="ctr"/>
                      <a:r>
                        <a:rPr sz="2175" b="1">
                          <a:solidFill>
                            <a:srgbClr val="151515"/>
                          </a:solidFill>
                          <a:latin typeface="Consolas"/>
                          <a:ea typeface="Consolas"/>
                          <a:cs typeface="Consolas"/>
                        </a:rPr>
                        <a:t>5</a:t>
                      </a:r>
                    </a:p>
                  </a:txBody>
                  <a:tcPr anchor="ctr">
                    <a:solidFill>
                      <a:srgbClr val="E7E7E7"/>
                    </a:solidFill>
                  </a:tcPr>
                </a:tc>
                <a:tc>
                  <a:txBody>
                    <a:bodyPr/>
                    <a:lstStyle/>
                    <a:p>
                      <a:pPr algn="ctr"/>
                      <a:r>
                        <a:rPr sz="2175" b="1">
                          <a:solidFill>
                            <a:srgbClr val="151515"/>
                          </a:solidFill>
                          <a:latin typeface="Consolas"/>
                          <a:ea typeface="Consolas"/>
                          <a:cs typeface="Consolas"/>
                        </a:rPr>
                        <a:t>6</a:t>
                      </a:r>
                    </a:p>
                  </a:txBody>
                  <a:tcPr anchor="ctr">
                    <a:solidFill>
                      <a:srgbClr val="E7E7E7"/>
                    </a:solidFill>
                  </a:tcPr>
                </a:tc>
                <a:tc>
                  <a:txBody>
                    <a:bodyPr/>
                    <a:lstStyle/>
                    <a:p>
                      <a:pPr algn="ctr"/>
                      <a:r>
                        <a:rPr sz="2175" b="1">
                          <a:solidFill>
                            <a:srgbClr val="151515"/>
                          </a:solidFill>
                          <a:latin typeface="Consolas"/>
                          <a:ea typeface="Consolas"/>
                          <a:cs typeface="Consolas"/>
                        </a:rPr>
                        <a:t>7</a:t>
                      </a:r>
                    </a:p>
                  </a:txBody>
                  <a:tcPr anchor="ctr">
                    <a:solidFill>
                      <a:srgbClr val="E7E7E7"/>
                    </a:solidFill>
                  </a:tcPr>
                </a:tc>
                <a:tc>
                  <a:txBody>
                    <a:bodyPr/>
                    <a:lstStyle/>
                    <a:p>
                      <a:pPr algn="ctr"/>
                      <a:r>
                        <a:rPr sz="2175" b="1">
                          <a:solidFill>
                            <a:srgbClr val="151515"/>
                          </a:solidFill>
                          <a:latin typeface="Consolas"/>
                          <a:ea typeface="Consolas"/>
                          <a:cs typeface="Consolas"/>
                        </a:rPr>
                        <a:t>8</a:t>
                      </a:r>
                    </a:p>
                  </a:txBody>
                  <a:tcPr anchor="ctr">
                    <a:solidFill>
                      <a:srgbClr val="E7E7E7"/>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CCFC1A61-301C-44CB-8266-5981A180180D}"/>
              </a:ext>
            </a:extLst>
          </p:cNvPr>
          <p:cNvSpPr>
            <a:spLocks noGrp="1"/>
          </p:cNvSpPr>
          <p:nvPr/>
        </p:nvSpPr>
        <p:spPr>
          <a:xfrm>
            <a:off x="3343275" y="4143375"/>
            <a:ext cx="19050" cy="257175"/>
          </a:xfrm>
          <a:prstGeom prst="rect">
            <a:avLst/>
          </a:prstGeom>
          <a:solidFill>
            <a:srgbClr val="AAAAAA"/>
          </a:solidFill>
          <a:ln w="0">
            <a:noFill/>
          </a:ln>
        </p:spPr>
      </p:sp>
      <p:sp>
        <p:nvSpPr>
          <p:cNvPr id="15" name="직사각형 14">
            <a:extLst>
              <a:ext uri="{FF2B5EF4-FFF2-40B4-BE49-F238E27FC236}">
                <a16:creationId xmlns:a16="http://schemas.microsoft.com/office/drawing/2014/main" id="{938AA0F3-3B36-47C6-B0B1-D1E9493F6B68}"/>
              </a:ext>
            </a:extLst>
          </p:cNvPr>
          <p:cNvSpPr>
            <a:spLocks noGrp="1"/>
          </p:cNvSpPr>
          <p:nvPr/>
        </p:nvSpPr>
        <p:spPr>
          <a:xfrm>
            <a:off x="1981200" y="4400550"/>
            <a:ext cx="2743200" cy="19050"/>
          </a:xfrm>
          <a:prstGeom prst="rect">
            <a:avLst/>
          </a:prstGeom>
          <a:solidFill>
            <a:srgbClr val="AAAAAA"/>
          </a:solidFill>
          <a:ln w="0">
            <a:noFill/>
          </a:ln>
        </p:spPr>
      </p:sp>
      <p:sp>
        <p:nvSpPr>
          <p:cNvPr id="16" name="직사각형 15">
            <a:extLst>
              <a:ext uri="{FF2B5EF4-FFF2-40B4-BE49-F238E27FC236}">
                <a16:creationId xmlns:a16="http://schemas.microsoft.com/office/drawing/2014/main" id="{39AE5541-F6B6-4C09-A538-BFC479A3C99F}"/>
              </a:ext>
            </a:extLst>
          </p:cNvPr>
          <p:cNvSpPr>
            <a:spLocks noGrp="1"/>
          </p:cNvSpPr>
          <p:nvPr/>
        </p:nvSpPr>
        <p:spPr>
          <a:xfrm>
            <a:off x="1971675" y="4400550"/>
            <a:ext cx="19050" cy="247650"/>
          </a:xfrm>
          <a:prstGeom prst="rect">
            <a:avLst/>
          </a:prstGeom>
          <a:solidFill>
            <a:srgbClr val="AAAAAA"/>
          </a:solidFill>
          <a:ln w="0">
            <a:noFill/>
          </a:ln>
        </p:spPr>
      </p:sp>
      <p:sp>
        <p:nvSpPr>
          <p:cNvPr id="17" name="직사각형 16">
            <a:extLst>
              <a:ext uri="{FF2B5EF4-FFF2-40B4-BE49-F238E27FC236}">
                <a16:creationId xmlns:a16="http://schemas.microsoft.com/office/drawing/2014/main" id="{68C65B0A-7298-4EB9-B367-EE1EBE19508D}"/>
              </a:ext>
            </a:extLst>
          </p:cNvPr>
          <p:cNvSpPr>
            <a:spLocks noGrp="1"/>
          </p:cNvSpPr>
          <p:nvPr/>
        </p:nvSpPr>
        <p:spPr>
          <a:xfrm>
            <a:off x="4714875" y="4400550"/>
            <a:ext cx="19050" cy="247650"/>
          </a:xfrm>
          <a:prstGeom prst="rect">
            <a:avLst/>
          </a:prstGeom>
          <a:solidFill>
            <a:srgbClr val="AAAAAA"/>
          </a:solidFill>
          <a:ln w="0">
            <a:noFill/>
          </a:ln>
        </p:spPr>
      </p:sp>
      <p:sp>
        <p:nvSpPr>
          <p:cNvPr id="18" name="직사각형 17">
            <a:extLst>
              <a:ext uri="{FF2B5EF4-FFF2-40B4-BE49-F238E27FC236}">
                <a16:creationId xmlns:a16="http://schemas.microsoft.com/office/drawing/2014/main" id="{5581DB1D-BA58-4043-919A-AED14EFB92BD}"/>
              </a:ext>
            </a:extLst>
          </p:cNvPr>
          <p:cNvSpPr>
            <a:spLocks noGrp="1"/>
          </p:cNvSpPr>
          <p:nvPr/>
        </p:nvSpPr>
        <p:spPr>
          <a:xfrm>
            <a:off x="8829675" y="4143375"/>
            <a:ext cx="19050" cy="257175"/>
          </a:xfrm>
          <a:prstGeom prst="rect">
            <a:avLst/>
          </a:prstGeom>
          <a:solidFill>
            <a:srgbClr val="AAAAAA"/>
          </a:solidFill>
          <a:ln w="0">
            <a:noFill/>
          </a:ln>
        </p:spPr>
      </p:sp>
      <p:sp>
        <p:nvSpPr>
          <p:cNvPr id="19" name="직사각형 18">
            <a:extLst>
              <a:ext uri="{FF2B5EF4-FFF2-40B4-BE49-F238E27FC236}">
                <a16:creationId xmlns:a16="http://schemas.microsoft.com/office/drawing/2014/main" id="{A7BF4496-11A2-48E8-A782-A20D2AEAF5AC}"/>
              </a:ext>
            </a:extLst>
          </p:cNvPr>
          <p:cNvSpPr>
            <a:spLocks noGrp="1"/>
          </p:cNvSpPr>
          <p:nvPr/>
        </p:nvSpPr>
        <p:spPr>
          <a:xfrm>
            <a:off x="7467600" y="4400550"/>
            <a:ext cx="2743200" cy="19050"/>
          </a:xfrm>
          <a:prstGeom prst="rect">
            <a:avLst/>
          </a:prstGeom>
          <a:solidFill>
            <a:srgbClr val="AAAAAA"/>
          </a:solidFill>
          <a:ln w="0">
            <a:noFill/>
          </a:ln>
        </p:spPr>
      </p:sp>
      <p:sp>
        <p:nvSpPr>
          <p:cNvPr id="20" name="직사각형 19">
            <a:extLst>
              <a:ext uri="{FF2B5EF4-FFF2-40B4-BE49-F238E27FC236}">
                <a16:creationId xmlns:a16="http://schemas.microsoft.com/office/drawing/2014/main" id="{7B0BC02E-A0F9-4B1C-90CC-CB3C773C3583}"/>
              </a:ext>
            </a:extLst>
          </p:cNvPr>
          <p:cNvSpPr>
            <a:spLocks noGrp="1"/>
          </p:cNvSpPr>
          <p:nvPr/>
        </p:nvSpPr>
        <p:spPr>
          <a:xfrm>
            <a:off x="7458075" y="4400550"/>
            <a:ext cx="19050" cy="247650"/>
          </a:xfrm>
          <a:prstGeom prst="rect">
            <a:avLst/>
          </a:prstGeom>
          <a:solidFill>
            <a:srgbClr val="AAAAAA"/>
          </a:solidFill>
          <a:ln w="0">
            <a:noFill/>
          </a:ln>
        </p:spPr>
      </p:sp>
      <p:sp>
        <p:nvSpPr>
          <p:cNvPr id="21" name="직사각형 20">
            <a:extLst>
              <a:ext uri="{FF2B5EF4-FFF2-40B4-BE49-F238E27FC236}">
                <a16:creationId xmlns:a16="http://schemas.microsoft.com/office/drawing/2014/main" id="{FF803C05-97CE-4FF8-9870-A9FCE90C2600}"/>
              </a:ext>
            </a:extLst>
          </p:cNvPr>
          <p:cNvSpPr>
            <a:spLocks noGrp="1"/>
          </p:cNvSpPr>
          <p:nvPr/>
        </p:nvSpPr>
        <p:spPr>
          <a:xfrm>
            <a:off x="10201275" y="4400550"/>
            <a:ext cx="19050" cy="247650"/>
          </a:xfrm>
          <a:prstGeom prst="rect">
            <a:avLst/>
          </a:prstGeom>
          <a:solidFill>
            <a:srgbClr val="AAAAAA"/>
          </a:solidFill>
          <a:ln w="0">
            <a:noFill/>
          </a:ln>
        </p:spPr>
      </p:sp>
      <p:sp>
        <p:nvSpPr>
          <p:cNvPr id="22" name="order-label-1-0">
            <a:extLst>
              <a:ext uri="{FF2B5EF4-FFF2-40B4-BE49-F238E27FC236}">
                <a16:creationId xmlns:a16="http://schemas.microsoft.com/office/drawing/2014/main" id="{386DE4B9-80CB-4E0A-9D6F-2B6E4EFC9FAE}"/>
              </a:ext>
            </a:extLst>
          </p:cNvPr>
          <p:cNvSpPr>
            <a:spLocks noGrp="1"/>
          </p:cNvSpPr>
          <p:nvPr/>
        </p:nvSpPr>
        <p:spPr>
          <a:xfrm>
            <a:off x="1143000" y="3400425"/>
            <a:ext cx="4419600" cy="238125"/>
          </a:xfrm>
          <a:prstGeom prst="rect">
            <a:avLst/>
          </a:prstGeom>
          <a:noFill/>
          <a:ln w="0">
            <a:noFill/>
          </a:ln>
        </p:spPr>
        <p:txBody>
          <a:bodyPr wrap="none" lIns="0" tIns="0" rIns="0" bIns="0" anchor="t">
            <a:noAutofit/>
          </a:bodyPr>
          <a:lstStyle>
            <a:defPPr algn="l">
              <a:defRPr sz="1500" b="1">
                <a:solidFill>
                  <a:srgbClr val="151515"/>
                </a:solidFill>
                <a:latin typeface="Malgun Gothic"/>
                <a:ea typeface="Malgun Gothic"/>
                <a:cs typeface="Malgun Gothic"/>
              </a:defRPr>
            </a:defPPr>
          </a:lstStyle>
          <a:p>
            <a:pPr algn="l">
              <a:lnSpc>
                <a:spcPct val="106000"/>
              </a:lnSpc>
              <a:buNone/>
              <a:defRPr sz="1500" b="1">
                <a:solidFill>
                  <a:srgbClr val="151515"/>
                </a:solidFill>
                <a:latin typeface="Malgun Gothic"/>
                <a:ea typeface="Malgun Gothic"/>
                <a:cs typeface="Malgun Gothic"/>
              </a:defRPr>
            </a:pPr>
            <a:r>
              <a:rPr sz="1500" b="1">
                <a:solidFill>
                  <a:srgbClr val="151515"/>
                </a:solidFill>
                <a:latin typeface="Malgun Gothic"/>
                <a:ea typeface="Malgun Gothic"/>
                <a:cs typeface="Malgun Gothic"/>
              </a:rPr>
              <a:t>③ 왼쪽 4개</a:t>
            </a:r>
          </a:p>
        </p:txBody>
      </p:sp>
      <p:graphicFrame>
        <p:nvGraphicFramePr>
          <p:cNvPr id="23" name="표 22">
            <a:extLst>
              <a:ext uri="{FF2B5EF4-FFF2-40B4-BE49-F238E27FC236}">
                <a16:creationId xmlns:a16="http://schemas.microsoft.com/office/drawing/2014/main" id="{897B0B50-B552-4ECE-8EBB-0C92377E00AB}"/>
              </a:ext>
            </a:extLst>
          </p:cNvPr>
          <p:cNvGraphicFramePr/>
          <p:nvPr/>
        </p:nvGraphicFramePr>
        <p:xfrm>
          <a:off x="1143000" y="3648075"/>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175" b="1">
                          <a:solidFill>
                            <a:srgbClr val="151515"/>
                          </a:solidFill>
                          <a:latin typeface="Consolas"/>
                          <a:ea typeface="Consolas"/>
                          <a:cs typeface="Consolas"/>
                        </a:rPr>
                        <a:t>2</a:t>
                      </a:r>
                    </a:p>
                  </a:txBody>
                  <a:tcPr anchor="ctr">
                    <a:solidFill>
                      <a:srgbClr val="DCECFB"/>
                    </a:solidFill>
                  </a:tcPr>
                </a:tc>
                <a:tc>
                  <a:txBody>
                    <a:bodyPr/>
                    <a:lstStyle/>
                    <a:p>
                      <a:pPr algn="ctr"/>
                      <a:r>
                        <a:rPr sz="2175" b="1">
                          <a:solidFill>
                            <a:srgbClr val="151515"/>
                          </a:solidFill>
                          <a:latin typeface="Consolas"/>
                          <a:ea typeface="Consolas"/>
                          <a:cs typeface="Consolas"/>
                        </a:rPr>
                        <a:t>3</a:t>
                      </a:r>
                    </a:p>
                  </a:txBody>
                  <a:tcPr anchor="ctr">
                    <a:solidFill>
                      <a:srgbClr val="DCECFB"/>
                    </a:solidFill>
                  </a:tcPr>
                </a:tc>
                <a:tc>
                  <a:txBody>
                    <a:bodyPr/>
                    <a:lstStyle/>
                    <a:p>
                      <a:pPr algn="ctr"/>
                      <a:r>
                        <a:rPr sz="2175" b="1">
                          <a:solidFill>
                            <a:srgbClr val="151515"/>
                          </a:solidFill>
                          <a:latin typeface="Consolas"/>
                          <a:ea typeface="Consolas"/>
                          <a:cs typeface="Consolas"/>
                        </a:rPr>
                        <a:t>6</a:t>
                      </a:r>
                    </a:p>
                  </a:txBody>
                  <a:tcPr anchor="ctr">
                    <a:solidFill>
                      <a:srgbClr val="DCECFB"/>
                    </a:solidFill>
                  </a:tcPr>
                </a:tc>
                <a:tc>
                  <a:txBody>
                    <a:bodyPr/>
                    <a:lstStyle/>
                    <a:p>
                      <a:pPr algn="ctr"/>
                      <a:r>
                        <a:rPr sz="2175"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24" name="order-label-1-1">
            <a:extLst>
              <a:ext uri="{FF2B5EF4-FFF2-40B4-BE49-F238E27FC236}">
                <a16:creationId xmlns:a16="http://schemas.microsoft.com/office/drawing/2014/main" id="{AD0BF5D2-7DD8-4A8E-8B7E-C899B3160715}"/>
              </a:ext>
            </a:extLst>
          </p:cNvPr>
          <p:cNvSpPr>
            <a:spLocks noGrp="1"/>
          </p:cNvSpPr>
          <p:nvPr/>
        </p:nvSpPr>
        <p:spPr>
          <a:xfrm>
            <a:off x="6629400" y="3400425"/>
            <a:ext cx="4419600" cy="238125"/>
          </a:xfrm>
          <a:prstGeom prst="rect">
            <a:avLst/>
          </a:prstGeom>
          <a:noFill/>
          <a:ln w="0">
            <a:noFill/>
          </a:ln>
        </p:spPr>
        <p:txBody>
          <a:bodyPr wrap="none" lIns="0" tIns="0" rIns="0" bIns="0" anchor="t">
            <a:noAutofit/>
          </a:bodyPr>
          <a:lstStyle>
            <a:defPPr algn="l">
              <a:defRPr sz="1500" b="1">
                <a:solidFill>
                  <a:srgbClr val="151515"/>
                </a:solidFill>
                <a:latin typeface="Malgun Gothic"/>
                <a:ea typeface="Malgun Gothic"/>
                <a:cs typeface="Malgun Gothic"/>
              </a:defRPr>
            </a:defPPr>
          </a:lstStyle>
          <a:p>
            <a:pPr algn="l">
              <a:lnSpc>
                <a:spcPct val="106000"/>
              </a:lnSpc>
              <a:buNone/>
              <a:defRPr sz="1500" b="1">
                <a:solidFill>
                  <a:srgbClr val="151515"/>
                </a:solidFill>
                <a:latin typeface="Malgun Gothic"/>
                <a:ea typeface="Malgun Gothic"/>
                <a:cs typeface="Malgun Gothic"/>
              </a:defRPr>
            </a:pPr>
            <a:r>
              <a:rPr sz="1500" b="1">
                <a:solidFill>
                  <a:srgbClr val="151515"/>
                </a:solidFill>
                <a:latin typeface="Malgun Gothic"/>
                <a:ea typeface="Malgun Gothic"/>
                <a:cs typeface="Malgun Gothic"/>
              </a:rPr>
              <a:t>⑥ 오른쪽 4개</a:t>
            </a:r>
          </a:p>
        </p:txBody>
      </p:sp>
      <p:graphicFrame>
        <p:nvGraphicFramePr>
          <p:cNvPr id="25" name="표 24">
            <a:extLst>
              <a:ext uri="{FF2B5EF4-FFF2-40B4-BE49-F238E27FC236}">
                <a16:creationId xmlns:a16="http://schemas.microsoft.com/office/drawing/2014/main" id="{551CCDA5-BDCC-43A5-81BD-257490F0F4C6}"/>
              </a:ext>
            </a:extLst>
          </p:cNvPr>
          <p:cNvGraphicFramePr/>
          <p:nvPr/>
        </p:nvGraphicFramePr>
        <p:xfrm>
          <a:off x="6629400" y="3648075"/>
          <a:ext cx="44196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495300">
                <a:tc>
                  <a:txBody>
                    <a:bodyPr/>
                    <a:lstStyle/>
                    <a:p>
                      <a:pPr algn="ctr"/>
                      <a:r>
                        <a:rPr sz="2175" b="1">
                          <a:solidFill>
                            <a:srgbClr val="151515"/>
                          </a:solidFill>
                          <a:latin typeface="Consolas"/>
                          <a:ea typeface="Consolas"/>
                          <a:cs typeface="Consolas"/>
                        </a:rPr>
                        <a:t>1</a:t>
                      </a:r>
                    </a:p>
                  </a:txBody>
                  <a:tcPr anchor="ctr">
                    <a:solidFill>
                      <a:srgbClr val="DDEFE6"/>
                    </a:solidFill>
                  </a:tcPr>
                </a:tc>
                <a:tc>
                  <a:txBody>
                    <a:bodyPr/>
                    <a:lstStyle/>
                    <a:p>
                      <a:pPr algn="ctr"/>
                      <a:r>
                        <a:rPr sz="2175" b="1">
                          <a:solidFill>
                            <a:srgbClr val="151515"/>
                          </a:solidFill>
                          <a:latin typeface="Consolas"/>
                          <a:ea typeface="Consolas"/>
                          <a:cs typeface="Consolas"/>
                        </a:rPr>
                        <a:t>4</a:t>
                      </a:r>
                    </a:p>
                  </a:txBody>
                  <a:tcPr anchor="ctr">
                    <a:solidFill>
                      <a:srgbClr val="DDEFE6"/>
                    </a:solidFill>
                  </a:tcPr>
                </a:tc>
                <a:tc>
                  <a:txBody>
                    <a:bodyPr/>
                    <a:lstStyle/>
                    <a:p>
                      <a:pPr algn="ctr"/>
                      <a:r>
                        <a:rPr sz="2175" b="1">
                          <a:solidFill>
                            <a:srgbClr val="151515"/>
                          </a:solidFill>
                          <a:latin typeface="Consolas"/>
                          <a:ea typeface="Consolas"/>
                          <a:cs typeface="Consolas"/>
                        </a:rPr>
                        <a:t>5</a:t>
                      </a:r>
                    </a:p>
                  </a:txBody>
                  <a:tcPr anchor="ctr">
                    <a:solidFill>
                      <a:srgbClr val="DDEFE6"/>
                    </a:solidFill>
                  </a:tcPr>
                </a:tc>
                <a:tc>
                  <a:txBody>
                    <a:bodyPr/>
                    <a:lstStyle/>
                    <a:p>
                      <a:pPr algn="ctr"/>
                      <a:r>
                        <a:rPr sz="2175" b="1">
                          <a:solidFill>
                            <a:srgbClr val="151515"/>
                          </a:solidFill>
                          <a:latin typeface="Consolas"/>
                          <a:ea typeface="Consolas"/>
                          <a:cs typeface="Consolas"/>
                        </a:rPr>
                        <a:t>7</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6" name="직사각형 25">
            <a:extLst>
              <a:ext uri="{FF2B5EF4-FFF2-40B4-BE49-F238E27FC236}">
                <a16:creationId xmlns:a16="http://schemas.microsoft.com/office/drawing/2014/main" id="{BFF40A75-37A6-449F-8ECC-D17D3BA5E467}"/>
              </a:ext>
            </a:extLst>
          </p:cNvPr>
          <p:cNvSpPr>
            <a:spLocks noGrp="1"/>
          </p:cNvSpPr>
          <p:nvPr/>
        </p:nvSpPr>
        <p:spPr>
          <a:xfrm>
            <a:off x="1971675" y="5143500"/>
            <a:ext cx="19050" cy="257175"/>
          </a:xfrm>
          <a:prstGeom prst="rect">
            <a:avLst/>
          </a:prstGeom>
          <a:solidFill>
            <a:srgbClr val="AAAAAA"/>
          </a:solidFill>
          <a:ln w="0">
            <a:noFill/>
          </a:ln>
        </p:spPr>
      </p:sp>
      <p:sp>
        <p:nvSpPr>
          <p:cNvPr id="27" name="직사각형 26">
            <a:extLst>
              <a:ext uri="{FF2B5EF4-FFF2-40B4-BE49-F238E27FC236}">
                <a16:creationId xmlns:a16="http://schemas.microsoft.com/office/drawing/2014/main" id="{671D6D72-479D-4A25-BB27-7BB0B47097C3}"/>
              </a:ext>
            </a:extLst>
          </p:cNvPr>
          <p:cNvSpPr>
            <a:spLocks noGrp="1"/>
          </p:cNvSpPr>
          <p:nvPr/>
        </p:nvSpPr>
        <p:spPr>
          <a:xfrm>
            <a:off x="1295400" y="5400675"/>
            <a:ext cx="1371600" cy="19050"/>
          </a:xfrm>
          <a:prstGeom prst="rect">
            <a:avLst/>
          </a:prstGeom>
          <a:solidFill>
            <a:srgbClr val="AAAAAA"/>
          </a:solidFill>
          <a:ln w="0">
            <a:noFill/>
          </a:ln>
        </p:spPr>
      </p:sp>
      <p:sp>
        <p:nvSpPr>
          <p:cNvPr id="28" name="직사각형 27">
            <a:extLst>
              <a:ext uri="{FF2B5EF4-FFF2-40B4-BE49-F238E27FC236}">
                <a16:creationId xmlns:a16="http://schemas.microsoft.com/office/drawing/2014/main" id="{BC83EEC2-8799-4983-9D2E-13770589DC78}"/>
              </a:ext>
            </a:extLst>
          </p:cNvPr>
          <p:cNvSpPr>
            <a:spLocks noGrp="1"/>
          </p:cNvSpPr>
          <p:nvPr/>
        </p:nvSpPr>
        <p:spPr>
          <a:xfrm>
            <a:off x="1285875" y="5400675"/>
            <a:ext cx="19050" cy="247650"/>
          </a:xfrm>
          <a:prstGeom prst="rect">
            <a:avLst/>
          </a:prstGeom>
          <a:solidFill>
            <a:srgbClr val="AAAAAA"/>
          </a:solidFill>
          <a:ln w="0">
            <a:noFill/>
          </a:ln>
        </p:spPr>
      </p:sp>
      <p:sp>
        <p:nvSpPr>
          <p:cNvPr id="29" name="직사각형 28">
            <a:extLst>
              <a:ext uri="{FF2B5EF4-FFF2-40B4-BE49-F238E27FC236}">
                <a16:creationId xmlns:a16="http://schemas.microsoft.com/office/drawing/2014/main" id="{08DDB521-1F73-4C7B-A61C-1EFB9F1448E7}"/>
              </a:ext>
            </a:extLst>
          </p:cNvPr>
          <p:cNvSpPr>
            <a:spLocks noGrp="1"/>
          </p:cNvSpPr>
          <p:nvPr/>
        </p:nvSpPr>
        <p:spPr>
          <a:xfrm>
            <a:off x="2657475" y="5400675"/>
            <a:ext cx="19050" cy="247650"/>
          </a:xfrm>
          <a:prstGeom prst="rect">
            <a:avLst/>
          </a:prstGeom>
          <a:solidFill>
            <a:srgbClr val="AAAAAA"/>
          </a:solidFill>
          <a:ln w="0">
            <a:noFill/>
          </a:ln>
        </p:spPr>
      </p:sp>
      <p:sp>
        <p:nvSpPr>
          <p:cNvPr id="30" name="직사각형 29">
            <a:extLst>
              <a:ext uri="{FF2B5EF4-FFF2-40B4-BE49-F238E27FC236}">
                <a16:creationId xmlns:a16="http://schemas.microsoft.com/office/drawing/2014/main" id="{BE9EBECE-508C-47F0-B849-BB735B2F5705}"/>
              </a:ext>
            </a:extLst>
          </p:cNvPr>
          <p:cNvSpPr>
            <a:spLocks noGrp="1"/>
          </p:cNvSpPr>
          <p:nvPr/>
        </p:nvSpPr>
        <p:spPr>
          <a:xfrm>
            <a:off x="4714875" y="5143500"/>
            <a:ext cx="19050" cy="257175"/>
          </a:xfrm>
          <a:prstGeom prst="rect">
            <a:avLst/>
          </a:prstGeom>
          <a:solidFill>
            <a:srgbClr val="AAAAAA"/>
          </a:solidFill>
          <a:ln w="0">
            <a:noFill/>
          </a:ln>
        </p:spPr>
      </p:sp>
      <p:sp>
        <p:nvSpPr>
          <p:cNvPr id="31" name="직사각형 30">
            <a:extLst>
              <a:ext uri="{FF2B5EF4-FFF2-40B4-BE49-F238E27FC236}">
                <a16:creationId xmlns:a16="http://schemas.microsoft.com/office/drawing/2014/main" id="{4F5A3895-778F-4274-BF7A-DF5B6774D9B3}"/>
              </a:ext>
            </a:extLst>
          </p:cNvPr>
          <p:cNvSpPr>
            <a:spLocks noGrp="1"/>
          </p:cNvSpPr>
          <p:nvPr/>
        </p:nvSpPr>
        <p:spPr>
          <a:xfrm>
            <a:off x="4038600" y="5400675"/>
            <a:ext cx="1371600" cy="19050"/>
          </a:xfrm>
          <a:prstGeom prst="rect">
            <a:avLst/>
          </a:prstGeom>
          <a:solidFill>
            <a:srgbClr val="AAAAAA"/>
          </a:solidFill>
          <a:ln w="0">
            <a:noFill/>
          </a:ln>
        </p:spPr>
      </p:sp>
      <p:sp>
        <p:nvSpPr>
          <p:cNvPr id="32" name="직사각형 31">
            <a:extLst>
              <a:ext uri="{FF2B5EF4-FFF2-40B4-BE49-F238E27FC236}">
                <a16:creationId xmlns:a16="http://schemas.microsoft.com/office/drawing/2014/main" id="{41CD864E-7571-4F52-BF5C-2E619037B1B1}"/>
              </a:ext>
            </a:extLst>
          </p:cNvPr>
          <p:cNvSpPr>
            <a:spLocks noGrp="1"/>
          </p:cNvSpPr>
          <p:nvPr/>
        </p:nvSpPr>
        <p:spPr>
          <a:xfrm>
            <a:off x="4029075" y="5400675"/>
            <a:ext cx="19050" cy="247650"/>
          </a:xfrm>
          <a:prstGeom prst="rect">
            <a:avLst/>
          </a:prstGeom>
          <a:solidFill>
            <a:srgbClr val="AAAAAA"/>
          </a:solidFill>
          <a:ln w="0">
            <a:noFill/>
          </a:ln>
        </p:spPr>
      </p:sp>
      <p:sp>
        <p:nvSpPr>
          <p:cNvPr id="33" name="직사각형 32">
            <a:extLst>
              <a:ext uri="{FF2B5EF4-FFF2-40B4-BE49-F238E27FC236}">
                <a16:creationId xmlns:a16="http://schemas.microsoft.com/office/drawing/2014/main" id="{344295EF-9A68-469F-AF4B-CDD1F4DC6A5B}"/>
              </a:ext>
            </a:extLst>
          </p:cNvPr>
          <p:cNvSpPr>
            <a:spLocks noGrp="1"/>
          </p:cNvSpPr>
          <p:nvPr/>
        </p:nvSpPr>
        <p:spPr>
          <a:xfrm>
            <a:off x="5400675" y="5400675"/>
            <a:ext cx="19050" cy="247650"/>
          </a:xfrm>
          <a:prstGeom prst="rect">
            <a:avLst/>
          </a:prstGeom>
          <a:solidFill>
            <a:srgbClr val="AAAAAA"/>
          </a:solidFill>
          <a:ln w="0">
            <a:noFill/>
          </a:ln>
        </p:spPr>
      </p:sp>
      <p:sp>
        <p:nvSpPr>
          <p:cNvPr id="34" name="직사각형 33">
            <a:extLst>
              <a:ext uri="{FF2B5EF4-FFF2-40B4-BE49-F238E27FC236}">
                <a16:creationId xmlns:a16="http://schemas.microsoft.com/office/drawing/2014/main" id="{F7435295-E42F-44AB-B806-372C5C0A7A63}"/>
              </a:ext>
            </a:extLst>
          </p:cNvPr>
          <p:cNvSpPr>
            <a:spLocks noGrp="1"/>
          </p:cNvSpPr>
          <p:nvPr/>
        </p:nvSpPr>
        <p:spPr>
          <a:xfrm>
            <a:off x="7458075" y="5143500"/>
            <a:ext cx="19050" cy="257175"/>
          </a:xfrm>
          <a:prstGeom prst="rect">
            <a:avLst/>
          </a:prstGeom>
          <a:solidFill>
            <a:srgbClr val="AAAAAA"/>
          </a:solidFill>
          <a:ln w="0">
            <a:noFill/>
          </a:ln>
        </p:spPr>
      </p:sp>
      <p:sp>
        <p:nvSpPr>
          <p:cNvPr id="35" name="직사각형 34">
            <a:extLst>
              <a:ext uri="{FF2B5EF4-FFF2-40B4-BE49-F238E27FC236}">
                <a16:creationId xmlns:a16="http://schemas.microsoft.com/office/drawing/2014/main" id="{4963F448-1D96-46D3-AAE9-13A2E2A81DA0}"/>
              </a:ext>
            </a:extLst>
          </p:cNvPr>
          <p:cNvSpPr>
            <a:spLocks noGrp="1"/>
          </p:cNvSpPr>
          <p:nvPr/>
        </p:nvSpPr>
        <p:spPr>
          <a:xfrm>
            <a:off x="6781800" y="5400675"/>
            <a:ext cx="1371600" cy="19050"/>
          </a:xfrm>
          <a:prstGeom prst="rect">
            <a:avLst/>
          </a:prstGeom>
          <a:solidFill>
            <a:srgbClr val="AAAAAA"/>
          </a:solidFill>
          <a:ln w="0">
            <a:noFill/>
          </a:ln>
        </p:spPr>
      </p:sp>
      <p:sp>
        <p:nvSpPr>
          <p:cNvPr id="36" name="직사각형 35">
            <a:extLst>
              <a:ext uri="{FF2B5EF4-FFF2-40B4-BE49-F238E27FC236}">
                <a16:creationId xmlns:a16="http://schemas.microsoft.com/office/drawing/2014/main" id="{2B88AF48-C16A-4CE1-AE02-D1D61DC2BBB4}"/>
              </a:ext>
            </a:extLst>
          </p:cNvPr>
          <p:cNvSpPr>
            <a:spLocks noGrp="1"/>
          </p:cNvSpPr>
          <p:nvPr/>
        </p:nvSpPr>
        <p:spPr>
          <a:xfrm>
            <a:off x="6772275" y="5400675"/>
            <a:ext cx="19050" cy="247650"/>
          </a:xfrm>
          <a:prstGeom prst="rect">
            <a:avLst/>
          </a:prstGeom>
          <a:solidFill>
            <a:srgbClr val="AAAAAA"/>
          </a:solidFill>
          <a:ln w="0">
            <a:noFill/>
          </a:ln>
        </p:spPr>
      </p:sp>
      <p:sp>
        <p:nvSpPr>
          <p:cNvPr id="37" name="직사각형 36">
            <a:extLst>
              <a:ext uri="{FF2B5EF4-FFF2-40B4-BE49-F238E27FC236}">
                <a16:creationId xmlns:a16="http://schemas.microsoft.com/office/drawing/2014/main" id="{887FF17B-9352-4ADE-B2F7-9CEF4BE72930}"/>
              </a:ext>
            </a:extLst>
          </p:cNvPr>
          <p:cNvSpPr>
            <a:spLocks noGrp="1"/>
          </p:cNvSpPr>
          <p:nvPr/>
        </p:nvSpPr>
        <p:spPr>
          <a:xfrm>
            <a:off x="8143875" y="5400675"/>
            <a:ext cx="19050" cy="247650"/>
          </a:xfrm>
          <a:prstGeom prst="rect">
            <a:avLst/>
          </a:prstGeom>
          <a:solidFill>
            <a:srgbClr val="AAAAAA"/>
          </a:solidFill>
          <a:ln w="0">
            <a:noFill/>
          </a:ln>
        </p:spPr>
      </p:sp>
      <p:sp>
        <p:nvSpPr>
          <p:cNvPr id="38" name="직사각형 37">
            <a:extLst>
              <a:ext uri="{FF2B5EF4-FFF2-40B4-BE49-F238E27FC236}">
                <a16:creationId xmlns:a16="http://schemas.microsoft.com/office/drawing/2014/main" id="{0DF16999-D3FB-439D-B106-170749381C34}"/>
              </a:ext>
            </a:extLst>
          </p:cNvPr>
          <p:cNvSpPr>
            <a:spLocks noGrp="1"/>
          </p:cNvSpPr>
          <p:nvPr/>
        </p:nvSpPr>
        <p:spPr>
          <a:xfrm>
            <a:off x="10201275" y="5143500"/>
            <a:ext cx="19050" cy="257175"/>
          </a:xfrm>
          <a:prstGeom prst="rect">
            <a:avLst/>
          </a:prstGeom>
          <a:solidFill>
            <a:srgbClr val="AAAAAA"/>
          </a:solidFill>
          <a:ln w="0">
            <a:noFill/>
          </a:ln>
        </p:spPr>
      </p:sp>
      <p:sp>
        <p:nvSpPr>
          <p:cNvPr id="39" name="직사각형 38">
            <a:extLst>
              <a:ext uri="{FF2B5EF4-FFF2-40B4-BE49-F238E27FC236}">
                <a16:creationId xmlns:a16="http://schemas.microsoft.com/office/drawing/2014/main" id="{CEA6DD83-A3C4-40B0-9173-0AB13AF2B95B}"/>
              </a:ext>
            </a:extLst>
          </p:cNvPr>
          <p:cNvSpPr>
            <a:spLocks noGrp="1"/>
          </p:cNvSpPr>
          <p:nvPr/>
        </p:nvSpPr>
        <p:spPr>
          <a:xfrm>
            <a:off x="9525000" y="5400675"/>
            <a:ext cx="1371600" cy="19050"/>
          </a:xfrm>
          <a:prstGeom prst="rect">
            <a:avLst/>
          </a:prstGeom>
          <a:solidFill>
            <a:srgbClr val="AAAAAA"/>
          </a:solidFill>
          <a:ln w="0">
            <a:noFill/>
          </a:ln>
        </p:spPr>
      </p:sp>
      <p:sp>
        <p:nvSpPr>
          <p:cNvPr id="40" name="직사각형 39">
            <a:extLst>
              <a:ext uri="{FF2B5EF4-FFF2-40B4-BE49-F238E27FC236}">
                <a16:creationId xmlns:a16="http://schemas.microsoft.com/office/drawing/2014/main" id="{411885E4-F65B-4DFA-8FAE-4CE4A02E2A60}"/>
              </a:ext>
            </a:extLst>
          </p:cNvPr>
          <p:cNvSpPr>
            <a:spLocks noGrp="1"/>
          </p:cNvSpPr>
          <p:nvPr/>
        </p:nvSpPr>
        <p:spPr>
          <a:xfrm>
            <a:off x="9515475" y="5400675"/>
            <a:ext cx="19050" cy="247650"/>
          </a:xfrm>
          <a:prstGeom prst="rect">
            <a:avLst/>
          </a:prstGeom>
          <a:solidFill>
            <a:srgbClr val="AAAAAA"/>
          </a:solidFill>
          <a:ln w="0">
            <a:noFill/>
          </a:ln>
        </p:spPr>
      </p:sp>
      <p:sp>
        <p:nvSpPr>
          <p:cNvPr id="41" name="직사각형 40">
            <a:extLst>
              <a:ext uri="{FF2B5EF4-FFF2-40B4-BE49-F238E27FC236}">
                <a16:creationId xmlns:a16="http://schemas.microsoft.com/office/drawing/2014/main" id="{3D85A672-7526-4FF0-BEFB-A215770B2186}"/>
              </a:ext>
            </a:extLst>
          </p:cNvPr>
          <p:cNvSpPr>
            <a:spLocks noGrp="1"/>
          </p:cNvSpPr>
          <p:nvPr/>
        </p:nvSpPr>
        <p:spPr>
          <a:xfrm>
            <a:off x="10887075" y="5400675"/>
            <a:ext cx="19050" cy="247650"/>
          </a:xfrm>
          <a:prstGeom prst="rect">
            <a:avLst/>
          </a:prstGeom>
          <a:solidFill>
            <a:srgbClr val="AAAAAA"/>
          </a:solidFill>
          <a:ln w="0">
            <a:noFill/>
          </a:ln>
        </p:spPr>
      </p:sp>
      <p:sp>
        <p:nvSpPr>
          <p:cNvPr id="42" name="order-label-2-0">
            <a:extLst>
              <a:ext uri="{FF2B5EF4-FFF2-40B4-BE49-F238E27FC236}">
                <a16:creationId xmlns:a16="http://schemas.microsoft.com/office/drawing/2014/main" id="{1A6FB4EC-B93F-498E-AFEA-D018E439124B}"/>
              </a:ext>
            </a:extLst>
          </p:cNvPr>
          <p:cNvSpPr>
            <a:spLocks noGrp="1"/>
          </p:cNvSpPr>
          <p:nvPr/>
        </p:nvSpPr>
        <p:spPr>
          <a:xfrm>
            <a:off x="876300" y="4400550"/>
            <a:ext cx="2209800" cy="238125"/>
          </a:xfrm>
          <a:prstGeom prst="rect">
            <a:avLst/>
          </a:prstGeom>
          <a:noFill/>
          <a:ln w="0">
            <a:noFill/>
          </a:ln>
        </p:spPr>
        <p:txBody>
          <a:bodyPr wrap="none" lIns="0" tIns="0" rIns="0" bIns="0" anchor="t">
            <a:noAutofit/>
          </a:bodyPr>
          <a:lstStyle>
            <a:defPPr algn="l">
              <a:defRPr sz="1500" b="1">
                <a:solidFill>
                  <a:srgbClr val="151515"/>
                </a:solidFill>
                <a:latin typeface="Malgun Gothic"/>
                <a:ea typeface="Malgun Gothic"/>
                <a:cs typeface="Malgun Gothic"/>
              </a:defRPr>
            </a:defPPr>
          </a:lstStyle>
          <a:p>
            <a:pPr algn="l">
              <a:lnSpc>
                <a:spcPct val="106000"/>
              </a:lnSpc>
              <a:buNone/>
              <a:defRPr sz="1500" b="1">
                <a:solidFill>
                  <a:srgbClr val="151515"/>
                </a:solidFill>
                <a:latin typeface="Malgun Gothic"/>
                <a:ea typeface="Malgun Gothic"/>
                <a:cs typeface="Malgun Gothic"/>
              </a:defRPr>
            </a:pPr>
            <a:r>
              <a:rPr sz="1500" b="1">
                <a:solidFill>
                  <a:srgbClr val="151515"/>
                </a:solidFill>
                <a:latin typeface="Malgun Gothic"/>
                <a:ea typeface="Malgun Gothic"/>
                <a:cs typeface="Malgun Gothic"/>
              </a:rPr>
              <a:t>① 병합</a:t>
            </a:r>
          </a:p>
        </p:txBody>
      </p:sp>
      <p:graphicFrame>
        <p:nvGraphicFramePr>
          <p:cNvPr id="43" name="표 42">
            <a:extLst>
              <a:ext uri="{FF2B5EF4-FFF2-40B4-BE49-F238E27FC236}">
                <a16:creationId xmlns:a16="http://schemas.microsoft.com/office/drawing/2014/main" id="{D8DFC10D-AA65-4597-A609-5379100CE2BF}"/>
              </a:ext>
            </a:extLst>
          </p:cNvPr>
          <p:cNvGraphicFramePr/>
          <p:nvPr/>
        </p:nvGraphicFramePr>
        <p:xfrm>
          <a:off x="876300" y="46482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175" b="1">
                          <a:solidFill>
                            <a:srgbClr val="151515"/>
                          </a:solidFill>
                          <a:latin typeface="Consolas"/>
                          <a:ea typeface="Consolas"/>
                          <a:cs typeface="Consolas"/>
                        </a:rPr>
                        <a:t>3</a:t>
                      </a:r>
                    </a:p>
                  </a:txBody>
                  <a:tcPr anchor="ctr">
                    <a:solidFill>
                      <a:srgbClr val="DCECFB"/>
                    </a:solidFill>
                  </a:tcPr>
                </a:tc>
                <a:tc>
                  <a:txBody>
                    <a:bodyPr/>
                    <a:lstStyle/>
                    <a:p>
                      <a:pPr algn="ctr"/>
                      <a:r>
                        <a:rPr sz="2175"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44" name="order-label-2-1">
            <a:extLst>
              <a:ext uri="{FF2B5EF4-FFF2-40B4-BE49-F238E27FC236}">
                <a16:creationId xmlns:a16="http://schemas.microsoft.com/office/drawing/2014/main" id="{B5DB57CC-40F1-49C4-91CC-D96B91D64BD6}"/>
              </a:ext>
            </a:extLst>
          </p:cNvPr>
          <p:cNvSpPr>
            <a:spLocks noGrp="1"/>
          </p:cNvSpPr>
          <p:nvPr/>
        </p:nvSpPr>
        <p:spPr>
          <a:xfrm>
            <a:off x="3619500" y="4400550"/>
            <a:ext cx="2209800" cy="238125"/>
          </a:xfrm>
          <a:prstGeom prst="rect">
            <a:avLst/>
          </a:prstGeom>
          <a:noFill/>
          <a:ln w="0">
            <a:noFill/>
          </a:ln>
        </p:spPr>
        <p:txBody>
          <a:bodyPr wrap="none" lIns="0" tIns="0" rIns="0" bIns="0" anchor="t">
            <a:noAutofit/>
          </a:bodyPr>
          <a:lstStyle>
            <a:defPPr algn="l">
              <a:defRPr sz="1500" b="1">
                <a:solidFill>
                  <a:srgbClr val="151515"/>
                </a:solidFill>
                <a:latin typeface="Malgun Gothic"/>
                <a:ea typeface="Malgun Gothic"/>
                <a:cs typeface="Malgun Gothic"/>
              </a:defRPr>
            </a:defPPr>
          </a:lstStyle>
          <a:p>
            <a:pPr algn="l">
              <a:lnSpc>
                <a:spcPct val="106000"/>
              </a:lnSpc>
              <a:buNone/>
              <a:defRPr sz="1500" b="1">
                <a:solidFill>
                  <a:srgbClr val="151515"/>
                </a:solidFill>
                <a:latin typeface="Malgun Gothic"/>
                <a:ea typeface="Malgun Gothic"/>
                <a:cs typeface="Malgun Gothic"/>
              </a:defRPr>
            </a:pPr>
            <a:r>
              <a:rPr sz="1500" b="1">
                <a:solidFill>
                  <a:srgbClr val="151515"/>
                </a:solidFill>
                <a:latin typeface="Malgun Gothic"/>
                <a:ea typeface="Malgun Gothic"/>
                <a:cs typeface="Malgun Gothic"/>
              </a:rPr>
              <a:t>② 병합</a:t>
            </a:r>
          </a:p>
        </p:txBody>
      </p:sp>
      <p:graphicFrame>
        <p:nvGraphicFramePr>
          <p:cNvPr id="45" name="표 44">
            <a:extLst>
              <a:ext uri="{FF2B5EF4-FFF2-40B4-BE49-F238E27FC236}">
                <a16:creationId xmlns:a16="http://schemas.microsoft.com/office/drawing/2014/main" id="{76860921-DCC1-4B79-9175-5C5C77195230}"/>
              </a:ext>
            </a:extLst>
          </p:cNvPr>
          <p:cNvGraphicFramePr/>
          <p:nvPr/>
        </p:nvGraphicFramePr>
        <p:xfrm>
          <a:off x="3619500" y="46482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175" b="1">
                          <a:solidFill>
                            <a:srgbClr val="151515"/>
                          </a:solidFill>
                          <a:latin typeface="Consolas"/>
                          <a:ea typeface="Consolas"/>
                          <a:cs typeface="Consolas"/>
                        </a:rPr>
                        <a:t>2</a:t>
                      </a:r>
                    </a:p>
                  </a:txBody>
                  <a:tcPr anchor="ctr">
                    <a:solidFill>
                      <a:srgbClr val="DDEFE6"/>
                    </a:solidFill>
                  </a:tcPr>
                </a:tc>
                <a:tc>
                  <a:txBody>
                    <a:bodyPr/>
                    <a:lstStyle/>
                    <a:p>
                      <a:pPr algn="ctr"/>
                      <a:r>
                        <a:rPr sz="2175" b="1">
                          <a:solidFill>
                            <a:srgbClr val="151515"/>
                          </a:solidFill>
                          <a:latin typeface="Consolas"/>
                          <a:ea typeface="Consolas"/>
                          <a:cs typeface="Consolas"/>
                        </a:rPr>
                        <a:t>6</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46" name="order-label-2-2">
            <a:extLst>
              <a:ext uri="{FF2B5EF4-FFF2-40B4-BE49-F238E27FC236}">
                <a16:creationId xmlns:a16="http://schemas.microsoft.com/office/drawing/2014/main" id="{7895F06E-031C-4ACB-9E58-ADAA41B3843C}"/>
              </a:ext>
            </a:extLst>
          </p:cNvPr>
          <p:cNvSpPr>
            <a:spLocks noGrp="1"/>
          </p:cNvSpPr>
          <p:nvPr/>
        </p:nvSpPr>
        <p:spPr>
          <a:xfrm>
            <a:off x="6362700" y="4400550"/>
            <a:ext cx="2209800" cy="238125"/>
          </a:xfrm>
          <a:prstGeom prst="rect">
            <a:avLst/>
          </a:prstGeom>
          <a:noFill/>
          <a:ln w="0">
            <a:noFill/>
          </a:ln>
        </p:spPr>
        <p:txBody>
          <a:bodyPr wrap="none" lIns="0" tIns="0" rIns="0" bIns="0" anchor="t">
            <a:noAutofit/>
          </a:bodyPr>
          <a:lstStyle>
            <a:defPPr algn="l">
              <a:defRPr sz="1500" b="1">
                <a:solidFill>
                  <a:srgbClr val="151515"/>
                </a:solidFill>
                <a:latin typeface="Malgun Gothic"/>
                <a:ea typeface="Malgun Gothic"/>
                <a:cs typeface="Malgun Gothic"/>
              </a:defRPr>
            </a:defPPr>
          </a:lstStyle>
          <a:p>
            <a:pPr algn="l">
              <a:lnSpc>
                <a:spcPct val="106000"/>
              </a:lnSpc>
              <a:buNone/>
              <a:defRPr sz="1500" b="1">
                <a:solidFill>
                  <a:srgbClr val="151515"/>
                </a:solidFill>
                <a:latin typeface="Malgun Gothic"/>
                <a:ea typeface="Malgun Gothic"/>
                <a:cs typeface="Malgun Gothic"/>
              </a:defRPr>
            </a:pPr>
            <a:r>
              <a:rPr sz="1500" b="1">
                <a:solidFill>
                  <a:srgbClr val="151515"/>
                </a:solidFill>
                <a:latin typeface="Malgun Gothic"/>
                <a:ea typeface="Malgun Gothic"/>
                <a:cs typeface="Malgun Gothic"/>
              </a:rPr>
              <a:t>④ 병합</a:t>
            </a:r>
          </a:p>
        </p:txBody>
      </p:sp>
      <p:graphicFrame>
        <p:nvGraphicFramePr>
          <p:cNvPr id="47" name="표 46">
            <a:extLst>
              <a:ext uri="{FF2B5EF4-FFF2-40B4-BE49-F238E27FC236}">
                <a16:creationId xmlns:a16="http://schemas.microsoft.com/office/drawing/2014/main" id="{1D92885C-5A75-4BF9-9D0F-E861FD4B1511}"/>
              </a:ext>
            </a:extLst>
          </p:cNvPr>
          <p:cNvGraphicFramePr/>
          <p:nvPr/>
        </p:nvGraphicFramePr>
        <p:xfrm>
          <a:off x="6362700" y="46482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175" b="1">
                          <a:solidFill>
                            <a:srgbClr val="151515"/>
                          </a:solidFill>
                          <a:latin typeface="Consolas"/>
                          <a:ea typeface="Consolas"/>
                          <a:cs typeface="Consolas"/>
                        </a:rPr>
                        <a:t>1</a:t>
                      </a:r>
                    </a:p>
                  </a:txBody>
                  <a:tcPr anchor="ctr">
                    <a:solidFill>
                      <a:srgbClr val="DCECFB"/>
                    </a:solidFill>
                  </a:tcPr>
                </a:tc>
                <a:tc>
                  <a:txBody>
                    <a:bodyPr/>
                    <a:lstStyle/>
                    <a:p>
                      <a:pPr algn="ctr"/>
                      <a:r>
                        <a:rPr sz="2175" b="1">
                          <a:solidFill>
                            <a:srgbClr val="151515"/>
                          </a:solidFill>
                          <a:latin typeface="Consolas"/>
                          <a:ea typeface="Consolas"/>
                          <a:cs typeface="Consolas"/>
                        </a:rPr>
                        <a:t>7</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48" name="order-label-2-3">
            <a:extLst>
              <a:ext uri="{FF2B5EF4-FFF2-40B4-BE49-F238E27FC236}">
                <a16:creationId xmlns:a16="http://schemas.microsoft.com/office/drawing/2014/main" id="{3D03F84F-6126-4528-8342-F45332222A8C}"/>
              </a:ext>
            </a:extLst>
          </p:cNvPr>
          <p:cNvSpPr>
            <a:spLocks noGrp="1"/>
          </p:cNvSpPr>
          <p:nvPr/>
        </p:nvSpPr>
        <p:spPr>
          <a:xfrm>
            <a:off x="9105900" y="4400550"/>
            <a:ext cx="2209800" cy="238125"/>
          </a:xfrm>
          <a:prstGeom prst="rect">
            <a:avLst/>
          </a:prstGeom>
          <a:noFill/>
          <a:ln w="0">
            <a:noFill/>
          </a:ln>
        </p:spPr>
        <p:txBody>
          <a:bodyPr wrap="none" lIns="0" tIns="0" rIns="0" bIns="0" anchor="t">
            <a:noAutofit/>
          </a:bodyPr>
          <a:lstStyle>
            <a:defPPr algn="l">
              <a:defRPr sz="1500" b="1">
                <a:solidFill>
                  <a:srgbClr val="151515"/>
                </a:solidFill>
                <a:latin typeface="Malgun Gothic"/>
                <a:ea typeface="Malgun Gothic"/>
                <a:cs typeface="Malgun Gothic"/>
              </a:defRPr>
            </a:defPPr>
          </a:lstStyle>
          <a:p>
            <a:pPr algn="l">
              <a:lnSpc>
                <a:spcPct val="106000"/>
              </a:lnSpc>
              <a:buNone/>
              <a:defRPr sz="1500" b="1">
                <a:solidFill>
                  <a:srgbClr val="151515"/>
                </a:solidFill>
                <a:latin typeface="Malgun Gothic"/>
                <a:ea typeface="Malgun Gothic"/>
                <a:cs typeface="Malgun Gothic"/>
              </a:defRPr>
            </a:pPr>
            <a:r>
              <a:rPr sz="1500" b="1">
                <a:solidFill>
                  <a:srgbClr val="151515"/>
                </a:solidFill>
                <a:latin typeface="Malgun Gothic"/>
                <a:ea typeface="Malgun Gothic"/>
                <a:cs typeface="Malgun Gothic"/>
              </a:rPr>
              <a:t>⑤ 병합</a:t>
            </a:r>
          </a:p>
        </p:txBody>
      </p:sp>
      <p:graphicFrame>
        <p:nvGraphicFramePr>
          <p:cNvPr id="49" name="표 48">
            <a:extLst>
              <a:ext uri="{FF2B5EF4-FFF2-40B4-BE49-F238E27FC236}">
                <a16:creationId xmlns:a16="http://schemas.microsoft.com/office/drawing/2014/main" id="{AE9DE415-3C52-4FFC-97CC-69AC4FA342E0}"/>
              </a:ext>
            </a:extLst>
          </p:cNvPr>
          <p:cNvGraphicFramePr/>
          <p:nvPr/>
        </p:nvGraphicFramePr>
        <p:xfrm>
          <a:off x="9105900" y="4648200"/>
          <a:ext cx="2209800" cy="4953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5300">
                <a:tc>
                  <a:txBody>
                    <a:bodyPr/>
                    <a:lstStyle/>
                    <a:p>
                      <a:pPr algn="ctr"/>
                      <a:r>
                        <a:rPr sz="2175" b="1">
                          <a:solidFill>
                            <a:srgbClr val="151515"/>
                          </a:solidFill>
                          <a:latin typeface="Consolas"/>
                          <a:ea typeface="Consolas"/>
                          <a:cs typeface="Consolas"/>
                        </a:rPr>
                        <a:t>4</a:t>
                      </a:r>
                    </a:p>
                  </a:txBody>
                  <a:tcPr anchor="ctr">
                    <a:solidFill>
                      <a:srgbClr val="DDEFE6"/>
                    </a:solidFill>
                  </a:tcPr>
                </a:tc>
                <a:tc>
                  <a:txBody>
                    <a:bodyPr/>
                    <a:lstStyle/>
                    <a:p>
                      <a:pPr algn="ctr"/>
                      <a:r>
                        <a:rPr sz="2175" b="1">
                          <a:solidFill>
                            <a:srgbClr val="151515"/>
                          </a:solidFill>
                          <a:latin typeface="Consolas"/>
                          <a:ea typeface="Consolas"/>
                          <a:cs typeface="Consolas"/>
                        </a:rPr>
                        <a:t>5</a:t>
                      </a:r>
                    </a:p>
                  </a:txBody>
                  <a:tcPr anchor="ctr">
                    <a:solidFill>
                      <a:srgbClr val="DDEFE6"/>
                    </a:solidFill>
                  </a:tcPr>
                </a:tc>
                <a:extLst>
                  <a:ext uri="{0D108BD9-81ED-4DB2-BD59-A6C34878D82A}">
                    <a16:rowId xmlns:a16="http://schemas.microsoft.com/office/drawing/2014/main" val="10000"/>
                  </a:ext>
                </a:extLst>
              </a:tr>
            </a:tbl>
          </a:graphicData>
        </a:graphic>
      </p:graphicFrame>
      <p:graphicFrame>
        <p:nvGraphicFramePr>
          <p:cNvPr id="50" name="표 49">
            <a:extLst>
              <a:ext uri="{FF2B5EF4-FFF2-40B4-BE49-F238E27FC236}">
                <a16:creationId xmlns:a16="http://schemas.microsoft.com/office/drawing/2014/main" id="{34CAF166-102D-4132-B0DF-E487D242AC94}"/>
              </a:ext>
            </a:extLst>
          </p:cNvPr>
          <p:cNvGraphicFramePr/>
          <p:nvPr/>
        </p:nvGraphicFramePr>
        <p:xfrm>
          <a:off x="9144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8</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51" name="표 50">
            <a:extLst>
              <a:ext uri="{FF2B5EF4-FFF2-40B4-BE49-F238E27FC236}">
                <a16:creationId xmlns:a16="http://schemas.microsoft.com/office/drawing/2014/main" id="{7074D80D-F902-4CFE-8D3D-0947F248B9BC}"/>
              </a:ext>
            </a:extLst>
          </p:cNvPr>
          <p:cNvGraphicFramePr/>
          <p:nvPr/>
        </p:nvGraphicFramePr>
        <p:xfrm>
          <a:off x="22860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3</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52" name="표 51">
            <a:extLst>
              <a:ext uri="{FF2B5EF4-FFF2-40B4-BE49-F238E27FC236}">
                <a16:creationId xmlns:a16="http://schemas.microsoft.com/office/drawing/2014/main" id="{4228601C-A8C3-4398-A058-CDEDAB4DBE59}"/>
              </a:ext>
            </a:extLst>
          </p:cNvPr>
          <p:cNvGraphicFramePr/>
          <p:nvPr/>
        </p:nvGraphicFramePr>
        <p:xfrm>
          <a:off x="36576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6</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53" name="표 52">
            <a:extLst>
              <a:ext uri="{FF2B5EF4-FFF2-40B4-BE49-F238E27FC236}">
                <a16:creationId xmlns:a16="http://schemas.microsoft.com/office/drawing/2014/main" id="{AE1420DF-8EF9-4490-B23A-645A098DC478}"/>
              </a:ext>
            </a:extLst>
          </p:cNvPr>
          <p:cNvGraphicFramePr/>
          <p:nvPr/>
        </p:nvGraphicFramePr>
        <p:xfrm>
          <a:off x="50292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2</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54" name="표 53">
            <a:extLst>
              <a:ext uri="{FF2B5EF4-FFF2-40B4-BE49-F238E27FC236}">
                <a16:creationId xmlns:a16="http://schemas.microsoft.com/office/drawing/2014/main" id="{9306F685-7D7A-48CF-B1FC-2372C5779E94}"/>
              </a:ext>
            </a:extLst>
          </p:cNvPr>
          <p:cNvGraphicFramePr/>
          <p:nvPr/>
        </p:nvGraphicFramePr>
        <p:xfrm>
          <a:off x="64008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7</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55" name="표 54">
            <a:extLst>
              <a:ext uri="{FF2B5EF4-FFF2-40B4-BE49-F238E27FC236}">
                <a16:creationId xmlns:a16="http://schemas.microsoft.com/office/drawing/2014/main" id="{8C025A25-60F5-4891-B4F9-51B50C79D83D}"/>
              </a:ext>
            </a:extLst>
          </p:cNvPr>
          <p:cNvGraphicFramePr/>
          <p:nvPr/>
        </p:nvGraphicFramePr>
        <p:xfrm>
          <a:off x="77724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1</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56" name="표 55">
            <a:extLst>
              <a:ext uri="{FF2B5EF4-FFF2-40B4-BE49-F238E27FC236}">
                <a16:creationId xmlns:a16="http://schemas.microsoft.com/office/drawing/2014/main" id="{A085EC4B-5DE5-4B7D-92CC-76B2B72CD3C1}"/>
              </a:ext>
            </a:extLst>
          </p:cNvPr>
          <p:cNvGraphicFramePr/>
          <p:nvPr/>
        </p:nvGraphicFramePr>
        <p:xfrm>
          <a:off x="91440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5</a:t>
                      </a:r>
                    </a:p>
                  </a:txBody>
                  <a:tcPr anchor="ctr">
                    <a:solidFill>
                      <a:srgbClr val="F6F6F6"/>
                    </a:solidFill>
                  </a:tcPr>
                </a:tc>
                <a:extLst>
                  <a:ext uri="{0D108BD9-81ED-4DB2-BD59-A6C34878D82A}">
                    <a16:rowId xmlns:a16="http://schemas.microsoft.com/office/drawing/2014/main" val="10000"/>
                  </a:ext>
                </a:extLst>
              </a:tr>
            </a:tbl>
          </a:graphicData>
        </a:graphic>
      </p:graphicFrame>
      <p:graphicFrame>
        <p:nvGraphicFramePr>
          <p:cNvPr id="57" name="표 56">
            <a:extLst>
              <a:ext uri="{FF2B5EF4-FFF2-40B4-BE49-F238E27FC236}">
                <a16:creationId xmlns:a16="http://schemas.microsoft.com/office/drawing/2014/main" id="{2B5E12C0-5095-4090-9E0E-AE22D50078CE}"/>
              </a:ext>
            </a:extLst>
          </p:cNvPr>
          <p:cNvGraphicFramePr/>
          <p:nvPr/>
        </p:nvGraphicFramePr>
        <p:xfrm>
          <a:off x="10515600" y="5648325"/>
          <a:ext cx="762000" cy="495300"/>
        </p:xfrm>
        <a:graphic>
          <a:graphicData uri="http://schemas.openxmlformats.org/drawingml/2006/table">
            <a:tbl>
              <a:tblPr/>
              <a:tblGrid>
                <a:gridCol w="762000">
                  <a:extLst>
                    <a:ext uri="{9D8B030D-6E8A-4147-A177-3AD203B41FA5}">
                      <a16:colId xmlns:a16="http://schemas.microsoft.com/office/drawing/2014/main" val="20000"/>
                    </a:ext>
                  </a:extLst>
                </a:gridCol>
              </a:tblGrid>
              <a:tr h="495300">
                <a:tc>
                  <a:txBody>
                    <a:bodyPr/>
                    <a:lstStyle/>
                    <a:p>
                      <a:pPr algn="ctr"/>
                      <a:r>
                        <a:rPr sz="2175" b="1">
                          <a:solidFill>
                            <a:srgbClr val="151515"/>
                          </a:solidFill>
                          <a:latin typeface="Consolas"/>
                          <a:ea typeface="Consolas"/>
                          <a:cs typeface="Consolas"/>
                        </a:rPr>
                        <a:t>4</a:t>
                      </a:r>
                    </a:p>
                  </a:txBody>
                  <a:tcPr anchor="ctr">
                    <a:solidFill>
                      <a:srgbClr val="F6F6F6"/>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13412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632F56A4-5B0B-4570-823C-E1F58F7300F1}"/>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AEA946D2-B70D-4362-936A-22B27BEC9AA5}"/>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D5F3A2DE-108F-47CB-B5AB-35E7B2E1207E}"/>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① [8]과 [3] 병합 · 시작</a:t>
            </a:r>
          </a:p>
        </p:txBody>
      </p:sp>
      <p:sp>
        <p:nvSpPr>
          <p:cNvPr id="4" name="직사각형 3">
            <a:extLst>
              <a:ext uri="{FF2B5EF4-FFF2-40B4-BE49-F238E27FC236}">
                <a16:creationId xmlns:a16="http://schemas.microsoft.com/office/drawing/2014/main" id="{141A7B97-4AB2-4A06-8D5F-A98980A5EB57}"/>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D20F7FE3-8169-4B3C-96E5-72A98F693A5F}"/>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 = 0, j = 0. 왼쪽 8과 오른쪽 3을 비교합니다.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정렬된 두 결과를 받아 작은 값부터 새 결과에 넣습니다.</a:t>
            </a:r>
          </a:p>
        </p:txBody>
      </p:sp>
      <p:sp>
        <p:nvSpPr>
          <p:cNvPr id="6" name="footer">
            <a:extLst>
              <a:ext uri="{FF2B5EF4-FFF2-40B4-BE49-F238E27FC236}">
                <a16:creationId xmlns:a16="http://schemas.microsoft.com/office/drawing/2014/main" id="{042AEDC5-C398-4501-B44A-F609BA7EF33A}"/>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2BE0B240-EC26-48AE-B14B-2EDA4F7D0B74}"/>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12</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8A90C723-68B5-4C52-BFA8-C0B8BB71E261}"/>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82067CF4-FE5D-4CFC-A54E-A63499D59535}"/>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0CB760A5-57FC-477F-A9F3-5A1031866CD0}"/>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C58A85DD-35D1-43E0-9A6E-059985079688}"/>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40628C73-0576-4920-8A7A-800ECDEC6DF1}"/>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63A41101-8975-4E1E-97CB-855BB7D41BFF}"/>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3</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FB022E0D-582E-4BF8-A769-C4CE052B217B}"/>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pointer">
            <a:extLst>
              <a:ext uri="{FF2B5EF4-FFF2-40B4-BE49-F238E27FC236}">
                <a16:creationId xmlns:a16="http://schemas.microsoft.com/office/drawing/2014/main" id="{B605CCFE-3FFC-4055-A3A7-2C77F337A61A}"/>
              </a:ext>
            </a:extLst>
          </p:cNvPr>
          <p:cNvSpPr>
            <a:spLocks noGrp="1"/>
          </p:cNvSpPr>
          <p:nvPr/>
        </p:nvSpPr>
        <p:spPr>
          <a:xfrm>
            <a:off x="18097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6" name="out-label">
            <a:extLst>
              <a:ext uri="{FF2B5EF4-FFF2-40B4-BE49-F238E27FC236}">
                <a16:creationId xmlns:a16="http://schemas.microsoft.com/office/drawing/2014/main" id="{DBE13C36-AFE5-4CEE-BB2E-5552D05E17BA}"/>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DCD83C1A-A7B2-4AA0-A7F6-BBAD7551B8FA}"/>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62B72F7E-58ED-4EB1-92D5-D82C02C754DC}"/>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2C5E2791-1930-4CA0-8A7E-9C795B6A35A7}"/>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B8067DE1-1315-41A2-9BE8-0EB3D870DAF8}"/>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AF13CDD3-22E3-47FA-BC7F-A0407CBB08E2}"/>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67757F12-607E-49ED-812F-FA5717A4D24F}"/>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DEFE6"/>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3FB50AA5-2910-4885-BCD0-F4C59A126A26}"/>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4개의 앞쪽 두 개</a:t>
            </a:r>
          </a:p>
        </p:txBody>
      </p:sp>
      <p:sp>
        <p:nvSpPr>
          <p:cNvPr id="24" name="where-from">
            <a:extLst>
              <a:ext uri="{FF2B5EF4-FFF2-40B4-BE49-F238E27FC236}">
                <a16:creationId xmlns:a16="http://schemas.microsoft.com/office/drawing/2014/main" id="{15766DE6-54BA-4A16-9484-C7E0147AAF06}"/>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한 원소짜리 두 결과를 받습니다.</a:t>
            </a:r>
          </a:p>
        </p:txBody>
      </p:sp>
      <p:sp>
        <p:nvSpPr>
          <p:cNvPr id="25" name="cursor-rule">
            <a:extLst>
              <a:ext uri="{FF2B5EF4-FFF2-40B4-BE49-F238E27FC236}">
                <a16:creationId xmlns:a16="http://schemas.microsoft.com/office/drawing/2014/main" id="{DF400C1D-A77D-493E-BC6E-FE2F8DCC9D51}"/>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0AD0CA67-D3D3-4DFA-A456-3E489783FEA2}"/>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2962314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1C4CA368-E8FC-42C8-908B-E3FA31EFDC04}"/>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2F6E643F-5139-4EBA-AE81-E5E7F31CBDC1}"/>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BDCF0F26-0F4D-41F0-8952-7A5174DF9E6F}"/>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① 병합 · 1번째 값 3 추가</a:t>
            </a:r>
          </a:p>
        </p:txBody>
      </p:sp>
      <p:sp>
        <p:nvSpPr>
          <p:cNvPr id="4" name="직사각형 3">
            <a:extLst>
              <a:ext uri="{FF2B5EF4-FFF2-40B4-BE49-F238E27FC236}">
                <a16:creationId xmlns:a16="http://schemas.microsoft.com/office/drawing/2014/main" id="{E99B935A-7E1F-469F-BD25-FAA3F394F188}"/>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A88EF225-0191-4918-ABE8-FFD5270ED201}"/>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8 &gt; 오른쪽 3 → 오른쪽의 3을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0 → 1. 사용하지 않은 쪽의 인덱스는 그대로입니다.</a:t>
            </a:r>
          </a:p>
        </p:txBody>
      </p:sp>
      <p:sp>
        <p:nvSpPr>
          <p:cNvPr id="6" name="footer">
            <a:extLst>
              <a:ext uri="{FF2B5EF4-FFF2-40B4-BE49-F238E27FC236}">
                <a16:creationId xmlns:a16="http://schemas.microsoft.com/office/drawing/2014/main" id="{EF95010A-D138-489C-B479-BE975137A670}"/>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F102D8D1-F9CF-4F2B-BB69-7B9E3C0C729F}"/>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13</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4854E4A5-007B-4D5A-92DE-AB5337C98DDA}"/>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9CE5DAAB-43F8-4E56-9522-9894422579D0}"/>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BC6DBC45-89AC-462D-8444-06EB9AAAF976}"/>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3DA9C5C5-FA59-4543-85A7-B69F05568F55}"/>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91FBC8B5-418C-4EA0-8872-69FE007ADCE3}"/>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17DC0492-550E-4530-A8CD-E8E5242B92AC}"/>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3</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1CAB59BF-64DC-4C04-965A-381CDAFF36B1}"/>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07A819CE-D0A6-417C-8B8C-57D0C6D12E69}"/>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1AE9816E-6334-4777-88AE-8FD505647A91}"/>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4D315772-49CC-4247-9E7E-42CD68D4207E}"/>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3</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90FC22ED-4D94-418B-ABC3-D553B4A0AC9B}"/>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F5C6850B-EE3A-40E0-A9C1-0A7CF1157EB5}"/>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57D10354-A0EF-45AF-B30D-ABC2FF2C6B7E}"/>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350778D5-523E-4B27-8F40-3AB91ADDC123}"/>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7070C809-D621-4352-A0EB-79B80E85375D}"/>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DEFE6"/>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C936C30D-E496-4476-A75F-6A6429966D77}"/>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4개의 앞쪽 두 개</a:t>
            </a:r>
          </a:p>
        </p:txBody>
      </p:sp>
      <p:sp>
        <p:nvSpPr>
          <p:cNvPr id="24" name="where-from">
            <a:extLst>
              <a:ext uri="{FF2B5EF4-FFF2-40B4-BE49-F238E27FC236}">
                <a16:creationId xmlns:a16="http://schemas.microsoft.com/office/drawing/2014/main" id="{4ABA2DFD-22BF-489D-A302-15423D2BAE83}"/>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한 원소짜리 두 결과를 받습니다.</a:t>
            </a:r>
          </a:p>
        </p:txBody>
      </p:sp>
      <p:sp>
        <p:nvSpPr>
          <p:cNvPr id="25" name="cursor-rule">
            <a:extLst>
              <a:ext uri="{FF2B5EF4-FFF2-40B4-BE49-F238E27FC236}">
                <a16:creationId xmlns:a16="http://schemas.microsoft.com/office/drawing/2014/main" id="{7E7AB54E-D00C-447B-92B8-28BA0EADE354}"/>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68E5E4E5-0765-4958-985D-E24E1838226A}"/>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391872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ection">
            <a:extLst>
              <a:ext uri="{FF2B5EF4-FFF2-40B4-BE49-F238E27FC236}">
                <a16:creationId xmlns:a16="http://schemas.microsoft.com/office/drawing/2014/main" id="{53F7C5EA-EA54-4527-8B6A-EDC41B54E555}"/>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2B9E8669-D84E-4FA7-8527-EC5DEFC25A98}"/>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D0FF6156-6682-452E-9527-EAC019146459}"/>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① 병합 · 2번째 값 8 추가</a:t>
            </a:r>
          </a:p>
        </p:txBody>
      </p:sp>
      <p:sp>
        <p:nvSpPr>
          <p:cNvPr id="4" name="직사각형 3">
            <a:extLst>
              <a:ext uri="{FF2B5EF4-FFF2-40B4-BE49-F238E27FC236}">
                <a16:creationId xmlns:a16="http://schemas.microsoft.com/office/drawing/2014/main" id="{FA43D893-733F-4821-856B-46FF3AED2F0F}"/>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045680B2-9E1A-47E1-A5C0-7CBF880C4B1D}"/>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오른쪽을 다 사용했습니다. 남은 왼쪽의 8을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0 → 1. 이번 병합의 정렬 결과가 완성되었습니다.</a:t>
            </a:r>
          </a:p>
        </p:txBody>
      </p:sp>
      <p:sp>
        <p:nvSpPr>
          <p:cNvPr id="6" name="footer">
            <a:extLst>
              <a:ext uri="{FF2B5EF4-FFF2-40B4-BE49-F238E27FC236}">
                <a16:creationId xmlns:a16="http://schemas.microsoft.com/office/drawing/2014/main" id="{1AE6312D-26D5-4CC0-BDEE-6543E416E270}"/>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B7B5804A-5C0F-4AFF-B275-6C365C784BC8}"/>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14</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62BCBE20-6B7F-42A3-88FA-DCCACEAF5D5D}"/>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D72934CA-4A26-416D-82A5-56F842221822}"/>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8</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5EAA8C8F-9D99-4353-9A1F-32F01027807A}"/>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done">
            <a:extLst>
              <a:ext uri="{FF2B5EF4-FFF2-40B4-BE49-F238E27FC236}">
                <a16:creationId xmlns:a16="http://schemas.microsoft.com/office/drawing/2014/main" id="{D565999E-B50A-4623-BF8A-E8D23CD026E8}"/>
              </a:ext>
            </a:extLst>
          </p:cNvPr>
          <p:cNvSpPr>
            <a:spLocks noGrp="1"/>
          </p:cNvSpPr>
          <p:nvPr/>
        </p:nvSpPr>
        <p:spPr>
          <a:xfrm>
            <a:off x="1809750" y="37147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i = 1 · 사용 완료</a:t>
            </a:r>
          </a:p>
        </p:txBody>
      </p:sp>
      <p:sp>
        <p:nvSpPr>
          <p:cNvPr id="12" name="오른쪽 right">
            <a:extLst>
              <a:ext uri="{FF2B5EF4-FFF2-40B4-BE49-F238E27FC236}">
                <a16:creationId xmlns:a16="http://schemas.microsoft.com/office/drawing/2014/main" id="{EA17E0B8-26F5-4DAE-9CF6-430E7ED59E1B}"/>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2448FE28-8C6E-4D4D-A6A5-42740FC22C6E}"/>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3</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52E18281-ADEB-45D2-92B3-7F249DD70A8B}"/>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46BAD0DA-0529-4753-A91C-9B0499E3DC8B}"/>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1565126D-4074-45F0-9BD8-72D920EAB71F}"/>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0EB240BD-64E7-4796-91E1-70159E51C414}"/>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8</a:t>
                      </a:r>
                    </a:p>
                  </a:txBody>
                  <a:tcPr anchor="ctr">
                    <a:solidFill>
                      <a:srgbClr val="E4E4E4"/>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DCBF962E-003D-403C-98D4-A5B90B4B1EA1}"/>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DBDFEB98-541C-4AC1-8872-0DEC2A2C88B8}"/>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A734AA5F-17BA-45A9-AA24-7E83A6652461}"/>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77A825F3-0F01-475E-9137-E17F3D2898A8}"/>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09FAFF43-743F-4794-A78F-6678637E088A}"/>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DEFE6"/>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B720EF70-155C-4F64-80BA-DDF96658EC9C}"/>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4개의 앞쪽 두 개</a:t>
            </a:r>
          </a:p>
        </p:txBody>
      </p:sp>
      <p:sp>
        <p:nvSpPr>
          <p:cNvPr id="24" name="result-caption">
            <a:extLst>
              <a:ext uri="{FF2B5EF4-FFF2-40B4-BE49-F238E27FC236}">
                <a16:creationId xmlns:a16="http://schemas.microsoft.com/office/drawing/2014/main" id="{94AACD3D-6988-48BC-B049-C7A9D4672540}"/>
              </a:ext>
            </a:extLst>
          </p:cNvPr>
          <p:cNvSpPr>
            <a:spLocks noGrp="1"/>
          </p:cNvSpPr>
          <p:nvPr/>
        </p:nvSpPr>
        <p:spPr>
          <a:xfrm>
            <a:off x="7905750" y="4371975"/>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이번 병합의 정렬 결과</a:t>
            </a:r>
          </a:p>
        </p:txBody>
      </p:sp>
      <p:sp>
        <p:nvSpPr>
          <p:cNvPr id="25" name="completed">
            <a:extLst>
              <a:ext uri="{FF2B5EF4-FFF2-40B4-BE49-F238E27FC236}">
                <a16:creationId xmlns:a16="http://schemas.microsoft.com/office/drawing/2014/main" id="{569D83D8-D9CB-4F0A-B327-38414821CA20}"/>
              </a:ext>
            </a:extLst>
          </p:cNvPr>
          <p:cNvSpPr>
            <a:spLocks noGrp="1"/>
          </p:cNvSpPr>
          <p:nvPr/>
        </p:nvSpPr>
        <p:spPr>
          <a:xfrm>
            <a:off x="7905750" y="4743450"/>
            <a:ext cx="3667125" cy="342900"/>
          </a:xfrm>
          <a:prstGeom prst="rect">
            <a:avLst/>
          </a:prstGeom>
          <a:noFill/>
          <a:ln w="0">
            <a:noFill/>
          </a:ln>
        </p:spPr>
        <p:txBody>
          <a:bodyPr wrap="none" lIns="0" tIns="0" rIns="0" bIns="0" anchor="t">
            <a:noAutofit/>
          </a:bodyPr>
          <a:lstStyle>
            <a:defPPr algn="l">
              <a:defRPr sz="2025" b="1">
                <a:solidFill>
                  <a:srgbClr val="151515"/>
                </a:solidFill>
                <a:latin typeface="Consolas"/>
                <a:ea typeface="Consolas"/>
                <a:cs typeface="Consolas"/>
              </a:defRPr>
            </a:defPPr>
          </a:lstStyle>
          <a:p>
            <a:pPr algn="l">
              <a:lnSpc>
                <a:spcPct val="106000"/>
              </a:lnSpc>
              <a:buNone/>
              <a:defRPr sz="2025" b="1">
                <a:solidFill>
                  <a:srgbClr val="151515"/>
                </a:solidFill>
                <a:latin typeface="Consolas"/>
                <a:ea typeface="Consolas"/>
                <a:cs typeface="Consolas"/>
              </a:defRPr>
            </a:pPr>
            <a:r>
              <a:rPr sz="2025" b="1">
                <a:solidFill>
                  <a:srgbClr val="151515"/>
                </a:solidFill>
                <a:latin typeface="Consolas"/>
                <a:ea typeface="Consolas"/>
                <a:cs typeface="Consolas"/>
              </a:rPr>
              <a:t>[3, 8]</a:t>
            </a:r>
          </a:p>
        </p:txBody>
      </p:sp>
      <p:sp>
        <p:nvSpPr>
          <p:cNvPr id="26" name="next-merge">
            <a:extLst>
              <a:ext uri="{FF2B5EF4-FFF2-40B4-BE49-F238E27FC236}">
                <a16:creationId xmlns:a16="http://schemas.microsoft.com/office/drawing/2014/main" id="{B71D0A0F-EAFD-4786-BF6F-2C0B03DE6517}"/>
              </a:ext>
            </a:extLst>
          </p:cNvPr>
          <p:cNvSpPr>
            <a:spLocks noGrp="1"/>
          </p:cNvSpPr>
          <p:nvPr/>
        </p:nvSpPr>
        <p:spPr>
          <a:xfrm>
            <a:off x="7905750" y="5238750"/>
            <a:ext cx="3667125" cy="342900"/>
          </a:xfrm>
          <a:prstGeom prst="rect">
            <a:avLst/>
          </a:prstGeom>
          <a:noFill/>
          <a:ln w="0">
            <a:noFill/>
          </a:ln>
        </p:spPr>
        <p:txBody>
          <a:bodyPr wrap="none" lIns="0" tIns="0" rIns="0" bIns="0" anchor="t">
            <a:noAutofit/>
          </a:bodyPr>
          <a:lstStyle>
            <a:defPPr algn="l">
              <a:defRPr sz="1650" b="0">
                <a:solidFill>
                  <a:srgbClr val="151515"/>
                </a:solidFill>
                <a:latin typeface="Malgun Gothic"/>
                <a:ea typeface="Malgun Gothic"/>
                <a:cs typeface="Malgun Gothic"/>
              </a:defRPr>
            </a:defPPr>
          </a:lstStyle>
          <a:p>
            <a:pPr algn="l">
              <a:lnSpc>
                <a:spcPct val="106000"/>
              </a:lnSpc>
              <a:buNone/>
              <a:defRPr sz="1650" b="0">
                <a:solidFill>
                  <a:srgbClr val="151515"/>
                </a:solidFill>
                <a:latin typeface="Malgun Gothic"/>
                <a:ea typeface="Malgun Gothic"/>
                <a:cs typeface="Malgun Gothic"/>
              </a:defRPr>
            </a:pPr>
            <a:r>
              <a:rPr sz="1650" b="0">
                <a:solidFill>
                  <a:srgbClr val="151515"/>
                </a:solidFill>
                <a:latin typeface="Malgun Gothic"/>
                <a:ea typeface="Malgun Gothic"/>
                <a:cs typeface="Malgun Gothic"/>
              </a:rPr>
              <a:t>③에서 왼쪽 입력으로 사용</a:t>
            </a:r>
          </a:p>
        </p:txBody>
      </p:sp>
      <p:sp>
        <p:nvSpPr>
          <p:cNvPr id="27" name="trace-rule">
            <a:extLst>
              <a:ext uri="{FF2B5EF4-FFF2-40B4-BE49-F238E27FC236}">
                <a16:creationId xmlns:a16="http://schemas.microsoft.com/office/drawing/2014/main" id="{BA88F5D6-EE78-4468-AFBE-690B24219F56}"/>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721711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08B95781-7282-4D73-B8A2-78EEC95A4D82}"/>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482C8DFC-2923-4CEC-A589-1F67C37D8FD6}"/>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2B758036-6A0C-43B4-9E81-698732D24BA9}"/>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② [6]과 [2] 병합 · 시작</a:t>
            </a:r>
          </a:p>
        </p:txBody>
      </p:sp>
      <p:sp>
        <p:nvSpPr>
          <p:cNvPr id="4" name="직사각형 3">
            <a:extLst>
              <a:ext uri="{FF2B5EF4-FFF2-40B4-BE49-F238E27FC236}">
                <a16:creationId xmlns:a16="http://schemas.microsoft.com/office/drawing/2014/main" id="{5FF29A5E-5E2D-4C52-9DD7-574DA6E95BEC}"/>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FBDA3F15-7B94-47E4-BA6A-13009BF4AEB3}"/>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 = 0, j = 0. 왼쪽 6과 오른쪽 2을 비교합니다.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정렬된 두 결과를 받아 작은 값부터 새 결과에 넣습니다.</a:t>
            </a:r>
          </a:p>
        </p:txBody>
      </p:sp>
      <p:sp>
        <p:nvSpPr>
          <p:cNvPr id="6" name="footer">
            <a:extLst>
              <a:ext uri="{FF2B5EF4-FFF2-40B4-BE49-F238E27FC236}">
                <a16:creationId xmlns:a16="http://schemas.microsoft.com/office/drawing/2014/main" id="{198B9DC0-249A-4DB4-96BE-2ABC9C240A9E}"/>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E4B844CD-9383-424F-B7CD-24D6B806B78B}"/>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15</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8625400E-F57B-4966-8733-45F2FB66F91B}"/>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9B1A9A52-12DC-4DFC-87E3-47406FE437A9}"/>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6</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573CA7C5-555C-42B2-AA53-4F86CF4CD1F4}"/>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CCDEE04C-6620-4EBF-8BA4-75CCDF137E4D}"/>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541BF2F2-F8DA-4F60-9769-AE9B9BE902BF}"/>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3212E911-3CD2-4F3D-88BB-536814B1E44F}"/>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2</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B11E0A96-3B9E-440A-9456-21FDABB605A4}"/>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pointer">
            <a:extLst>
              <a:ext uri="{FF2B5EF4-FFF2-40B4-BE49-F238E27FC236}">
                <a16:creationId xmlns:a16="http://schemas.microsoft.com/office/drawing/2014/main" id="{6B27F213-D09C-4915-BC6E-456B97DD63CF}"/>
              </a:ext>
            </a:extLst>
          </p:cNvPr>
          <p:cNvSpPr>
            <a:spLocks noGrp="1"/>
          </p:cNvSpPr>
          <p:nvPr/>
        </p:nvSpPr>
        <p:spPr>
          <a:xfrm>
            <a:off x="18097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6" name="out-label">
            <a:extLst>
              <a:ext uri="{FF2B5EF4-FFF2-40B4-BE49-F238E27FC236}">
                <a16:creationId xmlns:a16="http://schemas.microsoft.com/office/drawing/2014/main" id="{8460E6D8-A1BF-4F53-9428-1ED46C4AB5C0}"/>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06024886-8F8B-4050-87D3-3A1ECA6E8FB0}"/>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9E0FF42C-D09F-4CE5-AFB8-806ECC9AE3CE}"/>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D197FCAC-60FA-45EB-BCC4-66CD8273C47F}"/>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05EC3334-66EC-4598-A048-98E898F803E8}"/>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EC34CB7B-48D1-467E-84EB-ABBCA980DF0C}"/>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A3B939F4-F0FC-480B-8CE8-78E17B4A9680}"/>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151515"/>
                          </a:solidFill>
                          <a:latin typeface="Consolas"/>
                          <a:ea typeface="Consolas"/>
                          <a:cs typeface="Consolas"/>
                        </a:rPr>
                        <a:t>6</a:t>
                      </a:r>
                    </a:p>
                  </a:txBody>
                  <a:tcPr anchor="ctr">
                    <a:solidFill>
                      <a:srgbClr val="DCECFB"/>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97CB8871-468E-4A83-BE30-FF988B558B50}"/>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4개의 뒤쪽 두 개</a:t>
            </a:r>
          </a:p>
        </p:txBody>
      </p:sp>
      <p:sp>
        <p:nvSpPr>
          <p:cNvPr id="24" name="where-from">
            <a:extLst>
              <a:ext uri="{FF2B5EF4-FFF2-40B4-BE49-F238E27FC236}">
                <a16:creationId xmlns:a16="http://schemas.microsoft.com/office/drawing/2014/main" id="{5ECB2B4D-5C32-4D5B-AA80-FFF799C9ABDA}"/>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①의 [3,8]은 준비된 채 기다립니다.</a:t>
            </a:r>
          </a:p>
        </p:txBody>
      </p:sp>
      <p:sp>
        <p:nvSpPr>
          <p:cNvPr id="25" name="cursor-rule">
            <a:extLst>
              <a:ext uri="{FF2B5EF4-FFF2-40B4-BE49-F238E27FC236}">
                <a16:creationId xmlns:a16="http://schemas.microsoft.com/office/drawing/2014/main" id="{2D949FF4-E6C9-4138-AFA7-3F1B2B8C8C20}"/>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B67E6E57-2C7B-4634-B166-36B2E28AD645}"/>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2763290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2B6F84D1-700E-4358-9F5C-16D5C0720E8E}"/>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75A6751C-45AF-4679-93F6-03493E5EECE6}"/>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4D5BEC4B-B594-4320-82CD-32E70137F5DC}"/>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② 병합 · 1번째 값 2 추가</a:t>
            </a:r>
          </a:p>
        </p:txBody>
      </p:sp>
      <p:sp>
        <p:nvSpPr>
          <p:cNvPr id="4" name="직사각형 3">
            <a:extLst>
              <a:ext uri="{FF2B5EF4-FFF2-40B4-BE49-F238E27FC236}">
                <a16:creationId xmlns:a16="http://schemas.microsoft.com/office/drawing/2014/main" id="{B569B989-F55F-41DD-A884-743D6EF4F683}"/>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0D97AF69-38B4-4E15-9500-A142B21F9902}"/>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6 &gt; 오른쪽 2 → 오른쪽의 2을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0 → 1. 사용하지 않은 쪽의 인덱스는 그대로입니다.</a:t>
            </a:r>
          </a:p>
        </p:txBody>
      </p:sp>
      <p:sp>
        <p:nvSpPr>
          <p:cNvPr id="6" name="footer">
            <a:extLst>
              <a:ext uri="{FF2B5EF4-FFF2-40B4-BE49-F238E27FC236}">
                <a16:creationId xmlns:a16="http://schemas.microsoft.com/office/drawing/2014/main" id="{1B0CCD64-D179-4C5B-BECB-B03047DF5325}"/>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42865540-FA8D-49CA-B3FC-024D428E18BD}"/>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16</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AFF0506A-8F1E-478A-B82A-6484BA266CDA}"/>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094BC5B6-8F99-445E-840B-98563CC531AC}"/>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6</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9E48443D-C12B-40CD-9259-1E06CC581B58}"/>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88D9089D-7D63-4B9A-97C9-3A184E279414}"/>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4D6471ED-8B23-4AC5-B779-0128C114A045}"/>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B3A32347-1E6A-474A-864C-6000545C1BCD}"/>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2</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A3F2F5F9-8EBC-474B-ACA0-D1A8D9215211}"/>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02542437-3955-450F-8D12-E2523A1BF44E}"/>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069E3D7E-E899-442F-AD6D-F7A5791CE6B8}"/>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D65A7B8B-8E18-4AE3-8B01-223E0BAC5D49}"/>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2</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D0266C24-0960-4D7A-9E96-11CEF46B0247}"/>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4170C895-6B8F-4046-A3AF-8DA1B3AF30A3}"/>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47AD4D47-E13B-47BF-B7BE-4D2C0C975F2D}"/>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13EFCB3A-0651-4F55-B83B-2A24D38408B2}"/>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F29E56E2-2E8B-440B-A3F7-6AB127F82AEE}"/>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151515"/>
                          </a:solidFill>
                          <a:latin typeface="Consolas"/>
                          <a:ea typeface="Consolas"/>
                          <a:cs typeface="Consolas"/>
                        </a:rPr>
                        <a:t>6</a:t>
                      </a:r>
                    </a:p>
                  </a:txBody>
                  <a:tcPr anchor="ctr">
                    <a:solidFill>
                      <a:srgbClr val="DCECFB"/>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527AFBBA-BAF8-4726-80B9-9E5B4C386F42}"/>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4개의 뒤쪽 두 개</a:t>
            </a:r>
          </a:p>
        </p:txBody>
      </p:sp>
      <p:sp>
        <p:nvSpPr>
          <p:cNvPr id="24" name="where-from">
            <a:extLst>
              <a:ext uri="{FF2B5EF4-FFF2-40B4-BE49-F238E27FC236}">
                <a16:creationId xmlns:a16="http://schemas.microsoft.com/office/drawing/2014/main" id="{EF3361CF-655D-43D6-A91B-1A0DA4D97848}"/>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①의 [3,8]은 준비된 채 기다립니다.</a:t>
            </a:r>
          </a:p>
        </p:txBody>
      </p:sp>
      <p:sp>
        <p:nvSpPr>
          <p:cNvPr id="25" name="cursor-rule">
            <a:extLst>
              <a:ext uri="{FF2B5EF4-FFF2-40B4-BE49-F238E27FC236}">
                <a16:creationId xmlns:a16="http://schemas.microsoft.com/office/drawing/2014/main" id="{F7922BFE-94FC-4A47-AFEC-467F91D30458}"/>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932BBB0D-9C33-4F20-AF73-CC1DDE673597}"/>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489425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ection">
            <a:extLst>
              <a:ext uri="{FF2B5EF4-FFF2-40B4-BE49-F238E27FC236}">
                <a16:creationId xmlns:a16="http://schemas.microsoft.com/office/drawing/2014/main" id="{7B6DEBC0-A23F-4BCA-8E50-87CB00FA7CD1}"/>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21A157C8-B7C1-474A-AFA2-D73B52FD9B4F}"/>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50524D7B-171A-4489-A7EE-9EC711D0EB4F}"/>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② 병합 · 2번째 값 6 추가</a:t>
            </a:r>
          </a:p>
        </p:txBody>
      </p:sp>
      <p:sp>
        <p:nvSpPr>
          <p:cNvPr id="4" name="직사각형 3">
            <a:extLst>
              <a:ext uri="{FF2B5EF4-FFF2-40B4-BE49-F238E27FC236}">
                <a16:creationId xmlns:a16="http://schemas.microsoft.com/office/drawing/2014/main" id="{7417467E-0700-4DF1-B4D1-1AFEFBA71A82}"/>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EA3E495B-9109-4099-8910-18D6C0B98179}"/>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오른쪽을 다 사용했습니다. 남은 왼쪽의 6을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0 → 1. 이번 병합의 정렬 결과가 완성되었습니다.</a:t>
            </a:r>
          </a:p>
        </p:txBody>
      </p:sp>
      <p:sp>
        <p:nvSpPr>
          <p:cNvPr id="6" name="footer">
            <a:extLst>
              <a:ext uri="{FF2B5EF4-FFF2-40B4-BE49-F238E27FC236}">
                <a16:creationId xmlns:a16="http://schemas.microsoft.com/office/drawing/2014/main" id="{4D617DD0-C365-4CDF-9F47-056E7B76F9C5}"/>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145A9677-C093-4E3F-99AD-8C12AA54148D}"/>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17</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94230609-D1C3-44B2-AF39-374F0FAC7C4B}"/>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724B39CF-0630-47BE-8DB5-FB8C7E825E1C}"/>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6</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4C411338-151B-4AA0-8B71-A7B8FE6C15F1}"/>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done">
            <a:extLst>
              <a:ext uri="{FF2B5EF4-FFF2-40B4-BE49-F238E27FC236}">
                <a16:creationId xmlns:a16="http://schemas.microsoft.com/office/drawing/2014/main" id="{2AF3460B-E797-41E7-8111-D36DB59D3C62}"/>
              </a:ext>
            </a:extLst>
          </p:cNvPr>
          <p:cNvSpPr>
            <a:spLocks noGrp="1"/>
          </p:cNvSpPr>
          <p:nvPr/>
        </p:nvSpPr>
        <p:spPr>
          <a:xfrm>
            <a:off x="1809750" y="37147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i = 1 · 사용 완료</a:t>
            </a:r>
          </a:p>
        </p:txBody>
      </p:sp>
      <p:sp>
        <p:nvSpPr>
          <p:cNvPr id="12" name="오른쪽 right">
            <a:extLst>
              <a:ext uri="{FF2B5EF4-FFF2-40B4-BE49-F238E27FC236}">
                <a16:creationId xmlns:a16="http://schemas.microsoft.com/office/drawing/2014/main" id="{AD0091FB-EBDD-416B-8AD3-0DF2B940D77D}"/>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4D0C94FD-0B32-4B0C-88D8-9A5E73BA68D8}"/>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2</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8B03FA60-7BC8-4FF9-8BC1-911698E9109E}"/>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83256061-0963-4F17-B5D6-3778790CA435}"/>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CEF1AFB7-E970-4673-8D25-94BFB08C9F98}"/>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5DE1A671-1235-4106-8138-C8EB89DCCE56}"/>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2</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E4E4E4"/>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0D17FAC1-C66B-49F4-A8B6-8900423FFBA5}"/>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1E60AE0C-0DF4-49A4-AB43-D13294D293AD}"/>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967C0C1B-9F89-41FE-A896-74B73C87AF8F}"/>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B4F337E9-B09A-4E85-B81E-AC04E1DFA0DA}"/>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3AA0C16C-9344-45FC-B2C8-C265C51AC425}"/>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151515"/>
                          </a:solidFill>
                          <a:latin typeface="Consolas"/>
                          <a:ea typeface="Consolas"/>
                          <a:cs typeface="Consolas"/>
                        </a:rPr>
                        <a:t>6</a:t>
                      </a:r>
                    </a:p>
                  </a:txBody>
                  <a:tcPr anchor="ctr">
                    <a:solidFill>
                      <a:srgbClr val="DCECFB"/>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DEFE780C-A074-438E-92F0-59619ACAF613}"/>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4개의 뒤쪽 두 개</a:t>
            </a:r>
          </a:p>
        </p:txBody>
      </p:sp>
      <p:sp>
        <p:nvSpPr>
          <p:cNvPr id="24" name="result-caption">
            <a:extLst>
              <a:ext uri="{FF2B5EF4-FFF2-40B4-BE49-F238E27FC236}">
                <a16:creationId xmlns:a16="http://schemas.microsoft.com/office/drawing/2014/main" id="{873FFB34-DD3C-4E91-8B38-EF2CF4E1F986}"/>
              </a:ext>
            </a:extLst>
          </p:cNvPr>
          <p:cNvSpPr>
            <a:spLocks noGrp="1"/>
          </p:cNvSpPr>
          <p:nvPr/>
        </p:nvSpPr>
        <p:spPr>
          <a:xfrm>
            <a:off x="7905750" y="4371975"/>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이번 병합의 정렬 결과</a:t>
            </a:r>
          </a:p>
        </p:txBody>
      </p:sp>
      <p:sp>
        <p:nvSpPr>
          <p:cNvPr id="25" name="completed">
            <a:extLst>
              <a:ext uri="{FF2B5EF4-FFF2-40B4-BE49-F238E27FC236}">
                <a16:creationId xmlns:a16="http://schemas.microsoft.com/office/drawing/2014/main" id="{AF557634-5466-48EE-A7A3-895E4E5F8A40}"/>
              </a:ext>
            </a:extLst>
          </p:cNvPr>
          <p:cNvSpPr>
            <a:spLocks noGrp="1"/>
          </p:cNvSpPr>
          <p:nvPr/>
        </p:nvSpPr>
        <p:spPr>
          <a:xfrm>
            <a:off x="7905750" y="4743450"/>
            <a:ext cx="3667125" cy="342900"/>
          </a:xfrm>
          <a:prstGeom prst="rect">
            <a:avLst/>
          </a:prstGeom>
          <a:noFill/>
          <a:ln w="0">
            <a:noFill/>
          </a:ln>
        </p:spPr>
        <p:txBody>
          <a:bodyPr wrap="none" lIns="0" tIns="0" rIns="0" bIns="0" anchor="t">
            <a:noAutofit/>
          </a:bodyPr>
          <a:lstStyle>
            <a:defPPr algn="l">
              <a:defRPr sz="2025" b="1">
                <a:solidFill>
                  <a:srgbClr val="151515"/>
                </a:solidFill>
                <a:latin typeface="Consolas"/>
                <a:ea typeface="Consolas"/>
                <a:cs typeface="Consolas"/>
              </a:defRPr>
            </a:defPPr>
          </a:lstStyle>
          <a:p>
            <a:pPr algn="l">
              <a:lnSpc>
                <a:spcPct val="106000"/>
              </a:lnSpc>
              <a:buNone/>
              <a:defRPr sz="2025" b="1">
                <a:solidFill>
                  <a:srgbClr val="151515"/>
                </a:solidFill>
                <a:latin typeface="Consolas"/>
                <a:ea typeface="Consolas"/>
                <a:cs typeface="Consolas"/>
              </a:defRPr>
            </a:pPr>
            <a:r>
              <a:rPr sz="2025" b="1">
                <a:solidFill>
                  <a:srgbClr val="151515"/>
                </a:solidFill>
                <a:latin typeface="Consolas"/>
                <a:ea typeface="Consolas"/>
                <a:cs typeface="Consolas"/>
              </a:rPr>
              <a:t>[2, 6]</a:t>
            </a:r>
          </a:p>
        </p:txBody>
      </p:sp>
      <p:sp>
        <p:nvSpPr>
          <p:cNvPr id="26" name="next-merge">
            <a:extLst>
              <a:ext uri="{FF2B5EF4-FFF2-40B4-BE49-F238E27FC236}">
                <a16:creationId xmlns:a16="http://schemas.microsoft.com/office/drawing/2014/main" id="{8FFF5C4F-E5AD-4EAE-B14C-579C69D660C9}"/>
              </a:ext>
            </a:extLst>
          </p:cNvPr>
          <p:cNvSpPr>
            <a:spLocks noGrp="1"/>
          </p:cNvSpPr>
          <p:nvPr/>
        </p:nvSpPr>
        <p:spPr>
          <a:xfrm>
            <a:off x="7905750" y="5238750"/>
            <a:ext cx="3667125" cy="342900"/>
          </a:xfrm>
          <a:prstGeom prst="rect">
            <a:avLst/>
          </a:prstGeom>
          <a:noFill/>
          <a:ln w="0">
            <a:noFill/>
          </a:ln>
        </p:spPr>
        <p:txBody>
          <a:bodyPr wrap="none" lIns="0" tIns="0" rIns="0" bIns="0" anchor="t">
            <a:noAutofit/>
          </a:bodyPr>
          <a:lstStyle>
            <a:defPPr algn="l">
              <a:defRPr sz="1650" b="0">
                <a:solidFill>
                  <a:srgbClr val="151515"/>
                </a:solidFill>
                <a:latin typeface="Malgun Gothic"/>
                <a:ea typeface="Malgun Gothic"/>
                <a:cs typeface="Malgun Gothic"/>
              </a:defRPr>
            </a:defPPr>
          </a:lstStyle>
          <a:p>
            <a:pPr algn="l">
              <a:lnSpc>
                <a:spcPct val="106000"/>
              </a:lnSpc>
              <a:buNone/>
              <a:defRPr sz="1650" b="0">
                <a:solidFill>
                  <a:srgbClr val="151515"/>
                </a:solidFill>
                <a:latin typeface="Malgun Gothic"/>
                <a:ea typeface="Malgun Gothic"/>
                <a:cs typeface="Malgun Gothic"/>
              </a:defRPr>
            </a:pPr>
            <a:r>
              <a:rPr sz="1650" b="0">
                <a:solidFill>
                  <a:srgbClr val="151515"/>
                </a:solidFill>
                <a:latin typeface="Malgun Gothic"/>
                <a:ea typeface="Malgun Gothic"/>
                <a:cs typeface="Malgun Gothic"/>
              </a:rPr>
              <a:t>③에서 오른쪽 입력으로 사용</a:t>
            </a:r>
          </a:p>
        </p:txBody>
      </p:sp>
      <p:sp>
        <p:nvSpPr>
          <p:cNvPr id="27" name="trace-rule">
            <a:extLst>
              <a:ext uri="{FF2B5EF4-FFF2-40B4-BE49-F238E27FC236}">
                <a16:creationId xmlns:a16="http://schemas.microsoft.com/office/drawing/2014/main" id="{74236777-E82D-4396-9F66-1482C90D2B1E}"/>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4042743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383459D1-F95D-4D3A-9B76-0A327C1ED674}"/>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819E01AF-EB18-4AD3-BCEC-2DD792A8AFB8}"/>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53186A95-1AB6-41F3-9F1E-0B5C6028E2EA}"/>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③ [3, 8]과 [2, 6] 병합 · 시작</a:t>
            </a:r>
          </a:p>
        </p:txBody>
      </p:sp>
      <p:sp>
        <p:nvSpPr>
          <p:cNvPr id="4" name="직사각형 3">
            <a:extLst>
              <a:ext uri="{FF2B5EF4-FFF2-40B4-BE49-F238E27FC236}">
                <a16:creationId xmlns:a16="http://schemas.microsoft.com/office/drawing/2014/main" id="{66E4477E-0D96-4058-989C-270AC906B3F5}"/>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83D390C3-ED29-4561-BB8B-44AF5BBD947D}"/>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 = 0, j = 0. 왼쪽 3과 오른쪽 2을 비교합니다.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정렬된 두 결과를 받아 작은 값부터 새 결과에 넣습니다.</a:t>
            </a:r>
          </a:p>
        </p:txBody>
      </p:sp>
      <p:sp>
        <p:nvSpPr>
          <p:cNvPr id="6" name="footer">
            <a:extLst>
              <a:ext uri="{FF2B5EF4-FFF2-40B4-BE49-F238E27FC236}">
                <a16:creationId xmlns:a16="http://schemas.microsoft.com/office/drawing/2014/main" id="{C2583165-EBAA-4228-A0A2-53340AC03A43}"/>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1EEEFCD2-9B28-4525-8D51-EDD4A524DA87}"/>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18</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A78E8B84-D3D6-4983-A277-EA03A76134C3}"/>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711D6AF9-C2B7-4D5F-8861-2C8B49834E70}"/>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3</a:t>
                      </a:r>
                    </a:p>
                  </a:txBody>
                  <a:tcPr anchor="ctr">
                    <a:solidFill>
                      <a:srgbClr val="DCECFB"/>
                    </a:solidFill>
                  </a:tcPr>
                </a:tc>
                <a:tc>
                  <a:txBody>
                    <a:bodyPr/>
                    <a:lstStyle/>
                    <a:p>
                      <a:pPr algn="ctr"/>
                      <a:r>
                        <a:rPr sz="2250" b="1">
                          <a:solidFill>
                            <a:srgbClr val="151515"/>
                          </a:solidFill>
                          <a:latin typeface="Consolas"/>
                          <a:ea typeface="Consolas"/>
                          <a:cs typeface="Consolas"/>
                        </a:rPr>
                        <a:t>8</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5FCEF33D-AC3D-42B6-87BF-43CDFBE5CD4D}"/>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245D4184-3C5C-4C6A-91E0-F7B92C31EBFE}"/>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E07957D1-E20D-4BFA-BDA6-8D7126D6E01E}"/>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62932112-2563-4119-AB29-7A6DA9BC8E05}"/>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251B42C6-5D6C-4609-A037-2094CCE0D2D1}"/>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2</a:t>
                      </a:r>
                    </a:p>
                  </a:txBody>
                  <a:tcPr anchor="ctr">
                    <a:solidFill>
                      <a:srgbClr val="DDEFE6"/>
                    </a:solidFill>
                  </a:tcPr>
                </a:tc>
                <a:tc>
                  <a:txBody>
                    <a:bodyPr/>
                    <a:lstStyle/>
                    <a:p>
                      <a:pPr algn="ctr"/>
                      <a:r>
                        <a:rPr sz="2250" b="1">
                          <a:solidFill>
                            <a:srgbClr val="151515"/>
                          </a:solidFill>
                          <a:latin typeface="Consolas"/>
                          <a:ea typeface="Consolas"/>
                          <a:cs typeface="Consolas"/>
                        </a:rPr>
                        <a:t>6</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EAD9EFB5-415A-48EC-BF17-7DE519E5A154}"/>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285ADC29-7449-426F-96CE-B8E92BADBECB}"/>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pointer">
            <a:extLst>
              <a:ext uri="{FF2B5EF4-FFF2-40B4-BE49-F238E27FC236}">
                <a16:creationId xmlns:a16="http://schemas.microsoft.com/office/drawing/2014/main" id="{184240E7-2BA3-408D-99D1-75D2F4D46C46}"/>
              </a:ext>
            </a:extLst>
          </p:cNvPr>
          <p:cNvSpPr>
            <a:spLocks noGrp="1"/>
          </p:cNvSpPr>
          <p:nvPr/>
        </p:nvSpPr>
        <p:spPr>
          <a:xfrm>
            <a:off x="18097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8" name="out-label">
            <a:extLst>
              <a:ext uri="{FF2B5EF4-FFF2-40B4-BE49-F238E27FC236}">
                <a16:creationId xmlns:a16="http://schemas.microsoft.com/office/drawing/2014/main" id="{9852045C-97DC-41C2-A7B8-387B34825947}"/>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B9418C61-5E67-411F-B6DE-BBD2EC407204}"/>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E7999C86-1A72-445E-A8D1-D770869A763F}"/>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CB2E1B07-B71E-4C74-8D7B-FD633CB87A20}"/>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7DD443AE-B132-40DB-B643-E273BD5E6BEF}"/>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B557BF08-5D9D-4E8D-8CB8-884BD6448C93}"/>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0432AAFC-9CEB-4DC9-88D8-69488099B3CD}"/>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73A20682-037A-445A-8BCC-D2E32F8F7825}"/>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4159C2D9-B680-4CBF-8E83-D1B6D7CDBEAE}"/>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CECFB"/>
                    </a:solidFill>
                  </a:tcPr>
                </a:tc>
                <a:tc>
                  <a:txBody>
                    <a:bodyPr/>
                    <a:lstStyle/>
                    <a:p>
                      <a:pPr algn="ctr"/>
                      <a:r>
                        <a:rPr sz="1650" b="1">
                          <a:solidFill>
                            <a:srgbClr val="151515"/>
                          </a:solidFill>
                          <a:latin typeface="Consolas"/>
                          <a:ea typeface="Consolas"/>
                          <a:cs typeface="Consolas"/>
                        </a:rPr>
                        <a:t>6</a:t>
                      </a:r>
                    </a:p>
                  </a:txBody>
                  <a:tcPr anchor="ctr">
                    <a:solidFill>
                      <a:srgbClr val="DDEFE6"/>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D67F1A7C-5B5E-4ACF-BF90-7AFB16CDB2C8}"/>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 전체</a:t>
            </a:r>
          </a:p>
        </p:txBody>
      </p:sp>
      <p:sp>
        <p:nvSpPr>
          <p:cNvPr id="28" name="where-from">
            <a:extLst>
              <a:ext uri="{FF2B5EF4-FFF2-40B4-BE49-F238E27FC236}">
                <a16:creationId xmlns:a16="http://schemas.microsoft.com/office/drawing/2014/main" id="{A05D41EF-3AB1-4651-A688-3746086D2BE0}"/>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①의 결과   오른쪽: ②의 결과</a:t>
            </a:r>
          </a:p>
        </p:txBody>
      </p:sp>
      <p:sp>
        <p:nvSpPr>
          <p:cNvPr id="29" name="cursor-rule">
            <a:extLst>
              <a:ext uri="{FF2B5EF4-FFF2-40B4-BE49-F238E27FC236}">
                <a16:creationId xmlns:a16="http://schemas.microsoft.com/office/drawing/2014/main" id="{AAEF86A8-2241-4E7C-85EA-7F27032ACF97}"/>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C5115BBA-B705-4355-9413-7822A56B83D2}"/>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893602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C64FD57F-E322-4633-A893-9E42384A3117}"/>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4D640107-7D6C-4266-A596-A5B3853A10C1}"/>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10C154CF-1DCB-4374-B2D6-18D7ACAFF183}"/>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③ 병합 · 1번째 값 2 추가</a:t>
            </a:r>
          </a:p>
        </p:txBody>
      </p:sp>
      <p:sp>
        <p:nvSpPr>
          <p:cNvPr id="4" name="직사각형 3">
            <a:extLst>
              <a:ext uri="{FF2B5EF4-FFF2-40B4-BE49-F238E27FC236}">
                <a16:creationId xmlns:a16="http://schemas.microsoft.com/office/drawing/2014/main" id="{962D81A8-A7BD-4D6D-8219-76D1653CD625}"/>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8FBC2F6D-AC65-4ECD-B197-ADE2775FDDC6}"/>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3 &gt; 오른쪽 2 → 오른쪽의 2을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0 → 1. 사용하지 않은 쪽의 인덱스는 그대로입니다.</a:t>
            </a:r>
          </a:p>
        </p:txBody>
      </p:sp>
      <p:sp>
        <p:nvSpPr>
          <p:cNvPr id="6" name="footer">
            <a:extLst>
              <a:ext uri="{FF2B5EF4-FFF2-40B4-BE49-F238E27FC236}">
                <a16:creationId xmlns:a16="http://schemas.microsoft.com/office/drawing/2014/main" id="{70DC40A6-1769-4840-845E-8DFF623C6DC6}"/>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8DED4B1E-CFA4-423F-9415-A1AF1B66BC05}"/>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19</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9CEE9201-375A-4450-9043-153AC0FBAC56}"/>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4E0C13B6-8ABC-4CE3-A506-05C54E899349}"/>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3</a:t>
                      </a:r>
                    </a:p>
                  </a:txBody>
                  <a:tcPr anchor="ctr">
                    <a:solidFill>
                      <a:srgbClr val="DCECFB"/>
                    </a:solidFill>
                  </a:tcPr>
                </a:tc>
                <a:tc>
                  <a:txBody>
                    <a:bodyPr/>
                    <a:lstStyle/>
                    <a:p>
                      <a:pPr algn="ctr"/>
                      <a:r>
                        <a:rPr sz="2250" b="1">
                          <a:solidFill>
                            <a:srgbClr val="151515"/>
                          </a:solidFill>
                          <a:latin typeface="Consolas"/>
                          <a:ea typeface="Consolas"/>
                          <a:cs typeface="Consolas"/>
                        </a:rPr>
                        <a:t>8</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01BFCAB7-852A-4D7B-AE61-49B2141FD0EC}"/>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22BC1F9C-A87E-4ED7-816C-172642C0DF42}"/>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116B6241-C998-44BC-A800-4A871E7DCB78}"/>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A7BA8CB6-6D84-4B4D-AFB9-C9FD4D9DDAFC}"/>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032418B9-0F6B-4058-9F74-F499F1008461}"/>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2</a:t>
                      </a:r>
                    </a:p>
                  </a:txBody>
                  <a:tcPr anchor="ctr">
                    <a:solidFill>
                      <a:srgbClr val="EEEEEE"/>
                    </a:solidFill>
                  </a:tcPr>
                </a:tc>
                <a:tc>
                  <a:txBody>
                    <a:bodyPr/>
                    <a:lstStyle/>
                    <a:p>
                      <a:pPr algn="ctr"/>
                      <a:r>
                        <a:rPr sz="2250" b="1">
                          <a:solidFill>
                            <a:srgbClr val="151515"/>
                          </a:solidFill>
                          <a:latin typeface="Consolas"/>
                          <a:ea typeface="Consolas"/>
                          <a:cs typeface="Consolas"/>
                        </a:rPr>
                        <a:t>6</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E54C01DE-8343-474E-B5CF-024B675F5CB3}"/>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754E2026-5280-4095-957C-332D2E08D0A1}"/>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pointer">
            <a:extLst>
              <a:ext uri="{FF2B5EF4-FFF2-40B4-BE49-F238E27FC236}">
                <a16:creationId xmlns:a16="http://schemas.microsoft.com/office/drawing/2014/main" id="{94A3972F-37D1-46EF-A347-ABC50DD6037C}"/>
              </a:ext>
            </a:extLst>
          </p:cNvPr>
          <p:cNvSpPr>
            <a:spLocks noGrp="1"/>
          </p:cNvSpPr>
          <p:nvPr/>
        </p:nvSpPr>
        <p:spPr>
          <a:xfrm>
            <a:off x="28765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8" name="out-label">
            <a:extLst>
              <a:ext uri="{FF2B5EF4-FFF2-40B4-BE49-F238E27FC236}">
                <a16:creationId xmlns:a16="http://schemas.microsoft.com/office/drawing/2014/main" id="{1A6EE975-58F0-4432-B492-F70757ABF54B}"/>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B1A3B884-2D9E-42C3-8856-2F6D91C3947E}"/>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2</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2130C2CE-B775-4C22-9CCC-12CFDF560C22}"/>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75A0C16A-6C0C-4530-B9DC-8DD340E2A9E6}"/>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C0713070-8D63-4390-99CF-16629ECF851E}"/>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CE1E3820-D5A9-49DE-BAD0-5BE725A8FA8C}"/>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67BDCDE7-B35B-45B8-B2E0-DFB313B53995}"/>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B08C6D2A-739F-46CF-A965-F072D1C9E83B}"/>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0B8D90B1-2600-4F4E-9607-CE1D459D925D}"/>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CECFB"/>
                    </a:solidFill>
                  </a:tcPr>
                </a:tc>
                <a:tc>
                  <a:txBody>
                    <a:bodyPr/>
                    <a:lstStyle/>
                    <a:p>
                      <a:pPr algn="ctr"/>
                      <a:r>
                        <a:rPr sz="1650" b="1">
                          <a:solidFill>
                            <a:srgbClr val="151515"/>
                          </a:solidFill>
                          <a:latin typeface="Consolas"/>
                          <a:ea typeface="Consolas"/>
                          <a:cs typeface="Consolas"/>
                        </a:rPr>
                        <a:t>6</a:t>
                      </a:r>
                    </a:p>
                  </a:txBody>
                  <a:tcPr anchor="ctr">
                    <a:solidFill>
                      <a:srgbClr val="DDEFE6"/>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729FF490-D555-46F3-B014-3F0F1A096A45}"/>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 전체</a:t>
            </a:r>
          </a:p>
        </p:txBody>
      </p:sp>
      <p:sp>
        <p:nvSpPr>
          <p:cNvPr id="28" name="where-from">
            <a:extLst>
              <a:ext uri="{FF2B5EF4-FFF2-40B4-BE49-F238E27FC236}">
                <a16:creationId xmlns:a16="http://schemas.microsoft.com/office/drawing/2014/main" id="{E0D05BC7-82CA-408E-9DAD-AE041ACF90FC}"/>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①의 결과   오른쪽: ②의 결과</a:t>
            </a:r>
          </a:p>
        </p:txBody>
      </p:sp>
      <p:sp>
        <p:nvSpPr>
          <p:cNvPr id="29" name="cursor-rule">
            <a:extLst>
              <a:ext uri="{FF2B5EF4-FFF2-40B4-BE49-F238E27FC236}">
                <a16:creationId xmlns:a16="http://schemas.microsoft.com/office/drawing/2014/main" id="{62D62DDE-E3C3-471C-9F17-1F76F7EA5497}"/>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194911CE-82AE-4CAA-99BE-4BB541887882}"/>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483797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36AB9ABC-6645-451D-A674-351D5D849D5E}"/>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DE929435-64F9-4C7F-903D-D2D8FA731324}"/>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3A28D3B8-6789-4937-8F41-055F55ED920F}"/>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③ 병합 · 2번째 값 3 추가</a:t>
            </a:r>
          </a:p>
        </p:txBody>
      </p:sp>
      <p:sp>
        <p:nvSpPr>
          <p:cNvPr id="4" name="직사각형 3">
            <a:extLst>
              <a:ext uri="{FF2B5EF4-FFF2-40B4-BE49-F238E27FC236}">
                <a16:creationId xmlns:a16="http://schemas.microsoft.com/office/drawing/2014/main" id="{390B8BFF-8D31-4CE1-A9EF-5E3A35DEF45C}"/>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0DB82FF8-4E9B-40FF-9BC0-D81E6F8641DD}"/>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3 ≤ 오른쪽 6 → 왼쪽의 3을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0 → 1. 사용하지 않은 쪽의 인덱스는 그대로입니다.</a:t>
            </a:r>
          </a:p>
        </p:txBody>
      </p:sp>
      <p:sp>
        <p:nvSpPr>
          <p:cNvPr id="6" name="footer">
            <a:extLst>
              <a:ext uri="{FF2B5EF4-FFF2-40B4-BE49-F238E27FC236}">
                <a16:creationId xmlns:a16="http://schemas.microsoft.com/office/drawing/2014/main" id="{05CDB8BC-C333-4B25-BBFB-888DCB8ADC80}"/>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80DC3C72-53F2-4FDF-AC6A-635C50B4B172}"/>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20</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DC31F2E3-2561-40D9-B271-D2196C0AB50F}"/>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C724E896-C7C2-412C-B1F7-C62C32FBA1F0}"/>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3</a:t>
                      </a:r>
                    </a:p>
                  </a:txBody>
                  <a:tcPr anchor="ctr">
                    <a:solidFill>
                      <a:srgbClr val="EEEEEE"/>
                    </a:solidFill>
                  </a:tcPr>
                </a:tc>
                <a:tc>
                  <a:txBody>
                    <a:bodyPr/>
                    <a:lstStyle/>
                    <a:p>
                      <a:pPr algn="ctr"/>
                      <a:r>
                        <a:rPr sz="2250"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C63EE53C-6D4D-4E8E-BB1C-3FA910DDA3B1}"/>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72213E2E-DA7A-44EC-8ADB-F0B54DB80CA0}"/>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81514B82-737B-4957-B4E1-0AA5CE6064A4}"/>
              </a:ext>
            </a:extLst>
          </p:cNvPr>
          <p:cNvSpPr>
            <a:spLocks noGrp="1"/>
          </p:cNvSpPr>
          <p:nvPr/>
        </p:nvSpPr>
        <p:spPr>
          <a:xfrm>
            <a:off x="28765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79086FC0-384F-4571-86A2-44A65A8B54B0}"/>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43418D97-51BF-4AB5-B0B8-57239C0F7C04}"/>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2</a:t>
                      </a:r>
                    </a:p>
                  </a:txBody>
                  <a:tcPr anchor="ctr">
                    <a:solidFill>
                      <a:srgbClr val="EEEEEE"/>
                    </a:solidFill>
                  </a:tcPr>
                </a:tc>
                <a:tc>
                  <a:txBody>
                    <a:bodyPr/>
                    <a:lstStyle/>
                    <a:p>
                      <a:pPr algn="ctr"/>
                      <a:r>
                        <a:rPr sz="2250" b="1">
                          <a:solidFill>
                            <a:srgbClr val="151515"/>
                          </a:solidFill>
                          <a:latin typeface="Consolas"/>
                          <a:ea typeface="Consolas"/>
                          <a:cs typeface="Consolas"/>
                        </a:rPr>
                        <a:t>6</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36E4A61B-219A-45CD-B155-18B8A28F4BA1}"/>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6359FE63-2852-418A-AF8E-992E2302D337}"/>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pointer">
            <a:extLst>
              <a:ext uri="{FF2B5EF4-FFF2-40B4-BE49-F238E27FC236}">
                <a16:creationId xmlns:a16="http://schemas.microsoft.com/office/drawing/2014/main" id="{2004DA21-D4F4-44E6-B445-47A92715C038}"/>
              </a:ext>
            </a:extLst>
          </p:cNvPr>
          <p:cNvSpPr>
            <a:spLocks noGrp="1"/>
          </p:cNvSpPr>
          <p:nvPr/>
        </p:nvSpPr>
        <p:spPr>
          <a:xfrm>
            <a:off x="28765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8" name="out-label">
            <a:extLst>
              <a:ext uri="{FF2B5EF4-FFF2-40B4-BE49-F238E27FC236}">
                <a16:creationId xmlns:a16="http://schemas.microsoft.com/office/drawing/2014/main" id="{A3547579-D2BD-49C4-AC01-55D75EFABD2F}"/>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F456C871-0647-4554-A83A-BA630D8031DE}"/>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2</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3665A768-367F-40E1-8154-1AC1D4CFCDD7}"/>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2918D69C-3141-4826-B14D-178B64571743}"/>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4B1604E4-DF58-4713-A86F-D6371E16A406}"/>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930AF04E-9E50-4D4D-8D33-0ACAFB4C4B53}"/>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E6A40776-3D6E-4AC4-971C-7D69741CAC16}"/>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D01E5668-05FA-4FF3-A233-2653888CB019}"/>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7E5AC5C1-F8CA-4173-87D4-A9391FB0A52C}"/>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CECFB"/>
                    </a:solidFill>
                  </a:tcPr>
                </a:tc>
                <a:tc>
                  <a:txBody>
                    <a:bodyPr/>
                    <a:lstStyle/>
                    <a:p>
                      <a:pPr algn="ctr"/>
                      <a:r>
                        <a:rPr sz="1650" b="1">
                          <a:solidFill>
                            <a:srgbClr val="151515"/>
                          </a:solidFill>
                          <a:latin typeface="Consolas"/>
                          <a:ea typeface="Consolas"/>
                          <a:cs typeface="Consolas"/>
                        </a:rPr>
                        <a:t>6</a:t>
                      </a:r>
                    </a:p>
                  </a:txBody>
                  <a:tcPr anchor="ctr">
                    <a:solidFill>
                      <a:srgbClr val="DDEFE6"/>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C79517D9-3643-42BF-B91E-8970875F5C27}"/>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 전체</a:t>
            </a:r>
          </a:p>
        </p:txBody>
      </p:sp>
      <p:sp>
        <p:nvSpPr>
          <p:cNvPr id="28" name="where-from">
            <a:extLst>
              <a:ext uri="{FF2B5EF4-FFF2-40B4-BE49-F238E27FC236}">
                <a16:creationId xmlns:a16="http://schemas.microsoft.com/office/drawing/2014/main" id="{797AC807-C9AB-4BA4-AC15-79263D11B0A9}"/>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①의 결과   오른쪽: ②의 결과</a:t>
            </a:r>
          </a:p>
        </p:txBody>
      </p:sp>
      <p:sp>
        <p:nvSpPr>
          <p:cNvPr id="29" name="cursor-rule">
            <a:extLst>
              <a:ext uri="{FF2B5EF4-FFF2-40B4-BE49-F238E27FC236}">
                <a16:creationId xmlns:a16="http://schemas.microsoft.com/office/drawing/2014/main" id="{5AF5EDFE-99C0-4754-8567-D26DD0FCDA3E}"/>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9E3A6B40-D05E-4202-9359-D7974D977AEF}"/>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516943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9FC12CB9-D975-405E-A783-91D8A736CB9F}"/>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C581EAE8-F83F-4E8D-B5A0-39DE95A0C632}"/>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21023F35-19DB-46C5-B0D5-6DA834FA14F3}"/>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③ 병합 · 3번째 값 6 추가</a:t>
            </a:r>
          </a:p>
        </p:txBody>
      </p:sp>
      <p:sp>
        <p:nvSpPr>
          <p:cNvPr id="4" name="직사각형 3">
            <a:extLst>
              <a:ext uri="{FF2B5EF4-FFF2-40B4-BE49-F238E27FC236}">
                <a16:creationId xmlns:a16="http://schemas.microsoft.com/office/drawing/2014/main" id="{29118B18-0E0E-482F-B7F9-03BBECFE0E25}"/>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ED2A776D-11BD-47C1-888D-E29012ECF8FB}"/>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8 &gt; 오른쪽 6 → 오른쪽의 6을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1 → 2. 사용하지 않은 쪽의 인덱스는 그대로입니다.</a:t>
            </a:r>
          </a:p>
        </p:txBody>
      </p:sp>
      <p:sp>
        <p:nvSpPr>
          <p:cNvPr id="6" name="footer">
            <a:extLst>
              <a:ext uri="{FF2B5EF4-FFF2-40B4-BE49-F238E27FC236}">
                <a16:creationId xmlns:a16="http://schemas.microsoft.com/office/drawing/2014/main" id="{17DD4996-50A4-4811-A554-3AD59290F400}"/>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B482B879-CE9F-4DDB-89A3-CA601DC8C7F3}"/>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21</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897EFF15-01EE-4635-B717-6376DB7A0970}"/>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37655BB2-AE2A-4DD4-996F-9966C66959F2}"/>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3</a:t>
                      </a:r>
                    </a:p>
                  </a:txBody>
                  <a:tcPr anchor="ctr">
                    <a:solidFill>
                      <a:srgbClr val="EEEEEE"/>
                    </a:solidFill>
                  </a:tcPr>
                </a:tc>
                <a:tc>
                  <a:txBody>
                    <a:bodyPr/>
                    <a:lstStyle/>
                    <a:p>
                      <a:pPr algn="ctr"/>
                      <a:r>
                        <a:rPr sz="2250"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6CAF26F1-5941-472B-8B2C-81C9F8765714}"/>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7D50FD97-D355-462E-ACC4-A4E624D1A7AE}"/>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784A106C-C2C8-4455-9E83-63CA107DBC9F}"/>
              </a:ext>
            </a:extLst>
          </p:cNvPr>
          <p:cNvSpPr>
            <a:spLocks noGrp="1"/>
          </p:cNvSpPr>
          <p:nvPr/>
        </p:nvSpPr>
        <p:spPr>
          <a:xfrm>
            <a:off x="28765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9C2C6F8B-361B-41D0-8533-00BD00BED81C}"/>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7C7136BC-CF48-4076-9743-86845B4593F6}"/>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2</a:t>
                      </a:r>
                    </a:p>
                  </a:txBody>
                  <a:tcPr anchor="ctr">
                    <a:solidFill>
                      <a:srgbClr val="EEEEEE"/>
                    </a:solidFill>
                  </a:tcPr>
                </a:tc>
                <a:tc>
                  <a:txBody>
                    <a:bodyPr/>
                    <a:lstStyle/>
                    <a:p>
                      <a:pPr algn="ctr"/>
                      <a:r>
                        <a:rPr sz="2250" b="1">
                          <a:solidFill>
                            <a:srgbClr val="777777"/>
                          </a:solidFill>
                          <a:latin typeface="Consolas"/>
                          <a:ea typeface="Consolas"/>
                          <a:cs typeface="Consolas"/>
                        </a:rPr>
                        <a:t>6</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6A91DFDC-8EA4-437B-841E-642F2E7E26E8}"/>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5BBD84EA-55E8-4BFD-AA30-CFF8910243B9}"/>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done">
            <a:extLst>
              <a:ext uri="{FF2B5EF4-FFF2-40B4-BE49-F238E27FC236}">
                <a16:creationId xmlns:a16="http://schemas.microsoft.com/office/drawing/2014/main" id="{A5034111-078D-4147-9EAC-B7617F93EDCD}"/>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2 · 사용 완료</a:t>
            </a:r>
          </a:p>
        </p:txBody>
      </p:sp>
      <p:sp>
        <p:nvSpPr>
          <p:cNvPr id="18" name="out-label">
            <a:extLst>
              <a:ext uri="{FF2B5EF4-FFF2-40B4-BE49-F238E27FC236}">
                <a16:creationId xmlns:a16="http://schemas.microsoft.com/office/drawing/2014/main" id="{6A27B223-A572-4BC9-852B-C05BA030F429}"/>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DAAE5E38-43BB-41C3-93B9-C4CB13915C19}"/>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2</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E28EB458-37EB-4B5D-B53F-FB60F989C756}"/>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320C54B2-A01D-48C9-BE10-EE950772101C}"/>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98C8A220-7FE1-4D38-AA2E-A984A45850FD}"/>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2AC5D487-AD45-40FF-8BE2-61E3C5A05530}"/>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81D32869-55DD-4A5C-BA10-81365546B5C2}"/>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AC197D0F-29DC-4965-8FF2-C1BC115B16B1}"/>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B2A5624A-7EFE-411A-8BE6-A8C4BE6DDD26}"/>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CECFB"/>
                    </a:solidFill>
                  </a:tcPr>
                </a:tc>
                <a:tc>
                  <a:txBody>
                    <a:bodyPr/>
                    <a:lstStyle/>
                    <a:p>
                      <a:pPr algn="ctr"/>
                      <a:r>
                        <a:rPr sz="1650" b="1">
                          <a:solidFill>
                            <a:srgbClr val="151515"/>
                          </a:solidFill>
                          <a:latin typeface="Consolas"/>
                          <a:ea typeface="Consolas"/>
                          <a:cs typeface="Consolas"/>
                        </a:rPr>
                        <a:t>6</a:t>
                      </a:r>
                    </a:p>
                  </a:txBody>
                  <a:tcPr anchor="ctr">
                    <a:solidFill>
                      <a:srgbClr val="DDEFE6"/>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A1707934-FD93-4718-AAA4-AB9B191E89A4}"/>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 전체</a:t>
            </a:r>
          </a:p>
        </p:txBody>
      </p:sp>
      <p:sp>
        <p:nvSpPr>
          <p:cNvPr id="28" name="where-from">
            <a:extLst>
              <a:ext uri="{FF2B5EF4-FFF2-40B4-BE49-F238E27FC236}">
                <a16:creationId xmlns:a16="http://schemas.microsoft.com/office/drawing/2014/main" id="{064C87B1-D7CD-4BD4-9CD4-B44E32665506}"/>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①의 결과   오른쪽: ②의 결과</a:t>
            </a:r>
          </a:p>
        </p:txBody>
      </p:sp>
      <p:sp>
        <p:nvSpPr>
          <p:cNvPr id="29" name="cursor-rule">
            <a:extLst>
              <a:ext uri="{FF2B5EF4-FFF2-40B4-BE49-F238E27FC236}">
                <a16:creationId xmlns:a16="http://schemas.microsoft.com/office/drawing/2014/main" id="{B0688422-DCBA-483E-982F-1AF314D5DB9B}"/>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81565BA4-775C-44C8-8DA0-1C27A4398A08}"/>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862906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ection">
            <a:extLst>
              <a:ext uri="{FF2B5EF4-FFF2-40B4-BE49-F238E27FC236}">
                <a16:creationId xmlns:a16="http://schemas.microsoft.com/office/drawing/2014/main" id="{C816414A-A54A-4EE1-A9E3-0AE186C92373}"/>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6C66DF17-770F-4CAA-94AB-23152A3FF783}"/>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5EA7DF9A-C437-43B3-A427-579812DBD407}"/>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③ 병합 · 4번째 값 8 추가</a:t>
            </a:r>
          </a:p>
        </p:txBody>
      </p:sp>
      <p:sp>
        <p:nvSpPr>
          <p:cNvPr id="4" name="직사각형 3">
            <a:extLst>
              <a:ext uri="{FF2B5EF4-FFF2-40B4-BE49-F238E27FC236}">
                <a16:creationId xmlns:a16="http://schemas.microsoft.com/office/drawing/2014/main" id="{E276D071-298F-4BD7-85AF-8A0CFBE6B17F}"/>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A2104B55-5C2C-4402-A5AF-DCE9EA96BE58}"/>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오른쪽을 다 사용했습니다. 남은 왼쪽의 8을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1 → 2. 이번 병합의 정렬 결과가 완성되었습니다.</a:t>
            </a:r>
          </a:p>
        </p:txBody>
      </p:sp>
      <p:sp>
        <p:nvSpPr>
          <p:cNvPr id="6" name="footer">
            <a:extLst>
              <a:ext uri="{FF2B5EF4-FFF2-40B4-BE49-F238E27FC236}">
                <a16:creationId xmlns:a16="http://schemas.microsoft.com/office/drawing/2014/main" id="{640EBBDD-506E-4ABA-ACCF-330AA2A78F09}"/>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D925F5AD-B804-4370-B512-1CBCA6CB456B}"/>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22</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0AFFD00E-FFC1-4F0B-9352-CF7702A8CA2C}"/>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1F3A6474-1DB9-4685-8D9E-F0D0F12525CF}"/>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3</a:t>
                      </a:r>
                    </a:p>
                  </a:txBody>
                  <a:tcPr anchor="ctr">
                    <a:solidFill>
                      <a:srgbClr val="EEEEEE"/>
                    </a:solidFill>
                  </a:tcPr>
                </a:tc>
                <a:tc>
                  <a:txBody>
                    <a:bodyPr/>
                    <a:lstStyle/>
                    <a:p>
                      <a:pPr algn="ctr"/>
                      <a:r>
                        <a:rPr sz="2250" b="1">
                          <a:solidFill>
                            <a:srgbClr val="777777"/>
                          </a:solidFill>
                          <a:latin typeface="Consolas"/>
                          <a:ea typeface="Consolas"/>
                          <a:cs typeface="Consolas"/>
                        </a:rPr>
                        <a:t>8</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45864832-2AA2-49A8-A837-922BA2255371}"/>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8F3CA47C-CA8C-486C-96BC-B9791CC7C701}"/>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done">
            <a:extLst>
              <a:ext uri="{FF2B5EF4-FFF2-40B4-BE49-F238E27FC236}">
                <a16:creationId xmlns:a16="http://schemas.microsoft.com/office/drawing/2014/main" id="{55086580-E8B4-4BC0-BD2B-7F6FD92ADFD9}"/>
              </a:ext>
            </a:extLst>
          </p:cNvPr>
          <p:cNvSpPr>
            <a:spLocks noGrp="1"/>
          </p:cNvSpPr>
          <p:nvPr/>
        </p:nvSpPr>
        <p:spPr>
          <a:xfrm>
            <a:off x="1809750" y="37147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i = 2 · 사용 완료</a:t>
            </a:r>
          </a:p>
        </p:txBody>
      </p:sp>
      <p:sp>
        <p:nvSpPr>
          <p:cNvPr id="13" name="오른쪽 right">
            <a:extLst>
              <a:ext uri="{FF2B5EF4-FFF2-40B4-BE49-F238E27FC236}">
                <a16:creationId xmlns:a16="http://schemas.microsoft.com/office/drawing/2014/main" id="{ED8E82F1-934A-4966-A648-0A1412FECA31}"/>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3231C0DF-77AD-4C7B-929E-E2B100CEEBD0}"/>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2</a:t>
                      </a:r>
                    </a:p>
                  </a:txBody>
                  <a:tcPr anchor="ctr">
                    <a:solidFill>
                      <a:srgbClr val="EEEEEE"/>
                    </a:solidFill>
                  </a:tcPr>
                </a:tc>
                <a:tc>
                  <a:txBody>
                    <a:bodyPr/>
                    <a:lstStyle/>
                    <a:p>
                      <a:pPr algn="ctr"/>
                      <a:r>
                        <a:rPr sz="2250" b="1">
                          <a:solidFill>
                            <a:srgbClr val="777777"/>
                          </a:solidFill>
                          <a:latin typeface="Consolas"/>
                          <a:ea typeface="Consolas"/>
                          <a:cs typeface="Consolas"/>
                        </a:rPr>
                        <a:t>6</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F1FCAF3B-9996-4EFE-B5AB-0F6B2EB9245F}"/>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9DB07519-6148-415A-B9B5-1208F57AEBEC}"/>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done">
            <a:extLst>
              <a:ext uri="{FF2B5EF4-FFF2-40B4-BE49-F238E27FC236}">
                <a16:creationId xmlns:a16="http://schemas.microsoft.com/office/drawing/2014/main" id="{8A08147C-592A-488B-8C75-9FFB21394C7C}"/>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2 · 사용 완료</a:t>
            </a:r>
          </a:p>
        </p:txBody>
      </p:sp>
      <p:sp>
        <p:nvSpPr>
          <p:cNvPr id="18" name="out-label">
            <a:extLst>
              <a:ext uri="{FF2B5EF4-FFF2-40B4-BE49-F238E27FC236}">
                <a16:creationId xmlns:a16="http://schemas.microsoft.com/office/drawing/2014/main" id="{40802871-7803-4EF1-B416-41B729D5CA7D}"/>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AC2F950B-97A7-43DF-AEEE-31AE7E0672DE}"/>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2</a:t>
                      </a:r>
                    </a:p>
                  </a:txBody>
                  <a:tcPr anchor="ctr">
                    <a:solidFill>
                      <a:srgbClr val="F6F6F6"/>
                    </a:solidFill>
                  </a:tcPr>
                </a:tc>
                <a:tc>
                  <a:txBody>
                    <a:bodyPr/>
                    <a:lstStyle/>
                    <a:p>
                      <a:pPr algn="ctr"/>
                      <a:r>
                        <a:rPr sz="2250" b="1">
                          <a:solidFill>
                            <a:srgbClr val="151515"/>
                          </a:solidFill>
                          <a:latin typeface="Consolas"/>
                          <a:ea typeface="Consolas"/>
                          <a:cs typeface="Consolas"/>
                        </a:rPr>
                        <a:t>3</a:t>
                      </a:r>
                    </a:p>
                  </a:txBody>
                  <a:tcPr anchor="ctr">
                    <a:solidFill>
                      <a:srgbClr val="F6F6F6"/>
                    </a:solidFill>
                  </a:tcPr>
                </a:tc>
                <a:tc>
                  <a:txBody>
                    <a:bodyPr/>
                    <a:lstStyle/>
                    <a:p>
                      <a:pPr algn="ctr"/>
                      <a:r>
                        <a:rPr sz="2250" b="1">
                          <a:solidFill>
                            <a:srgbClr val="151515"/>
                          </a:solidFill>
                          <a:latin typeface="Consolas"/>
                          <a:ea typeface="Consolas"/>
                          <a:cs typeface="Consolas"/>
                        </a:rPr>
                        <a:t>6</a:t>
                      </a:r>
                    </a:p>
                  </a:txBody>
                  <a:tcPr anchor="ctr">
                    <a:solidFill>
                      <a:srgbClr val="F6F6F6"/>
                    </a:solidFill>
                  </a:tcPr>
                </a:tc>
                <a:tc>
                  <a:txBody>
                    <a:bodyPr/>
                    <a:lstStyle/>
                    <a:p>
                      <a:pPr algn="ctr"/>
                      <a:r>
                        <a:rPr sz="2250" b="1">
                          <a:solidFill>
                            <a:srgbClr val="151515"/>
                          </a:solidFill>
                          <a:latin typeface="Consolas"/>
                          <a:ea typeface="Consolas"/>
                          <a:cs typeface="Consolas"/>
                        </a:rPr>
                        <a:t>8</a:t>
                      </a:r>
                    </a:p>
                  </a:txBody>
                  <a:tcPr anchor="ctr">
                    <a:solidFill>
                      <a:srgbClr val="E4E4E4"/>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14CCFCD5-B97D-4E7E-8A2E-8D828E47E0DD}"/>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BDCA26C6-45A3-42E0-ADBD-0CB48DF3ABC4}"/>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59B7EB68-5DD2-432E-8544-3C404471F0AE}"/>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4AC0BDB1-B364-4071-BC47-156DE2340710}"/>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E02A017A-BB89-4470-AB8A-8C11938BB18E}"/>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A2DDB5A0-4777-4C76-A71B-220584180CD5}"/>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BDF2578D-F5FC-47DF-BAF0-24494FA9EEC5}"/>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151515"/>
                          </a:solidFill>
                          <a:latin typeface="Consolas"/>
                          <a:ea typeface="Consolas"/>
                          <a:cs typeface="Consolas"/>
                        </a:rPr>
                        <a:t>8</a:t>
                      </a:r>
                    </a:p>
                  </a:txBody>
                  <a:tcPr anchor="ctr">
                    <a:solidFill>
                      <a:srgbClr val="DCECFB"/>
                    </a:solidFill>
                  </a:tcPr>
                </a:tc>
                <a:tc>
                  <a:txBody>
                    <a:bodyPr/>
                    <a:lstStyle/>
                    <a:p>
                      <a:pPr algn="ctr"/>
                      <a:r>
                        <a:rPr sz="1650" b="1">
                          <a:solidFill>
                            <a:srgbClr val="151515"/>
                          </a:solidFill>
                          <a:latin typeface="Consolas"/>
                          <a:ea typeface="Consolas"/>
                          <a:cs typeface="Consolas"/>
                        </a:rPr>
                        <a:t>3</a:t>
                      </a:r>
                    </a:p>
                  </a:txBody>
                  <a:tcPr anchor="ctr">
                    <a:solidFill>
                      <a:srgbClr val="DCECFB"/>
                    </a:solidFill>
                  </a:tcPr>
                </a:tc>
                <a:tc>
                  <a:txBody>
                    <a:bodyPr/>
                    <a:lstStyle/>
                    <a:p>
                      <a:pPr algn="ctr"/>
                      <a:r>
                        <a:rPr sz="1650" b="1">
                          <a:solidFill>
                            <a:srgbClr val="151515"/>
                          </a:solidFill>
                          <a:latin typeface="Consolas"/>
                          <a:ea typeface="Consolas"/>
                          <a:cs typeface="Consolas"/>
                        </a:rPr>
                        <a:t>6</a:t>
                      </a:r>
                    </a:p>
                  </a:txBody>
                  <a:tcPr anchor="ctr">
                    <a:solidFill>
                      <a:srgbClr val="DDEFE6"/>
                    </a:solidFill>
                  </a:tcPr>
                </a:tc>
                <a:tc>
                  <a:txBody>
                    <a:bodyPr/>
                    <a:lstStyle/>
                    <a:p>
                      <a:pPr algn="ctr"/>
                      <a:r>
                        <a:rPr sz="1650" b="1">
                          <a:solidFill>
                            <a:srgbClr val="151515"/>
                          </a:solidFill>
                          <a:latin typeface="Consolas"/>
                          <a:ea typeface="Consolas"/>
                          <a:cs typeface="Consolas"/>
                        </a:rPr>
                        <a:t>2</a:t>
                      </a:r>
                    </a:p>
                  </a:txBody>
                  <a:tcPr anchor="ctr">
                    <a:solidFill>
                      <a:srgbClr val="DDEFE6"/>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B6FD86AB-9463-4C99-A024-AE4923E461AB}"/>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왼쪽 4개 전체</a:t>
            </a:r>
          </a:p>
        </p:txBody>
      </p:sp>
      <p:sp>
        <p:nvSpPr>
          <p:cNvPr id="28" name="result-caption">
            <a:extLst>
              <a:ext uri="{FF2B5EF4-FFF2-40B4-BE49-F238E27FC236}">
                <a16:creationId xmlns:a16="http://schemas.microsoft.com/office/drawing/2014/main" id="{FE33CE60-8475-4A96-8030-87A200D9CF57}"/>
              </a:ext>
            </a:extLst>
          </p:cNvPr>
          <p:cNvSpPr>
            <a:spLocks noGrp="1"/>
          </p:cNvSpPr>
          <p:nvPr/>
        </p:nvSpPr>
        <p:spPr>
          <a:xfrm>
            <a:off x="7905750" y="4371975"/>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이번 병합의 정렬 결과</a:t>
            </a:r>
          </a:p>
        </p:txBody>
      </p:sp>
      <p:sp>
        <p:nvSpPr>
          <p:cNvPr id="29" name="completed">
            <a:extLst>
              <a:ext uri="{FF2B5EF4-FFF2-40B4-BE49-F238E27FC236}">
                <a16:creationId xmlns:a16="http://schemas.microsoft.com/office/drawing/2014/main" id="{9DABE6BD-2440-43AA-8923-EBF5C085908F}"/>
              </a:ext>
            </a:extLst>
          </p:cNvPr>
          <p:cNvSpPr>
            <a:spLocks noGrp="1"/>
          </p:cNvSpPr>
          <p:nvPr/>
        </p:nvSpPr>
        <p:spPr>
          <a:xfrm>
            <a:off x="7905750" y="4743450"/>
            <a:ext cx="3667125" cy="342900"/>
          </a:xfrm>
          <a:prstGeom prst="rect">
            <a:avLst/>
          </a:prstGeom>
          <a:noFill/>
          <a:ln w="0">
            <a:noFill/>
          </a:ln>
        </p:spPr>
        <p:txBody>
          <a:bodyPr wrap="none" lIns="0" tIns="0" rIns="0" bIns="0" anchor="t">
            <a:noAutofit/>
          </a:bodyPr>
          <a:lstStyle>
            <a:defPPr algn="l">
              <a:defRPr sz="2025" b="1">
                <a:solidFill>
                  <a:srgbClr val="151515"/>
                </a:solidFill>
                <a:latin typeface="Consolas"/>
                <a:ea typeface="Consolas"/>
                <a:cs typeface="Consolas"/>
              </a:defRPr>
            </a:defPPr>
          </a:lstStyle>
          <a:p>
            <a:pPr algn="l">
              <a:lnSpc>
                <a:spcPct val="106000"/>
              </a:lnSpc>
              <a:buNone/>
              <a:defRPr sz="2025" b="1">
                <a:solidFill>
                  <a:srgbClr val="151515"/>
                </a:solidFill>
                <a:latin typeface="Consolas"/>
                <a:ea typeface="Consolas"/>
                <a:cs typeface="Consolas"/>
              </a:defRPr>
            </a:pPr>
            <a:r>
              <a:rPr sz="2025" b="1">
                <a:solidFill>
                  <a:srgbClr val="151515"/>
                </a:solidFill>
                <a:latin typeface="Consolas"/>
                <a:ea typeface="Consolas"/>
                <a:cs typeface="Consolas"/>
              </a:rPr>
              <a:t>[2, 3, 6, 8]</a:t>
            </a:r>
          </a:p>
        </p:txBody>
      </p:sp>
      <p:sp>
        <p:nvSpPr>
          <p:cNvPr id="30" name="next-merge">
            <a:extLst>
              <a:ext uri="{FF2B5EF4-FFF2-40B4-BE49-F238E27FC236}">
                <a16:creationId xmlns:a16="http://schemas.microsoft.com/office/drawing/2014/main" id="{3D327505-E52A-4BC0-97FE-86085436BBB9}"/>
              </a:ext>
            </a:extLst>
          </p:cNvPr>
          <p:cNvSpPr>
            <a:spLocks noGrp="1"/>
          </p:cNvSpPr>
          <p:nvPr/>
        </p:nvSpPr>
        <p:spPr>
          <a:xfrm>
            <a:off x="7905750" y="5238750"/>
            <a:ext cx="3667125" cy="342900"/>
          </a:xfrm>
          <a:prstGeom prst="rect">
            <a:avLst/>
          </a:prstGeom>
          <a:noFill/>
          <a:ln w="0">
            <a:noFill/>
          </a:ln>
        </p:spPr>
        <p:txBody>
          <a:bodyPr wrap="none" lIns="0" tIns="0" rIns="0" bIns="0" anchor="t">
            <a:noAutofit/>
          </a:bodyPr>
          <a:lstStyle>
            <a:defPPr algn="l">
              <a:defRPr sz="1650" b="0">
                <a:solidFill>
                  <a:srgbClr val="151515"/>
                </a:solidFill>
                <a:latin typeface="Malgun Gothic"/>
                <a:ea typeface="Malgun Gothic"/>
                <a:cs typeface="Malgun Gothic"/>
              </a:defRPr>
            </a:defPPr>
          </a:lstStyle>
          <a:p>
            <a:pPr algn="l">
              <a:lnSpc>
                <a:spcPct val="106000"/>
              </a:lnSpc>
              <a:buNone/>
              <a:defRPr sz="1650" b="0">
                <a:solidFill>
                  <a:srgbClr val="151515"/>
                </a:solidFill>
                <a:latin typeface="Malgun Gothic"/>
                <a:ea typeface="Malgun Gothic"/>
                <a:cs typeface="Malgun Gothic"/>
              </a:defRPr>
            </a:pPr>
            <a:r>
              <a:rPr sz="1650" b="0">
                <a:solidFill>
                  <a:srgbClr val="151515"/>
                </a:solidFill>
                <a:latin typeface="Malgun Gothic"/>
                <a:ea typeface="Malgun Gothic"/>
                <a:cs typeface="Malgun Gothic"/>
              </a:rPr>
              <a:t>왼쪽 4개 완료 → 오른쪽으로</a:t>
            </a:r>
          </a:p>
        </p:txBody>
      </p:sp>
      <p:sp>
        <p:nvSpPr>
          <p:cNvPr id="31" name="trace-rule">
            <a:extLst>
              <a:ext uri="{FF2B5EF4-FFF2-40B4-BE49-F238E27FC236}">
                <a16:creationId xmlns:a16="http://schemas.microsoft.com/office/drawing/2014/main" id="{F7680F7D-0472-4CC9-9535-4360AF83C6FC}"/>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200187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A7E26A71-D0E3-42A6-905C-2CDB1BDA7A36}"/>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02E2B231-B8C0-42E6-A658-EF13BAA7C507}"/>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453EDF2A-98BD-4768-B6AF-69C9BE1E4896}"/>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④ [7]과 [1] 병합 · 시작</a:t>
            </a:r>
          </a:p>
        </p:txBody>
      </p:sp>
      <p:sp>
        <p:nvSpPr>
          <p:cNvPr id="4" name="직사각형 3">
            <a:extLst>
              <a:ext uri="{FF2B5EF4-FFF2-40B4-BE49-F238E27FC236}">
                <a16:creationId xmlns:a16="http://schemas.microsoft.com/office/drawing/2014/main" id="{15002E08-1AA7-4615-AC95-7267401F8E13}"/>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6DFA1C07-B362-4F6B-8A85-970E351722F8}"/>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 = 0, j = 0. 왼쪽 7과 오른쪽 1을 비교합니다.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정렬된 두 결과를 받아 작은 값부터 새 결과에 넣습니다.</a:t>
            </a:r>
          </a:p>
        </p:txBody>
      </p:sp>
      <p:sp>
        <p:nvSpPr>
          <p:cNvPr id="6" name="footer">
            <a:extLst>
              <a:ext uri="{FF2B5EF4-FFF2-40B4-BE49-F238E27FC236}">
                <a16:creationId xmlns:a16="http://schemas.microsoft.com/office/drawing/2014/main" id="{1C2E96C1-729A-4882-9F18-50CD83B9916D}"/>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88EF7CD8-7B59-4A3F-B40B-011ADA96F6EC}"/>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23</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C51ADD12-DA71-48B1-AFB6-5C3A88D6DE27}"/>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0DA5505E-4BDD-474F-8E02-AF9650F30DE7}"/>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7</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095DF350-AA47-4BBC-BDCE-EB976CCE5A6C}"/>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18F6CE18-469B-4233-B942-6065E9C5078A}"/>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33EDE7ED-3189-47CC-8C4C-12EF96D3BAED}"/>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018C1962-DC9D-4331-8BCD-1B2B47DE40B0}"/>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1</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E96F8974-B2FE-49BF-9FF6-D0EFDBD883C9}"/>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pointer">
            <a:extLst>
              <a:ext uri="{FF2B5EF4-FFF2-40B4-BE49-F238E27FC236}">
                <a16:creationId xmlns:a16="http://schemas.microsoft.com/office/drawing/2014/main" id="{701346AC-6F1C-4AE9-9EFA-4B65AD904600}"/>
              </a:ext>
            </a:extLst>
          </p:cNvPr>
          <p:cNvSpPr>
            <a:spLocks noGrp="1"/>
          </p:cNvSpPr>
          <p:nvPr/>
        </p:nvSpPr>
        <p:spPr>
          <a:xfrm>
            <a:off x="18097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6" name="out-label">
            <a:extLst>
              <a:ext uri="{FF2B5EF4-FFF2-40B4-BE49-F238E27FC236}">
                <a16:creationId xmlns:a16="http://schemas.microsoft.com/office/drawing/2014/main" id="{2FB4CA15-C74A-4453-87C2-74FFA9148FA1}"/>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AACF2687-8D2A-46FC-8DC8-4EC6F065C5AC}"/>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4E2C5372-6F68-41BF-9FB3-7753308B9678}"/>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F9B2CD58-E20A-4C24-93F7-B235498A4909}"/>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347B82C5-5614-49A0-B76A-11A180727BB5}"/>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FD77B499-628E-43A2-BAC5-C1EA8CF05C0B}"/>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9BEEE1E1-0DA5-445C-BA5E-98AA3B06B95D}"/>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DEFE6"/>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DF914B42-FE2F-4B35-80B5-CE992A3B7487}"/>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4개의 앞쪽 두 개</a:t>
            </a:r>
          </a:p>
        </p:txBody>
      </p:sp>
      <p:sp>
        <p:nvSpPr>
          <p:cNvPr id="24" name="where-from">
            <a:extLst>
              <a:ext uri="{FF2B5EF4-FFF2-40B4-BE49-F238E27FC236}">
                <a16:creationId xmlns:a16="http://schemas.microsoft.com/office/drawing/2014/main" id="{78AAB731-7BFC-46BF-8956-61E911A37B60}"/>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4개 [2,3,6,8]은 정렬 완료</a:t>
            </a:r>
          </a:p>
        </p:txBody>
      </p:sp>
      <p:sp>
        <p:nvSpPr>
          <p:cNvPr id="25" name="cursor-rule">
            <a:extLst>
              <a:ext uri="{FF2B5EF4-FFF2-40B4-BE49-F238E27FC236}">
                <a16:creationId xmlns:a16="http://schemas.microsoft.com/office/drawing/2014/main" id="{E690CDC4-2F80-4152-8F83-4778898A7DC7}"/>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9DA83347-A8F3-41A4-9676-C10F857A79A3}"/>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331326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A36164E5-7BA8-451D-8904-6E3724BA3229}"/>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5AE16C58-678D-4C1D-8EC8-E6BBC2BD40D2}"/>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10C052F8-F69A-4BCB-961E-40BB9920EC19}"/>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④ 병합 · 1번째 값 1 추가</a:t>
            </a:r>
          </a:p>
        </p:txBody>
      </p:sp>
      <p:sp>
        <p:nvSpPr>
          <p:cNvPr id="4" name="직사각형 3">
            <a:extLst>
              <a:ext uri="{FF2B5EF4-FFF2-40B4-BE49-F238E27FC236}">
                <a16:creationId xmlns:a16="http://schemas.microsoft.com/office/drawing/2014/main" id="{58A84CFC-97C2-42CD-9363-B1F387439D0C}"/>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2C7DB09F-7BC1-4571-82C2-71A3F8769799}"/>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7 &gt; 오른쪽 1 → 오른쪽의 1을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0 → 1. 사용하지 않은 쪽의 인덱스는 그대로입니다.</a:t>
            </a:r>
          </a:p>
        </p:txBody>
      </p:sp>
      <p:sp>
        <p:nvSpPr>
          <p:cNvPr id="6" name="footer">
            <a:extLst>
              <a:ext uri="{FF2B5EF4-FFF2-40B4-BE49-F238E27FC236}">
                <a16:creationId xmlns:a16="http://schemas.microsoft.com/office/drawing/2014/main" id="{CC37B6AA-6A05-4DDE-AA85-CCEEB2CD82DA}"/>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CC11EE15-4859-4EDD-B4FB-7C6718B982CF}"/>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24</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578ED01F-14B1-4362-A775-67E36D25DBF3}"/>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506C4D50-078A-4844-86A8-B3652A857CE9}"/>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7</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77F8504D-8717-4592-A8E7-D9B42E347832}"/>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137365B2-2187-4449-B0C8-0A5FB51AE816}"/>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D3AEF89C-35FC-4ED6-AD50-A76B8BA57044}"/>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64741238-9FF5-45B2-9CDA-1AFA1272DEE2}"/>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1</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4D25E9A2-004F-4361-8F2C-D3EF51006B2F}"/>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6A8BAA41-6BE0-4DF8-91EE-3B3C3820D2DE}"/>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720F6E46-412F-4C0A-9B74-0004309CEAF6}"/>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48A71872-0A15-4EB5-A3B6-927ED84C2084}"/>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1</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BF61C8F5-3A79-4857-AD47-CAA826D0146D}"/>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21D92736-ABA0-458F-B45A-4266EF474D6E}"/>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F8522B52-93F9-41FF-A1A0-CE1DD7746E8D}"/>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AEEDC456-CCFB-4A6F-84EC-5387D31CC1B7}"/>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4ECDA088-0DAA-4AD3-B00E-B8A53234B741}"/>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DEFE6"/>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D52A3577-FA5F-4208-971C-38C605A31DA3}"/>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4개의 앞쪽 두 개</a:t>
            </a:r>
          </a:p>
        </p:txBody>
      </p:sp>
      <p:sp>
        <p:nvSpPr>
          <p:cNvPr id="24" name="where-from">
            <a:extLst>
              <a:ext uri="{FF2B5EF4-FFF2-40B4-BE49-F238E27FC236}">
                <a16:creationId xmlns:a16="http://schemas.microsoft.com/office/drawing/2014/main" id="{D7BF1FFF-36AF-4CC6-944A-C1BBB4566028}"/>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4개 [2,3,6,8]은 정렬 완료</a:t>
            </a:r>
          </a:p>
        </p:txBody>
      </p:sp>
      <p:sp>
        <p:nvSpPr>
          <p:cNvPr id="25" name="cursor-rule">
            <a:extLst>
              <a:ext uri="{FF2B5EF4-FFF2-40B4-BE49-F238E27FC236}">
                <a16:creationId xmlns:a16="http://schemas.microsoft.com/office/drawing/2014/main" id="{03EAFC54-41E4-42B8-86B5-0AA156F6E1F8}"/>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6BF7D6EF-4083-4E0D-91E8-D7C1679B2F93}"/>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2866874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ection">
            <a:extLst>
              <a:ext uri="{FF2B5EF4-FFF2-40B4-BE49-F238E27FC236}">
                <a16:creationId xmlns:a16="http://schemas.microsoft.com/office/drawing/2014/main" id="{F6D92D76-B3C5-4717-B88F-5310E043FBD7}"/>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A03067CE-DA49-4F98-A678-1FC743EDAE05}"/>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C6ED1BCD-EA35-48A9-9A28-14FD19A32B6C}"/>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④ 병합 · 2번째 값 7 추가</a:t>
            </a:r>
          </a:p>
        </p:txBody>
      </p:sp>
      <p:sp>
        <p:nvSpPr>
          <p:cNvPr id="4" name="직사각형 3">
            <a:extLst>
              <a:ext uri="{FF2B5EF4-FFF2-40B4-BE49-F238E27FC236}">
                <a16:creationId xmlns:a16="http://schemas.microsoft.com/office/drawing/2014/main" id="{3F50C1EE-DCF6-43E4-96B0-D23D3B42794E}"/>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D7FBBB87-AB03-4896-B316-4636E6F77474}"/>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오른쪽을 다 사용했습니다. 남은 왼쪽의 7을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0 → 1. 이번 병합의 정렬 결과가 완성되었습니다.</a:t>
            </a:r>
          </a:p>
        </p:txBody>
      </p:sp>
      <p:sp>
        <p:nvSpPr>
          <p:cNvPr id="6" name="footer">
            <a:extLst>
              <a:ext uri="{FF2B5EF4-FFF2-40B4-BE49-F238E27FC236}">
                <a16:creationId xmlns:a16="http://schemas.microsoft.com/office/drawing/2014/main" id="{4A3ABF14-75FC-466F-9292-DF4E33EEAB4B}"/>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6FAA4B2F-F117-4C3F-8C01-75C203BAF91D}"/>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25</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8BEE182D-0701-4EA8-9CE4-689FF3231807}"/>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563B946F-514E-419D-9FCD-72742815E8DC}"/>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7</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BEFCDCB5-B581-4D3E-A6BE-4B3EF384D5FD}"/>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done">
            <a:extLst>
              <a:ext uri="{FF2B5EF4-FFF2-40B4-BE49-F238E27FC236}">
                <a16:creationId xmlns:a16="http://schemas.microsoft.com/office/drawing/2014/main" id="{E0BD3F1F-242F-49E2-A25C-1E288DD78A5B}"/>
              </a:ext>
            </a:extLst>
          </p:cNvPr>
          <p:cNvSpPr>
            <a:spLocks noGrp="1"/>
          </p:cNvSpPr>
          <p:nvPr/>
        </p:nvSpPr>
        <p:spPr>
          <a:xfrm>
            <a:off x="1809750" y="37147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i = 1 · 사용 완료</a:t>
            </a:r>
          </a:p>
        </p:txBody>
      </p:sp>
      <p:sp>
        <p:nvSpPr>
          <p:cNvPr id="12" name="오른쪽 right">
            <a:extLst>
              <a:ext uri="{FF2B5EF4-FFF2-40B4-BE49-F238E27FC236}">
                <a16:creationId xmlns:a16="http://schemas.microsoft.com/office/drawing/2014/main" id="{9FF02D06-A452-4375-A48C-AD5D3226ECAB}"/>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94104B6D-E6F4-409D-9ACF-0E4D0670613E}"/>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1</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26C316C2-0954-41A8-B028-7EBF7A7F2130}"/>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8D25AFA1-72A3-4419-808B-D71BA222F3BB}"/>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246FD770-C239-4CEB-A715-446B493A64D5}"/>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5B102FE7-9C5E-4898-ABE4-B62C6FB07AB3}"/>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7</a:t>
                      </a:r>
                    </a:p>
                  </a:txBody>
                  <a:tcPr anchor="ctr">
                    <a:solidFill>
                      <a:srgbClr val="E4E4E4"/>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BBAF4C1F-D7F9-4737-94A5-77B50853D4E2}"/>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A8AE647D-BB7C-4E65-85F1-3FCB6ADDD5D3}"/>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1645B9CB-1EBC-4440-95D7-E160E0FCFD1C}"/>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5EE8C521-1A71-492D-9186-3E03F7F07797}"/>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8ECEFD63-739C-42EF-B5AF-44F77648CA4D}"/>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DEFE6"/>
                    </a:solidFill>
                  </a:tcPr>
                </a:tc>
                <a:tc>
                  <a:txBody>
                    <a:bodyPr/>
                    <a:lstStyle/>
                    <a:p>
                      <a:pPr algn="ctr"/>
                      <a:r>
                        <a:rPr sz="1650" b="1">
                          <a:solidFill>
                            <a:srgbClr val="777777"/>
                          </a:solidFill>
                          <a:latin typeface="Consolas"/>
                          <a:ea typeface="Consolas"/>
                          <a:cs typeface="Consolas"/>
                        </a:rPr>
                        <a:t>5</a:t>
                      </a:r>
                    </a:p>
                  </a:txBody>
                  <a:tcPr anchor="ctr">
                    <a:solidFill>
                      <a:srgbClr val="F8F8F8"/>
                    </a:solidFill>
                  </a:tcPr>
                </a:tc>
                <a:tc>
                  <a:txBody>
                    <a:bodyPr/>
                    <a:lstStyle/>
                    <a:p>
                      <a:pPr algn="ctr"/>
                      <a:r>
                        <a:rPr sz="1650" b="1">
                          <a:solidFill>
                            <a:srgbClr val="777777"/>
                          </a:solidFill>
                          <a:latin typeface="Consolas"/>
                          <a:ea typeface="Consolas"/>
                          <a:cs typeface="Consolas"/>
                        </a:rPr>
                        <a:t>4</a:t>
                      </a:r>
                    </a:p>
                  </a:txBody>
                  <a:tcPr anchor="ctr">
                    <a:solidFill>
                      <a:srgbClr val="F8F8F8"/>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5851543C-5145-491D-B3C4-8FAB9E33151E}"/>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4개의 앞쪽 두 개</a:t>
            </a:r>
          </a:p>
        </p:txBody>
      </p:sp>
      <p:sp>
        <p:nvSpPr>
          <p:cNvPr id="24" name="result-caption">
            <a:extLst>
              <a:ext uri="{FF2B5EF4-FFF2-40B4-BE49-F238E27FC236}">
                <a16:creationId xmlns:a16="http://schemas.microsoft.com/office/drawing/2014/main" id="{AF43D90F-3560-4832-8C73-80804343BC1E}"/>
              </a:ext>
            </a:extLst>
          </p:cNvPr>
          <p:cNvSpPr>
            <a:spLocks noGrp="1"/>
          </p:cNvSpPr>
          <p:nvPr/>
        </p:nvSpPr>
        <p:spPr>
          <a:xfrm>
            <a:off x="7905750" y="4371975"/>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이번 병합의 정렬 결과</a:t>
            </a:r>
          </a:p>
        </p:txBody>
      </p:sp>
      <p:sp>
        <p:nvSpPr>
          <p:cNvPr id="25" name="completed">
            <a:extLst>
              <a:ext uri="{FF2B5EF4-FFF2-40B4-BE49-F238E27FC236}">
                <a16:creationId xmlns:a16="http://schemas.microsoft.com/office/drawing/2014/main" id="{7F1AEECE-9C47-4A52-A281-4A2E61E56DBB}"/>
              </a:ext>
            </a:extLst>
          </p:cNvPr>
          <p:cNvSpPr>
            <a:spLocks noGrp="1"/>
          </p:cNvSpPr>
          <p:nvPr/>
        </p:nvSpPr>
        <p:spPr>
          <a:xfrm>
            <a:off x="7905750" y="4743450"/>
            <a:ext cx="3667125" cy="342900"/>
          </a:xfrm>
          <a:prstGeom prst="rect">
            <a:avLst/>
          </a:prstGeom>
          <a:noFill/>
          <a:ln w="0">
            <a:noFill/>
          </a:ln>
        </p:spPr>
        <p:txBody>
          <a:bodyPr wrap="none" lIns="0" tIns="0" rIns="0" bIns="0" anchor="t">
            <a:noAutofit/>
          </a:bodyPr>
          <a:lstStyle>
            <a:defPPr algn="l">
              <a:defRPr sz="2025" b="1">
                <a:solidFill>
                  <a:srgbClr val="151515"/>
                </a:solidFill>
                <a:latin typeface="Consolas"/>
                <a:ea typeface="Consolas"/>
                <a:cs typeface="Consolas"/>
              </a:defRPr>
            </a:defPPr>
          </a:lstStyle>
          <a:p>
            <a:pPr algn="l">
              <a:lnSpc>
                <a:spcPct val="106000"/>
              </a:lnSpc>
              <a:buNone/>
              <a:defRPr sz="2025" b="1">
                <a:solidFill>
                  <a:srgbClr val="151515"/>
                </a:solidFill>
                <a:latin typeface="Consolas"/>
                <a:ea typeface="Consolas"/>
                <a:cs typeface="Consolas"/>
              </a:defRPr>
            </a:pPr>
            <a:r>
              <a:rPr sz="2025" b="1">
                <a:solidFill>
                  <a:srgbClr val="151515"/>
                </a:solidFill>
                <a:latin typeface="Consolas"/>
                <a:ea typeface="Consolas"/>
                <a:cs typeface="Consolas"/>
              </a:rPr>
              <a:t>[1, 7]</a:t>
            </a:r>
          </a:p>
        </p:txBody>
      </p:sp>
      <p:sp>
        <p:nvSpPr>
          <p:cNvPr id="26" name="next-merge">
            <a:extLst>
              <a:ext uri="{FF2B5EF4-FFF2-40B4-BE49-F238E27FC236}">
                <a16:creationId xmlns:a16="http://schemas.microsoft.com/office/drawing/2014/main" id="{5E32DC1E-4859-4DE3-836E-242795B601F4}"/>
              </a:ext>
            </a:extLst>
          </p:cNvPr>
          <p:cNvSpPr>
            <a:spLocks noGrp="1"/>
          </p:cNvSpPr>
          <p:nvPr/>
        </p:nvSpPr>
        <p:spPr>
          <a:xfrm>
            <a:off x="7905750" y="5238750"/>
            <a:ext cx="3667125" cy="342900"/>
          </a:xfrm>
          <a:prstGeom prst="rect">
            <a:avLst/>
          </a:prstGeom>
          <a:noFill/>
          <a:ln w="0">
            <a:noFill/>
          </a:ln>
        </p:spPr>
        <p:txBody>
          <a:bodyPr wrap="none" lIns="0" tIns="0" rIns="0" bIns="0" anchor="t">
            <a:noAutofit/>
          </a:bodyPr>
          <a:lstStyle>
            <a:defPPr algn="l">
              <a:defRPr sz="1650" b="0">
                <a:solidFill>
                  <a:srgbClr val="151515"/>
                </a:solidFill>
                <a:latin typeface="Malgun Gothic"/>
                <a:ea typeface="Malgun Gothic"/>
                <a:cs typeface="Malgun Gothic"/>
              </a:defRPr>
            </a:defPPr>
          </a:lstStyle>
          <a:p>
            <a:pPr algn="l">
              <a:lnSpc>
                <a:spcPct val="106000"/>
              </a:lnSpc>
              <a:buNone/>
              <a:defRPr sz="1650" b="0">
                <a:solidFill>
                  <a:srgbClr val="151515"/>
                </a:solidFill>
                <a:latin typeface="Malgun Gothic"/>
                <a:ea typeface="Malgun Gothic"/>
                <a:cs typeface="Malgun Gothic"/>
              </a:defRPr>
            </a:pPr>
            <a:r>
              <a:rPr sz="1650" b="0">
                <a:solidFill>
                  <a:srgbClr val="151515"/>
                </a:solidFill>
                <a:latin typeface="Malgun Gothic"/>
                <a:ea typeface="Malgun Gothic"/>
                <a:cs typeface="Malgun Gothic"/>
              </a:rPr>
              <a:t>⑥에서 왼쪽 입력으로 사용</a:t>
            </a:r>
          </a:p>
        </p:txBody>
      </p:sp>
      <p:sp>
        <p:nvSpPr>
          <p:cNvPr id="27" name="trace-rule">
            <a:extLst>
              <a:ext uri="{FF2B5EF4-FFF2-40B4-BE49-F238E27FC236}">
                <a16:creationId xmlns:a16="http://schemas.microsoft.com/office/drawing/2014/main" id="{7356A885-08FB-44E4-A815-37053644C473}"/>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1631258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C2D6E03A-02B3-4134-857A-7A6392117EF4}"/>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AF05EBAF-E733-4735-838D-67223F76E978}"/>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55AA9026-DD01-4431-9D49-BFD44CAD5207}"/>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⑤ [5]과 [4] 병합 · 시작</a:t>
            </a:r>
          </a:p>
        </p:txBody>
      </p:sp>
      <p:sp>
        <p:nvSpPr>
          <p:cNvPr id="4" name="직사각형 3">
            <a:extLst>
              <a:ext uri="{FF2B5EF4-FFF2-40B4-BE49-F238E27FC236}">
                <a16:creationId xmlns:a16="http://schemas.microsoft.com/office/drawing/2014/main" id="{B25A19A3-CBCB-412F-AABE-1F254E7676C4}"/>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2B3407EA-60BD-4478-BD66-EA3D02737DA8}"/>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 = 0, j = 0. 왼쪽 5과 오른쪽 4을 비교합니다.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정렬된 두 결과를 받아 작은 값부터 새 결과에 넣습니다.</a:t>
            </a:r>
          </a:p>
        </p:txBody>
      </p:sp>
      <p:sp>
        <p:nvSpPr>
          <p:cNvPr id="6" name="footer">
            <a:extLst>
              <a:ext uri="{FF2B5EF4-FFF2-40B4-BE49-F238E27FC236}">
                <a16:creationId xmlns:a16="http://schemas.microsoft.com/office/drawing/2014/main" id="{1052BA16-3A25-40C4-B768-29F185C217B3}"/>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B2C6C86F-5327-4435-9C22-B4A3965BF614}"/>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26</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A13BCDC3-9661-4415-B4B7-2208DCDD6775}"/>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7F4904A0-BBFC-4C27-BD5C-F4BAE10624E0}"/>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5</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AB02EF82-4404-4E57-8413-8BA38FC28E0A}"/>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7E6D9048-7729-4A0D-AD97-8614C0FA297C}"/>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6BC55651-EF8F-4D6A-B42D-89405A285E1B}"/>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9BFD3C92-53E2-456A-ABBA-F01F5A8D7B7E}"/>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CBDAE6AF-B96C-4D54-94B1-BD43E12FEDA8}"/>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pointer">
            <a:extLst>
              <a:ext uri="{FF2B5EF4-FFF2-40B4-BE49-F238E27FC236}">
                <a16:creationId xmlns:a16="http://schemas.microsoft.com/office/drawing/2014/main" id="{6408CE64-E5EE-4B85-8743-0B70FF2834C2}"/>
              </a:ext>
            </a:extLst>
          </p:cNvPr>
          <p:cNvSpPr>
            <a:spLocks noGrp="1"/>
          </p:cNvSpPr>
          <p:nvPr/>
        </p:nvSpPr>
        <p:spPr>
          <a:xfrm>
            <a:off x="18097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6" name="out-label">
            <a:extLst>
              <a:ext uri="{FF2B5EF4-FFF2-40B4-BE49-F238E27FC236}">
                <a16:creationId xmlns:a16="http://schemas.microsoft.com/office/drawing/2014/main" id="{3C36DD61-27C8-40BF-8007-1DD6F121AD0C}"/>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B99AA5EE-E1CC-4FF4-B1C0-B6CA258EE7EC}"/>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6F501CF5-B7C4-4140-90A1-0A2F93FBA1B4}"/>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A4F06D39-5637-4C6F-967A-A753411E5941}"/>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CDECFB23-0BBC-4C8C-A7D4-9FAA6195EBAD}"/>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689EB7C9-C5ED-4CF0-8758-BE3BCBA030DE}"/>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D2F918ED-0CA0-47AE-A476-0EC100DC3543}"/>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151515"/>
                          </a:solidFill>
                          <a:latin typeface="Consolas"/>
                          <a:ea typeface="Consolas"/>
                          <a:cs typeface="Consolas"/>
                        </a:rPr>
                        <a:t>5</a:t>
                      </a:r>
                    </a:p>
                  </a:txBody>
                  <a:tcPr anchor="ctr">
                    <a:solidFill>
                      <a:srgbClr val="DCECFB"/>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8916B816-1CB8-428A-9644-173B6F8216A2}"/>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4개의 뒤쪽 두 개</a:t>
            </a:r>
          </a:p>
        </p:txBody>
      </p:sp>
      <p:sp>
        <p:nvSpPr>
          <p:cNvPr id="24" name="where-from">
            <a:extLst>
              <a:ext uri="{FF2B5EF4-FFF2-40B4-BE49-F238E27FC236}">
                <a16:creationId xmlns:a16="http://schemas.microsoft.com/office/drawing/2014/main" id="{2CE60C60-48D5-4709-8647-5B6F4E274A7F}"/>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④의 [1,7]은 준비된 채 기다립니다.</a:t>
            </a:r>
          </a:p>
        </p:txBody>
      </p:sp>
      <p:sp>
        <p:nvSpPr>
          <p:cNvPr id="25" name="cursor-rule">
            <a:extLst>
              <a:ext uri="{FF2B5EF4-FFF2-40B4-BE49-F238E27FC236}">
                <a16:creationId xmlns:a16="http://schemas.microsoft.com/office/drawing/2014/main" id="{1A9A316B-A174-4770-91DE-6DABF472E956}"/>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F3025066-74E8-46BE-8E3E-55E9EA5DC1F8}"/>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684453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ection">
            <a:extLst>
              <a:ext uri="{FF2B5EF4-FFF2-40B4-BE49-F238E27FC236}">
                <a16:creationId xmlns:a16="http://schemas.microsoft.com/office/drawing/2014/main" id="{05D2C18D-D8DE-4DA6-AE84-B2E0DAA2F7E7}"/>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A702E657-78DA-437D-8C72-DCA73E368E79}"/>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B0D0C322-7C58-4C1C-B04E-605A4F9D78B3}"/>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⑤ 병합 · 1번째 값 4 추가</a:t>
            </a:r>
          </a:p>
        </p:txBody>
      </p:sp>
      <p:sp>
        <p:nvSpPr>
          <p:cNvPr id="4" name="직사각형 3">
            <a:extLst>
              <a:ext uri="{FF2B5EF4-FFF2-40B4-BE49-F238E27FC236}">
                <a16:creationId xmlns:a16="http://schemas.microsoft.com/office/drawing/2014/main" id="{D7724C43-1668-4D7E-9125-3775480146AD}"/>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68679FDE-5875-472A-9529-FE5F104CE4A6}"/>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5 &gt; 오른쪽 4 → 오른쪽의 4을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0 → 1. 사용하지 않은 쪽의 인덱스는 그대로입니다.</a:t>
            </a:r>
          </a:p>
        </p:txBody>
      </p:sp>
      <p:sp>
        <p:nvSpPr>
          <p:cNvPr id="6" name="footer">
            <a:extLst>
              <a:ext uri="{FF2B5EF4-FFF2-40B4-BE49-F238E27FC236}">
                <a16:creationId xmlns:a16="http://schemas.microsoft.com/office/drawing/2014/main" id="{5CF0D773-7C33-4490-89C5-C19C22FF5114}"/>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A26506CC-1085-41D8-9B8B-1A1B4F4AFC3B}"/>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27</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82286052-E45E-4BDF-9F44-8A10686DE6F7}"/>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F4C60119-E7AA-4A20-B73C-2CA9479CDAD0}"/>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151515"/>
                          </a:solidFill>
                          <a:latin typeface="Consolas"/>
                          <a:ea typeface="Consolas"/>
                          <a:cs typeface="Consolas"/>
                        </a:rPr>
                        <a:t>5</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5750C867-996A-46BF-BEF4-FB0E49AF2C4B}"/>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pointer">
            <a:extLst>
              <a:ext uri="{FF2B5EF4-FFF2-40B4-BE49-F238E27FC236}">
                <a16:creationId xmlns:a16="http://schemas.microsoft.com/office/drawing/2014/main" id="{534981EE-BEEE-4FF0-96FB-4D2258D9674B}"/>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2" name="오른쪽 right">
            <a:extLst>
              <a:ext uri="{FF2B5EF4-FFF2-40B4-BE49-F238E27FC236}">
                <a16:creationId xmlns:a16="http://schemas.microsoft.com/office/drawing/2014/main" id="{907B3BA5-AC40-4DFF-9652-0ECBC3601972}"/>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E07227AA-906D-4341-88CA-7DA7D9BA63EA}"/>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4</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124B794E-A189-4079-9025-604CB49F2ABE}"/>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B672B7EA-5199-409D-9C53-F83ADA079197}"/>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AFB4E757-235E-40FC-ACF2-30A4F70D9D4E}"/>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1D94F857-54F2-4972-91D3-E2E41CFF770B}"/>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4</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424FF192-390F-4C78-929A-E528D645F5F3}"/>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DA30E0E1-14D8-408C-BEBD-8CE94F2CC442}"/>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86E21260-1E24-40D1-BA3D-ECD9C8CCED95}"/>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5B529318-F240-4997-87A8-11C650688688}"/>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BDDA1513-22D3-49DC-AB2D-F25F3C75B452}"/>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151515"/>
                          </a:solidFill>
                          <a:latin typeface="Consolas"/>
                          <a:ea typeface="Consolas"/>
                          <a:cs typeface="Consolas"/>
                        </a:rPr>
                        <a:t>5</a:t>
                      </a:r>
                    </a:p>
                  </a:txBody>
                  <a:tcPr anchor="ctr">
                    <a:solidFill>
                      <a:srgbClr val="DCECFB"/>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8E832C0D-F66F-469A-8CF4-BA2B426E94F2}"/>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4개의 뒤쪽 두 개</a:t>
            </a:r>
          </a:p>
        </p:txBody>
      </p:sp>
      <p:sp>
        <p:nvSpPr>
          <p:cNvPr id="24" name="where-from">
            <a:extLst>
              <a:ext uri="{FF2B5EF4-FFF2-40B4-BE49-F238E27FC236}">
                <a16:creationId xmlns:a16="http://schemas.microsoft.com/office/drawing/2014/main" id="{C2C1CF2D-922D-465B-AFD1-3AE90F038AAD}"/>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④의 [1,7]은 준비된 채 기다립니다.</a:t>
            </a:r>
          </a:p>
        </p:txBody>
      </p:sp>
      <p:sp>
        <p:nvSpPr>
          <p:cNvPr id="25" name="cursor-rule">
            <a:extLst>
              <a:ext uri="{FF2B5EF4-FFF2-40B4-BE49-F238E27FC236}">
                <a16:creationId xmlns:a16="http://schemas.microsoft.com/office/drawing/2014/main" id="{33752F31-AEAD-4CDE-9E99-39CA808474C5}"/>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26" name="trace-rule">
            <a:extLst>
              <a:ext uri="{FF2B5EF4-FFF2-40B4-BE49-F238E27FC236}">
                <a16:creationId xmlns:a16="http://schemas.microsoft.com/office/drawing/2014/main" id="{7DDF391C-27A9-488D-9752-20321493B968}"/>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132548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ection">
            <a:extLst>
              <a:ext uri="{FF2B5EF4-FFF2-40B4-BE49-F238E27FC236}">
                <a16:creationId xmlns:a16="http://schemas.microsoft.com/office/drawing/2014/main" id="{6B6C6787-5072-4B5A-8042-D8029FE1BCB0}"/>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77AC04E9-A4AC-4AA7-8B4B-A0F6C28853B7}"/>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EDD50C57-619E-4610-BD31-1035982BFE06}"/>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⑤ 병합 · 2번째 값 5 추가</a:t>
            </a:r>
          </a:p>
        </p:txBody>
      </p:sp>
      <p:sp>
        <p:nvSpPr>
          <p:cNvPr id="4" name="직사각형 3">
            <a:extLst>
              <a:ext uri="{FF2B5EF4-FFF2-40B4-BE49-F238E27FC236}">
                <a16:creationId xmlns:a16="http://schemas.microsoft.com/office/drawing/2014/main" id="{5ACE0E16-669D-4AF5-BA0C-01793819D9FF}"/>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6B363E4A-EB34-4F99-9329-404BE3BE9E4E}"/>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오른쪽을 다 사용했습니다. 남은 왼쪽의 5을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0 → 1. 이번 병합의 정렬 결과가 완성되었습니다.</a:t>
            </a:r>
          </a:p>
        </p:txBody>
      </p:sp>
      <p:sp>
        <p:nvSpPr>
          <p:cNvPr id="6" name="footer">
            <a:extLst>
              <a:ext uri="{FF2B5EF4-FFF2-40B4-BE49-F238E27FC236}">
                <a16:creationId xmlns:a16="http://schemas.microsoft.com/office/drawing/2014/main" id="{0FF0D1F5-F65F-4D2B-949A-E45F45028DCD}"/>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1B0BB51A-38FD-4521-8145-15745F277B0D}"/>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28</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B53ABC4B-0251-453A-B0F7-5A9E024A6611}"/>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A54C345B-9B06-405F-817F-2CA8EA0C1E00}"/>
              </a:ext>
            </a:extLst>
          </p:cNvPr>
          <p:cNvGraphicFramePr/>
          <p:nvPr/>
        </p:nvGraphicFramePr>
        <p:xfrm>
          <a:off x="1809750" y="29527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5</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63570472-028D-4699-A574-7208AFCAF54B}"/>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done">
            <a:extLst>
              <a:ext uri="{FF2B5EF4-FFF2-40B4-BE49-F238E27FC236}">
                <a16:creationId xmlns:a16="http://schemas.microsoft.com/office/drawing/2014/main" id="{F9AF23FC-6B4D-4ABF-B299-41382278EE91}"/>
              </a:ext>
            </a:extLst>
          </p:cNvPr>
          <p:cNvSpPr>
            <a:spLocks noGrp="1"/>
          </p:cNvSpPr>
          <p:nvPr/>
        </p:nvSpPr>
        <p:spPr>
          <a:xfrm>
            <a:off x="1809750" y="37147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i = 1 · 사용 완료</a:t>
            </a:r>
          </a:p>
        </p:txBody>
      </p:sp>
      <p:sp>
        <p:nvSpPr>
          <p:cNvPr id="12" name="오른쪽 right">
            <a:extLst>
              <a:ext uri="{FF2B5EF4-FFF2-40B4-BE49-F238E27FC236}">
                <a16:creationId xmlns:a16="http://schemas.microsoft.com/office/drawing/2014/main" id="{500C5DE1-20DF-46F6-9496-01826AB4890B}"/>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3" name="표 12">
            <a:extLst>
              <a:ext uri="{FF2B5EF4-FFF2-40B4-BE49-F238E27FC236}">
                <a16:creationId xmlns:a16="http://schemas.microsoft.com/office/drawing/2014/main" id="{59624182-911B-4D39-9E23-172764E59BA1}"/>
              </a:ext>
            </a:extLst>
          </p:cNvPr>
          <p:cNvGraphicFramePr/>
          <p:nvPr/>
        </p:nvGraphicFramePr>
        <p:xfrm>
          <a:off x="1809750" y="4019550"/>
          <a:ext cx="1066800" cy="495300"/>
        </p:xfrm>
        <a:graphic>
          <a:graphicData uri="http://schemas.openxmlformats.org/drawingml/2006/table">
            <a:tbl>
              <a:tblPr/>
              <a:tblGrid>
                <a:gridCol w="1066800">
                  <a:extLst>
                    <a:ext uri="{9D8B030D-6E8A-4147-A177-3AD203B41FA5}">
                      <a16:colId xmlns:a16="http://schemas.microsoft.com/office/drawing/2014/main" val="20000"/>
                    </a:ext>
                  </a:extLst>
                </a:gridCol>
              </a:tblGrid>
              <a:tr h="495300">
                <a:tc>
                  <a:txBody>
                    <a:bodyPr/>
                    <a:lstStyle/>
                    <a:p>
                      <a:pPr algn="ctr"/>
                      <a:r>
                        <a:rPr sz="2250" b="1">
                          <a:solidFill>
                            <a:srgbClr val="777777"/>
                          </a:solidFill>
                          <a:latin typeface="Consolas"/>
                          <a:ea typeface="Consolas"/>
                          <a:cs typeface="Consolas"/>
                        </a:rPr>
                        <a:t>4</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4" name="j-index-0">
            <a:extLst>
              <a:ext uri="{FF2B5EF4-FFF2-40B4-BE49-F238E27FC236}">
                <a16:creationId xmlns:a16="http://schemas.microsoft.com/office/drawing/2014/main" id="{F1EA6E99-98F0-4204-9A23-D91EEC2A2896}"/>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5" name="j-done">
            <a:extLst>
              <a:ext uri="{FF2B5EF4-FFF2-40B4-BE49-F238E27FC236}">
                <a16:creationId xmlns:a16="http://schemas.microsoft.com/office/drawing/2014/main" id="{E63048FB-A528-4FA4-97C2-F2358A4F2671}"/>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1 · 사용 완료</a:t>
            </a:r>
          </a:p>
        </p:txBody>
      </p:sp>
      <p:sp>
        <p:nvSpPr>
          <p:cNvPr id="16" name="out-label">
            <a:extLst>
              <a:ext uri="{FF2B5EF4-FFF2-40B4-BE49-F238E27FC236}">
                <a16:creationId xmlns:a16="http://schemas.microsoft.com/office/drawing/2014/main" id="{5C86775B-FA07-48CF-B6A3-AF492527916D}"/>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7" name="표 16">
            <a:extLst>
              <a:ext uri="{FF2B5EF4-FFF2-40B4-BE49-F238E27FC236}">
                <a16:creationId xmlns:a16="http://schemas.microsoft.com/office/drawing/2014/main" id="{F8AD6619-4CD6-4FA2-9602-2CF7CCD76677}"/>
              </a:ext>
            </a:extLst>
          </p:cNvPr>
          <p:cNvGraphicFramePr/>
          <p:nvPr/>
        </p:nvGraphicFramePr>
        <p:xfrm>
          <a:off x="1809750" y="50863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4</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E4E4E4"/>
                    </a:solidFill>
                  </a:tcPr>
                </a:tc>
                <a:extLst>
                  <a:ext uri="{0D108BD9-81ED-4DB2-BD59-A6C34878D82A}">
                    <a16:rowId xmlns:a16="http://schemas.microsoft.com/office/drawing/2014/main" val="10000"/>
                  </a:ext>
                </a:extLst>
              </a:tr>
            </a:tbl>
          </a:graphicData>
        </a:graphic>
      </p:graphicFrame>
      <p:sp>
        <p:nvSpPr>
          <p:cNvPr id="18" name="out-index-0">
            <a:extLst>
              <a:ext uri="{FF2B5EF4-FFF2-40B4-BE49-F238E27FC236}">
                <a16:creationId xmlns:a16="http://schemas.microsoft.com/office/drawing/2014/main" id="{D09AE4B5-BCF4-41F7-AF85-E38E56D09F96}"/>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9" name="out-index-1">
            <a:extLst>
              <a:ext uri="{FF2B5EF4-FFF2-40B4-BE49-F238E27FC236}">
                <a16:creationId xmlns:a16="http://schemas.microsoft.com/office/drawing/2014/main" id="{6D3C3F68-B416-46A4-8020-37D26D7078DD}"/>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0" name="직사각형 19">
            <a:extLst>
              <a:ext uri="{FF2B5EF4-FFF2-40B4-BE49-F238E27FC236}">
                <a16:creationId xmlns:a16="http://schemas.microsoft.com/office/drawing/2014/main" id="{4118FCB9-5198-4245-903F-A076E22F3ED1}"/>
              </a:ext>
            </a:extLst>
          </p:cNvPr>
          <p:cNvSpPr>
            <a:spLocks noGrp="1"/>
          </p:cNvSpPr>
          <p:nvPr/>
        </p:nvSpPr>
        <p:spPr>
          <a:xfrm>
            <a:off x="7524750" y="2876550"/>
            <a:ext cx="9525" cy="2933700"/>
          </a:xfrm>
          <a:prstGeom prst="rect">
            <a:avLst/>
          </a:prstGeom>
          <a:solidFill>
            <a:srgbClr val="CCCCCC"/>
          </a:solidFill>
          <a:ln w="0">
            <a:noFill/>
          </a:ln>
        </p:spPr>
      </p:sp>
      <p:sp>
        <p:nvSpPr>
          <p:cNvPr id="21" name="scope-caption">
            <a:extLst>
              <a:ext uri="{FF2B5EF4-FFF2-40B4-BE49-F238E27FC236}">
                <a16:creationId xmlns:a16="http://schemas.microsoft.com/office/drawing/2014/main" id="{ECF6CA41-7EBE-4A47-8E6C-638B8C37870C}"/>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2" name="표 21">
            <a:extLst>
              <a:ext uri="{FF2B5EF4-FFF2-40B4-BE49-F238E27FC236}">
                <a16:creationId xmlns:a16="http://schemas.microsoft.com/office/drawing/2014/main" id="{49F6A041-81E8-493E-A1E5-EDF1F75CBF8C}"/>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777777"/>
                          </a:solidFill>
                          <a:latin typeface="Consolas"/>
                          <a:ea typeface="Consolas"/>
                          <a:cs typeface="Consolas"/>
                        </a:rPr>
                        <a:t>7</a:t>
                      </a:r>
                    </a:p>
                  </a:txBody>
                  <a:tcPr anchor="ctr">
                    <a:solidFill>
                      <a:srgbClr val="F8F8F8"/>
                    </a:solidFill>
                  </a:tcPr>
                </a:tc>
                <a:tc>
                  <a:txBody>
                    <a:bodyPr/>
                    <a:lstStyle/>
                    <a:p>
                      <a:pPr algn="ctr"/>
                      <a:r>
                        <a:rPr sz="1650" b="1">
                          <a:solidFill>
                            <a:srgbClr val="777777"/>
                          </a:solidFill>
                          <a:latin typeface="Consolas"/>
                          <a:ea typeface="Consolas"/>
                          <a:cs typeface="Consolas"/>
                        </a:rPr>
                        <a:t>1</a:t>
                      </a:r>
                    </a:p>
                  </a:txBody>
                  <a:tcPr anchor="ctr">
                    <a:solidFill>
                      <a:srgbClr val="F8F8F8"/>
                    </a:solidFill>
                  </a:tcPr>
                </a:tc>
                <a:tc>
                  <a:txBody>
                    <a:bodyPr/>
                    <a:lstStyle/>
                    <a:p>
                      <a:pPr algn="ctr"/>
                      <a:r>
                        <a:rPr sz="1650" b="1">
                          <a:solidFill>
                            <a:srgbClr val="151515"/>
                          </a:solidFill>
                          <a:latin typeface="Consolas"/>
                          <a:ea typeface="Consolas"/>
                          <a:cs typeface="Consolas"/>
                        </a:rPr>
                        <a:t>5</a:t>
                      </a:r>
                    </a:p>
                  </a:txBody>
                  <a:tcPr anchor="ctr">
                    <a:solidFill>
                      <a:srgbClr val="DCECFB"/>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3" name="scope">
            <a:extLst>
              <a:ext uri="{FF2B5EF4-FFF2-40B4-BE49-F238E27FC236}">
                <a16:creationId xmlns:a16="http://schemas.microsoft.com/office/drawing/2014/main" id="{C7DA7550-275A-42B1-B696-6AA8B2C84A1A}"/>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4개의 뒤쪽 두 개</a:t>
            </a:r>
          </a:p>
        </p:txBody>
      </p:sp>
      <p:sp>
        <p:nvSpPr>
          <p:cNvPr id="24" name="result-caption">
            <a:extLst>
              <a:ext uri="{FF2B5EF4-FFF2-40B4-BE49-F238E27FC236}">
                <a16:creationId xmlns:a16="http://schemas.microsoft.com/office/drawing/2014/main" id="{72647C61-3F25-4E20-BD18-A45C33EAFB1C}"/>
              </a:ext>
            </a:extLst>
          </p:cNvPr>
          <p:cNvSpPr>
            <a:spLocks noGrp="1"/>
          </p:cNvSpPr>
          <p:nvPr/>
        </p:nvSpPr>
        <p:spPr>
          <a:xfrm>
            <a:off x="7905750" y="4371975"/>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이번 병합의 정렬 결과</a:t>
            </a:r>
          </a:p>
        </p:txBody>
      </p:sp>
      <p:sp>
        <p:nvSpPr>
          <p:cNvPr id="25" name="completed">
            <a:extLst>
              <a:ext uri="{FF2B5EF4-FFF2-40B4-BE49-F238E27FC236}">
                <a16:creationId xmlns:a16="http://schemas.microsoft.com/office/drawing/2014/main" id="{0C74D252-7679-4CAF-A4F4-6CD65E88BA5E}"/>
              </a:ext>
            </a:extLst>
          </p:cNvPr>
          <p:cNvSpPr>
            <a:spLocks noGrp="1"/>
          </p:cNvSpPr>
          <p:nvPr/>
        </p:nvSpPr>
        <p:spPr>
          <a:xfrm>
            <a:off x="7905750" y="4743450"/>
            <a:ext cx="3667125" cy="342900"/>
          </a:xfrm>
          <a:prstGeom prst="rect">
            <a:avLst/>
          </a:prstGeom>
          <a:noFill/>
          <a:ln w="0">
            <a:noFill/>
          </a:ln>
        </p:spPr>
        <p:txBody>
          <a:bodyPr wrap="none" lIns="0" tIns="0" rIns="0" bIns="0" anchor="t">
            <a:noAutofit/>
          </a:bodyPr>
          <a:lstStyle>
            <a:defPPr algn="l">
              <a:defRPr sz="2025" b="1">
                <a:solidFill>
                  <a:srgbClr val="151515"/>
                </a:solidFill>
                <a:latin typeface="Consolas"/>
                <a:ea typeface="Consolas"/>
                <a:cs typeface="Consolas"/>
              </a:defRPr>
            </a:defPPr>
          </a:lstStyle>
          <a:p>
            <a:pPr algn="l">
              <a:lnSpc>
                <a:spcPct val="106000"/>
              </a:lnSpc>
              <a:buNone/>
              <a:defRPr sz="2025" b="1">
                <a:solidFill>
                  <a:srgbClr val="151515"/>
                </a:solidFill>
                <a:latin typeface="Consolas"/>
                <a:ea typeface="Consolas"/>
                <a:cs typeface="Consolas"/>
              </a:defRPr>
            </a:pPr>
            <a:r>
              <a:rPr sz="2025" b="1">
                <a:solidFill>
                  <a:srgbClr val="151515"/>
                </a:solidFill>
                <a:latin typeface="Consolas"/>
                <a:ea typeface="Consolas"/>
                <a:cs typeface="Consolas"/>
              </a:rPr>
              <a:t>[4, 5]</a:t>
            </a:r>
          </a:p>
        </p:txBody>
      </p:sp>
      <p:sp>
        <p:nvSpPr>
          <p:cNvPr id="26" name="next-merge">
            <a:extLst>
              <a:ext uri="{FF2B5EF4-FFF2-40B4-BE49-F238E27FC236}">
                <a16:creationId xmlns:a16="http://schemas.microsoft.com/office/drawing/2014/main" id="{6C935331-D63D-4B63-BAAE-28F34D38D442}"/>
              </a:ext>
            </a:extLst>
          </p:cNvPr>
          <p:cNvSpPr>
            <a:spLocks noGrp="1"/>
          </p:cNvSpPr>
          <p:nvPr/>
        </p:nvSpPr>
        <p:spPr>
          <a:xfrm>
            <a:off x="7905750" y="5238750"/>
            <a:ext cx="3667125" cy="342900"/>
          </a:xfrm>
          <a:prstGeom prst="rect">
            <a:avLst/>
          </a:prstGeom>
          <a:noFill/>
          <a:ln w="0">
            <a:noFill/>
          </a:ln>
        </p:spPr>
        <p:txBody>
          <a:bodyPr wrap="none" lIns="0" tIns="0" rIns="0" bIns="0" anchor="t">
            <a:noAutofit/>
          </a:bodyPr>
          <a:lstStyle>
            <a:defPPr algn="l">
              <a:defRPr sz="1650" b="0">
                <a:solidFill>
                  <a:srgbClr val="151515"/>
                </a:solidFill>
                <a:latin typeface="Malgun Gothic"/>
                <a:ea typeface="Malgun Gothic"/>
                <a:cs typeface="Malgun Gothic"/>
              </a:defRPr>
            </a:defPPr>
          </a:lstStyle>
          <a:p>
            <a:pPr algn="l">
              <a:lnSpc>
                <a:spcPct val="106000"/>
              </a:lnSpc>
              <a:buNone/>
              <a:defRPr sz="1650" b="0">
                <a:solidFill>
                  <a:srgbClr val="151515"/>
                </a:solidFill>
                <a:latin typeface="Malgun Gothic"/>
                <a:ea typeface="Malgun Gothic"/>
                <a:cs typeface="Malgun Gothic"/>
              </a:defRPr>
            </a:pPr>
            <a:r>
              <a:rPr sz="1650" b="0">
                <a:solidFill>
                  <a:srgbClr val="151515"/>
                </a:solidFill>
                <a:latin typeface="Malgun Gothic"/>
                <a:ea typeface="Malgun Gothic"/>
                <a:cs typeface="Malgun Gothic"/>
              </a:rPr>
              <a:t>⑥에서 오른쪽 입력으로 사용</a:t>
            </a:r>
          </a:p>
        </p:txBody>
      </p:sp>
      <p:sp>
        <p:nvSpPr>
          <p:cNvPr id="27" name="trace-rule">
            <a:extLst>
              <a:ext uri="{FF2B5EF4-FFF2-40B4-BE49-F238E27FC236}">
                <a16:creationId xmlns:a16="http://schemas.microsoft.com/office/drawing/2014/main" id="{D82B449E-4933-4688-9743-90CEB402A5E4}"/>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1869275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86DFCDA0-9DB3-4811-8402-635AD236FE07}"/>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DA57F9F9-BF01-4DC5-92F6-ED1A2399BD7D}"/>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71DB9FDB-8FBD-475B-A491-E505EEB7C272}"/>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⑥ [1, 7]과 [4, 5] 병합 · 시작</a:t>
            </a:r>
          </a:p>
        </p:txBody>
      </p:sp>
      <p:sp>
        <p:nvSpPr>
          <p:cNvPr id="4" name="직사각형 3">
            <a:extLst>
              <a:ext uri="{FF2B5EF4-FFF2-40B4-BE49-F238E27FC236}">
                <a16:creationId xmlns:a16="http://schemas.microsoft.com/office/drawing/2014/main" id="{A0384589-2731-48E4-A52C-A1D43A3A8AED}"/>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DBF4A852-CBC5-41C4-8064-F471029CD203}"/>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 = 0, j = 0. 왼쪽 1과 오른쪽 4을 비교합니다.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정렬된 두 결과를 받아 작은 값부터 새 결과에 넣습니다.</a:t>
            </a:r>
          </a:p>
        </p:txBody>
      </p:sp>
      <p:sp>
        <p:nvSpPr>
          <p:cNvPr id="6" name="footer">
            <a:extLst>
              <a:ext uri="{FF2B5EF4-FFF2-40B4-BE49-F238E27FC236}">
                <a16:creationId xmlns:a16="http://schemas.microsoft.com/office/drawing/2014/main" id="{AACCF8C4-091C-4E26-82D8-0F12F32D6F97}"/>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AFF70DD7-707C-4E1E-98FB-9B2C3E8C66A3}"/>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29</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D6734A3D-8218-4A3F-8A57-4EAED05B8016}"/>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CD0A8C63-2B5E-4CFF-A6F3-B1985AAE3460}"/>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1</a:t>
                      </a:r>
                    </a:p>
                  </a:txBody>
                  <a:tcPr anchor="ctr">
                    <a:solidFill>
                      <a:srgbClr val="DCECFB"/>
                    </a:solidFill>
                  </a:tcPr>
                </a:tc>
                <a:tc>
                  <a:txBody>
                    <a:bodyPr/>
                    <a:lstStyle/>
                    <a:p>
                      <a:pPr algn="ctr"/>
                      <a:r>
                        <a:rPr sz="2250" b="1">
                          <a:solidFill>
                            <a:srgbClr val="151515"/>
                          </a:solidFill>
                          <a:latin typeface="Consolas"/>
                          <a:ea typeface="Consolas"/>
                          <a:cs typeface="Consolas"/>
                        </a:rPr>
                        <a:t>7</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F52204A8-5FCC-4614-9695-E0FF85D5FB1C}"/>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24C00AEF-2268-48EA-8687-726A5081D0E6}"/>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A80A09E5-DFC9-47FE-A1A3-809B25E5E7F6}"/>
              </a:ext>
            </a:extLst>
          </p:cNvPr>
          <p:cNvSpPr>
            <a:spLocks noGrp="1"/>
          </p:cNvSpPr>
          <p:nvPr/>
        </p:nvSpPr>
        <p:spPr>
          <a:xfrm>
            <a:off x="18097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BA371990-F1B7-4DFC-B06D-C282BDE4003A}"/>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1AB0DEB3-EA50-4E5D-BFC6-790FA210E505}"/>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4</a:t>
                      </a:r>
                    </a:p>
                  </a:txBody>
                  <a:tcPr anchor="ctr">
                    <a:solidFill>
                      <a:srgbClr val="DDEFE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2B2F3C6D-64EA-4EB8-9483-CED0A68CADEB}"/>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5D4893B3-CE11-47FD-9437-AFB7E5D02E36}"/>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pointer">
            <a:extLst>
              <a:ext uri="{FF2B5EF4-FFF2-40B4-BE49-F238E27FC236}">
                <a16:creationId xmlns:a16="http://schemas.microsoft.com/office/drawing/2014/main" id="{278D676E-D84D-408F-999E-40C3CA5FC67F}"/>
              </a:ext>
            </a:extLst>
          </p:cNvPr>
          <p:cNvSpPr>
            <a:spLocks noGrp="1"/>
          </p:cNvSpPr>
          <p:nvPr/>
        </p:nvSpPr>
        <p:spPr>
          <a:xfrm>
            <a:off x="18097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8" name="out-label">
            <a:extLst>
              <a:ext uri="{FF2B5EF4-FFF2-40B4-BE49-F238E27FC236}">
                <a16:creationId xmlns:a16="http://schemas.microsoft.com/office/drawing/2014/main" id="{29FF6040-B72D-4287-8A00-D182E57FDC06}"/>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0C5C7A6A-8F3D-49A8-A5D5-17C3D8B37FCB}"/>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650C0783-B459-48CA-B53A-60595A936096}"/>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AFA1F798-E266-49B5-AF61-3716DE30114B}"/>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6EDD3318-3AD2-4523-84E0-8ECAA76B2B4E}"/>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9583CF3A-F71A-49DE-A5C4-954DFA080992}"/>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F8A56D1E-86BC-4A51-AF84-C1589EADA960}"/>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91CF82F0-45CA-4C0C-9C25-C3AE7C572F54}"/>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40D616DA-BCE8-4C6A-A9E3-0E0DA20599D0}"/>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CECFB"/>
                    </a:solidFill>
                  </a:tcPr>
                </a:tc>
                <a:tc>
                  <a:txBody>
                    <a:bodyPr/>
                    <a:lstStyle/>
                    <a:p>
                      <a:pPr algn="ctr"/>
                      <a:r>
                        <a:rPr sz="1650" b="1">
                          <a:solidFill>
                            <a:srgbClr val="151515"/>
                          </a:solidFill>
                          <a:latin typeface="Consolas"/>
                          <a:ea typeface="Consolas"/>
                          <a:cs typeface="Consolas"/>
                        </a:rPr>
                        <a:t>5</a:t>
                      </a:r>
                    </a:p>
                  </a:txBody>
                  <a:tcPr anchor="ctr">
                    <a:solidFill>
                      <a:srgbClr val="DDEFE6"/>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4B41B871-449B-44D1-BB67-30E826BBDBB7}"/>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 전체</a:t>
            </a:r>
          </a:p>
        </p:txBody>
      </p:sp>
      <p:sp>
        <p:nvSpPr>
          <p:cNvPr id="28" name="where-from">
            <a:extLst>
              <a:ext uri="{FF2B5EF4-FFF2-40B4-BE49-F238E27FC236}">
                <a16:creationId xmlns:a16="http://schemas.microsoft.com/office/drawing/2014/main" id="{D3DF76FC-31A9-4974-A872-2653A3F848D1}"/>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④의 결과   오른쪽: ⑤의 결과</a:t>
            </a:r>
          </a:p>
        </p:txBody>
      </p:sp>
      <p:sp>
        <p:nvSpPr>
          <p:cNvPr id="29" name="cursor-rule">
            <a:extLst>
              <a:ext uri="{FF2B5EF4-FFF2-40B4-BE49-F238E27FC236}">
                <a16:creationId xmlns:a16="http://schemas.microsoft.com/office/drawing/2014/main" id="{2CC84361-8FED-466D-93E5-3DE51A17C88B}"/>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B8649A52-558C-40E0-BD7E-15AC09B3C273}"/>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2537273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AEEB2FD9-1548-4BE4-8AB2-CA24F762B631}"/>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0AB8982F-5E0C-41EA-B894-58800AB2AE31}"/>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9FFEE693-4973-42C7-909A-C101FDE53BBE}"/>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⑥ 병합 · 1번째 값 1 추가</a:t>
            </a:r>
          </a:p>
        </p:txBody>
      </p:sp>
      <p:sp>
        <p:nvSpPr>
          <p:cNvPr id="4" name="직사각형 3">
            <a:extLst>
              <a:ext uri="{FF2B5EF4-FFF2-40B4-BE49-F238E27FC236}">
                <a16:creationId xmlns:a16="http://schemas.microsoft.com/office/drawing/2014/main" id="{5535139A-9468-446C-8149-905AAA720572}"/>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75D66003-3BEF-4E49-BAD3-62A4DFBF91E3}"/>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1 ≤ 오른쪽 4 → 왼쪽의 1을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0 → 1. 사용하지 않은 쪽의 인덱스는 그대로입니다.</a:t>
            </a:r>
          </a:p>
        </p:txBody>
      </p:sp>
      <p:sp>
        <p:nvSpPr>
          <p:cNvPr id="6" name="footer">
            <a:extLst>
              <a:ext uri="{FF2B5EF4-FFF2-40B4-BE49-F238E27FC236}">
                <a16:creationId xmlns:a16="http://schemas.microsoft.com/office/drawing/2014/main" id="{46F3A911-1C9D-4233-8674-521F75D0F1F9}"/>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A2D1C37A-8032-4C99-9307-C3CD4BC49242}"/>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30</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8845F3D7-F6BA-4257-9009-7EEEA7C435A3}"/>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32F6E5F7-E182-4E92-94A1-A1EC233657CC}"/>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1</a:t>
                      </a:r>
                    </a:p>
                  </a:txBody>
                  <a:tcPr anchor="ctr">
                    <a:solidFill>
                      <a:srgbClr val="EEEEEE"/>
                    </a:solidFill>
                  </a:tcPr>
                </a:tc>
                <a:tc>
                  <a:txBody>
                    <a:bodyPr/>
                    <a:lstStyle/>
                    <a:p>
                      <a:pPr algn="ctr"/>
                      <a:r>
                        <a:rPr sz="2250" b="1">
                          <a:solidFill>
                            <a:srgbClr val="151515"/>
                          </a:solidFill>
                          <a:latin typeface="Consolas"/>
                          <a:ea typeface="Consolas"/>
                          <a:cs typeface="Consolas"/>
                        </a:rPr>
                        <a:t>7</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E5020E9F-A0C8-49F4-9700-A8E8D1D66784}"/>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A5A3A256-9358-4312-9DC0-A14B059B6FCD}"/>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75121522-BC2B-43BB-AA91-B0D98115FA21}"/>
              </a:ext>
            </a:extLst>
          </p:cNvPr>
          <p:cNvSpPr>
            <a:spLocks noGrp="1"/>
          </p:cNvSpPr>
          <p:nvPr/>
        </p:nvSpPr>
        <p:spPr>
          <a:xfrm>
            <a:off x="28765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30019928-85F1-4040-BB03-31FF0A73F8AF}"/>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CEE6DE06-DFB0-459C-8E5C-03401E9BF1A5}"/>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151515"/>
                          </a:solidFill>
                          <a:latin typeface="Consolas"/>
                          <a:ea typeface="Consolas"/>
                          <a:cs typeface="Consolas"/>
                        </a:rPr>
                        <a:t>4</a:t>
                      </a:r>
                    </a:p>
                  </a:txBody>
                  <a:tcPr anchor="ctr">
                    <a:solidFill>
                      <a:srgbClr val="DDEFE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3735503D-D233-48FC-A22F-C8D3F4135DB2}"/>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CF645BA6-89F0-4EFA-B162-CA907727BDDD}"/>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pointer">
            <a:extLst>
              <a:ext uri="{FF2B5EF4-FFF2-40B4-BE49-F238E27FC236}">
                <a16:creationId xmlns:a16="http://schemas.microsoft.com/office/drawing/2014/main" id="{1ECE5A6E-400B-4DFA-828D-2FA259FD58B5}"/>
              </a:ext>
            </a:extLst>
          </p:cNvPr>
          <p:cNvSpPr>
            <a:spLocks noGrp="1"/>
          </p:cNvSpPr>
          <p:nvPr/>
        </p:nvSpPr>
        <p:spPr>
          <a:xfrm>
            <a:off x="18097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8" name="out-label">
            <a:extLst>
              <a:ext uri="{FF2B5EF4-FFF2-40B4-BE49-F238E27FC236}">
                <a16:creationId xmlns:a16="http://schemas.microsoft.com/office/drawing/2014/main" id="{FF73AC35-F09E-44B7-8673-65ABCA0EAA3D}"/>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910A84C1-FB19-4151-BE72-54CC97F15535}"/>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1</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23807F81-4D78-4661-BA79-B325C98CA3C4}"/>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C870E9A8-0480-4DBE-AB11-E40EBCE1DAC1}"/>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4D6B06E8-4264-43C2-900C-9C9885824580}"/>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2087DC92-6805-441B-B438-801D45EB1C23}"/>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787AF9E6-93C6-4BE1-9EFD-7AB69907B1C9}"/>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E4A21A71-5021-4125-938E-858383FD2B71}"/>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5F818DE3-E23A-4B55-88DF-0C234C4E2936}"/>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CECFB"/>
                    </a:solidFill>
                  </a:tcPr>
                </a:tc>
                <a:tc>
                  <a:txBody>
                    <a:bodyPr/>
                    <a:lstStyle/>
                    <a:p>
                      <a:pPr algn="ctr"/>
                      <a:r>
                        <a:rPr sz="1650" b="1">
                          <a:solidFill>
                            <a:srgbClr val="151515"/>
                          </a:solidFill>
                          <a:latin typeface="Consolas"/>
                          <a:ea typeface="Consolas"/>
                          <a:cs typeface="Consolas"/>
                        </a:rPr>
                        <a:t>5</a:t>
                      </a:r>
                    </a:p>
                  </a:txBody>
                  <a:tcPr anchor="ctr">
                    <a:solidFill>
                      <a:srgbClr val="DDEFE6"/>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C082E874-8FD3-44CF-905C-5CE3ABFC5543}"/>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 전체</a:t>
            </a:r>
          </a:p>
        </p:txBody>
      </p:sp>
      <p:sp>
        <p:nvSpPr>
          <p:cNvPr id="28" name="where-from">
            <a:extLst>
              <a:ext uri="{FF2B5EF4-FFF2-40B4-BE49-F238E27FC236}">
                <a16:creationId xmlns:a16="http://schemas.microsoft.com/office/drawing/2014/main" id="{2704DBC7-9638-4306-8DB4-D0EB584950EE}"/>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④의 결과   오른쪽: ⑤의 결과</a:t>
            </a:r>
          </a:p>
        </p:txBody>
      </p:sp>
      <p:sp>
        <p:nvSpPr>
          <p:cNvPr id="29" name="cursor-rule">
            <a:extLst>
              <a:ext uri="{FF2B5EF4-FFF2-40B4-BE49-F238E27FC236}">
                <a16:creationId xmlns:a16="http://schemas.microsoft.com/office/drawing/2014/main" id="{5E7243A7-4301-4E30-8BAE-0C9B4E2E4471}"/>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50596FCC-3C53-4F5E-8B60-69EC59A2FD85}"/>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295928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CDB52AC4-79E2-4B54-8120-E1186729AC91}"/>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FCA5C830-1ECA-4BE5-9A27-F524D9603680}"/>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2003A411-3BD6-4023-BAA7-D6BF71908AB4}"/>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⑥ 병합 · 2번째 값 4 추가</a:t>
            </a:r>
          </a:p>
        </p:txBody>
      </p:sp>
      <p:sp>
        <p:nvSpPr>
          <p:cNvPr id="4" name="직사각형 3">
            <a:extLst>
              <a:ext uri="{FF2B5EF4-FFF2-40B4-BE49-F238E27FC236}">
                <a16:creationId xmlns:a16="http://schemas.microsoft.com/office/drawing/2014/main" id="{F0FE3998-5766-43BA-BE60-FE02C00D6A1D}"/>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F35AF93D-414E-4239-8C43-27E0B8C4B4F3}"/>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7 &gt; 오른쪽 4 → 오른쪽의 4을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0 → 1. 사용하지 않은 쪽의 인덱스는 그대로입니다.</a:t>
            </a:r>
          </a:p>
        </p:txBody>
      </p:sp>
      <p:sp>
        <p:nvSpPr>
          <p:cNvPr id="6" name="footer">
            <a:extLst>
              <a:ext uri="{FF2B5EF4-FFF2-40B4-BE49-F238E27FC236}">
                <a16:creationId xmlns:a16="http://schemas.microsoft.com/office/drawing/2014/main" id="{425B2A7A-E6DB-4263-9E0A-F5F8AE4558B7}"/>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D2F86B04-5687-40E6-8E58-334ADD6ECC65}"/>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31</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9EDD7326-0951-48D8-8657-3E8C27F63FEC}"/>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B77EBD23-343C-47EE-9C3A-D1EF2F9F6DFF}"/>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1</a:t>
                      </a:r>
                    </a:p>
                  </a:txBody>
                  <a:tcPr anchor="ctr">
                    <a:solidFill>
                      <a:srgbClr val="EEEEEE"/>
                    </a:solidFill>
                  </a:tcPr>
                </a:tc>
                <a:tc>
                  <a:txBody>
                    <a:bodyPr/>
                    <a:lstStyle/>
                    <a:p>
                      <a:pPr algn="ctr"/>
                      <a:r>
                        <a:rPr sz="2250" b="1">
                          <a:solidFill>
                            <a:srgbClr val="151515"/>
                          </a:solidFill>
                          <a:latin typeface="Consolas"/>
                          <a:ea typeface="Consolas"/>
                          <a:cs typeface="Consolas"/>
                        </a:rPr>
                        <a:t>7</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5B902893-7172-42DF-9409-751EC8A2A7BD}"/>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3431210C-1B54-4BDE-A39F-81C4408DB2D6}"/>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26E704EF-0B13-477F-894E-27D4E6C7F0DB}"/>
              </a:ext>
            </a:extLst>
          </p:cNvPr>
          <p:cNvSpPr>
            <a:spLocks noGrp="1"/>
          </p:cNvSpPr>
          <p:nvPr/>
        </p:nvSpPr>
        <p:spPr>
          <a:xfrm>
            <a:off x="28765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ADDBA79E-A6F8-403D-BE03-5614D5CCBBDB}"/>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B74EEC15-1A66-41A5-8AE5-2C706D93F5D0}"/>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4</a:t>
                      </a:r>
                    </a:p>
                  </a:txBody>
                  <a:tcPr anchor="ctr">
                    <a:solidFill>
                      <a:srgbClr val="EEEEEE"/>
                    </a:solidFill>
                  </a:tcPr>
                </a:tc>
                <a:tc>
                  <a:txBody>
                    <a:bodyPr/>
                    <a:lstStyle/>
                    <a:p>
                      <a:pPr algn="ctr"/>
                      <a:r>
                        <a:rPr sz="2250" b="1">
                          <a:solidFill>
                            <a:srgbClr val="151515"/>
                          </a:solidFill>
                          <a:latin typeface="Consolas"/>
                          <a:ea typeface="Consolas"/>
                          <a:cs typeface="Consolas"/>
                        </a:rPr>
                        <a:t>5</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931461FD-D595-49A5-91E5-20DC579516E7}"/>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E0EFC03A-8309-4933-AB57-87CCC9C2B593}"/>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pointer">
            <a:extLst>
              <a:ext uri="{FF2B5EF4-FFF2-40B4-BE49-F238E27FC236}">
                <a16:creationId xmlns:a16="http://schemas.microsoft.com/office/drawing/2014/main" id="{78BAC04F-353A-42B2-A95D-9D2BCE49CAE9}"/>
              </a:ext>
            </a:extLst>
          </p:cNvPr>
          <p:cNvSpPr>
            <a:spLocks noGrp="1"/>
          </p:cNvSpPr>
          <p:nvPr/>
        </p:nvSpPr>
        <p:spPr>
          <a:xfrm>
            <a:off x="2876550" y="4772025"/>
            <a:ext cx="1066800" cy="276225"/>
          </a:xfrm>
          <a:prstGeom prst="rect">
            <a:avLst/>
          </a:prstGeom>
          <a:noFill/>
          <a:ln w="0">
            <a:noFill/>
          </a:ln>
        </p:spPr>
        <p:txBody>
          <a:bodyPr wrap="none" lIns="0" tIns="0" rIns="0" bIns="0" anchor="t">
            <a:noAutofit/>
          </a:bodyPr>
          <a:lstStyle>
            <a:defPPr algn="ctr">
              <a:defRPr sz="1800" b="1">
                <a:solidFill>
                  <a:srgbClr val="256B50"/>
                </a:solidFill>
                <a:latin typeface="Malgun Gothic"/>
                <a:ea typeface="Malgun Gothic"/>
                <a:cs typeface="Malgun Gothic"/>
              </a:defRPr>
            </a:defPPr>
          </a:lstStyle>
          <a:p>
            <a:pPr algn="ctr">
              <a:lnSpc>
                <a:spcPct val="106000"/>
              </a:lnSpc>
              <a:buNone/>
              <a:defRPr sz="1800" b="1">
                <a:solidFill>
                  <a:srgbClr val="256B50"/>
                </a:solidFill>
                <a:latin typeface="Malgun Gothic"/>
                <a:ea typeface="Malgun Gothic"/>
                <a:cs typeface="Malgun Gothic"/>
              </a:defRPr>
            </a:pPr>
            <a:r>
              <a:rPr sz="1800" b="1">
                <a:solidFill>
                  <a:srgbClr val="256B50"/>
                </a:solidFill>
                <a:latin typeface="Malgun Gothic"/>
                <a:ea typeface="Malgun Gothic"/>
                <a:cs typeface="Malgun Gothic"/>
              </a:rPr>
              <a:t>↑ j</a:t>
            </a:r>
          </a:p>
        </p:txBody>
      </p:sp>
      <p:sp>
        <p:nvSpPr>
          <p:cNvPr id="18" name="out-label">
            <a:extLst>
              <a:ext uri="{FF2B5EF4-FFF2-40B4-BE49-F238E27FC236}">
                <a16:creationId xmlns:a16="http://schemas.microsoft.com/office/drawing/2014/main" id="{9DE3652E-8266-4B92-873A-95E6DFFDD7BA}"/>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EDA9FA57-5778-4FFA-9DA9-B30FEA49F797}"/>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4F7681B0-CD0B-4EC4-A577-00A1AC688602}"/>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FFA79538-8656-48C7-B2E3-2C4E21B3F87B}"/>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2572D384-C307-429C-B355-97AB4CF93B95}"/>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8B6AA9E4-2841-4159-9940-995ADEC45A9C}"/>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F5665921-6BA0-4516-91D5-1EDAD6F9D106}"/>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2093584A-D4E8-4B69-8DF7-0CCAE676B357}"/>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20C6100E-8454-4414-8715-2B44BBE61EAA}"/>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CECFB"/>
                    </a:solidFill>
                  </a:tcPr>
                </a:tc>
                <a:tc>
                  <a:txBody>
                    <a:bodyPr/>
                    <a:lstStyle/>
                    <a:p>
                      <a:pPr algn="ctr"/>
                      <a:r>
                        <a:rPr sz="1650" b="1">
                          <a:solidFill>
                            <a:srgbClr val="151515"/>
                          </a:solidFill>
                          <a:latin typeface="Consolas"/>
                          <a:ea typeface="Consolas"/>
                          <a:cs typeface="Consolas"/>
                        </a:rPr>
                        <a:t>5</a:t>
                      </a:r>
                    </a:p>
                  </a:txBody>
                  <a:tcPr anchor="ctr">
                    <a:solidFill>
                      <a:srgbClr val="DDEFE6"/>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2EAF0E58-65C9-4803-8BEC-1EBC2C6E3D78}"/>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 전체</a:t>
            </a:r>
          </a:p>
        </p:txBody>
      </p:sp>
      <p:sp>
        <p:nvSpPr>
          <p:cNvPr id="28" name="where-from">
            <a:extLst>
              <a:ext uri="{FF2B5EF4-FFF2-40B4-BE49-F238E27FC236}">
                <a16:creationId xmlns:a16="http://schemas.microsoft.com/office/drawing/2014/main" id="{CC38D942-21DD-42CB-94A4-94C46817A010}"/>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④의 결과   오른쪽: ⑤의 결과</a:t>
            </a:r>
          </a:p>
        </p:txBody>
      </p:sp>
      <p:sp>
        <p:nvSpPr>
          <p:cNvPr id="29" name="cursor-rule">
            <a:extLst>
              <a:ext uri="{FF2B5EF4-FFF2-40B4-BE49-F238E27FC236}">
                <a16:creationId xmlns:a16="http://schemas.microsoft.com/office/drawing/2014/main" id="{2A2818BF-4F3D-411D-8772-10C7D6CF5CBD}"/>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BBC96511-BE67-45D2-8729-88AAF3500BA8}"/>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140555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ection">
            <a:extLst>
              <a:ext uri="{FF2B5EF4-FFF2-40B4-BE49-F238E27FC236}">
                <a16:creationId xmlns:a16="http://schemas.microsoft.com/office/drawing/2014/main" id="{1B7EFD15-D6E0-4732-9104-B710B1CB5B5F}"/>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65A2B5F6-BEE8-4B84-ACAA-4BCF65CDE3CA}"/>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10FADD38-3AE1-4037-A9D7-C5BA145DCABC}"/>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⑥ 병합 · 3번째 값 5 추가</a:t>
            </a:r>
          </a:p>
        </p:txBody>
      </p:sp>
      <p:sp>
        <p:nvSpPr>
          <p:cNvPr id="4" name="직사각형 3">
            <a:extLst>
              <a:ext uri="{FF2B5EF4-FFF2-40B4-BE49-F238E27FC236}">
                <a16:creationId xmlns:a16="http://schemas.microsoft.com/office/drawing/2014/main" id="{8C6DFC1A-909B-4F0C-BFFE-2AC16C2B1569}"/>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3756F040-3019-49CB-B32B-E525F3EBE886}"/>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7 &gt; 오른쪽 5 → 오른쪽의 5을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j는 1 → 2. 사용하지 않은 쪽의 인덱스는 그대로입니다.</a:t>
            </a:r>
          </a:p>
        </p:txBody>
      </p:sp>
      <p:sp>
        <p:nvSpPr>
          <p:cNvPr id="6" name="footer">
            <a:extLst>
              <a:ext uri="{FF2B5EF4-FFF2-40B4-BE49-F238E27FC236}">
                <a16:creationId xmlns:a16="http://schemas.microsoft.com/office/drawing/2014/main" id="{1A3FB668-BCD5-4628-9E2F-A8DFD355552B}"/>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B0C8C918-3D47-48D9-BAF4-07454FD6E366}"/>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32</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60E31848-F371-4F8B-9EB8-5A1FE6E0FCCF}"/>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76F09837-01E6-4C03-8257-3E543B15B72F}"/>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1</a:t>
                      </a:r>
                    </a:p>
                  </a:txBody>
                  <a:tcPr anchor="ctr">
                    <a:solidFill>
                      <a:srgbClr val="EEEEEE"/>
                    </a:solidFill>
                  </a:tcPr>
                </a:tc>
                <a:tc>
                  <a:txBody>
                    <a:bodyPr/>
                    <a:lstStyle/>
                    <a:p>
                      <a:pPr algn="ctr"/>
                      <a:r>
                        <a:rPr sz="2250" b="1">
                          <a:solidFill>
                            <a:srgbClr val="151515"/>
                          </a:solidFill>
                          <a:latin typeface="Consolas"/>
                          <a:ea typeface="Consolas"/>
                          <a:cs typeface="Consolas"/>
                        </a:rPr>
                        <a:t>7</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F958058A-72F4-4545-A879-485F643B9B9F}"/>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AB610A28-F01B-452B-91EA-E1387BDDCC68}"/>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pointer">
            <a:extLst>
              <a:ext uri="{FF2B5EF4-FFF2-40B4-BE49-F238E27FC236}">
                <a16:creationId xmlns:a16="http://schemas.microsoft.com/office/drawing/2014/main" id="{7E3271CC-7FEA-4F78-8CC6-DB59CFBADA75}"/>
              </a:ext>
            </a:extLst>
          </p:cNvPr>
          <p:cNvSpPr>
            <a:spLocks noGrp="1"/>
          </p:cNvSpPr>
          <p:nvPr/>
        </p:nvSpPr>
        <p:spPr>
          <a:xfrm>
            <a:off x="2876550" y="3705225"/>
            <a:ext cx="1066800" cy="276225"/>
          </a:xfrm>
          <a:prstGeom prst="rect">
            <a:avLst/>
          </a:prstGeom>
          <a:noFill/>
          <a:ln w="0">
            <a:noFill/>
          </a:ln>
        </p:spPr>
        <p:txBody>
          <a:bodyPr wrap="none" lIns="0" tIns="0" rIns="0" bIns="0" anchor="t">
            <a:noAutofit/>
          </a:bodyPr>
          <a:lstStyle>
            <a:defPPr algn="ctr">
              <a:defRPr sz="1800" b="1">
                <a:solidFill>
                  <a:srgbClr val="1D5A8A"/>
                </a:solidFill>
                <a:latin typeface="Malgun Gothic"/>
                <a:ea typeface="Malgun Gothic"/>
                <a:cs typeface="Malgun Gothic"/>
              </a:defRPr>
            </a:defPPr>
          </a:lstStyle>
          <a:p>
            <a:pPr algn="ctr">
              <a:lnSpc>
                <a:spcPct val="106000"/>
              </a:lnSpc>
              <a:buNone/>
              <a:defRPr sz="1800" b="1">
                <a:solidFill>
                  <a:srgbClr val="1D5A8A"/>
                </a:solidFill>
                <a:latin typeface="Malgun Gothic"/>
                <a:ea typeface="Malgun Gothic"/>
                <a:cs typeface="Malgun Gothic"/>
              </a:defRPr>
            </a:pPr>
            <a:r>
              <a:rPr sz="1800" b="1">
                <a:solidFill>
                  <a:srgbClr val="1D5A8A"/>
                </a:solidFill>
                <a:latin typeface="Malgun Gothic"/>
                <a:ea typeface="Malgun Gothic"/>
                <a:cs typeface="Malgun Gothic"/>
              </a:rPr>
              <a:t>↑ i</a:t>
            </a:r>
          </a:p>
        </p:txBody>
      </p:sp>
      <p:sp>
        <p:nvSpPr>
          <p:cNvPr id="13" name="오른쪽 right">
            <a:extLst>
              <a:ext uri="{FF2B5EF4-FFF2-40B4-BE49-F238E27FC236}">
                <a16:creationId xmlns:a16="http://schemas.microsoft.com/office/drawing/2014/main" id="{3E3C4ED4-70FB-4E6C-8F14-E098F9B16C0D}"/>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34A5C1C0-5E1B-4D95-80C9-B36B0F0D5DF1}"/>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4</a:t>
                      </a:r>
                    </a:p>
                  </a:txBody>
                  <a:tcPr anchor="ctr">
                    <a:solidFill>
                      <a:srgbClr val="EEEEEE"/>
                    </a:solidFill>
                  </a:tcPr>
                </a:tc>
                <a:tc>
                  <a:txBody>
                    <a:bodyPr/>
                    <a:lstStyle/>
                    <a:p>
                      <a:pPr algn="ctr"/>
                      <a:r>
                        <a:rPr sz="2250" b="1">
                          <a:solidFill>
                            <a:srgbClr val="777777"/>
                          </a:solidFill>
                          <a:latin typeface="Consolas"/>
                          <a:ea typeface="Consolas"/>
                          <a:cs typeface="Consolas"/>
                        </a:rPr>
                        <a:t>5</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9B712EFE-80F1-45E5-9F99-767B98FFFE5D}"/>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A66B7D67-7880-4E19-B515-D8F9D8FD9BA8}"/>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done">
            <a:extLst>
              <a:ext uri="{FF2B5EF4-FFF2-40B4-BE49-F238E27FC236}">
                <a16:creationId xmlns:a16="http://schemas.microsoft.com/office/drawing/2014/main" id="{B0C1B51E-67FF-4CAB-85ED-841D9F0C53AB}"/>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2 · 사용 완료</a:t>
            </a:r>
          </a:p>
        </p:txBody>
      </p:sp>
      <p:sp>
        <p:nvSpPr>
          <p:cNvPr id="18" name="out-label">
            <a:extLst>
              <a:ext uri="{FF2B5EF4-FFF2-40B4-BE49-F238E27FC236}">
                <a16:creationId xmlns:a16="http://schemas.microsoft.com/office/drawing/2014/main" id="{03CA9241-1905-4344-9A55-08178E651AAC}"/>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1351234D-34D7-47AE-993E-2B408CEFE053}"/>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E4E4E4"/>
                    </a:solidFill>
                  </a:tcPr>
                </a:tc>
                <a:tc>
                  <a:txBody>
                    <a:bodyPr/>
                    <a:lstStyle/>
                    <a:p>
                      <a:pPr algn="ctr"/>
                      <a:r>
                        <a:rPr sz="2250" b="1">
                          <a:solidFill>
                            <a:srgbClr val="151515"/>
                          </a:solidFill>
                          <a:latin typeface="Consolas"/>
                          <a:ea typeface="Consolas"/>
                          <a:cs typeface="Consolas"/>
                        </a:rPr>
                        <a:t>·</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827913A8-E6EF-4EE2-BFB4-7C4864813F21}"/>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E069BB35-B6CD-44F3-A8B3-951D2938D35B}"/>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8E234267-8CA2-459A-9A04-254BBBAA4394}"/>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2F7255A0-C061-41FD-A13F-1815E73935D1}"/>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DEBAAE68-C4F3-46BF-81FD-F0B373616010}"/>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4C06F13D-480B-4B5C-8A5E-9900896B46D2}"/>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24BEF8CA-E3F1-48FE-8EC8-5FC8DC0BE588}"/>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CECFB"/>
                    </a:solidFill>
                  </a:tcPr>
                </a:tc>
                <a:tc>
                  <a:txBody>
                    <a:bodyPr/>
                    <a:lstStyle/>
                    <a:p>
                      <a:pPr algn="ctr"/>
                      <a:r>
                        <a:rPr sz="1650" b="1">
                          <a:solidFill>
                            <a:srgbClr val="151515"/>
                          </a:solidFill>
                          <a:latin typeface="Consolas"/>
                          <a:ea typeface="Consolas"/>
                          <a:cs typeface="Consolas"/>
                        </a:rPr>
                        <a:t>5</a:t>
                      </a:r>
                    </a:p>
                  </a:txBody>
                  <a:tcPr anchor="ctr">
                    <a:solidFill>
                      <a:srgbClr val="DDEFE6"/>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7309E2DA-3316-46A8-8367-28A45E9B8700}"/>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 전체</a:t>
            </a:r>
          </a:p>
        </p:txBody>
      </p:sp>
      <p:sp>
        <p:nvSpPr>
          <p:cNvPr id="28" name="where-from">
            <a:extLst>
              <a:ext uri="{FF2B5EF4-FFF2-40B4-BE49-F238E27FC236}">
                <a16:creationId xmlns:a16="http://schemas.microsoft.com/office/drawing/2014/main" id="{431FCF6D-D117-4DD0-ABE8-13F557B524BB}"/>
              </a:ext>
            </a:extLst>
          </p:cNvPr>
          <p:cNvSpPr>
            <a:spLocks noGrp="1"/>
          </p:cNvSpPr>
          <p:nvPr/>
        </p:nvSpPr>
        <p:spPr>
          <a:xfrm>
            <a:off x="7905750" y="4438650"/>
            <a:ext cx="3667125" cy="55245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왼쪽: ④의 결과   오른쪽: ⑤의 결과</a:t>
            </a:r>
          </a:p>
        </p:txBody>
      </p:sp>
      <p:sp>
        <p:nvSpPr>
          <p:cNvPr id="29" name="cursor-rule">
            <a:extLst>
              <a:ext uri="{FF2B5EF4-FFF2-40B4-BE49-F238E27FC236}">
                <a16:creationId xmlns:a16="http://schemas.microsoft.com/office/drawing/2014/main" id="{26735E81-F369-4752-B617-DE475BB8596D}"/>
              </a:ext>
            </a:extLst>
          </p:cNvPr>
          <p:cNvSpPr>
            <a:spLocks noGrp="1"/>
          </p:cNvSpPr>
          <p:nvPr/>
        </p:nvSpPr>
        <p:spPr>
          <a:xfrm>
            <a:off x="7905750" y="5181600"/>
            <a:ext cx="3667125" cy="571500"/>
          </a:xfrm>
          <a:prstGeom prst="rect">
            <a:avLst/>
          </a:prstGeom>
          <a:noFill/>
          <a:ln w="0">
            <a:noFill/>
          </a:ln>
        </p:spPr>
        <p:txBody>
          <a:bodyPr wrap="none" lIns="0" tIns="0" rIns="0" bIns="0" anchor="t">
            <a:noAutofit/>
          </a:bodyPr>
          <a:lstStyle>
            <a:defPPr algn="l">
              <a:defRPr sz="1725" b="0">
                <a:solidFill>
                  <a:srgbClr val="151515"/>
                </a:solidFill>
                <a:latin typeface="Malgun Gothic"/>
                <a:ea typeface="Malgun Gothic"/>
                <a:cs typeface="Malgun Gothic"/>
              </a:defRPr>
            </a:defPPr>
          </a:lstStyle>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선택한 쪽의 인덱스만</a:t>
            </a:r>
          </a:p>
          <a:p>
            <a:pPr algn="l">
              <a:lnSpc>
                <a:spcPct val="106000"/>
              </a:lnSpc>
              <a:buNone/>
              <a:defRPr sz="1725" b="0">
                <a:solidFill>
                  <a:srgbClr val="151515"/>
                </a:solidFill>
                <a:latin typeface="Malgun Gothic"/>
                <a:ea typeface="Malgun Gothic"/>
                <a:cs typeface="Malgun Gothic"/>
              </a:defRPr>
            </a:pPr>
            <a:r>
              <a:rPr sz="1725" b="0">
                <a:solidFill>
                  <a:srgbClr val="151515"/>
                </a:solidFill>
                <a:latin typeface="Malgun Gothic"/>
                <a:ea typeface="Malgun Gothic"/>
                <a:cs typeface="Malgun Gothic"/>
              </a:rPr>
              <a:t>한 칸 움직입니다.</a:t>
            </a:r>
          </a:p>
        </p:txBody>
      </p:sp>
      <p:sp>
        <p:nvSpPr>
          <p:cNvPr id="30" name="trace-rule">
            <a:extLst>
              <a:ext uri="{FF2B5EF4-FFF2-40B4-BE49-F238E27FC236}">
                <a16:creationId xmlns:a16="http://schemas.microsoft.com/office/drawing/2014/main" id="{E89FC78A-6754-4D53-B8AF-3DC4BBD0EF85}"/>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351689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ection">
            <a:extLst>
              <a:ext uri="{FF2B5EF4-FFF2-40B4-BE49-F238E27FC236}">
                <a16:creationId xmlns:a16="http://schemas.microsoft.com/office/drawing/2014/main" id="{265F5F2B-356F-498E-8E2F-E2BF338B6528}"/>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4.2  병합 정렬</a:t>
            </a:r>
          </a:p>
        </p:txBody>
      </p:sp>
      <p:sp>
        <p:nvSpPr>
          <p:cNvPr id="2" name="brand">
            <a:extLst>
              <a:ext uri="{FF2B5EF4-FFF2-40B4-BE49-F238E27FC236}">
                <a16:creationId xmlns:a16="http://schemas.microsoft.com/office/drawing/2014/main" id="{19CFAE54-1579-49A2-A998-9C87CB139FE7}"/>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D1F7F375-A3E7-4B4F-9AC7-F707CB604CF0}"/>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⑥ 병합 · 4번째 값 7 추가</a:t>
            </a:r>
          </a:p>
        </p:txBody>
      </p:sp>
      <p:sp>
        <p:nvSpPr>
          <p:cNvPr id="4" name="직사각형 3">
            <a:extLst>
              <a:ext uri="{FF2B5EF4-FFF2-40B4-BE49-F238E27FC236}">
                <a16:creationId xmlns:a16="http://schemas.microsoft.com/office/drawing/2014/main" id="{E3DE12AD-610B-4DAC-91CD-25D113E1F227}"/>
              </a:ext>
            </a:extLst>
          </p:cNvPr>
          <p:cNvSpPr>
            <a:spLocks noGrp="1"/>
          </p:cNvSpPr>
          <p:nvPr/>
        </p:nvSpPr>
        <p:spPr>
          <a:xfrm>
            <a:off x="609600" y="1381125"/>
            <a:ext cx="10972800" cy="9525"/>
          </a:xfrm>
          <a:prstGeom prst="rect">
            <a:avLst/>
          </a:prstGeom>
          <a:solidFill>
            <a:srgbClr val="151515"/>
          </a:solidFill>
          <a:ln w="0">
            <a:noFill/>
          </a:ln>
        </p:spPr>
      </p:sp>
      <p:sp>
        <p:nvSpPr>
          <p:cNvPr id="5" name="description">
            <a:extLst>
              <a:ext uri="{FF2B5EF4-FFF2-40B4-BE49-F238E27FC236}">
                <a16:creationId xmlns:a16="http://schemas.microsoft.com/office/drawing/2014/main" id="{BF66EF53-87F6-4BA4-9AED-54DC5163928A}"/>
              </a:ext>
            </a:extLst>
          </p:cNvPr>
          <p:cNvSpPr>
            <a:spLocks noGrp="1"/>
          </p:cNvSpPr>
          <p:nvPr/>
        </p:nvSpPr>
        <p:spPr>
          <a:xfrm>
            <a:off x="609600" y="1638300"/>
            <a:ext cx="10972800" cy="6286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오른쪽을 다 사용했습니다. 남은 왼쪽의 7을 붙입니다.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i는 1 → 2. 이번 병합의 정렬 결과가 완성되었습니다.</a:t>
            </a:r>
          </a:p>
        </p:txBody>
      </p:sp>
      <p:sp>
        <p:nvSpPr>
          <p:cNvPr id="6" name="footer">
            <a:extLst>
              <a:ext uri="{FF2B5EF4-FFF2-40B4-BE49-F238E27FC236}">
                <a16:creationId xmlns:a16="http://schemas.microsoft.com/office/drawing/2014/main" id="{6ABBAF31-B578-4851-93B6-E35CAC9D99DB}"/>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E9228EA1-03FC-4E92-A1DB-817331A4A7D2}"/>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33</a:t>
            </a:r>
            <a:endParaRPr sz="1050" b="0">
              <a:solidFill>
                <a:srgbClr val="151515"/>
              </a:solidFill>
              <a:latin typeface="Consolas"/>
              <a:ea typeface="Consolas"/>
              <a:cs typeface="Consolas"/>
            </a:endParaRPr>
          </a:p>
        </p:txBody>
      </p:sp>
      <p:sp>
        <p:nvSpPr>
          <p:cNvPr id="8" name="왼쪽 left">
            <a:extLst>
              <a:ext uri="{FF2B5EF4-FFF2-40B4-BE49-F238E27FC236}">
                <a16:creationId xmlns:a16="http://schemas.microsoft.com/office/drawing/2014/main" id="{2AB0144B-8A4E-4E39-9F22-D2439A06E6D9}"/>
              </a:ext>
            </a:extLst>
          </p:cNvPr>
          <p:cNvSpPr>
            <a:spLocks noGrp="1"/>
          </p:cNvSpPr>
          <p:nvPr/>
        </p:nvSpPr>
        <p:spPr>
          <a:xfrm>
            <a:off x="609600" y="30480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왼쪽 left</a:t>
            </a:r>
          </a:p>
        </p:txBody>
      </p:sp>
      <p:graphicFrame>
        <p:nvGraphicFramePr>
          <p:cNvPr id="9" name="표 8">
            <a:extLst>
              <a:ext uri="{FF2B5EF4-FFF2-40B4-BE49-F238E27FC236}">
                <a16:creationId xmlns:a16="http://schemas.microsoft.com/office/drawing/2014/main" id="{76238D7D-1762-4877-9C56-250CE941DAC4}"/>
              </a:ext>
            </a:extLst>
          </p:cNvPr>
          <p:cNvGraphicFramePr/>
          <p:nvPr/>
        </p:nvGraphicFramePr>
        <p:xfrm>
          <a:off x="1809750" y="29527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1</a:t>
                      </a:r>
                    </a:p>
                  </a:txBody>
                  <a:tcPr anchor="ctr">
                    <a:solidFill>
                      <a:srgbClr val="EEEEEE"/>
                    </a:solidFill>
                  </a:tcPr>
                </a:tc>
                <a:tc>
                  <a:txBody>
                    <a:bodyPr/>
                    <a:lstStyle/>
                    <a:p>
                      <a:pPr algn="ctr"/>
                      <a:r>
                        <a:rPr sz="2250" b="1">
                          <a:solidFill>
                            <a:srgbClr val="777777"/>
                          </a:solidFill>
                          <a:latin typeface="Consolas"/>
                          <a:ea typeface="Consolas"/>
                          <a:cs typeface="Consolas"/>
                        </a:rPr>
                        <a:t>7</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0" name="i-index-0">
            <a:extLst>
              <a:ext uri="{FF2B5EF4-FFF2-40B4-BE49-F238E27FC236}">
                <a16:creationId xmlns:a16="http://schemas.microsoft.com/office/drawing/2014/main" id="{0A584EAA-6B99-4C47-AEC2-5D27626B9E12}"/>
              </a:ext>
            </a:extLst>
          </p:cNvPr>
          <p:cNvSpPr>
            <a:spLocks noGrp="1"/>
          </p:cNvSpPr>
          <p:nvPr/>
        </p:nvSpPr>
        <p:spPr>
          <a:xfrm>
            <a:off x="18097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1" name="i-index-1">
            <a:extLst>
              <a:ext uri="{FF2B5EF4-FFF2-40B4-BE49-F238E27FC236}">
                <a16:creationId xmlns:a16="http://schemas.microsoft.com/office/drawing/2014/main" id="{903F2301-DB3C-4EC9-AB2B-C1CEED765E40}"/>
              </a:ext>
            </a:extLst>
          </p:cNvPr>
          <p:cNvSpPr>
            <a:spLocks noGrp="1"/>
          </p:cNvSpPr>
          <p:nvPr/>
        </p:nvSpPr>
        <p:spPr>
          <a:xfrm>
            <a:off x="2876550" y="34956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2" name="i-done">
            <a:extLst>
              <a:ext uri="{FF2B5EF4-FFF2-40B4-BE49-F238E27FC236}">
                <a16:creationId xmlns:a16="http://schemas.microsoft.com/office/drawing/2014/main" id="{75054A10-E7BC-4510-AD1A-8D7BE2C89B5D}"/>
              </a:ext>
            </a:extLst>
          </p:cNvPr>
          <p:cNvSpPr>
            <a:spLocks noGrp="1"/>
          </p:cNvSpPr>
          <p:nvPr/>
        </p:nvSpPr>
        <p:spPr>
          <a:xfrm>
            <a:off x="1809750" y="37147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i = 2 · 사용 완료</a:t>
            </a:r>
          </a:p>
        </p:txBody>
      </p:sp>
      <p:sp>
        <p:nvSpPr>
          <p:cNvPr id="13" name="오른쪽 right">
            <a:extLst>
              <a:ext uri="{FF2B5EF4-FFF2-40B4-BE49-F238E27FC236}">
                <a16:creationId xmlns:a16="http://schemas.microsoft.com/office/drawing/2014/main" id="{639DD68E-4B48-4439-9B03-C0962F406503}"/>
              </a:ext>
            </a:extLst>
          </p:cNvPr>
          <p:cNvSpPr>
            <a:spLocks noGrp="1"/>
          </p:cNvSpPr>
          <p:nvPr/>
        </p:nvSpPr>
        <p:spPr>
          <a:xfrm>
            <a:off x="609600" y="41148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오른쪽 right</a:t>
            </a:r>
          </a:p>
        </p:txBody>
      </p:sp>
      <p:graphicFrame>
        <p:nvGraphicFramePr>
          <p:cNvPr id="14" name="표 13">
            <a:extLst>
              <a:ext uri="{FF2B5EF4-FFF2-40B4-BE49-F238E27FC236}">
                <a16:creationId xmlns:a16="http://schemas.microsoft.com/office/drawing/2014/main" id="{A72E3DC6-7AC8-4C53-9C5A-F6A1D4079AE9}"/>
              </a:ext>
            </a:extLst>
          </p:cNvPr>
          <p:cNvGraphicFramePr/>
          <p:nvPr/>
        </p:nvGraphicFramePr>
        <p:xfrm>
          <a:off x="1809750" y="4019550"/>
          <a:ext cx="21336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495300">
                <a:tc>
                  <a:txBody>
                    <a:bodyPr/>
                    <a:lstStyle/>
                    <a:p>
                      <a:pPr algn="ctr"/>
                      <a:r>
                        <a:rPr sz="2250" b="1">
                          <a:solidFill>
                            <a:srgbClr val="777777"/>
                          </a:solidFill>
                          <a:latin typeface="Consolas"/>
                          <a:ea typeface="Consolas"/>
                          <a:cs typeface="Consolas"/>
                        </a:rPr>
                        <a:t>4</a:t>
                      </a:r>
                    </a:p>
                  </a:txBody>
                  <a:tcPr anchor="ctr">
                    <a:solidFill>
                      <a:srgbClr val="EEEEEE"/>
                    </a:solidFill>
                  </a:tcPr>
                </a:tc>
                <a:tc>
                  <a:txBody>
                    <a:bodyPr/>
                    <a:lstStyle/>
                    <a:p>
                      <a:pPr algn="ctr"/>
                      <a:r>
                        <a:rPr sz="2250" b="1">
                          <a:solidFill>
                            <a:srgbClr val="777777"/>
                          </a:solidFill>
                          <a:latin typeface="Consolas"/>
                          <a:ea typeface="Consolas"/>
                          <a:cs typeface="Consolas"/>
                        </a:rPr>
                        <a:t>5</a:t>
                      </a:r>
                    </a:p>
                  </a:txBody>
                  <a:tcPr anchor="ctr">
                    <a:solidFill>
                      <a:srgbClr val="EEEEEE"/>
                    </a:solidFill>
                  </a:tcPr>
                </a:tc>
                <a:extLst>
                  <a:ext uri="{0D108BD9-81ED-4DB2-BD59-A6C34878D82A}">
                    <a16:rowId xmlns:a16="http://schemas.microsoft.com/office/drawing/2014/main" val="10000"/>
                  </a:ext>
                </a:extLst>
              </a:tr>
            </a:tbl>
          </a:graphicData>
        </a:graphic>
      </p:graphicFrame>
      <p:sp>
        <p:nvSpPr>
          <p:cNvPr id="15" name="j-index-0">
            <a:extLst>
              <a:ext uri="{FF2B5EF4-FFF2-40B4-BE49-F238E27FC236}">
                <a16:creationId xmlns:a16="http://schemas.microsoft.com/office/drawing/2014/main" id="{7BBE3F83-86FD-4A6E-AD88-723C6F7B6531}"/>
              </a:ext>
            </a:extLst>
          </p:cNvPr>
          <p:cNvSpPr>
            <a:spLocks noGrp="1"/>
          </p:cNvSpPr>
          <p:nvPr/>
        </p:nvSpPr>
        <p:spPr>
          <a:xfrm>
            <a:off x="18097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16" name="j-index-1">
            <a:extLst>
              <a:ext uri="{FF2B5EF4-FFF2-40B4-BE49-F238E27FC236}">
                <a16:creationId xmlns:a16="http://schemas.microsoft.com/office/drawing/2014/main" id="{A18FB935-A612-447C-9114-D8779E911E05}"/>
              </a:ext>
            </a:extLst>
          </p:cNvPr>
          <p:cNvSpPr>
            <a:spLocks noGrp="1"/>
          </p:cNvSpPr>
          <p:nvPr/>
        </p:nvSpPr>
        <p:spPr>
          <a:xfrm>
            <a:off x="2876550" y="45624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17" name="j-done">
            <a:extLst>
              <a:ext uri="{FF2B5EF4-FFF2-40B4-BE49-F238E27FC236}">
                <a16:creationId xmlns:a16="http://schemas.microsoft.com/office/drawing/2014/main" id="{0861DC40-76A0-4FE1-9F4E-8932836862B1}"/>
              </a:ext>
            </a:extLst>
          </p:cNvPr>
          <p:cNvSpPr>
            <a:spLocks noGrp="1"/>
          </p:cNvSpPr>
          <p:nvPr/>
        </p:nvSpPr>
        <p:spPr>
          <a:xfrm>
            <a:off x="1809750" y="4781550"/>
            <a:ext cx="4476750" cy="266700"/>
          </a:xfrm>
          <a:prstGeom prst="rect">
            <a:avLst/>
          </a:prstGeom>
          <a:noFill/>
          <a:ln w="0">
            <a:noFill/>
          </a:ln>
        </p:spPr>
        <p:txBody>
          <a:bodyPr wrap="none" lIns="0" tIns="0" rIns="0" bIns="0" anchor="t">
            <a:noAutofit/>
          </a:bodyPr>
          <a:lstStyle>
            <a:defPPr algn="l">
              <a:defRPr sz="1575" b="0">
                <a:solidFill>
                  <a:srgbClr val="555555"/>
                </a:solidFill>
                <a:latin typeface="Malgun Gothic"/>
                <a:ea typeface="Malgun Gothic"/>
                <a:cs typeface="Malgun Gothic"/>
              </a:defRPr>
            </a:defPPr>
          </a:lstStyle>
          <a:p>
            <a:pPr algn="l">
              <a:lnSpc>
                <a:spcPct val="106000"/>
              </a:lnSpc>
              <a:buNone/>
              <a:defRPr sz="1575" b="0">
                <a:solidFill>
                  <a:srgbClr val="555555"/>
                </a:solidFill>
                <a:latin typeface="Malgun Gothic"/>
                <a:ea typeface="Malgun Gothic"/>
                <a:cs typeface="Malgun Gothic"/>
              </a:defRPr>
            </a:pPr>
            <a:r>
              <a:rPr sz="1575" b="0">
                <a:solidFill>
                  <a:srgbClr val="555555"/>
                </a:solidFill>
                <a:latin typeface="Malgun Gothic"/>
                <a:ea typeface="Malgun Gothic"/>
                <a:cs typeface="Malgun Gothic"/>
              </a:rPr>
              <a:t>j = 2 · 사용 완료</a:t>
            </a:r>
          </a:p>
        </p:txBody>
      </p:sp>
      <p:sp>
        <p:nvSpPr>
          <p:cNvPr id="18" name="out-label">
            <a:extLst>
              <a:ext uri="{FF2B5EF4-FFF2-40B4-BE49-F238E27FC236}">
                <a16:creationId xmlns:a16="http://schemas.microsoft.com/office/drawing/2014/main" id="{0D83834D-F3A7-4E88-B91B-B102DE4135D2}"/>
              </a:ext>
            </a:extLst>
          </p:cNvPr>
          <p:cNvSpPr>
            <a:spLocks noGrp="1"/>
          </p:cNvSpPr>
          <p:nvPr/>
        </p:nvSpPr>
        <p:spPr>
          <a:xfrm>
            <a:off x="609600" y="5181600"/>
            <a:ext cx="1181100" cy="3810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결과 out</a:t>
            </a:r>
          </a:p>
        </p:txBody>
      </p:sp>
      <p:graphicFrame>
        <p:nvGraphicFramePr>
          <p:cNvPr id="19" name="표 18">
            <a:extLst>
              <a:ext uri="{FF2B5EF4-FFF2-40B4-BE49-F238E27FC236}">
                <a16:creationId xmlns:a16="http://schemas.microsoft.com/office/drawing/2014/main" id="{EDE31849-39E6-4BAA-BE20-91957E1F1C3B}"/>
              </a:ext>
            </a:extLst>
          </p:cNvPr>
          <p:cNvGraphicFramePr/>
          <p:nvPr/>
        </p:nvGraphicFramePr>
        <p:xfrm>
          <a:off x="1809750" y="50863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Consolas"/>
                          <a:ea typeface="Consolas"/>
                          <a:cs typeface="Consolas"/>
                        </a:rPr>
                        <a:t>1</a:t>
                      </a:r>
                    </a:p>
                  </a:txBody>
                  <a:tcPr anchor="ctr">
                    <a:solidFill>
                      <a:srgbClr val="F6F6F6"/>
                    </a:solidFill>
                  </a:tcPr>
                </a:tc>
                <a:tc>
                  <a:txBody>
                    <a:bodyPr/>
                    <a:lstStyle/>
                    <a:p>
                      <a:pPr algn="ctr"/>
                      <a:r>
                        <a:rPr sz="2250" b="1">
                          <a:solidFill>
                            <a:srgbClr val="151515"/>
                          </a:solidFill>
                          <a:latin typeface="Consolas"/>
                          <a:ea typeface="Consolas"/>
                          <a:cs typeface="Consolas"/>
                        </a:rPr>
                        <a:t>4</a:t>
                      </a:r>
                    </a:p>
                  </a:txBody>
                  <a:tcPr anchor="ctr">
                    <a:solidFill>
                      <a:srgbClr val="F6F6F6"/>
                    </a:solidFill>
                  </a:tcPr>
                </a:tc>
                <a:tc>
                  <a:txBody>
                    <a:bodyPr/>
                    <a:lstStyle/>
                    <a:p>
                      <a:pPr algn="ctr"/>
                      <a:r>
                        <a:rPr sz="2250" b="1">
                          <a:solidFill>
                            <a:srgbClr val="151515"/>
                          </a:solidFill>
                          <a:latin typeface="Consolas"/>
                          <a:ea typeface="Consolas"/>
                          <a:cs typeface="Consolas"/>
                        </a:rPr>
                        <a:t>5</a:t>
                      </a:r>
                    </a:p>
                  </a:txBody>
                  <a:tcPr anchor="ctr">
                    <a:solidFill>
                      <a:srgbClr val="F6F6F6"/>
                    </a:solidFill>
                  </a:tcPr>
                </a:tc>
                <a:tc>
                  <a:txBody>
                    <a:bodyPr/>
                    <a:lstStyle/>
                    <a:p>
                      <a:pPr algn="ctr"/>
                      <a:r>
                        <a:rPr sz="2250" b="1">
                          <a:solidFill>
                            <a:srgbClr val="151515"/>
                          </a:solidFill>
                          <a:latin typeface="Consolas"/>
                          <a:ea typeface="Consolas"/>
                          <a:cs typeface="Consolas"/>
                        </a:rPr>
                        <a:t>7</a:t>
                      </a:r>
                    </a:p>
                  </a:txBody>
                  <a:tcPr anchor="ctr">
                    <a:solidFill>
                      <a:srgbClr val="E4E4E4"/>
                    </a:solidFill>
                  </a:tcPr>
                </a:tc>
                <a:extLst>
                  <a:ext uri="{0D108BD9-81ED-4DB2-BD59-A6C34878D82A}">
                    <a16:rowId xmlns:a16="http://schemas.microsoft.com/office/drawing/2014/main" val="10000"/>
                  </a:ext>
                </a:extLst>
              </a:tr>
            </a:tbl>
          </a:graphicData>
        </a:graphic>
      </p:graphicFrame>
      <p:sp>
        <p:nvSpPr>
          <p:cNvPr id="20" name="out-index-0">
            <a:extLst>
              <a:ext uri="{FF2B5EF4-FFF2-40B4-BE49-F238E27FC236}">
                <a16:creationId xmlns:a16="http://schemas.microsoft.com/office/drawing/2014/main" id="{948439AD-99EC-4D33-9BA8-DCF4ABE715CF}"/>
              </a:ext>
            </a:extLst>
          </p:cNvPr>
          <p:cNvSpPr>
            <a:spLocks noGrp="1"/>
          </p:cNvSpPr>
          <p:nvPr/>
        </p:nvSpPr>
        <p:spPr>
          <a:xfrm>
            <a:off x="18097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0</a:t>
            </a:r>
          </a:p>
        </p:txBody>
      </p:sp>
      <p:sp>
        <p:nvSpPr>
          <p:cNvPr id="21" name="out-index-1">
            <a:extLst>
              <a:ext uri="{FF2B5EF4-FFF2-40B4-BE49-F238E27FC236}">
                <a16:creationId xmlns:a16="http://schemas.microsoft.com/office/drawing/2014/main" id="{99A4DE0D-3023-4772-96EE-80959B50066E}"/>
              </a:ext>
            </a:extLst>
          </p:cNvPr>
          <p:cNvSpPr>
            <a:spLocks noGrp="1"/>
          </p:cNvSpPr>
          <p:nvPr/>
        </p:nvSpPr>
        <p:spPr>
          <a:xfrm>
            <a:off x="28765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1</a:t>
            </a:r>
          </a:p>
        </p:txBody>
      </p:sp>
      <p:sp>
        <p:nvSpPr>
          <p:cNvPr id="22" name="out-index-2">
            <a:extLst>
              <a:ext uri="{FF2B5EF4-FFF2-40B4-BE49-F238E27FC236}">
                <a16:creationId xmlns:a16="http://schemas.microsoft.com/office/drawing/2014/main" id="{03AB1B57-671C-42AA-8325-742239D78CED}"/>
              </a:ext>
            </a:extLst>
          </p:cNvPr>
          <p:cNvSpPr>
            <a:spLocks noGrp="1"/>
          </p:cNvSpPr>
          <p:nvPr/>
        </p:nvSpPr>
        <p:spPr>
          <a:xfrm>
            <a:off x="39433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2</a:t>
            </a:r>
          </a:p>
        </p:txBody>
      </p:sp>
      <p:sp>
        <p:nvSpPr>
          <p:cNvPr id="23" name="out-index-3">
            <a:extLst>
              <a:ext uri="{FF2B5EF4-FFF2-40B4-BE49-F238E27FC236}">
                <a16:creationId xmlns:a16="http://schemas.microsoft.com/office/drawing/2014/main" id="{25471324-64BE-4481-8338-9334EA2DF940}"/>
              </a:ext>
            </a:extLst>
          </p:cNvPr>
          <p:cNvSpPr>
            <a:spLocks noGrp="1"/>
          </p:cNvSpPr>
          <p:nvPr/>
        </p:nvSpPr>
        <p:spPr>
          <a:xfrm>
            <a:off x="5010150" y="5629275"/>
            <a:ext cx="1066800" cy="190500"/>
          </a:xfrm>
          <a:prstGeom prst="rect">
            <a:avLst/>
          </a:prstGeom>
          <a:noFill/>
          <a:ln w="0">
            <a:noFill/>
          </a:ln>
        </p:spPr>
        <p:txBody>
          <a:bodyPr wrap="none" lIns="0" tIns="0" rIns="0" bIns="0" anchor="t">
            <a:noAutofit/>
          </a:bodyPr>
          <a:lstStyle>
            <a:defPPr algn="ctr">
              <a:defRPr sz="1050" b="0">
                <a:solidFill>
                  <a:srgbClr val="666666"/>
                </a:solidFill>
                <a:latin typeface="Consolas"/>
                <a:ea typeface="Consolas"/>
                <a:cs typeface="Consolas"/>
              </a:defRPr>
            </a:defPPr>
          </a:lstStyle>
          <a:p>
            <a:pPr algn="ctr">
              <a:lnSpc>
                <a:spcPct val="106000"/>
              </a:lnSpc>
              <a:buNone/>
              <a:defRPr sz="1050" b="0">
                <a:solidFill>
                  <a:srgbClr val="666666"/>
                </a:solidFill>
                <a:latin typeface="Consolas"/>
                <a:ea typeface="Consolas"/>
                <a:cs typeface="Consolas"/>
              </a:defRPr>
            </a:pPr>
            <a:r>
              <a:rPr sz="1050" b="0">
                <a:solidFill>
                  <a:srgbClr val="666666"/>
                </a:solidFill>
                <a:latin typeface="Consolas"/>
                <a:ea typeface="Consolas"/>
                <a:cs typeface="Consolas"/>
              </a:rPr>
              <a:t>3</a:t>
            </a:r>
          </a:p>
        </p:txBody>
      </p:sp>
      <p:sp>
        <p:nvSpPr>
          <p:cNvPr id="24" name="직사각형 23">
            <a:extLst>
              <a:ext uri="{FF2B5EF4-FFF2-40B4-BE49-F238E27FC236}">
                <a16:creationId xmlns:a16="http://schemas.microsoft.com/office/drawing/2014/main" id="{26B0158B-2575-456C-A8A4-4B44FE1E515F}"/>
              </a:ext>
            </a:extLst>
          </p:cNvPr>
          <p:cNvSpPr>
            <a:spLocks noGrp="1"/>
          </p:cNvSpPr>
          <p:nvPr/>
        </p:nvSpPr>
        <p:spPr>
          <a:xfrm>
            <a:off x="7524750" y="2876550"/>
            <a:ext cx="9525" cy="2933700"/>
          </a:xfrm>
          <a:prstGeom prst="rect">
            <a:avLst/>
          </a:prstGeom>
          <a:solidFill>
            <a:srgbClr val="CCCCCC"/>
          </a:solidFill>
          <a:ln w="0">
            <a:noFill/>
          </a:ln>
        </p:spPr>
      </p:sp>
      <p:sp>
        <p:nvSpPr>
          <p:cNvPr id="25" name="scope-caption">
            <a:extLst>
              <a:ext uri="{FF2B5EF4-FFF2-40B4-BE49-F238E27FC236}">
                <a16:creationId xmlns:a16="http://schemas.microsoft.com/office/drawing/2014/main" id="{EB82AC81-CD5E-4735-A95E-7C2E20206D70}"/>
              </a:ext>
            </a:extLst>
          </p:cNvPr>
          <p:cNvSpPr>
            <a:spLocks noGrp="1"/>
          </p:cNvSpPr>
          <p:nvPr/>
        </p:nvSpPr>
        <p:spPr>
          <a:xfrm>
            <a:off x="7905750" y="2933700"/>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처음 배열에서 이번에 합치는 부분</a:t>
            </a:r>
          </a:p>
        </p:txBody>
      </p:sp>
      <p:graphicFrame>
        <p:nvGraphicFramePr>
          <p:cNvPr id="26" name="표 25">
            <a:extLst>
              <a:ext uri="{FF2B5EF4-FFF2-40B4-BE49-F238E27FC236}">
                <a16:creationId xmlns:a16="http://schemas.microsoft.com/office/drawing/2014/main" id="{8AC4A6FE-974B-478C-A98A-C8F77989732A}"/>
              </a:ext>
            </a:extLst>
          </p:cNvPr>
          <p:cNvGraphicFramePr/>
          <p:nvPr/>
        </p:nvGraphicFramePr>
        <p:xfrm>
          <a:off x="7905750" y="3314700"/>
          <a:ext cx="3581400" cy="419100"/>
        </p:xfrm>
        <a:graphic>
          <a:graphicData uri="http://schemas.openxmlformats.org/drawingml/2006/table">
            <a:tbl>
              <a:tblPr/>
              <a:tblGrid>
                <a:gridCol w="44767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447675">
                  <a:extLst>
                    <a:ext uri="{9D8B030D-6E8A-4147-A177-3AD203B41FA5}">
                      <a16:colId xmlns:a16="http://schemas.microsoft.com/office/drawing/2014/main" val="20007"/>
                    </a:ext>
                  </a:extLst>
                </a:gridCol>
              </a:tblGrid>
              <a:tr h="419100">
                <a:tc>
                  <a:txBody>
                    <a:bodyPr/>
                    <a:lstStyle/>
                    <a:p>
                      <a:pPr algn="ctr"/>
                      <a:r>
                        <a:rPr sz="1650" b="1">
                          <a:solidFill>
                            <a:srgbClr val="777777"/>
                          </a:solidFill>
                          <a:latin typeface="Consolas"/>
                          <a:ea typeface="Consolas"/>
                          <a:cs typeface="Consolas"/>
                        </a:rPr>
                        <a:t>8</a:t>
                      </a:r>
                    </a:p>
                  </a:txBody>
                  <a:tcPr anchor="ctr">
                    <a:solidFill>
                      <a:srgbClr val="F8F8F8"/>
                    </a:solidFill>
                  </a:tcPr>
                </a:tc>
                <a:tc>
                  <a:txBody>
                    <a:bodyPr/>
                    <a:lstStyle/>
                    <a:p>
                      <a:pPr algn="ctr"/>
                      <a:r>
                        <a:rPr sz="1650" b="1">
                          <a:solidFill>
                            <a:srgbClr val="777777"/>
                          </a:solidFill>
                          <a:latin typeface="Consolas"/>
                          <a:ea typeface="Consolas"/>
                          <a:cs typeface="Consolas"/>
                        </a:rPr>
                        <a:t>3</a:t>
                      </a:r>
                    </a:p>
                  </a:txBody>
                  <a:tcPr anchor="ctr">
                    <a:solidFill>
                      <a:srgbClr val="F8F8F8"/>
                    </a:solidFill>
                  </a:tcPr>
                </a:tc>
                <a:tc>
                  <a:txBody>
                    <a:bodyPr/>
                    <a:lstStyle/>
                    <a:p>
                      <a:pPr algn="ctr"/>
                      <a:r>
                        <a:rPr sz="1650" b="1">
                          <a:solidFill>
                            <a:srgbClr val="777777"/>
                          </a:solidFill>
                          <a:latin typeface="Consolas"/>
                          <a:ea typeface="Consolas"/>
                          <a:cs typeface="Consolas"/>
                        </a:rPr>
                        <a:t>6</a:t>
                      </a:r>
                    </a:p>
                  </a:txBody>
                  <a:tcPr anchor="ctr">
                    <a:solidFill>
                      <a:srgbClr val="F8F8F8"/>
                    </a:solidFill>
                  </a:tcPr>
                </a:tc>
                <a:tc>
                  <a:txBody>
                    <a:bodyPr/>
                    <a:lstStyle/>
                    <a:p>
                      <a:pPr algn="ctr"/>
                      <a:r>
                        <a:rPr sz="1650" b="1">
                          <a:solidFill>
                            <a:srgbClr val="777777"/>
                          </a:solidFill>
                          <a:latin typeface="Consolas"/>
                          <a:ea typeface="Consolas"/>
                          <a:cs typeface="Consolas"/>
                        </a:rPr>
                        <a:t>2</a:t>
                      </a:r>
                    </a:p>
                  </a:txBody>
                  <a:tcPr anchor="ctr">
                    <a:solidFill>
                      <a:srgbClr val="F8F8F8"/>
                    </a:solidFill>
                  </a:tcPr>
                </a:tc>
                <a:tc>
                  <a:txBody>
                    <a:bodyPr/>
                    <a:lstStyle/>
                    <a:p>
                      <a:pPr algn="ctr"/>
                      <a:r>
                        <a:rPr sz="1650" b="1">
                          <a:solidFill>
                            <a:srgbClr val="151515"/>
                          </a:solidFill>
                          <a:latin typeface="Consolas"/>
                          <a:ea typeface="Consolas"/>
                          <a:cs typeface="Consolas"/>
                        </a:rPr>
                        <a:t>7</a:t>
                      </a:r>
                    </a:p>
                  </a:txBody>
                  <a:tcPr anchor="ctr">
                    <a:solidFill>
                      <a:srgbClr val="DCECFB"/>
                    </a:solidFill>
                  </a:tcPr>
                </a:tc>
                <a:tc>
                  <a:txBody>
                    <a:bodyPr/>
                    <a:lstStyle/>
                    <a:p>
                      <a:pPr algn="ctr"/>
                      <a:r>
                        <a:rPr sz="1650" b="1">
                          <a:solidFill>
                            <a:srgbClr val="151515"/>
                          </a:solidFill>
                          <a:latin typeface="Consolas"/>
                          <a:ea typeface="Consolas"/>
                          <a:cs typeface="Consolas"/>
                        </a:rPr>
                        <a:t>1</a:t>
                      </a:r>
                    </a:p>
                  </a:txBody>
                  <a:tcPr anchor="ctr">
                    <a:solidFill>
                      <a:srgbClr val="DCECFB"/>
                    </a:solidFill>
                  </a:tcPr>
                </a:tc>
                <a:tc>
                  <a:txBody>
                    <a:bodyPr/>
                    <a:lstStyle/>
                    <a:p>
                      <a:pPr algn="ctr"/>
                      <a:r>
                        <a:rPr sz="1650" b="1">
                          <a:solidFill>
                            <a:srgbClr val="151515"/>
                          </a:solidFill>
                          <a:latin typeface="Consolas"/>
                          <a:ea typeface="Consolas"/>
                          <a:cs typeface="Consolas"/>
                        </a:rPr>
                        <a:t>5</a:t>
                      </a:r>
                    </a:p>
                  </a:txBody>
                  <a:tcPr anchor="ctr">
                    <a:solidFill>
                      <a:srgbClr val="DDEFE6"/>
                    </a:solidFill>
                  </a:tcPr>
                </a:tc>
                <a:tc>
                  <a:txBody>
                    <a:bodyPr/>
                    <a:lstStyle/>
                    <a:p>
                      <a:pPr algn="ctr"/>
                      <a:r>
                        <a:rPr sz="1650" b="1">
                          <a:solidFill>
                            <a:srgbClr val="151515"/>
                          </a:solidFill>
                          <a:latin typeface="Consolas"/>
                          <a:ea typeface="Consolas"/>
                          <a:cs typeface="Consolas"/>
                        </a:rPr>
                        <a:t>4</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7" name="scope">
            <a:extLst>
              <a:ext uri="{FF2B5EF4-FFF2-40B4-BE49-F238E27FC236}">
                <a16:creationId xmlns:a16="http://schemas.microsoft.com/office/drawing/2014/main" id="{D536A31A-5974-4A86-A94E-17CA913932CA}"/>
              </a:ext>
            </a:extLst>
          </p:cNvPr>
          <p:cNvSpPr>
            <a:spLocks noGrp="1"/>
          </p:cNvSpPr>
          <p:nvPr/>
        </p:nvSpPr>
        <p:spPr>
          <a:xfrm>
            <a:off x="7905750" y="3914775"/>
            <a:ext cx="3667125" cy="323850"/>
          </a:xfrm>
          <a:prstGeom prst="rect">
            <a:avLst/>
          </a:prstGeom>
          <a:noFill/>
          <a:ln w="0">
            <a:noFill/>
          </a:ln>
        </p:spPr>
        <p:txBody>
          <a:bodyPr wrap="none" lIns="0" tIns="0" rIns="0" bIns="0" anchor="t">
            <a:noAutofit/>
          </a:bodyPr>
          <a:lstStyle>
            <a:defPPr algn="l">
              <a:defRPr sz="1725" b="1">
                <a:solidFill>
                  <a:srgbClr val="151515"/>
                </a:solidFill>
                <a:latin typeface="Malgun Gothic"/>
                <a:ea typeface="Malgun Gothic"/>
                <a:cs typeface="Malgun Gothic"/>
              </a:defRPr>
            </a:defPPr>
          </a:lstStyle>
          <a:p>
            <a:pPr algn="l">
              <a:lnSpc>
                <a:spcPct val="106000"/>
              </a:lnSpc>
              <a:buNone/>
              <a:defRPr sz="1725" b="1">
                <a:solidFill>
                  <a:srgbClr val="151515"/>
                </a:solidFill>
                <a:latin typeface="Malgun Gothic"/>
                <a:ea typeface="Malgun Gothic"/>
                <a:cs typeface="Malgun Gothic"/>
              </a:defRPr>
            </a:pPr>
            <a:r>
              <a:rPr sz="1725" b="1">
                <a:solidFill>
                  <a:srgbClr val="151515"/>
                </a:solidFill>
                <a:latin typeface="Malgun Gothic"/>
                <a:ea typeface="Malgun Gothic"/>
                <a:cs typeface="Malgun Gothic"/>
              </a:rPr>
              <a:t>오른쪽 4개 전체</a:t>
            </a:r>
          </a:p>
        </p:txBody>
      </p:sp>
      <p:sp>
        <p:nvSpPr>
          <p:cNvPr id="28" name="result-caption">
            <a:extLst>
              <a:ext uri="{FF2B5EF4-FFF2-40B4-BE49-F238E27FC236}">
                <a16:creationId xmlns:a16="http://schemas.microsoft.com/office/drawing/2014/main" id="{7A9B6847-CFCB-4050-ABE8-98CC417D4972}"/>
              </a:ext>
            </a:extLst>
          </p:cNvPr>
          <p:cNvSpPr>
            <a:spLocks noGrp="1"/>
          </p:cNvSpPr>
          <p:nvPr/>
        </p:nvSpPr>
        <p:spPr>
          <a:xfrm>
            <a:off x="7905750" y="4371975"/>
            <a:ext cx="3667125" cy="276225"/>
          </a:xfrm>
          <a:prstGeom prst="rect">
            <a:avLst/>
          </a:prstGeom>
          <a:noFill/>
          <a:ln w="0">
            <a:noFill/>
          </a:ln>
        </p:spPr>
        <p:txBody>
          <a:bodyPr wrap="none" lIns="0" tIns="0" rIns="0" bIns="0" anchor="t">
            <a:noAutofit/>
          </a:bodyPr>
          <a:lstStyle>
            <a:defPPr algn="l">
              <a:defRPr sz="1500" b="0">
                <a:solidFill>
                  <a:srgbClr val="555555"/>
                </a:solidFill>
                <a:latin typeface="Malgun Gothic"/>
                <a:ea typeface="Malgun Gothic"/>
                <a:cs typeface="Malgun Gothic"/>
              </a:defRPr>
            </a:defPPr>
          </a:lstStyle>
          <a:p>
            <a:pPr algn="l">
              <a:lnSpc>
                <a:spcPct val="106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이번 병합의 정렬 결과</a:t>
            </a:r>
          </a:p>
        </p:txBody>
      </p:sp>
      <p:sp>
        <p:nvSpPr>
          <p:cNvPr id="29" name="completed">
            <a:extLst>
              <a:ext uri="{FF2B5EF4-FFF2-40B4-BE49-F238E27FC236}">
                <a16:creationId xmlns:a16="http://schemas.microsoft.com/office/drawing/2014/main" id="{EABF3B47-7137-42EA-A3B4-8CCBD96D6EE9}"/>
              </a:ext>
            </a:extLst>
          </p:cNvPr>
          <p:cNvSpPr>
            <a:spLocks noGrp="1"/>
          </p:cNvSpPr>
          <p:nvPr/>
        </p:nvSpPr>
        <p:spPr>
          <a:xfrm>
            <a:off x="7905750" y="4743450"/>
            <a:ext cx="3667125" cy="342900"/>
          </a:xfrm>
          <a:prstGeom prst="rect">
            <a:avLst/>
          </a:prstGeom>
          <a:noFill/>
          <a:ln w="0">
            <a:noFill/>
          </a:ln>
        </p:spPr>
        <p:txBody>
          <a:bodyPr wrap="none" lIns="0" tIns="0" rIns="0" bIns="0" anchor="t">
            <a:noAutofit/>
          </a:bodyPr>
          <a:lstStyle>
            <a:defPPr algn="l">
              <a:defRPr sz="2025" b="1">
                <a:solidFill>
                  <a:srgbClr val="151515"/>
                </a:solidFill>
                <a:latin typeface="Consolas"/>
                <a:ea typeface="Consolas"/>
                <a:cs typeface="Consolas"/>
              </a:defRPr>
            </a:defPPr>
          </a:lstStyle>
          <a:p>
            <a:pPr algn="l">
              <a:lnSpc>
                <a:spcPct val="106000"/>
              </a:lnSpc>
              <a:buNone/>
              <a:defRPr sz="2025" b="1">
                <a:solidFill>
                  <a:srgbClr val="151515"/>
                </a:solidFill>
                <a:latin typeface="Consolas"/>
                <a:ea typeface="Consolas"/>
                <a:cs typeface="Consolas"/>
              </a:defRPr>
            </a:pPr>
            <a:r>
              <a:rPr sz="2025" b="1">
                <a:solidFill>
                  <a:srgbClr val="151515"/>
                </a:solidFill>
                <a:latin typeface="Consolas"/>
                <a:ea typeface="Consolas"/>
                <a:cs typeface="Consolas"/>
              </a:rPr>
              <a:t>[1, 4, 5, 7]</a:t>
            </a:r>
          </a:p>
        </p:txBody>
      </p:sp>
      <p:sp>
        <p:nvSpPr>
          <p:cNvPr id="30" name="next-merge">
            <a:extLst>
              <a:ext uri="{FF2B5EF4-FFF2-40B4-BE49-F238E27FC236}">
                <a16:creationId xmlns:a16="http://schemas.microsoft.com/office/drawing/2014/main" id="{5989C4B9-540D-40DD-A4AD-65F789FBF4BB}"/>
              </a:ext>
            </a:extLst>
          </p:cNvPr>
          <p:cNvSpPr>
            <a:spLocks noGrp="1"/>
          </p:cNvSpPr>
          <p:nvPr/>
        </p:nvSpPr>
        <p:spPr>
          <a:xfrm>
            <a:off x="7905750" y="5238750"/>
            <a:ext cx="3667125" cy="342900"/>
          </a:xfrm>
          <a:prstGeom prst="rect">
            <a:avLst/>
          </a:prstGeom>
          <a:noFill/>
          <a:ln w="0">
            <a:noFill/>
          </a:ln>
        </p:spPr>
        <p:txBody>
          <a:bodyPr wrap="none" lIns="0" tIns="0" rIns="0" bIns="0" anchor="t">
            <a:noAutofit/>
          </a:bodyPr>
          <a:lstStyle>
            <a:defPPr algn="l">
              <a:defRPr sz="1650" b="0">
                <a:solidFill>
                  <a:srgbClr val="151515"/>
                </a:solidFill>
                <a:latin typeface="Malgun Gothic"/>
                <a:ea typeface="Malgun Gothic"/>
                <a:cs typeface="Malgun Gothic"/>
              </a:defRPr>
            </a:defPPr>
          </a:lstStyle>
          <a:p>
            <a:pPr algn="l">
              <a:lnSpc>
                <a:spcPct val="106000"/>
              </a:lnSpc>
              <a:buNone/>
              <a:defRPr sz="1650" b="0">
                <a:solidFill>
                  <a:srgbClr val="151515"/>
                </a:solidFill>
                <a:latin typeface="Malgun Gothic"/>
                <a:ea typeface="Malgun Gothic"/>
                <a:cs typeface="Malgun Gothic"/>
              </a:defRPr>
            </a:pPr>
            <a:r>
              <a:rPr sz="1650" b="0">
                <a:solidFill>
                  <a:srgbClr val="151515"/>
                </a:solidFill>
                <a:latin typeface="Malgun Gothic"/>
                <a:ea typeface="Malgun Gothic"/>
                <a:cs typeface="Malgun Gothic"/>
              </a:rPr>
              <a:t>⑦에서 오른쪽 입력으로 사용</a:t>
            </a:r>
          </a:p>
        </p:txBody>
      </p:sp>
      <p:sp>
        <p:nvSpPr>
          <p:cNvPr id="31" name="trace-rule">
            <a:extLst>
              <a:ext uri="{FF2B5EF4-FFF2-40B4-BE49-F238E27FC236}">
                <a16:creationId xmlns:a16="http://schemas.microsoft.com/office/drawing/2014/main" id="{B5C7AE53-88C6-455B-8B85-2F8E57325218}"/>
              </a:ext>
            </a:extLst>
          </p:cNvPr>
          <p:cNvSpPr>
            <a:spLocks noGrp="1"/>
          </p:cNvSpPr>
          <p:nvPr/>
        </p:nvSpPr>
        <p:spPr>
          <a:xfrm>
            <a:off x="609600" y="6219825"/>
            <a:ext cx="10972800" cy="266700"/>
          </a:xfrm>
          <a:prstGeom prst="rect">
            <a:avLst/>
          </a:prstGeom>
          <a:noFill/>
          <a:ln w="0">
            <a:noFill/>
          </a:ln>
        </p:spPr>
        <p:txBody>
          <a:bodyPr wrap="none" lIns="0" tIns="0" rIns="0" bIns="0" anchor="t">
            <a:noAutofit/>
          </a:bodyPr>
          <a:lstStyle>
            <a:defPPr algn="l">
              <a:defRPr sz="1425" b="0">
                <a:solidFill>
                  <a:srgbClr val="151515"/>
                </a:solidFill>
                <a:latin typeface="Malgun Gothic"/>
                <a:ea typeface="Malgun Gothic"/>
                <a:cs typeface="Malgun Gothic"/>
              </a:defRPr>
            </a:defPPr>
          </a:lstStyle>
          <a:p>
            <a:pPr algn="l">
              <a:lnSpc>
                <a:spcPct val="106000"/>
              </a:lnSpc>
              <a:buNone/>
              <a:defRPr sz="1425" b="0">
                <a:solidFill>
                  <a:srgbClr val="151515"/>
                </a:solidFill>
                <a:latin typeface="Malgun Gothic"/>
                <a:ea typeface="Malgun Gothic"/>
                <a:cs typeface="Malgun Gothic"/>
              </a:defRPr>
            </a:pPr>
            <a:r>
              <a:rPr sz="1425" b="0">
                <a:solidFill>
                  <a:srgbClr val="151515"/>
                </a:solidFill>
                <a:latin typeface="Malgun Gothic"/>
                <a:ea typeface="Malgun Gothic"/>
                <a:cs typeface="Malgun Gothic"/>
              </a:rPr>
              <a:t>파랑 i: 왼쪽의 다음 값    초록 j: 오른쪽의 다음 값    회색: 사용한 값</a:t>
            </a:r>
          </a:p>
        </p:txBody>
      </p:sp>
    </p:spTree>
    <p:extLst>
      <p:ext uri="{BB962C8B-B14F-4D97-AF65-F5344CB8AC3E}">
        <p14:creationId xmlns:p14="http://schemas.microsoft.com/office/powerpoint/2010/main" val="15855871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70B49223-B5B7-43EB-AC02-4D85309A47FA}"/>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3FBDBC45-EF97-4182-AFCC-974FA754F0A4}"/>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83650170-D463-4156-BD7E-4E9082FD0C4A}"/>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시작 · 두 화살표가 첫 칸</a:t>
            </a:r>
          </a:p>
        </p:txBody>
      </p:sp>
      <p:sp>
        <p:nvSpPr>
          <p:cNvPr id="4" name="직사각형 3">
            <a:extLst>
              <a:ext uri="{FF2B5EF4-FFF2-40B4-BE49-F238E27FC236}">
                <a16:creationId xmlns:a16="http://schemas.microsoft.com/office/drawing/2014/main" id="{BCB4CAC4-0D6E-4C12-90F1-1921FC1DB538}"/>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i = 0, j = 0입니다. 왼쪽 2와 오른쪽 1을 비교합니다.</a:t>
            </a:r>
          </a:p>
          <a:p>
            <a:pPr>
              <a:defRPr sz="2025" b="0">
                <a:solidFill>
                  <a:srgbClr val="151515"/>
                </a:solidFill>
              </a:defRPr>
            </a:pPr>
            <a:r>
              <a:rPr sz="2025" b="0">
                <a:solidFill>
                  <a:srgbClr val="151515"/>
                </a:solidFill>
                <a:latin typeface="Malgun Gothic" panose="020B0503020000020004" pitchFamily="50" charset="-127"/>
              </a:rPr>
              <a:t>결과 배열은 아직 비어 있습니다.</a:t>
            </a:r>
          </a:p>
        </p:txBody>
      </p:sp>
      <p:sp>
        <p:nvSpPr>
          <p:cNvPr id="5" name="직사각형 4">
            <a:extLst>
              <a:ext uri="{FF2B5EF4-FFF2-40B4-BE49-F238E27FC236}">
                <a16:creationId xmlns:a16="http://schemas.microsoft.com/office/drawing/2014/main" id="{8E1E1C12-1DD1-41D8-9F4E-2E7394BF1462}"/>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1210CBF4-FBC4-478B-8880-EA834D03A5E8}"/>
              </a:ext>
            </a:extLst>
          </p:cNvPr>
          <p:cNvGraphicFramePr/>
          <p:nvPr>
            <p:extLst>
              <p:ext uri="{D42A27DB-BD31-4B8C-83A1-F6EECF244321}">
                <p14:modId xmlns:p14="http://schemas.microsoft.com/office/powerpoint/2010/main" val="2678212875"/>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DCECFB"/>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4326030A-3C34-4B55-9679-6CAB74961C96}"/>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54911A8A-6A00-4F67-9F1C-2EDE8C9CE141}"/>
              </a:ext>
            </a:extLst>
          </p:cNvPr>
          <p:cNvSpPr>
            <a:spLocks noGrp="1"/>
          </p:cNvSpPr>
          <p:nvPr/>
        </p:nvSpPr>
        <p:spPr>
          <a:xfrm>
            <a:off x="1809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9" name="직사각형 8">
            <a:extLst>
              <a:ext uri="{FF2B5EF4-FFF2-40B4-BE49-F238E27FC236}">
                <a16:creationId xmlns:a16="http://schemas.microsoft.com/office/drawing/2014/main" id="{A7BE8CAD-4E85-4476-A340-B9AE29554528}"/>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0" name="직사각형 9">
            <a:extLst>
              <a:ext uri="{FF2B5EF4-FFF2-40B4-BE49-F238E27FC236}">
                <a16:creationId xmlns:a16="http://schemas.microsoft.com/office/drawing/2014/main" id="{ED8AB3A5-8DF2-410F-ACDE-8368E20B8999}"/>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1" name="직사각형 10">
            <a:extLst>
              <a:ext uri="{FF2B5EF4-FFF2-40B4-BE49-F238E27FC236}">
                <a16:creationId xmlns:a16="http://schemas.microsoft.com/office/drawing/2014/main" id="{1B643BAA-FE94-4BC2-A92D-D1E5E1C549E5}"/>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DD13E06D-8BE5-4E3C-8A12-085AC116E9BF}"/>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32AC3CBE-1463-4B24-8F72-A897C097A40E}"/>
              </a:ext>
            </a:extLst>
          </p:cNvPr>
          <p:cNvGraphicFramePr/>
          <p:nvPr>
            <p:extLst>
              <p:ext uri="{D42A27DB-BD31-4B8C-83A1-F6EECF244321}">
                <p14:modId xmlns:p14="http://schemas.microsoft.com/office/powerpoint/2010/main" val="2522840379"/>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DDEFE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9DCA2361-0FCA-4BEB-B6DE-0993CFFEA8BB}"/>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C0CF455D-A3EA-4C01-8817-B1AECE52593C}"/>
              </a:ext>
            </a:extLst>
          </p:cNvPr>
          <p:cNvSpPr>
            <a:spLocks noGrp="1"/>
          </p:cNvSpPr>
          <p:nvPr/>
        </p:nvSpPr>
        <p:spPr>
          <a:xfrm>
            <a:off x="1809750" y="47244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j</a:t>
            </a:r>
          </a:p>
        </p:txBody>
      </p:sp>
      <p:sp>
        <p:nvSpPr>
          <p:cNvPr id="16" name="직사각형 15">
            <a:extLst>
              <a:ext uri="{FF2B5EF4-FFF2-40B4-BE49-F238E27FC236}">
                <a16:creationId xmlns:a16="http://schemas.microsoft.com/office/drawing/2014/main" id="{2AB3F6D7-D426-45D4-9EFE-8F35C630B457}"/>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7" name="직사각형 16">
            <a:extLst>
              <a:ext uri="{FF2B5EF4-FFF2-40B4-BE49-F238E27FC236}">
                <a16:creationId xmlns:a16="http://schemas.microsoft.com/office/drawing/2014/main" id="{EDB3F136-CA9A-4FD0-9E53-2830B32DBB16}"/>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8" name="직사각형 17">
            <a:extLst>
              <a:ext uri="{FF2B5EF4-FFF2-40B4-BE49-F238E27FC236}">
                <a16:creationId xmlns:a16="http://schemas.microsoft.com/office/drawing/2014/main" id="{9A425202-573B-4130-8B81-1CBF3C8DEDEB}"/>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9" name="직사각형 18">
            <a:extLst>
              <a:ext uri="{FF2B5EF4-FFF2-40B4-BE49-F238E27FC236}">
                <a16:creationId xmlns:a16="http://schemas.microsoft.com/office/drawing/2014/main" id="{EBFAEE2D-514C-420D-9AC3-6C2BED639ECD}"/>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887F1FC2-E8B9-4A22-92E6-5B313A63B932}"/>
              </a:ext>
            </a:extLst>
          </p:cNvPr>
          <p:cNvGraphicFramePr/>
          <p:nvPr>
            <p:extLst>
              <p:ext uri="{D42A27DB-BD31-4B8C-83A1-F6EECF244321}">
                <p14:modId xmlns:p14="http://schemas.microsoft.com/office/powerpoint/2010/main" val="1411932731"/>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95D11763-6481-4B73-B57B-48021EDCF23A}"/>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02E93CE9-C8AB-4678-B6BC-ABE117B0D63E}"/>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C5790F7F-5458-4B8B-A990-4A0D9FE8D8DC}"/>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C62C14E9-A049-407E-A4A3-76D87042D62F}"/>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F5052791-5CDC-45AF-BE26-0230841F37DE}"/>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2B1707E1-392E-4204-9D7C-F68DD8C26696}"/>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C12DDE8A-4085-4FB7-BA9E-7E1F7701ABEF}"/>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6FDB0BF4-3865-4878-B437-3289B7A43141}"/>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8257F9A1-766C-4091-99DD-C67B10A33DD3}"/>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9C1200D1-772D-4C82-A968-B8D949205E62}"/>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65642DA6-B345-48A5-BED2-15FD2B808E8E}"/>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34</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E4510896-D06D-05E0-525B-62F28A7BE649}"/>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922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16835A06-1EA6-4BB4-83C7-47F088400C3E}"/>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F200C0EE-73C6-41E5-AFD8-F3D9B784EF4F}"/>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C4CBED7F-04AF-42F3-B8D8-D64AF4C5E8A8}"/>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1단계 · 1을 붙인 뒤</a:t>
            </a:r>
          </a:p>
        </p:txBody>
      </p:sp>
      <p:sp>
        <p:nvSpPr>
          <p:cNvPr id="4" name="직사각형 3">
            <a:extLst>
              <a:ext uri="{FF2B5EF4-FFF2-40B4-BE49-F238E27FC236}">
                <a16:creationId xmlns:a16="http://schemas.microsoft.com/office/drawing/2014/main" id="{42620AFA-3289-4ACF-B953-CFE806C54905}"/>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2 &gt; 오른쪽 1. 오른쪽 값을 결과 끝에 붙입니다.</a:t>
            </a:r>
          </a:p>
          <a:p>
            <a:pPr>
              <a:defRPr sz="2025" b="0">
                <a:solidFill>
                  <a:srgbClr val="151515"/>
                </a:solidFill>
              </a:defRPr>
            </a:pPr>
            <a:r>
              <a:rPr sz="2025" b="0">
                <a:solidFill>
                  <a:srgbClr val="151515"/>
                </a:solidFill>
                <a:latin typeface="Malgun Gothic" panose="020B0503020000020004" pitchFamily="50" charset="-127"/>
              </a:rPr>
              <a:t>j를 0에서 1로 옮깁니다. i = 0는 그대로입니다.</a:t>
            </a:r>
          </a:p>
        </p:txBody>
      </p:sp>
      <p:sp>
        <p:nvSpPr>
          <p:cNvPr id="5" name="직사각형 4">
            <a:extLst>
              <a:ext uri="{FF2B5EF4-FFF2-40B4-BE49-F238E27FC236}">
                <a16:creationId xmlns:a16="http://schemas.microsoft.com/office/drawing/2014/main" id="{558B99E2-D24A-4057-8327-19ECE3D71347}"/>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3D31C764-A5CF-4973-BC94-2852C4EA9A93}"/>
              </a:ext>
            </a:extLst>
          </p:cNvPr>
          <p:cNvGraphicFramePr/>
          <p:nvPr>
            <p:extLst>
              <p:ext uri="{D42A27DB-BD31-4B8C-83A1-F6EECF244321}">
                <p14:modId xmlns:p14="http://schemas.microsoft.com/office/powerpoint/2010/main" val="586131823"/>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DCECFB"/>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830D01D6-78CF-41B1-80AD-CB7CE6316EF1}"/>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CC553158-DA33-41AF-AF19-9DCF3755BE84}"/>
              </a:ext>
            </a:extLst>
          </p:cNvPr>
          <p:cNvSpPr>
            <a:spLocks noGrp="1"/>
          </p:cNvSpPr>
          <p:nvPr/>
        </p:nvSpPr>
        <p:spPr>
          <a:xfrm>
            <a:off x="1809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9" name="직사각형 8">
            <a:extLst>
              <a:ext uri="{FF2B5EF4-FFF2-40B4-BE49-F238E27FC236}">
                <a16:creationId xmlns:a16="http://schemas.microsoft.com/office/drawing/2014/main" id="{1005B222-7ACC-4FFF-B727-53E56513407B}"/>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0" name="직사각형 9">
            <a:extLst>
              <a:ext uri="{FF2B5EF4-FFF2-40B4-BE49-F238E27FC236}">
                <a16:creationId xmlns:a16="http://schemas.microsoft.com/office/drawing/2014/main" id="{9F6E6A6B-9CD0-48B7-BBC2-47C1D0DFF8D8}"/>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1" name="직사각형 10">
            <a:extLst>
              <a:ext uri="{FF2B5EF4-FFF2-40B4-BE49-F238E27FC236}">
                <a16:creationId xmlns:a16="http://schemas.microsoft.com/office/drawing/2014/main" id="{F795EDA9-EF5B-4927-9039-092B67979ED1}"/>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D9EF4993-FFE9-42BC-A12B-8B1948D8378A}"/>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B93C684B-4BCF-46D7-B7C6-A892BA5FF32C}"/>
              </a:ext>
            </a:extLst>
          </p:cNvPr>
          <p:cNvGraphicFramePr/>
          <p:nvPr>
            <p:extLst>
              <p:ext uri="{D42A27DB-BD31-4B8C-83A1-F6EECF244321}">
                <p14:modId xmlns:p14="http://schemas.microsoft.com/office/powerpoint/2010/main" val="3695038646"/>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DDEFE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F9A01766-70CE-452D-A724-2D6615577A97}"/>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F32ADC67-60FD-4445-94C1-09425BA89C66}"/>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BC5426E2-814F-4F61-B518-7C68D7A7EBCF}"/>
              </a:ext>
            </a:extLst>
          </p:cNvPr>
          <p:cNvSpPr>
            <a:spLocks noGrp="1"/>
          </p:cNvSpPr>
          <p:nvPr/>
        </p:nvSpPr>
        <p:spPr>
          <a:xfrm>
            <a:off x="2876550" y="47244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j</a:t>
            </a:r>
          </a:p>
        </p:txBody>
      </p:sp>
      <p:sp>
        <p:nvSpPr>
          <p:cNvPr id="17" name="직사각형 16">
            <a:extLst>
              <a:ext uri="{FF2B5EF4-FFF2-40B4-BE49-F238E27FC236}">
                <a16:creationId xmlns:a16="http://schemas.microsoft.com/office/drawing/2014/main" id="{AE59CEA2-86CB-4FD9-BA11-164E75B98C14}"/>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8" name="직사각형 17">
            <a:extLst>
              <a:ext uri="{FF2B5EF4-FFF2-40B4-BE49-F238E27FC236}">
                <a16:creationId xmlns:a16="http://schemas.microsoft.com/office/drawing/2014/main" id="{BF0FB593-4E17-477C-AD60-758035D1EA60}"/>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9" name="직사각형 18">
            <a:extLst>
              <a:ext uri="{FF2B5EF4-FFF2-40B4-BE49-F238E27FC236}">
                <a16:creationId xmlns:a16="http://schemas.microsoft.com/office/drawing/2014/main" id="{A0B267C2-0919-4E49-A696-90E10405B134}"/>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C94A6DD2-9A8C-4BC7-940A-1AA4A98A2A95}"/>
              </a:ext>
            </a:extLst>
          </p:cNvPr>
          <p:cNvGraphicFramePr/>
          <p:nvPr>
            <p:extLst>
              <p:ext uri="{D42A27DB-BD31-4B8C-83A1-F6EECF244321}">
                <p14:modId xmlns:p14="http://schemas.microsoft.com/office/powerpoint/2010/main" val="3746948936"/>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E13BF016-594B-468B-9501-A25AA23C8995}"/>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D0A738B0-3392-41C8-B94F-12E7DA874577}"/>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FA4391B8-43C3-4E29-A5A9-107F28A73354}"/>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F8CE7605-96E8-4867-AFC5-099F0DCEC310}"/>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8A4FC211-FC81-4938-AF2F-415DB0A2CA24}"/>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84C0B300-3E53-4B33-AA21-D51FD0180D0C}"/>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9AA7E4CB-5DD6-4A4D-9DEF-48B197A361DF}"/>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FE923A56-A0D1-4DE6-8CFD-83B727592227}"/>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9A41F0BA-BCDC-4006-A392-89CACE6FD5F8}"/>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59D4A34B-EE58-4A66-89A6-A0F810AD26E1}"/>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CC1D9A55-B38E-4DE6-97E6-D54C5C01C782}"/>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35</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786C2084-CE76-98DD-CA59-3074CDC59223}"/>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001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09DE0047-FA89-424E-8AC7-BDADA954AC0C}"/>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445597F8-720C-4A24-A2D9-4FAA492A9213}"/>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FC980556-C7EA-4C32-AC85-910887A6FE2D}"/>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2단계 · 2을 붙인 뒤</a:t>
            </a:r>
          </a:p>
        </p:txBody>
      </p:sp>
      <p:sp>
        <p:nvSpPr>
          <p:cNvPr id="4" name="직사각형 3">
            <a:extLst>
              <a:ext uri="{FF2B5EF4-FFF2-40B4-BE49-F238E27FC236}">
                <a16:creationId xmlns:a16="http://schemas.microsoft.com/office/drawing/2014/main" id="{53C47BB1-9334-4818-B3CC-A95729A70002}"/>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2 ≤ 오른쪽 4. 왼쪽 값을 결과 끝에 붙입니다.</a:t>
            </a:r>
          </a:p>
          <a:p>
            <a:pPr>
              <a:defRPr sz="2025" b="0">
                <a:solidFill>
                  <a:srgbClr val="151515"/>
                </a:solidFill>
              </a:defRPr>
            </a:pPr>
            <a:r>
              <a:rPr sz="2025" b="0">
                <a:solidFill>
                  <a:srgbClr val="151515"/>
                </a:solidFill>
                <a:latin typeface="Malgun Gothic" panose="020B0503020000020004" pitchFamily="50" charset="-127"/>
              </a:rPr>
              <a:t>i를 0에서 1로 옮깁니다. j = 1는 그대로입니다.</a:t>
            </a:r>
          </a:p>
        </p:txBody>
      </p:sp>
      <p:sp>
        <p:nvSpPr>
          <p:cNvPr id="5" name="직사각형 4">
            <a:extLst>
              <a:ext uri="{FF2B5EF4-FFF2-40B4-BE49-F238E27FC236}">
                <a16:creationId xmlns:a16="http://schemas.microsoft.com/office/drawing/2014/main" id="{B4CA4A56-E0DF-41EE-B7B5-3ADF826E9142}"/>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F55D60C6-FB11-4B3B-9025-C37B3CBADD93}"/>
              </a:ext>
            </a:extLst>
          </p:cNvPr>
          <p:cNvGraphicFramePr/>
          <p:nvPr>
            <p:extLst>
              <p:ext uri="{D42A27DB-BD31-4B8C-83A1-F6EECF244321}">
                <p14:modId xmlns:p14="http://schemas.microsoft.com/office/powerpoint/2010/main" val="3556323751"/>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DCECFB"/>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32FF6BD0-C8C8-4B15-AC8C-5DC4445AF614}"/>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6C8326C8-2F7B-45FD-A46C-57400EC8E846}"/>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90D38ADE-309F-478C-8E22-91F48C7BCCCE}"/>
              </a:ext>
            </a:extLst>
          </p:cNvPr>
          <p:cNvSpPr>
            <a:spLocks noGrp="1"/>
          </p:cNvSpPr>
          <p:nvPr/>
        </p:nvSpPr>
        <p:spPr>
          <a:xfrm>
            <a:off x="28765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10" name="직사각형 9">
            <a:extLst>
              <a:ext uri="{FF2B5EF4-FFF2-40B4-BE49-F238E27FC236}">
                <a16:creationId xmlns:a16="http://schemas.microsoft.com/office/drawing/2014/main" id="{4B903614-81F6-4CC8-9FF7-2D806C18C784}"/>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1" name="직사각형 10">
            <a:extLst>
              <a:ext uri="{FF2B5EF4-FFF2-40B4-BE49-F238E27FC236}">
                <a16:creationId xmlns:a16="http://schemas.microsoft.com/office/drawing/2014/main" id="{F648EAC0-829D-4D4E-AAA2-6AC34FA87F2F}"/>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0812054E-8BB8-40A0-BC0A-63C492749E68}"/>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1FD3C849-6A3F-40E0-8248-D2B1AF5BAB4D}"/>
              </a:ext>
            </a:extLst>
          </p:cNvPr>
          <p:cNvGraphicFramePr/>
          <p:nvPr>
            <p:extLst>
              <p:ext uri="{D42A27DB-BD31-4B8C-83A1-F6EECF244321}">
                <p14:modId xmlns:p14="http://schemas.microsoft.com/office/powerpoint/2010/main" val="697096296"/>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DDEFE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0E5AB580-7B70-4548-87F6-D941D26EE384}"/>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EA6B9B45-ED98-4E3D-A44D-6F222FB68B18}"/>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E66C68D0-383D-41A6-B402-5EA6880AB89A}"/>
              </a:ext>
            </a:extLst>
          </p:cNvPr>
          <p:cNvSpPr>
            <a:spLocks noGrp="1"/>
          </p:cNvSpPr>
          <p:nvPr/>
        </p:nvSpPr>
        <p:spPr>
          <a:xfrm>
            <a:off x="2876550" y="47244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j</a:t>
            </a:r>
          </a:p>
        </p:txBody>
      </p:sp>
      <p:sp>
        <p:nvSpPr>
          <p:cNvPr id="17" name="직사각형 16">
            <a:extLst>
              <a:ext uri="{FF2B5EF4-FFF2-40B4-BE49-F238E27FC236}">
                <a16:creationId xmlns:a16="http://schemas.microsoft.com/office/drawing/2014/main" id="{ADBC5C4D-4E29-46E6-8CF2-C1056557B365}"/>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8" name="직사각형 17">
            <a:extLst>
              <a:ext uri="{FF2B5EF4-FFF2-40B4-BE49-F238E27FC236}">
                <a16:creationId xmlns:a16="http://schemas.microsoft.com/office/drawing/2014/main" id="{58F7A62B-AD20-40B1-A9C0-1AB2E2916721}"/>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9" name="직사각형 18">
            <a:extLst>
              <a:ext uri="{FF2B5EF4-FFF2-40B4-BE49-F238E27FC236}">
                <a16:creationId xmlns:a16="http://schemas.microsoft.com/office/drawing/2014/main" id="{C15C0A4F-7576-4210-8E0C-19FA76F801CD}"/>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C7CDD036-DC8F-40FE-B080-CE9F570E3060}"/>
              </a:ext>
            </a:extLst>
          </p:cNvPr>
          <p:cNvGraphicFramePr/>
          <p:nvPr>
            <p:extLst>
              <p:ext uri="{D42A27DB-BD31-4B8C-83A1-F6EECF244321}">
                <p14:modId xmlns:p14="http://schemas.microsoft.com/office/powerpoint/2010/main" val="2525653134"/>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FFB67EAF-0B80-41DB-8C1B-A99D382B7860}"/>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3E4CB891-1ACB-437C-828B-B5E5B45AF022}"/>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941E7B4F-CC16-454D-AF86-B2C1B9D0AB11}"/>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B59ED4BD-1A9E-4C55-B99C-B7F2E0E16B89}"/>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CAD3BB47-D20C-4669-BCD4-4CBED0899CAD}"/>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35A141B4-88AD-4664-843B-3CF321DB039D}"/>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168E71BF-560B-4605-9177-C7EF6B634A47}"/>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1EF0328F-31DD-4C02-88F3-30D52E2A60F1}"/>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452E077A-CB96-4093-B8C2-C807C7BB14A8}"/>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2E3B1FED-9064-4ABB-9542-9C2F742CE88C}"/>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2DD25020-19E3-4A7C-B59A-AB9CE1F44AE6}"/>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36</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E3BC7593-5B9C-E5A3-0298-E5897937E980}"/>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559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6CCC2CE4-9555-4E13-98CC-7645BFE350F4}"/>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08E98B4D-28BC-46DC-9AF3-5F2094566706}"/>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45DCFD33-7EDD-476C-A215-7301C65E2ECF}"/>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3단계 · 3을 붙인 뒤</a:t>
            </a:r>
          </a:p>
        </p:txBody>
      </p:sp>
      <p:sp>
        <p:nvSpPr>
          <p:cNvPr id="4" name="직사각형 3">
            <a:extLst>
              <a:ext uri="{FF2B5EF4-FFF2-40B4-BE49-F238E27FC236}">
                <a16:creationId xmlns:a16="http://schemas.microsoft.com/office/drawing/2014/main" id="{A1FD0439-BBE9-41DA-8768-D8D56A0BC428}"/>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3 ≤ 오른쪽 4. 왼쪽 값을 결과 끝에 붙입니다.</a:t>
            </a:r>
          </a:p>
          <a:p>
            <a:pPr>
              <a:defRPr sz="2025" b="0">
                <a:solidFill>
                  <a:srgbClr val="151515"/>
                </a:solidFill>
              </a:defRPr>
            </a:pPr>
            <a:r>
              <a:rPr sz="2025" b="0">
                <a:solidFill>
                  <a:srgbClr val="151515"/>
                </a:solidFill>
                <a:latin typeface="Malgun Gothic" panose="020B0503020000020004" pitchFamily="50" charset="-127"/>
              </a:rPr>
              <a:t>i를 1에서 2로 옮깁니다. j = 1는 그대로입니다.</a:t>
            </a:r>
          </a:p>
        </p:txBody>
      </p:sp>
      <p:sp>
        <p:nvSpPr>
          <p:cNvPr id="5" name="직사각형 4">
            <a:extLst>
              <a:ext uri="{FF2B5EF4-FFF2-40B4-BE49-F238E27FC236}">
                <a16:creationId xmlns:a16="http://schemas.microsoft.com/office/drawing/2014/main" id="{CC528549-61D2-4CD1-95CE-7F67B0BC5822}"/>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494763E3-5B22-4930-BDE9-1FC3CE276E30}"/>
              </a:ext>
            </a:extLst>
          </p:cNvPr>
          <p:cNvGraphicFramePr/>
          <p:nvPr>
            <p:extLst>
              <p:ext uri="{D42A27DB-BD31-4B8C-83A1-F6EECF244321}">
                <p14:modId xmlns:p14="http://schemas.microsoft.com/office/powerpoint/2010/main" val="3207815229"/>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DCECFB"/>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17596116-1934-44C4-A988-EEDDE5C4C1BA}"/>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72E0F530-7155-4DE9-BAD4-32A1F6F1E139}"/>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C8D63BEA-438B-4CA0-8B99-3BBFD13C4AE9}"/>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B86DAAC9-D87D-469E-A04D-CA0A63BC8390}"/>
              </a:ext>
            </a:extLst>
          </p:cNvPr>
          <p:cNvSpPr>
            <a:spLocks noGrp="1"/>
          </p:cNvSpPr>
          <p:nvPr/>
        </p:nvSpPr>
        <p:spPr>
          <a:xfrm>
            <a:off x="39433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11" name="직사각형 10">
            <a:extLst>
              <a:ext uri="{FF2B5EF4-FFF2-40B4-BE49-F238E27FC236}">
                <a16:creationId xmlns:a16="http://schemas.microsoft.com/office/drawing/2014/main" id="{F91C00BD-8518-41D0-A689-92365BA86E6B}"/>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0C0866FF-DD0B-4E85-91F2-97183D17B195}"/>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72B8B3C9-A0A6-48B3-BCFC-9D965ED999CD}"/>
              </a:ext>
            </a:extLst>
          </p:cNvPr>
          <p:cNvGraphicFramePr/>
          <p:nvPr>
            <p:extLst>
              <p:ext uri="{D42A27DB-BD31-4B8C-83A1-F6EECF244321}">
                <p14:modId xmlns:p14="http://schemas.microsoft.com/office/powerpoint/2010/main" val="1533480831"/>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DDEFE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B97E2A6D-BBAF-43AE-8EFF-331CD15BE414}"/>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ADB4CF0E-7A01-4AF3-A3D8-4B93692FB664}"/>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A9470E2C-D760-4EE8-975F-626C40BDAF12}"/>
              </a:ext>
            </a:extLst>
          </p:cNvPr>
          <p:cNvSpPr>
            <a:spLocks noGrp="1"/>
          </p:cNvSpPr>
          <p:nvPr/>
        </p:nvSpPr>
        <p:spPr>
          <a:xfrm>
            <a:off x="2876550" y="47244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j</a:t>
            </a:r>
          </a:p>
        </p:txBody>
      </p:sp>
      <p:sp>
        <p:nvSpPr>
          <p:cNvPr id="17" name="직사각형 16">
            <a:extLst>
              <a:ext uri="{FF2B5EF4-FFF2-40B4-BE49-F238E27FC236}">
                <a16:creationId xmlns:a16="http://schemas.microsoft.com/office/drawing/2014/main" id="{82560134-C0EC-444E-8514-8B8E78E12E8B}"/>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8" name="직사각형 17">
            <a:extLst>
              <a:ext uri="{FF2B5EF4-FFF2-40B4-BE49-F238E27FC236}">
                <a16:creationId xmlns:a16="http://schemas.microsoft.com/office/drawing/2014/main" id="{17EA0EAD-AB4B-4870-AEAB-A98486C7D329}"/>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9" name="직사각형 18">
            <a:extLst>
              <a:ext uri="{FF2B5EF4-FFF2-40B4-BE49-F238E27FC236}">
                <a16:creationId xmlns:a16="http://schemas.microsoft.com/office/drawing/2014/main" id="{8BC08876-0DD2-4995-9285-9AC28062DFF3}"/>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00A4EFD4-79B9-4DAB-9A0A-B725557EC118}"/>
              </a:ext>
            </a:extLst>
          </p:cNvPr>
          <p:cNvGraphicFramePr/>
          <p:nvPr>
            <p:extLst>
              <p:ext uri="{D42A27DB-BD31-4B8C-83A1-F6EECF244321}">
                <p14:modId xmlns:p14="http://schemas.microsoft.com/office/powerpoint/2010/main" val="3723825883"/>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53AA8FE0-381A-48A6-B46D-C8C6C5784432}"/>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F12E2AE8-F568-4B48-9092-915611E8D3D4}"/>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8A752BF4-A784-4051-856D-96CA5A5886B3}"/>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A45B172F-BBAF-4B2C-85EF-B6DF35E9BA47}"/>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997CD4F9-8C36-43E8-B7FC-09E656982C40}"/>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72EE0D3E-ABF7-4493-B2A5-B31B310F4342}"/>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B4416386-365E-402D-9BDB-FAD5AEDEC65B}"/>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95F9EC9B-0F2D-4631-8A0B-B99361F33A8D}"/>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DE00B202-A6C0-40B2-AE79-9B35FBD635CA}"/>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C5FB97C5-FF76-4627-B4C8-5F9A76B5BD0F}"/>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AE43D0D1-B627-4EFB-922F-586E5E024A97}"/>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37</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CBDAEE6D-390D-D62A-4E3C-D2E82D6EDC97}"/>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092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2F474EED-4FB7-44C7-81D5-CF14FA5FC77C}"/>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FBD91C31-A2C1-4A23-95C4-4DEF2113442B}"/>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7554669C-0376-4A86-ABB7-1FDB4F64088E}"/>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4단계 · 4을 붙인 뒤</a:t>
            </a:r>
          </a:p>
        </p:txBody>
      </p:sp>
      <p:sp>
        <p:nvSpPr>
          <p:cNvPr id="4" name="직사각형 3">
            <a:extLst>
              <a:ext uri="{FF2B5EF4-FFF2-40B4-BE49-F238E27FC236}">
                <a16:creationId xmlns:a16="http://schemas.microsoft.com/office/drawing/2014/main" id="{5D942257-E7AF-48F5-86FC-060ADA6CA53B}"/>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6 &gt; 오른쪽 4. 오른쪽 값을 결과 끝에 붙입니다.</a:t>
            </a:r>
          </a:p>
          <a:p>
            <a:pPr>
              <a:defRPr sz="2025" b="0">
                <a:solidFill>
                  <a:srgbClr val="151515"/>
                </a:solidFill>
              </a:defRPr>
            </a:pPr>
            <a:r>
              <a:rPr sz="2025" b="0">
                <a:solidFill>
                  <a:srgbClr val="151515"/>
                </a:solidFill>
                <a:latin typeface="Malgun Gothic" panose="020B0503020000020004" pitchFamily="50" charset="-127"/>
              </a:rPr>
              <a:t>j를 1에서 2로 옮깁니다. i = 2는 그대로입니다.</a:t>
            </a:r>
          </a:p>
        </p:txBody>
      </p:sp>
      <p:sp>
        <p:nvSpPr>
          <p:cNvPr id="5" name="직사각형 4">
            <a:extLst>
              <a:ext uri="{FF2B5EF4-FFF2-40B4-BE49-F238E27FC236}">
                <a16:creationId xmlns:a16="http://schemas.microsoft.com/office/drawing/2014/main" id="{CF54C4DB-060C-4381-B7FE-FCB91129A8F2}"/>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01B88642-3B7C-417E-8731-51B444EA1410}"/>
              </a:ext>
            </a:extLst>
          </p:cNvPr>
          <p:cNvGraphicFramePr/>
          <p:nvPr>
            <p:extLst>
              <p:ext uri="{D42A27DB-BD31-4B8C-83A1-F6EECF244321}">
                <p14:modId xmlns:p14="http://schemas.microsoft.com/office/powerpoint/2010/main" val="72442748"/>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DCECFB"/>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47348752-D9A1-40E0-8380-6CE20E3B0E42}"/>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C2D81F3B-8604-4332-8B07-88981C1669DC}"/>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73DB6205-7DF8-41C1-B8B7-2D7471B91FE6}"/>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44234E0D-23AA-428B-B568-91AD57A97A91}"/>
              </a:ext>
            </a:extLst>
          </p:cNvPr>
          <p:cNvSpPr>
            <a:spLocks noGrp="1"/>
          </p:cNvSpPr>
          <p:nvPr/>
        </p:nvSpPr>
        <p:spPr>
          <a:xfrm>
            <a:off x="39433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11" name="직사각형 10">
            <a:extLst>
              <a:ext uri="{FF2B5EF4-FFF2-40B4-BE49-F238E27FC236}">
                <a16:creationId xmlns:a16="http://schemas.microsoft.com/office/drawing/2014/main" id="{F3040B60-8369-4D3F-BB39-FF4ADEE0D014}"/>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8A578596-770F-45ED-A4D8-91663D781440}"/>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B7834874-AADF-443D-8D4A-C70EE26B5318}"/>
              </a:ext>
            </a:extLst>
          </p:cNvPr>
          <p:cNvGraphicFramePr/>
          <p:nvPr>
            <p:extLst>
              <p:ext uri="{D42A27DB-BD31-4B8C-83A1-F6EECF244321}">
                <p14:modId xmlns:p14="http://schemas.microsoft.com/office/powerpoint/2010/main" val="191327536"/>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DDEFE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9750B7FB-0497-4799-B617-EF0B036D1ACF}"/>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08CD54D0-FA06-4508-B998-1C57E77331F3}"/>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7A07E6ED-6144-4E08-BEB3-757FCEAB2A5B}"/>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7" name="직사각형 16">
            <a:extLst>
              <a:ext uri="{FF2B5EF4-FFF2-40B4-BE49-F238E27FC236}">
                <a16:creationId xmlns:a16="http://schemas.microsoft.com/office/drawing/2014/main" id="{48FDAB8D-D9E1-48C3-A70F-461DF2C7F0C9}"/>
              </a:ext>
            </a:extLst>
          </p:cNvPr>
          <p:cNvSpPr>
            <a:spLocks noGrp="1"/>
          </p:cNvSpPr>
          <p:nvPr/>
        </p:nvSpPr>
        <p:spPr>
          <a:xfrm>
            <a:off x="3943350" y="47244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j</a:t>
            </a:r>
          </a:p>
        </p:txBody>
      </p:sp>
      <p:sp>
        <p:nvSpPr>
          <p:cNvPr id="18" name="직사각형 17">
            <a:extLst>
              <a:ext uri="{FF2B5EF4-FFF2-40B4-BE49-F238E27FC236}">
                <a16:creationId xmlns:a16="http://schemas.microsoft.com/office/drawing/2014/main" id="{F9165752-5456-4CF3-BC15-ABAE8385CCA9}"/>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9" name="직사각형 18">
            <a:extLst>
              <a:ext uri="{FF2B5EF4-FFF2-40B4-BE49-F238E27FC236}">
                <a16:creationId xmlns:a16="http://schemas.microsoft.com/office/drawing/2014/main" id="{65380054-35D0-4905-8033-F030E6E66ACD}"/>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4AF9EADD-01EE-457F-9D8E-191718FAD803}"/>
              </a:ext>
            </a:extLst>
          </p:cNvPr>
          <p:cNvGraphicFramePr/>
          <p:nvPr>
            <p:extLst>
              <p:ext uri="{D42A27DB-BD31-4B8C-83A1-F6EECF244321}">
                <p14:modId xmlns:p14="http://schemas.microsoft.com/office/powerpoint/2010/main" val="1585258238"/>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232B24E3-902A-4AE7-BAED-F94543EA982E}"/>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D7962247-8C9B-4AA1-B61E-A563102138FB}"/>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C4F31540-FFDA-4FEC-AD36-13072FBB2F51}"/>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B32CE230-4A1E-4C4C-894D-E59721C16F39}"/>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E2F8DA9E-85B2-46DD-B893-96FBA1E2102F}"/>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BBFBD3A1-9638-4AA7-8CDA-67FE12DB5001}"/>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79C39B87-3DF4-4022-8FD8-05DA8A5E9570}"/>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64A3C660-35CB-4AEE-8AB8-985662CED68B}"/>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6EBD7750-4C10-4741-90D2-B6F85A3C11C6}"/>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1E5E3BD4-0786-4883-A083-5C04EBC15B52}"/>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5B99047A-8C8E-4CD3-A1F7-E986929A8BD0}"/>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38</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F82C07D8-B677-E5B2-4A15-6D04232706A1}"/>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417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0D1152F2-094B-426A-8A30-1AAA1CD0BF2E}"/>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AB93153A-1F44-44CA-96D3-35153717F193}"/>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A25D05A3-658B-40F3-BF37-29E557D40642}"/>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5단계 · 5을 붙인 뒤</a:t>
            </a:r>
          </a:p>
        </p:txBody>
      </p:sp>
      <p:sp>
        <p:nvSpPr>
          <p:cNvPr id="4" name="직사각형 3">
            <a:extLst>
              <a:ext uri="{FF2B5EF4-FFF2-40B4-BE49-F238E27FC236}">
                <a16:creationId xmlns:a16="http://schemas.microsoft.com/office/drawing/2014/main" id="{2429DB3B-DEE8-4792-A1BC-B38A917DDA14}"/>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6 &gt; 오른쪽 5. 오른쪽 값을 결과 끝에 붙입니다.</a:t>
            </a:r>
          </a:p>
          <a:p>
            <a:pPr>
              <a:defRPr sz="2025" b="0">
                <a:solidFill>
                  <a:srgbClr val="151515"/>
                </a:solidFill>
              </a:defRPr>
            </a:pPr>
            <a:r>
              <a:rPr sz="2025" b="0">
                <a:solidFill>
                  <a:srgbClr val="151515"/>
                </a:solidFill>
                <a:latin typeface="Malgun Gothic" panose="020B0503020000020004" pitchFamily="50" charset="-127"/>
              </a:rPr>
              <a:t>j를 2에서 3로 옮깁니다. i = 2는 그대로입니다.</a:t>
            </a:r>
          </a:p>
        </p:txBody>
      </p:sp>
      <p:sp>
        <p:nvSpPr>
          <p:cNvPr id="5" name="직사각형 4">
            <a:extLst>
              <a:ext uri="{FF2B5EF4-FFF2-40B4-BE49-F238E27FC236}">
                <a16:creationId xmlns:a16="http://schemas.microsoft.com/office/drawing/2014/main" id="{BE4EE737-5B70-4E2C-B014-B245C2FC1A85}"/>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080B4D89-8202-496B-94A3-C18FADD96367}"/>
              </a:ext>
            </a:extLst>
          </p:cNvPr>
          <p:cNvGraphicFramePr/>
          <p:nvPr>
            <p:extLst>
              <p:ext uri="{D42A27DB-BD31-4B8C-83A1-F6EECF244321}">
                <p14:modId xmlns:p14="http://schemas.microsoft.com/office/powerpoint/2010/main" val="504644760"/>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DCECFB"/>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EFD21227-AD2D-4C11-9ED6-D4F5E7DAB7DB}"/>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A60A09FF-AB98-4139-A7D5-912CBAAA820F}"/>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29612A4A-EFE5-4926-8873-7338D615B20F}"/>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6FA16D1E-734B-44E4-BAEA-733E60E59175}"/>
              </a:ext>
            </a:extLst>
          </p:cNvPr>
          <p:cNvSpPr>
            <a:spLocks noGrp="1"/>
          </p:cNvSpPr>
          <p:nvPr/>
        </p:nvSpPr>
        <p:spPr>
          <a:xfrm>
            <a:off x="39433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11" name="직사각형 10">
            <a:extLst>
              <a:ext uri="{FF2B5EF4-FFF2-40B4-BE49-F238E27FC236}">
                <a16:creationId xmlns:a16="http://schemas.microsoft.com/office/drawing/2014/main" id="{C795BD43-4760-4906-8CFA-9541215DBC0A}"/>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C7722008-BB40-4461-A2A2-F38CD96C7E5C}"/>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6AE26EB6-6689-4C71-B4D2-EEEB71CCF9F9}"/>
              </a:ext>
            </a:extLst>
          </p:cNvPr>
          <p:cNvGraphicFramePr/>
          <p:nvPr>
            <p:extLst>
              <p:ext uri="{D42A27DB-BD31-4B8C-83A1-F6EECF244321}">
                <p14:modId xmlns:p14="http://schemas.microsoft.com/office/powerpoint/2010/main" val="2078392577"/>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DDEFE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F42272E6-59C1-4A2B-8574-5B62A6441182}"/>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67779C14-37F0-46F8-B7E1-55829DB60933}"/>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EA05FCF6-9B5F-498B-9699-B9A04382BC81}"/>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7" name="직사각형 16">
            <a:extLst>
              <a:ext uri="{FF2B5EF4-FFF2-40B4-BE49-F238E27FC236}">
                <a16:creationId xmlns:a16="http://schemas.microsoft.com/office/drawing/2014/main" id="{5003B7B8-E136-4FC7-A519-CC8879A3458E}"/>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8" name="직사각형 17">
            <a:extLst>
              <a:ext uri="{FF2B5EF4-FFF2-40B4-BE49-F238E27FC236}">
                <a16:creationId xmlns:a16="http://schemas.microsoft.com/office/drawing/2014/main" id="{4702BE68-A998-437B-ADF3-C2018650617E}"/>
              </a:ext>
            </a:extLst>
          </p:cNvPr>
          <p:cNvSpPr>
            <a:spLocks noGrp="1"/>
          </p:cNvSpPr>
          <p:nvPr/>
        </p:nvSpPr>
        <p:spPr>
          <a:xfrm>
            <a:off x="5010150" y="47244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j</a:t>
            </a:r>
          </a:p>
        </p:txBody>
      </p:sp>
      <p:sp>
        <p:nvSpPr>
          <p:cNvPr id="19" name="직사각형 18">
            <a:extLst>
              <a:ext uri="{FF2B5EF4-FFF2-40B4-BE49-F238E27FC236}">
                <a16:creationId xmlns:a16="http://schemas.microsoft.com/office/drawing/2014/main" id="{307FE9C9-9571-40E5-8BA5-90F9126261D7}"/>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0DE40FA3-D558-4177-B606-2BB4921802D0}"/>
              </a:ext>
            </a:extLst>
          </p:cNvPr>
          <p:cNvGraphicFramePr/>
          <p:nvPr>
            <p:extLst>
              <p:ext uri="{D42A27DB-BD31-4B8C-83A1-F6EECF244321}">
                <p14:modId xmlns:p14="http://schemas.microsoft.com/office/powerpoint/2010/main" val="2600672092"/>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287ED324-C3A9-440B-B45D-1AEAD5846A9E}"/>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E944E76D-8002-460E-80F9-01BC37C3B057}"/>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29C3A7C7-F181-4097-89AC-EF099B0940E4}"/>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5C1C89D7-11FC-42F2-B9C4-7152945B03B3}"/>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6D4D1504-E366-43C2-AB5E-2CB082C39A92}"/>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20A758DC-9050-485C-8559-896A5B3C0C4B}"/>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2468AF11-2A63-40C1-8F57-892C535E6F69}"/>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E5AFA80F-75B7-4D47-B320-4593A3D5B8ED}"/>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89CBFFBE-A605-4F8A-BA97-BFF44FCDD58F}"/>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1BA3796D-95CF-4DBA-9460-E02259F7DB0E}"/>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91000943-B49F-43EE-A8B4-5D136670CE37}"/>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39</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2D69D22F-B983-89FB-5A99-A651808ABE3E}"/>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350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2A3F77B0-8E10-4B60-A487-0F483EAC9ED0}"/>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E45967A9-D08D-4B83-A453-2D1596C7EE87}"/>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FDE82DD8-B912-44AB-84FC-E1BE11181B2F}"/>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6단계 · 6을 붙인 뒤</a:t>
            </a:r>
          </a:p>
        </p:txBody>
      </p:sp>
      <p:sp>
        <p:nvSpPr>
          <p:cNvPr id="4" name="직사각형 3">
            <a:extLst>
              <a:ext uri="{FF2B5EF4-FFF2-40B4-BE49-F238E27FC236}">
                <a16:creationId xmlns:a16="http://schemas.microsoft.com/office/drawing/2014/main" id="{011877E8-026D-458D-8FDE-DE084AC5CD25}"/>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6 ≤ 오른쪽 7. 왼쪽 값을 결과 끝에 붙입니다.</a:t>
            </a:r>
          </a:p>
          <a:p>
            <a:pPr>
              <a:defRPr sz="2025" b="0">
                <a:solidFill>
                  <a:srgbClr val="151515"/>
                </a:solidFill>
              </a:defRPr>
            </a:pPr>
            <a:r>
              <a:rPr sz="2025" b="0">
                <a:solidFill>
                  <a:srgbClr val="151515"/>
                </a:solidFill>
                <a:latin typeface="Malgun Gothic" panose="020B0503020000020004" pitchFamily="50" charset="-127"/>
              </a:rPr>
              <a:t>i를 2에서 3로 옮깁니다. j = 3는 그대로입니다.</a:t>
            </a:r>
          </a:p>
        </p:txBody>
      </p:sp>
      <p:sp>
        <p:nvSpPr>
          <p:cNvPr id="5" name="직사각형 4">
            <a:extLst>
              <a:ext uri="{FF2B5EF4-FFF2-40B4-BE49-F238E27FC236}">
                <a16:creationId xmlns:a16="http://schemas.microsoft.com/office/drawing/2014/main" id="{19C27E6C-B1BF-4CF6-8A42-23304F18588C}"/>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DEF06462-0FE2-4D31-8858-EB26F9EBFDEA}"/>
              </a:ext>
            </a:extLst>
          </p:cNvPr>
          <p:cNvGraphicFramePr/>
          <p:nvPr>
            <p:extLst>
              <p:ext uri="{D42A27DB-BD31-4B8C-83A1-F6EECF244321}">
                <p14:modId xmlns:p14="http://schemas.microsoft.com/office/powerpoint/2010/main" val="2355260350"/>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DCECF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D913C6C6-B79E-4E6F-8E6D-D61660F96AF9}"/>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D3C42AB2-33F0-42E9-8CA2-8413D38ADC58}"/>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18E9E0F2-20AB-418F-A68F-7951EE2F799F}"/>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C82476B9-9AD6-4AE2-82B5-EA0FC0187200}"/>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1" name="직사각형 10">
            <a:extLst>
              <a:ext uri="{FF2B5EF4-FFF2-40B4-BE49-F238E27FC236}">
                <a16:creationId xmlns:a16="http://schemas.microsoft.com/office/drawing/2014/main" id="{F91988BC-A835-4055-9EC8-88758C858AD8}"/>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12" name="직사각형 11">
            <a:extLst>
              <a:ext uri="{FF2B5EF4-FFF2-40B4-BE49-F238E27FC236}">
                <a16:creationId xmlns:a16="http://schemas.microsoft.com/office/drawing/2014/main" id="{E6BE2157-B138-4256-B007-8FA5B4B2A43D}"/>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BC3B106C-6A23-4C67-AAAF-7005B5045DD3}"/>
              </a:ext>
            </a:extLst>
          </p:cNvPr>
          <p:cNvGraphicFramePr/>
          <p:nvPr>
            <p:extLst>
              <p:ext uri="{D42A27DB-BD31-4B8C-83A1-F6EECF244321}">
                <p14:modId xmlns:p14="http://schemas.microsoft.com/office/powerpoint/2010/main" val="3178302586"/>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DDEFE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9B13F99C-5822-4B62-B674-FC9C5E77BC99}"/>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A9DAB7FB-38AB-43F6-B43D-1B1AEB741B32}"/>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0172754F-09AA-4227-8132-AA47C5A93CE1}"/>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7" name="직사각형 16">
            <a:extLst>
              <a:ext uri="{FF2B5EF4-FFF2-40B4-BE49-F238E27FC236}">
                <a16:creationId xmlns:a16="http://schemas.microsoft.com/office/drawing/2014/main" id="{A26892B9-E191-419F-B71E-EEBCE0092A5E}"/>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8" name="직사각형 17">
            <a:extLst>
              <a:ext uri="{FF2B5EF4-FFF2-40B4-BE49-F238E27FC236}">
                <a16:creationId xmlns:a16="http://schemas.microsoft.com/office/drawing/2014/main" id="{DC7DDA88-6D07-4DAA-9177-2C153F500DFF}"/>
              </a:ext>
            </a:extLst>
          </p:cNvPr>
          <p:cNvSpPr>
            <a:spLocks noGrp="1"/>
          </p:cNvSpPr>
          <p:nvPr/>
        </p:nvSpPr>
        <p:spPr>
          <a:xfrm>
            <a:off x="5010150" y="47244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j</a:t>
            </a:r>
          </a:p>
        </p:txBody>
      </p:sp>
      <p:sp>
        <p:nvSpPr>
          <p:cNvPr id="19" name="직사각형 18">
            <a:extLst>
              <a:ext uri="{FF2B5EF4-FFF2-40B4-BE49-F238E27FC236}">
                <a16:creationId xmlns:a16="http://schemas.microsoft.com/office/drawing/2014/main" id="{D4E8436C-37B9-4051-9AAB-7E2BFE40F914}"/>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A95C6C90-BEFB-48E9-AAEC-61CE1810CC46}"/>
              </a:ext>
            </a:extLst>
          </p:cNvPr>
          <p:cNvGraphicFramePr/>
          <p:nvPr>
            <p:extLst>
              <p:ext uri="{D42A27DB-BD31-4B8C-83A1-F6EECF244321}">
                <p14:modId xmlns:p14="http://schemas.microsoft.com/office/powerpoint/2010/main" val="3644462541"/>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FC11CCB1-DF61-4949-8AC3-E56519628B68}"/>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2C952BF2-1873-4946-91BF-BD38F068D004}"/>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57A6BDC2-9A0D-45A3-9AC4-8C695D6E71A7}"/>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C7042682-C484-43E5-BB95-FE70739A2EE7}"/>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DA3D6518-7091-47E9-85EF-26B490254D7F}"/>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B23974AF-A458-403F-A01D-8D699E7FE07B}"/>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B671E0C8-3C8D-419C-ACEB-FE35B6E5ABB0}"/>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464F635E-75E4-472E-9FFD-D3BBFB381FC7}"/>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D819C86A-6368-497D-BBF7-3D8D1D4C08F9}"/>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55B090B5-457E-4118-99AB-8D5D697259D8}"/>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1731B2F8-A0CA-44C1-8ABF-EEFEB207FF90}"/>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40</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52150228-0183-7DCE-25A4-72D7A596C873}"/>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7994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44A707FB-6651-4864-B6E3-53FBEAC12FB1}"/>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1C38DAD4-9BD7-487A-9E6E-D7239426A724}"/>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03C188B0-80B8-4EBC-9DD4-D227E9D83D00}"/>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7단계 · 7을 붙인 뒤</a:t>
            </a:r>
          </a:p>
        </p:txBody>
      </p:sp>
      <p:sp>
        <p:nvSpPr>
          <p:cNvPr id="4" name="직사각형 3">
            <a:extLst>
              <a:ext uri="{FF2B5EF4-FFF2-40B4-BE49-F238E27FC236}">
                <a16:creationId xmlns:a16="http://schemas.microsoft.com/office/drawing/2014/main" id="{E3029BD0-2CD1-4D12-AC47-7A6758513498}"/>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8 &gt; 오른쪽 7. 오른쪽 값을 결과 끝에 붙입니다.</a:t>
            </a:r>
          </a:p>
          <a:p>
            <a:pPr>
              <a:defRPr sz="2025" b="0">
                <a:solidFill>
                  <a:srgbClr val="151515"/>
                </a:solidFill>
              </a:defRPr>
            </a:pPr>
            <a:r>
              <a:rPr sz="2025" b="0">
                <a:solidFill>
                  <a:srgbClr val="151515"/>
                </a:solidFill>
                <a:latin typeface="Malgun Gothic" panose="020B0503020000020004" pitchFamily="50" charset="-127"/>
              </a:rPr>
              <a:t>j를 3에서 4로 옮깁니다. i = 3는 그대로입니다.</a:t>
            </a:r>
          </a:p>
        </p:txBody>
      </p:sp>
      <p:sp>
        <p:nvSpPr>
          <p:cNvPr id="5" name="직사각형 4">
            <a:extLst>
              <a:ext uri="{FF2B5EF4-FFF2-40B4-BE49-F238E27FC236}">
                <a16:creationId xmlns:a16="http://schemas.microsoft.com/office/drawing/2014/main" id="{219547F7-A818-41B3-A386-CD84EA311EF8}"/>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6D54580F-6E4C-403E-98DB-5FD6B534EC10}"/>
              </a:ext>
            </a:extLst>
          </p:cNvPr>
          <p:cNvGraphicFramePr/>
          <p:nvPr>
            <p:extLst>
              <p:ext uri="{D42A27DB-BD31-4B8C-83A1-F6EECF244321}">
                <p14:modId xmlns:p14="http://schemas.microsoft.com/office/powerpoint/2010/main" val="3153402115"/>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DCECF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BA40456F-24D6-47B8-879D-C782F1882A43}"/>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3E9FBE5F-B8DC-4D25-BBEF-10317171E4EE}"/>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E0423285-6FE6-4B68-AA50-6573B6C4C549}"/>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57679FAA-A3DE-48DF-A440-5EC48AE28568}"/>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1" name="직사각형 10">
            <a:extLst>
              <a:ext uri="{FF2B5EF4-FFF2-40B4-BE49-F238E27FC236}">
                <a16:creationId xmlns:a16="http://schemas.microsoft.com/office/drawing/2014/main" id="{FD703FD7-5F68-4D84-91B6-07299FC360FB}"/>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i</a:t>
            </a:r>
          </a:p>
        </p:txBody>
      </p:sp>
      <p:sp>
        <p:nvSpPr>
          <p:cNvPr id="12" name="직사각형 11">
            <a:extLst>
              <a:ext uri="{FF2B5EF4-FFF2-40B4-BE49-F238E27FC236}">
                <a16:creationId xmlns:a16="http://schemas.microsoft.com/office/drawing/2014/main" id="{DD0C19DD-6DB7-4549-BF72-46D7B24392C7}"/>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8200E35A-390E-4667-9771-AEE06319FF35}"/>
              </a:ext>
            </a:extLst>
          </p:cNvPr>
          <p:cNvGraphicFramePr/>
          <p:nvPr>
            <p:extLst>
              <p:ext uri="{D42A27DB-BD31-4B8C-83A1-F6EECF244321}">
                <p14:modId xmlns:p14="http://schemas.microsoft.com/office/powerpoint/2010/main" val="4025151439"/>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986961E7-5C05-47E4-ADE2-B7E1AB1BFE5F}"/>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EFB3FF01-3009-49AA-9051-3AE8B850A83D}"/>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01085CBF-3CD6-4925-96CD-7C2A0A6362D4}"/>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7" name="직사각형 16">
            <a:extLst>
              <a:ext uri="{FF2B5EF4-FFF2-40B4-BE49-F238E27FC236}">
                <a16:creationId xmlns:a16="http://schemas.microsoft.com/office/drawing/2014/main" id="{D936E05A-A43D-45FD-8E2C-936DD782B800}"/>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8" name="직사각형 17">
            <a:extLst>
              <a:ext uri="{FF2B5EF4-FFF2-40B4-BE49-F238E27FC236}">
                <a16:creationId xmlns:a16="http://schemas.microsoft.com/office/drawing/2014/main" id="{06D90A0F-C66C-404D-ABF2-60DB67E7B81E}"/>
              </a:ext>
            </a:extLst>
          </p:cNvPr>
          <p:cNvSpPr>
            <a:spLocks noGrp="1"/>
          </p:cNvSpPr>
          <p:nvPr/>
        </p:nvSpPr>
        <p:spPr>
          <a:xfrm>
            <a:off x="6076950" y="4133850"/>
            <a:ext cx="1524000" cy="285750"/>
          </a:xfrm>
          <a:prstGeom prst="rect">
            <a:avLst/>
          </a:prstGeom>
          <a:noFill/>
          <a:ln w="0">
            <a:noFill/>
          </a:ln>
        </p:spPr>
        <p:txBody>
          <a:bodyPr/>
          <a:lstStyle>
            <a:defPPr>
              <a:defRPr sz="1800" b="0">
                <a:solidFill>
                  <a:srgbClr val="151515"/>
                </a:solidFill>
              </a:defRPr>
            </a:defPPr>
          </a:lstStyle>
          <a:p>
            <a:pPr>
              <a:defRPr sz="1800" b="0">
                <a:solidFill>
                  <a:srgbClr val="151515"/>
                </a:solidFill>
              </a:defRPr>
            </a:pPr>
            <a:r>
              <a:rPr sz="1800" b="0">
                <a:solidFill>
                  <a:srgbClr val="151515"/>
                </a:solidFill>
                <a:latin typeface="Malgun Gothic" panose="020B0503020000020004" pitchFamily="50" charset="-127"/>
              </a:rPr>
              <a:t>사용 완료</a:t>
            </a:r>
          </a:p>
        </p:txBody>
      </p:sp>
      <p:sp>
        <p:nvSpPr>
          <p:cNvPr id="19" name="직사각형 18">
            <a:extLst>
              <a:ext uri="{FF2B5EF4-FFF2-40B4-BE49-F238E27FC236}">
                <a16:creationId xmlns:a16="http://schemas.microsoft.com/office/drawing/2014/main" id="{4B783FB4-BB22-4811-9723-D1AB9A24C60B}"/>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EB2EE4AA-7D2E-492B-B353-668D3121FC2E}"/>
              </a:ext>
            </a:extLst>
          </p:cNvPr>
          <p:cNvGraphicFramePr/>
          <p:nvPr>
            <p:extLst>
              <p:ext uri="{D42A27DB-BD31-4B8C-83A1-F6EECF244321}">
                <p14:modId xmlns:p14="http://schemas.microsoft.com/office/powerpoint/2010/main" val="2132332130"/>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FC963612-6CCF-435B-A654-86F2B9469B85}"/>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6DEB4F3F-E348-4B7B-9E42-763A729EB699}"/>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00ACFEDE-861C-437B-AC8E-D8DC46588883}"/>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DCA24872-A824-4EEF-9792-96E1ADB7DF4E}"/>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04DCD8F3-8C16-42CD-9877-8C903F78A66D}"/>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8DF10B3A-672A-4F1E-AB6A-37F063EE9FD6}"/>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22F80ECA-39ED-4A9C-9815-934A182D5204}"/>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0EA15BBE-D6DA-441B-A00E-400E3511F4E6}"/>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46AD35F2-C87C-4865-A831-03417516D2D0}"/>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241CFA19-418D-4C5B-A275-98D5472E3347}"/>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057B090E-9A49-4B67-A0CC-281341F3B7D2}"/>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41</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1E933521-7739-DCFC-9DB1-B7C702933C56}"/>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8132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413CC00D-C744-4AA3-8CD6-7C766FE1FFBD}"/>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5D059455-292F-4483-8A15-22F52A78ECE5}"/>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88E63A6F-99EE-4707-81F1-B6D30B493108}"/>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8단계 · 8을 붙인 뒤</a:t>
            </a:r>
          </a:p>
        </p:txBody>
      </p:sp>
      <p:sp>
        <p:nvSpPr>
          <p:cNvPr id="4" name="직사각형 3">
            <a:extLst>
              <a:ext uri="{FF2B5EF4-FFF2-40B4-BE49-F238E27FC236}">
                <a16:creationId xmlns:a16="http://schemas.microsoft.com/office/drawing/2014/main" id="{257BE958-414D-438A-A5D5-F1356463C602}"/>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오른쪽을 다 사용했습니다. 왼쪽의 8을 결과 끝에 붙입니다.</a:t>
            </a:r>
          </a:p>
        </p:txBody>
      </p:sp>
      <p:sp>
        <p:nvSpPr>
          <p:cNvPr id="5" name="직사각형 4">
            <a:extLst>
              <a:ext uri="{FF2B5EF4-FFF2-40B4-BE49-F238E27FC236}">
                <a16:creationId xmlns:a16="http://schemas.microsoft.com/office/drawing/2014/main" id="{0AEE4203-472C-44F0-B8F0-23F5E6234EF2}"/>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 left</a:t>
            </a:r>
          </a:p>
        </p:txBody>
      </p:sp>
      <p:graphicFrame>
        <p:nvGraphicFramePr>
          <p:cNvPr id="6" name="표 5">
            <a:extLst>
              <a:ext uri="{FF2B5EF4-FFF2-40B4-BE49-F238E27FC236}">
                <a16:creationId xmlns:a16="http://schemas.microsoft.com/office/drawing/2014/main" id="{70C1F625-F364-49B2-B355-2E751917D9E7}"/>
              </a:ext>
            </a:extLst>
          </p:cNvPr>
          <p:cNvGraphicFramePr/>
          <p:nvPr>
            <p:extLst>
              <p:ext uri="{D42A27DB-BD31-4B8C-83A1-F6EECF244321}">
                <p14:modId xmlns:p14="http://schemas.microsoft.com/office/powerpoint/2010/main" val="2645151900"/>
              </p:ext>
            </p:extLst>
          </p:nvPr>
        </p:nvGraphicFramePr>
        <p:xfrm>
          <a:off x="1809750" y="29527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261ED4F9-D990-4EE1-980B-EFC9841AF80D}"/>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80148BC0-4B69-4350-95D9-E284A3DF70B0}"/>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293C066E-CF74-4E5F-A094-CE9991FD13CD}"/>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F4D05EE4-A1D5-4644-B3FF-540C1011E5AB}"/>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1" name="직사각형 10">
            <a:extLst>
              <a:ext uri="{FF2B5EF4-FFF2-40B4-BE49-F238E27FC236}">
                <a16:creationId xmlns:a16="http://schemas.microsoft.com/office/drawing/2014/main" id="{3953843B-FBD4-4932-A420-673BE73A1585}"/>
              </a:ext>
            </a:extLst>
          </p:cNvPr>
          <p:cNvSpPr>
            <a:spLocks noGrp="1"/>
          </p:cNvSpPr>
          <p:nvPr/>
        </p:nvSpPr>
        <p:spPr>
          <a:xfrm>
            <a:off x="6076950" y="3067050"/>
            <a:ext cx="1524000" cy="285750"/>
          </a:xfrm>
          <a:prstGeom prst="rect">
            <a:avLst/>
          </a:prstGeom>
          <a:noFill/>
          <a:ln w="0">
            <a:noFill/>
          </a:ln>
        </p:spPr>
        <p:txBody>
          <a:bodyPr/>
          <a:lstStyle>
            <a:defPPr>
              <a:defRPr sz="1800" b="0">
                <a:solidFill>
                  <a:srgbClr val="151515"/>
                </a:solidFill>
              </a:defRPr>
            </a:defPPr>
          </a:lstStyle>
          <a:p>
            <a:pPr>
              <a:defRPr sz="1800" b="0">
                <a:solidFill>
                  <a:srgbClr val="151515"/>
                </a:solidFill>
              </a:defRPr>
            </a:pPr>
            <a:r>
              <a:rPr sz="1800" b="0">
                <a:solidFill>
                  <a:srgbClr val="151515"/>
                </a:solidFill>
                <a:latin typeface="Malgun Gothic" panose="020B0503020000020004" pitchFamily="50" charset="-127"/>
              </a:rPr>
              <a:t>사용 완료</a:t>
            </a:r>
          </a:p>
        </p:txBody>
      </p:sp>
      <p:sp>
        <p:nvSpPr>
          <p:cNvPr id="12" name="직사각형 11">
            <a:extLst>
              <a:ext uri="{FF2B5EF4-FFF2-40B4-BE49-F238E27FC236}">
                <a16:creationId xmlns:a16="http://schemas.microsoft.com/office/drawing/2014/main" id="{A84E601F-E9BC-48B0-A383-5E814EA9B21B}"/>
              </a:ext>
            </a:extLst>
          </p:cNvPr>
          <p:cNvSpPr>
            <a:spLocks noGrp="1"/>
          </p:cNvSpPr>
          <p:nvPr/>
        </p:nvSpPr>
        <p:spPr>
          <a:xfrm>
            <a:off x="609600" y="40957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 right</a:t>
            </a:r>
          </a:p>
        </p:txBody>
      </p:sp>
      <p:graphicFrame>
        <p:nvGraphicFramePr>
          <p:cNvPr id="13" name="표 12">
            <a:extLst>
              <a:ext uri="{FF2B5EF4-FFF2-40B4-BE49-F238E27FC236}">
                <a16:creationId xmlns:a16="http://schemas.microsoft.com/office/drawing/2014/main" id="{97D741AD-CE08-4D63-B690-3E8E3064F221}"/>
              </a:ext>
            </a:extLst>
          </p:cNvPr>
          <p:cNvGraphicFramePr/>
          <p:nvPr>
            <p:extLst>
              <p:ext uri="{D42A27DB-BD31-4B8C-83A1-F6EECF244321}">
                <p14:modId xmlns:p14="http://schemas.microsoft.com/office/powerpoint/2010/main" val="3870386970"/>
              </p:ext>
            </p:extLst>
          </p:nvPr>
        </p:nvGraphicFramePr>
        <p:xfrm>
          <a:off x="1809750" y="4019550"/>
          <a:ext cx="42672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14" name="직사각형 13">
            <a:extLst>
              <a:ext uri="{FF2B5EF4-FFF2-40B4-BE49-F238E27FC236}">
                <a16:creationId xmlns:a16="http://schemas.microsoft.com/office/drawing/2014/main" id="{C0EFD81B-87F6-4A32-8EA3-BE13A4F7CB52}"/>
              </a:ext>
            </a:extLst>
          </p:cNvPr>
          <p:cNvSpPr>
            <a:spLocks noGrp="1"/>
          </p:cNvSpPr>
          <p:nvPr/>
        </p:nvSpPr>
        <p:spPr>
          <a:xfrm>
            <a:off x="18097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15" name="직사각형 14">
            <a:extLst>
              <a:ext uri="{FF2B5EF4-FFF2-40B4-BE49-F238E27FC236}">
                <a16:creationId xmlns:a16="http://schemas.microsoft.com/office/drawing/2014/main" id="{900C46FD-AA8C-4B34-BE54-67E3B6AC2568}"/>
              </a:ext>
            </a:extLst>
          </p:cNvPr>
          <p:cNvSpPr>
            <a:spLocks noGrp="1"/>
          </p:cNvSpPr>
          <p:nvPr/>
        </p:nvSpPr>
        <p:spPr>
          <a:xfrm>
            <a:off x="28765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6" name="직사각형 15">
            <a:extLst>
              <a:ext uri="{FF2B5EF4-FFF2-40B4-BE49-F238E27FC236}">
                <a16:creationId xmlns:a16="http://schemas.microsoft.com/office/drawing/2014/main" id="{EC37FF57-F637-4503-AE36-1C14B82C5D02}"/>
              </a:ext>
            </a:extLst>
          </p:cNvPr>
          <p:cNvSpPr>
            <a:spLocks noGrp="1"/>
          </p:cNvSpPr>
          <p:nvPr/>
        </p:nvSpPr>
        <p:spPr>
          <a:xfrm>
            <a:off x="39433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7" name="직사각형 16">
            <a:extLst>
              <a:ext uri="{FF2B5EF4-FFF2-40B4-BE49-F238E27FC236}">
                <a16:creationId xmlns:a16="http://schemas.microsoft.com/office/drawing/2014/main" id="{575EDC3A-F36A-4776-B9AF-3960714794A4}"/>
              </a:ext>
            </a:extLst>
          </p:cNvPr>
          <p:cNvSpPr>
            <a:spLocks noGrp="1"/>
          </p:cNvSpPr>
          <p:nvPr/>
        </p:nvSpPr>
        <p:spPr>
          <a:xfrm>
            <a:off x="5010150" y="45339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8" name="직사각형 17">
            <a:extLst>
              <a:ext uri="{FF2B5EF4-FFF2-40B4-BE49-F238E27FC236}">
                <a16:creationId xmlns:a16="http://schemas.microsoft.com/office/drawing/2014/main" id="{5E5038A6-E4EE-4B5E-819E-F5C6DC3F65D8}"/>
              </a:ext>
            </a:extLst>
          </p:cNvPr>
          <p:cNvSpPr>
            <a:spLocks noGrp="1"/>
          </p:cNvSpPr>
          <p:nvPr/>
        </p:nvSpPr>
        <p:spPr>
          <a:xfrm>
            <a:off x="6076950" y="4133850"/>
            <a:ext cx="1524000" cy="285750"/>
          </a:xfrm>
          <a:prstGeom prst="rect">
            <a:avLst/>
          </a:prstGeom>
          <a:noFill/>
          <a:ln w="0">
            <a:noFill/>
          </a:ln>
        </p:spPr>
        <p:txBody>
          <a:bodyPr/>
          <a:lstStyle>
            <a:defPPr>
              <a:defRPr sz="1800" b="0">
                <a:solidFill>
                  <a:srgbClr val="151515"/>
                </a:solidFill>
              </a:defRPr>
            </a:defPPr>
          </a:lstStyle>
          <a:p>
            <a:pPr>
              <a:defRPr sz="1800" b="0">
                <a:solidFill>
                  <a:srgbClr val="151515"/>
                </a:solidFill>
              </a:defRPr>
            </a:pPr>
            <a:r>
              <a:rPr sz="1800" b="0">
                <a:solidFill>
                  <a:srgbClr val="151515"/>
                </a:solidFill>
                <a:latin typeface="Malgun Gothic" panose="020B0503020000020004" pitchFamily="50" charset="-127"/>
              </a:rPr>
              <a:t>사용 완료</a:t>
            </a:r>
          </a:p>
        </p:txBody>
      </p:sp>
      <p:sp>
        <p:nvSpPr>
          <p:cNvPr id="19" name="직사각형 18">
            <a:extLst>
              <a:ext uri="{FF2B5EF4-FFF2-40B4-BE49-F238E27FC236}">
                <a16:creationId xmlns:a16="http://schemas.microsoft.com/office/drawing/2014/main" id="{4C874416-E737-4C8D-9DA3-FDA7A73FEB22}"/>
              </a:ext>
            </a:extLst>
          </p:cNvPr>
          <p:cNvSpPr>
            <a:spLocks noGrp="1"/>
          </p:cNvSpPr>
          <p:nvPr/>
        </p:nvSpPr>
        <p:spPr>
          <a:xfrm>
            <a:off x="609600" y="51625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결과 out</a:t>
            </a:r>
          </a:p>
        </p:txBody>
      </p:sp>
      <p:graphicFrame>
        <p:nvGraphicFramePr>
          <p:cNvPr id="20" name="표 19">
            <a:extLst>
              <a:ext uri="{FF2B5EF4-FFF2-40B4-BE49-F238E27FC236}">
                <a16:creationId xmlns:a16="http://schemas.microsoft.com/office/drawing/2014/main" id="{D3A548D7-2D0B-494E-A27F-7DA96418E829}"/>
              </a:ext>
            </a:extLst>
          </p:cNvPr>
          <p:cNvGraphicFramePr/>
          <p:nvPr>
            <p:extLst>
              <p:ext uri="{D42A27DB-BD31-4B8C-83A1-F6EECF244321}">
                <p14:modId xmlns:p14="http://schemas.microsoft.com/office/powerpoint/2010/main" val="494105848"/>
              </p:ext>
            </p:extLst>
          </p:nvPr>
        </p:nvGraphicFramePr>
        <p:xfrm>
          <a:off x="1809750" y="5086350"/>
          <a:ext cx="85344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495300">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2</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5</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6F6F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F6F6F6"/>
                    </a:solidFill>
                  </a:tcPr>
                </a:tc>
                <a:extLst>
                  <a:ext uri="{0D108BD9-81ED-4DB2-BD59-A6C34878D82A}">
                    <a16:rowId xmlns:a16="http://schemas.microsoft.com/office/drawing/2014/main" val="10000"/>
                  </a:ext>
                </a:extLst>
              </a:tr>
            </a:tbl>
          </a:graphicData>
        </a:graphic>
      </p:graphicFrame>
      <p:sp>
        <p:nvSpPr>
          <p:cNvPr id="21" name="직사각형 20">
            <a:extLst>
              <a:ext uri="{FF2B5EF4-FFF2-40B4-BE49-F238E27FC236}">
                <a16:creationId xmlns:a16="http://schemas.microsoft.com/office/drawing/2014/main" id="{40FEEA1F-F7E7-488B-B843-752D72E473EE}"/>
              </a:ext>
            </a:extLst>
          </p:cNvPr>
          <p:cNvSpPr>
            <a:spLocks noGrp="1"/>
          </p:cNvSpPr>
          <p:nvPr/>
        </p:nvSpPr>
        <p:spPr>
          <a:xfrm>
            <a:off x="1809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22" name="직사각형 21">
            <a:extLst>
              <a:ext uri="{FF2B5EF4-FFF2-40B4-BE49-F238E27FC236}">
                <a16:creationId xmlns:a16="http://schemas.microsoft.com/office/drawing/2014/main" id="{E16F6D11-4089-439B-A5A0-55A9CC7A2B61}"/>
              </a:ext>
            </a:extLst>
          </p:cNvPr>
          <p:cNvSpPr>
            <a:spLocks noGrp="1"/>
          </p:cNvSpPr>
          <p:nvPr/>
        </p:nvSpPr>
        <p:spPr>
          <a:xfrm>
            <a:off x="2876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23" name="직사각형 22">
            <a:extLst>
              <a:ext uri="{FF2B5EF4-FFF2-40B4-BE49-F238E27FC236}">
                <a16:creationId xmlns:a16="http://schemas.microsoft.com/office/drawing/2014/main" id="{61D9D0C0-EBFB-458F-811F-1A4D424EDBCE}"/>
              </a:ext>
            </a:extLst>
          </p:cNvPr>
          <p:cNvSpPr>
            <a:spLocks noGrp="1"/>
          </p:cNvSpPr>
          <p:nvPr/>
        </p:nvSpPr>
        <p:spPr>
          <a:xfrm>
            <a:off x="3943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24" name="직사각형 23">
            <a:extLst>
              <a:ext uri="{FF2B5EF4-FFF2-40B4-BE49-F238E27FC236}">
                <a16:creationId xmlns:a16="http://schemas.microsoft.com/office/drawing/2014/main" id="{B21D65D6-72C5-42A1-8A7C-3AB57EB0A1B9}"/>
              </a:ext>
            </a:extLst>
          </p:cNvPr>
          <p:cNvSpPr>
            <a:spLocks noGrp="1"/>
          </p:cNvSpPr>
          <p:nvPr/>
        </p:nvSpPr>
        <p:spPr>
          <a:xfrm>
            <a:off x="50101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25" name="직사각형 24">
            <a:extLst>
              <a:ext uri="{FF2B5EF4-FFF2-40B4-BE49-F238E27FC236}">
                <a16:creationId xmlns:a16="http://schemas.microsoft.com/office/drawing/2014/main" id="{D9C4AA5A-D853-47E9-8318-68835D400FBE}"/>
              </a:ext>
            </a:extLst>
          </p:cNvPr>
          <p:cNvSpPr>
            <a:spLocks noGrp="1"/>
          </p:cNvSpPr>
          <p:nvPr/>
        </p:nvSpPr>
        <p:spPr>
          <a:xfrm>
            <a:off x="60769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26" name="직사각형 25">
            <a:extLst>
              <a:ext uri="{FF2B5EF4-FFF2-40B4-BE49-F238E27FC236}">
                <a16:creationId xmlns:a16="http://schemas.microsoft.com/office/drawing/2014/main" id="{664C8912-8B0C-4190-B843-4CEE7467BF15}"/>
              </a:ext>
            </a:extLst>
          </p:cNvPr>
          <p:cNvSpPr>
            <a:spLocks noGrp="1"/>
          </p:cNvSpPr>
          <p:nvPr/>
        </p:nvSpPr>
        <p:spPr>
          <a:xfrm>
            <a:off x="71437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27" name="직사각형 26">
            <a:extLst>
              <a:ext uri="{FF2B5EF4-FFF2-40B4-BE49-F238E27FC236}">
                <a16:creationId xmlns:a16="http://schemas.microsoft.com/office/drawing/2014/main" id="{9E6DA92E-DAC9-42CE-9026-7CA611B62107}"/>
              </a:ext>
            </a:extLst>
          </p:cNvPr>
          <p:cNvSpPr>
            <a:spLocks noGrp="1"/>
          </p:cNvSpPr>
          <p:nvPr/>
        </p:nvSpPr>
        <p:spPr>
          <a:xfrm>
            <a:off x="82105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6</a:t>
            </a:r>
          </a:p>
        </p:txBody>
      </p:sp>
      <p:sp>
        <p:nvSpPr>
          <p:cNvPr id="28" name="직사각형 27">
            <a:extLst>
              <a:ext uri="{FF2B5EF4-FFF2-40B4-BE49-F238E27FC236}">
                <a16:creationId xmlns:a16="http://schemas.microsoft.com/office/drawing/2014/main" id="{C3798B85-25AE-4991-B98D-FD572D7A426D}"/>
              </a:ext>
            </a:extLst>
          </p:cNvPr>
          <p:cNvSpPr>
            <a:spLocks noGrp="1"/>
          </p:cNvSpPr>
          <p:nvPr/>
        </p:nvSpPr>
        <p:spPr>
          <a:xfrm>
            <a:off x="9277350" y="56007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7</a:t>
            </a:r>
          </a:p>
        </p:txBody>
      </p:sp>
      <p:sp>
        <p:nvSpPr>
          <p:cNvPr id="29" name="직사각형 28">
            <a:extLst>
              <a:ext uri="{FF2B5EF4-FFF2-40B4-BE49-F238E27FC236}">
                <a16:creationId xmlns:a16="http://schemas.microsoft.com/office/drawing/2014/main" id="{48130534-FD9D-4FE5-9134-F3471D655E26}"/>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30" name="직사각형 29">
            <a:extLst>
              <a:ext uri="{FF2B5EF4-FFF2-40B4-BE49-F238E27FC236}">
                <a16:creationId xmlns:a16="http://schemas.microsoft.com/office/drawing/2014/main" id="{D3EBFC41-9C72-4E94-8523-A3643A488638}"/>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31" name="직사각형 30">
            <a:extLst>
              <a:ext uri="{FF2B5EF4-FFF2-40B4-BE49-F238E27FC236}">
                <a16:creationId xmlns:a16="http://schemas.microsoft.com/office/drawing/2014/main" id="{A04E4A90-54DE-45E1-8E69-1F7FF2F9D3F0}"/>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42</a:t>
            </a:r>
            <a:endParaRPr sz="1050" b="0">
              <a:solidFill>
                <a:srgbClr val="151515"/>
              </a:solidFill>
              <a:latin typeface="Consolas" panose="020B0609020204030204" pitchFamily="49" charset="0"/>
            </a:endParaRPr>
          </a:p>
        </p:txBody>
      </p:sp>
      <p:cxnSp>
        <p:nvCxnSpPr>
          <p:cNvPr id="33" name="직선 연결선 32">
            <a:extLst>
              <a:ext uri="{FF2B5EF4-FFF2-40B4-BE49-F238E27FC236}">
                <a16:creationId xmlns:a16="http://schemas.microsoft.com/office/drawing/2014/main" id="{4DD7F910-8165-AAF9-694F-4D826E0489D0}"/>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99222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1D31FB65-AA10-4802-9A6F-9DFB2EA384D2}"/>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43AAC44F-30B2-4E89-9ABE-6C74C83CC2EC}"/>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7210B9B7-5339-461E-88CB-5AA4709394C4}"/>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Python: 병합 함수</a:t>
            </a:r>
          </a:p>
        </p:txBody>
      </p:sp>
      <p:sp>
        <p:nvSpPr>
          <p:cNvPr id="4" name="직사각형 3">
            <a:extLst>
              <a:ext uri="{FF2B5EF4-FFF2-40B4-BE49-F238E27FC236}">
                <a16:creationId xmlns:a16="http://schemas.microsoft.com/office/drawing/2014/main" id="{E3A85970-3BF8-4859-844B-F9D4BEFE5556}"/>
              </a:ext>
            </a:extLst>
          </p:cNvPr>
          <p:cNvSpPr>
            <a:spLocks noGrp="1"/>
          </p:cNvSpPr>
          <p:nvPr/>
        </p:nvSpPr>
        <p:spPr>
          <a:xfrm>
            <a:off x="609600" y="1571625"/>
            <a:ext cx="10972800" cy="4572000"/>
          </a:xfrm>
          <a:prstGeom prst="rect">
            <a:avLst/>
          </a:prstGeom>
          <a:noFill/>
          <a:ln w="0">
            <a:noFill/>
          </a:ln>
        </p:spPr>
        <p:txBody>
          <a:bodyPr wrap="none" lIns="0" tIns="0" rIns="0" bIns="0" anchor="t">
            <a:noAutofit/>
          </a:bodyPr>
          <a:lstStyle>
            <a:defPPr>
              <a:defRPr sz="1800">
                <a:solidFill>
                  <a:srgbClr val="151515"/>
                </a:solidFill>
                <a:latin typeface="Consolas"/>
                <a:ea typeface="Consolas"/>
                <a:cs typeface="Consolas"/>
              </a:defRPr>
            </a:defPPr>
          </a:lstStyle>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def merge(left, right):</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out = []</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i = j = 0</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while i &lt; len(left) and j &lt; len(right):</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if left[i] &lt;= right[j]:</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out.append(left[i])</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i += 1</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else:</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out.append(right[j])</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j += 1</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while i &lt; len(left):</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out.append(left[i])</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i += 1</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while j &lt; len(right):</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out.append(right[j])</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j += 1</a:t>
            </a:r>
          </a:p>
          <a:p>
            <a:pPr>
              <a:lnSpc>
                <a:spcPct val="100000"/>
              </a:lnSpc>
              <a:buNone/>
              <a:defRPr sz="1800">
                <a:solidFill>
                  <a:srgbClr val="151515"/>
                </a:solidFill>
                <a:latin typeface="Consolas"/>
                <a:ea typeface="Consolas"/>
                <a:cs typeface="Consolas"/>
              </a:defRPr>
            </a:pPr>
            <a:r>
              <a:rPr sz="1800">
                <a:solidFill>
                  <a:srgbClr val="151515"/>
                </a:solidFill>
                <a:latin typeface="Consolas"/>
                <a:ea typeface="Consolas"/>
                <a:cs typeface="Consolas"/>
              </a:rPr>
              <a:t>    return out</a:t>
            </a:r>
          </a:p>
        </p:txBody>
      </p:sp>
      <p:sp>
        <p:nvSpPr>
          <p:cNvPr id="5" name="직사각형 4">
            <a:extLst>
              <a:ext uri="{FF2B5EF4-FFF2-40B4-BE49-F238E27FC236}">
                <a16:creationId xmlns:a16="http://schemas.microsoft.com/office/drawing/2014/main" id="{0108A22E-BFF4-494F-BB3B-8EB17BD62958}"/>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35112137-A0EF-450D-A3F9-CD3F42B1ABEF}"/>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43</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37E81135-1158-043F-6D93-9C40694FA8DC}"/>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160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6D55758A-56BD-4745-9572-ECEEC1E076B8}"/>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D72D5D18-BEDE-4C75-BEEA-917B36D0C7A6}"/>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295042CE-8AAC-470F-AD22-E28041732B2C}"/>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Python: 재귀 호출 순서</a:t>
            </a:r>
          </a:p>
        </p:txBody>
      </p:sp>
      <p:sp>
        <p:nvSpPr>
          <p:cNvPr id="4" name="직사각형 3">
            <a:extLst>
              <a:ext uri="{FF2B5EF4-FFF2-40B4-BE49-F238E27FC236}">
                <a16:creationId xmlns:a16="http://schemas.microsoft.com/office/drawing/2014/main" id="{793F4E1C-7933-4B51-B083-9E0D123B79BC}"/>
              </a:ext>
            </a:extLst>
          </p:cNvPr>
          <p:cNvSpPr>
            <a:spLocks noGrp="1"/>
          </p:cNvSpPr>
          <p:nvPr/>
        </p:nvSpPr>
        <p:spPr>
          <a:xfrm>
            <a:off x="609600" y="1571625"/>
            <a:ext cx="10972800" cy="4572000"/>
          </a:xfrm>
          <a:prstGeom prst="rect">
            <a:avLst/>
          </a:prstGeom>
          <a:noFill/>
          <a:ln w="0">
            <a:noFill/>
          </a:ln>
        </p:spPr>
        <p:txBody>
          <a:bodyPr/>
          <a:lstStyle>
            <a:defPPr>
              <a:defRPr sz="2100" b="0">
                <a:solidFill>
                  <a:srgbClr val="151515"/>
                </a:solidFill>
              </a:defRPr>
            </a:defPPr>
          </a:lstStyle>
          <a:p>
            <a:pPr>
              <a:defRPr sz="2100" b="0">
                <a:solidFill>
                  <a:srgbClr val="151515"/>
                </a:solidFill>
              </a:defRPr>
            </a:pPr>
            <a:r>
              <a:rPr sz="2100" b="0">
                <a:solidFill>
                  <a:srgbClr val="151515"/>
                </a:solidFill>
                <a:latin typeface="Consolas" panose="020B0609020204030204" pitchFamily="49" charset="0"/>
              </a:rPr>
              <a:t>def merge_sort(a):</a:t>
            </a:r>
          </a:p>
          <a:p>
            <a:pPr>
              <a:defRPr sz="2100" b="0">
                <a:solidFill>
                  <a:srgbClr val="151515"/>
                </a:solidFill>
              </a:defRPr>
            </a:pPr>
            <a:r>
              <a:rPr sz="2100" b="0">
                <a:solidFill>
                  <a:srgbClr val="151515"/>
                </a:solidFill>
                <a:latin typeface="Consolas" panose="020B0609020204030204" pitchFamily="49" charset="0"/>
              </a:rPr>
              <a:t>    if len(a) &lt;= 1:</a:t>
            </a:r>
          </a:p>
          <a:p>
            <a:pPr>
              <a:defRPr sz="2100" b="0">
                <a:solidFill>
                  <a:srgbClr val="151515"/>
                </a:solidFill>
              </a:defRPr>
            </a:pPr>
            <a:r>
              <a:rPr sz="2100" b="0">
                <a:solidFill>
                  <a:srgbClr val="151515"/>
                </a:solidFill>
                <a:latin typeface="Consolas" panose="020B0609020204030204" pitchFamily="49" charset="0"/>
              </a:rPr>
              <a:t>        return a[:]</a:t>
            </a:r>
          </a:p>
          <a:p>
            <a:pPr>
              <a:defRPr sz="2100" b="0">
                <a:solidFill>
                  <a:srgbClr val="151515"/>
                </a:solidFill>
              </a:defRPr>
            </a:pPr>
            <a:r>
              <a:rPr sz="2100" b="0">
                <a:solidFill>
                  <a:srgbClr val="151515"/>
                </a:solidFill>
                <a:latin typeface="Consolas" panose="020B0609020204030204" pitchFamily="49" charset="0"/>
              </a:rPr>
              <a:t>    mid = len(a) // 2</a:t>
            </a:r>
          </a:p>
          <a:p>
            <a:pPr>
              <a:defRPr sz="2100" b="0">
                <a:solidFill>
                  <a:srgbClr val="151515"/>
                </a:solidFill>
              </a:defRPr>
            </a:pPr>
            <a:r>
              <a:rPr sz="2100" b="0">
                <a:solidFill>
                  <a:srgbClr val="151515"/>
                </a:solidFill>
                <a:latin typeface="Consolas" panose="020B0609020204030204" pitchFamily="49" charset="0"/>
              </a:rPr>
              <a:t>    left = merge_sort(a[:mid])</a:t>
            </a:r>
          </a:p>
          <a:p>
            <a:pPr>
              <a:defRPr sz="2100" b="0">
                <a:solidFill>
                  <a:srgbClr val="151515"/>
                </a:solidFill>
              </a:defRPr>
            </a:pPr>
            <a:r>
              <a:rPr sz="2100" b="0">
                <a:solidFill>
                  <a:srgbClr val="151515"/>
                </a:solidFill>
                <a:latin typeface="Consolas" panose="020B0609020204030204" pitchFamily="49" charset="0"/>
              </a:rPr>
              <a:t>    right = merge_sort(a[mid:])</a:t>
            </a:r>
          </a:p>
          <a:p>
            <a:pPr>
              <a:defRPr sz="2100" b="0">
                <a:solidFill>
                  <a:srgbClr val="151515"/>
                </a:solidFill>
              </a:defRPr>
            </a:pPr>
            <a:r>
              <a:rPr sz="2100" b="0">
                <a:solidFill>
                  <a:srgbClr val="151515"/>
                </a:solidFill>
                <a:latin typeface="Consolas" panose="020B0609020204030204" pitchFamily="49" charset="0"/>
              </a:rPr>
              <a:t>    return merge(left, right)</a:t>
            </a:r>
          </a:p>
          <a:p>
            <a:endParaRPr sz="2100" b="0">
              <a:solidFill>
                <a:srgbClr val="151515"/>
              </a:solidFill>
              <a:latin typeface="Consolas" panose="020B0609020204030204" pitchFamily="49" charset="0"/>
            </a:endParaRPr>
          </a:p>
          <a:p>
            <a:pPr>
              <a:defRPr sz="2100" b="0">
                <a:solidFill>
                  <a:srgbClr val="151515"/>
                </a:solidFill>
              </a:defRPr>
            </a:pPr>
            <a:r>
              <a:rPr sz="2100" b="0">
                <a:solidFill>
                  <a:srgbClr val="151515"/>
                </a:solidFill>
                <a:latin typeface="Consolas" panose="020B0609020204030204" pitchFamily="49" charset="0"/>
              </a:rPr>
              <a:t>a = [8, 3, 6, 2, 7, 1, 5, 4]</a:t>
            </a:r>
          </a:p>
          <a:p>
            <a:pPr>
              <a:defRPr sz="2100" b="0">
                <a:solidFill>
                  <a:srgbClr val="151515"/>
                </a:solidFill>
              </a:defRPr>
            </a:pPr>
            <a:r>
              <a:rPr sz="2100" b="0">
                <a:solidFill>
                  <a:srgbClr val="151515"/>
                </a:solidFill>
                <a:latin typeface="Consolas" panose="020B0609020204030204" pitchFamily="49" charset="0"/>
              </a:rPr>
              <a:t>print(merge_sort(a))</a:t>
            </a:r>
          </a:p>
        </p:txBody>
      </p:sp>
      <p:sp>
        <p:nvSpPr>
          <p:cNvPr id="5" name="직사각형 4">
            <a:extLst>
              <a:ext uri="{FF2B5EF4-FFF2-40B4-BE49-F238E27FC236}">
                <a16:creationId xmlns:a16="http://schemas.microsoft.com/office/drawing/2014/main" id="{B29859DA-ECFE-4864-B4DD-98446B533BCC}"/>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46D4963D-F299-456C-9F50-EFA81EE7FA7B}"/>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44</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D84B809C-7C44-BE6E-82A0-41E0A72FBD4A}"/>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8777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AC1BE912-3B04-42DF-B052-77D6141EC0FC}"/>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7FDB1C9A-4E43-454C-9468-2C05C930B02B}"/>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F6BDE7CA-E217-431D-9388-96A2362B8A76}"/>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C: 정렬된 두 구간의 병합</a:t>
            </a:r>
          </a:p>
        </p:txBody>
      </p:sp>
      <p:sp>
        <p:nvSpPr>
          <p:cNvPr id="4" name="직사각형 3">
            <a:extLst>
              <a:ext uri="{FF2B5EF4-FFF2-40B4-BE49-F238E27FC236}">
                <a16:creationId xmlns:a16="http://schemas.microsoft.com/office/drawing/2014/main" id="{4F801CE7-AC11-454E-AC15-04F3C79770CE}"/>
              </a:ext>
            </a:extLst>
          </p:cNvPr>
          <p:cNvSpPr>
            <a:spLocks noGrp="1"/>
          </p:cNvSpPr>
          <p:nvPr/>
        </p:nvSpPr>
        <p:spPr>
          <a:xfrm>
            <a:off x="609600" y="1571625"/>
            <a:ext cx="10972800" cy="4572000"/>
          </a:xfrm>
          <a:prstGeom prst="rect">
            <a:avLst/>
          </a:prstGeom>
          <a:noFill/>
          <a:ln w="0">
            <a:noFill/>
          </a:ln>
        </p:spPr>
        <p:txBody>
          <a:bodyPr/>
          <a:lstStyle>
            <a:defPPr>
              <a:defRPr sz="2100" b="0">
                <a:solidFill>
                  <a:srgbClr val="151515"/>
                </a:solidFill>
              </a:defRPr>
            </a:defPPr>
          </a:lstStyle>
          <a:p>
            <a:pPr>
              <a:defRPr sz="2100" b="0">
                <a:solidFill>
                  <a:srgbClr val="151515"/>
                </a:solidFill>
              </a:defRPr>
            </a:pPr>
            <a:r>
              <a:rPr sz="2100" b="0">
                <a:solidFill>
                  <a:srgbClr val="151515"/>
                </a:solidFill>
                <a:latin typeface="Consolas" panose="020B0609020204030204" pitchFamily="49" charset="0"/>
              </a:rPr>
              <a:t>void merge(int a[], int tmp[], int lo, int mid, int hi) {</a:t>
            </a:r>
          </a:p>
          <a:p>
            <a:pPr>
              <a:defRPr sz="2100" b="0">
                <a:solidFill>
                  <a:srgbClr val="151515"/>
                </a:solidFill>
              </a:defRPr>
            </a:pPr>
            <a:r>
              <a:rPr sz="2100" b="0">
                <a:solidFill>
                  <a:srgbClr val="151515"/>
                </a:solidFill>
                <a:latin typeface="Consolas" panose="020B0609020204030204" pitchFamily="49" charset="0"/>
              </a:rPr>
              <a:t>    int i = lo, j = mid + 1, k = lo;</a:t>
            </a:r>
          </a:p>
          <a:p>
            <a:pPr>
              <a:defRPr sz="2100" b="0">
                <a:solidFill>
                  <a:srgbClr val="151515"/>
                </a:solidFill>
              </a:defRPr>
            </a:pPr>
            <a:r>
              <a:rPr sz="2100" b="0">
                <a:solidFill>
                  <a:srgbClr val="151515"/>
                </a:solidFill>
                <a:latin typeface="Consolas" panose="020B0609020204030204" pitchFamily="49" charset="0"/>
              </a:rPr>
              <a:t>    while (i &lt;= mid &amp;&amp; j &lt;= hi) {</a:t>
            </a:r>
          </a:p>
          <a:p>
            <a:pPr>
              <a:defRPr sz="2100" b="0">
                <a:solidFill>
                  <a:srgbClr val="151515"/>
                </a:solidFill>
              </a:defRPr>
            </a:pPr>
            <a:r>
              <a:rPr sz="2100" b="0">
                <a:solidFill>
                  <a:srgbClr val="151515"/>
                </a:solidFill>
                <a:latin typeface="Consolas" panose="020B0609020204030204" pitchFamily="49" charset="0"/>
              </a:rPr>
              <a:t>        if (a[i] &lt;= a[j]) tmp[k++] = a[i++];</a:t>
            </a:r>
          </a:p>
          <a:p>
            <a:pPr>
              <a:defRPr sz="2100" b="0">
                <a:solidFill>
                  <a:srgbClr val="151515"/>
                </a:solidFill>
              </a:defRPr>
            </a:pPr>
            <a:r>
              <a:rPr sz="2100" b="0">
                <a:solidFill>
                  <a:srgbClr val="151515"/>
                </a:solidFill>
                <a:latin typeface="Consolas" panose="020B0609020204030204" pitchFamily="49" charset="0"/>
              </a:rPr>
              <a:t>        else tmp[k++] = a[j++];</a:t>
            </a:r>
          </a:p>
          <a:p>
            <a:pPr>
              <a:defRPr sz="2100" b="0">
                <a:solidFill>
                  <a:srgbClr val="151515"/>
                </a:solidFill>
              </a:defRPr>
            </a:pPr>
            <a:r>
              <a:rPr sz="2100" b="0">
                <a:solidFill>
                  <a:srgbClr val="151515"/>
                </a:solidFill>
                <a:latin typeface="Consolas" panose="020B0609020204030204" pitchFamily="49" charset="0"/>
              </a:rPr>
              <a:t>    }</a:t>
            </a:r>
          </a:p>
          <a:p>
            <a:pPr>
              <a:defRPr sz="2100" b="0">
                <a:solidFill>
                  <a:srgbClr val="151515"/>
                </a:solidFill>
              </a:defRPr>
            </a:pPr>
            <a:r>
              <a:rPr sz="2100" b="0">
                <a:solidFill>
                  <a:srgbClr val="151515"/>
                </a:solidFill>
                <a:latin typeface="Consolas" panose="020B0609020204030204" pitchFamily="49" charset="0"/>
              </a:rPr>
              <a:t>    while (i &lt;= mid) tmp[k++] = a[i++];</a:t>
            </a:r>
          </a:p>
          <a:p>
            <a:pPr>
              <a:defRPr sz="2100" b="0">
                <a:solidFill>
                  <a:srgbClr val="151515"/>
                </a:solidFill>
              </a:defRPr>
            </a:pPr>
            <a:r>
              <a:rPr sz="2100" b="0">
                <a:solidFill>
                  <a:srgbClr val="151515"/>
                </a:solidFill>
                <a:latin typeface="Consolas" panose="020B0609020204030204" pitchFamily="49" charset="0"/>
              </a:rPr>
              <a:t>    while (j &lt;= hi) tmp[k++] = a[j++];</a:t>
            </a:r>
          </a:p>
          <a:p>
            <a:pPr>
              <a:defRPr sz="2100" b="0">
                <a:solidFill>
                  <a:srgbClr val="151515"/>
                </a:solidFill>
              </a:defRPr>
            </a:pPr>
            <a:r>
              <a:rPr sz="2100" b="0">
                <a:solidFill>
                  <a:srgbClr val="151515"/>
                </a:solidFill>
                <a:latin typeface="Consolas" panose="020B0609020204030204" pitchFamily="49" charset="0"/>
              </a:rPr>
              <a:t>    for (int t = lo; t &lt;= hi; t++) a[t] = tmp[t];</a:t>
            </a:r>
          </a:p>
          <a:p>
            <a:pPr>
              <a:defRPr sz="2100" b="0">
                <a:solidFill>
                  <a:srgbClr val="151515"/>
                </a:solidFill>
              </a:defRPr>
            </a:pPr>
            <a:r>
              <a:rPr sz="2100" b="0">
                <a:solidFill>
                  <a:srgbClr val="151515"/>
                </a:solidFill>
                <a:latin typeface="Consolas" panose="020B0609020204030204" pitchFamily="49" charset="0"/>
              </a:rPr>
              <a:t>}</a:t>
            </a:r>
          </a:p>
        </p:txBody>
      </p:sp>
      <p:sp>
        <p:nvSpPr>
          <p:cNvPr id="5" name="직사각형 4">
            <a:extLst>
              <a:ext uri="{FF2B5EF4-FFF2-40B4-BE49-F238E27FC236}">
                <a16:creationId xmlns:a16="http://schemas.microsoft.com/office/drawing/2014/main" id="{A354D2E8-FE40-429E-9713-940C606FDC52}"/>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30317B4D-7737-4ED1-9E99-B9FDCA363BCD}"/>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45</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2220BEAD-732D-2701-F599-EE2DD6E6226B}"/>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059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D5FC2D53-2845-4397-861E-B80EDBF5DE21}"/>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A55E89E5-AC2B-4A82-BAD2-C68D14371500}"/>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E1926018-781B-4AB3-990C-65C80E207ABF}"/>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C: 재귀 호출과 실행</a:t>
            </a:r>
          </a:p>
        </p:txBody>
      </p:sp>
      <p:sp>
        <p:nvSpPr>
          <p:cNvPr id="4" name="직사각형 3">
            <a:extLst>
              <a:ext uri="{FF2B5EF4-FFF2-40B4-BE49-F238E27FC236}">
                <a16:creationId xmlns:a16="http://schemas.microsoft.com/office/drawing/2014/main" id="{13B7DEF7-046B-489E-A78B-D38DAFFB63C7}"/>
              </a:ext>
            </a:extLst>
          </p:cNvPr>
          <p:cNvSpPr>
            <a:spLocks noGrp="1"/>
          </p:cNvSpPr>
          <p:nvPr/>
        </p:nvSpPr>
        <p:spPr>
          <a:xfrm>
            <a:off x="609600" y="1571625"/>
            <a:ext cx="10972800" cy="4572000"/>
          </a:xfrm>
          <a:prstGeom prst="rect">
            <a:avLst/>
          </a:prstGeom>
          <a:noFill/>
          <a:ln w="0">
            <a:noFill/>
          </a:ln>
        </p:spPr>
        <p:txBody>
          <a:bodyPr/>
          <a:lstStyle>
            <a:defPPr>
              <a:defRPr sz="2100" b="0">
                <a:solidFill>
                  <a:srgbClr val="151515"/>
                </a:solidFill>
              </a:defRPr>
            </a:defPPr>
          </a:lstStyle>
          <a:p>
            <a:pPr>
              <a:defRPr sz="2100" b="0">
                <a:solidFill>
                  <a:srgbClr val="151515"/>
                </a:solidFill>
              </a:defRPr>
            </a:pPr>
            <a:r>
              <a:rPr sz="2100" b="0">
                <a:solidFill>
                  <a:srgbClr val="151515"/>
                </a:solidFill>
                <a:latin typeface="Consolas" panose="020B0609020204030204" pitchFamily="49" charset="0"/>
              </a:rPr>
              <a:t>/* 앞 슬라이드의 merge 함수를 함께 넣는다. */</a:t>
            </a:r>
          </a:p>
          <a:p>
            <a:pPr>
              <a:defRPr sz="2100" b="0">
                <a:solidFill>
                  <a:srgbClr val="151515"/>
                </a:solidFill>
              </a:defRPr>
            </a:pPr>
            <a:r>
              <a:rPr sz="2100" b="0">
                <a:solidFill>
                  <a:srgbClr val="151515"/>
                </a:solidFill>
                <a:latin typeface="Consolas" panose="020B0609020204030204" pitchFamily="49" charset="0"/>
              </a:rPr>
              <a:t>void merge_sort(int a[], int tmp[], int lo, int hi) {</a:t>
            </a:r>
          </a:p>
          <a:p>
            <a:pPr>
              <a:defRPr sz="2100" b="0">
                <a:solidFill>
                  <a:srgbClr val="151515"/>
                </a:solidFill>
              </a:defRPr>
            </a:pPr>
            <a:r>
              <a:rPr sz="2100" b="0">
                <a:solidFill>
                  <a:srgbClr val="151515"/>
                </a:solidFill>
                <a:latin typeface="Consolas" panose="020B0609020204030204" pitchFamily="49" charset="0"/>
              </a:rPr>
              <a:t>    if (lo &gt;= hi) return;</a:t>
            </a:r>
          </a:p>
          <a:p>
            <a:pPr>
              <a:defRPr sz="2100" b="0">
                <a:solidFill>
                  <a:srgbClr val="151515"/>
                </a:solidFill>
              </a:defRPr>
            </a:pPr>
            <a:r>
              <a:rPr sz="2100" b="0">
                <a:solidFill>
                  <a:srgbClr val="151515"/>
                </a:solidFill>
                <a:latin typeface="Consolas" panose="020B0609020204030204" pitchFamily="49" charset="0"/>
              </a:rPr>
              <a:t>    int mid = lo + (hi - lo) / 2;</a:t>
            </a:r>
          </a:p>
          <a:p>
            <a:pPr>
              <a:defRPr sz="2100" b="0">
                <a:solidFill>
                  <a:srgbClr val="151515"/>
                </a:solidFill>
              </a:defRPr>
            </a:pPr>
            <a:r>
              <a:rPr sz="2100" b="0">
                <a:solidFill>
                  <a:srgbClr val="151515"/>
                </a:solidFill>
                <a:latin typeface="Consolas" panose="020B0609020204030204" pitchFamily="49" charset="0"/>
              </a:rPr>
              <a:t>    merge_sort(a, tmp, lo, mid);</a:t>
            </a:r>
          </a:p>
          <a:p>
            <a:pPr>
              <a:defRPr sz="2100" b="0">
                <a:solidFill>
                  <a:srgbClr val="151515"/>
                </a:solidFill>
              </a:defRPr>
            </a:pPr>
            <a:r>
              <a:rPr sz="2100" b="0">
                <a:solidFill>
                  <a:srgbClr val="151515"/>
                </a:solidFill>
                <a:latin typeface="Consolas" panose="020B0609020204030204" pitchFamily="49" charset="0"/>
              </a:rPr>
              <a:t>    merge_sort(a, tmp, mid + 1, hi);</a:t>
            </a:r>
          </a:p>
          <a:p>
            <a:pPr>
              <a:defRPr sz="2100" b="0">
                <a:solidFill>
                  <a:srgbClr val="151515"/>
                </a:solidFill>
              </a:defRPr>
            </a:pPr>
            <a:r>
              <a:rPr sz="2100" b="0">
                <a:solidFill>
                  <a:srgbClr val="151515"/>
                </a:solidFill>
                <a:latin typeface="Consolas" panose="020B0609020204030204" pitchFamily="49" charset="0"/>
              </a:rPr>
              <a:t>    merge(a, tmp, lo, mid, hi);</a:t>
            </a:r>
          </a:p>
          <a:p>
            <a:pPr>
              <a:defRPr sz="2100" b="0">
                <a:solidFill>
                  <a:srgbClr val="151515"/>
                </a:solidFill>
              </a:defRPr>
            </a:pPr>
            <a:r>
              <a:rPr sz="2100" b="0">
                <a:solidFill>
                  <a:srgbClr val="151515"/>
                </a:solidFill>
                <a:latin typeface="Consolas" panose="020B0609020204030204" pitchFamily="49" charset="0"/>
              </a:rPr>
              <a:t>}</a:t>
            </a:r>
          </a:p>
          <a:p>
            <a:pPr>
              <a:defRPr sz="2100" b="0">
                <a:solidFill>
                  <a:srgbClr val="151515"/>
                </a:solidFill>
              </a:defRPr>
            </a:pPr>
            <a:r>
              <a:rPr sz="2100" b="0">
                <a:solidFill>
                  <a:srgbClr val="151515"/>
                </a:solidFill>
                <a:latin typeface="Consolas" panose="020B0609020204030204" pitchFamily="49" charset="0"/>
              </a:rPr>
              <a:t>/* 실행 예: main 안에서 */</a:t>
            </a:r>
          </a:p>
          <a:p>
            <a:pPr>
              <a:defRPr sz="2100" b="0">
                <a:solidFill>
                  <a:srgbClr val="151515"/>
                </a:solidFill>
              </a:defRPr>
            </a:pPr>
            <a:r>
              <a:rPr sz="2100" b="0">
                <a:solidFill>
                  <a:srgbClr val="151515"/>
                </a:solidFill>
                <a:latin typeface="Consolas" panose="020B0609020204030204" pitchFamily="49" charset="0"/>
              </a:rPr>
              <a:t>int a[] = {8, 3, 6, 2, 7, 1, 5, 4};</a:t>
            </a:r>
          </a:p>
          <a:p>
            <a:pPr>
              <a:defRPr sz="2100" b="0">
                <a:solidFill>
                  <a:srgbClr val="151515"/>
                </a:solidFill>
              </a:defRPr>
            </a:pPr>
            <a:r>
              <a:rPr sz="2100" b="0">
                <a:solidFill>
                  <a:srgbClr val="151515"/>
                </a:solidFill>
                <a:latin typeface="Consolas" panose="020B0609020204030204" pitchFamily="49" charset="0"/>
              </a:rPr>
              <a:t>int tmp[8];</a:t>
            </a:r>
          </a:p>
          <a:p>
            <a:pPr>
              <a:defRPr sz="2100" b="0">
                <a:solidFill>
                  <a:srgbClr val="151515"/>
                </a:solidFill>
              </a:defRPr>
            </a:pPr>
            <a:r>
              <a:rPr sz="2100" b="0">
                <a:solidFill>
                  <a:srgbClr val="151515"/>
                </a:solidFill>
                <a:latin typeface="Consolas" panose="020B0609020204030204" pitchFamily="49" charset="0"/>
              </a:rPr>
              <a:t>merge_sort(a, tmp, 0, 7);</a:t>
            </a:r>
          </a:p>
          <a:p>
            <a:pPr>
              <a:defRPr sz="2100" b="0">
                <a:solidFill>
                  <a:srgbClr val="151515"/>
                </a:solidFill>
              </a:defRPr>
            </a:pPr>
            <a:r>
              <a:rPr sz="2100" b="0">
                <a:solidFill>
                  <a:srgbClr val="151515"/>
                </a:solidFill>
                <a:latin typeface="Consolas" panose="020B0609020204030204" pitchFamily="49" charset="0"/>
              </a:rPr>
              <a:t>/* a는 {1, 2, 3, 4, 5, 6, 7, 8}이 된다. */</a:t>
            </a:r>
          </a:p>
        </p:txBody>
      </p:sp>
      <p:sp>
        <p:nvSpPr>
          <p:cNvPr id="5" name="직사각형 4">
            <a:extLst>
              <a:ext uri="{FF2B5EF4-FFF2-40B4-BE49-F238E27FC236}">
                <a16:creationId xmlns:a16="http://schemas.microsoft.com/office/drawing/2014/main" id="{74F73403-9205-44B0-88A3-24668FB8CA3F}"/>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BE475A4C-8BB0-404F-A779-0D0D9DEF523B}"/>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46</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C168BA5F-DF0C-23DC-6050-4DDC83CEBC8D}"/>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725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986F01BC-AFB3-4989-9D9D-8E00C95BE70D}"/>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A9229D32-A6A1-408C-9763-46CF02482572}"/>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74FA2356-4467-43AC-87D2-AC29A7FF6DAF}"/>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왜 Θ(n log n)인가?</a:t>
            </a:r>
          </a:p>
        </p:txBody>
      </p:sp>
      <p:sp>
        <p:nvSpPr>
          <p:cNvPr id="4" name="직사각형 3">
            <a:extLst>
              <a:ext uri="{FF2B5EF4-FFF2-40B4-BE49-F238E27FC236}">
                <a16:creationId xmlns:a16="http://schemas.microsoft.com/office/drawing/2014/main" id="{65FB0A5A-6605-42D1-9BAB-9EDD12542A68}"/>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한 단계의 병합에서 모든 원소를 합쳐 n개 처리한다.</a:t>
            </a:r>
          </a:p>
          <a:p>
            <a:pPr>
              <a:defRPr sz="2025" b="0">
                <a:solidFill>
                  <a:srgbClr val="151515"/>
                </a:solidFill>
              </a:defRPr>
            </a:pPr>
            <a:r>
              <a:rPr sz="2025" b="0">
                <a:solidFill>
                  <a:srgbClr val="151515"/>
                </a:solidFill>
                <a:latin typeface="Malgun Gothic" panose="020B0503020000020004" pitchFamily="50" charset="-127"/>
              </a:rPr>
              <a:t>절반으로 나누므로 단계 수는 Θ(log n)이다.</a:t>
            </a:r>
          </a:p>
          <a:p>
            <a:pPr>
              <a:defRPr sz="2025" b="0">
                <a:solidFill>
                  <a:srgbClr val="151515"/>
                </a:solidFill>
              </a:defRPr>
            </a:pPr>
            <a:r>
              <a:rPr sz="2025" b="0">
                <a:solidFill>
                  <a:srgbClr val="151515"/>
                </a:solidFill>
                <a:latin typeface="Malgun Gothic" panose="020B0503020000020004" pitchFamily="50" charset="-127"/>
              </a:rPr>
              <a:t>최선·평균·최악 모두 Θ(n log n)</a:t>
            </a:r>
          </a:p>
          <a:p>
            <a:pPr>
              <a:defRPr sz="2025" b="0">
                <a:solidFill>
                  <a:srgbClr val="151515"/>
                </a:solidFill>
              </a:defRPr>
            </a:pPr>
            <a:r>
              <a:rPr sz="2025" b="0">
                <a:solidFill>
                  <a:srgbClr val="151515"/>
                </a:solidFill>
                <a:latin typeface="Malgun Gothic" panose="020B0503020000020004" pitchFamily="50" charset="-127"/>
              </a:rPr>
              <a:t>같은 값이면 왼쪽을 먼저 선택하면 안정 정렬이다.</a:t>
            </a:r>
          </a:p>
        </p:txBody>
      </p:sp>
      <p:sp>
        <p:nvSpPr>
          <p:cNvPr id="5" name="직사각형 4">
            <a:extLst>
              <a:ext uri="{FF2B5EF4-FFF2-40B4-BE49-F238E27FC236}">
                <a16:creationId xmlns:a16="http://schemas.microsoft.com/office/drawing/2014/main" id="{023CE44F-9B01-4E2F-BA59-29EB554E0569}"/>
              </a:ext>
            </a:extLst>
          </p:cNvPr>
          <p:cNvSpPr>
            <a:spLocks noGrp="1"/>
          </p:cNvSpPr>
          <p:nvPr/>
        </p:nvSpPr>
        <p:spPr>
          <a:xfrm>
            <a:off x="609600" y="335280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단계별 처리량</a:t>
            </a:r>
          </a:p>
        </p:txBody>
      </p:sp>
      <p:graphicFrame>
        <p:nvGraphicFramePr>
          <p:cNvPr id="6" name="표 5">
            <a:extLst>
              <a:ext uri="{FF2B5EF4-FFF2-40B4-BE49-F238E27FC236}">
                <a16:creationId xmlns:a16="http://schemas.microsoft.com/office/drawing/2014/main" id="{3C04D45D-11E0-4498-928C-D58C6F10BB83}"/>
              </a:ext>
            </a:extLst>
          </p:cNvPr>
          <p:cNvGraphicFramePr/>
          <p:nvPr>
            <p:extLst>
              <p:ext uri="{D42A27DB-BD31-4B8C-83A1-F6EECF244321}">
                <p14:modId xmlns:p14="http://schemas.microsoft.com/office/powerpoint/2010/main" val="3541450865"/>
              </p:ext>
            </p:extLst>
          </p:nvPr>
        </p:nvGraphicFramePr>
        <p:xfrm>
          <a:off x="609600" y="3619500"/>
          <a:ext cx="10972800" cy="5524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52450">
                <a:tc>
                  <a:txBody>
                    <a:bodyPr/>
                    <a:lstStyle/>
                    <a:p>
                      <a:pPr algn="ctr"/>
                      <a:r>
                        <a:rPr sz="2025" b="1">
                          <a:solidFill>
                            <a:srgbClr val="151515"/>
                          </a:solidFill>
                          <a:latin typeface="Malgun Gothic" panose="020B0503020000020004" pitchFamily="50" charset="-127"/>
                        </a:rPr>
                        <a:t>2개 × 4쌍 = 8개</a:t>
                      </a:r>
                    </a:p>
                  </a:txBody>
                  <a:tcPr>
                    <a:solidFill>
                      <a:srgbClr val="F6F6F6"/>
                    </a:solidFill>
                  </a:tcPr>
                </a:tc>
                <a:tc>
                  <a:txBody>
                    <a:bodyPr/>
                    <a:lstStyle/>
                    <a:p>
                      <a:pPr algn="ctr"/>
                      <a:r>
                        <a:rPr sz="2025" b="1">
                          <a:solidFill>
                            <a:srgbClr val="151515"/>
                          </a:solidFill>
                          <a:latin typeface="Malgun Gothic" panose="020B0503020000020004" pitchFamily="50" charset="-127"/>
                        </a:rPr>
                        <a:t>4개 × 2쌍 = 8개</a:t>
                      </a:r>
                    </a:p>
                  </a:txBody>
                  <a:tcPr>
                    <a:solidFill>
                      <a:srgbClr val="F6F6F6"/>
                    </a:solidFill>
                  </a:tcPr>
                </a:tc>
                <a:tc>
                  <a:txBody>
                    <a:bodyPr/>
                    <a:lstStyle/>
                    <a:p>
                      <a:pPr algn="ctr"/>
                      <a:r>
                        <a:rPr sz="2025" b="1">
                          <a:solidFill>
                            <a:srgbClr val="151515"/>
                          </a:solidFill>
                          <a:latin typeface="Malgun Gothic" panose="020B0503020000020004" pitchFamily="50" charset="-127"/>
                        </a:rPr>
                        <a:t>8개 × 1쌍 = 8개</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C7CA4B8D-2C96-4B27-A4A4-549C24630541}"/>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8" name="직사각형 7">
            <a:extLst>
              <a:ext uri="{FF2B5EF4-FFF2-40B4-BE49-F238E27FC236}">
                <a16:creationId xmlns:a16="http://schemas.microsoft.com/office/drawing/2014/main" id="{B7012730-6216-42A7-94A1-838BB43D074A}"/>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47</a:t>
            </a:r>
            <a:endParaRPr sz="1050" b="0">
              <a:solidFill>
                <a:srgbClr val="151515"/>
              </a:solidFill>
              <a:latin typeface="Consolas" panose="020B0609020204030204" pitchFamily="49" charset="0"/>
            </a:endParaRPr>
          </a:p>
        </p:txBody>
      </p:sp>
      <p:cxnSp>
        <p:nvCxnSpPr>
          <p:cNvPr id="10" name="직선 연결선 9">
            <a:extLst>
              <a:ext uri="{FF2B5EF4-FFF2-40B4-BE49-F238E27FC236}">
                <a16:creationId xmlns:a16="http://schemas.microsoft.com/office/drawing/2014/main" id="{74772BA1-42AE-CDD3-A6BA-FBAF01C89953}"/>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24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409A140B-E7C1-4A06-AB06-8E4AAA837607}"/>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4.2  병합 정렬</a:t>
            </a:r>
          </a:p>
        </p:txBody>
      </p:sp>
      <p:sp>
        <p:nvSpPr>
          <p:cNvPr id="2" name="직사각형 1">
            <a:extLst>
              <a:ext uri="{FF2B5EF4-FFF2-40B4-BE49-F238E27FC236}">
                <a16:creationId xmlns:a16="http://schemas.microsoft.com/office/drawing/2014/main" id="{01A4833B-A39A-4461-BBA1-D85B9248DE42}"/>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09755600-7AB0-44B4-9246-7764C051B64B}"/>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병합 정렬 확인</a:t>
            </a:r>
          </a:p>
        </p:txBody>
      </p:sp>
      <p:sp>
        <p:nvSpPr>
          <p:cNvPr id="4" name="직사각형 3">
            <a:extLst>
              <a:ext uri="{FF2B5EF4-FFF2-40B4-BE49-F238E27FC236}">
                <a16:creationId xmlns:a16="http://schemas.microsoft.com/office/drawing/2014/main" id="{20C1998E-D86D-4C88-936E-27056E5A2932}"/>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왼쪽 [2, 5], 오른쪽 [1, 3, 7]을 병합하자.</a:t>
            </a:r>
          </a:p>
          <a:p>
            <a:pPr>
              <a:defRPr sz="2025" b="0">
                <a:solidFill>
                  <a:srgbClr val="151515"/>
                </a:solidFill>
              </a:defRPr>
            </a:pPr>
            <a:r>
              <a:rPr sz="2025" b="0">
                <a:solidFill>
                  <a:srgbClr val="151515"/>
                </a:solidFill>
                <a:latin typeface="Malgun Gothic" panose="020B0503020000020004" pitchFamily="50" charset="-127"/>
              </a:rPr>
              <a:t>① 첫 번째로 선택하는 값과 움직이는 포인터는?</a:t>
            </a:r>
          </a:p>
          <a:p>
            <a:pPr>
              <a:defRPr sz="2025" b="0">
                <a:solidFill>
                  <a:srgbClr val="151515"/>
                </a:solidFill>
              </a:defRPr>
            </a:pPr>
            <a:r>
              <a:rPr sz="2025" b="0">
                <a:solidFill>
                  <a:srgbClr val="151515"/>
                </a:solidFill>
                <a:latin typeface="Malgun Gothic" panose="020B0503020000020004" pitchFamily="50" charset="-127"/>
              </a:rPr>
              <a:t>② 왼쪽이 먼저 끝났을 때 어떤 값을 붙이는가?</a:t>
            </a:r>
          </a:p>
          <a:p>
            <a:pPr>
              <a:defRPr sz="2025" b="0">
                <a:solidFill>
                  <a:srgbClr val="151515"/>
                </a:solidFill>
              </a:defRPr>
            </a:pPr>
            <a:r>
              <a:rPr sz="2025" b="0">
                <a:solidFill>
                  <a:srgbClr val="151515"/>
                </a:solidFill>
                <a:latin typeface="Malgun Gothic" panose="020B0503020000020004" pitchFamily="50" charset="-127"/>
              </a:rPr>
              <a:t>③ 재귀 코드에서 merge를 두 재귀 호출 뒤에 쓰는 이유는?</a:t>
            </a:r>
          </a:p>
        </p:txBody>
      </p:sp>
      <p:sp>
        <p:nvSpPr>
          <p:cNvPr id="5" name="직사각형 4">
            <a:extLst>
              <a:ext uri="{FF2B5EF4-FFF2-40B4-BE49-F238E27FC236}">
                <a16:creationId xmlns:a16="http://schemas.microsoft.com/office/drawing/2014/main" id="{A23BBD6B-9B04-4198-89BC-FC274FFD356B}"/>
              </a:ext>
            </a:extLst>
          </p:cNvPr>
          <p:cNvSpPr>
            <a:spLocks noGrp="1"/>
          </p:cNvSpPr>
          <p:nvPr/>
        </p:nvSpPr>
        <p:spPr>
          <a:xfrm>
            <a:off x="609600" y="335280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왼쪽</a:t>
            </a:r>
          </a:p>
        </p:txBody>
      </p:sp>
      <p:graphicFrame>
        <p:nvGraphicFramePr>
          <p:cNvPr id="6" name="표 5">
            <a:extLst>
              <a:ext uri="{FF2B5EF4-FFF2-40B4-BE49-F238E27FC236}">
                <a16:creationId xmlns:a16="http://schemas.microsoft.com/office/drawing/2014/main" id="{0025B30A-7505-4567-804D-CF7F9BD5BAC0}"/>
              </a:ext>
            </a:extLst>
          </p:cNvPr>
          <p:cNvGraphicFramePr/>
          <p:nvPr>
            <p:extLst>
              <p:ext uri="{D42A27DB-BD31-4B8C-83A1-F6EECF244321}">
                <p14:modId xmlns:p14="http://schemas.microsoft.com/office/powerpoint/2010/main" val="3151121335"/>
              </p:ext>
            </p:extLst>
          </p:nvPr>
        </p:nvGraphicFramePr>
        <p:xfrm>
          <a:off x="609600" y="3619500"/>
          <a:ext cx="10972800" cy="552450"/>
        </p:xfrm>
        <a:graphic>
          <a:graphicData uri="http://schemas.openxmlformats.org/drawingml/2006/table">
            <a:tbl>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552450">
                <a:tc>
                  <a:txBody>
                    <a:bodyPr/>
                    <a:lstStyle/>
                    <a:p>
                      <a:pPr algn="ctr"/>
                      <a:r>
                        <a:rPr sz="2025" b="1">
                          <a:solidFill>
                            <a:srgbClr val="151515"/>
                          </a:solidFill>
                          <a:latin typeface="Malgun Gothic" panose="020B0503020000020004" pitchFamily="50" charset="-127"/>
                        </a:rPr>
                        <a:t>2</a:t>
                      </a:r>
                    </a:p>
                  </a:txBody>
                  <a:tcPr>
                    <a:solidFill>
                      <a:srgbClr val="F6F6F6"/>
                    </a:solidFill>
                  </a:tcPr>
                </a:tc>
                <a:tc>
                  <a:txBody>
                    <a:bodyPr/>
                    <a:lstStyle/>
                    <a:p>
                      <a:pPr algn="ctr"/>
                      <a:r>
                        <a:rPr sz="2025" b="1">
                          <a:solidFill>
                            <a:srgbClr val="151515"/>
                          </a:solidFill>
                          <a:latin typeface="Malgun Gothic" panose="020B0503020000020004" pitchFamily="50" charset="-127"/>
                        </a:rPr>
                        <a:t>5</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73C60737-151D-4505-9106-CEBD825E8621}"/>
              </a:ext>
            </a:extLst>
          </p:cNvPr>
          <p:cNvSpPr>
            <a:spLocks noGrp="1"/>
          </p:cNvSpPr>
          <p:nvPr/>
        </p:nvSpPr>
        <p:spPr>
          <a:xfrm>
            <a:off x="609600" y="443865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오른쪽</a:t>
            </a:r>
          </a:p>
        </p:txBody>
      </p:sp>
      <p:graphicFrame>
        <p:nvGraphicFramePr>
          <p:cNvPr id="8" name="표 7">
            <a:extLst>
              <a:ext uri="{FF2B5EF4-FFF2-40B4-BE49-F238E27FC236}">
                <a16:creationId xmlns:a16="http://schemas.microsoft.com/office/drawing/2014/main" id="{59042081-B402-448A-9F01-6E7C43462C8B}"/>
              </a:ext>
            </a:extLst>
          </p:cNvPr>
          <p:cNvGraphicFramePr/>
          <p:nvPr>
            <p:extLst>
              <p:ext uri="{D42A27DB-BD31-4B8C-83A1-F6EECF244321}">
                <p14:modId xmlns:p14="http://schemas.microsoft.com/office/powerpoint/2010/main" val="3193779009"/>
              </p:ext>
            </p:extLst>
          </p:nvPr>
        </p:nvGraphicFramePr>
        <p:xfrm>
          <a:off x="609600" y="4705350"/>
          <a:ext cx="10972800" cy="5524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52450">
                <a:tc>
                  <a:txBody>
                    <a:bodyPr/>
                    <a:lstStyle/>
                    <a:p>
                      <a:pPr algn="ctr"/>
                      <a:r>
                        <a:rPr sz="2025" b="1">
                          <a:solidFill>
                            <a:srgbClr val="151515"/>
                          </a:solidFill>
                          <a:latin typeface="Malgun Gothic" panose="020B0503020000020004" pitchFamily="50" charset="-127"/>
                        </a:rPr>
                        <a:t>1</a:t>
                      </a:r>
                    </a:p>
                  </a:txBody>
                  <a:tcPr>
                    <a:solidFill>
                      <a:srgbClr val="F6F6F6"/>
                    </a:solidFill>
                  </a:tcPr>
                </a:tc>
                <a:tc>
                  <a:txBody>
                    <a:bodyPr/>
                    <a:lstStyle/>
                    <a:p>
                      <a:pPr algn="ctr"/>
                      <a:r>
                        <a:rPr sz="2025" b="1">
                          <a:solidFill>
                            <a:srgbClr val="151515"/>
                          </a:solidFill>
                          <a:latin typeface="Malgun Gothic" panose="020B0503020000020004" pitchFamily="50" charset="-127"/>
                        </a:rPr>
                        <a:t>3</a:t>
                      </a:r>
                    </a:p>
                  </a:txBody>
                  <a:tcPr>
                    <a:solidFill>
                      <a:srgbClr val="F6F6F6"/>
                    </a:solidFill>
                  </a:tcPr>
                </a:tc>
                <a:tc>
                  <a:txBody>
                    <a:bodyPr/>
                    <a:lstStyle/>
                    <a:p>
                      <a:pPr algn="ctr"/>
                      <a:r>
                        <a:rPr sz="2025" b="1">
                          <a:solidFill>
                            <a:srgbClr val="151515"/>
                          </a:solidFill>
                          <a:latin typeface="Malgun Gothic" panose="020B0503020000020004" pitchFamily="50" charset="-127"/>
                        </a:rPr>
                        <a:t>7</a:t>
                      </a:r>
                    </a:p>
                  </a:txBody>
                  <a:tcPr>
                    <a:solidFill>
                      <a:srgbClr val="F6F6F6"/>
                    </a:solidFill>
                  </a:tcPr>
                </a:tc>
                <a:extLst>
                  <a:ext uri="{0D108BD9-81ED-4DB2-BD59-A6C34878D82A}">
                    <a16:rowId xmlns:a16="http://schemas.microsoft.com/office/drawing/2014/main" val="10000"/>
                  </a:ext>
                </a:extLst>
              </a:tr>
            </a:tbl>
          </a:graphicData>
        </a:graphic>
      </p:graphicFrame>
      <p:sp>
        <p:nvSpPr>
          <p:cNvPr id="9" name="직사각형 8">
            <a:extLst>
              <a:ext uri="{FF2B5EF4-FFF2-40B4-BE49-F238E27FC236}">
                <a16:creationId xmlns:a16="http://schemas.microsoft.com/office/drawing/2014/main" id="{B3E48B00-D46E-497B-A3A1-613FE786B2B6}"/>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0" name="직사각형 9">
            <a:extLst>
              <a:ext uri="{FF2B5EF4-FFF2-40B4-BE49-F238E27FC236}">
                <a16:creationId xmlns:a16="http://schemas.microsoft.com/office/drawing/2014/main" id="{23DA4BB7-4932-471A-80A8-A5CDDABC3DA6}"/>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48</a:t>
            </a:r>
            <a:endParaRPr sz="1050" b="0">
              <a:solidFill>
                <a:srgbClr val="151515"/>
              </a:solidFill>
              <a:latin typeface="Consolas" panose="020B0609020204030204" pitchFamily="49" charset="0"/>
            </a:endParaRPr>
          </a:p>
        </p:txBody>
      </p:sp>
      <p:cxnSp>
        <p:nvCxnSpPr>
          <p:cNvPr id="12" name="직선 연결선 11">
            <a:extLst>
              <a:ext uri="{FF2B5EF4-FFF2-40B4-BE49-F238E27FC236}">
                <a16:creationId xmlns:a16="http://schemas.microsoft.com/office/drawing/2014/main" id="{8CA51E12-EFBA-F500-14E6-1570F7AE4BCF}"/>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838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ction">
            <a:extLst>
              <a:ext uri="{FF2B5EF4-FFF2-40B4-BE49-F238E27FC236}">
                <a16:creationId xmlns:a16="http://schemas.microsoft.com/office/drawing/2014/main" id="{C30FD447-517A-4C84-9788-290C715DF149}"/>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0BD0DFFE-B815-4537-80B2-10A6D645880B}"/>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D4C42512-FC40-4838-B4C9-8390A92FA0C5}"/>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퀵 정렬 (Quick Sort)</a:t>
            </a:r>
          </a:p>
        </p:txBody>
      </p:sp>
      <p:sp>
        <p:nvSpPr>
          <p:cNvPr id="4" name="직사각형 3">
            <a:extLst>
              <a:ext uri="{FF2B5EF4-FFF2-40B4-BE49-F238E27FC236}">
                <a16:creationId xmlns:a16="http://schemas.microsoft.com/office/drawing/2014/main" id="{FC5E6D16-D411-499D-B672-A4BA6DA506D0}"/>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0209A34F-3E41-4318-8D2C-837A46EA1D3C}"/>
              </a:ext>
            </a:extLst>
          </p:cNvPr>
          <p:cNvSpPr>
            <a:spLocks noGrp="1"/>
          </p:cNvSpPr>
          <p:nvPr/>
        </p:nvSpPr>
        <p:spPr>
          <a:xfrm>
            <a:off x="609600" y="1638300"/>
            <a:ext cx="10972800" cy="95250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피벗은 원소들을 나누는 비교 기준값입니다.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이번 구현은 피벗 이하를 왼쪽, 피벗 초과를 오른쪽에 모읍니다.</a:t>
            </a:r>
          </a:p>
        </p:txBody>
      </p:sp>
      <p:sp>
        <p:nvSpPr>
          <p:cNvPr id="6" name="footer">
            <a:extLst>
              <a:ext uri="{FF2B5EF4-FFF2-40B4-BE49-F238E27FC236}">
                <a16:creationId xmlns:a16="http://schemas.microsoft.com/office/drawing/2014/main" id="{EAD6C35F-F529-439D-9164-9C85AAFE9CB2}"/>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03EDE98E-1ACD-4194-BD72-2C2338D31985}"/>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49</a:t>
            </a:r>
            <a:endParaRPr sz="1050" b="0">
              <a:solidFill>
                <a:srgbClr val="151515"/>
              </a:solidFill>
              <a:latin typeface="Consolas"/>
              <a:ea typeface="Consolas"/>
              <a:cs typeface="Consolas"/>
            </a:endParaRPr>
          </a:p>
        </p:txBody>
      </p:sp>
      <p:sp>
        <p:nvSpPr>
          <p:cNvPr id="8" name="input-label">
            <a:extLst>
              <a:ext uri="{FF2B5EF4-FFF2-40B4-BE49-F238E27FC236}">
                <a16:creationId xmlns:a16="http://schemas.microsoft.com/office/drawing/2014/main" id="{477233D7-866A-4993-8300-94E41BF7735A}"/>
              </a:ext>
            </a:extLst>
          </p:cNvPr>
          <p:cNvSpPr>
            <a:spLocks noGrp="1"/>
          </p:cNvSpPr>
          <p:nvPr/>
        </p:nvSpPr>
        <p:spPr>
          <a:xfrm>
            <a:off x="609600" y="3181350"/>
            <a:ext cx="10972800" cy="266700"/>
          </a:xfrm>
          <a:prstGeom prst="rect">
            <a:avLst/>
          </a:prstGeom>
          <a:noFill/>
          <a:ln w="0">
            <a:noFill/>
          </a:ln>
        </p:spPr>
        <p:txBody>
          <a:bodyPr wrap="none" lIns="0" tIns="0" rIns="0" bIns="0" anchor="t">
            <a:noAutofit/>
          </a:bodyPr>
          <a:lstStyle>
            <a:defPPr algn="l">
              <a:defRPr sz="1500" b="0">
                <a:solidFill>
                  <a:srgbClr val="151515"/>
                </a:solidFill>
                <a:latin typeface="Malgun Gothic"/>
                <a:ea typeface="Malgun Gothic"/>
                <a:cs typeface="Malgun Gothic"/>
              </a:defRPr>
            </a:defPPr>
          </a:lstStyle>
          <a:p>
            <a:pPr algn="l">
              <a:lnSpc>
                <a:spcPct val="106000"/>
              </a:lnSpc>
              <a:buNone/>
              <a:defRPr sz="1500" b="0">
                <a:solidFill>
                  <a:srgbClr val="151515"/>
                </a:solidFill>
                <a:latin typeface="Malgun Gothic"/>
                <a:ea typeface="Malgun Gothic"/>
                <a:cs typeface="Malgun Gothic"/>
              </a:defRPr>
            </a:pPr>
            <a:r>
              <a:rPr sz="1500" b="0">
                <a:solidFill>
                  <a:srgbClr val="151515"/>
                </a:solidFill>
                <a:latin typeface="Malgun Gothic"/>
                <a:ea typeface="Malgun Gothic"/>
                <a:cs typeface="Malgun Gothic"/>
              </a:rPr>
              <a:t>이번 입력</a:t>
            </a:r>
          </a:p>
        </p:txBody>
      </p:sp>
      <p:sp>
        <p:nvSpPr>
          <p:cNvPr id="9" name="input-label">
            <a:extLst>
              <a:ext uri="{FF2B5EF4-FFF2-40B4-BE49-F238E27FC236}">
                <a16:creationId xmlns:a16="http://schemas.microsoft.com/office/drawing/2014/main" id="{292C8979-3206-4D2D-A7F4-C49A6350CFF0}"/>
              </a:ext>
            </a:extLst>
          </p:cNvPr>
          <p:cNvSpPr>
            <a:spLocks noGrp="1"/>
          </p:cNvSpPr>
          <p:nvPr/>
        </p:nvSpPr>
        <p:spPr>
          <a:xfrm>
            <a:off x="609600" y="369570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endParaRPr/>
          </a:p>
        </p:txBody>
      </p:sp>
      <p:graphicFrame>
        <p:nvGraphicFramePr>
          <p:cNvPr id="10" name="표 9">
            <a:extLst>
              <a:ext uri="{FF2B5EF4-FFF2-40B4-BE49-F238E27FC236}">
                <a16:creationId xmlns:a16="http://schemas.microsoft.com/office/drawing/2014/main" id="{F782E191-E876-4799-802C-EE6BED321A9F}"/>
              </a:ext>
            </a:extLst>
          </p:cNvPr>
          <p:cNvGraphicFramePr/>
          <p:nvPr/>
        </p:nvGraphicFramePr>
        <p:xfrm>
          <a:off x="609600" y="3524250"/>
          <a:ext cx="10972800" cy="57150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8</a:t>
                      </a:r>
                    </a:p>
                  </a:txBody>
                  <a:tcPr anchor="ctr">
                    <a:solidFill>
                      <a:srgbClr val="F6F6F6"/>
                    </a:solidFill>
                  </a:tcPr>
                </a:tc>
                <a:tc>
                  <a:txBody>
                    <a:bodyPr/>
                    <a:lstStyle/>
                    <a:p>
                      <a:pPr algn="ctr"/>
                      <a:r>
                        <a:rPr sz="2475" b="1">
                          <a:solidFill>
                            <a:srgbClr val="151515"/>
                          </a:solidFill>
                          <a:latin typeface="Consolas"/>
                          <a:ea typeface="Consolas"/>
                          <a:cs typeface="Consolas"/>
                        </a:rPr>
                        <a:t>4</a:t>
                      </a:r>
                    </a:p>
                  </a:txBody>
                  <a:tcPr anchor="ctr">
                    <a:solidFill>
                      <a:srgbClr val="F6F6F6"/>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tc>
                  <a:txBody>
                    <a:bodyPr/>
                    <a:lstStyle/>
                    <a:p>
                      <a:pPr algn="ctr"/>
                      <a:r>
                        <a:rPr sz="2475" b="1">
                          <a:solidFill>
                            <a:srgbClr val="151515"/>
                          </a:solidFill>
                          <a:latin typeface="Consolas"/>
                          <a:ea typeface="Consolas"/>
                          <a:cs typeface="Consolas"/>
                        </a:rPr>
                        <a:t>3</a:t>
                      </a:r>
                    </a:p>
                  </a:txBody>
                  <a:tcPr anchor="ctr">
                    <a:solidFill>
                      <a:srgbClr val="F6F6F6"/>
                    </a:solidFill>
                  </a:tcPr>
                </a:tc>
                <a:tc>
                  <a:txBody>
                    <a:bodyPr/>
                    <a:lstStyle/>
                    <a:p>
                      <a:pPr algn="ctr"/>
                      <a:r>
                        <a:rPr sz="2475" b="1">
                          <a:solidFill>
                            <a:srgbClr val="151515"/>
                          </a:solidFill>
                          <a:latin typeface="Consolas"/>
                          <a:ea typeface="Consolas"/>
                          <a:cs typeface="Consolas"/>
                        </a:rPr>
                        <a:t>7</a:t>
                      </a:r>
                    </a:p>
                  </a:txBody>
                  <a:tcPr anchor="ctr">
                    <a:solidFill>
                      <a:srgbClr val="F6F6F6"/>
                    </a:solidFill>
                  </a:tcPr>
                </a:tc>
                <a:tc>
                  <a:txBody>
                    <a:bodyPr/>
                    <a:lstStyle/>
                    <a:p>
                      <a:pPr algn="ctr"/>
                      <a:r>
                        <a:rPr sz="2475" b="1">
                          <a:solidFill>
                            <a:srgbClr val="151515"/>
                          </a:solidFill>
                          <a:latin typeface="Consolas"/>
                          <a:ea typeface="Consolas"/>
                          <a:cs typeface="Consolas"/>
                        </a:rPr>
                        <a:t>1</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11" name="input-pointer-2">
            <a:extLst>
              <a:ext uri="{FF2B5EF4-FFF2-40B4-BE49-F238E27FC236}">
                <a16:creationId xmlns:a16="http://schemas.microsoft.com/office/drawing/2014/main" id="{671C0E7F-FB71-42E9-95ED-D10336F3B9F0}"/>
              </a:ext>
            </a:extLst>
          </p:cNvPr>
          <p:cNvSpPr>
            <a:spLocks noGrp="1"/>
          </p:cNvSpPr>
          <p:nvPr/>
        </p:nvSpPr>
        <p:spPr>
          <a:xfrm>
            <a:off x="4267200" y="4391025"/>
            <a:ext cx="18288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2" name="after-partition">
            <a:extLst>
              <a:ext uri="{FF2B5EF4-FFF2-40B4-BE49-F238E27FC236}">
                <a16:creationId xmlns:a16="http://schemas.microsoft.com/office/drawing/2014/main" id="{2B8BBF65-AB4B-4930-829A-FB5BC3A75A88}"/>
              </a:ext>
            </a:extLst>
          </p:cNvPr>
          <p:cNvSpPr>
            <a:spLocks noGrp="1"/>
          </p:cNvSpPr>
          <p:nvPr/>
        </p:nvSpPr>
        <p:spPr>
          <a:xfrm>
            <a:off x="609600" y="5467350"/>
            <a:ext cx="10972800" cy="381000"/>
          </a:xfrm>
          <a:prstGeom prst="rect">
            <a:avLst/>
          </a:prstGeom>
          <a:noFill/>
          <a:ln w="0">
            <a:noFill/>
          </a:ln>
        </p:spPr>
        <p:txBody>
          <a:bodyPr wrap="none" lIns="0" tIns="0" rIns="0" bIns="0" anchor="t">
            <a:noAutofit/>
          </a:bodyPr>
          <a:lstStyle>
            <a:defPPr algn="l">
              <a:defRPr sz="1875" b="0">
                <a:solidFill>
                  <a:srgbClr val="151515"/>
                </a:solidFill>
                <a:latin typeface="Malgun Gothic"/>
                <a:ea typeface="Malgun Gothic"/>
                <a:cs typeface="Malgun Gothic"/>
              </a:defRPr>
            </a:defPPr>
          </a:lstStyle>
          <a:p>
            <a:pPr algn="l">
              <a:lnSpc>
                <a:spcPct val="106000"/>
              </a:lnSpc>
              <a:buNone/>
              <a:defRPr sz="1875" b="0">
                <a:solidFill>
                  <a:srgbClr val="151515"/>
                </a:solidFill>
                <a:latin typeface="Malgun Gothic"/>
                <a:ea typeface="Malgun Gothic"/>
                <a:cs typeface="Malgun Gothic"/>
              </a:defRPr>
            </a:pPr>
            <a:r>
              <a:rPr sz="1875" b="0">
                <a:solidFill>
                  <a:srgbClr val="151515"/>
                </a:solidFill>
                <a:latin typeface="Malgun Gothic"/>
                <a:ea typeface="Malgun Gothic"/>
                <a:cs typeface="Malgun Gothic"/>
              </a:rPr>
              <a:t>분할 뒤 피벗의 자리를 정하고, 피벗 양쪽 구간을 다시 정렬합니다.</a:t>
            </a:r>
          </a:p>
        </p:txBody>
      </p:sp>
    </p:spTree>
    <p:extLst>
      <p:ext uri="{BB962C8B-B14F-4D97-AF65-F5344CB8AC3E}">
        <p14:creationId xmlns:p14="http://schemas.microsoft.com/office/powerpoint/2010/main" val="498157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B91AA4A0-463F-4FA6-98C3-E9A455CADB74}"/>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61C81F63-B631-49C6-9865-9D37B79748E8}"/>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2D378713-AE93-4935-AB61-C83111581575}"/>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선택: 가운데 칸의 6</a:t>
            </a:r>
          </a:p>
        </p:txBody>
      </p:sp>
      <p:sp>
        <p:nvSpPr>
          <p:cNvPr id="4" name="직사각형 3">
            <a:extLst>
              <a:ext uri="{FF2B5EF4-FFF2-40B4-BE49-F238E27FC236}">
                <a16:creationId xmlns:a16="http://schemas.microsoft.com/office/drawing/2014/main" id="{64D9B565-6798-4215-8DAE-DF4957AB1BB8}"/>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AFB0AB3E-6C03-462E-94F5-A76C89AC40C8}"/>
              </a:ext>
            </a:extLst>
          </p:cNvPr>
          <p:cNvSpPr>
            <a:spLocks noGrp="1"/>
          </p:cNvSpPr>
          <p:nvPr/>
        </p:nvSpPr>
        <p:spPr>
          <a:xfrm>
            <a:off x="609600" y="1638300"/>
            <a:ext cx="10972800" cy="95250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현재 구간은 lo = 0부터 hi = 5까지입니다.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가운데 인덱스 (lo + hi) // 2 = 2에서 피벗 a[2] = 6을 고릅니다.</a:t>
            </a:r>
          </a:p>
        </p:txBody>
      </p:sp>
      <p:sp>
        <p:nvSpPr>
          <p:cNvPr id="6" name="footer">
            <a:extLst>
              <a:ext uri="{FF2B5EF4-FFF2-40B4-BE49-F238E27FC236}">
                <a16:creationId xmlns:a16="http://schemas.microsoft.com/office/drawing/2014/main" id="{E13595B8-1D1F-458C-B62E-D65112995A5F}"/>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0C57FB31-6FB9-43CF-AB4A-B5850CD77036}"/>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50</a:t>
            </a:r>
            <a:endParaRPr sz="1050" b="0">
              <a:solidFill>
                <a:srgbClr val="151515"/>
              </a:solidFill>
              <a:latin typeface="Consolas"/>
              <a:ea typeface="Consolas"/>
              <a:cs typeface="Consolas"/>
            </a:endParaRPr>
          </a:p>
        </p:txBody>
      </p:sp>
      <p:sp>
        <p:nvSpPr>
          <p:cNvPr id="8" name="choose-label">
            <a:extLst>
              <a:ext uri="{FF2B5EF4-FFF2-40B4-BE49-F238E27FC236}">
                <a16:creationId xmlns:a16="http://schemas.microsoft.com/office/drawing/2014/main" id="{8BDDB89E-5B41-4B15-84EF-88E32C5F0D29}"/>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9" name="표 8">
            <a:extLst>
              <a:ext uri="{FF2B5EF4-FFF2-40B4-BE49-F238E27FC236}">
                <a16:creationId xmlns:a16="http://schemas.microsoft.com/office/drawing/2014/main" id="{7CAD763E-B275-4D7F-82DF-15D30276A2F4}"/>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8</a:t>
                      </a:r>
                    </a:p>
                  </a:txBody>
                  <a:tcPr anchor="ctr">
                    <a:solidFill>
                      <a:srgbClr val="E7E7E7"/>
                    </a:solidFill>
                  </a:tcPr>
                </a:tc>
                <a:tc>
                  <a:txBody>
                    <a:bodyPr/>
                    <a:lstStyle/>
                    <a:p>
                      <a:pPr algn="ctr"/>
                      <a:r>
                        <a:rPr sz="2475" b="1">
                          <a:solidFill>
                            <a:srgbClr val="151515"/>
                          </a:solidFill>
                          <a:latin typeface="Consolas"/>
                          <a:ea typeface="Consolas"/>
                          <a:cs typeface="Consolas"/>
                        </a:rPr>
                        <a:t>4</a:t>
                      </a:r>
                    </a:p>
                  </a:txBody>
                  <a:tcPr anchor="ctr">
                    <a:solidFill>
                      <a:srgbClr val="F6F6F6"/>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tc>
                  <a:txBody>
                    <a:bodyPr/>
                    <a:lstStyle/>
                    <a:p>
                      <a:pPr algn="ctr"/>
                      <a:r>
                        <a:rPr sz="2475" b="1">
                          <a:solidFill>
                            <a:srgbClr val="151515"/>
                          </a:solidFill>
                          <a:latin typeface="Consolas"/>
                          <a:ea typeface="Consolas"/>
                          <a:cs typeface="Consolas"/>
                        </a:rPr>
                        <a:t>3</a:t>
                      </a:r>
                    </a:p>
                  </a:txBody>
                  <a:tcPr anchor="ctr">
                    <a:solidFill>
                      <a:srgbClr val="F6F6F6"/>
                    </a:solidFill>
                  </a:tcPr>
                </a:tc>
                <a:tc>
                  <a:txBody>
                    <a:bodyPr/>
                    <a:lstStyle/>
                    <a:p>
                      <a:pPr algn="ctr"/>
                      <a:r>
                        <a:rPr sz="2475" b="1">
                          <a:solidFill>
                            <a:srgbClr val="151515"/>
                          </a:solidFill>
                          <a:latin typeface="Consolas"/>
                          <a:ea typeface="Consolas"/>
                          <a:cs typeface="Consolas"/>
                        </a:rPr>
                        <a:t>7</a:t>
                      </a:r>
                    </a:p>
                  </a:txBody>
                  <a:tcPr anchor="ctr">
                    <a:solidFill>
                      <a:srgbClr val="F6F6F6"/>
                    </a:solidFill>
                  </a:tcPr>
                </a:tc>
                <a:tc>
                  <a:txBody>
                    <a:bodyPr/>
                    <a:lstStyle/>
                    <a:p>
                      <a:pPr algn="ctr"/>
                      <a:r>
                        <a:rPr sz="2475" b="1">
                          <a:solidFill>
                            <a:srgbClr val="151515"/>
                          </a:solidFill>
                          <a:latin typeface="Consolas"/>
                          <a:ea typeface="Consolas"/>
                          <a:cs typeface="Consolas"/>
                        </a:rPr>
                        <a:t>1</a:t>
                      </a:r>
                    </a:p>
                  </a:txBody>
                  <a:tcPr anchor="ctr">
                    <a:solidFill>
                      <a:srgbClr val="E7E7E7"/>
                    </a:solidFill>
                  </a:tcPr>
                </a:tc>
                <a:extLst>
                  <a:ext uri="{0D108BD9-81ED-4DB2-BD59-A6C34878D82A}">
                    <a16:rowId xmlns:a16="http://schemas.microsoft.com/office/drawing/2014/main" val="10000"/>
                  </a:ext>
                </a:extLst>
              </a:tr>
            </a:tbl>
          </a:graphicData>
        </a:graphic>
      </p:graphicFrame>
      <p:sp>
        <p:nvSpPr>
          <p:cNvPr id="10" name="choose-index-0">
            <a:extLst>
              <a:ext uri="{FF2B5EF4-FFF2-40B4-BE49-F238E27FC236}">
                <a16:creationId xmlns:a16="http://schemas.microsoft.com/office/drawing/2014/main" id="{EAD616E4-4F4A-48A2-B1EA-0C6D51C39255}"/>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1" name="choose-pointer-0">
            <a:extLst>
              <a:ext uri="{FF2B5EF4-FFF2-40B4-BE49-F238E27FC236}">
                <a16:creationId xmlns:a16="http://schemas.microsoft.com/office/drawing/2014/main" id="{7238953B-E582-4287-A6A0-7A6A89DA9F82}"/>
              </a:ext>
            </a:extLst>
          </p:cNvPr>
          <p:cNvSpPr>
            <a:spLocks noGrp="1"/>
          </p:cNvSpPr>
          <p:nvPr/>
        </p:nvSpPr>
        <p:spPr>
          <a:xfrm>
            <a:off x="1809750" y="4029075"/>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lo</a:t>
            </a:r>
          </a:p>
        </p:txBody>
      </p:sp>
      <p:sp>
        <p:nvSpPr>
          <p:cNvPr id="12" name="choose-index-1">
            <a:extLst>
              <a:ext uri="{FF2B5EF4-FFF2-40B4-BE49-F238E27FC236}">
                <a16:creationId xmlns:a16="http://schemas.microsoft.com/office/drawing/2014/main" id="{73F19E2F-7B8C-4DCB-86E9-0E1BF16A73C9}"/>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3" name="choose-index-2">
            <a:extLst>
              <a:ext uri="{FF2B5EF4-FFF2-40B4-BE49-F238E27FC236}">
                <a16:creationId xmlns:a16="http://schemas.microsoft.com/office/drawing/2014/main" id="{60A4D4A8-64E6-4FBC-9DB3-4B95D93A566B}"/>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4" name="choose-pointer-2">
            <a:extLst>
              <a:ext uri="{FF2B5EF4-FFF2-40B4-BE49-F238E27FC236}">
                <a16:creationId xmlns:a16="http://schemas.microsoft.com/office/drawing/2014/main" id="{4DC422F1-9149-40F3-A04E-BC9E63E1E1E4}"/>
              </a:ext>
            </a:extLst>
          </p:cNvPr>
          <p:cNvSpPr>
            <a:spLocks noGrp="1"/>
          </p:cNvSpPr>
          <p:nvPr/>
        </p:nvSpPr>
        <p:spPr>
          <a:xfrm>
            <a:off x="45529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5" name="choose-index-3">
            <a:extLst>
              <a:ext uri="{FF2B5EF4-FFF2-40B4-BE49-F238E27FC236}">
                <a16:creationId xmlns:a16="http://schemas.microsoft.com/office/drawing/2014/main" id="{43F953A1-E90B-43D1-BE19-010B99CAA974}"/>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6" name="choose-index-4">
            <a:extLst>
              <a:ext uri="{FF2B5EF4-FFF2-40B4-BE49-F238E27FC236}">
                <a16:creationId xmlns:a16="http://schemas.microsoft.com/office/drawing/2014/main" id="{861D6D0F-00F0-4D15-B5D7-985042DBC202}"/>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7" name="choose-index-5">
            <a:extLst>
              <a:ext uri="{FF2B5EF4-FFF2-40B4-BE49-F238E27FC236}">
                <a16:creationId xmlns:a16="http://schemas.microsoft.com/office/drawing/2014/main" id="{DA90EDFD-0089-4DDC-8200-7697F83EDF56}"/>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8" name="choose-pointer-5">
            <a:extLst>
              <a:ext uri="{FF2B5EF4-FFF2-40B4-BE49-F238E27FC236}">
                <a16:creationId xmlns:a16="http://schemas.microsoft.com/office/drawing/2014/main" id="{4984A524-C145-465C-983D-F8143AF39897}"/>
              </a:ext>
            </a:extLst>
          </p:cNvPr>
          <p:cNvSpPr>
            <a:spLocks noGrp="1"/>
          </p:cNvSpPr>
          <p:nvPr/>
        </p:nvSpPr>
        <p:spPr>
          <a:xfrm>
            <a:off x="8667750" y="4029075"/>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hi</a:t>
            </a:r>
          </a:p>
        </p:txBody>
      </p:sp>
      <p:sp>
        <p:nvSpPr>
          <p:cNvPr id="19" name="choose-code">
            <a:extLst>
              <a:ext uri="{FF2B5EF4-FFF2-40B4-BE49-F238E27FC236}">
                <a16:creationId xmlns:a16="http://schemas.microsoft.com/office/drawing/2014/main" id="{DC1A8F2B-7602-4389-A9EB-4F7008891995}"/>
              </a:ext>
            </a:extLst>
          </p:cNvPr>
          <p:cNvSpPr>
            <a:spLocks noGrp="1"/>
          </p:cNvSpPr>
          <p:nvPr/>
        </p:nvSpPr>
        <p:spPr>
          <a:xfrm>
            <a:off x="1809750" y="5095875"/>
            <a:ext cx="9525000" cy="400050"/>
          </a:xfrm>
          <a:prstGeom prst="rect">
            <a:avLst/>
          </a:prstGeom>
          <a:noFill/>
          <a:ln w="0">
            <a:noFill/>
          </a:ln>
        </p:spPr>
        <p:txBody>
          <a:bodyPr wrap="none" lIns="0" tIns="0" rIns="0" bIns="0" anchor="t">
            <a:noAutofit/>
          </a:bodyPr>
          <a:lstStyle>
            <a:defPPr algn="l">
              <a:defRPr sz="2100" b="0">
                <a:solidFill>
                  <a:srgbClr val="151515"/>
                </a:solidFill>
                <a:latin typeface="Consolas"/>
                <a:ea typeface="Consolas"/>
                <a:cs typeface="Consolas"/>
              </a:defRPr>
            </a:defPPr>
          </a:lstStyle>
          <a:p>
            <a:pPr algn="l">
              <a:lnSpc>
                <a:spcPct val="106000"/>
              </a:lnSpc>
              <a:buNone/>
              <a:defRPr sz="2100" b="0">
                <a:solidFill>
                  <a:srgbClr val="151515"/>
                </a:solidFill>
                <a:latin typeface="Consolas"/>
                <a:ea typeface="Consolas"/>
                <a:cs typeface="Consolas"/>
              </a:defRPr>
            </a:pPr>
            <a:r>
              <a:rPr sz="2100" b="0">
                <a:solidFill>
                  <a:srgbClr val="151515"/>
                </a:solidFill>
                <a:latin typeface="Consolas"/>
                <a:ea typeface="Consolas"/>
                <a:cs typeface="Consolas"/>
              </a:rPr>
              <a:t>pivot_idx = (lo + hi) // 2</a:t>
            </a:r>
          </a:p>
        </p:txBody>
      </p:sp>
      <p:sp>
        <p:nvSpPr>
          <p:cNvPr id="20" name="choose-rule">
            <a:extLst>
              <a:ext uri="{FF2B5EF4-FFF2-40B4-BE49-F238E27FC236}">
                <a16:creationId xmlns:a16="http://schemas.microsoft.com/office/drawing/2014/main" id="{DA4CF6DD-1267-4367-B845-B59F2E680D75}"/>
              </a:ext>
            </a:extLst>
          </p:cNvPr>
          <p:cNvSpPr>
            <a:spLocks noGrp="1"/>
          </p:cNvSpPr>
          <p:nvPr/>
        </p:nvSpPr>
        <p:spPr>
          <a:xfrm>
            <a:off x="1809750" y="5676900"/>
            <a:ext cx="9772650" cy="361950"/>
          </a:xfrm>
          <a:prstGeom prst="rect">
            <a:avLst/>
          </a:prstGeom>
          <a:noFill/>
          <a:ln w="0">
            <a:noFill/>
          </a:ln>
        </p:spPr>
        <p:txBody>
          <a:bodyPr wrap="none" lIns="0" tIns="0" rIns="0" bIns="0" anchor="t">
            <a:noAutofit/>
          </a:bodyPr>
          <a:lstStyle>
            <a:defPPr algn="l">
              <a:defRPr sz="1800" b="0">
                <a:solidFill>
                  <a:srgbClr val="151515"/>
                </a:solidFill>
                <a:latin typeface="Malgun Gothic"/>
                <a:ea typeface="Malgun Gothic"/>
                <a:cs typeface="Malgun Gothic"/>
              </a:defRPr>
            </a:defPPr>
          </a:lstStyle>
          <a:p>
            <a:pPr algn="l">
              <a:lnSpc>
                <a:spcPct val="106000"/>
              </a:lnSpc>
              <a:buNone/>
              <a:defRPr sz="1800" b="0">
                <a:solidFill>
                  <a:srgbClr val="151515"/>
                </a:solidFill>
                <a:latin typeface="Malgun Gothic"/>
                <a:ea typeface="Malgun Gothic"/>
                <a:cs typeface="Malgun Gothic"/>
              </a:defRPr>
            </a:pPr>
            <a:r>
              <a:rPr sz="1800" b="0">
                <a:solidFill>
                  <a:srgbClr val="151515"/>
                </a:solidFill>
                <a:latin typeface="Malgun Gothic"/>
                <a:ea typeface="Malgun Gothic"/>
                <a:cs typeface="Malgun Gothic"/>
              </a:rPr>
              <a:t>이번 코드가 사용하는 피벗 선택 규칙입니다.</a:t>
            </a:r>
          </a:p>
        </p:txBody>
      </p:sp>
    </p:spTree>
    <p:extLst>
      <p:ext uri="{BB962C8B-B14F-4D97-AF65-F5344CB8AC3E}">
        <p14:creationId xmlns:p14="http://schemas.microsoft.com/office/powerpoint/2010/main" val="1219699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ection">
            <a:extLst>
              <a:ext uri="{FF2B5EF4-FFF2-40B4-BE49-F238E27FC236}">
                <a16:creationId xmlns:a16="http://schemas.microsoft.com/office/drawing/2014/main" id="{1B6FDEDC-93A8-4011-89C3-5514DFEA2FA5}"/>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59189E26-9754-4B43-B297-F0919A8EE84B}"/>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D63388E5-A68A-4D45-8F1A-28F19620B36D}"/>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6과 마지막 값 1의 교환</a:t>
            </a:r>
          </a:p>
        </p:txBody>
      </p:sp>
      <p:sp>
        <p:nvSpPr>
          <p:cNvPr id="4" name="직사각형 3">
            <a:extLst>
              <a:ext uri="{FF2B5EF4-FFF2-40B4-BE49-F238E27FC236}">
                <a16:creationId xmlns:a16="http://schemas.microsoft.com/office/drawing/2014/main" id="{EE210FBB-2B98-4248-94D2-C347E7B32602}"/>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E8F93B68-16DB-4258-BA36-39B40EEE0FFB}"/>
              </a:ext>
            </a:extLst>
          </p:cNvPr>
          <p:cNvSpPr>
            <a:spLocks noGrp="1"/>
          </p:cNvSpPr>
          <p:nvPr/>
        </p:nvSpPr>
        <p:spPr>
          <a:xfrm>
            <a:off x="609600" y="1638300"/>
            <a:ext cx="10972800" cy="95250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a[2] = 6과 마지막 값 a[5] = 1을 교환합니다.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6은 인덱스 5로, 1은 인덱스 2로 이동합니다.</a:t>
            </a:r>
          </a:p>
        </p:txBody>
      </p:sp>
      <p:sp>
        <p:nvSpPr>
          <p:cNvPr id="6" name="footer">
            <a:extLst>
              <a:ext uri="{FF2B5EF4-FFF2-40B4-BE49-F238E27FC236}">
                <a16:creationId xmlns:a16="http://schemas.microsoft.com/office/drawing/2014/main" id="{CB61FCDE-F8DC-4759-88CC-B3F727CE34D1}"/>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855352ED-B3D8-4D29-90C6-BEEC23395AC3}"/>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51</a:t>
            </a:r>
            <a:endParaRPr sz="1050" b="0">
              <a:solidFill>
                <a:srgbClr val="151515"/>
              </a:solidFill>
              <a:latin typeface="Consolas"/>
              <a:ea typeface="Consolas"/>
              <a:cs typeface="Consolas"/>
            </a:endParaRPr>
          </a:p>
        </p:txBody>
      </p:sp>
      <p:sp>
        <p:nvSpPr>
          <p:cNvPr id="8" name="move-code">
            <a:extLst>
              <a:ext uri="{FF2B5EF4-FFF2-40B4-BE49-F238E27FC236}">
                <a16:creationId xmlns:a16="http://schemas.microsoft.com/office/drawing/2014/main" id="{89235F9E-FA6B-4410-A07C-7BEBC5F4CD15}"/>
              </a:ext>
            </a:extLst>
          </p:cNvPr>
          <p:cNvSpPr>
            <a:spLocks noGrp="1"/>
          </p:cNvSpPr>
          <p:nvPr/>
        </p:nvSpPr>
        <p:spPr>
          <a:xfrm>
            <a:off x="1809750" y="2438400"/>
            <a:ext cx="9772650" cy="342900"/>
          </a:xfrm>
          <a:prstGeom prst="rect">
            <a:avLst/>
          </a:prstGeom>
          <a:noFill/>
          <a:ln w="0">
            <a:noFill/>
          </a:ln>
        </p:spPr>
        <p:txBody>
          <a:bodyPr wrap="none" lIns="0" tIns="0" rIns="0" bIns="0" anchor="t">
            <a:noAutofit/>
          </a:bodyPr>
          <a:lstStyle>
            <a:defPPr algn="l">
              <a:defRPr sz="1800" b="0">
                <a:solidFill>
                  <a:srgbClr val="151515"/>
                </a:solidFill>
                <a:latin typeface="Consolas"/>
                <a:ea typeface="Consolas"/>
                <a:cs typeface="Consolas"/>
              </a:defRPr>
            </a:defPPr>
          </a:lstStyle>
          <a:p>
            <a:pPr algn="l">
              <a:lnSpc>
                <a:spcPct val="106000"/>
              </a:lnSpc>
              <a:buNone/>
              <a:defRPr sz="1800" b="0">
                <a:solidFill>
                  <a:srgbClr val="151515"/>
                </a:solidFill>
                <a:latin typeface="Consolas"/>
                <a:ea typeface="Consolas"/>
                <a:cs typeface="Consolas"/>
              </a:defRPr>
            </a:pPr>
            <a:r>
              <a:rPr sz="1800" b="0">
                <a:solidFill>
                  <a:srgbClr val="151515"/>
                </a:solidFill>
                <a:latin typeface="Consolas"/>
                <a:ea typeface="Consolas"/>
                <a:cs typeface="Consolas"/>
              </a:rPr>
              <a:t>a[pivot_idx], a[hi] = a[hi], a[pivot_idx]</a:t>
            </a:r>
          </a:p>
        </p:txBody>
      </p:sp>
      <p:sp>
        <p:nvSpPr>
          <p:cNvPr id="9" name="move-before-label">
            <a:extLst>
              <a:ext uri="{FF2B5EF4-FFF2-40B4-BE49-F238E27FC236}">
                <a16:creationId xmlns:a16="http://schemas.microsoft.com/office/drawing/2014/main" id="{5067E9FB-FE50-4A9C-A992-BEBD8B5CF154}"/>
              </a:ext>
            </a:extLst>
          </p:cNvPr>
          <p:cNvSpPr>
            <a:spLocks noGrp="1"/>
          </p:cNvSpPr>
          <p:nvPr/>
        </p:nvSpPr>
        <p:spPr>
          <a:xfrm>
            <a:off x="609600" y="31718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전</a:t>
            </a:r>
          </a:p>
        </p:txBody>
      </p:sp>
      <p:graphicFrame>
        <p:nvGraphicFramePr>
          <p:cNvPr id="10" name="표 9">
            <a:extLst>
              <a:ext uri="{FF2B5EF4-FFF2-40B4-BE49-F238E27FC236}">
                <a16:creationId xmlns:a16="http://schemas.microsoft.com/office/drawing/2014/main" id="{946936A5-2AAD-41E5-934A-232FB185B447}"/>
              </a:ext>
            </a:extLst>
          </p:cNvPr>
          <p:cNvGraphicFramePr/>
          <p:nvPr/>
        </p:nvGraphicFramePr>
        <p:xfrm>
          <a:off x="1809750" y="30003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8</a:t>
                      </a:r>
                    </a:p>
                  </a:txBody>
                  <a:tcPr anchor="ctr">
                    <a:solidFill>
                      <a:srgbClr val="F6F6F6"/>
                    </a:solidFill>
                  </a:tcPr>
                </a:tc>
                <a:tc>
                  <a:txBody>
                    <a:bodyPr/>
                    <a:lstStyle/>
                    <a:p>
                      <a:pPr algn="ctr"/>
                      <a:r>
                        <a:rPr sz="2475" b="1">
                          <a:solidFill>
                            <a:srgbClr val="151515"/>
                          </a:solidFill>
                          <a:latin typeface="Consolas"/>
                          <a:ea typeface="Consolas"/>
                          <a:cs typeface="Consolas"/>
                        </a:rPr>
                        <a:t>4</a:t>
                      </a:r>
                    </a:p>
                  </a:txBody>
                  <a:tcPr anchor="ctr">
                    <a:solidFill>
                      <a:srgbClr val="F6F6F6"/>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tc>
                  <a:txBody>
                    <a:bodyPr/>
                    <a:lstStyle/>
                    <a:p>
                      <a:pPr algn="ctr"/>
                      <a:r>
                        <a:rPr sz="2475" b="1">
                          <a:solidFill>
                            <a:srgbClr val="151515"/>
                          </a:solidFill>
                          <a:latin typeface="Consolas"/>
                          <a:ea typeface="Consolas"/>
                          <a:cs typeface="Consolas"/>
                        </a:rPr>
                        <a:t>3</a:t>
                      </a:r>
                    </a:p>
                  </a:txBody>
                  <a:tcPr anchor="ctr">
                    <a:solidFill>
                      <a:srgbClr val="F6F6F6"/>
                    </a:solidFill>
                  </a:tcPr>
                </a:tc>
                <a:tc>
                  <a:txBody>
                    <a:bodyPr/>
                    <a:lstStyle/>
                    <a:p>
                      <a:pPr algn="ctr"/>
                      <a:r>
                        <a:rPr sz="2475" b="1">
                          <a:solidFill>
                            <a:srgbClr val="151515"/>
                          </a:solidFill>
                          <a:latin typeface="Consolas"/>
                          <a:ea typeface="Consolas"/>
                          <a:cs typeface="Consolas"/>
                        </a:rPr>
                        <a:t>7</a:t>
                      </a:r>
                    </a:p>
                  </a:txBody>
                  <a:tcPr anchor="ctr">
                    <a:solidFill>
                      <a:srgbClr val="F6F6F6"/>
                    </a:solidFill>
                  </a:tcPr>
                </a:tc>
                <a:tc>
                  <a:txBody>
                    <a:bodyPr/>
                    <a:lstStyle/>
                    <a:p>
                      <a:pPr algn="ctr"/>
                      <a:r>
                        <a:rPr sz="2475" b="1">
                          <a:solidFill>
                            <a:srgbClr val="151515"/>
                          </a:solidFill>
                          <a:latin typeface="Consolas"/>
                          <a:ea typeface="Consolas"/>
                          <a:cs typeface="Consolas"/>
                        </a:rPr>
                        <a:t>1</a:t>
                      </a:r>
                    </a:p>
                  </a:txBody>
                  <a:tcPr anchor="ctr">
                    <a:solidFill>
                      <a:srgbClr val="E7E7E7"/>
                    </a:solidFill>
                  </a:tcPr>
                </a:tc>
                <a:extLst>
                  <a:ext uri="{0D108BD9-81ED-4DB2-BD59-A6C34878D82A}">
                    <a16:rowId xmlns:a16="http://schemas.microsoft.com/office/drawing/2014/main" val="10000"/>
                  </a:ext>
                </a:extLst>
              </a:tr>
            </a:tbl>
          </a:graphicData>
        </a:graphic>
      </p:graphicFrame>
      <p:sp>
        <p:nvSpPr>
          <p:cNvPr id="11" name="move-before-index-0">
            <a:extLst>
              <a:ext uri="{FF2B5EF4-FFF2-40B4-BE49-F238E27FC236}">
                <a16:creationId xmlns:a16="http://schemas.microsoft.com/office/drawing/2014/main" id="{EBE61C47-F2E9-42DA-A36A-9036814091F5}"/>
              </a:ext>
            </a:extLst>
          </p:cNvPr>
          <p:cNvSpPr>
            <a:spLocks noGrp="1"/>
          </p:cNvSpPr>
          <p:nvPr/>
        </p:nvSpPr>
        <p:spPr>
          <a:xfrm>
            <a:off x="1809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2" name="move-before-index-1">
            <a:extLst>
              <a:ext uri="{FF2B5EF4-FFF2-40B4-BE49-F238E27FC236}">
                <a16:creationId xmlns:a16="http://schemas.microsoft.com/office/drawing/2014/main" id="{A38EDE10-9E6B-4913-BF43-0853FBF7F6C0}"/>
              </a:ext>
            </a:extLst>
          </p:cNvPr>
          <p:cNvSpPr>
            <a:spLocks noGrp="1"/>
          </p:cNvSpPr>
          <p:nvPr/>
        </p:nvSpPr>
        <p:spPr>
          <a:xfrm>
            <a:off x="31813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3" name="move-before-index-2">
            <a:extLst>
              <a:ext uri="{FF2B5EF4-FFF2-40B4-BE49-F238E27FC236}">
                <a16:creationId xmlns:a16="http://schemas.microsoft.com/office/drawing/2014/main" id="{C47B0A07-218B-41A1-91D4-DB3EF53EBA9F}"/>
              </a:ext>
            </a:extLst>
          </p:cNvPr>
          <p:cNvSpPr>
            <a:spLocks noGrp="1"/>
          </p:cNvSpPr>
          <p:nvPr/>
        </p:nvSpPr>
        <p:spPr>
          <a:xfrm>
            <a:off x="45529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4" name="move-before-pointer-2">
            <a:extLst>
              <a:ext uri="{FF2B5EF4-FFF2-40B4-BE49-F238E27FC236}">
                <a16:creationId xmlns:a16="http://schemas.microsoft.com/office/drawing/2014/main" id="{14DB25A1-8BC6-43D4-80F4-5C51CC3A290C}"/>
              </a:ext>
            </a:extLst>
          </p:cNvPr>
          <p:cNvSpPr>
            <a:spLocks noGrp="1"/>
          </p:cNvSpPr>
          <p:nvPr/>
        </p:nvSpPr>
        <p:spPr>
          <a:xfrm>
            <a:off x="4552950" y="38671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5" name="move-before-index-3">
            <a:extLst>
              <a:ext uri="{FF2B5EF4-FFF2-40B4-BE49-F238E27FC236}">
                <a16:creationId xmlns:a16="http://schemas.microsoft.com/office/drawing/2014/main" id="{5E542C8A-A52F-4E94-832D-BBBD4AAC23D0}"/>
              </a:ext>
            </a:extLst>
          </p:cNvPr>
          <p:cNvSpPr>
            <a:spLocks noGrp="1"/>
          </p:cNvSpPr>
          <p:nvPr/>
        </p:nvSpPr>
        <p:spPr>
          <a:xfrm>
            <a:off x="59245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6" name="move-before-index-4">
            <a:extLst>
              <a:ext uri="{FF2B5EF4-FFF2-40B4-BE49-F238E27FC236}">
                <a16:creationId xmlns:a16="http://schemas.microsoft.com/office/drawing/2014/main" id="{35D1D19F-8093-432C-8B52-9977C93E0ADA}"/>
              </a:ext>
            </a:extLst>
          </p:cNvPr>
          <p:cNvSpPr>
            <a:spLocks noGrp="1"/>
          </p:cNvSpPr>
          <p:nvPr/>
        </p:nvSpPr>
        <p:spPr>
          <a:xfrm>
            <a:off x="72961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7" name="move-before-index-5">
            <a:extLst>
              <a:ext uri="{FF2B5EF4-FFF2-40B4-BE49-F238E27FC236}">
                <a16:creationId xmlns:a16="http://schemas.microsoft.com/office/drawing/2014/main" id="{9A4CD4CD-9ABD-4A5F-A430-8F3E816BE3B3}"/>
              </a:ext>
            </a:extLst>
          </p:cNvPr>
          <p:cNvSpPr>
            <a:spLocks noGrp="1"/>
          </p:cNvSpPr>
          <p:nvPr/>
        </p:nvSpPr>
        <p:spPr>
          <a:xfrm>
            <a:off x="8667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8" name="move-before-pointer-5">
            <a:extLst>
              <a:ext uri="{FF2B5EF4-FFF2-40B4-BE49-F238E27FC236}">
                <a16:creationId xmlns:a16="http://schemas.microsoft.com/office/drawing/2014/main" id="{90CAE218-7FC4-4513-97B3-A505A28D8788}"/>
              </a:ext>
            </a:extLst>
          </p:cNvPr>
          <p:cNvSpPr>
            <a:spLocks noGrp="1"/>
          </p:cNvSpPr>
          <p:nvPr/>
        </p:nvSpPr>
        <p:spPr>
          <a:xfrm>
            <a:off x="8667750" y="38671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19" name="move-after-label">
            <a:extLst>
              <a:ext uri="{FF2B5EF4-FFF2-40B4-BE49-F238E27FC236}">
                <a16:creationId xmlns:a16="http://schemas.microsoft.com/office/drawing/2014/main" id="{9BADD366-CA3A-423B-A4DA-DB3822A8251B}"/>
              </a:ext>
            </a:extLst>
          </p:cNvPr>
          <p:cNvSpPr>
            <a:spLocks noGrp="1"/>
          </p:cNvSpPr>
          <p:nvPr/>
        </p:nvSpPr>
        <p:spPr>
          <a:xfrm>
            <a:off x="609600" y="48863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후</a:t>
            </a:r>
          </a:p>
        </p:txBody>
      </p:sp>
      <p:graphicFrame>
        <p:nvGraphicFramePr>
          <p:cNvPr id="20" name="표 19">
            <a:extLst>
              <a:ext uri="{FF2B5EF4-FFF2-40B4-BE49-F238E27FC236}">
                <a16:creationId xmlns:a16="http://schemas.microsoft.com/office/drawing/2014/main" id="{8CB2C602-8118-4D82-8432-033A021369E4}"/>
              </a:ext>
            </a:extLst>
          </p:cNvPr>
          <p:cNvGraphicFramePr/>
          <p:nvPr/>
        </p:nvGraphicFramePr>
        <p:xfrm>
          <a:off x="1809750" y="47148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8</a:t>
                      </a:r>
                    </a:p>
                  </a:txBody>
                  <a:tcPr anchor="ctr">
                    <a:solidFill>
                      <a:srgbClr val="F6F6F6"/>
                    </a:solidFill>
                  </a:tcPr>
                </a:tc>
                <a:tc>
                  <a:txBody>
                    <a:bodyPr/>
                    <a:lstStyle/>
                    <a:p>
                      <a:pPr algn="ctr"/>
                      <a:r>
                        <a:rPr sz="2475" b="1">
                          <a:solidFill>
                            <a:srgbClr val="151515"/>
                          </a:solidFill>
                          <a:latin typeface="Consolas"/>
                          <a:ea typeface="Consolas"/>
                          <a:cs typeface="Consolas"/>
                        </a:rPr>
                        <a:t>4</a:t>
                      </a:r>
                    </a:p>
                  </a:txBody>
                  <a:tcPr anchor="ctr">
                    <a:solidFill>
                      <a:srgbClr val="F6F6F6"/>
                    </a:solidFill>
                  </a:tcPr>
                </a:tc>
                <a:tc>
                  <a:txBody>
                    <a:bodyPr/>
                    <a:lstStyle/>
                    <a:p>
                      <a:pPr algn="ctr"/>
                      <a:r>
                        <a:rPr sz="2475" b="1">
                          <a:solidFill>
                            <a:srgbClr val="151515"/>
                          </a:solidFill>
                          <a:latin typeface="Consolas"/>
                          <a:ea typeface="Consolas"/>
                          <a:cs typeface="Consolas"/>
                        </a:rPr>
                        <a:t>1</a:t>
                      </a:r>
                    </a:p>
                  </a:txBody>
                  <a:tcPr anchor="ctr">
                    <a:solidFill>
                      <a:srgbClr val="E7E7E7"/>
                    </a:solidFill>
                  </a:tcPr>
                </a:tc>
                <a:tc>
                  <a:txBody>
                    <a:bodyPr/>
                    <a:lstStyle/>
                    <a:p>
                      <a:pPr algn="ctr"/>
                      <a:r>
                        <a:rPr sz="2475" b="1">
                          <a:solidFill>
                            <a:srgbClr val="151515"/>
                          </a:solidFill>
                          <a:latin typeface="Consolas"/>
                          <a:ea typeface="Consolas"/>
                          <a:cs typeface="Consolas"/>
                        </a:rPr>
                        <a:t>3</a:t>
                      </a:r>
                    </a:p>
                  </a:txBody>
                  <a:tcPr anchor="ctr">
                    <a:solidFill>
                      <a:srgbClr val="F6F6F6"/>
                    </a:solidFill>
                  </a:tcPr>
                </a:tc>
                <a:tc>
                  <a:txBody>
                    <a:bodyPr/>
                    <a:lstStyle/>
                    <a:p>
                      <a:pPr algn="ctr"/>
                      <a:r>
                        <a:rPr sz="2475" b="1">
                          <a:solidFill>
                            <a:srgbClr val="151515"/>
                          </a:solidFill>
                          <a:latin typeface="Consolas"/>
                          <a:ea typeface="Consolas"/>
                          <a:cs typeface="Consolas"/>
                        </a:rPr>
                        <a:t>7</a:t>
                      </a:r>
                    </a:p>
                  </a:txBody>
                  <a:tcPr anchor="ctr">
                    <a:solidFill>
                      <a:srgbClr val="F6F6F6"/>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extLst>
                  <a:ext uri="{0D108BD9-81ED-4DB2-BD59-A6C34878D82A}">
                    <a16:rowId xmlns:a16="http://schemas.microsoft.com/office/drawing/2014/main" val="10000"/>
                  </a:ext>
                </a:extLst>
              </a:tr>
            </a:tbl>
          </a:graphicData>
        </a:graphic>
      </p:graphicFrame>
      <p:sp>
        <p:nvSpPr>
          <p:cNvPr id="21" name="move-after-index-0">
            <a:extLst>
              <a:ext uri="{FF2B5EF4-FFF2-40B4-BE49-F238E27FC236}">
                <a16:creationId xmlns:a16="http://schemas.microsoft.com/office/drawing/2014/main" id="{8A9E2D24-2594-4DCB-B195-612AC3589F59}"/>
              </a:ext>
            </a:extLst>
          </p:cNvPr>
          <p:cNvSpPr>
            <a:spLocks noGrp="1"/>
          </p:cNvSpPr>
          <p:nvPr/>
        </p:nvSpPr>
        <p:spPr>
          <a:xfrm>
            <a:off x="1809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22" name="move-after-index-1">
            <a:extLst>
              <a:ext uri="{FF2B5EF4-FFF2-40B4-BE49-F238E27FC236}">
                <a16:creationId xmlns:a16="http://schemas.microsoft.com/office/drawing/2014/main" id="{A24B4AC2-B8C8-40A2-8943-070D4D2EE343}"/>
              </a:ext>
            </a:extLst>
          </p:cNvPr>
          <p:cNvSpPr>
            <a:spLocks noGrp="1"/>
          </p:cNvSpPr>
          <p:nvPr/>
        </p:nvSpPr>
        <p:spPr>
          <a:xfrm>
            <a:off x="31813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23" name="move-after-index-2">
            <a:extLst>
              <a:ext uri="{FF2B5EF4-FFF2-40B4-BE49-F238E27FC236}">
                <a16:creationId xmlns:a16="http://schemas.microsoft.com/office/drawing/2014/main" id="{84483D91-0FC5-4D7E-87EF-DABE21E76CBA}"/>
              </a:ext>
            </a:extLst>
          </p:cNvPr>
          <p:cNvSpPr>
            <a:spLocks noGrp="1"/>
          </p:cNvSpPr>
          <p:nvPr/>
        </p:nvSpPr>
        <p:spPr>
          <a:xfrm>
            <a:off x="45529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24" name="move-after-pointer-2">
            <a:extLst>
              <a:ext uri="{FF2B5EF4-FFF2-40B4-BE49-F238E27FC236}">
                <a16:creationId xmlns:a16="http://schemas.microsoft.com/office/drawing/2014/main" id="{82F909D8-B6EB-43D9-B21B-A9A37C95E162}"/>
              </a:ext>
            </a:extLst>
          </p:cNvPr>
          <p:cNvSpPr>
            <a:spLocks noGrp="1"/>
          </p:cNvSpPr>
          <p:nvPr/>
        </p:nvSpPr>
        <p:spPr>
          <a:xfrm>
            <a:off x="4552950" y="55816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25" name="move-after-index-3">
            <a:extLst>
              <a:ext uri="{FF2B5EF4-FFF2-40B4-BE49-F238E27FC236}">
                <a16:creationId xmlns:a16="http://schemas.microsoft.com/office/drawing/2014/main" id="{DFEECA3F-5D3E-404C-9025-5841A1B5050C}"/>
              </a:ext>
            </a:extLst>
          </p:cNvPr>
          <p:cNvSpPr>
            <a:spLocks noGrp="1"/>
          </p:cNvSpPr>
          <p:nvPr/>
        </p:nvSpPr>
        <p:spPr>
          <a:xfrm>
            <a:off x="59245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26" name="move-after-index-4">
            <a:extLst>
              <a:ext uri="{FF2B5EF4-FFF2-40B4-BE49-F238E27FC236}">
                <a16:creationId xmlns:a16="http://schemas.microsoft.com/office/drawing/2014/main" id="{797C20E6-F6A8-4241-9A6F-2D883ADC9807}"/>
              </a:ext>
            </a:extLst>
          </p:cNvPr>
          <p:cNvSpPr>
            <a:spLocks noGrp="1"/>
          </p:cNvSpPr>
          <p:nvPr/>
        </p:nvSpPr>
        <p:spPr>
          <a:xfrm>
            <a:off x="72961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27" name="move-after-index-5">
            <a:extLst>
              <a:ext uri="{FF2B5EF4-FFF2-40B4-BE49-F238E27FC236}">
                <a16:creationId xmlns:a16="http://schemas.microsoft.com/office/drawing/2014/main" id="{F44C99A7-FBBC-443F-BEDD-0F55A8A754F0}"/>
              </a:ext>
            </a:extLst>
          </p:cNvPr>
          <p:cNvSpPr>
            <a:spLocks noGrp="1"/>
          </p:cNvSpPr>
          <p:nvPr/>
        </p:nvSpPr>
        <p:spPr>
          <a:xfrm>
            <a:off x="8667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28" name="move-after-pointer-5">
            <a:extLst>
              <a:ext uri="{FF2B5EF4-FFF2-40B4-BE49-F238E27FC236}">
                <a16:creationId xmlns:a16="http://schemas.microsoft.com/office/drawing/2014/main" id="{C3A33030-EE2B-41B1-9418-3B96C9D2A745}"/>
              </a:ext>
            </a:extLst>
          </p:cNvPr>
          <p:cNvSpPr>
            <a:spLocks noGrp="1"/>
          </p:cNvSpPr>
          <p:nvPr/>
        </p:nvSpPr>
        <p:spPr>
          <a:xfrm>
            <a:off x="8667750" y="55816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29" name="temporary">
            <a:extLst>
              <a:ext uri="{FF2B5EF4-FFF2-40B4-BE49-F238E27FC236}">
                <a16:creationId xmlns:a16="http://schemas.microsoft.com/office/drawing/2014/main" id="{1EE66B05-4053-4F1F-BF7B-ED2B8D79F7FB}"/>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끝의 6은 검사 동안 임시로 두는 값입니다. 최종 위치는 분할이 끝난 뒤 정합니다.</a:t>
            </a:r>
          </a:p>
        </p:txBody>
      </p:sp>
    </p:spTree>
    <p:extLst>
      <p:ext uri="{BB962C8B-B14F-4D97-AF65-F5344CB8AC3E}">
        <p14:creationId xmlns:p14="http://schemas.microsoft.com/office/powerpoint/2010/main" val="35394888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01FA01BA-7CA4-4C68-850E-BBE57CF21151}"/>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1AF170AC-40E2-4F20-8897-8CFAD323B9B6}"/>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6BDC7786-D5E4-4A82-AD3E-37B561AA512C}"/>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① 탐색 시작: L = 0, R = 4</a:t>
            </a:r>
          </a:p>
        </p:txBody>
      </p:sp>
      <p:sp>
        <p:nvSpPr>
          <p:cNvPr id="4" name="직사각형 3">
            <a:extLst>
              <a:ext uri="{FF2B5EF4-FFF2-40B4-BE49-F238E27FC236}">
                <a16:creationId xmlns:a16="http://schemas.microsoft.com/office/drawing/2014/main" id="{1C27AB2C-8003-4C62-B84A-114CD6EC98F6}"/>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217D1D2A-F31D-44B7-8706-7E09840A7AB9}"/>
              </a:ext>
            </a:extLst>
          </p:cNvPr>
          <p:cNvSpPr>
            <a:spLocks noGrp="1"/>
          </p:cNvSpPr>
          <p:nvPr/>
        </p:nvSpPr>
        <p:spPr>
          <a:xfrm>
            <a:off x="609600" y="1638300"/>
            <a:ext cx="10972800" cy="95250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 = 0, R = 4에서 시작합니다.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마지막 칸의 피벗 6을 제외하고, 인덱스 0~4를 검사합니다.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첫 비교에서 8 &gt; 6이므로 L은 인덱스 0에서 멈춥니다.</a:t>
            </a:r>
          </a:p>
        </p:txBody>
      </p:sp>
      <p:sp>
        <p:nvSpPr>
          <p:cNvPr id="6" name="footer">
            <a:extLst>
              <a:ext uri="{FF2B5EF4-FFF2-40B4-BE49-F238E27FC236}">
                <a16:creationId xmlns:a16="http://schemas.microsoft.com/office/drawing/2014/main" id="{DAB6EE2F-C64E-4869-B92D-A9BE2D06F095}"/>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72A2394D-F638-41A3-851C-BAC2D2CFABE0}"/>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52</a:t>
            </a:r>
            <a:endParaRPr sz="1050" b="0">
              <a:solidFill>
                <a:srgbClr val="151515"/>
              </a:solidFill>
              <a:latin typeface="Consolas"/>
              <a:ea typeface="Consolas"/>
              <a:cs typeface="Consolas"/>
            </a:endParaRPr>
          </a:p>
        </p:txBody>
      </p:sp>
      <p:sp>
        <p:nvSpPr>
          <p:cNvPr id="8" name="begin-label">
            <a:extLst>
              <a:ext uri="{FF2B5EF4-FFF2-40B4-BE49-F238E27FC236}">
                <a16:creationId xmlns:a16="http://schemas.microsoft.com/office/drawing/2014/main" id="{BC4EEC0E-48E0-48AE-BA86-76D28C93D268}"/>
              </a:ext>
            </a:extLst>
          </p:cNvPr>
          <p:cNvSpPr>
            <a:spLocks noGrp="1"/>
          </p:cNvSpPr>
          <p:nvPr/>
        </p:nvSpPr>
        <p:spPr>
          <a:xfrm>
            <a:off x="609600" y="34099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9" name="표 8">
            <a:extLst>
              <a:ext uri="{FF2B5EF4-FFF2-40B4-BE49-F238E27FC236}">
                <a16:creationId xmlns:a16="http://schemas.microsoft.com/office/drawing/2014/main" id="{32DA96EA-62F6-490A-A4E2-BC8A19B0251D}"/>
              </a:ext>
            </a:extLst>
          </p:cNvPr>
          <p:cNvGraphicFramePr/>
          <p:nvPr/>
        </p:nvGraphicFramePr>
        <p:xfrm>
          <a:off x="1809750" y="32385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8</a:t>
                      </a:r>
                    </a:p>
                  </a:txBody>
                  <a:tcPr anchor="ctr">
                    <a:solidFill>
                      <a:srgbClr val="DCECFB"/>
                    </a:solidFill>
                  </a:tcPr>
                </a:tc>
                <a:tc>
                  <a:txBody>
                    <a:bodyPr/>
                    <a:lstStyle/>
                    <a:p>
                      <a:pPr algn="ctr"/>
                      <a:r>
                        <a:rPr sz="2475" b="1">
                          <a:solidFill>
                            <a:srgbClr val="151515"/>
                          </a:solidFill>
                          <a:latin typeface="Consolas"/>
                          <a:ea typeface="Consolas"/>
                          <a:cs typeface="Consolas"/>
                        </a:rPr>
                        <a:t>4</a:t>
                      </a:r>
                    </a:p>
                  </a:txBody>
                  <a:tcPr anchor="ctr">
                    <a:solidFill>
                      <a:srgbClr val="F6F6F6"/>
                    </a:solidFill>
                  </a:tcPr>
                </a:tc>
                <a:tc>
                  <a:txBody>
                    <a:bodyPr/>
                    <a:lstStyle/>
                    <a:p>
                      <a:pPr algn="ctr"/>
                      <a:r>
                        <a:rPr sz="2475" b="1">
                          <a:solidFill>
                            <a:srgbClr val="151515"/>
                          </a:solidFill>
                          <a:latin typeface="Consolas"/>
                          <a:ea typeface="Consolas"/>
                          <a:cs typeface="Consolas"/>
                        </a:rPr>
                        <a:t>1</a:t>
                      </a:r>
                    </a:p>
                  </a:txBody>
                  <a:tcPr anchor="ctr">
                    <a:solidFill>
                      <a:srgbClr val="F6F6F6"/>
                    </a:solidFill>
                  </a:tcPr>
                </a:tc>
                <a:tc>
                  <a:txBody>
                    <a:bodyPr/>
                    <a:lstStyle/>
                    <a:p>
                      <a:pPr algn="ctr"/>
                      <a:r>
                        <a:rPr sz="2475" b="1">
                          <a:solidFill>
                            <a:srgbClr val="151515"/>
                          </a:solidFill>
                          <a:latin typeface="Consolas"/>
                          <a:ea typeface="Consolas"/>
                          <a:cs typeface="Consolas"/>
                        </a:rPr>
                        <a:t>3</a:t>
                      </a:r>
                    </a:p>
                  </a:txBody>
                  <a:tcPr anchor="ctr">
                    <a:solidFill>
                      <a:srgbClr val="F6F6F6"/>
                    </a:solidFill>
                  </a:tcPr>
                </a:tc>
                <a:tc>
                  <a:txBody>
                    <a:bodyPr/>
                    <a:lstStyle/>
                    <a:p>
                      <a:pPr algn="ctr"/>
                      <a:r>
                        <a:rPr sz="2475" b="1">
                          <a:solidFill>
                            <a:srgbClr val="151515"/>
                          </a:solidFill>
                          <a:latin typeface="Consolas"/>
                          <a:ea typeface="Consolas"/>
                          <a:cs typeface="Consolas"/>
                        </a:rPr>
                        <a:t>7</a:t>
                      </a:r>
                    </a:p>
                  </a:txBody>
                  <a:tcPr anchor="ctr">
                    <a:solidFill>
                      <a:srgbClr val="DDEFE6"/>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extLst>
                  <a:ext uri="{0D108BD9-81ED-4DB2-BD59-A6C34878D82A}">
                    <a16:rowId xmlns:a16="http://schemas.microsoft.com/office/drawing/2014/main" val="10000"/>
                  </a:ext>
                </a:extLst>
              </a:tr>
            </a:tbl>
          </a:graphicData>
        </a:graphic>
      </p:graphicFrame>
      <p:sp>
        <p:nvSpPr>
          <p:cNvPr id="10" name="begin-index-0">
            <a:extLst>
              <a:ext uri="{FF2B5EF4-FFF2-40B4-BE49-F238E27FC236}">
                <a16:creationId xmlns:a16="http://schemas.microsoft.com/office/drawing/2014/main" id="{E2B0C2A4-17CA-4448-9123-A6CA39E8A951}"/>
              </a:ext>
            </a:extLst>
          </p:cNvPr>
          <p:cNvSpPr>
            <a:spLocks noGrp="1"/>
          </p:cNvSpPr>
          <p:nvPr/>
        </p:nvSpPr>
        <p:spPr>
          <a:xfrm>
            <a:off x="1809750" y="38671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1" name="begin-pointer-0">
            <a:extLst>
              <a:ext uri="{FF2B5EF4-FFF2-40B4-BE49-F238E27FC236}">
                <a16:creationId xmlns:a16="http://schemas.microsoft.com/office/drawing/2014/main" id="{CC594F6B-ACDE-43FE-B60A-C79555672E33}"/>
              </a:ext>
            </a:extLst>
          </p:cNvPr>
          <p:cNvSpPr>
            <a:spLocks noGrp="1"/>
          </p:cNvSpPr>
          <p:nvPr/>
        </p:nvSpPr>
        <p:spPr>
          <a:xfrm>
            <a:off x="1809750" y="41052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2" name="begin-index-1">
            <a:extLst>
              <a:ext uri="{FF2B5EF4-FFF2-40B4-BE49-F238E27FC236}">
                <a16:creationId xmlns:a16="http://schemas.microsoft.com/office/drawing/2014/main" id="{003A366E-2107-4542-9E1A-D168B35F262C}"/>
              </a:ext>
            </a:extLst>
          </p:cNvPr>
          <p:cNvSpPr>
            <a:spLocks noGrp="1"/>
          </p:cNvSpPr>
          <p:nvPr/>
        </p:nvSpPr>
        <p:spPr>
          <a:xfrm>
            <a:off x="3181350" y="38671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3" name="begin-index-2">
            <a:extLst>
              <a:ext uri="{FF2B5EF4-FFF2-40B4-BE49-F238E27FC236}">
                <a16:creationId xmlns:a16="http://schemas.microsoft.com/office/drawing/2014/main" id="{005F945D-995F-4F90-AFA4-8D7263815F42}"/>
              </a:ext>
            </a:extLst>
          </p:cNvPr>
          <p:cNvSpPr>
            <a:spLocks noGrp="1"/>
          </p:cNvSpPr>
          <p:nvPr/>
        </p:nvSpPr>
        <p:spPr>
          <a:xfrm>
            <a:off x="4552950" y="38671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4" name="begin-index-3">
            <a:extLst>
              <a:ext uri="{FF2B5EF4-FFF2-40B4-BE49-F238E27FC236}">
                <a16:creationId xmlns:a16="http://schemas.microsoft.com/office/drawing/2014/main" id="{91C7A188-1A79-4F09-8844-F1A68EC6FE80}"/>
              </a:ext>
            </a:extLst>
          </p:cNvPr>
          <p:cNvSpPr>
            <a:spLocks noGrp="1"/>
          </p:cNvSpPr>
          <p:nvPr/>
        </p:nvSpPr>
        <p:spPr>
          <a:xfrm>
            <a:off x="5924550" y="38671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5" name="begin-index-4">
            <a:extLst>
              <a:ext uri="{FF2B5EF4-FFF2-40B4-BE49-F238E27FC236}">
                <a16:creationId xmlns:a16="http://schemas.microsoft.com/office/drawing/2014/main" id="{F89225C1-95AE-4469-8557-1B36384ECAE8}"/>
              </a:ext>
            </a:extLst>
          </p:cNvPr>
          <p:cNvSpPr>
            <a:spLocks noGrp="1"/>
          </p:cNvSpPr>
          <p:nvPr/>
        </p:nvSpPr>
        <p:spPr>
          <a:xfrm>
            <a:off x="7296150" y="38671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6" name="begin-pointer-4">
            <a:extLst>
              <a:ext uri="{FF2B5EF4-FFF2-40B4-BE49-F238E27FC236}">
                <a16:creationId xmlns:a16="http://schemas.microsoft.com/office/drawing/2014/main" id="{AFC1CCCB-C111-4004-A129-C7F98A769520}"/>
              </a:ext>
            </a:extLst>
          </p:cNvPr>
          <p:cNvSpPr>
            <a:spLocks noGrp="1"/>
          </p:cNvSpPr>
          <p:nvPr/>
        </p:nvSpPr>
        <p:spPr>
          <a:xfrm>
            <a:off x="7296150" y="410527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7" name="begin-index-5">
            <a:extLst>
              <a:ext uri="{FF2B5EF4-FFF2-40B4-BE49-F238E27FC236}">
                <a16:creationId xmlns:a16="http://schemas.microsoft.com/office/drawing/2014/main" id="{88EE50C9-DAA1-4901-9C9E-6922F6F35A25}"/>
              </a:ext>
            </a:extLst>
          </p:cNvPr>
          <p:cNvSpPr>
            <a:spLocks noGrp="1"/>
          </p:cNvSpPr>
          <p:nvPr/>
        </p:nvSpPr>
        <p:spPr>
          <a:xfrm>
            <a:off x="8667750" y="38671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8" name="begin-pointer-5">
            <a:extLst>
              <a:ext uri="{FF2B5EF4-FFF2-40B4-BE49-F238E27FC236}">
                <a16:creationId xmlns:a16="http://schemas.microsoft.com/office/drawing/2014/main" id="{B2F5939F-A19F-4BA0-A198-0171B61EA900}"/>
              </a:ext>
            </a:extLst>
          </p:cNvPr>
          <p:cNvSpPr>
            <a:spLocks noGrp="1"/>
          </p:cNvSpPr>
          <p:nvPr/>
        </p:nvSpPr>
        <p:spPr>
          <a:xfrm>
            <a:off x="8667750" y="41052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9" name="begin-code">
            <a:extLst>
              <a:ext uri="{FF2B5EF4-FFF2-40B4-BE49-F238E27FC236}">
                <a16:creationId xmlns:a16="http://schemas.microsoft.com/office/drawing/2014/main" id="{463353ED-868C-4ACA-9328-0AC2ED7A0959}"/>
              </a:ext>
            </a:extLst>
          </p:cNvPr>
          <p:cNvSpPr>
            <a:spLocks noGrp="1"/>
          </p:cNvSpPr>
          <p:nvPr/>
        </p:nvSpPr>
        <p:spPr>
          <a:xfrm>
            <a:off x="1809750" y="4857750"/>
            <a:ext cx="9772650" cy="685800"/>
          </a:xfrm>
          <a:prstGeom prst="rect">
            <a:avLst/>
          </a:prstGeom>
          <a:noFill/>
          <a:ln w="0">
            <a:noFill/>
          </a:ln>
        </p:spPr>
        <p:txBody>
          <a:bodyPr wrap="none" lIns="0" tIns="0" rIns="0" bIns="0" anchor="t">
            <a:noAutofit/>
          </a:bodyPr>
          <a:lstStyle>
            <a:defPPr algn="l">
              <a:defRPr sz="1950" b="0">
                <a:solidFill>
                  <a:srgbClr val="151515"/>
                </a:solidFill>
                <a:latin typeface="Consolas"/>
                <a:ea typeface="Consolas"/>
                <a:cs typeface="Consolas"/>
              </a:defRPr>
            </a:defPPr>
          </a:lstStyle>
          <a:p>
            <a:pPr algn="l">
              <a:lnSpc>
                <a:spcPct val="106000"/>
              </a:lnSpc>
              <a:buNone/>
              <a:defRPr sz="1950" b="0">
                <a:solidFill>
                  <a:srgbClr val="151515"/>
                </a:solidFill>
                <a:latin typeface="Consolas"/>
                <a:ea typeface="Consolas"/>
                <a:cs typeface="Consolas"/>
              </a:defRPr>
            </a:pPr>
            <a:r>
              <a:rPr sz="1950" b="0">
                <a:solidFill>
                  <a:srgbClr val="151515"/>
                </a:solidFill>
                <a:latin typeface="Consolas"/>
                <a:ea typeface="Consolas"/>
                <a:cs typeface="Consolas"/>
              </a:rPr>
              <a:t>pivot = a[hi]</a:t>
            </a:r>
          </a:p>
          <a:p>
            <a:pPr algn="l">
              <a:lnSpc>
                <a:spcPct val="106000"/>
              </a:lnSpc>
              <a:buNone/>
              <a:defRPr sz="1950" b="0">
                <a:solidFill>
                  <a:srgbClr val="151515"/>
                </a:solidFill>
                <a:latin typeface="Consolas"/>
                <a:ea typeface="Consolas"/>
                <a:cs typeface="Consolas"/>
              </a:defRPr>
            </a:pPr>
            <a:r>
              <a:rPr sz="1950" b="0">
                <a:solidFill>
                  <a:srgbClr val="151515"/>
                </a:solidFill>
                <a:latin typeface="Consolas"/>
                <a:ea typeface="Consolas"/>
                <a:cs typeface="Consolas"/>
              </a:rPr>
              <a:t>L, R = lo, hi - 1</a:t>
            </a:r>
          </a:p>
        </p:txBody>
      </p:sp>
      <p:sp>
        <p:nvSpPr>
          <p:cNvPr id="20" name="begin-next">
            <a:extLst>
              <a:ext uri="{FF2B5EF4-FFF2-40B4-BE49-F238E27FC236}">
                <a16:creationId xmlns:a16="http://schemas.microsoft.com/office/drawing/2014/main" id="{EC37F1B3-5DDC-4073-8F58-E029787A97FD}"/>
              </a:ext>
            </a:extLst>
          </p:cNvPr>
          <p:cNvSpPr>
            <a:spLocks noGrp="1"/>
          </p:cNvSpPr>
          <p:nvPr/>
        </p:nvSpPr>
        <p:spPr>
          <a:xfrm>
            <a:off x="1809750" y="5667375"/>
            <a:ext cx="9772650" cy="342900"/>
          </a:xfrm>
          <a:prstGeom prst="rect">
            <a:avLst/>
          </a:prstGeom>
          <a:noFill/>
          <a:ln w="0">
            <a:noFill/>
          </a:ln>
        </p:spPr>
        <p:txBody>
          <a:bodyPr wrap="none" lIns="0" tIns="0" rIns="0" bIns="0" anchor="t">
            <a:noAutofit/>
          </a:bodyPr>
          <a:lstStyle>
            <a:defPPr algn="l">
              <a:defRPr sz="1800" b="0">
                <a:solidFill>
                  <a:srgbClr val="151515"/>
                </a:solidFill>
                <a:latin typeface="Malgun Gothic"/>
                <a:ea typeface="Malgun Gothic"/>
                <a:cs typeface="Malgun Gothic"/>
              </a:defRPr>
            </a:defPPr>
          </a:lstStyle>
          <a:p>
            <a:pPr algn="l">
              <a:lnSpc>
                <a:spcPct val="106000"/>
              </a:lnSpc>
              <a:buNone/>
              <a:defRPr sz="1800" b="0">
                <a:solidFill>
                  <a:srgbClr val="151515"/>
                </a:solidFill>
                <a:latin typeface="Malgun Gothic"/>
                <a:ea typeface="Malgun Gothic"/>
                <a:cs typeface="Malgun Gothic"/>
              </a:defRPr>
            </a:pPr>
            <a:r>
              <a:rPr sz="1800" b="0">
                <a:solidFill>
                  <a:srgbClr val="151515"/>
                </a:solidFill>
                <a:latin typeface="Malgun Gothic"/>
                <a:ea typeface="Malgun Gothic"/>
                <a:cs typeface="Malgun Gothic"/>
              </a:rPr>
              <a:t>다음: R이 7을 지나, 왼쪽으로 보낼 값 3을 찾습니다.</a:t>
            </a:r>
          </a:p>
        </p:txBody>
      </p:sp>
    </p:spTree>
    <p:extLst>
      <p:ext uri="{BB962C8B-B14F-4D97-AF65-F5344CB8AC3E}">
        <p14:creationId xmlns:p14="http://schemas.microsoft.com/office/powerpoint/2010/main" val="852136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2226B510-28E5-4252-8A11-2DA84C46EDBB}"/>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E8BE943F-7568-4A56-841F-E697DB15909F}"/>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42B75D83-0772-4371-AE5F-EAF91E384765}"/>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② R이 4에서 3으로 이동</a:t>
            </a:r>
          </a:p>
        </p:txBody>
      </p:sp>
      <p:sp>
        <p:nvSpPr>
          <p:cNvPr id="4" name="직사각형 3">
            <a:extLst>
              <a:ext uri="{FF2B5EF4-FFF2-40B4-BE49-F238E27FC236}">
                <a16:creationId xmlns:a16="http://schemas.microsoft.com/office/drawing/2014/main" id="{6B448E2B-E4E4-419E-8063-2861E01F51A0}"/>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a[4] = 7 &gt; 6이므로 R을 왼쪽으로 한 칸 옮깁니다.</a:t>
            </a:r>
          </a:p>
          <a:p>
            <a:pPr>
              <a:defRPr sz="2025" b="0">
                <a:solidFill>
                  <a:srgbClr val="151515"/>
                </a:solidFill>
              </a:defRPr>
            </a:pPr>
            <a:r>
              <a:rPr sz="2025" b="0">
                <a:solidFill>
                  <a:srgbClr val="151515"/>
                </a:solidFill>
                <a:latin typeface="Malgun Gothic" panose="020B0503020000020004" pitchFamily="50" charset="-127"/>
              </a:rPr>
              <a:t>a[3] = 3 ≤ 6이므로 여기서 멈춥니다. L은 0에 그대로 있습니다.</a:t>
            </a:r>
          </a:p>
        </p:txBody>
      </p:sp>
      <p:sp>
        <p:nvSpPr>
          <p:cNvPr id="5" name="직사각형 4">
            <a:extLst>
              <a:ext uri="{FF2B5EF4-FFF2-40B4-BE49-F238E27FC236}">
                <a16:creationId xmlns:a16="http://schemas.microsoft.com/office/drawing/2014/main" id="{61E22E9F-487B-4E5F-893F-EE8FD77113EB}"/>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배열 a</a:t>
            </a:r>
          </a:p>
        </p:txBody>
      </p:sp>
      <p:graphicFrame>
        <p:nvGraphicFramePr>
          <p:cNvPr id="6" name="표 5">
            <a:extLst>
              <a:ext uri="{FF2B5EF4-FFF2-40B4-BE49-F238E27FC236}">
                <a16:creationId xmlns:a16="http://schemas.microsoft.com/office/drawing/2014/main" id="{F50E07B1-1E51-45D5-9B9F-2B4648EB21BA}"/>
              </a:ext>
            </a:extLst>
          </p:cNvPr>
          <p:cNvGraphicFramePr/>
          <p:nvPr>
            <p:extLst>
              <p:ext uri="{D42A27DB-BD31-4B8C-83A1-F6EECF244321}">
                <p14:modId xmlns:p14="http://schemas.microsoft.com/office/powerpoint/2010/main" val="2135142647"/>
              </p:ext>
            </p:extLst>
          </p:nvPr>
        </p:nvGraphicFramePr>
        <p:xfrm>
          <a:off x="1809750" y="2952750"/>
          <a:ext cx="64008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495300">
                <a:tc>
                  <a:txBody>
                    <a:bodyPr/>
                    <a:lstStyle/>
                    <a:p>
                      <a:pPr algn="ctr"/>
                      <a:r>
                        <a:rPr sz="2250" b="1">
                          <a:solidFill>
                            <a:srgbClr val="151515"/>
                          </a:solidFill>
                          <a:latin typeface="Malgun Gothic" panose="020B0503020000020004" pitchFamily="50" charset="-127"/>
                        </a:rPr>
                        <a:t>8</a:t>
                      </a:r>
                    </a:p>
                  </a:txBody>
                  <a:tcPr>
                    <a:solidFill>
                      <a:srgbClr val="DCECFB"/>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3</a:t>
                      </a:r>
                    </a:p>
                  </a:txBody>
                  <a:tcPr>
                    <a:solidFill>
                      <a:srgbClr val="DDEFE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DE5B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36EA0A6F-6CA9-458C-9273-3B6A1AF2D938}"/>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D5C98CB6-18B3-414E-BD42-E0ABC8A26839}"/>
              </a:ext>
            </a:extLst>
          </p:cNvPr>
          <p:cNvSpPr>
            <a:spLocks noGrp="1"/>
          </p:cNvSpPr>
          <p:nvPr/>
        </p:nvSpPr>
        <p:spPr>
          <a:xfrm>
            <a:off x="1809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L</a:t>
            </a:r>
          </a:p>
        </p:txBody>
      </p:sp>
      <p:sp>
        <p:nvSpPr>
          <p:cNvPr id="9" name="직사각형 8">
            <a:extLst>
              <a:ext uri="{FF2B5EF4-FFF2-40B4-BE49-F238E27FC236}">
                <a16:creationId xmlns:a16="http://schemas.microsoft.com/office/drawing/2014/main" id="{35607879-A3ED-4D74-8C65-3F647BD8AD69}"/>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0" name="직사각형 9">
            <a:extLst>
              <a:ext uri="{FF2B5EF4-FFF2-40B4-BE49-F238E27FC236}">
                <a16:creationId xmlns:a16="http://schemas.microsoft.com/office/drawing/2014/main" id="{0E7F97D2-FAFE-497B-AA8C-5925DDF5A94A}"/>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1" name="직사각형 10">
            <a:extLst>
              <a:ext uri="{FF2B5EF4-FFF2-40B4-BE49-F238E27FC236}">
                <a16:creationId xmlns:a16="http://schemas.microsoft.com/office/drawing/2014/main" id="{96244C5E-DC4A-46CC-8161-8EB78A0FD62E}"/>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0ED00BF6-77E7-431A-9788-7F35B15726CF}"/>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R</a:t>
            </a:r>
          </a:p>
        </p:txBody>
      </p:sp>
      <p:sp>
        <p:nvSpPr>
          <p:cNvPr id="13" name="직사각형 12">
            <a:extLst>
              <a:ext uri="{FF2B5EF4-FFF2-40B4-BE49-F238E27FC236}">
                <a16:creationId xmlns:a16="http://schemas.microsoft.com/office/drawing/2014/main" id="{898C0FEE-4B46-4544-B6CA-825F4A6FD811}"/>
              </a:ext>
            </a:extLst>
          </p:cNvPr>
          <p:cNvSpPr>
            <a:spLocks noGrp="1"/>
          </p:cNvSpPr>
          <p:nvPr/>
        </p:nvSpPr>
        <p:spPr>
          <a:xfrm>
            <a:off x="60769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14" name="직사각형 13">
            <a:extLst>
              <a:ext uri="{FF2B5EF4-FFF2-40B4-BE49-F238E27FC236}">
                <a16:creationId xmlns:a16="http://schemas.microsoft.com/office/drawing/2014/main" id="{644374CD-71EC-4063-8167-B2DF6769D4F4}"/>
              </a:ext>
            </a:extLst>
          </p:cNvPr>
          <p:cNvSpPr>
            <a:spLocks noGrp="1"/>
          </p:cNvSpPr>
          <p:nvPr/>
        </p:nvSpPr>
        <p:spPr>
          <a:xfrm>
            <a:off x="7143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15" name="직사각형 14">
            <a:extLst>
              <a:ext uri="{FF2B5EF4-FFF2-40B4-BE49-F238E27FC236}">
                <a16:creationId xmlns:a16="http://schemas.microsoft.com/office/drawing/2014/main" id="{B7B6D6A3-9160-427A-A255-92A07B49AFC6}"/>
              </a:ext>
            </a:extLst>
          </p:cNvPr>
          <p:cNvSpPr>
            <a:spLocks noGrp="1"/>
          </p:cNvSpPr>
          <p:nvPr/>
        </p:nvSpPr>
        <p:spPr>
          <a:xfrm>
            <a:off x="7143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pivot</a:t>
            </a:r>
          </a:p>
        </p:txBody>
      </p:sp>
      <p:sp>
        <p:nvSpPr>
          <p:cNvPr id="16" name="직사각형 15">
            <a:extLst>
              <a:ext uri="{FF2B5EF4-FFF2-40B4-BE49-F238E27FC236}">
                <a16:creationId xmlns:a16="http://schemas.microsoft.com/office/drawing/2014/main" id="{EECA7C35-3C87-487A-8F72-32035EB217D8}"/>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17" name="직사각형 16">
            <a:extLst>
              <a:ext uri="{FF2B5EF4-FFF2-40B4-BE49-F238E27FC236}">
                <a16:creationId xmlns:a16="http://schemas.microsoft.com/office/drawing/2014/main" id="{17587BFB-9F66-4762-B148-09E15A64CCC9}"/>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8" name="직사각형 17">
            <a:extLst>
              <a:ext uri="{FF2B5EF4-FFF2-40B4-BE49-F238E27FC236}">
                <a16:creationId xmlns:a16="http://schemas.microsoft.com/office/drawing/2014/main" id="{1177D5B7-0E4C-49D2-974F-5DAE136E1E4F}"/>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53</a:t>
            </a:r>
            <a:endParaRPr sz="1050" b="0">
              <a:solidFill>
                <a:srgbClr val="151515"/>
              </a:solidFill>
              <a:latin typeface="Consolas" panose="020B0609020204030204" pitchFamily="49" charset="0"/>
            </a:endParaRPr>
          </a:p>
        </p:txBody>
      </p:sp>
      <p:cxnSp>
        <p:nvCxnSpPr>
          <p:cNvPr id="20" name="직선 연결선 19">
            <a:extLst>
              <a:ext uri="{FF2B5EF4-FFF2-40B4-BE49-F238E27FC236}">
                <a16:creationId xmlns:a16="http://schemas.microsoft.com/office/drawing/2014/main" id="{F400A832-F92D-0364-1AB2-DFF7FEC30DBF}"/>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5340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857B8C77-66EF-4169-9811-53F124BC3143}"/>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95743CB1-1CBE-4CA0-8DBF-EA463F625CC0}"/>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8C563F26-A048-4236-9CF1-C83A0D693EB1}"/>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③ 두 포인터가 가리킨 8과 3 교환</a:t>
            </a:r>
          </a:p>
        </p:txBody>
      </p:sp>
      <p:sp>
        <p:nvSpPr>
          <p:cNvPr id="4" name="직사각형 3">
            <a:extLst>
              <a:ext uri="{FF2B5EF4-FFF2-40B4-BE49-F238E27FC236}">
                <a16:creationId xmlns:a16="http://schemas.microsoft.com/office/drawing/2014/main" id="{59388E83-97BE-434D-AE39-7D65A4DCF1BB}"/>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L = 0, R = 3이고 아직 L ≤ R입니다.</a:t>
            </a:r>
          </a:p>
          <a:p>
            <a:pPr>
              <a:defRPr sz="2025" b="0">
                <a:solidFill>
                  <a:srgbClr val="151515"/>
                </a:solidFill>
              </a:defRPr>
            </a:pPr>
            <a:r>
              <a:rPr sz="2025" b="0">
                <a:solidFill>
                  <a:srgbClr val="151515"/>
                </a:solidFill>
                <a:latin typeface="Malgun Gothic" panose="020B0503020000020004" pitchFamily="50" charset="-127"/>
              </a:rPr>
              <a:t>a[0]과 a[3]을 교환합니다. 포인터 위치는 그대로입니다.</a:t>
            </a:r>
          </a:p>
        </p:txBody>
      </p:sp>
      <p:sp>
        <p:nvSpPr>
          <p:cNvPr id="5" name="직사각형 4">
            <a:extLst>
              <a:ext uri="{FF2B5EF4-FFF2-40B4-BE49-F238E27FC236}">
                <a16:creationId xmlns:a16="http://schemas.microsoft.com/office/drawing/2014/main" id="{2E7D5DF6-D6B4-42A9-BE78-5E711B42C3D7}"/>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배열 a</a:t>
            </a:r>
          </a:p>
        </p:txBody>
      </p:sp>
      <p:graphicFrame>
        <p:nvGraphicFramePr>
          <p:cNvPr id="6" name="표 5">
            <a:extLst>
              <a:ext uri="{FF2B5EF4-FFF2-40B4-BE49-F238E27FC236}">
                <a16:creationId xmlns:a16="http://schemas.microsoft.com/office/drawing/2014/main" id="{E7009020-6AF9-4218-A174-54BB2CB37959}"/>
              </a:ext>
            </a:extLst>
          </p:cNvPr>
          <p:cNvGraphicFramePr/>
          <p:nvPr>
            <p:extLst>
              <p:ext uri="{D42A27DB-BD31-4B8C-83A1-F6EECF244321}">
                <p14:modId xmlns:p14="http://schemas.microsoft.com/office/powerpoint/2010/main" val="2506279789"/>
              </p:ext>
            </p:extLst>
          </p:nvPr>
        </p:nvGraphicFramePr>
        <p:xfrm>
          <a:off x="1809750" y="2952750"/>
          <a:ext cx="64008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495300">
                <a:tc>
                  <a:txBody>
                    <a:bodyPr/>
                    <a:lstStyle/>
                    <a:p>
                      <a:pPr algn="ctr"/>
                      <a:r>
                        <a:rPr sz="2250" b="1">
                          <a:solidFill>
                            <a:srgbClr val="151515"/>
                          </a:solidFill>
                          <a:latin typeface="Malgun Gothic" panose="020B0503020000020004" pitchFamily="50" charset="-127"/>
                        </a:rPr>
                        <a:t>3</a:t>
                      </a:r>
                    </a:p>
                  </a:txBody>
                  <a:tcPr>
                    <a:solidFill>
                      <a:srgbClr val="DCECFB"/>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DDEFE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DE5B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98A90942-C86B-4592-AD62-A877BD8D2A8A}"/>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BB70362B-5C4E-443C-9BE7-36678B96BAD1}"/>
              </a:ext>
            </a:extLst>
          </p:cNvPr>
          <p:cNvSpPr>
            <a:spLocks noGrp="1"/>
          </p:cNvSpPr>
          <p:nvPr/>
        </p:nvSpPr>
        <p:spPr>
          <a:xfrm>
            <a:off x="1809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L</a:t>
            </a:r>
          </a:p>
        </p:txBody>
      </p:sp>
      <p:sp>
        <p:nvSpPr>
          <p:cNvPr id="9" name="직사각형 8">
            <a:extLst>
              <a:ext uri="{FF2B5EF4-FFF2-40B4-BE49-F238E27FC236}">
                <a16:creationId xmlns:a16="http://schemas.microsoft.com/office/drawing/2014/main" id="{71DB05E3-DE42-41B5-8E63-89B02B93D390}"/>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10" name="직사각형 9">
            <a:extLst>
              <a:ext uri="{FF2B5EF4-FFF2-40B4-BE49-F238E27FC236}">
                <a16:creationId xmlns:a16="http://schemas.microsoft.com/office/drawing/2014/main" id="{48A43C00-CA0C-41BC-8CE3-2B6A6AE5EE3D}"/>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1" name="직사각형 10">
            <a:extLst>
              <a:ext uri="{FF2B5EF4-FFF2-40B4-BE49-F238E27FC236}">
                <a16:creationId xmlns:a16="http://schemas.microsoft.com/office/drawing/2014/main" id="{2365CDCB-8E79-43ED-AEE8-B7CC5D7FBFC6}"/>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12CBBCCD-9CB1-45EC-B7DD-9753F4CB74AF}"/>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R</a:t>
            </a:r>
          </a:p>
        </p:txBody>
      </p:sp>
      <p:sp>
        <p:nvSpPr>
          <p:cNvPr id="13" name="직사각형 12">
            <a:extLst>
              <a:ext uri="{FF2B5EF4-FFF2-40B4-BE49-F238E27FC236}">
                <a16:creationId xmlns:a16="http://schemas.microsoft.com/office/drawing/2014/main" id="{A173DB68-5E65-420E-AF05-72E144C0E4F2}"/>
              </a:ext>
            </a:extLst>
          </p:cNvPr>
          <p:cNvSpPr>
            <a:spLocks noGrp="1"/>
          </p:cNvSpPr>
          <p:nvPr/>
        </p:nvSpPr>
        <p:spPr>
          <a:xfrm>
            <a:off x="60769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14" name="직사각형 13">
            <a:extLst>
              <a:ext uri="{FF2B5EF4-FFF2-40B4-BE49-F238E27FC236}">
                <a16:creationId xmlns:a16="http://schemas.microsoft.com/office/drawing/2014/main" id="{89971980-AFC4-4E2C-A8EE-11CB5A76216D}"/>
              </a:ext>
            </a:extLst>
          </p:cNvPr>
          <p:cNvSpPr>
            <a:spLocks noGrp="1"/>
          </p:cNvSpPr>
          <p:nvPr/>
        </p:nvSpPr>
        <p:spPr>
          <a:xfrm>
            <a:off x="7143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15" name="직사각형 14">
            <a:extLst>
              <a:ext uri="{FF2B5EF4-FFF2-40B4-BE49-F238E27FC236}">
                <a16:creationId xmlns:a16="http://schemas.microsoft.com/office/drawing/2014/main" id="{739E45D8-934F-4B49-A368-6A1833348064}"/>
              </a:ext>
            </a:extLst>
          </p:cNvPr>
          <p:cNvSpPr>
            <a:spLocks noGrp="1"/>
          </p:cNvSpPr>
          <p:nvPr/>
        </p:nvSpPr>
        <p:spPr>
          <a:xfrm>
            <a:off x="7143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pivot</a:t>
            </a:r>
          </a:p>
        </p:txBody>
      </p:sp>
      <p:sp>
        <p:nvSpPr>
          <p:cNvPr id="16" name="직사각형 15">
            <a:extLst>
              <a:ext uri="{FF2B5EF4-FFF2-40B4-BE49-F238E27FC236}">
                <a16:creationId xmlns:a16="http://schemas.microsoft.com/office/drawing/2014/main" id="{04CA4248-6DE4-48E1-AF70-3927C128D8E1}"/>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17" name="직사각형 16">
            <a:extLst>
              <a:ext uri="{FF2B5EF4-FFF2-40B4-BE49-F238E27FC236}">
                <a16:creationId xmlns:a16="http://schemas.microsoft.com/office/drawing/2014/main" id="{338104A8-AC69-4FB9-8C30-7185BFBB5422}"/>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8" name="직사각형 17">
            <a:extLst>
              <a:ext uri="{FF2B5EF4-FFF2-40B4-BE49-F238E27FC236}">
                <a16:creationId xmlns:a16="http://schemas.microsoft.com/office/drawing/2014/main" id="{0B2ECF9E-8C23-4A29-9EC1-4DA257B6E969}"/>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54</a:t>
            </a:r>
            <a:endParaRPr sz="1050" b="0">
              <a:solidFill>
                <a:srgbClr val="151515"/>
              </a:solidFill>
              <a:latin typeface="Consolas" panose="020B0609020204030204" pitchFamily="49" charset="0"/>
            </a:endParaRPr>
          </a:p>
        </p:txBody>
      </p:sp>
      <p:cxnSp>
        <p:nvCxnSpPr>
          <p:cNvPr id="20" name="직선 연결선 19">
            <a:extLst>
              <a:ext uri="{FF2B5EF4-FFF2-40B4-BE49-F238E27FC236}">
                <a16:creationId xmlns:a16="http://schemas.microsoft.com/office/drawing/2014/main" id="{C943AF79-0EE0-3C2A-0567-9B5D5647C8D8}"/>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91456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3965BE22-4858-4D45-8494-7C69D9C6277B}"/>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2FD07B4F-FC26-43BD-946B-14FC4D4E5895}"/>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069679C4-D771-4C4C-B3B4-CA944D5704E7}"/>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④ L이 0에서 1로 이동</a:t>
            </a:r>
          </a:p>
        </p:txBody>
      </p:sp>
      <p:sp>
        <p:nvSpPr>
          <p:cNvPr id="4" name="직사각형 3">
            <a:extLst>
              <a:ext uri="{FF2B5EF4-FFF2-40B4-BE49-F238E27FC236}">
                <a16:creationId xmlns:a16="http://schemas.microsoft.com/office/drawing/2014/main" id="{0B080EFF-01A5-4CB0-8876-2CDE76C8455C}"/>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a[0] = 3 ≤ 6이므로 L을 오른쪽으로 한 칸 옮깁니다.</a:t>
            </a:r>
          </a:p>
          <a:p>
            <a:pPr>
              <a:defRPr sz="2025" b="0">
                <a:solidFill>
                  <a:srgbClr val="151515"/>
                </a:solidFill>
              </a:defRPr>
            </a:pPr>
            <a:r>
              <a:rPr sz="2025" b="0">
                <a:solidFill>
                  <a:srgbClr val="151515"/>
                </a:solidFill>
                <a:latin typeface="Malgun Gothic" panose="020B0503020000020004" pitchFamily="50" charset="-127"/>
              </a:rPr>
              <a:t>R은 인덱스 3에 그대로 있습니다.</a:t>
            </a:r>
          </a:p>
        </p:txBody>
      </p:sp>
      <p:sp>
        <p:nvSpPr>
          <p:cNvPr id="5" name="직사각형 4">
            <a:extLst>
              <a:ext uri="{FF2B5EF4-FFF2-40B4-BE49-F238E27FC236}">
                <a16:creationId xmlns:a16="http://schemas.microsoft.com/office/drawing/2014/main" id="{CCC98098-00B5-46C2-B449-3E4C50A712EB}"/>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배열 a</a:t>
            </a:r>
          </a:p>
        </p:txBody>
      </p:sp>
      <p:graphicFrame>
        <p:nvGraphicFramePr>
          <p:cNvPr id="6" name="표 5">
            <a:extLst>
              <a:ext uri="{FF2B5EF4-FFF2-40B4-BE49-F238E27FC236}">
                <a16:creationId xmlns:a16="http://schemas.microsoft.com/office/drawing/2014/main" id="{71697DAF-C7A7-4049-A87C-8BA730E0314C}"/>
              </a:ext>
            </a:extLst>
          </p:cNvPr>
          <p:cNvGraphicFramePr/>
          <p:nvPr>
            <p:extLst>
              <p:ext uri="{D42A27DB-BD31-4B8C-83A1-F6EECF244321}">
                <p14:modId xmlns:p14="http://schemas.microsoft.com/office/powerpoint/2010/main" val="665332270"/>
              </p:ext>
            </p:extLst>
          </p:nvPr>
        </p:nvGraphicFramePr>
        <p:xfrm>
          <a:off x="1809750" y="2952750"/>
          <a:ext cx="64008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495300">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DCECFB"/>
                    </a:solidFill>
                  </a:tcPr>
                </a:tc>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DDEFE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DE5B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FEC9D90E-899C-43E7-9655-BC6AB476EEC4}"/>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0774A34D-0541-4585-AE87-BC741B6EDDC7}"/>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C27874FC-D8C6-4942-A585-8E0BF2CC057F}"/>
              </a:ext>
            </a:extLst>
          </p:cNvPr>
          <p:cNvSpPr>
            <a:spLocks noGrp="1"/>
          </p:cNvSpPr>
          <p:nvPr/>
        </p:nvSpPr>
        <p:spPr>
          <a:xfrm>
            <a:off x="28765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L</a:t>
            </a:r>
          </a:p>
        </p:txBody>
      </p:sp>
      <p:sp>
        <p:nvSpPr>
          <p:cNvPr id="10" name="직사각형 9">
            <a:extLst>
              <a:ext uri="{FF2B5EF4-FFF2-40B4-BE49-F238E27FC236}">
                <a16:creationId xmlns:a16="http://schemas.microsoft.com/office/drawing/2014/main" id="{D8322FAB-419D-4C23-9513-5A9BD4183A60}"/>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1" name="직사각형 10">
            <a:extLst>
              <a:ext uri="{FF2B5EF4-FFF2-40B4-BE49-F238E27FC236}">
                <a16:creationId xmlns:a16="http://schemas.microsoft.com/office/drawing/2014/main" id="{B7601CCF-B45F-4D63-899A-7F7D53EDA8FB}"/>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E87C3832-63D8-4C40-9E28-AF70805FE752}"/>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R</a:t>
            </a:r>
          </a:p>
        </p:txBody>
      </p:sp>
      <p:sp>
        <p:nvSpPr>
          <p:cNvPr id="13" name="직사각형 12">
            <a:extLst>
              <a:ext uri="{FF2B5EF4-FFF2-40B4-BE49-F238E27FC236}">
                <a16:creationId xmlns:a16="http://schemas.microsoft.com/office/drawing/2014/main" id="{35B3BAF3-2CA4-4B89-96DB-D23595A109CE}"/>
              </a:ext>
            </a:extLst>
          </p:cNvPr>
          <p:cNvSpPr>
            <a:spLocks noGrp="1"/>
          </p:cNvSpPr>
          <p:nvPr/>
        </p:nvSpPr>
        <p:spPr>
          <a:xfrm>
            <a:off x="60769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14" name="직사각형 13">
            <a:extLst>
              <a:ext uri="{FF2B5EF4-FFF2-40B4-BE49-F238E27FC236}">
                <a16:creationId xmlns:a16="http://schemas.microsoft.com/office/drawing/2014/main" id="{E115194D-3357-4FDC-A368-F42FDE89C1C2}"/>
              </a:ext>
            </a:extLst>
          </p:cNvPr>
          <p:cNvSpPr>
            <a:spLocks noGrp="1"/>
          </p:cNvSpPr>
          <p:nvPr/>
        </p:nvSpPr>
        <p:spPr>
          <a:xfrm>
            <a:off x="7143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15" name="직사각형 14">
            <a:extLst>
              <a:ext uri="{FF2B5EF4-FFF2-40B4-BE49-F238E27FC236}">
                <a16:creationId xmlns:a16="http://schemas.microsoft.com/office/drawing/2014/main" id="{0052D31C-2C1E-4C41-ACD7-A818416A012E}"/>
              </a:ext>
            </a:extLst>
          </p:cNvPr>
          <p:cNvSpPr>
            <a:spLocks noGrp="1"/>
          </p:cNvSpPr>
          <p:nvPr/>
        </p:nvSpPr>
        <p:spPr>
          <a:xfrm>
            <a:off x="7143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pivot</a:t>
            </a:r>
          </a:p>
        </p:txBody>
      </p:sp>
      <p:sp>
        <p:nvSpPr>
          <p:cNvPr id="16" name="직사각형 15">
            <a:extLst>
              <a:ext uri="{FF2B5EF4-FFF2-40B4-BE49-F238E27FC236}">
                <a16:creationId xmlns:a16="http://schemas.microsoft.com/office/drawing/2014/main" id="{A30D02A4-F76B-4863-9B53-6D85F8576742}"/>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17" name="직사각형 16">
            <a:extLst>
              <a:ext uri="{FF2B5EF4-FFF2-40B4-BE49-F238E27FC236}">
                <a16:creationId xmlns:a16="http://schemas.microsoft.com/office/drawing/2014/main" id="{59DC3D80-1A45-4841-96E8-306A273F6649}"/>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8" name="직사각형 17">
            <a:extLst>
              <a:ext uri="{FF2B5EF4-FFF2-40B4-BE49-F238E27FC236}">
                <a16:creationId xmlns:a16="http://schemas.microsoft.com/office/drawing/2014/main" id="{C718409D-217A-4B72-A712-7FE6FF400314}"/>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55</a:t>
            </a:r>
            <a:endParaRPr sz="1050" b="0">
              <a:solidFill>
                <a:srgbClr val="151515"/>
              </a:solidFill>
              <a:latin typeface="Consolas" panose="020B0609020204030204" pitchFamily="49" charset="0"/>
            </a:endParaRPr>
          </a:p>
        </p:txBody>
      </p:sp>
      <p:cxnSp>
        <p:nvCxnSpPr>
          <p:cNvPr id="20" name="직선 연결선 19">
            <a:extLst>
              <a:ext uri="{FF2B5EF4-FFF2-40B4-BE49-F238E27FC236}">
                <a16:creationId xmlns:a16="http://schemas.microsoft.com/office/drawing/2014/main" id="{68D4AC8F-EF2C-637A-1764-6774187373FA}"/>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0491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92914FCA-4AA8-4F95-ABB9-39F692FA9734}"/>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C3955D62-DDC6-423F-854F-B4E4E87B2CA2}"/>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3DF26506-6370-4AAE-A456-7B80169EDD5B}"/>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⑤ L이 1에서 2로 이동</a:t>
            </a:r>
          </a:p>
        </p:txBody>
      </p:sp>
      <p:sp>
        <p:nvSpPr>
          <p:cNvPr id="4" name="직사각형 3">
            <a:extLst>
              <a:ext uri="{FF2B5EF4-FFF2-40B4-BE49-F238E27FC236}">
                <a16:creationId xmlns:a16="http://schemas.microsoft.com/office/drawing/2014/main" id="{1517DDD7-BC3B-4AB4-BC3C-B7F7326176DB}"/>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a[1] = 4 ≤ 6이므로 L을 다시 한 칸 옮깁니다.</a:t>
            </a:r>
          </a:p>
          <a:p>
            <a:pPr>
              <a:defRPr sz="2025" b="0">
                <a:solidFill>
                  <a:srgbClr val="151515"/>
                </a:solidFill>
              </a:defRPr>
            </a:pPr>
            <a:r>
              <a:rPr sz="2025" b="0">
                <a:solidFill>
                  <a:srgbClr val="151515"/>
                </a:solidFill>
                <a:latin typeface="Malgun Gothic" panose="020B0503020000020004" pitchFamily="50" charset="-127"/>
              </a:rPr>
              <a:t>지금 L이 가리키는 값은 a[2] = 1입니다.</a:t>
            </a:r>
          </a:p>
        </p:txBody>
      </p:sp>
      <p:sp>
        <p:nvSpPr>
          <p:cNvPr id="5" name="직사각형 4">
            <a:extLst>
              <a:ext uri="{FF2B5EF4-FFF2-40B4-BE49-F238E27FC236}">
                <a16:creationId xmlns:a16="http://schemas.microsoft.com/office/drawing/2014/main" id="{373F0C29-331B-4B07-B0A6-AA34F3EB92AC}"/>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배열 a</a:t>
            </a:r>
          </a:p>
        </p:txBody>
      </p:sp>
      <p:graphicFrame>
        <p:nvGraphicFramePr>
          <p:cNvPr id="6" name="표 5">
            <a:extLst>
              <a:ext uri="{FF2B5EF4-FFF2-40B4-BE49-F238E27FC236}">
                <a16:creationId xmlns:a16="http://schemas.microsoft.com/office/drawing/2014/main" id="{C5D27E11-AADB-4106-A9BF-69AF3A3D376E}"/>
              </a:ext>
            </a:extLst>
          </p:cNvPr>
          <p:cNvGraphicFramePr/>
          <p:nvPr>
            <p:extLst>
              <p:ext uri="{D42A27DB-BD31-4B8C-83A1-F6EECF244321}">
                <p14:modId xmlns:p14="http://schemas.microsoft.com/office/powerpoint/2010/main" val="3499204218"/>
              </p:ext>
            </p:extLst>
          </p:nvPr>
        </p:nvGraphicFramePr>
        <p:xfrm>
          <a:off x="1809750" y="2952750"/>
          <a:ext cx="64008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495300">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1</a:t>
                      </a:r>
                    </a:p>
                  </a:txBody>
                  <a:tcPr>
                    <a:solidFill>
                      <a:srgbClr val="DCECFB"/>
                    </a:solidFill>
                  </a:tcPr>
                </a:tc>
                <a:tc>
                  <a:txBody>
                    <a:bodyPr/>
                    <a:lstStyle/>
                    <a:p>
                      <a:pPr algn="ctr"/>
                      <a:r>
                        <a:rPr sz="2250" b="1">
                          <a:solidFill>
                            <a:srgbClr val="151515"/>
                          </a:solidFill>
                          <a:latin typeface="Malgun Gothic" panose="020B0503020000020004" pitchFamily="50" charset="-127"/>
                        </a:rPr>
                        <a:t>8</a:t>
                      </a:r>
                    </a:p>
                  </a:txBody>
                  <a:tcPr>
                    <a:solidFill>
                      <a:srgbClr val="DDEFE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DE5B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F7B7AF1B-B7BE-4E0F-ACCB-463AAE8EBAB4}"/>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11A96389-C7FD-47C9-8B35-F8BCA300C207}"/>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478316AA-7AF9-4B79-8C87-3C6C39DE86D1}"/>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6DA48515-DC7B-4699-9AD3-9EAC84376A30}"/>
              </a:ext>
            </a:extLst>
          </p:cNvPr>
          <p:cNvSpPr>
            <a:spLocks noGrp="1"/>
          </p:cNvSpPr>
          <p:nvPr/>
        </p:nvSpPr>
        <p:spPr>
          <a:xfrm>
            <a:off x="39433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L</a:t>
            </a:r>
          </a:p>
        </p:txBody>
      </p:sp>
      <p:sp>
        <p:nvSpPr>
          <p:cNvPr id="11" name="직사각형 10">
            <a:extLst>
              <a:ext uri="{FF2B5EF4-FFF2-40B4-BE49-F238E27FC236}">
                <a16:creationId xmlns:a16="http://schemas.microsoft.com/office/drawing/2014/main" id="{52603191-46BE-42CC-A26F-8A1268618652}"/>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4BB42BAD-140A-4317-9AA5-E1E57D965F92}"/>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R</a:t>
            </a:r>
          </a:p>
        </p:txBody>
      </p:sp>
      <p:sp>
        <p:nvSpPr>
          <p:cNvPr id="13" name="직사각형 12">
            <a:extLst>
              <a:ext uri="{FF2B5EF4-FFF2-40B4-BE49-F238E27FC236}">
                <a16:creationId xmlns:a16="http://schemas.microsoft.com/office/drawing/2014/main" id="{E16C6F16-CC97-46DE-856C-05EE8CB312BC}"/>
              </a:ext>
            </a:extLst>
          </p:cNvPr>
          <p:cNvSpPr>
            <a:spLocks noGrp="1"/>
          </p:cNvSpPr>
          <p:nvPr/>
        </p:nvSpPr>
        <p:spPr>
          <a:xfrm>
            <a:off x="60769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14" name="직사각형 13">
            <a:extLst>
              <a:ext uri="{FF2B5EF4-FFF2-40B4-BE49-F238E27FC236}">
                <a16:creationId xmlns:a16="http://schemas.microsoft.com/office/drawing/2014/main" id="{ED22BC43-4CF2-4CFC-B50C-D2F96E1E8211}"/>
              </a:ext>
            </a:extLst>
          </p:cNvPr>
          <p:cNvSpPr>
            <a:spLocks noGrp="1"/>
          </p:cNvSpPr>
          <p:nvPr/>
        </p:nvSpPr>
        <p:spPr>
          <a:xfrm>
            <a:off x="7143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15" name="직사각형 14">
            <a:extLst>
              <a:ext uri="{FF2B5EF4-FFF2-40B4-BE49-F238E27FC236}">
                <a16:creationId xmlns:a16="http://schemas.microsoft.com/office/drawing/2014/main" id="{95CE1857-342B-4443-94FB-20F90FB71F18}"/>
              </a:ext>
            </a:extLst>
          </p:cNvPr>
          <p:cNvSpPr>
            <a:spLocks noGrp="1"/>
          </p:cNvSpPr>
          <p:nvPr/>
        </p:nvSpPr>
        <p:spPr>
          <a:xfrm>
            <a:off x="7143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pivot</a:t>
            </a:r>
          </a:p>
        </p:txBody>
      </p:sp>
      <p:sp>
        <p:nvSpPr>
          <p:cNvPr id="16" name="직사각형 15">
            <a:extLst>
              <a:ext uri="{FF2B5EF4-FFF2-40B4-BE49-F238E27FC236}">
                <a16:creationId xmlns:a16="http://schemas.microsoft.com/office/drawing/2014/main" id="{C3D70DA3-4468-4C5C-88A8-6B6476C5F55E}"/>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17" name="직사각형 16">
            <a:extLst>
              <a:ext uri="{FF2B5EF4-FFF2-40B4-BE49-F238E27FC236}">
                <a16:creationId xmlns:a16="http://schemas.microsoft.com/office/drawing/2014/main" id="{EB478BFF-DDA2-4B25-AFE6-7FA692860650}"/>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8" name="직사각형 17">
            <a:extLst>
              <a:ext uri="{FF2B5EF4-FFF2-40B4-BE49-F238E27FC236}">
                <a16:creationId xmlns:a16="http://schemas.microsoft.com/office/drawing/2014/main" id="{4B8385DD-B7AF-4EDE-967F-D69AF82CB3E3}"/>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56</a:t>
            </a:r>
            <a:endParaRPr sz="1050" b="0">
              <a:solidFill>
                <a:srgbClr val="151515"/>
              </a:solidFill>
              <a:latin typeface="Consolas" panose="020B0609020204030204" pitchFamily="49" charset="0"/>
            </a:endParaRPr>
          </a:p>
        </p:txBody>
      </p:sp>
      <p:cxnSp>
        <p:nvCxnSpPr>
          <p:cNvPr id="20" name="직선 연결선 19">
            <a:extLst>
              <a:ext uri="{FF2B5EF4-FFF2-40B4-BE49-F238E27FC236}">
                <a16:creationId xmlns:a16="http://schemas.microsoft.com/office/drawing/2014/main" id="{84849E69-43B2-4F4C-A66C-6128DDCDB8B6}"/>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287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A9308540-82A1-4DA6-9138-0E35B372A403}"/>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32858E10-9482-4565-B321-06211CEA2CB8}"/>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036105BC-6393-460A-A449-6435C5DCBF22}"/>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⑥ L이 2에서 3으로 이동</a:t>
            </a:r>
          </a:p>
        </p:txBody>
      </p:sp>
      <p:sp>
        <p:nvSpPr>
          <p:cNvPr id="4" name="직사각형 3">
            <a:extLst>
              <a:ext uri="{FF2B5EF4-FFF2-40B4-BE49-F238E27FC236}">
                <a16:creationId xmlns:a16="http://schemas.microsoft.com/office/drawing/2014/main" id="{FF76F533-6766-40C3-8900-E1446115BDB8}"/>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a[2] = 1 ≤ 6이므로 L을 한 칸 옮깁니다.</a:t>
            </a:r>
          </a:p>
          <a:p>
            <a:pPr>
              <a:defRPr sz="2025" b="0">
                <a:solidFill>
                  <a:srgbClr val="151515"/>
                </a:solidFill>
              </a:defRPr>
            </a:pPr>
            <a:r>
              <a:rPr sz="2025" b="0">
                <a:solidFill>
                  <a:srgbClr val="151515"/>
                </a:solidFill>
                <a:latin typeface="Malgun Gothic" panose="020B0503020000020004" pitchFamily="50" charset="-127"/>
              </a:rPr>
              <a:t>a[3] = 8 &gt; 6이므로 L의 이동은 여기서 끝납니다.</a:t>
            </a:r>
          </a:p>
        </p:txBody>
      </p:sp>
      <p:sp>
        <p:nvSpPr>
          <p:cNvPr id="5" name="직사각형 4">
            <a:extLst>
              <a:ext uri="{FF2B5EF4-FFF2-40B4-BE49-F238E27FC236}">
                <a16:creationId xmlns:a16="http://schemas.microsoft.com/office/drawing/2014/main" id="{D742D992-BA42-4C61-AEE9-392811378457}"/>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배열 a</a:t>
            </a:r>
          </a:p>
        </p:txBody>
      </p:sp>
      <p:graphicFrame>
        <p:nvGraphicFramePr>
          <p:cNvPr id="6" name="표 5">
            <a:extLst>
              <a:ext uri="{FF2B5EF4-FFF2-40B4-BE49-F238E27FC236}">
                <a16:creationId xmlns:a16="http://schemas.microsoft.com/office/drawing/2014/main" id="{63C3DDF5-6C03-4B1C-8F62-FF80CA87B35B}"/>
              </a:ext>
            </a:extLst>
          </p:cNvPr>
          <p:cNvGraphicFramePr/>
          <p:nvPr>
            <p:extLst>
              <p:ext uri="{D42A27DB-BD31-4B8C-83A1-F6EECF244321}">
                <p14:modId xmlns:p14="http://schemas.microsoft.com/office/powerpoint/2010/main" val="1621656767"/>
              </p:ext>
            </p:extLst>
          </p:nvPr>
        </p:nvGraphicFramePr>
        <p:xfrm>
          <a:off x="1809750" y="2952750"/>
          <a:ext cx="64008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495300">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1</a:t>
                      </a:r>
                    </a:p>
                  </a:txBody>
                  <a:tcPr>
                    <a:solidFill>
                      <a:srgbClr val="F6F6F6"/>
                    </a:solidFill>
                  </a:tcPr>
                </a:tc>
                <a:tc>
                  <a:txBody>
                    <a:bodyPr/>
                    <a:lstStyle/>
                    <a:p>
                      <a:pPr algn="ctr"/>
                      <a:r>
                        <a:rPr sz="2250" b="1">
                          <a:solidFill>
                            <a:srgbClr val="151515"/>
                          </a:solidFill>
                          <a:latin typeface="Malgun Gothic" panose="020B0503020000020004" pitchFamily="50" charset="-127"/>
                        </a:rPr>
                        <a:t>8</a:t>
                      </a:r>
                    </a:p>
                  </a:txBody>
                  <a:tcPr>
                    <a:solidFill>
                      <a:srgbClr val="DDEFE6"/>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DE5B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4D4EC599-33D0-4D81-98A3-31B515C59D29}"/>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51581865-528B-4757-838B-AAE3F2840411}"/>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2B0068BA-FD9B-45D9-B835-2E12F310F203}"/>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ECF58A4A-BE34-4094-8F1B-42CE66A04840}"/>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1" name="직사각형 10">
            <a:extLst>
              <a:ext uri="{FF2B5EF4-FFF2-40B4-BE49-F238E27FC236}">
                <a16:creationId xmlns:a16="http://schemas.microsoft.com/office/drawing/2014/main" id="{3ABDF5DE-858A-462C-BE6C-F6BBD5D0CA4C}"/>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L</a:t>
            </a:r>
          </a:p>
        </p:txBody>
      </p:sp>
      <p:sp>
        <p:nvSpPr>
          <p:cNvPr id="12" name="직사각형 11">
            <a:extLst>
              <a:ext uri="{FF2B5EF4-FFF2-40B4-BE49-F238E27FC236}">
                <a16:creationId xmlns:a16="http://schemas.microsoft.com/office/drawing/2014/main" id="{6A66DB83-07C8-4B8F-9746-277B1A2E1E45}"/>
              </a:ext>
            </a:extLst>
          </p:cNvPr>
          <p:cNvSpPr>
            <a:spLocks noGrp="1"/>
          </p:cNvSpPr>
          <p:nvPr/>
        </p:nvSpPr>
        <p:spPr>
          <a:xfrm>
            <a:off x="60769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13" name="직사각형 12">
            <a:extLst>
              <a:ext uri="{FF2B5EF4-FFF2-40B4-BE49-F238E27FC236}">
                <a16:creationId xmlns:a16="http://schemas.microsoft.com/office/drawing/2014/main" id="{723BFD6A-B2D1-4F11-91C3-C07832B99FD0}"/>
              </a:ext>
            </a:extLst>
          </p:cNvPr>
          <p:cNvSpPr>
            <a:spLocks noGrp="1"/>
          </p:cNvSpPr>
          <p:nvPr/>
        </p:nvSpPr>
        <p:spPr>
          <a:xfrm>
            <a:off x="7143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14" name="직사각형 13">
            <a:extLst>
              <a:ext uri="{FF2B5EF4-FFF2-40B4-BE49-F238E27FC236}">
                <a16:creationId xmlns:a16="http://schemas.microsoft.com/office/drawing/2014/main" id="{8FE099A4-DB80-49F7-B5A7-DA6B983D3CDC}"/>
              </a:ext>
            </a:extLst>
          </p:cNvPr>
          <p:cNvSpPr>
            <a:spLocks noGrp="1"/>
          </p:cNvSpPr>
          <p:nvPr/>
        </p:nvSpPr>
        <p:spPr>
          <a:xfrm>
            <a:off x="7143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pivot</a:t>
            </a:r>
          </a:p>
        </p:txBody>
      </p:sp>
      <p:sp>
        <p:nvSpPr>
          <p:cNvPr id="15" name="직사각형 14">
            <a:extLst>
              <a:ext uri="{FF2B5EF4-FFF2-40B4-BE49-F238E27FC236}">
                <a16:creationId xmlns:a16="http://schemas.microsoft.com/office/drawing/2014/main" id="{6430C16F-BF4D-4731-9FB2-C65CF6632EEF}"/>
              </a:ext>
            </a:extLst>
          </p:cNvPr>
          <p:cNvSpPr>
            <a:spLocks noGrp="1"/>
          </p:cNvSpPr>
          <p:nvPr/>
        </p:nvSpPr>
        <p:spPr>
          <a:xfrm>
            <a:off x="5010150" y="2647950"/>
            <a:ext cx="1066800" cy="26670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lang="en-US" sz="1800" b="1">
                <a:solidFill>
                  <a:srgbClr val="151515"/>
                </a:solidFill>
                <a:latin typeface="Malgun Gothic" panose="020B0503020000020004" pitchFamily="50" charset="-127"/>
              </a:rPr>
              <a:t>↓ R</a:t>
            </a:r>
            <a:endParaRPr sz="1800" b="1">
              <a:solidFill>
                <a:srgbClr val="151515"/>
              </a:solidFill>
              <a:latin typeface="Malgun Gothic" panose="020B0503020000020004" pitchFamily="50" charset="-127"/>
            </a:endParaRPr>
          </a:p>
        </p:txBody>
      </p:sp>
      <p:sp>
        <p:nvSpPr>
          <p:cNvPr id="16" name="직사각형 15">
            <a:extLst>
              <a:ext uri="{FF2B5EF4-FFF2-40B4-BE49-F238E27FC236}">
                <a16:creationId xmlns:a16="http://schemas.microsoft.com/office/drawing/2014/main" id="{A3DE9BF5-20DE-489A-9E2E-F677AEAA41F9}"/>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17" name="직사각형 16">
            <a:extLst>
              <a:ext uri="{FF2B5EF4-FFF2-40B4-BE49-F238E27FC236}">
                <a16:creationId xmlns:a16="http://schemas.microsoft.com/office/drawing/2014/main" id="{7975EF78-D7D4-4E5E-AEDF-477C6ABAFF46}"/>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8" name="직사각형 17">
            <a:extLst>
              <a:ext uri="{FF2B5EF4-FFF2-40B4-BE49-F238E27FC236}">
                <a16:creationId xmlns:a16="http://schemas.microsoft.com/office/drawing/2014/main" id="{23FF06BF-C8BA-4240-9C24-251A7567A228}"/>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57</a:t>
            </a:r>
            <a:endParaRPr sz="1050" b="0">
              <a:solidFill>
                <a:srgbClr val="151515"/>
              </a:solidFill>
              <a:latin typeface="Consolas" panose="020B0609020204030204" pitchFamily="49" charset="0"/>
            </a:endParaRPr>
          </a:p>
        </p:txBody>
      </p:sp>
      <p:cxnSp>
        <p:nvCxnSpPr>
          <p:cNvPr id="20" name="직선 연결선 19">
            <a:extLst>
              <a:ext uri="{FF2B5EF4-FFF2-40B4-BE49-F238E27FC236}">
                <a16:creationId xmlns:a16="http://schemas.microsoft.com/office/drawing/2014/main" id="{636D649F-5B20-445C-1232-5C8DF8920CAE}"/>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21568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3BF8FF5F-842B-4136-A311-D872E955B96E}"/>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0EDA11E4-12B5-40C5-BB22-6F3B7A527A76}"/>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01011B2A-0BCC-4D54-B523-E00B3F83A9FB}"/>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⑦ R이 3에서 2로 이동 · 교차</a:t>
            </a:r>
          </a:p>
        </p:txBody>
      </p:sp>
      <p:sp>
        <p:nvSpPr>
          <p:cNvPr id="4" name="직사각형 3">
            <a:extLst>
              <a:ext uri="{FF2B5EF4-FFF2-40B4-BE49-F238E27FC236}">
                <a16:creationId xmlns:a16="http://schemas.microsoft.com/office/drawing/2014/main" id="{83CCC165-1CAA-4D25-96C0-A558BBF21A78}"/>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a[3] = 8 &gt; 6이므로 R을 왼쪽으로 한 칸 옮깁니다.</a:t>
            </a:r>
          </a:p>
          <a:p>
            <a:pPr>
              <a:defRPr sz="2025" b="0">
                <a:solidFill>
                  <a:srgbClr val="151515"/>
                </a:solidFill>
              </a:defRPr>
            </a:pPr>
            <a:r>
              <a:rPr sz="2025" b="0">
                <a:solidFill>
                  <a:srgbClr val="151515"/>
                </a:solidFill>
                <a:latin typeface="Malgun Gothic" panose="020B0503020000020004" pitchFamily="50" charset="-127"/>
              </a:rPr>
              <a:t>L = 3 &gt; R = 2가 되었으므로 두 값의 교환을 끝냅니다.</a:t>
            </a:r>
          </a:p>
        </p:txBody>
      </p:sp>
      <p:sp>
        <p:nvSpPr>
          <p:cNvPr id="5" name="직사각형 4">
            <a:extLst>
              <a:ext uri="{FF2B5EF4-FFF2-40B4-BE49-F238E27FC236}">
                <a16:creationId xmlns:a16="http://schemas.microsoft.com/office/drawing/2014/main" id="{CEB49DD1-0124-41A8-97B2-B53C8F57802D}"/>
              </a:ext>
            </a:extLst>
          </p:cNvPr>
          <p:cNvSpPr>
            <a:spLocks noGrp="1"/>
          </p:cNvSpPr>
          <p:nvPr/>
        </p:nvSpPr>
        <p:spPr>
          <a:xfrm>
            <a:off x="609600" y="3028950"/>
            <a:ext cx="1181100" cy="51435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배열 a</a:t>
            </a:r>
          </a:p>
        </p:txBody>
      </p:sp>
      <p:graphicFrame>
        <p:nvGraphicFramePr>
          <p:cNvPr id="6" name="표 5">
            <a:extLst>
              <a:ext uri="{FF2B5EF4-FFF2-40B4-BE49-F238E27FC236}">
                <a16:creationId xmlns:a16="http://schemas.microsoft.com/office/drawing/2014/main" id="{F4E28F7C-3D81-44E2-B514-FBC5D5B9F55E}"/>
              </a:ext>
            </a:extLst>
          </p:cNvPr>
          <p:cNvGraphicFramePr/>
          <p:nvPr>
            <p:extLst>
              <p:ext uri="{D42A27DB-BD31-4B8C-83A1-F6EECF244321}">
                <p14:modId xmlns:p14="http://schemas.microsoft.com/office/powerpoint/2010/main" val="2461548706"/>
              </p:ext>
            </p:extLst>
          </p:nvPr>
        </p:nvGraphicFramePr>
        <p:xfrm>
          <a:off x="1809750" y="2952750"/>
          <a:ext cx="6400800" cy="4953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495300">
                <a:tc>
                  <a:txBody>
                    <a:bodyPr/>
                    <a:lstStyle/>
                    <a:p>
                      <a:pPr algn="ctr"/>
                      <a:r>
                        <a:rPr sz="2250" b="1">
                          <a:solidFill>
                            <a:srgbClr val="151515"/>
                          </a:solidFill>
                          <a:latin typeface="Malgun Gothic" panose="020B0503020000020004" pitchFamily="50" charset="-127"/>
                        </a:rPr>
                        <a:t>3</a:t>
                      </a:r>
                    </a:p>
                  </a:txBody>
                  <a:tcPr>
                    <a:solidFill>
                      <a:srgbClr val="F6F6F6"/>
                    </a:solidFill>
                  </a:tcPr>
                </a:tc>
                <a:tc>
                  <a:txBody>
                    <a:bodyPr/>
                    <a:lstStyle/>
                    <a:p>
                      <a:pPr algn="ctr"/>
                      <a:r>
                        <a:rPr sz="2250" b="1">
                          <a:solidFill>
                            <a:srgbClr val="151515"/>
                          </a:solidFill>
                          <a:latin typeface="Malgun Gothic" panose="020B0503020000020004" pitchFamily="50" charset="-127"/>
                        </a:rPr>
                        <a:t>4</a:t>
                      </a:r>
                    </a:p>
                  </a:txBody>
                  <a:tcPr>
                    <a:solidFill>
                      <a:srgbClr val="F6F6F6"/>
                    </a:solidFill>
                  </a:tcPr>
                </a:tc>
                <a:tc>
                  <a:txBody>
                    <a:bodyPr/>
                    <a:lstStyle/>
                    <a:p>
                      <a:pPr algn="ctr"/>
                      <a:r>
                        <a:rPr sz="2250" b="1">
                          <a:solidFill>
                            <a:srgbClr val="151515"/>
                          </a:solidFill>
                          <a:latin typeface="Malgun Gothic" panose="020B0503020000020004" pitchFamily="50" charset="-127"/>
                        </a:rPr>
                        <a:t>1</a:t>
                      </a:r>
                    </a:p>
                  </a:txBody>
                  <a:tcPr>
                    <a:solidFill>
                      <a:srgbClr val="DDEFE6"/>
                    </a:solidFill>
                  </a:tcPr>
                </a:tc>
                <a:tc>
                  <a:txBody>
                    <a:bodyPr/>
                    <a:lstStyle/>
                    <a:p>
                      <a:pPr algn="ctr"/>
                      <a:r>
                        <a:rPr sz="2250" b="1">
                          <a:solidFill>
                            <a:srgbClr val="151515"/>
                          </a:solidFill>
                          <a:latin typeface="Malgun Gothic" panose="020B0503020000020004" pitchFamily="50" charset="-127"/>
                        </a:rPr>
                        <a:t>8</a:t>
                      </a:r>
                    </a:p>
                  </a:txBody>
                  <a:tcPr>
                    <a:solidFill>
                      <a:srgbClr val="DCECFB"/>
                    </a:solidFill>
                  </a:tcPr>
                </a:tc>
                <a:tc>
                  <a:txBody>
                    <a:bodyPr/>
                    <a:lstStyle/>
                    <a:p>
                      <a:pPr algn="ctr"/>
                      <a:r>
                        <a:rPr sz="2250" b="1">
                          <a:solidFill>
                            <a:srgbClr val="151515"/>
                          </a:solidFill>
                          <a:latin typeface="Malgun Gothic" panose="020B0503020000020004" pitchFamily="50" charset="-127"/>
                        </a:rPr>
                        <a:t>7</a:t>
                      </a:r>
                    </a:p>
                  </a:txBody>
                  <a:tcPr>
                    <a:solidFill>
                      <a:srgbClr val="F6F6F6"/>
                    </a:solidFill>
                  </a:tcPr>
                </a:tc>
                <a:tc>
                  <a:txBody>
                    <a:bodyPr/>
                    <a:lstStyle/>
                    <a:p>
                      <a:pPr algn="ctr"/>
                      <a:r>
                        <a:rPr sz="2250" b="1">
                          <a:solidFill>
                            <a:srgbClr val="151515"/>
                          </a:solidFill>
                          <a:latin typeface="Malgun Gothic" panose="020B0503020000020004" pitchFamily="50" charset="-127"/>
                        </a:rPr>
                        <a:t>6</a:t>
                      </a:r>
                    </a:p>
                  </a:txBody>
                  <a:tcPr>
                    <a:solidFill>
                      <a:srgbClr val="FDE5B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571CC074-534B-427F-9358-D74C9EAADE15}"/>
              </a:ext>
            </a:extLst>
          </p:cNvPr>
          <p:cNvSpPr>
            <a:spLocks noGrp="1"/>
          </p:cNvSpPr>
          <p:nvPr/>
        </p:nvSpPr>
        <p:spPr>
          <a:xfrm>
            <a:off x="1809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0</a:t>
            </a:r>
          </a:p>
        </p:txBody>
      </p:sp>
      <p:sp>
        <p:nvSpPr>
          <p:cNvPr id="8" name="직사각형 7">
            <a:extLst>
              <a:ext uri="{FF2B5EF4-FFF2-40B4-BE49-F238E27FC236}">
                <a16:creationId xmlns:a16="http://schemas.microsoft.com/office/drawing/2014/main" id="{AD74B7E2-4554-40A0-A613-BFDFB951B7C6}"/>
              </a:ext>
            </a:extLst>
          </p:cNvPr>
          <p:cNvSpPr>
            <a:spLocks noGrp="1"/>
          </p:cNvSpPr>
          <p:nvPr/>
        </p:nvSpPr>
        <p:spPr>
          <a:xfrm>
            <a:off x="28765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1</a:t>
            </a:r>
          </a:p>
        </p:txBody>
      </p:sp>
      <p:sp>
        <p:nvSpPr>
          <p:cNvPr id="9" name="직사각형 8">
            <a:extLst>
              <a:ext uri="{FF2B5EF4-FFF2-40B4-BE49-F238E27FC236}">
                <a16:creationId xmlns:a16="http://schemas.microsoft.com/office/drawing/2014/main" id="{81D85A5F-99EC-44B7-BD28-2BE79FBEE675}"/>
              </a:ext>
            </a:extLst>
          </p:cNvPr>
          <p:cNvSpPr>
            <a:spLocks noGrp="1"/>
          </p:cNvSpPr>
          <p:nvPr/>
        </p:nvSpPr>
        <p:spPr>
          <a:xfrm>
            <a:off x="39433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2</a:t>
            </a:r>
          </a:p>
        </p:txBody>
      </p:sp>
      <p:sp>
        <p:nvSpPr>
          <p:cNvPr id="10" name="직사각형 9">
            <a:extLst>
              <a:ext uri="{FF2B5EF4-FFF2-40B4-BE49-F238E27FC236}">
                <a16:creationId xmlns:a16="http://schemas.microsoft.com/office/drawing/2014/main" id="{D2CECE68-EFD3-4A3E-B648-9A604421217D}"/>
              </a:ext>
            </a:extLst>
          </p:cNvPr>
          <p:cNvSpPr>
            <a:spLocks noGrp="1"/>
          </p:cNvSpPr>
          <p:nvPr/>
        </p:nvSpPr>
        <p:spPr>
          <a:xfrm>
            <a:off x="39433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R</a:t>
            </a:r>
          </a:p>
        </p:txBody>
      </p:sp>
      <p:sp>
        <p:nvSpPr>
          <p:cNvPr id="11" name="직사각형 10">
            <a:extLst>
              <a:ext uri="{FF2B5EF4-FFF2-40B4-BE49-F238E27FC236}">
                <a16:creationId xmlns:a16="http://schemas.microsoft.com/office/drawing/2014/main" id="{095681F6-2F7A-4F5A-80D9-BC1A7451C96E}"/>
              </a:ext>
            </a:extLst>
          </p:cNvPr>
          <p:cNvSpPr>
            <a:spLocks noGrp="1"/>
          </p:cNvSpPr>
          <p:nvPr/>
        </p:nvSpPr>
        <p:spPr>
          <a:xfrm>
            <a:off x="50101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3</a:t>
            </a:r>
          </a:p>
        </p:txBody>
      </p:sp>
      <p:sp>
        <p:nvSpPr>
          <p:cNvPr id="12" name="직사각형 11">
            <a:extLst>
              <a:ext uri="{FF2B5EF4-FFF2-40B4-BE49-F238E27FC236}">
                <a16:creationId xmlns:a16="http://schemas.microsoft.com/office/drawing/2014/main" id="{B73C56A3-2A21-4144-89EE-D8B2338506BF}"/>
              </a:ext>
            </a:extLst>
          </p:cNvPr>
          <p:cNvSpPr>
            <a:spLocks noGrp="1"/>
          </p:cNvSpPr>
          <p:nvPr/>
        </p:nvSpPr>
        <p:spPr>
          <a:xfrm>
            <a:off x="50101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L</a:t>
            </a:r>
          </a:p>
        </p:txBody>
      </p:sp>
      <p:sp>
        <p:nvSpPr>
          <p:cNvPr id="13" name="직사각형 12">
            <a:extLst>
              <a:ext uri="{FF2B5EF4-FFF2-40B4-BE49-F238E27FC236}">
                <a16:creationId xmlns:a16="http://schemas.microsoft.com/office/drawing/2014/main" id="{13D9355C-7C46-46F3-840A-1F97F51733C0}"/>
              </a:ext>
            </a:extLst>
          </p:cNvPr>
          <p:cNvSpPr>
            <a:spLocks noGrp="1"/>
          </p:cNvSpPr>
          <p:nvPr/>
        </p:nvSpPr>
        <p:spPr>
          <a:xfrm>
            <a:off x="60769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a:t>
            </a:r>
          </a:p>
        </p:txBody>
      </p:sp>
      <p:sp>
        <p:nvSpPr>
          <p:cNvPr id="14" name="직사각형 13">
            <a:extLst>
              <a:ext uri="{FF2B5EF4-FFF2-40B4-BE49-F238E27FC236}">
                <a16:creationId xmlns:a16="http://schemas.microsoft.com/office/drawing/2014/main" id="{7C15766B-8B14-4114-86DE-DA5ECE1B52E1}"/>
              </a:ext>
            </a:extLst>
          </p:cNvPr>
          <p:cNvSpPr>
            <a:spLocks noGrp="1"/>
          </p:cNvSpPr>
          <p:nvPr/>
        </p:nvSpPr>
        <p:spPr>
          <a:xfrm>
            <a:off x="7143750" y="3467100"/>
            <a:ext cx="1066800" cy="1905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5</a:t>
            </a:r>
          </a:p>
        </p:txBody>
      </p:sp>
      <p:sp>
        <p:nvSpPr>
          <p:cNvPr id="15" name="직사각형 14">
            <a:extLst>
              <a:ext uri="{FF2B5EF4-FFF2-40B4-BE49-F238E27FC236}">
                <a16:creationId xmlns:a16="http://schemas.microsoft.com/office/drawing/2014/main" id="{EABF22A9-FA71-4599-9A07-77DB45669EA7}"/>
              </a:ext>
            </a:extLst>
          </p:cNvPr>
          <p:cNvSpPr>
            <a:spLocks noGrp="1"/>
          </p:cNvSpPr>
          <p:nvPr/>
        </p:nvSpPr>
        <p:spPr>
          <a:xfrm>
            <a:off x="7143750" y="3657600"/>
            <a:ext cx="1066800" cy="285750"/>
          </a:xfrm>
          <a:prstGeom prst="rect">
            <a:avLst/>
          </a:prstGeom>
          <a:noFill/>
          <a:ln w="0">
            <a:noFill/>
          </a:ln>
        </p:spPr>
        <p:txBody>
          <a:bodyPr/>
          <a:lstStyle>
            <a:defPPr>
              <a:defRPr sz="1800" b="1">
                <a:solidFill>
                  <a:srgbClr val="151515"/>
                </a:solidFill>
              </a:defRPr>
            </a:defPPr>
          </a:lstStyle>
          <a:p>
            <a:pPr>
              <a:defRPr sz="1800" b="1">
                <a:solidFill>
                  <a:srgbClr val="151515"/>
                </a:solidFill>
              </a:defRPr>
            </a:pPr>
            <a:r>
              <a:rPr sz="1800" b="1">
                <a:solidFill>
                  <a:srgbClr val="151515"/>
                </a:solidFill>
                <a:latin typeface="Malgun Gothic" panose="020B0503020000020004" pitchFamily="50" charset="-127"/>
              </a:rPr>
              <a:t>↑ pivot</a:t>
            </a:r>
          </a:p>
        </p:txBody>
      </p:sp>
      <p:sp>
        <p:nvSpPr>
          <p:cNvPr id="16" name="직사각형 15">
            <a:extLst>
              <a:ext uri="{FF2B5EF4-FFF2-40B4-BE49-F238E27FC236}">
                <a16:creationId xmlns:a16="http://schemas.microsoft.com/office/drawing/2014/main" id="{FA5F1B7D-2312-4B38-9528-D26F468ADCE8}"/>
              </a:ext>
            </a:extLst>
          </p:cNvPr>
          <p:cNvSpPr>
            <a:spLocks noGrp="1"/>
          </p:cNvSpPr>
          <p:nvPr/>
        </p:nvSpPr>
        <p:spPr>
          <a:xfrm>
            <a:off x="609600" y="6286500"/>
            <a:ext cx="10972800" cy="228600"/>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한 페이지씩 넘기며 화살표 위치와 바뀐 값을 비교하세요.</a:t>
            </a:r>
          </a:p>
        </p:txBody>
      </p:sp>
      <p:sp>
        <p:nvSpPr>
          <p:cNvPr id="17" name="직사각형 16">
            <a:extLst>
              <a:ext uri="{FF2B5EF4-FFF2-40B4-BE49-F238E27FC236}">
                <a16:creationId xmlns:a16="http://schemas.microsoft.com/office/drawing/2014/main" id="{8BAECFA2-C747-4456-B207-7560375C92DA}"/>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8" name="직사각형 17">
            <a:extLst>
              <a:ext uri="{FF2B5EF4-FFF2-40B4-BE49-F238E27FC236}">
                <a16:creationId xmlns:a16="http://schemas.microsoft.com/office/drawing/2014/main" id="{48AAB0F7-D72A-42A1-9A5D-0A1A1606F603}"/>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58</a:t>
            </a:r>
            <a:endParaRPr sz="1050" b="0">
              <a:solidFill>
                <a:srgbClr val="151515"/>
              </a:solidFill>
              <a:latin typeface="Consolas" panose="020B0609020204030204" pitchFamily="49" charset="0"/>
            </a:endParaRPr>
          </a:p>
        </p:txBody>
      </p:sp>
      <p:cxnSp>
        <p:nvCxnSpPr>
          <p:cNvPr id="20" name="직선 연결선 19">
            <a:extLst>
              <a:ext uri="{FF2B5EF4-FFF2-40B4-BE49-F238E27FC236}">
                <a16:creationId xmlns:a16="http://schemas.microsoft.com/office/drawing/2014/main" id="{27D0A086-FF03-F2DF-91C9-997123C0803C}"/>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6969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ection">
            <a:extLst>
              <a:ext uri="{FF2B5EF4-FFF2-40B4-BE49-F238E27FC236}">
                <a16:creationId xmlns:a16="http://schemas.microsoft.com/office/drawing/2014/main" id="{84FA6A66-0C75-412B-A7D7-70C46C6B7F6B}"/>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AAABB25B-2ADC-48FE-837E-94056C7509F3}"/>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05A8C20C-21E1-43E2-B0DE-B201C05A7862}"/>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⑧ 피벗을 두 구간 사이에 놓는 교환</a:t>
            </a:r>
          </a:p>
        </p:txBody>
      </p:sp>
      <p:sp>
        <p:nvSpPr>
          <p:cNvPr id="4" name="직사각형 3">
            <a:extLst>
              <a:ext uri="{FF2B5EF4-FFF2-40B4-BE49-F238E27FC236}">
                <a16:creationId xmlns:a16="http://schemas.microsoft.com/office/drawing/2014/main" id="{A1B17120-8BDB-4F83-B98E-B1F88D291778}"/>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7B6EB386-58A2-49AA-814C-998E5A9CF0E7}"/>
              </a:ext>
            </a:extLst>
          </p:cNvPr>
          <p:cNvSpPr>
            <a:spLocks noGrp="1"/>
          </p:cNvSpPr>
          <p:nvPr/>
        </p:nvSpPr>
        <p:spPr>
          <a:xfrm>
            <a:off x="609600" y="1638300"/>
            <a:ext cx="10972800" cy="95250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 = 3, R = 2로 교차했습니다. L은 큰 값 구간의 첫 칸입니다.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그 칸의 8과 맨 끝 피벗 6을 교환합니다. 피벗의 최종 위치는 3입니다.</a:t>
            </a:r>
          </a:p>
        </p:txBody>
      </p:sp>
      <p:sp>
        <p:nvSpPr>
          <p:cNvPr id="6" name="footer">
            <a:extLst>
              <a:ext uri="{FF2B5EF4-FFF2-40B4-BE49-F238E27FC236}">
                <a16:creationId xmlns:a16="http://schemas.microsoft.com/office/drawing/2014/main" id="{36C2D372-D692-487E-BC47-D9DFDE820F7B}"/>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7" name="page">
            <a:extLst>
              <a:ext uri="{FF2B5EF4-FFF2-40B4-BE49-F238E27FC236}">
                <a16:creationId xmlns:a16="http://schemas.microsoft.com/office/drawing/2014/main" id="{63850092-E791-45F6-B803-4CD8DB667BCA}"/>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59</a:t>
            </a:r>
            <a:endParaRPr sz="1050" b="0">
              <a:solidFill>
                <a:srgbClr val="151515"/>
              </a:solidFill>
              <a:latin typeface="Consolas"/>
              <a:ea typeface="Consolas"/>
              <a:cs typeface="Consolas"/>
            </a:endParaRPr>
          </a:p>
        </p:txBody>
      </p:sp>
      <p:sp>
        <p:nvSpPr>
          <p:cNvPr id="8" name="finish-code">
            <a:extLst>
              <a:ext uri="{FF2B5EF4-FFF2-40B4-BE49-F238E27FC236}">
                <a16:creationId xmlns:a16="http://schemas.microsoft.com/office/drawing/2014/main" id="{632FAEEE-3AB7-432C-ABBD-706E8F20C6EE}"/>
              </a:ext>
            </a:extLst>
          </p:cNvPr>
          <p:cNvSpPr>
            <a:spLocks noGrp="1"/>
          </p:cNvSpPr>
          <p:nvPr/>
        </p:nvSpPr>
        <p:spPr>
          <a:xfrm>
            <a:off x="1809750" y="2438400"/>
            <a:ext cx="9772650" cy="342900"/>
          </a:xfrm>
          <a:prstGeom prst="rect">
            <a:avLst/>
          </a:prstGeom>
          <a:noFill/>
          <a:ln w="0">
            <a:noFill/>
          </a:ln>
        </p:spPr>
        <p:txBody>
          <a:bodyPr wrap="none" lIns="0" tIns="0" rIns="0" bIns="0" anchor="t">
            <a:noAutofit/>
          </a:bodyPr>
          <a:lstStyle>
            <a:defPPr algn="l">
              <a:defRPr sz="1800" b="0">
                <a:solidFill>
                  <a:srgbClr val="151515"/>
                </a:solidFill>
                <a:latin typeface="Consolas"/>
                <a:ea typeface="Consolas"/>
                <a:cs typeface="Consolas"/>
              </a:defRPr>
            </a:defPPr>
          </a:lstStyle>
          <a:p>
            <a:pPr algn="l">
              <a:lnSpc>
                <a:spcPct val="106000"/>
              </a:lnSpc>
              <a:buNone/>
              <a:defRPr sz="1800" b="0">
                <a:solidFill>
                  <a:srgbClr val="151515"/>
                </a:solidFill>
                <a:latin typeface="Consolas"/>
                <a:ea typeface="Consolas"/>
                <a:cs typeface="Consolas"/>
              </a:defRPr>
            </a:pPr>
            <a:r>
              <a:rPr sz="1800" b="0">
                <a:solidFill>
                  <a:srgbClr val="151515"/>
                </a:solidFill>
                <a:latin typeface="Consolas"/>
                <a:ea typeface="Consolas"/>
                <a:cs typeface="Consolas"/>
              </a:rPr>
              <a:t>a[L], a[hi] = a[hi], a[L]</a:t>
            </a:r>
          </a:p>
        </p:txBody>
      </p:sp>
      <p:sp>
        <p:nvSpPr>
          <p:cNvPr id="9" name="finish-before-label">
            <a:extLst>
              <a:ext uri="{FF2B5EF4-FFF2-40B4-BE49-F238E27FC236}">
                <a16:creationId xmlns:a16="http://schemas.microsoft.com/office/drawing/2014/main" id="{DE58ACAF-0423-446C-B350-AD2817D3EB55}"/>
              </a:ext>
            </a:extLst>
          </p:cNvPr>
          <p:cNvSpPr>
            <a:spLocks noGrp="1"/>
          </p:cNvSpPr>
          <p:nvPr/>
        </p:nvSpPr>
        <p:spPr>
          <a:xfrm>
            <a:off x="609600" y="31718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전</a:t>
            </a:r>
          </a:p>
        </p:txBody>
      </p:sp>
      <p:graphicFrame>
        <p:nvGraphicFramePr>
          <p:cNvPr id="10" name="표 9">
            <a:extLst>
              <a:ext uri="{FF2B5EF4-FFF2-40B4-BE49-F238E27FC236}">
                <a16:creationId xmlns:a16="http://schemas.microsoft.com/office/drawing/2014/main" id="{1F029646-9D78-4A21-8265-C8EFCE2C11FA}"/>
              </a:ext>
            </a:extLst>
          </p:cNvPr>
          <p:cNvGraphicFramePr/>
          <p:nvPr/>
        </p:nvGraphicFramePr>
        <p:xfrm>
          <a:off x="1809750" y="30003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F6F6F6"/>
                    </a:solidFill>
                  </a:tcPr>
                </a:tc>
                <a:tc>
                  <a:txBody>
                    <a:bodyPr/>
                    <a:lstStyle/>
                    <a:p>
                      <a:pPr algn="ctr"/>
                      <a:r>
                        <a:rPr sz="2475" b="1">
                          <a:solidFill>
                            <a:srgbClr val="151515"/>
                          </a:solidFill>
                          <a:latin typeface="Consolas"/>
                          <a:ea typeface="Consolas"/>
                          <a:cs typeface="Consolas"/>
                        </a:rPr>
                        <a:t>4</a:t>
                      </a:r>
                    </a:p>
                  </a:txBody>
                  <a:tcPr anchor="ctr">
                    <a:solidFill>
                      <a:srgbClr val="F6F6F6"/>
                    </a:solidFill>
                  </a:tcPr>
                </a:tc>
                <a:tc>
                  <a:txBody>
                    <a:bodyPr/>
                    <a:lstStyle/>
                    <a:p>
                      <a:pPr algn="ctr"/>
                      <a:r>
                        <a:rPr sz="2475" b="1">
                          <a:solidFill>
                            <a:srgbClr val="151515"/>
                          </a:solidFill>
                          <a:latin typeface="Consolas"/>
                          <a:ea typeface="Consolas"/>
                          <a:cs typeface="Consolas"/>
                        </a:rPr>
                        <a:t>1</a:t>
                      </a:r>
                    </a:p>
                  </a:txBody>
                  <a:tcPr anchor="ctr">
                    <a:solidFill>
                      <a:srgbClr val="DDEFE6"/>
                    </a:solidFill>
                  </a:tcPr>
                </a:tc>
                <a:tc>
                  <a:txBody>
                    <a:bodyPr/>
                    <a:lstStyle/>
                    <a:p>
                      <a:pPr algn="ctr"/>
                      <a:r>
                        <a:rPr sz="2475" b="1">
                          <a:solidFill>
                            <a:srgbClr val="151515"/>
                          </a:solidFill>
                          <a:latin typeface="Consolas"/>
                          <a:ea typeface="Consolas"/>
                          <a:cs typeface="Consolas"/>
                        </a:rPr>
                        <a:t>8</a:t>
                      </a:r>
                    </a:p>
                  </a:txBody>
                  <a:tcPr anchor="ctr">
                    <a:solidFill>
                      <a:srgbClr val="DCECFB"/>
                    </a:solidFill>
                  </a:tcPr>
                </a:tc>
                <a:tc>
                  <a:txBody>
                    <a:bodyPr/>
                    <a:lstStyle/>
                    <a:p>
                      <a:pPr algn="ctr"/>
                      <a:r>
                        <a:rPr sz="2475" b="1">
                          <a:solidFill>
                            <a:srgbClr val="151515"/>
                          </a:solidFill>
                          <a:latin typeface="Consolas"/>
                          <a:ea typeface="Consolas"/>
                          <a:cs typeface="Consolas"/>
                        </a:rPr>
                        <a:t>7</a:t>
                      </a:r>
                    </a:p>
                  </a:txBody>
                  <a:tcPr anchor="ctr">
                    <a:solidFill>
                      <a:srgbClr val="F6F6F6"/>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extLst>
                  <a:ext uri="{0D108BD9-81ED-4DB2-BD59-A6C34878D82A}">
                    <a16:rowId xmlns:a16="http://schemas.microsoft.com/office/drawing/2014/main" val="10000"/>
                  </a:ext>
                </a:extLst>
              </a:tr>
            </a:tbl>
          </a:graphicData>
        </a:graphic>
      </p:graphicFrame>
      <p:sp>
        <p:nvSpPr>
          <p:cNvPr id="11" name="finish-before-index-0">
            <a:extLst>
              <a:ext uri="{FF2B5EF4-FFF2-40B4-BE49-F238E27FC236}">
                <a16:creationId xmlns:a16="http://schemas.microsoft.com/office/drawing/2014/main" id="{84B36DCD-8CED-40C6-A19E-5D6745006C1C}"/>
              </a:ext>
            </a:extLst>
          </p:cNvPr>
          <p:cNvSpPr>
            <a:spLocks noGrp="1"/>
          </p:cNvSpPr>
          <p:nvPr/>
        </p:nvSpPr>
        <p:spPr>
          <a:xfrm>
            <a:off x="1809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2" name="finish-before-index-1">
            <a:extLst>
              <a:ext uri="{FF2B5EF4-FFF2-40B4-BE49-F238E27FC236}">
                <a16:creationId xmlns:a16="http://schemas.microsoft.com/office/drawing/2014/main" id="{9C549C43-DD12-4D18-BEDF-91349D814CA7}"/>
              </a:ext>
            </a:extLst>
          </p:cNvPr>
          <p:cNvSpPr>
            <a:spLocks noGrp="1"/>
          </p:cNvSpPr>
          <p:nvPr/>
        </p:nvSpPr>
        <p:spPr>
          <a:xfrm>
            <a:off x="31813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3" name="finish-before-index-2">
            <a:extLst>
              <a:ext uri="{FF2B5EF4-FFF2-40B4-BE49-F238E27FC236}">
                <a16:creationId xmlns:a16="http://schemas.microsoft.com/office/drawing/2014/main" id="{878F4C34-9FC5-46A9-AED9-9A4B5857ADB3}"/>
              </a:ext>
            </a:extLst>
          </p:cNvPr>
          <p:cNvSpPr>
            <a:spLocks noGrp="1"/>
          </p:cNvSpPr>
          <p:nvPr/>
        </p:nvSpPr>
        <p:spPr>
          <a:xfrm>
            <a:off x="45529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4" name="finish-before-pointer-2">
            <a:extLst>
              <a:ext uri="{FF2B5EF4-FFF2-40B4-BE49-F238E27FC236}">
                <a16:creationId xmlns:a16="http://schemas.microsoft.com/office/drawing/2014/main" id="{E3E919BB-1050-4571-A747-A57732B705CE}"/>
              </a:ext>
            </a:extLst>
          </p:cNvPr>
          <p:cNvSpPr>
            <a:spLocks noGrp="1"/>
          </p:cNvSpPr>
          <p:nvPr/>
        </p:nvSpPr>
        <p:spPr>
          <a:xfrm>
            <a:off x="4552950" y="3867150"/>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5" name="finish-before-index-3">
            <a:extLst>
              <a:ext uri="{FF2B5EF4-FFF2-40B4-BE49-F238E27FC236}">
                <a16:creationId xmlns:a16="http://schemas.microsoft.com/office/drawing/2014/main" id="{283AAC60-D028-40C7-B574-8720069C0A49}"/>
              </a:ext>
            </a:extLst>
          </p:cNvPr>
          <p:cNvSpPr>
            <a:spLocks noGrp="1"/>
          </p:cNvSpPr>
          <p:nvPr/>
        </p:nvSpPr>
        <p:spPr>
          <a:xfrm>
            <a:off x="59245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6" name="finish-before-pointer-3">
            <a:extLst>
              <a:ext uri="{FF2B5EF4-FFF2-40B4-BE49-F238E27FC236}">
                <a16:creationId xmlns:a16="http://schemas.microsoft.com/office/drawing/2014/main" id="{7931A72D-F083-4996-9FD9-72CBC65E9B07}"/>
              </a:ext>
            </a:extLst>
          </p:cNvPr>
          <p:cNvSpPr>
            <a:spLocks noGrp="1"/>
          </p:cNvSpPr>
          <p:nvPr/>
        </p:nvSpPr>
        <p:spPr>
          <a:xfrm>
            <a:off x="5924550" y="3867150"/>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7" name="finish-before-index-4">
            <a:extLst>
              <a:ext uri="{FF2B5EF4-FFF2-40B4-BE49-F238E27FC236}">
                <a16:creationId xmlns:a16="http://schemas.microsoft.com/office/drawing/2014/main" id="{5A72BAF5-05DE-4697-93E8-9096CE2EA90E}"/>
              </a:ext>
            </a:extLst>
          </p:cNvPr>
          <p:cNvSpPr>
            <a:spLocks noGrp="1"/>
          </p:cNvSpPr>
          <p:nvPr/>
        </p:nvSpPr>
        <p:spPr>
          <a:xfrm>
            <a:off x="72961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8" name="finish-before-index-5">
            <a:extLst>
              <a:ext uri="{FF2B5EF4-FFF2-40B4-BE49-F238E27FC236}">
                <a16:creationId xmlns:a16="http://schemas.microsoft.com/office/drawing/2014/main" id="{ECCA4909-7182-4C0C-8FF5-C99A18BCE230}"/>
              </a:ext>
            </a:extLst>
          </p:cNvPr>
          <p:cNvSpPr>
            <a:spLocks noGrp="1"/>
          </p:cNvSpPr>
          <p:nvPr/>
        </p:nvSpPr>
        <p:spPr>
          <a:xfrm>
            <a:off x="8667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9" name="finish-before-pointer-5">
            <a:extLst>
              <a:ext uri="{FF2B5EF4-FFF2-40B4-BE49-F238E27FC236}">
                <a16:creationId xmlns:a16="http://schemas.microsoft.com/office/drawing/2014/main" id="{45E01680-B801-4D8B-9CE2-F6CBDF1AFC61}"/>
              </a:ext>
            </a:extLst>
          </p:cNvPr>
          <p:cNvSpPr>
            <a:spLocks noGrp="1"/>
          </p:cNvSpPr>
          <p:nvPr/>
        </p:nvSpPr>
        <p:spPr>
          <a:xfrm>
            <a:off x="8667750" y="38671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20" name="finish-after-label">
            <a:extLst>
              <a:ext uri="{FF2B5EF4-FFF2-40B4-BE49-F238E27FC236}">
                <a16:creationId xmlns:a16="http://schemas.microsoft.com/office/drawing/2014/main" id="{834BD7FF-022E-4DE0-AC33-315C4A2628F9}"/>
              </a:ext>
            </a:extLst>
          </p:cNvPr>
          <p:cNvSpPr>
            <a:spLocks noGrp="1"/>
          </p:cNvSpPr>
          <p:nvPr/>
        </p:nvSpPr>
        <p:spPr>
          <a:xfrm>
            <a:off x="609600" y="48863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후</a:t>
            </a:r>
          </a:p>
        </p:txBody>
      </p:sp>
      <p:graphicFrame>
        <p:nvGraphicFramePr>
          <p:cNvPr id="21" name="표 20">
            <a:extLst>
              <a:ext uri="{FF2B5EF4-FFF2-40B4-BE49-F238E27FC236}">
                <a16:creationId xmlns:a16="http://schemas.microsoft.com/office/drawing/2014/main" id="{E17C060C-81FA-4AB4-B6D1-C75DE96D0B8F}"/>
              </a:ext>
            </a:extLst>
          </p:cNvPr>
          <p:cNvGraphicFramePr/>
          <p:nvPr/>
        </p:nvGraphicFramePr>
        <p:xfrm>
          <a:off x="1809750" y="47148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4</a:t>
                      </a:r>
                    </a:p>
                  </a:txBody>
                  <a:tcPr anchor="ctr">
                    <a:solidFill>
                      <a:srgbClr val="DCECFB"/>
                    </a:solidFill>
                  </a:tcPr>
                </a:tc>
                <a:tc>
                  <a:txBody>
                    <a:bodyPr/>
                    <a:lstStyle/>
                    <a:p>
                      <a:pPr algn="ctr"/>
                      <a:r>
                        <a:rPr sz="2475" b="1">
                          <a:solidFill>
                            <a:srgbClr val="151515"/>
                          </a:solidFill>
                          <a:latin typeface="Consolas"/>
                          <a:ea typeface="Consolas"/>
                          <a:cs typeface="Consolas"/>
                        </a:rPr>
                        <a:t>1</a:t>
                      </a:r>
                    </a:p>
                  </a:txBody>
                  <a:tcPr anchor="ctr">
                    <a:solidFill>
                      <a:srgbClr val="DCECFB"/>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tc>
                  <a:txBody>
                    <a:bodyPr/>
                    <a:lstStyle/>
                    <a:p>
                      <a:pPr algn="ctr"/>
                      <a:r>
                        <a:rPr sz="2475" b="1">
                          <a:solidFill>
                            <a:srgbClr val="151515"/>
                          </a:solidFill>
                          <a:latin typeface="Consolas"/>
                          <a:ea typeface="Consolas"/>
                          <a:cs typeface="Consolas"/>
                        </a:rPr>
                        <a:t>7</a:t>
                      </a:r>
                    </a:p>
                  </a:txBody>
                  <a:tcPr anchor="ctr">
                    <a:solidFill>
                      <a:srgbClr val="DDEFE6"/>
                    </a:solidFill>
                  </a:tcPr>
                </a:tc>
                <a:tc>
                  <a:txBody>
                    <a:bodyPr/>
                    <a:lstStyle/>
                    <a:p>
                      <a:pPr algn="ctr"/>
                      <a:r>
                        <a:rPr sz="2475" b="1">
                          <a:solidFill>
                            <a:srgbClr val="151515"/>
                          </a:solidFill>
                          <a:latin typeface="Consolas"/>
                          <a:ea typeface="Consolas"/>
                          <a:cs typeface="Consolas"/>
                        </a:rPr>
                        <a:t>8</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22" name="finish-after-index-0">
            <a:extLst>
              <a:ext uri="{FF2B5EF4-FFF2-40B4-BE49-F238E27FC236}">
                <a16:creationId xmlns:a16="http://schemas.microsoft.com/office/drawing/2014/main" id="{0948BCA8-8199-4277-A601-B153C71361B0}"/>
              </a:ext>
            </a:extLst>
          </p:cNvPr>
          <p:cNvSpPr>
            <a:spLocks noGrp="1"/>
          </p:cNvSpPr>
          <p:nvPr/>
        </p:nvSpPr>
        <p:spPr>
          <a:xfrm>
            <a:off x="1809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23" name="finish-after-index-1">
            <a:extLst>
              <a:ext uri="{FF2B5EF4-FFF2-40B4-BE49-F238E27FC236}">
                <a16:creationId xmlns:a16="http://schemas.microsoft.com/office/drawing/2014/main" id="{CC3561E4-E0E6-4B7E-A600-6EB14E8A397C}"/>
              </a:ext>
            </a:extLst>
          </p:cNvPr>
          <p:cNvSpPr>
            <a:spLocks noGrp="1"/>
          </p:cNvSpPr>
          <p:nvPr/>
        </p:nvSpPr>
        <p:spPr>
          <a:xfrm>
            <a:off x="31813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24" name="finish-after-index-2">
            <a:extLst>
              <a:ext uri="{FF2B5EF4-FFF2-40B4-BE49-F238E27FC236}">
                <a16:creationId xmlns:a16="http://schemas.microsoft.com/office/drawing/2014/main" id="{ED3551EB-2AC2-4817-9494-93DB79BB03C1}"/>
              </a:ext>
            </a:extLst>
          </p:cNvPr>
          <p:cNvSpPr>
            <a:spLocks noGrp="1"/>
          </p:cNvSpPr>
          <p:nvPr/>
        </p:nvSpPr>
        <p:spPr>
          <a:xfrm>
            <a:off x="45529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25" name="finish-after-index-3">
            <a:extLst>
              <a:ext uri="{FF2B5EF4-FFF2-40B4-BE49-F238E27FC236}">
                <a16:creationId xmlns:a16="http://schemas.microsoft.com/office/drawing/2014/main" id="{F457C119-EA2B-4321-B8E9-37BC095035FA}"/>
              </a:ext>
            </a:extLst>
          </p:cNvPr>
          <p:cNvSpPr>
            <a:spLocks noGrp="1"/>
          </p:cNvSpPr>
          <p:nvPr/>
        </p:nvSpPr>
        <p:spPr>
          <a:xfrm>
            <a:off x="59245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26" name="finish-after-pointer-3">
            <a:extLst>
              <a:ext uri="{FF2B5EF4-FFF2-40B4-BE49-F238E27FC236}">
                <a16:creationId xmlns:a16="http://schemas.microsoft.com/office/drawing/2014/main" id="{AEB2C90C-866F-4308-A596-3B044E840234}"/>
              </a:ext>
            </a:extLst>
          </p:cNvPr>
          <p:cNvSpPr>
            <a:spLocks noGrp="1"/>
          </p:cNvSpPr>
          <p:nvPr/>
        </p:nvSpPr>
        <p:spPr>
          <a:xfrm>
            <a:off x="5924550" y="55816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27" name="finish-after-index-4">
            <a:extLst>
              <a:ext uri="{FF2B5EF4-FFF2-40B4-BE49-F238E27FC236}">
                <a16:creationId xmlns:a16="http://schemas.microsoft.com/office/drawing/2014/main" id="{A9460426-F9D4-4201-8D2B-8A681C30B0E5}"/>
              </a:ext>
            </a:extLst>
          </p:cNvPr>
          <p:cNvSpPr>
            <a:spLocks noGrp="1"/>
          </p:cNvSpPr>
          <p:nvPr/>
        </p:nvSpPr>
        <p:spPr>
          <a:xfrm>
            <a:off x="72961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28" name="finish-after-index-5">
            <a:extLst>
              <a:ext uri="{FF2B5EF4-FFF2-40B4-BE49-F238E27FC236}">
                <a16:creationId xmlns:a16="http://schemas.microsoft.com/office/drawing/2014/main" id="{AD28A13D-EAA0-469D-A428-DA1504CD792E}"/>
              </a:ext>
            </a:extLst>
          </p:cNvPr>
          <p:cNvSpPr>
            <a:spLocks noGrp="1"/>
          </p:cNvSpPr>
          <p:nvPr/>
        </p:nvSpPr>
        <p:spPr>
          <a:xfrm>
            <a:off x="8667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29" name="finish-range">
            <a:extLst>
              <a:ext uri="{FF2B5EF4-FFF2-40B4-BE49-F238E27FC236}">
                <a16:creationId xmlns:a16="http://schemas.microsoft.com/office/drawing/2014/main" id="{F7EB5374-0F69-4B1D-A992-BCE78079EE10}"/>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파랑: 6 이하인 왼쪽 구간     주황: 피벗 6     초록: 6보다 큰 오른쪽 구간</a:t>
            </a:r>
          </a:p>
        </p:txBody>
      </p:sp>
    </p:spTree>
    <p:extLst>
      <p:ext uri="{BB962C8B-B14F-4D97-AF65-F5344CB8AC3E}">
        <p14:creationId xmlns:p14="http://schemas.microsoft.com/office/powerpoint/2010/main" val="7019606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ection">
            <a:extLst>
              <a:ext uri="{FF2B5EF4-FFF2-40B4-BE49-F238E27FC236}">
                <a16:creationId xmlns:a16="http://schemas.microsoft.com/office/drawing/2014/main" id="{3DED2EE7-3764-4955-992E-032C5CC3D29B}"/>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3D8B0F5D-59D9-4DB7-B054-6E157CC9DB94}"/>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C1730B79-FFF1-4B6F-84F9-DD1AE1922579}"/>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다음 호출: 왼쪽 구간 0~2부터</a:t>
            </a:r>
          </a:p>
        </p:txBody>
      </p:sp>
      <p:sp>
        <p:nvSpPr>
          <p:cNvPr id="4" name="직사각형 3">
            <a:extLst>
              <a:ext uri="{FF2B5EF4-FFF2-40B4-BE49-F238E27FC236}">
                <a16:creationId xmlns:a16="http://schemas.microsoft.com/office/drawing/2014/main" id="{19C38582-DEB9-4724-8506-02DEA0E875FE}"/>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092E6855-8E30-4C24-802B-80E497A0D8DB}"/>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6의 위치 p = 3은 확정됐습니다. 다음 정렬에서 제외합니다.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[3,4,1]을 먼저 정렬하고, 그 호출이 끝나면 오른쪽 [7,8]을 정렬합니다.</a:t>
            </a:r>
          </a:p>
        </p:txBody>
      </p:sp>
      <p:sp>
        <p:nvSpPr>
          <p:cNvPr id="6" name="row-0-label">
            <a:extLst>
              <a:ext uri="{FF2B5EF4-FFF2-40B4-BE49-F238E27FC236}">
                <a16:creationId xmlns:a16="http://schemas.microsoft.com/office/drawing/2014/main" id="{90146053-F4BE-43DA-BE4C-E2446AD60D9A}"/>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00E63606-5933-4784-8FAC-D764C0D1461E}"/>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4</a:t>
                      </a:r>
                    </a:p>
                  </a:txBody>
                  <a:tcPr anchor="ctr">
                    <a:solidFill>
                      <a:srgbClr val="DCECFB"/>
                    </a:solidFill>
                  </a:tcPr>
                </a:tc>
                <a:tc>
                  <a:txBody>
                    <a:bodyPr/>
                    <a:lstStyle/>
                    <a:p>
                      <a:pPr algn="ctr"/>
                      <a:r>
                        <a:rPr sz="2475" b="1">
                          <a:solidFill>
                            <a:srgbClr val="151515"/>
                          </a:solidFill>
                          <a:latin typeface="Consolas"/>
                          <a:ea typeface="Consolas"/>
                          <a:cs typeface="Consolas"/>
                        </a:rPr>
                        <a:t>1</a:t>
                      </a:r>
                    </a:p>
                  </a:txBody>
                  <a:tcPr anchor="ctr">
                    <a:solidFill>
                      <a:srgbClr val="DCECFB"/>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tc>
                  <a:txBody>
                    <a:bodyPr/>
                    <a:lstStyle/>
                    <a:p>
                      <a:pPr algn="ctr"/>
                      <a:r>
                        <a:rPr sz="2475" b="1">
                          <a:solidFill>
                            <a:srgbClr val="151515"/>
                          </a:solidFill>
                          <a:latin typeface="Consolas"/>
                          <a:ea typeface="Consolas"/>
                          <a:cs typeface="Consolas"/>
                        </a:rPr>
                        <a:t>7</a:t>
                      </a:r>
                    </a:p>
                  </a:txBody>
                  <a:tcPr anchor="ctr">
                    <a:solidFill>
                      <a:srgbClr val="F6F6F6"/>
                    </a:solidFill>
                  </a:tcPr>
                </a:tc>
                <a:tc>
                  <a:txBody>
                    <a:bodyPr/>
                    <a:lstStyle/>
                    <a:p>
                      <a:pPr algn="ctr"/>
                      <a:r>
                        <a:rPr sz="2475" b="1">
                          <a:solidFill>
                            <a:srgbClr val="151515"/>
                          </a:solidFill>
                          <a:latin typeface="Consolas"/>
                          <a:ea typeface="Consolas"/>
                          <a:cs typeface="Consolas"/>
                        </a:rPr>
                        <a:t>8</a:t>
                      </a:r>
                    </a:p>
                  </a:txBody>
                  <a:tcPr anchor="ctr">
                    <a:solidFill>
                      <a:srgbClr val="F6F6F6"/>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0BF8A61B-3C7E-42A2-B508-CBE1FBF23BED}"/>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1CA0F840-9354-446B-9247-DFCBF242570D}"/>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FB5DBE11-D966-43BE-9523-23C2C1DBDB4C}"/>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E3A7A95B-DAAD-4312-BC03-92595C202749}"/>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pointer-3-0">
            <a:extLst>
              <a:ext uri="{FF2B5EF4-FFF2-40B4-BE49-F238E27FC236}">
                <a16:creationId xmlns:a16="http://schemas.microsoft.com/office/drawing/2014/main" id="{B1BB4F78-F96C-4086-A700-DE783AE33C3D}"/>
              </a:ext>
            </a:extLst>
          </p:cNvPr>
          <p:cNvSpPr>
            <a:spLocks noGrp="1"/>
          </p:cNvSpPr>
          <p:nvPr/>
        </p:nvSpPr>
        <p:spPr>
          <a:xfrm>
            <a:off x="59245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확정 6</a:t>
            </a:r>
          </a:p>
        </p:txBody>
      </p:sp>
      <p:sp>
        <p:nvSpPr>
          <p:cNvPr id="13" name="row-0-index-4">
            <a:extLst>
              <a:ext uri="{FF2B5EF4-FFF2-40B4-BE49-F238E27FC236}">
                <a16:creationId xmlns:a16="http://schemas.microsoft.com/office/drawing/2014/main" id="{9B24C669-7408-4B34-9FB8-F75B525E08B1}"/>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4" name="row-0-index-5">
            <a:extLst>
              <a:ext uri="{FF2B5EF4-FFF2-40B4-BE49-F238E27FC236}">
                <a16:creationId xmlns:a16="http://schemas.microsoft.com/office/drawing/2014/main" id="{BED33E5D-F51F-432F-BD0F-B3DB6462BAFC}"/>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5" name="code">
            <a:extLst>
              <a:ext uri="{FF2B5EF4-FFF2-40B4-BE49-F238E27FC236}">
                <a16:creationId xmlns:a16="http://schemas.microsoft.com/office/drawing/2014/main" id="{9DDBEBFF-F5EB-452B-A40C-76B70963880B}"/>
              </a:ext>
            </a:extLst>
          </p:cNvPr>
          <p:cNvSpPr>
            <a:spLocks noGrp="1"/>
          </p:cNvSpPr>
          <p:nvPr/>
        </p:nvSpPr>
        <p:spPr>
          <a:xfrm>
            <a:off x="1809750" y="5105400"/>
            <a:ext cx="9772650" cy="6858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0, 2)</a:t>
            </a:r>
          </a:p>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4, 5)</a:t>
            </a:r>
          </a:p>
        </p:txBody>
      </p:sp>
      <p:sp>
        <p:nvSpPr>
          <p:cNvPr id="16" name="caption">
            <a:extLst>
              <a:ext uri="{FF2B5EF4-FFF2-40B4-BE49-F238E27FC236}">
                <a16:creationId xmlns:a16="http://schemas.microsoft.com/office/drawing/2014/main" id="{E8922BEF-3327-4DE2-A982-78D6AEB999D8}"/>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먼저 왼쪽 호출을 끝냅니다. 오른쪽 호출은 그동안 기다립니다.</a:t>
            </a:r>
          </a:p>
        </p:txBody>
      </p:sp>
      <p:sp>
        <p:nvSpPr>
          <p:cNvPr id="17" name="footer">
            <a:extLst>
              <a:ext uri="{FF2B5EF4-FFF2-40B4-BE49-F238E27FC236}">
                <a16:creationId xmlns:a16="http://schemas.microsoft.com/office/drawing/2014/main" id="{45BD2160-5D22-4A39-AE9E-50F285DABF00}"/>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18" name="page">
            <a:extLst>
              <a:ext uri="{FF2B5EF4-FFF2-40B4-BE49-F238E27FC236}">
                <a16:creationId xmlns:a16="http://schemas.microsoft.com/office/drawing/2014/main" id="{FFABBEDD-A638-4F87-B9AC-F62439CE4D89}"/>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60</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2235291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ection">
            <a:extLst>
              <a:ext uri="{FF2B5EF4-FFF2-40B4-BE49-F238E27FC236}">
                <a16:creationId xmlns:a16="http://schemas.microsoft.com/office/drawing/2014/main" id="{E21245E3-0AE7-4C64-B1DA-C3AEFDA127D3}"/>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2FE050D6-DDF8-4170-BB58-4CE26DCF26FB}"/>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C5B5183A-C7AB-4C58-9109-3C24752C9A8A}"/>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왼쪽 [3,4,1]: 피벗 4의 이동</a:t>
            </a:r>
          </a:p>
        </p:txBody>
      </p:sp>
      <p:sp>
        <p:nvSpPr>
          <p:cNvPr id="4" name="직사각형 3">
            <a:extLst>
              <a:ext uri="{FF2B5EF4-FFF2-40B4-BE49-F238E27FC236}">
                <a16:creationId xmlns:a16="http://schemas.microsoft.com/office/drawing/2014/main" id="{FE1ADF83-B797-46F2-92F6-5C1E9E55CAAE}"/>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4B0C0F26-F0BF-429F-9BD1-5EC30EC4A1BC}"/>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lo = 0, hi = 2이므로 가운데 인덱스는 1입니다. 피벗은 a[1] = 4입니다.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4와 이 구간의 마지막 값 a[2] = 1을 교환합니다.</a:t>
            </a:r>
          </a:p>
        </p:txBody>
      </p:sp>
      <p:sp>
        <p:nvSpPr>
          <p:cNvPr id="6" name="row-0-label">
            <a:extLst>
              <a:ext uri="{FF2B5EF4-FFF2-40B4-BE49-F238E27FC236}">
                <a16:creationId xmlns:a16="http://schemas.microsoft.com/office/drawing/2014/main" id="{25146F28-CE2F-4421-ABC3-C422A8C69C91}"/>
              </a:ext>
            </a:extLst>
          </p:cNvPr>
          <p:cNvSpPr>
            <a:spLocks noGrp="1"/>
          </p:cNvSpPr>
          <p:nvPr/>
        </p:nvSpPr>
        <p:spPr>
          <a:xfrm>
            <a:off x="609600" y="31718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전</a:t>
            </a:r>
          </a:p>
        </p:txBody>
      </p:sp>
      <p:graphicFrame>
        <p:nvGraphicFramePr>
          <p:cNvPr id="7" name="표 6">
            <a:extLst>
              <a:ext uri="{FF2B5EF4-FFF2-40B4-BE49-F238E27FC236}">
                <a16:creationId xmlns:a16="http://schemas.microsoft.com/office/drawing/2014/main" id="{FD831311-282D-4BB6-910E-03AC683EE9F0}"/>
              </a:ext>
            </a:extLst>
          </p:cNvPr>
          <p:cNvGraphicFramePr/>
          <p:nvPr/>
        </p:nvGraphicFramePr>
        <p:xfrm>
          <a:off x="1809750" y="30003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4</a:t>
                      </a:r>
                    </a:p>
                  </a:txBody>
                  <a:tcPr anchor="ctr">
                    <a:solidFill>
                      <a:srgbClr val="FDE5BB"/>
                    </a:solidFill>
                  </a:tcPr>
                </a:tc>
                <a:tc>
                  <a:txBody>
                    <a:bodyPr/>
                    <a:lstStyle/>
                    <a:p>
                      <a:pPr algn="ctr"/>
                      <a:r>
                        <a:rPr sz="2475" b="1">
                          <a:solidFill>
                            <a:srgbClr val="151515"/>
                          </a:solidFill>
                          <a:latin typeface="Consolas"/>
                          <a:ea typeface="Consolas"/>
                          <a:cs typeface="Consolas"/>
                        </a:rPr>
                        <a:t>1</a:t>
                      </a:r>
                    </a:p>
                  </a:txBody>
                  <a:tcPr anchor="ctr">
                    <a:solidFill>
                      <a:srgbClr val="E7E7E7"/>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1B935837-76D0-468C-8B80-A996D06430AA}"/>
              </a:ext>
            </a:extLst>
          </p:cNvPr>
          <p:cNvSpPr>
            <a:spLocks noGrp="1"/>
          </p:cNvSpPr>
          <p:nvPr/>
        </p:nvSpPr>
        <p:spPr>
          <a:xfrm>
            <a:off x="1809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12E693EE-3541-4C81-A0C4-F6F084C52F10}"/>
              </a:ext>
            </a:extLst>
          </p:cNvPr>
          <p:cNvSpPr>
            <a:spLocks noGrp="1"/>
          </p:cNvSpPr>
          <p:nvPr/>
        </p:nvSpPr>
        <p:spPr>
          <a:xfrm>
            <a:off x="31813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pointer-1-0">
            <a:extLst>
              <a:ext uri="{FF2B5EF4-FFF2-40B4-BE49-F238E27FC236}">
                <a16:creationId xmlns:a16="http://schemas.microsoft.com/office/drawing/2014/main" id="{E9403CD5-F3BA-4C7F-8DB4-1F526584CE33}"/>
              </a:ext>
            </a:extLst>
          </p:cNvPr>
          <p:cNvSpPr>
            <a:spLocks noGrp="1"/>
          </p:cNvSpPr>
          <p:nvPr/>
        </p:nvSpPr>
        <p:spPr>
          <a:xfrm>
            <a:off x="3181350" y="38671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1" name="row-0-index-2">
            <a:extLst>
              <a:ext uri="{FF2B5EF4-FFF2-40B4-BE49-F238E27FC236}">
                <a16:creationId xmlns:a16="http://schemas.microsoft.com/office/drawing/2014/main" id="{5CAF7593-B86B-4219-9518-60C094307BE8}"/>
              </a:ext>
            </a:extLst>
          </p:cNvPr>
          <p:cNvSpPr>
            <a:spLocks noGrp="1"/>
          </p:cNvSpPr>
          <p:nvPr/>
        </p:nvSpPr>
        <p:spPr>
          <a:xfrm>
            <a:off x="45529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2" name="row-0-pointer-2-0">
            <a:extLst>
              <a:ext uri="{FF2B5EF4-FFF2-40B4-BE49-F238E27FC236}">
                <a16:creationId xmlns:a16="http://schemas.microsoft.com/office/drawing/2014/main" id="{68DEE73F-E1C2-4783-85D4-736E8628E7A4}"/>
              </a:ext>
            </a:extLst>
          </p:cNvPr>
          <p:cNvSpPr>
            <a:spLocks noGrp="1"/>
          </p:cNvSpPr>
          <p:nvPr/>
        </p:nvSpPr>
        <p:spPr>
          <a:xfrm>
            <a:off x="4552950" y="38671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13" name="row-0-index-3">
            <a:extLst>
              <a:ext uri="{FF2B5EF4-FFF2-40B4-BE49-F238E27FC236}">
                <a16:creationId xmlns:a16="http://schemas.microsoft.com/office/drawing/2014/main" id="{B38FFAE7-50CE-4AA0-B80B-A6AD76E0082E}"/>
              </a:ext>
            </a:extLst>
          </p:cNvPr>
          <p:cNvSpPr>
            <a:spLocks noGrp="1"/>
          </p:cNvSpPr>
          <p:nvPr/>
        </p:nvSpPr>
        <p:spPr>
          <a:xfrm>
            <a:off x="59245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4" name="row-0-index-4">
            <a:extLst>
              <a:ext uri="{FF2B5EF4-FFF2-40B4-BE49-F238E27FC236}">
                <a16:creationId xmlns:a16="http://schemas.microsoft.com/office/drawing/2014/main" id="{E707423F-7A1D-4176-B478-7FE63C30D22E}"/>
              </a:ext>
            </a:extLst>
          </p:cNvPr>
          <p:cNvSpPr>
            <a:spLocks noGrp="1"/>
          </p:cNvSpPr>
          <p:nvPr/>
        </p:nvSpPr>
        <p:spPr>
          <a:xfrm>
            <a:off x="72961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5" name="row-0-index-5">
            <a:extLst>
              <a:ext uri="{FF2B5EF4-FFF2-40B4-BE49-F238E27FC236}">
                <a16:creationId xmlns:a16="http://schemas.microsoft.com/office/drawing/2014/main" id="{BAD709A6-035A-4849-854D-3633FCC5A1C2}"/>
              </a:ext>
            </a:extLst>
          </p:cNvPr>
          <p:cNvSpPr>
            <a:spLocks noGrp="1"/>
          </p:cNvSpPr>
          <p:nvPr/>
        </p:nvSpPr>
        <p:spPr>
          <a:xfrm>
            <a:off x="8667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6" name="row-1-label">
            <a:extLst>
              <a:ext uri="{FF2B5EF4-FFF2-40B4-BE49-F238E27FC236}">
                <a16:creationId xmlns:a16="http://schemas.microsoft.com/office/drawing/2014/main" id="{17D4D3CF-3195-4C92-8FAE-0DCA190323AD}"/>
              </a:ext>
            </a:extLst>
          </p:cNvPr>
          <p:cNvSpPr>
            <a:spLocks noGrp="1"/>
          </p:cNvSpPr>
          <p:nvPr/>
        </p:nvSpPr>
        <p:spPr>
          <a:xfrm>
            <a:off x="609600" y="48863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후</a:t>
            </a:r>
          </a:p>
        </p:txBody>
      </p:sp>
      <p:graphicFrame>
        <p:nvGraphicFramePr>
          <p:cNvPr id="17" name="표 16">
            <a:extLst>
              <a:ext uri="{FF2B5EF4-FFF2-40B4-BE49-F238E27FC236}">
                <a16:creationId xmlns:a16="http://schemas.microsoft.com/office/drawing/2014/main" id="{FECA06A5-988A-4652-AECC-DB7D31328215}"/>
              </a:ext>
            </a:extLst>
          </p:cNvPr>
          <p:cNvGraphicFramePr/>
          <p:nvPr/>
        </p:nvGraphicFramePr>
        <p:xfrm>
          <a:off x="1809750" y="47148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1</a:t>
                      </a:r>
                    </a:p>
                  </a:txBody>
                  <a:tcPr anchor="ctr">
                    <a:solidFill>
                      <a:srgbClr val="E7E7E7"/>
                    </a:solidFill>
                  </a:tcPr>
                </a:tc>
                <a:tc>
                  <a:txBody>
                    <a:bodyPr/>
                    <a:lstStyle/>
                    <a:p>
                      <a:pPr algn="ctr"/>
                      <a:r>
                        <a:rPr sz="2475" b="1">
                          <a:solidFill>
                            <a:srgbClr val="151515"/>
                          </a:solidFill>
                          <a:latin typeface="Consolas"/>
                          <a:ea typeface="Consolas"/>
                          <a:cs typeface="Consolas"/>
                        </a:rPr>
                        <a:t>4</a:t>
                      </a:r>
                    </a:p>
                  </a:txBody>
                  <a:tcPr anchor="ctr">
                    <a:solidFill>
                      <a:srgbClr val="FDE5BB"/>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18" name="row-1-index-0">
            <a:extLst>
              <a:ext uri="{FF2B5EF4-FFF2-40B4-BE49-F238E27FC236}">
                <a16:creationId xmlns:a16="http://schemas.microsoft.com/office/drawing/2014/main" id="{25D527EC-BAAD-4F47-9E3F-57AE0D43A21F}"/>
              </a:ext>
            </a:extLst>
          </p:cNvPr>
          <p:cNvSpPr>
            <a:spLocks noGrp="1"/>
          </p:cNvSpPr>
          <p:nvPr/>
        </p:nvSpPr>
        <p:spPr>
          <a:xfrm>
            <a:off x="1809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9" name="row-1-index-1">
            <a:extLst>
              <a:ext uri="{FF2B5EF4-FFF2-40B4-BE49-F238E27FC236}">
                <a16:creationId xmlns:a16="http://schemas.microsoft.com/office/drawing/2014/main" id="{48F9A1D0-E825-4DF1-887F-767B950970B1}"/>
              </a:ext>
            </a:extLst>
          </p:cNvPr>
          <p:cNvSpPr>
            <a:spLocks noGrp="1"/>
          </p:cNvSpPr>
          <p:nvPr/>
        </p:nvSpPr>
        <p:spPr>
          <a:xfrm>
            <a:off x="31813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20" name="row-1-pointer-1-0">
            <a:extLst>
              <a:ext uri="{FF2B5EF4-FFF2-40B4-BE49-F238E27FC236}">
                <a16:creationId xmlns:a16="http://schemas.microsoft.com/office/drawing/2014/main" id="{ED64382F-2015-4295-AD8C-6C03AA5F13A2}"/>
              </a:ext>
            </a:extLst>
          </p:cNvPr>
          <p:cNvSpPr>
            <a:spLocks noGrp="1"/>
          </p:cNvSpPr>
          <p:nvPr/>
        </p:nvSpPr>
        <p:spPr>
          <a:xfrm>
            <a:off x="3181350" y="55816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21" name="row-1-index-2">
            <a:extLst>
              <a:ext uri="{FF2B5EF4-FFF2-40B4-BE49-F238E27FC236}">
                <a16:creationId xmlns:a16="http://schemas.microsoft.com/office/drawing/2014/main" id="{4C365494-FE66-49BC-89E2-5079D4B66C3F}"/>
              </a:ext>
            </a:extLst>
          </p:cNvPr>
          <p:cNvSpPr>
            <a:spLocks noGrp="1"/>
          </p:cNvSpPr>
          <p:nvPr/>
        </p:nvSpPr>
        <p:spPr>
          <a:xfrm>
            <a:off x="45529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22" name="row-1-pointer-2-0">
            <a:extLst>
              <a:ext uri="{FF2B5EF4-FFF2-40B4-BE49-F238E27FC236}">
                <a16:creationId xmlns:a16="http://schemas.microsoft.com/office/drawing/2014/main" id="{2DA889C6-3FBE-4BCA-83F0-E0020F31AE62}"/>
              </a:ext>
            </a:extLst>
          </p:cNvPr>
          <p:cNvSpPr>
            <a:spLocks noGrp="1"/>
          </p:cNvSpPr>
          <p:nvPr/>
        </p:nvSpPr>
        <p:spPr>
          <a:xfrm>
            <a:off x="4552950" y="55816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23" name="row-1-index-3">
            <a:extLst>
              <a:ext uri="{FF2B5EF4-FFF2-40B4-BE49-F238E27FC236}">
                <a16:creationId xmlns:a16="http://schemas.microsoft.com/office/drawing/2014/main" id="{F578C770-F74D-4466-B21E-6F4C7BB748BC}"/>
              </a:ext>
            </a:extLst>
          </p:cNvPr>
          <p:cNvSpPr>
            <a:spLocks noGrp="1"/>
          </p:cNvSpPr>
          <p:nvPr/>
        </p:nvSpPr>
        <p:spPr>
          <a:xfrm>
            <a:off x="59245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24" name="row-1-index-4">
            <a:extLst>
              <a:ext uri="{FF2B5EF4-FFF2-40B4-BE49-F238E27FC236}">
                <a16:creationId xmlns:a16="http://schemas.microsoft.com/office/drawing/2014/main" id="{4FD2817F-6485-4838-9DC5-7D7FA6D727F8}"/>
              </a:ext>
            </a:extLst>
          </p:cNvPr>
          <p:cNvSpPr>
            <a:spLocks noGrp="1"/>
          </p:cNvSpPr>
          <p:nvPr/>
        </p:nvSpPr>
        <p:spPr>
          <a:xfrm>
            <a:off x="72961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25" name="row-1-index-5">
            <a:extLst>
              <a:ext uri="{FF2B5EF4-FFF2-40B4-BE49-F238E27FC236}">
                <a16:creationId xmlns:a16="http://schemas.microsoft.com/office/drawing/2014/main" id="{EF24B2D3-2A50-4C69-BEE8-71ECC4BD4DF3}"/>
              </a:ext>
            </a:extLst>
          </p:cNvPr>
          <p:cNvSpPr>
            <a:spLocks noGrp="1"/>
          </p:cNvSpPr>
          <p:nvPr/>
        </p:nvSpPr>
        <p:spPr>
          <a:xfrm>
            <a:off x="8667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26" name="code">
            <a:extLst>
              <a:ext uri="{FF2B5EF4-FFF2-40B4-BE49-F238E27FC236}">
                <a16:creationId xmlns:a16="http://schemas.microsoft.com/office/drawing/2014/main" id="{960D8608-0B57-4CF1-B6AC-B25AC1771C7E}"/>
              </a:ext>
            </a:extLst>
          </p:cNvPr>
          <p:cNvSpPr>
            <a:spLocks noGrp="1"/>
          </p:cNvSpPr>
          <p:nvPr/>
        </p:nvSpPr>
        <p:spPr>
          <a:xfrm>
            <a:off x="1809750" y="2438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a[1], a[2] = a[2], a[1]</a:t>
            </a:r>
          </a:p>
        </p:txBody>
      </p:sp>
      <p:sp>
        <p:nvSpPr>
          <p:cNvPr id="27" name="caption">
            <a:extLst>
              <a:ext uri="{FF2B5EF4-FFF2-40B4-BE49-F238E27FC236}">
                <a16:creationId xmlns:a16="http://schemas.microsoft.com/office/drawing/2014/main" id="{27CC703F-5210-492B-98FE-C0B34D868F78}"/>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현재 구간의 마지막 칸은 hi = 2입니다.</a:t>
            </a:r>
          </a:p>
        </p:txBody>
      </p:sp>
      <p:sp>
        <p:nvSpPr>
          <p:cNvPr id="28" name="footer">
            <a:extLst>
              <a:ext uri="{FF2B5EF4-FFF2-40B4-BE49-F238E27FC236}">
                <a16:creationId xmlns:a16="http://schemas.microsoft.com/office/drawing/2014/main" id="{24D6E761-6ACD-4740-A130-81D210A4A326}"/>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9" name="page">
            <a:extLst>
              <a:ext uri="{FF2B5EF4-FFF2-40B4-BE49-F238E27FC236}">
                <a16:creationId xmlns:a16="http://schemas.microsoft.com/office/drawing/2014/main" id="{4E39E72C-A126-4B97-B6A7-1AF1FFDE429C}"/>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61</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7206638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BB3FA8C2-A4A9-4533-AFAD-3346134EF615}"/>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DA601D80-7AB9-4780-8B45-CF90E852A18B}"/>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9199C757-9F4D-42F8-B690-F76596805CFB}"/>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4: L = 0, R = 1에서 시작</a:t>
            </a:r>
          </a:p>
        </p:txBody>
      </p:sp>
      <p:sp>
        <p:nvSpPr>
          <p:cNvPr id="4" name="직사각형 3">
            <a:extLst>
              <a:ext uri="{FF2B5EF4-FFF2-40B4-BE49-F238E27FC236}">
                <a16:creationId xmlns:a16="http://schemas.microsoft.com/office/drawing/2014/main" id="{208C6BC3-9568-481A-B1EE-6F5ED2EFDAA1}"/>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8F56E610-E8C0-4630-A72D-0B4CB69A59E7}"/>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검사할 값은 3과 1입니다. 피벗 4는 인덱스 2에 따로 둡니다.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L은 3을, R은 1을 가리킵니다. 먼저 L의 값부터 검사합니다.</a:t>
            </a:r>
          </a:p>
        </p:txBody>
      </p:sp>
      <p:sp>
        <p:nvSpPr>
          <p:cNvPr id="6" name="row-0-label">
            <a:extLst>
              <a:ext uri="{FF2B5EF4-FFF2-40B4-BE49-F238E27FC236}">
                <a16:creationId xmlns:a16="http://schemas.microsoft.com/office/drawing/2014/main" id="{C054C33B-C960-46AA-A459-C71C0B68DE7B}"/>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C10A3858-AEBB-432F-BBEF-8FD673FEB6BE}"/>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1</a:t>
                      </a:r>
                    </a:p>
                  </a:txBody>
                  <a:tcPr anchor="ctr">
                    <a:solidFill>
                      <a:srgbClr val="DDEFE6"/>
                    </a:solidFill>
                  </a:tcPr>
                </a:tc>
                <a:tc>
                  <a:txBody>
                    <a:bodyPr/>
                    <a:lstStyle/>
                    <a:p>
                      <a:pPr algn="ctr"/>
                      <a:r>
                        <a:rPr sz="2475" b="1">
                          <a:solidFill>
                            <a:srgbClr val="151515"/>
                          </a:solidFill>
                          <a:latin typeface="Consolas"/>
                          <a:ea typeface="Consolas"/>
                          <a:cs typeface="Consolas"/>
                        </a:rPr>
                        <a:t>4</a:t>
                      </a:r>
                    </a:p>
                  </a:txBody>
                  <a:tcPr anchor="ctr">
                    <a:solidFill>
                      <a:srgbClr val="FDE5BB"/>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F091B04E-3D25-44B8-BE05-345E9D2ED07E}"/>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pointer-0-0">
            <a:extLst>
              <a:ext uri="{FF2B5EF4-FFF2-40B4-BE49-F238E27FC236}">
                <a16:creationId xmlns:a16="http://schemas.microsoft.com/office/drawing/2014/main" id="{EE5C2FE7-9C84-4F85-961F-AC56F904D42A}"/>
              </a:ext>
            </a:extLst>
          </p:cNvPr>
          <p:cNvSpPr>
            <a:spLocks noGrp="1"/>
          </p:cNvSpPr>
          <p:nvPr/>
        </p:nvSpPr>
        <p:spPr>
          <a:xfrm>
            <a:off x="18097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0" name="row-0-index-1">
            <a:extLst>
              <a:ext uri="{FF2B5EF4-FFF2-40B4-BE49-F238E27FC236}">
                <a16:creationId xmlns:a16="http://schemas.microsoft.com/office/drawing/2014/main" id="{CF62BCB0-8850-4354-86AB-62B71089F55F}"/>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1" name="row-0-pointer-1-0">
            <a:extLst>
              <a:ext uri="{FF2B5EF4-FFF2-40B4-BE49-F238E27FC236}">
                <a16:creationId xmlns:a16="http://schemas.microsoft.com/office/drawing/2014/main" id="{6D5764FE-568D-4BE6-97BE-43A626512D27}"/>
              </a:ext>
            </a:extLst>
          </p:cNvPr>
          <p:cNvSpPr>
            <a:spLocks noGrp="1"/>
          </p:cNvSpPr>
          <p:nvPr/>
        </p:nvSpPr>
        <p:spPr>
          <a:xfrm>
            <a:off x="3181350" y="402907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2" name="row-0-index-2">
            <a:extLst>
              <a:ext uri="{FF2B5EF4-FFF2-40B4-BE49-F238E27FC236}">
                <a16:creationId xmlns:a16="http://schemas.microsoft.com/office/drawing/2014/main" id="{105DF8F3-C39B-4D93-A8E0-239F43E22E81}"/>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3" name="row-0-pointer-2-0">
            <a:extLst>
              <a:ext uri="{FF2B5EF4-FFF2-40B4-BE49-F238E27FC236}">
                <a16:creationId xmlns:a16="http://schemas.microsoft.com/office/drawing/2014/main" id="{BC3B4465-E66F-4A20-A214-3CDFB9980817}"/>
              </a:ext>
            </a:extLst>
          </p:cNvPr>
          <p:cNvSpPr>
            <a:spLocks noGrp="1"/>
          </p:cNvSpPr>
          <p:nvPr/>
        </p:nvSpPr>
        <p:spPr>
          <a:xfrm>
            <a:off x="45529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4" name="row-0-index-3">
            <a:extLst>
              <a:ext uri="{FF2B5EF4-FFF2-40B4-BE49-F238E27FC236}">
                <a16:creationId xmlns:a16="http://schemas.microsoft.com/office/drawing/2014/main" id="{A91E964C-93DB-4E66-BC69-526EF575F69D}"/>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5" name="row-0-index-4">
            <a:extLst>
              <a:ext uri="{FF2B5EF4-FFF2-40B4-BE49-F238E27FC236}">
                <a16:creationId xmlns:a16="http://schemas.microsoft.com/office/drawing/2014/main" id="{85C0A97D-24CF-4173-8723-67A457C49B31}"/>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6" name="row-0-index-5">
            <a:extLst>
              <a:ext uri="{FF2B5EF4-FFF2-40B4-BE49-F238E27FC236}">
                <a16:creationId xmlns:a16="http://schemas.microsoft.com/office/drawing/2014/main" id="{C8111034-0A74-4459-8682-9F7C8617390E}"/>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7" name="code">
            <a:extLst>
              <a:ext uri="{FF2B5EF4-FFF2-40B4-BE49-F238E27FC236}">
                <a16:creationId xmlns:a16="http://schemas.microsoft.com/office/drawing/2014/main" id="{3AA8D505-60AF-4358-A609-652D18C2BB93}"/>
              </a:ext>
            </a:extLst>
          </p:cNvPr>
          <p:cNvSpPr>
            <a:spLocks noGrp="1"/>
          </p:cNvSpPr>
          <p:nvPr/>
        </p:nvSpPr>
        <p:spPr>
          <a:xfrm>
            <a:off x="1809750" y="5105400"/>
            <a:ext cx="9772650" cy="6858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pivot = 4</a:t>
            </a:r>
          </a:p>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L, R = 0, 1</a:t>
            </a:r>
          </a:p>
        </p:txBody>
      </p:sp>
      <p:sp>
        <p:nvSpPr>
          <p:cNvPr id="18" name="caption">
            <a:extLst>
              <a:ext uri="{FF2B5EF4-FFF2-40B4-BE49-F238E27FC236}">
                <a16:creationId xmlns:a16="http://schemas.microsoft.com/office/drawing/2014/main" id="{03EFC852-D3A1-4D8D-B2B5-4FFD50E8D358}"/>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3 ≤ 4이므로 다음에 L을 한 칸 늘립니다.</a:t>
            </a:r>
          </a:p>
        </p:txBody>
      </p:sp>
      <p:sp>
        <p:nvSpPr>
          <p:cNvPr id="19" name="footer">
            <a:extLst>
              <a:ext uri="{FF2B5EF4-FFF2-40B4-BE49-F238E27FC236}">
                <a16:creationId xmlns:a16="http://schemas.microsoft.com/office/drawing/2014/main" id="{EB1C5BB1-3BB0-4B19-AC54-7A7C1D37F90E}"/>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0" name="page">
            <a:extLst>
              <a:ext uri="{FF2B5EF4-FFF2-40B4-BE49-F238E27FC236}">
                <a16:creationId xmlns:a16="http://schemas.microsoft.com/office/drawing/2014/main" id="{C4AF81CA-FAE2-49C8-8FF4-A7EC0DA80295}"/>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62</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29379676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B576D7DA-810D-4B33-960F-0D80C0B26288}"/>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CF110D8D-D654-45E8-A068-A37EBE0B0525}"/>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7EC24209-2FB1-440E-8005-EF57F921150F}"/>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4: L이 0에서 1로 이동</a:t>
            </a:r>
          </a:p>
        </p:txBody>
      </p:sp>
      <p:sp>
        <p:nvSpPr>
          <p:cNvPr id="4" name="직사각형 3">
            <a:extLst>
              <a:ext uri="{FF2B5EF4-FFF2-40B4-BE49-F238E27FC236}">
                <a16:creationId xmlns:a16="http://schemas.microsoft.com/office/drawing/2014/main" id="{9534CE5C-47AF-4DA4-BAF3-B25A8E3A0604}"/>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2FDA936C-3A16-41D8-A3F9-551E8866627A}"/>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a[0] = 3 ≤ 4이므로 L을 1로 늘립니다. 배열 값은 그대로입니다.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이제 L과 R은 모두 인덱스 1의 값 1을 가리킵니다.</a:t>
            </a:r>
          </a:p>
        </p:txBody>
      </p:sp>
      <p:sp>
        <p:nvSpPr>
          <p:cNvPr id="6" name="row-0-label">
            <a:extLst>
              <a:ext uri="{FF2B5EF4-FFF2-40B4-BE49-F238E27FC236}">
                <a16:creationId xmlns:a16="http://schemas.microsoft.com/office/drawing/2014/main" id="{C590C8B9-03C7-44FF-BFE0-230DDF974769}"/>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1782A6A3-2F84-4B2D-A4B7-C92E5C05B22A}"/>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1</a:t>
                      </a:r>
                    </a:p>
                  </a:txBody>
                  <a:tcPr anchor="ctr">
                    <a:solidFill>
                      <a:srgbClr val="DCECFB"/>
                    </a:solidFill>
                  </a:tcPr>
                </a:tc>
                <a:tc>
                  <a:txBody>
                    <a:bodyPr/>
                    <a:lstStyle/>
                    <a:p>
                      <a:pPr algn="ctr"/>
                      <a:r>
                        <a:rPr sz="2475" b="1">
                          <a:solidFill>
                            <a:srgbClr val="151515"/>
                          </a:solidFill>
                          <a:latin typeface="Consolas"/>
                          <a:ea typeface="Consolas"/>
                          <a:cs typeface="Consolas"/>
                        </a:rPr>
                        <a:t>4</a:t>
                      </a:r>
                    </a:p>
                  </a:txBody>
                  <a:tcPr anchor="ctr">
                    <a:solidFill>
                      <a:srgbClr val="FDE5BB"/>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A50BF83F-691A-4A7B-9E3F-13266E87448B}"/>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3BBBE3C6-A11E-4C69-8095-C45B85137860}"/>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pointer-1-0">
            <a:extLst>
              <a:ext uri="{FF2B5EF4-FFF2-40B4-BE49-F238E27FC236}">
                <a16:creationId xmlns:a16="http://schemas.microsoft.com/office/drawing/2014/main" id="{00D47646-F9EE-47D8-B671-5CD98E295240}"/>
              </a:ext>
            </a:extLst>
          </p:cNvPr>
          <p:cNvSpPr>
            <a:spLocks noGrp="1"/>
          </p:cNvSpPr>
          <p:nvPr/>
        </p:nvSpPr>
        <p:spPr>
          <a:xfrm>
            <a:off x="31813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1" name="row-0-pointer-1-1">
            <a:extLst>
              <a:ext uri="{FF2B5EF4-FFF2-40B4-BE49-F238E27FC236}">
                <a16:creationId xmlns:a16="http://schemas.microsoft.com/office/drawing/2014/main" id="{E68D2FB7-A92D-4CA7-B1CC-1BC343778AE5}"/>
              </a:ext>
            </a:extLst>
          </p:cNvPr>
          <p:cNvSpPr>
            <a:spLocks noGrp="1"/>
          </p:cNvSpPr>
          <p:nvPr/>
        </p:nvSpPr>
        <p:spPr>
          <a:xfrm>
            <a:off x="3181350" y="435292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2" name="row-0-index-2">
            <a:extLst>
              <a:ext uri="{FF2B5EF4-FFF2-40B4-BE49-F238E27FC236}">
                <a16:creationId xmlns:a16="http://schemas.microsoft.com/office/drawing/2014/main" id="{A4C65338-9D49-4216-89E5-26C6F1A52C12}"/>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3" name="row-0-pointer-2-0">
            <a:extLst>
              <a:ext uri="{FF2B5EF4-FFF2-40B4-BE49-F238E27FC236}">
                <a16:creationId xmlns:a16="http://schemas.microsoft.com/office/drawing/2014/main" id="{FC9065AE-78EB-4D6E-AC26-CDC0EFF5120A}"/>
              </a:ext>
            </a:extLst>
          </p:cNvPr>
          <p:cNvSpPr>
            <a:spLocks noGrp="1"/>
          </p:cNvSpPr>
          <p:nvPr/>
        </p:nvSpPr>
        <p:spPr>
          <a:xfrm>
            <a:off x="45529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4" name="row-0-index-3">
            <a:extLst>
              <a:ext uri="{FF2B5EF4-FFF2-40B4-BE49-F238E27FC236}">
                <a16:creationId xmlns:a16="http://schemas.microsoft.com/office/drawing/2014/main" id="{754A7EDE-7131-4E8B-B586-C120CEA781EA}"/>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5" name="row-0-index-4">
            <a:extLst>
              <a:ext uri="{FF2B5EF4-FFF2-40B4-BE49-F238E27FC236}">
                <a16:creationId xmlns:a16="http://schemas.microsoft.com/office/drawing/2014/main" id="{61080E86-75D0-4821-8355-5C35C76A50C0}"/>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6" name="row-0-index-5">
            <a:extLst>
              <a:ext uri="{FF2B5EF4-FFF2-40B4-BE49-F238E27FC236}">
                <a16:creationId xmlns:a16="http://schemas.microsoft.com/office/drawing/2014/main" id="{A1F77C38-2690-4B70-987E-220D5F53F1E6}"/>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7" name="code">
            <a:extLst>
              <a:ext uri="{FF2B5EF4-FFF2-40B4-BE49-F238E27FC236}">
                <a16:creationId xmlns:a16="http://schemas.microsoft.com/office/drawing/2014/main" id="{531DBA9D-CBEC-43E2-8FAF-F2002B4DFF59}"/>
              </a:ext>
            </a:extLst>
          </p:cNvPr>
          <p:cNvSpPr>
            <a:spLocks noGrp="1"/>
          </p:cNvSpPr>
          <p:nvPr/>
        </p:nvSpPr>
        <p:spPr>
          <a:xfrm>
            <a:off x="1809750" y="5105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L = 1</a:t>
            </a:r>
          </a:p>
        </p:txBody>
      </p:sp>
      <p:sp>
        <p:nvSpPr>
          <p:cNvPr id="18" name="caption">
            <a:extLst>
              <a:ext uri="{FF2B5EF4-FFF2-40B4-BE49-F238E27FC236}">
                <a16:creationId xmlns:a16="http://schemas.microsoft.com/office/drawing/2014/main" id="{743F37D9-608F-4171-95E4-652424BDC777}"/>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L = R인 칸도 검사합니다. 1 ≤ 4이므로 L이 다시 이동합니다.</a:t>
            </a:r>
          </a:p>
        </p:txBody>
      </p:sp>
      <p:sp>
        <p:nvSpPr>
          <p:cNvPr id="19" name="footer">
            <a:extLst>
              <a:ext uri="{FF2B5EF4-FFF2-40B4-BE49-F238E27FC236}">
                <a16:creationId xmlns:a16="http://schemas.microsoft.com/office/drawing/2014/main" id="{EFD37965-4183-45BC-B1CF-C5D608A1595E}"/>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0" name="page">
            <a:extLst>
              <a:ext uri="{FF2B5EF4-FFF2-40B4-BE49-F238E27FC236}">
                <a16:creationId xmlns:a16="http://schemas.microsoft.com/office/drawing/2014/main" id="{634A291E-135B-4780-949B-344D5CD80E64}"/>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63</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41150950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97D3831C-C9C2-4FB6-8651-8944F28BEFC5}"/>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C7A016AF-0CB6-41A7-888C-1AA4F472C73D}"/>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89EF0F7C-CADF-447E-A2C6-3320994B517D}"/>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4: 교차 후 인덱스 2 확정</a:t>
            </a:r>
          </a:p>
        </p:txBody>
      </p:sp>
      <p:sp>
        <p:nvSpPr>
          <p:cNvPr id="4" name="직사각형 3">
            <a:extLst>
              <a:ext uri="{FF2B5EF4-FFF2-40B4-BE49-F238E27FC236}">
                <a16:creationId xmlns:a16="http://schemas.microsoft.com/office/drawing/2014/main" id="{20C3AA48-C2A4-4D4D-9AD4-2D03F54F7426}"/>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8ACA71D1-8034-4755-8700-6FEB17BD9B02}"/>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a[1] = 1 ≤ 4이므로 L = 2, R = 1로 교차합니다. 탐색을 끝냅니다.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 = hi = 2이므로 마지막 교환은 4와 자기 자신입니다. 배열은 그대로입니다.</a:t>
            </a:r>
          </a:p>
        </p:txBody>
      </p:sp>
      <p:sp>
        <p:nvSpPr>
          <p:cNvPr id="6" name="row-0-label">
            <a:extLst>
              <a:ext uri="{FF2B5EF4-FFF2-40B4-BE49-F238E27FC236}">
                <a16:creationId xmlns:a16="http://schemas.microsoft.com/office/drawing/2014/main" id="{9E6A2E61-7C68-4BCC-B968-2640E9AB15B3}"/>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2A1D049C-956F-4E2D-BC4D-7D20C2093B9F}"/>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1</a:t>
                      </a:r>
                    </a:p>
                  </a:txBody>
                  <a:tcPr anchor="ctr">
                    <a:solidFill>
                      <a:srgbClr val="DDEFE6"/>
                    </a:solidFill>
                  </a:tcPr>
                </a:tc>
                <a:tc>
                  <a:txBody>
                    <a:bodyPr/>
                    <a:lstStyle/>
                    <a:p>
                      <a:pPr algn="ctr"/>
                      <a:r>
                        <a:rPr sz="2475" b="1">
                          <a:solidFill>
                            <a:srgbClr val="151515"/>
                          </a:solidFill>
                          <a:latin typeface="Consolas"/>
                          <a:ea typeface="Consolas"/>
                          <a:cs typeface="Consolas"/>
                        </a:rPr>
                        <a:t>4</a:t>
                      </a:r>
                    </a:p>
                  </a:txBody>
                  <a:tcPr anchor="ctr">
                    <a:solidFill>
                      <a:srgbClr val="FDE5BB"/>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C8BD5F9C-214E-4FF8-86D1-E2F6149B4B20}"/>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C7629AEB-5AD8-47A6-BA66-E6091D7275C2}"/>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pointer-1-0">
            <a:extLst>
              <a:ext uri="{FF2B5EF4-FFF2-40B4-BE49-F238E27FC236}">
                <a16:creationId xmlns:a16="http://schemas.microsoft.com/office/drawing/2014/main" id="{008D3020-3B79-4507-ABA8-37336A8C2319}"/>
              </a:ext>
            </a:extLst>
          </p:cNvPr>
          <p:cNvSpPr>
            <a:spLocks noGrp="1"/>
          </p:cNvSpPr>
          <p:nvPr/>
        </p:nvSpPr>
        <p:spPr>
          <a:xfrm>
            <a:off x="3181350" y="402907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1" name="row-0-index-2">
            <a:extLst>
              <a:ext uri="{FF2B5EF4-FFF2-40B4-BE49-F238E27FC236}">
                <a16:creationId xmlns:a16="http://schemas.microsoft.com/office/drawing/2014/main" id="{C7FE5D39-4B48-473F-9072-B77FEA5D3A64}"/>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2" name="row-0-pointer-2-0">
            <a:extLst>
              <a:ext uri="{FF2B5EF4-FFF2-40B4-BE49-F238E27FC236}">
                <a16:creationId xmlns:a16="http://schemas.microsoft.com/office/drawing/2014/main" id="{09AD36AC-4D36-437B-B9C2-E31A6ED63524}"/>
              </a:ext>
            </a:extLst>
          </p:cNvPr>
          <p:cNvSpPr>
            <a:spLocks noGrp="1"/>
          </p:cNvSpPr>
          <p:nvPr/>
        </p:nvSpPr>
        <p:spPr>
          <a:xfrm>
            <a:off x="45529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3" name="row-0-pointer-2-1">
            <a:extLst>
              <a:ext uri="{FF2B5EF4-FFF2-40B4-BE49-F238E27FC236}">
                <a16:creationId xmlns:a16="http://schemas.microsoft.com/office/drawing/2014/main" id="{339F7576-C599-4036-B528-896DE1B0127E}"/>
              </a:ext>
            </a:extLst>
          </p:cNvPr>
          <p:cNvSpPr>
            <a:spLocks noGrp="1"/>
          </p:cNvSpPr>
          <p:nvPr/>
        </p:nvSpPr>
        <p:spPr>
          <a:xfrm>
            <a:off x="4552950" y="435292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4" name="row-0-index-3">
            <a:extLst>
              <a:ext uri="{FF2B5EF4-FFF2-40B4-BE49-F238E27FC236}">
                <a16:creationId xmlns:a16="http://schemas.microsoft.com/office/drawing/2014/main" id="{C58B7C52-8891-42DC-A7FD-E919FAAA5D2E}"/>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5" name="row-0-index-4">
            <a:extLst>
              <a:ext uri="{FF2B5EF4-FFF2-40B4-BE49-F238E27FC236}">
                <a16:creationId xmlns:a16="http://schemas.microsoft.com/office/drawing/2014/main" id="{5C550F55-E648-40A6-81F5-8BE62BBCB16A}"/>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6" name="row-0-index-5">
            <a:extLst>
              <a:ext uri="{FF2B5EF4-FFF2-40B4-BE49-F238E27FC236}">
                <a16:creationId xmlns:a16="http://schemas.microsoft.com/office/drawing/2014/main" id="{D76C538D-6E02-48B5-A96F-2F4F2D1220F2}"/>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7" name="code">
            <a:extLst>
              <a:ext uri="{FF2B5EF4-FFF2-40B4-BE49-F238E27FC236}">
                <a16:creationId xmlns:a16="http://schemas.microsoft.com/office/drawing/2014/main" id="{491520B8-EC7A-4B3E-8624-F752E031328C}"/>
              </a:ext>
            </a:extLst>
          </p:cNvPr>
          <p:cNvSpPr>
            <a:spLocks noGrp="1"/>
          </p:cNvSpPr>
          <p:nvPr/>
        </p:nvSpPr>
        <p:spPr>
          <a:xfrm>
            <a:off x="1809750" y="5105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a[2], a[2] = a[2], a[2]</a:t>
            </a:r>
          </a:p>
        </p:txBody>
      </p:sp>
      <p:sp>
        <p:nvSpPr>
          <p:cNvPr id="18" name="caption">
            <a:extLst>
              <a:ext uri="{FF2B5EF4-FFF2-40B4-BE49-F238E27FC236}">
                <a16:creationId xmlns:a16="http://schemas.microsoft.com/office/drawing/2014/main" id="{3E758AED-3533-44EA-B701-D77B1E93F23D}"/>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partition의 반환값 p = 2입니다. 앞의 [3,1]은 아직 정렬해야 합니다.</a:t>
            </a:r>
          </a:p>
        </p:txBody>
      </p:sp>
      <p:sp>
        <p:nvSpPr>
          <p:cNvPr id="19" name="footer">
            <a:extLst>
              <a:ext uri="{FF2B5EF4-FFF2-40B4-BE49-F238E27FC236}">
                <a16:creationId xmlns:a16="http://schemas.microsoft.com/office/drawing/2014/main" id="{677F18DB-B59C-40A1-A851-E2E8FC86BA3D}"/>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0" name="page">
            <a:extLst>
              <a:ext uri="{FF2B5EF4-FFF2-40B4-BE49-F238E27FC236}">
                <a16:creationId xmlns:a16="http://schemas.microsoft.com/office/drawing/2014/main" id="{F8352E5C-8A9D-4014-9E14-294DD6636D17}"/>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64</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19626302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ection">
            <a:extLst>
              <a:ext uri="{FF2B5EF4-FFF2-40B4-BE49-F238E27FC236}">
                <a16:creationId xmlns:a16="http://schemas.microsoft.com/office/drawing/2014/main" id="{1F696C2B-1E53-42A5-B5FF-C80C7BDCB3ED}"/>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94CCA9F9-936A-4CC2-9438-C89598AA42AC}"/>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859EF62B-5D66-42ED-AE9A-7881F87E7FAE}"/>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다음 왼쪽 호출: 구간 0~1</a:t>
            </a:r>
          </a:p>
        </p:txBody>
      </p:sp>
      <p:sp>
        <p:nvSpPr>
          <p:cNvPr id="4" name="직사각형 3">
            <a:extLst>
              <a:ext uri="{FF2B5EF4-FFF2-40B4-BE49-F238E27FC236}">
                <a16:creationId xmlns:a16="http://schemas.microsoft.com/office/drawing/2014/main" id="{CC52715F-0AEF-477A-BA8B-9E86BE4B1BCD}"/>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77133F2B-508C-42A7-82DC-ACFD89D2352D}"/>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4의 위치 p = 2를 제외하고, 왼쪽 [3,1]을 다시 정렬합니다.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현재 lo = 0, hi = 1입니다. 4와 6의 칸은 이번 호출에서 움직이지 않습니다.</a:t>
            </a:r>
          </a:p>
        </p:txBody>
      </p:sp>
      <p:sp>
        <p:nvSpPr>
          <p:cNvPr id="6" name="row-0-label">
            <a:extLst>
              <a:ext uri="{FF2B5EF4-FFF2-40B4-BE49-F238E27FC236}">
                <a16:creationId xmlns:a16="http://schemas.microsoft.com/office/drawing/2014/main" id="{17BD6FDB-0B74-45A5-8F5C-60139EB2C73A}"/>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EE5CCCE3-2BAA-4665-9634-06C9005D384E}"/>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1</a:t>
                      </a:r>
                    </a:p>
                  </a:txBody>
                  <a:tcPr anchor="ctr">
                    <a:solidFill>
                      <a:srgbClr val="DCECFB"/>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632157AF-EAFE-4E9D-A394-727B4C5A66B5}"/>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32FC9804-AC79-4DC1-AC7A-72523DB6B655}"/>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36509077-467C-4883-97B5-688742A50277}"/>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37C8EBA7-4548-4D7A-A0F2-1F58A64261D3}"/>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index-4">
            <a:extLst>
              <a:ext uri="{FF2B5EF4-FFF2-40B4-BE49-F238E27FC236}">
                <a16:creationId xmlns:a16="http://schemas.microsoft.com/office/drawing/2014/main" id="{C8144268-4EE7-439E-9DE5-391C129CBB81}"/>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3" name="row-0-index-5">
            <a:extLst>
              <a:ext uri="{FF2B5EF4-FFF2-40B4-BE49-F238E27FC236}">
                <a16:creationId xmlns:a16="http://schemas.microsoft.com/office/drawing/2014/main" id="{0C190B06-D387-4E91-BA76-B1513C579197}"/>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4" name="code">
            <a:extLst>
              <a:ext uri="{FF2B5EF4-FFF2-40B4-BE49-F238E27FC236}">
                <a16:creationId xmlns:a16="http://schemas.microsoft.com/office/drawing/2014/main" id="{A0C69085-6B1B-4D57-BCFE-EA0260D8C15E}"/>
              </a:ext>
            </a:extLst>
          </p:cNvPr>
          <p:cNvSpPr>
            <a:spLocks noGrp="1"/>
          </p:cNvSpPr>
          <p:nvPr/>
        </p:nvSpPr>
        <p:spPr>
          <a:xfrm>
            <a:off x="1809750" y="5105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0, 1)</a:t>
            </a:r>
          </a:p>
        </p:txBody>
      </p:sp>
      <p:sp>
        <p:nvSpPr>
          <p:cNvPr id="15" name="caption">
            <a:extLst>
              <a:ext uri="{FF2B5EF4-FFF2-40B4-BE49-F238E27FC236}">
                <a16:creationId xmlns:a16="http://schemas.microsoft.com/office/drawing/2014/main" id="{C8DBDAA5-32BE-47A6-AE54-F2B5BBE45BBA}"/>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원소가 두 개이므로 한 번 더 분할합니다.</a:t>
            </a:r>
          </a:p>
        </p:txBody>
      </p:sp>
      <p:sp>
        <p:nvSpPr>
          <p:cNvPr id="16" name="footer">
            <a:extLst>
              <a:ext uri="{FF2B5EF4-FFF2-40B4-BE49-F238E27FC236}">
                <a16:creationId xmlns:a16="http://schemas.microsoft.com/office/drawing/2014/main" id="{A9D2C1A3-0FE9-422D-A8DB-A9CAB5B37717}"/>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17" name="page">
            <a:extLst>
              <a:ext uri="{FF2B5EF4-FFF2-40B4-BE49-F238E27FC236}">
                <a16:creationId xmlns:a16="http://schemas.microsoft.com/office/drawing/2014/main" id="{9E40C139-5A3C-44F2-827F-5E776A0C09FE}"/>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65</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36273994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ection">
            <a:extLst>
              <a:ext uri="{FF2B5EF4-FFF2-40B4-BE49-F238E27FC236}">
                <a16:creationId xmlns:a16="http://schemas.microsoft.com/office/drawing/2014/main" id="{EAD2183B-9F83-4931-A730-498593F3A6A9}"/>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5FC005E0-E26F-416C-B443-7AFE95707570}"/>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8103F4FE-8137-4B1C-AB9A-D3BBAF2AA5A9}"/>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왼쪽 [3,1]: 피벗 3의 이동</a:t>
            </a:r>
          </a:p>
        </p:txBody>
      </p:sp>
      <p:sp>
        <p:nvSpPr>
          <p:cNvPr id="4" name="직사각형 3">
            <a:extLst>
              <a:ext uri="{FF2B5EF4-FFF2-40B4-BE49-F238E27FC236}">
                <a16:creationId xmlns:a16="http://schemas.microsoft.com/office/drawing/2014/main" id="{DF28EB16-55FC-4B87-B284-B39BEBCBDF14}"/>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0AA421CC-D0B9-4EAC-A2E9-0E86672B50E3}"/>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가운데 인덱스 (0 + 1) // 2 = 0이므로 피벗은 a[0] = 3입니다.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3과 현재 구간의 마지막 값 a[1] = 1을 교환합니다.</a:t>
            </a:r>
          </a:p>
        </p:txBody>
      </p:sp>
      <p:sp>
        <p:nvSpPr>
          <p:cNvPr id="6" name="row-0-label">
            <a:extLst>
              <a:ext uri="{FF2B5EF4-FFF2-40B4-BE49-F238E27FC236}">
                <a16:creationId xmlns:a16="http://schemas.microsoft.com/office/drawing/2014/main" id="{D99ECD32-42AD-4ED7-903C-6507F1217EB5}"/>
              </a:ext>
            </a:extLst>
          </p:cNvPr>
          <p:cNvSpPr>
            <a:spLocks noGrp="1"/>
          </p:cNvSpPr>
          <p:nvPr/>
        </p:nvSpPr>
        <p:spPr>
          <a:xfrm>
            <a:off x="609600" y="31718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전</a:t>
            </a:r>
          </a:p>
        </p:txBody>
      </p:sp>
      <p:graphicFrame>
        <p:nvGraphicFramePr>
          <p:cNvPr id="7" name="표 6">
            <a:extLst>
              <a:ext uri="{FF2B5EF4-FFF2-40B4-BE49-F238E27FC236}">
                <a16:creationId xmlns:a16="http://schemas.microsoft.com/office/drawing/2014/main" id="{87A72E16-53EA-42FD-8D3A-82713D724636}"/>
              </a:ext>
            </a:extLst>
          </p:cNvPr>
          <p:cNvGraphicFramePr/>
          <p:nvPr/>
        </p:nvGraphicFramePr>
        <p:xfrm>
          <a:off x="1809750" y="30003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3</a:t>
                      </a:r>
                    </a:p>
                  </a:txBody>
                  <a:tcPr anchor="ctr">
                    <a:solidFill>
                      <a:srgbClr val="FDE5BB"/>
                    </a:solidFill>
                  </a:tcPr>
                </a:tc>
                <a:tc>
                  <a:txBody>
                    <a:bodyPr/>
                    <a:lstStyle/>
                    <a:p>
                      <a:pPr algn="ctr"/>
                      <a:r>
                        <a:rPr sz="2475" b="1">
                          <a:solidFill>
                            <a:srgbClr val="151515"/>
                          </a:solidFill>
                          <a:latin typeface="Consolas"/>
                          <a:ea typeface="Consolas"/>
                          <a:cs typeface="Consolas"/>
                        </a:rPr>
                        <a:t>1</a:t>
                      </a:r>
                    </a:p>
                  </a:txBody>
                  <a:tcPr anchor="ctr">
                    <a:solidFill>
                      <a:srgbClr val="E7E7E7"/>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8A1F344F-0109-4F96-B1A2-0E745D76E7E1}"/>
              </a:ext>
            </a:extLst>
          </p:cNvPr>
          <p:cNvSpPr>
            <a:spLocks noGrp="1"/>
          </p:cNvSpPr>
          <p:nvPr/>
        </p:nvSpPr>
        <p:spPr>
          <a:xfrm>
            <a:off x="1809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pointer-0-0">
            <a:extLst>
              <a:ext uri="{FF2B5EF4-FFF2-40B4-BE49-F238E27FC236}">
                <a16:creationId xmlns:a16="http://schemas.microsoft.com/office/drawing/2014/main" id="{9BBE94FF-83D0-45B1-B3D7-23AD8A808A62}"/>
              </a:ext>
            </a:extLst>
          </p:cNvPr>
          <p:cNvSpPr>
            <a:spLocks noGrp="1"/>
          </p:cNvSpPr>
          <p:nvPr/>
        </p:nvSpPr>
        <p:spPr>
          <a:xfrm>
            <a:off x="1809750" y="38671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0" name="row-0-index-1">
            <a:extLst>
              <a:ext uri="{FF2B5EF4-FFF2-40B4-BE49-F238E27FC236}">
                <a16:creationId xmlns:a16="http://schemas.microsoft.com/office/drawing/2014/main" id="{5C008F2B-09AE-47FA-94EB-E419BE8BE1E5}"/>
              </a:ext>
            </a:extLst>
          </p:cNvPr>
          <p:cNvSpPr>
            <a:spLocks noGrp="1"/>
          </p:cNvSpPr>
          <p:nvPr/>
        </p:nvSpPr>
        <p:spPr>
          <a:xfrm>
            <a:off x="31813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1" name="row-0-pointer-1-0">
            <a:extLst>
              <a:ext uri="{FF2B5EF4-FFF2-40B4-BE49-F238E27FC236}">
                <a16:creationId xmlns:a16="http://schemas.microsoft.com/office/drawing/2014/main" id="{0B514456-0B35-42D1-935D-A1BF8FE6AF26}"/>
              </a:ext>
            </a:extLst>
          </p:cNvPr>
          <p:cNvSpPr>
            <a:spLocks noGrp="1"/>
          </p:cNvSpPr>
          <p:nvPr/>
        </p:nvSpPr>
        <p:spPr>
          <a:xfrm>
            <a:off x="3181350" y="38671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12" name="row-0-index-2">
            <a:extLst>
              <a:ext uri="{FF2B5EF4-FFF2-40B4-BE49-F238E27FC236}">
                <a16:creationId xmlns:a16="http://schemas.microsoft.com/office/drawing/2014/main" id="{FEA67AE8-8406-4453-9065-3332BDEE17A2}"/>
              </a:ext>
            </a:extLst>
          </p:cNvPr>
          <p:cNvSpPr>
            <a:spLocks noGrp="1"/>
          </p:cNvSpPr>
          <p:nvPr/>
        </p:nvSpPr>
        <p:spPr>
          <a:xfrm>
            <a:off x="45529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3" name="row-0-index-3">
            <a:extLst>
              <a:ext uri="{FF2B5EF4-FFF2-40B4-BE49-F238E27FC236}">
                <a16:creationId xmlns:a16="http://schemas.microsoft.com/office/drawing/2014/main" id="{5E92B316-33BF-467E-A8D1-BB1504FAFA97}"/>
              </a:ext>
            </a:extLst>
          </p:cNvPr>
          <p:cNvSpPr>
            <a:spLocks noGrp="1"/>
          </p:cNvSpPr>
          <p:nvPr/>
        </p:nvSpPr>
        <p:spPr>
          <a:xfrm>
            <a:off x="59245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4" name="row-0-index-4">
            <a:extLst>
              <a:ext uri="{FF2B5EF4-FFF2-40B4-BE49-F238E27FC236}">
                <a16:creationId xmlns:a16="http://schemas.microsoft.com/office/drawing/2014/main" id="{FDAD009C-3238-435F-AB90-3939E6DFB6C0}"/>
              </a:ext>
            </a:extLst>
          </p:cNvPr>
          <p:cNvSpPr>
            <a:spLocks noGrp="1"/>
          </p:cNvSpPr>
          <p:nvPr/>
        </p:nvSpPr>
        <p:spPr>
          <a:xfrm>
            <a:off x="72961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5" name="row-0-index-5">
            <a:extLst>
              <a:ext uri="{FF2B5EF4-FFF2-40B4-BE49-F238E27FC236}">
                <a16:creationId xmlns:a16="http://schemas.microsoft.com/office/drawing/2014/main" id="{01A9AFC2-1602-4B01-B071-95244770A1D1}"/>
              </a:ext>
            </a:extLst>
          </p:cNvPr>
          <p:cNvSpPr>
            <a:spLocks noGrp="1"/>
          </p:cNvSpPr>
          <p:nvPr/>
        </p:nvSpPr>
        <p:spPr>
          <a:xfrm>
            <a:off x="8667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6" name="row-1-label">
            <a:extLst>
              <a:ext uri="{FF2B5EF4-FFF2-40B4-BE49-F238E27FC236}">
                <a16:creationId xmlns:a16="http://schemas.microsoft.com/office/drawing/2014/main" id="{B2D0806B-DF3B-47FB-8DAA-3050605E2405}"/>
              </a:ext>
            </a:extLst>
          </p:cNvPr>
          <p:cNvSpPr>
            <a:spLocks noGrp="1"/>
          </p:cNvSpPr>
          <p:nvPr/>
        </p:nvSpPr>
        <p:spPr>
          <a:xfrm>
            <a:off x="609600" y="48863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후</a:t>
            </a:r>
          </a:p>
        </p:txBody>
      </p:sp>
      <p:graphicFrame>
        <p:nvGraphicFramePr>
          <p:cNvPr id="17" name="표 16">
            <a:extLst>
              <a:ext uri="{FF2B5EF4-FFF2-40B4-BE49-F238E27FC236}">
                <a16:creationId xmlns:a16="http://schemas.microsoft.com/office/drawing/2014/main" id="{BAF861A8-809E-4824-AE6C-95D60B8C7453}"/>
              </a:ext>
            </a:extLst>
          </p:cNvPr>
          <p:cNvGraphicFramePr/>
          <p:nvPr/>
        </p:nvGraphicFramePr>
        <p:xfrm>
          <a:off x="1809750" y="47148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7E7E7"/>
                    </a:solidFill>
                  </a:tcPr>
                </a:tc>
                <a:tc>
                  <a:txBody>
                    <a:bodyPr/>
                    <a:lstStyle/>
                    <a:p>
                      <a:pPr algn="ctr"/>
                      <a:r>
                        <a:rPr sz="2475" b="1">
                          <a:solidFill>
                            <a:srgbClr val="151515"/>
                          </a:solidFill>
                          <a:latin typeface="Consolas"/>
                          <a:ea typeface="Consolas"/>
                          <a:cs typeface="Consolas"/>
                        </a:rPr>
                        <a:t>3</a:t>
                      </a:r>
                    </a:p>
                  </a:txBody>
                  <a:tcPr anchor="ctr">
                    <a:solidFill>
                      <a:srgbClr val="FDE5BB"/>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18" name="row-1-index-0">
            <a:extLst>
              <a:ext uri="{FF2B5EF4-FFF2-40B4-BE49-F238E27FC236}">
                <a16:creationId xmlns:a16="http://schemas.microsoft.com/office/drawing/2014/main" id="{A7F06687-56C5-42E9-94E9-FA0019286A22}"/>
              </a:ext>
            </a:extLst>
          </p:cNvPr>
          <p:cNvSpPr>
            <a:spLocks noGrp="1"/>
          </p:cNvSpPr>
          <p:nvPr/>
        </p:nvSpPr>
        <p:spPr>
          <a:xfrm>
            <a:off x="1809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9" name="row-1-pointer-0-0">
            <a:extLst>
              <a:ext uri="{FF2B5EF4-FFF2-40B4-BE49-F238E27FC236}">
                <a16:creationId xmlns:a16="http://schemas.microsoft.com/office/drawing/2014/main" id="{B477809C-65E9-43AA-B0E3-182510E87368}"/>
              </a:ext>
            </a:extLst>
          </p:cNvPr>
          <p:cNvSpPr>
            <a:spLocks noGrp="1"/>
          </p:cNvSpPr>
          <p:nvPr/>
        </p:nvSpPr>
        <p:spPr>
          <a:xfrm>
            <a:off x="1809750" y="55816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20" name="row-1-index-1">
            <a:extLst>
              <a:ext uri="{FF2B5EF4-FFF2-40B4-BE49-F238E27FC236}">
                <a16:creationId xmlns:a16="http://schemas.microsoft.com/office/drawing/2014/main" id="{B6258E1D-2131-4F09-8F6F-36EEF4E556E2}"/>
              </a:ext>
            </a:extLst>
          </p:cNvPr>
          <p:cNvSpPr>
            <a:spLocks noGrp="1"/>
          </p:cNvSpPr>
          <p:nvPr/>
        </p:nvSpPr>
        <p:spPr>
          <a:xfrm>
            <a:off x="31813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21" name="row-1-pointer-1-0">
            <a:extLst>
              <a:ext uri="{FF2B5EF4-FFF2-40B4-BE49-F238E27FC236}">
                <a16:creationId xmlns:a16="http://schemas.microsoft.com/office/drawing/2014/main" id="{86DEEF7E-B3E1-4D71-903F-4040D93B802F}"/>
              </a:ext>
            </a:extLst>
          </p:cNvPr>
          <p:cNvSpPr>
            <a:spLocks noGrp="1"/>
          </p:cNvSpPr>
          <p:nvPr/>
        </p:nvSpPr>
        <p:spPr>
          <a:xfrm>
            <a:off x="3181350" y="55816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22" name="row-1-index-2">
            <a:extLst>
              <a:ext uri="{FF2B5EF4-FFF2-40B4-BE49-F238E27FC236}">
                <a16:creationId xmlns:a16="http://schemas.microsoft.com/office/drawing/2014/main" id="{C622039D-B70D-4DBF-BC65-4363D4FAE5CD}"/>
              </a:ext>
            </a:extLst>
          </p:cNvPr>
          <p:cNvSpPr>
            <a:spLocks noGrp="1"/>
          </p:cNvSpPr>
          <p:nvPr/>
        </p:nvSpPr>
        <p:spPr>
          <a:xfrm>
            <a:off x="45529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23" name="row-1-index-3">
            <a:extLst>
              <a:ext uri="{FF2B5EF4-FFF2-40B4-BE49-F238E27FC236}">
                <a16:creationId xmlns:a16="http://schemas.microsoft.com/office/drawing/2014/main" id="{7F2F688D-A917-4D45-8729-DCB2CF91CFDC}"/>
              </a:ext>
            </a:extLst>
          </p:cNvPr>
          <p:cNvSpPr>
            <a:spLocks noGrp="1"/>
          </p:cNvSpPr>
          <p:nvPr/>
        </p:nvSpPr>
        <p:spPr>
          <a:xfrm>
            <a:off x="59245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24" name="row-1-index-4">
            <a:extLst>
              <a:ext uri="{FF2B5EF4-FFF2-40B4-BE49-F238E27FC236}">
                <a16:creationId xmlns:a16="http://schemas.microsoft.com/office/drawing/2014/main" id="{B35D6765-577E-4CED-B011-3E528EC127D9}"/>
              </a:ext>
            </a:extLst>
          </p:cNvPr>
          <p:cNvSpPr>
            <a:spLocks noGrp="1"/>
          </p:cNvSpPr>
          <p:nvPr/>
        </p:nvSpPr>
        <p:spPr>
          <a:xfrm>
            <a:off x="72961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25" name="row-1-index-5">
            <a:extLst>
              <a:ext uri="{FF2B5EF4-FFF2-40B4-BE49-F238E27FC236}">
                <a16:creationId xmlns:a16="http://schemas.microsoft.com/office/drawing/2014/main" id="{BC57FD5F-0824-4ECC-BD73-980DB96543A4}"/>
              </a:ext>
            </a:extLst>
          </p:cNvPr>
          <p:cNvSpPr>
            <a:spLocks noGrp="1"/>
          </p:cNvSpPr>
          <p:nvPr/>
        </p:nvSpPr>
        <p:spPr>
          <a:xfrm>
            <a:off x="8667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26" name="code">
            <a:extLst>
              <a:ext uri="{FF2B5EF4-FFF2-40B4-BE49-F238E27FC236}">
                <a16:creationId xmlns:a16="http://schemas.microsoft.com/office/drawing/2014/main" id="{7A2E3518-A974-461B-9DB6-056B638B63A9}"/>
              </a:ext>
            </a:extLst>
          </p:cNvPr>
          <p:cNvSpPr>
            <a:spLocks noGrp="1"/>
          </p:cNvSpPr>
          <p:nvPr/>
        </p:nvSpPr>
        <p:spPr>
          <a:xfrm>
            <a:off x="1809750" y="2438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a[0], a[1] = a[1], a[0]</a:t>
            </a:r>
          </a:p>
        </p:txBody>
      </p:sp>
      <p:sp>
        <p:nvSpPr>
          <p:cNvPr id="27" name="caption">
            <a:extLst>
              <a:ext uri="{FF2B5EF4-FFF2-40B4-BE49-F238E27FC236}">
                <a16:creationId xmlns:a16="http://schemas.microsoft.com/office/drawing/2014/main" id="{7EB078FF-EA48-440C-AEC1-CC541F05A886}"/>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이번 구간의 hi는 1입니다. 그 뒤의 칸은 바꾸지 않습니다.</a:t>
            </a:r>
          </a:p>
        </p:txBody>
      </p:sp>
      <p:sp>
        <p:nvSpPr>
          <p:cNvPr id="28" name="footer">
            <a:extLst>
              <a:ext uri="{FF2B5EF4-FFF2-40B4-BE49-F238E27FC236}">
                <a16:creationId xmlns:a16="http://schemas.microsoft.com/office/drawing/2014/main" id="{CF83EAB4-6654-40E2-9E23-6E80D3FEAC25}"/>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9" name="page">
            <a:extLst>
              <a:ext uri="{FF2B5EF4-FFF2-40B4-BE49-F238E27FC236}">
                <a16:creationId xmlns:a16="http://schemas.microsoft.com/office/drawing/2014/main" id="{8C1D22E5-89E9-4996-8997-7C16EBC388D8}"/>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66</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20536884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7109DD84-FF14-4B5D-81D8-D925965919AA}"/>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C7F71941-0668-4661-8B02-6604BF4D60C3}"/>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7711A2E4-F644-43E2-9DEE-0FD69DB83369}"/>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3: L = R = 0에서 시작</a:t>
            </a:r>
          </a:p>
        </p:txBody>
      </p:sp>
      <p:sp>
        <p:nvSpPr>
          <p:cNvPr id="4" name="직사각형 3">
            <a:extLst>
              <a:ext uri="{FF2B5EF4-FFF2-40B4-BE49-F238E27FC236}">
                <a16:creationId xmlns:a16="http://schemas.microsoft.com/office/drawing/2014/main" id="{0AC14260-5A5D-4946-97E3-B7BBBFEA8616}"/>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73186957-0584-4BD2-A217-CFEE9470B088}"/>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3은 인덱스 1에 두고, 앞의 값 1만 검사합니다.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L과 R은 모두 인덱스 0을 가리킵니다. 1 ≤ 3이므로 L을 늘립니다.</a:t>
            </a:r>
          </a:p>
        </p:txBody>
      </p:sp>
      <p:sp>
        <p:nvSpPr>
          <p:cNvPr id="6" name="row-0-label">
            <a:extLst>
              <a:ext uri="{FF2B5EF4-FFF2-40B4-BE49-F238E27FC236}">
                <a16:creationId xmlns:a16="http://schemas.microsoft.com/office/drawing/2014/main" id="{C7034892-BB77-4D73-B227-CE2F84612420}"/>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B8C9C7F3-CAD5-4131-BD4A-0B73130D22AA}"/>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DCECFB"/>
                    </a:solidFill>
                  </a:tcPr>
                </a:tc>
                <a:tc>
                  <a:txBody>
                    <a:bodyPr/>
                    <a:lstStyle/>
                    <a:p>
                      <a:pPr algn="ctr"/>
                      <a:r>
                        <a:rPr sz="2475" b="1">
                          <a:solidFill>
                            <a:srgbClr val="151515"/>
                          </a:solidFill>
                          <a:latin typeface="Consolas"/>
                          <a:ea typeface="Consolas"/>
                          <a:cs typeface="Consolas"/>
                        </a:rPr>
                        <a:t>3</a:t>
                      </a:r>
                    </a:p>
                  </a:txBody>
                  <a:tcPr anchor="ctr">
                    <a:solidFill>
                      <a:srgbClr val="FDE5BB"/>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077F78A4-0562-4E19-86D4-96228726F9FE}"/>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pointer-0-0">
            <a:extLst>
              <a:ext uri="{FF2B5EF4-FFF2-40B4-BE49-F238E27FC236}">
                <a16:creationId xmlns:a16="http://schemas.microsoft.com/office/drawing/2014/main" id="{0456D762-7AF2-4CDC-AFE4-E04640B9D670}"/>
              </a:ext>
            </a:extLst>
          </p:cNvPr>
          <p:cNvSpPr>
            <a:spLocks noGrp="1"/>
          </p:cNvSpPr>
          <p:nvPr/>
        </p:nvSpPr>
        <p:spPr>
          <a:xfrm>
            <a:off x="18097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0" name="row-0-pointer-0-1">
            <a:extLst>
              <a:ext uri="{FF2B5EF4-FFF2-40B4-BE49-F238E27FC236}">
                <a16:creationId xmlns:a16="http://schemas.microsoft.com/office/drawing/2014/main" id="{D7A6A221-98AE-41F1-A327-026A3CCFA3A5}"/>
              </a:ext>
            </a:extLst>
          </p:cNvPr>
          <p:cNvSpPr>
            <a:spLocks noGrp="1"/>
          </p:cNvSpPr>
          <p:nvPr/>
        </p:nvSpPr>
        <p:spPr>
          <a:xfrm>
            <a:off x="1809750" y="435292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1" name="row-0-index-1">
            <a:extLst>
              <a:ext uri="{FF2B5EF4-FFF2-40B4-BE49-F238E27FC236}">
                <a16:creationId xmlns:a16="http://schemas.microsoft.com/office/drawing/2014/main" id="{159D7E9B-A79D-49F7-AA88-2D8ADA022A39}"/>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2" name="row-0-pointer-1-0">
            <a:extLst>
              <a:ext uri="{FF2B5EF4-FFF2-40B4-BE49-F238E27FC236}">
                <a16:creationId xmlns:a16="http://schemas.microsoft.com/office/drawing/2014/main" id="{BD3DD98A-C124-4DA8-8AE5-E6892079DADE}"/>
              </a:ext>
            </a:extLst>
          </p:cNvPr>
          <p:cNvSpPr>
            <a:spLocks noGrp="1"/>
          </p:cNvSpPr>
          <p:nvPr/>
        </p:nvSpPr>
        <p:spPr>
          <a:xfrm>
            <a:off x="31813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3" name="row-0-index-2">
            <a:extLst>
              <a:ext uri="{FF2B5EF4-FFF2-40B4-BE49-F238E27FC236}">
                <a16:creationId xmlns:a16="http://schemas.microsoft.com/office/drawing/2014/main" id="{202D1E0B-7916-468A-9D2E-6B227D423B69}"/>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4" name="row-0-index-3">
            <a:extLst>
              <a:ext uri="{FF2B5EF4-FFF2-40B4-BE49-F238E27FC236}">
                <a16:creationId xmlns:a16="http://schemas.microsoft.com/office/drawing/2014/main" id="{16680766-7EEB-4A12-98E3-D4EA45D6D6DB}"/>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5" name="row-0-index-4">
            <a:extLst>
              <a:ext uri="{FF2B5EF4-FFF2-40B4-BE49-F238E27FC236}">
                <a16:creationId xmlns:a16="http://schemas.microsoft.com/office/drawing/2014/main" id="{02B5E842-5AA0-48F5-93B2-F5834159FED1}"/>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6" name="row-0-index-5">
            <a:extLst>
              <a:ext uri="{FF2B5EF4-FFF2-40B4-BE49-F238E27FC236}">
                <a16:creationId xmlns:a16="http://schemas.microsoft.com/office/drawing/2014/main" id="{365E78C6-53C1-450B-86A1-6A3752CC6D34}"/>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7" name="code">
            <a:extLst>
              <a:ext uri="{FF2B5EF4-FFF2-40B4-BE49-F238E27FC236}">
                <a16:creationId xmlns:a16="http://schemas.microsoft.com/office/drawing/2014/main" id="{7660B134-347A-46BB-8135-ABD67819CC3A}"/>
              </a:ext>
            </a:extLst>
          </p:cNvPr>
          <p:cNvSpPr>
            <a:spLocks noGrp="1"/>
          </p:cNvSpPr>
          <p:nvPr/>
        </p:nvSpPr>
        <p:spPr>
          <a:xfrm>
            <a:off x="1809750" y="5105400"/>
            <a:ext cx="9772650" cy="6858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pivot = 3</a:t>
            </a:r>
          </a:p>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L, R = 0, 0</a:t>
            </a:r>
          </a:p>
        </p:txBody>
      </p:sp>
      <p:sp>
        <p:nvSpPr>
          <p:cNvPr id="18" name="caption">
            <a:extLst>
              <a:ext uri="{FF2B5EF4-FFF2-40B4-BE49-F238E27FC236}">
                <a16:creationId xmlns:a16="http://schemas.microsoft.com/office/drawing/2014/main" id="{7D26C921-7161-4CA8-B867-0FD0DBA6D46C}"/>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L = R이어도 현재 칸을 한 번 검사합니다.</a:t>
            </a:r>
          </a:p>
        </p:txBody>
      </p:sp>
      <p:sp>
        <p:nvSpPr>
          <p:cNvPr id="19" name="footer">
            <a:extLst>
              <a:ext uri="{FF2B5EF4-FFF2-40B4-BE49-F238E27FC236}">
                <a16:creationId xmlns:a16="http://schemas.microsoft.com/office/drawing/2014/main" id="{676998A6-DA83-46BF-BD18-24498C98FF40}"/>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0" name="page">
            <a:extLst>
              <a:ext uri="{FF2B5EF4-FFF2-40B4-BE49-F238E27FC236}">
                <a16:creationId xmlns:a16="http://schemas.microsoft.com/office/drawing/2014/main" id="{4EBCA455-20E3-4110-91A6-DF2164DF56FE}"/>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67</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28007669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1ADC1441-61B9-49D6-998C-A315A929D36E}"/>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EEADE77A-A667-48A9-814D-E89C6AC2193C}"/>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0F13D902-C6E4-4521-9AEA-57C1100F37FA}"/>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3: 교차 후 인덱스 1 확정</a:t>
            </a:r>
          </a:p>
        </p:txBody>
      </p:sp>
      <p:sp>
        <p:nvSpPr>
          <p:cNvPr id="4" name="직사각형 3">
            <a:extLst>
              <a:ext uri="{FF2B5EF4-FFF2-40B4-BE49-F238E27FC236}">
                <a16:creationId xmlns:a16="http://schemas.microsoft.com/office/drawing/2014/main" id="{523FF129-B995-4990-B6AD-11D71487A3FC}"/>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6B637673-FB75-4713-9505-832DC2FCA7EA}"/>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1 ≤ 3이므로 L = 1, R = 0이 되어 탐색을 끝냅니다.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 = hi = 1입니다. 마지막 교환은 3과 자기 자신이므로 배열은 그대로입니다.</a:t>
            </a:r>
          </a:p>
        </p:txBody>
      </p:sp>
      <p:sp>
        <p:nvSpPr>
          <p:cNvPr id="6" name="row-0-label">
            <a:extLst>
              <a:ext uri="{FF2B5EF4-FFF2-40B4-BE49-F238E27FC236}">
                <a16:creationId xmlns:a16="http://schemas.microsoft.com/office/drawing/2014/main" id="{F8CC12BB-8821-4162-94C1-F06A4FC68BBD}"/>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828EB925-FC96-440E-9724-11FF29103EE0}"/>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DDEFE6"/>
                    </a:solidFill>
                  </a:tcPr>
                </a:tc>
                <a:tc>
                  <a:txBody>
                    <a:bodyPr/>
                    <a:lstStyle/>
                    <a:p>
                      <a:pPr algn="ctr"/>
                      <a:r>
                        <a:rPr sz="2475" b="1">
                          <a:solidFill>
                            <a:srgbClr val="151515"/>
                          </a:solidFill>
                          <a:latin typeface="Consolas"/>
                          <a:ea typeface="Consolas"/>
                          <a:cs typeface="Consolas"/>
                        </a:rPr>
                        <a:t>3</a:t>
                      </a:r>
                    </a:p>
                  </a:txBody>
                  <a:tcPr anchor="ctr">
                    <a:solidFill>
                      <a:srgbClr val="FDE5BB"/>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4874C374-1747-4B42-B295-A00AC73A43BC}"/>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pointer-0-0">
            <a:extLst>
              <a:ext uri="{FF2B5EF4-FFF2-40B4-BE49-F238E27FC236}">
                <a16:creationId xmlns:a16="http://schemas.microsoft.com/office/drawing/2014/main" id="{84A1A805-7AF5-425A-ADB3-2668826B8B96}"/>
              </a:ext>
            </a:extLst>
          </p:cNvPr>
          <p:cNvSpPr>
            <a:spLocks noGrp="1"/>
          </p:cNvSpPr>
          <p:nvPr/>
        </p:nvSpPr>
        <p:spPr>
          <a:xfrm>
            <a:off x="1809750" y="402907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0" name="row-0-index-1">
            <a:extLst>
              <a:ext uri="{FF2B5EF4-FFF2-40B4-BE49-F238E27FC236}">
                <a16:creationId xmlns:a16="http://schemas.microsoft.com/office/drawing/2014/main" id="{7ECA0C79-0956-4961-9FBE-B8E84BF2A92F}"/>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1" name="row-0-pointer-1-0">
            <a:extLst>
              <a:ext uri="{FF2B5EF4-FFF2-40B4-BE49-F238E27FC236}">
                <a16:creationId xmlns:a16="http://schemas.microsoft.com/office/drawing/2014/main" id="{A44DE6E0-B08C-4162-839E-67ADBA41466A}"/>
              </a:ext>
            </a:extLst>
          </p:cNvPr>
          <p:cNvSpPr>
            <a:spLocks noGrp="1"/>
          </p:cNvSpPr>
          <p:nvPr/>
        </p:nvSpPr>
        <p:spPr>
          <a:xfrm>
            <a:off x="31813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2" name="row-0-pointer-1-1">
            <a:extLst>
              <a:ext uri="{FF2B5EF4-FFF2-40B4-BE49-F238E27FC236}">
                <a16:creationId xmlns:a16="http://schemas.microsoft.com/office/drawing/2014/main" id="{C00442E2-6CF2-488C-870D-2E3400ACF93F}"/>
              </a:ext>
            </a:extLst>
          </p:cNvPr>
          <p:cNvSpPr>
            <a:spLocks noGrp="1"/>
          </p:cNvSpPr>
          <p:nvPr/>
        </p:nvSpPr>
        <p:spPr>
          <a:xfrm>
            <a:off x="3181350" y="435292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3" name="row-0-index-2">
            <a:extLst>
              <a:ext uri="{FF2B5EF4-FFF2-40B4-BE49-F238E27FC236}">
                <a16:creationId xmlns:a16="http://schemas.microsoft.com/office/drawing/2014/main" id="{191EC43E-2CC8-449C-B3DA-74610E377939}"/>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4" name="row-0-index-3">
            <a:extLst>
              <a:ext uri="{FF2B5EF4-FFF2-40B4-BE49-F238E27FC236}">
                <a16:creationId xmlns:a16="http://schemas.microsoft.com/office/drawing/2014/main" id="{16031156-78A0-49BC-ABEA-7EE15933F6FC}"/>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5" name="row-0-index-4">
            <a:extLst>
              <a:ext uri="{FF2B5EF4-FFF2-40B4-BE49-F238E27FC236}">
                <a16:creationId xmlns:a16="http://schemas.microsoft.com/office/drawing/2014/main" id="{CCC3495D-2994-4CE7-B754-775172C07174}"/>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6" name="row-0-index-5">
            <a:extLst>
              <a:ext uri="{FF2B5EF4-FFF2-40B4-BE49-F238E27FC236}">
                <a16:creationId xmlns:a16="http://schemas.microsoft.com/office/drawing/2014/main" id="{804134F0-89A0-4018-9D55-7DA83470DE82}"/>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7" name="code">
            <a:extLst>
              <a:ext uri="{FF2B5EF4-FFF2-40B4-BE49-F238E27FC236}">
                <a16:creationId xmlns:a16="http://schemas.microsoft.com/office/drawing/2014/main" id="{30B2C662-6855-485A-BA1F-966CCB0C5DE9}"/>
              </a:ext>
            </a:extLst>
          </p:cNvPr>
          <p:cNvSpPr>
            <a:spLocks noGrp="1"/>
          </p:cNvSpPr>
          <p:nvPr/>
        </p:nvSpPr>
        <p:spPr>
          <a:xfrm>
            <a:off x="1809750" y="5105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a[1], a[1] = a[1], a[1]</a:t>
            </a:r>
          </a:p>
        </p:txBody>
      </p:sp>
      <p:sp>
        <p:nvSpPr>
          <p:cNvPr id="18" name="caption">
            <a:extLst>
              <a:ext uri="{FF2B5EF4-FFF2-40B4-BE49-F238E27FC236}">
                <a16:creationId xmlns:a16="http://schemas.microsoft.com/office/drawing/2014/main" id="{EB0D1F38-FCD2-493A-9867-84C53CEF7E84}"/>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partition의 반환값 p = 1입니다. 다음 구간은 [0,0]과 [2,1]입니다.</a:t>
            </a:r>
          </a:p>
        </p:txBody>
      </p:sp>
      <p:sp>
        <p:nvSpPr>
          <p:cNvPr id="19" name="footer">
            <a:extLst>
              <a:ext uri="{FF2B5EF4-FFF2-40B4-BE49-F238E27FC236}">
                <a16:creationId xmlns:a16="http://schemas.microsoft.com/office/drawing/2014/main" id="{B165DDF9-D1A9-4875-A397-46B027BFE524}"/>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0" name="page">
            <a:extLst>
              <a:ext uri="{FF2B5EF4-FFF2-40B4-BE49-F238E27FC236}">
                <a16:creationId xmlns:a16="http://schemas.microsoft.com/office/drawing/2014/main" id="{60D4FFFE-6F44-458A-9D4F-144FF4D540B1}"/>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68</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10077363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ection">
            <a:extLst>
              <a:ext uri="{FF2B5EF4-FFF2-40B4-BE49-F238E27FC236}">
                <a16:creationId xmlns:a16="http://schemas.microsoft.com/office/drawing/2014/main" id="{F192DB85-93C6-478E-8F6B-76E07A65F5FE}"/>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7ED5BC9D-E7CC-406D-9219-BF92AEC5A3A0}"/>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FBACA2BC-2E3E-4F96-9505-CDF41A3B3F44}"/>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종료 조건: 한 칸과 빈 구간</a:t>
            </a:r>
          </a:p>
        </p:txBody>
      </p:sp>
      <p:sp>
        <p:nvSpPr>
          <p:cNvPr id="4" name="직사각형 3">
            <a:extLst>
              <a:ext uri="{FF2B5EF4-FFF2-40B4-BE49-F238E27FC236}">
                <a16:creationId xmlns:a16="http://schemas.microsoft.com/office/drawing/2014/main" id="{FAD47C47-44CD-4234-A09D-4F7F13AE4B49}"/>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4E6BF5B4-4557-4D37-97DE-C1EF46581FA0}"/>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quick_sort(a, 0, 0)은 원소 하나입니다. quick_sort(a, 2, 1)은 빈 구간입니다.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두 호출 모두 lo ≥ hi이므로 partition을 호출하지 않고 바로 돌아옵니다.</a:t>
            </a:r>
          </a:p>
        </p:txBody>
      </p:sp>
      <p:sp>
        <p:nvSpPr>
          <p:cNvPr id="6" name="row-0-label">
            <a:extLst>
              <a:ext uri="{FF2B5EF4-FFF2-40B4-BE49-F238E27FC236}">
                <a16:creationId xmlns:a16="http://schemas.microsoft.com/office/drawing/2014/main" id="{7F80258D-7855-4227-857C-DDC97A8B2CF6}"/>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EA4CE81B-66C7-4BCF-8FF4-642B7E6264B8}"/>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DCECFB"/>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CECEC"/>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6C5570D9-30DD-42F2-AC4D-329D1E4325B1}"/>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pointer-0-0">
            <a:extLst>
              <a:ext uri="{FF2B5EF4-FFF2-40B4-BE49-F238E27FC236}">
                <a16:creationId xmlns:a16="http://schemas.microsoft.com/office/drawing/2014/main" id="{5DCDC746-BA00-44B7-9E24-EF23306B3F37}"/>
              </a:ext>
            </a:extLst>
          </p:cNvPr>
          <p:cNvSpPr>
            <a:spLocks noGrp="1"/>
          </p:cNvSpPr>
          <p:nvPr/>
        </p:nvSpPr>
        <p:spPr>
          <a:xfrm>
            <a:off x="18097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한 칸</a:t>
            </a:r>
          </a:p>
        </p:txBody>
      </p:sp>
      <p:sp>
        <p:nvSpPr>
          <p:cNvPr id="10" name="row-0-index-1">
            <a:extLst>
              <a:ext uri="{FF2B5EF4-FFF2-40B4-BE49-F238E27FC236}">
                <a16:creationId xmlns:a16="http://schemas.microsoft.com/office/drawing/2014/main" id="{12800F57-30BE-4E0B-8544-A41202271B49}"/>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1" name="row-0-index-2">
            <a:extLst>
              <a:ext uri="{FF2B5EF4-FFF2-40B4-BE49-F238E27FC236}">
                <a16:creationId xmlns:a16="http://schemas.microsoft.com/office/drawing/2014/main" id="{478F0DEE-33E5-43B9-B7AF-CC92862FC659}"/>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2" name="row-0-index-3">
            <a:extLst>
              <a:ext uri="{FF2B5EF4-FFF2-40B4-BE49-F238E27FC236}">
                <a16:creationId xmlns:a16="http://schemas.microsoft.com/office/drawing/2014/main" id="{B1ECA3A5-A7B5-4F65-AB9D-BA3C04F3CDD8}"/>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3" name="row-0-index-4">
            <a:extLst>
              <a:ext uri="{FF2B5EF4-FFF2-40B4-BE49-F238E27FC236}">
                <a16:creationId xmlns:a16="http://schemas.microsoft.com/office/drawing/2014/main" id="{A6ED8301-4AF4-4062-8FA9-FE856EFEF0E9}"/>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4" name="row-0-index-5">
            <a:extLst>
              <a:ext uri="{FF2B5EF4-FFF2-40B4-BE49-F238E27FC236}">
                <a16:creationId xmlns:a16="http://schemas.microsoft.com/office/drawing/2014/main" id="{6ABC2848-CEB8-43C0-BD31-FB603E666318}"/>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5" name="code">
            <a:extLst>
              <a:ext uri="{FF2B5EF4-FFF2-40B4-BE49-F238E27FC236}">
                <a16:creationId xmlns:a16="http://schemas.microsoft.com/office/drawing/2014/main" id="{065BA7E0-3BE0-40F6-94E6-DAB0313D32EA}"/>
              </a:ext>
            </a:extLst>
          </p:cNvPr>
          <p:cNvSpPr>
            <a:spLocks noGrp="1"/>
          </p:cNvSpPr>
          <p:nvPr/>
        </p:nvSpPr>
        <p:spPr>
          <a:xfrm>
            <a:off x="1809750" y="5105400"/>
            <a:ext cx="9772650" cy="6858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0, 0)</a:t>
            </a:r>
          </a:p>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2, 1)</a:t>
            </a:r>
          </a:p>
        </p:txBody>
      </p:sp>
      <p:sp>
        <p:nvSpPr>
          <p:cNvPr id="16" name="caption">
            <a:extLst>
              <a:ext uri="{FF2B5EF4-FFF2-40B4-BE49-F238E27FC236}">
                <a16:creationId xmlns:a16="http://schemas.microsoft.com/office/drawing/2014/main" id="{AA154F91-BEC3-4427-9059-FEDC46C44837}"/>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종료 조건 lo ≥ hi는 원소 하나인 경우와 빈 구간을 함께 처리합니다.</a:t>
            </a:r>
          </a:p>
        </p:txBody>
      </p:sp>
      <p:sp>
        <p:nvSpPr>
          <p:cNvPr id="17" name="footer">
            <a:extLst>
              <a:ext uri="{FF2B5EF4-FFF2-40B4-BE49-F238E27FC236}">
                <a16:creationId xmlns:a16="http://schemas.microsoft.com/office/drawing/2014/main" id="{E30B158D-FA03-4AAC-9A95-DF098FD5328F}"/>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18" name="page">
            <a:extLst>
              <a:ext uri="{FF2B5EF4-FFF2-40B4-BE49-F238E27FC236}">
                <a16:creationId xmlns:a16="http://schemas.microsoft.com/office/drawing/2014/main" id="{E4FD7409-D2A4-47CD-9CD7-E41711119C84}"/>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69</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4713908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ection">
            <a:extLst>
              <a:ext uri="{FF2B5EF4-FFF2-40B4-BE49-F238E27FC236}">
                <a16:creationId xmlns:a16="http://schemas.microsoft.com/office/drawing/2014/main" id="{D4B75C87-C384-4F10-9CA5-E0C7A4CAA539}"/>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CA7FC5DD-56BE-4F27-A504-1069704755F0}"/>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027231F9-9F41-4AD3-B993-EEC16BC477ED}"/>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왼쪽 정렬 종료와 원래 호출로 복귀</a:t>
            </a:r>
          </a:p>
        </p:txBody>
      </p:sp>
      <p:sp>
        <p:nvSpPr>
          <p:cNvPr id="4" name="직사각형 3">
            <a:extLst>
              <a:ext uri="{FF2B5EF4-FFF2-40B4-BE49-F238E27FC236}">
                <a16:creationId xmlns:a16="http://schemas.microsoft.com/office/drawing/2014/main" id="{22D3A6B6-E3A8-413D-A8BB-BC72B903A01C}"/>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DF05A1F6-F206-4EE5-A2A8-03933AA77A7C}"/>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구간 0~1을 끝내고 0~2 호출로 돌아옵니다. 오른쪽 [3,2]도 빈 구간입니다.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[1,3,4]를 모두 끝냈으므로, 원래 0~5 호출에서 오른쪽 4~5를 시작합니다.</a:t>
            </a:r>
          </a:p>
        </p:txBody>
      </p:sp>
      <p:sp>
        <p:nvSpPr>
          <p:cNvPr id="6" name="row-0-label">
            <a:extLst>
              <a:ext uri="{FF2B5EF4-FFF2-40B4-BE49-F238E27FC236}">
                <a16:creationId xmlns:a16="http://schemas.microsoft.com/office/drawing/2014/main" id="{D099AA8C-06F7-4CC7-85AD-F3F1BAF97E44}"/>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DEB7039F-4D96-4F6A-BA0C-8327AFA540FA}"/>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DCECFB"/>
                    </a:solidFill>
                  </a:tcPr>
                </a:tc>
                <a:tc>
                  <a:txBody>
                    <a:bodyPr/>
                    <a:lstStyle/>
                    <a:p>
                      <a:pPr algn="ctr"/>
                      <a:r>
                        <a:rPr sz="2475" b="1">
                          <a:solidFill>
                            <a:srgbClr val="151515"/>
                          </a:solidFill>
                          <a:latin typeface="Consolas"/>
                          <a:ea typeface="Consolas"/>
                          <a:cs typeface="Consolas"/>
                        </a:rPr>
                        <a:t>3</a:t>
                      </a:r>
                    </a:p>
                  </a:txBody>
                  <a:tcPr anchor="ctr">
                    <a:solidFill>
                      <a:srgbClr val="DCECFB"/>
                    </a:solidFill>
                  </a:tcPr>
                </a:tc>
                <a:tc>
                  <a:txBody>
                    <a:bodyPr/>
                    <a:lstStyle/>
                    <a:p>
                      <a:pPr algn="ctr"/>
                      <a:r>
                        <a:rPr sz="2475" b="1">
                          <a:solidFill>
                            <a:srgbClr val="151515"/>
                          </a:solidFill>
                          <a:latin typeface="Consolas"/>
                          <a:ea typeface="Consolas"/>
                          <a:cs typeface="Consolas"/>
                        </a:rPr>
                        <a:t>4</a:t>
                      </a:r>
                    </a:p>
                  </a:txBody>
                  <a:tcPr anchor="ctr">
                    <a:solidFill>
                      <a:srgbClr val="DCECFB"/>
                    </a:solidFill>
                  </a:tcPr>
                </a:tc>
                <a:tc>
                  <a:txBody>
                    <a:bodyPr/>
                    <a:lstStyle/>
                    <a:p>
                      <a:pPr algn="ctr"/>
                      <a:r>
                        <a:rPr sz="2475" b="1">
                          <a:solidFill>
                            <a:srgbClr val="151515"/>
                          </a:solidFill>
                          <a:latin typeface="Consolas"/>
                          <a:ea typeface="Consolas"/>
                          <a:cs typeface="Consolas"/>
                        </a:rPr>
                        <a:t>6</a:t>
                      </a:r>
                    </a:p>
                  </a:txBody>
                  <a:tcPr anchor="ctr">
                    <a:solidFill>
                      <a:srgbClr val="FDE5BB"/>
                    </a:solidFill>
                  </a:tcPr>
                </a:tc>
                <a:tc>
                  <a:txBody>
                    <a:bodyPr/>
                    <a:lstStyle/>
                    <a:p>
                      <a:pPr algn="ctr"/>
                      <a:r>
                        <a:rPr sz="2475" b="1">
                          <a:solidFill>
                            <a:srgbClr val="151515"/>
                          </a:solidFill>
                          <a:latin typeface="Consolas"/>
                          <a:ea typeface="Consolas"/>
                          <a:cs typeface="Consolas"/>
                        </a:rPr>
                        <a:t>7</a:t>
                      </a:r>
                    </a:p>
                  </a:txBody>
                  <a:tcPr anchor="ctr">
                    <a:solidFill>
                      <a:srgbClr val="DDEFE6"/>
                    </a:solidFill>
                  </a:tcPr>
                </a:tc>
                <a:tc>
                  <a:txBody>
                    <a:bodyPr/>
                    <a:lstStyle/>
                    <a:p>
                      <a:pPr algn="ctr"/>
                      <a:r>
                        <a:rPr sz="2475" b="1">
                          <a:solidFill>
                            <a:srgbClr val="151515"/>
                          </a:solidFill>
                          <a:latin typeface="Consolas"/>
                          <a:ea typeface="Consolas"/>
                          <a:cs typeface="Consolas"/>
                        </a:rPr>
                        <a:t>8</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57ECE670-C2F7-4E55-A211-A37758F9100E}"/>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48EF50E4-2B49-470E-B2AD-20CAFFFE47EA}"/>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9674C0D9-48DA-4332-99EA-FBD7C70C33C5}"/>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6EB0B82C-AF52-41E9-BE7A-F65CEF390418}"/>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pointer-3-0">
            <a:extLst>
              <a:ext uri="{FF2B5EF4-FFF2-40B4-BE49-F238E27FC236}">
                <a16:creationId xmlns:a16="http://schemas.microsoft.com/office/drawing/2014/main" id="{ED72CA73-18CA-4E24-B2DE-9DB5B96D9B03}"/>
              </a:ext>
            </a:extLst>
          </p:cNvPr>
          <p:cNvSpPr>
            <a:spLocks noGrp="1"/>
          </p:cNvSpPr>
          <p:nvPr/>
        </p:nvSpPr>
        <p:spPr>
          <a:xfrm>
            <a:off x="59245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확정 6</a:t>
            </a:r>
          </a:p>
        </p:txBody>
      </p:sp>
      <p:sp>
        <p:nvSpPr>
          <p:cNvPr id="13" name="row-0-index-4">
            <a:extLst>
              <a:ext uri="{FF2B5EF4-FFF2-40B4-BE49-F238E27FC236}">
                <a16:creationId xmlns:a16="http://schemas.microsoft.com/office/drawing/2014/main" id="{4685CEE8-6969-49AA-9659-D1ADE72684C7}"/>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4" name="row-0-index-5">
            <a:extLst>
              <a:ext uri="{FF2B5EF4-FFF2-40B4-BE49-F238E27FC236}">
                <a16:creationId xmlns:a16="http://schemas.microsoft.com/office/drawing/2014/main" id="{4F7652A8-03BB-40E2-8C89-B797D81A24BA}"/>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5" name="code">
            <a:extLst>
              <a:ext uri="{FF2B5EF4-FFF2-40B4-BE49-F238E27FC236}">
                <a16:creationId xmlns:a16="http://schemas.microsoft.com/office/drawing/2014/main" id="{3FDCB438-5878-4B7F-A3AB-F2C1984EDA99}"/>
              </a:ext>
            </a:extLst>
          </p:cNvPr>
          <p:cNvSpPr>
            <a:spLocks noGrp="1"/>
          </p:cNvSpPr>
          <p:nvPr/>
        </p:nvSpPr>
        <p:spPr>
          <a:xfrm>
            <a:off x="1809750" y="5105400"/>
            <a:ext cx="9772650" cy="6858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3, 2)</a:t>
            </a:r>
          </a:p>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4, 5)</a:t>
            </a:r>
          </a:p>
        </p:txBody>
      </p:sp>
      <p:sp>
        <p:nvSpPr>
          <p:cNvPr id="16" name="caption">
            <a:extLst>
              <a:ext uri="{FF2B5EF4-FFF2-40B4-BE49-F238E27FC236}">
                <a16:creationId xmlns:a16="http://schemas.microsoft.com/office/drawing/2014/main" id="{F6C1329D-2D1A-4A4E-A5A9-5E647F3840BD}"/>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왼쪽 [1,3,4]는 완료했습니다. 다음 검사 범위는 인덱스 4~5입니다.</a:t>
            </a:r>
          </a:p>
        </p:txBody>
      </p:sp>
      <p:sp>
        <p:nvSpPr>
          <p:cNvPr id="17" name="footer">
            <a:extLst>
              <a:ext uri="{FF2B5EF4-FFF2-40B4-BE49-F238E27FC236}">
                <a16:creationId xmlns:a16="http://schemas.microsoft.com/office/drawing/2014/main" id="{BF92A377-47AD-4DB0-A5A3-9505ECD31B88}"/>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18" name="page">
            <a:extLst>
              <a:ext uri="{FF2B5EF4-FFF2-40B4-BE49-F238E27FC236}">
                <a16:creationId xmlns:a16="http://schemas.microsoft.com/office/drawing/2014/main" id="{2A7A23A8-80E1-4C3D-8207-A4C9419A73A9}"/>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70</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1219548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ection">
            <a:extLst>
              <a:ext uri="{FF2B5EF4-FFF2-40B4-BE49-F238E27FC236}">
                <a16:creationId xmlns:a16="http://schemas.microsoft.com/office/drawing/2014/main" id="{E7B1217A-525C-4D4F-8342-1359B31C009E}"/>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30F85ED2-B795-4006-8345-862DF6CC3243}"/>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439DD29D-7754-437D-A04A-DFA0614E5286}"/>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오른쪽 [7,8]: 피벗 7의 이동</a:t>
            </a:r>
          </a:p>
        </p:txBody>
      </p:sp>
      <p:sp>
        <p:nvSpPr>
          <p:cNvPr id="4" name="직사각형 3">
            <a:extLst>
              <a:ext uri="{FF2B5EF4-FFF2-40B4-BE49-F238E27FC236}">
                <a16:creationId xmlns:a16="http://schemas.microsoft.com/office/drawing/2014/main" id="{F91A1CA7-32CD-40D1-8414-7FB63F35EE15}"/>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AE4E7A78-5AE5-449D-BEC7-C38D3C691934}"/>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lo = 4, hi = 5입니다. 가운데 인덱스는 4이고 피벗은 a[4] = 7입니다.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7과 현재 구간의 마지막 값 a[5] = 8을 교환합니다.</a:t>
            </a:r>
          </a:p>
        </p:txBody>
      </p:sp>
      <p:sp>
        <p:nvSpPr>
          <p:cNvPr id="6" name="row-0-label">
            <a:extLst>
              <a:ext uri="{FF2B5EF4-FFF2-40B4-BE49-F238E27FC236}">
                <a16:creationId xmlns:a16="http://schemas.microsoft.com/office/drawing/2014/main" id="{F8B77709-7DAC-4A07-97D6-A9B7700DBF56}"/>
              </a:ext>
            </a:extLst>
          </p:cNvPr>
          <p:cNvSpPr>
            <a:spLocks noGrp="1"/>
          </p:cNvSpPr>
          <p:nvPr/>
        </p:nvSpPr>
        <p:spPr>
          <a:xfrm>
            <a:off x="609600" y="31718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전</a:t>
            </a:r>
          </a:p>
        </p:txBody>
      </p:sp>
      <p:graphicFrame>
        <p:nvGraphicFramePr>
          <p:cNvPr id="7" name="표 6">
            <a:extLst>
              <a:ext uri="{FF2B5EF4-FFF2-40B4-BE49-F238E27FC236}">
                <a16:creationId xmlns:a16="http://schemas.microsoft.com/office/drawing/2014/main" id="{F4E2F995-E11D-46E4-9EB1-4DF1D3648A44}"/>
              </a:ext>
            </a:extLst>
          </p:cNvPr>
          <p:cNvGraphicFramePr/>
          <p:nvPr/>
        </p:nvGraphicFramePr>
        <p:xfrm>
          <a:off x="1809750" y="30003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CECEC"/>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FDE5BB"/>
                    </a:solidFill>
                  </a:tcPr>
                </a:tc>
                <a:tc>
                  <a:txBody>
                    <a:bodyPr/>
                    <a:lstStyle/>
                    <a:p>
                      <a:pPr algn="ctr"/>
                      <a:r>
                        <a:rPr sz="2475" b="1">
                          <a:solidFill>
                            <a:srgbClr val="151515"/>
                          </a:solidFill>
                          <a:latin typeface="Consolas"/>
                          <a:ea typeface="Consolas"/>
                          <a:cs typeface="Consolas"/>
                        </a:rPr>
                        <a:t>8</a:t>
                      </a:r>
                    </a:p>
                  </a:txBody>
                  <a:tcPr anchor="ctr">
                    <a:solidFill>
                      <a:srgbClr val="E7E7E7"/>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6382C387-32F1-4D7D-8D2F-DAEDA8CFEAE3}"/>
              </a:ext>
            </a:extLst>
          </p:cNvPr>
          <p:cNvSpPr>
            <a:spLocks noGrp="1"/>
          </p:cNvSpPr>
          <p:nvPr/>
        </p:nvSpPr>
        <p:spPr>
          <a:xfrm>
            <a:off x="1809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BA6E7070-5059-465E-8721-11D9F731247C}"/>
              </a:ext>
            </a:extLst>
          </p:cNvPr>
          <p:cNvSpPr>
            <a:spLocks noGrp="1"/>
          </p:cNvSpPr>
          <p:nvPr/>
        </p:nvSpPr>
        <p:spPr>
          <a:xfrm>
            <a:off x="31813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D0A46364-5F44-48BA-8E6D-3E42FBD9443B}"/>
              </a:ext>
            </a:extLst>
          </p:cNvPr>
          <p:cNvSpPr>
            <a:spLocks noGrp="1"/>
          </p:cNvSpPr>
          <p:nvPr/>
        </p:nvSpPr>
        <p:spPr>
          <a:xfrm>
            <a:off x="45529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B87463D6-510E-4F19-A03B-D7B1595E35B6}"/>
              </a:ext>
            </a:extLst>
          </p:cNvPr>
          <p:cNvSpPr>
            <a:spLocks noGrp="1"/>
          </p:cNvSpPr>
          <p:nvPr/>
        </p:nvSpPr>
        <p:spPr>
          <a:xfrm>
            <a:off x="59245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index-4">
            <a:extLst>
              <a:ext uri="{FF2B5EF4-FFF2-40B4-BE49-F238E27FC236}">
                <a16:creationId xmlns:a16="http://schemas.microsoft.com/office/drawing/2014/main" id="{C9045F05-4786-4937-86BD-C451D82AF82B}"/>
              </a:ext>
            </a:extLst>
          </p:cNvPr>
          <p:cNvSpPr>
            <a:spLocks noGrp="1"/>
          </p:cNvSpPr>
          <p:nvPr/>
        </p:nvSpPr>
        <p:spPr>
          <a:xfrm>
            <a:off x="72961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3" name="row-0-pointer-4-0">
            <a:extLst>
              <a:ext uri="{FF2B5EF4-FFF2-40B4-BE49-F238E27FC236}">
                <a16:creationId xmlns:a16="http://schemas.microsoft.com/office/drawing/2014/main" id="{3E967BE9-CE7B-42E4-9F93-2F407D29A8E9}"/>
              </a:ext>
            </a:extLst>
          </p:cNvPr>
          <p:cNvSpPr>
            <a:spLocks noGrp="1"/>
          </p:cNvSpPr>
          <p:nvPr/>
        </p:nvSpPr>
        <p:spPr>
          <a:xfrm>
            <a:off x="7296150" y="38671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4" name="row-0-index-5">
            <a:extLst>
              <a:ext uri="{FF2B5EF4-FFF2-40B4-BE49-F238E27FC236}">
                <a16:creationId xmlns:a16="http://schemas.microsoft.com/office/drawing/2014/main" id="{20448A1E-9FA2-4945-9A76-A9881923268A}"/>
              </a:ext>
            </a:extLst>
          </p:cNvPr>
          <p:cNvSpPr>
            <a:spLocks noGrp="1"/>
          </p:cNvSpPr>
          <p:nvPr/>
        </p:nvSpPr>
        <p:spPr>
          <a:xfrm>
            <a:off x="8667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5" name="row-0-pointer-5-0">
            <a:extLst>
              <a:ext uri="{FF2B5EF4-FFF2-40B4-BE49-F238E27FC236}">
                <a16:creationId xmlns:a16="http://schemas.microsoft.com/office/drawing/2014/main" id="{8400B041-10E2-4507-BF8D-D7A9CD75C537}"/>
              </a:ext>
            </a:extLst>
          </p:cNvPr>
          <p:cNvSpPr>
            <a:spLocks noGrp="1"/>
          </p:cNvSpPr>
          <p:nvPr/>
        </p:nvSpPr>
        <p:spPr>
          <a:xfrm>
            <a:off x="8667750" y="38671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16" name="row-1-label">
            <a:extLst>
              <a:ext uri="{FF2B5EF4-FFF2-40B4-BE49-F238E27FC236}">
                <a16:creationId xmlns:a16="http://schemas.microsoft.com/office/drawing/2014/main" id="{B9E09BD3-BFA7-4E67-A428-DFD9BE3EF8EF}"/>
              </a:ext>
            </a:extLst>
          </p:cNvPr>
          <p:cNvSpPr>
            <a:spLocks noGrp="1"/>
          </p:cNvSpPr>
          <p:nvPr/>
        </p:nvSpPr>
        <p:spPr>
          <a:xfrm>
            <a:off x="609600" y="48863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후</a:t>
            </a:r>
          </a:p>
        </p:txBody>
      </p:sp>
      <p:graphicFrame>
        <p:nvGraphicFramePr>
          <p:cNvPr id="17" name="표 16">
            <a:extLst>
              <a:ext uri="{FF2B5EF4-FFF2-40B4-BE49-F238E27FC236}">
                <a16:creationId xmlns:a16="http://schemas.microsoft.com/office/drawing/2014/main" id="{B75C0B5F-C328-471E-9EE4-DCAE5F86E2EA}"/>
              </a:ext>
            </a:extLst>
          </p:cNvPr>
          <p:cNvGraphicFramePr/>
          <p:nvPr/>
        </p:nvGraphicFramePr>
        <p:xfrm>
          <a:off x="1809750" y="47148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CECEC"/>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E7E7E7"/>
                    </a:solidFill>
                  </a:tcPr>
                </a:tc>
                <a:tc>
                  <a:txBody>
                    <a:bodyPr/>
                    <a:lstStyle/>
                    <a:p>
                      <a:pPr algn="ctr"/>
                      <a:r>
                        <a:rPr sz="2475" b="1">
                          <a:solidFill>
                            <a:srgbClr val="151515"/>
                          </a:solidFill>
                          <a:latin typeface="Consolas"/>
                          <a:ea typeface="Consolas"/>
                          <a:cs typeface="Consolas"/>
                        </a:rPr>
                        <a:t>7</a:t>
                      </a:r>
                    </a:p>
                  </a:txBody>
                  <a:tcPr anchor="ctr">
                    <a:solidFill>
                      <a:srgbClr val="FDE5BB"/>
                    </a:solidFill>
                  </a:tcPr>
                </a:tc>
                <a:extLst>
                  <a:ext uri="{0D108BD9-81ED-4DB2-BD59-A6C34878D82A}">
                    <a16:rowId xmlns:a16="http://schemas.microsoft.com/office/drawing/2014/main" val="10000"/>
                  </a:ext>
                </a:extLst>
              </a:tr>
            </a:tbl>
          </a:graphicData>
        </a:graphic>
      </p:graphicFrame>
      <p:sp>
        <p:nvSpPr>
          <p:cNvPr id="18" name="row-1-index-0">
            <a:extLst>
              <a:ext uri="{FF2B5EF4-FFF2-40B4-BE49-F238E27FC236}">
                <a16:creationId xmlns:a16="http://schemas.microsoft.com/office/drawing/2014/main" id="{CB174DE0-DD4C-424E-9223-FD0939A01EDC}"/>
              </a:ext>
            </a:extLst>
          </p:cNvPr>
          <p:cNvSpPr>
            <a:spLocks noGrp="1"/>
          </p:cNvSpPr>
          <p:nvPr/>
        </p:nvSpPr>
        <p:spPr>
          <a:xfrm>
            <a:off x="1809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9" name="row-1-index-1">
            <a:extLst>
              <a:ext uri="{FF2B5EF4-FFF2-40B4-BE49-F238E27FC236}">
                <a16:creationId xmlns:a16="http://schemas.microsoft.com/office/drawing/2014/main" id="{41BCB1A2-20D7-4D4A-B249-89B0DEAB4C9B}"/>
              </a:ext>
            </a:extLst>
          </p:cNvPr>
          <p:cNvSpPr>
            <a:spLocks noGrp="1"/>
          </p:cNvSpPr>
          <p:nvPr/>
        </p:nvSpPr>
        <p:spPr>
          <a:xfrm>
            <a:off x="31813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20" name="row-1-index-2">
            <a:extLst>
              <a:ext uri="{FF2B5EF4-FFF2-40B4-BE49-F238E27FC236}">
                <a16:creationId xmlns:a16="http://schemas.microsoft.com/office/drawing/2014/main" id="{5E98F3F6-FFBB-4D33-8F99-54F83243C564}"/>
              </a:ext>
            </a:extLst>
          </p:cNvPr>
          <p:cNvSpPr>
            <a:spLocks noGrp="1"/>
          </p:cNvSpPr>
          <p:nvPr/>
        </p:nvSpPr>
        <p:spPr>
          <a:xfrm>
            <a:off x="45529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21" name="row-1-index-3">
            <a:extLst>
              <a:ext uri="{FF2B5EF4-FFF2-40B4-BE49-F238E27FC236}">
                <a16:creationId xmlns:a16="http://schemas.microsoft.com/office/drawing/2014/main" id="{243D8A04-902C-4B87-A9F1-31BB4A74E115}"/>
              </a:ext>
            </a:extLst>
          </p:cNvPr>
          <p:cNvSpPr>
            <a:spLocks noGrp="1"/>
          </p:cNvSpPr>
          <p:nvPr/>
        </p:nvSpPr>
        <p:spPr>
          <a:xfrm>
            <a:off x="59245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22" name="row-1-index-4">
            <a:extLst>
              <a:ext uri="{FF2B5EF4-FFF2-40B4-BE49-F238E27FC236}">
                <a16:creationId xmlns:a16="http://schemas.microsoft.com/office/drawing/2014/main" id="{D316660E-8CAE-4087-89EF-A8C5732F6E79}"/>
              </a:ext>
            </a:extLst>
          </p:cNvPr>
          <p:cNvSpPr>
            <a:spLocks noGrp="1"/>
          </p:cNvSpPr>
          <p:nvPr/>
        </p:nvSpPr>
        <p:spPr>
          <a:xfrm>
            <a:off x="72961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23" name="row-1-pointer-4-0">
            <a:extLst>
              <a:ext uri="{FF2B5EF4-FFF2-40B4-BE49-F238E27FC236}">
                <a16:creationId xmlns:a16="http://schemas.microsoft.com/office/drawing/2014/main" id="{1C489635-35DD-4A50-9EA2-98499488C359}"/>
              </a:ext>
            </a:extLst>
          </p:cNvPr>
          <p:cNvSpPr>
            <a:spLocks noGrp="1"/>
          </p:cNvSpPr>
          <p:nvPr/>
        </p:nvSpPr>
        <p:spPr>
          <a:xfrm>
            <a:off x="7296150" y="5581650"/>
            <a:ext cx="1371600" cy="304800"/>
          </a:xfrm>
          <a:prstGeom prst="rect">
            <a:avLst/>
          </a:prstGeom>
          <a:noFill/>
          <a:ln w="0">
            <a:noFill/>
          </a:ln>
        </p:spPr>
        <p:txBody>
          <a:bodyPr wrap="none" lIns="0" tIns="0" rIns="0" bIns="0" anchor="t">
            <a:noAutofit/>
          </a:bodyPr>
          <a:lstStyle>
            <a:defPPr algn="ctr">
              <a:defRPr sz="1725" b="1">
                <a:solidFill>
                  <a:srgbClr val="444444"/>
                </a:solidFill>
                <a:latin typeface="Malgun Gothic"/>
                <a:ea typeface="Malgun Gothic"/>
                <a:cs typeface="Malgun Gothic"/>
              </a:defRPr>
            </a:defPPr>
          </a:lstStyle>
          <a:p>
            <a:pPr algn="ctr">
              <a:lnSpc>
                <a:spcPct val="106000"/>
              </a:lnSpc>
              <a:buNone/>
              <a:defRPr sz="1725" b="1">
                <a:solidFill>
                  <a:srgbClr val="444444"/>
                </a:solidFill>
                <a:latin typeface="Malgun Gothic"/>
                <a:ea typeface="Malgun Gothic"/>
                <a:cs typeface="Malgun Gothic"/>
              </a:defRPr>
            </a:pPr>
            <a:r>
              <a:rPr sz="1725" b="1">
                <a:solidFill>
                  <a:srgbClr val="444444"/>
                </a:solidFill>
                <a:latin typeface="Malgun Gothic"/>
                <a:ea typeface="Malgun Gothic"/>
                <a:cs typeface="Malgun Gothic"/>
              </a:rPr>
              <a:t>↑ 교환값</a:t>
            </a:r>
          </a:p>
        </p:txBody>
      </p:sp>
      <p:sp>
        <p:nvSpPr>
          <p:cNvPr id="24" name="row-1-index-5">
            <a:extLst>
              <a:ext uri="{FF2B5EF4-FFF2-40B4-BE49-F238E27FC236}">
                <a16:creationId xmlns:a16="http://schemas.microsoft.com/office/drawing/2014/main" id="{616EBFBC-80A7-4EA9-9BB2-3EA0329A645E}"/>
              </a:ext>
            </a:extLst>
          </p:cNvPr>
          <p:cNvSpPr>
            <a:spLocks noGrp="1"/>
          </p:cNvSpPr>
          <p:nvPr/>
        </p:nvSpPr>
        <p:spPr>
          <a:xfrm>
            <a:off x="8667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25" name="row-1-pointer-5-0">
            <a:extLst>
              <a:ext uri="{FF2B5EF4-FFF2-40B4-BE49-F238E27FC236}">
                <a16:creationId xmlns:a16="http://schemas.microsoft.com/office/drawing/2014/main" id="{3D8225C0-F363-4FA4-9752-77C35B3B9BCE}"/>
              </a:ext>
            </a:extLst>
          </p:cNvPr>
          <p:cNvSpPr>
            <a:spLocks noGrp="1"/>
          </p:cNvSpPr>
          <p:nvPr/>
        </p:nvSpPr>
        <p:spPr>
          <a:xfrm>
            <a:off x="8667750" y="55816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26" name="code">
            <a:extLst>
              <a:ext uri="{FF2B5EF4-FFF2-40B4-BE49-F238E27FC236}">
                <a16:creationId xmlns:a16="http://schemas.microsoft.com/office/drawing/2014/main" id="{5E30E128-2985-4B61-8E9B-F1CE253673D7}"/>
              </a:ext>
            </a:extLst>
          </p:cNvPr>
          <p:cNvSpPr>
            <a:spLocks noGrp="1"/>
          </p:cNvSpPr>
          <p:nvPr/>
        </p:nvSpPr>
        <p:spPr>
          <a:xfrm>
            <a:off x="1809750" y="2438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a[4], a[5] = a[5], a[4]</a:t>
            </a:r>
          </a:p>
        </p:txBody>
      </p:sp>
      <p:sp>
        <p:nvSpPr>
          <p:cNvPr id="27" name="caption">
            <a:extLst>
              <a:ext uri="{FF2B5EF4-FFF2-40B4-BE49-F238E27FC236}">
                <a16:creationId xmlns:a16="http://schemas.microsoft.com/office/drawing/2014/main" id="{F032B432-6B1D-4DB3-B0C8-8AA3F6F424A5}"/>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원래 [7,8]이어도 이 코드의 준비 교환을 그대로 실행합니다.</a:t>
            </a:r>
          </a:p>
        </p:txBody>
      </p:sp>
      <p:sp>
        <p:nvSpPr>
          <p:cNvPr id="28" name="footer">
            <a:extLst>
              <a:ext uri="{FF2B5EF4-FFF2-40B4-BE49-F238E27FC236}">
                <a16:creationId xmlns:a16="http://schemas.microsoft.com/office/drawing/2014/main" id="{752879BE-371F-4DCC-8F93-9352E1A8CDD2}"/>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9" name="page">
            <a:extLst>
              <a:ext uri="{FF2B5EF4-FFF2-40B4-BE49-F238E27FC236}">
                <a16:creationId xmlns:a16="http://schemas.microsoft.com/office/drawing/2014/main" id="{D0ED281D-B319-41FB-9B74-E8B807143B47}"/>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71</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38250907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C1D098BC-3FFD-492B-9442-958DCBF6C6F7}"/>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0A1E3B19-9A3F-4022-BE27-6708C467B9CB}"/>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B3C06B55-0592-451E-AB6D-EC7B2356A7FE}"/>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7: L = R = 4에서 시작</a:t>
            </a:r>
          </a:p>
        </p:txBody>
      </p:sp>
      <p:sp>
        <p:nvSpPr>
          <p:cNvPr id="4" name="직사각형 3">
            <a:extLst>
              <a:ext uri="{FF2B5EF4-FFF2-40B4-BE49-F238E27FC236}">
                <a16:creationId xmlns:a16="http://schemas.microsoft.com/office/drawing/2014/main" id="{9C34382B-183C-4AD2-854B-A226841879FC}"/>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0361E7D8-ED3E-42C6-96BC-7DB1A5F0F6C0}"/>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검사할 값은 a[4] = 8 하나입니다. 피벗 7은 인덱스 5에 둡니다.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8 &gt; 7이므로 L은 멈춥니다. 이어서 R의 조건을 검사합니다.</a:t>
            </a:r>
          </a:p>
        </p:txBody>
      </p:sp>
      <p:sp>
        <p:nvSpPr>
          <p:cNvPr id="6" name="row-0-label">
            <a:extLst>
              <a:ext uri="{FF2B5EF4-FFF2-40B4-BE49-F238E27FC236}">
                <a16:creationId xmlns:a16="http://schemas.microsoft.com/office/drawing/2014/main" id="{1D3F1E7D-328F-4B6C-9F99-535CDFA29EE3}"/>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EF19202F-8824-4D2A-8F98-CFD53EEDB9A9}"/>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CECEC"/>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DCECFB"/>
                    </a:solidFill>
                  </a:tcPr>
                </a:tc>
                <a:tc>
                  <a:txBody>
                    <a:bodyPr/>
                    <a:lstStyle/>
                    <a:p>
                      <a:pPr algn="ctr"/>
                      <a:r>
                        <a:rPr sz="2475" b="1">
                          <a:solidFill>
                            <a:srgbClr val="151515"/>
                          </a:solidFill>
                          <a:latin typeface="Consolas"/>
                          <a:ea typeface="Consolas"/>
                          <a:cs typeface="Consolas"/>
                        </a:rPr>
                        <a:t>7</a:t>
                      </a:r>
                    </a:p>
                  </a:txBody>
                  <a:tcPr anchor="ctr">
                    <a:solidFill>
                      <a:srgbClr val="FDE5BB"/>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A754B868-A536-4D58-9930-F8C6E47431DB}"/>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CAACA7F8-2CD1-4F66-805B-26E34C1F8FCF}"/>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BD3CF23A-C739-4017-8B97-4641BD3A2B38}"/>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85FB5A20-F435-4753-A709-8FBDEF86DC59}"/>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index-4">
            <a:extLst>
              <a:ext uri="{FF2B5EF4-FFF2-40B4-BE49-F238E27FC236}">
                <a16:creationId xmlns:a16="http://schemas.microsoft.com/office/drawing/2014/main" id="{BADE0935-9960-46F4-9EDB-7A7572A56A2A}"/>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3" name="row-0-pointer-4-0">
            <a:extLst>
              <a:ext uri="{FF2B5EF4-FFF2-40B4-BE49-F238E27FC236}">
                <a16:creationId xmlns:a16="http://schemas.microsoft.com/office/drawing/2014/main" id="{10B3B0C4-FC52-4969-8A58-5008D3D82440}"/>
              </a:ext>
            </a:extLst>
          </p:cNvPr>
          <p:cNvSpPr>
            <a:spLocks noGrp="1"/>
          </p:cNvSpPr>
          <p:nvPr/>
        </p:nvSpPr>
        <p:spPr>
          <a:xfrm>
            <a:off x="72961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4" name="row-0-pointer-4-1">
            <a:extLst>
              <a:ext uri="{FF2B5EF4-FFF2-40B4-BE49-F238E27FC236}">
                <a16:creationId xmlns:a16="http://schemas.microsoft.com/office/drawing/2014/main" id="{DFC68202-1B0A-44F2-9FCA-90B31F575846}"/>
              </a:ext>
            </a:extLst>
          </p:cNvPr>
          <p:cNvSpPr>
            <a:spLocks noGrp="1"/>
          </p:cNvSpPr>
          <p:nvPr/>
        </p:nvSpPr>
        <p:spPr>
          <a:xfrm>
            <a:off x="7296150" y="435292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5" name="row-0-index-5">
            <a:extLst>
              <a:ext uri="{FF2B5EF4-FFF2-40B4-BE49-F238E27FC236}">
                <a16:creationId xmlns:a16="http://schemas.microsoft.com/office/drawing/2014/main" id="{1250A164-247D-4A40-A6BD-8EFEE2C65F7E}"/>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6" name="row-0-pointer-5-0">
            <a:extLst>
              <a:ext uri="{FF2B5EF4-FFF2-40B4-BE49-F238E27FC236}">
                <a16:creationId xmlns:a16="http://schemas.microsoft.com/office/drawing/2014/main" id="{0807021A-22B8-4AF7-AB44-6FA31B9C1A4B}"/>
              </a:ext>
            </a:extLst>
          </p:cNvPr>
          <p:cNvSpPr>
            <a:spLocks noGrp="1"/>
          </p:cNvSpPr>
          <p:nvPr/>
        </p:nvSpPr>
        <p:spPr>
          <a:xfrm>
            <a:off x="86677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7" name="code">
            <a:extLst>
              <a:ext uri="{FF2B5EF4-FFF2-40B4-BE49-F238E27FC236}">
                <a16:creationId xmlns:a16="http://schemas.microsoft.com/office/drawing/2014/main" id="{5FFF47F2-6AEF-4A8C-B77C-5FC4DE95E27C}"/>
              </a:ext>
            </a:extLst>
          </p:cNvPr>
          <p:cNvSpPr>
            <a:spLocks noGrp="1"/>
          </p:cNvSpPr>
          <p:nvPr/>
        </p:nvSpPr>
        <p:spPr>
          <a:xfrm>
            <a:off x="1809750" y="5105400"/>
            <a:ext cx="9772650" cy="6858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pivot = 7</a:t>
            </a:r>
          </a:p>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L, R = 4, 4</a:t>
            </a:r>
          </a:p>
        </p:txBody>
      </p:sp>
      <p:sp>
        <p:nvSpPr>
          <p:cNvPr id="18" name="caption">
            <a:extLst>
              <a:ext uri="{FF2B5EF4-FFF2-40B4-BE49-F238E27FC236}">
                <a16:creationId xmlns:a16="http://schemas.microsoft.com/office/drawing/2014/main" id="{56998136-0BA6-44D2-973A-24494B08ADEB}"/>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L은 8 &gt; 7에서 멈춥니다. R은 같은 8을 지나 왼쪽으로 이동합니다.</a:t>
            </a:r>
          </a:p>
        </p:txBody>
      </p:sp>
      <p:sp>
        <p:nvSpPr>
          <p:cNvPr id="19" name="footer">
            <a:extLst>
              <a:ext uri="{FF2B5EF4-FFF2-40B4-BE49-F238E27FC236}">
                <a16:creationId xmlns:a16="http://schemas.microsoft.com/office/drawing/2014/main" id="{F9CB1F0F-A3D6-4CB0-837D-47CDB89EEB09}"/>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0" name="page">
            <a:extLst>
              <a:ext uri="{FF2B5EF4-FFF2-40B4-BE49-F238E27FC236}">
                <a16:creationId xmlns:a16="http://schemas.microsoft.com/office/drawing/2014/main" id="{B636EEDC-5121-423E-B2EF-6C35DDD5B9A2}"/>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72</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24224575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ection">
            <a:extLst>
              <a:ext uri="{FF2B5EF4-FFF2-40B4-BE49-F238E27FC236}">
                <a16:creationId xmlns:a16="http://schemas.microsoft.com/office/drawing/2014/main" id="{FB80698C-193D-49FC-B0C4-C637F9EDB48C}"/>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A8F393C6-012D-4E05-BE63-A9F7FA714F82}"/>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69C9F491-0342-447B-9738-E1664DCCCD83}"/>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7: R이 4에서 3으로 이동</a:t>
            </a:r>
          </a:p>
        </p:txBody>
      </p:sp>
      <p:sp>
        <p:nvSpPr>
          <p:cNvPr id="4" name="직사각형 3">
            <a:extLst>
              <a:ext uri="{FF2B5EF4-FFF2-40B4-BE49-F238E27FC236}">
                <a16:creationId xmlns:a16="http://schemas.microsoft.com/office/drawing/2014/main" id="{FAC5D517-0BB0-450E-B347-5D1C3A107A45}"/>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DA49A3D8-2E58-4981-9A02-4C367E1EF67C}"/>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a[4] = 8 &gt; 7이므로 R을 3으로 줄입니다. L = 4, R = 3으로 교차합니다.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 ≤ R 조건이 거짓이므로 a[3] = 6은 비교하지 않습니다. 이번 탐색은 끝입니다.</a:t>
            </a:r>
          </a:p>
        </p:txBody>
      </p:sp>
      <p:sp>
        <p:nvSpPr>
          <p:cNvPr id="6" name="row-0-label">
            <a:extLst>
              <a:ext uri="{FF2B5EF4-FFF2-40B4-BE49-F238E27FC236}">
                <a16:creationId xmlns:a16="http://schemas.microsoft.com/office/drawing/2014/main" id="{6AE954B9-6C75-4537-8157-5FB49C96AE90}"/>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EA5F5565-2C29-4989-9490-BA36D24EBE6A}"/>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CECEC"/>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DCECFB"/>
                    </a:solidFill>
                  </a:tcPr>
                </a:tc>
                <a:tc>
                  <a:txBody>
                    <a:bodyPr/>
                    <a:lstStyle/>
                    <a:p>
                      <a:pPr algn="ctr"/>
                      <a:r>
                        <a:rPr sz="2475" b="1">
                          <a:solidFill>
                            <a:srgbClr val="151515"/>
                          </a:solidFill>
                          <a:latin typeface="Consolas"/>
                          <a:ea typeface="Consolas"/>
                          <a:cs typeface="Consolas"/>
                        </a:rPr>
                        <a:t>7</a:t>
                      </a:r>
                    </a:p>
                  </a:txBody>
                  <a:tcPr anchor="ctr">
                    <a:solidFill>
                      <a:srgbClr val="FDE5BB"/>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5B4315CC-9CB4-479A-9F1D-3DE3362B1B31}"/>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83D9E69E-731C-4502-98EF-B1DF69EBBD52}"/>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5A25D93D-C940-4E9E-B750-4426EA5A1FAF}"/>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9F0F656F-78CB-456C-BBB5-216AFEE2F52C}"/>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pointer-3-0">
            <a:extLst>
              <a:ext uri="{FF2B5EF4-FFF2-40B4-BE49-F238E27FC236}">
                <a16:creationId xmlns:a16="http://schemas.microsoft.com/office/drawing/2014/main" id="{3C6A629C-389C-4763-9004-8B07D043298C}"/>
              </a:ext>
            </a:extLst>
          </p:cNvPr>
          <p:cNvSpPr>
            <a:spLocks noGrp="1"/>
          </p:cNvSpPr>
          <p:nvPr/>
        </p:nvSpPr>
        <p:spPr>
          <a:xfrm>
            <a:off x="5924550" y="4029075"/>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R</a:t>
            </a:r>
          </a:p>
        </p:txBody>
      </p:sp>
      <p:sp>
        <p:nvSpPr>
          <p:cNvPr id="13" name="row-0-index-4">
            <a:extLst>
              <a:ext uri="{FF2B5EF4-FFF2-40B4-BE49-F238E27FC236}">
                <a16:creationId xmlns:a16="http://schemas.microsoft.com/office/drawing/2014/main" id="{31914503-9EDC-4134-946C-DA3C04FD2924}"/>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4" name="row-0-pointer-4-0">
            <a:extLst>
              <a:ext uri="{FF2B5EF4-FFF2-40B4-BE49-F238E27FC236}">
                <a16:creationId xmlns:a16="http://schemas.microsoft.com/office/drawing/2014/main" id="{FC35AB2A-F9BC-4E14-9DC0-CB1952537535}"/>
              </a:ext>
            </a:extLst>
          </p:cNvPr>
          <p:cNvSpPr>
            <a:spLocks noGrp="1"/>
          </p:cNvSpPr>
          <p:nvPr/>
        </p:nvSpPr>
        <p:spPr>
          <a:xfrm>
            <a:off x="72961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5" name="row-0-index-5">
            <a:extLst>
              <a:ext uri="{FF2B5EF4-FFF2-40B4-BE49-F238E27FC236}">
                <a16:creationId xmlns:a16="http://schemas.microsoft.com/office/drawing/2014/main" id="{FD0FDD67-82CA-4C61-AC8F-5776B84FACF4}"/>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6" name="row-0-pointer-5-0">
            <a:extLst>
              <a:ext uri="{FF2B5EF4-FFF2-40B4-BE49-F238E27FC236}">
                <a16:creationId xmlns:a16="http://schemas.microsoft.com/office/drawing/2014/main" id="{6668FA09-1E7A-41C8-9810-E3BECDE2A2ED}"/>
              </a:ext>
            </a:extLst>
          </p:cNvPr>
          <p:cNvSpPr>
            <a:spLocks noGrp="1"/>
          </p:cNvSpPr>
          <p:nvPr/>
        </p:nvSpPr>
        <p:spPr>
          <a:xfrm>
            <a:off x="86677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7" name="code">
            <a:extLst>
              <a:ext uri="{FF2B5EF4-FFF2-40B4-BE49-F238E27FC236}">
                <a16:creationId xmlns:a16="http://schemas.microsoft.com/office/drawing/2014/main" id="{8A5E152B-7B94-40DD-9F13-78958BA2140A}"/>
              </a:ext>
            </a:extLst>
          </p:cNvPr>
          <p:cNvSpPr>
            <a:spLocks noGrp="1"/>
          </p:cNvSpPr>
          <p:nvPr/>
        </p:nvSpPr>
        <p:spPr>
          <a:xfrm>
            <a:off x="1809750" y="5105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L, R = 4, 3</a:t>
            </a:r>
          </a:p>
        </p:txBody>
      </p:sp>
      <p:sp>
        <p:nvSpPr>
          <p:cNvPr id="18" name="caption">
            <a:extLst>
              <a:ext uri="{FF2B5EF4-FFF2-40B4-BE49-F238E27FC236}">
                <a16:creationId xmlns:a16="http://schemas.microsoft.com/office/drawing/2014/main" id="{63976502-CED5-4619-B3E8-230741D02A73}"/>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R은 범위 밖으로 이동했지만, 범위 밖의 값 6은 검사하거나 바꾸지 않습니다.</a:t>
            </a:r>
          </a:p>
        </p:txBody>
      </p:sp>
      <p:sp>
        <p:nvSpPr>
          <p:cNvPr id="19" name="footer">
            <a:extLst>
              <a:ext uri="{FF2B5EF4-FFF2-40B4-BE49-F238E27FC236}">
                <a16:creationId xmlns:a16="http://schemas.microsoft.com/office/drawing/2014/main" id="{1923F3CB-9C4C-4847-99EF-83119A7A7585}"/>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0" name="page">
            <a:extLst>
              <a:ext uri="{FF2B5EF4-FFF2-40B4-BE49-F238E27FC236}">
                <a16:creationId xmlns:a16="http://schemas.microsoft.com/office/drawing/2014/main" id="{AE1333E2-515E-40BA-AC6B-98051DDF1DCA}"/>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73</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21240520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ection">
            <a:extLst>
              <a:ext uri="{FF2B5EF4-FFF2-40B4-BE49-F238E27FC236}">
                <a16:creationId xmlns:a16="http://schemas.microsoft.com/office/drawing/2014/main" id="{FD32AAB5-21FF-442A-A747-F40383F53F12}"/>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B75B90F3-C854-40F5-93ED-D614A1265131}"/>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885729C6-C81A-4E3F-ACF3-A00822F75BF0}"/>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피벗 7과 8 교환: 인덱스 4 확정</a:t>
            </a:r>
          </a:p>
        </p:txBody>
      </p:sp>
      <p:sp>
        <p:nvSpPr>
          <p:cNvPr id="4" name="직사각형 3">
            <a:extLst>
              <a:ext uri="{FF2B5EF4-FFF2-40B4-BE49-F238E27FC236}">
                <a16:creationId xmlns:a16="http://schemas.microsoft.com/office/drawing/2014/main" id="{24F7C7A7-51FC-4CF3-A94D-CC79939FDCBE}"/>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3FE0564B-5304-43E7-BD4B-CE49E2A877C7}"/>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L = 4의 값 8과 hi = 5의 피벗 7을 교환합니다.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피벗 7은 인덱스 4, 큰 값 8은 인덱스 5에 놓입니다.</a:t>
            </a:r>
          </a:p>
        </p:txBody>
      </p:sp>
      <p:sp>
        <p:nvSpPr>
          <p:cNvPr id="6" name="row-0-label">
            <a:extLst>
              <a:ext uri="{FF2B5EF4-FFF2-40B4-BE49-F238E27FC236}">
                <a16:creationId xmlns:a16="http://schemas.microsoft.com/office/drawing/2014/main" id="{59DAFCDA-DFE1-4011-BFC3-F0A5E1685AEB}"/>
              </a:ext>
            </a:extLst>
          </p:cNvPr>
          <p:cNvSpPr>
            <a:spLocks noGrp="1"/>
          </p:cNvSpPr>
          <p:nvPr/>
        </p:nvSpPr>
        <p:spPr>
          <a:xfrm>
            <a:off x="609600" y="31718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전</a:t>
            </a:r>
          </a:p>
        </p:txBody>
      </p:sp>
      <p:graphicFrame>
        <p:nvGraphicFramePr>
          <p:cNvPr id="7" name="표 6">
            <a:extLst>
              <a:ext uri="{FF2B5EF4-FFF2-40B4-BE49-F238E27FC236}">
                <a16:creationId xmlns:a16="http://schemas.microsoft.com/office/drawing/2014/main" id="{8207DBFC-B333-4DC1-A828-58AE1A3225C8}"/>
              </a:ext>
            </a:extLst>
          </p:cNvPr>
          <p:cNvGraphicFramePr/>
          <p:nvPr/>
        </p:nvGraphicFramePr>
        <p:xfrm>
          <a:off x="1809750" y="30003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CECEC"/>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8</a:t>
                      </a:r>
                    </a:p>
                  </a:txBody>
                  <a:tcPr anchor="ctr">
                    <a:solidFill>
                      <a:srgbClr val="DCECFB"/>
                    </a:solidFill>
                  </a:tcPr>
                </a:tc>
                <a:tc>
                  <a:txBody>
                    <a:bodyPr/>
                    <a:lstStyle/>
                    <a:p>
                      <a:pPr algn="ctr"/>
                      <a:r>
                        <a:rPr sz="2475" b="1">
                          <a:solidFill>
                            <a:srgbClr val="151515"/>
                          </a:solidFill>
                          <a:latin typeface="Consolas"/>
                          <a:ea typeface="Consolas"/>
                          <a:cs typeface="Consolas"/>
                        </a:rPr>
                        <a:t>7</a:t>
                      </a:r>
                    </a:p>
                  </a:txBody>
                  <a:tcPr anchor="ctr">
                    <a:solidFill>
                      <a:srgbClr val="FDE5BB"/>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1BA617A1-9356-401F-84F0-E1EE28179444}"/>
              </a:ext>
            </a:extLst>
          </p:cNvPr>
          <p:cNvSpPr>
            <a:spLocks noGrp="1"/>
          </p:cNvSpPr>
          <p:nvPr/>
        </p:nvSpPr>
        <p:spPr>
          <a:xfrm>
            <a:off x="1809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4C4A371F-BF4D-4F2A-9D2C-87B079D450CB}"/>
              </a:ext>
            </a:extLst>
          </p:cNvPr>
          <p:cNvSpPr>
            <a:spLocks noGrp="1"/>
          </p:cNvSpPr>
          <p:nvPr/>
        </p:nvSpPr>
        <p:spPr>
          <a:xfrm>
            <a:off x="31813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6D1C99ED-C83D-4DB7-9329-DE82881AEC09}"/>
              </a:ext>
            </a:extLst>
          </p:cNvPr>
          <p:cNvSpPr>
            <a:spLocks noGrp="1"/>
          </p:cNvSpPr>
          <p:nvPr/>
        </p:nvSpPr>
        <p:spPr>
          <a:xfrm>
            <a:off x="45529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D7CCF8E2-7C33-4D1B-961A-2A046C4918D7}"/>
              </a:ext>
            </a:extLst>
          </p:cNvPr>
          <p:cNvSpPr>
            <a:spLocks noGrp="1"/>
          </p:cNvSpPr>
          <p:nvPr/>
        </p:nvSpPr>
        <p:spPr>
          <a:xfrm>
            <a:off x="59245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index-4">
            <a:extLst>
              <a:ext uri="{FF2B5EF4-FFF2-40B4-BE49-F238E27FC236}">
                <a16:creationId xmlns:a16="http://schemas.microsoft.com/office/drawing/2014/main" id="{06C163BF-55DF-448C-AE54-062FB67155A7}"/>
              </a:ext>
            </a:extLst>
          </p:cNvPr>
          <p:cNvSpPr>
            <a:spLocks noGrp="1"/>
          </p:cNvSpPr>
          <p:nvPr/>
        </p:nvSpPr>
        <p:spPr>
          <a:xfrm>
            <a:off x="72961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3" name="row-0-pointer-4-0">
            <a:extLst>
              <a:ext uri="{FF2B5EF4-FFF2-40B4-BE49-F238E27FC236}">
                <a16:creationId xmlns:a16="http://schemas.microsoft.com/office/drawing/2014/main" id="{444C78BF-A9D9-4880-9F09-A99140934494}"/>
              </a:ext>
            </a:extLst>
          </p:cNvPr>
          <p:cNvSpPr>
            <a:spLocks noGrp="1"/>
          </p:cNvSpPr>
          <p:nvPr/>
        </p:nvSpPr>
        <p:spPr>
          <a:xfrm>
            <a:off x="7296150" y="3867150"/>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L</a:t>
            </a:r>
          </a:p>
        </p:txBody>
      </p:sp>
      <p:sp>
        <p:nvSpPr>
          <p:cNvPr id="14" name="row-0-index-5">
            <a:extLst>
              <a:ext uri="{FF2B5EF4-FFF2-40B4-BE49-F238E27FC236}">
                <a16:creationId xmlns:a16="http://schemas.microsoft.com/office/drawing/2014/main" id="{6917215A-B81B-4839-97B1-4470363260F7}"/>
              </a:ext>
            </a:extLst>
          </p:cNvPr>
          <p:cNvSpPr>
            <a:spLocks noGrp="1"/>
          </p:cNvSpPr>
          <p:nvPr/>
        </p:nvSpPr>
        <p:spPr>
          <a:xfrm>
            <a:off x="8667750" y="36290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5" name="row-0-pointer-5-0">
            <a:extLst>
              <a:ext uri="{FF2B5EF4-FFF2-40B4-BE49-F238E27FC236}">
                <a16:creationId xmlns:a16="http://schemas.microsoft.com/office/drawing/2014/main" id="{11CB8C1B-439F-400D-AC6C-ADF8395966ED}"/>
              </a:ext>
            </a:extLst>
          </p:cNvPr>
          <p:cNvSpPr>
            <a:spLocks noGrp="1"/>
          </p:cNvSpPr>
          <p:nvPr/>
        </p:nvSpPr>
        <p:spPr>
          <a:xfrm>
            <a:off x="8667750" y="38671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16" name="row-1-label">
            <a:extLst>
              <a:ext uri="{FF2B5EF4-FFF2-40B4-BE49-F238E27FC236}">
                <a16:creationId xmlns:a16="http://schemas.microsoft.com/office/drawing/2014/main" id="{BED315C9-1FC6-433E-92CA-242696E92883}"/>
              </a:ext>
            </a:extLst>
          </p:cNvPr>
          <p:cNvSpPr>
            <a:spLocks noGrp="1"/>
          </p:cNvSpPr>
          <p:nvPr/>
        </p:nvSpPr>
        <p:spPr>
          <a:xfrm>
            <a:off x="609600" y="4886325"/>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교환 후</a:t>
            </a:r>
          </a:p>
        </p:txBody>
      </p:sp>
      <p:graphicFrame>
        <p:nvGraphicFramePr>
          <p:cNvPr id="17" name="표 16">
            <a:extLst>
              <a:ext uri="{FF2B5EF4-FFF2-40B4-BE49-F238E27FC236}">
                <a16:creationId xmlns:a16="http://schemas.microsoft.com/office/drawing/2014/main" id="{3E5C8176-5E52-461B-A112-DA8577CBC780}"/>
              </a:ext>
            </a:extLst>
          </p:cNvPr>
          <p:cNvGraphicFramePr/>
          <p:nvPr/>
        </p:nvGraphicFramePr>
        <p:xfrm>
          <a:off x="1809750" y="4714875"/>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CECEC"/>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FDE5BB"/>
                    </a:solidFill>
                  </a:tcPr>
                </a:tc>
                <a:tc>
                  <a:txBody>
                    <a:bodyPr/>
                    <a:lstStyle/>
                    <a:p>
                      <a:pPr algn="ctr"/>
                      <a:r>
                        <a:rPr sz="2475" b="1">
                          <a:solidFill>
                            <a:srgbClr val="151515"/>
                          </a:solidFill>
                          <a:latin typeface="Consolas"/>
                          <a:ea typeface="Consolas"/>
                          <a:cs typeface="Consolas"/>
                        </a:rPr>
                        <a:t>8</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18" name="row-1-index-0">
            <a:extLst>
              <a:ext uri="{FF2B5EF4-FFF2-40B4-BE49-F238E27FC236}">
                <a16:creationId xmlns:a16="http://schemas.microsoft.com/office/drawing/2014/main" id="{06E158D2-4CC1-4FE9-9441-241BA4FC1430}"/>
              </a:ext>
            </a:extLst>
          </p:cNvPr>
          <p:cNvSpPr>
            <a:spLocks noGrp="1"/>
          </p:cNvSpPr>
          <p:nvPr/>
        </p:nvSpPr>
        <p:spPr>
          <a:xfrm>
            <a:off x="1809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19" name="row-1-index-1">
            <a:extLst>
              <a:ext uri="{FF2B5EF4-FFF2-40B4-BE49-F238E27FC236}">
                <a16:creationId xmlns:a16="http://schemas.microsoft.com/office/drawing/2014/main" id="{9935436D-C8EB-4950-AD43-51F6FC687EF3}"/>
              </a:ext>
            </a:extLst>
          </p:cNvPr>
          <p:cNvSpPr>
            <a:spLocks noGrp="1"/>
          </p:cNvSpPr>
          <p:nvPr/>
        </p:nvSpPr>
        <p:spPr>
          <a:xfrm>
            <a:off x="31813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20" name="row-1-index-2">
            <a:extLst>
              <a:ext uri="{FF2B5EF4-FFF2-40B4-BE49-F238E27FC236}">
                <a16:creationId xmlns:a16="http://schemas.microsoft.com/office/drawing/2014/main" id="{CE41929A-6DB7-48EC-A686-7DE286DDA456}"/>
              </a:ext>
            </a:extLst>
          </p:cNvPr>
          <p:cNvSpPr>
            <a:spLocks noGrp="1"/>
          </p:cNvSpPr>
          <p:nvPr/>
        </p:nvSpPr>
        <p:spPr>
          <a:xfrm>
            <a:off x="45529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21" name="row-1-index-3">
            <a:extLst>
              <a:ext uri="{FF2B5EF4-FFF2-40B4-BE49-F238E27FC236}">
                <a16:creationId xmlns:a16="http://schemas.microsoft.com/office/drawing/2014/main" id="{44420EDC-1A62-4283-BEDF-A4CF8A35F5D6}"/>
              </a:ext>
            </a:extLst>
          </p:cNvPr>
          <p:cNvSpPr>
            <a:spLocks noGrp="1"/>
          </p:cNvSpPr>
          <p:nvPr/>
        </p:nvSpPr>
        <p:spPr>
          <a:xfrm>
            <a:off x="59245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22" name="row-1-index-4">
            <a:extLst>
              <a:ext uri="{FF2B5EF4-FFF2-40B4-BE49-F238E27FC236}">
                <a16:creationId xmlns:a16="http://schemas.microsoft.com/office/drawing/2014/main" id="{73E83C92-1C88-4B7D-9DA4-7661066D10BE}"/>
              </a:ext>
            </a:extLst>
          </p:cNvPr>
          <p:cNvSpPr>
            <a:spLocks noGrp="1"/>
          </p:cNvSpPr>
          <p:nvPr/>
        </p:nvSpPr>
        <p:spPr>
          <a:xfrm>
            <a:off x="72961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23" name="row-1-pointer-4-0">
            <a:extLst>
              <a:ext uri="{FF2B5EF4-FFF2-40B4-BE49-F238E27FC236}">
                <a16:creationId xmlns:a16="http://schemas.microsoft.com/office/drawing/2014/main" id="{9655B895-F3EE-49C4-BDFA-3044EF528B0F}"/>
              </a:ext>
            </a:extLst>
          </p:cNvPr>
          <p:cNvSpPr>
            <a:spLocks noGrp="1"/>
          </p:cNvSpPr>
          <p:nvPr/>
        </p:nvSpPr>
        <p:spPr>
          <a:xfrm>
            <a:off x="7296150" y="5581650"/>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pivot</a:t>
            </a:r>
          </a:p>
        </p:txBody>
      </p:sp>
      <p:sp>
        <p:nvSpPr>
          <p:cNvPr id="24" name="row-1-index-5">
            <a:extLst>
              <a:ext uri="{FF2B5EF4-FFF2-40B4-BE49-F238E27FC236}">
                <a16:creationId xmlns:a16="http://schemas.microsoft.com/office/drawing/2014/main" id="{AA7FD573-F4D0-4A8D-905A-10D24004CE5F}"/>
              </a:ext>
            </a:extLst>
          </p:cNvPr>
          <p:cNvSpPr>
            <a:spLocks noGrp="1"/>
          </p:cNvSpPr>
          <p:nvPr/>
        </p:nvSpPr>
        <p:spPr>
          <a:xfrm>
            <a:off x="8667750" y="5343525"/>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25" name="row-1-pointer-5-0">
            <a:extLst>
              <a:ext uri="{FF2B5EF4-FFF2-40B4-BE49-F238E27FC236}">
                <a16:creationId xmlns:a16="http://schemas.microsoft.com/office/drawing/2014/main" id="{117CAB48-A609-4A63-AC51-BA05B0EC99A8}"/>
              </a:ext>
            </a:extLst>
          </p:cNvPr>
          <p:cNvSpPr>
            <a:spLocks noGrp="1"/>
          </p:cNvSpPr>
          <p:nvPr/>
        </p:nvSpPr>
        <p:spPr>
          <a:xfrm>
            <a:off x="8667750" y="5581650"/>
            <a:ext cx="1371600" cy="304800"/>
          </a:xfrm>
          <a:prstGeom prst="rect">
            <a:avLst/>
          </a:prstGeom>
          <a:noFill/>
          <a:ln w="0">
            <a:noFill/>
          </a:ln>
        </p:spPr>
        <p:txBody>
          <a:bodyPr wrap="none" lIns="0" tIns="0" rIns="0" bIns="0" anchor="t">
            <a:noAutofit/>
          </a:bodyPr>
          <a:lstStyle>
            <a:defPPr algn="ctr">
              <a:defRPr sz="1725" b="1">
                <a:solidFill>
                  <a:srgbClr val="256B50"/>
                </a:solidFill>
                <a:latin typeface="Malgun Gothic"/>
                <a:ea typeface="Malgun Gothic"/>
                <a:cs typeface="Malgun Gothic"/>
              </a:defRPr>
            </a:defPPr>
          </a:lstStyle>
          <a:p>
            <a:pPr algn="ctr">
              <a:lnSpc>
                <a:spcPct val="106000"/>
              </a:lnSpc>
              <a:buNone/>
              <a:defRPr sz="1725" b="1">
                <a:solidFill>
                  <a:srgbClr val="256B50"/>
                </a:solidFill>
                <a:latin typeface="Malgun Gothic"/>
                <a:ea typeface="Malgun Gothic"/>
                <a:cs typeface="Malgun Gothic"/>
              </a:defRPr>
            </a:pPr>
            <a:r>
              <a:rPr sz="1725" b="1">
                <a:solidFill>
                  <a:srgbClr val="256B50"/>
                </a:solidFill>
                <a:latin typeface="Malgun Gothic"/>
                <a:ea typeface="Malgun Gothic"/>
                <a:cs typeface="Malgun Gothic"/>
              </a:rPr>
              <a:t>↑ 큰 값</a:t>
            </a:r>
          </a:p>
        </p:txBody>
      </p:sp>
      <p:sp>
        <p:nvSpPr>
          <p:cNvPr id="26" name="code">
            <a:extLst>
              <a:ext uri="{FF2B5EF4-FFF2-40B4-BE49-F238E27FC236}">
                <a16:creationId xmlns:a16="http://schemas.microsoft.com/office/drawing/2014/main" id="{C193E66A-2CCF-4DFB-A98B-A4B9CB0C02ED}"/>
              </a:ext>
            </a:extLst>
          </p:cNvPr>
          <p:cNvSpPr>
            <a:spLocks noGrp="1"/>
          </p:cNvSpPr>
          <p:nvPr/>
        </p:nvSpPr>
        <p:spPr>
          <a:xfrm>
            <a:off x="1809750" y="2438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a[4], a[5] = a[5], a[4]</a:t>
            </a:r>
          </a:p>
        </p:txBody>
      </p:sp>
      <p:sp>
        <p:nvSpPr>
          <p:cNvPr id="27" name="caption">
            <a:extLst>
              <a:ext uri="{FF2B5EF4-FFF2-40B4-BE49-F238E27FC236}">
                <a16:creationId xmlns:a16="http://schemas.microsoft.com/office/drawing/2014/main" id="{5A931A26-4DAE-4942-B143-09AAF4D76F38}"/>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partition의 반환값 p = 4입니다. 다음 구간은 [4,3]과 [5,5]입니다.</a:t>
            </a:r>
          </a:p>
        </p:txBody>
      </p:sp>
      <p:sp>
        <p:nvSpPr>
          <p:cNvPr id="28" name="footer">
            <a:extLst>
              <a:ext uri="{FF2B5EF4-FFF2-40B4-BE49-F238E27FC236}">
                <a16:creationId xmlns:a16="http://schemas.microsoft.com/office/drawing/2014/main" id="{D67120F4-AE3C-4C46-91D7-DDF8547D7626}"/>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29" name="page">
            <a:extLst>
              <a:ext uri="{FF2B5EF4-FFF2-40B4-BE49-F238E27FC236}">
                <a16:creationId xmlns:a16="http://schemas.microsoft.com/office/drawing/2014/main" id="{6DE9CEFE-B882-4400-8FDB-4E3BAD6F891C}"/>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74</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25950906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ection">
            <a:extLst>
              <a:ext uri="{FF2B5EF4-FFF2-40B4-BE49-F238E27FC236}">
                <a16:creationId xmlns:a16="http://schemas.microsoft.com/office/drawing/2014/main" id="{4C68FEF0-88E8-4638-87B3-08E8D7320746}"/>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9F214D79-20AA-428A-9E0C-46E312ED6D01}"/>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2CDECEB9-C351-4AF8-817A-23227D37A512}"/>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오른쪽의 남은 호출도 종료</a:t>
            </a:r>
          </a:p>
        </p:txBody>
      </p:sp>
      <p:sp>
        <p:nvSpPr>
          <p:cNvPr id="4" name="직사각형 3">
            <a:extLst>
              <a:ext uri="{FF2B5EF4-FFF2-40B4-BE49-F238E27FC236}">
                <a16:creationId xmlns:a16="http://schemas.microsoft.com/office/drawing/2014/main" id="{F62A2775-D839-45A1-B4E8-CA74842A8D0E}"/>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97164F82-1976-4200-8483-17972ABE16FB}"/>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[4,3]은 빈 구간이고, 오른쪽 [5,5]는 값 8 하나입니다.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두 호출 모두 lo ≥ hi에서 끝납니다. 오른쪽 4~5의 정렬도 완료했습니다.</a:t>
            </a:r>
          </a:p>
        </p:txBody>
      </p:sp>
      <p:sp>
        <p:nvSpPr>
          <p:cNvPr id="6" name="row-0-label">
            <a:extLst>
              <a:ext uri="{FF2B5EF4-FFF2-40B4-BE49-F238E27FC236}">
                <a16:creationId xmlns:a16="http://schemas.microsoft.com/office/drawing/2014/main" id="{1BC9E954-5578-4294-9453-6D1BFCBF57FD}"/>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배열 a</a:t>
            </a:r>
          </a:p>
        </p:txBody>
      </p:sp>
      <p:graphicFrame>
        <p:nvGraphicFramePr>
          <p:cNvPr id="7" name="표 6">
            <a:extLst>
              <a:ext uri="{FF2B5EF4-FFF2-40B4-BE49-F238E27FC236}">
                <a16:creationId xmlns:a16="http://schemas.microsoft.com/office/drawing/2014/main" id="{33996573-7F3A-4BB2-B3E2-1C79B419B56C}"/>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ECECEC"/>
                    </a:solidFill>
                  </a:tcPr>
                </a:tc>
                <a:tc>
                  <a:txBody>
                    <a:bodyPr/>
                    <a:lstStyle/>
                    <a:p>
                      <a:pPr algn="ctr"/>
                      <a:r>
                        <a:rPr sz="2475" b="1">
                          <a:solidFill>
                            <a:srgbClr val="151515"/>
                          </a:solidFill>
                          <a:latin typeface="Consolas"/>
                          <a:ea typeface="Consolas"/>
                          <a:cs typeface="Consolas"/>
                        </a:rPr>
                        <a:t>3</a:t>
                      </a:r>
                    </a:p>
                  </a:txBody>
                  <a:tcPr anchor="ctr">
                    <a:solidFill>
                      <a:srgbClr val="ECECEC"/>
                    </a:solidFill>
                  </a:tcPr>
                </a:tc>
                <a:tc>
                  <a:txBody>
                    <a:bodyPr/>
                    <a:lstStyle/>
                    <a:p>
                      <a:pPr algn="ctr"/>
                      <a:r>
                        <a:rPr sz="2475" b="1">
                          <a:solidFill>
                            <a:srgbClr val="151515"/>
                          </a:solidFill>
                          <a:latin typeface="Consolas"/>
                          <a:ea typeface="Consolas"/>
                          <a:cs typeface="Consolas"/>
                        </a:rPr>
                        <a:t>4</a:t>
                      </a:r>
                    </a:p>
                  </a:txBody>
                  <a:tcPr anchor="ctr">
                    <a:solidFill>
                      <a:srgbClr val="ECECEC"/>
                    </a:solidFill>
                  </a:tcPr>
                </a:tc>
                <a:tc>
                  <a:txBody>
                    <a:bodyPr/>
                    <a:lstStyle/>
                    <a:p>
                      <a:pPr algn="ctr"/>
                      <a:r>
                        <a:rPr sz="2475" b="1">
                          <a:solidFill>
                            <a:srgbClr val="151515"/>
                          </a:solidFill>
                          <a:latin typeface="Consolas"/>
                          <a:ea typeface="Consolas"/>
                          <a:cs typeface="Consolas"/>
                        </a:rPr>
                        <a:t>6</a:t>
                      </a:r>
                    </a:p>
                  </a:txBody>
                  <a:tcPr anchor="ctr">
                    <a:solidFill>
                      <a:srgbClr val="ECECEC"/>
                    </a:solidFill>
                  </a:tcPr>
                </a:tc>
                <a:tc>
                  <a:txBody>
                    <a:bodyPr/>
                    <a:lstStyle/>
                    <a:p>
                      <a:pPr algn="ctr"/>
                      <a:r>
                        <a:rPr sz="2475" b="1">
                          <a:solidFill>
                            <a:srgbClr val="151515"/>
                          </a:solidFill>
                          <a:latin typeface="Consolas"/>
                          <a:ea typeface="Consolas"/>
                          <a:cs typeface="Consolas"/>
                        </a:rPr>
                        <a:t>7</a:t>
                      </a:r>
                    </a:p>
                  </a:txBody>
                  <a:tcPr anchor="ctr">
                    <a:solidFill>
                      <a:srgbClr val="FDE5BB"/>
                    </a:solidFill>
                  </a:tcPr>
                </a:tc>
                <a:tc>
                  <a:txBody>
                    <a:bodyPr/>
                    <a:lstStyle/>
                    <a:p>
                      <a:pPr algn="ctr"/>
                      <a:r>
                        <a:rPr sz="2475" b="1">
                          <a:solidFill>
                            <a:srgbClr val="151515"/>
                          </a:solidFill>
                          <a:latin typeface="Consolas"/>
                          <a:ea typeface="Consolas"/>
                          <a:cs typeface="Consolas"/>
                        </a:rPr>
                        <a:t>8</a:t>
                      </a:r>
                    </a:p>
                  </a:txBody>
                  <a:tcPr anchor="ctr">
                    <a:solidFill>
                      <a:srgbClr val="DCECFB"/>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A3206A20-95D8-43B6-A7C3-8E4F46571E3E}"/>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82A1862D-7BA1-4611-A1D7-7647066DE3CB}"/>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B379D098-2206-4A29-8DFB-9964A6A7D895}"/>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6C6F55C1-C683-4B62-9E2A-AFEC91B53EF1}"/>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index-4">
            <a:extLst>
              <a:ext uri="{FF2B5EF4-FFF2-40B4-BE49-F238E27FC236}">
                <a16:creationId xmlns:a16="http://schemas.microsoft.com/office/drawing/2014/main" id="{AB0090A1-C9BE-488E-BCCE-ADF4C9DDEA65}"/>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3" name="row-0-pointer-4-0">
            <a:extLst>
              <a:ext uri="{FF2B5EF4-FFF2-40B4-BE49-F238E27FC236}">
                <a16:creationId xmlns:a16="http://schemas.microsoft.com/office/drawing/2014/main" id="{5702FED7-D691-4A3D-8017-7E878EB1D634}"/>
              </a:ext>
            </a:extLst>
          </p:cNvPr>
          <p:cNvSpPr>
            <a:spLocks noGrp="1"/>
          </p:cNvSpPr>
          <p:nvPr/>
        </p:nvSpPr>
        <p:spPr>
          <a:xfrm>
            <a:off x="7296150" y="4029075"/>
            <a:ext cx="1371600" cy="304800"/>
          </a:xfrm>
          <a:prstGeom prst="rect">
            <a:avLst/>
          </a:prstGeom>
          <a:noFill/>
          <a:ln w="0">
            <a:noFill/>
          </a:ln>
        </p:spPr>
        <p:txBody>
          <a:bodyPr wrap="none" lIns="0" tIns="0" rIns="0" bIns="0" anchor="t">
            <a:noAutofit/>
          </a:bodyPr>
          <a:lstStyle>
            <a:defPPr algn="ctr">
              <a:defRPr sz="1725" b="1">
                <a:solidFill>
                  <a:srgbClr val="9A5900"/>
                </a:solidFill>
                <a:latin typeface="Malgun Gothic"/>
                <a:ea typeface="Malgun Gothic"/>
                <a:cs typeface="Malgun Gothic"/>
              </a:defRPr>
            </a:defPPr>
          </a:lstStyle>
          <a:p>
            <a:pPr algn="ctr">
              <a:lnSpc>
                <a:spcPct val="106000"/>
              </a:lnSpc>
              <a:buNone/>
              <a:defRPr sz="1725" b="1">
                <a:solidFill>
                  <a:srgbClr val="9A5900"/>
                </a:solidFill>
                <a:latin typeface="Malgun Gothic"/>
                <a:ea typeface="Malgun Gothic"/>
                <a:cs typeface="Malgun Gothic"/>
              </a:defRPr>
            </a:pPr>
            <a:r>
              <a:rPr sz="1725" b="1">
                <a:solidFill>
                  <a:srgbClr val="9A5900"/>
                </a:solidFill>
                <a:latin typeface="Malgun Gothic"/>
                <a:ea typeface="Malgun Gothic"/>
                <a:cs typeface="Malgun Gothic"/>
              </a:rPr>
              <a:t>↑ 확정 7</a:t>
            </a:r>
          </a:p>
        </p:txBody>
      </p:sp>
      <p:sp>
        <p:nvSpPr>
          <p:cNvPr id="14" name="row-0-index-5">
            <a:extLst>
              <a:ext uri="{FF2B5EF4-FFF2-40B4-BE49-F238E27FC236}">
                <a16:creationId xmlns:a16="http://schemas.microsoft.com/office/drawing/2014/main" id="{9FCC7639-E1FA-4518-B214-4AD570A6EB16}"/>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5" name="row-0-pointer-5-0">
            <a:extLst>
              <a:ext uri="{FF2B5EF4-FFF2-40B4-BE49-F238E27FC236}">
                <a16:creationId xmlns:a16="http://schemas.microsoft.com/office/drawing/2014/main" id="{90DB58D9-574C-44FE-9BBC-86B2A99956F9}"/>
              </a:ext>
            </a:extLst>
          </p:cNvPr>
          <p:cNvSpPr>
            <a:spLocks noGrp="1"/>
          </p:cNvSpPr>
          <p:nvPr/>
        </p:nvSpPr>
        <p:spPr>
          <a:xfrm>
            <a:off x="8667750" y="4029075"/>
            <a:ext cx="1371600" cy="304800"/>
          </a:xfrm>
          <a:prstGeom prst="rect">
            <a:avLst/>
          </a:prstGeom>
          <a:noFill/>
          <a:ln w="0">
            <a:noFill/>
          </a:ln>
        </p:spPr>
        <p:txBody>
          <a:bodyPr wrap="none" lIns="0" tIns="0" rIns="0" bIns="0" anchor="t">
            <a:noAutofit/>
          </a:bodyPr>
          <a:lstStyle>
            <a:defPPr algn="ctr">
              <a:defRPr sz="1725" b="1">
                <a:solidFill>
                  <a:srgbClr val="1D5A8A"/>
                </a:solidFill>
                <a:latin typeface="Malgun Gothic"/>
                <a:ea typeface="Malgun Gothic"/>
                <a:cs typeface="Malgun Gothic"/>
              </a:defRPr>
            </a:defPPr>
          </a:lstStyle>
          <a:p>
            <a:pPr algn="ctr">
              <a:lnSpc>
                <a:spcPct val="106000"/>
              </a:lnSpc>
              <a:buNone/>
              <a:defRPr sz="1725" b="1">
                <a:solidFill>
                  <a:srgbClr val="1D5A8A"/>
                </a:solidFill>
                <a:latin typeface="Malgun Gothic"/>
                <a:ea typeface="Malgun Gothic"/>
                <a:cs typeface="Malgun Gothic"/>
              </a:defRPr>
            </a:pPr>
            <a:r>
              <a:rPr sz="1725" b="1">
                <a:solidFill>
                  <a:srgbClr val="1D5A8A"/>
                </a:solidFill>
                <a:latin typeface="Malgun Gothic"/>
                <a:ea typeface="Malgun Gothic"/>
                <a:cs typeface="Malgun Gothic"/>
              </a:rPr>
              <a:t>↑ 한 칸</a:t>
            </a:r>
          </a:p>
        </p:txBody>
      </p:sp>
      <p:sp>
        <p:nvSpPr>
          <p:cNvPr id="16" name="code">
            <a:extLst>
              <a:ext uri="{FF2B5EF4-FFF2-40B4-BE49-F238E27FC236}">
                <a16:creationId xmlns:a16="http://schemas.microsoft.com/office/drawing/2014/main" id="{CD670CC9-7C08-45B1-BD8D-E9052A8DCE53}"/>
              </a:ext>
            </a:extLst>
          </p:cNvPr>
          <p:cNvSpPr>
            <a:spLocks noGrp="1"/>
          </p:cNvSpPr>
          <p:nvPr/>
        </p:nvSpPr>
        <p:spPr>
          <a:xfrm>
            <a:off x="1809750" y="5105400"/>
            <a:ext cx="9772650" cy="6858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4, 3)</a:t>
            </a:r>
          </a:p>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5, 5)</a:t>
            </a:r>
          </a:p>
        </p:txBody>
      </p:sp>
      <p:sp>
        <p:nvSpPr>
          <p:cNvPr id="17" name="caption">
            <a:extLst>
              <a:ext uri="{FF2B5EF4-FFF2-40B4-BE49-F238E27FC236}">
                <a16:creationId xmlns:a16="http://schemas.microsoft.com/office/drawing/2014/main" id="{CFA92A71-126B-4E33-8BAD-7342A803D177}"/>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이 두 호출은 partition 없이 끝납니다. 원래 0~5 호출로 돌아갑니다.</a:t>
            </a:r>
          </a:p>
        </p:txBody>
      </p:sp>
      <p:sp>
        <p:nvSpPr>
          <p:cNvPr id="18" name="footer">
            <a:extLst>
              <a:ext uri="{FF2B5EF4-FFF2-40B4-BE49-F238E27FC236}">
                <a16:creationId xmlns:a16="http://schemas.microsoft.com/office/drawing/2014/main" id="{E158B0A3-0E5D-4B0C-8584-19190E961A56}"/>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19" name="page">
            <a:extLst>
              <a:ext uri="{FF2B5EF4-FFF2-40B4-BE49-F238E27FC236}">
                <a16:creationId xmlns:a16="http://schemas.microsoft.com/office/drawing/2014/main" id="{8A3A9F9A-CC1F-4855-97C8-4DCC8D578B66}"/>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75</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30419175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ection">
            <a:extLst>
              <a:ext uri="{FF2B5EF4-FFF2-40B4-BE49-F238E27FC236}">
                <a16:creationId xmlns:a16="http://schemas.microsoft.com/office/drawing/2014/main" id="{7F8B8BCD-36F4-42A4-A3BA-F3CBE75063A6}"/>
              </a:ext>
            </a:extLst>
          </p:cNvPr>
          <p:cNvSpPr>
            <a:spLocks noGrp="1"/>
          </p:cNvSpPr>
          <p:nvPr/>
        </p:nvSpPr>
        <p:spPr>
          <a:xfrm>
            <a:off x="609600" y="266700"/>
            <a:ext cx="7620000" cy="266700"/>
          </a:xfrm>
          <a:prstGeom prst="rect">
            <a:avLst/>
          </a:prstGeom>
          <a:noFill/>
          <a:ln w="0">
            <a:noFill/>
          </a:ln>
        </p:spPr>
        <p:txBody>
          <a:bodyPr wrap="none" lIns="0" tIns="0" rIns="0" bIns="0" anchor="t">
            <a:noAutofit/>
          </a:bodyPr>
          <a:lstStyle>
            <a:defPPr algn="l">
              <a:defRPr sz="1050" b="0">
                <a:solidFill>
                  <a:srgbClr val="151515"/>
                </a:solidFill>
                <a:latin typeface="Malgun Gothic"/>
                <a:ea typeface="Malgun Gothic"/>
                <a:cs typeface="Malgun Gothic"/>
              </a:defRPr>
            </a:defPPr>
          </a:lstStyle>
          <a:p>
            <a:pPr algn="l">
              <a:lnSpc>
                <a:spcPct val="106000"/>
              </a:lnSpc>
              <a:buNone/>
              <a:defRPr sz="1050" b="0">
                <a:solidFill>
                  <a:srgbClr val="151515"/>
                </a:solidFill>
                <a:latin typeface="Malgun Gothic"/>
                <a:ea typeface="Malgun Gothic"/>
                <a:cs typeface="Malgun Gothic"/>
              </a:defRPr>
            </a:pPr>
            <a:r>
              <a:rPr sz="1050" b="0">
                <a:solidFill>
                  <a:srgbClr val="151515"/>
                </a:solidFill>
                <a:latin typeface="Malgun Gothic"/>
                <a:ea typeface="Malgun Gothic"/>
                <a:cs typeface="Malgun Gothic"/>
              </a:rPr>
              <a:t>4.3  퀵 정렬</a:t>
            </a:r>
          </a:p>
        </p:txBody>
      </p:sp>
      <p:sp>
        <p:nvSpPr>
          <p:cNvPr id="2" name="brand">
            <a:extLst>
              <a:ext uri="{FF2B5EF4-FFF2-40B4-BE49-F238E27FC236}">
                <a16:creationId xmlns:a16="http://schemas.microsoft.com/office/drawing/2014/main" id="{A9B73EB4-7531-4358-AE58-70038E6FBCB4}"/>
              </a:ext>
            </a:extLst>
          </p:cNvPr>
          <p:cNvSpPr>
            <a:spLocks noGrp="1"/>
          </p:cNvSpPr>
          <p:nvPr/>
        </p:nvSpPr>
        <p:spPr>
          <a:xfrm>
            <a:off x="10287000" y="266700"/>
            <a:ext cx="1295400" cy="228600"/>
          </a:xfrm>
          <a:prstGeom prst="rect">
            <a:avLst/>
          </a:prstGeom>
          <a:noFill/>
          <a:ln w="0">
            <a:noFill/>
          </a:ln>
        </p:spPr>
        <p:txBody>
          <a:bodyPr wrap="none" lIns="0" tIns="0" rIns="0" bIns="0" anchor="t">
            <a:noAutofit/>
          </a:bodyPr>
          <a:lstStyle>
            <a:defPPr algn="l">
              <a:defRPr sz="900" b="0">
                <a:solidFill>
                  <a:srgbClr val="151515"/>
                </a:solidFill>
                <a:latin typeface="Malgun Gothic"/>
                <a:ea typeface="Malgun Gothic"/>
                <a:cs typeface="Malgun Gothic"/>
              </a:defRPr>
            </a:defPPr>
          </a:lstStyle>
          <a:p>
            <a:pPr algn="l">
              <a:lnSpc>
                <a:spcPct val="106000"/>
              </a:lnSpc>
              <a:buNone/>
              <a:defRPr sz="900" b="0">
                <a:solidFill>
                  <a:srgbClr val="151515"/>
                </a:solidFill>
                <a:latin typeface="Malgun Gothic"/>
                <a:ea typeface="Malgun Gothic"/>
                <a:cs typeface="Malgun Gothic"/>
              </a:defRPr>
            </a:pPr>
            <a:r>
              <a:rPr sz="900" b="0">
                <a:solidFill>
                  <a:srgbClr val="151515"/>
                </a:solidFill>
                <a:latin typeface="Malgun Gothic"/>
                <a:ea typeface="Malgun Gothic"/>
                <a:cs typeface="Malgun Gothic"/>
              </a:rPr>
              <a:t>ALGORITHMS</a:t>
            </a:r>
          </a:p>
        </p:txBody>
      </p:sp>
      <p:sp>
        <p:nvSpPr>
          <p:cNvPr id="3" name="title">
            <a:extLst>
              <a:ext uri="{FF2B5EF4-FFF2-40B4-BE49-F238E27FC236}">
                <a16:creationId xmlns:a16="http://schemas.microsoft.com/office/drawing/2014/main" id="{8D1B5E1A-5C65-4008-BBAC-AA89C690278F}"/>
              </a:ext>
            </a:extLst>
          </p:cNvPr>
          <p:cNvSpPr>
            <a:spLocks noGrp="1"/>
          </p:cNvSpPr>
          <p:nvPr/>
        </p:nvSpPr>
        <p:spPr>
          <a:xfrm>
            <a:off x="609600" y="685800"/>
            <a:ext cx="10972800" cy="638175"/>
          </a:xfrm>
          <a:prstGeom prst="rect">
            <a:avLst/>
          </a:prstGeom>
          <a:noFill/>
          <a:ln w="0">
            <a:noFill/>
          </a:ln>
        </p:spPr>
        <p:txBody>
          <a:bodyPr wrap="none" lIns="0" tIns="0" rIns="0" bIns="0" anchor="t">
            <a:noAutofit/>
          </a:bodyPr>
          <a:lstStyle>
            <a:defPPr algn="l">
              <a:defRPr sz="3000" b="1">
                <a:solidFill>
                  <a:srgbClr val="151515"/>
                </a:solidFill>
                <a:latin typeface="Malgun Gothic"/>
                <a:ea typeface="Malgun Gothic"/>
                <a:cs typeface="Malgun Gothic"/>
              </a:defRPr>
            </a:defPPr>
          </a:lstStyle>
          <a:p>
            <a:pPr algn="l">
              <a:lnSpc>
                <a:spcPct val="106000"/>
              </a:lnSpc>
              <a:buNone/>
              <a:defRPr sz="3000" b="1">
                <a:solidFill>
                  <a:srgbClr val="151515"/>
                </a:solidFill>
                <a:latin typeface="Malgun Gothic"/>
                <a:ea typeface="Malgun Gothic"/>
                <a:cs typeface="Malgun Gothic"/>
              </a:defRPr>
            </a:pPr>
            <a:r>
              <a:rPr sz="3000" b="1">
                <a:solidFill>
                  <a:srgbClr val="151515"/>
                </a:solidFill>
                <a:latin typeface="Malgun Gothic"/>
                <a:ea typeface="Malgun Gothic"/>
                <a:cs typeface="Malgun Gothic"/>
              </a:rPr>
              <a:t>퀵 정렬 완료: 모든 호출 종료</a:t>
            </a:r>
          </a:p>
        </p:txBody>
      </p:sp>
      <p:sp>
        <p:nvSpPr>
          <p:cNvPr id="4" name="직사각형 3">
            <a:extLst>
              <a:ext uri="{FF2B5EF4-FFF2-40B4-BE49-F238E27FC236}">
                <a16:creationId xmlns:a16="http://schemas.microsoft.com/office/drawing/2014/main" id="{4DECBB23-C106-49BD-B57A-D5E8E7C9C885}"/>
              </a:ext>
            </a:extLst>
          </p:cNvPr>
          <p:cNvSpPr>
            <a:spLocks noGrp="1"/>
          </p:cNvSpPr>
          <p:nvPr/>
        </p:nvSpPr>
        <p:spPr>
          <a:xfrm>
            <a:off x="609600" y="1381125"/>
            <a:ext cx="10972800" cy="9525"/>
          </a:xfrm>
          <a:prstGeom prst="rect">
            <a:avLst/>
          </a:prstGeom>
          <a:solidFill>
            <a:srgbClr val="151515"/>
          </a:solidFill>
          <a:ln w="0">
            <a:noFill/>
          </a:ln>
        </p:spPr>
      </p:sp>
      <p:sp>
        <p:nvSpPr>
          <p:cNvPr id="5" name="body">
            <a:extLst>
              <a:ext uri="{FF2B5EF4-FFF2-40B4-BE49-F238E27FC236}">
                <a16:creationId xmlns:a16="http://schemas.microsoft.com/office/drawing/2014/main" id="{A9FCB4DD-8B56-4509-A800-4F7C576E0BEB}"/>
              </a:ext>
            </a:extLst>
          </p:cNvPr>
          <p:cNvSpPr>
            <a:spLocks noGrp="1"/>
          </p:cNvSpPr>
          <p:nvPr/>
        </p:nvSpPr>
        <p:spPr>
          <a:xfrm>
            <a:off x="609600" y="1638300"/>
            <a:ext cx="10972800" cy="666750"/>
          </a:xfrm>
          <a:prstGeom prst="rect">
            <a:avLst/>
          </a:prstGeom>
          <a:noFill/>
          <a:ln w="0">
            <a:noFill/>
          </a:ln>
        </p:spPr>
        <p:txBody>
          <a:bodyPr wrap="none" lIns="0" tIns="0" rIns="0" bIns="0" anchor="t">
            <a:noAutofit/>
          </a:bodyPr>
          <a:lstStyle>
            <a:defPPr algn="l">
              <a:defRPr sz="2025" b="0">
                <a:solidFill>
                  <a:srgbClr val="151515"/>
                </a:solidFill>
                <a:latin typeface="Malgun Gothic"/>
                <a:ea typeface="Malgun Gothic"/>
                <a:cs typeface="Malgun Gothic"/>
              </a:defRPr>
            </a:defPPr>
          </a:lstStyle>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최종 배열은 [1,3,4,6,7,8]입니다. 원래 배열 안에서 정렬했습니다.</a:t>
            </a:r>
          </a:p>
          <a:p>
            <a:pPr algn="l">
              <a:lnSpc>
                <a:spcPct val="106000"/>
              </a:lnSpc>
              <a:buNone/>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왼쪽 호출과 오른쪽 호출이 모두 끝나, 처음 quick_sort(a, 0, 5)도 종료합니다.</a:t>
            </a:r>
          </a:p>
        </p:txBody>
      </p:sp>
      <p:sp>
        <p:nvSpPr>
          <p:cNvPr id="6" name="row-0-label">
            <a:extLst>
              <a:ext uri="{FF2B5EF4-FFF2-40B4-BE49-F238E27FC236}">
                <a16:creationId xmlns:a16="http://schemas.microsoft.com/office/drawing/2014/main" id="{6842D980-6845-4F52-B053-31722BBD3F28}"/>
              </a:ext>
            </a:extLst>
          </p:cNvPr>
          <p:cNvSpPr>
            <a:spLocks noGrp="1"/>
          </p:cNvSpPr>
          <p:nvPr/>
        </p:nvSpPr>
        <p:spPr>
          <a:xfrm>
            <a:off x="609600" y="3333750"/>
            <a:ext cx="1181100" cy="342900"/>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최종 배열</a:t>
            </a:r>
          </a:p>
        </p:txBody>
      </p:sp>
      <p:graphicFrame>
        <p:nvGraphicFramePr>
          <p:cNvPr id="7" name="표 6">
            <a:extLst>
              <a:ext uri="{FF2B5EF4-FFF2-40B4-BE49-F238E27FC236}">
                <a16:creationId xmlns:a16="http://schemas.microsoft.com/office/drawing/2014/main" id="{679290DE-E15E-4AA9-8BB1-B0B4C43A92E8}"/>
              </a:ext>
            </a:extLst>
          </p:cNvPr>
          <p:cNvGraphicFramePr/>
          <p:nvPr/>
        </p:nvGraphicFramePr>
        <p:xfrm>
          <a:off x="1809750" y="3162300"/>
          <a:ext cx="8229600" cy="5715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pPr algn="ctr"/>
                      <a:r>
                        <a:rPr sz="2475" b="1">
                          <a:solidFill>
                            <a:srgbClr val="151515"/>
                          </a:solidFill>
                          <a:latin typeface="Consolas"/>
                          <a:ea typeface="Consolas"/>
                          <a:cs typeface="Consolas"/>
                        </a:rPr>
                        <a:t>1</a:t>
                      </a:r>
                    </a:p>
                  </a:txBody>
                  <a:tcPr anchor="ctr">
                    <a:solidFill>
                      <a:srgbClr val="DDEFE6"/>
                    </a:solidFill>
                  </a:tcPr>
                </a:tc>
                <a:tc>
                  <a:txBody>
                    <a:bodyPr/>
                    <a:lstStyle/>
                    <a:p>
                      <a:pPr algn="ctr"/>
                      <a:r>
                        <a:rPr sz="2475" b="1">
                          <a:solidFill>
                            <a:srgbClr val="151515"/>
                          </a:solidFill>
                          <a:latin typeface="Consolas"/>
                          <a:ea typeface="Consolas"/>
                          <a:cs typeface="Consolas"/>
                        </a:rPr>
                        <a:t>3</a:t>
                      </a:r>
                    </a:p>
                  </a:txBody>
                  <a:tcPr anchor="ctr">
                    <a:solidFill>
                      <a:srgbClr val="DDEFE6"/>
                    </a:solidFill>
                  </a:tcPr>
                </a:tc>
                <a:tc>
                  <a:txBody>
                    <a:bodyPr/>
                    <a:lstStyle/>
                    <a:p>
                      <a:pPr algn="ctr"/>
                      <a:r>
                        <a:rPr sz="2475" b="1">
                          <a:solidFill>
                            <a:srgbClr val="151515"/>
                          </a:solidFill>
                          <a:latin typeface="Consolas"/>
                          <a:ea typeface="Consolas"/>
                          <a:cs typeface="Consolas"/>
                        </a:rPr>
                        <a:t>4</a:t>
                      </a:r>
                    </a:p>
                  </a:txBody>
                  <a:tcPr anchor="ctr">
                    <a:solidFill>
                      <a:srgbClr val="DDEFE6"/>
                    </a:solidFill>
                  </a:tcPr>
                </a:tc>
                <a:tc>
                  <a:txBody>
                    <a:bodyPr/>
                    <a:lstStyle/>
                    <a:p>
                      <a:pPr algn="ctr"/>
                      <a:r>
                        <a:rPr sz="2475" b="1">
                          <a:solidFill>
                            <a:srgbClr val="151515"/>
                          </a:solidFill>
                          <a:latin typeface="Consolas"/>
                          <a:ea typeface="Consolas"/>
                          <a:cs typeface="Consolas"/>
                        </a:rPr>
                        <a:t>6</a:t>
                      </a:r>
                    </a:p>
                  </a:txBody>
                  <a:tcPr anchor="ctr">
                    <a:solidFill>
                      <a:srgbClr val="DDEFE6"/>
                    </a:solidFill>
                  </a:tcPr>
                </a:tc>
                <a:tc>
                  <a:txBody>
                    <a:bodyPr/>
                    <a:lstStyle/>
                    <a:p>
                      <a:pPr algn="ctr"/>
                      <a:r>
                        <a:rPr sz="2475" b="1">
                          <a:solidFill>
                            <a:srgbClr val="151515"/>
                          </a:solidFill>
                          <a:latin typeface="Consolas"/>
                          <a:ea typeface="Consolas"/>
                          <a:cs typeface="Consolas"/>
                        </a:rPr>
                        <a:t>7</a:t>
                      </a:r>
                    </a:p>
                  </a:txBody>
                  <a:tcPr anchor="ctr">
                    <a:solidFill>
                      <a:srgbClr val="DDEFE6"/>
                    </a:solidFill>
                  </a:tcPr>
                </a:tc>
                <a:tc>
                  <a:txBody>
                    <a:bodyPr/>
                    <a:lstStyle/>
                    <a:p>
                      <a:pPr algn="ctr"/>
                      <a:r>
                        <a:rPr sz="2475" b="1">
                          <a:solidFill>
                            <a:srgbClr val="151515"/>
                          </a:solidFill>
                          <a:latin typeface="Consolas"/>
                          <a:ea typeface="Consolas"/>
                          <a:cs typeface="Consolas"/>
                        </a:rPr>
                        <a:t>8</a:t>
                      </a:r>
                    </a:p>
                  </a:txBody>
                  <a:tcPr anchor="ctr">
                    <a:solidFill>
                      <a:srgbClr val="DDEFE6"/>
                    </a:solidFill>
                  </a:tcPr>
                </a:tc>
                <a:extLst>
                  <a:ext uri="{0D108BD9-81ED-4DB2-BD59-A6C34878D82A}">
                    <a16:rowId xmlns:a16="http://schemas.microsoft.com/office/drawing/2014/main" val="10000"/>
                  </a:ext>
                </a:extLst>
              </a:tr>
            </a:tbl>
          </a:graphicData>
        </a:graphic>
      </p:graphicFrame>
      <p:sp>
        <p:nvSpPr>
          <p:cNvPr id="8" name="row-0-index-0">
            <a:extLst>
              <a:ext uri="{FF2B5EF4-FFF2-40B4-BE49-F238E27FC236}">
                <a16:creationId xmlns:a16="http://schemas.microsoft.com/office/drawing/2014/main" id="{E247E5B2-D03D-450F-BC65-F2C9972B5292}"/>
              </a:ext>
            </a:extLst>
          </p:cNvPr>
          <p:cNvSpPr>
            <a:spLocks noGrp="1"/>
          </p:cNvSpPr>
          <p:nvPr/>
        </p:nvSpPr>
        <p:spPr>
          <a:xfrm>
            <a:off x="1809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0</a:t>
            </a:r>
          </a:p>
        </p:txBody>
      </p:sp>
      <p:sp>
        <p:nvSpPr>
          <p:cNvPr id="9" name="row-0-index-1">
            <a:extLst>
              <a:ext uri="{FF2B5EF4-FFF2-40B4-BE49-F238E27FC236}">
                <a16:creationId xmlns:a16="http://schemas.microsoft.com/office/drawing/2014/main" id="{43BD4917-458C-4898-8164-5FC2964B8DEE}"/>
              </a:ext>
            </a:extLst>
          </p:cNvPr>
          <p:cNvSpPr>
            <a:spLocks noGrp="1"/>
          </p:cNvSpPr>
          <p:nvPr/>
        </p:nvSpPr>
        <p:spPr>
          <a:xfrm>
            <a:off x="31813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1</a:t>
            </a:r>
          </a:p>
        </p:txBody>
      </p:sp>
      <p:sp>
        <p:nvSpPr>
          <p:cNvPr id="10" name="row-0-index-2">
            <a:extLst>
              <a:ext uri="{FF2B5EF4-FFF2-40B4-BE49-F238E27FC236}">
                <a16:creationId xmlns:a16="http://schemas.microsoft.com/office/drawing/2014/main" id="{E4764DEA-2169-4986-BC01-2EE9A69B4E20}"/>
              </a:ext>
            </a:extLst>
          </p:cNvPr>
          <p:cNvSpPr>
            <a:spLocks noGrp="1"/>
          </p:cNvSpPr>
          <p:nvPr/>
        </p:nvSpPr>
        <p:spPr>
          <a:xfrm>
            <a:off x="45529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2</a:t>
            </a:r>
          </a:p>
        </p:txBody>
      </p:sp>
      <p:sp>
        <p:nvSpPr>
          <p:cNvPr id="11" name="row-0-index-3">
            <a:extLst>
              <a:ext uri="{FF2B5EF4-FFF2-40B4-BE49-F238E27FC236}">
                <a16:creationId xmlns:a16="http://schemas.microsoft.com/office/drawing/2014/main" id="{33CC8584-7A9B-446A-ACF0-B40221CCB61D}"/>
              </a:ext>
            </a:extLst>
          </p:cNvPr>
          <p:cNvSpPr>
            <a:spLocks noGrp="1"/>
          </p:cNvSpPr>
          <p:nvPr/>
        </p:nvSpPr>
        <p:spPr>
          <a:xfrm>
            <a:off x="59245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3</a:t>
            </a:r>
          </a:p>
        </p:txBody>
      </p:sp>
      <p:sp>
        <p:nvSpPr>
          <p:cNvPr id="12" name="row-0-index-4">
            <a:extLst>
              <a:ext uri="{FF2B5EF4-FFF2-40B4-BE49-F238E27FC236}">
                <a16:creationId xmlns:a16="http://schemas.microsoft.com/office/drawing/2014/main" id="{EBFC4DB6-6609-4BE6-9B22-D6FB0E6ACB07}"/>
              </a:ext>
            </a:extLst>
          </p:cNvPr>
          <p:cNvSpPr>
            <a:spLocks noGrp="1"/>
          </p:cNvSpPr>
          <p:nvPr/>
        </p:nvSpPr>
        <p:spPr>
          <a:xfrm>
            <a:off x="72961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4</a:t>
            </a:r>
          </a:p>
        </p:txBody>
      </p:sp>
      <p:sp>
        <p:nvSpPr>
          <p:cNvPr id="13" name="row-0-index-5">
            <a:extLst>
              <a:ext uri="{FF2B5EF4-FFF2-40B4-BE49-F238E27FC236}">
                <a16:creationId xmlns:a16="http://schemas.microsoft.com/office/drawing/2014/main" id="{7C71CAF4-ABBC-4E4D-A244-A077FC5FF01D}"/>
              </a:ext>
            </a:extLst>
          </p:cNvPr>
          <p:cNvSpPr>
            <a:spLocks noGrp="1"/>
          </p:cNvSpPr>
          <p:nvPr/>
        </p:nvSpPr>
        <p:spPr>
          <a:xfrm>
            <a:off x="8667750" y="3790950"/>
            <a:ext cx="1371600" cy="209550"/>
          </a:xfrm>
          <a:prstGeom prst="rect">
            <a:avLst/>
          </a:prstGeom>
          <a:noFill/>
          <a:ln w="0">
            <a:noFill/>
          </a:ln>
        </p:spPr>
        <p:txBody>
          <a:bodyPr wrap="none" lIns="0" tIns="0" rIns="0" bIns="0" anchor="t">
            <a:noAutofit/>
          </a:bodyPr>
          <a:lstStyle>
            <a:defPPr algn="ctr">
              <a:defRPr sz="1200" b="0">
                <a:solidFill>
                  <a:srgbClr val="666666"/>
                </a:solidFill>
                <a:latin typeface="Consolas"/>
                <a:ea typeface="Consolas"/>
                <a:cs typeface="Consolas"/>
              </a:defRPr>
            </a:defPPr>
          </a:lstStyle>
          <a:p>
            <a:pPr algn="ctr">
              <a:lnSpc>
                <a:spcPct val="106000"/>
              </a:lnSpc>
              <a:buNone/>
              <a:defRPr sz="1200" b="0">
                <a:solidFill>
                  <a:srgbClr val="666666"/>
                </a:solidFill>
                <a:latin typeface="Consolas"/>
                <a:ea typeface="Consolas"/>
                <a:cs typeface="Consolas"/>
              </a:defRPr>
            </a:pPr>
            <a:r>
              <a:rPr sz="1200" b="0">
                <a:solidFill>
                  <a:srgbClr val="666666"/>
                </a:solidFill>
                <a:latin typeface="Consolas"/>
                <a:ea typeface="Consolas"/>
                <a:cs typeface="Consolas"/>
              </a:rPr>
              <a:t>5</a:t>
            </a:r>
          </a:p>
        </p:txBody>
      </p:sp>
      <p:sp>
        <p:nvSpPr>
          <p:cNvPr id="14" name="code">
            <a:extLst>
              <a:ext uri="{FF2B5EF4-FFF2-40B4-BE49-F238E27FC236}">
                <a16:creationId xmlns:a16="http://schemas.microsoft.com/office/drawing/2014/main" id="{6C3548A9-9362-4E82-8EB0-AC139C6465A0}"/>
              </a:ext>
            </a:extLst>
          </p:cNvPr>
          <p:cNvSpPr>
            <a:spLocks noGrp="1"/>
          </p:cNvSpPr>
          <p:nvPr/>
        </p:nvSpPr>
        <p:spPr>
          <a:xfrm>
            <a:off x="1809750" y="5105400"/>
            <a:ext cx="9772650" cy="342900"/>
          </a:xfrm>
          <a:prstGeom prst="rect">
            <a:avLst/>
          </a:prstGeom>
          <a:noFill/>
          <a:ln w="0">
            <a:noFill/>
          </a:ln>
        </p:spPr>
        <p:txBody>
          <a:bodyPr wrap="none" lIns="0" tIns="0" rIns="0" bIns="0" anchor="t">
            <a:noAutofit/>
          </a:bodyPr>
          <a:lstStyle>
            <a:defPPr algn="l">
              <a:defRPr sz="1875" b="0">
                <a:solidFill>
                  <a:srgbClr val="151515"/>
                </a:solidFill>
                <a:latin typeface="Consolas"/>
                <a:ea typeface="Consolas"/>
                <a:cs typeface="Consolas"/>
              </a:defRPr>
            </a:defPPr>
          </a:lstStyle>
          <a:p>
            <a:pPr algn="l">
              <a:lnSpc>
                <a:spcPct val="106000"/>
              </a:lnSpc>
              <a:buNone/>
              <a:defRPr sz="1875" b="0">
                <a:solidFill>
                  <a:srgbClr val="151515"/>
                </a:solidFill>
                <a:latin typeface="Consolas"/>
                <a:ea typeface="Consolas"/>
                <a:cs typeface="Consolas"/>
              </a:defRPr>
            </a:pPr>
            <a:r>
              <a:rPr sz="1875" b="0">
                <a:solidFill>
                  <a:srgbClr val="151515"/>
                </a:solidFill>
                <a:latin typeface="Consolas"/>
                <a:ea typeface="Consolas"/>
                <a:cs typeface="Consolas"/>
              </a:rPr>
              <a:t>quick_sort(a, 0, 5)</a:t>
            </a:r>
          </a:p>
        </p:txBody>
      </p:sp>
      <p:sp>
        <p:nvSpPr>
          <p:cNvPr id="15" name="caption">
            <a:extLst>
              <a:ext uri="{FF2B5EF4-FFF2-40B4-BE49-F238E27FC236}">
                <a16:creationId xmlns:a16="http://schemas.microsoft.com/office/drawing/2014/main" id="{E85F97BC-4769-4F5D-B705-99673050B999}"/>
              </a:ext>
            </a:extLst>
          </p:cNvPr>
          <p:cNvSpPr>
            <a:spLocks noGrp="1"/>
          </p:cNvSpPr>
          <p:nvPr/>
        </p:nvSpPr>
        <p:spPr>
          <a:xfrm>
            <a:off x="609600" y="6115050"/>
            <a:ext cx="10972800" cy="295275"/>
          </a:xfrm>
          <a:prstGeom prst="rect">
            <a:avLst/>
          </a:prstGeom>
          <a:noFill/>
          <a:ln w="0">
            <a:noFill/>
          </a:ln>
        </p:spPr>
        <p:txBody>
          <a:bodyPr wrap="none" lIns="0" tIns="0" rIns="0" bIns="0" anchor="t">
            <a:noAutofit/>
          </a:bodyPr>
          <a:lstStyle>
            <a:defPPr algn="l">
              <a:defRPr sz="1575" b="0">
                <a:solidFill>
                  <a:srgbClr val="151515"/>
                </a:solidFill>
                <a:latin typeface="Malgun Gothic"/>
                <a:ea typeface="Malgun Gothic"/>
                <a:cs typeface="Malgun Gothic"/>
              </a:defRPr>
            </a:defPPr>
          </a:lstStyle>
          <a:p>
            <a:pPr algn="l">
              <a:lnSpc>
                <a:spcPct val="106000"/>
              </a:lnSpc>
              <a:buNone/>
              <a:defRPr sz="1575" b="0">
                <a:solidFill>
                  <a:srgbClr val="151515"/>
                </a:solidFill>
                <a:latin typeface="Malgun Gothic"/>
                <a:ea typeface="Malgun Gothic"/>
                <a:cs typeface="Malgun Gothic"/>
              </a:defRPr>
            </a:pPr>
            <a:r>
              <a:rPr sz="1575" b="0">
                <a:solidFill>
                  <a:srgbClr val="151515"/>
                </a:solidFill>
                <a:latin typeface="Malgun Gothic"/>
                <a:ea typeface="Malgun Gothic"/>
                <a:cs typeface="Malgun Gothic"/>
              </a:rPr>
              <a:t>피벗 확정 순서: 6(인덱스 3), 4(인덱스 2), 3(인덱스 1), 7(인덱스 4)</a:t>
            </a:r>
          </a:p>
        </p:txBody>
      </p:sp>
      <p:sp>
        <p:nvSpPr>
          <p:cNvPr id="16" name="footer">
            <a:extLst>
              <a:ext uri="{FF2B5EF4-FFF2-40B4-BE49-F238E27FC236}">
                <a16:creationId xmlns:a16="http://schemas.microsoft.com/office/drawing/2014/main" id="{F0428BB1-2EE5-4AF8-8EA5-2E1379F943D1}"/>
              </a:ext>
            </a:extLst>
          </p:cNvPr>
          <p:cNvSpPr>
            <a:spLocks noGrp="1"/>
          </p:cNvSpPr>
          <p:nvPr/>
        </p:nvSpPr>
        <p:spPr>
          <a:xfrm>
            <a:off x="609600" y="6591300"/>
            <a:ext cx="7620000" cy="190500"/>
          </a:xfrm>
          <a:prstGeom prst="rect">
            <a:avLst/>
          </a:prstGeom>
          <a:noFill/>
          <a:ln w="0">
            <a:noFill/>
          </a:ln>
        </p:spPr>
        <p:txBody>
          <a:bodyPr wrap="none" lIns="0" tIns="0" rIns="0" bIns="0" anchor="t">
            <a:noAutofit/>
          </a:bodyPr>
          <a:lstStyle>
            <a:defPPr algn="l">
              <a:defRPr sz="900" b="0">
                <a:solidFill>
                  <a:srgbClr val="151515"/>
                </a:solidFill>
                <a:latin typeface="Consolas"/>
                <a:ea typeface="Consolas"/>
                <a:cs typeface="Consolas"/>
              </a:defRPr>
            </a:defPPr>
          </a:lstStyle>
          <a:p>
            <a:pPr algn="l">
              <a:lnSpc>
                <a:spcPct val="106000"/>
              </a:lnSpc>
              <a:buNone/>
              <a:defRPr sz="900" b="0">
                <a:solidFill>
                  <a:srgbClr val="151515"/>
                </a:solidFill>
                <a:latin typeface="Consolas"/>
                <a:ea typeface="Consolas"/>
                <a:cs typeface="Consolas"/>
              </a:defRPr>
            </a:pPr>
            <a:r>
              <a:rPr sz="900" b="0">
                <a:solidFill>
                  <a:srgbClr val="151515"/>
                </a:solidFill>
                <a:latin typeface="Consolas"/>
                <a:ea typeface="Consolas"/>
                <a:cs typeface="Consolas"/>
              </a:rPr>
              <a:t>04 / DIVIDE AND CONQUER</a:t>
            </a:r>
          </a:p>
        </p:txBody>
      </p:sp>
      <p:sp>
        <p:nvSpPr>
          <p:cNvPr id="17" name="page">
            <a:extLst>
              <a:ext uri="{FF2B5EF4-FFF2-40B4-BE49-F238E27FC236}">
                <a16:creationId xmlns:a16="http://schemas.microsoft.com/office/drawing/2014/main" id="{8D5E0A95-3354-40CE-9349-634DBC3034BD}"/>
              </a:ext>
            </a:extLst>
          </p:cNvPr>
          <p:cNvSpPr>
            <a:spLocks noGrp="1"/>
          </p:cNvSpPr>
          <p:nvPr/>
        </p:nvSpPr>
        <p:spPr>
          <a:xfrm>
            <a:off x="11049000" y="6553200"/>
            <a:ext cx="533400" cy="228600"/>
          </a:xfrm>
          <a:prstGeom prst="rect">
            <a:avLst/>
          </a:prstGeom>
          <a:noFill/>
          <a:ln w="0">
            <a:noFill/>
          </a:ln>
        </p:spPr>
        <p:txBody>
          <a:bodyPr wrap="none" lIns="0" tIns="0" rIns="0" bIns="0" anchor="t">
            <a:noAutofit/>
          </a:bodyPr>
          <a:lstStyle>
            <a:defPPr algn="r">
              <a:defRPr sz="1050" b="0">
                <a:solidFill>
                  <a:srgbClr val="151515"/>
                </a:solidFill>
                <a:latin typeface="Consolas"/>
                <a:ea typeface="Consolas"/>
                <a:cs typeface="Consolas"/>
              </a:defRPr>
            </a:defPPr>
          </a:lstStyle>
          <a:p>
            <a:pPr algn="r">
              <a:lnSpc>
                <a:spcPct val="106000"/>
              </a:lnSpc>
              <a:buNone/>
              <a:defRPr sz="1050" b="0">
                <a:solidFill>
                  <a:srgbClr val="151515"/>
                </a:solidFill>
                <a:latin typeface="Consolas"/>
                <a:ea typeface="Consolas"/>
                <a:cs typeface="Consolas"/>
              </a:defRPr>
            </a:pPr>
            <a:r>
              <a:rPr lang="en-US" altLang="ko-KR" sz="1050" b="0">
                <a:solidFill>
                  <a:srgbClr val="151515"/>
                </a:solidFill>
                <a:latin typeface="Consolas"/>
                <a:ea typeface="Consolas"/>
                <a:cs typeface="Consolas"/>
              </a:rPr>
              <a:t>76</a:t>
            </a:r>
            <a:endParaRPr sz="1050" b="0">
              <a:solidFill>
                <a:srgbClr val="151515"/>
              </a:solidFill>
              <a:latin typeface="Consolas"/>
              <a:ea typeface="Consolas"/>
              <a:cs typeface="Consolas"/>
            </a:endParaRPr>
          </a:p>
        </p:txBody>
      </p:sp>
    </p:spTree>
    <p:extLst>
      <p:ext uri="{BB962C8B-B14F-4D97-AF65-F5344CB8AC3E}">
        <p14:creationId xmlns:p14="http://schemas.microsoft.com/office/powerpoint/2010/main" val="11830106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92D689B4-47FA-4DC6-A15D-E5ACF9BE6DA0}"/>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047C1749-3131-4301-B384-4C1D8B8788A4}"/>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EC9DDE73-9C5B-44E4-B808-B100B56F205A}"/>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Python: 그림과 같은 partition</a:t>
            </a:r>
          </a:p>
        </p:txBody>
      </p:sp>
      <p:sp>
        <p:nvSpPr>
          <p:cNvPr id="4" name="직사각형 3">
            <a:extLst>
              <a:ext uri="{FF2B5EF4-FFF2-40B4-BE49-F238E27FC236}">
                <a16:creationId xmlns:a16="http://schemas.microsoft.com/office/drawing/2014/main" id="{8048A77D-570E-4E24-9639-9347121F0EFD}"/>
              </a:ext>
            </a:extLst>
          </p:cNvPr>
          <p:cNvSpPr>
            <a:spLocks noGrp="1"/>
          </p:cNvSpPr>
          <p:nvPr/>
        </p:nvSpPr>
        <p:spPr>
          <a:xfrm>
            <a:off x="609600" y="1571625"/>
            <a:ext cx="10972800" cy="4572000"/>
          </a:xfrm>
          <a:prstGeom prst="rect">
            <a:avLst/>
          </a:prstGeom>
          <a:noFill/>
          <a:ln w="0">
            <a:noFill/>
          </a:ln>
        </p:spPr>
        <p:txBody>
          <a:bodyPr/>
          <a:lstStyle>
            <a:defPPr>
              <a:defRPr sz="1875" b="0">
                <a:solidFill>
                  <a:srgbClr val="151515"/>
                </a:solidFill>
              </a:defRPr>
            </a:defPPr>
          </a:lstStyle>
          <a:p>
            <a:pPr>
              <a:defRPr sz="1875" b="0">
                <a:solidFill>
                  <a:srgbClr val="151515"/>
                </a:solidFill>
              </a:defRPr>
            </a:pPr>
            <a:r>
              <a:rPr sz="1875" b="0">
                <a:solidFill>
                  <a:srgbClr val="151515"/>
                </a:solidFill>
                <a:latin typeface="Consolas" panose="020B0609020204030204" pitchFamily="49" charset="0"/>
              </a:rPr>
              <a:t>def partition(a, lo, hi):</a:t>
            </a:r>
          </a:p>
          <a:p>
            <a:pPr>
              <a:defRPr sz="1875" b="0">
                <a:solidFill>
                  <a:srgbClr val="151515"/>
                </a:solidFill>
              </a:defRPr>
            </a:pPr>
            <a:r>
              <a:rPr sz="1875" b="0">
                <a:solidFill>
                  <a:srgbClr val="151515"/>
                </a:solidFill>
                <a:latin typeface="Consolas" panose="020B0609020204030204" pitchFamily="49" charset="0"/>
              </a:rPr>
              <a:t>    pivot_idx = (lo + hi) // 2</a:t>
            </a:r>
          </a:p>
          <a:p>
            <a:pPr>
              <a:defRPr sz="1875" b="0">
                <a:solidFill>
                  <a:srgbClr val="151515"/>
                </a:solidFill>
              </a:defRPr>
            </a:pPr>
            <a:r>
              <a:rPr sz="1875" b="0">
                <a:solidFill>
                  <a:srgbClr val="151515"/>
                </a:solidFill>
                <a:latin typeface="Consolas" panose="020B0609020204030204" pitchFamily="49" charset="0"/>
              </a:rPr>
              <a:t>    a[pivot_idx], a[hi] = a[hi], a[pivot_idx]</a:t>
            </a:r>
          </a:p>
          <a:p>
            <a:pPr>
              <a:defRPr sz="1875" b="0">
                <a:solidFill>
                  <a:srgbClr val="151515"/>
                </a:solidFill>
              </a:defRPr>
            </a:pPr>
            <a:r>
              <a:rPr sz="1875" b="0">
                <a:solidFill>
                  <a:srgbClr val="151515"/>
                </a:solidFill>
                <a:latin typeface="Consolas" panose="020B0609020204030204" pitchFamily="49" charset="0"/>
              </a:rPr>
              <a:t>    pivot = a[hi]</a:t>
            </a:r>
          </a:p>
          <a:p>
            <a:pPr>
              <a:defRPr sz="1875" b="0">
                <a:solidFill>
                  <a:srgbClr val="151515"/>
                </a:solidFill>
              </a:defRPr>
            </a:pPr>
            <a:r>
              <a:rPr sz="1875" b="0">
                <a:solidFill>
                  <a:srgbClr val="151515"/>
                </a:solidFill>
                <a:latin typeface="Consolas" panose="020B0609020204030204" pitchFamily="49" charset="0"/>
              </a:rPr>
              <a:t>    L, R = lo, hi - 1</a:t>
            </a:r>
          </a:p>
          <a:p>
            <a:pPr>
              <a:defRPr sz="1875" b="0">
                <a:solidFill>
                  <a:srgbClr val="151515"/>
                </a:solidFill>
              </a:defRPr>
            </a:pPr>
            <a:r>
              <a:rPr sz="1875" b="0">
                <a:solidFill>
                  <a:srgbClr val="151515"/>
                </a:solidFill>
                <a:latin typeface="Consolas" panose="020B0609020204030204" pitchFamily="49" charset="0"/>
              </a:rPr>
              <a:t>    while True:</a:t>
            </a:r>
          </a:p>
          <a:p>
            <a:pPr>
              <a:defRPr sz="1875" b="0">
                <a:solidFill>
                  <a:srgbClr val="151515"/>
                </a:solidFill>
              </a:defRPr>
            </a:pPr>
            <a:r>
              <a:rPr sz="1875" b="0">
                <a:solidFill>
                  <a:srgbClr val="151515"/>
                </a:solidFill>
                <a:latin typeface="Consolas" panose="020B0609020204030204" pitchFamily="49" charset="0"/>
              </a:rPr>
              <a:t>        while L &lt;= R and a[L] &lt;= pivot:</a:t>
            </a:r>
          </a:p>
          <a:p>
            <a:pPr>
              <a:defRPr sz="1875" b="0">
                <a:solidFill>
                  <a:srgbClr val="151515"/>
                </a:solidFill>
              </a:defRPr>
            </a:pPr>
            <a:r>
              <a:rPr sz="1875" b="0">
                <a:solidFill>
                  <a:srgbClr val="151515"/>
                </a:solidFill>
                <a:latin typeface="Consolas" panose="020B0609020204030204" pitchFamily="49" charset="0"/>
              </a:rPr>
              <a:t>            L += 1</a:t>
            </a:r>
          </a:p>
          <a:p>
            <a:pPr>
              <a:defRPr sz="1875" b="0">
                <a:solidFill>
                  <a:srgbClr val="151515"/>
                </a:solidFill>
              </a:defRPr>
            </a:pPr>
            <a:r>
              <a:rPr sz="1875" b="0">
                <a:solidFill>
                  <a:srgbClr val="151515"/>
                </a:solidFill>
                <a:latin typeface="Consolas" panose="020B0609020204030204" pitchFamily="49" charset="0"/>
              </a:rPr>
              <a:t>        while L &lt;= R and a[R] &gt; pivot:</a:t>
            </a:r>
          </a:p>
          <a:p>
            <a:pPr>
              <a:defRPr sz="1875" b="0">
                <a:solidFill>
                  <a:srgbClr val="151515"/>
                </a:solidFill>
              </a:defRPr>
            </a:pPr>
            <a:r>
              <a:rPr sz="1875" b="0">
                <a:solidFill>
                  <a:srgbClr val="151515"/>
                </a:solidFill>
                <a:latin typeface="Consolas" panose="020B0609020204030204" pitchFamily="49" charset="0"/>
              </a:rPr>
              <a:t>            R -= 1</a:t>
            </a:r>
          </a:p>
          <a:p>
            <a:pPr>
              <a:defRPr sz="1875" b="0">
                <a:solidFill>
                  <a:srgbClr val="151515"/>
                </a:solidFill>
              </a:defRPr>
            </a:pPr>
            <a:r>
              <a:rPr sz="1875" b="0">
                <a:solidFill>
                  <a:srgbClr val="151515"/>
                </a:solidFill>
                <a:latin typeface="Consolas" panose="020B0609020204030204" pitchFamily="49" charset="0"/>
              </a:rPr>
              <a:t>        if L &gt; R:</a:t>
            </a:r>
          </a:p>
          <a:p>
            <a:pPr>
              <a:defRPr sz="1875" b="0">
                <a:solidFill>
                  <a:srgbClr val="151515"/>
                </a:solidFill>
              </a:defRPr>
            </a:pPr>
            <a:r>
              <a:rPr sz="1875" b="0">
                <a:solidFill>
                  <a:srgbClr val="151515"/>
                </a:solidFill>
                <a:latin typeface="Consolas" panose="020B0609020204030204" pitchFamily="49" charset="0"/>
              </a:rPr>
              <a:t>            break</a:t>
            </a:r>
          </a:p>
          <a:p>
            <a:pPr>
              <a:defRPr sz="1875" b="0">
                <a:solidFill>
                  <a:srgbClr val="151515"/>
                </a:solidFill>
              </a:defRPr>
            </a:pPr>
            <a:r>
              <a:rPr sz="1875" b="0">
                <a:solidFill>
                  <a:srgbClr val="151515"/>
                </a:solidFill>
                <a:latin typeface="Consolas" panose="020B0609020204030204" pitchFamily="49" charset="0"/>
              </a:rPr>
              <a:t>        a[L], a[R] = a[R], a[L]</a:t>
            </a:r>
          </a:p>
          <a:p>
            <a:pPr>
              <a:defRPr sz="1875" b="0">
                <a:solidFill>
                  <a:srgbClr val="151515"/>
                </a:solidFill>
              </a:defRPr>
            </a:pPr>
            <a:r>
              <a:rPr sz="1875" b="0">
                <a:solidFill>
                  <a:srgbClr val="151515"/>
                </a:solidFill>
                <a:latin typeface="Consolas" panose="020B0609020204030204" pitchFamily="49" charset="0"/>
              </a:rPr>
              <a:t>    a[L], a[hi] = a[hi], a[L]</a:t>
            </a:r>
          </a:p>
          <a:p>
            <a:pPr>
              <a:defRPr sz="1875" b="0">
                <a:solidFill>
                  <a:srgbClr val="151515"/>
                </a:solidFill>
              </a:defRPr>
            </a:pPr>
            <a:r>
              <a:rPr sz="1875" b="0">
                <a:solidFill>
                  <a:srgbClr val="151515"/>
                </a:solidFill>
                <a:latin typeface="Consolas" panose="020B0609020204030204" pitchFamily="49" charset="0"/>
              </a:rPr>
              <a:t>    return L</a:t>
            </a:r>
          </a:p>
        </p:txBody>
      </p:sp>
      <p:sp>
        <p:nvSpPr>
          <p:cNvPr id="5" name="직사각형 4">
            <a:extLst>
              <a:ext uri="{FF2B5EF4-FFF2-40B4-BE49-F238E27FC236}">
                <a16:creationId xmlns:a16="http://schemas.microsoft.com/office/drawing/2014/main" id="{FB96BA6B-0CDB-4F78-8D00-6C88F539137E}"/>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9711A347-16F5-41E9-BB03-01F9BA17BDBD}"/>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77</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74C4B9DE-7D9D-F451-5F0C-21FED1274911}"/>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681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EFD11410-4A80-40E7-9C8E-9F0F9CEA7582}"/>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BFD08A59-63EB-4E74-AEE5-76A4F005C649}"/>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4131032B-B7FC-4768-BB22-B32B4BD45176}"/>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Python: 피벗을 제외한 재귀 호출</a:t>
            </a:r>
          </a:p>
        </p:txBody>
      </p:sp>
      <p:sp>
        <p:nvSpPr>
          <p:cNvPr id="4" name="직사각형 3">
            <a:extLst>
              <a:ext uri="{FF2B5EF4-FFF2-40B4-BE49-F238E27FC236}">
                <a16:creationId xmlns:a16="http://schemas.microsoft.com/office/drawing/2014/main" id="{F435F472-BA13-4E2D-A3F8-5C67586AC8A9}"/>
              </a:ext>
            </a:extLst>
          </p:cNvPr>
          <p:cNvSpPr>
            <a:spLocks noGrp="1"/>
          </p:cNvSpPr>
          <p:nvPr/>
        </p:nvSpPr>
        <p:spPr>
          <a:xfrm>
            <a:off x="609600" y="1571625"/>
            <a:ext cx="10972800" cy="4572000"/>
          </a:xfrm>
          <a:prstGeom prst="rect">
            <a:avLst/>
          </a:prstGeom>
          <a:noFill/>
          <a:ln w="0">
            <a:noFill/>
          </a:ln>
        </p:spPr>
        <p:txBody>
          <a:bodyPr/>
          <a:lstStyle>
            <a:defPPr>
              <a:defRPr sz="2100" b="0">
                <a:solidFill>
                  <a:srgbClr val="151515"/>
                </a:solidFill>
              </a:defRPr>
            </a:defPPr>
          </a:lstStyle>
          <a:p>
            <a:pPr>
              <a:defRPr sz="2100" b="0">
                <a:solidFill>
                  <a:srgbClr val="151515"/>
                </a:solidFill>
              </a:defRPr>
            </a:pPr>
            <a:r>
              <a:rPr sz="2100" b="0">
                <a:solidFill>
                  <a:srgbClr val="151515"/>
                </a:solidFill>
                <a:latin typeface="Consolas" panose="020B0609020204030204" pitchFamily="49" charset="0"/>
              </a:rPr>
              <a:t>def quick_sort(a, lo, hi):</a:t>
            </a:r>
          </a:p>
          <a:p>
            <a:pPr>
              <a:defRPr sz="2100" b="0">
                <a:solidFill>
                  <a:srgbClr val="151515"/>
                </a:solidFill>
              </a:defRPr>
            </a:pPr>
            <a:r>
              <a:rPr sz="2100" b="0">
                <a:solidFill>
                  <a:srgbClr val="151515"/>
                </a:solidFill>
                <a:latin typeface="Consolas" panose="020B0609020204030204" pitchFamily="49" charset="0"/>
              </a:rPr>
              <a:t>    if lo &gt;= hi:</a:t>
            </a:r>
          </a:p>
          <a:p>
            <a:pPr>
              <a:defRPr sz="2100" b="0">
                <a:solidFill>
                  <a:srgbClr val="151515"/>
                </a:solidFill>
              </a:defRPr>
            </a:pPr>
            <a:r>
              <a:rPr sz="2100" b="0">
                <a:solidFill>
                  <a:srgbClr val="151515"/>
                </a:solidFill>
                <a:latin typeface="Consolas" panose="020B0609020204030204" pitchFamily="49" charset="0"/>
              </a:rPr>
              <a:t>        return</a:t>
            </a:r>
          </a:p>
          <a:p>
            <a:pPr>
              <a:defRPr sz="2100" b="0">
                <a:solidFill>
                  <a:srgbClr val="151515"/>
                </a:solidFill>
              </a:defRPr>
            </a:pPr>
            <a:r>
              <a:rPr sz="2100" b="0">
                <a:solidFill>
                  <a:srgbClr val="151515"/>
                </a:solidFill>
                <a:latin typeface="Consolas" panose="020B0609020204030204" pitchFamily="49" charset="0"/>
              </a:rPr>
              <a:t>    p = partition(a, lo, hi)</a:t>
            </a:r>
          </a:p>
          <a:p>
            <a:pPr>
              <a:defRPr sz="2100" b="0">
                <a:solidFill>
                  <a:srgbClr val="151515"/>
                </a:solidFill>
              </a:defRPr>
            </a:pPr>
            <a:r>
              <a:rPr sz="2100" b="0">
                <a:solidFill>
                  <a:srgbClr val="151515"/>
                </a:solidFill>
                <a:latin typeface="Consolas" panose="020B0609020204030204" pitchFamily="49" charset="0"/>
              </a:rPr>
              <a:t>    quick_sort(a, lo, p - 1)</a:t>
            </a:r>
          </a:p>
          <a:p>
            <a:pPr>
              <a:defRPr sz="2100" b="0">
                <a:solidFill>
                  <a:srgbClr val="151515"/>
                </a:solidFill>
              </a:defRPr>
            </a:pPr>
            <a:r>
              <a:rPr sz="2100" b="0">
                <a:solidFill>
                  <a:srgbClr val="151515"/>
                </a:solidFill>
                <a:latin typeface="Consolas" panose="020B0609020204030204" pitchFamily="49" charset="0"/>
              </a:rPr>
              <a:t>    quick_sort(a, p + 1, hi)</a:t>
            </a:r>
          </a:p>
          <a:p>
            <a:endParaRPr sz="2100" b="0">
              <a:solidFill>
                <a:srgbClr val="151515"/>
              </a:solidFill>
              <a:latin typeface="Consolas" panose="020B0609020204030204" pitchFamily="49" charset="0"/>
            </a:endParaRPr>
          </a:p>
          <a:p>
            <a:pPr>
              <a:defRPr sz="2100" b="0">
                <a:solidFill>
                  <a:srgbClr val="151515"/>
                </a:solidFill>
              </a:defRPr>
            </a:pPr>
            <a:r>
              <a:rPr sz="2100" b="0">
                <a:solidFill>
                  <a:srgbClr val="151515"/>
                </a:solidFill>
                <a:latin typeface="Consolas" panose="020B0609020204030204" pitchFamily="49" charset="0"/>
              </a:rPr>
              <a:t>a = [8, 4, 6, 3, 7, 1]</a:t>
            </a:r>
          </a:p>
          <a:p>
            <a:pPr>
              <a:defRPr sz="2100" b="0">
                <a:solidFill>
                  <a:srgbClr val="151515"/>
                </a:solidFill>
              </a:defRPr>
            </a:pPr>
            <a:r>
              <a:rPr sz="2100" b="0">
                <a:solidFill>
                  <a:srgbClr val="151515"/>
                </a:solidFill>
                <a:latin typeface="Consolas" panose="020B0609020204030204" pitchFamily="49" charset="0"/>
              </a:rPr>
              <a:t>quick_sort(a, 0, len(a) - 1)</a:t>
            </a:r>
          </a:p>
          <a:p>
            <a:pPr>
              <a:defRPr sz="2100" b="0">
                <a:solidFill>
                  <a:srgbClr val="151515"/>
                </a:solidFill>
              </a:defRPr>
            </a:pPr>
            <a:r>
              <a:rPr sz="2100" b="0">
                <a:solidFill>
                  <a:srgbClr val="151515"/>
                </a:solidFill>
                <a:latin typeface="Consolas" panose="020B0609020204030204" pitchFamily="49" charset="0"/>
              </a:rPr>
              <a:t>print(a)  # [1, 3, 4, 6, 7, 8]</a:t>
            </a:r>
          </a:p>
        </p:txBody>
      </p:sp>
      <p:sp>
        <p:nvSpPr>
          <p:cNvPr id="5" name="직사각형 4">
            <a:extLst>
              <a:ext uri="{FF2B5EF4-FFF2-40B4-BE49-F238E27FC236}">
                <a16:creationId xmlns:a16="http://schemas.microsoft.com/office/drawing/2014/main" id="{90269D8F-44A7-4E18-983B-20D1DB1D7DEE}"/>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5F586FEA-89DE-4A73-8A01-DA7F20939727}"/>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78</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C09D8FF3-4806-79A7-7A52-80871BC2725D}"/>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6385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7F7A62AB-E787-4B83-9E6D-D722B2D8AA48}"/>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9CBA3275-8246-477B-8ED7-45EDBEFCF78A}"/>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B17BA7E0-EF3B-4D99-BF01-96DABD0AF315}"/>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C: 양쪽 포인터 partition</a:t>
            </a:r>
          </a:p>
        </p:txBody>
      </p:sp>
      <p:sp>
        <p:nvSpPr>
          <p:cNvPr id="4" name="직사각형 3">
            <a:extLst>
              <a:ext uri="{FF2B5EF4-FFF2-40B4-BE49-F238E27FC236}">
                <a16:creationId xmlns:a16="http://schemas.microsoft.com/office/drawing/2014/main" id="{390524E8-6018-42CF-89B2-0485FCB9D871}"/>
              </a:ext>
            </a:extLst>
          </p:cNvPr>
          <p:cNvSpPr>
            <a:spLocks noGrp="1"/>
          </p:cNvSpPr>
          <p:nvPr/>
        </p:nvSpPr>
        <p:spPr>
          <a:xfrm>
            <a:off x="609600" y="1571625"/>
            <a:ext cx="10972800" cy="4572000"/>
          </a:xfrm>
          <a:prstGeom prst="rect">
            <a:avLst/>
          </a:prstGeom>
          <a:noFill/>
          <a:ln w="0">
            <a:noFill/>
          </a:ln>
        </p:spPr>
        <p:txBody>
          <a:bodyPr/>
          <a:lstStyle>
            <a:defPPr>
              <a:defRPr sz="1875" b="0">
                <a:solidFill>
                  <a:srgbClr val="151515"/>
                </a:solidFill>
              </a:defRPr>
            </a:defPPr>
          </a:lstStyle>
          <a:p>
            <a:pPr>
              <a:defRPr sz="1875" b="0">
                <a:solidFill>
                  <a:srgbClr val="151515"/>
                </a:solidFill>
              </a:defRPr>
            </a:pPr>
            <a:r>
              <a:rPr sz="1875" b="0">
                <a:solidFill>
                  <a:srgbClr val="151515"/>
                </a:solidFill>
                <a:latin typeface="Consolas" panose="020B0609020204030204" pitchFamily="49" charset="0"/>
              </a:rPr>
              <a:t>void swap(int *x, int *y) {</a:t>
            </a:r>
          </a:p>
          <a:p>
            <a:pPr>
              <a:defRPr sz="1875" b="0">
                <a:solidFill>
                  <a:srgbClr val="151515"/>
                </a:solidFill>
              </a:defRPr>
            </a:pPr>
            <a:r>
              <a:rPr sz="1875" b="0">
                <a:solidFill>
                  <a:srgbClr val="151515"/>
                </a:solidFill>
                <a:latin typeface="Consolas" panose="020B0609020204030204" pitchFamily="49" charset="0"/>
              </a:rPr>
              <a:t>    int t = *x; *x = *y; *y = t;</a:t>
            </a:r>
          </a:p>
          <a:p>
            <a:pPr>
              <a:defRPr sz="1875" b="0">
                <a:solidFill>
                  <a:srgbClr val="151515"/>
                </a:solidFill>
              </a:defRPr>
            </a:pPr>
            <a:r>
              <a:rPr sz="1875" b="0">
                <a:solidFill>
                  <a:srgbClr val="151515"/>
                </a:solidFill>
                <a:latin typeface="Consolas" panose="020B0609020204030204" pitchFamily="49" charset="0"/>
              </a:rPr>
              <a:t>}</a:t>
            </a:r>
          </a:p>
          <a:p>
            <a:pPr>
              <a:defRPr sz="1875" b="0">
                <a:solidFill>
                  <a:srgbClr val="151515"/>
                </a:solidFill>
              </a:defRPr>
            </a:pPr>
            <a:r>
              <a:rPr sz="1875" b="0">
                <a:solidFill>
                  <a:srgbClr val="151515"/>
                </a:solidFill>
                <a:latin typeface="Consolas" panose="020B0609020204030204" pitchFamily="49" charset="0"/>
              </a:rPr>
              <a:t>int partition(int a[], int lo, int hi) {</a:t>
            </a:r>
          </a:p>
          <a:p>
            <a:pPr>
              <a:defRPr sz="1875" b="0">
                <a:solidFill>
                  <a:srgbClr val="151515"/>
                </a:solidFill>
              </a:defRPr>
            </a:pPr>
            <a:r>
              <a:rPr sz="1875" b="0">
                <a:solidFill>
                  <a:srgbClr val="151515"/>
                </a:solidFill>
                <a:latin typeface="Consolas" panose="020B0609020204030204" pitchFamily="49" charset="0"/>
              </a:rPr>
              <a:t>    int m = lo + (hi - lo) / 2;</a:t>
            </a:r>
          </a:p>
          <a:p>
            <a:pPr>
              <a:defRPr sz="1875" b="0">
                <a:solidFill>
                  <a:srgbClr val="151515"/>
                </a:solidFill>
              </a:defRPr>
            </a:pPr>
            <a:r>
              <a:rPr sz="1875" b="0">
                <a:solidFill>
                  <a:srgbClr val="151515"/>
                </a:solidFill>
                <a:latin typeface="Consolas" panose="020B0609020204030204" pitchFamily="49" charset="0"/>
              </a:rPr>
              <a:t>    swap(&amp;a[m], &amp;a[hi]);</a:t>
            </a:r>
          </a:p>
          <a:p>
            <a:pPr>
              <a:defRPr sz="1875" b="0">
                <a:solidFill>
                  <a:srgbClr val="151515"/>
                </a:solidFill>
              </a:defRPr>
            </a:pPr>
            <a:r>
              <a:rPr sz="1875" b="0">
                <a:solidFill>
                  <a:srgbClr val="151515"/>
                </a:solidFill>
                <a:latin typeface="Consolas" panose="020B0609020204030204" pitchFamily="49" charset="0"/>
              </a:rPr>
              <a:t>    int pivot = a[hi], L = lo, R = hi - 1;</a:t>
            </a:r>
          </a:p>
          <a:p>
            <a:pPr>
              <a:defRPr sz="1875" b="0">
                <a:solidFill>
                  <a:srgbClr val="151515"/>
                </a:solidFill>
              </a:defRPr>
            </a:pPr>
            <a:r>
              <a:rPr sz="1875" b="0">
                <a:solidFill>
                  <a:srgbClr val="151515"/>
                </a:solidFill>
                <a:latin typeface="Consolas" panose="020B0609020204030204" pitchFamily="49" charset="0"/>
              </a:rPr>
              <a:t>    while (1) {</a:t>
            </a:r>
          </a:p>
          <a:p>
            <a:pPr>
              <a:defRPr sz="1875" b="0">
                <a:solidFill>
                  <a:srgbClr val="151515"/>
                </a:solidFill>
              </a:defRPr>
            </a:pPr>
            <a:r>
              <a:rPr sz="1875" b="0">
                <a:solidFill>
                  <a:srgbClr val="151515"/>
                </a:solidFill>
                <a:latin typeface="Consolas" panose="020B0609020204030204" pitchFamily="49" charset="0"/>
              </a:rPr>
              <a:t>        while (L &lt;= R &amp;&amp; a[L] &lt;= pivot) L++;</a:t>
            </a:r>
          </a:p>
          <a:p>
            <a:pPr>
              <a:defRPr sz="1875" b="0">
                <a:solidFill>
                  <a:srgbClr val="151515"/>
                </a:solidFill>
              </a:defRPr>
            </a:pPr>
            <a:r>
              <a:rPr sz="1875" b="0">
                <a:solidFill>
                  <a:srgbClr val="151515"/>
                </a:solidFill>
                <a:latin typeface="Consolas" panose="020B0609020204030204" pitchFamily="49" charset="0"/>
              </a:rPr>
              <a:t>        while (L &lt;= R &amp;&amp; a[R] &gt; pivot) R--;</a:t>
            </a:r>
          </a:p>
          <a:p>
            <a:pPr>
              <a:defRPr sz="1875" b="0">
                <a:solidFill>
                  <a:srgbClr val="151515"/>
                </a:solidFill>
              </a:defRPr>
            </a:pPr>
            <a:r>
              <a:rPr sz="1875" b="0">
                <a:solidFill>
                  <a:srgbClr val="151515"/>
                </a:solidFill>
                <a:latin typeface="Consolas" panose="020B0609020204030204" pitchFamily="49" charset="0"/>
              </a:rPr>
              <a:t>        if (L &gt; R) break;</a:t>
            </a:r>
          </a:p>
          <a:p>
            <a:pPr>
              <a:defRPr sz="1875" b="0">
                <a:solidFill>
                  <a:srgbClr val="151515"/>
                </a:solidFill>
              </a:defRPr>
            </a:pPr>
            <a:r>
              <a:rPr sz="1875" b="0">
                <a:solidFill>
                  <a:srgbClr val="151515"/>
                </a:solidFill>
                <a:latin typeface="Consolas" panose="020B0609020204030204" pitchFamily="49" charset="0"/>
              </a:rPr>
              <a:t>        swap(&amp;a[L], &amp;a[R]);</a:t>
            </a:r>
          </a:p>
          <a:p>
            <a:pPr>
              <a:defRPr sz="1875" b="0">
                <a:solidFill>
                  <a:srgbClr val="151515"/>
                </a:solidFill>
              </a:defRPr>
            </a:pPr>
            <a:r>
              <a:rPr sz="1875" b="0">
                <a:solidFill>
                  <a:srgbClr val="151515"/>
                </a:solidFill>
                <a:latin typeface="Consolas" panose="020B0609020204030204" pitchFamily="49" charset="0"/>
              </a:rPr>
              <a:t>    }</a:t>
            </a:r>
          </a:p>
          <a:p>
            <a:pPr>
              <a:defRPr sz="1875" b="0">
                <a:solidFill>
                  <a:srgbClr val="151515"/>
                </a:solidFill>
              </a:defRPr>
            </a:pPr>
            <a:r>
              <a:rPr sz="1875" b="0">
                <a:solidFill>
                  <a:srgbClr val="151515"/>
                </a:solidFill>
                <a:latin typeface="Consolas" panose="020B0609020204030204" pitchFamily="49" charset="0"/>
              </a:rPr>
              <a:t>    swap(&amp;a[L], &amp;a[hi]);</a:t>
            </a:r>
          </a:p>
          <a:p>
            <a:pPr>
              <a:defRPr sz="1875" b="0">
                <a:solidFill>
                  <a:srgbClr val="151515"/>
                </a:solidFill>
              </a:defRPr>
            </a:pPr>
            <a:r>
              <a:rPr sz="1875" b="0">
                <a:solidFill>
                  <a:srgbClr val="151515"/>
                </a:solidFill>
                <a:latin typeface="Consolas" panose="020B0609020204030204" pitchFamily="49" charset="0"/>
              </a:rPr>
              <a:t>    return L;</a:t>
            </a:r>
          </a:p>
          <a:p>
            <a:pPr>
              <a:defRPr sz="1875" b="0">
                <a:solidFill>
                  <a:srgbClr val="151515"/>
                </a:solidFill>
              </a:defRPr>
            </a:pPr>
            <a:r>
              <a:rPr sz="1875" b="0">
                <a:solidFill>
                  <a:srgbClr val="151515"/>
                </a:solidFill>
                <a:latin typeface="Consolas" panose="020B0609020204030204" pitchFamily="49" charset="0"/>
              </a:rPr>
              <a:t>}</a:t>
            </a:r>
          </a:p>
        </p:txBody>
      </p:sp>
      <p:sp>
        <p:nvSpPr>
          <p:cNvPr id="5" name="직사각형 4">
            <a:extLst>
              <a:ext uri="{FF2B5EF4-FFF2-40B4-BE49-F238E27FC236}">
                <a16:creationId xmlns:a16="http://schemas.microsoft.com/office/drawing/2014/main" id="{41E558BC-158B-4C6C-B07F-78657BEC5D50}"/>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4DEB71B9-E0B7-4587-8D48-6F0D9725F30C}"/>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79</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C7F08B2C-4E3C-2F63-D64F-952A0E52A63A}"/>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37876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550CB1A9-C93D-4C7E-BF7B-16B87084C006}"/>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DC3DF83A-AE55-409C-B528-E3E19EB6821F}"/>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44CEADCA-7839-427C-9FD6-9CEE58562FFD}"/>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C: 재귀 호출과 실행</a:t>
            </a:r>
          </a:p>
        </p:txBody>
      </p:sp>
      <p:sp>
        <p:nvSpPr>
          <p:cNvPr id="4" name="직사각형 3">
            <a:extLst>
              <a:ext uri="{FF2B5EF4-FFF2-40B4-BE49-F238E27FC236}">
                <a16:creationId xmlns:a16="http://schemas.microsoft.com/office/drawing/2014/main" id="{07F46D04-070F-4D9A-9211-0F2D634E81DD}"/>
              </a:ext>
            </a:extLst>
          </p:cNvPr>
          <p:cNvSpPr>
            <a:spLocks noGrp="1"/>
          </p:cNvSpPr>
          <p:nvPr/>
        </p:nvSpPr>
        <p:spPr>
          <a:xfrm>
            <a:off x="609600" y="1571625"/>
            <a:ext cx="10972800" cy="4572000"/>
          </a:xfrm>
          <a:prstGeom prst="rect">
            <a:avLst/>
          </a:prstGeom>
          <a:noFill/>
          <a:ln w="0">
            <a:noFill/>
          </a:ln>
        </p:spPr>
        <p:txBody>
          <a:bodyPr/>
          <a:lstStyle>
            <a:defPPr>
              <a:defRPr sz="2100" b="0">
                <a:solidFill>
                  <a:srgbClr val="151515"/>
                </a:solidFill>
              </a:defRPr>
            </a:defPPr>
          </a:lstStyle>
          <a:p>
            <a:pPr>
              <a:defRPr sz="2100" b="0">
                <a:solidFill>
                  <a:srgbClr val="151515"/>
                </a:solidFill>
              </a:defRPr>
            </a:pPr>
            <a:r>
              <a:rPr sz="2100" b="0">
                <a:solidFill>
                  <a:srgbClr val="151515"/>
                </a:solidFill>
                <a:latin typeface="Consolas" panose="020B0609020204030204" pitchFamily="49" charset="0"/>
              </a:rPr>
              <a:t>/* swap과 partition을 이 함수 앞에 함께 넣는다. */</a:t>
            </a:r>
          </a:p>
          <a:p>
            <a:pPr>
              <a:defRPr sz="2100" b="0">
                <a:solidFill>
                  <a:srgbClr val="151515"/>
                </a:solidFill>
              </a:defRPr>
            </a:pPr>
            <a:r>
              <a:rPr sz="2100" b="0">
                <a:solidFill>
                  <a:srgbClr val="151515"/>
                </a:solidFill>
                <a:latin typeface="Consolas" panose="020B0609020204030204" pitchFamily="49" charset="0"/>
              </a:rPr>
              <a:t>void quick_sort(int a[], int lo, int hi) {</a:t>
            </a:r>
          </a:p>
          <a:p>
            <a:pPr>
              <a:defRPr sz="2100" b="0">
                <a:solidFill>
                  <a:srgbClr val="151515"/>
                </a:solidFill>
              </a:defRPr>
            </a:pPr>
            <a:r>
              <a:rPr sz="2100" b="0">
                <a:solidFill>
                  <a:srgbClr val="151515"/>
                </a:solidFill>
                <a:latin typeface="Consolas" panose="020B0609020204030204" pitchFamily="49" charset="0"/>
              </a:rPr>
              <a:t>    if (lo &gt;= hi) return;</a:t>
            </a:r>
          </a:p>
          <a:p>
            <a:pPr>
              <a:defRPr sz="2100" b="0">
                <a:solidFill>
                  <a:srgbClr val="151515"/>
                </a:solidFill>
              </a:defRPr>
            </a:pPr>
            <a:r>
              <a:rPr sz="2100" b="0">
                <a:solidFill>
                  <a:srgbClr val="151515"/>
                </a:solidFill>
                <a:latin typeface="Consolas" panose="020B0609020204030204" pitchFamily="49" charset="0"/>
              </a:rPr>
              <a:t>    int p = partition(a, lo, hi);</a:t>
            </a:r>
          </a:p>
          <a:p>
            <a:pPr>
              <a:defRPr sz="2100" b="0">
                <a:solidFill>
                  <a:srgbClr val="151515"/>
                </a:solidFill>
              </a:defRPr>
            </a:pPr>
            <a:r>
              <a:rPr sz="2100" b="0">
                <a:solidFill>
                  <a:srgbClr val="151515"/>
                </a:solidFill>
                <a:latin typeface="Consolas" panose="020B0609020204030204" pitchFamily="49" charset="0"/>
              </a:rPr>
              <a:t>    quick_sort(a, lo, p - 1);</a:t>
            </a:r>
          </a:p>
          <a:p>
            <a:pPr>
              <a:defRPr sz="2100" b="0">
                <a:solidFill>
                  <a:srgbClr val="151515"/>
                </a:solidFill>
              </a:defRPr>
            </a:pPr>
            <a:r>
              <a:rPr sz="2100" b="0">
                <a:solidFill>
                  <a:srgbClr val="151515"/>
                </a:solidFill>
                <a:latin typeface="Consolas" panose="020B0609020204030204" pitchFamily="49" charset="0"/>
              </a:rPr>
              <a:t>    quick_sort(a, p + 1, hi);</a:t>
            </a:r>
          </a:p>
          <a:p>
            <a:pPr>
              <a:defRPr sz="2100" b="0">
                <a:solidFill>
                  <a:srgbClr val="151515"/>
                </a:solidFill>
              </a:defRPr>
            </a:pPr>
            <a:r>
              <a:rPr sz="2100" b="0">
                <a:solidFill>
                  <a:srgbClr val="151515"/>
                </a:solidFill>
                <a:latin typeface="Consolas" panose="020B0609020204030204" pitchFamily="49" charset="0"/>
              </a:rPr>
              <a:t>}</a:t>
            </a:r>
          </a:p>
          <a:p>
            <a:pPr>
              <a:defRPr sz="2100" b="0">
                <a:solidFill>
                  <a:srgbClr val="151515"/>
                </a:solidFill>
              </a:defRPr>
            </a:pPr>
            <a:r>
              <a:rPr sz="2100" b="0">
                <a:solidFill>
                  <a:srgbClr val="151515"/>
                </a:solidFill>
                <a:latin typeface="Consolas" panose="020B0609020204030204" pitchFamily="49" charset="0"/>
              </a:rPr>
              <a:t>/* 실행 예: main 안에서 */</a:t>
            </a:r>
          </a:p>
          <a:p>
            <a:pPr>
              <a:defRPr sz="2100" b="0">
                <a:solidFill>
                  <a:srgbClr val="151515"/>
                </a:solidFill>
              </a:defRPr>
            </a:pPr>
            <a:r>
              <a:rPr sz="2100" b="0">
                <a:solidFill>
                  <a:srgbClr val="151515"/>
                </a:solidFill>
                <a:latin typeface="Consolas" panose="020B0609020204030204" pitchFamily="49" charset="0"/>
              </a:rPr>
              <a:t>int a[] = {8, 4, 6, 3, 7, 1};</a:t>
            </a:r>
          </a:p>
          <a:p>
            <a:pPr>
              <a:defRPr sz="2100" b="0">
                <a:solidFill>
                  <a:srgbClr val="151515"/>
                </a:solidFill>
              </a:defRPr>
            </a:pPr>
            <a:r>
              <a:rPr sz="2100" b="0">
                <a:solidFill>
                  <a:srgbClr val="151515"/>
                </a:solidFill>
                <a:latin typeface="Consolas" panose="020B0609020204030204" pitchFamily="49" charset="0"/>
              </a:rPr>
              <a:t>quick_sort(a, 0, 5);</a:t>
            </a:r>
          </a:p>
          <a:p>
            <a:pPr>
              <a:defRPr sz="2100" b="0">
                <a:solidFill>
                  <a:srgbClr val="151515"/>
                </a:solidFill>
              </a:defRPr>
            </a:pPr>
            <a:r>
              <a:rPr sz="2100" b="0">
                <a:solidFill>
                  <a:srgbClr val="151515"/>
                </a:solidFill>
                <a:latin typeface="Consolas" panose="020B0609020204030204" pitchFamily="49" charset="0"/>
              </a:rPr>
              <a:t>/* a는 {1, 3, 4, 6, 7, 8}이 된다. */</a:t>
            </a:r>
          </a:p>
        </p:txBody>
      </p:sp>
      <p:sp>
        <p:nvSpPr>
          <p:cNvPr id="5" name="직사각형 4">
            <a:extLst>
              <a:ext uri="{FF2B5EF4-FFF2-40B4-BE49-F238E27FC236}">
                <a16:creationId xmlns:a16="http://schemas.microsoft.com/office/drawing/2014/main" id="{02072D43-27BE-4BC4-B5A9-F8A35B0B9FBB}"/>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8D9E3CBC-7FCB-43C7-9D00-8B6E89134E99}"/>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80</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7A88AF88-2DAD-554F-4DBF-A74092F7EB71}"/>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1575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864D9F95-6664-49DD-BC89-815A104BA1BA}"/>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5FDF81D5-67D1-4533-9934-8A991A3D8539}"/>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E21F2DF0-9B94-4759-BE50-369708176296}"/>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같은 값과 빈 구간도 처리한다</a:t>
            </a:r>
          </a:p>
        </p:txBody>
      </p:sp>
      <p:sp>
        <p:nvSpPr>
          <p:cNvPr id="4" name="직사각형 3">
            <a:extLst>
              <a:ext uri="{FF2B5EF4-FFF2-40B4-BE49-F238E27FC236}">
                <a16:creationId xmlns:a16="http://schemas.microsoft.com/office/drawing/2014/main" id="{E6DA9C8D-0283-4CB9-B35A-BC145E9C6B99}"/>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이 구현은 피벗 이하를 왼쪽, 초과를 오른쪽에 둔다.</a:t>
            </a:r>
          </a:p>
          <a:p>
            <a:pPr>
              <a:defRPr sz="2025" b="0">
                <a:solidFill>
                  <a:srgbClr val="151515"/>
                </a:solidFill>
              </a:defRPr>
            </a:pPr>
            <a:r>
              <a:rPr sz="2025" b="0">
                <a:solidFill>
                  <a:srgbClr val="151515"/>
                </a:solidFill>
                <a:latin typeface="Malgun Gothic" panose="020B0503020000020004" pitchFamily="50" charset="-127"/>
              </a:rPr>
              <a:t>같은 값이 있어도 L이 계속 이동하여 무한 반복을 피한다.</a:t>
            </a:r>
          </a:p>
          <a:p>
            <a:pPr>
              <a:defRPr sz="2025" b="0">
                <a:solidFill>
                  <a:srgbClr val="151515"/>
                </a:solidFill>
              </a:defRPr>
            </a:pPr>
            <a:r>
              <a:rPr sz="2025" b="0">
                <a:solidFill>
                  <a:srgbClr val="151515"/>
                </a:solidFill>
                <a:latin typeface="Malgun Gothic" panose="020B0503020000020004" pitchFamily="50" charset="-127"/>
              </a:rPr>
              <a:t>모두 같은 값에서는 한쪽으로 치우쳐 최악 Θ(n²)가 된다.</a:t>
            </a:r>
          </a:p>
          <a:p>
            <a:pPr>
              <a:defRPr sz="2025" b="0">
                <a:solidFill>
                  <a:srgbClr val="151515"/>
                </a:solidFill>
              </a:defRPr>
            </a:pPr>
            <a:r>
              <a:rPr sz="2025" b="0">
                <a:solidFill>
                  <a:srgbClr val="151515"/>
                </a:solidFill>
                <a:latin typeface="Malgun Gothic" panose="020B0503020000020004" pitchFamily="50" charset="-127"/>
              </a:rPr>
              <a:t>빈 배열의 첫 호출은 quick_sort(a, 0, −1), 즉시 종료</a:t>
            </a:r>
          </a:p>
        </p:txBody>
      </p:sp>
      <p:sp>
        <p:nvSpPr>
          <p:cNvPr id="5" name="직사각형 4">
            <a:extLst>
              <a:ext uri="{FF2B5EF4-FFF2-40B4-BE49-F238E27FC236}">
                <a16:creationId xmlns:a16="http://schemas.microsoft.com/office/drawing/2014/main" id="{E579FB57-02B4-414B-87AC-8CD94703498D}"/>
              </a:ext>
            </a:extLst>
          </p:cNvPr>
          <p:cNvSpPr>
            <a:spLocks noGrp="1"/>
          </p:cNvSpPr>
          <p:nvPr/>
        </p:nvSpPr>
        <p:spPr>
          <a:xfrm>
            <a:off x="609600" y="335280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모두 같은 값</a:t>
            </a:r>
          </a:p>
        </p:txBody>
      </p:sp>
      <p:graphicFrame>
        <p:nvGraphicFramePr>
          <p:cNvPr id="6" name="표 5">
            <a:extLst>
              <a:ext uri="{FF2B5EF4-FFF2-40B4-BE49-F238E27FC236}">
                <a16:creationId xmlns:a16="http://schemas.microsoft.com/office/drawing/2014/main" id="{102B86F0-717A-4C5A-A81B-B3CE7AAE1E53}"/>
              </a:ext>
            </a:extLst>
          </p:cNvPr>
          <p:cNvGraphicFramePr/>
          <p:nvPr>
            <p:extLst>
              <p:ext uri="{D42A27DB-BD31-4B8C-83A1-F6EECF244321}">
                <p14:modId xmlns:p14="http://schemas.microsoft.com/office/powerpoint/2010/main" val="2214603489"/>
              </p:ext>
            </p:extLst>
          </p:nvPr>
        </p:nvGraphicFramePr>
        <p:xfrm>
          <a:off x="609600" y="3619500"/>
          <a:ext cx="10972800" cy="5524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52450">
                <a:tc>
                  <a:txBody>
                    <a:bodyPr/>
                    <a:lstStyle/>
                    <a:p>
                      <a:pPr algn="ctr"/>
                      <a:r>
                        <a:rPr sz="2025" b="1">
                          <a:solidFill>
                            <a:srgbClr val="151515"/>
                          </a:solidFill>
                          <a:latin typeface="Malgun Gothic" panose="020B0503020000020004" pitchFamily="50" charset="-127"/>
                        </a:rPr>
                        <a:t>2</a:t>
                      </a:r>
                    </a:p>
                  </a:txBody>
                  <a:tcPr>
                    <a:solidFill>
                      <a:srgbClr val="F6F6F6"/>
                    </a:solidFill>
                  </a:tcPr>
                </a:tc>
                <a:tc>
                  <a:txBody>
                    <a:bodyPr/>
                    <a:lstStyle/>
                    <a:p>
                      <a:pPr algn="ctr"/>
                      <a:r>
                        <a:rPr sz="2025" b="1">
                          <a:solidFill>
                            <a:srgbClr val="151515"/>
                          </a:solidFill>
                          <a:latin typeface="Malgun Gothic" panose="020B0503020000020004" pitchFamily="50" charset="-127"/>
                        </a:rPr>
                        <a:t>2</a:t>
                      </a:r>
                    </a:p>
                  </a:txBody>
                  <a:tcPr>
                    <a:solidFill>
                      <a:srgbClr val="F6F6F6"/>
                    </a:solidFill>
                  </a:tcPr>
                </a:tc>
                <a:tc>
                  <a:txBody>
                    <a:bodyPr/>
                    <a:lstStyle/>
                    <a:p>
                      <a:pPr algn="ctr"/>
                      <a:r>
                        <a:rPr sz="2025" b="1">
                          <a:solidFill>
                            <a:srgbClr val="151515"/>
                          </a:solidFill>
                          <a:latin typeface="Malgun Gothic" panose="020B0503020000020004" pitchFamily="50" charset="-127"/>
                        </a:rPr>
                        <a:t>2</a:t>
                      </a:r>
                    </a:p>
                  </a:txBody>
                  <a:tcPr>
                    <a:solidFill>
                      <a:srgbClr val="FDE5BB"/>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D196DC3B-F0D3-4613-AED1-C464B9DFCCB8}"/>
              </a:ext>
            </a:extLst>
          </p:cNvPr>
          <p:cNvSpPr>
            <a:spLocks noGrp="1"/>
          </p:cNvSpPr>
          <p:nvPr/>
        </p:nvSpPr>
        <p:spPr>
          <a:xfrm>
            <a:off x="609600" y="443865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분할 크기</a:t>
            </a:r>
          </a:p>
        </p:txBody>
      </p:sp>
      <p:graphicFrame>
        <p:nvGraphicFramePr>
          <p:cNvPr id="8" name="표 7">
            <a:extLst>
              <a:ext uri="{FF2B5EF4-FFF2-40B4-BE49-F238E27FC236}">
                <a16:creationId xmlns:a16="http://schemas.microsoft.com/office/drawing/2014/main" id="{34A50BE7-C4CA-4FF3-8DA3-E6093CBBBF0D}"/>
              </a:ext>
            </a:extLst>
          </p:cNvPr>
          <p:cNvGraphicFramePr/>
          <p:nvPr>
            <p:extLst>
              <p:ext uri="{D42A27DB-BD31-4B8C-83A1-F6EECF244321}">
                <p14:modId xmlns:p14="http://schemas.microsoft.com/office/powerpoint/2010/main" val="1468037509"/>
              </p:ext>
            </p:extLst>
          </p:nvPr>
        </p:nvGraphicFramePr>
        <p:xfrm>
          <a:off x="609600" y="4705350"/>
          <a:ext cx="10972800" cy="5524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52450">
                <a:tc>
                  <a:txBody>
                    <a:bodyPr/>
                    <a:lstStyle/>
                    <a:p>
                      <a:pPr algn="ctr"/>
                      <a:r>
                        <a:rPr sz="2025" b="1">
                          <a:solidFill>
                            <a:srgbClr val="151515"/>
                          </a:solidFill>
                          <a:latin typeface="Malgun Gothic" panose="020B0503020000020004" pitchFamily="50" charset="-127"/>
                        </a:rPr>
                        <a:t>왼쪽 2개</a:t>
                      </a:r>
                    </a:p>
                  </a:txBody>
                  <a:tcPr>
                    <a:solidFill>
                      <a:srgbClr val="F6F6F6"/>
                    </a:solidFill>
                  </a:tcPr>
                </a:tc>
                <a:tc>
                  <a:txBody>
                    <a:bodyPr/>
                    <a:lstStyle/>
                    <a:p>
                      <a:pPr algn="ctr"/>
                      <a:r>
                        <a:rPr sz="2025" b="1">
                          <a:solidFill>
                            <a:srgbClr val="151515"/>
                          </a:solidFill>
                          <a:latin typeface="Malgun Gothic" panose="020B0503020000020004" pitchFamily="50" charset="-127"/>
                        </a:rPr>
                        <a:t>피벗 1개</a:t>
                      </a:r>
                    </a:p>
                  </a:txBody>
                  <a:tcPr>
                    <a:solidFill>
                      <a:srgbClr val="F6F6F6"/>
                    </a:solidFill>
                  </a:tcPr>
                </a:tc>
                <a:tc>
                  <a:txBody>
                    <a:bodyPr/>
                    <a:lstStyle/>
                    <a:p>
                      <a:pPr algn="ctr"/>
                      <a:r>
                        <a:rPr sz="2025" b="1">
                          <a:solidFill>
                            <a:srgbClr val="151515"/>
                          </a:solidFill>
                          <a:latin typeface="Malgun Gothic" panose="020B0503020000020004" pitchFamily="50" charset="-127"/>
                        </a:rPr>
                        <a:t>오른쪽 0개</a:t>
                      </a:r>
                    </a:p>
                  </a:txBody>
                  <a:tcPr>
                    <a:solidFill>
                      <a:srgbClr val="F6F6F6"/>
                    </a:solidFill>
                  </a:tcPr>
                </a:tc>
                <a:extLst>
                  <a:ext uri="{0D108BD9-81ED-4DB2-BD59-A6C34878D82A}">
                    <a16:rowId xmlns:a16="http://schemas.microsoft.com/office/drawing/2014/main" val="10000"/>
                  </a:ext>
                </a:extLst>
              </a:tr>
            </a:tbl>
          </a:graphicData>
        </a:graphic>
      </p:graphicFrame>
      <p:sp>
        <p:nvSpPr>
          <p:cNvPr id="9" name="직사각형 8">
            <a:extLst>
              <a:ext uri="{FF2B5EF4-FFF2-40B4-BE49-F238E27FC236}">
                <a16:creationId xmlns:a16="http://schemas.microsoft.com/office/drawing/2014/main" id="{180B7170-18CA-4F11-80B1-84109F2ECF55}"/>
              </a:ext>
            </a:extLst>
          </p:cNvPr>
          <p:cNvSpPr>
            <a:spLocks noGrp="1"/>
          </p:cNvSpPr>
          <p:nvPr/>
        </p:nvSpPr>
        <p:spPr>
          <a:xfrm>
            <a:off x="609600" y="6124575"/>
            <a:ext cx="10972800" cy="20955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파랑 L: 왼쪽 포인터    초록 R: 오른쪽 포인터    주황: 피벗</a:t>
            </a:r>
          </a:p>
        </p:txBody>
      </p:sp>
      <p:sp>
        <p:nvSpPr>
          <p:cNvPr id="10" name="직사각형 9">
            <a:extLst>
              <a:ext uri="{FF2B5EF4-FFF2-40B4-BE49-F238E27FC236}">
                <a16:creationId xmlns:a16="http://schemas.microsoft.com/office/drawing/2014/main" id="{D2582A8E-F20D-46DB-AEE8-C77E403F4F06}"/>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1" name="직사각형 10">
            <a:extLst>
              <a:ext uri="{FF2B5EF4-FFF2-40B4-BE49-F238E27FC236}">
                <a16:creationId xmlns:a16="http://schemas.microsoft.com/office/drawing/2014/main" id="{43C386E1-104A-4F67-BEF4-BCCCAF439E03}"/>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81</a:t>
            </a:r>
            <a:endParaRPr sz="1050" b="0">
              <a:solidFill>
                <a:srgbClr val="151515"/>
              </a:solidFill>
              <a:latin typeface="Consolas" panose="020B0609020204030204" pitchFamily="49" charset="0"/>
            </a:endParaRPr>
          </a:p>
        </p:txBody>
      </p:sp>
      <p:cxnSp>
        <p:nvCxnSpPr>
          <p:cNvPr id="13" name="직선 연결선 12">
            <a:extLst>
              <a:ext uri="{FF2B5EF4-FFF2-40B4-BE49-F238E27FC236}">
                <a16:creationId xmlns:a16="http://schemas.microsoft.com/office/drawing/2014/main" id="{984A066F-E329-E24C-0A7C-A16BD6807F29}"/>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77670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3A548893-FAF1-4121-8172-D16F0CCBBA5F}"/>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3B505E63-463B-4F42-B6E4-976638BA017D}"/>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AA2A3F16-27D1-44A2-BC6E-955F8BB0992E}"/>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피벗에 따라 달라지는 시간</a:t>
            </a:r>
          </a:p>
        </p:txBody>
      </p:sp>
      <p:sp>
        <p:nvSpPr>
          <p:cNvPr id="4" name="직사각형 3">
            <a:extLst>
              <a:ext uri="{FF2B5EF4-FFF2-40B4-BE49-F238E27FC236}">
                <a16:creationId xmlns:a16="http://schemas.microsoft.com/office/drawing/2014/main" id="{EF3E900D-B239-47E7-B6C7-E97E7DB2CB36}"/>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분할 한 번은 Θ(n)</a:t>
            </a:r>
          </a:p>
          <a:p>
            <a:pPr>
              <a:defRPr sz="2025" b="0">
                <a:solidFill>
                  <a:srgbClr val="151515"/>
                </a:solidFill>
              </a:defRPr>
            </a:pPr>
            <a:r>
              <a:rPr sz="2025" b="0">
                <a:solidFill>
                  <a:srgbClr val="151515"/>
                </a:solidFill>
                <a:latin typeface="Malgun Gothic" panose="020B0503020000020004" pitchFamily="50" charset="-127"/>
              </a:rPr>
              <a:t>균형 분할은 Θ(log n) 단계, 전체 Θ(n log n)</a:t>
            </a:r>
          </a:p>
          <a:p>
            <a:pPr>
              <a:defRPr sz="2025" b="0">
                <a:solidFill>
                  <a:srgbClr val="151515"/>
                </a:solidFill>
              </a:defRPr>
            </a:pPr>
            <a:r>
              <a:rPr sz="2025" b="0">
                <a:solidFill>
                  <a:srgbClr val="151515"/>
                </a:solidFill>
                <a:latin typeface="Malgun Gothic" panose="020B0503020000020004" pitchFamily="50" charset="-127"/>
              </a:rPr>
              <a:t>한쪽에 n − 1개씩 남으면 최악 Θ(n²)</a:t>
            </a:r>
          </a:p>
          <a:p>
            <a:pPr>
              <a:defRPr sz="2025" b="0">
                <a:solidFill>
                  <a:srgbClr val="151515"/>
                </a:solidFill>
              </a:defRPr>
            </a:pPr>
            <a:r>
              <a:rPr sz="2025" b="0">
                <a:solidFill>
                  <a:srgbClr val="151515"/>
                </a:solidFill>
                <a:latin typeface="Malgun Gothic" panose="020B0503020000020004" pitchFamily="50" charset="-127"/>
              </a:rPr>
              <a:t>서로 다른 값의 무작위 순열에서 평균 Θ(n log n)</a:t>
            </a:r>
          </a:p>
          <a:p>
            <a:pPr>
              <a:defRPr sz="2025" b="0">
                <a:solidFill>
                  <a:srgbClr val="151515"/>
                </a:solidFill>
              </a:defRPr>
            </a:pPr>
            <a:r>
              <a:rPr sz="2025" b="0">
                <a:solidFill>
                  <a:srgbClr val="151515"/>
                </a:solidFill>
                <a:latin typeface="Malgun Gothic" panose="020B0503020000020004" pitchFamily="50" charset="-127"/>
              </a:rPr>
              <a:t>가운데 인덱스의 값이 중앙값이라는 보장은 없다.</a:t>
            </a:r>
          </a:p>
        </p:txBody>
      </p:sp>
      <p:sp>
        <p:nvSpPr>
          <p:cNvPr id="5" name="직사각형 4">
            <a:extLst>
              <a:ext uri="{FF2B5EF4-FFF2-40B4-BE49-F238E27FC236}">
                <a16:creationId xmlns:a16="http://schemas.microsoft.com/office/drawing/2014/main" id="{E26C7153-FF1D-4E5C-939F-A87FC0B79979}"/>
              </a:ext>
            </a:extLst>
          </p:cNvPr>
          <p:cNvSpPr>
            <a:spLocks noGrp="1"/>
          </p:cNvSpPr>
          <p:nvPr/>
        </p:nvSpPr>
        <p:spPr>
          <a:xfrm>
            <a:off x="609600" y="335280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균형 분할</a:t>
            </a:r>
          </a:p>
        </p:txBody>
      </p:sp>
      <p:graphicFrame>
        <p:nvGraphicFramePr>
          <p:cNvPr id="6" name="표 5">
            <a:extLst>
              <a:ext uri="{FF2B5EF4-FFF2-40B4-BE49-F238E27FC236}">
                <a16:creationId xmlns:a16="http://schemas.microsoft.com/office/drawing/2014/main" id="{B8FE7DC1-CC77-43A8-ACDE-A385C1C939BF}"/>
              </a:ext>
            </a:extLst>
          </p:cNvPr>
          <p:cNvGraphicFramePr/>
          <p:nvPr>
            <p:extLst>
              <p:ext uri="{D42A27DB-BD31-4B8C-83A1-F6EECF244321}">
                <p14:modId xmlns:p14="http://schemas.microsoft.com/office/powerpoint/2010/main" val="238657323"/>
              </p:ext>
            </p:extLst>
          </p:nvPr>
        </p:nvGraphicFramePr>
        <p:xfrm>
          <a:off x="609600" y="3619500"/>
          <a:ext cx="10972800" cy="5524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52450">
                <a:tc>
                  <a:txBody>
                    <a:bodyPr/>
                    <a:lstStyle/>
                    <a:p>
                      <a:pPr algn="ctr"/>
                      <a:r>
                        <a:rPr sz="2025" b="1">
                          <a:solidFill>
                            <a:srgbClr val="151515"/>
                          </a:solidFill>
                          <a:latin typeface="Malgun Gothic" panose="020B0503020000020004" pitchFamily="50" charset="-127"/>
                        </a:rPr>
                        <a:t>절반</a:t>
                      </a:r>
                    </a:p>
                  </a:txBody>
                  <a:tcPr>
                    <a:solidFill>
                      <a:srgbClr val="F6F6F6"/>
                    </a:solidFill>
                  </a:tcPr>
                </a:tc>
                <a:tc>
                  <a:txBody>
                    <a:bodyPr/>
                    <a:lstStyle/>
                    <a:p>
                      <a:pPr algn="ctr"/>
                      <a:r>
                        <a:rPr sz="2025" b="1">
                          <a:solidFill>
                            <a:srgbClr val="151515"/>
                          </a:solidFill>
                          <a:latin typeface="Malgun Gothic" panose="020B0503020000020004" pitchFamily="50" charset="-127"/>
                        </a:rPr>
                        <a:t>피벗</a:t>
                      </a:r>
                    </a:p>
                  </a:txBody>
                  <a:tcPr>
                    <a:solidFill>
                      <a:srgbClr val="F6F6F6"/>
                    </a:solidFill>
                  </a:tcPr>
                </a:tc>
                <a:tc>
                  <a:txBody>
                    <a:bodyPr/>
                    <a:lstStyle/>
                    <a:p>
                      <a:pPr algn="ctr"/>
                      <a:r>
                        <a:rPr sz="2025" b="1">
                          <a:solidFill>
                            <a:srgbClr val="151515"/>
                          </a:solidFill>
                          <a:latin typeface="Malgun Gothic" panose="020B0503020000020004" pitchFamily="50" charset="-127"/>
                        </a:rPr>
                        <a:t>절반</a:t>
                      </a:r>
                    </a:p>
                  </a:txBody>
                  <a:tcPr>
                    <a:solidFill>
                      <a:srgbClr val="F6F6F6"/>
                    </a:solid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B399A153-850D-4127-8557-D1268ECD6AEE}"/>
              </a:ext>
            </a:extLst>
          </p:cNvPr>
          <p:cNvSpPr>
            <a:spLocks noGrp="1"/>
          </p:cNvSpPr>
          <p:nvPr/>
        </p:nvSpPr>
        <p:spPr>
          <a:xfrm>
            <a:off x="609600" y="4438650"/>
            <a:ext cx="10972800" cy="257175"/>
          </a:xfrm>
          <a:prstGeom prst="rect">
            <a:avLst/>
          </a:prstGeom>
          <a:noFill/>
          <a:ln w="0">
            <a:noFill/>
          </a:ln>
        </p:spPr>
        <p:txBody>
          <a:bodyPr/>
          <a:lstStyle>
            <a:defPPr>
              <a:defRPr sz="1350" b="0">
                <a:solidFill>
                  <a:srgbClr val="151515"/>
                </a:solidFill>
              </a:defRPr>
            </a:defPPr>
          </a:lstStyle>
          <a:p>
            <a:pPr>
              <a:defRPr sz="1350" b="0">
                <a:solidFill>
                  <a:srgbClr val="151515"/>
                </a:solidFill>
              </a:defRPr>
            </a:pPr>
            <a:r>
              <a:rPr sz="1350" b="0">
                <a:solidFill>
                  <a:srgbClr val="151515"/>
                </a:solidFill>
                <a:latin typeface="Malgun Gothic" panose="020B0503020000020004" pitchFamily="50" charset="-127"/>
              </a:rPr>
              <a:t>치우친 분할</a:t>
            </a:r>
          </a:p>
        </p:txBody>
      </p:sp>
      <p:graphicFrame>
        <p:nvGraphicFramePr>
          <p:cNvPr id="8" name="표 7">
            <a:extLst>
              <a:ext uri="{FF2B5EF4-FFF2-40B4-BE49-F238E27FC236}">
                <a16:creationId xmlns:a16="http://schemas.microsoft.com/office/drawing/2014/main" id="{B0F5E900-6F59-48E1-8631-6056167272B7}"/>
              </a:ext>
            </a:extLst>
          </p:cNvPr>
          <p:cNvGraphicFramePr/>
          <p:nvPr>
            <p:extLst>
              <p:ext uri="{D42A27DB-BD31-4B8C-83A1-F6EECF244321}">
                <p14:modId xmlns:p14="http://schemas.microsoft.com/office/powerpoint/2010/main" val="4191278735"/>
              </p:ext>
            </p:extLst>
          </p:nvPr>
        </p:nvGraphicFramePr>
        <p:xfrm>
          <a:off x="609600" y="4705350"/>
          <a:ext cx="10972800" cy="5524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52450">
                <a:tc>
                  <a:txBody>
                    <a:bodyPr/>
                    <a:lstStyle/>
                    <a:p>
                      <a:pPr algn="ctr"/>
                      <a:r>
                        <a:rPr sz="2025" b="1">
                          <a:solidFill>
                            <a:srgbClr val="151515"/>
                          </a:solidFill>
                          <a:latin typeface="Malgun Gothic" panose="020B0503020000020004" pitchFamily="50" charset="-127"/>
                        </a:rPr>
                        <a:t>n − 1개</a:t>
                      </a:r>
                    </a:p>
                  </a:txBody>
                  <a:tcPr>
                    <a:solidFill>
                      <a:srgbClr val="F6F6F6"/>
                    </a:solidFill>
                  </a:tcPr>
                </a:tc>
                <a:tc>
                  <a:txBody>
                    <a:bodyPr/>
                    <a:lstStyle/>
                    <a:p>
                      <a:pPr algn="ctr"/>
                      <a:r>
                        <a:rPr sz="2025" b="1">
                          <a:solidFill>
                            <a:srgbClr val="151515"/>
                          </a:solidFill>
                          <a:latin typeface="Malgun Gothic" panose="020B0503020000020004" pitchFamily="50" charset="-127"/>
                        </a:rPr>
                        <a:t>피벗</a:t>
                      </a:r>
                    </a:p>
                  </a:txBody>
                  <a:tcPr>
                    <a:solidFill>
                      <a:srgbClr val="F6F6F6"/>
                    </a:solidFill>
                  </a:tcPr>
                </a:tc>
                <a:tc>
                  <a:txBody>
                    <a:bodyPr/>
                    <a:lstStyle/>
                    <a:p>
                      <a:pPr algn="ctr"/>
                      <a:r>
                        <a:rPr sz="2025" b="1">
                          <a:solidFill>
                            <a:srgbClr val="151515"/>
                          </a:solidFill>
                          <a:latin typeface="Malgun Gothic" panose="020B0503020000020004" pitchFamily="50" charset="-127"/>
                        </a:rPr>
                        <a:t>0개</a:t>
                      </a:r>
                    </a:p>
                  </a:txBody>
                  <a:tcPr>
                    <a:solidFill>
                      <a:srgbClr val="F6F6F6"/>
                    </a:solidFill>
                  </a:tcPr>
                </a:tc>
                <a:extLst>
                  <a:ext uri="{0D108BD9-81ED-4DB2-BD59-A6C34878D82A}">
                    <a16:rowId xmlns:a16="http://schemas.microsoft.com/office/drawing/2014/main" val="10000"/>
                  </a:ext>
                </a:extLst>
              </a:tr>
            </a:tbl>
          </a:graphicData>
        </a:graphic>
      </p:graphicFrame>
      <p:sp>
        <p:nvSpPr>
          <p:cNvPr id="9" name="직사각형 8">
            <a:extLst>
              <a:ext uri="{FF2B5EF4-FFF2-40B4-BE49-F238E27FC236}">
                <a16:creationId xmlns:a16="http://schemas.microsoft.com/office/drawing/2014/main" id="{78857F9B-BCE8-4C5D-BAAA-008F48285E93}"/>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10" name="직사각형 9">
            <a:extLst>
              <a:ext uri="{FF2B5EF4-FFF2-40B4-BE49-F238E27FC236}">
                <a16:creationId xmlns:a16="http://schemas.microsoft.com/office/drawing/2014/main" id="{53ABE559-D317-4776-824C-7D96F1C8B353}"/>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82</a:t>
            </a:r>
            <a:endParaRPr sz="1050" b="0">
              <a:solidFill>
                <a:srgbClr val="151515"/>
              </a:solidFill>
              <a:latin typeface="Consolas" panose="020B0609020204030204" pitchFamily="49" charset="0"/>
            </a:endParaRPr>
          </a:p>
        </p:txBody>
      </p:sp>
      <p:cxnSp>
        <p:nvCxnSpPr>
          <p:cNvPr id="12" name="직선 연결선 11">
            <a:extLst>
              <a:ext uri="{FF2B5EF4-FFF2-40B4-BE49-F238E27FC236}">
                <a16:creationId xmlns:a16="http://schemas.microsoft.com/office/drawing/2014/main" id="{0F530964-E545-91A5-03F6-61E1C4775D09}"/>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5308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D0FD3DB4-A47D-4AB3-BD5E-B8EB4F1C4ABC}"/>
              </a:ext>
            </a:extLst>
          </p:cNvPr>
          <p:cNvSpPr>
            <a:spLocks noGrp="1"/>
          </p:cNvSpPr>
          <p:nvPr/>
        </p:nvSpPr>
        <p:spPr>
          <a:xfrm>
            <a:off x="609600" y="266700"/>
            <a:ext cx="7620000" cy="2667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sz="1050" b="0">
                <a:solidFill>
                  <a:srgbClr val="151515"/>
                </a:solidFill>
                <a:latin typeface="Malgun Gothic" panose="020B0503020000020004" pitchFamily="50" charset="-127"/>
              </a:rPr>
              <a:t>4.3  퀵 정렬</a:t>
            </a:r>
          </a:p>
        </p:txBody>
      </p:sp>
      <p:sp>
        <p:nvSpPr>
          <p:cNvPr id="2" name="직사각형 1">
            <a:extLst>
              <a:ext uri="{FF2B5EF4-FFF2-40B4-BE49-F238E27FC236}">
                <a16:creationId xmlns:a16="http://schemas.microsoft.com/office/drawing/2014/main" id="{CB4720B5-FCAC-4666-ADCF-2DB94B803D77}"/>
              </a:ext>
            </a:extLst>
          </p:cNvPr>
          <p:cNvSpPr>
            <a:spLocks noGrp="1"/>
          </p:cNvSpPr>
          <p:nvPr/>
        </p:nvSpPr>
        <p:spPr>
          <a:xfrm>
            <a:off x="10287000" y="266700"/>
            <a:ext cx="1295400" cy="2286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Malgun Gothic" panose="020B0503020000020004" pitchFamily="50" charset="-127"/>
              </a:rPr>
              <a:t>ALGORITHMS</a:t>
            </a:r>
          </a:p>
        </p:txBody>
      </p:sp>
      <p:sp>
        <p:nvSpPr>
          <p:cNvPr id="3" name="직사각형 2">
            <a:extLst>
              <a:ext uri="{FF2B5EF4-FFF2-40B4-BE49-F238E27FC236}">
                <a16:creationId xmlns:a16="http://schemas.microsoft.com/office/drawing/2014/main" id="{6E0FCED3-BD1D-46A7-99C7-8276AD95C8BF}"/>
              </a:ext>
            </a:extLst>
          </p:cNvPr>
          <p:cNvSpPr>
            <a:spLocks noGrp="1"/>
          </p:cNvSpPr>
          <p:nvPr/>
        </p:nvSpPr>
        <p:spPr>
          <a:xfrm>
            <a:off x="590550" y="685800"/>
            <a:ext cx="10991850" cy="638175"/>
          </a:xfrm>
          <a:prstGeom prst="rect">
            <a:avLst/>
          </a:prstGeom>
          <a:noFill/>
          <a:ln w="0">
            <a:noFill/>
          </a:ln>
        </p:spPr>
        <p:txBody>
          <a:bodyPr/>
          <a:lstStyle>
            <a:defPPr>
              <a:defRPr sz="3000" b="1">
                <a:solidFill>
                  <a:srgbClr val="151515"/>
                </a:solidFill>
              </a:defRPr>
            </a:defPPr>
          </a:lstStyle>
          <a:p>
            <a:pPr>
              <a:defRPr sz="3000" b="1">
                <a:solidFill>
                  <a:srgbClr val="151515"/>
                </a:solidFill>
              </a:defRPr>
            </a:pPr>
            <a:r>
              <a:rPr sz="3000" b="1">
                <a:solidFill>
                  <a:srgbClr val="151515"/>
                </a:solidFill>
                <a:latin typeface="Malgun Gothic" panose="020B0503020000020004" pitchFamily="50" charset="-127"/>
              </a:rPr>
              <a:t>두 정렬의 차이 확인</a:t>
            </a:r>
          </a:p>
        </p:txBody>
      </p:sp>
      <p:sp>
        <p:nvSpPr>
          <p:cNvPr id="4" name="직사각형 3">
            <a:extLst>
              <a:ext uri="{FF2B5EF4-FFF2-40B4-BE49-F238E27FC236}">
                <a16:creationId xmlns:a16="http://schemas.microsoft.com/office/drawing/2014/main" id="{39A9E621-4A0F-43DF-97EE-E3BD0E7DE2A2}"/>
              </a:ext>
            </a:extLst>
          </p:cNvPr>
          <p:cNvSpPr>
            <a:spLocks noGrp="1"/>
          </p:cNvSpPr>
          <p:nvPr/>
        </p:nvSpPr>
        <p:spPr>
          <a:xfrm>
            <a:off x="609600" y="1571625"/>
            <a:ext cx="10972800" cy="1619250"/>
          </a:xfrm>
          <a:prstGeom prst="rect">
            <a:avLst/>
          </a:prstGeom>
          <a:noFill/>
          <a:ln w="0">
            <a:noFill/>
          </a:ln>
        </p:spPr>
        <p:txBody>
          <a:bodyPr/>
          <a:lstStyle>
            <a:defPPr>
              <a:defRPr sz="2025" b="0">
                <a:solidFill>
                  <a:srgbClr val="151515"/>
                </a:solidFill>
              </a:defRPr>
            </a:defPPr>
          </a:lstStyle>
          <a:p>
            <a:pPr>
              <a:defRPr sz="2025" b="0">
                <a:solidFill>
                  <a:srgbClr val="151515"/>
                </a:solidFill>
              </a:defRPr>
            </a:pPr>
            <a:r>
              <a:rPr sz="2025" b="0">
                <a:solidFill>
                  <a:srgbClr val="151515"/>
                </a:solidFill>
                <a:latin typeface="Malgun Gothic" panose="020B0503020000020004" pitchFamily="50" charset="-127"/>
              </a:rPr>
              <a:t>병합 정렬: 위치로 반씩 나누고, 정렬된 결과를 병합</a:t>
            </a:r>
          </a:p>
          <a:p>
            <a:pPr>
              <a:defRPr sz="2025" b="0">
                <a:solidFill>
                  <a:srgbClr val="151515"/>
                </a:solidFill>
              </a:defRPr>
            </a:pPr>
            <a:r>
              <a:rPr sz="2025" b="0">
                <a:solidFill>
                  <a:srgbClr val="151515"/>
                </a:solidFill>
                <a:latin typeface="Malgun Gothic" panose="020B0503020000020004" pitchFamily="50" charset="-127"/>
              </a:rPr>
              <a:t>퀵 정렬: 피벗 값으로 분할하고, 양쪽을 재귀 정렬</a:t>
            </a:r>
          </a:p>
          <a:p>
            <a:pPr>
              <a:defRPr sz="2025" b="0">
                <a:solidFill>
                  <a:srgbClr val="151515"/>
                </a:solidFill>
              </a:defRPr>
            </a:pPr>
            <a:r>
              <a:rPr sz="2025" b="0">
                <a:solidFill>
                  <a:srgbClr val="151515"/>
                </a:solidFill>
                <a:latin typeface="Malgun Gothic" panose="020B0503020000020004" pitchFamily="50" charset="-127"/>
              </a:rPr>
              <a:t>병합은 최악에도 Θ(n log n), 퀵은 최악 Θ(n²)</a:t>
            </a:r>
          </a:p>
          <a:p>
            <a:pPr>
              <a:defRPr sz="2025" b="0">
                <a:solidFill>
                  <a:srgbClr val="151515"/>
                </a:solidFill>
              </a:defRPr>
            </a:pPr>
            <a:r>
              <a:rPr sz="2025" b="0">
                <a:solidFill>
                  <a:srgbClr val="151515"/>
                </a:solidFill>
                <a:latin typeface="Malgun Gothic" panose="020B0503020000020004" pitchFamily="50" charset="-127"/>
              </a:rPr>
              <a:t>현재 병합 코드는 안정적, 퀵 코드는 안정성 보장 없음</a:t>
            </a:r>
          </a:p>
          <a:p>
            <a:pPr>
              <a:defRPr sz="2025" b="0">
                <a:solidFill>
                  <a:srgbClr val="151515"/>
                </a:solidFill>
              </a:defRPr>
            </a:pPr>
            <a:r>
              <a:rPr sz="2025" b="0">
                <a:solidFill>
                  <a:srgbClr val="151515"/>
                </a:solidFill>
                <a:latin typeface="Malgun Gothic" panose="020B0503020000020004" pitchFamily="50" charset="-127"/>
              </a:rPr>
              <a:t>확인: 퀵의 첫 분할만 끝나면 전체가 정렬되어 있을까?</a:t>
            </a:r>
          </a:p>
        </p:txBody>
      </p:sp>
      <p:sp>
        <p:nvSpPr>
          <p:cNvPr id="5" name="직사각형 4">
            <a:extLst>
              <a:ext uri="{FF2B5EF4-FFF2-40B4-BE49-F238E27FC236}">
                <a16:creationId xmlns:a16="http://schemas.microsoft.com/office/drawing/2014/main" id="{B0DD9395-7B06-42CA-B612-B640C6D6B741}"/>
              </a:ext>
            </a:extLst>
          </p:cNvPr>
          <p:cNvSpPr>
            <a:spLocks noGrp="1"/>
          </p:cNvSpPr>
          <p:nvPr/>
        </p:nvSpPr>
        <p:spPr>
          <a:xfrm>
            <a:off x="609600" y="6591300"/>
            <a:ext cx="7620000" cy="190500"/>
          </a:xfrm>
          <a:prstGeom prst="rect">
            <a:avLst/>
          </a:prstGeom>
          <a:noFill/>
          <a:ln w="0">
            <a:noFill/>
          </a:ln>
        </p:spPr>
        <p:txBody>
          <a:bodyPr/>
          <a:lstStyle>
            <a:defPPr>
              <a:defRPr sz="900" b="0">
                <a:solidFill>
                  <a:srgbClr val="151515"/>
                </a:solidFill>
              </a:defRPr>
            </a:defPPr>
          </a:lstStyle>
          <a:p>
            <a:pPr>
              <a:defRPr sz="900" b="0">
                <a:solidFill>
                  <a:srgbClr val="151515"/>
                </a:solidFill>
              </a:defRPr>
            </a:pPr>
            <a:r>
              <a:rPr sz="900" b="0">
                <a:solidFill>
                  <a:srgbClr val="151515"/>
                </a:solidFill>
                <a:latin typeface="Consolas" panose="020B0609020204030204" pitchFamily="49" charset="0"/>
              </a:rPr>
              <a:t>04 / DIVIDE AND CONQUER</a:t>
            </a:r>
          </a:p>
        </p:txBody>
      </p:sp>
      <p:sp>
        <p:nvSpPr>
          <p:cNvPr id="6" name="직사각형 5">
            <a:extLst>
              <a:ext uri="{FF2B5EF4-FFF2-40B4-BE49-F238E27FC236}">
                <a16:creationId xmlns:a16="http://schemas.microsoft.com/office/drawing/2014/main" id="{ABD098E1-68B8-4272-81B5-CB0FF430E9C7}"/>
              </a:ext>
            </a:extLst>
          </p:cNvPr>
          <p:cNvSpPr>
            <a:spLocks noGrp="1"/>
          </p:cNvSpPr>
          <p:nvPr/>
        </p:nvSpPr>
        <p:spPr>
          <a:xfrm>
            <a:off x="11049000" y="6553200"/>
            <a:ext cx="533400" cy="228600"/>
          </a:xfrm>
          <a:prstGeom prst="rect">
            <a:avLst/>
          </a:prstGeom>
          <a:noFill/>
          <a:ln w="0">
            <a:noFill/>
          </a:ln>
        </p:spPr>
        <p:txBody>
          <a:bodyPr/>
          <a:lstStyle>
            <a:defPPr>
              <a:defRPr sz="1050" b="0">
                <a:solidFill>
                  <a:srgbClr val="151515"/>
                </a:solidFill>
              </a:defRPr>
            </a:defPPr>
          </a:lstStyle>
          <a:p>
            <a:pPr>
              <a:defRPr sz="1050" b="0">
                <a:solidFill>
                  <a:srgbClr val="151515"/>
                </a:solidFill>
              </a:defRPr>
            </a:pPr>
            <a:r>
              <a:rPr lang="en-US" altLang="ko-KR" sz="1050" b="0">
                <a:solidFill>
                  <a:srgbClr val="151515"/>
                </a:solidFill>
                <a:latin typeface="Consolas" panose="020B0609020204030204" pitchFamily="49" charset="0"/>
              </a:rPr>
              <a:t>83</a:t>
            </a:r>
            <a:endParaRPr sz="1050" b="0">
              <a:solidFill>
                <a:srgbClr val="151515"/>
              </a:solidFill>
              <a:latin typeface="Consolas" panose="020B0609020204030204" pitchFamily="49" charset="0"/>
            </a:endParaRPr>
          </a:p>
        </p:txBody>
      </p:sp>
      <p:cxnSp>
        <p:nvCxnSpPr>
          <p:cNvPr id="8" name="직선 연결선 7">
            <a:extLst>
              <a:ext uri="{FF2B5EF4-FFF2-40B4-BE49-F238E27FC236}">
                <a16:creationId xmlns:a16="http://schemas.microsoft.com/office/drawing/2014/main" id="{D630BF42-EBC2-716E-E720-13D5A334082B}"/>
              </a:ext>
            </a:extLst>
          </p:cNvPr>
          <p:cNvCxnSpPr/>
          <p:nvPr/>
        </p:nvCxnSpPr>
        <p:spPr>
          <a:xfrm>
            <a:off x="609600" y="1384300"/>
            <a:ext cx="109728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94447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B4B333A0-0B97-4DAA-B075-11CE151863A8}"/>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4102FB0C-9897-41E7-BFD2-728505F4970C}"/>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lang="en-US" altLang="ko-KR" sz="7050" b="1" i="0">
                <a:solidFill>
                  <a:srgbClr val="474747"/>
                </a:solidFill>
                <a:latin typeface="Consolas"/>
                <a:ea typeface="Consolas"/>
                <a:cs typeface="Consolas"/>
              </a:rPr>
              <a:t>4.4</a:t>
            </a:r>
            <a:endParaRPr sz="7050" b="1" i="0">
              <a:solidFill>
                <a:srgbClr val="474747"/>
              </a:solidFill>
              <a:latin typeface="Consolas"/>
              <a:ea typeface="Consolas"/>
              <a:cs typeface="Consolas"/>
            </a:endParaRPr>
          </a:p>
        </p:txBody>
      </p:sp>
      <p:sp>
        <p:nvSpPr>
          <p:cNvPr id="3" name="직사각형 2">
            <a:extLst>
              <a:ext uri="{FF2B5EF4-FFF2-40B4-BE49-F238E27FC236}">
                <a16:creationId xmlns:a16="http://schemas.microsoft.com/office/drawing/2014/main" id="{9A8EA246-6431-4DF5-8C33-8951A8DCA823}"/>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BCAD3911-25DB-4BCD-A4CF-A5021AB647F2}"/>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최대 구간 합</a:t>
            </a:r>
          </a:p>
        </p:txBody>
      </p:sp>
      <p:sp>
        <p:nvSpPr>
          <p:cNvPr id="5" name="직사각형 4">
            <a:extLst>
              <a:ext uri="{FF2B5EF4-FFF2-40B4-BE49-F238E27FC236}">
                <a16:creationId xmlns:a16="http://schemas.microsoft.com/office/drawing/2014/main" id="{AF97E0E8-7C7C-482B-AF24-A41BFAE2B2D6}"/>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Maximum Subarray Sum</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주가 등락폭 데이터에서 가장 큰 이익을 내는 연속 구간을 찾아라</a:t>
            </a:r>
          </a:p>
        </p:txBody>
      </p:sp>
      <p:sp>
        <p:nvSpPr>
          <p:cNvPr id="6" name="직사각형 5">
            <a:extLst>
              <a:ext uri="{FF2B5EF4-FFF2-40B4-BE49-F238E27FC236}">
                <a16:creationId xmlns:a16="http://schemas.microsoft.com/office/drawing/2014/main" id="{E3DF3B3C-1969-4654-ADDE-9C0910D18AB2}"/>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3D0A4CA8-663C-47C0-A4D5-AFAA8985BE09}"/>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AB56E24A-BCD7-4ED5-864C-4B7AD3464B55}"/>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84</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14567859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1A57F658-8EBF-4BC5-808E-C2448983DE34}"/>
              </a:ext>
            </a:extLst>
          </p:cNvPr>
          <p:cNvSpPr>
            <a:spLocks noGrp="1"/>
          </p:cNvSpPr>
          <p:nvPr/>
        </p:nvSpPr>
        <p:spPr>
          <a:xfrm>
            <a:off x="658368" y="1737360"/>
            <a:ext cx="5120640" cy="731520"/>
          </a:xfrm>
          <a:prstGeom prst="rect">
            <a:avLst/>
          </a:prstGeom>
          <a:noFill/>
          <a:ln w="0">
            <a:noFill/>
          </a:ln>
        </p:spPr>
        <p:txBody>
          <a:bodyPr wrap="square" lIns="0" tIns="0" rIns="0" bIns="0" anchor="t">
            <a:noAutofit/>
          </a:bodyPr>
          <a:lstStyle/>
          <a:p>
            <a:pPr marL="0" indent="0" algn="l">
              <a:lnSpc>
                <a:spcPct val="142000"/>
              </a:lnSpc>
              <a:buNone/>
              <a:defRPr sz="1300" i="0">
                <a:solidFill>
                  <a:srgbClr val="606060"/>
                </a:solidFill>
                <a:latin typeface="Malgun Gothic"/>
                <a:ea typeface="Malgun Gothic"/>
                <a:cs typeface="Malgun Gothic"/>
              </a:defRPr>
            </a:pPr>
            <a:r>
              <a:rPr sz="1300" i="0">
                <a:solidFill>
                  <a:srgbClr val="606060"/>
                </a:solidFill>
                <a:latin typeface="Malgun Gothic"/>
                <a:ea typeface="Malgun Gothic"/>
                <a:cs typeface="Malgun Gothic"/>
              </a:rPr>
              <a:t>A 회사의 지난 며칠간의 주가 등락폭(변동분) 데이터가 주어졌다. 목표는 가장 큰 이익을 낼 수 있는 연속된 구간을 찾는 것이다.</a:t>
            </a:r>
            <a:endParaRPr sz="1300"/>
          </a:p>
        </p:txBody>
      </p:sp>
      <p:sp>
        <p:nvSpPr>
          <p:cNvPr id="7" name="Shape 4">
            <a:extLst>
              <a:ext uri="{FF2B5EF4-FFF2-40B4-BE49-F238E27FC236}">
                <a16:creationId xmlns:a16="http://schemas.microsoft.com/office/drawing/2014/main" id="{F936956F-BC27-4A93-B863-6A4ABADE4686}"/>
              </a:ext>
            </a:extLst>
          </p:cNvPr>
          <p:cNvSpPr>
            <a:spLocks noGrp="1"/>
          </p:cNvSpPr>
          <p:nvPr/>
        </p:nvSpPr>
        <p:spPr>
          <a:xfrm>
            <a:off x="658368" y="2560320"/>
            <a:ext cx="713232" cy="603504"/>
          </a:xfrm>
          <a:prstGeom prst="roundRect">
            <a:avLst>
              <a:gd name="adj" fmla="val 13636"/>
            </a:avLst>
          </a:prstGeom>
          <a:solidFill>
            <a:srgbClr val="E9E9E9"/>
          </a:solidFill>
          <a:ln w="5715">
            <a:solidFill>
              <a:srgbClr val="D4D4D4"/>
            </a:solidFill>
          </a:ln>
        </p:spPr>
      </p:sp>
      <p:sp>
        <p:nvSpPr>
          <p:cNvPr id="8" name="Text 5">
            <a:extLst>
              <a:ext uri="{FF2B5EF4-FFF2-40B4-BE49-F238E27FC236}">
                <a16:creationId xmlns:a16="http://schemas.microsoft.com/office/drawing/2014/main" id="{0B41A4E1-5360-41EE-9644-18D4FD833B12}"/>
              </a:ext>
            </a:extLst>
          </p:cNvPr>
          <p:cNvSpPr>
            <a:spLocks noGrp="1"/>
          </p:cNvSpPr>
          <p:nvPr/>
        </p:nvSpPr>
        <p:spPr>
          <a:xfrm>
            <a:off x="658368" y="2560320"/>
            <a:ext cx="713232" cy="603504"/>
          </a:xfrm>
          <a:prstGeom prst="rect">
            <a:avLst/>
          </a:prstGeom>
          <a:noFill/>
          <a:ln w="0">
            <a:noFill/>
          </a:ln>
        </p:spPr>
        <p:txBody>
          <a:bodyPr wrap="square" lIns="0" tIns="0" rIns="0" bIns="0" anchor="ctr">
            <a:noAutofit/>
          </a:bodyPr>
          <a:lstStyle/>
          <a:p>
            <a:pPr marL="0" indent="0" algn="ctr">
              <a:buNone/>
              <a:defRPr sz="1400" i="0">
                <a:solidFill>
                  <a:srgbClr val="171717"/>
                </a:solidFill>
                <a:latin typeface="Consolas"/>
                <a:ea typeface="Consolas"/>
                <a:cs typeface="Consolas"/>
              </a:defRPr>
            </a:pPr>
            <a:r>
              <a:rPr sz="1400" b="1" i="0">
                <a:solidFill>
                  <a:srgbClr val="171717"/>
                </a:solidFill>
                <a:latin typeface="Consolas"/>
                <a:ea typeface="Consolas"/>
                <a:cs typeface="Consolas"/>
              </a:rPr>
              <a:t>3</a:t>
            </a:r>
            <a:endParaRPr sz="1400"/>
          </a:p>
        </p:txBody>
      </p:sp>
      <p:sp>
        <p:nvSpPr>
          <p:cNvPr id="9" name="Text 6">
            <a:extLst>
              <a:ext uri="{FF2B5EF4-FFF2-40B4-BE49-F238E27FC236}">
                <a16:creationId xmlns:a16="http://schemas.microsoft.com/office/drawing/2014/main" id="{056BFA46-876F-4A82-AC84-1930BE8C9E88}"/>
              </a:ext>
            </a:extLst>
          </p:cNvPr>
          <p:cNvSpPr>
            <a:spLocks noGrp="1"/>
          </p:cNvSpPr>
          <p:nvPr/>
        </p:nvSpPr>
        <p:spPr>
          <a:xfrm>
            <a:off x="658368" y="3182112"/>
            <a:ext cx="713232" cy="256032"/>
          </a:xfrm>
          <a:prstGeom prst="rect">
            <a:avLst/>
          </a:prstGeom>
          <a:noFill/>
          <a:ln w="0">
            <a:noFill/>
          </a:ln>
        </p:spPr>
        <p:txBody>
          <a:bodyPr wrap="square" lIns="0" tIns="0" rIns="0" bIns="0" anchor="ctr">
            <a:noAutofit/>
          </a:bodyPr>
          <a:lstStyle/>
          <a:p>
            <a:pPr marL="0" indent="0" algn="ctr">
              <a:buNone/>
              <a:defRPr sz="900" i="0">
                <a:solidFill>
                  <a:srgbClr val="171717"/>
                </a:solidFill>
                <a:latin typeface="Malgun Gothic"/>
                <a:ea typeface="Malgun Gothic"/>
                <a:cs typeface="Malgun Gothic"/>
              </a:defRPr>
            </a:pPr>
            <a:r>
              <a:rPr sz="900" i="0">
                <a:solidFill>
                  <a:srgbClr val="171717"/>
                </a:solidFill>
                <a:latin typeface="Malgun Gothic"/>
                <a:ea typeface="Malgun Gothic"/>
                <a:cs typeface="Malgun Gothic"/>
              </a:rPr>
              <a:t>1일</a:t>
            </a:r>
            <a:endParaRPr sz="900"/>
          </a:p>
        </p:txBody>
      </p:sp>
      <p:sp>
        <p:nvSpPr>
          <p:cNvPr id="10" name="Shape 7">
            <a:extLst>
              <a:ext uri="{FF2B5EF4-FFF2-40B4-BE49-F238E27FC236}">
                <a16:creationId xmlns:a16="http://schemas.microsoft.com/office/drawing/2014/main" id="{EBFA9C01-102A-4D37-9FE6-2CFE9BE888B9}"/>
              </a:ext>
            </a:extLst>
          </p:cNvPr>
          <p:cNvSpPr>
            <a:spLocks noGrp="1"/>
          </p:cNvSpPr>
          <p:nvPr/>
        </p:nvSpPr>
        <p:spPr>
          <a:xfrm>
            <a:off x="1481328" y="2560320"/>
            <a:ext cx="713232" cy="603504"/>
          </a:xfrm>
          <a:prstGeom prst="roundRect">
            <a:avLst>
              <a:gd name="adj" fmla="val 13636"/>
            </a:avLst>
          </a:prstGeom>
          <a:solidFill>
            <a:srgbClr val="E9E9E9"/>
          </a:solidFill>
          <a:ln w="5715">
            <a:solidFill>
              <a:srgbClr val="D4D4D4"/>
            </a:solidFill>
          </a:ln>
        </p:spPr>
      </p:sp>
      <p:sp>
        <p:nvSpPr>
          <p:cNvPr id="11" name="Text 8">
            <a:extLst>
              <a:ext uri="{FF2B5EF4-FFF2-40B4-BE49-F238E27FC236}">
                <a16:creationId xmlns:a16="http://schemas.microsoft.com/office/drawing/2014/main" id="{38F623CE-A409-49CD-A277-D588207EB7F2}"/>
              </a:ext>
            </a:extLst>
          </p:cNvPr>
          <p:cNvSpPr>
            <a:spLocks noGrp="1"/>
          </p:cNvSpPr>
          <p:nvPr/>
        </p:nvSpPr>
        <p:spPr>
          <a:xfrm>
            <a:off x="1481328" y="2560320"/>
            <a:ext cx="713232" cy="603504"/>
          </a:xfrm>
          <a:prstGeom prst="rect">
            <a:avLst/>
          </a:prstGeom>
          <a:noFill/>
          <a:ln w="0">
            <a:noFill/>
          </a:ln>
        </p:spPr>
        <p:txBody>
          <a:bodyPr wrap="square" lIns="0" tIns="0" rIns="0" bIns="0" anchor="ctr">
            <a:noAutofit/>
          </a:bodyPr>
          <a:lstStyle/>
          <a:p>
            <a:pPr marL="0" indent="0" algn="ctr">
              <a:buNone/>
              <a:defRPr sz="1400" i="0">
                <a:solidFill>
                  <a:srgbClr val="171717"/>
                </a:solidFill>
                <a:latin typeface="Consolas"/>
                <a:ea typeface="Consolas"/>
                <a:cs typeface="Consolas"/>
              </a:defRPr>
            </a:pPr>
            <a:r>
              <a:rPr sz="1400" b="1" i="0">
                <a:solidFill>
                  <a:srgbClr val="171717"/>
                </a:solidFill>
                <a:latin typeface="Consolas"/>
                <a:ea typeface="Consolas"/>
                <a:cs typeface="Consolas"/>
              </a:rPr>
              <a:t>-5</a:t>
            </a:r>
            <a:endParaRPr sz="1400"/>
          </a:p>
        </p:txBody>
      </p:sp>
      <p:sp>
        <p:nvSpPr>
          <p:cNvPr id="12" name="Text 9">
            <a:extLst>
              <a:ext uri="{FF2B5EF4-FFF2-40B4-BE49-F238E27FC236}">
                <a16:creationId xmlns:a16="http://schemas.microsoft.com/office/drawing/2014/main" id="{EA1AF2DB-DF32-42ED-B813-711B545BB03C}"/>
              </a:ext>
            </a:extLst>
          </p:cNvPr>
          <p:cNvSpPr>
            <a:spLocks noGrp="1"/>
          </p:cNvSpPr>
          <p:nvPr/>
        </p:nvSpPr>
        <p:spPr>
          <a:xfrm>
            <a:off x="1481328" y="3182112"/>
            <a:ext cx="713232" cy="256032"/>
          </a:xfrm>
          <a:prstGeom prst="rect">
            <a:avLst/>
          </a:prstGeom>
          <a:noFill/>
          <a:ln w="0">
            <a:noFill/>
          </a:ln>
        </p:spPr>
        <p:txBody>
          <a:bodyPr wrap="square" lIns="0" tIns="0" rIns="0" bIns="0" anchor="ctr">
            <a:noAutofit/>
          </a:bodyPr>
          <a:lstStyle/>
          <a:p>
            <a:pPr marL="0" indent="0" algn="ctr">
              <a:buNone/>
              <a:defRPr sz="900" i="0">
                <a:solidFill>
                  <a:srgbClr val="171717"/>
                </a:solidFill>
                <a:latin typeface="Malgun Gothic"/>
                <a:ea typeface="Malgun Gothic"/>
                <a:cs typeface="Malgun Gothic"/>
              </a:defRPr>
            </a:pPr>
            <a:r>
              <a:rPr sz="900" i="0">
                <a:solidFill>
                  <a:srgbClr val="171717"/>
                </a:solidFill>
                <a:latin typeface="Malgun Gothic"/>
                <a:ea typeface="Malgun Gothic"/>
                <a:cs typeface="Malgun Gothic"/>
              </a:rPr>
              <a:t>2일</a:t>
            </a:r>
            <a:endParaRPr sz="900"/>
          </a:p>
        </p:txBody>
      </p:sp>
      <p:sp>
        <p:nvSpPr>
          <p:cNvPr id="13" name="Shape 10">
            <a:extLst>
              <a:ext uri="{FF2B5EF4-FFF2-40B4-BE49-F238E27FC236}">
                <a16:creationId xmlns:a16="http://schemas.microsoft.com/office/drawing/2014/main" id="{6682C7E6-339D-4807-AC87-2FCB01132C33}"/>
              </a:ext>
            </a:extLst>
          </p:cNvPr>
          <p:cNvSpPr>
            <a:spLocks noGrp="1"/>
          </p:cNvSpPr>
          <p:nvPr/>
        </p:nvSpPr>
        <p:spPr>
          <a:xfrm>
            <a:off x="2304288" y="2560320"/>
            <a:ext cx="713232" cy="603504"/>
          </a:xfrm>
          <a:prstGeom prst="roundRect">
            <a:avLst>
              <a:gd name="adj" fmla="val 13636"/>
            </a:avLst>
          </a:prstGeom>
          <a:solidFill>
            <a:srgbClr val="E9E9E9"/>
          </a:solidFill>
          <a:ln w="5715">
            <a:solidFill>
              <a:srgbClr val="D4D4D4"/>
            </a:solidFill>
          </a:ln>
        </p:spPr>
      </p:sp>
      <p:sp>
        <p:nvSpPr>
          <p:cNvPr id="14" name="Text 11">
            <a:extLst>
              <a:ext uri="{FF2B5EF4-FFF2-40B4-BE49-F238E27FC236}">
                <a16:creationId xmlns:a16="http://schemas.microsoft.com/office/drawing/2014/main" id="{9431576A-4488-43F2-81D4-C11D64817759}"/>
              </a:ext>
            </a:extLst>
          </p:cNvPr>
          <p:cNvSpPr>
            <a:spLocks noGrp="1"/>
          </p:cNvSpPr>
          <p:nvPr/>
        </p:nvSpPr>
        <p:spPr>
          <a:xfrm>
            <a:off x="2304288" y="2560320"/>
            <a:ext cx="713232" cy="603504"/>
          </a:xfrm>
          <a:prstGeom prst="rect">
            <a:avLst/>
          </a:prstGeom>
          <a:noFill/>
          <a:ln w="0">
            <a:noFill/>
          </a:ln>
        </p:spPr>
        <p:txBody>
          <a:bodyPr wrap="square" lIns="0" tIns="0" rIns="0" bIns="0" anchor="ctr">
            <a:noAutofit/>
          </a:bodyPr>
          <a:lstStyle/>
          <a:p>
            <a:pPr marL="0" indent="0" algn="ctr">
              <a:buNone/>
              <a:defRPr sz="1400" i="0">
                <a:solidFill>
                  <a:srgbClr val="171717"/>
                </a:solidFill>
                <a:latin typeface="Consolas"/>
                <a:ea typeface="Consolas"/>
                <a:cs typeface="Consolas"/>
              </a:defRPr>
            </a:pPr>
            <a:r>
              <a:rPr sz="1400" b="1" i="0">
                <a:solidFill>
                  <a:srgbClr val="171717"/>
                </a:solidFill>
                <a:latin typeface="Consolas"/>
                <a:ea typeface="Consolas"/>
                <a:cs typeface="Consolas"/>
              </a:rPr>
              <a:t>12</a:t>
            </a:r>
            <a:endParaRPr sz="1400"/>
          </a:p>
        </p:txBody>
      </p:sp>
      <p:sp>
        <p:nvSpPr>
          <p:cNvPr id="15" name="Text 12">
            <a:extLst>
              <a:ext uri="{FF2B5EF4-FFF2-40B4-BE49-F238E27FC236}">
                <a16:creationId xmlns:a16="http://schemas.microsoft.com/office/drawing/2014/main" id="{F65A70CF-8955-4E7C-8773-A5A95199A417}"/>
              </a:ext>
            </a:extLst>
          </p:cNvPr>
          <p:cNvSpPr>
            <a:spLocks noGrp="1"/>
          </p:cNvSpPr>
          <p:nvPr/>
        </p:nvSpPr>
        <p:spPr>
          <a:xfrm>
            <a:off x="2304288" y="3182112"/>
            <a:ext cx="713232" cy="256032"/>
          </a:xfrm>
          <a:prstGeom prst="rect">
            <a:avLst/>
          </a:prstGeom>
          <a:noFill/>
          <a:ln w="0">
            <a:noFill/>
          </a:ln>
        </p:spPr>
        <p:txBody>
          <a:bodyPr wrap="square" lIns="0" tIns="0" rIns="0" bIns="0" anchor="ctr">
            <a:noAutofit/>
          </a:bodyPr>
          <a:lstStyle/>
          <a:p>
            <a:pPr marL="0" indent="0" algn="ctr">
              <a:buNone/>
              <a:defRPr sz="900" i="0">
                <a:solidFill>
                  <a:srgbClr val="171717"/>
                </a:solidFill>
                <a:latin typeface="Malgun Gothic"/>
                <a:ea typeface="Malgun Gothic"/>
                <a:cs typeface="Malgun Gothic"/>
              </a:defRPr>
            </a:pPr>
            <a:r>
              <a:rPr sz="900" i="0">
                <a:solidFill>
                  <a:srgbClr val="171717"/>
                </a:solidFill>
                <a:latin typeface="Malgun Gothic"/>
                <a:ea typeface="Malgun Gothic"/>
                <a:cs typeface="Malgun Gothic"/>
              </a:rPr>
              <a:t>3일</a:t>
            </a:r>
            <a:endParaRPr sz="900"/>
          </a:p>
        </p:txBody>
      </p:sp>
      <p:sp>
        <p:nvSpPr>
          <p:cNvPr id="16" name="Shape 13">
            <a:extLst>
              <a:ext uri="{FF2B5EF4-FFF2-40B4-BE49-F238E27FC236}">
                <a16:creationId xmlns:a16="http://schemas.microsoft.com/office/drawing/2014/main" id="{93292094-A34D-4CB1-8B79-CC83A7575D6F}"/>
              </a:ext>
            </a:extLst>
          </p:cNvPr>
          <p:cNvSpPr>
            <a:spLocks noGrp="1"/>
          </p:cNvSpPr>
          <p:nvPr/>
        </p:nvSpPr>
        <p:spPr>
          <a:xfrm>
            <a:off x="3127248" y="2560320"/>
            <a:ext cx="713232" cy="603504"/>
          </a:xfrm>
          <a:prstGeom prst="roundRect">
            <a:avLst>
              <a:gd name="adj" fmla="val 13636"/>
            </a:avLst>
          </a:prstGeom>
          <a:solidFill>
            <a:srgbClr val="E9E9E9"/>
          </a:solidFill>
          <a:ln w="5715">
            <a:solidFill>
              <a:srgbClr val="D4D4D4"/>
            </a:solidFill>
          </a:ln>
        </p:spPr>
      </p:sp>
      <p:sp>
        <p:nvSpPr>
          <p:cNvPr id="17" name="Text 14">
            <a:extLst>
              <a:ext uri="{FF2B5EF4-FFF2-40B4-BE49-F238E27FC236}">
                <a16:creationId xmlns:a16="http://schemas.microsoft.com/office/drawing/2014/main" id="{D63394F1-2017-4AA5-8ADA-158272F19090}"/>
              </a:ext>
            </a:extLst>
          </p:cNvPr>
          <p:cNvSpPr>
            <a:spLocks noGrp="1"/>
          </p:cNvSpPr>
          <p:nvPr/>
        </p:nvSpPr>
        <p:spPr>
          <a:xfrm>
            <a:off x="3127248" y="2560320"/>
            <a:ext cx="713232" cy="603504"/>
          </a:xfrm>
          <a:prstGeom prst="rect">
            <a:avLst/>
          </a:prstGeom>
          <a:noFill/>
          <a:ln w="0">
            <a:noFill/>
          </a:ln>
        </p:spPr>
        <p:txBody>
          <a:bodyPr wrap="square" lIns="0" tIns="0" rIns="0" bIns="0" anchor="ctr">
            <a:noAutofit/>
          </a:bodyPr>
          <a:lstStyle/>
          <a:p>
            <a:pPr marL="0" indent="0" algn="ctr">
              <a:buNone/>
              <a:defRPr sz="1400" i="0">
                <a:solidFill>
                  <a:srgbClr val="171717"/>
                </a:solidFill>
                <a:latin typeface="Consolas"/>
                <a:ea typeface="Consolas"/>
                <a:cs typeface="Consolas"/>
              </a:defRPr>
            </a:pPr>
            <a:r>
              <a:rPr sz="1400" b="1" i="0">
                <a:solidFill>
                  <a:srgbClr val="171717"/>
                </a:solidFill>
                <a:latin typeface="Consolas"/>
                <a:ea typeface="Consolas"/>
                <a:cs typeface="Consolas"/>
              </a:rPr>
              <a:t>-2</a:t>
            </a:r>
            <a:endParaRPr sz="1400"/>
          </a:p>
        </p:txBody>
      </p:sp>
      <p:sp>
        <p:nvSpPr>
          <p:cNvPr id="18" name="Text 15">
            <a:extLst>
              <a:ext uri="{FF2B5EF4-FFF2-40B4-BE49-F238E27FC236}">
                <a16:creationId xmlns:a16="http://schemas.microsoft.com/office/drawing/2014/main" id="{9379583C-A066-42EA-A674-DE75011B4C10}"/>
              </a:ext>
            </a:extLst>
          </p:cNvPr>
          <p:cNvSpPr>
            <a:spLocks noGrp="1"/>
          </p:cNvSpPr>
          <p:nvPr/>
        </p:nvSpPr>
        <p:spPr>
          <a:xfrm>
            <a:off x="3127248" y="3182112"/>
            <a:ext cx="713232" cy="256032"/>
          </a:xfrm>
          <a:prstGeom prst="rect">
            <a:avLst/>
          </a:prstGeom>
          <a:noFill/>
          <a:ln w="0">
            <a:noFill/>
          </a:ln>
        </p:spPr>
        <p:txBody>
          <a:bodyPr wrap="square" lIns="0" tIns="0" rIns="0" bIns="0" anchor="ctr">
            <a:noAutofit/>
          </a:bodyPr>
          <a:lstStyle/>
          <a:p>
            <a:pPr marL="0" indent="0" algn="ctr">
              <a:buNone/>
              <a:defRPr sz="900" i="0">
                <a:solidFill>
                  <a:srgbClr val="171717"/>
                </a:solidFill>
                <a:latin typeface="Malgun Gothic"/>
                <a:ea typeface="Malgun Gothic"/>
                <a:cs typeface="Malgun Gothic"/>
              </a:defRPr>
            </a:pPr>
            <a:r>
              <a:rPr sz="900" i="0">
                <a:solidFill>
                  <a:srgbClr val="171717"/>
                </a:solidFill>
                <a:latin typeface="Malgun Gothic"/>
                <a:ea typeface="Malgun Gothic"/>
                <a:cs typeface="Malgun Gothic"/>
              </a:rPr>
              <a:t>4일</a:t>
            </a:r>
            <a:endParaRPr sz="900"/>
          </a:p>
        </p:txBody>
      </p:sp>
      <p:sp>
        <p:nvSpPr>
          <p:cNvPr id="19" name="Shape 16">
            <a:extLst>
              <a:ext uri="{FF2B5EF4-FFF2-40B4-BE49-F238E27FC236}">
                <a16:creationId xmlns:a16="http://schemas.microsoft.com/office/drawing/2014/main" id="{5FD19B53-42C3-4658-8416-6BC3B4A923BA}"/>
              </a:ext>
            </a:extLst>
          </p:cNvPr>
          <p:cNvSpPr>
            <a:spLocks noGrp="1"/>
          </p:cNvSpPr>
          <p:nvPr/>
        </p:nvSpPr>
        <p:spPr>
          <a:xfrm>
            <a:off x="3950208" y="2560320"/>
            <a:ext cx="713232" cy="603504"/>
          </a:xfrm>
          <a:prstGeom prst="roundRect">
            <a:avLst>
              <a:gd name="adj" fmla="val 13636"/>
            </a:avLst>
          </a:prstGeom>
          <a:solidFill>
            <a:srgbClr val="E9E9E9"/>
          </a:solidFill>
          <a:ln w="5715">
            <a:solidFill>
              <a:srgbClr val="D4D4D4"/>
            </a:solidFill>
          </a:ln>
        </p:spPr>
      </p:sp>
      <p:sp>
        <p:nvSpPr>
          <p:cNvPr id="20" name="Text 17">
            <a:extLst>
              <a:ext uri="{FF2B5EF4-FFF2-40B4-BE49-F238E27FC236}">
                <a16:creationId xmlns:a16="http://schemas.microsoft.com/office/drawing/2014/main" id="{6B90FDC7-F6C3-4E80-857F-96F6D4F1894B}"/>
              </a:ext>
            </a:extLst>
          </p:cNvPr>
          <p:cNvSpPr>
            <a:spLocks noGrp="1"/>
          </p:cNvSpPr>
          <p:nvPr/>
        </p:nvSpPr>
        <p:spPr>
          <a:xfrm>
            <a:off x="3950208" y="2560320"/>
            <a:ext cx="713232" cy="603504"/>
          </a:xfrm>
          <a:prstGeom prst="rect">
            <a:avLst/>
          </a:prstGeom>
          <a:noFill/>
          <a:ln w="0">
            <a:noFill/>
          </a:ln>
        </p:spPr>
        <p:txBody>
          <a:bodyPr wrap="square" lIns="0" tIns="0" rIns="0" bIns="0" anchor="ctr">
            <a:noAutofit/>
          </a:bodyPr>
          <a:lstStyle/>
          <a:p>
            <a:pPr marL="0" indent="0" algn="ctr">
              <a:buNone/>
              <a:defRPr sz="1400" i="0">
                <a:solidFill>
                  <a:srgbClr val="171717"/>
                </a:solidFill>
                <a:latin typeface="Consolas"/>
                <a:ea typeface="Consolas"/>
                <a:cs typeface="Consolas"/>
              </a:defRPr>
            </a:pPr>
            <a:r>
              <a:rPr sz="1400" b="1" i="0">
                <a:solidFill>
                  <a:srgbClr val="171717"/>
                </a:solidFill>
                <a:latin typeface="Consolas"/>
                <a:ea typeface="Consolas"/>
                <a:cs typeface="Consolas"/>
              </a:rPr>
              <a:t>7</a:t>
            </a:r>
            <a:endParaRPr sz="1400"/>
          </a:p>
        </p:txBody>
      </p:sp>
      <p:sp>
        <p:nvSpPr>
          <p:cNvPr id="21" name="Text 18">
            <a:extLst>
              <a:ext uri="{FF2B5EF4-FFF2-40B4-BE49-F238E27FC236}">
                <a16:creationId xmlns:a16="http://schemas.microsoft.com/office/drawing/2014/main" id="{DC1147E0-CE60-4BFD-9701-C22CBADC77B7}"/>
              </a:ext>
            </a:extLst>
          </p:cNvPr>
          <p:cNvSpPr>
            <a:spLocks noGrp="1"/>
          </p:cNvSpPr>
          <p:nvPr/>
        </p:nvSpPr>
        <p:spPr>
          <a:xfrm>
            <a:off x="3950208" y="3182112"/>
            <a:ext cx="713232" cy="256032"/>
          </a:xfrm>
          <a:prstGeom prst="rect">
            <a:avLst/>
          </a:prstGeom>
          <a:noFill/>
          <a:ln w="0">
            <a:noFill/>
          </a:ln>
        </p:spPr>
        <p:txBody>
          <a:bodyPr wrap="square" lIns="0" tIns="0" rIns="0" bIns="0" anchor="ctr">
            <a:noAutofit/>
          </a:bodyPr>
          <a:lstStyle/>
          <a:p>
            <a:pPr marL="0" indent="0" algn="ctr">
              <a:buNone/>
              <a:defRPr sz="900" i="0">
                <a:solidFill>
                  <a:srgbClr val="171717"/>
                </a:solidFill>
                <a:latin typeface="Malgun Gothic"/>
                <a:ea typeface="Malgun Gothic"/>
                <a:cs typeface="Malgun Gothic"/>
              </a:defRPr>
            </a:pPr>
            <a:r>
              <a:rPr sz="900" i="0">
                <a:solidFill>
                  <a:srgbClr val="171717"/>
                </a:solidFill>
                <a:latin typeface="Malgun Gothic"/>
                <a:ea typeface="Malgun Gothic"/>
                <a:cs typeface="Malgun Gothic"/>
              </a:rPr>
              <a:t>5일</a:t>
            </a:r>
            <a:endParaRPr sz="900"/>
          </a:p>
        </p:txBody>
      </p:sp>
      <p:sp>
        <p:nvSpPr>
          <p:cNvPr id="22" name="Shape 19">
            <a:extLst>
              <a:ext uri="{FF2B5EF4-FFF2-40B4-BE49-F238E27FC236}">
                <a16:creationId xmlns:a16="http://schemas.microsoft.com/office/drawing/2014/main" id="{E95AD2C2-9BE2-4737-B81D-4DF49BD699CB}"/>
              </a:ext>
            </a:extLst>
          </p:cNvPr>
          <p:cNvSpPr>
            <a:spLocks noGrp="1"/>
          </p:cNvSpPr>
          <p:nvPr/>
        </p:nvSpPr>
        <p:spPr>
          <a:xfrm>
            <a:off x="4773168" y="2560320"/>
            <a:ext cx="713232" cy="603504"/>
          </a:xfrm>
          <a:prstGeom prst="roundRect">
            <a:avLst>
              <a:gd name="adj" fmla="val 13636"/>
            </a:avLst>
          </a:prstGeom>
          <a:solidFill>
            <a:srgbClr val="E9E9E9"/>
          </a:solidFill>
          <a:ln w="5715">
            <a:solidFill>
              <a:srgbClr val="D4D4D4"/>
            </a:solidFill>
          </a:ln>
        </p:spPr>
      </p:sp>
      <p:sp>
        <p:nvSpPr>
          <p:cNvPr id="23" name="Text 20">
            <a:extLst>
              <a:ext uri="{FF2B5EF4-FFF2-40B4-BE49-F238E27FC236}">
                <a16:creationId xmlns:a16="http://schemas.microsoft.com/office/drawing/2014/main" id="{8A016E59-091E-43F1-964D-8B083AA58148}"/>
              </a:ext>
            </a:extLst>
          </p:cNvPr>
          <p:cNvSpPr>
            <a:spLocks noGrp="1"/>
          </p:cNvSpPr>
          <p:nvPr/>
        </p:nvSpPr>
        <p:spPr>
          <a:xfrm>
            <a:off x="4773168" y="2560320"/>
            <a:ext cx="713232" cy="603504"/>
          </a:xfrm>
          <a:prstGeom prst="rect">
            <a:avLst/>
          </a:prstGeom>
          <a:noFill/>
          <a:ln w="0">
            <a:noFill/>
          </a:ln>
        </p:spPr>
        <p:txBody>
          <a:bodyPr wrap="square" lIns="0" tIns="0" rIns="0" bIns="0" anchor="ctr">
            <a:noAutofit/>
          </a:bodyPr>
          <a:lstStyle/>
          <a:p>
            <a:pPr marL="0" indent="0" algn="ctr">
              <a:buNone/>
              <a:defRPr sz="1400" i="0">
                <a:solidFill>
                  <a:srgbClr val="171717"/>
                </a:solidFill>
                <a:latin typeface="Consolas"/>
                <a:ea typeface="Consolas"/>
                <a:cs typeface="Consolas"/>
              </a:defRPr>
            </a:pPr>
            <a:r>
              <a:rPr sz="1400" b="1" i="0">
                <a:solidFill>
                  <a:srgbClr val="171717"/>
                </a:solidFill>
                <a:latin typeface="Consolas"/>
                <a:ea typeface="Consolas"/>
                <a:cs typeface="Consolas"/>
              </a:rPr>
              <a:t>-9</a:t>
            </a:r>
            <a:endParaRPr sz="1400"/>
          </a:p>
        </p:txBody>
      </p:sp>
      <p:sp>
        <p:nvSpPr>
          <p:cNvPr id="24" name="Text 21">
            <a:extLst>
              <a:ext uri="{FF2B5EF4-FFF2-40B4-BE49-F238E27FC236}">
                <a16:creationId xmlns:a16="http://schemas.microsoft.com/office/drawing/2014/main" id="{652B97AD-7357-4947-AB65-584C546B815C}"/>
              </a:ext>
            </a:extLst>
          </p:cNvPr>
          <p:cNvSpPr>
            <a:spLocks noGrp="1"/>
          </p:cNvSpPr>
          <p:nvPr/>
        </p:nvSpPr>
        <p:spPr>
          <a:xfrm>
            <a:off x="4773168" y="3182112"/>
            <a:ext cx="713232" cy="256032"/>
          </a:xfrm>
          <a:prstGeom prst="rect">
            <a:avLst/>
          </a:prstGeom>
          <a:noFill/>
          <a:ln w="0">
            <a:noFill/>
          </a:ln>
        </p:spPr>
        <p:txBody>
          <a:bodyPr wrap="square" lIns="0" tIns="0" rIns="0" bIns="0" anchor="ctr">
            <a:noAutofit/>
          </a:bodyPr>
          <a:lstStyle/>
          <a:p>
            <a:pPr marL="0" indent="0" algn="ctr">
              <a:buNone/>
              <a:defRPr sz="900" i="0">
                <a:solidFill>
                  <a:srgbClr val="171717"/>
                </a:solidFill>
                <a:latin typeface="Malgun Gothic"/>
                <a:ea typeface="Malgun Gothic"/>
                <a:cs typeface="Malgun Gothic"/>
              </a:defRPr>
            </a:pPr>
            <a:r>
              <a:rPr sz="900" i="0">
                <a:solidFill>
                  <a:srgbClr val="171717"/>
                </a:solidFill>
                <a:latin typeface="Malgun Gothic"/>
                <a:ea typeface="Malgun Gothic"/>
                <a:cs typeface="Malgun Gothic"/>
              </a:rPr>
              <a:t>6일</a:t>
            </a:r>
            <a:endParaRPr sz="900"/>
          </a:p>
        </p:txBody>
      </p:sp>
      <p:sp>
        <p:nvSpPr>
          <p:cNvPr id="28" name="Text 24">
            <a:extLst>
              <a:ext uri="{FF2B5EF4-FFF2-40B4-BE49-F238E27FC236}">
                <a16:creationId xmlns:a16="http://schemas.microsoft.com/office/drawing/2014/main" id="{4AADAE5A-5CBB-4895-BF10-76488FF33A47}"/>
              </a:ext>
            </a:extLst>
          </p:cNvPr>
          <p:cNvSpPr>
            <a:spLocks noGrp="1"/>
          </p:cNvSpPr>
          <p:nvPr/>
        </p:nvSpPr>
        <p:spPr>
          <a:xfrm>
            <a:off x="1517904" y="3767328"/>
            <a:ext cx="4005072" cy="786384"/>
          </a:xfrm>
          <a:prstGeom prst="rect">
            <a:avLst/>
          </a:prstGeom>
          <a:noFill/>
          <a:ln w="0">
            <a:noFill/>
          </a:ln>
        </p:spPr>
        <p:txBody>
          <a:bodyPr wrap="square" lIns="0" tIns="0" rIns="0" bIns="0" anchor="ctr">
            <a:noAutofit/>
          </a:bodyPr>
          <a:lstStyle/>
          <a:p>
            <a:pPr marL="0" indent="0" algn="l">
              <a:lnSpc>
                <a:spcPct val="13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처음부터 끝까지 들고 있었다면?  3 − 5 + 12 − 2 + 7 − 9 = 6</a:t>
            </a:r>
            <a:endParaRPr sz="1250"/>
          </a:p>
        </p:txBody>
      </p:sp>
      <p:sp>
        <p:nvSpPr>
          <p:cNvPr id="32" name="Text 27">
            <a:extLst>
              <a:ext uri="{FF2B5EF4-FFF2-40B4-BE49-F238E27FC236}">
                <a16:creationId xmlns:a16="http://schemas.microsoft.com/office/drawing/2014/main" id="{41B205AD-7075-4D55-A8B1-A106B28AC056}"/>
              </a:ext>
            </a:extLst>
          </p:cNvPr>
          <p:cNvSpPr>
            <a:spLocks noGrp="1"/>
          </p:cNvSpPr>
          <p:nvPr/>
        </p:nvSpPr>
        <p:spPr>
          <a:xfrm>
            <a:off x="1517904" y="5010912"/>
            <a:ext cx="4005072" cy="896112"/>
          </a:xfrm>
          <a:prstGeom prst="rect">
            <a:avLst/>
          </a:prstGeom>
          <a:noFill/>
          <a:ln w="0">
            <a:noFill/>
          </a:ln>
        </p:spPr>
        <p:txBody>
          <a:bodyPr wrap="square" lIns="0" tIns="0" rIns="0" bIns="0" anchor="ctr">
            <a:noAutofit/>
          </a:bodyPr>
          <a:lstStyle/>
          <a:p>
            <a:pPr marL="0" indent="0" algn="l">
              <a:lnSpc>
                <a:spcPct val="13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3~5일 차 변동분을 합하면?  12 + (−2) + 7 = 17  ← 최대!</a:t>
            </a:r>
            <a:endParaRPr sz="1250"/>
          </a:p>
        </p:txBody>
      </p:sp>
      <p:sp>
        <p:nvSpPr>
          <p:cNvPr id="40" name="직사각형 39">
            <a:extLst>
              <a:ext uri="{FF2B5EF4-FFF2-40B4-BE49-F238E27FC236}">
                <a16:creationId xmlns:a16="http://schemas.microsoft.com/office/drawing/2014/main" id="{9C7E1893-B5B2-43B0-9127-B924A4791C05}"/>
              </a:ext>
            </a:extLst>
          </p:cNvPr>
          <p:cNvSpPr>
            <a:spLocks noGrp="1"/>
          </p:cNvSpPr>
          <p:nvPr/>
        </p:nvSpPr>
        <p:spPr>
          <a:xfrm>
            <a:off x="658368" y="3602736"/>
            <a:ext cx="5120640" cy="9525"/>
          </a:xfrm>
          <a:prstGeom prst="rect">
            <a:avLst/>
          </a:prstGeom>
          <a:solidFill>
            <a:srgbClr val="D4D4D4"/>
          </a:solidFill>
          <a:ln w="0">
            <a:noFill/>
          </a:ln>
        </p:spPr>
      </p:sp>
      <p:sp>
        <p:nvSpPr>
          <p:cNvPr id="41" name="직사각형 40">
            <a:extLst>
              <a:ext uri="{FF2B5EF4-FFF2-40B4-BE49-F238E27FC236}">
                <a16:creationId xmlns:a16="http://schemas.microsoft.com/office/drawing/2014/main" id="{9A592C4B-8250-4255-873E-D6019B0C3FC3}"/>
              </a:ext>
            </a:extLst>
          </p:cNvPr>
          <p:cNvSpPr>
            <a:spLocks noGrp="1"/>
          </p:cNvSpPr>
          <p:nvPr/>
        </p:nvSpPr>
        <p:spPr>
          <a:xfrm>
            <a:off x="658368" y="4846320"/>
            <a:ext cx="5120640" cy="9525"/>
          </a:xfrm>
          <a:prstGeom prst="rect">
            <a:avLst/>
          </a:prstGeom>
          <a:solidFill>
            <a:srgbClr val="D4D4D4"/>
          </a:solidFill>
          <a:ln w="0">
            <a:noFill/>
          </a:ln>
        </p:spPr>
      </p:sp>
      <p:sp>
        <p:nvSpPr>
          <p:cNvPr id="42" name="직사각형 41">
            <a:extLst>
              <a:ext uri="{FF2B5EF4-FFF2-40B4-BE49-F238E27FC236}">
                <a16:creationId xmlns:a16="http://schemas.microsoft.com/office/drawing/2014/main" id="{3990B98A-2966-474A-B915-8B4060C16145}"/>
              </a:ext>
            </a:extLst>
          </p:cNvPr>
          <p:cNvSpPr>
            <a:spLocks noGrp="1"/>
          </p:cNvSpPr>
          <p:nvPr/>
        </p:nvSpPr>
        <p:spPr>
          <a:xfrm>
            <a:off x="6126480" y="1737360"/>
            <a:ext cx="5404104" cy="9525"/>
          </a:xfrm>
          <a:prstGeom prst="rect">
            <a:avLst/>
          </a:prstGeom>
          <a:solidFill>
            <a:srgbClr val="D4D4D4"/>
          </a:solidFill>
          <a:ln w="0">
            <a:noFill/>
          </a:ln>
        </p:spPr>
      </p:sp>
      <p:sp>
        <p:nvSpPr>
          <p:cNvPr id="43" name="직사각형 42">
            <a:extLst>
              <a:ext uri="{FF2B5EF4-FFF2-40B4-BE49-F238E27FC236}">
                <a16:creationId xmlns:a16="http://schemas.microsoft.com/office/drawing/2014/main" id="{90A1FAD5-5612-4975-9922-F1C6A7204BBE}"/>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44" name="직사각형 43">
            <a:extLst>
              <a:ext uri="{FF2B5EF4-FFF2-40B4-BE49-F238E27FC236}">
                <a16:creationId xmlns:a16="http://schemas.microsoft.com/office/drawing/2014/main" id="{4B8FEC28-DC0D-4681-99E6-45AFB8C0104D}"/>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5" name="직사각형 44">
            <a:extLst>
              <a:ext uri="{FF2B5EF4-FFF2-40B4-BE49-F238E27FC236}">
                <a16:creationId xmlns:a16="http://schemas.microsoft.com/office/drawing/2014/main" id="{9C897387-82DB-4CC6-A06F-A21BF80EB732}"/>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 가장 큰 이익을 내는 구간은?</a:t>
            </a:r>
          </a:p>
        </p:txBody>
      </p:sp>
      <p:sp>
        <p:nvSpPr>
          <p:cNvPr id="46" name="직사각형 45">
            <a:extLst>
              <a:ext uri="{FF2B5EF4-FFF2-40B4-BE49-F238E27FC236}">
                <a16:creationId xmlns:a16="http://schemas.microsoft.com/office/drawing/2014/main" id="{F5207DAF-7452-468B-8FB4-7DF5B006B22C}"/>
              </a:ext>
            </a:extLst>
          </p:cNvPr>
          <p:cNvSpPr>
            <a:spLocks noGrp="1"/>
          </p:cNvSpPr>
          <p:nvPr/>
        </p:nvSpPr>
        <p:spPr>
          <a:xfrm>
            <a:off x="609600" y="1381125"/>
            <a:ext cx="10972800" cy="19050"/>
          </a:xfrm>
          <a:prstGeom prst="rect">
            <a:avLst/>
          </a:prstGeom>
          <a:solidFill>
            <a:srgbClr val="171717"/>
          </a:solidFill>
          <a:ln w="0">
            <a:noFill/>
          </a:ln>
        </p:spPr>
      </p:sp>
      <p:sp>
        <p:nvSpPr>
          <p:cNvPr id="47" name="직사각형 46">
            <a:extLst>
              <a:ext uri="{FF2B5EF4-FFF2-40B4-BE49-F238E27FC236}">
                <a16:creationId xmlns:a16="http://schemas.microsoft.com/office/drawing/2014/main" id="{1B3F1404-6958-44F0-8CE2-6F09476AAC32}"/>
              </a:ext>
            </a:extLst>
          </p:cNvPr>
          <p:cNvSpPr>
            <a:spLocks noGrp="1"/>
          </p:cNvSpPr>
          <p:nvPr/>
        </p:nvSpPr>
        <p:spPr>
          <a:xfrm>
            <a:off x="609600" y="6438900"/>
            <a:ext cx="10972800" cy="9525"/>
          </a:xfrm>
          <a:prstGeom prst="rect">
            <a:avLst/>
          </a:prstGeom>
          <a:solidFill>
            <a:srgbClr val="D4D4D4"/>
          </a:solidFill>
          <a:ln w="0">
            <a:noFill/>
          </a:ln>
        </p:spPr>
      </p:sp>
      <p:sp>
        <p:nvSpPr>
          <p:cNvPr id="48" name="직사각형 47">
            <a:extLst>
              <a:ext uri="{FF2B5EF4-FFF2-40B4-BE49-F238E27FC236}">
                <a16:creationId xmlns:a16="http://schemas.microsoft.com/office/drawing/2014/main" id="{CC57FA98-294E-44CC-8237-D2FE35A93F1E}"/>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9" name="직사각형 48">
            <a:extLst>
              <a:ext uri="{FF2B5EF4-FFF2-40B4-BE49-F238E27FC236}">
                <a16:creationId xmlns:a16="http://schemas.microsoft.com/office/drawing/2014/main" id="{F8BB6713-380B-4870-97CC-8F0DC3F9E655}"/>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85</a:t>
            </a:r>
            <a:endParaRPr sz="1050" b="1" i="0">
              <a:solidFill>
                <a:srgbClr val="171717"/>
              </a:solidFill>
              <a:latin typeface="Consolas"/>
              <a:ea typeface="Consolas"/>
              <a:cs typeface="Consolas"/>
            </a:endParaRPr>
          </a:p>
        </p:txBody>
      </p:sp>
      <p:graphicFrame>
        <p:nvGraphicFramePr>
          <p:cNvPr id="85" name="Chart"/>
          <p:cNvGraphicFramePr/>
          <p:nvPr/>
        </p:nvGraphicFramePr>
        <p:xfrm>
          <a:off x="6105525" y="2352675"/>
          <a:ext cx="5381625" cy="3171825"/>
        </p:xfrm>
        <a:graphic>
          <a:graphicData uri="http://schemas.openxmlformats.org/drawingml/2006/chart">
            <c:chart xmlns:c="http://schemas.openxmlformats.org/drawingml/2006/chart" xmlns:r="http://schemas.openxmlformats.org/officeDocument/2006/relationships" r:id="rId3"/>
          </a:graphicData>
        </a:graphic>
      </p:graphicFrame>
      <p:sp>
        <p:nvSpPr>
          <p:cNvPr id="51" name="직사각형 50">
            <a:extLst>
              <a:ext uri="{FF2B5EF4-FFF2-40B4-BE49-F238E27FC236}">
                <a16:creationId xmlns:a16="http://schemas.microsoft.com/office/drawing/2014/main" id="{84B33900-D492-4F83-AD41-4C6BAAFBA4DC}"/>
              </a:ext>
            </a:extLst>
          </p:cNvPr>
          <p:cNvSpPr>
            <a:spLocks noGrp="1"/>
          </p:cNvSpPr>
          <p:nvPr/>
        </p:nvSpPr>
        <p:spPr>
          <a:xfrm>
            <a:off x="6286500" y="1990725"/>
            <a:ext cx="5200650" cy="333375"/>
          </a:xfrm>
          <a:prstGeom prst="rect">
            <a:avLst/>
          </a:prstGeom>
          <a:noFill/>
          <a:ln w="0">
            <a:noFill/>
          </a:ln>
        </p:spPr>
        <p:txBody>
          <a:bodyPr>
            <a:noAutofit/>
          </a:bodyPr>
          <a:lstStyle/>
          <a:p>
            <a:pPr>
              <a:defRPr sz="1425">
                <a:solidFill>
                  <a:srgbClr val="606060"/>
                </a:solidFill>
                <a:latin typeface="Malgun Gothic"/>
                <a:ea typeface="Malgun Gothic"/>
                <a:cs typeface="Malgun Gothic"/>
              </a:defRPr>
            </a:pPr>
            <a:r>
              <a:rPr sz="1425">
                <a:solidFill>
                  <a:srgbClr val="606060"/>
                </a:solidFill>
                <a:latin typeface="Malgun Gothic"/>
                <a:ea typeface="Malgun Gothic"/>
                <a:cs typeface="Malgun Gothic"/>
              </a:rPr>
              <a:t>일별 손익 변화</a:t>
            </a:r>
          </a:p>
        </p:txBody>
      </p:sp>
      <p:sp>
        <p:nvSpPr>
          <p:cNvPr id="52" name="직사각형 51">
            <a:extLst>
              <a:ext uri="{FF2B5EF4-FFF2-40B4-BE49-F238E27FC236}">
                <a16:creationId xmlns:a16="http://schemas.microsoft.com/office/drawing/2014/main" id="{42D497F8-2FF3-43E6-9176-DED0F9365BF4}"/>
              </a:ext>
            </a:extLst>
          </p:cNvPr>
          <p:cNvSpPr>
            <a:spLocks noGrp="1"/>
          </p:cNvSpPr>
          <p:nvPr/>
        </p:nvSpPr>
        <p:spPr>
          <a:xfrm>
            <a:off x="6477000" y="5591175"/>
            <a:ext cx="4953000" cy="409575"/>
          </a:xfrm>
          <a:prstGeom prst="rect">
            <a:avLst/>
          </a:prstGeom>
          <a:noFill/>
          <a:ln w="0">
            <a:noFill/>
          </a:ln>
        </p:spPr>
        <p:txBody>
          <a:bodyPr>
            <a:noAutofit/>
          </a:bodyPr>
          <a:lstStyle/>
          <a:p>
            <a:pPr>
              <a:defRPr sz="1875" b="1">
                <a:solidFill>
                  <a:srgbClr val="171717"/>
                </a:solidFill>
                <a:latin typeface="Malgun Gothic"/>
                <a:ea typeface="Malgun Gothic"/>
                <a:cs typeface="Malgun Gothic"/>
              </a:defRPr>
            </a:pPr>
            <a:r>
              <a:rPr sz="1875" b="1">
                <a:solidFill>
                  <a:srgbClr val="171717"/>
                </a:solidFill>
                <a:latin typeface="Malgun Gothic"/>
                <a:ea typeface="Malgun Gothic"/>
                <a:cs typeface="Malgun Gothic"/>
              </a:rPr>
              <a:t>3~5일: 12 − 2 + 7 = 17</a:t>
            </a:r>
          </a:p>
        </p:txBody>
      </p:sp>
      <p:pic>
        <p:nvPicPr>
          <p:cNvPr id="88" name="그림 87"/>
          <p:cNvPicPr>
            <a:picLocks noChangeAspect="1"/>
          </p:cNvPicPr>
          <p:nvPr/>
        </p:nvPicPr>
        <p:blipFill>
          <a:blip r:embed="rId4"/>
          <a:stretch/>
        </p:blipFill>
        <p:spPr>
          <a:xfrm>
            <a:off x="685800" y="3990975"/>
            <a:ext cx="704850" cy="704850"/>
          </a:xfrm>
          <a:prstGeom prst="rect">
            <a:avLst/>
          </a:prstGeom>
        </p:spPr>
      </p:pic>
    </p:spTree>
    <p:extLst>
      <p:ext uri="{BB962C8B-B14F-4D97-AF65-F5344CB8AC3E}">
        <p14:creationId xmlns:p14="http://schemas.microsoft.com/office/powerpoint/2010/main" val="6693472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직사각형 35">
            <a:extLst>
              <a:ext uri="{FF2B5EF4-FFF2-40B4-BE49-F238E27FC236}">
                <a16:creationId xmlns:a16="http://schemas.microsoft.com/office/drawing/2014/main" id="{204DF36C-87C7-49FB-A6F1-064590EDD400}"/>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37" name="직사각형 36">
            <a:extLst>
              <a:ext uri="{FF2B5EF4-FFF2-40B4-BE49-F238E27FC236}">
                <a16:creationId xmlns:a16="http://schemas.microsoft.com/office/drawing/2014/main" id="{D3927C97-75BB-488B-AE25-10F616C94F7E}"/>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8" name="직사각형 37">
            <a:extLst>
              <a:ext uri="{FF2B5EF4-FFF2-40B4-BE49-F238E27FC236}">
                <a16:creationId xmlns:a16="http://schemas.microsoft.com/office/drawing/2014/main" id="{5FAE6CEB-5E75-446F-9C3B-5C8C78F4A8A7}"/>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직관적인 접근의 한계</a:t>
            </a:r>
          </a:p>
        </p:txBody>
      </p:sp>
      <p:sp>
        <p:nvSpPr>
          <p:cNvPr id="39" name="직사각형 38">
            <a:extLst>
              <a:ext uri="{FF2B5EF4-FFF2-40B4-BE49-F238E27FC236}">
                <a16:creationId xmlns:a16="http://schemas.microsoft.com/office/drawing/2014/main" id="{EA80965C-18C2-4DFE-B3E2-2D4B3BBE8AB2}"/>
              </a:ext>
            </a:extLst>
          </p:cNvPr>
          <p:cNvSpPr>
            <a:spLocks noGrp="1"/>
          </p:cNvSpPr>
          <p:nvPr/>
        </p:nvSpPr>
        <p:spPr>
          <a:xfrm>
            <a:off x="609600" y="1381125"/>
            <a:ext cx="10972800" cy="19050"/>
          </a:xfrm>
          <a:prstGeom prst="rect">
            <a:avLst/>
          </a:prstGeom>
          <a:solidFill>
            <a:srgbClr val="171717"/>
          </a:solidFill>
          <a:ln w="0">
            <a:noFill/>
          </a:ln>
        </p:spPr>
      </p:sp>
      <p:sp>
        <p:nvSpPr>
          <p:cNvPr id="40" name="직사각형 39">
            <a:extLst>
              <a:ext uri="{FF2B5EF4-FFF2-40B4-BE49-F238E27FC236}">
                <a16:creationId xmlns:a16="http://schemas.microsoft.com/office/drawing/2014/main" id="{564B9E9D-032C-48CE-9A03-4347748FC3BA}"/>
              </a:ext>
            </a:extLst>
          </p:cNvPr>
          <p:cNvSpPr>
            <a:spLocks noGrp="1"/>
          </p:cNvSpPr>
          <p:nvPr/>
        </p:nvSpPr>
        <p:spPr>
          <a:xfrm>
            <a:off x="609600" y="6438900"/>
            <a:ext cx="10972800" cy="9525"/>
          </a:xfrm>
          <a:prstGeom prst="rect">
            <a:avLst/>
          </a:prstGeom>
          <a:solidFill>
            <a:srgbClr val="D4D4D4"/>
          </a:solidFill>
          <a:ln w="0">
            <a:noFill/>
          </a:ln>
        </p:spPr>
      </p:sp>
      <p:sp>
        <p:nvSpPr>
          <p:cNvPr id="41" name="직사각형 40">
            <a:extLst>
              <a:ext uri="{FF2B5EF4-FFF2-40B4-BE49-F238E27FC236}">
                <a16:creationId xmlns:a16="http://schemas.microsoft.com/office/drawing/2014/main" id="{AA3AACB1-1B55-4D5D-BFB0-37DA1A3E4B6A}"/>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2" name="직사각형 41">
            <a:extLst>
              <a:ext uri="{FF2B5EF4-FFF2-40B4-BE49-F238E27FC236}">
                <a16:creationId xmlns:a16="http://schemas.microsoft.com/office/drawing/2014/main" id="{CC141146-44AA-4800-9C21-7D73181050E1}"/>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86</a:t>
            </a:r>
            <a:endParaRPr sz="1050" b="1" i="0">
              <a:solidFill>
                <a:srgbClr val="171717"/>
              </a:solidFill>
              <a:latin typeface="Consolas"/>
              <a:ea typeface="Consolas"/>
              <a:cs typeface="Consolas"/>
            </a:endParaRPr>
          </a:p>
        </p:txBody>
      </p:sp>
      <p:sp>
        <p:nvSpPr>
          <p:cNvPr id="43" name="직사각형 42">
            <a:extLst>
              <a:ext uri="{FF2B5EF4-FFF2-40B4-BE49-F238E27FC236}">
                <a16:creationId xmlns:a16="http://schemas.microsoft.com/office/drawing/2014/main" id="{8F136F04-7463-4109-8319-0FF65A945AC0}"/>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완전 탐색은 가능한 모든 시작점과 끝점을 확인한다. 비어 있지 않은 연속 구간의 개수는 n(n + 1)/2이다.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n = 100 → 5,050개</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n = 1,000 → 500,500개</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n = 100,000 → 5,000,050,000개</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시작점을 고정하고 끝점을 늘리며 합을 갱신하면 O(n²)에 모든 구간을 조사할 수 있다.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매 구간의 합을 처음부터 다시 계산하면 O(n³)까지 늘어난다.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구간 수 자체가 많으므로 더 빠른 방법이 필요하다.</a:t>
            </a:r>
          </a:p>
        </p:txBody>
      </p:sp>
      <p:pic>
        <p:nvPicPr>
          <p:cNvPr id="53" name="그림 52"/>
          <p:cNvPicPr>
            <a:picLocks noChangeAspect="1"/>
          </p:cNvPicPr>
          <p:nvPr/>
        </p:nvPicPr>
        <p:blipFill>
          <a:blip r:embed="rId3"/>
          <a:stretch/>
        </p:blipFill>
        <p:spPr>
          <a:xfrm>
            <a:off x="7315200" y="2164049"/>
            <a:ext cx="4171950" cy="3196651"/>
          </a:xfrm>
          <a:prstGeom prst="rect">
            <a:avLst/>
          </a:prstGeom>
        </p:spPr>
      </p:pic>
    </p:spTree>
    <p:extLst>
      <p:ext uri="{BB962C8B-B14F-4D97-AF65-F5344CB8AC3E}">
        <p14:creationId xmlns:p14="http://schemas.microsoft.com/office/powerpoint/2010/main" val="18218199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직사각형 28">
            <a:extLst>
              <a:ext uri="{FF2B5EF4-FFF2-40B4-BE49-F238E27FC236}">
                <a16:creationId xmlns:a16="http://schemas.microsoft.com/office/drawing/2014/main" id="{D1A13B5F-F5C2-4877-BAE2-1E5F7A651CF2}"/>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30" name="직사각형 29">
            <a:extLst>
              <a:ext uri="{FF2B5EF4-FFF2-40B4-BE49-F238E27FC236}">
                <a16:creationId xmlns:a16="http://schemas.microsoft.com/office/drawing/2014/main" id="{85CEB7B2-18C5-421F-AFFB-A051ACA41E26}"/>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1" name="직사각형 30">
            <a:extLst>
              <a:ext uri="{FF2B5EF4-FFF2-40B4-BE49-F238E27FC236}">
                <a16:creationId xmlns:a16="http://schemas.microsoft.com/office/drawing/2014/main" id="{8E8AF46F-E22F-4BEA-8A0B-4C37E8C45CA1}"/>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분할 정복 전략 — 셋 중 하나에는 반드시 있다!</a:t>
            </a:r>
          </a:p>
        </p:txBody>
      </p:sp>
      <p:sp>
        <p:nvSpPr>
          <p:cNvPr id="32" name="직사각형 31">
            <a:extLst>
              <a:ext uri="{FF2B5EF4-FFF2-40B4-BE49-F238E27FC236}">
                <a16:creationId xmlns:a16="http://schemas.microsoft.com/office/drawing/2014/main" id="{E2F20191-3D01-453D-B8EC-EF90ADA56F91}"/>
              </a:ext>
            </a:extLst>
          </p:cNvPr>
          <p:cNvSpPr>
            <a:spLocks noGrp="1"/>
          </p:cNvSpPr>
          <p:nvPr/>
        </p:nvSpPr>
        <p:spPr>
          <a:xfrm>
            <a:off x="609600" y="1381125"/>
            <a:ext cx="10972800" cy="19050"/>
          </a:xfrm>
          <a:prstGeom prst="rect">
            <a:avLst/>
          </a:prstGeom>
          <a:solidFill>
            <a:srgbClr val="171717"/>
          </a:solidFill>
          <a:ln w="0">
            <a:noFill/>
          </a:ln>
        </p:spPr>
      </p:sp>
      <p:sp>
        <p:nvSpPr>
          <p:cNvPr id="33" name="직사각형 32">
            <a:extLst>
              <a:ext uri="{FF2B5EF4-FFF2-40B4-BE49-F238E27FC236}">
                <a16:creationId xmlns:a16="http://schemas.microsoft.com/office/drawing/2014/main" id="{60FB652E-060E-4D37-B493-1F5CECF5CA21}"/>
              </a:ext>
            </a:extLst>
          </p:cNvPr>
          <p:cNvSpPr>
            <a:spLocks noGrp="1"/>
          </p:cNvSpPr>
          <p:nvPr/>
        </p:nvSpPr>
        <p:spPr>
          <a:xfrm>
            <a:off x="609600" y="6438900"/>
            <a:ext cx="10972800"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F42E214C-6CE3-4FB4-9010-58E232D79500}"/>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5" name="직사각형 34">
            <a:extLst>
              <a:ext uri="{FF2B5EF4-FFF2-40B4-BE49-F238E27FC236}">
                <a16:creationId xmlns:a16="http://schemas.microsoft.com/office/drawing/2014/main" id="{5F12C696-5E82-4696-B0AE-FC6B6095BC9B}"/>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87</a:t>
            </a:r>
            <a:endParaRPr sz="1050" b="1" i="0">
              <a:solidFill>
                <a:srgbClr val="171717"/>
              </a:solidFill>
              <a:latin typeface="Consolas"/>
              <a:ea typeface="Consolas"/>
              <a:cs typeface="Consolas"/>
            </a:endParaRPr>
          </a:p>
        </p:txBody>
      </p:sp>
      <p:sp>
        <p:nvSpPr>
          <p:cNvPr id="36" name="직사각형 35">
            <a:extLst>
              <a:ext uri="{FF2B5EF4-FFF2-40B4-BE49-F238E27FC236}">
                <a16:creationId xmlns:a16="http://schemas.microsoft.com/office/drawing/2014/main" id="{37AD1750-5AD1-43C1-9601-308608A515F5}"/>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배열을 절반으로 나누면 최대 구간은 다음 세 경우 중 하나에 속한다.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① 왼쪽에만 존재 → 왼쪽 절반을 재귀적으로 해결</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② 오른쪽에만 존재 → 오른쪽 절반을 재귀적으로 해결</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③ 경계를 가로지름 → 왼쪽 최대 접미 합과 오른쪽 최대 접두 합을 더한다.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정답 = max(leftMax, rightMax, crossMax)</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세 경우를 모두 비교하므로 최대 구간을 놓치지 않는다.</a:t>
            </a:r>
          </a:p>
        </p:txBody>
      </p:sp>
      <p:pic>
        <p:nvPicPr>
          <p:cNvPr id="46" name="그림 45"/>
          <p:cNvPicPr>
            <a:picLocks noChangeAspect="1"/>
          </p:cNvPicPr>
          <p:nvPr/>
        </p:nvPicPr>
        <p:blipFill>
          <a:blip r:embed="rId3"/>
          <a:stretch/>
        </p:blipFill>
        <p:spPr>
          <a:xfrm>
            <a:off x="7315200" y="2157779"/>
            <a:ext cx="4171950" cy="3209192"/>
          </a:xfrm>
          <a:prstGeom prst="rect">
            <a:avLst/>
          </a:prstGeom>
        </p:spPr>
      </p:pic>
    </p:spTree>
    <p:extLst>
      <p:ext uri="{BB962C8B-B14F-4D97-AF65-F5344CB8AC3E}">
        <p14:creationId xmlns:p14="http://schemas.microsoft.com/office/powerpoint/2010/main" val="1972811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8F4A188B-FDA0-4AAF-9AAB-0EBC2D14F4A1}"/>
              </a:ext>
            </a:extLst>
          </p:cNvPr>
          <p:cNvSpPr>
            <a:spLocks noGrp="1"/>
          </p:cNvSpPr>
          <p:nvPr/>
        </p:nvSpPr>
        <p:spPr>
          <a:xfrm>
            <a:off x="658368" y="1700784"/>
            <a:ext cx="10872216" cy="566928"/>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걸친 구간을 처리하는 부분이 분할 정복 알고리즘에서 가장 까다롭다. 핵심은 "걸친 구간은 반드시 중앙(mid)을 포함해야 한다"는 것이다. 우리가 찾는 것은 왼쪽 동네와 오른쪽 동네를 연결하는 다리 같은 구간이다.</a:t>
            </a:r>
            <a:endParaRPr sz="1300"/>
          </a:p>
        </p:txBody>
      </p:sp>
      <p:sp>
        <p:nvSpPr>
          <p:cNvPr id="12" name="Text 7">
            <a:extLst>
              <a:ext uri="{FF2B5EF4-FFF2-40B4-BE49-F238E27FC236}">
                <a16:creationId xmlns:a16="http://schemas.microsoft.com/office/drawing/2014/main" id="{DB0341F7-5DA4-4343-B7AC-100A2D02AF27}"/>
              </a:ext>
            </a:extLst>
          </p:cNvPr>
          <p:cNvSpPr>
            <a:spLocks noGrp="1"/>
          </p:cNvSpPr>
          <p:nvPr/>
        </p:nvSpPr>
        <p:spPr>
          <a:xfrm>
            <a:off x="1517904" y="5669280"/>
            <a:ext cx="9756648" cy="384048"/>
          </a:xfrm>
          <a:prstGeom prst="rect">
            <a:avLst/>
          </a:prstGeom>
          <a:noFill/>
          <a:ln w="0">
            <a:noFill/>
          </a:ln>
        </p:spPr>
        <p:txBody>
          <a:bodyPr wrap="square" lIns="0" tIns="0" rIns="0" bIns="0" anchor="ctr">
            <a:noAutofit/>
          </a:bodyPr>
          <a:lstStyle/>
          <a:p>
            <a:pPr marL="0" indent="0" algn="l">
              <a:lnSpc>
                <a:spcPct val="134000"/>
              </a:lnSpc>
              <a:buNone/>
              <a:defRPr sz="1230" i="0">
                <a:solidFill>
                  <a:srgbClr val="606060"/>
                </a:solidFill>
                <a:latin typeface="Malgun Gothic"/>
                <a:ea typeface="Malgun Gothic"/>
                <a:cs typeface="Malgun Gothic"/>
              </a:defRPr>
            </a:pPr>
            <a:r>
              <a:rPr sz="1230" i="0">
                <a:solidFill>
                  <a:srgbClr val="606060"/>
                </a:solidFill>
                <a:latin typeface="Malgun Gothic"/>
                <a:ea typeface="Malgun Gothic"/>
                <a:cs typeface="Malgun Gothic"/>
              </a:rPr>
              <a:t>mid에서 왼쪽으로 훑으며 최대 합(leftSum), mid+1에서 오른쪽으로 훑으며 최대 합(rightSum). 둘을 더하면 걸친 구간의 최대 합이다.</a:t>
            </a:r>
            <a:endParaRPr sz="1230"/>
          </a:p>
        </p:txBody>
      </p:sp>
      <p:sp>
        <p:nvSpPr>
          <p:cNvPr id="16" name="직사각형 15">
            <a:extLst>
              <a:ext uri="{FF2B5EF4-FFF2-40B4-BE49-F238E27FC236}">
                <a16:creationId xmlns:a16="http://schemas.microsoft.com/office/drawing/2014/main" id="{ECF1DBC9-0F5A-4182-AEC2-EFDC315A2C70}"/>
              </a:ext>
            </a:extLst>
          </p:cNvPr>
          <p:cNvSpPr>
            <a:spLocks noGrp="1"/>
          </p:cNvSpPr>
          <p:nvPr/>
        </p:nvSpPr>
        <p:spPr>
          <a:xfrm>
            <a:off x="658368" y="5504688"/>
            <a:ext cx="10872216" cy="9525"/>
          </a:xfrm>
          <a:prstGeom prst="rect">
            <a:avLst/>
          </a:prstGeom>
          <a:solidFill>
            <a:srgbClr val="D4D4D4"/>
          </a:solidFill>
          <a:ln w="0">
            <a:noFill/>
          </a:ln>
        </p:spPr>
      </p:sp>
      <p:sp>
        <p:nvSpPr>
          <p:cNvPr id="17" name="직사각형 16">
            <a:extLst>
              <a:ext uri="{FF2B5EF4-FFF2-40B4-BE49-F238E27FC236}">
                <a16:creationId xmlns:a16="http://schemas.microsoft.com/office/drawing/2014/main" id="{9CEB29E3-A288-4924-B793-69E6667A7129}"/>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18" name="직사각형 17">
            <a:extLst>
              <a:ext uri="{FF2B5EF4-FFF2-40B4-BE49-F238E27FC236}">
                <a16:creationId xmlns:a16="http://schemas.microsoft.com/office/drawing/2014/main" id="{03E7AA60-2205-461D-AB91-204A179D9958}"/>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19" name="직사각형 18">
            <a:extLst>
              <a:ext uri="{FF2B5EF4-FFF2-40B4-BE49-F238E27FC236}">
                <a16:creationId xmlns:a16="http://schemas.microsoft.com/office/drawing/2014/main" id="{EB0BE622-9090-4D58-B149-928857A6E951}"/>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'걸친 구간' 처리하기</a:t>
            </a:r>
          </a:p>
        </p:txBody>
      </p:sp>
      <p:sp>
        <p:nvSpPr>
          <p:cNvPr id="20" name="직사각형 19">
            <a:extLst>
              <a:ext uri="{FF2B5EF4-FFF2-40B4-BE49-F238E27FC236}">
                <a16:creationId xmlns:a16="http://schemas.microsoft.com/office/drawing/2014/main" id="{FE1EF1BA-40D1-40DC-94E9-6A6725906CFE}"/>
              </a:ext>
            </a:extLst>
          </p:cNvPr>
          <p:cNvSpPr>
            <a:spLocks noGrp="1"/>
          </p:cNvSpPr>
          <p:nvPr/>
        </p:nvSpPr>
        <p:spPr>
          <a:xfrm>
            <a:off x="609600" y="1381125"/>
            <a:ext cx="10972800" cy="19050"/>
          </a:xfrm>
          <a:prstGeom prst="rect">
            <a:avLst/>
          </a:prstGeom>
          <a:solidFill>
            <a:srgbClr val="171717"/>
          </a:solidFill>
          <a:ln w="0">
            <a:noFill/>
          </a:ln>
        </p:spPr>
      </p:sp>
      <p:sp>
        <p:nvSpPr>
          <p:cNvPr id="21" name="직사각형 20">
            <a:extLst>
              <a:ext uri="{FF2B5EF4-FFF2-40B4-BE49-F238E27FC236}">
                <a16:creationId xmlns:a16="http://schemas.microsoft.com/office/drawing/2014/main" id="{9BC940B0-2249-4EBC-996E-1C0F01390448}"/>
              </a:ext>
            </a:extLst>
          </p:cNvPr>
          <p:cNvSpPr>
            <a:spLocks noGrp="1"/>
          </p:cNvSpPr>
          <p:nvPr/>
        </p:nvSpPr>
        <p:spPr>
          <a:xfrm>
            <a:off x="609600" y="6438900"/>
            <a:ext cx="10972800" cy="9525"/>
          </a:xfrm>
          <a:prstGeom prst="rect">
            <a:avLst/>
          </a:prstGeom>
          <a:solidFill>
            <a:srgbClr val="D4D4D4"/>
          </a:solidFill>
          <a:ln w="0">
            <a:noFill/>
          </a:ln>
        </p:spPr>
      </p:sp>
      <p:sp>
        <p:nvSpPr>
          <p:cNvPr id="22" name="직사각형 21">
            <a:extLst>
              <a:ext uri="{FF2B5EF4-FFF2-40B4-BE49-F238E27FC236}">
                <a16:creationId xmlns:a16="http://schemas.microsoft.com/office/drawing/2014/main" id="{0ED2B516-8F96-47F8-885A-CB9BAA6A043D}"/>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23" name="직사각형 22">
            <a:extLst>
              <a:ext uri="{FF2B5EF4-FFF2-40B4-BE49-F238E27FC236}">
                <a16:creationId xmlns:a16="http://schemas.microsoft.com/office/drawing/2014/main" id="{D7FB1687-2348-443B-8668-37D7940E928D}"/>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88</a:t>
            </a:r>
            <a:endParaRPr sz="1050" b="1" i="0">
              <a:solidFill>
                <a:srgbClr val="171717"/>
              </a:solidFill>
              <a:latin typeface="Consolas"/>
              <a:ea typeface="Consolas"/>
              <a:cs typeface="Consolas"/>
            </a:endParaRPr>
          </a:p>
        </p:txBody>
      </p:sp>
      <p:pic>
        <p:nvPicPr>
          <p:cNvPr id="35" name="그림 34"/>
          <p:cNvPicPr>
            <a:picLocks noChangeAspect="1"/>
          </p:cNvPicPr>
          <p:nvPr/>
        </p:nvPicPr>
        <p:blipFill>
          <a:blip r:embed="rId3"/>
          <a:stretch/>
        </p:blipFill>
        <p:spPr>
          <a:xfrm>
            <a:off x="3601736" y="2523744"/>
            <a:ext cx="4985384" cy="2724912"/>
          </a:xfrm>
          <a:prstGeom prst="rect">
            <a:avLst/>
          </a:prstGeom>
        </p:spPr>
      </p:pic>
    </p:spTree>
    <p:extLst>
      <p:ext uri="{BB962C8B-B14F-4D97-AF65-F5344CB8AC3E}">
        <p14:creationId xmlns:p14="http://schemas.microsoft.com/office/powerpoint/2010/main" val="12001524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85F22F59-915D-406E-8AC7-FF2507F37316}"/>
              </a:ext>
            </a:extLst>
          </p:cNvPr>
          <p:cNvSpPr>
            <a:spLocks noGrp="1"/>
          </p:cNvSpPr>
          <p:nvPr/>
        </p:nvSpPr>
        <p:spPr>
          <a:xfrm>
            <a:off x="859536" y="1801368"/>
            <a:ext cx="640080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max_subarray.pseudo</a:t>
            </a:r>
            <a:endParaRPr sz="900"/>
          </a:p>
        </p:txBody>
      </p:sp>
      <p:sp>
        <p:nvSpPr>
          <p:cNvPr id="17" name="Text 13">
            <a:extLst>
              <a:ext uri="{FF2B5EF4-FFF2-40B4-BE49-F238E27FC236}">
                <a16:creationId xmlns:a16="http://schemas.microsoft.com/office/drawing/2014/main" id="{29A50C1D-9CD5-4EC1-B9A0-0606A160B98D}"/>
              </a:ext>
            </a:extLst>
          </p:cNvPr>
          <p:cNvSpPr>
            <a:spLocks noGrp="1"/>
          </p:cNvSpPr>
          <p:nvPr/>
        </p:nvSpPr>
        <p:spPr>
          <a:xfrm>
            <a:off x="8229600" y="1837944"/>
            <a:ext cx="3108960" cy="237744"/>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기저 사례</a:t>
            </a:r>
            <a:endParaRPr sz="1150"/>
          </a:p>
        </p:txBody>
      </p:sp>
      <p:sp>
        <p:nvSpPr>
          <p:cNvPr id="18" name="Text 14">
            <a:extLst>
              <a:ext uri="{FF2B5EF4-FFF2-40B4-BE49-F238E27FC236}">
                <a16:creationId xmlns:a16="http://schemas.microsoft.com/office/drawing/2014/main" id="{9F233074-B814-41E3-A593-8B315471DCC1}"/>
              </a:ext>
            </a:extLst>
          </p:cNvPr>
          <p:cNvSpPr>
            <a:spLocks noGrp="1"/>
          </p:cNvSpPr>
          <p:nvPr/>
        </p:nvSpPr>
        <p:spPr>
          <a:xfrm>
            <a:off x="8229600" y="2075688"/>
            <a:ext cx="3108960" cy="384048"/>
          </a:xfrm>
          <a:prstGeom prst="rect">
            <a:avLst/>
          </a:prstGeom>
          <a:noFill/>
          <a:ln w="0">
            <a:noFill/>
          </a:ln>
        </p:spPr>
        <p:txBody>
          <a:bodyPr wrap="square" lIns="0" tIns="0" rIns="0" bIns="0" anchor="t">
            <a:noAutofit/>
          </a:bodyPr>
          <a:lstStyle/>
          <a:p>
            <a:pPr marL="0" indent="0" algn="l">
              <a:lnSpc>
                <a:spcPct val="114000"/>
              </a:lnSpc>
              <a:buNone/>
              <a:defRPr sz="1010" i="0">
                <a:solidFill>
                  <a:srgbClr val="171717"/>
                </a:solidFill>
                <a:latin typeface="Malgun Gothic"/>
                <a:ea typeface="Malgun Gothic"/>
                <a:cs typeface="Malgun Gothic"/>
              </a:defRPr>
            </a:pPr>
            <a:r>
              <a:rPr sz="1010" i="0">
                <a:solidFill>
                  <a:srgbClr val="171717"/>
                </a:solidFill>
                <a:latin typeface="Malgun Gothic"/>
                <a:ea typeface="Malgun Gothic"/>
                <a:cs typeface="Malgun Gothic"/>
              </a:rPr>
              <a:t>low == high 이면 원소가 하나뿐이므로 그 값이 곧 최대 구간 합이다.</a:t>
            </a:r>
            <a:endParaRPr sz="1010"/>
          </a:p>
        </p:txBody>
      </p:sp>
      <p:sp>
        <p:nvSpPr>
          <p:cNvPr id="22" name="Text 17">
            <a:extLst>
              <a:ext uri="{FF2B5EF4-FFF2-40B4-BE49-F238E27FC236}">
                <a16:creationId xmlns:a16="http://schemas.microsoft.com/office/drawing/2014/main" id="{5D61AB5C-774B-4903-8992-92358E2DEDCB}"/>
              </a:ext>
            </a:extLst>
          </p:cNvPr>
          <p:cNvSpPr>
            <a:spLocks noGrp="1"/>
          </p:cNvSpPr>
          <p:nvPr/>
        </p:nvSpPr>
        <p:spPr>
          <a:xfrm>
            <a:off x="8229600" y="2706624"/>
            <a:ext cx="3108960" cy="237744"/>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분할</a:t>
            </a:r>
            <a:endParaRPr sz="1150"/>
          </a:p>
        </p:txBody>
      </p:sp>
      <p:sp>
        <p:nvSpPr>
          <p:cNvPr id="23" name="Text 18">
            <a:extLst>
              <a:ext uri="{FF2B5EF4-FFF2-40B4-BE49-F238E27FC236}">
                <a16:creationId xmlns:a16="http://schemas.microsoft.com/office/drawing/2014/main" id="{3ABBAACD-FA23-4085-AA4E-947BE4086A10}"/>
              </a:ext>
            </a:extLst>
          </p:cNvPr>
          <p:cNvSpPr>
            <a:spLocks noGrp="1"/>
          </p:cNvSpPr>
          <p:nvPr/>
        </p:nvSpPr>
        <p:spPr>
          <a:xfrm>
            <a:off x="8229600" y="2944368"/>
            <a:ext cx="3108960" cy="384048"/>
          </a:xfrm>
          <a:prstGeom prst="rect">
            <a:avLst/>
          </a:prstGeom>
          <a:noFill/>
          <a:ln w="0">
            <a:noFill/>
          </a:ln>
        </p:spPr>
        <p:txBody>
          <a:bodyPr wrap="square" lIns="0" tIns="0" rIns="0" bIns="0" anchor="t">
            <a:noAutofit/>
          </a:bodyPr>
          <a:lstStyle/>
          <a:p>
            <a:pPr marL="0" indent="0" algn="l">
              <a:lnSpc>
                <a:spcPct val="114000"/>
              </a:lnSpc>
              <a:buNone/>
              <a:defRPr sz="1010" i="0">
                <a:solidFill>
                  <a:srgbClr val="171717"/>
                </a:solidFill>
                <a:latin typeface="Malgun Gothic"/>
                <a:ea typeface="Malgun Gothic"/>
                <a:cs typeface="Malgun Gothic"/>
              </a:defRPr>
            </a:pPr>
            <a:r>
              <a:rPr sz="1010" i="0">
                <a:solidFill>
                  <a:srgbClr val="171717"/>
                </a:solidFill>
                <a:latin typeface="Malgun Gothic"/>
                <a:ea typeface="Malgun Gothic"/>
                <a:cs typeface="Malgun Gothic"/>
              </a:rPr>
              <a:t>mid를 기준으로 왼쪽·오른쪽 두 개의 절반 문제로 나눈다.</a:t>
            </a:r>
            <a:endParaRPr sz="1010"/>
          </a:p>
        </p:txBody>
      </p:sp>
      <p:sp>
        <p:nvSpPr>
          <p:cNvPr id="27" name="Text 21">
            <a:extLst>
              <a:ext uri="{FF2B5EF4-FFF2-40B4-BE49-F238E27FC236}">
                <a16:creationId xmlns:a16="http://schemas.microsoft.com/office/drawing/2014/main" id="{067CD356-B81E-4C92-A275-239FAE7640A6}"/>
              </a:ext>
            </a:extLst>
          </p:cNvPr>
          <p:cNvSpPr>
            <a:spLocks noGrp="1"/>
          </p:cNvSpPr>
          <p:nvPr/>
        </p:nvSpPr>
        <p:spPr>
          <a:xfrm>
            <a:off x="8229600" y="3575304"/>
            <a:ext cx="3108960" cy="237744"/>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정복</a:t>
            </a:r>
            <a:endParaRPr sz="1150"/>
          </a:p>
        </p:txBody>
      </p:sp>
      <p:sp>
        <p:nvSpPr>
          <p:cNvPr id="28" name="Text 22">
            <a:extLst>
              <a:ext uri="{FF2B5EF4-FFF2-40B4-BE49-F238E27FC236}">
                <a16:creationId xmlns:a16="http://schemas.microsoft.com/office/drawing/2014/main" id="{A5CF09E0-A2E5-4B50-B5B4-97DD980F7D41}"/>
              </a:ext>
            </a:extLst>
          </p:cNvPr>
          <p:cNvSpPr>
            <a:spLocks noGrp="1"/>
          </p:cNvSpPr>
          <p:nvPr/>
        </p:nvSpPr>
        <p:spPr>
          <a:xfrm>
            <a:off x="8229600" y="3813048"/>
            <a:ext cx="3108960" cy="384048"/>
          </a:xfrm>
          <a:prstGeom prst="rect">
            <a:avLst/>
          </a:prstGeom>
          <a:noFill/>
          <a:ln w="0">
            <a:noFill/>
          </a:ln>
        </p:spPr>
        <p:txBody>
          <a:bodyPr wrap="square" lIns="0" tIns="0" rIns="0" bIns="0" anchor="t">
            <a:noAutofit/>
          </a:bodyPr>
          <a:lstStyle/>
          <a:p>
            <a:pPr marL="0" indent="0" algn="l">
              <a:lnSpc>
                <a:spcPct val="114000"/>
              </a:lnSpc>
              <a:buNone/>
              <a:defRPr sz="1010" i="0">
                <a:solidFill>
                  <a:srgbClr val="171717"/>
                </a:solidFill>
                <a:latin typeface="Malgun Gothic"/>
                <a:ea typeface="Malgun Gothic"/>
                <a:cs typeface="Malgun Gothic"/>
              </a:defRPr>
            </a:pPr>
            <a:r>
              <a:rPr sz="1010" i="0">
                <a:solidFill>
                  <a:srgbClr val="171717"/>
                </a:solidFill>
                <a:latin typeface="Malgun Gothic"/>
                <a:ea typeface="Malgun Gothic"/>
                <a:cs typeface="Malgun Gothic"/>
              </a:rPr>
              <a:t>두 절반을 재귀 호출로 해결한다. 문제 크기는 매번 절반이 된다.</a:t>
            </a:r>
            <a:endParaRPr sz="1010"/>
          </a:p>
        </p:txBody>
      </p:sp>
      <p:sp>
        <p:nvSpPr>
          <p:cNvPr id="32" name="Text 25">
            <a:extLst>
              <a:ext uri="{FF2B5EF4-FFF2-40B4-BE49-F238E27FC236}">
                <a16:creationId xmlns:a16="http://schemas.microsoft.com/office/drawing/2014/main" id="{0364A5C6-8108-4250-8EA4-1FCA11F362CC}"/>
              </a:ext>
            </a:extLst>
          </p:cNvPr>
          <p:cNvSpPr>
            <a:spLocks noGrp="1"/>
          </p:cNvSpPr>
          <p:nvPr/>
        </p:nvSpPr>
        <p:spPr>
          <a:xfrm>
            <a:off x="8229600" y="4443984"/>
            <a:ext cx="3108960" cy="237744"/>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결합</a:t>
            </a:r>
            <a:endParaRPr sz="1150"/>
          </a:p>
        </p:txBody>
      </p:sp>
      <p:sp>
        <p:nvSpPr>
          <p:cNvPr id="33" name="Text 26">
            <a:extLst>
              <a:ext uri="{FF2B5EF4-FFF2-40B4-BE49-F238E27FC236}">
                <a16:creationId xmlns:a16="http://schemas.microsoft.com/office/drawing/2014/main" id="{E2D6256D-BFBA-483A-8EC2-B45677CABB04}"/>
              </a:ext>
            </a:extLst>
          </p:cNvPr>
          <p:cNvSpPr>
            <a:spLocks noGrp="1"/>
          </p:cNvSpPr>
          <p:nvPr/>
        </p:nvSpPr>
        <p:spPr>
          <a:xfrm>
            <a:off x="8229600" y="4681728"/>
            <a:ext cx="3108960" cy="384048"/>
          </a:xfrm>
          <a:prstGeom prst="rect">
            <a:avLst/>
          </a:prstGeom>
          <a:noFill/>
          <a:ln w="0">
            <a:noFill/>
          </a:ln>
        </p:spPr>
        <p:txBody>
          <a:bodyPr wrap="square" lIns="0" tIns="0" rIns="0" bIns="0" anchor="t">
            <a:noAutofit/>
          </a:bodyPr>
          <a:lstStyle/>
          <a:p>
            <a:pPr marL="0" indent="0" algn="l">
              <a:lnSpc>
                <a:spcPct val="114000"/>
              </a:lnSpc>
              <a:buNone/>
              <a:defRPr sz="1010" i="0">
                <a:solidFill>
                  <a:srgbClr val="171717"/>
                </a:solidFill>
                <a:latin typeface="Malgun Gothic"/>
                <a:ea typeface="Malgun Gothic"/>
                <a:cs typeface="Malgun Gothic"/>
              </a:defRPr>
            </a:pPr>
            <a:r>
              <a:rPr sz="1010" i="0">
                <a:solidFill>
                  <a:srgbClr val="171717"/>
                </a:solidFill>
                <a:latin typeface="Malgun Gothic"/>
                <a:ea typeface="Malgun Gothic"/>
                <a:cs typeface="Malgun Gothic"/>
              </a:rPr>
              <a:t>걸친 구간을 계산하고, 세 후보 중 최댓값을 돌려준다.</a:t>
            </a:r>
            <a:endParaRPr sz="1010"/>
          </a:p>
        </p:txBody>
      </p:sp>
      <p:sp>
        <p:nvSpPr>
          <p:cNvPr id="35" name="Text 28">
            <a:extLst>
              <a:ext uri="{FF2B5EF4-FFF2-40B4-BE49-F238E27FC236}">
                <a16:creationId xmlns:a16="http://schemas.microsoft.com/office/drawing/2014/main" id="{4061A13B-FED0-4C0F-85B8-6B5CA4D3F2D1}"/>
              </a:ext>
            </a:extLst>
          </p:cNvPr>
          <p:cNvSpPr>
            <a:spLocks noGrp="1"/>
          </p:cNvSpPr>
          <p:nvPr/>
        </p:nvSpPr>
        <p:spPr>
          <a:xfrm>
            <a:off x="795528" y="5321808"/>
            <a:ext cx="10597896" cy="749808"/>
          </a:xfrm>
          <a:prstGeom prst="rect">
            <a:avLst/>
          </a:prstGeom>
          <a:noFill/>
          <a:ln w="0">
            <a:noFill/>
          </a:ln>
        </p:spPr>
        <p:txBody>
          <a:bodyPr wrap="square" lIns="0" tIns="0" rIns="0" bIns="0" anchor="ctr">
            <a:noAutofit/>
          </a:bodyPr>
          <a:lstStyle/>
          <a:p>
            <a:pPr marL="0" indent="0" algn="ctr">
              <a:buNone/>
              <a:defRPr sz="1800"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T(n) = 2T(n/2) + O(n)</a:t>
            </a:r>
            <a:endParaRPr sz="1800"/>
          </a:p>
        </p:txBody>
      </p:sp>
      <p:sp>
        <p:nvSpPr>
          <p:cNvPr id="37" name="직사각형 36">
            <a:extLst>
              <a:ext uri="{FF2B5EF4-FFF2-40B4-BE49-F238E27FC236}">
                <a16:creationId xmlns:a16="http://schemas.microsoft.com/office/drawing/2014/main" id="{3DF83E61-1CC9-4DCF-B791-2CD7D9B0A769}"/>
              </a:ext>
            </a:extLst>
          </p:cNvPr>
          <p:cNvSpPr>
            <a:spLocks noGrp="1"/>
          </p:cNvSpPr>
          <p:nvPr/>
        </p:nvSpPr>
        <p:spPr>
          <a:xfrm>
            <a:off x="7607808" y="1783080"/>
            <a:ext cx="3922776" cy="9525"/>
          </a:xfrm>
          <a:prstGeom prst="rect">
            <a:avLst/>
          </a:prstGeom>
          <a:solidFill>
            <a:srgbClr val="D4D4D4"/>
          </a:solidFill>
          <a:ln w="0">
            <a:noFill/>
          </a:ln>
        </p:spPr>
      </p:sp>
      <p:sp>
        <p:nvSpPr>
          <p:cNvPr id="38" name="직사각형 37">
            <a:extLst>
              <a:ext uri="{FF2B5EF4-FFF2-40B4-BE49-F238E27FC236}">
                <a16:creationId xmlns:a16="http://schemas.microsoft.com/office/drawing/2014/main" id="{E76E2CC6-E952-4E32-A162-63141D23714F}"/>
              </a:ext>
            </a:extLst>
          </p:cNvPr>
          <p:cNvSpPr>
            <a:spLocks noGrp="1"/>
          </p:cNvSpPr>
          <p:nvPr/>
        </p:nvSpPr>
        <p:spPr>
          <a:xfrm>
            <a:off x="698373" y="2090928"/>
            <a:ext cx="6741414" cy="2997708"/>
          </a:xfrm>
          <a:prstGeom prst="rect">
            <a:avLst/>
          </a:prstGeom>
          <a:solidFill>
            <a:srgbClr val="171717"/>
          </a:solidFill>
          <a:ln w="0">
            <a:noFill/>
          </a:ln>
        </p:spPr>
        <p:txBody>
          <a:bodyPr wrap="none" lIns="142875" tIns="76200" rIns="142875" bIns="762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MaxSubarraySum(A, low,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low == high then    // 기저 사례: 원소가 하나</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A[low]</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mid &lt;- floor((low + high) / 2)</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leftMax  &lt;- MaxSubarraySum(A, low, mid)</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rightMax &lt;- MaxSubarraySum(A, mid + 1,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crossMax &lt;- MaxCrossingSum(A, low, mid,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max(leftMax, rightMax, crossMax)</a:t>
            </a:r>
          </a:p>
        </p:txBody>
      </p:sp>
      <p:sp>
        <p:nvSpPr>
          <p:cNvPr id="39" name="직사각형 38">
            <a:extLst>
              <a:ext uri="{FF2B5EF4-FFF2-40B4-BE49-F238E27FC236}">
                <a16:creationId xmlns:a16="http://schemas.microsoft.com/office/drawing/2014/main" id="{37F7417E-0EFD-4A76-AB09-B12DB6160A0B}"/>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40" name="직사각형 39">
            <a:extLst>
              <a:ext uri="{FF2B5EF4-FFF2-40B4-BE49-F238E27FC236}">
                <a16:creationId xmlns:a16="http://schemas.microsoft.com/office/drawing/2014/main" id="{BEAD41D2-B6B8-48A4-8409-6D83D3B9A572}"/>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1" name="직사각형 40">
            <a:extLst>
              <a:ext uri="{FF2B5EF4-FFF2-40B4-BE49-F238E27FC236}">
                <a16:creationId xmlns:a16="http://schemas.microsoft.com/office/drawing/2014/main" id="{7956F4C1-ABF0-400E-B19C-430695F1C2B2}"/>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최대 구간 합 알고리즘 (메인)</a:t>
            </a:r>
          </a:p>
        </p:txBody>
      </p:sp>
      <p:sp>
        <p:nvSpPr>
          <p:cNvPr id="42" name="직사각형 41">
            <a:extLst>
              <a:ext uri="{FF2B5EF4-FFF2-40B4-BE49-F238E27FC236}">
                <a16:creationId xmlns:a16="http://schemas.microsoft.com/office/drawing/2014/main" id="{835BD58C-2422-460D-BA54-C7E3CBA48950}"/>
              </a:ext>
            </a:extLst>
          </p:cNvPr>
          <p:cNvSpPr>
            <a:spLocks noGrp="1"/>
          </p:cNvSpPr>
          <p:nvPr/>
        </p:nvSpPr>
        <p:spPr>
          <a:xfrm>
            <a:off x="609600" y="1381125"/>
            <a:ext cx="10972800" cy="19050"/>
          </a:xfrm>
          <a:prstGeom prst="rect">
            <a:avLst/>
          </a:prstGeom>
          <a:solidFill>
            <a:srgbClr val="171717"/>
          </a:solidFill>
          <a:ln w="0">
            <a:noFill/>
          </a:ln>
        </p:spPr>
      </p:sp>
      <p:sp>
        <p:nvSpPr>
          <p:cNvPr id="43" name="직사각형 42">
            <a:extLst>
              <a:ext uri="{FF2B5EF4-FFF2-40B4-BE49-F238E27FC236}">
                <a16:creationId xmlns:a16="http://schemas.microsoft.com/office/drawing/2014/main" id="{187A862D-3FC8-4699-AF83-A207F2113F28}"/>
              </a:ext>
            </a:extLst>
          </p:cNvPr>
          <p:cNvSpPr>
            <a:spLocks noGrp="1"/>
          </p:cNvSpPr>
          <p:nvPr/>
        </p:nvSpPr>
        <p:spPr>
          <a:xfrm>
            <a:off x="609600" y="6438900"/>
            <a:ext cx="10972800" cy="9525"/>
          </a:xfrm>
          <a:prstGeom prst="rect">
            <a:avLst/>
          </a:prstGeom>
          <a:solidFill>
            <a:srgbClr val="D4D4D4"/>
          </a:solidFill>
          <a:ln w="0">
            <a:noFill/>
          </a:ln>
        </p:spPr>
      </p:sp>
      <p:sp>
        <p:nvSpPr>
          <p:cNvPr id="44" name="직사각형 43">
            <a:extLst>
              <a:ext uri="{FF2B5EF4-FFF2-40B4-BE49-F238E27FC236}">
                <a16:creationId xmlns:a16="http://schemas.microsoft.com/office/drawing/2014/main" id="{74657DB9-BE22-4B43-B2EB-F4A840CD9130}"/>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5" name="직사각형 44">
            <a:extLst>
              <a:ext uri="{FF2B5EF4-FFF2-40B4-BE49-F238E27FC236}">
                <a16:creationId xmlns:a16="http://schemas.microsoft.com/office/drawing/2014/main" id="{6ACA8B73-6F64-4198-A4CD-A3B1ECF34306}"/>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89</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5968863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DE29F31B-7361-4766-B6D2-C40AACC29C2C}"/>
              </a:ext>
            </a:extLst>
          </p:cNvPr>
          <p:cNvSpPr>
            <a:spLocks noGrp="1"/>
          </p:cNvSpPr>
          <p:nvPr/>
        </p:nvSpPr>
        <p:spPr>
          <a:xfrm>
            <a:off x="859536" y="1801368"/>
            <a:ext cx="653796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max_crossing.pseudo</a:t>
            </a:r>
            <a:endParaRPr sz="900"/>
          </a:p>
        </p:txBody>
      </p:sp>
      <p:sp>
        <p:nvSpPr>
          <p:cNvPr id="17" name="Text 13">
            <a:extLst>
              <a:ext uri="{FF2B5EF4-FFF2-40B4-BE49-F238E27FC236}">
                <a16:creationId xmlns:a16="http://schemas.microsoft.com/office/drawing/2014/main" id="{17C139C8-5113-4AB1-AD7F-8A9AE9735540}"/>
              </a:ext>
            </a:extLst>
          </p:cNvPr>
          <p:cNvSpPr>
            <a:spLocks noGrp="1"/>
          </p:cNvSpPr>
          <p:nvPr/>
        </p:nvSpPr>
        <p:spPr>
          <a:xfrm>
            <a:off x="8604504" y="1965960"/>
            <a:ext cx="2670048"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왜 −∞ 로 초기화하는가?</a:t>
            </a:r>
            <a:endParaRPr sz="1250"/>
          </a:p>
        </p:txBody>
      </p:sp>
      <p:sp>
        <p:nvSpPr>
          <p:cNvPr id="18" name="Text 14">
            <a:extLst>
              <a:ext uri="{FF2B5EF4-FFF2-40B4-BE49-F238E27FC236}">
                <a16:creationId xmlns:a16="http://schemas.microsoft.com/office/drawing/2014/main" id="{BDB50999-B29C-491A-AB41-4141C57E7BF7}"/>
              </a:ext>
            </a:extLst>
          </p:cNvPr>
          <p:cNvSpPr>
            <a:spLocks noGrp="1"/>
          </p:cNvSpPr>
          <p:nvPr/>
        </p:nvSpPr>
        <p:spPr>
          <a:xfrm>
            <a:off x="8604504" y="2313432"/>
            <a:ext cx="2670048" cy="786384"/>
          </a:xfrm>
          <a:prstGeom prst="rect">
            <a:avLst/>
          </a:prstGeom>
          <a:noFill/>
          <a:ln w="0">
            <a:noFill/>
          </a:ln>
        </p:spPr>
        <p:txBody>
          <a:bodyPr wrap="square" lIns="0" tIns="0" rIns="0" bIns="0" anchor="t">
            <a:noAutofit/>
          </a:bodyPr>
          <a:lstStyle/>
          <a:p>
            <a:pPr marL="0" indent="0" algn="l">
              <a:lnSpc>
                <a:spcPct val="132000"/>
              </a:lnSpc>
              <a:buNone/>
              <a:defRPr sz="1100" i="0">
                <a:solidFill>
                  <a:srgbClr val="606060"/>
                </a:solidFill>
                <a:latin typeface="Malgun Gothic"/>
                <a:ea typeface="Malgun Gothic"/>
                <a:cs typeface="Malgun Gothic"/>
              </a:defRPr>
            </a:pPr>
            <a:r>
              <a:rPr sz="1100" i="0">
                <a:solidFill>
                  <a:srgbClr val="606060"/>
                </a:solidFill>
                <a:latin typeface="Malgun Gothic"/>
                <a:ea typeface="Malgun Gothic"/>
                <a:cs typeface="Malgun Gothic"/>
              </a:rPr>
              <a:t>모든 원소가 음수인 배열에서도 올바른 최댓값을 찾기 위해서다. 0으로 초기화하면 "아무것도 안 고르는 것"이 최선이 되어 버린다.</a:t>
            </a:r>
            <a:endParaRPr sz="1100"/>
          </a:p>
        </p:txBody>
      </p:sp>
      <p:sp>
        <p:nvSpPr>
          <p:cNvPr id="22" name="Text 17">
            <a:extLst>
              <a:ext uri="{FF2B5EF4-FFF2-40B4-BE49-F238E27FC236}">
                <a16:creationId xmlns:a16="http://schemas.microsoft.com/office/drawing/2014/main" id="{25835E87-C639-47B5-B251-E0C979B847F7}"/>
              </a:ext>
            </a:extLst>
          </p:cNvPr>
          <p:cNvSpPr>
            <a:spLocks noGrp="1"/>
          </p:cNvSpPr>
          <p:nvPr/>
        </p:nvSpPr>
        <p:spPr>
          <a:xfrm>
            <a:off x="8604504" y="3621024"/>
            <a:ext cx="2670048"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mid를 반드시 포함한다</a:t>
            </a:r>
            <a:endParaRPr sz="1250"/>
          </a:p>
        </p:txBody>
      </p:sp>
      <p:sp>
        <p:nvSpPr>
          <p:cNvPr id="23" name="Text 18">
            <a:extLst>
              <a:ext uri="{FF2B5EF4-FFF2-40B4-BE49-F238E27FC236}">
                <a16:creationId xmlns:a16="http://schemas.microsoft.com/office/drawing/2014/main" id="{8097490A-2F01-4CF1-ADC6-455A8C8810CB}"/>
              </a:ext>
            </a:extLst>
          </p:cNvPr>
          <p:cNvSpPr>
            <a:spLocks noGrp="1"/>
          </p:cNvSpPr>
          <p:nvPr/>
        </p:nvSpPr>
        <p:spPr>
          <a:xfrm>
            <a:off x="8604504" y="3968496"/>
            <a:ext cx="2670048" cy="640080"/>
          </a:xfrm>
          <a:prstGeom prst="rect">
            <a:avLst/>
          </a:prstGeom>
          <a:noFill/>
          <a:ln w="0">
            <a:noFill/>
          </a:ln>
        </p:spPr>
        <p:txBody>
          <a:bodyPr wrap="square" lIns="0" tIns="0" rIns="0" bIns="0" anchor="t">
            <a:noAutofit/>
          </a:bodyPr>
          <a:lstStyle/>
          <a:p>
            <a:pPr marL="0" indent="0" algn="l">
              <a:lnSpc>
                <a:spcPct val="132000"/>
              </a:lnSpc>
              <a:buNone/>
              <a:defRPr sz="1100" i="0">
                <a:solidFill>
                  <a:srgbClr val="606060"/>
                </a:solidFill>
                <a:latin typeface="Malgun Gothic"/>
                <a:ea typeface="Malgun Gothic"/>
                <a:cs typeface="Malgun Gothic"/>
              </a:defRPr>
            </a:pPr>
            <a:r>
              <a:rPr sz="1100" i="0">
                <a:solidFill>
                  <a:srgbClr val="606060"/>
                </a:solidFill>
                <a:latin typeface="Malgun Gothic"/>
                <a:ea typeface="Malgun Gothic"/>
                <a:cs typeface="Malgun Gothic"/>
              </a:rPr>
              <a:t>왼쪽 스캔은 mid에서 출발하고 오른쪽 스캔은 mid+1에서 출발하므로, 두 구간은 항상 경계선을 가로지른다.</a:t>
            </a:r>
            <a:endParaRPr sz="1100"/>
          </a:p>
        </p:txBody>
      </p:sp>
      <p:sp>
        <p:nvSpPr>
          <p:cNvPr id="25" name="Text 20">
            <a:extLst>
              <a:ext uri="{FF2B5EF4-FFF2-40B4-BE49-F238E27FC236}">
                <a16:creationId xmlns:a16="http://schemas.microsoft.com/office/drawing/2014/main" id="{6B946887-0EC2-4E87-9228-E0ADE64B7FA7}"/>
              </a:ext>
            </a:extLst>
          </p:cNvPr>
          <p:cNvSpPr>
            <a:spLocks noGrp="1"/>
          </p:cNvSpPr>
          <p:nvPr/>
        </p:nvSpPr>
        <p:spPr>
          <a:xfrm>
            <a:off x="7882128" y="4956048"/>
            <a:ext cx="3511296" cy="658368"/>
          </a:xfrm>
          <a:prstGeom prst="rect">
            <a:avLst/>
          </a:prstGeom>
          <a:noFill/>
          <a:ln w="0">
            <a:noFill/>
          </a:ln>
        </p:spPr>
        <p:txBody>
          <a:bodyPr wrap="square" lIns="0" tIns="0" rIns="0" bIns="0" anchor="ctr">
            <a:noAutofit/>
          </a:bodyPr>
          <a:lstStyle/>
          <a:p>
            <a:pPr marL="0" indent="0" algn="ctr">
              <a:buNone/>
              <a:defRPr sz="1600" i="0">
                <a:solidFill>
                  <a:srgbClr val="171717"/>
                </a:solidFill>
                <a:latin typeface="Malgun Gothic"/>
                <a:ea typeface="Malgun Gothic"/>
                <a:cs typeface="Malgun Gothic"/>
              </a:defRPr>
            </a:pPr>
            <a:r>
              <a:rPr sz="1600" b="1" i="0">
                <a:solidFill>
                  <a:srgbClr val="171717"/>
                </a:solidFill>
                <a:latin typeface="Malgun Gothic"/>
                <a:ea typeface="Malgun Gothic"/>
                <a:cs typeface="Malgun Gothic"/>
              </a:rPr>
              <a:t>비용: O(n)</a:t>
            </a:r>
            <a:endParaRPr sz="1600"/>
          </a:p>
        </p:txBody>
      </p:sp>
      <p:sp>
        <p:nvSpPr>
          <p:cNvPr id="27" name="직사각형 26">
            <a:extLst>
              <a:ext uri="{FF2B5EF4-FFF2-40B4-BE49-F238E27FC236}">
                <a16:creationId xmlns:a16="http://schemas.microsoft.com/office/drawing/2014/main" id="{D19743F3-D9B5-4C2F-9A9C-AEBAFFB1AD19}"/>
              </a:ext>
            </a:extLst>
          </p:cNvPr>
          <p:cNvSpPr>
            <a:spLocks noGrp="1"/>
          </p:cNvSpPr>
          <p:nvPr/>
        </p:nvSpPr>
        <p:spPr>
          <a:xfrm>
            <a:off x="7744968" y="1783080"/>
            <a:ext cx="3785616" cy="9525"/>
          </a:xfrm>
          <a:prstGeom prst="rect">
            <a:avLst/>
          </a:prstGeom>
          <a:solidFill>
            <a:srgbClr val="D4D4D4"/>
          </a:solidFill>
          <a:ln w="0">
            <a:noFill/>
          </a:ln>
        </p:spPr>
      </p:sp>
      <p:sp>
        <p:nvSpPr>
          <p:cNvPr id="28" name="직사각형 27">
            <a:extLst>
              <a:ext uri="{FF2B5EF4-FFF2-40B4-BE49-F238E27FC236}">
                <a16:creationId xmlns:a16="http://schemas.microsoft.com/office/drawing/2014/main" id="{49E1D910-BE70-4308-87C5-99DE44A0822F}"/>
              </a:ext>
            </a:extLst>
          </p:cNvPr>
          <p:cNvSpPr>
            <a:spLocks noGrp="1"/>
          </p:cNvSpPr>
          <p:nvPr/>
        </p:nvSpPr>
        <p:spPr>
          <a:xfrm>
            <a:off x="698373" y="2090928"/>
            <a:ext cx="6878574" cy="3637788"/>
          </a:xfrm>
          <a:prstGeom prst="rect">
            <a:avLst/>
          </a:prstGeom>
          <a:solidFill>
            <a:srgbClr val="171717"/>
          </a:solidFill>
          <a:ln w="0">
            <a:noFill/>
          </a:ln>
        </p:spPr>
        <p:txBody>
          <a:bodyPr wrap="none" lIns="142875" tIns="76200" rIns="142875" bIns="762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MaxCrossingSum(A, low, mid,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leftSum &lt;- -INF</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sum &lt;- 0</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i &lt;- mid downto low do</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sum &lt;- sum + A[i]</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sum &gt; leftSum then leftSum &lt;- sum</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rightSum &lt;- -INF</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sum &lt;- 0</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j &lt;- mid + 1 to high do</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sum &lt;- sum + A[j]</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sum &gt; rightSum then rightSum &lt;- sum</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leftSum + rightSum</a:t>
            </a:r>
          </a:p>
        </p:txBody>
      </p:sp>
      <p:sp>
        <p:nvSpPr>
          <p:cNvPr id="29" name="직사각형 28">
            <a:extLst>
              <a:ext uri="{FF2B5EF4-FFF2-40B4-BE49-F238E27FC236}">
                <a16:creationId xmlns:a16="http://schemas.microsoft.com/office/drawing/2014/main" id="{D360D68A-1A0D-4E08-9E29-92420A497869}"/>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30" name="직사각형 29">
            <a:extLst>
              <a:ext uri="{FF2B5EF4-FFF2-40B4-BE49-F238E27FC236}">
                <a16:creationId xmlns:a16="http://schemas.microsoft.com/office/drawing/2014/main" id="{AF0F6064-E940-4B0A-9910-C22211787C9F}"/>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1" name="직사각형 30">
            <a:extLst>
              <a:ext uri="{FF2B5EF4-FFF2-40B4-BE49-F238E27FC236}">
                <a16:creationId xmlns:a16="http://schemas.microsoft.com/office/drawing/2014/main" id="{9501E52F-7C00-4A99-A1AA-6FC8E01B8F5C}"/>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최대 구간 합 알고리즘 (걸친 구간)</a:t>
            </a:r>
          </a:p>
        </p:txBody>
      </p:sp>
      <p:sp>
        <p:nvSpPr>
          <p:cNvPr id="32" name="직사각형 31">
            <a:extLst>
              <a:ext uri="{FF2B5EF4-FFF2-40B4-BE49-F238E27FC236}">
                <a16:creationId xmlns:a16="http://schemas.microsoft.com/office/drawing/2014/main" id="{C0AE94CE-C66A-4CA9-A2FC-A183D0E1DF55}"/>
              </a:ext>
            </a:extLst>
          </p:cNvPr>
          <p:cNvSpPr>
            <a:spLocks noGrp="1"/>
          </p:cNvSpPr>
          <p:nvPr/>
        </p:nvSpPr>
        <p:spPr>
          <a:xfrm>
            <a:off x="609600" y="1381125"/>
            <a:ext cx="10972800" cy="19050"/>
          </a:xfrm>
          <a:prstGeom prst="rect">
            <a:avLst/>
          </a:prstGeom>
          <a:solidFill>
            <a:srgbClr val="171717"/>
          </a:solidFill>
          <a:ln w="0">
            <a:noFill/>
          </a:ln>
        </p:spPr>
      </p:sp>
      <p:sp>
        <p:nvSpPr>
          <p:cNvPr id="33" name="직사각형 32">
            <a:extLst>
              <a:ext uri="{FF2B5EF4-FFF2-40B4-BE49-F238E27FC236}">
                <a16:creationId xmlns:a16="http://schemas.microsoft.com/office/drawing/2014/main" id="{4535C265-0841-4004-9FEA-3CE902BA432A}"/>
              </a:ext>
            </a:extLst>
          </p:cNvPr>
          <p:cNvSpPr>
            <a:spLocks noGrp="1"/>
          </p:cNvSpPr>
          <p:nvPr/>
        </p:nvSpPr>
        <p:spPr>
          <a:xfrm>
            <a:off x="609600" y="6438900"/>
            <a:ext cx="10972800"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33BD4624-56DD-4EEB-8284-E10304A2E2AB}"/>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5" name="직사각형 34">
            <a:extLst>
              <a:ext uri="{FF2B5EF4-FFF2-40B4-BE49-F238E27FC236}">
                <a16:creationId xmlns:a16="http://schemas.microsoft.com/office/drawing/2014/main" id="{0C01E632-F4BD-46C2-83D9-25A97745B350}"/>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90</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87624431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AEFABF8F-933F-4E3B-8560-FA92F2E4C541}"/>
              </a:ext>
            </a:extLst>
          </p:cNvPr>
          <p:cNvSpPr>
            <a:spLocks noGrp="1"/>
          </p:cNvSpPr>
          <p:nvPr/>
        </p:nvSpPr>
        <p:spPr>
          <a:xfrm>
            <a:off x="859536" y="1801368"/>
            <a:ext cx="713232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max_crossing_sum.py</a:t>
            </a:r>
            <a:endParaRPr sz="900"/>
          </a:p>
        </p:txBody>
      </p:sp>
      <p:sp>
        <p:nvSpPr>
          <p:cNvPr id="17" name="Text 13">
            <a:extLst>
              <a:ext uri="{FF2B5EF4-FFF2-40B4-BE49-F238E27FC236}">
                <a16:creationId xmlns:a16="http://schemas.microsoft.com/office/drawing/2014/main" id="{0235F74B-FD9D-40E3-8C61-338883D9AF87}"/>
              </a:ext>
            </a:extLst>
          </p:cNvPr>
          <p:cNvSpPr>
            <a:spLocks noGrp="1"/>
          </p:cNvSpPr>
          <p:nvPr/>
        </p:nvSpPr>
        <p:spPr>
          <a:xfrm>
            <a:off x="9198864" y="1965960"/>
            <a:ext cx="2075688" cy="292608"/>
          </a:xfrm>
          <a:prstGeom prst="rect">
            <a:avLst/>
          </a:prstGeom>
          <a:noFill/>
          <a:ln w="0">
            <a:noFill/>
          </a:ln>
        </p:spPr>
        <p:txBody>
          <a:bodyPr wrap="square" lIns="0" tIns="0" rIns="0" bIns="0" anchor="ctr">
            <a:noAutofit/>
          </a:bodyPr>
          <a:lstStyle/>
          <a:p>
            <a:pPr marL="0" indent="0" algn="l">
              <a:buNone/>
              <a:defRPr sz="1200" i="0">
                <a:solidFill>
                  <a:srgbClr val="171717"/>
                </a:solidFill>
                <a:latin typeface="Malgun Gothic"/>
                <a:ea typeface="Malgun Gothic"/>
                <a:cs typeface="Malgun Gothic"/>
              </a:defRPr>
            </a:pPr>
            <a:r>
              <a:rPr sz="1200" b="1" i="0">
                <a:solidFill>
                  <a:srgbClr val="171717"/>
                </a:solidFill>
                <a:latin typeface="Malgun Gothic"/>
                <a:ea typeface="Malgun Gothic"/>
                <a:cs typeface="Malgun Gothic"/>
              </a:rPr>
              <a:t>range의 끝은 포함되지 않는다</a:t>
            </a:r>
            <a:endParaRPr sz="1200"/>
          </a:p>
        </p:txBody>
      </p:sp>
      <p:sp>
        <p:nvSpPr>
          <p:cNvPr id="18" name="Text 14">
            <a:extLst>
              <a:ext uri="{FF2B5EF4-FFF2-40B4-BE49-F238E27FC236}">
                <a16:creationId xmlns:a16="http://schemas.microsoft.com/office/drawing/2014/main" id="{7E95B23A-2D6A-4310-806C-D75BA0B7D19A}"/>
              </a:ext>
            </a:extLst>
          </p:cNvPr>
          <p:cNvSpPr>
            <a:spLocks noGrp="1"/>
          </p:cNvSpPr>
          <p:nvPr/>
        </p:nvSpPr>
        <p:spPr>
          <a:xfrm>
            <a:off x="9198864" y="2313432"/>
            <a:ext cx="2075688" cy="1143000"/>
          </a:xfrm>
          <a:prstGeom prst="rect">
            <a:avLst/>
          </a:prstGeom>
          <a:noFill/>
          <a:ln w="0">
            <a:noFill/>
          </a:ln>
        </p:spPr>
        <p:txBody>
          <a:bodyPr wrap="square" lIns="0" tIns="0" rIns="0" bIns="0" anchor="t">
            <a:noAutofit/>
          </a:bodyPr>
          <a:lstStyle/>
          <a:p>
            <a:pPr marL="0" indent="0" algn="l">
              <a:lnSpc>
                <a:spcPct val="132000"/>
              </a:lnSpc>
              <a:buNone/>
              <a:defRPr sz="1080" i="0">
                <a:solidFill>
                  <a:srgbClr val="171717"/>
                </a:solidFill>
                <a:latin typeface="Malgun Gothic"/>
                <a:ea typeface="Malgun Gothic"/>
                <a:cs typeface="Malgun Gothic"/>
              </a:defRPr>
            </a:pPr>
            <a:r>
              <a:rPr sz="1080" i="0">
                <a:solidFill>
                  <a:srgbClr val="171717"/>
                </a:solidFill>
                <a:latin typeface="Malgun Gothic"/>
                <a:ea typeface="Malgun Gothic"/>
                <a:cs typeface="Malgun Gothic"/>
              </a:rPr>
              <a:t>mid부터 low까지 거꾸로 돌려면 range(mid, low − 1, −1)로 써야 low가 포함된다.</a:t>
            </a:r>
            <a:endParaRPr sz="1080"/>
          </a:p>
        </p:txBody>
      </p:sp>
      <p:sp>
        <p:nvSpPr>
          <p:cNvPr id="22" name="Text 17">
            <a:extLst>
              <a:ext uri="{FF2B5EF4-FFF2-40B4-BE49-F238E27FC236}">
                <a16:creationId xmlns:a16="http://schemas.microsoft.com/office/drawing/2014/main" id="{23BE23EE-53CF-4E0D-B86A-589F5ED79E88}"/>
              </a:ext>
            </a:extLst>
          </p:cNvPr>
          <p:cNvSpPr>
            <a:spLocks noGrp="1"/>
          </p:cNvSpPr>
          <p:nvPr/>
        </p:nvSpPr>
        <p:spPr>
          <a:xfrm>
            <a:off x="9198864" y="3977640"/>
            <a:ext cx="2075688" cy="292608"/>
          </a:xfrm>
          <a:prstGeom prst="rect">
            <a:avLst/>
          </a:prstGeom>
          <a:noFill/>
          <a:ln w="0">
            <a:noFill/>
          </a:ln>
        </p:spPr>
        <p:txBody>
          <a:bodyPr wrap="square" lIns="0" tIns="0" rIns="0" bIns="0" anchor="ctr">
            <a:noAutofit/>
          </a:bodyPr>
          <a:lstStyle/>
          <a:p>
            <a:pPr marL="0" indent="0" algn="l">
              <a:buNone/>
              <a:defRPr sz="1200" i="0">
                <a:solidFill>
                  <a:srgbClr val="171717"/>
                </a:solidFill>
                <a:latin typeface="Malgun Gothic"/>
                <a:ea typeface="Malgun Gothic"/>
                <a:cs typeface="Malgun Gothic"/>
              </a:defRPr>
            </a:pPr>
            <a:r>
              <a:rPr sz="1200" b="1" i="0">
                <a:solidFill>
                  <a:srgbClr val="171717"/>
                </a:solidFill>
                <a:latin typeface="Malgun Gothic"/>
                <a:ea typeface="Malgun Gothic"/>
                <a:cs typeface="Malgun Gothic"/>
              </a:rPr>
              <a:t>한 번의 선형 스캔</a:t>
            </a:r>
            <a:endParaRPr sz="1200"/>
          </a:p>
        </p:txBody>
      </p:sp>
      <p:sp>
        <p:nvSpPr>
          <p:cNvPr id="23" name="Text 18">
            <a:extLst>
              <a:ext uri="{FF2B5EF4-FFF2-40B4-BE49-F238E27FC236}">
                <a16:creationId xmlns:a16="http://schemas.microsoft.com/office/drawing/2014/main" id="{7D58712E-7228-481F-A184-C316B48A16F6}"/>
              </a:ext>
            </a:extLst>
          </p:cNvPr>
          <p:cNvSpPr>
            <a:spLocks noGrp="1"/>
          </p:cNvSpPr>
          <p:nvPr/>
        </p:nvSpPr>
        <p:spPr>
          <a:xfrm>
            <a:off x="9198864" y="4325112"/>
            <a:ext cx="2075688" cy="1371600"/>
          </a:xfrm>
          <a:prstGeom prst="rect">
            <a:avLst/>
          </a:prstGeom>
          <a:noFill/>
          <a:ln w="0">
            <a:noFill/>
          </a:ln>
        </p:spPr>
        <p:txBody>
          <a:bodyPr wrap="square" lIns="0" tIns="0" rIns="0" bIns="0" anchor="t">
            <a:noAutofit/>
          </a:bodyPr>
          <a:lstStyle/>
          <a:p>
            <a:pPr marL="0" indent="0" algn="l">
              <a:lnSpc>
                <a:spcPct val="132000"/>
              </a:lnSpc>
              <a:buNone/>
              <a:defRPr sz="1080" i="0">
                <a:solidFill>
                  <a:srgbClr val="606060"/>
                </a:solidFill>
                <a:latin typeface="Malgun Gothic"/>
                <a:ea typeface="Malgun Gothic"/>
                <a:cs typeface="Malgun Gothic"/>
              </a:defRPr>
            </a:pPr>
            <a:r>
              <a:rPr sz="1080" i="0">
                <a:solidFill>
                  <a:srgbClr val="606060"/>
                </a:solidFill>
                <a:latin typeface="Malgun Gothic"/>
                <a:ea typeface="Malgun Gothic"/>
                <a:cs typeface="Malgun Gothic"/>
              </a:rPr>
              <a:t>왼쪽 스캔과 오른쪽 스캔 모두 각 원소를 한 번씩만 훑는다. 따라서 이 함수의 비용은 구간 길이에 비례하는 O(n)이다.</a:t>
            </a:r>
            <a:endParaRPr sz="1080"/>
          </a:p>
        </p:txBody>
      </p:sp>
      <p:sp>
        <p:nvSpPr>
          <p:cNvPr id="25" name="직사각형 24">
            <a:extLst>
              <a:ext uri="{FF2B5EF4-FFF2-40B4-BE49-F238E27FC236}">
                <a16:creationId xmlns:a16="http://schemas.microsoft.com/office/drawing/2014/main" id="{B4E1626C-2F70-4422-A023-417036C51B06}"/>
              </a:ext>
            </a:extLst>
          </p:cNvPr>
          <p:cNvSpPr>
            <a:spLocks noGrp="1"/>
          </p:cNvSpPr>
          <p:nvPr/>
        </p:nvSpPr>
        <p:spPr>
          <a:xfrm>
            <a:off x="8339328" y="1783080"/>
            <a:ext cx="3191256" cy="9525"/>
          </a:xfrm>
          <a:prstGeom prst="rect">
            <a:avLst/>
          </a:prstGeom>
          <a:solidFill>
            <a:srgbClr val="D4D4D4"/>
          </a:solidFill>
          <a:ln w="0">
            <a:noFill/>
          </a:ln>
        </p:spPr>
      </p:sp>
      <p:sp>
        <p:nvSpPr>
          <p:cNvPr id="26" name="직사각형 25">
            <a:extLst>
              <a:ext uri="{FF2B5EF4-FFF2-40B4-BE49-F238E27FC236}">
                <a16:creationId xmlns:a16="http://schemas.microsoft.com/office/drawing/2014/main" id="{48C2580C-AE2B-4786-8DAF-D84A53426332}"/>
              </a:ext>
            </a:extLst>
          </p:cNvPr>
          <p:cNvSpPr>
            <a:spLocks noGrp="1"/>
          </p:cNvSpPr>
          <p:nvPr/>
        </p:nvSpPr>
        <p:spPr>
          <a:xfrm>
            <a:off x="8339328" y="3794760"/>
            <a:ext cx="3191256" cy="9525"/>
          </a:xfrm>
          <a:prstGeom prst="rect">
            <a:avLst/>
          </a:prstGeom>
          <a:solidFill>
            <a:srgbClr val="D4D4D4"/>
          </a:solidFill>
          <a:ln w="0">
            <a:noFill/>
          </a:ln>
        </p:spPr>
      </p:sp>
      <p:sp>
        <p:nvSpPr>
          <p:cNvPr id="27" name="직사각형 26">
            <a:extLst>
              <a:ext uri="{FF2B5EF4-FFF2-40B4-BE49-F238E27FC236}">
                <a16:creationId xmlns:a16="http://schemas.microsoft.com/office/drawing/2014/main" id="{C7128CB5-81F5-4198-89CD-26A431F10A4C}"/>
              </a:ext>
            </a:extLst>
          </p:cNvPr>
          <p:cNvSpPr>
            <a:spLocks noGrp="1"/>
          </p:cNvSpPr>
          <p:nvPr/>
        </p:nvSpPr>
        <p:spPr>
          <a:xfrm>
            <a:off x="698373" y="2090928"/>
            <a:ext cx="7472934" cy="3774948"/>
          </a:xfrm>
          <a:prstGeom prst="rect">
            <a:avLst/>
          </a:prstGeom>
          <a:solidFill>
            <a:srgbClr val="171717"/>
          </a:solidFill>
          <a:ln w="0">
            <a:noFill/>
          </a:ln>
        </p:spPr>
        <p:txBody>
          <a:bodyPr wrap="none" lIns="142875" tIns="76200" rIns="142875" bIns="76200" anchor="t">
            <a:noAutofit/>
          </a:bodyPr>
          <a:lstStyle/>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def max_crossing_sum(arr, low, mid, high):</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left_sum = float('-inf')</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current_sum = 0</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for i in range(mid, low - 1, -1):</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current_sum += arr[i]</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if current_sum &gt; left_sum:</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left_sum = current_sum</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right_sum = float('-inf')</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current_sum = 0</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for i in range(mid + 1, high + 1):</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current_sum += arr[i]</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if current_sum &gt; right_sum:</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right_sum = current_sum</a:t>
            </a:r>
          </a:p>
          <a:p>
            <a:pPr algn="l">
              <a:lnSpc>
                <a:spcPct val="103000"/>
              </a:lnSpc>
              <a:buNone/>
              <a:defRPr sz="1425" b="0" i="0">
                <a:solidFill>
                  <a:srgbClr val="FFFFFF"/>
                </a:solidFill>
                <a:latin typeface="Consolas"/>
                <a:ea typeface="Consolas"/>
                <a:cs typeface="Consolas"/>
              </a:defRPr>
            </a:pPr>
            <a:r>
              <a:rPr sz="1425" b="0" i="0">
                <a:solidFill>
                  <a:srgbClr val="FFFFFF"/>
                </a:solidFill>
                <a:latin typeface="Consolas"/>
                <a:ea typeface="Consolas"/>
                <a:cs typeface="Consolas"/>
              </a:rPr>
              <a:t>    return left_sum + right_sum</a:t>
            </a:r>
          </a:p>
        </p:txBody>
      </p:sp>
      <p:sp>
        <p:nvSpPr>
          <p:cNvPr id="28" name="직사각형 27">
            <a:extLst>
              <a:ext uri="{FF2B5EF4-FFF2-40B4-BE49-F238E27FC236}">
                <a16:creationId xmlns:a16="http://schemas.microsoft.com/office/drawing/2014/main" id="{1003254D-DA76-4FF6-B669-5FE82F08DF5B}"/>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29" name="직사각형 28">
            <a:extLst>
              <a:ext uri="{FF2B5EF4-FFF2-40B4-BE49-F238E27FC236}">
                <a16:creationId xmlns:a16="http://schemas.microsoft.com/office/drawing/2014/main" id="{6262A71E-4B9D-495A-A82F-2E1354FD007B}"/>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0" name="직사각형 29">
            <a:extLst>
              <a:ext uri="{FF2B5EF4-FFF2-40B4-BE49-F238E27FC236}">
                <a16:creationId xmlns:a16="http://schemas.microsoft.com/office/drawing/2014/main" id="{DE463BFD-83CD-4F34-834C-27D5CED29AF2}"/>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파이썬 구현 — 걸친 구간 (combine)</a:t>
            </a:r>
          </a:p>
        </p:txBody>
      </p:sp>
      <p:sp>
        <p:nvSpPr>
          <p:cNvPr id="31" name="직사각형 30">
            <a:extLst>
              <a:ext uri="{FF2B5EF4-FFF2-40B4-BE49-F238E27FC236}">
                <a16:creationId xmlns:a16="http://schemas.microsoft.com/office/drawing/2014/main" id="{B3E7D7F4-8034-434C-944F-58BF3F0AAC2A}"/>
              </a:ext>
            </a:extLst>
          </p:cNvPr>
          <p:cNvSpPr>
            <a:spLocks noGrp="1"/>
          </p:cNvSpPr>
          <p:nvPr/>
        </p:nvSpPr>
        <p:spPr>
          <a:xfrm>
            <a:off x="609600" y="1381125"/>
            <a:ext cx="10972800" cy="19050"/>
          </a:xfrm>
          <a:prstGeom prst="rect">
            <a:avLst/>
          </a:prstGeom>
          <a:solidFill>
            <a:srgbClr val="171717"/>
          </a:solidFill>
          <a:ln w="0">
            <a:noFill/>
          </a:ln>
        </p:spPr>
      </p:sp>
      <p:sp>
        <p:nvSpPr>
          <p:cNvPr id="32" name="직사각형 31">
            <a:extLst>
              <a:ext uri="{FF2B5EF4-FFF2-40B4-BE49-F238E27FC236}">
                <a16:creationId xmlns:a16="http://schemas.microsoft.com/office/drawing/2014/main" id="{3B3E9446-3DEF-4334-A48C-5541723514DB}"/>
              </a:ext>
            </a:extLst>
          </p:cNvPr>
          <p:cNvSpPr>
            <a:spLocks noGrp="1"/>
          </p:cNvSpPr>
          <p:nvPr/>
        </p:nvSpPr>
        <p:spPr>
          <a:xfrm>
            <a:off x="609600" y="6438900"/>
            <a:ext cx="10972800" cy="9525"/>
          </a:xfrm>
          <a:prstGeom prst="rect">
            <a:avLst/>
          </a:prstGeom>
          <a:solidFill>
            <a:srgbClr val="D4D4D4"/>
          </a:solidFill>
          <a:ln w="0">
            <a:noFill/>
          </a:ln>
        </p:spPr>
      </p:sp>
      <p:sp>
        <p:nvSpPr>
          <p:cNvPr id="33" name="직사각형 32">
            <a:extLst>
              <a:ext uri="{FF2B5EF4-FFF2-40B4-BE49-F238E27FC236}">
                <a16:creationId xmlns:a16="http://schemas.microsoft.com/office/drawing/2014/main" id="{DDFBFC64-6683-4A35-8733-5D8BADDF427A}"/>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4" name="직사각형 33">
            <a:extLst>
              <a:ext uri="{FF2B5EF4-FFF2-40B4-BE49-F238E27FC236}">
                <a16:creationId xmlns:a16="http://schemas.microsoft.com/office/drawing/2014/main" id="{E809C184-224B-42BC-B5E0-EBED5438911D}"/>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91</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20749773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16694097-DF91-43F6-85B0-2D9D15533034}"/>
              </a:ext>
            </a:extLst>
          </p:cNvPr>
          <p:cNvSpPr>
            <a:spLocks noGrp="1"/>
          </p:cNvSpPr>
          <p:nvPr/>
        </p:nvSpPr>
        <p:spPr>
          <a:xfrm>
            <a:off x="859536" y="1801368"/>
            <a:ext cx="653796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max_subarray_sum.py</a:t>
            </a:r>
            <a:endParaRPr sz="900"/>
          </a:p>
        </p:txBody>
      </p:sp>
      <p:sp>
        <p:nvSpPr>
          <p:cNvPr id="20" name="Text 17">
            <a:extLst>
              <a:ext uri="{FF2B5EF4-FFF2-40B4-BE49-F238E27FC236}">
                <a16:creationId xmlns:a16="http://schemas.microsoft.com/office/drawing/2014/main" id="{015E184B-6612-4C13-86AB-283701B821E0}"/>
              </a:ext>
            </a:extLst>
          </p:cNvPr>
          <p:cNvSpPr>
            <a:spLocks noGrp="1"/>
          </p:cNvSpPr>
          <p:nvPr/>
        </p:nvSpPr>
        <p:spPr>
          <a:xfrm>
            <a:off x="859536" y="5029200"/>
            <a:ext cx="653796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run.py</a:t>
            </a:r>
            <a:endParaRPr sz="900"/>
          </a:p>
        </p:txBody>
      </p:sp>
      <p:sp>
        <p:nvSpPr>
          <p:cNvPr id="25" name="Text 21">
            <a:extLst>
              <a:ext uri="{FF2B5EF4-FFF2-40B4-BE49-F238E27FC236}">
                <a16:creationId xmlns:a16="http://schemas.microsoft.com/office/drawing/2014/main" id="{C3EDFC22-4C07-4FF5-A424-B3534AB074D7}"/>
              </a:ext>
            </a:extLst>
          </p:cNvPr>
          <p:cNvSpPr>
            <a:spLocks noGrp="1"/>
          </p:cNvSpPr>
          <p:nvPr/>
        </p:nvSpPr>
        <p:spPr>
          <a:xfrm>
            <a:off x="8604504" y="1965960"/>
            <a:ext cx="2670048"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세 개의 후보</a:t>
            </a:r>
            <a:endParaRPr sz="1250"/>
          </a:p>
        </p:txBody>
      </p:sp>
      <p:sp>
        <p:nvSpPr>
          <p:cNvPr id="26" name="Text 22">
            <a:extLst>
              <a:ext uri="{FF2B5EF4-FFF2-40B4-BE49-F238E27FC236}">
                <a16:creationId xmlns:a16="http://schemas.microsoft.com/office/drawing/2014/main" id="{38633C52-421F-4EBB-9A57-B883A6EC1756}"/>
              </a:ext>
            </a:extLst>
          </p:cNvPr>
          <p:cNvSpPr>
            <a:spLocks noGrp="1"/>
          </p:cNvSpPr>
          <p:nvPr/>
        </p:nvSpPr>
        <p:spPr>
          <a:xfrm>
            <a:off x="8604504" y="2313432"/>
            <a:ext cx="2670048" cy="841248"/>
          </a:xfrm>
          <a:prstGeom prst="rect">
            <a:avLst/>
          </a:prstGeom>
          <a:noFill/>
          <a:ln w="0">
            <a:noFill/>
          </a:ln>
        </p:spPr>
        <p:txBody>
          <a:bodyPr wrap="square" lIns="0" tIns="0" rIns="0" bIns="0" anchor="t">
            <a:noAutofit/>
          </a:bodyPr>
          <a:lstStyle/>
          <a:p>
            <a:pPr marL="0" indent="0" algn="l">
              <a:lnSpc>
                <a:spcPct val="132000"/>
              </a:lnSpc>
              <a:buNone/>
              <a:defRPr sz="1100" i="0">
                <a:solidFill>
                  <a:srgbClr val="606060"/>
                </a:solidFill>
                <a:latin typeface="Malgun Gothic"/>
                <a:ea typeface="Malgun Gothic"/>
                <a:cs typeface="Malgun Gothic"/>
              </a:defRPr>
            </a:pPr>
            <a:r>
              <a:rPr sz="1100" i="0">
                <a:solidFill>
                  <a:srgbClr val="606060"/>
                </a:solidFill>
                <a:latin typeface="Malgun Gothic"/>
                <a:ea typeface="Malgun Gothic"/>
                <a:cs typeface="Malgun Gothic"/>
              </a:rPr>
              <a:t>왼쪽 절반의 최대, 오른쪽 절반의 최대, 그리고 중앙을 걸친 최대. 파이썬 내장 max()로 셋 중 가장 큰 값을 고른다.</a:t>
            </a:r>
            <a:endParaRPr sz="1100"/>
          </a:p>
        </p:txBody>
      </p:sp>
      <p:sp>
        <p:nvSpPr>
          <p:cNvPr id="28" name="Text 24">
            <a:extLst>
              <a:ext uri="{FF2B5EF4-FFF2-40B4-BE49-F238E27FC236}">
                <a16:creationId xmlns:a16="http://schemas.microsoft.com/office/drawing/2014/main" id="{A5ACA81C-DB28-4CE9-A451-A7206D2910BC}"/>
              </a:ext>
            </a:extLst>
          </p:cNvPr>
          <p:cNvSpPr>
            <a:spLocks noGrp="1"/>
          </p:cNvSpPr>
          <p:nvPr/>
        </p:nvSpPr>
        <p:spPr>
          <a:xfrm>
            <a:off x="7927848" y="3611880"/>
            <a:ext cx="3419856" cy="256032"/>
          </a:xfrm>
          <a:prstGeom prst="rect">
            <a:avLst/>
          </a:prstGeom>
          <a:noFill/>
          <a:ln w="0">
            <a:noFill/>
          </a:ln>
        </p:spPr>
        <p:txBody>
          <a:bodyPr wrap="square" lIns="0" tIns="0" rIns="0" bIns="0" anchor="ctr">
            <a:noAutofit/>
          </a:bodyPr>
          <a:lstStyle/>
          <a:p>
            <a:pPr marL="0" indent="0" algn="l">
              <a:buNone/>
              <a:defRPr sz="900" i="0">
                <a:solidFill>
                  <a:srgbClr val="171717"/>
                </a:solidFill>
                <a:latin typeface="Malgun Gothic"/>
                <a:ea typeface="Malgun Gothic"/>
                <a:cs typeface="Malgun Gothic"/>
              </a:defRPr>
            </a:pPr>
            <a:r>
              <a:rPr sz="900" b="1" i="0" spc="140">
                <a:solidFill>
                  <a:srgbClr val="171717"/>
                </a:solidFill>
                <a:latin typeface="Malgun Gothic"/>
                <a:ea typeface="Malgun Gothic"/>
                <a:cs typeface="Malgun Gothic"/>
              </a:rPr>
              <a:t>OUTPUT</a:t>
            </a:r>
            <a:endParaRPr sz="900"/>
          </a:p>
        </p:txBody>
      </p:sp>
      <p:sp>
        <p:nvSpPr>
          <p:cNvPr id="29" name="Text 25">
            <a:extLst>
              <a:ext uri="{FF2B5EF4-FFF2-40B4-BE49-F238E27FC236}">
                <a16:creationId xmlns:a16="http://schemas.microsoft.com/office/drawing/2014/main" id="{28AA1030-8C4D-47E5-8A6F-5EEB7EB393D5}"/>
              </a:ext>
            </a:extLst>
          </p:cNvPr>
          <p:cNvSpPr>
            <a:spLocks noGrp="1"/>
          </p:cNvSpPr>
          <p:nvPr/>
        </p:nvSpPr>
        <p:spPr>
          <a:xfrm>
            <a:off x="7927848" y="3950208"/>
            <a:ext cx="3419856" cy="914400"/>
          </a:xfrm>
          <a:prstGeom prst="rect">
            <a:avLst/>
          </a:prstGeom>
          <a:noFill/>
          <a:ln w="0">
            <a:noFill/>
          </a:ln>
        </p:spPr>
        <p:txBody>
          <a:bodyPr wrap="square" lIns="0" tIns="0" rIns="0" bIns="0" anchor="t">
            <a:noAutofit/>
          </a:bodyPr>
          <a:lstStyle/>
          <a:p>
            <a:pPr marL="0" indent="0" algn="l">
              <a:lnSpc>
                <a:spcPct val="135000"/>
              </a:lnSpc>
              <a:buNone/>
              <a:defRPr sz="1500" i="0">
                <a:solidFill>
                  <a:srgbClr val="171717"/>
                </a:solidFill>
                <a:latin typeface="Consolas"/>
                <a:ea typeface="Consolas"/>
                <a:cs typeface="Consolas"/>
              </a:defRPr>
            </a:pPr>
            <a:r>
              <a:rPr sz="1500" i="0">
                <a:solidFill>
                  <a:srgbClr val="171717"/>
                </a:solidFill>
                <a:latin typeface="Consolas"/>
                <a:ea typeface="Consolas"/>
                <a:cs typeface="Consolas"/>
              </a:rPr>
              <a:t>주가 데이터: [3, -5, 12, -2, 7, -9, 5, 1]</a:t>
            </a:r>
            <a:endParaRPr sz="1000"/>
          </a:p>
          <a:p>
            <a:pPr marL="0" indent="0" algn="l">
              <a:lnSpc>
                <a:spcPct val="135000"/>
              </a:lnSpc>
              <a:buNone/>
              <a:defRPr sz="1500" i="0">
                <a:solidFill>
                  <a:srgbClr val="171717"/>
                </a:solidFill>
                <a:latin typeface="Consolas"/>
                <a:ea typeface="Consolas"/>
                <a:cs typeface="Consolas"/>
              </a:defRPr>
            </a:pPr>
            <a:r>
              <a:rPr sz="1500" i="0">
                <a:solidFill>
                  <a:srgbClr val="171717"/>
                </a:solidFill>
                <a:latin typeface="Consolas"/>
                <a:ea typeface="Consolas"/>
                <a:cs typeface="Consolas"/>
              </a:rPr>
              <a:t>최대 구간 합(최대 이익): 17</a:t>
            </a:r>
            <a:endParaRPr sz="1000"/>
          </a:p>
        </p:txBody>
      </p:sp>
      <p:sp>
        <p:nvSpPr>
          <p:cNvPr id="31" name="Text 27">
            <a:extLst>
              <a:ext uri="{FF2B5EF4-FFF2-40B4-BE49-F238E27FC236}">
                <a16:creationId xmlns:a16="http://schemas.microsoft.com/office/drawing/2014/main" id="{3071CCC7-865C-4B13-A4F7-4B149C92ED91}"/>
              </a:ext>
            </a:extLst>
          </p:cNvPr>
          <p:cNvSpPr>
            <a:spLocks noGrp="1"/>
          </p:cNvSpPr>
          <p:nvPr/>
        </p:nvSpPr>
        <p:spPr>
          <a:xfrm>
            <a:off x="7882128" y="5175504"/>
            <a:ext cx="3511296" cy="658368"/>
          </a:xfrm>
          <a:prstGeom prst="rect">
            <a:avLst/>
          </a:prstGeom>
          <a:noFill/>
          <a:ln w="0">
            <a:noFill/>
          </a:ln>
        </p:spPr>
        <p:txBody>
          <a:bodyPr wrap="square" lIns="0" tIns="0" rIns="0" bIns="0" anchor="ctr">
            <a:noAutofit/>
          </a:bodyPr>
          <a:lstStyle/>
          <a:p>
            <a:pPr marL="0" indent="0" algn="ctr">
              <a:buNone/>
              <a:defRPr sz="1600" i="0">
                <a:solidFill>
                  <a:srgbClr val="171717"/>
                </a:solidFill>
                <a:latin typeface="Malgun Gothic"/>
                <a:ea typeface="Malgun Gothic"/>
                <a:cs typeface="Malgun Gothic"/>
              </a:defRPr>
            </a:pPr>
            <a:r>
              <a:rPr sz="1600" b="1" i="0">
                <a:solidFill>
                  <a:srgbClr val="171717"/>
                </a:solidFill>
                <a:latin typeface="Malgun Gothic"/>
                <a:ea typeface="Malgun Gothic"/>
                <a:cs typeface="Malgun Gothic"/>
              </a:rPr>
              <a:t>T(n) = O(n log n)</a:t>
            </a:r>
            <a:endParaRPr sz="1600"/>
          </a:p>
        </p:txBody>
      </p:sp>
      <p:sp>
        <p:nvSpPr>
          <p:cNvPr id="33" name="직사각형 32">
            <a:extLst>
              <a:ext uri="{FF2B5EF4-FFF2-40B4-BE49-F238E27FC236}">
                <a16:creationId xmlns:a16="http://schemas.microsoft.com/office/drawing/2014/main" id="{D875A23D-6CD1-4EE5-8DF6-F04D4756A5C1}"/>
              </a:ext>
            </a:extLst>
          </p:cNvPr>
          <p:cNvSpPr>
            <a:spLocks noGrp="1"/>
          </p:cNvSpPr>
          <p:nvPr/>
        </p:nvSpPr>
        <p:spPr>
          <a:xfrm>
            <a:off x="7744968" y="1783080"/>
            <a:ext cx="3785616"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B71DFD00-1FF0-4DBE-8571-9104CC2F3622}"/>
              </a:ext>
            </a:extLst>
          </p:cNvPr>
          <p:cNvSpPr>
            <a:spLocks noGrp="1"/>
          </p:cNvSpPr>
          <p:nvPr/>
        </p:nvSpPr>
        <p:spPr>
          <a:xfrm>
            <a:off x="698373" y="2090928"/>
            <a:ext cx="6878574" cy="2814828"/>
          </a:xfrm>
          <a:prstGeom prst="rect">
            <a:avLst/>
          </a:prstGeom>
          <a:solidFill>
            <a:srgbClr val="171717"/>
          </a:solidFill>
          <a:ln w="0">
            <a:noFill/>
          </a:ln>
        </p:spPr>
        <p:txBody>
          <a:bodyPr wrap="none" lIns="142875" tIns="76200" rIns="142875" bIns="762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max_subarray_sum(arr, low,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low ==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arr[low]</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mid = (low + high) // 2</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left_max  = max_subarray_sum(arr, low, mid)</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right_max = max_subarray_sum(arr, mid + 1,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cross_max = max_crossing_sum(arr, low, mid, high)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max(left_max, right_max, cross_max)</a:t>
            </a:r>
          </a:p>
        </p:txBody>
      </p:sp>
      <p:sp>
        <p:nvSpPr>
          <p:cNvPr id="35" name="직사각형 34">
            <a:extLst>
              <a:ext uri="{FF2B5EF4-FFF2-40B4-BE49-F238E27FC236}">
                <a16:creationId xmlns:a16="http://schemas.microsoft.com/office/drawing/2014/main" id="{7847117D-7D52-414A-99DF-3D3734C46407}"/>
              </a:ext>
            </a:extLst>
          </p:cNvPr>
          <p:cNvSpPr>
            <a:spLocks noGrp="1"/>
          </p:cNvSpPr>
          <p:nvPr/>
        </p:nvSpPr>
        <p:spPr>
          <a:xfrm>
            <a:off x="698373" y="5318760"/>
            <a:ext cx="6878574" cy="867156"/>
          </a:xfrm>
          <a:prstGeom prst="rect">
            <a:avLst/>
          </a:prstGeom>
          <a:solidFill>
            <a:srgbClr val="171717"/>
          </a:solidFill>
          <a:ln w="0">
            <a:noFill/>
          </a:ln>
        </p:spPr>
        <p:txBody>
          <a:bodyPr wrap="none" lIns="142875" tIns="76200" rIns="142875" bIns="76200" anchor="t">
            <a:noAutofit/>
          </a:bodyPr>
          <a:lstStyle/>
          <a:p>
            <a:pPr algn="l">
              <a:lnSpc>
                <a:spcPct val="103000"/>
              </a:lnSpc>
              <a:buNone/>
              <a:defRPr sz="975" b="0" i="0">
                <a:solidFill>
                  <a:srgbClr val="FFFFFF"/>
                </a:solidFill>
                <a:latin typeface="Consolas"/>
                <a:ea typeface="Consolas"/>
                <a:cs typeface="Consolas"/>
              </a:defRPr>
            </a:pPr>
            <a:r>
              <a:rPr sz="975" b="0" i="0">
                <a:solidFill>
                  <a:srgbClr val="FFFFFF"/>
                </a:solidFill>
                <a:latin typeface="Consolas"/>
                <a:ea typeface="Consolas"/>
                <a:cs typeface="Consolas"/>
              </a:rPr>
              <a:t>stock_prices = [3, -5, 12, -2, 7, -9, 5, 1]</a:t>
            </a:r>
          </a:p>
          <a:p>
            <a:pPr algn="l">
              <a:lnSpc>
                <a:spcPct val="103000"/>
              </a:lnSpc>
              <a:buNone/>
              <a:defRPr sz="975" b="0" i="0">
                <a:solidFill>
                  <a:srgbClr val="FFFFFF"/>
                </a:solidFill>
                <a:latin typeface="Consolas"/>
                <a:ea typeface="Consolas"/>
                <a:cs typeface="Consolas"/>
              </a:defRPr>
            </a:pPr>
            <a:r>
              <a:rPr sz="975" b="0" i="0">
                <a:solidFill>
                  <a:srgbClr val="FFFFFF"/>
                </a:solidFill>
                <a:latin typeface="Consolas"/>
                <a:ea typeface="Consolas"/>
                <a:cs typeface="Consolas"/>
              </a:rPr>
              <a:t>n = len(stock_prices)</a:t>
            </a:r>
          </a:p>
          <a:p>
            <a:pPr algn="l">
              <a:lnSpc>
                <a:spcPct val="103000"/>
              </a:lnSpc>
              <a:buNone/>
              <a:defRPr sz="975" b="0" i="0">
                <a:solidFill>
                  <a:srgbClr val="FFFFFF"/>
                </a:solidFill>
                <a:latin typeface="Consolas"/>
                <a:ea typeface="Consolas"/>
                <a:cs typeface="Consolas"/>
              </a:defRPr>
            </a:pPr>
            <a:r>
              <a:rPr sz="975" b="0" i="0">
                <a:solidFill>
                  <a:srgbClr val="FFFFFF"/>
                </a:solidFill>
                <a:latin typeface="Consolas"/>
                <a:ea typeface="Consolas"/>
                <a:cs typeface="Consolas"/>
              </a:rPr>
              <a:t>max_profit = max_subarray_sum(stock_prices, 0, n - 1)</a:t>
            </a:r>
          </a:p>
          <a:p>
            <a:pPr algn="l">
              <a:lnSpc>
                <a:spcPct val="103000"/>
              </a:lnSpc>
              <a:buNone/>
              <a:defRPr sz="975" b="0" i="0">
                <a:solidFill>
                  <a:srgbClr val="FFFFFF"/>
                </a:solidFill>
                <a:latin typeface="Consolas"/>
                <a:ea typeface="Consolas"/>
                <a:cs typeface="Consolas"/>
              </a:defRPr>
            </a:pPr>
            <a:r>
              <a:rPr sz="975" b="0" i="0">
                <a:solidFill>
                  <a:srgbClr val="FFFFFF"/>
                </a:solidFill>
                <a:latin typeface="Consolas"/>
                <a:ea typeface="Consolas"/>
                <a:cs typeface="Consolas"/>
              </a:rPr>
              <a:t>print(f"최대 구간 합(최대 이익): {max_profit}")</a:t>
            </a:r>
          </a:p>
        </p:txBody>
      </p:sp>
      <p:sp>
        <p:nvSpPr>
          <p:cNvPr id="36" name="직사각형 35">
            <a:extLst>
              <a:ext uri="{FF2B5EF4-FFF2-40B4-BE49-F238E27FC236}">
                <a16:creationId xmlns:a16="http://schemas.microsoft.com/office/drawing/2014/main" id="{9C2E04A8-302B-4AD6-89E7-6E99E25FE985}"/>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37" name="직사각형 36">
            <a:extLst>
              <a:ext uri="{FF2B5EF4-FFF2-40B4-BE49-F238E27FC236}">
                <a16:creationId xmlns:a16="http://schemas.microsoft.com/office/drawing/2014/main" id="{3DE34F45-5481-4274-8CAA-7D548311BAC0}"/>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8" name="직사각형 37">
            <a:extLst>
              <a:ext uri="{FF2B5EF4-FFF2-40B4-BE49-F238E27FC236}">
                <a16:creationId xmlns:a16="http://schemas.microsoft.com/office/drawing/2014/main" id="{E489CF31-67C8-4385-B603-1F7B098CE66D}"/>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파이썬 구현 — 분할 정복 메인</a:t>
            </a:r>
          </a:p>
        </p:txBody>
      </p:sp>
      <p:sp>
        <p:nvSpPr>
          <p:cNvPr id="39" name="직사각형 38">
            <a:extLst>
              <a:ext uri="{FF2B5EF4-FFF2-40B4-BE49-F238E27FC236}">
                <a16:creationId xmlns:a16="http://schemas.microsoft.com/office/drawing/2014/main" id="{FC76D691-AE44-4824-BA07-F008FA7B0FEE}"/>
              </a:ext>
            </a:extLst>
          </p:cNvPr>
          <p:cNvSpPr>
            <a:spLocks noGrp="1"/>
          </p:cNvSpPr>
          <p:nvPr/>
        </p:nvSpPr>
        <p:spPr>
          <a:xfrm>
            <a:off x="609600" y="1381125"/>
            <a:ext cx="10972800" cy="19050"/>
          </a:xfrm>
          <a:prstGeom prst="rect">
            <a:avLst/>
          </a:prstGeom>
          <a:solidFill>
            <a:srgbClr val="171717"/>
          </a:solidFill>
          <a:ln w="0">
            <a:noFill/>
          </a:ln>
        </p:spPr>
      </p:sp>
      <p:sp>
        <p:nvSpPr>
          <p:cNvPr id="40" name="직사각형 39">
            <a:extLst>
              <a:ext uri="{FF2B5EF4-FFF2-40B4-BE49-F238E27FC236}">
                <a16:creationId xmlns:a16="http://schemas.microsoft.com/office/drawing/2014/main" id="{EE63D6F8-70E9-4DC1-82CE-D7546FFC4E03}"/>
              </a:ext>
            </a:extLst>
          </p:cNvPr>
          <p:cNvSpPr>
            <a:spLocks noGrp="1"/>
          </p:cNvSpPr>
          <p:nvPr/>
        </p:nvSpPr>
        <p:spPr>
          <a:xfrm>
            <a:off x="609600" y="6438900"/>
            <a:ext cx="10972800" cy="9525"/>
          </a:xfrm>
          <a:prstGeom prst="rect">
            <a:avLst/>
          </a:prstGeom>
          <a:solidFill>
            <a:srgbClr val="D4D4D4"/>
          </a:solidFill>
          <a:ln w="0">
            <a:noFill/>
          </a:ln>
        </p:spPr>
      </p:sp>
      <p:sp>
        <p:nvSpPr>
          <p:cNvPr id="41" name="직사각형 40">
            <a:extLst>
              <a:ext uri="{FF2B5EF4-FFF2-40B4-BE49-F238E27FC236}">
                <a16:creationId xmlns:a16="http://schemas.microsoft.com/office/drawing/2014/main" id="{853F260F-BF81-49C9-85A7-A32BA91AC7E6}"/>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2" name="직사각형 41">
            <a:extLst>
              <a:ext uri="{FF2B5EF4-FFF2-40B4-BE49-F238E27FC236}">
                <a16:creationId xmlns:a16="http://schemas.microsoft.com/office/drawing/2014/main" id="{01896AE6-B2AC-42E3-AE1B-7A31148832AE}"/>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92</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3044088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2CBEA2B7-28E7-4007-AA37-998C50639BF9}"/>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4.4  </a:t>
            </a:r>
            <a:r>
              <a:rPr lang="ko-KR" altLang="en-US" sz="1050" b="1" i="0">
                <a:solidFill>
                  <a:srgbClr val="606060"/>
                </a:solidFill>
                <a:latin typeface="Malgun Gothic"/>
                <a:ea typeface="Malgun Gothic"/>
                <a:cs typeface="Malgun Gothic"/>
              </a:rPr>
              <a:t>최대 구간 합</a:t>
            </a:r>
            <a:endParaRPr sz="1050" b="1" i="0">
              <a:solidFill>
                <a:srgbClr val="606060"/>
              </a:solidFill>
              <a:latin typeface="Malgun Gothic"/>
              <a:ea typeface="Malgun Gothic"/>
              <a:cs typeface="Malgun Gothic"/>
            </a:endParaRPr>
          </a:p>
        </p:txBody>
      </p:sp>
      <p:sp>
        <p:nvSpPr>
          <p:cNvPr id="33" name="직사각형 32">
            <a:extLst>
              <a:ext uri="{FF2B5EF4-FFF2-40B4-BE49-F238E27FC236}">
                <a16:creationId xmlns:a16="http://schemas.microsoft.com/office/drawing/2014/main" id="{1AD47630-52AD-4FB9-BB6F-D27E25CC4E9D}"/>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4" name="직사각형 33">
            <a:extLst>
              <a:ext uri="{FF2B5EF4-FFF2-40B4-BE49-F238E27FC236}">
                <a16:creationId xmlns:a16="http://schemas.microsoft.com/office/drawing/2014/main" id="{276E967F-5653-47B9-A82B-E0919632ADC2}"/>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시간 복잡도 분석</a:t>
            </a:r>
          </a:p>
        </p:txBody>
      </p:sp>
      <p:sp>
        <p:nvSpPr>
          <p:cNvPr id="35" name="직사각형 34">
            <a:extLst>
              <a:ext uri="{FF2B5EF4-FFF2-40B4-BE49-F238E27FC236}">
                <a16:creationId xmlns:a16="http://schemas.microsoft.com/office/drawing/2014/main" id="{0F36152E-462F-4644-9A85-62796292E255}"/>
              </a:ext>
            </a:extLst>
          </p:cNvPr>
          <p:cNvSpPr>
            <a:spLocks noGrp="1"/>
          </p:cNvSpPr>
          <p:nvPr/>
        </p:nvSpPr>
        <p:spPr>
          <a:xfrm>
            <a:off x="609600" y="1381125"/>
            <a:ext cx="10972800" cy="19050"/>
          </a:xfrm>
          <a:prstGeom prst="rect">
            <a:avLst/>
          </a:prstGeom>
          <a:solidFill>
            <a:srgbClr val="171717"/>
          </a:solidFill>
          <a:ln w="0">
            <a:noFill/>
          </a:ln>
        </p:spPr>
      </p:sp>
      <p:sp>
        <p:nvSpPr>
          <p:cNvPr id="36" name="직사각형 35">
            <a:extLst>
              <a:ext uri="{FF2B5EF4-FFF2-40B4-BE49-F238E27FC236}">
                <a16:creationId xmlns:a16="http://schemas.microsoft.com/office/drawing/2014/main" id="{02A676A7-6DAA-4E3C-91D5-88DA43DDBC40}"/>
              </a:ext>
            </a:extLst>
          </p:cNvPr>
          <p:cNvSpPr>
            <a:spLocks noGrp="1"/>
          </p:cNvSpPr>
          <p:nvPr/>
        </p:nvSpPr>
        <p:spPr>
          <a:xfrm>
            <a:off x="609600" y="6438900"/>
            <a:ext cx="10972800" cy="9525"/>
          </a:xfrm>
          <a:prstGeom prst="rect">
            <a:avLst/>
          </a:prstGeom>
          <a:solidFill>
            <a:srgbClr val="D4D4D4"/>
          </a:solidFill>
          <a:ln w="0">
            <a:noFill/>
          </a:ln>
        </p:spPr>
      </p:sp>
      <p:sp>
        <p:nvSpPr>
          <p:cNvPr id="37" name="직사각형 36">
            <a:extLst>
              <a:ext uri="{FF2B5EF4-FFF2-40B4-BE49-F238E27FC236}">
                <a16:creationId xmlns:a16="http://schemas.microsoft.com/office/drawing/2014/main" id="{FDB955BD-4D75-4F19-B2E3-1E3BD7FF9603}"/>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8" name="직사각형 37">
            <a:extLst>
              <a:ext uri="{FF2B5EF4-FFF2-40B4-BE49-F238E27FC236}">
                <a16:creationId xmlns:a16="http://schemas.microsoft.com/office/drawing/2014/main" id="{751EE579-87C5-4137-9493-86E2C213F278}"/>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93</a:t>
            </a:r>
            <a:endParaRPr sz="1050" b="1" i="0">
              <a:solidFill>
                <a:srgbClr val="171717"/>
              </a:solidFill>
              <a:latin typeface="Consolas"/>
              <a:ea typeface="Consolas"/>
              <a:cs typeface="Consolas"/>
            </a:endParaRPr>
          </a:p>
        </p:txBody>
      </p:sp>
      <p:sp>
        <p:nvSpPr>
          <p:cNvPr id="39" name="직사각형 38">
            <a:extLst>
              <a:ext uri="{FF2B5EF4-FFF2-40B4-BE49-F238E27FC236}">
                <a16:creationId xmlns:a16="http://schemas.microsoft.com/office/drawing/2014/main" id="{43FD8BA3-A1A1-4593-A7D7-EA4ABC9112C8}"/>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분할 — 중간 인덱스를 계산한다. O(1)</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정복 — 절반 크기의 두 문제를 푼다. 2T(n/2)</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결합 — 중앙에서 양쪽으로 훑어 경계를 가로지르는 최대 합을 구한다. O(n)</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T(n) = 2T(n/2) + O(n)</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따라서 T(n) = O(n log n)</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lang="ko-KR" altLang="en-US" sz="1650">
                <a:solidFill>
                  <a:srgbClr val="171717"/>
                </a:solidFill>
                <a:latin typeface="Malgun Gothic"/>
                <a:ea typeface="Malgun Gothic"/>
                <a:cs typeface="Malgun Gothic"/>
              </a:rPr>
              <a:t>병합</a:t>
            </a:r>
            <a:r>
              <a:rPr sz="1650">
                <a:solidFill>
                  <a:srgbClr val="171717"/>
                </a:solidFill>
                <a:latin typeface="Malgun Gothic"/>
                <a:ea typeface="Malgun Gothic"/>
                <a:cs typeface="Malgun Gothic"/>
              </a:rPr>
              <a:t> 정렬과 같은 형태의 점화식이다.</a:t>
            </a:r>
          </a:p>
        </p:txBody>
      </p:sp>
      <p:pic>
        <p:nvPicPr>
          <p:cNvPr id="49" name="그림 48"/>
          <p:cNvPicPr>
            <a:picLocks noChangeAspect="1"/>
          </p:cNvPicPr>
          <p:nvPr/>
        </p:nvPicPr>
        <p:blipFill>
          <a:blip r:embed="rId3"/>
          <a:stretch/>
        </p:blipFill>
        <p:spPr>
          <a:xfrm>
            <a:off x="7315200" y="2157779"/>
            <a:ext cx="4171950" cy="3209192"/>
          </a:xfrm>
          <a:prstGeom prst="rect">
            <a:avLst/>
          </a:prstGeom>
        </p:spPr>
      </p:pic>
    </p:spTree>
    <p:extLst>
      <p:ext uri="{BB962C8B-B14F-4D97-AF65-F5344CB8AC3E}">
        <p14:creationId xmlns:p14="http://schemas.microsoft.com/office/powerpoint/2010/main" val="122421094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1340B226-1A33-4724-A00E-9C6B164CA58A}"/>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49A9E1D7-CFCF-4EAC-8CE3-D6F7CC057E96}"/>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lang="en-US" altLang="ko-KR" sz="7050" b="1" i="0">
                <a:solidFill>
                  <a:srgbClr val="474747"/>
                </a:solidFill>
                <a:latin typeface="Consolas"/>
                <a:ea typeface="Consolas"/>
                <a:cs typeface="Consolas"/>
              </a:rPr>
              <a:t>4.5</a:t>
            </a:r>
            <a:endParaRPr sz="7050" b="1" i="0">
              <a:solidFill>
                <a:srgbClr val="474747"/>
              </a:solidFill>
              <a:latin typeface="Consolas"/>
              <a:ea typeface="Consolas"/>
              <a:cs typeface="Consolas"/>
            </a:endParaRPr>
          </a:p>
        </p:txBody>
      </p:sp>
      <p:sp>
        <p:nvSpPr>
          <p:cNvPr id="3" name="직사각형 2">
            <a:extLst>
              <a:ext uri="{FF2B5EF4-FFF2-40B4-BE49-F238E27FC236}">
                <a16:creationId xmlns:a16="http://schemas.microsoft.com/office/drawing/2014/main" id="{59F7C8F0-8078-438F-8D98-EB8F31AB2918}"/>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4B5E087F-4DD7-4443-9721-81B32107772A}"/>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최근접 쌍 문제</a:t>
            </a:r>
          </a:p>
        </p:txBody>
      </p:sp>
      <p:sp>
        <p:nvSpPr>
          <p:cNvPr id="5" name="직사각형 4">
            <a:extLst>
              <a:ext uri="{FF2B5EF4-FFF2-40B4-BE49-F238E27FC236}">
                <a16:creationId xmlns:a16="http://schemas.microsoft.com/office/drawing/2014/main" id="{CCCE8936-6C0C-41BE-8107-478915507961}"/>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Closest Pair of Points</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평면 위 n개의 점 중 가장 가까운 두 점을 찾아라</a:t>
            </a:r>
          </a:p>
        </p:txBody>
      </p:sp>
      <p:sp>
        <p:nvSpPr>
          <p:cNvPr id="6" name="직사각형 5">
            <a:extLst>
              <a:ext uri="{FF2B5EF4-FFF2-40B4-BE49-F238E27FC236}">
                <a16:creationId xmlns:a16="http://schemas.microsoft.com/office/drawing/2014/main" id="{44E85B9A-9930-4D54-981C-F152AD553E32}"/>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A5DF2758-23E7-4174-B4D8-0B86C50D8FB1}"/>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12EB60D2-0B36-428A-8297-AF845C6BE96D}"/>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94</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20263518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E75E2193-3858-4D54-A250-BCB2D4AAB826}"/>
              </a:ext>
            </a:extLst>
          </p:cNvPr>
          <p:cNvSpPr>
            <a:spLocks noGrp="1"/>
          </p:cNvSpPr>
          <p:nvPr/>
        </p:nvSpPr>
        <p:spPr>
          <a:xfrm>
            <a:off x="658368" y="1737360"/>
            <a:ext cx="5349240" cy="137160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2차원 평면의 n개 점 중 유클리드 거리가 가장 작은 두 점을 찾습니다. 전체 점에서 두 점을 고르는 문제로, 특정 지점의 최근접 이웃을 찾는 문제와 구분합니다.</a:t>
            </a:r>
            <a:endParaRPr sz="1350"/>
          </a:p>
        </p:txBody>
      </p:sp>
      <p:sp>
        <p:nvSpPr>
          <p:cNvPr id="14" name="Text 8">
            <a:extLst>
              <a:ext uri="{FF2B5EF4-FFF2-40B4-BE49-F238E27FC236}">
                <a16:creationId xmlns:a16="http://schemas.microsoft.com/office/drawing/2014/main" id="{57B36C2F-B1D9-4101-AED4-4E0353ED5518}"/>
              </a:ext>
            </a:extLst>
          </p:cNvPr>
          <p:cNvSpPr>
            <a:spLocks noGrp="1"/>
          </p:cNvSpPr>
          <p:nvPr/>
        </p:nvSpPr>
        <p:spPr>
          <a:xfrm>
            <a:off x="7168896" y="5010912"/>
            <a:ext cx="4105656" cy="29260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항공 관제 — 1초가 생명</a:t>
            </a:r>
            <a:endParaRPr sz="1300"/>
          </a:p>
        </p:txBody>
      </p:sp>
      <p:sp>
        <p:nvSpPr>
          <p:cNvPr id="15" name="Text 9">
            <a:extLst>
              <a:ext uri="{FF2B5EF4-FFF2-40B4-BE49-F238E27FC236}">
                <a16:creationId xmlns:a16="http://schemas.microsoft.com/office/drawing/2014/main" id="{9A4339BF-8948-40B9-A527-16C49777C4C2}"/>
              </a:ext>
            </a:extLst>
          </p:cNvPr>
          <p:cNvSpPr>
            <a:spLocks noGrp="1"/>
          </p:cNvSpPr>
          <p:nvPr/>
        </p:nvSpPr>
        <p:spPr>
          <a:xfrm>
            <a:off x="7168896" y="5358384"/>
            <a:ext cx="4105656" cy="475488"/>
          </a:xfrm>
          <a:prstGeom prst="rect">
            <a:avLst/>
          </a:prstGeom>
          <a:noFill/>
          <a:ln w="0">
            <a:noFill/>
          </a:ln>
        </p:spPr>
        <p:txBody>
          <a:bodyPr wrap="square" lIns="0" tIns="0" rIns="0" bIns="0" anchor="t">
            <a:noAutofit/>
          </a:bodyPr>
          <a:lstStyle/>
          <a:p>
            <a:pPr marL="0" indent="0" algn="l">
              <a:lnSpc>
                <a:spcPct val="132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레이더에 수백 대의 항공기가 잡힌다. 가장 가까운 두 대를 실시간으로 찾아내야 충돌을 막을 수 있다.</a:t>
            </a:r>
            <a:endParaRPr sz="1180"/>
          </a:p>
        </p:txBody>
      </p:sp>
      <p:sp>
        <p:nvSpPr>
          <p:cNvPr id="20" name="직사각형 19">
            <a:extLst>
              <a:ext uri="{FF2B5EF4-FFF2-40B4-BE49-F238E27FC236}">
                <a16:creationId xmlns:a16="http://schemas.microsoft.com/office/drawing/2014/main" id="{2038112F-374A-4597-A88B-D946558B4CD4}"/>
              </a:ext>
            </a:extLst>
          </p:cNvPr>
          <p:cNvSpPr>
            <a:spLocks noGrp="1"/>
          </p:cNvSpPr>
          <p:nvPr/>
        </p:nvSpPr>
        <p:spPr>
          <a:xfrm>
            <a:off x="6309360" y="1737360"/>
            <a:ext cx="5221224" cy="9525"/>
          </a:xfrm>
          <a:prstGeom prst="rect">
            <a:avLst/>
          </a:prstGeom>
          <a:solidFill>
            <a:srgbClr val="D4D4D4"/>
          </a:solidFill>
          <a:ln w="0">
            <a:noFill/>
          </a:ln>
        </p:spPr>
      </p:sp>
      <p:sp>
        <p:nvSpPr>
          <p:cNvPr id="21" name="직사각형 20">
            <a:extLst>
              <a:ext uri="{FF2B5EF4-FFF2-40B4-BE49-F238E27FC236}">
                <a16:creationId xmlns:a16="http://schemas.microsoft.com/office/drawing/2014/main" id="{FC044E0F-21A1-4C40-B1E4-1C416FE40EA8}"/>
              </a:ext>
            </a:extLst>
          </p:cNvPr>
          <p:cNvSpPr>
            <a:spLocks noGrp="1"/>
          </p:cNvSpPr>
          <p:nvPr/>
        </p:nvSpPr>
        <p:spPr>
          <a:xfrm>
            <a:off x="6309360" y="4828032"/>
            <a:ext cx="5221224" cy="9525"/>
          </a:xfrm>
          <a:prstGeom prst="rect">
            <a:avLst/>
          </a:prstGeom>
          <a:solidFill>
            <a:srgbClr val="D4D4D4"/>
          </a:solidFill>
          <a:ln w="0">
            <a:noFill/>
          </a:ln>
        </p:spPr>
      </p:sp>
      <p:sp>
        <p:nvSpPr>
          <p:cNvPr id="22" name="직사각형 21">
            <a:extLst>
              <a:ext uri="{FF2B5EF4-FFF2-40B4-BE49-F238E27FC236}">
                <a16:creationId xmlns:a16="http://schemas.microsoft.com/office/drawing/2014/main" id="{17E3D95C-A4FA-4ED7-889C-AE1C792F2EC7}"/>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4.5  </a:t>
            </a:r>
            <a:r>
              <a:rPr lang="ko-KR" altLang="en-US" sz="1050" b="1" i="0">
                <a:solidFill>
                  <a:srgbClr val="606060"/>
                </a:solidFill>
                <a:latin typeface="Malgun Gothic"/>
                <a:ea typeface="Malgun Gothic"/>
                <a:cs typeface="Malgun Gothic"/>
              </a:rPr>
              <a:t>최근접 쌍 문제</a:t>
            </a:r>
            <a:endParaRPr sz="1050" b="1" i="0">
              <a:solidFill>
                <a:srgbClr val="606060"/>
              </a:solidFill>
              <a:latin typeface="Malgun Gothic"/>
              <a:ea typeface="Malgun Gothic"/>
              <a:cs typeface="Malgun Gothic"/>
            </a:endParaRPr>
          </a:p>
        </p:txBody>
      </p:sp>
      <p:sp>
        <p:nvSpPr>
          <p:cNvPr id="23" name="직사각형 22">
            <a:extLst>
              <a:ext uri="{FF2B5EF4-FFF2-40B4-BE49-F238E27FC236}">
                <a16:creationId xmlns:a16="http://schemas.microsoft.com/office/drawing/2014/main" id="{DCC5AF9A-DFC9-4AEE-B913-359074274FAA}"/>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24" name="직사각형 23">
            <a:extLst>
              <a:ext uri="{FF2B5EF4-FFF2-40B4-BE49-F238E27FC236}">
                <a16:creationId xmlns:a16="http://schemas.microsoft.com/office/drawing/2014/main" id="{9A0B2036-0E93-4B1B-A9A7-DD17CB9F00CE}"/>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 평면 위 가장 가까운 두 점</a:t>
            </a:r>
          </a:p>
        </p:txBody>
      </p:sp>
      <p:sp>
        <p:nvSpPr>
          <p:cNvPr id="25" name="직사각형 24">
            <a:extLst>
              <a:ext uri="{FF2B5EF4-FFF2-40B4-BE49-F238E27FC236}">
                <a16:creationId xmlns:a16="http://schemas.microsoft.com/office/drawing/2014/main" id="{9890EC24-9FE3-4B78-86FE-0BDA7A13DCEC}"/>
              </a:ext>
            </a:extLst>
          </p:cNvPr>
          <p:cNvSpPr>
            <a:spLocks noGrp="1"/>
          </p:cNvSpPr>
          <p:nvPr/>
        </p:nvSpPr>
        <p:spPr>
          <a:xfrm>
            <a:off x="609600" y="1381125"/>
            <a:ext cx="10972800" cy="19050"/>
          </a:xfrm>
          <a:prstGeom prst="rect">
            <a:avLst/>
          </a:prstGeom>
          <a:solidFill>
            <a:srgbClr val="171717"/>
          </a:solidFill>
          <a:ln w="0">
            <a:noFill/>
          </a:ln>
        </p:spPr>
      </p:sp>
      <p:sp>
        <p:nvSpPr>
          <p:cNvPr id="26" name="직사각형 25">
            <a:extLst>
              <a:ext uri="{FF2B5EF4-FFF2-40B4-BE49-F238E27FC236}">
                <a16:creationId xmlns:a16="http://schemas.microsoft.com/office/drawing/2014/main" id="{90194842-6CDB-4AA9-A543-241C549F6DCC}"/>
              </a:ext>
            </a:extLst>
          </p:cNvPr>
          <p:cNvSpPr>
            <a:spLocks noGrp="1"/>
          </p:cNvSpPr>
          <p:nvPr/>
        </p:nvSpPr>
        <p:spPr>
          <a:xfrm>
            <a:off x="609600" y="6438900"/>
            <a:ext cx="10972800" cy="9525"/>
          </a:xfrm>
          <a:prstGeom prst="rect">
            <a:avLst/>
          </a:prstGeom>
          <a:solidFill>
            <a:srgbClr val="D4D4D4"/>
          </a:solidFill>
          <a:ln w="0">
            <a:noFill/>
          </a:ln>
        </p:spPr>
      </p:sp>
      <p:sp>
        <p:nvSpPr>
          <p:cNvPr id="27" name="직사각형 26">
            <a:extLst>
              <a:ext uri="{FF2B5EF4-FFF2-40B4-BE49-F238E27FC236}">
                <a16:creationId xmlns:a16="http://schemas.microsoft.com/office/drawing/2014/main" id="{84001A77-941A-480C-9C1C-5A87A3638129}"/>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28" name="직사각형 27">
            <a:extLst>
              <a:ext uri="{FF2B5EF4-FFF2-40B4-BE49-F238E27FC236}">
                <a16:creationId xmlns:a16="http://schemas.microsoft.com/office/drawing/2014/main" id="{79CFFA61-7F3B-48EB-8F6A-D799986DE942}"/>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95</a:t>
            </a:r>
            <a:endParaRPr sz="1050" b="1" i="0">
              <a:solidFill>
                <a:srgbClr val="171717"/>
              </a:solidFill>
              <a:latin typeface="Consolas"/>
              <a:ea typeface="Consolas"/>
              <a:cs typeface="Consolas"/>
            </a:endParaRPr>
          </a:p>
        </p:txBody>
      </p:sp>
      <p:pic>
        <p:nvPicPr>
          <p:cNvPr id="45" name="그림 44"/>
          <p:cNvPicPr>
            <a:picLocks noChangeAspect="1"/>
          </p:cNvPicPr>
          <p:nvPr/>
        </p:nvPicPr>
        <p:blipFill>
          <a:blip r:embed="rId3"/>
          <a:stretch/>
        </p:blipFill>
        <p:spPr>
          <a:xfrm>
            <a:off x="1276933" y="3346704"/>
            <a:ext cx="4112111" cy="2542032"/>
          </a:xfrm>
          <a:prstGeom prst="rect">
            <a:avLst/>
          </a:prstGeom>
        </p:spPr>
      </p:pic>
      <p:pic>
        <p:nvPicPr>
          <p:cNvPr id="46" name="그림 45"/>
          <p:cNvPicPr>
            <a:picLocks noChangeAspect="1"/>
          </p:cNvPicPr>
          <p:nvPr/>
        </p:nvPicPr>
        <p:blipFill>
          <a:blip r:embed="rId4"/>
          <a:stretch/>
        </p:blipFill>
        <p:spPr>
          <a:xfrm>
            <a:off x="6529716" y="1883664"/>
            <a:ext cx="4780416" cy="2633472"/>
          </a:xfrm>
          <a:prstGeom prst="rect">
            <a:avLst/>
          </a:prstGeom>
        </p:spPr>
      </p:pic>
    </p:spTree>
    <p:extLst>
      <p:ext uri="{BB962C8B-B14F-4D97-AF65-F5344CB8AC3E}">
        <p14:creationId xmlns:p14="http://schemas.microsoft.com/office/powerpoint/2010/main" val="15523947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8F342E55-18D9-459C-8D08-4EB4AD9D292A}"/>
              </a:ext>
            </a:extLst>
          </p:cNvPr>
          <p:cNvSpPr>
            <a:spLocks noGrp="1"/>
          </p:cNvSpPr>
          <p:nvPr/>
        </p:nvSpPr>
        <p:spPr>
          <a:xfrm>
            <a:off x="658368" y="1737360"/>
            <a:ext cx="5669280" cy="82296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가장 단순한 방법은 모든 점의 쌍에 대해 거리를 계산하고 최솟값을 고르는 것이다. 첫 번째 점은 나머지 (n−1)개와, 두 번째 점은 (n−2)개와 비교해야 한다.</a:t>
            </a:r>
            <a:endParaRPr sz="1300"/>
          </a:p>
        </p:txBody>
      </p:sp>
      <p:sp>
        <p:nvSpPr>
          <p:cNvPr id="8" name="Text 5">
            <a:extLst>
              <a:ext uri="{FF2B5EF4-FFF2-40B4-BE49-F238E27FC236}">
                <a16:creationId xmlns:a16="http://schemas.microsoft.com/office/drawing/2014/main" id="{A0B2C881-68A4-4A37-BA8B-F8C444631B86}"/>
              </a:ext>
            </a:extLst>
          </p:cNvPr>
          <p:cNvSpPr>
            <a:spLocks noGrp="1"/>
          </p:cNvSpPr>
          <p:nvPr/>
        </p:nvSpPr>
        <p:spPr>
          <a:xfrm>
            <a:off x="795528" y="2670048"/>
            <a:ext cx="5394960" cy="777240"/>
          </a:xfrm>
          <a:prstGeom prst="rect">
            <a:avLst/>
          </a:prstGeom>
          <a:noFill/>
          <a:ln w="0">
            <a:noFill/>
          </a:ln>
        </p:spPr>
        <p:txBody>
          <a:bodyPr wrap="square" lIns="0" tIns="0" rIns="0" bIns="0" anchor="ctr">
            <a:noAutofit/>
          </a:bodyPr>
          <a:lstStyle/>
          <a:p>
            <a:pPr marL="0" indent="0" algn="ctr">
              <a:buNone/>
              <a:defRPr sz="1700" i="0">
                <a:solidFill>
                  <a:srgbClr val="171717"/>
                </a:solidFill>
                <a:latin typeface="Malgun Gothic"/>
                <a:ea typeface="Malgun Gothic"/>
                <a:cs typeface="Malgun Gothic"/>
              </a:defRPr>
            </a:pPr>
            <a:r>
              <a:rPr sz="1700" b="1" i="0">
                <a:solidFill>
                  <a:srgbClr val="171717"/>
                </a:solidFill>
                <a:latin typeface="Malgun Gothic"/>
                <a:ea typeface="Malgun Gothic"/>
                <a:cs typeface="Malgun Gothic"/>
              </a:rPr>
              <a:t>(n − 1) + (n − 2) + ⋯ + 1  =  n(n − 1) / 2  =  O(n^(2))</a:t>
            </a:r>
            <a:endParaRPr sz="1700"/>
          </a:p>
        </p:txBody>
      </p:sp>
      <p:sp>
        <p:nvSpPr>
          <p:cNvPr id="15" name="Text 12">
            <a:extLst>
              <a:ext uri="{FF2B5EF4-FFF2-40B4-BE49-F238E27FC236}">
                <a16:creationId xmlns:a16="http://schemas.microsoft.com/office/drawing/2014/main" id="{CE7141BB-B377-4153-8201-AD778E5D31CA}"/>
              </a:ext>
            </a:extLst>
          </p:cNvPr>
          <p:cNvSpPr>
            <a:spLocks noGrp="1"/>
          </p:cNvSpPr>
          <p:nvPr/>
        </p:nvSpPr>
        <p:spPr>
          <a:xfrm>
            <a:off x="859536" y="3584448"/>
            <a:ext cx="530352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brute_force.py</a:t>
            </a:r>
            <a:endParaRPr sz="900"/>
          </a:p>
        </p:txBody>
      </p:sp>
      <p:sp>
        <p:nvSpPr>
          <p:cNvPr id="20" name="Text 16">
            <a:extLst>
              <a:ext uri="{FF2B5EF4-FFF2-40B4-BE49-F238E27FC236}">
                <a16:creationId xmlns:a16="http://schemas.microsoft.com/office/drawing/2014/main" id="{2C675E29-A693-45DE-A17B-DC1534FA8B7D}"/>
              </a:ext>
            </a:extLst>
          </p:cNvPr>
          <p:cNvSpPr>
            <a:spLocks noGrp="1"/>
          </p:cNvSpPr>
          <p:nvPr/>
        </p:nvSpPr>
        <p:spPr>
          <a:xfrm>
            <a:off x="6903720" y="4882896"/>
            <a:ext cx="4389120" cy="310896"/>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점이 10만 개라면?</a:t>
            </a:r>
            <a:endParaRPr sz="1300"/>
          </a:p>
        </p:txBody>
      </p:sp>
      <p:sp>
        <p:nvSpPr>
          <p:cNvPr id="21" name="Text 17">
            <a:extLst>
              <a:ext uri="{FF2B5EF4-FFF2-40B4-BE49-F238E27FC236}">
                <a16:creationId xmlns:a16="http://schemas.microsoft.com/office/drawing/2014/main" id="{B1CB2C5E-9FEA-4D56-B5E6-ADB83D516A94}"/>
              </a:ext>
            </a:extLst>
          </p:cNvPr>
          <p:cNvSpPr>
            <a:spLocks noGrp="1"/>
          </p:cNvSpPr>
          <p:nvPr/>
        </p:nvSpPr>
        <p:spPr>
          <a:xfrm>
            <a:off x="6903720" y="5230368"/>
            <a:ext cx="4389120" cy="731520"/>
          </a:xfrm>
          <a:prstGeom prst="rect">
            <a:avLst/>
          </a:prstGeom>
          <a:noFill/>
          <a:ln w="0">
            <a:noFill/>
          </a:ln>
        </p:spPr>
        <p:txBody>
          <a:bodyPr wrap="square" lIns="0" tIns="0" rIns="0" bIns="0" anchor="t">
            <a:noAutofit/>
          </a:bodyPr>
          <a:lstStyle/>
          <a:p>
            <a:pPr marL="0" indent="0" algn="l">
              <a:lnSpc>
                <a:spcPct val="130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약 50억 번의 거리 계산이 필요하다.</a:t>
            </a:r>
            <a:endParaRPr sz="1150"/>
          </a:p>
          <a:p>
            <a:pPr marL="0" indent="0" algn="l">
              <a:lnSpc>
                <a:spcPct val="130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매 프레임마다 이 계산을 반복할 수는 없다.</a:t>
            </a:r>
            <a:endParaRPr sz="1150"/>
          </a:p>
        </p:txBody>
      </p:sp>
      <p:sp>
        <p:nvSpPr>
          <p:cNvPr id="25" name="직사각형 24">
            <a:extLst>
              <a:ext uri="{FF2B5EF4-FFF2-40B4-BE49-F238E27FC236}">
                <a16:creationId xmlns:a16="http://schemas.microsoft.com/office/drawing/2014/main" id="{B9EF238D-B362-4A32-BB57-3846BFACCEDA}"/>
              </a:ext>
            </a:extLst>
          </p:cNvPr>
          <p:cNvSpPr>
            <a:spLocks noGrp="1"/>
          </p:cNvSpPr>
          <p:nvPr/>
        </p:nvSpPr>
        <p:spPr>
          <a:xfrm>
            <a:off x="6656832" y="1737360"/>
            <a:ext cx="4873752" cy="9525"/>
          </a:xfrm>
          <a:prstGeom prst="rect">
            <a:avLst/>
          </a:prstGeom>
          <a:solidFill>
            <a:srgbClr val="D4D4D4"/>
          </a:solidFill>
          <a:ln w="0">
            <a:noFill/>
          </a:ln>
        </p:spPr>
      </p:sp>
      <p:sp>
        <p:nvSpPr>
          <p:cNvPr id="26" name="직사각형 25">
            <a:extLst>
              <a:ext uri="{FF2B5EF4-FFF2-40B4-BE49-F238E27FC236}">
                <a16:creationId xmlns:a16="http://schemas.microsoft.com/office/drawing/2014/main" id="{0C591F87-7794-4C93-B138-EC866ECA71AE}"/>
              </a:ext>
            </a:extLst>
          </p:cNvPr>
          <p:cNvSpPr>
            <a:spLocks noGrp="1"/>
          </p:cNvSpPr>
          <p:nvPr/>
        </p:nvSpPr>
        <p:spPr>
          <a:xfrm>
            <a:off x="6656832" y="4736592"/>
            <a:ext cx="4873752" cy="9525"/>
          </a:xfrm>
          <a:prstGeom prst="rect">
            <a:avLst/>
          </a:prstGeom>
          <a:solidFill>
            <a:srgbClr val="D4D4D4"/>
          </a:solidFill>
          <a:ln w="0">
            <a:noFill/>
          </a:ln>
        </p:spPr>
      </p:sp>
      <p:sp>
        <p:nvSpPr>
          <p:cNvPr id="27" name="직사각형 26">
            <a:extLst>
              <a:ext uri="{FF2B5EF4-FFF2-40B4-BE49-F238E27FC236}">
                <a16:creationId xmlns:a16="http://schemas.microsoft.com/office/drawing/2014/main" id="{59D51733-EDE3-4B25-8553-12AE10D25C9D}"/>
              </a:ext>
            </a:extLst>
          </p:cNvPr>
          <p:cNvSpPr>
            <a:spLocks noGrp="1"/>
          </p:cNvSpPr>
          <p:nvPr/>
        </p:nvSpPr>
        <p:spPr>
          <a:xfrm>
            <a:off x="698373" y="3874008"/>
            <a:ext cx="5644134" cy="2275332"/>
          </a:xfrm>
          <a:prstGeom prst="rect">
            <a:avLst/>
          </a:prstGeom>
          <a:solidFill>
            <a:srgbClr val="171717"/>
          </a:solidFill>
          <a:ln w="0">
            <a:noFill/>
          </a:ln>
        </p:spPr>
        <p:txBody>
          <a:bodyPr wrap="none" lIns="142875" tIns="76200" rIns="142875" bIns="76200" anchor="t">
            <a:noAutofit/>
          </a:bodyPr>
          <a:lstStyle/>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import math</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class Point:</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def __init__(self, x, y):</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self.x = x</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self.y = y</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def distance(p1, p2):</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return math.hypot(p1.x - p2.x, p1.y - p2.y)</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def ClosestPairBruteForce(P):</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min_dist = float('inf')</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for i in range(len(P)):</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for j in range(i + 1, len(P)):</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min_dist = min(min_dist, distance(P[i], P[j]))</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return min_dist</a:t>
            </a:r>
          </a:p>
        </p:txBody>
      </p:sp>
      <p:sp>
        <p:nvSpPr>
          <p:cNvPr id="28" name="직사각형 27">
            <a:extLst>
              <a:ext uri="{FF2B5EF4-FFF2-40B4-BE49-F238E27FC236}">
                <a16:creationId xmlns:a16="http://schemas.microsoft.com/office/drawing/2014/main" id="{2DEC7328-D568-4CB3-A05F-BEAD99BB7A83}"/>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4.5  </a:t>
            </a:r>
            <a:r>
              <a:rPr lang="ko-KR" altLang="en-US" sz="1050" b="1" i="0">
                <a:solidFill>
                  <a:srgbClr val="606060"/>
                </a:solidFill>
                <a:latin typeface="Malgun Gothic"/>
                <a:ea typeface="Malgun Gothic"/>
                <a:cs typeface="Malgun Gothic"/>
              </a:rPr>
              <a:t>최근접 쌍 문제</a:t>
            </a:r>
            <a:endParaRPr sz="1050" b="1" i="0">
              <a:solidFill>
                <a:srgbClr val="606060"/>
              </a:solidFill>
              <a:latin typeface="Malgun Gothic"/>
              <a:ea typeface="Malgun Gothic"/>
              <a:cs typeface="Malgun Gothic"/>
            </a:endParaRPr>
          </a:p>
        </p:txBody>
      </p:sp>
      <p:sp>
        <p:nvSpPr>
          <p:cNvPr id="29" name="직사각형 28">
            <a:extLst>
              <a:ext uri="{FF2B5EF4-FFF2-40B4-BE49-F238E27FC236}">
                <a16:creationId xmlns:a16="http://schemas.microsoft.com/office/drawing/2014/main" id="{B86A9CB1-2311-4AF9-8564-5E21AD73D99C}"/>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0" name="직사각형 29">
            <a:extLst>
              <a:ext uri="{FF2B5EF4-FFF2-40B4-BE49-F238E27FC236}">
                <a16:creationId xmlns:a16="http://schemas.microsoft.com/office/drawing/2014/main" id="{144363CD-D125-45CC-9DF2-0984A8759828}"/>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무식한 접근 — 모든 쌍을 다 재본다</a:t>
            </a:r>
          </a:p>
        </p:txBody>
      </p:sp>
      <p:sp>
        <p:nvSpPr>
          <p:cNvPr id="31" name="직사각형 30">
            <a:extLst>
              <a:ext uri="{FF2B5EF4-FFF2-40B4-BE49-F238E27FC236}">
                <a16:creationId xmlns:a16="http://schemas.microsoft.com/office/drawing/2014/main" id="{4713188B-5814-49E1-8C31-78E94F61742E}"/>
              </a:ext>
            </a:extLst>
          </p:cNvPr>
          <p:cNvSpPr>
            <a:spLocks noGrp="1"/>
          </p:cNvSpPr>
          <p:nvPr/>
        </p:nvSpPr>
        <p:spPr>
          <a:xfrm>
            <a:off x="609600" y="1381125"/>
            <a:ext cx="10972800" cy="19050"/>
          </a:xfrm>
          <a:prstGeom prst="rect">
            <a:avLst/>
          </a:prstGeom>
          <a:solidFill>
            <a:srgbClr val="171717"/>
          </a:solidFill>
          <a:ln w="0">
            <a:noFill/>
          </a:ln>
        </p:spPr>
      </p:sp>
      <p:sp>
        <p:nvSpPr>
          <p:cNvPr id="32" name="직사각형 31">
            <a:extLst>
              <a:ext uri="{FF2B5EF4-FFF2-40B4-BE49-F238E27FC236}">
                <a16:creationId xmlns:a16="http://schemas.microsoft.com/office/drawing/2014/main" id="{7710358D-7C3A-4B5D-B496-9A0B6D7D3E7D}"/>
              </a:ext>
            </a:extLst>
          </p:cNvPr>
          <p:cNvSpPr>
            <a:spLocks noGrp="1"/>
          </p:cNvSpPr>
          <p:nvPr/>
        </p:nvSpPr>
        <p:spPr>
          <a:xfrm>
            <a:off x="609600" y="6438900"/>
            <a:ext cx="10972800" cy="9525"/>
          </a:xfrm>
          <a:prstGeom prst="rect">
            <a:avLst/>
          </a:prstGeom>
          <a:solidFill>
            <a:srgbClr val="D4D4D4"/>
          </a:solidFill>
          <a:ln w="0">
            <a:noFill/>
          </a:ln>
        </p:spPr>
      </p:sp>
      <p:sp>
        <p:nvSpPr>
          <p:cNvPr id="33" name="직사각형 32">
            <a:extLst>
              <a:ext uri="{FF2B5EF4-FFF2-40B4-BE49-F238E27FC236}">
                <a16:creationId xmlns:a16="http://schemas.microsoft.com/office/drawing/2014/main" id="{212F90D1-CEC3-4AB7-96C1-9573FEED2A16}"/>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4" name="직사각형 33">
            <a:extLst>
              <a:ext uri="{FF2B5EF4-FFF2-40B4-BE49-F238E27FC236}">
                <a16:creationId xmlns:a16="http://schemas.microsoft.com/office/drawing/2014/main" id="{0F30AE25-293E-4DBD-9810-4594DCDFBD94}"/>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96</a:t>
            </a:r>
            <a:endParaRPr sz="1050" b="1" i="0">
              <a:solidFill>
                <a:srgbClr val="171717"/>
              </a:solidFill>
              <a:latin typeface="Consolas"/>
              <a:ea typeface="Consolas"/>
              <a:cs typeface="Consolas"/>
            </a:endParaRPr>
          </a:p>
        </p:txBody>
      </p:sp>
      <p:pic>
        <p:nvPicPr>
          <p:cNvPr id="51" name="그림 50"/>
          <p:cNvPicPr>
            <a:picLocks noChangeAspect="1"/>
          </p:cNvPicPr>
          <p:nvPr/>
        </p:nvPicPr>
        <p:blipFill>
          <a:blip r:embed="rId3"/>
          <a:stretch/>
        </p:blipFill>
        <p:spPr>
          <a:xfrm>
            <a:off x="7037653" y="1883664"/>
            <a:ext cx="4112111" cy="2542032"/>
          </a:xfrm>
          <a:prstGeom prst="rect">
            <a:avLst/>
          </a:prstGeom>
        </p:spPr>
      </p:pic>
    </p:spTree>
    <p:extLst>
      <p:ext uri="{BB962C8B-B14F-4D97-AF65-F5344CB8AC3E}">
        <p14:creationId xmlns:p14="http://schemas.microsoft.com/office/powerpoint/2010/main" val="78323074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95EAF9C1-ED4B-4FF9-B2C4-675C95223F95}"/>
              </a:ext>
            </a:extLst>
          </p:cNvPr>
          <p:cNvSpPr>
            <a:spLocks noGrp="1"/>
          </p:cNvSpPr>
          <p:nvPr/>
        </p:nvSpPr>
        <p:spPr>
          <a:xfrm>
            <a:off x="658368" y="1700784"/>
            <a:ext cx="5806440" cy="548640"/>
          </a:xfrm>
          <a:prstGeom prst="rect">
            <a:avLst/>
          </a:prstGeom>
          <a:noFill/>
          <a:ln w="0">
            <a:noFill/>
          </a:ln>
        </p:spPr>
        <p:txBody>
          <a:bodyPr wrap="square" lIns="0" tIns="0" rIns="0" bIns="0" anchor="t">
            <a:noAutofit/>
          </a:bodyPr>
          <a:lstStyle/>
          <a:p>
            <a:pPr marL="0" indent="0" algn="l">
              <a:lnSpc>
                <a:spcPct val="142000"/>
              </a:lnSpc>
              <a:buNone/>
              <a:defRPr sz="1300" i="0">
                <a:solidFill>
                  <a:srgbClr val="606060"/>
                </a:solidFill>
                <a:latin typeface="Malgun Gothic"/>
                <a:ea typeface="Malgun Gothic"/>
                <a:cs typeface="Malgun Gothic"/>
              </a:defRPr>
            </a:pPr>
            <a:r>
              <a:rPr sz="1300" i="0">
                <a:solidFill>
                  <a:srgbClr val="606060"/>
                </a:solidFill>
                <a:latin typeface="Malgun Gothic"/>
                <a:ea typeface="Malgun Gothic"/>
                <a:cs typeface="Malgun Gothic"/>
              </a:rPr>
              <a:t>x좌표를 기준으로 점들을 정렬한 뒤, 정확히 절반이 되는 지점에 수직선을 긋는다. 그러면 최근접 쌍은 다음 세 경우 중 하나에 속한다.</a:t>
            </a:r>
            <a:endParaRPr sz="1300"/>
          </a:p>
        </p:txBody>
      </p:sp>
      <p:sp>
        <p:nvSpPr>
          <p:cNvPr id="8" name="Shape 5">
            <a:extLst>
              <a:ext uri="{FF2B5EF4-FFF2-40B4-BE49-F238E27FC236}">
                <a16:creationId xmlns:a16="http://schemas.microsoft.com/office/drawing/2014/main" id="{1DBD0AB8-5737-4101-AA2A-DF04AEE5C9F1}"/>
              </a:ext>
            </a:extLst>
          </p:cNvPr>
          <p:cNvSpPr>
            <a:spLocks noGrp="1"/>
          </p:cNvSpPr>
          <p:nvPr/>
        </p:nvSpPr>
        <p:spPr>
          <a:xfrm>
            <a:off x="896112" y="2670048"/>
            <a:ext cx="548640" cy="548640"/>
          </a:xfrm>
          <a:prstGeom prst="ellipse">
            <a:avLst/>
          </a:prstGeom>
          <a:solidFill>
            <a:srgbClr val="E9E9E9"/>
          </a:solidFill>
          <a:ln w="5715">
            <a:solidFill>
              <a:srgbClr val="D4D4D4"/>
            </a:solidFill>
          </a:ln>
        </p:spPr>
      </p:sp>
      <p:sp>
        <p:nvSpPr>
          <p:cNvPr id="9" name="Text 6">
            <a:extLst>
              <a:ext uri="{FF2B5EF4-FFF2-40B4-BE49-F238E27FC236}">
                <a16:creationId xmlns:a16="http://schemas.microsoft.com/office/drawing/2014/main" id="{D01D1192-B3E1-429B-9AB0-367FB8EFDA40}"/>
              </a:ext>
            </a:extLst>
          </p:cNvPr>
          <p:cNvSpPr>
            <a:spLocks noGrp="1"/>
          </p:cNvSpPr>
          <p:nvPr/>
        </p:nvSpPr>
        <p:spPr>
          <a:xfrm>
            <a:off x="896112" y="2670048"/>
            <a:ext cx="548640" cy="548640"/>
          </a:xfrm>
          <a:prstGeom prst="rect">
            <a:avLst/>
          </a:prstGeom>
          <a:noFill/>
          <a:ln w="0">
            <a:noFill/>
          </a:ln>
        </p:spPr>
        <p:txBody>
          <a:bodyPr wrap="square" lIns="0" tIns="0" rIns="0" bIns="0" anchor="ctr">
            <a:noAutofit/>
          </a:bodyPr>
          <a:lstStyle/>
          <a:p>
            <a:pPr marL="0" indent="0" algn="ctr">
              <a:buNone/>
              <a:defRPr sz="1440" i="0">
                <a:solidFill>
                  <a:srgbClr val="171717"/>
                </a:solidFill>
                <a:latin typeface="Malgun Gothic"/>
                <a:ea typeface="Malgun Gothic"/>
                <a:cs typeface="Malgun Gothic"/>
              </a:defRPr>
            </a:pPr>
            <a:r>
              <a:rPr sz="1440" b="1" i="0">
                <a:solidFill>
                  <a:srgbClr val="171717"/>
                </a:solidFill>
                <a:latin typeface="Malgun Gothic"/>
                <a:ea typeface="Malgun Gothic"/>
                <a:cs typeface="Malgun Gothic"/>
              </a:rPr>
              <a:t>1</a:t>
            </a:r>
            <a:endParaRPr sz="1440"/>
          </a:p>
        </p:txBody>
      </p:sp>
      <p:sp>
        <p:nvSpPr>
          <p:cNvPr id="10" name="Text 7">
            <a:extLst>
              <a:ext uri="{FF2B5EF4-FFF2-40B4-BE49-F238E27FC236}">
                <a16:creationId xmlns:a16="http://schemas.microsoft.com/office/drawing/2014/main" id="{83B792C0-53BB-4818-8754-158D53E0035D}"/>
              </a:ext>
            </a:extLst>
          </p:cNvPr>
          <p:cNvSpPr>
            <a:spLocks noGrp="1"/>
          </p:cNvSpPr>
          <p:nvPr/>
        </p:nvSpPr>
        <p:spPr>
          <a:xfrm>
            <a:off x="1591056" y="2560320"/>
            <a:ext cx="4663440" cy="329184"/>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두 점 모두 왼쪽에</a:t>
            </a:r>
            <a:endParaRPr sz="1400"/>
          </a:p>
        </p:txBody>
      </p:sp>
      <p:sp>
        <p:nvSpPr>
          <p:cNvPr id="11" name="Text 8">
            <a:extLst>
              <a:ext uri="{FF2B5EF4-FFF2-40B4-BE49-F238E27FC236}">
                <a16:creationId xmlns:a16="http://schemas.microsoft.com/office/drawing/2014/main" id="{03B63997-B0E7-4324-A92B-ED6FF880AC34}"/>
              </a:ext>
            </a:extLst>
          </p:cNvPr>
          <p:cNvSpPr>
            <a:spLocks noGrp="1"/>
          </p:cNvSpPr>
          <p:nvPr/>
        </p:nvSpPr>
        <p:spPr>
          <a:xfrm>
            <a:off x="1591056" y="2944368"/>
            <a:ext cx="4663440" cy="457200"/>
          </a:xfrm>
          <a:prstGeom prst="rect">
            <a:avLst/>
          </a:prstGeom>
          <a:noFill/>
          <a:ln w="0">
            <a:noFill/>
          </a:ln>
        </p:spPr>
        <p:txBody>
          <a:bodyPr wrap="square" lIns="0" tIns="0" rIns="0" bIns="0" anchor="t">
            <a:noAutofit/>
          </a:bodyPr>
          <a:lstStyle/>
          <a:p>
            <a:pPr marL="0" indent="0" algn="l">
              <a:lnSpc>
                <a:spcPct val="124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재귀 호출로 왼쪽 절반의 최소 거리 dL을 구한다.</a:t>
            </a:r>
            <a:endParaRPr sz="1180"/>
          </a:p>
        </p:txBody>
      </p:sp>
      <p:sp>
        <p:nvSpPr>
          <p:cNvPr id="13" name="Shape 10">
            <a:extLst>
              <a:ext uri="{FF2B5EF4-FFF2-40B4-BE49-F238E27FC236}">
                <a16:creationId xmlns:a16="http://schemas.microsoft.com/office/drawing/2014/main" id="{471E8FCC-46FC-48AF-9782-A3C3701023B4}"/>
              </a:ext>
            </a:extLst>
          </p:cNvPr>
          <p:cNvSpPr>
            <a:spLocks noGrp="1"/>
          </p:cNvSpPr>
          <p:nvPr/>
        </p:nvSpPr>
        <p:spPr>
          <a:xfrm>
            <a:off x="896112" y="3950208"/>
            <a:ext cx="548640" cy="548640"/>
          </a:xfrm>
          <a:prstGeom prst="ellipse">
            <a:avLst/>
          </a:prstGeom>
          <a:solidFill>
            <a:srgbClr val="E9E9E9"/>
          </a:solidFill>
          <a:ln w="5715">
            <a:solidFill>
              <a:srgbClr val="D4D4D4"/>
            </a:solidFill>
          </a:ln>
        </p:spPr>
      </p:sp>
      <p:sp>
        <p:nvSpPr>
          <p:cNvPr id="14" name="Text 11">
            <a:extLst>
              <a:ext uri="{FF2B5EF4-FFF2-40B4-BE49-F238E27FC236}">
                <a16:creationId xmlns:a16="http://schemas.microsoft.com/office/drawing/2014/main" id="{44B87799-2260-447A-9090-AFA508F31A1F}"/>
              </a:ext>
            </a:extLst>
          </p:cNvPr>
          <p:cNvSpPr>
            <a:spLocks noGrp="1"/>
          </p:cNvSpPr>
          <p:nvPr/>
        </p:nvSpPr>
        <p:spPr>
          <a:xfrm>
            <a:off x="896112" y="3950208"/>
            <a:ext cx="548640" cy="548640"/>
          </a:xfrm>
          <a:prstGeom prst="rect">
            <a:avLst/>
          </a:prstGeom>
          <a:noFill/>
          <a:ln w="0">
            <a:noFill/>
          </a:ln>
        </p:spPr>
        <p:txBody>
          <a:bodyPr wrap="square" lIns="0" tIns="0" rIns="0" bIns="0" anchor="ctr">
            <a:noAutofit/>
          </a:bodyPr>
          <a:lstStyle/>
          <a:p>
            <a:pPr marL="0" indent="0" algn="ctr">
              <a:buNone/>
              <a:defRPr sz="1440" i="0">
                <a:solidFill>
                  <a:srgbClr val="171717"/>
                </a:solidFill>
                <a:latin typeface="Malgun Gothic"/>
                <a:ea typeface="Malgun Gothic"/>
                <a:cs typeface="Malgun Gothic"/>
              </a:defRPr>
            </a:pPr>
            <a:r>
              <a:rPr sz="1440" b="1" i="0">
                <a:solidFill>
                  <a:srgbClr val="171717"/>
                </a:solidFill>
                <a:latin typeface="Malgun Gothic"/>
                <a:ea typeface="Malgun Gothic"/>
                <a:cs typeface="Malgun Gothic"/>
              </a:rPr>
              <a:t>2</a:t>
            </a:r>
            <a:endParaRPr sz="1440"/>
          </a:p>
        </p:txBody>
      </p:sp>
      <p:sp>
        <p:nvSpPr>
          <p:cNvPr id="15" name="Text 12">
            <a:extLst>
              <a:ext uri="{FF2B5EF4-FFF2-40B4-BE49-F238E27FC236}">
                <a16:creationId xmlns:a16="http://schemas.microsoft.com/office/drawing/2014/main" id="{992E9705-528F-4F56-BC49-25B3F88E065C}"/>
              </a:ext>
            </a:extLst>
          </p:cNvPr>
          <p:cNvSpPr>
            <a:spLocks noGrp="1"/>
          </p:cNvSpPr>
          <p:nvPr/>
        </p:nvSpPr>
        <p:spPr>
          <a:xfrm>
            <a:off x="1591056" y="3840480"/>
            <a:ext cx="4663440" cy="329184"/>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두 점 모두 오른쪽에</a:t>
            </a:r>
            <a:endParaRPr sz="1400"/>
          </a:p>
        </p:txBody>
      </p:sp>
      <p:sp>
        <p:nvSpPr>
          <p:cNvPr id="16" name="Text 13">
            <a:extLst>
              <a:ext uri="{FF2B5EF4-FFF2-40B4-BE49-F238E27FC236}">
                <a16:creationId xmlns:a16="http://schemas.microsoft.com/office/drawing/2014/main" id="{BDF8E887-1628-4822-90B6-9FBB2B936B29}"/>
              </a:ext>
            </a:extLst>
          </p:cNvPr>
          <p:cNvSpPr>
            <a:spLocks noGrp="1"/>
          </p:cNvSpPr>
          <p:nvPr/>
        </p:nvSpPr>
        <p:spPr>
          <a:xfrm>
            <a:off x="1591056" y="4224528"/>
            <a:ext cx="4663440" cy="457200"/>
          </a:xfrm>
          <a:prstGeom prst="rect">
            <a:avLst/>
          </a:prstGeom>
          <a:noFill/>
          <a:ln w="0">
            <a:noFill/>
          </a:ln>
        </p:spPr>
        <p:txBody>
          <a:bodyPr wrap="square" lIns="0" tIns="0" rIns="0" bIns="0" anchor="t">
            <a:noAutofit/>
          </a:bodyPr>
          <a:lstStyle/>
          <a:p>
            <a:pPr marL="0" indent="0" algn="l">
              <a:lnSpc>
                <a:spcPct val="124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재귀 호출로 오른쪽 절반의 최소 거리 dR을 구한다.</a:t>
            </a:r>
            <a:endParaRPr sz="1180"/>
          </a:p>
        </p:txBody>
      </p:sp>
      <p:sp>
        <p:nvSpPr>
          <p:cNvPr id="18" name="Shape 15">
            <a:extLst>
              <a:ext uri="{FF2B5EF4-FFF2-40B4-BE49-F238E27FC236}">
                <a16:creationId xmlns:a16="http://schemas.microsoft.com/office/drawing/2014/main" id="{06255C04-B4E3-42D5-849B-3E49ABAF4AC4}"/>
              </a:ext>
            </a:extLst>
          </p:cNvPr>
          <p:cNvSpPr>
            <a:spLocks noGrp="1"/>
          </p:cNvSpPr>
          <p:nvPr/>
        </p:nvSpPr>
        <p:spPr>
          <a:xfrm>
            <a:off x="896112" y="5230368"/>
            <a:ext cx="548640" cy="548640"/>
          </a:xfrm>
          <a:prstGeom prst="ellipse">
            <a:avLst/>
          </a:prstGeom>
          <a:solidFill>
            <a:srgbClr val="E9E9E9"/>
          </a:solidFill>
          <a:ln w="5715">
            <a:solidFill>
              <a:srgbClr val="D4D4D4"/>
            </a:solidFill>
          </a:ln>
        </p:spPr>
      </p:sp>
      <p:sp>
        <p:nvSpPr>
          <p:cNvPr id="19" name="Text 16">
            <a:extLst>
              <a:ext uri="{FF2B5EF4-FFF2-40B4-BE49-F238E27FC236}">
                <a16:creationId xmlns:a16="http://schemas.microsoft.com/office/drawing/2014/main" id="{C4BD215E-9AD2-45B5-A09A-3707D8F74551}"/>
              </a:ext>
            </a:extLst>
          </p:cNvPr>
          <p:cNvSpPr>
            <a:spLocks noGrp="1"/>
          </p:cNvSpPr>
          <p:nvPr/>
        </p:nvSpPr>
        <p:spPr>
          <a:xfrm>
            <a:off x="896112" y="5230368"/>
            <a:ext cx="548640" cy="548640"/>
          </a:xfrm>
          <a:prstGeom prst="rect">
            <a:avLst/>
          </a:prstGeom>
          <a:noFill/>
          <a:ln w="0">
            <a:noFill/>
          </a:ln>
        </p:spPr>
        <p:txBody>
          <a:bodyPr wrap="square" lIns="0" tIns="0" rIns="0" bIns="0" anchor="ctr">
            <a:noAutofit/>
          </a:bodyPr>
          <a:lstStyle/>
          <a:p>
            <a:pPr marL="0" indent="0" algn="ctr">
              <a:buNone/>
              <a:defRPr sz="1440" i="0">
                <a:solidFill>
                  <a:srgbClr val="171717"/>
                </a:solidFill>
                <a:latin typeface="Malgun Gothic"/>
                <a:ea typeface="Malgun Gothic"/>
                <a:cs typeface="Malgun Gothic"/>
              </a:defRPr>
            </a:pPr>
            <a:r>
              <a:rPr sz="1440" b="1" i="0">
                <a:solidFill>
                  <a:srgbClr val="171717"/>
                </a:solidFill>
                <a:latin typeface="Malgun Gothic"/>
                <a:ea typeface="Malgun Gothic"/>
                <a:cs typeface="Malgun Gothic"/>
              </a:rPr>
              <a:t>3</a:t>
            </a:r>
            <a:endParaRPr sz="1440"/>
          </a:p>
        </p:txBody>
      </p:sp>
      <p:sp>
        <p:nvSpPr>
          <p:cNvPr id="20" name="Text 17">
            <a:extLst>
              <a:ext uri="{FF2B5EF4-FFF2-40B4-BE49-F238E27FC236}">
                <a16:creationId xmlns:a16="http://schemas.microsoft.com/office/drawing/2014/main" id="{15BACAD4-1437-447C-8495-32AF893A18E9}"/>
              </a:ext>
            </a:extLst>
          </p:cNvPr>
          <p:cNvSpPr>
            <a:spLocks noGrp="1"/>
          </p:cNvSpPr>
          <p:nvPr/>
        </p:nvSpPr>
        <p:spPr>
          <a:xfrm>
            <a:off x="1591056" y="5120640"/>
            <a:ext cx="4663440" cy="329184"/>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경계선을 사이에 두고</a:t>
            </a:r>
            <a:endParaRPr sz="1400"/>
          </a:p>
        </p:txBody>
      </p:sp>
      <p:sp>
        <p:nvSpPr>
          <p:cNvPr id="21" name="Text 18">
            <a:extLst>
              <a:ext uri="{FF2B5EF4-FFF2-40B4-BE49-F238E27FC236}">
                <a16:creationId xmlns:a16="http://schemas.microsoft.com/office/drawing/2014/main" id="{9941F180-B854-4BDF-AE4F-EF6B5DF540F7}"/>
              </a:ext>
            </a:extLst>
          </p:cNvPr>
          <p:cNvSpPr>
            <a:spLocks noGrp="1"/>
          </p:cNvSpPr>
          <p:nvPr/>
        </p:nvSpPr>
        <p:spPr>
          <a:xfrm>
            <a:off x="1591056" y="5504688"/>
            <a:ext cx="4663440" cy="457200"/>
          </a:xfrm>
          <a:prstGeom prst="rect">
            <a:avLst/>
          </a:prstGeom>
          <a:noFill/>
          <a:ln w="0">
            <a:noFill/>
          </a:ln>
        </p:spPr>
        <p:txBody>
          <a:bodyPr wrap="square" lIns="0" tIns="0" rIns="0" bIns="0" anchor="t">
            <a:noAutofit/>
          </a:bodyPr>
          <a:lstStyle/>
          <a:p>
            <a:pPr marL="0" indent="0" algn="l">
              <a:lnSpc>
                <a:spcPct val="124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한 점은 왼쪽, 다른 점은 오른쪽. 별도로 처리해야 한다.</a:t>
            </a:r>
            <a:endParaRPr sz="1180"/>
          </a:p>
        </p:txBody>
      </p:sp>
      <p:sp>
        <p:nvSpPr>
          <p:cNvPr id="27" name="Text 22">
            <a:extLst>
              <a:ext uri="{FF2B5EF4-FFF2-40B4-BE49-F238E27FC236}">
                <a16:creationId xmlns:a16="http://schemas.microsoft.com/office/drawing/2014/main" id="{E6D0DFF0-3FF4-4D3C-A3D6-5CAECC843589}"/>
              </a:ext>
            </a:extLst>
          </p:cNvPr>
          <p:cNvSpPr>
            <a:spLocks noGrp="1"/>
          </p:cNvSpPr>
          <p:nvPr/>
        </p:nvSpPr>
        <p:spPr>
          <a:xfrm>
            <a:off x="7644384" y="5303520"/>
            <a:ext cx="3630168" cy="694944"/>
          </a:xfrm>
          <a:prstGeom prst="rect">
            <a:avLst/>
          </a:prstGeom>
          <a:noFill/>
          <a:ln w="0">
            <a:noFill/>
          </a:ln>
        </p:spPr>
        <p:txBody>
          <a:bodyPr wrap="square" lIns="0" tIns="0" rIns="0" bIns="0" anchor="ctr">
            <a:noAutofit/>
          </a:bodyPr>
          <a:lstStyle/>
          <a:p>
            <a:pPr marL="0" indent="0" algn="l">
              <a:lnSpc>
                <a:spcPct val="13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d = min(dL, dR)을 먼저 구한 뒤, 경계선 근처만 추가로 살펴본다.</a:t>
            </a:r>
            <a:endParaRPr sz="1250"/>
          </a:p>
        </p:txBody>
      </p:sp>
      <p:sp>
        <p:nvSpPr>
          <p:cNvPr id="31" name="직사각형 30">
            <a:extLst>
              <a:ext uri="{FF2B5EF4-FFF2-40B4-BE49-F238E27FC236}">
                <a16:creationId xmlns:a16="http://schemas.microsoft.com/office/drawing/2014/main" id="{C3E212D6-B01D-4BA4-91C5-47273F2ECB6A}"/>
              </a:ext>
            </a:extLst>
          </p:cNvPr>
          <p:cNvSpPr>
            <a:spLocks noGrp="1"/>
          </p:cNvSpPr>
          <p:nvPr/>
        </p:nvSpPr>
        <p:spPr>
          <a:xfrm>
            <a:off x="658368" y="3657600"/>
            <a:ext cx="5806440" cy="9525"/>
          </a:xfrm>
          <a:prstGeom prst="rect">
            <a:avLst/>
          </a:prstGeom>
          <a:solidFill>
            <a:srgbClr val="D4D4D4"/>
          </a:solidFill>
          <a:ln w="0">
            <a:noFill/>
          </a:ln>
        </p:spPr>
      </p:sp>
      <p:sp>
        <p:nvSpPr>
          <p:cNvPr id="32" name="직사각형 31">
            <a:extLst>
              <a:ext uri="{FF2B5EF4-FFF2-40B4-BE49-F238E27FC236}">
                <a16:creationId xmlns:a16="http://schemas.microsoft.com/office/drawing/2014/main" id="{0E0BB38A-FC2C-47BA-804E-15F3917151A0}"/>
              </a:ext>
            </a:extLst>
          </p:cNvPr>
          <p:cNvSpPr>
            <a:spLocks noGrp="1"/>
          </p:cNvSpPr>
          <p:nvPr/>
        </p:nvSpPr>
        <p:spPr>
          <a:xfrm>
            <a:off x="658368" y="4937760"/>
            <a:ext cx="5806440" cy="9525"/>
          </a:xfrm>
          <a:prstGeom prst="rect">
            <a:avLst/>
          </a:prstGeom>
          <a:solidFill>
            <a:srgbClr val="D4D4D4"/>
          </a:solidFill>
          <a:ln w="0">
            <a:noFill/>
          </a:ln>
        </p:spPr>
      </p:sp>
      <p:sp>
        <p:nvSpPr>
          <p:cNvPr id="33" name="직사각형 32">
            <a:extLst>
              <a:ext uri="{FF2B5EF4-FFF2-40B4-BE49-F238E27FC236}">
                <a16:creationId xmlns:a16="http://schemas.microsoft.com/office/drawing/2014/main" id="{C71A8A85-3814-476C-80F6-E0633D2784DF}"/>
              </a:ext>
            </a:extLst>
          </p:cNvPr>
          <p:cNvSpPr>
            <a:spLocks noGrp="1"/>
          </p:cNvSpPr>
          <p:nvPr/>
        </p:nvSpPr>
        <p:spPr>
          <a:xfrm>
            <a:off x="6784848" y="1737360"/>
            <a:ext cx="4745736"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3A8A0B1D-7DFB-428B-8702-3895EF381BAE}"/>
              </a:ext>
            </a:extLst>
          </p:cNvPr>
          <p:cNvSpPr>
            <a:spLocks noGrp="1"/>
          </p:cNvSpPr>
          <p:nvPr/>
        </p:nvSpPr>
        <p:spPr>
          <a:xfrm>
            <a:off x="6784848" y="5138928"/>
            <a:ext cx="4745736" cy="9525"/>
          </a:xfrm>
          <a:prstGeom prst="rect">
            <a:avLst/>
          </a:prstGeom>
          <a:solidFill>
            <a:srgbClr val="D4D4D4"/>
          </a:solidFill>
          <a:ln w="0">
            <a:noFill/>
          </a:ln>
        </p:spPr>
      </p:sp>
      <p:sp>
        <p:nvSpPr>
          <p:cNvPr id="35" name="직사각형 34">
            <a:extLst>
              <a:ext uri="{FF2B5EF4-FFF2-40B4-BE49-F238E27FC236}">
                <a16:creationId xmlns:a16="http://schemas.microsoft.com/office/drawing/2014/main" id="{DFD046D1-1DD2-44E3-BBA8-F9204FBE4101}"/>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4.5  </a:t>
            </a:r>
            <a:r>
              <a:rPr lang="ko-KR" altLang="en-US" sz="1050" b="1" i="0">
                <a:solidFill>
                  <a:srgbClr val="606060"/>
                </a:solidFill>
                <a:latin typeface="Malgun Gothic"/>
                <a:ea typeface="Malgun Gothic"/>
                <a:cs typeface="Malgun Gothic"/>
              </a:rPr>
              <a:t>최근접 쌍 문제</a:t>
            </a:r>
            <a:endParaRPr sz="1050" b="1" i="0">
              <a:solidFill>
                <a:srgbClr val="606060"/>
              </a:solidFill>
              <a:latin typeface="Malgun Gothic"/>
              <a:ea typeface="Malgun Gothic"/>
              <a:cs typeface="Malgun Gothic"/>
            </a:endParaRPr>
          </a:p>
        </p:txBody>
      </p:sp>
      <p:sp>
        <p:nvSpPr>
          <p:cNvPr id="36" name="직사각형 35">
            <a:extLst>
              <a:ext uri="{FF2B5EF4-FFF2-40B4-BE49-F238E27FC236}">
                <a16:creationId xmlns:a16="http://schemas.microsoft.com/office/drawing/2014/main" id="{89C1F771-1021-4543-9440-F5482580794C}"/>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7" name="직사각형 36">
            <a:extLst>
              <a:ext uri="{FF2B5EF4-FFF2-40B4-BE49-F238E27FC236}">
                <a16:creationId xmlns:a16="http://schemas.microsoft.com/office/drawing/2014/main" id="{1DE09A84-0EB6-4A04-9E47-DDCD0FCA3AF4}"/>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분할 정복 전략 — 평면을 반으로 가른다</a:t>
            </a:r>
          </a:p>
        </p:txBody>
      </p:sp>
      <p:sp>
        <p:nvSpPr>
          <p:cNvPr id="38" name="직사각형 37">
            <a:extLst>
              <a:ext uri="{FF2B5EF4-FFF2-40B4-BE49-F238E27FC236}">
                <a16:creationId xmlns:a16="http://schemas.microsoft.com/office/drawing/2014/main" id="{8DBBA728-D3DB-4895-B18A-778B092EAFD7}"/>
              </a:ext>
            </a:extLst>
          </p:cNvPr>
          <p:cNvSpPr>
            <a:spLocks noGrp="1"/>
          </p:cNvSpPr>
          <p:nvPr/>
        </p:nvSpPr>
        <p:spPr>
          <a:xfrm>
            <a:off x="609600" y="1381125"/>
            <a:ext cx="10972800" cy="19050"/>
          </a:xfrm>
          <a:prstGeom prst="rect">
            <a:avLst/>
          </a:prstGeom>
          <a:solidFill>
            <a:srgbClr val="171717"/>
          </a:solidFill>
          <a:ln w="0">
            <a:noFill/>
          </a:ln>
        </p:spPr>
      </p:sp>
      <p:sp>
        <p:nvSpPr>
          <p:cNvPr id="39" name="직사각형 38">
            <a:extLst>
              <a:ext uri="{FF2B5EF4-FFF2-40B4-BE49-F238E27FC236}">
                <a16:creationId xmlns:a16="http://schemas.microsoft.com/office/drawing/2014/main" id="{BD0C3B82-B2CA-4C7B-95F1-F596F949F56E}"/>
              </a:ext>
            </a:extLst>
          </p:cNvPr>
          <p:cNvSpPr>
            <a:spLocks noGrp="1"/>
          </p:cNvSpPr>
          <p:nvPr/>
        </p:nvSpPr>
        <p:spPr>
          <a:xfrm>
            <a:off x="8105775" y="2695575"/>
            <a:ext cx="409575" cy="238125"/>
          </a:xfrm>
          <a:prstGeom prst="rect">
            <a:avLst/>
          </a:prstGeom>
          <a:solidFill>
            <a:srgbClr val="ECECEC"/>
          </a:solidFill>
          <a:ln w="0">
            <a:noFill/>
          </a:ln>
        </p:spPr>
        <p:txBody>
          <a:bodyPr wrap="square" lIns="0" tIns="0" rIns="0" bIns="0" anchor="t">
            <a:noAutofit/>
          </a:bodyPr>
          <a:lstStyle/>
          <a:p>
            <a:pPr algn="l">
              <a:lnSpc>
                <a:spcPct val="104000"/>
              </a:lnSpc>
              <a:buNone/>
              <a:defRPr sz="1275" b="0" i="0">
                <a:solidFill>
                  <a:srgbClr val="171717"/>
                </a:solidFill>
                <a:latin typeface="Consolas"/>
                <a:ea typeface="Consolas"/>
                <a:cs typeface="Consolas"/>
              </a:defRPr>
            </a:pPr>
            <a:r>
              <a:rPr sz="1275" b="0" i="0">
                <a:solidFill>
                  <a:srgbClr val="171717"/>
                </a:solidFill>
                <a:latin typeface="Consolas"/>
                <a:ea typeface="Consolas"/>
                <a:cs typeface="Consolas"/>
              </a:rPr>
              <a:t>dL</a:t>
            </a:r>
          </a:p>
        </p:txBody>
      </p:sp>
      <p:sp>
        <p:nvSpPr>
          <p:cNvPr id="40" name="직사각형 39">
            <a:extLst>
              <a:ext uri="{FF2B5EF4-FFF2-40B4-BE49-F238E27FC236}">
                <a16:creationId xmlns:a16="http://schemas.microsoft.com/office/drawing/2014/main" id="{046B6480-C895-4034-A771-B7339EA3BCFC}"/>
              </a:ext>
            </a:extLst>
          </p:cNvPr>
          <p:cNvSpPr>
            <a:spLocks noGrp="1"/>
          </p:cNvSpPr>
          <p:nvPr/>
        </p:nvSpPr>
        <p:spPr>
          <a:xfrm>
            <a:off x="10420350" y="2867025"/>
            <a:ext cx="371475" cy="247650"/>
          </a:xfrm>
          <a:prstGeom prst="rect">
            <a:avLst/>
          </a:prstGeom>
          <a:solidFill>
            <a:srgbClr val="ECECEC"/>
          </a:solidFill>
          <a:ln w="0">
            <a:noFill/>
          </a:ln>
        </p:spPr>
        <p:txBody>
          <a:bodyPr wrap="square" lIns="0" tIns="0" rIns="0" bIns="0" anchor="t">
            <a:noAutofit/>
          </a:bodyPr>
          <a:lstStyle/>
          <a:p>
            <a:pPr algn="l">
              <a:lnSpc>
                <a:spcPct val="104000"/>
              </a:lnSpc>
              <a:buNone/>
              <a:defRPr sz="1275" b="0" i="0">
                <a:solidFill>
                  <a:srgbClr val="171717"/>
                </a:solidFill>
                <a:latin typeface="Consolas"/>
                <a:ea typeface="Consolas"/>
                <a:cs typeface="Consolas"/>
              </a:defRPr>
            </a:pPr>
            <a:r>
              <a:rPr sz="1275" b="0" i="0">
                <a:solidFill>
                  <a:srgbClr val="171717"/>
                </a:solidFill>
                <a:latin typeface="Consolas"/>
                <a:ea typeface="Consolas"/>
                <a:cs typeface="Consolas"/>
              </a:rPr>
              <a:t>dR</a:t>
            </a:r>
          </a:p>
        </p:txBody>
      </p:sp>
      <p:sp>
        <p:nvSpPr>
          <p:cNvPr id="41" name="직사각형 40">
            <a:extLst>
              <a:ext uri="{FF2B5EF4-FFF2-40B4-BE49-F238E27FC236}">
                <a16:creationId xmlns:a16="http://schemas.microsoft.com/office/drawing/2014/main" id="{34F3B5AD-B7B9-4FD9-94A8-4F6F9A92D059}"/>
              </a:ext>
            </a:extLst>
          </p:cNvPr>
          <p:cNvSpPr>
            <a:spLocks noGrp="1"/>
          </p:cNvSpPr>
          <p:nvPr/>
        </p:nvSpPr>
        <p:spPr>
          <a:xfrm>
            <a:off x="8143875" y="4543425"/>
            <a:ext cx="2143125" cy="400050"/>
          </a:xfrm>
          <a:prstGeom prst="rect">
            <a:avLst/>
          </a:prstGeom>
          <a:solidFill>
            <a:srgbClr val="FFFFFF"/>
          </a:solidFill>
          <a:ln w="0">
            <a:noFill/>
          </a:ln>
        </p:spPr>
        <p:txBody>
          <a:bodyPr wrap="square" lIns="0" tIns="0" rIns="0" bIns="0" anchor="t">
            <a:noAutofit/>
          </a:bodyPr>
          <a:lstStyle/>
          <a:p>
            <a:pPr algn="ctr">
              <a:lnSpc>
                <a:spcPct val="104000"/>
              </a:lnSpc>
              <a:buNone/>
              <a:defRPr sz="1350" b="0" i="0">
                <a:solidFill>
                  <a:srgbClr val="171717"/>
                </a:solidFill>
                <a:latin typeface="Malgun Gothic"/>
                <a:ea typeface="Malgun Gothic"/>
                <a:cs typeface="Malgun Gothic"/>
              </a:defRPr>
            </a:pPr>
            <a:r>
              <a:rPr sz="1350" b="0" i="0">
                <a:solidFill>
                  <a:srgbClr val="171717"/>
                </a:solidFill>
                <a:latin typeface="Malgun Gothic"/>
                <a:ea typeface="Malgun Gothic"/>
                <a:cs typeface="Malgun Gothic"/>
              </a:rPr>
              <a:t>분할 경계</a:t>
            </a:r>
          </a:p>
        </p:txBody>
      </p:sp>
      <p:sp>
        <p:nvSpPr>
          <p:cNvPr id="42" name="직사각형 41">
            <a:extLst>
              <a:ext uri="{FF2B5EF4-FFF2-40B4-BE49-F238E27FC236}">
                <a16:creationId xmlns:a16="http://schemas.microsoft.com/office/drawing/2014/main" id="{D3C50EDC-CC42-4008-9127-D4993415405D}"/>
              </a:ext>
            </a:extLst>
          </p:cNvPr>
          <p:cNvSpPr>
            <a:spLocks noGrp="1"/>
          </p:cNvSpPr>
          <p:nvPr/>
        </p:nvSpPr>
        <p:spPr>
          <a:xfrm>
            <a:off x="609600" y="6438900"/>
            <a:ext cx="10972800" cy="9525"/>
          </a:xfrm>
          <a:prstGeom prst="rect">
            <a:avLst/>
          </a:prstGeom>
          <a:solidFill>
            <a:srgbClr val="D4D4D4"/>
          </a:solidFill>
          <a:ln w="0">
            <a:noFill/>
          </a:ln>
        </p:spPr>
      </p:sp>
      <p:sp>
        <p:nvSpPr>
          <p:cNvPr id="43" name="직사각형 42">
            <a:extLst>
              <a:ext uri="{FF2B5EF4-FFF2-40B4-BE49-F238E27FC236}">
                <a16:creationId xmlns:a16="http://schemas.microsoft.com/office/drawing/2014/main" id="{3A6F46A7-D242-4825-B18A-2153D2649900}"/>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4" name="직사각형 43">
            <a:extLst>
              <a:ext uri="{FF2B5EF4-FFF2-40B4-BE49-F238E27FC236}">
                <a16:creationId xmlns:a16="http://schemas.microsoft.com/office/drawing/2014/main" id="{6C6BC4EC-7840-407E-A066-5E3EF8564EBA}"/>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97</a:t>
            </a:r>
            <a:endParaRPr sz="1050" b="1" i="0">
              <a:solidFill>
                <a:srgbClr val="171717"/>
              </a:solidFill>
              <a:latin typeface="Consolas"/>
              <a:ea typeface="Consolas"/>
              <a:cs typeface="Consolas"/>
            </a:endParaRPr>
          </a:p>
        </p:txBody>
      </p:sp>
      <p:pic>
        <p:nvPicPr>
          <p:cNvPr id="74" name="그림 73"/>
          <p:cNvPicPr>
            <a:picLocks noChangeAspect="1"/>
          </p:cNvPicPr>
          <p:nvPr/>
        </p:nvPicPr>
        <p:blipFill>
          <a:blip r:embed="rId3"/>
          <a:stretch/>
        </p:blipFill>
        <p:spPr>
          <a:xfrm>
            <a:off x="7191878" y="1883664"/>
            <a:ext cx="3931676" cy="2953512"/>
          </a:xfrm>
          <a:prstGeom prst="rect">
            <a:avLst/>
          </a:prstGeom>
        </p:spPr>
      </p:pic>
    </p:spTree>
    <p:extLst>
      <p:ext uri="{BB962C8B-B14F-4D97-AF65-F5344CB8AC3E}">
        <p14:creationId xmlns:p14="http://schemas.microsoft.com/office/powerpoint/2010/main" val="18528960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CA5A9640-0629-49E3-8FA5-3E097F108CFD}"/>
              </a:ext>
            </a:extLst>
          </p:cNvPr>
          <p:cNvSpPr>
            <a:spLocks noGrp="1"/>
          </p:cNvSpPr>
          <p:nvPr/>
        </p:nvSpPr>
        <p:spPr>
          <a:xfrm>
            <a:off x="658368" y="1700784"/>
            <a:ext cx="5349240" cy="100584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경계선을 걸친 쌍을 모두 검사하면 다시 O(n²)이다. 하지만 이미 d = min(dL, dR)을 알고 있다. d보다 가까운 쌍만 찾으면 되므로, 경계선에서 좌우로 d 이내에 있는 점들만 후보가 된다.</a:t>
            </a:r>
            <a:endParaRPr sz="1300"/>
          </a:p>
        </p:txBody>
      </p:sp>
      <p:sp>
        <p:nvSpPr>
          <p:cNvPr id="12" name="Text 7">
            <a:extLst>
              <a:ext uri="{FF2B5EF4-FFF2-40B4-BE49-F238E27FC236}">
                <a16:creationId xmlns:a16="http://schemas.microsoft.com/office/drawing/2014/main" id="{2408899E-54D5-4B22-A686-8FCA580EE765}"/>
              </a:ext>
            </a:extLst>
          </p:cNvPr>
          <p:cNvSpPr>
            <a:spLocks noGrp="1"/>
          </p:cNvSpPr>
          <p:nvPr/>
        </p:nvSpPr>
        <p:spPr>
          <a:xfrm>
            <a:off x="7168896" y="1920240"/>
            <a:ext cx="4105656" cy="29260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후보를 띠 안으로 좁힌다</a:t>
            </a:r>
            <a:endParaRPr sz="1300"/>
          </a:p>
        </p:txBody>
      </p:sp>
      <p:sp>
        <p:nvSpPr>
          <p:cNvPr id="13" name="Text 8">
            <a:extLst>
              <a:ext uri="{FF2B5EF4-FFF2-40B4-BE49-F238E27FC236}">
                <a16:creationId xmlns:a16="http://schemas.microsoft.com/office/drawing/2014/main" id="{FFFBEB69-10E2-452E-9714-FFE2C3C1AC86}"/>
              </a:ext>
            </a:extLst>
          </p:cNvPr>
          <p:cNvSpPr>
            <a:spLocks noGrp="1"/>
          </p:cNvSpPr>
          <p:nvPr/>
        </p:nvSpPr>
        <p:spPr>
          <a:xfrm>
            <a:off x="7168896" y="2267712"/>
            <a:ext cx="4105656" cy="731520"/>
          </a:xfrm>
          <a:prstGeom prst="rect">
            <a:avLst/>
          </a:prstGeom>
          <a:noFill/>
          <a:ln w="0">
            <a:noFill/>
          </a:ln>
        </p:spPr>
        <p:txBody>
          <a:bodyPr wrap="square" lIns="0" tIns="0" rIns="0" bIns="0" anchor="t">
            <a:noAutofit/>
          </a:bodyPr>
          <a:lstStyle/>
          <a:p>
            <a:pPr marL="0" indent="0" algn="l">
              <a:lnSpc>
                <a:spcPct val="132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경계선에서 수평 거리가 d 이상 떨어진 점은, 어떤 짝을 만나도 거리가 d를 넘는다. 검사할 필요조차 없다.</a:t>
            </a:r>
            <a:endParaRPr sz="1180"/>
          </a:p>
        </p:txBody>
      </p:sp>
      <p:sp>
        <p:nvSpPr>
          <p:cNvPr id="17" name="Text 11">
            <a:extLst>
              <a:ext uri="{FF2B5EF4-FFF2-40B4-BE49-F238E27FC236}">
                <a16:creationId xmlns:a16="http://schemas.microsoft.com/office/drawing/2014/main" id="{1F10434C-E6C2-4B7C-A3EC-4EB8B18A8BAC}"/>
              </a:ext>
            </a:extLst>
          </p:cNvPr>
          <p:cNvSpPr>
            <a:spLocks noGrp="1"/>
          </p:cNvSpPr>
          <p:nvPr/>
        </p:nvSpPr>
        <p:spPr>
          <a:xfrm>
            <a:off x="7168896" y="3529584"/>
            <a:ext cx="4105656" cy="29260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띠 안의 점을 y좌표로 정렬</a:t>
            </a:r>
            <a:endParaRPr sz="1300"/>
          </a:p>
        </p:txBody>
      </p:sp>
      <p:sp>
        <p:nvSpPr>
          <p:cNvPr id="18" name="Text 12">
            <a:extLst>
              <a:ext uri="{FF2B5EF4-FFF2-40B4-BE49-F238E27FC236}">
                <a16:creationId xmlns:a16="http://schemas.microsoft.com/office/drawing/2014/main" id="{20CCD344-8E7B-40D6-856E-D6D34338D986}"/>
              </a:ext>
            </a:extLst>
          </p:cNvPr>
          <p:cNvSpPr>
            <a:spLocks noGrp="1"/>
          </p:cNvSpPr>
          <p:nvPr/>
        </p:nvSpPr>
        <p:spPr>
          <a:xfrm>
            <a:off x="7168896" y="3877056"/>
            <a:ext cx="4105656" cy="731520"/>
          </a:xfrm>
          <a:prstGeom prst="rect">
            <a:avLst/>
          </a:prstGeom>
          <a:noFill/>
          <a:ln w="0">
            <a:noFill/>
          </a:ln>
        </p:spPr>
        <p:txBody>
          <a:bodyPr wrap="square" lIns="0" tIns="0" rIns="0" bIns="0" anchor="t">
            <a:noAutofit/>
          </a:bodyPr>
          <a:lstStyle/>
          <a:p>
            <a:pPr marL="0" indent="0" algn="l">
              <a:lnSpc>
                <a:spcPct val="132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띠 안의 점들을 y좌표 순으로 세우면, 자기보다 y가 d 이상 큰 점은 더 볼 필요가 없다.</a:t>
            </a:r>
            <a:endParaRPr sz="1180"/>
          </a:p>
        </p:txBody>
      </p:sp>
      <p:sp>
        <p:nvSpPr>
          <p:cNvPr id="22" name="Text 15">
            <a:extLst>
              <a:ext uri="{FF2B5EF4-FFF2-40B4-BE49-F238E27FC236}">
                <a16:creationId xmlns:a16="http://schemas.microsoft.com/office/drawing/2014/main" id="{1B307446-4FF0-445C-951D-1504E1FC0CAE}"/>
              </a:ext>
            </a:extLst>
          </p:cNvPr>
          <p:cNvSpPr>
            <a:spLocks noGrp="1"/>
          </p:cNvSpPr>
          <p:nvPr/>
        </p:nvSpPr>
        <p:spPr>
          <a:xfrm>
            <a:off x="7168896" y="5138928"/>
            <a:ext cx="4105656" cy="29260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그래도 걱정된다</a:t>
            </a:r>
            <a:endParaRPr sz="1300"/>
          </a:p>
        </p:txBody>
      </p:sp>
      <p:sp>
        <p:nvSpPr>
          <p:cNvPr id="23" name="Text 16">
            <a:extLst>
              <a:ext uri="{FF2B5EF4-FFF2-40B4-BE49-F238E27FC236}">
                <a16:creationId xmlns:a16="http://schemas.microsoft.com/office/drawing/2014/main" id="{BC09162A-418A-44EC-A821-739926B8C398}"/>
              </a:ext>
            </a:extLst>
          </p:cNvPr>
          <p:cNvSpPr>
            <a:spLocks noGrp="1"/>
          </p:cNvSpPr>
          <p:nvPr/>
        </p:nvSpPr>
        <p:spPr>
          <a:xfrm>
            <a:off x="7168896" y="5486400"/>
            <a:ext cx="4105656" cy="475488"/>
          </a:xfrm>
          <a:prstGeom prst="rect">
            <a:avLst/>
          </a:prstGeom>
          <a:noFill/>
          <a:ln w="0">
            <a:noFill/>
          </a:ln>
        </p:spPr>
        <p:txBody>
          <a:bodyPr wrap="square" lIns="0" tIns="0" rIns="0" bIns="0" anchor="t">
            <a:noAutofit/>
          </a:bodyPr>
          <a:lstStyle/>
          <a:p>
            <a:pPr marL="0" indent="0" algn="l">
              <a:lnSpc>
                <a:spcPct val="132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띠 안에 점이 아주 많이 몰려 있으면? 여전히 O(n²)이 아닐까?</a:t>
            </a:r>
            <a:endParaRPr sz="1180"/>
          </a:p>
        </p:txBody>
      </p:sp>
      <p:sp>
        <p:nvSpPr>
          <p:cNvPr id="27" name="직사각형 26">
            <a:extLst>
              <a:ext uri="{FF2B5EF4-FFF2-40B4-BE49-F238E27FC236}">
                <a16:creationId xmlns:a16="http://schemas.microsoft.com/office/drawing/2014/main" id="{290F0002-63F3-4891-80CA-A74A0451F67F}"/>
              </a:ext>
            </a:extLst>
          </p:cNvPr>
          <p:cNvSpPr>
            <a:spLocks noGrp="1"/>
          </p:cNvSpPr>
          <p:nvPr/>
        </p:nvSpPr>
        <p:spPr>
          <a:xfrm>
            <a:off x="6309360" y="1737360"/>
            <a:ext cx="5221224" cy="9525"/>
          </a:xfrm>
          <a:prstGeom prst="rect">
            <a:avLst/>
          </a:prstGeom>
          <a:solidFill>
            <a:srgbClr val="D4D4D4"/>
          </a:solidFill>
          <a:ln w="0">
            <a:noFill/>
          </a:ln>
        </p:spPr>
      </p:sp>
      <p:sp>
        <p:nvSpPr>
          <p:cNvPr id="28" name="직사각형 27">
            <a:extLst>
              <a:ext uri="{FF2B5EF4-FFF2-40B4-BE49-F238E27FC236}">
                <a16:creationId xmlns:a16="http://schemas.microsoft.com/office/drawing/2014/main" id="{41F8108D-28F1-450A-A405-FD93F9004519}"/>
              </a:ext>
            </a:extLst>
          </p:cNvPr>
          <p:cNvSpPr>
            <a:spLocks noGrp="1"/>
          </p:cNvSpPr>
          <p:nvPr/>
        </p:nvSpPr>
        <p:spPr>
          <a:xfrm>
            <a:off x="6309360" y="3346704"/>
            <a:ext cx="5221224" cy="9525"/>
          </a:xfrm>
          <a:prstGeom prst="rect">
            <a:avLst/>
          </a:prstGeom>
          <a:solidFill>
            <a:srgbClr val="D4D4D4"/>
          </a:solidFill>
          <a:ln w="0">
            <a:noFill/>
          </a:ln>
        </p:spPr>
      </p:sp>
      <p:sp>
        <p:nvSpPr>
          <p:cNvPr id="29" name="직사각형 28">
            <a:extLst>
              <a:ext uri="{FF2B5EF4-FFF2-40B4-BE49-F238E27FC236}">
                <a16:creationId xmlns:a16="http://schemas.microsoft.com/office/drawing/2014/main" id="{2A9FF610-4C35-4356-808A-CCF2C225C39E}"/>
              </a:ext>
            </a:extLst>
          </p:cNvPr>
          <p:cNvSpPr>
            <a:spLocks noGrp="1"/>
          </p:cNvSpPr>
          <p:nvPr/>
        </p:nvSpPr>
        <p:spPr>
          <a:xfrm>
            <a:off x="6309360" y="4956048"/>
            <a:ext cx="5221224" cy="9525"/>
          </a:xfrm>
          <a:prstGeom prst="rect">
            <a:avLst/>
          </a:prstGeom>
          <a:solidFill>
            <a:srgbClr val="D4D4D4"/>
          </a:solidFill>
          <a:ln w="0">
            <a:noFill/>
          </a:ln>
        </p:spPr>
      </p:sp>
      <p:sp>
        <p:nvSpPr>
          <p:cNvPr id="30" name="직사각형 29">
            <a:extLst>
              <a:ext uri="{FF2B5EF4-FFF2-40B4-BE49-F238E27FC236}">
                <a16:creationId xmlns:a16="http://schemas.microsoft.com/office/drawing/2014/main" id="{A8446501-1AD4-4328-918A-34F42BE16A28}"/>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4.5  </a:t>
            </a:r>
            <a:r>
              <a:rPr lang="ko-KR" altLang="en-US" sz="1050" b="1" i="0">
                <a:solidFill>
                  <a:srgbClr val="606060"/>
                </a:solidFill>
                <a:latin typeface="Malgun Gothic"/>
                <a:ea typeface="Malgun Gothic"/>
                <a:cs typeface="Malgun Gothic"/>
              </a:rPr>
              <a:t>최근접 쌍 문제</a:t>
            </a:r>
            <a:endParaRPr sz="1050" b="1" i="0">
              <a:solidFill>
                <a:srgbClr val="606060"/>
              </a:solidFill>
              <a:latin typeface="Malgun Gothic"/>
              <a:ea typeface="Malgun Gothic"/>
              <a:cs typeface="Malgun Gothic"/>
            </a:endParaRPr>
          </a:p>
        </p:txBody>
      </p:sp>
      <p:sp>
        <p:nvSpPr>
          <p:cNvPr id="31" name="직사각형 30">
            <a:extLst>
              <a:ext uri="{FF2B5EF4-FFF2-40B4-BE49-F238E27FC236}">
                <a16:creationId xmlns:a16="http://schemas.microsoft.com/office/drawing/2014/main" id="{E921A36D-AF8E-4713-8145-A4ED842920D0}"/>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2" name="직사각형 31">
            <a:extLst>
              <a:ext uri="{FF2B5EF4-FFF2-40B4-BE49-F238E27FC236}">
                <a16:creationId xmlns:a16="http://schemas.microsoft.com/office/drawing/2014/main" id="{9602F972-358D-4FE2-B2F2-324564DF3CC3}"/>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경계선의 함정 — '띠(strip)'만 살펴보면 된다</a:t>
            </a:r>
          </a:p>
        </p:txBody>
      </p:sp>
      <p:sp>
        <p:nvSpPr>
          <p:cNvPr id="33" name="직사각형 32">
            <a:extLst>
              <a:ext uri="{FF2B5EF4-FFF2-40B4-BE49-F238E27FC236}">
                <a16:creationId xmlns:a16="http://schemas.microsoft.com/office/drawing/2014/main" id="{E05E8AE4-CB95-412E-87E0-0275FC59D114}"/>
              </a:ext>
            </a:extLst>
          </p:cNvPr>
          <p:cNvSpPr>
            <a:spLocks noGrp="1"/>
          </p:cNvSpPr>
          <p:nvPr/>
        </p:nvSpPr>
        <p:spPr>
          <a:xfrm>
            <a:off x="609600" y="1381125"/>
            <a:ext cx="10972800" cy="19050"/>
          </a:xfrm>
          <a:prstGeom prst="rect">
            <a:avLst/>
          </a:prstGeom>
          <a:solidFill>
            <a:srgbClr val="171717"/>
          </a:solidFill>
          <a:ln w="0">
            <a:noFill/>
          </a:ln>
        </p:spPr>
      </p:sp>
      <p:sp>
        <p:nvSpPr>
          <p:cNvPr id="34" name="직사각형 33">
            <a:extLst>
              <a:ext uri="{FF2B5EF4-FFF2-40B4-BE49-F238E27FC236}">
                <a16:creationId xmlns:a16="http://schemas.microsoft.com/office/drawing/2014/main" id="{80001BF1-9535-4623-A727-E2FA2B8D7603}"/>
              </a:ext>
            </a:extLst>
          </p:cNvPr>
          <p:cNvSpPr>
            <a:spLocks noGrp="1"/>
          </p:cNvSpPr>
          <p:nvPr/>
        </p:nvSpPr>
        <p:spPr>
          <a:xfrm>
            <a:off x="609600" y="6438900"/>
            <a:ext cx="10972800" cy="9525"/>
          </a:xfrm>
          <a:prstGeom prst="rect">
            <a:avLst/>
          </a:prstGeom>
          <a:solidFill>
            <a:srgbClr val="D4D4D4"/>
          </a:solidFill>
          <a:ln w="0">
            <a:noFill/>
          </a:ln>
        </p:spPr>
      </p:sp>
      <p:sp>
        <p:nvSpPr>
          <p:cNvPr id="35" name="직사각형 34">
            <a:extLst>
              <a:ext uri="{FF2B5EF4-FFF2-40B4-BE49-F238E27FC236}">
                <a16:creationId xmlns:a16="http://schemas.microsoft.com/office/drawing/2014/main" id="{D4684F07-6B1D-493B-A6FD-04763410DF90}"/>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6" name="직사각형 35">
            <a:extLst>
              <a:ext uri="{FF2B5EF4-FFF2-40B4-BE49-F238E27FC236}">
                <a16:creationId xmlns:a16="http://schemas.microsoft.com/office/drawing/2014/main" id="{3CFAAF84-88BA-4ECD-B958-5BC163BB1DAA}"/>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98</a:t>
            </a:r>
            <a:endParaRPr sz="1050" b="1" i="0">
              <a:solidFill>
                <a:srgbClr val="171717"/>
              </a:solidFill>
              <a:latin typeface="Consolas"/>
              <a:ea typeface="Consolas"/>
              <a:cs typeface="Consolas"/>
            </a:endParaRPr>
          </a:p>
        </p:txBody>
      </p:sp>
      <p:pic>
        <p:nvPicPr>
          <p:cNvPr id="55" name="그림 54"/>
          <p:cNvPicPr>
            <a:picLocks noChangeAspect="1"/>
          </p:cNvPicPr>
          <p:nvPr/>
        </p:nvPicPr>
        <p:blipFill>
          <a:blip r:embed="rId3"/>
          <a:stretch/>
        </p:blipFill>
        <p:spPr>
          <a:xfrm>
            <a:off x="1305211" y="2981128"/>
            <a:ext cx="4055554" cy="2815983"/>
          </a:xfrm>
          <a:prstGeom prst="rect">
            <a:avLst/>
          </a:prstGeom>
        </p:spPr>
      </p:pic>
    </p:spTree>
    <p:extLst>
      <p:ext uri="{BB962C8B-B14F-4D97-AF65-F5344CB8AC3E}">
        <p14:creationId xmlns:p14="http://schemas.microsoft.com/office/powerpoint/2010/main" val="1922274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 6">
            <a:extLst>
              <a:ext uri="{FF2B5EF4-FFF2-40B4-BE49-F238E27FC236}">
                <a16:creationId xmlns:a16="http://schemas.microsoft.com/office/drawing/2014/main" id="{24A0477A-0FA9-4568-9C11-0F33756ACFCF}"/>
              </a:ext>
            </a:extLst>
          </p:cNvPr>
          <p:cNvSpPr>
            <a:spLocks noGrp="1"/>
          </p:cNvSpPr>
          <p:nvPr/>
        </p:nvSpPr>
        <p:spPr>
          <a:xfrm>
            <a:off x="7022592" y="1865376"/>
            <a:ext cx="4297680" cy="256032"/>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2d × d 직사각형</a:t>
            </a:r>
            <a:endParaRPr sz="1230"/>
          </a:p>
        </p:txBody>
      </p:sp>
      <p:sp>
        <p:nvSpPr>
          <p:cNvPr id="12" name="Text 7">
            <a:extLst>
              <a:ext uri="{FF2B5EF4-FFF2-40B4-BE49-F238E27FC236}">
                <a16:creationId xmlns:a16="http://schemas.microsoft.com/office/drawing/2014/main" id="{F096CCBA-53A8-4722-BF7F-149A3B56EBB3}"/>
              </a:ext>
            </a:extLst>
          </p:cNvPr>
          <p:cNvSpPr>
            <a:spLocks noGrp="1"/>
          </p:cNvSpPr>
          <p:nvPr/>
        </p:nvSpPr>
        <p:spPr>
          <a:xfrm>
            <a:off x="7022592" y="2139696"/>
            <a:ext cx="4297680" cy="493776"/>
          </a:xfrm>
          <a:prstGeom prst="rect">
            <a:avLst/>
          </a:prstGeom>
          <a:noFill/>
          <a:ln w="0">
            <a:noFill/>
          </a:ln>
        </p:spPr>
        <p:txBody>
          <a:bodyPr wrap="square" lIns="0" tIns="0" rIns="0" bIns="0" anchor="t">
            <a:noAutofit/>
          </a:bodyPr>
          <a:lstStyle/>
          <a:p>
            <a:pPr marL="0" indent="0" algn="l">
              <a:lnSpc>
                <a:spcPct val="116000"/>
              </a:lnSpc>
              <a:buNone/>
              <a:defRPr sz="1040" i="0">
                <a:solidFill>
                  <a:srgbClr val="171717"/>
                </a:solidFill>
                <a:latin typeface="Malgun Gothic"/>
                <a:ea typeface="Malgun Gothic"/>
                <a:cs typeface="Malgun Gothic"/>
              </a:defRPr>
            </a:pPr>
            <a:r>
              <a:rPr sz="1040" i="0">
                <a:solidFill>
                  <a:srgbClr val="171717"/>
                </a:solidFill>
                <a:latin typeface="Malgun Gothic"/>
                <a:ea typeface="Malgun Gothic"/>
                <a:cs typeface="Malgun Gothic"/>
              </a:rPr>
              <a:t>띠 안의 한 점 p에서 y 방향으로 d 이내의 영역은 가로 2d, 세로 d인 직사각형이다.</a:t>
            </a:r>
            <a:endParaRPr sz="1040"/>
          </a:p>
        </p:txBody>
      </p:sp>
      <p:sp>
        <p:nvSpPr>
          <p:cNvPr id="16" name="Text 10">
            <a:extLst>
              <a:ext uri="{FF2B5EF4-FFF2-40B4-BE49-F238E27FC236}">
                <a16:creationId xmlns:a16="http://schemas.microsoft.com/office/drawing/2014/main" id="{DDFBEC51-A28B-4BFD-9AE6-2430754ADAEC}"/>
              </a:ext>
            </a:extLst>
          </p:cNvPr>
          <p:cNvSpPr>
            <a:spLocks noGrp="1"/>
          </p:cNvSpPr>
          <p:nvPr/>
        </p:nvSpPr>
        <p:spPr>
          <a:xfrm>
            <a:off x="7022592" y="2980944"/>
            <a:ext cx="4297680" cy="256032"/>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8개의 정사각형 칸</a:t>
            </a:r>
            <a:endParaRPr sz="1230"/>
          </a:p>
        </p:txBody>
      </p:sp>
      <p:sp>
        <p:nvSpPr>
          <p:cNvPr id="17" name="Text 11">
            <a:extLst>
              <a:ext uri="{FF2B5EF4-FFF2-40B4-BE49-F238E27FC236}">
                <a16:creationId xmlns:a16="http://schemas.microsoft.com/office/drawing/2014/main" id="{0EFEC4A4-0EC8-42C4-B580-B5D2FEAC9B08}"/>
              </a:ext>
            </a:extLst>
          </p:cNvPr>
          <p:cNvSpPr>
            <a:spLocks noGrp="1"/>
          </p:cNvSpPr>
          <p:nvPr/>
        </p:nvSpPr>
        <p:spPr>
          <a:xfrm>
            <a:off x="7022592" y="3255264"/>
            <a:ext cx="4297680" cy="493776"/>
          </a:xfrm>
          <a:prstGeom prst="rect">
            <a:avLst/>
          </a:prstGeom>
          <a:noFill/>
          <a:ln w="0">
            <a:noFill/>
          </a:ln>
        </p:spPr>
        <p:txBody>
          <a:bodyPr wrap="square" lIns="0" tIns="0" rIns="0" bIns="0" anchor="t">
            <a:noAutofit/>
          </a:bodyPr>
          <a:lstStyle/>
          <a:p>
            <a:pPr marL="0" indent="0" algn="l">
              <a:lnSpc>
                <a:spcPct val="116000"/>
              </a:lnSpc>
              <a:buNone/>
              <a:defRPr sz="1040" i="0">
                <a:solidFill>
                  <a:srgbClr val="171717"/>
                </a:solidFill>
                <a:latin typeface="Malgun Gothic"/>
                <a:ea typeface="Malgun Gothic"/>
                <a:cs typeface="Malgun Gothic"/>
              </a:defRPr>
            </a:pPr>
            <a:r>
              <a:rPr sz="1040" i="0">
                <a:solidFill>
                  <a:srgbClr val="171717"/>
                </a:solidFill>
                <a:latin typeface="Malgun Gothic"/>
                <a:ea typeface="Malgun Gothic"/>
                <a:cs typeface="Malgun Gothic"/>
              </a:rPr>
              <a:t>이 직사각형을 (d/2) × (d/2) 크기의 칸 8개로 나눈다.</a:t>
            </a:r>
            <a:endParaRPr sz="1040"/>
          </a:p>
        </p:txBody>
      </p:sp>
      <p:sp>
        <p:nvSpPr>
          <p:cNvPr id="21" name="Text 14">
            <a:extLst>
              <a:ext uri="{FF2B5EF4-FFF2-40B4-BE49-F238E27FC236}">
                <a16:creationId xmlns:a16="http://schemas.microsoft.com/office/drawing/2014/main" id="{29A8C4E8-A88B-4BBF-8BF0-816E38D511BF}"/>
              </a:ext>
            </a:extLst>
          </p:cNvPr>
          <p:cNvSpPr>
            <a:spLocks noGrp="1"/>
          </p:cNvSpPr>
          <p:nvPr/>
        </p:nvSpPr>
        <p:spPr>
          <a:xfrm>
            <a:off x="7022592" y="4096512"/>
            <a:ext cx="4297680" cy="256032"/>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한 칸에 점은 최대 1개</a:t>
            </a:r>
            <a:endParaRPr sz="1230"/>
          </a:p>
        </p:txBody>
      </p:sp>
      <p:sp>
        <p:nvSpPr>
          <p:cNvPr id="22" name="Text 15">
            <a:extLst>
              <a:ext uri="{FF2B5EF4-FFF2-40B4-BE49-F238E27FC236}">
                <a16:creationId xmlns:a16="http://schemas.microsoft.com/office/drawing/2014/main" id="{346A2C45-F574-4F8A-B4AC-E5C20F463683}"/>
              </a:ext>
            </a:extLst>
          </p:cNvPr>
          <p:cNvSpPr>
            <a:spLocks noGrp="1"/>
          </p:cNvSpPr>
          <p:nvPr/>
        </p:nvSpPr>
        <p:spPr>
          <a:xfrm>
            <a:off x="7022592" y="4370832"/>
            <a:ext cx="4297680" cy="493776"/>
          </a:xfrm>
          <a:prstGeom prst="rect">
            <a:avLst/>
          </a:prstGeom>
          <a:noFill/>
          <a:ln w="0">
            <a:noFill/>
          </a:ln>
        </p:spPr>
        <p:txBody>
          <a:bodyPr wrap="square" lIns="0" tIns="0" rIns="0" bIns="0" anchor="t">
            <a:noAutofit/>
          </a:bodyPr>
          <a:lstStyle/>
          <a:p>
            <a:pPr marL="0" indent="0" algn="l">
              <a:lnSpc>
                <a:spcPct val="116000"/>
              </a:lnSpc>
              <a:buNone/>
              <a:defRPr sz="1040" i="0">
                <a:solidFill>
                  <a:srgbClr val="606060"/>
                </a:solidFill>
                <a:latin typeface="Malgun Gothic"/>
                <a:ea typeface="Malgun Gothic"/>
                <a:cs typeface="Malgun Gothic"/>
              </a:defRPr>
            </a:pPr>
            <a:r>
              <a:rPr sz="1040" i="0">
                <a:solidFill>
                  <a:srgbClr val="606060"/>
                </a:solidFill>
                <a:latin typeface="Malgun Gothic"/>
                <a:ea typeface="Malgun Gothic"/>
                <a:cs typeface="Malgun Gothic"/>
              </a:rPr>
              <a:t>한 칸의 대각선 길이는 약 0.707d &lt; d. 같은 칸에 두 점이 있으면 이미 d보다 가까운 쌍이 존재해 모순이다.</a:t>
            </a:r>
            <a:endParaRPr sz="1040"/>
          </a:p>
        </p:txBody>
      </p:sp>
      <p:sp>
        <p:nvSpPr>
          <p:cNvPr id="26" name="Text 18">
            <a:extLst>
              <a:ext uri="{FF2B5EF4-FFF2-40B4-BE49-F238E27FC236}">
                <a16:creationId xmlns:a16="http://schemas.microsoft.com/office/drawing/2014/main" id="{AE8574A6-95EE-43C8-8A1F-6F7532E10540}"/>
              </a:ext>
            </a:extLst>
          </p:cNvPr>
          <p:cNvSpPr>
            <a:spLocks noGrp="1"/>
          </p:cNvSpPr>
          <p:nvPr/>
        </p:nvSpPr>
        <p:spPr>
          <a:xfrm>
            <a:off x="7022592" y="5212080"/>
            <a:ext cx="4297680" cy="256032"/>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따라서 최대 7번 비교</a:t>
            </a:r>
            <a:endParaRPr sz="1230"/>
          </a:p>
        </p:txBody>
      </p:sp>
      <p:sp>
        <p:nvSpPr>
          <p:cNvPr id="27" name="Text 19">
            <a:extLst>
              <a:ext uri="{FF2B5EF4-FFF2-40B4-BE49-F238E27FC236}">
                <a16:creationId xmlns:a16="http://schemas.microsoft.com/office/drawing/2014/main" id="{B2404289-3305-4D8D-903A-9BDE9CFDFB50}"/>
              </a:ext>
            </a:extLst>
          </p:cNvPr>
          <p:cNvSpPr>
            <a:spLocks noGrp="1"/>
          </p:cNvSpPr>
          <p:nvPr/>
        </p:nvSpPr>
        <p:spPr>
          <a:xfrm>
            <a:off x="7022592" y="5486400"/>
            <a:ext cx="4297680" cy="493776"/>
          </a:xfrm>
          <a:prstGeom prst="rect">
            <a:avLst/>
          </a:prstGeom>
          <a:noFill/>
          <a:ln w="0">
            <a:noFill/>
          </a:ln>
        </p:spPr>
        <p:txBody>
          <a:bodyPr wrap="square" lIns="0" tIns="0" rIns="0" bIns="0" anchor="t">
            <a:noAutofit/>
          </a:bodyPr>
          <a:lstStyle/>
          <a:p>
            <a:pPr marL="0" indent="0" algn="l">
              <a:lnSpc>
                <a:spcPct val="116000"/>
              </a:lnSpc>
              <a:buNone/>
              <a:defRPr sz="1040" i="0">
                <a:solidFill>
                  <a:srgbClr val="171717"/>
                </a:solidFill>
                <a:latin typeface="Malgun Gothic"/>
                <a:ea typeface="Malgun Gothic"/>
                <a:cs typeface="Malgun Gothic"/>
              </a:defRPr>
            </a:pPr>
            <a:r>
              <a:rPr sz="1040" i="0">
                <a:solidFill>
                  <a:srgbClr val="171717"/>
                </a:solidFill>
                <a:latin typeface="Malgun Gothic"/>
                <a:ea typeface="Malgun Gothic"/>
                <a:cs typeface="Malgun Gothic"/>
              </a:rPr>
              <a:t>직사각형 안의 점은 자기 자신 포함 최대 8개. 즉 한 점당 최대 7번만 비교하면 충분하다.</a:t>
            </a:r>
            <a:endParaRPr sz="1040"/>
          </a:p>
        </p:txBody>
      </p:sp>
      <p:sp>
        <p:nvSpPr>
          <p:cNvPr id="29" name="Text 21">
            <a:extLst>
              <a:ext uri="{FF2B5EF4-FFF2-40B4-BE49-F238E27FC236}">
                <a16:creationId xmlns:a16="http://schemas.microsoft.com/office/drawing/2014/main" id="{3390A5BC-3D4D-454C-8E52-E0C704467131}"/>
              </a:ext>
            </a:extLst>
          </p:cNvPr>
          <p:cNvSpPr>
            <a:spLocks noGrp="1"/>
          </p:cNvSpPr>
          <p:nvPr/>
        </p:nvSpPr>
        <p:spPr>
          <a:xfrm>
            <a:off x="795528" y="5230368"/>
            <a:ext cx="4983480" cy="822960"/>
          </a:xfrm>
          <a:prstGeom prst="rect">
            <a:avLst/>
          </a:prstGeom>
          <a:noFill/>
          <a:ln w="0">
            <a:noFill/>
          </a:ln>
        </p:spPr>
        <p:txBody>
          <a:bodyPr wrap="square" lIns="0" tIns="0" rIns="0" bIns="0" anchor="ctr">
            <a:noAutofit/>
          </a:bodyPr>
          <a:lstStyle/>
          <a:p>
            <a:pPr marL="0" indent="0" algn="ctr">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띠 안 점 검사 비용  =  O(n) × 7  =  O(n)</a:t>
            </a:r>
            <a:endParaRPr sz="1500"/>
          </a:p>
        </p:txBody>
      </p:sp>
      <p:sp>
        <p:nvSpPr>
          <p:cNvPr id="33" name="직사각형 32">
            <a:extLst>
              <a:ext uri="{FF2B5EF4-FFF2-40B4-BE49-F238E27FC236}">
                <a16:creationId xmlns:a16="http://schemas.microsoft.com/office/drawing/2014/main" id="{8985949E-9272-4328-9B9F-6D36B0FD7D9B}"/>
              </a:ext>
            </a:extLst>
          </p:cNvPr>
          <p:cNvSpPr>
            <a:spLocks noGrp="1"/>
          </p:cNvSpPr>
          <p:nvPr/>
        </p:nvSpPr>
        <p:spPr>
          <a:xfrm>
            <a:off x="658368" y="1755648"/>
            <a:ext cx="5257800"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9CFC2C56-16DB-48C7-A555-FBF8F1AA8C9F}"/>
              </a:ext>
            </a:extLst>
          </p:cNvPr>
          <p:cNvSpPr>
            <a:spLocks noGrp="1"/>
          </p:cNvSpPr>
          <p:nvPr/>
        </p:nvSpPr>
        <p:spPr>
          <a:xfrm>
            <a:off x="6291072" y="1755648"/>
            <a:ext cx="5239512" cy="9525"/>
          </a:xfrm>
          <a:prstGeom prst="rect">
            <a:avLst/>
          </a:prstGeom>
          <a:solidFill>
            <a:srgbClr val="D4D4D4"/>
          </a:solidFill>
          <a:ln w="0">
            <a:noFill/>
          </a:ln>
        </p:spPr>
      </p:sp>
      <p:sp>
        <p:nvSpPr>
          <p:cNvPr id="35" name="직사각형 34">
            <a:extLst>
              <a:ext uri="{FF2B5EF4-FFF2-40B4-BE49-F238E27FC236}">
                <a16:creationId xmlns:a16="http://schemas.microsoft.com/office/drawing/2014/main" id="{D152C886-8878-4E39-8999-B0C6461D46EA}"/>
              </a:ext>
            </a:extLst>
          </p:cNvPr>
          <p:cNvSpPr>
            <a:spLocks noGrp="1"/>
          </p:cNvSpPr>
          <p:nvPr/>
        </p:nvSpPr>
        <p:spPr>
          <a:xfrm>
            <a:off x="6291072" y="2871216"/>
            <a:ext cx="5239512"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500EFC08-37D5-4D9E-A0A7-55DE37633A27}"/>
              </a:ext>
            </a:extLst>
          </p:cNvPr>
          <p:cNvSpPr>
            <a:spLocks noGrp="1"/>
          </p:cNvSpPr>
          <p:nvPr/>
        </p:nvSpPr>
        <p:spPr>
          <a:xfrm>
            <a:off x="6291072" y="3986784"/>
            <a:ext cx="5239512" cy="9525"/>
          </a:xfrm>
          <a:prstGeom prst="rect">
            <a:avLst/>
          </a:prstGeom>
          <a:solidFill>
            <a:srgbClr val="D4D4D4"/>
          </a:solidFill>
          <a:ln w="0">
            <a:noFill/>
          </a:ln>
        </p:spPr>
      </p:sp>
      <p:sp>
        <p:nvSpPr>
          <p:cNvPr id="37" name="직사각형 36">
            <a:extLst>
              <a:ext uri="{FF2B5EF4-FFF2-40B4-BE49-F238E27FC236}">
                <a16:creationId xmlns:a16="http://schemas.microsoft.com/office/drawing/2014/main" id="{6309D394-51AC-4BD0-B186-66924D03C7FB}"/>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4.5  </a:t>
            </a:r>
            <a:r>
              <a:rPr lang="ko-KR" altLang="en-US" sz="1050" b="1" i="0">
                <a:solidFill>
                  <a:srgbClr val="606060"/>
                </a:solidFill>
                <a:latin typeface="Malgun Gothic"/>
                <a:ea typeface="Malgun Gothic"/>
                <a:cs typeface="Malgun Gothic"/>
              </a:rPr>
              <a:t>최근접 쌍 문제</a:t>
            </a:r>
            <a:endParaRPr sz="1050" b="1" i="0">
              <a:solidFill>
                <a:srgbClr val="606060"/>
              </a:solidFill>
              <a:latin typeface="Malgun Gothic"/>
              <a:ea typeface="Malgun Gothic"/>
              <a:cs typeface="Malgun Gothic"/>
            </a:endParaRPr>
          </a:p>
        </p:txBody>
      </p:sp>
      <p:sp>
        <p:nvSpPr>
          <p:cNvPr id="38" name="직사각형 37">
            <a:extLst>
              <a:ext uri="{FF2B5EF4-FFF2-40B4-BE49-F238E27FC236}">
                <a16:creationId xmlns:a16="http://schemas.microsoft.com/office/drawing/2014/main" id="{D9E25D54-BEF9-40E4-AED3-949F885E9A22}"/>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9" name="직사각형 38">
            <a:extLst>
              <a:ext uri="{FF2B5EF4-FFF2-40B4-BE49-F238E27FC236}">
                <a16:creationId xmlns:a16="http://schemas.microsoft.com/office/drawing/2014/main" id="{9B7E2C38-FC4D-4EB5-B8A4-EAADEFD372A3}"/>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증명 — 한 점당 최대 7개만 비교하면 된다</a:t>
            </a:r>
          </a:p>
        </p:txBody>
      </p:sp>
      <p:sp>
        <p:nvSpPr>
          <p:cNvPr id="40" name="직사각형 39">
            <a:extLst>
              <a:ext uri="{FF2B5EF4-FFF2-40B4-BE49-F238E27FC236}">
                <a16:creationId xmlns:a16="http://schemas.microsoft.com/office/drawing/2014/main" id="{A1DCAA42-EFD3-4C23-8203-07B96BD32932}"/>
              </a:ext>
            </a:extLst>
          </p:cNvPr>
          <p:cNvSpPr>
            <a:spLocks noGrp="1"/>
          </p:cNvSpPr>
          <p:nvPr/>
        </p:nvSpPr>
        <p:spPr>
          <a:xfrm>
            <a:off x="609600" y="1381125"/>
            <a:ext cx="10972800" cy="19050"/>
          </a:xfrm>
          <a:prstGeom prst="rect">
            <a:avLst/>
          </a:prstGeom>
          <a:solidFill>
            <a:srgbClr val="171717"/>
          </a:solidFill>
          <a:ln w="0">
            <a:noFill/>
          </a:ln>
        </p:spPr>
      </p:sp>
      <p:sp>
        <p:nvSpPr>
          <p:cNvPr id="41" name="직사각형 40">
            <a:extLst>
              <a:ext uri="{FF2B5EF4-FFF2-40B4-BE49-F238E27FC236}">
                <a16:creationId xmlns:a16="http://schemas.microsoft.com/office/drawing/2014/main" id="{419BFDCA-37E3-4780-B274-8422C8DDC2DF}"/>
              </a:ext>
            </a:extLst>
          </p:cNvPr>
          <p:cNvSpPr>
            <a:spLocks noGrp="1"/>
          </p:cNvSpPr>
          <p:nvPr/>
        </p:nvSpPr>
        <p:spPr>
          <a:xfrm>
            <a:off x="609600" y="6438900"/>
            <a:ext cx="10972800" cy="9525"/>
          </a:xfrm>
          <a:prstGeom prst="rect">
            <a:avLst/>
          </a:prstGeom>
          <a:solidFill>
            <a:srgbClr val="D4D4D4"/>
          </a:solidFill>
          <a:ln w="0">
            <a:noFill/>
          </a:ln>
        </p:spPr>
      </p:sp>
      <p:sp>
        <p:nvSpPr>
          <p:cNvPr id="42" name="직사각형 41">
            <a:extLst>
              <a:ext uri="{FF2B5EF4-FFF2-40B4-BE49-F238E27FC236}">
                <a16:creationId xmlns:a16="http://schemas.microsoft.com/office/drawing/2014/main" id="{3E96F268-9FDC-4A90-8F8F-757FC9857677}"/>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3" name="직사각형 42">
            <a:extLst>
              <a:ext uri="{FF2B5EF4-FFF2-40B4-BE49-F238E27FC236}">
                <a16:creationId xmlns:a16="http://schemas.microsoft.com/office/drawing/2014/main" id="{A65AD374-505C-4AB1-B98B-38C6843FCA2A}"/>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99</a:t>
            </a:r>
            <a:endParaRPr sz="1050" b="1" i="0">
              <a:solidFill>
                <a:srgbClr val="171717"/>
              </a:solidFill>
              <a:latin typeface="Consolas"/>
              <a:ea typeface="Consolas"/>
              <a:cs typeface="Consolas"/>
            </a:endParaRPr>
          </a:p>
        </p:txBody>
      </p:sp>
      <p:sp>
        <p:nvSpPr>
          <p:cNvPr id="44" name="직사각형 43">
            <a:extLst>
              <a:ext uri="{FF2B5EF4-FFF2-40B4-BE49-F238E27FC236}">
                <a16:creationId xmlns:a16="http://schemas.microsoft.com/office/drawing/2014/main" id="{3FA9654D-756A-46F3-8A89-A5CAF5587282}"/>
              </a:ext>
            </a:extLst>
          </p:cNvPr>
          <p:cNvSpPr>
            <a:spLocks noGrp="1"/>
          </p:cNvSpPr>
          <p:nvPr/>
        </p:nvSpPr>
        <p:spPr>
          <a:xfrm>
            <a:off x="1311636" y="2374514"/>
            <a:ext cx="942938" cy="942938"/>
          </a:xfrm>
          <a:prstGeom prst="rect">
            <a:avLst/>
          </a:prstGeom>
          <a:solidFill>
            <a:srgbClr val="DAEBED"/>
          </a:solidFill>
          <a:ln w="9525">
            <a:solidFill>
              <a:srgbClr val="788C91"/>
            </a:solidFill>
          </a:ln>
        </p:spPr>
      </p:sp>
      <p:sp>
        <p:nvSpPr>
          <p:cNvPr id="45" name="직사각형 44">
            <a:extLst>
              <a:ext uri="{FF2B5EF4-FFF2-40B4-BE49-F238E27FC236}">
                <a16:creationId xmlns:a16="http://schemas.microsoft.com/office/drawing/2014/main" id="{8658BEE9-5E0C-4F06-A79C-620D442D5E24}"/>
              </a:ext>
            </a:extLst>
          </p:cNvPr>
          <p:cNvSpPr>
            <a:spLocks noGrp="1"/>
          </p:cNvSpPr>
          <p:nvPr/>
        </p:nvSpPr>
        <p:spPr>
          <a:xfrm>
            <a:off x="1311636" y="2374514"/>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46" name="직사각형 45">
            <a:extLst>
              <a:ext uri="{FF2B5EF4-FFF2-40B4-BE49-F238E27FC236}">
                <a16:creationId xmlns:a16="http://schemas.microsoft.com/office/drawing/2014/main" id="{2375F81D-90BB-4CFB-AA82-A2B1CDD71E69}"/>
              </a:ext>
            </a:extLst>
          </p:cNvPr>
          <p:cNvSpPr>
            <a:spLocks noGrp="1"/>
          </p:cNvSpPr>
          <p:nvPr/>
        </p:nvSpPr>
        <p:spPr>
          <a:xfrm>
            <a:off x="2254574" y="2374514"/>
            <a:ext cx="942938" cy="942938"/>
          </a:xfrm>
          <a:prstGeom prst="rect">
            <a:avLst/>
          </a:prstGeom>
          <a:solidFill>
            <a:srgbClr val="DAEBED"/>
          </a:solidFill>
          <a:ln w="9525">
            <a:solidFill>
              <a:srgbClr val="788C91"/>
            </a:solidFill>
          </a:ln>
        </p:spPr>
      </p:sp>
      <p:sp>
        <p:nvSpPr>
          <p:cNvPr id="47" name="직사각형 46">
            <a:extLst>
              <a:ext uri="{FF2B5EF4-FFF2-40B4-BE49-F238E27FC236}">
                <a16:creationId xmlns:a16="http://schemas.microsoft.com/office/drawing/2014/main" id="{A8C3BD84-EE96-4ED6-8401-EC3686DA20EC}"/>
              </a:ext>
            </a:extLst>
          </p:cNvPr>
          <p:cNvSpPr>
            <a:spLocks noGrp="1"/>
          </p:cNvSpPr>
          <p:nvPr/>
        </p:nvSpPr>
        <p:spPr>
          <a:xfrm>
            <a:off x="2254574" y="2374514"/>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48" name="직사각형 47">
            <a:extLst>
              <a:ext uri="{FF2B5EF4-FFF2-40B4-BE49-F238E27FC236}">
                <a16:creationId xmlns:a16="http://schemas.microsoft.com/office/drawing/2014/main" id="{A5EC93A6-6E79-4067-AE9D-694852FF6483}"/>
              </a:ext>
            </a:extLst>
          </p:cNvPr>
          <p:cNvSpPr>
            <a:spLocks noGrp="1"/>
          </p:cNvSpPr>
          <p:nvPr/>
        </p:nvSpPr>
        <p:spPr>
          <a:xfrm>
            <a:off x="3197512" y="2374514"/>
            <a:ext cx="942938" cy="942938"/>
          </a:xfrm>
          <a:prstGeom prst="rect">
            <a:avLst/>
          </a:prstGeom>
          <a:solidFill>
            <a:srgbClr val="F4E3C7"/>
          </a:solidFill>
          <a:ln w="9525">
            <a:solidFill>
              <a:srgbClr val="788C91"/>
            </a:solidFill>
          </a:ln>
        </p:spPr>
      </p:sp>
      <p:sp>
        <p:nvSpPr>
          <p:cNvPr id="49" name="직사각형 48">
            <a:extLst>
              <a:ext uri="{FF2B5EF4-FFF2-40B4-BE49-F238E27FC236}">
                <a16:creationId xmlns:a16="http://schemas.microsoft.com/office/drawing/2014/main" id="{9CE85521-AB87-423D-8D84-7D5934D4ECA2}"/>
              </a:ext>
            </a:extLst>
          </p:cNvPr>
          <p:cNvSpPr>
            <a:spLocks noGrp="1"/>
          </p:cNvSpPr>
          <p:nvPr/>
        </p:nvSpPr>
        <p:spPr>
          <a:xfrm>
            <a:off x="3197512" y="2374514"/>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50" name="직사각형 49">
            <a:extLst>
              <a:ext uri="{FF2B5EF4-FFF2-40B4-BE49-F238E27FC236}">
                <a16:creationId xmlns:a16="http://schemas.microsoft.com/office/drawing/2014/main" id="{5B4EA3DE-1741-41D8-87F0-97CC064229B7}"/>
              </a:ext>
            </a:extLst>
          </p:cNvPr>
          <p:cNvSpPr>
            <a:spLocks noGrp="1"/>
          </p:cNvSpPr>
          <p:nvPr/>
        </p:nvSpPr>
        <p:spPr>
          <a:xfrm>
            <a:off x="4140450" y="2374514"/>
            <a:ext cx="942938" cy="942938"/>
          </a:xfrm>
          <a:prstGeom prst="rect">
            <a:avLst/>
          </a:prstGeom>
          <a:solidFill>
            <a:srgbClr val="F4E3C7"/>
          </a:solidFill>
          <a:ln w="9525">
            <a:solidFill>
              <a:srgbClr val="788C91"/>
            </a:solidFill>
          </a:ln>
        </p:spPr>
      </p:sp>
      <p:sp>
        <p:nvSpPr>
          <p:cNvPr id="51" name="직사각형 50">
            <a:extLst>
              <a:ext uri="{FF2B5EF4-FFF2-40B4-BE49-F238E27FC236}">
                <a16:creationId xmlns:a16="http://schemas.microsoft.com/office/drawing/2014/main" id="{2BDDCD56-5371-4786-86D8-6D9ED324A5FB}"/>
              </a:ext>
            </a:extLst>
          </p:cNvPr>
          <p:cNvSpPr>
            <a:spLocks noGrp="1"/>
          </p:cNvSpPr>
          <p:nvPr/>
        </p:nvSpPr>
        <p:spPr>
          <a:xfrm>
            <a:off x="4140450" y="2374514"/>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52" name="직사각형 51">
            <a:extLst>
              <a:ext uri="{FF2B5EF4-FFF2-40B4-BE49-F238E27FC236}">
                <a16:creationId xmlns:a16="http://schemas.microsoft.com/office/drawing/2014/main" id="{09229D92-974C-4C12-911E-7FE014067CAE}"/>
              </a:ext>
            </a:extLst>
          </p:cNvPr>
          <p:cNvSpPr>
            <a:spLocks noGrp="1"/>
          </p:cNvSpPr>
          <p:nvPr/>
        </p:nvSpPr>
        <p:spPr>
          <a:xfrm>
            <a:off x="1311636" y="3317452"/>
            <a:ext cx="942938" cy="942938"/>
          </a:xfrm>
          <a:prstGeom prst="rect">
            <a:avLst/>
          </a:prstGeom>
          <a:solidFill>
            <a:srgbClr val="DAEBED"/>
          </a:solidFill>
          <a:ln w="9525">
            <a:solidFill>
              <a:srgbClr val="788C91"/>
            </a:solidFill>
          </a:ln>
        </p:spPr>
      </p:sp>
      <p:sp>
        <p:nvSpPr>
          <p:cNvPr id="53" name="직사각형 52">
            <a:extLst>
              <a:ext uri="{FF2B5EF4-FFF2-40B4-BE49-F238E27FC236}">
                <a16:creationId xmlns:a16="http://schemas.microsoft.com/office/drawing/2014/main" id="{77ECF831-D85A-44F1-BC3A-A38176575503}"/>
              </a:ext>
            </a:extLst>
          </p:cNvPr>
          <p:cNvSpPr>
            <a:spLocks noGrp="1"/>
          </p:cNvSpPr>
          <p:nvPr/>
        </p:nvSpPr>
        <p:spPr>
          <a:xfrm>
            <a:off x="1311636" y="3317452"/>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54" name="직사각형 53">
            <a:extLst>
              <a:ext uri="{FF2B5EF4-FFF2-40B4-BE49-F238E27FC236}">
                <a16:creationId xmlns:a16="http://schemas.microsoft.com/office/drawing/2014/main" id="{EBF169EE-2E7B-4985-A7A4-55E1046C5DDB}"/>
              </a:ext>
            </a:extLst>
          </p:cNvPr>
          <p:cNvSpPr>
            <a:spLocks noGrp="1"/>
          </p:cNvSpPr>
          <p:nvPr/>
        </p:nvSpPr>
        <p:spPr>
          <a:xfrm>
            <a:off x="2254574" y="3317452"/>
            <a:ext cx="942938" cy="942938"/>
          </a:xfrm>
          <a:prstGeom prst="rect">
            <a:avLst/>
          </a:prstGeom>
          <a:solidFill>
            <a:srgbClr val="DAEBED"/>
          </a:solidFill>
          <a:ln w="9525">
            <a:solidFill>
              <a:srgbClr val="788C91"/>
            </a:solidFill>
          </a:ln>
        </p:spPr>
      </p:sp>
      <p:sp>
        <p:nvSpPr>
          <p:cNvPr id="55" name="직사각형 54">
            <a:extLst>
              <a:ext uri="{FF2B5EF4-FFF2-40B4-BE49-F238E27FC236}">
                <a16:creationId xmlns:a16="http://schemas.microsoft.com/office/drawing/2014/main" id="{49348012-E55E-45AC-A157-DC285A211EDC}"/>
              </a:ext>
            </a:extLst>
          </p:cNvPr>
          <p:cNvSpPr>
            <a:spLocks noGrp="1"/>
          </p:cNvSpPr>
          <p:nvPr/>
        </p:nvSpPr>
        <p:spPr>
          <a:xfrm>
            <a:off x="2254574" y="3317452"/>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56" name="직사각형 55">
            <a:extLst>
              <a:ext uri="{FF2B5EF4-FFF2-40B4-BE49-F238E27FC236}">
                <a16:creationId xmlns:a16="http://schemas.microsoft.com/office/drawing/2014/main" id="{BB540793-BECE-4914-9959-7A5F84F8BBF5}"/>
              </a:ext>
            </a:extLst>
          </p:cNvPr>
          <p:cNvSpPr>
            <a:spLocks noGrp="1"/>
          </p:cNvSpPr>
          <p:nvPr/>
        </p:nvSpPr>
        <p:spPr>
          <a:xfrm>
            <a:off x="3197512" y="3317452"/>
            <a:ext cx="942938" cy="942938"/>
          </a:xfrm>
          <a:prstGeom prst="rect">
            <a:avLst/>
          </a:prstGeom>
          <a:solidFill>
            <a:srgbClr val="F4E3C7"/>
          </a:solidFill>
          <a:ln w="9525">
            <a:solidFill>
              <a:srgbClr val="788C91"/>
            </a:solidFill>
          </a:ln>
        </p:spPr>
      </p:sp>
      <p:sp>
        <p:nvSpPr>
          <p:cNvPr id="57" name="직사각형 56">
            <a:extLst>
              <a:ext uri="{FF2B5EF4-FFF2-40B4-BE49-F238E27FC236}">
                <a16:creationId xmlns:a16="http://schemas.microsoft.com/office/drawing/2014/main" id="{C89C385D-0B23-4210-9112-87D2612C18DA}"/>
              </a:ext>
            </a:extLst>
          </p:cNvPr>
          <p:cNvSpPr>
            <a:spLocks noGrp="1"/>
          </p:cNvSpPr>
          <p:nvPr/>
        </p:nvSpPr>
        <p:spPr>
          <a:xfrm>
            <a:off x="3197512" y="3317452"/>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58" name="직사각형 57">
            <a:extLst>
              <a:ext uri="{FF2B5EF4-FFF2-40B4-BE49-F238E27FC236}">
                <a16:creationId xmlns:a16="http://schemas.microsoft.com/office/drawing/2014/main" id="{1AA20AA4-047F-4ED9-91D7-DA81660E1218}"/>
              </a:ext>
            </a:extLst>
          </p:cNvPr>
          <p:cNvSpPr>
            <a:spLocks noGrp="1"/>
          </p:cNvSpPr>
          <p:nvPr/>
        </p:nvSpPr>
        <p:spPr>
          <a:xfrm>
            <a:off x="4140450" y="3317452"/>
            <a:ext cx="942938" cy="942938"/>
          </a:xfrm>
          <a:prstGeom prst="rect">
            <a:avLst/>
          </a:prstGeom>
          <a:solidFill>
            <a:srgbClr val="F4E3C7"/>
          </a:solidFill>
          <a:ln w="9525">
            <a:solidFill>
              <a:srgbClr val="788C91"/>
            </a:solidFill>
          </a:ln>
        </p:spPr>
      </p:sp>
      <p:sp>
        <p:nvSpPr>
          <p:cNvPr id="59" name="직사각형 58">
            <a:extLst>
              <a:ext uri="{FF2B5EF4-FFF2-40B4-BE49-F238E27FC236}">
                <a16:creationId xmlns:a16="http://schemas.microsoft.com/office/drawing/2014/main" id="{3668828E-602B-4FA4-AD33-4BB79108DCFF}"/>
              </a:ext>
            </a:extLst>
          </p:cNvPr>
          <p:cNvSpPr>
            <a:spLocks noGrp="1"/>
          </p:cNvSpPr>
          <p:nvPr/>
        </p:nvSpPr>
        <p:spPr>
          <a:xfrm>
            <a:off x="4140450" y="3317452"/>
            <a:ext cx="942938" cy="942938"/>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 1</a:t>
            </a:r>
          </a:p>
        </p:txBody>
      </p:sp>
      <p:sp>
        <p:nvSpPr>
          <p:cNvPr id="60" name="직사각형 59">
            <a:extLst>
              <a:ext uri="{FF2B5EF4-FFF2-40B4-BE49-F238E27FC236}">
                <a16:creationId xmlns:a16="http://schemas.microsoft.com/office/drawing/2014/main" id="{016FAC75-0074-4861-950C-18C30F441AAD}"/>
              </a:ext>
            </a:extLst>
          </p:cNvPr>
          <p:cNvSpPr>
            <a:spLocks noGrp="1"/>
          </p:cNvSpPr>
          <p:nvPr/>
        </p:nvSpPr>
        <p:spPr>
          <a:xfrm>
            <a:off x="1940262" y="1901952"/>
            <a:ext cx="2694108" cy="354421"/>
          </a:xfrm>
          <a:prstGeom prst="rect">
            <a:avLst/>
          </a:prstGeom>
          <a:noFill/>
          <a:ln w="9525">
            <a:noFill/>
          </a:ln>
        </p:spPr>
        <p:txBody>
          <a:bodyPr wrap="none" lIns="0" tIns="0" rIns="0" bIns="0" anchor="ctr">
            <a:noAutofit/>
          </a:bodyPr>
          <a:lstStyle/>
          <a:p>
            <a:pPr algn="ctr">
              <a:defRPr sz="1500">
                <a:solidFill>
                  <a:srgbClr val="171717"/>
                </a:solidFill>
                <a:latin typeface="Malgun Gothic"/>
                <a:ea typeface="Malgun Gothic"/>
                <a:cs typeface="Malgun Gothic"/>
              </a:defRPr>
            </a:pPr>
            <a:r>
              <a:rPr sz="1500">
                <a:solidFill>
                  <a:srgbClr val="171717"/>
                </a:solidFill>
                <a:latin typeface="Malgun Gothic"/>
                <a:ea typeface="Malgun Gothic"/>
                <a:cs typeface="Malgun Gothic"/>
              </a:rPr>
              <a:t>가로 2d</a:t>
            </a:r>
          </a:p>
        </p:txBody>
      </p:sp>
      <p:sp>
        <p:nvSpPr>
          <p:cNvPr id="61" name="직사각형 60">
            <a:extLst>
              <a:ext uri="{FF2B5EF4-FFF2-40B4-BE49-F238E27FC236}">
                <a16:creationId xmlns:a16="http://schemas.microsoft.com/office/drawing/2014/main" id="{233E5139-1E3F-41D2-8F04-AABED2486899}"/>
              </a:ext>
            </a:extLst>
          </p:cNvPr>
          <p:cNvSpPr>
            <a:spLocks noGrp="1"/>
          </p:cNvSpPr>
          <p:nvPr/>
        </p:nvSpPr>
        <p:spPr>
          <a:xfrm>
            <a:off x="1266735" y="4378530"/>
            <a:ext cx="4041162" cy="354421"/>
          </a:xfrm>
          <a:prstGeom prst="rect">
            <a:avLst/>
          </a:prstGeom>
          <a:noFill/>
          <a:ln w="9525">
            <a:noFill/>
          </a:ln>
        </p:spPr>
        <p:txBody>
          <a:bodyPr wrap="none" lIns="0" tIns="0" rIns="0" bIns="0" anchor="ctr">
            <a:noAutofit/>
          </a:bodyPr>
          <a:lstStyle/>
          <a:p>
            <a:pPr algn="ctr">
              <a:defRPr sz="1425">
                <a:solidFill>
                  <a:srgbClr val="171717"/>
                </a:solidFill>
                <a:latin typeface="Malgun Gothic"/>
                <a:ea typeface="Malgun Gothic"/>
                <a:cs typeface="Malgun Gothic"/>
              </a:defRPr>
            </a:pPr>
            <a:r>
              <a:rPr sz="1425">
                <a:solidFill>
                  <a:srgbClr val="171717"/>
                </a:solidFill>
                <a:latin typeface="Malgun Gothic"/>
                <a:ea typeface="Malgun Gothic"/>
                <a:cs typeface="Malgun Gothic"/>
              </a:rPr>
              <a:t>각 칸 d/2 × d/2</a:t>
            </a:r>
          </a:p>
        </p:txBody>
      </p:sp>
      <p:sp>
        <p:nvSpPr>
          <p:cNvPr id="62" name="직사각형 61">
            <a:extLst>
              <a:ext uri="{FF2B5EF4-FFF2-40B4-BE49-F238E27FC236}">
                <a16:creationId xmlns:a16="http://schemas.microsoft.com/office/drawing/2014/main" id="{A7189019-37F1-41E4-8FD5-5F3D8AEF6CF5}"/>
              </a:ext>
            </a:extLst>
          </p:cNvPr>
          <p:cNvSpPr>
            <a:spLocks noGrp="1"/>
          </p:cNvSpPr>
          <p:nvPr/>
        </p:nvSpPr>
        <p:spPr>
          <a:xfrm>
            <a:off x="1042226" y="4851092"/>
            <a:ext cx="4490180" cy="354421"/>
          </a:xfrm>
          <a:prstGeom prst="rect">
            <a:avLst/>
          </a:prstGeom>
          <a:noFill/>
          <a:ln w="9525">
            <a:noFill/>
          </a:ln>
        </p:spPr>
        <p:txBody>
          <a:bodyPr wrap="none" lIns="0" tIns="0" rIns="0" bIns="0" anchor="ctr">
            <a:noAutofit/>
          </a:bodyPr>
          <a:lstStyle/>
          <a:p>
            <a:pPr algn="ctr">
              <a:defRPr sz="1425">
                <a:solidFill>
                  <a:srgbClr val="171717"/>
                </a:solidFill>
                <a:latin typeface="Malgun Gothic"/>
                <a:ea typeface="Malgun Gothic"/>
                <a:cs typeface="Malgun Gothic"/>
              </a:defRPr>
            </a:pPr>
            <a:r>
              <a:rPr sz="1425">
                <a:solidFill>
                  <a:srgbClr val="171717"/>
                </a:solidFill>
                <a:latin typeface="Malgun Gothic"/>
                <a:ea typeface="Malgun Gothic"/>
                <a:cs typeface="Malgun Gothic"/>
              </a:rPr>
              <a:t>8칸: 현재 점을 제외하면 최대 7개</a:t>
            </a:r>
          </a:p>
        </p:txBody>
      </p:sp>
    </p:spTree>
    <p:extLst>
      <p:ext uri="{BB962C8B-B14F-4D97-AF65-F5344CB8AC3E}">
        <p14:creationId xmlns:p14="http://schemas.microsoft.com/office/powerpoint/2010/main" val="2829434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3C8B6019-CB92-4661-AD2C-68EF5CE09634}"/>
              </a:ext>
            </a:extLst>
          </p:cNvPr>
          <p:cNvSpPr>
            <a:spLocks noGrp="1"/>
          </p:cNvSpPr>
          <p:nvPr/>
        </p:nvSpPr>
        <p:spPr>
          <a:xfrm>
            <a:off x="859536" y="1801368"/>
            <a:ext cx="681228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closest_pair.py</a:t>
            </a:r>
            <a:endParaRPr sz="900"/>
          </a:p>
        </p:txBody>
      </p:sp>
      <p:sp>
        <p:nvSpPr>
          <p:cNvPr id="17" name="Text 13">
            <a:extLst>
              <a:ext uri="{FF2B5EF4-FFF2-40B4-BE49-F238E27FC236}">
                <a16:creationId xmlns:a16="http://schemas.microsoft.com/office/drawing/2014/main" id="{57EB34D0-FE81-4A64-9FCA-D2B537F6F9FE}"/>
              </a:ext>
            </a:extLst>
          </p:cNvPr>
          <p:cNvSpPr>
            <a:spLocks noGrp="1"/>
          </p:cNvSpPr>
          <p:nvPr/>
        </p:nvSpPr>
        <p:spPr>
          <a:xfrm>
            <a:off x="8860536" y="1965960"/>
            <a:ext cx="2414016" cy="292608"/>
          </a:xfrm>
          <a:prstGeom prst="rect">
            <a:avLst/>
          </a:prstGeom>
          <a:noFill/>
          <a:ln w="0">
            <a:noFill/>
          </a:ln>
        </p:spPr>
        <p:txBody>
          <a:bodyPr wrap="square" lIns="0" tIns="0" rIns="0" bIns="0" anchor="ctr">
            <a:noAutofit/>
          </a:bodyPr>
          <a:lstStyle/>
          <a:p>
            <a:pPr marL="0" indent="0" algn="l">
              <a:buNone/>
              <a:defRPr sz="1200" i="0">
                <a:solidFill>
                  <a:srgbClr val="171717"/>
                </a:solidFill>
                <a:latin typeface="Malgun Gothic"/>
                <a:ea typeface="Malgun Gothic"/>
                <a:cs typeface="Malgun Gothic"/>
              </a:defRPr>
            </a:pPr>
            <a:r>
              <a:rPr sz="1200" b="1" i="0">
                <a:solidFill>
                  <a:srgbClr val="171717"/>
                </a:solidFill>
                <a:latin typeface="Malgun Gothic"/>
                <a:ea typeface="Malgun Gothic"/>
                <a:cs typeface="Malgun Gothic"/>
              </a:rPr>
              <a:t>기저 사례: 점 3개 이하</a:t>
            </a:r>
            <a:endParaRPr sz="1200"/>
          </a:p>
        </p:txBody>
      </p:sp>
      <p:sp>
        <p:nvSpPr>
          <p:cNvPr id="18" name="Text 14">
            <a:extLst>
              <a:ext uri="{FF2B5EF4-FFF2-40B4-BE49-F238E27FC236}">
                <a16:creationId xmlns:a16="http://schemas.microsoft.com/office/drawing/2014/main" id="{8020A5F8-4780-4601-872A-9763E5401038}"/>
              </a:ext>
            </a:extLst>
          </p:cNvPr>
          <p:cNvSpPr>
            <a:spLocks noGrp="1"/>
          </p:cNvSpPr>
          <p:nvPr/>
        </p:nvSpPr>
        <p:spPr>
          <a:xfrm>
            <a:off x="8860536" y="2313432"/>
            <a:ext cx="2414016" cy="868680"/>
          </a:xfrm>
          <a:prstGeom prst="rect">
            <a:avLst/>
          </a:prstGeom>
          <a:noFill/>
          <a:ln w="0">
            <a:noFill/>
          </a:ln>
        </p:spPr>
        <p:txBody>
          <a:bodyPr wrap="square" lIns="0" tIns="0" rIns="0" bIns="0" anchor="t">
            <a:noAutofit/>
          </a:bodyPr>
          <a:lstStyle/>
          <a:p>
            <a:pPr marL="0" indent="0" algn="l">
              <a:lnSpc>
                <a:spcPct val="132000"/>
              </a:lnSpc>
              <a:buNone/>
              <a:defRPr sz="1080" i="0">
                <a:solidFill>
                  <a:srgbClr val="171717"/>
                </a:solidFill>
                <a:latin typeface="Malgun Gothic"/>
                <a:ea typeface="Malgun Gothic"/>
                <a:cs typeface="Malgun Gothic"/>
              </a:defRPr>
            </a:pPr>
            <a:r>
              <a:rPr sz="1080" i="0">
                <a:solidFill>
                  <a:srgbClr val="171717"/>
                </a:solidFill>
                <a:latin typeface="Malgun Gothic"/>
                <a:ea typeface="Malgun Gothic"/>
                <a:cs typeface="Malgun Gothic"/>
              </a:rPr>
              <a:t>점이 3개 이하면 나누는 비용이 오히려 크다. 그냥 완전 탐색으로 푼다.</a:t>
            </a:r>
            <a:endParaRPr sz="1080"/>
          </a:p>
        </p:txBody>
      </p:sp>
      <p:sp>
        <p:nvSpPr>
          <p:cNvPr id="22" name="Text 17">
            <a:extLst>
              <a:ext uri="{FF2B5EF4-FFF2-40B4-BE49-F238E27FC236}">
                <a16:creationId xmlns:a16="http://schemas.microsoft.com/office/drawing/2014/main" id="{1D1E514B-F7A3-4BE5-BA11-A520E2DE3234}"/>
              </a:ext>
            </a:extLst>
          </p:cNvPr>
          <p:cNvSpPr>
            <a:spLocks noGrp="1"/>
          </p:cNvSpPr>
          <p:nvPr/>
        </p:nvSpPr>
        <p:spPr>
          <a:xfrm>
            <a:off x="8860536" y="3712464"/>
            <a:ext cx="2414016" cy="292608"/>
          </a:xfrm>
          <a:prstGeom prst="rect">
            <a:avLst/>
          </a:prstGeom>
          <a:noFill/>
          <a:ln w="0">
            <a:noFill/>
          </a:ln>
        </p:spPr>
        <p:txBody>
          <a:bodyPr wrap="square" lIns="0" tIns="0" rIns="0" bIns="0" anchor="ctr">
            <a:noAutofit/>
          </a:bodyPr>
          <a:lstStyle/>
          <a:p>
            <a:pPr marL="0" indent="0" algn="l">
              <a:buNone/>
              <a:defRPr sz="1200" i="0">
                <a:solidFill>
                  <a:srgbClr val="171717"/>
                </a:solidFill>
                <a:latin typeface="Malgun Gothic"/>
                <a:ea typeface="Malgun Gothic"/>
                <a:cs typeface="Malgun Gothic"/>
              </a:defRPr>
            </a:pPr>
            <a:r>
              <a:rPr sz="1200" b="1" i="0">
                <a:solidFill>
                  <a:srgbClr val="171717"/>
                </a:solidFill>
                <a:latin typeface="Malgun Gothic"/>
                <a:ea typeface="Malgun Gothic"/>
                <a:cs typeface="Malgun Gothic"/>
              </a:rPr>
              <a:t>strip 추출</a:t>
            </a:r>
            <a:endParaRPr sz="1200"/>
          </a:p>
        </p:txBody>
      </p:sp>
      <p:sp>
        <p:nvSpPr>
          <p:cNvPr id="23" name="Text 18">
            <a:extLst>
              <a:ext uri="{FF2B5EF4-FFF2-40B4-BE49-F238E27FC236}">
                <a16:creationId xmlns:a16="http://schemas.microsoft.com/office/drawing/2014/main" id="{E30E643D-2CAB-4C64-89E0-B75A49A05F28}"/>
              </a:ext>
            </a:extLst>
          </p:cNvPr>
          <p:cNvSpPr>
            <a:spLocks noGrp="1"/>
          </p:cNvSpPr>
          <p:nvPr/>
        </p:nvSpPr>
        <p:spPr>
          <a:xfrm>
            <a:off x="8860536" y="4059936"/>
            <a:ext cx="2414016" cy="548640"/>
          </a:xfrm>
          <a:prstGeom prst="rect">
            <a:avLst/>
          </a:prstGeom>
          <a:noFill/>
          <a:ln w="0">
            <a:noFill/>
          </a:ln>
        </p:spPr>
        <p:txBody>
          <a:bodyPr wrap="square" lIns="0" tIns="0" rIns="0" bIns="0" anchor="t">
            <a:noAutofit/>
          </a:bodyPr>
          <a:lstStyle/>
          <a:p>
            <a:pPr marL="0" indent="0" algn="l">
              <a:lnSpc>
                <a:spcPct val="132000"/>
              </a:lnSpc>
              <a:buNone/>
              <a:defRPr sz="1080" i="0">
                <a:solidFill>
                  <a:srgbClr val="171717"/>
                </a:solidFill>
                <a:latin typeface="Malgun Gothic"/>
                <a:ea typeface="Malgun Gothic"/>
                <a:cs typeface="Malgun Gothic"/>
              </a:defRPr>
            </a:pPr>
            <a:r>
              <a:rPr sz="1080" i="0">
                <a:solidFill>
                  <a:srgbClr val="171717"/>
                </a:solidFill>
                <a:latin typeface="Malgun Gothic"/>
                <a:ea typeface="Malgun Gothic"/>
                <a:cs typeface="Malgun Gothic"/>
              </a:rPr>
              <a:t>리스트 컴프리헨션 한 줄로 후보를 골라낸다.</a:t>
            </a:r>
            <a:endParaRPr sz="1080"/>
          </a:p>
        </p:txBody>
      </p:sp>
      <p:sp>
        <p:nvSpPr>
          <p:cNvPr id="27" name="Text 21">
            <a:extLst>
              <a:ext uri="{FF2B5EF4-FFF2-40B4-BE49-F238E27FC236}">
                <a16:creationId xmlns:a16="http://schemas.microsoft.com/office/drawing/2014/main" id="{93E2B891-C85D-4E61-B5A5-8CBA5879DD22}"/>
              </a:ext>
            </a:extLst>
          </p:cNvPr>
          <p:cNvSpPr>
            <a:spLocks noGrp="1"/>
          </p:cNvSpPr>
          <p:nvPr/>
        </p:nvSpPr>
        <p:spPr>
          <a:xfrm>
            <a:off x="8860536" y="5138928"/>
            <a:ext cx="2414016" cy="292608"/>
          </a:xfrm>
          <a:prstGeom prst="rect">
            <a:avLst/>
          </a:prstGeom>
          <a:noFill/>
          <a:ln w="0">
            <a:noFill/>
          </a:ln>
        </p:spPr>
        <p:txBody>
          <a:bodyPr wrap="square" lIns="0" tIns="0" rIns="0" bIns="0" anchor="ctr">
            <a:noAutofit/>
          </a:bodyPr>
          <a:lstStyle/>
          <a:p>
            <a:pPr marL="0" indent="0" algn="l">
              <a:buNone/>
              <a:defRPr sz="1200" i="0">
                <a:solidFill>
                  <a:srgbClr val="171717"/>
                </a:solidFill>
                <a:latin typeface="Malgun Gothic"/>
                <a:ea typeface="Malgun Gothic"/>
                <a:cs typeface="Malgun Gothic"/>
              </a:defRPr>
            </a:pPr>
            <a:r>
              <a:rPr sz="1200" b="1" i="0">
                <a:solidFill>
                  <a:srgbClr val="171717"/>
                </a:solidFill>
                <a:latin typeface="Malgun Gothic"/>
                <a:ea typeface="Malgun Gothic"/>
                <a:cs typeface="Malgun Gothic"/>
              </a:rPr>
              <a:t>min(i + 8, len)</a:t>
            </a:r>
            <a:endParaRPr sz="1200"/>
          </a:p>
        </p:txBody>
      </p:sp>
      <p:sp>
        <p:nvSpPr>
          <p:cNvPr id="28" name="Text 22">
            <a:extLst>
              <a:ext uri="{FF2B5EF4-FFF2-40B4-BE49-F238E27FC236}">
                <a16:creationId xmlns:a16="http://schemas.microsoft.com/office/drawing/2014/main" id="{A37E20E6-B703-4509-94D0-24C4D6DD6A26}"/>
              </a:ext>
            </a:extLst>
          </p:cNvPr>
          <p:cNvSpPr>
            <a:spLocks noGrp="1"/>
          </p:cNvSpPr>
          <p:nvPr/>
        </p:nvSpPr>
        <p:spPr>
          <a:xfrm>
            <a:off x="8860536" y="5486400"/>
            <a:ext cx="2414016" cy="475488"/>
          </a:xfrm>
          <a:prstGeom prst="rect">
            <a:avLst/>
          </a:prstGeom>
          <a:noFill/>
          <a:ln w="0">
            <a:noFill/>
          </a:ln>
        </p:spPr>
        <p:txBody>
          <a:bodyPr wrap="square" lIns="0" tIns="0" rIns="0" bIns="0" anchor="t">
            <a:noAutofit/>
          </a:bodyPr>
          <a:lstStyle/>
          <a:p>
            <a:pPr marL="0" indent="0" algn="l">
              <a:lnSpc>
                <a:spcPct val="132000"/>
              </a:lnSpc>
              <a:buNone/>
              <a:defRPr sz="1080" i="0">
                <a:solidFill>
                  <a:srgbClr val="171717"/>
                </a:solidFill>
                <a:latin typeface="Malgun Gothic"/>
                <a:ea typeface="Malgun Gothic"/>
                <a:cs typeface="Malgun Gothic"/>
              </a:defRPr>
            </a:pPr>
            <a:r>
              <a:rPr sz="1080" i="0">
                <a:solidFill>
                  <a:srgbClr val="171717"/>
                </a:solidFill>
                <a:latin typeface="Malgun Gothic"/>
                <a:ea typeface="Malgun Gothic"/>
                <a:cs typeface="Malgun Gothic"/>
              </a:rPr>
              <a:t>증명 덕분에 안쪽 반복은 상수 횟수로 끝난다.</a:t>
            </a:r>
            <a:endParaRPr sz="1080"/>
          </a:p>
        </p:txBody>
      </p:sp>
      <p:sp>
        <p:nvSpPr>
          <p:cNvPr id="30" name="직사각형 29">
            <a:extLst>
              <a:ext uri="{FF2B5EF4-FFF2-40B4-BE49-F238E27FC236}">
                <a16:creationId xmlns:a16="http://schemas.microsoft.com/office/drawing/2014/main" id="{139FC754-C4B4-408F-91D0-AACD31E44A56}"/>
              </a:ext>
            </a:extLst>
          </p:cNvPr>
          <p:cNvSpPr>
            <a:spLocks noGrp="1"/>
          </p:cNvSpPr>
          <p:nvPr/>
        </p:nvSpPr>
        <p:spPr>
          <a:xfrm>
            <a:off x="8001000" y="1783080"/>
            <a:ext cx="3529584" cy="9525"/>
          </a:xfrm>
          <a:prstGeom prst="rect">
            <a:avLst/>
          </a:prstGeom>
          <a:solidFill>
            <a:srgbClr val="D4D4D4"/>
          </a:solidFill>
          <a:ln w="0">
            <a:noFill/>
          </a:ln>
        </p:spPr>
      </p:sp>
      <p:sp>
        <p:nvSpPr>
          <p:cNvPr id="31" name="직사각형 30">
            <a:extLst>
              <a:ext uri="{FF2B5EF4-FFF2-40B4-BE49-F238E27FC236}">
                <a16:creationId xmlns:a16="http://schemas.microsoft.com/office/drawing/2014/main" id="{C1AEBA7F-4F2F-49E0-B51C-B0791B244599}"/>
              </a:ext>
            </a:extLst>
          </p:cNvPr>
          <p:cNvSpPr>
            <a:spLocks noGrp="1"/>
          </p:cNvSpPr>
          <p:nvPr/>
        </p:nvSpPr>
        <p:spPr>
          <a:xfrm>
            <a:off x="8001000" y="3529584"/>
            <a:ext cx="3529584" cy="9525"/>
          </a:xfrm>
          <a:prstGeom prst="rect">
            <a:avLst/>
          </a:prstGeom>
          <a:solidFill>
            <a:srgbClr val="D4D4D4"/>
          </a:solidFill>
          <a:ln w="0">
            <a:noFill/>
          </a:ln>
        </p:spPr>
      </p:sp>
      <p:sp>
        <p:nvSpPr>
          <p:cNvPr id="32" name="직사각형 31">
            <a:extLst>
              <a:ext uri="{FF2B5EF4-FFF2-40B4-BE49-F238E27FC236}">
                <a16:creationId xmlns:a16="http://schemas.microsoft.com/office/drawing/2014/main" id="{0D30068D-904E-4AA0-BDFD-461A51EDDAA7}"/>
              </a:ext>
            </a:extLst>
          </p:cNvPr>
          <p:cNvSpPr>
            <a:spLocks noGrp="1"/>
          </p:cNvSpPr>
          <p:nvPr/>
        </p:nvSpPr>
        <p:spPr>
          <a:xfrm>
            <a:off x="8001000" y="4956048"/>
            <a:ext cx="3529584" cy="9525"/>
          </a:xfrm>
          <a:prstGeom prst="rect">
            <a:avLst/>
          </a:prstGeom>
          <a:solidFill>
            <a:srgbClr val="D4D4D4"/>
          </a:solidFill>
          <a:ln w="0">
            <a:noFill/>
          </a:ln>
        </p:spPr>
      </p:sp>
      <p:sp>
        <p:nvSpPr>
          <p:cNvPr id="33" name="직사각형 32">
            <a:extLst>
              <a:ext uri="{FF2B5EF4-FFF2-40B4-BE49-F238E27FC236}">
                <a16:creationId xmlns:a16="http://schemas.microsoft.com/office/drawing/2014/main" id="{61F3B303-56B4-4ED9-85AD-271459510375}"/>
              </a:ext>
            </a:extLst>
          </p:cNvPr>
          <p:cNvSpPr>
            <a:spLocks noGrp="1"/>
          </p:cNvSpPr>
          <p:nvPr/>
        </p:nvSpPr>
        <p:spPr>
          <a:xfrm>
            <a:off x="698373" y="2090928"/>
            <a:ext cx="7152894" cy="4049268"/>
          </a:xfrm>
          <a:prstGeom prst="rect">
            <a:avLst/>
          </a:prstGeom>
          <a:solidFill>
            <a:srgbClr val="171717"/>
          </a:solidFill>
          <a:ln w="0">
            <a:noFill/>
          </a:ln>
        </p:spPr>
        <p:txBody>
          <a:bodyPr wrap="none" lIns="142875" tIns="76200" rIns="142875" bIns="76200" anchor="t">
            <a:noAutofit/>
          </a:bodyPr>
          <a:lstStyle/>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def ClosestPair(P):</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if len(P) &lt;= 3:</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return ClosestPairBruteForce(P)</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mid = len(P) // 2</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Q = P[:mid]</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R = P[mid:]</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d_left  = ClosestPair(Q)</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d_right = ClosestPair(R)</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d = min(d_left, d_right)</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mid_x = P[mid].x</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strip = [p for p in P if abs(p.x - mid_x) &lt; d]</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strip.sort(key=lambda p: p.y)</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for i in range(len(strip)):</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for j in range(i + 1, min(i + 8, len(strip))):</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if distance(strip[i], strip[j]) &lt; d:</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d = distance(strip[i], strip[j])</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return d</a:t>
            </a:r>
          </a:p>
        </p:txBody>
      </p:sp>
      <p:sp>
        <p:nvSpPr>
          <p:cNvPr id="34" name="직사각형 33">
            <a:extLst>
              <a:ext uri="{FF2B5EF4-FFF2-40B4-BE49-F238E27FC236}">
                <a16:creationId xmlns:a16="http://schemas.microsoft.com/office/drawing/2014/main" id="{055F0052-780F-4F9E-88ED-0FD36DBABC80}"/>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4.5  </a:t>
            </a:r>
            <a:r>
              <a:rPr lang="ko-KR" altLang="en-US" sz="1050" b="1" i="0">
                <a:solidFill>
                  <a:srgbClr val="606060"/>
                </a:solidFill>
                <a:latin typeface="Malgun Gothic"/>
                <a:ea typeface="Malgun Gothic"/>
                <a:cs typeface="Malgun Gothic"/>
              </a:rPr>
              <a:t>최근접 쌍 문제</a:t>
            </a:r>
            <a:endParaRPr sz="1050" b="1" i="0">
              <a:solidFill>
                <a:srgbClr val="606060"/>
              </a:solidFill>
              <a:latin typeface="Malgun Gothic"/>
              <a:ea typeface="Malgun Gothic"/>
              <a:cs typeface="Malgun Gothic"/>
            </a:endParaRPr>
          </a:p>
        </p:txBody>
      </p:sp>
      <p:sp>
        <p:nvSpPr>
          <p:cNvPr id="35" name="직사각형 34">
            <a:extLst>
              <a:ext uri="{FF2B5EF4-FFF2-40B4-BE49-F238E27FC236}">
                <a16:creationId xmlns:a16="http://schemas.microsoft.com/office/drawing/2014/main" id="{46586C7C-32D2-4D64-B99B-AB1E5EBCBB57}"/>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6" name="직사각형 35">
            <a:extLst>
              <a:ext uri="{FF2B5EF4-FFF2-40B4-BE49-F238E27FC236}">
                <a16:creationId xmlns:a16="http://schemas.microsoft.com/office/drawing/2014/main" id="{B3C752BA-69C4-4D2C-A267-CA05846F20E8}"/>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파이썬 구현 — 분할 정복 본체</a:t>
            </a:r>
          </a:p>
        </p:txBody>
      </p:sp>
      <p:sp>
        <p:nvSpPr>
          <p:cNvPr id="37" name="직사각형 36">
            <a:extLst>
              <a:ext uri="{FF2B5EF4-FFF2-40B4-BE49-F238E27FC236}">
                <a16:creationId xmlns:a16="http://schemas.microsoft.com/office/drawing/2014/main" id="{3206930D-544D-4780-BCF0-5491AEC33D63}"/>
              </a:ext>
            </a:extLst>
          </p:cNvPr>
          <p:cNvSpPr>
            <a:spLocks noGrp="1"/>
          </p:cNvSpPr>
          <p:nvPr/>
        </p:nvSpPr>
        <p:spPr>
          <a:xfrm>
            <a:off x="609600" y="1381125"/>
            <a:ext cx="10972800" cy="19050"/>
          </a:xfrm>
          <a:prstGeom prst="rect">
            <a:avLst/>
          </a:prstGeom>
          <a:solidFill>
            <a:srgbClr val="171717"/>
          </a:solidFill>
          <a:ln w="0">
            <a:noFill/>
          </a:ln>
        </p:spPr>
      </p:sp>
      <p:sp>
        <p:nvSpPr>
          <p:cNvPr id="38" name="직사각형 37">
            <a:extLst>
              <a:ext uri="{FF2B5EF4-FFF2-40B4-BE49-F238E27FC236}">
                <a16:creationId xmlns:a16="http://schemas.microsoft.com/office/drawing/2014/main" id="{A359A2C1-20A5-44B0-AE4C-FB974A0B2D1F}"/>
              </a:ext>
            </a:extLst>
          </p:cNvPr>
          <p:cNvSpPr>
            <a:spLocks noGrp="1"/>
          </p:cNvSpPr>
          <p:nvPr/>
        </p:nvSpPr>
        <p:spPr>
          <a:xfrm>
            <a:off x="609600" y="6438900"/>
            <a:ext cx="10972800"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AE8667E0-42DC-44EB-A631-E933DC08375B}"/>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0" name="직사각형 39">
            <a:extLst>
              <a:ext uri="{FF2B5EF4-FFF2-40B4-BE49-F238E27FC236}">
                <a16:creationId xmlns:a16="http://schemas.microsoft.com/office/drawing/2014/main" id="{52FDFE35-2551-4E3D-8001-B52AD2E80DDE}"/>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100</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7328768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A5D01C4E-0069-4FC4-B554-FF06B65DBDB9}"/>
              </a:ext>
            </a:extLst>
          </p:cNvPr>
          <p:cNvSpPr>
            <a:spLocks noGrp="1"/>
          </p:cNvSpPr>
          <p:nvPr/>
        </p:nvSpPr>
        <p:spPr>
          <a:xfrm>
            <a:off x="859536" y="1801368"/>
            <a:ext cx="594360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run.py</a:t>
            </a:r>
            <a:endParaRPr sz="900"/>
          </a:p>
        </p:txBody>
      </p:sp>
      <p:sp>
        <p:nvSpPr>
          <p:cNvPr id="15" name="Text 12">
            <a:extLst>
              <a:ext uri="{FF2B5EF4-FFF2-40B4-BE49-F238E27FC236}">
                <a16:creationId xmlns:a16="http://schemas.microsoft.com/office/drawing/2014/main" id="{B838829E-4C73-4DC4-8688-BAAF3BFFFC94}"/>
              </a:ext>
            </a:extLst>
          </p:cNvPr>
          <p:cNvSpPr>
            <a:spLocks noGrp="1"/>
          </p:cNvSpPr>
          <p:nvPr/>
        </p:nvSpPr>
        <p:spPr>
          <a:xfrm>
            <a:off x="877824" y="4224528"/>
            <a:ext cx="2743200" cy="256032"/>
          </a:xfrm>
          <a:prstGeom prst="rect">
            <a:avLst/>
          </a:prstGeom>
          <a:noFill/>
          <a:ln w="0">
            <a:noFill/>
          </a:ln>
        </p:spPr>
        <p:txBody>
          <a:bodyPr wrap="square" lIns="0" tIns="0" rIns="0" bIns="0" anchor="ctr">
            <a:noAutofit/>
          </a:bodyPr>
          <a:lstStyle/>
          <a:p>
            <a:pPr marL="0" indent="0" algn="l">
              <a:buNone/>
              <a:defRPr sz="900" i="0">
                <a:solidFill>
                  <a:srgbClr val="171717"/>
                </a:solidFill>
                <a:latin typeface="Malgun Gothic"/>
                <a:ea typeface="Malgun Gothic"/>
                <a:cs typeface="Malgun Gothic"/>
              </a:defRPr>
            </a:pPr>
            <a:r>
              <a:rPr sz="900" b="1" i="0" spc="140">
                <a:solidFill>
                  <a:srgbClr val="171717"/>
                </a:solidFill>
                <a:latin typeface="Malgun Gothic"/>
                <a:ea typeface="Malgun Gothic"/>
                <a:cs typeface="Malgun Gothic"/>
              </a:rPr>
              <a:t>OUTPUT</a:t>
            </a:r>
            <a:endParaRPr sz="900"/>
          </a:p>
        </p:txBody>
      </p:sp>
      <p:sp>
        <p:nvSpPr>
          <p:cNvPr id="16" name="Text 13">
            <a:extLst>
              <a:ext uri="{FF2B5EF4-FFF2-40B4-BE49-F238E27FC236}">
                <a16:creationId xmlns:a16="http://schemas.microsoft.com/office/drawing/2014/main" id="{2CEA1EF1-479B-4EAB-89BA-3F602C26858A}"/>
              </a:ext>
            </a:extLst>
          </p:cNvPr>
          <p:cNvSpPr>
            <a:spLocks noGrp="1"/>
          </p:cNvSpPr>
          <p:nvPr/>
        </p:nvSpPr>
        <p:spPr>
          <a:xfrm>
            <a:off x="877824" y="4535424"/>
            <a:ext cx="5852160" cy="548640"/>
          </a:xfrm>
          <a:prstGeom prst="rect">
            <a:avLst/>
          </a:prstGeom>
          <a:noFill/>
          <a:ln w="0">
            <a:noFill/>
          </a:ln>
        </p:spPr>
        <p:txBody>
          <a:bodyPr wrap="square" lIns="0" tIns="0" rIns="0" bIns="0" anchor="t">
            <a:noAutofit/>
          </a:bodyPr>
          <a:lstStyle/>
          <a:p>
            <a:pPr marL="0" indent="0" algn="l">
              <a:buNone/>
              <a:defRPr sz="1500" i="0">
                <a:solidFill>
                  <a:srgbClr val="171717"/>
                </a:solidFill>
                <a:latin typeface="Consolas"/>
                <a:ea typeface="Consolas"/>
                <a:cs typeface="Consolas"/>
              </a:defRPr>
            </a:pPr>
            <a:r>
              <a:rPr sz="1500" i="0">
                <a:solidFill>
                  <a:srgbClr val="171717"/>
                </a:solidFill>
                <a:latin typeface="Consolas"/>
                <a:ea typeface="Consolas"/>
                <a:cs typeface="Consolas"/>
              </a:rPr>
              <a:t>가장 가까운 두 점 사이의 거리: 1.4142135623730951</a:t>
            </a:r>
            <a:endParaRPr sz="1000"/>
          </a:p>
        </p:txBody>
      </p:sp>
      <p:sp>
        <p:nvSpPr>
          <p:cNvPr id="20" name="Text 16">
            <a:extLst>
              <a:ext uri="{FF2B5EF4-FFF2-40B4-BE49-F238E27FC236}">
                <a16:creationId xmlns:a16="http://schemas.microsoft.com/office/drawing/2014/main" id="{949FD166-88F6-4569-9E5C-A6C7304F7E64}"/>
              </a:ext>
            </a:extLst>
          </p:cNvPr>
          <p:cNvSpPr>
            <a:spLocks noGrp="1"/>
          </p:cNvSpPr>
          <p:nvPr/>
        </p:nvSpPr>
        <p:spPr>
          <a:xfrm>
            <a:off x="1517904" y="5632704"/>
            <a:ext cx="5193792" cy="365760"/>
          </a:xfrm>
          <a:prstGeom prst="rect">
            <a:avLst/>
          </a:prstGeom>
          <a:noFill/>
          <a:ln w="0">
            <a:noFill/>
          </a:ln>
        </p:spPr>
        <p:txBody>
          <a:bodyPr wrap="square" lIns="0" tIns="0" rIns="0" bIns="0" anchor="ctr">
            <a:noAutofit/>
          </a:bodyPr>
          <a:lstStyle/>
          <a:p>
            <a:pPr marL="0" indent="0" algn="l">
              <a:lnSpc>
                <a:spcPct val="134000"/>
              </a:lnSpc>
              <a:buNone/>
              <a:defRPr sz="1200" i="0">
                <a:solidFill>
                  <a:srgbClr val="171717"/>
                </a:solidFill>
                <a:latin typeface="Malgun Gothic"/>
                <a:ea typeface="Malgun Gothic"/>
                <a:cs typeface="Malgun Gothic"/>
              </a:defRPr>
            </a:pPr>
            <a:r>
              <a:rPr sz="1200" i="0">
                <a:solidFill>
                  <a:srgbClr val="171717"/>
                </a:solidFill>
                <a:latin typeface="Malgun Gothic"/>
                <a:ea typeface="Malgun Gothic"/>
                <a:cs typeface="Malgun Gothic"/>
              </a:rPr>
              <a:t>(2, 3)과 (3, 4) 사이의 거리 √2 ≈ 1.414 가 정답이다.</a:t>
            </a:r>
            <a:endParaRPr sz="1200"/>
          </a:p>
        </p:txBody>
      </p:sp>
      <p:sp>
        <p:nvSpPr>
          <p:cNvPr id="24" name="Text 19">
            <a:extLst>
              <a:ext uri="{FF2B5EF4-FFF2-40B4-BE49-F238E27FC236}">
                <a16:creationId xmlns:a16="http://schemas.microsoft.com/office/drawing/2014/main" id="{36AC1859-EB43-46A7-94FF-15CA060BB80D}"/>
              </a:ext>
            </a:extLst>
          </p:cNvPr>
          <p:cNvSpPr>
            <a:spLocks noGrp="1"/>
          </p:cNvSpPr>
          <p:nvPr/>
        </p:nvSpPr>
        <p:spPr>
          <a:xfrm>
            <a:off x="7461504" y="1783080"/>
            <a:ext cx="685800" cy="694944"/>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분할</a:t>
            </a:r>
            <a:endParaRPr sz="1250"/>
          </a:p>
        </p:txBody>
      </p:sp>
      <p:sp>
        <p:nvSpPr>
          <p:cNvPr id="25" name="Text 20">
            <a:extLst>
              <a:ext uri="{FF2B5EF4-FFF2-40B4-BE49-F238E27FC236}">
                <a16:creationId xmlns:a16="http://schemas.microsoft.com/office/drawing/2014/main" id="{88A12D14-A190-4203-B7B8-33C5C9BBC010}"/>
              </a:ext>
            </a:extLst>
          </p:cNvPr>
          <p:cNvSpPr>
            <a:spLocks noGrp="1"/>
          </p:cNvSpPr>
          <p:nvPr/>
        </p:nvSpPr>
        <p:spPr>
          <a:xfrm>
            <a:off x="8138160" y="1783080"/>
            <a:ext cx="2148840" cy="694944"/>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i="0">
                <a:solidFill>
                  <a:srgbClr val="171717"/>
                </a:solidFill>
                <a:latin typeface="Malgun Gothic"/>
                <a:ea typeface="Malgun Gothic"/>
                <a:cs typeface="Malgun Gothic"/>
              </a:rPr>
              <a:t>x좌표 기준으로 절반</a:t>
            </a:r>
            <a:endParaRPr sz="1050"/>
          </a:p>
        </p:txBody>
      </p:sp>
      <p:sp>
        <p:nvSpPr>
          <p:cNvPr id="26" name="Text 21">
            <a:extLst>
              <a:ext uri="{FF2B5EF4-FFF2-40B4-BE49-F238E27FC236}">
                <a16:creationId xmlns:a16="http://schemas.microsoft.com/office/drawing/2014/main" id="{012A0570-3568-497A-93C4-09CB7FF7BDC5}"/>
              </a:ext>
            </a:extLst>
          </p:cNvPr>
          <p:cNvSpPr>
            <a:spLocks noGrp="1"/>
          </p:cNvSpPr>
          <p:nvPr/>
        </p:nvSpPr>
        <p:spPr>
          <a:xfrm>
            <a:off x="10287000" y="1783080"/>
            <a:ext cx="1097280" cy="694944"/>
          </a:xfrm>
          <a:prstGeom prst="rect">
            <a:avLst/>
          </a:prstGeom>
          <a:noFill/>
          <a:ln w="0">
            <a:noFill/>
          </a:ln>
        </p:spPr>
        <p:txBody>
          <a:bodyPr wrap="square" lIns="0" tIns="0" rIns="0" bIns="0" anchor="ctr">
            <a:noAutofit/>
          </a:bodyPr>
          <a:lstStyle/>
          <a:p>
            <a:pPr marL="0" indent="0" algn="r">
              <a:buNone/>
              <a:defRPr sz="1100" i="0">
                <a:solidFill>
                  <a:srgbClr val="171717"/>
                </a:solidFill>
                <a:latin typeface="Consolas"/>
                <a:ea typeface="Consolas"/>
                <a:cs typeface="Consolas"/>
              </a:defRPr>
            </a:pPr>
            <a:r>
              <a:rPr sz="1100" b="1" i="0">
                <a:solidFill>
                  <a:srgbClr val="171717"/>
                </a:solidFill>
                <a:latin typeface="Consolas"/>
                <a:ea typeface="Consolas"/>
                <a:cs typeface="Consolas"/>
              </a:rPr>
              <a:t>O(n)</a:t>
            </a:r>
            <a:endParaRPr sz="1100"/>
          </a:p>
        </p:txBody>
      </p:sp>
      <p:sp>
        <p:nvSpPr>
          <p:cNvPr id="30" name="Text 24">
            <a:extLst>
              <a:ext uri="{FF2B5EF4-FFF2-40B4-BE49-F238E27FC236}">
                <a16:creationId xmlns:a16="http://schemas.microsoft.com/office/drawing/2014/main" id="{E60C767F-5944-40EC-98ED-DFC621F7FE3A}"/>
              </a:ext>
            </a:extLst>
          </p:cNvPr>
          <p:cNvSpPr>
            <a:spLocks noGrp="1"/>
          </p:cNvSpPr>
          <p:nvPr/>
        </p:nvSpPr>
        <p:spPr>
          <a:xfrm>
            <a:off x="7461504" y="2606040"/>
            <a:ext cx="685800" cy="694944"/>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정복</a:t>
            </a:r>
            <a:endParaRPr sz="1250"/>
          </a:p>
        </p:txBody>
      </p:sp>
      <p:sp>
        <p:nvSpPr>
          <p:cNvPr id="31" name="Text 25">
            <a:extLst>
              <a:ext uri="{FF2B5EF4-FFF2-40B4-BE49-F238E27FC236}">
                <a16:creationId xmlns:a16="http://schemas.microsoft.com/office/drawing/2014/main" id="{D85BED6D-86CD-4B5D-92DF-3CF28DD0E3AA}"/>
              </a:ext>
            </a:extLst>
          </p:cNvPr>
          <p:cNvSpPr>
            <a:spLocks noGrp="1"/>
          </p:cNvSpPr>
          <p:nvPr/>
        </p:nvSpPr>
        <p:spPr>
          <a:xfrm>
            <a:off x="8138160" y="2606040"/>
            <a:ext cx="2148840" cy="694944"/>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i="0">
                <a:solidFill>
                  <a:srgbClr val="171717"/>
                </a:solidFill>
                <a:latin typeface="Malgun Gothic"/>
                <a:ea typeface="Malgun Gothic"/>
                <a:cs typeface="Malgun Gothic"/>
              </a:rPr>
              <a:t>두 개의 절반 문제 재귀</a:t>
            </a:r>
            <a:endParaRPr sz="1050"/>
          </a:p>
        </p:txBody>
      </p:sp>
      <p:sp>
        <p:nvSpPr>
          <p:cNvPr id="32" name="Text 26">
            <a:extLst>
              <a:ext uri="{FF2B5EF4-FFF2-40B4-BE49-F238E27FC236}">
                <a16:creationId xmlns:a16="http://schemas.microsoft.com/office/drawing/2014/main" id="{DE953FB0-6826-4166-AE84-8B802701B472}"/>
              </a:ext>
            </a:extLst>
          </p:cNvPr>
          <p:cNvSpPr>
            <a:spLocks noGrp="1"/>
          </p:cNvSpPr>
          <p:nvPr/>
        </p:nvSpPr>
        <p:spPr>
          <a:xfrm>
            <a:off x="10287000" y="2606040"/>
            <a:ext cx="1097280" cy="694944"/>
          </a:xfrm>
          <a:prstGeom prst="rect">
            <a:avLst/>
          </a:prstGeom>
          <a:noFill/>
          <a:ln w="0">
            <a:noFill/>
          </a:ln>
        </p:spPr>
        <p:txBody>
          <a:bodyPr wrap="square" lIns="0" tIns="0" rIns="0" bIns="0" anchor="ctr">
            <a:noAutofit/>
          </a:bodyPr>
          <a:lstStyle/>
          <a:p>
            <a:pPr marL="0" indent="0" algn="r">
              <a:buNone/>
              <a:defRPr sz="1100" i="0">
                <a:solidFill>
                  <a:srgbClr val="171717"/>
                </a:solidFill>
                <a:latin typeface="Consolas"/>
                <a:ea typeface="Consolas"/>
                <a:cs typeface="Consolas"/>
              </a:defRPr>
            </a:pPr>
            <a:r>
              <a:rPr sz="1100" b="1" i="0">
                <a:solidFill>
                  <a:srgbClr val="171717"/>
                </a:solidFill>
                <a:latin typeface="Consolas"/>
                <a:ea typeface="Consolas"/>
                <a:cs typeface="Consolas"/>
              </a:rPr>
              <a:t>2T(n/2)</a:t>
            </a:r>
            <a:endParaRPr sz="1100"/>
          </a:p>
        </p:txBody>
      </p:sp>
      <p:sp>
        <p:nvSpPr>
          <p:cNvPr id="36" name="Text 29">
            <a:extLst>
              <a:ext uri="{FF2B5EF4-FFF2-40B4-BE49-F238E27FC236}">
                <a16:creationId xmlns:a16="http://schemas.microsoft.com/office/drawing/2014/main" id="{212F6845-AC12-4E10-905B-F83D424DC855}"/>
              </a:ext>
            </a:extLst>
          </p:cNvPr>
          <p:cNvSpPr>
            <a:spLocks noGrp="1"/>
          </p:cNvSpPr>
          <p:nvPr/>
        </p:nvSpPr>
        <p:spPr>
          <a:xfrm>
            <a:off x="7461504" y="3429000"/>
            <a:ext cx="685800" cy="694944"/>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결합</a:t>
            </a:r>
            <a:endParaRPr sz="1250"/>
          </a:p>
        </p:txBody>
      </p:sp>
      <p:sp>
        <p:nvSpPr>
          <p:cNvPr id="37" name="Text 30">
            <a:extLst>
              <a:ext uri="{FF2B5EF4-FFF2-40B4-BE49-F238E27FC236}">
                <a16:creationId xmlns:a16="http://schemas.microsoft.com/office/drawing/2014/main" id="{8778BAC9-612C-47EA-A940-ED7067294C37}"/>
              </a:ext>
            </a:extLst>
          </p:cNvPr>
          <p:cNvSpPr>
            <a:spLocks noGrp="1"/>
          </p:cNvSpPr>
          <p:nvPr/>
        </p:nvSpPr>
        <p:spPr>
          <a:xfrm>
            <a:off x="8138160" y="3429000"/>
            <a:ext cx="2148840" cy="694944"/>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i="0">
                <a:solidFill>
                  <a:srgbClr val="171717"/>
                </a:solidFill>
                <a:latin typeface="Malgun Gothic"/>
                <a:ea typeface="Malgun Gothic"/>
                <a:cs typeface="Malgun Gothic"/>
              </a:rPr>
              <a:t>strip 정렬 + 상수 회 비교</a:t>
            </a:r>
            <a:endParaRPr sz="1050"/>
          </a:p>
        </p:txBody>
      </p:sp>
      <p:sp>
        <p:nvSpPr>
          <p:cNvPr id="38" name="Text 31">
            <a:extLst>
              <a:ext uri="{FF2B5EF4-FFF2-40B4-BE49-F238E27FC236}">
                <a16:creationId xmlns:a16="http://schemas.microsoft.com/office/drawing/2014/main" id="{7448E372-B42D-4128-A388-4553948B9095}"/>
              </a:ext>
            </a:extLst>
          </p:cNvPr>
          <p:cNvSpPr>
            <a:spLocks noGrp="1"/>
          </p:cNvSpPr>
          <p:nvPr/>
        </p:nvSpPr>
        <p:spPr>
          <a:xfrm>
            <a:off x="10287000" y="3429000"/>
            <a:ext cx="1097280" cy="694944"/>
          </a:xfrm>
          <a:prstGeom prst="rect">
            <a:avLst/>
          </a:prstGeom>
          <a:noFill/>
          <a:ln w="0">
            <a:noFill/>
          </a:ln>
        </p:spPr>
        <p:txBody>
          <a:bodyPr wrap="square" lIns="0" tIns="0" rIns="0" bIns="0" anchor="ctr">
            <a:noAutofit/>
          </a:bodyPr>
          <a:lstStyle/>
          <a:p>
            <a:pPr marL="0" indent="0" algn="r">
              <a:buNone/>
              <a:defRPr sz="1100" i="0">
                <a:solidFill>
                  <a:srgbClr val="171717"/>
                </a:solidFill>
                <a:latin typeface="Consolas"/>
                <a:ea typeface="Consolas"/>
                <a:cs typeface="Consolas"/>
              </a:defRPr>
            </a:pPr>
            <a:r>
              <a:rPr sz="1100" b="1" i="0">
                <a:solidFill>
                  <a:srgbClr val="171717"/>
                </a:solidFill>
                <a:latin typeface="Consolas"/>
                <a:ea typeface="Consolas"/>
                <a:cs typeface="Consolas"/>
              </a:rPr>
              <a:t>O(n log n)</a:t>
            </a:r>
            <a:endParaRPr sz="1100"/>
          </a:p>
        </p:txBody>
      </p:sp>
      <p:sp>
        <p:nvSpPr>
          <p:cNvPr id="40" name="Text 33">
            <a:extLst>
              <a:ext uri="{FF2B5EF4-FFF2-40B4-BE49-F238E27FC236}">
                <a16:creationId xmlns:a16="http://schemas.microsoft.com/office/drawing/2014/main" id="{D3ADBF62-25CD-4BC4-95FD-55CD50EC66A6}"/>
              </a:ext>
            </a:extLst>
          </p:cNvPr>
          <p:cNvSpPr>
            <a:spLocks noGrp="1"/>
          </p:cNvSpPr>
          <p:nvPr/>
        </p:nvSpPr>
        <p:spPr>
          <a:xfrm>
            <a:off x="6967728" y="4526280"/>
            <a:ext cx="4379976" cy="548640"/>
          </a:xfrm>
          <a:prstGeom prst="rect">
            <a:avLst/>
          </a:prstGeom>
          <a:noFill/>
          <a:ln w="0">
            <a:noFill/>
          </a:ln>
        </p:spPr>
        <p:txBody>
          <a:bodyPr wrap="square" lIns="0" tIns="0" rIns="0" bIns="0" anchor="ctr">
            <a:noAutofit/>
          </a:bodyPr>
          <a:lstStyle/>
          <a:p>
            <a:pPr marL="0" indent="0" algn="ctr">
              <a:buNone/>
              <a:defRPr sz="1700" i="0">
                <a:solidFill>
                  <a:srgbClr val="171717"/>
                </a:solidFill>
                <a:latin typeface="Malgun Gothic"/>
                <a:ea typeface="Malgun Gothic"/>
                <a:cs typeface="Malgun Gothic"/>
              </a:defRPr>
            </a:pPr>
            <a:r>
              <a:rPr sz="1700" b="1" i="0">
                <a:solidFill>
                  <a:srgbClr val="171717"/>
                </a:solidFill>
                <a:latin typeface="Malgun Gothic"/>
                <a:ea typeface="Malgun Gothic"/>
                <a:cs typeface="Malgun Gothic"/>
              </a:rPr>
              <a:t>현재 코드: T(n) = 2T(n/2) + O(n log n)</a:t>
            </a:r>
            <a:endParaRPr sz="1700"/>
          </a:p>
        </p:txBody>
      </p:sp>
      <p:sp>
        <p:nvSpPr>
          <p:cNvPr id="41" name="Shape 34">
            <a:extLst>
              <a:ext uri="{FF2B5EF4-FFF2-40B4-BE49-F238E27FC236}">
                <a16:creationId xmlns:a16="http://schemas.microsoft.com/office/drawing/2014/main" id="{2FE052DD-D734-43C8-852E-2DA3D5BE8B8B}"/>
              </a:ext>
            </a:extLst>
          </p:cNvPr>
          <p:cNvSpPr>
            <a:spLocks noGrp="1"/>
          </p:cNvSpPr>
          <p:nvPr/>
        </p:nvSpPr>
        <p:spPr>
          <a:xfrm>
            <a:off x="8979408" y="5175504"/>
            <a:ext cx="365760" cy="237744"/>
          </a:xfrm>
          <a:prstGeom prst="rightArrow">
            <a:avLst/>
          </a:prstGeom>
          <a:solidFill>
            <a:srgbClr val="E9E9E9"/>
          </a:solidFill>
          <a:ln w="5715">
            <a:solidFill>
              <a:srgbClr val="D4D4D4"/>
            </a:solidFill>
          </a:ln>
        </p:spPr>
      </p:sp>
      <p:sp>
        <p:nvSpPr>
          <p:cNvPr id="42" name="Text 35">
            <a:extLst>
              <a:ext uri="{FF2B5EF4-FFF2-40B4-BE49-F238E27FC236}">
                <a16:creationId xmlns:a16="http://schemas.microsoft.com/office/drawing/2014/main" id="{FA4B5BC4-DEFB-4145-A6F6-B072A811C4BE}"/>
              </a:ext>
            </a:extLst>
          </p:cNvPr>
          <p:cNvSpPr>
            <a:spLocks noGrp="1"/>
          </p:cNvSpPr>
          <p:nvPr/>
        </p:nvSpPr>
        <p:spPr>
          <a:xfrm>
            <a:off x="6967728" y="5468112"/>
            <a:ext cx="4379976" cy="566928"/>
          </a:xfrm>
          <a:prstGeom prst="rect">
            <a:avLst/>
          </a:prstGeom>
          <a:noFill/>
          <a:ln w="0">
            <a:noFill/>
          </a:ln>
        </p:spPr>
        <p:txBody>
          <a:bodyPr wrap="square" lIns="0" tIns="0" rIns="0" bIns="0" anchor="ctr">
            <a:noAutofit/>
          </a:bodyPr>
          <a:lstStyle/>
          <a:p>
            <a:pPr marL="0" indent="0" algn="ctr">
              <a:buNone/>
              <a:defRPr sz="2400" i="0">
                <a:solidFill>
                  <a:srgbClr val="171717"/>
                </a:solidFill>
                <a:latin typeface="Malgun Gothic"/>
                <a:ea typeface="Malgun Gothic"/>
                <a:cs typeface="Malgun Gothic"/>
              </a:defRPr>
            </a:pPr>
            <a:r>
              <a:rPr sz="2400" b="1" i="0">
                <a:solidFill>
                  <a:srgbClr val="171717"/>
                </a:solidFill>
                <a:latin typeface="Malgun Gothic"/>
                <a:ea typeface="Malgun Gothic"/>
                <a:cs typeface="Malgun Gothic"/>
              </a:rPr>
              <a:t>O(n log² n)</a:t>
            </a:r>
            <a:endParaRPr sz="2400"/>
          </a:p>
        </p:txBody>
      </p:sp>
      <p:sp>
        <p:nvSpPr>
          <p:cNvPr id="44" name="직사각형 43">
            <a:extLst>
              <a:ext uri="{FF2B5EF4-FFF2-40B4-BE49-F238E27FC236}">
                <a16:creationId xmlns:a16="http://schemas.microsoft.com/office/drawing/2014/main" id="{8B684191-950E-4EF5-938B-057242115D21}"/>
              </a:ext>
            </a:extLst>
          </p:cNvPr>
          <p:cNvSpPr>
            <a:spLocks noGrp="1"/>
          </p:cNvSpPr>
          <p:nvPr/>
        </p:nvSpPr>
        <p:spPr>
          <a:xfrm>
            <a:off x="658368" y="5468112"/>
            <a:ext cx="6309360" cy="9525"/>
          </a:xfrm>
          <a:prstGeom prst="rect">
            <a:avLst/>
          </a:prstGeom>
          <a:solidFill>
            <a:srgbClr val="D4D4D4"/>
          </a:solidFill>
          <a:ln w="0">
            <a:noFill/>
          </a:ln>
        </p:spPr>
      </p:sp>
      <p:sp>
        <p:nvSpPr>
          <p:cNvPr id="45" name="직사각형 44">
            <a:extLst>
              <a:ext uri="{FF2B5EF4-FFF2-40B4-BE49-F238E27FC236}">
                <a16:creationId xmlns:a16="http://schemas.microsoft.com/office/drawing/2014/main" id="{BB1D226F-F259-4BAA-AEF1-37A348B70093}"/>
              </a:ext>
            </a:extLst>
          </p:cNvPr>
          <p:cNvSpPr>
            <a:spLocks noGrp="1"/>
          </p:cNvSpPr>
          <p:nvPr/>
        </p:nvSpPr>
        <p:spPr>
          <a:xfrm>
            <a:off x="698373" y="2090928"/>
            <a:ext cx="6284214" cy="1808988"/>
          </a:xfrm>
          <a:prstGeom prst="rect">
            <a:avLst/>
          </a:prstGeom>
          <a:solidFill>
            <a:srgbClr val="171717"/>
          </a:solidFill>
          <a:ln w="0">
            <a:noFill/>
          </a:ln>
        </p:spPr>
        <p:txBody>
          <a:bodyPr wrap="none" lIns="142875" tIns="76200" rIns="142875" bIns="76200" anchor="t">
            <a:noAutofit/>
          </a:bodyPr>
          <a:lstStyle/>
          <a:p>
            <a:pPr algn="l">
              <a:lnSpc>
                <a:spcPct val="103000"/>
              </a:lnSpc>
              <a:buNone/>
              <a:defRPr sz="1275" b="0" i="0">
                <a:solidFill>
                  <a:srgbClr val="FFFFFF"/>
                </a:solidFill>
                <a:latin typeface="Consolas"/>
                <a:ea typeface="Consolas"/>
                <a:cs typeface="Consolas"/>
              </a:defRPr>
            </a:pPr>
            <a:r>
              <a:rPr sz="1275" b="0" i="0" dirty="0">
                <a:solidFill>
                  <a:srgbClr val="FFFFFF"/>
                </a:solidFill>
                <a:latin typeface="Consolas"/>
                <a:ea typeface="Consolas"/>
                <a:cs typeface="Consolas"/>
              </a:rPr>
              <a:t>points = [</a:t>
            </a:r>
          </a:p>
          <a:p>
            <a:pPr algn="l">
              <a:lnSpc>
                <a:spcPct val="103000"/>
              </a:lnSpc>
              <a:buNone/>
              <a:defRPr sz="1275" b="0" i="0">
                <a:solidFill>
                  <a:srgbClr val="FFFFFF"/>
                </a:solidFill>
                <a:latin typeface="Consolas"/>
                <a:ea typeface="Consolas"/>
                <a:cs typeface="Consolas"/>
              </a:defRPr>
            </a:pPr>
            <a:r>
              <a:rPr sz="1275" b="0" i="0" dirty="0">
                <a:solidFill>
                  <a:srgbClr val="FFFFFF"/>
                </a:solidFill>
                <a:latin typeface="Consolas"/>
                <a:ea typeface="Consolas"/>
                <a:cs typeface="Consolas"/>
              </a:rPr>
              <a:t>    Point(2, 3), Point(3, 4), Point(5, 1),</a:t>
            </a:r>
          </a:p>
          <a:p>
            <a:pPr algn="l">
              <a:lnSpc>
                <a:spcPct val="103000"/>
              </a:lnSpc>
              <a:buNone/>
              <a:defRPr sz="1275" b="0" i="0">
                <a:solidFill>
                  <a:srgbClr val="FFFFFF"/>
                </a:solidFill>
                <a:latin typeface="Consolas"/>
                <a:ea typeface="Consolas"/>
                <a:cs typeface="Consolas"/>
              </a:defRPr>
            </a:pPr>
            <a:r>
              <a:rPr sz="1275" b="0" i="0" dirty="0">
                <a:solidFill>
                  <a:srgbClr val="FFFFFF"/>
                </a:solidFill>
                <a:latin typeface="Consolas"/>
                <a:ea typeface="Consolas"/>
                <a:cs typeface="Consolas"/>
              </a:rPr>
              <a:t>    Point(12, 10), Point(12, 30), Point(40, 50)</a:t>
            </a:r>
          </a:p>
          <a:p>
            <a:pPr algn="l">
              <a:lnSpc>
                <a:spcPct val="103000"/>
              </a:lnSpc>
              <a:buNone/>
              <a:defRPr sz="1275" b="0" i="0">
                <a:solidFill>
                  <a:srgbClr val="FFFFFF"/>
                </a:solidFill>
                <a:latin typeface="Consolas"/>
                <a:ea typeface="Consolas"/>
                <a:cs typeface="Consolas"/>
              </a:defRPr>
            </a:pPr>
            <a:r>
              <a:rPr sz="1275" b="0" i="0" dirty="0">
                <a:solidFill>
                  <a:srgbClr val="FFFFFF"/>
                </a:solidFill>
                <a:latin typeface="Consolas"/>
                <a:ea typeface="Consolas"/>
                <a:cs typeface="Consolas"/>
              </a:rPr>
              <a:t>]</a:t>
            </a:r>
          </a:p>
          <a:p>
            <a:pPr algn="l">
              <a:lnSpc>
                <a:spcPct val="103000"/>
              </a:lnSpc>
              <a:buNone/>
              <a:defRPr sz="1275" b="0" i="0">
                <a:solidFill>
                  <a:srgbClr val="FFFFFF"/>
                </a:solidFill>
                <a:latin typeface="Consolas"/>
                <a:ea typeface="Consolas"/>
                <a:cs typeface="Consolas"/>
              </a:defRPr>
            </a:pPr>
            <a:r>
              <a:rPr sz="1275" b="0" i="0" dirty="0" err="1">
                <a:solidFill>
                  <a:srgbClr val="FFFFFF"/>
                </a:solidFill>
                <a:latin typeface="Consolas"/>
                <a:ea typeface="Consolas"/>
                <a:cs typeface="Consolas"/>
              </a:rPr>
              <a:t>points_sorted_by_x</a:t>
            </a:r>
            <a:r>
              <a:rPr sz="1275" b="0" i="0" dirty="0">
                <a:solidFill>
                  <a:srgbClr val="FFFFFF"/>
                </a:solidFill>
                <a:latin typeface="Consolas"/>
                <a:ea typeface="Consolas"/>
                <a:cs typeface="Consolas"/>
              </a:rPr>
              <a:t> = sorted(points, key=lambda p: </a:t>
            </a:r>
            <a:r>
              <a:rPr sz="1275" b="0" i="0" dirty="0" err="1">
                <a:solidFill>
                  <a:srgbClr val="FFFFFF"/>
                </a:solidFill>
                <a:latin typeface="Consolas"/>
                <a:ea typeface="Consolas"/>
                <a:cs typeface="Consolas"/>
              </a:rPr>
              <a:t>p.x</a:t>
            </a:r>
            <a:r>
              <a:rPr sz="1275" b="0" i="0" dirty="0">
                <a:solidFill>
                  <a:srgbClr val="FFFFFF"/>
                </a:solidFill>
                <a:latin typeface="Consolas"/>
                <a:ea typeface="Consolas"/>
                <a:cs typeface="Consolas"/>
              </a:rPr>
              <a:t>)</a:t>
            </a:r>
          </a:p>
          <a:p>
            <a:pPr algn="l">
              <a:lnSpc>
                <a:spcPct val="103000"/>
              </a:lnSpc>
              <a:buNone/>
              <a:defRPr sz="1275" b="0" i="0">
                <a:solidFill>
                  <a:srgbClr val="FFFFFF"/>
                </a:solidFill>
                <a:latin typeface="Consolas"/>
                <a:ea typeface="Consolas"/>
                <a:cs typeface="Consolas"/>
              </a:defRPr>
            </a:pPr>
            <a:r>
              <a:rPr sz="1275" b="0" i="0" dirty="0">
                <a:solidFill>
                  <a:srgbClr val="FFFFFF"/>
                </a:solidFill>
                <a:latin typeface="Consolas"/>
                <a:ea typeface="Consolas"/>
                <a:cs typeface="Consolas"/>
              </a:rPr>
              <a:t>result = </a:t>
            </a:r>
            <a:r>
              <a:rPr sz="1275" b="0" i="0" dirty="0" err="1">
                <a:solidFill>
                  <a:srgbClr val="FFFFFF"/>
                </a:solidFill>
                <a:latin typeface="Consolas"/>
                <a:ea typeface="Consolas"/>
                <a:cs typeface="Consolas"/>
              </a:rPr>
              <a:t>ClosestPair</a:t>
            </a:r>
            <a:r>
              <a:rPr sz="1275" b="0" i="0" dirty="0">
                <a:solidFill>
                  <a:srgbClr val="FFFFFF"/>
                </a:solidFill>
                <a:latin typeface="Consolas"/>
                <a:ea typeface="Consolas"/>
                <a:cs typeface="Consolas"/>
              </a:rPr>
              <a:t>(</a:t>
            </a:r>
            <a:r>
              <a:rPr sz="1275" b="0" i="0" dirty="0" err="1">
                <a:solidFill>
                  <a:srgbClr val="FFFFFF"/>
                </a:solidFill>
                <a:latin typeface="Consolas"/>
                <a:ea typeface="Consolas"/>
                <a:cs typeface="Consolas"/>
              </a:rPr>
              <a:t>points_sorted_by_x</a:t>
            </a:r>
            <a:r>
              <a:rPr sz="1275" b="0" i="0" dirty="0">
                <a:solidFill>
                  <a:srgbClr val="FFFFFF"/>
                </a:solidFill>
                <a:latin typeface="Consolas"/>
                <a:ea typeface="Consolas"/>
                <a:cs typeface="Consolas"/>
              </a:rPr>
              <a:t>)</a:t>
            </a:r>
          </a:p>
          <a:p>
            <a:pPr algn="l">
              <a:lnSpc>
                <a:spcPct val="103000"/>
              </a:lnSpc>
              <a:buNone/>
              <a:defRPr sz="1275" b="0" i="0">
                <a:solidFill>
                  <a:srgbClr val="FFFFFF"/>
                </a:solidFill>
                <a:latin typeface="Consolas"/>
                <a:ea typeface="Consolas"/>
                <a:cs typeface="Consolas"/>
              </a:defRPr>
            </a:pPr>
            <a:r>
              <a:rPr sz="1275" b="0" i="0" dirty="0">
                <a:solidFill>
                  <a:srgbClr val="FFFFFF"/>
                </a:solidFill>
                <a:latin typeface="Consolas"/>
                <a:ea typeface="Consolas"/>
                <a:cs typeface="Consolas"/>
              </a:rPr>
              <a:t>print("</a:t>
            </a:r>
            <a:r>
              <a:rPr sz="1275" b="0" i="0" dirty="0" err="1">
                <a:solidFill>
                  <a:srgbClr val="FFFFFF"/>
                </a:solidFill>
                <a:latin typeface="Consolas"/>
                <a:ea typeface="Consolas"/>
                <a:cs typeface="Consolas"/>
              </a:rPr>
              <a:t>가장</a:t>
            </a:r>
            <a:r>
              <a:rPr sz="1275" b="0" i="0" dirty="0">
                <a:solidFill>
                  <a:srgbClr val="FFFFFF"/>
                </a:solidFill>
                <a:latin typeface="Consolas"/>
                <a:ea typeface="Consolas"/>
                <a:cs typeface="Consolas"/>
              </a:rPr>
              <a:t> </a:t>
            </a:r>
            <a:r>
              <a:rPr sz="1275" b="0" i="0" dirty="0" err="1">
                <a:solidFill>
                  <a:srgbClr val="FFFFFF"/>
                </a:solidFill>
                <a:latin typeface="Consolas"/>
                <a:ea typeface="Consolas"/>
                <a:cs typeface="Consolas"/>
              </a:rPr>
              <a:t>가까운</a:t>
            </a:r>
            <a:r>
              <a:rPr sz="1275" b="0" i="0" dirty="0">
                <a:solidFill>
                  <a:srgbClr val="FFFFFF"/>
                </a:solidFill>
                <a:latin typeface="Consolas"/>
                <a:ea typeface="Consolas"/>
                <a:cs typeface="Consolas"/>
              </a:rPr>
              <a:t> 두 점 </a:t>
            </a:r>
            <a:r>
              <a:rPr sz="1275" b="0" i="0" dirty="0" err="1">
                <a:solidFill>
                  <a:srgbClr val="FFFFFF"/>
                </a:solidFill>
                <a:latin typeface="Consolas"/>
                <a:ea typeface="Consolas"/>
                <a:cs typeface="Consolas"/>
              </a:rPr>
              <a:t>사이의</a:t>
            </a:r>
            <a:r>
              <a:rPr sz="1275" b="0" i="0" dirty="0">
                <a:solidFill>
                  <a:srgbClr val="FFFFFF"/>
                </a:solidFill>
                <a:latin typeface="Consolas"/>
                <a:ea typeface="Consolas"/>
                <a:cs typeface="Consolas"/>
              </a:rPr>
              <a:t> </a:t>
            </a:r>
            <a:r>
              <a:rPr sz="1275" b="0" i="0" dirty="0" err="1">
                <a:solidFill>
                  <a:srgbClr val="FFFFFF"/>
                </a:solidFill>
                <a:latin typeface="Consolas"/>
                <a:ea typeface="Consolas"/>
                <a:cs typeface="Consolas"/>
              </a:rPr>
              <a:t>거리</a:t>
            </a:r>
            <a:r>
              <a:rPr sz="1275" b="0" i="0" dirty="0">
                <a:solidFill>
                  <a:srgbClr val="FFFFFF"/>
                </a:solidFill>
                <a:latin typeface="Consolas"/>
                <a:ea typeface="Consolas"/>
                <a:cs typeface="Consolas"/>
              </a:rPr>
              <a:t>:", result)</a:t>
            </a:r>
          </a:p>
        </p:txBody>
      </p:sp>
      <p:sp>
        <p:nvSpPr>
          <p:cNvPr id="46" name="직사각형 45">
            <a:extLst>
              <a:ext uri="{FF2B5EF4-FFF2-40B4-BE49-F238E27FC236}">
                <a16:creationId xmlns:a16="http://schemas.microsoft.com/office/drawing/2014/main" id="{CA235A2B-A28E-4F59-8999-D9353718ECED}"/>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4.5  </a:t>
            </a:r>
            <a:r>
              <a:rPr lang="ko-KR" altLang="en-US" sz="1050" b="1" i="0">
                <a:solidFill>
                  <a:srgbClr val="606060"/>
                </a:solidFill>
                <a:latin typeface="Malgun Gothic"/>
                <a:ea typeface="Malgun Gothic"/>
                <a:cs typeface="Malgun Gothic"/>
              </a:rPr>
              <a:t>최근접 쌍 문제</a:t>
            </a:r>
            <a:endParaRPr sz="1050" b="1" i="0">
              <a:solidFill>
                <a:srgbClr val="606060"/>
              </a:solidFill>
              <a:latin typeface="Malgun Gothic"/>
              <a:ea typeface="Malgun Gothic"/>
              <a:cs typeface="Malgun Gothic"/>
            </a:endParaRPr>
          </a:p>
        </p:txBody>
      </p:sp>
      <p:sp>
        <p:nvSpPr>
          <p:cNvPr id="47" name="직사각형 46">
            <a:extLst>
              <a:ext uri="{FF2B5EF4-FFF2-40B4-BE49-F238E27FC236}">
                <a16:creationId xmlns:a16="http://schemas.microsoft.com/office/drawing/2014/main" id="{5E8532CD-B3A5-4E9C-B416-945AA30DDBDB}"/>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8" name="직사각형 47">
            <a:extLst>
              <a:ext uri="{FF2B5EF4-FFF2-40B4-BE49-F238E27FC236}">
                <a16:creationId xmlns:a16="http://schemas.microsoft.com/office/drawing/2014/main" id="{3C9AE5B7-C77A-464E-A5BA-6471A4CAB93D}"/>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실행 결과와 시간 복잡도</a:t>
            </a:r>
          </a:p>
        </p:txBody>
      </p:sp>
      <p:sp>
        <p:nvSpPr>
          <p:cNvPr id="49" name="직사각형 48">
            <a:extLst>
              <a:ext uri="{FF2B5EF4-FFF2-40B4-BE49-F238E27FC236}">
                <a16:creationId xmlns:a16="http://schemas.microsoft.com/office/drawing/2014/main" id="{E1744152-EB9C-47B1-AD0A-30DB8F7E6A87}"/>
              </a:ext>
            </a:extLst>
          </p:cNvPr>
          <p:cNvSpPr>
            <a:spLocks noGrp="1"/>
          </p:cNvSpPr>
          <p:nvPr/>
        </p:nvSpPr>
        <p:spPr>
          <a:xfrm>
            <a:off x="609600" y="1381125"/>
            <a:ext cx="10972800" cy="19050"/>
          </a:xfrm>
          <a:prstGeom prst="rect">
            <a:avLst/>
          </a:prstGeom>
          <a:solidFill>
            <a:srgbClr val="171717"/>
          </a:solidFill>
          <a:ln w="0">
            <a:noFill/>
          </a:ln>
        </p:spPr>
      </p:sp>
      <p:sp>
        <p:nvSpPr>
          <p:cNvPr id="50" name="직사각형 49">
            <a:extLst>
              <a:ext uri="{FF2B5EF4-FFF2-40B4-BE49-F238E27FC236}">
                <a16:creationId xmlns:a16="http://schemas.microsoft.com/office/drawing/2014/main" id="{477387B5-D207-41D0-90DB-A8AB26BC8B14}"/>
              </a:ext>
            </a:extLst>
          </p:cNvPr>
          <p:cNvSpPr>
            <a:spLocks noGrp="1"/>
          </p:cNvSpPr>
          <p:nvPr/>
        </p:nvSpPr>
        <p:spPr>
          <a:xfrm>
            <a:off x="609600" y="6438900"/>
            <a:ext cx="10972800" cy="9525"/>
          </a:xfrm>
          <a:prstGeom prst="rect">
            <a:avLst/>
          </a:prstGeom>
          <a:solidFill>
            <a:srgbClr val="D4D4D4"/>
          </a:solidFill>
          <a:ln w="0">
            <a:noFill/>
          </a:ln>
        </p:spPr>
      </p:sp>
      <p:sp>
        <p:nvSpPr>
          <p:cNvPr id="51" name="직사각형 50">
            <a:extLst>
              <a:ext uri="{FF2B5EF4-FFF2-40B4-BE49-F238E27FC236}">
                <a16:creationId xmlns:a16="http://schemas.microsoft.com/office/drawing/2014/main" id="{E15DAA9F-E947-42ED-8DA7-C4D245CBD561}"/>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52" name="직사각형 51">
            <a:extLst>
              <a:ext uri="{FF2B5EF4-FFF2-40B4-BE49-F238E27FC236}">
                <a16:creationId xmlns:a16="http://schemas.microsoft.com/office/drawing/2014/main" id="{8773774B-4417-42D7-A645-50F2415C914C}"/>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101</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9165276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6FBE9DEE-9F54-4FA8-8594-D511B1AD8F14}"/>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5B89C13B-2173-48A6-9783-E0AA87447162}"/>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lang="en-US" altLang="ko-KR" sz="7050" b="1" i="0">
                <a:solidFill>
                  <a:srgbClr val="474747"/>
                </a:solidFill>
                <a:latin typeface="Consolas"/>
                <a:ea typeface="Consolas"/>
                <a:cs typeface="Consolas"/>
              </a:rPr>
              <a:t>4.6</a:t>
            </a:r>
            <a:endParaRPr sz="7050" b="1" i="0">
              <a:solidFill>
                <a:srgbClr val="474747"/>
              </a:solidFill>
              <a:latin typeface="Consolas"/>
              <a:ea typeface="Consolas"/>
              <a:cs typeface="Consolas"/>
            </a:endParaRPr>
          </a:p>
        </p:txBody>
      </p:sp>
      <p:sp>
        <p:nvSpPr>
          <p:cNvPr id="3" name="직사각형 2">
            <a:extLst>
              <a:ext uri="{FF2B5EF4-FFF2-40B4-BE49-F238E27FC236}">
                <a16:creationId xmlns:a16="http://schemas.microsoft.com/office/drawing/2014/main" id="{C4474270-730B-49BA-82EB-79B013B8FD4D}"/>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F1EEF6D6-2950-4852-84C1-592174BC58C4}"/>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쿼드 트리</a:t>
            </a:r>
          </a:p>
        </p:txBody>
      </p:sp>
      <p:sp>
        <p:nvSpPr>
          <p:cNvPr id="5" name="직사각형 4">
            <a:extLst>
              <a:ext uri="{FF2B5EF4-FFF2-40B4-BE49-F238E27FC236}">
                <a16:creationId xmlns:a16="http://schemas.microsoft.com/office/drawing/2014/main" id="{8448192B-6CA0-4A71-8960-FB5DA8636EE4}"/>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Quadtree</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2차원 공간을 재귀적으로 4등분하는 자료 구조</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이미지 압축부터 게임 충돌 감지까지</a:t>
            </a:r>
          </a:p>
        </p:txBody>
      </p:sp>
      <p:sp>
        <p:nvSpPr>
          <p:cNvPr id="6" name="직사각형 5">
            <a:extLst>
              <a:ext uri="{FF2B5EF4-FFF2-40B4-BE49-F238E27FC236}">
                <a16:creationId xmlns:a16="http://schemas.microsoft.com/office/drawing/2014/main" id="{9AB1434A-720C-4C8B-9CFC-4D28DF04A3EE}"/>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2E8C1D35-5E1E-4B61-832A-85C0BB3F6993}"/>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3F2DD91B-6964-4367-9009-A629E14891D3}"/>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102</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2668526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3278D3ED-814F-496F-9247-07517D38524D}"/>
              </a:ext>
            </a:extLst>
          </p:cNvPr>
          <p:cNvSpPr>
            <a:spLocks noGrp="1"/>
          </p:cNvSpPr>
          <p:nvPr/>
        </p:nvSpPr>
        <p:spPr>
          <a:xfrm>
            <a:off x="658368" y="1737360"/>
            <a:ext cx="5349240" cy="109728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dirty="0" err="1">
                <a:solidFill>
                  <a:srgbClr val="606060"/>
                </a:solidFill>
                <a:latin typeface="Malgun Gothic"/>
                <a:ea typeface="Malgun Gothic"/>
                <a:cs typeface="Malgun Gothic"/>
              </a:rPr>
              <a:t>쿼드</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트리</a:t>
            </a:r>
            <a:r>
              <a:rPr sz="1500" i="0" dirty="0">
                <a:solidFill>
                  <a:srgbClr val="606060"/>
                </a:solidFill>
                <a:latin typeface="Malgun Gothic"/>
                <a:ea typeface="Malgun Gothic"/>
                <a:cs typeface="Malgun Gothic"/>
              </a:rPr>
              <a:t>(quadtree)는 2차원 </a:t>
            </a:r>
            <a:r>
              <a:rPr sz="1500" i="0" dirty="0" err="1">
                <a:solidFill>
                  <a:srgbClr val="606060"/>
                </a:solidFill>
                <a:latin typeface="Malgun Gothic"/>
                <a:ea typeface="Malgun Gothic"/>
                <a:cs typeface="Malgun Gothic"/>
              </a:rPr>
              <a:t>공간을</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재귀적으로</a:t>
            </a:r>
            <a:r>
              <a:rPr sz="1500" i="0" dirty="0">
                <a:solidFill>
                  <a:srgbClr val="606060"/>
                </a:solidFill>
                <a:latin typeface="Malgun Gothic"/>
                <a:ea typeface="Malgun Gothic"/>
                <a:cs typeface="Malgun Gothic"/>
              </a:rPr>
              <a:t> 4개의 </a:t>
            </a:r>
            <a:r>
              <a:rPr sz="1500" i="0" dirty="0" err="1">
                <a:solidFill>
                  <a:srgbClr val="606060"/>
                </a:solidFill>
                <a:latin typeface="Malgun Gothic"/>
                <a:ea typeface="Malgun Gothic"/>
                <a:cs typeface="Malgun Gothic"/>
              </a:rPr>
              <a:t>구역</a:t>
            </a:r>
            <a:r>
              <a:rPr sz="1500" i="0" dirty="0">
                <a:solidFill>
                  <a:srgbClr val="606060"/>
                </a:solidFill>
                <a:latin typeface="Malgun Gothic"/>
                <a:ea typeface="Malgun Gothic"/>
                <a:cs typeface="Malgun Gothic"/>
              </a:rPr>
              <a:t>(</a:t>
            </a:r>
            <a:r>
              <a:rPr sz="1500" i="0" dirty="0" err="1">
                <a:solidFill>
                  <a:srgbClr val="606060"/>
                </a:solidFill>
                <a:latin typeface="Malgun Gothic"/>
                <a:ea typeface="Malgun Gothic"/>
                <a:cs typeface="Malgun Gothic"/>
              </a:rPr>
              <a:t>사분면</a:t>
            </a:r>
            <a:r>
              <a:rPr sz="1500" i="0" dirty="0">
                <a:solidFill>
                  <a:srgbClr val="606060"/>
                </a:solidFill>
                <a:latin typeface="Malgun Gothic"/>
                <a:ea typeface="Malgun Gothic"/>
                <a:cs typeface="Malgun Gothic"/>
              </a:rPr>
              <a:t>)</a:t>
            </a:r>
            <a:r>
              <a:rPr sz="1500" i="0" dirty="0" err="1">
                <a:solidFill>
                  <a:srgbClr val="606060"/>
                </a:solidFill>
                <a:latin typeface="Malgun Gothic"/>
                <a:ea typeface="Malgun Gothic"/>
                <a:cs typeface="Malgun Gothic"/>
              </a:rPr>
              <a:t>으로</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분할하여</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데이터를</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효율적으로</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표현하는</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자료</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구조다</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이진</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탐색이</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탐색</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범위를</a:t>
            </a:r>
            <a:r>
              <a:rPr sz="1500" i="0" dirty="0">
                <a:solidFill>
                  <a:srgbClr val="606060"/>
                </a:solidFill>
                <a:latin typeface="Malgun Gothic"/>
                <a:ea typeface="Malgun Gothic"/>
                <a:cs typeface="Malgun Gothic"/>
              </a:rPr>
              <a:t> 1/2씩 </a:t>
            </a:r>
            <a:r>
              <a:rPr sz="1500" i="0" dirty="0" err="1">
                <a:solidFill>
                  <a:srgbClr val="606060"/>
                </a:solidFill>
                <a:latin typeface="Malgun Gothic"/>
                <a:ea typeface="Malgun Gothic"/>
                <a:cs typeface="Malgun Gothic"/>
              </a:rPr>
              <a:t>줄여나갔다면</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쿼드</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트리는</a:t>
            </a:r>
            <a:r>
              <a:rPr sz="1500" i="0" dirty="0">
                <a:solidFill>
                  <a:srgbClr val="606060"/>
                </a:solidFill>
                <a:latin typeface="Malgun Gothic"/>
                <a:ea typeface="Malgun Gothic"/>
                <a:cs typeface="Malgun Gothic"/>
              </a:rPr>
              <a:t> </a:t>
            </a:r>
            <a:r>
              <a:rPr sz="1500" i="0" dirty="0" err="1">
                <a:solidFill>
                  <a:srgbClr val="606060"/>
                </a:solidFill>
                <a:latin typeface="Malgun Gothic"/>
                <a:ea typeface="Malgun Gothic"/>
                <a:cs typeface="Malgun Gothic"/>
              </a:rPr>
              <a:t>평면을</a:t>
            </a:r>
            <a:r>
              <a:rPr sz="1500" i="0" dirty="0">
                <a:solidFill>
                  <a:srgbClr val="606060"/>
                </a:solidFill>
                <a:latin typeface="Malgun Gothic"/>
                <a:ea typeface="Malgun Gothic"/>
                <a:cs typeface="Malgun Gothic"/>
              </a:rPr>
              <a:t> 1/4씩 </a:t>
            </a:r>
            <a:r>
              <a:rPr sz="1500" i="0" dirty="0" err="1">
                <a:solidFill>
                  <a:srgbClr val="606060"/>
                </a:solidFill>
                <a:latin typeface="Malgun Gothic"/>
                <a:ea typeface="Malgun Gothic"/>
                <a:cs typeface="Malgun Gothic"/>
              </a:rPr>
              <a:t>줄여나간다</a:t>
            </a:r>
            <a:r>
              <a:rPr sz="1500" i="0" dirty="0">
                <a:solidFill>
                  <a:srgbClr val="606060"/>
                </a:solidFill>
                <a:latin typeface="Malgun Gothic"/>
                <a:ea typeface="Malgun Gothic"/>
                <a:cs typeface="Malgun Gothic"/>
              </a:rPr>
              <a:t>.</a:t>
            </a:r>
            <a:endParaRPr sz="1350" dirty="0"/>
          </a:p>
        </p:txBody>
      </p:sp>
      <p:sp>
        <p:nvSpPr>
          <p:cNvPr id="10" name="Text 6">
            <a:extLst>
              <a:ext uri="{FF2B5EF4-FFF2-40B4-BE49-F238E27FC236}">
                <a16:creationId xmlns:a16="http://schemas.microsoft.com/office/drawing/2014/main" id="{E1F880BB-25BC-4EE7-B094-072002C7415B}"/>
              </a:ext>
            </a:extLst>
          </p:cNvPr>
          <p:cNvSpPr>
            <a:spLocks noGrp="1"/>
          </p:cNvSpPr>
          <p:nvPr/>
        </p:nvSpPr>
        <p:spPr>
          <a:xfrm>
            <a:off x="1408176" y="3090672"/>
            <a:ext cx="4297680" cy="256032"/>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dirty="0">
                <a:solidFill>
                  <a:srgbClr val="171717"/>
                </a:solidFill>
                <a:latin typeface="Malgun Gothic"/>
                <a:ea typeface="Malgun Gothic"/>
                <a:cs typeface="Malgun Gothic"/>
              </a:rPr>
              <a:t>① </a:t>
            </a:r>
            <a:r>
              <a:rPr sz="1230" b="1" i="0" dirty="0" err="1">
                <a:solidFill>
                  <a:srgbClr val="171717"/>
                </a:solidFill>
                <a:latin typeface="Malgun Gothic"/>
                <a:ea typeface="Malgun Gothic"/>
                <a:cs typeface="Malgun Gothic"/>
              </a:rPr>
              <a:t>확인</a:t>
            </a:r>
            <a:endParaRPr sz="1230" dirty="0"/>
          </a:p>
        </p:txBody>
      </p:sp>
      <p:sp>
        <p:nvSpPr>
          <p:cNvPr id="11" name="Text 7">
            <a:extLst>
              <a:ext uri="{FF2B5EF4-FFF2-40B4-BE49-F238E27FC236}">
                <a16:creationId xmlns:a16="http://schemas.microsoft.com/office/drawing/2014/main" id="{99AC9BB5-AA8E-4672-B333-FD64156F3B36}"/>
              </a:ext>
            </a:extLst>
          </p:cNvPr>
          <p:cNvSpPr>
            <a:spLocks noGrp="1"/>
          </p:cNvSpPr>
          <p:nvPr/>
        </p:nvSpPr>
        <p:spPr>
          <a:xfrm>
            <a:off x="1408176" y="3364992"/>
            <a:ext cx="4343400" cy="475488"/>
          </a:xfrm>
          <a:prstGeom prst="rect">
            <a:avLst/>
          </a:prstGeom>
          <a:noFill/>
          <a:ln w="0">
            <a:noFill/>
          </a:ln>
        </p:spPr>
        <p:txBody>
          <a:bodyPr wrap="square" lIns="0" tIns="0" rIns="0" bIns="0" anchor="t">
            <a:noAutofit/>
          </a:bodyPr>
          <a:lstStyle/>
          <a:p>
            <a:pPr marL="0" indent="0" algn="l">
              <a:lnSpc>
                <a:spcPct val="116000"/>
              </a:lnSpc>
              <a:buNone/>
              <a:defRPr sz="1500" i="0">
                <a:solidFill>
                  <a:srgbClr val="171717"/>
                </a:solidFill>
                <a:latin typeface="Malgun Gothic"/>
                <a:ea typeface="Malgun Gothic"/>
                <a:cs typeface="Malgun Gothic"/>
              </a:defRPr>
            </a:pPr>
            <a:r>
              <a:rPr sz="1500" i="0" dirty="0" err="1">
                <a:solidFill>
                  <a:srgbClr val="171717"/>
                </a:solidFill>
                <a:latin typeface="Malgun Gothic"/>
                <a:ea typeface="Malgun Gothic"/>
                <a:cs typeface="Malgun Gothic"/>
              </a:rPr>
              <a:t>전체</a:t>
            </a:r>
            <a:r>
              <a:rPr sz="1500" i="0" dirty="0">
                <a:solidFill>
                  <a:srgbClr val="171717"/>
                </a:solidFill>
                <a:latin typeface="Malgun Gothic"/>
                <a:ea typeface="Malgun Gothic"/>
                <a:cs typeface="Malgun Gothic"/>
              </a:rPr>
              <a:t> </a:t>
            </a:r>
            <a:r>
              <a:rPr sz="1500" i="0" dirty="0" err="1">
                <a:solidFill>
                  <a:srgbClr val="171717"/>
                </a:solidFill>
                <a:latin typeface="Malgun Gothic"/>
                <a:ea typeface="Malgun Gothic"/>
                <a:cs typeface="Malgun Gothic"/>
              </a:rPr>
              <a:t>영역을</a:t>
            </a:r>
            <a:r>
              <a:rPr sz="1500" i="0" dirty="0">
                <a:solidFill>
                  <a:srgbClr val="171717"/>
                </a:solidFill>
                <a:latin typeface="Malgun Gothic"/>
                <a:ea typeface="Malgun Gothic"/>
                <a:cs typeface="Malgun Gothic"/>
              </a:rPr>
              <a:t> </a:t>
            </a:r>
            <a:r>
              <a:rPr sz="1500" i="0" dirty="0" err="1">
                <a:solidFill>
                  <a:srgbClr val="171717"/>
                </a:solidFill>
                <a:latin typeface="Malgun Gothic"/>
                <a:ea typeface="Malgun Gothic"/>
                <a:cs typeface="Malgun Gothic"/>
              </a:rPr>
              <a:t>확인한다</a:t>
            </a:r>
            <a:r>
              <a:rPr sz="1500" i="0" dirty="0">
                <a:solidFill>
                  <a:srgbClr val="171717"/>
                </a:solidFill>
                <a:latin typeface="Malgun Gothic"/>
                <a:ea typeface="Malgun Gothic"/>
                <a:cs typeface="Malgun Gothic"/>
              </a:rPr>
              <a:t>.</a:t>
            </a:r>
            <a:endParaRPr sz="1050" dirty="0"/>
          </a:p>
        </p:txBody>
      </p:sp>
      <p:sp>
        <p:nvSpPr>
          <p:cNvPr id="15" name="Text 10">
            <a:extLst>
              <a:ext uri="{FF2B5EF4-FFF2-40B4-BE49-F238E27FC236}">
                <a16:creationId xmlns:a16="http://schemas.microsoft.com/office/drawing/2014/main" id="{8C925C39-1E34-4FCF-8B77-FD54D43442D7}"/>
              </a:ext>
            </a:extLst>
          </p:cNvPr>
          <p:cNvSpPr>
            <a:spLocks noGrp="1"/>
          </p:cNvSpPr>
          <p:nvPr/>
        </p:nvSpPr>
        <p:spPr>
          <a:xfrm>
            <a:off x="1408176" y="4151376"/>
            <a:ext cx="4297680" cy="256032"/>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② 기저 사례</a:t>
            </a:r>
            <a:endParaRPr sz="1230"/>
          </a:p>
        </p:txBody>
      </p:sp>
      <p:sp>
        <p:nvSpPr>
          <p:cNvPr id="16" name="Text 11">
            <a:extLst>
              <a:ext uri="{FF2B5EF4-FFF2-40B4-BE49-F238E27FC236}">
                <a16:creationId xmlns:a16="http://schemas.microsoft.com/office/drawing/2014/main" id="{4EB730DD-96F0-446E-A483-BC0B4DC00C6F}"/>
              </a:ext>
            </a:extLst>
          </p:cNvPr>
          <p:cNvSpPr>
            <a:spLocks noGrp="1"/>
          </p:cNvSpPr>
          <p:nvPr/>
        </p:nvSpPr>
        <p:spPr>
          <a:xfrm>
            <a:off x="1408176" y="4425696"/>
            <a:ext cx="4343400" cy="475488"/>
          </a:xfrm>
          <a:prstGeom prst="rect">
            <a:avLst/>
          </a:prstGeom>
          <a:noFill/>
          <a:ln w="0">
            <a:noFill/>
          </a:ln>
        </p:spPr>
        <p:txBody>
          <a:bodyPr wrap="square" lIns="0" tIns="0" rIns="0" bIns="0" anchor="t">
            <a:noAutofit/>
          </a:bodyPr>
          <a:lstStyle/>
          <a:p>
            <a:pPr marL="0" indent="0" algn="l">
              <a:lnSpc>
                <a:spcPct val="116000"/>
              </a:lnSpc>
              <a:buNone/>
              <a:defRPr sz="1050" i="0">
                <a:solidFill>
                  <a:srgbClr val="171717"/>
                </a:solidFill>
                <a:latin typeface="Malgun Gothic"/>
                <a:ea typeface="Malgun Gothic"/>
                <a:cs typeface="Malgun Gothic"/>
              </a:defRPr>
            </a:pPr>
            <a:r>
              <a:rPr sz="1050" i="0">
                <a:solidFill>
                  <a:srgbClr val="171717"/>
                </a:solidFill>
                <a:latin typeface="Malgun Gothic"/>
                <a:ea typeface="Malgun Gothic"/>
                <a:cs typeface="Malgun Gothic"/>
              </a:rPr>
              <a:t>데이터가 '단일 속성'(모두 같은 색이거나 텅 비어 있음)이면 더 이상 나누지 않고 하나의 노드로 표현한다.</a:t>
            </a:r>
            <a:endParaRPr sz="1050"/>
          </a:p>
        </p:txBody>
      </p:sp>
      <p:sp>
        <p:nvSpPr>
          <p:cNvPr id="20" name="Text 14">
            <a:extLst>
              <a:ext uri="{FF2B5EF4-FFF2-40B4-BE49-F238E27FC236}">
                <a16:creationId xmlns:a16="http://schemas.microsoft.com/office/drawing/2014/main" id="{1B4B1340-7758-4233-933F-99E0D6DFC74C}"/>
              </a:ext>
            </a:extLst>
          </p:cNvPr>
          <p:cNvSpPr>
            <a:spLocks noGrp="1"/>
          </p:cNvSpPr>
          <p:nvPr/>
        </p:nvSpPr>
        <p:spPr>
          <a:xfrm>
            <a:off x="1408176" y="5212080"/>
            <a:ext cx="4297680" cy="256032"/>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③ 재귀 단계</a:t>
            </a:r>
            <a:endParaRPr sz="1230"/>
          </a:p>
        </p:txBody>
      </p:sp>
      <p:sp>
        <p:nvSpPr>
          <p:cNvPr id="21" name="Text 15">
            <a:extLst>
              <a:ext uri="{FF2B5EF4-FFF2-40B4-BE49-F238E27FC236}">
                <a16:creationId xmlns:a16="http://schemas.microsoft.com/office/drawing/2014/main" id="{19DAF170-B04E-4CE6-B24E-F7CA414F0DD0}"/>
              </a:ext>
            </a:extLst>
          </p:cNvPr>
          <p:cNvSpPr>
            <a:spLocks noGrp="1"/>
          </p:cNvSpPr>
          <p:nvPr/>
        </p:nvSpPr>
        <p:spPr>
          <a:xfrm>
            <a:off x="1408176" y="5486400"/>
            <a:ext cx="4343400" cy="475488"/>
          </a:xfrm>
          <a:prstGeom prst="rect">
            <a:avLst/>
          </a:prstGeom>
          <a:noFill/>
          <a:ln w="0">
            <a:noFill/>
          </a:ln>
        </p:spPr>
        <p:txBody>
          <a:bodyPr wrap="square" lIns="0" tIns="0" rIns="0" bIns="0" anchor="t">
            <a:noAutofit/>
          </a:bodyPr>
          <a:lstStyle/>
          <a:p>
            <a:pPr marL="0" indent="0" algn="l">
              <a:lnSpc>
                <a:spcPct val="116000"/>
              </a:lnSpc>
              <a:buNone/>
              <a:defRPr sz="1050" i="0">
                <a:solidFill>
                  <a:srgbClr val="171717"/>
                </a:solidFill>
                <a:latin typeface="Malgun Gothic"/>
                <a:ea typeface="Malgun Gothic"/>
                <a:cs typeface="Malgun Gothic"/>
              </a:defRPr>
            </a:pPr>
            <a:r>
              <a:rPr sz="1050" i="0">
                <a:solidFill>
                  <a:srgbClr val="171717"/>
                </a:solidFill>
                <a:latin typeface="Malgun Gothic"/>
                <a:ea typeface="Malgun Gothic"/>
                <a:cs typeface="Malgun Gothic"/>
              </a:rPr>
              <a:t>'섞여 있다면' 영역을 정확히 4등분(좌상, 우상, 좌하, 우하)하여 각 부분에 대해 ①을 다시 수행한다.</a:t>
            </a:r>
            <a:endParaRPr sz="1050"/>
          </a:p>
        </p:txBody>
      </p:sp>
      <p:sp>
        <p:nvSpPr>
          <p:cNvPr id="27" name="Text 19">
            <a:extLst>
              <a:ext uri="{FF2B5EF4-FFF2-40B4-BE49-F238E27FC236}">
                <a16:creationId xmlns:a16="http://schemas.microsoft.com/office/drawing/2014/main" id="{12FF2029-82C9-4A22-BC03-C11C3F1182B4}"/>
              </a:ext>
            </a:extLst>
          </p:cNvPr>
          <p:cNvSpPr>
            <a:spLocks noGrp="1"/>
          </p:cNvSpPr>
          <p:nvPr/>
        </p:nvSpPr>
        <p:spPr>
          <a:xfrm>
            <a:off x="7168896" y="5175504"/>
            <a:ext cx="4105656" cy="29260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이론에 그치지 않는다</a:t>
            </a:r>
            <a:endParaRPr sz="1300"/>
          </a:p>
        </p:txBody>
      </p:sp>
      <p:sp>
        <p:nvSpPr>
          <p:cNvPr id="28" name="Text 20">
            <a:extLst>
              <a:ext uri="{FF2B5EF4-FFF2-40B4-BE49-F238E27FC236}">
                <a16:creationId xmlns:a16="http://schemas.microsoft.com/office/drawing/2014/main" id="{F9A81EFF-136C-460A-BAF7-4F206A3E75E2}"/>
              </a:ext>
            </a:extLst>
          </p:cNvPr>
          <p:cNvSpPr>
            <a:spLocks noGrp="1"/>
          </p:cNvSpPr>
          <p:nvPr/>
        </p:nvSpPr>
        <p:spPr>
          <a:xfrm>
            <a:off x="7168896" y="5522976"/>
            <a:ext cx="4105656" cy="438912"/>
          </a:xfrm>
          <a:prstGeom prst="rect">
            <a:avLst/>
          </a:prstGeom>
          <a:noFill/>
          <a:ln w="0">
            <a:noFill/>
          </a:ln>
        </p:spPr>
        <p:txBody>
          <a:bodyPr wrap="square" lIns="0" tIns="0" rIns="0" bIns="0" anchor="t">
            <a:noAutofit/>
          </a:bodyPr>
          <a:lstStyle/>
          <a:p>
            <a:pPr marL="0" indent="0" algn="l">
              <a:lnSpc>
                <a:spcPct val="132000"/>
              </a:lnSpc>
              <a:buNone/>
              <a:defRPr sz="1180" i="0">
                <a:solidFill>
                  <a:srgbClr val="171717"/>
                </a:solidFill>
                <a:latin typeface="Malgun Gothic"/>
                <a:ea typeface="Malgun Gothic"/>
                <a:cs typeface="Malgun Gothic"/>
              </a:defRPr>
            </a:pPr>
            <a:r>
              <a:rPr sz="1180" i="0">
                <a:solidFill>
                  <a:srgbClr val="171717"/>
                </a:solidFill>
                <a:latin typeface="Malgun Gothic"/>
                <a:ea typeface="Malgun Gothic"/>
                <a:cs typeface="Malgun Gothic"/>
              </a:rPr>
              <a:t>게임의 물리 엔진(충돌 처리), 포토샵 같은 이미지 소프트웨어(압축)의 핵심 원리다.</a:t>
            </a:r>
            <a:endParaRPr sz="1180"/>
          </a:p>
        </p:txBody>
      </p:sp>
      <p:sp>
        <p:nvSpPr>
          <p:cNvPr id="35" name="직사각형 34">
            <a:extLst>
              <a:ext uri="{FF2B5EF4-FFF2-40B4-BE49-F238E27FC236}">
                <a16:creationId xmlns:a16="http://schemas.microsoft.com/office/drawing/2014/main" id="{9DB02C9E-697C-47E1-97AB-3918AC823122}"/>
              </a:ext>
            </a:extLst>
          </p:cNvPr>
          <p:cNvSpPr>
            <a:spLocks noGrp="1"/>
          </p:cNvSpPr>
          <p:nvPr/>
        </p:nvSpPr>
        <p:spPr>
          <a:xfrm>
            <a:off x="658368" y="3058097"/>
            <a:ext cx="5349240"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1758E8A8-5472-40CA-AF44-9BFBD98C9F8D}"/>
              </a:ext>
            </a:extLst>
          </p:cNvPr>
          <p:cNvSpPr>
            <a:spLocks noGrp="1"/>
          </p:cNvSpPr>
          <p:nvPr/>
        </p:nvSpPr>
        <p:spPr>
          <a:xfrm>
            <a:off x="658368" y="4041648"/>
            <a:ext cx="5349240" cy="9525"/>
          </a:xfrm>
          <a:prstGeom prst="rect">
            <a:avLst/>
          </a:prstGeom>
          <a:solidFill>
            <a:srgbClr val="D4D4D4"/>
          </a:solidFill>
          <a:ln w="0">
            <a:noFill/>
          </a:ln>
        </p:spPr>
      </p:sp>
      <p:sp>
        <p:nvSpPr>
          <p:cNvPr id="37" name="직사각형 36">
            <a:extLst>
              <a:ext uri="{FF2B5EF4-FFF2-40B4-BE49-F238E27FC236}">
                <a16:creationId xmlns:a16="http://schemas.microsoft.com/office/drawing/2014/main" id="{8A42D2F2-8191-42DD-B8DD-F252A84845A9}"/>
              </a:ext>
            </a:extLst>
          </p:cNvPr>
          <p:cNvSpPr>
            <a:spLocks noGrp="1"/>
          </p:cNvSpPr>
          <p:nvPr/>
        </p:nvSpPr>
        <p:spPr>
          <a:xfrm>
            <a:off x="6309360" y="1737360"/>
            <a:ext cx="5221224" cy="9525"/>
          </a:xfrm>
          <a:prstGeom prst="rect">
            <a:avLst/>
          </a:prstGeom>
          <a:solidFill>
            <a:srgbClr val="D4D4D4"/>
          </a:solidFill>
          <a:ln w="0">
            <a:noFill/>
          </a:ln>
        </p:spPr>
      </p:sp>
      <p:sp>
        <p:nvSpPr>
          <p:cNvPr id="38" name="직사각형 37">
            <a:extLst>
              <a:ext uri="{FF2B5EF4-FFF2-40B4-BE49-F238E27FC236}">
                <a16:creationId xmlns:a16="http://schemas.microsoft.com/office/drawing/2014/main" id="{4ABF2BFB-2D36-4821-86FD-15925C2D487B}"/>
              </a:ext>
            </a:extLst>
          </p:cNvPr>
          <p:cNvSpPr>
            <a:spLocks noGrp="1"/>
          </p:cNvSpPr>
          <p:nvPr/>
        </p:nvSpPr>
        <p:spPr>
          <a:xfrm>
            <a:off x="6309360" y="4992624"/>
            <a:ext cx="5221224"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A7371DEC-7289-41F7-B4FD-B43B13E01D4D}"/>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4.6  </a:t>
            </a:r>
            <a:r>
              <a:rPr lang="ko-KR" altLang="en-US" sz="1050" b="1" i="0">
                <a:solidFill>
                  <a:srgbClr val="606060"/>
                </a:solidFill>
                <a:latin typeface="Malgun Gothic"/>
                <a:ea typeface="Malgun Gothic"/>
                <a:cs typeface="Malgun Gothic"/>
              </a:rPr>
              <a:t>쿼드 트리</a:t>
            </a:r>
            <a:endParaRPr sz="1050" b="1" i="0">
              <a:solidFill>
                <a:srgbClr val="606060"/>
              </a:solidFill>
              <a:latin typeface="Malgun Gothic"/>
              <a:ea typeface="Malgun Gothic"/>
              <a:cs typeface="Malgun Gothic"/>
            </a:endParaRPr>
          </a:p>
        </p:txBody>
      </p:sp>
      <p:sp>
        <p:nvSpPr>
          <p:cNvPr id="40" name="직사각형 39">
            <a:extLst>
              <a:ext uri="{FF2B5EF4-FFF2-40B4-BE49-F238E27FC236}">
                <a16:creationId xmlns:a16="http://schemas.microsoft.com/office/drawing/2014/main" id="{E02914D2-980A-4028-A839-21F475555373}"/>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1" name="직사각형 40">
            <a:extLst>
              <a:ext uri="{FF2B5EF4-FFF2-40B4-BE49-F238E27FC236}">
                <a16:creationId xmlns:a16="http://schemas.microsoft.com/office/drawing/2014/main" id="{31D63744-54DA-4D0B-BABF-BBA38B501AFE}"/>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쿼드 트리의 기본 아이디어</a:t>
            </a:r>
          </a:p>
        </p:txBody>
      </p:sp>
      <p:sp>
        <p:nvSpPr>
          <p:cNvPr id="42" name="직사각형 41">
            <a:extLst>
              <a:ext uri="{FF2B5EF4-FFF2-40B4-BE49-F238E27FC236}">
                <a16:creationId xmlns:a16="http://schemas.microsoft.com/office/drawing/2014/main" id="{25B0FF89-9011-45B4-847B-69E3DE7CA160}"/>
              </a:ext>
            </a:extLst>
          </p:cNvPr>
          <p:cNvSpPr>
            <a:spLocks noGrp="1"/>
          </p:cNvSpPr>
          <p:nvPr/>
        </p:nvSpPr>
        <p:spPr>
          <a:xfrm>
            <a:off x="609600" y="1381125"/>
            <a:ext cx="10972800" cy="19050"/>
          </a:xfrm>
          <a:prstGeom prst="rect">
            <a:avLst/>
          </a:prstGeom>
          <a:solidFill>
            <a:srgbClr val="171717"/>
          </a:solidFill>
          <a:ln w="0">
            <a:noFill/>
          </a:ln>
        </p:spPr>
      </p:sp>
      <p:sp>
        <p:nvSpPr>
          <p:cNvPr id="43" name="직사각형 42">
            <a:extLst>
              <a:ext uri="{FF2B5EF4-FFF2-40B4-BE49-F238E27FC236}">
                <a16:creationId xmlns:a16="http://schemas.microsoft.com/office/drawing/2014/main" id="{713FB4BB-FD2F-4ADE-AA73-DC2B28FD3863}"/>
              </a:ext>
            </a:extLst>
          </p:cNvPr>
          <p:cNvSpPr>
            <a:spLocks noGrp="1"/>
          </p:cNvSpPr>
          <p:nvPr/>
        </p:nvSpPr>
        <p:spPr>
          <a:xfrm>
            <a:off x="609600" y="6438900"/>
            <a:ext cx="10972800" cy="9525"/>
          </a:xfrm>
          <a:prstGeom prst="rect">
            <a:avLst/>
          </a:prstGeom>
          <a:solidFill>
            <a:srgbClr val="D4D4D4"/>
          </a:solidFill>
          <a:ln w="0">
            <a:noFill/>
          </a:ln>
        </p:spPr>
      </p:sp>
      <p:sp>
        <p:nvSpPr>
          <p:cNvPr id="44" name="직사각형 43">
            <a:extLst>
              <a:ext uri="{FF2B5EF4-FFF2-40B4-BE49-F238E27FC236}">
                <a16:creationId xmlns:a16="http://schemas.microsoft.com/office/drawing/2014/main" id="{85C2678D-AD13-4B40-B67E-FC1D7952893B}"/>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5" name="직사각형 44">
            <a:extLst>
              <a:ext uri="{FF2B5EF4-FFF2-40B4-BE49-F238E27FC236}">
                <a16:creationId xmlns:a16="http://schemas.microsoft.com/office/drawing/2014/main" id="{44E24809-C726-4C21-A8DE-1C8EF25DBF0D}"/>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103</a:t>
            </a:r>
            <a:endParaRPr sz="1050" b="1" i="0">
              <a:solidFill>
                <a:srgbClr val="171717"/>
              </a:solidFill>
              <a:latin typeface="Consolas"/>
              <a:ea typeface="Consolas"/>
              <a:cs typeface="Consolas"/>
            </a:endParaRPr>
          </a:p>
        </p:txBody>
      </p:sp>
      <p:pic>
        <p:nvPicPr>
          <p:cNvPr id="67" name="그림 66"/>
          <p:cNvPicPr>
            <a:picLocks noChangeAspect="1"/>
          </p:cNvPicPr>
          <p:nvPr/>
        </p:nvPicPr>
        <p:blipFill>
          <a:blip r:embed="rId3"/>
          <a:stretch/>
        </p:blipFill>
        <p:spPr>
          <a:xfrm>
            <a:off x="6456213" y="1952054"/>
            <a:ext cx="4927517" cy="2679573"/>
          </a:xfrm>
          <a:prstGeom prst="rect">
            <a:avLst/>
          </a:prstGeom>
        </p:spPr>
      </p:pic>
    </p:spTree>
    <p:extLst>
      <p:ext uri="{BB962C8B-B14F-4D97-AF65-F5344CB8AC3E}">
        <p14:creationId xmlns:p14="http://schemas.microsoft.com/office/powerpoint/2010/main" val="11333117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직사각형 32">
            <a:extLst>
              <a:ext uri="{FF2B5EF4-FFF2-40B4-BE49-F238E27FC236}">
                <a16:creationId xmlns:a16="http://schemas.microsoft.com/office/drawing/2014/main" id="{58E8325C-6E38-477D-A07D-C146E8CD644D}"/>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4.6  </a:t>
            </a:r>
            <a:r>
              <a:rPr lang="ko-KR" altLang="en-US" sz="1050" b="1" i="0">
                <a:solidFill>
                  <a:srgbClr val="606060"/>
                </a:solidFill>
                <a:latin typeface="Malgun Gothic"/>
                <a:ea typeface="Malgun Gothic"/>
                <a:cs typeface="Malgun Gothic"/>
              </a:rPr>
              <a:t>쿼드 트리</a:t>
            </a:r>
            <a:endParaRPr sz="1050" b="1" i="0">
              <a:solidFill>
                <a:srgbClr val="606060"/>
              </a:solidFill>
              <a:latin typeface="Malgun Gothic"/>
              <a:ea typeface="Malgun Gothic"/>
              <a:cs typeface="Malgun Gothic"/>
            </a:endParaRPr>
          </a:p>
        </p:txBody>
      </p:sp>
      <p:sp>
        <p:nvSpPr>
          <p:cNvPr id="34" name="직사각형 33">
            <a:extLst>
              <a:ext uri="{FF2B5EF4-FFF2-40B4-BE49-F238E27FC236}">
                <a16:creationId xmlns:a16="http://schemas.microsoft.com/office/drawing/2014/main" id="{F2F74806-7213-481C-B9E6-864584BF5A43}"/>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5" name="직사각형 34">
            <a:extLst>
              <a:ext uri="{FF2B5EF4-FFF2-40B4-BE49-F238E27FC236}">
                <a16:creationId xmlns:a16="http://schemas.microsoft.com/office/drawing/2014/main" id="{6C46A6EB-86A6-4496-A75B-60CFD1D692E9}"/>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응용 ① 흑백 이미지 압축</a:t>
            </a:r>
          </a:p>
        </p:txBody>
      </p:sp>
      <p:sp>
        <p:nvSpPr>
          <p:cNvPr id="36" name="직사각형 35">
            <a:extLst>
              <a:ext uri="{FF2B5EF4-FFF2-40B4-BE49-F238E27FC236}">
                <a16:creationId xmlns:a16="http://schemas.microsoft.com/office/drawing/2014/main" id="{2E5E0546-53A0-4359-99A3-F3CBF112B6FE}"/>
              </a:ext>
            </a:extLst>
          </p:cNvPr>
          <p:cNvSpPr>
            <a:spLocks noGrp="1"/>
          </p:cNvSpPr>
          <p:nvPr/>
        </p:nvSpPr>
        <p:spPr>
          <a:xfrm>
            <a:off x="609600" y="1381125"/>
            <a:ext cx="10972800" cy="19050"/>
          </a:xfrm>
          <a:prstGeom prst="rect">
            <a:avLst/>
          </a:prstGeom>
          <a:solidFill>
            <a:srgbClr val="171717"/>
          </a:solidFill>
          <a:ln w="0">
            <a:noFill/>
          </a:ln>
        </p:spPr>
      </p:sp>
      <p:sp>
        <p:nvSpPr>
          <p:cNvPr id="37" name="직사각형 36">
            <a:extLst>
              <a:ext uri="{FF2B5EF4-FFF2-40B4-BE49-F238E27FC236}">
                <a16:creationId xmlns:a16="http://schemas.microsoft.com/office/drawing/2014/main" id="{7E5021D4-37B1-4B11-A770-BEEB67D6EB85}"/>
              </a:ext>
            </a:extLst>
          </p:cNvPr>
          <p:cNvSpPr>
            <a:spLocks noGrp="1"/>
          </p:cNvSpPr>
          <p:nvPr/>
        </p:nvSpPr>
        <p:spPr>
          <a:xfrm>
            <a:off x="609600" y="6438900"/>
            <a:ext cx="10972800" cy="9525"/>
          </a:xfrm>
          <a:prstGeom prst="rect">
            <a:avLst/>
          </a:prstGeom>
          <a:solidFill>
            <a:srgbClr val="D4D4D4"/>
          </a:solidFill>
          <a:ln w="0">
            <a:noFill/>
          </a:ln>
        </p:spPr>
      </p:sp>
      <p:sp>
        <p:nvSpPr>
          <p:cNvPr id="38" name="직사각형 37">
            <a:extLst>
              <a:ext uri="{FF2B5EF4-FFF2-40B4-BE49-F238E27FC236}">
                <a16:creationId xmlns:a16="http://schemas.microsoft.com/office/drawing/2014/main" id="{7A405FD4-8EC2-47BB-A42F-C738B3DFDB81}"/>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9" name="직사각형 38">
            <a:extLst>
              <a:ext uri="{FF2B5EF4-FFF2-40B4-BE49-F238E27FC236}">
                <a16:creationId xmlns:a16="http://schemas.microsoft.com/office/drawing/2014/main" id="{69C8C14C-7243-4F78-A44E-FA5FBA94AD61}"/>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104</a:t>
            </a:r>
            <a:endParaRPr sz="1050" b="1" i="0">
              <a:solidFill>
                <a:srgbClr val="171717"/>
              </a:solidFill>
              <a:latin typeface="Consolas"/>
              <a:ea typeface="Consolas"/>
              <a:cs typeface="Consolas"/>
            </a:endParaRPr>
          </a:p>
        </p:txBody>
      </p:sp>
      <p:sp>
        <p:nvSpPr>
          <p:cNvPr id="40" name="직사각형 39">
            <a:extLst>
              <a:ext uri="{FF2B5EF4-FFF2-40B4-BE49-F238E27FC236}">
                <a16:creationId xmlns:a16="http://schemas.microsoft.com/office/drawing/2014/main" id="{CF111E8F-C0E0-455D-8FA7-FD05FACB96D6}"/>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0과 1로 이루어진 영상에서 균일한 영역은 픽셀마다 저장할 필요가 없다.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① 검사: 현재 정사각형이 모두 같은 값인지 확인한다.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② 기저 사례: 모두 0이면 0, 모두 1이면 1을 기록하고 끝낸다.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③ 분할: 값이 섞여 있으면 네 영역으로 나눈다.</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좌상 → 우상 → 좌하 → 우하 순서로 재귀 호출하고 결과를 괄호로 묶는다.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균일한 영역이 클수록 짧게 표현된다. 색이 복잡하게 섞이면 압축 효과는 줄어든다.</a:t>
            </a:r>
          </a:p>
        </p:txBody>
      </p:sp>
      <p:pic>
        <p:nvPicPr>
          <p:cNvPr id="50" name="그림 49"/>
          <p:cNvPicPr>
            <a:picLocks noChangeAspect="1"/>
          </p:cNvPicPr>
          <p:nvPr/>
        </p:nvPicPr>
        <p:blipFill>
          <a:blip r:embed="rId3"/>
          <a:stretch/>
        </p:blipFill>
        <p:spPr>
          <a:xfrm>
            <a:off x="7315200" y="2371725"/>
            <a:ext cx="4171950" cy="2781300"/>
          </a:xfrm>
          <a:prstGeom prst="rect">
            <a:avLst/>
          </a:prstGeom>
        </p:spPr>
      </p:pic>
    </p:spTree>
    <p:extLst>
      <p:ext uri="{BB962C8B-B14F-4D97-AF65-F5344CB8AC3E}">
        <p14:creationId xmlns:p14="http://schemas.microsoft.com/office/powerpoint/2010/main" val="5780845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B5841F2F-EABC-47B2-B8D7-F2F6EE79BF96}"/>
              </a:ext>
            </a:extLst>
          </p:cNvPr>
          <p:cNvSpPr>
            <a:spLocks noGrp="1"/>
          </p:cNvSpPr>
          <p:nvPr/>
        </p:nvSpPr>
        <p:spPr>
          <a:xfrm>
            <a:off x="859536" y="1801368"/>
            <a:ext cx="557784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quadtree_1.pseudo</a:t>
            </a:r>
            <a:endParaRPr sz="900"/>
          </a:p>
        </p:txBody>
      </p:sp>
      <p:sp>
        <p:nvSpPr>
          <p:cNvPr id="20" name="Text 17">
            <a:extLst>
              <a:ext uri="{FF2B5EF4-FFF2-40B4-BE49-F238E27FC236}">
                <a16:creationId xmlns:a16="http://schemas.microsoft.com/office/drawing/2014/main" id="{34D874E8-EB0F-4250-B3DF-FF13B1239D6F}"/>
              </a:ext>
            </a:extLst>
          </p:cNvPr>
          <p:cNvSpPr>
            <a:spLocks noGrp="1"/>
          </p:cNvSpPr>
          <p:nvPr/>
        </p:nvSpPr>
        <p:spPr>
          <a:xfrm>
            <a:off x="6986016" y="1801368"/>
            <a:ext cx="4379976"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quadtree_2.pseudo</a:t>
            </a:r>
            <a:endParaRPr sz="900"/>
          </a:p>
        </p:txBody>
      </p:sp>
      <p:sp>
        <p:nvSpPr>
          <p:cNvPr id="25" name="Text 21">
            <a:extLst>
              <a:ext uri="{FF2B5EF4-FFF2-40B4-BE49-F238E27FC236}">
                <a16:creationId xmlns:a16="http://schemas.microsoft.com/office/drawing/2014/main" id="{BFED4DEE-41AF-4578-86F6-F37AB985AD60}"/>
              </a:ext>
            </a:extLst>
          </p:cNvPr>
          <p:cNvSpPr>
            <a:spLocks noGrp="1"/>
          </p:cNvSpPr>
          <p:nvPr/>
        </p:nvSpPr>
        <p:spPr>
          <a:xfrm>
            <a:off x="7644384" y="4974336"/>
            <a:ext cx="3630168" cy="29260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노드 하나가 곧 한 영역</a:t>
            </a:r>
            <a:endParaRPr sz="1300"/>
          </a:p>
        </p:txBody>
      </p:sp>
      <p:sp>
        <p:nvSpPr>
          <p:cNvPr id="26" name="Text 22">
            <a:extLst>
              <a:ext uri="{FF2B5EF4-FFF2-40B4-BE49-F238E27FC236}">
                <a16:creationId xmlns:a16="http://schemas.microsoft.com/office/drawing/2014/main" id="{CE26A097-B5E2-444B-BC82-9926040271D6}"/>
              </a:ext>
            </a:extLst>
          </p:cNvPr>
          <p:cNvSpPr>
            <a:spLocks noGrp="1"/>
          </p:cNvSpPr>
          <p:nvPr/>
        </p:nvSpPr>
        <p:spPr>
          <a:xfrm>
            <a:off x="7644384" y="5321808"/>
            <a:ext cx="3630168" cy="640080"/>
          </a:xfrm>
          <a:prstGeom prst="rect">
            <a:avLst/>
          </a:prstGeom>
          <a:noFill/>
          <a:ln w="0">
            <a:noFill/>
          </a:ln>
        </p:spPr>
        <p:txBody>
          <a:bodyPr wrap="square" lIns="0" tIns="0" rIns="0" bIns="0" anchor="t">
            <a:noAutofit/>
          </a:bodyPr>
          <a:lstStyle/>
          <a:p>
            <a:pPr marL="0" indent="0" algn="l">
              <a:lnSpc>
                <a:spcPct val="132000"/>
              </a:lnSpc>
              <a:buNone/>
              <a:defRPr sz="1150" i="0">
                <a:solidFill>
                  <a:srgbClr val="606060"/>
                </a:solidFill>
                <a:latin typeface="Malgun Gothic"/>
                <a:ea typeface="Malgun Gothic"/>
                <a:cs typeface="Malgun Gothic"/>
              </a:defRPr>
            </a:pPr>
            <a:r>
              <a:rPr sz="1150" i="0">
                <a:solidFill>
                  <a:srgbClr val="606060"/>
                </a:solidFill>
                <a:latin typeface="Malgun Gothic"/>
                <a:ea typeface="Malgun Gothic"/>
                <a:cs typeface="Malgun Gothic"/>
              </a:rPr>
              <a:t>리프 노드는 균일한 영역을, 내부 노드는 4개의 자식으로 쪼개진 영역을 뜻한다. 트리의 깊이는 최대 log₂(size)이다.</a:t>
            </a:r>
            <a:endParaRPr sz="1150"/>
          </a:p>
        </p:txBody>
      </p:sp>
      <p:sp>
        <p:nvSpPr>
          <p:cNvPr id="28" name="Text 24">
            <a:extLst>
              <a:ext uri="{FF2B5EF4-FFF2-40B4-BE49-F238E27FC236}">
                <a16:creationId xmlns:a16="http://schemas.microsoft.com/office/drawing/2014/main" id="{EB902031-D8AA-46C9-86CF-DD3DD5F1F79B}"/>
              </a:ext>
            </a:extLst>
          </p:cNvPr>
          <p:cNvSpPr>
            <a:spLocks noGrp="1"/>
          </p:cNvSpPr>
          <p:nvPr/>
        </p:nvSpPr>
        <p:spPr>
          <a:xfrm>
            <a:off x="795528" y="5504688"/>
            <a:ext cx="5669280" cy="658368"/>
          </a:xfrm>
          <a:prstGeom prst="rect">
            <a:avLst/>
          </a:prstGeom>
          <a:noFill/>
          <a:ln w="0">
            <a:noFill/>
          </a:ln>
        </p:spPr>
        <p:txBody>
          <a:bodyPr wrap="square" lIns="0" tIns="0" rIns="0" bIns="0" anchor="ctr">
            <a:noAutofit/>
          </a:bodyPr>
          <a:lstStyle/>
          <a:p>
            <a:pPr marL="0" indent="0" algn="ctr">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트리 깊이 ≤ log_2(size)</a:t>
            </a:r>
            <a:endParaRPr sz="1500"/>
          </a:p>
        </p:txBody>
      </p:sp>
      <p:sp>
        <p:nvSpPr>
          <p:cNvPr id="29" name="직사각형 28">
            <a:extLst>
              <a:ext uri="{FF2B5EF4-FFF2-40B4-BE49-F238E27FC236}">
                <a16:creationId xmlns:a16="http://schemas.microsoft.com/office/drawing/2014/main" id="{5F8E9383-047C-4F40-B061-A63248C58E8A}"/>
              </a:ext>
            </a:extLst>
          </p:cNvPr>
          <p:cNvSpPr>
            <a:spLocks noGrp="1"/>
          </p:cNvSpPr>
          <p:nvPr/>
        </p:nvSpPr>
        <p:spPr>
          <a:xfrm>
            <a:off x="698373" y="2090928"/>
            <a:ext cx="5918454" cy="3226308"/>
          </a:xfrm>
          <a:prstGeom prst="rect">
            <a:avLst/>
          </a:prstGeom>
          <a:solidFill>
            <a:srgbClr val="171717"/>
          </a:solidFill>
          <a:ln w="0">
            <a:noFill/>
          </a:ln>
        </p:spPr>
        <p:txBody>
          <a:bodyPr wrap="none" lIns="142875" tIns="76200" rIns="142875" bIns="762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ConstructQuadTree(I, x, y, size):</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initialValue &lt;- I[x][y]</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isUniform &lt;- true</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i &lt;- x to x + size - 1 do</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j &lt;- y to y + size - 1 do</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I[i][j] != initialValue then</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isUniform &lt;- false</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isUniform then</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CreateLeafNode(initialValue)</a:t>
            </a:r>
          </a:p>
        </p:txBody>
      </p:sp>
      <p:sp>
        <p:nvSpPr>
          <p:cNvPr id="30" name="직사각형 29">
            <a:extLst>
              <a:ext uri="{FF2B5EF4-FFF2-40B4-BE49-F238E27FC236}">
                <a16:creationId xmlns:a16="http://schemas.microsoft.com/office/drawing/2014/main" id="{CC51BA68-1B01-4D6A-A250-062C719FCC22}"/>
              </a:ext>
            </a:extLst>
          </p:cNvPr>
          <p:cNvSpPr>
            <a:spLocks noGrp="1"/>
          </p:cNvSpPr>
          <p:nvPr/>
        </p:nvSpPr>
        <p:spPr>
          <a:xfrm>
            <a:off x="6824853" y="2090928"/>
            <a:ext cx="4720590" cy="2494788"/>
          </a:xfrm>
          <a:prstGeom prst="rect">
            <a:avLst/>
          </a:prstGeom>
          <a:solidFill>
            <a:srgbClr val="171717"/>
          </a:solidFill>
          <a:ln w="0">
            <a:noFill/>
          </a:ln>
        </p:spPr>
        <p:txBody>
          <a:bodyPr wrap="none" lIns="142875" tIns="76200" rIns="142875" bIns="76200" anchor="t">
            <a:noAutofit/>
          </a:bodyPr>
          <a:lstStyle/>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else</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half &lt;- size / 2</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root &lt;- CreateInternalNode()</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root.topLeft     &lt;- ConstructQuadTree(I, x,      y,      half)</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root.topRight    &lt;- ConstructQuadTree(I, x,      y+half, half)</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root.bottomLeft  &lt;- ConstructQuadTree(I, x+half, y,      half)</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root.bottomRight &lt;- ConstructQuadTree(I, x+half, y+half, half)</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return root</a:t>
            </a:r>
          </a:p>
        </p:txBody>
      </p:sp>
      <p:sp>
        <p:nvSpPr>
          <p:cNvPr id="31" name="직사각형 30">
            <a:extLst>
              <a:ext uri="{FF2B5EF4-FFF2-40B4-BE49-F238E27FC236}">
                <a16:creationId xmlns:a16="http://schemas.microsoft.com/office/drawing/2014/main" id="{F0D0770F-4289-429E-8157-946DDBF5CBAF}"/>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4.6  </a:t>
            </a:r>
            <a:r>
              <a:rPr lang="ko-KR" altLang="en-US" sz="1050" b="1" i="0">
                <a:solidFill>
                  <a:srgbClr val="606060"/>
                </a:solidFill>
                <a:latin typeface="Malgun Gothic"/>
                <a:ea typeface="Malgun Gothic"/>
                <a:cs typeface="Malgun Gothic"/>
              </a:rPr>
              <a:t>쿼드 트리</a:t>
            </a:r>
            <a:endParaRPr sz="1050" b="1" i="0">
              <a:solidFill>
                <a:srgbClr val="606060"/>
              </a:solidFill>
              <a:latin typeface="Malgun Gothic"/>
              <a:ea typeface="Malgun Gothic"/>
              <a:cs typeface="Malgun Gothic"/>
            </a:endParaRPr>
          </a:p>
        </p:txBody>
      </p:sp>
      <p:sp>
        <p:nvSpPr>
          <p:cNvPr id="32" name="직사각형 31">
            <a:extLst>
              <a:ext uri="{FF2B5EF4-FFF2-40B4-BE49-F238E27FC236}">
                <a16:creationId xmlns:a16="http://schemas.microsoft.com/office/drawing/2014/main" id="{7BD96486-F1AF-415A-A9A5-4970CEE66FD5}"/>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3" name="직사각형 32">
            <a:extLst>
              <a:ext uri="{FF2B5EF4-FFF2-40B4-BE49-F238E27FC236}">
                <a16:creationId xmlns:a16="http://schemas.microsoft.com/office/drawing/2014/main" id="{850A6AD8-C911-47F1-AA19-CCEFA3FD69C0}"/>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쿼드 트리 알고리즘 (의사코드)</a:t>
            </a:r>
          </a:p>
        </p:txBody>
      </p:sp>
      <p:sp>
        <p:nvSpPr>
          <p:cNvPr id="34" name="직사각형 33">
            <a:extLst>
              <a:ext uri="{FF2B5EF4-FFF2-40B4-BE49-F238E27FC236}">
                <a16:creationId xmlns:a16="http://schemas.microsoft.com/office/drawing/2014/main" id="{F0A31444-CC58-4F71-A8CD-CBEF29867501}"/>
              </a:ext>
            </a:extLst>
          </p:cNvPr>
          <p:cNvSpPr>
            <a:spLocks noGrp="1"/>
          </p:cNvSpPr>
          <p:nvPr/>
        </p:nvSpPr>
        <p:spPr>
          <a:xfrm>
            <a:off x="609600" y="1381125"/>
            <a:ext cx="10972800" cy="19050"/>
          </a:xfrm>
          <a:prstGeom prst="rect">
            <a:avLst/>
          </a:prstGeom>
          <a:solidFill>
            <a:srgbClr val="171717"/>
          </a:solidFill>
          <a:ln w="0">
            <a:noFill/>
          </a:ln>
        </p:spPr>
      </p:sp>
      <p:sp>
        <p:nvSpPr>
          <p:cNvPr id="35" name="직사각형 34">
            <a:extLst>
              <a:ext uri="{FF2B5EF4-FFF2-40B4-BE49-F238E27FC236}">
                <a16:creationId xmlns:a16="http://schemas.microsoft.com/office/drawing/2014/main" id="{8347AC41-65C2-4178-92F3-D6A7559AA1A9}"/>
              </a:ext>
            </a:extLst>
          </p:cNvPr>
          <p:cNvSpPr>
            <a:spLocks noGrp="1"/>
          </p:cNvSpPr>
          <p:nvPr/>
        </p:nvSpPr>
        <p:spPr>
          <a:xfrm>
            <a:off x="609600" y="6438900"/>
            <a:ext cx="10972800"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A8EB3BE3-74AD-4D87-AA3A-2045716AA841}"/>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7" name="직사각형 36">
            <a:extLst>
              <a:ext uri="{FF2B5EF4-FFF2-40B4-BE49-F238E27FC236}">
                <a16:creationId xmlns:a16="http://schemas.microsoft.com/office/drawing/2014/main" id="{56B4F681-A46A-4788-BF6B-A2EEF6220FBA}"/>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105</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6908067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20623769-AFF1-4ECC-BE8D-8425FC56B4EA}"/>
              </a:ext>
            </a:extLst>
          </p:cNvPr>
          <p:cNvSpPr>
            <a:spLocks noGrp="1"/>
          </p:cNvSpPr>
          <p:nvPr/>
        </p:nvSpPr>
        <p:spPr>
          <a:xfrm>
            <a:off x="859536" y="1801368"/>
            <a:ext cx="658368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quadtree_compress.py</a:t>
            </a:r>
            <a:endParaRPr sz="900"/>
          </a:p>
        </p:txBody>
      </p:sp>
      <p:sp>
        <p:nvSpPr>
          <p:cNvPr id="20" name="Text 17">
            <a:extLst>
              <a:ext uri="{FF2B5EF4-FFF2-40B4-BE49-F238E27FC236}">
                <a16:creationId xmlns:a16="http://schemas.microsoft.com/office/drawing/2014/main" id="{E12FB2F2-9BBF-4CA6-A53D-CDBDDF534EDE}"/>
              </a:ext>
            </a:extLst>
          </p:cNvPr>
          <p:cNvSpPr>
            <a:spLocks noGrp="1"/>
          </p:cNvSpPr>
          <p:nvPr/>
        </p:nvSpPr>
        <p:spPr>
          <a:xfrm>
            <a:off x="7973568" y="1801368"/>
            <a:ext cx="3392424"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example.py</a:t>
            </a:r>
            <a:endParaRPr sz="900"/>
          </a:p>
        </p:txBody>
      </p:sp>
      <p:sp>
        <p:nvSpPr>
          <p:cNvPr id="23" name="Text 20">
            <a:extLst>
              <a:ext uri="{FF2B5EF4-FFF2-40B4-BE49-F238E27FC236}">
                <a16:creationId xmlns:a16="http://schemas.microsoft.com/office/drawing/2014/main" id="{87EB15C0-14D8-4A55-9C48-C050C44A6247}"/>
              </a:ext>
            </a:extLst>
          </p:cNvPr>
          <p:cNvSpPr>
            <a:spLocks noGrp="1"/>
          </p:cNvSpPr>
          <p:nvPr/>
        </p:nvSpPr>
        <p:spPr>
          <a:xfrm>
            <a:off x="7973568" y="4370832"/>
            <a:ext cx="3291840" cy="256032"/>
          </a:xfrm>
          <a:prstGeom prst="rect">
            <a:avLst/>
          </a:prstGeom>
          <a:noFill/>
          <a:ln w="0">
            <a:noFill/>
          </a:ln>
        </p:spPr>
        <p:txBody>
          <a:bodyPr wrap="square" lIns="0" tIns="0" rIns="0" bIns="0" anchor="ctr">
            <a:noAutofit/>
          </a:bodyPr>
          <a:lstStyle/>
          <a:p>
            <a:pPr marL="0" indent="0" algn="l">
              <a:buNone/>
              <a:defRPr sz="900" i="0">
                <a:solidFill>
                  <a:srgbClr val="171717"/>
                </a:solidFill>
                <a:latin typeface="Malgun Gothic"/>
                <a:ea typeface="Malgun Gothic"/>
                <a:cs typeface="Malgun Gothic"/>
              </a:defRPr>
            </a:pPr>
            <a:r>
              <a:rPr sz="900" b="1" i="0" spc="140">
                <a:solidFill>
                  <a:srgbClr val="171717"/>
                </a:solidFill>
                <a:latin typeface="Malgun Gothic"/>
                <a:ea typeface="Malgun Gothic"/>
                <a:cs typeface="Malgun Gothic"/>
              </a:rPr>
              <a:t>OUTPUT</a:t>
            </a:r>
            <a:endParaRPr sz="900"/>
          </a:p>
        </p:txBody>
      </p:sp>
      <p:sp>
        <p:nvSpPr>
          <p:cNvPr id="24" name="Text 21">
            <a:extLst>
              <a:ext uri="{FF2B5EF4-FFF2-40B4-BE49-F238E27FC236}">
                <a16:creationId xmlns:a16="http://schemas.microsoft.com/office/drawing/2014/main" id="{86A49465-5231-4F26-99B7-91BF5A18FDB7}"/>
              </a:ext>
            </a:extLst>
          </p:cNvPr>
          <p:cNvSpPr>
            <a:spLocks noGrp="1"/>
          </p:cNvSpPr>
          <p:nvPr/>
        </p:nvSpPr>
        <p:spPr>
          <a:xfrm>
            <a:off x="7973568" y="4681728"/>
            <a:ext cx="3291840" cy="566928"/>
          </a:xfrm>
          <a:prstGeom prst="rect">
            <a:avLst/>
          </a:prstGeom>
          <a:noFill/>
          <a:ln w="0">
            <a:noFill/>
          </a:ln>
        </p:spPr>
        <p:txBody>
          <a:bodyPr wrap="square" lIns="0" tIns="0" rIns="0" bIns="0" anchor="ctr">
            <a:noAutofit/>
          </a:bodyPr>
          <a:lstStyle/>
          <a:p>
            <a:pPr marL="0" indent="0" algn="l">
              <a:buNone/>
              <a:defRPr sz="1500" i="0">
                <a:solidFill>
                  <a:srgbClr val="171717"/>
                </a:solidFill>
                <a:latin typeface="Consolas"/>
                <a:ea typeface="Consolas"/>
                <a:cs typeface="Consolas"/>
              </a:defRPr>
            </a:pPr>
            <a:r>
              <a:rPr sz="1500" b="1" i="0">
                <a:solidFill>
                  <a:srgbClr val="171717"/>
                </a:solidFill>
                <a:latin typeface="Consolas"/>
                <a:ea typeface="Consolas"/>
                <a:cs typeface="Consolas"/>
              </a:rPr>
              <a:t>(01((0001)000)0)</a:t>
            </a:r>
            <a:endParaRPr sz="1300"/>
          </a:p>
        </p:txBody>
      </p:sp>
      <p:sp>
        <p:nvSpPr>
          <p:cNvPr id="28" name="Text 24">
            <a:extLst>
              <a:ext uri="{FF2B5EF4-FFF2-40B4-BE49-F238E27FC236}">
                <a16:creationId xmlns:a16="http://schemas.microsoft.com/office/drawing/2014/main" id="{F5A92BD8-5FE1-4EE8-B00C-10E119AC4E90}"/>
              </a:ext>
            </a:extLst>
          </p:cNvPr>
          <p:cNvSpPr>
            <a:spLocks noGrp="1"/>
          </p:cNvSpPr>
          <p:nvPr/>
        </p:nvSpPr>
        <p:spPr>
          <a:xfrm>
            <a:off x="8631936" y="5742432"/>
            <a:ext cx="2642616" cy="256032"/>
          </a:xfrm>
          <a:prstGeom prst="rect">
            <a:avLst/>
          </a:prstGeom>
          <a:noFill/>
          <a:ln w="0">
            <a:noFill/>
          </a:ln>
        </p:spPr>
        <p:txBody>
          <a:bodyPr wrap="square" lIns="0" tIns="0" rIns="0" bIns="0" anchor="ctr">
            <a:noAutofit/>
          </a:bodyPr>
          <a:lstStyle/>
          <a:p>
            <a:pPr marL="0" indent="0" algn="l">
              <a:lnSpc>
                <a:spcPct val="134000"/>
              </a:lnSpc>
              <a:buNone/>
              <a:defRPr sz="1150" i="0">
                <a:solidFill>
                  <a:srgbClr val="171717"/>
                </a:solidFill>
                <a:latin typeface="Malgun Gothic"/>
                <a:ea typeface="Malgun Gothic"/>
                <a:cs typeface="Malgun Gothic"/>
              </a:defRPr>
            </a:pPr>
            <a:r>
              <a:rPr sz="1150" i="0">
                <a:solidFill>
                  <a:srgbClr val="171717"/>
                </a:solidFill>
                <a:latin typeface="Malgun Gothic"/>
                <a:ea typeface="Malgun Gothic"/>
                <a:cs typeface="Malgun Gothic"/>
              </a:rPr>
              <a:t>픽셀 64개 → 문자 16개</a:t>
            </a:r>
            <a:endParaRPr sz="1150"/>
          </a:p>
        </p:txBody>
      </p:sp>
      <p:sp>
        <p:nvSpPr>
          <p:cNvPr id="29" name="직사각형 28">
            <a:extLst>
              <a:ext uri="{FF2B5EF4-FFF2-40B4-BE49-F238E27FC236}">
                <a16:creationId xmlns:a16="http://schemas.microsoft.com/office/drawing/2014/main" id="{F1D116A6-AFAE-42B7-82C7-68F417AFE147}"/>
              </a:ext>
            </a:extLst>
          </p:cNvPr>
          <p:cNvSpPr>
            <a:spLocks noGrp="1"/>
          </p:cNvSpPr>
          <p:nvPr/>
        </p:nvSpPr>
        <p:spPr>
          <a:xfrm>
            <a:off x="698373" y="2090928"/>
            <a:ext cx="6924294" cy="4049268"/>
          </a:xfrm>
          <a:prstGeom prst="rect">
            <a:avLst/>
          </a:prstGeom>
          <a:solidFill>
            <a:srgbClr val="171717"/>
          </a:solidFill>
          <a:ln w="0">
            <a:noFill/>
          </a:ln>
        </p:spPr>
        <p:txBody>
          <a:bodyPr wrap="none" lIns="142875" tIns="76200" rIns="142875" bIns="76200" anchor="t">
            <a:noAutofit/>
          </a:bodyPr>
          <a:lstStyle/>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def quadtree_compress(x, y, n, image):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color = image[x][y]</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is_uniform = True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for i in range(x, x + 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for j in range(y, y + 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if image[i][j] != color:</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is_uniform = False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break</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if not is_uniform:</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break</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if is_uniform:</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return str(color)</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half = n // 2</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result = "("</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result += quadtree_compress(x, y, half, image)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result += quadtree_compress(x, y + half, half, image)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result += quadtree_compress(x + half, y, half, image)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result += quadtree_compress(x + half, y + half, half, image)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result += ")"</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return result</a:t>
            </a:r>
          </a:p>
        </p:txBody>
      </p:sp>
      <p:sp>
        <p:nvSpPr>
          <p:cNvPr id="30" name="직사각형 29">
            <a:extLst>
              <a:ext uri="{FF2B5EF4-FFF2-40B4-BE49-F238E27FC236}">
                <a16:creationId xmlns:a16="http://schemas.microsoft.com/office/drawing/2014/main" id="{D79B70FF-A271-4FAD-86B9-E8E2998979B4}"/>
              </a:ext>
            </a:extLst>
          </p:cNvPr>
          <p:cNvSpPr>
            <a:spLocks noGrp="1"/>
          </p:cNvSpPr>
          <p:nvPr/>
        </p:nvSpPr>
        <p:spPr>
          <a:xfrm>
            <a:off x="7812405" y="2090928"/>
            <a:ext cx="3733038" cy="1991868"/>
          </a:xfrm>
          <a:prstGeom prst="rect">
            <a:avLst/>
          </a:prstGeom>
          <a:solidFill>
            <a:srgbClr val="171717"/>
          </a:solidFill>
          <a:ln w="0">
            <a:noFill/>
          </a:ln>
        </p:spPr>
        <p:txBody>
          <a:bodyPr wrap="none" lIns="142875" tIns="76200" rIns="142875" bIns="76200" anchor="t">
            <a:noAutofit/>
          </a:bodyPr>
          <a:lstStyle/>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example_image = [</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[0,0,0,0, 1,1,1,1],</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[0,0,0,0, 1,1,1,1],</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[0,0,0,0, 1,1,1,1],</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[0,0,0,0, 1,1,1,1],</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[0,0,0,0, 0,0,0,0],</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[0,1,0,0, 0,0,0,0],</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[0,0,0,0, 0,0,0,0],</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    [0,0,0,0, 0,0,0,0],</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print(quadtree_compress(0, 0, 8, example_image))</a:t>
            </a:r>
          </a:p>
        </p:txBody>
      </p:sp>
      <p:sp>
        <p:nvSpPr>
          <p:cNvPr id="31" name="직사각형 30">
            <a:extLst>
              <a:ext uri="{FF2B5EF4-FFF2-40B4-BE49-F238E27FC236}">
                <a16:creationId xmlns:a16="http://schemas.microsoft.com/office/drawing/2014/main" id="{D40F167A-B46E-489B-B665-7CE024E11642}"/>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4.6  </a:t>
            </a:r>
            <a:r>
              <a:rPr lang="ko-KR" altLang="en-US" sz="1050" b="1" i="0">
                <a:solidFill>
                  <a:srgbClr val="606060"/>
                </a:solidFill>
                <a:latin typeface="Malgun Gothic"/>
                <a:ea typeface="Malgun Gothic"/>
                <a:cs typeface="Malgun Gothic"/>
              </a:rPr>
              <a:t>쿼드 트리</a:t>
            </a:r>
            <a:endParaRPr sz="1050" b="1" i="0">
              <a:solidFill>
                <a:srgbClr val="606060"/>
              </a:solidFill>
              <a:latin typeface="Malgun Gothic"/>
              <a:ea typeface="Malgun Gothic"/>
              <a:cs typeface="Malgun Gothic"/>
            </a:endParaRPr>
          </a:p>
        </p:txBody>
      </p:sp>
      <p:sp>
        <p:nvSpPr>
          <p:cNvPr id="32" name="직사각형 31">
            <a:extLst>
              <a:ext uri="{FF2B5EF4-FFF2-40B4-BE49-F238E27FC236}">
                <a16:creationId xmlns:a16="http://schemas.microsoft.com/office/drawing/2014/main" id="{F6654E88-74BD-47ED-BADD-8F67CC697D7D}"/>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3" name="직사각형 32">
            <a:extLst>
              <a:ext uri="{FF2B5EF4-FFF2-40B4-BE49-F238E27FC236}">
                <a16:creationId xmlns:a16="http://schemas.microsoft.com/office/drawing/2014/main" id="{A84283E4-F37A-4AC7-A430-4D6F1EC664F5}"/>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파이썬 구현 — 8×8 이미지 압축</a:t>
            </a:r>
          </a:p>
        </p:txBody>
      </p:sp>
      <p:sp>
        <p:nvSpPr>
          <p:cNvPr id="34" name="직사각형 33">
            <a:extLst>
              <a:ext uri="{FF2B5EF4-FFF2-40B4-BE49-F238E27FC236}">
                <a16:creationId xmlns:a16="http://schemas.microsoft.com/office/drawing/2014/main" id="{264B4C78-9A0F-4A2F-93C7-0FEE3F0D3858}"/>
              </a:ext>
            </a:extLst>
          </p:cNvPr>
          <p:cNvSpPr>
            <a:spLocks noGrp="1"/>
          </p:cNvSpPr>
          <p:nvPr/>
        </p:nvSpPr>
        <p:spPr>
          <a:xfrm>
            <a:off x="609600" y="1381125"/>
            <a:ext cx="10972800" cy="19050"/>
          </a:xfrm>
          <a:prstGeom prst="rect">
            <a:avLst/>
          </a:prstGeom>
          <a:solidFill>
            <a:srgbClr val="171717"/>
          </a:solidFill>
          <a:ln w="0">
            <a:noFill/>
          </a:ln>
        </p:spPr>
      </p:sp>
      <p:sp>
        <p:nvSpPr>
          <p:cNvPr id="35" name="직사각형 34">
            <a:extLst>
              <a:ext uri="{FF2B5EF4-FFF2-40B4-BE49-F238E27FC236}">
                <a16:creationId xmlns:a16="http://schemas.microsoft.com/office/drawing/2014/main" id="{996D6603-8CE5-49CD-9378-EF6F968CBD33}"/>
              </a:ext>
            </a:extLst>
          </p:cNvPr>
          <p:cNvSpPr>
            <a:spLocks noGrp="1"/>
          </p:cNvSpPr>
          <p:nvPr/>
        </p:nvSpPr>
        <p:spPr>
          <a:xfrm>
            <a:off x="609600" y="6438900"/>
            <a:ext cx="10972800"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5F047E81-F6A5-4DA1-89E1-A9DD6ADEB7AA}"/>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7" name="직사각형 36">
            <a:extLst>
              <a:ext uri="{FF2B5EF4-FFF2-40B4-BE49-F238E27FC236}">
                <a16:creationId xmlns:a16="http://schemas.microsoft.com/office/drawing/2014/main" id="{281E05CF-94AF-48EA-8B62-D951F63E0ADD}"/>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106</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515444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720A591C-A72D-406F-AEA1-AC942972D55C}"/>
              </a:ext>
            </a:extLst>
          </p:cNvPr>
          <p:cNvSpPr>
            <a:spLocks noGrp="1"/>
          </p:cNvSpPr>
          <p:nvPr/>
        </p:nvSpPr>
        <p:spPr>
          <a:xfrm>
            <a:off x="658368" y="1700784"/>
            <a:ext cx="10872216" cy="566928"/>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화면 속에는 수십 명의 캐릭터, 수백 발의 총알, 수천 개의 지형지물이 움직인다. 게임 엔진은 이 객체들이 서로 부딪혔는지 판별하는 충돌 감지(collision detection)를 매 프레임(약 0.016초)마다 수행해야 한다.</a:t>
            </a:r>
            <a:endParaRPr sz="1300"/>
          </a:p>
        </p:txBody>
      </p:sp>
      <p:sp>
        <p:nvSpPr>
          <p:cNvPr id="8" name="Text 5">
            <a:extLst>
              <a:ext uri="{FF2B5EF4-FFF2-40B4-BE49-F238E27FC236}">
                <a16:creationId xmlns:a16="http://schemas.microsoft.com/office/drawing/2014/main" id="{85D7D033-F61D-42B4-B1EE-DA3D0266B2BB}"/>
              </a:ext>
            </a:extLst>
          </p:cNvPr>
          <p:cNvSpPr>
            <a:spLocks noGrp="1"/>
          </p:cNvSpPr>
          <p:nvPr/>
        </p:nvSpPr>
        <p:spPr>
          <a:xfrm>
            <a:off x="896112" y="2523744"/>
            <a:ext cx="4663440" cy="310896"/>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무식한 접근 — 브루트 포스</a:t>
            </a:r>
            <a:endParaRPr sz="1300"/>
          </a:p>
        </p:txBody>
      </p:sp>
      <p:sp>
        <p:nvSpPr>
          <p:cNvPr id="9" name="Text 6">
            <a:extLst>
              <a:ext uri="{FF2B5EF4-FFF2-40B4-BE49-F238E27FC236}">
                <a16:creationId xmlns:a16="http://schemas.microsoft.com/office/drawing/2014/main" id="{0D3F9F87-FACE-4073-A078-2D2CC33043FE}"/>
              </a:ext>
            </a:extLst>
          </p:cNvPr>
          <p:cNvSpPr>
            <a:spLocks noGrp="1"/>
          </p:cNvSpPr>
          <p:nvPr/>
        </p:nvSpPr>
        <p:spPr>
          <a:xfrm>
            <a:off x="896112" y="2889504"/>
            <a:ext cx="4645152" cy="457200"/>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(n−1) + (n−2) + ⋯ + 1 ≈ n^(2)/2</a:t>
            </a:r>
            <a:endParaRPr sz="1500"/>
          </a:p>
        </p:txBody>
      </p:sp>
      <p:sp>
        <p:nvSpPr>
          <p:cNvPr id="10" name="Text 7">
            <a:extLst>
              <a:ext uri="{FF2B5EF4-FFF2-40B4-BE49-F238E27FC236}">
                <a16:creationId xmlns:a16="http://schemas.microsoft.com/office/drawing/2014/main" id="{9BE0B9FD-AF39-442B-81F9-976C74C290CB}"/>
              </a:ext>
            </a:extLst>
          </p:cNvPr>
          <p:cNvSpPr>
            <a:spLocks noGrp="1"/>
          </p:cNvSpPr>
          <p:nvPr/>
        </p:nvSpPr>
        <p:spPr>
          <a:xfrm>
            <a:off x="896112" y="3364992"/>
            <a:ext cx="4645152" cy="274320"/>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i="0">
                <a:solidFill>
                  <a:srgbClr val="171717"/>
                </a:solidFill>
                <a:latin typeface="Malgun Gothic"/>
                <a:ea typeface="Malgun Gothic"/>
                <a:cs typeface="Malgun Gothic"/>
              </a:rPr>
              <a:t>객체 1,000개 → 매 프레임 약 50만 번 검사</a:t>
            </a:r>
            <a:endParaRPr sz="1050"/>
          </a:p>
        </p:txBody>
      </p:sp>
      <p:sp>
        <p:nvSpPr>
          <p:cNvPr id="12" name="Shape 9">
            <a:extLst>
              <a:ext uri="{FF2B5EF4-FFF2-40B4-BE49-F238E27FC236}">
                <a16:creationId xmlns:a16="http://schemas.microsoft.com/office/drawing/2014/main" id="{D760B471-6FE8-4D19-9621-C79A7AFF080B}"/>
              </a:ext>
            </a:extLst>
          </p:cNvPr>
          <p:cNvSpPr>
            <a:spLocks noGrp="1"/>
          </p:cNvSpPr>
          <p:nvPr/>
        </p:nvSpPr>
        <p:spPr>
          <a:xfrm>
            <a:off x="841248" y="4032504"/>
            <a:ext cx="402336" cy="402336"/>
          </a:xfrm>
          <a:prstGeom prst="ellipse">
            <a:avLst/>
          </a:prstGeom>
          <a:solidFill>
            <a:srgbClr val="E9E9E9"/>
          </a:solidFill>
          <a:ln w="5715">
            <a:solidFill>
              <a:srgbClr val="D4D4D4"/>
            </a:solidFill>
          </a:ln>
        </p:spPr>
      </p:sp>
      <p:sp>
        <p:nvSpPr>
          <p:cNvPr id="13" name="Text 10">
            <a:extLst>
              <a:ext uri="{FF2B5EF4-FFF2-40B4-BE49-F238E27FC236}">
                <a16:creationId xmlns:a16="http://schemas.microsoft.com/office/drawing/2014/main" id="{EC1607B2-D304-4367-B1F5-43B93FF931F6}"/>
              </a:ext>
            </a:extLst>
          </p:cNvPr>
          <p:cNvSpPr>
            <a:spLocks noGrp="1"/>
          </p:cNvSpPr>
          <p:nvPr/>
        </p:nvSpPr>
        <p:spPr>
          <a:xfrm>
            <a:off x="841248" y="4032504"/>
            <a:ext cx="402336" cy="402336"/>
          </a:xfrm>
          <a:prstGeom prst="rect">
            <a:avLst/>
          </a:prstGeom>
          <a:noFill/>
          <a:ln w="0">
            <a:noFill/>
          </a:ln>
        </p:spPr>
        <p:txBody>
          <a:bodyPr wrap="square" lIns="0" tIns="0" rIns="0" bIns="0" anchor="ctr">
            <a:noAutofit/>
          </a:bodyPr>
          <a:lstStyle/>
          <a:p>
            <a:pPr marL="0" indent="0" algn="ctr">
              <a:buNone/>
              <a:defRPr sz="1056" i="0">
                <a:solidFill>
                  <a:srgbClr val="171717"/>
                </a:solidFill>
                <a:latin typeface="Malgun Gothic"/>
                <a:ea typeface="Malgun Gothic"/>
                <a:cs typeface="Malgun Gothic"/>
              </a:defRPr>
            </a:pPr>
            <a:r>
              <a:rPr sz="1056" b="1" i="0">
                <a:solidFill>
                  <a:srgbClr val="171717"/>
                </a:solidFill>
                <a:latin typeface="Malgun Gothic"/>
                <a:ea typeface="Malgun Gothic"/>
                <a:cs typeface="Malgun Gothic"/>
              </a:rPr>
              <a:t>1</a:t>
            </a:r>
            <a:endParaRPr sz="1056"/>
          </a:p>
        </p:txBody>
      </p:sp>
      <p:sp>
        <p:nvSpPr>
          <p:cNvPr id="14" name="Text 11">
            <a:extLst>
              <a:ext uri="{FF2B5EF4-FFF2-40B4-BE49-F238E27FC236}">
                <a16:creationId xmlns:a16="http://schemas.microsoft.com/office/drawing/2014/main" id="{77AF1101-F70F-4BF3-88F8-B6EF6A7F31D4}"/>
              </a:ext>
            </a:extLst>
          </p:cNvPr>
          <p:cNvSpPr>
            <a:spLocks noGrp="1"/>
          </p:cNvSpPr>
          <p:nvPr/>
        </p:nvSpPr>
        <p:spPr>
          <a:xfrm>
            <a:off x="1353312" y="3913632"/>
            <a:ext cx="1234440" cy="640080"/>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공간 분할</a:t>
            </a:r>
            <a:endParaRPr sz="1150"/>
          </a:p>
        </p:txBody>
      </p:sp>
      <p:sp>
        <p:nvSpPr>
          <p:cNvPr id="15" name="Text 12">
            <a:extLst>
              <a:ext uri="{FF2B5EF4-FFF2-40B4-BE49-F238E27FC236}">
                <a16:creationId xmlns:a16="http://schemas.microsoft.com/office/drawing/2014/main" id="{3F73F8F9-8432-4690-9C15-F607E3C28DD2}"/>
              </a:ext>
            </a:extLst>
          </p:cNvPr>
          <p:cNvSpPr>
            <a:spLocks noGrp="1"/>
          </p:cNvSpPr>
          <p:nvPr/>
        </p:nvSpPr>
        <p:spPr>
          <a:xfrm>
            <a:off x="2578608" y="3986784"/>
            <a:ext cx="3017520" cy="512064"/>
          </a:xfrm>
          <a:prstGeom prst="rect">
            <a:avLst/>
          </a:prstGeom>
          <a:noFill/>
          <a:ln w="0">
            <a:noFill/>
          </a:ln>
        </p:spPr>
        <p:txBody>
          <a:bodyPr wrap="square" lIns="0" tIns="0" rIns="0" bIns="0" anchor="ctr">
            <a:noAutofit/>
          </a:bodyPr>
          <a:lstStyle/>
          <a:p>
            <a:pPr marL="0" indent="0" algn="l">
              <a:lnSpc>
                <a:spcPct val="112000"/>
              </a:lnSpc>
              <a:buNone/>
              <a:defRPr sz="920" i="0">
                <a:solidFill>
                  <a:srgbClr val="171717"/>
                </a:solidFill>
                <a:latin typeface="Malgun Gothic"/>
                <a:ea typeface="Malgun Gothic"/>
                <a:cs typeface="Malgun Gothic"/>
              </a:defRPr>
            </a:pPr>
            <a:r>
              <a:rPr sz="920" i="0">
                <a:solidFill>
                  <a:srgbClr val="171717"/>
                </a:solidFill>
                <a:latin typeface="Malgun Gothic"/>
                <a:ea typeface="Malgun Gothic"/>
                <a:cs typeface="Malgun Gothic"/>
              </a:rPr>
              <a:t>전체 맵을 4개의 사분면으로 나눈다. 한 구역에 오브젝트가 너무 많으면 그 구역을 다시 4개로 쪼갠다.</a:t>
            </a:r>
            <a:endParaRPr sz="920"/>
          </a:p>
        </p:txBody>
      </p:sp>
      <p:sp>
        <p:nvSpPr>
          <p:cNvPr id="17" name="Shape 14">
            <a:extLst>
              <a:ext uri="{FF2B5EF4-FFF2-40B4-BE49-F238E27FC236}">
                <a16:creationId xmlns:a16="http://schemas.microsoft.com/office/drawing/2014/main" id="{847C496F-08CA-4287-B518-371195D6B659}"/>
              </a:ext>
            </a:extLst>
          </p:cNvPr>
          <p:cNvSpPr>
            <a:spLocks noGrp="1"/>
          </p:cNvSpPr>
          <p:nvPr/>
        </p:nvSpPr>
        <p:spPr>
          <a:xfrm>
            <a:off x="841248" y="4782312"/>
            <a:ext cx="402336" cy="402336"/>
          </a:xfrm>
          <a:prstGeom prst="ellipse">
            <a:avLst/>
          </a:prstGeom>
          <a:solidFill>
            <a:srgbClr val="E9E9E9"/>
          </a:solidFill>
          <a:ln w="5715">
            <a:solidFill>
              <a:srgbClr val="D4D4D4"/>
            </a:solidFill>
          </a:ln>
        </p:spPr>
      </p:sp>
      <p:sp>
        <p:nvSpPr>
          <p:cNvPr id="18" name="Text 15">
            <a:extLst>
              <a:ext uri="{FF2B5EF4-FFF2-40B4-BE49-F238E27FC236}">
                <a16:creationId xmlns:a16="http://schemas.microsoft.com/office/drawing/2014/main" id="{EA492735-2198-45AD-9322-5ADE42DE920A}"/>
              </a:ext>
            </a:extLst>
          </p:cNvPr>
          <p:cNvSpPr>
            <a:spLocks noGrp="1"/>
          </p:cNvSpPr>
          <p:nvPr/>
        </p:nvSpPr>
        <p:spPr>
          <a:xfrm>
            <a:off x="841248" y="4782312"/>
            <a:ext cx="402336" cy="402336"/>
          </a:xfrm>
          <a:prstGeom prst="rect">
            <a:avLst/>
          </a:prstGeom>
          <a:noFill/>
          <a:ln w="0">
            <a:noFill/>
          </a:ln>
        </p:spPr>
        <p:txBody>
          <a:bodyPr wrap="square" lIns="0" tIns="0" rIns="0" bIns="0" anchor="ctr">
            <a:noAutofit/>
          </a:bodyPr>
          <a:lstStyle/>
          <a:p>
            <a:pPr marL="0" indent="0" algn="ctr">
              <a:buNone/>
              <a:defRPr sz="1056" i="0">
                <a:solidFill>
                  <a:srgbClr val="171717"/>
                </a:solidFill>
                <a:latin typeface="Malgun Gothic"/>
                <a:ea typeface="Malgun Gothic"/>
                <a:cs typeface="Malgun Gothic"/>
              </a:defRPr>
            </a:pPr>
            <a:r>
              <a:rPr sz="1056" b="1" i="0">
                <a:solidFill>
                  <a:srgbClr val="171717"/>
                </a:solidFill>
                <a:latin typeface="Malgun Gothic"/>
                <a:ea typeface="Malgun Gothic"/>
                <a:cs typeface="Malgun Gothic"/>
              </a:rPr>
              <a:t>2</a:t>
            </a:r>
            <a:endParaRPr sz="1056"/>
          </a:p>
        </p:txBody>
      </p:sp>
      <p:sp>
        <p:nvSpPr>
          <p:cNvPr id="19" name="Text 16">
            <a:extLst>
              <a:ext uri="{FF2B5EF4-FFF2-40B4-BE49-F238E27FC236}">
                <a16:creationId xmlns:a16="http://schemas.microsoft.com/office/drawing/2014/main" id="{710A2736-E5E0-4699-A7FA-E42983896FDC}"/>
              </a:ext>
            </a:extLst>
          </p:cNvPr>
          <p:cNvSpPr>
            <a:spLocks noGrp="1"/>
          </p:cNvSpPr>
          <p:nvPr/>
        </p:nvSpPr>
        <p:spPr>
          <a:xfrm>
            <a:off x="1353312" y="4663440"/>
            <a:ext cx="1234440" cy="640080"/>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객체 등록</a:t>
            </a:r>
            <a:endParaRPr sz="1150"/>
          </a:p>
        </p:txBody>
      </p:sp>
      <p:sp>
        <p:nvSpPr>
          <p:cNvPr id="20" name="Text 17">
            <a:extLst>
              <a:ext uri="{FF2B5EF4-FFF2-40B4-BE49-F238E27FC236}">
                <a16:creationId xmlns:a16="http://schemas.microsoft.com/office/drawing/2014/main" id="{DA0F17A2-9BA5-489E-98AA-BD08D99BAC80}"/>
              </a:ext>
            </a:extLst>
          </p:cNvPr>
          <p:cNvSpPr>
            <a:spLocks noGrp="1"/>
          </p:cNvSpPr>
          <p:nvPr/>
        </p:nvSpPr>
        <p:spPr>
          <a:xfrm>
            <a:off x="2578608" y="4736592"/>
            <a:ext cx="3017520" cy="512064"/>
          </a:xfrm>
          <a:prstGeom prst="rect">
            <a:avLst/>
          </a:prstGeom>
          <a:noFill/>
          <a:ln w="0">
            <a:noFill/>
          </a:ln>
        </p:spPr>
        <p:txBody>
          <a:bodyPr wrap="square" lIns="0" tIns="0" rIns="0" bIns="0" anchor="ctr">
            <a:noAutofit/>
          </a:bodyPr>
          <a:lstStyle/>
          <a:p>
            <a:pPr marL="0" indent="0" algn="l">
              <a:lnSpc>
                <a:spcPct val="112000"/>
              </a:lnSpc>
              <a:buNone/>
              <a:defRPr sz="920" i="0">
                <a:solidFill>
                  <a:srgbClr val="171717"/>
                </a:solidFill>
                <a:latin typeface="Malgun Gothic"/>
                <a:ea typeface="Malgun Gothic"/>
                <a:cs typeface="Malgun Gothic"/>
              </a:defRPr>
            </a:pPr>
            <a:r>
              <a:rPr sz="920" i="0">
                <a:solidFill>
                  <a:srgbClr val="171717"/>
                </a:solidFill>
                <a:latin typeface="Malgun Gothic"/>
                <a:ea typeface="Malgun Gothic"/>
                <a:cs typeface="Malgun Gothic"/>
              </a:rPr>
              <a:t>모든 오브젝트는 자신의 위치에 따라 트리의 특정 노드(구역)에 등록된다.</a:t>
            </a:r>
            <a:endParaRPr sz="920"/>
          </a:p>
        </p:txBody>
      </p:sp>
      <p:sp>
        <p:nvSpPr>
          <p:cNvPr id="22" name="Shape 19">
            <a:extLst>
              <a:ext uri="{FF2B5EF4-FFF2-40B4-BE49-F238E27FC236}">
                <a16:creationId xmlns:a16="http://schemas.microsoft.com/office/drawing/2014/main" id="{CBA974B7-0698-4D90-A9D7-AE3CF6F5F7E3}"/>
              </a:ext>
            </a:extLst>
          </p:cNvPr>
          <p:cNvSpPr>
            <a:spLocks noGrp="1"/>
          </p:cNvSpPr>
          <p:nvPr/>
        </p:nvSpPr>
        <p:spPr>
          <a:xfrm>
            <a:off x="841248" y="5532120"/>
            <a:ext cx="402336" cy="402336"/>
          </a:xfrm>
          <a:prstGeom prst="ellipse">
            <a:avLst/>
          </a:prstGeom>
          <a:solidFill>
            <a:srgbClr val="E9E9E9"/>
          </a:solidFill>
          <a:ln w="5715">
            <a:solidFill>
              <a:srgbClr val="D4D4D4"/>
            </a:solidFill>
          </a:ln>
        </p:spPr>
      </p:sp>
      <p:sp>
        <p:nvSpPr>
          <p:cNvPr id="23" name="Text 20">
            <a:extLst>
              <a:ext uri="{FF2B5EF4-FFF2-40B4-BE49-F238E27FC236}">
                <a16:creationId xmlns:a16="http://schemas.microsoft.com/office/drawing/2014/main" id="{0F5AF4DC-8CA4-484F-9710-DD1DEF0A4B59}"/>
              </a:ext>
            </a:extLst>
          </p:cNvPr>
          <p:cNvSpPr>
            <a:spLocks noGrp="1"/>
          </p:cNvSpPr>
          <p:nvPr/>
        </p:nvSpPr>
        <p:spPr>
          <a:xfrm>
            <a:off x="841248" y="5532120"/>
            <a:ext cx="402336" cy="402336"/>
          </a:xfrm>
          <a:prstGeom prst="rect">
            <a:avLst/>
          </a:prstGeom>
          <a:noFill/>
          <a:ln w="0">
            <a:noFill/>
          </a:ln>
        </p:spPr>
        <p:txBody>
          <a:bodyPr wrap="square" lIns="0" tIns="0" rIns="0" bIns="0" anchor="ctr">
            <a:noAutofit/>
          </a:bodyPr>
          <a:lstStyle/>
          <a:p>
            <a:pPr marL="0" indent="0" algn="ctr">
              <a:buNone/>
              <a:defRPr sz="1056" i="0">
                <a:solidFill>
                  <a:srgbClr val="171717"/>
                </a:solidFill>
                <a:latin typeface="Malgun Gothic"/>
                <a:ea typeface="Malgun Gothic"/>
                <a:cs typeface="Malgun Gothic"/>
              </a:defRPr>
            </a:pPr>
            <a:r>
              <a:rPr sz="1056" b="1" i="0">
                <a:solidFill>
                  <a:srgbClr val="171717"/>
                </a:solidFill>
                <a:latin typeface="Malgun Gothic"/>
                <a:ea typeface="Malgun Gothic"/>
                <a:cs typeface="Malgun Gothic"/>
              </a:rPr>
              <a:t>3</a:t>
            </a:r>
            <a:endParaRPr sz="1056"/>
          </a:p>
        </p:txBody>
      </p:sp>
      <p:sp>
        <p:nvSpPr>
          <p:cNvPr id="24" name="Text 21">
            <a:extLst>
              <a:ext uri="{FF2B5EF4-FFF2-40B4-BE49-F238E27FC236}">
                <a16:creationId xmlns:a16="http://schemas.microsoft.com/office/drawing/2014/main" id="{25F8D1B7-90AB-4640-9FE6-102DF1809BD6}"/>
              </a:ext>
            </a:extLst>
          </p:cNvPr>
          <p:cNvSpPr>
            <a:spLocks noGrp="1"/>
          </p:cNvSpPr>
          <p:nvPr/>
        </p:nvSpPr>
        <p:spPr>
          <a:xfrm>
            <a:off x="1353312" y="5413248"/>
            <a:ext cx="1234440" cy="640080"/>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지역적 검사</a:t>
            </a:r>
            <a:endParaRPr sz="1150"/>
          </a:p>
        </p:txBody>
      </p:sp>
      <p:sp>
        <p:nvSpPr>
          <p:cNvPr id="25" name="Text 22">
            <a:extLst>
              <a:ext uri="{FF2B5EF4-FFF2-40B4-BE49-F238E27FC236}">
                <a16:creationId xmlns:a16="http://schemas.microsoft.com/office/drawing/2014/main" id="{6D1925F2-5344-4F40-B19F-33629070BDB6}"/>
              </a:ext>
            </a:extLst>
          </p:cNvPr>
          <p:cNvSpPr>
            <a:spLocks noGrp="1"/>
          </p:cNvSpPr>
          <p:nvPr/>
        </p:nvSpPr>
        <p:spPr>
          <a:xfrm>
            <a:off x="2578608" y="5486400"/>
            <a:ext cx="3017520" cy="512064"/>
          </a:xfrm>
          <a:prstGeom prst="rect">
            <a:avLst/>
          </a:prstGeom>
          <a:noFill/>
          <a:ln w="0">
            <a:noFill/>
          </a:ln>
        </p:spPr>
        <p:txBody>
          <a:bodyPr wrap="square" lIns="0" tIns="0" rIns="0" bIns="0" anchor="ctr">
            <a:noAutofit/>
          </a:bodyPr>
          <a:lstStyle/>
          <a:p>
            <a:pPr marL="0" indent="0" algn="l">
              <a:lnSpc>
                <a:spcPct val="112000"/>
              </a:lnSpc>
              <a:buNone/>
              <a:defRPr sz="920" i="0">
                <a:solidFill>
                  <a:srgbClr val="171717"/>
                </a:solidFill>
                <a:latin typeface="Malgun Gothic"/>
                <a:ea typeface="Malgun Gothic"/>
                <a:cs typeface="Malgun Gothic"/>
              </a:defRPr>
            </a:pPr>
            <a:r>
              <a:rPr sz="920" i="0">
                <a:solidFill>
                  <a:srgbClr val="171717"/>
                </a:solidFill>
                <a:latin typeface="Malgun Gothic"/>
                <a:ea typeface="Malgun Gothic"/>
                <a:cs typeface="Malgun Gothic"/>
              </a:rPr>
              <a:t>현재 객체와 겹칠 수 있는 영역만 조회한다. 경계를 걸친 객체와 이웃 영역도 포함해 충돌 후보를 빠짐없이 검사한다.</a:t>
            </a:r>
            <a:endParaRPr sz="920"/>
          </a:p>
        </p:txBody>
      </p:sp>
      <p:sp>
        <p:nvSpPr>
          <p:cNvPr id="31" name="Text 26">
            <a:extLst>
              <a:ext uri="{FF2B5EF4-FFF2-40B4-BE49-F238E27FC236}">
                <a16:creationId xmlns:a16="http://schemas.microsoft.com/office/drawing/2014/main" id="{620BAAA6-E017-4E69-A575-113B32CCBD09}"/>
              </a:ext>
            </a:extLst>
          </p:cNvPr>
          <p:cNvSpPr>
            <a:spLocks noGrp="1"/>
          </p:cNvSpPr>
          <p:nvPr/>
        </p:nvSpPr>
        <p:spPr>
          <a:xfrm>
            <a:off x="6912864" y="5687568"/>
            <a:ext cx="4361688" cy="310896"/>
          </a:xfrm>
          <a:prstGeom prst="rect">
            <a:avLst/>
          </a:prstGeom>
          <a:noFill/>
          <a:ln w="0">
            <a:noFill/>
          </a:ln>
        </p:spPr>
        <p:txBody>
          <a:bodyPr wrap="square" lIns="0" tIns="0" rIns="0" bIns="0" anchor="ctr">
            <a:noAutofit/>
          </a:bodyPr>
          <a:lstStyle/>
          <a:p>
            <a:pPr marL="0" indent="0" algn="l">
              <a:lnSpc>
                <a:spcPct val="134000"/>
              </a:lnSpc>
              <a:buNone/>
              <a:defRPr sz="1200" i="0">
                <a:solidFill>
                  <a:srgbClr val="171717"/>
                </a:solidFill>
                <a:latin typeface="Malgun Gothic"/>
                <a:ea typeface="Malgun Gothic"/>
                <a:cs typeface="Malgun Gothic"/>
              </a:defRPr>
            </a:pPr>
            <a:r>
              <a:rPr sz="1200" i="0">
                <a:solidFill>
                  <a:srgbClr val="171717"/>
                </a:solidFill>
                <a:latin typeface="Malgun Gothic"/>
                <a:ea typeface="Malgun Gothic"/>
                <a:cs typeface="Malgun Gothic"/>
              </a:rPr>
              <a:t>"서로 멀리 떨어져 있는 물체끼리는 충돌 검사를 할 필요가 없다"</a:t>
            </a:r>
            <a:endParaRPr sz="1200"/>
          </a:p>
        </p:txBody>
      </p:sp>
      <p:sp>
        <p:nvSpPr>
          <p:cNvPr id="35" name="직사각형 34">
            <a:extLst>
              <a:ext uri="{FF2B5EF4-FFF2-40B4-BE49-F238E27FC236}">
                <a16:creationId xmlns:a16="http://schemas.microsoft.com/office/drawing/2014/main" id="{56323F10-5569-4732-9E5F-75545F6BDB41}"/>
              </a:ext>
            </a:extLst>
          </p:cNvPr>
          <p:cNvSpPr>
            <a:spLocks noGrp="1"/>
          </p:cNvSpPr>
          <p:nvPr/>
        </p:nvSpPr>
        <p:spPr>
          <a:xfrm>
            <a:off x="6053328" y="5522976"/>
            <a:ext cx="5477256"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95086070-7BEF-4DD8-91D6-69E73E25F5B9}"/>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4.6  </a:t>
            </a:r>
            <a:r>
              <a:rPr lang="ko-KR" altLang="en-US" sz="1050" b="1" i="0">
                <a:solidFill>
                  <a:srgbClr val="606060"/>
                </a:solidFill>
                <a:latin typeface="Malgun Gothic"/>
                <a:ea typeface="Malgun Gothic"/>
                <a:cs typeface="Malgun Gothic"/>
              </a:rPr>
              <a:t>쿼드 트리</a:t>
            </a:r>
            <a:endParaRPr sz="1050" b="1" i="0">
              <a:solidFill>
                <a:srgbClr val="606060"/>
              </a:solidFill>
              <a:latin typeface="Malgun Gothic"/>
              <a:ea typeface="Malgun Gothic"/>
              <a:cs typeface="Malgun Gothic"/>
            </a:endParaRPr>
          </a:p>
        </p:txBody>
      </p:sp>
      <p:sp>
        <p:nvSpPr>
          <p:cNvPr id="37" name="직사각형 36">
            <a:extLst>
              <a:ext uri="{FF2B5EF4-FFF2-40B4-BE49-F238E27FC236}">
                <a16:creationId xmlns:a16="http://schemas.microsoft.com/office/drawing/2014/main" id="{B6DD94FB-34CB-4C04-8F56-281439674CB2}"/>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8" name="직사각형 37">
            <a:extLst>
              <a:ext uri="{FF2B5EF4-FFF2-40B4-BE49-F238E27FC236}">
                <a16:creationId xmlns:a16="http://schemas.microsoft.com/office/drawing/2014/main" id="{3EC742F0-631A-43A2-9810-F2808D7DB84A}"/>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응용 ② 게임 개발과 충돌 감지</a:t>
            </a:r>
          </a:p>
        </p:txBody>
      </p:sp>
      <p:sp>
        <p:nvSpPr>
          <p:cNvPr id="39" name="직사각형 38">
            <a:extLst>
              <a:ext uri="{FF2B5EF4-FFF2-40B4-BE49-F238E27FC236}">
                <a16:creationId xmlns:a16="http://schemas.microsoft.com/office/drawing/2014/main" id="{3F827282-3C3B-4F90-AA91-E0E1A7ED99EB}"/>
              </a:ext>
            </a:extLst>
          </p:cNvPr>
          <p:cNvSpPr>
            <a:spLocks noGrp="1"/>
          </p:cNvSpPr>
          <p:nvPr/>
        </p:nvSpPr>
        <p:spPr>
          <a:xfrm>
            <a:off x="609600" y="1381125"/>
            <a:ext cx="10972800" cy="19050"/>
          </a:xfrm>
          <a:prstGeom prst="rect">
            <a:avLst/>
          </a:prstGeom>
          <a:solidFill>
            <a:srgbClr val="171717"/>
          </a:solidFill>
          <a:ln w="0">
            <a:noFill/>
          </a:ln>
        </p:spPr>
      </p:sp>
      <p:sp>
        <p:nvSpPr>
          <p:cNvPr id="40" name="직사각형 39">
            <a:extLst>
              <a:ext uri="{FF2B5EF4-FFF2-40B4-BE49-F238E27FC236}">
                <a16:creationId xmlns:a16="http://schemas.microsoft.com/office/drawing/2014/main" id="{A45FFB46-5FDB-432B-BE10-533549CEBAB0}"/>
              </a:ext>
            </a:extLst>
          </p:cNvPr>
          <p:cNvSpPr>
            <a:spLocks noGrp="1"/>
          </p:cNvSpPr>
          <p:nvPr/>
        </p:nvSpPr>
        <p:spPr>
          <a:xfrm>
            <a:off x="609600" y="6438900"/>
            <a:ext cx="10972800" cy="9525"/>
          </a:xfrm>
          <a:prstGeom prst="rect">
            <a:avLst/>
          </a:prstGeom>
          <a:solidFill>
            <a:srgbClr val="D4D4D4"/>
          </a:solidFill>
          <a:ln w="0">
            <a:noFill/>
          </a:ln>
        </p:spPr>
      </p:sp>
      <p:sp>
        <p:nvSpPr>
          <p:cNvPr id="41" name="직사각형 40">
            <a:extLst>
              <a:ext uri="{FF2B5EF4-FFF2-40B4-BE49-F238E27FC236}">
                <a16:creationId xmlns:a16="http://schemas.microsoft.com/office/drawing/2014/main" id="{61104DC2-9B27-4DCA-8616-625B8F1A6B7F}"/>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2" name="직사각형 41">
            <a:extLst>
              <a:ext uri="{FF2B5EF4-FFF2-40B4-BE49-F238E27FC236}">
                <a16:creationId xmlns:a16="http://schemas.microsoft.com/office/drawing/2014/main" id="{57DEEC1F-7458-49E7-BAC0-B44DB6B20AC4}"/>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107</a:t>
            </a:r>
            <a:endParaRPr sz="1050" b="1" i="0">
              <a:solidFill>
                <a:srgbClr val="171717"/>
              </a:solidFill>
              <a:latin typeface="Consolas"/>
              <a:ea typeface="Consolas"/>
              <a:cs typeface="Consolas"/>
            </a:endParaRPr>
          </a:p>
        </p:txBody>
      </p:sp>
      <p:pic>
        <p:nvPicPr>
          <p:cNvPr id="69" name="그림 68"/>
          <p:cNvPicPr>
            <a:picLocks noChangeAspect="1"/>
          </p:cNvPicPr>
          <p:nvPr/>
        </p:nvPicPr>
        <p:blipFill>
          <a:blip r:embed="rId3"/>
          <a:stretch/>
        </p:blipFill>
        <p:spPr>
          <a:xfrm>
            <a:off x="6226798" y="2523744"/>
            <a:ext cx="5130412" cy="2743200"/>
          </a:xfrm>
          <a:prstGeom prst="rect">
            <a:avLst/>
          </a:prstGeom>
        </p:spPr>
      </p:pic>
    </p:spTree>
    <p:extLst>
      <p:ext uri="{BB962C8B-B14F-4D97-AF65-F5344CB8AC3E}">
        <p14:creationId xmlns:p14="http://schemas.microsoft.com/office/powerpoint/2010/main" val="935715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07EEDB6A-3B68-4E47-9684-BD56A0928052}"/>
              </a:ext>
            </a:extLst>
          </p:cNvPr>
          <p:cNvSpPr>
            <a:spLocks noGrp="1"/>
          </p:cNvSpPr>
          <p:nvPr/>
        </p:nvSpPr>
        <p:spPr>
          <a:xfrm>
            <a:off x="658368" y="1737360"/>
            <a:ext cx="5989320" cy="128016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쿼드 트리는 지형의 LOD(Level of Detail)를 관리하는 데 활용할 수 있다. 가까운 영역은 작은 격자로, 먼 영역은 큰 격자로 표현한다. 화면에 필요한 세밀함을 판단하는 로직과 함께 사용한다.</a:t>
            </a:r>
            <a:endParaRPr sz="1300"/>
          </a:p>
        </p:txBody>
      </p:sp>
      <p:sp>
        <p:nvSpPr>
          <p:cNvPr id="10" name="Text 6">
            <a:extLst>
              <a:ext uri="{FF2B5EF4-FFF2-40B4-BE49-F238E27FC236}">
                <a16:creationId xmlns:a16="http://schemas.microsoft.com/office/drawing/2014/main" id="{BA6B28AF-C59A-4CFD-9D33-118E122C07C0}"/>
              </a:ext>
            </a:extLst>
          </p:cNvPr>
          <p:cNvSpPr>
            <a:spLocks noGrp="1"/>
          </p:cNvSpPr>
          <p:nvPr/>
        </p:nvSpPr>
        <p:spPr>
          <a:xfrm>
            <a:off x="1481328" y="3200400"/>
            <a:ext cx="1554480" cy="84124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가까운 영역</a:t>
            </a:r>
            <a:endParaRPr sz="1300"/>
          </a:p>
        </p:txBody>
      </p:sp>
      <p:sp>
        <p:nvSpPr>
          <p:cNvPr id="11" name="Text 7">
            <a:extLst>
              <a:ext uri="{FF2B5EF4-FFF2-40B4-BE49-F238E27FC236}">
                <a16:creationId xmlns:a16="http://schemas.microsoft.com/office/drawing/2014/main" id="{DFF291C2-4C7F-45F1-8238-9AAA5C0AF6F3}"/>
              </a:ext>
            </a:extLst>
          </p:cNvPr>
          <p:cNvSpPr>
            <a:spLocks noGrp="1"/>
          </p:cNvSpPr>
          <p:nvPr/>
        </p:nvSpPr>
        <p:spPr>
          <a:xfrm>
            <a:off x="3081528" y="3200400"/>
            <a:ext cx="3383280" cy="8412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깊게 분할 → 고해상도 렌더링</a:t>
            </a:r>
            <a:endParaRPr sz="1150"/>
          </a:p>
        </p:txBody>
      </p:sp>
      <p:sp>
        <p:nvSpPr>
          <p:cNvPr id="15" name="Text 10">
            <a:extLst>
              <a:ext uri="{FF2B5EF4-FFF2-40B4-BE49-F238E27FC236}">
                <a16:creationId xmlns:a16="http://schemas.microsoft.com/office/drawing/2014/main" id="{B9F71293-C922-4CEF-9A2B-92F5334B2617}"/>
              </a:ext>
            </a:extLst>
          </p:cNvPr>
          <p:cNvSpPr>
            <a:spLocks noGrp="1"/>
          </p:cNvSpPr>
          <p:nvPr/>
        </p:nvSpPr>
        <p:spPr>
          <a:xfrm>
            <a:off x="1481328" y="4169664"/>
            <a:ext cx="1554480" cy="84124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먼 영역</a:t>
            </a:r>
            <a:endParaRPr sz="1300"/>
          </a:p>
        </p:txBody>
      </p:sp>
      <p:sp>
        <p:nvSpPr>
          <p:cNvPr id="16" name="Text 11">
            <a:extLst>
              <a:ext uri="{FF2B5EF4-FFF2-40B4-BE49-F238E27FC236}">
                <a16:creationId xmlns:a16="http://schemas.microsoft.com/office/drawing/2014/main" id="{3CD1604E-3D3B-45C0-8ABE-BB1F76B71CD4}"/>
              </a:ext>
            </a:extLst>
          </p:cNvPr>
          <p:cNvSpPr>
            <a:spLocks noGrp="1"/>
          </p:cNvSpPr>
          <p:nvPr/>
        </p:nvSpPr>
        <p:spPr>
          <a:xfrm>
            <a:off x="3081528" y="4169664"/>
            <a:ext cx="3383280" cy="8412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얕게 분할 → 저해상도 렌더링</a:t>
            </a:r>
            <a:endParaRPr sz="1150"/>
          </a:p>
        </p:txBody>
      </p:sp>
      <p:sp>
        <p:nvSpPr>
          <p:cNvPr id="20" name="Text 14">
            <a:extLst>
              <a:ext uri="{FF2B5EF4-FFF2-40B4-BE49-F238E27FC236}">
                <a16:creationId xmlns:a16="http://schemas.microsoft.com/office/drawing/2014/main" id="{C12E0315-7040-4C81-8AC4-FA5E2212C372}"/>
              </a:ext>
            </a:extLst>
          </p:cNvPr>
          <p:cNvSpPr>
            <a:spLocks noGrp="1"/>
          </p:cNvSpPr>
          <p:nvPr/>
        </p:nvSpPr>
        <p:spPr>
          <a:xfrm>
            <a:off x="1481328" y="5138928"/>
            <a:ext cx="1554480" cy="841248"/>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결과</a:t>
            </a:r>
            <a:endParaRPr sz="1300"/>
          </a:p>
        </p:txBody>
      </p:sp>
      <p:sp>
        <p:nvSpPr>
          <p:cNvPr id="21" name="Text 15">
            <a:extLst>
              <a:ext uri="{FF2B5EF4-FFF2-40B4-BE49-F238E27FC236}">
                <a16:creationId xmlns:a16="http://schemas.microsoft.com/office/drawing/2014/main" id="{21C8E5E8-40FA-4D22-8789-67921EB36335}"/>
              </a:ext>
            </a:extLst>
          </p:cNvPr>
          <p:cNvSpPr>
            <a:spLocks noGrp="1"/>
          </p:cNvSpPr>
          <p:nvPr/>
        </p:nvSpPr>
        <p:spPr>
          <a:xfrm>
            <a:off x="3081528" y="5138928"/>
            <a:ext cx="3383280" cy="8412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같은 프레임 예산으로 훨씬 넓은 세계를 그린다</a:t>
            </a:r>
            <a:endParaRPr sz="1150"/>
          </a:p>
        </p:txBody>
      </p:sp>
      <p:sp>
        <p:nvSpPr>
          <p:cNvPr id="30" name="직사각형 29">
            <a:extLst>
              <a:ext uri="{FF2B5EF4-FFF2-40B4-BE49-F238E27FC236}">
                <a16:creationId xmlns:a16="http://schemas.microsoft.com/office/drawing/2014/main" id="{D6362A7A-209B-418B-8A32-EA7241CA7620}"/>
              </a:ext>
            </a:extLst>
          </p:cNvPr>
          <p:cNvSpPr>
            <a:spLocks noGrp="1"/>
          </p:cNvSpPr>
          <p:nvPr/>
        </p:nvSpPr>
        <p:spPr>
          <a:xfrm>
            <a:off x="6967728" y="1737360"/>
            <a:ext cx="4562856" cy="9525"/>
          </a:xfrm>
          <a:prstGeom prst="rect">
            <a:avLst/>
          </a:prstGeom>
          <a:solidFill>
            <a:srgbClr val="D4D4D4"/>
          </a:solidFill>
          <a:ln w="0">
            <a:noFill/>
          </a:ln>
        </p:spPr>
      </p:sp>
      <p:sp>
        <p:nvSpPr>
          <p:cNvPr id="31" name="직사각형 30">
            <a:extLst>
              <a:ext uri="{FF2B5EF4-FFF2-40B4-BE49-F238E27FC236}">
                <a16:creationId xmlns:a16="http://schemas.microsoft.com/office/drawing/2014/main" id="{FB43F76D-3484-43EA-8ED2-743B6A410DE0}"/>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4.6  </a:t>
            </a:r>
            <a:r>
              <a:rPr lang="ko-KR" altLang="en-US" sz="1050" b="1" i="0">
                <a:solidFill>
                  <a:srgbClr val="606060"/>
                </a:solidFill>
                <a:latin typeface="Malgun Gothic"/>
                <a:ea typeface="Malgun Gothic"/>
                <a:cs typeface="Malgun Gothic"/>
              </a:rPr>
              <a:t>쿼드 트리</a:t>
            </a:r>
            <a:endParaRPr sz="1050" b="1" i="0">
              <a:solidFill>
                <a:srgbClr val="606060"/>
              </a:solidFill>
              <a:latin typeface="Malgun Gothic"/>
              <a:ea typeface="Malgun Gothic"/>
              <a:cs typeface="Malgun Gothic"/>
            </a:endParaRPr>
          </a:p>
        </p:txBody>
      </p:sp>
      <p:sp>
        <p:nvSpPr>
          <p:cNvPr id="32" name="직사각형 31">
            <a:extLst>
              <a:ext uri="{FF2B5EF4-FFF2-40B4-BE49-F238E27FC236}">
                <a16:creationId xmlns:a16="http://schemas.microsoft.com/office/drawing/2014/main" id="{F2A27A89-E2EB-42AA-A4E2-BA967BE76318}"/>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3" name="직사각형 32">
            <a:extLst>
              <a:ext uri="{FF2B5EF4-FFF2-40B4-BE49-F238E27FC236}">
                <a16:creationId xmlns:a16="http://schemas.microsoft.com/office/drawing/2014/main" id="{FFBF9231-7F88-4B73-8322-B8B486140ED4}"/>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성능의 혁신과 LOD (Level of Detail)</a:t>
            </a:r>
          </a:p>
        </p:txBody>
      </p:sp>
      <p:sp>
        <p:nvSpPr>
          <p:cNvPr id="34" name="직사각형 33">
            <a:extLst>
              <a:ext uri="{FF2B5EF4-FFF2-40B4-BE49-F238E27FC236}">
                <a16:creationId xmlns:a16="http://schemas.microsoft.com/office/drawing/2014/main" id="{D4C08F10-0F5C-4509-B837-E38EB2C8195B}"/>
              </a:ext>
            </a:extLst>
          </p:cNvPr>
          <p:cNvSpPr>
            <a:spLocks noGrp="1"/>
          </p:cNvSpPr>
          <p:nvPr/>
        </p:nvSpPr>
        <p:spPr>
          <a:xfrm>
            <a:off x="609600" y="1381125"/>
            <a:ext cx="10972800" cy="19050"/>
          </a:xfrm>
          <a:prstGeom prst="rect">
            <a:avLst/>
          </a:prstGeom>
          <a:solidFill>
            <a:srgbClr val="171717"/>
          </a:solidFill>
          <a:ln w="0">
            <a:noFill/>
          </a:ln>
        </p:spPr>
      </p:sp>
      <p:sp>
        <p:nvSpPr>
          <p:cNvPr id="35" name="직사각형 34">
            <a:extLst>
              <a:ext uri="{FF2B5EF4-FFF2-40B4-BE49-F238E27FC236}">
                <a16:creationId xmlns:a16="http://schemas.microsoft.com/office/drawing/2014/main" id="{C613D61C-6F4A-4FB0-AE35-82204E8C7A13}"/>
              </a:ext>
            </a:extLst>
          </p:cNvPr>
          <p:cNvSpPr>
            <a:spLocks noGrp="1"/>
          </p:cNvSpPr>
          <p:nvPr/>
        </p:nvSpPr>
        <p:spPr>
          <a:xfrm>
            <a:off x="609600" y="6438900"/>
            <a:ext cx="10972800"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D69771A5-3324-412F-BCEB-818A569BAC8E}"/>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7" name="직사각형 36">
            <a:extLst>
              <a:ext uri="{FF2B5EF4-FFF2-40B4-BE49-F238E27FC236}">
                <a16:creationId xmlns:a16="http://schemas.microsoft.com/office/drawing/2014/main" id="{13DB6B42-50EC-4E94-8251-E2E279F10339}"/>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108</a:t>
            </a:r>
            <a:endParaRPr sz="1050" b="1" i="0">
              <a:solidFill>
                <a:srgbClr val="171717"/>
              </a:solidFill>
              <a:latin typeface="Consolas"/>
              <a:ea typeface="Consolas"/>
              <a:cs typeface="Consolas"/>
            </a:endParaRPr>
          </a:p>
        </p:txBody>
      </p:sp>
      <p:sp>
        <p:nvSpPr>
          <p:cNvPr id="38" name="직사각형 37">
            <a:extLst>
              <a:ext uri="{FF2B5EF4-FFF2-40B4-BE49-F238E27FC236}">
                <a16:creationId xmlns:a16="http://schemas.microsoft.com/office/drawing/2014/main" id="{1B354B20-A507-4E31-9174-57CF670401EA}"/>
              </a:ext>
            </a:extLst>
          </p:cNvPr>
          <p:cNvSpPr>
            <a:spLocks noGrp="1"/>
          </p:cNvSpPr>
          <p:nvPr/>
        </p:nvSpPr>
        <p:spPr>
          <a:xfrm>
            <a:off x="7571242" y="2090318"/>
            <a:ext cx="3355924" cy="3513125"/>
          </a:xfrm>
          <a:prstGeom prst="rect">
            <a:avLst/>
          </a:prstGeom>
          <a:solidFill>
            <a:srgbClr val="FFFFFF"/>
          </a:solidFill>
          <a:ln w="9525">
            <a:solidFill>
              <a:srgbClr val="292929"/>
            </a:solidFill>
          </a:ln>
        </p:spPr>
      </p:sp>
      <p:sp>
        <p:nvSpPr>
          <p:cNvPr id="39" name="직사각형 38">
            <a:extLst>
              <a:ext uri="{FF2B5EF4-FFF2-40B4-BE49-F238E27FC236}">
                <a16:creationId xmlns:a16="http://schemas.microsoft.com/office/drawing/2014/main" id="{86CCCC00-F7E8-4F5B-A749-9077711E2D85}"/>
              </a:ext>
            </a:extLst>
          </p:cNvPr>
          <p:cNvSpPr>
            <a:spLocks noGrp="1"/>
          </p:cNvSpPr>
          <p:nvPr/>
        </p:nvSpPr>
        <p:spPr>
          <a:xfrm>
            <a:off x="9249204" y="2090318"/>
            <a:ext cx="8390" cy="3513125"/>
          </a:xfrm>
          <a:prstGeom prst="rect">
            <a:avLst/>
          </a:prstGeom>
          <a:solidFill>
            <a:srgbClr val="8CA3A7"/>
          </a:solidFill>
          <a:ln w="9525">
            <a:noFill/>
          </a:ln>
        </p:spPr>
      </p:sp>
      <p:sp>
        <p:nvSpPr>
          <p:cNvPr id="40" name="직사각형 39">
            <a:extLst>
              <a:ext uri="{FF2B5EF4-FFF2-40B4-BE49-F238E27FC236}">
                <a16:creationId xmlns:a16="http://schemas.microsoft.com/office/drawing/2014/main" id="{65DDD13C-81BA-4FFC-9066-D14440CC9A97}"/>
              </a:ext>
            </a:extLst>
          </p:cNvPr>
          <p:cNvSpPr>
            <a:spLocks noGrp="1"/>
          </p:cNvSpPr>
          <p:nvPr/>
        </p:nvSpPr>
        <p:spPr>
          <a:xfrm>
            <a:off x="7571242" y="3846881"/>
            <a:ext cx="3355924" cy="8266"/>
          </a:xfrm>
          <a:prstGeom prst="rect">
            <a:avLst/>
          </a:prstGeom>
          <a:solidFill>
            <a:srgbClr val="8CA3A7"/>
          </a:solidFill>
          <a:ln w="9525">
            <a:noFill/>
          </a:ln>
        </p:spPr>
      </p:sp>
      <p:sp>
        <p:nvSpPr>
          <p:cNvPr id="41" name="직사각형 40">
            <a:extLst>
              <a:ext uri="{FF2B5EF4-FFF2-40B4-BE49-F238E27FC236}">
                <a16:creationId xmlns:a16="http://schemas.microsoft.com/office/drawing/2014/main" id="{72C55E27-DA18-4131-B23A-81C979F458D7}"/>
              </a:ext>
            </a:extLst>
          </p:cNvPr>
          <p:cNvSpPr>
            <a:spLocks noGrp="1"/>
          </p:cNvSpPr>
          <p:nvPr/>
        </p:nvSpPr>
        <p:spPr>
          <a:xfrm>
            <a:off x="10088185" y="2090318"/>
            <a:ext cx="8390" cy="1756562"/>
          </a:xfrm>
          <a:prstGeom prst="rect">
            <a:avLst/>
          </a:prstGeom>
          <a:solidFill>
            <a:srgbClr val="8CA3A7"/>
          </a:solidFill>
          <a:ln w="9525">
            <a:noFill/>
          </a:ln>
        </p:spPr>
      </p:sp>
      <p:sp>
        <p:nvSpPr>
          <p:cNvPr id="42" name="직사각형 41">
            <a:extLst>
              <a:ext uri="{FF2B5EF4-FFF2-40B4-BE49-F238E27FC236}">
                <a16:creationId xmlns:a16="http://schemas.microsoft.com/office/drawing/2014/main" id="{14CCB2A2-35A1-4079-9A3E-BF3101459A01}"/>
              </a:ext>
            </a:extLst>
          </p:cNvPr>
          <p:cNvSpPr>
            <a:spLocks noGrp="1"/>
          </p:cNvSpPr>
          <p:nvPr/>
        </p:nvSpPr>
        <p:spPr>
          <a:xfrm>
            <a:off x="9249204" y="2968600"/>
            <a:ext cx="1677962" cy="8266"/>
          </a:xfrm>
          <a:prstGeom prst="rect">
            <a:avLst/>
          </a:prstGeom>
          <a:solidFill>
            <a:srgbClr val="8CA3A7"/>
          </a:solidFill>
          <a:ln w="9525">
            <a:noFill/>
          </a:ln>
        </p:spPr>
      </p:sp>
      <p:sp>
        <p:nvSpPr>
          <p:cNvPr id="43" name="직사각형 42">
            <a:extLst>
              <a:ext uri="{FF2B5EF4-FFF2-40B4-BE49-F238E27FC236}">
                <a16:creationId xmlns:a16="http://schemas.microsoft.com/office/drawing/2014/main" id="{8980CB90-3613-4C1B-931B-58DC1974519F}"/>
              </a:ext>
            </a:extLst>
          </p:cNvPr>
          <p:cNvSpPr>
            <a:spLocks noGrp="1"/>
          </p:cNvSpPr>
          <p:nvPr/>
        </p:nvSpPr>
        <p:spPr>
          <a:xfrm>
            <a:off x="10507675" y="2090318"/>
            <a:ext cx="8390" cy="878281"/>
          </a:xfrm>
          <a:prstGeom prst="rect">
            <a:avLst/>
          </a:prstGeom>
          <a:solidFill>
            <a:srgbClr val="8CA3A7"/>
          </a:solidFill>
          <a:ln w="9525">
            <a:noFill/>
          </a:ln>
        </p:spPr>
      </p:sp>
      <p:sp>
        <p:nvSpPr>
          <p:cNvPr id="44" name="직사각형 43">
            <a:extLst>
              <a:ext uri="{FF2B5EF4-FFF2-40B4-BE49-F238E27FC236}">
                <a16:creationId xmlns:a16="http://schemas.microsoft.com/office/drawing/2014/main" id="{28BF91B3-3961-4BBE-A344-7A4CE012C056}"/>
              </a:ext>
            </a:extLst>
          </p:cNvPr>
          <p:cNvSpPr>
            <a:spLocks noGrp="1"/>
          </p:cNvSpPr>
          <p:nvPr/>
        </p:nvSpPr>
        <p:spPr>
          <a:xfrm>
            <a:off x="10088185" y="2529459"/>
            <a:ext cx="838981" cy="8266"/>
          </a:xfrm>
          <a:prstGeom prst="rect">
            <a:avLst/>
          </a:prstGeom>
          <a:solidFill>
            <a:srgbClr val="8CA3A7"/>
          </a:solidFill>
          <a:ln w="9525">
            <a:noFill/>
          </a:ln>
        </p:spPr>
      </p:sp>
      <p:sp>
        <p:nvSpPr>
          <p:cNvPr id="45" name="직사각형 44">
            <a:extLst>
              <a:ext uri="{FF2B5EF4-FFF2-40B4-BE49-F238E27FC236}">
                <a16:creationId xmlns:a16="http://schemas.microsoft.com/office/drawing/2014/main" id="{3C28D8D9-CA77-4A90-969F-608EDE06B89E}"/>
              </a:ext>
            </a:extLst>
          </p:cNvPr>
          <p:cNvSpPr>
            <a:spLocks noGrp="1"/>
          </p:cNvSpPr>
          <p:nvPr/>
        </p:nvSpPr>
        <p:spPr>
          <a:xfrm>
            <a:off x="10507675" y="2968600"/>
            <a:ext cx="8390" cy="878281"/>
          </a:xfrm>
          <a:prstGeom prst="rect">
            <a:avLst/>
          </a:prstGeom>
          <a:solidFill>
            <a:srgbClr val="8CA3A7"/>
          </a:solidFill>
          <a:ln w="9525">
            <a:noFill/>
          </a:ln>
        </p:spPr>
      </p:sp>
      <p:sp>
        <p:nvSpPr>
          <p:cNvPr id="46" name="직사각형 45">
            <a:extLst>
              <a:ext uri="{FF2B5EF4-FFF2-40B4-BE49-F238E27FC236}">
                <a16:creationId xmlns:a16="http://schemas.microsoft.com/office/drawing/2014/main" id="{AE163D69-F7DD-4449-85FE-49CFCBC3303B}"/>
              </a:ext>
            </a:extLst>
          </p:cNvPr>
          <p:cNvSpPr>
            <a:spLocks noGrp="1"/>
          </p:cNvSpPr>
          <p:nvPr/>
        </p:nvSpPr>
        <p:spPr>
          <a:xfrm>
            <a:off x="10088185" y="3407740"/>
            <a:ext cx="838981" cy="8266"/>
          </a:xfrm>
          <a:prstGeom prst="rect">
            <a:avLst/>
          </a:prstGeom>
          <a:solidFill>
            <a:srgbClr val="8CA3A7"/>
          </a:solidFill>
          <a:ln w="9525">
            <a:noFill/>
          </a:ln>
        </p:spPr>
      </p:sp>
      <p:sp>
        <p:nvSpPr>
          <p:cNvPr id="47" name="타원 46">
            <a:extLst>
              <a:ext uri="{FF2B5EF4-FFF2-40B4-BE49-F238E27FC236}">
                <a16:creationId xmlns:a16="http://schemas.microsoft.com/office/drawing/2014/main" id="{63AA16D8-D12D-4D9E-BDFF-B5C6366B79C4}"/>
              </a:ext>
            </a:extLst>
          </p:cNvPr>
          <p:cNvSpPr>
            <a:spLocks noGrp="1"/>
          </p:cNvSpPr>
          <p:nvPr/>
        </p:nvSpPr>
        <p:spPr>
          <a:xfrm>
            <a:off x="10172083" y="2214311"/>
            <a:ext cx="57150" cy="57150"/>
          </a:xfrm>
          <a:prstGeom prst="ellipse">
            <a:avLst/>
          </a:prstGeom>
          <a:solidFill>
            <a:srgbClr val="DB7251"/>
          </a:solidFill>
          <a:ln w="0">
            <a:noFill/>
          </a:ln>
        </p:spPr>
      </p:sp>
      <p:sp>
        <p:nvSpPr>
          <p:cNvPr id="48" name="타원 47">
            <a:extLst>
              <a:ext uri="{FF2B5EF4-FFF2-40B4-BE49-F238E27FC236}">
                <a16:creationId xmlns:a16="http://schemas.microsoft.com/office/drawing/2014/main" id="{0400F52F-70D5-4CB3-9227-D88BAAC5B589}"/>
              </a:ext>
            </a:extLst>
          </p:cNvPr>
          <p:cNvSpPr>
            <a:spLocks noGrp="1"/>
          </p:cNvSpPr>
          <p:nvPr/>
        </p:nvSpPr>
        <p:spPr>
          <a:xfrm>
            <a:off x="10214032" y="2668951"/>
            <a:ext cx="57150" cy="57150"/>
          </a:xfrm>
          <a:prstGeom prst="ellipse">
            <a:avLst/>
          </a:prstGeom>
          <a:solidFill>
            <a:srgbClr val="DB7251"/>
          </a:solidFill>
          <a:ln w="0">
            <a:noFill/>
          </a:ln>
        </p:spPr>
      </p:sp>
      <p:sp>
        <p:nvSpPr>
          <p:cNvPr id="49" name="타원 48">
            <a:extLst>
              <a:ext uri="{FF2B5EF4-FFF2-40B4-BE49-F238E27FC236}">
                <a16:creationId xmlns:a16="http://schemas.microsoft.com/office/drawing/2014/main" id="{17E22991-C45B-4AD8-AE97-6073E97CBF8B}"/>
              </a:ext>
            </a:extLst>
          </p:cNvPr>
          <p:cNvSpPr>
            <a:spLocks noGrp="1"/>
          </p:cNvSpPr>
          <p:nvPr/>
        </p:nvSpPr>
        <p:spPr>
          <a:xfrm>
            <a:off x="10255981" y="3123590"/>
            <a:ext cx="57150" cy="57150"/>
          </a:xfrm>
          <a:prstGeom prst="ellipse">
            <a:avLst/>
          </a:prstGeom>
          <a:solidFill>
            <a:srgbClr val="DB7251"/>
          </a:solidFill>
          <a:ln w="0">
            <a:noFill/>
          </a:ln>
        </p:spPr>
      </p:sp>
      <p:sp>
        <p:nvSpPr>
          <p:cNvPr id="50" name="타원 49">
            <a:extLst>
              <a:ext uri="{FF2B5EF4-FFF2-40B4-BE49-F238E27FC236}">
                <a16:creationId xmlns:a16="http://schemas.microsoft.com/office/drawing/2014/main" id="{7C4AF8B1-0082-410A-8F47-0F69E0C9DF21}"/>
              </a:ext>
            </a:extLst>
          </p:cNvPr>
          <p:cNvSpPr>
            <a:spLocks noGrp="1"/>
          </p:cNvSpPr>
          <p:nvPr/>
        </p:nvSpPr>
        <p:spPr>
          <a:xfrm>
            <a:off x="10297930" y="2255642"/>
            <a:ext cx="57150" cy="57150"/>
          </a:xfrm>
          <a:prstGeom prst="ellipse">
            <a:avLst/>
          </a:prstGeom>
          <a:solidFill>
            <a:srgbClr val="DB7251"/>
          </a:solidFill>
          <a:ln w="0">
            <a:noFill/>
          </a:ln>
        </p:spPr>
      </p:sp>
      <p:sp>
        <p:nvSpPr>
          <p:cNvPr id="51" name="타원 50">
            <a:extLst>
              <a:ext uri="{FF2B5EF4-FFF2-40B4-BE49-F238E27FC236}">
                <a16:creationId xmlns:a16="http://schemas.microsoft.com/office/drawing/2014/main" id="{E57BAF88-2816-4E09-9380-A8442DF404A0}"/>
              </a:ext>
            </a:extLst>
          </p:cNvPr>
          <p:cNvSpPr>
            <a:spLocks noGrp="1"/>
          </p:cNvSpPr>
          <p:nvPr/>
        </p:nvSpPr>
        <p:spPr>
          <a:xfrm>
            <a:off x="10339879" y="2710282"/>
            <a:ext cx="57150" cy="57150"/>
          </a:xfrm>
          <a:prstGeom prst="ellipse">
            <a:avLst/>
          </a:prstGeom>
          <a:solidFill>
            <a:srgbClr val="DB7251"/>
          </a:solidFill>
          <a:ln w="0">
            <a:noFill/>
          </a:ln>
        </p:spPr>
      </p:sp>
      <p:sp>
        <p:nvSpPr>
          <p:cNvPr id="52" name="타원 51">
            <a:extLst>
              <a:ext uri="{FF2B5EF4-FFF2-40B4-BE49-F238E27FC236}">
                <a16:creationId xmlns:a16="http://schemas.microsoft.com/office/drawing/2014/main" id="{A434B6A0-0BFD-46A3-B3D9-CED1B9DE6539}"/>
              </a:ext>
            </a:extLst>
          </p:cNvPr>
          <p:cNvSpPr>
            <a:spLocks noGrp="1"/>
          </p:cNvSpPr>
          <p:nvPr/>
        </p:nvSpPr>
        <p:spPr>
          <a:xfrm>
            <a:off x="10381828" y="3164921"/>
            <a:ext cx="57150" cy="57150"/>
          </a:xfrm>
          <a:prstGeom prst="ellipse">
            <a:avLst/>
          </a:prstGeom>
          <a:solidFill>
            <a:srgbClr val="DB7251"/>
          </a:solidFill>
          <a:ln w="0">
            <a:noFill/>
          </a:ln>
        </p:spPr>
      </p:sp>
      <p:sp>
        <p:nvSpPr>
          <p:cNvPr id="53" name="타원 52">
            <a:extLst>
              <a:ext uri="{FF2B5EF4-FFF2-40B4-BE49-F238E27FC236}">
                <a16:creationId xmlns:a16="http://schemas.microsoft.com/office/drawing/2014/main" id="{FD406071-9025-42D4-80A4-12E671E77F86}"/>
              </a:ext>
            </a:extLst>
          </p:cNvPr>
          <p:cNvSpPr>
            <a:spLocks noGrp="1"/>
          </p:cNvSpPr>
          <p:nvPr/>
        </p:nvSpPr>
        <p:spPr>
          <a:xfrm>
            <a:off x="10423777" y="2296973"/>
            <a:ext cx="57150" cy="57150"/>
          </a:xfrm>
          <a:prstGeom prst="ellipse">
            <a:avLst/>
          </a:prstGeom>
          <a:solidFill>
            <a:srgbClr val="DB7251"/>
          </a:solidFill>
          <a:ln w="0">
            <a:noFill/>
          </a:ln>
        </p:spPr>
      </p:sp>
      <p:sp>
        <p:nvSpPr>
          <p:cNvPr id="54" name="타원 53">
            <a:extLst>
              <a:ext uri="{FF2B5EF4-FFF2-40B4-BE49-F238E27FC236}">
                <a16:creationId xmlns:a16="http://schemas.microsoft.com/office/drawing/2014/main" id="{34ABCA0D-A0AB-4D35-AF24-FA4AB11E2C4B}"/>
              </a:ext>
            </a:extLst>
          </p:cNvPr>
          <p:cNvSpPr>
            <a:spLocks noGrp="1"/>
          </p:cNvSpPr>
          <p:nvPr/>
        </p:nvSpPr>
        <p:spPr>
          <a:xfrm>
            <a:off x="10465726" y="2751612"/>
            <a:ext cx="57150" cy="57150"/>
          </a:xfrm>
          <a:prstGeom prst="ellipse">
            <a:avLst/>
          </a:prstGeom>
          <a:solidFill>
            <a:srgbClr val="DB7251"/>
          </a:solidFill>
          <a:ln w="0">
            <a:noFill/>
          </a:ln>
        </p:spPr>
      </p:sp>
      <p:sp>
        <p:nvSpPr>
          <p:cNvPr id="55" name="타원 54">
            <a:extLst>
              <a:ext uri="{FF2B5EF4-FFF2-40B4-BE49-F238E27FC236}">
                <a16:creationId xmlns:a16="http://schemas.microsoft.com/office/drawing/2014/main" id="{0EF540B9-CEE4-4756-BCC6-63DD80914216}"/>
              </a:ext>
            </a:extLst>
          </p:cNvPr>
          <p:cNvSpPr>
            <a:spLocks noGrp="1"/>
          </p:cNvSpPr>
          <p:nvPr/>
        </p:nvSpPr>
        <p:spPr>
          <a:xfrm>
            <a:off x="10507675" y="3206252"/>
            <a:ext cx="57150" cy="57150"/>
          </a:xfrm>
          <a:prstGeom prst="ellipse">
            <a:avLst/>
          </a:prstGeom>
          <a:solidFill>
            <a:srgbClr val="DB7251"/>
          </a:solidFill>
          <a:ln w="0">
            <a:noFill/>
          </a:ln>
        </p:spPr>
      </p:sp>
      <p:sp>
        <p:nvSpPr>
          <p:cNvPr id="56" name="타원 55">
            <a:extLst>
              <a:ext uri="{FF2B5EF4-FFF2-40B4-BE49-F238E27FC236}">
                <a16:creationId xmlns:a16="http://schemas.microsoft.com/office/drawing/2014/main" id="{8E8D768A-05BB-4C3A-B957-E6A0913198CE}"/>
              </a:ext>
            </a:extLst>
          </p:cNvPr>
          <p:cNvSpPr>
            <a:spLocks noGrp="1"/>
          </p:cNvSpPr>
          <p:nvPr/>
        </p:nvSpPr>
        <p:spPr>
          <a:xfrm>
            <a:off x="10549624" y="2338304"/>
            <a:ext cx="57150" cy="57150"/>
          </a:xfrm>
          <a:prstGeom prst="ellipse">
            <a:avLst/>
          </a:prstGeom>
          <a:solidFill>
            <a:srgbClr val="DB7251"/>
          </a:solidFill>
          <a:ln w="0">
            <a:noFill/>
          </a:ln>
        </p:spPr>
      </p:sp>
      <p:sp>
        <p:nvSpPr>
          <p:cNvPr id="57" name="타원 56">
            <a:extLst>
              <a:ext uri="{FF2B5EF4-FFF2-40B4-BE49-F238E27FC236}">
                <a16:creationId xmlns:a16="http://schemas.microsoft.com/office/drawing/2014/main" id="{AFC15EBD-667A-41C9-B64F-02E914985BFC}"/>
              </a:ext>
            </a:extLst>
          </p:cNvPr>
          <p:cNvSpPr>
            <a:spLocks noGrp="1"/>
          </p:cNvSpPr>
          <p:nvPr/>
        </p:nvSpPr>
        <p:spPr>
          <a:xfrm>
            <a:off x="10591573" y="2792943"/>
            <a:ext cx="57150" cy="57150"/>
          </a:xfrm>
          <a:prstGeom prst="ellipse">
            <a:avLst/>
          </a:prstGeom>
          <a:solidFill>
            <a:srgbClr val="DB7251"/>
          </a:solidFill>
          <a:ln w="0">
            <a:noFill/>
          </a:ln>
        </p:spPr>
      </p:sp>
      <p:sp>
        <p:nvSpPr>
          <p:cNvPr id="58" name="타원 57">
            <a:extLst>
              <a:ext uri="{FF2B5EF4-FFF2-40B4-BE49-F238E27FC236}">
                <a16:creationId xmlns:a16="http://schemas.microsoft.com/office/drawing/2014/main" id="{150FF919-5200-4511-A70F-9D6BE1C2D9D8}"/>
              </a:ext>
            </a:extLst>
          </p:cNvPr>
          <p:cNvSpPr>
            <a:spLocks noGrp="1"/>
          </p:cNvSpPr>
          <p:nvPr/>
        </p:nvSpPr>
        <p:spPr>
          <a:xfrm>
            <a:off x="10633522" y="3247583"/>
            <a:ext cx="57150" cy="57150"/>
          </a:xfrm>
          <a:prstGeom prst="ellipse">
            <a:avLst/>
          </a:prstGeom>
          <a:solidFill>
            <a:srgbClr val="DB7251"/>
          </a:solidFill>
          <a:ln w="0">
            <a:noFill/>
          </a:ln>
        </p:spPr>
      </p:sp>
      <p:sp>
        <p:nvSpPr>
          <p:cNvPr id="59" name="타원 58">
            <a:extLst>
              <a:ext uri="{FF2B5EF4-FFF2-40B4-BE49-F238E27FC236}">
                <a16:creationId xmlns:a16="http://schemas.microsoft.com/office/drawing/2014/main" id="{09672ED8-0921-4DDC-B390-F9D4856A1625}"/>
              </a:ext>
            </a:extLst>
          </p:cNvPr>
          <p:cNvSpPr>
            <a:spLocks noGrp="1"/>
          </p:cNvSpPr>
          <p:nvPr/>
        </p:nvSpPr>
        <p:spPr>
          <a:xfrm>
            <a:off x="10675471" y="2379635"/>
            <a:ext cx="57150" cy="57150"/>
          </a:xfrm>
          <a:prstGeom prst="ellipse">
            <a:avLst/>
          </a:prstGeom>
          <a:solidFill>
            <a:srgbClr val="DB7251"/>
          </a:solidFill>
          <a:ln w="0">
            <a:noFill/>
          </a:ln>
        </p:spPr>
      </p:sp>
      <p:sp>
        <p:nvSpPr>
          <p:cNvPr id="60" name="타원 59">
            <a:extLst>
              <a:ext uri="{FF2B5EF4-FFF2-40B4-BE49-F238E27FC236}">
                <a16:creationId xmlns:a16="http://schemas.microsoft.com/office/drawing/2014/main" id="{021DCF24-0188-478C-8B50-843057F4159D}"/>
              </a:ext>
            </a:extLst>
          </p:cNvPr>
          <p:cNvSpPr>
            <a:spLocks noGrp="1"/>
          </p:cNvSpPr>
          <p:nvPr/>
        </p:nvSpPr>
        <p:spPr>
          <a:xfrm>
            <a:off x="10717420" y="2834274"/>
            <a:ext cx="57150" cy="57150"/>
          </a:xfrm>
          <a:prstGeom prst="ellipse">
            <a:avLst/>
          </a:prstGeom>
          <a:solidFill>
            <a:srgbClr val="DB7251"/>
          </a:solidFill>
          <a:ln w="0">
            <a:noFill/>
          </a:ln>
        </p:spPr>
      </p:sp>
      <p:sp>
        <p:nvSpPr>
          <p:cNvPr id="61" name="타원 60">
            <a:extLst>
              <a:ext uri="{FF2B5EF4-FFF2-40B4-BE49-F238E27FC236}">
                <a16:creationId xmlns:a16="http://schemas.microsoft.com/office/drawing/2014/main" id="{03FE5B5A-86D6-4883-ACE0-4EF39E5C52FC}"/>
              </a:ext>
            </a:extLst>
          </p:cNvPr>
          <p:cNvSpPr>
            <a:spLocks noGrp="1"/>
          </p:cNvSpPr>
          <p:nvPr/>
        </p:nvSpPr>
        <p:spPr>
          <a:xfrm>
            <a:off x="10759370" y="3288914"/>
            <a:ext cx="57150" cy="57150"/>
          </a:xfrm>
          <a:prstGeom prst="ellipse">
            <a:avLst/>
          </a:prstGeom>
          <a:solidFill>
            <a:srgbClr val="DB7251"/>
          </a:solidFill>
          <a:ln w="0">
            <a:noFill/>
          </a:ln>
        </p:spPr>
      </p:sp>
      <p:sp>
        <p:nvSpPr>
          <p:cNvPr id="62" name="타원 61">
            <a:extLst>
              <a:ext uri="{FF2B5EF4-FFF2-40B4-BE49-F238E27FC236}">
                <a16:creationId xmlns:a16="http://schemas.microsoft.com/office/drawing/2014/main" id="{C99149A2-8867-4BFB-BDC6-C1B00EF939C7}"/>
              </a:ext>
            </a:extLst>
          </p:cNvPr>
          <p:cNvSpPr>
            <a:spLocks noGrp="1"/>
          </p:cNvSpPr>
          <p:nvPr/>
        </p:nvSpPr>
        <p:spPr>
          <a:xfrm>
            <a:off x="10801319" y="2420965"/>
            <a:ext cx="57150" cy="57150"/>
          </a:xfrm>
          <a:prstGeom prst="ellipse">
            <a:avLst/>
          </a:prstGeom>
          <a:solidFill>
            <a:srgbClr val="DB7251"/>
          </a:solidFill>
          <a:ln w="0">
            <a:noFill/>
          </a:ln>
        </p:spPr>
      </p:sp>
      <p:sp>
        <p:nvSpPr>
          <p:cNvPr id="63" name="타원 62">
            <a:extLst>
              <a:ext uri="{FF2B5EF4-FFF2-40B4-BE49-F238E27FC236}">
                <a16:creationId xmlns:a16="http://schemas.microsoft.com/office/drawing/2014/main" id="{A8C595B8-370F-4EA1-BD9B-F3BD30FB2831}"/>
              </a:ext>
            </a:extLst>
          </p:cNvPr>
          <p:cNvSpPr>
            <a:spLocks noGrp="1"/>
          </p:cNvSpPr>
          <p:nvPr/>
        </p:nvSpPr>
        <p:spPr>
          <a:xfrm>
            <a:off x="10172083" y="2875605"/>
            <a:ext cx="57150" cy="57150"/>
          </a:xfrm>
          <a:prstGeom prst="ellipse">
            <a:avLst/>
          </a:prstGeom>
          <a:solidFill>
            <a:srgbClr val="DB7251"/>
          </a:solidFill>
          <a:ln w="0">
            <a:noFill/>
          </a:ln>
        </p:spPr>
      </p:sp>
      <p:sp>
        <p:nvSpPr>
          <p:cNvPr id="64" name="타원 63">
            <a:extLst>
              <a:ext uri="{FF2B5EF4-FFF2-40B4-BE49-F238E27FC236}">
                <a16:creationId xmlns:a16="http://schemas.microsoft.com/office/drawing/2014/main" id="{E5DB6C87-DF53-4E98-8345-6EB8D87BB4B3}"/>
              </a:ext>
            </a:extLst>
          </p:cNvPr>
          <p:cNvSpPr>
            <a:spLocks noGrp="1"/>
          </p:cNvSpPr>
          <p:nvPr/>
        </p:nvSpPr>
        <p:spPr>
          <a:xfrm>
            <a:off x="10214032" y="3330245"/>
            <a:ext cx="57150" cy="57150"/>
          </a:xfrm>
          <a:prstGeom prst="ellipse">
            <a:avLst/>
          </a:prstGeom>
          <a:solidFill>
            <a:srgbClr val="DB7251"/>
          </a:solidFill>
          <a:ln w="0">
            <a:noFill/>
          </a:ln>
        </p:spPr>
      </p:sp>
      <p:sp>
        <p:nvSpPr>
          <p:cNvPr id="65" name="타원 64">
            <a:extLst>
              <a:ext uri="{FF2B5EF4-FFF2-40B4-BE49-F238E27FC236}">
                <a16:creationId xmlns:a16="http://schemas.microsoft.com/office/drawing/2014/main" id="{94D0791B-5F09-4593-BC59-37BF2E90EC42}"/>
              </a:ext>
            </a:extLst>
          </p:cNvPr>
          <p:cNvSpPr>
            <a:spLocks noGrp="1"/>
          </p:cNvSpPr>
          <p:nvPr/>
        </p:nvSpPr>
        <p:spPr>
          <a:xfrm>
            <a:off x="10255981" y="2462296"/>
            <a:ext cx="57150" cy="57150"/>
          </a:xfrm>
          <a:prstGeom prst="ellipse">
            <a:avLst/>
          </a:prstGeom>
          <a:solidFill>
            <a:srgbClr val="DB7251"/>
          </a:solidFill>
          <a:ln w="0">
            <a:noFill/>
          </a:ln>
        </p:spPr>
      </p:sp>
      <p:sp>
        <p:nvSpPr>
          <p:cNvPr id="66" name="타원 65">
            <a:extLst>
              <a:ext uri="{FF2B5EF4-FFF2-40B4-BE49-F238E27FC236}">
                <a16:creationId xmlns:a16="http://schemas.microsoft.com/office/drawing/2014/main" id="{31533D9B-6AC0-447B-8C3C-58BDA44E6F22}"/>
              </a:ext>
            </a:extLst>
          </p:cNvPr>
          <p:cNvSpPr>
            <a:spLocks noGrp="1"/>
          </p:cNvSpPr>
          <p:nvPr/>
        </p:nvSpPr>
        <p:spPr>
          <a:xfrm>
            <a:off x="10297930" y="2916936"/>
            <a:ext cx="57150" cy="57150"/>
          </a:xfrm>
          <a:prstGeom prst="ellipse">
            <a:avLst/>
          </a:prstGeom>
          <a:solidFill>
            <a:srgbClr val="DB7251"/>
          </a:solidFill>
          <a:ln w="0">
            <a:noFill/>
          </a:ln>
        </p:spPr>
      </p:sp>
      <p:sp>
        <p:nvSpPr>
          <p:cNvPr id="67" name="타원 66">
            <a:extLst>
              <a:ext uri="{FF2B5EF4-FFF2-40B4-BE49-F238E27FC236}">
                <a16:creationId xmlns:a16="http://schemas.microsoft.com/office/drawing/2014/main" id="{F93C9822-1A12-4FDF-A78E-F42FC012512B}"/>
              </a:ext>
            </a:extLst>
          </p:cNvPr>
          <p:cNvSpPr>
            <a:spLocks noGrp="1"/>
          </p:cNvSpPr>
          <p:nvPr/>
        </p:nvSpPr>
        <p:spPr>
          <a:xfrm>
            <a:off x="10339879" y="3371576"/>
            <a:ext cx="57150" cy="57150"/>
          </a:xfrm>
          <a:prstGeom prst="ellipse">
            <a:avLst/>
          </a:prstGeom>
          <a:solidFill>
            <a:srgbClr val="DB7251"/>
          </a:solidFill>
          <a:ln w="0">
            <a:noFill/>
          </a:ln>
        </p:spPr>
      </p:sp>
      <p:sp>
        <p:nvSpPr>
          <p:cNvPr id="68" name="타원 67">
            <a:extLst>
              <a:ext uri="{FF2B5EF4-FFF2-40B4-BE49-F238E27FC236}">
                <a16:creationId xmlns:a16="http://schemas.microsoft.com/office/drawing/2014/main" id="{91066825-2198-40E8-B658-1C8CB7D9A519}"/>
              </a:ext>
            </a:extLst>
          </p:cNvPr>
          <p:cNvSpPr>
            <a:spLocks noGrp="1"/>
          </p:cNvSpPr>
          <p:nvPr/>
        </p:nvSpPr>
        <p:spPr>
          <a:xfrm>
            <a:off x="10381828" y="2503627"/>
            <a:ext cx="57150" cy="57150"/>
          </a:xfrm>
          <a:prstGeom prst="ellipse">
            <a:avLst/>
          </a:prstGeom>
          <a:solidFill>
            <a:srgbClr val="DB7251"/>
          </a:solidFill>
          <a:ln w="0">
            <a:noFill/>
          </a:ln>
        </p:spPr>
      </p:sp>
      <p:sp>
        <p:nvSpPr>
          <p:cNvPr id="69" name="타원 68">
            <a:extLst>
              <a:ext uri="{FF2B5EF4-FFF2-40B4-BE49-F238E27FC236}">
                <a16:creationId xmlns:a16="http://schemas.microsoft.com/office/drawing/2014/main" id="{79B96D2D-7C21-41DB-9940-737B9240805C}"/>
              </a:ext>
            </a:extLst>
          </p:cNvPr>
          <p:cNvSpPr>
            <a:spLocks noGrp="1"/>
          </p:cNvSpPr>
          <p:nvPr/>
        </p:nvSpPr>
        <p:spPr>
          <a:xfrm>
            <a:off x="10423777" y="2958267"/>
            <a:ext cx="57150" cy="57150"/>
          </a:xfrm>
          <a:prstGeom prst="ellipse">
            <a:avLst/>
          </a:prstGeom>
          <a:solidFill>
            <a:srgbClr val="DB7251"/>
          </a:solidFill>
          <a:ln w="0">
            <a:noFill/>
          </a:ln>
        </p:spPr>
      </p:sp>
      <p:sp>
        <p:nvSpPr>
          <p:cNvPr id="70" name="타원 69">
            <a:extLst>
              <a:ext uri="{FF2B5EF4-FFF2-40B4-BE49-F238E27FC236}">
                <a16:creationId xmlns:a16="http://schemas.microsoft.com/office/drawing/2014/main" id="{EEF15932-1B2D-4C5A-BDC0-71D3130D4419}"/>
              </a:ext>
            </a:extLst>
          </p:cNvPr>
          <p:cNvSpPr>
            <a:spLocks noGrp="1"/>
          </p:cNvSpPr>
          <p:nvPr/>
        </p:nvSpPr>
        <p:spPr>
          <a:xfrm>
            <a:off x="10465726" y="3412907"/>
            <a:ext cx="57150" cy="57150"/>
          </a:xfrm>
          <a:prstGeom prst="ellipse">
            <a:avLst/>
          </a:prstGeom>
          <a:solidFill>
            <a:srgbClr val="DB7251"/>
          </a:solidFill>
          <a:ln w="0">
            <a:noFill/>
          </a:ln>
        </p:spPr>
      </p:sp>
      <p:sp>
        <p:nvSpPr>
          <p:cNvPr id="71" name="타원 70">
            <a:extLst>
              <a:ext uri="{FF2B5EF4-FFF2-40B4-BE49-F238E27FC236}">
                <a16:creationId xmlns:a16="http://schemas.microsoft.com/office/drawing/2014/main" id="{6613065C-B713-41F9-824E-47C4027877B7}"/>
              </a:ext>
            </a:extLst>
          </p:cNvPr>
          <p:cNvSpPr>
            <a:spLocks noGrp="1"/>
          </p:cNvSpPr>
          <p:nvPr/>
        </p:nvSpPr>
        <p:spPr>
          <a:xfrm>
            <a:off x="10507675" y="2544958"/>
            <a:ext cx="57150" cy="57150"/>
          </a:xfrm>
          <a:prstGeom prst="ellipse">
            <a:avLst/>
          </a:prstGeom>
          <a:solidFill>
            <a:srgbClr val="DB7251"/>
          </a:solidFill>
          <a:ln w="0">
            <a:noFill/>
          </a:ln>
        </p:spPr>
      </p:sp>
      <p:sp>
        <p:nvSpPr>
          <p:cNvPr id="72" name="타원 71">
            <a:extLst>
              <a:ext uri="{FF2B5EF4-FFF2-40B4-BE49-F238E27FC236}">
                <a16:creationId xmlns:a16="http://schemas.microsoft.com/office/drawing/2014/main" id="{12CE1A16-83D2-44A6-8880-AD82BE6581EE}"/>
              </a:ext>
            </a:extLst>
          </p:cNvPr>
          <p:cNvSpPr>
            <a:spLocks noGrp="1"/>
          </p:cNvSpPr>
          <p:nvPr/>
        </p:nvSpPr>
        <p:spPr>
          <a:xfrm>
            <a:off x="7697089" y="3371576"/>
            <a:ext cx="57150" cy="57150"/>
          </a:xfrm>
          <a:prstGeom prst="ellipse">
            <a:avLst/>
          </a:prstGeom>
          <a:solidFill>
            <a:srgbClr val="DB7251"/>
          </a:solidFill>
          <a:ln w="0">
            <a:noFill/>
          </a:ln>
        </p:spPr>
      </p:sp>
      <p:sp>
        <p:nvSpPr>
          <p:cNvPr id="73" name="타원 72">
            <a:extLst>
              <a:ext uri="{FF2B5EF4-FFF2-40B4-BE49-F238E27FC236}">
                <a16:creationId xmlns:a16="http://schemas.microsoft.com/office/drawing/2014/main" id="{86159F37-E267-4306-BDF7-8DFEF01473C2}"/>
              </a:ext>
            </a:extLst>
          </p:cNvPr>
          <p:cNvSpPr>
            <a:spLocks noGrp="1"/>
          </p:cNvSpPr>
          <p:nvPr/>
        </p:nvSpPr>
        <p:spPr>
          <a:xfrm>
            <a:off x="8242426" y="4322186"/>
            <a:ext cx="57150" cy="57150"/>
          </a:xfrm>
          <a:prstGeom prst="ellipse">
            <a:avLst/>
          </a:prstGeom>
          <a:solidFill>
            <a:srgbClr val="DB7251"/>
          </a:solidFill>
          <a:ln w="0">
            <a:noFill/>
          </a:ln>
        </p:spPr>
      </p:sp>
      <p:sp>
        <p:nvSpPr>
          <p:cNvPr id="74" name="타원 73">
            <a:extLst>
              <a:ext uri="{FF2B5EF4-FFF2-40B4-BE49-F238E27FC236}">
                <a16:creationId xmlns:a16="http://schemas.microsoft.com/office/drawing/2014/main" id="{39A32E85-474C-4EB8-8E14-A8D94F8F3C55}"/>
              </a:ext>
            </a:extLst>
          </p:cNvPr>
          <p:cNvSpPr>
            <a:spLocks noGrp="1"/>
          </p:cNvSpPr>
          <p:nvPr/>
        </p:nvSpPr>
        <p:spPr>
          <a:xfrm>
            <a:off x="8787764" y="2420965"/>
            <a:ext cx="57150" cy="57150"/>
          </a:xfrm>
          <a:prstGeom prst="ellipse">
            <a:avLst/>
          </a:prstGeom>
          <a:solidFill>
            <a:srgbClr val="DB7251"/>
          </a:solidFill>
          <a:ln w="0">
            <a:noFill/>
          </a:ln>
        </p:spPr>
      </p:sp>
      <p:sp>
        <p:nvSpPr>
          <p:cNvPr id="75" name="타원 74">
            <a:extLst>
              <a:ext uri="{FF2B5EF4-FFF2-40B4-BE49-F238E27FC236}">
                <a16:creationId xmlns:a16="http://schemas.microsoft.com/office/drawing/2014/main" id="{0176F718-3CA5-4A9F-B966-215C5AD02EED}"/>
              </a:ext>
            </a:extLst>
          </p:cNvPr>
          <p:cNvSpPr>
            <a:spLocks noGrp="1"/>
          </p:cNvSpPr>
          <p:nvPr/>
        </p:nvSpPr>
        <p:spPr>
          <a:xfrm>
            <a:off x="9333102" y="3371576"/>
            <a:ext cx="57150" cy="57150"/>
          </a:xfrm>
          <a:prstGeom prst="ellipse">
            <a:avLst/>
          </a:prstGeom>
          <a:solidFill>
            <a:srgbClr val="DB7251"/>
          </a:solidFill>
          <a:ln w="0">
            <a:noFill/>
          </a:ln>
        </p:spPr>
      </p:sp>
      <p:sp>
        <p:nvSpPr>
          <p:cNvPr id="76" name="타원 75">
            <a:extLst>
              <a:ext uri="{FF2B5EF4-FFF2-40B4-BE49-F238E27FC236}">
                <a16:creationId xmlns:a16="http://schemas.microsoft.com/office/drawing/2014/main" id="{A1B7B59B-010E-411E-9B5A-C6EBD1AF9AC2}"/>
              </a:ext>
            </a:extLst>
          </p:cNvPr>
          <p:cNvSpPr>
            <a:spLocks noGrp="1"/>
          </p:cNvSpPr>
          <p:nvPr/>
        </p:nvSpPr>
        <p:spPr>
          <a:xfrm>
            <a:off x="9878439" y="4322186"/>
            <a:ext cx="57150" cy="57150"/>
          </a:xfrm>
          <a:prstGeom prst="ellipse">
            <a:avLst/>
          </a:prstGeom>
          <a:solidFill>
            <a:srgbClr val="DB7251"/>
          </a:solidFill>
          <a:ln w="0">
            <a:noFill/>
          </a:ln>
        </p:spPr>
      </p:sp>
      <p:sp>
        <p:nvSpPr>
          <p:cNvPr id="77" name="타원 76">
            <a:extLst>
              <a:ext uri="{FF2B5EF4-FFF2-40B4-BE49-F238E27FC236}">
                <a16:creationId xmlns:a16="http://schemas.microsoft.com/office/drawing/2014/main" id="{D68C3184-4A6F-480E-B45C-CA0EE08C9A41}"/>
              </a:ext>
            </a:extLst>
          </p:cNvPr>
          <p:cNvSpPr>
            <a:spLocks noGrp="1"/>
          </p:cNvSpPr>
          <p:nvPr/>
        </p:nvSpPr>
        <p:spPr>
          <a:xfrm>
            <a:off x="7697089" y="2420965"/>
            <a:ext cx="57150" cy="57150"/>
          </a:xfrm>
          <a:prstGeom prst="ellipse">
            <a:avLst/>
          </a:prstGeom>
          <a:solidFill>
            <a:srgbClr val="DB7251"/>
          </a:solidFill>
          <a:ln w="0">
            <a:noFill/>
          </a:ln>
        </p:spPr>
      </p:sp>
      <p:sp>
        <p:nvSpPr>
          <p:cNvPr id="78" name="타원 77">
            <a:extLst>
              <a:ext uri="{FF2B5EF4-FFF2-40B4-BE49-F238E27FC236}">
                <a16:creationId xmlns:a16="http://schemas.microsoft.com/office/drawing/2014/main" id="{8BAC3AF1-755B-4968-9FAF-9792F5130651}"/>
              </a:ext>
            </a:extLst>
          </p:cNvPr>
          <p:cNvSpPr>
            <a:spLocks noGrp="1"/>
          </p:cNvSpPr>
          <p:nvPr/>
        </p:nvSpPr>
        <p:spPr>
          <a:xfrm>
            <a:off x="8242426" y="3371576"/>
            <a:ext cx="57150" cy="57150"/>
          </a:xfrm>
          <a:prstGeom prst="ellipse">
            <a:avLst/>
          </a:prstGeom>
          <a:solidFill>
            <a:srgbClr val="DB7251"/>
          </a:solidFill>
          <a:ln w="0">
            <a:noFill/>
          </a:ln>
        </p:spPr>
      </p:sp>
      <p:sp>
        <p:nvSpPr>
          <p:cNvPr id="79" name="타원 78">
            <a:extLst>
              <a:ext uri="{FF2B5EF4-FFF2-40B4-BE49-F238E27FC236}">
                <a16:creationId xmlns:a16="http://schemas.microsoft.com/office/drawing/2014/main" id="{BEB2EFB2-2F15-4F51-A670-574877416F4E}"/>
              </a:ext>
            </a:extLst>
          </p:cNvPr>
          <p:cNvSpPr>
            <a:spLocks noGrp="1"/>
          </p:cNvSpPr>
          <p:nvPr/>
        </p:nvSpPr>
        <p:spPr>
          <a:xfrm>
            <a:off x="8787764" y="4322186"/>
            <a:ext cx="57150" cy="57150"/>
          </a:xfrm>
          <a:prstGeom prst="ellipse">
            <a:avLst/>
          </a:prstGeom>
          <a:solidFill>
            <a:srgbClr val="DB7251"/>
          </a:solidFill>
          <a:ln w="0">
            <a:noFill/>
          </a:ln>
        </p:spPr>
      </p:sp>
      <p:sp>
        <p:nvSpPr>
          <p:cNvPr id="80" name="타원 79">
            <a:extLst>
              <a:ext uri="{FF2B5EF4-FFF2-40B4-BE49-F238E27FC236}">
                <a16:creationId xmlns:a16="http://schemas.microsoft.com/office/drawing/2014/main" id="{D629387C-F609-415E-AF40-DD51E3BEC86D}"/>
              </a:ext>
            </a:extLst>
          </p:cNvPr>
          <p:cNvSpPr>
            <a:spLocks noGrp="1"/>
          </p:cNvSpPr>
          <p:nvPr/>
        </p:nvSpPr>
        <p:spPr>
          <a:xfrm>
            <a:off x="9333102" y="2420965"/>
            <a:ext cx="57150" cy="57150"/>
          </a:xfrm>
          <a:prstGeom prst="ellipse">
            <a:avLst/>
          </a:prstGeom>
          <a:solidFill>
            <a:srgbClr val="DB7251"/>
          </a:solidFill>
          <a:ln w="0">
            <a:noFill/>
          </a:ln>
        </p:spPr>
      </p:sp>
      <p:sp>
        <p:nvSpPr>
          <p:cNvPr id="81" name="타원 80">
            <a:extLst>
              <a:ext uri="{FF2B5EF4-FFF2-40B4-BE49-F238E27FC236}">
                <a16:creationId xmlns:a16="http://schemas.microsoft.com/office/drawing/2014/main" id="{42C7C5F7-5565-4CCC-9D5C-056B58D7FC3F}"/>
              </a:ext>
            </a:extLst>
          </p:cNvPr>
          <p:cNvSpPr>
            <a:spLocks noGrp="1"/>
          </p:cNvSpPr>
          <p:nvPr/>
        </p:nvSpPr>
        <p:spPr>
          <a:xfrm>
            <a:off x="9878439" y="3371576"/>
            <a:ext cx="57150" cy="57150"/>
          </a:xfrm>
          <a:prstGeom prst="ellipse">
            <a:avLst/>
          </a:prstGeom>
          <a:solidFill>
            <a:srgbClr val="DB7251"/>
          </a:solidFill>
          <a:ln w="0">
            <a:noFill/>
          </a:ln>
        </p:spPr>
      </p:sp>
      <p:sp>
        <p:nvSpPr>
          <p:cNvPr id="82" name="타원 81">
            <a:extLst>
              <a:ext uri="{FF2B5EF4-FFF2-40B4-BE49-F238E27FC236}">
                <a16:creationId xmlns:a16="http://schemas.microsoft.com/office/drawing/2014/main" id="{FD4D437C-D4C3-4BE8-B2B6-9F9CCEE81B2B}"/>
              </a:ext>
            </a:extLst>
          </p:cNvPr>
          <p:cNvSpPr>
            <a:spLocks noGrp="1"/>
          </p:cNvSpPr>
          <p:nvPr/>
        </p:nvSpPr>
        <p:spPr>
          <a:xfrm>
            <a:off x="7697089" y="4322186"/>
            <a:ext cx="57150" cy="57150"/>
          </a:xfrm>
          <a:prstGeom prst="ellipse">
            <a:avLst/>
          </a:prstGeom>
          <a:solidFill>
            <a:srgbClr val="DB7251"/>
          </a:solidFill>
          <a:ln w="0">
            <a:noFill/>
          </a:ln>
        </p:spPr>
      </p:sp>
      <p:sp>
        <p:nvSpPr>
          <p:cNvPr id="83" name="직사각형 82">
            <a:extLst>
              <a:ext uri="{FF2B5EF4-FFF2-40B4-BE49-F238E27FC236}">
                <a16:creationId xmlns:a16="http://schemas.microsoft.com/office/drawing/2014/main" id="{17354789-AEB6-4536-943E-578DCED63D5C}"/>
              </a:ext>
            </a:extLst>
          </p:cNvPr>
          <p:cNvSpPr>
            <a:spLocks noGrp="1"/>
          </p:cNvSpPr>
          <p:nvPr/>
        </p:nvSpPr>
        <p:spPr>
          <a:xfrm>
            <a:off x="7361496" y="5644774"/>
            <a:ext cx="3775415" cy="371978"/>
          </a:xfrm>
          <a:prstGeom prst="rect">
            <a:avLst/>
          </a:prstGeom>
          <a:noFill/>
          <a:ln w="9525">
            <a:noFill/>
          </a:ln>
        </p:spPr>
        <p:txBody>
          <a:bodyPr wrap="none" lIns="0" tIns="0" rIns="0" bIns="0" anchor="ctr">
            <a:noAutofit/>
          </a:bodyPr>
          <a:lstStyle/>
          <a:p>
            <a:pPr algn="ctr">
              <a:defRPr sz="1200">
                <a:solidFill>
                  <a:srgbClr val="171717"/>
                </a:solidFill>
                <a:latin typeface="Malgun Gothic"/>
                <a:ea typeface="Malgun Gothic"/>
                <a:cs typeface="Malgun Gothic"/>
              </a:defRPr>
            </a:pPr>
            <a:r>
              <a:rPr sz="1200">
                <a:solidFill>
                  <a:srgbClr val="171717"/>
                </a:solidFill>
                <a:latin typeface="Malgun Gothic"/>
                <a:ea typeface="Malgun Gothic"/>
                <a:cs typeface="Malgun Gothic"/>
              </a:rPr>
              <a:t>점이 밀집된 영역을 더 세밀하게 분할</a:t>
            </a:r>
          </a:p>
        </p:txBody>
      </p:sp>
    </p:spTree>
    <p:extLst>
      <p:ext uri="{BB962C8B-B14F-4D97-AF65-F5344CB8AC3E}">
        <p14:creationId xmlns:p14="http://schemas.microsoft.com/office/powerpoint/2010/main" val="7288069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D533A23C-B032-4D6A-B1DE-A02A24A54C99}"/>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1505595A-B7CD-4BFD-958E-75F8CED70B3C}"/>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lang="en-US" altLang="ko-KR" sz="7050" b="1" i="0">
                <a:solidFill>
                  <a:srgbClr val="474747"/>
                </a:solidFill>
                <a:latin typeface="Consolas"/>
                <a:ea typeface="Consolas"/>
                <a:cs typeface="Consolas"/>
              </a:rPr>
              <a:t>4.7</a:t>
            </a:r>
            <a:endParaRPr sz="7050" b="1" i="0">
              <a:solidFill>
                <a:srgbClr val="474747"/>
              </a:solidFill>
              <a:latin typeface="Consolas"/>
              <a:ea typeface="Consolas"/>
              <a:cs typeface="Consolas"/>
            </a:endParaRPr>
          </a:p>
        </p:txBody>
      </p:sp>
      <p:sp>
        <p:nvSpPr>
          <p:cNvPr id="3" name="직사각형 2">
            <a:extLst>
              <a:ext uri="{FF2B5EF4-FFF2-40B4-BE49-F238E27FC236}">
                <a16:creationId xmlns:a16="http://schemas.microsoft.com/office/drawing/2014/main" id="{710D7DD8-FD5A-469E-B144-DFDE809BEC31}"/>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E12BDA4B-5CF5-45CF-8761-849202D9BCC3}"/>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마스터 정리</a:t>
            </a:r>
          </a:p>
        </p:txBody>
      </p:sp>
      <p:sp>
        <p:nvSpPr>
          <p:cNvPr id="5" name="직사각형 4">
            <a:extLst>
              <a:ext uri="{FF2B5EF4-FFF2-40B4-BE49-F238E27FC236}">
                <a16:creationId xmlns:a16="http://schemas.microsoft.com/office/drawing/2014/main" id="{5575A376-11D0-4DAE-9A78-BF3E692D4E7A}"/>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Master Theorem</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분할 정복 점화식을 재귀 트리 없이 즉시 푸는 강력한 도구</a:t>
            </a:r>
          </a:p>
        </p:txBody>
      </p:sp>
      <p:sp>
        <p:nvSpPr>
          <p:cNvPr id="6" name="직사각형 5">
            <a:extLst>
              <a:ext uri="{FF2B5EF4-FFF2-40B4-BE49-F238E27FC236}">
                <a16:creationId xmlns:a16="http://schemas.microsoft.com/office/drawing/2014/main" id="{DF3614B6-7B40-4FC4-B792-9004A31CD72E}"/>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17D8EDA0-C00A-46CC-9116-BEAE0DB62306}"/>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97A13846-EF8A-4D5A-82EB-2B5C50935F6A}"/>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109</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131798112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직사각형 30">
            <a:extLst>
              <a:ext uri="{FF2B5EF4-FFF2-40B4-BE49-F238E27FC236}">
                <a16:creationId xmlns:a16="http://schemas.microsoft.com/office/drawing/2014/main" id="{681262E9-38CF-411C-806E-48E2988F2C38}"/>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4.7  </a:t>
            </a:r>
            <a:r>
              <a:rPr lang="ko-KR" altLang="en-US" sz="1050" b="1" i="0">
                <a:solidFill>
                  <a:srgbClr val="606060"/>
                </a:solidFill>
                <a:latin typeface="Malgun Gothic"/>
                <a:ea typeface="Malgun Gothic"/>
                <a:cs typeface="Malgun Gothic"/>
              </a:rPr>
              <a:t>마스터 정리</a:t>
            </a:r>
            <a:endParaRPr sz="1050" b="1" i="0">
              <a:solidFill>
                <a:srgbClr val="606060"/>
              </a:solidFill>
              <a:latin typeface="Malgun Gothic"/>
              <a:ea typeface="Malgun Gothic"/>
              <a:cs typeface="Malgun Gothic"/>
            </a:endParaRPr>
          </a:p>
        </p:txBody>
      </p:sp>
      <p:sp>
        <p:nvSpPr>
          <p:cNvPr id="32" name="직사각형 31">
            <a:extLst>
              <a:ext uri="{FF2B5EF4-FFF2-40B4-BE49-F238E27FC236}">
                <a16:creationId xmlns:a16="http://schemas.microsoft.com/office/drawing/2014/main" id="{3FDC3193-7D74-4FD8-B589-6F61399A79B2}"/>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3" name="직사각형 32">
            <a:extLst>
              <a:ext uri="{FF2B5EF4-FFF2-40B4-BE49-F238E27FC236}">
                <a16:creationId xmlns:a16="http://schemas.microsoft.com/office/drawing/2014/main" id="{AD4917E1-0C2D-463B-B6F2-43ED9833C435}"/>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일정한 형태의 점화식을 푸는 정리</a:t>
            </a:r>
          </a:p>
        </p:txBody>
      </p:sp>
      <p:sp>
        <p:nvSpPr>
          <p:cNvPr id="34" name="직사각형 33">
            <a:extLst>
              <a:ext uri="{FF2B5EF4-FFF2-40B4-BE49-F238E27FC236}">
                <a16:creationId xmlns:a16="http://schemas.microsoft.com/office/drawing/2014/main" id="{BEDEFE8A-CFDA-4BF8-8589-1E3C836A4B3D}"/>
              </a:ext>
            </a:extLst>
          </p:cNvPr>
          <p:cNvSpPr>
            <a:spLocks noGrp="1"/>
          </p:cNvSpPr>
          <p:nvPr/>
        </p:nvSpPr>
        <p:spPr>
          <a:xfrm>
            <a:off x="609600" y="1381125"/>
            <a:ext cx="10972800" cy="19050"/>
          </a:xfrm>
          <a:prstGeom prst="rect">
            <a:avLst/>
          </a:prstGeom>
          <a:solidFill>
            <a:srgbClr val="171717"/>
          </a:solidFill>
          <a:ln w="0">
            <a:noFill/>
          </a:ln>
        </p:spPr>
      </p:sp>
      <p:sp>
        <p:nvSpPr>
          <p:cNvPr id="35" name="직사각형 34">
            <a:extLst>
              <a:ext uri="{FF2B5EF4-FFF2-40B4-BE49-F238E27FC236}">
                <a16:creationId xmlns:a16="http://schemas.microsoft.com/office/drawing/2014/main" id="{7CB7003D-ED7B-4ADE-8D44-CC5381B7243A}"/>
              </a:ext>
            </a:extLst>
          </p:cNvPr>
          <p:cNvSpPr>
            <a:spLocks noGrp="1"/>
          </p:cNvSpPr>
          <p:nvPr/>
        </p:nvSpPr>
        <p:spPr>
          <a:xfrm>
            <a:off x="609600" y="6438900"/>
            <a:ext cx="10972800"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34BE508E-058C-4AB8-B57C-F955BA1D8EE9}"/>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7" name="직사각형 36">
            <a:extLst>
              <a:ext uri="{FF2B5EF4-FFF2-40B4-BE49-F238E27FC236}">
                <a16:creationId xmlns:a16="http://schemas.microsoft.com/office/drawing/2014/main" id="{FB24C107-F67B-4D8A-9EA8-2BD8E84B9807}"/>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110</a:t>
            </a:r>
            <a:endParaRPr sz="1050" b="1" i="0">
              <a:solidFill>
                <a:srgbClr val="171717"/>
              </a:solidFill>
              <a:latin typeface="Consolas"/>
              <a:ea typeface="Consolas"/>
              <a:cs typeface="Consolas"/>
            </a:endParaRPr>
          </a:p>
        </p:txBody>
      </p:sp>
      <p:sp>
        <p:nvSpPr>
          <p:cNvPr id="38" name="직사각형 37">
            <a:extLst>
              <a:ext uri="{FF2B5EF4-FFF2-40B4-BE49-F238E27FC236}">
                <a16:creationId xmlns:a16="http://schemas.microsoft.com/office/drawing/2014/main" id="{6635F8A2-3E3F-428B-9DFB-CFEDE47B5311}"/>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마스터 정리는 다음 형태의 점화식을 분석한다.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T(n) = a · T(n/b) + f(n)</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a: 재귀 호출의 개수</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독립적으로 풀어야 하는 하위 문제의 수이다.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n/b: 각 하위 문제의 크기</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한 단계마다 원래 크기의 1/b로 줄어든다.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f(n): 재귀 호출 밖에서 드는 비용</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분할, 결합 등 현재 단계의 추가 작업이다.</a:t>
            </a:r>
          </a:p>
        </p:txBody>
      </p:sp>
      <p:pic>
        <p:nvPicPr>
          <p:cNvPr id="48" name="그림 47"/>
          <p:cNvPicPr>
            <a:picLocks noChangeAspect="1"/>
          </p:cNvPicPr>
          <p:nvPr/>
        </p:nvPicPr>
        <p:blipFill>
          <a:blip r:embed="rId3"/>
          <a:stretch/>
        </p:blipFill>
        <p:spPr>
          <a:xfrm>
            <a:off x="7818486" y="2095500"/>
            <a:ext cx="3165379" cy="3333750"/>
          </a:xfrm>
          <a:prstGeom prst="rect">
            <a:avLst/>
          </a:prstGeom>
        </p:spPr>
      </p:pic>
    </p:spTree>
    <p:extLst>
      <p:ext uri="{BB962C8B-B14F-4D97-AF65-F5344CB8AC3E}">
        <p14:creationId xmlns:p14="http://schemas.microsoft.com/office/powerpoint/2010/main" val="7572496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AD485C2E-9F76-43CF-815D-65CD27107A61}"/>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4.7  </a:t>
            </a:r>
            <a:r>
              <a:rPr lang="ko-KR" altLang="en-US" sz="1050" b="1" i="0">
                <a:solidFill>
                  <a:srgbClr val="606060"/>
                </a:solidFill>
                <a:latin typeface="Malgun Gothic"/>
                <a:ea typeface="Malgun Gothic"/>
                <a:cs typeface="Malgun Gothic"/>
              </a:rPr>
              <a:t>마스터 정리</a:t>
            </a:r>
            <a:endParaRPr sz="1050" b="1" i="0">
              <a:solidFill>
                <a:srgbClr val="606060"/>
              </a:solidFill>
              <a:latin typeface="Malgun Gothic"/>
              <a:ea typeface="Malgun Gothic"/>
              <a:cs typeface="Malgun Gothic"/>
            </a:endParaRPr>
          </a:p>
        </p:txBody>
      </p:sp>
      <p:sp>
        <p:nvSpPr>
          <p:cNvPr id="38" name="직사각형 37">
            <a:extLst>
              <a:ext uri="{FF2B5EF4-FFF2-40B4-BE49-F238E27FC236}">
                <a16:creationId xmlns:a16="http://schemas.microsoft.com/office/drawing/2014/main" id="{EA2C8945-474B-478A-BC15-67A0A493A185}"/>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9" name="직사각형 38">
            <a:extLst>
              <a:ext uri="{FF2B5EF4-FFF2-40B4-BE49-F238E27FC236}">
                <a16:creationId xmlns:a16="http://schemas.microsoft.com/office/drawing/2014/main" id="{9052E878-E658-41CB-BD62-16D5FA394200}"/>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마스터 정리의 세 가지 경우</a:t>
            </a:r>
          </a:p>
        </p:txBody>
      </p:sp>
      <p:sp>
        <p:nvSpPr>
          <p:cNvPr id="40" name="직사각형 39">
            <a:extLst>
              <a:ext uri="{FF2B5EF4-FFF2-40B4-BE49-F238E27FC236}">
                <a16:creationId xmlns:a16="http://schemas.microsoft.com/office/drawing/2014/main" id="{FBF37416-572A-4600-9EC0-60ABEE3C7EA1}"/>
              </a:ext>
            </a:extLst>
          </p:cNvPr>
          <p:cNvSpPr>
            <a:spLocks noGrp="1"/>
          </p:cNvSpPr>
          <p:nvPr/>
        </p:nvSpPr>
        <p:spPr>
          <a:xfrm>
            <a:off x="609600" y="1381125"/>
            <a:ext cx="10972800" cy="19050"/>
          </a:xfrm>
          <a:prstGeom prst="rect">
            <a:avLst/>
          </a:prstGeom>
          <a:solidFill>
            <a:srgbClr val="171717"/>
          </a:solidFill>
          <a:ln w="0">
            <a:noFill/>
          </a:ln>
        </p:spPr>
      </p:sp>
      <p:sp>
        <p:nvSpPr>
          <p:cNvPr id="41" name="직사각형 40">
            <a:extLst>
              <a:ext uri="{FF2B5EF4-FFF2-40B4-BE49-F238E27FC236}">
                <a16:creationId xmlns:a16="http://schemas.microsoft.com/office/drawing/2014/main" id="{592568B4-76CF-4698-BED8-DA35962209B6}"/>
              </a:ext>
            </a:extLst>
          </p:cNvPr>
          <p:cNvSpPr>
            <a:spLocks noGrp="1"/>
          </p:cNvSpPr>
          <p:nvPr/>
        </p:nvSpPr>
        <p:spPr>
          <a:xfrm>
            <a:off x="609600" y="6438900"/>
            <a:ext cx="10972800" cy="9525"/>
          </a:xfrm>
          <a:prstGeom prst="rect">
            <a:avLst/>
          </a:prstGeom>
          <a:solidFill>
            <a:srgbClr val="D4D4D4"/>
          </a:solidFill>
          <a:ln w="0">
            <a:noFill/>
          </a:ln>
        </p:spPr>
      </p:sp>
      <p:sp>
        <p:nvSpPr>
          <p:cNvPr id="42" name="직사각형 41">
            <a:extLst>
              <a:ext uri="{FF2B5EF4-FFF2-40B4-BE49-F238E27FC236}">
                <a16:creationId xmlns:a16="http://schemas.microsoft.com/office/drawing/2014/main" id="{20AA8BD6-F3CB-4955-B662-20D104FDBF1C}"/>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3" name="직사각형 42">
            <a:extLst>
              <a:ext uri="{FF2B5EF4-FFF2-40B4-BE49-F238E27FC236}">
                <a16:creationId xmlns:a16="http://schemas.microsoft.com/office/drawing/2014/main" id="{E761103F-7E52-4CCA-BC7E-845691FE7F20}"/>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111</a:t>
            </a:r>
            <a:endParaRPr sz="1050" b="1" i="0">
              <a:solidFill>
                <a:srgbClr val="171717"/>
              </a:solidFill>
              <a:latin typeface="Consolas"/>
              <a:ea typeface="Consolas"/>
              <a:cs typeface="Consolas"/>
            </a:endParaRPr>
          </a:p>
        </p:txBody>
      </p:sp>
      <p:sp>
        <p:nvSpPr>
          <p:cNvPr id="44" name="직사각형 43">
            <a:extLst>
              <a:ext uri="{FF2B5EF4-FFF2-40B4-BE49-F238E27FC236}">
                <a16:creationId xmlns:a16="http://schemas.microsoft.com/office/drawing/2014/main" id="{1C7135AA-3891-4765-BEE5-867A772383F5}"/>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기준 지수 p = log_b a, ε &gt; 0으로 두고 비교한다.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① f(n) = O(n^(p−ε))</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하위 문제의 비용이 지배 → T(n) = Θ(n^p)</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② f(n) = Θ(n^p)</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각 층의 비용이 비슷 → T(n) = Θ(n^p log n)</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③ f(n) = Ω(n^(p+ε))</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현재 단계의 비용이 지배 → T(n) = Θ(f(n))</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③은 a·f(n/b) ≤ c·f(n), c &lt; 1인 정규성 조건도 필요하다. 조건에 맞지 않으면 다른 분석을 사용한다.</a:t>
            </a:r>
          </a:p>
        </p:txBody>
      </p:sp>
      <p:pic>
        <p:nvPicPr>
          <p:cNvPr id="54" name="그림 53"/>
          <p:cNvPicPr>
            <a:picLocks noChangeAspect="1"/>
          </p:cNvPicPr>
          <p:nvPr/>
        </p:nvPicPr>
        <p:blipFill>
          <a:blip r:embed="rId3"/>
          <a:stretch/>
        </p:blipFill>
        <p:spPr>
          <a:xfrm>
            <a:off x="7315200" y="2156656"/>
            <a:ext cx="4171950" cy="3211438"/>
          </a:xfrm>
          <a:prstGeom prst="rect">
            <a:avLst/>
          </a:prstGeom>
        </p:spPr>
      </p:pic>
    </p:spTree>
    <p:extLst>
      <p:ext uri="{BB962C8B-B14F-4D97-AF65-F5344CB8AC3E}">
        <p14:creationId xmlns:p14="http://schemas.microsoft.com/office/powerpoint/2010/main" val="64256500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6319D92D-CFE4-4F70-AE80-F60860739D83}"/>
              </a:ext>
            </a:extLst>
          </p:cNvPr>
          <p:cNvSpPr>
            <a:spLocks noGrp="1"/>
          </p:cNvSpPr>
          <p:nvPr/>
        </p:nvSpPr>
        <p:spPr>
          <a:xfrm>
            <a:off x="658368" y="1737360"/>
            <a:ext cx="5806440" cy="54864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이진 탐색은 한 번 호출할 때마다 문제의 크기가 절반이 되고, 절반 지점(mid)을 계산하는 나눗셈 1번이 필요하다.</a:t>
            </a:r>
            <a:endParaRPr sz="1300"/>
          </a:p>
        </p:txBody>
      </p:sp>
      <p:sp>
        <p:nvSpPr>
          <p:cNvPr id="8" name="Text 5">
            <a:extLst>
              <a:ext uri="{FF2B5EF4-FFF2-40B4-BE49-F238E27FC236}">
                <a16:creationId xmlns:a16="http://schemas.microsoft.com/office/drawing/2014/main" id="{27E7DDED-750B-4339-BCDC-E3D806D876AC}"/>
              </a:ext>
            </a:extLst>
          </p:cNvPr>
          <p:cNvSpPr>
            <a:spLocks noGrp="1"/>
          </p:cNvSpPr>
          <p:nvPr/>
        </p:nvSpPr>
        <p:spPr>
          <a:xfrm>
            <a:off x="658368" y="2395728"/>
            <a:ext cx="5806440" cy="960120"/>
          </a:xfrm>
          <a:prstGeom prst="rect">
            <a:avLst/>
          </a:prstGeom>
          <a:noFill/>
          <a:ln w="0">
            <a:noFill/>
          </a:ln>
        </p:spPr>
        <p:txBody>
          <a:bodyPr wrap="square" lIns="0" tIns="0" rIns="0" bIns="0" anchor="ctr">
            <a:noAutofit/>
          </a:bodyPr>
          <a:lstStyle/>
          <a:p>
            <a:pPr marL="0" indent="0" algn="ctr">
              <a:buNone/>
              <a:defRPr sz="2400" i="0">
                <a:solidFill>
                  <a:srgbClr val="171717"/>
                </a:solidFill>
                <a:latin typeface="Malgun Gothic"/>
                <a:ea typeface="Malgun Gothic"/>
                <a:cs typeface="Malgun Gothic"/>
              </a:defRPr>
            </a:pPr>
            <a:r>
              <a:rPr sz="2400" b="1" i="0">
                <a:solidFill>
                  <a:srgbClr val="171717"/>
                </a:solidFill>
                <a:latin typeface="Malgun Gothic"/>
                <a:ea typeface="Malgun Gothic"/>
                <a:cs typeface="Malgun Gothic"/>
              </a:rPr>
              <a:t>T(n) = T(n/2) + O(1)</a:t>
            </a:r>
            <a:endParaRPr sz="2400"/>
          </a:p>
        </p:txBody>
      </p:sp>
      <p:sp>
        <p:nvSpPr>
          <p:cNvPr id="10" name="Text 7">
            <a:extLst>
              <a:ext uri="{FF2B5EF4-FFF2-40B4-BE49-F238E27FC236}">
                <a16:creationId xmlns:a16="http://schemas.microsoft.com/office/drawing/2014/main" id="{C95CC413-A99D-42E6-8036-B966C7C2FE50}"/>
              </a:ext>
            </a:extLst>
          </p:cNvPr>
          <p:cNvSpPr>
            <a:spLocks noGrp="1"/>
          </p:cNvSpPr>
          <p:nvPr/>
        </p:nvSpPr>
        <p:spPr>
          <a:xfrm>
            <a:off x="896112" y="3566160"/>
            <a:ext cx="1920240" cy="658368"/>
          </a:xfrm>
          <a:prstGeom prst="rect">
            <a:avLst/>
          </a:prstGeom>
          <a:noFill/>
          <a:ln w="0">
            <a:noFill/>
          </a:ln>
        </p:spPr>
        <p:txBody>
          <a:bodyPr wrap="square" lIns="0" tIns="0" rIns="0" bIns="0" anchor="ctr">
            <a:noAutofit/>
          </a:bodyPr>
          <a:lstStyle/>
          <a:p>
            <a:pPr marL="0" indent="0" algn="l">
              <a:buNone/>
              <a:defRPr sz="1300" i="0">
                <a:solidFill>
                  <a:srgbClr val="171717"/>
                </a:solidFill>
                <a:latin typeface="Consolas"/>
                <a:ea typeface="Consolas"/>
                <a:cs typeface="Consolas"/>
              </a:defRPr>
            </a:pPr>
            <a:r>
              <a:rPr sz="1300" b="1" i="0">
                <a:solidFill>
                  <a:srgbClr val="171717"/>
                </a:solidFill>
                <a:latin typeface="Consolas"/>
                <a:ea typeface="Consolas"/>
                <a:cs typeface="Consolas"/>
              </a:rPr>
              <a:t>a = 1</a:t>
            </a:r>
            <a:endParaRPr sz="1300"/>
          </a:p>
        </p:txBody>
      </p:sp>
      <p:sp>
        <p:nvSpPr>
          <p:cNvPr id="11" name="Text 8">
            <a:extLst>
              <a:ext uri="{FF2B5EF4-FFF2-40B4-BE49-F238E27FC236}">
                <a16:creationId xmlns:a16="http://schemas.microsoft.com/office/drawing/2014/main" id="{DE4E0E6A-693C-4C64-99F9-CD32E942C4A4}"/>
              </a:ext>
            </a:extLst>
          </p:cNvPr>
          <p:cNvSpPr>
            <a:spLocks noGrp="1"/>
          </p:cNvSpPr>
          <p:nvPr/>
        </p:nvSpPr>
        <p:spPr>
          <a:xfrm>
            <a:off x="2898648" y="3566160"/>
            <a:ext cx="3291840" cy="65836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재귀 호출 1회</a:t>
            </a:r>
            <a:endParaRPr sz="1200"/>
          </a:p>
        </p:txBody>
      </p:sp>
      <p:sp>
        <p:nvSpPr>
          <p:cNvPr id="13" name="Text 10">
            <a:extLst>
              <a:ext uri="{FF2B5EF4-FFF2-40B4-BE49-F238E27FC236}">
                <a16:creationId xmlns:a16="http://schemas.microsoft.com/office/drawing/2014/main" id="{F0DEB768-1FE8-4421-9B75-BF3ACAB81D2F}"/>
              </a:ext>
            </a:extLst>
          </p:cNvPr>
          <p:cNvSpPr>
            <a:spLocks noGrp="1"/>
          </p:cNvSpPr>
          <p:nvPr/>
        </p:nvSpPr>
        <p:spPr>
          <a:xfrm>
            <a:off x="896112" y="4343400"/>
            <a:ext cx="1920240" cy="658368"/>
          </a:xfrm>
          <a:prstGeom prst="rect">
            <a:avLst/>
          </a:prstGeom>
          <a:noFill/>
          <a:ln w="0">
            <a:noFill/>
          </a:ln>
        </p:spPr>
        <p:txBody>
          <a:bodyPr wrap="square" lIns="0" tIns="0" rIns="0" bIns="0" anchor="ctr">
            <a:noAutofit/>
          </a:bodyPr>
          <a:lstStyle/>
          <a:p>
            <a:pPr marL="0" indent="0" algn="l">
              <a:buNone/>
              <a:defRPr sz="1300" i="0">
                <a:solidFill>
                  <a:srgbClr val="171717"/>
                </a:solidFill>
                <a:latin typeface="Consolas"/>
                <a:ea typeface="Consolas"/>
                <a:cs typeface="Consolas"/>
              </a:defRPr>
            </a:pPr>
            <a:r>
              <a:rPr sz="1300" b="1" i="0">
                <a:solidFill>
                  <a:srgbClr val="171717"/>
                </a:solidFill>
                <a:latin typeface="Consolas"/>
                <a:ea typeface="Consolas"/>
                <a:cs typeface="Consolas"/>
              </a:rPr>
              <a:t>b = 2</a:t>
            </a:r>
            <a:endParaRPr sz="1300"/>
          </a:p>
        </p:txBody>
      </p:sp>
      <p:sp>
        <p:nvSpPr>
          <p:cNvPr id="14" name="Text 11">
            <a:extLst>
              <a:ext uri="{FF2B5EF4-FFF2-40B4-BE49-F238E27FC236}">
                <a16:creationId xmlns:a16="http://schemas.microsoft.com/office/drawing/2014/main" id="{1C74704C-DC3C-41BF-ADCD-44159FA17E82}"/>
              </a:ext>
            </a:extLst>
          </p:cNvPr>
          <p:cNvSpPr>
            <a:spLocks noGrp="1"/>
          </p:cNvSpPr>
          <p:nvPr/>
        </p:nvSpPr>
        <p:spPr>
          <a:xfrm>
            <a:off x="2898648" y="4343400"/>
            <a:ext cx="3291840" cy="65836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문제 크기를 절반으로</a:t>
            </a:r>
            <a:endParaRPr sz="1200"/>
          </a:p>
        </p:txBody>
      </p:sp>
      <p:sp>
        <p:nvSpPr>
          <p:cNvPr id="16" name="Text 13">
            <a:extLst>
              <a:ext uri="{FF2B5EF4-FFF2-40B4-BE49-F238E27FC236}">
                <a16:creationId xmlns:a16="http://schemas.microsoft.com/office/drawing/2014/main" id="{DEE133EE-E093-4A9E-8930-232A640EA57F}"/>
              </a:ext>
            </a:extLst>
          </p:cNvPr>
          <p:cNvSpPr>
            <a:spLocks noGrp="1"/>
          </p:cNvSpPr>
          <p:nvPr/>
        </p:nvSpPr>
        <p:spPr>
          <a:xfrm>
            <a:off x="896112" y="5120640"/>
            <a:ext cx="1920240" cy="658368"/>
          </a:xfrm>
          <a:prstGeom prst="rect">
            <a:avLst/>
          </a:prstGeom>
          <a:noFill/>
          <a:ln w="0">
            <a:noFill/>
          </a:ln>
        </p:spPr>
        <p:txBody>
          <a:bodyPr wrap="square" lIns="0" tIns="0" rIns="0" bIns="0" anchor="ctr">
            <a:noAutofit/>
          </a:bodyPr>
          <a:lstStyle/>
          <a:p>
            <a:pPr marL="0" indent="0" algn="l">
              <a:buNone/>
              <a:defRPr sz="1300" i="0">
                <a:solidFill>
                  <a:srgbClr val="171717"/>
                </a:solidFill>
                <a:latin typeface="Consolas"/>
                <a:ea typeface="Consolas"/>
                <a:cs typeface="Consolas"/>
              </a:defRPr>
            </a:pPr>
            <a:r>
              <a:rPr sz="1300" b="1" i="0">
                <a:solidFill>
                  <a:srgbClr val="171717"/>
                </a:solidFill>
                <a:latin typeface="Consolas"/>
                <a:ea typeface="Consolas"/>
                <a:cs typeface="Consolas"/>
              </a:rPr>
              <a:t>f(n) = O(1)</a:t>
            </a:r>
            <a:endParaRPr sz="1300"/>
          </a:p>
        </p:txBody>
      </p:sp>
      <p:sp>
        <p:nvSpPr>
          <p:cNvPr id="17" name="Text 14">
            <a:extLst>
              <a:ext uri="{FF2B5EF4-FFF2-40B4-BE49-F238E27FC236}">
                <a16:creationId xmlns:a16="http://schemas.microsoft.com/office/drawing/2014/main" id="{411C869E-033D-487C-945E-497EACB9CC3E}"/>
              </a:ext>
            </a:extLst>
          </p:cNvPr>
          <p:cNvSpPr>
            <a:spLocks noGrp="1"/>
          </p:cNvSpPr>
          <p:nvPr/>
        </p:nvSpPr>
        <p:spPr>
          <a:xfrm>
            <a:off x="2898648" y="5120640"/>
            <a:ext cx="3291840" cy="65836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mid 계산 시간</a:t>
            </a:r>
            <a:endParaRPr sz="1200"/>
          </a:p>
        </p:txBody>
      </p:sp>
      <p:sp>
        <p:nvSpPr>
          <p:cNvPr id="19" name="Text 16">
            <a:extLst>
              <a:ext uri="{FF2B5EF4-FFF2-40B4-BE49-F238E27FC236}">
                <a16:creationId xmlns:a16="http://schemas.microsoft.com/office/drawing/2014/main" id="{FA035D55-3139-4CAD-823A-38B2D7B98D17}"/>
              </a:ext>
            </a:extLst>
          </p:cNvPr>
          <p:cNvSpPr>
            <a:spLocks noGrp="1"/>
          </p:cNvSpPr>
          <p:nvPr/>
        </p:nvSpPr>
        <p:spPr>
          <a:xfrm>
            <a:off x="7040880" y="1956816"/>
            <a:ext cx="4206240" cy="329184"/>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마스터 정리 적용</a:t>
            </a:r>
            <a:endParaRPr sz="1400"/>
          </a:p>
        </p:txBody>
      </p:sp>
      <p:sp>
        <p:nvSpPr>
          <p:cNvPr id="21" name="Text 18">
            <a:extLst>
              <a:ext uri="{FF2B5EF4-FFF2-40B4-BE49-F238E27FC236}">
                <a16:creationId xmlns:a16="http://schemas.microsoft.com/office/drawing/2014/main" id="{7823D1F0-7C5C-41C9-8D33-E357719BEC85}"/>
              </a:ext>
            </a:extLst>
          </p:cNvPr>
          <p:cNvSpPr>
            <a:spLocks noGrp="1"/>
          </p:cNvSpPr>
          <p:nvPr/>
        </p:nvSpPr>
        <p:spPr>
          <a:xfrm>
            <a:off x="7205472" y="2487168"/>
            <a:ext cx="3931920" cy="256032"/>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b="1" i="0">
                <a:solidFill>
                  <a:srgbClr val="171717"/>
                </a:solidFill>
                <a:latin typeface="Malgun Gothic"/>
                <a:ea typeface="Malgun Gothic"/>
                <a:cs typeface="Malgun Gothic"/>
              </a:rPr>
              <a:t>기준값 계산</a:t>
            </a:r>
            <a:endParaRPr sz="1050"/>
          </a:p>
        </p:txBody>
      </p:sp>
      <p:sp>
        <p:nvSpPr>
          <p:cNvPr id="22" name="Text 19">
            <a:extLst>
              <a:ext uri="{FF2B5EF4-FFF2-40B4-BE49-F238E27FC236}">
                <a16:creationId xmlns:a16="http://schemas.microsoft.com/office/drawing/2014/main" id="{19944C48-1478-40A4-9440-1079F3EB0BA8}"/>
              </a:ext>
            </a:extLst>
          </p:cNvPr>
          <p:cNvSpPr>
            <a:spLocks noGrp="1"/>
          </p:cNvSpPr>
          <p:nvPr/>
        </p:nvSpPr>
        <p:spPr>
          <a:xfrm>
            <a:off x="7205472" y="2743200"/>
            <a:ext cx="3931920" cy="365760"/>
          </a:xfrm>
          <a:prstGeom prst="rect">
            <a:avLst/>
          </a:prstGeom>
          <a:noFill/>
          <a:ln w="0">
            <a:noFill/>
          </a:ln>
        </p:spPr>
        <p:txBody>
          <a:bodyPr wrap="square" lIns="0" tIns="0" rIns="0" bIns="0" anchor="ctr">
            <a:noAutofit/>
          </a:bodyPr>
          <a:lstStyle/>
          <a:p>
            <a:pPr marL="0" indent="0" algn="l">
              <a:buNone/>
              <a:defRPr sz="1350" i="0">
                <a:solidFill>
                  <a:srgbClr val="171717"/>
                </a:solidFill>
                <a:latin typeface="Malgun Gothic"/>
                <a:ea typeface="Malgun Gothic"/>
                <a:cs typeface="Malgun Gothic"/>
              </a:defRPr>
            </a:pPr>
            <a:r>
              <a:rPr sz="1350" b="1" i="0">
                <a:solidFill>
                  <a:srgbClr val="171717"/>
                </a:solidFill>
                <a:latin typeface="Malgun Gothic"/>
                <a:ea typeface="Malgun Gothic"/>
                <a:cs typeface="Malgun Gothic"/>
              </a:rPr>
              <a:t>n^(log₂ 1) = n^(0) = 1</a:t>
            </a:r>
            <a:endParaRPr sz="1350"/>
          </a:p>
        </p:txBody>
      </p:sp>
      <p:sp>
        <p:nvSpPr>
          <p:cNvPr id="24" name="Text 21">
            <a:extLst>
              <a:ext uri="{FF2B5EF4-FFF2-40B4-BE49-F238E27FC236}">
                <a16:creationId xmlns:a16="http://schemas.microsoft.com/office/drawing/2014/main" id="{710B1E9A-6F41-47C7-A4FA-236B1220174F}"/>
              </a:ext>
            </a:extLst>
          </p:cNvPr>
          <p:cNvSpPr>
            <a:spLocks noGrp="1"/>
          </p:cNvSpPr>
          <p:nvPr/>
        </p:nvSpPr>
        <p:spPr>
          <a:xfrm>
            <a:off x="7205472" y="3383280"/>
            <a:ext cx="3931920" cy="256032"/>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b="1" i="0">
                <a:solidFill>
                  <a:srgbClr val="171717"/>
                </a:solidFill>
                <a:latin typeface="Malgun Gothic"/>
                <a:ea typeface="Malgun Gothic"/>
                <a:cs typeface="Malgun Gothic"/>
              </a:rPr>
              <a:t>f(n)과 비교</a:t>
            </a:r>
            <a:endParaRPr sz="1050"/>
          </a:p>
        </p:txBody>
      </p:sp>
      <p:sp>
        <p:nvSpPr>
          <p:cNvPr id="25" name="Text 22">
            <a:extLst>
              <a:ext uri="{FF2B5EF4-FFF2-40B4-BE49-F238E27FC236}">
                <a16:creationId xmlns:a16="http://schemas.microsoft.com/office/drawing/2014/main" id="{DD15E52C-E0AF-49FF-AFAA-7A842AE9B0D0}"/>
              </a:ext>
            </a:extLst>
          </p:cNvPr>
          <p:cNvSpPr>
            <a:spLocks noGrp="1"/>
          </p:cNvSpPr>
          <p:nvPr/>
        </p:nvSpPr>
        <p:spPr>
          <a:xfrm>
            <a:off x="7205472" y="3639312"/>
            <a:ext cx="3931920" cy="365760"/>
          </a:xfrm>
          <a:prstGeom prst="rect">
            <a:avLst/>
          </a:prstGeom>
          <a:noFill/>
          <a:ln w="0">
            <a:noFill/>
          </a:ln>
        </p:spPr>
        <p:txBody>
          <a:bodyPr wrap="square" lIns="0" tIns="0" rIns="0" bIns="0" anchor="ctr">
            <a:noAutofit/>
          </a:bodyPr>
          <a:lstStyle/>
          <a:p>
            <a:pPr marL="0" indent="0" algn="l">
              <a:buNone/>
              <a:defRPr sz="1350" i="0">
                <a:solidFill>
                  <a:srgbClr val="171717"/>
                </a:solidFill>
                <a:latin typeface="Malgun Gothic"/>
                <a:ea typeface="Malgun Gothic"/>
                <a:cs typeface="Malgun Gothic"/>
              </a:defRPr>
            </a:pPr>
            <a:r>
              <a:rPr sz="1350" b="1" i="0">
                <a:solidFill>
                  <a:srgbClr val="171717"/>
                </a:solidFill>
                <a:latin typeface="Malgun Gothic"/>
                <a:ea typeface="Malgun Gothic"/>
                <a:cs typeface="Malgun Gothic"/>
              </a:rPr>
              <a:t>f(n) = Θ(1) = Θ(n^(0))</a:t>
            </a:r>
            <a:endParaRPr sz="1350"/>
          </a:p>
        </p:txBody>
      </p:sp>
      <p:sp>
        <p:nvSpPr>
          <p:cNvPr id="27" name="Text 24">
            <a:extLst>
              <a:ext uri="{FF2B5EF4-FFF2-40B4-BE49-F238E27FC236}">
                <a16:creationId xmlns:a16="http://schemas.microsoft.com/office/drawing/2014/main" id="{31014A95-99A3-4A29-9AA5-96EF392F2A27}"/>
              </a:ext>
            </a:extLst>
          </p:cNvPr>
          <p:cNvSpPr>
            <a:spLocks noGrp="1"/>
          </p:cNvSpPr>
          <p:nvPr/>
        </p:nvSpPr>
        <p:spPr>
          <a:xfrm>
            <a:off x="7205472" y="4279392"/>
            <a:ext cx="3931920" cy="256032"/>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b="1" i="0">
                <a:solidFill>
                  <a:srgbClr val="171717"/>
                </a:solidFill>
                <a:latin typeface="Malgun Gothic"/>
                <a:ea typeface="Malgun Gothic"/>
                <a:cs typeface="Malgun Gothic"/>
              </a:rPr>
              <a:t>판정</a:t>
            </a:r>
            <a:endParaRPr sz="1050"/>
          </a:p>
        </p:txBody>
      </p:sp>
      <p:sp>
        <p:nvSpPr>
          <p:cNvPr id="28" name="Text 25">
            <a:extLst>
              <a:ext uri="{FF2B5EF4-FFF2-40B4-BE49-F238E27FC236}">
                <a16:creationId xmlns:a16="http://schemas.microsoft.com/office/drawing/2014/main" id="{AB5E445D-A31F-47A8-979A-F0D382B5944C}"/>
              </a:ext>
            </a:extLst>
          </p:cNvPr>
          <p:cNvSpPr>
            <a:spLocks noGrp="1"/>
          </p:cNvSpPr>
          <p:nvPr/>
        </p:nvSpPr>
        <p:spPr>
          <a:xfrm>
            <a:off x="7205472" y="4535424"/>
            <a:ext cx="3931920" cy="365760"/>
          </a:xfrm>
          <a:prstGeom prst="rect">
            <a:avLst/>
          </a:prstGeom>
          <a:noFill/>
          <a:ln w="0">
            <a:noFill/>
          </a:ln>
        </p:spPr>
        <p:txBody>
          <a:bodyPr wrap="square" lIns="0" tIns="0" rIns="0" bIns="0" anchor="ctr">
            <a:noAutofit/>
          </a:bodyPr>
          <a:lstStyle/>
          <a:p>
            <a:pPr marL="0" indent="0" algn="l">
              <a:buNone/>
              <a:defRPr sz="1350" i="0">
                <a:solidFill>
                  <a:srgbClr val="171717"/>
                </a:solidFill>
                <a:latin typeface="Malgun Gothic"/>
                <a:ea typeface="Malgun Gothic"/>
                <a:cs typeface="Malgun Gothic"/>
              </a:defRPr>
            </a:pPr>
            <a:r>
              <a:rPr sz="1350" b="1" i="0">
                <a:solidFill>
                  <a:srgbClr val="171717"/>
                </a:solidFill>
                <a:latin typeface="Malgun Gothic"/>
                <a:ea typeface="Malgun Gothic"/>
                <a:cs typeface="Malgun Gothic"/>
              </a:rPr>
              <a:t>Case 2 (둘이 같은 정도)</a:t>
            </a:r>
            <a:endParaRPr sz="1350"/>
          </a:p>
        </p:txBody>
      </p:sp>
      <p:sp>
        <p:nvSpPr>
          <p:cNvPr id="30" name="Text 27">
            <a:extLst>
              <a:ext uri="{FF2B5EF4-FFF2-40B4-BE49-F238E27FC236}">
                <a16:creationId xmlns:a16="http://schemas.microsoft.com/office/drawing/2014/main" id="{90E3CC72-EFC4-4AD1-B368-973FABC23412}"/>
              </a:ext>
            </a:extLst>
          </p:cNvPr>
          <p:cNvSpPr>
            <a:spLocks noGrp="1"/>
          </p:cNvSpPr>
          <p:nvPr/>
        </p:nvSpPr>
        <p:spPr>
          <a:xfrm>
            <a:off x="7040880" y="5193792"/>
            <a:ext cx="4233672" cy="749808"/>
          </a:xfrm>
          <a:prstGeom prst="rect">
            <a:avLst/>
          </a:prstGeom>
          <a:noFill/>
          <a:ln w="0">
            <a:noFill/>
          </a:ln>
        </p:spPr>
        <p:txBody>
          <a:bodyPr wrap="square" lIns="0" tIns="0" rIns="0" bIns="0" anchor="ctr">
            <a:noAutofit/>
          </a:bodyPr>
          <a:lstStyle/>
          <a:p>
            <a:pPr marL="0" indent="0" algn="ctr">
              <a:buNone/>
              <a:defRPr sz="2000" i="0">
                <a:solidFill>
                  <a:srgbClr val="171717"/>
                </a:solidFill>
                <a:latin typeface="Malgun Gothic"/>
                <a:ea typeface="Malgun Gothic"/>
                <a:cs typeface="Malgun Gothic"/>
              </a:defRPr>
            </a:pPr>
            <a:r>
              <a:rPr sz="2000" b="1" i="0">
                <a:solidFill>
                  <a:srgbClr val="171717"/>
                </a:solidFill>
                <a:latin typeface="Malgun Gothic"/>
                <a:ea typeface="Malgun Gothic"/>
                <a:cs typeface="Malgun Gothic"/>
              </a:rPr>
              <a:t>T(n) = Θ(log n)</a:t>
            </a:r>
            <a:endParaRPr sz="2000"/>
          </a:p>
        </p:txBody>
      </p:sp>
      <p:sp>
        <p:nvSpPr>
          <p:cNvPr id="32" name="직사각형 31">
            <a:extLst>
              <a:ext uri="{FF2B5EF4-FFF2-40B4-BE49-F238E27FC236}">
                <a16:creationId xmlns:a16="http://schemas.microsoft.com/office/drawing/2014/main" id="{3B3EFE02-FF9F-4D06-8CDA-878456BF4D10}"/>
              </a:ext>
            </a:extLst>
          </p:cNvPr>
          <p:cNvSpPr>
            <a:spLocks noGrp="1"/>
          </p:cNvSpPr>
          <p:nvPr/>
        </p:nvSpPr>
        <p:spPr>
          <a:xfrm>
            <a:off x="6784848" y="1737360"/>
            <a:ext cx="4745736" cy="9525"/>
          </a:xfrm>
          <a:prstGeom prst="rect">
            <a:avLst/>
          </a:prstGeom>
          <a:solidFill>
            <a:srgbClr val="D4D4D4"/>
          </a:solidFill>
          <a:ln w="0">
            <a:noFill/>
          </a:ln>
        </p:spPr>
      </p:sp>
      <p:sp>
        <p:nvSpPr>
          <p:cNvPr id="33" name="직사각형 32">
            <a:extLst>
              <a:ext uri="{FF2B5EF4-FFF2-40B4-BE49-F238E27FC236}">
                <a16:creationId xmlns:a16="http://schemas.microsoft.com/office/drawing/2014/main" id="{A95C91CA-6F5D-481E-93CB-0F6791FD526E}"/>
              </a:ext>
            </a:extLst>
          </p:cNvPr>
          <p:cNvSpPr>
            <a:spLocks noGrp="1"/>
          </p:cNvSpPr>
          <p:nvPr/>
        </p:nvSpPr>
        <p:spPr>
          <a:xfrm>
            <a:off x="7040880" y="2432304"/>
            <a:ext cx="4233672"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D009A4B4-E387-452E-9396-C5B2EADA9E2E}"/>
              </a:ext>
            </a:extLst>
          </p:cNvPr>
          <p:cNvSpPr>
            <a:spLocks noGrp="1"/>
          </p:cNvSpPr>
          <p:nvPr/>
        </p:nvSpPr>
        <p:spPr>
          <a:xfrm>
            <a:off x="7040880" y="3328416"/>
            <a:ext cx="4233672" cy="9525"/>
          </a:xfrm>
          <a:prstGeom prst="rect">
            <a:avLst/>
          </a:prstGeom>
          <a:solidFill>
            <a:srgbClr val="D4D4D4"/>
          </a:solidFill>
          <a:ln w="0">
            <a:noFill/>
          </a:ln>
        </p:spPr>
      </p:sp>
      <p:sp>
        <p:nvSpPr>
          <p:cNvPr id="35" name="직사각형 34">
            <a:extLst>
              <a:ext uri="{FF2B5EF4-FFF2-40B4-BE49-F238E27FC236}">
                <a16:creationId xmlns:a16="http://schemas.microsoft.com/office/drawing/2014/main" id="{B99BD2CD-3849-4B30-94D1-0AA969329539}"/>
              </a:ext>
            </a:extLst>
          </p:cNvPr>
          <p:cNvSpPr>
            <a:spLocks noGrp="1"/>
          </p:cNvSpPr>
          <p:nvPr/>
        </p:nvSpPr>
        <p:spPr>
          <a:xfrm>
            <a:off x="7040880" y="4224528"/>
            <a:ext cx="4233672"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362B33EE-8821-40C7-A768-1470E7BF277A}"/>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4.7  </a:t>
            </a:r>
            <a:r>
              <a:rPr lang="ko-KR" altLang="en-US" sz="1050" b="1" i="0">
                <a:solidFill>
                  <a:srgbClr val="606060"/>
                </a:solidFill>
                <a:latin typeface="Malgun Gothic"/>
                <a:ea typeface="Malgun Gothic"/>
                <a:cs typeface="Malgun Gothic"/>
              </a:rPr>
              <a:t>마스터 정리</a:t>
            </a:r>
            <a:endParaRPr sz="1050" b="1" i="0">
              <a:solidFill>
                <a:srgbClr val="606060"/>
              </a:solidFill>
              <a:latin typeface="Malgun Gothic"/>
              <a:ea typeface="Malgun Gothic"/>
              <a:cs typeface="Malgun Gothic"/>
            </a:endParaRPr>
          </a:p>
        </p:txBody>
      </p:sp>
      <p:sp>
        <p:nvSpPr>
          <p:cNvPr id="37" name="직사각형 36">
            <a:extLst>
              <a:ext uri="{FF2B5EF4-FFF2-40B4-BE49-F238E27FC236}">
                <a16:creationId xmlns:a16="http://schemas.microsoft.com/office/drawing/2014/main" id="{A42742D5-F674-4971-B62F-B38F6CE88FCC}"/>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8" name="직사각형 37">
            <a:extLst>
              <a:ext uri="{FF2B5EF4-FFF2-40B4-BE49-F238E27FC236}">
                <a16:creationId xmlns:a16="http://schemas.microsoft.com/office/drawing/2014/main" id="{63BFFF5E-159B-4934-B1CF-55A5C40D108C}"/>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적용 ① 이진 탐색</a:t>
            </a:r>
          </a:p>
        </p:txBody>
      </p:sp>
      <p:sp>
        <p:nvSpPr>
          <p:cNvPr id="39" name="직사각형 38">
            <a:extLst>
              <a:ext uri="{FF2B5EF4-FFF2-40B4-BE49-F238E27FC236}">
                <a16:creationId xmlns:a16="http://schemas.microsoft.com/office/drawing/2014/main" id="{3D03AE7A-FA5A-466D-A8D5-01586AA1C024}"/>
              </a:ext>
            </a:extLst>
          </p:cNvPr>
          <p:cNvSpPr>
            <a:spLocks noGrp="1"/>
          </p:cNvSpPr>
          <p:nvPr/>
        </p:nvSpPr>
        <p:spPr>
          <a:xfrm>
            <a:off x="609600" y="1381125"/>
            <a:ext cx="10972800" cy="19050"/>
          </a:xfrm>
          <a:prstGeom prst="rect">
            <a:avLst/>
          </a:prstGeom>
          <a:solidFill>
            <a:srgbClr val="171717"/>
          </a:solidFill>
          <a:ln w="0">
            <a:noFill/>
          </a:ln>
        </p:spPr>
      </p:sp>
      <p:sp>
        <p:nvSpPr>
          <p:cNvPr id="40" name="직사각형 39">
            <a:extLst>
              <a:ext uri="{FF2B5EF4-FFF2-40B4-BE49-F238E27FC236}">
                <a16:creationId xmlns:a16="http://schemas.microsoft.com/office/drawing/2014/main" id="{D59ABB60-8F47-4D25-BE82-114693D09F15}"/>
              </a:ext>
            </a:extLst>
          </p:cNvPr>
          <p:cNvSpPr>
            <a:spLocks noGrp="1"/>
          </p:cNvSpPr>
          <p:nvPr/>
        </p:nvSpPr>
        <p:spPr>
          <a:xfrm>
            <a:off x="609600" y="6438900"/>
            <a:ext cx="10972800" cy="9525"/>
          </a:xfrm>
          <a:prstGeom prst="rect">
            <a:avLst/>
          </a:prstGeom>
          <a:solidFill>
            <a:srgbClr val="D4D4D4"/>
          </a:solidFill>
          <a:ln w="0">
            <a:noFill/>
          </a:ln>
        </p:spPr>
      </p:sp>
      <p:sp>
        <p:nvSpPr>
          <p:cNvPr id="41" name="직사각형 40">
            <a:extLst>
              <a:ext uri="{FF2B5EF4-FFF2-40B4-BE49-F238E27FC236}">
                <a16:creationId xmlns:a16="http://schemas.microsoft.com/office/drawing/2014/main" id="{3CB42D57-C243-4A2B-8E98-6FF2F9D093EA}"/>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2" name="직사각형 41">
            <a:extLst>
              <a:ext uri="{FF2B5EF4-FFF2-40B4-BE49-F238E27FC236}">
                <a16:creationId xmlns:a16="http://schemas.microsoft.com/office/drawing/2014/main" id="{E05891EF-8CA3-4A5E-90ED-62F5860E0821}"/>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112</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2023195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E492C0E0-29AE-43BF-B5B9-E6F94AC487F6}"/>
              </a:ext>
            </a:extLst>
          </p:cNvPr>
          <p:cNvSpPr>
            <a:spLocks noGrp="1"/>
          </p:cNvSpPr>
          <p:nvPr/>
        </p:nvSpPr>
        <p:spPr>
          <a:xfrm>
            <a:off x="658368" y="1737360"/>
            <a:ext cx="5806440" cy="548640"/>
          </a:xfrm>
          <a:prstGeom prst="rect">
            <a:avLst/>
          </a:prstGeom>
          <a:noFill/>
          <a:ln w="0">
            <a:noFill/>
          </a:ln>
        </p:spPr>
        <p:txBody>
          <a:bodyPr wrap="square" lIns="0" tIns="0" rIns="0" bIns="0" anchor="t">
            <a:noAutofit/>
          </a:bodyPr>
          <a:lstStyle/>
          <a:p>
            <a:pPr marL="0" indent="0" algn="l">
              <a:lnSpc>
                <a:spcPct val="142000"/>
              </a:lnSpc>
              <a:buNone/>
              <a:defRPr sz="1300" i="0">
                <a:solidFill>
                  <a:srgbClr val="606060"/>
                </a:solidFill>
                <a:latin typeface="Malgun Gothic"/>
                <a:ea typeface="Malgun Gothic"/>
                <a:cs typeface="Malgun Gothic"/>
              </a:defRPr>
            </a:pPr>
            <a:r>
              <a:rPr lang="ko-KR" altLang="en-US" sz="1300" i="0">
                <a:solidFill>
                  <a:srgbClr val="606060"/>
                </a:solidFill>
                <a:latin typeface="Malgun Gothic"/>
                <a:ea typeface="Malgun Gothic"/>
                <a:cs typeface="Malgun Gothic"/>
              </a:rPr>
              <a:t>병합</a:t>
            </a:r>
            <a:r>
              <a:rPr sz="1300" i="0">
                <a:solidFill>
                  <a:srgbClr val="606060"/>
                </a:solidFill>
                <a:latin typeface="Malgun Gothic"/>
                <a:ea typeface="Malgun Gothic"/>
                <a:cs typeface="Malgun Gothic"/>
              </a:rPr>
              <a:t> 정렬은 문제를 2개의 부분 문제로 나누고, 각 부분 문제의 크기는 원본의 1/2이다. 나누고 합치는 데 걸리는 비용은 입력 크기 n에 비례한다.</a:t>
            </a:r>
            <a:endParaRPr sz="1300"/>
          </a:p>
        </p:txBody>
      </p:sp>
      <p:sp>
        <p:nvSpPr>
          <p:cNvPr id="8" name="Text 5">
            <a:extLst>
              <a:ext uri="{FF2B5EF4-FFF2-40B4-BE49-F238E27FC236}">
                <a16:creationId xmlns:a16="http://schemas.microsoft.com/office/drawing/2014/main" id="{C88A57AD-7561-4D34-AD06-D261F67EA28A}"/>
              </a:ext>
            </a:extLst>
          </p:cNvPr>
          <p:cNvSpPr>
            <a:spLocks noGrp="1"/>
          </p:cNvSpPr>
          <p:nvPr/>
        </p:nvSpPr>
        <p:spPr>
          <a:xfrm>
            <a:off x="658368" y="2395728"/>
            <a:ext cx="5806440" cy="960120"/>
          </a:xfrm>
          <a:prstGeom prst="rect">
            <a:avLst/>
          </a:prstGeom>
          <a:noFill/>
          <a:ln w="0">
            <a:noFill/>
          </a:ln>
        </p:spPr>
        <p:txBody>
          <a:bodyPr wrap="square" lIns="0" tIns="0" rIns="0" bIns="0" anchor="ctr">
            <a:noAutofit/>
          </a:bodyPr>
          <a:lstStyle/>
          <a:p>
            <a:pPr marL="0" indent="0" algn="ctr">
              <a:buNone/>
              <a:defRPr sz="2400" i="0">
                <a:solidFill>
                  <a:srgbClr val="171717"/>
                </a:solidFill>
                <a:latin typeface="Malgun Gothic"/>
                <a:ea typeface="Malgun Gothic"/>
                <a:cs typeface="Malgun Gothic"/>
              </a:defRPr>
            </a:pPr>
            <a:r>
              <a:rPr sz="2400" b="1" i="0">
                <a:solidFill>
                  <a:srgbClr val="171717"/>
                </a:solidFill>
                <a:latin typeface="Malgun Gothic"/>
                <a:ea typeface="Malgun Gothic"/>
                <a:cs typeface="Malgun Gothic"/>
              </a:rPr>
              <a:t>T(n) = 2T(n/2) + cn</a:t>
            </a:r>
            <a:endParaRPr sz="2400"/>
          </a:p>
        </p:txBody>
      </p:sp>
      <p:sp>
        <p:nvSpPr>
          <p:cNvPr id="10" name="Text 7">
            <a:extLst>
              <a:ext uri="{FF2B5EF4-FFF2-40B4-BE49-F238E27FC236}">
                <a16:creationId xmlns:a16="http://schemas.microsoft.com/office/drawing/2014/main" id="{B0E610AC-7329-44ED-9724-A39AE0F877DA}"/>
              </a:ext>
            </a:extLst>
          </p:cNvPr>
          <p:cNvSpPr>
            <a:spLocks noGrp="1"/>
          </p:cNvSpPr>
          <p:nvPr/>
        </p:nvSpPr>
        <p:spPr>
          <a:xfrm>
            <a:off x="896112" y="3566160"/>
            <a:ext cx="1920240" cy="658368"/>
          </a:xfrm>
          <a:prstGeom prst="rect">
            <a:avLst/>
          </a:prstGeom>
          <a:noFill/>
          <a:ln w="0">
            <a:noFill/>
          </a:ln>
        </p:spPr>
        <p:txBody>
          <a:bodyPr wrap="square" lIns="0" tIns="0" rIns="0" bIns="0" anchor="ctr">
            <a:noAutofit/>
          </a:bodyPr>
          <a:lstStyle/>
          <a:p>
            <a:pPr marL="0" indent="0" algn="l">
              <a:buNone/>
              <a:defRPr sz="1300" i="0">
                <a:solidFill>
                  <a:srgbClr val="171717"/>
                </a:solidFill>
                <a:latin typeface="Consolas"/>
                <a:ea typeface="Consolas"/>
                <a:cs typeface="Consolas"/>
              </a:defRPr>
            </a:pPr>
            <a:r>
              <a:rPr sz="1300" b="1" i="0">
                <a:solidFill>
                  <a:srgbClr val="171717"/>
                </a:solidFill>
                <a:latin typeface="Consolas"/>
                <a:ea typeface="Consolas"/>
                <a:cs typeface="Consolas"/>
              </a:rPr>
              <a:t>a = 2</a:t>
            </a:r>
            <a:endParaRPr sz="1300"/>
          </a:p>
        </p:txBody>
      </p:sp>
      <p:sp>
        <p:nvSpPr>
          <p:cNvPr id="11" name="Text 8">
            <a:extLst>
              <a:ext uri="{FF2B5EF4-FFF2-40B4-BE49-F238E27FC236}">
                <a16:creationId xmlns:a16="http://schemas.microsoft.com/office/drawing/2014/main" id="{FA410922-E560-44EB-9B7B-3921E54E144C}"/>
              </a:ext>
            </a:extLst>
          </p:cNvPr>
          <p:cNvSpPr>
            <a:spLocks noGrp="1"/>
          </p:cNvSpPr>
          <p:nvPr/>
        </p:nvSpPr>
        <p:spPr>
          <a:xfrm>
            <a:off x="2898648" y="3566160"/>
            <a:ext cx="3291840" cy="65836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2개의 부분 문제로 나눈다</a:t>
            </a:r>
            <a:endParaRPr sz="1150"/>
          </a:p>
        </p:txBody>
      </p:sp>
      <p:sp>
        <p:nvSpPr>
          <p:cNvPr id="13" name="Text 10">
            <a:extLst>
              <a:ext uri="{FF2B5EF4-FFF2-40B4-BE49-F238E27FC236}">
                <a16:creationId xmlns:a16="http://schemas.microsoft.com/office/drawing/2014/main" id="{37B8580A-A92C-4C45-AEC0-3CF183FB4A13}"/>
              </a:ext>
            </a:extLst>
          </p:cNvPr>
          <p:cNvSpPr>
            <a:spLocks noGrp="1"/>
          </p:cNvSpPr>
          <p:nvPr/>
        </p:nvSpPr>
        <p:spPr>
          <a:xfrm>
            <a:off x="896112" y="4343400"/>
            <a:ext cx="1920240" cy="658368"/>
          </a:xfrm>
          <a:prstGeom prst="rect">
            <a:avLst/>
          </a:prstGeom>
          <a:noFill/>
          <a:ln w="0">
            <a:noFill/>
          </a:ln>
        </p:spPr>
        <p:txBody>
          <a:bodyPr wrap="square" lIns="0" tIns="0" rIns="0" bIns="0" anchor="ctr">
            <a:noAutofit/>
          </a:bodyPr>
          <a:lstStyle/>
          <a:p>
            <a:pPr marL="0" indent="0" algn="l">
              <a:buNone/>
              <a:defRPr sz="1300" i="0">
                <a:solidFill>
                  <a:srgbClr val="171717"/>
                </a:solidFill>
                <a:latin typeface="Consolas"/>
                <a:ea typeface="Consolas"/>
                <a:cs typeface="Consolas"/>
              </a:defRPr>
            </a:pPr>
            <a:r>
              <a:rPr sz="1300" b="1" i="0">
                <a:solidFill>
                  <a:srgbClr val="171717"/>
                </a:solidFill>
                <a:latin typeface="Consolas"/>
                <a:ea typeface="Consolas"/>
                <a:cs typeface="Consolas"/>
              </a:rPr>
              <a:t>b = 2</a:t>
            </a:r>
            <a:endParaRPr sz="1300"/>
          </a:p>
        </p:txBody>
      </p:sp>
      <p:sp>
        <p:nvSpPr>
          <p:cNvPr id="14" name="Text 11">
            <a:extLst>
              <a:ext uri="{FF2B5EF4-FFF2-40B4-BE49-F238E27FC236}">
                <a16:creationId xmlns:a16="http://schemas.microsoft.com/office/drawing/2014/main" id="{51D7DC5A-30DA-486D-95FC-0F1B34D20001}"/>
              </a:ext>
            </a:extLst>
          </p:cNvPr>
          <p:cNvSpPr>
            <a:spLocks noGrp="1"/>
          </p:cNvSpPr>
          <p:nvPr/>
        </p:nvSpPr>
        <p:spPr>
          <a:xfrm>
            <a:off x="2898648" y="4343400"/>
            <a:ext cx="3291840" cy="65836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각 부분 문제 크기는 1/2</a:t>
            </a:r>
            <a:endParaRPr sz="1150"/>
          </a:p>
        </p:txBody>
      </p:sp>
      <p:sp>
        <p:nvSpPr>
          <p:cNvPr id="16" name="Text 13">
            <a:extLst>
              <a:ext uri="{FF2B5EF4-FFF2-40B4-BE49-F238E27FC236}">
                <a16:creationId xmlns:a16="http://schemas.microsoft.com/office/drawing/2014/main" id="{6C27668A-5883-40A5-B963-51B77CF9D58E}"/>
              </a:ext>
            </a:extLst>
          </p:cNvPr>
          <p:cNvSpPr>
            <a:spLocks noGrp="1"/>
          </p:cNvSpPr>
          <p:nvPr/>
        </p:nvSpPr>
        <p:spPr>
          <a:xfrm>
            <a:off x="896112" y="5120640"/>
            <a:ext cx="1920240" cy="658368"/>
          </a:xfrm>
          <a:prstGeom prst="rect">
            <a:avLst/>
          </a:prstGeom>
          <a:noFill/>
          <a:ln w="0">
            <a:noFill/>
          </a:ln>
        </p:spPr>
        <p:txBody>
          <a:bodyPr wrap="square" lIns="0" tIns="0" rIns="0" bIns="0" anchor="ctr">
            <a:noAutofit/>
          </a:bodyPr>
          <a:lstStyle/>
          <a:p>
            <a:pPr marL="0" indent="0" algn="l">
              <a:buNone/>
              <a:defRPr sz="1300" i="0">
                <a:solidFill>
                  <a:srgbClr val="171717"/>
                </a:solidFill>
                <a:latin typeface="Consolas"/>
                <a:ea typeface="Consolas"/>
                <a:cs typeface="Consolas"/>
              </a:defRPr>
            </a:pPr>
            <a:r>
              <a:rPr sz="1300" b="1" i="0">
                <a:solidFill>
                  <a:srgbClr val="171717"/>
                </a:solidFill>
                <a:latin typeface="Consolas"/>
                <a:ea typeface="Consolas"/>
                <a:cs typeface="Consolas"/>
              </a:rPr>
              <a:t>f(n) = cn</a:t>
            </a:r>
            <a:endParaRPr sz="1300"/>
          </a:p>
        </p:txBody>
      </p:sp>
      <p:sp>
        <p:nvSpPr>
          <p:cNvPr id="17" name="Text 14">
            <a:extLst>
              <a:ext uri="{FF2B5EF4-FFF2-40B4-BE49-F238E27FC236}">
                <a16:creationId xmlns:a16="http://schemas.microsoft.com/office/drawing/2014/main" id="{3182250D-02D0-4FDE-851B-AEC568219408}"/>
              </a:ext>
            </a:extLst>
          </p:cNvPr>
          <p:cNvSpPr>
            <a:spLocks noGrp="1"/>
          </p:cNvSpPr>
          <p:nvPr/>
        </p:nvSpPr>
        <p:spPr>
          <a:xfrm>
            <a:off x="2898648" y="5120640"/>
            <a:ext cx="3291840" cy="65836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병합 비용은 n에 비례 (c는 상수)</a:t>
            </a:r>
            <a:endParaRPr sz="1150"/>
          </a:p>
        </p:txBody>
      </p:sp>
      <p:sp>
        <p:nvSpPr>
          <p:cNvPr id="19" name="Text 16">
            <a:extLst>
              <a:ext uri="{FF2B5EF4-FFF2-40B4-BE49-F238E27FC236}">
                <a16:creationId xmlns:a16="http://schemas.microsoft.com/office/drawing/2014/main" id="{A2115A6C-3AB4-4EDD-8133-4D53484BF600}"/>
              </a:ext>
            </a:extLst>
          </p:cNvPr>
          <p:cNvSpPr>
            <a:spLocks noGrp="1"/>
          </p:cNvSpPr>
          <p:nvPr/>
        </p:nvSpPr>
        <p:spPr>
          <a:xfrm>
            <a:off x="7040880" y="1956816"/>
            <a:ext cx="4206240" cy="329184"/>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마스터 정리 적용</a:t>
            </a:r>
            <a:endParaRPr sz="1400"/>
          </a:p>
        </p:txBody>
      </p:sp>
      <p:sp>
        <p:nvSpPr>
          <p:cNvPr id="21" name="Text 18">
            <a:extLst>
              <a:ext uri="{FF2B5EF4-FFF2-40B4-BE49-F238E27FC236}">
                <a16:creationId xmlns:a16="http://schemas.microsoft.com/office/drawing/2014/main" id="{0A884545-0E21-41A6-ACC8-5AD9387E6BD4}"/>
              </a:ext>
            </a:extLst>
          </p:cNvPr>
          <p:cNvSpPr>
            <a:spLocks noGrp="1"/>
          </p:cNvSpPr>
          <p:nvPr/>
        </p:nvSpPr>
        <p:spPr>
          <a:xfrm>
            <a:off x="7205472" y="2487168"/>
            <a:ext cx="3931920" cy="256032"/>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b="1" i="0">
                <a:solidFill>
                  <a:srgbClr val="171717"/>
                </a:solidFill>
                <a:latin typeface="Malgun Gothic"/>
                <a:ea typeface="Malgun Gothic"/>
                <a:cs typeface="Malgun Gothic"/>
              </a:rPr>
              <a:t>기준값 계산</a:t>
            </a:r>
            <a:endParaRPr sz="1050"/>
          </a:p>
        </p:txBody>
      </p:sp>
      <p:sp>
        <p:nvSpPr>
          <p:cNvPr id="22" name="Text 19">
            <a:extLst>
              <a:ext uri="{FF2B5EF4-FFF2-40B4-BE49-F238E27FC236}">
                <a16:creationId xmlns:a16="http://schemas.microsoft.com/office/drawing/2014/main" id="{6D70E121-1330-4B49-B757-3A79E0A04841}"/>
              </a:ext>
            </a:extLst>
          </p:cNvPr>
          <p:cNvSpPr>
            <a:spLocks noGrp="1"/>
          </p:cNvSpPr>
          <p:nvPr/>
        </p:nvSpPr>
        <p:spPr>
          <a:xfrm>
            <a:off x="7205472" y="2743200"/>
            <a:ext cx="3931920" cy="365760"/>
          </a:xfrm>
          <a:prstGeom prst="rect">
            <a:avLst/>
          </a:prstGeom>
          <a:noFill/>
          <a:ln w="0">
            <a:noFill/>
          </a:ln>
        </p:spPr>
        <p:txBody>
          <a:bodyPr wrap="square" lIns="0" tIns="0" rIns="0" bIns="0" anchor="ctr">
            <a:noAutofit/>
          </a:bodyPr>
          <a:lstStyle/>
          <a:p>
            <a:pPr marL="0" indent="0" algn="l">
              <a:buNone/>
              <a:defRPr sz="1350" i="0">
                <a:solidFill>
                  <a:srgbClr val="171717"/>
                </a:solidFill>
                <a:latin typeface="Malgun Gothic"/>
                <a:ea typeface="Malgun Gothic"/>
                <a:cs typeface="Malgun Gothic"/>
              </a:defRPr>
            </a:pPr>
            <a:r>
              <a:rPr sz="1350" b="1" i="0">
                <a:solidFill>
                  <a:srgbClr val="171717"/>
                </a:solidFill>
                <a:latin typeface="Malgun Gothic"/>
                <a:ea typeface="Malgun Gothic"/>
                <a:cs typeface="Malgun Gothic"/>
              </a:rPr>
              <a:t>n^(log₂ 2) = n^(1) = n</a:t>
            </a:r>
            <a:endParaRPr sz="1350"/>
          </a:p>
        </p:txBody>
      </p:sp>
      <p:sp>
        <p:nvSpPr>
          <p:cNvPr id="24" name="Text 21">
            <a:extLst>
              <a:ext uri="{FF2B5EF4-FFF2-40B4-BE49-F238E27FC236}">
                <a16:creationId xmlns:a16="http://schemas.microsoft.com/office/drawing/2014/main" id="{D1770FFA-AD1C-4523-A00B-F3D4F0D41367}"/>
              </a:ext>
            </a:extLst>
          </p:cNvPr>
          <p:cNvSpPr>
            <a:spLocks noGrp="1"/>
          </p:cNvSpPr>
          <p:nvPr/>
        </p:nvSpPr>
        <p:spPr>
          <a:xfrm>
            <a:off x="7205472" y="3383280"/>
            <a:ext cx="3931920" cy="256032"/>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b="1" i="0">
                <a:solidFill>
                  <a:srgbClr val="171717"/>
                </a:solidFill>
                <a:latin typeface="Malgun Gothic"/>
                <a:ea typeface="Malgun Gothic"/>
                <a:cs typeface="Malgun Gothic"/>
              </a:rPr>
              <a:t>f(n)과 비교</a:t>
            </a:r>
            <a:endParaRPr sz="1050"/>
          </a:p>
        </p:txBody>
      </p:sp>
      <p:sp>
        <p:nvSpPr>
          <p:cNvPr id="25" name="Text 22">
            <a:extLst>
              <a:ext uri="{FF2B5EF4-FFF2-40B4-BE49-F238E27FC236}">
                <a16:creationId xmlns:a16="http://schemas.microsoft.com/office/drawing/2014/main" id="{6B6A7460-52CC-4572-8B9A-33ABA222FA27}"/>
              </a:ext>
            </a:extLst>
          </p:cNvPr>
          <p:cNvSpPr>
            <a:spLocks noGrp="1"/>
          </p:cNvSpPr>
          <p:nvPr/>
        </p:nvSpPr>
        <p:spPr>
          <a:xfrm>
            <a:off x="7205472" y="3639312"/>
            <a:ext cx="3931920" cy="365760"/>
          </a:xfrm>
          <a:prstGeom prst="rect">
            <a:avLst/>
          </a:prstGeom>
          <a:noFill/>
          <a:ln w="0">
            <a:noFill/>
          </a:ln>
        </p:spPr>
        <p:txBody>
          <a:bodyPr wrap="square" lIns="0" tIns="0" rIns="0" bIns="0" anchor="ctr">
            <a:noAutofit/>
          </a:bodyPr>
          <a:lstStyle/>
          <a:p>
            <a:pPr marL="0" indent="0" algn="l">
              <a:buNone/>
              <a:defRPr sz="1350" i="0">
                <a:solidFill>
                  <a:srgbClr val="171717"/>
                </a:solidFill>
                <a:latin typeface="Malgun Gothic"/>
                <a:ea typeface="Malgun Gothic"/>
                <a:cs typeface="Malgun Gothic"/>
              </a:defRPr>
            </a:pPr>
            <a:r>
              <a:rPr sz="1350" b="1" i="0">
                <a:solidFill>
                  <a:srgbClr val="171717"/>
                </a:solidFill>
                <a:latin typeface="Malgun Gothic"/>
                <a:ea typeface="Malgun Gothic"/>
                <a:cs typeface="Malgun Gothic"/>
              </a:rPr>
              <a:t>f(n) = Θ(n)</a:t>
            </a:r>
            <a:endParaRPr sz="1350"/>
          </a:p>
        </p:txBody>
      </p:sp>
      <p:sp>
        <p:nvSpPr>
          <p:cNvPr id="27" name="Text 24">
            <a:extLst>
              <a:ext uri="{FF2B5EF4-FFF2-40B4-BE49-F238E27FC236}">
                <a16:creationId xmlns:a16="http://schemas.microsoft.com/office/drawing/2014/main" id="{7819DF14-B88A-43A6-BFB0-2631210E4E1A}"/>
              </a:ext>
            </a:extLst>
          </p:cNvPr>
          <p:cNvSpPr>
            <a:spLocks noGrp="1"/>
          </p:cNvSpPr>
          <p:nvPr/>
        </p:nvSpPr>
        <p:spPr>
          <a:xfrm>
            <a:off x="7205472" y="4279392"/>
            <a:ext cx="3931920" cy="256032"/>
          </a:xfrm>
          <a:prstGeom prst="rect">
            <a:avLst/>
          </a:prstGeom>
          <a:noFill/>
          <a:ln w="0">
            <a:noFill/>
          </a:ln>
        </p:spPr>
        <p:txBody>
          <a:bodyPr wrap="square" lIns="0" tIns="0" rIns="0" bIns="0" anchor="ctr">
            <a:noAutofit/>
          </a:bodyPr>
          <a:lstStyle/>
          <a:p>
            <a:pPr marL="0" indent="0" algn="l">
              <a:buNone/>
              <a:defRPr sz="1050" i="0">
                <a:solidFill>
                  <a:srgbClr val="171717"/>
                </a:solidFill>
                <a:latin typeface="Malgun Gothic"/>
                <a:ea typeface="Malgun Gothic"/>
                <a:cs typeface="Malgun Gothic"/>
              </a:defRPr>
            </a:pPr>
            <a:r>
              <a:rPr sz="1050" b="1" i="0">
                <a:solidFill>
                  <a:srgbClr val="171717"/>
                </a:solidFill>
                <a:latin typeface="Malgun Gothic"/>
                <a:ea typeface="Malgun Gothic"/>
                <a:cs typeface="Malgun Gothic"/>
              </a:rPr>
              <a:t>판정</a:t>
            </a:r>
            <a:endParaRPr sz="1050"/>
          </a:p>
        </p:txBody>
      </p:sp>
      <p:sp>
        <p:nvSpPr>
          <p:cNvPr id="28" name="Text 25">
            <a:extLst>
              <a:ext uri="{FF2B5EF4-FFF2-40B4-BE49-F238E27FC236}">
                <a16:creationId xmlns:a16="http://schemas.microsoft.com/office/drawing/2014/main" id="{1A94F342-742B-41B8-BF74-B5A23432F4A3}"/>
              </a:ext>
            </a:extLst>
          </p:cNvPr>
          <p:cNvSpPr>
            <a:spLocks noGrp="1"/>
          </p:cNvSpPr>
          <p:nvPr/>
        </p:nvSpPr>
        <p:spPr>
          <a:xfrm>
            <a:off x="7205472" y="4535424"/>
            <a:ext cx="3931920" cy="365760"/>
          </a:xfrm>
          <a:prstGeom prst="rect">
            <a:avLst/>
          </a:prstGeom>
          <a:noFill/>
          <a:ln w="0">
            <a:noFill/>
          </a:ln>
        </p:spPr>
        <p:txBody>
          <a:bodyPr wrap="square" lIns="0" tIns="0" rIns="0" bIns="0" anchor="ctr">
            <a:noAutofit/>
          </a:bodyPr>
          <a:lstStyle/>
          <a:p>
            <a:pPr marL="0" indent="0" algn="l">
              <a:buNone/>
              <a:defRPr sz="1350" i="0">
                <a:solidFill>
                  <a:srgbClr val="171717"/>
                </a:solidFill>
                <a:latin typeface="Malgun Gothic"/>
                <a:ea typeface="Malgun Gothic"/>
                <a:cs typeface="Malgun Gothic"/>
              </a:defRPr>
            </a:pPr>
            <a:r>
              <a:rPr sz="1350" b="1" i="0">
                <a:solidFill>
                  <a:srgbClr val="171717"/>
                </a:solidFill>
                <a:latin typeface="Malgun Gothic"/>
                <a:ea typeface="Malgun Gothic"/>
                <a:cs typeface="Malgun Gothic"/>
              </a:rPr>
              <a:t>Case 2 (둘이 같은 정도)</a:t>
            </a:r>
            <a:endParaRPr sz="1350"/>
          </a:p>
        </p:txBody>
      </p:sp>
      <p:sp>
        <p:nvSpPr>
          <p:cNvPr id="30" name="Text 27">
            <a:extLst>
              <a:ext uri="{FF2B5EF4-FFF2-40B4-BE49-F238E27FC236}">
                <a16:creationId xmlns:a16="http://schemas.microsoft.com/office/drawing/2014/main" id="{F53443B5-2947-431B-B2F0-865BFCF14CB3}"/>
              </a:ext>
            </a:extLst>
          </p:cNvPr>
          <p:cNvSpPr>
            <a:spLocks noGrp="1"/>
          </p:cNvSpPr>
          <p:nvPr/>
        </p:nvSpPr>
        <p:spPr>
          <a:xfrm>
            <a:off x="7040880" y="5193792"/>
            <a:ext cx="4233672" cy="749808"/>
          </a:xfrm>
          <a:prstGeom prst="rect">
            <a:avLst/>
          </a:prstGeom>
          <a:noFill/>
          <a:ln w="0">
            <a:noFill/>
          </a:ln>
        </p:spPr>
        <p:txBody>
          <a:bodyPr wrap="square" lIns="0" tIns="0" rIns="0" bIns="0" anchor="ctr">
            <a:noAutofit/>
          </a:bodyPr>
          <a:lstStyle/>
          <a:p>
            <a:pPr marL="0" indent="0" algn="ctr">
              <a:buNone/>
              <a:defRPr sz="2000" i="0">
                <a:solidFill>
                  <a:srgbClr val="171717"/>
                </a:solidFill>
                <a:latin typeface="Malgun Gothic"/>
                <a:ea typeface="Malgun Gothic"/>
                <a:cs typeface="Malgun Gothic"/>
              </a:defRPr>
            </a:pPr>
            <a:r>
              <a:rPr sz="2000" b="1" i="0">
                <a:solidFill>
                  <a:srgbClr val="171717"/>
                </a:solidFill>
                <a:latin typeface="Malgun Gothic"/>
                <a:ea typeface="Malgun Gothic"/>
                <a:cs typeface="Malgun Gothic"/>
              </a:rPr>
              <a:t>T(n) = Θ(n log n)</a:t>
            </a:r>
            <a:endParaRPr sz="2000"/>
          </a:p>
        </p:txBody>
      </p:sp>
      <p:sp>
        <p:nvSpPr>
          <p:cNvPr id="32" name="직사각형 31">
            <a:extLst>
              <a:ext uri="{FF2B5EF4-FFF2-40B4-BE49-F238E27FC236}">
                <a16:creationId xmlns:a16="http://schemas.microsoft.com/office/drawing/2014/main" id="{13ABD547-A7ED-4CFD-AB27-237968349B46}"/>
              </a:ext>
            </a:extLst>
          </p:cNvPr>
          <p:cNvSpPr>
            <a:spLocks noGrp="1"/>
          </p:cNvSpPr>
          <p:nvPr/>
        </p:nvSpPr>
        <p:spPr>
          <a:xfrm>
            <a:off x="6784848" y="1737360"/>
            <a:ext cx="4745736" cy="9525"/>
          </a:xfrm>
          <a:prstGeom prst="rect">
            <a:avLst/>
          </a:prstGeom>
          <a:solidFill>
            <a:srgbClr val="D4D4D4"/>
          </a:solidFill>
          <a:ln w="0">
            <a:noFill/>
          </a:ln>
        </p:spPr>
      </p:sp>
      <p:sp>
        <p:nvSpPr>
          <p:cNvPr id="33" name="직사각형 32">
            <a:extLst>
              <a:ext uri="{FF2B5EF4-FFF2-40B4-BE49-F238E27FC236}">
                <a16:creationId xmlns:a16="http://schemas.microsoft.com/office/drawing/2014/main" id="{293C1BA4-4271-4C3A-BC41-F6866FDAC33B}"/>
              </a:ext>
            </a:extLst>
          </p:cNvPr>
          <p:cNvSpPr>
            <a:spLocks noGrp="1"/>
          </p:cNvSpPr>
          <p:nvPr/>
        </p:nvSpPr>
        <p:spPr>
          <a:xfrm>
            <a:off x="7040880" y="2432304"/>
            <a:ext cx="4233672"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5044968D-4ACF-4A54-8778-A3E8C62B07E2}"/>
              </a:ext>
            </a:extLst>
          </p:cNvPr>
          <p:cNvSpPr>
            <a:spLocks noGrp="1"/>
          </p:cNvSpPr>
          <p:nvPr/>
        </p:nvSpPr>
        <p:spPr>
          <a:xfrm>
            <a:off x="7040880" y="3328416"/>
            <a:ext cx="4233672" cy="9525"/>
          </a:xfrm>
          <a:prstGeom prst="rect">
            <a:avLst/>
          </a:prstGeom>
          <a:solidFill>
            <a:srgbClr val="D4D4D4"/>
          </a:solidFill>
          <a:ln w="0">
            <a:noFill/>
          </a:ln>
        </p:spPr>
      </p:sp>
      <p:sp>
        <p:nvSpPr>
          <p:cNvPr id="35" name="직사각형 34">
            <a:extLst>
              <a:ext uri="{FF2B5EF4-FFF2-40B4-BE49-F238E27FC236}">
                <a16:creationId xmlns:a16="http://schemas.microsoft.com/office/drawing/2014/main" id="{2D39F16D-A5EC-4823-B5E8-6BE89DF12193}"/>
              </a:ext>
            </a:extLst>
          </p:cNvPr>
          <p:cNvSpPr>
            <a:spLocks noGrp="1"/>
          </p:cNvSpPr>
          <p:nvPr/>
        </p:nvSpPr>
        <p:spPr>
          <a:xfrm>
            <a:off x="7040880" y="4224528"/>
            <a:ext cx="4233672"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0AB203E9-FE78-4562-BB1C-3807F1EC3D9C}"/>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4.7  </a:t>
            </a:r>
            <a:r>
              <a:rPr lang="ko-KR" altLang="en-US" sz="1050" b="1" i="0">
                <a:solidFill>
                  <a:srgbClr val="606060"/>
                </a:solidFill>
                <a:latin typeface="Malgun Gothic"/>
                <a:ea typeface="Malgun Gothic"/>
                <a:cs typeface="Malgun Gothic"/>
              </a:rPr>
              <a:t>마스터 정리</a:t>
            </a:r>
            <a:endParaRPr sz="1050" b="1" i="0">
              <a:solidFill>
                <a:srgbClr val="606060"/>
              </a:solidFill>
              <a:latin typeface="Malgun Gothic"/>
              <a:ea typeface="Malgun Gothic"/>
              <a:cs typeface="Malgun Gothic"/>
            </a:endParaRPr>
          </a:p>
        </p:txBody>
      </p:sp>
      <p:sp>
        <p:nvSpPr>
          <p:cNvPr id="37" name="직사각형 36">
            <a:extLst>
              <a:ext uri="{FF2B5EF4-FFF2-40B4-BE49-F238E27FC236}">
                <a16:creationId xmlns:a16="http://schemas.microsoft.com/office/drawing/2014/main" id="{75299B5C-03E6-4227-B098-1E42BF184159}"/>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8" name="직사각형 37">
            <a:extLst>
              <a:ext uri="{FF2B5EF4-FFF2-40B4-BE49-F238E27FC236}">
                <a16:creationId xmlns:a16="http://schemas.microsoft.com/office/drawing/2014/main" id="{7EA2C3E6-2779-4A14-A96C-6870A095EDE6}"/>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적용 ② </a:t>
            </a:r>
            <a:r>
              <a:rPr lang="ko-KR" altLang="en-US" sz="3000" b="1" i="0">
                <a:solidFill>
                  <a:srgbClr val="171717"/>
                </a:solidFill>
                <a:latin typeface="Malgun Gothic"/>
                <a:ea typeface="Malgun Gothic"/>
                <a:cs typeface="Malgun Gothic"/>
              </a:rPr>
              <a:t>병합</a:t>
            </a:r>
            <a:r>
              <a:rPr sz="3000" b="1" i="0">
                <a:solidFill>
                  <a:srgbClr val="171717"/>
                </a:solidFill>
                <a:latin typeface="Malgun Gothic"/>
                <a:ea typeface="Malgun Gothic"/>
                <a:cs typeface="Malgun Gothic"/>
              </a:rPr>
              <a:t> 정렬</a:t>
            </a:r>
          </a:p>
        </p:txBody>
      </p:sp>
      <p:sp>
        <p:nvSpPr>
          <p:cNvPr id="39" name="직사각형 38">
            <a:extLst>
              <a:ext uri="{FF2B5EF4-FFF2-40B4-BE49-F238E27FC236}">
                <a16:creationId xmlns:a16="http://schemas.microsoft.com/office/drawing/2014/main" id="{A8E8BC29-34FD-41E6-96EF-A6DB99B098E3}"/>
              </a:ext>
            </a:extLst>
          </p:cNvPr>
          <p:cNvSpPr>
            <a:spLocks noGrp="1"/>
          </p:cNvSpPr>
          <p:nvPr/>
        </p:nvSpPr>
        <p:spPr>
          <a:xfrm>
            <a:off x="609600" y="1381125"/>
            <a:ext cx="10972800" cy="19050"/>
          </a:xfrm>
          <a:prstGeom prst="rect">
            <a:avLst/>
          </a:prstGeom>
          <a:solidFill>
            <a:srgbClr val="171717"/>
          </a:solidFill>
          <a:ln w="0">
            <a:noFill/>
          </a:ln>
        </p:spPr>
      </p:sp>
      <p:sp>
        <p:nvSpPr>
          <p:cNvPr id="40" name="직사각형 39">
            <a:extLst>
              <a:ext uri="{FF2B5EF4-FFF2-40B4-BE49-F238E27FC236}">
                <a16:creationId xmlns:a16="http://schemas.microsoft.com/office/drawing/2014/main" id="{395DFCDA-452D-435F-986A-2824FB41F57D}"/>
              </a:ext>
            </a:extLst>
          </p:cNvPr>
          <p:cNvSpPr>
            <a:spLocks noGrp="1"/>
          </p:cNvSpPr>
          <p:nvPr/>
        </p:nvSpPr>
        <p:spPr>
          <a:xfrm>
            <a:off x="609600" y="6438900"/>
            <a:ext cx="10972800" cy="9525"/>
          </a:xfrm>
          <a:prstGeom prst="rect">
            <a:avLst/>
          </a:prstGeom>
          <a:solidFill>
            <a:srgbClr val="D4D4D4"/>
          </a:solidFill>
          <a:ln w="0">
            <a:noFill/>
          </a:ln>
        </p:spPr>
      </p:sp>
      <p:sp>
        <p:nvSpPr>
          <p:cNvPr id="41" name="직사각형 40">
            <a:extLst>
              <a:ext uri="{FF2B5EF4-FFF2-40B4-BE49-F238E27FC236}">
                <a16:creationId xmlns:a16="http://schemas.microsoft.com/office/drawing/2014/main" id="{6A5898FE-CB10-4C45-8CBA-AE8E5DEEB9E2}"/>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2" name="직사각형 41">
            <a:extLst>
              <a:ext uri="{FF2B5EF4-FFF2-40B4-BE49-F238E27FC236}">
                <a16:creationId xmlns:a16="http://schemas.microsoft.com/office/drawing/2014/main" id="{6282DA7C-FA16-449C-981F-B4B7BB47005B}"/>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113</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20996550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6081E8C2-2B11-4F6C-B045-EEC943663534}"/>
              </a:ext>
            </a:extLst>
          </p:cNvPr>
          <p:cNvSpPr>
            <a:spLocks noGrp="1"/>
          </p:cNvSpPr>
          <p:nvPr/>
        </p:nvSpPr>
        <p:spPr>
          <a:xfrm>
            <a:off x="658368" y="1737360"/>
            <a:ext cx="10872216" cy="365760"/>
          </a:xfrm>
          <a:prstGeom prst="rect">
            <a:avLst/>
          </a:prstGeom>
          <a:noFill/>
          <a:ln w="0">
            <a:noFill/>
          </a:ln>
        </p:spPr>
        <p:txBody>
          <a:bodyPr wrap="square" lIns="0" tIns="0" rIns="0" bIns="0" anchor="t">
            <a:noAutofit/>
          </a:bodyPr>
          <a:lstStyle/>
          <a:p>
            <a:pPr marL="0" indent="0" algn="l">
              <a:lnSpc>
                <a:spcPct val="142000"/>
              </a:lnSpc>
              <a:buNone/>
              <a:defRPr sz="1300" i="0">
                <a:solidFill>
                  <a:srgbClr val="171717"/>
                </a:solidFill>
                <a:latin typeface="Malgun Gothic"/>
                <a:ea typeface="Malgun Gothic"/>
                <a:cs typeface="Malgun Gothic"/>
              </a:defRPr>
            </a:pPr>
            <a:r>
              <a:rPr sz="1300" i="0">
                <a:solidFill>
                  <a:srgbClr val="171717"/>
                </a:solidFill>
                <a:latin typeface="Malgun Gothic"/>
                <a:ea typeface="Malgun Gothic"/>
                <a:cs typeface="Malgun Gothic"/>
              </a:rPr>
              <a:t>지금까지 만난 분할 정복 알고리즘들의 점화식을 마스터 정리로 정리하면 다음과 같다.</a:t>
            </a:r>
            <a:endParaRPr sz="1300"/>
          </a:p>
        </p:txBody>
      </p:sp>
      <p:graphicFrame>
        <p:nvGraphicFramePr>
          <p:cNvPr id="25" name="Table 0"/>
          <p:cNvGraphicFramePr/>
          <p:nvPr/>
        </p:nvGraphicFramePr>
        <p:xfrm>
          <a:off x="658368" y="2286000"/>
          <a:ext cx="10872216" cy="3072384"/>
        </p:xfrm>
        <a:graphic>
          <a:graphicData uri="http://schemas.openxmlformats.org/drawingml/2006/table">
            <a:tbl>
              <a:tblPr/>
              <a:tblGrid>
                <a:gridCol w="21488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2459736">
                  <a:extLst>
                    <a:ext uri="{9D8B030D-6E8A-4147-A177-3AD203B41FA5}">
                      <a16:colId xmlns:a16="http://schemas.microsoft.com/office/drawing/2014/main" val="20006"/>
                    </a:ext>
                  </a:extLst>
                </a:gridCol>
              </a:tblGrid>
              <a:tr h="438912">
                <a:tc>
                  <a:txBody>
                    <a:bodyPr/>
                    <a:lstStyle/>
                    <a:p>
                      <a:pPr marL="0" indent="0" algn="ctr">
                        <a:buNone/>
                      </a:pPr>
                      <a:r>
                        <a:rPr sz="1100" b="1">
                          <a:solidFill>
                            <a:srgbClr val="FFFFFF"/>
                          </a:solidFill>
                          <a:latin typeface="Malgun Gothic"/>
                          <a:ea typeface="Malgun Gothic"/>
                          <a:cs typeface="Malgun Gothic"/>
                        </a:rPr>
                        <a:t>알고리즘</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00" b="1">
                          <a:solidFill>
                            <a:srgbClr val="FFFFFF"/>
                          </a:solidFill>
                          <a:latin typeface="Malgun Gothic"/>
                          <a:ea typeface="Malgun Gothic"/>
                          <a:cs typeface="Malgun Gothic"/>
                        </a:rPr>
                        <a:t>점화식</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00" b="1">
                          <a:solidFill>
                            <a:srgbClr val="FFFFFF"/>
                          </a:solidFill>
                          <a:latin typeface="Malgun Gothic"/>
                          <a:ea typeface="Malgun Gothic"/>
                          <a:cs typeface="Malgun Gothic"/>
                        </a:rPr>
                        <a:t>a</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00" b="1">
                          <a:solidFill>
                            <a:srgbClr val="FFFFFF"/>
                          </a:solidFill>
                          <a:latin typeface="Malgun Gothic"/>
                          <a:ea typeface="Malgun Gothic"/>
                          <a:cs typeface="Malgun Gothic"/>
                        </a:rPr>
                        <a:t>b</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00" b="1">
                          <a:solidFill>
                            <a:srgbClr val="FFFFFF"/>
                          </a:solidFill>
                          <a:latin typeface="Malgun Gothic"/>
                          <a:ea typeface="Malgun Gothic"/>
                          <a:cs typeface="Malgun Gothic"/>
                        </a:rPr>
                        <a:t>f(n)</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00" b="1">
                          <a:solidFill>
                            <a:srgbClr val="FFFFFF"/>
                          </a:solidFill>
                          <a:latin typeface="Malgun Gothic"/>
                          <a:ea typeface="Malgun Gothic"/>
                          <a:cs typeface="Malgun Gothic"/>
                        </a:rPr>
                        <a:t>경우</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00" b="1">
                          <a:solidFill>
                            <a:srgbClr val="FFFFFF"/>
                          </a:solidFill>
                          <a:latin typeface="Malgun Gothic"/>
                          <a:ea typeface="Malgun Gothic"/>
                          <a:cs typeface="Malgun Gothic"/>
                        </a:rPr>
                        <a:t>시간 복잡도</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extLst>
                  <a:ext uri="{0D108BD9-81ED-4DB2-BD59-A6C34878D82A}">
                    <a16:rowId xmlns:a16="http://schemas.microsoft.com/office/drawing/2014/main" val="10000"/>
                  </a:ext>
                </a:extLst>
              </a:tr>
              <a:tr h="438912">
                <a:tc>
                  <a:txBody>
                    <a:bodyPr/>
                    <a:lstStyle/>
                    <a:p>
                      <a:pPr marL="0" indent="0" algn="l">
                        <a:buNone/>
                      </a:pPr>
                      <a:r>
                        <a:rPr sz="1100" b="0">
                          <a:solidFill>
                            <a:srgbClr val="171717"/>
                          </a:solidFill>
                          <a:latin typeface="Malgun Gothic"/>
                          <a:ea typeface="Malgun Gothic"/>
                          <a:cs typeface="Malgun Gothic"/>
                        </a:rPr>
                        <a:t>이진 탐색</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l">
                        <a:buNone/>
                      </a:pPr>
                      <a:r>
                        <a:rPr sz="1100" b="0">
                          <a:solidFill>
                            <a:srgbClr val="171717"/>
                          </a:solidFill>
                          <a:latin typeface="Malgun Gothic"/>
                          <a:ea typeface="Malgun Gothic"/>
                          <a:cs typeface="Malgun Gothic"/>
                        </a:rPr>
                        <a:t>T(n) = T(n/2) + O(1)</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1</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O(1)</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Case 2</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O(log 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sz="1100" b="0">
                          <a:solidFill>
                            <a:srgbClr val="171717"/>
                          </a:solidFill>
                          <a:latin typeface="Malgun Gothic"/>
                          <a:ea typeface="Malgun Gothic"/>
                          <a:cs typeface="Malgun Gothic"/>
                        </a:rPr>
                        <a:t>합병 정렬</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l">
                        <a:buNone/>
                      </a:pPr>
                      <a:r>
                        <a:rPr sz="1100" b="0">
                          <a:solidFill>
                            <a:srgbClr val="171717"/>
                          </a:solidFill>
                          <a:latin typeface="Malgun Gothic"/>
                          <a:ea typeface="Malgun Gothic"/>
                          <a:cs typeface="Malgun Gothic"/>
                        </a:rPr>
                        <a:t>T(n) = 2T(n/2) + 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Case 2</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O(n log 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extLst>
                  <a:ext uri="{0D108BD9-81ED-4DB2-BD59-A6C34878D82A}">
                    <a16:rowId xmlns:a16="http://schemas.microsoft.com/office/drawing/2014/main" val="10002"/>
                  </a:ext>
                </a:extLst>
              </a:tr>
              <a:tr h="438912">
                <a:tc>
                  <a:txBody>
                    <a:bodyPr/>
                    <a:lstStyle/>
                    <a:p>
                      <a:pPr marL="0" indent="0" algn="l">
                        <a:buNone/>
                      </a:pPr>
                      <a:r>
                        <a:rPr sz="1100" b="0">
                          <a:solidFill>
                            <a:srgbClr val="171717"/>
                          </a:solidFill>
                          <a:latin typeface="Malgun Gothic"/>
                          <a:ea typeface="Malgun Gothic"/>
                          <a:cs typeface="Malgun Gothic"/>
                        </a:rPr>
                        <a:t>최대 구간 합</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l">
                        <a:buNone/>
                      </a:pPr>
                      <a:r>
                        <a:rPr sz="1100" b="0">
                          <a:solidFill>
                            <a:srgbClr val="171717"/>
                          </a:solidFill>
                          <a:latin typeface="Malgun Gothic"/>
                          <a:ea typeface="Malgun Gothic"/>
                          <a:cs typeface="Malgun Gothic"/>
                        </a:rPr>
                        <a:t>T(n) = 2T(n/2) + 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Case 2</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O(n log 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sz="1100" b="0">
                          <a:solidFill>
                            <a:srgbClr val="171717"/>
                          </a:solidFill>
                          <a:latin typeface="Malgun Gothic"/>
                          <a:ea typeface="Malgun Gothic"/>
                          <a:cs typeface="Malgun Gothic"/>
                        </a:rPr>
                        <a:t>최근접 쌍</a:t>
                      </a:r>
                      <a:endParaRPr sz="1100">
                        <a:latin typeface="Malgun Gothic"/>
                        <a:ea typeface="Malgun Gothic"/>
                        <a:cs typeface="Malgun Gothic"/>
                      </a:endParaRPr>
                    </a:p>
                    <a:p>
                      <a:pPr marL="0" indent="0" algn="l">
                        <a:buNone/>
                      </a:pPr>
                      <a:r>
                        <a:rPr sz="1100" b="0">
                          <a:solidFill>
                            <a:srgbClr val="171717"/>
                          </a:solidFill>
                          <a:latin typeface="Malgun Gothic"/>
                          <a:ea typeface="Malgun Gothic"/>
                          <a:cs typeface="Malgun Gothic"/>
                        </a:rPr>
                        <a:t>(y 정렬 유지)</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l">
                        <a:buNone/>
                      </a:pPr>
                      <a:r>
                        <a:rPr sz="1100" b="0">
                          <a:solidFill>
                            <a:srgbClr val="171717"/>
                          </a:solidFill>
                          <a:latin typeface="Malgun Gothic"/>
                          <a:ea typeface="Malgun Gothic"/>
                          <a:cs typeface="Malgun Gothic"/>
                        </a:rPr>
                        <a:t>T(n) = 2T(n/2) + 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Case 2</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O(n log 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extLst>
                  <a:ext uri="{0D108BD9-81ED-4DB2-BD59-A6C34878D82A}">
                    <a16:rowId xmlns:a16="http://schemas.microsoft.com/office/drawing/2014/main" val="10004"/>
                  </a:ext>
                </a:extLst>
              </a:tr>
              <a:tr h="438912">
                <a:tc>
                  <a:txBody>
                    <a:bodyPr/>
                    <a:lstStyle/>
                    <a:p>
                      <a:pPr marL="0" indent="0" algn="l">
                        <a:buNone/>
                      </a:pPr>
                      <a:r>
                        <a:rPr sz="1100" b="0">
                          <a:solidFill>
                            <a:srgbClr val="171717"/>
                          </a:solidFill>
                          <a:latin typeface="Malgun Gothic"/>
                          <a:ea typeface="Malgun Gothic"/>
                          <a:cs typeface="Malgun Gothic"/>
                        </a:rPr>
                        <a:t>카라츠바 (§4.7)</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l">
                        <a:buNone/>
                      </a:pPr>
                      <a:r>
                        <a:rPr sz="1100" b="0">
                          <a:solidFill>
                            <a:srgbClr val="171717"/>
                          </a:solidFill>
                          <a:latin typeface="Malgun Gothic"/>
                          <a:ea typeface="Malgun Gothic"/>
                          <a:cs typeface="Malgun Gothic"/>
                        </a:rPr>
                        <a:t>T(n) = 3T(n/2) + 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3</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O(n)</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Case 1</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00" b="0">
                          <a:solidFill>
                            <a:srgbClr val="171717"/>
                          </a:solidFill>
                          <a:latin typeface="Malgun Gothic"/>
                          <a:ea typeface="Malgun Gothic"/>
                          <a:cs typeface="Malgun Gothic"/>
                        </a:rPr>
                        <a:t>O(n^1.585)</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sz="1100" b="0">
                          <a:solidFill>
                            <a:srgbClr val="171717"/>
                          </a:solidFill>
                          <a:latin typeface="Malgun Gothic"/>
                          <a:ea typeface="Malgun Gothic"/>
                          <a:cs typeface="Malgun Gothic"/>
                        </a:rPr>
                        <a:t>스트라센 (§4.8)</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l">
                        <a:buNone/>
                      </a:pPr>
                      <a:r>
                        <a:rPr sz="1100" b="0">
                          <a:solidFill>
                            <a:srgbClr val="171717"/>
                          </a:solidFill>
                          <a:latin typeface="Malgun Gothic"/>
                          <a:ea typeface="Malgun Gothic"/>
                          <a:cs typeface="Malgun Gothic"/>
                        </a:rPr>
                        <a:t>T(n) = 7T(n/2) + O(n²)</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7</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2</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O(n²)</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Case 1</a:t>
                      </a:r>
                      <a:endParaRPr sz="110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00" b="0">
                          <a:solidFill>
                            <a:srgbClr val="171717"/>
                          </a:solidFill>
                          <a:latin typeface="Malgun Gothic"/>
                          <a:ea typeface="Malgun Gothic"/>
                          <a:cs typeface="Malgun Gothic"/>
                        </a:rPr>
                        <a:t>O(n^2.807)</a:t>
                      </a:r>
                      <a:endParaRPr sz="1100">
                        <a:latin typeface="Consolas"/>
                        <a:ea typeface="Consolas"/>
                        <a:cs typeface="Consolas"/>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extLst>
                  <a:ext uri="{0D108BD9-81ED-4DB2-BD59-A6C34878D82A}">
                    <a16:rowId xmlns:a16="http://schemas.microsoft.com/office/drawing/2014/main" val="10006"/>
                  </a:ext>
                </a:extLst>
              </a:tr>
            </a:tbl>
          </a:graphicData>
        </a:graphic>
      </p:graphicFrame>
      <p:sp>
        <p:nvSpPr>
          <p:cNvPr id="11" name="Text 6">
            <a:extLst>
              <a:ext uri="{FF2B5EF4-FFF2-40B4-BE49-F238E27FC236}">
                <a16:creationId xmlns:a16="http://schemas.microsoft.com/office/drawing/2014/main" id="{E90CC6FF-41A0-4C0E-9A4F-AC08BFEA6767}"/>
              </a:ext>
            </a:extLst>
          </p:cNvPr>
          <p:cNvSpPr>
            <a:spLocks noGrp="1"/>
          </p:cNvSpPr>
          <p:nvPr/>
        </p:nvSpPr>
        <p:spPr>
          <a:xfrm>
            <a:off x="1517904" y="5669280"/>
            <a:ext cx="9756648" cy="329184"/>
          </a:xfrm>
          <a:prstGeom prst="rect">
            <a:avLst/>
          </a:prstGeom>
          <a:noFill/>
          <a:ln w="0">
            <a:noFill/>
          </a:ln>
        </p:spPr>
        <p:txBody>
          <a:bodyPr wrap="square" lIns="0" tIns="0" rIns="0" bIns="0" anchor="ctr">
            <a:noAutofit/>
          </a:bodyPr>
          <a:lstStyle/>
          <a:p>
            <a:pPr marL="0" indent="0" algn="l">
              <a:lnSpc>
                <a:spcPct val="134000"/>
              </a:lnSpc>
              <a:buNone/>
              <a:defRPr sz="1250" i="0">
                <a:solidFill>
                  <a:srgbClr val="171717"/>
                </a:solidFill>
                <a:latin typeface="Malgun Gothic"/>
                <a:ea typeface="Malgun Gothic"/>
                <a:cs typeface="Malgun Gothic"/>
              </a:defRPr>
            </a:pPr>
            <a:r>
              <a:rPr sz="1250" i="0">
                <a:solidFill>
                  <a:srgbClr val="171717"/>
                </a:solidFill>
                <a:latin typeface="Malgun Gothic"/>
                <a:ea typeface="Malgun Gothic"/>
                <a:cs typeface="Malgun Gothic"/>
              </a:rPr>
              <a:t>재귀 호출 횟수 a를 줄이는 것이 가장 강력한 최적화다 — 다음 두 절의 주제다.</a:t>
            </a:r>
            <a:endParaRPr sz="1250"/>
          </a:p>
        </p:txBody>
      </p:sp>
      <p:sp>
        <p:nvSpPr>
          <p:cNvPr id="15" name="직사각형 14">
            <a:extLst>
              <a:ext uri="{FF2B5EF4-FFF2-40B4-BE49-F238E27FC236}">
                <a16:creationId xmlns:a16="http://schemas.microsoft.com/office/drawing/2014/main" id="{0BB678FE-851C-482D-A427-FDA6EF0AC240}"/>
              </a:ext>
            </a:extLst>
          </p:cNvPr>
          <p:cNvSpPr>
            <a:spLocks noGrp="1"/>
          </p:cNvSpPr>
          <p:nvPr/>
        </p:nvSpPr>
        <p:spPr>
          <a:xfrm>
            <a:off x="658368" y="5504688"/>
            <a:ext cx="10872216" cy="9525"/>
          </a:xfrm>
          <a:prstGeom prst="rect">
            <a:avLst/>
          </a:prstGeom>
          <a:solidFill>
            <a:srgbClr val="D4D4D4"/>
          </a:solidFill>
          <a:ln w="0">
            <a:noFill/>
          </a:ln>
        </p:spPr>
      </p:sp>
      <p:sp>
        <p:nvSpPr>
          <p:cNvPr id="16" name="직사각형 15">
            <a:extLst>
              <a:ext uri="{FF2B5EF4-FFF2-40B4-BE49-F238E27FC236}">
                <a16:creationId xmlns:a16="http://schemas.microsoft.com/office/drawing/2014/main" id="{0A5E924D-BD23-4F02-9AE5-1923C594D5B0}"/>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4.7  </a:t>
            </a:r>
            <a:r>
              <a:rPr lang="ko-KR" altLang="en-US" sz="1050" b="1" i="0">
                <a:solidFill>
                  <a:srgbClr val="606060"/>
                </a:solidFill>
                <a:latin typeface="Malgun Gothic"/>
                <a:ea typeface="Malgun Gothic"/>
                <a:cs typeface="Malgun Gothic"/>
              </a:rPr>
              <a:t>마스터 정리</a:t>
            </a:r>
            <a:endParaRPr sz="1050" b="1" i="0">
              <a:solidFill>
                <a:srgbClr val="606060"/>
              </a:solidFill>
              <a:latin typeface="Malgun Gothic"/>
              <a:ea typeface="Malgun Gothic"/>
              <a:cs typeface="Malgun Gothic"/>
            </a:endParaRPr>
          </a:p>
        </p:txBody>
      </p:sp>
      <p:sp>
        <p:nvSpPr>
          <p:cNvPr id="17" name="직사각형 16">
            <a:extLst>
              <a:ext uri="{FF2B5EF4-FFF2-40B4-BE49-F238E27FC236}">
                <a16:creationId xmlns:a16="http://schemas.microsoft.com/office/drawing/2014/main" id="{4263B057-D6BB-4351-BE1E-E3E9979E50B8}"/>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18" name="직사각형 17">
            <a:extLst>
              <a:ext uri="{FF2B5EF4-FFF2-40B4-BE49-F238E27FC236}">
                <a16:creationId xmlns:a16="http://schemas.microsoft.com/office/drawing/2014/main" id="{E6E499A2-ACA6-44F4-AE14-6B96BD8A1A14}"/>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한눈에 보는 점화식 정리</a:t>
            </a:r>
          </a:p>
        </p:txBody>
      </p:sp>
      <p:sp>
        <p:nvSpPr>
          <p:cNvPr id="19" name="직사각형 18">
            <a:extLst>
              <a:ext uri="{FF2B5EF4-FFF2-40B4-BE49-F238E27FC236}">
                <a16:creationId xmlns:a16="http://schemas.microsoft.com/office/drawing/2014/main" id="{915DC30A-B664-41EF-91B0-AB7528CA9060}"/>
              </a:ext>
            </a:extLst>
          </p:cNvPr>
          <p:cNvSpPr>
            <a:spLocks noGrp="1"/>
          </p:cNvSpPr>
          <p:nvPr/>
        </p:nvSpPr>
        <p:spPr>
          <a:xfrm>
            <a:off x="609600" y="1381125"/>
            <a:ext cx="10972800" cy="19050"/>
          </a:xfrm>
          <a:prstGeom prst="rect">
            <a:avLst/>
          </a:prstGeom>
          <a:solidFill>
            <a:srgbClr val="171717"/>
          </a:solidFill>
          <a:ln w="0">
            <a:noFill/>
          </a:ln>
        </p:spPr>
      </p:sp>
      <p:sp>
        <p:nvSpPr>
          <p:cNvPr id="20" name="직사각형 19">
            <a:extLst>
              <a:ext uri="{FF2B5EF4-FFF2-40B4-BE49-F238E27FC236}">
                <a16:creationId xmlns:a16="http://schemas.microsoft.com/office/drawing/2014/main" id="{2974D0E8-97D4-47A1-B6AF-91CB8AD1CDF1}"/>
              </a:ext>
            </a:extLst>
          </p:cNvPr>
          <p:cNvSpPr>
            <a:spLocks noGrp="1"/>
          </p:cNvSpPr>
          <p:nvPr/>
        </p:nvSpPr>
        <p:spPr>
          <a:xfrm>
            <a:off x="609600" y="6438900"/>
            <a:ext cx="10972800" cy="9525"/>
          </a:xfrm>
          <a:prstGeom prst="rect">
            <a:avLst/>
          </a:prstGeom>
          <a:solidFill>
            <a:srgbClr val="D4D4D4"/>
          </a:solidFill>
          <a:ln w="0">
            <a:noFill/>
          </a:ln>
        </p:spPr>
      </p:sp>
      <p:sp>
        <p:nvSpPr>
          <p:cNvPr id="21" name="직사각형 20">
            <a:extLst>
              <a:ext uri="{FF2B5EF4-FFF2-40B4-BE49-F238E27FC236}">
                <a16:creationId xmlns:a16="http://schemas.microsoft.com/office/drawing/2014/main" id="{5059B5C8-A498-493F-8071-A0D7DD90DC5D}"/>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22" name="직사각형 21">
            <a:extLst>
              <a:ext uri="{FF2B5EF4-FFF2-40B4-BE49-F238E27FC236}">
                <a16:creationId xmlns:a16="http://schemas.microsoft.com/office/drawing/2014/main" id="{1486F770-A88D-44FA-BCAB-B0B80ADEC995}"/>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114</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8141599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D4DE3CEB-A345-4278-8B7C-AE7489542CF1}"/>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3B5FCFCA-2FBC-47F6-B590-9D3095546899}"/>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lang="en-US" altLang="ko-KR" sz="7050" b="1" i="0">
                <a:solidFill>
                  <a:srgbClr val="474747"/>
                </a:solidFill>
                <a:latin typeface="Consolas"/>
                <a:ea typeface="Consolas"/>
                <a:cs typeface="Consolas"/>
              </a:rPr>
              <a:t>4.8</a:t>
            </a:r>
            <a:endParaRPr sz="7050" b="1" i="0">
              <a:solidFill>
                <a:srgbClr val="474747"/>
              </a:solidFill>
              <a:latin typeface="Consolas"/>
              <a:ea typeface="Consolas"/>
              <a:cs typeface="Consolas"/>
            </a:endParaRPr>
          </a:p>
        </p:txBody>
      </p:sp>
      <p:sp>
        <p:nvSpPr>
          <p:cNvPr id="3" name="직사각형 2">
            <a:extLst>
              <a:ext uri="{FF2B5EF4-FFF2-40B4-BE49-F238E27FC236}">
                <a16:creationId xmlns:a16="http://schemas.microsoft.com/office/drawing/2014/main" id="{477F1CB0-463E-4924-9411-42F53ABF0E89}"/>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BF12BBDE-50C6-49D5-83D2-BAC0A6DBED76}"/>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카라츠바 알고리즘</a:t>
            </a:r>
          </a:p>
        </p:txBody>
      </p:sp>
      <p:sp>
        <p:nvSpPr>
          <p:cNvPr id="5" name="직사각형 4">
            <a:extLst>
              <a:ext uri="{FF2B5EF4-FFF2-40B4-BE49-F238E27FC236}">
                <a16:creationId xmlns:a16="http://schemas.microsoft.com/office/drawing/2014/main" id="{DB153735-D41E-4E42-A48C-4E2DA97FF4D0}"/>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Karatsuba Algorithm (1960)</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큰 정수 곱셈의 재귀 호출을 4번에서 3번으로</a:t>
            </a:r>
          </a:p>
        </p:txBody>
      </p:sp>
      <p:sp>
        <p:nvSpPr>
          <p:cNvPr id="6" name="직사각형 5">
            <a:extLst>
              <a:ext uri="{FF2B5EF4-FFF2-40B4-BE49-F238E27FC236}">
                <a16:creationId xmlns:a16="http://schemas.microsoft.com/office/drawing/2014/main" id="{D8AF451A-CE5D-4458-975E-F9844C1AEB11}"/>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25F55E45-1083-407A-835F-5E959B6E5017}"/>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FD4205A3-3F64-4F21-99E6-79330F219FFE}"/>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115</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83918240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1F12C157-FF91-4FAA-A063-B74B0D434692}"/>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4.8  </a:t>
            </a:r>
            <a:r>
              <a:rPr lang="ko-KR" altLang="en-US" sz="1050" b="1" i="0">
                <a:solidFill>
                  <a:srgbClr val="606060"/>
                </a:solidFill>
                <a:latin typeface="Malgun Gothic"/>
                <a:ea typeface="Malgun Gothic"/>
                <a:cs typeface="Malgun Gothic"/>
              </a:rPr>
              <a:t>카라츠바 알고리즘</a:t>
            </a:r>
            <a:endParaRPr sz="1050" b="1" i="0">
              <a:solidFill>
                <a:srgbClr val="606060"/>
              </a:solidFill>
              <a:latin typeface="Malgun Gothic"/>
              <a:ea typeface="Malgun Gothic"/>
              <a:cs typeface="Malgun Gothic"/>
            </a:endParaRPr>
          </a:p>
        </p:txBody>
      </p:sp>
      <p:sp>
        <p:nvSpPr>
          <p:cNvPr id="25" name="직사각형 24">
            <a:extLst>
              <a:ext uri="{FF2B5EF4-FFF2-40B4-BE49-F238E27FC236}">
                <a16:creationId xmlns:a16="http://schemas.microsoft.com/office/drawing/2014/main" id="{8E183873-5AC6-4787-A7C6-CA6B72E163E1}"/>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26" name="직사각형 25">
            <a:extLst>
              <a:ext uri="{FF2B5EF4-FFF2-40B4-BE49-F238E27FC236}">
                <a16:creationId xmlns:a16="http://schemas.microsoft.com/office/drawing/2014/main" id="{23A503D6-6D09-4E8A-9726-A140785C68E2}"/>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문제의 분할 (divide)</a:t>
            </a:r>
          </a:p>
        </p:txBody>
      </p:sp>
      <p:sp>
        <p:nvSpPr>
          <p:cNvPr id="27" name="직사각형 26">
            <a:extLst>
              <a:ext uri="{FF2B5EF4-FFF2-40B4-BE49-F238E27FC236}">
                <a16:creationId xmlns:a16="http://schemas.microsoft.com/office/drawing/2014/main" id="{B108E93A-3390-46D2-9E1A-F903D638A850}"/>
              </a:ext>
            </a:extLst>
          </p:cNvPr>
          <p:cNvSpPr>
            <a:spLocks noGrp="1"/>
          </p:cNvSpPr>
          <p:nvPr/>
        </p:nvSpPr>
        <p:spPr>
          <a:xfrm>
            <a:off x="609600" y="1381125"/>
            <a:ext cx="10972800" cy="19050"/>
          </a:xfrm>
          <a:prstGeom prst="rect">
            <a:avLst/>
          </a:prstGeom>
          <a:solidFill>
            <a:srgbClr val="171717"/>
          </a:solidFill>
          <a:ln w="0">
            <a:noFill/>
          </a:ln>
        </p:spPr>
      </p:sp>
      <p:sp>
        <p:nvSpPr>
          <p:cNvPr id="28" name="직사각형 27">
            <a:extLst>
              <a:ext uri="{FF2B5EF4-FFF2-40B4-BE49-F238E27FC236}">
                <a16:creationId xmlns:a16="http://schemas.microsoft.com/office/drawing/2014/main" id="{530B5F4D-BD6B-44AE-BD1A-E7AD442A6E5E}"/>
              </a:ext>
            </a:extLst>
          </p:cNvPr>
          <p:cNvSpPr>
            <a:spLocks noGrp="1"/>
          </p:cNvSpPr>
          <p:nvPr/>
        </p:nvSpPr>
        <p:spPr>
          <a:xfrm>
            <a:off x="609600" y="6438900"/>
            <a:ext cx="10972800" cy="9525"/>
          </a:xfrm>
          <a:prstGeom prst="rect">
            <a:avLst/>
          </a:prstGeom>
          <a:solidFill>
            <a:srgbClr val="D4D4D4"/>
          </a:solidFill>
          <a:ln w="0">
            <a:noFill/>
          </a:ln>
        </p:spPr>
      </p:sp>
      <p:sp>
        <p:nvSpPr>
          <p:cNvPr id="29" name="직사각형 28">
            <a:extLst>
              <a:ext uri="{FF2B5EF4-FFF2-40B4-BE49-F238E27FC236}">
                <a16:creationId xmlns:a16="http://schemas.microsoft.com/office/drawing/2014/main" id="{BB43423D-E24E-431D-B164-82D74F8E0DF3}"/>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0" name="직사각형 29">
            <a:extLst>
              <a:ext uri="{FF2B5EF4-FFF2-40B4-BE49-F238E27FC236}">
                <a16:creationId xmlns:a16="http://schemas.microsoft.com/office/drawing/2014/main" id="{B6CD3DBE-C597-4C4A-9FD8-FF456D9BB53B}"/>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116</a:t>
            </a:r>
            <a:endParaRPr sz="1050" b="1" i="0">
              <a:solidFill>
                <a:srgbClr val="171717"/>
              </a:solidFill>
              <a:latin typeface="Consolas"/>
              <a:ea typeface="Consolas"/>
              <a:cs typeface="Consolas"/>
            </a:endParaRPr>
          </a:p>
        </p:txBody>
      </p:sp>
      <p:sp>
        <p:nvSpPr>
          <p:cNvPr id="31" name="직사각형 30">
            <a:extLst>
              <a:ext uri="{FF2B5EF4-FFF2-40B4-BE49-F238E27FC236}">
                <a16:creationId xmlns:a16="http://schemas.microsoft.com/office/drawing/2014/main" id="{42231B48-D880-4743-BAD4-761859FEE5CA}"/>
              </a:ext>
            </a:extLst>
          </p:cNvPr>
          <p:cNvSpPr>
            <a:spLocks noGrp="1"/>
          </p:cNvSpPr>
          <p:nvPr/>
        </p:nvSpPr>
        <p:spPr>
          <a:xfrm>
            <a:off x="609601" y="1685925"/>
            <a:ext cx="5695950"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dirty="0" err="1">
                <a:solidFill>
                  <a:srgbClr val="171717"/>
                </a:solidFill>
                <a:latin typeface="Malgun Gothic"/>
                <a:ea typeface="Malgun Gothic"/>
                <a:cs typeface="Malgun Gothic"/>
              </a:rPr>
              <a:t>m은</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뒷부분의</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자릿수입니다</a:t>
            </a:r>
            <a:r>
              <a:rPr sz="1650" dirty="0">
                <a:solidFill>
                  <a:srgbClr val="171717"/>
                </a:solidFill>
                <a:latin typeface="Malgun Gothic"/>
                <a:ea typeface="Malgun Gothic"/>
                <a:cs typeface="Malgun Gothic"/>
              </a:rPr>
              <a:t>. 큰 </a:t>
            </a:r>
            <a:r>
              <a:rPr sz="1650" dirty="0" err="1">
                <a:solidFill>
                  <a:srgbClr val="171717"/>
                </a:solidFill>
                <a:latin typeface="Malgun Gothic"/>
                <a:ea typeface="Malgun Gothic"/>
                <a:cs typeface="Malgun Gothic"/>
              </a:rPr>
              <a:t>수를</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앞부분과</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뒷부분으로</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나눕니다</a:t>
            </a:r>
            <a:r>
              <a:rPr sz="1650" dirty="0">
                <a:solidFill>
                  <a:srgbClr val="171717"/>
                </a:solidFill>
                <a:latin typeface="Malgun Gothic"/>
                <a:ea typeface="Malgun Gothic"/>
                <a:cs typeface="Malgun Gothic"/>
              </a:rPr>
              <a:t>.</a:t>
            </a:r>
          </a:p>
          <a:p>
            <a:endParaRPr sz="1650" dirty="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dirty="0">
                <a:solidFill>
                  <a:srgbClr val="171717"/>
                </a:solidFill>
                <a:latin typeface="Malgun Gothic"/>
                <a:ea typeface="Malgun Gothic"/>
                <a:cs typeface="Malgun Gothic"/>
              </a:rPr>
              <a:t>X = x₁ · 10^m + x₀</a:t>
            </a:r>
          </a:p>
          <a:p>
            <a:pPr>
              <a:lnSpc>
                <a:spcPct val="108000"/>
              </a:lnSpc>
              <a:buNone/>
              <a:defRPr sz="1650">
                <a:solidFill>
                  <a:srgbClr val="171717"/>
                </a:solidFill>
                <a:latin typeface="Malgun Gothic"/>
                <a:ea typeface="Malgun Gothic"/>
                <a:cs typeface="Malgun Gothic"/>
              </a:defRPr>
            </a:pPr>
            <a:r>
              <a:rPr sz="1650" dirty="0">
                <a:solidFill>
                  <a:srgbClr val="171717"/>
                </a:solidFill>
                <a:latin typeface="Malgun Gothic"/>
                <a:ea typeface="Malgun Gothic"/>
                <a:cs typeface="Malgun Gothic"/>
              </a:rPr>
              <a:t>Y = y₁ · 10^m + y₀</a:t>
            </a:r>
          </a:p>
          <a:p>
            <a:endParaRPr sz="1650" dirty="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dirty="0">
                <a:solidFill>
                  <a:srgbClr val="171717"/>
                </a:solidFill>
                <a:latin typeface="Malgun Gothic"/>
                <a:ea typeface="Malgun Gothic"/>
                <a:cs typeface="Malgun Gothic"/>
              </a:rPr>
              <a:t>예: 1234 = 12 · 10² + 34</a:t>
            </a:r>
          </a:p>
          <a:p>
            <a:endParaRPr sz="1650" dirty="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dirty="0">
                <a:solidFill>
                  <a:srgbClr val="171717"/>
                </a:solidFill>
                <a:latin typeface="Malgun Gothic"/>
                <a:ea typeface="Malgun Gothic"/>
                <a:cs typeface="Malgun Gothic"/>
              </a:rPr>
              <a:t>X·Y = </a:t>
            </a:r>
            <a:r>
              <a:rPr sz="1650" dirty="0" err="1">
                <a:solidFill>
                  <a:srgbClr val="171717"/>
                </a:solidFill>
                <a:latin typeface="Malgun Gothic"/>
                <a:ea typeface="Malgun Gothic"/>
                <a:cs typeface="Malgun Gothic"/>
              </a:rPr>
              <a:t>x₁y</a:t>
            </a:r>
            <a:r>
              <a:rPr sz="1650" dirty="0">
                <a:solidFill>
                  <a:srgbClr val="171717"/>
                </a:solidFill>
                <a:latin typeface="Malgun Gothic"/>
                <a:ea typeface="Malgun Gothic"/>
                <a:cs typeface="Malgun Gothic"/>
              </a:rPr>
              <a:t>₁ · 10^(2m)</a:t>
            </a:r>
          </a:p>
          <a:p>
            <a:pPr>
              <a:lnSpc>
                <a:spcPct val="108000"/>
              </a:lnSpc>
              <a:buNone/>
              <a:defRPr sz="1650">
                <a:solidFill>
                  <a:srgbClr val="171717"/>
                </a:solidFill>
                <a:latin typeface="Malgun Gothic"/>
                <a:ea typeface="Malgun Gothic"/>
                <a:cs typeface="Malgun Gothic"/>
              </a:defRPr>
            </a:pPr>
            <a:r>
              <a:rPr sz="1650" dirty="0">
                <a:solidFill>
                  <a:srgbClr val="171717"/>
                </a:solidFill>
                <a:latin typeface="Malgun Gothic"/>
                <a:ea typeface="Malgun Gothic"/>
                <a:cs typeface="Malgun Gothic"/>
              </a:rPr>
              <a:t>       + (</a:t>
            </a:r>
            <a:r>
              <a:rPr sz="1650" dirty="0" err="1">
                <a:solidFill>
                  <a:srgbClr val="171717"/>
                </a:solidFill>
                <a:latin typeface="Malgun Gothic"/>
                <a:ea typeface="Malgun Gothic"/>
                <a:cs typeface="Malgun Gothic"/>
              </a:rPr>
              <a:t>x₁y</a:t>
            </a:r>
            <a:r>
              <a:rPr sz="1650" dirty="0">
                <a:solidFill>
                  <a:srgbClr val="171717"/>
                </a:solidFill>
                <a:latin typeface="Malgun Gothic"/>
                <a:ea typeface="Malgun Gothic"/>
                <a:cs typeface="Malgun Gothic"/>
              </a:rPr>
              <a:t>₀ + </a:t>
            </a:r>
            <a:r>
              <a:rPr sz="1650" dirty="0" err="1">
                <a:solidFill>
                  <a:srgbClr val="171717"/>
                </a:solidFill>
                <a:latin typeface="Malgun Gothic"/>
                <a:ea typeface="Malgun Gothic"/>
                <a:cs typeface="Malgun Gothic"/>
              </a:rPr>
              <a:t>x₀y</a:t>
            </a:r>
            <a:r>
              <a:rPr sz="1650" dirty="0">
                <a:solidFill>
                  <a:srgbClr val="171717"/>
                </a:solidFill>
                <a:latin typeface="Malgun Gothic"/>
                <a:ea typeface="Malgun Gothic"/>
                <a:cs typeface="Malgun Gothic"/>
              </a:rPr>
              <a:t>₁) · 10^m + </a:t>
            </a:r>
            <a:r>
              <a:rPr sz="1650" dirty="0" err="1">
                <a:solidFill>
                  <a:srgbClr val="171717"/>
                </a:solidFill>
                <a:latin typeface="Malgun Gothic"/>
                <a:ea typeface="Malgun Gothic"/>
                <a:cs typeface="Malgun Gothic"/>
              </a:rPr>
              <a:t>x₀y</a:t>
            </a:r>
            <a:r>
              <a:rPr sz="1650" dirty="0">
                <a:solidFill>
                  <a:srgbClr val="171717"/>
                </a:solidFill>
                <a:latin typeface="Malgun Gothic"/>
                <a:ea typeface="Malgun Gothic"/>
                <a:cs typeface="Malgun Gothic"/>
              </a:rPr>
              <a:t>₀</a:t>
            </a:r>
          </a:p>
          <a:p>
            <a:endParaRPr sz="1650" dirty="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dirty="0" err="1">
                <a:solidFill>
                  <a:srgbClr val="171717"/>
                </a:solidFill>
                <a:latin typeface="Malgun Gothic"/>
                <a:ea typeface="Malgun Gothic"/>
                <a:cs typeface="Malgun Gothic"/>
              </a:rPr>
              <a:t>절반</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크기의</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곱셈이</a:t>
            </a:r>
            <a:r>
              <a:rPr sz="1650" dirty="0">
                <a:solidFill>
                  <a:srgbClr val="171717"/>
                </a:solidFill>
                <a:latin typeface="Malgun Gothic"/>
                <a:ea typeface="Malgun Gothic"/>
                <a:cs typeface="Malgun Gothic"/>
              </a:rPr>
              <a:t> 네 번 </a:t>
            </a:r>
            <a:r>
              <a:rPr sz="1650" dirty="0" err="1">
                <a:solidFill>
                  <a:srgbClr val="171717"/>
                </a:solidFill>
                <a:latin typeface="Malgun Gothic"/>
                <a:ea typeface="Malgun Gothic"/>
                <a:cs typeface="Malgun Gothic"/>
              </a:rPr>
              <a:t>필요합니다</a:t>
            </a:r>
            <a:r>
              <a:rPr sz="1650" dirty="0">
                <a:solidFill>
                  <a:srgbClr val="171717"/>
                </a:solidFill>
                <a:latin typeface="Malgun Gothic"/>
                <a:ea typeface="Malgun Gothic"/>
                <a:cs typeface="Malgun Gothic"/>
              </a:rPr>
              <a:t>.</a:t>
            </a:r>
          </a:p>
          <a:p>
            <a:pPr>
              <a:lnSpc>
                <a:spcPct val="108000"/>
              </a:lnSpc>
              <a:buNone/>
              <a:defRPr sz="1650">
                <a:solidFill>
                  <a:srgbClr val="171717"/>
                </a:solidFill>
                <a:latin typeface="Malgun Gothic"/>
                <a:ea typeface="Malgun Gothic"/>
                <a:cs typeface="Malgun Gothic"/>
              </a:defRPr>
            </a:pPr>
            <a:r>
              <a:rPr sz="1650" dirty="0">
                <a:solidFill>
                  <a:srgbClr val="171717"/>
                </a:solidFill>
                <a:latin typeface="Malgun Gothic"/>
                <a:ea typeface="Malgun Gothic"/>
                <a:cs typeface="Malgun Gothic"/>
              </a:rPr>
              <a:t>T(n) = 4T(n/2) + O(n) = O(n²)</a:t>
            </a:r>
          </a:p>
          <a:p>
            <a:endParaRPr sz="1650" dirty="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dirty="0" err="1">
                <a:solidFill>
                  <a:srgbClr val="171717"/>
                </a:solidFill>
                <a:latin typeface="Malgun Gothic"/>
                <a:ea typeface="Malgun Gothic"/>
                <a:cs typeface="Malgun Gothic"/>
              </a:rPr>
              <a:t>다음에는</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곱셈</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횟수를</a:t>
            </a:r>
            <a:r>
              <a:rPr sz="1650" dirty="0">
                <a:solidFill>
                  <a:srgbClr val="171717"/>
                </a:solidFill>
                <a:latin typeface="Malgun Gothic"/>
                <a:ea typeface="Malgun Gothic"/>
                <a:cs typeface="Malgun Gothic"/>
              </a:rPr>
              <a:t> 세 </a:t>
            </a:r>
            <a:r>
              <a:rPr sz="1650" dirty="0" err="1">
                <a:solidFill>
                  <a:srgbClr val="171717"/>
                </a:solidFill>
                <a:latin typeface="Malgun Gothic"/>
                <a:ea typeface="Malgun Gothic"/>
                <a:cs typeface="Malgun Gothic"/>
              </a:rPr>
              <a:t>번으로</a:t>
            </a:r>
            <a:r>
              <a:rPr sz="1650" dirty="0">
                <a:solidFill>
                  <a:srgbClr val="171717"/>
                </a:solidFill>
                <a:latin typeface="Malgun Gothic"/>
                <a:ea typeface="Malgun Gothic"/>
                <a:cs typeface="Malgun Gothic"/>
              </a:rPr>
              <a:t> </a:t>
            </a:r>
            <a:r>
              <a:rPr sz="1650" dirty="0" err="1">
                <a:solidFill>
                  <a:srgbClr val="171717"/>
                </a:solidFill>
                <a:latin typeface="Malgun Gothic"/>
                <a:ea typeface="Malgun Gothic"/>
                <a:cs typeface="Malgun Gothic"/>
              </a:rPr>
              <a:t>줄입니다</a:t>
            </a:r>
            <a:r>
              <a:rPr sz="1650" dirty="0">
                <a:solidFill>
                  <a:srgbClr val="171717"/>
                </a:solidFill>
                <a:latin typeface="Malgun Gothic"/>
                <a:ea typeface="Malgun Gothic"/>
                <a:cs typeface="Malgun Gothic"/>
              </a:rPr>
              <a:t>.</a:t>
            </a:r>
          </a:p>
        </p:txBody>
      </p:sp>
      <p:pic>
        <p:nvPicPr>
          <p:cNvPr id="41" name="그림 40"/>
          <p:cNvPicPr>
            <a:picLocks noChangeAspect="1"/>
          </p:cNvPicPr>
          <p:nvPr/>
        </p:nvPicPr>
        <p:blipFill>
          <a:blip r:embed="rId3"/>
          <a:stretch/>
        </p:blipFill>
        <p:spPr>
          <a:xfrm>
            <a:off x="7400925" y="2095500"/>
            <a:ext cx="4000500" cy="3333750"/>
          </a:xfrm>
          <a:prstGeom prst="rect">
            <a:avLst/>
          </a:prstGeom>
        </p:spPr>
      </p:pic>
    </p:spTree>
    <p:extLst>
      <p:ext uri="{BB962C8B-B14F-4D97-AF65-F5344CB8AC3E}">
        <p14:creationId xmlns:p14="http://schemas.microsoft.com/office/powerpoint/2010/main" val="10431275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AE345729-01D7-4B1A-84B3-1A63540C593B}"/>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4.8  </a:t>
            </a:r>
            <a:r>
              <a:rPr lang="ko-KR" altLang="en-US" sz="1050" b="1" i="0">
                <a:solidFill>
                  <a:srgbClr val="606060"/>
                </a:solidFill>
                <a:latin typeface="Malgun Gothic"/>
                <a:ea typeface="Malgun Gothic"/>
                <a:cs typeface="Malgun Gothic"/>
              </a:rPr>
              <a:t>카라츠바 알고리즘</a:t>
            </a:r>
            <a:endParaRPr sz="1050" b="1" i="0">
              <a:solidFill>
                <a:srgbClr val="606060"/>
              </a:solidFill>
              <a:latin typeface="Malgun Gothic"/>
              <a:ea typeface="Malgun Gothic"/>
              <a:cs typeface="Malgun Gothic"/>
            </a:endParaRPr>
          </a:p>
        </p:txBody>
      </p:sp>
      <p:sp>
        <p:nvSpPr>
          <p:cNvPr id="38" name="직사각형 37">
            <a:extLst>
              <a:ext uri="{FF2B5EF4-FFF2-40B4-BE49-F238E27FC236}">
                <a16:creationId xmlns:a16="http://schemas.microsoft.com/office/drawing/2014/main" id="{50861AE8-A573-4CA4-B35D-D3903DD85D31}"/>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9" name="직사각형 38">
            <a:extLst>
              <a:ext uri="{FF2B5EF4-FFF2-40B4-BE49-F238E27FC236}">
                <a16:creationId xmlns:a16="http://schemas.microsoft.com/office/drawing/2014/main" id="{C6B059D1-2617-4623-B4EC-0AB6936C8D54}"/>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카라츠바의 마법 — 대수적 트릭 (conquer)</a:t>
            </a:r>
          </a:p>
        </p:txBody>
      </p:sp>
      <p:sp>
        <p:nvSpPr>
          <p:cNvPr id="40" name="직사각형 39">
            <a:extLst>
              <a:ext uri="{FF2B5EF4-FFF2-40B4-BE49-F238E27FC236}">
                <a16:creationId xmlns:a16="http://schemas.microsoft.com/office/drawing/2014/main" id="{EF731251-0616-4F0E-BF68-E15F9807FA42}"/>
              </a:ext>
            </a:extLst>
          </p:cNvPr>
          <p:cNvSpPr>
            <a:spLocks noGrp="1"/>
          </p:cNvSpPr>
          <p:nvPr/>
        </p:nvSpPr>
        <p:spPr>
          <a:xfrm>
            <a:off x="609600" y="1381125"/>
            <a:ext cx="10972800" cy="19050"/>
          </a:xfrm>
          <a:prstGeom prst="rect">
            <a:avLst/>
          </a:prstGeom>
          <a:solidFill>
            <a:srgbClr val="171717"/>
          </a:solidFill>
          <a:ln w="0">
            <a:noFill/>
          </a:ln>
        </p:spPr>
      </p:sp>
      <p:sp>
        <p:nvSpPr>
          <p:cNvPr id="41" name="직사각형 40">
            <a:extLst>
              <a:ext uri="{FF2B5EF4-FFF2-40B4-BE49-F238E27FC236}">
                <a16:creationId xmlns:a16="http://schemas.microsoft.com/office/drawing/2014/main" id="{9E208B67-396F-4B1A-B46E-D9EF68A8A7A7}"/>
              </a:ext>
            </a:extLst>
          </p:cNvPr>
          <p:cNvSpPr>
            <a:spLocks noGrp="1"/>
          </p:cNvSpPr>
          <p:nvPr/>
        </p:nvSpPr>
        <p:spPr>
          <a:xfrm>
            <a:off x="609600" y="6438900"/>
            <a:ext cx="10972800" cy="9525"/>
          </a:xfrm>
          <a:prstGeom prst="rect">
            <a:avLst/>
          </a:prstGeom>
          <a:solidFill>
            <a:srgbClr val="D4D4D4"/>
          </a:solidFill>
          <a:ln w="0">
            <a:noFill/>
          </a:ln>
        </p:spPr>
      </p:sp>
      <p:sp>
        <p:nvSpPr>
          <p:cNvPr id="42" name="직사각형 41">
            <a:extLst>
              <a:ext uri="{FF2B5EF4-FFF2-40B4-BE49-F238E27FC236}">
                <a16:creationId xmlns:a16="http://schemas.microsoft.com/office/drawing/2014/main" id="{00D4284E-B4C7-4D8B-B90D-0A78322CAAD7}"/>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3" name="직사각형 42">
            <a:extLst>
              <a:ext uri="{FF2B5EF4-FFF2-40B4-BE49-F238E27FC236}">
                <a16:creationId xmlns:a16="http://schemas.microsoft.com/office/drawing/2014/main" id="{755798B5-8719-4DA1-9E73-6DDEB931A1EB}"/>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117</a:t>
            </a:r>
            <a:endParaRPr sz="1050" b="1" i="0">
              <a:solidFill>
                <a:srgbClr val="171717"/>
              </a:solidFill>
              <a:latin typeface="Consolas"/>
              <a:ea typeface="Consolas"/>
              <a:cs typeface="Consolas"/>
            </a:endParaRPr>
          </a:p>
        </p:txBody>
      </p:sp>
      <p:sp>
        <p:nvSpPr>
          <p:cNvPr id="44" name="직사각형 43">
            <a:extLst>
              <a:ext uri="{FF2B5EF4-FFF2-40B4-BE49-F238E27FC236}">
                <a16:creationId xmlns:a16="http://schemas.microsoft.com/office/drawing/2014/main" id="{D7BAA56F-51E6-4FDF-9ADB-EF5043A81724}"/>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절반 크기의 곱셈을 세 번만 수행한다.</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M₁ = x₁y₁</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M₂ = x₀y₀</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M₃ = (x₁ + x₀)(y₁ + y₀)</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교차항은 덧셈과 뺄셈으로 복원한다.</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C = x₁y₀ + x₀y₁ = M₃ − M₁ − M₂</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결합</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X·Y = M₁·10^(2m) + C·10^m + M₂</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네 번의 곱셈을 세 번으로 줄이는 것이 카라츠바의 핵심이다.</a:t>
            </a:r>
          </a:p>
        </p:txBody>
      </p:sp>
      <p:pic>
        <p:nvPicPr>
          <p:cNvPr id="54" name="그림 53"/>
          <p:cNvPicPr>
            <a:picLocks noChangeAspect="1"/>
          </p:cNvPicPr>
          <p:nvPr/>
        </p:nvPicPr>
        <p:blipFill>
          <a:blip r:embed="rId3"/>
          <a:stretch/>
        </p:blipFill>
        <p:spPr>
          <a:xfrm>
            <a:off x="7315200" y="2152610"/>
            <a:ext cx="4171950" cy="3219530"/>
          </a:xfrm>
          <a:prstGeom prst="rect">
            <a:avLst/>
          </a:prstGeom>
        </p:spPr>
      </p:pic>
    </p:spTree>
    <p:extLst>
      <p:ext uri="{BB962C8B-B14F-4D97-AF65-F5344CB8AC3E}">
        <p14:creationId xmlns:p14="http://schemas.microsoft.com/office/powerpoint/2010/main" val="9570329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27C202A0-3621-4316-91E3-228C612A29A4}"/>
              </a:ext>
            </a:extLst>
          </p:cNvPr>
          <p:cNvSpPr>
            <a:spLocks noGrp="1"/>
          </p:cNvSpPr>
          <p:nvPr/>
        </p:nvSpPr>
        <p:spPr>
          <a:xfrm>
            <a:off x="859536" y="1801368"/>
            <a:ext cx="676656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karatsuba.pseudo</a:t>
            </a:r>
            <a:endParaRPr sz="900"/>
          </a:p>
        </p:txBody>
      </p:sp>
      <p:sp>
        <p:nvSpPr>
          <p:cNvPr id="17" name="Text 13">
            <a:extLst>
              <a:ext uri="{FF2B5EF4-FFF2-40B4-BE49-F238E27FC236}">
                <a16:creationId xmlns:a16="http://schemas.microsoft.com/office/drawing/2014/main" id="{175E33B7-5A54-40F2-BAE3-9B7CDE6C4CA5}"/>
              </a:ext>
            </a:extLst>
          </p:cNvPr>
          <p:cNvSpPr>
            <a:spLocks noGrp="1"/>
          </p:cNvSpPr>
          <p:nvPr/>
        </p:nvSpPr>
        <p:spPr>
          <a:xfrm>
            <a:off x="8814816" y="1965960"/>
            <a:ext cx="2459736"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재귀 호출이 3번뿐</a:t>
            </a:r>
            <a:endParaRPr sz="1250"/>
          </a:p>
        </p:txBody>
      </p:sp>
      <p:sp>
        <p:nvSpPr>
          <p:cNvPr id="18" name="Text 14">
            <a:extLst>
              <a:ext uri="{FF2B5EF4-FFF2-40B4-BE49-F238E27FC236}">
                <a16:creationId xmlns:a16="http://schemas.microsoft.com/office/drawing/2014/main" id="{D00357F3-4639-41AB-B35D-B5F74746500C}"/>
              </a:ext>
            </a:extLst>
          </p:cNvPr>
          <p:cNvSpPr>
            <a:spLocks noGrp="1"/>
          </p:cNvSpPr>
          <p:nvPr/>
        </p:nvSpPr>
        <p:spPr>
          <a:xfrm>
            <a:off x="8814816" y="2313432"/>
            <a:ext cx="2459736" cy="960120"/>
          </a:xfrm>
          <a:prstGeom prst="rect">
            <a:avLst/>
          </a:prstGeom>
          <a:noFill/>
          <a:ln w="0">
            <a:noFill/>
          </a:ln>
        </p:spPr>
        <p:txBody>
          <a:bodyPr wrap="square" lIns="0" tIns="0" rIns="0" bIns="0" anchor="t">
            <a:noAutofit/>
          </a:bodyPr>
          <a:lstStyle/>
          <a:p>
            <a:pPr marL="0" indent="0" algn="l">
              <a:lnSpc>
                <a:spcPct val="132000"/>
              </a:lnSpc>
              <a:buNone/>
              <a:defRPr sz="1100" i="0">
                <a:solidFill>
                  <a:srgbClr val="171717"/>
                </a:solidFill>
                <a:latin typeface="Malgun Gothic"/>
                <a:ea typeface="Malgun Gothic"/>
                <a:cs typeface="Malgun Gothic"/>
              </a:defRPr>
            </a:pPr>
            <a:r>
              <a:rPr sz="1100" i="0">
                <a:solidFill>
                  <a:srgbClr val="171717"/>
                </a:solidFill>
                <a:latin typeface="Malgun Gothic"/>
                <a:ea typeface="Malgun Gothic"/>
                <a:cs typeface="Malgun Gothic"/>
              </a:rPr>
              <a:t>4번이 아니라 3번. 덧셈과 뺄셈이 몇 번 늘어나지만, 이들은 O(n)에 불과하다.</a:t>
            </a:r>
            <a:endParaRPr sz="1100"/>
          </a:p>
        </p:txBody>
      </p:sp>
      <p:sp>
        <p:nvSpPr>
          <p:cNvPr id="22" name="Text 17">
            <a:extLst>
              <a:ext uri="{FF2B5EF4-FFF2-40B4-BE49-F238E27FC236}">
                <a16:creationId xmlns:a16="http://schemas.microsoft.com/office/drawing/2014/main" id="{AEE7F7F4-BEF4-4695-B397-9673D18E1CAB}"/>
              </a:ext>
            </a:extLst>
          </p:cNvPr>
          <p:cNvSpPr>
            <a:spLocks noGrp="1"/>
          </p:cNvSpPr>
          <p:nvPr/>
        </p:nvSpPr>
        <p:spPr>
          <a:xfrm>
            <a:off x="8814816" y="3803904"/>
            <a:ext cx="2459736"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실무에서의 임계값</a:t>
            </a:r>
            <a:endParaRPr sz="1250"/>
          </a:p>
        </p:txBody>
      </p:sp>
      <p:sp>
        <p:nvSpPr>
          <p:cNvPr id="23" name="Text 18">
            <a:extLst>
              <a:ext uri="{FF2B5EF4-FFF2-40B4-BE49-F238E27FC236}">
                <a16:creationId xmlns:a16="http://schemas.microsoft.com/office/drawing/2014/main" id="{F0B5C79C-F2B4-48B6-AAA5-6805A8BBAC75}"/>
              </a:ext>
            </a:extLst>
          </p:cNvPr>
          <p:cNvSpPr>
            <a:spLocks noGrp="1"/>
          </p:cNvSpPr>
          <p:nvPr/>
        </p:nvSpPr>
        <p:spPr>
          <a:xfrm>
            <a:off x="8814816" y="4151376"/>
            <a:ext cx="2459736" cy="822960"/>
          </a:xfrm>
          <a:prstGeom prst="rect">
            <a:avLst/>
          </a:prstGeom>
          <a:noFill/>
          <a:ln w="0">
            <a:noFill/>
          </a:ln>
        </p:spPr>
        <p:txBody>
          <a:bodyPr wrap="square" lIns="0" tIns="0" rIns="0" bIns="0" anchor="t">
            <a:noAutofit/>
          </a:bodyPr>
          <a:lstStyle/>
          <a:p>
            <a:pPr marL="0" indent="0" algn="l">
              <a:lnSpc>
                <a:spcPct val="132000"/>
              </a:lnSpc>
              <a:buNone/>
              <a:defRPr sz="1100" i="0">
                <a:solidFill>
                  <a:srgbClr val="171717"/>
                </a:solidFill>
                <a:latin typeface="Malgun Gothic"/>
                <a:ea typeface="Malgun Gothic"/>
                <a:cs typeface="Malgun Gothic"/>
              </a:defRPr>
            </a:pPr>
            <a:r>
              <a:rPr sz="1100" i="0">
                <a:solidFill>
                  <a:srgbClr val="171717"/>
                </a:solidFill>
                <a:latin typeface="Malgun Gothic"/>
                <a:ea typeface="Malgun Gothic"/>
                <a:cs typeface="Malgun Gothic"/>
              </a:rPr>
              <a:t>작은 수에서는 재귀 비용이 더 클 수 있습니다. 기본 곱셈으로 전환할 크기는 구현과 환경에 따라 정합니다.</a:t>
            </a:r>
            <a:endParaRPr sz="1100"/>
          </a:p>
        </p:txBody>
      </p:sp>
      <p:sp>
        <p:nvSpPr>
          <p:cNvPr id="25" name="Text 20">
            <a:extLst>
              <a:ext uri="{FF2B5EF4-FFF2-40B4-BE49-F238E27FC236}">
                <a16:creationId xmlns:a16="http://schemas.microsoft.com/office/drawing/2014/main" id="{42A3B668-0EEA-4063-B015-8293EAEEDCA3}"/>
              </a:ext>
            </a:extLst>
          </p:cNvPr>
          <p:cNvSpPr>
            <a:spLocks noGrp="1"/>
          </p:cNvSpPr>
          <p:nvPr/>
        </p:nvSpPr>
        <p:spPr>
          <a:xfrm>
            <a:off x="8092440" y="5321808"/>
            <a:ext cx="3300984" cy="841248"/>
          </a:xfrm>
          <a:prstGeom prst="rect">
            <a:avLst/>
          </a:prstGeom>
          <a:noFill/>
          <a:ln w="0">
            <a:noFill/>
          </a:ln>
        </p:spPr>
        <p:txBody>
          <a:bodyPr wrap="square" lIns="0" tIns="0" rIns="0" bIns="0" anchor="ctr">
            <a:noAutofit/>
          </a:bodyPr>
          <a:lstStyle/>
          <a:p>
            <a:pPr marL="0" indent="0" algn="ctr">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T(n) = 3T(n/2) + O(n)</a:t>
            </a:r>
            <a:endParaRPr sz="1500"/>
          </a:p>
        </p:txBody>
      </p:sp>
      <p:sp>
        <p:nvSpPr>
          <p:cNvPr id="27" name="직사각형 26">
            <a:extLst>
              <a:ext uri="{FF2B5EF4-FFF2-40B4-BE49-F238E27FC236}">
                <a16:creationId xmlns:a16="http://schemas.microsoft.com/office/drawing/2014/main" id="{AF232752-A5AF-4C10-80B9-751D58A642F4}"/>
              </a:ext>
            </a:extLst>
          </p:cNvPr>
          <p:cNvSpPr>
            <a:spLocks noGrp="1"/>
          </p:cNvSpPr>
          <p:nvPr/>
        </p:nvSpPr>
        <p:spPr>
          <a:xfrm>
            <a:off x="7955280" y="1783080"/>
            <a:ext cx="3575304" cy="9525"/>
          </a:xfrm>
          <a:prstGeom prst="rect">
            <a:avLst/>
          </a:prstGeom>
          <a:solidFill>
            <a:srgbClr val="D4D4D4"/>
          </a:solidFill>
          <a:ln w="0">
            <a:noFill/>
          </a:ln>
        </p:spPr>
      </p:sp>
      <p:sp>
        <p:nvSpPr>
          <p:cNvPr id="28" name="직사각형 27">
            <a:extLst>
              <a:ext uri="{FF2B5EF4-FFF2-40B4-BE49-F238E27FC236}">
                <a16:creationId xmlns:a16="http://schemas.microsoft.com/office/drawing/2014/main" id="{480FD16A-F05A-4E91-8DE5-EB91970854F3}"/>
              </a:ext>
            </a:extLst>
          </p:cNvPr>
          <p:cNvSpPr>
            <a:spLocks noGrp="1"/>
          </p:cNvSpPr>
          <p:nvPr/>
        </p:nvSpPr>
        <p:spPr>
          <a:xfrm>
            <a:off x="7955280" y="3621024"/>
            <a:ext cx="3575304" cy="9525"/>
          </a:xfrm>
          <a:prstGeom prst="rect">
            <a:avLst/>
          </a:prstGeom>
          <a:solidFill>
            <a:srgbClr val="D4D4D4"/>
          </a:solidFill>
          <a:ln w="0">
            <a:noFill/>
          </a:ln>
        </p:spPr>
      </p:sp>
      <p:sp>
        <p:nvSpPr>
          <p:cNvPr id="29" name="직사각형 28">
            <a:extLst>
              <a:ext uri="{FF2B5EF4-FFF2-40B4-BE49-F238E27FC236}">
                <a16:creationId xmlns:a16="http://schemas.microsoft.com/office/drawing/2014/main" id="{FC15BB37-434A-4A17-9DD4-938D5E0E48D8}"/>
              </a:ext>
            </a:extLst>
          </p:cNvPr>
          <p:cNvSpPr>
            <a:spLocks noGrp="1"/>
          </p:cNvSpPr>
          <p:nvPr/>
        </p:nvSpPr>
        <p:spPr>
          <a:xfrm>
            <a:off x="698373" y="2090928"/>
            <a:ext cx="7107174" cy="3774948"/>
          </a:xfrm>
          <a:prstGeom prst="rect">
            <a:avLst/>
          </a:prstGeom>
          <a:solidFill>
            <a:srgbClr val="171717"/>
          </a:solidFill>
          <a:ln w="0">
            <a:noFill/>
          </a:ln>
        </p:spPr>
        <p:txBody>
          <a:bodyPr wrap="none" lIns="142875" tIns="76200" rIns="142875" bIns="76200" anchor="t">
            <a:noAutofit/>
          </a:bodyPr>
          <a:lstStyle/>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KaratsubaMultiply(X, Y):</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n &lt;- max(length of X, length of Y)</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if n &lt; 2 then</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return X * Y</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m &lt;- floor(n / 2)</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x_high, x_low &lt;- Split(X, m)</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y_high, y_low &lt;- Split(Y, m)</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z2 &lt;- KaratsubaMultiply(x_high, y_high)</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z0 &lt;- KaratsubaMultiply(x_low,  y_low)</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z1_raw &lt;- KaratsubaMultiply(x_high + x_low, y_high + y_low)</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z1 &lt;- z1_raw - z2 - z0</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return z2 * 10^(2m) + z1 * 10^m + z0</a:t>
            </a:r>
          </a:p>
        </p:txBody>
      </p:sp>
      <p:sp>
        <p:nvSpPr>
          <p:cNvPr id="30" name="직사각형 29">
            <a:extLst>
              <a:ext uri="{FF2B5EF4-FFF2-40B4-BE49-F238E27FC236}">
                <a16:creationId xmlns:a16="http://schemas.microsoft.com/office/drawing/2014/main" id="{F415AAB9-9719-4D72-BB25-B35DFD872F66}"/>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4.8  </a:t>
            </a:r>
            <a:r>
              <a:rPr lang="ko-KR" altLang="en-US" sz="1050" b="1" i="0">
                <a:solidFill>
                  <a:srgbClr val="606060"/>
                </a:solidFill>
                <a:latin typeface="Malgun Gothic"/>
                <a:ea typeface="Malgun Gothic"/>
                <a:cs typeface="Malgun Gothic"/>
              </a:rPr>
              <a:t>카라츠바 알고리즘</a:t>
            </a:r>
            <a:endParaRPr sz="1050" b="1" i="0">
              <a:solidFill>
                <a:srgbClr val="606060"/>
              </a:solidFill>
              <a:latin typeface="Malgun Gothic"/>
              <a:ea typeface="Malgun Gothic"/>
              <a:cs typeface="Malgun Gothic"/>
            </a:endParaRPr>
          </a:p>
        </p:txBody>
      </p:sp>
      <p:sp>
        <p:nvSpPr>
          <p:cNvPr id="31" name="직사각형 30">
            <a:extLst>
              <a:ext uri="{FF2B5EF4-FFF2-40B4-BE49-F238E27FC236}">
                <a16:creationId xmlns:a16="http://schemas.microsoft.com/office/drawing/2014/main" id="{FACA6C0E-972E-44E1-92CC-A3D60B878FB7}"/>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2" name="직사각형 31">
            <a:extLst>
              <a:ext uri="{FF2B5EF4-FFF2-40B4-BE49-F238E27FC236}">
                <a16:creationId xmlns:a16="http://schemas.microsoft.com/office/drawing/2014/main" id="{A7EDA901-5F6E-487F-9AAB-69FDBC1E16CB}"/>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카라츠바 알고리즘 (의사코드)</a:t>
            </a:r>
          </a:p>
        </p:txBody>
      </p:sp>
      <p:sp>
        <p:nvSpPr>
          <p:cNvPr id="33" name="직사각형 32">
            <a:extLst>
              <a:ext uri="{FF2B5EF4-FFF2-40B4-BE49-F238E27FC236}">
                <a16:creationId xmlns:a16="http://schemas.microsoft.com/office/drawing/2014/main" id="{B01A9CC8-8E0A-4932-A47F-536AF82FA9FC}"/>
              </a:ext>
            </a:extLst>
          </p:cNvPr>
          <p:cNvSpPr>
            <a:spLocks noGrp="1"/>
          </p:cNvSpPr>
          <p:nvPr/>
        </p:nvSpPr>
        <p:spPr>
          <a:xfrm>
            <a:off x="609600" y="1381125"/>
            <a:ext cx="10972800" cy="19050"/>
          </a:xfrm>
          <a:prstGeom prst="rect">
            <a:avLst/>
          </a:prstGeom>
          <a:solidFill>
            <a:srgbClr val="171717"/>
          </a:solidFill>
          <a:ln w="0">
            <a:noFill/>
          </a:ln>
        </p:spPr>
      </p:sp>
      <p:sp>
        <p:nvSpPr>
          <p:cNvPr id="34" name="직사각형 33">
            <a:extLst>
              <a:ext uri="{FF2B5EF4-FFF2-40B4-BE49-F238E27FC236}">
                <a16:creationId xmlns:a16="http://schemas.microsoft.com/office/drawing/2014/main" id="{2684E238-F5A0-49EE-9446-3C81CCF6EBDB}"/>
              </a:ext>
            </a:extLst>
          </p:cNvPr>
          <p:cNvSpPr>
            <a:spLocks noGrp="1"/>
          </p:cNvSpPr>
          <p:nvPr/>
        </p:nvSpPr>
        <p:spPr>
          <a:xfrm>
            <a:off x="609600" y="6438900"/>
            <a:ext cx="10972800" cy="9525"/>
          </a:xfrm>
          <a:prstGeom prst="rect">
            <a:avLst/>
          </a:prstGeom>
          <a:solidFill>
            <a:srgbClr val="D4D4D4"/>
          </a:solidFill>
          <a:ln w="0">
            <a:noFill/>
          </a:ln>
        </p:spPr>
      </p:sp>
      <p:sp>
        <p:nvSpPr>
          <p:cNvPr id="35" name="직사각형 34">
            <a:extLst>
              <a:ext uri="{FF2B5EF4-FFF2-40B4-BE49-F238E27FC236}">
                <a16:creationId xmlns:a16="http://schemas.microsoft.com/office/drawing/2014/main" id="{4AA350FA-EFBF-4BF4-8713-BE64C06DAAB9}"/>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6" name="직사각형 35">
            <a:extLst>
              <a:ext uri="{FF2B5EF4-FFF2-40B4-BE49-F238E27FC236}">
                <a16:creationId xmlns:a16="http://schemas.microsoft.com/office/drawing/2014/main" id="{29A03787-4D37-4D31-A130-783ED283E699}"/>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118</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4575403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EF807136-631E-4F92-BC8B-5859F0033FA6}"/>
              </a:ext>
            </a:extLst>
          </p:cNvPr>
          <p:cNvSpPr>
            <a:spLocks noGrp="1"/>
          </p:cNvSpPr>
          <p:nvPr/>
        </p:nvSpPr>
        <p:spPr>
          <a:xfrm>
            <a:off x="859536" y="1801368"/>
            <a:ext cx="658368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karatsuba.py</a:t>
            </a:r>
            <a:endParaRPr sz="900"/>
          </a:p>
        </p:txBody>
      </p:sp>
      <p:sp>
        <p:nvSpPr>
          <p:cNvPr id="20" name="Text 17">
            <a:extLst>
              <a:ext uri="{FF2B5EF4-FFF2-40B4-BE49-F238E27FC236}">
                <a16:creationId xmlns:a16="http://schemas.microsoft.com/office/drawing/2014/main" id="{B7AA217C-F4AA-48FE-9385-5C6CFDBFEA7E}"/>
              </a:ext>
            </a:extLst>
          </p:cNvPr>
          <p:cNvSpPr>
            <a:spLocks noGrp="1"/>
          </p:cNvSpPr>
          <p:nvPr/>
        </p:nvSpPr>
        <p:spPr>
          <a:xfrm>
            <a:off x="859536" y="5230368"/>
            <a:ext cx="658368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run.py</a:t>
            </a:r>
            <a:endParaRPr sz="900"/>
          </a:p>
        </p:txBody>
      </p:sp>
      <p:sp>
        <p:nvSpPr>
          <p:cNvPr id="25" name="Text 21">
            <a:extLst>
              <a:ext uri="{FF2B5EF4-FFF2-40B4-BE49-F238E27FC236}">
                <a16:creationId xmlns:a16="http://schemas.microsoft.com/office/drawing/2014/main" id="{7C352D26-8753-4C1E-93F2-251792D8C9BF}"/>
              </a:ext>
            </a:extLst>
          </p:cNvPr>
          <p:cNvSpPr>
            <a:spLocks noGrp="1"/>
          </p:cNvSpPr>
          <p:nvPr/>
        </p:nvSpPr>
        <p:spPr>
          <a:xfrm>
            <a:off x="8631936" y="1965960"/>
            <a:ext cx="2642616"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10 ** m 으로 자르기</a:t>
            </a:r>
            <a:endParaRPr sz="1250"/>
          </a:p>
        </p:txBody>
      </p:sp>
      <p:sp>
        <p:nvSpPr>
          <p:cNvPr id="26" name="Text 22">
            <a:extLst>
              <a:ext uri="{FF2B5EF4-FFF2-40B4-BE49-F238E27FC236}">
                <a16:creationId xmlns:a16="http://schemas.microsoft.com/office/drawing/2014/main" id="{026674BA-735D-4BCB-85B5-A9148CBCEFB0}"/>
              </a:ext>
            </a:extLst>
          </p:cNvPr>
          <p:cNvSpPr>
            <a:spLocks noGrp="1"/>
          </p:cNvSpPr>
          <p:nvPr/>
        </p:nvSpPr>
        <p:spPr>
          <a:xfrm>
            <a:off x="8631936" y="2313432"/>
            <a:ext cx="2642616" cy="640080"/>
          </a:xfrm>
          <a:prstGeom prst="rect">
            <a:avLst/>
          </a:prstGeom>
          <a:noFill/>
          <a:ln w="0">
            <a:noFill/>
          </a:ln>
        </p:spPr>
        <p:txBody>
          <a:bodyPr wrap="square" lIns="0" tIns="0" rIns="0" bIns="0" anchor="t">
            <a:noAutofit/>
          </a:bodyPr>
          <a:lstStyle/>
          <a:p>
            <a:pPr marL="0" indent="0" algn="l">
              <a:lnSpc>
                <a:spcPct val="132000"/>
              </a:lnSpc>
              <a:buNone/>
              <a:defRPr sz="1100" i="0">
                <a:solidFill>
                  <a:srgbClr val="171717"/>
                </a:solidFill>
                <a:latin typeface="Malgun Gothic"/>
                <a:ea typeface="Malgun Gothic"/>
                <a:cs typeface="Malgun Gothic"/>
              </a:defRPr>
            </a:pPr>
            <a:r>
              <a:rPr sz="1100" i="0">
                <a:solidFill>
                  <a:srgbClr val="171717"/>
                </a:solidFill>
                <a:latin typeface="Malgun Gothic"/>
                <a:ea typeface="Malgun Gothic"/>
                <a:cs typeface="Malgun Gothic"/>
              </a:rPr>
              <a:t>몫(//)이 앞부분, 나머지(%)가 뒷부분이 된다.</a:t>
            </a:r>
            <a:endParaRPr sz="1100"/>
          </a:p>
        </p:txBody>
      </p:sp>
      <p:sp>
        <p:nvSpPr>
          <p:cNvPr id="28" name="Text 24">
            <a:extLst>
              <a:ext uri="{FF2B5EF4-FFF2-40B4-BE49-F238E27FC236}">
                <a16:creationId xmlns:a16="http://schemas.microsoft.com/office/drawing/2014/main" id="{ABF9B7B1-7789-45A5-9686-98859429FE2F}"/>
              </a:ext>
            </a:extLst>
          </p:cNvPr>
          <p:cNvSpPr>
            <a:spLocks noGrp="1"/>
          </p:cNvSpPr>
          <p:nvPr/>
        </p:nvSpPr>
        <p:spPr>
          <a:xfrm>
            <a:off x="7973568" y="3419856"/>
            <a:ext cx="3291840" cy="256032"/>
          </a:xfrm>
          <a:prstGeom prst="rect">
            <a:avLst/>
          </a:prstGeom>
          <a:noFill/>
          <a:ln w="0">
            <a:noFill/>
          </a:ln>
        </p:spPr>
        <p:txBody>
          <a:bodyPr wrap="square" lIns="0" tIns="0" rIns="0" bIns="0" anchor="ctr">
            <a:noAutofit/>
          </a:bodyPr>
          <a:lstStyle/>
          <a:p>
            <a:pPr marL="0" indent="0" algn="l">
              <a:buNone/>
              <a:defRPr sz="900" i="0">
                <a:solidFill>
                  <a:srgbClr val="171717"/>
                </a:solidFill>
                <a:latin typeface="Malgun Gothic"/>
                <a:ea typeface="Malgun Gothic"/>
                <a:cs typeface="Malgun Gothic"/>
              </a:defRPr>
            </a:pPr>
            <a:r>
              <a:rPr sz="900" b="1" i="0" spc="140">
                <a:solidFill>
                  <a:srgbClr val="171717"/>
                </a:solidFill>
                <a:latin typeface="Malgun Gothic"/>
                <a:ea typeface="Malgun Gothic"/>
                <a:cs typeface="Malgun Gothic"/>
              </a:rPr>
              <a:t>OUTPUT</a:t>
            </a:r>
            <a:endParaRPr sz="900"/>
          </a:p>
        </p:txBody>
      </p:sp>
      <p:sp>
        <p:nvSpPr>
          <p:cNvPr id="29" name="Text 25">
            <a:extLst>
              <a:ext uri="{FF2B5EF4-FFF2-40B4-BE49-F238E27FC236}">
                <a16:creationId xmlns:a16="http://schemas.microsoft.com/office/drawing/2014/main" id="{5246F52E-87E1-411E-9C8D-2B277DE85A76}"/>
              </a:ext>
            </a:extLst>
          </p:cNvPr>
          <p:cNvSpPr>
            <a:spLocks noGrp="1"/>
          </p:cNvSpPr>
          <p:nvPr/>
        </p:nvSpPr>
        <p:spPr>
          <a:xfrm>
            <a:off x="7973568" y="3749040"/>
            <a:ext cx="3383280" cy="822960"/>
          </a:xfrm>
          <a:prstGeom prst="rect">
            <a:avLst/>
          </a:prstGeom>
          <a:noFill/>
          <a:ln w="0">
            <a:noFill/>
          </a:ln>
        </p:spPr>
        <p:txBody>
          <a:bodyPr wrap="square" lIns="0" tIns="0" rIns="0" bIns="0" anchor="t">
            <a:noAutofit/>
          </a:bodyPr>
          <a:lstStyle/>
          <a:p>
            <a:pPr marL="0" indent="0" algn="l">
              <a:lnSpc>
                <a:spcPct val="130000"/>
              </a:lnSpc>
              <a:buNone/>
              <a:defRPr sz="1500" i="0">
                <a:solidFill>
                  <a:srgbClr val="171717"/>
                </a:solidFill>
                <a:latin typeface="Consolas"/>
                <a:ea typeface="Consolas"/>
                <a:cs typeface="Consolas"/>
              </a:defRPr>
            </a:pPr>
            <a:r>
              <a:rPr sz="1500" i="0">
                <a:solidFill>
                  <a:srgbClr val="171717"/>
                </a:solidFill>
                <a:latin typeface="Consolas"/>
                <a:ea typeface="Consolas"/>
                <a:cs typeface="Consolas"/>
              </a:rPr>
              <a:t>1219326311370217952</a:t>
            </a:r>
            <a:endParaRPr sz="1000"/>
          </a:p>
          <a:p>
            <a:pPr marL="0" indent="0" algn="l">
              <a:lnSpc>
                <a:spcPct val="130000"/>
              </a:lnSpc>
              <a:buNone/>
              <a:defRPr sz="1500" i="0">
                <a:solidFill>
                  <a:srgbClr val="171717"/>
                </a:solidFill>
                <a:latin typeface="Consolas"/>
                <a:ea typeface="Consolas"/>
                <a:cs typeface="Consolas"/>
              </a:defRPr>
            </a:pPr>
            <a:r>
              <a:rPr sz="1500" i="0">
                <a:solidFill>
                  <a:srgbClr val="171717"/>
                </a:solidFill>
                <a:latin typeface="Consolas"/>
                <a:ea typeface="Consolas"/>
                <a:cs typeface="Consolas"/>
              </a:rPr>
              <a:t>237463801111263526900</a:t>
            </a:r>
            <a:endParaRPr sz="1000"/>
          </a:p>
        </p:txBody>
      </p:sp>
      <p:sp>
        <p:nvSpPr>
          <p:cNvPr id="30" name="Text 26">
            <a:extLst>
              <a:ext uri="{FF2B5EF4-FFF2-40B4-BE49-F238E27FC236}">
                <a16:creationId xmlns:a16="http://schemas.microsoft.com/office/drawing/2014/main" id="{7A2A84CF-F716-46E7-9B87-BEA0126D8726}"/>
              </a:ext>
            </a:extLst>
          </p:cNvPr>
          <p:cNvSpPr>
            <a:spLocks noGrp="1"/>
          </p:cNvSpPr>
          <p:nvPr/>
        </p:nvSpPr>
        <p:spPr>
          <a:xfrm>
            <a:off x="7973568" y="4535424"/>
            <a:ext cx="3383280" cy="310896"/>
          </a:xfrm>
          <a:prstGeom prst="rect">
            <a:avLst/>
          </a:prstGeom>
          <a:noFill/>
          <a:ln w="0">
            <a:noFill/>
          </a:ln>
        </p:spPr>
        <p:txBody>
          <a:bodyPr wrap="square" lIns="0" tIns="0" rIns="0" bIns="0" anchor="ctr">
            <a:noAutofit/>
          </a:bodyPr>
          <a:lstStyle/>
          <a:p>
            <a:pPr marL="0" indent="0" algn="l">
              <a:buNone/>
              <a:defRPr sz="1000" i="0">
                <a:solidFill>
                  <a:srgbClr val="171717"/>
                </a:solidFill>
                <a:latin typeface="Malgun Gothic"/>
                <a:ea typeface="Malgun Gothic"/>
                <a:cs typeface="Malgun Gothic"/>
              </a:defRPr>
            </a:pPr>
            <a:r>
              <a:rPr sz="1000" i="0">
                <a:solidFill>
                  <a:srgbClr val="171717"/>
                </a:solidFill>
                <a:latin typeface="Malgun Gothic"/>
                <a:ea typeface="Malgun Gothic"/>
                <a:cs typeface="Malgun Gothic"/>
              </a:rPr>
              <a:t>일반 곱셈 결과와 정확히 일치</a:t>
            </a:r>
            <a:endParaRPr sz="1000"/>
          </a:p>
        </p:txBody>
      </p:sp>
      <p:sp>
        <p:nvSpPr>
          <p:cNvPr id="34" name="Text 29">
            <a:extLst>
              <a:ext uri="{FF2B5EF4-FFF2-40B4-BE49-F238E27FC236}">
                <a16:creationId xmlns:a16="http://schemas.microsoft.com/office/drawing/2014/main" id="{19836D29-DACE-4FE0-B36A-BE74D2B37ABE}"/>
              </a:ext>
            </a:extLst>
          </p:cNvPr>
          <p:cNvSpPr>
            <a:spLocks noGrp="1"/>
          </p:cNvSpPr>
          <p:nvPr/>
        </p:nvSpPr>
        <p:spPr>
          <a:xfrm>
            <a:off x="8631936" y="5285232"/>
            <a:ext cx="2642616" cy="292608"/>
          </a:xfrm>
          <a:prstGeom prst="rect">
            <a:avLst/>
          </a:prstGeom>
          <a:noFill/>
          <a:ln w="0">
            <a:noFill/>
          </a:ln>
        </p:spPr>
        <p:txBody>
          <a:bodyPr wrap="square" lIns="0" tIns="0" rIns="0" bIns="0" anchor="ctr">
            <a:noAutofit/>
          </a:bodyPr>
          <a:lstStyle/>
          <a:p>
            <a:pPr marL="0" indent="0" algn="l">
              <a:buNone/>
              <a:defRPr sz="1200" i="0">
                <a:solidFill>
                  <a:srgbClr val="171717"/>
                </a:solidFill>
                <a:latin typeface="Malgun Gothic"/>
                <a:ea typeface="Malgun Gothic"/>
                <a:cs typeface="Malgun Gothic"/>
              </a:defRPr>
            </a:pPr>
            <a:r>
              <a:rPr sz="1200" b="1" i="0">
                <a:solidFill>
                  <a:srgbClr val="171717"/>
                </a:solidFill>
                <a:latin typeface="Malgun Gothic"/>
                <a:ea typeface="Malgun Gothic"/>
                <a:cs typeface="Malgun Gothic"/>
              </a:rPr>
              <a:t>큰 정수 연산에 활용</a:t>
            </a:r>
            <a:endParaRPr sz="1200"/>
          </a:p>
        </p:txBody>
      </p:sp>
      <p:sp>
        <p:nvSpPr>
          <p:cNvPr id="35" name="Text 30">
            <a:extLst>
              <a:ext uri="{FF2B5EF4-FFF2-40B4-BE49-F238E27FC236}">
                <a16:creationId xmlns:a16="http://schemas.microsoft.com/office/drawing/2014/main" id="{0B3D3320-A706-405C-8302-FE4A85142311}"/>
              </a:ext>
            </a:extLst>
          </p:cNvPr>
          <p:cNvSpPr>
            <a:spLocks noGrp="1"/>
          </p:cNvSpPr>
          <p:nvPr/>
        </p:nvSpPr>
        <p:spPr>
          <a:xfrm>
            <a:off x="8631936" y="5632704"/>
            <a:ext cx="2642616" cy="329184"/>
          </a:xfrm>
          <a:prstGeom prst="rect">
            <a:avLst/>
          </a:prstGeom>
          <a:noFill/>
          <a:ln w="0">
            <a:noFill/>
          </a:ln>
        </p:spPr>
        <p:txBody>
          <a:bodyPr wrap="square" lIns="0" tIns="0" rIns="0" bIns="0" anchor="t">
            <a:noAutofit/>
          </a:bodyPr>
          <a:lstStyle/>
          <a:p>
            <a:pPr marL="0" indent="0" algn="l">
              <a:lnSpc>
                <a:spcPct val="132000"/>
              </a:lnSpc>
              <a:buNone/>
              <a:defRPr sz="1080" i="0">
                <a:solidFill>
                  <a:srgbClr val="171717"/>
                </a:solidFill>
                <a:latin typeface="Malgun Gothic"/>
                <a:ea typeface="Malgun Gothic"/>
                <a:cs typeface="Malgun Gothic"/>
              </a:defRPr>
            </a:pPr>
            <a:r>
              <a:rPr sz="1080" i="0">
                <a:solidFill>
                  <a:srgbClr val="171717"/>
                </a:solidFill>
                <a:latin typeface="Malgun Gothic"/>
                <a:ea typeface="Malgun Gothic"/>
                <a:cs typeface="Malgun Gothic"/>
              </a:rPr>
              <a:t>큰 정수 곱셈의 계산량을 줄이는 기본 기법입니다.</a:t>
            </a:r>
            <a:endParaRPr sz="1080"/>
          </a:p>
        </p:txBody>
      </p:sp>
      <p:sp>
        <p:nvSpPr>
          <p:cNvPr id="37" name="직사각형 36">
            <a:extLst>
              <a:ext uri="{FF2B5EF4-FFF2-40B4-BE49-F238E27FC236}">
                <a16:creationId xmlns:a16="http://schemas.microsoft.com/office/drawing/2014/main" id="{4A091712-E3CD-4EC7-A3A2-CE5E5DFE47D7}"/>
              </a:ext>
            </a:extLst>
          </p:cNvPr>
          <p:cNvSpPr>
            <a:spLocks noGrp="1"/>
          </p:cNvSpPr>
          <p:nvPr/>
        </p:nvSpPr>
        <p:spPr>
          <a:xfrm>
            <a:off x="7772400" y="1783080"/>
            <a:ext cx="3758184" cy="9525"/>
          </a:xfrm>
          <a:prstGeom prst="rect">
            <a:avLst/>
          </a:prstGeom>
          <a:solidFill>
            <a:srgbClr val="D4D4D4"/>
          </a:solidFill>
          <a:ln w="0">
            <a:noFill/>
          </a:ln>
        </p:spPr>
      </p:sp>
      <p:sp>
        <p:nvSpPr>
          <p:cNvPr id="38" name="직사각형 37">
            <a:extLst>
              <a:ext uri="{FF2B5EF4-FFF2-40B4-BE49-F238E27FC236}">
                <a16:creationId xmlns:a16="http://schemas.microsoft.com/office/drawing/2014/main" id="{FDC2BAED-AF3F-4DDE-B086-2E78A732C410}"/>
              </a:ext>
            </a:extLst>
          </p:cNvPr>
          <p:cNvSpPr>
            <a:spLocks noGrp="1"/>
          </p:cNvSpPr>
          <p:nvPr/>
        </p:nvSpPr>
        <p:spPr>
          <a:xfrm>
            <a:off x="7772400" y="3310128"/>
            <a:ext cx="3758184"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34067B67-E4CF-4C09-A1A7-A36D0F9DE141}"/>
              </a:ext>
            </a:extLst>
          </p:cNvPr>
          <p:cNvSpPr>
            <a:spLocks noGrp="1"/>
          </p:cNvSpPr>
          <p:nvPr/>
        </p:nvSpPr>
        <p:spPr>
          <a:xfrm>
            <a:off x="7772400" y="5102352"/>
            <a:ext cx="3758184" cy="9525"/>
          </a:xfrm>
          <a:prstGeom prst="rect">
            <a:avLst/>
          </a:prstGeom>
          <a:solidFill>
            <a:srgbClr val="D4D4D4"/>
          </a:solidFill>
          <a:ln w="0">
            <a:noFill/>
          </a:ln>
        </p:spPr>
      </p:sp>
      <p:sp>
        <p:nvSpPr>
          <p:cNvPr id="40" name="직사각형 39">
            <a:extLst>
              <a:ext uri="{FF2B5EF4-FFF2-40B4-BE49-F238E27FC236}">
                <a16:creationId xmlns:a16="http://schemas.microsoft.com/office/drawing/2014/main" id="{4594E406-AF42-48DE-8BE7-03FEDAF5E5CE}"/>
              </a:ext>
            </a:extLst>
          </p:cNvPr>
          <p:cNvSpPr>
            <a:spLocks noGrp="1"/>
          </p:cNvSpPr>
          <p:nvPr/>
        </p:nvSpPr>
        <p:spPr>
          <a:xfrm>
            <a:off x="698373" y="2090928"/>
            <a:ext cx="6924294" cy="3006852"/>
          </a:xfrm>
          <a:prstGeom prst="rect">
            <a:avLst/>
          </a:prstGeom>
          <a:solidFill>
            <a:srgbClr val="171717"/>
          </a:solidFill>
          <a:ln w="0">
            <a:noFill/>
          </a:ln>
        </p:spPr>
        <p:txBody>
          <a:bodyPr wrap="none" lIns="142875" tIns="76200" rIns="142875" bIns="76200" anchor="t">
            <a:noAutofit/>
          </a:bodyPr>
          <a:lstStyle/>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def karatsuba(x, y):</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if x &lt; 10 or y &lt; 10:</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return x * y</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n = max(len(str(x)), len(str(y)))</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m = n // 2</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x_high, x_low = x // (10 ** m), x % (10 ** m)</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y_high, y_low = y // (10 ** m), y % (10 ** m)</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a = karatsuba(x_high, y_high)</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b = karatsuba(x_low, y_low)</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sum_prod = karatsuba(x_high + x_low, y_high + y_low)</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mid = sum_prod - a - b</a:t>
            </a:r>
          </a:p>
          <a:p>
            <a:pPr algn="l">
              <a:lnSpc>
                <a:spcPct val="103000"/>
              </a:lnSpc>
              <a:buNone/>
              <a:defRPr sz="1275" b="0" i="0">
                <a:solidFill>
                  <a:srgbClr val="FFFFFF"/>
                </a:solidFill>
                <a:latin typeface="Consolas"/>
                <a:ea typeface="Consolas"/>
                <a:cs typeface="Consolas"/>
              </a:defRPr>
            </a:pPr>
            <a:r>
              <a:rPr sz="1275" b="0" i="0">
                <a:solidFill>
                  <a:srgbClr val="FFFFFF"/>
                </a:solidFill>
                <a:latin typeface="Consolas"/>
                <a:ea typeface="Consolas"/>
                <a:cs typeface="Consolas"/>
              </a:rPr>
              <a:t>    return a * (10 ** (2 * m)) + mid * (10 ** m) + b</a:t>
            </a:r>
          </a:p>
        </p:txBody>
      </p:sp>
      <p:sp>
        <p:nvSpPr>
          <p:cNvPr id="41" name="직사각형 40">
            <a:extLst>
              <a:ext uri="{FF2B5EF4-FFF2-40B4-BE49-F238E27FC236}">
                <a16:creationId xmlns:a16="http://schemas.microsoft.com/office/drawing/2014/main" id="{62E37B02-8D15-4C10-8019-9EA5A23468B4}"/>
              </a:ext>
            </a:extLst>
          </p:cNvPr>
          <p:cNvSpPr>
            <a:spLocks noGrp="1"/>
          </p:cNvSpPr>
          <p:nvPr/>
        </p:nvSpPr>
        <p:spPr>
          <a:xfrm>
            <a:off x="698373" y="5519928"/>
            <a:ext cx="6924294" cy="611124"/>
          </a:xfrm>
          <a:prstGeom prst="rect">
            <a:avLst/>
          </a:prstGeom>
          <a:solidFill>
            <a:srgbClr val="171717"/>
          </a:solidFill>
          <a:ln w="0">
            <a:noFill/>
          </a:ln>
        </p:spPr>
        <p:txBody>
          <a:bodyPr wrap="none" lIns="142875" tIns="76200" rIns="142875" bIns="76200" anchor="t">
            <a:noAutofit/>
          </a:bodyPr>
          <a:lstStyle/>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num1 = 12345678901234567890</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num2 = 98765432109876543210</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print(karatsuba(num1, num2))</a:t>
            </a:r>
          </a:p>
        </p:txBody>
      </p:sp>
      <p:sp>
        <p:nvSpPr>
          <p:cNvPr id="42" name="직사각형 41">
            <a:extLst>
              <a:ext uri="{FF2B5EF4-FFF2-40B4-BE49-F238E27FC236}">
                <a16:creationId xmlns:a16="http://schemas.microsoft.com/office/drawing/2014/main" id="{04F8806A-8720-4DF9-91DA-49C22308C94A}"/>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4.8  </a:t>
            </a:r>
            <a:r>
              <a:rPr lang="ko-KR" altLang="en-US" sz="1050" b="1" i="0">
                <a:solidFill>
                  <a:srgbClr val="606060"/>
                </a:solidFill>
                <a:latin typeface="Malgun Gothic"/>
                <a:ea typeface="Malgun Gothic"/>
                <a:cs typeface="Malgun Gothic"/>
              </a:rPr>
              <a:t>카라츠바 알고리즘</a:t>
            </a:r>
            <a:endParaRPr sz="1050" b="1" i="0">
              <a:solidFill>
                <a:srgbClr val="606060"/>
              </a:solidFill>
              <a:latin typeface="Malgun Gothic"/>
              <a:ea typeface="Malgun Gothic"/>
              <a:cs typeface="Malgun Gothic"/>
            </a:endParaRPr>
          </a:p>
        </p:txBody>
      </p:sp>
      <p:sp>
        <p:nvSpPr>
          <p:cNvPr id="43" name="직사각형 42">
            <a:extLst>
              <a:ext uri="{FF2B5EF4-FFF2-40B4-BE49-F238E27FC236}">
                <a16:creationId xmlns:a16="http://schemas.microsoft.com/office/drawing/2014/main" id="{A0FA5302-700D-46CF-ACD1-BCDE8E3049D8}"/>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4" name="직사각형 43">
            <a:extLst>
              <a:ext uri="{FF2B5EF4-FFF2-40B4-BE49-F238E27FC236}">
                <a16:creationId xmlns:a16="http://schemas.microsoft.com/office/drawing/2014/main" id="{B7563A37-6781-46E4-B1A0-E1334F067CEC}"/>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파이썬 구현</a:t>
            </a:r>
          </a:p>
        </p:txBody>
      </p:sp>
      <p:sp>
        <p:nvSpPr>
          <p:cNvPr id="45" name="직사각형 44">
            <a:extLst>
              <a:ext uri="{FF2B5EF4-FFF2-40B4-BE49-F238E27FC236}">
                <a16:creationId xmlns:a16="http://schemas.microsoft.com/office/drawing/2014/main" id="{800E3EE2-A5F9-4740-BCD8-A0EDD513C8CB}"/>
              </a:ext>
            </a:extLst>
          </p:cNvPr>
          <p:cNvSpPr>
            <a:spLocks noGrp="1"/>
          </p:cNvSpPr>
          <p:nvPr/>
        </p:nvSpPr>
        <p:spPr>
          <a:xfrm>
            <a:off x="609600" y="1381125"/>
            <a:ext cx="10972800" cy="19050"/>
          </a:xfrm>
          <a:prstGeom prst="rect">
            <a:avLst/>
          </a:prstGeom>
          <a:solidFill>
            <a:srgbClr val="171717"/>
          </a:solidFill>
          <a:ln w="0">
            <a:noFill/>
          </a:ln>
        </p:spPr>
      </p:sp>
      <p:sp>
        <p:nvSpPr>
          <p:cNvPr id="46" name="직사각형 45">
            <a:extLst>
              <a:ext uri="{FF2B5EF4-FFF2-40B4-BE49-F238E27FC236}">
                <a16:creationId xmlns:a16="http://schemas.microsoft.com/office/drawing/2014/main" id="{657F82FC-7042-4776-8BF3-96B78C4919BE}"/>
              </a:ext>
            </a:extLst>
          </p:cNvPr>
          <p:cNvSpPr>
            <a:spLocks noGrp="1"/>
          </p:cNvSpPr>
          <p:nvPr/>
        </p:nvSpPr>
        <p:spPr>
          <a:xfrm>
            <a:off x="609600" y="6438900"/>
            <a:ext cx="10972800" cy="9525"/>
          </a:xfrm>
          <a:prstGeom prst="rect">
            <a:avLst/>
          </a:prstGeom>
          <a:solidFill>
            <a:srgbClr val="D4D4D4"/>
          </a:solidFill>
          <a:ln w="0">
            <a:noFill/>
          </a:ln>
        </p:spPr>
      </p:sp>
      <p:sp>
        <p:nvSpPr>
          <p:cNvPr id="47" name="직사각형 46">
            <a:extLst>
              <a:ext uri="{FF2B5EF4-FFF2-40B4-BE49-F238E27FC236}">
                <a16:creationId xmlns:a16="http://schemas.microsoft.com/office/drawing/2014/main" id="{DE0C3B51-D325-43EB-B200-370C1C0F56E8}"/>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8" name="직사각형 47">
            <a:extLst>
              <a:ext uri="{FF2B5EF4-FFF2-40B4-BE49-F238E27FC236}">
                <a16:creationId xmlns:a16="http://schemas.microsoft.com/office/drawing/2014/main" id="{8969A649-5913-43C9-B139-F5E8045F7E1A}"/>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119</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637716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직사각형 50">
            <a:extLst>
              <a:ext uri="{FF2B5EF4-FFF2-40B4-BE49-F238E27FC236}">
                <a16:creationId xmlns:a16="http://schemas.microsoft.com/office/drawing/2014/main" id="{08F126D5-F2CE-4ED6-9FB5-EB866C2F806C}"/>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4.8  </a:t>
            </a:r>
            <a:r>
              <a:rPr lang="ko-KR" altLang="en-US" sz="1050" b="1" i="0">
                <a:solidFill>
                  <a:srgbClr val="606060"/>
                </a:solidFill>
                <a:latin typeface="Malgun Gothic"/>
                <a:ea typeface="Malgun Gothic"/>
                <a:cs typeface="Malgun Gothic"/>
              </a:rPr>
              <a:t>카라츠바 알고리즘</a:t>
            </a:r>
            <a:endParaRPr sz="1050" b="1" i="0">
              <a:solidFill>
                <a:srgbClr val="606060"/>
              </a:solidFill>
              <a:latin typeface="Malgun Gothic"/>
              <a:ea typeface="Malgun Gothic"/>
              <a:cs typeface="Malgun Gothic"/>
            </a:endParaRPr>
          </a:p>
        </p:txBody>
      </p:sp>
      <p:sp>
        <p:nvSpPr>
          <p:cNvPr id="52" name="직사각형 51">
            <a:extLst>
              <a:ext uri="{FF2B5EF4-FFF2-40B4-BE49-F238E27FC236}">
                <a16:creationId xmlns:a16="http://schemas.microsoft.com/office/drawing/2014/main" id="{ED23003E-2A30-4DB7-A409-75314F5E724C}"/>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53" name="직사각형 52">
            <a:extLst>
              <a:ext uri="{FF2B5EF4-FFF2-40B4-BE49-F238E27FC236}">
                <a16:creationId xmlns:a16="http://schemas.microsoft.com/office/drawing/2014/main" id="{9FE36D45-41C6-41CE-8974-447AD8DA7339}"/>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복잡도 분석 — 마스터 정리 적용</a:t>
            </a:r>
          </a:p>
        </p:txBody>
      </p:sp>
      <p:sp>
        <p:nvSpPr>
          <p:cNvPr id="54" name="직사각형 53">
            <a:extLst>
              <a:ext uri="{FF2B5EF4-FFF2-40B4-BE49-F238E27FC236}">
                <a16:creationId xmlns:a16="http://schemas.microsoft.com/office/drawing/2014/main" id="{218275E5-0150-4BCD-A396-6602E42E7BDB}"/>
              </a:ext>
            </a:extLst>
          </p:cNvPr>
          <p:cNvSpPr>
            <a:spLocks noGrp="1"/>
          </p:cNvSpPr>
          <p:nvPr/>
        </p:nvSpPr>
        <p:spPr>
          <a:xfrm>
            <a:off x="609600" y="1381125"/>
            <a:ext cx="10972800" cy="19050"/>
          </a:xfrm>
          <a:prstGeom prst="rect">
            <a:avLst/>
          </a:prstGeom>
          <a:solidFill>
            <a:srgbClr val="171717"/>
          </a:solidFill>
          <a:ln w="0">
            <a:noFill/>
          </a:ln>
        </p:spPr>
      </p:sp>
      <p:sp>
        <p:nvSpPr>
          <p:cNvPr id="55" name="직사각형 54">
            <a:extLst>
              <a:ext uri="{FF2B5EF4-FFF2-40B4-BE49-F238E27FC236}">
                <a16:creationId xmlns:a16="http://schemas.microsoft.com/office/drawing/2014/main" id="{BD787C72-6CA1-45B4-9AAC-C0376B6468F6}"/>
              </a:ext>
            </a:extLst>
          </p:cNvPr>
          <p:cNvSpPr>
            <a:spLocks noGrp="1"/>
          </p:cNvSpPr>
          <p:nvPr/>
        </p:nvSpPr>
        <p:spPr>
          <a:xfrm>
            <a:off x="609600" y="6438900"/>
            <a:ext cx="10972800" cy="9525"/>
          </a:xfrm>
          <a:prstGeom prst="rect">
            <a:avLst/>
          </a:prstGeom>
          <a:solidFill>
            <a:srgbClr val="D4D4D4"/>
          </a:solidFill>
          <a:ln w="0">
            <a:noFill/>
          </a:ln>
        </p:spPr>
      </p:sp>
      <p:sp>
        <p:nvSpPr>
          <p:cNvPr id="56" name="직사각형 55">
            <a:extLst>
              <a:ext uri="{FF2B5EF4-FFF2-40B4-BE49-F238E27FC236}">
                <a16:creationId xmlns:a16="http://schemas.microsoft.com/office/drawing/2014/main" id="{EDC41C42-C3AB-44EC-89EE-2A485C57524F}"/>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57" name="직사각형 56">
            <a:extLst>
              <a:ext uri="{FF2B5EF4-FFF2-40B4-BE49-F238E27FC236}">
                <a16:creationId xmlns:a16="http://schemas.microsoft.com/office/drawing/2014/main" id="{328951A5-0509-4715-8892-D0302BD6E20E}"/>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120</a:t>
            </a:r>
            <a:endParaRPr sz="1050" b="1" i="0">
              <a:solidFill>
                <a:srgbClr val="171717"/>
              </a:solidFill>
              <a:latin typeface="Consolas"/>
              <a:ea typeface="Consolas"/>
              <a:cs typeface="Consolas"/>
            </a:endParaRPr>
          </a:p>
        </p:txBody>
      </p:sp>
      <p:sp>
        <p:nvSpPr>
          <p:cNvPr id="58" name="직사각형 57">
            <a:extLst>
              <a:ext uri="{FF2B5EF4-FFF2-40B4-BE49-F238E27FC236}">
                <a16:creationId xmlns:a16="http://schemas.microsoft.com/office/drawing/2014/main" id="{5BC4BAAA-79DB-4606-A510-24B5331BE9CB}"/>
              </a:ext>
            </a:extLst>
          </p:cNvPr>
          <p:cNvSpPr>
            <a:spLocks noGrp="1"/>
          </p:cNvSpPr>
          <p:nvPr/>
        </p:nvSpPr>
        <p:spPr>
          <a:xfrm>
            <a:off x="609600" y="1685925"/>
            <a:ext cx="6334125" cy="4533900"/>
          </a:xfrm>
          <a:prstGeom prst="rect">
            <a:avLst/>
          </a:prstGeom>
          <a:noFill/>
          <a:ln w="0">
            <a:noFill/>
          </a:ln>
        </p:spPr>
        <p:txBody>
          <a:bodyPr wrap="square" lIns="0" tIns="0" rIns="0" bIns="0" anchor="t">
            <a:noAutofit/>
          </a:bodyPr>
          <a:lstStyle/>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문제 크기는 절반: b = 2</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재귀 곱셈은 세 번: a = 3</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덧셈·뺄셈·자리 이동: O(n)</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T(n) = 3T(n/2) + O(n)</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 Θ(n^(log₂ 3)) ≈ Θ(n^1.585)</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n = 10,000일 때 성장률 비교</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기본 곱셈 n²: 1억</a:t>
            </a: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카라츠바 n^(log₂ 3): 약 219만</a:t>
            </a:r>
          </a:p>
          <a:p>
            <a:endParaRPr sz="1650">
              <a:solidFill>
                <a:srgbClr val="171717"/>
              </a:solidFill>
              <a:latin typeface="Malgun Gothic"/>
              <a:ea typeface="Malgun Gothic"/>
              <a:cs typeface="Malgun Gothic"/>
            </a:endParaRPr>
          </a:p>
          <a:p>
            <a:pPr>
              <a:lnSpc>
                <a:spcPct val="108000"/>
              </a:lnSpc>
              <a:buNone/>
              <a:defRPr sz="1650">
                <a:solidFill>
                  <a:srgbClr val="171717"/>
                </a:solidFill>
                <a:latin typeface="Malgun Gothic"/>
                <a:ea typeface="Malgun Gothic"/>
                <a:cs typeface="Malgun Gothic"/>
              </a:defRPr>
            </a:pPr>
            <a:r>
              <a:rPr sz="1650">
                <a:solidFill>
                  <a:srgbClr val="171717"/>
                </a:solidFill>
                <a:latin typeface="Malgun Gothic"/>
                <a:ea typeface="Malgun Gothic"/>
                <a:cs typeface="Malgun Gothic"/>
              </a:rPr>
              <a:t>비율은 약 46배이다. 상수항과 구현 비용을 생략한 성장률 비교이며 실측 속도는 아니다.</a:t>
            </a:r>
          </a:p>
        </p:txBody>
      </p:sp>
      <p:pic>
        <p:nvPicPr>
          <p:cNvPr id="68" name="그림 67"/>
          <p:cNvPicPr>
            <a:picLocks noChangeAspect="1"/>
          </p:cNvPicPr>
          <p:nvPr/>
        </p:nvPicPr>
        <p:blipFill>
          <a:blip r:embed="rId3"/>
          <a:stretch/>
        </p:blipFill>
        <p:spPr>
          <a:xfrm>
            <a:off x="7315200" y="2157779"/>
            <a:ext cx="4171950" cy="3209192"/>
          </a:xfrm>
          <a:prstGeom prst="rect">
            <a:avLst/>
          </a:prstGeom>
        </p:spPr>
      </p:pic>
    </p:spTree>
    <p:extLst>
      <p:ext uri="{BB962C8B-B14F-4D97-AF65-F5344CB8AC3E}">
        <p14:creationId xmlns:p14="http://schemas.microsoft.com/office/powerpoint/2010/main" val="5007453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120BABF1-C200-4403-9F79-BE0B897E2DDA}"/>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F5C0C7E6-ED49-46C0-B887-8BC29306FD00}"/>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lang="en-US" altLang="ko-KR" sz="7050" b="1" i="0">
                <a:solidFill>
                  <a:srgbClr val="474747"/>
                </a:solidFill>
                <a:latin typeface="Consolas"/>
                <a:ea typeface="Consolas"/>
                <a:cs typeface="Consolas"/>
              </a:rPr>
              <a:t>4.9</a:t>
            </a:r>
            <a:endParaRPr sz="7050" b="1" i="0">
              <a:solidFill>
                <a:srgbClr val="474747"/>
              </a:solidFill>
              <a:latin typeface="Consolas"/>
              <a:ea typeface="Consolas"/>
              <a:cs typeface="Consolas"/>
            </a:endParaRPr>
          </a:p>
        </p:txBody>
      </p:sp>
      <p:sp>
        <p:nvSpPr>
          <p:cNvPr id="3" name="직사각형 2">
            <a:extLst>
              <a:ext uri="{FF2B5EF4-FFF2-40B4-BE49-F238E27FC236}">
                <a16:creationId xmlns:a16="http://schemas.microsoft.com/office/drawing/2014/main" id="{48619C23-5603-44F3-97BB-43FC1928DEB4}"/>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65321404-E74C-4778-ACF1-B5BC3920590E}"/>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스트라센 알고리즘</a:t>
            </a:r>
          </a:p>
        </p:txBody>
      </p:sp>
      <p:sp>
        <p:nvSpPr>
          <p:cNvPr id="5" name="직사각형 4">
            <a:extLst>
              <a:ext uri="{FF2B5EF4-FFF2-40B4-BE49-F238E27FC236}">
                <a16:creationId xmlns:a16="http://schemas.microsoft.com/office/drawing/2014/main" id="{98894DC1-18F5-41FE-A411-11F58198625B}"/>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Strassen Algorithm (1969)</a:t>
            </a:r>
          </a:p>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행렬 곱셈에서 곱셈 8번을 7번으로</a:t>
            </a:r>
          </a:p>
        </p:txBody>
      </p:sp>
      <p:sp>
        <p:nvSpPr>
          <p:cNvPr id="6" name="직사각형 5">
            <a:extLst>
              <a:ext uri="{FF2B5EF4-FFF2-40B4-BE49-F238E27FC236}">
                <a16:creationId xmlns:a16="http://schemas.microsoft.com/office/drawing/2014/main" id="{F21BB0B7-3A14-4131-8129-1B1E5714C38A}"/>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408C610D-73A6-42B4-9902-1D6939A72F27}"/>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8872A52F-040A-4307-98D0-468370864B3E}"/>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121</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2061931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2321B5AE-62C0-4C9B-B9EA-069343FD63AB}"/>
              </a:ext>
            </a:extLst>
          </p:cNvPr>
          <p:cNvSpPr>
            <a:spLocks noGrp="1"/>
          </p:cNvSpPr>
          <p:nvPr/>
        </p:nvSpPr>
        <p:spPr>
          <a:xfrm>
            <a:off x="658368" y="1737360"/>
            <a:ext cx="10872216" cy="548640"/>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두 개의 n × n 행렬을 곱하는 표준 알고리즘은 세 겹의 반복문으로 O(n³)이 걸린다. 카라츠바 알고리즘에서 숫자를 절반으로 쪼갰듯이, 행렬도 4등분하여 블록 행렬(block matrix) 형태로 생각해보자.</a:t>
            </a:r>
            <a:endParaRPr sz="1300"/>
          </a:p>
        </p:txBody>
      </p:sp>
      <p:sp>
        <p:nvSpPr>
          <p:cNvPr id="7" name="Shape 4">
            <a:extLst>
              <a:ext uri="{FF2B5EF4-FFF2-40B4-BE49-F238E27FC236}">
                <a16:creationId xmlns:a16="http://schemas.microsoft.com/office/drawing/2014/main" id="{9E4ADAC1-72AB-4E56-A1DD-D94A962A9351}"/>
              </a:ext>
            </a:extLst>
          </p:cNvPr>
          <p:cNvSpPr>
            <a:spLocks noGrp="1"/>
          </p:cNvSpPr>
          <p:nvPr/>
        </p:nvSpPr>
        <p:spPr>
          <a:xfrm>
            <a:off x="3150108" y="2468880"/>
            <a:ext cx="749808" cy="512064"/>
          </a:xfrm>
          <a:prstGeom prst="roundRect">
            <a:avLst>
              <a:gd name="adj" fmla="val 12500"/>
            </a:avLst>
          </a:prstGeom>
          <a:solidFill>
            <a:srgbClr val="E9E9E9"/>
          </a:solidFill>
          <a:ln w="5715">
            <a:solidFill>
              <a:srgbClr val="D4D4D4"/>
            </a:solidFill>
          </a:ln>
        </p:spPr>
      </p:sp>
      <p:sp>
        <p:nvSpPr>
          <p:cNvPr id="8" name="Text 5">
            <a:extLst>
              <a:ext uri="{FF2B5EF4-FFF2-40B4-BE49-F238E27FC236}">
                <a16:creationId xmlns:a16="http://schemas.microsoft.com/office/drawing/2014/main" id="{67E3C1C4-F302-4606-B4AF-B66CF0B55E68}"/>
              </a:ext>
            </a:extLst>
          </p:cNvPr>
          <p:cNvSpPr>
            <a:spLocks noGrp="1"/>
          </p:cNvSpPr>
          <p:nvPr/>
        </p:nvSpPr>
        <p:spPr>
          <a:xfrm>
            <a:off x="3150108" y="246888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C_11</a:t>
            </a:r>
            <a:endParaRPr sz="1400"/>
          </a:p>
        </p:txBody>
      </p:sp>
      <p:sp>
        <p:nvSpPr>
          <p:cNvPr id="9" name="Shape 6">
            <a:extLst>
              <a:ext uri="{FF2B5EF4-FFF2-40B4-BE49-F238E27FC236}">
                <a16:creationId xmlns:a16="http://schemas.microsoft.com/office/drawing/2014/main" id="{C6C2CEA3-5098-424E-B218-BD2623188F68}"/>
              </a:ext>
            </a:extLst>
          </p:cNvPr>
          <p:cNvSpPr>
            <a:spLocks noGrp="1"/>
          </p:cNvSpPr>
          <p:nvPr/>
        </p:nvSpPr>
        <p:spPr>
          <a:xfrm>
            <a:off x="3936492" y="2468880"/>
            <a:ext cx="749808" cy="512064"/>
          </a:xfrm>
          <a:prstGeom prst="roundRect">
            <a:avLst>
              <a:gd name="adj" fmla="val 12500"/>
            </a:avLst>
          </a:prstGeom>
          <a:solidFill>
            <a:srgbClr val="E9E9E9"/>
          </a:solidFill>
          <a:ln w="5715">
            <a:solidFill>
              <a:srgbClr val="D4D4D4"/>
            </a:solidFill>
          </a:ln>
        </p:spPr>
      </p:sp>
      <p:sp>
        <p:nvSpPr>
          <p:cNvPr id="10" name="Text 7">
            <a:extLst>
              <a:ext uri="{FF2B5EF4-FFF2-40B4-BE49-F238E27FC236}">
                <a16:creationId xmlns:a16="http://schemas.microsoft.com/office/drawing/2014/main" id="{5C668C04-5329-4967-92AB-723AA3E293F7}"/>
              </a:ext>
            </a:extLst>
          </p:cNvPr>
          <p:cNvSpPr>
            <a:spLocks noGrp="1"/>
          </p:cNvSpPr>
          <p:nvPr/>
        </p:nvSpPr>
        <p:spPr>
          <a:xfrm>
            <a:off x="3936492" y="246888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C_12</a:t>
            </a:r>
            <a:endParaRPr sz="1400"/>
          </a:p>
        </p:txBody>
      </p:sp>
      <p:sp>
        <p:nvSpPr>
          <p:cNvPr id="11" name="Shape 8">
            <a:extLst>
              <a:ext uri="{FF2B5EF4-FFF2-40B4-BE49-F238E27FC236}">
                <a16:creationId xmlns:a16="http://schemas.microsoft.com/office/drawing/2014/main" id="{3B23ED4B-7BDC-4E84-A4CA-6ED89430D9D3}"/>
              </a:ext>
            </a:extLst>
          </p:cNvPr>
          <p:cNvSpPr>
            <a:spLocks noGrp="1"/>
          </p:cNvSpPr>
          <p:nvPr/>
        </p:nvSpPr>
        <p:spPr>
          <a:xfrm>
            <a:off x="3150108" y="3017520"/>
            <a:ext cx="749808" cy="512064"/>
          </a:xfrm>
          <a:prstGeom prst="roundRect">
            <a:avLst>
              <a:gd name="adj" fmla="val 12500"/>
            </a:avLst>
          </a:prstGeom>
          <a:solidFill>
            <a:srgbClr val="E9E9E9"/>
          </a:solidFill>
          <a:ln w="5715">
            <a:solidFill>
              <a:srgbClr val="D4D4D4"/>
            </a:solidFill>
          </a:ln>
        </p:spPr>
      </p:sp>
      <p:sp>
        <p:nvSpPr>
          <p:cNvPr id="12" name="Text 9">
            <a:extLst>
              <a:ext uri="{FF2B5EF4-FFF2-40B4-BE49-F238E27FC236}">
                <a16:creationId xmlns:a16="http://schemas.microsoft.com/office/drawing/2014/main" id="{830ECB8A-0472-4517-8B8F-024FAAB0F579}"/>
              </a:ext>
            </a:extLst>
          </p:cNvPr>
          <p:cNvSpPr>
            <a:spLocks noGrp="1"/>
          </p:cNvSpPr>
          <p:nvPr/>
        </p:nvSpPr>
        <p:spPr>
          <a:xfrm>
            <a:off x="3150108" y="301752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C_21</a:t>
            </a:r>
            <a:endParaRPr sz="1400"/>
          </a:p>
        </p:txBody>
      </p:sp>
      <p:sp>
        <p:nvSpPr>
          <p:cNvPr id="13" name="Shape 10">
            <a:extLst>
              <a:ext uri="{FF2B5EF4-FFF2-40B4-BE49-F238E27FC236}">
                <a16:creationId xmlns:a16="http://schemas.microsoft.com/office/drawing/2014/main" id="{78216C34-73D5-4D71-8214-3E9982516737}"/>
              </a:ext>
            </a:extLst>
          </p:cNvPr>
          <p:cNvSpPr>
            <a:spLocks noGrp="1"/>
          </p:cNvSpPr>
          <p:nvPr/>
        </p:nvSpPr>
        <p:spPr>
          <a:xfrm>
            <a:off x="3936492" y="3017520"/>
            <a:ext cx="749808" cy="512064"/>
          </a:xfrm>
          <a:prstGeom prst="roundRect">
            <a:avLst>
              <a:gd name="adj" fmla="val 12500"/>
            </a:avLst>
          </a:prstGeom>
          <a:solidFill>
            <a:srgbClr val="E9E9E9"/>
          </a:solidFill>
          <a:ln w="5715">
            <a:solidFill>
              <a:srgbClr val="D4D4D4"/>
            </a:solidFill>
          </a:ln>
        </p:spPr>
      </p:sp>
      <p:sp>
        <p:nvSpPr>
          <p:cNvPr id="14" name="Text 11">
            <a:extLst>
              <a:ext uri="{FF2B5EF4-FFF2-40B4-BE49-F238E27FC236}">
                <a16:creationId xmlns:a16="http://schemas.microsoft.com/office/drawing/2014/main" id="{2F35A7A3-3DCD-4C9C-860D-E91194CECD70}"/>
              </a:ext>
            </a:extLst>
          </p:cNvPr>
          <p:cNvSpPr>
            <a:spLocks noGrp="1"/>
          </p:cNvSpPr>
          <p:nvPr/>
        </p:nvSpPr>
        <p:spPr>
          <a:xfrm>
            <a:off x="3936492" y="301752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C_22</a:t>
            </a:r>
            <a:endParaRPr sz="1400"/>
          </a:p>
        </p:txBody>
      </p:sp>
      <p:sp>
        <p:nvSpPr>
          <p:cNvPr id="15" name="Text 12">
            <a:extLst>
              <a:ext uri="{FF2B5EF4-FFF2-40B4-BE49-F238E27FC236}">
                <a16:creationId xmlns:a16="http://schemas.microsoft.com/office/drawing/2014/main" id="{0A1EAC72-C1BB-41B0-9D8B-26F6C7017FBC}"/>
              </a:ext>
            </a:extLst>
          </p:cNvPr>
          <p:cNvSpPr>
            <a:spLocks noGrp="1"/>
          </p:cNvSpPr>
          <p:nvPr/>
        </p:nvSpPr>
        <p:spPr>
          <a:xfrm>
            <a:off x="4686300" y="2468880"/>
            <a:ext cx="640080" cy="1060704"/>
          </a:xfrm>
          <a:prstGeom prst="rect">
            <a:avLst/>
          </a:prstGeom>
          <a:noFill/>
          <a:ln w="0">
            <a:noFill/>
          </a:ln>
        </p:spPr>
        <p:txBody>
          <a:bodyPr wrap="square" lIns="0" tIns="0" rIns="0" bIns="0" anchor="ctr">
            <a:noAutofit/>
          </a:bodyPr>
          <a:lstStyle/>
          <a:p>
            <a:pPr marL="0" indent="0" algn="ctr">
              <a:buNone/>
              <a:defRPr sz="2200" i="0">
                <a:solidFill>
                  <a:srgbClr val="171717"/>
                </a:solidFill>
                <a:latin typeface="Malgun Gothic"/>
                <a:ea typeface="Malgun Gothic"/>
                <a:cs typeface="Malgun Gothic"/>
              </a:defRPr>
            </a:pPr>
            <a:r>
              <a:rPr sz="2200" b="1" i="0">
                <a:solidFill>
                  <a:srgbClr val="171717"/>
                </a:solidFill>
                <a:latin typeface="Malgun Gothic"/>
                <a:ea typeface="Malgun Gothic"/>
                <a:cs typeface="Malgun Gothic"/>
              </a:rPr>
              <a:t>=</a:t>
            </a:r>
            <a:endParaRPr sz="2200"/>
          </a:p>
        </p:txBody>
      </p:sp>
      <p:sp>
        <p:nvSpPr>
          <p:cNvPr id="16" name="Shape 13">
            <a:extLst>
              <a:ext uri="{FF2B5EF4-FFF2-40B4-BE49-F238E27FC236}">
                <a16:creationId xmlns:a16="http://schemas.microsoft.com/office/drawing/2014/main" id="{F6E59704-DDBB-47DB-940E-03ED0ED929D7}"/>
              </a:ext>
            </a:extLst>
          </p:cNvPr>
          <p:cNvSpPr>
            <a:spLocks noGrp="1"/>
          </p:cNvSpPr>
          <p:nvPr/>
        </p:nvSpPr>
        <p:spPr>
          <a:xfrm>
            <a:off x="5326380" y="2468880"/>
            <a:ext cx="749808" cy="512064"/>
          </a:xfrm>
          <a:prstGeom prst="roundRect">
            <a:avLst>
              <a:gd name="adj" fmla="val 12500"/>
            </a:avLst>
          </a:prstGeom>
          <a:solidFill>
            <a:srgbClr val="E9E9E9"/>
          </a:solidFill>
          <a:ln w="5715">
            <a:solidFill>
              <a:srgbClr val="D4D4D4"/>
            </a:solidFill>
          </a:ln>
        </p:spPr>
      </p:sp>
      <p:sp>
        <p:nvSpPr>
          <p:cNvPr id="17" name="Text 14">
            <a:extLst>
              <a:ext uri="{FF2B5EF4-FFF2-40B4-BE49-F238E27FC236}">
                <a16:creationId xmlns:a16="http://schemas.microsoft.com/office/drawing/2014/main" id="{9C16BDFE-F131-4841-A68F-FDA21677652A}"/>
              </a:ext>
            </a:extLst>
          </p:cNvPr>
          <p:cNvSpPr>
            <a:spLocks noGrp="1"/>
          </p:cNvSpPr>
          <p:nvPr/>
        </p:nvSpPr>
        <p:spPr>
          <a:xfrm>
            <a:off x="5326380" y="246888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A_11</a:t>
            </a:r>
            <a:endParaRPr sz="1400"/>
          </a:p>
        </p:txBody>
      </p:sp>
      <p:sp>
        <p:nvSpPr>
          <p:cNvPr id="18" name="Shape 15">
            <a:extLst>
              <a:ext uri="{FF2B5EF4-FFF2-40B4-BE49-F238E27FC236}">
                <a16:creationId xmlns:a16="http://schemas.microsoft.com/office/drawing/2014/main" id="{0F19265A-8CB9-4413-B65B-8A369D9E7782}"/>
              </a:ext>
            </a:extLst>
          </p:cNvPr>
          <p:cNvSpPr>
            <a:spLocks noGrp="1"/>
          </p:cNvSpPr>
          <p:nvPr/>
        </p:nvSpPr>
        <p:spPr>
          <a:xfrm>
            <a:off x="6112764" y="2468880"/>
            <a:ext cx="749808" cy="512064"/>
          </a:xfrm>
          <a:prstGeom prst="roundRect">
            <a:avLst>
              <a:gd name="adj" fmla="val 12500"/>
            </a:avLst>
          </a:prstGeom>
          <a:solidFill>
            <a:srgbClr val="E9E9E9"/>
          </a:solidFill>
          <a:ln w="5715">
            <a:solidFill>
              <a:srgbClr val="D4D4D4"/>
            </a:solidFill>
          </a:ln>
        </p:spPr>
      </p:sp>
      <p:sp>
        <p:nvSpPr>
          <p:cNvPr id="19" name="Text 16">
            <a:extLst>
              <a:ext uri="{FF2B5EF4-FFF2-40B4-BE49-F238E27FC236}">
                <a16:creationId xmlns:a16="http://schemas.microsoft.com/office/drawing/2014/main" id="{B6219512-B144-441E-BFB4-6F11CD0773A5}"/>
              </a:ext>
            </a:extLst>
          </p:cNvPr>
          <p:cNvSpPr>
            <a:spLocks noGrp="1"/>
          </p:cNvSpPr>
          <p:nvPr/>
        </p:nvSpPr>
        <p:spPr>
          <a:xfrm>
            <a:off x="6112764" y="246888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A_12</a:t>
            </a:r>
            <a:endParaRPr sz="1400"/>
          </a:p>
        </p:txBody>
      </p:sp>
      <p:sp>
        <p:nvSpPr>
          <p:cNvPr id="20" name="Shape 17">
            <a:extLst>
              <a:ext uri="{FF2B5EF4-FFF2-40B4-BE49-F238E27FC236}">
                <a16:creationId xmlns:a16="http://schemas.microsoft.com/office/drawing/2014/main" id="{65922CE3-779F-41E3-B0F9-C2CCEBCC9681}"/>
              </a:ext>
            </a:extLst>
          </p:cNvPr>
          <p:cNvSpPr>
            <a:spLocks noGrp="1"/>
          </p:cNvSpPr>
          <p:nvPr/>
        </p:nvSpPr>
        <p:spPr>
          <a:xfrm>
            <a:off x="5326380" y="3017520"/>
            <a:ext cx="749808" cy="512064"/>
          </a:xfrm>
          <a:prstGeom prst="roundRect">
            <a:avLst>
              <a:gd name="adj" fmla="val 12500"/>
            </a:avLst>
          </a:prstGeom>
          <a:solidFill>
            <a:srgbClr val="E9E9E9"/>
          </a:solidFill>
          <a:ln w="5715">
            <a:solidFill>
              <a:srgbClr val="D4D4D4"/>
            </a:solidFill>
          </a:ln>
        </p:spPr>
      </p:sp>
      <p:sp>
        <p:nvSpPr>
          <p:cNvPr id="21" name="Text 18">
            <a:extLst>
              <a:ext uri="{FF2B5EF4-FFF2-40B4-BE49-F238E27FC236}">
                <a16:creationId xmlns:a16="http://schemas.microsoft.com/office/drawing/2014/main" id="{CD440917-24BC-4F63-B1A6-3507D1D53598}"/>
              </a:ext>
            </a:extLst>
          </p:cNvPr>
          <p:cNvSpPr>
            <a:spLocks noGrp="1"/>
          </p:cNvSpPr>
          <p:nvPr/>
        </p:nvSpPr>
        <p:spPr>
          <a:xfrm>
            <a:off x="5326380" y="301752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A_21</a:t>
            </a:r>
            <a:endParaRPr sz="1400"/>
          </a:p>
        </p:txBody>
      </p:sp>
      <p:sp>
        <p:nvSpPr>
          <p:cNvPr id="22" name="Shape 19">
            <a:extLst>
              <a:ext uri="{FF2B5EF4-FFF2-40B4-BE49-F238E27FC236}">
                <a16:creationId xmlns:a16="http://schemas.microsoft.com/office/drawing/2014/main" id="{99F13EEF-59E2-443D-B758-8A0F9D9422CE}"/>
              </a:ext>
            </a:extLst>
          </p:cNvPr>
          <p:cNvSpPr>
            <a:spLocks noGrp="1"/>
          </p:cNvSpPr>
          <p:nvPr/>
        </p:nvSpPr>
        <p:spPr>
          <a:xfrm>
            <a:off x="6112764" y="3017520"/>
            <a:ext cx="749808" cy="512064"/>
          </a:xfrm>
          <a:prstGeom prst="roundRect">
            <a:avLst>
              <a:gd name="adj" fmla="val 12500"/>
            </a:avLst>
          </a:prstGeom>
          <a:solidFill>
            <a:srgbClr val="E9E9E9"/>
          </a:solidFill>
          <a:ln w="5715">
            <a:solidFill>
              <a:srgbClr val="D4D4D4"/>
            </a:solidFill>
          </a:ln>
        </p:spPr>
      </p:sp>
      <p:sp>
        <p:nvSpPr>
          <p:cNvPr id="23" name="Text 20">
            <a:extLst>
              <a:ext uri="{FF2B5EF4-FFF2-40B4-BE49-F238E27FC236}">
                <a16:creationId xmlns:a16="http://schemas.microsoft.com/office/drawing/2014/main" id="{12C36DC9-4CC0-42EB-9663-23F6B8257462}"/>
              </a:ext>
            </a:extLst>
          </p:cNvPr>
          <p:cNvSpPr>
            <a:spLocks noGrp="1"/>
          </p:cNvSpPr>
          <p:nvPr/>
        </p:nvSpPr>
        <p:spPr>
          <a:xfrm>
            <a:off x="6112764" y="301752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A_22</a:t>
            </a:r>
            <a:endParaRPr sz="1400"/>
          </a:p>
        </p:txBody>
      </p:sp>
      <p:sp>
        <p:nvSpPr>
          <p:cNvPr id="24" name="Text 21">
            <a:extLst>
              <a:ext uri="{FF2B5EF4-FFF2-40B4-BE49-F238E27FC236}">
                <a16:creationId xmlns:a16="http://schemas.microsoft.com/office/drawing/2014/main" id="{38C3E687-6D41-468F-99CD-AFB4A75FD302}"/>
              </a:ext>
            </a:extLst>
          </p:cNvPr>
          <p:cNvSpPr>
            <a:spLocks noGrp="1"/>
          </p:cNvSpPr>
          <p:nvPr/>
        </p:nvSpPr>
        <p:spPr>
          <a:xfrm>
            <a:off x="6862572" y="2468880"/>
            <a:ext cx="640080" cy="1060704"/>
          </a:xfrm>
          <a:prstGeom prst="rect">
            <a:avLst/>
          </a:prstGeom>
          <a:noFill/>
          <a:ln w="0">
            <a:noFill/>
          </a:ln>
        </p:spPr>
        <p:txBody>
          <a:bodyPr wrap="square" lIns="0" tIns="0" rIns="0" bIns="0" anchor="ctr">
            <a:noAutofit/>
          </a:bodyPr>
          <a:lstStyle/>
          <a:p>
            <a:pPr marL="0" indent="0" algn="ctr">
              <a:buNone/>
              <a:defRPr sz="2200" i="0">
                <a:solidFill>
                  <a:srgbClr val="171717"/>
                </a:solidFill>
                <a:latin typeface="Malgun Gothic"/>
                <a:ea typeface="Malgun Gothic"/>
                <a:cs typeface="Malgun Gothic"/>
              </a:defRPr>
            </a:pPr>
            <a:r>
              <a:rPr sz="2200" b="1" i="0">
                <a:solidFill>
                  <a:srgbClr val="171717"/>
                </a:solidFill>
                <a:latin typeface="Malgun Gothic"/>
                <a:ea typeface="Malgun Gothic"/>
                <a:cs typeface="Malgun Gothic"/>
              </a:rPr>
              <a:t>×</a:t>
            </a:r>
            <a:endParaRPr sz="2200"/>
          </a:p>
        </p:txBody>
      </p:sp>
      <p:sp>
        <p:nvSpPr>
          <p:cNvPr id="25" name="Shape 22">
            <a:extLst>
              <a:ext uri="{FF2B5EF4-FFF2-40B4-BE49-F238E27FC236}">
                <a16:creationId xmlns:a16="http://schemas.microsoft.com/office/drawing/2014/main" id="{871862CF-2138-4226-A3B1-E0A6F4BDA3A6}"/>
              </a:ext>
            </a:extLst>
          </p:cNvPr>
          <p:cNvSpPr>
            <a:spLocks noGrp="1"/>
          </p:cNvSpPr>
          <p:nvPr/>
        </p:nvSpPr>
        <p:spPr>
          <a:xfrm>
            <a:off x="7502652" y="2468880"/>
            <a:ext cx="749808" cy="512064"/>
          </a:xfrm>
          <a:prstGeom prst="roundRect">
            <a:avLst>
              <a:gd name="adj" fmla="val 12500"/>
            </a:avLst>
          </a:prstGeom>
          <a:solidFill>
            <a:srgbClr val="E9E9E9"/>
          </a:solidFill>
          <a:ln w="5715">
            <a:solidFill>
              <a:srgbClr val="D4D4D4"/>
            </a:solidFill>
          </a:ln>
        </p:spPr>
      </p:sp>
      <p:sp>
        <p:nvSpPr>
          <p:cNvPr id="26" name="Text 23">
            <a:extLst>
              <a:ext uri="{FF2B5EF4-FFF2-40B4-BE49-F238E27FC236}">
                <a16:creationId xmlns:a16="http://schemas.microsoft.com/office/drawing/2014/main" id="{312069C4-D261-4553-938B-96516FE32375}"/>
              </a:ext>
            </a:extLst>
          </p:cNvPr>
          <p:cNvSpPr>
            <a:spLocks noGrp="1"/>
          </p:cNvSpPr>
          <p:nvPr/>
        </p:nvSpPr>
        <p:spPr>
          <a:xfrm>
            <a:off x="7502652" y="246888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B_11</a:t>
            </a:r>
            <a:endParaRPr sz="1400"/>
          </a:p>
        </p:txBody>
      </p:sp>
      <p:sp>
        <p:nvSpPr>
          <p:cNvPr id="27" name="Shape 24">
            <a:extLst>
              <a:ext uri="{FF2B5EF4-FFF2-40B4-BE49-F238E27FC236}">
                <a16:creationId xmlns:a16="http://schemas.microsoft.com/office/drawing/2014/main" id="{4F71C6FC-FB0B-4D5F-98E5-3DC88F7DCA0D}"/>
              </a:ext>
            </a:extLst>
          </p:cNvPr>
          <p:cNvSpPr>
            <a:spLocks noGrp="1"/>
          </p:cNvSpPr>
          <p:nvPr/>
        </p:nvSpPr>
        <p:spPr>
          <a:xfrm>
            <a:off x="8289036" y="2468880"/>
            <a:ext cx="749808" cy="512064"/>
          </a:xfrm>
          <a:prstGeom prst="roundRect">
            <a:avLst>
              <a:gd name="adj" fmla="val 12500"/>
            </a:avLst>
          </a:prstGeom>
          <a:solidFill>
            <a:srgbClr val="E9E9E9"/>
          </a:solidFill>
          <a:ln w="5715">
            <a:solidFill>
              <a:srgbClr val="D4D4D4"/>
            </a:solidFill>
          </a:ln>
        </p:spPr>
      </p:sp>
      <p:sp>
        <p:nvSpPr>
          <p:cNvPr id="28" name="Text 25">
            <a:extLst>
              <a:ext uri="{FF2B5EF4-FFF2-40B4-BE49-F238E27FC236}">
                <a16:creationId xmlns:a16="http://schemas.microsoft.com/office/drawing/2014/main" id="{FF0977C4-E8A1-43C0-BCAC-710BDE8C8C59}"/>
              </a:ext>
            </a:extLst>
          </p:cNvPr>
          <p:cNvSpPr>
            <a:spLocks noGrp="1"/>
          </p:cNvSpPr>
          <p:nvPr/>
        </p:nvSpPr>
        <p:spPr>
          <a:xfrm>
            <a:off x="8289036" y="246888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B_12</a:t>
            </a:r>
            <a:endParaRPr sz="1400"/>
          </a:p>
        </p:txBody>
      </p:sp>
      <p:sp>
        <p:nvSpPr>
          <p:cNvPr id="29" name="Shape 26">
            <a:extLst>
              <a:ext uri="{FF2B5EF4-FFF2-40B4-BE49-F238E27FC236}">
                <a16:creationId xmlns:a16="http://schemas.microsoft.com/office/drawing/2014/main" id="{EF0ED150-5E86-4345-A085-CA28916541FD}"/>
              </a:ext>
            </a:extLst>
          </p:cNvPr>
          <p:cNvSpPr>
            <a:spLocks noGrp="1"/>
          </p:cNvSpPr>
          <p:nvPr/>
        </p:nvSpPr>
        <p:spPr>
          <a:xfrm>
            <a:off x="7502652" y="3017520"/>
            <a:ext cx="749808" cy="512064"/>
          </a:xfrm>
          <a:prstGeom prst="roundRect">
            <a:avLst>
              <a:gd name="adj" fmla="val 12500"/>
            </a:avLst>
          </a:prstGeom>
          <a:solidFill>
            <a:srgbClr val="E9E9E9"/>
          </a:solidFill>
          <a:ln w="5715">
            <a:solidFill>
              <a:srgbClr val="D4D4D4"/>
            </a:solidFill>
          </a:ln>
        </p:spPr>
      </p:sp>
      <p:sp>
        <p:nvSpPr>
          <p:cNvPr id="30" name="Text 27">
            <a:extLst>
              <a:ext uri="{FF2B5EF4-FFF2-40B4-BE49-F238E27FC236}">
                <a16:creationId xmlns:a16="http://schemas.microsoft.com/office/drawing/2014/main" id="{10B0C6C9-48D2-4716-8FC2-F23C8351F131}"/>
              </a:ext>
            </a:extLst>
          </p:cNvPr>
          <p:cNvSpPr>
            <a:spLocks noGrp="1"/>
          </p:cNvSpPr>
          <p:nvPr/>
        </p:nvSpPr>
        <p:spPr>
          <a:xfrm>
            <a:off x="7502652" y="301752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B_21</a:t>
            </a:r>
            <a:endParaRPr sz="1400"/>
          </a:p>
        </p:txBody>
      </p:sp>
      <p:sp>
        <p:nvSpPr>
          <p:cNvPr id="31" name="Shape 28">
            <a:extLst>
              <a:ext uri="{FF2B5EF4-FFF2-40B4-BE49-F238E27FC236}">
                <a16:creationId xmlns:a16="http://schemas.microsoft.com/office/drawing/2014/main" id="{81D9BDCA-1E23-44CA-AB67-0944488438FB}"/>
              </a:ext>
            </a:extLst>
          </p:cNvPr>
          <p:cNvSpPr>
            <a:spLocks noGrp="1"/>
          </p:cNvSpPr>
          <p:nvPr/>
        </p:nvSpPr>
        <p:spPr>
          <a:xfrm>
            <a:off x="8289036" y="3017520"/>
            <a:ext cx="749808" cy="512064"/>
          </a:xfrm>
          <a:prstGeom prst="roundRect">
            <a:avLst>
              <a:gd name="adj" fmla="val 12500"/>
            </a:avLst>
          </a:prstGeom>
          <a:solidFill>
            <a:srgbClr val="E9E9E9"/>
          </a:solidFill>
          <a:ln w="5715">
            <a:solidFill>
              <a:srgbClr val="D4D4D4"/>
            </a:solidFill>
          </a:ln>
        </p:spPr>
      </p:sp>
      <p:sp>
        <p:nvSpPr>
          <p:cNvPr id="32" name="Text 29">
            <a:extLst>
              <a:ext uri="{FF2B5EF4-FFF2-40B4-BE49-F238E27FC236}">
                <a16:creationId xmlns:a16="http://schemas.microsoft.com/office/drawing/2014/main" id="{CB34D296-7854-405C-91D7-FD6FED0ADD48}"/>
              </a:ext>
            </a:extLst>
          </p:cNvPr>
          <p:cNvSpPr>
            <a:spLocks noGrp="1"/>
          </p:cNvSpPr>
          <p:nvPr/>
        </p:nvSpPr>
        <p:spPr>
          <a:xfrm>
            <a:off x="8289036" y="3017520"/>
            <a:ext cx="749808" cy="512064"/>
          </a:xfrm>
          <a:prstGeom prst="rect">
            <a:avLst/>
          </a:prstGeom>
          <a:noFill/>
          <a:ln w="0">
            <a:noFill/>
          </a:ln>
        </p:spPr>
        <p:txBody>
          <a:bodyPr wrap="square" lIns="0" tIns="0" rIns="0" bIns="0" anchor="ctr">
            <a:noAutofit/>
          </a:bodyPr>
          <a:lstStyle/>
          <a:p>
            <a:pPr marL="0" indent="0" algn="ctr">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B_22</a:t>
            </a:r>
            <a:endParaRPr sz="1400"/>
          </a:p>
        </p:txBody>
      </p:sp>
      <p:sp>
        <p:nvSpPr>
          <p:cNvPr id="34" name="Text 31">
            <a:extLst>
              <a:ext uri="{FF2B5EF4-FFF2-40B4-BE49-F238E27FC236}">
                <a16:creationId xmlns:a16="http://schemas.microsoft.com/office/drawing/2014/main" id="{8029A869-1D82-4429-99FC-1A8D960E5EB2}"/>
              </a:ext>
            </a:extLst>
          </p:cNvPr>
          <p:cNvSpPr>
            <a:spLocks noGrp="1"/>
          </p:cNvSpPr>
          <p:nvPr/>
        </p:nvSpPr>
        <p:spPr>
          <a:xfrm>
            <a:off x="932688" y="3931920"/>
            <a:ext cx="10323576" cy="274320"/>
          </a:xfrm>
          <a:prstGeom prst="rect">
            <a:avLst/>
          </a:prstGeom>
          <a:noFill/>
          <a:ln w="0">
            <a:noFill/>
          </a:ln>
        </p:spPr>
        <p:txBody>
          <a:bodyPr wrap="square" lIns="0" tIns="0" rIns="0" bIns="0" anchor="ctr">
            <a:noAutofit/>
          </a:bodyPr>
          <a:lstStyle/>
          <a:p>
            <a:pPr marL="0" indent="0" algn="l">
              <a:buNone/>
              <a:defRPr sz="1100" i="0">
                <a:solidFill>
                  <a:srgbClr val="171717"/>
                </a:solidFill>
                <a:latin typeface="Malgun Gothic"/>
                <a:ea typeface="Malgun Gothic"/>
                <a:cs typeface="Malgun Gothic"/>
              </a:defRPr>
            </a:pPr>
            <a:r>
              <a:rPr sz="1100" b="1" i="0">
                <a:solidFill>
                  <a:srgbClr val="171717"/>
                </a:solidFill>
                <a:latin typeface="Malgun Gothic"/>
                <a:ea typeface="Malgun Gothic"/>
                <a:cs typeface="Malgun Gothic"/>
              </a:rPr>
              <a:t>각 결과 블록은 두 번의 블록 곱셈을 필요로 한다 — 모두 합쳐 8번</a:t>
            </a:r>
            <a:endParaRPr sz="1100"/>
          </a:p>
        </p:txBody>
      </p:sp>
      <p:sp>
        <p:nvSpPr>
          <p:cNvPr id="35" name="Text 32">
            <a:extLst>
              <a:ext uri="{FF2B5EF4-FFF2-40B4-BE49-F238E27FC236}">
                <a16:creationId xmlns:a16="http://schemas.microsoft.com/office/drawing/2014/main" id="{FC5B938C-00D8-4C86-94F6-5892EB0AA7BF}"/>
              </a:ext>
            </a:extLst>
          </p:cNvPr>
          <p:cNvSpPr>
            <a:spLocks noGrp="1"/>
          </p:cNvSpPr>
          <p:nvPr/>
        </p:nvSpPr>
        <p:spPr>
          <a:xfrm>
            <a:off x="932688" y="4261104"/>
            <a:ext cx="5029200" cy="365760"/>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C_11 = A_11B_11 + A_12B_21</a:t>
            </a:r>
            <a:endParaRPr sz="1400"/>
          </a:p>
        </p:txBody>
      </p:sp>
      <p:sp>
        <p:nvSpPr>
          <p:cNvPr id="36" name="Text 33">
            <a:extLst>
              <a:ext uri="{FF2B5EF4-FFF2-40B4-BE49-F238E27FC236}">
                <a16:creationId xmlns:a16="http://schemas.microsoft.com/office/drawing/2014/main" id="{0F7F7C71-14E2-4351-AB61-883BE446CAA2}"/>
              </a:ext>
            </a:extLst>
          </p:cNvPr>
          <p:cNvSpPr>
            <a:spLocks noGrp="1"/>
          </p:cNvSpPr>
          <p:nvPr/>
        </p:nvSpPr>
        <p:spPr>
          <a:xfrm>
            <a:off x="6144768" y="4261104"/>
            <a:ext cx="5029200" cy="365760"/>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C_12 = A_11B_12 + A_12B_22</a:t>
            </a:r>
            <a:endParaRPr sz="1400"/>
          </a:p>
        </p:txBody>
      </p:sp>
      <p:sp>
        <p:nvSpPr>
          <p:cNvPr id="37" name="Text 34">
            <a:extLst>
              <a:ext uri="{FF2B5EF4-FFF2-40B4-BE49-F238E27FC236}">
                <a16:creationId xmlns:a16="http://schemas.microsoft.com/office/drawing/2014/main" id="{D1B4E335-DB2A-4303-82FE-528503FB48C0}"/>
              </a:ext>
            </a:extLst>
          </p:cNvPr>
          <p:cNvSpPr>
            <a:spLocks noGrp="1"/>
          </p:cNvSpPr>
          <p:nvPr/>
        </p:nvSpPr>
        <p:spPr>
          <a:xfrm>
            <a:off x="932688" y="4663440"/>
            <a:ext cx="5029200" cy="365760"/>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C_21 = A_21B_11 + A_22B_21</a:t>
            </a:r>
            <a:endParaRPr sz="1400"/>
          </a:p>
        </p:txBody>
      </p:sp>
      <p:sp>
        <p:nvSpPr>
          <p:cNvPr id="38" name="Text 35">
            <a:extLst>
              <a:ext uri="{FF2B5EF4-FFF2-40B4-BE49-F238E27FC236}">
                <a16:creationId xmlns:a16="http://schemas.microsoft.com/office/drawing/2014/main" id="{A20B58D8-5A59-401B-8E4D-BB2E0246672D}"/>
              </a:ext>
            </a:extLst>
          </p:cNvPr>
          <p:cNvSpPr>
            <a:spLocks noGrp="1"/>
          </p:cNvSpPr>
          <p:nvPr/>
        </p:nvSpPr>
        <p:spPr>
          <a:xfrm>
            <a:off x="6144768" y="4663440"/>
            <a:ext cx="5029200" cy="365760"/>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C_22 = A_21B_12 + A_22B_22</a:t>
            </a:r>
            <a:endParaRPr sz="1400"/>
          </a:p>
        </p:txBody>
      </p:sp>
      <p:sp>
        <p:nvSpPr>
          <p:cNvPr id="42" name="Text 38">
            <a:extLst>
              <a:ext uri="{FF2B5EF4-FFF2-40B4-BE49-F238E27FC236}">
                <a16:creationId xmlns:a16="http://schemas.microsoft.com/office/drawing/2014/main" id="{BF207015-E5C9-47DD-8AAA-86EBE03224FB}"/>
              </a:ext>
            </a:extLst>
          </p:cNvPr>
          <p:cNvSpPr>
            <a:spLocks noGrp="1"/>
          </p:cNvSpPr>
          <p:nvPr/>
        </p:nvSpPr>
        <p:spPr>
          <a:xfrm>
            <a:off x="1517904" y="5468112"/>
            <a:ext cx="9756648" cy="292608"/>
          </a:xfrm>
          <a:prstGeom prst="rect">
            <a:avLst/>
          </a:prstGeom>
          <a:noFill/>
          <a:ln w="0">
            <a:noFill/>
          </a:ln>
        </p:spPr>
        <p:txBody>
          <a:bodyPr wrap="square" lIns="0" tIns="0" rIns="0" bIns="0" anchor="ctr">
            <a:noAutofit/>
          </a:bodyPr>
          <a:lstStyle/>
          <a:p>
            <a:pPr marL="0" indent="0" algn="l">
              <a:buNone/>
              <a:defRPr sz="1320" i="0">
                <a:solidFill>
                  <a:srgbClr val="171717"/>
                </a:solidFill>
                <a:latin typeface="Malgun Gothic"/>
                <a:ea typeface="Malgun Gothic"/>
                <a:cs typeface="Malgun Gothic"/>
              </a:defRPr>
            </a:pPr>
            <a:r>
              <a:rPr sz="1320" b="1" i="0">
                <a:solidFill>
                  <a:srgbClr val="171717"/>
                </a:solidFill>
                <a:latin typeface="Malgun Gothic"/>
                <a:ea typeface="Malgun Gothic"/>
                <a:cs typeface="Malgun Gothic"/>
              </a:rPr>
              <a:t>아무런 개선이 없다 — T(n) = 8T(n/2) + O(n²) ⇒ Θ(n³)</a:t>
            </a:r>
            <a:endParaRPr sz="1320"/>
          </a:p>
        </p:txBody>
      </p:sp>
      <p:sp>
        <p:nvSpPr>
          <p:cNvPr id="43" name="Text 39">
            <a:extLst>
              <a:ext uri="{FF2B5EF4-FFF2-40B4-BE49-F238E27FC236}">
                <a16:creationId xmlns:a16="http://schemas.microsoft.com/office/drawing/2014/main" id="{0E610C2A-574F-49B9-A992-3DA068D54575}"/>
              </a:ext>
            </a:extLst>
          </p:cNvPr>
          <p:cNvSpPr>
            <a:spLocks noGrp="1"/>
          </p:cNvSpPr>
          <p:nvPr/>
        </p:nvSpPr>
        <p:spPr>
          <a:xfrm>
            <a:off x="1517904" y="5815584"/>
            <a:ext cx="9756648" cy="146304"/>
          </a:xfrm>
          <a:prstGeom prst="rect">
            <a:avLst/>
          </a:prstGeom>
          <a:noFill/>
          <a:ln w="0">
            <a:noFill/>
          </a:ln>
        </p:spPr>
        <p:txBody>
          <a:bodyPr wrap="square" lIns="0" tIns="0" rIns="0" bIns="0" anchor="t">
            <a:noAutofit/>
          </a:bodyPr>
          <a:lstStyle/>
          <a:p>
            <a:pPr marL="0" indent="0" algn="l">
              <a:lnSpc>
                <a:spcPct val="132000"/>
              </a:lnSpc>
              <a:buNone/>
              <a:defRPr sz="1180" i="0">
                <a:solidFill>
                  <a:srgbClr val="606060"/>
                </a:solidFill>
                <a:latin typeface="Malgun Gothic"/>
                <a:ea typeface="Malgun Gothic"/>
                <a:cs typeface="Malgun Gothic"/>
              </a:defRPr>
            </a:pPr>
            <a:r>
              <a:rPr sz="1180" i="0">
                <a:solidFill>
                  <a:srgbClr val="606060"/>
                </a:solidFill>
                <a:latin typeface="Malgun Gothic"/>
                <a:ea typeface="Malgun Gothic"/>
                <a:cs typeface="Malgun Gothic"/>
              </a:rPr>
              <a:t>블록 곱셈이 8번, 블록 덧셈이 O(n²). 마스터 정리 Case 1에 의해 n^log₂8 = n³ — 원래 알고리즘과 똑같다.</a:t>
            </a:r>
            <a:endParaRPr sz="1180"/>
          </a:p>
        </p:txBody>
      </p:sp>
      <p:sp>
        <p:nvSpPr>
          <p:cNvPr id="45" name="직사각형 44">
            <a:extLst>
              <a:ext uri="{FF2B5EF4-FFF2-40B4-BE49-F238E27FC236}">
                <a16:creationId xmlns:a16="http://schemas.microsoft.com/office/drawing/2014/main" id="{8E0BDC29-FCA8-4D09-AC64-F186564211BC}"/>
              </a:ext>
            </a:extLst>
          </p:cNvPr>
          <p:cNvSpPr>
            <a:spLocks noGrp="1"/>
          </p:cNvSpPr>
          <p:nvPr/>
        </p:nvSpPr>
        <p:spPr>
          <a:xfrm>
            <a:off x="658368" y="3840480"/>
            <a:ext cx="10872216" cy="9525"/>
          </a:xfrm>
          <a:prstGeom prst="rect">
            <a:avLst/>
          </a:prstGeom>
          <a:solidFill>
            <a:srgbClr val="D4D4D4"/>
          </a:solidFill>
          <a:ln w="0">
            <a:noFill/>
          </a:ln>
        </p:spPr>
      </p:sp>
      <p:sp>
        <p:nvSpPr>
          <p:cNvPr id="46" name="직사각형 45">
            <a:extLst>
              <a:ext uri="{FF2B5EF4-FFF2-40B4-BE49-F238E27FC236}">
                <a16:creationId xmlns:a16="http://schemas.microsoft.com/office/drawing/2014/main" id="{52CCEA22-7769-441A-922C-BADEB9E21178}"/>
              </a:ext>
            </a:extLst>
          </p:cNvPr>
          <p:cNvSpPr>
            <a:spLocks noGrp="1"/>
          </p:cNvSpPr>
          <p:nvPr/>
        </p:nvSpPr>
        <p:spPr>
          <a:xfrm>
            <a:off x="658368" y="5285232"/>
            <a:ext cx="10872216" cy="9525"/>
          </a:xfrm>
          <a:prstGeom prst="rect">
            <a:avLst/>
          </a:prstGeom>
          <a:solidFill>
            <a:srgbClr val="D4D4D4"/>
          </a:solidFill>
          <a:ln w="0">
            <a:noFill/>
          </a:ln>
        </p:spPr>
      </p:sp>
      <p:sp>
        <p:nvSpPr>
          <p:cNvPr id="47" name="직사각형 46">
            <a:extLst>
              <a:ext uri="{FF2B5EF4-FFF2-40B4-BE49-F238E27FC236}">
                <a16:creationId xmlns:a16="http://schemas.microsoft.com/office/drawing/2014/main" id="{AF26AB26-246E-4E50-A66B-FE152E4095FA}"/>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4.9  </a:t>
            </a:r>
            <a:r>
              <a:rPr lang="ko-KR" altLang="en-US" sz="1050" b="1" i="0">
                <a:solidFill>
                  <a:srgbClr val="606060"/>
                </a:solidFill>
                <a:latin typeface="Malgun Gothic"/>
                <a:ea typeface="Malgun Gothic"/>
                <a:cs typeface="Malgun Gothic"/>
              </a:rPr>
              <a:t>스트라센 알고리즘</a:t>
            </a:r>
            <a:endParaRPr sz="1050" b="1" i="0">
              <a:solidFill>
                <a:srgbClr val="606060"/>
              </a:solidFill>
              <a:latin typeface="Malgun Gothic"/>
              <a:ea typeface="Malgun Gothic"/>
              <a:cs typeface="Malgun Gothic"/>
            </a:endParaRPr>
          </a:p>
        </p:txBody>
      </p:sp>
      <p:sp>
        <p:nvSpPr>
          <p:cNvPr id="48" name="직사각형 47">
            <a:extLst>
              <a:ext uri="{FF2B5EF4-FFF2-40B4-BE49-F238E27FC236}">
                <a16:creationId xmlns:a16="http://schemas.microsoft.com/office/drawing/2014/main" id="{65202F47-95B6-4AB7-9127-7430B7E85581}"/>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9" name="직사각형 48">
            <a:extLst>
              <a:ext uri="{FF2B5EF4-FFF2-40B4-BE49-F238E27FC236}">
                <a16:creationId xmlns:a16="http://schemas.microsoft.com/office/drawing/2014/main" id="{EDCD138B-ACC6-4738-A3AE-CC32C3045FF4}"/>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분할 정복의 시도 — 블록 행렬</a:t>
            </a:r>
          </a:p>
        </p:txBody>
      </p:sp>
      <p:sp>
        <p:nvSpPr>
          <p:cNvPr id="50" name="직사각형 49">
            <a:extLst>
              <a:ext uri="{FF2B5EF4-FFF2-40B4-BE49-F238E27FC236}">
                <a16:creationId xmlns:a16="http://schemas.microsoft.com/office/drawing/2014/main" id="{3E38EB8A-196E-4527-8D50-399F97F58879}"/>
              </a:ext>
            </a:extLst>
          </p:cNvPr>
          <p:cNvSpPr>
            <a:spLocks noGrp="1"/>
          </p:cNvSpPr>
          <p:nvPr/>
        </p:nvSpPr>
        <p:spPr>
          <a:xfrm>
            <a:off x="609600" y="1381125"/>
            <a:ext cx="10972800" cy="19050"/>
          </a:xfrm>
          <a:prstGeom prst="rect">
            <a:avLst/>
          </a:prstGeom>
          <a:solidFill>
            <a:srgbClr val="171717"/>
          </a:solidFill>
          <a:ln w="0">
            <a:noFill/>
          </a:ln>
        </p:spPr>
      </p:sp>
      <p:sp>
        <p:nvSpPr>
          <p:cNvPr id="51" name="직사각형 50">
            <a:extLst>
              <a:ext uri="{FF2B5EF4-FFF2-40B4-BE49-F238E27FC236}">
                <a16:creationId xmlns:a16="http://schemas.microsoft.com/office/drawing/2014/main" id="{42556D03-98AC-4EA1-860A-E1C5885EEBF0}"/>
              </a:ext>
            </a:extLst>
          </p:cNvPr>
          <p:cNvSpPr>
            <a:spLocks noGrp="1"/>
          </p:cNvSpPr>
          <p:nvPr/>
        </p:nvSpPr>
        <p:spPr>
          <a:xfrm>
            <a:off x="609600" y="6438900"/>
            <a:ext cx="10972800" cy="9525"/>
          </a:xfrm>
          <a:prstGeom prst="rect">
            <a:avLst/>
          </a:prstGeom>
          <a:solidFill>
            <a:srgbClr val="D4D4D4"/>
          </a:solidFill>
          <a:ln w="0">
            <a:noFill/>
          </a:ln>
        </p:spPr>
      </p:sp>
      <p:sp>
        <p:nvSpPr>
          <p:cNvPr id="52" name="직사각형 51">
            <a:extLst>
              <a:ext uri="{FF2B5EF4-FFF2-40B4-BE49-F238E27FC236}">
                <a16:creationId xmlns:a16="http://schemas.microsoft.com/office/drawing/2014/main" id="{7055F8FE-1FA8-4492-9141-FD1857D84C95}"/>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53" name="직사각형 52">
            <a:extLst>
              <a:ext uri="{FF2B5EF4-FFF2-40B4-BE49-F238E27FC236}">
                <a16:creationId xmlns:a16="http://schemas.microsoft.com/office/drawing/2014/main" id="{FC087588-16AC-42D7-97E1-67562199A8E7}"/>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122</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51074882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83BD8184-AB5B-4C56-B2E3-7D6F4599BF9A}"/>
              </a:ext>
            </a:extLst>
          </p:cNvPr>
          <p:cNvSpPr>
            <a:spLocks noGrp="1"/>
          </p:cNvSpPr>
          <p:nvPr/>
        </p:nvSpPr>
        <p:spPr>
          <a:xfrm>
            <a:off x="658368" y="1700784"/>
            <a:ext cx="10872216" cy="566928"/>
          </a:xfrm>
          <a:prstGeom prst="rect">
            <a:avLst/>
          </a:prstGeom>
          <a:noFill/>
          <a:ln w="0">
            <a:noFill/>
          </a:ln>
        </p:spPr>
        <p:txBody>
          <a:bodyPr wrap="square" lIns="0" tIns="0" rIns="0" bIns="0" anchor="t">
            <a:noAutofit/>
          </a:bodyPr>
          <a:lstStyle/>
          <a:p>
            <a:pPr marL="0" indent="0" algn="l">
              <a:lnSpc>
                <a:spcPct val="142000"/>
              </a:lnSpc>
              <a:buNone/>
              <a:defRPr sz="1300" i="0">
                <a:solidFill>
                  <a:srgbClr val="606060"/>
                </a:solidFill>
                <a:latin typeface="Malgun Gothic"/>
                <a:ea typeface="Malgun Gothic"/>
                <a:cs typeface="Malgun Gothic"/>
              </a:defRPr>
            </a:pPr>
            <a:r>
              <a:rPr sz="1300" i="0">
                <a:solidFill>
                  <a:srgbClr val="606060"/>
                </a:solidFill>
                <a:latin typeface="Malgun Gothic"/>
                <a:ea typeface="Malgun Gothic"/>
                <a:cs typeface="Malgun Gothic"/>
              </a:rPr>
              <a:t>1969년, 독일의 수학자 폴커 스트라센(Volker Strassen)은 이 견고해 보이는 벽을 허무는 방법을 찾아냈다. 카라츠바가 그랬던 것처럼, 행렬의 덧셈과 뺄셈을 조금 복잡하게 조합하면 곱셈 횟수를 8번에서 7번으로 줄일 수 있음을 발견했다.</a:t>
            </a:r>
            <a:endParaRPr sz="1300"/>
          </a:p>
        </p:txBody>
      </p:sp>
      <p:sp>
        <p:nvSpPr>
          <p:cNvPr id="8" name="Text 5">
            <a:extLst>
              <a:ext uri="{FF2B5EF4-FFF2-40B4-BE49-F238E27FC236}">
                <a16:creationId xmlns:a16="http://schemas.microsoft.com/office/drawing/2014/main" id="{C28FB8A7-BF3F-4099-AFE5-F86D023673E8}"/>
              </a:ext>
            </a:extLst>
          </p:cNvPr>
          <p:cNvSpPr>
            <a:spLocks noGrp="1"/>
          </p:cNvSpPr>
          <p:nvPr/>
        </p:nvSpPr>
        <p:spPr>
          <a:xfrm>
            <a:off x="914400" y="2523744"/>
            <a:ext cx="5212080" cy="310896"/>
          </a:xfrm>
          <a:prstGeom prst="rect">
            <a:avLst/>
          </a:prstGeom>
          <a:noFill/>
          <a:ln w="0">
            <a:noFill/>
          </a:ln>
        </p:spPr>
        <p:txBody>
          <a:bodyPr wrap="square" lIns="0" tIns="0" rIns="0" bIns="0" anchor="ctr">
            <a:noAutofit/>
          </a:bodyPr>
          <a:lstStyle/>
          <a:p>
            <a:pPr marL="0" indent="0" algn="l">
              <a:buNone/>
              <a:defRPr sz="1300" i="0">
                <a:solidFill>
                  <a:srgbClr val="171717"/>
                </a:solidFill>
                <a:latin typeface="Malgun Gothic"/>
                <a:ea typeface="Malgun Gothic"/>
                <a:cs typeface="Malgun Gothic"/>
              </a:defRPr>
            </a:pPr>
            <a:r>
              <a:rPr sz="1300" b="1" i="0">
                <a:solidFill>
                  <a:srgbClr val="171717"/>
                </a:solidFill>
                <a:latin typeface="Malgun Gothic"/>
                <a:ea typeface="Malgun Gothic"/>
                <a:cs typeface="Malgun Gothic"/>
              </a:rPr>
              <a:t>7번의 블록 곱셈</a:t>
            </a:r>
            <a:endParaRPr sz="1300"/>
          </a:p>
        </p:txBody>
      </p:sp>
      <p:sp>
        <p:nvSpPr>
          <p:cNvPr id="9" name="Text 6">
            <a:extLst>
              <a:ext uri="{FF2B5EF4-FFF2-40B4-BE49-F238E27FC236}">
                <a16:creationId xmlns:a16="http://schemas.microsoft.com/office/drawing/2014/main" id="{5AE92130-AFB9-45FD-9AC2-2FEAD885F3E1}"/>
              </a:ext>
            </a:extLst>
          </p:cNvPr>
          <p:cNvSpPr>
            <a:spLocks noGrp="1"/>
          </p:cNvSpPr>
          <p:nvPr/>
        </p:nvSpPr>
        <p:spPr>
          <a:xfrm>
            <a:off x="914400" y="2926080"/>
            <a:ext cx="5303520"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M_1 = (A_11 + A_22)(B_11 + B_22)</a:t>
            </a:r>
            <a:endParaRPr sz="1300"/>
          </a:p>
        </p:txBody>
      </p:sp>
      <p:sp>
        <p:nvSpPr>
          <p:cNvPr id="10" name="Text 7">
            <a:extLst>
              <a:ext uri="{FF2B5EF4-FFF2-40B4-BE49-F238E27FC236}">
                <a16:creationId xmlns:a16="http://schemas.microsoft.com/office/drawing/2014/main" id="{244DFAE0-9A24-4BC6-BE2B-10F6B0657E76}"/>
              </a:ext>
            </a:extLst>
          </p:cNvPr>
          <p:cNvSpPr>
            <a:spLocks noGrp="1"/>
          </p:cNvSpPr>
          <p:nvPr/>
        </p:nvSpPr>
        <p:spPr>
          <a:xfrm>
            <a:off x="914400" y="3355848"/>
            <a:ext cx="5303520"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M_2 = (A_21 + A_22) B_11</a:t>
            </a:r>
            <a:endParaRPr sz="1300"/>
          </a:p>
        </p:txBody>
      </p:sp>
      <p:sp>
        <p:nvSpPr>
          <p:cNvPr id="11" name="Text 8">
            <a:extLst>
              <a:ext uri="{FF2B5EF4-FFF2-40B4-BE49-F238E27FC236}">
                <a16:creationId xmlns:a16="http://schemas.microsoft.com/office/drawing/2014/main" id="{F0066409-46A3-4C40-9F40-705B8CC27DDC}"/>
              </a:ext>
            </a:extLst>
          </p:cNvPr>
          <p:cNvSpPr>
            <a:spLocks noGrp="1"/>
          </p:cNvSpPr>
          <p:nvPr/>
        </p:nvSpPr>
        <p:spPr>
          <a:xfrm>
            <a:off x="914400" y="3785616"/>
            <a:ext cx="5303520"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M_3 = A_11(B_12 − B_22)</a:t>
            </a:r>
            <a:endParaRPr sz="1300"/>
          </a:p>
        </p:txBody>
      </p:sp>
      <p:sp>
        <p:nvSpPr>
          <p:cNvPr id="12" name="Text 9">
            <a:extLst>
              <a:ext uri="{FF2B5EF4-FFF2-40B4-BE49-F238E27FC236}">
                <a16:creationId xmlns:a16="http://schemas.microsoft.com/office/drawing/2014/main" id="{DFEE4518-6566-4CA2-83A5-38349BEC3A70}"/>
              </a:ext>
            </a:extLst>
          </p:cNvPr>
          <p:cNvSpPr>
            <a:spLocks noGrp="1"/>
          </p:cNvSpPr>
          <p:nvPr/>
        </p:nvSpPr>
        <p:spPr>
          <a:xfrm>
            <a:off x="914400" y="4215384"/>
            <a:ext cx="5303520"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M_4 = A_22(B_21 − B_11)</a:t>
            </a:r>
            <a:endParaRPr sz="1300"/>
          </a:p>
        </p:txBody>
      </p:sp>
      <p:sp>
        <p:nvSpPr>
          <p:cNvPr id="13" name="Text 10">
            <a:extLst>
              <a:ext uri="{FF2B5EF4-FFF2-40B4-BE49-F238E27FC236}">
                <a16:creationId xmlns:a16="http://schemas.microsoft.com/office/drawing/2014/main" id="{1389857C-81E2-4FED-8BCD-77D6A5393DE7}"/>
              </a:ext>
            </a:extLst>
          </p:cNvPr>
          <p:cNvSpPr>
            <a:spLocks noGrp="1"/>
          </p:cNvSpPr>
          <p:nvPr/>
        </p:nvSpPr>
        <p:spPr>
          <a:xfrm>
            <a:off x="914400" y="4645152"/>
            <a:ext cx="5303520"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M_5 = (A_11 + A_12) B_22</a:t>
            </a:r>
            <a:endParaRPr sz="1300"/>
          </a:p>
        </p:txBody>
      </p:sp>
      <p:sp>
        <p:nvSpPr>
          <p:cNvPr id="14" name="Text 11">
            <a:extLst>
              <a:ext uri="{FF2B5EF4-FFF2-40B4-BE49-F238E27FC236}">
                <a16:creationId xmlns:a16="http://schemas.microsoft.com/office/drawing/2014/main" id="{6EA29B58-1282-4B03-A3AD-D485FD3C70C3}"/>
              </a:ext>
            </a:extLst>
          </p:cNvPr>
          <p:cNvSpPr>
            <a:spLocks noGrp="1"/>
          </p:cNvSpPr>
          <p:nvPr/>
        </p:nvSpPr>
        <p:spPr>
          <a:xfrm>
            <a:off x="914400" y="5074920"/>
            <a:ext cx="5303520"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M_6 = (A_21 − A_11)(B_11 + B_12)</a:t>
            </a:r>
            <a:endParaRPr sz="1300"/>
          </a:p>
        </p:txBody>
      </p:sp>
      <p:sp>
        <p:nvSpPr>
          <p:cNvPr id="15" name="Text 12">
            <a:extLst>
              <a:ext uri="{FF2B5EF4-FFF2-40B4-BE49-F238E27FC236}">
                <a16:creationId xmlns:a16="http://schemas.microsoft.com/office/drawing/2014/main" id="{EF63D745-F7DC-4908-B299-623FFF284FE0}"/>
              </a:ext>
            </a:extLst>
          </p:cNvPr>
          <p:cNvSpPr>
            <a:spLocks noGrp="1"/>
          </p:cNvSpPr>
          <p:nvPr/>
        </p:nvSpPr>
        <p:spPr>
          <a:xfrm>
            <a:off x="914400" y="5504688"/>
            <a:ext cx="5303520"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M_7 = (A_12 − A_22)(B_21 + B_22)</a:t>
            </a:r>
            <a:endParaRPr sz="1300"/>
          </a:p>
        </p:txBody>
      </p:sp>
      <p:sp>
        <p:nvSpPr>
          <p:cNvPr id="17" name="Text 14">
            <a:extLst>
              <a:ext uri="{FF2B5EF4-FFF2-40B4-BE49-F238E27FC236}">
                <a16:creationId xmlns:a16="http://schemas.microsoft.com/office/drawing/2014/main" id="{9D1F4B01-7DAA-4A5E-9AE6-08447208E524}"/>
              </a:ext>
            </a:extLst>
          </p:cNvPr>
          <p:cNvSpPr>
            <a:spLocks noGrp="1"/>
          </p:cNvSpPr>
          <p:nvPr/>
        </p:nvSpPr>
        <p:spPr>
          <a:xfrm>
            <a:off x="7004304" y="2505456"/>
            <a:ext cx="4297680" cy="292608"/>
          </a:xfrm>
          <a:prstGeom prst="rect">
            <a:avLst/>
          </a:prstGeom>
          <a:noFill/>
          <a:ln w="0">
            <a:noFill/>
          </a:ln>
        </p:spPr>
        <p:txBody>
          <a:bodyPr wrap="square" lIns="0" tIns="0" rIns="0" bIns="0" anchor="ctr">
            <a:noAutofit/>
          </a:bodyPr>
          <a:lstStyle/>
          <a:p>
            <a:pPr marL="0" indent="0" algn="l">
              <a:buNone/>
              <a:defRPr sz="1150" i="0">
                <a:solidFill>
                  <a:srgbClr val="171717"/>
                </a:solidFill>
                <a:latin typeface="Malgun Gothic"/>
                <a:ea typeface="Malgun Gothic"/>
                <a:cs typeface="Malgun Gothic"/>
              </a:defRPr>
            </a:pPr>
            <a:r>
              <a:rPr sz="1150" b="1" i="0">
                <a:solidFill>
                  <a:srgbClr val="171717"/>
                </a:solidFill>
                <a:latin typeface="Malgun Gothic"/>
                <a:ea typeface="Malgun Gothic"/>
                <a:cs typeface="Malgun Gothic"/>
              </a:rPr>
              <a:t>결과 블록 조립 (combine)</a:t>
            </a:r>
            <a:endParaRPr sz="1150"/>
          </a:p>
        </p:txBody>
      </p:sp>
      <p:sp>
        <p:nvSpPr>
          <p:cNvPr id="18" name="Text 15">
            <a:extLst>
              <a:ext uri="{FF2B5EF4-FFF2-40B4-BE49-F238E27FC236}">
                <a16:creationId xmlns:a16="http://schemas.microsoft.com/office/drawing/2014/main" id="{4D9569B1-A19A-4968-9718-F50E08F6004C}"/>
              </a:ext>
            </a:extLst>
          </p:cNvPr>
          <p:cNvSpPr>
            <a:spLocks noGrp="1"/>
          </p:cNvSpPr>
          <p:nvPr/>
        </p:nvSpPr>
        <p:spPr>
          <a:xfrm>
            <a:off x="6967728" y="2834640"/>
            <a:ext cx="4379976"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C_11 = M_1 + M_4 − M_5 + M_7</a:t>
            </a:r>
            <a:endParaRPr sz="1300"/>
          </a:p>
        </p:txBody>
      </p:sp>
      <p:sp>
        <p:nvSpPr>
          <p:cNvPr id="19" name="Text 16">
            <a:extLst>
              <a:ext uri="{FF2B5EF4-FFF2-40B4-BE49-F238E27FC236}">
                <a16:creationId xmlns:a16="http://schemas.microsoft.com/office/drawing/2014/main" id="{BE498E6B-D0C0-42F2-A2E1-30531BBEE192}"/>
              </a:ext>
            </a:extLst>
          </p:cNvPr>
          <p:cNvSpPr>
            <a:spLocks noGrp="1"/>
          </p:cNvSpPr>
          <p:nvPr/>
        </p:nvSpPr>
        <p:spPr>
          <a:xfrm>
            <a:off x="6967728" y="3255264"/>
            <a:ext cx="4379976"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C_12 = M_3 + M_5</a:t>
            </a:r>
            <a:endParaRPr sz="1300"/>
          </a:p>
        </p:txBody>
      </p:sp>
      <p:sp>
        <p:nvSpPr>
          <p:cNvPr id="20" name="Text 17">
            <a:extLst>
              <a:ext uri="{FF2B5EF4-FFF2-40B4-BE49-F238E27FC236}">
                <a16:creationId xmlns:a16="http://schemas.microsoft.com/office/drawing/2014/main" id="{723A5BF7-3C9B-4B4A-8DC8-FDEC09AA095C}"/>
              </a:ext>
            </a:extLst>
          </p:cNvPr>
          <p:cNvSpPr>
            <a:spLocks noGrp="1"/>
          </p:cNvSpPr>
          <p:nvPr/>
        </p:nvSpPr>
        <p:spPr>
          <a:xfrm>
            <a:off x="6967728" y="3675888"/>
            <a:ext cx="4379976"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C_21 = M_2 + M_4</a:t>
            </a:r>
            <a:endParaRPr sz="1300"/>
          </a:p>
        </p:txBody>
      </p:sp>
      <p:sp>
        <p:nvSpPr>
          <p:cNvPr id="21" name="Text 18">
            <a:extLst>
              <a:ext uri="{FF2B5EF4-FFF2-40B4-BE49-F238E27FC236}">
                <a16:creationId xmlns:a16="http://schemas.microsoft.com/office/drawing/2014/main" id="{8F7128FD-835A-4FB1-B017-27BE8CC79A0A}"/>
              </a:ext>
            </a:extLst>
          </p:cNvPr>
          <p:cNvSpPr>
            <a:spLocks noGrp="1"/>
          </p:cNvSpPr>
          <p:nvPr/>
        </p:nvSpPr>
        <p:spPr>
          <a:xfrm>
            <a:off x="6967728" y="4096512"/>
            <a:ext cx="4379976" cy="38404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C_22 = M_1 − M_2 + M_3 + M_6</a:t>
            </a:r>
            <a:endParaRPr sz="1300"/>
          </a:p>
        </p:txBody>
      </p:sp>
      <p:sp>
        <p:nvSpPr>
          <p:cNvPr id="25" name="Text 21">
            <a:extLst>
              <a:ext uri="{FF2B5EF4-FFF2-40B4-BE49-F238E27FC236}">
                <a16:creationId xmlns:a16="http://schemas.microsoft.com/office/drawing/2014/main" id="{0C651907-4459-449A-B592-9FEA10DEAB9A}"/>
              </a:ext>
            </a:extLst>
          </p:cNvPr>
          <p:cNvSpPr>
            <a:spLocks noGrp="1"/>
          </p:cNvSpPr>
          <p:nvPr/>
        </p:nvSpPr>
        <p:spPr>
          <a:xfrm>
            <a:off x="7644384" y="4882896"/>
            <a:ext cx="3630168" cy="292608"/>
          </a:xfrm>
          <a:prstGeom prst="rect">
            <a:avLst/>
          </a:prstGeom>
          <a:noFill/>
          <a:ln w="0">
            <a:noFill/>
          </a:ln>
        </p:spPr>
        <p:txBody>
          <a:bodyPr wrap="square" lIns="0" tIns="0" rIns="0" bIns="0" anchor="ctr">
            <a:noAutofit/>
          </a:bodyPr>
          <a:lstStyle/>
          <a:p>
            <a:pPr marL="0" indent="0" algn="l">
              <a:buNone/>
              <a:defRPr sz="1280" i="0">
                <a:solidFill>
                  <a:srgbClr val="171717"/>
                </a:solidFill>
                <a:latin typeface="Malgun Gothic"/>
                <a:ea typeface="Malgun Gothic"/>
                <a:cs typeface="Malgun Gothic"/>
              </a:defRPr>
            </a:pPr>
            <a:r>
              <a:rPr sz="1280" b="1" i="0">
                <a:solidFill>
                  <a:srgbClr val="171717"/>
                </a:solidFill>
                <a:latin typeface="Malgun Gothic"/>
                <a:ea typeface="Malgun Gothic"/>
                <a:cs typeface="Malgun Gothic"/>
              </a:rPr>
              <a:t>곱셈 1번을 덧셈 여러 번과 맞바꾼다</a:t>
            </a:r>
            <a:endParaRPr sz="1280"/>
          </a:p>
        </p:txBody>
      </p:sp>
      <p:sp>
        <p:nvSpPr>
          <p:cNvPr id="26" name="Text 22">
            <a:extLst>
              <a:ext uri="{FF2B5EF4-FFF2-40B4-BE49-F238E27FC236}">
                <a16:creationId xmlns:a16="http://schemas.microsoft.com/office/drawing/2014/main" id="{7F446843-53B6-42E5-8A32-88B5E89F0058}"/>
              </a:ext>
            </a:extLst>
          </p:cNvPr>
          <p:cNvSpPr>
            <a:spLocks noGrp="1"/>
          </p:cNvSpPr>
          <p:nvPr/>
        </p:nvSpPr>
        <p:spPr>
          <a:xfrm>
            <a:off x="7644384" y="5230368"/>
            <a:ext cx="3630168" cy="731520"/>
          </a:xfrm>
          <a:prstGeom prst="rect">
            <a:avLst/>
          </a:prstGeom>
          <a:noFill/>
          <a:ln w="0">
            <a:noFill/>
          </a:ln>
        </p:spPr>
        <p:txBody>
          <a:bodyPr wrap="square" lIns="0" tIns="0" rIns="0" bIns="0" anchor="t">
            <a:noAutofit/>
          </a:bodyPr>
          <a:lstStyle/>
          <a:p>
            <a:pPr marL="0" indent="0" algn="l">
              <a:lnSpc>
                <a:spcPct val="132000"/>
              </a:lnSpc>
              <a:buNone/>
              <a:defRPr sz="1150" i="0">
                <a:solidFill>
                  <a:srgbClr val="606060"/>
                </a:solidFill>
                <a:latin typeface="Malgun Gothic"/>
                <a:ea typeface="Malgun Gothic"/>
                <a:cs typeface="Malgun Gothic"/>
              </a:defRPr>
            </a:pPr>
            <a:r>
              <a:rPr sz="1150" i="0">
                <a:solidFill>
                  <a:srgbClr val="606060"/>
                </a:solidFill>
                <a:latin typeface="Malgun Gothic"/>
                <a:ea typeface="Malgun Gothic"/>
                <a:cs typeface="Malgun Gothic"/>
              </a:rPr>
              <a:t>덧셈·뺄셈은 O(n²)에 불과하지만, 곱셈은 재귀 호출이다. 재귀 호출 횟수 a를 줄이는 것이 압도적으로 이득이다.</a:t>
            </a:r>
            <a:endParaRPr sz="1150"/>
          </a:p>
        </p:txBody>
      </p:sp>
      <p:sp>
        <p:nvSpPr>
          <p:cNvPr id="28" name="직사각형 27">
            <a:extLst>
              <a:ext uri="{FF2B5EF4-FFF2-40B4-BE49-F238E27FC236}">
                <a16:creationId xmlns:a16="http://schemas.microsoft.com/office/drawing/2014/main" id="{BC567392-71F5-46B7-BDCA-9A1B2D55831B}"/>
              </a:ext>
            </a:extLst>
          </p:cNvPr>
          <p:cNvSpPr>
            <a:spLocks noGrp="1"/>
          </p:cNvSpPr>
          <p:nvPr/>
        </p:nvSpPr>
        <p:spPr>
          <a:xfrm>
            <a:off x="6784848" y="4700016"/>
            <a:ext cx="4745736" cy="9525"/>
          </a:xfrm>
          <a:prstGeom prst="rect">
            <a:avLst/>
          </a:prstGeom>
          <a:solidFill>
            <a:srgbClr val="D4D4D4"/>
          </a:solidFill>
          <a:ln w="0">
            <a:noFill/>
          </a:ln>
        </p:spPr>
      </p:sp>
      <p:sp>
        <p:nvSpPr>
          <p:cNvPr id="29" name="직사각형 28">
            <a:extLst>
              <a:ext uri="{FF2B5EF4-FFF2-40B4-BE49-F238E27FC236}">
                <a16:creationId xmlns:a16="http://schemas.microsoft.com/office/drawing/2014/main" id="{46D11529-C837-4C23-9319-41B4B6F8CA20}"/>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4.9  </a:t>
            </a:r>
            <a:r>
              <a:rPr lang="ko-KR" altLang="en-US" sz="1050" b="1" i="0">
                <a:solidFill>
                  <a:srgbClr val="606060"/>
                </a:solidFill>
                <a:latin typeface="Malgun Gothic"/>
                <a:ea typeface="Malgun Gothic"/>
                <a:cs typeface="Malgun Gothic"/>
              </a:rPr>
              <a:t>스트라센 알고리즘</a:t>
            </a:r>
            <a:endParaRPr sz="1050" b="1" i="0">
              <a:solidFill>
                <a:srgbClr val="606060"/>
              </a:solidFill>
              <a:latin typeface="Malgun Gothic"/>
              <a:ea typeface="Malgun Gothic"/>
              <a:cs typeface="Malgun Gothic"/>
            </a:endParaRPr>
          </a:p>
        </p:txBody>
      </p:sp>
      <p:sp>
        <p:nvSpPr>
          <p:cNvPr id="30" name="직사각형 29">
            <a:extLst>
              <a:ext uri="{FF2B5EF4-FFF2-40B4-BE49-F238E27FC236}">
                <a16:creationId xmlns:a16="http://schemas.microsoft.com/office/drawing/2014/main" id="{CBAB3D3C-B9E9-4C76-AD62-9D6DA7937B5E}"/>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1" name="직사각형 30">
            <a:extLst>
              <a:ext uri="{FF2B5EF4-FFF2-40B4-BE49-F238E27FC236}">
                <a16:creationId xmlns:a16="http://schemas.microsoft.com/office/drawing/2014/main" id="{81309B74-E143-46DE-8BEE-7BD02546EB2C}"/>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스트라센의 발견 — "8번이 아니라 7번이면 된다"</a:t>
            </a:r>
          </a:p>
        </p:txBody>
      </p:sp>
      <p:sp>
        <p:nvSpPr>
          <p:cNvPr id="32" name="직사각형 31">
            <a:extLst>
              <a:ext uri="{FF2B5EF4-FFF2-40B4-BE49-F238E27FC236}">
                <a16:creationId xmlns:a16="http://schemas.microsoft.com/office/drawing/2014/main" id="{41A77CA2-95C3-4CBE-860F-844964FF920E}"/>
              </a:ext>
            </a:extLst>
          </p:cNvPr>
          <p:cNvSpPr>
            <a:spLocks noGrp="1"/>
          </p:cNvSpPr>
          <p:nvPr/>
        </p:nvSpPr>
        <p:spPr>
          <a:xfrm>
            <a:off x="609600" y="1381125"/>
            <a:ext cx="10972800" cy="19050"/>
          </a:xfrm>
          <a:prstGeom prst="rect">
            <a:avLst/>
          </a:prstGeom>
          <a:solidFill>
            <a:srgbClr val="171717"/>
          </a:solidFill>
          <a:ln w="0">
            <a:noFill/>
          </a:ln>
        </p:spPr>
      </p:sp>
      <p:sp>
        <p:nvSpPr>
          <p:cNvPr id="33" name="직사각형 32">
            <a:extLst>
              <a:ext uri="{FF2B5EF4-FFF2-40B4-BE49-F238E27FC236}">
                <a16:creationId xmlns:a16="http://schemas.microsoft.com/office/drawing/2014/main" id="{A1EBFDB4-87D9-474B-8DAB-FF58A4D80371}"/>
              </a:ext>
            </a:extLst>
          </p:cNvPr>
          <p:cNvSpPr>
            <a:spLocks noGrp="1"/>
          </p:cNvSpPr>
          <p:nvPr/>
        </p:nvSpPr>
        <p:spPr>
          <a:xfrm>
            <a:off x="609600" y="6438900"/>
            <a:ext cx="10972800"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FFFECBC2-3A23-4042-BC44-2A4766BFE2A6}"/>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35" name="직사각형 34">
            <a:extLst>
              <a:ext uri="{FF2B5EF4-FFF2-40B4-BE49-F238E27FC236}">
                <a16:creationId xmlns:a16="http://schemas.microsoft.com/office/drawing/2014/main" id="{835D979A-BF0C-4026-A66F-72510E08C8F2}"/>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123</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03892450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 4">
            <a:extLst>
              <a:ext uri="{FF2B5EF4-FFF2-40B4-BE49-F238E27FC236}">
                <a16:creationId xmlns:a16="http://schemas.microsoft.com/office/drawing/2014/main" id="{4ABCD033-0C60-49E9-A402-2AC83CB2EF2A}"/>
              </a:ext>
            </a:extLst>
          </p:cNvPr>
          <p:cNvSpPr>
            <a:spLocks noGrp="1"/>
          </p:cNvSpPr>
          <p:nvPr/>
        </p:nvSpPr>
        <p:spPr>
          <a:xfrm>
            <a:off x="932688" y="1783080"/>
            <a:ext cx="10323576" cy="1005840"/>
          </a:xfrm>
          <a:prstGeom prst="rect">
            <a:avLst/>
          </a:prstGeom>
          <a:noFill/>
          <a:ln w="0">
            <a:noFill/>
          </a:ln>
        </p:spPr>
        <p:txBody>
          <a:bodyPr wrap="square" lIns="0" tIns="0" rIns="0" bIns="0" anchor="ctr">
            <a:noAutofit/>
          </a:bodyPr>
          <a:lstStyle/>
          <a:p>
            <a:pPr marL="0" indent="0" algn="ctr">
              <a:buNone/>
              <a:defRPr sz="2300" i="0">
                <a:solidFill>
                  <a:srgbClr val="171717"/>
                </a:solidFill>
                <a:latin typeface="Malgun Gothic"/>
                <a:ea typeface="Malgun Gothic"/>
                <a:cs typeface="Malgun Gothic"/>
              </a:defRPr>
            </a:pPr>
            <a:r>
              <a:rPr sz="2300" b="1" i="0">
                <a:solidFill>
                  <a:srgbClr val="171717"/>
                </a:solidFill>
                <a:latin typeface="Malgun Gothic"/>
                <a:ea typeface="Malgun Gothic"/>
                <a:cs typeface="Malgun Gothic"/>
              </a:rPr>
              <a:t>T(n) = 7T(n/2) + O(n^(2))     ⇒     Θ(n^(log₂ 7)) ≈ Θ(n^(2.807))</a:t>
            </a:r>
            <a:endParaRPr sz="2300"/>
          </a:p>
        </p:txBody>
      </p:sp>
      <p:graphicFrame>
        <p:nvGraphicFramePr>
          <p:cNvPr id="25" name="Table 0"/>
          <p:cNvGraphicFramePr/>
          <p:nvPr/>
        </p:nvGraphicFramePr>
        <p:xfrm>
          <a:off x="658368" y="2926080"/>
          <a:ext cx="10872216" cy="2560320"/>
        </p:xfrm>
        <a:graphic>
          <a:graphicData uri="http://schemas.openxmlformats.org/drawingml/2006/table">
            <a:tbl>
              <a:tblPr/>
              <a:tblGrid>
                <a:gridCol w="2331720">
                  <a:extLst>
                    <a:ext uri="{9D8B030D-6E8A-4147-A177-3AD203B41FA5}">
                      <a16:colId xmlns:a16="http://schemas.microsoft.com/office/drawing/2014/main" val="20000"/>
                    </a:ext>
                  </a:extLst>
                </a:gridCol>
                <a:gridCol w="4270248">
                  <a:extLst>
                    <a:ext uri="{9D8B030D-6E8A-4147-A177-3AD203B41FA5}">
                      <a16:colId xmlns:a16="http://schemas.microsoft.com/office/drawing/2014/main" val="20001"/>
                    </a:ext>
                  </a:extLst>
                </a:gridCol>
                <a:gridCol w="4270248">
                  <a:extLst>
                    <a:ext uri="{9D8B030D-6E8A-4147-A177-3AD203B41FA5}">
                      <a16:colId xmlns:a16="http://schemas.microsoft.com/office/drawing/2014/main" val="20002"/>
                    </a:ext>
                  </a:extLst>
                </a:gridCol>
              </a:tblGrid>
              <a:tr h="365760">
                <a:tc>
                  <a:txBody>
                    <a:bodyPr/>
                    <a:lstStyle/>
                    <a:p>
                      <a:pPr marL="0" indent="0" algn="ctr">
                        <a:buNone/>
                      </a:pP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50" b="1">
                          <a:solidFill>
                            <a:srgbClr val="FFFFFF"/>
                          </a:solidFill>
                          <a:latin typeface="Malgun Gothic"/>
                          <a:ea typeface="Malgun Gothic"/>
                          <a:cs typeface="Malgun Gothic"/>
                        </a:rPr>
                        <a:t>카라츠바 (§4.7)</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tc>
                  <a:txBody>
                    <a:bodyPr/>
                    <a:lstStyle/>
                    <a:p>
                      <a:pPr marL="0" indent="0" algn="ctr">
                        <a:buNone/>
                      </a:pPr>
                      <a:r>
                        <a:rPr sz="1150" b="1">
                          <a:solidFill>
                            <a:srgbClr val="FFFFFF"/>
                          </a:solidFill>
                          <a:latin typeface="Malgun Gothic"/>
                          <a:ea typeface="Malgun Gothic"/>
                          <a:cs typeface="Malgun Gothic"/>
                        </a:rPr>
                        <a:t>스트라센 (§4.8)</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171717"/>
                    </a:solidFill>
                  </a:tcPr>
                </a:tc>
                <a:extLst>
                  <a:ext uri="{0D108BD9-81ED-4DB2-BD59-A6C34878D82A}">
                    <a16:rowId xmlns:a16="http://schemas.microsoft.com/office/drawing/2014/main" val="10000"/>
                  </a:ext>
                </a:extLst>
              </a:tr>
              <a:tr h="365760">
                <a:tc>
                  <a:txBody>
                    <a:bodyPr/>
                    <a:lstStyle/>
                    <a:p>
                      <a:pPr marL="0" indent="0" algn="l">
                        <a:buNone/>
                      </a:pPr>
                      <a:r>
                        <a:rPr sz="1150" b="0">
                          <a:solidFill>
                            <a:srgbClr val="171717"/>
                          </a:solidFill>
                          <a:latin typeface="Malgun Gothic"/>
                          <a:ea typeface="Malgun Gothic"/>
                          <a:cs typeface="Malgun Gothic"/>
                        </a:rPr>
                        <a:t>대상</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50" b="0">
                          <a:solidFill>
                            <a:srgbClr val="171717"/>
                          </a:solidFill>
                          <a:latin typeface="Malgun Gothic"/>
                          <a:ea typeface="Malgun Gothic"/>
                          <a:cs typeface="Malgun Gothic"/>
                        </a:rPr>
                        <a:t>큰 정수의 곱셈</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50" b="0">
                          <a:solidFill>
                            <a:srgbClr val="171717"/>
                          </a:solidFill>
                          <a:latin typeface="Malgun Gothic"/>
                          <a:ea typeface="Malgun Gothic"/>
                          <a:cs typeface="Malgun Gothic"/>
                        </a:rPr>
                        <a:t>n × n 행렬의 곱셈</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sz="1150" b="0">
                          <a:solidFill>
                            <a:srgbClr val="171717"/>
                          </a:solidFill>
                          <a:latin typeface="Malgun Gothic"/>
                          <a:ea typeface="Malgun Gothic"/>
                          <a:cs typeface="Malgun Gothic"/>
                        </a:rPr>
                        <a:t>소박한 분할</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50" b="0">
                          <a:solidFill>
                            <a:srgbClr val="171717"/>
                          </a:solidFill>
                          <a:latin typeface="Malgun Gothic"/>
                          <a:ea typeface="Malgun Gothic"/>
                          <a:cs typeface="Malgun Gothic"/>
                        </a:rPr>
                        <a:t>곱셈 4번</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50" b="0">
                          <a:solidFill>
                            <a:srgbClr val="171717"/>
                          </a:solidFill>
                          <a:latin typeface="Malgun Gothic"/>
                          <a:ea typeface="Malgun Gothic"/>
                          <a:cs typeface="Malgun Gothic"/>
                        </a:rPr>
                        <a:t>블록 곱셈 8번</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extLst>
                  <a:ext uri="{0D108BD9-81ED-4DB2-BD59-A6C34878D82A}">
                    <a16:rowId xmlns:a16="http://schemas.microsoft.com/office/drawing/2014/main" val="10002"/>
                  </a:ext>
                </a:extLst>
              </a:tr>
              <a:tr h="365760">
                <a:tc>
                  <a:txBody>
                    <a:bodyPr/>
                    <a:lstStyle/>
                    <a:p>
                      <a:pPr marL="0" indent="0" algn="l">
                        <a:buNone/>
                      </a:pPr>
                      <a:r>
                        <a:rPr sz="1150" b="0">
                          <a:solidFill>
                            <a:srgbClr val="171717"/>
                          </a:solidFill>
                          <a:latin typeface="Malgun Gothic"/>
                          <a:ea typeface="Malgun Gothic"/>
                          <a:cs typeface="Malgun Gothic"/>
                        </a:rPr>
                        <a:t>개선 후</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50" b="0">
                          <a:solidFill>
                            <a:srgbClr val="171717"/>
                          </a:solidFill>
                          <a:latin typeface="Malgun Gothic"/>
                          <a:ea typeface="Malgun Gothic"/>
                          <a:cs typeface="Malgun Gothic"/>
                        </a:rPr>
                        <a:t>곱셈 3번</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50" b="0">
                          <a:solidFill>
                            <a:srgbClr val="171717"/>
                          </a:solidFill>
                          <a:latin typeface="Malgun Gothic"/>
                          <a:ea typeface="Malgun Gothic"/>
                          <a:cs typeface="Malgun Gothic"/>
                        </a:rPr>
                        <a:t>블록 곱셈 7번</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sz="1150" b="0">
                          <a:solidFill>
                            <a:srgbClr val="171717"/>
                          </a:solidFill>
                          <a:latin typeface="Malgun Gothic"/>
                          <a:ea typeface="Malgun Gothic"/>
                          <a:cs typeface="Malgun Gothic"/>
                        </a:rPr>
                        <a:t>점화식</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50" b="0">
                          <a:solidFill>
                            <a:srgbClr val="171717"/>
                          </a:solidFill>
                          <a:latin typeface="Malgun Gothic"/>
                          <a:ea typeface="Malgun Gothic"/>
                          <a:cs typeface="Malgun Gothic"/>
                        </a:rPr>
                        <a:t>T(n) = 3T(n/2) + O(n)</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50" b="0">
                          <a:solidFill>
                            <a:srgbClr val="171717"/>
                          </a:solidFill>
                          <a:latin typeface="Malgun Gothic"/>
                          <a:ea typeface="Malgun Gothic"/>
                          <a:cs typeface="Malgun Gothic"/>
                        </a:rPr>
                        <a:t>T(n) = 7T(n/2) + O(n²)</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extLst>
                  <a:ext uri="{0D108BD9-81ED-4DB2-BD59-A6C34878D82A}">
                    <a16:rowId xmlns:a16="http://schemas.microsoft.com/office/drawing/2014/main" val="10004"/>
                  </a:ext>
                </a:extLst>
              </a:tr>
              <a:tr h="365760">
                <a:tc>
                  <a:txBody>
                    <a:bodyPr/>
                    <a:lstStyle/>
                    <a:p>
                      <a:pPr marL="0" indent="0" algn="l">
                        <a:buNone/>
                      </a:pPr>
                      <a:r>
                        <a:rPr sz="1150" b="0">
                          <a:solidFill>
                            <a:srgbClr val="171717"/>
                          </a:solidFill>
                          <a:latin typeface="Malgun Gothic"/>
                          <a:ea typeface="Malgun Gothic"/>
                          <a:cs typeface="Malgun Gothic"/>
                        </a:rPr>
                        <a:t>시간 복잡도</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50" b="0">
                          <a:solidFill>
                            <a:srgbClr val="171717"/>
                          </a:solidFill>
                          <a:latin typeface="Malgun Gothic"/>
                          <a:ea typeface="Malgun Gothic"/>
                          <a:cs typeface="Malgun Gothic"/>
                        </a:rPr>
                        <a:t>O(n^1.585)</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tc>
                  <a:txBody>
                    <a:bodyPr/>
                    <a:lstStyle/>
                    <a:p>
                      <a:pPr marL="0" indent="0" algn="ctr">
                        <a:buNone/>
                      </a:pPr>
                      <a:r>
                        <a:rPr sz="1150" b="0">
                          <a:solidFill>
                            <a:srgbClr val="171717"/>
                          </a:solidFill>
                          <a:latin typeface="Malgun Gothic"/>
                          <a:ea typeface="Malgun Gothic"/>
                          <a:cs typeface="Malgun Gothic"/>
                        </a:rPr>
                        <a:t>O(n^2.807)</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sz="1150" b="0">
                          <a:solidFill>
                            <a:srgbClr val="171717"/>
                          </a:solidFill>
                          <a:latin typeface="Malgun Gothic"/>
                          <a:ea typeface="Malgun Gothic"/>
                          <a:cs typeface="Malgun Gothic"/>
                        </a:rPr>
                        <a:t>기존 방법</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50" b="0">
                          <a:solidFill>
                            <a:srgbClr val="171717"/>
                          </a:solidFill>
                          <a:latin typeface="Malgun Gothic"/>
                          <a:ea typeface="Malgun Gothic"/>
                          <a:cs typeface="Malgun Gothic"/>
                        </a:rPr>
                        <a:t>O(n²)</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tc>
                  <a:txBody>
                    <a:bodyPr/>
                    <a:lstStyle/>
                    <a:p>
                      <a:pPr marL="0" indent="0" algn="ctr">
                        <a:buNone/>
                      </a:pPr>
                      <a:r>
                        <a:rPr sz="1150" b="0">
                          <a:solidFill>
                            <a:srgbClr val="171717"/>
                          </a:solidFill>
                          <a:latin typeface="Malgun Gothic"/>
                          <a:ea typeface="Malgun Gothic"/>
                          <a:cs typeface="Malgun Gothic"/>
                        </a:rPr>
                        <a:t>O(n³)</a:t>
                      </a:r>
                      <a:endParaRPr sz="1150">
                        <a:latin typeface="Malgun Gothic"/>
                        <a:ea typeface="Malgun Gothic"/>
                        <a:cs typeface="Malgun Gothic"/>
                      </a:endParaRPr>
                    </a:p>
                  </a:txBody>
                  <a:tcPr marL="101600" marR="101600" marT="50800" marB="50800" anchor="ctr">
                    <a:lnL w="12700" cmpd="sng">
                      <a:solidFill>
                        <a:srgbClr val="E5E5F0"/>
                      </a:solidFill>
                      <a:prstDash val="solid"/>
                    </a:lnL>
                    <a:lnR w="12700" cmpd="sng">
                      <a:solidFill>
                        <a:srgbClr val="E5E5F0"/>
                      </a:solidFill>
                      <a:prstDash val="solid"/>
                    </a:lnR>
                    <a:lnT w="12700" cmpd="sng">
                      <a:solidFill>
                        <a:srgbClr val="E5E5F0"/>
                      </a:solidFill>
                      <a:prstDash val="solid"/>
                    </a:lnT>
                    <a:lnB w="12700" cmpd="sng">
                      <a:solidFill>
                        <a:srgbClr val="E5E5F0"/>
                      </a:solidFill>
                      <a:prstDash val="solid"/>
                    </a:lnB>
                    <a:solidFill>
                      <a:srgbClr val="F3F3F3"/>
                    </a:solidFill>
                  </a:tcPr>
                </a:tc>
                <a:extLst>
                  <a:ext uri="{0D108BD9-81ED-4DB2-BD59-A6C34878D82A}">
                    <a16:rowId xmlns:a16="http://schemas.microsoft.com/office/drawing/2014/main" val="10006"/>
                  </a:ext>
                </a:extLst>
              </a:tr>
            </a:tbl>
          </a:graphicData>
        </a:graphic>
      </p:graphicFrame>
      <p:sp>
        <p:nvSpPr>
          <p:cNvPr id="12" name="Text 7">
            <a:extLst>
              <a:ext uri="{FF2B5EF4-FFF2-40B4-BE49-F238E27FC236}">
                <a16:creationId xmlns:a16="http://schemas.microsoft.com/office/drawing/2014/main" id="{0147ABC6-DCE9-4A46-8E9D-1BD9FE9989A3}"/>
              </a:ext>
            </a:extLst>
          </p:cNvPr>
          <p:cNvSpPr>
            <a:spLocks noGrp="1"/>
          </p:cNvSpPr>
          <p:nvPr/>
        </p:nvSpPr>
        <p:spPr>
          <a:xfrm>
            <a:off x="1517904" y="5760720"/>
            <a:ext cx="9756648" cy="237744"/>
          </a:xfrm>
          <a:prstGeom prst="rect">
            <a:avLst/>
          </a:prstGeom>
          <a:noFill/>
          <a:ln w="0">
            <a:noFill/>
          </a:ln>
        </p:spPr>
        <p:txBody>
          <a:bodyPr wrap="square" lIns="0" tIns="0" rIns="0" bIns="0" anchor="ctr">
            <a:noAutofit/>
          </a:bodyPr>
          <a:lstStyle/>
          <a:p>
            <a:pPr marL="0" indent="0" algn="l">
              <a:lnSpc>
                <a:spcPct val="134000"/>
              </a:lnSpc>
              <a:buNone/>
              <a:defRPr sz="1250" i="0">
                <a:solidFill>
                  <a:srgbClr val="171717"/>
                </a:solidFill>
                <a:latin typeface="Malgun Gothic"/>
                <a:ea typeface="Malgun Gothic"/>
                <a:cs typeface="Malgun Gothic"/>
              </a:defRPr>
            </a:pPr>
            <a:r>
              <a:rPr sz="1250" i="0">
                <a:solidFill>
                  <a:srgbClr val="171717"/>
                </a:solidFill>
                <a:latin typeface="Malgun Gothic"/>
                <a:ea typeface="Malgun Gothic"/>
                <a:cs typeface="Malgun Gothic"/>
              </a:rPr>
              <a:t>두 알고리즘의 공통 교훈 — 값싼 덧셈을 늘려서라도 비싼 재귀 호출 횟수 a 를 줄여라.</a:t>
            </a:r>
            <a:endParaRPr sz="1250"/>
          </a:p>
        </p:txBody>
      </p:sp>
      <p:sp>
        <p:nvSpPr>
          <p:cNvPr id="16" name="직사각형 15">
            <a:extLst>
              <a:ext uri="{FF2B5EF4-FFF2-40B4-BE49-F238E27FC236}">
                <a16:creationId xmlns:a16="http://schemas.microsoft.com/office/drawing/2014/main" id="{83F5AFD3-8D61-4C71-B1CC-F8C1D8C30263}"/>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lang="en-US" altLang="ko-KR" sz="1050" b="1" i="0">
                <a:solidFill>
                  <a:srgbClr val="606060"/>
                </a:solidFill>
                <a:latin typeface="Malgun Gothic"/>
                <a:ea typeface="Malgun Gothic"/>
                <a:cs typeface="Malgun Gothic"/>
              </a:rPr>
              <a:t>4.9  </a:t>
            </a:r>
            <a:r>
              <a:rPr lang="ko-KR" altLang="en-US" sz="1050" b="1" i="0">
                <a:solidFill>
                  <a:srgbClr val="606060"/>
                </a:solidFill>
                <a:latin typeface="Malgun Gothic"/>
                <a:ea typeface="Malgun Gothic"/>
                <a:cs typeface="Malgun Gothic"/>
              </a:rPr>
              <a:t>스트라센 알고리즘</a:t>
            </a:r>
            <a:endParaRPr sz="1050" b="1" i="0">
              <a:solidFill>
                <a:srgbClr val="606060"/>
              </a:solidFill>
              <a:latin typeface="Malgun Gothic"/>
              <a:ea typeface="Malgun Gothic"/>
              <a:cs typeface="Malgun Gothic"/>
            </a:endParaRPr>
          </a:p>
        </p:txBody>
      </p:sp>
      <p:sp>
        <p:nvSpPr>
          <p:cNvPr id="17" name="직사각형 16">
            <a:extLst>
              <a:ext uri="{FF2B5EF4-FFF2-40B4-BE49-F238E27FC236}">
                <a16:creationId xmlns:a16="http://schemas.microsoft.com/office/drawing/2014/main" id="{2FDE12BE-45E4-4AF7-B107-A879090BAE4A}"/>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18" name="직사각형 17">
            <a:extLst>
              <a:ext uri="{FF2B5EF4-FFF2-40B4-BE49-F238E27FC236}">
                <a16:creationId xmlns:a16="http://schemas.microsoft.com/office/drawing/2014/main" id="{3BD3FB1A-B540-4A85-A9C1-65725962D764}"/>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복잡도 분석과 두 알고리즘의 공통점</a:t>
            </a:r>
          </a:p>
        </p:txBody>
      </p:sp>
      <p:sp>
        <p:nvSpPr>
          <p:cNvPr id="19" name="직사각형 18">
            <a:extLst>
              <a:ext uri="{FF2B5EF4-FFF2-40B4-BE49-F238E27FC236}">
                <a16:creationId xmlns:a16="http://schemas.microsoft.com/office/drawing/2014/main" id="{6C92FCDB-EA9F-4023-9FCB-D74EB4270497}"/>
              </a:ext>
            </a:extLst>
          </p:cNvPr>
          <p:cNvSpPr>
            <a:spLocks noGrp="1"/>
          </p:cNvSpPr>
          <p:nvPr/>
        </p:nvSpPr>
        <p:spPr>
          <a:xfrm>
            <a:off x="609600" y="1381125"/>
            <a:ext cx="10972800" cy="19050"/>
          </a:xfrm>
          <a:prstGeom prst="rect">
            <a:avLst/>
          </a:prstGeom>
          <a:solidFill>
            <a:srgbClr val="171717"/>
          </a:solidFill>
          <a:ln w="0">
            <a:noFill/>
          </a:ln>
        </p:spPr>
      </p:sp>
      <p:sp>
        <p:nvSpPr>
          <p:cNvPr id="20" name="직사각형 19">
            <a:extLst>
              <a:ext uri="{FF2B5EF4-FFF2-40B4-BE49-F238E27FC236}">
                <a16:creationId xmlns:a16="http://schemas.microsoft.com/office/drawing/2014/main" id="{8EF24FA7-E678-43E3-AE8F-36FC7EBC52AA}"/>
              </a:ext>
            </a:extLst>
          </p:cNvPr>
          <p:cNvSpPr>
            <a:spLocks noGrp="1"/>
          </p:cNvSpPr>
          <p:nvPr/>
        </p:nvSpPr>
        <p:spPr>
          <a:xfrm>
            <a:off x="609600" y="6438900"/>
            <a:ext cx="10972800" cy="9525"/>
          </a:xfrm>
          <a:prstGeom prst="rect">
            <a:avLst/>
          </a:prstGeom>
          <a:solidFill>
            <a:srgbClr val="D4D4D4"/>
          </a:solidFill>
          <a:ln w="0">
            <a:noFill/>
          </a:ln>
        </p:spPr>
      </p:sp>
      <p:sp>
        <p:nvSpPr>
          <p:cNvPr id="21" name="직사각형 20">
            <a:extLst>
              <a:ext uri="{FF2B5EF4-FFF2-40B4-BE49-F238E27FC236}">
                <a16:creationId xmlns:a16="http://schemas.microsoft.com/office/drawing/2014/main" id="{4BF69BA8-AE71-4A40-AC0A-C782BE85FDFF}"/>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22" name="직사각형 21">
            <a:extLst>
              <a:ext uri="{FF2B5EF4-FFF2-40B4-BE49-F238E27FC236}">
                <a16:creationId xmlns:a16="http://schemas.microsoft.com/office/drawing/2014/main" id="{C8A83022-6FB0-45DD-AA6D-CBCE102DB715}"/>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124</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54273601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788CD65A-DF4A-4AAB-A5E4-CB8BDC7A430E}"/>
              </a:ext>
            </a:extLst>
          </p:cNvPr>
          <p:cNvSpPr>
            <a:spLocks noGrp="1"/>
          </p:cNvSpPr>
          <p:nvPr/>
        </p:nvSpPr>
        <p:spPr>
          <a:xfrm>
            <a:off x="609600" y="533400"/>
            <a:ext cx="66675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F79A82C6-3C6F-432B-99C2-530CAD4A837B}"/>
              </a:ext>
            </a:extLst>
          </p:cNvPr>
          <p:cNvSpPr>
            <a:spLocks noGrp="1"/>
          </p:cNvSpPr>
          <p:nvPr/>
        </p:nvSpPr>
        <p:spPr>
          <a:xfrm>
            <a:off x="9525000" y="1666875"/>
            <a:ext cx="2057400" cy="981075"/>
          </a:xfrm>
          <a:prstGeom prst="rect">
            <a:avLst/>
          </a:prstGeom>
          <a:noFill/>
          <a:ln w="0">
            <a:noFill/>
          </a:ln>
        </p:spPr>
        <p:txBody>
          <a:bodyPr wrap="square" lIns="0" tIns="0" rIns="0" bIns="0" anchor="t">
            <a:noAutofit/>
          </a:bodyPr>
          <a:lstStyle/>
          <a:p>
            <a:pPr algn="l">
              <a:lnSpc>
                <a:spcPct val="104000"/>
              </a:lnSpc>
              <a:buNone/>
              <a:defRPr sz="7050" b="1" i="0">
                <a:solidFill>
                  <a:srgbClr val="474747"/>
                </a:solidFill>
                <a:latin typeface="Consolas"/>
                <a:ea typeface="Consolas"/>
                <a:cs typeface="Consolas"/>
              </a:defRPr>
            </a:pPr>
            <a:r>
              <a:rPr lang="en-US" altLang="ko-KR" sz="7050" b="1" i="0">
                <a:solidFill>
                  <a:srgbClr val="474747"/>
                </a:solidFill>
                <a:latin typeface="Consolas"/>
                <a:ea typeface="Consolas"/>
                <a:cs typeface="Consolas"/>
              </a:rPr>
              <a:t>4.10</a:t>
            </a:r>
            <a:endParaRPr sz="7050" b="1" i="0">
              <a:solidFill>
                <a:srgbClr val="474747"/>
              </a:solidFill>
              <a:latin typeface="Consolas"/>
              <a:ea typeface="Consolas"/>
              <a:cs typeface="Consolas"/>
            </a:endParaRPr>
          </a:p>
        </p:txBody>
      </p:sp>
      <p:sp>
        <p:nvSpPr>
          <p:cNvPr id="3" name="직사각형 2">
            <a:extLst>
              <a:ext uri="{FF2B5EF4-FFF2-40B4-BE49-F238E27FC236}">
                <a16:creationId xmlns:a16="http://schemas.microsoft.com/office/drawing/2014/main" id="{2DD8BB76-A83E-4C48-8873-6ED66C7C637C}"/>
              </a:ext>
            </a:extLst>
          </p:cNvPr>
          <p:cNvSpPr>
            <a:spLocks noGrp="1"/>
          </p:cNvSpPr>
          <p:nvPr/>
        </p:nvSpPr>
        <p:spPr>
          <a:xfrm>
            <a:off x="609600" y="2743200"/>
            <a:ext cx="10972800" cy="9525"/>
          </a:xfrm>
          <a:prstGeom prst="rect">
            <a:avLst/>
          </a:prstGeom>
          <a:solidFill>
            <a:srgbClr val="505050"/>
          </a:solidFill>
          <a:ln w="0">
            <a:noFill/>
          </a:ln>
        </p:spPr>
      </p:sp>
      <p:sp>
        <p:nvSpPr>
          <p:cNvPr id="4" name="직사각형 3">
            <a:extLst>
              <a:ext uri="{FF2B5EF4-FFF2-40B4-BE49-F238E27FC236}">
                <a16:creationId xmlns:a16="http://schemas.microsoft.com/office/drawing/2014/main" id="{6629079B-B801-4ABF-9D72-E0D770FB9E47}"/>
              </a:ext>
            </a:extLst>
          </p:cNvPr>
          <p:cNvSpPr>
            <a:spLocks noGrp="1"/>
          </p:cNvSpPr>
          <p:nvPr/>
        </p:nvSpPr>
        <p:spPr>
          <a:xfrm>
            <a:off x="609600" y="3133725"/>
            <a:ext cx="10972800" cy="1381125"/>
          </a:xfrm>
          <a:prstGeom prst="rect">
            <a:avLst/>
          </a:prstGeom>
          <a:noFill/>
          <a:ln w="0">
            <a:noFill/>
          </a:ln>
        </p:spPr>
        <p:txBody>
          <a:bodyPr wrap="square" lIns="0" tIns="0" rIns="0" bIns="0" anchor="t">
            <a:noAutofit/>
          </a:bodyPr>
          <a:lstStyle/>
          <a:p>
            <a:pPr algn="l">
              <a:lnSpc>
                <a:spcPct val="104000"/>
              </a:lnSpc>
              <a:buNone/>
              <a:defRPr sz="4050" b="1" i="0">
                <a:solidFill>
                  <a:srgbClr val="FFFFFF"/>
                </a:solidFill>
                <a:latin typeface="Malgun Gothic"/>
                <a:ea typeface="Malgun Gothic"/>
                <a:cs typeface="Malgun Gothic"/>
              </a:defRPr>
            </a:pPr>
            <a:r>
              <a:rPr sz="4050" b="1" i="0">
                <a:solidFill>
                  <a:srgbClr val="FFFFFF"/>
                </a:solidFill>
                <a:latin typeface="Malgun Gothic"/>
                <a:ea typeface="Malgun Gothic"/>
                <a:cs typeface="Malgun Gothic"/>
              </a:rPr>
              <a:t>코딩 테스트</a:t>
            </a:r>
          </a:p>
        </p:txBody>
      </p:sp>
      <p:sp>
        <p:nvSpPr>
          <p:cNvPr id="5" name="직사각형 4">
            <a:extLst>
              <a:ext uri="{FF2B5EF4-FFF2-40B4-BE49-F238E27FC236}">
                <a16:creationId xmlns:a16="http://schemas.microsoft.com/office/drawing/2014/main" id="{4F871099-7E77-4D6C-BB8A-D956CAAADF86}"/>
              </a:ext>
            </a:extLst>
          </p:cNvPr>
          <p:cNvSpPr>
            <a:spLocks noGrp="1"/>
          </p:cNvSpPr>
          <p:nvPr/>
        </p:nvSpPr>
        <p:spPr>
          <a:xfrm>
            <a:off x="647700" y="4953000"/>
            <a:ext cx="10668000" cy="1057275"/>
          </a:xfrm>
          <a:prstGeom prst="rect">
            <a:avLst/>
          </a:prstGeom>
          <a:noFill/>
          <a:ln w="0">
            <a:noFill/>
          </a:ln>
        </p:spPr>
        <p:txBody>
          <a:bodyPr wrap="square" lIns="0" tIns="0" rIns="0" bIns="0" anchor="t">
            <a:noAutofit/>
          </a:bodyPr>
          <a:lstStyle/>
          <a:p>
            <a:pPr algn="l">
              <a:lnSpc>
                <a:spcPct val="104000"/>
              </a:lnSpc>
              <a:buNone/>
              <a:defRPr sz="1800" b="0" i="0">
                <a:solidFill>
                  <a:srgbClr val="BBBBBB"/>
                </a:solidFill>
                <a:latin typeface="Malgun Gothic"/>
                <a:ea typeface="Malgun Gothic"/>
                <a:cs typeface="Malgun Gothic"/>
              </a:defRPr>
            </a:pPr>
            <a:r>
              <a:rPr sz="1800" b="0" i="0">
                <a:solidFill>
                  <a:srgbClr val="BBBBBB"/>
                </a:solidFill>
                <a:latin typeface="Malgun Gothic"/>
                <a:ea typeface="Malgun Gothic"/>
                <a:cs typeface="Malgun Gothic"/>
              </a:rPr>
              <a:t>분할 정복으로 실전 문제 두 개를 직접 풀어본다</a:t>
            </a:r>
          </a:p>
        </p:txBody>
      </p:sp>
      <p:sp>
        <p:nvSpPr>
          <p:cNvPr id="6" name="직사각형 5">
            <a:extLst>
              <a:ext uri="{FF2B5EF4-FFF2-40B4-BE49-F238E27FC236}">
                <a16:creationId xmlns:a16="http://schemas.microsoft.com/office/drawing/2014/main" id="{02A0C297-54EF-4965-876A-C84AF72AF033}"/>
              </a:ext>
            </a:extLst>
          </p:cNvPr>
          <p:cNvSpPr>
            <a:spLocks noGrp="1"/>
          </p:cNvSpPr>
          <p:nvPr/>
        </p:nvSpPr>
        <p:spPr>
          <a:xfrm>
            <a:off x="609600" y="6438900"/>
            <a:ext cx="10972800" cy="9525"/>
          </a:xfrm>
          <a:prstGeom prst="rect">
            <a:avLst/>
          </a:prstGeom>
          <a:solidFill>
            <a:srgbClr val="505050"/>
          </a:solidFill>
          <a:ln w="0">
            <a:noFill/>
          </a:ln>
        </p:spPr>
      </p:sp>
      <p:sp>
        <p:nvSpPr>
          <p:cNvPr id="7" name="직사각형 6">
            <a:extLst>
              <a:ext uri="{FF2B5EF4-FFF2-40B4-BE49-F238E27FC236}">
                <a16:creationId xmlns:a16="http://schemas.microsoft.com/office/drawing/2014/main" id="{4DA06DEB-1583-49DE-A096-8468370ACC08}"/>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8" name="직사각형 7">
            <a:extLst>
              <a:ext uri="{FF2B5EF4-FFF2-40B4-BE49-F238E27FC236}">
                <a16:creationId xmlns:a16="http://schemas.microsoft.com/office/drawing/2014/main" id="{F8B19694-E19D-4ACB-B185-10D11A32FBA4}"/>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125</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151206388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4BC53D05-8799-4496-9C3A-BC10A836A956}"/>
              </a:ext>
            </a:extLst>
          </p:cNvPr>
          <p:cNvSpPr>
            <a:spLocks noGrp="1"/>
          </p:cNvSpPr>
          <p:nvPr/>
        </p:nvSpPr>
        <p:spPr>
          <a:xfrm>
            <a:off x="658368" y="1737360"/>
            <a:ext cx="5806440" cy="1188720"/>
          </a:xfrm>
          <a:prstGeom prst="rect">
            <a:avLst/>
          </a:prstGeom>
          <a:noFill/>
          <a:ln w="0">
            <a:noFill/>
          </a:ln>
        </p:spPr>
        <p:txBody>
          <a:bodyPr wrap="square" lIns="0" tIns="0" rIns="0" bIns="0" anchor="t">
            <a:noAutofit/>
          </a:bodyPr>
          <a:lstStyle/>
          <a:p>
            <a:pPr marL="0" indent="0" algn="l">
              <a:lnSpc>
                <a:spcPct val="142000"/>
              </a:lnSpc>
              <a:buNone/>
              <a:defRPr sz="1300" i="0">
                <a:solidFill>
                  <a:srgbClr val="606060"/>
                </a:solidFill>
                <a:latin typeface="Malgun Gothic"/>
                <a:ea typeface="Malgun Gothic"/>
                <a:cs typeface="Malgun Gothic"/>
              </a:defRPr>
            </a:pPr>
            <a:r>
              <a:rPr sz="1300" i="0">
                <a:solidFill>
                  <a:srgbClr val="606060"/>
                </a:solidFill>
                <a:latin typeface="Malgun Gothic"/>
                <a:ea typeface="Malgun Gothic"/>
                <a:cs typeface="Malgun Gothic"/>
              </a:rPr>
              <a:t>여러 개의 정사각형 칸(N × N)으로 이루어진 종이가 있다. 각 칸은 하얀색 아니면 파란색이다. 전체 종이가 모두 같은 색이 아니면, 가로와 세로의 중앙을 잘라 똑같은 크기의 네 개의 N/2 × N/2 색종이로 나눈다. 이 과정을 잘라진 종이가 모두 같은 색이 되거나 한 칸이 될 때까지 반복한다.</a:t>
            </a:r>
            <a:endParaRPr sz="1300"/>
          </a:p>
        </p:txBody>
      </p:sp>
      <p:sp>
        <p:nvSpPr>
          <p:cNvPr id="10" name="Text 6">
            <a:extLst>
              <a:ext uri="{FF2B5EF4-FFF2-40B4-BE49-F238E27FC236}">
                <a16:creationId xmlns:a16="http://schemas.microsoft.com/office/drawing/2014/main" id="{862D33C0-0559-4FD1-A64F-D0DE315AFF31}"/>
              </a:ext>
            </a:extLst>
          </p:cNvPr>
          <p:cNvSpPr>
            <a:spLocks noGrp="1"/>
          </p:cNvSpPr>
          <p:nvPr/>
        </p:nvSpPr>
        <p:spPr>
          <a:xfrm>
            <a:off x="1517904" y="3273552"/>
            <a:ext cx="4690872" cy="640080"/>
          </a:xfrm>
          <a:prstGeom prst="rect">
            <a:avLst/>
          </a:prstGeom>
          <a:noFill/>
          <a:ln w="0">
            <a:noFill/>
          </a:ln>
        </p:spPr>
        <p:txBody>
          <a:bodyPr wrap="square" lIns="0" tIns="0" rIns="0" bIns="0" anchor="ctr">
            <a:noAutofit/>
          </a:bodyPr>
          <a:lstStyle/>
          <a:p>
            <a:pPr marL="0" indent="0" algn="l">
              <a:lnSpc>
                <a:spcPct val="13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최종적으로 하얀색 색종이와 파란색 색종이가 각각 몇 장인지 구하라.</a:t>
            </a:r>
            <a:endParaRPr sz="1300"/>
          </a:p>
        </p:txBody>
      </p:sp>
      <p:sp>
        <p:nvSpPr>
          <p:cNvPr id="14" name="Text 9">
            <a:extLst>
              <a:ext uri="{FF2B5EF4-FFF2-40B4-BE49-F238E27FC236}">
                <a16:creationId xmlns:a16="http://schemas.microsoft.com/office/drawing/2014/main" id="{CC272449-AED9-4943-9E40-210F215A2E5C}"/>
              </a:ext>
            </a:extLst>
          </p:cNvPr>
          <p:cNvSpPr>
            <a:spLocks noGrp="1"/>
          </p:cNvSpPr>
          <p:nvPr/>
        </p:nvSpPr>
        <p:spPr>
          <a:xfrm>
            <a:off x="1335024" y="4261104"/>
            <a:ext cx="4937760" cy="56692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쿼드 트리와 완전히 동일한 구조</a:t>
            </a:r>
            <a:endParaRPr sz="1150"/>
          </a:p>
        </p:txBody>
      </p:sp>
      <p:sp>
        <p:nvSpPr>
          <p:cNvPr id="18" name="Text 12">
            <a:extLst>
              <a:ext uri="{FF2B5EF4-FFF2-40B4-BE49-F238E27FC236}">
                <a16:creationId xmlns:a16="http://schemas.microsoft.com/office/drawing/2014/main" id="{DFC677BC-EE9D-4831-903E-6CE53895734F}"/>
              </a:ext>
            </a:extLst>
          </p:cNvPr>
          <p:cNvSpPr>
            <a:spLocks noGrp="1"/>
          </p:cNvSpPr>
          <p:nvPr/>
        </p:nvSpPr>
        <p:spPr>
          <a:xfrm>
            <a:off x="1335024" y="4919472"/>
            <a:ext cx="4937760" cy="56692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검사(check) → 균일하면 카운트, 아니면 4등분</a:t>
            </a:r>
            <a:endParaRPr sz="1150"/>
          </a:p>
        </p:txBody>
      </p:sp>
      <p:sp>
        <p:nvSpPr>
          <p:cNvPr id="22" name="Text 15">
            <a:extLst>
              <a:ext uri="{FF2B5EF4-FFF2-40B4-BE49-F238E27FC236}">
                <a16:creationId xmlns:a16="http://schemas.microsoft.com/office/drawing/2014/main" id="{239D80EB-AA01-4412-B221-378C780BDD44}"/>
              </a:ext>
            </a:extLst>
          </p:cNvPr>
          <p:cNvSpPr>
            <a:spLocks noGrp="1"/>
          </p:cNvSpPr>
          <p:nvPr/>
        </p:nvSpPr>
        <p:spPr>
          <a:xfrm>
            <a:off x="1335024" y="5577840"/>
            <a:ext cx="4937760" cy="566928"/>
          </a:xfrm>
          <a:prstGeom prst="rect">
            <a:avLst/>
          </a:prstGeom>
          <a:noFill/>
          <a:ln w="0">
            <a:noFill/>
          </a:ln>
        </p:spPr>
        <p:txBody>
          <a:bodyPr wrap="square" lIns="0" tIns="0" rIns="0" bIns="0" anchor="ctr">
            <a:noAutofit/>
          </a:bodyPr>
          <a:lstStyle/>
          <a:p>
            <a:pPr marL="0" indent="0" algn="l">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한 칸(n = 1)은 언제나 균일하므로 재귀는 반드시 끝난다</a:t>
            </a:r>
            <a:endParaRPr sz="1150"/>
          </a:p>
        </p:txBody>
      </p:sp>
      <p:sp>
        <p:nvSpPr>
          <p:cNvPr id="26" name="Text 18">
            <a:extLst>
              <a:ext uri="{FF2B5EF4-FFF2-40B4-BE49-F238E27FC236}">
                <a16:creationId xmlns:a16="http://schemas.microsoft.com/office/drawing/2014/main" id="{AB5371F3-DCF9-44BD-ACC8-C448BEAC3EA0}"/>
              </a:ext>
            </a:extLst>
          </p:cNvPr>
          <p:cNvSpPr>
            <a:spLocks noGrp="1"/>
          </p:cNvSpPr>
          <p:nvPr/>
        </p:nvSpPr>
        <p:spPr>
          <a:xfrm>
            <a:off x="7022592" y="4828032"/>
            <a:ext cx="4206240" cy="274320"/>
          </a:xfrm>
          <a:prstGeom prst="rect">
            <a:avLst/>
          </a:prstGeom>
          <a:noFill/>
          <a:ln w="0">
            <a:noFill/>
          </a:ln>
        </p:spPr>
        <p:txBody>
          <a:bodyPr wrap="square" lIns="0" tIns="0" rIns="0" bIns="0" anchor="ctr">
            <a:noAutofit/>
          </a:bodyPr>
          <a:lstStyle/>
          <a:p>
            <a:pPr marL="0" indent="0" algn="l">
              <a:buNone/>
              <a:defRPr sz="1100" i="0">
                <a:solidFill>
                  <a:srgbClr val="171717"/>
                </a:solidFill>
                <a:latin typeface="Malgun Gothic"/>
                <a:ea typeface="Malgun Gothic"/>
                <a:cs typeface="Malgun Gothic"/>
              </a:defRPr>
            </a:pPr>
            <a:r>
              <a:rPr sz="1100" b="1" i="0">
                <a:solidFill>
                  <a:srgbClr val="171717"/>
                </a:solidFill>
                <a:latin typeface="Malgun Gothic"/>
                <a:ea typeface="Malgun Gothic"/>
                <a:cs typeface="Malgun Gothic"/>
              </a:rPr>
              <a:t>입력 (N = 8)</a:t>
            </a:r>
            <a:endParaRPr sz="1100"/>
          </a:p>
        </p:txBody>
      </p:sp>
      <p:sp>
        <p:nvSpPr>
          <p:cNvPr id="27" name="Text 19">
            <a:extLst>
              <a:ext uri="{FF2B5EF4-FFF2-40B4-BE49-F238E27FC236}">
                <a16:creationId xmlns:a16="http://schemas.microsoft.com/office/drawing/2014/main" id="{1A0C341B-D0D2-424E-8610-00A82BB7DAFB}"/>
              </a:ext>
            </a:extLst>
          </p:cNvPr>
          <p:cNvSpPr>
            <a:spLocks noGrp="1"/>
          </p:cNvSpPr>
          <p:nvPr/>
        </p:nvSpPr>
        <p:spPr>
          <a:xfrm>
            <a:off x="7022592" y="5138928"/>
            <a:ext cx="4297680" cy="329184"/>
          </a:xfrm>
          <a:prstGeom prst="rect">
            <a:avLst/>
          </a:prstGeom>
          <a:noFill/>
          <a:ln w="0">
            <a:noFill/>
          </a:ln>
        </p:spPr>
        <p:txBody>
          <a:bodyPr wrap="square" lIns="0" tIns="0" rIns="0" bIns="0" anchor="ctr">
            <a:noAutofit/>
          </a:bodyPr>
          <a:lstStyle/>
          <a:p>
            <a:pPr marL="0" indent="0" algn="l">
              <a:buNone/>
              <a:defRPr sz="1000" i="0">
                <a:solidFill>
                  <a:srgbClr val="171717"/>
                </a:solidFill>
                <a:latin typeface="Consolas"/>
                <a:ea typeface="Consolas"/>
                <a:cs typeface="Consolas"/>
              </a:defRPr>
            </a:pPr>
            <a:r>
              <a:rPr sz="1000" i="0">
                <a:solidFill>
                  <a:srgbClr val="171717"/>
                </a:solidFill>
                <a:latin typeface="Consolas"/>
                <a:ea typeface="Consolas"/>
                <a:cs typeface="Consolas"/>
              </a:rPr>
              <a:t>1 1 0 0 0 0 1 1   ⋯   0 0 1 1 1 1 1 1</a:t>
            </a:r>
            <a:endParaRPr sz="1000"/>
          </a:p>
        </p:txBody>
      </p:sp>
      <p:sp>
        <p:nvSpPr>
          <p:cNvPr id="28" name="Text 20">
            <a:extLst>
              <a:ext uri="{FF2B5EF4-FFF2-40B4-BE49-F238E27FC236}">
                <a16:creationId xmlns:a16="http://schemas.microsoft.com/office/drawing/2014/main" id="{D106A7CB-7FC5-4F7A-921C-4C660801B115}"/>
              </a:ext>
            </a:extLst>
          </p:cNvPr>
          <p:cNvSpPr>
            <a:spLocks noGrp="1"/>
          </p:cNvSpPr>
          <p:nvPr/>
        </p:nvSpPr>
        <p:spPr>
          <a:xfrm>
            <a:off x="7022592" y="5486400"/>
            <a:ext cx="4206240" cy="274320"/>
          </a:xfrm>
          <a:prstGeom prst="rect">
            <a:avLst/>
          </a:prstGeom>
          <a:noFill/>
          <a:ln w="0">
            <a:noFill/>
          </a:ln>
        </p:spPr>
        <p:txBody>
          <a:bodyPr wrap="square" lIns="0" tIns="0" rIns="0" bIns="0" anchor="ctr">
            <a:noAutofit/>
          </a:bodyPr>
          <a:lstStyle/>
          <a:p>
            <a:pPr marL="0" indent="0" algn="l">
              <a:buNone/>
              <a:defRPr sz="1100" i="0">
                <a:solidFill>
                  <a:srgbClr val="171717"/>
                </a:solidFill>
                <a:latin typeface="Malgun Gothic"/>
                <a:ea typeface="Malgun Gothic"/>
                <a:cs typeface="Malgun Gothic"/>
              </a:defRPr>
            </a:pPr>
            <a:r>
              <a:rPr sz="1100" b="1" i="0">
                <a:solidFill>
                  <a:srgbClr val="171717"/>
                </a:solidFill>
                <a:latin typeface="Malgun Gothic"/>
                <a:ea typeface="Malgun Gothic"/>
                <a:cs typeface="Malgun Gothic"/>
              </a:rPr>
              <a:t>출력</a:t>
            </a:r>
            <a:endParaRPr sz="1100"/>
          </a:p>
        </p:txBody>
      </p:sp>
      <p:sp>
        <p:nvSpPr>
          <p:cNvPr id="29" name="Text 21">
            <a:extLst>
              <a:ext uri="{FF2B5EF4-FFF2-40B4-BE49-F238E27FC236}">
                <a16:creationId xmlns:a16="http://schemas.microsoft.com/office/drawing/2014/main" id="{594A9FFD-39D3-4575-A055-B349A7EC4565}"/>
              </a:ext>
            </a:extLst>
          </p:cNvPr>
          <p:cNvSpPr>
            <a:spLocks noGrp="1"/>
          </p:cNvSpPr>
          <p:nvPr/>
        </p:nvSpPr>
        <p:spPr>
          <a:xfrm>
            <a:off x="7022592" y="5760720"/>
            <a:ext cx="4297680" cy="292608"/>
          </a:xfrm>
          <a:prstGeom prst="rect">
            <a:avLst/>
          </a:prstGeom>
          <a:noFill/>
          <a:ln w="0">
            <a:noFill/>
          </a:ln>
        </p:spPr>
        <p:txBody>
          <a:bodyPr wrap="square" lIns="0" tIns="0" rIns="0" bIns="0" anchor="ctr">
            <a:noAutofit/>
          </a:bodyPr>
          <a:lstStyle/>
          <a:p>
            <a:pPr marL="0" indent="0" algn="l">
              <a:buNone/>
              <a:defRPr sz="1150" i="0">
                <a:solidFill>
                  <a:srgbClr val="171717"/>
                </a:solidFill>
                <a:latin typeface="Consolas"/>
                <a:ea typeface="Consolas"/>
                <a:cs typeface="Consolas"/>
              </a:defRPr>
            </a:pPr>
            <a:r>
              <a:rPr sz="1150" b="1" i="0">
                <a:solidFill>
                  <a:srgbClr val="171717"/>
                </a:solidFill>
                <a:latin typeface="Consolas"/>
                <a:ea typeface="Consolas"/>
                <a:cs typeface="Consolas"/>
              </a:rPr>
              <a:t>하얀색 9장, 파란색 7장</a:t>
            </a:r>
            <a:endParaRPr sz="1150"/>
          </a:p>
        </p:txBody>
      </p:sp>
      <p:sp>
        <p:nvSpPr>
          <p:cNvPr id="37" name="직사각형 36">
            <a:extLst>
              <a:ext uri="{FF2B5EF4-FFF2-40B4-BE49-F238E27FC236}">
                <a16:creationId xmlns:a16="http://schemas.microsoft.com/office/drawing/2014/main" id="{2D613D60-5ECB-4835-8031-78900D8E2240}"/>
              </a:ext>
            </a:extLst>
          </p:cNvPr>
          <p:cNvSpPr>
            <a:spLocks noGrp="1"/>
          </p:cNvSpPr>
          <p:nvPr/>
        </p:nvSpPr>
        <p:spPr>
          <a:xfrm>
            <a:off x="6784848" y="2103120"/>
            <a:ext cx="4745736" cy="9525"/>
          </a:xfrm>
          <a:prstGeom prst="rect">
            <a:avLst/>
          </a:prstGeom>
          <a:solidFill>
            <a:srgbClr val="D4D4D4"/>
          </a:solidFill>
          <a:ln w="0">
            <a:noFill/>
          </a:ln>
        </p:spPr>
      </p:sp>
      <p:sp>
        <p:nvSpPr>
          <p:cNvPr id="38" name="직사각형 37">
            <a:extLst>
              <a:ext uri="{FF2B5EF4-FFF2-40B4-BE49-F238E27FC236}">
                <a16:creationId xmlns:a16="http://schemas.microsoft.com/office/drawing/2014/main" id="{90A1025A-6073-4C04-9B3A-5DDC1EA2CD30}"/>
              </a:ext>
            </a:extLst>
          </p:cNvPr>
          <p:cNvSpPr>
            <a:spLocks noGrp="1"/>
          </p:cNvSpPr>
          <p:nvPr/>
        </p:nvSpPr>
        <p:spPr>
          <a:xfrm>
            <a:off x="6784848" y="4700016"/>
            <a:ext cx="4745736"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CF8EF59B-891A-40F9-9943-BB98794C7737}"/>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CT 4.1  색종이 만들기</a:t>
            </a:r>
          </a:p>
        </p:txBody>
      </p:sp>
      <p:sp>
        <p:nvSpPr>
          <p:cNvPr id="40" name="직사각형 39">
            <a:extLst>
              <a:ext uri="{FF2B5EF4-FFF2-40B4-BE49-F238E27FC236}">
                <a16:creationId xmlns:a16="http://schemas.microsoft.com/office/drawing/2014/main" id="{FF2C780F-8F7C-42C4-BA1B-2F7D9AD9A2C1}"/>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1" name="직사각형 40">
            <a:extLst>
              <a:ext uri="{FF2B5EF4-FFF2-40B4-BE49-F238E27FC236}">
                <a16:creationId xmlns:a16="http://schemas.microsoft.com/office/drawing/2014/main" id="{886C9B2C-B1F2-4AAC-BF98-9636F18CD5EA}"/>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색종이 만들기</a:t>
            </a:r>
          </a:p>
        </p:txBody>
      </p:sp>
      <p:sp>
        <p:nvSpPr>
          <p:cNvPr id="42" name="직사각형 41">
            <a:extLst>
              <a:ext uri="{FF2B5EF4-FFF2-40B4-BE49-F238E27FC236}">
                <a16:creationId xmlns:a16="http://schemas.microsoft.com/office/drawing/2014/main" id="{719F8943-D2E9-4FAD-A9DB-6490C8F66FF5}"/>
              </a:ext>
            </a:extLst>
          </p:cNvPr>
          <p:cNvSpPr>
            <a:spLocks noGrp="1"/>
          </p:cNvSpPr>
          <p:nvPr/>
        </p:nvSpPr>
        <p:spPr>
          <a:xfrm>
            <a:off x="609600" y="1381125"/>
            <a:ext cx="10972800" cy="19050"/>
          </a:xfrm>
          <a:prstGeom prst="rect">
            <a:avLst/>
          </a:prstGeom>
          <a:solidFill>
            <a:srgbClr val="171717"/>
          </a:solidFill>
          <a:ln w="0">
            <a:noFill/>
          </a:ln>
        </p:spPr>
      </p:sp>
      <p:sp>
        <p:nvSpPr>
          <p:cNvPr id="43" name="직사각형 42">
            <a:extLst>
              <a:ext uri="{FF2B5EF4-FFF2-40B4-BE49-F238E27FC236}">
                <a16:creationId xmlns:a16="http://schemas.microsoft.com/office/drawing/2014/main" id="{F8F1092E-2877-45FC-85DD-F19EC27FD9CB}"/>
              </a:ext>
            </a:extLst>
          </p:cNvPr>
          <p:cNvSpPr>
            <a:spLocks noGrp="1"/>
          </p:cNvSpPr>
          <p:nvPr/>
        </p:nvSpPr>
        <p:spPr>
          <a:xfrm>
            <a:off x="609600" y="6438900"/>
            <a:ext cx="10972800" cy="9525"/>
          </a:xfrm>
          <a:prstGeom prst="rect">
            <a:avLst/>
          </a:prstGeom>
          <a:solidFill>
            <a:srgbClr val="D4D4D4"/>
          </a:solidFill>
          <a:ln w="0">
            <a:noFill/>
          </a:ln>
        </p:spPr>
      </p:sp>
      <p:sp>
        <p:nvSpPr>
          <p:cNvPr id="44" name="직사각형 43">
            <a:extLst>
              <a:ext uri="{FF2B5EF4-FFF2-40B4-BE49-F238E27FC236}">
                <a16:creationId xmlns:a16="http://schemas.microsoft.com/office/drawing/2014/main" id="{C8D485E2-6579-4A7E-9783-4F6C9E696936}"/>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5" name="직사각형 44">
            <a:extLst>
              <a:ext uri="{FF2B5EF4-FFF2-40B4-BE49-F238E27FC236}">
                <a16:creationId xmlns:a16="http://schemas.microsoft.com/office/drawing/2014/main" id="{18473A0B-EDEB-4B8E-B4F3-59CF30B3F739}"/>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126</a:t>
            </a:r>
            <a:endParaRPr sz="1050" b="1" i="0">
              <a:solidFill>
                <a:srgbClr val="171717"/>
              </a:solidFill>
              <a:latin typeface="Consolas"/>
              <a:ea typeface="Consolas"/>
              <a:cs typeface="Consolas"/>
            </a:endParaRPr>
          </a:p>
        </p:txBody>
      </p:sp>
      <p:pic>
        <p:nvPicPr>
          <p:cNvPr id="65" name="그림 64"/>
          <p:cNvPicPr>
            <a:picLocks noChangeAspect="1"/>
          </p:cNvPicPr>
          <p:nvPr/>
        </p:nvPicPr>
        <p:blipFill>
          <a:blip r:embed="rId3"/>
          <a:stretch/>
        </p:blipFill>
        <p:spPr>
          <a:xfrm>
            <a:off x="6931152" y="2302304"/>
            <a:ext cx="4453128" cy="1979168"/>
          </a:xfrm>
          <a:prstGeom prst="rect">
            <a:avLst/>
          </a:prstGeom>
        </p:spPr>
      </p:pic>
    </p:spTree>
    <p:extLst>
      <p:ext uri="{BB962C8B-B14F-4D97-AF65-F5344CB8AC3E}">
        <p14:creationId xmlns:p14="http://schemas.microsoft.com/office/powerpoint/2010/main" val="1227855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3375CBEE-107A-4755-9FE7-99DE00F4B06B}"/>
              </a:ext>
            </a:extLst>
          </p:cNvPr>
          <p:cNvSpPr>
            <a:spLocks noGrp="1"/>
          </p:cNvSpPr>
          <p:nvPr/>
        </p:nvSpPr>
        <p:spPr>
          <a:xfrm>
            <a:off x="859536" y="1801368"/>
            <a:ext cx="658368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solve.py</a:t>
            </a:r>
            <a:endParaRPr sz="900"/>
          </a:p>
        </p:txBody>
      </p:sp>
      <p:sp>
        <p:nvSpPr>
          <p:cNvPr id="20" name="Text 17">
            <a:extLst>
              <a:ext uri="{FF2B5EF4-FFF2-40B4-BE49-F238E27FC236}">
                <a16:creationId xmlns:a16="http://schemas.microsoft.com/office/drawing/2014/main" id="{FE091026-A92B-4EA8-B272-15BD826D8123}"/>
              </a:ext>
            </a:extLst>
          </p:cNvPr>
          <p:cNvSpPr>
            <a:spLocks noGrp="1"/>
          </p:cNvSpPr>
          <p:nvPr/>
        </p:nvSpPr>
        <p:spPr>
          <a:xfrm>
            <a:off x="7973568" y="1801368"/>
            <a:ext cx="3392424"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run.py</a:t>
            </a:r>
            <a:endParaRPr sz="900"/>
          </a:p>
        </p:txBody>
      </p:sp>
      <p:sp>
        <p:nvSpPr>
          <p:cNvPr id="23" name="Text 20">
            <a:extLst>
              <a:ext uri="{FF2B5EF4-FFF2-40B4-BE49-F238E27FC236}">
                <a16:creationId xmlns:a16="http://schemas.microsoft.com/office/drawing/2014/main" id="{7EBD480A-846E-4FA5-891F-555AD61203B7}"/>
              </a:ext>
            </a:extLst>
          </p:cNvPr>
          <p:cNvSpPr>
            <a:spLocks noGrp="1"/>
          </p:cNvSpPr>
          <p:nvPr/>
        </p:nvSpPr>
        <p:spPr>
          <a:xfrm>
            <a:off x="7973568" y="3291840"/>
            <a:ext cx="3291840" cy="256032"/>
          </a:xfrm>
          <a:prstGeom prst="rect">
            <a:avLst/>
          </a:prstGeom>
          <a:noFill/>
          <a:ln w="0">
            <a:noFill/>
          </a:ln>
        </p:spPr>
        <p:txBody>
          <a:bodyPr wrap="square" lIns="0" tIns="0" rIns="0" bIns="0" anchor="ctr">
            <a:noAutofit/>
          </a:bodyPr>
          <a:lstStyle/>
          <a:p>
            <a:pPr marL="0" indent="0" algn="l">
              <a:buNone/>
              <a:defRPr sz="900" i="0">
                <a:solidFill>
                  <a:srgbClr val="171717"/>
                </a:solidFill>
                <a:latin typeface="Malgun Gothic"/>
                <a:ea typeface="Malgun Gothic"/>
                <a:cs typeface="Malgun Gothic"/>
              </a:defRPr>
            </a:pPr>
            <a:r>
              <a:rPr sz="900" b="1" i="0" spc="140">
                <a:solidFill>
                  <a:srgbClr val="171717"/>
                </a:solidFill>
                <a:latin typeface="Malgun Gothic"/>
                <a:ea typeface="Malgun Gothic"/>
                <a:cs typeface="Malgun Gothic"/>
              </a:rPr>
              <a:t>OUTPUT</a:t>
            </a:r>
            <a:endParaRPr sz="900"/>
          </a:p>
        </p:txBody>
      </p:sp>
      <p:sp>
        <p:nvSpPr>
          <p:cNvPr id="24" name="Text 21">
            <a:extLst>
              <a:ext uri="{FF2B5EF4-FFF2-40B4-BE49-F238E27FC236}">
                <a16:creationId xmlns:a16="http://schemas.microsoft.com/office/drawing/2014/main" id="{76007FAC-AEE8-44C1-9F38-E82A5BA0F64F}"/>
              </a:ext>
            </a:extLst>
          </p:cNvPr>
          <p:cNvSpPr>
            <a:spLocks noGrp="1"/>
          </p:cNvSpPr>
          <p:nvPr/>
        </p:nvSpPr>
        <p:spPr>
          <a:xfrm>
            <a:off x="7973568" y="3602736"/>
            <a:ext cx="3291840" cy="731520"/>
          </a:xfrm>
          <a:prstGeom prst="rect">
            <a:avLst/>
          </a:prstGeom>
          <a:noFill/>
          <a:ln w="0">
            <a:noFill/>
          </a:ln>
        </p:spPr>
        <p:txBody>
          <a:bodyPr wrap="square" lIns="0" tIns="0" rIns="0" bIns="0" anchor="t">
            <a:noAutofit/>
          </a:bodyPr>
          <a:lstStyle/>
          <a:p>
            <a:pPr marL="0" indent="0" algn="l">
              <a:lnSpc>
                <a:spcPct val="135000"/>
              </a:lnSpc>
              <a:buNone/>
              <a:defRPr sz="1500" i="0">
                <a:solidFill>
                  <a:srgbClr val="171717"/>
                </a:solidFill>
                <a:latin typeface="Consolas"/>
                <a:ea typeface="Consolas"/>
                <a:cs typeface="Consolas"/>
              </a:defRPr>
            </a:pPr>
            <a:r>
              <a:rPr sz="1500" i="0">
                <a:solidFill>
                  <a:srgbClr val="171717"/>
                </a:solidFill>
                <a:latin typeface="Consolas"/>
                <a:ea typeface="Consolas"/>
                <a:cs typeface="Consolas"/>
              </a:rPr>
              <a:t>하얀색 색종이: 9</a:t>
            </a:r>
            <a:endParaRPr sz="1100"/>
          </a:p>
          <a:p>
            <a:pPr marL="0" indent="0" algn="l">
              <a:lnSpc>
                <a:spcPct val="135000"/>
              </a:lnSpc>
              <a:buNone/>
              <a:defRPr sz="1500" i="0">
                <a:solidFill>
                  <a:srgbClr val="171717"/>
                </a:solidFill>
                <a:latin typeface="Consolas"/>
                <a:ea typeface="Consolas"/>
                <a:cs typeface="Consolas"/>
              </a:defRPr>
            </a:pPr>
            <a:r>
              <a:rPr sz="1500" i="0">
                <a:solidFill>
                  <a:srgbClr val="171717"/>
                </a:solidFill>
                <a:latin typeface="Consolas"/>
                <a:ea typeface="Consolas"/>
                <a:cs typeface="Consolas"/>
              </a:rPr>
              <a:t>파란색 색종이: 7</a:t>
            </a:r>
            <a:endParaRPr sz="1100"/>
          </a:p>
        </p:txBody>
      </p:sp>
      <p:sp>
        <p:nvSpPr>
          <p:cNvPr id="28" name="Text 24">
            <a:extLst>
              <a:ext uri="{FF2B5EF4-FFF2-40B4-BE49-F238E27FC236}">
                <a16:creationId xmlns:a16="http://schemas.microsoft.com/office/drawing/2014/main" id="{BE5D9630-6631-4BD6-AB59-BBB32B8AA250}"/>
              </a:ext>
            </a:extLst>
          </p:cNvPr>
          <p:cNvSpPr>
            <a:spLocks noGrp="1"/>
          </p:cNvSpPr>
          <p:nvPr/>
        </p:nvSpPr>
        <p:spPr>
          <a:xfrm>
            <a:off x="8631936" y="4809744"/>
            <a:ext cx="2642616" cy="292608"/>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return 위치가 핵심</a:t>
            </a:r>
            <a:endParaRPr sz="1230"/>
          </a:p>
        </p:txBody>
      </p:sp>
      <p:sp>
        <p:nvSpPr>
          <p:cNvPr id="29" name="Text 25">
            <a:extLst>
              <a:ext uri="{FF2B5EF4-FFF2-40B4-BE49-F238E27FC236}">
                <a16:creationId xmlns:a16="http://schemas.microsoft.com/office/drawing/2014/main" id="{863034E8-704E-459C-B5B6-C8BA78F15B4F}"/>
              </a:ext>
            </a:extLst>
          </p:cNvPr>
          <p:cNvSpPr>
            <a:spLocks noGrp="1"/>
          </p:cNvSpPr>
          <p:nvPr/>
        </p:nvSpPr>
        <p:spPr>
          <a:xfrm>
            <a:off x="8631936" y="5157216"/>
            <a:ext cx="2642616" cy="804672"/>
          </a:xfrm>
          <a:prstGeom prst="rect">
            <a:avLst/>
          </a:prstGeom>
          <a:noFill/>
          <a:ln w="0">
            <a:noFill/>
          </a:ln>
        </p:spPr>
        <p:txBody>
          <a:bodyPr wrap="square" lIns="0" tIns="0" rIns="0" bIns="0" anchor="t">
            <a:noAutofit/>
          </a:bodyPr>
          <a:lstStyle/>
          <a:p>
            <a:pPr marL="0" indent="0" algn="l">
              <a:lnSpc>
                <a:spcPct val="132000"/>
              </a:lnSpc>
              <a:buNone/>
              <a:defRPr sz="1100" i="0">
                <a:solidFill>
                  <a:srgbClr val="606060"/>
                </a:solidFill>
                <a:latin typeface="Malgun Gothic"/>
                <a:ea typeface="Malgun Gothic"/>
                <a:cs typeface="Malgun Gothic"/>
              </a:defRPr>
            </a:pPr>
            <a:r>
              <a:rPr sz="1100" i="0">
                <a:solidFill>
                  <a:srgbClr val="606060"/>
                </a:solidFill>
                <a:latin typeface="Malgun Gothic"/>
                <a:ea typeface="Malgun Gothic"/>
                <a:cs typeface="Malgun Gothic"/>
              </a:rPr>
              <a:t>다른 색을 만나는 즉시 4등분 후 return 해야 한다. 그러지 않으면 아래의 카운트 코드까지 실행되어 잘못된 답이 나온다.</a:t>
            </a:r>
            <a:endParaRPr sz="1100"/>
          </a:p>
        </p:txBody>
      </p:sp>
      <p:sp>
        <p:nvSpPr>
          <p:cNvPr id="31" name="직사각형 30">
            <a:extLst>
              <a:ext uri="{FF2B5EF4-FFF2-40B4-BE49-F238E27FC236}">
                <a16:creationId xmlns:a16="http://schemas.microsoft.com/office/drawing/2014/main" id="{97F7650E-E7EE-4233-B44D-2312F7098711}"/>
              </a:ext>
            </a:extLst>
          </p:cNvPr>
          <p:cNvSpPr>
            <a:spLocks noGrp="1"/>
          </p:cNvSpPr>
          <p:nvPr/>
        </p:nvSpPr>
        <p:spPr>
          <a:xfrm>
            <a:off x="7772400" y="4626864"/>
            <a:ext cx="3758184" cy="9525"/>
          </a:xfrm>
          <a:prstGeom prst="rect">
            <a:avLst/>
          </a:prstGeom>
          <a:solidFill>
            <a:srgbClr val="D4D4D4"/>
          </a:solidFill>
          <a:ln w="0">
            <a:noFill/>
          </a:ln>
        </p:spPr>
      </p:sp>
      <p:sp>
        <p:nvSpPr>
          <p:cNvPr id="32" name="직사각형 31">
            <a:extLst>
              <a:ext uri="{FF2B5EF4-FFF2-40B4-BE49-F238E27FC236}">
                <a16:creationId xmlns:a16="http://schemas.microsoft.com/office/drawing/2014/main" id="{F65B2AC3-7EDC-41E5-B96D-F5EBAC4E58F8}"/>
              </a:ext>
            </a:extLst>
          </p:cNvPr>
          <p:cNvSpPr>
            <a:spLocks noGrp="1"/>
          </p:cNvSpPr>
          <p:nvPr/>
        </p:nvSpPr>
        <p:spPr>
          <a:xfrm>
            <a:off x="698373" y="2090928"/>
            <a:ext cx="6924294" cy="3610356"/>
          </a:xfrm>
          <a:prstGeom prst="rect">
            <a:avLst/>
          </a:prstGeom>
          <a:solidFill>
            <a:srgbClr val="171717"/>
          </a:solidFill>
          <a:ln w="0">
            <a:noFill/>
          </a:ln>
        </p:spPr>
        <p:txBody>
          <a:bodyPr wrap="none" lIns="142875" tIns="76200" rIns="142875" bIns="76200" anchor="t">
            <a:noAutofit/>
          </a:bodyPr>
          <a:lstStyle/>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import sys</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sys.setrecursionlimit(10 ** 6)</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def solve(x, y, 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global white_cnt, blue_cnt</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color = paper[x][y]</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for i in range(x, x + 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for j in range(y, y + 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if paper[i][j] != color:</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nn = n // 2</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solve(x,      y,      nn)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solve(x,      y + nn, nn)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solve(x + nn, y,      nn)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solve(x + nn, y + nn, nn)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return</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if color == 0:</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white_cnt += 1</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else:</a:t>
            </a:r>
          </a:p>
          <a:p>
            <a:pPr algn="l">
              <a:lnSpc>
                <a:spcPct val="103000"/>
              </a:lnSpc>
              <a:buNone/>
              <a:defRPr sz="1050" b="0" i="0">
                <a:solidFill>
                  <a:srgbClr val="FFFFFF"/>
                </a:solidFill>
                <a:latin typeface="Consolas"/>
                <a:ea typeface="Consolas"/>
                <a:cs typeface="Consolas"/>
              </a:defRPr>
            </a:pPr>
            <a:r>
              <a:rPr sz="1050" b="0" i="0">
                <a:solidFill>
                  <a:srgbClr val="FFFFFF"/>
                </a:solidFill>
                <a:latin typeface="Consolas"/>
                <a:ea typeface="Consolas"/>
                <a:cs typeface="Consolas"/>
              </a:rPr>
              <a:t>        blue_cnt += 1</a:t>
            </a:r>
          </a:p>
        </p:txBody>
      </p:sp>
      <p:sp>
        <p:nvSpPr>
          <p:cNvPr id="33" name="직사각형 32">
            <a:extLst>
              <a:ext uri="{FF2B5EF4-FFF2-40B4-BE49-F238E27FC236}">
                <a16:creationId xmlns:a16="http://schemas.microsoft.com/office/drawing/2014/main" id="{3277E2E9-4067-40DB-8E0D-8B3D677C028B}"/>
              </a:ext>
            </a:extLst>
          </p:cNvPr>
          <p:cNvSpPr>
            <a:spLocks noGrp="1"/>
          </p:cNvSpPr>
          <p:nvPr/>
        </p:nvSpPr>
        <p:spPr>
          <a:xfrm>
            <a:off x="7812405" y="2090928"/>
            <a:ext cx="3733038" cy="986028"/>
          </a:xfrm>
          <a:prstGeom prst="rect">
            <a:avLst/>
          </a:prstGeom>
          <a:solidFill>
            <a:srgbClr val="171717"/>
          </a:solidFill>
          <a:ln w="0">
            <a:noFill/>
          </a:ln>
        </p:spPr>
        <p:txBody>
          <a:bodyPr wrap="none" lIns="142875" tIns="76200" rIns="142875" bIns="76200" anchor="t">
            <a:noAutofit/>
          </a:bodyPr>
          <a:lstStyle/>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N = 8</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white_cnt = blue_cnt = 0</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solve(0, 0, N)</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print(f"하얀색 색종이: {white_cnt}")</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print(f"파란색 색종이: {blue_cnt}")</a:t>
            </a:r>
          </a:p>
        </p:txBody>
      </p:sp>
      <p:sp>
        <p:nvSpPr>
          <p:cNvPr id="34" name="직사각형 33">
            <a:extLst>
              <a:ext uri="{FF2B5EF4-FFF2-40B4-BE49-F238E27FC236}">
                <a16:creationId xmlns:a16="http://schemas.microsoft.com/office/drawing/2014/main" id="{AA3449B5-30A7-470A-B35E-3B82B3A7456F}"/>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CT 4.1  색종이 만들기</a:t>
            </a:r>
          </a:p>
        </p:txBody>
      </p:sp>
      <p:sp>
        <p:nvSpPr>
          <p:cNvPr id="35" name="직사각형 34">
            <a:extLst>
              <a:ext uri="{FF2B5EF4-FFF2-40B4-BE49-F238E27FC236}">
                <a16:creationId xmlns:a16="http://schemas.microsoft.com/office/drawing/2014/main" id="{57AB31AA-81E5-471B-B32A-BACCB962E9BC}"/>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6" name="직사각형 35">
            <a:extLst>
              <a:ext uri="{FF2B5EF4-FFF2-40B4-BE49-F238E27FC236}">
                <a16:creationId xmlns:a16="http://schemas.microsoft.com/office/drawing/2014/main" id="{C40514B6-7D1D-4EB8-BBB9-3BDD8E2A4C7F}"/>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풀이 — 재귀적으로 4등분하며 세기</a:t>
            </a:r>
          </a:p>
        </p:txBody>
      </p:sp>
      <p:sp>
        <p:nvSpPr>
          <p:cNvPr id="37" name="직사각형 36">
            <a:extLst>
              <a:ext uri="{FF2B5EF4-FFF2-40B4-BE49-F238E27FC236}">
                <a16:creationId xmlns:a16="http://schemas.microsoft.com/office/drawing/2014/main" id="{961CE582-779E-40DF-B835-B21B9FA7899B}"/>
              </a:ext>
            </a:extLst>
          </p:cNvPr>
          <p:cNvSpPr>
            <a:spLocks noGrp="1"/>
          </p:cNvSpPr>
          <p:nvPr/>
        </p:nvSpPr>
        <p:spPr>
          <a:xfrm>
            <a:off x="609600" y="1381125"/>
            <a:ext cx="10972800" cy="19050"/>
          </a:xfrm>
          <a:prstGeom prst="rect">
            <a:avLst/>
          </a:prstGeom>
          <a:solidFill>
            <a:srgbClr val="171717"/>
          </a:solidFill>
          <a:ln w="0">
            <a:noFill/>
          </a:ln>
        </p:spPr>
      </p:sp>
      <p:sp>
        <p:nvSpPr>
          <p:cNvPr id="38" name="직사각형 37">
            <a:extLst>
              <a:ext uri="{FF2B5EF4-FFF2-40B4-BE49-F238E27FC236}">
                <a16:creationId xmlns:a16="http://schemas.microsoft.com/office/drawing/2014/main" id="{431B4CB5-B314-4AC4-8A01-E460507FAD0D}"/>
              </a:ext>
            </a:extLst>
          </p:cNvPr>
          <p:cNvSpPr>
            <a:spLocks noGrp="1"/>
          </p:cNvSpPr>
          <p:nvPr/>
        </p:nvSpPr>
        <p:spPr>
          <a:xfrm>
            <a:off x="609600" y="6438900"/>
            <a:ext cx="10972800"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B13B6529-B9E1-48D7-B44B-77C7A9649D6C}"/>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0" name="직사각형 39">
            <a:extLst>
              <a:ext uri="{FF2B5EF4-FFF2-40B4-BE49-F238E27FC236}">
                <a16:creationId xmlns:a16="http://schemas.microsoft.com/office/drawing/2014/main" id="{A515F5AB-7EEF-42BF-8EA7-66D4747E729E}"/>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127</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90528328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16760666-3CE5-4DE0-B573-3F32B6BDCC4D}"/>
              </a:ext>
            </a:extLst>
          </p:cNvPr>
          <p:cNvSpPr>
            <a:spLocks noGrp="1"/>
          </p:cNvSpPr>
          <p:nvPr/>
        </p:nvSpPr>
        <p:spPr>
          <a:xfrm>
            <a:off x="658368" y="1737360"/>
            <a:ext cx="10872216" cy="603504"/>
          </a:xfrm>
          <a:prstGeom prst="rect">
            <a:avLst/>
          </a:prstGeom>
          <a:noFill/>
          <a:ln w="0">
            <a:noFill/>
          </a:ln>
        </p:spPr>
        <p:txBody>
          <a:bodyPr wrap="square" lIns="0" tIns="0" rIns="0" bIns="0" anchor="t">
            <a:noAutofit/>
          </a:bodyPr>
          <a:lstStyle/>
          <a:p>
            <a:pPr marL="0" indent="0" algn="l">
              <a:lnSpc>
                <a:spcPct val="142000"/>
              </a:lnSpc>
              <a:buNone/>
              <a:defRPr sz="1500" i="0">
                <a:solidFill>
                  <a:srgbClr val="606060"/>
                </a:solidFill>
                <a:latin typeface="Malgun Gothic"/>
                <a:ea typeface="Malgun Gothic"/>
                <a:cs typeface="Malgun Gothic"/>
              </a:defRPr>
            </a:pPr>
            <a:r>
              <a:rPr sz="1500" i="0">
                <a:solidFill>
                  <a:srgbClr val="606060"/>
                </a:solidFill>
                <a:latin typeface="Malgun Gothic"/>
                <a:ea typeface="Malgun Gothic"/>
                <a:cs typeface="Malgun Gothic"/>
              </a:rPr>
              <a:t>세 개의 자연수 A, B, C가 주어진다. A를 B번 곱한 수, 즉 A^B를 C로 나눈 나머지를 구하라. 문제는 A와 B가 최대 2,147,483,647(약 21억)에 달하는 매우 큰 수라는 점이다. 단순한 반복으로는 21억 번의 곱셈이 필요하다.</a:t>
            </a:r>
            <a:endParaRPr sz="1350"/>
          </a:p>
        </p:txBody>
      </p:sp>
      <p:sp>
        <p:nvSpPr>
          <p:cNvPr id="10" name="Text 6">
            <a:extLst>
              <a:ext uri="{FF2B5EF4-FFF2-40B4-BE49-F238E27FC236}">
                <a16:creationId xmlns:a16="http://schemas.microsoft.com/office/drawing/2014/main" id="{956CEF1E-9FB0-48D8-B3E8-5E97C59847C2}"/>
              </a:ext>
            </a:extLst>
          </p:cNvPr>
          <p:cNvSpPr>
            <a:spLocks noGrp="1"/>
          </p:cNvSpPr>
          <p:nvPr/>
        </p:nvSpPr>
        <p:spPr>
          <a:xfrm>
            <a:off x="1444752" y="2596896"/>
            <a:ext cx="2103120"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지수를 절반으로</a:t>
            </a:r>
            <a:endParaRPr sz="1250"/>
          </a:p>
        </p:txBody>
      </p:sp>
      <p:sp>
        <p:nvSpPr>
          <p:cNvPr id="11" name="Text 7">
            <a:extLst>
              <a:ext uri="{FF2B5EF4-FFF2-40B4-BE49-F238E27FC236}">
                <a16:creationId xmlns:a16="http://schemas.microsoft.com/office/drawing/2014/main" id="{AE6AD0C0-737C-49A6-88BD-3EF37815B151}"/>
              </a:ext>
            </a:extLst>
          </p:cNvPr>
          <p:cNvSpPr>
            <a:spLocks noGrp="1"/>
          </p:cNvSpPr>
          <p:nvPr/>
        </p:nvSpPr>
        <p:spPr>
          <a:xfrm>
            <a:off x="1444752" y="2889504"/>
            <a:ext cx="5852160" cy="329184"/>
          </a:xfrm>
          <a:prstGeom prst="rect">
            <a:avLst/>
          </a:prstGeom>
          <a:noFill/>
          <a:ln w="0">
            <a:noFill/>
          </a:ln>
        </p:spPr>
        <p:txBody>
          <a:bodyPr wrap="square" lIns="0" tIns="0" rIns="0" bIns="0" anchor="t">
            <a:noAutofit/>
          </a:bodyPr>
          <a:lstStyle/>
          <a:p>
            <a:pPr marL="0" indent="0" algn="l">
              <a:lnSpc>
                <a:spcPct val="114000"/>
              </a:lnSpc>
              <a:buNone/>
              <a:defRPr sz="1080" i="0">
                <a:solidFill>
                  <a:srgbClr val="171717"/>
                </a:solidFill>
                <a:latin typeface="Malgun Gothic"/>
                <a:ea typeface="Malgun Gothic"/>
                <a:cs typeface="Malgun Gothic"/>
              </a:defRPr>
            </a:pPr>
            <a:r>
              <a:rPr sz="1080" i="0">
                <a:solidFill>
                  <a:srgbClr val="171717"/>
                </a:solidFill>
                <a:latin typeface="Malgun Gothic"/>
                <a:ea typeface="Malgun Gothic"/>
                <a:cs typeface="Malgun Gothic"/>
              </a:rPr>
              <a:t>A^B = A^(B/2) × A^(B/2). 절반만 계산하면 나머지 절반은 공짜다.</a:t>
            </a:r>
            <a:endParaRPr sz="1080"/>
          </a:p>
        </p:txBody>
      </p:sp>
      <p:sp>
        <p:nvSpPr>
          <p:cNvPr id="15" name="Text 10">
            <a:extLst>
              <a:ext uri="{FF2B5EF4-FFF2-40B4-BE49-F238E27FC236}">
                <a16:creationId xmlns:a16="http://schemas.microsoft.com/office/drawing/2014/main" id="{3E9BE8A2-FC40-428D-AD0A-34FA0B0C3694}"/>
              </a:ext>
            </a:extLst>
          </p:cNvPr>
          <p:cNvSpPr>
            <a:spLocks noGrp="1"/>
          </p:cNvSpPr>
          <p:nvPr/>
        </p:nvSpPr>
        <p:spPr>
          <a:xfrm>
            <a:off x="1444752" y="3529584"/>
            <a:ext cx="2103120"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B가 홀수라면</a:t>
            </a:r>
            <a:endParaRPr sz="1250"/>
          </a:p>
        </p:txBody>
      </p:sp>
      <p:sp>
        <p:nvSpPr>
          <p:cNvPr id="16" name="Text 11">
            <a:extLst>
              <a:ext uri="{FF2B5EF4-FFF2-40B4-BE49-F238E27FC236}">
                <a16:creationId xmlns:a16="http://schemas.microsoft.com/office/drawing/2014/main" id="{C7D95B75-61F7-4F14-AD52-F3B930897AEA}"/>
              </a:ext>
            </a:extLst>
          </p:cNvPr>
          <p:cNvSpPr>
            <a:spLocks noGrp="1"/>
          </p:cNvSpPr>
          <p:nvPr/>
        </p:nvSpPr>
        <p:spPr>
          <a:xfrm>
            <a:off x="1444752" y="3822192"/>
            <a:ext cx="5852160" cy="329184"/>
          </a:xfrm>
          <a:prstGeom prst="rect">
            <a:avLst/>
          </a:prstGeom>
          <a:noFill/>
          <a:ln w="0">
            <a:noFill/>
          </a:ln>
        </p:spPr>
        <p:txBody>
          <a:bodyPr wrap="square" lIns="0" tIns="0" rIns="0" bIns="0" anchor="t">
            <a:noAutofit/>
          </a:bodyPr>
          <a:lstStyle/>
          <a:p>
            <a:pPr marL="0" indent="0" algn="l">
              <a:lnSpc>
                <a:spcPct val="114000"/>
              </a:lnSpc>
              <a:buNone/>
              <a:defRPr sz="1080" i="0">
                <a:solidFill>
                  <a:srgbClr val="171717"/>
                </a:solidFill>
                <a:latin typeface="Malgun Gothic"/>
                <a:ea typeface="Malgun Gothic"/>
                <a:cs typeface="Malgun Gothic"/>
              </a:defRPr>
            </a:pPr>
            <a:r>
              <a:rPr sz="1080" i="0">
                <a:solidFill>
                  <a:srgbClr val="171717"/>
                </a:solidFill>
                <a:latin typeface="Malgun Gothic"/>
                <a:ea typeface="Malgun Gothic"/>
                <a:cs typeface="Malgun Gothic"/>
              </a:rPr>
              <a:t>A^B = A^(B/2) × A^(B/2) × A. 남는 A 하나를 곱해준다.</a:t>
            </a:r>
            <a:endParaRPr sz="1080"/>
          </a:p>
        </p:txBody>
      </p:sp>
      <p:sp>
        <p:nvSpPr>
          <p:cNvPr id="20" name="Text 14">
            <a:extLst>
              <a:ext uri="{FF2B5EF4-FFF2-40B4-BE49-F238E27FC236}">
                <a16:creationId xmlns:a16="http://schemas.microsoft.com/office/drawing/2014/main" id="{23F69DFB-B47D-40F4-9F73-D169F3E91056}"/>
              </a:ext>
            </a:extLst>
          </p:cNvPr>
          <p:cNvSpPr>
            <a:spLocks noGrp="1"/>
          </p:cNvSpPr>
          <p:nvPr/>
        </p:nvSpPr>
        <p:spPr>
          <a:xfrm>
            <a:off x="1444752" y="4462272"/>
            <a:ext cx="2103120"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모듈러 성질 활용</a:t>
            </a:r>
            <a:endParaRPr sz="1250"/>
          </a:p>
        </p:txBody>
      </p:sp>
      <p:sp>
        <p:nvSpPr>
          <p:cNvPr id="21" name="Text 15">
            <a:extLst>
              <a:ext uri="{FF2B5EF4-FFF2-40B4-BE49-F238E27FC236}">
                <a16:creationId xmlns:a16="http://schemas.microsoft.com/office/drawing/2014/main" id="{ACEF1C4A-5C57-4F50-9092-6C326161F67C}"/>
              </a:ext>
            </a:extLst>
          </p:cNvPr>
          <p:cNvSpPr>
            <a:spLocks noGrp="1"/>
          </p:cNvSpPr>
          <p:nvPr/>
        </p:nvSpPr>
        <p:spPr>
          <a:xfrm>
            <a:off x="1444752" y="4754880"/>
            <a:ext cx="5852160" cy="329184"/>
          </a:xfrm>
          <a:prstGeom prst="rect">
            <a:avLst/>
          </a:prstGeom>
          <a:noFill/>
          <a:ln w="0">
            <a:noFill/>
          </a:ln>
        </p:spPr>
        <p:txBody>
          <a:bodyPr wrap="square" lIns="0" tIns="0" rIns="0" bIns="0" anchor="t">
            <a:noAutofit/>
          </a:bodyPr>
          <a:lstStyle/>
          <a:p>
            <a:pPr marL="0" indent="0" algn="l">
              <a:lnSpc>
                <a:spcPct val="114000"/>
              </a:lnSpc>
              <a:buNone/>
              <a:defRPr sz="1080" i="0">
                <a:solidFill>
                  <a:srgbClr val="606060"/>
                </a:solidFill>
                <a:latin typeface="Malgun Gothic"/>
                <a:ea typeface="Malgun Gothic"/>
                <a:cs typeface="Malgun Gothic"/>
              </a:defRPr>
            </a:pPr>
            <a:r>
              <a:rPr sz="1080" i="0">
                <a:solidFill>
                  <a:srgbClr val="606060"/>
                </a:solidFill>
                <a:latin typeface="Malgun Gothic"/>
                <a:ea typeface="Malgun Gothic"/>
                <a:cs typeface="Malgun Gothic"/>
              </a:rPr>
              <a:t>(a × b) mod c = ((a mod c) × (b mod c)) mod c. 매 단계 나머지를 취해 수가 커지지 않게 한다.</a:t>
            </a:r>
            <a:endParaRPr sz="1080"/>
          </a:p>
        </p:txBody>
      </p:sp>
      <p:sp>
        <p:nvSpPr>
          <p:cNvPr id="23" name="Text 17">
            <a:extLst>
              <a:ext uri="{FF2B5EF4-FFF2-40B4-BE49-F238E27FC236}">
                <a16:creationId xmlns:a16="http://schemas.microsoft.com/office/drawing/2014/main" id="{475540B6-FCF3-4004-AAF4-574A57AAD57D}"/>
              </a:ext>
            </a:extLst>
          </p:cNvPr>
          <p:cNvSpPr>
            <a:spLocks noGrp="1"/>
          </p:cNvSpPr>
          <p:nvPr/>
        </p:nvSpPr>
        <p:spPr>
          <a:xfrm>
            <a:off x="795528" y="5431536"/>
            <a:ext cx="6675120" cy="731520"/>
          </a:xfrm>
          <a:prstGeom prst="rect">
            <a:avLst/>
          </a:prstGeom>
          <a:noFill/>
          <a:ln w="0">
            <a:noFill/>
          </a:ln>
        </p:spPr>
        <p:txBody>
          <a:bodyPr wrap="square" lIns="0" tIns="0" rIns="0" bIns="0" anchor="ctr">
            <a:noAutofit/>
          </a:bodyPr>
          <a:lstStyle/>
          <a:p>
            <a:pPr marL="0" indent="0" algn="ctr">
              <a:buNone/>
              <a:defRPr sz="1800"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T(n) = T(n/2) + O(1)   ⇒   Θ(log B)</a:t>
            </a:r>
            <a:endParaRPr sz="1800"/>
          </a:p>
        </p:txBody>
      </p:sp>
      <p:sp>
        <p:nvSpPr>
          <p:cNvPr id="25" name="Text 19">
            <a:extLst>
              <a:ext uri="{FF2B5EF4-FFF2-40B4-BE49-F238E27FC236}">
                <a16:creationId xmlns:a16="http://schemas.microsoft.com/office/drawing/2014/main" id="{CF8941B8-2FAB-4B3F-9E64-5B5D128561D5}"/>
              </a:ext>
            </a:extLst>
          </p:cNvPr>
          <p:cNvSpPr>
            <a:spLocks noGrp="1"/>
          </p:cNvSpPr>
          <p:nvPr/>
        </p:nvSpPr>
        <p:spPr>
          <a:xfrm>
            <a:off x="8119872" y="2651760"/>
            <a:ext cx="3200400" cy="292608"/>
          </a:xfrm>
          <a:prstGeom prst="rect">
            <a:avLst/>
          </a:prstGeom>
          <a:noFill/>
          <a:ln w="0">
            <a:noFill/>
          </a:ln>
        </p:spPr>
        <p:txBody>
          <a:bodyPr wrap="square" lIns="0" tIns="0" rIns="0" bIns="0" anchor="ctr">
            <a:noAutofit/>
          </a:bodyPr>
          <a:lstStyle/>
          <a:p>
            <a:pPr marL="0" indent="0" algn="l">
              <a:buNone/>
              <a:defRPr sz="1200" i="0">
                <a:solidFill>
                  <a:srgbClr val="171717"/>
                </a:solidFill>
                <a:latin typeface="Malgun Gothic"/>
                <a:ea typeface="Malgun Gothic"/>
                <a:cs typeface="Malgun Gothic"/>
              </a:defRPr>
            </a:pPr>
            <a:r>
              <a:rPr sz="1200" b="1" i="0">
                <a:solidFill>
                  <a:srgbClr val="171717"/>
                </a:solidFill>
                <a:latin typeface="Malgun Gothic"/>
                <a:ea typeface="Malgun Gothic"/>
                <a:cs typeface="Malgun Gothic"/>
              </a:rPr>
              <a:t>예제</a:t>
            </a:r>
            <a:endParaRPr sz="1200"/>
          </a:p>
        </p:txBody>
      </p:sp>
      <p:sp>
        <p:nvSpPr>
          <p:cNvPr id="26" name="Text 20">
            <a:extLst>
              <a:ext uri="{FF2B5EF4-FFF2-40B4-BE49-F238E27FC236}">
                <a16:creationId xmlns:a16="http://schemas.microsoft.com/office/drawing/2014/main" id="{0FA1BB43-786D-4DCC-9D96-9AACFD6697AF}"/>
              </a:ext>
            </a:extLst>
          </p:cNvPr>
          <p:cNvSpPr>
            <a:spLocks noGrp="1"/>
          </p:cNvSpPr>
          <p:nvPr/>
        </p:nvSpPr>
        <p:spPr>
          <a:xfrm>
            <a:off x="8119872" y="3017520"/>
            <a:ext cx="3200400" cy="256032"/>
          </a:xfrm>
          <a:prstGeom prst="rect">
            <a:avLst/>
          </a:prstGeom>
          <a:noFill/>
          <a:ln w="0">
            <a:noFill/>
          </a:ln>
        </p:spPr>
        <p:txBody>
          <a:bodyPr wrap="square" lIns="0" tIns="0" rIns="0" bIns="0" anchor="ctr">
            <a:noAutofit/>
          </a:bodyPr>
          <a:lstStyle/>
          <a:p>
            <a:pPr marL="0" indent="0" algn="l">
              <a:buNone/>
              <a:defRPr sz="1000" i="0">
                <a:solidFill>
                  <a:srgbClr val="171717"/>
                </a:solidFill>
                <a:latin typeface="Malgun Gothic"/>
                <a:ea typeface="Malgun Gothic"/>
                <a:cs typeface="Malgun Gothic"/>
              </a:defRPr>
            </a:pPr>
            <a:r>
              <a:rPr sz="1000" i="0">
                <a:solidFill>
                  <a:srgbClr val="171717"/>
                </a:solidFill>
                <a:latin typeface="Malgun Gothic"/>
                <a:ea typeface="Malgun Gothic"/>
                <a:cs typeface="Malgun Gothic"/>
              </a:rPr>
              <a:t>입력</a:t>
            </a:r>
            <a:endParaRPr sz="1000"/>
          </a:p>
        </p:txBody>
      </p:sp>
      <p:sp>
        <p:nvSpPr>
          <p:cNvPr id="27" name="Text 21">
            <a:extLst>
              <a:ext uri="{FF2B5EF4-FFF2-40B4-BE49-F238E27FC236}">
                <a16:creationId xmlns:a16="http://schemas.microsoft.com/office/drawing/2014/main" id="{680D22C1-A8B9-4156-9BA9-FB85C2633AAC}"/>
              </a:ext>
            </a:extLst>
          </p:cNvPr>
          <p:cNvSpPr>
            <a:spLocks noGrp="1"/>
          </p:cNvSpPr>
          <p:nvPr/>
        </p:nvSpPr>
        <p:spPr>
          <a:xfrm>
            <a:off x="8119872" y="3291840"/>
            <a:ext cx="3200400" cy="329184"/>
          </a:xfrm>
          <a:prstGeom prst="rect">
            <a:avLst/>
          </a:prstGeom>
          <a:noFill/>
          <a:ln w="0">
            <a:noFill/>
          </a:ln>
        </p:spPr>
        <p:txBody>
          <a:bodyPr wrap="square" lIns="0" tIns="0" rIns="0" bIns="0" anchor="ctr">
            <a:noAutofit/>
          </a:bodyPr>
          <a:lstStyle/>
          <a:p>
            <a:pPr marL="0" indent="0" algn="l">
              <a:buNone/>
              <a:defRPr sz="1400" i="0">
                <a:solidFill>
                  <a:srgbClr val="171717"/>
                </a:solidFill>
                <a:latin typeface="Consolas"/>
                <a:ea typeface="Consolas"/>
                <a:cs typeface="Consolas"/>
              </a:defRPr>
            </a:pPr>
            <a:r>
              <a:rPr sz="1400" b="1" i="0">
                <a:solidFill>
                  <a:srgbClr val="171717"/>
                </a:solidFill>
                <a:latin typeface="Consolas"/>
                <a:ea typeface="Consolas"/>
                <a:cs typeface="Consolas"/>
              </a:rPr>
              <a:t>10 11 12</a:t>
            </a:r>
            <a:endParaRPr sz="1400"/>
          </a:p>
        </p:txBody>
      </p:sp>
      <p:sp>
        <p:nvSpPr>
          <p:cNvPr id="28" name="Text 22">
            <a:extLst>
              <a:ext uri="{FF2B5EF4-FFF2-40B4-BE49-F238E27FC236}">
                <a16:creationId xmlns:a16="http://schemas.microsoft.com/office/drawing/2014/main" id="{F66B81EB-E39A-4E16-8633-D72122C7C8C8}"/>
              </a:ext>
            </a:extLst>
          </p:cNvPr>
          <p:cNvSpPr>
            <a:spLocks noGrp="1"/>
          </p:cNvSpPr>
          <p:nvPr/>
        </p:nvSpPr>
        <p:spPr>
          <a:xfrm>
            <a:off x="8119872" y="3749040"/>
            <a:ext cx="3200400" cy="256032"/>
          </a:xfrm>
          <a:prstGeom prst="rect">
            <a:avLst/>
          </a:prstGeom>
          <a:noFill/>
          <a:ln w="0">
            <a:noFill/>
          </a:ln>
        </p:spPr>
        <p:txBody>
          <a:bodyPr wrap="square" lIns="0" tIns="0" rIns="0" bIns="0" anchor="ctr">
            <a:noAutofit/>
          </a:bodyPr>
          <a:lstStyle/>
          <a:p>
            <a:pPr marL="0" indent="0" algn="l">
              <a:buNone/>
              <a:defRPr sz="1000" i="0">
                <a:solidFill>
                  <a:srgbClr val="171717"/>
                </a:solidFill>
                <a:latin typeface="Malgun Gothic"/>
                <a:ea typeface="Malgun Gothic"/>
                <a:cs typeface="Malgun Gothic"/>
              </a:defRPr>
            </a:pPr>
            <a:r>
              <a:rPr sz="1000" i="0">
                <a:solidFill>
                  <a:srgbClr val="171717"/>
                </a:solidFill>
                <a:latin typeface="Malgun Gothic"/>
                <a:ea typeface="Malgun Gothic"/>
                <a:cs typeface="Malgun Gothic"/>
              </a:rPr>
              <a:t>출력</a:t>
            </a:r>
            <a:endParaRPr sz="1000"/>
          </a:p>
        </p:txBody>
      </p:sp>
      <p:sp>
        <p:nvSpPr>
          <p:cNvPr id="29" name="Text 23">
            <a:extLst>
              <a:ext uri="{FF2B5EF4-FFF2-40B4-BE49-F238E27FC236}">
                <a16:creationId xmlns:a16="http://schemas.microsoft.com/office/drawing/2014/main" id="{87B5AA98-7632-4992-93A5-CA464856C701}"/>
              </a:ext>
            </a:extLst>
          </p:cNvPr>
          <p:cNvSpPr>
            <a:spLocks noGrp="1"/>
          </p:cNvSpPr>
          <p:nvPr/>
        </p:nvSpPr>
        <p:spPr>
          <a:xfrm>
            <a:off x="8119872" y="4023360"/>
            <a:ext cx="3200400" cy="384048"/>
          </a:xfrm>
          <a:prstGeom prst="rect">
            <a:avLst/>
          </a:prstGeom>
          <a:noFill/>
          <a:ln w="0">
            <a:noFill/>
          </a:ln>
        </p:spPr>
        <p:txBody>
          <a:bodyPr wrap="square" lIns="0" tIns="0" rIns="0" bIns="0" anchor="ctr">
            <a:noAutofit/>
          </a:bodyPr>
          <a:lstStyle/>
          <a:p>
            <a:pPr marL="0" indent="0" algn="l">
              <a:buNone/>
              <a:defRPr sz="1800" i="0">
                <a:solidFill>
                  <a:srgbClr val="171717"/>
                </a:solidFill>
                <a:latin typeface="Consolas"/>
                <a:ea typeface="Consolas"/>
                <a:cs typeface="Consolas"/>
              </a:defRPr>
            </a:pPr>
            <a:r>
              <a:rPr sz="1800" b="1" i="0">
                <a:solidFill>
                  <a:srgbClr val="171717"/>
                </a:solidFill>
                <a:latin typeface="Consolas"/>
                <a:ea typeface="Consolas"/>
                <a:cs typeface="Consolas"/>
              </a:rPr>
              <a:t>4</a:t>
            </a:r>
            <a:endParaRPr sz="1800"/>
          </a:p>
        </p:txBody>
      </p:sp>
      <p:sp>
        <p:nvSpPr>
          <p:cNvPr id="30" name="Text 24">
            <a:extLst>
              <a:ext uri="{FF2B5EF4-FFF2-40B4-BE49-F238E27FC236}">
                <a16:creationId xmlns:a16="http://schemas.microsoft.com/office/drawing/2014/main" id="{9808324F-8C3B-4C8B-B098-C7D813C4EB34}"/>
              </a:ext>
            </a:extLst>
          </p:cNvPr>
          <p:cNvSpPr>
            <a:spLocks noGrp="1"/>
          </p:cNvSpPr>
          <p:nvPr/>
        </p:nvSpPr>
        <p:spPr>
          <a:xfrm>
            <a:off x="8119872" y="4663440"/>
            <a:ext cx="3200400" cy="1188720"/>
          </a:xfrm>
          <a:prstGeom prst="rect">
            <a:avLst/>
          </a:prstGeom>
          <a:noFill/>
          <a:ln w="0">
            <a:noFill/>
          </a:ln>
        </p:spPr>
        <p:txBody>
          <a:bodyPr wrap="square" lIns="0" tIns="0" rIns="0" bIns="0" anchor="t">
            <a:noAutofit/>
          </a:bodyPr>
          <a:lstStyle/>
          <a:p>
            <a:pPr marL="0" indent="0" algn="l">
              <a:lnSpc>
                <a:spcPct val="135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21억 번의 곱셈이</a:t>
            </a:r>
            <a:endParaRPr sz="1150"/>
          </a:p>
          <a:p>
            <a:pPr marL="0" indent="0" algn="l">
              <a:lnSpc>
                <a:spcPct val="135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약 31단계로 줄어든다.</a:t>
            </a:r>
            <a:endParaRPr sz="1150"/>
          </a:p>
          <a:p>
            <a:pPr marL="0" indent="0" algn="l">
              <a:lnSpc>
                <a:spcPct val="135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(log₂ 2,147,483,647 ≈ 31)</a:t>
            </a:r>
            <a:endParaRPr sz="1150"/>
          </a:p>
        </p:txBody>
      </p:sp>
      <p:sp>
        <p:nvSpPr>
          <p:cNvPr id="32" name="직사각형 31">
            <a:extLst>
              <a:ext uri="{FF2B5EF4-FFF2-40B4-BE49-F238E27FC236}">
                <a16:creationId xmlns:a16="http://schemas.microsoft.com/office/drawing/2014/main" id="{71F082B8-545C-4B57-90EC-555073F5BFF0}"/>
              </a:ext>
            </a:extLst>
          </p:cNvPr>
          <p:cNvSpPr>
            <a:spLocks noGrp="1"/>
          </p:cNvSpPr>
          <p:nvPr/>
        </p:nvSpPr>
        <p:spPr>
          <a:xfrm>
            <a:off x="658368" y="2487168"/>
            <a:ext cx="6949440" cy="9525"/>
          </a:xfrm>
          <a:prstGeom prst="rect">
            <a:avLst/>
          </a:prstGeom>
          <a:solidFill>
            <a:srgbClr val="D4D4D4"/>
          </a:solidFill>
          <a:ln w="0">
            <a:noFill/>
          </a:ln>
        </p:spPr>
      </p:sp>
      <p:sp>
        <p:nvSpPr>
          <p:cNvPr id="33" name="직사각형 32">
            <a:extLst>
              <a:ext uri="{FF2B5EF4-FFF2-40B4-BE49-F238E27FC236}">
                <a16:creationId xmlns:a16="http://schemas.microsoft.com/office/drawing/2014/main" id="{ED5F8021-29E6-495C-8D0E-1B69F8AFDE09}"/>
              </a:ext>
            </a:extLst>
          </p:cNvPr>
          <p:cNvSpPr>
            <a:spLocks noGrp="1"/>
          </p:cNvSpPr>
          <p:nvPr/>
        </p:nvSpPr>
        <p:spPr>
          <a:xfrm>
            <a:off x="658368" y="4352544"/>
            <a:ext cx="6949440" cy="9525"/>
          </a:xfrm>
          <a:prstGeom prst="rect">
            <a:avLst/>
          </a:prstGeom>
          <a:solidFill>
            <a:srgbClr val="D4D4D4"/>
          </a:solidFill>
          <a:ln w="0">
            <a:noFill/>
          </a:ln>
        </p:spPr>
      </p:sp>
      <p:sp>
        <p:nvSpPr>
          <p:cNvPr id="34" name="직사각형 33">
            <a:extLst>
              <a:ext uri="{FF2B5EF4-FFF2-40B4-BE49-F238E27FC236}">
                <a16:creationId xmlns:a16="http://schemas.microsoft.com/office/drawing/2014/main" id="{F9B5C347-176C-4A09-9EE7-2BE612078A3C}"/>
              </a:ext>
            </a:extLst>
          </p:cNvPr>
          <p:cNvSpPr>
            <a:spLocks noGrp="1"/>
          </p:cNvSpPr>
          <p:nvPr/>
        </p:nvSpPr>
        <p:spPr>
          <a:xfrm>
            <a:off x="7882128" y="2487168"/>
            <a:ext cx="3648456" cy="9525"/>
          </a:xfrm>
          <a:prstGeom prst="rect">
            <a:avLst/>
          </a:prstGeom>
          <a:solidFill>
            <a:srgbClr val="D4D4D4"/>
          </a:solidFill>
          <a:ln w="0">
            <a:noFill/>
          </a:ln>
        </p:spPr>
      </p:sp>
      <p:sp>
        <p:nvSpPr>
          <p:cNvPr id="35" name="직사각형 34">
            <a:extLst>
              <a:ext uri="{FF2B5EF4-FFF2-40B4-BE49-F238E27FC236}">
                <a16:creationId xmlns:a16="http://schemas.microsoft.com/office/drawing/2014/main" id="{99004801-2DFB-4F32-AAB4-ACB3D5694FED}"/>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CT 4.2  거듭제곱 나머지</a:t>
            </a:r>
          </a:p>
        </p:txBody>
      </p:sp>
      <p:sp>
        <p:nvSpPr>
          <p:cNvPr id="36" name="직사각형 35">
            <a:extLst>
              <a:ext uri="{FF2B5EF4-FFF2-40B4-BE49-F238E27FC236}">
                <a16:creationId xmlns:a16="http://schemas.microsoft.com/office/drawing/2014/main" id="{3A596FBE-888E-404B-81AF-571DD438654B}"/>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7" name="직사각형 36">
            <a:extLst>
              <a:ext uri="{FF2B5EF4-FFF2-40B4-BE49-F238E27FC236}">
                <a16:creationId xmlns:a16="http://schemas.microsoft.com/office/drawing/2014/main" id="{F5EE23AB-EB55-4AE8-8EFE-3B877434A750}"/>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곱셈 — A^B mod C 를 눈 깜짝할 사이에</a:t>
            </a:r>
          </a:p>
        </p:txBody>
      </p:sp>
      <p:sp>
        <p:nvSpPr>
          <p:cNvPr id="38" name="직사각형 37">
            <a:extLst>
              <a:ext uri="{FF2B5EF4-FFF2-40B4-BE49-F238E27FC236}">
                <a16:creationId xmlns:a16="http://schemas.microsoft.com/office/drawing/2014/main" id="{0F207149-FCE6-49B8-9E9D-5D0D0CB1D136}"/>
              </a:ext>
            </a:extLst>
          </p:cNvPr>
          <p:cNvSpPr>
            <a:spLocks noGrp="1"/>
          </p:cNvSpPr>
          <p:nvPr/>
        </p:nvSpPr>
        <p:spPr>
          <a:xfrm>
            <a:off x="609600" y="1381125"/>
            <a:ext cx="10972800" cy="19050"/>
          </a:xfrm>
          <a:prstGeom prst="rect">
            <a:avLst/>
          </a:prstGeom>
          <a:solidFill>
            <a:srgbClr val="171717"/>
          </a:solidFill>
          <a:ln w="0">
            <a:noFill/>
          </a:ln>
        </p:spPr>
      </p:sp>
      <p:sp>
        <p:nvSpPr>
          <p:cNvPr id="39" name="직사각형 38">
            <a:extLst>
              <a:ext uri="{FF2B5EF4-FFF2-40B4-BE49-F238E27FC236}">
                <a16:creationId xmlns:a16="http://schemas.microsoft.com/office/drawing/2014/main" id="{488B3AD0-4A72-4D9E-B1CD-2DAA968C3436}"/>
              </a:ext>
            </a:extLst>
          </p:cNvPr>
          <p:cNvSpPr>
            <a:spLocks noGrp="1"/>
          </p:cNvSpPr>
          <p:nvPr/>
        </p:nvSpPr>
        <p:spPr>
          <a:xfrm>
            <a:off x="609600" y="6438900"/>
            <a:ext cx="10972800" cy="9525"/>
          </a:xfrm>
          <a:prstGeom prst="rect">
            <a:avLst/>
          </a:prstGeom>
          <a:solidFill>
            <a:srgbClr val="D4D4D4"/>
          </a:solidFill>
          <a:ln w="0">
            <a:noFill/>
          </a:ln>
        </p:spPr>
      </p:sp>
      <p:sp>
        <p:nvSpPr>
          <p:cNvPr id="40" name="직사각형 39">
            <a:extLst>
              <a:ext uri="{FF2B5EF4-FFF2-40B4-BE49-F238E27FC236}">
                <a16:creationId xmlns:a16="http://schemas.microsoft.com/office/drawing/2014/main" id="{32753DC9-0CF1-40AB-A394-E52448FC0B9C}"/>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1" name="직사각형 40">
            <a:extLst>
              <a:ext uri="{FF2B5EF4-FFF2-40B4-BE49-F238E27FC236}">
                <a16:creationId xmlns:a16="http://schemas.microsoft.com/office/drawing/2014/main" id="{A5B49D63-F9B9-4087-BF9D-70E12A4E6D47}"/>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128</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0960676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9">
            <a:extLst>
              <a:ext uri="{FF2B5EF4-FFF2-40B4-BE49-F238E27FC236}">
                <a16:creationId xmlns:a16="http://schemas.microsoft.com/office/drawing/2014/main" id="{DE88A6DB-CDCB-47CC-892B-27FFA1BF8495}"/>
              </a:ext>
            </a:extLst>
          </p:cNvPr>
          <p:cNvSpPr>
            <a:spLocks noGrp="1"/>
          </p:cNvSpPr>
          <p:nvPr/>
        </p:nvSpPr>
        <p:spPr>
          <a:xfrm>
            <a:off x="859536" y="1801368"/>
            <a:ext cx="658368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power.py</a:t>
            </a:r>
            <a:endParaRPr sz="900"/>
          </a:p>
        </p:txBody>
      </p:sp>
      <p:sp>
        <p:nvSpPr>
          <p:cNvPr id="20" name="Text 17">
            <a:extLst>
              <a:ext uri="{FF2B5EF4-FFF2-40B4-BE49-F238E27FC236}">
                <a16:creationId xmlns:a16="http://schemas.microsoft.com/office/drawing/2014/main" id="{F2DD3091-49BD-4E1C-8A40-DA8406CA4A77}"/>
              </a:ext>
            </a:extLst>
          </p:cNvPr>
          <p:cNvSpPr>
            <a:spLocks noGrp="1"/>
          </p:cNvSpPr>
          <p:nvPr/>
        </p:nvSpPr>
        <p:spPr>
          <a:xfrm>
            <a:off x="859536" y="4791456"/>
            <a:ext cx="6583680" cy="256032"/>
          </a:xfrm>
          <a:prstGeom prst="rect">
            <a:avLst/>
          </a:prstGeom>
          <a:noFill/>
          <a:ln w="0">
            <a:noFill/>
          </a:ln>
        </p:spPr>
        <p:txBody>
          <a:bodyPr wrap="square" lIns="0" tIns="0" rIns="0" bIns="0" anchor="ctr">
            <a:noAutofit/>
          </a:bodyPr>
          <a:lstStyle/>
          <a:p>
            <a:pPr marL="0" indent="0" algn="l">
              <a:buNone/>
              <a:defRPr sz="1125" i="0">
                <a:solidFill>
                  <a:srgbClr val="171717"/>
                </a:solidFill>
                <a:latin typeface="Consolas"/>
                <a:ea typeface="Consolas"/>
                <a:cs typeface="Consolas"/>
              </a:defRPr>
            </a:pPr>
            <a:r>
              <a:rPr sz="1125" i="0">
                <a:solidFill>
                  <a:srgbClr val="171717"/>
                </a:solidFill>
                <a:latin typeface="Consolas"/>
                <a:ea typeface="Consolas"/>
                <a:cs typeface="Consolas"/>
              </a:rPr>
              <a:t>run.py</a:t>
            </a:r>
            <a:endParaRPr sz="900"/>
          </a:p>
        </p:txBody>
      </p:sp>
      <p:sp>
        <p:nvSpPr>
          <p:cNvPr id="23" name="Text 20">
            <a:extLst>
              <a:ext uri="{FF2B5EF4-FFF2-40B4-BE49-F238E27FC236}">
                <a16:creationId xmlns:a16="http://schemas.microsoft.com/office/drawing/2014/main" id="{7478058A-6C53-4088-B72B-50240BB870B1}"/>
              </a:ext>
            </a:extLst>
          </p:cNvPr>
          <p:cNvSpPr>
            <a:spLocks noGrp="1"/>
          </p:cNvSpPr>
          <p:nvPr/>
        </p:nvSpPr>
        <p:spPr>
          <a:xfrm>
            <a:off x="877824" y="5705856"/>
            <a:ext cx="6492240" cy="457200"/>
          </a:xfrm>
          <a:prstGeom prst="rect">
            <a:avLst/>
          </a:prstGeom>
          <a:noFill/>
          <a:ln w="0">
            <a:noFill/>
          </a:ln>
        </p:spPr>
        <p:txBody>
          <a:bodyPr wrap="square" lIns="0" tIns="0" rIns="0" bIns="0" anchor="ctr">
            <a:noAutofit/>
          </a:bodyPr>
          <a:lstStyle/>
          <a:p>
            <a:pPr marL="0" indent="0" algn="l">
              <a:buNone/>
              <a:defRPr sz="1500" i="0">
                <a:solidFill>
                  <a:srgbClr val="171717"/>
                </a:solidFill>
                <a:latin typeface="Consolas"/>
                <a:ea typeface="Consolas"/>
                <a:cs typeface="Consolas"/>
              </a:defRPr>
            </a:pPr>
            <a:r>
              <a:rPr sz="1500" b="1" i="0">
                <a:solidFill>
                  <a:srgbClr val="171717"/>
                </a:solidFill>
                <a:latin typeface="Consolas"/>
                <a:ea typeface="Consolas"/>
                <a:cs typeface="Consolas"/>
              </a:rPr>
              <a:t>OUTPUT   4</a:t>
            </a:r>
            <a:endParaRPr sz="1150"/>
          </a:p>
        </p:txBody>
      </p:sp>
      <p:sp>
        <p:nvSpPr>
          <p:cNvPr id="25" name="Text 22">
            <a:extLst>
              <a:ext uri="{FF2B5EF4-FFF2-40B4-BE49-F238E27FC236}">
                <a16:creationId xmlns:a16="http://schemas.microsoft.com/office/drawing/2014/main" id="{7954DF9B-F555-4468-AE70-4D5E0B990003}"/>
              </a:ext>
            </a:extLst>
          </p:cNvPr>
          <p:cNvSpPr>
            <a:spLocks noGrp="1"/>
          </p:cNvSpPr>
          <p:nvPr/>
        </p:nvSpPr>
        <p:spPr>
          <a:xfrm>
            <a:off x="7991856" y="1920240"/>
            <a:ext cx="3291840" cy="292608"/>
          </a:xfrm>
          <a:prstGeom prst="rect">
            <a:avLst/>
          </a:prstGeom>
          <a:noFill/>
          <a:ln w="0">
            <a:noFill/>
          </a:ln>
        </p:spPr>
        <p:txBody>
          <a:bodyPr wrap="square" lIns="0" tIns="0" rIns="0" bIns="0" anchor="ctr">
            <a:noAutofit/>
          </a:bodyPr>
          <a:lstStyle/>
          <a:p>
            <a:pPr marL="0" indent="0" algn="l">
              <a:buNone/>
              <a:defRPr sz="1250" i="0">
                <a:solidFill>
                  <a:srgbClr val="171717"/>
                </a:solidFill>
                <a:latin typeface="Malgun Gothic"/>
                <a:ea typeface="Malgun Gothic"/>
                <a:cs typeface="Malgun Gothic"/>
              </a:defRPr>
            </a:pPr>
            <a:r>
              <a:rPr sz="1250" b="1" i="0">
                <a:solidFill>
                  <a:srgbClr val="171717"/>
                </a:solidFill>
                <a:latin typeface="Malgun Gothic"/>
                <a:ea typeface="Malgun Gothic"/>
                <a:cs typeface="Malgun Gothic"/>
              </a:rPr>
              <a:t>재귀 호출 추적</a:t>
            </a:r>
            <a:endParaRPr sz="1250"/>
          </a:p>
        </p:txBody>
      </p:sp>
      <p:sp>
        <p:nvSpPr>
          <p:cNvPr id="26" name="Text 23">
            <a:extLst>
              <a:ext uri="{FF2B5EF4-FFF2-40B4-BE49-F238E27FC236}">
                <a16:creationId xmlns:a16="http://schemas.microsoft.com/office/drawing/2014/main" id="{4E5319C6-0933-4782-92AE-12DD34D515F6}"/>
              </a:ext>
            </a:extLst>
          </p:cNvPr>
          <p:cNvSpPr>
            <a:spLocks noGrp="1"/>
          </p:cNvSpPr>
          <p:nvPr/>
        </p:nvSpPr>
        <p:spPr>
          <a:xfrm>
            <a:off x="7991856" y="2322576"/>
            <a:ext cx="2011680" cy="402336"/>
          </a:xfrm>
          <a:prstGeom prst="rect">
            <a:avLst/>
          </a:prstGeom>
          <a:noFill/>
          <a:ln w="0">
            <a:noFill/>
          </a:ln>
        </p:spPr>
        <p:txBody>
          <a:bodyPr wrap="square" lIns="0" tIns="0" rIns="0" bIns="0" anchor="ctr">
            <a:noAutofit/>
          </a:bodyPr>
          <a:lstStyle/>
          <a:p>
            <a:pPr marL="0" indent="0" algn="l">
              <a:buNone/>
              <a:defRPr sz="950" i="0">
                <a:solidFill>
                  <a:srgbClr val="171717"/>
                </a:solidFill>
                <a:latin typeface="Consolas"/>
                <a:ea typeface="Consolas"/>
                <a:cs typeface="Consolas"/>
              </a:defRPr>
            </a:pPr>
            <a:r>
              <a:rPr sz="950" i="0">
                <a:solidFill>
                  <a:srgbClr val="171717"/>
                </a:solidFill>
                <a:latin typeface="Consolas"/>
                <a:ea typeface="Consolas"/>
                <a:cs typeface="Consolas"/>
              </a:rPr>
              <a:t>power(10, 11, 12)</a:t>
            </a:r>
            <a:endParaRPr sz="950"/>
          </a:p>
        </p:txBody>
      </p:sp>
      <p:sp>
        <p:nvSpPr>
          <p:cNvPr id="27" name="Text 24">
            <a:extLst>
              <a:ext uri="{FF2B5EF4-FFF2-40B4-BE49-F238E27FC236}">
                <a16:creationId xmlns:a16="http://schemas.microsoft.com/office/drawing/2014/main" id="{7315BCC4-A3B6-4914-9B4D-E9A48E538650}"/>
              </a:ext>
            </a:extLst>
          </p:cNvPr>
          <p:cNvSpPr>
            <a:spLocks noGrp="1"/>
          </p:cNvSpPr>
          <p:nvPr/>
        </p:nvSpPr>
        <p:spPr>
          <a:xfrm>
            <a:off x="10058400" y="2322576"/>
            <a:ext cx="1280160" cy="402336"/>
          </a:xfrm>
          <a:prstGeom prst="rect">
            <a:avLst/>
          </a:prstGeom>
          <a:noFill/>
          <a:ln w="0">
            <a:noFill/>
          </a:ln>
        </p:spPr>
        <p:txBody>
          <a:bodyPr wrap="square" lIns="0" tIns="0" rIns="0" bIns="0" anchor="ctr">
            <a:noAutofit/>
          </a:bodyPr>
          <a:lstStyle/>
          <a:p>
            <a:pPr marL="0" indent="0" algn="r">
              <a:buNone/>
              <a:defRPr sz="950" i="0">
                <a:solidFill>
                  <a:srgbClr val="171717"/>
                </a:solidFill>
                <a:latin typeface="Malgun Gothic"/>
                <a:ea typeface="Malgun Gothic"/>
                <a:cs typeface="Malgun Gothic"/>
              </a:defRPr>
            </a:pPr>
            <a:r>
              <a:rPr sz="950" i="0">
                <a:solidFill>
                  <a:srgbClr val="171717"/>
                </a:solidFill>
                <a:latin typeface="Malgun Gothic"/>
                <a:ea typeface="Malgun Gothic"/>
                <a:cs typeface="Malgun Gothic"/>
              </a:rPr>
              <a:t>b = 11 (홀수)</a:t>
            </a:r>
            <a:endParaRPr sz="950"/>
          </a:p>
        </p:txBody>
      </p:sp>
      <p:sp>
        <p:nvSpPr>
          <p:cNvPr id="28" name="Text 25">
            <a:extLst>
              <a:ext uri="{FF2B5EF4-FFF2-40B4-BE49-F238E27FC236}">
                <a16:creationId xmlns:a16="http://schemas.microsoft.com/office/drawing/2014/main" id="{FAC71004-76AD-4371-896F-C286A16DAA5B}"/>
              </a:ext>
            </a:extLst>
          </p:cNvPr>
          <p:cNvSpPr>
            <a:spLocks noGrp="1"/>
          </p:cNvSpPr>
          <p:nvPr/>
        </p:nvSpPr>
        <p:spPr>
          <a:xfrm>
            <a:off x="8083296" y="2798064"/>
            <a:ext cx="2011680" cy="402336"/>
          </a:xfrm>
          <a:prstGeom prst="rect">
            <a:avLst/>
          </a:prstGeom>
          <a:noFill/>
          <a:ln w="0">
            <a:noFill/>
          </a:ln>
        </p:spPr>
        <p:txBody>
          <a:bodyPr wrap="square" lIns="0" tIns="0" rIns="0" bIns="0" anchor="ctr">
            <a:noAutofit/>
          </a:bodyPr>
          <a:lstStyle/>
          <a:p>
            <a:pPr marL="0" indent="0" algn="l">
              <a:buNone/>
              <a:defRPr sz="950" i="0">
                <a:solidFill>
                  <a:srgbClr val="171717"/>
                </a:solidFill>
                <a:latin typeface="Consolas"/>
                <a:ea typeface="Consolas"/>
                <a:cs typeface="Consolas"/>
              </a:defRPr>
            </a:pPr>
            <a:r>
              <a:rPr sz="950" i="0">
                <a:solidFill>
                  <a:srgbClr val="171717"/>
                </a:solidFill>
                <a:latin typeface="Consolas"/>
                <a:ea typeface="Consolas"/>
                <a:cs typeface="Consolas"/>
              </a:rPr>
              <a:t>power(10, 5, 12)</a:t>
            </a:r>
            <a:endParaRPr sz="950"/>
          </a:p>
        </p:txBody>
      </p:sp>
      <p:sp>
        <p:nvSpPr>
          <p:cNvPr id="29" name="Text 26">
            <a:extLst>
              <a:ext uri="{FF2B5EF4-FFF2-40B4-BE49-F238E27FC236}">
                <a16:creationId xmlns:a16="http://schemas.microsoft.com/office/drawing/2014/main" id="{17227B24-062A-468C-8790-D6EC69403FC8}"/>
              </a:ext>
            </a:extLst>
          </p:cNvPr>
          <p:cNvSpPr>
            <a:spLocks noGrp="1"/>
          </p:cNvSpPr>
          <p:nvPr/>
        </p:nvSpPr>
        <p:spPr>
          <a:xfrm>
            <a:off x="10058400" y="2798064"/>
            <a:ext cx="1280160" cy="402336"/>
          </a:xfrm>
          <a:prstGeom prst="rect">
            <a:avLst/>
          </a:prstGeom>
          <a:noFill/>
          <a:ln w="0">
            <a:noFill/>
          </a:ln>
        </p:spPr>
        <p:txBody>
          <a:bodyPr wrap="square" lIns="0" tIns="0" rIns="0" bIns="0" anchor="ctr">
            <a:noAutofit/>
          </a:bodyPr>
          <a:lstStyle/>
          <a:p>
            <a:pPr marL="0" indent="0" algn="r">
              <a:buNone/>
              <a:defRPr sz="950" i="0">
                <a:solidFill>
                  <a:srgbClr val="171717"/>
                </a:solidFill>
                <a:latin typeface="Malgun Gothic"/>
                <a:ea typeface="Malgun Gothic"/>
                <a:cs typeface="Malgun Gothic"/>
              </a:defRPr>
            </a:pPr>
            <a:r>
              <a:rPr sz="950" i="0">
                <a:solidFill>
                  <a:srgbClr val="171717"/>
                </a:solidFill>
                <a:latin typeface="Malgun Gothic"/>
                <a:ea typeface="Malgun Gothic"/>
                <a:cs typeface="Malgun Gothic"/>
              </a:rPr>
              <a:t>b = 5 (홀수)</a:t>
            </a:r>
            <a:endParaRPr sz="950"/>
          </a:p>
        </p:txBody>
      </p:sp>
      <p:sp>
        <p:nvSpPr>
          <p:cNvPr id="30" name="Text 27">
            <a:extLst>
              <a:ext uri="{FF2B5EF4-FFF2-40B4-BE49-F238E27FC236}">
                <a16:creationId xmlns:a16="http://schemas.microsoft.com/office/drawing/2014/main" id="{9BD993C7-52EF-4F1A-8CB3-DB7D2E8AEBEA}"/>
              </a:ext>
            </a:extLst>
          </p:cNvPr>
          <p:cNvSpPr>
            <a:spLocks noGrp="1"/>
          </p:cNvSpPr>
          <p:nvPr/>
        </p:nvSpPr>
        <p:spPr>
          <a:xfrm>
            <a:off x="8174736" y="3273552"/>
            <a:ext cx="2011680" cy="402336"/>
          </a:xfrm>
          <a:prstGeom prst="rect">
            <a:avLst/>
          </a:prstGeom>
          <a:noFill/>
          <a:ln w="0">
            <a:noFill/>
          </a:ln>
        </p:spPr>
        <p:txBody>
          <a:bodyPr wrap="square" lIns="0" tIns="0" rIns="0" bIns="0" anchor="ctr">
            <a:noAutofit/>
          </a:bodyPr>
          <a:lstStyle/>
          <a:p>
            <a:pPr marL="0" indent="0" algn="l">
              <a:buNone/>
              <a:defRPr sz="950" i="0">
                <a:solidFill>
                  <a:srgbClr val="171717"/>
                </a:solidFill>
                <a:latin typeface="Consolas"/>
                <a:ea typeface="Consolas"/>
                <a:cs typeface="Consolas"/>
              </a:defRPr>
            </a:pPr>
            <a:r>
              <a:rPr sz="950" i="0">
                <a:solidFill>
                  <a:srgbClr val="171717"/>
                </a:solidFill>
                <a:latin typeface="Consolas"/>
                <a:ea typeface="Consolas"/>
                <a:cs typeface="Consolas"/>
              </a:rPr>
              <a:t>power(10, 2, 12)</a:t>
            </a:r>
            <a:endParaRPr sz="950"/>
          </a:p>
        </p:txBody>
      </p:sp>
      <p:sp>
        <p:nvSpPr>
          <p:cNvPr id="31" name="Text 28">
            <a:extLst>
              <a:ext uri="{FF2B5EF4-FFF2-40B4-BE49-F238E27FC236}">
                <a16:creationId xmlns:a16="http://schemas.microsoft.com/office/drawing/2014/main" id="{AA56D71D-987B-49BA-973A-E270619F3E8A}"/>
              </a:ext>
            </a:extLst>
          </p:cNvPr>
          <p:cNvSpPr>
            <a:spLocks noGrp="1"/>
          </p:cNvSpPr>
          <p:nvPr/>
        </p:nvSpPr>
        <p:spPr>
          <a:xfrm>
            <a:off x="10058400" y="3273552"/>
            <a:ext cx="1280160" cy="402336"/>
          </a:xfrm>
          <a:prstGeom prst="rect">
            <a:avLst/>
          </a:prstGeom>
          <a:noFill/>
          <a:ln w="0">
            <a:noFill/>
          </a:ln>
        </p:spPr>
        <p:txBody>
          <a:bodyPr wrap="square" lIns="0" tIns="0" rIns="0" bIns="0" anchor="ctr">
            <a:noAutofit/>
          </a:bodyPr>
          <a:lstStyle/>
          <a:p>
            <a:pPr marL="0" indent="0" algn="r">
              <a:buNone/>
              <a:defRPr sz="950" i="0">
                <a:solidFill>
                  <a:srgbClr val="171717"/>
                </a:solidFill>
                <a:latin typeface="Malgun Gothic"/>
                <a:ea typeface="Malgun Gothic"/>
                <a:cs typeface="Malgun Gothic"/>
              </a:defRPr>
            </a:pPr>
            <a:r>
              <a:rPr sz="950" i="0">
                <a:solidFill>
                  <a:srgbClr val="171717"/>
                </a:solidFill>
                <a:latin typeface="Malgun Gothic"/>
                <a:ea typeface="Malgun Gothic"/>
                <a:cs typeface="Malgun Gothic"/>
              </a:rPr>
              <a:t>b = 2 (짝수)</a:t>
            </a:r>
            <a:endParaRPr sz="950"/>
          </a:p>
        </p:txBody>
      </p:sp>
      <p:sp>
        <p:nvSpPr>
          <p:cNvPr id="32" name="Text 29">
            <a:extLst>
              <a:ext uri="{FF2B5EF4-FFF2-40B4-BE49-F238E27FC236}">
                <a16:creationId xmlns:a16="http://schemas.microsoft.com/office/drawing/2014/main" id="{4D651DF1-5CDB-4C54-94BC-A0E83D781987}"/>
              </a:ext>
            </a:extLst>
          </p:cNvPr>
          <p:cNvSpPr>
            <a:spLocks noGrp="1"/>
          </p:cNvSpPr>
          <p:nvPr/>
        </p:nvSpPr>
        <p:spPr>
          <a:xfrm>
            <a:off x="8266176" y="3749040"/>
            <a:ext cx="2011680" cy="402336"/>
          </a:xfrm>
          <a:prstGeom prst="rect">
            <a:avLst/>
          </a:prstGeom>
          <a:noFill/>
          <a:ln w="0">
            <a:noFill/>
          </a:ln>
        </p:spPr>
        <p:txBody>
          <a:bodyPr wrap="square" lIns="0" tIns="0" rIns="0" bIns="0" anchor="ctr">
            <a:noAutofit/>
          </a:bodyPr>
          <a:lstStyle/>
          <a:p>
            <a:pPr marL="0" indent="0" algn="l">
              <a:buNone/>
              <a:defRPr sz="950" i="0">
                <a:solidFill>
                  <a:srgbClr val="171717"/>
                </a:solidFill>
                <a:latin typeface="Consolas"/>
                <a:ea typeface="Consolas"/>
                <a:cs typeface="Consolas"/>
              </a:defRPr>
            </a:pPr>
            <a:r>
              <a:rPr sz="950" i="0">
                <a:solidFill>
                  <a:srgbClr val="171717"/>
                </a:solidFill>
                <a:latin typeface="Consolas"/>
                <a:ea typeface="Consolas"/>
                <a:cs typeface="Consolas"/>
              </a:rPr>
              <a:t>power(10, 1, 12)</a:t>
            </a:r>
            <a:endParaRPr sz="950"/>
          </a:p>
        </p:txBody>
      </p:sp>
      <p:sp>
        <p:nvSpPr>
          <p:cNvPr id="33" name="Text 30">
            <a:extLst>
              <a:ext uri="{FF2B5EF4-FFF2-40B4-BE49-F238E27FC236}">
                <a16:creationId xmlns:a16="http://schemas.microsoft.com/office/drawing/2014/main" id="{46AF8CC7-31B6-47E4-B8C5-88AC3F0B7F5F}"/>
              </a:ext>
            </a:extLst>
          </p:cNvPr>
          <p:cNvSpPr>
            <a:spLocks noGrp="1"/>
          </p:cNvSpPr>
          <p:nvPr/>
        </p:nvSpPr>
        <p:spPr>
          <a:xfrm>
            <a:off x="10058400" y="3749040"/>
            <a:ext cx="1280160" cy="402336"/>
          </a:xfrm>
          <a:prstGeom prst="rect">
            <a:avLst/>
          </a:prstGeom>
          <a:noFill/>
          <a:ln w="0">
            <a:noFill/>
          </a:ln>
        </p:spPr>
        <p:txBody>
          <a:bodyPr wrap="square" lIns="0" tIns="0" rIns="0" bIns="0" anchor="ctr">
            <a:noAutofit/>
          </a:bodyPr>
          <a:lstStyle/>
          <a:p>
            <a:pPr marL="0" indent="0" algn="r">
              <a:buNone/>
              <a:defRPr sz="950" i="0">
                <a:solidFill>
                  <a:srgbClr val="171717"/>
                </a:solidFill>
                <a:latin typeface="Malgun Gothic"/>
                <a:ea typeface="Malgun Gothic"/>
                <a:cs typeface="Malgun Gothic"/>
              </a:defRPr>
            </a:pPr>
            <a:r>
              <a:rPr sz="950" i="0">
                <a:solidFill>
                  <a:srgbClr val="171717"/>
                </a:solidFill>
                <a:latin typeface="Malgun Gothic"/>
                <a:ea typeface="Malgun Gothic"/>
                <a:cs typeface="Malgun Gothic"/>
              </a:rPr>
              <a:t>b = 1 (홀수)</a:t>
            </a:r>
            <a:endParaRPr sz="950"/>
          </a:p>
        </p:txBody>
      </p:sp>
      <p:sp>
        <p:nvSpPr>
          <p:cNvPr id="34" name="Text 31">
            <a:extLst>
              <a:ext uri="{FF2B5EF4-FFF2-40B4-BE49-F238E27FC236}">
                <a16:creationId xmlns:a16="http://schemas.microsoft.com/office/drawing/2014/main" id="{106F1B88-E18E-4D2A-86C8-C9526158C901}"/>
              </a:ext>
            </a:extLst>
          </p:cNvPr>
          <p:cNvSpPr>
            <a:spLocks noGrp="1"/>
          </p:cNvSpPr>
          <p:nvPr/>
        </p:nvSpPr>
        <p:spPr>
          <a:xfrm>
            <a:off x="8357616" y="4224528"/>
            <a:ext cx="2011680" cy="402336"/>
          </a:xfrm>
          <a:prstGeom prst="rect">
            <a:avLst/>
          </a:prstGeom>
          <a:noFill/>
          <a:ln w="0">
            <a:noFill/>
          </a:ln>
        </p:spPr>
        <p:txBody>
          <a:bodyPr wrap="square" lIns="0" tIns="0" rIns="0" bIns="0" anchor="ctr">
            <a:noAutofit/>
          </a:bodyPr>
          <a:lstStyle/>
          <a:p>
            <a:pPr marL="0" indent="0" algn="l">
              <a:buNone/>
              <a:defRPr sz="950" i="0">
                <a:solidFill>
                  <a:srgbClr val="171717"/>
                </a:solidFill>
                <a:latin typeface="Consolas"/>
                <a:ea typeface="Consolas"/>
                <a:cs typeface="Consolas"/>
              </a:defRPr>
            </a:pPr>
            <a:r>
              <a:rPr sz="950" i="0">
                <a:solidFill>
                  <a:srgbClr val="171717"/>
                </a:solidFill>
                <a:latin typeface="Consolas"/>
                <a:ea typeface="Consolas"/>
                <a:cs typeface="Consolas"/>
              </a:rPr>
              <a:t>power(10, 0, 12)</a:t>
            </a:r>
            <a:endParaRPr sz="950"/>
          </a:p>
        </p:txBody>
      </p:sp>
      <p:sp>
        <p:nvSpPr>
          <p:cNvPr id="35" name="Text 32">
            <a:extLst>
              <a:ext uri="{FF2B5EF4-FFF2-40B4-BE49-F238E27FC236}">
                <a16:creationId xmlns:a16="http://schemas.microsoft.com/office/drawing/2014/main" id="{D8AEA508-C6C3-45ED-9DAE-0E761E4D8319}"/>
              </a:ext>
            </a:extLst>
          </p:cNvPr>
          <p:cNvSpPr>
            <a:spLocks noGrp="1"/>
          </p:cNvSpPr>
          <p:nvPr/>
        </p:nvSpPr>
        <p:spPr>
          <a:xfrm>
            <a:off x="10058400" y="4224528"/>
            <a:ext cx="1280160" cy="402336"/>
          </a:xfrm>
          <a:prstGeom prst="rect">
            <a:avLst/>
          </a:prstGeom>
          <a:noFill/>
          <a:ln w="0">
            <a:noFill/>
          </a:ln>
        </p:spPr>
        <p:txBody>
          <a:bodyPr wrap="square" lIns="0" tIns="0" rIns="0" bIns="0" anchor="ctr">
            <a:noAutofit/>
          </a:bodyPr>
          <a:lstStyle/>
          <a:p>
            <a:pPr marL="0" indent="0" algn="r">
              <a:buNone/>
              <a:defRPr sz="950" i="0">
                <a:solidFill>
                  <a:srgbClr val="171717"/>
                </a:solidFill>
                <a:latin typeface="Malgun Gothic"/>
                <a:ea typeface="Malgun Gothic"/>
                <a:cs typeface="Malgun Gothic"/>
              </a:defRPr>
            </a:pPr>
            <a:r>
              <a:rPr sz="950" i="0">
                <a:solidFill>
                  <a:srgbClr val="171717"/>
                </a:solidFill>
                <a:latin typeface="Malgun Gothic"/>
                <a:ea typeface="Malgun Gothic"/>
                <a:cs typeface="Malgun Gothic"/>
              </a:rPr>
              <a:t>return 1 % c</a:t>
            </a:r>
            <a:endParaRPr sz="950"/>
          </a:p>
        </p:txBody>
      </p:sp>
      <p:sp>
        <p:nvSpPr>
          <p:cNvPr id="39" name="Text 35">
            <a:extLst>
              <a:ext uri="{FF2B5EF4-FFF2-40B4-BE49-F238E27FC236}">
                <a16:creationId xmlns:a16="http://schemas.microsoft.com/office/drawing/2014/main" id="{A0CAB43F-9DFD-416A-ADCF-4726D3D1C1CD}"/>
              </a:ext>
            </a:extLst>
          </p:cNvPr>
          <p:cNvSpPr>
            <a:spLocks noGrp="1"/>
          </p:cNvSpPr>
          <p:nvPr/>
        </p:nvSpPr>
        <p:spPr>
          <a:xfrm>
            <a:off x="8631936" y="5175504"/>
            <a:ext cx="2642616" cy="292608"/>
          </a:xfrm>
          <a:prstGeom prst="rect">
            <a:avLst/>
          </a:prstGeom>
          <a:noFill/>
          <a:ln w="0">
            <a:noFill/>
          </a:ln>
        </p:spPr>
        <p:txBody>
          <a:bodyPr wrap="square" lIns="0" tIns="0" rIns="0" bIns="0" anchor="ctr">
            <a:noAutofit/>
          </a:bodyPr>
          <a:lstStyle/>
          <a:p>
            <a:pPr marL="0" indent="0" algn="l">
              <a:buNone/>
              <a:defRPr sz="1230" i="0">
                <a:solidFill>
                  <a:srgbClr val="171717"/>
                </a:solidFill>
                <a:latin typeface="Malgun Gothic"/>
                <a:ea typeface="Malgun Gothic"/>
                <a:cs typeface="Malgun Gothic"/>
              </a:defRPr>
            </a:pPr>
            <a:r>
              <a:rPr sz="1230" b="1" i="0">
                <a:solidFill>
                  <a:srgbClr val="171717"/>
                </a:solidFill>
                <a:latin typeface="Malgun Gothic"/>
                <a:ea typeface="Malgun Gothic"/>
                <a:cs typeface="Malgun Gothic"/>
              </a:rPr>
              <a:t>깊이는 log₂B</a:t>
            </a:r>
            <a:endParaRPr sz="1230"/>
          </a:p>
        </p:txBody>
      </p:sp>
      <p:sp>
        <p:nvSpPr>
          <p:cNvPr id="40" name="Text 36">
            <a:extLst>
              <a:ext uri="{FF2B5EF4-FFF2-40B4-BE49-F238E27FC236}">
                <a16:creationId xmlns:a16="http://schemas.microsoft.com/office/drawing/2014/main" id="{4130B265-A606-4BC1-B6AE-59812F685CBB}"/>
              </a:ext>
            </a:extLst>
          </p:cNvPr>
          <p:cNvSpPr>
            <a:spLocks noGrp="1"/>
          </p:cNvSpPr>
          <p:nvPr/>
        </p:nvSpPr>
        <p:spPr>
          <a:xfrm>
            <a:off x="8631936" y="5522976"/>
            <a:ext cx="2642616" cy="438912"/>
          </a:xfrm>
          <a:prstGeom prst="rect">
            <a:avLst/>
          </a:prstGeom>
          <a:noFill/>
          <a:ln w="0">
            <a:noFill/>
          </a:ln>
        </p:spPr>
        <p:txBody>
          <a:bodyPr wrap="square" lIns="0" tIns="0" rIns="0" bIns="0" anchor="t">
            <a:noAutofit/>
          </a:bodyPr>
          <a:lstStyle/>
          <a:p>
            <a:pPr marL="0" indent="0" algn="l">
              <a:lnSpc>
                <a:spcPct val="132000"/>
              </a:lnSpc>
              <a:buNone/>
              <a:defRPr sz="1100" i="0">
                <a:solidFill>
                  <a:srgbClr val="171717"/>
                </a:solidFill>
                <a:latin typeface="Malgun Gothic"/>
                <a:ea typeface="Malgun Gothic"/>
                <a:cs typeface="Malgun Gothic"/>
              </a:defRPr>
            </a:pPr>
            <a:r>
              <a:rPr sz="1100" i="0">
                <a:solidFill>
                  <a:srgbClr val="171717"/>
                </a:solidFill>
                <a:latin typeface="Malgun Gothic"/>
                <a:ea typeface="Malgun Gothic"/>
                <a:cs typeface="Malgun Gothic"/>
              </a:rPr>
              <a:t>B = 21억이어도 재귀 깊이는 31에 불과하다.</a:t>
            </a:r>
            <a:endParaRPr sz="1100"/>
          </a:p>
        </p:txBody>
      </p:sp>
      <p:sp>
        <p:nvSpPr>
          <p:cNvPr id="42" name="직사각형 41">
            <a:extLst>
              <a:ext uri="{FF2B5EF4-FFF2-40B4-BE49-F238E27FC236}">
                <a16:creationId xmlns:a16="http://schemas.microsoft.com/office/drawing/2014/main" id="{6AFD1682-CFA7-4878-9E75-6D7799D66E61}"/>
              </a:ext>
            </a:extLst>
          </p:cNvPr>
          <p:cNvSpPr>
            <a:spLocks noGrp="1"/>
          </p:cNvSpPr>
          <p:nvPr/>
        </p:nvSpPr>
        <p:spPr>
          <a:xfrm>
            <a:off x="7772400" y="1783080"/>
            <a:ext cx="3758184" cy="9525"/>
          </a:xfrm>
          <a:prstGeom prst="rect">
            <a:avLst/>
          </a:prstGeom>
          <a:solidFill>
            <a:srgbClr val="D4D4D4"/>
          </a:solidFill>
          <a:ln w="0">
            <a:noFill/>
          </a:ln>
        </p:spPr>
      </p:sp>
      <p:sp>
        <p:nvSpPr>
          <p:cNvPr id="43" name="직사각형 42">
            <a:extLst>
              <a:ext uri="{FF2B5EF4-FFF2-40B4-BE49-F238E27FC236}">
                <a16:creationId xmlns:a16="http://schemas.microsoft.com/office/drawing/2014/main" id="{61DF7044-74C6-41B7-9147-14572C6B3BF4}"/>
              </a:ext>
            </a:extLst>
          </p:cNvPr>
          <p:cNvSpPr>
            <a:spLocks noGrp="1"/>
          </p:cNvSpPr>
          <p:nvPr/>
        </p:nvSpPr>
        <p:spPr>
          <a:xfrm>
            <a:off x="7772400" y="4992624"/>
            <a:ext cx="3758184" cy="9525"/>
          </a:xfrm>
          <a:prstGeom prst="rect">
            <a:avLst/>
          </a:prstGeom>
          <a:solidFill>
            <a:srgbClr val="D4D4D4"/>
          </a:solidFill>
          <a:ln w="0">
            <a:noFill/>
          </a:ln>
        </p:spPr>
      </p:sp>
      <p:sp>
        <p:nvSpPr>
          <p:cNvPr id="44" name="직사각형 43">
            <a:extLst>
              <a:ext uri="{FF2B5EF4-FFF2-40B4-BE49-F238E27FC236}">
                <a16:creationId xmlns:a16="http://schemas.microsoft.com/office/drawing/2014/main" id="{35ABB5AF-615A-4FF9-B9C8-5E400F50838C}"/>
              </a:ext>
            </a:extLst>
          </p:cNvPr>
          <p:cNvSpPr>
            <a:spLocks noGrp="1"/>
          </p:cNvSpPr>
          <p:nvPr/>
        </p:nvSpPr>
        <p:spPr>
          <a:xfrm>
            <a:off x="698373" y="2090928"/>
            <a:ext cx="6924294" cy="2540508"/>
          </a:xfrm>
          <a:prstGeom prst="rect">
            <a:avLst/>
          </a:prstGeom>
          <a:solidFill>
            <a:srgbClr val="171717"/>
          </a:solidFill>
          <a:ln w="0">
            <a:noFill/>
          </a:ln>
        </p:spPr>
        <p:txBody>
          <a:bodyPr wrap="none" lIns="142875" tIns="76200" rIns="142875" bIns="762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power(a, b, c):</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b == 0:</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1 % c</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half = power(a, b // 2, c)</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 = (half * half) % c</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b % 2 == 1:</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 = (result * a) % c</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result</a:t>
            </a:r>
          </a:p>
        </p:txBody>
      </p:sp>
      <p:sp>
        <p:nvSpPr>
          <p:cNvPr id="45" name="직사각형 44">
            <a:extLst>
              <a:ext uri="{FF2B5EF4-FFF2-40B4-BE49-F238E27FC236}">
                <a16:creationId xmlns:a16="http://schemas.microsoft.com/office/drawing/2014/main" id="{BC22A021-F005-4B9B-BABA-246AC7118D13}"/>
              </a:ext>
            </a:extLst>
          </p:cNvPr>
          <p:cNvSpPr>
            <a:spLocks noGrp="1"/>
          </p:cNvSpPr>
          <p:nvPr/>
        </p:nvSpPr>
        <p:spPr>
          <a:xfrm>
            <a:off x="698373" y="5081016"/>
            <a:ext cx="6924294" cy="483108"/>
          </a:xfrm>
          <a:prstGeom prst="rect">
            <a:avLst/>
          </a:prstGeom>
          <a:solidFill>
            <a:srgbClr val="171717"/>
          </a:solidFill>
          <a:ln w="0">
            <a:noFill/>
          </a:ln>
        </p:spPr>
        <p:txBody>
          <a:bodyPr wrap="none" lIns="142875" tIns="76200" rIns="142875" bIns="76200" anchor="t">
            <a:noAutofit/>
          </a:bodyPr>
          <a:lstStyle/>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A, B, C = map(int, "10 11 12".split())</a:t>
            </a:r>
          </a:p>
          <a:p>
            <a:pPr algn="l">
              <a:lnSpc>
                <a:spcPct val="103000"/>
              </a:lnSpc>
              <a:buNone/>
              <a:defRPr sz="900" b="0" i="0">
                <a:solidFill>
                  <a:srgbClr val="FFFFFF"/>
                </a:solidFill>
                <a:latin typeface="Consolas"/>
                <a:ea typeface="Consolas"/>
                <a:cs typeface="Consolas"/>
              </a:defRPr>
            </a:pPr>
            <a:r>
              <a:rPr sz="900" b="0" i="0">
                <a:solidFill>
                  <a:srgbClr val="FFFFFF"/>
                </a:solidFill>
                <a:latin typeface="Consolas"/>
                <a:ea typeface="Consolas"/>
                <a:cs typeface="Consolas"/>
              </a:rPr>
              <a:t>print(power(A, B, C))</a:t>
            </a:r>
          </a:p>
        </p:txBody>
      </p:sp>
      <p:sp>
        <p:nvSpPr>
          <p:cNvPr id="46" name="직사각형 45">
            <a:extLst>
              <a:ext uri="{FF2B5EF4-FFF2-40B4-BE49-F238E27FC236}">
                <a16:creationId xmlns:a16="http://schemas.microsoft.com/office/drawing/2014/main" id="{260286FA-C163-4929-8115-549AD850CAF5}"/>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CT 4.2  거듭제곱 나머지</a:t>
            </a:r>
          </a:p>
        </p:txBody>
      </p:sp>
      <p:sp>
        <p:nvSpPr>
          <p:cNvPr id="47" name="직사각형 46">
            <a:extLst>
              <a:ext uri="{FF2B5EF4-FFF2-40B4-BE49-F238E27FC236}">
                <a16:creationId xmlns:a16="http://schemas.microsoft.com/office/drawing/2014/main" id="{DFA8691D-F15C-4A82-959D-6EC92FB48605}"/>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8" name="직사각형 47">
            <a:extLst>
              <a:ext uri="{FF2B5EF4-FFF2-40B4-BE49-F238E27FC236}">
                <a16:creationId xmlns:a16="http://schemas.microsoft.com/office/drawing/2014/main" id="{1B64A30F-939B-4EB4-95E0-D8F134A62B31}"/>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풀이 — 분할 정복 거듭제곱 (fast power)</a:t>
            </a:r>
          </a:p>
        </p:txBody>
      </p:sp>
      <p:sp>
        <p:nvSpPr>
          <p:cNvPr id="49" name="직사각형 48">
            <a:extLst>
              <a:ext uri="{FF2B5EF4-FFF2-40B4-BE49-F238E27FC236}">
                <a16:creationId xmlns:a16="http://schemas.microsoft.com/office/drawing/2014/main" id="{6751B991-E737-4FD3-82DF-CD6F4C05AB2F}"/>
              </a:ext>
            </a:extLst>
          </p:cNvPr>
          <p:cNvSpPr>
            <a:spLocks noGrp="1"/>
          </p:cNvSpPr>
          <p:nvPr/>
        </p:nvSpPr>
        <p:spPr>
          <a:xfrm>
            <a:off x="609600" y="1381125"/>
            <a:ext cx="10972800" cy="19050"/>
          </a:xfrm>
          <a:prstGeom prst="rect">
            <a:avLst/>
          </a:prstGeom>
          <a:solidFill>
            <a:srgbClr val="171717"/>
          </a:solidFill>
          <a:ln w="0">
            <a:noFill/>
          </a:ln>
        </p:spPr>
      </p:sp>
      <p:sp>
        <p:nvSpPr>
          <p:cNvPr id="50" name="직사각형 49">
            <a:extLst>
              <a:ext uri="{FF2B5EF4-FFF2-40B4-BE49-F238E27FC236}">
                <a16:creationId xmlns:a16="http://schemas.microsoft.com/office/drawing/2014/main" id="{0FD286E3-72FA-4280-81FF-3B805E1245F1}"/>
              </a:ext>
            </a:extLst>
          </p:cNvPr>
          <p:cNvSpPr>
            <a:spLocks noGrp="1"/>
          </p:cNvSpPr>
          <p:nvPr/>
        </p:nvSpPr>
        <p:spPr>
          <a:xfrm>
            <a:off x="609600" y="6438900"/>
            <a:ext cx="10972800" cy="9525"/>
          </a:xfrm>
          <a:prstGeom prst="rect">
            <a:avLst/>
          </a:prstGeom>
          <a:solidFill>
            <a:srgbClr val="D4D4D4"/>
          </a:solidFill>
          <a:ln w="0">
            <a:noFill/>
          </a:ln>
        </p:spPr>
      </p:sp>
      <p:sp>
        <p:nvSpPr>
          <p:cNvPr id="51" name="직사각형 50">
            <a:extLst>
              <a:ext uri="{FF2B5EF4-FFF2-40B4-BE49-F238E27FC236}">
                <a16:creationId xmlns:a16="http://schemas.microsoft.com/office/drawing/2014/main" id="{2A15438D-59B2-4D41-AF37-8580C16919C1}"/>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52" name="직사각형 51">
            <a:extLst>
              <a:ext uri="{FF2B5EF4-FFF2-40B4-BE49-F238E27FC236}">
                <a16:creationId xmlns:a16="http://schemas.microsoft.com/office/drawing/2014/main" id="{11BC3EB4-0559-403E-ADE4-B9DE76348A71}"/>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129</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1117809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 4">
            <a:extLst>
              <a:ext uri="{FF2B5EF4-FFF2-40B4-BE49-F238E27FC236}">
                <a16:creationId xmlns:a16="http://schemas.microsoft.com/office/drawing/2014/main" id="{FA246FCA-AD43-4F77-9C04-EC68DD4A6B5C}"/>
              </a:ext>
            </a:extLst>
          </p:cNvPr>
          <p:cNvSpPr>
            <a:spLocks noGrp="1"/>
          </p:cNvSpPr>
          <p:nvPr/>
        </p:nvSpPr>
        <p:spPr>
          <a:xfrm>
            <a:off x="1517904" y="1920240"/>
            <a:ext cx="4133088" cy="310896"/>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분할 정복의 3단계</a:t>
            </a:r>
            <a:endParaRPr sz="1400"/>
          </a:p>
        </p:txBody>
      </p:sp>
      <p:sp>
        <p:nvSpPr>
          <p:cNvPr id="8" name="Text 5">
            <a:extLst>
              <a:ext uri="{FF2B5EF4-FFF2-40B4-BE49-F238E27FC236}">
                <a16:creationId xmlns:a16="http://schemas.microsoft.com/office/drawing/2014/main" id="{06BFC15F-36A0-46A6-82E6-8B24CEB56257}"/>
              </a:ext>
            </a:extLst>
          </p:cNvPr>
          <p:cNvSpPr>
            <a:spLocks noGrp="1"/>
          </p:cNvSpPr>
          <p:nvPr/>
        </p:nvSpPr>
        <p:spPr>
          <a:xfrm>
            <a:off x="1517904" y="2304288"/>
            <a:ext cx="4133088" cy="603504"/>
          </a:xfrm>
          <a:prstGeom prst="rect">
            <a:avLst/>
          </a:prstGeom>
          <a:noFill/>
          <a:ln w="0">
            <a:noFill/>
          </a:ln>
        </p:spPr>
        <p:txBody>
          <a:bodyPr wrap="square" lIns="0" tIns="0" rIns="0" bIns="0" anchor="t">
            <a:noAutofit/>
          </a:bodyPr>
          <a:lstStyle/>
          <a:p>
            <a:pPr marL="0" indent="0" algn="l">
              <a:lnSpc>
                <a:spcPct val="124000"/>
              </a:lnSpc>
              <a:buNone/>
              <a:defRPr sz="1140" i="0">
                <a:solidFill>
                  <a:srgbClr val="606060"/>
                </a:solidFill>
                <a:latin typeface="Malgun Gothic"/>
                <a:ea typeface="Malgun Gothic"/>
                <a:cs typeface="Malgun Gothic"/>
              </a:defRPr>
            </a:pPr>
            <a:r>
              <a:rPr sz="1140" i="0">
                <a:solidFill>
                  <a:srgbClr val="606060"/>
                </a:solidFill>
                <a:latin typeface="Malgun Gothic"/>
                <a:ea typeface="Malgun Gothic"/>
                <a:cs typeface="Malgun Gothic"/>
              </a:rPr>
              <a:t>분할(divide) → 정복(conquer) → 결합(combine). 기저 사례에 도달할 때까지 재귀적으로 나눈다.</a:t>
            </a:r>
            <a:endParaRPr sz="1140"/>
          </a:p>
        </p:txBody>
      </p:sp>
      <p:sp>
        <p:nvSpPr>
          <p:cNvPr id="12" name="Text 8">
            <a:extLst>
              <a:ext uri="{FF2B5EF4-FFF2-40B4-BE49-F238E27FC236}">
                <a16:creationId xmlns:a16="http://schemas.microsoft.com/office/drawing/2014/main" id="{69E7190E-1090-4E5C-84AA-F8F1F2F77C3B}"/>
              </a:ext>
            </a:extLst>
          </p:cNvPr>
          <p:cNvSpPr>
            <a:spLocks noGrp="1"/>
          </p:cNvSpPr>
          <p:nvPr/>
        </p:nvSpPr>
        <p:spPr>
          <a:xfrm>
            <a:off x="7159752" y="1920240"/>
            <a:ext cx="4133088" cy="310896"/>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결합이 알고리즘의 핵심</a:t>
            </a:r>
            <a:endParaRPr sz="1400"/>
          </a:p>
        </p:txBody>
      </p:sp>
      <p:sp>
        <p:nvSpPr>
          <p:cNvPr id="13" name="Text 9">
            <a:extLst>
              <a:ext uri="{FF2B5EF4-FFF2-40B4-BE49-F238E27FC236}">
                <a16:creationId xmlns:a16="http://schemas.microsoft.com/office/drawing/2014/main" id="{BC4807D4-098F-40A3-A174-B21F9AB4F44D}"/>
              </a:ext>
            </a:extLst>
          </p:cNvPr>
          <p:cNvSpPr>
            <a:spLocks noGrp="1"/>
          </p:cNvSpPr>
          <p:nvPr/>
        </p:nvSpPr>
        <p:spPr>
          <a:xfrm>
            <a:off x="7159752" y="2304288"/>
            <a:ext cx="4133088" cy="603504"/>
          </a:xfrm>
          <a:prstGeom prst="rect">
            <a:avLst/>
          </a:prstGeom>
          <a:noFill/>
          <a:ln w="0">
            <a:noFill/>
          </a:ln>
        </p:spPr>
        <p:txBody>
          <a:bodyPr wrap="square" lIns="0" tIns="0" rIns="0" bIns="0" anchor="t">
            <a:noAutofit/>
          </a:bodyPr>
          <a:lstStyle/>
          <a:p>
            <a:pPr marL="0" indent="0" algn="l">
              <a:lnSpc>
                <a:spcPct val="124000"/>
              </a:lnSpc>
              <a:buNone/>
              <a:defRPr sz="1140" i="0">
                <a:solidFill>
                  <a:srgbClr val="171717"/>
                </a:solidFill>
                <a:latin typeface="Malgun Gothic"/>
                <a:ea typeface="Malgun Gothic"/>
                <a:cs typeface="Malgun Gothic"/>
              </a:defRPr>
            </a:pPr>
            <a:r>
              <a:rPr lang="ko-KR" altLang="en-US" sz="1140" i="0">
                <a:solidFill>
                  <a:srgbClr val="171717"/>
                </a:solidFill>
                <a:latin typeface="Malgun Gothic"/>
                <a:ea typeface="Malgun Gothic"/>
                <a:cs typeface="Malgun Gothic"/>
              </a:rPr>
              <a:t>병합</a:t>
            </a:r>
            <a:r>
              <a:rPr sz="1140" i="0">
                <a:solidFill>
                  <a:srgbClr val="171717"/>
                </a:solidFill>
                <a:latin typeface="Malgun Gothic"/>
                <a:ea typeface="Malgun Gothic"/>
                <a:cs typeface="Malgun Gothic"/>
              </a:rPr>
              <a:t> 정렬은 나누기가 쉽고 합치기가 어렵다. 반대로 퀵 정렬은 나누기가 어렵고 합치기가 쉽다.</a:t>
            </a:r>
            <a:endParaRPr sz="1140"/>
          </a:p>
        </p:txBody>
      </p:sp>
      <p:sp>
        <p:nvSpPr>
          <p:cNvPr id="17" name="Text 12">
            <a:extLst>
              <a:ext uri="{FF2B5EF4-FFF2-40B4-BE49-F238E27FC236}">
                <a16:creationId xmlns:a16="http://schemas.microsoft.com/office/drawing/2014/main" id="{4078C997-97CB-43C3-A7EC-71D9AD907C13}"/>
              </a:ext>
            </a:extLst>
          </p:cNvPr>
          <p:cNvSpPr>
            <a:spLocks noGrp="1"/>
          </p:cNvSpPr>
          <p:nvPr/>
        </p:nvSpPr>
        <p:spPr>
          <a:xfrm>
            <a:off x="1517904" y="3419856"/>
            <a:ext cx="4133088" cy="310896"/>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기하 문제에도 통한다</a:t>
            </a:r>
            <a:endParaRPr sz="1400"/>
          </a:p>
        </p:txBody>
      </p:sp>
      <p:sp>
        <p:nvSpPr>
          <p:cNvPr id="18" name="Text 13">
            <a:extLst>
              <a:ext uri="{FF2B5EF4-FFF2-40B4-BE49-F238E27FC236}">
                <a16:creationId xmlns:a16="http://schemas.microsoft.com/office/drawing/2014/main" id="{A0C957F3-F658-4C6C-AD7F-412A545F395C}"/>
              </a:ext>
            </a:extLst>
          </p:cNvPr>
          <p:cNvSpPr>
            <a:spLocks noGrp="1"/>
          </p:cNvSpPr>
          <p:nvPr/>
        </p:nvSpPr>
        <p:spPr>
          <a:xfrm>
            <a:off x="1517904" y="3803904"/>
            <a:ext cx="4133088" cy="603504"/>
          </a:xfrm>
          <a:prstGeom prst="rect">
            <a:avLst/>
          </a:prstGeom>
          <a:noFill/>
          <a:ln w="0">
            <a:noFill/>
          </a:ln>
        </p:spPr>
        <p:txBody>
          <a:bodyPr wrap="square" lIns="0" tIns="0" rIns="0" bIns="0" anchor="t">
            <a:noAutofit/>
          </a:bodyPr>
          <a:lstStyle/>
          <a:p>
            <a:pPr marL="0" indent="0" algn="l">
              <a:lnSpc>
                <a:spcPct val="124000"/>
              </a:lnSpc>
              <a:buNone/>
              <a:defRPr sz="1140" i="0">
                <a:solidFill>
                  <a:srgbClr val="171717"/>
                </a:solidFill>
                <a:latin typeface="Malgun Gothic"/>
                <a:ea typeface="Malgun Gothic"/>
                <a:cs typeface="Malgun Gothic"/>
              </a:defRPr>
            </a:pPr>
            <a:r>
              <a:rPr sz="1140" i="0">
                <a:solidFill>
                  <a:srgbClr val="171717"/>
                </a:solidFill>
                <a:latin typeface="Malgun Gothic"/>
                <a:ea typeface="Malgun Gothic"/>
                <a:cs typeface="Malgun Gothic"/>
              </a:rPr>
              <a:t>최대 구간 합과 최근접 쌍 모두 "경계를 걸친 경우"만 따로 처리하면 O(n log n)이 된다.</a:t>
            </a:r>
            <a:endParaRPr sz="1140"/>
          </a:p>
        </p:txBody>
      </p:sp>
      <p:sp>
        <p:nvSpPr>
          <p:cNvPr id="22" name="Text 16">
            <a:extLst>
              <a:ext uri="{FF2B5EF4-FFF2-40B4-BE49-F238E27FC236}">
                <a16:creationId xmlns:a16="http://schemas.microsoft.com/office/drawing/2014/main" id="{03EB678C-7614-48D6-ABAD-5E46E0875057}"/>
              </a:ext>
            </a:extLst>
          </p:cNvPr>
          <p:cNvSpPr>
            <a:spLocks noGrp="1"/>
          </p:cNvSpPr>
          <p:nvPr/>
        </p:nvSpPr>
        <p:spPr>
          <a:xfrm>
            <a:off x="7159752" y="3419856"/>
            <a:ext cx="4133088" cy="310896"/>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공간도 분할한다</a:t>
            </a:r>
            <a:endParaRPr sz="1400"/>
          </a:p>
        </p:txBody>
      </p:sp>
      <p:sp>
        <p:nvSpPr>
          <p:cNvPr id="23" name="Text 17">
            <a:extLst>
              <a:ext uri="{FF2B5EF4-FFF2-40B4-BE49-F238E27FC236}">
                <a16:creationId xmlns:a16="http://schemas.microsoft.com/office/drawing/2014/main" id="{21CF02E7-0AF2-4808-BF35-043E1A708621}"/>
              </a:ext>
            </a:extLst>
          </p:cNvPr>
          <p:cNvSpPr>
            <a:spLocks noGrp="1"/>
          </p:cNvSpPr>
          <p:nvPr/>
        </p:nvSpPr>
        <p:spPr>
          <a:xfrm>
            <a:off x="7159752" y="3803904"/>
            <a:ext cx="4133088" cy="603504"/>
          </a:xfrm>
          <a:prstGeom prst="rect">
            <a:avLst/>
          </a:prstGeom>
          <a:noFill/>
          <a:ln w="0">
            <a:noFill/>
          </a:ln>
        </p:spPr>
        <p:txBody>
          <a:bodyPr wrap="square" lIns="0" tIns="0" rIns="0" bIns="0" anchor="t">
            <a:noAutofit/>
          </a:bodyPr>
          <a:lstStyle/>
          <a:p>
            <a:pPr marL="0" indent="0" algn="l">
              <a:lnSpc>
                <a:spcPct val="12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쿼드 트리는 평면을 1/4씩 재귀 분할한다. 이미지 압축, 충돌 감지, LOD의 기반이다.</a:t>
            </a:r>
            <a:endParaRPr sz="1140"/>
          </a:p>
        </p:txBody>
      </p:sp>
      <p:sp>
        <p:nvSpPr>
          <p:cNvPr id="27" name="Text 20">
            <a:extLst>
              <a:ext uri="{FF2B5EF4-FFF2-40B4-BE49-F238E27FC236}">
                <a16:creationId xmlns:a16="http://schemas.microsoft.com/office/drawing/2014/main" id="{B7AD4D48-5683-4CF6-A506-FA3C62EC996F}"/>
              </a:ext>
            </a:extLst>
          </p:cNvPr>
          <p:cNvSpPr>
            <a:spLocks noGrp="1"/>
          </p:cNvSpPr>
          <p:nvPr/>
        </p:nvSpPr>
        <p:spPr>
          <a:xfrm>
            <a:off x="1517904" y="4919472"/>
            <a:ext cx="4133088" cy="310896"/>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마스터 정리</a:t>
            </a:r>
            <a:endParaRPr sz="1400"/>
          </a:p>
        </p:txBody>
      </p:sp>
      <p:sp>
        <p:nvSpPr>
          <p:cNvPr id="28" name="Text 21">
            <a:extLst>
              <a:ext uri="{FF2B5EF4-FFF2-40B4-BE49-F238E27FC236}">
                <a16:creationId xmlns:a16="http://schemas.microsoft.com/office/drawing/2014/main" id="{2E86D80F-F381-45AF-91BA-C93EC8E681B8}"/>
              </a:ext>
            </a:extLst>
          </p:cNvPr>
          <p:cNvSpPr>
            <a:spLocks noGrp="1"/>
          </p:cNvSpPr>
          <p:nvPr/>
        </p:nvSpPr>
        <p:spPr>
          <a:xfrm>
            <a:off x="1517904" y="5303520"/>
            <a:ext cx="4133088" cy="603504"/>
          </a:xfrm>
          <a:prstGeom prst="rect">
            <a:avLst/>
          </a:prstGeom>
          <a:noFill/>
          <a:ln w="0">
            <a:noFill/>
          </a:ln>
        </p:spPr>
        <p:txBody>
          <a:bodyPr wrap="square" lIns="0" tIns="0" rIns="0" bIns="0" anchor="t">
            <a:noAutofit/>
          </a:bodyPr>
          <a:lstStyle/>
          <a:p>
            <a:pPr marL="0" indent="0" algn="l">
              <a:lnSpc>
                <a:spcPct val="124000"/>
              </a:lnSpc>
              <a:buNone/>
              <a:defRPr sz="1140" i="0">
                <a:solidFill>
                  <a:srgbClr val="606060"/>
                </a:solidFill>
                <a:latin typeface="Malgun Gothic"/>
                <a:ea typeface="Malgun Gothic"/>
                <a:cs typeface="Malgun Gothic"/>
              </a:defRPr>
            </a:pPr>
            <a:r>
              <a:rPr sz="1140" i="0">
                <a:solidFill>
                  <a:srgbClr val="606060"/>
                </a:solidFill>
                <a:latin typeface="Malgun Gothic"/>
                <a:ea typeface="Malgun Gothic"/>
                <a:cs typeface="Malgun Gothic"/>
              </a:rPr>
              <a:t>T(n) = aT(n/b) + f(n) 형태와 각 경우의 적용 조건을 확인한 뒤 비용의 크기를 비교합니다.</a:t>
            </a:r>
            <a:endParaRPr sz="1140"/>
          </a:p>
        </p:txBody>
      </p:sp>
      <p:sp>
        <p:nvSpPr>
          <p:cNvPr id="32" name="Text 24">
            <a:extLst>
              <a:ext uri="{FF2B5EF4-FFF2-40B4-BE49-F238E27FC236}">
                <a16:creationId xmlns:a16="http://schemas.microsoft.com/office/drawing/2014/main" id="{4A54549F-7A18-4ED4-BE06-4553EFBE3B85}"/>
              </a:ext>
            </a:extLst>
          </p:cNvPr>
          <p:cNvSpPr>
            <a:spLocks noGrp="1"/>
          </p:cNvSpPr>
          <p:nvPr/>
        </p:nvSpPr>
        <p:spPr>
          <a:xfrm>
            <a:off x="7159752" y="4919472"/>
            <a:ext cx="4133088" cy="310896"/>
          </a:xfrm>
          <a:prstGeom prst="rect">
            <a:avLst/>
          </a:prstGeom>
          <a:noFill/>
          <a:ln w="0">
            <a:noFill/>
          </a:ln>
        </p:spPr>
        <p:txBody>
          <a:bodyPr wrap="square" lIns="0" tIns="0" rIns="0" bIns="0" anchor="ctr">
            <a:noAutofit/>
          </a:bodyPr>
          <a:lstStyle/>
          <a:p>
            <a:pPr marL="0" indent="0" algn="l">
              <a:buNone/>
              <a:defRPr sz="1400" i="0">
                <a:solidFill>
                  <a:srgbClr val="171717"/>
                </a:solidFill>
                <a:latin typeface="Malgun Gothic"/>
                <a:ea typeface="Malgun Gothic"/>
                <a:cs typeface="Malgun Gothic"/>
              </a:defRPr>
            </a:pPr>
            <a:r>
              <a:rPr sz="1400" b="1" i="0">
                <a:solidFill>
                  <a:srgbClr val="171717"/>
                </a:solidFill>
                <a:latin typeface="Malgun Gothic"/>
                <a:ea typeface="Malgun Gothic"/>
                <a:cs typeface="Malgun Gothic"/>
              </a:rPr>
              <a:t>재귀 호출 횟수 a를 줄여라</a:t>
            </a:r>
            <a:endParaRPr sz="1400"/>
          </a:p>
        </p:txBody>
      </p:sp>
      <p:sp>
        <p:nvSpPr>
          <p:cNvPr id="33" name="Text 25">
            <a:extLst>
              <a:ext uri="{FF2B5EF4-FFF2-40B4-BE49-F238E27FC236}">
                <a16:creationId xmlns:a16="http://schemas.microsoft.com/office/drawing/2014/main" id="{5D22E642-FC59-4151-9959-F1590D94C0AB}"/>
              </a:ext>
            </a:extLst>
          </p:cNvPr>
          <p:cNvSpPr>
            <a:spLocks noGrp="1"/>
          </p:cNvSpPr>
          <p:nvPr/>
        </p:nvSpPr>
        <p:spPr>
          <a:xfrm>
            <a:off x="7159752" y="5303520"/>
            <a:ext cx="4133088" cy="603504"/>
          </a:xfrm>
          <a:prstGeom prst="rect">
            <a:avLst/>
          </a:prstGeom>
          <a:noFill/>
          <a:ln w="0">
            <a:noFill/>
          </a:ln>
        </p:spPr>
        <p:txBody>
          <a:bodyPr wrap="square" lIns="0" tIns="0" rIns="0" bIns="0" anchor="t">
            <a:noAutofit/>
          </a:bodyPr>
          <a:lstStyle/>
          <a:p>
            <a:pPr marL="0" indent="0" algn="l">
              <a:lnSpc>
                <a:spcPct val="124000"/>
              </a:lnSpc>
              <a:buNone/>
              <a:defRPr sz="1500" i="0">
                <a:solidFill>
                  <a:srgbClr val="171717"/>
                </a:solidFill>
                <a:latin typeface="Malgun Gothic"/>
                <a:ea typeface="Malgun Gothic"/>
                <a:cs typeface="Malgun Gothic"/>
              </a:defRPr>
            </a:pPr>
            <a:r>
              <a:rPr sz="1500" i="0">
                <a:solidFill>
                  <a:srgbClr val="171717"/>
                </a:solidFill>
                <a:latin typeface="Malgun Gothic"/>
                <a:ea typeface="Malgun Gothic"/>
                <a:cs typeface="Malgun Gothic"/>
              </a:rPr>
              <a:t>카라츠바(4→3)와 스트라센(8→7)은 값싼 덧셈으로 비싼 곱셈을 대체했다.</a:t>
            </a:r>
            <a:endParaRPr sz="1140"/>
          </a:p>
        </p:txBody>
      </p:sp>
      <p:sp>
        <p:nvSpPr>
          <p:cNvPr id="35" name="직사각형 34">
            <a:extLst>
              <a:ext uri="{FF2B5EF4-FFF2-40B4-BE49-F238E27FC236}">
                <a16:creationId xmlns:a16="http://schemas.microsoft.com/office/drawing/2014/main" id="{A729DBD0-E552-4DE1-A130-749781E97E4C}"/>
              </a:ext>
            </a:extLst>
          </p:cNvPr>
          <p:cNvSpPr>
            <a:spLocks noGrp="1"/>
          </p:cNvSpPr>
          <p:nvPr/>
        </p:nvSpPr>
        <p:spPr>
          <a:xfrm>
            <a:off x="658368" y="1737360"/>
            <a:ext cx="5230368" cy="9525"/>
          </a:xfrm>
          <a:prstGeom prst="rect">
            <a:avLst/>
          </a:prstGeom>
          <a:solidFill>
            <a:srgbClr val="D4D4D4"/>
          </a:solidFill>
          <a:ln w="0">
            <a:noFill/>
          </a:ln>
        </p:spPr>
      </p:sp>
      <p:sp>
        <p:nvSpPr>
          <p:cNvPr id="36" name="직사각형 35">
            <a:extLst>
              <a:ext uri="{FF2B5EF4-FFF2-40B4-BE49-F238E27FC236}">
                <a16:creationId xmlns:a16="http://schemas.microsoft.com/office/drawing/2014/main" id="{9262DF4E-1FFE-46F5-BB73-792129DFD47D}"/>
              </a:ext>
            </a:extLst>
          </p:cNvPr>
          <p:cNvSpPr>
            <a:spLocks noGrp="1"/>
          </p:cNvSpPr>
          <p:nvPr/>
        </p:nvSpPr>
        <p:spPr>
          <a:xfrm>
            <a:off x="6300216" y="1737360"/>
            <a:ext cx="5230368" cy="9525"/>
          </a:xfrm>
          <a:prstGeom prst="rect">
            <a:avLst/>
          </a:prstGeom>
          <a:solidFill>
            <a:srgbClr val="D4D4D4"/>
          </a:solidFill>
          <a:ln w="0">
            <a:noFill/>
          </a:ln>
        </p:spPr>
      </p:sp>
      <p:sp>
        <p:nvSpPr>
          <p:cNvPr id="37" name="직사각형 36">
            <a:extLst>
              <a:ext uri="{FF2B5EF4-FFF2-40B4-BE49-F238E27FC236}">
                <a16:creationId xmlns:a16="http://schemas.microsoft.com/office/drawing/2014/main" id="{FB77D442-6963-48DF-83DB-F8E4165ED469}"/>
              </a:ext>
            </a:extLst>
          </p:cNvPr>
          <p:cNvSpPr>
            <a:spLocks noGrp="1"/>
          </p:cNvSpPr>
          <p:nvPr/>
        </p:nvSpPr>
        <p:spPr>
          <a:xfrm>
            <a:off x="658368" y="3236976"/>
            <a:ext cx="5230368" cy="9525"/>
          </a:xfrm>
          <a:prstGeom prst="rect">
            <a:avLst/>
          </a:prstGeom>
          <a:solidFill>
            <a:srgbClr val="D4D4D4"/>
          </a:solidFill>
          <a:ln w="0">
            <a:noFill/>
          </a:ln>
        </p:spPr>
      </p:sp>
      <p:sp>
        <p:nvSpPr>
          <p:cNvPr id="38" name="직사각형 37">
            <a:extLst>
              <a:ext uri="{FF2B5EF4-FFF2-40B4-BE49-F238E27FC236}">
                <a16:creationId xmlns:a16="http://schemas.microsoft.com/office/drawing/2014/main" id="{FDB1327D-ACD0-4D57-A966-5E1CF3631188}"/>
              </a:ext>
            </a:extLst>
          </p:cNvPr>
          <p:cNvSpPr>
            <a:spLocks noGrp="1"/>
          </p:cNvSpPr>
          <p:nvPr/>
        </p:nvSpPr>
        <p:spPr>
          <a:xfrm>
            <a:off x="6300216" y="3236976"/>
            <a:ext cx="5230368" cy="9525"/>
          </a:xfrm>
          <a:prstGeom prst="rect">
            <a:avLst/>
          </a:prstGeom>
          <a:solidFill>
            <a:srgbClr val="D4D4D4"/>
          </a:solidFill>
          <a:ln w="0">
            <a:noFill/>
          </a:ln>
        </p:spPr>
      </p:sp>
      <p:sp>
        <p:nvSpPr>
          <p:cNvPr id="39" name="직사각형 38">
            <a:extLst>
              <a:ext uri="{FF2B5EF4-FFF2-40B4-BE49-F238E27FC236}">
                <a16:creationId xmlns:a16="http://schemas.microsoft.com/office/drawing/2014/main" id="{9AA41038-FF5A-4C0C-AE21-CF9A51EEC414}"/>
              </a:ext>
            </a:extLst>
          </p:cNvPr>
          <p:cNvSpPr>
            <a:spLocks noGrp="1"/>
          </p:cNvSpPr>
          <p:nvPr/>
        </p:nvSpPr>
        <p:spPr>
          <a:xfrm>
            <a:off x="658368" y="4736592"/>
            <a:ext cx="5230368" cy="9525"/>
          </a:xfrm>
          <a:prstGeom prst="rect">
            <a:avLst/>
          </a:prstGeom>
          <a:solidFill>
            <a:srgbClr val="D4D4D4"/>
          </a:solidFill>
          <a:ln w="0">
            <a:noFill/>
          </a:ln>
        </p:spPr>
      </p:sp>
      <p:sp>
        <p:nvSpPr>
          <p:cNvPr id="40" name="직사각형 39">
            <a:extLst>
              <a:ext uri="{FF2B5EF4-FFF2-40B4-BE49-F238E27FC236}">
                <a16:creationId xmlns:a16="http://schemas.microsoft.com/office/drawing/2014/main" id="{154DE30D-48EA-4269-A2EC-67B07AFEC5A5}"/>
              </a:ext>
            </a:extLst>
          </p:cNvPr>
          <p:cNvSpPr>
            <a:spLocks noGrp="1"/>
          </p:cNvSpPr>
          <p:nvPr/>
        </p:nvSpPr>
        <p:spPr>
          <a:xfrm>
            <a:off x="6300216" y="4736592"/>
            <a:ext cx="5230368" cy="9525"/>
          </a:xfrm>
          <a:prstGeom prst="rect">
            <a:avLst/>
          </a:prstGeom>
          <a:solidFill>
            <a:srgbClr val="D4D4D4"/>
          </a:solidFill>
          <a:ln w="0">
            <a:noFill/>
          </a:ln>
        </p:spPr>
      </p:sp>
      <p:sp>
        <p:nvSpPr>
          <p:cNvPr id="41" name="직사각형 40">
            <a:extLst>
              <a:ext uri="{FF2B5EF4-FFF2-40B4-BE49-F238E27FC236}">
                <a16:creationId xmlns:a16="http://schemas.microsoft.com/office/drawing/2014/main" id="{74382196-EF64-4200-8F5E-5B818F16746D}"/>
              </a:ext>
            </a:extLst>
          </p:cNvPr>
          <p:cNvSpPr>
            <a:spLocks noGrp="1"/>
          </p:cNvSpPr>
          <p:nvPr/>
        </p:nvSpPr>
        <p:spPr>
          <a:xfrm>
            <a:off x="609600" y="266700"/>
            <a:ext cx="762000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CHAPTER 04</a:t>
            </a:r>
          </a:p>
        </p:txBody>
      </p:sp>
      <p:sp>
        <p:nvSpPr>
          <p:cNvPr id="42" name="직사각형 41">
            <a:extLst>
              <a:ext uri="{FF2B5EF4-FFF2-40B4-BE49-F238E27FC236}">
                <a16:creationId xmlns:a16="http://schemas.microsoft.com/office/drawing/2014/main" id="{D68F9C04-AAEA-414E-9275-00F601867ADB}"/>
              </a:ext>
            </a:extLst>
          </p:cNvPr>
          <p:cNvSpPr>
            <a:spLocks noGrp="1"/>
          </p:cNvSpPr>
          <p:nvPr/>
        </p:nvSpPr>
        <p:spPr>
          <a:xfrm>
            <a:off x="10287000" y="266700"/>
            <a:ext cx="1295400" cy="22860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43" name="직사각형 42">
            <a:extLst>
              <a:ext uri="{FF2B5EF4-FFF2-40B4-BE49-F238E27FC236}">
                <a16:creationId xmlns:a16="http://schemas.microsoft.com/office/drawing/2014/main" id="{8866A912-4B99-4088-9AEF-346ABCCB2D88}"/>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4장 정리</a:t>
            </a:r>
          </a:p>
        </p:txBody>
      </p:sp>
      <p:sp>
        <p:nvSpPr>
          <p:cNvPr id="44" name="직사각형 43">
            <a:extLst>
              <a:ext uri="{FF2B5EF4-FFF2-40B4-BE49-F238E27FC236}">
                <a16:creationId xmlns:a16="http://schemas.microsoft.com/office/drawing/2014/main" id="{7630AA81-4AF0-4D96-A61B-FAD99A8F7193}"/>
              </a:ext>
            </a:extLst>
          </p:cNvPr>
          <p:cNvSpPr>
            <a:spLocks noGrp="1"/>
          </p:cNvSpPr>
          <p:nvPr/>
        </p:nvSpPr>
        <p:spPr>
          <a:xfrm>
            <a:off x="609600" y="1381125"/>
            <a:ext cx="10972800" cy="19050"/>
          </a:xfrm>
          <a:prstGeom prst="rect">
            <a:avLst/>
          </a:prstGeom>
          <a:solidFill>
            <a:srgbClr val="171717"/>
          </a:solidFill>
          <a:ln w="0">
            <a:noFill/>
          </a:ln>
        </p:spPr>
      </p:sp>
      <p:sp>
        <p:nvSpPr>
          <p:cNvPr id="45" name="직사각형 44">
            <a:extLst>
              <a:ext uri="{FF2B5EF4-FFF2-40B4-BE49-F238E27FC236}">
                <a16:creationId xmlns:a16="http://schemas.microsoft.com/office/drawing/2014/main" id="{F47F79B9-8D8A-4B2C-BA0C-3697213B3273}"/>
              </a:ext>
            </a:extLst>
          </p:cNvPr>
          <p:cNvSpPr>
            <a:spLocks noGrp="1"/>
          </p:cNvSpPr>
          <p:nvPr/>
        </p:nvSpPr>
        <p:spPr>
          <a:xfrm>
            <a:off x="609600" y="6438900"/>
            <a:ext cx="10972800" cy="9525"/>
          </a:xfrm>
          <a:prstGeom prst="rect">
            <a:avLst/>
          </a:prstGeom>
          <a:solidFill>
            <a:srgbClr val="D4D4D4"/>
          </a:solidFill>
          <a:ln w="0">
            <a:noFill/>
          </a:ln>
        </p:spPr>
      </p:sp>
      <p:sp>
        <p:nvSpPr>
          <p:cNvPr id="46" name="직사각형 45">
            <a:extLst>
              <a:ext uri="{FF2B5EF4-FFF2-40B4-BE49-F238E27FC236}">
                <a16:creationId xmlns:a16="http://schemas.microsoft.com/office/drawing/2014/main" id="{C1C1EC32-9265-4475-9180-9AB923C35EB9}"/>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04 / DIVIDE AND CONQUER</a:t>
            </a:r>
          </a:p>
        </p:txBody>
      </p:sp>
      <p:sp>
        <p:nvSpPr>
          <p:cNvPr id="47" name="직사각형 46">
            <a:extLst>
              <a:ext uri="{FF2B5EF4-FFF2-40B4-BE49-F238E27FC236}">
                <a16:creationId xmlns:a16="http://schemas.microsoft.com/office/drawing/2014/main" id="{F1F04F6B-CEDA-4016-9C1F-338B77948ED3}"/>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130</a:t>
            </a:r>
            <a:endParaRPr sz="1050" b="1" i="0">
              <a:solidFill>
                <a:srgbClr val="171717"/>
              </a:solidFill>
              <a:latin typeface="Consolas"/>
              <a:ea typeface="Consolas"/>
              <a:cs typeface="Consolas"/>
            </a:endParaRPr>
          </a:p>
        </p:txBody>
      </p:sp>
    </p:spTree>
    <p:extLst>
      <p:ext uri="{BB962C8B-B14F-4D97-AF65-F5344CB8AC3E}">
        <p14:creationId xmlns:p14="http://schemas.microsoft.com/office/powerpoint/2010/main" val="55949139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A0228AD4-3C82-46AF-9F40-EAC7283A4D2E}"/>
              </a:ext>
            </a:extLst>
          </p:cNvPr>
          <p:cNvSpPr>
            <a:spLocks noGrp="1"/>
          </p:cNvSpPr>
          <p:nvPr/>
        </p:nvSpPr>
        <p:spPr>
          <a:xfrm>
            <a:off x="609600" y="533400"/>
            <a:ext cx="9525000" cy="266700"/>
          </a:xfrm>
          <a:prstGeom prst="rect">
            <a:avLst/>
          </a:prstGeom>
          <a:noFill/>
          <a:ln w="0">
            <a:noFill/>
          </a:ln>
        </p:spPr>
        <p:txBody>
          <a:bodyPr wrap="square" lIns="0" tIns="0" rIns="0" bIns="0" anchor="t">
            <a:noAutofit/>
          </a:bodyPr>
          <a:lstStyle/>
          <a:p>
            <a:pPr algn="l">
              <a:lnSpc>
                <a:spcPct val="104000"/>
              </a:lnSpc>
              <a:buNone/>
              <a:defRPr sz="1050" b="0" i="0">
                <a:solidFill>
                  <a:srgbClr val="BBBBBB"/>
                </a:solidFill>
                <a:latin typeface="Consolas"/>
                <a:ea typeface="Consolas"/>
                <a:cs typeface="Consolas"/>
              </a:defRPr>
            </a:pPr>
            <a:r>
              <a:rPr sz="1050" b="0" i="0">
                <a:solidFill>
                  <a:srgbClr val="BBBBBB"/>
                </a:solidFill>
                <a:latin typeface="Consolas"/>
                <a:ea typeface="Consolas"/>
                <a:cs typeface="Consolas"/>
              </a:rPr>
              <a:t>CHAPTER 04</a:t>
            </a:r>
          </a:p>
        </p:txBody>
      </p:sp>
      <p:sp>
        <p:nvSpPr>
          <p:cNvPr id="2" name="직사각형 1">
            <a:extLst>
              <a:ext uri="{FF2B5EF4-FFF2-40B4-BE49-F238E27FC236}">
                <a16:creationId xmlns:a16="http://schemas.microsoft.com/office/drawing/2014/main" id="{C11CAE75-7DEF-4DDA-8DF0-B21128C273E1}"/>
              </a:ext>
            </a:extLst>
          </p:cNvPr>
          <p:cNvSpPr>
            <a:spLocks noGrp="1"/>
          </p:cNvSpPr>
          <p:nvPr/>
        </p:nvSpPr>
        <p:spPr>
          <a:xfrm>
            <a:off x="609600" y="1057275"/>
            <a:ext cx="10972800" cy="9525"/>
          </a:xfrm>
          <a:prstGeom prst="rect">
            <a:avLst/>
          </a:prstGeom>
          <a:solidFill>
            <a:srgbClr val="505050"/>
          </a:solidFill>
          <a:ln w="0">
            <a:noFill/>
          </a:ln>
        </p:spPr>
      </p:sp>
      <p:sp>
        <p:nvSpPr>
          <p:cNvPr id="3" name="직사각형 2">
            <a:extLst>
              <a:ext uri="{FF2B5EF4-FFF2-40B4-BE49-F238E27FC236}">
                <a16:creationId xmlns:a16="http://schemas.microsoft.com/office/drawing/2014/main" id="{6ECFF8A5-A6A1-4E15-91A6-2061E7FBCA93}"/>
              </a:ext>
            </a:extLst>
          </p:cNvPr>
          <p:cNvSpPr>
            <a:spLocks noGrp="1"/>
          </p:cNvSpPr>
          <p:nvPr/>
        </p:nvSpPr>
        <p:spPr>
          <a:xfrm>
            <a:off x="609600" y="2333625"/>
            <a:ext cx="10972800" cy="1381125"/>
          </a:xfrm>
          <a:prstGeom prst="rect">
            <a:avLst/>
          </a:prstGeom>
          <a:noFill/>
          <a:ln w="0">
            <a:noFill/>
          </a:ln>
        </p:spPr>
        <p:txBody>
          <a:bodyPr wrap="square" lIns="0" tIns="0" rIns="0" bIns="0" anchor="t">
            <a:noAutofit/>
          </a:bodyPr>
          <a:lstStyle/>
          <a:p>
            <a:pPr algn="l">
              <a:lnSpc>
                <a:spcPct val="104000"/>
              </a:lnSpc>
              <a:buNone/>
              <a:defRPr sz="7200" b="1" i="0">
                <a:solidFill>
                  <a:srgbClr val="FFFFFF"/>
                </a:solidFill>
                <a:latin typeface="Consolas"/>
                <a:ea typeface="Consolas"/>
                <a:cs typeface="Consolas"/>
              </a:defRPr>
            </a:pPr>
            <a:r>
              <a:rPr sz="7200" b="1" i="0">
                <a:solidFill>
                  <a:srgbClr val="FFFFFF"/>
                </a:solidFill>
                <a:latin typeface="Consolas"/>
                <a:ea typeface="Consolas"/>
                <a:cs typeface="Consolas"/>
              </a:rPr>
              <a:t>Q &amp; A</a:t>
            </a:r>
          </a:p>
        </p:txBody>
      </p:sp>
      <p:sp>
        <p:nvSpPr>
          <p:cNvPr id="4" name="직사각형 3">
            <a:extLst>
              <a:ext uri="{FF2B5EF4-FFF2-40B4-BE49-F238E27FC236}">
                <a16:creationId xmlns:a16="http://schemas.microsoft.com/office/drawing/2014/main" id="{45C36F84-9155-4C3A-A436-EE0FFEF3CA59}"/>
              </a:ext>
            </a:extLst>
          </p:cNvPr>
          <p:cNvSpPr>
            <a:spLocks noGrp="1"/>
          </p:cNvSpPr>
          <p:nvPr/>
        </p:nvSpPr>
        <p:spPr>
          <a:xfrm>
            <a:off x="647700" y="4762500"/>
            <a:ext cx="10477500" cy="1238250"/>
          </a:xfrm>
          <a:prstGeom prst="rect">
            <a:avLst/>
          </a:prstGeom>
          <a:noFill/>
          <a:ln w="0">
            <a:noFill/>
          </a:ln>
        </p:spPr>
        <p:txBody>
          <a:bodyPr wrap="square" lIns="0" tIns="0" rIns="0" bIns="0" anchor="t">
            <a:noAutofit/>
          </a:bodyPr>
          <a:lstStyle/>
          <a:p>
            <a:pPr algn="l">
              <a:lnSpc>
                <a:spcPct val="104000"/>
              </a:lnSpc>
              <a:buNone/>
              <a:defRPr sz="1950" b="0" i="0">
                <a:solidFill>
                  <a:srgbClr val="BBBBBB"/>
                </a:solidFill>
                <a:latin typeface="Malgun Gothic"/>
                <a:ea typeface="Malgun Gothic"/>
                <a:cs typeface="Malgun Gothic"/>
              </a:defRPr>
            </a:pPr>
            <a:r>
              <a:rPr sz="1950" b="0" i="0">
                <a:solidFill>
                  <a:srgbClr val="BBBBBB"/>
                </a:solidFill>
                <a:latin typeface="Malgun Gothic"/>
                <a:ea typeface="Malgun Gothic"/>
                <a:cs typeface="Malgun Gothic"/>
              </a:rPr>
              <a:t>질문을 나누어 봅시다.</a:t>
            </a:r>
          </a:p>
          <a:p>
            <a:pPr algn="l">
              <a:lnSpc>
                <a:spcPct val="104000"/>
              </a:lnSpc>
              <a:buNone/>
              <a:defRPr sz="1950" b="0" i="0">
                <a:solidFill>
                  <a:srgbClr val="BBBBBB"/>
                </a:solidFill>
                <a:latin typeface="Malgun Gothic"/>
                <a:ea typeface="Malgun Gothic"/>
                <a:cs typeface="Malgun Gothic"/>
              </a:defRPr>
            </a:pPr>
            <a:r>
              <a:rPr sz="1950" b="0" i="0">
                <a:solidFill>
                  <a:srgbClr val="BBBBBB"/>
                </a:solidFill>
                <a:latin typeface="Malgun Gothic"/>
                <a:ea typeface="Malgun Gothic"/>
                <a:cs typeface="Malgun Gothic"/>
              </a:rPr>
              <a:t>큰 질문도 작게 쪼개면 답할 수 있습니다.</a:t>
            </a:r>
          </a:p>
        </p:txBody>
      </p:sp>
      <p:sp>
        <p:nvSpPr>
          <p:cNvPr id="5" name="직사각형 4">
            <a:extLst>
              <a:ext uri="{FF2B5EF4-FFF2-40B4-BE49-F238E27FC236}">
                <a16:creationId xmlns:a16="http://schemas.microsoft.com/office/drawing/2014/main" id="{93CC7852-69AE-4D08-8CDB-B05CA27DB3EE}"/>
              </a:ext>
            </a:extLst>
          </p:cNvPr>
          <p:cNvSpPr>
            <a:spLocks noGrp="1"/>
          </p:cNvSpPr>
          <p:nvPr/>
        </p:nvSpPr>
        <p:spPr>
          <a:xfrm>
            <a:off x="609600" y="6438900"/>
            <a:ext cx="10972800" cy="9525"/>
          </a:xfrm>
          <a:prstGeom prst="rect">
            <a:avLst/>
          </a:prstGeom>
          <a:solidFill>
            <a:srgbClr val="505050"/>
          </a:solidFill>
          <a:ln w="0">
            <a:noFill/>
          </a:ln>
        </p:spPr>
      </p:sp>
      <p:sp>
        <p:nvSpPr>
          <p:cNvPr id="6" name="직사각형 5">
            <a:extLst>
              <a:ext uri="{FF2B5EF4-FFF2-40B4-BE49-F238E27FC236}">
                <a16:creationId xmlns:a16="http://schemas.microsoft.com/office/drawing/2014/main" id="{F162891D-A4EE-4FC7-A00D-CDAD047465F9}"/>
              </a:ext>
            </a:extLst>
          </p:cNvPr>
          <p:cNvSpPr>
            <a:spLocks noGrp="1"/>
          </p:cNvSpPr>
          <p:nvPr/>
        </p:nvSpPr>
        <p:spPr>
          <a:xfrm>
            <a:off x="609600" y="6591300"/>
            <a:ext cx="7620000" cy="190500"/>
          </a:xfrm>
          <a:prstGeom prst="rect">
            <a:avLst/>
          </a:prstGeom>
          <a:noFill/>
          <a:ln w="0">
            <a:noFill/>
          </a:ln>
        </p:spPr>
        <p:txBody>
          <a:bodyPr wrap="square" lIns="0" tIns="0" rIns="0" bIns="0" anchor="t">
            <a:noAutofit/>
          </a:bodyPr>
          <a:lstStyle/>
          <a:p>
            <a:pPr algn="l">
              <a:lnSpc>
                <a:spcPct val="104000"/>
              </a:lnSpc>
              <a:buNone/>
              <a:defRPr sz="900" b="0" i="0">
                <a:solidFill>
                  <a:srgbClr val="BBBBBB"/>
                </a:solidFill>
                <a:latin typeface="Consolas"/>
                <a:ea typeface="Consolas"/>
                <a:cs typeface="Consolas"/>
              </a:defRPr>
            </a:pPr>
            <a:r>
              <a:rPr sz="900" b="0" i="0">
                <a:solidFill>
                  <a:srgbClr val="BBBBBB"/>
                </a:solidFill>
                <a:latin typeface="Consolas"/>
                <a:ea typeface="Consolas"/>
                <a:cs typeface="Consolas"/>
              </a:rPr>
              <a:t>04 / DIVIDE AND CONQUER</a:t>
            </a:r>
          </a:p>
        </p:txBody>
      </p:sp>
      <p:sp>
        <p:nvSpPr>
          <p:cNvPr id="7" name="직사각형 6">
            <a:extLst>
              <a:ext uri="{FF2B5EF4-FFF2-40B4-BE49-F238E27FC236}">
                <a16:creationId xmlns:a16="http://schemas.microsoft.com/office/drawing/2014/main" id="{38446562-825E-49C1-A7B7-4072508AE0C0}"/>
              </a:ext>
            </a:extLst>
          </p:cNvPr>
          <p:cNvSpPr>
            <a:spLocks noGrp="1"/>
          </p:cNvSpPr>
          <p:nvPr/>
        </p:nvSpPr>
        <p:spPr>
          <a:xfrm>
            <a:off x="11049000" y="6553200"/>
            <a:ext cx="533400" cy="228600"/>
          </a:xfrm>
          <a:prstGeom prst="rect">
            <a:avLst/>
          </a:prstGeom>
          <a:noFill/>
          <a:ln w="0">
            <a:noFill/>
          </a:ln>
        </p:spPr>
        <p:txBody>
          <a:bodyPr wrap="square" lIns="0" tIns="0" rIns="0" bIns="0" anchor="t">
            <a:noAutofit/>
          </a:bodyPr>
          <a:lstStyle/>
          <a:p>
            <a:pPr algn="r">
              <a:lnSpc>
                <a:spcPct val="104000"/>
              </a:lnSpc>
              <a:buNone/>
              <a:defRPr sz="1050" b="1" i="0">
                <a:solidFill>
                  <a:srgbClr val="FFFFFF"/>
                </a:solidFill>
                <a:latin typeface="Consolas"/>
                <a:ea typeface="Consolas"/>
                <a:cs typeface="Consolas"/>
              </a:defRPr>
            </a:pPr>
            <a:r>
              <a:rPr lang="en-US" altLang="ko-KR" sz="1050" b="1" i="0">
                <a:solidFill>
                  <a:srgbClr val="FFFFFF"/>
                </a:solidFill>
                <a:latin typeface="Consolas"/>
                <a:ea typeface="Consolas"/>
                <a:cs typeface="Consolas"/>
              </a:rPr>
              <a:t>131</a:t>
            </a:r>
            <a:endParaRPr sz="1050" b="1" i="0">
              <a:solidFill>
                <a:srgbClr val="FFFFFF"/>
              </a:solidFill>
              <a:latin typeface="Consolas"/>
              <a:ea typeface="Consolas"/>
              <a:cs typeface="Consolas"/>
            </a:endParaRPr>
          </a:p>
        </p:txBody>
      </p:sp>
    </p:spTree>
    <p:extLst>
      <p:ext uri="{BB962C8B-B14F-4D97-AF65-F5344CB8AC3E}">
        <p14:creationId xmlns:p14="http://schemas.microsoft.com/office/powerpoint/2010/main" val="1770036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36208</Words>
  <Application>Microsoft Office PowerPoint</Application>
  <DocSecurity>0</DocSecurity>
  <PresentationFormat>와이드스크린</PresentationFormat>
  <Paragraphs>4054</Paragraphs>
  <Slides>131</Slides>
  <Notes>131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131</vt:i4>
      </vt:variant>
    </vt:vector>
  </HeadingPairs>
  <TitlesOfParts>
    <vt:vector size="136" baseType="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상돈 박</cp:lastModifiedBy>
  <cp:revision>8</cp:revision>
  <dcterms:created xsi:type="dcterms:W3CDTF">2026-09-19T13:48:20Z</dcterms:created>
  <dcterms:modified xsi:type="dcterms:W3CDTF">2026-10-11T11:24:14Z</dcterms:modified>
</cp:coreProperties>
</file>