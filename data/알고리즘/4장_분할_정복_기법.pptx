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rts/chart1.xml" ContentType="application/vnd.openxmlformats-officedocument.drawingml.chart+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3"/>
  </p:notesMasterIdLst>
  <p:sldIdLst>
    <p:sldId id="256" r:id="rId2"/>
    <p:sldId id="394" r:id="rId3"/>
    <p:sldId id="258" r:id="rId4"/>
    <p:sldId id="259" r:id="rId5"/>
    <p:sldId id="260" r:id="rId6"/>
    <p:sldId id="261" r:id="rId7"/>
    <p:sldId id="320" r:id="rId8"/>
    <p:sldId id="345" r:id="rId9"/>
    <p:sldId id="346" r:id="rId10"/>
    <p:sldId id="347" r:id="rId11"/>
    <p:sldId id="348" r:id="rId12"/>
    <p:sldId id="349" r:id="rId13"/>
    <p:sldId id="350" r:id="rId14"/>
    <p:sldId id="351" r:id="rId15"/>
    <p:sldId id="352" r:id="rId16"/>
    <p:sldId id="353" r:id="rId17"/>
    <p:sldId id="354" r:id="rId18"/>
    <p:sldId id="355" r:id="rId19"/>
    <p:sldId id="356" r:id="rId20"/>
    <p:sldId id="357" r:id="rId21"/>
    <p:sldId id="358" r:id="rId22"/>
    <p:sldId id="359" r:id="rId23"/>
    <p:sldId id="360" r:id="rId24"/>
    <p:sldId id="361" r:id="rId25"/>
    <p:sldId id="362" r:id="rId26"/>
    <p:sldId id="363" r:id="rId27"/>
    <p:sldId id="364" r:id="rId28"/>
    <p:sldId id="365" r:id="rId29"/>
    <p:sldId id="366" r:id="rId30"/>
    <p:sldId id="367" r:id="rId31"/>
    <p:sldId id="368" r:id="rId32"/>
    <p:sldId id="369" r:id="rId33"/>
    <p:sldId id="370" r:id="rId34"/>
    <p:sldId id="323" r:id="rId35"/>
    <p:sldId id="324" r:id="rId36"/>
    <p:sldId id="325" r:id="rId37"/>
    <p:sldId id="262" r:id="rId38"/>
    <p:sldId id="263" r:id="rId39"/>
    <p:sldId id="264" r:id="rId40"/>
    <p:sldId id="265" r:id="rId41"/>
    <p:sldId id="266" r:id="rId42"/>
    <p:sldId id="267" r:id="rId43"/>
    <p:sldId id="268" r:id="rId44"/>
    <p:sldId id="269" r:id="rId45"/>
    <p:sldId id="270" r:id="rId46"/>
    <p:sldId id="271" r:id="rId47"/>
    <p:sldId id="326" r:id="rId48"/>
    <p:sldId id="327" r:id="rId49"/>
    <p:sldId id="372" r:id="rId50"/>
    <p:sldId id="373" r:id="rId51"/>
    <p:sldId id="374" r:id="rId52"/>
    <p:sldId id="375" r:id="rId53"/>
    <p:sldId id="330" r:id="rId54"/>
    <p:sldId id="331" r:id="rId55"/>
    <p:sldId id="332" r:id="rId56"/>
    <p:sldId id="333" r:id="rId57"/>
    <p:sldId id="334" r:id="rId58"/>
    <p:sldId id="335" r:id="rId59"/>
    <p:sldId id="371" r:id="rId60"/>
    <p:sldId id="376" r:id="rId61"/>
    <p:sldId id="377" r:id="rId62"/>
    <p:sldId id="378" r:id="rId63"/>
    <p:sldId id="379" r:id="rId64"/>
    <p:sldId id="380" r:id="rId65"/>
    <p:sldId id="381" r:id="rId66"/>
    <p:sldId id="382" r:id="rId67"/>
    <p:sldId id="383" r:id="rId68"/>
    <p:sldId id="384" r:id="rId69"/>
    <p:sldId id="385" r:id="rId70"/>
    <p:sldId id="386" r:id="rId71"/>
    <p:sldId id="387" r:id="rId72"/>
    <p:sldId id="388" r:id="rId73"/>
    <p:sldId id="389" r:id="rId74"/>
    <p:sldId id="390" r:id="rId75"/>
    <p:sldId id="391" r:id="rId76"/>
    <p:sldId id="392" r:id="rId77"/>
    <p:sldId id="338" r:id="rId78"/>
    <p:sldId id="339" r:id="rId79"/>
    <p:sldId id="340" r:id="rId80"/>
    <p:sldId id="341" r:id="rId81"/>
    <p:sldId id="342" r:id="rId82"/>
    <p:sldId id="343" r:id="rId83"/>
    <p:sldId id="344" r:id="rId84"/>
    <p:sldId id="272" r:id="rId85"/>
    <p:sldId id="273" r:id="rId86"/>
    <p:sldId id="274" r:id="rId87"/>
    <p:sldId id="275" r:id="rId88"/>
    <p:sldId id="276" r:id="rId89"/>
    <p:sldId id="277" r:id="rId90"/>
    <p:sldId id="278" r:id="rId91"/>
    <p:sldId id="279" r:id="rId92"/>
    <p:sldId id="280" r:id="rId93"/>
    <p:sldId id="281" r:id="rId94"/>
    <p:sldId id="282" r:id="rId95"/>
    <p:sldId id="283" r:id="rId96"/>
    <p:sldId id="284" r:id="rId97"/>
    <p:sldId id="285" r:id="rId98"/>
    <p:sldId id="286" r:id="rId99"/>
    <p:sldId id="287" r:id="rId100"/>
    <p:sldId id="288" r:id="rId101"/>
    <p:sldId id="289" r:id="rId102"/>
    <p:sldId id="290" r:id="rId103"/>
    <p:sldId id="291" r:id="rId104"/>
    <p:sldId id="292" r:id="rId105"/>
    <p:sldId id="293" r:id="rId106"/>
    <p:sldId id="294" r:id="rId107"/>
    <p:sldId id="295" r:id="rId108"/>
    <p:sldId id="296" r:id="rId109"/>
    <p:sldId id="297" r:id="rId110"/>
    <p:sldId id="298" r:id="rId111"/>
    <p:sldId id="299" r:id="rId112"/>
    <p:sldId id="300" r:id="rId113"/>
    <p:sldId id="301" r:id="rId114"/>
    <p:sldId id="393" r:id="rId115"/>
    <p:sldId id="313" r:id="rId116"/>
    <p:sldId id="314" r:id="rId117"/>
    <p:sldId id="315" r:id="rId118"/>
    <p:sldId id="316" r:id="rId119"/>
    <p:sldId id="317" r:id="rId120"/>
    <p:sldId id="318" r:id="rId121"/>
    <p:sldId id="319" r:id="rId12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분할 정복으로 문제를 푸는 방법을 배웁니다. 먼저 문제를 작은 부분으로 나누고, 각 부분을 풀고, 결과를 합치는 세 단계를 보겠습니다. 이 구조를 가장 먼저 확인할 예가 병합 정렬과 퀵 정렬이에요. 병합 정렬은 둘로 나눈 배열을 각각 정렬한 뒤 작은 값부터 합칩니다. 퀵 정렬은 피벗을 기준으로 값을 나누고, 피벗을 제외한 두 구간을 다시 정렬합니다. 두 정렬은 배열이 끝까지 정렬되는 과정을 직접 따라가겠습니다. 이어서 최대 구간 합과 최근접 쌍, 쿼드 트리 같은 응용을 보고, 마스터 정리로 시간 복잡도를 정리합니다. 마지막에는 색종이 만들기와 빠른 거듭제곱 예제를 풀어보겠습니다.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6555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표의 마지막 열부터 외우기보다는 각 행의 점화식을 먼저 읽어보겠습니다. 이진 탐색은 절반 크기의 문제를 하나만 남깁니다. 그래서 에이는 일, 비는 이이고, 한 단계에서 가운데 값과 비교하는 일은 상수 시간입니다. 병합 정렬은 절반 크기 두 부분을 모두 정렬하므로 에이가 이입니다. 두 정렬 결과를 병합할 때 전체 원소를 한 번씩 보니 결합 비용은 엔에 비례합니다. 절반으로 나누는 깊이는 로그 엔이고 각 깊이의 전체 병합 비용은 엔이므로 엔 로그 엔 시간이 됩니다. 최대 구간 합도 두 절반의 결과와 경계를 가로지르는 합을 결합합니다. 최근접 쌍의 엔 로그 엔 결과는 와이 좌표의 정렬 순서를 재귀 과정에서 유지하는 구현일 때 해당합니다. 점화식을 쓸 때는 실제 코드가 수행하는 일과 결합 비용이 일치하는지 확인해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83535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먼저 문제를 작은 부분으로 나누고</a:t>
            </a:r>
            <a:r>
              <a:rPr lang="en-US" altLang="ko-KR"/>
              <a:t>, </a:t>
            </a:r>
            <a:r>
              <a:rPr lang="ko-KR" altLang="en-US"/>
              <a:t>각 부분을 재귀적으로 푼 뒤 원래 문제의 답을 구성합니다</a:t>
            </a:r>
            <a:r>
              <a:rPr lang="en-US" altLang="ko-KR"/>
              <a:t>. </a:t>
            </a:r>
            <a:r>
              <a:rPr lang="ko-KR" altLang="en-US"/>
              <a:t>병합 정렬은 정렬된 두 부분에서 작은 값부터 꺼내 합쳤습니다</a:t>
            </a:r>
            <a:r>
              <a:rPr lang="en-US" altLang="ko-KR"/>
              <a:t>. </a:t>
            </a:r>
            <a:r>
              <a:rPr lang="ko-KR" altLang="en-US"/>
              <a:t>퀵 정렬은 피벗을 제자리에 놓고 그 왼쪽과 오른쪽을 각각 정렬했습니다</a:t>
            </a:r>
            <a:r>
              <a:rPr lang="en-US" altLang="ko-KR"/>
              <a:t>. </a:t>
            </a:r>
            <a:r>
              <a:rPr lang="ko-KR" altLang="en-US"/>
              <a:t>피벗 하나를 정했다고 전체 정렬이 끝난 것은 아니라는 점도 확인했어요</a:t>
            </a:r>
            <a:r>
              <a:rPr lang="en-US" altLang="ko-KR"/>
              <a:t>. </a:t>
            </a:r>
            <a:r>
              <a:rPr lang="ko-KR" altLang="en-US"/>
              <a:t>최대 구간 합과 최근접 쌍은 두 부분의 경계를 걸치는 경우를 빠뜨리지 않는 것이 핵심입니다</a:t>
            </a:r>
            <a:r>
              <a:rPr lang="en-US" altLang="ko-KR"/>
              <a:t>. </a:t>
            </a:r>
            <a:r>
              <a:rPr lang="ko-KR" altLang="en-US"/>
              <a:t>쿼드 트리는 균일하지 않은 영역을 네 부분으로 나눴습니다</a:t>
            </a:r>
            <a:r>
              <a:rPr lang="en-US" altLang="ko-KR"/>
              <a:t>. </a:t>
            </a:r>
            <a:r>
              <a:rPr lang="ko-KR" altLang="en-US"/>
              <a:t>시간 복잡도를 정리할 때는 실제 코드의 재귀 호출 수와 결합 비용을 점화식에 넣어야 합니다</a:t>
            </a:r>
            <a:r>
              <a:rPr lang="en-US" altLang="ko-KR"/>
              <a:t>. </a:t>
            </a:r>
            <a:r>
              <a:rPr lang="ko-KR" altLang="en-US"/>
              <a:t>마지막으로 종료 조건을 확인해 주세요</a:t>
            </a:r>
            <a:r>
              <a:rPr lang="en-US" altLang="ko-KR"/>
              <a:t>. </a:t>
            </a:r>
            <a:r>
              <a:rPr lang="ko-KR" altLang="en-US"/>
              <a:t>빈 구간과 원소 한 개에서는 더 나누지 않고</a:t>
            </a:r>
            <a:r>
              <a:rPr lang="en-US" altLang="ko-KR"/>
              <a:t>, </a:t>
            </a:r>
            <a:r>
              <a:rPr lang="ko-KR" altLang="en-US"/>
              <a:t>퀵 정렬의 재귀 호출에는 확정된 피벗을 다시 넣지 않습니다</a:t>
            </a:r>
            <a:r>
              <a:rPr lang="en-US" altLang="ko-KR"/>
              <a:t>. </a:t>
            </a:r>
            <a:r>
              <a:rPr lang="ko-KR" altLang="en-US"/>
              <a:t>이제 직접 실행하며 배열이 끝까지 정렬되는지 확인해 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98B6D93F-C23E-4C15-ACBE-9F87874C554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A198CCF9-CAA5-4497-9ABE-CED63DCAB6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466115-E3DF-47AD-ADC0-D7487EC3A686}"/>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footer">
            <a:extLst>
              <a:ext uri="{FF2B5EF4-FFF2-40B4-BE49-F238E27FC236}">
                <a16:creationId xmlns:a16="http://schemas.microsoft.com/office/drawing/2014/main" id="{B3985CEB-4816-4220-921F-7D18C972370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8C6B5F76-55E8-417C-9E96-DFFC939A5C2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B30B5CCA-3EE5-4CE7-95D8-953675F88173}"/>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E3FDEE96-8E99-41F0-A3AD-73B50CAF2DB5}"/>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topic-0">
            <a:extLst>
              <a:ext uri="{FF2B5EF4-FFF2-40B4-BE49-F238E27FC236}">
                <a16:creationId xmlns:a16="http://schemas.microsoft.com/office/drawing/2014/main" id="{96A2700C-56F8-4349-B1FA-7D3FF81CA448}"/>
              </a:ext>
            </a:extLst>
          </p:cNvPr>
          <p:cNvSpPr>
            <a:spLocks noGrp="1"/>
          </p:cNvSpPr>
          <p:nvPr/>
        </p:nvSpPr>
        <p:spPr>
          <a:xfrm>
            <a:off x="7048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9" name="topic-1">
            <a:extLst>
              <a:ext uri="{FF2B5EF4-FFF2-40B4-BE49-F238E27FC236}">
                <a16:creationId xmlns:a16="http://schemas.microsoft.com/office/drawing/2014/main" id="{FC4855C5-09FC-4DB0-BD6E-D842443E11E0}"/>
              </a:ext>
            </a:extLst>
          </p:cNvPr>
          <p:cNvSpPr>
            <a:spLocks noGrp="1"/>
          </p:cNvSpPr>
          <p:nvPr/>
        </p:nvSpPr>
        <p:spPr>
          <a:xfrm>
            <a:off x="7048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10" name="topic-2">
            <a:extLst>
              <a:ext uri="{FF2B5EF4-FFF2-40B4-BE49-F238E27FC236}">
                <a16:creationId xmlns:a16="http://schemas.microsoft.com/office/drawing/2014/main" id="{9B5C6549-021F-4861-8040-F8B230394895}"/>
              </a:ext>
            </a:extLst>
          </p:cNvPr>
          <p:cNvSpPr>
            <a:spLocks noGrp="1"/>
          </p:cNvSpPr>
          <p:nvPr/>
        </p:nvSpPr>
        <p:spPr>
          <a:xfrm>
            <a:off x="7048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1" name="topic-3">
            <a:extLst>
              <a:ext uri="{FF2B5EF4-FFF2-40B4-BE49-F238E27FC236}">
                <a16:creationId xmlns:a16="http://schemas.microsoft.com/office/drawing/2014/main" id="{37F42A6E-0F8B-4B0A-A28B-F5A3D7EA2D6F}"/>
              </a:ext>
            </a:extLst>
          </p:cNvPr>
          <p:cNvSpPr>
            <a:spLocks noGrp="1"/>
          </p:cNvSpPr>
          <p:nvPr/>
        </p:nvSpPr>
        <p:spPr>
          <a:xfrm>
            <a:off x="7048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2" name="topic-4">
            <a:extLst>
              <a:ext uri="{FF2B5EF4-FFF2-40B4-BE49-F238E27FC236}">
                <a16:creationId xmlns:a16="http://schemas.microsoft.com/office/drawing/2014/main" id="{D9308D94-00A3-4C2F-A0F3-8CF35DB62BC6}"/>
              </a:ext>
            </a:extLst>
          </p:cNvPr>
          <p:cNvSpPr>
            <a:spLocks noGrp="1"/>
          </p:cNvSpPr>
          <p:nvPr/>
        </p:nvSpPr>
        <p:spPr>
          <a:xfrm>
            <a:off x="63436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최근접 쌍</a:t>
            </a:r>
          </a:p>
        </p:txBody>
      </p:sp>
      <p:sp>
        <p:nvSpPr>
          <p:cNvPr id="13" name="topic-5">
            <a:extLst>
              <a:ext uri="{FF2B5EF4-FFF2-40B4-BE49-F238E27FC236}">
                <a16:creationId xmlns:a16="http://schemas.microsoft.com/office/drawing/2014/main" id="{79FE052E-0151-4B92-A0ED-A4E15F0FC3C4}"/>
              </a:ext>
            </a:extLst>
          </p:cNvPr>
          <p:cNvSpPr>
            <a:spLocks noGrp="1"/>
          </p:cNvSpPr>
          <p:nvPr/>
        </p:nvSpPr>
        <p:spPr>
          <a:xfrm>
            <a:off x="63436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쿼드 트리</a:t>
            </a:r>
          </a:p>
        </p:txBody>
      </p:sp>
      <p:sp>
        <p:nvSpPr>
          <p:cNvPr id="14" name="topic-6">
            <a:extLst>
              <a:ext uri="{FF2B5EF4-FFF2-40B4-BE49-F238E27FC236}">
                <a16:creationId xmlns:a16="http://schemas.microsoft.com/office/drawing/2014/main" id="{3CB847C4-D524-4643-B55B-EC78E380E1D5}"/>
              </a:ext>
            </a:extLst>
          </p:cNvPr>
          <p:cNvSpPr>
            <a:spLocks noGrp="1"/>
          </p:cNvSpPr>
          <p:nvPr/>
        </p:nvSpPr>
        <p:spPr>
          <a:xfrm>
            <a:off x="63436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마스터 정리</a:t>
            </a:r>
          </a:p>
        </p:txBody>
      </p:sp>
      <p:sp>
        <p:nvSpPr>
          <p:cNvPr id="15" name="topic-7">
            <a:extLst>
              <a:ext uri="{FF2B5EF4-FFF2-40B4-BE49-F238E27FC236}">
                <a16:creationId xmlns:a16="http://schemas.microsoft.com/office/drawing/2014/main" id="{A1B4CE61-63D7-48EE-B287-6B640B8553CA}"/>
              </a:ext>
            </a:extLst>
          </p:cNvPr>
          <p:cNvSpPr>
            <a:spLocks noGrp="1"/>
          </p:cNvSpPr>
          <p:nvPr/>
        </p:nvSpPr>
        <p:spPr>
          <a:xfrm>
            <a:off x="63436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4.8   코딩 테스트 예제</a:t>
            </a:r>
          </a:p>
        </p:txBody>
      </p:sp>
    </p:spTree>
    <p:extLst>
      <p:ext uri="{BB962C8B-B14F-4D97-AF65-F5344CB8AC3E}">
        <p14:creationId xmlns:p14="http://schemas.microsoft.com/office/powerpoint/2010/main" val="2277238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49</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81</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82</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txBody>
          <a:bodyPr/>
          <a:lstStyle/>
          <a:p>
            <a:endParaRPr lang="ko-KR" altLang="en-US"/>
          </a:p>
        </p:txBody>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txBody>
          <a:bodyPr/>
          <a:lstStyle/>
          <a:p>
            <a:endParaRPr lang="ko-KR" altLang="en-US"/>
          </a:p>
        </p:txBody>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txBody>
          <a:bodyPr/>
          <a:lstStyle/>
          <a:p>
            <a:endParaRPr lang="ko-KR" altLang="en-US"/>
          </a:p>
        </p:txBody>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93</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txBody>
          <a:bodyPr/>
          <a:lstStyle/>
          <a:p>
            <a:endParaRPr lang="ko-KR" altLang="en-US"/>
          </a:p>
        </p:txBody>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95</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txBody>
          <a:bodyPr/>
          <a:lstStyle/>
          <a:p>
            <a:endParaRPr lang="ko-KR" altLang="en-US"/>
          </a:p>
        </p:txBody>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96</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txBody>
          <a:bodyPr/>
          <a:lstStyle/>
          <a:p>
            <a:endParaRPr lang="ko-KR" altLang="en-US"/>
          </a:p>
        </p:txBody>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txBody>
          <a:bodyPr/>
          <a:lstStyle/>
          <a:p>
            <a:endParaRPr lang="ko-KR" altLang="en-US"/>
          </a:p>
        </p:txBody>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txBody>
          <a:bodyPr/>
          <a:lstStyle/>
          <a:p>
            <a:endParaRPr lang="ko-KR" altLang="en-US"/>
          </a:p>
        </p:txBody>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97</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txBody>
          <a:bodyPr/>
          <a:lstStyle/>
          <a:p>
            <a:endParaRPr lang="ko-KR" altLang="en-US"/>
          </a:p>
        </p:txBody>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txBody>
          <a:bodyPr/>
          <a:lstStyle/>
          <a:p>
            <a:endParaRPr lang="ko-KR" altLang="en-US"/>
          </a:p>
        </p:txBody>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98</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99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txBody>
          <a:bodyPr/>
          <a:lstStyle/>
          <a:p>
            <a:endParaRPr lang="ko-KR" altLang="en-US"/>
          </a:p>
        </p:txBody>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txBody>
          <a:bodyPr/>
          <a:lstStyle/>
          <a:p>
            <a:endParaRPr lang="ko-KR" altLang="en-US"/>
          </a:p>
        </p:txBody>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txBody>
          <a:bodyPr/>
          <a:lstStyle/>
          <a:p>
            <a:endParaRPr lang="ko-KR" altLang="en-US"/>
          </a:p>
        </p:txBody>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txBody>
          <a:bodyPr/>
          <a:lstStyle/>
          <a:p>
            <a:endParaRPr lang="ko-KR" altLang="en-US"/>
          </a:p>
        </p:txBody>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txBody>
          <a:bodyPr/>
          <a:lstStyle/>
          <a:p>
            <a:endParaRPr lang="ko-KR" altLang="en-US"/>
          </a:p>
        </p:txBody>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txBody>
          <a:bodyPr/>
          <a:lstStyle/>
          <a:p>
            <a:endParaRPr lang="ko-KR" altLang="en-US"/>
          </a:p>
        </p:txBody>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txBody>
          <a:bodyPr/>
          <a:lstStyle/>
          <a:p>
            <a:endParaRPr lang="ko-KR" altLang="en-US"/>
          </a:p>
        </p:txBody>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txBody>
          <a:bodyPr/>
          <a:lstStyle/>
          <a:p>
            <a:endParaRPr lang="ko-KR" altLang="en-US"/>
          </a:p>
        </p:txBody>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txBody>
          <a:bodyPr/>
          <a:lstStyle/>
          <a:p>
            <a:endParaRPr lang="ko-KR" altLang="en-US"/>
          </a:p>
        </p:txBody>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txBody>
          <a:bodyPr/>
          <a:lstStyle/>
          <a:p>
            <a:endParaRPr lang="ko-KR" altLang="en-US"/>
          </a:p>
        </p:txBody>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103</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104</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107</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108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109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110</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111</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455352B-7A93-4170-A705-9281A1F0810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4.7  마스터 정리</a:t>
            </a:r>
          </a:p>
        </p:txBody>
      </p:sp>
      <p:sp>
        <p:nvSpPr>
          <p:cNvPr id="2" name="brand">
            <a:extLst>
              <a:ext uri="{FF2B5EF4-FFF2-40B4-BE49-F238E27FC236}">
                <a16:creationId xmlns:a16="http://schemas.microsoft.com/office/drawing/2014/main" id="{BFE893D5-AA4A-4219-802C-507256679A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EA9B0E8-4911-4261-8200-1655A54F1A7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한눈에 보는 점화식 정리</a:t>
            </a:r>
          </a:p>
        </p:txBody>
      </p:sp>
      <p:sp>
        <p:nvSpPr>
          <p:cNvPr id="4" name="footer">
            <a:extLst>
              <a:ext uri="{FF2B5EF4-FFF2-40B4-BE49-F238E27FC236}">
                <a16:creationId xmlns:a16="http://schemas.microsoft.com/office/drawing/2014/main" id="{1E16A389-F3E7-4ACD-BFFF-D692B421268C}"/>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0EE50A65-4997-4BDF-8C9D-BA077308CC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EF53153-1A33-4566-8AA7-787E5BFDFE40}"/>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7355568C-10CB-495C-9D8C-083D19C90599}"/>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lead">
            <a:extLst>
              <a:ext uri="{FF2B5EF4-FFF2-40B4-BE49-F238E27FC236}">
                <a16:creationId xmlns:a16="http://schemas.microsoft.com/office/drawing/2014/main" id="{7CECDE99-3392-4469-9A88-D3AFBBBA5D37}"/>
              </a:ext>
            </a:extLst>
          </p:cNvPr>
          <p:cNvSpPr>
            <a:spLocks noGrp="1"/>
          </p:cNvSpPr>
          <p:nvPr/>
        </p:nvSpPr>
        <p:spPr>
          <a:xfrm>
            <a:off x="609600" y="1790700"/>
            <a:ext cx="10972800" cy="3429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재귀 호출 수, 부분 문제의 크기, 결합 비용을 함께 확인합니다.</a:t>
            </a:r>
          </a:p>
        </p:txBody>
      </p:sp>
      <p:graphicFrame>
        <p:nvGraphicFramePr>
          <p:cNvPr id="9" name="표 8">
            <a:extLst>
              <a:ext uri="{FF2B5EF4-FFF2-40B4-BE49-F238E27FC236}">
                <a16:creationId xmlns:a16="http://schemas.microsoft.com/office/drawing/2014/main" id="{F3FF71B1-809E-4C15-B66D-F581C67C22EC}"/>
              </a:ext>
            </a:extLst>
          </p:cNvPr>
          <p:cNvGraphicFramePr/>
          <p:nvPr/>
        </p:nvGraphicFramePr>
        <p:xfrm>
          <a:off x="609600" y="2381250"/>
          <a:ext cx="10972800" cy="2857500"/>
        </p:xfrm>
        <a:graphic>
          <a:graphicData uri="http://schemas.openxmlformats.org/drawingml/2006/table">
            <a:tbl>
              <a:tblPr/>
              <a:tblGrid>
                <a:gridCol w="21717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gridCol w="476250">
                  <a:extLst>
                    <a:ext uri="{9D8B030D-6E8A-4147-A177-3AD203B41FA5}">
                      <a16:colId xmlns:a16="http://schemas.microsoft.com/office/drawing/2014/main" val="20003"/>
                    </a:ext>
                  </a:extLst>
                </a:gridCol>
                <a:gridCol w="1238250">
                  <a:extLst>
                    <a:ext uri="{9D8B030D-6E8A-4147-A177-3AD203B41FA5}">
                      <a16:colId xmlns:a16="http://schemas.microsoft.com/office/drawing/2014/main" val="20004"/>
                    </a:ext>
                  </a:extLst>
                </a:gridCol>
                <a:gridCol w="1238250">
                  <a:extLst>
                    <a:ext uri="{9D8B030D-6E8A-4147-A177-3AD203B41FA5}">
                      <a16:colId xmlns:a16="http://schemas.microsoft.com/office/drawing/2014/main" val="20005"/>
                    </a:ext>
                  </a:extLst>
                </a:gridCol>
                <a:gridCol w="2228850">
                  <a:extLst>
                    <a:ext uri="{9D8B030D-6E8A-4147-A177-3AD203B41FA5}">
                      <a16:colId xmlns:a16="http://schemas.microsoft.com/office/drawing/2014/main" val="20006"/>
                    </a:ext>
                  </a:extLst>
                </a:gridCol>
              </a:tblGrid>
              <a:tr h="571500">
                <a:tc>
                  <a:txBody>
                    <a:bodyPr/>
                    <a:lstStyle/>
                    <a:p>
                      <a:pPr algn="l"/>
                      <a:r>
                        <a:rPr sz="1425" b="1">
                          <a:solidFill>
                            <a:srgbClr val="FFFFFF"/>
                          </a:solidFill>
                          <a:latin typeface="Malgun Gothic"/>
                          <a:ea typeface="Malgun Gothic"/>
                          <a:cs typeface="Malgun Gothic"/>
                        </a:rPr>
                        <a:t>알고리즘</a:t>
                      </a:r>
                    </a:p>
                  </a:txBody>
                  <a:tcPr anchor="ctr">
                    <a:solidFill>
                      <a:srgbClr val="151515"/>
                    </a:solidFill>
                  </a:tcPr>
                </a:tc>
                <a:tc>
                  <a:txBody>
                    <a:bodyPr/>
                    <a:lstStyle/>
                    <a:p>
                      <a:pPr algn="l"/>
                      <a:r>
                        <a:rPr sz="1425" b="1">
                          <a:solidFill>
                            <a:srgbClr val="FFFFFF"/>
                          </a:solidFill>
                          <a:latin typeface="Malgun Gothic"/>
                          <a:ea typeface="Malgun Gothic"/>
                          <a:cs typeface="Malgun Gothic"/>
                        </a:rPr>
                        <a:t>점화식</a:t>
                      </a:r>
                    </a:p>
                  </a:txBody>
                  <a:tcPr anchor="ctr">
                    <a:solidFill>
                      <a:srgbClr val="151515"/>
                    </a:solidFill>
                  </a:tcPr>
                </a:tc>
                <a:tc>
                  <a:txBody>
                    <a:bodyPr/>
                    <a:lstStyle/>
                    <a:p>
                      <a:pPr algn="ctr"/>
                      <a:r>
                        <a:rPr sz="1425" b="1">
                          <a:solidFill>
                            <a:srgbClr val="FFFFFF"/>
                          </a:solidFill>
                          <a:latin typeface="Malgun Gothic"/>
                          <a:ea typeface="Malgun Gothic"/>
                          <a:cs typeface="Malgun Gothic"/>
                        </a:rPr>
                        <a:t>a</a:t>
                      </a:r>
                    </a:p>
                  </a:txBody>
                  <a:tcPr anchor="ctr">
                    <a:solidFill>
                      <a:srgbClr val="151515"/>
                    </a:solidFill>
                  </a:tcPr>
                </a:tc>
                <a:tc>
                  <a:txBody>
                    <a:bodyPr/>
                    <a:lstStyle/>
                    <a:p>
                      <a:pPr algn="ctr"/>
                      <a:r>
                        <a:rPr sz="1425" b="1">
                          <a:solidFill>
                            <a:srgbClr val="FFFFFF"/>
                          </a:solidFill>
                          <a:latin typeface="Malgun Gothic"/>
                          <a:ea typeface="Malgun Gothic"/>
                          <a:cs typeface="Malgun Gothic"/>
                        </a:rPr>
                        <a:t>b</a:t>
                      </a:r>
                    </a:p>
                  </a:txBody>
                  <a:tcPr anchor="ctr">
                    <a:solidFill>
                      <a:srgbClr val="151515"/>
                    </a:solidFill>
                  </a:tcPr>
                </a:tc>
                <a:tc>
                  <a:txBody>
                    <a:bodyPr/>
                    <a:lstStyle/>
                    <a:p>
                      <a:pPr algn="ctr"/>
                      <a:r>
                        <a:rPr sz="1425" b="1">
                          <a:solidFill>
                            <a:srgbClr val="FFFFFF"/>
                          </a:solidFill>
                          <a:latin typeface="Malgun Gothic"/>
                          <a:ea typeface="Malgun Gothic"/>
                          <a:cs typeface="Malgun Gothic"/>
                        </a:rPr>
                        <a:t>f(n)</a:t>
                      </a:r>
                    </a:p>
                  </a:txBody>
                  <a:tcPr anchor="ctr">
                    <a:solidFill>
                      <a:srgbClr val="151515"/>
                    </a:solidFill>
                  </a:tcPr>
                </a:tc>
                <a:tc>
                  <a:txBody>
                    <a:bodyPr/>
                    <a:lstStyle/>
                    <a:p>
                      <a:pPr algn="ctr"/>
                      <a:r>
                        <a:rPr sz="1425" b="1">
                          <a:solidFill>
                            <a:srgbClr val="FFFFFF"/>
                          </a:solidFill>
                          <a:latin typeface="Malgun Gothic"/>
                          <a:ea typeface="Malgun Gothic"/>
                          <a:cs typeface="Malgun Gothic"/>
                        </a:rPr>
                        <a:t>경우</a:t>
                      </a:r>
                    </a:p>
                  </a:txBody>
                  <a:tcPr anchor="ctr">
                    <a:solidFill>
                      <a:srgbClr val="151515"/>
                    </a:solidFill>
                  </a:tcPr>
                </a:tc>
                <a:tc>
                  <a:txBody>
                    <a:bodyPr/>
                    <a:lstStyle/>
                    <a:p>
                      <a:pPr algn="ctr"/>
                      <a:r>
                        <a:rPr sz="1425" b="1">
                          <a:solidFill>
                            <a:srgbClr val="FFFFFF"/>
                          </a:solidFill>
                          <a:latin typeface="Malgun Gothic"/>
                          <a:ea typeface="Malgun Gothic"/>
                          <a:cs typeface="Malgun Gothic"/>
                        </a:rPr>
                        <a:t>시간 복잡도</a:t>
                      </a:r>
                    </a:p>
                  </a:txBody>
                  <a:tcPr anchor="ctr">
                    <a:solidFill>
                      <a:srgbClr val="151515"/>
                    </a:solidFill>
                  </a:tcPr>
                </a:tc>
                <a:extLst>
                  <a:ext uri="{0D108BD9-81ED-4DB2-BD59-A6C34878D82A}">
                    <a16:rowId xmlns:a16="http://schemas.microsoft.com/office/drawing/2014/main" val="10000"/>
                  </a:ext>
                </a:extLst>
              </a:tr>
              <a:tr h="571500">
                <a:tc>
                  <a:txBody>
                    <a:bodyPr/>
                    <a:lstStyle/>
                    <a:p>
                      <a:pPr algn="l"/>
                      <a:r>
                        <a:rPr sz="1350" b="0">
                          <a:solidFill>
                            <a:srgbClr val="151515"/>
                          </a:solidFill>
                          <a:latin typeface="Malgun Gothic"/>
                          <a:ea typeface="Malgun Gothic"/>
                          <a:cs typeface="Malgun Gothic"/>
                        </a:rPr>
                        <a:t>이진 탐색</a:t>
                      </a:r>
                    </a:p>
                  </a:txBody>
                  <a:tcPr anchor="ctr">
                    <a:solidFill>
                      <a:srgbClr val="FFFFFF"/>
                    </a:solidFill>
                  </a:tcPr>
                </a:tc>
                <a:tc>
                  <a:txBody>
                    <a:bodyPr/>
                    <a:lstStyle/>
                    <a:p>
                      <a:pPr algn="l"/>
                      <a:r>
                        <a:rPr sz="1350" b="0">
                          <a:solidFill>
                            <a:srgbClr val="151515"/>
                          </a:solidFill>
                          <a:latin typeface="Malgun Gothic"/>
                          <a:ea typeface="Malgun Gothic"/>
                          <a:cs typeface="Malgun Gothic"/>
                        </a:rPr>
                        <a:t>T(n)=T(n/2)+O(1)</a:t>
                      </a:r>
                    </a:p>
                  </a:txBody>
                  <a:tcPr anchor="ctr">
                    <a:solidFill>
                      <a:srgbClr val="FFFFFF"/>
                    </a:solidFill>
                  </a:tcPr>
                </a:tc>
                <a:tc>
                  <a:txBody>
                    <a:bodyPr/>
                    <a:lstStyle/>
                    <a:p>
                      <a:pPr algn="ctr"/>
                      <a:r>
                        <a:rPr sz="1350" b="0">
                          <a:solidFill>
                            <a:srgbClr val="151515"/>
                          </a:solidFill>
                          <a:latin typeface="Malgun Gothic"/>
                          <a:ea typeface="Malgun Gothic"/>
                          <a:cs typeface="Malgun Gothic"/>
                        </a:rPr>
                        <a:t>1</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O(1)</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571500">
                <a:tc>
                  <a:txBody>
                    <a:bodyPr/>
                    <a:lstStyle/>
                    <a:p>
                      <a:pPr algn="l"/>
                      <a:r>
                        <a:rPr sz="1350" b="0">
                          <a:solidFill>
                            <a:srgbClr val="151515"/>
                          </a:solidFill>
                          <a:latin typeface="Malgun Gothic"/>
                          <a:ea typeface="Malgun Gothic"/>
                          <a:cs typeface="Malgun Gothic"/>
                        </a:rPr>
                        <a:t>병합 정렬</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2"/>
                  </a:ext>
                </a:extLst>
              </a:tr>
              <a:tr h="571500">
                <a:tc>
                  <a:txBody>
                    <a:bodyPr/>
                    <a:lstStyle/>
                    <a:p>
                      <a:pPr algn="l"/>
                      <a:r>
                        <a:rPr sz="1350" b="0">
                          <a:solidFill>
                            <a:srgbClr val="151515"/>
                          </a:solidFill>
                          <a:latin typeface="Malgun Gothic"/>
                          <a:ea typeface="Malgun Gothic"/>
                          <a:cs typeface="Malgun Gothic"/>
                        </a:rPr>
                        <a:t>최대 구간 합</a:t>
                      </a:r>
                    </a:p>
                  </a:txBody>
                  <a:tcPr anchor="ctr">
                    <a:solidFill>
                      <a:srgbClr val="FFFFFF"/>
                    </a:solidFill>
                  </a:tcPr>
                </a:tc>
                <a:tc>
                  <a:txBody>
                    <a:bodyPr/>
                    <a:lstStyle/>
                    <a:p>
                      <a:pPr algn="l"/>
                      <a:r>
                        <a:rPr sz="1350" b="0">
                          <a:solidFill>
                            <a:srgbClr val="151515"/>
                          </a:solidFill>
                          <a:latin typeface="Malgun Gothic"/>
                          <a:ea typeface="Malgun Gothic"/>
                          <a:cs typeface="Malgun Gothic"/>
                        </a:rPr>
                        <a:t>T(n)=2T(n/2)+O(n)</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571500">
                <a:tc>
                  <a:txBody>
                    <a:bodyPr/>
                    <a:lstStyle/>
                    <a:p>
                      <a:pPr algn="l"/>
                      <a:r>
                        <a:rPr sz="1350" b="0">
                          <a:solidFill>
                            <a:srgbClr val="151515"/>
                          </a:solidFill>
                          <a:latin typeface="Malgun Gothic"/>
                          <a:ea typeface="Malgun Gothic"/>
                          <a:cs typeface="Malgun Gothic"/>
                        </a:rPr>
                        <a:t>최근접 쌍</a:t>
                      </a:r>
                    </a:p>
                    <a:p>
                      <a:pPr algn="l"/>
                      <a:r>
                        <a:rPr sz="1350" b="0">
                          <a:solidFill>
                            <a:srgbClr val="151515"/>
                          </a:solidFill>
                          <a:latin typeface="Malgun Gothic"/>
                          <a:ea typeface="Malgun Gothic"/>
                          <a:cs typeface="Malgun Gothic"/>
                        </a:rPr>
                        <a:t>(y 정렬 유지)</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4"/>
                  </a:ext>
                </a:extLst>
              </a:tr>
            </a:tbl>
          </a:graphicData>
        </a:graphic>
      </p:graphicFrame>
      <p:sp>
        <p:nvSpPr>
          <p:cNvPr id="10" name="caption">
            <a:extLst>
              <a:ext uri="{FF2B5EF4-FFF2-40B4-BE49-F238E27FC236}">
                <a16:creationId xmlns:a16="http://schemas.microsoft.com/office/drawing/2014/main" id="{6A5CB9A9-A499-488F-9BFE-795B21CF7487}"/>
              </a:ext>
            </a:extLst>
          </p:cNvPr>
          <p:cNvSpPr>
            <a:spLocks noGrp="1"/>
          </p:cNvSpPr>
          <p:nvPr/>
        </p:nvSpPr>
        <p:spPr>
          <a:xfrm>
            <a:off x="609600" y="5638800"/>
            <a:ext cx="10972800" cy="62865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병합 정렬은 한 단계의 병합에 O(n), 재귀 깊이에 O(log n)이 듭니다.</a:t>
            </a:r>
          </a:p>
        </p:txBody>
      </p:sp>
    </p:spTree>
    <p:extLst>
      <p:ext uri="{BB962C8B-B14F-4D97-AF65-F5344CB8AC3E}">
        <p14:creationId xmlns:p14="http://schemas.microsoft.com/office/powerpoint/2010/main" val="321242540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115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116</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119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120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121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34172</Words>
  <Application>Microsoft Office PowerPoint</Application>
  <DocSecurity>0</DocSecurity>
  <PresentationFormat>와이드스크린</PresentationFormat>
  <Paragraphs>3832</Paragraphs>
  <Slides>121</Slides>
  <Notes>121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121</vt:i4>
      </vt:variant>
    </vt:vector>
  </HeadingPairs>
  <TitlesOfParts>
    <vt:vector size="126"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9</cp:revision>
  <dcterms:created xsi:type="dcterms:W3CDTF">2026-09-19T13:48:20Z</dcterms:created>
  <dcterms:modified xsi:type="dcterms:W3CDTF">2026-10-11T11:52:40Z</dcterms:modified>
</cp:coreProperties>
</file>