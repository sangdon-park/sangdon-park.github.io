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42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7461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5.png"/><Relationship Id="rId4" Type="http://schemas.openxmlformats.org/officeDocument/2006/relationships/image" Target="../media/image15.png"/><Relationship Id="rId9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1" name="Shape 9"/>
          <p:cNvSpPr/>
          <p:nvPr/>
        </p:nvSpPr>
        <p:spPr>
          <a:xfrm>
            <a:off x="1170432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8136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5568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0432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0704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88136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0432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9601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ALGORITHMS · 모든 가능성을 시도한다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187452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5200" dirty="0"/>
          </a:p>
          <a:p>
            <a:pPr marL="0" indent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브루트 포스 기법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896112" y="39776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C6C4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“될 때까지 다 해보자” — 가능한 모든 경우를 빠짐없이 확인하는 알고리즘 설계 전략.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96112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7A78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Brute Force Algorithm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03720" y="1828800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35240" y="2121408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9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9550" y="2315718"/>
            <a:ext cx="388620" cy="38862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903720" y="29626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903720" y="33101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경우 시도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9400032" y="1828800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10131552" y="2121408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1" descr="/home/claude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5862" y="2315718"/>
            <a:ext cx="388620" cy="38862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9400032" y="29626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&amp; 조합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9400032" y="33101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903720" y="3959352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7635240" y="4251960"/>
            <a:ext cx="777240" cy="77724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9" name="Image 2" descr="/home/claude/icons/stopwat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9550" y="4446270"/>
            <a:ext cx="388620" cy="3886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903720" y="50932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</a:t>
            </a:r>
            <a:endParaRPr lang="en-US" sz="1600" dirty="0"/>
          </a:p>
        </p:txBody>
      </p:sp>
      <p:sp>
        <p:nvSpPr>
          <p:cNvPr id="41" name="Text 36"/>
          <p:cNvSpPr/>
          <p:nvPr/>
        </p:nvSpPr>
        <p:spPr>
          <a:xfrm>
            <a:off x="6903720" y="5440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9400032" y="3959352"/>
            <a:ext cx="2240280" cy="1874520"/>
          </a:xfrm>
          <a:prstGeom prst="roundRect">
            <a:avLst>
              <a:gd name="adj" fmla="val 6829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52400" dist="63500" dir="5400000" algn="bl" rotWithShape="0">
              <a:srgbClr val="1A1836">
                <a:alpha val="30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10131552" y="4251960"/>
            <a:ext cx="777240" cy="7772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44" name="Image 3" descr="/home/claude/icons/troph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5862" y="4446270"/>
            <a:ext cx="388620" cy="388620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400032" y="50932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600" dirty="0"/>
          </a:p>
        </p:txBody>
      </p:sp>
      <p:sp>
        <p:nvSpPr>
          <p:cNvPr id="46" name="Text 40"/>
          <p:cNvSpPr/>
          <p:nvPr/>
        </p:nvSpPr>
        <p:spPr>
          <a:xfrm>
            <a:off x="9400032" y="5440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적용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2 · 학습 로드맵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47672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4F46E5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4767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92224" y="1783080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탐색이란 무엇인가?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172304" y="1993392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9" name="Image 0" descr="/home/claude/icons/key_indi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176" y="2112264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24448" y="1783080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43904" y="1947672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43904" y="194767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458304" y="1783080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반복에서 다중 반복으로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0838383" y="1993392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15" name="Image 1" descr="/home/claude/icons/layers_vio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112264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8368" y="2862072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77824" y="3026664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38BDF8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877824" y="302666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1792224" y="2862072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기본 구조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172304" y="3072384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21" name="Image 2" descr="/home/claude/icons/sitemap_s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176" y="3191256"/>
            <a:ext cx="237744" cy="23774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324448" y="2862072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43904" y="3026664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10B981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43904" y="302666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7458304" y="2862072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순열과 조합 (itertools)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10838383" y="3072384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27" name="Image 3" descr="/home/claude/icons/gear_e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3191256"/>
            <a:ext cx="237744" cy="23774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58368" y="3941064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77824" y="4105656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F59E0B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877824" y="410565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1792224" y="3941064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예제로 배우는 완전 탐색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172304" y="4151376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33" name="Image 4" descr="/home/claude/icons/search_amb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1176" y="4270248"/>
            <a:ext cx="237744" cy="237744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324448" y="3941064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543904" y="4105656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FB7185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6543904" y="410565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</a:t>
            </a:r>
            <a:endParaRPr lang="en-US" sz="1700" dirty="0"/>
          </a:p>
        </p:txBody>
      </p:sp>
      <p:sp>
        <p:nvSpPr>
          <p:cNvPr id="37" name="Text 30"/>
          <p:cNvSpPr/>
          <p:nvPr/>
        </p:nvSpPr>
        <p:spPr>
          <a:xfrm>
            <a:off x="7458304" y="3941064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복잡도와 조합적 폭발</a:t>
            </a:r>
            <a:endParaRPr lang="en-US" sz="1500" dirty="0"/>
          </a:p>
        </p:txBody>
      </p:sp>
      <p:sp>
        <p:nvSpPr>
          <p:cNvPr id="38" name="Shape 31"/>
          <p:cNvSpPr/>
          <p:nvPr/>
        </p:nvSpPr>
        <p:spPr>
          <a:xfrm>
            <a:off x="10838383" y="4151376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39" name="Image 5" descr="/home/claude/icons/warn_cor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7255" y="4270248"/>
            <a:ext cx="237744" cy="237744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658368" y="5020056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877824" y="5184648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2" name="Text 34"/>
          <p:cNvSpPr/>
          <p:nvPr/>
        </p:nvSpPr>
        <p:spPr>
          <a:xfrm>
            <a:off x="877824" y="518464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</a:t>
            </a:r>
            <a:endParaRPr lang="en-US" sz="1700" dirty="0"/>
          </a:p>
        </p:txBody>
      </p:sp>
      <p:sp>
        <p:nvSpPr>
          <p:cNvPr id="43" name="Text 35"/>
          <p:cNvSpPr/>
          <p:nvPr/>
        </p:nvSpPr>
        <p:spPr>
          <a:xfrm>
            <a:off x="1792224" y="5020056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알고리즘의 씨앗</a:t>
            </a:r>
            <a:endParaRPr lang="en-US" sz="1500" dirty="0"/>
          </a:p>
        </p:txBody>
      </p:sp>
      <p:sp>
        <p:nvSpPr>
          <p:cNvPr id="44" name="Shape 36"/>
          <p:cNvSpPr/>
          <p:nvPr/>
        </p:nvSpPr>
        <p:spPr>
          <a:xfrm>
            <a:off x="5172304" y="5230368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45" name="Image 6" descr="/home/claude/icons/rocket_viol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1176" y="5349240"/>
            <a:ext cx="237744" cy="237744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6324448" y="5020056"/>
            <a:ext cx="5208880" cy="896112"/>
          </a:xfrm>
          <a:prstGeom prst="roundRect">
            <a:avLst>
              <a:gd name="adj" fmla="val 1326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6543904" y="5184648"/>
            <a:ext cx="749808" cy="566928"/>
          </a:xfrm>
          <a:prstGeom prst="roundRect">
            <a:avLst>
              <a:gd name="adj" fmla="val 16129"/>
            </a:avLst>
          </a:prstGeom>
          <a:solidFill>
            <a:srgbClr val="10B981"/>
          </a:solidFill>
          <a:ln/>
          <a:effectLst>
            <a:outerShdw blurRad="889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8" name="Text 39"/>
          <p:cNvSpPr/>
          <p:nvPr/>
        </p:nvSpPr>
        <p:spPr>
          <a:xfrm>
            <a:off x="6543904" y="518464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</a:t>
            </a:r>
            <a:endParaRPr lang="en-US" sz="1700" dirty="0"/>
          </a:p>
        </p:txBody>
      </p:sp>
      <p:sp>
        <p:nvSpPr>
          <p:cNvPr id="49" name="Text 40"/>
          <p:cNvSpPr/>
          <p:nvPr/>
        </p:nvSpPr>
        <p:spPr>
          <a:xfrm>
            <a:off x="7458304" y="5020056"/>
            <a:ext cx="32977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500" dirty="0"/>
          </a:p>
        </p:txBody>
      </p:sp>
      <p:sp>
        <p:nvSpPr>
          <p:cNvPr id="50" name="Shape 41"/>
          <p:cNvSpPr/>
          <p:nvPr/>
        </p:nvSpPr>
        <p:spPr>
          <a:xfrm>
            <a:off x="10838383" y="5230368"/>
            <a:ext cx="475488" cy="475488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51" name="Image 7" descr="/home/claude/icons/trophy_em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57255" y="5349240"/>
            <a:ext cx="237744" cy="237744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완전 탐색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58368" y="1554480"/>
            <a:ext cx="10874959" cy="1234440"/>
          </a:xfrm>
          <a:prstGeom prst="roundRect">
            <a:avLst>
              <a:gd name="adj" fmla="val 11852"/>
            </a:avLst>
          </a:prstGeom>
          <a:solidFill>
            <a:srgbClr val="17163A"/>
          </a:solidFill>
          <a:ln/>
          <a:effectLst>
            <a:outerShdw blurRad="177800" dist="76200" dir="5400000" algn="bl" rotWithShape="0">
              <a:srgbClr val="1A1836">
                <a:alpha val="2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58368" y="169164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“될 때까지 </a:t>
            </a:r>
            <a:r>
              <a:rPr lang="en-US" sz="3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해보자!</a:t>
            </a:r>
            <a:r>
              <a:rPr lang="en-US" sz="3000" b="1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모든 경우의 수를 하나도 빠짐없이, 체계적으로 확인하는 가장 확실한 방법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19390" y="3429000"/>
            <a:ext cx="777240" cy="7772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700" y="3623310"/>
            <a:ext cx="388620" cy="388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Brute Force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순진하지만 강력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450260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11282" y="342900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3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592" y="3623310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50260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Naive Method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587420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단순하지만 확실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42152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103174" y="3429000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2" descr="/home/claude/icons/listo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484" y="362331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42152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Exhaustive Search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379312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조사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034043" y="3063240"/>
            <a:ext cx="2499284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895065" y="3429000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3" name="Image 3" descr="/home/claude/icons/sta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9375" y="3623310"/>
            <a:ext cx="388620" cy="3886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34043" y="42976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Seed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9171203" y="4690872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알고리즘의 출발점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탐색이란 무엇인가?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브루트 포스(Brute Force)의 핵심 개념을 자물쇠 비밀번호 찾기 비유로 이해합니다.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자물쇠 비유로 이해하기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212080" cy="3977640"/>
          </a:xfrm>
          <a:prstGeom prst="roundRect">
            <a:avLst>
              <a:gd name="adj" fmla="val 3678"/>
            </a:avLst>
          </a:prstGeom>
          <a:solidFill>
            <a:srgbClr val="17163A"/>
          </a:solidFill>
          <a:ln/>
          <a:effectLst>
            <a:outerShdw blurRad="177800" dist="76200" dir="5400000" algn="bl" rotWithShape="0">
              <a:srgbClr val="1A1836">
                <a:alpha val="2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61488" y="2148840"/>
            <a:ext cx="1005840" cy="10058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948" y="24003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자물쇠 비밀번호 찾기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58368" y="37033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r>
              <a:rPr lang="en-US" sz="2000" dirty="0">
                <a:solidFill>
                  <a:srgbClr val="C8C6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부터 </a:t>
            </a: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9999</a:t>
            </a:r>
            <a:r>
              <a:rPr lang="en-US" sz="2000" dirty="0">
                <a:solidFill>
                  <a:srgbClr val="C8C6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까지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658368" y="417880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경우의 수 = 총 10,000개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113842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14" name="Text 10"/>
          <p:cNvSpPr/>
          <p:nvPr/>
        </p:nvSpPr>
        <p:spPr>
          <a:xfrm>
            <a:off x="113842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23570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16" name="Text 12"/>
          <p:cNvSpPr/>
          <p:nvPr/>
        </p:nvSpPr>
        <p:spPr>
          <a:xfrm>
            <a:off x="223570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33298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18" name="Text 14"/>
          <p:cNvSpPr/>
          <p:nvPr/>
        </p:nvSpPr>
        <p:spPr>
          <a:xfrm>
            <a:off x="333298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430268" y="47091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2A2860"/>
          </a:solidFill>
          <a:ln/>
        </p:spPr>
      </p:sp>
      <p:sp>
        <p:nvSpPr>
          <p:cNvPr id="20" name="Text 16"/>
          <p:cNvSpPr/>
          <p:nvPr/>
        </p:nvSpPr>
        <p:spPr>
          <a:xfrm>
            <a:off x="4430268" y="47091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D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32688" y="5303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순서대로 하나씩 다 맞춰본다 → 시간이 걸려도 반드시 열린다!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281928" y="1783080"/>
            <a:ext cx="5251399" cy="1188720"/>
          </a:xfrm>
          <a:prstGeom prst="roundRect">
            <a:avLst>
              <a:gd name="adj" fmla="val 1076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537960" y="2093976"/>
            <a:ext cx="566928" cy="56692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2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692" y="2235708"/>
            <a:ext cx="283464" cy="2834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287768" y="1783080"/>
            <a:ext cx="40169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구현이 쉽다</a:t>
            </a:r>
            <a:endParaRPr lang="en-US" sz="15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수학 없이 반복문만으로 구현 가능</a:t>
            </a:r>
            <a:endParaRPr lang="en-US" sz="1550" dirty="0"/>
          </a:p>
        </p:txBody>
      </p:sp>
      <p:sp>
        <p:nvSpPr>
          <p:cNvPr id="26" name="Shape 21"/>
          <p:cNvSpPr/>
          <p:nvPr/>
        </p:nvSpPr>
        <p:spPr>
          <a:xfrm>
            <a:off x="6281928" y="3172968"/>
            <a:ext cx="5251399" cy="1188720"/>
          </a:xfrm>
          <a:prstGeom prst="roundRect">
            <a:avLst>
              <a:gd name="adj" fmla="val 1076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537960" y="3483864"/>
            <a:ext cx="566928" cy="56692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3" descr="/home/claude/icons/targe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692" y="362559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287768" y="3172968"/>
            <a:ext cx="40169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반드시 찾는다</a:t>
            </a:r>
            <a:endParaRPr lang="en-US" sz="15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경우를 확인하므로 100% 확실</a:t>
            </a:r>
            <a:endParaRPr lang="en-US" sz="1550" dirty="0"/>
          </a:p>
        </p:txBody>
      </p:sp>
      <p:sp>
        <p:nvSpPr>
          <p:cNvPr id="30" name="Shape 24"/>
          <p:cNvSpPr/>
          <p:nvPr/>
        </p:nvSpPr>
        <p:spPr>
          <a:xfrm>
            <a:off x="6281928" y="4562856"/>
            <a:ext cx="5251399" cy="1188720"/>
          </a:xfrm>
          <a:prstGeom prst="roundRect">
            <a:avLst>
              <a:gd name="adj" fmla="val 1076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537960" y="4873752"/>
            <a:ext cx="566928" cy="566928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4" descr="/home/claude/icons/war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501548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287768" y="4562856"/>
            <a:ext cx="40169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느릴 수 있다</a:t>
            </a:r>
            <a:endParaRPr lang="en-US" sz="15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자릿수가 늘수록 경우의 수가 폭발</a:t>
            </a:r>
            <a:endParaRPr lang="en-US" sz="1550" dirty="0"/>
          </a:p>
        </p:txBody>
      </p:sp>
      <p:sp>
        <p:nvSpPr>
          <p:cNvPr id="34" name="Text 27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핵심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691640"/>
            <a:ext cx="10874959" cy="1463040"/>
          </a:xfrm>
          <a:prstGeom prst="roundRect">
            <a:avLst>
              <a:gd name="adj" fmla="val 10000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" y="1874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lang="en-US" sz="36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될 때까지 다 해보자!</a:t>
            </a:r>
            <a:r>
              <a:rPr lang="en-US" sz="36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58368" y="260604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아이디어가 필요 없는, 가장 순진하지만 가장 확실한 접근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58368" y="3520440"/>
            <a:ext cx="3381146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937461" y="384048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1" descr="/home/claude/icons/listo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201" y="40462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475488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조사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658368" y="5093208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빠짐없이 모두 확인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405274" y="3520440"/>
            <a:ext cx="3381146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84368" y="384048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40462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05274" y="475488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정확성 보장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4405274" y="5093208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정답에 도달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52181" y="3520440"/>
            <a:ext cx="3381146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431274" y="384048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3" descr="/home/claude/icons/gea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014" y="404622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152181" y="475488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도구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152181" y="5093208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반복문·순열·조합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자물쇠 비밀번호 찾기 — 4중 반복문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47088"/>
            <a:ext cx="10874959" cy="640080"/>
          </a:xfrm>
          <a:prstGeom prst="roundRect">
            <a:avLst>
              <a:gd name="adj" fmla="val 17143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38528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528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184708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secret_code = "8234"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8,235회 시도 후 발견!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" y="2606040"/>
            <a:ext cx="10874959" cy="3466514"/>
          </a:xfrm>
          <a:prstGeom prst="roundRect">
            <a:avLst>
              <a:gd name="adj" fmla="val 3429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60604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4" name="Shape 10"/>
          <p:cNvSpPr/>
          <p:nvPr/>
        </p:nvSpPr>
        <p:spPr>
          <a:xfrm>
            <a:off x="658368" y="286207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5" name="Shape 11"/>
          <p:cNvSpPr/>
          <p:nvPr/>
        </p:nvSpPr>
        <p:spPr>
          <a:xfrm>
            <a:off x="859536" y="273405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6" name="Shape 12"/>
          <p:cNvSpPr/>
          <p:nvPr/>
        </p:nvSpPr>
        <p:spPr>
          <a:xfrm>
            <a:off x="1060704" y="273405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7" name="Shape 13"/>
          <p:cNvSpPr/>
          <p:nvPr/>
        </p:nvSpPr>
        <p:spPr>
          <a:xfrm>
            <a:off x="1261872" y="273405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8" name="Text 14"/>
          <p:cNvSpPr/>
          <p:nvPr/>
        </p:nvSpPr>
        <p:spPr>
          <a:xfrm>
            <a:off x="1481328" y="260604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lock_bruteforce.py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914400" y="3182112"/>
            <a:ext cx="1041775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secret_code = </a:t>
            </a:r>
            <a:r>
              <a:rPr lang="en-US" sz="13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"8234"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 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d1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자리 (0~9)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d2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자리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d3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세 번째 자리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d4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네 번째 자리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attempt = f</a:t>
            </a:r>
            <a:r>
              <a:rPr lang="en-US" sz="13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"{d1}{d2}{d3}{d4}"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count +=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attempt == secret_code: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</a:t>
            </a:r>
            <a:r>
              <a:rPr lang="en-US" sz="13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"비밀번호: {attempt} ({count}회)"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반복에서 다중 반복으로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찾아야 할 변수의 개수만큼 반복문을 중첩한다 — 완전 탐색의 가장 중요한 패턴입니다.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개수 = 반복문 개수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893B65C5-B727-4EF4-B28C-1456FC91D2D0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411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4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각 변수를 n개 후보 전체로 순회하고 후보 하나를 O(1)에 검사할 때의 시간입니다.</a:t>
            </a:r>
            <a:endParaRPr sz="145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3381146" cy="2788920"/>
          </a:xfrm>
          <a:prstGeom prst="roundRect">
            <a:avLst>
              <a:gd name="adj" fmla="val 4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663141" y="25603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663141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8368" y="320040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하나 찾기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658368" y="365760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1개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571701" y="40690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  <a:effectLst>
            <a:outerShdw blurRad="76200" dist="254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571701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46634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약수 찾기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405274" y="2286000"/>
            <a:ext cx="3381146" cy="2788920"/>
          </a:xfrm>
          <a:prstGeom prst="roundRect">
            <a:avLst>
              <a:gd name="adj" fmla="val 4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10048" y="25603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410048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405274" y="320040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짝(Pair) 찾기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4405274" y="365760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2개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318608" y="40690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  <a:effectLst>
            <a:outerShdw blurRad="76200" dist="254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318608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405274" y="46634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합이 K인 쌍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52181" y="2286000"/>
            <a:ext cx="3381146" cy="2788920"/>
          </a:xfrm>
          <a:prstGeom prst="roundRect">
            <a:avLst>
              <a:gd name="adj" fmla="val 4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56954" y="25603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/>
        </p:spPr>
      </p:sp>
      <p:sp>
        <p:nvSpPr>
          <p:cNvPr id="26" name="Text 23"/>
          <p:cNvSpPr/>
          <p:nvPr/>
        </p:nvSpPr>
        <p:spPr>
          <a:xfrm>
            <a:off x="9156954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152181" y="320040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합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8152181" y="365760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3개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065514" y="406908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  <a:effectLst>
            <a:outerShdw blurRad="76200" dist="254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9065514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O(n³)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8152181" y="46634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주사위 3개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8368" y="5257800"/>
            <a:ext cx="1087495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14400" y="5312664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26964"/>
            <a:ext cx="228600" cy="2286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627632" y="5257800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찾아야 할 변수의 개수만큼 반복문을 중첩한다!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단일 반복문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약수 찾기 — O(n)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2075688"/>
            <a:ext cx="6766560" cy="2820338"/>
          </a:xfrm>
          <a:prstGeom prst="roundRect">
            <a:avLst>
              <a:gd name="adj" fmla="val 3429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find_divisors.py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96312"/>
            <a:ext cx="6309360" cy="2112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find_divisors(n):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divisors = []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 +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1부터 n까지 모두 시도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 % i ==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나누어떨어지면 약수!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divisors.append(i)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divisors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(find_divisors(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790688" y="1874520"/>
            <a:ext cx="3742639" cy="1417320"/>
          </a:xfrm>
          <a:prstGeom prst="roundRect">
            <a:avLst>
              <a:gd name="adj" fmla="val 903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46720" y="2029968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046720" y="2377440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10의 약수: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046720" y="2724912"/>
            <a:ext cx="32854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5, 10]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90688" y="3474720"/>
            <a:ext cx="3742639" cy="1600200"/>
          </a:xfrm>
          <a:prstGeom prst="roundRect">
            <a:avLst>
              <a:gd name="adj" fmla="val 800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90688" y="365760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90688" y="3950208"/>
            <a:ext cx="3742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</a:t>
            </a:r>
            <a:endParaRPr lang="en-US" sz="3200" dirty="0"/>
          </a:p>
        </p:txBody>
      </p:sp>
      <p:sp>
        <p:nvSpPr>
          <p:cNvPr id="23" name="Text 20"/>
          <p:cNvSpPr/>
          <p:nvPr/>
        </p:nvSpPr>
        <p:spPr>
          <a:xfrm>
            <a:off x="7790688" y="4553712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1개 → 반복문 1개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· 이중 반복문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짝(Pair) 찾기 — O(n²)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F180A654-FDDC-4985-B895-892D8CA12112}"/>
              </a:ext>
            </a:extLst>
          </p:cNvPr>
          <p:cNvSpPr>
            <a:spLocks noGrp="1"/>
          </p:cNvSpPr>
          <p:nvPr/>
        </p:nvSpPr>
        <p:spPr>
          <a:xfrm>
            <a:off x="658368" y="1828800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길이 n인 배열에서 인덱스 i&lt;j인 쌍을 검사한다. 예: [1,3,5,7,9], K=10.</a:t>
            </a:r>
            <a:endParaRPr sz="135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find_pairs.py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8920"/>
            <a:ext cx="630936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find_pairs(arr, K):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pairs = []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 -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카드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 +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(arr)):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(중복 방지)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arr[i] + arr[j] == K: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pairs.append((arr[i], arr[j]))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pairs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(find_pairs([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1051560"/>
          </a:xfrm>
          <a:prstGeom prst="roundRect">
            <a:avLst>
              <a:gd name="adj" fmla="val 12174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77440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70048"/>
            <a:ext cx="32854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[(1, 9), (3, 7)]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7790688" y="3474720"/>
            <a:ext cx="3742639" cy="2011680"/>
          </a:xfrm>
          <a:prstGeom prst="roundRect">
            <a:avLst>
              <a:gd name="adj" fmla="val 6364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90688" y="3703320"/>
            <a:ext cx="3742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3200" dirty="0"/>
          </a:p>
        </p:txBody>
      </p:sp>
      <p:sp>
        <p:nvSpPr>
          <p:cNvPr id="22" name="Text 19"/>
          <p:cNvSpPr/>
          <p:nvPr/>
        </p:nvSpPr>
        <p:spPr>
          <a:xfrm>
            <a:off x="7790688" y="434340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= 100 이면</a:t>
            </a:r>
            <a:endParaRPr lang="en-US" sz="1300" dirty="0"/>
          </a:p>
        </p:txBody>
      </p:sp>
      <p:sp>
        <p:nvSpPr>
          <p:cNvPr id="23" name="Text 20">
            <a:extLst>
              <a:ext uri="{FF2B5EF4-FFF2-40B4-BE49-F238E27FC236}">
                <ns3:creationId id="{B9018D3D-C6D1-4F90-BF37-CDA155D7D289}"/>
              </a:ext>
            </a:extLst>
          </p:cNvPr>
          <p:cNvSpPr>
            <a:spLocks noGrp="1"/>
          </p:cNvSpPr>
          <p:nvPr/>
        </p:nvSpPr>
        <p:spPr>
          <a:xfrm>
            <a:off x="7790688" y="4645152"/>
            <a:ext cx="3742658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600" b="1" i="0">
                <a:solidFill>
                  <a:srgbClr val="9CC4FF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1" i="0">
                <a:solidFill>
                  <a:srgbClr val="9CC4FF"/>
                </a:solidFill>
                <a:latin typeface="Malgun Gothic"/>
                <a:ea typeface="Malgun Gothic"/>
                <a:cs typeface="Malgun Gothic"/>
              </a:rPr>
              <a:t>100×99÷2 = 4,950쌍</a:t>
            </a:r>
            <a:endParaRPr sz="1600"/>
          </a:p>
        </p:txBody>
      </p:sp>
      <p:sp>
        <p:nvSpPr>
          <p:cNvPr id="24" name="Text 21"/>
          <p:cNvSpPr/>
          <p:nvPr/>
        </p:nvSpPr>
        <p:spPr>
          <a:xfrm>
            <a:off x="7790688" y="507492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안에 for → 반복문 2겹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· 삼중 반복문</a:t>
            </a:r>
            <a:endParaRPr lang="en-US" sz="1250" dirty="0"/>
          </a:p>
        </p:txBody>
      </p:sp>
      <p:sp>
        <p:nvSpPr>
          <p:cNvPr id="7" name="Text 4">
            <a:extLst>
              <a:ext uri="{FF2B5EF4-FFF2-40B4-BE49-F238E27FC236}">
                <ns3:creationId id="{0FB1D4E6-2A08-4FB9-82C9-157E064F1827}"/>
              </a:ext>
            </a:extLst>
          </p:cNvPr>
          <p:cNvSpPr>
            <a:spLocks noGrp="1"/>
          </p:cNvSpPr>
          <p:nvPr/>
        </p:nvSpPr>
        <p:spPr>
          <a:xfrm>
            <a:off x="658368" y="1133856"/>
            <a:ext cx="10874978" cy="685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서로 구별되는 6면 주사위 세 개의 합</a:t>
            </a:r>
            <a:endParaRPr sz="290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dice_sum.py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59736"/>
            <a:ext cx="63093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dice_sum(target):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results = []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d1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주사위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d2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주사위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d3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세 번째 주사위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d1 + d2 + d3 == target: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results.append((d1, d2, d3))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results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(dice_sum(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90688" y="1874520"/>
            <a:ext cx="3742639" cy="1783080"/>
          </a:xfrm>
          <a:prstGeom prst="roundRect">
            <a:avLst>
              <a:gd name="adj" fmla="val 7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341968" y="2057400"/>
            <a:ext cx="640080" cy="64008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1" descr="/home/claude/icons/dic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1988" y="221742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790688" y="2761488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경우의 수 분석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790688" y="3072384"/>
            <a:ext cx="3742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× 6 × 6 = 216가지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7790688" y="3401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합=10 → 27가지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790688" y="3840480"/>
            <a:ext cx="3742639" cy="1600200"/>
          </a:xfrm>
          <a:prstGeom prst="roundRect">
            <a:avLst>
              <a:gd name="adj" fmla="val 800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3" name="Text 19">
            <a:extLst>
              <a:ext uri="{FF2B5EF4-FFF2-40B4-BE49-F238E27FC236}">
                <ns3:creationId id="{3B5CFA62-0AB4-4FED-9381-2FDD4507E0B3}"/>
              </a:ext>
            </a:extLst>
          </p:cNvPr>
          <p:cNvSpPr>
            <a:spLocks noGrp="1"/>
          </p:cNvSpPr>
          <p:nvPr/>
        </p:nvSpPr>
        <p:spPr>
          <a:xfrm>
            <a:off x="7790688" y="4206240"/>
            <a:ext cx="3742658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2200" b="1" i="0">
                <a:solidFill>
                  <a:srgbClr val="FBBF24"/>
                </a:solidFill>
                <a:latin typeface="Malgun Gothic"/>
                <a:ea typeface="Malgun Gothic"/>
                <a:cs typeface="Malgun Gothic"/>
              </a:defRPr>
            </a:pPr>
            <a:r>
              <a:rPr sz="2200" b="1" i="0">
                <a:solidFill>
                  <a:srgbClr val="FBBF24"/>
                </a:solidFill>
                <a:latin typeface="Malgun Gothic"/>
                <a:ea typeface="Malgun Gothic"/>
                <a:cs typeface="Malgun Gothic"/>
              </a:rPr>
              <a:t>216회 검사 → O(1)</a:t>
            </a:r>
            <a:endParaRPr sz="2200"/>
          </a:p>
        </p:txBody>
      </p:sp>
      <p:sp>
        <p:nvSpPr>
          <p:cNvPr id="24" name="Text 20"/>
          <p:cNvSpPr/>
          <p:nvPr/>
        </p:nvSpPr>
        <p:spPr>
          <a:xfrm>
            <a:off x="7790688" y="475488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3개 → 반복문 3개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요약: 변수 = 반복문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72809836-41A5-4765-8E30-BE1A38CFB4DE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411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4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각 선택에 n개 후보가 있고, 후보를 O(1)에 검사하는 직접 중첩 구현을 생각합니다.</a:t>
            </a:r>
            <a:endParaRPr sz="1450"/>
          </a:p>
        </p:txBody>
      </p:sp>
      <p:sp>
        <p:nvSpPr>
          <p:cNvPr id="8" name="Shape 5"/>
          <p:cNvSpPr/>
          <p:nvPr/>
        </p:nvSpPr>
        <p:spPr>
          <a:xfrm>
            <a:off x="658368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1개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8368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58368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1개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222210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13" name="Text 10"/>
          <p:cNvSpPr/>
          <p:nvPr/>
        </p:nvSpPr>
        <p:spPr>
          <a:xfrm>
            <a:off x="1222210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50260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450260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2개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50260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450260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2개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014102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19" name="Text 16"/>
          <p:cNvSpPr/>
          <p:nvPr/>
        </p:nvSpPr>
        <p:spPr>
          <a:xfrm>
            <a:off x="4014102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242152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242152" y="269748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3개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242152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242152" y="3474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3개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05993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25" name="Text 22"/>
          <p:cNvSpPr/>
          <p:nvPr/>
        </p:nvSpPr>
        <p:spPr>
          <a:xfrm>
            <a:off x="6805993" y="3977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O(n³)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034043" y="2377440"/>
            <a:ext cx="2499284" cy="2377440"/>
          </a:xfrm>
          <a:prstGeom prst="roundRect">
            <a:avLst>
              <a:gd name="adj" fmla="val 5385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Text 24">
            <a:extLst>
              <a:ext uri="{FF2B5EF4-FFF2-40B4-BE49-F238E27FC236}">
                <ns3:creationId id="{7BF7A13B-D692-4047-BE04-D230C5C5EEA8}"/>
              </a:ext>
            </a:extLst>
          </p:cNvPr>
          <p:cNvSpPr>
            <a:spLocks noGrp="1"/>
          </p:cNvSpPr>
          <p:nvPr/>
        </p:nvSpPr>
        <p:spPr>
          <a:xfrm>
            <a:off x="9034082" y="2697480"/>
            <a:ext cx="2499265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6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변수 k개</a:t>
            </a:r>
            <a:endParaRPr sz="1600"/>
          </a:p>
        </p:txBody>
      </p:sp>
      <p:sp>
        <p:nvSpPr>
          <p:cNvPr id="28" name="Text 25"/>
          <p:cNvSpPr/>
          <p:nvPr/>
        </p:nvSpPr>
        <p:spPr>
          <a:xfrm>
            <a:off x="9034043" y="31089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800" dirty="0"/>
          </a:p>
        </p:txBody>
      </p:sp>
      <p:sp>
        <p:nvSpPr>
          <p:cNvPr id="29" name="Text 26">
            <a:extLst>
              <a:ext uri="{FF2B5EF4-FFF2-40B4-BE49-F238E27FC236}">
                <ns3:creationId id="{783BA569-AE6B-4006-8384-ABE1EF9C514E}"/>
              </a:ext>
            </a:extLst>
          </p:cNvPr>
          <p:cNvSpPr>
            <a:spLocks noGrp="1"/>
          </p:cNvSpPr>
          <p:nvPr/>
        </p:nvSpPr>
        <p:spPr>
          <a:xfrm>
            <a:off x="9034082" y="3474720"/>
            <a:ext cx="2499265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500" b="1" i="0">
                <a:solidFill>
                  <a:srgbClr val="4338CA"/>
                </a:solidFill>
                <a:latin typeface="Consolas"/>
                <a:ea typeface="Consolas"/>
                <a:cs typeface="Consolas"/>
              </a:defRPr>
            </a:pPr>
            <a:r>
              <a:rPr sz="1500" b="1" i="0">
                <a:solidFill>
                  <a:srgbClr val="4338CA"/>
                </a:solidFill>
                <a:latin typeface="Consolas"/>
                <a:ea typeface="Consolas"/>
                <a:cs typeface="Consolas"/>
              </a:rPr>
              <a:t>for k개</a:t>
            </a:r>
            <a:endParaRPr sz="1500"/>
          </a:p>
        </p:txBody>
      </p:sp>
      <p:sp>
        <p:nvSpPr>
          <p:cNvPr id="30" name="Shape 27"/>
          <p:cNvSpPr/>
          <p:nvPr/>
        </p:nvSpPr>
        <p:spPr>
          <a:xfrm>
            <a:off x="9597885" y="39776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31" name="Text 28">
            <a:extLst>
              <a:ext uri="{FF2B5EF4-FFF2-40B4-BE49-F238E27FC236}">
                <ns3:creationId id="{D0D61E49-13DF-4391-9256-F77B9D0820CD}"/>
              </a:ext>
            </a:extLst>
          </p:cNvPr>
          <p:cNvSpPr>
            <a:spLocks noGrp="1"/>
          </p:cNvSpPr>
          <p:nvPr/>
        </p:nvSpPr>
        <p:spPr>
          <a:xfrm>
            <a:off x="9597866" y="3977640"/>
            <a:ext cx="137160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600" b="1" i="0">
                <a:solidFill>
                  <a:srgbClr val="FBBF24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1" i="0">
                <a:solidFill>
                  <a:srgbClr val="FBBF24"/>
                </a:solidFill>
                <a:latin typeface="Malgun Gothic"/>
                <a:ea typeface="Malgun Gothic"/>
                <a:cs typeface="Malgun Gothic"/>
              </a:rPr>
              <a:t>O(nᵏ)</a:t>
            </a:r>
            <a:endParaRPr sz="1600"/>
          </a:p>
        </p:txBody>
      </p:sp>
      <p:sp>
        <p:nvSpPr>
          <p:cNvPr id="32" name="Shape 29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1" descr="/home/claude/icons/lay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35" name="Text 31">
            <a:extLst>
              <a:ext uri="{FF2B5EF4-FFF2-40B4-BE49-F238E27FC236}">
                <ns3:creationId id="{9B0DC466-A730-42C8-A9CA-9CEFFCC94706}"/>
              </a:ext>
            </a:extLst>
          </p:cNvPr>
          <p:cNvSpPr>
            <a:spLocks noGrp="1"/>
          </p:cNvSpPr>
          <p:nvPr/>
        </p:nvSpPr>
        <p:spPr>
          <a:xfrm>
            <a:off x="1627632" y="5074920"/>
            <a:ext cx="9631394" cy="6583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00" b="0" i="0">
                <a:solidFill>
                  <a:srgbClr val="D9D7F2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i="0">
                <a:solidFill>
                  <a:srgbClr val="D9D7F2"/>
                </a:solidFill>
                <a:latin typeface="Malgun Gothic"/>
                <a:ea typeface="Malgun Gothic"/>
                <a:cs typeface="Malgun Gothic"/>
              </a:rPr>
              <a:t>고정된 k와 각 반복 범위를 먼저 확인합니다. 재귀·순열 생성기로도 같은 후보를 만들 수 있습니다.</a:t>
            </a:r>
            <a:endParaRPr sz="1400"/>
          </a:p>
        </p:txBody>
      </p:sp>
      <p:sp>
        <p:nvSpPr>
          <p:cNvPr id="36" name="Text 3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기본 구조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완전 탐색 문제든 통하는 3단계 템플릿 — 후보 해 생성, 조건 검증, 해 선택.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구조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알고리즘 템플릿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3381146" cy="3337560"/>
          </a:xfrm>
          <a:prstGeom prst="roundRect">
            <a:avLst>
              <a:gd name="adj" fmla="val 383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60321" y="2148840"/>
            <a:ext cx="777240" cy="7772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960321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58368" y="308152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해 생성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" y="3447288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Generation</a:t>
            </a:r>
            <a:endParaRPr lang="en-US" sz="1100" dirty="0"/>
          </a:p>
        </p:txBody>
      </p:sp>
      <p:sp>
        <p:nvSpPr>
          <p:cNvPr id="12" name="Text 9">
            <a:extLst>
              <a:ext uri="{FF2B5EF4-FFF2-40B4-BE49-F238E27FC236}">
                <ns3:creationId id="{EA855476-B786-4851-B893-11910EE8F763}"/>
              </a:ext>
            </a:extLst>
          </p:cNvPr>
          <p:cNvSpPr>
            <a:spLocks noGrp="1"/>
          </p:cNvSpPr>
          <p:nvPr/>
        </p:nvSpPr>
        <p:spPr>
          <a:xfrm>
            <a:off x="950976" y="3886200"/>
            <a:ext cx="2795969" cy="10972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가능한 후보를 빠짐없이 생성하고,</a:t>
            </a:r>
            <a:endParaRPr sz="1250"/>
          </a:p>
          <a:p>
            <a:pPr marL="0" indent="0" algn="ctr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개수를 셀 때는 중복 계수를 막는다.</a:t>
            </a:r>
            <a:endParaRPr sz="1250"/>
          </a:p>
        </p:txBody>
      </p:sp>
      <p:sp>
        <p:nvSpPr>
          <p:cNvPr id="13" name="Shape 10"/>
          <p:cNvSpPr/>
          <p:nvPr/>
        </p:nvSpPr>
        <p:spPr>
          <a:xfrm>
            <a:off x="4094378" y="33055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5274" y="1783080"/>
            <a:ext cx="3381146" cy="3337560"/>
          </a:xfrm>
          <a:prstGeom prst="roundRect">
            <a:avLst>
              <a:gd name="adj" fmla="val 383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07228" y="214884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707228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4405274" y="308152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검증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4405274" y="3447288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 Validation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97882" y="388620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후보가 문제 조건을 만족하는지 검사 (if 조건문 = 거름망)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841285" y="33055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152181" y="1783080"/>
            <a:ext cx="3381146" cy="3337560"/>
          </a:xfrm>
          <a:prstGeom prst="roundRect">
            <a:avLst>
              <a:gd name="adj" fmla="val 383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454134" y="2148840"/>
            <a:ext cx="777240" cy="7772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454134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152181" y="308152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선택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152181" y="3447288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 Selection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444789" y="388620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통과 시 즉시 반환하거나 최적값과 비교·갱신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58368" y="5447538"/>
            <a:ext cx="1087495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14400" y="5502402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9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616702"/>
            <a:ext cx="228600" cy="2286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627632" y="5447538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구조를 머릿속에 그리고 세부 로직만 채우면 </a:t>
            </a: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완전 탐색 문제도 해결할 수 있습니다.</a:t>
            </a:r>
            <a:endParaRPr lang="en-US" sz="1350" dirty="0"/>
          </a:p>
        </p:txBody>
      </p:sp>
      <p:sp>
        <p:nvSpPr>
          <p:cNvPr id="31" name="Text 27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구조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알고리즘 템플릿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554480"/>
            <a:ext cx="10874959" cy="3811270"/>
          </a:xfrm>
          <a:prstGeom prst="roundRect">
            <a:avLst>
              <a:gd name="adj" fmla="val 3038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55448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181051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0" name="Shape 7"/>
          <p:cNvSpPr/>
          <p:nvPr/>
        </p:nvSpPr>
        <p:spPr>
          <a:xfrm>
            <a:off x="859536" y="16824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1" name="Shape 8"/>
          <p:cNvSpPr/>
          <p:nvPr/>
        </p:nvSpPr>
        <p:spPr>
          <a:xfrm>
            <a:off x="1060704" y="16824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2" name="Shape 9"/>
          <p:cNvSpPr/>
          <p:nvPr/>
        </p:nvSpPr>
        <p:spPr>
          <a:xfrm>
            <a:off x="1261872" y="16824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3" name="Text 10"/>
          <p:cNvSpPr/>
          <p:nvPr/>
        </p:nvSpPr>
        <p:spPr>
          <a:xfrm>
            <a:off x="1481328" y="155448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brute_force_template.pseudo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2104390"/>
            <a:ext cx="10417759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 BruteForceSearch(input):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best_solution ← NULL         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최적해 저장 변수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[1단계] 후보 해 생성: 가능한 모든 경우 순회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each candidate in GenerateAll(input):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[2단계] 조건 검증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IsValid(candidate)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[3단계] 해 선택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(A) 정답 하나만 필요하면:  return candidate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(B) 최적해가 필요하면: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candidate is better than best_solution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best_solution ← candidate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best_solution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8368" y="5549900"/>
            <a:ext cx="10874959" cy="566928"/>
          </a:xfrm>
          <a:prstGeom prst="roundRect">
            <a:avLst>
              <a:gd name="adj" fmla="val 22581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560476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1" descr="/home/claude/icons/rocke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719064"/>
            <a:ext cx="228600" cy="2286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27632" y="5549900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52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 · 분할 정복 · 동적 계획법</a:t>
            </a: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모두 이 구조에서 ‘비효율 탐색을 어떻게 줄일까?’를 고민하며 발전했습니다.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2.4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순열과 조합 · itertools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반복문의 늪에서 탈출하기 — 파이썬 itertools로 순열과 조합을 우아하게 생성합니다.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파이썬의 강력한 무기: itertools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반복문이 깊어집니다. itertools는 이 중첩을 한 줄로 대체해 줍니다.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22860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Before — 중첩 반복문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269748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69748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95351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8254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8254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8254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69748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3219958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(i+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k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(j+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(arr[i], arr[j], arr[k])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470916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4개, 5개로 늘면 코드를 계속 고쳐야 함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324448" y="22860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After — itertools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324448" y="269748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24448" y="269748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4448" y="295351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22" name="Shape 19"/>
          <p:cNvSpPr/>
          <p:nvPr/>
        </p:nvSpPr>
        <p:spPr>
          <a:xfrm>
            <a:off x="6525616" y="28254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6784" y="28254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4" name="Shape 21"/>
          <p:cNvSpPr/>
          <p:nvPr/>
        </p:nvSpPr>
        <p:spPr>
          <a:xfrm>
            <a:off x="6927952" y="28254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5" name="Text 22"/>
          <p:cNvSpPr/>
          <p:nvPr/>
        </p:nvSpPr>
        <p:spPr>
          <a:xfrm>
            <a:off x="7147408" y="269748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after.py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580480" y="3219958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card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combinations(arr,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(card)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숫자만 바꾸면 끝!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324448" y="470916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→ 4 → 5, 숫자 하나만 변경!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58368" y="5257800"/>
            <a:ext cx="1087495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4400" y="5312664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1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426964"/>
            <a:ext cx="228600" cy="2286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627632" y="5257800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itertools는 코드를 짧게 만들지만 </a:t>
            </a: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속도가 빨라지는 것은 아닙니다.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내부적으로는 모든 경우를 생성합니다.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(Permutations)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다르면 다른 경우 → </a:t>
            </a: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nPr</a:t>
            </a:r>
            <a:r>
              <a:rPr lang="en-US" sz="14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(A, B) ≠ (B, A)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12648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1264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1264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permutations.py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52344"/>
            <a:ext cx="5669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 = [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3개 중 2개를 뽑아 줄 세우기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(permutations(items,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(result))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6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58368" y="4663440"/>
            <a:ext cx="6126480" cy="1051560"/>
          </a:xfrm>
          <a:prstGeom prst="roundRect">
            <a:avLst>
              <a:gd name="adj" fmla="val 12174"/>
            </a:avLst>
          </a:prstGeom>
          <a:solidFill>
            <a:srgbClr val="17163A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14400" y="479145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(총 6가지)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14400" y="508406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[('A','B'),('A','C'),('B','A'),('B','C'),('C','A'),('C','B')]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196328" y="2194560"/>
            <a:ext cx="43369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사례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196328" y="2560320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24344" y="2651760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1" descr="/home/claude/icons/troph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747772"/>
            <a:ext cx="192024" cy="1920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818120" y="2560320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달리기 1·2·3등 뽑기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7196328" y="3236976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324344" y="3328416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2" descr="/home/claude/icons/k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3424428"/>
            <a:ext cx="192024" cy="19202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818120" y="3236976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(1234 ≠ 4321)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7196328" y="3913632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324344" y="4005072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3" descr="/home/claude/icons/rout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4101084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818120" y="3913632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외판원 순회 (방문 순서)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7196328" y="4590288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24344" y="4681728"/>
            <a:ext cx="384048" cy="384048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4" descr="/home/claude/icons/listol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4777740"/>
            <a:ext cx="192024" cy="19202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818120" y="4590288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세우기 문제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7196328" y="5257800"/>
            <a:ext cx="433699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7" name="Text 30">
            <a:extLst>
              <a:ext uri="{FF2B5EF4-FFF2-40B4-BE49-F238E27FC236}">
                <ns3:creationId id="{313C353F-6AD9-4203-9493-27E75F6F42CF}"/>
              </a:ext>
            </a:extLst>
          </p:cNvPr>
          <p:cNvSpPr>
            <a:spLocks noGrp="1"/>
          </p:cNvSpPr>
          <p:nvPr/>
        </p:nvSpPr>
        <p:spPr>
          <a:xfrm>
            <a:off x="7196328" y="5257800"/>
            <a:ext cx="4337018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3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경우의 수: n! / (n−r)! (r=n이면 n!)</a:t>
            </a:r>
            <a:endParaRPr sz="1300"/>
          </a:p>
        </p:txBody>
      </p:sp>
      <p:sp>
        <p:nvSpPr>
          <p:cNvPr id="38" name="Text 3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(Combinations)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1671CA4F-0700-4D3B-9CA3-DDE252ADD3E8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3657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순서가 달라도 같은 경우 → nCr    (A, B) = (B, A)</a:t>
            </a:r>
            <a:endParaRPr sz="140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12648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1264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1264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combinations.py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47772"/>
            <a:ext cx="5669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 = [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3개 중 2개를 선택만 (순서 무관)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(combinations(items,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(result))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58368" y="4663440"/>
            <a:ext cx="6126480" cy="1051560"/>
          </a:xfrm>
          <a:prstGeom prst="roundRect">
            <a:avLst>
              <a:gd name="adj" fmla="val 12174"/>
            </a:avLst>
          </a:prstGeom>
          <a:solidFill>
            <a:srgbClr val="17163A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14400" y="479145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(총 3가지)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14400" y="508406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[('A','B'), ('A','C'), ('B','C')]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196328" y="2194560"/>
            <a:ext cx="43369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사례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196328" y="2560320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24344" y="265176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1" descr="/home/claude/icons/sta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747772"/>
            <a:ext cx="192024" cy="1920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818120" y="2560320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로또 번호 추첨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7196328" y="3236976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324344" y="3328416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2" descr="/home/claude/icons/troph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3424428"/>
            <a:ext cx="192024" cy="19202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818120" y="3236976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선수 3명 선발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7196328" y="3913632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324344" y="4005072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3" descr="/home/claude/icons/c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4101084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818120" y="3913632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고르기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7196328" y="4590288"/>
            <a:ext cx="4336999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63500" dist="19050" dir="5400000" algn="bl" rotWithShape="0">
              <a:srgbClr val="1A1836">
                <a:alpha val="7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24344" y="4681728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4" descr="/home/claude/icons/layer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4777740"/>
            <a:ext cx="192024" cy="19202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818120" y="4590288"/>
            <a:ext cx="3559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집합 만들기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7196328" y="5257800"/>
            <a:ext cx="4336999" cy="566928"/>
          </a:xfrm>
          <a:prstGeom prst="roundRect">
            <a:avLst>
              <a:gd name="adj" fmla="val 19355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7196328" y="5257800"/>
            <a:ext cx="4336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경우의 수: </a:t>
            </a: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n! / (r!(n−r)!)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vs 조합 — 언제 무엇을?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208880" cy="3063240"/>
          </a:xfrm>
          <a:prstGeom prst="roundRect">
            <a:avLst>
              <a:gd name="adj" fmla="val 417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32688" y="2057400"/>
            <a:ext cx="640080" cy="64008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" y="221742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09928" y="2057400"/>
            <a:ext cx="392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(Permutation)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978408" y="2834640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permutations(items, r)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78408" y="3291840"/>
            <a:ext cx="456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중요한 경우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ABC ≠ BAC ≠ CAB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1등 A·2등 B ≠ 1등 B·2등 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43434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× (n-1) × … × (n-r+1)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324448" y="1783080"/>
            <a:ext cx="5208880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8768" y="2057400"/>
            <a:ext cx="640080" cy="64008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2" descr="/home/claude/icons/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788" y="22174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376008" y="2057400"/>
            <a:ext cx="392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(Combination)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644488" y="2834640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combinations(items, r)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644488" y="3291840"/>
            <a:ext cx="456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상관없는 경우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ABC = BAC = CAB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A·B·C가 한 팀 = B·A·C가 한 팀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324448" y="4343400"/>
            <a:ext cx="520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n! / (r! × (n-r)!)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6667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3" name="Image 3" descr="/home/claude/icons/war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52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itertools는 코드를 짧게 해줄 뿐, 모든 경우를 내부에서 생성하므로 실행 속도는 완전 탐색 그대로입니다.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2.1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해킹 (순열 활용)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2, 3을 한 번씩 사용한 3자리 비밀번호 후보를 모두 만든다.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21792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21792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21792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password_perm.py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98064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 = [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3개 숫자를 모두 사용해 순서 있게 나열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passwords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(permutations(nums,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pw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passwords: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(pw)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287768" y="2240280"/>
            <a:ext cx="4245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 (3! = 6가지)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287768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287768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(1,2,3)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474556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474556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(1,3,2)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287768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287768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(2,1,3)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474556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474556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(2,3,1)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87768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287768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(3,1,2)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74556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474556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(3,2,1)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6667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3! = 6가지 후보를 생성 → 모두 시도하면 반드시 정답을 찾습니다.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555748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2.2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최고의 맛을 찾아서 (조합 활용)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23F59366-090D-49D3-A330-111AD28F2BE6}"/>
              </a:ext>
            </a:extLst>
          </p:cNvPr>
          <p:cNvSpPr>
            <a:spLocks noGrp="1"/>
          </p:cNvSpPr>
          <p:nvPr/>
        </p:nvSpPr>
        <p:spPr>
          <a:xfrm>
            <a:off x="658368" y="1828800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서로 다른 4가지 맛 중 서로 다른 2가지를 고른다. 담는 순서는 구별하지 않는다.</a:t>
            </a:r>
            <a:endParaRPr sz="135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217920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21792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21792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icecream_comb.py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7142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flavors = [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'초코'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'바닐라'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'딸기'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'멜론'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4개 중 2개를 선택만 (순서 무관)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menus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(combinations(flavors,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menu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menus: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(menu)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287768" y="2240280"/>
            <a:ext cx="4245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 (4C2 = 6가지)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287768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287768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초코·바닐라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474556" y="2606040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474556" y="2606040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초코·딸기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287768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287768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초코·멜론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474556" y="3191256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474556" y="3191256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바닐라·딸기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87768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287768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바닐라·멜론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474556" y="3776472"/>
            <a:ext cx="20587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474556" y="3776472"/>
            <a:ext cx="2058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딸기·멜론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58368" y="5074920"/>
            <a:ext cx="10874959" cy="658368"/>
          </a:xfrm>
          <a:prstGeom prst="roundRect">
            <a:avLst>
              <a:gd name="adj" fmla="val 16667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14400" y="517550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1" descr="/home/claude/icons/cu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89804"/>
            <a:ext cx="228600" cy="22860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627632" y="5074920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‘초코+바닐라’와 ‘바닐라+초코’는 같은 메뉴 → </a:t>
            </a: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조합(combination)을 사용합니다.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예제로 배우는 완전 탐색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매칭, 최근접 쌍, 부분집합 생성 — 완전 탐색의 전형적인 예제들을 살펴봅니다.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65836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무차별 문자열 매칭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3716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6"/>
              </a:lnSpc>
              <a:buNone/>
            </a:pPr>
            <a:r>
              <a:rPr lang="en-US" sz="13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텍스트에서 패턴의 위치 찾기      </a:t>
            </a: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 = "HELLO WORLD"</a:t>
            </a:r>
            <a:r>
              <a:rPr lang="en-US" sz="13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패턴 </a:t>
            </a: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 = "LLO"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12568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712568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3334360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34360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956152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956152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577944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7944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199736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199736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821528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EEF0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821528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␣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43320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43320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7065112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065112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7686904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686904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8308696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308696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8930488" y="1783080"/>
            <a:ext cx="548640" cy="5669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50800" dist="12700" dir="162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930488" y="17830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658368" y="248716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i=0: L≠H ❌     i=1: L≠E ❌     </a:t>
            </a:r>
            <a:r>
              <a:rPr lang="en-US" sz="13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i=2: LLO = LLO ✅ 발견!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658368" y="2971800"/>
            <a:ext cx="10874959" cy="2834640"/>
          </a:xfrm>
          <a:prstGeom prst="roundRect">
            <a:avLst>
              <a:gd name="adj" fmla="val 3871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58368" y="297180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33" name="Shape 30"/>
          <p:cNvSpPr/>
          <p:nvPr/>
        </p:nvSpPr>
        <p:spPr>
          <a:xfrm>
            <a:off x="658368" y="322783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34" name="Shape 31"/>
          <p:cNvSpPr/>
          <p:nvPr/>
        </p:nvSpPr>
        <p:spPr>
          <a:xfrm>
            <a:off x="859536" y="309981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5" name="Shape 32"/>
          <p:cNvSpPr/>
          <p:nvPr/>
        </p:nvSpPr>
        <p:spPr>
          <a:xfrm>
            <a:off x="1060704" y="309981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36" name="Shape 33"/>
          <p:cNvSpPr/>
          <p:nvPr/>
        </p:nvSpPr>
        <p:spPr>
          <a:xfrm>
            <a:off x="1261872" y="309981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7" name="Text 34"/>
          <p:cNvSpPr/>
          <p:nvPr/>
        </p:nvSpPr>
        <p:spPr>
          <a:xfrm>
            <a:off x="1481328" y="297180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bf_string_match.py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914400" y="3474720"/>
            <a:ext cx="1041775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bf_string_match(text, pattern):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n, m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(text),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(pattern)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found = []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 - m +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가능한 모든 시작 위치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match =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(m):   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패턴 문자 하나씩 비교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text[i + j] != pattern[j]: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match =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불일치 시 즉시 중단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match: found.append(i)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found             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O(n*m)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매칭 — 분석과 발전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783080"/>
            <a:ext cx="603504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2039112"/>
            <a:ext cx="603504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0" name="Shape 7"/>
          <p:cNvSpPr/>
          <p:nvPr/>
        </p:nvSpPr>
        <p:spPr>
          <a:xfrm>
            <a:off x="859536" y="19110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1" name="Shape 8"/>
          <p:cNvSpPr/>
          <p:nvPr/>
        </p:nvSpPr>
        <p:spPr>
          <a:xfrm>
            <a:off x="1060704" y="19110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2" name="Shape 9"/>
          <p:cNvSpPr/>
          <p:nvPr/>
        </p:nvSpPr>
        <p:spPr>
          <a:xfrm>
            <a:off x="1261872" y="19110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3" name="Text 10"/>
          <p:cNvSpPr/>
          <p:nvPr/>
        </p:nvSpPr>
        <p:spPr>
          <a:xfrm>
            <a:off x="1481328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run.py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2313432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 =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"ababcabcababd"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 = </a:t>
            </a:r>
            <a:r>
              <a:rPr lang="en-US" sz="125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"abc"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(bf_string_match(T, P))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출력: [2, 5]  ← 패턴 등장 위치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04888" y="1783080"/>
            <a:ext cx="4428439" cy="1737360"/>
          </a:xfrm>
          <a:prstGeom prst="roundRect">
            <a:avLst>
              <a:gd name="adj" fmla="val 736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360920" y="1938528"/>
            <a:ext cx="39712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 분석</a:t>
            </a:r>
            <a:endParaRPr lang="en-US" sz="1300" dirty="0"/>
          </a:p>
        </p:txBody>
      </p:sp>
      <p:sp>
        <p:nvSpPr>
          <p:cNvPr id="17" name="Text 14">
            <a:extLst>
              <a:ext uri="{FF2B5EF4-FFF2-40B4-BE49-F238E27FC236}">
                <ns3:creationId id="{DFF8DE7A-F566-42BB-BC65-51A93EABD95B}"/>
              </a:ext>
            </a:extLst>
          </p:cNvPr>
          <p:cNvSpPr>
            <a:spLocks noGrp="1"/>
          </p:cNvSpPr>
          <p:nvPr/>
        </p:nvSpPr>
        <p:spPr>
          <a:xfrm>
            <a:off x="7360920" y="2286000"/>
            <a:ext cx="3971258" cy="10972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텍스트 길이 n, 패턴 길이 m (1≤m≤n)</a:t>
            </a:r>
            <a:endParaRPr sz="1250"/>
          </a:p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시작 위치 n−m+1개, 위치당 최대 m번 비교</a:t>
            </a:r>
            <a:endParaRPr sz="1250"/>
          </a:p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최악 O((n−m+1)m), 따라서 O(nm)</a:t>
            </a:r>
            <a:endParaRPr sz="1250"/>
          </a:p>
        </p:txBody>
      </p:sp>
      <p:sp>
        <p:nvSpPr>
          <p:cNvPr id="18" name="Text 15"/>
          <p:cNvSpPr/>
          <p:nvPr/>
        </p:nvSpPr>
        <p:spPr>
          <a:xfrm>
            <a:off x="658368" y="38404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고급 알고리즘으로의 발전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58368" y="4297680"/>
            <a:ext cx="2926080" cy="822960"/>
          </a:xfrm>
          <a:prstGeom prst="roundRect">
            <a:avLst>
              <a:gd name="adj" fmla="val 1555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41248" y="42976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Brute Force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41448" y="44805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FB7185"/>
          </a:solidFill>
          <a:ln/>
        </p:spPr>
      </p:sp>
      <p:sp>
        <p:nvSpPr>
          <p:cNvPr id="22" name="Text 19"/>
          <p:cNvSpPr/>
          <p:nvPr/>
        </p:nvSpPr>
        <p:spPr>
          <a:xfrm>
            <a:off x="2441448" y="4480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O(nm)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971468" y="4581144"/>
            <a:ext cx="274320" cy="256032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4" name="Shape 21"/>
          <p:cNvSpPr/>
          <p:nvPr/>
        </p:nvSpPr>
        <p:spPr>
          <a:xfrm>
            <a:off x="4632808" y="4297680"/>
            <a:ext cx="2926080" cy="822960"/>
          </a:xfrm>
          <a:prstGeom prst="roundRect">
            <a:avLst>
              <a:gd name="adj" fmla="val 1555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815688" y="42976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KMP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5888" y="44805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480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O(n+m)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7945907" y="4581144"/>
            <a:ext cx="274320" cy="256032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9" name="Shape 26"/>
          <p:cNvSpPr/>
          <p:nvPr/>
        </p:nvSpPr>
        <p:spPr>
          <a:xfrm>
            <a:off x="8607247" y="4297680"/>
            <a:ext cx="2926080" cy="822960"/>
          </a:xfrm>
          <a:prstGeom prst="roundRect">
            <a:avLst>
              <a:gd name="adj" fmla="val 1555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790127" y="42976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Boyer-Moore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0390327" y="4480560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32" name="Text 29">
            <a:extLst>
              <a:ext uri="{FF2B5EF4-FFF2-40B4-BE49-F238E27FC236}">
                <ns3:creationId id="{D87C7537-363C-43CF-B6DA-61C70C364C95}"/>
              </a:ext>
            </a:extLst>
          </p:cNvPr>
          <p:cNvSpPr>
            <a:spLocks noGrp="1"/>
          </p:cNvSpPr>
          <p:nvPr/>
        </p:nvSpPr>
        <p:spPr>
          <a:xfrm>
            <a:off x="10390346" y="4480560"/>
            <a:ext cx="9601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250" b="1" i="0">
                <a:solidFill>
                  <a:srgbClr val="E6EDF3"/>
                </a:solidFill>
                <a:latin typeface="Consolas"/>
                <a:ea typeface="Consolas"/>
                <a:cs typeface="Consolas"/>
              </a:defRPr>
            </a:pPr>
            <a:r>
              <a:rPr sz="1250" b="1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최선 검색:</a:t>
            </a:r>
            <a:endParaRPr sz="1250"/>
          </a:p>
          <a:p>
            <a:pPr marL="0" indent="0" algn="ctr">
              <a:lnSpc>
                <a:spcPct val="108000"/>
              </a:lnSpc>
              <a:buNone/>
              <a:defRPr sz="1250" b="1" i="0">
                <a:solidFill>
                  <a:srgbClr val="E6EDF3"/>
                </a:solidFill>
                <a:latin typeface="Consolas"/>
                <a:ea typeface="Consolas"/>
                <a:cs typeface="Consolas"/>
              </a:defRPr>
            </a:pPr>
            <a:r>
              <a:rPr sz="1250" b="1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O(n/m)</a:t>
            </a:r>
            <a:endParaRPr sz="1250"/>
          </a:p>
        </p:txBody>
      </p:sp>
      <p:sp>
        <p:nvSpPr>
          <p:cNvPr id="33" name="Shape 30"/>
          <p:cNvSpPr/>
          <p:nvPr/>
        </p:nvSpPr>
        <p:spPr>
          <a:xfrm>
            <a:off x="658368" y="5349240"/>
            <a:ext cx="10874959" cy="502920"/>
          </a:xfrm>
          <a:prstGeom prst="roundRect">
            <a:avLst>
              <a:gd name="adj" fmla="val 21818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14400" y="537210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5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86400"/>
            <a:ext cx="228600" cy="22860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627632" y="5349240"/>
            <a:ext cx="96313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DNA 시퀀싱에도 활용! </a:t>
            </a: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배열 ACGACAC…에서 특정 패턴 ACATA를 찾는 작업이 대표적입니다.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35"/>
              </a:lnSpc>
              <a:buNone/>
            </a:pPr>
            <a:r>
              <a:rPr lang="en-US" sz="2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가까운 두 수 (Closest Pair)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[10, 3, 22, 15, 17, 9] → 차이가 가장 작은 두 수는? 모든 쌍을 검사하는 전형적 완전 탐색.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76656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closest_pair.py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48534"/>
            <a:ext cx="6309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closest_pair(arr):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min_diff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'inf'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무한대로 초기화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best =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 -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 +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diff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(arr[i] - arr[j])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diff &lt; min_diff: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min_diff = diff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best = (arr[i], arr[j])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best, min_diff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90688" y="2194560"/>
            <a:ext cx="3742639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46720" y="2340864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046720" y="2651760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[10,3,22,15,17,9]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790688" y="296265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046720" y="3218688"/>
            <a:ext cx="32854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 (10, 9), 1 )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7790688" y="3977640"/>
            <a:ext cx="3742639" cy="1463040"/>
          </a:xfrm>
          <a:prstGeom prst="roundRect">
            <a:avLst>
              <a:gd name="adj" fmla="val 875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790688" y="4206240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3000" dirty="0"/>
          </a:p>
        </p:txBody>
      </p:sp>
      <p:sp>
        <p:nvSpPr>
          <p:cNvPr id="23" name="Text 20"/>
          <p:cNvSpPr/>
          <p:nvPr/>
        </p:nvSpPr>
        <p:spPr>
          <a:xfrm>
            <a:off x="7790688" y="4736592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쌍 비교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58368" y="5532120"/>
            <a:ext cx="6766560" cy="365760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32688" y="5532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정복의 ‘최근접 점 문제’로 발전 → O(n log n)으로 개선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searc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집합 만들기 (Power Set)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F5A63F0B-E1CE-434C-973A-B8D0CEC3CF1E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3657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서로 다른 원소 n개. 오른쪽 0번 비트가 arr[0]을 뜻한다. n=3이면 공집합 포함 8개다.</a:t>
            </a:r>
            <a:endParaRPr sz="135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640080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94560"/>
            <a:ext cx="640080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50592"/>
            <a:ext cx="640080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94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power_set.py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745740"/>
            <a:ext cx="5943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power_set(arr):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n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subsets = []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&lt;&lt; n):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0 ~ 2^n - 1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cur = []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&amp; (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&lt;&lt; j):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j번째 비트가 1이면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cur.append(arr[j])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subsets.append(cur)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subsets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470648" y="2194560"/>
            <a:ext cx="40626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비트마스크 대응표</a:t>
            </a:r>
            <a:endParaRPr lang="en-US" sz="12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ns4:modId val="1579011935"/>
              </p:ext>
            </p:extLst>
          </p:nvPr>
        </p:nvGraphicFramePr>
        <p:xfrm>
          <a:off x="7470648" y="2542032"/>
          <a:ext cx="3931920" cy="268833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ns3:colId val="20000"/>
                    </a:ext>
                  </a:extLst>
                </a:gridCol>
                <a:gridCol w="1280160">
                  <a:extLst>
                    <a:ext uri="{9D8B030D-6E8A-4147-A177-3AD203B41FA5}">
                      <ns3:colId val="20001"/>
                    </a:ext>
                  </a:extLst>
                </a:gridCol>
                <a:gridCol w="18288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부분집합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{B}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{A,B}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{A,C}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{A,B,C}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ns3:rowId val="10006"/>
                  </a:ext>
                </a:extLst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658368" y="5532120"/>
            <a:ext cx="10874959" cy="365760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932688" y="5532120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&lt;&lt; n = 2ⁿ   |   i &amp; (1 &lt;&lt; j) = i의 j번째 비트 검사   |   비트 연산이 동적 계획법 상태 표현의 핵심!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복잡도와 조합적 폭발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치명적 약점 — 입력이 조금만 커져도 경우의 수가 폭발적으로 증가합니다.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 (Combinatorial Explosion)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C02E0ABA-9D35-440C-AA7C-084A16DEEBC2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411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아래 식은 후보 수의 증가 유형입니다. 전체 시간은 후보당 처리 비용도 포함합니다.</a:t>
            </a:r>
            <a:endParaRPr sz="140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3381146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937461" y="2578608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201" y="278434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" y="349300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다항 시간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1571701" y="38862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13" name="Text 9"/>
          <p:cNvSpPr/>
          <p:nvPr/>
        </p:nvSpPr>
        <p:spPr>
          <a:xfrm>
            <a:off x="1571701" y="3886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O(nᵏ)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886968" y="4480560"/>
            <a:ext cx="29239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중첩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(이중·삼중 for)</a:t>
            </a:r>
            <a:endParaRPr lang="en-US" sz="1200" dirty="0"/>
          </a:p>
        </p:txBody>
      </p:sp>
      <p:sp>
        <p:nvSpPr>
          <p:cNvPr id="15" name="Text 11">
            <a:extLst>
              <a:ext uri="{FF2B5EF4-FFF2-40B4-BE49-F238E27FC236}">
                <ns3:creationId id="{5F548CE7-2607-40A9-B5A3-C3E8EA4BED4B}"/>
              </a:ext>
            </a:extLst>
          </p:cNvPr>
          <p:cNvSpPr>
            <a:spLocks noGrp="1"/>
          </p:cNvSpPr>
          <p:nvPr/>
        </p:nvSpPr>
        <p:spPr>
          <a:xfrm>
            <a:off x="658368" y="4892040"/>
            <a:ext cx="3381185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2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k=2, n=20 → 400</a:t>
            </a:r>
            <a:endParaRPr sz="1200"/>
          </a:p>
        </p:txBody>
      </p:sp>
      <p:sp>
        <p:nvSpPr>
          <p:cNvPr id="16" name="Shape 12"/>
          <p:cNvSpPr/>
          <p:nvPr/>
        </p:nvSpPr>
        <p:spPr>
          <a:xfrm>
            <a:off x="4405274" y="2286000"/>
            <a:ext cx="3381146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4368" y="2578608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2" descr="/home/claude/icons/bo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2784348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05274" y="349300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시간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318608" y="38862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21" name="Text 16"/>
          <p:cNvSpPr/>
          <p:nvPr/>
        </p:nvSpPr>
        <p:spPr>
          <a:xfrm>
            <a:off x="5318608" y="3886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O(2ⁿ)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4633874" y="4480560"/>
            <a:ext cx="29239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선택의 연속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(포함/비포함)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405274" y="489204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 → </a:t>
            </a: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100만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152181" y="2286000"/>
            <a:ext cx="3381146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431274" y="2578608"/>
            <a:ext cx="822960" cy="82296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3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014" y="2784348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152181" y="3493008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팩토리얼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9065514" y="38862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17163A"/>
          </a:solidFill>
          <a:ln/>
        </p:spPr>
      </p:sp>
      <p:sp>
        <p:nvSpPr>
          <p:cNvPr id="29" name="Text 23"/>
          <p:cNvSpPr/>
          <p:nvPr/>
        </p:nvSpPr>
        <p:spPr>
          <a:xfrm>
            <a:off x="9065514" y="3886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O(n!)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8380781" y="4480560"/>
            <a:ext cx="29239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나열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(순열, TSP)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152181" y="489204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 → </a:t>
            </a: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2.4×10¹⁸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n에 따른 경우의 수 비교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n이 조금만 커져도 현실적으로 불가능한 계산량이 됩니다.</a:t>
            </a:r>
            <a:endParaRPr lang="en-US" sz="1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12848"/>
          <a:ext cx="10908792" cy="27432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n! (팩토리얼)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2ⁿ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nⁿ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3,125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3,628,800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1,024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10,000,000,000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2.43 × 10¹⁸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1,048,576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 × 10²⁶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2.65 × 10³²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1.07 × 10⁹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2.06 × 10⁴⁴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193792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5294376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1" name="Image 1" descr="/home/claude/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08676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27632" y="5193792"/>
            <a:ext cx="9631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n=20, 팩토리얼: </a:t>
            </a:r>
            <a:r>
              <a:rPr lang="en-US" sz="1400" b="1" dirty="0">
                <a:solidFill>
                  <a:srgbClr val="9CC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1초에 1억 번</a:t>
            </a: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계산하는 컴퓨터로도 약 </a:t>
            </a:r>
            <a:r>
              <a:rPr lang="en-US" sz="1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770년!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자릿수와 완전 탐색의 한계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65B1F993-422E-4BB9-A374-06C7B2E0B5FF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3657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각 자리에 0~9를 중복해 쓰고 앞자리 0도 허용한다. 자릿수가 하나 늘면 후보 수는 10배다.</a:t>
            </a:r>
            <a:endParaRPr sz="140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59536" y="2386584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23865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4자리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487168" y="22860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10,000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27648" y="2286000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초 안에 가능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58368" y="3044952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59536" y="3145536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/>
        </p:spPr>
      </p:sp>
      <p:sp>
        <p:nvSpPr>
          <p:cNvPr id="15" name="Text 12"/>
          <p:cNvSpPr/>
          <p:nvPr/>
        </p:nvSpPr>
        <p:spPr>
          <a:xfrm>
            <a:off x="859536" y="31455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6자리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487168" y="304495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1,000,000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27648" y="3044952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시도 불가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58368" y="3803904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59536" y="3904488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859536" y="3904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8자리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2487168" y="380390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100,000,000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327648" y="3803904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1만 번 → 약 3시간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58368" y="4562856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59536" y="4663440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663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12자리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2487168" y="456285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1,000,000,000,000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327648" y="4562856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1만 번 → 약 3년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58368" y="5321808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859536" y="5422392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30" name="Text 27"/>
          <p:cNvSpPr/>
          <p:nvPr/>
        </p:nvSpPr>
        <p:spPr>
          <a:xfrm>
            <a:off x="859536" y="5422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20자리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2487168" y="532180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10²⁰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327648" y="5321808"/>
            <a:ext cx="50227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1만 번 → 3억 년!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2.3</a:t>
            </a:r>
            <a:endParaRPr lang="en-US" sz="1250" dirty="0"/>
          </a:p>
        </p:txBody>
      </p:sp>
      <p:sp>
        <p:nvSpPr>
          <p:cNvPr id="7" name="Text 4">
            <a:extLst>
              <a:ext uri="{FF2B5EF4-FFF2-40B4-BE49-F238E27FC236}">
                <ns3:creationId id="{B1BD1639-E9FB-4D7C-ADD7-84C2D2360C42}"/>
              </a:ext>
            </a:extLst>
          </p:cNvPr>
          <p:cNvSpPr>
            <a:spLocks noGrp="1"/>
          </p:cNvSpPr>
          <p:nvPr/>
        </p:nvSpPr>
        <p:spPr>
          <a:xfrm>
            <a:off x="658368" y="1133856"/>
            <a:ext cx="10874978" cy="685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부분집합 후보 수: 2ⁿ개</a:t>
            </a:r>
            <a:endParaRPr sz="2900"/>
          </a:p>
        </p:txBody>
      </p:sp>
      <p:sp>
        <p:nvSpPr>
          <p:cNvPr id="8" name="Text 5"/>
          <p:cNvSpPr/>
          <p:nvPr/>
        </p:nvSpPr>
        <p:spPr>
          <a:xfrm>
            <a:off x="658368" y="184708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{1, 2, 3} → 각 원소를 포함하거나 포함하지 않거나 → 2³ = 8가지 (선택의 연속 = 지수적 폭발)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58368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737561" y="2788920"/>
            <a:ext cx="502920" cy="274320"/>
          </a:xfrm>
          <a:prstGeom prst="rightArrow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2737561" y="2468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765194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765194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765194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1?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844388" y="2788920"/>
            <a:ext cx="502920" cy="274320"/>
          </a:xfrm>
          <a:prstGeom prst="rightArrow">
            <a:avLst/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844388" y="2468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872021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872021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872021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2?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951214" y="2788920"/>
            <a:ext cx="502920" cy="274320"/>
          </a:xfrm>
          <a:prstGeom prst="rightArrow">
            <a:avLst/>
          </a:prstGeom>
          <a:solidFill>
            <a:srgbClr val="7C3AED"/>
          </a:solidFill>
          <a:ln/>
        </p:spPr>
      </p:sp>
      <p:sp>
        <p:nvSpPr>
          <p:cNvPr id="23" name="Text 20"/>
          <p:cNvSpPr/>
          <p:nvPr/>
        </p:nvSpPr>
        <p:spPr>
          <a:xfrm>
            <a:off x="8951214" y="2468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978847" y="246888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978847" y="26151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978847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3?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8368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∅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31454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2031454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{3}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3404540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404540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{2}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777626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77626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{2,3}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150712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150712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{1}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23797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7523797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{1,3}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8896883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8896883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{1,2}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269969" y="3703320"/>
            <a:ext cx="1263358" cy="566928"/>
          </a:xfrm>
          <a:prstGeom prst="roundRect">
            <a:avLst>
              <a:gd name="adj" fmla="val 12903"/>
            </a:avLst>
          </a:prstGeom>
          <a:solidFill>
            <a:srgbClr val="17163A"/>
          </a:solidFill>
          <a:ln/>
          <a:effectLst>
            <a:outerShdw blurRad="63500" dist="1905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69969" y="3703320"/>
            <a:ext cx="12633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{1,2,3}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58368" y="438912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2³ = 8개의 부분집합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658368" y="5029200"/>
            <a:ext cx="10874959" cy="731520"/>
          </a:xfrm>
          <a:prstGeom prst="roundRect">
            <a:avLst>
              <a:gd name="adj" fmla="val 15000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914400" y="516636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46" name="Image 1" descr="/home/claude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280660"/>
            <a:ext cx="228600" cy="228600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1627632" y="5029200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원소 n개 → 2ⁿ개의 부분집합      </a:t>
            </a: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n=10: 1,024    n=20: 1,048,576    n=30: 약 10억</a:t>
            </a:r>
            <a:endParaRPr lang="en-US" sz="1300" dirty="0"/>
          </a:p>
        </p:txBody>
      </p:sp>
      <p:sp>
        <p:nvSpPr>
          <p:cNvPr id="48" name="Text 4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war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2.4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외판원 순회 (TSP) — O(n!)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AD1C0BC2-C0BE-4300-B4A2-61823D820BFD}"/>
              </a:ext>
            </a:extLst>
          </p:cNvPr>
          <p:cNvSpPr>
            <a:spLocks noGrp="1"/>
          </p:cNvSpPr>
          <p:nvPr/>
        </p:nvSpPr>
        <p:spPr>
          <a:xfrm>
            <a:off x="658368" y="1847088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n개 도시 중 출발점 A를 고정한다. 나머지를 한 번씩 방문하고 A로 돌아오며 역순도 별개로 센다.</a:t>
            </a:r>
            <a:endParaRPr sz="1350"/>
          </a:p>
        </p:txBody>
      </p:sp>
      <p:sp>
        <p:nvSpPr>
          <p:cNvPr id="9" name="Text 6"/>
          <p:cNvSpPr/>
          <p:nvPr/>
        </p:nvSpPr>
        <p:spPr>
          <a:xfrm>
            <a:off x="658368" y="22402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간 거리 행렬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ns4:modId val="1579011935"/>
              </p:ext>
            </p:extLst>
          </p:nvPr>
        </p:nvGraphicFramePr>
        <p:xfrm>
          <a:off x="658368" y="2487168"/>
          <a:ext cx="4206240" cy="2286000"/>
        </p:xfrm>
        <a:graphic>
          <a:graphicData uri="http://schemas.openxmlformats.org/drawingml/2006/table">
            <a:tbl>
              <a:tblPr/>
              <a:tblGrid>
                <a:gridCol w="841248">
                  <a:extLst>
                    <a:ext uri="{9D8B030D-6E8A-4147-A177-3AD203B41FA5}">
                      <ns3:colId val="20000"/>
                    </a:ext>
                  </a:extLst>
                </a:gridCol>
                <a:gridCol w="841248">
                  <a:extLst>
                    <a:ext uri="{9D8B030D-6E8A-4147-A177-3AD203B41FA5}">
                      <ns3:colId val="20001"/>
                    </a:ext>
                  </a:extLst>
                </a:gridCol>
                <a:gridCol w="841248">
                  <a:extLst>
                    <a:ext uri="{9D8B030D-6E8A-4147-A177-3AD203B41FA5}">
                      <ns3:colId val="20002"/>
                    </a:ext>
                  </a:extLst>
                </a:gridCol>
                <a:gridCol w="841248">
                  <a:extLst>
                    <a:ext uri="{9D8B030D-6E8A-4147-A177-3AD203B41FA5}">
                      <ns3:colId val="20003"/>
                    </a:ext>
                  </a:extLst>
                </a:gridCol>
                <a:gridCol w="841248">
                  <a:extLst>
                    <a:ext uri="{9D8B030D-6E8A-4147-A177-3AD203B41FA5}">
                      <ns3:colId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</a:tbl>
          </a:graphicData>
        </a:graphic>
      </p:graphicFrame>
      <p:sp>
        <p:nvSpPr>
          <p:cNvPr id="11" name="Text 7">
            <a:extLst>
              <a:ext uri="{FF2B5EF4-FFF2-40B4-BE49-F238E27FC236}">
                <ns3:creationId id="{32108DCF-D60A-431F-930C-EF7C71154508}"/>
              </a:ext>
            </a:extLst>
          </p:cNvPr>
          <p:cNvSpPr>
            <a:spLocks noGrp="1"/>
          </p:cNvSpPr>
          <p:nvPr/>
        </p:nvSpPr>
        <p:spPr>
          <a:xfrm>
            <a:off x="658368" y="4919472"/>
            <a:ext cx="4206240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300" b="1" i="0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00" b="1" i="0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출발점 A 고정 → 3! = 6가지 순서</a:t>
            </a:r>
            <a:endParaRPr sz="1300"/>
          </a:p>
        </p:txBody>
      </p:sp>
      <p:sp>
        <p:nvSpPr>
          <p:cNvPr id="12" name="Shape 8"/>
          <p:cNvSpPr/>
          <p:nvPr/>
        </p:nvSpPr>
        <p:spPr>
          <a:xfrm>
            <a:off x="5276088" y="2487168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53212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A→B→C→D→A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7927848" y="2487168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4+6+5+3 = 18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276088" y="3154680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532120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A→B→D→C→A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7927848" y="3154680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4+2+5+7 = 18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276088" y="3822192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5532120" y="38221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A→D→B→C→A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7927848" y="3822192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3+2+6+7 = 18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276088" y="4489704"/>
            <a:ext cx="6257239" cy="548640"/>
          </a:xfrm>
          <a:prstGeom prst="roundRect">
            <a:avLst>
              <a:gd name="adj" fmla="val 23333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5532120" y="4489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A→D→C→B→A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7927848" y="4489704"/>
            <a:ext cx="29653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3+5+6+4 = 18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984687" y="44897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58368" y="5321808"/>
            <a:ext cx="10874959" cy="502920"/>
          </a:xfrm>
          <a:prstGeom prst="roundRect">
            <a:avLst>
              <a:gd name="adj" fmla="val 21818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14400" y="5344668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7" name="Image 1" descr="/home/claude/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58968"/>
            <a:ext cx="228600" cy="228600"/>
          </a:xfrm>
          <a:prstGeom prst="rect">
            <a:avLst/>
          </a:prstGeom>
        </p:spPr>
      </p:pic>
      <p:sp>
        <p:nvSpPr>
          <p:cNvPr id="28" name="Text 23">
            <a:extLst>
              <a:ext uri="{FF2B5EF4-FFF2-40B4-BE49-F238E27FC236}">
                <ns3:creationId id="{97D3D668-3B70-44C8-84C1-9E6A06951A14}"/>
              </a:ext>
            </a:extLst>
          </p:cNvPr>
          <p:cNvSpPr>
            <a:spLocks noGrp="1"/>
          </p:cNvSpPr>
          <p:nvPr/>
        </p:nvSpPr>
        <p:spPr>
          <a:xfrm>
            <a:off x="1627632" y="5321808"/>
            <a:ext cx="9631394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00" b="0" i="0">
                <a:solidFill>
                  <a:srgbClr val="D9D7F2"/>
                </a:solidFill>
                <a:latin typeface="Malgun Gothic"/>
                <a:ea typeface="Malgun Gothic"/>
                <a:cs typeface="Malgun Gothic"/>
              </a:defRPr>
            </a:pPr>
            <a:r>
              <a:rPr sz="1300" b="0" i="0">
                <a:solidFill>
                  <a:srgbClr val="D9D7F2"/>
                </a:solidFill>
                <a:latin typeface="Malgun Gothic"/>
                <a:ea typeface="Malgun Gothic"/>
                <a:cs typeface="Malgun Gothic"/>
              </a:rPr>
              <a:t>출발점 고정: (n−1)!개 순서. 각 경로의 n개 비용을 합하면 전체 O(n!).</a:t>
            </a:r>
            <a:endParaRPr sz="1300"/>
          </a:p>
        </p:txBody>
      </p:sp>
      <p:sp>
        <p:nvSpPr>
          <p:cNvPr id="29" name="Text 2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알고리즘의 씨앗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고급 알고리즘들은 완전 탐색의 비효율을 줄이려는 노력 끝에 탄생했습니다.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탐색을 똑똑하게 만들기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809848" y="1645920"/>
            <a:ext cx="4572000" cy="868680"/>
          </a:xfrm>
          <a:prstGeom prst="roundRect">
            <a:avLst>
              <a:gd name="adj" fmla="val 14737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038448" y="1805940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608" y="19431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24248" y="1645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(Base)</a:t>
            </a:r>
            <a:endParaRPr lang="en-US" sz="16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경우를 끝까지 시도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68416" y="2606040"/>
            <a:ext cx="54864" cy="54864"/>
          </a:xfrm>
          <a:prstGeom prst="ellipse">
            <a:avLst/>
          </a:prstGeom>
          <a:solidFill>
            <a:srgbClr val="E7E6FB"/>
          </a:solidFill>
          <a:ln/>
        </p:spPr>
      </p:sp>
      <p:sp>
        <p:nvSpPr>
          <p:cNvPr id="12" name="Shape 8"/>
          <p:cNvSpPr/>
          <p:nvPr/>
        </p:nvSpPr>
        <p:spPr>
          <a:xfrm>
            <a:off x="658368" y="2880360"/>
            <a:ext cx="3381146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974037" y="3172968"/>
            <a:ext cx="749808" cy="74980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489" y="3360420"/>
            <a:ext cx="374904" cy="3749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" y="40233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</a:t>
            </a:r>
            <a:endParaRPr lang="en-US" sz="1650" dirty="0"/>
          </a:p>
        </p:txBody>
      </p:sp>
      <p:sp>
        <p:nvSpPr>
          <p:cNvPr id="16" name="Shape 11"/>
          <p:cNvSpPr/>
          <p:nvPr/>
        </p:nvSpPr>
        <p:spPr>
          <a:xfrm>
            <a:off x="1480261" y="4416552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10B981"/>
          </a:solidFill>
          <a:ln/>
        </p:spPr>
      </p:sp>
      <p:sp>
        <p:nvSpPr>
          <p:cNvPr id="17" name="Text 12"/>
          <p:cNvSpPr/>
          <p:nvPr/>
        </p:nvSpPr>
        <p:spPr>
          <a:xfrm>
            <a:off x="1480261" y="4416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가지치기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32688" y="4846320"/>
            <a:ext cx="28325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될 수 없는 경우를 미리 제거 (pruning)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405274" y="2880360"/>
            <a:ext cx="3381146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720944" y="3172968"/>
            <a:ext cx="749808" cy="749808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1" name="Image 3" descr="/home/claude/icons/divi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8396" y="3360420"/>
            <a:ext cx="374904" cy="3749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405274" y="40233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5227168" y="4416552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38BDF8"/>
          </a:solidFill>
          <a:ln/>
        </p:spPr>
      </p:sp>
      <p:sp>
        <p:nvSpPr>
          <p:cNvPr id="24" name="Text 18"/>
          <p:cNvSpPr/>
          <p:nvPr/>
        </p:nvSpPr>
        <p:spPr>
          <a:xfrm>
            <a:off x="5227168" y="4416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문제 분할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4679594" y="4846320"/>
            <a:ext cx="28325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작게 쪼개어 각각 해결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8152181" y="2880360"/>
            <a:ext cx="3381146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467850" y="3172968"/>
            <a:ext cx="749808" cy="749808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4" descr="/home/claude/icons/bra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5302" y="3360420"/>
            <a:ext cx="374904" cy="37490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152181" y="40233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</a:t>
            </a:r>
            <a:endParaRPr lang="en-US" sz="1650" dirty="0"/>
          </a:p>
        </p:txBody>
      </p:sp>
      <p:sp>
        <p:nvSpPr>
          <p:cNvPr id="30" name="Shape 23"/>
          <p:cNvSpPr/>
          <p:nvPr/>
        </p:nvSpPr>
        <p:spPr>
          <a:xfrm>
            <a:off x="8974074" y="4416552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7C3AED"/>
          </a:solidFill>
          <a:ln/>
        </p:spPr>
      </p:sp>
      <p:sp>
        <p:nvSpPr>
          <p:cNvPr id="31" name="Text 24"/>
          <p:cNvSpPr/>
          <p:nvPr/>
        </p:nvSpPr>
        <p:spPr>
          <a:xfrm>
            <a:off x="8974074" y="44165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기억(메모)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8426501" y="4846320"/>
            <a:ext cx="28325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계산 결과를 저장·재사용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658368" y="5349240"/>
            <a:ext cx="10874959" cy="502920"/>
          </a:xfrm>
          <a:prstGeom prst="roundRect">
            <a:avLst>
              <a:gd name="adj" fmla="val 21818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14400" y="537210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5" name="Image 5" descr="/home/claude/icons/bulb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" y="5486400"/>
            <a:ext cx="228600" cy="22860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627632" y="5349240"/>
            <a:ext cx="96313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탐색을 먼저 구현하고, 이후 최적화하는 것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올바른 알고리즘 설계 접근 방식입니다.</a:t>
            </a:r>
            <a:endParaRPr lang="en-US" sz="1350" dirty="0"/>
          </a:p>
        </p:txBody>
      </p:sp>
      <p:sp>
        <p:nvSpPr>
          <p:cNvPr id="37" name="Text 2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진화 ①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가지치기를 더하면 → 백트래킹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47088"/>
            <a:ext cx="10874959" cy="640080"/>
          </a:xfrm>
          <a:prstGeom prst="roundRect">
            <a:avLst>
              <a:gd name="adj" fmla="val 17143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38528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sca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0528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184708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67"/>
              </a:lnSpc>
              <a:buNone/>
            </a:pPr>
            <a:r>
              <a:rPr lang="en-US" sz="1450" b="1" i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“모든 경우를 보되, 정답이 될 수 없는 경우는 미리 버린다 (pruning)”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5836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FB7185"/>
          </a:solidFill>
          <a:ln/>
        </p:spPr>
      </p:sp>
      <p:sp>
        <p:nvSpPr>
          <p:cNvPr id="14" name="Text 10"/>
          <p:cNvSpPr/>
          <p:nvPr/>
        </p:nvSpPr>
        <p:spPr>
          <a:xfrm>
            <a:off x="93268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(비효율)</a:t>
            </a:r>
            <a:endParaRPr lang="en-US" sz="1500" dirty="0"/>
          </a:p>
        </p:txBody>
      </p:sp>
      <p:sp>
        <p:nvSpPr>
          <p:cNvPr id="15" name="Text 11">
            <a:extLst>
              <a:ext uri="{FF2B5EF4-FFF2-40B4-BE49-F238E27FC236}">
                <ns3:creationId id="{CDA11005-D111-4657-9DF9-B30A3EDAB050}"/>
              </a:ext>
            </a:extLst>
          </p:cNvPr>
          <p:cNvSpPr>
            <a:spLocks noGrp="1"/>
          </p:cNvSpPr>
          <p:nvPr/>
        </p:nvSpPr>
        <p:spPr>
          <a:xfrm>
            <a:off x="950976" y="3383280"/>
            <a:ext cx="4623626" cy="1280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양의 정수에서 합이 10인 부분집합 찾기:</a:t>
            </a:r>
            <a:endParaRPr sz="1350"/>
          </a:p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모든 부분집합을 완성한 뒤 합이 10인지 검사한다.</a:t>
            </a:r>
            <a:endParaRPr sz="1350"/>
          </a:p>
        </p:txBody>
      </p:sp>
      <p:sp>
        <p:nvSpPr>
          <p:cNvPr id="16" name="Shape 12"/>
          <p:cNvSpPr/>
          <p:nvPr/>
        </p:nvSpPr>
        <p:spPr>
          <a:xfrm>
            <a:off x="93268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17" name="Text 13"/>
          <p:cNvSpPr/>
          <p:nvPr/>
        </p:nvSpPr>
        <p:spPr>
          <a:xfrm>
            <a:off x="93268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낭비가 많음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32444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2444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20" name="Text 16"/>
          <p:cNvSpPr/>
          <p:nvPr/>
        </p:nvSpPr>
        <p:spPr>
          <a:xfrm>
            <a:off x="659876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 (가지치기)</a:t>
            </a:r>
            <a:endParaRPr lang="en-US" sz="1500" dirty="0"/>
          </a:p>
        </p:txBody>
      </p:sp>
      <p:sp>
        <p:nvSpPr>
          <p:cNvPr id="21" name="Text 17">
            <a:extLst>
              <a:ext uri="{FF2B5EF4-FFF2-40B4-BE49-F238E27FC236}">
                <ns3:creationId id="{77E14B93-690E-430F-95A3-4C0E293B2BB8}"/>
              </a:ext>
            </a:extLst>
          </p:cNvPr>
          <p:cNvSpPr>
            <a:spLocks noGrp="1"/>
          </p:cNvSpPr>
          <p:nvPr/>
        </p:nvSpPr>
        <p:spPr>
          <a:xfrm>
            <a:off x="6617018" y="3383280"/>
            <a:ext cx="4623626" cy="1280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양의 정수에서 합이 10인 부분집합 찾기:</a:t>
            </a:r>
            <a:endParaRPr sz="1350"/>
          </a:p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합이 10을 넘으면 더 골라도 줄어들지 않으므로 그 갈래를</a:t>
            </a:r>
            <a:endParaRPr sz="1350"/>
          </a:p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중단한다.</a:t>
            </a:r>
            <a:endParaRPr sz="1350"/>
          </a:p>
        </p:txBody>
      </p:sp>
      <p:sp>
        <p:nvSpPr>
          <p:cNvPr id="22" name="Shape 18"/>
          <p:cNvSpPr/>
          <p:nvPr/>
        </p:nvSpPr>
        <p:spPr>
          <a:xfrm>
            <a:off x="659876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23" name="Text 19"/>
          <p:cNvSpPr/>
          <p:nvPr/>
        </p:nvSpPr>
        <p:spPr>
          <a:xfrm>
            <a:off x="659876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탐색 제거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진화 ②</a:t>
            </a:r>
            <a:endParaRPr lang="en-US" sz="1250" dirty="0"/>
          </a:p>
        </p:txBody>
      </p:sp>
      <p:sp>
        <p:nvSpPr>
          <p:cNvPr id="7" name="Text 4">
            <a:extLst>
              <a:ext uri="{FF2B5EF4-FFF2-40B4-BE49-F238E27FC236}">
                <ns3:creationId id="{7EAD9A58-A4FE-41AD-8E20-A0BCAE8C6F14}"/>
              </a:ext>
            </a:extLst>
          </p:cNvPr>
          <p:cNvSpPr>
            <a:spLocks noGrp="1"/>
          </p:cNvSpPr>
          <p:nvPr/>
        </p:nvSpPr>
        <p:spPr>
          <a:xfrm>
            <a:off x="658368" y="1133856"/>
            <a:ext cx="10874978" cy="685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절반을 버리고 한쪽만 남기면 → 축소 정복</a:t>
            </a:r>
            <a:endParaRPr sz="2900"/>
          </a:p>
        </p:txBody>
      </p:sp>
      <p:sp>
        <p:nvSpPr>
          <p:cNvPr id="8" name="Shape 5"/>
          <p:cNvSpPr/>
          <p:nvPr/>
        </p:nvSpPr>
        <p:spPr>
          <a:xfrm>
            <a:off x="658368" y="1847088"/>
            <a:ext cx="10874959" cy="640080"/>
          </a:xfrm>
          <a:prstGeom prst="roundRect">
            <a:avLst>
              <a:gd name="adj" fmla="val 17143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38528"/>
            <a:ext cx="457200" cy="45720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divid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052828"/>
            <a:ext cx="228600" cy="22860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ns3:creationId id="{DB10CD0E-82FB-4742-82E8-F843B563886E}"/>
              </a:ext>
            </a:extLst>
          </p:cNvPr>
          <p:cNvSpPr>
            <a:spLocks noGrp="1"/>
          </p:cNvSpPr>
          <p:nvPr/>
        </p:nvSpPr>
        <p:spPr>
          <a:xfrm>
            <a:off x="1627632" y="1847088"/>
            <a:ext cx="9631394" cy="6400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5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145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전화번호부에서 이름 찾기 — 완전 탐색(선형 검색) vs 축소 정복(이진 탐색)</a:t>
            </a:r>
            <a:endParaRPr sz="1450"/>
          </a:p>
        </p:txBody>
      </p:sp>
      <p:sp>
        <p:nvSpPr>
          <p:cNvPr id="12" name="Shape 8"/>
          <p:cNvSpPr/>
          <p:nvPr/>
        </p:nvSpPr>
        <p:spPr>
          <a:xfrm>
            <a:off x="65836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FB7185"/>
          </a:solidFill>
          <a:ln/>
        </p:spPr>
      </p:sp>
      <p:sp>
        <p:nvSpPr>
          <p:cNvPr id="14" name="Text 10"/>
          <p:cNvSpPr/>
          <p:nvPr/>
        </p:nvSpPr>
        <p:spPr>
          <a:xfrm>
            <a:off x="932688" y="265176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(선형 검색)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950976" y="3383280"/>
            <a:ext cx="4623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페이지부터 끝까지 한 줄씩 확인한다.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최악의 경우 전체 페이지를 다 봐야 함.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93268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17" name="Text 13"/>
          <p:cNvSpPr/>
          <p:nvPr/>
        </p:nvSpPr>
        <p:spPr>
          <a:xfrm>
            <a:off x="93268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 시간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324448" y="2651760"/>
            <a:ext cx="5208880" cy="2651760"/>
          </a:xfrm>
          <a:prstGeom prst="roundRect">
            <a:avLst>
              <a:gd name="adj" fmla="val 4828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24448" y="2651760"/>
            <a:ext cx="5208880" cy="54864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20" name="Text 16">
            <a:extLst>
              <a:ext uri="{FF2B5EF4-FFF2-40B4-BE49-F238E27FC236}">
                <ns3:creationId id="{CF14456E-BC85-443E-BF48-8A70E37F75C2}"/>
              </a:ext>
            </a:extLst>
          </p:cNvPr>
          <p:cNvSpPr>
            <a:spLocks noGrp="1"/>
          </p:cNvSpPr>
          <p:nvPr/>
        </p:nvSpPr>
        <p:spPr>
          <a:xfrm>
            <a:off x="6598730" y="2651760"/>
            <a:ext cx="4660202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축소 정복 (이진 탐색)</a:t>
            </a:r>
            <a:endParaRPr sz="1500"/>
          </a:p>
        </p:txBody>
      </p:sp>
      <p:sp>
        <p:nvSpPr>
          <p:cNvPr id="21" name="Text 17">
            <a:extLst>
              <a:ext uri="{FF2B5EF4-FFF2-40B4-BE49-F238E27FC236}">
                <ns3:creationId id="{D9F29ADA-F8D7-4502-9D2D-99CB106F067C}"/>
              </a:ext>
            </a:extLst>
          </p:cNvPr>
          <p:cNvSpPr>
            <a:spLocks noGrp="1"/>
          </p:cNvSpPr>
          <p:nvPr/>
        </p:nvSpPr>
        <p:spPr>
          <a:xfrm>
            <a:off x="6617018" y="3383280"/>
            <a:ext cx="4623626" cy="1280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중간 페이지를 펼쳐 앞/뒤를 판단하고 절반을 버린다.</a:t>
            </a:r>
            <a:endParaRPr sz="1350"/>
          </a:p>
          <a:p>
            <a:pPr marL="0" indent="0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→ 범위는 n, n/2, n/4, …로 줄어 O(log n)회 반복한다.</a:t>
            </a:r>
            <a:endParaRPr sz="1350"/>
          </a:p>
        </p:txBody>
      </p:sp>
      <p:sp>
        <p:nvSpPr>
          <p:cNvPr id="22" name="Shape 18"/>
          <p:cNvSpPr/>
          <p:nvPr/>
        </p:nvSpPr>
        <p:spPr>
          <a:xfrm>
            <a:off x="6598768" y="4754880"/>
            <a:ext cx="4660240" cy="384048"/>
          </a:xfrm>
          <a:prstGeom prst="roundRect">
            <a:avLst>
              <a:gd name="adj" fmla="val 19048"/>
            </a:avLst>
          </a:prstGeom>
          <a:solidFill>
            <a:srgbClr val="17163A"/>
          </a:solidFill>
          <a:ln/>
        </p:spPr>
      </p:sp>
      <p:sp>
        <p:nvSpPr>
          <p:cNvPr id="23" name="Text 19"/>
          <p:cNvSpPr/>
          <p:nvPr/>
        </p:nvSpPr>
        <p:spPr>
          <a:xfrm>
            <a:off x="6598768" y="475488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O(log n) 시간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진화 ③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기억력을 더하면 → 동적 계획법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DB322647-F0EA-449C-8075-86422CFECC0E}"/>
              </a:ext>
            </a:extLst>
          </p:cNvPr>
          <p:cNvSpPr>
            <a:spLocks noGrp="1"/>
          </p:cNvSpPr>
          <p:nvPr/>
        </p:nvSpPr>
        <p:spPr>
          <a:xfrm>
            <a:off x="658368" y="1847088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F(0)=0, F(1)=1, F(n)=F(n−1)+F(n−2). 덧셈 비용은 O(1)로 본다.</a:t>
            </a:r>
            <a:endParaRPr sz="1350"/>
          </a:p>
        </p:txBody>
      </p:sp>
      <p:sp>
        <p:nvSpPr>
          <p:cNvPr id="9" name="Text 6"/>
          <p:cNvSpPr/>
          <p:nvPr/>
        </p:nvSpPr>
        <p:spPr>
          <a:xfrm>
            <a:off x="658368" y="22860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탐색: O(2ⁿ) — 중복 계산!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" y="2651760"/>
            <a:ext cx="5943600" cy="548640"/>
          </a:xfrm>
          <a:prstGeom prst="roundRect">
            <a:avLst>
              <a:gd name="adj" fmla="val 23333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651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F(5) = F(4) + F(3)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8368" y="3310128"/>
            <a:ext cx="5943600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14400" y="3310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F(4) = F(3) + F(2)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90288" y="3310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다시 계산!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" y="3968496"/>
            <a:ext cx="5943600" cy="548640"/>
          </a:xfrm>
          <a:prstGeom prst="roundRect">
            <a:avLst>
              <a:gd name="adj" fmla="val 2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14400" y="396849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F(3) = F(2) + F(1)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90288" y="3968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다시 계산!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" y="47091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F(3), F(2)이 여러 번 호출 → 지수적 폭발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13448" y="2286000"/>
            <a:ext cx="45198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계획법: O(n) — 기억!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013448" y="2651760"/>
            <a:ext cx="4519879" cy="2331720"/>
          </a:xfrm>
          <a:prstGeom prst="roundRect">
            <a:avLst>
              <a:gd name="adj" fmla="val 4706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013448" y="2651760"/>
            <a:ext cx="451987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22" name="Shape 19"/>
          <p:cNvSpPr/>
          <p:nvPr/>
        </p:nvSpPr>
        <p:spPr>
          <a:xfrm>
            <a:off x="7013448" y="2907792"/>
            <a:ext cx="451987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23" name="Shape 20"/>
          <p:cNvSpPr/>
          <p:nvPr/>
        </p:nvSpPr>
        <p:spPr>
          <a:xfrm>
            <a:off x="7214616" y="27797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4" name="Shape 21"/>
          <p:cNvSpPr/>
          <p:nvPr/>
        </p:nvSpPr>
        <p:spPr>
          <a:xfrm>
            <a:off x="7415784" y="27797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5" name="Shape 22"/>
          <p:cNvSpPr/>
          <p:nvPr/>
        </p:nvSpPr>
        <p:spPr>
          <a:xfrm>
            <a:off x="7616952" y="27797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6" name="Text 23"/>
          <p:cNvSpPr/>
          <p:nvPr/>
        </p:nvSpPr>
        <p:spPr>
          <a:xfrm>
            <a:off x="7836408" y="2651760"/>
            <a:ext cx="35140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fib_dp.py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269480" y="3072384"/>
            <a:ext cx="4062679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 = {}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fib(n):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memo: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memo[n]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기억!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 &lt;=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memo[n] = fib(n-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+ fib(n-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memo[n]    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저장!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8368" y="5212080"/>
            <a:ext cx="10874959" cy="640080"/>
          </a:xfrm>
          <a:prstGeom prst="roundRect">
            <a:avLst>
              <a:gd name="adj" fmla="val 20000"/>
            </a:avLst>
          </a:prstGeom>
          <a:solidFill>
            <a:srgbClr val="17163A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14400" y="530352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1" descr="/home/claude/icons/br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417820"/>
            <a:ext cx="228600" cy="2286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627632" y="5212080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</a:t>
            </a: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“기억력(memoization)을 장착한 스마트한 완전 탐색”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2.7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씨앗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진화 지도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512532" y="2240280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842" y="2434590"/>
            <a:ext cx="388620" cy="3886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1123912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12" name="Text 8"/>
          <p:cNvSpPr/>
          <p:nvPr/>
        </p:nvSpPr>
        <p:spPr>
          <a:xfrm>
            <a:off x="1123912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기준점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658368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58368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문제의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171368" y="34198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16" name="Shape 12"/>
          <p:cNvSpPr/>
          <p:nvPr/>
        </p:nvSpPr>
        <p:spPr>
          <a:xfrm>
            <a:off x="3454832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308996" y="2240280"/>
            <a:ext cx="777240" cy="7772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306" y="243459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54832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3920376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10B981"/>
          </a:solidFill>
          <a:ln/>
        </p:spPr>
      </p:sp>
      <p:sp>
        <p:nvSpPr>
          <p:cNvPr id="21" name="Text 16"/>
          <p:cNvSpPr/>
          <p:nvPr/>
        </p:nvSpPr>
        <p:spPr>
          <a:xfrm>
            <a:off x="3920376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+가지치기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3454832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3454832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N-Queens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스도쿠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967832" y="34198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25" name="Shape 20"/>
          <p:cNvSpPr/>
          <p:nvPr/>
        </p:nvSpPr>
        <p:spPr>
          <a:xfrm>
            <a:off x="6251296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105459" y="2240280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7" name="Image 3" descr="/home/claude/icons/divi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9769" y="2434590"/>
            <a:ext cx="388620" cy="3886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251296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</a:t>
            </a:r>
            <a:endParaRPr lang="en-US" sz="1550" dirty="0"/>
          </a:p>
        </p:txBody>
      </p:sp>
      <p:sp>
        <p:nvSpPr>
          <p:cNvPr id="29" name="Shape 23"/>
          <p:cNvSpPr/>
          <p:nvPr/>
        </p:nvSpPr>
        <p:spPr>
          <a:xfrm>
            <a:off x="6716839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38BDF8"/>
          </a:solidFill>
          <a:ln/>
        </p:spPr>
      </p:sp>
      <p:sp>
        <p:nvSpPr>
          <p:cNvPr id="30" name="Text 24"/>
          <p:cNvSpPr/>
          <p:nvPr/>
        </p:nvSpPr>
        <p:spPr>
          <a:xfrm>
            <a:off x="6716839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+문제 분할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6251296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32" name="Text 26">
            <a:extLst>
              <a:ext uri="{FF2B5EF4-FFF2-40B4-BE49-F238E27FC236}">
                <ns3:creationId id="{3B455A26-C800-4959-AAAB-8485A0295814}"/>
              </a:ext>
            </a:extLst>
          </p:cNvPr>
          <p:cNvSpPr>
            <a:spLocks noGrp="1"/>
          </p:cNvSpPr>
          <p:nvPr/>
        </p:nvSpPr>
        <p:spPr>
          <a:xfrm>
            <a:off x="6251258" y="4370832"/>
            <a:ext cx="2485549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병합 정렬</a:t>
            </a:r>
            <a:endParaRPr sz="1250"/>
          </a:p>
        </p:txBody>
      </p:sp>
      <p:sp>
        <p:nvSpPr>
          <p:cNvPr id="33" name="Shape 27"/>
          <p:cNvSpPr/>
          <p:nvPr/>
        </p:nvSpPr>
        <p:spPr>
          <a:xfrm>
            <a:off x="8764295" y="3419856"/>
            <a:ext cx="256032" cy="292608"/>
          </a:xfrm>
          <a:prstGeom prst="rightArrow">
            <a:avLst/>
          </a:prstGeom>
          <a:solidFill>
            <a:srgbClr val="E7E6FB"/>
          </a:solidFill>
          <a:ln/>
        </p:spPr>
      </p:sp>
      <p:sp>
        <p:nvSpPr>
          <p:cNvPr id="34" name="Shape 28"/>
          <p:cNvSpPr/>
          <p:nvPr/>
        </p:nvSpPr>
        <p:spPr>
          <a:xfrm>
            <a:off x="9047759" y="1920240"/>
            <a:ext cx="2485568" cy="3291840"/>
          </a:xfrm>
          <a:prstGeom prst="roundRect">
            <a:avLst>
              <a:gd name="adj" fmla="val 515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9901923" y="224028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6" name="Image 4" descr="/home/claude/icons/bra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233" y="2434590"/>
            <a:ext cx="388620" cy="38862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047759" y="3108960"/>
            <a:ext cx="248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</a:t>
            </a:r>
            <a:endParaRPr lang="en-US" sz="1550" dirty="0"/>
          </a:p>
        </p:txBody>
      </p:sp>
      <p:sp>
        <p:nvSpPr>
          <p:cNvPr id="38" name="Shape 31"/>
          <p:cNvSpPr/>
          <p:nvPr/>
        </p:nvSpPr>
        <p:spPr>
          <a:xfrm>
            <a:off x="9513303" y="3493008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7C3AED"/>
          </a:solidFill>
          <a:ln/>
        </p:spPr>
      </p:sp>
      <p:sp>
        <p:nvSpPr>
          <p:cNvPr id="39" name="Text 32"/>
          <p:cNvSpPr/>
          <p:nvPr/>
        </p:nvSpPr>
        <p:spPr>
          <a:xfrm>
            <a:off x="9513303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+메모이제이션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9047759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응용</a:t>
            </a:r>
            <a:endParaRPr lang="en-US" sz="1050" dirty="0"/>
          </a:p>
        </p:txBody>
      </p:sp>
      <p:sp>
        <p:nvSpPr>
          <p:cNvPr id="41" name="Text 34"/>
          <p:cNvSpPr/>
          <p:nvPr/>
        </p:nvSpPr>
        <p:spPr>
          <a:xfrm>
            <a:off x="9047759" y="4370832"/>
            <a:ext cx="248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피보나치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배낭 문제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2.8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탐색을 실전에 적용합니다. 입력 크기로 가능 여부를 판단하고 문제를 해결합니다.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테스트란?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화려한 스펙보다 ‘실질적인 개발 역량’을 증명하는 자리입니다.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19390" y="2633472"/>
            <a:ext cx="777240" cy="7772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br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3700" y="2827782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5528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알고리즘적 사고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914400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알고리즘을 적용해야 효율적으로 풀 수 있는지 설계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450260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11282" y="2633472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5" name="Image 2" descr="/home/claude/icons/databas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592" y="2827782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87420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자료구조 활용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3706292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적절한 자료구조 선택으로 성능을 고려한 코드 작성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42152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103174" y="2633472"/>
            <a:ext cx="777240" cy="7772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0" name="Image 3" descr="/home/claude/icons/puzz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7484" y="2827782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79312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능력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6498184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 시간 안에 요구사항을 정확히 파악하고 구현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034043" y="2286000"/>
            <a:ext cx="2499284" cy="288036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895065" y="2633472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5" name="Image 4" descr="/home/claude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9375" y="2827782"/>
            <a:ext cx="388620" cy="3886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171203" y="3520440"/>
            <a:ext cx="22249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감각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9290075" y="4160520"/>
            <a:ext cx="19872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낯선 환경·제한 시간 속 집중력과 디버깅 능력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테스트에서 입력 받기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481328"/>
            <a:ext cx="10874959" cy="594360"/>
          </a:xfrm>
          <a:prstGeom prst="roundRect">
            <a:avLst>
              <a:gd name="adj" fmla="val 18462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1549908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1664208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27632" y="1481328"/>
            <a:ext cx="9631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대량 입력에서 input()은 느리다 → </a:t>
            </a: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sys.stdin.readline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사용하자!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58368" y="2240280"/>
            <a:ext cx="10874959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8368" y="224028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3" name="Shape 9"/>
          <p:cNvSpPr/>
          <p:nvPr/>
        </p:nvSpPr>
        <p:spPr>
          <a:xfrm>
            <a:off x="658368" y="249631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4" name="Shape 10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5" name="Shape 11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6" name="Shape 12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7" name="Text 13"/>
          <p:cNvSpPr/>
          <p:nvPr/>
        </p:nvSpPr>
        <p:spPr>
          <a:xfrm>
            <a:off x="1481328" y="224028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fast_input.py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914400" y="2770632"/>
            <a:ext cx="1041775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sys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sys.stdin.readline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input()을 덮어씀!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 m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 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"3 5"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"10 20 30 40"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                 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N개의 줄 입력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 = [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 = [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2차원 배열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(n)]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전략: 경우의 수를 먼저 계산</a:t>
            </a:r>
            <a:endParaRPr lang="en-US" sz="2900" dirty="0"/>
          </a:p>
        </p:txBody>
      </p:sp>
      <p:sp>
        <p:nvSpPr>
          <p:cNvPr id="7" name="Text 4">
            <a:extLst>
              <a:ext uri="{FF2B5EF4-FFF2-40B4-BE49-F238E27FC236}">
                <ns3:creationId id="{0EC6E55F-7651-49B0-A728-32368058A8B5}"/>
              </a:ext>
            </a:extLst>
          </p:cNvPr>
          <p:cNvSpPr>
            <a:spLocks noGrp="1"/>
          </p:cNvSpPr>
          <p:nvPr/>
        </p:nvSpPr>
        <p:spPr>
          <a:xfrm>
            <a:off x="658368" y="1737360"/>
            <a:ext cx="10874978" cy="3657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후보 수와 후보 하나의 처리 비용을 곱해 실제 제한 시간과 비교합니다.</a:t>
            </a:r>
            <a:endParaRPr sz="140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96112" y="2409444"/>
            <a:ext cx="502920" cy="50292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842" y="2535174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28600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수십만 번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07408" y="2432304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13" name="Text 9">
            <a:extLst>
              <a:ext uri="{FF2B5EF4-FFF2-40B4-BE49-F238E27FC236}">
                <ns3:creationId id="{D4901609-56C3-46B5-95B1-C97C54F478BC}"/>
              </a:ext>
            </a:extLst>
          </p:cNvPr>
          <p:cNvSpPr>
            <a:spLocks noGrp="1"/>
          </p:cNvSpPr>
          <p:nvPr/>
        </p:nvSpPr>
        <p:spPr>
          <a:xfrm>
            <a:off x="4407408" y="2432304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3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비용에 따라 가능</a:t>
            </a:r>
            <a:endParaRPr sz="1350"/>
          </a:p>
        </p:txBody>
      </p:sp>
      <p:sp>
        <p:nvSpPr>
          <p:cNvPr id="14" name="Text 10">
            <a:extLst>
              <a:ext uri="{FF2B5EF4-FFF2-40B4-BE49-F238E27FC236}">
                <ns3:creationId id="{A5DF17F9-14F4-47F9-85AA-8DE57279A031}"/>
              </a:ext>
            </a:extLst>
          </p:cNvPr>
          <p:cNvSpPr>
            <a:spLocks noGrp="1"/>
          </p:cNvSpPr>
          <p:nvPr/>
        </p:nvSpPr>
        <p:spPr>
          <a:xfrm>
            <a:off x="6510528" y="2286000"/>
            <a:ext cx="4839938" cy="74980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r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Consolas"/>
                <a:ea typeface="Consolas"/>
                <a:cs typeface="Consolas"/>
              </a:defRPr>
            </a:pPr>
            <a:r>
              <a:rPr sz="1350" b="0" i="0">
                <a:solidFill>
                  <a:srgbClr val="3C3B57"/>
                </a:solidFill>
                <a:latin typeface="Consolas"/>
                <a:ea typeface="Consolas"/>
                <a:cs typeface="Consolas"/>
              </a:rPr>
              <a:t>n³번 검사, n=100: 10⁶</a:t>
            </a:r>
            <a:endParaRPr sz="1350"/>
          </a:p>
        </p:txBody>
      </p:sp>
      <p:sp>
        <p:nvSpPr>
          <p:cNvPr id="15" name="Shape 11"/>
          <p:cNvSpPr/>
          <p:nvPr/>
        </p:nvSpPr>
        <p:spPr>
          <a:xfrm>
            <a:off x="658368" y="3163824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6112" y="3287268"/>
            <a:ext cx="502920" cy="50292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842" y="3412998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18488" y="3163824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번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407408" y="3310128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/>
        </p:spPr>
      </p:sp>
      <p:sp>
        <p:nvSpPr>
          <p:cNvPr id="20" name="Text 15"/>
          <p:cNvSpPr/>
          <p:nvPr/>
        </p:nvSpPr>
        <p:spPr>
          <a:xfrm>
            <a:off x="4407408" y="3310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가능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510528" y="3163824"/>
            <a:ext cx="48399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O(2ⁿ), n≤20 : 10⁶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96112" y="4165092"/>
            <a:ext cx="502920" cy="50292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3" descr="/home/claude/icons/war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842" y="4290822"/>
            <a:ext cx="251460" cy="2514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18488" y="4041648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수억 번 이상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07408" y="4187952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/>
        </p:spPr>
      </p:sp>
      <p:sp>
        <p:nvSpPr>
          <p:cNvPr id="27" name="Text 21"/>
          <p:cNvSpPr/>
          <p:nvPr/>
        </p:nvSpPr>
        <p:spPr>
          <a:xfrm>
            <a:off x="4407408" y="4187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350" dirty="0"/>
          </a:p>
        </p:txBody>
      </p:sp>
      <p:sp>
        <p:nvSpPr>
          <p:cNvPr id="28" name="Text 22">
            <a:extLst>
              <a:ext uri="{FF2B5EF4-FFF2-40B4-BE49-F238E27FC236}">
                <ns3:creationId id="{D3CEAC31-B1D2-457D-B45B-094249FE6FD6}"/>
              </a:ext>
            </a:extLst>
          </p:cNvPr>
          <p:cNvSpPr>
            <a:spLocks noGrp="1"/>
          </p:cNvSpPr>
          <p:nvPr/>
        </p:nvSpPr>
        <p:spPr>
          <a:xfrm>
            <a:off x="6510528" y="4041648"/>
            <a:ext cx="4839938" cy="74980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r">
              <a:lnSpc>
                <a:spcPct val="108000"/>
              </a:lnSpc>
              <a:buNone/>
              <a:defRPr sz="1350" b="0" i="0">
                <a:solidFill>
                  <a:srgbClr val="3C3B57"/>
                </a:solidFill>
                <a:latin typeface="Consolas"/>
                <a:ea typeface="Consolas"/>
                <a:cs typeface="Consolas"/>
              </a:defRPr>
            </a:pPr>
            <a:r>
              <a:rPr sz="1350" b="0" i="0">
                <a:solidFill>
                  <a:srgbClr val="3C3B57"/>
                </a:solidFill>
                <a:latin typeface="Consolas"/>
                <a:ea typeface="Consolas"/>
                <a:cs typeface="Consolas"/>
              </a:rPr>
              <a:t>n!, n≥12는 급증</a:t>
            </a:r>
            <a:endParaRPr sz="1350"/>
          </a:p>
        </p:txBody>
      </p:sp>
      <p:sp>
        <p:nvSpPr>
          <p:cNvPr id="29" name="Shape 23"/>
          <p:cNvSpPr/>
          <p:nvPr/>
        </p:nvSpPr>
        <p:spPr>
          <a:xfrm>
            <a:off x="658368" y="4919472"/>
            <a:ext cx="10874959" cy="749808"/>
          </a:xfrm>
          <a:prstGeom prst="roundRect">
            <a:avLst>
              <a:gd name="adj" fmla="val 1707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96112" y="5042916"/>
            <a:ext cx="502920" cy="50292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1" name="Image 4" descr="/home/claude/icons/time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842" y="5168646"/>
            <a:ext cx="251460" cy="2514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18488" y="4919472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수십억 번 +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407408" y="5065776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34" name="Text 27">
            <a:extLst>
              <a:ext uri="{FF2B5EF4-FFF2-40B4-BE49-F238E27FC236}">
                <ns3:creationId id="{ABD430A7-0268-418F-8832-B6C8638A1C0A}"/>
              </a:ext>
            </a:extLst>
          </p:cNvPr>
          <p:cNvSpPr>
            <a:spLocks noGrp="1"/>
          </p:cNvSpPr>
          <p:nvPr/>
        </p:nvSpPr>
        <p:spPr>
          <a:xfrm>
            <a:off x="4407408" y="5065776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3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환경에 따라 초과</a:t>
            </a:r>
            <a:endParaRPr sz="1350"/>
          </a:p>
        </p:txBody>
      </p:sp>
      <p:sp>
        <p:nvSpPr>
          <p:cNvPr id="35" name="Text 28"/>
          <p:cNvSpPr/>
          <p:nvPr/>
        </p:nvSpPr>
        <p:spPr>
          <a:xfrm>
            <a:off x="6510528" y="4919472"/>
            <a:ext cx="48399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다른 알고리즘 필요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Coding Test 2.1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숫자 3개의 합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6381C1C9-4FA3-4767-8AB6-488EC608AFD8}"/>
              </a:ext>
            </a:extLst>
          </p:cNvPr>
          <p:cNvSpPr>
            <a:spLocks noGrp="1"/>
          </p:cNvSpPr>
          <p:nvPr/>
        </p:nvSpPr>
        <p:spPr>
          <a:xfrm>
            <a:off x="658368" y="1828800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길이 N 배열에서 서로 다른 세 인덱스 i&lt;j&lt;k를 골라 합이 target인 경우를 센다. 같은 값도 위치가 다르면 별개다.</a:t>
            </a:r>
            <a:endParaRPr sz="135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three_sum.py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638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sys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sys.stdin.readline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 =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combinations(arr,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(c) == target: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count +=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(count)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1737360"/>
          </a:xfrm>
          <a:prstGeom prst="roundRect">
            <a:avLst>
              <a:gd name="adj" fmla="val 736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77440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/ 출력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1 2 3 4 5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352044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</a:t>
            </a:r>
            <a:r>
              <a:rPr lang="en-US" sz="1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90688" y="4160520"/>
            <a:ext cx="3742639" cy="1645920"/>
          </a:xfrm>
          <a:prstGeom prst="roundRect">
            <a:avLst>
              <a:gd name="adj" fmla="val 7778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019288" y="4315968"/>
            <a:ext cx="32854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가능?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019288" y="4663440"/>
            <a:ext cx="32854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N=100 → 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₁₀₀C₃ = 161,700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수십만 번 = 매우 안전 ✅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Coding Test 2.2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블랙잭 — M을 넘지 않는 최대 합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2EDFE892-2EF8-4D23-BEBA-0D470CADA94D}"/>
              </a:ext>
            </a:extLst>
          </p:cNvPr>
          <p:cNvSpPr>
            <a:spLocks noGrp="1"/>
          </p:cNvSpPr>
          <p:nvPr/>
        </p:nvSpPr>
        <p:spPr>
          <a:xfrm>
            <a:off x="658368" y="1828800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양의 값인 카드 N장 중 서로 다른 세 장을 골라 합이 M 이하인 최대값을 반환한다. 같은 값도 허용하며 가능한 조합이 없으면 0이다.</a:t>
            </a:r>
            <a:endParaRPr sz="135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blackjack.py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892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sys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sys.stdin.readline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blackjack(cards, target):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best 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combinations(cards,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total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(combo)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total &lt;= target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total &gt; best: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best = total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best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 M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(blackjack(cards, M))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3566160"/>
          </a:xfrm>
          <a:prstGeom prst="roundRect">
            <a:avLst>
              <a:gd name="adj" fmla="val 35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9572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입력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5 21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5 6 7 8 9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3291840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조합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046720" y="3584448"/>
            <a:ext cx="32854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5+6+7 = 18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5+6+9 = 20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5+7+9 = 21 ← 최대!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046720" y="5029200"/>
            <a:ext cx="3230575" cy="594360"/>
          </a:xfrm>
          <a:prstGeom prst="roundRect">
            <a:avLst>
              <a:gd name="adj" fmla="val 15385"/>
            </a:avLst>
          </a:prstGeom>
          <a:solidFill>
            <a:srgbClr val="17163A"/>
          </a:solidFill>
          <a:ln/>
        </p:spPr>
      </p:sp>
      <p:sp>
        <p:nvSpPr>
          <p:cNvPr id="23" name="Text 20"/>
          <p:cNvSpPr/>
          <p:nvPr/>
        </p:nvSpPr>
        <p:spPr>
          <a:xfrm>
            <a:off x="8046720" y="5029200"/>
            <a:ext cx="3230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</a:t>
            </a:r>
            <a:r>
              <a:rPr lang="en-US" sz="2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연습문제 유형 분류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이해하면 처음 보는 문제도 해결할 수 있습니다.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240280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96112" y="2496312"/>
            <a:ext cx="548640" cy="54864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listo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263347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2459736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패턴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914400" y="3108960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4F46E5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3108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O(n²), O(n³)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532888" y="3108960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쌍/삼쌍 비교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390034" y="2240280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627778" y="2496312"/>
            <a:ext cx="548640" cy="5486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omment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938" y="263347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04434" y="2459736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탐색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4646066" y="3108960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7C3AED"/>
          </a:solidFill>
          <a:ln/>
        </p:spPr>
      </p:sp>
      <p:sp>
        <p:nvSpPr>
          <p:cNvPr id="20" name="Text 15"/>
          <p:cNvSpPr/>
          <p:nvPr/>
        </p:nvSpPr>
        <p:spPr>
          <a:xfrm>
            <a:off x="4646066" y="3108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O(nm)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264554" y="3108960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매칭·문자열 비교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121701" y="2240280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359445" y="2496312"/>
            <a:ext cx="548640" cy="5486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3" descr="/home/claude/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6605" y="263347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036101" y="2459736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8377733" y="3108960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38BDF8"/>
          </a:solidFill>
          <a:ln/>
        </p:spPr>
      </p:sp>
      <p:sp>
        <p:nvSpPr>
          <p:cNvPr id="27" name="Text 21">
            <a:extLst>
              <a:ext uri="{FF2B5EF4-FFF2-40B4-BE49-F238E27FC236}">
                <ns3:creationId id="{A290603D-BAC0-4643-A038-DF9725E66CD2}"/>
              </a:ext>
            </a:extLst>
          </p:cNvPr>
          <p:cNvSpPr>
            <a:spLocks noGrp="1"/>
          </p:cNvSpPr>
          <p:nvPr/>
        </p:nvSpPr>
        <p:spPr>
          <a:xfrm>
            <a:off x="8377714" y="3108960"/>
            <a:ext cx="15544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150" b="1" i="0">
                <a:solidFill>
                  <a:srgbClr val="E6EDF3"/>
                </a:solidFill>
                <a:latin typeface="Consolas"/>
                <a:ea typeface="Consolas"/>
                <a:cs typeface="Consolas"/>
              </a:defRPr>
            </a:pPr>
            <a:r>
              <a:rPr sz="1150" b="1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2ⁿ개 후보</a:t>
            </a:r>
            <a:endParaRPr sz="1150"/>
          </a:p>
        </p:txBody>
      </p:sp>
      <p:sp>
        <p:nvSpPr>
          <p:cNvPr id="28" name="Text 22"/>
          <p:cNvSpPr/>
          <p:nvPr/>
        </p:nvSpPr>
        <p:spPr>
          <a:xfrm>
            <a:off x="9996221" y="3108960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비트마스크·선택/비선택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58368" y="4096512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96112" y="4352544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1" name="Image 4" descr="/home/claude/icons/gea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272" y="4489704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572768" y="4315968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탐색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914400" y="4965192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10B981"/>
          </a:solidFill>
          <a:ln/>
        </p:spPr>
      </p:sp>
      <p:sp>
        <p:nvSpPr>
          <p:cNvPr id="34" name="Text 27">
            <a:extLst>
              <a:ext uri="{FF2B5EF4-FFF2-40B4-BE49-F238E27FC236}">
                <ns3:creationId id="{E000D733-BFAA-4DFC-9CC0-962053044A25}"/>
              </a:ext>
            </a:extLst>
          </p:cNvPr>
          <p:cNvSpPr>
            <a:spLocks noGrp="1"/>
          </p:cNvSpPr>
          <p:nvPr/>
        </p:nvSpPr>
        <p:spPr>
          <a:xfrm>
            <a:off x="914400" y="4965192"/>
            <a:ext cx="15544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lnSpc>
                <a:spcPct val="108000"/>
              </a:lnSpc>
              <a:buNone/>
              <a:defRPr sz="1150" b="1" i="0">
                <a:solidFill>
                  <a:srgbClr val="E6EDF3"/>
                </a:solidFill>
                <a:latin typeface="Consolas"/>
                <a:ea typeface="Consolas"/>
                <a:cs typeface="Consolas"/>
              </a:defRPr>
            </a:pPr>
            <a:r>
              <a:rPr sz="1150" b="1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nCr개 후보</a:t>
            </a:r>
            <a:endParaRPr sz="1150"/>
          </a:p>
        </p:txBody>
      </p:sp>
      <p:sp>
        <p:nvSpPr>
          <p:cNvPr id="35" name="Text 28"/>
          <p:cNvSpPr/>
          <p:nvPr/>
        </p:nvSpPr>
        <p:spPr>
          <a:xfrm>
            <a:off x="2532888" y="4965192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combinations·합 조건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390034" y="4096512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4627778" y="4352544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8" name="Image 5" descr="/home/claude/icons/sitemap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4938" y="4489704"/>
            <a:ext cx="274320" cy="27432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304434" y="4315968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배열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4646066" y="4965192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F59E0B"/>
          </a:solidFill>
          <a:ln/>
        </p:spPr>
      </p:sp>
      <p:sp>
        <p:nvSpPr>
          <p:cNvPr id="41" name="Text 33"/>
          <p:cNvSpPr/>
          <p:nvPr/>
        </p:nvSpPr>
        <p:spPr>
          <a:xfrm>
            <a:off x="4646066" y="49651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O(n²m²)</a:t>
            </a:r>
            <a:endParaRPr lang="en-US" sz="1150" dirty="0"/>
          </a:p>
        </p:txBody>
      </p:sp>
      <p:sp>
        <p:nvSpPr>
          <p:cNvPr id="42" name="Text 34">
            <a:extLst>
              <a:ext uri="{FF2B5EF4-FFF2-40B4-BE49-F238E27FC236}">
                <ns3:creationId id="{13694BD5-B7F6-4366-BD4E-50727D25F9FE}"/>
              </a:ext>
            </a:extLst>
          </p:cNvPr>
          <p:cNvSpPr>
            <a:spLocks noGrp="1"/>
          </p:cNvSpPr>
          <p:nvPr/>
        </p:nvSpPr>
        <p:spPr>
          <a:xfrm>
            <a:off x="6264593" y="4965192"/>
            <a:ext cx="1354265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10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n×m 격자의 두 칸</a:t>
            </a:r>
            <a:endParaRPr sz="1100"/>
          </a:p>
          <a:p>
            <a:pPr marL="0" indent="0">
              <a:lnSpc>
                <a:spcPct val="108000"/>
              </a:lnSpc>
              <a:buNone/>
              <a:defRPr sz="110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조합 예</a:t>
            </a:r>
            <a:endParaRPr sz="1100"/>
          </a:p>
        </p:txBody>
      </p:sp>
      <p:sp>
        <p:nvSpPr>
          <p:cNvPr id="43" name="Shape 35"/>
          <p:cNvSpPr/>
          <p:nvPr/>
        </p:nvSpPr>
        <p:spPr>
          <a:xfrm>
            <a:off x="8121701" y="4096512"/>
            <a:ext cx="3411626" cy="1600200"/>
          </a:xfrm>
          <a:prstGeom prst="roundRect">
            <a:avLst>
              <a:gd name="adj" fmla="val 8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8359445" y="4352544"/>
            <a:ext cx="548640" cy="54864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45" name="Image 6" descr="/home/claude/icons/targe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6605" y="4489704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9036101" y="4315968"/>
            <a:ext cx="231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</a:t>
            </a:r>
            <a:endParaRPr lang="en-US" sz="1500" dirty="0"/>
          </a:p>
        </p:txBody>
      </p:sp>
      <p:sp>
        <p:nvSpPr>
          <p:cNvPr id="47" name="Shape 38"/>
          <p:cNvSpPr/>
          <p:nvPr/>
        </p:nvSpPr>
        <p:spPr>
          <a:xfrm>
            <a:off x="8377733" y="4965192"/>
            <a:ext cx="1554480" cy="384048"/>
          </a:xfrm>
          <a:prstGeom prst="roundRect">
            <a:avLst>
              <a:gd name="adj" fmla="val 21429"/>
            </a:avLst>
          </a:prstGeom>
          <a:solidFill>
            <a:srgbClr val="FB7185"/>
          </a:solidFill>
          <a:ln/>
        </p:spPr>
      </p:sp>
      <p:sp>
        <p:nvSpPr>
          <p:cNvPr id="48" name="Text 39"/>
          <p:cNvSpPr/>
          <p:nvPr/>
        </p:nvSpPr>
        <p:spPr>
          <a:xfrm>
            <a:off x="8377733" y="49651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혼합</a:t>
            </a:r>
            <a:endParaRPr lang="en-US" sz="1150" dirty="0"/>
          </a:p>
        </p:txBody>
      </p:sp>
      <p:sp>
        <p:nvSpPr>
          <p:cNvPr id="49" name="Text 40"/>
          <p:cNvSpPr/>
          <p:nvPr/>
        </p:nvSpPr>
        <p:spPr>
          <a:xfrm>
            <a:off x="9996221" y="4965192"/>
            <a:ext cx="1354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최소/최대 갱신·조건부</a:t>
            </a:r>
            <a:endParaRPr lang="en-US" sz="1100" dirty="0"/>
          </a:p>
        </p:txBody>
      </p:sp>
      <p:sp>
        <p:nvSpPr>
          <p:cNvPr id="50" name="Text 4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반복문 패턴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· 삼중 반복문 연습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520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 — 모든 (i,j) 쌍의 차이 (i&lt;j)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58368" y="219456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19456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5059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19456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20340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 = 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 -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 +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</a:t>
            </a:r>
            <a:r>
              <a:rPr lang="en-US" sz="12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"{A[j]-A[i]}"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4448" y="1828800"/>
            <a:ext cx="520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 — 세 수의 합이 K (i&lt;j&lt;k)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24448" y="2194560"/>
            <a:ext cx="5208880" cy="1920240"/>
          </a:xfrm>
          <a:prstGeom prst="roundRect">
            <a:avLst>
              <a:gd name="adj" fmla="val 571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324448" y="2194560"/>
            <a:ext cx="52088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4448" y="2450592"/>
            <a:ext cx="52088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21" name="Shape 18"/>
          <p:cNvSpPr/>
          <p:nvPr/>
        </p:nvSpPr>
        <p:spPr>
          <a:xfrm>
            <a:off x="6525616" y="232257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2" name="Shape 19"/>
          <p:cNvSpPr/>
          <p:nvPr/>
        </p:nvSpPr>
        <p:spPr>
          <a:xfrm>
            <a:off x="6726784" y="232257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7952" y="232257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24" name="Text 21"/>
          <p:cNvSpPr/>
          <p:nvPr/>
        </p:nvSpPr>
        <p:spPr>
          <a:xfrm>
            <a:off x="7147408" y="2194560"/>
            <a:ext cx="420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triple.py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580480" y="2720340"/>
            <a:ext cx="475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 = [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 K = 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(A)-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(i+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(A)-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k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(j+</a:t>
            </a:r>
            <a:r>
              <a:rPr lang="en-US" sz="11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(A)):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</a:t>
            </a:r>
            <a:r>
              <a:rPr lang="en-US" sz="11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A[i]+A[j]+A[k] == K:</a:t>
            </a:r>
            <a:endParaRPr lang="en-US" sz="11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1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((A[i],A[j],A[k]))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58368" y="4297680"/>
            <a:ext cx="5208880" cy="1417320"/>
          </a:xfrm>
          <a:prstGeom prst="roundRect">
            <a:avLst>
              <a:gd name="adj" fmla="val 7742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32688" y="4297680"/>
            <a:ext cx="466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1은 이중 반복문으로 모든 쌍을 순회하는 가장 기본적인 O(n²) 패턴입니다.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324448" y="4297680"/>
            <a:ext cx="5208880" cy="1417320"/>
          </a:xfrm>
          <a:prstGeom prst="roundRect">
            <a:avLst>
              <a:gd name="adj" fmla="val 7742"/>
            </a:avLst>
          </a:prstGeom>
          <a:solidFill>
            <a:srgbClr val="17163A"/>
          </a:solidFill>
          <a:ln/>
          <a:effectLst>
            <a:outerShdw blurRad="101600" dist="38100" dir="5400000" algn="bl" rotWithShape="0">
              <a:srgbClr val="1A1836">
                <a:alpha val="2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6580480" y="4434840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6580480" y="4754880"/>
            <a:ext cx="475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(2, 5, 8)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(3, 5, 7)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문자열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회문(Palindrome) 찾기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28800"/>
            <a:ext cx="108749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7"/>
              </a:lnSpc>
              <a:buNone/>
            </a:pP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앞뒤로 읽어도 같은 문자열 찾기 — s == s[::-1] 이면 회문.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063240"/>
          </a:xfrm>
          <a:prstGeom prst="roundRect">
            <a:avLst>
              <a:gd name="adj" fmla="val 3582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palindrome.py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814574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 = []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().strip()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 == s[::-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]: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앞뒤로 읽어도 같으면 회문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result.append(s)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result: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9572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/ 출력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입력: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Racecar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noon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046720" y="4343400"/>
            <a:ext cx="32854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출력: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" y="5440680"/>
            <a:ext cx="6766560" cy="365760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5440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s[::-1] 슬라이싱 → 문자열을 뒤집는 파이썬 핵심 기법!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부분집합</a:t>
            </a:r>
            <a:endParaRPr lang="en-US" sz="1250" dirty="0"/>
          </a:p>
        </p:txBody>
      </p:sp>
      <p:sp>
        <p:nvSpPr>
          <p:cNvPr id="7" name="Text 4">
            <a:extLst>
              <a:ext uri="{FF2B5EF4-FFF2-40B4-BE49-F238E27FC236}">
                <ns3:creationId id="{4F012A14-5865-4C9D-9822-E4D00C81D24B}"/>
              </a:ext>
            </a:extLst>
          </p:cNvPr>
          <p:cNvSpPr>
            <a:spLocks noGrp="1"/>
          </p:cNvSpPr>
          <p:nvPr/>
        </p:nvSpPr>
        <p:spPr>
          <a:xfrm>
            <a:off x="658368" y="1133856"/>
            <a:ext cx="10874978" cy="685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배낭 문제 (0/1 Knapsack) — O(N·2ᴺ)</a:t>
            </a:r>
            <a:endParaRPr sz="2900"/>
          </a:p>
        </p:txBody>
      </p:sp>
      <p:sp>
        <p:nvSpPr>
          <p:cNvPr id="8" name="Text 5">
            <a:extLst>
              <a:ext uri="{FF2B5EF4-FFF2-40B4-BE49-F238E27FC236}">
                <ns3:creationId id="{1279F2E6-8F2B-4929-BF0A-38821CCDEF15}"/>
              </a:ext>
            </a:extLst>
          </p:cNvPr>
          <p:cNvSpPr>
            <a:spLocks noGrp="1"/>
          </p:cNvSpPr>
          <p:nvPr/>
        </p:nvSpPr>
        <p:spPr>
          <a:xfrm>
            <a:off x="658368" y="1828800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N개 물건의 무게·가치와 용량 W가 주어진다. 각 물건은 최대 한 번, 빈 선택은 가치 0이며 무게와 W는 음수가 아니다.</a:t>
            </a:r>
            <a:endParaRPr sz="135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knapsack.py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823718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 W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 = [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(N)] 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(무게, 가치)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max_val 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N +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</a:t>
            </a:r>
            <a:r>
              <a:rPr lang="en-US" sz="12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1~N개 선택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combinations(items, r):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w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(it[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v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(it[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combo)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w &lt;= W: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max_val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(max_val, v)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(max_val)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90688" y="2240280"/>
            <a:ext cx="3742639" cy="2331720"/>
          </a:xfrm>
          <a:prstGeom prst="roundRect">
            <a:avLst>
              <a:gd name="adj" fmla="val 549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239572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입력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046720" y="2697480"/>
            <a:ext cx="32854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4 10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4 5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6 8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3 3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5 6</a:t>
            </a:r>
            <a:endParaRPr lang="en-US" sz="1300" dirty="0"/>
          </a:p>
        </p:txBody>
      </p:sp>
      <p:sp>
        <p:nvSpPr>
          <p:cNvPr id="20" name="Text 17">
            <a:extLst>
              <a:ext uri="{FF2B5EF4-FFF2-40B4-BE49-F238E27FC236}">
                <ns3:creationId id="{D58EF314-FACB-4BAB-B06B-FAD6961AC5EA}"/>
              </a:ext>
            </a:extLst>
          </p:cNvPr>
          <p:cNvSpPr>
            <a:spLocks noGrp="1"/>
          </p:cNvSpPr>
          <p:nvPr/>
        </p:nvSpPr>
        <p:spPr>
          <a:xfrm>
            <a:off x="8046720" y="3977640"/>
            <a:ext cx="3285458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3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30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출력: 13</a:t>
            </a:r>
            <a:endParaRPr sz="1300"/>
          </a:p>
        </p:txBody>
      </p:sp>
      <p:sp>
        <p:nvSpPr>
          <p:cNvPr id="21" name="Shape 18"/>
          <p:cNvSpPr/>
          <p:nvPr/>
        </p:nvSpPr>
        <p:spPr>
          <a:xfrm>
            <a:off x="7790688" y="4709160"/>
            <a:ext cx="3742639" cy="1097280"/>
          </a:xfrm>
          <a:prstGeom prst="roundRect">
            <a:avLst>
              <a:gd name="adj" fmla="val 10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2" name="Text 19">
            <a:extLst>
              <a:ext uri="{FF2B5EF4-FFF2-40B4-BE49-F238E27FC236}">
                <ns3:creationId id="{88F46CE9-C148-4875-874D-03F4941883BB}"/>
              </a:ext>
            </a:extLst>
          </p:cNvPr>
          <p:cNvSpPr>
            <a:spLocks noGrp="1"/>
          </p:cNvSpPr>
          <p:nvPr/>
        </p:nvSpPr>
        <p:spPr>
          <a:xfrm>
            <a:off x="8065008" y="4709160"/>
            <a:ext cx="3194018" cy="10972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이 코드는 선택마다 합을 다시 구하므로</a:t>
            </a:r>
            <a:endParaRPr sz="1250"/>
          </a:p>
          <a:p>
            <a:pPr marL="0" indent="0" algn="l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O(N·2ᴺ). 정수 용량 W의 동적 계획법은</a:t>
            </a:r>
            <a:endParaRPr sz="1250"/>
          </a:p>
          <a:p>
            <a:pPr marL="0" indent="0" algn="l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O(NW).</a:t>
            </a:r>
            <a:endParaRPr sz="1250"/>
          </a:p>
        </p:txBody>
      </p:sp>
      <p:sp>
        <p:nvSpPr>
          <p:cNvPr id="23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 · 순열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야구 (Baseball)</a:t>
            </a:r>
            <a:endParaRPr lang="en-US" sz="2900" dirty="0"/>
          </a:p>
        </p:txBody>
      </p:sp>
      <p:sp>
        <p:nvSpPr>
          <p:cNvPr id="8" name="Text 5">
            <a:extLst>
              <a:ext uri="{FF2B5EF4-FFF2-40B4-BE49-F238E27FC236}">
                <ns3:creationId id="{BF667031-0C7A-4AAB-8EB6-66FEF97BF3D7}"/>
              </a:ext>
            </a:extLst>
          </p:cNvPr>
          <p:cNvSpPr>
            <a:spLocks noGrp="1"/>
          </p:cNvSpPr>
          <p:nvPr/>
        </p:nvSpPr>
        <p:spPr>
          <a:xfrm>
            <a:off x="658368" y="1828800"/>
            <a:ext cx="10874978" cy="3200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i="0">
                <a:solidFill>
                  <a:srgbClr val="6B7185"/>
                </a:solidFill>
                <a:latin typeface="Malgun Gothic"/>
                <a:ea typeface="Malgun Gothic"/>
                <a:cs typeface="Malgun Gothic"/>
              </a:rPr>
              <a:t>0~9의 서로 다른 숫자 3개인 문자열, 앞자리 0도 허용한다. 값·자리 모두 맞으면 스트라이크, 값만 맞으면 볼이다.</a:t>
            </a:r>
            <a:endParaRPr sz="1350"/>
          </a:p>
        </p:txBody>
      </p:sp>
      <p:sp>
        <p:nvSpPr>
          <p:cNvPr id="9" name="Shape 6"/>
          <p:cNvSpPr/>
          <p:nvPr/>
        </p:nvSpPr>
        <p:spPr>
          <a:xfrm>
            <a:off x="658368" y="2240280"/>
            <a:ext cx="10874959" cy="4101084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24028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49631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36829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36829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36829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24028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baseball.py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789936"/>
            <a:ext cx="1041775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itertools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get_sb(secret, guess):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secret[i] == guess[i])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b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guess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secret) - s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s, b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hints = []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_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line =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().split()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hints.append((line[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]),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])))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 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permutations(</a:t>
            </a:r>
            <a:r>
              <a:rPr lang="en-US" sz="12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'0123456789'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secret = </a:t>
            </a:r>
            <a:r>
              <a:rPr lang="en-US" sz="1200" dirty="0">
                <a:solidFill>
                  <a:srgbClr val="9FE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.join(perm)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(get_sb(secret, h[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 == (h[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h[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h </a:t>
            </a:r>
            <a:r>
              <a:rPr lang="en-US" sz="12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hints):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count += </a:t>
            </a:r>
            <a:r>
              <a:rPr lang="en-US" sz="12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(count)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troph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코딩 패턴 총정리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나오는 코드 패턴 5가지 — 이 형태만 익히면 대부분의 문제에 대응할 수 있습니다.</a:t>
            </a:r>
            <a:endParaRPr lang="en-US" sz="14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86000"/>
          <a:ext cx="10908792" cy="395020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형태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문제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4338C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단일 for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i in range(n):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약수·소수 판별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7C3A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이중 for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i in range(n-1): for j in range(i+1,n):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최근접 쌍, 두 수 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combinations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c in combinations(arr, r):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r개 선택 조합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59E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permutations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p in permutations(arr, r):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 있는 r개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비트마스크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i in range(1 &lt;&lt; n):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부분집합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ns2="http://schemas.microsoft.com/office/drawing/2014/main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 요약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15109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01510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81328" y="182880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= 가능한 모든 경우를 체계적으로 탐색하는 설계 전략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82321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3009519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300951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>
            <a:extLst>
              <a:ext uri="{FF2B5EF4-FFF2-40B4-BE49-F238E27FC236}">
                <ns2:creationId id="{026E83BE-BFA9-4CC6-8183-8E5E16CD3991}"/>
              </a:ext>
            </a:extLst>
          </p:cNvPr>
          <p:cNvSpPr>
            <a:spLocks noGrp="1"/>
          </p:cNvSpPr>
          <p:nvPr/>
        </p:nvSpPr>
        <p:spPr>
          <a:xfrm>
            <a:off x="1481328" y="2823210"/>
            <a:ext cx="4203002" cy="8298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변수별 후보를 직접 반복하는 구현에서 각 변수에 반복문</a:t>
            </a:r>
            <a:endParaRPr sz="1250"/>
          </a:p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한 겹을 쓴다.</a:t>
            </a:r>
            <a:endParaRPr sz="1250"/>
          </a:p>
        </p:txBody>
      </p:sp>
      <p:sp>
        <p:nvSpPr>
          <p:cNvPr id="12" name="Shape 10"/>
          <p:cNvSpPr/>
          <p:nvPr/>
        </p:nvSpPr>
        <p:spPr>
          <a:xfrm>
            <a:off x="658368" y="381762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77824" y="4003929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0039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81328" y="381762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템플릿: 후보 해 생성 → 조건 검증 → 해 선택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4812030"/>
            <a:ext cx="5208880" cy="829818"/>
          </a:xfrm>
          <a:prstGeom prst="roundRect">
            <a:avLst>
              <a:gd name="adj" fmla="val 1322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7824" y="4998339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49983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81328" y="4812030"/>
            <a:ext cx="420304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itertools(permutations, combinations)로 다중 루프를 대체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24448" y="1828800"/>
            <a:ext cx="5208880" cy="1161288"/>
          </a:xfrm>
          <a:prstGeom prst="roundRect">
            <a:avLst>
              <a:gd name="adj" fmla="val 944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2180844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543904" y="21808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>
            <a:extLst>
              <a:ext uri="{FF2B5EF4-FFF2-40B4-BE49-F238E27FC236}">
                <ns2:creationId id="{79A6D505-5369-48D1-9D9E-6EF8A2D0DAFE}"/>
              </a:ext>
            </a:extLst>
          </p:cNvPr>
          <p:cNvSpPr>
            <a:spLocks noGrp="1"/>
          </p:cNvSpPr>
          <p:nvPr/>
        </p:nvSpPr>
        <p:spPr>
          <a:xfrm>
            <a:off x="7147370" y="1828800"/>
            <a:ext cx="4203002" cy="11612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후보 수와 후보당 비용을 함께 본다. n≤20이 모든 완전</a:t>
            </a:r>
            <a:endParaRPr sz="1250"/>
          </a:p>
          <a:p>
            <a:pPr marL="0" indent="0">
              <a:lnSpc>
                <a:spcPct val="108000"/>
              </a:lnSpc>
              <a:buNone/>
              <a:def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defRPr>
            </a:pPr>
            <a:r>
              <a:rPr sz="1250" b="0" i="0">
                <a:solidFill>
                  <a:srgbClr val="3C3B57"/>
                </a:solidFill>
                <a:latin typeface="Malgun Gothic"/>
                <a:ea typeface="Malgun Gothic"/>
                <a:cs typeface="Malgun Gothic"/>
              </a:rPr>
              <a:t>탐색에 가능한 기준은 아니다.</a:t>
            </a:r>
            <a:endParaRPr sz="1250"/>
          </a:p>
        </p:txBody>
      </p:sp>
      <p:sp>
        <p:nvSpPr>
          <p:cNvPr id="24" name="Shape 22"/>
          <p:cNvSpPr/>
          <p:nvPr/>
        </p:nvSpPr>
        <p:spPr>
          <a:xfrm>
            <a:off x="6324448" y="3154680"/>
            <a:ext cx="5208880" cy="1161288"/>
          </a:xfrm>
          <a:prstGeom prst="roundRect">
            <a:avLst>
              <a:gd name="adj" fmla="val 944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43904" y="3506724"/>
            <a:ext cx="457200" cy="45720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6" name="Text 24"/>
          <p:cNvSpPr/>
          <p:nvPr/>
        </p:nvSpPr>
        <p:spPr>
          <a:xfrm>
            <a:off x="6543904" y="35067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147408" y="3154680"/>
            <a:ext cx="4203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탐색은 백트래킹·분할 정복·동적 계획법의 출발점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24448" y="4480560"/>
            <a:ext cx="5208880" cy="1161288"/>
          </a:xfrm>
          <a:prstGeom prst="roundRect">
            <a:avLst>
              <a:gd name="adj" fmla="val 944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43904" y="4832604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0" name="Text 28"/>
          <p:cNvSpPr/>
          <p:nvPr/>
        </p:nvSpPr>
        <p:spPr>
          <a:xfrm>
            <a:off x="6543904" y="48326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47408" y="4480560"/>
            <a:ext cx="4203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테스트: 입력 제한 확인 → 경우의 수 계산 → 가능 여부 판단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ns2="http://schemas.microsoft.com/office/drawing/2014/main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1</a:t>
            </a:r>
            <a:endParaRPr lang="en-US" sz="1250" dirty="0"/>
          </a:p>
        </p:txBody>
      </p:sp>
      <p:sp>
        <p:nvSpPr>
          <p:cNvPr id="3" name="Text 1">
            <a:extLst>
              <a:ext uri="{FF2B5EF4-FFF2-40B4-BE49-F238E27FC236}">
                <ns2:creationId id="{C83A0665-6467-4042-A47B-FF942319CF5D}"/>
              </a:ext>
            </a:extLst>
          </p:cNvPr>
          <p:cNvSpPr>
            <a:spLocks noGrp="1"/>
          </p:cNvSpPr>
          <p:nvPr/>
        </p:nvSpPr>
        <p:spPr>
          <a:xfrm>
            <a:off x="658368" y="896112"/>
            <a:ext cx="10874978" cy="685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lnSpc>
                <a:spcPct val="108000"/>
              </a:lnSpc>
              <a:buNone/>
              <a:def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2900" b="1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n≥1, arr는 서로 다른 원소 n개. 각 코드의 본문 실행 횟수는?</a:t>
            </a:r>
            <a:endParaRPr sz="290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6583680" cy="3794760"/>
          </a:xfrm>
          <a:prstGeom prst="roundRect">
            <a:avLst>
              <a:gd name="adj" fmla="val 2892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658368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947672"/>
            <a:ext cx="658368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181965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81965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9" name="Shape 7"/>
          <p:cNvSpPr/>
          <p:nvPr/>
        </p:nvSpPr>
        <p:spPr>
          <a:xfrm>
            <a:off x="1261872" y="181965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8"/>
          <p:cNvSpPr/>
          <p:nvPr/>
        </p:nvSpPr>
        <p:spPr>
          <a:xfrm>
            <a:off x="1481328" y="16916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quiz1.py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2249424"/>
            <a:ext cx="6126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코드 A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pass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코드 B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permutations(arr, 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pass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코드 C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&lt;&lt; n):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pass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53528" y="1691640"/>
            <a:ext cx="3879799" cy="1097280"/>
          </a:xfrm>
          <a:prstGeom prst="roundRect">
            <a:avLst>
              <a:gd name="adj" fmla="val 11667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872984" y="1965960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787298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Text 13">
            <a:extLst>
              <a:ext uri="{FF2B5EF4-FFF2-40B4-BE49-F238E27FC236}">
                <ns2:creationId id="{47A9ABA2-71A8-477E-B1A5-82C2349D00A7}"/>
              </a:ext>
            </a:extLst>
          </p:cNvPr>
          <p:cNvSpPr>
            <a:spLocks noGrp="1"/>
          </p:cNvSpPr>
          <p:nvPr/>
        </p:nvSpPr>
        <p:spPr>
          <a:xfrm>
            <a:off x="8613648" y="1837944"/>
            <a:ext cx="2691098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2200" b="1" i="0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200" b="1" i="0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n²회</a:t>
            </a:r>
            <a:endParaRPr sz="2200"/>
          </a:p>
        </p:txBody>
      </p:sp>
      <p:sp>
        <p:nvSpPr>
          <p:cNvPr id="16" name="Text 14"/>
          <p:cNvSpPr/>
          <p:nvPr/>
        </p:nvSpPr>
        <p:spPr>
          <a:xfrm>
            <a:off x="8613648" y="2295144"/>
            <a:ext cx="2691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for문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53528" y="2971800"/>
            <a:ext cx="3879799" cy="1097280"/>
          </a:xfrm>
          <a:prstGeom prst="roundRect">
            <a:avLst>
              <a:gd name="adj" fmla="val 11667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872984" y="324612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7872984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>
            <a:extLst>
              <a:ext uri="{FF2B5EF4-FFF2-40B4-BE49-F238E27FC236}">
                <ns2:creationId id="{0C985211-CCF2-4D49-93DE-3DB36414197B}"/>
              </a:ext>
            </a:extLst>
          </p:cNvPr>
          <p:cNvSpPr>
            <a:spLocks noGrp="1"/>
          </p:cNvSpPr>
          <p:nvPr/>
        </p:nvSpPr>
        <p:spPr>
          <a:xfrm>
            <a:off x="8613648" y="3118104"/>
            <a:ext cx="2691098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2200" b="1" i="0">
                <a:solidFill>
                  <a:srgbClr val="7C3AED"/>
                </a:solidFill>
                <a:latin typeface="Malgun Gothic"/>
                <a:ea typeface="Malgun Gothic"/>
                <a:cs typeface="Malgun Gothic"/>
              </a:defRPr>
            </a:pPr>
            <a:r>
              <a:rPr sz="2200" b="1" i="0">
                <a:solidFill>
                  <a:srgbClr val="7C3AED"/>
                </a:solidFill>
                <a:latin typeface="Malgun Gothic"/>
                <a:ea typeface="Malgun Gothic"/>
                <a:cs typeface="Malgun Gothic"/>
              </a:rPr>
              <a:t>n!회</a:t>
            </a:r>
            <a:endParaRPr sz="2200"/>
          </a:p>
        </p:txBody>
      </p:sp>
      <p:sp>
        <p:nvSpPr>
          <p:cNvPr id="21" name="Text 19"/>
          <p:cNvSpPr/>
          <p:nvPr/>
        </p:nvSpPr>
        <p:spPr>
          <a:xfrm>
            <a:off x="8613648" y="3575304"/>
            <a:ext cx="2691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순열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53528" y="4251960"/>
            <a:ext cx="3879799" cy="1097280"/>
          </a:xfrm>
          <a:prstGeom prst="roundRect">
            <a:avLst>
              <a:gd name="adj" fmla="val 11667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872984" y="4526280"/>
            <a:ext cx="548640" cy="54864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4" name="Text 22"/>
          <p:cNvSpPr/>
          <p:nvPr/>
        </p:nvSpPr>
        <p:spPr>
          <a:xfrm>
            <a:off x="7872984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2000" dirty="0"/>
          </a:p>
        </p:txBody>
      </p:sp>
      <p:sp>
        <p:nvSpPr>
          <p:cNvPr id="25" name="Text 23">
            <a:extLst>
              <a:ext uri="{FF2B5EF4-FFF2-40B4-BE49-F238E27FC236}">
                <ns2:creationId id="{4C98BD49-F566-456D-95E2-5A25CC3C7587}"/>
              </a:ext>
            </a:extLst>
          </p:cNvPr>
          <p:cNvSpPr>
            <a:spLocks noGrp="1"/>
          </p:cNvSpPr>
          <p:nvPr/>
        </p:nvSpPr>
        <p:spPr>
          <a:xfrm>
            <a:off x="8613648" y="4398264"/>
            <a:ext cx="2691098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2200" b="1" i="0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2200" b="1" i="0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2ⁿ회</a:t>
            </a:r>
            <a:endParaRPr sz="2200"/>
          </a:p>
        </p:txBody>
      </p:sp>
      <p:sp>
        <p:nvSpPr>
          <p:cNvPr id="26" name="Text 24"/>
          <p:cNvSpPr/>
          <p:nvPr/>
        </p:nvSpPr>
        <p:spPr>
          <a:xfrm>
            <a:off x="8613648" y="4855464"/>
            <a:ext cx="2691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부분집합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ns2="http://schemas.microsoft.com/office/drawing/2014/main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 vs 조합, 무엇을 쓸까?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65960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9659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47088" y="17830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로또 6/45 당첨번호 조합의 수는?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90688" y="1965960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790688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070848" y="1783080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45C6 = 8,145,060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862072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77824" y="3044952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30449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Text 12">
            <a:extLst>
              <a:ext uri="{FF2B5EF4-FFF2-40B4-BE49-F238E27FC236}">
                <ns2:creationId id="{EAF520B2-E8E7-4D0A-BDBA-0AC06A931DDA}"/>
              </a:ext>
            </a:extLst>
          </p:cNvPr>
          <p:cNvSpPr>
            <a:spLocks noGrp="1"/>
          </p:cNvSpPr>
          <p:nvPr/>
        </p:nvSpPr>
        <p:spPr>
          <a:xfrm>
            <a:off x="1847088" y="2862072"/>
            <a:ext cx="576072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450" b="0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1450" b="0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5명 중 서로 다른 금·은·동 메달리스트를 한 명씩 정한다.</a:t>
            </a:r>
            <a:endParaRPr sz="1450"/>
          </a:p>
        </p:txBody>
      </p:sp>
      <p:sp>
        <p:nvSpPr>
          <p:cNvPr id="15" name="Shape 13"/>
          <p:cNvSpPr/>
          <p:nvPr/>
        </p:nvSpPr>
        <p:spPr>
          <a:xfrm>
            <a:off x="7790688" y="3044952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7790688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70848" y="2862072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5P3 = 60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941064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77824" y="4123944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4123944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500" dirty="0"/>
          </a:p>
        </p:txBody>
      </p:sp>
      <p:sp>
        <p:nvSpPr>
          <p:cNvPr id="21" name="Text 19">
            <a:extLst>
              <a:ext uri="{FF2B5EF4-FFF2-40B4-BE49-F238E27FC236}">
                <ns2:creationId id="{CF06B792-3859-4A9C-8CCE-C445D123A3B7}"/>
              </a:ext>
            </a:extLst>
          </p:cNvPr>
          <p:cNvSpPr>
            <a:spLocks noGrp="1"/>
          </p:cNvSpPr>
          <p:nvPr/>
        </p:nvSpPr>
        <p:spPr>
          <a:xfrm>
            <a:off x="1847088" y="3941064"/>
            <a:ext cx="576072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450" b="0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1450" b="0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0~9 중복 없는 3자리 비밀번호, 앞자리 0 허용</a:t>
            </a:r>
            <a:endParaRPr sz="1450"/>
          </a:p>
        </p:txBody>
      </p:sp>
      <p:sp>
        <p:nvSpPr>
          <p:cNvPr id="22" name="Shape 20"/>
          <p:cNvSpPr/>
          <p:nvPr/>
        </p:nvSpPr>
        <p:spPr>
          <a:xfrm>
            <a:off x="7790688" y="4123944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4F46E5"/>
          </a:solidFill>
          <a:ln/>
        </p:spPr>
      </p:sp>
      <p:sp>
        <p:nvSpPr>
          <p:cNvPr id="23" name="Text 21"/>
          <p:cNvSpPr/>
          <p:nvPr/>
        </p:nvSpPr>
        <p:spPr>
          <a:xfrm>
            <a:off x="7790688" y="412394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70848" y="3941064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10P3 = 720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020056"/>
            <a:ext cx="10874959" cy="914400"/>
          </a:xfrm>
          <a:prstGeom prst="roundRect">
            <a:avLst>
              <a:gd name="adj" fmla="val 140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77824" y="5202936"/>
            <a:ext cx="777240" cy="548640"/>
          </a:xfrm>
          <a:prstGeom prst="roundRect">
            <a:avLst>
              <a:gd name="adj" fmla="val 16667"/>
            </a:avLst>
          </a:prstGeom>
          <a:solidFill>
            <a:srgbClr val="17163A"/>
          </a:solidFill>
          <a:ln/>
        </p:spPr>
      </p:sp>
      <p:sp>
        <p:nvSpPr>
          <p:cNvPr id="27" name="Text 25"/>
          <p:cNvSpPr/>
          <p:nvPr/>
        </p:nvSpPr>
        <p:spPr>
          <a:xfrm>
            <a:off x="877824" y="52029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500" dirty="0"/>
          </a:p>
        </p:txBody>
      </p:sp>
      <p:sp>
        <p:nvSpPr>
          <p:cNvPr id="28" name="Text 26">
            <a:extLst>
              <a:ext uri="{FF2B5EF4-FFF2-40B4-BE49-F238E27FC236}">
                <ns2:creationId id="{A6B61DD8-9F1C-4EDB-B21C-BAFCC0098DC2}"/>
              </a:ext>
            </a:extLst>
          </p:cNvPr>
          <p:cNvSpPr>
            <a:spLocks noGrp="1"/>
          </p:cNvSpPr>
          <p:nvPr/>
        </p:nvSpPr>
        <p:spPr>
          <a:xfrm>
            <a:off x="1847088" y="5020056"/>
            <a:ext cx="576072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>
              <a:lnSpc>
                <a:spcPct val="108000"/>
              </a:lnSpc>
              <a:buNone/>
              <a:defRPr sz="1450" b="0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defRPr>
            </a:pPr>
            <a:r>
              <a:rPr sz="1450" b="0" i="0">
                <a:solidFill>
                  <a:srgbClr val="1E1B3A"/>
                </a:solidFill>
                <a:latin typeface="Malgun Gothic"/>
                <a:ea typeface="Malgun Gothic"/>
                <a:cs typeface="Malgun Gothic"/>
              </a:rPr>
              <a:t>서로 다른 음식 5개 중 서로 다른 2개 선택, 순서 무관</a:t>
            </a:r>
            <a:endParaRPr sz="1450"/>
          </a:p>
        </p:txBody>
      </p:sp>
      <p:sp>
        <p:nvSpPr>
          <p:cNvPr id="29" name="Shape 27"/>
          <p:cNvSpPr/>
          <p:nvPr/>
        </p:nvSpPr>
        <p:spPr>
          <a:xfrm>
            <a:off x="7790688" y="5202936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7790688" y="520293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070848" y="5020056"/>
            <a:ext cx="22795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5C2 = 10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챕터 예고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한계를 극복하는 더 스마트한 알고리즘들을 배웁니다.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5528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축소 정복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58368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Decrease and Conquer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크기를 점진적으로 줄여가며 해결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삽입 정렬 · 이진 탐색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50260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9716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3669716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87420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정복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450260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Divide and Conquer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69716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작은 부분으로 나누어 재귀 해결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33140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정렬 · 퀵 정렬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42152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61608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608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79312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백트래킹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242152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Backtracking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61608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+ 가지치기로 경로 제거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25032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N-Queens · 미로 탐색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034043" y="233172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53499" y="2606040"/>
            <a:ext cx="2060372" cy="457200"/>
          </a:xfrm>
          <a:prstGeom prst="roundRect">
            <a:avLst>
              <a:gd name="adj" fmla="val 18000"/>
            </a:avLst>
          </a:prstGeom>
          <a:solidFill>
            <a:srgbClr val="FB7185"/>
          </a:solidFill>
          <a:ln/>
        </p:spPr>
      </p:sp>
      <p:sp>
        <p:nvSpPr>
          <p:cNvPr id="27" name="Text 25"/>
          <p:cNvSpPr/>
          <p:nvPr/>
        </p:nvSpPr>
        <p:spPr>
          <a:xfrm>
            <a:off x="9253499" y="2606040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6~7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71203" y="3246120"/>
            <a:ext cx="22249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계획법 &amp; 그리디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034043" y="38404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5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 &amp; Greedy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53499" y="4178808"/>
            <a:ext cx="2060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부분 구조·탐욕적 선택 활용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216923" y="4919472"/>
            <a:ext cx="2133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배낭 문제 · 최소 신장 트리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마스터 학습 전략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꾸준한 연습만이 코딩 테스트 합격의 지름길입니다.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2240280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340864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34086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58568" y="22402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다지기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73168" y="2240280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중첩으로 약수·소수 찾기, 이중 for문으로 모든 쌍 비교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999232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59536" y="3099816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0998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58568" y="299923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 익히기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73168" y="2999232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permutations, combinations로 3줄 완전 탐색 구현 연습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58184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9536" y="3858768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38587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58568" y="37581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비트마스크 연습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73168" y="3758184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1&lt;&lt;n, i &amp; (1&lt;&lt;j)로 모든 부분집합 생성 마스터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17136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59536" y="461772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" y="46177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58568" y="451713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테스트 적용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73168" y="4517136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백준·프로그래머스에서 ‘완전 탐색’ 태그 문제 20개 풀기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276088"/>
            <a:ext cx="10874959" cy="658368"/>
          </a:xfrm>
          <a:prstGeom prst="roundRect">
            <a:avLst>
              <a:gd name="adj" fmla="val 1944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9536" y="5376672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" y="53766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258568" y="527608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도전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773168" y="5276088"/>
            <a:ext cx="65772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코드에 가지치기 추가 → 백트래킹으로 발전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" y="6035040"/>
            <a:ext cx="10874959" cy="384048"/>
          </a:xfrm>
          <a:prstGeom prst="roundRect">
            <a:avLst>
              <a:gd name="adj" fmla="val 2381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32688" y="6035040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백준 추천: 1018, 2309, 2231, 7568   |   프로그래머스: 타겟 넘버, 카펫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65049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fl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284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마치며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2장을 마치며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691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챕터에서 배운 것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2148840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5528" y="224028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336292"/>
            <a:ext cx="192024" cy="1920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98448" y="21488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탐색의 개념과 ‘될 때까지 다 해보자!’ 전략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58368" y="2807208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95528" y="2898648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994660"/>
            <a:ext cx="192024" cy="1920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98448" y="280720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단일→이중→삼중 반복문으로 탐색을 확장하는 패턴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8368" y="3465576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95528" y="3557016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3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653028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98448" y="3465576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해 생성 → 조건 검증 → 해 선택의 3단계 템플릿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58368" y="4123944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95528" y="4215384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4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311396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98448" y="4123944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itertools로 순열·조합을 우아하게 구현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58368" y="4782312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95528" y="4873752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5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969764"/>
            <a:ext cx="192024" cy="19202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298448" y="478231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조합적 폭발과 O(n!), O(2ⁿ), O(nᵏ) 복잡도의 이해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658368" y="5440680"/>
            <a:ext cx="6400800" cy="566928"/>
          </a:xfrm>
          <a:prstGeom prst="roundRect">
            <a:avLst>
              <a:gd name="adj" fmla="val 16129"/>
            </a:avLst>
          </a:prstGeom>
          <a:solidFill>
            <a:srgbClr val="F5F4FC"/>
          </a:solidFill>
          <a:ln/>
          <a:effectLst>
            <a:outerShdw blurRad="50800" dist="12700" dir="5400000" algn="bl" rotWithShape="0">
              <a:srgbClr val="1A1836">
                <a:alpha val="6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795528" y="5532120"/>
            <a:ext cx="384048" cy="384048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0" name="Image 6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628132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298448" y="544068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탐색이 모든 고급 알고리즘의 씨앗임을 파악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7470648" y="1691640"/>
            <a:ext cx="4062679" cy="2377440"/>
          </a:xfrm>
          <a:prstGeom prst="roundRect">
            <a:avLst>
              <a:gd name="adj" fmla="val 6154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090508" y="1965960"/>
            <a:ext cx="822960" cy="82296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4" name="Image 7" descr="/home/claude/icons/rocke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6248" y="2171700"/>
            <a:ext cx="411480" cy="41148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470648" y="2880360"/>
            <a:ext cx="40626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챕터 예고</a:t>
            </a:r>
            <a:endParaRPr lang="en-US" sz="1300" dirty="0"/>
          </a:p>
        </p:txBody>
      </p:sp>
      <p:sp>
        <p:nvSpPr>
          <p:cNvPr id="36" name="Text 26"/>
          <p:cNvSpPr/>
          <p:nvPr/>
        </p:nvSpPr>
        <p:spPr>
          <a:xfrm>
            <a:off x="7470648" y="3200400"/>
            <a:ext cx="4062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3</a:t>
            </a:r>
            <a:endParaRPr lang="en-US" sz="17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축소 정복</a:t>
            </a:r>
            <a:endParaRPr lang="en-US" sz="1700" dirty="0"/>
          </a:p>
        </p:txBody>
      </p:sp>
      <p:sp>
        <p:nvSpPr>
          <p:cNvPr id="37" name="Text 27"/>
          <p:cNvSpPr/>
          <p:nvPr/>
        </p:nvSpPr>
        <p:spPr>
          <a:xfrm>
            <a:off x="7744968" y="3767328"/>
            <a:ext cx="35140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범위를 조금씩 줄여가며 더 똑똑하게 문제에 접근</a:t>
            </a:r>
            <a:endParaRPr lang="en-US" sz="1100" dirty="0"/>
          </a:p>
        </p:txBody>
      </p:sp>
      <p:sp>
        <p:nvSpPr>
          <p:cNvPr id="38" name="Shape 28"/>
          <p:cNvSpPr/>
          <p:nvPr/>
        </p:nvSpPr>
        <p:spPr>
          <a:xfrm>
            <a:off x="7470648" y="4206240"/>
            <a:ext cx="4062679" cy="16002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9" name="Text 29"/>
          <p:cNvSpPr/>
          <p:nvPr/>
        </p:nvSpPr>
        <p:spPr>
          <a:xfrm>
            <a:off x="7744968" y="4206240"/>
            <a:ext cx="351403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50" b="1" i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“복잡한 문제도 일단 완전 탐색으로 풀어봄으로써 문제의 구조를 이해할 수 있다.”</a:t>
            </a:r>
            <a:endParaRPr lang="en-US" sz="1350" dirty="0"/>
          </a:p>
        </p:txBody>
      </p:sp>
      <p:sp>
        <p:nvSpPr>
          <p:cNvPr id="40" name="Text 3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Shape 4"/>
          <p:cNvSpPr/>
          <p:nvPr/>
        </p:nvSpPr>
        <p:spPr>
          <a:xfrm>
            <a:off x="1965960" y="53949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9" name="Shape 7"/>
          <p:cNvSpPr/>
          <p:nvPr/>
        </p:nvSpPr>
        <p:spPr>
          <a:xfrm>
            <a:off x="141732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0" name="Shape 8"/>
          <p:cNvSpPr/>
          <p:nvPr/>
        </p:nvSpPr>
        <p:spPr>
          <a:xfrm>
            <a:off x="169164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1" name="Shape 9"/>
          <p:cNvSpPr/>
          <p:nvPr/>
        </p:nvSpPr>
        <p:spPr>
          <a:xfrm>
            <a:off x="1965960" y="56692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4" name="Shape 12"/>
          <p:cNvSpPr/>
          <p:nvPr/>
        </p:nvSpPr>
        <p:spPr>
          <a:xfrm>
            <a:off x="141732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164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6" name="Shape 14"/>
          <p:cNvSpPr/>
          <p:nvPr/>
        </p:nvSpPr>
        <p:spPr>
          <a:xfrm>
            <a:off x="1965960" y="594360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300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9" name="Shape 17"/>
          <p:cNvSpPr/>
          <p:nvPr/>
        </p:nvSpPr>
        <p:spPr>
          <a:xfrm>
            <a:off x="141732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164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1" name="Shape 19"/>
          <p:cNvSpPr/>
          <p:nvPr/>
        </p:nvSpPr>
        <p:spPr>
          <a:xfrm>
            <a:off x="1965960" y="6217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완료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8680" y="182880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</a:t>
            </a:r>
            <a:endParaRPr lang="en-US" sz="5400" dirty="0"/>
          </a:p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마스터!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896112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“될 때까지 다 해보자!”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96112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7A78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알고리즘 · Chapter 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040880" y="1965960"/>
            <a:ext cx="4480560" cy="914400"/>
          </a:xfrm>
          <a:prstGeom prst="roundRect">
            <a:avLst>
              <a:gd name="adj" fmla="val 14000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27000" dist="508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0" y="2148840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0" descr="/home/claude/icons/sca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286000"/>
            <a:ext cx="274320" cy="2743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046720" y="196596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백트래킹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040880" y="3081528"/>
            <a:ext cx="4480560" cy="914400"/>
          </a:xfrm>
          <a:prstGeom prst="roundRect">
            <a:avLst>
              <a:gd name="adj" fmla="val 14000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27000" dist="508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315200" y="3264408"/>
            <a:ext cx="548640" cy="54864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2" name="Image 1" descr="/home/claude/icons/divid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3401568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8046720" y="308152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분할 정복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7040880" y="4197096"/>
            <a:ext cx="4480560" cy="914400"/>
          </a:xfrm>
          <a:prstGeom prst="roundRect">
            <a:avLst>
              <a:gd name="adj" fmla="val 14000"/>
            </a:avLst>
          </a:prstGeom>
          <a:solidFill>
            <a:srgbClr val="201E4C"/>
          </a:solidFill>
          <a:ln w="12700">
            <a:solidFill>
              <a:srgbClr val="2A2860"/>
            </a:solidFill>
            <a:prstDash val="solid"/>
          </a:ln>
          <a:effectLst>
            <a:outerShdw blurRad="127000" dist="508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7315200" y="4379976"/>
            <a:ext cx="548640" cy="54864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36" name="Image 2" descr="/home/claude/icons/brai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4517136"/>
            <a:ext cx="274320" cy="27432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046720" y="419709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→ 동적 계획법</a:t>
            </a:r>
            <a:endParaRPr lang="en-US" sz="1600" dirty="0"/>
          </a:p>
        </p:txBody>
      </p:sp>
      <p:sp>
        <p:nvSpPr>
          <p:cNvPr id="38" name="Text 33"/>
          <p:cNvSpPr/>
          <p:nvPr/>
        </p:nvSpPr>
        <p:spPr>
          <a:xfrm>
            <a:off x="7040880" y="53583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시간: CHAPTER 3 — 축소 정복</a:t>
            </a:r>
            <a:endParaRPr lang="en-US" sz="1250" dirty="0"/>
          </a:p>
        </p:txBody>
      </p:sp>
      <p:sp>
        <p:nvSpPr>
          <p:cNvPr id="39" name="Text 3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8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5829</Words>
  <Application>Microsoft Office PowerPoint</Application>
  <PresentationFormat>와이드스크린</PresentationFormat>
  <Paragraphs>1131</Paragraphs>
  <Slides>59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3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1장 알고리즘과 복잡도 분석</dc:title>
  <dc:subject>PptxGenJS Presentation</dc:subject>
  <dc:creator>Algorithm Course</dc:creator>
  <cp:lastModifiedBy>Sangdon</cp:lastModifiedBy>
  <cp:revision>25</cp:revision>
  <dcterms:created xsi:type="dcterms:W3CDTF">2026-07-07T08:42:06Z</dcterms:created>
  <dcterms:modified xsi:type="dcterms:W3CDTF">2026-07-27T01:25:53Z</dcterms:modified>
</cp:coreProperties>
</file>