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00" d="100"/>
          <a:sy n="100" d="100"/>
        </p:scale>
        <p:origin x="420" y="2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74618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4.png"/><Relationship Id="rId4" Type="http://schemas.openxmlformats.org/officeDocument/2006/relationships/image" Target="../media/image1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20.png"/><Relationship Id="rId4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7.png"/><Relationship Id="rId4" Type="http://schemas.openxmlformats.org/officeDocument/2006/relationships/image" Target="../media/image2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8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8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24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1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0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1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18.png"/><Relationship Id="rId4" Type="http://schemas.openxmlformats.org/officeDocument/2006/relationships/image" Target="../media/image14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4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35.png"/><Relationship Id="rId4" Type="http://schemas.openxmlformats.org/officeDocument/2006/relationships/image" Target="../media/image15.png"/><Relationship Id="rId9" Type="http://schemas.openxmlformats.org/officeDocument/2006/relationships/image" Target="../media/image17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4.png"/><Relationship Id="rId4" Type="http://schemas.openxmlformats.org/officeDocument/2006/relationships/image" Target="../media/image14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6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07040" y="50292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3" name="Shape 1"/>
          <p:cNvSpPr/>
          <p:nvPr/>
        </p:nvSpPr>
        <p:spPr>
          <a:xfrm>
            <a:off x="10881360" y="50292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4" name="Shape 2"/>
          <p:cNvSpPr/>
          <p:nvPr/>
        </p:nvSpPr>
        <p:spPr>
          <a:xfrm>
            <a:off x="11155680" y="50292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5" name="Shape 3"/>
          <p:cNvSpPr/>
          <p:nvPr/>
        </p:nvSpPr>
        <p:spPr>
          <a:xfrm>
            <a:off x="11430000" y="50292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6" name="Shape 4"/>
          <p:cNvSpPr/>
          <p:nvPr/>
        </p:nvSpPr>
        <p:spPr>
          <a:xfrm>
            <a:off x="11704320" y="50292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7" name="Shape 5"/>
          <p:cNvSpPr/>
          <p:nvPr/>
        </p:nvSpPr>
        <p:spPr>
          <a:xfrm>
            <a:off x="10607040" y="77724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8" name="Shape 6"/>
          <p:cNvSpPr/>
          <p:nvPr/>
        </p:nvSpPr>
        <p:spPr>
          <a:xfrm>
            <a:off x="10881360" y="77724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9" name="Shape 7"/>
          <p:cNvSpPr/>
          <p:nvPr/>
        </p:nvSpPr>
        <p:spPr>
          <a:xfrm>
            <a:off x="11155680" y="77724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10" name="Shape 8"/>
          <p:cNvSpPr/>
          <p:nvPr/>
        </p:nvSpPr>
        <p:spPr>
          <a:xfrm>
            <a:off x="11430000" y="77724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11" name="Shape 9"/>
          <p:cNvSpPr/>
          <p:nvPr/>
        </p:nvSpPr>
        <p:spPr>
          <a:xfrm>
            <a:off x="11704320" y="77724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12" name="Shape 10"/>
          <p:cNvSpPr/>
          <p:nvPr/>
        </p:nvSpPr>
        <p:spPr>
          <a:xfrm>
            <a:off x="10607040" y="105156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13" name="Shape 11"/>
          <p:cNvSpPr/>
          <p:nvPr/>
        </p:nvSpPr>
        <p:spPr>
          <a:xfrm>
            <a:off x="10881360" y="105156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55680" y="105156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15" name="Shape 13"/>
          <p:cNvSpPr/>
          <p:nvPr/>
        </p:nvSpPr>
        <p:spPr>
          <a:xfrm>
            <a:off x="11430000" y="105156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704320" y="105156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17" name="Shape 15"/>
          <p:cNvSpPr/>
          <p:nvPr/>
        </p:nvSpPr>
        <p:spPr>
          <a:xfrm>
            <a:off x="10607040" y="132588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18" name="Shape 16"/>
          <p:cNvSpPr/>
          <p:nvPr/>
        </p:nvSpPr>
        <p:spPr>
          <a:xfrm>
            <a:off x="10881360" y="132588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19" name="Shape 17"/>
          <p:cNvSpPr/>
          <p:nvPr/>
        </p:nvSpPr>
        <p:spPr>
          <a:xfrm>
            <a:off x="11155680" y="132588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30000" y="132588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21" name="Shape 19"/>
          <p:cNvSpPr/>
          <p:nvPr/>
        </p:nvSpPr>
        <p:spPr>
          <a:xfrm>
            <a:off x="11704320" y="132588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96012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9C9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ALGORITHMS · 모든 가능성을 시도한다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68680" y="13716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500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02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868680" y="1874520"/>
            <a:ext cx="6035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56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탐색</a:t>
            </a:r>
            <a:endParaRPr lang="en-US" sz="5200" dirty="0"/>
          </a:p>
          <a:p>
            <a:pPr marL="0" indent="0">
              <a:lnSpc>
                <a:spcPts val="56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브루트 포스 기법</a:t>
            </a:r>
            <a:endParaRPr lang="en-US" sz="5200" dirty="0"/>
          </a:p>
        </p:txBody>
      </p:sp>
      <p:sp>
        <p:nvSpPr>
          <p:cNvPr id="25" name="Text 23"/>
          <p:cNvSpPr/>
          <p:nvPr/>
        </p:nvSpPr>
        <p:spPr>
          <a:xfrm>
            <a:off x="896112" y="397764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450" dirty="0">
                <a:solidFill>
                  <a:srgbClr val="C6C4E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“될 때까지 다 해보자” — 가능한 모든 경우를 빠짐없이 확인하는 알고리즘 설계 전략.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96112" y="5989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00" dirty="0">
                <a:solidFill>
                  <a:srgbClr val="7A78B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Brute Force Algorithm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903720" y="1828800"/>
            <a:ext cx="2240280" cy="1874520"/>
          </a:xfrm>
          <a:prstGeom prst="roundRect">
            <a:avLst>
              <a:gd name="adj" fmla="val 6829"/>
            </a:avLst>
          </a:prstGeom>
          <a:solidFill>
            <a:srgbClr val="201E4C"/>
          </a:solidFill>
          <a:ln w="12700">
            <a:solidFill>
              <a:srgbClr val="2A2860"/>
            </a:solidFill>
            <a:prstDash val="solid"/>
          </a:ln>
          <a:effectLst>
            <a:outerShdw blurRad="152400" dist="63500" dir="5400000" algn="bl" rotWithShape="0">
              <a:srgbClr val="1A1836">
                <a:alpha val="3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635240" y="2121408"/>
            <a:ext cx="777240" cy="777240"/>
          </a:xfrm>
          <a:prstGeom prst="ellipse">
            <a:avLst/>
          </a:prstGeom>
          <a:solidFill>
            <a:srgbClr val="F59E0B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29" name="Image 0" descr="/home/claude/icons/key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9550" y="2315718"/>
            <a:ext cx="388620" cy="388620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6903720" y="2962656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탐색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6903720" y="3310128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9C9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경우 시도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9400032" y="1828800"/>
            <a:ext cx="2240280" cy="1874520"/>
          </a:xfrm>
          <a:prstGeom prst="roundRect">
            <a:avLst>
              <a:gd name="adj" fmla="val 6829"/>
            </a:avLst>
          </a:prstGeom>
          <a:solidFill>
            <a:srgbClr val="201E4C"/>
          </a:solidFill>
          <a:ln w="12700">
            <a:solidFill>
              <a:srgbClr val="2A2860"/>
            </a:solidFill>
            <a:prstDash val="solid"/>
          </a:ln>
          <a:effectLst>
            <a:outerShdw blurRad="152400" dist="63500" dir="5400000" algn="bl" rotWithShape="0">
              <a:srgbClr val="1A1836">
                <a:alpha val="30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10131552" y="2121408"/>
            <a:ext cx="777240" cy="777240"/>
          </a:xfrm>
          <a:prstGeom prst="ellipse">
            <a:avLst/>
          </a:prstGeom>
          <a:solidFill>
            <a:srgbClr val="38BDF8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34" name="Image 1" descr="/home/claude/icons/exchang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25862" y="2315718"/>
            <a:ext cx="388620" cy="388620"/>
          </a:xfrm>
          <a:prstGeom prst="rect">
            <a:avLst/>
          </a:prstGeom>
        </p:spPr>
      </p:pic>
      <p:sp>
        <p:nvSpPr>
          <p:cNvPr id="35" name="Text 31"/>
          <p:cNvSpPr/>
          <p:nvPr/>
        </p:nvSpPr>
        <p:spPr>
          <a:xfrm>
            <a:off x="9400032" y="2962656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순열 &amp; 조합</a:t>
            </a:r>
            <a:endParaRPr lang="en-US" sz="1600" dirty="0"/>
          </a:p>
        </p:txBody>
      </p:sp>
      <p:sp>
        <p:nvSpPr>
          <p:cNvPr id="36" name="Text 32"/>
          <p:cNvSpPr/>
          <p:nvPr/>
        </p:nvSpPr>
        <p:spPr>
          <a:xfrm>
            <a:off x="9400032" y="3310128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9C9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itertools</a:t>
            </a:r>
            <a:endParaRPr lang="en-US" sz="1150" dirty="0"/>
          </a:p>
        </p:txBody>
      </p:sp>
      <p:sp>
        <p:nvSpPr>
          <p:cNvPr id="37" name="Shape 33"/>
          <p:cNvSpPr/>
          <p:nvPr/>
        </p:nvSpPr>
        <p:spPr>
          <a:xfrm>
            <a:off x="6903720" y="3959352"/>
            <a:ext cx="2240280" cy="1874520"/>
          </a:xfrm>
          <a:prstGeom prst="roundRect">
            <a:avLst>
              <a:gd name="adj" fmla="val 6829"/>
            </a:avLst>
          </a:prstGeom>
          <a:solidFill>
            <a:srgbClr val="201E4C"/>
          </a:solidFill>
          <a:ln w="12700">
            <a:solidFill>
              <a:srgbClr val="2A2860"/>
            </a:solidFill>
            <a:prstDash val="solid"/>
          </a:ln>
          <a:effectLst>
            <a:outerShdw blurRad="152400" dist="63500" dir="5400000" algn="bl" rotWithShape="0">
              <a:srgbClr val="1A1836">
                <a:alpha val="30000"/>
              </a:srgbClr>
            </a:outerShdw>
          </a:effectLst>
        </p:spPr>
      </p:sp>
      <p:sp>
        <p:nvSpPr>
          <p:cNvPr id="38" name="Shape 34"/>
          <p:cNvSpPr/>
          <p:nvPr/>
        </p:nvSpPr>
        <p:spPr>
          <a:xfrm>
            <a:off x="7635240" y="4251960"/>
            <a:ext cx="777240" cy="777240"/>
          </a:xfrm>
          <a:prstGeom prst="ellipse">
            <a:avLst/>
          </a:prstGeom>
          <a:solidFill>
            <a:srgbClr val="FB7185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39" name="Image 2" descr="/home/claude/icons/stopwatch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9550" y="4446270"/>
            <a:ext cx="388620" cy="388620"/>
          </a:xfrm>
          <a:prstGeom prst="rect">
            <a:avLst/>
          </a:prstGeom>
        </p:spPr>
      </p:pic>
      <p:sp>
        <p:nvSpPr>
          <p:cNvPr id="40" name="Text 35"/>
          <p:cNvSpPr/>
          <p:nvPr/>
        </p:nvSpPr>
        <p:spPr>
          <a:xfrm>
            <a:off x="6903720" y="509320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 복잡도</a:t>
            </a:r>
            <a:endParaRPr lang="en-US" sz="1600" dirty="0"/>
          </a:p>
        </p:txBody>
      </p:sp>
      <p:sp>
        <p:nvSpPr>
          <p:cNvPr id="41" name="Text 36"/>
          <p:cNvSpPr/>
          <p:nvPr/>
        </p:nvSpPr>
        <p:spPr>
          <a:xfrm>
            <a:off x="6903720" y="54406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9C9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조합적 폭발</a:t>
            </a:r>
            <a:endParaRPr lang="en-US" sz="1150" dirty="0"/>
          </a:p>
        </p:txBody>
      </p:sp>
      <p:sp>
        <p:nvSpPr>
          <p:cNvPr id="42" name="Shape 37"/>
          <p:cNvSpPr/>
          <p:nvPr/>
        </p:nvSpPr>
        <p:spPr>
          <a:xfrm>
            <a:off x="9400032" y="3959352"/>
            <a:ext cx="2240280" cy="1874520"/>
          </a:xfrm>
          <a:prstGeom prst="roundRect">
            <a:avLst>
              <a:gd name="adj" fmla="val 6829"/>
            </a:avLst>
          </a:prstGeom>
          <a:solidFill>
            <a:srgbClr val="201E4C"/>
          </a:solidFill>
          <a:ln w="12700">
            <a:solidFill>
              <a:srgbClr val="2A2860"/>
            </a:solidFill>
            <a:prstDash val="solid"/>
          </a:ln>
          <a:effectLst>
            <a:outerShdw blurRad="152400" dist="63500" dir="5400000" algn="bl" rotWithShape="0">
              <a:srgbClr val="1A1836">
                <a:alpha val="30000"/>
              </a:srgbClr>
            </a:outerShdw>
          </a:effectLst>
        </p:spPr>
      </p:sp>
      <p:sp>
        <p:nvSpPr>
          <p:cNvPr id="43" name="Shape 38"/>
          <p:cNvSpPr/>
          <p:nvPr/>
        </p:nvSpPr>
        <p:spPr>
          <a:xfrm>
            <a:off x="10131552" y="4251960"/>
            <a:ext cx="777240" cy="777240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44" name="Image 3" descr="/home/claude/icons/trophy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25862" y="4446270"/>
            <a:ext cx="388620" cy="388620"/>
          </a:xfrm>
          <a:prstGeom prst="rect">
            <a:avLst/>
          </a:prstGeom>
        </p:spPr>
      </p:pic>
      <p:sp>
        <p:nvSpPr>
          <p:cNvPr id="45" name="Text 39"/>
          <p:cNvSpPr/>
          <p:nvPr/>
        </p:nvSpPr>
        <p:spPr>
          <a:xfrm>
            <a:off x="9400032" y="509320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코딩 테스트</a:t>
            </a:r>
            <a:endParaRPr lang="en-US" sz="1600" dirty="0"/>
          </a:p>
        </p:txBody>
      </p:sp>
      <p:sp>
        <p:nvSpPr>
          <p:cNvPr id="46" name="Text 40"/>
          <p:cNvSpPr/>
          <p:nvPr/>
        </p:nvSpPr>
        <p:spPr>
          <a:xfrm>
            <a:off x="9400032" y="54406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9C9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실전 적용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40080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658368" y="1325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2 · 학습 로드맵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58368" y="1783080"/>
            <a:ext cx="5208880" cy="896112"/>
          </a:xfrm>
          <a:prstGeom prst="roundRect">
            <a:avLst>
              <a:gd name="adj" fmla="val 13265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1947672"/>
            <a:ext cx="749808" cy="566928"/>
          </a:xfrm>
          <a:prstGeom prst="roundRect">
            <a:avLst>
              <a:gd name="adj" fmla="val 16129"/>
            </a:avLst>
          </a:prstGeom>
          <a:solidFill>
            <a:srgbClr val="4F46E5"/>
          </a:solidFill>
          <a:ln/>
          <a:effectLst>
            <a:outerShdw blurRad="88900" dist="254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94767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792224" y="1783080"/>
            <a:ext cx="329778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탐색이란 무엇인가?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172304" y="1993392"/>
            <a:ext cx="475488" cy="475488"/>
          </a:xfrm>
          <a:prstGeom prst="ellipse">
            <a:avLst/>
          </a:prstGeom>
          <a:solidFill>
            <a:srgbClr val="E7E6FB"/>
          </a:solidFill>
          <a:ln/>
        </p:spPr>
      </p:sp>
      <p:pic>
        <p:nvPicPr>
          <p:cNvPr id="9" name="Image 0" descr="/home/claude/icons/key_indi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1176" y="2112264"/>
            <a:ext cx="237744" cy="237744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324448" y="1783080"/>
            <a:ext cx="5208880" cy="896112"/>
          </a:xfrm>
          <a:prstGeom prst="roundRect">
            <a:avLst>
              <a:gd name="adj" fmla="val 13265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543904" y="1947672"/>
            <a:ext cx="749808" cy="566928"/>
          </a:xfrm>
          <a:prstGeom prst="roundRect">
            <a:avLst>
              <a:gd name="adj" fmla="val 16129"/>
            </a:avLst>
          </a:prstGeom>
          <a:solidFill>
            <a:srgbClr val="7C3AED"/>
          </a:solidFill>
          <a:ln/>
          <a:effectLst>
            <a:outerShdw blurRad="88900" dist="254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543904" y="194767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2.2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7458304" y="1783080"/>
            <a:ext cx="329778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 반복에서 다중 반복으로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10838383" y="1993392"/>
            <a:ext cx="475488" cy="475488"/>
          </a:xfrm>
          <a:prstGeom prst="ellipse">
            <a:avLst/>
          </a:prstGeom>
          <a:solidFill>
            <a:srgbClr val="E7E6FB"/>
          </a:solidFill>
          <a:ln/>
        </p:spPr>
      </p:sp>
      <p:pic>
        <p:nvPicPr>
          <p:cNvPr id="15" name="Image 1" descr="/home/claude/icons/layers_viol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2112264"/>
            <a:ext cx="237744" cy="237744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58368" y="2862072"/>
            <a:ext cx="5208880" cy="896112"/>
          </a:xfrm>
          <a:prstGeom prst="roundRect">
            <a:avLst>
              <a:gd name="adj" fmla="val 13265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77824" y="3026664"/>
            <a:ext cx="749808" cy="566928"/>
          </a:xfrm>
          <a:prstGeom prst="roundRect">
            <a:avLst>
              <a:gd name="adj" fmla="val 16129"/>
            </a:avLst>
          </a:prstGeom>
          <a:solidFill>
            <a:srgbClr val="38BDF8"/>
          </a:solidFill>
          <a:ln/>
          <a:effectLst>
            <a:outerShdw blurRad="88900" dist="254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877824" y="3026664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2.3</a:t>
            </a:r>
            <a:endParaRPr lang="en-US" sz="1700" dirty="0"/>
          </a:p>
        </p:txBody>
      </p:sp>
      <p:sp>
        <p:nvSpPr>
          <p:cNvPr id="19" name="Text 15"/>
          <p:cNvSpPr/>
          <p:nvPr/>
        </p:nvSpPr>
        <p:spPr>
          <a:xfrm>
            <a:off x="1792224" y="2862072"/>
            <a:ext cx="329778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탐색의 기본 구조</a:t>
            </a:r>
            <a:endParaRPr lang="en-US" sz="1500" dirty="0"/>
          </a:p>
        </p:txBody>
      </p:sp>
      <p:sp>
        <p:nvSpPr>
          <p:cNvPr id="20" name="Shape 16"/>
          <p:cNvSpPr/>
          <p:nvPr/>
        </p:nvSpPr>
        <p:spPr>
          <a:xfrm>
            <a:off x="5172304" y="3072384"/>
            <a:ext cx="475488" cy="475488"/>
          </a:xfrm>
          <a:prstGeom prst="ellipse">
            <a:avLst/>
          </a:prstGeom>
          <a:solidFill>
            <a:srgbClr val="E7E6FB"/>
          </a:solidFill>
          <a:ln/>
        </p:spPr>
      </p:sp>
      <p:pic>
        <p:nvPicPr>
          <p:cNvPr id="21" name="Image 2" descr="/home/claude/icons/sitemap_sk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91176" y="3191256"/>
            <a:ext cx="237744" cy="237744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6324448" y="2862072"/>
            <a:ext cx="5208880" cy="896112"/>
          </a:xfrm>
          <a:prstGeom prst="roundRect">
            <a:avLst>
              <a:gd name="adj" fmla="val 13265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543904" y="3026664"/>
            <a:ext cx="749808" cy="566928"/>
          </a:xfrm>
          <a:prstGeom prst="roundRect">
            <a:avLst>
              <a:gd name="adj" fmla="val 16129"/>
            </a:avLst>
          </a:prstGeom>
          <a:solidFill>
            <a:srgbClr val="10B981"/>
          </a:solidFill>
          <a:ln/>
          <a:effectLst>
            <a:outerShdw blurRad="88900" dist="254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24" name="Text 19"/>
          <p:cNvSpPr/>
          <p:nvPr/>
        </p:nvSpPr>
        <p:spPr>
          <a:xfrm>
            <a:off x="6543904" y="3026664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2.4</a:t>
            </a:r>
            <a:endParaRPr lang="en-US" sz="1700" dirty="0"/>
          </a:p>
        </p:txBody>
      </p:sp>
      <p:sp>
        <p:nvSpPr>
          <p:cNvPr id="25" name="Text 20"/>
          <p:cNvSpPr/>
          <p:nvPr/>
        </p:nvSpPr>
        <p:spPr>
          <a:xfrm>
            <a:off x="7458304" y="2862072"/>
            <a:ext cx="329778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순열과 조합 (itertools)</a:t>
            </a:r>
            <a:endParaRPr lang="en-US" sz="1500" dirty="0"/>
          </a:p>
        </p:txBody>
      </p:sp>
      <p:sp>
        <p:nvSpPr>
          <p:cNvPr id="26" name="Shape 21"/>
          <p:cNvSpPr/>
          <p:nvPr/>
        </p:nvSpPr>
        <p:spPr>
          <a:xfrm>
            <a:off x="10838383" y="3072384"/>
            <a:ext cx="475488" cy="475488"/>
          </a:xfrm>
          <a:prstGeom prst="ellipse">
            <a:avLst/>
          </a:prstGeom>
          <a:solidFill>
            <a:srgbClr val="E7E6FB"/>
          </a:solidFill>
          <a:ln/>
        </p:spPr>
      </p:sp>
      <p:pic>
        <p:nvPicPr>
          <p:cNvPr id="27" name="Image 3" descr="/home/claude/icons/gear_em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57255" y="3191256"/>
            <a:ext cx="237744" cy="237744"/>
          </a:xfrm>
          <a:prstGeom prst="rect">
            <a:avLst/>
          </a:prstGeom>
        </p:spPr>
      </p:pic>
      <p:sp>
        <p:nvSpPr>
          <p:cNvPr id="28" name="Shape 22"/>
          <p:cNvSpPr/>
          <p:nvPr/>
        </p:nvSpPr>
        <p:spPr>
          <a:xfrm>
            <a:off x="658368" y="3941064"/>
            <a:ext cx="5208880" cy="896112"/>
          </a:xfrm>
          <a:prstGeom prst="roundRect">
            <a:avLst>
              <a:gd name="adj" fmla="val 13265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877824" y="4105656"/>
            <a:ext cx="749808" cy="566928"/>
          </a:xfrm>
          <a:prstGeom prst="roundRect">
            <a:avLst>
              <a:gd name="adj" fmla="val 16129"/>
            </a:avLst>
          </a:prstGeom>
          <a:solidFill>
            <a:srgbClr val="F59E0B"/>
          </a:solidFill>
          <a:ln/>
          <a:effectLst>
            <a:outerShdw blurRad="88900" dist="254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30" name="Text 24"/>
          <p:cNvSpPr/>
          <p:nvPr/>
        </p:nvSpPr>
        <p:spPr>
          <a:xfrm>
            <a:off x="877824" y="4105656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2.5</a:t>
            </a:r>
            <a:endParaRPr lang="en-US" sz="1700" dirty="0"/>
          </a:p>
        </p:txBody>
      </p:sp>
      <p:sp>
        <p:nvSpPr>
          <p:cNvPr id="31" name="Text 25"/>
          <p:cNvSpPr/>
          <p:nvPr/>
        </p:nvSpPr>
        <p:spPr>
          <a:xfrm>
            <a:off x="1792224" y="3941064"/>
            <a:ext cx="329778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예제로 배우는 완전 탐색</a:t>
            </a:r>
            <a:endParaRPr lang="en-US" sz="1500" dirty="0"/>
          </a:p>
        </p:txBody>
      </p:sp>
      <p:sp>
        <p:nvSpPr>
          <p:cNvPr id="32" name="Shape 26"/>
          <p:cNvSpPr/>
          <p:nvPr/>
        </p:nvSpPr>
        <p:spPr>
          <a:xfrm>
            <a:off x="5172304" y="4151376"/>
            <a:ext cx="475488" cy="475488"/>
          </a:xfrm>
          <a:prstGeom prst="ellipse">
            <a:avLst/>
          </a:prstGeom>
          <a:solidFill>
            <a:srgbClr val="E7E6FB"/>
          </a:solidFill>
          <a:ln/>
        </p:spPr>
      </p:sp>
      <p:pic>
        <p:nvPicPr>
          <p:cNvPr id="33" name="Image 4" descr="/home/claude/icons/search_amb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91176" y="4270248"/>
            <a:ext cx="237744" cy="237744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6324448" y="3941064"/>
            <a:ext cx="5208880" cy="896112"/>
          </a:xfrm>
          <a:prstGeom prst="roundRect">
            <a:avLst>
              <a:gd name="adj" fmla="val 13265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35" name="Shape 28"/>
          <p:cNvSpPr/>
          <p:nvPr/>
        </p:nvSpPr>
        <p:spPr>
          <a:xfrm>
            <a:off x="6543904" y="4105656"/>
            <a:ext cx="749808" cy="566928"/>
          </a:xfrm>
          <a:prstGeom prst="roundRect">
            <a:avLst>
              <a:gd name="adj" fmla="val 16129"/>
            </a:avLst>
          </a:prstGeom>
          <a:solidFill>
            <a:srgbClr val="FB7185"/>
          </a:solidFill>
          <a:ln/>
          <a:effectLst>
            <a:outerShdw blurRad="88900" dist="254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36" name="Text 29"/>
          <p:cNvSpPr/>
          <p:nvPr/>
        </p:nvSpPr>
        <p:spPr>
          <a:xfrm>
            <a:off x="6543904" y="4105656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2.6</a:t>
            </a:r>
            <a:endParaRPr lang="en-US" sz="1700" dirty="0"/>
          </a:p>
        </p:txBody>
      </p:sp>
      <p:sp>
        <p:nvSpPr>
          <p:cNvPr id="37" name="Text 30"/>
          <p:cNvSpPr/>
          <p:nvPr/>
        </p:nvSpPr>
        <p:spPr>
          <a:xfrm>
            <a:off x="7458304" y="3941064"/>
            <a:ext cx="329778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 복잡도와 조합적 폭발</a:t>
            </a:r>
            <a:endParaRPr lang="en-US" sz="1500" dirty="0"/>
          </a:p>
        </p:txBody>
      </p:sp>
      <p:sp>
        <p:nvSpPr>
          <p:cNvPr id="38" name="Shape 31"/>
          <p:cNvSpPr/>
          <p:nvPr/>
        </p:nvSpPr>
        <p:spPr>
          <a:xfrm>
            <a:off x="10838383" y="4151376"/>
            <a:ext cx="475488" cy="475488"/>
          </a:xfrm>
          <a:prstGeom prst="ellipse">
            <a:avLst/>
          </a:prstGeom>
          <a:solidFill>
            <a:srgbClr val="E7E6FB"/>
          </a:solidFill>
          <a:ln/>
        </p:spPr>
      </p:sp>
      <p:pic>
        <p:nvPicPr>
          <p:cNvPr id="39" name="Image 5" descr="/home/claude/icons/warn_cora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957255" y="4270248"/>
            <a:ext cx="237744" cy="237744"/>
          </a:xfrm>
          <a:prstGeom prst="rect">
            <a:avLst/>
          </a:prstGeom>
        </p:spPr>
      </p:pic>
      <p:sp>
        <p:nvSpPr>
          <p:cNvPr id="40" name="Shape 32"/>
          <p:cNvSpPr/>
          <p:nvPr/>
        </p:nvSpPr>
        <p:spPr>
          <a:xfrm>
            <a:off x="658368" y="5020056"/>
            <a:ext cx="5208880" cy="896112"/>
          </a:xfrm>
          <a:prstGeom prst="roundRect">
            <a:avLst>
              <a:gd name="adj" fmla="val 13265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41" name="Shape 33"/>
          <p:cNvSpPr/>
          <p:nvPr/>
        </p:nvSpPr>
        <p:spPr>
          <a:xfrm>
            <a:off x="877824" y="5184648"/>
            <a:ext cx="749808" cy="566928"/>
          </a:xfrm>
          <a:prstGeom prst="roundRect">
            <a:avLst>
              <a:gd name="adj" fmla="val 16129"/>
            </a:avLst>
          </a:prstGeom>
          <a:solidFill>
            <a:srgbClr val="7C3AED"/>
          </a:solidFill>
          <a:ln/>
          <a:effectLst>
            <a:outerShdw blurRad="88900" dist="254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42" name="Text 34"/>
          <p:cNvSpPr/>
          <p:nvPr/>
        </p:nvSpPr>
        <p:spPr>
          <a:xfrm>
            <a:off x="877824" y="518464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2.7</a:t>
            </a:r>
            <a:endParaRPr lang="en-US" sz="1700" dirty="0"/>
          </a:p>
        </p:txBody>
      </p:sp>
      <p:sp>
        <p:nvSpPr>
          <p:cNvPr id="43" name="Text 35"/>
          <p:cNvSpPr/>
          <p:nvPr/>
        </p:nvSpPr>
        <p:spPr>
          <a:xfrm>
            <a:off x="1792224" y="5020056"/>
            <a:ext cx="329778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알고리즘의 씨앗</a:t>
            </a:r>
            <a:endParaRPr lang="en-US" sz="1500" dirty="0"/>
          </a:p>
        </p:txBody>
      </p:sp>
      <p:sp>
        <p:nvSpPr>
          <p:cNvPr id="44" name="Shape 36"/>
          <p:cNvSpPr/>
          <p:nvPr/>
        </p:nvSpPr>
        <p:spPr>
          <a:xfrm>
            <a:off x="5172304" y="5230368"/>
            <a:ext cx="475488" cy="475488"/>
          </a:xfrm>
          <a:prstGeom prst="ellipse">
            <a:avLst/>
          </a:prstGeom>
          <a:solidFill>
            <a:srgbClr val="E7E6FB"/>
          </a:solidFill>
          <a:ln/>
        </p:spPr>
      </p:sp>
      <p:pic>
        <p:nvPicPr>
          <p:cNvPr id="45" name="Image 6" descr="/home/claude/icons/rocket_viole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91176" y="5349240"/>
            <a:ext cx="237744" cy="237744"/>
          </a:xfrm>
          <a:prstGeom prst="rect">
            <a:avLst/>
          </a:prstGeom>
        </p:spPr>
      </p:pic>
      <p:sp>
        <p:nvSpPr>
          <p:cNvPr id="46" name="Shape 37"/>
          <p:cNvSpPr/>
          <p:nvPr/>
        </p:nvSpPr>
        <p:spPr>
          <a:xfrm>
            <a:off x="6324448" y="5020056"/>
            <a:ext cx="5208880" cy="896112"/>
          </a:xfrm>
          <a:prstGeom prst="roundRect">
            <a:avLst>
              <a:gd name="adj" fmla="val 13265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47" name="Shape 38"/>
          <p:cNvSpPr/>
          <p:nvPr/>
        </p:nvSpPr>
        <p:spPr>
          <a:xfrm>
            <a:off x="6543904" y="5184648"/>
            <a:ext cx="749808" cy="566928"/>
          </a:xfrm>
          <a:prstGeom prst="roundRect">
            <a:avLst>
              <a:gd name="adj" fmla="val 16129"/>
            </a:avLst>
          </a:prstGeom>
          <a:solidFill>
            <a:srgbClr val="10B981"/>
          </a:solidFill>
          <a:ln/>
          <a:effectLst>
            <a:outerShdw blurRad="88900" dist="254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48" name="Text 39"/>
          <p:cNvSpPr/>
          <p:nvPr/>
        </p:nvSpPr>
        <p:spPr>
          <a:xfrm>
            <a:off x="6543904" y="518464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2.8</a:t>
            </a:r>
            <a:endParaRPr lang="en-US" sz="1700" dirty="0"/>
          </a:p>
        </p:txBody>
      </p:sp>
      <p:sp>
        <p:nvSpPr>
          <p:cNvPr id="49" name="Text 40"/>
          <p:cNvSpPr/>
          <p:nvPr/>
        </p:nvSpPr>
        <p:spPr>
          <a:xfrm>
            <a:off x="7458304" y="5020056"/>
            <a:ext cx="329778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코딩 테스트</a:t>
            </a:r>
            <a:endParaRPr lang="en-US" sz="1500" dirty="0"/>
          </a:p>
        </p:txBody>
      </p:sp>
      <p:sp>
        <p:nvSpPr>
          <p:cNvPr id="50" name="Shape 41"/>
          <p:cNvSpPr/>
          <p:nvPr/>
        </p:nvSpPr>
        <p:spPr>
          <a:xfrm>
            <a:off x="10838383" y="5230368"/>
            <a:ext cx="475488" cy="475488"/>
          </a:xfrm>
          <a:prstGeom prst="ellipse">
            <a:avLst/>
          </a:prstGeom>
          <a:solidFill>
            <a:srgbClr val="E7E6FB"/>
          </a:solidFill>
          <a:ln/>
        </p:spPr>
      </p:sp>
      <p:pic>
        <p:nvPicPr>
          <p:cNvPr id="51" name="Image 7" descr="/home/claude/icons/trophy_eme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957255" y="5349240"/>
            <a:ext cx="237744" cy="237744"/>
          </a:xfrm>
          <a:prstGeom prst="rect">
            <a:avLst/>
          </a:prstGeom>
        </p:spPr>
      </p:pic>
      <p:sp>
        <p:nvSpPr>
          <p:cNvPr id="52" name="Text 42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40080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한눈에 보는 완전 탐색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658368" y="1554480"/>
            <a:ext cx="10874959" cy="1234440"/>
          </a:xfrm>
          <a:prstGeom prst="roundRect">
            <a:avLst>
              <a:gd name="adj" fmla="val 11852"/>
            </a:avLst>
          </a:prstGeom>
          <a:solidFill>
            <a:srgbClr val="17163A"/>
          </a:solidFill>
          <a:ln/>
          <a:effectLst>
            <a:outerShdw blurRad="177800" dist="76200" dir="5400000" algn="bl" rotWithShape="0">
              <a:srgbClr val="1A1836">
                <a:alpha val="26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58368" y="1691640"/>
            <a:ext cx="108749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D9D7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“될 때까지 </a:t>
            </a:r>
            <a:r>
              <a:rPr lang="en-US" sz="30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 해보자!</a:t>
            </a:r>
            <a:r>
              <a:rPr lang="en-US" sz="3000" b="1" dirty="0">
                <a:solidFill>
                  <a:srgbClr val="D9D7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58368" y="2286000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8C6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가능한 모든 경우의 수를 하나도 빠짐없이, 체계적으로 확인하는 가장 확실한 방법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58368" y="3063240"/>
            <a:ext cx="2499284" cy="2286000"/>
          </a:xfrm>
          <a:prstGeom prst="roundRect">
            <a:avLst>
              <a:gd name="adj" fmla="val 5600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519390" y="3429000"/>
            <a:ext cx="777240" cy="777240"/>
          </a:xfrm>
          <a:prstGeom prst="ellipse">
            <a:avLst/>
          </a:prstGeom>
          <a:solidFill>
            <a:srgbClr val="4F46E5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8" name="Image 0" descr="/home/claude/icons/search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3700" y="3623310"/>
            <a:ext cx="388620" cy="3886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58368" y="4297680"/>
            <a:ext cx="2499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Brute Force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95528" y="4690872"/>
            <a:ext cx="22249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2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순진하지만 강력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450260" y="3063240"/>
            <a:ext cx="2499284" cy="2286000"/>
          </a:xfrm>
          <a:prstGeom prst="roundRect">
            <a:avLst>
              <a:gd name="adj" fmla="val 5600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311282" y="3429000"/>
            <a:ext cx="777240" cy="777240"/>
          </a:xfrm>
          <a:prstGeom prst="ellipse">
            <a:avLst/>
          </a:prstGeom>
          <a:solidFill>
            <a:srgbClr val="7C3AED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3" name="Image 1" descr="/home/claude/icons/che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5592" y="3623310"/>
            <a:ext cx="388620" cy="3886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450260" y="4297680"/>
            <a:ext cx="2499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Naive Method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3587420" y="4690872"/>
            <a:ext cx="22249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2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단순하지만 확실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6242152" y="3063240"/>
            <a:ext cx="2499284" cy="2286000"/>
          </a:xfrm>
          <a:prstGeom prst="roundRect">
            <a:avLst>
              <a:gd name="adj" fmla="val 5600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103174" y="3429000"/>
            <a:ext cx="777240" cy="777240"/>
          </a:xfrm>
          <a:prstGeom prst="ellipse">
            <a:avLst/>
          </a:prstGeom>
          <a:solidFill>
            <a:srgbClr val="38BDF8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8" name="Image 2" descr="/home/claude/icons/listol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97484" y="3623310"/>
            <a:ext cx="388620" cy="38862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242152" y="4297680"/>
            <a:ext cx="2499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Exhaustive Search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6379312" y="4690872"/>
            <a:ext cx="22249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2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 조사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9034043" y="3063240"/>
            <a:ext cx="2499284" cy="2286000"/>
          </a:xfrm>
          <a:prstGeom prst="roundRect">
            <a:avLst>
              <a:gd name="adj" fmla="val 5600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9895065" y="3429000"/>
            <a:ext cx="777240" cy="777240"/>
          </a:xfrm>
          <a:prstGeom prst="ellipse">
            <a:avLst/>
          </a:prstGeom>
          <a:solidFill>
            <a:srgbClr val="F59E0B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23" name="Image 3" descr="/home/claude/icons/star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89375" y="3623310"/>
            <a:ext cx="388620" cy="38862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9034043" y="4297680"/>
            <a:ext cx="2499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The Seed</a:t>
            </a:r>
            <a:endParaRPr lang="en-US" sz="1500" dirty="0"/>
          </a:p>
        </p:txBody>
      </p:sp>
      <p:sp>
        <p:nvSpPr>
          <p:cNvPr id="25" name="Text 19"/>
          <p:cNvSpPr/>
          <p:nvPr/>
        </p:nvSpPr>
        <p:spPr>
          <a:xfrm>
            <a:off x="9171203" y="4690872"/>
            <a:ext cx="22249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2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알고리즘의 출발점</a:t>
            </a:r>
            <a:endParaRPr lang="en-US" sz="1200" dirty="0"/>
          </a:p>
        </p:txBody>
      </p:sp>
      <p:sp>
        <p:nvSpPr>
          <p:cNvPr id="26" name="Text 20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716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89320" y="182880"/>
            <a:ext cx="6199632" cy="6583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5500" b="1" dirty="0">
                <a:solidFill>
                  <a:srgbClr val="201E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2.1</a:t>
            </a:r>
            <a:endParaRPr lang="en-US" sz="255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28016" cy="128016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4" name="Shape 2"/>
          <p:cNvSpPr/>
          <p:nvPr/>
        </p:nvSpPr>
        <p:spPr>
          <a:xfrm>
            <a:off x="1133856" y="1371600"/>
            <a:ext cx="128016" cy="128016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5" name="Shape 3"/>
          <p:cNvSpPr/>
          <p:nvPr/>
        </p:nvSpPr>
        <p:spPr>
          <a:xfrm>
            <a:off x="1444752" y="1371600"/>
            <a:ext cx="128016" cy="128016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828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SECTION 2.1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68680" y="2423160"/>
            <a:ext cx="822960" cy="822960"/>
          </a:xfrm>
          <a:prstGeom prst="ellipse">
            <a:avLst/>
          </a:prstGeom>
          <a:solidFill>
            <a:srgbClr val="4F46E5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8" name="Image 0" descr="/home/claude/icons/key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" y="2628900"/>
            <a:ext cx="411480" cy="4114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874520" y="2377440"/>
            <a:ext cx="8595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탐색이란 무엇인가?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896112" y="3611880"/>
            <a:ext cx="7955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550" dirty="0">
                <a:solidFill>
                  <a:srgbClr val="C8C6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브루트 포스(Brute Force)의 핵심 개념을 자물쇠 비밀번호 찾기 비유로 이해합니다.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A6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1952244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key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5864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2.1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탐색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자물쇠 비유로 이해하기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658368" y="1783080"/>
            <a:ext cx="5212080" cy="3977640"/>
          </a:xfrm>
          <a:prstGeom prst="roundRect">
            <a:avLst>
              <a:gd name="adj" fmla="val 3678"/>
            </a:avLst>
          </a:prstGeom>
          <a:solidFill>
            <a:srgbClr val="17163A"/>
          </a:solidFill>
          <a:ln/>
          <a:effectLst>
            <a:outerShdw blurRad="177800" dist="76200" dir="5400000" algn="bl" rotWithShape="0">
              <a:srgbClr val="1A1836">
                <a:alpha val="2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2761488" y="2148840"/>
            <a:ext cx="1005840" cy="1005840"/>
          </a:xfrm>
          <a:prstGeom prst="ellipse">
            <a:avLst/>
          </a:prstGeom>
          <a:solidFill>
            <a:srgbClr val="F59E0B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9" name="Image 1" descr="/home/claude/icons/key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2948" y="2400300"/>
            <a:ext cx="502920" cy="5029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58368" y="32461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자물쇠 비밀번호 찾기</a:t>
            </a:r>
            <a:endParaRPr lang="en-US" sz="1700" dirty="0"/>
          </a:p>
        </p:txBody>
      </p:sp>
      <p:sp>
        <p:nvSpPr>
          <p:cNvPr id="11" name="Text 7"/>
          <p:cNvSpPr/>
          <p:nvPr/>
        </p:nvSpPr>
        <p:spPr>
          <a:xfrm>
            <a:off x="658368" y="370332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0000</a:t>
            </a:r>
            <a:r>
              <a:rPr lang="en-US" sz="2000" dirty="0">
                <a:solidFill>
                  <a:srgbClr val="C8C6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부터 </a:t>
            </a:r>
            <a:r>
              <a:rPr lang="en-US" sz="20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9999</a:t>
            </a:r>
            <a:r>
              <a:rPr lang="en-US" sz="2000" dirty="0">
                <a:solidFill>
                  <a:srgbClr val="C8C6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까지</a:t>
            </a:r>
            <a:endParaRPr lang="en-US" sz="2000" dirty="0"/>
          </a:p>
        </p:txBody>
      </p:sp>
      <p:sp>
        <p:nvSpPr>
          <p:cNvPr id="12" name="Text 8"/>
          <p:cNvSpPr/>
          <p:nvPr/>
        </p:nvSpPr>
        <p:spPr>
          <a:xfrm>
            <a:off x="658368" y="417880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9C9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가능한 경우의 수 = 총 10,000개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1138428" y="4709160"/>
            <a:ext cx="960120" cy="457200"/>
          </a:xfrm>
          <a:prstGeom prst="roundRect">
            <a:avLst>
              <a:gd name="adj" fmla="val 16000"/>
            </a:avLst>
          </a:prstGeom>
          <a:solidFill>
            <a:srgbClr val="2A2860"/>
          </a:solidFill>
          <a:ln/>
        </p:spPr>
      </p:sp>
      <p:sp>
        <p:nvSpPr>
          <p:cNvPr id="14" name="Text 10"/>
          <p:cNvSpPr/>
          <p:nvPr/>
        </p:nvSpPr>
        <p:spPr>
          <a:xfrm>
            <a:off x="1138428" y="4709160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9D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0000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2235708" y="4709160"/>
            <a:ext cx="960120" cy="457200"/>
          </a:xfrm>
          <a:prstGeom prst="roundRect">
            <a:avLst>
              <a:gd name="adj" fmla="val 16000"/>
            </a:avLst>
          </a:prstGeom>
          <a:solidFill>
            <a:srgbClr val="2A2860"/>
          </a:solidFill>
          <a:ln/>
        </p:spPr>
      </p:sp>
      <p:sp>
        <p:nvSpPr>
          <p:cNvPr id="16" name="Text 12"/>
          <p:cNvSpPr/>
          <p:nvPr/>
        </p:nvSpPr>
        <p:spPr>
          <a:xfrm>
            <a:off x="2235708" y="4709160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9D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0001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3332988" y="4709160"/>
            <a:ext cx="960120" cy="457200"/>
          </a:xfrm>
          <a:prstGeom prst="roundRect">
            <a:avLst>
              <a:gd name="adj" fmla="val 16000"/>
            </a:avLst>
          </a:prstGeom>
          <a:solidFill>
            <a:srgbClr val="2A2860"/>
          </a:solidFill>
          <a:ln/>
        </p:spPr>
      </p:sp>
      <p:sp>
        <p:nvSpPr>
          <p:cNvPr id="18" name="Text 14"/>
          <p:cNvSpPr/>
          <p:nvPr/>
        </p:nvSpPr>
        <p:spPr>
          <a:xfrm>
            <a:off x="3332988" y="4709160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9D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0002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4430268" y="4709160"/>
            <a:ext cx="960120" cy="457200"/>
          </a:xfrm>
          <a:prstGeom prst="roundRect">
            <a:avLst>
              <a:gd name="adj" fmla="val 16000"/>
            </a:avLst>
          </a:prstGeom>
          <a:solidFill>
            <a:srgbClr val="2A2860"/>
          </a:solidFill>
          <a:ln/>
        </p:spPr>
      </p:sp>
      <p:sp>
        <p:nvSpPr>
          <p:cNvPr id="20" name="Text 16"/>
          <p:cNvSpPr/>
          <p:nvPr/>
        </p:nvSpPr>
        <p:spPr>
          <a:xfrm>
            <a:off x="4430268" y="4709160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9D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…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932688" y="53035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순서대로 하나씩 다 맞춰본다 → 시간이 걸려도 반드시 열린다!</a:t>
            </a:r>
            <a:endParaRPr lang="en-US" sz="1250" dirty="0"/>
          </a:p>
        </p:txBody>
      </p:sp>
      <p:sp>
        <p:nvSpPr>
          <p:cNvPr id="22" name="Shape 18"/>
          <p:cNvSpPr/>
          <p:nvPr/>
        </p:nvSpPr>
        <p:spPr>
          <a:xfrm>
            <a:off x="6281928" y="1783080"/>
            <a:ext cx="5251399" cy="1188720"/>
          </a:xfrm>
          <a:prstGeom prst="roundRect">
            <a:avLst>
              <a:gd name="adj" fmla="val 10769"/>
            </a:avLst>
          </a:prstGeom>
          <a:solidFill>
            <a:srgbClr val="EEF0FF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537960" y="2093976"/>
            <a:ext cx="566928" cy="566928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24" name="Image 2" descr="/home/claude/icons/che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9692" y="2235708"/>
            <a:ext cx="283464" cy="283464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7287768" y="1783080"/>
            <a:ext cx="401695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구현이 쉽다</a:t>
            </a:r>
            <a:endParaRPr lang="en-US" sz="15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복잡한 수학 없이 반복문만으로 구현 가능</a:t>
            </a:r>
            <a:endParaRPr lang="en-US" sz="1550" dirty="0"/>
          </a:p>
        </p:txBody>
      </p:sp>
      <p:sp>
        <p:nvSpPr>
          <p:cNvPr id="26" name="Shape 21"/>
          <p:cNvSpPr/>
          <p:nvPr/>
        </p:nvSpPr>
        <p:spPr>
          <a:xfrm>
            <a:off x="6281928" y="3172968"/>
            <a:ext cx="5251399" cy="1188720"/>
          </a:xfrm>
          <a:prstGeom prst="roundRect">
            <a:avLst>
              <a:gd name="adj" fmla="val 10769"/>
            </a:avLst>
          </a:prstGeom>
          <a:solidFill>
            <a:srgbClr val="EEF0FF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6537960" y="3483864"/>
            <a:ext cx="566928" cy="566928"/>
          </a:xfrm>
          <a:prstGeom prst="ellipse">
            <a:avLst/>
          </a:prstGeom>
          <a:solidFill>
            <a:srgbClr val="4F46E5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28" name="Image 3" descr="/home/claude/icons/target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9692" y="3625596"/>
            <a:ext cx="283464" cy="283464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7287768" y="3172968"/>
            <a:ext cx="401695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정답을 반드시 찾는다</a:t>
            </a:r>
            <a:endParaRPr lang="en-US" sz="15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경우를 확인하므로 100% 확실</a:t>
            </a:r>
            <a:endParaRPr lang="en-US" sz="1550" dirty="0"/>
          </a:p>
        </p:txBody>
      </p:sp>
      <p:sp>
        <p:nvSpPr>
          <p:cNvPr id="30" name="Shape 24"/>
          <p:cNvSpPr/>
          <p:nvPr/>
        </p:nvSpPr>
        <p:spPr>
          <a:xfrm>
            <a:off x="6281928" y="4562856"/>
            <a:ext cx="5251399" cy="1188720"/>
          </a:xfrm>
          <a:prstGeom prst="roundRect">
            <a:avLst>
              <a:gd name="adj" fmla="val 10769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6537960" y="4873752"/>
            <a:ext cx="566928" cy="566928"/>
          </a:xfrm>
          <a:prstGeom prst="ellipse">
            <a:avLst/>
          </a:prstGeom>
          <a:solidFill>
            <a:srgbClr val="FB7185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32" name="Image 4" descr="/home/claude/icons/warn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9692" y="5015484"/>
            <a:ext cx="283464" cy="283464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7287768" y="4562856"/>
            <a:ext cx="401695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느릴 수 있다</a:t>
            </a:r>
            <a:endParaRPr lang="en-US" sz="15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자릿수가 늘수록 경우의 수가 폭발</a:t>
            </a:r>
            <a:endParaRPr lang="en-US" sz="1550" dirty="0"/>
          </a:p>
        </p:txBody>
      </p:sp>
      <p:sp>
        <p:nvSpPr>
          <p:cNvPr id="34" name="Text 27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1952244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key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5864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2.1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탐색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탐색의 핵심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658368" y="1691640"/>
            <a:ext cx="10874959" cy="1463040"/>
          </a:xfrm>
          <a:prstGeom prst="roundRect">
            <a:avLst>
              <a:gd name="adj" fmla="val 10000"/>
            </a:avLst>
          </a:prstGeom>
          <a:solidFill>
            <a:srgbClr val="EEF0FF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58368" y="1874520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</a:t>
            </a:r>
            <a:r>
              <a:rPr lang="en-US" sz="360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될 때까지 다 해보자!</a:t>
            </a:r>
            <a:r>
              <a:rPr lang="en-US" sz="36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”</a:t>
            </a:r>
            <a:endParaRPr lang="en-US" sz="3600" dirty="0"/>
          </a:p>
        </p:txBody>
      </p:sp>
      <p:sp>
        <p:nvSpPr>
          <p:cNvPr id="9" name="Text 6"/>
          <p:cNvSpPr/>
          <p:nvPr/>
        </p:nvSpPr>
        <p:spPr>
          <a:xfrm>
            <a:off x="658368" y="2606040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복잡한 아이디어가 필요 없는, 가장 순진하지만 가장 확실한 접근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658368" y="3520440"/>
            <a:ext cx="3381146" cy="1874520"/>
          </a:xfrm>
          <a:prstGeom prst="roundRect">
            <a:avLst>
              <a:gd name="adj" fmla="val 6829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1937461" y="3840480"/>
            <a:ext cx="822960" cy="822960"/>
          </a:xfrm>
          <a:prstGeom prst="ellipse">
            <a:avLst/>
          </a:prstGeom>
          <a:solidFill>
            <a:srgbClr val="4F46E5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2" name="Image 1" descr="/home/claude/icons/listol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3201" y="4046220"/>
            <a:ext cx="411480" cy="4114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58368" y="4754880"/>
            <a:ext cx="33811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 조사</a:t>
            </a:r>
            <a:endParaRPr lang="en-US" sz="1650" dirty="0"/>
          </a:p>
        </p:txBody>
      </p:sp>
      <p:sp>
        <p:nvSpPr>
          <p:cNvPr id="14" name="Text 10"/>
          <p:cNvSpPr/>
          <p:nvPr/>
        </p:nvSpPr>
        <p:spPr>
          <a:xfrm>
            <a:off x="658368" y="5093208"/>
            <a:ext cx="33811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빠짐없이 모두 확인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4405274" y="3520440"/>
            <a:ext cx="3381146" cy="1874520"/>
          </a:xfrm>
          <a:prstGeom prst="roundRect">
            <a:avLst>
              <a:gd name="adj" fmla="val 6829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5684368" y="3840480"/>
            <a:ext cx="822960" cy="822960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7" name="Image 2" descr="/home/claude/icons/check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90108" y="4046220"/>
            <a:ext cx="411480" cy="41148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4405274" y="4754880"/>
            <a:ext cx="33811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정확성 보장</a:t>
            </a:r>
            <a:endParaRPr lang="en-US" sz="1650" dirty="0"/>
          </a:p>
        </p:txBody>
      </p:sp>
      <p:sp>
        <p:nvSpPr>
          <p:cNvPr id="19" name="Text 14"/>
          <p:cNvSpPr/>
          <p:nvPr/>
        </p:nvSpPr>
        <p:spPr>
          <a:xfrm>
            <a:off x="4405274" y="5093208"/>
            <a:ext cx="33811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반드시 정답에 도달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8152181" y="3520440"/>
            <a:ext cx="3381146" cy="1874520"/>
          </a:xfrm>
          <a:prstGeom prst="roundRect">
            <a:avLst>
              <a:gd name="adj" fmla="val 6829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431274" y="3840480"/>
            <a:ext cx="822960" cy="822960"/>
          </a:xfrm>
          <a:prstGeom prst="ellipse">
            <a:avLst/>
          </a:prstGeom>
          <a:solidFill>
            <a:srgbClr val="7C3AED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22" name="Image 3" descr="/home/claude/icons/gear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37014" y="4046220"/>
            <a:ext cx="411480" cy="41148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152181" y="4754880"/>
            <a:ext cx="33811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기초 도구</a:t>
            </a:r>
            <a:endParaRPr lang="en-US" sz="1650" dirty="0"/>
          </a:p>
        </p:txBody>
      </p:sp>
      <p:sp>
        <p:nvSpPr>
          <p:cNvPr id="24" name="Text 18"/>
          <p:cNvSpPr/>
          <p:nvPr/>
        </p:nvSpPr>
        <p:spPr>
          <a:xfrm>
            <a:off x="8152181" y="5093208"/>
            <a:ext cx="33811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반복문·순열·조합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1952244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key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5864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2.1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탐색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778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58368" y="1133856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자물쇠 비밀번호 찾기 — 4중 반복문</a:t>
            </a:r>
            <a:endParaRPr lang="en-US" sz="2900" dirty="0"/>
          </a:p>
        </p:txBody>
      </p:sp>
      <p:sp>
        <p:nvSpPr>
          <p:cNvPr id="8" name="Shape 5"/>
          <p:cNvSpPr/>
          <p:nvPr/>
        </p:nvSpPr>
        <p:spPr>
          <a:xfrm>
            <a:off x="658368" y="1847088"/>
            <a:ext cx="10874959" cy="640080"/>
          </a:xfrm>
          <a:prstGeom prst="roundRect">
            <a:avLst>
              <a:gd name="adj" fmla="val 17143"/>
            </a:avLst>
          </a:prstGeom>
          <a:solidFill>
            <a:srgbClr val="EEF0FF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914400" y="1938528"/>
            <a:ext cx="457200" cy="457200"/>
          </a:xfrm>
          <a:prstGeom prst="ellipse">
            <a:avLst/>
          </a:prstGeom>
          <a:solidFill>
            <a:srgbClr val="F59E0B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0" name="Image 1" descr="/home/claude/icons/key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2052828"/>
            <a:ext cx="228600" cy="2286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27632" y="1847088"/>
            <a:ext cx="96313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secret_code = "8234"</a:t>
            </a:r>
            <a:r>
              <a:rPr lang="en-US" sz="14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→  8,235회 시도 후 발견!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658368" y="2606040"/>
            <a:ext cx="10874959" cy="3466514"/>
          </a:xfrm>
          <a:prstGeom prst="roundRect">
            <a:avLst>
              <a:gd name="adj" fmla="val 3429"/>
            </a:avLst>
          </a:prstGeom>
          <a:solidFill>
            <a:srgbClr val="1D1C3D"/>
          </a:solidFill>
          <a:ln/>
          <a:effectLst>
            <a:outerShdw blurRad="203200" dist="76200" dir="5400000" algn="bl" rotWithShape="0">
              <a:srgbClr val="1A1836">
                <a:alpha val="2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58368" y="2606040"/>
            <a:ext cx="10874959" cy="457200"/>
          </a:xfrm>
          <a:prstGeom prst="roundRect">
            <a:avLst>
              <a:gd name="adj" fmla="val 24000"/>
            </a:avLst>
          </a:prstGeom>
          <a:solidFill>
            <a:srgbClr val="2A2856"/>
          </a:solidFill>
          <a:ln/>
        </p:spPr>
      </p:sp>
      <p:sp>
        <p:nvSpPr>
          <p:cNvPr id="14" name="Shape 10"/>
          <p:cNvSpPr/>
          <p:nvPr/>
        </p:nvSpPr>
        <p:spPr>
          <a:xfrm>
            <a:off x="658368" y="2862072"/>
            <a:ext cx="10874959" cy="128016"/>
          </a:xfrm>
          <a:prstGeom prst="rect">
            <a:avLst/>
          </a:prstGeom>
          <a:solidFill>
            <a:srgbClr val="1D1C3D"/>
          </a:solidFill>
          <a:ln/>
        </p:spPr>
      </p:sp>
      <p:sp>
        <p:nvSpPr>
          <p:cNvPr id="15" name="Shape 11"/>
          <p:cNvSpPr/>
          <p:nvPr/>
        </p:nvSpPr>
        <p:spPr>
          <a:xfrm>
            <a:off x="859536" y="2734056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6" name="Shape 12"/>
          <p:cNvSpPr/>
          <p:nvPr/>
        </p:nvSpPr>
        <p:spPr>
          <a:xfrm>
            <a:off x="1060704" y="2734056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7" name="Shape 13"/>
          <p:cNvSpPr/>
          <p:nvPr/>
        </p:nvSpPr>
        <p:spPr>
          <a:xfrm>
            <a:off x="1261872" y="2734056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8" name="Text 14"/>
          <p:cNvSpPr/>
          <p:nvPr/>
        </p:nvSpPr>
        <p:spPr>
          <a:xfrm>
            <a:off x="1481328" y="2606040"/>
            <a:ext cx="98691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9A9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lock_bruteforce.py</a:t>
            </a:r>
            <a:endParaRPr lang="en-US" sz="1050" dirty="0"/>
          </a:p>
        </p:txBody>
      </p:sp>
      <p:sp>
        <p:nvSpPr>
          <p:cNvPr id="19" name="Text 15"/>
          <p:cNvSpPr/>
          <p:nvPr/>
        </p:nvSpPr>
        <p:spPr>
          <a:xfrm>
            <a:off x="914400" y="3182112"/>
            <a:ext cx="10417759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secret_code = </a:t>
            </a:r>
            <a:r>
              <a:rPr lang="en-US" sz="1350" dirty="0">
                <a:solidFill>
                  <a:srgbClr val="9FE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"8234"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 = </a:t>
            </a:r>
            <a:r>
              <a:rPr lang="en-US" sz="13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d1 </a:t>
            </a:r>
            <a:r>
              <a:rPr lang="en-US" sz="13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3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              </a:t>
            </a:r>
            <a:r>
              <a:rPr lang="en-US" sz="13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첫 번째 자리 (0~9)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3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d2 </a:t>
            </a:r>
            <a:r>
              <a:rPr lang="en-US" sz="13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3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          </a:t>
            </a:r>
            <a:r>
              <a:rPr lang="en-US" sz="13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두 번째 자리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r>
              <a:rPr lang="en-US" sz="13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d3 </a:t>
            </a:r>
            <a:r>
              <a:rPr lang="en-US" sz="13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3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      </a:t>
            </a:r>
            <a:r>
              <a:rPr lang="en-US" sz="13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세 번째 자리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</a:t>
            </a:r>
            <a:r>
              <a:rPr lang="en-US" sz="13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d4 </a:t>
            </a:r>
            <a:r>
              <a:rPr lang="en-US" sz="13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3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  </a:t>
            </a:r>
            <a:r>
              <a:rPr lang="en-US" sz="13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네 번째 자리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    attempt = f</a:t>
            </a:r>
            <a:r>
              <a:rPr lang="en-US" sz="1350" dirty="0">
                <a:solidFill>
                  <a:srgbClr val="9FE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"{d1}{d2}{d3}{d4}"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    count += </a:t>
            </a:r>
            <a:r>
              <a:rPr lang="en-US" sz="13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    </a:t>
            </a:r>
            <a:r>
              <a:rPr lang="en-US" sz="13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attempt == secret_code: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        </a:t>
            </a:r>
            <a:r>
              <a:rPr lang="en-US" sz="13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(f</a:t>
            </a:r>
            <a:r>
              <a:rPr lang="en-US" sz="1350" dirty="0">
                <a:solidFill>
                  <a:srgbClr val="9FE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"비밀번호: {attempt} ({count}회)"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        </a:t>
            </a:r>
            <a:r>
              <a:rPr lang="en-US" sz="13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exit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350" dirty="0"/>
          </a:p>
        </p:txBody>
      </p:sp>
      <p:sp>
        <p:nvSpPr>
          <p:cNvPr id="20" name="Text 16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716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89320" y="182880"/>
            <a:ext cx="6199632" cy="6583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5500" b="1" dirty="0">
                <a:solidFill>
                  <a:srgbClr val="201E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2.2</a:t>
            </a:r>
            <a:endParaRPr lang="en-US" sz="255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28016" cy="128016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4" name="Shape 2"/>
          <p:cNvSpPr/>
          <p:nvPr/>
        </p:nvSpPr>
        <p:spPr>
          <a:xfrm>
            <a:off x="1133856" y="1371600"/>
            <a:ext cx="128016" cy="128016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5" name="Shape 3"/>
          <p:cNvSpPr/>
          <p:nvPr/>
        </p:nvSpPr>
        <p:spPr>
          <a:xfrm>
            <a:off x="1444752" y="1371600"/>
            <a:ext cx="128016" cy="128016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828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SECTION 2.2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68680" y="2423160"/>
            <a:ext cx="822960" cy="822960"/>
          </a:xfrm>
          <a:prstGeom prst="ellipse">
            <a:avLst/>
          </a:prstGeom>
          <a:solidFill>
            <a:srgbClr val="7C3AED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8" name="Image 0" descr="/home/claude/icons/layer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" y="2628900"/>
            <a:ext cx="411480" cy="4114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874520" y="2377440"/>
            <a:ext cx="8595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 반복에서 다중 반복으로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896112" y="3611880"/>
            <a:ext cx="7955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550" dirty="0">
                <a:solidFill>
                  <a:srgbClr val="C8C6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찾아야 할 변수의 개수만큼 반복문을 중첩한다 — 완전 탐색의 가장 중요한 패턴입니다.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A6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103120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layer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2.2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다중 반복문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 개수 = 반복문 개수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658368" y="1737360"/>
            <a:ext cx="1087495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59"/>
              </a:lnSpc>
              <a:buNone/>
            </a:pPr>
            <a:r>
              <a:rPr lang="en-US" sz="14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찾아야 할 변수가 늘어날수록 반복문을 하나씩 더 중첩합니다. 그만큼 시간 복잡도의 차수도 올라갑니다.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58368" y="2286000"/>
            <a:ext cx="3381146" cy="2788920"/>
          </a:xfrm>
          <a:prstGeom prst="roundRect">
            <a:avLst>
              <a:gd name="adj" fmla="val 4590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1663141" y="256032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/>
        </p:spPr>
      </p:sp>
      <p:sp>
        <p:nvSpPr>
          <p:cNvPr id="10" name="Text 7"/>
          <p:cNvSpPr/>
          <p:nvPr/>
        </p:nvSpPr>
        <p:spPr>
          <a:xfrm>
            <a:off x="1663141" y="25603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1단계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58368" y="3200400"/>
            <a:ext cx="33811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 하나 찾기</a:t>
            </a:r>
            <a:endParaRPr lang="en-US" sz="1650" dirty="0"/>
          </a:p>
        </p:txBody>
      </p:sp>
      <p:sp>
        <p:nvSpPr>
          <p:cNvPr id="12" name="Text 9"/>
          <p:cNvSpPr/>
          <p:nvPr/>
        </p:nvSpPr>
        <p:spPr>
          <a:xfrm>
            <a:off x="658368" y="3657600"/>
            <a:ext cx="338114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F46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1개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1571701" y="4069080"/>
            <a:ext cx="1554480" cy="502920"/>
          </a:xfrm>
          <a:prstGeom prst="roundRect">
            <a:avLst>
              <a:gd name="adj" fmla="val 18182"/>
            </a:avLst>
          </a:prstGeom>
          <a:solidFill>
            <a:srgbClr val="17163A"/>
          </a:solidFill>
          <a:ln/>
          <a:effectLst>
            <a:outerShdw blurRad="76200" dist="25400" dir="5400000" algn="bl" rotWithShape="0">
              <a:srgbClr val="1A1836">
                <a:alpha val="2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1571701" y="40690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O(n)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658368" y="4663440"/>
            <a:ext cx="33811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예: 약수 찾기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405274" y="2286000"/>
            <a:ext cx="3381146" cy="2788920"/>
          </a:xfrm>
          <a:prstGeom prst="roundRect">
            <a:avLst>
              <a:gd name="adj" fmla="val 4590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410048" y="256032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7C3AED"/>
          </a:solidFill>
          <a:ln/>
        </p:spPr>
      </p:sp>
      <p:sp>
        <p:nvSpPr>
          <p:cNvPr id="18" name="Text 15"/>
          <p:cNvSpPr/>
          <p:nvPr/>
        </p:nvSpPr>
        <p:spPr>
          <a:xfrm>
            <a:off x="5410048" y="25603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2단계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4405274" y="3200400"/>
            <a:ext cx="33811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짝(Pair) 찾기</a:t>
            </a:r>
            <a:endParaRPr lang="en-US" sz="1650" dirty="0"/>
          </a:p>
        </p:txBody>
      </p:sp>
      <p:sp>
        <p:nvSpPr>
          <p:cNvPr id="20" name="Text 17"/>
          <p:cNvSpPr/>
          <p:nvPr/>
        </p:nvSpPr>
        <p:spPr>
          <a:xfrm>
            <a:off x="4405274" y="3657600"/>
            <a:ext cx="338114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2개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318608" y="4069080"/>
            <a:ext cx="1554480" cy="502920"/>
          </a:xfrm>
          <a:prstGeom prst="roundRect">
            <a:avLst>
              <a:gd name="adj" fmla="val 18182"/>
            </a:avLst>
          </a:prstGeom>
          <a:solidFill>
            <a:srgbClr val="17163A"/>
          </a:solidFill>
          <a:ln/>
          <a:effectLst>
            <a:outerShdw blurRad="76200" dist="25400" dir="5400000" algn="bl" rotWithShape="0">
              <a:srgbClr val="1A1836">
                <a:alpha val="2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5318608" y="40690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O(n²)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4405274" y="4663440"/>
            <a:ext cx="33811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예: 합이 K인 쌍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8152181" y="2286000"/>
            <a:ext cx="3381146" cy="2788920"/>
          </a:xfrm>
          <a:prstGeom prst="roundRect">
            <a:avLst>
              <a:gd name="adj" fmla="val 4590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9156954" y="256032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FB7185"/>
          </a:solidFill>
          <a:ln/>
        </p:spPr>
      </p:sp>
      <p:sp>
        <p:nvSpPr>
          <p:cNvPr id="26" name="Text 23"/>
          <p:cNvSpPr/>
          <p:nvPr/>
        </p:nvSpPr>
        <p:spPr>
          <a:xfrm>
            <a:off x="9156954" y="25603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3단계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8152181" y="3200400"/>
            <a:ext cx="33811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개의 합</a:t>
            </a:r>
            <a:endParaRPr lang="en-US" sz="1650" dirty="0"/>
          </a:p>
        </p:txBody>
      </p:sp>
      <p:sp>
        <p:nvSpPr>
          <p:cNvPr id="28" name="Text 25"/>
          <p:cNvSpPr/>
          <p:nvPr/>
        </p:nvSpPr>
        <p:spPr>
          <a:xfrm>
            <a:off x="8152181" y="3657600"/>
            <a:ext cx="338114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3개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9065514" y="4069080"/>
            <a:ext cx="1554480" cy="502920"/>
          </a:xfrm>
          <a:prstGeom prst="roundRect">
            <a:avLst>
              <a:gd name="adj" fmla="val 18182"/>
            </a:avLst>
          </a:prstGeom>
          <a:solidFill>
            <a:srgbClr val="17163A"/>
          </a:solidFill>
          <a:ln/>
          <a:effectLst>
            <a:outerShdw blurRad="76200" dist="25400" dir="5400000" algn="bl" rotWithShape="0">
              <a:srgbClr val="1A1836">
                <a:alpha val="20000"/>
              </a:srgbClr>
            </a:outerShdw>
          </a:effectLst>
        </p:spPr>
      </p:sp>
      <p:sp>
        <p:nvSpPr>
          <p:cNvPr id="30" name="Text 27"/>
          <p:cNvSpPr/>
          <p:nvPr/>
        </p:nvSpPr>
        <p:spPr>
          <a:xfrm>
            <a:off x="9065514" y="40690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O(n³)</a:t>
            </a:r>
            <a:endParaRPr lang="en-US" sz="1800" dirty="0"/>
          </a:p>
        </p:txBody>
      </p:sp>
      <p:sp>
        <p:nvSpPr>
          <p:cNvPr id="31" name="Text 28"/>
          <p:cNvSpPr/>
          <p:nvPr/>
        </p:nvSpPr>
        <p:spPr>
          <a:xfrm>
            <a:off x="8152181" y="4663440"/>
            <a:ext cx="33811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예: 주사위 3개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658368" y="5257800"/>
            <a:ext cx="10874959" cy="566928"/>
          </a:xfrm>
          <a:prstGeom prst="roundRect">
            <a:avLst>
              <a:gd name="adj" fmla="val 19355"/>
            </a:avLst>
          </a:prstGeom>
          <a:solidFill>
            <a:srgbClr val="EEF0FF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914400" y="5312664"/>
            <a:ext cx="457200" cy="457200"/>
          </a:xfrm>
          <a:prstGeom prst="ellipse">
            <a:avLst/>
          </a:prstGeom>
          <a:solidFill>
            <a:srgbClr val="F59E0B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34" name="Image 1" descr="/home/claude/icons/bulb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" y="5426964"/>
            <a:ext cx="228600" cy="228600"/>
          </a:xfrm>
          <a:prstGeom prst="rect">
            <a:avLst/>
          </a:prstGeom>
        </p:spPr>
      </p:pic>
      <p:sp>
        <p:nvSpPr>
          <p:cNvPr id="35" name="Text 31"/>
          <p:cNvSpPr/>
          <p:nvPr/>
        </p:nvSpPr>
        <p:spPr>
          <a:xfrm>
            <a:off x="1627632" y="5257800"/>
            <a:ext cx="96313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40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 </a:t>
            </a:r>
            <a:r>
              <a:rPr lang="en-US" sz="14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찾아야 할 변수의 개수만큼 반복문을 중첩한다!</a:t>
            </a:r>
            <a:endParaRPr lang="en-US" sz="1400" dirty="0"/>
          </a:p>
        </p:txBody>
      </p:sp>
      <p:sp>
        <p:nvSpPr>
          <p:cNvPr id="36" name="Text 32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103120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layer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2.2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다중 반복문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778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1단계 · 단일 반복문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58368" y="1133856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약수 찾기 — O(n)</a:t>
            </a:r>
            <a:endParaRPr lang="en-US" sz="2900" dirty="0"/>
          </a:p>
        </p:txBody>
      </p:sp>
      <p:sp>
        <p:nvSpPr>
          <p:cNvPr id="8" name="Shape 5"/>
          <p:cNvSpPr/>
          <p:nvPr/>
        </p:nvSpPr>
        <p:spPr>
          <a:xfrm>
            <a:off x="658368" y="2075688"/>
            <a:ext cx="6766560" cy="2820338"/>
          </a:xfrm>
          <a:prstGeom prst="roundRect">
            <a:avLst>
              <a:gd name="adj" fmla="val 3429"/>
            </a:avLst>
          </a:prstGeom>
          <a:solidFill>
            <a:srgbClr val="1D1C3D"/>
          </a:solidFill>
          <a:ln/>
          <a:effectLst>
            <a:outerShdw blurRad="203200" dist="76200" dir="5400000" algn="bl" rotWithShape="0">
              <a:srgbClr val="1A1836">
                <a:alpha val="2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58368" y="1874520"/>
            <a:ext cx="6766560" cy="457200"/>
          </a:xfrm>
          <a:prstGeom prst="roundRect">
            <a:avLst>
              <a:gd name="adj" fmla="val 24000"/>
            </a:avLst>
          </a:prstGeom>
          <a:solidFill>
            <a:srgbClr val="2A2856"/>
          </a:solidFill>
          <a:ln/>
        </p:spPr>
      </p:sp>
      <p:sp>
        <p:nvSpPr>
          <p:cNvPr id="10" name="Shape 7"/>
          <p:cNvSpPr/>
          <p:nvPr/>
        </p:nvSpPr>
        <p:spPr>
          <a:xfrm>
            <a:off x="658368" y="2130552"/>
            <a:ext cx="6766560" cy="128016"/>
          </a:xfrm>
          <a:prstGeom prst="rect">
            <a:avLst/>
          </a:prstGeom>
          <a:solidFill>
            <a:srgbClr val="1D1C3D"/>
          </a:solidFill>
          <a:ln/>
        </p:spPr>
      </p:sp>
      <p:sp>
        <p:nvSpPr>
          <p:cNvPr id="11" name="Shape 8"/>
          <p:cNvSpPr/>
          <p:nvPr/>
        </p:nvSpPr>
        <p:spPr>
          <a:xfrm>
            <a:off x="859536" y="2002536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2" name="Shape 9"/>
          <p:cNvSpPr/>
          <p:nvPr/>
        </p:nvSpPr>
        <p:spPr>
          <a:xfrm>
            <a:off x="1060704" y="2002536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3" name="Shape 10"/>
          <p:cNvSpPr/>
          <p:nvPr/>
        </p:nvSpPr>
        <p:spPr>
          <a:xfrm>
            <a:off x="1261872" y="2002536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4" name="Text 11"/>
          <p:cNvSpPr/>
          <p:nvPr/>
        </p:nvSpPr>
        <p:spPr>
          <a:xfrm>
            <a:off x="1481328" y="18745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9A9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find_divisors.py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914400" y="2496312"/>
            <a:ext cx="6309360" cy="2112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find_divisors(n):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divisors = []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3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i </a:t>
            </a:r>
            <a:r>
              <a:rPr lang="en-US" sz="13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3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n + </a:t>
            </a:r>
            <a:r>
              <a:rPr lang="en-US" sz="13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   </a:t>
            </a:r>
            <a:r>
              <a:rPr lang="en-US" sz="13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1부터 n까지 모두 시도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r>
              <a:rPr lang="en-US" sz="13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n % i == </a:t>
            </a:r>
            <a:r>
              <a:rPr lang="en-US" sz="13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          </a:t>
            </a:r>
            <a:r>
              <a:rPr lang="en-US" sz="13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나누어떨어지면 약수!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divisors.append(i)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3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divisors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(find_divisors(</a:t>
            </a:r>
            <a:r>
              <a:rPr lang="en-US" sz="13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7790688" y="1874520"/>
            <a:ext cx="3742639" cy="1417320"/>
          </a:xfrm>
          <a:prstGeom prst="roundRect">
            <a:avLst>
              <a:gd name="adj" fmla="val 9032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8046720" y="2029968"/>
            <a:ext cx="328543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결과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8046720" y="2377440"/>
            <a:ext cx="328543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10의 약수: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8046720" y="2724912"/>
            <a:ext cx="328543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4338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[1, 2, 5, 10]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7790688" y="3474720"/>
            <a:ext cx="3742639" cy="1600200"/>
          </a:xfrm>
          <a:prstGeom prst="roundRect">
            <a:avLst>
              <a:gd name="adj" fmla="val 8000"/>
            </a:avLst>
          </a:prstGeom>
          <a:solidFill>
            <a:srgbClr val="17163A"/>
          </a:solidFill>
          <a:ln/>
          <a:effectLst>
            <a:outerShdw blurRad="127000" dist="50800" dir="5400000" algn="bl" rotWithShape="0">
              <a:srgbClr val="1A1836">
                <a:alpha val="22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7790688" y="3657600"/>
            <a:ext cx="374263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8C6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 복잡도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7790688" y="3950208"/>
            <a:ext cx="37426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O(n)</a:t>
            </a:r>
            <a:endParaRPr lang="en-US" sz="3200" dirty="0"/>
          </a:p>
        </p:txBody>
      </p:sp>
      <p:sp>
        <p:nvSpPr>
          <p:cNvPr id="23" name="Text 20"/>
          <p:cNvSpPr/>
          <p:nvPr/>
        </p:nvSpPr>
        <p:spPr>
          <a:xfrm>
            <a:off x="7790688" y="4553712"/>
            <a:ext cx="374263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C9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 1개 → 반복문 1개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103120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layer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2.2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다중 반복문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778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2단계 · 이중 반복문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58368" y="1133856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짝(Pair) 찾기 — O(n²)</a:t>
            </a:r>
            <a:endParaRPr lang="en-US" sz="2900" dirty="0"/>
          </a:p>
        </p:txBody>
      </p:sp>
      <p:sp>
        <p:nvSpPr>
          <p:cNvPr id="8" name="Text 5"/>
          <p:cNvSpPr/>
          <p:nvPr/>
        </p:nvSpPr>
        <p:spPr>
          <a:xfrm>
            <a:off x="658368" y="1828800"/>
            <a:ext cx="1087495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17"/>
              </a:lnSpc>
              <a:buNone/>
            </a:pPr>
            <a:r>
              <a:rPr lang="en-US" sz="135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[1, 3, 5, 7, 9] 중 두 수의 합이 10이 되는 쌍 찾기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58368" y="2240280"/>
            <a:ext cx="6766560" cy="3246120"/>
          </a:xfrm>
          <a:prstGeom prst="roundRect">
            <a:avLst>
              <a:gd name="adj" fmla="val 3380"/>
            </a:avLst>
          </a:prstGeom>
          <a:solidFill>
            <a:srgbClr val="1D1C3D"/>
          </a:solidFill>
          <a:ln/>
          <a:effectLst>
            <a:outerShdw blurRad="203200" dist="76200" dir="5400000" algn="bl" rotWithShape="0">
              <a:srgbClr val="1A1836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8368" y="2240280"/>
            <a:ext cx="6766560" cy="457200"/>
          </a:xfrm>
          <a:prstGeom prst="roundRect">
            <a:avLst>
              <a:gd name="adj" fmla="val 24000"/>
            </a:avLst>
          </a:prstGeom>
          <a:solidFill>
            <a:srgbClr val="2A2856"/>
          </a:solidFill>
          <a:ln/>
        </p:spPr>
      </p:sp>
      <p:sp>
        <p:nvSpPr>
          <p:cNvPr id="11" name="Shape 8"/>
          <p:cNvSpPr/>
          <p:nvPr/>
        </p:nvSpPr>
        <p:spPr>
          <a:xfrm>
            <a:off x="658368" y="2496312"/>
            <a:ext cx="6766560" cy="128016"/>
          </a:xfrm>
          <a:prstGeom prst="rect">
            <a:avLst/>
          </a:prstGeom>
          <a:solidFill>
            <a:srgbClr val="1D1C3D"/>
          </a:solidFill>
          <a:ln/>
        </p:spPr>
      </p:sp>
      <p:sp>
        <p:nvSpPr>
          <p:cNvPr id="12" name="Shape 9"/>
          <p:cNvSpPr/>
          <p:nvPr/>
        </p:nvSpPr>
        <p:spPr>
          <a:xfrm>
            <a:off x="859536" y="2368296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3" name="Shape 10"/>
          <p:cNvSpPr/>
          <p:nvPr/>
        </p:nvSpPr>
        <p:spPr>
          <a:xfrm>
            <a:off x="1060704" y="2368296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4" name="Shape 11"/>
          <p:cNvSpPr/>
          <p:nvPr/>
        </p:nvSpPr>
        <p:spPr>
          <a:xfrm>
            <a:off x="1261872" y="2368296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5" name="Text 12"/>
          <p:cNvSpPr/>
          <p:nvPr/>
        </p:nvSpPr>
        <p:spPr>
          <a:xfrm>
            <a:off x="1481328" y="224028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9A9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find_pairs.py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914400" y="2788920"/>
            <a:ext cx="6309360" cy="2569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find_pairs(arr, K):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pairs = []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i </a:t>
            </a: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(arr) - </a:t>
            </a:r>
            <a:r>
              <a:rPr lang="en-US" sz="13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        </a:t>
            </a:r>
            <a:r>
              <a:rPr lang="en-US" sz="130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첫 번째 카드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j </a:t>
            </a: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 + </a:t>
            </a:r>
            <a:r>
              <a:rPr lang="en-US" sz="13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(arr)): </a:t>
            </a:r>
            <a:r>
              <a:rPr lang="en-US" sz="130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두 번째 (중복 방지)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</a:t>
            </a: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arr[i] + arr[j] == K: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    pairs.append((arr[i], arr[j]))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pairs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(find_pairs([</a:t>
            </a:r>
            <a:r>
              <a:rPr lang="en-US" sz="13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r>
              <a:rPr lang="en-US" sz="13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r>
              <a:rPr lang="en-US" sz="13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r>
              <a:rPr lang="en-US" sz="13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r>
              <a:rPr lang="en-US" sz="13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 </a:t>
            </a:r>
            <a:r>
              <a:rPr lang="en-US" sz="13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7790688" y="2240280"/>
            <a:ext cx="3742639" cy="1051560"/>
          </a:xfrm>
          <a:prstGeom prst="roundRect">
            <a:avLst>
              <a:gd name="adj" fmla="val 12174"/>
            </a:avLst>
          </a:prstGeom>
          <a:solidFill>
            <a:srgbClr val="EEF0FF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8046720" y="2377440"/>
            <a:ext cx="32854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046720" y="2670048"/>
            <a:ext cx="32854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1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[(1, 9), (3, 7)]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7790688" y="3474720"/>
            <a:ext cx="3742639" cy="2011680"/>
          </a:xfrm>
          <a:prstGeom prst="roundRect">
            <a:avLst>
              <a:gd name="adj" fmla="val 6364"/>
            </a:avLst>
          </a:prstGeom>
          <a:solidFill>
            <a:srgbClr val="17163A"/>
          </a:solidFill>
          <a:ln/>
          <a:effectLst>
            <a:outerShdw blurRad="127000" dist="50800" dir="5400000" algn="bl" rotWithShape="0">
              <a:srgbClr val="1A1836">
                <a:alpha val="22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7790688" y="3703320"/>
            <a:ext cx="37426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O(n²)</a:t>
            </a:r>
            <a:endParaRPr lang="en-US" sz="3200" dirty="0"/>
          </a:p>
        </p:txBody>
      </p:sp>
      <p:sp>
        <p:nvSpPr>
          <p:cNvPr id="22" name="Text 19"/>
          <p:cNvSpPr/>
          <p:nvPr/>
        </p:nvSpPr>
        <p:spPr>
          <a:xfrm>
            <a:off x="7790688" y="4343400"/>
            <a:ext cx="374263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8C6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 = 100 이면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7790688" y="4645152"/>
            <a:ext cx="3742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CC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10,000번 계산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7790688" y="5074920"/>
            <a:ext cx="374263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9C9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for 안에 for → 반복문 2겹</a:t>
            </a:r>
            <a:endParaRPr lang="en-US" sz="1150" dirty="0"/>
          </a:p>
        </p:txBody>
      </p:sp>
      <p:sp>
        <p:nvSpPr>
          <p:cNvPr id="25" name="Text 22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103120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layer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2.2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다중 반복문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778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3단계 · 삼중 반복문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58368" y="1133856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주사위 세 개의 합 — O(n³)</a:t>
            </a:r>
            <a:endParaRPr lang="en-US" sz="2900" dirty="0"/>
          </a:p>
        </p:txBody>
      </p:sp>
      <p:sp>
        <p:nvSpPr>
          <p:cNvPr id="8" name="Shape 5"/>
          <p:cNvSpPr/>
          <p:nvPr/>
        </p:nvSpPr>
        <p:spPr>
          <a:xfrm>
            <a:off x="658368" y="1874520"/>
            <a:ext cx="6766560" cy="3566160"/>
          </a:xfrm>
          <a:prstGeom prst="roundRect">
            <a:avLst>
              <a:gd name="adj" fmla="val 3077"/>
            </a:avLst>
          </a:prstGeom>
          <a:solidFill>
            <a:srgbClr val="1D1C3D"/>
          </a:solidFill>
          <a:ln/>
          <a:effectLst>
            <a:outerShdw blurRad="203200" dist="76200" dir="5400000" algn="bl" rotWithShape="0">
              <a:srgbClr val="1A1836">
                <a:alpha val="2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58368" y="1874520"/>
            <a:ext cx="6766560" cy="457200"/>
          </a:xfrm>
          <a:prstGeom prst="roundRect">
            <a:avLst>
              <a:gd name="adj" fmla="val 24000"/>
            </a:avLst>
          </a:prstGeom>
          <a:solidFill>
            <a:srgbClr val="2A2856"/>
          </a:solidFill>
          <a:ln/>
        </p:spPr>
      </p:sp>
      <p:sp>
        <p:nvSpPr>
          <p:cNvPr id="10" name="Shape 7"/>
          <p:cNvSpPr/>
          <p:nvPr/>
        </p:nvSpPr>
        <p:spPr>
          <a:xfrm>
            <a:off x="658368" y="2130552"/>
            <a:ext cx="6766560" cy="128016"/>
          </a:xfrm>
          <a:prstGeom prst="rect">
            <a:avLst/>
          </a:prstGeom>
          <a:solidFill>
            <a:srgbClr val="1D1C3D"/>
          </a:solidFill>
          <a:ln/>
        </p:spPr>
      </p:sp>
      <p:sp>
        <p:nvSpPr>
          <p:cNvPr id="11" name="Shape 8"/>
          <p:cNvSpPr/>
          <p:nvPr/>
        </p:nvSpPr>
        <p:spPr>
          <a:xfrm>
            <a:off x="859536" y="2002536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2" name="Shape 9"/>
          <p:cNvSpPr/>
          <p:nvPr/>
        </p:nvSpPr>
        <p:spPr>
          <a:xfrm>
            <a:off x="1060704" y="2002536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3" name="Shape 10"/>
          <p:cNvSpPr/>
          <p:nvPr/>
        </p:nvSpPr>
        <p:spPr>
          <a:xfrm>
            <a:off x="1261872" y="2002536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4" name="Text 11"/>
          <p:cNvSpPr/>
          <p:nvPr/>
        </p:nvSpPr>
        <p:spPr>
          <a:xfrm>
            <a:off x="1481328" y="18745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9A9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dice_sum.py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914400" y="2459736"/>
            <a:ext cx="630936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dice_sum(target):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results = []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d1 </a:t>
            </a: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r>
              <a:rPr lang="en-US" sz="13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          </a:t>
            </a:r>
            <a:r>
              <a:rPr lang="en-US" sz="130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첫 번째 주사위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d2 </a:t>
            </a: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r>
              <a:rPr lang="en-US" sz="13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      </a:t>
            </a:r>
            <a:r>
              <a:rPr lang="en-US" sz="130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두 번째 주사위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</a:t>
            </a: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d3 </a:t>
            </a: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r>
              <a:rPr lang="en-US" sz="13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  </a:t>
            </a:r>
            <a:r>
              <a:rPr lang="en-US" sz="130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세 번째 주사위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    </a:t>
            </a: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d1 + d2 + d3 == target: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        results.append((d1, d2, d3))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results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(dice_sum(</a:t>
            </a:r>
            <a:r>
              <a:rPr lang="en-US" sz="13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7790688" y="1874520"/>
            <a:ext cx="3742639" cy="1783080"/>
          </a:xfrm>
          <a:prstGeom prst="roundRect">
            <a:avLst>
              <a:gd name="adj" fmla="val 7179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9341968" y="2057400"/>
            <a:ext cx="640080" cy="640080"/>
          </a:xfrm>
          <a:prstGeom prst="ellipse">
            <a:avLst/>
          </a:prstGeom>
          <a:solidFill>
            <a:srgbClr val="FB7185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8" name="Image 1" descr="/home/claude/icons/dic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1988" y="2217420"/>
            <a:ext cx="320040" cy="32004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7790688" y="2761488"/>
            <a:ext cx="374263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경우의 수 분석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7790688" y="3072384"/>
            <a:ext cx="3742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× 6 × 6 = 216가지</a:t>
            </a:r>
            <a:endParaRPr lang="en-US" sz="1500" dirty="0"/>
          </a:p>
        </p:txBody>
      </p:sp>
      <p:sp>
        <p:nvSpPr>
          <p:cNvPr id="21" name="Text 17"/>
          <p:cNvSpPr/>
          <p:nvPr/>
        </p:nvSpPr>
        <p:spPr>
          <a:xfrm>
            <a:off x="7790688" y="3401568"/>
            <a:ext cx="37426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합=10 → 27가지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7790688" y="3840480"/>
            <a:ext cx="3742639" cy="1600200"/>
          </a:xfrm>
          <a:prstGeom prst="roundRect">
            <a:avLst>
              <a:gd name="adj" fmla="val 8000"/>
            </a:avLst>
          </a:prstGeom>
          <a:solidFill>
            <a:srgbClr val="17163A"/>
          </a:solidFill>
          <a:ln/>
          <a:effectLst>
            <a:outerShdw blurRad="127000" dist="50800" dir="5400000" algn="bl" rotWithShape="0">
              <a:srgbClr val="1A1836">
                <a:alpha val="22000"/>
              </a:srgbClr>
            </a:outerShdw>
          </a:effectLst>
        </p:spPr>
      </p:sp>
      <p:sp>
        <p:nvSpPr>
          <p:cNvPr id="23" name="Text 19"/>
          <p:cNvSpPr/>
          <p:nvPr/>
        </p:nvSpPr>
        <p:spPr>
          <a:xfrm>
            <a:off x="7790688" y="4206240"/>
            <a:ext cx="37426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O(6³) = O(216)</a:t>
            </a:r>
            <a:endParaRPr lang="en-US" sz="2200" dirty="0"/>
          </a:p>
        </p:txBody>
      </p:sp>
      <p:sp>
        <p:nvSpPr>
          <p:cNvPr id="24" name="Text 20"/>
          <p:cNvSpPr/>
          <p:nvPr/>
        </p:nvSpPr>
        <p:spPr>
          <a:xfrm>
            <a:off x="7790688" y="4754880"/>
            <a:ext cx="374263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9C9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 3개 → 반복문 3개</a:t>
            </a:r>
            <a:endParaRPr lang="en-US" sz="1250" dirty="0"/>
          </a:p>
        </p:txBody>
      </p:sp>
      <p:sp>
        <p:nvSpPr>
          <p:cNvPr id="25" name="Text 21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103120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layer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2.2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다중 반복문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 요약: 변수 = 반복문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658368" y="1737360"/>
            <a:ext cx="1087495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59"/>
              </a:lnSpc>
              <a:buNone/>
            </a:pPr>
            <a:r>
              <a:rPr lang="en-US" sz="14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탐색의 뼈대는 매우 단순합니다. 찾을 변수의 수와 중첩 반복문의 수는 항상 같습니다.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58368" y="2377440"/>
            <a:ext cx="2499284" cy="2377440"/>
          </a:xfrm>
          <a:prstGeom prst="roundRect">
            <a:avLst>
              <a:gd name="adj" fmla="val 5385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58368" y="2697480"/>
            <a:ext cx="2499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 1개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58368" y="3108960"/>
            <a:ext cx="2499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658368" y="3474720"/>
            <a:ext cx="2499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4F46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1개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1222210" y="3977640"/>
            <a:ext cx="1371600" cy="502920"/>
          </a:xfrm>
          <a:prstGeom prst="roundRect">
            <a:avLst>
              <a:gd name="adj" fmla="val 18182"/>
            </a:avLst>
          </a:prstGeom>
          <a:solidFill>
            <a:srgbClr val="17163A"/>
          </a:solidFill>
          <a:ln/>
        </p:spPr>
      </p:sp>
      <p:sp>
        <p:nvSpPr>
          <p:cNvPr id="13" name="Text 10"/>
          <p:cNvSpPr/>
          <p:nvPr/>
        </p:nvSpPr>
        <p:spPr>
          <a:xfrm>
            <a:off x="1222210" y="397764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O(n)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3450260" y="2377440"/>
            <a:ext cx="2499284" cy="2377440"/>
          </a:xfrm>
          <a:prstGeom prst="roundRect">
            <a:avLst>
              <a:gd name="adj" fmla="val 5385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3450260" y="2697480"/>
            <a:ext cx="2499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 2개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50260" y="3108960"/>
            <a:ext cx="2499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3450260" y="3474720"/>
            <a:ext cx="2499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2개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014102" y="3977640"/>
            <a:ext cx="1371600" cy="502920"/>
          </a:xfrm>
          <a:prstGeom prst="roundRect">
            <a:avLst>
              <a:gd name="adj" fmla="val 18182"/>
            </a:avLst>
          </a:prstGeom>
          <a:solidFill>
            <a:srgbClr val="17163A"/>
          </a:solidFill>
          <a:ln/>
        </p:spPr>
      </p:sp>
      <p:sp>
        <p:nvSpPr>
          <p:cNvPr id="19" name="Text 16"/>
          <p:cNvSpPr/>
          <p:nvPr/>
        </p:nvSpPr>
        <p:spPr>
          <a:xfrm>
            <a:off x="4014102" y="397764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O(n²)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6242152" y="2377440"/>
            <a:ext cx="2499284" cy="2377440"/>
          </a:xfrm>
          <a:prstGeom prst="roundRect">
            <a:avLst>
              <a:gd name="adj" fmla="val 5385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6242152" y="2697480"/>
            <a:ext cx="2499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 3개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6242152" y="3108960"/>
            <a:ext cx="2499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6242152" y="3474720"/>
            <a:ext cx="2499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3개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6805993" y="3977640"/>
            <a:ext cx="1371600" cy="502920"/>
          </a:xfrm>
          <a:prstGeom prst="roundRect">
            <a:avLst>
              <a:gd name="adj" fmla="val 18182"/>
            </a:avLst>
          </a:prstGeom>
          <a:solidFill>
            <a:srgbClr val="17163A"/>
          </a:solidFill>
          <a:ln/>
        </p:spPr>
      </p:sp>
      <p:sp>
        <p:nvSpPr>
          <p:cNvPr id="25" name="Text 22"/>
          <p:cNvSpPr/>
          <p:nvPr/>
        </p:nvSpPr>
        <p:spPr>
          <a:xfrm>
            <a:off x="6805993" y="397764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O(n³)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034043" y="2377440"/>
            <a:ext cx="2499284" cy="2377440"/>
          </a:xfrm>
          <a:prstGeom prst="roundRect">
            <a:avLst>
              <a:gd name="adj" fmla="val 5385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9034043" y="2697480"/>
            <a:ext cx="2499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 n개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9034043" y="3108960"/>
            <a:ext cx="2499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9034043" y="3474720"/>
            <a:ext cx="2499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4338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n개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9597885" y="3977640"/>
            <a:ext cx="1371600" cy="502920"/>
          </a:xfrm>
          <a:prstGeom prst="roundRect">
            <a:avLst>
              <a:gd name="adj" fmla="val 18182"/>
            </a:avLst>
          </a:prstGeom>
          <a:solidFill>
            <a:srgbClr val="17163A"/>
          </a:solidFill>
          <a:ln/>
        </p:spPr>
      </p:sp>
      <p:sp>
        <p:nvSpPr>
          <p:cNvPr id="31" name="Text 28"/>
          <p:cNvSpPr/>
          <p:nvPr/>
        </p:nvSpPr>
        <p:spPr>
          <a:xfrm>
            <a:off x="9597885" y="397764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O(nⁿ)</a:t>
            </a:r>
            <a:endParaRPr lang="en-US" sz="1600" dirty="0"/>
          </a:p>
        </p:txBody>
      </p:sp>
      <p:sp>
        <p:nvSpPr>
          <p:cNvPr id="32" name="Shape 29"/>
          <p:cNvSpPr/>
          <p:nvPr/>
        </p:nvSpPr>
        <p:spPr>
          <a:xfrm>
            <a:off x="658368" y="5074920"/>
            <a:ext cx="10874959" cy="658368"/>
          </a:xfrm>
          <a:prstGeom prst="roundRect">
            <a:avLst>
              <a:gd name="adj" fmla="val 19444"/>
            </a:avLst>
          </a:prstGeom>
          <a:solidFill>
            <a:srgbClr val="17163A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914400" y="5175504"/>
            <a:ext cx="457200" cy="457200"/>
          </a:xfrm>
          <a:prstGeom prst="ellipse">
            <a:avLst/>
          </a:prstGeom>
          <a:solidFill>
            <a:srgbClr val="7C3AED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34" name="Image 1" descr="/home/claude/icons/layer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5289804"/>
            <a:ext cx="228600" cy="228600"/>
          </a:xfrm>
          <a:prstGeom prst="rect">
            <a:avLst/>
          </a:prstGeom>
        </p:spPr>
      </p:pic>
      <p:sp>
        <p:nvSpPr>
          <p:cNvPr id="35" name="Text 31"/>
          <p:cNvSpPr/>
          <p:nvPr/>
        </p:nvSpPr>
        <p:spPr>
          <a:xfrm>
            <a:off x="1627632" y="5074920"/>
            <a:ext cx="96313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10"/>
              </a:lnSpc>
              <a:buNone/>
            </a:pPr>
            <a:r>
              <a:rPr lang="en-US" sz="1400" dirty="0">
                <a:solidFill>
                  <a:srgbClr val="D9D7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단순한 규칙만 기억하면 </a:t>
            </a: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완전 탐색도 반복문으로 바로 옮길 수 있습니다.</a:t>
            </a:r>
            <a:endParaRPr lang="en-US" sz="1400" dirty="0"/>
          </a:p>
        </p:txBody>
      </p:sp>
      <p:sp>
        <p:nvSpPr>
          <p:cNvPr id="36" name="Text 32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716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89320" y="182880"/>
            <a:ext cx="6199632" cy="6583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5500" b="1" dirty="0">
                <a:solidFill>
                  <a:srgbClr val="201E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2.3</a:t>
            </a:r>
            <a:endParaRPr lang="en-US" sz="255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28016" cy="128016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4" name="Shape 2"/>
          <p:cNvSpPr/>
          <p:nvPr/>
        </p:nvSpPr>
        <p:spPr>
          <a:xfrm>
            <a:off x="1133856" y="1371600"/>
            <a:ext cx="128016" cy="128016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5" name="Shape 3"/>
          <p:cNvSpPr/>
          <p:nvPr/>
        </p:nvSpPr>
        <p:spPr>
          <a:xfrm>
            <a:off x="1444752" y="1371600"/>
            <a:ext cx="128016" cy="128016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828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38BD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SECTION 2.3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68680" y="2423160"/>
            <a:ext cx="822960" cy="822960"/>
          </a:xfrm>
          <a:prstGeom prst="ellipse">
            <a:avLst/>
          </a:prstGeom>
          <a:solidFill>
            <a:srgbClr val="38BDF8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8" name="Image 0" descr="/home/claude/icons/sitemap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" y="2628900"/>
            <a:ext cx="411480" cy="4114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874520" y="2377440"/>
            <a:ext cx="8595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탐색의 기본 구조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896112" y="3611880"/>
            <a:ext cx="7955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550" dirty="0">
                <a:solidFill>
                  <a:srgbClr val="C8C6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완전 탐색 문제든 통하는 3단계 템플릿 — 후보 해 생성, 조건 검증, 해 선택.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A6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1952244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sitemap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5864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2.3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구조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3단계 알고리즘 템플릿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658368" y="1783080"/>
            <a:ext cx="3381146" cy="3337560"/>
          </a:xfrm>
          <a:prstGeom prst="roundRect">
            <a:avLst>
              <a:gd name="adj" fmla="val 3836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1960321" y="2148840"/>
            <a:ext cx="777240" cy="777240"/>
          </a:xfrm>
          <a:prstGeom prst="ellipse">
            <a:avLst/>
          </a:prstGeom>
          <a:solidFill>
            <a:srgbClr val="4F46E5"/>
          </a:solidFill>
          <a:ln/>
          <a:effectLst>
            <a:outerShdw blurRad="101600" dist="38100" dir="5400000" algn="bl" rotWithShape="0">
              <a:srgbClr val="1A1836">
                <a:alpha val="2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1960321" y="21488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3400" dirty="0"/>
          </a:p>
        </p:txBody>
      </p:sp>
      <p:sp>
        <p:nvSpPr>
          <p:cNvPr id="10" name="Text 7"/>
          <p:cNvSpPr/>
          <p:nvPr/>
        </p:nvSpPr>
        <p:spPr>
          <a:xfrm>
            <a:off x="658368" y="3081528"/>
            <a:ext cx="33811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해 생성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658368" y="3447288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Candidate Generation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950976" y="3886200"/>
            <a:ext cx="279593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가능한 모든 경우를 빠짐없이, 중복 없이 생성 (반복문·순열·조합)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094378" y="3305556"/>
            <a:ext cx="256032" cy="292608"/>
          </a:xfrm>
          <a:prstGeom prst="rightArrow">
            <a:avLst/>
          </a:prstGeom>
          <a:solidFill>
            <a:srgbClr val="E7E6FB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5274" y="1783080"/>
            <a:ext cx="3381146" cy="3337560"/>
          </a:xfrm>
          <a:prstGeom prst="roundRect">
            <a:avLst>
              <a:gd name="adj" fmla="val 3836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5707228" y="2148840"/>
            <a:ext cx="777240" cy="777240"/>
          </a:xfrm>
          <a:prstGeom prst="ellipse">
            <a:avLst/>
          </a:prstGeom>
          <a:solidFill>
            <a:srgbClr val="7C3AED"/>
          </a:solidFill>
          <a:ln/>
          <a:effectLst>
            <a:outerShdw blurRad="101600" dist="38100" dir="5400000" algn="bl" rotWithShape="0">
              <a:srgbClr val="1A1836">
                <a:alpha val="20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5707228" y="21488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4405274" y="3081528"/>
            <a:ext cx="33811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 검증</a:t>
            </a:r>
            <a:endParaRPr lang="en-US" sz="1700" dirty="0"/>
          </a:p>
        </p:txBody>
      </p:sp>
      <p:sp>
        <p:nvSpPr>
          <p:cNvPr id="18" name="Text 15"/>
          <p:cNvSpPr/>
          <p:nvPr/>
        </p:nvSpPr>
        <p:spPr>
          <a:xfrm>
            <a:off x="4405274" y="3447288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Condition Validation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697882" y="3886200"/>
            <a:ext cx="279593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후보가 문제 조건을 만족하는지 검사 (if 조건문 = 거름망)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7841285" y="3305556"/>
            <a:ext cx="256032" cy="292608"/>
          </a:xfrm>
          <a:prstGeom prst="rightArrow">
            <a:avLst/>
          </a:prstGeom>
          <a:solidFill>
            <a:srgbClr val="E7E6FB"/>
          </a:solidFill>
          <a:ln/>
        </p:spPr>
      </p:sp>
      <p:sp>
        <p:nvSpPr>
          <p:cNvPr id="21" name="Shape 18"/>
          <p:cNvSpPr/>
          <p:nvPr/>
        </p:nvSpPr>
        <p:spPr>
          <a:xfrm>
            <a:off x="8152181" y="1783080"/>
            <a:ext cx="3381146" cy="3337560"/>
          </a:xfrm>
          <a:prstGeom prst="roundRect">
            <a:avLst>
              <a:gd name="adj" fmla="val 3836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9454134" y="2148840"/>
            <a:ext cx="777240" cy="777240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38100" dir="5400000" algn="bl" rotWithShape="0">
              <a:srgbClr val="1A1836">
                <a:alpha val="20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9454134" y="21488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3400" dirty="0"/>
          </a:p>
        </p:txBody>
      </p:sp>
      <p:sp>
        <p:nvSpPr>
          <p:cNvPr id="24" name="Text 21"/>
          <p:cNvSpPr/>
          <p:nvPr/>
        </p:nvSpPr>
        <p:spPr>
          <a:xfrm>
            <a:off x="8152181" y="3081528"/>
            <a:ext cx="33811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선택</a:t>
            </a:r>
            <a:endParaRPr lang="en-US" sz="1700" dirty="0"/>
          </a:p>
        </p:txBody>
      </p:sp>
      <p:sp>
        <p:nvSpPr>
          <p:cNvPr id="25" name="Text 22"/>
          <p:cNvSpPr/>
          <p:nvPr/>
        </p:nvSpPr>
        <p:spPr>
          <a:xfrm>
            <a:off x="8152181" y="3447288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Solution Selection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8444789" y="3886200"/>
            <a:ext cx="279593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 통과 시 즉시 반환하거나 최적값과 비교·갱신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658368" y="5447538"/>
            <a:ext cx="10874959" cy="566928"/>
          </a:xfrm>
          <a:prstGeom prst="roundRect">
            <a:avLst>
              <a:gd name="adj" fmla="val 19355"/>
            </a:avLst>
          </a:prstGeom>
          <a:solidFill>
            <a:srgbClr val="EEF0FF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914400" y="5502402"/>
            <a:ext cx="457200" cy="457200"/>
          </a:xfrm>
          <a:prstGeom prst="ellipse">
            <a:avLst/>
          </a:prstGeom>
          <a:solidFill>
            <a:srgbClr val="F59E0B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29" name="Image 1" descr="/home/claude/icons/bulb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" y="5616702"/>
            <a:ext cx="228600" cy="228600"/>
          </a:xfrm>
          <a:prstGeom prst="rect">
            <a:avLst/>
          </a:prstGeom>
        </p:spPr>
      </p:pic>
      <p:sp>
        <p:nvSpPr>
          <p:cNvPr id="30" name="Text 26"/>
          <p:cNvSpPr/>
          <p:nvPr/>
        </p:nvSpPr>
        <p:spPr>
          <a:xfrm>
            <a:off x="1627632" y="5447538"/>
            <a:ext cx="96313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85"/>
              </a:lnSpc>
              <a:buNone/>
            </a:pPr>
            <a:r>
              <a:rPr lang="en-US" sz="13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구조를 머릿속에 그리고 세부 로직만 채우면 </a:t>
            </a:r>
            <a:r>
              <a:rPr lang="en-US" sz="13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완전 탐색 문제도 해결할 수 있습니다.</a:t>
            </a:r>
            <a:endParaRPr lang="en-US" sz="1350" dirty="0"/>
          </a:p>
        </p:txBody>
      </p:sp>
      <p:sp>
        <p:nvSpPr>
          <p:cNvPr id="31" name="Text 27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1952244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sitemap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5864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2.3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구조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731520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탐색 알고리즘 템플릿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658368" y="1554480"/>
            <a:ext cx="10874959" cy="3811270"/>
          </a:xfrm>
          <a:prstGeom prst="roundRect">
            <a:avLst>
              <a:gd name="adj" fmla="val 3038"/>
            </a:avLst>
          </a:prstGeom>
          <a:solidFill>
            <a:srgbClr val="1D1C3D"/>
          </a:solidFill>
          <a:ln/>
          <a:effectLst>
            <a:outerShdw blurRad="203200" dist="76200" dir="5400000" algn="bl" rotWithShape="0">
              <a:srgbClr val="1A1836">
                <a:alpha val="2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658368" y="1554480"/>
            <a:ext cx="10874959" cy="457200"/>
          </a:xfrm>
          <a:prstGeom prst="roundRect">
            <a:avLst>
              <a:gd name="adj" fmla="val 24000"/>
            </a:avLst>
          </a:prstGeom>
          <a:solidFill>
            <a:srgbClr val="2A2856"/>
          </a:solidFill>
          <a:ln/>
        </p:spPr>
      </p:sp>
      <p:sp>
        <p:nvSpPr>
          <p:cNvPr id="9" name="Shape 6"/>
          <p:cNvSpPr/>
          <p:nvPr/>
        </p:nvSpPr>
        <p:spPr>
          <a:xfrm>
            <a:off x="658368" y="1810512"/>
            <a:ext cx="10874959" cy="128016"/>
          </a:xfrm>
          <a:prstGeom prst="rect">
            <a:avLst/>
          </a:prstGeom>
          <a:solidFill>
            <a:srgbClr val="1D1C3D"/>
          </a:solidFill>
          <a:ln/>
        </p:spPr>
      </p:sp>
      <p:sp>
        <p:nvSpPr>
          <p:cNvPr id="10" name="Shape 7"/>
          <p:cNvSpPr/>
          <p:nvPr/>
        </p:nvSpPr>
        <p:spPr>
          <a:xfrm>
            <a:off x="859536" y="1682496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1" name="Shape 8"/>
          <p:cNvSpPr/>
          <p:nvPr/>
        </p:nvSpPr>
        <p:spPr>
          <a:xfrm>
            <a:off x="1060704" y="1682496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2" name="Shape 9"/>
          <p:cNvSpPr/>
          <p:nvPr/>
        </p:nvSpPr>
        <p:spPr>
          <a:xfrm>
            <a:off x="1261872" y="1682496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3" name="Text 10"/>
          <p:cNvSpPr/>
          <p:nvPr/>
        </p:nvSpPr>
        <p:spPr>
          <a:xfrm>
            <a:off x="1481328" y="1554480"/>
            <a:ext cx="98691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9A9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brute_force_template.pseudo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914400" y="2104390"/>
            <a:ext cx="10417759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 BruteForceSearch(input):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best_solution ← NULL                     </a:t>
            </a:r>
            <a:r>
              <a:rPr lang="en-US" sz="13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 최적해 저장 변수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3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 [1단계] 후보 해 생성: 가능한 모든 경우 순회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3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each candidate in GenerateAll(input):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r>
              <a:rPr lang="en-US" sz="13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 [2단계] 조건 검증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r>
              <a:rPr lang="en-US" sz="13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IsValid(candidate) </a:t>
            </a:r>
            <a:r>
              <a:rPr lang="en-US" sz="13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then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</a:t>
            </a:r>
            <a:r>
              <a:rPr lang="en-US" sz="13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 [3단계] 해 선택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</a:t>
            </a:r>
            <a:r>
              <a:rPr lang="en-US" sz="13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 (A) 정답 하나만 필요하면:  return candidate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</a:t>
            </a:r>
            <a:r>
              <a:rPr lang="en-US" sz="13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 (B) 최적해가 필요하면: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</a:t>
            </a:r>
            <a:r>
              <a:rPr lang="en-US" sz="13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candidate is better than best_solution </a:t>
            </a:r>
            <a:r>
              <a:rPr lang="en-US" sz="13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then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    best_solution ← candidate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3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best_solution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658368" y="5549900"/>
            <a:ext cx="10874959" cy="566928"/>
          </a:xfrm>
          <a:prstGeom prst="roundRect">
            <a:avLst>
              <a:gd name="adj" fmla="val 22581"/>
            </a:avLst>
          </a:prstGeom>
          <a:solidFill>
            <a:srgbClr val="17163A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914400" y="5604764"/>
            <a:ext cx="457200" cy="457200"/>
          </a:xfrm>
          <a:prstGeom prst="ellipse">
            <a:avLst/>
          </a:prstGeom>
          <a:solidFill>
            <a:srgbClr val="7C3AED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7" name="Image 1" descr="/home/claude/icons/rocket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" y="5719064"/>
            <a:ext cx="228600" cy="22860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1627632" y="5549900"/>
            <a:ext cx="96313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52"/>
              </a:lnSpc>
              <a:buNone/>
            </a:pPr>
            <a:r>
              <a:rPr lang="en-US" sz="13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백트래킹 · 분할 정복 · 동적 계획법</a:t>
            </a:r>
            <a:r>
              <a:rPr lang="en-US" sz="1350" dirty="0">
                <a:solidFill>
                  <a:srgbClr val="D9D7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모두 이 구조에서 ‘비효율 탐색을 어떻게 줄일까?’를 고민하며 발전했습니다.</a:t>
            </a:r>
            <a:endParaRPr lang="en-US" sz="1350" dirty="0"/>
          </a:p>
        </p:txBody>
      </p:sp>
      <p:sp>
        <p:nvSpPr>
          <p:cNvPr id="19" name="Text 15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716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89320" y="182880"/>
            <a:ext cx="6199632" cy="6583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5500" b="1" dirty="0">
                <a:solidFill>
                  <a:srgbClr val="201E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2.4</a:t>
            </a:r>
            <a:endParaRPr lang="en-US" sz="255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28016" cy="128016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1133856" y="1371600"/>
            <a:ext cx="128016" cy="128016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5" name="Shape 3"/>
          <p:cNvSpPr/>
          <p:nvPr/>
        </p:nvSpPr>
        <p:spPr>
          <a:xfrm>
            <a:off x="1444752" y="1371600"/>
            <a:ext cx="128016" cy="128016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828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SECTION 2.4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68680" y="2423160"/>
            <a:ext cx="822960" cy="822960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8" name="Image 0" descr="/home/claude/icons/gear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" y="2628900"/>
            <a:ext cx="411480" cy="4114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874520" y="2377440"/>
            <a:ext cx="8595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순열과 조합 · itertools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896112" y="3611880"/>
            <a:ext cx="7955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550" dirty="0">
                <a:solidFill>
                  <a:srgbClr val="C8C6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다중 반복문의 늪에서 탈출하기 — 파이썬 itertools로 순열과 조합을 우아하게 생성합니다.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A6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555748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gear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21899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2.4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itertools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파이썬의 강력한 무기: itertools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658368" y="1737360"/>
            <a:ext cx="1087495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59"/>
              </a:lnSpc>
              <a:buNone/>
            </a:pPr>
            <a:r>
              <a:rPr lang="en-US" sz="14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변수가 많을수록 반복문이 깊어집니다. itertools는 이 중첩을 한 줄로 대체해 줍니다.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658368" y="2286000"/>
            <a:ext cx="520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❌  Before — 중첩 반복문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58368" y="2697480"/>
            <a:ext cx="5208880" cy="1920240"/>
          </a:xfrm>
          <a:prstGeom prst="roundRect">
            <a:avLst>
              <a:gd name="adj" fmla="val 5714"/>
            </a:avLst>
          </a:prstGeom>
          <a:solidFill>
            <a:srgbClr val="1D1C3D"/>
          </a:solidFill>
          <a:ln/>
          <a:effectLst>
            <a:outerShdw blurRad="203200" dist="76200" dir="5400000" algn="bl" rotWithShape="0">
              <a:srgbClr val="1A1836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8368" y="2697480"/>
            <a:ext cx="5208880" cy="457200"/>
          </a:xfrm>
          <a:prstGeom prst="roundRect">
            <a:avLst>
              <a:gd name="adj" fmla="val 24000"/>
            </a:avLst>
          </a:prstGeom>
          <a:solidFill>
            <a:srgbClr val="2A2856"/>
          </a:solidFill>
          <a:ln/>
        </p:spPr>
      </p:sp>
      <p:sp>
        <p:nvSpPr>
          <p:cNvPr id="11" name="Shape 8"/>
          <p:cNvSpPr/>
          <p:nvPr/>
        </p:nvSpPr>
        <p:spPr>
          <a:xfrm>
            <a:off x="658368" y="2953512"/>
            <a:ext cx="5208880" cy="128016"/>
          </a:xfrm>
          <a:prstGeom prst="rect">
            <a:avLst/>
          </a:prstGeom>
          <a:solidFill>
            <a:srgbClr val="1D1C3D"/>
          </a:solidFill>
          <a:ln/>
        </p:spPr>
      </p:sp>
      <p:sp>
        <p:nvSpPr>
          <p:cNvPr id="12" name="Shape 9"/>
          <p:cNvSpPr/>
          <p:nvPr/>
        </p:nvSpPr>
        <p:spPr>
          <a:xfrm>
            <a:off x="859536" y="2825496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3" name="Shape 10"/>
          <p:cNvSpPr/>
          <p:nvPr/>
        </p:nvSpPr>
        <p:spPr>
          <a:xfrm>
            <a:off x="1060704" y="2825496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4" name="Shape 11"/>
          <p:cNvSpPr/>
          <p:nvPr/>
        </p:nvSpPr>
        <p:spPr>
          <a:xfrm>
            <a:off x="1261872" y="2825496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5" name="Text 12"/>
          <p:cNvSpPr/>
          <p:nvPr/>
        </p:nvSpPr>
        <p:spPr>
          <a:xfrm>
            <a:off x="1481328" y="2697480"/>
            <a:ext cx="420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9A9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before.py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914400" y="3219958"/>
            <a:ext cx="475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 = 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(arr)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i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(n):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j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(i+</a:t>
            </a:r>
            <a:r>
              <a:rPr lang="en-US" sz="12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n):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k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(j+</a:t>
            </a:r>
            <a:r>
              <a:rPr lang="en-US" sz="12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n):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(arr[i], arr[j], arr[k])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58368" y="4709160"/>
            <a:ext cx="520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4개, 5개로 늘면 코드를 계속 고쳐야 함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6324448" y="2286000"/>
            <a:ext cx="520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 After — itertools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324448" y="2697480"/>
            <a:ext cx="5208880" cy="1920240"/>
          </a:xfrm>
          <a:prstGeom prst="roundRect">
            <a:avLst>
              <a:gd name="adj" fmla="val 5714"/>
            </a:avLst>
          </a:prstGeom>
          <a:solidFill>
            <a:srgbClr val="1D1C3D"/>
          </a:solidFill>
          <a:ln/>
          <a:effectLst>
            <a:outerShdw blurRad="203200" dist="76200" dir="5400000" algn="bl" rotWithShape="0">
              <a:srgbClr val="1A1836">
                <a:alpha val="2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6324448" y="2697480"/>
            <a:ext cx="5208880" cy="457200"/>
          </a:xfrm>
          <a:prstGeom prst="roundRect">
            <a:avLst>
              <a:gd name="adj" fmla="val 24000"/>
            </a:avLst>
          </a:prstGeom>
          <a:solidFill>
            <a:srgbClr val="2A2856"/>
          </a:solidFill>
          <a:ln/>
        </p:spPr>
      </p:sp>
      <p:sp>
        <p:nvSpPr>
          <p:cNvPr id="21" name="Shape 18"/>
          <p:cNvSpPr/>
          <p:nvPr/>
        </p:nvSpPr>
        <p:spPr>
          <a:xfrm>
            <a:off x="6324448" y="2953512"/>
            <a:ext cx="5208880" cy="128016"/>
          </a:xfrm>
          <a:prstGeom prst="rect">
            <a:avLst/>
          </a:prstGeom>
          <a:solidFill>
            <a:srgbClr val="1D1C3D"/>
          </a:solidFill>
          <a:ln/>
        </p:spPr>
      </p:sp>
      <p:sp>
        <p:nvSpPr>
          <p:cNvPr id="22" name="Shape 19"/>
          <p:cNvSpPr/>
          <p:nvPr/>
        </p:nvSpPr>
        <p:spPr>
          <a:xfrm>
            <a:off x="6525616" y="2825496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23" name="Shape 20"/>
          <p:cNvSpPr/>
          <p:nvPr/>
        </p:nvSpPr>
        <p:spPr>
          <a:xfrm>
            <a:off x="6726784" y="2825496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24" name="Shape 21"/>
          <p:cNvSpPr/>
          <p:nvPr/>
        </p:nvSpPr>
        <p:spPr>
          <a:xfrm>
            <a:off x="6927952" y="2825496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25" name="Text 22"/>
          <p:cNvSpPr/>
          <p:nvPr/>
        </p:nvSpPr>
        <p:spPr>
          <a:xfrm>
            <a:off x="7147408" y="2697480"/>
            <a:ext cx="420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9A9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after.py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580480" y="3219958"/>
            <a:ext cx="475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itertools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combinations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card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combinations(arr, </a:t>
            </a:r>
            <a:r>
              <a:rPr lang="en-US" sz="12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(card)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숫자만 바꾸면 끝!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6324448" y="4709160"/>
            <a:ext cx="520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→ 4 → 5, 숫자 하나만 변경!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658368" y="5257800"/>
            <a:ext cx="10874959" cy="566928"/>
          </a:xfrm>
          <a:prstGeom prst="roundRect">
            <a:avLst>
              <a:gd name="adj" fmla="val 19355"/>
            </a:avLst>
          </a:prstGeom>
          <a:solidFill>
            <a:srgbClr val="EEF0FF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914400" y="5312664"/>
            <a:ext cx="457200" cy="457200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30" name="Image 1" descr="/home/claude/icons/gear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5426964"/>
            <a:ext cx="228600" cy="228600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1627632" y="5257800"/>
            <a:ext cx="96313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85"/>
              </a:lnSpc>
              <a:buNone/>
            </a:pPr>
            <a:r>
              <a:rPr lang="en-US" sz="13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itertools는 코드를 짧게 만들지만 </a:t>
            </a:r>
            <a:r>
              <a:rPr lang="en-US" sz="135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속도가 빨라지는 것은 아닙니다.</a:t>
            </a:r>
            <a:r>
              <a:rPr lang="en-US" sz="13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내부적으로는 모든 경우를 생성합니다.</a:t>
            </a:r>
            <a:endParaRPr lang="en-US" sz="1350" dirty="0"/>
          </a:p>
        </p:txBody>
      </p:sp>
      <p:sp>
        <p:nvSpPr>
          <p:cNvPr id="32" name="Text 28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555748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gear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21899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2.4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itertools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순열 (Permutations)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658368" y="1737360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88"/>
              </a:lnSpc>
              <a:buNone/>
            </a:pPr>
            <a:r>
              <a:rPr lang="en-US" sz="14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순서가 다르면 다른 경우 → </a:t>
            </a:r>
            <a:r>
              <a:rPr lang="en-US" sz="140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nPr</a:t>
            </a:r>
            <a:r>
              <a:rPr lang="en-US" sz="14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(A, B) ≠ (B, A)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58368" y="2194560"/>
            <a:ext cx="6126480" cy="2331720"/>
          </a:xfrm>
          <a:prstGeom prst="roundRect">
            <a:avLst>
              <a:gd name="adj" fmla="val 4706"/>
            </a:avLst>
          </a:prstGeom>
          <a:solidFill>
            <a:srgbClr val="1D1C3D"/>
          </a:solidFill>
          <a:ln/>
          <a:effectLst>
            <a:outerShdw blurRad="203200" dist="76200" dir="5400000" algn="bl" rotWithShape="0">
              <a:srgbClr val="1A1836">
                <a:alpha val="2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58368" y="2194560"/>
            <a:ext cx="6126480" cy="457200"/>
          </a:xfrm>
          <a:prstGeom prst="roundRect">
            <a:avLst>
              <a:gd name="adj" fmla="val 24000"/>
            </a:avLst>
          </a:prstGeom>
          <a:solidFill>
            <a:srgbClr val="2A2856"/>
          </a:solidFill>
          <a:ln/>
        </p:spPr>
      </p:sp>
      <p:sp>
        <p:nvSpPr>
          <p:cNvPr id="10" name="Shape 7"/>
          <p:cNvSpPr/>
          <p:nvPr/>
        </p:nvSpPr>
        <p:spPr>
          <a:xfrm>
            <a:off x="658368" y="2450592"/>
            <a:ext cx="6126480" cy="128016"/>
          </a:xfrm>
          <a:prstGeom prst="rect">
            <a:avLst/>
          </a:prstGeom>
          <a:solidFill>
            <a:srgbClr val="1D1C3D"/>
          </a:solidFill>
          <a:ln/>
        </p:spPr>
      </p:sp>
      <p:sp>
        <p:nvSpPr>
          <p:cNvPr id="11" name="Shape 8"/>
          <p:cNvSpPr/>
          <p:nvPr/>
        </p:nvSpPr>
        <p:spPr>
          <a:xfrm>
            <a:off x="859536" y="2322576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2" name="Shape 9"/>
          <p:cNvSpPr/>
          <p:nvPr/>
        </p:nvSpPr>
        <p:spPr>
          <a:xfrm>
            <a:off x="1060704" y="2322576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3" name="Shape 10"/>
          <p:cNvSpPr/>
          <p:nvPr/>
        </p:nvSpPr>
        <p:spPr>
          <a:xfrm>
            <a:off x="1261872" y="2322576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4" name="Text 11"/>
          <p:cNvSpPr/>
          <p:nvPr/>
        </p:nvSpPr>
        <p:spPr>
          <a:xfrm>
            <a:off x="1481328" y="21945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9A9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permutations.py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914400" y="2752344"/>
            <a:ext cx="56692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itertools </a:t>
            </a: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permutations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items = [</a:t>
            </a:r>
            <a:r>
              <a:rPr lang="en-US" sz="1250" dirty="0">
                <a:solidFill>
                  <a:srgbClr val="9FE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'A'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r>
              <a:rPr lang="en-US" sz="1250" dirty="0">
                <a:solidFill>
                  <a:srgbClr val="9FE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'B'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r>
              <a:rPr lang="en-US" sz="1250" dirty="0">
                <a:solidFill>
                  <a:srgbClr val="9FE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'C'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3개 중 2개를 뽑아 줄 세우기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 = </a:t>
            </a:r>
            <a:r>
              <a:rPr lang="en-US" sz="12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(permutations(items, </a:t>
            </a:r>
            <a:r>
              <a:rPr lang="en-US" sz="12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(result))   </a:t>
            </a:r>
            <a:r>
              <a:rPr lang="en-US" sz="12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6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(result)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58368" y="4663440"/>
            <a:ext cx="6126480" cy="1051560"/>
          </a:xfrm>
          <a:prstGeom prst="roundRect">
            <a:avLst>
              <a:gd name="adj" fmla="val 12174"/>
            </a:avLst>
          </a:prstGeom>
          <a:solidFill>
            <a:srgbClr val="17163A"/>
          </a:solidFill>
          <a:ln/>
          <a:effectLst>
            <a:outerShdw blurRad="101600" dist="38100" dir="5400000" algn="bl" rotWithShape="0">
              <a:srgbClr val="1A1836">
                <a:alpha val="20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914400" y="4791456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C9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(총 6가지)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914400" y="5084064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9FE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[('A','B'),('A','C'),('B','A'),('B','C'),('C','A'),('C','B')]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7196328" y="2194560"/>
            <a:ext cx="433699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사례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7196328" y="2560320"/>
            <a:ext cx="4336999" cy="566928"/>
          </a:xfrm>
          <a:prstGeom prst="roundRect">
            <a:avLst>
              <a:gd name="adj" fmla="val 16129"/>
            </a:avLst>
          </a:prstGeom>
          <a:solidFill>
            <a:srgbClr val="F5F4FC"/>
          </a:solidFill>
          <a:ln/>
          <a:effectLst>
            <a:outerShdw blurRad="63500" dist="19050" dir="5400000" algn="bl" rotWithShape="0">
              <a:srgbClr val="1A1836">
                <a:alpha val="7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324344" y="2651760"/>
            <a:ext cx="384048" cy="384048"/>
          </a:xfrm>
          <a:prstGeom prst="ellipse">
            <a:avLst/>
          </a:prstGeom>
          <a:solidFill>
            <a:srgbClr val="4F46E5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22" name="Image 1" descr="/home/claude/icons/trophy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0356" y="2747772"/>
            <a:ext cx="192024" cy="192024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7818120" y="2560320"/>
            <a:ext cx="35597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달리기 1·2·3등 뽑기</a:t>
            </a:r>
            <a:endParaRPr lang="en-US" sz="1250" dirty="0"/>
          </a:p>
        </p:txBody>
      </p:sp>
      <p:sp>
        <p:nvSpPr>
          <p:cNvPr id="24" name="Shape 20"/>
          <p:cNvSpPr/>
          <p:nvPr/>
        </p:nvSpPr>
        <p:spPr>
          <a:xfrm>
            <a:off x="7196328" y="3236976"/>
            <a:ext cx="4336999" cy="566928"/>
          </a:xfrm>
          <a:prstGeom prst="roundRect">
            <a:avLst>
              <a:gd name="adj" fmla="val 16129"/>
            </a:avLst>
          </a:prstGeom>
          <a:solidFill>
            <a:srgbClr val="F5F4FC"/>
          </a:solidFill>
          <a:ln/>
          <a:effectLst>
            <a:outerShdw blurRad="63500" dist="19050" dir="5400000" algn="bl" rotWithShape="0">
              <a:srgbClr val="1A1836">
                <a:alpha val="7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7324344" y="3328416"/>
            <a:ext cx="384048" cy="384048"/>
          </a:xfrm>
          <a:prstGeom prst="ellipse">
            <a:avLst/>
          </a:prstGeom>
          <a:solidFill>
            <a:srgbClr val="4F46E5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26" name="Image 2" descr="/home/claude/icons/key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0356" y="3424428"/>
            <a:ext cx="192024" cy="192024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7818120" y="3236976"/>
            <a:ext cx="35597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비밀번호 (1234 ≠ 4321)</a:t>
            </a:r>
            <a:endParaRPr lang="en-US" sz="1250" dirty="0"/>
          </a:p>
        </p:txBody>
      </p:sp>
      <p:sp>
        <p:nvSpPr>
          <p:cNvPr id="28" name="Shape 23"/>
          <p:cNvSpPr/>
          <p:nvPr/>
        </p:nvSpPr>
        <p:spPr>
          <a:xfrm>
            <a:off x="7196328" y="3913632"/>
            <a:ext cx="4336999" cy="566928"/>
          </a:xfrm>
          <a:prstGeom prst="roundRect">
            <a:avLst>
              <a:gd name="adj" fmla="val 16129"/>
            </a:avLst>
          </a:prstGeom>
          <a:solidFill>
            <a:srgbClr val="F5F4FC"/>
          </a:solidFill>
          <a:ln/>
          <a:effectLst>
            <a:outerShdw blurRad="63500" dist="19050" dir="5400000" algn="bl" rotWithShape="0">
              <a:srgbClr val="1A1836">
                <a:alpha val="7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7324344" y="4005072"/>
            <a:ext cx="384048" cy="384048"/>
          </a:xfrm>
          <a:prstGeom prst="ellipse">
            <a:avLst/>
          </a:prstGeom>
          <a:solidFill>
            <a:srgbClr val="4F46E5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30" name="Image 3" descr="/home/claude/icons/route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20356" y="4101084"/>
            <a:ext cx="192024" cy="192024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7818120" y="3913632"/>
            <a:ext cx="35597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외판원 순회 (방문 순서)</a:t>
            </a:r>
            <a:endParaRPr lang="en-US" sz="1250" dirty="0"/>
          </a:p>
        </p:txBody>
      </p:sp>
      <p:sp>
        <p:nvSpPr>
          <p:cNvPr id="32" name="Shape 26"/>
          <p:cNvSpPr/>
          <p:nvPr/>
        </p:nvSpPr>
        <p:spPr>
          <a:xfrm>
            <a:off x="7196328" y="4590288"/>
            <a:ext cx="4336999" cy="566928"/>
          </a:xfrm>
          <a:prstGeom prst="roundRect">
            <a:avLst>
              <a:gd name="adj" fmla="val 16129"/>
            </a:avLst>
          </a:prstGeom>
          <a:solidFill>
            <a:srgbClr val="F5F4FC"/>
          </a:solidFill>
          <a:ln/>
          <a:effectLst>
            <a:outerShdw blurRad="63500" dist="19050" dir="5400000" algn="bl" rotWithShape="0">
              <a:srgbClr val="1A1836">
                <a:alpha val="7000"/>
              </a:srgbClr>
            </a:outerShdw>
          </a:effectLst>
        </p:spPr>
      </p:sp>
      <p:sp>
        <p:nvSpPr>
          <p:cNvPr id="33" name="Shape 27"/>
          <p:cNvSpPr/>
          <p:nvPr/>
        </p:nvSpPr>
        <p:spPr>
          <a:xfrm>
            <a:off x="7324344" y="4681728"/>
            <a:ext cx="384048" cy="384048"/>
          </a:xfrm>
          <a:prstGeom prst="ellipse">
            <a:avLst/>
          </a:prstGeom>
          <a:solidFill>
            <a:srgbClr val="4F46E5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34" name="Image 4" descr="/home/claude/icons/listol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0356" y="4777740"/>
            <a:ext cx="192024" cy="192024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7818120" y="4590288"/>
            <a:ext cx="35597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줄 세우기 문제</a:t>
            </a:r>
            <a:endParaRPr lang="en-US" sz="1250" dirty="0"/>
          </a:p>
        </p:txBody>
      </p:sp>
      <p:sp>
        <p:nvSpPr>
          <p:cNvPr id="36" name="Shape 29"/>
          <p:cNvSpPr/>
          <p:nvPr/>
        </p:nvSpPr>
        <p:spPr>
          <a:xfrm>
            <a:off x="7196328" y="5257800"/>
            <a:ext cx="4336999" cy="566928"/>
          </a:xfrm>
          <a:prstGeom prst="roundRect">
            <a:avLst>
              <a:gd name="adj" fmla="val 19355"/>
            </a:avLst>
          </a:prstGeom>
          <a:solidFill>
            <a:srgbClr val="EEF0FF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37" name="Text 30"/>
          <p:cNvSpPr/>
          <p:nvPr/>
        </p:nvSpPr>
        <p:spPr>
          <a:xfrm>
            <a:off x="7196328" y="5257800"/>
            <a:ext cx="43369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경우의 수: </a:t>
            </a:r>
            <a:r>
              <a:rPr lang="en-US" sz="160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n!</a:t>
            </a:r>
            <a:r>
              <a:rPr lang="en-US" sz="13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(팩토리얼)</a:t>
            </a:r>
            <a:endParaRPr lang="en-US" sz="1300" dirty="0"/>
          </a:p>
        </p:txBody>
      </p:sp>
      <p:sp>
        <p:nvSpPr>
          <p:cNvPr id="38" name="Text 31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555748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gear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21899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2.4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itertools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조합 (Combinations)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658368" y="1737360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88"/>
              </a:lnSpc>
              <a:buNone/>
            </a:pPr>
            <a:r>
              <a:rPr lang="en-US" sz="14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순서가 같으면 같은 경우 → </a:t>
            </a:r>
            <a:r>
              <a:rPr lang="en-US" sz="14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nCr</a:t>
            </a:r>
            <a:r>
              <a:rPr lang="en-US" sz="14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(A, B) = (B, A)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58368" y="2194560"/>
            <a:ext cx="6126480" cy="2331720"/>
          </a:xfrm>
          <a:prstGeom prst="roundRect">
            <a:avLst>
              <a:gd name="adj" fmla="val 4706"/>
            </a:avLst>
          </a:prstGeom>
          <a:solidFill>
            <a:srgbClr val="1D1C3D"/>
          </a:solidFill>
          <a:ln/>
          <a:effectLst>
            <a:outerShdw blurRad="203200" dist="76200" dir="5400000" algn="bl" rotWithShape="0">
              <a:srgbClr val="1A1836">
                <a:alpha val="2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58368" y="2194560"/>
            <a:ext cx="6126480" cy="457200"/>
          </a:xfrm>
          <a:prstGeom prst="roundRect">
            <a:avLst>
              <a:gd name="adj" fmla="val 24000"/>
            </a:avLst>
          </a:prstGeom>
          <a:solidFill>
            <a:srgbClr val="2A2856"/>
          </a:solidFill>
          <a:ln/>
        </p:spPr>
      </p:sp>
      <p:sp>
        <p:nvSpPr>
          <p:cNvPr id="10" name="Shape 7"/>
          <p:cNvSpPr/>
          <p:nvPr/>
        </p:nvSpPr>
        <p:spPr>
          <a:xfrm>
            <a:off x="658368" y="2450592"/>
            <a:ext cx="6126480" cy="128016"/>
          </a:xfrm>
          <a:prstGeom prst="rect">
            <a:avLst/>
          </a:prstGeom>
          <a:solidFill>
            <a:srgbClr val="1D1C3D"/>
          </a:solidFill>
          <a:ln/>
        </p:spPr>
      </p:sp>
      <p:sp>
        <p:nvSpPr>
          <p:cNvPr id="11" name="Shape 8"/>
          <p:cNvSpPr/>
          <p:nvPr/>
        </p:nvSpPr>
        <p:spPr>
          <a:xfrm>
            <a:off x="859536" y="2322576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2" name="Shape 9"/>
          <p:cNvSpPr/>
          <p:nvPr/>
        </p:nvSpPr>
        <p:spPr>
          <a:xfrm>
            <a:off x="1060704" y="2322576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3" name="Shape 10"/>
          <p:cNvSpPr/>
          <p:nvPr/>
        </p:nvSpPr>
        <p:spPr>
          <a:xfrm>
            <a:off x="1261872" y="2322576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4" name="Text 11"/>
          <p:cNvSpPr/>
          <p:nvPr/>
        </p:nvSpPr>
        <p:spPr>
          <a:xfrm>
            <a:off x="1481328" y="21945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9A9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combinations.py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914400" y="2747772"/>
            <a:ext cx="56692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itertools </a:t>
            </a: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combinations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items = [</a:t>
            </a:r>
            <a:r>
              <a:rPr lang="en-US" sz="1250" dirty="0">
                <a:solidFill>
                  <a:srgbClr val="9FE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'A'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r>
              <a:rPr lang="en-US" sz="1250" dirty="0">
                <a:solidFill>
                  <a:srgbClr val="9FE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'B'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r>
              <a:rPr lang="en-US" sz="1250" dirty="0">
                <a:solidFill>
                  <a:srgbClr val="9FE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'C'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3개 중 2개를 선택만 (순서 무관)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 = </a:t>
            </a:r>
            <a:r>
              <a:rPr lang="en-US" sz="12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(combinations(items, </a:t>
            </a:r>
            <a:r>
              <a:rPr lang="en-US" sz="12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(result))   </a:t>
            </a:r>
            <a:r>
              <a:rPr lang="en-US" sz="12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3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(result)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58368" y="4663440"/>
            <a:ext cx="6126480" cy="1051560"/>
          </a:xfrm>
          <a:prstGeom prst="roundRect">
            <a:avLst>
              <a:gd name="adj" fmla="val 12174"/>
            </a:avLst>
          </a:prstGeom>
          <a:solidFill>
            <a:srgbClr val="17163A"/>
          </a:solidFill>
          <a:ln/>
          <a:effectLst>
            <a:outerShdw blurRad="101600" dist="38100" dir="5400000" algn="bl" rotWithShape="0">
              <a:srgbClr val="1A1836">
                <a:alpha val="20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914400" y="4791456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C9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(총 3가지)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914400" y="5084064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FE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[('A','B'), ('A','C'), ('B','C')]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7196328" y="2194560"/>
            <a:ext cx="433699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사례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7196328" y="2560320"/>
            <a:ext cx="4336999" cy="566928"/>
          </a:xfrm>
          <a:prstGeom prst="roundRect">
            <a:avLst>
              <a:gd name="adj" fmla="val 16129"/>
            </a:avLst>
          </a:prstGeom>
          <a:solidFill>
            <a:srgbClr val="F5F4FC"/>
          </a:solidFill>
          <a:ln/>
          <a:effectLst>
            <a:outerShdw blurRad="63500" dist="19050" dir="5400000" algn="bl" rotWithShape="0">
              <a:srgbClr val="1A1836">
                <a:alpha val="7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324344" y="2651760"/>
            <a:ext cx="384048" cy="384048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22" name="Image 1" descr="/home/claude/icons/star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0356" y="2747772"/>
            <a:ext cx="192024" cy="192024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7818120" y="2560320"/>
            <a:ext cx="35597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로또 번호 추첨</a:t>
            </a:r>
            <a:endParaRPr lang="en-US" sz="1250" dirty="0"/>
          </a:p>
        </p:txBody>
      </p:sp>
      <p:sp>
        <p:nvSpPr>
          <p:cNvPr id="24" name="Shape 20"/>
          <p:cNvSpPr/>
          <p:nvPr/>
        </p:nvSpPr>
        <p:spPr>
          <a:xfrm>
            <a:off x="7196328" y="3236976"/>
            <a:ext cx="4336999" cy="566928"/>
          </a:xfrm>
          <a:prstGeom prst="roundRect">
            <a:avLst>
              <a:gd name="adj" fmla="val 16129"/>
            </a:avLst>
          </a:prstGeom>
          <a:solidFill>
            <a:srgbClr val="F5F4FC"/>
          </a:solidFill>
          <a:ln/>
          <a:effectLst>
            <a:outerShdw blurRad="63500" dist="19050" dir="5400000" algn="bl" rotWithShape="0">
              <a:srgbClr val="1A1836">
                <a:alpha val="7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7324344" y="3328416"/>
            <a:ext cx="384048" cy="384048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26" name="Image 2" descr="/home/claude/icons/trophy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0356" y="3424428"/>
            <a:ext cx="192024" cy="192024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7818120" y="3236976"/>
            <a:ext cx="35597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선수 3명 선발</a:t>
            </a:r>
            <a:endParaRPr lang="en-US" sz="1250" dirty="0"/>
          </a:p>
        </p:txBody>
      </p:sp>
      <p:sp>
        <p:nvSpPr>
          <p:cNvPr id="28" name="Shape 23"/>
          <p:cNvSpPr/>
          <p:nvPr/>
        </p:nvSpPr>
        <p:spPr>
          <a:xfrm>
            <a:off x="7196328" y="3913632"/>
            <a:ext cx="4336999" cy="566928"/>
          </a:xfrm>
          <a:prstGeom prst="roundRect">
            <a:avLst>
              <a:gd name="adj" fmla="val 16129"/>
            </a:avLst>
          </a:prstGeom>
          <a:solidFill>
            <a:srgbClr val="F5F4FC"/>
          </a:solidFill>
          <a:ln/>
          <a:effectLst>
            <a:outerShdw blurRad="63500" dist="19050" dir="5400000" algn="bl" rotWithShape="0">
              <a:srgbClr val="1A1836">
                <a:alpha val="7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7324344" y="4005072"/>
            <a:ext cx="384048" cy="384048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30" name="Image 3" descr="/home/claude/icons/cup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20356" y="4101084"/>
            <a:ext cx="192024" cy="192024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7818120" y="3913632"/>
            <a:ext cx="35597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 고르기</a:t>
            </a:r>
            <a:endParaRPr lang="en-US" sz="1250" dirty="0"/>
          </a:p>
        </p:txBody>
      </p:sp>
      <p:sp>
        <p:nvSpPr>
          <p:cNvPr id="32" name="Shape 26"/>
          <p:cNvSpPr/>
          <p:nvPr/>
        </p:nvSpPr>
        <p:spPr>
          <a:xfrm>
            <a:off x="7196328" y="4590288"/>
            <a:ext cx="4336999" cy="566928"/>
          </a:xfrm>
          <a:prstGeom prst="roundRect">
            <a:avLst>
              <a:gd name="adj" fmla="val 16129"/>
            </a:avLst>
          </a:prstGeom>
          <a:solidFill>
            <a:srgbClr val="F5F4FC"/>
          </a:solidFill>
          <a:ln/>
          <a:effectLst>
            <a:outerShdw blurRad="63500" dist="19050" dir="5400000" algn="bl" rotWithShape="0">
              <a:srgbClr val="1A1836">
                <a:alpha val="7000"/>
              </a:srgbClr>
            </a:outerShdw>
          </a:effectLst>
        </p:spPr>
      </p:sp>
      <p:sp>
        <p:nvSpPr>
          <p:cNvPr id="33" name="Shape 27"/>
          <p:cNvSpPr/>
          <p:nvPr/>
        </p:nvSpPr>
        <p:spPr>
          <a:xfrm>
            <a:off x="7324344" y="4681728"/>
            <a:ext cx="384048" cy="384048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34" name="Image 4" descr="/home/claude/icons/layers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0356" y="4777740"/>
            <a:ext cx="192024" cy="192024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7818120" y="4590288"/>
            <a:ext cx="35597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부분 집합 만들기</a:t>
            </a:r>
            <a:endParaRPr lang="en-US" sz="1250" dirty="0"/>
          </a:p>
        </p:txBody>
      </p:sp>
      <p:sp>
        <p:nvSpPr>
          <p:cNvPr id="36" name="Shape 29"/>
          <p:cNvSpPr/>
          <p:nvPr/>
        </p:nvSpPr>
        <p:spPr>
          <a:xfrm>
            <a:off x="7196328" y="5257800"/>
            <a:ext cx="4336999" cy="566928"/>
          </a:xfrm>
          <a:prstGeom prst="roundRect">
            <a:avLst>
              <a:gd name="adj" fmla="val 19355"/>
            </a:avLst>
          </a:prstGeom>
          <a:solidFill>
            <a:srgbClr val="EEF0FF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37" name="Text 30"/>
          <p:cNvSpPr/>
          <p:nvPr/>
        </p:nvSpPr>
        <p:spPr>
          <a:xfrm>
            <a:off x="7196328" y="5257800"/>
            <a:ext cx="43369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경우의 수: </a:t>
            </a:r>
            <a:r>
              <a:rPr lang="en-US" sz="15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n! / (r!(n−r)!)</a:t>
            </a:r>
            <a:endParaRPr lang="en-US" sz="1300" dirty="0"/>
          </a:p>
        </p:txBody>
      </p:sp>
      <p:sp>
        <p:nvSpPr>
          <p:cNvPr id="38" name="Text 31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555748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gear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21899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2.4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itertools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순열 vs 조합 — 언제 무엇을?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658368" y="1783080"/>
            <a:ext cx="5208880" cy="3063240"/>
          </a:xfrm>
          <a:prstGeom prst="roundRect">
            <a:avLst>
              <a:gd name="adj" fmla="val 4179"/>
            </a:avLst>
          </a:prstGeom>
          <a:solidFill>
            <a:srgbClr val="EEF0FF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932688" y="2057400"/>
            <a:ext cx="640080" cy="640080"/>
          </a:xfrm>
          <a:prstGeom prst="ellipse">
            <a:avLst/>
          </a:prstGeom>
          <a:solidFill>
            <a:srgbClr val="4F46E5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9" name="Image 1" descr="/home/claude/icons/exchang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2708" y="2217420"/>
            <a:ext cx="320040" cy="32004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709928" y="2057400"/>
            <a:ext cx="392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순열 (Permutation)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978408" y="2834640"/>
            <a:ext cx="456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1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permutations(items, r)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978408" y="3291840"/>
            <a:ext cx="456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순서가 중요한 경우</a:t>
            </a:r>
            <a:endParaRPr lang="en-US" sz="1400" dirty="0"/>
          </a:p>
          <a:p>
            <a:pPr marL="0" indent="0">
              <a:lnSpc>
                <a:spcPts val="2100"/>
              </a:lnSpc>
              <a:buNone/>
            </a:pPr>
            <a:r>
              <a:rPr lang="en-US" sz="13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ABC ≠ BAC ≠ CAB</a:t>
            </a:r>
            <a:endParaRPr lang="en-US" sz="1400" dirty="0"/>
          </a:p>
          <a:p>
            <a:pPr marL="0" indent="0">
              <a:lnSpc>
                <a:spcPts val="2100"/>
              </a:lnSpc>
              <a:buNone/>
            </a:pPr>
            <a:r>
              <a:rPr lang="en-US" sz="13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1등 A·2등 B ≠ 1등 B·2등 A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658368" y="4343400"/>
            <a:ext cx="520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338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× (n-1) × … × (n-r+1)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324448" y="1783080"/>
            <a:ext cx="5208880" cy="3063240"/>
          </a:xfrm>
          <a:prstGeom prst="roundRect">
            <a:avLst>
              <a:gd name="adj" fmla="val 4179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598768" y="2057400"/>
            <a:ext cx="640080" cy="640080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6" name="Image 2" descr="/home/claude/icons/layers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8788" y="2217420"/>
            <a:ext cx="320040" cy="3200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376008" y="2057400"/>
            <a:ext cx="392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조합 (Combination)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6644488" y="2834640"/>
            <a:ext cx="456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1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combinations(items, r)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6644488" y="3291840"/>
            <a:ext cx="456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순서가 상관없는 경우</a:t>
            </a:r>
            <a:endParaRPr lang="en-US" sz="1400" dirty="0"/>
          </a:p>
          <a:p>
            <a:pPr marL="0" indent="0">
              <a:lnSpc>
                <a:spcPts val="2100"/>
              </a:lnSpc>
              <a:buNone/>
            </a:pPr>
            <a:r>
              <a:rPr lang="en-US" sz="13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ABC = BAC = CAB</a:t>
            </a:r>
            <a:endParaRPr lang="en-US" sz="1400" dirty="0"/>
          </a:p>
          <a:p>
            <a:pPr marL="0" indent="0">
              <a:lnSpc>
                <a:spcPts val="2100"/>
              </a:lnSpc>
              <a:buNone/>
            </a:pPr>
            <a:r>
              <a:rPr lang="en-US" sz="13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A·B·C가 한 팀 = B·A·C가 한 팀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324448" y="4343400"/>
            <a:ext cx="520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n! / (r! × (n-r)!)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658368" y="5074920"/>
            <a:ext cx="10874959" cy="658368"/>
          </a:xfrm>
          <a:prstGeom prst="roundRect">
            <a:avLst>
              <a:gd name="adj" fmla="val 16667"/>
            </a:avLst>
          </a:prstGeom>
          <a:solidFill>
            <a:srgbClr val="F5F4FC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914400" y="5175504"/>
            <a:ext cx="457200" cy="457200"/>
          </a:xfrm>
          <a:prstGeom prst="ellipse">
            <a:avLst/>
          </a:prstGeom>
          <a:solidFill>
            <a:srgbClr val="F59E0B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23" name="Image 3" descr="/home/claude/icons/warn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8700" y="5289804"/>
            <a:ext cx="228600" cy="22860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627632" y="5074920"/>
            <a:ext cx="96313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52"/>
              </a:lnSpc>
              <a:buNone/>
            </a:pPr>
            <a:r>
              <a:rPr lang="en-US" sz="13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  </a:t>
            </a:r>
            <a:r>
              <a:rPr lang="en-US" sz="13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itertools는 코드를 짧게 해줄 뿐, 모든 경우를 내부에서 생성하므로 실행 속도는 완전 탐색 그대로입니다.</a:t>
            </a:r>
            <a:endParaRPr lang="en-US" sz="1350" dirty="0"/>
          </a:p>
        </p:txBody>
      </p:sp>
      <p:sp>
        <p:nvSpPr>
          <p:cNvPr id="25" name="Text 19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555748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gear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21899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2.4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itertools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778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예제 2.1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58368" y="1133856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비밀번호 해킹 (순열 활용)</a:t>
            </a:r>
            <a:endParaRPr lang="en-US" sz="2900" dirty="0"/>
          </a:p>
        </p:txBody>
      </p:sp>
      <p:sp>
        <p:nvSpPr>
          <p:cNvPr id="8" name="Text 5"/>
          <p:cNvSpPr/>
          <p:nvPr/>
        </p:nvSpPr>
        <p:spPr>
          <a:xfrm>
            <a:off x="658368" y="1828800"/>
            <a:ext cx="1087495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17"/>
              </a:lnSpc>
              <a:buNone/>
            </a:pPr>
            <a:r>
              <a:rPr lang="en-US" sz="135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1, 2, 3을 한 번씩 사용한 3자리 비밀번호 후보를 모두 만든다.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58368" y="2240280"/>
            <a:ext cx="6217920" cy="2331720"/>
          </a:xfrm>
          <a:prstGeom prst="roundRect">
            <a:avLst>
              <a:gd name="adj" fmla="val 4706"/>
            </a:avLst>
          </a:prstGeom>
          <a:solidFill>
            <a:srgbClr val="1D1C3D"/>
          </a:solidFill>
          <a:ln/>
          <a:effectLst>
            <a:outerShdw blurRad="203200" dist="76200" dir="5400000" algn="bl" rotWithShape="0">
              <a:srgbClr val="1A1836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8368" y="2240280"/>
            <a:ext cx="6217920" cy="457200"/>
          </a:xfrm>
          <a:prstGeom prst="roundRect">
            <a:avLst>
              <a:gd name="adj" fmla="val 24000"/>
            </a:avLst>
          </a:prstGeom>
          <a:solidFill>
            <a:srgbClr val="2A2856"/>
          </a:solidFill>
          <a:ln/>
        </p:spPr>
      </p:sp>
      <p:sp>
        <p:nvSpPr>
          <p:cNvPr id="11" name="Shape 8"/>
          <p:cNvSpPr/>
          <p:nvPr/>
        </p:nvSpPr>
        <p:spPr>
          <a:xfrm>
            <a:off x="658368" y="2496312"/>
            <a:ext cx="6217920" cy="128016"/>
          </a:xfrm>
          <a:prstGeom prst="rect">
            <a:avLst/>
          </a:prstGeom>
          <a:solidFill>
            <a:srgbClr val="1D1C3D"/>
          </a:solidFill>
          <a:ln/>
        </p:spPr>
      </p:sp>
      <p:sp>
        <p:nvSpPr>
          <p:cNvPr id="12" name="Shape 9"/>
          <p:cNvSpPr/>
          <p:nvPr/>
        </p:nvSpPr>
        <p:spPr>
          <a:xfrm>
            <a:off x="859536" y="2368296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3" name="Shape 10"/>
          <p:cNvSpPr/>
          <p:nvPr/>
        </p:nvSpPr>
        <p:spPr>
          <a:xfrm>
            <a:off x="1060704" y="2368296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4" name="Shape 11"/>
          <p:cNvSpPr/>
          <p:nvPr/>
        </p:nvSpPr>
        <p:spPr>
          <a:xfrm>
            <a:off x="1261872" y="2368296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5" name="Text 12"/>
          <p:cNvSpPr/>
          <p:nvPr/>
        </p:nvSpPr>
        <p:spPr>
          <a:xfrm>
            <a:off x="1481328" y="224028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9A9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password_perm.py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914400" y="2798064"/>
            <a:ext cx="57607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itertools </a:t>
            </a: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permutations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nums = [</a:t>
            </a:r>
            <a:r>
              <a:rPr lang="en-US" sz="12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r>
              <a:rPr lang="en-US" sz="12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r>
              <a:rPr lang="en-US" sz="12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3개 숫자를 모두 사용해 순서 있게 나열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passwords = </a:t>
            </a:r>
            <a:r>
              <a:rPr lang="en-US" sz="12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(permutations(nums, </a:t>
            </a:r>
            <a:r>
              <a:rPr lang="en-US" sz="12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pw </a:t>
            </a: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passwords: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2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(pw)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7287768" y="2240280"/>
            <a:ext cx="424555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결과 (3! = 6가지)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7287768" y="2606040"/>
            <a:ext cx="2058772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7E6FB"/>
            </a:solidFill>
            <a:prstDash val="solid"/>
          </a:ln>
          <a:effectLst>
            <a:outerShdw blurRad="50800" dist="12700" dir="16200000" algn="bl" rotWithShape="0">
              <a:srgbClr val="000000">
                <a:alpha val="7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7287768" y="2606040"/>
            <a:ext cx="20587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338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(1,2,3)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9474556" y="2606040"/>
            <a:ext cx="2058772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7E6FB"/>
            </a:solidFill>
            <a:prstDash val="solid"/>
          </a:ln>
          <a:effectLst>
            <a:outerShdw blurRad="50800" dist="12700" dir="16200000" algn="bl" rotWithShape="0">
              <a:srgbClr val="000000">
                <a:alpha val="7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9474556" y="2606040"/>
            <a:ext cx="20587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338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(1,3,2)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7287768" y="3191256"/>
            <a:ext cx="2058772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7E6FB"/>
            </a:solidFill>
            <a:prstDash val="solid"/>
          </a:ln>
          <a:effectLst>
            <a:outerShdw blurRad="50800" dist="12700" dir="16200000" algn="bl" rotWithShape="0">
              <a:srgbClr val="000000">
                <a:alpha val="7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7287768" y="3191256"/>
            <a:ext cx="20587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338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(2,1,3)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9474556" y="3191256"/>
            <a:ext cx="2058772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7E6FB"/>
            </a:solidFill>
            <a:prstDash val="solid"/>
          </a:ln>
          <a:effectLst>
            <a:outerShdw blurRad="50800" dist="12700" dir="16200000" algn="bl" rotWithShape="0">
              <a:srgbClr val="000000">
                <a:alpha val="7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9474556" y="3191256"/>
            <a:ext cx="20587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338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(2,3,1)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7287768" y="3776472"/>
            <a:ext cx="2058772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7E6FB"/>
            </a:solidFill>
            <a:prstDash val="solid"/>
          </a:ln>
          <a:effectLst>
            <a:outerShdw blurRad="50800" dist="12700" dir="16200000" algn="bl" rotWithShape="0">
              <a:srgbClr val="000000">
                <a:alpha val="7000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7287768" y="3776472"/>
            <a:ext cx="20587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338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(3,1,2)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9474556" y="3776472"/>
            <a:ext cx="2058772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7E6FB"/>
            </a:solidFill>
            <a:prstDash val="solid"/>
          </a:ln>
          <a:effectLst>
            <a:outerShdw blurRad="50800" dist="12700" dir="16200000" algn="bl" rotWithShape="0">
              <a:srgbClr val="000000">
                <a:alpha val="7000"/>
              </a:srgbClr>
            </a:outerShdw>
          </a:effectLst>
        </p:spPr>
      </p:sp>
      <p:sp>
        <p:nvSpPr>
          <p:cNvPr id="29" name="Text 26"/>
          <p:cNvSpPr/>
          <p:nvPr/>
        </p:nvSpPr>
        <p:spPr>
          <a:xfrm>
            <a:off x="9474556" y="3776472"/>
            <a:ext cx="20587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338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(3,2,1)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658368" y="5074920"/>
            <a:ext cx="10874959" cy="658368"/>
          </a:xfrm>
          <a:prstGeom prst="roundRect">
            <a:avLst>
              <a:gd name="adj" fmla="val 16667"/>
            </a:avLst>
          </a:prstGeom>
          <a:solidFill>
            <a:srgbClr val="EEF0FF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914400" y="5175504"/>
            <a:ext cx="457200" cy="457200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32" name="Image 1" descr="/home/claude/icons/che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" y="5289804"/>
            <a:ext cx="228600" cy="228600"/>
          </a:xfrm>
          <a:prstGeom prst="rect">
            <a:avLst/>
          </a:prstGeom>
        </p:spPr>
      </p:pic>
      <p:sp>
        <p:nvSpPr>
          <p:cNvPr id="33" name="Text 29"/>
          <p:cNvSpPr/>
          <p:nvPr/>
        </p:nvSpPr>
        <p:spPr>
          <a:xfrm>
            <a:off x="1627632" y="5074920"/>
            <a:ext cx="96313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10"/>
              </a:lnSpc>
              <a:buNone/>
            </a:pPr>
            <a:r>
              <a:rPr lang="en-US" sz="14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3! = 6가지 후보를 생성 → 모두 시도하면 반드시 정답을 찾습니다.</a:t>
            </a:r>
            <a:endParaRPr lang="en-US" sz="1400" dirty="0"/>
          </a:p>
        </p:txBody>
      </p:sp>
      <p:sp>
        <p:nvSpPr>
          <p:cNvPr id="34" name="Text 30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555748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gear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21899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2.4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itertools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778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예제 2.2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58368" y="1133856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최고의 맛을 찾아서 (조합 활용)</a:t>
            </a:r>
            <a:endParaRPr lang="en-US" sz="2900" dirty="0"/>
          </a:p>
        </p:txBody>
      </p:sp>
      <p:sp>
        <p:nvSpPr>
          <p:cNvPr id="8" name="Text 5"/>
          <p:cNvSpPr/>
          <p:nvPr/>
        </p:nvSpPr>
        <p:spPr>
          <a:xfrm>
            <a:off x="658368" y="1828800"/>
            <a:ext cx="1087495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17"/>
              </a:lnSpc>
              <a:buNone/>
            </a:pPr>
            <a:r>
              <a:rPr lang="en-US" sz="135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4가지 맛 중 2가지를 선택해 더블 컵을 만든다. (순서 무관)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58368" y="2240280"/>
            <a:ext cx="6217920" cy="2331720"/>
          </a:xfrm>
          <a:prstGeom prst="roundRect">
            <a:avLst>
              <a:gd name="adj" fmla="val 4706"/>
            </a:avLst>
          </a:prstGeom>
          <a:solidFill>
            <a:srgbClr val="1D1C3D"/>
          </a:solidFill>
          <a:ln/>
          <a:effectLst>
            <a:outerShdw blurRad="203200" dist="76200" dir="5400000" algn="bl" rotWithShape="0">
              <a:srgbClr val="1A1836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8368" y="2240280"/>
            <a:ext cx="6217920" cy="457200"/>
          </a:xfrm>
          <a:prstGeom prst="roundRect">
            <a:avLst>
              <a:gd name="adj" fmla="val 24000"/>
            </a:avLst>
          </a:prstGeom>
          <a:solidFill>
            <a:srgbClr val="2A2856"/>
          </a:solidFill>
          <a:ln/>
        </p:spPr>
      </p:sp>
      <p:sp>
        <p:nvSpPr>
          <p:cNvPr id="11" name="Shape 8"/>
          <p:cNvSpPr/>
          <p:nvPr/>
        </p:nvSpPr>
        <p:spPr>
          <a:xfrm>
            <a:off x="658368" y="2496312"/>
            <a:ext cx="6217920" cy="128016"/>
          </a:xfrm>
          <a:prstGeom prst="rect">
            <a:avLst/>
          </a:prstGeom>
          <a:solidFill>
            <a:srgbClr val="1D1C3D"/>
          </a:solidFill>
          <a:ln/>
        </p:spPr>
      </p:sp>
      <p:sp>
        <p:nvSpPr>
          <p:cNvPr id="12" name="Shape 9"/>
          <p:cNvSpPr/>
          <p:nvPr/>
        </p:nvSpPr>
        <p:spPr>
          <a:xfrm>
            <a:off x="859536" y="2368296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3" name="Shape 10"/>
          <p:cNvSpPr/>
          <p:nvPr/>
        </p:nvSpPr>
        <p:spPr>
          <a:xfrm>
            <a:off x="1060704" y="2368296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4" name="Shape 11"/>
          <p:cNvSpPr/>
          <p:nvPr/>
        </p:nvSpPr>
        <p:spPr>
          <a:xfrm>
            <a:off x="1261872" y="2368296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5" name="Text 12"/>
          <p:cNvSpPr/>
          <p:nvPr/>
        </p:nvSpPr>
        <p:spPr>
          <a:xfrm>
            <a:off x="1481328" y="224028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9A9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icecream_comb.py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914400" y="2787142"/>
            <a:ext cx="57607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itertools </a:t>
            </a: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combinations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flavors = [</a:t>
            </a:r>
            <a:r>
              <a:rPr lang="en-US" sz="1250" dirty="0">
                <a:solidFill>
                  <a:srgbClr val="9FE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'초코'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r>
              <a:rPr lang="en-US" sz="1250" dirty="0">
                <a:solidFill>
                  <a:srgbClr val="9FE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'바닐라'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r>
              <a:rPr lang="en-US" sz="1250" dirty="0">
                <a:solidFill>
                  <a:srgbClr val="9FE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'딸기'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r>
              <a:rPr lang="en-US" sz="1250" dirty="0">
                <a:solidFill>
                  <a:srgbClr val="9FE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'멜론'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4개 중 2개를 선택만 (순서 무관)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menus = </a:t>
            </a:r>
            <a:r>
              <a:rPr lang="en-US" sz="12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(combinations(flavors, </a:t>
            </a:r>
            <a:r>
              <a:rPr lang="en-US" sz="12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menu </a:t>
            </a: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menus: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2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(menu)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7287768" y="2240280"/>
            <a:ext cx="424555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결과 (4C2 = 6가지)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7287768" y="2606040"/>
            <a:ext cx="2058772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7E6FB"/>
            </a:solidFill>
            <a:prstDash val="solid"/>
          </a:ln>
          <a:effectLst>
            <a:outerShdw blurRad="50800" dist="12700" dir="16200000" algn="bl" rotWithShape="0">
              <a:srgbClr val="000000">
                <a:alpha val="7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7287768" y="2606040"/>
            <a:ext cx="20587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초코·바닐라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9474556" y="2606040"/>
            <a:ext cx="2058772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7E6FB"/>
            </a:solidFill>
            <a:prstDash val="solid"/>
          </a:ln>
          <a:effectLst>
            <a:outerShdw blurRad="50800" dist="12700" dir="16200000" algn="bl" rotWithShape="0">
              <a:srgbClr val="000000">
                <a:alpha val="7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9474556" y="2606040"/>
            <a:ext cx="20587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초코·딸기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7287768" y="3191256"/>
            <a:ext cx="2058772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7E6FB"/>
            </a:solidFill>
            <a:prstDash val="solid"/>
          </a:ln>
          <a:effectLst>
            <a:outerShdw blurRad="50800" dist="12700" dir="16200000" algn="bl" rotWithShape="0">
              <a:srgbClr val="000000">
                <a:alpha val="7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7287768" y="3191256"/>
            <a:ext cx="20587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초코·멜론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9474556" y="3191256"/>
            <a:ext cx="2058772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7E6FB"/>
            </a:solidFill>
            <a:prstDash val="solid"/>
          </a:ln>
          <a:effectLst>
            <a:outerShdw blurRad="50800" dist="12700" dir="16200000" algn="bl" rotWithShape="0">
              <a:srgbClr val="000000">
                <a:alpha val="7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9474556" y="3191256"/>
            <a:ext cx="20587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바닐라·딸기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7287768" y="3776472"/>
            <a:ext cx="2058772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7E6FB"/>
            </a:solidFill>
            <a:prstDash val="solid"/>
          </a:ln>
          <a:effectLst>
            <a:outerShdw blurRad="50800" dist="12700" dir="16200000" algn="bl" rotWithShape="0">
              <a:srgbClr val="000000">
                <a:alpha val="7000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7287768" y="3776472"/>
            <a:ext cx="20587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바닐라·멜론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9474556" y="3776472"/>
            <a:ext cx="2058772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7E6FB"/>
            </a:solidFill>
            <a:prstDash val="solid"/>
          </a:ln>
          <a:effectLst>
            <a:outerShdw blurRad="50800" dist="12700" dir="16200000" algn="bl" rotWithShape="0">
              <a:srgbClr val="000000">
                <a:alpha val="7000"/>
              </a:srgbClr>
            </a:outerShdw>
          </a:effectLst>
        </p:spPr>
      </p:sp>
      <p:sp>
        <p:nvSpPr>
          <p:cNvPr id="29" name="Text 26"/>
          <p:cNvSpPr/>
          <p:nvPr/>
        </p:nvSpPr>
        <p:spPr>
          <a:xfrm>
            <a:off x="9474556" y="3776472"/>
            <a:ext cx="20587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딸기·멜론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658368" y="5074920"/>
            <a:ext cx="10874959" cy="658368"/>
          </a:xfrm>
          <a:prstGeom prst="roundRect">
            <a:avLst>
              <a:gd name="adj" fmla="val 16667"/>
            </a:avLst>
          </a:prstGeom>
          <a:solidFill>
            <a:srgbClr val="F5F4FC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914400" y="5175504"/>
            <a:ext cx="457200" cy="457200"/>
          </a:xfrm>
          <a:prstGeom prst="ellipse">
            <a:avLst/>
          </a:prstGeom>
          <a:solidFill>
            <a:srgbClr val="7C3AED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32" name="Image 1" descr="/home/claude/icons/cup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" y="5289804"/>
            <a:ext cx="228600" cy="228600"/>
          </a:xfrm>
          <a:prstGeom prst="rect">
            <a:avLst/>
          </a:prstGeom>
        </p:spPr>
      </p:pic>
      <p:sp>
        <p:nvSpPr>
          <p:cNvPr id="33" name="Text 29"/>
          <p:cNvSpPr/>
          <p:nvPr/>
        </p:nvSpPr>
        <p:spPr>
          <a:xfrm>
            <a:off x="1627632" y="5074920"/>
            <a:ext cx="96313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10"/>
              </a:lnSpc>
              <a:buNone/>
            </a:pPr>
            <a:r>
              <a:rPr lang="en-US" sz="14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‘초코+바닐라’와 ‘바닐라+초코’는 같은 메뉴 → </a:t>
            </a:r>
            <a:r>
              <a:rPr lang="en-US" sz="14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조합(combination)을 사용합니다.</a:t>
            </a:r>
            <a:endParaRPr lang="en-US" sz="1400" dirty="0"/>
          </a:p>
        </p:txBody>
      </p:sp>
      <p:sp>
        <p:nvSpPr>
          <p:cNvPr id="34" name="Text 30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716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89320" y="182880"/>
            <a:ext cx="6199632" cy="6583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5500" b="1" dirty="0">
                <a:solidFill>
                  <a:srgbClr val="201E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2.5</a:t>
            </a:r>
            <a:endParaRPr lang="en-US" sz="255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1133856" y="1371600"/>
            <a:ext cx="128016" cy="128016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5" name="Shape 3"/>
          <p:cNvSpPr/>
          <p:nvPr/>
        </p:nvSpPr>
        <p:spPr>
          <a:xfrm>
            <a:off x="1444752" y="1371600"/>
            <a:ext cx="128016" cy="128016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828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SECTION 2.5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68680" y="2423160"/>
            <a:ext cx="822960" cy="822960"/>
          </a:xfrm>
          <a:prstGeom prst="ellipse">
            <a:avLst/>
          </a:prstGeom>
          <a:solidFill>
            <a:srgbClr val="4F46E5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8" name="Image 0" descr="/home/claude/icons/search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" y="2628900"/>
            <a:ext cx="411480" cy="4114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874520" y="2377440"/>
            <a:ext cx="8595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예제로 배우는 완전 탐색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896112" y="3611880"/>
            <a:ext cx="7955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550" dirty="0">
                <a:solidFill>
                  <a:srgbClr val="C8C6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문자열 매칭, 최근접 쌍, 부분집합 생성 — 완전 탐색의 전형적인 예제들을 살펴봅니다.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A6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1499616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search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133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2.5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예제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65836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무차별 문자열 매칭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658368" y="1371600"/>
            <a:ext cx="1087495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46"/>
              </a:lnSpc>
              <a:buNone/>
            </a:pPr>
            <a:r>
              <a:rPr lang="en-US" sz="13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 텍스트에서 패턴의 위치 찾기      </a:t>
            </a:r>
            <a:r>
              <a:rPr lang="en-US" sz="13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 = "HELLO WORLD"</a:t>
            </a:r>
            <a:r>
              <a:rPr lang="en-US" sz="13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패턴 </a:t>
            </a:r>
            <a:r>
              <a:rPr lang="en-US" sz="130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 = "LLO"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712568" y="1783080"/>
            <a:ext cx="548640" cy="566928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5875">
            <a:solidFill>
              <a:srgbClr val="E7E6FB"/>
            </a:solidFill>
            <a:prstDash val="solid"/>
          </a:ln>
          <a:effectLst>
            <a:outerShdw blurRad="50800" dist="12700" dir="16200000" algn="bl" rotWithShape="0">
              <a:srgbClr val="000000">
                <a:alpha val="7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2712568" y="178308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1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3334360" y="1783080"/>
            <a:ext cx="548640" cy="566928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5875">
            <a:solidFill>
              <a:srgbClr val="E7E6FB"/>
            </a:solidFill>
            <a:prstDash val="solid"/>
          </a:ln>
          <a:effectLst>
            <a:outerShdw blurRad="50800" dist="12700" dir="16200000" algn="bl" rotWithShape="0">
              <a:srgbClr val="000000">
                <a:alpha val="7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3334360" y="178308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1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3956152" y="1783080"/>
            <a:ext cx="548640" cy="566928"/>
          </a:xfrm>
          <a:prstGeom prst="roundRect">
            <a:avLst>
              <a:gd name="adj" fmla="val 11667"/>
            </a:avLst>
          </a:prstGeom>
          <a:solidFill>
            <a:srgbClr val="F59E0B"/>
          </a:solidFill>
          <a:ln w="15875">
            <a:solidFill>
              <a:srgbClr val="F59E0B"/>
            </a:solidFill>
            <a:prstDash val="solid"/>
          </a:ln>
          <a:effectLst>
            <a:outerShdw blurRad="50800" dist="12700" dir="16200000" algn="bl" rotWithShape="0">
              <a:srgbClr val="000000">
                <a:alpha val="7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3956152" y="178308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4577944" y="1783080"/>
            <a:ext cx="548640" cy="566928"/>
          </a:xfrm>
          <a:prstGeom prst="roundRect">
            <a:avLst>
              <a:gd name="adj" fmla="val 11667"/>
            </a:avLst>
          </a:prstGeom>
          <a:solidFill>
            <a:srgbClr val="F59E0B"/>
          </a:solidFill>
          <a:ln w="15875">
            <a:solidFill>
              <a:srgbClr val="F59E0B"/>
            </a:solidFill>
            <a:prstDash val="solid"/>
          </a:ln>
          <a:effectLst>
            <a:outerShdw blurRad="50800" dist="12700" dir="16200000" algn="bl" rotWithShape="0">
              <a:srgbClr val="000000">
                <a:alpha val="7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4577944" y="178308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199736" y="1783080"/>
            <a:ext cx="548640" cy="566928"/>
          </a:xfrm>
          <a:prstGeom prst="roundRect">
            <a:avLst>
              <a:gd name="adj" fmla="val 11667"/>
            </a:avLst>
          </a:prstGeom>
          <a:solidFill>
            <a:srgbClr val="F59E0B"/>
          </a:solidFill>
          <a:ln w="15875">
            <a:solidFill>
              <a:srgbClr val="F59E0B"/>
            </a:solidFill>
            <a:prstDash val="solid"/>
          </a:ln>
          <a:effectLst>
            <a:outerShdw blurRad="50800" dist="12700" dir="16200000" algn="bl" rotWithShape="0">
              <a:srgbClr val="000000">
                <a:alpha val="7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5199736" y="178308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5821528" y="1783080"/>
            <a:ext cx="548640" cy="566928"/>
          </a:xfrm>
          <a:prstGeom prst="roundRect">
            <a:avLst>
              <a:gd name="adj" fmla="val 11667"/>
            </a:avLst>
          </a:prstGeom>
          <a:solidFill>
            <a:srgbClr val="EEF0FF"/>
          </a:solidFill>
          <a:ln w="15875">
            <a:solidFill>
              <a:srgbClr val="E7E6FB"/>
            </a:solidFill>
            <a:prstDash val="solid"/>
          </a:ln>
          <a:effectLst>
            <a:outerShdw blurRad="50800" dist="12700" dir="16200000" algn="bl" rotWithShape="0">
              <a:srgbClr val="000000">
                <a:alpha val="7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5821528" y="178308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6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␣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6443320" y="1783080"/>
            <a:ext cx="548640" cy="566928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5875">
            <a:solidFill>
              <a:srgbClr val="E7E6FB"/>
            </a:solidFill>
            <a:prstDash val="solid"/>
          </a:ln>
          <a:effectLst>
            <a:outerShdw blurRad="50800" dist="12700" dir="16200000" algn="bl" rotWithShape="0">
              <a:srgbClr val="000000">
                <a:alpha val="7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6443320" y="178308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1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</a:t>
            </a:r>
            <a:endParaRPr lang="en-US" sz="1700" dirty="0"/>
          </a:p>
        </p:txBody>
      </p:sp>
      <p:sp>
        <p:nvSpPr>
          <p:cNvPr id="22" name="Shape 19"/>
          <p:cNvSpPr/>
          <p:nvPr/>
        </p:nvSpPr>
        <p:spPr>
          <a:xfrm>
            <a:off x="7065112" y="1783080"/>
            <a:ext cx="548640" cy="566928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5875">
            <a:solidFill>
              <a:srgbClr val="E7E6FB"/>
            </a:solidFill>
            <a:prstDash val="solid"/>
          </a:ln>
          <a:effectLst>
            <a:outerShdw blurRad="50800" dist="12700" dir="16200000" algn="bl" rotWithShape="0">
              <a:srgbClr val="000000">
                <a:alpha val="7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7065112" y="178308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1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</a:t>
            </a:r>
            <a:endParaRPr lang="en-US" sz="1700" dirty="0"/>
          </a:p>
        </p:txBody>
      </p:sp>
      <p:sp>
        <p:nvSpPr>
          <p:cNvPr id="24" name="Shape 21"/>
          <p:cNvSpPr/>
          <p:nvPr/>
        </p:nvSpPr>
        <p:spPr>
          <a:xfrm>
            <a:off x="7686904" y="1783080"/>
            <a:ext cx="548640" cy="566928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5875">
            <a:solidFill>
              <a:srgbClr val="E7E6FB"/>
            </a:solidFill>
            <a:prstDash val="solid"/>
          </a:ln>
          <a:effectLst>
            <a:outerShdw blurRad="50800" dist="12700" dir="16200000" algn="bl" rotWithShape="0">
              <a:srgbClr val="000000">
                <a:alpha val="7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7686904" y="178308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1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8308696" y="1783080"/>
            <a:ext cx="548640" cy="566928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5875">
            <a:solidFill>
              <a:srgbClr val="E7E6FB"/>
            </a:solidFill>
            <a:prstDash val="solid"/>
          </a:ln>
          <a:effectLst>
            <a:outerShdw blurRad="50800" dist="12700" dir="16200000" algn="bl" rotWithShape="0">
              <a:srgbClr val="000000">
                <a:alpha val="7000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8308696" y="178308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1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</a:t>
            </a:r>
            <a:endParaRPr lang="en-US" sz="1700" dirty="0"/>
          </a:p>
        </p:txBody>
      </p:sp>
      <p:sp>
        <p:nvSpPr>
          <p:cNvPr id="28" name="Shape 25"/>
          <p:cNvSpPr/>
          <p:nvPr/>
        </p:nvSpPr>
        <p:spPr>
          <a:xfrm>
            <a:off x="8930488" y="1783080"/>
            <a:ext cx="548640" cy="566928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5875">
            <a:solidFill>
              <a:srgbClr val="E7E6FB"/>
            </a:solidFill>
            <a:prstDash val="solid"/>
          </a:ln>
          <a:effectLst>
            <a:outerShdw blurRad="50800" dist="12700" dir="16200000" algn="bl" rotWithShape="0">
              <a:srgbClr val="000000">
                <a:alpha val="7000"/>
              </a:srgbClr>
            </a:outerShdw>
          </a:effectLst>
        </p:spPr>
      </p:sp>
      <p:sp>
        <p:nvSpPr>
          <p:cNvPr id="29" name="Text 26"/>
          <p:cNvSpPr/>
          <p:nvPr/>
        </p:nvSpPr>
        <p:spPr>
          <a:xfrm>
            <a:off x="8930488" y="178308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1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</a:t>
            </a:r>
            <a:endParaRPr lang="en-US" sz="1700" dirty="0"/>
          </a:p>
        </p:txBody>
      </p:sp>
      <p:sp>
        <p:nvSpPr>
          <p:cNvPr id="30" name="Text 27"/>
          <p:cNvSpPr/>
          <p:nvPr/>
        </p:nvSpPr>
        <p:spPr>
          <a:xfrm>
            <a:off x="658368" y="2487168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i=0: L≠H ❌     i=1: L≠E ❌     </a:t>
            </a:r>
            <a:r>
              <a:rPr lang="en-US" sz="135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i=2: LLO = LLO ✅ 발견!</a:t>
            </a:r>
            <a:endParaRPr lang="en-US" sz="1350" dirty="0"/>
          </a:p>
        </p:txBody>
      </p:sp>
      <p:sp>
        <p:nvSpPr>
          <p:cNvPr id="31" name="Shape 28"/>
          <p:cNvSpPr/>
          <p:nvPr/>
        </p:nvSpPr>
        <p:spPr>
          <a:xfrm>
            <a:off x="658368" y="2971800"/>
            <a:ext cx="10874959" cy="2834640"/>
          </a:xfrm>
          <a:prstGeom prst="roundRect">
            <a:avLst>
              <a:gd name="adj" fmla="val 3871"/>
            </a:avLst>
          </a:prstGeom>
          <a:solidFill>
            <a:srgbClr val="1D1C3D"/>
          </a:solidFill>
          <a:ln/>
          <a:effectLst>
            <a:outerShdw blurRad="203200" dist="76200" dir="5400000" algn="bl" rotWithShape="0">
              <a:srgbClr val="1A1836">
                <a:alpha val="28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658368" y="2971800"/>
            <a:ext cx="10874959" cy="457200"/>
          </a:xfrm>
          <a:prstGeom prst="roundRect">
            <a:avLst>
              <a:gd name="adj" fmla="val 24000"/>
            </a:avLst>
          </a:prstGeom>
          <a:solidFill>
            <a:srgbClr val="2A2856"/>
          </a:solidFill>
          <a:ln/>
        </p:spPr>
      </p:sp>
      <p:sp>
        <p:nvSpPr>
          <p:cNvPr id="33" name="Shape 30"/>
          <p:cNvSpPr/>
          <p:nvPr/>
        </p:nvSpPr>
        <p:spPr>
          <a:xfrm>
            <a:off x="658368" y="3227832"/>
            <a:ext cx="10874959" cy="128016"/>
          </a:xfrm>
          <a:prstGeom prst="rect">
            <a:avLst/>
          </a:prstGeom>
          <a:solidFill>
            <a:srgbClr val="1D1C3D"/>
          </a:solidFill>
          <a:ln/>
        </p:spPr>
      </p:sp>
      <p:sp>
        <p:nvSpPr>
          <p:cNvPr id="34" name="Shape 31"/>
          <p:cNvSpPr/>
          <p:nvPr/>
        </p:nvSpPr>
        <p:spPr>
          <a:xfrm>
            <a:off x="859536" y="3099816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35" name="Shape 32"/>
          <p:cNvSpPr/>
          <p:nvPr/>
        </p:nvSpPr>
        <p:spPr>
          <a:xfrm>
            <a:off x="1060704" y="3099816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36" name="Shape 33"/>
          <p:cNvSpPr/>
          <p:nvPr/>
        </p:nvSpPr>
        <p:spPr>
          <a:xfrm>
            <a:off x="1261872" y="3099816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37" name="Text 34"/>
          <p:cNvSpPr/>
          <p:nvPr/>
        </p:nvSpPr>
        <p:spPr>
          <a:xfrm>
            <a:off x="1481328" y="2971800"/>
            <a:ext cx="98691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9A9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bf_string_match.py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914400" y="3474720"/>
            <a:ext cx="1041775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bf_string_match(text, pattern):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n, m = </a:t>
            </a:r>
            <a:r>
              <a:rPr lang="en-US" sz="12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(text), </a:t>
            </a:r>
            <a:r>
              <a:rPr lang="en-US" sz="12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(pattern)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found = []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i </a:t>
            </a: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2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 - m + </a:t>
            </a:r>
            <a:r>
              <a:rPr lang="en-US" sz="12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        </a:t>
            </a:r>
            <a:r>
              <a:rPr lang="en-US" sz="12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가능한 모든 시작 위치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match = </a:t>
            </a: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j </a:t>
            </a: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2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(m):           </a:t>
            </a:r>
            <a:r>
              <a:rPr lang="en-US" sz="12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패턴 문자 하나씩 비교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</a:t>
            </a: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text[i + j] != pattern[j]: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    match = </a:t>
            </a: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 </a:t>
            </a: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break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2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불일치 시 즉시 중단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match: found.append(i)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found                     </a:t>
            </a:r>
            <a:r>
              <a:rPr lang="en-US" sz="12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O(n*m)</a:t>
            </a:r>
            <a:endParaRPr lang="en-US" sz="1250" dirty="0"/>
          </a:p>
        </p:txBody>
      </p:sp>
      <p:sp>
        <p:nvSpPr>
          <p:cNvPr id="39" name="Text 36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1499616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search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133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2.5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예제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문자열 매칭 — 분석과 발전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658368" y="1783080"/>
            <a:ext cx="6035040" cy="1737360"/>
          </a:xfrm>
          <a:prstGeom prst="roundRect">
            <a:avLst>
              <a:gd name="adj" fmla="val 6316"/>
            </a:avLst>
          </a:prstGeom>
          <a:solidFill>
            <a:srgbClr val="1D1C3D"/>
          </a:solidFill>
          <a:ln/>
          <a:effectLst>
            <a:outerShdw blurRad="203200" dist="76200" dir="5400000" algn="bl" rotWithShape="0">
              <a:srgbClr val="1A1836">
                <a:alpha val="2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658368" y="1783080"/>
            <a:ext cx="6035040" cy="457200"/>
          </a:xfrm>
          <a:prstGeom prst="roundRect">
            <a:avLst>
              <a:gd name="adj" fmla="val 24000"/>
            </a:avLst>
          </a:prstGeom>
          <a:solidFill>
            <a:srgbClr val="2A2856"/>
          </a:solidFill>
          <a:ln/>
        </p:spPr>
      </p:sp>
      <p:sp>
        <p:nvSpPr>
          <p:cNvPr id="9" name="Shape 6"/>
          <p:cNvSpPr/>
          <p:nvPr/>
        </p:nvSpPr>
        <p:spPr>
          <a:xfrm>
            <a:off x="658368" y="2039112"/>
            <a:ext cx="6035040" cy="128016"/>
          </a:xfrm>
          <a:prstGeom prst="rect">
            <a:avLst/>
          </a:prstGeom>
          <a:solidFill>
            <a:srgbClr val="1D1C3D"/>
          </a:solidFill>
          <a:ln/>
        </p:spPr>
      </p:sp>
      <p:sp>
        <p:nvSpPr>
          <p:cNvPr id="10" name="Shape 7"/>
          <p:cNvSpPr/>
          <p:nvPr/>
        </p:nvSpPr>
        <p:spPr>
          <a:xfrm>
            <a:off x="859536" y="1911096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1" name="Shape 8"/>
          <p:cNvSpPr/>
          <p:nvPr/>
        </p:nvSpPr>
        <p:spPr>
          <a:xfrm>
            <a:off x="1060704" y="1911096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2" name="Shape 9"/>
          <p:cNvSpPr/>
          <p:nvPr/>
        </p:nvSpPr>
        <p:spPr>
          <a:xfrm>
            <a:off x="1261872" y="1911096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3" name="Text 10"/>
          <p:cNvSpPr/>
          <p:nvPr/>
        </p:nvSpPr>
        <p:spPr>
          <a:xfrm>
            <a:off x="1481328" y="1783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9A9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run.py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914400" y="2313432"/>
            <a:ext cx="5577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 = </a:t>
            </a:r>
            <a:r>
              <a:rPr lang="en-US" sz="1250" dirty="0">
                <a:solidFill>
                  <a:srgbClr val="9FE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"ababcabcababd"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 = </a:t>
            </a:r>
            <a:r>
              <a:rPr lang="en-US" sz="1250" dirty="0">
                <a:solidFill>
                  <a:srgbClr val="9FE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"abc"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(bf_string_match(T, P))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출력: [2, 5]  ← 패턴 등장 위치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104888" y="1783080"/>
            <a:ext cx="4428439" cy="1737360"/>
          </a:xfrm>
          <a:prstGeom prst="roundRect">
            <a:avLst>
              <a:gd name="adj" fmla="val 7368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7360920" y="1938528"/>
            <a:ext cx="397123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 복잡도 분석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7360920" y="2286000"/>
            <a:ext cx="3971239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 위치: 최대 n-m+1개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위치: 최대 m번 비교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최악: (n-m+1) × m </a:t>
            </a:r>
            <a:r>
              <a:rPr lang="en-US" sz="140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≈ O(n×m)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658368" y="3840480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탐색 → 고급 알고리즘으로의 발전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658368" y="4297680"/>
            <a:ext cx="2926080" cy="822960"/>
          </a:xfrm>
          <a:prstGeom prst="roundRect">
            <a:avLst>
              <a:gd name="adj" fmla="val 15556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841248" y="42976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Brute Force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441448" y="4480560"/>
            <a:ext cx="960120" cy="457200"/>
          </a:xfrm>
          <a:prstGeom prst="roundRect">
            <a:avLst>
              <a:gd name="adj" fmla="val 16000"/>
            </a:avLst>
          </a:prstGeom>
          <a:solidFill>
            <a:srgbClr val="FB7185"/>
          </a:solidFill>
          <a:ln/>
        </p:spPr>
      </p:sp>
      <p:sp>
        <p:nvSpPr>
          <p:cNvPr id="22" name="Text 19"/>
          <p:cNvSpPr/>
          <p:nvPr/>
        </p:nvSpPr>
        <p:spPr>
          <a:xfrm>
            <a:off x="2441448" y="4480560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O(nm)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3971468" y="4581144"/>
            <a:ext cx="274320" cy="256032"/>
          </a:xfrm>
          <a:prstGeom prst="rightArrow">
            <a:avLst/>
          </a:prstGeom>
          <a:solidFill>
            <a:srgbClr val="E7E6FB"/>
          </a:solidFill>
          <a:ln/>
        </p:spPr>
      </p:sp>
      <p:sp>
        <p:nvSpPr>
          <p:cNvPr id="24" name="Shape 21"/>
          <p:cNvSpPr/>
          <p:nvPr/>
        </p:nvSpPr>
        <p:spPr>
          <a:xfrm>
            <a:off x="4632808" y="4297680"/>
            <a:ext cx="2926080" cy="822960"/>
          </a:xfrm>
          <a:prstGeom prst="roundRect">
            <a:avLst>
              <a:gd name="adj" fmla="val 15556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4815688" y="42976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KMP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6415888" y="4480560"/>
            <a:ext cx="960120" cy="457200"/>
          </a:xfrm>
          <a:prstGeom prst="roundRect">
            <a:avLst>
              <a:gd name="adj" fmla="val 16000"/>
            </a:avLst>
          </a:prstGeom>
          <a:solidFill>
            <a:srgbClr val="F59E0B"/>
          </a:solidFill>
          <a:ln/>
        </p:spPr>
      </p:sp>
      <p:sp>
        <p:nvSpPr>
          <p:cNvPr id="27" name="Text 24"/>
          <p:cNvSpPr/>
          <p:nvPr/>
        </p:nvSpPr>
        <p:spPr>
          <a:xfrm>
            <a:off x="6415888" y="4480560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O(n+m)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7945907" y="4581144"/>
            <a:ext cx="274320" cy="256032"/>
          </a:xfrm>
          <a:prstGeom prst="rightArrow">
            <a:avLst/>
          </a:prstGeom>
          <a:solidFill>
            <a:srgbClr val="E7E6FB"/>
          </a:solidFill>
          <a:ln/>
        </p:spPr>
      </p:sp>
      <p:sp>
        <p:nvSpPr>
          <p:cNvPr id="29" name="Shape 26"/>
          <p:cNvSpPr/>
          <p:nvPr/>
        </p:nvSpPr>
        <p:spPr>
          <a:xfrm>
            <a:off x="8607247" y="4297680"/>
            <a:ext cx="2926080" cy="822960"/>
          </a:xfrm>
          <a:prstGeom prst="roundRect">
            <a:avLst>
              <a:gd name="adj" fmla="val 15556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30" name="Text 27"/>
          <p:cNvSpPr/>
          <p:nvPr/>
        </p:nvSpPr>
        <p:spPr>
          <a:xfrm>
            <a:off x="8790127" y="42976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Boyer-Moore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10390327" y="4480560"/>
            <a:ext cx="960120" cy="457200"/>
          </a:xfrm>
          <a:prstGeom prst="roundRect">
            <a:avLst>
              <a:gd name="adj" fmla="val 16000"/>
            </a:avLst>
          </a:prstGeom>
          <a:solidFill>
            <a:srgbClr val="10B981"/>
          </a:solidFill>
          <a:ln/>
        </p:spPr>
      </p:sp>
      <p:sp>
        <p:nvSpPr>
          <p:cNvPr id="32" name="Text 29"/>
          <p:cNvSpPr/>
          <p:nvPr/>
        </p:nvSpPr>
        <p:spPr>
          <a:xfrm>
            <a:off x="10390327" y="4480560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O(n/m)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658368" y="5349240"/>
            <a:ext cx="10874959" cy="502920"/>
          </a:xfrm>
          <a:prstGeom prst="roundRect">
            <a:avLst>
              <a:gd name="adj" fmla="val 21818"/>
            </a:avLst>
          </a:prstGeom>
          <a:solidFill>
            <a:srgbClr val="EEF0FF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914400" y="5372100"/>
            <a:ext cx="457200" cy="457200"/>
          </a:xfrm>
          <a:prstGeom prst="ellipse">
            <a:avLst/>
          </a:prstGeom>
          <a:solidFill>
            <a:srgbClr val="F59E0B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35" name="Image 1" descr="/home/claude/icons/bulb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" y="5486400"/>
            <a:ext cx="228600" cy="228600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1627632" y="5349240"/>
            <a:ext cx="96313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30"/>
              </a:lnSpc>
              <a:buNone/>
            </a:pPr>
            <a:r>
              <a:rPr lang="en-US" sz="130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DNA 시퀀싱에도 활용! </a:t>
            </a:r>
            <a:r>
              <a:rPr lang="en-US" sz="13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유전자 배열 ACGACAC…에서 특정 패턴 ACATA를 찾는 작업이 대표적입니다.</a:t>
            </a:r>
            <a:endParaRPr lang="en-US" sz="1300" dirty="0"/>
          </a:p>
        </p:txBody>
      </p:sp>
      <p:sp>
        <p:nvSpPr>
          <p:cNvPr id="37" name="Text 33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1499616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search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133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2.5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예제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835"/>
              </a:lnSpc>
              <a:buNone/>
            </a:pPr>
            <a:r>
              <a:rPr lang="en-US" sz="27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가까운 두 수 (Closest Pair)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658368" y="1737360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17"/>
              </a:lnSpc>
              <a:buNone/>
            </a:pPr>
            <a:r>
              <a:rPr lang="en-US" sz="135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[10, 3, 22, 15, 17, 9] → 차이가 가장 작은 두 수는? 모든 쌍을 검사하는 전형적 완전 탐색.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58368" y="2194560"/>
            <a:ext cx="6766560" cy="3246120"/>
          </a:xfrm>
          <a:prstGeom prst="roundRect">
            <a:avLst>
              <a:gd name="adj" fmla="val 3380"/>
            </a:avLst>
          </a:prstGeom>
          <a:solidFill>
            <a:srgbClr val="1D1C3D"/>
          </a:solidFill>
          <a:ln/>
          <a:effectLst>
            <a:outerShdw blurRad="203200" dist="76200" dir="5400000" algn="bl" rotWithShape="0">
              <a:srgbClr val="1A1836">
                <a:alpha val="2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58368" y="2194560"/>
            <a:ext cx="6766560" cy="457200"/>
          </a:xfrm>
          <a:prstGeom prst="roundRect">
            <a:avLst>
              <a:gd name="adj" fmla="val 24000"/>
            </a:avLst>
          </a:prstGeom>
          <a:solidFill>
            <a:srgbClr val="2A2856"/>
          </a:solidFill>
          <a:ln/>
        </p:spPr>
      </p:sp>
      <p:sp>
        <p:nvSpPr>
          <p:cNvPr id="10" name="Shape 7"/>
          <p:cNvSpPr/>
          <p:nvPr/>
        </p:nvSpPr>
        <p:spPr>
          <a:xfrm>
            <a:off x="658368" y="2450592"/>
            <a:ext cx="6766560" cy="128016"/>
          </a:xfrm>
          <a:prstGeom prst="rect">
            <a:avLst/>
          </a:prstGeom>
          <a:solidFill>
            <a:srgbClr val="1D1C3D"/>
          </a:solidFill>
          <a:ln/>
        </p:spPr>
      </p:sp>
      <p:sp>
        <p:nvSpPr>
          <p:cNvPr id="11" name="Shape 8"/>
          <p:cNvSpPr/>
          <p:nvPr/>
        </p:nvSpPr>
        <p:spPr>
          <a:xfrm>
            <a:off x="859536" y="2322576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2" name="Shape 9"/>
          <p:cNvSpPr/>
          <p:nvPr/>
        </p:nvSpPr>
        <p:spPr>
          <a:xfrm>
            <a:off x="1060704" y="2322576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3" name="Shape 10"/>
          <p:cNvSpPr/>
          <p:nvPr/>
        </p:nvSpPr>
        <p:spPr>
          <a:xfrm>
            <a:off x="1261872" y="2322576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4" name="Text 11"/>
          <p:cNvSpPr/>
          <p:nvPr/>
        </p:nvSpPr>
        <p:spPr>
          <a:xfrm>
            <a:off x="1481328" y="219456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9A9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closest_pair.py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914400" y="2748534"/>
            <a:ext cx="63093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closest_pair(arr):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min_diff = </a:t>
            </a: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9FE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'inf'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          </a:t>
            </a:r>
            <a:r>
              <a:rPr lang="en-US" sz="130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무한대로 초기화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best = </a:t>
            </a: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None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i </a:t>
            </a: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(arr) - </a:t>
            </a:r>
            <a:r>
              <a:rPr lang="en-US" sz="13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j </a:t>
            </a: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 + </a:t>
            </a:r>
            <a:r>
              <a:rPr lang="en-US" sz="13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(arr)):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diff = </a:t>
            </a: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abs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(arr[i] - arr[j])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</a:t>
            </a: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diff &lt; min_diff: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    min_diff = diff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    best = (arr[i], arr[j])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best, min_diff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7790688" y="2194560"/>
            <a:ext cx="3742639" cy="1600200"/>
          </a:xfrm>
          <a:prstGeom prst="roundRect">
            <a:avLst>
              <a:gd name="adj" fmla="val 8000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8046720" y="2340864"/>
            <a:ext cx="32854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046720" y="2651760"/>
            <a:ext cx="328543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C3B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[10,3,22,15,17,9]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7790688" y="2962656"/>
            <a:ext cx="37426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8046720" y="3218688"/>
            <a:ext cx="328543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4338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 (10, 9), 1 )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7790688" y="3977640"/>
            <a:ext cx="3742639" cy="1463040"/>
          </a:xfrm>
          <a:prstGeom prst="roundRect">
            <a:avLst>
              <a:gd name="adj" fmla="val 8750"/>
            </a:avLst>
          </a:prstGeom>
          <a:solidFill>
            <a:srgbClr val="17163A"/>
          </a:solidFill>
          <a:ln/>
          <a:effectLst>
            <a:outerShdw blurRad="127000" dist="50800" dir="5400000" algn="bl" rotWithShape="0">
              <a:srgbClr val="1A1836">
                <a:alpha val="22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7790688" y="4206240"/>
            <a:ext cx="37426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O(n²)</a:t>
            </a:r>
            <a:endParaRPr lang="en-US" sz="3000" dirty="0"/>
          </a:p>
        </p:txBody>
      </p:sp>
      <p:sp>
        <p:nvSpPr>
          <p:cNvPr id="23" name="Text 20"/>
          <p:cNvSpPr/>
          <p:nvPr/>
        </p:nvSpPr>
        <p:spPr>
          <a:xfrm>
            <a:off x="7790688" y="4736592"/>
            <a:ext cx="374263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8C6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쌍 비교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658368" y="5532120"/>
            <a:ext cx="6766560" cy="365760"/>
          </a:xfrm>
          <a:prstGeom prst="roundRect">
            <a:avLst>
              <a:gd name="adj" fmla="val 25000"/>
            </a:avLst>
          </a:prstGeom>
          <a:solidFill>
            <a:srgbClr val="EEF0FF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932688" y="553212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2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분할 정복의 ‘최근접 점 문제’로 발전 → O(n log n)으로 개선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1499616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search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133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2.5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예제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부분 집합 만들기 (Power Set)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658368" y="1737360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17"/>
              </a:lnSpc>
              <a:buNone/>
            </a:pPr>
            <a:r>
              <a:rPr lang="en-US" sz="135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{A, B, C} → 공집합 포함 총 2³ = 8개의 부분집합. 비트마스크로 생성한다.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58368" y="2194560"/>
            <a:ext cx="6400800" cy="3246120"/>
          </a:xfrm>
          <a:prstGeom prst="roundRect">
            <a:avLst>
              <a:gd name="adj" fmla="val 3380"/>
            </a:avLst>
          </a:prstGeom>
          <a:solidFill>
            <a:srgbClr val="1D1C3D"/>
          </a:solidFill>
          <a:ln/>
          <a:effectLst>
            <a:outerShdw blurRad="203200" dist="76200" dir="5400000" algn="bl" rotWithShape="0">
              <a:srgbClr val="1A1836">
                <a:alpha val="2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58368" y="2194560"/>
            <a:ext cx="6400800" cy="457200"/>
          </a:xfrm>
          <a:prstGeom prst="roundRect">
            <a:avLst>
              <a:gd name="adj" fmla="val 24000"/>
            </a:avLst>
          </a:prstGeom>
          <a:solidFill>
            <a:srgbClr val="2A2856"/>
          </a:solidFill>
          <a:ln/>
        </p:spPr>
      </p:sp>
      <p:sp>
        <p:nvSpPr>
          <p:cNvPr id="10" name="Shape 7"/>
          <p:cNvSpPr/>
          <p:nvPr/>
        </p:nvSpPr>
        <p:spPr>
          <a:xfrm>
            <a:off x="658368" y="2450592"/>
            <a:ext cx="6400800" cy="128016"/>
          </a:xfrm>
          <a:prstGeom prst="rect">
            <a:avLst/>
          </a:prstGeom>
          <a:solidFill>
            <a:srgbClr val="1D1C3D"/>
          </a:solidFill>
          <a:ln/>
        </p:spPr>
      </p:sp>
      <p:sp>
        <p:nvSpPr>
          <p:cNvPr id="11" name="Shape 8"/>
          <p:cNvSpPr/>
          <p:nvPr/>
        </p:nvSpPr>
        <p:spPr>
          <a:xfrm>
            <a:off x="859536" y="2322576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2" name="Shape 9"/>
          <p:cNvSpPr/>
          <p:nvPr/>
        </p:nvSpPr>
        <p:spPr>
          <a:xfrm>
            <a:off x="1060704" y="2322576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3" name="Shape 10"/>
          <p:cNvSpPr/>
          <p:nvPr/>
        </p:nvSpPr>
        <p:spPr>
          <a:xfrm>
            <a:off x="1261872" y="2322576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4" name="Text 11"/>
          <p:cNvSpPr/>
          <p:nvPr/>
        </p:nvSpPr>
        <p:spPr>
          <a:xfrm>
            <a:off x="1481328" y="219456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9A9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power_set.py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914400" y="2745740"/>
            <a:ext cx="59436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power_set(arr):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n = </a:t>
            </a:r>
            <a:r>
              <a:rPr lang="en-US" sz="12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(arr)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subsets = []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i </a:t>
            </a: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2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&lt;&lt; n):     </a:t>
            </a:r>
            <a:r>
              <a:rPr lang="en-US" sz="12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0 ~ 2^n - 1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cur = []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j </a:t>
            </a: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2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(n):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</a:t>
            </a: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i &amp; (</a:t>
            </a:r>
            <a:r>
              <a:rPr lang="en-US" sz="12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&lt;&lt; j):    </a:t>
            </a:r>
            <a:r>
              <a:rPr lang="en-US" sz="12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j번째 비트가 1이면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    cur.append(arr[j])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subsets.append(cur)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subsets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7470648" y="2194560"/>
            <a:ext cx="40626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비트마스크 대응표</a:t>
            </a:r>
            <a:endParaRPr lang="en-US" sz="125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70648" y="2542032"/>
          <a:ext cx="3931920" cy="2688336"/>
        </p:xfrm>
        <a:graphic>
          <a:graphicData uri="http://schemas.openxmlformats.org/drawingml/2006/table">
            <a:tbl>
              <a:tblPr/>
              <a:tblGrid>
                <a:gridCol w="82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2진수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부분집합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000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001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{A}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010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{B}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011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{A,B}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{A,C}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{A,B,C}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8" name="Shape 14"/>
          <p:cNvSpPr/>
          <p:nvPr/>
        </p:nvSpPr>
        <p:spPr>
          <a:xfrm>
            <a:off x="658368" y="5532120"/>
            <a:ext cx="10874959" cy="365760"/>
          </a:xfrm>
          <a:prstGeom prst="roundRect">
            <a:avLst>
              <a:gd name="adj" fmla="val 25000"/>
            </a:avLst>
          </a:prstGeom>
          <a:solidFill>
            <a:srgbClr val="EEF0FF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19" name="Text 15"/>
          <p:cNvSpPr/>
          <p:nvPr/>
        </p:nvSpPr>
        <p:spPr>
          <a:xfrm>
            <a:off x="932688" y="5532120"/>
            <a:ext cx="103263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2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&lt;&lt; n = 2ⁿ   |   i &amp; (1 &lt;&lt; j) = i의 j번째 비트 검사   |   비트 연산이 동적 계획법 상태 표현의 핵심!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716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89320" y="182880"/>
            <a:ext cx="6199632" cy="6583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5500" b="1" dirty="0">
                <a:solidFill>
                  <a:srgbClr val="201E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2.6</a:t>
            </a:r>
            <a:endParaRPr lang="en-US" sz="255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28016" cy="12801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4" name="Shape 2"/>
          <p:cNvSpPr/>
          <p:nvPr/>
        </p:nvSpPr>
        <p:spPr>
          <a:xfrm>
            <a:off x="1133856" y="1371600"/>
            <a:ext cx="128016" cy="128016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5" name="Shape 3"/>
          <p:cNvSpPr/>
          <p:nvPr/>
        </p:nvSpPr>
        <p:spPr>
          <a:xfrm>
            <a:off x="1444752" y="1371600"/>
            <a:ext cx="128016" cy="128016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828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SECTION 2.6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68680" y="2423160"/>
            <a:ext cx="822960" cy="822960"/>
          </a:xfrm>
          <a:prstGeom prst="ellipse">
            <a:avLst/>
          </a:prstGeom>
          <a:solidFill>
            <a:srgbClr val="FB7185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8" name="Image 0" descr="/home/claude/icons/warn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" y="2628900"/>
            <a:ext cx="411480" cy="4114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874520" y="2377440"/>
            <a:ext cx="8595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 복잡도와 조합적 폭발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896112" y="3611880"/>
            <a:ext cx="7955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550" dirty="0">
                <a:solidFill>
                  <a:srgbClr val="C8C6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탐색의 치명적 약점 — 입력이 조금만 커져도 경우의 수가 폭발적으로 증가합니다.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A6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103120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warn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2.6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조합적 폭발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조합적 폭발 (Combinatorial Explosion)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658368" y="1737360"/>
            <a:ext cx="1087495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88"/>
              </a:lnSpc>
              <a:buNone/>
            </a:pPr>
            <a:r>
              <a:rPr lang="en-US" sz="14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크기가 조금만 커져도 경우의 수가 감당할 수 없이 늘어납니다. 세 가지 대표 유형을 봅시다.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58368" y="2286000"/>
            <a:ext cx="3381146" cy="3063240"/>
          </a:xfrm>
          <a:prstGeom prst="roundRect">
            <a:avLst>
              <a:gd name="adj" fmla="val 4179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1937461" y="2578608"/>
            <a:ext cx="822960" cy="822960"/>
          </a:xfrm>
          <a:prstGeom prst="ellipse">
            <a:avLst/>
          </a:prstGeom>
          <a:solidFill>
            <a:srgbClr val="4F46E5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0" name="Image 1" descr="/home/claude/icons/layers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3201" y="2784348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58368" y="3493008"/>
            <a:ext cx="33811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다항 시간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1571701" y="3886200"/>
            <a:ext cx="1554480" cy="502920"/>
          </a:xfrm>
          <a:prstGeom prst="roundRect">
            <a:avLst>
              <a:gd name="adj" fmla="val 18182"/>
            </a:avLst>
          </a:prstGeom>
          <a:solidFill>
            <a:srgbClr val="17163A"/>
          </a:solidFill>
          <a:ln/>
        </p:spPr>
      </p:sp>
      <p:sp>
        <p:nvSpPr>
          <p:cNvPr id="13" name="Text 9"/>
          <p:cNvSpPr/>
          <p:nvPr/>
        </p:nvSpPr>
        <p:spPr>
          <a:xfrm>
            <a:off x="1571701" y="388620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O(nᵏ)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886968" y="4480560"/>
            <a:ext cx="292394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반복문 중첩</a:t>
            </a:r>
            <a:endParaRPr lang="en-US" sz="1200" dirty="0"/>
          </a:p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(이중·삼중 for)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658368" y="4892040"/>
            <a:ext cx="338114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n=20 → </a:t>
            </a: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400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4405274" y="2286000"/>
            <a:ext cx="3381146" cy="3063240"/>
          </a:xfrm>
          <a:prstGeom prst="roundRect">
            <a:avLst>
              <a:gd name="adj" fmla="val 4179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5684368" y="2578608"/>
            <a:ext cx="822960" cy="822960"/>
          </a:xfrm>
          <a:prstGeom prst="ellipse">
            <a:avLst/>
          </a:prstGeom>
          <a:solidFill>
            <a:srgbClr val="7C3AED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8" name="Image 2" descr="/home/claude/icons/bolt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90108" y="2784348"/>
            <a:ext cx="411480" cy="41148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4405274" y="3493008"/>
            <a:ext cx="33811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지수 시간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5318608" y="3886200"/>
            <a:ext cx="1554480" cy="502920"/>
          </a:xfrm>
          <a:prstGeom prst="roundRect">
            <a:avLst>
              <a:gd name="adj" fmla="val 18182"/>
            </a:avLst>
          </a:prstGeom>
          <a:solidFill>
            <a:srgbClr val="17163A"/>
          </a:solidFill>
          <a:ln/>
        </p:spPr>
      </p:sp>
      <p:sp>
        <p:nvSpPr>
          <p:cNvPr id="21" name="Text 16"/>
          <p:cNvSpPr/>
          <p:nvPr/>
        </p:nvSpPr>
        <p:spPr>
          <a:xfrm>
            <a:off x="5318608" y="388620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O(2ⁿ)</a:t>
            </a:r>
            <a:endParaRPr lang="en-US" sz="1700" dirty="0"/>
          </a:p>
        </p:txBody>
      </p:sp>
      <p:sp>
        <p:nvSpPr>
          <p:cNvPr id="22" name="Text 17"/>
          <p:cNvSpPr/>
          <p:nvPr/>
        </p:nvSpPr>
        <p:spPr>
          <a:xfrm>
            <a:off x="4633874" y="4480560"/>
            <a:ext cx="292394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선택의 연속</a:t>
            </a:r>
            <a:endParaRPr lang="en-US" sz="1200" dirty="0"/>
          </a:p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(포함/비포함)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4405274" y="4892040"/>
            <a:ext cx="338114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n=20 → </a:t>
            </a:r>
            <a:r>
              <a:rPr lang="en-US" sz="1300" b="1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100만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8152181" y="2286000"/>
            <a:ext cx="3381146" cy="3063240"/>
          </a:xfrm>
          <a:prstGeom prst="roundRect">
            <a:avLst>
              <a:gd name="adj" fmla="val 4179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9431274" y="2578608"/>
            <a:ext cx="822960" cy="822960"/>
          </a:xfrm>
          <a:prstGeom prst="ellipse">
            <a:avLst/>
          </a:prstGeom>
          <a:solidFill>
            <a:srgbClr val="FB7185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26" name="Image 3" descr="/home/claude/icons/warn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7014" y="2784348"/>
            <a:ext cx="411480" cy="41148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8152181" y="3493008"/>
            <a:ext cx="33811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팩토리얼</a:t>
            </a:r>
            <a:endParaRPr lang="en-US" sz="1600" dirty="0"/>
          </a:p>
        </p:txBody>
      </p:sp>
      <p:sp>
        <p:nvSpPr>
          <p:cNvPr id="28" name="Shape 22"/>
          <p:cNvSpPr/>
          <p:nvPr/>
        </p:nvSpPr>
        <p:spPr>
          <a:xfrm>
            <a:off x="9065514" y="3886200"/>
            <a:ext cx="1554480" cy="502920"/>
          </a:xfrm>
          <a:prstGeom prst="roundRect">
            <a:avLst>
              <a:gd name="adj" fmla="val 18182"/>
            </a:avLst>
          </a:prstGeom>
          <a:solidFill>
            <a:srgbClr val="17163A"/>
          </a:solidFill>
          <a:ln/>
        </p:spPr>
      </p:sp>
      <p:sp>
        <p:nvSpPr>
          <p:cNvPr id="29" name="Text 23"/>
          <p:cNvSpPr/>
          <p:nvPr/>
        </p:nvSpPr>
        <p:spPr>
          <a:xfrm>
            <a:off x="9065514" y="388620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O(n!)</a:t>
            </a:r>
            <a:endParaRPr lang="en-US" sz="1700" dirty="0"/>
          </a:p>
        </p:txBody>
      </p:sp>
      <p:sp>
        <p:nvSpPr>
          <p:cNvPr id="30" name="Text 24"/>
          <p:cNvSpPr/>
          <p:nvPr/>
        </p:nvSpPr>
        <p:spPr>
          <a:xfrm>
            <a:off x="8380781" y="4480560"/>
            <a:ext cx="292394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순서 나열</a:t>
            </a:r>
            <a:endParaRPr lang="en-US" sz="1200" dirty="0"/>
          </a:p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(순열, TSP)</a:t>
            </a:r>
            <a:endParaRPr lang="en-US" sz="1200" dirty="0"/>
          </a:p>
        </p:txBody>
      </p:sp>
      <p:sp>
        <p:nvSpPr>
          <p:cNvPr id="31" name="Text 25"/>
          <p:cNvSpPr/>
          <p:nvPr/>
        </p:nvSpPr>
        <p:spPr>
          <a:xfrm>
            <a:off x="8152181" y="4892040"/>
            <a:ext cx="338114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n=20 → </a:t>
            </a:r>
            <a:r>
              <a:rPr lang="en-US" sz="130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2.4×10¹⁸</a:t>
            </a:r>
            <a:endParaRPr lang="en-US" sz="1200" dirty="0"/>
          </a:p>
        </p:txBody>
      </p:sp>
      <p:sp>
        <p:nvSpPr>
          <p:cNvPr id="32" name="Text 26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103120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warn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2.6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조합적 폭발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n에 따른 경우의 수 비교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658368" y="1737360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88"/>
              </a:lnSpc>
              <a:buNone/>
            </a:pPr>
            <a:r>
              <a:rPr lang="en-US" sz="14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n이 조금만 커져도 현실적으로 불가능한 계산량이 됩니다.</a:t>
            </a:r>
            <a:endParaRPr lang="en-US" sz="14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2212848"/>
          <a:ext cx="10908792" cy="2743200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n! (팩토리얼)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2ⁿ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nⁿ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120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32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3,125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3,628,800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1,024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10,000,000,000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FB718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FB718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2.43 × 10¹⁸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1,048,576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FB718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1.05 × 10²⁶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30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2.65 × 10³²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1.07 × 10⁹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2.06 × 10⁴⁴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658368" y="5193792"/>
            <a:ext cx="10874959" cy="658368"/>
          </a:xfrm>
          <a:prstGeom prst="roundRect">
            <a:avLst>
              <a:gd name="adj" fmla="val 19444"/>
            </a:avLst>
          </a:prstGeom>
          <a:solidFill>
            <a:srgbClr val="17163A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914400" y="5294376"/>
            <a:ext cx="457200" cy="457200"/>
          </a:xfrm>
          <a:prstGeom prst="ellipse">
            <a:avLst/>
          </a:prstGeom>
          <a:solidFill>
            <a:srgbClr val="FB7185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1" name="Image 1" descr="/home/claude/icons/clo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" y="5408676"/>
            <a:ext cx="228600" cy="2286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627632" y="5193792"/>
            <a:ext cx="96313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10"/>
              </a:lnSpc>
              <a:buNone/>
            </a:pPr>
            <a:r>
              <a:rPr lang="en-US" sz="1400" dirty="0">
                <a:solidFill>
                  <a:srgbClr val="D9D7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n=20, 팩토리얼: </a:t>
            </a:r>
            <a:r>
              <a:rPr lang="en-US" sz="1400" b="1" dirty="0">
                <a:solidFill>
                  <a:srgbClr val="9CC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1초에 1억 번</a:t>
            </a:r>
            <a:r>
              <a:rPr lang="en-US" sz="1400" dirty="0">
                <a:solidFill>
                  <a:srgbClr val="D9D7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계산하는 컴퓨터로도 약 </a:t>
            </a:r>
            <a:r>
              <a:rPr lang="en-US" sz="16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770년!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103120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warn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2.6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조합적 폭발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비밀번호 자릿수와 완전 탐색의 한계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658368" y="1737360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88"/>
              </a:lnSpc>
              <a:buNone/>
            </a:pPr>
            <a:r>
              <a:rPr lang="en-US" sz="14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자릿수가 늘수록 경우의 수는 10배씩 커지고, 완전 탐색은 곧 불가능해집니다.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58368" y="2286000"/>
            <a:ext cx="10874959" cy="658368"/>
          </a:xfrm>
          <a:prstGeom prst="roundRect">
            <a:avLst>
              <a:gd name="adj" fmla="val 19444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59536" y="2386584"/>
            <a:ext cx="1371600" cy="457200"/>
          </a:xfrm>
          <a:prstGeom prst="roundRect">
            <a:avLst>
              <a:gd name="adj" fmla="val 18000"/>
            </a:avLst>
          </a:prstGeom>
          <a:solidFill>
            <a:srgbClr val="10B981"/>
          </a:solidFill>
          <a:ln/>
        </p:spPr>
      </p:sp>
      <p:sp>
        <p:nvSpPr>
          <p:cNvPr id="10" name="Text 7"/>
          <p:cNvSpPr/>
          <p:nvPr/>
        </p:nvSpPr>
        <p:spPr>
          <a:xfrm>
            <a:off x="859536" y="238658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4자리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2487168" y="2286000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1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10,000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327648" y="2286000"/>
            <a:ext cx="502279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50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몇 초 안에 가능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658368" y="3044952"/>
            <a:ext cx="10874959" cy="658368"/>
          </a:xfrm>
          <a:prstGeom prst="roundRect">
            <a:avLst>
              <a:gd name="adj" fmla="val 19444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59536" y="3145536"/>
            <a:ext cx="1371600" cy="457200"/>
          </a:xfrm>
          <a:prstGeom prst="roundRect">
            <a:avLst>
              <a:gd name="adj" fmla="val 18000"/>
            </a:avLst>
          </a:prstGeom>
          <a:solidFill>
            <a:srgbClr val="38BDF8"/>
          </a:solidFill>
          <a:ln/>
        </p:spPr>
      </p:sp>
      <p:sp>
        <p:nvSpPr>
          <p:cNvPr id="15" name="Text 12"/>
          <p:cNvSpPr/>
          <p:nvPr/>
        </p:nvSpPr>
        <p:spPr>
          <a:xfrm>
            <a:off x="859536" y="314553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6자리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2487168" y="3044952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1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1,000,000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327648" y="3044952"/>
            <a:ext cx="502279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손으로 시도 불가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658368" y="3803904"/>
            <a:ext cx="10874959" cy="658368"/>
          </a:xfrm>
          <a:prstGeom prst="roundRect">
            <a:avLst>
              <a:gd name="adj" fmla="val 19444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859536" y="3904488"/>
            <a:ext cx="1371600" cy="457200"/>
          </a:xfrm>
          <a:prstGeom prst="roundRect">
            <a:avLst>
              <a:gd name="adj" fmla="val 18000"/>
            </a:avLst>
          </a:prstGeom>
          <a:solidFill>
            <a:srgbClr val="F59E0B"/>
          </a:solidFill>
          <a:ln/>
        </p:spPr>
      </p:sp>
      <p:sp>
        <p:nvSpPr>
          <p:cNvPr id="20" name="Text 17"/>
          <p:cNvSpPr/>
          <p:nvPr/>
        </p:nvSpPr>
        <p:spPr>
          <a:xfrm>
            <a:off x="859536" y="39044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8자리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2487168" y="3803904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1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100,000,000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6327648" y="3803904"/>
            <a:ext cx="502279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초당 1만 번 → 약 3시간</a:t>
            </a:r>
            <a:endParaRPr lang="en-US" sz="1350" dirty="0"/>
          </a:p>
        </p:txBody>
      </p:sp>
      <p:sp>
        <p:nvSpPr>
          <p:cNvPr id="23" name="Shape 20"/>
          <p:cNvSpPr/>
          <p:nvPr/>
        </p:nvSpPr>
        <p:spPr>
          <a:xfrm>
            <a:off x="658368" y="4562856"/>
            <a:ext cx="10874959" cy="658368"/>
          </a:xfrm>
          <a:prstGeom prst="roundRect">
            <a:avLst>
              <a:gd name="adj" fmla="val 19444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859536" y="4663440"/>
            <a:ext cx="1371600" cy="457200"/>
          </a:xfrm>
          <a:prstGeom prst="roundRect">
            <a:avLst>
              <a:gd name="adj" fmla="val 18000"/>
            </a:avLst>
          </a:prstGeom>
          <a:solidFill>
            <a:srgbClr val="FB7185"/>
          </a:solidFill>
          <a:ln/>
        </p:spPr>
      </p:sp>
      <p:sp>
        <p:nvSpPr>
          <p:cNvPr id="25" name="Text 22"/>
          <p:cNvSpPr/>
          <p:nvPr/>
        </p:nvSpPr>
        <p:spPr>
          <a:xfrm>
            <a:off x="859536" y="46634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12자리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2487168" y="4562856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1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1,000,000,000,000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6327648" y="4562856"/>
            <a:ext cx="502279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50" b="1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초당 1만 번 → 약 3년</a:t>
            </a:r>
            <a:endParaRPr lang="en-US" sz="1350" dirty="0"/>
          </a:p>
        </p:txBody>
      </p:sp>
      <p:sp>
        <p:nvSpPr>
          <p:cNvPr id="28" name="Shape 25"/>
          <p:cNvSpPr/>
          <p:nvPr/>
        </p:nvSpPr>
        <p:spPr>
          <a:xfrm>
            <a:off x="658368" y="5321808"/>
            <a:ext cx="10874959" cy="658368"/>
          </a:xfrm>
          <a:prstGeom prst="roundRect">
            <a:avLst>
              <a:gd name="adj" fmla="val 19444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859536" y="5422392"/>
            <a:ext cx="1371600" cy="457200"/>
          </a:xfrm>
          <a:prstGeom prst="roundRect">
            <a:avLst>
              <a:gd name="adj" fmla="val 18000"/>
            </a:avLst>
          </a:prstGeom>
          <a:solidFill>
            <a:srgbClr val="FB7185"/>
          </a:solidFill>
          <a:ln/>
        </p:spPr>
      </p:sp>
      <p:sp>
        <p:nvSpPr>
          <p:cNvPr id="30" name="Text 27"/>
          <p:cNvSpPr/>
          <p:nvPr/>
        </p:nvSpPr>
        <p:spPr>
          <a:xfrm>
            <a:off x="859536" y="542239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20자리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2487168" y="5321808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1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10²⁰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6327648" y="5321808"/>
            <a:ext cx="502279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50" b="1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초당 1만 번 → 3억 년!</a:t>
            </a:r>
            <a:endParaRPr lang="en-US" sz="1350" dirty="0"/>
          </a:p>
        </p:txBody>
      </p:sp>
      <p:sp>
        <p:nvSpPr>
          <p:cNvPr id="33" name="Text 30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31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103120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warn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2.6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조합적 폭발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778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예제 2.3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58368" y="1133856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부분집합 생성과 O(2ⁿ)</a:t>
            </a:r>
            <a:endParaRPr lang="en-US" sz="2900" dirty="0"/>
          </a:p>
        </p:txBody>
      </p:sp>
      <p:sp>
        <p:nvSpPr>
          <p:cNvPr id="8" name="Text 5"/>
          <p:cNvSpPr/>
          <p:nvPr/>
        </p:nvSpPr>
        <p:spPr>
          <a:xfrm>
            <a:off x="658368" y="1847088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17"/>
              </a:lnSpc>
              <a:buNone/>
            </a:pPr>
            <a:r>
              <a:rPr lang="en-US" sz="135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{1, 2, 3} → 각 원소를 포함하거나 포함하지 않거나 → 2³ = 8가지 (선택의 연속 = 지수적 폭발)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58368" y="2468880"/>
            <a:ext cx="1554480" cy="914400"/>
          </a:xfrm>
          <a:prstGeom prst="roundRect">
            <a:avLst>
              <a:gd name="adj" fmla="val 14000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58368" y="2615184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658368" y="303580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2737561" y="2788920"/>
            <a:ext cx="502920" cy="274320"/>
          </a:xfrm>
          <a:prstGeom prst="rightArrow">
            <a:avLst/>
          </a:prstGeom>
          <a:solidFill>
            <a:srgbClr val="7C3AED"/>
          </a:solidFill>
          <a:ln/>
        </p:spPr>
      </p:sp>
      <p:sp>
        <p:nvSpPr>
          <p:cNvPr id="13" name="Text 10"/>
          <p:cNvSpPr/>
          <p:nvPr/>
        </p:nvSpPr>
        <p:spPr>
          <a:xfrm>
            <a:off x="2737561" y="24688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×2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765194" y="2468880"/>
            <a:ext cx="1554480" cy="914400"/>
          </a:xfrm>
          <a:prstGeom prst="roundRect">
            <a:avLst>
              <a:gd name="adj" fmla="val 14000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3765194" y="2615184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2개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3765194" y="303580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원소 1?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844388" y="2788920"/>
            <a:ext cx="502920" cy="274320"/>
          </a:xfrm>
          <a:prstGeom prst="rightArrow">
            <a:avLst/>
          </a:prstGeom>
          <a:solidFill>
            <a:srgbClr val="7C3AED"/>
          </a:solidFill>
          <a:ln/>
        </p:spPr>
      </p:sp>
      <p:sp>
        <p:nvSpPr>
          <p:cNvPr id="18" name="Text 15"/>
          <p:cNvSpPr/>
          <p:nvPr/>
        </p:nvSpPr>
        <p:spPr>
          <a:xfrm>
            <a:off x="5844388" y="24688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×2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872021" y="2468880"/>
            <a:ext cx="1554480" cy="914400"/>
          </a:xfrm>
          <a:prstGeom prst="roundRect">
            <a:avLst>
              <a:gd name="adj" fmla="val 14000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6872021" y="2615184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4개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6872021" y="303580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원소 2?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951214" y="2788920"/>
            <a:ext cx="502920" cy="274320"/>
          </a:xfrm>
          <a:prstGeom prst="rightArrow">
            <a:avLst/>
          </a:prstGeom>
          <a:solidFill>
            <a:srgbClr val="7C3AED"/>
          </a:solidFill>
          <a:ln/>
        </p:spPr>
      </p:sp>
      <p:sp>
        <p:nvSpPr>
          <p:cNvPr id="23" name="Text 20"/>
          <p:cNvSpPr/>
          <p:nvPr/>
        </p:nvSpPr>
        <p:spPr>
          <a:xfrm>
            <a:off x="8951214" y="24688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×2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9978847" y="2468880"/>
            <a:ext cx="1554480" cy="914400"/>
          </a:xfrm>
          <a:prstGeom prst="roundRect">
            <a:avLst>
              <a:gd name="adj" fmla="val 14000"/>
            </a:avLst>
          </a:prstGeom>
          <a:solidFill>
            <a:srgbClr val="EEF0FF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9978847" y="2615184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8개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9978847" y="303580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원소 3?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3703320"/>
            <a:ext cx="1263358" cy="566928"/>
          </a:xfrm>
          <a:prstGeom prst="roundRect">
            <a:avLst>
              <a:gd name="adj" fmla="val 12903"/>
            </a:avLst>
          </a:prstGeom>
          <a:solidFill>
            <a:srgbClr val="17163A"/>
          </a:solidFill>
          <a:ln/>
          <a:effectLst>
            <a:outerShdw blurRad="63500" dist="1905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28" name="Text 25"/>
          <p:cNvSpPr/>
          <p:nvPr/>
        </p:nvSpPr>
        <p:spPr>
          <a:xfrm>
            <a:off x="658368" y="3703320"/>
            <a:ext cx="12633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∅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2031454" y="3703320"/>
            <a:ext cx="1263358" cy="566928"/>
          </a:xfrm>
          <a:prstGeom prst="roundRect">
            <a:avLst>
              <a:gd name="adj" fmla="val 12903"/>
            </a:avLst>
          </a:prstGeom>
          <a:solidFill>
            <a:srgbClr val="17163A"/>
          </a:solidFill>
          <a:ln/>
          <a:effectLst>
            <a:outerShdw blurRad="63500" dist="1905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30" name="Text 27"/>
          <p:cNvSpPr/>
          <p:nvPr/>
        </p:nvSpPr>
        <p:spPr>
          <a:xfrm>
            <a:off x="2031454" y="3703320"/>
            <a:ext cx="12633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{3}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3404540" y="3703320"/>
            <a:ext cx="1263358" cy="566928"/>
          </a:xfrm>
          <a:prstGeom prst="roundRect">
            <a:avLst>
              <a:gd name="adj" fmla="val 12903"/>
            </a:avLst>
          </a:prstGeom>
          <a:solidFill>
            <a:srgbClr val="17163A"/>
          </a:solidFill>
          <a:ln/>
          <a:effectLst>
            <a:outerShdw blurRad="63500" dist="1905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32" name="Text 29"/>
          <p:cNvSpPr/>
          <p:nvPr/>
        </p:nvSpPr>
        <p:spPr>
          <a:xfrm>
            <a:off x="3404540" y="3703320"/>
            <a:ext cx="12633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{2}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4777626" y="3703320"/>
            <a:ext cx="1263358" cy="566928"/>
          </a:xfrm>
          <a:prstGeom prst="roundRect">
            <a:avLst>
              <a:gd name="adj" fmla="val 12903"/>
            </a:avLst>
          </a:prstGeom>
          <a:solidFill>
            <a:srgbClr val="17163A"/>
          </a:solidFill>
          <a:ln/>
          <a:effectLst>
            <a:outerShdw blurRad="63500" dist="1905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34" name="Text 31"/>
          <p:cNvSpPr/>
          <p:nvPr/>
        </p:nvSpPr>
        <p:spPr>
          <a:xfrm>
            <a:off x="4777626" y="3703320"/>
            <a:ext cx="12633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{2,3}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6150712" y="3703320"/>
            <a:ext cx="1263358" cy="566928"/>
          </a:xfrm>
          <a:prstGeom prst="roundRect">
            <a:avLst>
              <a:gd name="adj" fmla="val 12903"/>
            </a:avLst>
          </a:prstGeom>
          <a:solidFill>
            <a:srgbClr val="17163A"/>
          </a:solidFill>
          <a:ln/>
          <a:effectLst>
            <a:outerShdw blurRad="63500" dist="1905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36" name="Text 33"/>
          <p:cNvSpPr/>
          <p:nvPr/>
        </p:nvSpPr>
        <p:spPr>
          <a:xfrm>
            <a:off x="6150712" y="3703320"/>
            <a:ext cx="12633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{1}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7523797" y="3703320"/>
            <a:ext cx="1263358" cy="566928"/>
          </a:xfrm>
          <a:prstGeom prst="roundRect">
            <a:avLst>
              <a:gd name="adj" fmla="val 12903"/>
            </a:avLst>
          </a:prstGeom>
          <a:solidFill>
            <a:srgbClr val="17163A"/>
          </a:solidFill>
          <a:ln/>
          <a:effectLst>
            <a:outerShdw blurRad="63500" dist="1905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38" name="Text 35"/>
          <p:cNvSpPr/>
          <p:nvPr/>
        </p:nvSpPr>
        <p:spPr>
          <a:xfrm>
            <a:off x="7523797" y="3703320"/>
            <a:ext cx="12633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{1,3}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8896883" y="3703320"/>
            <a:ext cx="1263358" cy="566928"/>
          </a:xfrm>
          <a:prstGeom prst="roundRect">
            <a:avLst>
              <a:gd name="adj" fmla="val 12903"/>
            </a:avLst>
          </a:prstGeom>
          <a:solidFill>
            <a:srgbClr val="17163A"/>
          </a:solidFill>
          <a:ln/>
          <a:effectLst>
            <a:outerShdw blurRad="63500" dist="1905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40" name="Text 37"/>
          <p:cNvSpPr/>
          <p:nvPr/>
        </p:nvSpPr>
        <p:spPr>
          <a:xfrm>
            <a:off x="8896883" y="3703320"/>
            <a:ext cx="12633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{1,2}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10269969" y="3703320"/>
            <a:ext cx="1263358" cy="566928"/>
          </a:xfrm>
          <a:prstGeom prst="roundRect">
            <a:avLst>
              <a:gd name="adj" fmla="val 12903"/>
            </a:avLst>
          </a:prstGeom>
          <a:solidFill>
            <a:srgbClr val="17163A"/>
          </a:solidFill>
          <a:ln/>
          <a:effectLst>
            <a:outerShdw blurRad="63500" dist="1905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42" name="Text 39"/>
          <p:cNvSpPr/>
          <p:nvPr/>
        </p:nvSpPr>
        <p:spPr>
          <a:xfrm>
            <a:off x="10269969" y="3703320"/>
            <a:ext cx="12633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{1,2,3}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658368" y="4389120"/>
            <a:ext cx="1087495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2³ = 8개의 부분집합</a:t>
            </a:r>
            <a:endParaRPr lang="en-US" sz="1250" dirty="0"/>
          </a:p>
        </p:txBody>
      </p:sp>
      <p:sp>
        <p:nvSpPr>
          <p:cNvPr id="44" name="Shape 41"/>
          <p:cNvSpPr/>
          <p:nvPr/>
        </p:nvSpPr>
        <p:spPr>
          <a:xfrm>
            <a:off x="658368" y="5029200"/>
            <a:ext cx="10874959" cy="731520"/>
          </a:xfrm>
          <a:prstGeom prst="roundRect">
            <a:avLst>
              <a:gd name="adj" fmla="val 15000"/>
            </a:avLst>
          </a:prstGeom>
          <a:solidFill>
            <a:srgbClr val="F5F4FC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45" name="Shape 42"/>
          <p:cNvSpPr/>
          <p:nvPr/>
        </p:nvSpPr>
        <p:spPr>
          <a:xfrm>
            <a:off x="914400" y="5166360"/>
            <a:ext cx="457200" cy="457200"/>
          </a:xfrm>
          <a:prstGeom prst="ellipse">
            <a:avLst/>
          </a:prstGeom>
          <a:solidFill>
            <a:srgbClr val="7C3AED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46" name="Image 1" descr="/home/claude/icons/bolt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" y="5280660"/>
            <a:ext cx="228600" cy="228600"/>
          </a:xfrm>
          <a:prstGeom prst="rect">
            <a:avLst/>
          </a:prstGeom>
        </p:spPr>
      </p:pic>
      <p:sp>
        <p:nvSpPr>
          <p:cNvPr id="47" name="Text 43"/>
          <p:cNvSpPr/>
          <p:nvPr/>
        </p:nvSpPr>
        <p:spPr>
          <a:xfrm>
            <a:off x="1627632" y="5029200"/>
            <a:ext cx="96313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95"/>
              </a:lnSpc>
              <a:buNone/>
            </a:pPr>
            <a:r>
              <a:rPr lang="en-US" sz="13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원소 n개 → 2ⁿ개의 부분집합      </a:t>
            </a:r>
            <a:r>
              <a:rPr lang="en-US" sz="13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n=10: 1,024    n=20: 1,048,576    n=30: 약 10억</a:t>
            </a:r>
            <a:endParaRPr lang="en-US" sz="1300" dirty="0"/>
          </a:p>
        </p:txBody>
      </p:sp>
      <p:sp>
        <p:nvSpPr>
          <p:cNvPr id="48" name="Text 44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103120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warn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2.6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조합적 폭발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778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예제 2.4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58368" y="1133856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외판원 순회 (TSP) — O(n!)</a:t>
            </a:r>
            <a:endParaRPr lang="en-US" sz="2900" dirty="0"/>
          </a:p>
        </p:txBody>
      </p:sp>
      <p:sp>
        <p:nvSpPr>
          <p:cNvPr id="8" name="Text 5"/>
          <p:cNvSpPr/>
          <p:nvPr/>
        </p:nvSpPr>
        <p:spPr>
          <a:xfrm>
            <a:off x="658368" y="1847088"/>
            <a:ext cx="1087495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17"/>
              </a:lnSpc>
              <a:buNone/>
            </a:pPr>
            <a:r>
              <a:rPr lang="en-US" sz="135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도시를 한 번씩 방문하고 출발점으로 돌아오는 최단 경로 찾기.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658368" y="224028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도시 간 거리 행렬</a:t>
            </a:r>
            <a:endParaRPr lang="en-US" sz="125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2487168"/>
          <a:ext cx="4206240" cy="2286000"/>
        </p:xfrm>
        <a:graphic>
          <a:graphicData uri="http://schemas.openxmlformats.org/drawingml/2006/table">
            <a:tbl>
              <a:tblPr/>
              <a:tblGrid>
                <a:gridCol w="8412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658368" y="491947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4개 도시 → 4! = 24가지 경로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276088" y="2487168"/>
            <a:ext cx="6257239" cy="548640"/>
          </a:xfrm>
          <a:prstGeom prst="roundRect">
            <a:avLst>
              <a:gd name="adj" fmla="val 23333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5532120" y="248716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1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A→B→C→D→A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7927848" y="2487168"/>
            <a:ext cx="29653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3C3B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4+6+5+3 = 18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5276088" y="3154680"/>
            <a:ext cx="6257239" cy="548640"/>
          </a:xfrm>
          <a:prstGeom prst="roundRect">
            <a:avLst>
              <a:gd name="adj" fmla="val 23333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5532120" y="3154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1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A→B→D→C→A</a:t>
            </a:r>
            <a:endParaRPr lang="en-US" sz="1350" dirty="0"/>
          </a:p>
        </p:txBody>
      </p:sp>
      <p:sp>
        <p:nvSpPr>
          <p:cNvPr id="17" name="Text 13"/>
          <p:cNvSpPr/>
          <p:nvPr/>
        </p:nvSpPr>
        <p:spPr>
          <a:xfrm>
            <a:off x="7927848" y="3154680"/>
            <a:ext cx="29653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3C3B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4+2+5+7 = 18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5276088" y="3822192"/>
            <a:ext cx="6257239" cy="548640"/>
          </a:xfrm>
          <a:prstGeom prst="roundRect">
            <a:avLst>
              <a:gd name="adj" fmla="val 23333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9" name="Text 15"/>
          <p:cNvSpPr/>
          <p:nvPr/>
        </p:nvSpPr>
        <p:spPr>
          <a:xfrm>
            <a:off x="5532120" y="382219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1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A→D→B→C→A</a:t>
            </a:r>
            <a:endParaRPr lang="en-US" sz="1350" dirty="0"/>
          </a:p>
        </p:txBody>
      </p:sp>
      <p:sp>
        <p:nvSpPr>
          <p:cNvPr id="20" name="Text 16"/>
          <p:cNvSpPr/>
          <p:nvPr/>
        </p:nvSpPr>
        <p:spPr>
          <a:xfrm>
            <a:off x="7927848" y="3822192"/>
            <a:ext cx="29653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3C3B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3+2+6+7 = 18</a:t>
            </a:r>
            <a:endParaRPr lang="en-US" sz="1250" dirty="0"/>
          </a:p>
        </p:txBody>
      </p:sp>
      <p:sp>
        <p:nvSpPr>
          <p:cNvPr id="21" name="Shape 17"/>
          <p:cNvSpPr/>
          <p:nvPr/>
        </p:nvSpPr>
        <p:spPr>
          <a:xfrm>
            <a:off x="5276088" y="4489704"/>
            <a:ext cx="6257239" cy="548640"/>
          </a:xfrm>
          <a:prstGeom prst="roundRect">
            <a:avLst>
              <a:gd name="adj" fmla="val 23333"/>
            </a:avLst>
          </a:prstGeom>
          <a:solidFill>
            <a:srgbClr val="EEF0FF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22" name="Text 18"/>
          <p:cNvSpPr/>
          <p:nvPr/>
        </p:nvSpPr>
        <p:spPr>
          <a:xfrm>
            <a:off x="5532120" y="4489704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4338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A→D→C→B→A</a:t>
            </a:r>
            <a:endParaRPr lang="en-US" sz="1350" dirty="0"/>
          </a:p>
        </p:txBody>
      </p:sp>
      <p:sp>
        <p:nvSpPr>
          <p:cNvPr id="23" name="Text 19"/>
          <p:cNvSpPr/>
          <p:nvPr/>
        </p:nvSpPr>
        <p:spPr>
          <a:xfrm>
            <a:off x="7927848" y="4489704"/>
            <a:ext cx="29653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3C3B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3+5+6+4 = 18</a:t>
            </a:r>
            <a:endParaRPr lang="en-US" sz="1250" dirty="0"/>
          </a:p>
        </p:txBody>
      </p:sp>
      <p:sp>
        <p:nvSpPr>
          <p:cNvPr id="24" name="Text 20"/>
          <p:cNvSpPr/>
          <p:nvPr/>
        </p:nvSpPr>
        <p:spPr>
          <a:xfrm>
            <a:off x="10984687" y="4489704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</a:t>
            </a:r>
            <a:endParaRPr lang="en-US" sz="1400" dirty="0"/>
          </a:p>
        </p:txBody>
      </p:sp>
      <p:sp>
        <p:nvSpPr>
          <p:cNvPr id="25" name="Shape 21"/>
          <p:cNvSpPr/>
          <p:nvPr/>
        </p:nvSpPr>
        <p:spPr>
          <a:xfrm>
            <a:off x="658368" y="5321808"/>
            <a:ext cx="10874959" cy="502920"/>
          </a:xfrm>
          <a:prstGeom prst="roundRect">
            <a:avLst>
              <a:gd name="adj" fmla="val 21818"/>
            </a:avLst>
          </a:prstGeom>
          <a:solidFill>
            <a:srgbClr val="17163A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914400" y="5344668"/>
            <a:ext cx="457200" cy="457200"/>
          </a:xfrm>
          <a:prstGeom prst="ellipse">
            <a:avLst/>
          </a:prstGeom>
          <a:solidFill>
            <a:srgbClr val="FB7185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27" name="Image 1" descr="/home/claude/icons/clo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" y="5458968"/>
            <a:ext cx="228600" cy="228600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1627632" y="5321808"/>
            <a:ext cx="96313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300" dirty="0">
                <a:solidFill>
                  <a:srgbClr val="D9D7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도시 n=10 → 3,628,800번   |   n=20 → 2.4×10¹⁸번   |   n=30 → 770년!</a:t>
            </a:r>
            <a:endParaRPr lang="en-US" sz="1300" dirty="0"/>
          </a:p>
        </p:txBody>
      </p:sp>
      <p:sp>
        <p:nvSpPr>
          <p:cNvPr id="29" name="Text 24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716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89320" y="182880"/>
            <a:ext cx="6199632" cy="6583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5500" b="1" dirty="0">
                <a:solidFill>
                  <a:srgbClr val="201E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2.7</a:t>
            </a:r>
            <a:endParaRPr lang="en-US" sz="255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28016" cy="128016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4" name="Shape 2"/>
          <p:cNvSpPr/>
          <p:nvPr/>
        </p:nvSpPr>
        <p:spPr>
          <a:xfrm>
            <a:off x="1133856" y="1371600"/>
            <a:ext cx="128016" cy="128016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5" name="Shape 3"/>
          <p:cNvSpPr/>
          <p:nvPr/>
        </p:nvSpPr>
        <p:spPr>
          <a:xfrm>
            <a:off x="1444752" y="1371600"/>
            <a:ext cx="128016" cy="128016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828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SECTION 2.7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68680" y="2423160"/>
            <a:ext cx="822960" cy="822960"/>
          </a:xfrm>
          <a:prstGeom prst="ellipse">
            <a:avLst/>
          </a:prstGeom>
          <a:solidFill>
            <a:srgbClr val="7C3AED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8" name="Image 0" descr="/home/claude/icons/rocke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" y="2628900"/>
            <a:ext cx="411480" cy="4114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874520" y="2377440"/>
            <a:ext cx="8595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알고리즘의 씨앗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896112" y="3611880"/>
            <a:ext cx="7955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550" dirty="0">
                <a:solidFill>
                  <a:srgbClr val="C8C6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고급 알고리즘들은 완전 탐색의 비효율을 줄이려는 노력 끝에 탄생했습니다.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A6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34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404872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rocke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2.7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알고리즘의 씨앗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탐색을 똑똑하게 만들기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3809848" y="1645920"/>
            <a:ext cx="4572000" cy="868680"/>
          </a:xfrm>
          <a:prstGeom prst="roundRect">
            <a:avLst>
              <a:gd name="adj" fmla="val 14737"/>
            </a:avLst>
          </a:prstGeom>
          <a:solidFill>
            <a:srgbClr val="17163A"/>
          </a:solidFill>
          <a:ln/>
          <a:effectLst>
            <a:outerShdw blurRad="152400" dist="63500" dir="5400000" algn="bl" rotWithShape="0">
              <a:srgbClr val="1A1836">
                <a:alpha val="24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038448" y="1805940"/>
            <a:ext cx="548640" cy="548640"/>
          </a:xfrm>
          <a:prstGeom prst="ellipse">
            <a:avLst/>
          </a:prstGeom>
          <a:solidFill>
            <a:srgbClr val="F59E0B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9" name="Image 1" descr="/home/claude/icons/search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75608" y="1943100"/>
            <a:ext cx="274320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724248" y="164592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탐색 (Base)</a:t>
            </a:r>
            <a:endParaRPr lang="en-US" sz="16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9C9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경우를 끝까지 시도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068416" y="2606040"/>
            <a:ext cx="54864" cy="54864"/>
          </a:xfrm>
          <a:prstGeom prst="ellipse">
            <a:avLst/>
          </a:prstGeom>
          <a:solidFill>
            <a:srgbClr val="E7E6FB"/>
          </a:solidFill>
          <a:ln/>
        </p:spPr>
      </p:sp>
      <p:sp>
        <p:nvSpPr>
          <p:cNvPr id="12" name="Shape 8"/>
          <p:cNvSpPr/>
          <p:nvPr/>
        </p:nvSpPr>
        <p:spPr>
          <a:xfrm>
            <a:off x="658368" y="2880360"/>
            <a:ext cx="3381146" cy="2331720"/>
          </a:xfrm>
          <a:prstGeom prst="roundRect">
            <a:avLst>
              <a:gd name="adj" fmla="val 5490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1974037" y="3172968"/>
            <a:ext cx="749808" cy="749808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4" name="Image 2" descr="/home/claude/icons/scale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61489" y="3360420"/>
            <a:ext cx="374904" cy="37490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58368" y="4023360"/>
            <a:ext cx="33811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백트래킹</a:t>
            </a:r>
            <a:endParaRPr lang="en-US" sz="1650" dirty="0"/>
          </a:p>
        </p:txBody>
      </p:sp>
      <p:sp>
        <p:nvSpPr>
          <p:cNvPr id="16" name="Shape 11"/>
          <p:cNvSpPr/>
          <p:nvPr/>
        </p:nvSpPr>
        <p:spPr>
          <a:xfrm>
            <a:off x="1480261" y="4416552"/>
            <a:ext cx="1737360" cy="384048"/>
          </a:xfrm>
          <a:prstGeom prst="roundRect">
            <a:avLst>
              <a:gd name="adj" fmla="val 23810"/>
            </a:avLst>
          </a:prstGeom>
          <a:solidFill>
            <a:srgbClr val="10B981"/>
          </a:solidFill>
          <a:ln/>
        </p:spPr>
      </p:sp>
      <p:sp>
        <p:nvSpPr>
          <p:cNvPr id="17" name="Text 12"/>
          <p:cNvSpPr/>
          <p:nvPr/>
        </p:nvSpPr>
        <p:spPr>
          <a:xfrm>
            <a:off x="1480261" y="4416552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가지치기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932688" y="4846320"/>
            <a:ext cx="28325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15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정답이 될 수 없는 경우를 미리 제거 (pruning)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4405274" y="2880360"/>
            <a:ext cx="3381146" cy="2331720"/>
          </a:xfrm>
          <a:prstGeom prst="roundRect">
            <a:avLst>
              <a:gd name="adj" fmla="val 5490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5720944" y="3172968"/>
            <a:ext cx="749808" cy="749808"/>
          </a:xfrm>
          <a:prstGeom prst="ellipse">
            <a:avLst/>
          </a:prstGeom>
          <a:solidFill>
            <a:srgbClr val="38BDF8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21" name="Image 3" descr="/home/claude/icons/divide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08396" y="3360420"/>
            <a:ext cx="374904" cy="37490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4405274" y="4023360"/>
            <a:ext cx="33811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분할 정복</a:t>
            </a:r>
            <a:endParaRPr lang="en-US" sz="1650" dirty="0"/>
          </a:p>
        </p:txBody>
      </p:sp>
      <p:sp>
        <p:nvSpPr>
          <p:cNvPr id="23" name="Shape 17"/>
          <p:cNvSpPr/>
          <p:nvPr/>
        </p:nvSpPr>
        <p:spPr>
          <a:xfrm>
            <a:off x="5227168" y="4416552"/>
            <a:ext cx="1737360" cy="384048"/>
          </a:xfrm>
          <a:prstGeom prst="roundRect">
            <a:avLst>
              <a:gd name="adj" fmla="val 23810"/>
            </a:avLst>
          </a:prstGeom>
          <a:solidFill>
            <a:srgbClr val="38BDF8"/>
          </a:solidFill>
          <a:ln/>
        </p:spPr>
      </p:sp>
      <p:sp>
        <p:nvSpPr>
          <p:cNvPr id="24" name="Text 18"/>
          <p:cNvSpPr/>
          <p:nvPr/>
        </p:nvSpPr>
        <p:spPr>
          <a:xfrm>
            <a:off x="5227168" y="4416552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문제 분할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4679594" y="4846320"/>
            <a:ext cx="28325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15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문제를 작게 쪼개어 각각 해결</a:t>
            </a:r>
            <a:endParaRPr lang="en-US" sz="1150" dirty="0"/>
          </a:p>
        </p:txBody>
      </p:sp>
      <p:sp>
        <p:nvSpPr>
          <p:cNvPr id="26" name="Shape 20"/>
          <p:cNvSpPr/>
          <p:nvPr/>
        </p:nvSpPr>
        <p:spPr>
          <a:xfrm>
            <a:off x="8152181" y="2880360"/>
            <a:ext cx="3381146" cy="2331720"/>
          </a:xfrm>
          <a:prstGeom prst="roundRect">
            <a:avLst>
              <a:gd name="adj" fmla="val 5490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9467850" y="3172968"/>
            <a:ext cx="749808" cy="749808"/>
          </a:xfrm>
          <a:prstGeom prst="ellipse">
            <a:avLst/>
          </a:prstGeom>
          <a:solidFill>
            <a:srgbClr val="7C3AED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28" name="Image 4" descr="/home/claude/icons/brain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55302" y="3360420"/>
            <a:ext cx="374904" cy="374904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8152181" y="4023360"/>
            <a:ext cx="33811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 계획법</a:t>
            </a:r>
            <a:endParaRPr lang="en-US" sz="1650" dirty="0"/>
          </a:p>
        </p:txBody>
      </p:sp>
      <p:sp>
        <p:nvSpPr>
          <p:cNvPr id="30" name="Shape 23"/>
          <p:cNvSpPr/>
          <p:nvPr/>
        </p:nvSpPr>
        <p:spPr>
          <a:xfrm>
            <a:off x="8974074" y="4416552"/>
            <a:ext cx="1737360" cy="384048"/>
          </a:xfrm>
          <a:prstGeom prst="roundRect">
            <a:avLst>
              <a:gd name="adj" fmla="val 23810"/>
            </a:avLst>
          </a:prstGeom>
          <a:solidFill>
            <a:srgbClr val="7C3AED"/>
          </a:solidFill>
          <a:ln/>
        </p:spPr>
      </p:sp>
      <p:sp>
        <p:nvSpPr>
          <p:cNvPr id="31" name="Text 24"/>
          <p:cNvSpPr/>
          <p:nvPr/>
        </p:nvSpPr>
        <p:spPr>
          <a:xfrm>
            <a:off x="8974074" y="4416552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기억(메모)</a:t>
            </a:r>
            <a:endParaRPr lang="en-US" sz="1250" dirty="0"/>
          </a:p>
        </p:txBody>
      </p:sp>
      <p:sp>
        <p:nvSpPr>
          <p:cNvPr id="32" name="Text 25"/>
          <p:cNvSpPr/>
          <p:nvPr/>
        </p:nvSpPr>
        <p:spPr>
          <a:xfrm>
            <a:off x="8426501" y="4846320"/>
            <a:ext cx="28325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15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계산 결과를 저장·재사용</a:t>
            </a:r>
            <a:endParaRPr lang="en-US" sz="1150" dirty="0"/>
          </a:p>
        </p:txBody>
      </p:sp>
      <p:sp>
        <p:nvSpPr>
          <p:cNvPr id="33" name="Shape 26"/>
          <p:cNvSpPr/>
          <p:nvPr/>
        </p:nvSpPr>
        <p:spPr>
          <a:xfrm>
            <a:off x="658368" y="5349240"/>
            <a:ext cx="10874959" cy="502920"/>
          </a:xfrm>
          <a:prstGeom prst="roundRect">
            <a:avLst>
              <a:gd name="adj" fmla="val 21818"/>
            </a:avLst>
          </a:prstGeom>
          <a:solidFill>
            <a:srgbClr val="EEF0FF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914400" y="5372100"/>
            <a:ext cx="457200" cy="457200"/>
          </a:xfrm>
          <a:prstGeom prst="ellipse">
            <a:avLst/>
          </a:prstGeom>
          <a:solidFill>
            <a:srgbClr val="F59E0B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35" name="Image 5" descr="/home/claude/icons/bulb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8700" y="5486400"/>
            <a:ext cx="228600" cy="228600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1627632" y="5349240"/>
            <a:ext cx="96313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3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탐색을 먼저 구현하고, 이후 최적화하는 것</a:t>
            </a:r>
            <a:r>
              <a:rPr lang="en-US" sz="13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올바른 알고리즘 설계 접근 방식입니다.</a:t>
            </a:r>
            <a:endParaRPr lang="en-US" sz="1350" dirty="0"/>
          </a:p>
        </p:txBody>
      </p:sp>
      <p:sp>
        <p:nvSpPr>
          <p:cNvPr id="37" name="Text 29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404872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rocke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2.7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알고리즘의 씨앗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778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진화 ①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58368" y="1133856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가지치기를 더하면 → 백트래킹</a:t>
            </a:r>
            <a:endParaRPr lang="en-US" sz="2900" dirty="0"/>
          </a:p>
        </p:txBody>
      </p:sp>
      <p:sp>
        <p:nvSpPr>
          <p:cNvPr id="8" name="Shape 5"/>
          <p:cNvSpPr/>
          <p:nvPr/>
        </p:nvSpPr>
        <p:spPr>
          <a:xfrm>
            <a:off x="658368" y="1847088"/>
            <a:ext cx="10874959" cy="640080"/>
          </a:xfrm>
          <a:prstGeom prst="roundRect">
            <a:avLst>
              <a:gd name="adj" fmla="val 17143"/>
            </a:avLst>
          </a:prstGeom>
          <a:solidFill>
            <a:srgbClr val="EEF0FF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914400" y="1938528"/>
            <a:ext cx="457200" cy="457200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0" name="Image 1" descr="/home/claude/icons/scal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" y="2052828"/>
            <a:ext cx="228600" cy="2286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27632" y="1847088"/>
            <a:ext cx="96313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67"/>
              </a:lnSpc>
              <a:buNone/>
            </a:pPr>
            <a:r>
              <a:rPr lang="en-US" sz="1450" b="1" i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“모든 경우를 보되, 정답이 될 수 없는 경우는 미리 버린다 (pruning)”</a:t>
            </a:r>
            <a:endParaRPr lang="en-US" sz="1450" dirty="0"/>
          </a:p>
        </p:txBody>
      </p:sp>
      <p:sp>
        <p:nvSpPr>
          <p:cNvPr id="12" name="Shape 8"/>
          <p:cNvSpPr/>
          <p:nvPr/>
        </p:nvSpPr>
        <p:spPr>
          <a:xfrm>
            <a:off x="658368" y="2651760"/>
            <a:ext cx="5208880" cy="2651760"/>
          </a:xfrm>
          <a:prstGeom prst="roundRect">
            <a:avLst>
              <a:gd name="adj" fmla="val 4828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58368" y="2651760"/>
            <a:ext cx="5208880" cy="548640"/>
          </a:xfrm>
          <a:prstGeom prst="roundRect">
            <a:avLst>
              <a:gd name="adj" fmla="val 23333"/>
            </a:avLst>
          </a:prstGeom>
          <a:solidFill>
            <a:srgbClr val="FB7185"/>
          </a:solidFill>
          <a:ln/>
        </p:spPr>
      </p:sp>
      <p:sp>
        <p:nvSpPr>
          <p:cNvPr id="14" name="Text 10"/>
          <p:cNvSpPr/>
          <p:nvPr/>
        </p:nvSpPr>
        <p:spPr>
          <a:xfrm>
            <a:off x="932688" y="2651760"/>
            <a:ext cx="466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탐색 (비효율)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950976" y="3383280"/>
            <a:ext cx="46236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합이 10인 부분집합 찾기:</a:t>
            </a:r>
            <a:endParaRPr lang="en-US" sz="1350" dirty="0"/>
          </a:p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부분집합을 끝까지 완성한 뒤 합이 10인지 검사한다.</a:t>
            </a:r>
            <a:endParaRPr lang="en-US" sz="1350" dirty="0"/>
          </a:p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합이 100을 넘어가도 끝까지 완성!</a:t>
            </a:r>
            <a:endParaRPr lang="en-US" sz="1350" dirty="0"/>
          </a:p>
        </p:txBody>
      </p:sp>
      <p:sp>
        <p:nvSpPr>
          <p:cNvPr id="16" name="Shape 12"/>
          <p:cNvSpPr/>
          <p:nvPr/>
        </p:nvSpPr>
        <p:spPr>
          <a:xfrm>
            <a:off x="932688" y="4754880"/>
            <a:ext cx="4660240" cy="384048"/>
          </a:xfrm>
          <a:prstGeom prst="roundRect">
            <a:avLst>
              <a:gd name="adj" fmla="val 19048"/>
            </a:avLst>
          </a:prstGeom>
          <a:solidFill>
            <a:srgbClr val="17163A"/>
          </a:solidFill>
          <a:ln/>
        </p:spPr>
      </p:sp>
      <p:sp>
        <p:nvSpPr>
          <p:cNvPr id="17" name="Text 13"/>
          <p:cNvSpPr/>
          <p:nvPr/>
        </p:nvSpPr>
        <p:spPr>
          <a:xfrm>
            <a:off x="932688" y="4754880"/>
            <a:ext cx="466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낭비가 많음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324448" y="2651760"/>
            <a:ext cx="5208880" cy="2651760"/>
          </a:xfrm>
          <a:prstGeom prst="roundRect">
            <a:avLst>
              <a:gd name="adj" fmla="val 4828"/>
            </a:avLst>
          </a:prstGeom>
          <a:solidFill>
            <a:srgbClr val="EEF0FF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324448" y="2651760"/>
            <a:ext cx="5208880" cy="548640"/>
          </a:xfrm>
          <a:prstGeom prst="roundRect">
            <a:avLst>
              <a:gd name="adj" fmla="val 23333"/>
            </a:avLst>
          </a:prstGeom>
          <a:solidFill>
            <a:srgbClr val="10B981"/>
          </a:solidFill>
          <a:ln/>
        </p:spPr>
      </p:sp>
      <p:sp>
        <p:nvSpPr>
          <p:cNvPr id="20" name="Text 16"/>
          <p:cNvSpPr/>
          <p:nvPr/>
        </p:nvSpPr>
        <p:spPr>
          <a:xfrm>
            <a:off x="6598768" y="2651760"/>
            <a:ext cx="466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백트래킹 (가지치기)</a:t>
            </a:r>
            <a:endParaRPr lang="en-US" sz="1500" dirty="0"/>
          </a:p>
        </p:txBody>
      </p:sp>
      <p:sp>
        <p:nvSpPr>
          <p:cNvPr id="21" name="Text 17"/>
          <p:cNvSpPr/>
          <p:nvPr/>
        </p:nvSpPr>
        <p:spPr>
          <a:xfrm>
            <a:off x="6617056" y="3383280"/>
            <a:ext cx="46236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합이 10인 부분집합 찾기:</a:t>
            </a:r>
            <a:endParaRPr lang="en-US" sz="1350" dirty="0"/>
          </a:p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더하다가 이미 10을 넘으면 즉시 탐색을 중단한다.</a:t>
            </a:r>
            <a:endParaRPr lang="en-US" sz="1350" dirty="0"/>
          </a:p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나머지 가지는 쳐다보지도 않고 되돌아감 (pruning)</a:t>
            </a:r>
            <a:endParaRPr lang="en-US" sz="1350" dirty="0"/>
          </a:p>
        </p:txBody>
      </p:sp>
      <p:sp>
        <p:nvSpPr>
          <p:cNvPr id="22" name="Shape 18"/>
          <p:cNvSpPr/>
          <p:nvPr/>
        </p:nvSpPr>
        <p:spPr>
          <a:xfrm>
            <a:off x="6598768" y="4754880"/>
            <a:ext cx="4660240" cy="384048"/>
          </a:xfrm>
          <a:prstGeom prst="roundRect">
            <a:avLst>
              <a:gd name="adj" fmla="val 19048"/>
            </a:avLst>
          </a:prstGeom>
          <a:solidFill>
            <a:srgbClr val="17163A"/>
          </a:solidFill>
          <a:ln/>
        </p:spPr>
      </p:sp>
      <p:sp>
        <p:nvSpPr>
          <p:cNvPr id="23" name="Text 19"/>
          <p:cNvSpPr/>
          <p:nvPr/>
        </p:nvSpPr>
        <p:spPr>
          <a:xfrm>
            <a:off x="6598768" y="4754880"/>
            <a:ext cx="466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불필요한 탐색 제거</a:t>
            </a:r>
            <a:endParaRPr lang="en-US" sz="1300" dirty="0"/>
          </a:p>
        </p:txBody>
      </p:sp>
      <p:sp>
        <p:nvSpPr>
          <p:cNvPr id="24" name="Text 20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404872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rocke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2.7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알고리즘의 씨앗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778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38BD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진화 ②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58368" y="1133856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문제를 잘게 쪼개면 → 분할 정복</a:t>
            </a:r>
            <a:endParaRPr lang="en-US" sz="2900" dirty="0"/>
          </a:p>
        </p:txBody>
      </p:sp>
      <p:sp>
        <p:nvSpPr>
          <p:cNvPr id="8" name="Shape 5"/>
          <p:cNvSpPr/>
          <p:nvPr/>
        </p:nvSpPr>
        <p:spPr>
          <a:xfrm>
            <a:off x="658368" y="1847088"/>
            <a:ext cx="10874959" cy="640080"/>
          </a:xfrm>
          <a:prstGeom prst="roundRect">
            <a:avLst>
              <a:gd name="adj" fmla="val 17143"/>
            </a:avLst>
          </a:prstGeom>
          <a:solidFill>
            <a:srgbClr val="EEF0FF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914400" y="1938528"/>
            <a:ext cx="457200" cy="457200"/>
          </a:xfrm>
          <a:prstGeom prst="ellipse">
            <a:avLst/>
          </a:prstGeom>
          <a:solidFill>
            <a:srgbClr val="38BDF8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0" name="Image 1" descr="/home/claude/icons/divid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" y="2052828"/>
            <a:ext cx="228600" cy="2286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27632" y="1847088"/>
            <a:ext cx="96313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67"/>
              </a:lnSpc>
              <a:buNone/>
            </a:pPr>
            <a:r>
              <a:rPr lang="en-US" sz="14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전화번호부에서 이름 찾기 — 완전 탐색(선형 검색) vs 분할 정복(이진 탐색)</a:t>
            </a:r>
            <a:endParaRPr lang="en-US" sz="1450" dirty="0"/>
          </a:p>
        </p:txBody>
      </p:sp>
      <p:sp>
        <p:nvSpPr>
          <p:cNvPr id="12" name="Shape 8"/>
          <p:cNvSpPr/>
          <p:nvPr/>
        </p:nvSpPr>
        <p:spPr>
          <a:xfrm>
            <a:off x="658368" y="2651760"/>
            <a:ext cx="5208880" cy="2651760"/>
          </a:xfrm>
          <a:prstGeom prst="roundRect">
            <a:avLst>
              <a:gd name="adj" fmla="val 4828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58368" y="2651760"/>
            <a:ext cx="5208880" cy="548640"/>
          </a:xfrm>
          <a:prstGeom prst="roundRect">
            <a:avLst>
              <a:gd name="adj" fmla="val 23333"/>
            </a:avLst>
          </a:prstGeom>
          <a:solidFill>
            <a:srgbClr val="FB7185"/>
          </a:solidFill>
          <a:ln/>
        </p:spPr>
      </p:sp>
      <p:sp>
        <p:nvSpPr>
          <p:cNvPr id="14" name="Text 10"/>
          <p:cNvSpPr/>
          <p:nvPr/>
        </p:nvSpPr>
        <p:spPr>
          <a:xfrm>
            <a:off x="932688" y="2651760"/>
            <a:ext cx="466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탐색 (선형 검색)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950976" y="3383280"/>
            <a:ext cx="46236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페이지부터 끝까지 한 줄씩 확인한다.</a:t>
            </a:r>
            <a:endParaRPr lang="en-US" sz="1350" dirty="0"/>
          </a:p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최악의 경우 전체 페이지를 다 봐야 함.</a:t>
            </a:r>
            <a:endParaRPr lang="en-US" sz="1350" dirty="0"/>
          </a:p>
        </p:txBody>
      </p:sp>
      <p:sp>
        <p:nvSpPr>
          <p:cNvPr id="16" name="Shape 12"/>
          <p:cNvSpPr/>
          <p:nvPr/>
        </p:nvSpPr>
        <p:spPr>
          <a:xfrm>
            <a:off x="932688" y="4754880"/>
            <a:ext cx="4660240" cy="384048"/>
          </a:xfrm>
          <a:prstGeom prst="roundRect">
            <a:avLst>
              <a:gd name="adj" fmla="val 19048"/>
            </a:avLst>
          </a:prstGeom>
          <a:solidFill>
            <a:srgbClr val="17163A"/>
          </a:solidFill>
          <a:ln/>
        </p:spPr>
      </p:sp>
      <p:sp>
        <p:nvSpPr>
          <p:cNvPr id="17" name="Text 13"/>
          <p:cNvSpPr/>
          <p:nvPr/>
        </p:nvSpPr>
        <p:spPr>
          <a:xfrm>
            <a:off x="932688" y="4754880"/>
            <a:ext cx="466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O(n) 시간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324448" y="2651760"/>
            <a:ext cx="5208880" cy="2651760"/>
          </a:xfrm>
          <a:prstGeom prst="roundRect">
            <a:avLst>
              <a:gd name="adj" fmla="val 4828"/>
            </a:avLst>
          </a:prstGeom>
          <a:solidFill>
            <a:srgbClr val="EEF0FF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324448" y="2651760"/>
            <a:ext cx="5208880" cy="548640"/>
          </a:xfrm>
          <a:prstGeom prst="roundRect">
            <a:avLst>
              <a:gd name="adj" fmla="val 23333"/>
            </a:avLst>
          </a:prstGeom>
          <a:solidFill>
            <a:srgbClr val="10B981"/>
          </a:solidFill>
          <a:ln/>
        </p:spPr>
      </p:sp>
      <p:sp>
        <p:nvSpPr>
          <p:cNvPr id="20" name="Text 16"/>
          <p:cNvSpPr/>
          <p:nvPr/>
        </p:nvSpPr>
        <p:spPr>
          <a:xfrm>
            <a:off x="6598768" y="2651760"/>
            <a:ext cx="466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분할 정복 (이진 탐색)</a:t>
            </a:r>
            <a:endParaRPr lang="en-US" sz="1500" dirty="0"/>
          </a:p>
        </p:txBody>
      </p:sp>
      <p:sp>
        <p:nvSpPr>
          <p:cNvPr id="21" name="Text 17"/>
          <p:cNvSpPr/>
          <p:nvPr/>
        </p:nvSpPr>
        <p:spPr>
          <a:xfrm>
            <a:off x="6617056" y="3383280"/>
            <a:ext cx="46236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중간 페이지를 펼쳐 앞/뒤를 판단하고 절반을 버린다.</a:t>
            </a:r>
            <a:endParaRPr lang="en-US" sz="1350" dirty="0"/>
          </a:p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매번 탐색 범위가 절반으로 감소 (n → log₂n).</a:t>
            </a:r>
            <a:endParaRPr lang="en-US" sz="1350" dirty="0"/>
          </a:p>
        </p:txBody>
      </p:sp>
      <p:sp>
        <p:nvSpPr>
          <p:cNvPr id="22" name="Shape 18"/>
          <p:cNvSpPr/>
          <p:nvPr/>
        </p:nvSpPr>
        <p:spPr>
          <a:xfrm>
            <a:off x="6598768" y="4754880"/>
            <a:ext cx="4660240" cy="384048"/>
          </a:xfrm>
          <a:prstGeom prst="roundRect">
            <a:avLst>
              <a:gd name="adj" fmla="val 19048"/>
            </a:avLst>
          </a:prstGeom>
          <a:solidFill>
            <a:srgbClr val="17163A"/>
          </a:solidFill>
          <a:ln/>
        </p:spPr>
      </p:sp>
      <p:sp>
        <p:nvSpPr>
          <p:cNvPr id="23" name="Text 19"/>
          <p:cNvSpPr/>
          <p:nvPr/>
        </p:nvSpPr>
        <p:spPr>
          <a:xfrm>
            <a:off x="6598768" y="4754880"/>
            <a:ext cx="466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O(log n) 시간</a:t>
            </a:r>
            <a:endParaRPr lang="en-US" sz="1300" dirty="0"/>
          </a:p>
        </p:txBody>
      </p:sp>
      <p:sp>
        <p:nvSpPr>
          <p:cNvPr id="24" name="Text 20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37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404872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rocke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2.7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알고리즘의 씨앗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778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진화 ③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58368" y="1133856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기억력을 더하면 → 동적 계획법</a:t>
            </a:r>
            <a:endParaRPr lang="en-US" sz="2900" dirty="0"/>
          </a:p>
        </p:txBody>
      </p:sp>
      <p:sp>
        <p:nvSpPr>
          <p:cNvPr id="8" name="Text 5"/>
          <p:cNvSpPr/>
          <p:nvPr/>
        </p:nvSpPr>
        <p:spPr>
          <a:xfrm>
            <a:off x="658368" y="1847088"/>
            <a:ext cx="1087495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17"/>
              </a:lnSpc>
              <a:buNone/>
            </a:pPr>
            <a:r>
              <a:rPr lang="en-US" sz="135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피보나치 수열   </a:t>
            </a:r>
            <a:r>
              <a:rPr lang="en-US" sz="13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F(n) = F(n-1) + F(n-2)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658368" y="228600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탐색: O(2ⁿ) — 중복 계산!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58368" y="2651760"/>
            <a:ext cx="5943600" cy="548640"/>
          </a:xfrm>
          <a:prstGeom prst="roundRect">
            <a:avLst>
              <a:gd name="adj" fmla="val 23333"/>
            </a:avLst>
          </a:prstGeom>
          <a:solidFill>
            <a:srgbClr val="EEF0FF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914400" y="265176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1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F(5) = F(4) + F(3)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58368" y="3310128"/>
            <a:ext cx="5943600" cy="548640"/>
          </a:xfrm>
          <a:prstGeom prst="roundRect">
            <a:avLst>
              <a:gd name="adj" fmla="val 23333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914400" y="331012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1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F(4) = F(3) + F(2)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90288" y="33101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← 다시 계산!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58368" y="3968496"/>
            <a:ext cx="5943600" cy="548640"/>
          </a:xfrm>
          <a:prstGeom prst="roundRect">
            <a:avLst>
              <a:gd name="adj" fmla="val 23333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914400" y="3968496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1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F(3) = F(2) + F(1)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4590288" y="396849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← 다시 계산!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58368" y="470916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F(3), F(2)이 여러 번 호출 → 지수적 폭발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7013448" y="2286000"/>
            <a:ext cx="451987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 계획법: O(n) — 기억!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7013448" y="2651760"/>
            <a:ext cx="4519879" cy="2331720"/>
          </a:xfrm>
          <a:prstGeom prst="roundRect">
            <a:avLst>
              <a:gd name="adj" fmla="val 4706"/>
            </a:avLst>
          </a:prstGeom>
          <a:solidFill>
            <a:srgbClr val="1D1C3D"/>
          </a:solidFill>
          <a:ln/>
          <a:effectLst>
            <a:outerShdw blurRad="203200" dist="76200" dir="5400000" algn="bl" rotWithShape="0">
              <a:srgbClr val="1A1836">
                <a:alpha val="2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013448" y="2651760"/>
            <a:ext cx="4519879" cy="457200"/>
          </a:xfrm>
          <a:prstGeom prst="roundRect">
            <a:avLst>
              <a:gd name="adj" fmla="val 24000"/>
            </a:avLst>
          </a:prstGeom>
          <a:solidFill>
            <a:srgbClr val="2A2856"/>
          </a:solidFill>
          <a:ln/>
        </p:spPr>
      </p:sp>
      <p:sp>
        <p:nvSpPr>
          <p:cNvPr id="22" name="Shape 19"/>
          <p:cNvSpPr/>
          <p:nvPr/>
        </p:nvSpPr>
        <p:spPr>
          <a:xfrm>
            <a:off x="7013448" y="2907792"/>
            <a:ext cx="4519879" cy="128016"/>
          </a:xfrm>
          <a:prstGeom prst="rect">
            <a:avLst/>
          </a:prstGeom>
          <a:solidFill>
            <a:srgbClr val="1D1C3D"/>
          </a:solidFill>
          <a:ln/>
        </p:spPr>
      </p:sp>
      <p:sp>
        <p:nvSpPr>
          <p:cNvPr id="23" name="Shape 20"/>
          <p:cNvSpPr/>
          <p:nvPr/>
        </p:nvSpPr>
        <p:spPr>
          <a:xfrm>
            <a:off x="7214616" y="2779776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24" name="Shape 21"/>
          <p:cNvSpPr/>
          <p:nvPr/>
        </p:nvSpPr>
        <p:spPr>
          <a:xfrm>
            <a:off x="7415784" y="2779776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25" name="Shape 22"/>
          <p:cNvSpPr/>
          <p:nvPr/>
        </p:nvSpPr>
        <p:spPr>
          <a:xfrm>
            <a:off x="7616952" y="2779776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26" name="Text 23"/>
          <p:cNvSpPr/>
          <p:nvPr/>
        </p:nvSpPr>
        <p:spPr>
          <a:xfrm>
            <a:off x="7836408" y="2651760"/>
            <a:ext cx="35140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9A9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fib_dp.py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7269480" y="3072384"/>
            <a:ext cx="4062679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memo = {}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fib(n):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n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memo: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memo[n]    </a:t>
            </a:r>
            <a:r>
              <a:rPr lang="en-US" sz="120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기억!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n &lt;= </a:t>
            </a:r>
            <a:r>
              <a:rPr lang="en-US" sz="12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n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memo[n] = fib(n-</a:t>
            </a:r>
            <a:r>
              <a:rPr lang="en-US" sz="12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 + fib(n-</a:t>
            </a:r>
            <a:r>
              <a:rPr lang="en-US" sz="12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memo[n]        </a:t>
            </a:r>
            <a:r>
              <a:rPr lang="en-US" sz="120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저장!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58368" y="5212080"/>
            <a:ext cx="10874959" cy="640080"/>
          </a:xfrm>
          <a:prstGeom prst="roundRect">
            <a:avLst>
              <a:gd name="adj" fmla="val 20000"/>
            </a:avLst>
          </a:prstGeom>
          <a:solidFill>
            <a:srgbClr val="17163A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914400" y="5303520"/>
            <a:ext cx="457200" cy="457200"/>
          </a:xfrm>
          <a:prstGeom prst="ellipse">
            <a:avLst/>
          </a:prstGeom>
          <a:solidFill>
            <a:srgbClr val="7C3AED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30" name="Image 1" descr="/home/claude/icons/brain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" y="5417820"/>
            <a:ext cx="228600" cy="228600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1627632" y="5212080"/>
            <a:ext cx="96313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10"/>
              </a:lnSpc>
              <a:buNone/>
            </a:pPr>
            <a:r>
              <a:rPr lang="en-US" sz="14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 계획법</a:t>
            </a:r>
            <a:r>
              <a:rPr lang="en-US" sz="1400" dirty="0">
                <a:solidFill>
                  <a:srgbClr val="D9D7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= “기억력(memoization)을 장착한 스마트한 완전 탐색”</a:t>
            </a:r>
            <a:endParaRPr lang="en-US" sz="1400" dirty="0"/>
          </a:p>
        </p:txBody>
      </p:sp>
      <p:sp>
        <p:nvSpPr>
          <p:cNvPr id="32" name="Text 28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38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404872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rocke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2.7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알고리즘의 씨앗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 진화 지도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658368" y="1920240"/>
            <a:ext cx="2485568" cy="3291840"/>
          </a:xfrm>
          <a:prstGeom prst="roundRect">
            <a:avLst>
              <a:gd name="adj" fmla="val 5150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1512532" y="2240280"/>
            <a:ext cx="777240" cy="777240"/>
          </a:xfrm>
          <a:prstGeom prst="ellipse">
            <a:avLst/>
          </a:prstGeom>
          <a:solidFill>
            <a:srgbClr val="F59E0B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9" name="Image 1" descr="/home/claude/icons/search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6842" y="2434590"/>
            <a:ext cx="388620" cy="3886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58368" y="3108960"/>
            <a:ext cx="2485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탐색</a:t>
            </a:r>
            <a:endParaRPr lang="en-US" sz="1550" dirty="0"/>
          </a:p>
        </p:txBody>
      </p:sp>
      <p:sp>
        <p:nvSpPr>
          <p:cNvPr id="11" name="Shape 7"/>
          <p:cNvSpPr/>
          <p:nvPr/>
        </p:nvSpPr>
        <p:spPr>
          <a:xfrm>
            <a:off x="1123912" y="3493008"/>
            <a:ext cx="1554480" cy="384048"/>
          </a:xfrm>
          <a:prstGeom prst="roundRect">
            <a:avLst>
              <a:gd name="adj" fmla="val 23810"/>
            </a:avLst>
          </a:prstGeom>
          <a:solidFill>
            <a:srgbClr val="F59E0B"/>
          </a:solidFill>
          <a:ln/>
        </p:spPr>
      </p:sp>
      <p:sp>
        <p:nvSpPr>
          <p:cNvPr id="12" name="Text 8"/>
          <p:cNvSpPr/>
          <p:nvPr/>
        </p:nvSpPr>
        <p:spPr>
          <a:xfrm>
            <a:off x="1123912" y="349300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기준점</a:t>
            </a:r>
            <a:endParaRPr lang="en-US" sz="1150" dirty="0"/>
          </a:p>
        </p:txBody>
      </p:sp>
      <p:sp>
        <p:nvSpPr>
          <p:cNvPr id="13" name="Text 9"/>
          <p:cNvSpPr/>
          <p:nvPr/>
        </p:nvSpPr>
        <p:spPr>
          <a:xfrm>
            <a:off x="658368" y="4069080"/>
            <a:ext cx="248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kern="0" spc="1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응용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658368" y="4370832"/>
            <a:ext cx="2485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문제의</a:t>
            </a:r>
            <a:endParaRPr lang="en-US" sz="1250" dirty="0"/>
          </a:p>
          <a:p>
            <a:pPr marL="0" indent="0" algn="ctr">
              <a:lnSpc>
                <a:spcPts val="16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출발점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3171368" y="3419856"/>
            <a:ext cx="256032" cy="292608"/>
          </a:xfrm>
          <a:prstGeom prst="rightArrow">
            <a:avLst/>
          </a:prstGeom>
          <a:solidFill>
            <a:srgbClr val="E7E6FB"/>
          </a:solidFill>
          <a:ln/>
        </p:spPr>
      </p:sp>
      <p:sp>
        <p:nvSpPr>
          <p:cNvPr id="16" name="Shape 12"/>
          <p:cNvSpPr/>
          <p:nvPr/>
        </p:nvSpPr>
        <p:spPr>
          <a:xfrm>
            <a:off x="3454832" y="1920240"/>
            <a:ext cx="2485568" cy="3291840"/>
          </a:xfrm>
          <a:prstGeom prst="roundRect">
            <a:avLst>
              <a:gd name="adj" fmla="val 5150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308996" y="2240280"/>
            <a:ext cx="777240" cy="777240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8" name="Image 2" descr="/home/claude/icons/scale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3306" y="2434590"/>
            <a:ext cx="388620" cy="38862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3454832" y="3108960"/>
            <a:ext cx="2485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백트래킹</a:t>
            </a:r>
            <a:endParaRPr lang="en-US" sz="1550" dirty="0"/>
          </a:p>
        </p:txBody>
      </p:sp>
      <p:sp>
        <p:nvSpPr>
          <p:cNvPr id="20" name="Shape 15"/>
          <p:cNvSpPr/>
          <p:nvPr/>
        </p:nvSpPr>
        <p:spPr>
          <a:xfrm>
            <a:off x="3920376" y="3493008"/>
            <a:ext cx="1554480" cy="384048"/>
          </a:xfrm>
          <a:prstGeom prst="roundRect">
            <a:avLst>
              <a:gd name="adj" fmla="val 23810"/>
            </a:avLst>
          </a:prstGeom>
          <a:solidFill>
            <a:srgbClr val="10B981"/>
          </a:solidFill>
          <a:ln/>
        </p:spPr>
      </p:sp>
      <p:sp>
        <p:nvSpPr>
          <p:cNvPr id="21" name="Text 16"/>
          <p:cNvSpPr/>
          <p:nvPr/>
        </p:nvSpPr>
        <p:spPr>
          <a:xfrm>
            <a:off x="3920376" y="349300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+가지치기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3454832" y="4069080"/>
            <a:ext cx="248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kern="0" spc="1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응용</a:t>
            </a:r>
            <a:endParaRPr lang="en-US" sz="1050" dirty="0"/>
          </a:p>
        </p:txBody>
      </p:sp>
      <p:sp>
        <p:nvSpPr>
          <p:cNvPr id="23" name="Text 18"/>
          <p:cNvSpPr/>
          <p:nvPr/>
        </p:nvSpPr>
        <p:spPr>
          <a:xfrm>
            <a:off x="3454832" y="4370832"/>
            <a:ext cx="2485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N-Queens</a:t>
            </a:r>
            <a:endParaRPr lang="en-US" sz="1250" dirty="0"/>
          </a:p>
          <a:p>
            <a:pPr marL="0" indent="0" algn="ctr">
              <a:lnSpc>
                <a:spcPts val="16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스도쿠</a:t>
            </a:r>
            <a:endParaRPr lang="en-US" sz="1250" dirty="0"/>
          </a:p>
        </p:txBody>
      </p:sp>
      <p:sp>
        <p:nvSpPr>
          <p:cNvPr id="24" name="Shape 19"/>
          <p:cNvSpPr/>
          <p:nvPr/>
        </p:nvSpPr>
        <p:spPr>
          <a:xfrm>
            <a:off x="5967832" y="3419856"/>
            <a:ext cx="256032" cy="292608"/>
          </a:xfrm>
          <a:prstGeom prst="rightArrow">
            <a:avLst/>
          </a:prstGeom>
          <a:solidFill>
            <a:srgbClr val="E7E6FB"/>
          </a:solidFill>
          <a:ln/>
        </p:spPr>
      </p:sp>
      <p:sp>
        <p:nvSpPr>
          <p:cNvPr id="25" name="Shape 20"/>
          <p:cNvSpPr/>
          <p:nvPr/>
        </p:nvSpPr>
        <p:spPr>
          <a:xfrm>
            <a:off x="6251296" y="1920240"/>
            <a:ext cx="2485568" cy="3291840"/>
          </a:xfrm>
          <a:prstGeom prst="roundRect">
            <a:avLst>
              <a:gd name="adj" fmla="val 5150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7105459" y="2240280"/>
            <a:ext cx="777240" cy="777240"/>
          </a:xfrm>
          <a:prstGeom prst="ellipse">
            <a:avLst/>
          </a:prstGeom>
          <a:solidFill>
            <a:srgbClr val="38BDF8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27" name="Image 3" descr="/home/claude/icons/divide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99769" y="2434590"/>
            <a:ext cx="388620" cy="38862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6251296" y="3108960"/>
            <a:ext cx="2485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분할 정복</a:t>
            </a:r>
            <a:endParaRPr lang="en-US" sz="1550" dirty="0"/>
          </a:p>
        </p:txBody>
      </p:sp>
      <p:sp>
        <p:nvSpPr>
          <p:cNvPr id="29" name="Shape 23"/>
          <p:cNvSpPr/>
          <p:nvPr/>
        </p:nvSpPr>
        <p:spPr>
          <a:xfrm>
            <a:off x="6716839" y="3493008"/>
            <a:ext cx="1554480" cy="384048"/>
          </a:xfrm>
          <a:prstGeom prst="roundRect">
            <a:avLst>
              <a:gd name="adj" fmla="val 23810"/>
            </a:avLst>
          </a:prstGeom>
          <a:solidFill>
            <a:srgbClr val="38BDF8"/>
          </a:solidFill>
          <a:ln/>
        </p:spPr>
      </p:sp>
      <p:sp>
        <p:nvSpPr>
          <p:cNvPr id="30" name="Text 24"/>
          <p:cNvSpPr/>
          <p:nvPr/>
        </p:nvSpPr>
        <p:spPr>
          <a:xfrm>
            <a:off x="6716839" y="349300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+문제 분할</a:t>
            </a:r>
            <a:endParaRPr lang="en-US" sz="1150" dirty="0"/>
          </a:p>
        </p:txBody>
      </p:sp>
      <p:sp>
        <p:nvSpPr>
          <p:cNvPr id="31" name="Text 25"/>
          <p:cNvSpPr/>
          <p:nvPr/>
        </p:nvSpPr>
        <p:spPr>
          <a:xfrm>
            <a:off x="6251296" y="4069080"/>
            <a:ext cx="248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kern="0" spc="1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응용</a:t>
            </a:r>
            <a:endParaRPr lang="en-US" sz="1050" dirty="0"/>
          </a:p>
        </p:txBody>
      </p:sp>
      <p:sp>
        <p:nvSpPr>
          <p:cNvPr id="32" name="Text 26"/>
          <p:cNvSpPr/>
          <p:nvPr/>
        </p:nvSpPr>
        <p:spPr>
          <a:xfrm>
            <a:off x="6251296" y="4370832"/>
            <a:ext cx="2485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병합 정렬</a:t>
            </a:r>
            <a:endParaRPr lang="en-US" sz="1250" dirty="0"/>
          </a:p>
          <a:p>
            <a:pPr marL="0" indent="0" algn="ctr">
              <a:lnSpc>
                <a:spcPts val="16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이진 탐색</a:t>
            </a:r>
            <a:endParaRPr lang="en-US" sz="1250" dirty="0"/>
          </a:p>
        </p:txBody>
      </p:sp>
      <p:sp>
        <p:nvSpPr>
          <p:cNvPr id="33" name="Shape 27"/>
          <p:cNvSpPr/>
          <p:nvPr/>
        </p:nvSpPr>
        <p:spPr>
          <a:xfrm>
            <a:off x="8764295" y="3419856"/>
            <a:ext cx="256032" cy="292608"/>
          </a:xfrm>
          <a:prstGeom prst="rightArrow">
            <a:avLst/>
          </a:prstGeom>
          <a:solidFill>
            <a:srgbClr val="E7E6FB"/>
          </a:solidFill>
          <a:ln/>
        </p:spPr>
      </p:sp>
      <p:sp>
        <p:nvSpPr>
          <p:cNvPr id="34" name="Shape 28"/>
          <p:cNvSpPr/>
          <p:nvPr/>
        </p:nvSpPr>
        <p:spPr>
          <a:xfrm>
            <a:off x="9047759" y="1920240"/>
            <a:ext cx="2485568" cy="3291840"/>
          </a:xfrm>
          <a:prstGeom prst="roundRect">
            <a:avLst>
              <a:gd name="adj" fmla="val 5150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35" name="Shape 29"/>
          <p:cNvSpPr/>
          <p:nvPr/>
        </p:nvSpPr>
        <p:spPr>
          <a:xfrm>
            <a:off x="9901923" y="2240280"/>
            <a:ext cx="777240" cy="777240"/>
          </a:xfrm>
          <a:prstGeom prst="ellipse">
            <a:avLst/>
          </a:prstGeom>
          <a:solidFill>
            <a:srgbClr val="7C3AED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36" name="Image 4" descr="/home/claude/icons/brain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96233" y="2434590"/>
            <a:ext cx="388620" cy="388620"/>
          </a:xfrm>
          <a:prstGeom prst="rect">
            <a:avLst/>
          </a:prstGeom>
        </p:spPr>
      </p:pic>
      <p:sp>
        <p:nvSpPr>
          <p:cNvPr id="37" name="Text 30"/>
          <p:cNvSpPr/>
          <p:nvPr/>
        </p:nvSpPr>
        <p:spPr>
          <a:xfrm>
            <a:off x="9047759" y="3108960"/>
            <a:ext cx="2485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 계획법</a:t>
            </a:r>
            <a:endParaRPr lang="en-US" sz="1550" dirty="0"/>
          </a:p>
        </p:txBody>
      </p:sp>
      <p:sp>
        <p:nvSpPr>
          <p:cNvPr id="38" name="Shape 31"/>
          <p:cNvSpPr/>
          <p:nvPr/>
        </p:nvSpPr>
        <p:spPr>
          <a:xfrm>
            <a:off x="9513303" y="3493008"/>
            <a:ext cx="1554480" cy="384048"/>
          </a:xfrm>
          <a:prstGeom prst="roundRect">
            <a:avLst>
              <a:gd name="adj" fmla="val 23810"/>
            </a:avLst>
          </a:prstGeom>
          <a:solidFill>
            <a:srgbClr val="7C3AED"/>
          </a:solidFill>
          <a:ln/>
        </p:spPr>
      </p:sp>
      <p:sp>
        <p:nvSpPr>
          <p:cNvPr id="39" name="Text 32"/>
          <p:cNvSpPr/>
          <p:nvPr/>
        </p:nvSpPr>
        <p:spPr>
          <a:xfrm>
            <a:off x="9513303" y="349300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+메모이제이션</a:t>
            </a:r>
            <a:endParaRPr lang="en-US" sz="1150" dirty="0"/>
          </a:p>
        </p:txBody>
      </p:sp>
      <p:sp>
        <p:nvSpPr>
          <p:cNvPr id="40" name="Text 33"/>
          <p:cNvSpPr/>
          <p:nvPr/>
        </p:nvSpPr>
        <p:spPr>
          <a:xfrm>
            <a:off x="9047759" y="4069080"/>
            <a:ext cx="248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kern="0" spc="1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응용</a:t>
            </a:r>
            <a:endParaRPr lang="en-US" sz="1050" dirty="0"/>
          </a:p>
        </p:txBody>
      </p:sp>
      <p:sp>
        <p:nvSpPr>
          <p:cNvPr id="41" name="Text 34"/>
          <p:cNvSpPr/>
          <p:nvPr/>
        </p:nvSpPr>
        <p:spPr>
          <a:xfrm>
            <a:off x="9047759" y="4370832"/>
            <a:ext cx="2485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피보나치</a:t>
            </a:r>
            <a:endParaRPr lang="en-US" sz="1250" dirty="0"/>
          </a:p>
          <a:p>
            <a:pPr marL="0" indent="0" algn="ctr">
              <a:lnSpc>
                <a:spcPts val="16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배낭 문제</a:t>
            </a:r>
            <a:endParaRPr lang="en-US" sz="1250" dirty="0"/>
          </a:p>
        </p:txBody>
      </p:sp>
      <p:sp>
        <p:nvSpPr>
          <p:cNvPr id="42" name="Text 35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716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89320" y="182880"/>
            <a:ext cx="6199632" cy="6583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5500" b="1" dirty="0">
                <a:solidFill>
                  <a:srgbClr val="201E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2.8</a:t>
            </a:r>
            <a:endParaRPr lang="en-US" sz="255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28016" cy="128016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1133856" y="1371600"/>
            <a:ext cx="128016" cy="128016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5" name="Shape 3"/>
          <p:cNvSpPr/>
          <p:nvPr/>
        </p:nvSpPr>
        <p:spPr>
          <a:xfrm>
            <a:off x="1444752" y="1371600"/>
            <a:ext cx="128016" cy="128016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828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SECTION 2.8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68680" y="2423160"/>
            <a:ext cx="822960" cy="822960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8" name="Image 0" descr="/home/claude/icons/trophy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" y="2628900"/>
            <a:ext cx="411480" cy="4114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874520" y="2377440"/>
            <a:ext cx="8595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코딩 테스트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896112" y="3611880"/>
            <a:ext cx="7955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550" dirty="0">
                <a:solidFill>
                  <a:srgbClr val="C8C6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탐색을 실전에 적용합니다. 입력 크기로 가능 여부를 판단하고 문제를 해결합니다.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A6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103120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trophy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2.8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코딩 테스트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코딩 테스트란?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658368" y="1737360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59"/>
              </a:lnSpc>
              <a:buNone/>
            </a:pPr>
            <a:r>
              <a:rPr lang="en-US" sz="14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화려한 스펙보다 ‘실질적인 개발 역량’을 증명하는 자리입니다.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58368" y="2286000"/>
            <a:ext cx="2499284" cy="2880360"/>
          </a:xfrm>
          <a:prstGeom prst="roundRect">
            <a:avLst>
              <a:gd name="adj" fmla="val 5122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1519390" y="2633472"/>
            <a:ext cx="777240" cy="777240"/>
          </a:xfrm>
          <a:prstGeom prst="ellipse">
            <a:avLst/>
          </a:prstGeom>
          <a:solidFill>
            <a:srgbClr val="4F46E5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0" name="Image 1" descr="/home/claude/icons/brain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13700" y="2827782"/>
            <a:ext cx="388620" cy="3886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95528" y="3520440"/>
            <a:ext cx="22249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알고리즘적 사고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914400" y="4160520"/>
            <a:ext cx="19872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700"/>
              </a:lnSpc>
              <a:buNone/>
            </a:pPr>
            <a:r>
              <a:rPr lang="en-US" sz="12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알고리즘을 적용해야 효율적으로 풀 수 있는지 설계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3450260" y="2286000"/>
            <a:ext cx="2499284" cy="2880360"/>
          </a:xfrm>
          <a:prstGeom prst="roundRect">
            <a:avLst>
              <a:gd name="adj" fmla="val 5122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311282" y="2633472"/>
            <a:ext cx="777240" cy="777240"/>
          </a:xfrm>
          <a:prstGeom prst="ellipse">
            <a:avLst/>
          </a:prstGeom>
          <a:solidFill>
            <a:srgbClr val="7C3AED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5" name="Image 2" descr="/home/claude/icons/database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5592" y="2827782"/>
            <a:ext cx="388620" cy="3886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587420" y="3520440"/>
            <a:ext cx="22249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자료구조 활용</a:t>
            </a:r>
            <a:endParaRPr lang="en-US" sz="1450" dirty="0"/>
          </a:p>
        </p:txBody>
      </p:sp>
      <p:sp>
        <p:nvSpPr>
          <p:cNvPr id="17" name="Text 12"/>
          <p:cNvSpPr/>
          <p:nvPr/>
        </p:nvSpPr>
        <p:spPr>
          <a:xfrm>
            <a:off x="3706292" y="4160520"/>
            <a:ext cx="19872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700"/>
              </a:lnSpc>
              <a:buNone/>
            </a:pPr>
            <a:r>
              <a:rPr lang="en-US" sz="12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적절한 자료구조 선택으로 성능을 고려한 코드 작성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6242152" y="2286000"/>
            <a:ext cx="2499284" cy="2880360"/>
          </a:xfrm>
          <a:prstGeom prst="roundRect">
            <a:avLst>
              <a:gd name="adj" fmla="val 5122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103174" y="2633472"/>
            <a:ext cx="777240" cy="777240"/>
          </a:xfrm>
          <a:prstGeom prst="ellipse">
            <a:avLst/>
          </a:prstGeom>
          <a:solidFill>
            <a:srgbClr val="38BDF8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20" name="Image 3" descr="/home/claude/icons/puzzle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97484" y="2827782"/>
            <a:ext cx="388620" cy="38862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379312" y="3520440"/>
            <a:ext cx="22249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해결 능력</a:t>
            </a:r>
            <a:endParaRPr lang="en-US" sz="1450" dirty="0"/>
          </a:p>
        </p:txBody>
      </p:sp>
      <p:sp>
        <p:nvSpPr>
          <p:cNvPr id="22" name="Text 16"/>
          <p:cNvSpPr/>
          <p:nvPr/>
        </p:nvSpPr>
        <p:spPr>
          <a:xfrm>
            <a:off x="6498184" y="4160520"/>
            <a:ext cx="19872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700"/>
              </a:lnSpc>
              <a:buNone/>
            </a:pPr>
            <a:r>
              <a:rPr lang="en-US" sz="12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제한 시간 안에 요구사항을 정확히 파악하고 구현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9034043" y="2286000"/>
            <a:ext cx="2499284" cy="2880360"/>
          </a:xfrm>
          <a:prstGeom prst="roundRect">
            <a:avLst>
              <a:gd name="adj" fmla="val 5122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9895065" y="2633472"/>
            <a:ext cx="777240" cy="777240"/>
          </a:xfrm>
          <a:prstGeom prst="ellipse">
            <a:avLst/>
          </a:prstGeom>
          <a:solidFill>
            <a:srgbClr val="F59E0B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25" name="Image 4" descr="/home/claude/icons/bolt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89375" y="2827782"/>
            <a:ext cx="388620" cy="38862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9171203" y="3520440"/>
            <a:ext cx="22249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실전 감각</a:t>
            </a:r>
            <a:endParaRPr lang="en-US" sz="1450" dirty="0"/>
          </a:p>
        </p:txBody>
      </p:sp>
      <p:sp>
        <p:nvSpPr>
          <p:cNvPr id="27" name="Text 20"/>
          <p:cNvSpPr/>
          <p:nvPr/>
        </p:nvSpPr>
        <p:spPr>
          <a:xfrm>
            <a:off x="9290075" y="4160520"/>
            <a:ext cx="19872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700"/>
              </a:lnSpc>
              <a:buNone/>
            </a:pPr>
            <a:r>
              <a:rPr lang="en-US" sz="12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낯선 환경·제한 시간 속 집중력과 디버깅 능력</a:t>
            </a:r>
            <a:endParaRPr lang="en-US" sz="1200" dirty="0"/>
          </a:p>
        </p:txBody>
      </p:sp>
      <p:sp>
        <p:nvSpPr>
          <p:cNvPr id="28" name="Text 21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41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103120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trophy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2.8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코딩 테스트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731520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코딩 테스트에서 입력 받기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658368" y="1481328"/>
            <a:ext cx="10874959" cy="594360"/>
          </a:xfrm>
          <a:prstGeom prst="roundRect">
            <a:avLst>
              <a:gd name="adj" fmla="val 18462"/>
            </a:avLst>
          </a:prstGeom>
          <a:solidFill>
            <a:srgbClr val="EEF0FF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914400" y="1549908"/>
            <a:ext cx="457200" cy="457200"/>
          </a:xfrm>
          <a:prstGeom prst="ellipse">
            <a:avLst/>
          </a:prstGeom>
          <a:solidFill>
            <a:srgbClr val="F59E0B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9" name="Image 1" descr="/home/claude/icons/bolt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" y="1664208"/>
            <a:ext cx="228600" cy="2286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27632" y="1481328"/>
            <a:ext cx="96313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4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대량 입력에서 input()은 느리다 → </a:t>
            </a:r>
            <a:r>
              <a:rPr lang="en-US" sz="140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sys.stdin.readline</a:t>
            </a:r>
            <a:r>
              <a:rPr lang="en-US" sz="14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을 사용하자!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658368" y="2240280"/>
            <a:ext cx="10874959" cy="3566160"/>
          </a:xfrm>
          <a:prstGeom prst="roundRect">
            <a:avLst>
              <a:gd name="adj" fmla="val 3077"/>
            </a:avLst>
          </a:prstGeom>
          <a:solidFill>
            <a:srgbClr val="1D1C3D"/>
          </a:solidFill>
          <a:ln/>
          <a:effectLst>
            <a:outerShdw blurRad="203200" dist="76200" dir="5400000" algn="bl" rotWithShape="0">
              <a:srgbClr val="1A1836">
                <a:alpha val="28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58368" y="2240280"/>
            <a:ext cx="10874959" cy="457200"/>
          </a:xfrm>
          <a:prstGeom prst="roundRect">
            <a:avLst>
              <a:gd name="adj" fmla="val 24000"/>
            </a:avLst>
          </a:prstGeom>
          <a:solidFill>
            <a:srgbClr val="2A2856"/>
          </a:solidFill>
          <a:ln/>
        </p:spPr>
      </p:sp>
      <p:sp>
        <p:nvSpPr>
          <p:cNvPr id="13" name="Shape 9"/>
          <p:cNvSpPr/>
          <p:nvPr/>
        </p:nvSpPr>
        <p:spPr>
          <a:xfrm>
            <a:off x="658368" y="2496312"/>
            <a:ext cx="10874959" cy="128016"/>
          </a:xfrm>
          <a:prstGeom prst="rect">
            <a:avLst/>
          </a:prstGeom>
          <a:solidFill>
            <a:srgbClr val="1D1C3D"/>
          </a:solidFill>
          <a:ln/>
        </p:spPr>
      </p:sp>
      <p:sp>
        <p:nvSpPr>
          <p:cNvPr id="14" name="Shape 10"/>
          <p:cNvSpPr/>
          <p:nvPr/>
        </p:nvSpPr>
        <p:spPr>
          <a:xfrm>
            <a:off x="859536" y="2368296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5" name="Shape 11"/>
          <p:cNvSpPr/>
          <p:nvPr/>
        </p:nvSpPr>
        <p:spPr>
          <a:xfrm>
            <a:off x="1060704" y="2368296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6" name="Shape 12"/>
          <p:cNvSpPr/>
          <p:nvPr/>
        </p:nvSpPr>
        <p:spPr>
          <a:xfrm>
            <a:off x="1261872" y="2368296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7" name="Text 13"/>
          <p:cNvSpPr/>
          <p:nvPr/>
        </p:nvSpPr>
        <p:spPr>
          <a:xfrm>
            <a:off x="1481328" y="2240280"/>
            <a:ext cx="98691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9A9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fast_input.py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914400" y="2770632"/>
            <a:ext cx="10417759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sys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= sys.stdin.readline        </a:t>
            </a:r>
            <a:r>
              <a:rPr lang="en-US" sz="130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input()을 덮어씀!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n, m = </a:t>
            </a: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().split())            </a:t>
            </a:r>
            <a:r>
              <a:rPr lang="en-US" sz="130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"3 5"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 = </a:t>
            </a: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().split()))      </a:t>
            </a:r>
            <a:r>
              <a:rPr lang="en-US" sz="130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"10 20 30 40"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 = </a:t>
            </a: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())                            </a:t>
            </a:r>
            <a:r>
              <a:rPr lang="en-US" sz="130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N개의 줄 입력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 = [</a:t>
            </a: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()) </a:t>
            </a: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_ </a:t>
            </a: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(n)]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grid = [</a:t>
            </a: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().split()))     </a:t>
            </a:r>
            <a:r>
              <a:rPr lang="en-US" sz="130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2차원 배열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_ </a:t>
            </a: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(n)]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42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103120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trophy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2.8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코딩 테스트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탐색 전략: 경우의 수를 먼저 계산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658368" y="1737360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88"/>
              </a:lnSpc>
              <a:buNone/>
            </a:pPr>
            <a:r>
              <a:rPr lang="en-US" sz="14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중요한 것은 입력 크기 n 자체가 아니라 경우의 수(탐색 공간)입니다.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58368" y="2286000"/>
            <a:ext cx="10874959" cy="749808"/>
          </a:xfrm>
          <a:prstGeom prst="roundRect">
            <a:avLst>
              <a:gd name="adj" fmla="val 17073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96112" y="2409444"/>
            <a:ext cx="502920" cy="502920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0" name="Image 1" descr="/home/claude/icons/che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1842" y="2535174"/>
            <a:ext cx="251460" cy="2514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18488" y="2286000"/>
            <a:ext cx="2743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수십만 번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407408" y="2432304"/>
            <a:ext cx="1828800" cy="457200"/>
          </a:xfrm>
          <a:prstGeom prst="roundRect">
            <a:avLst>
              <a:gd name="adj" fmla="val 18000"/>
            </a:avLst>
          </a:prstGeom>
          <a:solidFill>
            <a:srgbClr val="10B981"/>
          </a:solidFill>
          <a:ln/>
        </p:spPr>
      </p:sp>
      <p:sp>
        <p:nvSpPr>
          <p:cNvPr id="13" name="Text 9"/>
          <p:cNvSpPr/>
          <p:nvPr/>
        </p:nvSpPr>
        <p:spPr>
          <a:xfrm>
            <a:off x="4407408" y="243230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매우 안전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6510528" y="2286000"/>
            <a:ext cx="483991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50" dirty="0">
                <a:solidFill>
                  <a:srgbClr val="3C3B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O(n³), n≤100 : 10⁶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658368" y="3163824"/>
            <a:ext cx="10874959" cy="749808"/>
          </a:xfrm>
          <a:prstGeom prst="roundRect">
            <a:avLst>
              <a:gd name="adj" fmla="val 17073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96112" y="3287268"/>
            <a:ext cx="502920" cy="502920"/>
          </a:xfrm>
          <a:prstGeom prst="ellipse">
            <a:avLst/>
          </a:prstGeom>
          <a:solidFill>
            <a:srgbClr val="38BDF8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7" name="Image 2" descr="/home/claude/icons/che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1842" y="3412998"/>
            <a:ext cx="251460" cy="25146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618488" y="3163824"/>
            <a:ext cx="2743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수백만 번</a:t>
            </a:r>
            <a:endParaRPr lang="en-US" sz="1600" dirty="0"/>
          </a:p>
        </p:txBody>
      </p:sp>
      <p:sp>
        <p:nvSpPr>
          <p:cNvPr id="19" name="Shape 14"/>
          <p:cNvSpPr/>
          <p:nvPr/>
        </p:nvSpPr>
        <p:spPr>
          <a:xfrm>
            <a:off x="4407408" y="3310128"/>
            <a:ext cx="1828800" cy="457200"/>
          </a:xfrm>
          <a:prstGeom prst="roundRect">
            <a:avLst>
              <a:gd name="adj" fmla="val 18000"/>
            </a:avLst>
          </a:prstGeom>
          <a:solidFill>
            <a:srgbClr val="38BDF8"/>
          </a:solidFill>
          <a:ln/>
        </p:spPr>
      </p:sp>
      <p:sp>
        <p:nvSpPr>
          <p:cNvPr id="20" name="Text 15"/>
          <p:cNvSpPr/>
          <p:nvPr/>
        </p:nvSpPr>
        <p:spPr>
          <a:xfrm>
            <a:off x="4407408" y="331012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보통 가능</a:t>
            </a:r>
            <a:endParaRPr lang="en-US" sz="1350" dirty="0"/>
          </a:p>
        </p:txBody>
      </p:sp>
      <p:sp>
        <p:nvSpPr>
          <p:cNvPr id="21" name="Text 16"/>
          <p:cNvSpPr/>
          <p:nvPr/>
        </p:nvSpPr>
        <p:spPr>
          <a:xfrm>
            <a:off x="6510528" y="3163824"/>
            <a:ext cx="483991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50" dirty="0">
                <a:solidFill>
                  <a:srgbClr val="3C3B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O(2ⁿ), n≤20 : 10⁶</a:t>
            </a:r>
            <a:endParaRPr lang="en-US" sz="1350" dirty="0"/>
          </a:p>
        </p:txBody>
      </p:sp>
      <p:sp>
        <p:nvSpPr>
          <p:cNvPr id="22" name="Shape 17"/>
          <p:cNvSpPr/>
          <p:nvPr/>
        </p:nvSpPr>
        <p:spPr>
          <a:xfrm>
            <a:off x="658368" y="4041648"/>
            <a:ext cx="10874959" cy="749808"/>
          </a:xfrm>
          <a:prstGeom prst="roundRect">
            <a:avLst>
              <a:gd name="adj" fmla="val 17073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896112" y="4165092"/>
            <a:ext cx="502920" cy="502920"/>
          </a:xfrm>
          <a:prstGeom prst="ellipse">
            <a:avLst/>
          </a:prstGeom>
          <a:solidFill>
            <a:srgbClr val="F59E0B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24" name="Image 3" descr="/home/claude/icons/warn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1842" y="4290822"/>
            <a:ext cx="251460" cy="25146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618488" y="4041648"/>
            <a:ext cx="2743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수억 번 이상</a:t>
            </a:r>
            <a:endParaRPr lang="en-US" sz="1600" dirty="0"/>
          </a:p>
        </p:txBody>
      </p:sp>
      <p:sp>
        <p:nvSpPr>
          <p:cNvPr id="26" name="Shape 20"/>
          <p:cNvSpPr/>
          <p:nvPr/>
        </p:nvSpPr>
        <p:spPr>
          <a:xfrm>
            <a:off x="4407408" y="4187952"/>
            <a:ext cx="1828800" cy="457200"/>
          </a:xfrm>
          <a:prstGeom prst="roundRect">
            <a:avLst>
              <a:gd name="adj" fmla="val 18000"/>
            </a:avLst>
          </a:prstGeom>
          <a:solidFill>
            <a:srgbClr val="F59E0B"/>
          </a:solidFill>
          <a:ln/>
        </p:spPr>
      </p:sp>
      <p:sp>
        <p:nvSpPr>
          <p:cNvPr id="27" name="Text 21"/>
          <p:cNvSpPr/>
          <p:nvPr/>
        </p:nvSpPr>
        <p:spPr>
          <a:xfrm>
            <a:off x="4407408" y="418795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</a:t>
            </a:r>
            <a:endParaRPr lang="en-US" sz="1350" dirty="0"/>
          </a:p>
        </p:txBody>
      </p:sp>
      <p:sp>
        <p:nvSpPr>
          <p:cNvPr id="28" name="Text 22"/>
          <p:cNvSpPr/>
          <p:nvPr/>
        </p:nvSpPr>
        <p:spPr>
          <a:xfrm>
            <a:off x="6510528" y="4041648"/>
            <a:ext cx="483991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50" dirty="0">
                <a:solidFill>
                  <a:srgbClr val="3C3B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O(n!), n&gt;10</a:t>
            </a:r>
            <a:endParaRPr lang="en-US" sz="1350" dirty="0"/>
          </a:p>
        </p:txBody>
      </p:sp>
      <p:sp>
        <p:nvSpPr>
          <p:cNvPr id="29" name="Shape 23"/>
          <p:cNvSpPr/>
          <p:nvPr/>
        </p:nvSpPr>
        <p:spPr>
          <a:xfrm>
            <a:off x="658368" y="4919472"/>
            <a:ext cx="10874959" cy="749808"/>
          </a:xfrm>
          <a:prstGeom prst="roundRect">
            <a:avLst>
              <a:gd name="adj" fmla="val 17073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896112" y="5042916"/>
            <a:ext cx="502920" cy="502920"/>
          </a:xfrm>
          <a:prstGeom prst="ellipse">
            <a:avLst/>
          </a:prstGeom>
          <a:solidFill>
            <a:srgbClr val="FB7185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31" name="Image 4" descr="/home/claude/icons/time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1842" y="5168646"/>
            <a:ext cx="251460" cy="251460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1618488" y="4919472"/>
            <a:ext cx="2743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수십억 번 +</a:t>
            </a:r>
            <a:endParaRPr lang="en-US" sz="1600" dirty="0"/>
          </a:p>
        </p:txBody>
      </p:sp>
      <p:sp>
        <p:nvSpPr>
          <p:cNvPr id="33" name="Shape 26"/>
          <p:cNvSpPr/>
          <p:nvPr/>
        </p:nvSpPr>
        <p:spPr>
          <a:xfrm>
            <a:off x="4407408" y="5065776"/>
            <a:ext cx="1828800" cy="457200"/>
          </a:xfrm>
          <a:prstGeom prst="roundRect">
            <a:avLst>
              <a:gd name="adj" fmla="val 18000"/>
            </a:avLst>
          </a:prstGeom>
          <a:solidFill>
            <a:srgbClr val="FB7185"/>
          </a:solidFill>
          <a:ln/>
        </p:spPr>
      </p:sp>
      <p:sp>
        <p:nvSpPr>
          <p:cNvPr id="34" name="Text 27"/>
          <p:cNvSpPr/>
          <p:nvPr/>
        </p:nvSpPr>
        <p:spPr>
          <a:xfrm>
            <a:off x="4407408" y="5065776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 초과</a:t>
            </a:r>
            <a:endParaRPr lang="en-US" sz="1350" dirty="0"/>
          </a:p>
        </p:txBody>
      </p:sp>
      <p:sp>
        <p:nvSpPr>
          <p:cNvPr id="35" name="Text 28"/>
          <p:cNvSpPr/>
          <p:nvPr/>
        </p:nvSpPr>
        <p:spPr>
          <a:xfrm>
            <a:off x="6510528" y="4919472"/>
            <a:ext cx="483991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50" dirty="0">
                <a:solidFill>
                  <a:srgbClr val="3C3B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다른 알고리즘 필요</a:t>
            </a:r>
            <a:endParaRPr lang="en-US" sz="1350" dirty="0"/>
          </a:p>
        </p:txBody>
      </p:sp>
      <p:sp>
        <p:nvSpPr>
          <p:cNvPr id="36" name="Text 29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43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103120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trophy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2.8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코딩 테스트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778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Coding Test 2.1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58368" y="1133856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서로 다른 숫자 3개의 합</a:t>
            </a:r>
            <a:endParaRPr lang="en-US" sz="2900" dirty="0"/>
          </a:p>
        </p:txBody>
      </p:sp>
      <p:sp>
        <p:nvSpPr>
          <p:cNvPr id="8" name="Text 5"/>
          <p:cNvSpPr/>
          <p:nvPr/>
        </p:nvSpPr>
        <p:spPr>
          <a:xfrm>
            <a:off x="658368" y="1828800"/>
            <a:ext cx="1087495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17"/>
              </a:lnSpc>
              <a:buNone/>
            </a:pPr>
            <a:r>
              <a:rPr lang="en-US" sz="135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길이 N 리스트에서 서로 다른 3개를 골라 합이 target이 되는 경우의 수.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58368" y="2240280"/>
            <a:ext cx="6766560" cy="3566160"/>
          </a:xfrm>
          <a:prstGeom prst="roundRect">
            <a:avLst>
              <a:gd name="adj" fmla="val 3077"/>
            </a:avLst>
          </a:prstGeom>
          <a:solidFill>
            <a:srgbClr val="1D1C3D"/>
          </a:solidFill>
          <a:ln/>
          <a:effectLst>
            <a:outerShdw blurRad="203200" dist="76200" dir="5400000" algn="bl" rotWithShape="0">
              <a:srgbClr val="1A1836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8368" y="2240280"/>
            <a:ext cx="6766560" cy="457200"/>
          </a:xfrm>
          <a:prstGeom prst="roundRect">
            <a:avLst>
              <a:gd name="adj" fmla="val 24000"/>
            </a:avLst>
          </a:prstGeom>
          <a:solidFill>
            <a:srgbClr val="2A2856"/>
          </a:solidFill>
          <a:ln/>
        </p:spPr>
      </p:sp>
      <p:sp>
        <p:nvSpPr>
          <p:cNvPr id="11" name="Shape 8"/>
          <p:cNvSpPr/>
          <p:nvPr/>
        </p:nvSpPr>
        <p:spPr>
          <a:xfrm>
            <a:off x="658368" y="2496312"/>
            <a:ext cx="6766560" cy="128016"/>
          </a:xfrm>
          <a:prstGeom prst="rect">
            <a:avLst/>
          </a:prstGeom>
          <a:solidFill>
            <a:srgbClr val="1D1C3D"/>
          </a:solidFill>
          <a:ln/>
        </p:spPr>
      </p:sp>
      <p:sp>
        <p:nvSpPr>
          <p:cNvPr id="12" name="Shape 9"/>
          <p:cNvSpPr/>
          <p:nvPr/>
        </p:nvSpPr>
        <p:spPr>
          <a:xfrm>
            <a:off x="859536" y="2368296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3" name="Shape 10"/>
          <p:cNvSpPr/>
          <p:nvPr/>
        </p:nvSpPr>
        <p:spPr>
          <a:xfrm>
            <a:off x="1060704" y="2368296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4" name="Shape 11"/>
          <p:cNvSpPr/>
          <p:nvPr/>
        </p:nvSpPr>
        <p:spPr>
          <a:xfrm>
            <a:off x="1261872" y="2368296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5" name="Text 12"/>
          <p:cNvSpPr/>
          <p:nvPr/>
        </p:nvSpPr>
        <p:spPr>
          <a:xfrm>
            <a:off x="1481328" y="224028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9A9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three_sum.py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914400" y="2786380"/>
            <a:ext cx="63093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itertools </a:t>
            </a: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combinations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sys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= sys.stdin.readline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 = </a:t>
            </a:r>
            <a:r>
              <a:rPr lang="en-US" sz="12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())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 = </a:t>
            </a:r>
            <a:r>
              <a:rPr lang="en-US" sz="12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r>
              <a:rPr lang="en-US" sz="12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().split()))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 = </a:t>
            </a:r>
            <a:r>
              <a:rPr lang="en-US" sz="12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())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 = </a:t>
            </a:r>
            <a:r>
              <a:rPr lang="en-US" sz="12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c </a:t>
            </a: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combinations(arr, </a:t>
            </a:r>
            <a:r>
              <a:rPr lang="en-US" sz="12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2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(c) == target: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count += </a:t>
            </a:r>
            <a:r>
              <a:rPr lang="en-US" sz="12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(count)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7790688" y="2240280"/>
            <a:ext cx="3742639" cy="1737360"/>
          </a:xfrm>
          <a:prstGeom prst="roundRect">
            <a:avLst>
              <a:gd name="adj" fmla="val 7368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8046720" y="2377440"/>
            <a:ext cx="32854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/ 출력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046720" y="2697480"/>
            <a:ext cx="32854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3C3B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3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3C3B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1 2 3 4 5</a:t>
            </a:r>
            <a:endParaRPr lang="en-US" sz="13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3C3B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046720" y="3520440"/>
            <a:ext cx="32854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출력: </a:t>
            </a:r>
            <a:r>
              <a:rPr lang="en-US" sz="16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7790688" y="4160520"/>
            <a:ext cx="3742639" cy="1645920"/>
          </a:xfrm>
          <a:prstGeom prst="roundRect">
            <a:avLst>
              <a:gd name="adj" fmla="val 7778"/>
            </a:avLst>
          </a:prstGeom>
          <a:solidFill>
            <a:srgbClr val="EEF0FF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8019288" y="4315968"/>
            <a:ext cx="328543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탐색 가능?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8019288" y="4663440"/>
            <a:ext cx="32854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N=100 → </a:t>
            </a:r>
            <a:endParaRPr lang="en-US" sz="13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₁₀₀C₃ = 161,700</a:t>
            </a:r>
            <a:endParaRPr lang="en-US" sz="13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수십만 번 = 매우 안전 ✅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44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103120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trophy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2.8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코딩 테스트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778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Coding Test 2.2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58368" y="1133856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블랙잭 — M을 넘지 않는 최대 합</a:t>
            </a:r>
            <a:endParaRPr lang="en-US" sz="2900" dirty="0"/>
          </a:p>
        </p:txBody>
      </p:sp>
      <p:sp>
        <p:nvSpPr>
          <p:cNvPr id="8" name="Text 5"/>
          <p:cNvSpPr/>
          <p:nvPr/>
        </p:nvSpPr>
        <p:spPr>
          <a:xfrm>
            <a:off x="658368" y="1828800"/>
            <a:ext cx="1087495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17"/>
              </a:lnSpc>
              <a:buNone/>
            </a:pPr>
            <a:r>
              <a:rPr lang="en-US" sz="135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N장 중 3장을 골라 합이 M을 넘지 않으면서 가장 큰 경우를 찾는다.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58368" y="2240280"/>
            <a:ext cx="6766560" cy="3566160"/>
          </a:xfrm>
          <a:prstGeom prst="roundRect">
            <a:avLst>
              <a:gd name="adj" fmla="val 3077"/>
            </a:avLst>
          </a:prstGeom>
          <a:solidFill>
            <a:srgbClr val="1D1C3D"/>
          </a:solidFill>
          <a:ln/>
          <a:effectLst>
            <a:outerShdw blurRad="203200" dist="76200" dir="5400000" algn="bl" rotWithShape="0">
              <a:srgbClr val="1A1836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8368" y="2240280"/>
            <a:ext cx="6766560" cy="457200"/>
          </a:xfrm>
          <a:prstGeom prst="roundRect">
            <a:avLst>
              <a:gd name="adj" fmla="val 24000"/>
            </a:avLst>
          </a:prstGeom>
          <a:solidFill>
            <a:srgbClr val="2A2856"/>
          </a:solidFill>
          <a:ln/>
        </p:spPr>
      </p:sp>
      <p:sp>
        <p:nvSpPr>
          <p:cNvPr id="11" name="Shape 8"/>
          <p:cNvSpPr/>
          <p:nvPr/>
        </p:nvSpPr>
        <p:spPr>
          <a:xfrm>
            <a:off x="658368" y="2496312"/>
            <a:ext cx="6766560" cy="128016"/>
          </a:xfrm>
          <a:prstGeom prst="rect">
            <a:avLst/>
          </a:prstGeom>
          <a:solidFill>
            <a:srgbClr val="1D1C3D"/>
          </a:solidFill>
          <a:ln/>
        </p:spPr>
      </p:sp>
      <p:sp>
        <p:nvSpPr>
          <p:cNvPr id="12" name="Shape 9"/>
          <p:cNvSpPr/>
          <p:nvPr/>
        </p:nvSpPr>
        <p:spPr>
          <a:xfrm>
            <a:off x="859536" y="2368296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3" name="Shape 10"/>
          <p:cNvSpPr/>
          <p:nvPr/>
        </p:nvSpPr>
        <p:spPr>
          <a:xfrm>
            <a:off x="1060704" y="2368296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4" name="Shape 11"/>
          <p:cNvSpPr/>
          <p:nvPr/>
        </p:nvSpPr>
        <p:spPr>
          <a:xfrm>
            <a:off x="1261872" y="2368296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5" name="Text 12"/>
          <p:cNvSpPr/>
          <p:nvPr/>
        </p:nvSpPr>
        <p:spPr>
          <a:xfrm>
            <a:off x="1481328" y="224028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9A9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blackjack.py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914400" y="2788920"/>
            <a:ext cx="63093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itertools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combinations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sys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= sys.stdin.readline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blackjack(cards, target):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best = </a:t>
            </a:r>
            <a:r>
              <a:rPr lang="en-US" sz="12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combo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combinations(cards, </a:t>
            </a:r>
            <a:r>
              <a:rPr lang="en-US" sz="12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total = 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(combo)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total &lt;= target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total &gt; best: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best = total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best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N, M = 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().split())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cards = 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().split()))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(blackjack(cards, M))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790688" y="2240280"/>
            <a:ext cx="3742639" cy="3566160"/>
          </a:xfrm>
          <a:prstGeom prst="roundRect">
            <a:avLst>
              <a:gd name="adj" fmla="val 3590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8046720" y="2395728"/>
            <a:ext cx="32854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입력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046720" y="2697480"/>
            <a:ext cx="32854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3C3B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5 21</a:t>
            </a:r>
            <a:endParaRPr lang="en-US" sz="13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3C3B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5 6 7 8 9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046720" y="3291840"/>
            <a:ext cx="32854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가능한 조합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046720" y="3584448"/>
            <a:ext cx="32854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5+6+7 = 18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5+6+9 = 20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5+7+9 = 21 ← 최대!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046720" y="5029200"/>
            <a:ext cx="3230575" cy="594360"/>
          </a:xfrm>
          <a:prstGeom prst="roundRect">
            <a:avLst>
              <a:gd name="adj" fmla="val 15385"/>
            </a:avLst>
          </a:prstGeom>
          <a:solidFill>
            <a:srgbClr val="17163A"/>
          </a:solidFill>
          <a:ln/>
        </p:spPr>
      </p:sp>
      <p:sp>
        <p:nvSpPr>
          <p:cNvPr id="23" name="Text 20"/>
          <p:cNvSpPr/>
          <p:nvPr/>
        </p:nvSpPr>
        <p:spPr>
          <a:xfrm>
            <a:off x="8046720" y="5029200"/>
            <a:ext cx="32305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8C6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출력: </a:t>
            </a:r>
            <a:r>
              <a:rPr lang="en-US" sz="20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45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103120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trophy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2.8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코딩 테스트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연습문제 유형 분류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658368" y="1737360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88"/>
              </a:lnSpc>
              <a:buNone/>
            </a:pPr>
            <a:r>
              <a:rPr lang="en-US" sz="14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패턴을 이해하면 처음 보는 문제도 해결할 수 있습니다.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58368" y="2240280"/>
            <a:ext cx="3411626" cy="1600200"/>
          </a:xfrm>
          <a:prstGeom prst="roundRect">
            <a:avLst>
              <a:gd name="adj" fmla="val 8000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96112" y="2496312"/>
            <a:ext cx="548640" cy="548640"/>
          </a:xfrm>
          <a:prstGeom prst="ellipse">
            <a:avLst/>
          </a:prstGeom>
          <a:solidFill>
            <a:srgbClr val="4F46E5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0" name="Image 1" descr="/home/claude/icons/listol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3272" y="2633472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72768" y="2459736"/>
            <a:ext cx="23143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패턴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914400" y="3108960"/>
            <a:ext cx="1554480" cy="384048"/>
          </a:xfrm>
          <a:prstGeom prst="roundRect">
            <a:avLst>
              <a:gd name="adj" fmla="val 21429"/>
            </a:avLst>
          </a:prstGeom>
          <a:solidFill>
            <a:srgbClr val="4F46E5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310896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O(n²), O(n³)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2532888" y="3108960"/>
            <a:ext cx="13542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1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쌍/삼쌍 비교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4390034" y="2240280"/>
            <a:ext cx="3411626" cy="1600200"/>
          </a:xfrm>
          <a:prstGeom prst="roundRect">
            <a:avLst>
              <a:gd name="adj" fmla="val 8000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627778" y="2496312"/>
            <a:ext cx="548640" cy="548640"/>
          </a:xfrm>
          <a:prstGeom prst="ellipse">
            <a:avLst/>
          </a:prstGeom>
          <a:solidFill>
            <a:srgbClr val="7C3AED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7" name="Image 2" descr="/home/claude/icons/comments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4938" y="2633472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5304434" y="2459736"/>
            <a:ext cx="23143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문자열 탐색</a:t>
            </a:r>
            <a:endParaRPr lang="en-US" sz="1500" dirty="0"/>
          </a:p>
        </p:txBody>
      </p:sp>
      <p:sp>
        <p:nvSpPr>
          <p:cNvPr id="19" name="Shape 14"/>
          <p:cNvSpPr/>
          <p:nvPr/>
        </p:nvSpPr>
        <p:spPr>
          <a:xfrm>
            <a:off x="4646066" y="3108960"/>
            <a:ext cx="1554480" cy="384048"/>
          </a:xfrm>
          <a:prstGeom prst="roundRect">
            <a:avLst>
              <a:gd name="adj" fmla="val 21429"/>
            </a:avLst>
          </a:prstGeom>
          <a:solidFill>
            <a:srgbClr val="7C3AED"/>
          </a:solidFill>
          <a:ln/>
        </p:spPr>
      </p:sp>
      <p:sp>
        <p:nvSpPr>
          <p:cNvPr id="20" name="Text 15"/>
          <p:cNvSpPr/>
          <p:nvPr/>
        </p:nvSpPr>
        <p:spPr>
          <a:xfrm>
            <a:off x="4646066" y="310896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O(nm)</a:t>
            </a:r>
            <a:endParaRPr lang="en-US" sz="1150" dirty="0"/>
          </a:p>
        </p:txBody>
      </p:sp>
      <p:sp>
        <p:nvSpPr>
          <p:cNvPr id="21" name="Text 16"/>
          <p:cNvSpPr/>
          <p:nvPr/>
        </p:nvSpPr>
        <p:spPr>
          <a:xfrm>
            <a:off x="6264554" y="3108960"/>
            <a:ext cx="13542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1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 매칭·문자열 비교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8121701" y="2240280"/>
            <a:ext cx="3411626" cy="1600200"/>
          </a:xfrm>
          <a:prstGeom prst="roundRect">
            <a:avLst>
              <a:gd name="adj" fmla="val 8000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8359445" y="2496312"/>
            <a:ext cx="548640" cy="548640"/>
          </a:xfrm>
          <a:prstGeom prst="ellipse">
            <a:avLst/>
          </a:prstGeom>
          <a:solidFill>
            <a:srgbClr val="38BDF8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24" name="Image 3" descr="/home/claude/icons/layer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96605" y="2633472"/>
            <a:ext cx="274320" cy="27432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9036101" y="2459736"/>
            <a:ext cx="23143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부분집합</a:t>
            </a:r>
            <a:endParaRPr lang="en-US" sz="1500" dirty="0"/>
          </a:p>
        </p:txBody>
      </p:sp>
      <p:sp>
        <p:nvSpPr>
          <p:cNvPr id="26" name="Shape 20"/>
          <p:cNvSpPr/>
          <p:nvPr/>
        </p:nvSpPr>
        <p:spPr>
          <a:xfrm>
            <a:off x="8377733" y="3108960"/>
            <a:ext cx="1554480" cy="384048"/>
          </a:xfrm>
          <a:prstGeom prst="roundRect">
            <a:avLst>
              <a:gd name="adj" fmla="val 21429"/>
            </a:avLst>
          </a:prstGeom>
          <a:solidFill>
            <a:srgbClr val="38BDF8"/>
          </a:solidFill>
          <a:ln/>
        </p:spPr>
      </p:sp>
      <p:sp>
        <p:nvSpPr>
          <p:cNvPr id="27" name="Text 21"/>
          <p:cNvSpPr/>
          <p:nvPr/>
        </p:nvSpPr>
        <p:spPr>
          <a:xfrm>
            <a:off x="8377733" y="310896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O(2ⁿ)</a:t>
            </a:r>
            <a:endParaRPr lang="en-US" sz="1150" dirty="0"/>
          </a:p>
        </p:txBody>
      </p:sp>
      <p:sp>
        <p:nvSpPr>
          <p:cNvPr id="28" name="Text 22"/>
          <p:cNvSpPr/>
          <p:nvPr/>
        </p:nvSpPr>
        <p:spPr>
          <a:xfrm>
            <a:off x="9996221" y="3108960"/>
            <a:ext cx="13542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1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비트마스크·선택/비선택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658368" y="4096512"/>
            <a:ext cx="3411626" cy="1600200"/>
          </a:xfrm>
          <a:prstGeom prst="roundRect">
            <a:avLst>
              <a:gd name="adj" fmla="val 8000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896112" y="4352544"/>
            <a:ext cx="548640" cy="548640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31" name="Image 4" descr="/home/claude/icons/gear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3272" y="4489704"/>
            <a:ext cx="274320" cy="274320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1572768" y="4315968"/>
            <a:ext cx="23143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조합 탐색</a:t>
            </a:r>
            <a:endParaRPr lang="en-US" sz="1500" dirty="0"/>
          </a:p>
        </p:txBody>
      </p:sp>
      <p:sp>
        <p:nvSpPr>
          <p:cNvPr id="33" name="Shape 26"/>
          <p:cNvSpPr/>
          <p:nvPr/>
        </p:nvSpPr>
        <p:spPr>
          <a:xfrm>
            <a:off x="914400" y="4965192"/>
            <a:ext cx="1554480" cy="384048"/>
          </a:xfrm>
          <a:prstGeom prst="roundRect">
            <a:avLst>
              <a:gd name="adj" fmla="val 21429"/>
            </a:avLst>
          </a:prstGeom>
          <a:solidFill>
            <a:srgbClr val="10B981"/>
          </a:solidFill>
          <a:ln/>
        </p:spPr>
      </p:sp>
      <p:sp>
        <p:nvSpPr>
          <p:cNvPr id="34" name="Text 27"/>
          <p:cNvSpPr/>
          <p:nvPr/>
        </p:nvSpPr>
        <p:spPr>
          <a:xfrm>
            <a:off x="914400" y="496519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O(nCr)</a:t>
            </a:r>
            <a:endParaRPr lang="en-US" sz="1150" dirty="0"/>
          </a:p>
        </p:txBody>
      </p:sp>
      <p:sp>
        <p:nvSpPr>
          <p:cNvPr id="35" name="Text 28"/>
          <p:cNvSpPr/>
          <p:nvPr/>
        </p:nvSpPr>
        <p:spPr>
          <a:xfrm>
            <a:off x="2532888" y="4965192"/>
            <a:ext cx="13542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1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combinations·합 조건</a:t>
            </a:r>
            <a:endParaRPr lang="en-US" sz="1100" dirty="0"/>
          </a:p>
        </p:txBody>
      </p:sp>
      <p:sp>
        <p:nvSpPr>
          <p:cNvPr id="36" name="Shape 29"/>
          <p:cNvSpPr/>
          <p:nvPr/>
        </p:nvSpPr>
        <p:spPr>
          <a:xfrm>
            <a:off x="4390034" y="4096512"/>
            <a:ext cx="3411626" cy="1600200"/>
          </a:xfrm>
          <a:prstGeom prst="roundRect">
            <a:avLst>
              <a:gd name="adj" fmla="val 8000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37" name="Shape 30"/>
          <p:cNvSpPr/>
          <p:nvPr/>
        </p:nvSpPr>
        <p:spPr>
          <a:xfrm>
            <a:off x="4627778" y="4352544"/>
            <a:ext cx="548640" cy="548640"/>
          </a:xfrm>
          <a:prstGeom prst="ellipse">
            <a:avLst/>
          </a:prstGeom>
          <a:solidFill>
            <a:srgbClr val="F59E0B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38" name="Image 5" descr="/home/claude/icons/sitemap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64938" y="4489704"/>
            <a:ext cx="274320" cy="274320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5304434" y="4315968"/>
            <a:ext cx="23143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2D 배열</a:t>
            </a:r>
            <a:endParaRPr lang="en-US" sz="1500" dirty="0"/>
          </a:p>
        </p:txBody>
      </p:sp>
      <p:sp>
        <p:nvSpPr>
          <p:cNvPr id="40" name="Shape 32"/>
          <p:cNvSpPr/>
          <p:nvPr/>
        </p:nvSpPr>
        <p:spPr>
          <a:xfrm>
            <a:off x="4646066" y="4965192"/>
            <a:ext cx="1554480" cy="384048"/>
          </a:xfrm>
          <a:prstGeom prst="roundRect">
            <a:avLst>
              <a:gd name="adj" fmla="val 21429"/>
            </a:avLst>
          </a:prstGeom>
          <a:solidFill>
            <a:srgbClr val="F59E0B"/>
          </a:solidFill>
          <a:ln/>
        </p:spPr>
      </p:sp>
      <p:sp>
        <p:nvSpPr>
          <p:cNvPr id="41" name="Text 33"/>
          <p:cNvSpPr/>
          <p:nvPr/>
        </p:nvSpPr>
        <p:spPr>
          <a:xfrm>
            <a:off x="4646066" y="496519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O(n²m²)</a:t>
            </a:r>
            <a:endParaRPr lang="en-US" sz="1150" dirty="0"/>
          </a:p>
        </p:txBody>
      </p:sp>
      <p:sp>
        <p:nvSpPr>
          <p:cNvPr id="42" name="Text 34"/>
          <p:cNvSpPr/>
          <p:nvPr/>
        </p:nvSpPr>
        <p:spPr>
          <a:xfrm>
            <a:off x="6264554" y="4965192"/>
            <a:ext cx="13542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1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격자 탐색·행렬 패턴</a:t>
            </a:r>
            <a:endParaRPr lang="en-US" sz="1100" dirty="0"/>
          </a:p>
        </p:txBody>
      </p:sp>
      <p:sp>
        <p:nvSpPr>
          <p:cNvPr id="43" name="Shape 35"/>
          <p:cNvSpPr/>
          <p:nvPr/>
        </p:nvSpPr>
        <p:spPr>
          <a:xfrm>
            <a:off x="8121701" y="4096512"/>
            <a:ext cx="3411626" cy="1600200"/>
          </a:xfrm>
          <a:prstGeom prst="roundRect">
            <a:avLst>
              <a:gd name="adj" fmla="val 8000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44" name="Shape 36"/>
          <p:cNvSpPr/>
          <p:nvPr/>
        </p:nvSpPr>
        <p:spPr>
          <a:xfrm>
            <a:off x="8359445" y="4352544"/>
            <a:ext cx="548640" cy="548640"/>
          </a:xfrm>
          <a:prstGeom prst="ellipse">
            <a:avLst/>
          </a:prstGeom>
          <a:solidFill>
            <a:srgbClr val="FB7185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45" name="Image 6" descr="/home/claude/icons/target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96605" y="4489704"/>
            <a:ext cx="274320" cy="274320"/>
          </a:xfrm>
          <a:prstGeom prst="rect">
            <a:avLst/>
          </a:prstGeom>
        </p:spPr>
      </p:pic>
      <p:sp>
        <p:nvSpPr>
          <p:cNvPr id="46" name="Text 37"/>
          <p:cNvSpPr/>
          <p:nvPr/>
        </p:nvSpPr>
        <p:spPr>
          <a:xfrm>
            <a:off x="9036101" y="4315968"/>
            <a:ext cx="23143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최적화</a:t>
            </a:r>
            <a:endParaRPr lang="en-US" sz="1500" dirty="0"/>
          </a:p>
        </p:txBody>
      </p:sp>
      <p:sp>
        <p:nvSpPr>
          <p:cNvPr id="47" name="Shape 38"/>
          <p:cNvSpPr/>
          <p:nvPr/>
        </p:nvSpPr>
        <p:spPr>
          <a:xfrm>
            <a:off x="8377733" y="4965192"/>
            <a:ext cx="1554480" cy="384048"/>
          </a:xfrm>
          <a:prstGeom prst="roundRect">
            <a:avLst>
              <a:gd name="adj" fmla="val 21429"/>
            </a:avLst>
          </a:prstGeom>
          <a:solidFill>
            <a:srgbClr val="FB7185"/>
          </a:solidFill>
          <a:ln/>
        </p:spPr>
      </p:sp>
      <p:sp>
        <p:nvSpPr>
          <p:cNvPr id="48" name="Text 39"/>
          <p:cNvSpPr/>
          <p:nvPr/>
        </p:nvSpPr>
        <p:spPr>
          <a:xfrm>
            <a:off x="8377733" y="496519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혼합</a:t>
            </a:r>
            <a:endParaRPr lang="en-US" sz="1150" dirty="0"/>
          </a:p>
        </p:txBody>
      </p:sp>
      <p:sp>
        <p:nvSpPr>
          <p:cNvPr id="49" name="Text 40"/>
          <p:cNvSpPr/>
          <p:nvPr/>
        </p:nvSpPr>
        <p:spPr>
          <a:xfrm>
            <a:off x="9996221" y="4965192"/>
            <a:ext cx="13542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1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최소/최대 갱신·조건부</a:t>
            </a:r>
            <a:endParaRPr lang="en-US" sz="1100" dirty="0"/>
          </a:p>
        </p:txBody>
      </p:sp>
      <p:sp>
        <p:nvSpPr>
          <p:cNvPr id="50" name="Text 41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46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103120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trophy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2.8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코딩 테스트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778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연습 · 반복문 패턴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58368" y="1133856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이중 · 삼중 반복문 연습</a:t>
            </a:r>
            <a:endParaRPr lang="en-US" sz="2900" dirty="0"/>
          </a:p>
        </p:txBody>
      </p:sp>
      <p:sp>
        <p:nvSpPr>
          <p:cNvPr id="8" name="Text 5"/>
          <p:cNvSpPr/>
          <p:nvPr/>
        </p:nvSpPr>
        <p:spPr>
          <a:xfrm>
            <a:off x="658368" y="1828800"/>
            <a:ext cx="520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1 — 모든 (i,j) 쌍의 차이 (i&lt;j)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58368" y="2194560"/>
            <a:ext cx="5208880" cy="1920240"/>
          </a:xfrm>
          <a:prstGeom prst="roundRect">
            <a:avLst>
              <a:gd name="adj" fmla="val 5714"/>
            </a:avLst>
          </a:prstGeom>
          <a:solidFill>
            <a:srgbClr val="1D1C3D"/>
          </a:solidFill>
          <a:ln/>
          <a:effectLst>
            <a:outerShdw blurRad="203200" dist="76200" dir="5400000" algn="bl" rotWithShape="0">
              <a:srgbClr val="1A1836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8368" y="2194560"/>
            <a:ext cx="5208880" cy="457200"/>
          </a:xfrm>
          <a:prstGeom prst="roundRect">
            <a:avLst>
              <a:gd name="adj" fmla="val 24000"/>
            </a:avLst>
          </a:prstGeom>
          <a:solidFill>
            <a:srgbClr val="2A2856"/>
          </a:solidFill>
          <a:ln/>
        </p:spPr>
      </p:sp>
      <p:sp>
        <p:nvSpPr>
          <p:cNvPr id="11" name="Shape 8"/>
          <p:cNvSpPr/>
          <p:nvPr/>
        </p:nvSpPr>
        <p:spPr>
          <a:xfrm>
            <a:off x="658368" y="2450592"/>
            <a:ext cx="5208880" cy="128016"/>
          </a:xfrm>
          <a:prstGeom prst="rect">
            <a:avLst/>
          </a:prstGeom>
          <a:solidFill>
            <a:srgbClr val="1D1C3D"/>
          </a:solidFill>
          <a:ln/>
        </p:spPr>
      </p:sp>
      <p:sp>
        <p:nvSpPr>
          <p:cNvPr id="12" name="Shape 9"/>
          <p:cNvSpPr/>
          <p:nvPr/>
        </p:nvSpPr>
        <p:spPr>
          <a:xfrm>
            <a:off x="859536" y="2322576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3" name="Shape 10"/>
          <p:cNvSpPr/>
          <p:nvPr/>
        </p:nvSpPr>
        <p:spPr>
          <a:xfrm>
            <a:off x="1060704" y="2322576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4" name="Shape 11"/>
          <p:cNvSpPr/>
          <p:nvPr/>
        </p:nvSpPr>
        <p:spPr>
          <a:xfrm>
            <a:off x="1261872" y="2322576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5" name="Text 12"/>
          <p:cNvSpPr/>
          <p:nvPr/>
        </p:nvSpPr>
        <p:spPr>
          <a:xfrm>
            <a:off x="1481328" y="2194560"/>
            <a:ext cx="420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9A9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pairs.py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914400" y="2720340"/>
            <a:ext cx="475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 = [</a:t>
            </a:r>
            <a:r>
              <a:rPr lang="en-US" sz="12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r>
              <a:rPr lang="en-US" sz="12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r>
              <a:rPr lang="en-US" sz="12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r>
              <a:rPr lang="en-US" sz="12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 = 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(A)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i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 - </a:t>
            </a:r>
            <a:r>
              <a:rPr lang="en-US" sz="12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j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 + </a:t>
            </a:r>
            <a:r>
              <a:rPr lang="en-US" sz="12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n):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(f</a:t>
            </a:r>
            <a:r>
              <a:rPr lang="en-US" sz="1200" dirty="0">
                <a:solidFill>
                  <a:srgbClr val="9FE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"{A[j]-A[i]}"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324448" y="1828800"/>
            <a:ext cx="520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2 — 세 수의 합이 K (i&lt;j&lt;k)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324448" y="2194560"/>
            <a:ext cx="5208880" cy="1920240"/>
          </a:xfrm>
          <a:prstGeom prst="roundRect">
            <a:avLst>
              <a:gd name="adj" fmla="val 5714"/>
            </a:avLst>
          </a:prstGeom>
          <a:solidFill>
            <a:srgbClr val="1D1C3D"/>
          </a:solidFill>
          <a:ln/>
          <a:effectLst>
            <a:outerShdw blurRad="203200" dist="76200" dir="5400000" algn="bl" rotWithShape="0">
              <a:srgbClr val="1A1836">
                <a:alpha val="2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324448" y="2194560"/>
            <a:ext cx="5208880" cy="457200"/>
          </a:xfrm>
          <a:prstGeom prst="roundRect">
            <a:avLst>
              <a:gd name="adj" fmla="val 24000"/>
            </a:avLst>
          </a:prstGeom>
          <a:solidFill>
            <a:srgbClr val="2A2856"/>
          </a:solidFill>
          <a:ln/>
        </p:spPr>
      </p:sp>
      <p:sp>
        <p:nvSpPr>
          <p:cNvPr id="20" name="Shape 17"/>
          <p:cNvSpPr/>
          <p:nvPr/>
        </p:nvSpPr>
        <p:spPr>
          <a:xfrm>
            <a:off x="6324448" y="2450592"/>
            <a:ext cx="5208880" cy="128016"/>
          </a:xfrm>
          <a:prstGeom prst="rect">
            <a:avLst/>
          </a:prstGeom>
          <a:solidFill>
            <a:srgbClr val="1D1C3D"/>
          </a:solidFill>
          <a:ln/>
        </p:spPr>
      </p:sp>
      <p:sp>
        <p:nvSpPr>
          <p:cNvPr id="21" name="Shape 18"/>
          <p:cNvSpPr/>
          <p:nvPr/>
        </p:nvSpPr>
        <p:spPr>
          <a:xfrm>
            <a:off x="6525616" y="2322576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22" name="Shape 19"/>
          <p:cNvSpPr/>
          <p:nvPr/>
        </p:nvSpPr>
        <p:spPr>
          <a:xfrm>
            <a:off x="6726784" y="2322576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23" name="Shape 20"/>
          <p:cNvSpPr/>
          <p:nvPr/>
        </p:nvSpPr>
        <p:spPr>
          <a:xfrm>
            <a:off x="6927952" y="2322576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24" name="Text 21"/>
          <p:cNvSpPr/>
          <p:nvPr/>
        </p:nvSpPr>
        <p:spPr>
          <a:xfrm>
            <a:off x="7147408" y="2194560"/>
            <a:ext cx="420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9A9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triple.py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6580480" y="2720340"/>
            <a:ext cx="475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1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 = [</a:t>
            </a:r>
            <a:r>
              <a:rPr lang="en-US" sz="11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r>
              <a:rPr lang="en-US" sz="11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1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r>
              <a:rPr lang="en-US" sz="11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1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r>
              <a:rPr lang="en-US" sz="11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1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r>
              <a:rPr lang="en-US" sz="11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1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r>
              <a:rPr lang="en-US" sz="11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]; K = </a:t>
            </a:r>
            <a:r>
              <a:rPr lang="en-US" sz="11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11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1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1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i </a:t>
            </a:r>
            <a:r>
              <a:rPr lang="en-US" sz="11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1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1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</a:t>
            </a:r>
            <a:r>
              <a:rPr lang="en-US" sz="11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1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</a:t>
            </a:r>
            <a:r>
              <a:rPr lang="en-US" sz="11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(A)-</a:t>
            </a:r>
            <a:r>
              <a:rPr lang="en-US" sz="11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r>
              <a:rPr lang="en-US" sz="11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</a:t>
            </a:r>
            <a:endParaRPr lang="en-US" sz="11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1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</a:t>
            </a:r>
            <a:r>
              <a:rPr lang="en-US" sz="11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1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j </a:t>
            </a:r>
            <a:r>
              <a:rPr lang="en-US" sz="11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1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1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</a:t>
            </a:r>
            <a:r>
              <a:rPr lang="en-US" sz="11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(i+</a:t>
            </a:r>
            <a:r>
              <a:rPr lang="en-US" sz="11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1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r>
              <a:rPr lang="en-US" sz="11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</a:t>
            </a:r>
            <a:r>
              <a:rPr lang="en-US" sz="11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(A)-</a:t>
            </a:r>
            <a:r>
              <a:rPr lang="en-US" sz="11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1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</a:t>
            </a:r>
            <a:endParaRPr lang="en-US" sz="11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1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1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1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k </a:t>
            </a:r>
            <a:r>
              <a:rPr lang="en-US" sz="11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1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1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</a:t>
            </a:r>
            <a:r>
              <a:rPr lang="en-US" sz="11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(j+</a:t>
            </a:r>
            <a:r>
              <a:rPr lang="en-US" sz="11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1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r>
              <a:rPr lang="en-US" sz="11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</a:t>
            </a:r>
            <a:r>
              <a:rPr lang="en-US" sz="11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(A)):</a:t>
            </a:r>
            <a:endParaRPr lang="en-US" sz="11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1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</a:t>
            </a:r>
            <a:r>
              <a:rPr lang="en-US" sz="11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1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A[i]+A[j]+A[k] == K:</a:t>
            </a:r>
            <a:endParaRPr lang="en-US" sz="11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1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r>
              <a:rPr lang="en-US" sz="11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1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((A[i],A[j],A[k]))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658368" y="4297680"/>
            <a:ext cx="5208880" cy="1417320"/>
          </a:xfrm>
          <a:prstGeom prst="roundRect">
            <a:avLst>
              <a:gd name="adj" fmla="val 7742"/>
            </a:avLst>
          </a:prstGeom>
          <a:solidFill>
            <a:srgbClr val="F5F4FC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932688" y="4297680"/>
            <a:ext cx="4660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1은 이중 반복문으로 모든 쌍을 순회하는 가장 기본적인 O(n²) 패턴입니다.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324448" y="4297680"/>
            <a:ext cx="5208880" cy="1417320"/>
          </a:xfrm>
          <a:prstGeom prst="roundRect">
            <a:avLst>
              <a:gd name="adj" fmla="val 7742"/>
            </a:avLst>
          </a:prstGeom>
          <a:solidFill>
            <a:srgbClr val="17163A"/>
          </a:solidFill>
          <a:ln/>
          <a:effectLst>
            <a:outerShdw blurRad="101600" dist="38100" dir="5400000" algn="bl" rotWithShape="0">
              <a:srgbClr val="1A1836">
                <a:alpha val="20000"/>
              </a:srgbClr>
            </a:outerShdw>
          </a:effectLst>
        </p:spPr>
      </p:sp>
      <p:sp>
        <p:nvSpPr>
          <p:cNvPr id="29" name="Text 26"/>
          <p:cNvSpPr/>
          <p:nvPr/>
        </p:nvSpPr>
        <p:spPr>
          <a:xfrm>
            <a:off x="6580480" y="4434840"/>
            <a:ext cx="475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C9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</a:t>
            </a:r>
            <a:endParaRPr lang="en-US" sz="1150" dirty="0"/>
          </a:p>
        </p:txBody>
      </p:sp>
      <p:sp>
        <p:nvSpPr>
          <p:cNvPr id="30" name="Text 27"/>
          <p:cNvSpPr/>
          <p:nvPr/>
        </p:nvSpPr>
        <p:spPr>
          <a:xfrm>
            <a:off x="6580480" y="4754880"/>
            <a:ext cx="475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9FE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(2, 5, 8)</a:t>
            </a:r>
            <a:endParaRPr lang="en-US" sz="150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9FE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(3, 5, 7)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47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103120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trophy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2.8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코딩 테스트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778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연습 · 문자열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58368" y="1133856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회문(Palindrome) 찾기</a:t>
            </a:r>
            <a:endParaRPr lang="en-US" sz="2900" dirty="0"/>
          </a:p>
        </p:txBody>
      </p:sp>
      <p:sp>
        <p:nvSpPr>
          <p:cNvPr id="8" name="Text 5"/>
          <p:cNvSpPr/>
          <p:nvPr/>
        </p:nvSpPr>
        <p:spPr>
          <a:xfrm>
            <a:off x="658368" y="1828800"/>
            <a:ext cx="1087495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17"/>
              </a:lnSpc>
              <a:buNone/>
            </a:pPr>
            <a:r>
              <a:rPr lang="en-US" sz="135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앞뒤로 읽어도 같은 문자열 찾기 — s == s[::-1] 이면 회문.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58368" y="2240280"/>
            <a:ext cx="6766560" cy="3063240"/>
          </a:xfrm>
          <a:prstGeom prst="roundRect">
            <a:avLst>
              <a:gd name="adj" fmla="val 3582"/>
            </a:avLst>
          </a:prstGeom>
          <a:solidFill>
            <a:srgbClr val="1D1C3D"/>
          </a:solidFill>
          <a:ln/>
          <a:effectLst>
            <a:outerShdw blurRad="203200" dist="76200" dir="5400000" algn="bl" rotWithShape="0">
              <a:srgbClr val="1A1836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8368" y="2240280"/>
            <a:ext cx="6766560" cy="457200"/>
          </a:xfrm>
          <a:prstGeom prst="roundRect">
            <a:avLst>
              <a:gd name="adj" fmla="val 24000"/>
            </a:avLst>
          </a:prstGeom>
          <a:solidFill>
            <a:srgbClr val="2A2856"/>
          </a:solidFill>
          <a:ln/>
        </p:spPr>
      </p:sp>
      <p:sp>
        <p:nvSpPr>
          <p:cNvPr id="11" name="Shape 8"/>
          <p:cNvSpPr/>
          <p:nvPr/>
        </p:nvSpPr>
        <p:spPr>
          <a:xfrm>
            <a:off x="658368" y="2496312"/>
            <a:ext cx="6766560" cy="128016"/>
          </a:xfrm>
          <a:prstGeom prst="rect">
            <a:avLst/>
          </a:prstGeom>
          <a:solidFill>
            <a:srgbClr val="1D1C3D"/>
          </a:solidFill>
          <a:ln/>
        </p:spPr>
      </p:sp>
      <p:sp>
        <p:nvSpPr>
          <p:cNvPr id="12" name="Shape 9"/>
          <p:cNvSpPr/>
          <p:nvPr/>
        </p:nvSpPr>
        <p:spPr>
          <a:xfrm>
            <a:off x="859536" y="2368296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3" name="Shape 10"/>
          <p:cNvSpPr/>
          <p:nvPr/>
        </p:nvSpPr>
        <p:spPr>
          <a:xfrm>
            <a:off x="1060704" y="2368296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4" name="Shape 11"/>
          <p:cNvSpPr/>
          <p:nvPr/>
        </p:nvSpPr>
        <p:spPr>
          <a:xfrm>
            <a:off x="1261872" y="2368296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5" name="Text 12"/>
          <p:cNvSpPr/>
          <p:nvPr/>
        </p:nvSpPr>
        <p:spPr>
          <a:xfrm>
            <a:off x="1481328" y="224028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9A9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palindrome.py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914400" y="2814574"/>
            <a:ext cx="630936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 = </a:t>
            </a: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())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 = []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_ </a:t>
            </a: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(n):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s = </a:t>
            </a: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().strip()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s == s[::-</a:t>
            </a:r>
            <a:r>
              <a:rPr lang="en-US" sz="13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]:      </a:t>
            </a:r>
            <a:r>
              <a:rPr lang="en-US" sz="130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앞뒤로 읽어도 같으면 회문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result.append(s)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r </a:t>
            </a: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result: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(r)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7790688" y="2240280"/>
            <a:ext cx="3742639" cy="3063240"/>
          </a:xfrm>
          <a:prstGeom prst="roundRect">
            <a:avLst>
              <a:gd name="adj" fmla="val 4179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8046720" y="2395728"/>
            <a:ext cx="32854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/ 출력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046720" y="2697480"/>
            <a:ext cx="328543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입력:</a:t>
            </a:r>
            <a:endParaRPr lang="en-US" sz="120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0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level</a:t>
            </a:r>
            <a:endParaRPr lang="en-US" sz="120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hello</a:t>
            </a:r>
            <a:endParaRPr lang="en-US" sz="120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Racecar</a:t>
            </a:r>
            <a:endParaRPr lang="en-US" sz="120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noon</a:t>
            </a:r>
            <a:endParaRPr lang="en-US" sz="120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world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046720" y="4343400"/>
            <a:ext cx="32854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200" dirty="0">
                <a:solidFill>
                  <a:srgbClr val="6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출력:</a:t>
            </a:r>
            <a:endParaRPr lang="en-US" sz="12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level</a:t>
            </a:r>
            <a:endParaRPr lang="en-US" sz="12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noon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58368" y="5440680"/>
            <a:ext cx="6766560" cy="365760"/>
          </a:xfrm>
          <a:prstGeom prst="roundRect">
            <a:avLst>
              <a:gd name="adj" fmla="val 25000"/>
            </a:avLst>
          </a:prstGeom>
          <a:solidFill>
            <a:srgbClr val="EEF0FF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932688" y="544068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2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s[::-1] 슬라이싱 → 문자열을 뒤집는 파이썬 핵심 기법!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48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103120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trophy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2.8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코딩 테스트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778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38BD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연습 · 부분집합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58368" y="1133856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배낭 문제 (0/1 Knapsack) — O(2ⁿ)</a:t>
            </a:r>
            <a:endParaRPr lang="en-US" sz="2900" dirty="0"/>
          </a:p>
        </p:txBody>
      </p:sp>
      <p:sp>
        <p:nvSpPr>
          <p:cNvPr id="8" name="Text 5"/>
          <p:cNvSpPr/>
          <p:nvPr/>
        </p:nvSpPr>
        <p:spPr>
          <a:xfrm>
            <a:off x="658368" y="1828800"/>
            <a:ext cx="1087495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17"/>
              </a:lnSpc>
              <a:buNone/>
            </a:pPr>
            <a:r>
              <a:rPr lang="en-US" sz="135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N≤20이므로 2²⁰ ≈ 100만 → 완전 탐색 가능!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58368" y="2240280"/>
            <a:ext cx="6766560" cy="3566160"/>
          </a:xfrm>
          <a:prstGeom prst="roundRect">
            <a:avLst>
              <a:gd name="adj" fmla="val 3077"/>
            </a:avLst>
          </a:prstGeom>
          <a:solidFill>
            <a:srgbClr val="1D1C3D"/>
          </a:solidFill>
          <a:ln/>
          <a:effectLst>
            <a:outerShdw blurRad="203200" dist="76200" dir="5400000" algn="bl" rotWithShape="0">
              <a:srgbClr val="1A1836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8368" y="2240280"/>
            <a:ext cx="6766560" cy="457200"/>
          </a:xfrm>
          <a:prstGeom prst="roundRect">
            <a:avLst>
              <a:gd name="adj" fmla="val 24000"/>
            </a:avLst>
          </a:prstGeom>
          <a:solidFill>
            <a:srgbClr val="2A2856"/>
          </a:solidFill>
          <a:ln/>
        </p:spPr>
      </p:sp>
      <p:sp>
        <p:nvSpPr>
          <p:cNvPr id="11" name="Shape 8"/>
          <p:cNvSpPr/>
          <p:nvPr/>
        </p:nvSpPr>
        <p:spPr>
          <a:xfrm>
            <a:off x="658368" y="2496312"/>
            <a:ext cx="6766560" cy="128016"/>
          </a:xfrm>
          <a:prstGeom prst="rect">
            <a:avLst/>
          </a:prstGeom>
          <a:solidFill>
            <a:srgbClr val="1D1C3D"/>
          </a:solidFill>
          <a:ln/>
        </p:spPr>
      </p:sp>
      <p:sp>
        <p:nvSpPr>
          <p:cNvPr id="12" name="Shape 9"/>
          <p:cNvSpPr/>
          <p:nvPr/>
        </p:nvSpPr>
        <p:spPr>
          <a:xfrm>
            <a:off x="859536" y="2368296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3" name="Shape 10"/>
          <p:cNvSpPr/>
          <p:nvPr/>
        </p:nvSpPr>
        <p:spPr>
          <a:xfrm>
            <a:off x="1060704" y="2368296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4" name="Shape 11"/>
          <p:cNvSpPr/>
          <p:nvPr/>
        </p:nvSpPr>
        <p:spPr>
          <a:xfrm>
            <a:off x="1261872" y="2368296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5" name="Text 12"/>
          <p:cNvSpPr/>
          <p:nvPr/>
        </p:nvSpPr>
        <p:spPr>
          <a:xfrm>
            <a:off x="1481328" y="224028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9A9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knapsack.py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914400" y="2823718"/>
            <a:ext cx="63093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itertools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combinations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N, W = 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().split())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items = [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tuple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().split()))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_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(N)]     </a:t>
            </a:r>
            <a:r>
              <a:rPr lang="en-US" sz="120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(무게, 가치)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max_val = </a:t>
            </a:r>
            <a:r>
              <a:rPr lang="en-US" sz="12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r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N + </a:t>
            </a:r>
            <a:r>
              <a:rPr lang="en-US" sz="12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        </a:t>
            </a:r>
            <a:r>
              <a:rPr lang="en-US" sz="120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1~N개 선택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combo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combinations(items, r):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w = 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(it[</a:t>
            </a:r>
            <a:r>
              <a:rPr lang="en-US" sz="12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it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combo)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v = 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(it[</a:t>
            </a:r>
            <a:r>
              <a:rPr lang="en-US" sz="12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it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combo)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w &lt;= W: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max_val = 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(max_val, v)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(max_val)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790688" y="2240280"/>
            <a:ext cx="3742639" cy="2331720"/>
          </a:xfrm>
          <a:prstGeom prst="roundRect">
            <a:avLst>
              <a:gd name="adj" fmla="val 5490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8046720" y="2395728"/>
            <a:ext cx="32854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입력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046720" y="2697480"/>
            <a:ext cx="328543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3C3B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4 10</a:t>
            </a:r>
            <a:endParaRPr lang="en-US" sz="13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3C3B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4 5</a:t>
            </a:r>
            <a:endParaRPr lang="en-US" sz="13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3C3B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6 8</a:t>
            </a:r>
            <a:endParaRPr lang="en-US" sz="13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3C3B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3 3</a:t>
            </a:r>
            <a:endParaRPr lang="en-US" sz="13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3C3B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5 6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046720" y="3977640"/>
            <a:ext cx="32854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출력: </a:t>
            </a:r>
            <a:r>
              <a:rPr lang="en-US" sz="180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7790688" y="4709160"/>
            <a:ext cx="3742639" cy="1097280"/>
          </a:xfrm>
          <a:prstGeom prst="roundRect">
            <a:avLst>
              <a:gd name="adj" fmla="val 10000"/>
            </a:avLst>
          </a:prstGeom>
          <a:solidFill>
            <a:srgbClr val="EEF0FF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8065008" y="4709160"/>
            <a:ext cx="3193999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25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발전: 완전 탐색 O(2ⁿ) → 동적 계획법 O(NW)으로 개선 가능!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49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103120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trophy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2.8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코딩 테스트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778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연습 · 순열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58368" y="1133856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 야구 (Baseball)</a:t>
            </a:r>
            <a:endParaRPr lang="en-US" sz="2900" dirty="0"/>
          </a:p>
        </p:txBody>
      </p:sp>
      <p:sp>
        <p:nvSpPr>
          <p:cNvPr id="8" name="Text 5"/>
          <p:cNvSpPr/>
          <p:nvPr/>
        </p:nvSpPr>
        <p:spPr>
          <a:xfrm>
            <a:off x="658368" y="1828800"/>
            <a:ext cx="1087495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17"/>
              </a:lnSpc>
              <a:buNone/>
            </a:pPr>
            <a:r>
              <a:rPr lang="en-US" sz="135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0~9에서 서로 다른 숫자 3개로 구성 → 스트라이크/볼 힌트로 정답 후보를 추론.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58368" y="2240280"/>
            <a:ext cx="10874959" cy="4101084"/>
          </a:xfrm>
          <a:prstGeom prst="roundRect">
            <a:avLst>
              <a:gd name="adj" fmla="val 3077"/>
            </a:avLst>
          </a:prstGeom>
          <a:solidFill>
            <a:srgbClr val="1D1C3D"/>
          </a:solidFill>
          <a:ln/>
          <a:effectLst>
            <a:outerShdw blurRad="203200" dist="76200" dir="5400000" algn="bl" rotWithShape="0">
              <a:srgbClr val="1A1836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8368" y="2240280"/>
            <a:ext cx="10874959" cy="457200"/>
          </a:xfrm>
          <a:prstGeom prst="roundRect">
            <a:avLst>
              <a:gd name="adj" fmla="val 24000"/>
            </a:avLst>
          </a:prstGeom>
          <a:solidFill>
            <a:srgbClr val="2A2856"/>
          </a:solidFill>
          <a:ln/>
        </p:spPr>
      </p:sp>
      <p:sp>
        <p:nvSpPr>
          <p:cNvPr id="11" name="Shape 8"/>
          <p:cNvSpPr/>
          <p:nvPr/>
        </p:nvSpPr>
        <p:spPr>
          <a:xfrm>
            <a:off x="658368" y="2496312"/>
            <a:ext cx="10874959" cy="128016"/>
          </a:xfrm>
          <a:prstGeom prst="rect">
            <a:avLst/>
          </a:prstGeom>
          <a:solidFill>
            <a:srgbClr val="1D1C3D"/>
          </a:solidFill>
          <a:ln/>
        </p:spPr>
      </p:sp>
      <p:sp>
        <p:nvSpPr>
          <p:cNvPr id="12" name="Shape 9"/>
          <p:cNvSpPr/>
          <p:nvPr/>
        </p:nvSpPr>
        <p:spPr>
          <a:xfrm>
            <a:off x="859536" y="2368296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3" name="Shape 10"/>
          <p:cNvSpPr/>
          <p:nvPr/>
        </p:nvSpPr>
        <p:spPr>
          <a:xfrm>
            <a:off x="1060704" y="2368296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4" name="Shape 11"/>
          <p:cNvSpPr/>
          <p:nvPr/>
        </p:nvSpPr>
        <p:spPr>
          <a:xfrm>
            <a:off x="1261872" y="2368296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5" name="Text 12"/>
          <p:cNvSpPr/>
          <p:nvPr/>
        </p:nvSpPr>
        <p:spPr>
          <a:xfrm>
            <a:off x="1481328" y="2240280"/>
            <a:ext cx="98691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9A9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baseball.py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914400" y="2789936"/>
            <a:ext cx="10417759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itertools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permutations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get_sb(secret, guess):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s = 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i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secret[i] == guess[i])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b = 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d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guess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d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secret) - s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s, b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hints = []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 = 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())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_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(n):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line = 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().split()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hints.append((line[</a:t>
            </a:r>
            <a:r>
              <a:rPr lang="en-US" sz="12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 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(line[</a:t>
            </a:r>
            <a:r>
              <a:rPr lang="en-US" sz="12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]), 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(line[</a:t>
            </a:r>
            <a:r>
              <a:rPr lang="en-US" sz="12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])))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 = </a:t>
            </a:r>
            <a:r>
              <a:rPr lang="en-US" sz="12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perm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permutations(</a:t>
            </a:r>
            <a:r>
              <a:rPr lang="en-US" sz="1200" dirty="0">
                <a:solidFill>
                  <a:srgbClr val="9FE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'0123456789'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r>
              <a:rPr lang="en-US" sz="12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secret = </a:t>
            </a:r>
            <a:r>
              <a:rPr lang="en-US" sz="1200" dirty="0">
                <a:solidFill>
                  <a:srgbClr val="9FE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''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.join(perm)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(get_sb(secret, h[</a:t>
            </a:r>
            <a:r>
              <a:rPr lang="en-US" sz="12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]) == (h[</a:t>
            </a:r>
            <a:r>
              <a:rPr lang="en-US" sz="12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 h[</a:t>
            </a:r>
            <a:r>
              <a:rPr lang="en-US" sz="12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])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h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hints):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count += </a:t>
            </a:r>
            <a:r>
              <a:rPr lang="en-US" sz="12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(count)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103120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trophy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2.8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코딩 테스트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탐색 코딩 패턴 총정리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658368" y="1737360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88"/>
              </a:lnSpc>
              <a:buNone/>
            </a:pPr>
            <a:r>
              <a:rPr lang="en-US" sz="14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자주 나오는 코드 패턴 5가지 — 이 형태만 익히면 대부분의 문제에 대응할 수 있습니다.</a:t>
            </a:r>
            <a:endParaRPr lang="en-US" sz="14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2286000"/>
          <a:ext cx="10908792" cy="3950208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021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패턴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 형태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대표 문제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4338C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 단일 for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3C3B5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for i in range(n):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약수·소수 판별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7C3AE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 이중 for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C3B5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for i in range(n-1): for j in range(i+1,n):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최근접 쌍, 두 수 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10B98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 combinations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3C3B5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for c in combinations(arr, r):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r개 선택 조합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59E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 permutations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3C3B5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for p in permutations(arr, r):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순서 있는 r개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B718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⑤ 비트마스크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3C3B5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for i in range(1 &lt;&lt; n):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부분집합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51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40080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포인트 요약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658368" y="1325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KEY TAKEAWAYS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58368" y="1828800"/>
            <a:ext cx="5208880" cy="829818"/>
          </a:xfrm>
          <a:prstGeom prst="roundRect">
            <a:avLst>
              <a:gd name="adj" fmla="val 13223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2015109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6" name="Text 4"/>
          <p:cNvSpPr/>
          <p:nvPr/>
        </p:nvSpPr>
        <p:spPr>
          <a:xfrm>
            <a:off x="877824" y="201510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481328" y="1828800"/>
            <a:ext cx="4203040" cy="829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탐색 = 가능한 모든 경우를 체계적으로 탐색하는 설계 전략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58368" y="2823210"/>
            <a:ext cx="5208880" cy="829818"/>
          </a:xfrm>
          <a:prstGeom prst="roundRect">
            <a:avLst>
              <a:gd name="adj" fmla="val 13223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77824" y="3009519"/>
            <a:ext cx="457200" cy="45720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0" name="Text 8"/>
          <p:cNvSpPr/>
          <p:nvPr/>
        </p:nvSpPr>
        <p:spPr>
          <a:xfrm>
            <a:off x="877824" y="300951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481328" y="2823210"/>
            <a:ext cx="4203040" cy="829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찾아야 할 변수의 수 = 중첩 반복문의 수 (핵심 패턴)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58368" y="3817620"/>
            <a:ext cx="5208880" cy="829818"/>
          </a:xfrm>
          <a:prstGeom prst="roundRect">
            <a:avLst>
              <a:gd name="adj" fmla="val 13223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77824" y="4003929"/>
            <a:ext cx="457200" cy="45720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" y="400392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481328" y="3817620"/>
            <a:ext cx="4203040" cy="829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3단계 템플릿: 후보 해 생성 → 조건 검증 → 해 선택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58368" y="4812030"/>
            <a:ext cx="5208880" cy="829818"/>
          </a:xfrm>
          <a:prstGeom prst="roundRect">
            <a:avLst>
              <a:gd name="adj" fmla="val 13223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77824" y="4998339"/>
            <a:ext cx="457200" cy="45720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8" name="Text 16"/>
          <p:cNvSpPr/>
          <p:nvPr/>
        </p:nvSpPr>
        <p:spPr>
          <a:xfrm>
            <a:off x="877824" y="499833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481328" y="4812030"/>
            <a:ext cx="4203040" cy="829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itertools(permutations, combinations)로 다중 루프를 대체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324448" y="1828800"/>
            <a:ext cx="5208880" cy="1161288"/>
          </a:xfrm>
          <a:prstGeom prst="roundRect">
            <a:avLst>
              <a:gd name="adj" fmla="val 9449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543904" y="2180844"/>
            <a:ext cx="457200" cy="45720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2" name="Text 20"/>
          <p:cNvSpPr/>
          <p:nvPr/>
        </p:nvSpPr>
        <p:spPr>
          <a:xfrm>
            <a:off x="6543904" y="21808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147408" y="1828800"/>
            <a:ext cx="420304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조합적 폭발: O(n!), O(2ⁿ) → 입력이 작을 때만 사용 (n≤20)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324448" y="3154680"/>
            <a:ext cx="5208880" cy="1161288"/>
          </a:xfrm>
          <a:prstGeom prst="roundRect">
            <a:avLst>
              <a:gd name="adj" fmla="val 9449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543904" y="3506724"/>
            <a:ext cx="457200" cy="457200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26" name="Text 24"/>
          <p:cNvSpPr/>
          <p:nvPr/>
        </p:nvSpPr>
        <p:spPr>
          <a:xfrm>
            <a:off x="6543904" y="35067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7147408" y="3154680"/>
            <a:ext cx="420304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탐색은 백트래킹·분할 정복·동적 계획법의 출발점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324448" y="4480560"/>
            <a:ext cx="5208880" cy="1161288"/>
          </a:xfrm>
          <a:prstGeom prst="roundRect">
            <a:avLst>
              <a:gd name="adj" fmla="val 9449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543904" y="4832604"/>
            <a:ext cx="457200" cy="45720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30" name="Text 28"/>
          <p:cNvSpPr/>
          <p:nvPr/>
        </p:nvSpPr>
        <p:spPr>
          <a:xfrm>
            <a:off x="6543904" y="48326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7147408" y="4480560"/>
            <a:ext cx="420304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코딩 테스트: 입력 제한 확인 → 경우의 수 계산 → 가능 여부 판단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52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40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 1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896112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탐색의 시간 복잡도는?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58368" y="1691640"/>
            <a:ext cx="6583680" cy="3794760"/>
          </a:xfrm>
          <a:prstGeom prst="roundRect">
            <a:avLst>
              <a:gd name="adj" fmla="val 2892"/>
            </a:avLst>
          </a:prstGeom>
          <a:solidFill>
            <a:srgbClr val="1D1C3D"/>
          </a:solidFill>
          <a:ln/>
          <a:effectLst>
            <a:outerShdw blurRad="203200" dist="76200" dir="5400000" algn="bl" rotWithShape="0">
              <a:srgbClr val="1A1836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58368" y="1691640"/>
            <a:ext cx="6583680" cy="457200"/>
          </a:xfrm>
          <a:prstGeom prst="roundRect">
            <a:avLst>
              <a:gd name="adj" fmla="val 24000"/>
            </a:avLst>
          </a:prstGeom>
          <a:solidFill>
            <a:srgbClr val="2A2856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947672"/>
            <a:ext cx="6583680" cy="128016"/>
          </a:xfrm>
          <a:prstGeom prst="rect">
            <a:avLst/>
          </a:prstGeom>
          <a:solidFill>
            <a:srgbClr val="1D1C3D"/>
          </a:solidFill>
          <a:ln/>
        </p:spPr>
      </p:sp>
      <p:sp>
        <p:nvSpPr>
          <p:cNvPr id="7" name="Shape 5"/>
          <p:cNvSpPr/>
          <p:nvPr/>
        </p:nvSpPr>
        <p:spPr>
          <a:xfrm>
            <a:off x="859536" y="1819656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8" name="Shape 6"/>
          <p:cNvSpPr/>
          <p:nvPr/>
        </p:nvSpPr>
        <p:spPr>
          <a:xfrm>
            <a:off x="1060704" y="1819656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9" name="Shape 7"/>
          <p:cNvSpPr/>
          <p:nvPr/>
        </p:nvSpPr>
        <p:spPr>
          <a:xfrm>
            <a:off x="1261872" y="1819656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0" name="Text 8"/>
          <p:cNvSpPr/>
          <p:nvPr/>
        </p:nvSpPr>
        <p:spPr>
          <a:xfrm>
            <a:off x="1481328" y="169164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9A9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quiz1.py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914400" y="2249424"/>
            <a:ext cx="612648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30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코드 A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i </a:t>
            </a: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(n):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j </a:t>
            </a: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(n):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pass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코드 B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perm </a:t>
            </a: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permutations(arr, n):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pass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코드 C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i </a:t>
            </a: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&lt;&lt; n):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pass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653528" y="1691640"/>
            <a:ext cx="3879799" cy="1097280"/>
          </a:xfrm>
          <a:prstGeom prst="roundRect">
            <a:avLst>
              <a:gd name="adj" fmla="val 11667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872984" y="1965960"/>
            <a:ext cx="548640" cy="548640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14" name="Text 12"/>
          <p:cNvSpPr/>
          <p:nvPr/>
        </p:nvSpPr>
        <p:spPr>
          <a:xfrm>
            <a:off x="7872984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8613648" y="1837944"/>
            <a:ext cx="26910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O(n²)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8613648" y="2295144"/>
            <a:ext cx="269107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이중 for문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653528" y="2971800"/>
            <a:ext cx="3879799" cy="1097280"/>
          </a:xfrm>
          <a:prstGeom prst="roundRect">
            <a:avLst>
              <a:gd name="adj" fmla="val 11667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872984" y="3246120"/>
            <a:ext cx="548640" cy="54864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9" name="Text 17"/>
          <p:cNvSpPr/>
          <p:nvPr/>
        </p:nvSpPr>
        <p:spPr>
          <a:xfrm>
            <a:off x="7872984" y="3246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613648" y="3118104"/>
            <a:ext cx="26910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O(n!)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8613648" y="3575304"/>
            <a:ext cx="269107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순열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7653528" y="4251960"/>
            <a:ext cx="3879799" cy="1097280"/>
          </a:xfrm>
          <a:prstGeom prst="roundRect">
            <a:avLst>
              <a:gd name="adj" fmla="val 11667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872984" y="4526280"/>
            <a:ext cx="548640" cy="548640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24" name="Text 22"/>
          <p:cNvSpPr/>
          <p:nvPr/>
        </p:nvSpPr>
        <p:spPr>
          <a:xfrm>
            <a:off x="7872984" y="4526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8613648" y="4398264"/>
            <a:ext cx="26910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O(2ⁿ)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8613648" y="4855464"/>
            <a:ext cx="269107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부분집합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53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40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 2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896112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순열 vs 조합, 무엇을 쓸까?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58368" y="1783080"/>
            <a:ext cx="10874959" cy="914400"/>
          </a:xfrm>
          <a:prstGeom prst="roundRect">
            <a:avLst>
              <a:gd name="adj" fmla="val 14000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1965960"/>
            <a:ext cx="777240" cy="548640"/>
          </a:xfrm>
          <a:prstGeom prst="roundRect">
            <a:avLst>
              <a:gd name="adj" fmla="val 16667"/>
            </a:avLst>
          </a:prstGeom>
          <a:solidFill>
            <a:srgbClr val="17163A"/>
          </a:solidFill>
          <a:ln/>
        </p:spPr>
      </p:sp>
      <p:sp>
        <p:nvSpPr>
          <p:cNvPr id="6" name="Text 4"/>
          <p:cNvSpPr/>
          <p:nvPr/>
        </p:nvSpPr>
        <p:spPr>
          <a:xfrm>
            <a:off x="877824" y="1965960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847088" y="178308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4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로또 6/45 당첨번호 조합의 수는?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7790688" y="1965960"/>
            <a:ext cx="1188720" cy="548640"/>
          </a:xfrm>
          <a:prstGeom prst="roundRect">
            <a:avLst>
              <a:gd name="adj" fmla="val 16667"/>
            </a:avLst>
          </a:prstGeom>
          <a:solidFill>
            <a:srgbClr val="10B981"/>
          </a:solidFill>
          <a:ln/>
        </p:spPr>
      </p:sp>
      <p:sp>
        <p:nvSpPr>
          <p:cNvPr id="9" name="Text 7"/>
          <p:cNvSpPr/>
          <p:nvPr/>
        </p:nvSpPr>
        <p:spPr>
          <a:xfrm>
            <a:off x="7790688" y="19659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조합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070848" y="1783080"/>
            <a:ext cx="227959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45C6 = 8,145,060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58368" y="2862072"/>
            <a:ext cx="10874959" cy="914400"/>
          </a:xfrm>
          <a:prstGeom prst="roundRect">
            <a:avLst>
              <a:gd name="adj" fmla="val 14000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77824" y="3044952"/>
            <a:ext cx="777240" cy="548640"/>
          </a:xfrm>
          <a:prstGeom prst="roundRect">
            <a:avLst>
              <a:gd name="adj" fmla="val 16667"/>
            </a:avLst>
          </a:prstGeom>
          <a:solidFill>
            <a:srgbClr val="17163A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3044952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847088" y="2862072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4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5명 중 금·은·동 메달리스트를 정하는 경우?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7790688" y="3044952"/>
            <a:ext cx="1188720" cy="548640"/>
          </a:xfrm>
          <a:prstGeom prst="roundRect">
            <a:avLst>
              <a:gd name="adj" fmla="val 16667"/>
            </a:avLst>
          </a:prstGeom>
          <a:solidFill>
            <a:srgbClr val="4F46E5"/>
          </a:solidFill>
          <a:ln/>
        </p:spPr>
      </p:sp>
      <p:sp>
        <p:nvSpPr>
          <p:cNvPr id="16" name="Text 14"/>
          <p:cNvSpPr/>
          <p:nvPr/>
        </p:nvSpPr>
        <p:spPr>
          <a:xfrm>
            <a:off x="7790688" y="3044952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순열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070848" y="2862072"/>
            <a:ext cx="227959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4F46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5P3 = 60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58368" y="3941064"/>
            <a:ext cx="10874959" cy="914400"/>
          </a:xfrm>
          <a:prstGeom prst="roundRect">
            <a:avLst>
              <a:gd name="adj" fmla="val 14000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77824" y="4123944"/>
            <a:ext cx="777240" cy="548640"/>
          </a:xfrm>
          <a:prstGeom prst="roundRect">
            <a:avLst>
              <a:gd name="adj" fmla="val 16667"/>
            </a:avLst>
          </a:prstGeom>
          <a:solidFill>
            <a:srgbClr val="17163A"/>
          </a:solidFill>
          <a:ln/>
        </p:spPr>
      </p:sp>
      <p:sp>
        <p:nvSpPr>
          <p:cNvPr id="20" name="Text 18"/>
          <p:cNvSpPr/>
          <p:nvPr/>
        </p:nvSpPr>
        <p:spPr>
          <a:xfrm>
            <a:off x="877824" y="4123944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847088" y="3941064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4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3자리 숫자 비밀번호 (중복 없음) 경우의 수?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7790688" y="4123944"/>
            <a:ext cx="1188720" cy="548640"/>
          </a:xfrm>
          <a:prstGeom prst="roundRect">
            <a:avLst>
              <a:gd name="adj" fmla="val 16667"/>
            </a:avLst>
          </a:prstGeom>
          <a:solidFill>
            <a:srgbClr val="4F46E5"/>
          </a:solidFill>
          <a:ln/>
        </p:spPr>
      </p:sp>
      <p:sp>
        <p:nvSpPr>
          <p:cNvPr id="23" name="Text 21"/>
          <p:cNvSpPr/>
          <p:nvPr/>
        </p:nvSpPr>
        <p:spPr>
          <a:xfrm>
            <a:off x="7790688" y="4123944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순열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070848" y="3941064"/>
            <a:ext cx="227959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4F46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10P3 = 720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58368" y="5020056"/>
            <a:ext cx="10874959" cy="914400"/>
          </a:xfrm>
          <a:prstGeom prst="roundRect">
            <a:avLst>
              <a:gd name="adj" fmla="val 14000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77824" y="5202936"/>
            <a:ext cx="777240" cy="548640"/>
          </a:xfrm>
          <a:prstGeom prst="roundRect">
            <a:avLst>
              <a:gd name="adj" fmla="val 16667"/>
            </a:avLst>
          </a:prstGeom>
          <a:solidFill>
            <a:srgbClr val="17163A"/>
          </a:solidFill>
          <a:ln/>
        </p:spPr>
      </p:sp>
      <p:sp>
        <p:nvSpPr>
          <p:cNvPr id="27" name="Text 25"/>
          <p:cNvSpPr/>
          <p:nvPr/>
        </p:nvSpPr>
        <p:spPr>
          <a:xfrm>
            <a:off x="877824" y="5202936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Q4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847088" y="5020056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4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5개 음식 중 메뉴 2개를 선택하는 경우?</a:t>
            </a:r>
            <a:endParaRPr lang="en-US" sz="1450" dirty="0"/>
          </a:p>
        </p:txBody>
      </p:sp>
      <p:sp>
        <p:nvSpPr>
          <p:cNvPr id="29" name="Shape 27"/>
          <p:cNvSpPr/>
          <p:nvPr/>
        </p:nvSpPr>
        <p:spPr>
          <a:xfrm>
            <a:off x="7790688" y="5202936"/>
            <a:ext cx="1188720" cy="548640"/>
          </a:xfrm>
          <a:prstGeom prst="roundRect">
            <a:avLst>
              <a:gd name="adj" fmla="val 16667"/>
            </a:avLst>
          </a:prstGeom>
          <a:solidFill>
            <a:srgbClr val="10B981"/>
          </a:solidFill>
          <a:ln/>
        </p:spPr>
      </p:sp>
      <p:sp>
        <p:nvSpPr>
          <p:cNvPr id="30" name="Text 28"/>
          <p:cNvSpPr/>
          <p:nvPr/>
        </p:nvSpPr>
        <p:spPr>
          <a:xfrm>
            <a:off x="7790688" y="5202936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조합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9070848" y="5020056"/>
            <a:ext cx="227959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5C2 = 10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54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챕터 예고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658368" y="1737360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59"/>
              </a:lnSpc>
              <a:buNone/>
            </a:pPr>
            <a:r>
              <a:rPr lang="en-US" sz="14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탐색의 한계를 극복하는 더 스마트한 알고리즘들을 배웁니다.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58368" y="2331720"/>
            <a:ext cx="2499284" cy="3063240"/>
          </a:xfrm>
          <a:prstGeom prst="roundRect">
            <a:avLst>
              <a:gd name="adj" fmla="val 5122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2606040"/>
            <a:ext cx="2060372" cy="457200"/>
          </a:xfrm>
          <a:prstGeom prst="roundRect">
            <a:avLst>
              <a:gd name="adj" fmla="val 18000"/>
            </a:avLst>
          </a:prstGeom>
          <a:solidFill>
            <a:srgbClr val="4F46E5"/>
          </a:solidFill>
          <a:ln/>
        </p:spPr>
      </p:sp>
      <p:sp>
        <p:nvSpPr>
          <p:cNvPr id="6" name="Text 4"/>
          <p:cNvSpPr/>
          <p:nvPr/>
        </p:nvSpPr>
        <p:spPr>
          <a:xfrm>
            <a:off x="877824" y="2606040"/>
            <a:ext cx="20603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3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95528" y="3246120"/>
            <a:ext cx="22249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5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축소 정복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658368" y="3840480"/>
            <a:ext cx="24992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kern="0" spc="5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Decrease and Conquer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77824" y="4178808"/>
            <a:ext cx="20603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1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크기를 점진적으로 줄여가며 해결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41248" y="4919472"/>
            <a:ext cx="21335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삽입 정렬 · 이진 탐색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450260" y="2331720"/>
            <a:ext cx="2499284" cy="3063240"/>
          </a:xfrm>
          <a:prstGeom prst="roundRect">
            <a:avLst>
              <a:gd name="adj" fmla="val 5122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69716" y="2606040"/>
            <a:ext cx="2060372" cy="457200"/>
          </a:xfrm>
          <a:prstGeom prst="roundRect">
            <a:avLst>
              <a:gd name="adj" fmla="val 18000"/>
            </a:avLst>
          </a:prstGeom>
          <a:solidFill>
            <a:srgbClr val="7C3AED"/>
          </a:solidFill>
          <a:ln/>
        </p:spPr>
      </p:sp>
      <p:sp>
        <p:nvSpPr>
          <p:cNvPr id="13" name="Text 11"/>
          <p:cNvSpPr/>
          <p:nvPr/>
        </p:nvSpPr>
        <p:spPr>
          <a:xfrm>
            <a:off x="3669716" y="2606040"/>
            <a:ext cx="20603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587420" y="3246120"/>
            <a:ext cx="22249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5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분할 정복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450260" y="3840480"/>
            <a:ext cx="24992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kern="0" spc="5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Divide and Conquer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69716" y="4178808"/>
            <a:ext cx="20603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1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문제를 작은 부분으로 나누어 재귀 해결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633140" y="4919472"/>
            <a:ext cx="21335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병합 정렬 · 퀵 정렬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242152" y="2331720"/>
            <a:ext cx="2499284" cy="3063240"/>
          </a:xfrm>
          <a:prstGeom prst="roundRect">
            <a:avLst>
              <a:gd name="adj" fmla="val 5122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461608" y="2606040"/>
            <a:ext cx="2060372" cy="457200"/>
          </a:xfrm>
          <a:prstGeom prst="roundRect">
            <a:avLst>
              <a:gd name="adj" fmla="val 18000"/>
            </a:avLst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6461608" y="2606040"/>
            <a:ext cx="20603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5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379312" y="3246120"/>
            <a:ext cx="22249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5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백트래킹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6242152" y="3840480"/>
            <a:ext cx="24992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kern="0" spc="50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Backtracking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61608" y="4178808"/>
            <a:ext cx="20603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1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탐색 + 가지치기로 경로 제거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425032" y="4919472"/>
            <a:ext cx="21335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N-Queens · 미로 탐색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9034043" y="2331720"/>
            <a:ext cx="2499284" cy="3063240"/>
          </a:xfrm>
          <a:prstGeom prst="roundRect">
            <a:avLst>
              <a:gd name="adj" fmla="val 5122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253499" y="2606040"/>
            <a:ext cx="2060372" cy="457200"/>
          </a:xfrm>
          <a:prstGeom prst="roundRect">
            <a:avLst>
              <a:gd name="adj" fmla="val 18000"/>
            </a:avLst>
          </a:prstGeom>
          <a:solidFill>
            <a:srgbClr val="FB7185"/>
          </a:solidFill>
          <a:ln/>
        </p:spPr>
      </p:sp>
      <p:sp>
        <p:nvSpPr>
          <p:cNvPr id="27" name="Text 25"/>
          <p:cNvSpPr/>
          <p:nvPr/>
        </p:nvSpPr>
        <p:spPr>
          <a:xfrm>
            <a:off x="9253499" y="2606040"/>
            <a:ext cx="20603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6~7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9171203" y="3246120"/>
            <a:ext cx="22249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5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 계획법 &amp; 그리디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9034043" y="3840480"/>
            <a:ext cx="24992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kern="0" spc="50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DP &amp; Greedy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9253499" y="4178808"/>
            <a:ext cx="20603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1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최적 부분 구조·탐욕적 선택 활용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9216923" y="4919472"/>
            <a:ext cx="21335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배낭 문제 · 최소 신장 트리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55</a:t>
            </a:r>
            <a:endParaRPr lang="en-US" sz="10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탐색 마스터 학습 전략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658368" y="1737360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88"/>
              </a:lnSpc>
              <a:buNone/>
            </a:pPr>
            <a:r>
              <a:rPr lang="en-US" sz="14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꾸준한 연습만이 코딩 테스트 합격의 지름길입니다.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58368" y="2240280"/>
            <a:ext cx="10874959" cy="658368"/>
          </a:xfrm>
          <a:prstGeom prst="roundRect">
            <a:avLst>
              <a:gd name="adj" fmla="val 19444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9536" y="2340864"/>
            <a:ext cx="1188720" cy="457200"/>
          </a:xfrm>
          <a:prstGeom prst="roundRect">
            <a:avLst>
              <a:gd name="adj" fmla="val 18000"/>
            </a:avLst>
          </a:prstGeom>
          <a:solidFill>
            <a:srgbClr val="4F46E5"/>
          </a:solidFill>
          <a:ln/>
        </p:spPr>
      </p:sp>
      <p:sp>
        <p:nvSpPr>
          <p:cNvPr id="6" name="Text 4"/>
          <p:cNvSpPr/>
          <p:nvPr/>
        </p:nvSpPr>
        <p:spPr>
          <a:xfrm>
            <a:off x="859536" y="234086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258568" y="2240280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기초 다지기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4773168" y="2240280"/>
            <a:ext cx="657727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반복문 중첩으로 약수·소수 찾기, 이중 for문으로 모든 쌍 비교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58368" y="2999232"/>
            <a:ext cx="10874959" cy="658368"/>
          </a:xfrm>
          <a:prstGeom prst="roundRect">
            <a:avLst>
              <a:gd name="adj" fmla="val 19444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59536" y="3099816"/>
            <a:ext cx="1188720" cy="457200"/>
          </a:xfrm>
          <a:prstGeom prst="roundRect">
            <a:avLst>
              <a:gd name="adj" fmla="val 18000"/>
            </a:avLst>
          </a:prstGeom>
          <a:solidFill>
            <a:srgbClr val="7C3AED"/>
          </a:solidFill>
          <a:ln/>
        </p:spPr>
      </p:sp>
      <p:sp>
        <p:nvSpPr>
          <p:cNvPr id="11" name="Text 9"/>
          <p:cNvSpPr/>
          <p:nvPr/>
        </p:nvSpPr>
        <p:spPr>
          <a:xfrm>
            <a:off x="859536" y="3099816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258568" y="2999232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itertools 익히기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773168" y="2999232"/>
            <a:ext cx="657727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permutations, combinations로 3줄 완전 탐색 구현 연습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58368" y="3758184"/>
            <a:ext cx="10874959" cy="658368"/>
          </a:xfrm>
          <a:prstGeom prst="roundRect">
            <a:avLst>
              <a:gd name="adj" fmla="val 19444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59536" y="3858768"/>
            <a:ext cx="1188720" cy="457200"/>
          </a:xfrm>
          <a:prstGeom prst="roundRect">
            <a:avLst>
              <a:gd name="adj" fmla="val 18000"/>
            </a:avLst>
          </a:prstGeom>
          <a:solidFill>
            <a:srgbClr val="38BDF8"/>
          </a:solidFill>
          <a:ln/>
        </p:spPr>
      </p:sp>
      <p:sp>
        <p:nvSpPr>
          <p:cNvPr id="16" name="Text 14"/>
          <p:cNvSpPr/>
          <p:nvPr/>
        </p:nvSpPr>
        <p:spPr>
          <a:xfrm>
            <a:off x="859536" y="385876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258568" y="3758184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비트마스크 연습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773168" y="3758184"/>
            <a:ext cx="657727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1&lt;&lt;n, i &amp; (1&lt;&lt;j)로 모든 부분집합 생성 마스터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58368" y="4517136"/>
            <a:ext cx="10874959" cy="658368"/>
          </a:xfrm>
          <a:prstGeom prst="roundRect">
            <a:avLst>
              <a:gd name="adj" fmla="val 19444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59536" y="4617720"/>
            <a:ext cx="1188720" cy="457200"/>
          </a:xfrm>
          <a:prstGeom prst="roundRect">
            <a:avLst>
              <a:gd name="adj" fmla="val 18000"/>
            </a:avLst>
          </a:prstGeom>
          <a:solidFill>
            <a:srgbClr val="F59E0B"/>
          </a:solidFill>
          <a:ln/>
        </p:spPr>
      </p:sp>
      <p:sp>
        <p:nvSpPr>
          <p:cNvPr id="21" name="Text 19"/>
          <p:cNvSpPr/>
          <p:nvPr/>
        </p:nvSpPr>
        <p:spPr>
          <a:xfrm>
            <a:off x="859536" y="46177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258568" y="4517136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코딩 테스트 적용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4773168" y="4517136"/>
            <a:ext cx="657727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백준·프로그래머스에서 ‘완전 탐색’ 태그 문제 20개 풀기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58368" y="5276088"/>
            <a:ext cx="10874959" cy="658368"/>
          </a:xfrm>
          <a:prstGeom prst="roundRect">
            <a:avLst>
              <a:gd name="adj" fmla="val 19444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59536" y="5376672"/>
            <a:ext cx="1188720" cy="457200"/>
          </a:xfrm>
          <a:prstGeom prst="roundRect">
            <a:avLst>
              <a:gd name="adj" fmla="val 18000"/>
            </a:avLst>
          </a:prstGeom>
          <a:solidFill>
            <a:srgbClr val="10B981"/>
          </a:solidFill>
          <a:ln/>
        </p:spPr>
      </p:sp>
      <p:sp>
        <p:nvSpPr>
          <p:cNvPr id="26" name="Text 24"/>
          <p:cNvSpPr/>
          <p:nvPr/>
        </p:nvSpPr>
        <p:spPr>
          <a:xfrm>
            <a:off x="859536" y="537667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2258568" y="5276088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최적화 도전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4773168" y="5276088"/>
            <a:ext cx="657727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탐색 코드에 가지치기 추가 → 백트래킹으로 발전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58368" y="6035040"/>
            <a:ext cx="10874959" cy="384048"/>
          </a:xfrm>
          <a:prstGeom prst="roundRect">
            <a:avLst>
              <a:gd name="adj" fmla="val 23810"/>
            </a:avLst>
          </a:prstGeom>
          <a:solidFill>
            <a:srgbClr val="EEF0FF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932688" y="6035040"/>
            <a:ext cx="103263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2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백준 추천: 1018, 2309, 2231, 7568   |   프로그래머스: 타겟 넘버, 카펫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56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1650492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flag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284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2.9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마치며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2장을 마치며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658368" y="16916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챕터에서 배운 것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58368" y="2148840"/>
            <a:ext cx="6400800" cy="566928"/>
          </a:xfrm>
          <a:prstGeom prst="roundRect">
            <a:avLst>
              <a:gd name="adj" fmla="val 16129"/>
            </a:avLst>
          </a:prstGeom>
          <a:solidFill>
            <a:srgbClr val="F5F4FC"/>
          </a:solidFill>
          <a:ln/>
          <a:effectLst>
            <a:outerShdw blurRad="50800" dist="12700" dir="5400000" algn="bl" rotWithShape="0">
              <a:srgbClr val="1A1836">
                <a:alpha val="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95528" y="2240280"/>
            <a:ext cx="384048" cy="384048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0" name="Image 1" descr="/home/claude/icons/che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540" y="2336292"/>
            <a:ext cx="192024" cy="19202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298448" y="2148840"/>
            <a:ext cx="5577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탐색의 개념과 ‘될 때까지 다 해보자!’ 전략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58368" y="2807208"/>
            <a:ext cx="6400800" cy="566928"/>
          </a:xfrm>
          <a:prstGeom prst="roundRect">
            <a:avLst>
              <a:gd name="adj" fmla="val 16129"/>
            </a:avLst>
          </a:prstGeom>
          <a:solidFill>
            <a:srgbClr val="F5F4FC"/>
          </a:solidFill>
          <a:ln/>
          <a:effectLst>
            <a:outerShdw blurRad="50800" dist="12700" dir="5400000" algn="bl" rotWithShape="0">
              <a:srgbClr val="1A1836">
                <a:alpha val="6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795528" y="2898648"/>
            <a:ext cx="384048" cy="384048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4" name="Image 2" descr="/home/claude/icons/che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540" y="2994660"/>
            <a:ext cx="192024" cy="19202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298448" y="2807208"/>
            <a:ext cx="5577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단일→이중→삼중 반복문으로 탐색을 확장하는 패턴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58368" y="3465576"/>
            <a:ext cx="6400800" cy="566928"/>
          </a:xfrm>
          <a:prstGeom prst="roundRect">
            <a:avLst>
              <a:gd name="adj" fmla="val 16129"/>
            </a:avLst>
          </a:prstGeom>
          <a:solidFill>
            <a:srgbClr val="F5F4FC"/>
          </a:solidFill>
          <a:ln/>
          <a:effectLst>
            <a:outerShdw blurRad="50800" dist="12700" dir="5400000" algn="bl" rotWithShape="0">
              <a:srgbClr val="1A1836">
                <a:alpha val="6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795528" y="3557016"/>
            <a:ext cx="384048" cy="384048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8" name="Image 3" descr="/home/claude/icons/che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540" y="3653028"/>
            <a:ext cx="192024" cy="19202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298448" y="3465576"/>
            <a:ext cx="5577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해 생성 → 조건 검증 → 해 선택의 3단계 템플릿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658368" y="4123944"/>
            <a:ext cx="6400800" cy="566928"/>
          </a:xfrm>
          <a:prstGeom prst="roundRect">
            <a:avLst>
              <a:gd name="adj" fmla="val 16129"/>
            </a:avLst>
          </a:prstGeom>
          <a:solidFill>
            <a:srgbClr val="F5F4FC"/>
          </a:solidFill>
          <a:ln/>
          <a:effectLst>
            <a:outerShdw blurRad="50800" dist="12700" dir="5400000" algn="bl" rotWithShape="0">
              <a:srgbClr val="1A1836">
                <a:alpha val="6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795528" y="4215384"/>
            <a:ext cx="384048" cy="384048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22" name="Image 4" descr="/home/claude/icons/che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540" y="4311396"/>
            <a:ext cx="192024" cy="19202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298448" y="4123944"/>
            <a:ext cx="5577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itertools로 순열·조합을 우아하게 구현</a:t>
            </a:r>
            <a:endParaRPr lang="en-US" sz="1250" dirty="0"/>
          </a:p>
        </p:txBody>
      </p:sp>
      <p:sp>
        <p:nvSpPr>
          <p:cNvPr id="24" name="Shape 17"/>
          <p:cNvSpPr/>
          <p:nvPr/>
        </p:nvSpPr>
        <p:spPr>
          <a:xfrm>
            <a:off x="658368" y="4782312"/>
            <a:ext cx="6400800" cy="566928"/>
          </a:xfrm>
          <a:prstGeom prst="roundRect">
            <a:avLst>
              <a:gd name="adj" fmla="val 16129"/>
            </a:avLst>
          </a:prstGeom>
          <a:solidFill>
            <a:srgbClr val="F5F4FC"/>
          </a:solidFill>
          <a:ln/>
          <a:effectLst>
            <a:outerShdw blurRad="50800" dist="12700" dir="5400000" algn="bl" rotWithShape="0">
              <a:srgbClr val="1A1836">
                <a:alpha val="6000"/>
              </a:srgbClr>
            </a:outerShdw>
          </a:effectLst>
        </p:spPr>
      </p:sp>
      <p:sp>
        <p:nvSpPr>
          <p:cNvPr id="25" name="Shape 18"/>
          <p:cNvSpPr/>
          <p:nvPr/>
        </p:nvSpPr>
        <p:spPr>
          <a:xfrm>
            <a:off x="795528" y="4873752"/>
            <a:ext cx="384048" cy="384048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26" name="Image 5" descr="/home/claude/icons/che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540" y="4969764"/>
            <a:ext cx="192024" cy="192024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298448" y="4782312"/>
            <a:ext cx="5577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조합적 폭발과 O(n!), O(2ⁿ), O(nᵏ) 복잡도의 이해</a:t>
            </a:r>
            <a:endParaRPr lang="en-US" sz="1250" dirty="0"/>
          </a:p>
        </p:txBody>
      </p:sp>
      <p:sp>
        <p:nvSpPr>
          <p:cNvPr id="28" name="Shape 20"/>
          <p:cNvSpPr/>
          <p:nvPr/>
        </p:nvSpPr>
        <p:spPr>
          <a:xfrm>
            <a:off x="658368" y="5440680"/>
            <a:ext cx="6400800" cy="566928"/>
          </a:xfrm>
          <a:prstGeom prst="roundRect">
            <a:avLst>
              <a:gd name="adj" fmla="val 16129"/>
            </a:avLst>
          </a:prstGeom>
          <a:solidFill>
            <a:srgbClr val="F5F4FC"/>
          </a:solidFill>
          <a:ln/>
          <a:effectLst>
            <a:outerShdw blurRad="50800" dist="12700" dir="5400000" algn="bl" rotWithShape="0">
              <a:srgbClr val="1A1836">
                <a:alpha val="6000"/>
              </a:srgbClr>
            </a:outerShdw>
          </a:effectLst>
        </p:spPr>
      </p:sp>
      <p:sp>
        <p:nvSpPr>
          <p:cNvPr id="29" name="Shape 21"/>
          <p:cNvSpPr/>
          <p:nvPr/>
        </p:nvSpPr>
        <p:spPr>
          <a:xfrm>
            <a:off x="795528" y="5532120"/>
            <a:ext cx="384048" cy="384048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30" name="Image 6" descr="/home/claude/icons/che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540" y="5628132"/>
            <a:ext cx="192024" cy="192024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1298448" y="5440680"/>
            <a:ext cx="5577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탐색이 모든 고급 알고리즘의 씨앗임을 파악</a:t>
            </a:r>
            <a:endParaRPr lang="en-US" sz="1250" dirty="0"/>
          </a:p>
        </p:txBody>
      </p:sp>
      <p:sp>
        <p:nvSpPr>
          <p:cNvPr id="32" name="Shape 23"/>
          <p:cNvSpPr/>
          <p:nvPr/>
        </p:nvSpPr>
        <p:spPr>
          <a:xfrm>
            <a:off x="7470648" y="1691640"/>
            <a:ext cx="4062679" cy="2377440"/>
          </a:xfrm>
          <a:prstGeom prst="roundRect">
            <a:avLst>
              <a:gd name="adj" fmla="val 6154"/>
            </a:avLst>
          </a:prstGeom>
          <a:solidFill>
            <a:srgbClr val="17163A"/>
          </a:solidFill>
          <a:ln/>
          <a:effectLst>
            <a:outerShdw blurRad="152400" dist="63500" dir="5400000" algn="bl" rotWithShape="0">
              <a:srgbClr val="1A1836">
                <a:alpha val="24000"/>
              </a:srgbClr>
            </a:outerShdw>
          </a:effectLst>
        </p:spPr>
      </p:sp>
      <p:sp>
        <p:nvSpPr>
          <p:cNvPr id="33" name="Shape 24"/>
          <p:cNvSpPr/>
          <p:nvPr/>
        </p:nvSpPr>
        <p:spPr>
          <a:xfrm>
            <a:off x="9090508" y="1965960"/>
            <a:ext cx="822960" cy="822960"/>
          </a:xfrm>
          <a:prstGeom prst="ellipse">
            <a:avLst/>
          </a:prstGeom>
          <a:solidFill>
            <a:srgbClr val="F59E0B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34" name="Image 7" descr="/home/claude/icons/rocket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96248" y="2171700"/>
            <a:ext cx="411480" cy="411480"/>
          </a:xfrm>
          <a:prstGeom prst="rect">
            <a:avLst/>
          </a:prstGeom>
        </p:spPr>
      </p:pic>
      <p:sp>
        <p:nvSpPr>
          <p:cNvPr id="35" name="Text 25"/>
          <p:cNvSpPr/>
          <p:nvPr/>
        </p:nvSpPr>
        <p:spPr>
          <a:xfrm>
            <a:off x="7470648" y="2880360"/>
            <a:ext cx="406267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100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챕터 예고</a:t>
            </a:r>
            <a:endParaRPr lang="en-US" sz="1300" dirty="0"/>
          </a:p>
        </p:txBody>
      </p:sp>
      <p:sp>
        <p:nvSpPr>
          <p:cNvPr id="36" name="Text 26"/>
          <p:cNvSpPr/>
          <p:nvPr/>
        </p:nvSpPr>
        <p:spPr>
          <a:xfrm>
            <a:off x="7470648" y="3200400"/>
            <a:ext cx="406267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3</a:t>
            </a:r>
            <a:endParaRPr lang="en-US" sz="1700" dirty="0"/>
          </a:p>
          <a:p>
            <a:pPr marL="0" indent="0" algn="ctr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축소 정복</a:t>
            </a:r>
            <a:endParaRPr lang="en-US" sz="1700" dirty="0"/>
          </a:p>
        </p:txBody>
      </p:sp>
      <p:sp>
        <p:nvSpPr>
          <p:cNvPr id="37" name="Text 27"/>
          <p:cNvSpPr/>
          <p:nvPr/>
        </p:nvSpPr>
        <p:spPr>
          <a:xfrm>
            <a:off x="7744968" y="3767328"/>
            <a:ext cx="351403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8C6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탐색 범위를 조금씩 줄여가며 더 똑똑하게 문제에 접근</a:t>
            </a:r>
            <a:endParaRPr lang="en-US" sz="1100" dirty="0"/>
          </a:p>
        </p:txBody>
      </p:sp>
      <p:sp>
        <p:nvSpPr>
          <p:cNvPr id="38" name="Shape 28"/>
          <p:cNvSpPr/>
          <p:nvPr/>
        </p:nvSpPr>
        <p:spPr>
          <a:xfrm>
            <a:off x="7470648" y="4206240"/>
            <a:ext cx="4062679" cy="160020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39" name="Text 29"/>
          <p:cNvSpPr/>
          <p:nvPr/>
        </p:nvSpPr>
        <p:spPr>
          <a:xfrm>
            <a:off x="7744968" y="4206240"/>
            <a:ext cx="3514039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2000"/>
              </a:lnSpc>
              <a:buNone/>
            </a:pPr>
            <a:r>
              <a:rPr lang="en-US" sz="1350" b="1" i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“복잡한 문제도 일단 완전 탐색으로 풀어봄으로써 문제의 구조를 이해할 수 있다.”</a:t>
            </a:r>
            <a:endParaRPr lang="en-US" sz="1350" dirty="0"/>
          </a:p>
        </p:txBody>
      </p:sp>
      <p:sp>
        <p:nvSpPr>
          <p:cNvPr id="40" name="Text 30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57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716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" y="539496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3" name="Shape 1"/>
          <p:cNvSpPr/>
          <p:nvPr/>
        </p:nvSpPr>
        <p:spPr>
          <a:xfrm>
            <a:off x="1143000" y="539496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4" name="Shape 2"/>
          <p:cNvSpPr/>
          <p:nvPr/>
        </p:nvSpPr>
        <p:spPr>
          <a:xfrm>
            <a:off x="1417320" y="539496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5" name="Shape 3"/>
          <p:cNvSpPr/>
          <p:nvPr/>
        </p:nvSpPr>
        <p:spPr>
          <a:xfrm>
            <a:off x="1691640" y="539496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6" name="Shape 4"/>
          <p:cNvSpPr/>
          <p:nvPr/>
        </p:nvSpPr>
        <p:spPr>
          <a:xfrm>
            <a:off x="1965960" y="539496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7" name="Shape 5"/>
          <p:cNvSpPr/>
          <p:nvPr/>
        </p:nvSpPr>
        <p:spPr>
          <a:xfrm>
            <a:off x="868680" y="566928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8" name="Shape 6"/>
          <p:cNvSpPr/>
          <p:nvPr/>
        </p:nvSpPr>
        <p:spPr>
          <a:xfrm>
            <a:off x="1143000" y="566928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9" name="Shape 7"/>
          <p:cNvSpPr/>
          <p:nvPr/>
        </p:nvSpPr>
        <p:spPr>
          <a:xfrm>
            <a:off x="1417320" y="566928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10" name="Shape 8"/>
          <p:cNvSpPr/>
          <p:nvPr/>
        </p:nvSpPr>
        <p:spPr>
          <a:xfrm>
            <a:off x="1691640" y="566928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11" name="Shape 9"/>
          <p:cNvSpPr/>
          <p:nvPr/>
        </p:nvSpPr>
        <p:spPr>
          <a:xfrm>
            <a:off x="1965960" y="566928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12" name="Shape 10"/>
          <p:cNvSpPr/>
          <p:nvPr/>
        </p:nvSpPr>
        <p:spPr>
          <a:xfrm>
            <a:off x="868680" y="594360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13" name="Shape 11"/>
          <p:cNvSpPr/>
          <p:nvPr/>
        </p:nvSpPr>
        <p:spPr>
          <a:xfrm>
            <a:off x="1143000" y="594360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14" name="Shape 12"/>
          <p:cNvSpPr/>
          <p:nvPr/>
        </p:nvSpPr>
        <p:spPr>
          <a:xfrm>
            <a:off x="1417320" y="594360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15" name="Shape 13"/>
          <p:cNvSpPr/>
          <p:nvPr/>
        </p:nvSpPr>
        <p:spPr>
          <a:xfrm>
            <a:off x="1691640" y="594360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16" name="Shape 14"/>
          <p:cNvSpPr/>
          <p:nvPr/>
        </p:nvSpPr>
        <p:spPr>
          <a:xfrm>
            <a:off x="1965960" y="594360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17" name="Shape 15"/>
          <p:cNvSpPr/>
          <p:nvPr/>
        </p:nvSpPr>
        <p:spPr>
          <a:xfrm>
            <a:off x="868680" y="621792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43000" y="621792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19" name="Shape 17"/>
          <p:cNvSpPr/>
          <p:nvPr/>
        </p:nvSpPr>
        <p:spPr>
          <a:xfrm>
            <a:off x="1417320" y="621792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20" name="Shape 18"/>
          <p:cNvSpPr/>
          <p:nvPr/>
        </p:nvSpPr>
        <p:spPr>
          <a:xfrm>
            <a:off x="1691640" y="621792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21" name="Shape 19"/>
          <p:cNvSpPr/>
          <p:nvPr/>
        </p:nvSpPr>
        <p:spPr>
          <a:xfrm>
            <a:off x="1965960" y="621792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02 완료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68680" y="1828800"/>
            <a:ext cx="6400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58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탐색</a:t>
            </a:r>
            <a:endParaRPr lang="en-US" sz="5400" dirty="0"/>
          </a:p>
          <a:p>
            <a:pPr marL="0" indent="0">
              <a:lnSpc>
                <a:spcPts val="58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마스터!</a:t>
            </a:r>
            <a:endParaRPr lang="en-US" sz="5400" dirty="0"/>
          </a:p>
        </p:txBody>
      </p:sp>
      <p:sp>
        <p:nvSpPr>
          <p:cNvPr id="24" name="Text 22"/>
          <p:cNvSpPr/>
          <p:nvPr/>
        </p:nvSpPr>
        <p:spPr>
          <a:xfrm>
            <a:off x="896112" y="36118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“될 때까지 다 해보자!”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896112" y="5989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00" dirty="0">
                <a:solidFill>
                  <a:srgbClr val="7A78B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파이썬 알고리즘 · Chapter 2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040880" y="1965960"/>
            <a:ext cx="4480560" cy="914400"/>
          </a:xfrm>
          <a:prstGeom prst="roundRect">
            <a:avLst>
              <a:gd name="adj" fmla="val 14000"/>
            </a:avLst>
          </a:prstGeom>
          <a:solidFill>
            <a:srgbClr val="201E4C"/>
          </a:solidFill>
          <a:ln w="12700">
            <a:solidFill>
              <a:srgbClr val="2A2860"/>
            </a:solidFill>
            <a:prstDash val="solid"/>
          </a:ln>
          <a:effectLst>
            <a:outerShdw blurRad="127000" dist="50800" dir="5400000" algn="bl" rotWithShape="0">
              <a:srgbClr val="1A1836">
                <a:alpha val="2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315200" y="2148840"/>
            <a:ext cx="548640" cy="548640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28" name="Image 0" descr="/home/claude/icons/scal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0" y="2286000"/>
            <a:ext cx="274320" cy="274320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8046720" y="196596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탐색 → 백트래킹</a:t>
            </a:r>
            <a:endParaRPr lang="en-US" sz="1600" dirty="0"/>
          </a:p>
        </p:txBody>
      </p:sp>
      <p:sp>
        <p:nvSpPr>
          <p:cNvPr id="30" name="Shape 27"/>
          <p:cNvSpPr/>
          <p:nvPr/>
        </p:nvSpPr>
        <p:spPr>
          <a:xfrm>
            <a:off x="7040880" y="3081528"/>
            <a:ext cx="4480560" cy="914400"/>
          </a:xfrm>
          <a:prstGeom prst="roundRect">
            <a:avLst>
              <a:gd name="adj" fmla="val 14000"/>
            </a:avLst>
          </a:prstGeom>
          <a:solidFill>
            <a:srgbClr val="201E4C"/>
          </a:solidFill>
          <a:ln w="12700">
            <a:solidFill>
              <a:srgbClr val="2A2860"/>
            </a:solidFill>
            <a:prstDash val="solid"/>
          </a:ln>
          <a:effectLst>
            <a:outerShdw blurRad="127000" dist="50800" dir="5400000" algn="bl" rotWithShape="0">
              <a:srgbClr val="1A1836">
                <a:alpha val="28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7315200" y="3264408"/>
            <a:ext cx="548640" cy="548640"/>
          </a:xfrm>
          <a:prstGeom prst="ellipse">
            <a:avLst/>
          </a:prstGeom>
          <a:solidFill>
            <a:srgbClr val="38BDF8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32" name="Image 1" descr="/home/claude/icons/divid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0" y="3401568"/>
            <a:ext cx="274320" cy="274320"/>
          </a:xfrm>
          <a:prstGeom prst="rect">
            <a:avLst/>
          </a:prstGeom>
        </p:spPr>
      </p:pic>
      <p:sp>
        <p:nvSpPr>
          <p:cNvPr id="33" name="Text 29"/>
          <p:cNvSpPr/>
          <p:nvPr/>
        </p:nvSpPr>
        <p:spPr>
          <a:xfrm>
            <a:off x="8046720" y="3081528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탐색 → 분할 정복</a:t>
            </a:r>
            <a:endParaRPr lang="en-US" sz="1600" dirty="0"/>
          </a:p>
        </p:txBody>
      </p:sp>
      <p:sp>
        <p:nvSpPr>
          <p:cNvPr id="34" name="Shape 30"/>
          <p:cNvSpPr/>
          <p:nvPr/>
        </p:nvSpPr>
        <p:spPr>
          <a:xfrm>
            <a:off x="7040880" y="4197096"/>
            <a:ext cx="4480560" cy="914400"/>
          </a:xfrm>
          <a:prstGeom prst="roundRect">
            <a:avLst>
              <a:gd name="adj" fmla="val 14000"/>
            </a:avLst>
          </a:prstGeom>
          <a:solidFill>
            <a:srgbClr val="201E4C"/>
          </a:solidFill>
          <a:ln w="12700">
            <a:solidFill>
              <a:srgbClr val="2A2860"/>
            </a:solidFill>
            <a:prstDash val="solid"/>
          </a:ln>
          <a:effectLst>
            <a:outerShdw blurRad="127000" dist="50800" dir="5400000" algn="bl" rotWithShape="0">
              <a:srgbClr val="1A1836">
                <a:alpha val="28000"/>
              </a:srgbClr>
            </a:outerShdw>
          </a:effectLst>
        </p:spPr>
      </p:sp>
      <p:sp>
        <p:nvSpPr>
          <p:cNvPr id="35" name="Shape 31"/>
          <p:cNvSpPr/>
          <p:nvPr/>
        </p:nvSpPr>
        <p:spPr>
          <a:xfrm>
            <a:off x="7315200" y="4379976"/>
            <a:ext cx="548640" cy="548640"/>
          </a:xfrm>
          <a:prstGeom prst="ellipse">
            <a:avLst/>
          </a:prstGeom>
          <a:solidFill>
            <a:srgbClr val="7C3AED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36" name="Image 2" descr="/home/claude/icons/brain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0" y="4517136"/>
            <a:ext cx="274320" cy="274320"/>
          </a:xfrm>
          <a:prstGeom prst="rect">
            <a:avLst/>
          </a:prstGeom>
        </p:spPr>
      </p:pic>
      <p:sp>
        <p:nvSpPr>
          <p:cNvPr id="37" name="Text 32"/>
          <p:cNvSpPr/>
          <p:nvPr/>
        </p:nvSpPr>
        <p:spPr>
          <a:xfrm>
            <a:off x="8046720" y="4197096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탐색 → 동적 계획법</a:t>
            </a:r>
            <a:endParaRPr lang="en-US" sz="1600" dirty="0"/>
          </a:p>
        </p:txBody>
      </p:sp>
      <p:sp>
        <p:nvSpPr>
          <p:cNvPr id="38" name="Text 33"/>
          <p:cNvSpPr/>
          <p:nvPr/>
        </p:nvSpPr>
        <p:spPr>
          <a:xfrm>
            <a:off x="7040880" y="53583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9C9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시간: CHAPTER 3 — 축소 정복</a:t>
            </a:r>
            <a:endParaRPr lang="en-US" sz="1250" dirty="0"/>
          </a:p>
        </p:txBody>
      </p:sp>
      <p:sp>
        <p:nvSpPr>
          <p:cNvPr id="39" name="Text 34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88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58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5829</Words>
  <Application>Microsoft Office PowerPoint</Application>
  <PresentationFormat>와이드스크린</PresentationFormat>
  <Paragraphs>1131</Paragraphs>
  <Slides>59</Slides>
  <Notes>59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59</vt:i4>
      </vt:variant>
    </vt:vector>
  </HeadingPairs>
  <TitlesOfParts>
    <vt:vector size="63" baseType="lpstr">
      <vt:lpstr>Malgun Gothic</vt:lpstr>
      <vt:lpstr>Arial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1장 알고리즘과 복잡도 분석</dc:title>
  <dc:subject>PptxGenJS Presentation</dc:subject>
  <dc:creator>Algorithm Course</dc:creator>
  <cp:lastModifiedBy>Sangdon</cp:lastModifiedBy>
  <cp:revision>25</cp:revision>
  <dcterms:created xsi:type="dcterms:W3CDTF">2026-07-07T08:42:06Z</dcterms:created>
  <dcterms:modified xsi:type="dcterms:W3CDTF">2026-07-27T01:25:53Z</dcterms:modified>
</cp:coreProperties>
</file>