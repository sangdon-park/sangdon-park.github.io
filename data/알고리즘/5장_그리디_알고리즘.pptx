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9" r:id="rId4"/>
    <p:sldId id="260" r:id="rId5"/>
    <p:sldId id="261" r:id="rId6"/>
    <p:sldId id="263" r:id="rId7"/>
    <p:sldId id="266" r:id="rId8"/>
    <p:sldId id="267" r:id="rId9"/>
    <p:sldId id="268" r:id="rId10"/>
    <p:sldId id="271" r:id="rId11"/>
    <p:sldId id="276" r:id="rId12"/>
    <p:sldId id="277" r:id="rId13"/>
    <p:sldId id="281" r:id="rId14"/>
    <p:sldId id="282" r:id="rId15"/>
    <p:sldId id="285" r:id="rId16"/>
    <p:sldId id="286" r:id="rId17"/>
    <p:sldId id="287" r:id="rId18"/>
    <p:sldId id="438" r:id="rId19"/>
    <p:sldId id="439" r:id="rId20"/>
    <p:sldId id="290" r:id="rId21"/>
    <p:sldId id="291" r:id="rId22"/>
    <p:sldId id="292" r:id="rId23"/>
    <p:sldId id="293" r:id="rId24"/>
    <p:sldId id="295" r:id="rId25"/>
    <p:sldId id="296" r:id="rId26"/>
    <p:sldId id="297" r:id="rId27"/>
    <p:sldId id="298" r:id="rId28"/>
    <p:sldId id="303" r:id="rId29"/>
    <p:sldId id="311" r:id="rId30"/>
    <p:sldId id="312" r:id="rId31"/>
    <p:sldId id="313" r:id="rId32"/>
    <p:sldId id="314" r:id="rId33"/>
    <p:sldId id="442" r:id="rId34"/>
    <p:sldId id="452" r:id="rId35"/>
    <p:sldId id="317" r:id="rId36"/>
    <p:sldId id="318" r:id="rId37"/>
    <p:sldId id="320" r:id="rId38"/>
    <p:sldId id="323" r:id="rId39"/>
    <p:sldId id="333" r:id="rId40"/>
    <p:sldId id="334" r:id="rId41"/>
    <p:sldId id="338" r:id="rId42"/>
    <p:sldId id="339" r:id="rId43"/>
    <p:sldId id="340" r:id="rId44"/>
    <p:sldId id="343" r:id="rId45"/>
    <p:sldId id="344" r:id="rId46"/>
    <p:sldId id="347" r:id="rId47"/>
    <p:sldId id="349" r:id="rId48"/>
    <p:sldId id="352" r:id="rId49"/>
    <p:sldId id="356" r:id="rId50"/>
    <p:sldId id="357" r:id="rId51"/>
    <p:sldId id="358" r:id="rId52"/>
    <p:sldId id="359" r:id="rId53"/>
    <p:sldId id="383" r:id="rId54"/>
    <p:sldId id="384" r:id="rId55"/>
    <p:sldId id="385" r:id="rId56"/>
    <p:sldId id="386" r:id="rId57"/>
    <p:sldId id="387" r:id="rId58"/>
    <p:sldId id="408" r:id="rId59"/>
    <p:sldId id="411" r:id="rId60"/>
    <p:sldId id="412" r:id="rId61"/>
    <p:sldId id="413" r:id="rId62"/>
    <p:sldId id="414" r:id="rId63"/>
    <p:sldId id="415" r:id="rId64"/>
    <p:sldId id="419" r:id="rId65"/>
    <p:sldId id="420" r:id="rId66"/>
    <p:sldId id="431" r:id="rId67"/>
    <p:sldId id="434" r:id="rId68"/>
    <p:sldId id="450" r:id="rId69"/>
    <p:sldId id="451" r:id="rId7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그리디 알고리즘을 보겠습니다</a:t>
            </a:r>
            <a:r>
              <a:rPr lang="en-US" altLang="ko-KR"/>
              <a:t>. </a:t>
            </a:r>
            <a:r>
              <a:rPr lang="ko-KR" altLang="en-US"/>
              <a:t>거스름돈을 줄 때 큰 동전부터 꺼내거나</a:t>
            </a:r>
            <a:r>
              <a:rPr lang="en-US" altLang="ko-KR"/>
              <a:t>, </a:t>
            </a:r>
            <a:r>
              <a:rPr lang="ko-KR" altLang="en-US"/>
              <a:t>회의실을 빨리 비워 주는 회의부터 고르는 방법입니다</a:t>
            </a:r>
            <a:r>
              <a:rPr lang="en-US" altLang="ko-KR"/>
              <a:t>. </a:t>
            </a:r>
            <a:r>
              <a:rPr lang="ko-KR" altLang="en-US"/>
              <a:t>당장 좋아 보이는 선택을 하나씩 확정한다는 공통점이 있습니다</a:t>
            </a:r>
            <a:r>
              <a:rPr lang="en-US" altLang="ko-KR"/>
              <a:t>. </a:t>
            </a:r>
            <a:r>
              <a:rPr lang="ko-KR" altLang="en-US"/>
              <a:t>다만 그럴듯해 보이는 기준이 언제나 정답을 주지는 않습니다</a:t>
            </a:r>
            <a:r>
              <a:rPr lang="en-US" altLang="ko-KR"/>
              <a:t>. </a:t>
            </a:r>
            <a:r>
              <a:rPr lang="ko-KR" altLang="en-US"/>
              <a:t>어떤 기준으로 고르는지</a:t>
            </a:r>
            <a:r>
              <a:rPr lang="en-US" altLang="ko-KR"/>
              <a:t>, </a:t>
            </a:r>
            <a:r>
              <a:rPr lang="ko-KR" altLang="en-US"/>
              <a:t>그 기준을 믿을 근거가 있는지를 함께 살펴보겠습니다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동전과 회의실 예제로 그리디가 어떻게 움직이는지 익히겠습니다</a:t>
            </a:r>
            <a:r>
              <a:rPr lang="en-US" altLang="ko-KR"/>
              <a:t>. </a:t>
            </a:r>
            <a:r>
              <a:rPr lang="ko-KR" altLang="en-US"/>
              <a:t>그다음 물건을 쪼갤 수 있는 배낭과 쪼갤 수 없는 배낭을 비교하고</a:t>
            </a:r>
            <a:r>
              <a:rPr lang="en-US" altLang="ko-KR"/>
              <a:t>, </a:t>
            </a:r>
            <a:r>
              <a:rPr lang="ko-KR" altLang="en-US"/>
              <a:t>앞에서 본 선택이 왜 안전한지 정리하겠습니다</a:t>
            </a:r>
            <a:r>
              <a:rPr lang="en-US" altLang="ko-KR"/>
              <a:t>. </a:t>
            </a:r>
            <a:r>
              <a:rPr lang="ko-KR" altLang="en-US"/>
              <a:t>뒤에서는 모든 정점을 싸게 연결하는 크루스칼과 한 출발점에서 가까운 길을 찾는 다익스트라를 봅니다</a:t>
            </a:r>
            <a:r>
              <a:rPr lang="en-US" altLang="ko-KR"/>
              <a:t>. </a:t>
            </a:r>
            <a:r>
              <a:rPr lang="ko-KR" altLang="en-US"/>
              <a:t>두 알고리즘이 줄이려는 비용이 어떻게 다른지도 비교하겠습니다</a:t>
            </a:r>
            <a:r>
              <a:rPr lang="en-US" altLang="ko-KR"/>
              <a:t>. </a:t>
            </a:r>
            <a:r>
              <a:rPr lang="ko-KR" altLang="en-US"/>
              <a:t>외판원 문제와 긴 전체 구현은 보충자료에서 확인할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그리디는 매 순간 정해 둔 기준으로 가장 좋아 보이는 후보를 고르는 방식입니다</a:t>
            </a:r>
            <a:r>
              <a:rPr lang="en-US" altLang="ko-KR"/>
              <a:t>. </a:t>
            </a:r>
            <a:r>
              <a:rPr lang="ko-KR" altLang="en-US"/>
              <a:t>동전이라면 큰 금액</a:t>
            </a:r>
            <a:r>
              <a:rPr lang="en-US" altLang="ko-KR"/>
              <a:t>, </a:t>
            </a:r>
            <a:r>
              <a:rPr lang="ko-KR" altLang="en-US"/>
              <a:t>회의라면 빠른 종료 시각처럼 기준이 필요합니다</a:t>
            </a:r>
            <a:r>
              <a:rPr lang="en-US" altLang="ko-KR"/>
              <a:t>. </a:t>
            </a:r>
            <a:r>
              <a:rPr lang="ko-KR" altLang="en-US"/>
              <a:t>하나를 고르면 그 선택을 확정하고 남은 문제로 넘어갑니다</a:t>
            </a:r>
            <a:r>
              <a:rPr lang="en-US" altLang="ko-KR"/>
              <a:t>. </a:t>
            </a:r>
            <a:r>
              <a:rPr lang="ko-KR" altLang="en-US"/>
              <a:t>나중에 결과가 마음에 들지 않는다고 앞의 선택을 취소하고 다른 경우를 모두 시도하지는 않습니다</a:t>
            </a:r>
            <a:r>
              <a:rPr lang="en-US" altLang="ko-KR"/>
              <a:t>. </a:t>
            </a:r>
            <a:r>
              <a:rPr lang="ko-KR" altLang="en-US"/>
              <a:t>그래서 구현은 단순한 경우가 많지만</a:t>
            </a:r>
            <a:r>
              <a:rPr lang="en-US" altLang="ko-KR"/>
              <a:t>, </a:t>
            </a:r>
            <a:r>
              <a:rPr lang="ko-KR" altLang="en-US"/>
              <a:t>처음에 정한 기준이 잘못되면 빠르게 틀린 답을 낼 수도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지금 한 번의 선택에서 좋아 보이는 것과</a:t>
            </a:r>
            <a:r>
              <a:rPr lang="en-US" altLang="ko-KR"/>
              <a:t>, </a:t>
            </a:r>
            <a:r>
              <a:rPr lang="ko-KR" altLang="en-US"/>
              <a:t>끝까지 계산했을 때 가장 좋은 답은 구분해야 합니다</a:t>
            </a:r>
            <a:r>
              <a:rPr lang="en-US" altLang="ko-KR"/>
              <a:t>. </a:t>
            </a:r>
            <a:r>
              <a:rPr lang="ko-KR" altLang="en-US"/>
              <a:t>가장 비싼 물건을 먼저 담았더니 배낭 공간이 애매하게 남을 수도 있고</a:t>
            </a:r>
            <a:r>
              <a:rPr lang="en-US" altLang="ko-KR"/>
              <a:t>, </a:t>
            </a:r>
            <a:r>
              <a:rPr lang="ko-KR" altLang="en-US"/>
              <a:t>가장 일찍 시작하는 회의를 골랐더니 나머지 회의를 하나도 못 넣을 수도 있습니다</a:t>
            </a:r>
            <a:r>
              <a:rPr lang="en-US" altLang="ko-KR"/>
              <a:t>. </a:t>
            </a:r>
            <a:r>
              <a:rPr lang="ko-KR" altLang="en-US"/>
              <a:t>그리디를 만들 때는 이 선택이 지금 좋아 보인다는 설명에서 멈추면 안 됩니다</a:t>
            </a:r>
            <a:r>
              <a:rPr lang="en-US" altLang="ko-KR"/>
              <a:t>. </a:t>
            </a:r>
            <a:r>
              <a:rPr lang="ko-KR" altLang="en-US"/>
              <a:t>이 선택을 한 뒤에도 가장 좋은 전체 답을 만들 수 있는지가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흐름은 후보를 고르고</a:t>
            </a:r>
            <a:r>
              <a:rPr lang="en-US" altLang="ko-KR"/>
              <a:t>, </a:t>
            </a:r>
            <a:r>
              <a:rPr lang="ko-KR" altLang="en-US"/>
              <a:t>조건을 지키는지 확인하고</a:t>
            </a:r>
            <a:r>
              <a:rPr lang="en-US" altLang="ko-KR"/>
              <a:t>, </a:t>
            </a:r>
            <a:r>
              <a:rPr lang="ko-KR" altLang="en-US"/>
              <a:t>답이 완성됐는지 확인하는 순서입니다</a:t>
            </a:r>
            <a:r>
              <a:rPr lang="en-US" altLang="ko-KR"/>
              <a:t>. </a:t>
            </a:r>
            <a:r>
              <a:rPr lang="ko-KR" altLang="en-US"/>
              <a:t>회의를 하나 고르더라도 이미 넣은 회의와 겹치면 받아들일 수 없습니다</a:t>
            </a:r>
            <a:r>
              <a:rPr lang="en-US" altLang="ko-KR"/>
              <a:t>. </a:t>
            </a:r>
            <a:r>
              <a:rPr lang="ko-KR" altLang="en-US"/>
              <a:t>간선을 하나 고르더라도 사이클을 만들면 버려야 합니다</a:t>
            </a:r>
            <a:r>
              <a:rPr lang="en-US" altLang="ko-KR"/>
              <a:t>. </a:t>
            </a:r>
            <a:r>
              <a:rPr lang="ko-KR" altLang="en-US"/>
              <a:t>이렇게 조건을 검사하면서 선택을 쌓습니다</a:t>
            </a:r>
            <a:r>
              <a:rPr lang="en-US" altLang="ko-KR"/>
              <a:t>. </a:t>
            </a:r>
            <a:r>
              <a:rPr lang="ko-KR" altLang="en-US"/>
              <a:t>하지만 조건을 지킨다는 사실만으로 최적이라는 결론이 나오지는 않습니다</a:t>
            </a:r>
            <a:r>
              <a:rPr lang="en-US" altLang="ko-KR"/>
              <a:t>. </a:t>
            </a:r>
            <a:r>
              <a:rPr lang="ko-KR" altLang="en-US"/>
              <a:t>회의가 겹치지 않는 답도 회의 수가 더 적을 수 있기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표는 앞으로 볼 문제들의 선택 기준을 비교한 것입니다</a:t>
            </a:r>
            <a:r>
              <a:rPr lang="en-US" altLang="ko-KR"/>
              <a:t>. </a:t>
            </a:r>
            <a:r>
              <a:rPr lang="ko-KR" altLang="en-US"/>
              <a:t>큰 동전부터 고르는 방법은 우리가 쓰는 배수 관계의 동전에서는 통하지만</a:t>
            </a:r>
            <a:r>
              <a:rPr lang="en-US" altLang="ko-KR"/>
              <a:t>, </a:t>
            </a:r>
            <a:r>
              <a:rPr lang="ko-KR" altLang="en-US"/>
              <a:t>일반적인 동전에서는 실패할 수 있습니다</a:t>
            </a:r>
            <a:r>
              <a:rPr lang="en-US" altLang="ko-KR"/>
              <a:t>. </a:t>
            </a:r>
            <a:r>
              <a:rPr lang="ko-KR" altLang="en-US"/>
              <a:t>회의는 일찍 끝나는 것부터</a:t>
            </a:r>
            <a:r>
              <a:rPr lang="en-US" altLang="ko-KR"/>
              <a:t>, </a:t>
            </a:r>
            <a:r>
              <a:rPr lang="ko-KR" altLang="en-US"/>
              <a:t>쪼갤 수 있는 물건은 무게당 가치가 큰 것부터 고릅니다</a:t>
            </a:r>
            <a:r>
              <a:rPr lang="en-US" altLang="ko-KR"/>
              <a:t>. </a:t>
            </a:r>
            <a:r>
              <a:rPr lang="ko-KR" altLang="en-US"/>
              <a:t>크루스칼은 싼 간선을 보되 사이클을 만들면 버립니다</a:t>
            </a:r>
            <a:r>
              <a:rPr lang="en-US" altLang="ko-KR"/>
              <a:t>. </a:t>
            </a:r>
            <a:r>
              <a:rPr lang="ko-KR" altLang="en-US"/>
              <a:t>다익스트라는 아직 확정하지 않은 정점 중 현재 거리가 가장 작은 곳을 고릅니다</a:t>
            </a:r>
            <a:r>
              <a:rPr lang="en-US" altLang="ko-KR"/>
              <a:t>. </a:t>
            </a:r>
            <a:r>
              <a:rPr lang="ko-KR" altLang="en-US"/>
              <a:t>마지막 방법에는 간선 비용이 음수가 아니어야 한다는 조건이 붙습니다</a:t>
            </a:r>
            <a:r>
              <a:rPr lang="en-US" altLang="ko-KR"/>
              <a:t>. </a:t>
            </a:r>
            <a:r>
              <a:rPr lang="ko-KR" altLang="en-US"/>
              <a:t>외판원 문제는 보충자료의 실패 사례입니다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손님에게 천이백육십 원을 거슬러 준다고 합시다</a:t>
            </a:r>
            <a:r>
              <a:rPr lang="en-US" altLang="ko-KR"/>
              <a:t>. </a:t>
            </a:r>
            <a:r>
              <a:rPr lang="ko-KR" altLang="en-US"/>
              <a:t>오백 원</a:t>
            </a:r>
            <a:r>
              <a:rPr lang="en-US" altLang="ko-KR"/>
              <a:t>, </a:t>
            </a:r>
            <a:r>
              <a:rPr lang="ko-KR" altLang="en-US"/>
              <a:t>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 동전은 충분히 있습니다</a:t>
            </a:r>
            <a:r>
              <a:rPr lang="en-US" altLang="ko-KR"/>
              <a:t>. </a:t>
            </a:r>
            <a:r>
              <a:rPr lang="ko-KR" altLang="en-US"/>
              <a:t>여기서 줄이려는 것은 거슬러 주는 금액이 아니라 사용하는 동전의 개수입니다</a:t>
            </a:r>
            <a:r>
              <a:rPr lang="en-US" altLang="ko-KR"/>
              <a:t>. </a:t>
            </a:r>
            <a:r>
              <a:rPr lang="ko-KR" altLang="en-US"/>
              <a:t>정확히 천이백육십 원을 주되 가능한 한 적은 개수를 쓰고 싶습니다</a:t>
            </a:r>
            <a:r>
              <a:rPr lang="en-US" altLang="ko-KR"/>
              <a:t>. </a:t>
            </a:r>
            <a:r>
              <a:rPr lang="ko-KR" altLang="en-US"/>
              <a:t>가장 큰 오백 원부터 쓸 수 있는 만큼 쓰고</a:t>
            </a:r>
            <a:r>
              <a:rPr lang="en-US" altLang="ko-KR"/>
              <a:t>, </a:t>
            </a:r>
            <a:r>
              <a:rPr lang="ko-KR" altLang="en-US"/>
              <a:t>남은 돈을 더 작은 동전으로 넘겨 보겠습니다</a:t>
            </a:r>
            <a:r>
              <a:rPr lang="en-US" altLang="ko-KR"/>
              <a:t>. </a:t>
            </a:r>
            <a:r>
              <a:rPr lang="ko-KR" altLang="en-US"/>
              <a:t>이 동전 체계에서 왜 이 방법을 믿어도 되는지는 계산 뒤에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오백 원을 하나씩 빼면서 세는 대신</a:t>
            </a:r>
            <a:r>
              <a:rPr lang="en-US" altLang="ko-KR"/>
              <a:t>, </a:t>
            </a:r>
            <a:r>
              <a:rPr lang="ko-KR" altLang="en-US"/>
              <a:t>천이백육십을 오백으로 나눕니다</a:t>
            </a:r>
            <a:r>
              <a:rPr lang="en-US" altLang="ko-KR"/>
              <a:t>. </a:t>
            </a:r>
            <a:r>
              <a:rPr lang="ko-KR" altLang="en-US"/>
              <a:t>몫은 둘이므로 오백 원 두 개를 쓸 수 있습니다</a:t>
            </a:r>
            <a:r>
              <a:rPr lang="en-US" altLang="ko-KR"/>
              <a:t>. </a:t>
            </a:r>
            <a:r>
              <a:rPr lang="ko-KR" altLang="en-US"/>
              <a:t>나머지는 이백육십 원이므로 다음 동전은 이 금액만 처리하면 됩니다</a:t>
            </a:r>
            <a:r>
              <a:rPr lang="en-US" altLang="ko-KR"/>
              <a:t>. Python</a:t>
            </a:r>
            <a:r>
              <a:rPr lang="ko-KR" altLang="en-US"/>
              <a:t>의 슬래시 두 개와 </a:t>
            </a:r>
            <a:r>
              <a:rPr lang="en-US" altLang="ko-KR"/>
              <a:t>C</a:t>
            </a:r>
            <a:r>
              <a:rPr lang="ko-KR" altLang="en-US"/>
              <a:t>의 정수 나눗셈이 이 몫을 구합니다</a:t>
            </a:r>
            <a:r>
              <a:rPr lang="en-US" altLang="ko-KR"/>
              <a:t>. </a:t>
            </a:r>
            <a:r>
              <a:rPr lang="ko-KR" altLang="en-US"/>
              <a:t>퍼센트 기호는 나머지입니다</a:t>
            </a:r>
            <a:r>
              <a:rPr lang="en-US" altLang="ko-KR"/>
              <a:t>. </a:t>
            </a:r>
            <a:r>
              <a:rPr lang="ko-KR" altLang="en-US"/>
              <a:t>소수로 나눈 값이 필요한 것이 아닙니다</a:t>
            </a:r>
            <a:r>
              <a:rPr lang="en-US" altLang="ko-KR"/>
              <a:t>. </a:t>
            </a:r>
            <a:r>
              <a:rPr lang="ko-KR" altLang="en-US"/>
              <a:t>동전 개수는 정수이고</a:t>
            </a:r>
            <a:r>
              <a:rPr lang="en-US" altLang="ko-KR"/>
              <a:t>, </a:t>
            </a:r>
            <a:r>
              <a:rPr lang="ko-KR" altLang="en-US"/>
              <a:t>남은 돈도 따로 알아야 한다는 점을 연결해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오백 원 두 개를 확정합니다</a:t>
            </a:r>
            <a:r>
              <a:rPr lang="en-US" altLang="ko-KR"/>
              <a:t>. </a:t>
            </a:r>
            <a:r>
              <a:rPr lang="ko-KR" altLang="en-US"/>
              <a:t>두 개의 합은 천 원이고 원래 금액보다 크지 않습니다</a:t>
            </a:r>
            <a:r>
              <a:rPr lang="en-US" altLang="ko-KR"/>
              <a:t>. </a:t>
            </a:r>
            <a:r>
              <a:rPr lang="ko-KR" altLang="en-US"/>
              <a:t>따라서 천이백육십 원에서 천 원을 사용하고 이백육십 원이 남습니다</a:t>
            </a:r>
            <a:r>
              <a:rPr lang="en-US" altLang="ko-KR"/>
              <a:t>. </a:t>
            </a:r>
            <a:r>
              <a:rPr lang="ko-KR" altLang="en-US"/>
              <a:t>여기서 오백 원을 더 쓰면 남은 돈을 넘으므로 다음 종류로 넘어갑니다</a:t>
            </a:r>
            <a:r>
              <a:rPr lang="en-US" altLang="ko-KR"/>
              <a:t>. </a:t>
            </a:r>
            <a:r>
              <a:rPr lang="ko-KR" altLang="en-US"/>
              <a:t>다음 백 원에서는 두 개를 쓰고 육십 원이 남습니다</a:t>
            </a:r>
            <a:r>
              <a:rPr lang="en-US" altLang="ko-KR"/>
              <a:t>. </a:t>
            </a:r>
            <a:r>
              <a:rPr lang="ko-KR" altLang="en-US"/>
              <a:t>그다음 오십 원 한 개를 쓰면 십 원이 남고</a:t>
            </a:r>
            <a:r>
              <a:rPr lang="en-US" altLang="ko-KR"/>
              <a:t>, </a:t>
            </a:r>
            <a:r>
              <a:rPr lang="ko-KR" altLang="en-US"/>
              <a:t>십 원 한 개를 쓰면 끝납니다</a:t>
            </a:r>
            <a:r>
              <a:rPr lang="en-US" altLang="ko-KR"/>
              <a:t>. </a:t>
            </a:r>
            <a:r>
              <a:rPr lang="ko-KR" altLang="en-US"/>
              <a:t>다음 화면에서 이 전체 결과를 한 번에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오백 원 두 개</a:t>
            </a:r>
            <a:r>
              <a:rPr lang="en-US" altLang="ko-KR"/>
              <a:t>, </a:t>
            </a:r>
            <a:r>
              <a:rPr lang="ko-KR" altLang="en-US"/>
              <a:t>백 원 두 개</a:t>
            </a:r>
            <a:r>
              <a:rPr lang="en-US" altLang="ko-KR"/>
              <a:t>, </a:t>
            </a:r>
            <a:r>
              <a:rPr lang="ko-KR" altLang="en-US"/>
              <a:t>오십 원 한 개</a:t>
            </a:r>
            <a:r>
              <a:rPr lang="en-US" altLang="ko-KR"/>
              <a:t>, </a:t>
            </a:r>
            <a:r>
              <a:rPr lang="ko-KR" altLang="en-US"/>
              <a:t>십 원 한 개를 사용했습니다</a:t>
            </a:r>
            <a:r>
              <a:rPr lang="en-US" altLang="ko-KR"/>
              <a:t>. </a:t>
            </a:r>
            <a:r>
              <a:rPr lang="ko-KR" altLang="en-US"/>
              <a:t>금액을 더하면 천 원에 이백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원이어서 정확히 천이백육십 원입니다</a:t>
            </a:r>
            <a:r>
              <a:rPr lang="en-US" altLang="ko-KR"/>
              <a:t>. </a:t>
            </a:r>
            <a:r>
              <a:rPr lang="ko-KR" altLang="en-US"/>
              <a:t>개수는 둘</a:t>
            </a:r>
            <a:r>
              <a:rPr lang="en-US" altLang="ko-KR"/>
              <a:t>, </a:t>
            </a:r>
            <a:r>
              <a:rPr lang="ko-KR" altLang="en-US"/>
              <a:t>둘</a:t>
            </a:r>
            <a:r>
              <a:rPr lang="en-US" altLang="ko-KR"/>
              <a:t>, </a:t>
            </a:r>
            <a:r>
              <a:rPr lang="ko-KR" altLang="en-US"/>
              <a:t>하나</a:t>
            </a:r>
            <a:r>
              <a:rPr lang="en-US" altLang="ko-KR"/>
              <a:t>, </a:t>
            </a:r>
            <a:r>
              <a:rPr lang="ko-KR" altLang="en-US"/>
              <a:t>하나를 더한 여섯 개입니다</a:t>
            </a:r>
            <a:r>
              <a:rPr lang="en-US" altLang="ko-KR"/>
              <a:t>. </a:t>
            </a:r>
            <a:r>
              <a:rPr lang="ko-KR" altLang="en-US"/>
              <a:t>표의 사용 개수와 남은 돈이 영 원이라는 것을 함께 확인해 주세요</a:t>
            </a:r>
            <a:r>
              <a:rPr lang="en-US" altLang="ko-KR"/>
              <a:t>. </a:t>
            </a:r>
            <a:r>
              <a:rPr lang="ko-KR" altLang="en-US"/>
              <a:t>우리는 각 동전 종류를 한 번씩 처리했고 앞서 고른 동전을 취소하지 않았습니다</a:t>
            </a:r>
            <a:r>
              <a:rPr lang="en-US" altLang="ko-KR"/>
              <a:t>. </a:t>
            </a:r>
            <a:r>
              <a:rPr lang="ko-KR" altLang="en-US"/>
              <a:t>이제 여섯 개가 정말 최소라는 근거를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구현의 반복 횟수를 결정하는 것은 돈의 크기가 아니라 동전 종류의 수입니다</a:t>
            </a:r>
            <a:r>
              <a:rPr lang="en-US" altLang="ko-KR"/>
              <a:t>. </a:t>
            </a:r>
            <a:r>
              <a:rPr lang="ko-KR" altLang="en-US"/>
              <a:t>천이백육십 원이든 백이십육만 원이든 오백 원을 몇 개 쓸지는 정수 나눗셈 한 번으로 나옵니다</a:t>
            </a:r>
            <a:r>
              <a:rPr lang="en-US" altLang="ko-KR"/>
              <a:t>. </a:t>
            </a:r>
            <a:r>
              <a:rPr lang="ko-KR" altLang="en-US"/>
              <a:t>종류가 네 개면 네 차례 처리합니다</a:t>
            </a:r>
            <a:r>
              <a:rPr lang="en-US" altLang="ko-KR"/>
              <a:t>. </a:t>
            </a:r>
            <a:r>
              <a:rPr lang="ko-KR" altLang="en-US"/>
              <a:t>동전 종류 수를 케이로 두면 시간은 빅오 케이입니다</a:t>
            </a:r>
            <a:r>
              <a:rPr lang="en-US" altLang="ko-KR"/>
              <a:t>. </a:t>
            </a:r>
            <a:r>
              <a:rPr lang="ko-KR" altLang="en-US"/>
              <a:t>종류가 항상 네 개 또는 다섯 개로 고정된 문제라면 반복 횟수가 입력 금액과 함께 늘지 않으므로 상수 시간이라고도 합니다</a:t>
            </a:r>
            <a:r>
              <a:rPr lang="en-US" altLang="ko-KR"/>
              <a:t>. </a:t>
            </a:r>
            <a:r>
              <a:rPr lang="ko-KR" altLang="en-US"/>
              <a:t>동전을 하나씩 빼는 구현은 반복 횟수가 사용한 동전 수만큼 늘어나므로 같은 분석을 그대로 쓰면 안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백 원 동전 다섯 개는 오백 원 동전 하나로 바꿀 수 있습니다</a:t>
            </a:r>
            <a:r>
              <a:rPr lang="en-US" altLang="ko-KR"/>
              <a:t>. </a:t>
            </a:r>
            <a:r>
              <a:rPr lang="ko-KR" altLang="en-US"/>
              <a:t>금액은 그대로인데 개수는 다섯 개에서 한 개로 줄어듭니다</a:t>
            </a:r>
            <a:r>
              <a:rPr lang="en-US" altLang="ko-KR"/>
              <a:t>. </a:t>
            </a:r>
            <a:r>
              <a:rPr lang="ko-KR" altLang="en-US"/>
              <a:t>오십 원 두 개도 백 원 하나로 바꿀 수 있고</a:t>
            </a:r>
            <a:r>
              <a:rPr lang="en-US" altLang="ko-KR"/>
              <a:t>, </a:t>
            </a:r>
            <a:r>
              <a:rPr lang="ko-KR" altLang="en-US"/>
              <a:t>십 원 다섯 개도 오십 원 하나로 바꿀 수 있습니다</a:t>
            </a:r>
            <a:r>
              <a:rPr lang="en-US" altLang="ko-KR"/>
              <a:t>. </a:t>
            </a:r>
            <a:r>
              <a:rPr lang="ko-KR" altLang="en-US"/>
              <a:t>작은 동전이 충분히 모였는데도 큰 동전을 덜 쓰는 답은</a:t>
            </a:r>
            <a:r>
              <a:rPr lang="en-US" altLang="ko-KR"/>
              <a:t>, </a:t>
            </a:r>
            <a:r>
              <a:rPr lang="ko-KR" altLang="en-US"/>
              <a:t>이렇게 교환해서 개수를 더 줄일 수 있습니다</a:t>
            </a:r>
            <a:r>
              <a:rPr lang="en-US" altLang="ko-KR"/>
              <a:t>. </a:t>
            </a:r>
            <a:r>
              <a:rPr lang="ko-KR" altLang="en-US"/>
              <a:t>이 배수 관계 덕분에 큰 동전을 가능한 만큼 쓰는 선택이 안전합니다</a:t>
            </a:r>
            <a:r>
              <a:rPr lang="en-US" altLang="ko-KR"/>
              <a:t>. </a:t>
            </a:r>
            <a:r>
              <a:rPr lang="ko-KR" altLang="en-US"/>
              <a:t>다만 배수 관계가 없는 동전이 모두 실패한다는 뜻은 아닙니다</a:t>
            </a:r>
            <a:r>
              <a:rPr lang="en-US" altLang="ko-KR"/>
              <a:t>. </a:t>
            </a:r>
            <a:r>
              <a:rPr lang="ko-KR" altLang="en-US"/>
              <a:t>지금 설명한 보장을 그대로 적용할 수 없다는 뜻입니다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일 원</a:t>
            </a:r>
            <a:r>
              <a:rPr lang="en-US" altLang="ko-KR"/>
              <a:t>, </a:t>
            </a:r>
            <a:r>
              <a:rPr lang="ko-KR" altLang="en-US"/>
              <a:t>삼 원</a:t>
            </a:r>
            <a:r>
              <a:rPr lang="en-US" altLang="ko-KR"/>
              <a:t>, </a:t>
            </a:r>
            <a:r>
              <a:rPr lang="ko-KR" altLang="en-US"/>
              <a:t>사 원짜리 동전만 있다고 합시다</a:t>
            </a:r>
            <a:r>
              <a:rPr lang="en-US" altLang="ko-KR"/>
              <a:t>. </a:t>
            </a:r>
            <a:r>
              <a:rPr lang="ko-KR" altLang="en-US"/>
              <a:t>목표 금액은 육 원입니다</a:t>
            </a:r>
            <a:r>
              <a:rPr lang="en-US" altLang="ko-KR"/>
              <a:t>. </a:t>
            </a:r>
            <a:r>
              <a:rPr lang="ko-KR" altLang="en-US"/>
              <a:t>동전은 종류별로 얼마든지 쓸 수 있고 정확한 금액을 만들어야 합니다</a:t>
            </a:r>
            <a:r>
              <a:rPr lang="en-US" altLang="ko-KR"/>
              <a:t>. </a:t>
            </a:r>
            <a:r>
              <a:rPr lang="ko-KR" altLang="en-US"/>
              <a:t>가장 큰 동전부터 쓰면 어떤 동전 체계에서도 최소 개수가 된다는 주장이 맞는지 확인하겠습니다</a:t>
            </a:r>
            <a:r>
              <a:rPr lang="en-US" altLang="ko-KR"/>
              <a:t>. </a:t>
            </a:r>
            <a:r>
              <a:rPr lang="ko-KR" altLang="en-US"/>
              <a:t>계산에 앞서 두 가지를 구분해 주세요</a:t>
            </a:r>
            <a:r>
              <a:rPr lang="en-US" altLang="ko-KR"/>
              <a:t>. </a:t>
            </a:r>
            <a:r>
              <a:rPr lang="ko-KR" altLang="en-US"/>
              <a:t>육 원을 만들 수 있다는 것과</a:t>
            </a:r>
            <a:r>
              <a:rPr lang="en-US" altLang="ko-KR"/>
              <a:t>, </a:t>
            </a:r>
            <a:r>
              <a:rPr lang="ko-KR" altLang="en-US"/>
              <a:t>가장 적은 개수로 육 원을 만든다는 것은 다른 조건입니다</a:t>
            </a:r>
            <a:r>
              <a:rPr lang="en-US" altLang="ko-KR"/>
              <a:t>. </a:t>
            </a:r>
            <a:r>
              <a:rPr lang="ko-KR" altLang="en-US"/>
              <a:t>그리디가 만든 답보다 더 적은 답이 있는지를 찾아보겠습니다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육 원 이하에서 가장 큰 동전은 사 원입니다</a:t>
            </a:r>
            <a:r>
              <a:rPr lang="en-US" altLang="ko-KR"/>
              <a:t>. </a:t>
            </a:r>
            <a:r>
              <a:rPr lang="ko-KR" altLang="en-US"/>
              <a:t>따라서 그리디는 사 원 하나를 먼저 고르고 이 원을 남깁니다</a:t>
            </a:r>
            <a:r>
              <a:rPr lang="en-US" altLang="ko-KR"/>
              <a:t>. </a:t>
            </a:r>
            <a:r>
              <a:rPr lang="ko-KR" altLang="en-US"/>
              <a:t>남은 이 원에는 사 원과 삼 원을 쓸 수 없습니다</a:t>
            </a:r>
            <a:r>
              <a:rPr lang="en-US" altLang="ko-KR"/>
              <a:t>. </a:t>
            </a:r>
            <a:r>
              <a:rPr lang="ko-KR" altLang="en-US"/>
              <a:t>결국 일 원 두 개가 필요합니다</a:t>
            </a:r>
            <a:r>
              <a:rPr lang="en-US" altLang="ko-KR"/>
              <a:t>. </a:t>
            </a:r>
            <a:r>
              <a:rPr lang="ko-KR" altLang="en-US"/>
              <a:t>사 원 하나에 일 원 두 개를 더했으므로 총 세 개입니다</a:t>
            </a:r>
            <a:r>
              <a:rPr lang="en-US" altLang="ko-KR"/>
              <a:t>. </a:t>
            </a:r>
            <a:r>
              <a:rPr lang="ko-KR" altLang="en-US"/>
              <a:t>여기까지는 정확한 육 원을 만들었고 문제의 금액 조건도 지켰습니다</a:t>
            </a:r>
            <a:r>
              <a:rPr lang="en-US" altLang="ko-KR"/>
              <a:t>. </a:t>
            </a:r>
            <a:r>
              <a:rPr lang="ko-KR" altLang="en-US"/>
              <a:t>그런데 첫 동전을 사 원으로 고르지 않았다면 더 좋은 답이 있을까요</a:t>
            </a:r>
            <a:r>
              <a:rPr lang="en-US" altLang="ko-KR"/>
              <a:t>? </a:t>
            </a:r>
            <a:r>
              <a:rPr lang="ko-KR" altLang="en-US"/>
              <a:t>삼 원 동전을 생각해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삼 원 두 개면 육 원이고 사용하는 동전은 두 개입니다</a:t>
            </a:r>
            <a:r>
              <a:rPr lang="en-US" altLang="ko-KR"/>
              <a:t>. </a:t>
            </a:r>
            <a:r>
              <a:rPr lang="ko-KR" altLang="en-US"/>
              <a:t>그리디의 사 원</a:t>
            </a:r>
            <a:r>
              <a:rPr lang="en-US" altLang="ko-KR"/>
              <a:t>, </a:t>
            </a:r>
            <a:r>
              <a:rPr lang="ko-KR" altLang="en-US"/>
              <a:t>일 원</a:t>
            </a:r>
            <a:r>
              <a:rPr lang="en-US" altLang="ko-KR"/>
              <a:t>, </a:t>
            </a:r>
            <a:r>
              <a:rPr lang="ko-KR" altLang="en-US"/>
              <a:t>일 원은 세 개였으니 더 좋은 답을 찾았습니다</a:t>
            </a:r>
            <a:r>
              <a:rPr lang="en-US" altLang="ko-KR"/>
              <a:t>. </a:t>
            </a:r>
            <a:r>
              <a:rPr lang="ko-KR" altLang="en-US"/>
              <a:t>이것만으로 큰 동전부터 고르면 항상 최소라는 주장은 깨집니다</a:t>
            </a:r>
            <a:r>
              <a:rPr lang="en-US" altLang="ko-KR"/>
              <a:t>. </a:t>
            </a:r>
            <a:r>
              <a:rPr lang="ko-KR" altLang="en-US"/>
              <a:t>삼 원이 사 원보다 작은 동전이라는 이유만으로 먼저 버리면 안 됐던 것입니다</a:t>
            </a:r>
            <a:r>
              <a:rPr lang="en-US" altLang="ko-KR"/>
              <a:t>. </a:t>
            </a:r>
            <a:r>
              <a:rPr lang="ko-KR" altLang="en-US"/>
              <a:t>이 문제에서 두 개가 최소라는 것도 간단히 확인할 수 있습니다</a:t>
            </a:r>
            <a:r>
              <a:rPr lang="en-US" altLang="ko-KR"/>
              <a:t>. </a:t>
            </a:r>
            <a:r>
              <a:rPr lang="ko-KR" altLang="en-US"/>
              <a:t>육 원짜리 동전이 없어서 한 개로 만들 수 없고</a:t>
            </a:r>
            <a:r>
              <a:rPr lang="en-US" altLang="ko-KR"/>
              <a:t>, </a:t>
            </a:r>
            <a:r>
              <a:rPr lang="ko-KR" altLang="en-US"/>
              <a:t>두 개로는 만들 수 있으므로 최소는 두 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반례를 쓸 때는 문제의 조건을 지키는 입력</a:t>
            </a:r>
            <a:r>
              <a:rPr lang="en-US" altLang="ko-KR"/>
              <a:t>, </a:t>
            </a:r>
            <a:r>
              <a:rPr lang="ko-KR" altLang="en-US"/>
              <a:t>그리디가 만드는 결과</a:t>
            </a:r>
            <a:r>
              <a:rPr lang="en-US" altLang="ko-KR"/>
              <a:t>, </a:t>
            </a:r>
            <a:r>
              <a:rPr lang="ko-KR" altLang="en-US"/>
              <a:t>그보다 더 좋은 결과를 함께 제시하면 됩니다</a:t>
            </a:r>
            <a:r>
              <a:rPr lang="en-US" altLang="ko-KR"/>
              <a:t>. </a:t>
            </a:r>
            <a:r>
              <a:rPr lang="ko-KR" altLang="en-US"/>
              <a:t>방금 예에서는 동전과 금액이 모두 허용된 입력이고</a:t>
            </a:r>
            <a:r>
              <a:rPr lang="en-US" altLang="ko-KR"/>
              <a:t>, </a:t>
            </a:r>
            <a:r>
              <a:rPr lang="ko-KR" altLang="en-US"/>
              <a:t>그리디는 세 개</a:t>
            </a:r>
            <a:r>
              <a:rPr lang="en-US" altLang="ko-KR"/>
              <a:t>, </a:t>
            </a:r>
            <a:r>
              <a:rPr lang="ko-KR" altLang="en-US"/>
              <a:t>다른 방법은 두 개였습니다</a:t>
            </a:r>
            <a:r>
              <a:rPr lang="en-US" altLang="ko-KR"/>
              <a:t>. </a:t>
            </a:r>
            <a:r>
              <a:rPr lang="ko-KR" altLang="en-US"/>
              <a:t>개수가 같은 다른 조합을 보여 주는 것은 최적성의 반례가 아닙니다</a:t>
            </a:r>
            <a:r>
              <a:rPr lang="en-US" altLang="ko-KR"/>
              <a:t>. </a:t>
            </a:r>
            <a:r>
              <a:rPr lang="ko-KR" altLang="en-US"/>
              <a:t>실행이 느리다는 사실도 답이 최적이 아니라는 증거는 아닙니다</a:t>
            </a:r>
            <a:r>
              <a:rPr lang="en-US" altLang="ko-KR"/>
              <a:t>. </a:t>
            </a:r>
            <a:r>
              <a:rPr lang="ko-KR" altLang="en-US"/>
              <a:t>항상 맞는다는 주장을 반박할 때는 틀리는 입력 하나면 충분합니다</a:t>
            </a:r>
            <a:r>
              <a:rPr lang="en-US" altLang="ko-KR"/>
              <a:t>. </a:t>
            </a:r>
            <a:r>
              <a:rPr lang="ko-KR" altLang="en-US"/>
              <a:t>반대로 몇 가지 입력에서 맞았다는 사실만으로 모든 입력에서 맞는다고 증명할 수는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동전 개수만 반환하는 함수로 옮겨 보겠습니다</a:t>
            </a:r>
            <a:r>
              <a:rPr lang="en-US" altLang="ko-KR"/>
              <a:t>. </a:t>
            </a:r>
            <a:r>
              <a:rPr lang="ko-KR" altLang="en-US"/>
              <a:t>여기서는 일 원까지 포함해 다섯 종류를 씁니다</a:t>
            </a:r>
            <a:r>
              <a:rPr lang="en-US" altLang="ko-KR"/>
              <a:t>. </a:t>
            </a:r>
            <a:r>
              <a:rPr lang="ko-KR" altLang="en-US"/>
              <a:t>천이백육십삼 원을 넣으면 오백 원 두 개 뒤에 이백육십삼 원</a:t>
            </a:r>
            <a:r>
              <a:rPr lang="en-US" altLang="ko-KR"/>
              <a:t>, </a:t>
            </a:r>
            <a:r>
              <a:rPr lang="ko-KR" altLang="en-US"/>
              <a:t>백 원 두 개 뒤에 육십삼 원</a:t>
            </a:r>
            <a:r>
              <a:rPr lang="en-US" altLang="ko-KR"/>
              <a:t>, </a:t>
            </a:r>
            <a:r>
              <a:rPr lang="ko-KR" altLang="en-US"/>
              <a:t>오십 원 하나 뒤에 십삼 원이 남습니다</a:t>
            </a:r>
            <a:r>
              <a:rPr lang="en-US" altLang="ko-KR"/>
              <a:t>. </a:t>
            </a:r>
            <a:r>
              <a:rPr lang="ko-KR" altLang="en-US"/>
              <a:t>십 원 하나를 쓰고 남은 삼 원은 일 원 세 개로 처리합니다</a:t>
            </a:r>
            <a:r>
              <a:rPr lang="en-US" altLang="ko-KR"/>
              <a:t>. </a:t>
            </a:r>
            <a:r>
              <a:rPr lang="ko-KR" altLang="en-US"/>
              <a:t>총 아홉 개입니다</a:t>
            </a:r>
            <a:r>
              <a:rPr lang="en-US" altLang="ko-KR"/>
              <a:t>. </a:t>
            </a:r>
            <a:r>
              <a:rPr lang="ko-KR" altLang="en-US"/>
              <a:t>금액이 영이면 각 나눗셈의 몫이 모두 영이어서 결과도 영입니다</a:t>
            </a:r>
            <a:r>
              <a:rPr lang="en-US" altLang="ko-KR"/>
              <a:t>. </a:t>
            </a:r>
            <a:r>
              <a:rPr lang="ko-KR" altLang="en-US"/>
              <a:t>종류가 고정되어 있으므로 이 함수는 금액과 관계없이 다섯 차례만 처리합니다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 </a:t>
            </a:r>
            <a:r>
              <a:rPr lang="ko-KR" altLang="en-US"/>
              <a:t>함수의 </a:t>
            </a:r>
            <a:r>
              <a:rPr lang="en-US" altLang="ko-KR"/>
              <a:t>count</a:t>
            </a:r>
            <a:r>
              <a:rPr lang="ko-KR" altLang="en-US"/>
              <a:t>는 지금까지 사용한 동전 수입니다</a:t>
            </a:r>
            <a:r>
              <a:rPr lang="en-US" altLang="ko-KR"/>
              <a:t>. </a:t>
            </a:r>
            <a:r>
              <a:rPr lang="ko-KR" altLang="en-US"/>
              <a:t>반복문은 오백</a:t>
            </a:r>
            <a:r>
              <a:rPr lang="en-US" altLang="ko-KR"/>
              <a:t>, </a:t>
            </a:r>
            <a:r>
              <a:rPr lang="ko-KR" altLang="en-US"/>
              <a:t>백</a:t>
            </a:r>
            <a:r>
              <a:rPr lang="en-US" altLang="ko-KR"/>
              <a:t>, </a:t>
            </a:r>
            <a:r>
              <a:rPr lang="ko-KR" altLang="en-US"/>
              <a:t>오십</a:t>
            </a:r>
            <a:r>
              <a:rPr lang="en-US" altLang="ko-KR"/>
              <a:t>, </a:t>
            </a:r>
            <a:r>
              <a:rPr lang="ko-KR" altLang="en-US"/>
              <a:t>십</a:t>
            </a:r>
            <a:r>
              <a:rPr lang="en-US" altLang="ko-KR"/>
              <a:t>, </a:t>
            </a:r>
            <a:r>
              <a:rPr lang="ko-KR" altLang="en-US"/>
              <a:t>일 원 순으로 돕니다</a:t>
            </a:r>
            <a:r>
              <a:rPr lang="en-US" altLang="ko-KR"/>
              <a:t>. </a:t>
            </a:r>
            <a:r>
              <a:rPr lang="ko-KR" altLang="en-US"/>
              <a:t>먼저 현재 금액을 동전 값으로 나눈 몫을 </a:t>
            </a:r>
            <a:r>
              <a:rPr lang="en-US" altLang="ko-KR"/>
              <a:t>count</a:t>
            </a:r>
            <a:r>
              <a:rPr lang="ko-KR" altLang="en-US"/>
              <a:t>에 더합니다</a:t>
            </a:r>
            <a:r>
              <a:rPr lang="en-US" altLang="ko-KR"/>
              <a:t>. </a:t>
            </a:r>
            <a:r>
              <a:rPr lang="ko-KR" altLang="en-US"/>
              <a:t>그다음 </a:t>
            </a:r>
            <a:r>
              <a:rPr lang="en-US" altLang="ko-KR"/>
              <a:t>amount</a:t>
            </a:r>
            <a:r>
              <a:rPr lang="ko-KR" altLang="en-US"/>
              <a:t>를 나머지로 바꾸어</a:t>
            </a:r>
            <a:r>
              <a:rPr lang="en-US" altLang="ko-KR"/>
              <a:t>, </a:t>
            </a:r>
            <a:r>
              <a:rPr lang="ko-KR" altLang="en-US"/>
              <a:t>이미 거슬러 준 돈은 다음 계산에서 제외합니다</a:t>
            </a:r>
            <a:r>
              <a:rPr lang="en-US" altLang="ko-KR"/>
              <a:t>. </a:t>
            </a:r>
            <a:r>
              <a:rPr lang="ko-KR" altLang="en-US"/>
              <a:t>두 줄의 순서가 중요합니다</a:t>
            </a:r>
            <a:r>
              <a:rPr lang="en-US" altLang="ko-KR"/>
              <a:t>. </a:t>
            </a:r>
            <a:r>
              <a:rPr lang="ko-KR" altLang="en-US"/>
              <a:t>남은 돈으로 먼저 바꿔 버리면 이번 동전을 몇 개 썼는지 잃어버립니다</a:t>
            </a:r>
            <a:r>
              <a:rPr lang="en-US" altLang="ko-KR"/>
              <a:t>. </a:t>
            </a:r>
            <a:r>
              <a:rPr lang="ko-KR" altLang="en-US"/>
              <a:t>마지막에는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빈 금액인 영도 따로 특별 취급하지 않아도 같은 코드로 처리됩니다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7225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에서도 알고리즘은 같습니다</a:t>
            </a:r>
            <a:r>
              <a:rPr lang="en-US" altLang="ko-KR"/>
              <a:t>. </a:t>
            </a:r>
            <a:r>
              <a:rPr lang="ko-KR" altLang="en-US"/>
              <a:t>정수 변수끼리 나누므로 슬래시 한 개로 몫을 구하고</a:t>
            </a:r>
            <a:r>
              <a:rPr lang="en-US" altLang="ko-KR"/>
              <a:t>, </a:t>
            </a:r>
            <a:r>
              <a:rPr lang="ko-KR" altLang="en-US"/>
              <a:t>퍼센트로 나머지를 구합니다</a:t>
            </a:r>
            <a:r>
              <a:rPr lang="en-US" altLang="ko-KR"/>
              <a:t>. </a:t>
            </a:r>
            <a:r>
              <a:rPr lang="ko-KR" altLang="en-US"/>
              <a:t>배열에 다섯 동전이 이미 큰 순서로 들어 있으니 정렬 코드는 필요 없습니다</a:t>
            </a:r>
            <a:r>
              <a:rPr lang="en-US" altLang="ko-KR"/>
              <a:t>. </a:t>
            </a:r>
            <a:r>
              <a:rPr lang="ko-KR" altLang="en-US"/>
              <a:t>반복문 안에서 개수를 더한 다음 금액을 줄이고</a:t>
            </a:r>
            <a:r>
              <a:rPr lang="en-US" altLang="ko-KR"/>
              <a:t>, </a:t>
            </a:r>
            <a:r>
              <a:rPr lang="ko-KR" altLang="en-US"/>
              <a:t>다섯 종류를 본 뒤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이 입력 범위에서는 금액과 동전 개수가 </a:t>
            </a:r>
            <a:r>
              <a:rPr lang="en-US" altLang="ko-KR"/>
              <a:t>int</a:t>
            </a:r>
            <a:r>
              <a:rPr lang="ko-KR" altLang="en-US"/>
              <a:t>에 들어갑니다</a:t>
            </a:r>
            <a:r>
              <a:rPr lang="en-US" altLang="ko-KR"/>
              <a:t>. Python</a:t>
            </a:r>
            <a:r>
              <a:rPr lang="ko-KR" altLang="en-US"/>
              <a:t>은 나눗셈 표기가 조금 다를 뿐</a:t>
            </a:r>
            <a:r>
              <a:rPr lang="en-US" altLang="ko-KR"/>
              <a:t>, </a:t>
            </a:r>
            <a:r>
              <a:rPr lang="ko-KR" altLang="en-US"/>
              <a:t>두 코드에서 갱신하는 값과 갱신 순서는 같습니다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22472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회의실 하나에 최대한 많은 회의를 넣겠습니다</a:t>
            </a:r>
            <a:r>
              <a:rPr lang="en-US" altLang="ko-KR"/>
              <a:t>. </a:t>
            </a:r>
            <a:r>
              <a:rPr lang="ko-KR" altLang="en-US"/>
              <a:t>회의마다 시작과 종료 시각이 정해져 있고</a:t>
            </a:r>
            <a:r>
              <a:rPr lang="en-US" altLang="ko-KR"/>
              <a:t>, </a:t>
            </a:r>
            <a:r>
              <a:rPr lang="ko-KR" altLang="en-US"/>
              <a:t>중간에 끊거나 다른 시각으로 옮길 수는 없습니다</a:t>
            </a:r>
            <a:r>
              <a:rPr lang="en-US" altLang="ko-KR"/>
              <a:t>. </a:t>
            </a:r>
            <a:r>
              <a:rPr lang="ko-KR" altLang="en-US"/>
              <a:t>시간이 겹치는 두 회의는 함께 선택하지 못합니다</a:t>
            </a:r>
            <a:r>
              <a:rPr lang="en-US" altLang="ko-KR"/>
              <a:t>. </a:t>
            </a:r>
            <a:r>
              <a:rPr lang="ko-KR" altLang="en-US"/>
              <a:t>목표는 회의실을 오래 사용하는 것이 아니라 선택한 회의의 개수를 늘리는 것입니다</a:t>
            </a:r>
            <a:r>
              <a:rPr lang="en-US" altLang="ko-KR"/>
              <a:t>. </a:t>
            </a:r>
            <a:r>
              <a:rPr lang="ko-KR" altLang="en-US"/>
              <a:t>아홉 시간짜리 회의 하나보다</a:t>
            </a:r>
            <a:r>
              <a:rPr lang="en-US" altLang="ko-KR"/>
              <a:t>, </a:t>
            </a:r>
            <a:r>
              <a:rPr lang="ko-KR" altLang="en-US"/>
              <a:t>서로 겹치지 않는 한 시간짜리 회의 두 개가 이 문제에서는 더 좋은 답입니다</a:t>
            </a:r>
            <a:r>
              <a:rPr lang="en-US" altLang="ko-KR"/>
              <a:t>. </a:t>
            </a:r>
            <a:r>
              <a:rPr lang="ko-KR" altLang="en-US"/>
              <a:t>무엇을 최대화하는지부터 분명히 하고 선택 기준을 정하겠습니다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 시에 시작해 네 시에 끝나는 회의와</a:t>
            </a:r>
            <a:r>
              <a:rPr lang="en-US" altLang="ko-KR"/>
              <a:t>, </a:t>
            </a:r>
            <a:r>
              <a:rPr lang="ko-KR" altLang="en-US"/>
              <a:t>네 시에 시작해 여섯 시에 끝나는 회의는 연달아 넣을 수 있습니다</a:t>
            </a:r>
            <a:r>
              <a:rPr lang="en-US" altLang="ko-KR"/>
              <a:t>. </a:t>
            </a:r>
            <a:r>
              <a:rPr lang="ko-KR" altLang="en-US"/>
              <a:t>앞 회의가 끝나는 네 시에 바로 다음 회의를 시작하기 때문입니다</a:t>
            </a:r>
            <a:r>
              <a:rPr lang="en-US" altLang="ko-KR"/>
              <a:t>. </a:t>
            </a:r>
            <a:r>
              <a:rPr lang="ko-KR" altLang="en-US"/>
              <a:t>화면의 오른쪽이 열린 구간 표기는 이 규칙을 나타냅니다</a:t>
            </a:r>
            <a:r>
              <a:rPr lang="en-US" altLang="ko-KR"/>
              <a:t>. </a:t>
            </a:r>
            <a:r>
              <a:rPr lang="ko-KR" altLang="en-US"/>
              <a:t>따라서 다음 시작 시각이 앞 종료 시각보다 크거나 같으면 됩니다</a:t>
            </a:r>
            <a:r>
              <a:rPr lang="en-US" altLang="ko-KR"/>
              <a:t>. </a:t>
            </a:r>
            <a:r>
              <a:rPr lang="ko-KR" altLang="en-US"/>
              <a:t>코드에서 크다만 쓰면 경계가 딱 맞는 회의를 잘못 버리게 됩니다</a:t>
            </a:r>
            <a:r>
              <a:rPr lang="en-US" altLang="ko-KR"/>
              <a:t>. </a:t>
            </a:r>
            <a:r>
              <a:rPr lang="ko-KR" altLang="en-US"/>
              <a:t>반면 세 시부터 다섯 시까지인 회의는 앞 회의가 끝나기 전에 시작하므로 겹칩니다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가장 일찍 시작하는 회의부터 고르면 어떨까요</a:t>
            </a:r>
            <a:r>
              <a:rPr lang="en-US" altLang="ko-KR"/>
              <a:t>? </a:t>
            </a:r>
            <a:r>
              <a:rPr lang="ko-KR" altLang="en-US"/>
              <a:t>화면에서는 한 시부터 열 시까지인 긴 회의를 먼저 고릅니다</a:t>
            </a:r>
            <a:r>
              <a:rPr lang="en-US" altLang="ko-KR"/>
              <a:t>. </a:t>
            </a:r>
            <a:r>
              <a:rPr lang="ko-KR" altLang="en-US"/>
              <a:t>그 뒤의 두 시부터 세 시</a:t>
            </a:r>
            <a:r>
              <a:rPr lang="en-US" altLang="ko-KR"/>
              <a:t>, </a:t>
            </a:r>
            <a:r>
              <a:rPr lang="ko-KR" altLang="en-US"/>
              <a:t>네 시부터 다섯 시 회의는 모두 이미 고른 회의와 겹쳐서 버립니다</a:t>
            </a:r>
            <a:r>
              <a:rPr lang="en-US" altLang="ko-KR"/>
              <a:t>. </a:t>
            </a:r>
            <a:r>
              <a:rPr lang="ko-KR" altLang="en-US"/>
              <a:t>그래서 선택 개수는 하나입니다</a:t>
            </a:r>
            <a:r>
              <a:rPr lang="en-US" altLang="ko-KR"/>
              <a:t>. </a:t>
            </a:r>
            <a:r>
              <a:rPr lang="ko-KR" altLang="en-US"/>
              <a:t>이 과정 자체는 정해 둔 기준에 맞게 잘 실행되었습니다</a:t>
            </a:r>
            <a:r>
              <a:rPr lang="en-US" altLang="ko-KR"/>
              <a:t>. </a:t>
            </a:r>
            <a:r>
              <a:rPr lang="ko-KR" altLang="en-US"/>
              <a:t>코드가 잘못 돌아서 실패한 것이 아니라</a:t>
            </a:r>
            <a:r>
              <a:rPr lang="en-US" altLang="ko-KR"/>
              <a:t>, </a:t>
            </a:r>
            <a:r>
              <a:rPr lang="ko-KR" altLang="en-US"/>
              <a:t>시작이 가장 빠르다는 기준이 회의 개수를 최대화하는 데 안전하지 않을 가능성이 보인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긴 회의를 빼면 두 시부터 세 시 회의와 네 시부터 다섯 시 회의를 둘 다 넣을 수 있습니다</a:t>
            </a:r>
            <a:r>
              <a:rPr lang="en-US" altLang="ko-KR"/>
              <a:t>. </a:t>
            </a:r>
            <a:r>
              <a:rPr lang="ko-KR" altLang="en-US"/>
              <a:t>두 회의는 겹치지 않고 개수는 둘입니다</a:t>
            </a:r>
            <a:r>
              <a:rPr lang="en-US" altLang="ko-KR"/>
              <a:t>. </a:t>
            </a:r>
            <a:r>
              <a:rPr lang="ko-KR" altLang="en-US"/>
              <a:t>시작 시각 우선으로 얻은 하나보다 많으므로 반례가 완성됩니다</a:t>
            </a:r>
            <a:r>
              <a:rPr lang="en-US" altLang="ko-KR"/>
              <a:t>. </a:t>
            </a:r>
            <a:r>
              <a:rPr lang="ko-KR" altLang="en-US"/>
              <a:t>이런 반례를 직접 만들 때도 긴 회의 하나가 짧은 회의 두 개를 막게 배치하면 이해하기 쉽습니다</a:t>
            </a:r>
            <a:r>
              <a:rPr lang="en-US" altLang="ko-KR"/>
              <a:t>. </a:t>
            </a:r>
            <a:r>
              <a:rPr lang="ko-KR" altLang="en-US"/>
              <a:t>모든 회의는 시작이 종료보다 빨라야 하고</a:t>
            </a:r>
            <a:r>
              <a:rPr lang="en-US" altLang="ko-KR"/>
              <a:t>, </a:t>
            </a:r>
            <a:r>
              <a:rPr lang="ko-KR" altLang="en-US"/>
              <a:t>더 좋은 두 회의끼리는 겹치지 않아야 한다는 조건도 함께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가장 먼저 끝나는 회의부터 보겠습니다</a:t>
            </a:r>
            <a:r>
              <a:rPr lang="en-US" altLang="ko-KR"/>
              <a:t>. </a:t>
            </a:r>
            <a:r>
              <a:rPr lang="ko-KR" altLang="en-US"/>
              <a:t>빨리 끝내야 뒤에 다른 회의를 넣을 공간을 남길 수 있습니다</a:t>
            </a:r>
            <a:r>
              <a:rPr lang="en-US" altLang="ko-KR"/>
              <a:t>. </a:t>
            </a:r>
            <a:r>
              <a:rPr lang="ko-KR" altLang="en-US"/>
              <a:t>종료 시각으로 정렬하고</a:t>
            </a:r>
            <a:r>
              <a:rPr lang="en-US" altLang="ko-KR"/>
              <a:t>, </a:t>
            </a:r>
            <a:r>
              <a:rPr lang="ko-KR" altLang="en-US"/>
              <a:t>현재 회의의 시작이 마지막으로 선택한 회의의 종료 이상이면 받아들입니다</a:t>
            </a:r>
            <a:r>
              <a:rPr lang="en-US" altLang="ko-KR"/>
              <a:t>. last_end</a:t>
            </a:r>
            <a:r>
              <a:rPr lang="ko-KR" altLang="en-US"/>
              <a:t>에는 마지막으로 본 회의가 아니라 마지막으로 선택한 회의의 종료를 저장합니다</a:t>
            </a:r>
            <a:r>
              <a:rPr lang="en-US" altLang="ko-KR"/>
              <a:t>. </a:t>
            </a:r>
            <a:r>
              <a:rPr lang="ko-KR" altLang="en-US"/>
              <a:t>거절한 회의는 회의실을 사용하지 않으므로 이 값을 바꾸면 안 됩니다</a:t>
            </a:r>
            <a:r>
              <a:rPr lang="en-US" altLang="ko-KR"/>
              <a:t>. </a:t>
            </a:r>
            <a:r>
              <a:rPr lang="ko-KR" altLang="en-US"/>
              <a:t>먼저 실제 예제로 움직임을 확인하고</a:t>
            </a:r>
            <a:r>
              <a:rPr lang="en-US" altLang="ko-KR"/>
              <a:t>, </a:t>
            </a:r>
            <a:r>
              <a:rPr lang="ko-KR" altLang="en-US"/>
              <a:t>뒤에서 왜 이 기준이 맞는지 설명하겠습니다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위쪽은 입력 순서이고 아래쪽은 종료 시각으로 정렬한 순서입니다</a:t>
            </a:r>
            <a:r>
              <a:rPr lang="en-US" altLang="ko-KR"/>
              <a:t>. </a:t>
            </a:r>
            <a:r>
              <a:rPr lang="ko-KR" altLang="en-US"/>
              <a:t>회의 번호는 입력 때 붙인 이름이라 정렬해도 바뀌지 않습니다</a:t>
            </a:r>
            <a:r>
              <a:rPr lang="en-US" altLang="ko-KR"/>
              <a:t>. </a:t>
            </a:r>
            <a:r>
              <a:rPr lang="ko-KR" altLang="en-US"/>
              <a:t>따라서 오 번 회의가 세 번째 자리에 와도 계속 오 번이라고 부릅니다</a:t>
            </a:r>
            <a:r>
              <a:rPr lang="en-US" altLang="ko-KR"/>
              <a:t>. </a:t>
            </a:r>
            <a:r>
              <a:rPr lang="ko-KR" altLang="en-US"/>
              <a:t>이제 종료 시각이 세 시</a:t>
            </a:r>
            <a:r>
              <a:rPr lang="en-US" altLang="ko-KR"/>
              <a:t>, </a:t>
            </a:r>
            <a:r>
              <a:rPr lang="ko-KR" altLang="en-US"/>
              <a:t>다섯 시</a:t>
            </a:r>
            <a:r>
              <a:rPr lang="en-US" altLang="ko-KR"/>
              <a:t>, </a:t>
            </a:r>
            <a:r>
              <a:rPr lang="ko-KR" altLang="en-US"/>
              <a:t>일곱 시</a:t>
            </a:r>
            <a:r>
              <a:rPr lang="en-US" altLang="ko-KR"/>
              <a:t>, </a:t>
            </a:r>
            <a:r>
              <a:rPr lang="ko-KR" altLang="en-US"/>
              <a:t>여덟 시</a:t>
            </a:r>
            <a:r>
              <a:rPr lang="en-US" altLang="ko-KR"/>
              <a:t>, </a:t>
            </a:r>
            <a:r>
              <a:rPr lang="ko-KR" altLang="en-US"/>
              <a:t>아홉 시</a:t>
            </a:r>
            <a:r>
              <a:rPr lang="en-US" altLang="ko-KR"/>
              <a:t>, </a:t>
            </a:r>
            <a:r>
              <a:rPr lang="ko-KR" altLang="en-US"/>
              <a:t>열한 시 순으로 놓였습니다</a:t>
            </a:r>
            <a:r>
              <a:rPr lang="en-US" altLang="ko-KR"/>
              <a:t>. </a:t>
            </a:r>
            <a:r>
              <a:rPr lang="ko-KR" altLang="en-US"/>
              <a:t>아직 아무 회의도 고르지 않았으므로 처음 회의를 받아들일 수 있게 초기화합니다</a:t>
            </a:r>
            <a:r>
              <a:rPr lang="en-US" altLang="ko-KR"/>
              <a:t>. </a:t>
            </a:r>
            <a:r>
              <a:rPr lang="ko-KR" altLang="en-US"/>
              <a:t>다음부터는 이 정렬 순서로 한 번씩만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첫 번째 일 번 회의는 한 시부터 세 시까지입니다</a:t>
            </a:r>
            <a:r>
              <a:rPr lang="en-US" altLang="ko-KR"/>
              <a:t>. </a:t>
            </a:r>
            <a:r>
              <a:rPr lang="ko-KR" altLang="en-US"/>
              <a:t>아직 고른 회의가 없어서 충돌할 대상이 없으므로 선택합니다</a:t>
            </a:r>
            <a:r>
              <a:rPr lang="en-US" altLang="ko-KR"/>
              <a:t>. </a:t>
            </a:r>
            <a:r>
              <a:rPr lang="ko-KR" altLang="en-US"/>
              <a:t>선택 개수를 하나로 늘리고 </a:t>
            </a:r>
            <a:r>
              <a:rPr lang="en-US" altLang="ko-KR"/>
              <a:t>last_end</a:t>
            </a:r>
            <a:r>
              <a:rPr lang="ko-KR" altLang="en-US"/>
              <a:t>를 세 시로 바꿉니다</a:t>
            </a:r>
            <a:r>
              <a:rPr lang="en-US" altLang="ko-KR"/>
              <a:t>. </a:t>
            </a:r>
            <a:r>
              <a:rPr lang="ko-KR" altLang="en-US"/>
              <a:t>이 값은 회의실을 다시 쓸 수 있는 가장 이른 시각입니다</a:t>
            </a:r>
            <a:r>
              <a:rPr lang="en-US" altLang="ko-KR"/>
              <a:t>. </a:t>
            </a:r>
            <a:r>
              <a:rPr lang="ko-KR" altLang="en-US"/>
              <a:t>이후에는 시작 시각이 세 시 이상인 회의만 추가할 수 있습니다</a:t>
            </a:r>
            <a:r>
              <a:rPr lang="en-US" altLang="ko-KR"/>
              <a:t>. </a:t>
            </a:r>
            <a:r>
              <a:rPr lang="ko-KR" altLang="en-US"/>
              <a:t>처음 회의를 특별히 배열에서 꺼내 넣는 대신</a:t>
            </a:r>
            <a:r>
              <a:rPr lang="en-US" altLang="ko-KR"/>
              <a:t>, </a:t>
            </a:r>
            <a:r>
              <a:rPr lang="ko-KR" altLang="en-US"/>
              <a:t>반복문 안에서 같은 조건으로 처리하면 빈 입력도 자연스럽게 다룰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번 회의는 두 시에 시작하지만 회의실은 세 시까지 사용 중입니다</a:t>
            </a:r>
            <a:r>
              <a:rPr lang="en-US" altLang="ko-KR"/>
              <a:t>. </a:t>
            </a:r>
            <a:r>
              <a:rPr lang="ko-KR" altLang="en-US"/>
              <a:t>시작 시각 둘이 </a:t>
            </a:r>
            <a:r>
              <a:rPr lang="en-US" altLang="ko-KR"/>
              <a:t>last_end</a:t>
            </a:r>
            <a:r>
              <a:rPr lang="ko-KR" altLang="en-US"/>
              <a:t>의 셋보다 작으므로 거절합니다</a:t>
            </a:r>
            <a:r>
              <a:rPr lang="en-US" altLang="ko-KR"/>
              <a:t>. </a:t>
            </a:r>
            <a:r>
              <a:rPr lang="ko-KR" altLang="en-US"/>
              <a:t>여기서 </a:t>
            </a:r>
            <a:r>
              <a:rPr lang="en-US" altLang="ko-KR"/>
              <a:t>last_end</a:t>
            </a:r>
            <a:r>
              <a:rPr lang="ko-KR" altLang="en-US"/>
              <a:t>는 계속 셋이어야 합니다</a:t>
            </a:r>
            <a:r>
              <a:rPr lang="en-US" altLang="ko-KR"/>
              <a:t>. </a:t>
            </a:r>
            <a:r>
              <a:rPr lang="ko-KR" altLang="en-US"/>
              <a:t>이 번 회의의 종료인 다섯으로 바꾸면</a:t>
            </a:r>
            <a:r>
              <a:rPr lang="en-US" altLang="ko-KR"/>
              <a:t>, </a:t>
            </a:r>
            <a:r>
              <a:rPr lang="ko-KR" altLang="en-US"/>
              <a:t>실제로 쓰지 않는 회의 때문에 회의실을 불필요하게 막게 됩니다</a:t>
            </a:r>
            <a:r>
              <a:rPr lang="en-US" altLang="ko-KR"/>
              <a:t>. </a:t>
            </a:r>
            <a:r>
              <a:rPr lang="ko-KR" altLang="en-US"/>
              <a:t>다음 오 번 회의는 다섯 시부터 일곱 시라서 선택하고 </a:t>
            </a:r>
            <a:r>
              <a:rPr lang="en-US" altLang="ko-KR"/>
              <a:t>last_end</a:t>
            </a:r>
            <a:r>
              <a:rPr lang="ko-KR" altLang="en-US"/>
              <a:t>를 일곱으로 바꿉니다</a:t>
            </a:r>
            <a:r>
              <a:rPr lang="en-US" altLang="ko-KR"/>
              <a:t>. </a:t>
            </a:r>
            <a:r>
              <a:rPr lang="ko-KR" altLang="en-US"/>
              <a:t>이어 여섯 시와 세 시에 시작하는 회의는 버리고</a:t>
            </a:r>
            <a:r>
              <a:rPr lang="en-US" altLang="ko-KR"/>
              <a:t>, </a:t>
            </a:r>
            <a:r>
              <a:rPr lang="ko-KR" altLang="en-US"/>
              <a:t>여덟 시부터 열한 시 회의는 선택할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일 번</a:t>
            </a:r>
            <a:r>
              <a:rPr lang="en-US" altLang="ko-KR"/>
              <a:t>, </a:t>
            </a:r>
            <a:r>
              <a:rPr lang="ko-KR" altLang="en-US"/>
              <a:t>오 번</a:t>
            </a:r>
            <a:r>
              <a:rPr lang="en-US" altLang="ko-KR"/>
              <a:t>, </a:t>
            </a:r>
            <a:r>
              <a:rPr lang="ko-KR" altLang="en-US"/>
              <a:t>육 번 회의 세 개를 골랐습니다</a:t>
            </a:r>
            <a:r>
              <a:rPr lang="en-US" altLang="ko-KR"/>
              <a:t>. </a:t>
            </a:r>
            <a:r>
              <a:rPr lang="ko-KR" altLang="en-US"/>
              <a:t>일 번이 세 시에 끝난 뒤 오 번은 다섯 시에 시작하고</a:t>
            </a:r>
            <a:r>
              <a:rPr lang="en-US" altLang="ko-KR"/>
              <a:t>, </a:t>
            </a:r>
            <a:r>
              <a:rPr lang="ko-KR" altLang="en-US"/>
              <a:t>오 번이 일곱 시에 끝난 뒤 육 번은 여덟 시에 시작하므로 충돌이 없습니다</a:t>
            </a:r>
            <a:r>
              <a:rPr lang="en-US" altLang="ko-KR"/>
              <a:t>. </a:t>
            </a:r>
            <a:r>
              <a:rPr lang="ko-KR" altLang="en-US"/>
              <a:t>사 번과 삼 번은 시작 시각이 일곱보다 작아 버렸습니다</a:t>
            </a:r>
            <a:r>
              <a:rPr lang="en-US" altLang="ko-KR"/>
              <a:t>. </a:t>
            </a:r>
            <a:r>
              <a:rPr lang="ko-KR" altLang="en-US"/>
              <a:t>끝나는 시각으로 정렬한 순서와 실제로 선택한 회의 번호를 혼동하지 마세요</a:t>
            </a:r>
            <a:r>
              <a:rPr lang="en-US" altLang="ko-KR"/>
              <a:t>. </a:t>
            </a:r>
            <a:r>
              <a:rPr lang="ko-KR" altLang="en-US"/>
              <a:t>또 한 회의를 버렸을 때는 선택 개수도 마지막 종료 시각도 그대로입니다</a:t>
            </a:r>
            <a:r>
              <a:rPr lang="en-US" altLang="ko-KR"/>
              <a:t>. </a:t>
            </a:r>
            <a:r>
              <a:rPr lang="ko-KR" altLang="en-US"/>
              <a:t>선택한 회의에 대해서만 두 값이 함께 바뀝니다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회의가 엔 개이고 아직 정렬되지 않았다면 종료 시각 순으로 정렬하는 비용이 필요합니다</a:t>
            </a:r>
            <a:r>
              <a:rPr lang="en-US" altLang="ko-KR"/>
              <a:t>. </a:t>
            </a:r>
            <a:r>
              <a:rPr lang="ko-KR" altLang="en-US"/>
              <a:t>보통 정렬 단계는 엔 로그 엔 시간이고</a:t>
            </a:r>
            <a:r>
              <a:rPr lang="en-US" altLang="ko-KR"/>
              <a:t>, </a:t>
            </a:r>
            <a:r>
              <a:rPr lang="ko-KR" altLang="en-US"/>
              <a:t>그 뒤 한 번 훑는 단계는 엔 시간입니다</a:t>
            </a:r>
            <a:r>
              <a:rPr lang="en-US" altLang="ko-KR"/>
              <a:t>. </a:t>
            </a:r>
            <a:r>
              <a:rPr lang="ko-KR" altLang="en-US"/>
              <a:t>둘을 합치면 정렬 비용이 전체를 지배합니다</a:t>
            </a:r>
            <a:r>
              <a:rPr lang="en-US" altLang="ko-KR"/>
              <a:t>. </a:t>
            </a:r>
            <a:r>
              <a:rPr lang="ko-KR" altLang="en-US"/>
              <a:t>하지만 함수에 들어오는 목록이 이미 종료 시각으로 정렬되어 있다는 조건이라면 다시 정렬할 필요가 없습니다</a:t>
            </a:r>
            <a:r>
              <a:rPr lang="en-US" altLang="ko-KR"/>
              <a:t>. </a:t>
            </a:r>
            <a:r>
              <a:rPr lang="ko-KR" altLang="en-US"/>
              <a:t>그 함수는 엔 개를 한 번씩만 보므로 빅오 엔입니다</a:t>
            </a:r>
            <a:r>
              <a:rPr lang="en-US" altLang="ko-KR"/>
              <a:t>. </a:t>
            </a:r>
            <a:r>
              <a:rPr lang="ko-KR" altLang="en-US"/>
              <a:t>같은 활동 선택이라도 입력 준비까지 포함하는지</a:t>
            </a:r>
            <a:r>
              <a:rPr lang="en-US" altLang="ko-KR"/>
              <a:t>, </a:t>
            </a:r>
            <a:r>
              <a:rPr lang="ko-KR" altLang="en-US"/>
              <a:t>이미 준비된 목록만 처리하는지를 보고 복잡도를 써야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왜 가장 먼저 끝나는 회의를 골라도 괜찮을까요</a:t>
            </a:r>
            <a:r>
              <a:rPr lang="en-US" altLang="ko-KR"/>
              <a:t>? </a:t>
            </a:r>
            <a:r>
              <a:rPr lang="ko-KR" altLang="en-US"/>
              <a:t>어떤 최적해가 이 번</a:t>
            </a:r>
            <a:r>
              <a:rPr lang="en-US" altLang="ko-KR"/>
              <a:t>, </a:t>
            </a:r>
            <a:r>
              <a:rPr lang="ko-KR" altLang="en-US"/>
              <a:t>사 번</a:t>
            </a:r>
            <a:r>
              <a:rPr lang="en-US" altLang="ko-KR"/>
              <a:t>, </a:t>
            </a:r>
            <a:r>
              <a:rPr lang="ko-KR" altLang="en-US"/>
              <a:t>육 번 회의를 골랐다고 합시다</a:t>
            </a:r>
            <a:r>
              <a:rPr lang="en-US" altLang="ko-KR"/>
              <a:t>. </a:t>
            </a:r>
            <a:r>
              <a:rPr lang="ko-KR" altLang="en-US"/>
              <a:t>그 첫 회의인 이 번은 다섯 시에 끝납니다</a:t>
            </a:r>
            <a:r>
              <a:rPr lang="en-US" altLang="ko-KR"/>
              <a:t>. </a:t>
            </a:r>
            <a:r>
              <a:rPr lang="ko-KR" altLang="en-US"/>
              <a:t>우리가 고른 일 번은 세 시에 더 일찍 끝납니다</a:t>
            </a:r>
            <a:r>
              <a:rPr lang="en-US" altLang="ko-KR"/>
              <a:t>. </a:t>
            </a:r>
            <a:r>
              <a:rPr lang="ko-KR" altLang="en-US"/>
              <a:t>이 번을 빼고 일 번을 넣어도</a:t>
            </a:r>
            <a:r>
              <a:rPr lang="en-US" altLang="ko-KR"/>
              <a:t>, </a:t>
            </a:r>
            <a:r>
              <a:rPr lang="ko-KR" altLang="en-US"/>
              <a:t>원래 다섯 시 이후에 시작하던 나머지 회의는 그대로 넣을 수 있습니다</a:t>
            </a:r>
            <a:r>
              <a:rPr lang="en-US" altLang="ko-KR"/>
              <a:t>. </a:t>
            </a:r>
            <a:r>
              <a:rPr lang="ko-KR" altLang="en-US"/>
              <a:t>회의 개수도 세 개 그대로입니다</a:t>
            </a:r>
            <a:r>
              <a:rPr lang="en-US" altLang="ko-KR"/>
              <a:t>. </a:t>
            </a:r>
            <a:r>
              <a:rPr lang="ko-KR" altLang="en-US"/>
              <a:t>그러므로 일 번을 포함하는 최적해도 존재합니다</a:t>
            </a:r>
            <a:r>
              <a:rPr lang="en-US" altLang="ko-KR"/>
              <a:t>. </a:t>
            </a:r>
            <a:r>
              <a:rPr lang="ko-KR" altLang="en-US"/>
              <a:t>이렇게 최적해의 일부를 우리 선택으로 바꾸어도 손해가 없음을 보이는 방법이 교환 논증입니다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 세 개로 코드의 경계를 확인하겠습니다</a:t>
            </a:r>
            <a:r>
              <a:rPr lang="en-US" altLang="ko-KR"/>
              <a:t>. </a:t>
            </a:r>
            <a:r>
              <a:rPr lang="ko-KR" altLang="en-US"/>
              <a:t>한 시부터 네 시 회의를 선택하면 마지막 종료는 넷입니다</a:t>
            </a:r>
            <a:r>
              <a:rPr lang="en-US" altLang="ko-KR"/>
              <a:t>. </a:t>
            </a:r>
            <a:r>
              <a:rPr lang="ko-KR" altLang="en-US"/>
              <a:t>세 시부터 다섯 시 회의는 시작이 셋이므로 거절하고 마지막 종료는 계속 넷입니다</a:t>
            </a:r>
            <a:r>
              <a:rPr lang="en-US" altLang="ko-KR"/>
              <a:t>. </a:t>
            </a:r>
            <a:r>
              <a:rPr lang="ko-KR" altLang="en-US"/>
              <a:t>다음 네 시부터 여섯 시 회의는 경계가 같아서 선택할 수 있습니다</a:t>
            </a:r>
            <a:r>
              <a:rPr lang="en-US" altLang="ko-KR"/>
              <a:t>. </a:t>
            </a:r>
            <a:r>
              <a:rPr lang="ko-KR" altLang="en-US"/>
              <a:t>결과는 두 개입니다</a:t>
            </a:r>
            <a:r>
              <a:rPr lang="en-US" altLang="ko-KR"/>
              <a:t>. </a:t>
            </a:r>
            <a:r>
              <a:rPr lang="ko-KR" altLang="en-US"/>
              <a:t>거절한 회의의 종료인 다섯을 저장했다면 마지막 회의를 잘못 거절했을 것입니다</a:t>
            </a:r>
            <a:r>
              <a:rPr lang="en-US" altLang="ko-KR"/>
              <a:t>. </a:t>
            </a:r>
            <a:r>
              <a:rPr lang="ko-KR" altLang="en-US"/>
              <a:t>조건의 같음 표시와</a:t>
            </a:r>
            <a:r>
              <a:rPr lang="en-US" altLang="ko-KR"/>
              <a:t>, </a:t>
            </a:r>
            <a:r>
              <a:rPr lang="ko-KR" altLang="en-US"/>
              <a:t>종료 시각을 바꾸는 위치를 같이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의사코드를 보면 </a:t>
            </a:r>
            <a:r>
              <a:rPr lang="en-US" altLang="ko-KR"/>
              <a:t>count</a:t>
            </a:r>
            <a:r>
              <a:rPr lang="ko-KR" altLang="en-US"/>
              <a:t>와 </a:t>
            </a:r>
            <a:r>
              <a:rPr lang="en-US" altLang="ko-KR"/>
              <a:t>last_end</a:t>
            </a:r>
            <a:r>
              <a:rPr lang="ko-KR" altLang="en-US"/>
              <a:t>를 바꾸는 줄이 모두 조건문 안에 있습니다</a:t>
            </a:r>
            <a:r>
              <a:rPr lang="en-US" altLang="ko-KR"/>
              <a:t>. </a:t>
            </a:r>
            <a:r>
              <a:rPr lang="ko-KR" altLang="en-US"/>
              <a:t>이 두 줄은 회의를 실제로 선택했을 때만 실행됩니다</a:t>
            </a:r>
            <a:r>
              <a:rPr lang="en-US" altLang="ko-KR"/>
              <a:t>. </a:t>
            </a:r>
            <a:r>
              <a:rPr lang="ko-KR" altLang="en-US"/>
              <a:t>목록이 비어 있으면 반복문이 한 번도 돌지 않아 처음 값인 영을 그대로 반환합니다</a:t>
            </a:r>
            <a:r>
              <a:rPr lang="en-US" altLang="ko-KR"/>
              <a:t>. </a:t>
            </a:r>
            <a:r>
              <a:rPr lang="ko-KR" altLang="en-US"/>
              <a:t>여기서는 시각이 음수가 아니라는 조건이 있으므로 마지막 종료를 영으로 시작해도 됩니다</a:t>
            </a:r>
            <a:r>
              <a:rPr lang="en-US" altLang="ko-KR"/>
              <a:t>. </a:t>
            </a:r>
            <a:r>
              <a:rPr lang="ko-KR" altLang="en-US"/>
              <a:t>만약 음수 시각까지 허용한다면 이 초기값을 그대로 쓰면 안 됩니다</a:t>
            </a:r>
            <a:r>
              <a:rPr lang="en-US" altLang="ko-KR"/>
              <a:t>. </a:t>
            </a:r>
            <a:r>
              <a:rPr lang="ko-KR" altLang="en-US"/>
              <a:t>입력이 이미 종료 시각 순이라는 조건 덕분에 함수 안에는 정렬이 필요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</a:t>
            </a:r>
            <a:r>
              <a:rPr lang="ko-KR" altLang="en-US"/>
              <a:t>에서는 각 활동의 시작과 종료를 </a:t>
            </a:r>
            <a:r>
              <a:rPr lang="en-US" altLang="ko-KR"/>
              <a:t>start, end</a:t>
            </a:r>
            <a:r>
              <a:rPr lang="ko-KR" altLang="en-US"/>
              <a:t>로 받습니다</a:t>
            </a:r>
            <a:r>
              <a:rPr lang="en-US" altLang="ko-KR"/>
              <a:t>. </a:t>
            </a:r>
            <a:r>
              <a:rPr lang="ko-KR" altLang="en-US"/>
              <a:t>시작이 </a:t>
            </a:r>
            <a:r>
              <a:rPr lang="en-US" altLang="ko-KR"/>
              <a:t>last </a:t>
            </a:r>
            <a:r>
              <a:rPr lang="ko-KR" altLang="en-US"/>
              <a:t>이상이면 회의를 선택하고 </a:t>
            </a:r>
            <a:r>
              <a:rPr lang="en-US" altLang="ko-KR"/>
              <a:t>count</a:t>
            </a:r>
            <a:r>
              <a:rPr lang="ko-KR" altLang="en-US"/>
              <a:t>를 하나 늘린 뒤 </a:t>
            </a:r>
            <a:r>
              <a:rPr lang="en-US" altLang="ko-KR"/>
              <a:t>last</a:t>
            </a:r>
            <a:r>
              <a:rPr lang="ko-KR" altLang="en-US"/>
              <a:t>를 그 회의의 종료로 바꿉니다</a:t>
            </a:r>
            <a:r>
              <a:rPr lang="en-US" altLang="ko-KR"/>
              <a:t>. </a:t>
            </a:r>
            <a:r>
              <a:rPr lang="ko-KR" altLang="en-US"/>
              <a:t>시작이 더 작으면 조건문 안에 들어가지 않으므로 두 변수 모두 그대로입니다</a:t>
            </a:r>
            <a:r>
              <a:rPr lang="en-US" altLang="ko-KR"/>
              <a:t>. </a:t>
            </a:r>
            <a:r>
              <a:rPr lang="ko-KR" altLang="en-US"/>
              <a:t>들여쓰기가 이 동작을 결정합니다</a:t>
            </a:r>
            <a:r>
              <a:rPr lang="en-US" altLang="ko-KR"/>
              <a:t>. last</a:t>
            </a:r>
            <a:r>
              <a:rPr lang="ko-KR" altLang="en-US"/>
              <a:t>를 바꾸는 줄을 조건문 밖으로 빼면 거절한 회의까지 종료 시각에 반영하는 오류가 납니다</a:t>
            </a:r>
            <a:r>
              <a:rPr lang="en-US" altLang="ko-KR"/>
              <a:t>. </a:t>
            </a:r>
            <a:r>
              <a:rPr lang="ko-KR" altLang="en-US"/>
              <a:t>정렬된 목록을 한 번 훑고 빈 목록에서는 영을 반환하므로 시간은 빅오 엔입니다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8755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에서는 시작 시각 배열과 종료 시각 배열을 같은 인덱스로 읽습니다</a:t>
            </a:r>
            <a:r>
              <a:rPr lang="en-US" altLang="ko-KR"/>
              <a:t>. </a:t>
            </a:r>
            <a:r>
              <a:rPr lang="ko-KR" altLang="en-US"/>
              <a:t>두 배열의 같은 칸이 같은 회의이므로 정렬 상태도 서로 맞아야 합니다</a:t>
            </a:r>
            <a:r>
              <a:rPr lang="en-US" altLang="ko-KR"/>
              <a:t>. </a:t>
            </a:r>
            <a:r>
              <a:rPr lang="ko-KR" altLang="en-US"/>
              <a:t>시작 시각이 </a:t>
            </a:r>
            <a:r>
              <a:rPr lang="en-US" altLang="ko-KR"/>
              <a:t>last</a:t>
            </a:r>
            <a:r>
              <a:rPr lang="ko-KR" altLang="en-US"/>
              <a:t>보다 크거나 같으면 </a:t>
            </a:r>
            <a:r>
              <a:rPr lang="en-US" altLang="ko-KR"/>
              <a:t>count</a:t>
            </a:r>
            <a:r>
              <a:rPr lang="ko-KR" altLang="en-US"/>
              <a:t>를 늘리고 </a:t>
            </a:r>
            <a:r>
              <a:rPr lang="en-US" altLang="ko-KR"/>
              <a:t>last</a:t>
            </a:r>
            <a:r>
              <a:rPr lang="ko-KR" altLang="en-US"/>
              <a:t>를 </a:t>
            </a:r>
            <a:r>
              <a:rPr lang="en-US" altLang="ko-KR"/>
              <a:t>end</a:t>
            </a:r>
            <a:r>
              <a:rPr lang="ko-KR" altLang="en-US"/>
              <a:t>의 해당 값으로 바꿉니다</a:t>
            </a:r>
            <a:r>
              <a:rPr lang="en-US" altLang="ko-KR"/>
              <a:t>. </a:t>
            </a:r>
            <a:r>
              <a:rPr lang="ko-KR" altLang="en-US"/>
              <a:t>중괄호 안에 두 문장이 함께 있다는 점을 보세요</a:t>
            </a:r>
            <a:r>
              <a:rPr lang="en-US" altLang="ko-KR"/>
              <a:t>. </a:t>
            </a:r>
            <a:r>
              <a:rPr lang="ko-KR" altLang="en-US"/>
              <a:t>엔이 영이면 반복문을 건너뛰고 영을 반환합니다</a:t>
            </a:r>
            <a:r>
              <a:rPr lang="en-US" altLang="ko-KR"/>
              <a:t>. </a:t>
            </a:r>
            <a:r>
              <a:rPr lang="ko-KR" altLang="en-US"/>
              <a:t>함수가 받는 배열은 이미 종료 시각 순이므로 여기에도 </a:t>
            </a:r>
            <a:r>
              <a:rPr lang="en-US" altLang="ko-KR"/>
              <a:t>qsort</a:t>
            </a:r>
            <a:r>
              <a:rPr lang="ko-KR" altLang="en-US"/>
              <a:t>나 입력을 읽는 </a:t>
            </a:r>
            <a:r>
              <a:rPr lang="en-US" altLang="ko-KR"/>
              <a:t>main </a:t>
            </a:r>
            <a:r>
              <a:rPr lang="ko-KR" altLang="en-US"/>
              <a:t>함수는 필요하지 않습니다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81552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배낭의 용량을 넘지 않으면서 담은 물건의 가치를 최대화하겠습니다</a:t>
            </a:r>
            <a:r>
              <a:rPr lang="en-US" altLang="ko-KR"/>
              <a:t>. </a:t>
            </a:r>
            <a:r>
              <a:rPr lang="ko-KR" altLang="en-US"/>
              <a:t>이때 물건을 쪼갤 수 있는지가 결정적인 조건입니다</a:t>
            </a:r>
            <a:r>
              <a:rPr lang="en-US" altLang="ko-KR"/>
              <a:t>. </a:t>
            </a:r>
            <a:r>
              <a:rPr lang="ko-KR" altLang="en-US"/>
              <a:t>분할 배낭에서는 가루처럼 원하는 무게만 덜어 담고 그 비율만큼 가치를 얻습니다</a:t>
            </a:r>
            <a:r>
              <a:rPr lang="en-US" altLang="ko-KR"/>
              <a:t>. </a:t>
            </a:r>
            <a:r>
              <a:rPr lang="ko-KR" altLang="en-US"/>
              <a:t>반면 영일 배낭에서는 물건 하나를 통째로 담거나 아예 담지 않아야 합니다</a:t>
            </a:r>
            <a:r>
              <a:rPr lang="en-US" altLang="ko-KR"/>
              <a:t>. </a:t>
            </a:r>
            <a:r>
              <a:rPr lang="ko-KR" altLang="en-US"/>
              <a:t>이름의 영과 일은 이 두 선택을 나타냅니다</a:t>
            </a:r>
            <a:r>
              <a:rPr lang="en-US" altLang="ko-KR"/>
              <a:t>. </a:t>
            </a:r>
            <a:r>
              <a:rPr lang="ko-KR" altLang="en-US"/>
              <a:t>먼저 쪼갤 수 있는 경우에 무게당 가치 순으로 담아 보고</a:t>
            </a:r>
            <a:r>
              <a:rPr lang="en-US" altLang="ko-KR"/>
              <a:t>, </a:t>
            </a:r>
            <a:r>
              <a:rPr lang="ko-KR" altLang="en-US"/>
              <a:t>뒤에서 다른 숫자의 영일 배낭 반례와 비교하겠습니다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물건 전체의 가치만 비교하면 무거운 물건이 유리해 보일 수 있으므로</a:t>
            </a:r>
            <a:r>
              <a:rPr lang="en-US" altLang="ko-KR"/>
              <a:t>, </a:t>
            </a:r>
            <a:r>
              <a:rPr lang="ko-KR" altLang="en-US"/>
              <a:t>같은 무게로 얼마나 많은 가치를 얻는지 비교합니다</a:t>
            </a:r>
            <a:r>
              <a:rPr lang="en-US" altLang="ko-KR"/>
              <a:t>. </a:t>
            </a:r>
            <a:r>
              <a:rPr lang="ko-KR" altLang="en-US"/>
              <a:t>에이는 만사천을 이십으로 나눠 일 킬로그램당 칠백입니다</a:t>
            </a:r>
            <a:r>
              <a:rPr lang="en-US" altLang="ko-KR"/>
              <a:t>. </a:t>
            </a:r>
            <a:r>
              <a:rPr lang="ko-KR" altLang="en-US"/>
              <a:t>비와 씨는 구천을 십오로 나눠 육백입니다</a:t>
            </a:r>
            <a:r>
              <a:rPr lang="en-US" altLang="ko-KR"/>
              <a:t>. </a:t>
            </a:r>
            <a:r>
              <a:rPr lang="ko-KR" altLang="en-US"/>
              <a:t>따라서 에이부터 담습니다</a:t>
            </a:r>
            <a:r>
              <a:rPr lang="en-US" altLang="ko-KR"/>
              <a:t>. </a:t>
            </a:r>
            <a:r>
              <a:rPr lang="ko-KR" altLang="en-US"/>
              <a:t>용량 삼십 중 에이의 무게 이십을 모두 넣으면 십이 남고 만사천의 가치를 얻습니다</a:t>
            </a:r>
            <a:r>
              <a:rPr lang="en-US" altLang="ko-KR"/>
              <a:t>. </a:t>
            </a:r>
            <a:r>
              <a:rPr lang="ko-KR" altLang="en-US"/>
              <a:t>이제 비를 통째로 넣을 수는 없지만</a:t>
            </a:r>
            <a:r>
              <a:rPr lang="en-US" altLang="ko-KR"/>
              <a:t>, </a:t>
            </a:r>
            <a:r>
              <a:rPr lang="ko-KR" altLang="en-US"/>
              <a:t>분할 배낭이므로 남은 십 킬로그램만 덜어 넣을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에이를 모두 넣은 뒤 남은 공간은 십 킬로그램입니다</a:t>
            </a:r>
            <a:r>
              <a:rPr lang="en-US" altLang="ko-KR"/>
              <a:t>. </a:t>
            </a:r>
            <a:r>
              <a:rPr lang="ko-KR" altLang="en-US"/>
              <a:t>비 전체는 십오 킬로그램이므로 삼분의 이만 담습니다</a:t>
            </a:r>
            <a:r>
              <a:rPr lang="en-US" altLang="ko-KR"/>
              <a:t>. </a:t>
            </a:r>
            <a:r>
              <a:rPr lang="ko-KR" altLang="en-US"/>
              <a:t>비의 가치 구천에 삼분의 이를 곱하면 육천입니다</a:t>
            </a:r>
            <a:r>
              <a:rPr lang="en-US" altLang="ko-KR"/>
              <a:t>. </a:t>
            </a:r>
            <a:r>
              <a:rPr lang="ko-KR" altLang="en-US"/>
              <a:t>또는 일 킬로그램당 육백에 담은 무게 십을 곱해도 같습니다</a:t>
            </a:r>
            <a:r>
              <a:rPr lang="en-US" altLang="ko-KR"/>
              <a:t>. </a:t>
            </a:r>
            <a:r>
              <a:rPr lang="ko-KR" altLang="en-US"/>
              <a:t>에이에서 얻은 만사천과 비에서 얻은 육천을 더해 총 이만입니다</a:t>
            </a:r>
            <a:r>
              <a:rPr lang="en-US" altLang="ko-KR"/>
              <a:t>. </a:t>
            </a:r>
            <a:r>
              <a:rPr lang="ko-KR" altLang="en-US"/>
              <a:t>배낭이 가득 찼으니 씨는 보지 않아도 됩니다</a:t>
            </a:r>
            <a:r>
              <a:rPr lang="en-US" altLang="ko-KR"/>
              <a:t>. </a:t>
            </a:r>
            <a:r>
              <a:rPr lang="ko-KR" altLang="en-US"/>
              <a:t>일부만 담았을 때 물건 전체의 가치를 더하지 말고</a:t>
            </a:r>
            <a:r>
              <a:rPr lang="en-US" altLang="ko-KR"/>
              <a:t>, </a:t>
            </a:r>
            <a:r>
              <a:rPr lang="ko-KR" altLang="en-US"/>
              <a:t>실제로 담은 무게 비율만큼만 계산해야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의사코드에서도 먼저 무게당 가치로 정렬합니다</a:t>
            </a:r>
            <a:r>
              <a:rPr lang="en-US" altLang="ko-KR"/>
              <a:t>. take</a:t>
            </a:r>
            <a:r>
              <a:rPr lang="ko-KR" altLang="en-US"/>
              <a:t>는 남은 용량과 현재 물건 무게 중 작은 값입니다</a:t>
            </a:r>
            <a:r>
              <a:rPr lang="en-US" altLang="ko-KR"/>
              <a:t>. </a:t>
            </a:r>
            <a:r>
              <a:rPr lang="ko-KR" altLang="en-US"/>
              <a:t>통째로 들어가면 물건 무게만큼</a:t>
            </a:r>
            <a:r>
              <a:rPr lang="en-US" altLang="ko-KR"/>
              <a:t>, </a:t>
            </a:r>
            <a:r>
              <a:rPr lang="ko-KR" altLang="en-US"/>
              <a:t>들어가지 않으면 남은 공간만큼 담는다는 뜻입니다</a:t>
            </a:r>
            <a:r>
              <a:rPr lang="en-US" altLang="ko-KR"/>
              <a:t>. </a:t>
            </a:r>
            <a:r>
              <a:rPr lang="ko-KR" altLang="en-US"/>
              <a:t>담은 무게에 무게당 가치를 곱해 더하고</a:t>
            </a:r>
            <a:r>
              <a:rPr lang="en-US" altLang="ko-KR"/>
              <a:t>, </a:t>
            </a:r>
            <a:r>
              <a:rPr lang="ko-KR" altLang="en-US"/>
              <a:t>남은 용량에서 그 무게를 뺍니다</a:t>
            </a:r>
            <a:r>
              <a:rPr lang="en-US" altLang="ko-KR"/>
              <a:t>. </a:t>
            </a:r>
            <a:r>
              <a:rPr lang="ko-KR" altLang="en-US"/>
              <a:t>용량이 영이 되면 끝납니다</a:t>
            </a:r>
            <a:r>
              <a:rPr lang="en-US" altLang="ko-KR"/>
              <a:t>. </a:t>
            </a:r>
            <a:r>
              <a:rPr lang="ko-KR" altLang="en-US"/>
              <a:t>왜 이 기준이 안전한지도 생각해 봅시다</a:t>
            </a:r>
            <a:r>
              <a:rPr lang="en-US" altLang="ko-KR"/>
              <a:t>. </a:t>
            </a:r>
            <a:r>
              <a:rPr lang="ko-KR" altLang="en-US"/>
              <a:t>가치가 낮은 물건 일 킬로그램을 담아 놓고 더 높은 물건 일 킬로그램을 밖에 남겨 두었다면 둘을 바꿔 가치를 올릴 수 있습니다</a:t>
            </a:r>
            <a:r>
              <a:rPr lang="en-US" altLang="ko-KR"/>
              <a:t>. </a:t>
            </a:r>
            <a:r>
              <a:rPr lang="ko-KR" altLang="en-US"/>
              <a:t>이런 교환이 가능한 것은 물건을 잘라도 되기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작은 숫자로 계산해 보겠습니다</a:t>
            </a:r>
            <a:r>
              <a:rPr lang="en-US" altLang="ko-KR"/>
              <a:t>. </a:t>
            </a:r>
            <a:r>
              <a:rPr lang="ko-KR" altLang="en-US"/>
              <a:t>배낭 용량은 칠이고 에이는 무게 육에 가치 십팔</a:t>
            </a:r>
            <a:r>
              <a:rPr lang="en-US" altLang="ko-KR"/>
              <a:t>, </a:t>
            </a:r>
            <a:r>
              <a:rPr lang="ko-KR" altLang="en-US"/>
              <a:t>비는 무게 사에 가치 이십입니다</a:t>
            </a:r>
            <a:r>
              <a:rPr lang="en-US" altLang="ko-KR"/>
              <a:t>. </a:t>
            </a:r>
            <a:r>
              <a:rPr lang="ko-KR" altLang="en-US"/>
              <a:t>에이의 무게당 가치는 셋이고 비는 다섯이므로 비를 먼저 모두 담습니다</a:t>
            </a:r>
            <a:r>
              <a:rPr lang="en-US" altLang="ko-KR"/>
              <a:t>. </a:t>
            </a:r>
            <a:r>
              <a:rPr lang="ko-KR" altLang="en-US"/>
              <a:t>용량 칠에서 넷을 써서 셋이 남습니다</a:t>
            </a:r>
            <a:r>
              <a:rPr lang="en-US" altLang="ko-KR"/>
              <a:t>. </a:t>
            </a:r>
            <a:r>
              <a:rPr lang="ko-KR" altLang="en-US"/>
              <a:t>에이 무게 육 중 셋을 담으니 절반이고 가치도 십팔의 절반인 아홉입니다</a:t>
            </a:r>
            <a:r>
              <a:rPr lang="en-US" altLang="ko-KR"/>
              <a:t>. </a:t>
            </a:r>
            <a:r>
              <a:rPr lang="ko-KR" altLang="en-US"/>
              <a:t>전체 가치는 이십 더하기 아홉으로 이십구입니다</a:t>
            </a:r>
            <a:r>
              <a:rPr lang="en-US" altLang="ko-KR"/>
              <a:t>. </a:t>
            </a:r>
            <a:r>
              <a:rPr lang="ko-KR" altLang="en-US"/>
              <a:t>물건 이름이나 입력 순서보다 무게당 가치가 선택 기준이라는 점을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두 물건의 무게당 가치가 같으면 어떻게 될까요</a:t>
            </a:r>
            <a:r>
              <a:rPr lang="en-US" altLang="ko-KR"/>
              <a:t>? </a:t>
            </a:r>
            <a:r>
              <a:rPr lang="ko-KR" altLang="en-US"/>
              <a:t>에이는 팔 나누기 둘이 넷</a:t>
            </a:r>
            <a:r>
              <a:rPr lang="en-US" altLang="ko-KR"/>
              <a:t>, </a:t>
            </a:r>
            <a:r>
              <a:rPr lang="ko-KR" altLang="en-US"/>
              <a:t>비는 십육 나누기 넷이 넷입니다</a:t>
            </a:r>
            <a:r>
              <a:rPr lang="en-US" altLang="ko-KR"/>
              <a:t>. </a:t>
            </a:r>
            <a:r>
              <a:rPr lang="ko-KR" altLang="en-US"/>
              <a:t>에이를 먼저 다 담으면 용량 다섯 중 둘을 쓰고 셋이 남습니다</a:t>
            </a:r>
            <a:r>
              <a:rPr lang="en-US" altLang="ko-KR"/>
              <a:t>. </a:t>
            </a:r>
            <a:r>
              <a:rPr lang="ko-KR" altLang="en-US"/>
              <a:t>비는 무게 넷 중 셋</a:t>
            </a:r>
            <a:r>
              <a:rPr lang="en-US" altLang="ko-KR"/>
              <a:t>, </a:t>
            </a:r>
            <a:r>
              <a:rPr lang="ko-KR" altLang="en-US"/>
              <a:t>즉 사분의 삼을 담아 가치 십이를 얻습니다</a:t>
            </a:r>
            <a:r>
              <a:rPr lang="en-US" altLang="ko-KR"/>
              <a:t>. </a:t>
            </a:r>
            <a:r>
              <a:rPr lang="ko-KR" altLang="en-US"/>
              <a:t>에이의 팔과 더하면 이십입니다</a:t>
            </a:r>
            <a:r>
              <a:rPr lang="en-US" altLang="ko-KR"/>
              <a:t>. </a:t>
            </a:r>
            <a:r>
              <a:rPr lang="ko-KR" altLang="en-US"/>
              <a:t>비를 먼저 담아도 십육을 얻고 남은 한 칸에서 넷을 더 얻어 이십입니다</a:t>
            </a:r>
            <a:r>
              <a:rPr lang="en-US" altLang="ko-KR"/>
              <a:t>. </a:t>
            </a:r>
            <a:r>
              <a:rPr lang="ko-KR" altLang="en-US"/>
              <a:t>같은 밀도의 물건을 서로 교환해도 단위 무게당 가치가 같아서 총가치가 바뀌지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물건을 쪼갤 수 없는 영일 배낭입니다</a:t>
            </a:r>
            <a:r>
              <a:rPr lang="en-US" altLang="ko-KR"/>
              <a:t>. </a:t>
            </a:r>
            <a:r>
              <a:rPr lang="ko-KR" altLang="en-US"/>
              <a:t>용량은 오십이고 에이의 무게와 가치는 십과 육십</a:t>
            </a:r>
            <a:r>
              <a:rPr lang="en-US" altLang="ko-KR"/>
              <a:t>, </a:t>
            </a:r>
            <a:r>
              <a:rPr lang="ko-KR" altLang="en-US"/>
              <a:t>비는 이십과 백</a:t>
            </a:r>
            <a:r>
              <a:rPr lang="en-US" altLang="ko-KR"/>
              <a:t>, </a:t>
            </a:r>
            <a:r>
              <a:rPr lang="ko-KR" altLang="en-US"/>
              <a:t>씨는 삼십과 백이십입니다</a:t>
            </a:r>
            <a:r>
              <a:rPr lang="en-US" altLang="ko-KR"/>
              <a:t>. </a:t>
            </a:r>
            <a:r>
              <a:rPr lang="ko-KR" altLang="en-US"/>
              <a:t>무게당 가치는 차례로 육</a:t>
            </a:r>
            <a:r>
              <a:rPr lang="en-US" altLang="ko-KR"/>
              <a:t>, </a:t>
            </a:r>
            <a:r>
              <a:rPr lang="ko-KR" altLang="en-US"/>
              <a:t>오</a:t>
            </a:r>
            <a:r>
              <a:rPr lang="en-US" altLang="ko-KR"/>
              <a:t>, </a:t>
            </a:r>
            <a:r>
              <a:rPr lang="ko-KR" altLang="en-US"/>
              <a:t>사이므로 그리디는 에이부터 담습니다</a:t>
            </a:r>
            <a:r>
              <a:rPr lang="en-US" altLang="ko-KR"/>
              <a:t>. </a:t>
            </a:r>
            <a:r>
              <a:rPr lang="ko-KR" altLang="en-US"/>
              <a:t>에이를 담고 비도 담으면 무게 삼십</a:t>
            </a:r>
            <a:r>
              <a:rPr lang="en-US" altLang="ko-KR"/>
              <a:t>, </a:t>
            </a:r>
            <a:r>
              <a:rPr lang="ko-KR" altLang="en-US"/>
              <a:t>가치 백육십이고 공간 이십이 남습니다</a:t>
            </a:r>
            <a:r>
              <a:rPr lang="en-US" altLang="ko-KR"/>
              <a:t>. </a:t>
            </a:r>
            <a:r>
              <a:rPr lang="ko-KR" altLang="en-US"/>
              <a:t>씨는 무게 삼십이라 더 담지 못합니다</a:t>
            </a:r>
            <a:r>
              <a:rPr lang="en-US" altLang="ko-KR"/>
              <a:t>. </a:t>
            </a:r>
            <a:r>
              <a:rPr lang="ko-KR" altLang="en-US"/>
              <a:t>여기서 일부만 잘라 담으면 문제의 조건을 어깁니다</a:t>
            </a:r>
            <a:r>
              <a:rPr lang="en-US" altLang="ko-KR"/>
              <a:t>. </a:t>
            </a:r>
            <a:r>
              <a:rPr lang="ko-KR" altLang="en-US"/>
              <a:t>그리디 결과는 백육십인데</a:t>
            </a:r>
            <a:r>
              <a:rPr lang="en-US" altLang="ko-KR"/>
              <a:t>, </a:t>
            </a:r>
            <a:r>
              <a:rPr lang="ko-KR" altLang="en-US"/>
              <a:t>다른 조합을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표에서 비와 씨를 함께 담은 행을 보세요</a:t>
            </a:r>
            <a:r>
              <a:rPr lang="en-US" altLang="ko-KR"/>
              <a:t>. </a:t>
            </a:r>
            <a:r>
              <a:rPr lang="ko-KR" altLang="en-US"/>
              <a:t>무게는 이십과 삼십을 더해 오십이라 용량에 맞고</a:t>
            </a:r>
            <a:r>
              <a:rPr lang="en-US" altLang="ko-KR"/>
              <a:t>, </a:t>
            </a:r>
            <a:r>
              <a:rPr lang="ko-KR" altLang="en-US"/>
              <a:t>가치는 백과 백이십을 더해 이백이십입니다</a:t>
            </a:r>
            <a:r>
              <a:rPr lang="en-US" altLang="ko-KR"/>
              <a:t>. </a:t>
            </a:r>
            <a:r>
              <a:rPr lang="ko-KR" altLang="en-US"/>
              <a:t>그리디의 백육십보다 큽니다</a:t>
            </a:r>
            <a:r>
              <a:rPr lang="en-US" altLang="ko-KR"/>
              <a:t>. </a:t>
            </a:r>
            <a:r>
              <a:rPr lang="ko-KR" altLang="en-US"/>
              <a:t>가장 밀도가 좋았던 에이를 먼저 담은 것이 오히려 더 좋은 비와 씨의 조합을 막았습니다</a:t>
            </a:r>
            <a:r>
              <a:rPr lang="en-US" altLang="ko-KR"/>
              <a:t>. </a:t>
            </a:r>
            <a:r>
              <a:rPr lang="ko-KR" altLang="en-US"/>
              <a:t>세 물건을 전부 담으면 무게 육십이라 허용되지 않습니다</a:t>
            </a:r>
            <a:r>
              <a:rPr lang="en-US" altLang="ko-KR"/>
              <a:t>. </a:t>
            </a:r>
            <a:r>
              <a:rPr lang="ko-KR" altLang="en-US"/>
              <a:t>이 표는 가능한 조합의 무게 조건과 가치 비교를 분리해 보여 줍니다</a:t>
            </a:r>
            <a:r>
              <a:rPr lang="en-US" altLang="ko-KR"/>
              <a:t>. </a:t>
            </a:r>
            <a:r>
              <a:rPr lang="ko-KR" altLang="en-US"/>
              <a:t>좋은 반례를 쓸 때도 더 좋아 보이는 조합이 실제 용량을 지키는지 반드시 확인해야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영일 배낭에서는 조금씩 교환할 수 없다는 점이 문제입니다</a:t>
            </a:r>
            <a:r>
              <a:rPr lang="en-US" altLang="ko-KR"/>
              <a:t>. </a:t>
            </a:r>
            <a:r>
              <a:rPr lang="ko-KR" altLang="en-US"/>
              <a:t>방금 예에서 에이를 고르면 사십이 남는데</a:t>
            </a:r>
            <a:r>
              <a:rPr lang="en-US" altLang="ko-KR"/>
              <a:t>, </a:t>
            </a:r>
            <a:r>
              <a:rPr lang="ko-KR" altLang="en-US"/>
              <a:t>비와 씨를 함께 넣으려면 오십이 필요합니다</a:t>
            </a:r>
            <a:r>
              <a:rPr lang="en-US" altLang="ko-KR"/>
              <a:t>. </a:t>
            </a:r>
            <a:r>
              <a:rPr lang="ko-KR" altLang="en-US"/>
              <a:t>나중에 비를 담으면 공간 이십이 남아 씨를 넣지 못합니다</a:t>
            </a:r>
            <a:r>
              <a:rPr lang="en-US" altLang="ko-KR"/>
              <a:t>. </a:t>
            </a:r>
            <a:r>
              <a:rPr lang="ko-KR" altLang="en-US"/>
              <a:t>분할 배낭처럼 일부만 잘라 채울 수 없으므로 밀도가 가장 높은 첫 선택이 전체 최적해를 막을 수 있습니다</a:t>
            </a:r>
            <a:r>
              <a:rPr lang="en-US" altLang="ko-KR"/>
              <a:t>. </a:t>
            </a:r>
            <a:r>
              <a:rPr lang="ko-KR" altLang="en-US"/>
              <a:t>모든 부분집합을 확인하면 정확한 답을 찾을 수 있지만 물건마다 넣기와 빼기 두 선택이 생겨 후보가 빠르게 늘어납니다</a:t>
            </a:r>
            <a:r>
              <a:rPr lang="en-US" altLang="ko-KR"/>
              <a:t>. </a:t>
            </a:r>
            <a:r>
              <a:rPr lang="ko-KR" altLang="en-US"/>
              <a:t>다음 장에서는 같은 부분 문제를 다시 계산하지 않도록 답을 저장하는 동적 계획법을 배우겠습니다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앞의 예들을 두 성질로 정리하겠습니다</a:t>
            </a:r>
            <a:r>
              <a:rPr lang="en-US" altLang="ko-KR"/>
              <a:t>. </a:t>
            </a:r>
            <a:r>
              <a:rPr lang="ko-KR" altLang="en-US"/>
              <a:t>첫째는 지금 고른 선택을 포함하는 최적해가 있다는 것입니다</a:t>
            </a:r>
            <a:r>
              <a:rPr lang="en-US" altLang="ko-KR"/>
              <a:t>. </a:t>
            </a:r>
            <a:r>
              <a:rPr lang="ko-KR" altLang="en-US"/>
              <a:t>이것이 탐욕적 선택 속성입니다</a:t>
            </a:r>
            <a:r>
              <a:rPr lang="en-US" altLang="ko-KR"/>
              <a:t>. </a:t>
            </a:r>
            <a:r>
              <a:rPr lang="ko-KR" altLang="en-US"/>
              <a:t>둘째는 그 선택 뒤에 남은 문제도 최적으로 풀어서 전체 최적해를 완성할 수 있다는 것입니다</a:t>
            </a:r>
            <a:r>
              <a:rPr lang="en-US" altLang="ko-KR"/>
              <a:t>. </a:t>
            </a:r>
            <a:r>
              <a:rPr lang="ko-KR" altLang="en-US"/>
              <a:t>이것이 최적 부분 구조입니다</a:t>
            </a:r>
            <a:r>
              <a:rPr lang="en-US" altLang="ko-KR"/>
              <a:t>. </a:t>
            </a:r>
            <a:r>
              <a:rPr lang="ko-KR" altLang="en-US"/>
              <a:t>첫째가 첫 선택을 정당화하고</a:t>
            </a:r>
            <a:r>
              <a:rPr lang="en-US" altLang="ko-KR"/>
              <a:t>, </a:t>
            </a:r>
            <a:r>
              <a:rPr lang="ko-KR" altLang="en-US"/>
              <a:t>둘째가 나머지 문제로 넘어가는 것을 정당화합니다</a:t>
            </a:r>
            <a:r>
              <a:rPr lang="en-US" altLang="ko-KR"/>
              <a:t>. </a:t>
            </a:r>
            <a:r>
              <a:rPr lang="ko-KR" altLang="en-US"/>
              <a:t>활동 선택에서는 가장 먼저 끝나는 회의를 골라도 최적해가 남고</a:t>
            </a:r>
            <a:r>
              <a:rPr lang="en-US" altLang="ko-KR"/>
              <a:t>, </a:t>
            </a:r>
            <a:r>
              <a:rPr lang="ko-KR" altLang="en-US"/>
              <a:t>그 뒤 시간대의 회의에서도 같은 문제를 다시 풀 수 있었습니다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안전한 선택이라는 표현을 조금 더 정확히 보겠습니다</a:t>
            </a:r>
            <a:r>
              <a:rPr lang="en-US" altLang="ko-KR"/>
              <a:t>. </a:t>
            </a:r>
            <a:r>
              <a:rPr lang="ko-KR" altLang="en-US"/>
              <a:t>모든 최적해가 반드시 이 선택을 해야 한다는 뜻은 아닙니다</a:t>
            </a:r>
            <a:r>
              <a:rPr lang="en-US" altLang="ko-KR"/>
              <a:t>. </a:t>
            </a:r>
            <a:r>
              <a:rPr lang="ko-KR" altLang="en-US"/>
              <a:t>최적해가 여러 개라면 그중 하나라도 지금 선택을 포함하면 됩니다</a:t>
            </a:r>
            <a:r>
              <a:rPr lang="en-US" altLang="ko-KR"/>
              <a:t>. </a:t>
            </a:r>
            <a:r>
              <a:rPr lang="ko-KR" altLang="en-US"/>
              <a:t>그러면 그 선택을 고정하고도 최적해를 완성할 길이 남습니다</a:t>
            </a:r>
            <a:r>
              <a:rPr lang="en-US" altLang="ko-KR"/>
              <a:t>. </a:t>
            </a:r>
            <a:r>
              <a:rPr lang="ko-KR" altLang="en-US"/>
              <a:t>반대로 영일 배낭의 에이처럼 그 선택을 하는 순간 모든 최적해가 사라지면 안전하지 않습니다</a:t>
            </a:r>
            <a:r>
              <a:rPr lang="en-US" altLang="ko-KR"/>
              <a:t>. </a:t>
            </a:r>
            <a:r>
              <a:rPr lang="ko-KR" altLang="en-US"/>
              <a:t>지금 가장 큰 수를 골랐다거나 조건을 어기지 않았다는 설명만으로는 이 성질을 보여 준 것이 아닙니다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교환 논증은 최적해 하나를 출발점으로 잡습니다</a:t>
            </a:r>
            <a:r>
              <a:rPr lang="en-US" altLang="ko-KR"/>
              <a:t>. </a:t>
            </a:r>
            <a:r>
              <a:rPr lang="ko-KR" altLang="en-US"/>
              <a:t>그 답에 우리가 고르려는 선택이 없으면 일부를 바꾸어 넣습니다</a:t>
            </a:r>
            <a:r>
              <a:rPr lang="en-US" altLang="ko-KR"/>
              <a:t>. </a:t>
            </a:r>
            <a:r>
              <a:rPr lang="ko-KR" altLang="en-US"/>
              <a:t>바꾼 답이 여전히 문제 조건을 지키고</a:t>
            </a:r>
            <a:r>
              <a:rPr lang="en-US" altLang="ko-KR"/>
              <a:t>, </a:t>
            </a:r>
            <a:r>
              <a:rPr lang="ko-KR" altLang="en-US"/>
              <a:t>목표값이 나빠지지 않는다는 두 가지를 확인합니다</a:t>
            </a:r>
            <a:r>
              <a:rPr lang="en-US" altLang="ko-KR"/>
              <a:t>. </a:t>
            </a:r>
            <a:r>
              <a:rPr lang="ko-KR" altLang="en-US"/>
              <a:t>원래 답이 최적이었으므로 바꾼 답도 최적이고</a:t>
            </a:r>
            <a:r>
              <a:rPr lang="en-US" altLang="ko-KR"/>
              <a:t>, </a:t>
            </a:r>
            <a:r>
              <a:rPr lang="ko-KR" altLang="en-US"/>
              <a:t>이제 그 안에는 우리 선택이 들어 있습니다</a:t>
            </a:r>
            <a:r>
              <a:rPr lang="en-US" altLang="ko-KR"/>
              <a:t>. </a:t>
            </a:r>
            <a:r>
              <a:rPr lang="ko-KR" altLang="en-US"/>
              <a:t>회의에서는 첫 회의를 더 일찍 끝나는 회의로 바꿔도 뒤 회의들이 유지됐습니다</a:t>
            </a:r>
            <a:r>
              <a:rPr lang="en-US" altLang="ko-KR"/>
              <a:t>. </a:t>
            </a:r>
            <a:r>
              <a:rPr lang="ko-KR" altLang="en-US"/>
              <a:t>동전에서는 같은 금액의 작은 동전 묶음을 큰 동전으로 교환했습니다</a:t>
            </a:r>
            <a:r>
              <a:rPr lang="en-US" altLang="ko-KR"/>
              <a:t>. </a:t>
            </a:r>
            <a:r>
              <a:rPr lang="ko-KR" altLang="en-US"/>
              <a:t>교환을 했다는 사실만 말하지 말고</a:t>
            </a:r>
            <a:r>
              <a:rPr lang="en-US" altLang="ko-KR"/>
              <a:t>, </a:t>
            </a:r>
            <a:r>
              <a:rPr lang="ko-KR" altLang="en-US"/>
              <a:t>왜 조건과 값이 유지되는지 설명해야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일 번 회의를 골라 세 시에 끝났다고 합시다</a:t>
            </a:r>
            <a:r>
              <a:rPr lang="en-US" altLang="ko-KR"/>
              <a:t>. </a:t>
            </a:r>
            <a:r>
              <a:rPr lang="ko-KR" altLang="en-US"/>
              <a:t>이제 남은 문제는 세 시 이후에 시작하는 회의 중에서 최대한 많이 고르는 것입니다</a:t>
            </a:r>
            <a:r>
              <a:rPr lang="en-US" altLang="ko-KR"/>
              <a:t>. </a:t>
            </a:r>
            <a:r>
              <a:rPr lang="ko-KR" altLang="en-US"/>
              <a:t>만약 이 남은 부분을 덜 좋은 방법으로 골랐다면</a:t>
            </a:r>
            <a:r>
              <a:rPr lang="en-US" altLang="ko-KR"/>
              <a:t>, </a:t>
            </a:r>
            <a:r>
              <a:rPr lang="ko-KR" altLang="en-US"/>
              <a:t>더 좋은 남은 해로 교체해서 전체 회의 수도 늘릴 수 있습니다</a:t>
            </a:r>
            <a:r>
              <a:rPr lang="en-US" altLang="ko-KR"/>
              <a:t>. </a:t>
            </a:r>
            <a:r>
              <a:rPr lang="ko-KR" altLang="en-US"/>
              <a:t>그러면 처음의 전체 답이 최적이라는 가정과 맞지 않습니다</a:t>
            </a:r>
            <a:r>
              <a:rPr lang="en-US" altLang="ko-KR"/>
              <a:t>. </a:t>
            </a:r>
            <a:r>
              <a:rPr lang="ko-KR" altLang="en-US"/>
              <a:t>이렇게 전체 최적해의 남은 부분도 최적이어야 한다는 구조를 씁니다</a:t>
            </a:r>
            <a:r>
              <a:rPr lang="en-US" altLang="ko-KR"/>
              <a:t>. </a:t>
            </a:r>
            <a:r>
              <a:rPr lang="ko-KR" altLang="en-US"/>
              <a:t>단</a:t>
            </a:r>
            <a:r>
              <a:rPr lang="en-US" altLang="ko-KR"/>
              <a:t>, </a:t>
            </a:r>
            <a:r>
              <a:rPr lang="ko-KR" altLang="en-US"/>
              <a:t>이 성질만으로 첫 회의를 마음대로 골라도 된다는 결론은 나오지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최적 부분 구조가 있다고 모든 그리디 기준이 맞는 것은 아닙니다</a:t>
            </a:r>
            <a:r>
              <a:rPr lang="en-US" altLang="ko-KR"/>
              <a:t>. </a:t>
            </a:r>
            <a:r>
              <a:rPr lang="ko-KR" altLang="en-US"/>
              <a:t>영일 배낭이나 일반 동전 문제도 상태를 알맞게 잡으면 남은 문제의 최적해를 이용할 수 있습니다</a:t>
            </a:r>
            <a:r>
              <a:rPr lang="en-US" altLang="ko-KR"/>
              <a:t>. </a:t>
            </a:r>
            <a:r>
              <a:rPr lang="ko-KR" altLang="en-US"/>
              <a:t>하지만 밀도가 가장 큰 물건이나 가장 큰 동전을 무조건 먼저 고르는 선택은 실패할 수 있었습니다</a:t>
            </a:r>
            <a:r>
              <a:rPr lang="en-US" altLang="ko-KR"/>
              <a:t>. </a:t>
            </a:r>
            <a:r>
              <a:rPr lang="ko-KR" altLang="en-US"/>
              <a:t>이 경우에는 첫 선택이 안전하다는 성질이 없습니다</a:t>
            </a:r>
            <a:r>
              <a:rPr lang="en-US" altLang="ko-KR"/>
              <a:t>. </a:t>
            </a:r>
            <a:r>
              <a:rPr lang="ko-KR" altLang="en-US"/>
              <a:t>그래서 여러 선택의 결과를 비교하는 동적 계획법이 필요합니다</a:t>
            </a:r>
            <a:r>
              <a:rPr lang="en-US" altLang="ko-KR"/>
              <a:t>. </a:t>
            </a:r>
            <a:r>
              <a:rPr lang="ko-KR" altLang="en-US"/>
              <a:t>두 조건의 이름을 외우는 것보다</a:t>
            </a:r>
            <a:r>
              <a:rPr lang="en-US" altLang="ko-KR"/>
              <a:t>, </a:t>
            </a:r>
            <a:r>
              <a:rPr lang="ko-KR" altLang="en-US"/>
              <a:t>첫 선택을 믿을 수 있는지와 남은 문제를 어떻게 이어 푸는지를 구분해서 생각해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그래프에서 그리디를 보겠습니다</a:t>
            </a:r>
            <a:r>
              <a:rPr lang="en-US" altLang="ko-KR"/>
              <a:t>. </a:t>
            </a:r>
            <a:r>
              <a:rPr lang="ko-KR" altLang="en-US"/>
              <a:t>점 하나가 정점이고 두 점을 잇는 선이 간선입니다</a:t>
            </a:r>
            <a:r>
              <a:rPr lang="en-US" altLang="ko-KR"/>
              <a:t>. </a:t>
            </a:r>
            <a:r>
              <a:rPr lang="ko-KR" altLang="en-US"/>
              <a:t>선 위의 숫자는 그 간선을 사용할 때 드는 비용</a:t>
            </a:r>
            <a:r>
              <a:rPr lang="en-US" altLang="ko-KR"/>
              <a:t>, </a:t>
            </a:r>
            <a:r>
              <a:rPr lang="ko-KR" altLang="en-US"/>
              <a:t>즉 가중치입니다</a:t>
            </a:r>
            <a:r>
              <a:rPr lang="en-US" altLang="ko-KR"/>
              <a:t>. </a:t>
            </a:r>
            <a:r>
              <a:rPr lang="ko-KR" altLang="en-US"/>
              <a:t>이 그림에는 에이부터 디까지 정점 네 개와 간선 다섯 개가 있습니다</a:t>
            </a:r>
            <a:r>
              <a:rPr lang="en-US" altLang="ko-KR"/>
              <a:t>. </a:t>
            </a:r>
            <a:r>
              <a:rPr lang="ko-KR" altLang="en-US"/>
              <a:t>간선을 따라 이동한 길이 경로이고</a:t>
            </a:r>
            <a:r>
              <a:rPr lang="en-US" altLang="ko-KR"/>
              <a:t>, </a:t>
            </a:r>
            <a:r>
              <a:rPr lang="ko-KR" altLang="en-US"/>
              <a:t>같은 점으로 다시 돌아오는 닫힌 길이 사이클입니다</a:t>
            </a:r>
            <a:r>
              <a:rPr lang="en-US" altLang="ko-KR"/>
              <a:t>. </a:t>
            </a:r>
            <a:r>
              <a:rPr lang="ko-KR" altLang="en-US"/>
              <a:t>브이는 정점 수</a:t>
            </a:r>
            <a:r>
              <a:rPr lang="en-US" altLang="ko-KR"/>
              <a:t>, </a:t>
            </a:r>
            <a:r>
              <a:rPr lang="ko-KR" altLang="en-US"/>
              <a:t>이는 간선 수를 나타냅니다</a:t>
            </a:r>
            <a:r>
              <a:rPr lang="en-US" altLang="ko-KR"/>
              <a:t>. </a:t>
            </a:r>
            <a:r>
              <a:rPr lang="ko-KR" altLang="en-US"/>
              <a:t>앞으로 모든 점을 연결하되 비용을 최소로 하는 문제와</a:t>
            </a:r>
            <a:r>
              <a:rPr lang="en-US" altLang="ko-KR"/>
              <a:t>, </a:t>
            </a:r>
            <a:r>
              <a:rPr lang="ko-KR" altLang="en-US"/>
              <a:t>한 점에서 가장 짧게 가는 문제를 구분해서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신장 트리는 모든 정점을 연결하면서 사이클은 만들지 않는 간선 모음입니다</a:t>
            </a:r>
            <a:r>
              <a:rPr lang="en-US" altLang="ko-KR"/>
              <a:t>. </a:t>
            </a:r>
            <a:r>
              <a:rPr lang="ko-KR" altLang="en-US"/>
              <a:t>모든 곳을 잇는 데 필요 없는 우회 고리를 남기지 않는다고 생각하면 됩니다</a:t>
            </a:r>
            <a:r>
              <a:rPr lang="en-US" altLang="ko-KR"/>
              <a:t>. </a:t>
            </a:r>
            <a:r>
              <a:rPr lang="ko-KR" altLang="en-US"/>
              <a:t>그중 가중치 합이 가장 작은 것을 최소 신장 트리라고 부릅니다</a:t>
            </a:r>
            <a:r>
              <a:rPr lang="en-US" altLang="ko-KR"/>
              <a:t>. </a:t>
            </a:r>
            <a:r>
              <a:rPr lang="ko-KR" altLang="en-US"/>
              <a:t>이 문제는 특정 출발점에서 각 도시까지의 이동 거리를 줄이려는 것이 아니라</a:t>
            </a:r>
            <a:r>
              <a:rPr lang="en-US" altLang="ko-KR"/>
              <a:t>, </a:t>
            </a:r>
            <a:r>
              <a:rPr lang="ko-KR" altLang="en-US"/>
              <a:t>설치한 연결선 전체의 비용을 줄이려는 문제입니다</a:t>
            </a:r>
            <a:r>
              <a:rPr lang="en-US" altLang="ko-KR"/>
              <a:t>. </a:t>
            </a:r>
            <a:r>
              <a:rPr lang="ko-KR" altLang="en-US"/>
              <a:t>연결된 그래프를 대상으로 하고</a:t>
            </a:r>
            <a:r>
              <a:rPr lang="en-US" altLang="ko-KR"/>
              <a:t>, </a:t>
            </a:r>
            <a:r>
              <a:rPr lang="ko-KR" altLang="en-US"/>
              <a:t>정점이 브이 개이면 신장 트리의 간선은 정확히 브이 마이너스 일 개가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 네 개가 모두 떨어져 있으면 덩어리가 네 개입니다</a:t>
            </a:r>
            <a:r>
              <a:rPr lang="en-US" altLang="ko-KR"/>
              <a:t>. </a:t>
            </a:r>
            <a:r>
              <a:rPr lang="ko-KR" altLang="en-US"/>
              <a:t>서로 다른 두 덩어리를 간선 하나로 이으면 덩어리는 세 개가 됩니다</a:t>
            </a:r>
            <a:r>
              <a:rPr lang="en-US" altLang="ko-KR"/>
              <a:t>. </a:t>
            </a:r>
            <a:r>
              <a:rPr lang="ko-KR" altLang="en-US"/>
              <a:t>다시 다른 덩어리를 이으면 두 개</a:t>
            </a:r>
            <a:r>
              <a:rPr lang="en-US" altLang="ko-KR"/>
              <a:t>, </a:t>
            </a:r>
            <a:r>
              <a:rPr lang="ko-KR" altLang="en-US"/>
              <a:t>한 번 더 이으면 하나가 됩니다</a:t>
            </a:r>
            <a:r>
              <a:rPr lang="en-US" altLang="ko-KR"/>
              <a:t>. </a:t>
            </a:r>
            <a:r>
              <a:rPr lang="ko-KR" altLang="en-US"/>
              <a:t>네 덩어리를 하나로 만들 때 필요한 간선은 세 개입니다</a:t>
            </a:r>
            <a:r>
              <a:rPr lang="en-US" altLang="ko-KR"/>
              <a:t>. </a:t>
            </a:r>
            <a:r>
              <a:rPr lang="ko-KR" altLang="en-US"/>
              <a:t>일반적으로 브이 덩어리를 하나로 줄이려면 브이 마이너스 일 번 연결하면 됩니다</a:t>
            </a:r>
            <a:r>
              <a:rPr lang="en-US" altLang="ko-KR"/>
              <a:t>. </a:t>
            </a:r>
            <a:r>
              <a:rPr lang="ko-KR" altLang="en-US"/>
              <a:t>이미 하나로 이어진 뒤 간선을 추가하면 연결이 더 좋아지는 것이 아니라 돌아오는 길</a:t>
            </a:r>
            <a:r>
              <a:rPr lang="en-US" altLang="ko-KR"/>
              <a:t>, </a:t>
            </a:r>
            <a:r>
              <a:rPr lang="ko-KR" altLang="en-US"/>
              <a:t>즉 사이클이 생깁니다</a:t>
            </a:r>
            <a:r>
              <a:rPr lang="en-US" altLang="ko-KR"/>
              <a:t>. </a:t>
            </a:r>
            <a:r>
              <a:rPr lang="ko-KR" altLang="en-US"/>
              <a:t>그래서 트리의 간선 수가 이 값으로 정해집니다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크루스칼은 모든 간선을 가중치가 작은 순서로 정렬합니다</a:t>
            </a:r>
            <a:r>
              <a:rPr lang="en-US" altLang="ko-KR"/>
              <a:t>. </a:t>
            </a:r>
            <a:r>
              <a:rPr lang="ko-KR" altLang="en-US"/>
              <a:t>그 순서대로 보면서</a:t>
            </a:r>
            <a:r>
              <a:rPr lang="en-US" altLang="ko-KR"/>
              <a:t>, </a:t>
            </a:r>
            <a:r>
              <a:rPr lang="ko-KR" altLang="en-US"/>
              <a:t>양 끝이 아직 서로 연결되지 않았으면 받아들입니다</a:t>
            </a:r>
            <a:r>
              <a:rPr lang="en-US" altLang="ko-KR"/>
              <a:t>. </a:t>
            </a:r>
            <a:r>
              <a:rPr lang="ko-KR" altLang="en-US"/>
              <a:t>이미 다른 경로로 이어진 두 점이라면 그 간선을 추가할 때 사이클이 생기므로 버립니다</a:t>
            </a:r>
            <a:r>
              <a:rPr lang="en-US" altLang="ko-KR"/>
              <a:t>. </a:t>
            </a:r>
            <a:r>
              <a:rPr lang="ko-KR" altLang="en-US"/>
              <a:t>연결 그래프에서는 간선을 브이 마이너스 일 개 선택하면 멈춥니다</a:t>
            </a:r>
            <a:r>
              <a:rPr lang="en-US" altLang="ko-KR"/>
              <a:t>. </a:t>
            </a:r>
            <a:r>
              <a:rPr lang="ko-KR" altLang="en-US"/>
              <a:t>서로 같은 덩어리인지를 빠르게 검사하는 자료구조가 분리집합인데</a:t>
            </a:r>
            <a:r>
              <a:rPr lang="en-US" altLang="ko-KR"/>
              <a:t>, </a:t>
            </a:r>
            <a:r>
              <a:rPr lang="ko-KR" altLang="en-US"/>
              <a:t>지금은 그림의 연결 상태로 판단하겠습니다</a:t>
            </a:r>
            <a:r>
              <a:rPr lang="en-US" altLang="ko-KR"/>
              <a:t>. </a:t>
            </a:r>
            <a:r>
              <a:rPr lang="ko-KR" altLang="en-US"/>
              <a:t>실제로 남기는 간선은 앞의 선택을 취소하지 않고 하나씩 확정합니다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정점이 네 개이므로 간선 세 개를 선택하면 됩니다</a:t>
            </a:r>
            <a:r>
              <a:rPr lang="en-US" altLang="ko-KR"/>
              <a:t>. </a:t>
            </a:r>
            <a:r>
              <a:rPr lang="ko-KR" altLang="en-US"/>
              <a:t>정렬된 간선은 에이비 일</a:t>
            </a:r>
            <a:r>
              <a:rPr lang="en-US" altLang="ko-KR"/>
              <a:t>, </a:t>
            </a:r>
            <a:r>
              <a:rPr lang="ko-KR" altLang="en-US"/>
              <a:t>비씨 이</a:t>
            </a:r>
            <a:r>
              <a:rPr lang="en-US" altLang="ko-KR"/>
              <a:t>, </a:t>
            </a:r>
            <a:r>
              <a:rPr lang="ko-KR" altLang="en-US"/>
              <a:t>에이씨 삼</a:t>
            </a:r>
            <a:r>
              <a:rPr lang="en-US" altLang="ko-KR"/>
              <a:t>, </a:t>
            </a:r>
            <a:r>
              <a:rPr lang="ko-KR" altLang="en-US"/>
              <a:t>씨디 사</a:t>
            </a:r>
            <a:r>
              <a:rPr lang="en-US" altLang="ko-KR"/>
              <a:t>, </a:t>
            </a:r>
            <a:r>
              <a:rPr lang="ko-KR" altLang="en-US"/>
              <a:t>비디 오 순입니다</a:t>
            </a:r>
            <a:r>
              <a:rPr lang="en-US" altLang="ko-KR"/>
              <a:t>. </a:t>
            </a:r>
            <a:r>
              <a:rPr lang="ko-KR" altLang="en-US"/>
              <a:t>먼저 가장 싼 에이비를 봅니다</a:t>
            </a:r>
            <a:r>
              <a:rPr lang="en-US" altLang="ko-KR"/>
              <a:t>. </a:t>
            </a:r>
            <a:r>
              <a:rPr lang="ko-KR" altLang="en-US"/>
              <a:t>에이와 비는 아직 다른 덩어리이므로 채택합니다</a:t>
            </a:r>
            <a:r>
              <a:rPr lang="en-US" altLang="ko-KR"/>
              <a:t>. </a:t>
            </a:r>
            <a:r>
              <a:rPr lang="ko-KR" altLang="en-US"/>
              <a:t>이제 에이와 비가 한 덩어리</a:t>
            </a:r>
            <a:r>
              <a:rPr lang="en-US" altLang="ko-KR"/>
              <a:t>, </a:t>
            </a:r>
            <a:r>
              <a:rPr lang="ko-KR" altLang="en-US"/>
              <a:t>씨와 디는 각각 따로 있습니다</a:t>
            </a:r>
            <a:r>
              <a:rPr lang="en-US" altLang="ko-KR"/>
              <a:t>. </a:t>
            </a:r>
            <a:r>
              <a:rPr lang="ko-KR" altLang="en-US"/>
              <a:t>현재 비용 합은 일이고 선택한 간선은 하나입니다</a:t>
            </a:r>
            <a:r>
              <a:rPr lang="en-US" altLang="ko-KR"/>
              <a:t>. </a:t>
            </a:r>
            <a:r>
              <a:rPr lang="ko-KR" altLang="en-US"/>
              <a:t>앞으로는 간선이 싸다는 것뿐 아니라 두 끝이 어느 덩어리에 들어 있는지도 함께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비씨의 비용은 이입니다</a:t>
            </a:r>
            <a:r>
              <a:rPr lang="en-US" altLang="ko-KR"/>
              <a:t>. </a:t>
            </a:r>
            <a:r>
              <a:rPr lang="ko-KR" altLang="en-US"/>
              <a:t>비는 에이와 묶여 있고 씨는 아직 혼자이므로 서로 다른 덩어리를 잇습니다</a:t>
            </a:r>
            <a:r>
              <a:rPr lang="en-US" altLang="ko-KR"/>
              <a:t>. </a:t>
            </a:r>
            <a:r>
              <a:rPr lang="ko-KR" altLang="en-US"/>
              <a:t>따라서 채택합니다</a:t>
            </a:r>
            <a:r>
              <a:rPr lang="en-US" altLang="ko-KR"/>
              <a:t>. </a:t>
            </a:r>
            <a:r>
              <a:rPr lang="ko-KR" altLang="en-US"/>
              <a:t>이제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씨가 한 덩어리이고 디만 떨어져 있습니다</a:t>
            </a:r>
            <a:r>
              <a:rPr lang="en-US" altLang="ko-KR"/>
              <a:t>. </a:t>
            </a:r>
            <a:r>
              <a:rPr lang="ko-KR" altLang="en-US"/>
              <a:t>선택한 간선은 두 개이고 비용 합은 일 더하기 이로 삼입니다</a:t>
            </a:r>
            <a:r>
              <a:rPr lang="en-US" altLang="ko-KR"/>
              <a:t>. </a:t>
            </a:r>
            <a:r>
              <a:rPr lang="ko-KR" altLang="en-US"/>
              <a:t>정점 세 개가 이미 연결됐다고 해서 끝내면 안 됩니다</a:t>
            </a:r>
            <a:r>
              <a:rPr lang="en-US" altLang="ko-KR"/>
              <a:t>. </a:t>
            </a:r>
            <a:r>
              <a:rPr lang="ko-KR" altLang="en-US"/>
              <a:t>디도 포함해야 모든 정점을 잇는 신장 트리가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에이씨의 비용은 삼입니다</a:t>
            </a:r>
            <a:r>
              <a:rPr lang="en-US" altLang="ko-KR"/>
              <a:t>. </a:t>
            </a:r>
            <a:r>
              <a:rPr lang="ko-KR" altLang="en-US"/>
              <a:t>에이와 씨 사이에는 이미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씨로 이어지는 길이 있습니다</a:t>
            </a:r>
            <a:r>
              <a:rPr lang="en-US" altLang="ko-KR"/>
              <a:t>. </a:t>
            </a:r>
            <a:r>
              <a:rPr lang="ko-KR" altLang="en-US"/>
              <a:t>여기에 에이씨를 더하면 에이에서 비와 씨를 거쳐 다시 에이로 돌아오는 사이클이 생깁니다</a:t>
            </a:r>
            <a:r>
              <a:rPr lang="en-US" altLang="ko-KR"/>
              <a:t>. </a:t>
            </a:r>
            <a:r>
              <a:rPr lang="ko-KR" altLang="en-US"/>
              <a:t>그래서 이 간선은 버립니다</a:t>
            </a:r>
            <a:r>
              <a:rPr lang="en-US" altLang="ko-KR"/>
              <a:t>. </a:t>
            </a:r>
            <a:r>
              <a:rPr lang="ko-KR" altLang="en-US"/>
              <a:t>비용이 다음 씨디보다 싸더라도 채택하지 않습니다</a:t>
            </a:r>
            <a:r>
              <a:rPr lang="en-US" altLang="ko-KR"/>
              <a:t>. </a:t>
            </a:r>
            <a:r>
              <a:rPr lang="ko-KR" altLang="en-US"/>
              <a:t>싼 순서라는 선택 기준과 사이클을 만들지 않는다는 적정성 검사를 함께 적용해야 합니다</a:t>
            </a:r>
            <a:r>
              <a:rPr lang="en-US" altLang="ko-KR"/>
              <a:t>. </a:t>
            </a:r>
            <a:r>
              <a:rPr lang="ko-KR" altLang="en-US"/>
              <a:t>버렸으므로 비용 합과 선택한 간선 수는 모두 그대로입니다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씨디는 연결된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 덩어리와 아직 혼자인 디를 잇습니다</a:t>
            </a:r>
            <a:r>
              <a:rPr lang="en-US" altLang="ko-KR"/>
              <a:t>. </a:t>
            </a:r>
            <a:r>
              <a:rPr lang="ko-KR" altLang="en-US"/>
              <a:t>사이클이 생기지 않으므로 받아들입니다</a:t>
            </a:r>
            <a:r>
              <a:rPr lang="en-US" altLang="ko-KR"/>
              <a:t>. </a:t>
            </a:r>
            <a:r>
              <a:rPr lang="ko-KR" altLang="en-US"/>
              <a:t>선택 간선이 세 개가 되었고 정점 네 개가 모두 연결됐으니 끝입니다</a:t>
            </a:r>
            <a:r>
              <a:rPr lang="en-US" altLang="ko-KR"/>
              <a:t>. </a:t>
            </a:r>
            <a:r>
              <a:rPr lang="ko-KR" altLang="en-US"/>
              <a:t>최종 간선은 에이비</a:t>
            </a:r>
            <a:r>
              <a:rPr lang="en-US" altLang="ko-KR"/>
              <a:t>, </a:t>
            </a:r>
            <a:r>
              <a:rPr lang="ko-KR" altLang="en-US"/>
              <a:t>비씨</a:t>
            </a:r>
            <a:r>
              <a:rPr lang="en-US" altLang="ko-KR"/>
              <a:t>, </a:t>
            </a:r>
            <a:r>
              <a:rPr lang="ko-KR" altLang="en-US"/>
              <a:t>씨디이고 합은 일 더하기 이 더하기 사로 칠입니다</a:t>
            </a:r>
            <a:r>
              <a:rPr lang="en-US" altLang="ko-KR"/>
              <a:t>. </a:t>
            </a:r>
            <a:r>
              <a:rPr lang="ko-KR" altLang="en-US"/>
              <a:t>에이씨는 버렸고 비디는 멈춘 뒤라 검사할 필요가 없습니다</a:t>
            </a:r>
            <a:r>
              <a:rPr lang="en-US" altLang="ko-KR"/>
              <a:t>. </a:t>
            </a:r>
            <a:r>
              <a:rPr lang="ko-KR" altLang="en-US"/>
              <a:t>실행 과정을 적을 때는 정렬 순서와 실제 채택 순서를 구분하고</a:t>
            </a:r>
            <a:r>
              <a:rPr lang="en-US" altLang="ko-KR"/>
              <a:t>, </a:t>
            </a:r>
            <a:r>
              <a:rPr lang="ko-KR" altLang="en-US"/>
              <a:t>버린 이유도 사이클이라고 분명히 쓰면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가중치가 음수여도 최소 신장 트리에서는 사용할 수 있습니다</a:t>
            </a:r>
            <a:r>
              <a:rPr lang="en-US" altLang="ko-KR"/>
              <a:t>. </a:t>
            </a:r>
            <a:r>
              <a:rPr lang="ko-KR" altLang="en-US"/>
              <a:t>이 삼각형에서는 마이너스 삼인 에이비가 가장 싸고</a:t>
            </a:r>
            <a:r>
              <a:rPr lang="en-US" altLang="ko-KR"/>
              <a:t>, </a:t>
            </a:r>
            <a:r>
              <a:rPr lang="ko-KR" altLang="en-US"/>
              <a:t>그다음이 일인 비씨입니다</a:t>
            </a:r>
            <a:r>
              <a:rPr lang="en-US" altLang="ko-KR"/>
              <a:t>. </a:t>
            </a:r>
            <a:r>
              <a:rPr lang="ko-KR" altLang="en-US"/>
              <a:t>둘을 선택하면 세 정점이 연결되고 필요한 두 간선을 채웠습니다</a:t>
            </a:r>
            <a:r>
              <a:rPr lang="en-US" altLang="ko-KR"/>
              <a:t>. </a:t>
            </a:r>
            <a:r>
              <a:rPr lang="ko-KR" altLang="en-US"/>
              <a:t>합은 마이너스 삼 더하기 일로 마이너스 이입니다</a:t>
            </a:r>
            <a:r>
              <a:rPr lang="en-US" altLang="ko-KR"/>
              <a:t>. </a:t>
            </a:r>
            <a:r>
              <a:rPr lang="ko-KR" altLang="en-US"/>
              <a:t>크루스칼은 연결 비용의 합을 줄이므로 음수 간선이 오히려 유리할 수 있습니다</a:t>
            </a:r>
            <a:r>
              <a:rPr lang="en-US" altLang="ko-KR"/>
              <a:t>. </a:t>
            </a:r>
            <a:r>
              <a:rPr lang="ko-KR" altLang="en-US"/>
              <a:t>뒤에서 볼 다익스트라의 음수 간선 제한을 최소 신장 트리에도 똑같이 적용하면 안 됩니다</a:t>
            </a:r>
            <a:r>
              <a:rPr lang="en-US" altLang="ko-KR"/>
              <a:t>. </a:t>
            </a:r>
            <a:r>
              <a:rPr lang="ko-KR" altLang="en-US"/>
              <a:t>두 알고리즘은 풀려는 목표가 다릅니다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다익스트라는 출발점 하나에서 다른 모든 정점까지의 최단 거리를 구합니다</a:t>
            </a:r>
            <a:r>
              <a:rPr lang="en-US" altLang="ko-KR"/>
              <a:t>. dist</a:t>
            </a:r>
            <a:r>
              <a:rPr lang="ko-KR" altLang="en-US"/>
              <a:t>에는 지금까지 발견한 경로 중 가장 짧은 거리만 저장합니다</a:t>
            </a:r>
            <a:r>
              <a:rPr lang="en-US" altLang="ko-KR"/>
              <a:t>. </a:t>
            </a:r>
            <a:r>
              <a:rPr lang="ko-KR" altLang="en-US"/>
              <a:t>처음에는 출발점이 영이고 나머지는 아직 길을 모르므로 무한대로 둡니다</a:t>
            </a:r>
            <a:r>
              <a:rPr lang="en-US" altLang="ko-KR"/>
              <a:t>. </a:t>
            </a:r>
            <a:r>
              <a:rPr lang="ko-KR" altLang="en-US"/>
              <a:t>확정한다는 것은 그 값이 더 줄지 않는다고 결론 내리는 것입니다</a:t>
            </a:r>
            <a:r>
              <a:rPr lang="en-US" altLang="ko-KR"/>
              <a:t>. </a:t>
            </a:r>
            <a:r>
              <a:rPr lang="ko-KR" altLang="en-US"/>
              <a:t>매번 아직 확정하지 않은 정점 중 </a:t>
            </a:r>
            <a:r>
              <a:rPr lang="en-US" altLang="ko-KR"/>
              <a:t>dist</a:t>
            </a:r>
            <a:r>
              <a:rPr lang="ko-KR" altLang="en-US"/>
              <a:t>가 가장 작은 곳을 골라 확정합니다</a:t>
            </a:r>
            <a:r>
              <a:rPr lang="en-US" altLang="ko-KR"/>
              <a:t>. </a:t>
            </a:r>
            <a:r>
              <a:rPr lang="ko-KR" altLang="en-US"/>
              <a:t>선 하나의 비용이 가장 작은 곳을 고르는 것이 아니라</a:t>
            </a:r>
            <a:r>
              <a:rPr lang="en-US" altLang="ko-KR"/>
              <a:t>, </a:t>
            </a:r>
            <a:r>
              <a:rPr lang="ko-KR" altLang="en-US"/>
              <a:t>출발점부터 누적한 거리가 가장 작은 곳이라는 점이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편의점까지 현재 이 분</a:t>
            </a:r>
            <a:r>
              <a:rPr lang="en-US" altLang="ko-KR"/>
              <a:t>, </a:t>
            </a:r>
            <a:r>
              <a:rPr lang="ko-KR" altLang="en-US"/>
              <a:t>학교까지 십 분이라고 합시다</a:t>
            </a:r>
            <a:r>
              <a:rPr lang="en-US" altLang="ko-KR"/>
              <a:t>. </a:t>
            </a:r>
            <a:r>
              <a:rPr lang="ko-KR" altLang="en-US"/>
              <a:t>편의점보다 더 멀리 있는 학교를 거쳐 돌아오면</a:t>
            </a:r>
            <a:r>
              <a:rPr lang="en-US" altLang="ko-KR"/>
              <a:t>, </a:t>
            </a:r>
            <a:r>
              <a:rPr lang="ko-KR" altLang="en-US"/>
              <a:t>학교까지의 십 분에 추가 비용을 더해야 합니다</a:t>
            </a:r>
            <a:r>
              <a:rPr lang="en-US" altLang="ko-KR"/>
              <a:t>. </a:t>
            </a:r>
            <a:r>
              <a:rPr lang="ko-KR" altLang="en-US"/>
              <a:t>추가 비용이 영 이상이면 이 분보다 짧아질 수 없습니다</a:t>
            </a:r>
            <a:r>
              <a:rPr lang="en-US" altLang="ko-KR"/>
              <a:t>. </a:t>
            </a:r>
            <a:r>
              <a:rPr lang="ko-KR" altLang="en-US"/>
              <a:t>이 때문에 가장 가까운 미확정 정점의 거리를 확정할 수 있습니다</a:t>
            </a:r>
            <a:r>
              <a:rPr lang="en-US" altLang="ko-KR"/>
              <a:t>. </a:t>
            </a:r>
            <a:r>
              <a:rPr lang="ko-KR" altLang="en-US"/>
              <a:t>하지만 학교에서 편의점으로 가는 비용이 마이너스 구라면 십에 마이너스 구를 더해 일 분이 됩니다</a:t>
            </a:r>
            <a:r>
              <a:rPr lang="en-US" altLang="ko-KR"/>
              <a:t>. </a:t>
            </a:r>
            <a:r>
              <a:rPr lang="ko-KR" altLang="en-US"/>
              <a:t>음수 비용이 있으면 이 확정 논리가 깨집니다</a:t>
            </a:r>
            <a:r>
              <a:rPr lang="en-US" altLang="ko-KR"/>
              <a:t>. </a:t>
            </a:r>
            <a:r>
              <a:rPr lang="ko-KR" altLang="en-US"/>
              <a:t>다익스트라의 조건은 모든 간선 비용이 영 이상이라는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완화는 다른 정점을 거쳐 가는 길이 더 짧으면 저장된 거리를 줄이는 연산입니다</a:t>
            </a:r>
            <a:r>
              <a:rPr lang="en-US" altLang="ko-KR"/>
              <a:t>. </a:t>
            </a:r>
            <a:r>
              <a:rPr lang="ko-KR" altLang="en-US"/>
              <a:t>유까지 칠이 걸리고 유에서 브이로 가는 간선이 삼이면</a:t>
            </a:r>
            <a:r>
              <a:rPr lang="en-US" altLang="ko-KR"/>
              <a:t>, </a:t>
            </a:r>
            <a:r>
              <a:rPr lang="ko-KR" altLang="en-US"/>
              <a:t>유를 거쳐 브이로 가는 후보 거리는 칠 더하기 삼으로 십입니다</a:t>
            </a:r>
            <a:r>
              <a:rPr lang="en-US" altLang="ko-KR"/>
              <a:t>. </a:t>
            </a:r>
            <a:r>
              <a:rPr lang="ko-KR" altLang="en-US"/>
              <a:t>브이까지 기존 거리가 십오라면 새 후보 십이 더 작으니 십으로 고칩니다</a:t>
            </a:r>
            <a:r>
              <a:rPr lang="en-US" altLang="ko-KR"/>
              <a:t>. </a:t>
            </a:r>
            <a:r>
              <a:rPr lang="ko-KR" altLang="en-US"/>
              <a:t>반대로 기존 값이 구였다면 후보 십이 더 크므로 구를 유지합니다</a:t>
            </a:r>
            <a:r>
              <a:rPr lang="en-US" altLang="ko-KR"/>
              <a:t>. </a:t>
            </a:r>
            <a:r>
              <a:rPr lang="ko-KR" altLang="en-US"/>
              <a:t>간선 값 삼만 저장하는 것도 아니고</a:t>
            </a:r>
            <a:r>
              <a:rPr lang="en-US" altLang="ko-KR"/>
              <a:t>, </a:t>
            </a:r>
            <a:r>
              <a:rPr lang="ko-KR" altLang="en-US"/>
              <a:t>기존 십오에 삼을 더하는 것도 아닙니다</a:t>
            </a:r>
            <a:r>
              <a:rPr lang="en-US" altLang="ko-KR"/>
              <a:t>. </a:t>
            </a:r>
            <a:r>
              <a:rPr lang="ko-KR" altLang="en-US"/>
              <a:t>출발점에서 유까지의 거리와 그다음 간선 비용을 더한 후보를 비교해야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출발하는 예제입니다</a:t>
            </a:r>
            <a:r>
              <a:rPr lang="en-US" altLang="ko-KR"/>
              <a:t>. </a:t>
            </a:r>
            <a:r>
              <a:rPr lang="ko-KR" altLang="en-US"/>
              <a:t>에이까지 거리는 영이고 나머지는 아직 모릅니다</a:t>
            </a:r>
            <a:r>
              <a:rPr lang="en-US" altLang="ko-KR"/>
              <a:t>. </a:t>
            </a:r>
            <a:r>
              <a:rPr lang="ko-KR" altLang="en-US"/>
              <a:t>무한대는 도달할 수 없다고 확정했다는 뜻이 아니라 아직 유한한 경로를 찾지 못했다는 초기 표시입니다</a:t>
            </a:r>
            <a:r>
              <a:rPr lang="en-US" altLang="ko-KR"/>
              <a:t>. </a:t>
            </a:r>
            <a:r>
              <a:rPr lang="ko-KR" altLang="en-US"/>
              <a:t>모든 정점은 아직 미확정이고</a:t>
            </a:r>
            <a:r>
              <a:rPr lang="en-US" altLang="ko-KR"/>
              <a:t>, </a:t>
            </a:r>
            <a:r>
              <a:rPr lang="ko-KR" altLang="en-US"/>
              <a:t>그중 가장 작은 값이 영인 에이를 먼저 고릅니다</a:t>
            </a:r>
            <a:r>
              <a:rPr lang="en-US" altLang="ko-KR"/>
              <a:t>. </a:t>
            </a:r>
            <a:r>
              <a:rPr lang="ko-KR" altLang="en-US"/>
              <a:t>정점 옆 숫자는 그 점으로 들어오는 간선 하나의 비용이 아니라 출발점 에이부터 지금까지 찾은 누적 거리입니다</a:t>
            </a:r>
            <a:r>
              <a:rPr lang="en-US" altLang="ko-KR"/>
              <a:t>. </a:t>
            </a:r>
            <a:r>
              <a:rPr lang="ko-KR" altLang="en-US"/>
              <a:t>다음 화면에서 에이에서 직접 갈 수 있는 점들의 값을 바꿔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비로 가면 팔</a:t>
            </a:r>
            <a:r>
              <a:rPr lang="en-US" altLang="ko-KR"/>
              <a:t>, </a:t>
            </a:r>
            <a:r>
              <a:rPr lang="ko-KR" altLang="en-US"/>
              <a:t>씨로 가면 일</a:t>
            </a:r>
            <a:r>
              <a:rPr lang="en-US" altLang="ko-KR"/>
              <a:t>, </a:t>
            </a:r>
            <a:r>
              <a:rPr lang="ko-KR" altLang="en-US"/>
              <a:t>디로 가면 이입니다</a:t>
            </a:r>
            <a:r>
              <a:rPr lang="en-US" altLang="ko-KR"/>
              <a:t>. </a:t>
            </a:r>
            <a:r>
              <a:rPr lang="ko-KR" altLang="en-US"/>
              <a:t>출발점 거리가 영이므로 각 간선 값을 더한 이 값들이 첫 후보가 됩니다</a:t>
            </a:r>
            <a:r>
              <a:rPr lang="en-US" altLang="ko-KR"/>
              <a:t>. </a:t>
            </a:r>
            <a:r>
              <a:rPr lang="ko-KR" altLang="en-US"/>
              <a:t>모두 무한대보다 작아서 저장합니다</a:t>
            </a:r>
            <a:r>
              <a:rPr lang="en-US" altLang="ko-KR"/>
              <a:t>. </a:t>
            </a:r>
            <a:r>
              <a:rPr lang="ko-KR" altLang="en-US"/>
              <a:t>이제 미확정 중 가장 작은 값은 씨의 일입니다</a:t>
            </a:r>
            <a:r>
              <a:rPr lang="en-US" altLang="ko-KR"/>
              <a:t>. </a:t>
            </a:r>
            <a:r>
              <a:rPr lang="ko-KR" altLang="en-US"/>
              <a:t>그림에서 선의 모양이나 알파벳 순서로 다음 정점을 고르는 것이 아닙니다</a:t>
            </a:r>
            <a:r>
              <a:rPr lang="en-US" altLang="ko-KR"/>
              <a:t>. </a:t>
            </a:r>
            <a:r>
              <a:rPr lang="ko-KR" altLang="en-US"/>
              <a:t>표에서 미확정인 행의 </a:t>
            </a:r>
            <a:r>
              <a:rPr lang="en-US" altLang="ko-KR"/>
              <a:t>dist</a:t>
            </a:r>
            <a:r>
              <a:rPr lang="ko-KR" altLang="en-US"/>
              <a:t>를 비교합니다</a:t>
            </a:r>
            <a:r>
              <a:rPr lang="en-US" altLang="ko-KR"/>
              <a:t>. </a:t>
            </a:r>
            <a:r>
              <a:rPr lang="ko-KR" altLang="en-US"/>
              <a:t>다음에는 씨를 확정하고 씨에서 나가는 간선으로 다시 더 짧은 길을 찾겠습니다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씨까지 일이고 씨에서 비로 가는 비용이 오이므로</a:t>
            </a:r>
            <a:r>
              <a:rPr lang="en-US" altLang="ko-KR"/>
              <a:t>, </a:t>
            </a:r>
            <a:r>
              <a:rPr lang="ko-KR" altLang="en-US"/>
              <a:t>씨를 거치는 비까지 거리는 육입니다</a:t>
            </a:r>
            <a:r>
              <a:rPr lang="en-US" altLang="ko-KR"/>
              <a:t>. </a:t>
            </a:r>
            <a:r>
              <a:rPr lang="ko-KR" altLang="en-US"/>
              <a:t>기존 팔보다 작아서 비의 값을 육으로 줄입니다</a:t>
            </a:r>
            <a:r>
              <a:rPr lang="en-US" altLang="ko-KR"/>
              <a:t>. </a:t>
            </a:r>
            <a:r>
              <a:rPr lang="ko-KR" altLang="en-US"/>
              <a:t>씨에서 디로 가면 일 더하기 이로 삼이지만</a:t>
            </a:r>
            <a:r>
              <a:rPr lang="en-US" altLang="ko-KR"/>
              <a:t>, </a:t>
            </a:r>
            <a:r>
              <a:rPr lang="ko-KR" altLang="en-US"/>
              <a:t>디에는 이미 이가 저장되어 있습니다</a:t>
            </a:r>
            <a:r>
              <a:rPr lang="en-US" altLang="ko-KR"/>
              <a:t>. </a:t>
            </a:r>
            <a:r>
              <a:rPr lang="ko-KR" altLang="en-US"/>
              <a:t>삼은 더 크므로 바꾸지 않습니다</a:t>
            </a:r>
            <a:r>
              <a:rPr lang="en-US" altLang="ko-KR"/>
              <a:t>. </a:t>
            </a:r>
            <a:r>
              <a:rPr lang="ko-KR" altLang="en-US"/>
              <a:t>같은 단계에서도 어떤 이웃은 갱신되고 다른 이웃은 그대로일 수 있습니다</a:t>
            </a:r>
            <a:r>
              <a:rPr lang="en-US" altLang="ko-KR"/>
              <a:t>. </a:t>
            </a:r>
            <a:r>
              <a:rPr lang="ko-KR" altLang="en-US"/>
              <a:t>이후에는 디의 이를 확정해 이를 거쳐 이의 거리를 오로 만들고</a:t>
            </a:r>
            <a:r>
              <a:rPr lang="en-US" altLang="ko-KR"/>
              <a:t>, </a:t>
            </a:r>
            <a:r>
              <a:rPr lang="ko-KR" altLang="en-US"/>
              <a:t>그다음 이에서 에프로 가는 길을 통해 에프를 육으로 만듭니다</a:t>
            </a:r>
            <a:r>
              <a:rPr lang="en-US" altLang="ko-KR"/>
              <a:t>. </a:t>
            </a:r>
            <a:r>
              <a:rPr lang="ko-KR" altLang="en-US"/>
              <a:t>다음 화면에서 최종 결과를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 거리는 에이 영</a:t>
            </a:r>
            <a:r>
              <a:rPr lang="en-US" altLang="ko-KR"/>
              <a:t>, </a:t>
            </a:r>
            <a:r>
              <a:rPr lang="ko-KR" altLang="en-US"/>
              <a:t>비 육</a:t>
            </a:r>
            <a:r>
              <a:rPr lang="en-US" altLang="ko-KR"/>
              <a:t>, </a:t>
            </a:r>
            <a:r>
              <a:rPr lang="ko-KR" altLang="en-US"/>
              <a:t>씨 일</a:t>
            </a:r>
            <a:r>
              <a:rPr lang="en-US" altLang="ko-KR"/>
              <a:t>, </a:t>
            </a:r>
            <a:r>
              <a:rPr lang="ko-KR" altLang="en-US"/>
              <a:t>디 이</a:t>
            </a:r>
            <a:r>
              <a:rPr lang="en-US" altLang="ko-KR"/>
              <a:t>, </a:t>
            </a:r>
            <a:r>
              <a:rPr lang="ko-KR" altLang="en-US"/>
              <a:t>이 오</a:t>
            </a:r>
            <a:r>
              <a:rPr lang="en-US" altLang="ko-KR"/>
              <a:t>, </a:t>
            </a:r>
            <a:r>
              <a:rPr lang="ko-KR" altLang="en-US"/>
              <a:t>에프 육입니다</a:t>
            </a:r>
            <a:r>
              <a:rPr lang="en-US" altLang="ko-KR"/>
              <a:t>. </a:t>
            </a:r>
            <a:r>
              <a:rPr lang="ko-KR" altLang="en-US"/>
              <a:t>예를 들어 에프까지는 에이에서 디로 이</a:t>
            </a:r>
            <a:r>
              <a:rPr lang="en-US" altLang="ko-KR"/>
              <a:t>, </a:t>
            </a:r>
            <a:r>
              <a:rPr lang="ko-KR" altLang="en-US"/>
              <a:t>디에서 이로 삼</a:t>
            </a:r>
            <a:r>
              <a:rPr lang="en-US" altLang="ko-KR"/>
              <a:t>, </a:t>
            </a:r>
            <a:r>
              <a:rPr lang="ko-KR" altLang="en-US"/>
              <a:t>이에서 에프로 일을 더해 육입니다</a:t>
            </a:r>
            <a:r>
              <a:rPr lang="en-US" altLang="ko-KR"/>
              <a:t>. </a:t>
            </a:r>
            <a:r>
              <a:rPr lang="ko-KR" altLang="en-US"/>
              <a:t>비와 에프가 같은 육이라면 둘 중 어느 것을 먼저 확정해도 이 그래프의 최종 거리는 같습니다</a:t>
            </a:r>
            <a:r>
              <a:rPr lang="en-US" altLang="ko-KR"/>
              <a:t>. </a:t>
            </a:r>
            <a:r>
              <a:rPr lang="ko-KR" altLang="en-US"/>
              <a:t>각 정점의 </a:t>
            </a:r>
            <a:r>
              <a:rPr lang="en-US" altLang="ko-KR"/>
              <a:t>dist</a:t>
            </a:r>
            <a:r>
              <a:rPr lang="ko-KR" altLang="en-US"/>
              <a:t>는 그 정점까지의 최단 거리이지</a:t>
            </a:r>
            <a:r>
              <a:rPr lang="en-US" altLang="ko-KR"/>
              <a:t>, </a:t>
            </a:r>
            <a:r>
              <a:rPr lang="ko-KR" altLang="en-US"/>
              <a:t>표의 모든 값을 더한 것이 이 문제의 답은 아닙니다</a:t>
            </a:r>
            <a:r>
              <a:rPr lang="en-US" altLang="ko-KR"/>
              <a:t>. </a:t>
            </a:r>
            <a:r>
              <a:rPr lang="ko-KR" altLang="en-US"/>
              <a:t>더 먼 길을 발견했을 때는 바꾸지 않고 더 짧은 후보만 반영했다는 것도 다시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의사코드는 가장 가까운 미확정 정점을 선택하고</a:t>
            </a:r>
            <a:r>
              <a:rPr lang="en-US" altLang="ko-KR"/>
              <a:t>, </a:t>
            </a:r>
            <a:r>
              <a:rPr lang="ko-KR" altLang="en-US"/>
              <a:t>확정한 다음</a:t>
            </a:r>
            <a:r>
              <a:rPr lang="en-US" altLang="ko-KR"/>
              <a:t>, </a:t>
            </a:r>
            <a:r>
              <a:rPr lang="ko-KR" altLang="en-US"/>
              <a:t>그 정점에서 나가는 간선을 완화하는 반복입니다</a:t>
            </a:r>
            <a:r>
              <a:rPr lang="en-US" altLang="ko-KR"/>
              <a:t>. </a:t>
            </a:r>
            <a:r>
              <a:rPr lang="ko-KR" altLang="en-US"/>
              <a:t>남은 정점의 거리가 모두 무한대이면 출발점에서 더 갈 수 있는 곳이 없으므로 멈춥니다</a:t>
            </a:r>
            <a:r>
              <a:rPr lang="en-US" altLang="ko-KR"/>
              <a:t>. </a:t>
            </a:r>
            <a:r>
              <a:rPr lang="ko-KR" altLang="en-US"/>
              <a:t>배열을 훑어 최솟값을 찾는 데 정점 수만큼 비교하고</a:t>
            </a:r>
            <a:r>
              <a:rPr lang="en-US" altLang="ko-KR"/>
              <a:t>, </a:t>
            </a:r>
            <a:r>
              <a:rPr lang="ko-KR" altLang="en-US"/>
              <a:t>이것을 정점 수만큼 반복하면 브이 제곱 시간입니다</a:t>
            </a:r>
            <a:r>
              <a:rPr lang="en-US" altLang="ko-KR"/>
              <a:t>. </a:t>
            </a:r>
            <a:r>
              <a:rPr lang="ko-KR" altLang="en-US"/>
              <a:t>인접 행렬에서는 이웃 확인도 한 행을 훑으므로 같은 범위 안에 들어갑니다</a:t>
            </a:r>
            <a:r>
              <a:rPr lang="en-US" altLang="ko-KR"/>
              <a:t>. </a:t>
            </a:r>
            <a:r>
              <a:rPr lang="ko-KR" altLang="en-US"/>
              <a:t>확정한 정점을 다시 고치지 않는 이 방식이 왜 음수 간선에서 실패하는지 뒤의 반례와 연결해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최소 신장 트리와 최단 경로 트리를 비교하겠습니다</a:t>
            </a:r>
            <a:r>
              <a:rPr lang="en-US" altLang="ko-KR"/>
              <a:t>. </a:t>
            </a:r>
            <a:r>
              <a:rPr lang="ko-KR" altLang="en-US"/>
              <a:t>왼쪽은 비용 이인 두 간선을 골라 전체 설치 비용을 사로 줄였습니다</a:t>
            </a:r>
            <a:r>
              <a:rPr lang="en-US" altLang="ko-KR"/>
              <a:t>. </a:t>
            </a:r>
            <a:r>
              <a:rPr lang="ko-KR" altLang="en-US"/>
              <a:t>하지만 에이에서 씨까지는 두 간선을 지나 사가 걸립니다</a:t>
            </a:r>
            <a:r>
              <a:rPr lang="en-US" altLang="ko-KR"/>
              <a:t>. </a:t>
            </a:r>
            <a:r>
              <a:rPr lang="ko-KR" altLang="en-US"/>
              <a:t>오른쪽은 에이에서 씨로 직접 가는 비용 삼인 간선을 사용해 에이에서 씨까지를 삼으로 줄였습니다</a:t>
            </a:r>
            <a:r>
              <a:rPr lang="en-US" altLang="ko-KR"/>
              <a:t>. </a:t>
            </a:r>
            <a:r>
              <a:rPr lang="ko-KR" altLang="en-US"/>
              <a:t>대신 선택된 간선들의 합은 오입니다</a:t>
            </a:r>
            <a:r>
              <a:rPr lang="en-US" altLang="ko-KR"/>
              <a:t>. </a:t>
            </a:r>
            <a:r>
              <a:rPr lang="ko-KR" altLang="en-US"/>
              <a:t>전체 연결선 비용을 최소로 하는 목표와</a:t>
            </a:r>
            <a:r>
              <a:rPr lang="en-US" altLang="ko-KR"/>
              <a:t>, </a:t>
            </a:r>
            <a:r>
              <a:rPr lang="ko-KR" altLang="en-US"/>
              <a:t>한 출발점에서 각 정점까지의 거리를 최소로 하는 목표가 다르므로 같은 그래프에서도 서로 다른 간선을 고를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작은 반례는 에스에서 에이로 이</a:t>
            </a:r>
            <a:r>
              <a:rPr lang="en-US" altLang="ko-KR"/>
              <a:t>, </a:t>
            </a:r>
            <a:r>
              <a:rPr lang="ko-KR" altLang="en-US"/>
              <a:t>에스에서 비로 오</a:t>
            </a:r>
            <a:r>
              <a:rPr lang="en-US" altLang="ko-KR"/>
              <a:t>, </a:t>
            </a:r>
            <a:r>
              <a:rPr lang="ko-KR" altLang="en-US"/>
              <a:t>비에서 에이로 마이너스 사인 방향 간선을 가집니다</a:t>
            </a:r>
            <a:r>
              <a:rPr lang="en-US" altLang="ko-KR"/>
              <a:t>. </a:t>
            </a:r>
            <a:r>
              <a:rPr lang="ko-KR" altLang="en-US"/>
              <a:t>먼저 에이를 이로 확정하고 나중에 비를 오로 처리하면</a:t>
            </a:r>
            <a:r>
              <a:rPr lang="en-US" altLang="ko-KR"/>
              <a:t>, </a:t>
            </a:r>
            <a:r>
              <a:rPr lang="ko-KR" altLang="en-US"/>
              <a:t>비를 거쳐 에이로 가는 후보가 오 빼기 사로 일이라는 것을 뒤늦게 알게 됩니다</a:t>
            </a:r>
            <a:r>
              <a:rPr lang="en-US" altLang="ko-KR"/>
              <a:t>. </a:t>
            </a:r>
            <a:r>
              <a:rPr lang="ko-KR" altLang="en-US"/>
              <a:t>하지만 이미 확정한 에이를 고치지 않는 다익스트라는 이를 놓칩니다</a:t>
            </a:r>
            <a:r>
              <a:rPr lang="en-US" altLang="ko-KR"/>
              <a:t>. </a:t>
            </a:r>
            <a:r>
              <a:rPr lang="ko-KR" altLang="en-US"/>
              <a:t>사이클이 없어도 음수 간선 때문에 실패할 수 있습니다</a:t>
            </a:r>
            <a:r>
              <a:rPr lang="en-US" altLang="ko-KR"/>
              <a:t>. </a:t>
            </a:r>
            <a:r>
              <a:rPr lang="ko-KR" altLang="en-US"/>
              <a:t>따라서 다익스트라를 적용하기 전에 음수 비용이 있는지 확인해야 하고</a:t>
            </a:r>
            <a:r>
              <a:rPr lang="en-US" altLang="ko-KR"/>
              <a:t>, </a:t>
            </a:r>
            <a:r>
              <a:rPr lang="ko-KR" altLang="en-US"/>
              <a:t>그런 경우에는 벨만 포드 같은 다른 방법을 검토합니다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선택 기준을 정한 뒤 그 선택을 되돌리지 않는 그리디를 살펴봤습니다</a:t>
            </a:r>
            <a:r>
              <a:rPr lang="en-US" altLang="ko-KR"/>
              <a:t>. </a:t>
            </a:r>
            <a:r>
              <a:rPr lang="ko-KR" altLang="en-US"/>
              <a:t>동전에서는 배수 관계</a:t>
            </a:r>
            <a:r>
              <a:rPr lang="en-US" altLang="ko-KR"/>
              <a:t>, </a:t>
            </a:r>
            <a:r>
              <a:rPr lang="ko-KR" altLang="en-US"/>
              <a:t>회의에서는 빠른 종료</a:t>
            </a:r>
            <a:r>
              <a:rPr lang="en-US" altLang="ko-KR"/>
              <a:t>, </a:t>
            </a:r>
            <a:r>
              <a:rPr lang="ko-KR" altLang="en-US"/>
              <a:t>분할 배낭에서는 높은 무게당 가치가 안전한 선택의 근거였습니다</a:t>
            </a:r>
            <a:r>
              <a:rPr lang="en-US" altLang="ko-KR"/>
              <a:t>. </a:t>
            </a:r>
            <a:r>
              <a:rPr lang="ko-KR" altLang="en-US"/>
              <a:t>반면 일반 동전과 영일 배낭은 작은 반례로 같은 기준이 실패함을 확인했습니다</a:t>
            </a:r>
            <a:r>
              <a:rPr lang="en-US" altLang="ko-KR"/>
              <a:t>. </a:t>
            </a:r>
            <a:r>
              <a:rPr lang="ko-KR" altLang="en-US"/>
              <a:t>크루스칼은 모든 정점을 연결하는 전체 비용을 줄이고</a:t>
            </a:r>
            <a:r>
              <a:rPr lang="en-US" altLang="ko-KR"/>
              <a:t>, </a:t>
            </a:r>
            <a:r>
              <a:rPr lang="ko-KR" altLang="en-US"/>
              <a:t>다익스트라는 한 출발점에서 각 정점까지의 거리를 줄입니다</a:t>
            </a:r>
            <a:r>
              <a:rPr lang="en-US" altLang="ko-KR"/>
              <a:t>. </a:t>
            </a:r>
            <a:r>
              <a:rPr lang="ko-KR" altLang="en-US"/>
              <a:t>다익스트라는 모든 간선 비용이 영 이상일 때 적용할 수 있습니다</a:t>
            </a:r>
            <a:r>
              <a:rPr lang="en-US" altLang="ko-KR"/>
              <a:t>. </a:t>
            </a:r>
            <a:r>
              <a:rPr lang="ko-KR" altLang="en-US"/>
              <a:t>문제를 볼 때는 무엇을 최소화하거나 최대화하는지부터 확인하고</a:t>
            </a:r>
            <a:r>
              <a:rPr lang="en-US" altLang="ko-KR"/>
              <a:t>, </a:t>
            </a:r>
            <a:r>
              <a:rPr lang="ko-KR" altLang="en-US"/>
              <a:t>선택 기준과 그 기준이 안전한 이유를 함께 생각해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마지막으로 언어 차이를 정리하겠습니다</a:t>
            </a:r>
            <a:r>
              <a:rPr lang="en-US" altLang="ko-KR"/>
              <a:t>. </a:t>
            </a:r>
            <a:r>
              <a:rPr lang="ko-KR" altLang="en-US"/>
              <a:t>동전의 몫은 </a:t>
            </a:r>
            <a:r>
              <a:rPr lang="en-US" altLang="ko-KR"/>
              <a:t>Python</a:t>
            </a:r>
            <a:r>
              <a:rPr lang="ko-KR" altLang="en-US"/>
              <a:t>에서 슬래시 두 개</a:t>
            </a:r>
            <a:r>
              <a:rPr lang="en-US" altLang="ko-KR"/>
              <a:t>, C</a:t>
            </a:r>
            <a:r>
              <a:rPr lang="ko-KR" altLang="en-US"/>
              <a:t>에서 정수 나눗셈이고 나머지는 둘 다 퍼센트입니다</a:t>
            </a:r>
            <a:r>
              <a:rPr lang="en-US" altLang="ko-KR"/>
              <a:t>. </a:t>
            </a:r>
            <a:r>
              <a:rPr lang="ko-KR" altLang="en-US"/>
              <a:t>활동 선택에서는 두 언어 모두 조건을 통과한 경우에만 개수와 마지막 종료 시각을 바꿉니다</a:t>
            </a:r>
            <a:r>
              <a:rPr lang="en-US" altLang="ko-KR"/>
              <a:t>. </a:t>
            </a:r>
            <a:r>
              <a:rPr lang="ko-KR" altLang="en-US"/>
              <a:t>큰 누적합은 </a:t>
            </a:r>
            <a:r>
              <a:rPr lang="en-US" altLang="ko-KR"/>
              <a:t>Python </a:t>
            </a:r>
            <a:r>
              <a:rPr lang="ko-KR" altLang="en-US"/>
              <a:t>정수가 처리하지만 </a:t>
            </a:r>
            <a:r>
              <a:rPr lang="en-US" altLang="ko-KR"/>
              <a:t>C</a:t>
            </a:r>
            <a:r>
              <a:rPr lang="ko-KR" altLang="en-US"/>
              <a:t>에서는 </a:t>
            </a:r>
            <a:r>
              <a:rPr lang="en-US" altLang="ko-KR"/>
              <a:t>long long</a:t>
            </a:r>
            <a:r>
              <a:rPr lang="ko-KR" altLang="en-US"/>
              <a:t>이 필요합니다</a:t>
            </a:r>
            <a:r>
              <a:rPr lang="en-US" altLang="ko-KR"/>
              <a:t>. </a:t>
            </a:r>
            <a:r>
              <a:rPr lang="ko-KR" altLang="en-US"/>
              <a:t>그래프의 영 비용 간선과 간선이 없다는 표시도 구분해야 합니다</a:t>
            </a:r>
            <a:r>
              <a:rPr lang="en-US" altLang="ko-KR"/>
              <a:t>. </a:t>
            </a:r>
            <a:r>
              <a:rPr lang="ko-KR" altLang="en-US"/>
              <a:t>큰 수로 무한대를 표현할 때는 도달 가능 여부와 덧셈 범위를 확인해야 합니다</a:t>
            </a:r>
            <a:r>
              <a:rPr lang="en-US" altLang="ko-KR"/>
              <a:t>. </a:t>
            </a:r>
            <a:r>
              <a:rPr lang="ko-KR" altLang="en-US"/>
              <a:t>긴 정렬 함수와 그래프 전체 구현은 보충자료에서 다시 볼 수 있습니다</a:t>
            </a:r>
            <a:r>
              <a:rPr lang="en-US" altLang="ko-KR"/>
              <a:t>. </a:t>
            </a:r>
            <a:r>
              <a:rPr lang="ko-KR" altLang="en-US"/>
              <a:t>이제 헷갈린 예제나 코드 조건에 대해 질문을 받겠습니다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512064"/>
            <a:ext cx="9528048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200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그림으로 쉽게 설명하는 파이썬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612648" y="1060704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4" name="직사각형 5"/>
          <p:cNvSpPr/>
          <p:nvPr/>
        </p:nvSpPr>
        <p:spPr>
          <a:xfrm>
            <a:off x="612648" y="1947672"/>
            <a:ext cx="10003536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3108960"/>
            <a:ext cx="10972800" cy="9509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그리디 알고리즘</a:t>
            </a:r>
          </a:p>
        </p:txBody>
      </p:sp>
      <p:sp>
        <p:nvSpPr>
          <p:cNvPr id="6" name="직사각형 7"/>
          <p:cNvSpPr/>
          <p:nvPr/>
        </p:nvSpPr>
        <p:spPr>
          <a:xfrm>
            <a:off x="649224" y="4645152"/>
            <a:ext cx="102870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75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649224" y="5294376"/>
            <a:ext cx="10479024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75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지금 이 순간 가장 좋아 보이는 것을 고른다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altLang="en-US" sz="105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57707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이번 장에서 배울 내용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704088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5.1   그리디의 기본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04088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5.2   거스름돈 문제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704088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5.3   활동 선택 문제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04088" y="4471416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5.4   배낭 문제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04088" y="5367528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5.5   그리디가 통하는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6345936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5.6   크루스칼 알고리즘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45936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보충   </a:t>
            </a:r>
            <a:r>
              <a:rPr lang="en-US" altLang="ko-KR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</a:t>
            </a:r>
            <a:r>
              <a:rPr lang="ko-KR" altLang="en-US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와 상세 구현</a:t>
            </a:r>
            <a:endParaRPr lang="ko-KR" altLang="en-US" sz="1950" b="0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직사각형 17"/>
          <p:cNvSpPr/>
          <p:nvPr/>
        </p:nvSpPr>
        <p:spPr>
          <a:xfrm>
            <a:off x="6345936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5.8   다익스트라 알고리즘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지금 가장 좋아 보이는 것을 고른다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1496bebe5272e4c 10"/>
          <p:cNvSpPr/>
          <p:nvPr/>
        </p:nvSpPr>
        <p:spPr>
          <a:xfrm>
            <a:off x="658368" y="1737360"/>
            <a:ext cx="5486400" cy="8321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그리디(greedy)는 '탐욕스러운'이라는 뜻입니다.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단계 지금 기준으로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좋아 보이는 것을 고릅니다.</a:t>
            </a:r>
          </a:p>
        </p:txBody>
      </p:sp>
      <p:sp>
        <p:nvSpPr>
          <p:cNvPr id="10" name="fit:80a13a6f057dd471 11"/>
          <p:cNvSpPr/>
          <p:nvPr/>
        </p:nvSpPr>
        <p:spPr>
          <a:xfrm>
            <a:off x="658368" y="2697480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후보를 다 알아도 지금 기준 하나로</a:t>
            </a:r>
          </a:p>
        </p:txBody>
      </p:sp>
      <p:sp>
        <p:nvSpPr>
          <p:cNvPr id="11" name="fit:3bf9a7125ac4dd87 12"/>
          <p:cNvSpPr/>
          <p:nvPr/>
        </p:nvSpPr>
        <p:spPr>
          <a:xfrm>
            <a:off x="841248" y="3017520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앞을 못 봐서 틀리는 것이 아닙니다.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정해 둔 기준으로만 고르기 때문입니다.</a:t>
            </a:r>
          </a:p>
        </p:txBody>
      </p:sp>
      <p:sp>
        <p:nvSpPr>
          <p:cNvPr id="12" name="fit:9195ac6c7d213c21 13"/>
          <p:cNvSpPr/>
          <p:nvPr/>
        </p:nvSpPr>
        <p:spPr>
          <a:xfrm>
            <a:off x="658368" y="3630168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것은 확정, 되돌리지 않음</a:t>
            </a:r>
          </a:p>
        </p:txBody>
      </p:sp>
      <p:sp>
        <p:nvSpPr>
          <p:cNvPr id="13" name="fit:ad44fa369eba5c64 14"/>
          <p:cNvSpPr/>
          <p:nvPr/>
        </p:nvSpPr>
        <p:spPr>
          <a:xfrm>
            <a:off x="841248" y="3950208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앞의 선택을 다시 검토하는 단계가 없습니다.</a:t>
            </a:r>
          </a:p>
        </p:txBody>
      </p:sp>
      <p:sp>
        <p:nvSpPr>
          <p:cNvPr id="14" name="fit:da5a8269f8ca6a31 15"/>
          <p:cNvSpPr/>
          <p:nvPr/>
        </p:nvSpPr>
        <p:spPr>
          <a:xfrm>
            <a:off x="658368" y="432511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완성 해를 모두 비교하지 않음</a:t>
            </a:r>
          </a:p>
        </p:txBody>
      </p:sp>
      <p:sp>
        <p:nvSpPr>
          <p:cNvPr id="15" name="fit:07e0c522ae702a04 16"/>
          <p:cNvSpPr/>
          <p:nvPr/>
        </p:nvSpPr>
        <p:spPr>
          <a:xfrm>
            <a:off x="841248" y="4645152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해를 만들어 비교하는 것은 완전탐색입니다.</a:t>
            </a:r>
          </a:p>
        </p:txBody>
      </p:sp>
      <p:sp>
        <p:nvSpPr>
          <p:cNvPr id="16" name="fit:b5070a5f4d9281a1 17"/>
          <p:cNvSpPr/>
          <p:nvPr/>
        </p:nvSpPr>
        <p:spPr>
          <a:xfrm>
            <a:off x="658368" y="5020056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되돌아보지 않아서 빠르고,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그래서 틀릴 수도 있습니다.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손님은 '지금 맛있어 보이는 것' 기준 하나로 접시를 채웠고, 내려놓지 않아 스테이크 자리가 없습니다.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최적해와 전역 최적해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52a6272df213d3a 10"/>
          <p:cNvSpPr/>
          <p:nvPr/>
        </p:nvSpPr>
        <p:spPr>
          <a:xfrm>
            <a:off x="658368" y="1737360"/>
            <a:ext cx="5486400" cy="8869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안개 낀 산에서 가장 높은 봉우리를 찾습니다.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단순한 전략은 지금보다 높은 쪽으로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걸음씩 오르는 것입니다.</a:t>
            </a:r>
          </a:p>
        </p:txBody>
      </p:sp>
      <p:sp>
        <p:nvSpPr>
          <p:cNvPr id="10" name="fit:1ffb0753febadcf7 11"/>
          <p:cNvSpPr/>
          <p:nvPr/>
        </p:nvSpPr>
        <p:spPr>
          <a:xfrm>
            <a:off x="658368" y="2752344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 (local optimum)</a:t>
            </a:r>
          </a:p>
        </p:txBody>
      </p:sp>
      <p:sp>
        <p:nvSpPr>
          <p:cNvPr id="11" name="fit:37d53c5920ddf598 12"/>
          <p:cNvSpPr/>
          <p:nvPr/>
        </p:nvSpPr>
        <p:spPr>
          <a:xfrm>
            <a:off x="841248" y="3072384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주변 어디보다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언덕 꼭대기일 수 있습니다.</a:t>
            </a:r>
          </a:p>
        </p:txBody>
      </p:sp>
      <p:sp>
        <p:nvSpPr>
          <p:cNvPr id="12" name="fit:42d16cd441148ff5 13"/>
          <p:cNvSpPr/>
          <p:nvPr/>
        </p:nvSpPr>
        <p:spPr>
          <a:xfrm>
            <a:off x="658368" y="368503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전역 최적해 (global optimum)</a:t>
            </a:r>
          </a:p>
        </p:txBody>
      </p:sp>
      <p:sp>
        <p:nvSpPr>
          <p:cNvPr id="13" name="fit:3f95fb199cdd495e 14"/>
          <p:cNvSpPr/>
          <p:nvPr/>
        </p:nvSpPr>
        <p:spPr>
          <a:xfrm>
            <a:off x="841248" y="4005072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산 전체에서 가장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우리가 원하는 답입니다.</a:t>
            </a:r>
          </a:p>
        </p:txBody>
      </p:sp>
      <p:sp>
        <p:nvSpPr>
          <p:cNvPr id="14" name="fit:53f7b557098511dc 15"/>
          <p:cNvSpPr/>
          <p:nvPr/>
        </p:nvSpPr>
        <p:spPr>
          <a:xfrm>
            <a:off x="658368" y="4617720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매 걸음의 최선이 모여도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전체의 최선이라는 보장은 없습니다.</a:t>
            </a:r>
          </a:p>
        </p:txBody>
      </p:sp>
      <p:sp>
        <p:nvSpPr>
          <p:cNvPr id="15" name="fit:d3b5250158d3bf82 16"/>
          <p:cNvSpPr/>
          <p:nvPr/>
        </p:nvSpPr>
        <p:spPr>
          <a:xfrm>
            <a:off x="658368" y="5376672"/>
            <a:ext cx="5486400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마시멜로 하나를 지금 먹는 것도 지금만 보면 최선입니다.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기다려서 두 개를 받는 쪽이 전체로는 더 좋습니다.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그림의 '국소적 최적해(Local Maximum)'는 지역 최적해(local optimum)와 같은 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알고리즘의 세 단계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e1d093f9f38c5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해답이 완성될 때까지 세 단계를 되풀이합니다.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selection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후보 중 지금 기준으로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좋은 것 하나를 고릅니다.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적정성 검사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feasibility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넣어도 제약을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어기지 않는지 확인합니다.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해답 검사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solution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모은 것이 완전한 해답인지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확인합니다. 아니면 ①로.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58368" y="3472688"/>
            <a:ext cx="1088136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greedy.pseudo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58368" y="3692144"/>
            <a:ext cx="10881360" cy="22768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GREEDY(C):                                     // C: 후보 집합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 &lt;- 빈 집합                                // 지금까지 확정한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C가 비어 있지 않고 S가 해답이 아니면:   // 해답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C에서 지금 가장 좋은 후보 x를 꺼낸다      //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 + {x}가 제약을 지키면:              // 적정성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S &lt;- S + {x}                       // 확정, 되돌리지 않음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S가 해답이면 return S else return "해 없음"</a:t>
            </a:r>
          </a:p>
        </p:txBody>
      </p:sp>
      <p:sp>
        <p:nvSpPr>
          <p:cNvPr id="23" name="fit:4a6a04f278b3d00f 24"/>
          <p:cNvSpPr/>
          <p:nvPr/>
        </p:nvSpPr>
        <p:spPr>
          <a:xfrm>
            <a:off x="658368" y="5970016"/>
            <a:ext cx="1088136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한 번 확정한 선택은 다시 검토하지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장의 지도: 통하는 문제와 통하지 않는 문제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4f3aeb49ca85f05 10"/>
          <p:cNvSpPr/>
          <p:nvPr/>
        </p:nvSpPr>
        <p:spPr>
          <a:xfrm>
            <a:off x="612648" y="1636776"/>
            <a:ext cx="1097280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'지금 가장 좋은 것 고르기'이지만,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보장하는 문제와 그렇지 않은 문제가 있습니다.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873742"/>
              </p:ext>
            </p:extLst>
          </p:nvPr>
        </p:nvGraphicFramePr>
        <p:xfrm>
          <a:off x="612648" y="2359152"/>
          <a:ext cx="10972800" cy="2880360"/>
        </p:xfrm>
        <a:graphic>
          <a:graphicData uri="http://schemas.openxmlformats.org/drawingml/2006/table">
            <a:tbl>
              <a:tblPr/>
              <a:tblGrid>
                <a:gridCol w="936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5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 단계의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(500·100·50·10원)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(1·3·4</a:t>
                      </a: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45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(회의 배정)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먼저 끝나는 회의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(쪼갤 수 있음)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(쪼갤 수 없음)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최소 신장 트리 (크루스칼)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사이클을 만들지 않는 가장 싼 간선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보충</a:t>
                      </a:r>
                      <a:endParaRPr lang="ko-KR" altLang="en-US" sz="145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외판원 순회 (TSP)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가까운 미방문 도시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시작점에서 가장 가까운 미확정 정점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(간선 비용 ≥ 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2e10945fcf72214a 12"/>
          <p:cNvSpPr/>
          <p:nvPr/>
        </p:nvSpPr>
        <p:spPr>
          <a:xfrm>
            <a:off x="612648" y="5385816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왜 어떤 문제에서는 통하고 어떤 문제에서는 통하지 않는지는 5.5절에서 두 조건으로 정리합니다.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손님에게 1,260원을 거슬러 줍니다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f521d0ebac7a65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동전은 500원, 100원, 50원, 10원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네 종류가 충분히 있습니다.</a:t>
            </a:r>
          </a:p>
        </p:txBody>
      </p:sp>
      <p:sp>
        <p:nvSpPr>
          <p:cNvPr id="10" name="fit:84e9d36e0d096130 11"/>
          <p:cNvSpPr/>
          <p:nvPr/>
        </p:nvSpPr>
        <p:spPr>
          <a:xfrm>
            <a:off x="658368" y="2459736"/>
            <a:ext cx="512064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목표: 동전 개수를 최소로</a:t>
            </a:r>
          </a:p>
        </p:txBody>
      </p:sp>
      <p:sp>
        <p:nvSpPr>
          <p:cNvPr id="11" name="fit:5604429b6d64656b 12"/>
          <p:cNvSpPr/>
          <p:nvPr/>
        </p:nvSpPr>
        <p:spPr>
          <a:xfrm>
            <a:off x="658368" y="294436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기준</a:t>
            </a:r>
          </a:p>
        </p:txBody>
      </p:sp>
      <p:sp>
        <p:nvSpPr>
          <p:cNvPr id="12" name="fit:1ef3e4624d9a65e2 13"/>
          <p:cNvSpPr/>
          <p:nvPr/>
        </p:nvSpPr>
        <p:spPr>
          <a:xfrm>
            <a:off x="841248" y="3264408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 이하의 가장 큰 동전부터 고릅니다.</a:t>
            </a:r>
          </a:p>
        </p:txBody>
      </p:sp>
      <p:sp>
        <p:nvSpPr>
          <p:cNvPr id="13" name="fit:1097b25e1a4fd204 14"/>
          <p:cNvSpPr/>
          <p:nvPr/>
        </p:nvSpPr>
        <p:spPr>
          <a:xfrm>
            <a:off x="658368" y="3639312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몫만큼</a:t>
            </a:r>
          </a:p>
        </p:txBody>
      </p:sp>
      <p:sp>
        <p:nvSpPr>
          <p:cNvPr id="14" name="fit:7e6d7cbdd0aea1c9 15"/>
          <p:cNvSpPr/>
          <p:nvPr/>
        </p:nvSpPr>
        <p:spPr>
          <a:xfrm>
            <a:off x="841248" y="3959352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동전으로 낼 수 있는 만큼 한꺼번에 냅니다.</a:t>
            </a:r>
          </a:p>
        </p:txBody>
      </p:sp>
      <p:sp>
        <p:nvSpPr>
          <p:cNvPr id="15" name="fit:0003d07ee85dd478 16"/>
          <p:cNvSpPr/>
          <p:nvPr/>
        </p:nvSpPr>
        <p:spPr>
          <a:xfrm>
            <a:off x="658368" y="433425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나머지로 반복</a:t>
            </a:r>
          </a:p>
        </p:txBody>
      </p:sp>
      <p:sp>
        <p:nvSpPr>
          <p:cNvPr id="16" name="fit:35d5aa4420cc19bc 17"/>
          <p:cNvSpPr/>
          <p:nvPr/>
        </p:nvSpPr>
        <p:spPr>
          <a:xfrm>
            <a:off x="841248" y="465429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돈으로 다음 큰 동전을 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만화의 점원도 가장 큰 500원부터 집습니다.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몫과 나머지로 한 번에 셉니다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1820f144b37717f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500원을 하나씩 빼지 않습니다.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나눗셈 한 번으로 쓸 개수와 남은 돈을 함께 구합니다.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42777"/>
              </p:ext>
            </p:extLst>
          </p:nvPr>
        </p:nvGraphicFramePr>
        <p:xfrm>
          <a:off x="612648" y="2432304"/>
          <a:ext cx="10972800" cy="109728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3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66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 (Python)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//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몫: 500원을 몇 개 쓰는가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1260 %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나머지: 다음 동전으로 넘기는 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3d52983d0c6ad268 12"/>
          <p:cNvSpPr/>
          <p:nvPr/>
        </p:nvSpPr>
        <p:spPr>
          <a:xfrm>
            <a:off x="612648" y="36758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1260 ÷ 500 = 2.52처럼 소수로 보지 않습니다. 500원 2개를 쓰고 260원이 남습니다.</a:t>
            </a:r>
          </a:p>
        </p:txBody>
      </p:sp>
      <p:graphicFrame>
        <p:nvGraphicFramePr>
          <p:cNvPr id="12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933037"/>
              </p:ext>
            </p:extLst>
          </p:nvPr>
        </p:nvGraphicFramePr>
        <p:xfrm>
          <a:off x="612648" y="4078224"/>
          <a:ext cx="10972800" cy="146304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06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세 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 이하의 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몫만큼 써도 남은 돈을 넘지 않는다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돈이 0원이면 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500원 · 1,260원에서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958b5df74709a4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1,260원 이하의 가장 큰 동전은 500원입니다.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1260 // 500 = 2, 1260 % 500 = 260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10627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 = 1,000원 ≤ 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dcde57058ce35796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500원 2개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058811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686918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260원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93f69b127ce3e3c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10원입니다. 10 // 10 = 1, 10 % 10 = 0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돈이 0원이 되어 해답이 완성됩니다.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94997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= 10원 ≤ 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0원 → 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01167c2cc1b2577d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 + 2 + 1 + 1 = 6개</a:t>
            </a:r>
          </a:p>
        </p:txBody>
      </p:sp>
      <p:sp>
        <p:nvSpPr>
          <p:cNvPr id="14" name="fit:17cbfa7f204eb63e 15"/>
          <p:cNvSpPr/>
          <p:nvPr/>
        </p:nvSpPr>
        <p:spPr>
          <a:xfrm>
            <a:off x="7909560" y="5084064"/>
            <a:ext cx="3666744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6개가 최소인 이유는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뒤의 배수 조건에서 봅니다.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890120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521208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052983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0원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금액이 아니라 동전 종류 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d165bd5a9006da3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 = 동전 종류의 수. 지금은 500, 100, 50, 10원이라 K = 4입니다.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76519"/>
              </p:ext>
            </p:extLst>
          </p:nvPr>
        </p:nvGraphicFramePr>
        <p:xfrm>
          <a:off x="612648" y="2103120"/>
          <a:ext cx="10972800" cy="1097280"/>
        </p:xfrm>
        <a:graphic>
          <a:graphicData uri="http://schemas.openxmlformats.org/drawingml/2006/table">
            <a:tbl>
              <a:tblPr/>
              <a:tblGrid>
                <a:gridCol w="3135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거슬러 줄 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몫과 나머지: 반복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하나씩 빼기: 빼는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1,260,000원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2,520번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016293f2f0d68da8 12"/>
          <p:cNvSpPr/>
          <p:nvPr/>
        </p:nvSpPr>
        <p:spPr>
          <a:xfrm>
            <a:off x="612648" y="33467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한 번: 몫과 나머지 한 번씩 → O(1)</a:t>
            </a:r>
          </a:p>
        </p:txBody>
      </p:sp>
      <p:sp>
        <p:nvSpPr>
          <p:cNvPr id="12" name="fit:39d52ade6b2bdc1d 13"/>
          <p:cNvSpPr/>
          <p:nvPr/>
        </p:nvSpPr>
        <p:spPr>
          <a:xfrm>
            <a:off x="795528" y="36758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금액이 커도 나눗셈 한 번이면 개수가 나옵니다.</a:t>
            </a:r>
          </a:p>
        </p:txBody>
      </p:sp>
      <p:sp>
        <p:nvSpPr>
          <p:cNvPr id="13" name="fit:be20a7262c44ba2a 14"/>
          <p:cNvSpPr/>
          <p:nvPr/>
        </p:nvSpPr>
        <p:spPr>
          <a:xfrm>
            <a:off x="612648" y="405993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전체: K × O(1) = O(K)</a:t>
            </a:r>
          </a:p>
        </p:txBody>
      </p:sp>
      <p:sp>
        <p:nvSpPr>
          <p:cNvPr id="14" name="fit:a3ae631dead1a338 15"/>
          <p:cNvSpPr/>
          <p:nvPr/>
        </p:nvSpPr>
        <p:spPr>
          <a:xfrm>
            <a:off x="795528" y="438912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목록이 이미 큰 단위부터 적혀 있을 때입니다. 정렬부터 해야 하면 O(K log K)가 더해집니다.</a:t>
            </a:r>
          </a:p>
        </p:txBody>
      </p:sp>
      <p:sp>
        <p:nvSpPr>
          <p:cNvPr id="15" name="fit:1433d2fd79867e62 16"/>
          <p:cNvSpPr/>
          <p:nvPr/>
        </p:nvSpPr>
        <p:spPr>
          <a:xfrm>
            <a:off x="612648" y="477316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빼는 방법은 반복 횟수가 금액에 비례해서 늘어납니다.</a:t>
            </a:r>
          </a:p>
        </p:txBody>
      </p:sp>
      <p:sp>
        <p:nvSpPr>
          <p:cNvPr id="16" name="fit:defe730fb20def5b 17"/>
          <p:cNvSpPr/>
          <p:nvPr/>
        </p:nvSpPr>
        <p:spPr>
          <a:xfrm>
            <a:off x="612648" y="51755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종류가 고정이면 K는 상수이므로 O(1)이라고도 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큰 동전부터가 최적인가: 배수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492bf713976cd19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한국 동전은 큰 단위가 바로 아래 단위의 배수입니다.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402915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2887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 1개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금액의 작은 동전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97727c44b8173175 12"/>
          <p:cNvSpPr/>
          <p:nvPr/>
        </p:nvSpPr>
        <p:spPr>
          <a:xfrm>
            <a:off x="612648" y="371246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동전이 쌓이면 큰 동전 하나로 바꿀 수 있습니다</a:t>
            </a:r>
          </a:p>
        </p:txBody>
      </p:sp>
      <p:sp>
        <p:nvSpPr>
          <p:cNvPr id="12" name="fit:ac95b49e6419672c 13"/>
          <p:cNvSpPr/>
          <p:nvPr/>
        </p:nvSpPr>
        <p:spPr>
          <a:xfrm>
            <a:off x="795528" y="404164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100원 5개를 500원 1개로 바꾸면 금액은 같고 개수는 5개에서 1개로 줄어듭니다.</a:t>
            </a:r>
          </a:p>
        </p:txBody>
      </p:sp>
      <p:sp>
        <p:nvSpPr>
          <p:cNvPr id="13" name="fit:611f1ddab462b0f2 14"/>
          <p:cNvSpPr/>
          <p:nvPr/>
        </p:nvSpPr>
        <p:spPr>
          <a:xfrm>
            <a:off x="612648" y="442569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그래서 큰 동전을 덜 쓰면 개수만 늘어납니다</a:t>
            </a:r>
          </a:p>
        </p:txBody>
      </p:sp>
      <p:sp>
        <p:nvSpPr>
          <p:cNvPr id="14" name="fit:fef6a95363235da1 15"/>
          <p:cNvSpPr/>
          <p:nvPr/>
        </p:nvSpPr>
        <p:spPr>
          <a:xfrm>
            <a:off x="795528" y="475488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큰 동전을 낼 수 있는 만큼 쓰는 그리디의 선택이 손해가 되지 않습니다.</a:t>
            </a:r>
          </a:p>
        </p:txBody>
      </p:sp>
      <p:sp>
        <p:nvSpPr>
          <p:cNvPr id="15" name="fit:24107074819060c8 16"/>
          <p:cNvSpPr/>
          <p:nvPr/>
        </p:nvSpPr>
        <p:spPr>
          <a:xfrm>
            <a:off x="612648" y="5138928"/>
            <a:ext cx="1097280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배수 조건이면 그리디가 최적입니다(충분조건).</a:t>
            </a:r>
          </a:p>
        </p:txBody>
      </p:sp>
      <p:sp>
        <p:nvSpPr>
          <p:cNvPr id="16" name="fit:a9030218f2518541 17"/>
          <p:cNvSpPr/>
          <p:nvPr/>
        </p:nvSpPr>
        <p:spPr>
          <a:xfrm>
            <a:off x="612648" y="562356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배수 조건이 깨지면 이 보장이 사라집니다.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늘 틀린다는 뜻이 아니라 틀리는 입력이 생길 수 있다는 뜻입니다.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동전 1, 3, 4원으로 6원 ·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52997b3bd5482b0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주장: "남은 돈 이하의 가장 큰 동전을 하나씩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고르면 어떤 화폐 체계에서도 개수가 최소다."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96e52d265b86aa7 12"/>
          <p:cNvSpPr/>
          <p:nvPr/>
        </p:nvSpPr>
        <p:spPr>
          <a:xfrm>
            <a:off x="7909560" y="2935224"/>
            <a:ext cx="3666744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6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조건</a:t>
            </a:r>
          </a:p>
        </p:txBody>
      </p:sp>
      <p:sp>
        <p:nvSpPr>
          <p:cNvPr id="12" name="fit:337aa7ebda1698e7 13"/>
          <p:cNvSpPr/>
          <p:nvPr/>
        </p:nvSpPr>
        <p:spPr>
          <a:xfrm>
            <a:off x="7909560" y="3264408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동전: 1원, 3원, 4원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(각각 무제한)</a:t>
            </a:r>
          </a:p>
        </p:txBody>
      </p:sp>
      <p:sp>
        <p:nvSpPr>
          <p:cNvPr id="13" name="fit:2d56275e5878da47 14"/>
          <p:cNvSpPr/>
          <p:nvPr/>
        </p:nvSpPr>
        <p:spPr>
          <a:xfrm>
            <a:off x="7909560" y="3840480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정확히 6원을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적은 개수로</a:t>
            </a:r>
          </a:p>
        </p:txBody>
      </p:sp>
      <p:sp>
        <p:nvSpPr>
          <p:cNvPr id="14" name="fit:68b9524b4b65fb84 15"/>
          <p:cNvSpPr/>
          <p:nvPr/>
        </p:nvSpPr>
        <p:spPr>
          <a:xfrm>
            <a:off x="7909560" y="4416552"/>
            <a:ext cx="3666744" cy="7406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남은 돈 이하의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동전 하나를 고르고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0원이 될 때까지 반복</a:t>
            </a:r>
          </a:p>
        </p:txBody>
      </p:sp>
      <p:sp>
        <p:nvSpPr>
          <p:cNvPr id="15" name="fit:4934355d2f2135e9 16"/>
          <p:cNvSpPr/>
          <p:nvPr/>
        </p:nvSpPr>
        <p:spPr>
          <a:xfrm>
            <a:off x="7909560" y="5230368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주장을 반박해 봅시다.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174182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8728650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6원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4원 · 6원에서 4원 하나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9411f4e50154c2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6원 이하의 가장 큰 동전은 4원입니다.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 하나를 확정합니다. 남은 돈 6 − 4 = 2원.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332708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 ≤ 6원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4c6f7534279b1c0f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고른 동전</a:t>
            </a:r>
          </a:p>
        </p:txBody>
      </p:sp>
      <p:sp>
        <p:nvSpPr>
          <p:cNvPr id="13" name="fit:16dbdc46a9138a14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4원 (1개)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394371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선택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957633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2개 · 반례 완성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f202ccc10ff4b1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4원을 쓰지 않으면 3원 두 개로 6원이 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 &lt; 3개, 그리디의 답은 최소가 아닙니다.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bd628b5c356df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4 + 1 + 1 = 6원 → 3개</a:t>
            </a:r>
          </a:p>
        </p:txBody>
      </p:sp>
      <p:sp>
        <p:nvSpPr>
          <p:cNvPr id="12" name="fit:cd3e3232e0462c11 13"/>
          <p:cNvSpPr/>
          <p:nvPr/>
        </p:nvSpPr>
        <p:spPr>
          <a:xfrm>
            <a:off x="7909560" y="3255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6원 → 2개</a:t>
            </a:r>
          </a:p>
        </p:txBody>
      </p:sp>
      <p:sp>
        <p:nvSpPr>
          <p:cNvPr id="13" name="fit:8e36c26210bb968d 14"/>
          <p:cNvSpPr/>
          <p:nvPr/>
        </p:nvSpPr>
        <p:spPr>
          <a:xfrm>
            <a:off x="7909560" y="3648456"/>
            <a:ext cx="3666744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입력 하나로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주장이 깨집니다.</a:t>
            </a:r>
          </a:p>
        </p:txBody>
      </p:sp>
      <p:sp>
        <p:nvSpPr>
          <p:cNvPr id="14" name="fit:6d2ca5b7d8ec75a0 15"/>
          <p:cNvSpPr/>
          <p:nvPr/>
        </p:nvSpPr>
        <p:spPr>
          <a:xfrm>
            <a:off x="7909560" y="4407408"/>
            <a:ext cx="3666744" cy="7040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반박에 쓸 것: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그리디의 결과, 더 좋은 해,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개수의 비교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973724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731520" y="358444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695171"/>
              </p:ext>
            </p:extLst>
          </p:nvPr>
        </p:nvGraphicFramePr>
        <p:xfrm>
          <a:off x="2103120" y="347472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731520" y="43159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최적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42730"/>
              </p:ext>
            </p:extLst>
          </p:nvPr>
        </p:nvGraphicFramePr>
        <p:xfrm>
          <a:off x="2103120" y="420624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2103120" y="5029200"/>
            <a:ext cx="3291840" cy="512064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 3개  vs  최적 2개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그리디가 쓴 동전    초록: 최적해가 쓴 동전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최적'은 반례 하나로 반박합니다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2c4801e27ecd06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최적이다'라는 주장은 맞지 않는 입력이 하나만 있어도 거짓입니다.</a:t>
            </a:r>
          </a:p>
        </p:txBody>
      </p:sp>
      <p:sp>
        <p:nvSpPr>
          <p:cNvPr id="10" name="fit:49204ef7aae12440 11"/>
          <p:cNvSpPr/>
          <p:nvPr/>
        </p:nvSpPr>
        <p:spPr>
          <a:xfrm>
            <a:off x="612648" y="210312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문제의 조건을 지키는 입력</a:t>
            </a:r>
          </a:p>
        </p:txBody>
      </p:sp>
      <p:sp>
        <p:nvSpPr>
          <p:cNvPr id="11" name="fit:e0ec687ec3a24a2f 12"/>
          <p:cNvSpPr/>
          <p:nvPr/>
        </p:nvSpPr>
        <p:spPr>
          <a:xfrm>
            <a:off x="795528" y="2432304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1, 3, 4원과 금액 6원은 문제가 허용하는 입력입니다.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조건을 어긴 입력에서 틀리는 것은 반박이 아닙니다.</a:t>
            </a:r>
          </a:p>
        </p:txBody>
      </p:sp>
      <p:sp>
        <p:nvSpPr>
          <p:cNvPr id="12" name="fit:15d21c8f84211bda 13"/>
          <p:cNvSpPr/>
          <p:nvPr/>
        </p:nvSpPr>
        <p:spPr>
          <a:xfrm>
            <a:off x="612648" y="307238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그리디의 결과보다 더 좋은 해</a:t>
            </a:r>
          </a:p>
        </p:txBody>
      </p:sp>
      <p:sp>
        <p:nvSpPr>
          <p:cNvPr id="13" name="fit:fa19ec826b694c64 14"/>
          <p:cNvSpPr/>
          <p:nvPr/>
        </p:nvSpPr>
        <p:spPr>
          <a:xfrm>
            <a:off x="795528" y="340156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 3개보다 적은 2개를 보였습니다. 그리디와 개수가 같은 다른 해는 반례가 아닙니다.</a:t>
            </a:r>
          </a:p>
        </p:txBody>
      </p:sp>
      <p:sp>
        <p:nvSpPr>
          <p:cNvPr id="14" name="fit:d77ebfedef7a0f21 15"/>
          <p:cNvSpPr/>
          <p:nvPr/>
        </p:nvSpPr>
        <p:spPr>
          <a:xfrm>
            <a:off x="612648" y="378561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하나면 충분</a:t>
            </a:r>
          </a:p>
        </p:txBody>
      </p:sp>
      <p:sp>
        <p:nvSpPr>
          <p:cNvPr id="15" name="fit:3ccd95addf2b5173 16"/>
          <p:cNvSpPr/>
          <p:nvPr/>
        </p:nvSpPr>
        <p:spPr>
          <a:xfrm>
            <a:off x="795528" y="411480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반례를 여러 개 모을 필요가 없습니다. 실행이 느린 입력은 최적성의 반례가 아닙니다.</a:t>
            </a:r>
          </a:p>
        </p:txBody>
      </p:sp>
      <p:sp>
        <p:nvSpPr>
          <p:cNvPr id="16" name="fit:75ecdc69fa389ab6 17"/>
          <p:cNvSpPr/>
          <p:nvPr/>
        </p:nvSpPr>
        <p:spPr>
          <a:xfrm>
            <a:off x="612648" y="4498848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반대로, 예제 몇 개에서 맞았다고 '항상 최적'이 증명되지는 않습니다.</a:t>
            </a:r>
          </a:p>
        </p:txBody>
      </p:sp>
      <p:sp>
        <p:nvSpPr>
          <p:cNvPr id="17" name="fit:9017ec8604267c82 18"/>
          <p:cNvSpPr/>
          <p:nvPr/>
        </p:nvSpPr>
        <p:spPr>
          <a:xfrm>
            <a:off x="612648" y="495604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맞다는 것을 보이는 방법은 5.3절 끝과 5.5절에서 다룹니다.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coin_count · 1원까지 다섯 종류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8f567d94dce27a5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coin_count(amount): amount원을 거슬러 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개수를 돌려줍니다. 큰 동전부터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몫만큼 쓰고 나머지를 다음 동전으로 넘깁니다.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909560" y="2935224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coin_count.pseudo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909560" y="3154680"/>
            <a:ext cx="3666744" cy="168757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COIN_COUNT(amount):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for coin in [500, 100, 50, 10, 1]: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count + 몫(amount,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amount &lt;- 나머지(amount,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return count</a:t>
            </a:r>
          </a:p>
        </p:txBody>
      </p:sp>
      <p:sp>
        <p:nvSpPr>
          <p:cNvPr id="13" name="fit:9ab3527532a5244e 14"/>
          <p:cNvSpPr/>
          <p:nvPr/>
        </p:nvSpPr>
        <p:spPr>
          <a:xfrm>
            <a:off x="7909560" y="4970272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몫: Python //, C /    나머지: %</a:t>
            </a:r>
          </a:p>
        </p:txBody>
      </p:sp>
      <p:sp>
        <p:nvSpPr>
          <p:cNvPr id="14" name="fit:15affb70365705a2 15"/>
          <p:cNvSpPr/>
          <p:nvPr/>
        </p:nvSpPr>
        <p:spPr>
          <a:xfrm>
            <a:off x="7909560" y="5290312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금액과 관계없이 5번 → O(1)</a:t>
            </a:r>
          </a:p>
        </p:txBody>
      </p:sp>
      <p:sp>
        <p:nvSpPr>
          <p:cNvPr id="15" name="fit:ce484e23e5609449 16"/>
          <p:cNvSpPr/>
          <p:nvPr/>
        </p:nvSpPr>
        <p:spPr>
          <a:xfrm>
            <a:off x="7909560" y="5710936"/>
            <a:ext cx="3666744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K = 동전 종류 수로 쓰면 O(K)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빼면 O(amount)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amount = 0이면 0개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9443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004768"/>
              </p:ext>
            </p:extLst>
          </p:nvPr>
        </p:nvGraphicFramePr>
        <p:xfrm>
          <a:off x="2103120" y="2834640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12464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몫 (개수)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194151"/>
              </p:ext>
            </p:extLst>
          </p:nvPr>
        </p:nvGraphicFramePr>
        <p:xfrm>
          <a:off x="2103120" y="3602736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731520" y="4480560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472979"/>
              </p:ext>
            </p:extLst>
          </p:nvPr>
        </p:nvGraphicFramePr>
        <p:xfrm>
          <a:off x="2103120" y="4370832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직사각형 23"/>
          <p:cNvSpPr/>
          <p:nvPr/>
        </p:nvSpPr>
        <p:spPr>
          <a:xfrm>
            <a:off x="2103120" y="5084064"/>
            <a:ext cx="512064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coin_count(1263) = 2 + 2 + 1 + 1 + 3 =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28710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97399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 하나, 회의는 최대한 많이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7b5afc09c0f3450 10"/>
          <p:cNvSpPr/>
          <p:nvPr/>
        </p:nvSpPr>
        <p:spPr>
          <a:xfrm>
            <a:off x="658368" y="1737360"/>
            <a:ext cx="512064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회의실은 하나, 요청은 여러 건입니다.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회의마다 시작 시각과 종료 시각이 있습니다.</a:t>
            </a:r>
          </a:p>
        </p:txBody>
      </p:sp>
      <p:sp>
        <p:nvSpPr>
          <p:cNvPr id="10" name="fit:a65c261de82eba10 11"/>
          <p:cNvSpPr/>
          <p:nvPr/>
        </p:nvSpPr>
        <p:spPr>
          <a:xfrm>
            <a:off x="658368" y="2432304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하나 = 활동(activity)</a:t>
            </a:r>
          </a:p>
        </p:txBody>
      </p:sp>
      <p:sp>
        <p:nvSpPr>
          <p:cNvPr id="11" name="fit:ce3bfddb9f6662b3 12"/>
          <p:cNvSpPr/>
          <p:nvPr/>
        </p:nvSpPr>
        <p:spPr>
          <a:xfrm>
            <a:off x="841248" y="2752344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그래서 활동 선택 문제라고 부릅니다.</a:t>
            </a:r>
          </a:p>
        </p:txBody>
      </p:sp>
      <p:sp>
        <p:nvSpPr>
          <p:cNvPr id="12" name="fit:094e5bffada2d5e2 13"/>
          <p:cNvSpPr/>
          <p:nvPr/>
        </p:nvSpPr>
        <p:spPr>
          <a:xfrm>
            <a:off x="658368" y="312724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한 회의만</a:t>
            </a:r>
          </a:p>
        </p:txBody>
      </p:sp>
      <p:sp>
        <p:nvSpPr>
          <p:cNvPr id="13" name="fit:cd1d98f01756c609 14"/>
          <p:cNvSpPr/>
          <p:nvPr/>
        </p:nvSpPr>
        <p:spPr>
          <a:xfrm>
            <a:off x="841248" y="3447288"/>
            <a:ext cx="493776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시간이 겹치는 두 회의는 함께 넣을 수 없고,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회의를 도중에 끊을 수도 없습니다.</a:t>
            </a:r>
          </a:p>
        </p:txBody>
      </p:sp>
      <p:sp>
        <p:nvSpPr>
          <p:cNvPr id="14" name="fit:44767632e7f669fd 15"/>
          <p:cNvSpPr/>
          <p:nvPr/>
        </p:nvSpPr>
        <p:spPr>
          <a:xfrm>
            <a:off x="658368" y="405993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회의의 개수를 최대로</a:t>
            </a:r>
          </a:p>
        </p:txBody>
      </p:sp>
      <p:sp>
        <p:nvSpPr>
          <p:cNvPr id="15" name="fit:566c0ea5a0f43703 16"/>
          <p:cNvSpPr/>
          <p:nvPr/>
        </p:nvSpPr>
        <p:spPr>
          <a:xfrm>
            <a:off x="841248" y="437997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사용 시간의 합이 아니라 넣은 회의의 수입니다.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4143"/>
            <a:ext cx="5458968" cy="297555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 속 '세미나실'은 이 강의의 회의실입니다. 목표는 '오래'가 아니라 '많이'입니다.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[시작, 종료) 표기: 끝나는 시각에 바로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99b4de91e7c97f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4)는 1시에 시작해 4시에 끝나는 회의입니다.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[는 1시를 포함하고, )는 4시를 포함하지 않습니다.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657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474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572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389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54864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53035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64008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62179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7315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7132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8229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8046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9144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8961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6400800" y="283464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9718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657600" y="2971800"/>
            <a:ext cx="27432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1시 ~ 4시 직전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4290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6400800" y="3429000"/>
            <a:ext cx="18288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4시부터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8862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486400" y="3886200"/>
            <a:ext cx="182880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3" name="직사각형 34"/>
          <p:cNvSpPr/>
          <p:nvPr/>
        </p:nvSpPr>
        <p:spPr>
          <a:xfrm>
            <a:off x="5577840" y="437083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4시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9418320" y="29718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함께 고를 수 있음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418320" y="34290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 ≥ 4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9418320" y="38862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둘 모두와 겹침</a:t>
            </a:r>
          </a:p>
        </p:txBody>
      </p:sp>
      <p:sp>
        <p:nvSpPr>
          <p:cNvPr id="37" name="fit:13ebb2f6b3475686 38"/>
          <p:cNvSpPr/>
          <p:nvPr/>
        </p:nvSpPr>
        <p:spPr>
          <a:xfrm>
            <a:off x="612648" y="4828032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규칙: 다음 회의의 시작 ≥ 앞 회의의 종료이면 겹치지 않습니다.</a:t>
            </a:r>
          </a:p>
        </p:txBody>
      </p:sp>
      <p:sp>
        <p:nvSpPr>
          <p:cNvPr id="38" name="fit:324d16a96fbc7491 39"/>
          <p:cNvSpPr/>
          <p:nvPr/>
        </p:nvSpPr>
        <p:spPr>
          <a:xfrm>
            <a:off x="612648" y="5285232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4)와 [4, 6)은 함께 고를 수 있습니다. 4시에 하나가 끝나고 다른 하나가 시작합니다.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[3, 5)는 4시 전에 시작해 4시 뒤에 끝나므로 [1, 4), [4, 6) 둘 모두와 겹칩니다.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실패 ① 일찍 시작하는 회의부터? ·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b9de2c01a2a5a7e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시작이 빠른 순으로 보며 겹치지 않으면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먼저 고르자 나머지 둘이 모두 겹칩니다.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832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0233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6634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3035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9436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5836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2237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8638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5039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91440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7840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144000" y="292608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5" name="직사각형 36"/>
          <p:cNvSpPr/>
          <p:nvPr/>
        </p:nvSpPr>
        <p:spPr>
          <a:xfrm>
            <a:off x="960120" y="30632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36576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960120" y="35204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5204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60120" y="39776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9776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8321040" y="446227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10시까지 사용 중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2743200" y="5120640"/>
            <a:ext cx="3291840" cy="512064"/>
          </a:xfrm>
          <a:prstGeom prst="rect">
            <a:avLst/>
          </a:prstGeom>
          <a:solidFill>
            <a:srgbClr val="FBE1E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시작 순 그리디: 1개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9966960" y="30632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① 처음이라 고름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966960" y="35204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2시 &lt; 10시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9966960" y="39776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 4시 &lt; 10시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고른 회의    빨강 점선: 겹쳐서 버린 회의    주황 점선: 회의실이 비는 시각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 완성: 시작 순 1개 &lt; 최적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e0d4a5aaa26d0e1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버리면 [2, 3)과 [4, 5)를 함께 넣을 수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1개 &lt; 최적 2개, 이 기준은 최적을 보장하지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24505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순 그리디: [1, 10) 하나</a:t>
            </a:r>
          </a:p>
        </p:txBody>
      </p:sp>
      <p:cxnSp>
        <p:nvCxnSpPr>
          <p:cNvPr id="11" name="연결선 12"/>
          <p:cNvCxnSpPr/>
          <p:nvPr/>
        </p:nvCxnSpPr>
        <p:spPr>
          <a:xfrm>
            <a:off x="27432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3832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40233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46634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3035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9436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65836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2237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78638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85039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91440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97840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60120" y="30632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7" name="직사각형 38"/>
          <p:cNvSpPr/>
          <p:nvPr/>
        </p:nvSpPr>
        <p:spPr>
          <a:xfrm>
            <a:off x="960120" y="34290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42900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7947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79476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612648" y="42793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[2, 3)과 [4, 5) 두 개</a:t>
            </a:r>
          </a:p>
        </p:txBody>
      </p:sp>
      <p:cxnSp>
        <p:nvCxnSpPr>
          <p:cNvPr id="42" name="연결선 43"/>
          <p:cNvCxnSpPr/>
          <p:nvPr/>
        </p:nvCxnSpPr>
        <p:spPr>
          <a:xfrm>
            <a:off x="27432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3" name="직사각형 44"/>
          <p:cNvSpPr/>
          <p:nvPr/>
        </p:nvSpPr>
        <p:spPr>
          <a:xfrm>
            <a:off x="25603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44" name="연결선 45"/>
          <p:cNvCxnSpPr/>
          <p:nvPr/>
        </p:nvCxnSpPr>
        <p:spPr>
          <a:xfrm>
            <a:off x="33832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5" name="직사각형 46"/>
          <p:cNvSpPr/>
          <p:nvPr/>
        </p:nvSpPr>
        <p:spPr>
          <a:xfrm>
            <a:off x="32004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46" name="연결선 47"/>
          <p:cNvCxnSpPr/>
          <p:nvPr/>
        </p:nvCxnSpPr>
        <p:spPr>
          <a:xfrm>
            <a:off x="40233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7" name="직사각형 48"/>
          <p:cNvSpPr/>
          <p:nvPr/>
        </p:nvSpPr>
        <p:spPr>
          <a:xfrm>
            <a:off x="38404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48" name="연결선 49"/>
          <p:cNvCxnSpPr/>
          <p:nvPr/>
        </p:nvCxnSpPr>
        <p:spPr>
          <a:xfrm>
            <a:off x="46634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9" name="직사각형 50"/>
          <p:cNvSpPr/>
          <p:nvPr/>
        </p:nvSpPr>
        <p:spPr>
          <a:xfrm>
            <a:off x="44805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53035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51206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59436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57607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65836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64008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72237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70408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78638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76809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85039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83210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91440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89611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97840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96012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6" name="직사각형 67"/>
          <p:cNvSpPr/>
          <p:nvPr/>
        </p:nvSpPr>
        <p:spPr>
          <a:xfrm>
            <a:off x="960120" y="48920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67" name="직사각형 68"/>
          <p:cNvSpPr/>
          <p:nvPr/>
        </p:nvSpPr>
        <p:spPr>
          <a:xfrm>
            <a:off x="3383280" y="4892040"/>
            <a:ext cx="576072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68" name="직사각형 69"/>
          <p:cNvSpPr/>
          <p:nvPr/>
        </p:nvSpPr>
        <p:spPr>
          <a:xfrm>
            <a:off x="960120" y="52578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69" name="직사각형 70"/>
          <p:cNvSpPr/>
          <p:nvPr/>
        </p:nvSpPr>
        <p:spPr>
          <a:xfrm>
            <a:off x="4023360" y="525780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0" name="직사각형 71"/>
          <p:cNvSpPr/>
          <p:nvPr/>
        </p:nvSpPr>
        <p:spPr>
          <a:xfrm>
            <a:off x="960120" y="56235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71" name="직사각형 72"/>
          <p:cNvSpPr/>
          <p:nvPr/>
        </p:nvSpPr>
        <p:spPr>
          <a:xfrm>
            <a:off x="5303520" y="562356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2" name="직사각형 73"/>
          <p:cNvSpPr/>
          <p:nvPr/>
        </p:nvSpPr>
        <p:spPr>
          <a:xfrm>
            <a:off x="10058400" y="32918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73" name="직사각형 74"/>
          <p:cNvSpPr/>
          <p:nvPr/>
        </p:nvSpPr>
        <p:spPr>
          <a:xfrm>
            <a:off x="10058400" y="51206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  <p:sp>
        <p:nvSpPr>
          <p:cNvPr id="74" name="직사각형 7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그리디가 고른 회의    파랑: 최적해의 회의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성공 전략: 가장 먼저 끝나는 회의부터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17f7a365af47e37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회의실을 가장 빨리 비워 주는 회의부터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last_end는 마지막으로 고른 회의의 종료 시각입니다.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회의를 종료 시각이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순으로 늘어놓습니다.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고르기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last_end를 그 회의의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시각으로 옮깁니다.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반복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봅니다.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처음 만족하는 회의가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곧 겹치지 않는 회의 중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먼저 끝나는 회의입니다.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62460"/>
              </p:ext>
            </p:extLst>
          </p:nvPr>
        </p:nvGraphicFramePr>
        <p:xfrm>
          <a:off x="658368" y="4105656"/>
          <a:ext cx="10881360" cy="987552"/>
        </p:xfrm>
        <a:graphic>
          <a:graphicData uri="http://schemas.openxmlformats.org/drawingml/2006/table">
            <a:tbl>
              <a:tblPr/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기준별 비교</a:t>
                      </a:r>
                      <a:endParaRPr lang="ko-KR" altLang="en-US" sz="150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짧은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10), [2, 3), [4,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5), [4, 6), [5,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fit:c2da3d2bc5fb617a 23"/>
          <p:cNvSpPr/>
          <p:nvPr/>
        </p:nvSpPr>
        <p:spPr>
          <a:xfrm>
            <a:off x="658368" y="5239512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예에서 맞았다고 해서 증명된 것은 아닙니다. 왜 맞는지는 이 절 끝에서 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'안전한 선택'(그렇게 골라도 최적해를 놓치지 않는 선택)의 정확한 뜻은 5.5절에서 정의합니다.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회의 여섯 건을 종료 시각 순으로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65429105c0987a9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여섯 건을 종료 시각이 빠른 순으로 정렬합니다.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칸 아래의 작은 글자는 입력 순서로 붙인 회의 번호입니다.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37160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입력 순서</a:t>
            </a: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691702"/>
              </p:ext>
            </p:extLst>
          </p:nvPr>
        </p:nvGraphicFramePr>
        <p:xfrm>
          <a:off x="2743200" y="265176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3"/>
          <p:cNvSpPr/>
          <p:nvPr/>
        </p:nvSpPr>
        <p:spPr>
          <a:xfrm>
            <a:off x="27432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393192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512064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936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49808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86868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371600" y="395020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종료 순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201580"/>
              </p:ext>
            </p:extLst>
          </p:nvPr>
        </p:nvGraphicFramePr>
        <p:xfrm>
          <a:off x="2743200" y="384048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7432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393192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512064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936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749808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86868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2743200" y="5266944"/>
            <a:ext cx="475488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last_end = −∞ (아직 고른 회의 없음)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2743200" y="4773168"/>
            <a:ext cx="71323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시각: 3 &lt; 5 &lt; 7 &lt; 8 &lt; 9 &lt; 11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 칸: 입력 순서와 자리가 바뀐 회의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1번 [1, 3) · 선택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f23c4a2b41543b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 = −∞이므로 1 ≥ −∞가 참입니다. 겹칠 회의가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1번을 고르고 last_end를 3으로 옮깁니다.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← 선택 (1 ≥ −∞)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2번 [2, 5) · 건너뜀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3959a74ce6c33f8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2번은 2시에 시작하는데, 직전에 고른 1번은 3시에 끝납니다.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 ≥ 3을 만족하지 못해 건너뜁니다. last_end는 3 그대로입니다.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← 건너뜀 (2 &lt; 3)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완료: 1번, 5번, 6번 · 3개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77afb41de9c10b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회의는 1번 [1, 3), 5번 [5, 7), 6번 [8, 11), 모두 3개입니다.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앞의 판정을 되돌린 적은 한 번도 없습니다.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919734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837438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11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9921240" y="3685032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3" name="직사각형 54"/>
          <p:cNvSpPr/>
          <p:nvPr/>
        </p:nvSpPr>
        <p:spPr>
          <a:xfrm>
            <a:off x="9921240" y="4087368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4" name="직사각형 55"/>
          <p:cNvSpPr/>
          <p:nvPr/>
        </p:nvSpPr>
        <p:spPr>
          <a:xfrm>
            <a:off x="9921240" y="4489704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5" name="직사각형 56"/>
          <p:cNvSpPr/>
          <p:nvPr/>
        </p:nvSpPr>
        <p:spPr>
          <a:xfrm>
            <a:off x="9921240" y="489204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6" name="직사각형 57"/>
          <p:cNvSpPr/>
          <p:nvPr/>
        </p:nvSpPr>
        <p:spPr>
          <a:xfrm>
            <a:off x="2743200" y="5724144"/>
            <a:ext cx="877824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3개가 최대인지는 뒤의 '왜 옳은가'에서 확인합니다.</a:t>
            </a:r>
          </a:p>
        </p:txBody>
      </p:sp>
      <p:sp>
        <p:nvSpPr>
          <p:cNvPr id="57" name="직사각형 5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  회색: 건너뛴 회의    주황 점선: last_end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정렬 O(n log n) + 한 번 훑기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fdb634b584ad49b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 = 회의의 수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473311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1995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35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시각 순으로 정렬 (sort, qsort)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 log 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훑기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앞에서부터 한 번, 회의마다 비교 한 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고른 회의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a0bc256da94b2d1b 12"/>
          <p:cNvSpPr/>
          <p:nvPr/>
        </p:nvSpPr>
        <p:spPr>
          <a:xfrm>
            <a:off x="612648" y="371246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O(n log n) + O(n) = O(n log n)</a:t>
            </a:r>
          </a:p>
        </p:txBody>
      </p:sp>
      <p:sp>
        <p:nvSpPr>
          <p:cNvPr id="12" name="fit:bac482fe2cc7dad5 13"/>
          <p:cNvSpPr/>
          <p:nvPr/>
        </p:nvSpPr>
        <p:spPr>
          <a:xfrm>
            <a:off x="612648" y="422452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sort는 최악에도 O(n log n), C의 qsort는 보통 O(n log n)</a:t>
            </a:r>
          </a:p>
        </p:txBody>
      </p:sp>
      <p:sp>
        <p:nvSpPr>
          <p:cNvPr id="13" name="fit:043b0b305e602543 14"/>
          <p:cNvSpPr/>
          <p:nvPr/>
        </p:nvSpPr>
        <p:spPr>
          <a:xfrm>
            <a:off x="795528" y="455371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전체 비용은 정렬이 정합니다.</a:t>
            </a:r>
          </a:p>
        </p:txBody>
      </p:sp>
      <p:sp>
        <p:nvSpPr>
          <p:cNvPr id="14" name="fit:377ad1d35187aab2 15"/>
          <p:cNvSpPr/>
          <p:nvPr/>
        </p:nvSpPr>
        <p:spPr>
          <a:xfrm>
            <a:off x="612648" y="49377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종료 시각 순이면 O(n)</a:t>
            </a:r>
          </a:p>
        </p:txBody>
      </p:sp>
      <p:sp>
        <p:nvSpPr>
          <p:cNvPr id="15" name="fit:f490f62e5b5824bd 16"/>
          <p:cNvSpPr/>
          <p:nvPr/>
        </p:nvSpPr>
        <p:spPr>
          <a:xfrm>
            <a:off x="795528" y="52669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정렬을 빼고 한 번 훑기만 하면 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옳은가: 첫 회의를 바꿔 넣어도 최적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0fb12ac7ecbb4cf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O를 하나 가져옵니다.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2번, 4번, 6번(3개). O의 첫 회의 2번을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첫 회의 1번으로 바꿔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d6d970b06864e5e 12"/>
          <p:cNvSpPr/>
          <p:nvPr/>
        </p:nvSpPr>
        <p:spPr>
          <a:xfrm>
            <a:off x="7909560" y="2935224"/>
            <a:ext cx="3666744" cy="8595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g = 그리디의 첫 회의 (1번)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= 전체에서 가장 먼저 끝나는 회의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x = O에서 가장 먼저 끝나는 회의 (2번)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g의 종료 ≤ x의 종료 (3 ≤ 5)</a:t>
            </a:r>
          </a:p>
        </p:txBody>
      </p:sp>
      <p:sp>
        <p:nvSpPr>
          <p:cNvPr id="12" name="fit:1eb1238cab3fdfc3 13"/>
          <p:cNvSpPr/>
          <p:nvPr/>
        </p:nvSpPr>
        <p:spPr>
          <a:xfrm>
            <a:off x="7909560" y="3849624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나머지는 x가 끝난 뒤 시작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g와도 겹치지 않습니다.</a:t>
            </a:r>
          </a:p>
        </p:txBody>
      </p:sp>
      <p:sp>
        <p:nvSpPr>
          <p:cNvPr id="13" name="fit:2fcf4e7a9e189a87 14"/>
          <p:cNvSpPr/>
          <p:nvPr/>
        </p:nvSpPr>
        <p:spPr>
          <a:xfrm>
            <a:off x="7909560" y="4343400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개수가 같으므로 O′도 최적해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남은 회의에도 되풀이합니다.</a:t>
            </a:r>
          </a:p>
        </p:txBody>
      </p:sp>
      <p:sp>
        <p:nvSpPr>
          <p:cNvPr id="14" name="fit:02b4295a96355031 15"/>
          <p:cNvSpPr/>
          <p:nvPr/>
        </p:nvSpPr>
        <p:spPr>
          <a:xfrm>
            <a:off x="7909560" y="4837176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첫 회의를 포함하는 최적해가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적어도 하나 있습니다.</a:t>
            </a:r>
          </a:p>
        </p:txBody>
      </p:sp>
      <p:sp>
        <p:nvSpPr>
          <p:cNvPr id="15" name="fit:40b060c5f955c625 16"/>
          <p:cNvSpPr/>
          <p:nvPr/>
        </p:nvSpPr>
        <p:spPr>
          <a:xfrm>
            <a:off x="7909560" y="5449824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방법이 교환 논증입니다: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최적해의 일부를 탐욕 선택으로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바꿔도 여전히 최적해임을 보입니다.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2651760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O의 예: 2번, 4번, 6번 (3개)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23957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2128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27919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26090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31882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30053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44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34015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39806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37978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43769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41940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47731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45902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51694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49865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55656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53827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35" name="연결선 36"/>
          <p:cNvCxnSpPr/>
          <p:nvPr/>
        </p:nvCxnSpPr>
        <p:spPr>
          <a:xfrm>
            <a:off x="59618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6" name="직사각형 37"/>
          <p:cNvSpPr/>
          <p:nvPr/>
        </p:nvSpPr>
        <p:spPr>
          <a:xfrm>
            <a:off x="57790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7" name="연결선 38"/>
          <p:cNvCxnSpPr/>
          <p:nvPr/>
        </p:nvCxnSpPr>
        <p:spPr>
          <a:xfrm>
            <a:off x="63581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8" name="직사각형 39"/>
          <p:cNvSpPr/>
          <p:nvPr/>
        </p:nvSpPr>
        <p:spPr>
          <a:xfrm>
            <a:off x="61752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9" name="연결선 40"/>
          <p:cNvCxnSpPr/>
          <p:nvPr/>
        </p:nvCxnSpPr>
        <p:spPr>
          <a:xfrm>
            <a:off x="67543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0" name="직사각형 41"/>
          <p:cNvSpPr/>
          <p:nvPr/>
        </p:nvSpPr>
        <p:spPr>
          <a:xfrm>
            <a:off x="65714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41" name="연결선 42"/>
          <p:cNvCxnSpPr/>
          <p:nvPr/>
        </p:nvCxnSpPr>
        <p:spPr>
          <a:xfrm>
            <a:off x="71506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2" name="직사각형 43"/>
          <p:cNvSpPr/>
          <p:nvPr/>
        </p:nvSpPr>
        <p:spPr>
          <a:xfrm>
            <a:off x="69677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326440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3188208" y="3264408"/>
            <a:ext cx="1188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612648" y="363016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773168" y="3630168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612648" y="399592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5565648" y="3995928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612648" y="441655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O의 2번을 1번으로 바꾼 O′: 3개 그대로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23957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22128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27919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26090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31882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30053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35844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34015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39806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37978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43769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41940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47731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45902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51694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49865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66" name="연결선 67"/>
          <p:cNvCxnSpPr/>
          <p:nvPr/>
        </p:nvCxnSpPr>
        <p:spPr>
          <a:xfrm>
            <a:off x="55656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7" name="직사각형 68"/>
          <p:cNvSpPr/>
          <p:nvPr/>
        </p:nvSpPr>
        <p:spPr>
          <a:xfrm>
            <a:off x="53827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8" name="연결선 69"/>
          <p:cNvCxnSpPr/>
          <p:nvPr/>
        </p:nvCxnSpPr>
        <p:spPr>
          <a:xfrm>
            <a:off x="59618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9" name="직사각형 70"/>
          <p:cNvSpPr/>
          <p:nvPr/>
        </p:nvSpPr>
        <p:spPr>
          <a:xfrm>
            <a:off x="57790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70" name="연결선 71"/>
          <p:cNvCxnSpPr/>
          <p:nvPr/>
        </p:nvCxnSpPr>
        <p:spPr>
          <a:xfrm>
            <a:off x="63581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1" name="직사각형 72"/>
          <p:cNvSpPr/>
          <p:nvPr/>
        </p:nvSpPr>
        <p:spPr>
          <a:xfrm>
            <a:off x="61752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72" name="연결선 73"/>
          <p:cNvCxnSpPr/>
          <p:nvPr/>
        </p:nvCxnSpPr>
        <p:spPr>
          <a:xfrm>
            <a:off x="67543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3" name="직사각형 74"/>
          <p:cNvSpPr/>
          <p:nvPr/>
        </p:nvSpPr>
        <p:spPr>
          <a:xfrm>
            <a:off x="65714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74" name="연결선 75"/>
          <p:cNvCxnSpPr/>
          <p:nvPr/>
        </p:nvCxnSpPr>
        <p:spPr>
          <a:xfrm>
            <a:off x="71506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5" name="직사각형 76"/>
          <p:cNvSpPr/>
          <p:nvPr/>
        </p:nvSpPr>
        <p:spPr>
          <a:xfrm>
            <a:off x="69677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6" name="직사각형 77"/>
          <p:cNvSpPr/>
          <p:nvPr/>
        </p:nvSpPr>
        <p:spPr>
          <a:xfrm>
            <a:off x="612648" y="50292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77" name="직사각형 78"/>
          <p:cNvSpPr/>
          <p:nvPr/>
        </p:nvSpPr>
        <p:spPr>
          <a:xfrm>
            <a:off x="2791968" y="5029200"/>
            <a:ext cx="79248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8" name="직사각형 79"/>
          <p:cNvSpPr/>
          <p:nvPr/>
        </p:nvSpPr>
        <p:spPr>
          <a:xfrm>
            <a:off x="612648" y="53949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79" name="직사각형 80"/>
          <p:cNvSpPr/>
          <p:nvPr/>
        </p:nvSpPr>
        <p:spPr>
          <a:xfrm>
            <a:off x="4773168" y="5394960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0" name="직사각형 81"/>
          <p:cNvSpPr/>
          <p:nvPr/>
        </p:nvSpPr>
        <p:spPr>
          <a:xfrm>
            <a:off x="612648" y="576072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81" name="직사각형 82"/>
          <p:cNvSpPr/>
          <p:nvPr/>
        </p:nvSpPr>
        <p:spPr>
          <a:xfrm>
            <a:off x="5565648" y="5760720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2" name="직사각형 8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바꾸는 회의    파랑: 그대로 두는 회의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activity_count · [1, 4), [3, 5), [4, 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2415881af9b2f56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순으로 정렬되어 들어온 활동의 최대 개수를 셉니다.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 count를 1 늘립니다.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4747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918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2062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0233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93776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7548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66928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4864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64008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62179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71323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9494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8638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6809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132320" y="2743200"/>
            <a:ext cx="0" cy="1353312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474720" y="2880360"/>
            <a:ext cx="219456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고름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4937760" y="3282696"/>
            <a:ext cx="146304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3 &lt; 4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669280" y="3685032"/>
            <a:ext cx="146304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③ 4 ≥ 4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6309360" y="4114800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6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8503920" y="3017520"/>
            <a:ext cx="301752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activity_count = 2</a:t>
            </a:r>
          </a:p>
        </p:txBody>
      </p:sp>
      <p:graphicFrame>
        <p:nvGraphicFramePr>
          <p:cNvPr id="35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56858"/>
              </p:ext>
            </p:extLst>
          </p:nvPr>
        </p:nvGraphicFramePr>
        <p:xfrm>
          <a:off x="2743200" y="4526280"/>
          <a:ext cx="8778240" cy="1554480"/>
        </p:xfrm>
        <a:graphic>
          <a:graphicData uri="http://schemas.openxmlformats.org/drawingml/2006/table">
            <a:tbl>
              <a:tblPr/>
              <a:tblGrid>
                <a:gridCol w="1132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1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2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차례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≥ last_end ?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count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last_end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≥ −∞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[3,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≥ 4 아님 → 건너뜀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[4, 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≥ 4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직사각형 37"/>
          <p:cNvSpPr/>
          <p:nvPr/>
        </p:nvSpPr>
        <p:spPr>
          <a:xfrm>
            <a:off x="8503920" y="3621024"/>
            <a:ext cx="30175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[1, 4)와 [4, 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activity_count: 빈 목록은 0, 시간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activity_count.pseudo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684272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ACTIVITY_COUNT(activities):     // 종료 시각 순으로 정렬되어 있다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last_end &lt;- -∞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(start, end) in activities: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last_end:   // 끝나는 시각에 바로 시작해도 된다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&lt;- count + 1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last_end &lt;- end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                // 빈 목록이면 0</a:t>
            </a:r>
          </a:p>
        </p:txBody>
      </p:sp>
      <p:sp>
        <p:nvSpPr>
          <p:cNvPr id="11" name="fit:86bbf8aba0a2d522 12"/>
          <p:cNvSpPr/>
          <p:nvPr/>
        </p:nvSpPr>
        <p:spPr>
          <a:xfrm>
            <a:off x="612648" y="4668520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목록.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for 문이 한 번도 돌지 않아 count = 0을 그대로 돌려줍니다.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목록[0]을 먼저 넣는 방식은 빈 목록에서 오류가 납니다.</a:t>
            </a:r>
          </a:p>
        </p:txBody>
      </p:sp>
      <p:sp>
        <p:nvSpPr>
          <p:cNvPr id="12" name="fit:8e43e66e984d5a59 13"/>
          <p:cNvSpPr/>
          <p:nvPr/>
        </p:nvSpPr>
        <p:spPr>
          <a:xfrm>
            <a:off x="612648" y="536346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시각이 0 이상으로 주어지면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last_end를 0으로 시작해도 됩니다. 첫 활동이 그대로 통과합니다.</a:t>
            </a:r>
          </a:p>
        </p:txBody>
      </p:sp>
      <p:sp>
        <p:nvSpPr>
          <p:cNvPr id="13" name="fit:9ef1dd0543a4a073 14"/>
          <p:cNvSpPr/>
          <p:nvPr/>
        </p:nvSpPr>
        <p:spPr>
          <a:xfrm>
            <a:off x="612648" y="57840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시간 복잡도.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정렬된 입력을 한 번 훑으므로 O(n), 직접 정렬부터 하면 O(n log n)입니다.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71089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noGrp="1"/>
          </p:cNvSpPr>
          <p:nvPr/>
        </p:nvSpPr>
        <p:spPr>
          <a:xfrm>
            <a:off x="771525" y="415099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noGrp="1"/>
          </p:cNvSpPr>
          <p:nvPr/>
        </p:nvSpPr>
        <p:spPr>
          <a:xfrm>
            <a:off x="1285875" y="415099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noGrp="1"/>
          </p:cNvSpPr>
          <p:nvPr/>
        </p:nvSpPr>
        <p:spPr>
          <a:xfrm>
            <a:off x="771525" y="440483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noGrp="1"/>
          </p:cNvSpPr>
          <p:nvPr/>
        </p:nvSpPr>
        <p:spPr>
          <a:xfrm>
            <a:off x="1285875" y="440483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947344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문제: 용량 안에서 가치를 최대로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62437d58731c9b9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정해진 배낭에 보물을 담습니다. 담은 무게의 합이 용량을 넘지 않게 하면서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가치의 합을 가장 크게 만드는 문제가 </a:t>
            </a:r>
            <a:r>
              <a:rPr lang="ko-KR" altLang="en-US" sz="2025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</a:t>
            </a: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(knapsack problem)입니다.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98019"/>
              </p:ext>
            </p:extLst>
          </p:nvPr>
        </p:nvGraphicFramePr>
        <p:xfrm>
          <a:off x="612648" y="2432304"/>
          <a:ext cx="10972800" cy="14630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450fd5583941906e 12"/>
          <p:cNvSpPr/>
          <p:nvPr/>
        </p:nvSpPr>
        <p:spPr>
          <a:xfrm>
            <a:off x="612648" y="404164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용량은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30kg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입니다. G(골드)는 가치의 단위입니다.</a:t>
            </a:r>
          </a:p>
        </p:txBody>
      </p:sp>
      <p:sp>
        <p:nvSpPr>
          <p:cNvPr id="12" name="fit:a33c8ab66029f3d0 13"/>
          <p:cNvSpPr/>
          <p:nvPr/>
        </p:nvSpPr>
        <p:spPr>
          <a:xfrm>
            <a:off x="612648" y="44805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있다 → 분할 배낭 (fractional knapsack)</a:t>
            </a:r>
          </a:p>
        </p:txBody>
      </p:sp>
      <p:sp>
        <p:nvSpPr>
          <p:cNvPr id="13" name="fit:9547d137e73e1312 14"/>
          <p:cNvSpPr/>
          <p:nvPr/>
        </p:nvSpPr>
        <p:spPr>
          <a:xfrm>
            <a:off x="795528" y="48097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가루처럼 원하는 만큼 덜어 담을 수 있습니다.</a:t>
            </a:r>
          </a:p>
        </p:txBody>
      </p:sp>
      <p:sp>
        <p:nvSpPr>
          <p:cNvPr id="14" name="fit:d1fad72c8dd62eb6 15"/>
          <p:cNvSpPr/>
          <p:nvPr/>
        </p:nvSpPr>
        <p:spPr>
          <a:xfrm>
            <a:off x="612648" y="519379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없다 → 0/1 배낭 (0/1 knapsack)</a:t>
            </a:r>
          </a:p>
        </p:txBody>
      </p:sp>
      <p:sp>
        <p:nvSpPr>
          <p:cNvPr id="15" name="fit:c60bf719cb2d90ac 16"/>
          <p:cNvSpPr/>
          <p:nvPr/>
        </p:nvSpPr>
        <p:spPr>
          <a:xfrm>
            <a:off x="795528" y="552297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통째로 담거나(1) 아예 담지 않습니다(0).</a:t>
            </a:r>
          </a:p>
        </p:txBody>
      </p:sp>
      <p:sp>
        <p:nvSpPr>
          <p:cNvPr id="16" name="fit:05795517b7c9e444 17"/>
          <p:cNvSpPr/>
          <p:nvPr/>
        </p:nvSpPr>
        <p:spPr>
          <a:xfrm>
            <a:off x="612648" y="59070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분할 배낭을 계산한 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용량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50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배낭의 반례와 비교합니다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무게당 가치(가성비) 순으로 정렬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cf17bfdeb73cd6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1kg에 얼마인지, 즉 무게당 가치를 구해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높은 순서로 세웁니다. 코드에서는 ratio라고 부릅니다.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62fba806253ece12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= 가치 ÷ 무게</a:t>
            </a:r>
          </a:p>
        </p:txBody>
      </p:sp>
      <p:sp>
        <p:nvSpPr>
          <p:cNvPr id="12" name="fit:2f2c5603d15b9106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A: 14,000 ÷ 20 = 700</a:t>
            </a:r>
          </a:p>
        </p:txBody>
      </p:sp>
      <p:sp>
        <p:nvSpPr>
          <p:cNvPr id="13" name="fit:0be6f459dd803282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B: 9,000 ÷ 15 = 600</a:t>
            </a:r>
          </a:p>
        </p:txBody>
      </p:sp>
      <p:sp>
        <p:nvSpPr>
          <p:cNvPr id="14" name="fit:37cd234b136c2203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C: 9,000 ÷ 15 = 600</a:t>
            </a:r>
          </a:p>
        </p:txBody>
      </p:sp>
      <p:sp>
        <p:nvSpPr>
          <p:cNvPr id="15" name="fit:32c01cf4315438bd 16"/>
          <p:cNvSpPr/>
          <p:nvPr/>
        </p:nvSpPr>
        <p:spPr>
          <a:xfrm>
            <a:off x="7909560" y="4343400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순서: A → B → C</a:t>
            </a:r>
          </a:p>
        </p:txBody>
      </p:sp>
      <p:sp>
        <p:nvSpPr>
          <p:cNvPr id="16" name="fit:9768b63315f77b34 17"/>
          <p:cNvSpPr/>
          <p:nvPr/>
        </p:nvSpPr>
        <p:spPr>
          <a:xfrm>
            <a:off x="7909560" y="4800600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B와 C는 같으므로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입력 순서대로 B를 먼저 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754880"/>
            <a:ext cx="658368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30kg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371111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정렬 기준인 무게당 가치    회색 막대: 비어 있는 배낭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를 모두 담고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B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는 남은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10kg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5129065688d76e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B는 15kg인데 남은 용량은 10kg입니다.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통째로는 들어가지 않으니 10kg만 덜어 담습니다.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986514e9663df55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적정성 검사</a:t>
            </a: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15kg &gt; 남은 10kg</a:t>
            </a:r>
          </a:p>
        </p:txBody>
      </p:sp>
      <p:sp>
        <p:nvSpPr>
          <p:cNvPr id="12" name="fit:e351b649f3bd1383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→ 10kg만 덜어 담습니다.</a:t>
            </a:r>
          </a:p>
        </p:txBody>
      </p:sp>
      <p:sp>
        <p:nvSpPr>
          <p:cNvPr id="13" name="fit:26b94a9b92c36315 14"/>
          <p:cNvSpPr/>
          <p:nvPr/>
        </p:nvSpPr>
        <p:spPr>
          <a:xfrm>
            <a:off x="7909560" y="37033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덜어 담는 비율</a:t>
            </a:r>
          </a:p>
        </p:txBody>
      </p:sp>
      <p:sp>
        <p:nvSpPr>
          <p:cNvPr id="14" name="fit:09c523416fbfc1bc 15"/>
          <p:cNvSpPr/>
          <p:nvPr/>
        </p:nvSpPr>
        <p:spPr>
          <a:xfrm>
            <a:off x="7909560" y="398678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÷ 15 = 2/3</a:t>
            </a:r>
          </a:p>
        </p:txBody>
      </p:sp>
      <p:sp>
        <p:nvSpPr>
          <p:cNvPr id="15" name="fit:0a9aa311cef7cca1 16"/>
          <p:cNvSpPr/>
          <p:nvPr/>
        </p:nvSpPr>
        <p:spPr>
          <a:xfrm>
            <a:off x="7909560" y="446227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얻는 가치</a:t>
            </a:r>
          </a:p>
        </p:txBody>
      </p:sp>
      <p:sp>
        <p:nvSpPr>
          <p:cNvPr id="16" name="fit:23ff4650ee973db0 17"/>
          <p:cNvSpPr/>
          <p:nvPr/>
        </p:nvSpPr>
        <p:spPr>
          <a:xfrm>
            <a:off x="7909560" y="474573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9,000 × 2/3 = 6,000 G</a:t>
            </a:r>
          </a:p>
        </p:txBody>
      </p:sp>
      <p:sp>
        <p:nvSpPr>
          <p:cNvPr id="17" name="fit:af43d76779ca7aee 18"/>
          <p:cNvSpPr/>
          <p:nvPr/>
        </p:nvSpPr>
        <p:spPr>
          <a:xfrm>
            <a:off x="7909560" y="5129784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= 10kg × 600 G/kg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612648" y="4754880"/>
            <a:ext cx="4389120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20kg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001768" y="4754880"/>
            <a:ext cx="2194560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10kg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628567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10kg (2/3)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6,000 G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의사코드: 무게당 가치 순으로 채우기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fractional_knapsack.pseudo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798064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FRACTIONAL_KNAPSACK(items, capacity):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items</a:t>
            </a: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를 무게당 가치가 큰 순서로 정렬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total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item in items: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&lt;- min(capacity, item.weight)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&lt;- total + take * item.ratio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&lt;- capacity - take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 break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  <a:endParaRPr lang="ko-KR" altLang="en-US" sz="1300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700940"/>
              </p:ext>
            </p:extLst>
          </p:nvPr>
        </p:nvGraphicFramePr>
        <p:xfrm>
          <a:off x="612648" y="4782312"/>
          <a:ext cx="10972800" cy="1316736"/>
        </p:xfrm>
        <a:graphic>
          <a:graphicData uri="http://schemas.openxmlformats.org/drawingml/2006/table">
            <a:tbl>
              <a:tblPr/>
              <a:tblGrid>
                <a:gridCol w="2366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6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의사코드에서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정렬된 순서대로, 남은 보물 중 무게당 가치가 가장 높은 것을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용량과 물건 무게 중 작은 값(take)만큼 담습니다.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용량이 0이면 break. 아니면 다음 물건을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7 · A(6, 18) · B(4, 20)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0aa4b59c3e02c94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있는 배낭, 보물은 (무게, 가치)입니다.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18 ÷ 6 = 3, B 20 ÷ 4 = 5 → B부터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e5c32f9fe9dcc513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B: 4 ≤ 7 → 전부, 가치 20</a:t>
            </a:r>
          </a:p>
        </p:txBody>
      </p:sp>
      <p:sp>
        <p:nvSpPr>
          <p:cNvPr id="12" name="fit:050a0bc6ab6a2f49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7 − 4 = 3</a:t>
            </a:r>
          </a:p>
        </p:txBody>
      </p:sp>
      <p:sp>
        <p:nvSpPr>
          <p:cNvPr id="13" name="fit:ea1537625d358b28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A: 6 &gt; 3 → 3만 덜어 담기</a:t>
            </a:r>
          </a:p>
        </p:txBody>
      </p:sp>
      <p:sp>
        <p:nvSpPr>
          <p:cNvPr id="14" name="fit:62b496b736e01c6b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6 = 1/2 → 18 × 1/2 = 9</a:t>
            </a:r>
          </a:p>
        </p:txBody>
      </p:sp>
      <p:sp>
        <p:nvSpPr>
          <p:cNvPr id="15" name="fit:dabc1253d25728db 16"/>
          <p:cNvSpPr/>
          <p:nvPr/>
        </p:nvSpPr>
        <p:spPr>
          <a:xfrm>
            <a:off x="7909560" y="4379976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20 + 9 = 29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297680"/>
            <a:ext cx="3758184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4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370832" y="4297680"/>
            <a:ext cx="2825496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3 (절반)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68771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(3/6)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7)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5 · A(2, 8) · B(4, 16)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68365d3a94fcb5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가치는 A 8 ÷ 2 = 4, B 16 ÷ 4 = 4로 같습니다.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같으면 앞에 있는 A부터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c61785cdf10a94e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2 ≤ 5 → 전부, 가치 8</a:t>
            </a:r>
          </a:p>
        </p:txBody>
      </p:sp>
      <p:sp>
        <p:nvSpPr>
          <p:cNvPr id="12" name="fit:4cbbdaadb16dd7c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5 − 2 = 3</a:t>
            </a:r>
          </a:p>
        </p:txBody>
      </p:sp>
      <p:sp>
        <p:nvSpPr>
          <p:cNvPr id="13" name="fit:dedd0320ee0f3229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B: 4 &gt; 3 → 3만 덜어 담기</a:t>
            </a:r>
          </a:p>
        </p:txBody>
      </p:sp>
      <p:sp>
        <p:nvSpPr>
          <p:cNvPr id="14" name="fit:18e2ff248e5c90e7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4 = 3/4 → 16 × 3/4 = 12</a:t>
            </a:r>
          </a:p>
        </p:txBody>
      </p:sp>
      <p:sp>
        <p:nvSpPr>
          <p:cNvPr id="15" name="fit:b7e496fff65185e3 16"/>
          <p:cNvSpPr/>
          <p:nvPr/>
        </p:nvSpPr>
        <p:spPr>
          <a:xfrm>
            <a:off x="7909560" y="4343400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8 + 12 = 20</a:t>
            </a:r>
          </a:p>
        </p:txBody>
      </p:sp>
      <p:sp>
        <p:nvSpPr>
          <p:cNvPr id="16" name="fit:11eca8a07ce612ac 17"/>
          <p:cNvSpPr/>
          <p:nvPr/>
        </p:nvSpPr>
        <p:spPr>
          <a:xfrm>
            <a:off x="7909560" y="4809744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B부터 담아도 16 + 4 = 20.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가치가 모두 4라서 5 × 4 = 20입니다.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2976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3246120" y="4297680"/>
            <a:ext cx="3950208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3 (3/4)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620068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(3/4)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0/1 용량 50 · 그리디는 160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839d99089270805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A(10, 60), B(20, 100), C(30, 120)입니다(무게, 가치).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6, B 5, C 4 → A, B, C 순서로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a500d51e589ff2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10 ≤ 50 → 담음, 남은 40</a:t>
            </a:r>
          </a:p>
        </p:txBody>
      </p:sp>
      <p:sp>
        <p:nvSpPr>
          <p:cNvPr id="12" name="fit:212c5361ba54e3b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B: 20 ≤ 40 → 담음, 남은 20</a:t>
            </a:r>
          </a:p>
        </p:txBody>
      </p:sp>
      <p:sp>
        <p:nvSpPr>
          <p:cNvPr id="13" name="fit:7f773269ca384dbe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C: 30 &gt; 20 → 건너뜀</a:t>
            </a:r>
          </a:p>
        </p:txBody>
      </p:sp>
      <p:sp>
        <p:nvSpPr>
          <p:cNvPr id="14" name="fit:8653b7da843f4f72 15"/>
          <p:cNvSpPr/>
          <p:nvPr/>
        </p:nvSpPr>
        <p:spPr>
          <a:xfrm>
            <a:off x="7909560" y="40416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답</a:t>
            </a:r>
          </a:p>
        </p:txBody>
      </p:sp>
      <p:sp>
        <p:nvSpPr>
          <p:cNvPr id="15" name="fit:46b60fb62f81cf7e 16"/>
          <p:cNvSpPr/>
          <p:nvPr/>
        </p:nvSpPr>
        <p:spPr>
          <a:xfrm>
            <a:off x="7909560" y="4325112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60 + 100 = 160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754880"/>
            <a:ext cx="1316736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10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929384" y="47548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20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4562856" y="4754880"/>
            <a:ext cx="2633472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20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4544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건너뜀</a:t>
                      </a:r>
                    </a:p>
                  </a:txBody>
                  <a:tcPr marL="54864" marR="54864" marT="18288" marB="18288" anchor="ctr">
                    <a:solidFill>
                      <a:srgbClr val="FBE1E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50)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담은 보물    빨강: 건너뛴 보물    노랑: 무게당 가치    회색: 남은 빈 공간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조합을 다 보면 B + C = 220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571316"/>
              </p:ext>
            </p:extLst>
          </p:nvPr>
        </p:nvGraphicFramePr>
        <p:xfrm>
          <a:off x="612648" y="1636776"/>
          <a:ext cx="10972800" cy="2962656"/>
        </p:xfrm>
        <a:graphic>
          <a:graphicData uri="http://schemas.openxmlformats.org/drawingml/2006/table">
            <a:tbl>
              <a:tblPr/>
              <a:tblGrid>
                <a:gridCol w="2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1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D5A8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(그리디의 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 + C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· 최대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초과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fit:a486a186e9c10c25 11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최적해는 B + C = 220입니다. 그리디의 답 160보다 60 큽니다.</a:t>
            </a:r>
          </a:p>
        </p:txBody>
      </p:sp>
      <p:sp>
        <p:nvSpPr>
          <p:cNvPr id="11" name="fit:a49b34f283346047 12"/>
          <p:cNvSpPr/>
          <p:nvPr/>
        </p:nvSpPr>
        <p:spPr>
          <a:xfrm>
            <a:off x="612648" y="525780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 1등인 A를 담는 순간, 남은 40에는 B(20)와 C(30)를 함께 넣을 수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첫 선택부터 최적해에서 벗어난 것입니다.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그리디가 실패하는 이유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b352e0c62bd1927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첫 선택이 최적해에 없다</a:t>
            </a:r>
          </a:p>
        </p:txBody>
      </p:sp>
      <p:sp>
        <p:nvSpPr>
          <p:cNvPr id="10" name="fit:2acb35ccd421fe33 11"/>
          <p:cNvSpPr/>
          <p:nvPr/>
        </p:nvSpPr>
        <p:spPr>
          <a:xfrm>
            <a:off x="795528" y="19659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담으면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남아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B(20)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C(30)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함께 넣지 못합니다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 +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에는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 없습니다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fit:b2531f86ecd8dc82 12"/>
          <p:cNvSpPr/>
          <p:nvPr/>
        </p:nvSpPr>
        <p:spPr>
          <a:xfrm>
            <a:off x="612648" y="23500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분할 배낭과의 차이</a:t>
            </a:r>
          </a:p>
        </p:txBody>
      </p:sp>
      <p:sp>
        <p:nvSpPr>
          <p:cNvPr id="12" name="fit:56f20c60fce80385 13"/>
          <p:cNvSpPr/>
          <p:nvPr/>
        </p:nvSpPr>
        <p:spPr>
          <a:xfrm>
            <a:off x="795528" y="2679192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있으면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A(10), B(20),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담아 가치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얻습니다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없으면 1kg 교환을 쓸 수 없고, 이 예처럼 빈 공간이 손해로 남습니다.</a:t>
            </a:r>
          </a:p>
        </p:txBody>
      </p:sp>
      <p:sp>
        <p:nvSpPr>
          <p:cNvPr id="13" name="fit:1cc9a669c322793e 14"/>
          <p:cNvSpPr/>
          <p:nvPr/>
        </p:nvSpPr>
        <p:spPr>
          <a:xfrm>
            <a:off x="612648" y="33192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모든 조합을 보면?</a:t>
            </a:r>
          </a:p>
        </p:txBody>
      </p:sp>
      <p:sp>
        <p:nvSpPr>
          <p:cNvPr id="14" name="fit:1d306d76c1c1d03e 15"/>
          <p:cNvSpPr/>
          <p:nvPr/>
        </p:nvSpPr>
        <p:spPr>
          <a:xfrm>
            <a:off x="795528" y="36484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보물 n개를 담거나 말거나: 2ⁿ가지. 보물이 30개면 10억 가지가 넘습니다.</a:t>
            </a:r>
          </a:p>
        </p:txBody>
      </p:sp>
      <p:sp>
        <p:nvSpPr>
          <p:cNvPr id="15" name="fit:e0ac22383b6b9413 16"/>
          <p:cNvSpPr/>
          <p:nvPr/>
        </p:nvSpPr>
        <p:spPr>
          <a:xfrm>
            <a:off x="612648" y="40325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④ 6장 동적 계획법</a:t>
            </a:r>
          </a:p>
        </p:txBody>
      </p:sp>
      <p:sp>
        <p:nvSpPr>
          <p:cNvPr id="16" name="fit:6b58876d7fd7441f 17"/>
          <p:cNvSpPr/>
          <p:nvPr/>
        </p:nvSpPr>
        <p:spPr>
          <a:xfrm>
            <a:off x="795528" y="43616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같은 부분 문제의 답을 표에 저장해 다시 계산하지 않습니다. 0/1 배낭의 정확한 답은 6장에서 구합니다.</a:t>
            </a:r>
          </a:p>
        </p:txBody>
      </p:sp>
      <p:sp>
        <p:nvSpPr>
          <p:cNvPr id="17" name="fit:f2ae1b802e44768f 18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배낭에서 무게당 가치 그리디는 최적해를 보장하지 못합니다.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그리디가 최적해를 보장하는 두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9016a93db067e93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매 단계 지금 기준의 최선을 확정하고 되돌리지 않습니다.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방식이 최적해를 낸다고 보장하려면 두 성질을 보여야 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 탐욕적 선택 속성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greedy choice property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가장 좋아 보이는 선택을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포함하는 최적해가 있다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28192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637336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② 최적 부분 구조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7336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optimal substructure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하고 남은 문제의 최적해가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최적해의 나머지가 된다</a:t>
            </a:r>
          </a:p>
        </p:txBody>
      </p:sp>
      <p:sp>
        <p:nvSpPr>
          <p:cNvPr id="16" name="fit:8f37c4c1ed1b2c20 17"/>
          <p:cNvSpPr/>
          <p:nvPr/>
        </p:nvSpPr>
        <p:spPr>
          <a:xfrm>
            <a:off x="658368" y="4151376"/>
            <a:ext cx="1088136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①로 첫 선택이 안전하고, ②로 남은 문제를 같은 방법으로 풀 수 있습니다.</a:t>
            </a:r>
          </a:p>
        </p:txBody>
      </p:sp>
      <p:sp>
        <p:nvSpPr>
          <p:cNvPr id="17" name="fit:eb0e0f8baff1c98d 18"/>
          <p:cNvSpPr/>
          <p:nvPr/>
        </p:nvSpPr>
        <p:spPr>
          <a:xfrm>
            <a:off x="658368" y="4636008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둘을 단계마다 이어 붙이면 그리디의 답이 전체 최적해가 됩니다. 둘 중 하나라도 보이지 못하면 보장이 사라집니다.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탐욕적 선택 속성 (greedy choice property)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a8048fa2cbba117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기준으로 가장 좋아 보이는 선택을 해도, 그 선택을 포함하는 최적해가 적어도 하나 있다는 성질입니다.</a:t>
            </a:r>
          </a:p>
        </p:txBody>
      </p:sp>
      <p:sp>
        <p:nvSpPr>
          <p:cNvPr id="10" name="fit:ff74592b4967b429 11"/>
          <p:cNvSpPr/>
          <p:nvPr/>
        </p:nvSpPr>
        <p:spPr>
          <a:xfrm>
            <a:off x="612648" y="243230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판별 질문: 이 선택을 포함하는 최적해가 있는가?</a:t>
            </a:r>
          </a:p>
        </p:txBody>
      </p:sp>
      <p:sp>
        <p:nvSpPr>
          <p:cNvPr id="11" name="fit:7d1e5cef806786a7 12"/>
          <p:cNvSpPr/>
          <p:nvPr/>
        </p:nvSpPr>
        <p:spPr>
          <a:xfrm>
            <a:off x="612648" y="294436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12" name="fit:84a1dec647adb88c 13"/>
          <p:cNvSpPr/>
          <p:nvPr/>
        </p:nvSpPr>
        <p:spPr>
          <a:xfrm>
            <a:off x="795528" y="327355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확정하고 남은 문제로 넘어가도 최적해를 놓치지 않습니다.</a:t>
            </a:r>
          </a:p>
        </p:txBody>
      </p:sp>
      <p:sp>
        <p:nvSpPr>
          <p:cNvPr id="13" name="fit:7dcb18da4e339036 14"/>
          <p:cNvSpPr/>
          <p:nvPr/>
        </p:nvSpPr>
        <p:spPr>
          <a:xfrm>
            <a:off x="612648" y="365760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14" name="fit:06b28aa1c99695bf 15"/>
          <p:cNvSpPr/>
          <p:nvPr/>
        </p:nvSpPr>
        <p:spPr>
          <a:xfrm>
            <a:off x="795528" y="398678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하는 순간 최적해로 가는 길이 모두 막힙니다.</a:t>
            </a:r>
          </a:p>
        </p:txBody>
      </p:sp>
      <p:sp>
        <p:nvSpPr>
          <p:cNvPr id="15" name="fit:b456af62ded74b9b 16"/>
          <p:cNvSpPr/>
          <p:nvPr/>
        </p:nvSpPr>
        <p:spPr>
          <a:xfrm>
            <a:off x="612648" y="4370832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"안전하다"는 다른 선택보다 더 좋다는 뜻이 아니라, 이 선택을 해도 최적해로 가는 길이 남아 있다는 뜻입니다. 최적해가 여러 개라면 그중 하나만 이 선택을 포함해도 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교환 논증의 핵심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75aa79d3a3cab7b 10"/>
          <p:cNvSpPr/>
          <p:nvPr/>
        </p:nvSpPr>
        <p:spPr>
          <a:xfrm>
            <a:off x="612648" y="163677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여전히 최적해임을 보입니다.</a:t>
            </a:r>
          </a:p>
        </p:txBody>
      </p:sp>
      <p:sp>
        <p:nvSpPr>
          <p:cNvPr id="10" name="fit:0543bbfcadfb527b 11"/>
          <p:cNvSpPr/>
          <p:nvPr/>
        </p:nvSpPr>
        <p:spPr>
          <a:xfrm>
            <a:off x="612648" y="214884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어떤 최적해 O에서 시작합니다</a:t>
            </a:r>
          </a:p>
        </p:txBody>
      </p:sp>
      <p:sp>
        <p:nvSpPr>
          <p:cNvPr id="11" name="fit:778e49bc6fc4af9d 12"/>
          <p:cNvSpPr/>
          <p:nvPr/>
        </p:nvSpPr>
        <p:spPr>
          <a:xfrm>
            <a:off x="795528" y="247802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O에 탐욕 선택 g가 없다고 합시다.</a:t>
            </a:r>
          </a:p>
        </p:txBody>
      </p:sp>
      <p:sp>
        <p:nvSpPr>
          <p:cNvPr id="12" name="fit:aeef3f2e8ea647cf 13"/>
          <p:cNvSpPr/>
          <p:nvPr/>
        </p:nvSpPr>
        <p:spPr>
          <a:xfrm>
            <a:off x="612648" y="28620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일부를 g로 바꿉니다</a:t>
            </a:r>
          </a:p>
        </p:txBody>
      </p:sp>
      <p:sp>
        <p:nvSpPr>
          <p:cNvPr id="13" name="fit:8c8ea80a6aff296d 14"/>
          <p:cNvSpPr/>
          <p:nvPr/>
        </p:nvSpPr>
        <p:spPr>
          <a:xfrm>
            <a:off x="795528" y="31912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바꾼 O′도 문제의 조건(겹치지 않음, 용량, 금액)을 지킵니다.</a:t>
            </a:r>
          </a:p>
        </p:txBody>
      </p:sp>
      <p:sp>
        <p:nvSpPr>
          <p:cNvPr id="14" name="fit:fef3bc31f9cf10dd 15"/>
          <p:cNvSpPr/>
          <p:nvPr/>
        </p:nvSpPr>
        <p:spPr>
          <a:xfrm>
            <a:off x="612648" y="35753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값이 나빠지지 않음을 보입니다</a:t>
            </a:r>
          </a:p>
        </p:txBody>
      </p:sp>
      <p:sp>
        <p:nvSpPr>
          <p:cNvPr id="15" name="fit:4c49ef934ca2f6cd 16"/>
          <p:cNvSpPr/>
          <p:nvPr/>
        </p:nvSpPr>
        <p:spPr>
          <a:xfrm>
            <a:off x="795528" y="39044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O′의 값이 O보다 나쁘지 않으면 O′도 최적해이고, O′에는 g가 들어 있습니다.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709295"/>
              </p:ext>
            </p:extLst>
          </p:nvPr>
        </p:nvGraphicFramePr>
        <p:xfrm>
          <a:off x="612648" y="4288536"/>
          <a:ext cx="10972800" cy="1243584"/>
        </p:xfrm>
        <a:graphic>
          <a:graphicData uri="http://schemas.openxmlformats.org/drawingml/2006/table">
            <a:tbl>
              <a:tblPr/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바꾸는 것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나빠지지 않는 이유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(5.3)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O의 첫 회의 → 1번 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1번이 더 일찍 끝나 겹치지 않고, 개수 그대로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(5.4)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안의 B·C 1kg → 밖의 A 1kg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1kg당 600 G → 700 G, 가치가 늘어남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표준 동전 (5.2)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 → 500원 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금액을 동전 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 적게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fit:7ff1daad6120779c 18"/>
          <p:cNvSpPr/>
          <p:nvPr/>
        </p:nvSpPr>
        <p:spPr>
          <a:xfrm>
            <a:off x="612648" y="56784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결론은 늘 같습니다. 탐욕 선택을 포함하는 최적해가 있다 → 탐욕적 선택 속성이 성립합니다.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최적 부분 구조 (optimal substructure)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b2df7395048251b 10"/>
          <p:cNvSpPr/>
          <p:nvPr/>
        </p:nvSpPr>
        <p:spPr>
          <a:xfrm>
            <a:off x="658368" y="1737360"/>
            <a:ext cx="5120640" cy="11704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선택하고 남은 부분 문제(하위 문제)의 최적해에 그 선택을 더하면 전체 최적해가 된다는 성질입니다. 거꾸로 말하면 전체 최적해 안에 부분 문제의 최적해가 들어 있습니다.</a:t>
            </a:r>
          </a:p>
        </p:txBody>
      </p:sp>
      <p:sp>
        <p:nvSpPr>
          <p:cNvPr id="10" name="fit:9ea371377acf8344 11"/>
          <p:cNvSpPr/>
          <p:nvPr/>
        </p:nvSpPr>
        <p:spPr>
          <a:xfrm>
            <a:off x="658368" y="30358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활동 선택</a:t>
            </a:r>
          </a:p>
        </p:txBody>
      </p:sp>
      <p:sp>
        <p:nvSpPr>
          <p:cNvPr id="11" name="fit:fe7c3a85be490736 12"/>
          <p:cNvSpPr/>
          <p:nvPr/>
        </p:nvSpPr>
        <p:spPr>
          <a:xfrm>
            <a:off x="841248" y="3364992"/>
            <a:ext cx="493776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1번 [1, 3)을 고르면 남은 문제는 "3시 이후에 시작하는 회의 중 최대 개수 고르기"입니다. 그 최적해에 1번을 더하면 전체 최적해가 됩니다.</a:t>
            </a:r>
          </a:p>
        </p:txBody>
      </p:sp>
      <p:sp>
        <p:nvSpPr>
          <p:cNvPr id="12" name="fit:83a860a318d281b9 13"/>
          <p:cNvSpPr/>
          <p:nvPr/>
        </p:nvSpPr>
        <p:spPr>
          <a:xfrm>
            <a:off x="658368" y="4251960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그리디는 선택을 확정한 뒤 남은 문제를 같은 방법으로 풉니다. 그래서 이 성질이 필요합니다.</a:t>
            </a:r>
          </a:p>
        </p:txBody>
      </p:sp>
      <p:sp>
        <p:nvSpPr>
          <p:cNvPr id="13" name="fit:3a5405e8e2e35d0d 14"/>
          <p:cNvSpPr/>
          <p:nvPr/>
        </p:nvSpPr>
        <p:spPr>
          <a:xfrm>
            <a:off x="658368" y="4901184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4장의 최대 구간 합처럼 분할 정복으로 푸는 최적화 문제, 6장의 동적 계획법도 이 성질을 씁니다.</a:t>
            </a:r>
          </a:p>
        </p:txBody>
      </p:sp>
      <p:pic>
        <p:nvPicPr>
          <p:cNvPr id="14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5" name="직사각형 16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문제의 최적해(그림의 최적 부분해)를 모아 전체 최적해(그림의 전역 최적해)를 만듭니다.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주의: ②만으로는 그리디를 보장할 수 없다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59034"/>
              </p:ext>
            </p:extLst>
          </p:nvPr>
        </p:nvGraphicFramePr>
        <p:xfrm>
          <a:off x="612648" y="1636776"/>
          <a:ext cx="10972800" cy="2304288"/>
        </p:xfrm>
        <a:graphic>
          <a:graphicData uri="http://schemas.openxmlformats.org/drawingml/2006/table">
            <a:tbl>
              <a:tblPr/>
              <a:tblGrid>
                <a:gridCol w="40144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3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3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 (그리디의 기준)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탐욕적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최적 부분 구조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(종료가 빠른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1·3·4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 동전 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동전부터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5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간선 비용 ≥ 0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음수 간선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틀릴 수 있음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fit:4c9fe978979afa60 11"/>
          <p:cNvSpPr/>
          <p:nvPr/>
        </p:nvSpPr>
        <p:spPr>
          <a:xfrm>
            <a:off x="612648" y="4087368"/>
            <a:ext cx="10972800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1·3·4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원 동전과 </a:t>
            </a: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배낭은 </a:t>
            </a: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①이 깨진 예입니다. ②는 성립하므로 6장 동적 계획법으로 풀립니다.</a:t>
            </a:r>
          </a:p>
        </p:txBody>
      </p:sp>
      <p:sp>
        <p:nvSpPr>
          <p:cNvPr id="11" name="fit:b330f053da83b4f4 12"/>
          <p:cNvSpPr/>
          <p:nvPr/>
        </p:nvSpPr>
        <p:spPr>
          <a:xfrm>
            <a:off x="612648" y="4873752"/>
            <a:ext cx="1097280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최단 경로는 음수 간선이 있어도(한 바퀴 돌수록 짧아지는 순환이 없다면) ②가 성립합니다. 다익스트라가 옳으려면 "간선 비용이 모두 0 이상이면, 아직 확정하지 않은 곳 중 지금 가장 가까운 곳은 더 가까워지지 않는다"는 ①의 근거가 더 필요합니다.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 용어: 정점, 간선, 가중치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7889294fc2e6941 10"/>
          <p:cNvSpPr/>
          <p:nvPr/>
        </p:nvSpPr>
        <p:spPr>
          <a:xfrm>
            <a:off x="612648" y="1636776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도시와 도로를 그래프로 나타냅니다. 왼쪽은 정점 4개, 간선 5개짜리 그래프입니다.</a:t>
            </a:r>
          </a:p>
        </p:txBody>
      </p:sp>
      <p:cxnSp>
        <p:nvCxnSpPr>
          <p:cNvPr id="10" name="연결선 11"/>
          <p:cNvCxnSpPr/>
          <p:nvPr/>
        </p:nvCxnSpPr>
        <p:spPr>
          <a:xfrm flipV="1">
            <a:off x="111982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169278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108960" y="299008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2596896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111982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69278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6" name="연결선 17"/>
          <p:cNvCxnSpPr/>
          <p:nvPr/>
        </p:nvCxnSpPr>
        <p:spPr>
          <a:xfrm flipV="1">
            <a:off x="331438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04965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331438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04965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6751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2862072" y="24963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2862072" y="542239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05663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graphicFrame>
        <p:nvGraphicFramePr>
          <p:cNvPr id="24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893198"/>
              </p:ext>
            </p:extLst>
          </p:nvPr>
        </p:nvGraphicFramePr>
        <p:xfrm>
          <a:off x="5943600" y="2651760"/>
          <a:ext cx="5641848" cy="1984248"/>
        </p:xfrm>
        <a:graphic>
          <a:graphicData uri="http://schemas.openxmlformats.org/drawingml/2006/table">
            <a:tbl>
              <a:tblPr/>
              <a:tblGrid>
                <a:gridCol w="1524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5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그림에서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 (vertex)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점. 예: 도시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 = 4 (A~D)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 (edge)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 정점을 잇는 선. 예: 도로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 =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 (weight)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간선에 붙은 비용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1, C – D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 (path)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간선을 따라 이어진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 (cycle)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출발점으로 돌아오는 닫힌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C –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 (spanning)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정점을 포함한다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A~D 모두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직사각형 26"/>
          <p:cNvSpPr/>
          <p:nvPr/>
        </p:nvSpPr>
        <p:spPr>
          <a:xfrm>
            <a:off x="5943600" y="4754880"/>
            <a:ext cx="5641848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V는 정점의 수, E는 간선의 수를 나타내는 기호입니다.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원: 정점    선: 간선    선 위의 수: 가중치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 (MST)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6f4c251d7e457f34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모든 정점을 잇고, 사이클이 없는 간선 모음</a:t>
            </a:r>
          </a:p>
        </p:txBody>
      </p:sp>
      <p:sp>
        <p:nvSpPr>
          <p:cNvPr id="10" name="fit:6c01e07bf5dfc0d8 11"/>
          <p:cNvSpPr/>
          <p:nvPr/>
        </p:nvSpPr>
        <p:spPr>
          <a:xfrm>
            <a:off x="658368" y="2459736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(Minimum Spanning Tree, MST): 신장 트리 중 가중치 합이 가장 작은 것</a:t>
            </a:r>
          </a:p>
        </p:txBody>
      </p:sp>
      <p:sp>
        <p:nvSpPr>
          <p:cNvPr id="11" name="fit:b96226f3235c7a30 12"/>
          <p:cNvSpPr/>
          <p:nvPr/>
        </p:nvSpPr>
        <p:spPr>
          <a:xfrm>
            <a:off x="658368" y="318211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연결</a:t>
            </a:r>
          </a:p>
        </p:txBody>
      </p:sp>
      <p:sp>
        <p:nvSpPr>
          <p:cNvPr id="12" name="fit:5ab8854dd98eb610 13"/>
          <p:cNvSpPr/>
          <p:nvPr/>
        </p:nvSpPr>
        <p:spPr>
          <a:xfrm>
            <a:off x="841248" y="351129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어느 정점도 떨어져 있으면 안 됩니다.</a:t>
            </a:r>
          </a:p>
        </p:txBody>
      </p:sp>
      <p:sp>
        <p:nvSpPr>
          <p:cNvPr id="13" name="fit:fb6883d89e07b358 14"/>
          <p:cNvSpPr/>
          <p:nvPr/>
        </p:nvSpPr>
        <p:spPr>
          <a:xfrm>
            <a:off x="658368" y="389534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사이클 없음</a:t>
            </a:r>
          </a:p>
        </p:txBody>
      </p:sp>
      <p:sp>
        <p:nvSpPr>
          <p:cNvPr id="14" name="fit:73c417dc2f563200 15"/>
          <p:cNvSpPr/>
          <p:nvPr/>
        </p:nvSpPr>
        <p:spPr>
          <a:xfrm>
            <a:off x="841248" y="4224528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사이클이 있으면 그중 간선 하나를 빼도 모두 연결된 채입니다. 모두 잇는 데 사이클은 필요 없습니다.</a:t>
            </a:r>
          </a:p>
        </p:txBody>
      </p:sp>
      <p:sp>
        <p:nvSpPr>
          <p:cNvPr id="15" name="fit:d9c07b4105e03927 16"/>
          <p:cNvSpPr/>
          <p:nvPr/>
        </p:nvSpPr>
        <p:spPr>
          <a:xfrm>
            <a:off x="658368" y="48646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간선은 정확히 V − 1개</a:t>
            </a:r>
          </a:p>
        </p:txBody>
      </p:sp>
      <p:sp>
        <p:nvSpPr>
          <p:cNvPr id="16" name="fit:e3b56a1b91c6221c 17"/>
          <p:cNvSpPr/>
          <p:nvPr/>
        </p:nvSpPr>
        <p:spPr>
          <a:xfrm>
            <a:off x="841248" y="5193792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정점이 V개면 간선은 V − 1개입니다(다음 슬라이드).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546" y="1828800"/>
            <a:ext cx="5220836" cy="4206240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굵은 선 9개 = 최소 신장 트리(정점 10개, 합 38). 집 = 정점, 선 = 간선, 수 = 가중치 (맨 위 짧은 굵은 선 = 1)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트리의 간선은 V − 1개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1de669203f4ab65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= 서로 경로로 이어진 정점들의 묶음입니다. 서로 다른 두 덩어리를 잇는 간선을 하나 더할 때마다 덩어리가 하나씩 줄어듭니다.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6751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185623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18562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6751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26440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28620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0507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05079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86207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45896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0" name="연결선 21"/>
          <p:cNvCxnSpPr/>
          <p:nvPr/>
        </p:nvCxnSpPr>
        <p:spPr>
          <a:xfrm>
            <a:off x="644652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05663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2453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2453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0566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65352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6" name="연결선 27"/>
          <p:cNvCxnSpPr/>
          <p:nvPr/>
        </p:nvCxnSpPr>
        <p:spPr>
          <a:xfrm>
            <a:off x="864108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7" name="연결선 28"/>
          <p:cNvCxnSpPr/>
          <p:nvPr/>
        </p:nvCxnSpPr>
        <p:spPr>
          <a:xfrm flipH="1">
            <a:off x="765352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2511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43991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843991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25119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84808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3" name="연결선 34"/>
          <p:cNvCxnSpPr/>
          <p:nvPr/>
        </p:nvCxnSpPr>
        <p:spPr>
          <a:xfrm>
            <a:off x="1083564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4" name="연결선 35"/>
          <p:cNvCxnSpPr/>
          <p:nvPr/>
        </p:nvCxnSpPr>
        <p:spPr>
          <a:xfrm flipH="1">
            <a:off x="984808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5" name="연결선 36"/>
          <p:cNvCxnSpPr/>
          <p:nvPr/>
        </p:nvCxnSpPr>
        <p:spPr>
          <a:xfrm>
            <a:off x="9794739" y="3428288"/>
            <a:ext cx="893082" cy="824383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36" name="직사각형 37"/>
          <p:cNvSpPr/>
          <p:nvPr/>
        </p:nvSpPr>
        <p:spPr>
          <a:xfrm>
            <a:off x="94457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106344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1063447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4457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68580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0개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88036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1개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07492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726948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3개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46404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하나 더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68580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4개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288036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3개</a:t>
            </a:r>
          </a:p>
        </p:txBody>
      </p:sp>
      <p:sp>
        <p:nvSpPr>
          <p:cNvPr id="47" name="직사각형 48"/>
          <p:cNvSpPr/>
          <p:nvPr/>
        </p:nvSpPr>
        <p:spPr>
          <a:xfrm>
            <a:off x="507492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2개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26948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덩어리 1개</a:t>
            </a:r>
          </a:p>
        </p:txBody>
      </p:sp>
      <p:sp>
        <p:nvSpPr>
          <p:cNvPr id="49" name="직사각형 50"/>
          <p:cNvSpPr/>
          <p:nvPr/>
        </p:nvSpPr>
        <p:spPr>
          <a:xfrm>
            <a:off x="946404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사이클 발생</a:t>
            </a:r>
          </a:p>
        </p:txBody>
      </p:sp>
      <p:sp>
        <p:nvSpPr>
          <p:cNvPr id="50" name="fit:3246beffbb096d57 51"/>
          <p:cNvSpPr/>
          <p:nvPr/>
        </p:nvSpPr>
        <p:spPr>
          <a:xfrm>
            <a:off x="612648" y="5193792"/>
            <a:ext cx="10972800" cy="3566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정점 V개를 한 덩어리로 이으려면 간선 V − 1개가 필요합니다.</a:t>
            </a:r>
          </a:p>
        </p:txBody>
      </p:sp>
      <p:sp>
        <p:nvSpPr>
          <p:cNvPr id="51" name="fit:13c60391ac6541bd 52"/>
          <p:cNvSpPr/>
          <p:nvPr/>
        </p:nvSpPr>
        <p:spPr>
          <a:xfrm>
            <a:off x="612648" y="566013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간선을 하나 더 넣으면 이미 이어진 두 정점을 또 잇게 되어 덩어리는 줄지 않고 사이클만 생깁니다. 그래서 신장 트리의 간선은 정확히 V − 1개입니다.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크루스칼: 가장 싼 간선부터 잇는다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b57310d07169824 10"/>
          <p:cNvSpPr/>
          <p:nvPr/>
        </p:nvSpPr>
        <p:spPr>
          <a:xfrm>
            <a:off x="658368" y="173736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0" name="fit:fd3b010012216165 11"/>
          <p:cNvSpPr/>
          <p:nvPr/>
        </p:nvSpPr>
        <p:spPr>
          <a:xfrm>
            <a:off x="841248" y="206654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간선을 가중치 오름차순으로 줄 세웁니다.</a:t>
            </a:r>
          </a:p>
        </p:txBody>
      </p:sp>
      <p:sp>
        <p:nvSpPr>
          <p:cNvPr id="11" name="fit:9b5ca5a1a5183f49 12"/>
          <p:cNvSpPr/>
          <p:nvPr/>
        </p:nvSpPr>
        <p:spPr>
          <a:xfrm>
            <a:off x="658368" y="245059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싼 간선부터 검사</a:t>
            </a:r>
          </a:p>
        </p:txBody>
      </p:sp>
      <p:sp>
        <p:nvSpPr>
          <p:cNvPr id="12" name="fit:c71909c7f37586bd 13"/>
          <p:cNvSpPr/>
          <p:nvPr/>
        </p:nvSpPr>
        <p:spPr>
          <a:xfrm>
            <a:off x="841248" y="277977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사이클을 만들지 않으면 채택하고, 만들면 버립니다.</a:t>
            </a:r>
          </a:p>
        </p:txBody>
      </p:sp>
      <p:sp>
        <p:nvSpPr>
          <p:cNvPr id="13" name="fit:776fa308e411933f 14"/>
          <p:cNvSpPr/>
          <p:nvPr/>
        </p:nvSpPr>
        <p:spPr>
          <a:xfrm>
            <a:off x="658368" y="316382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멈춤</a:t>
            </a:r>
          </a:p>
        </p:txBody>
      </p:sp>
      <p:sp>
        <p:nvSpPr>
          <p:cNvPr id="14" name="fit:3e1c69787374a42e 15"/>
          <p:cNvSpPr/>
          <p:nvPr/>
        </p:nvSpPr>
        <p:spPr>
          <a:xfrm>
            <a:off x="841248" y="3493008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채택한 간선이 V − 1개가 되면 끝납니다.</a:t>
            </a:r>
          </a:p>
        </p:txBody>
      </p:sp>
      <p:sp>
        <p:nvSpPr>
          <p:cNvPr id="15" name="fit:5e564016c6f49db8 16"/>
          <p:cNvSpPr/>
          <p:nvPr/>
        </p:nvSpPr>
        <p:spPr>
          <a:xfrm>
            <a:off x="658368" y="3877056"/>
            <a:ext cx="5120640" cy="6217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사이클 판정: 간선의 두 끝이 이미 같은 덩어리이면 사이클</a:t>
            </a:r>
          </a:p>
        </p:txBody>
      </p:sp>
      <p:sp>
        <p:nvSpPr>
          <p:cNvPr id="16" name="fit:d83ac612ca4fb575 17"/>
          <p:cNvSpPr/>
          <p:nvPr/>
        </p:nvSpPr>
        <p:spPr>
          <a:xfrm>
            <a:off x="658368" y="4608576"/>
            <a:ext cx="512064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선택 = 남은 간선 중 가장 싼 것, 적정성 검사 = 사이클이 생기지 않는가, 해답 검사 = 간선이 V − 1개인가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왼쪽 그림: 가장 싼 간선부터 잇는다    오른쪽 그림: 이미 이어진 두 곳을 또 이으면 사이클이 되므로 버린다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 ①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1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2d24154a3cfc7a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간선을 정렬하면 AB 1, BC 2, AC 3, CD 4, BD 5입니다. 정점이 4개이므로 간선 3개(V − 1)에서 멈춥니다.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016152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60ec7fb8b6dd7c45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B는 서로 다른 덩어리 → 채택</a:t>
            </a:r>
          </a:p>
        </p:txBody>
      </p:sp>
      <p:sp>
        <p:nvSpPr>
          <p:cNvPr id="13" name="fit:d58c11ab620f4470 14"/>
          <p:cNvSpPr/>
          <p:nvPr/>
        </p:nvSpPr>
        <p:spPr>
          <a:xfrm>
            <a:off x="7909560" y="54132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B} {C} {D}</a:t>
            </a:r>
          </a:p>
        </p:txBody>
      </p:sp>
      <p:sp>
        <p:nvSpPr>
          <p:cNvPr id="14" name="fit:877f35efb051e1d3 15"/>
          <p:cNvSpPr/>
          <p:nvPr/>
        </p:nvSpPr>
        <p:spPr>
          <a:xfrm>
            <a:off x="7909560" y="575157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② BC 2 채택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5b2691ff2a7ef7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B({A, B})와 C(혼자)는 서로 다른 덩어리입니다 → 채택.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B, C} {D}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712076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28a9b88ebb5e5c5a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2개</a:t>
            </a:r>
          </a:p>
        </p:txBody>
      </p:sp>
      <p:sp>
        <p:nvSpPr>
          <p:cNvPr id="13" name="fit:082fa0ca8ece80fe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=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③ AC 3 사이클 → 버림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c6456e567c9253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C는 이미 A – B – C로 이어져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AC를 더하면 사이클 A – B – C – A가 생기므로 버립니다.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753850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160591a2d1cb080d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그대로 2개</a:t>
            </a:r>
          </a:p>
        </p:txBody>
      </p:sp>
      <p:sp>
        <p:nvSpPr>
          <p:cNvPr id="13" name="fit:133dda4b9bc020a5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A와 C를 이미 잇는 길    빨강 점선: 버린 AC(노랑 정점: 그 두 끝)    초록 정점: 채택한 간선에 닿은 정점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④ CD 4 채택 · 합 7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8a82fd0aee4116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D가 연결되어 간선 3개(= V − 1)가 되었으므로 멈춥니다.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BD(5)는 확인하지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977463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0516277beea8aea4 13"/>
          <p:cNvSpPr/>
          <p:nvPr/>
        </p:nvSpPr>
        <p:spPr>
          <a:xfrm>
            <a:off x="7909560" y="5074920"/>
            <a:ext cx="3666744" cy="23774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→ BC → (AC 사이클) → CD → 멈춤</a:t>
            </a:r>
          </a:p>
        </p:txBody>
      </p:sp>
      <p:sp>
        <p:nvSpPr>
          <p:cNvPr id="13" name="fit:815168a9ca1aa094 14"/>
          <p:cNvSpPr/>
          <p:nvPr/>
        </p:nvSpPr>
        <p:spPr>
          <a:xfrm>
            <a:off x="7909560" y="53858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+ 4 = 7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    주황: 지금 보는 간선(노랑 정점: 그 두 끝)    빨강 점선: 버림    회색: 확인하지 않음    초록 정점: 채택한 간선에 닿은 정점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음수 가중치 AB = −3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66cce49a65236b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A, B, C와 AB = −3, BC = 1, AC = 4.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정렬하면 AB(−3)가 맨 앞입니다.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015904"/>
              </p:ext>
            </p:extLst>
          </p:nvPr>
        </p:nvGraphicFramePr>
        <p:xfrm>
          <a:off x="7909560" y="2935224"/>
          <a:ext cx="3666744" cy="1316736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82cc2ef9d8d22a22 13"/>
          <p:cNvSpPr/>
          <p:nvPr/>
        </p:nvSpPr>
        <p:spPr>
          <a:xfrm>
            <a:off x="7909560" y="4398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 = V − 1 → 멈춤</a:t>
            </a:r>
          </a:p>
        </p:txBody>
      </p:sp>
      <p:sp>
        <p:nvSpPr>
          <p:cNvPr id="13" name="fit:a83d83a7ca66d189 14"/>
          <p:cNvSpPr/>
          <p:nvPr/>
        </p:nvSpPr>
        <p:spPr>
          <a:xfrm>
            <a:off x="7909560" y="4736592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−3 + 1 = −2</a:t>
            </a:r>
          </a:p>
        </p:txBody>
      </p:sp>
      <p:sp>
        <p:nvSpPr>
          <p:cNvPr id="14" name="fit:5f5057de8f0f5dd5 15"/>
          <p:cNvSpPr/>
          <p:nvPr/>
        </p:nvSpPr>
        <p:spPr>
          <a:xfrm>
            <a:off x="7909560" y="5193792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크루스칼은 가중치를 크기 비교에만 씁니다. 음수여도 그대로 성립합니다. 음수 간선에서 틀릴 수 있는 다익스트라(5.8)와 다릅니다.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55001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084287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−3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65313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389665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618488" y="5029200"/>
            <a:ext cx="37124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323697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1247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3227832" y="277063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33095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회색: 확인하지 않은 간선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시작점에서 모든 정점까지의 최단 거리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b3a2f6679f03078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 하나에서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모든 정점까지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가장 짧은 경로의 길이를 구합니다.</a:t>
            </a:r>
          </a:p>
        </p:txBody>
      </p:sp>
      <p:sp>
        <p:nvSpPr>
          <p:cNvPr id="10" name="fit:fd5187ee1321b3b3 11"/>
          <p:cNvSpPr/>
          <p:nvPr/>
        </p:nvSpPr>
        <p:spPr>
          <a:xfrm>
            <a:off x="658368" y="2459736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</a:t>
            </a:r>
          </a:p>
        </p:txBody>
      </p:sp>
      <p:sp>
        <p:nvSpPr>
          <p:cNvPr id="11" name="fit:cf7af4d44f837c4e 12"/>
          <p:cNvSpPr/>
          <p:nvPr/>
        </p:nvSpPr>
        <p:spPr>
          <a:xfrm>
            <a:off x="841248" y="2788920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시작점에서 v까지 지금까지 찾은 가장 짧은 거리. 처음엔 시작점 0, 나머지 ∞</a:t>
            </a:r>
          </a:p>
        </p:txBody>
      </p:sp>
      <p:sp>
        <p:nvSpPr>
          <p:cNvPr id="12" name="fit:7de19bc243cd8b76 13"/>
          <p:cNvSpPr/>
          <p:nvPr/>
        </p:nvSpPr>
        <p:spPr>
          <a:xfrm>
            <a:off x="658368" y="342900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13" name="fit:53298c9f7190bc06 14"/>
          <p:cNvSpPr/>
          <p:nvPr/>
        </p:nvSpPr>
        <p:spPr>
          <a:xfrm>
            <a:off x="841248" y="375818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dist[v]가 더 줄어들지 않는다고 결론 내리는 것</a:t>
            </a:r>
          </a:p>
        </p:txBody>
      </p:sp>
      <p:sp>
        <p:nvSpPr>
          <p:cNvPr id="14" name="fit:4977154339b6b5f6 15"/>
          <p:cNvSpPr/>
          <p:nvPr/>
        </p:nvSpPr>
        <p:spPr>
          <a:xfrm>
            <a:off x="658368" y="414223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다익스트라의 선택</a:t>
            </a:r>
          </a:p>
        </p:txBody>
      </p:sp>
      <p:sp>
        <p:nvSpPr>
          <p:cNvPr id="15" name="fit:51fc9e25f84256db 16"/>
          <p:cNvSpPr/>
          <p:nvPr/>
        </p:nvSpPr>
        <p:spPr>
          <a:xfrm>
            <a:off x="841248" y="4471416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아직 확정하지 않은 정점 중 dist가 가장 작은 곳부터 확정합니다</a:t>
            </a:r>
          </a:p>
        </p:txBody>
      </p:sp>
      <p:sp>
        <p:nvSpPr>
          <p:cNvPr id="16" name="fit:7a8f12f82cfd8387 17"/>
          <p:cNvSpPr/>
          <p:nvPr/>
        </p:nvSpPr>
        <p:spPr>
          <a:xfrm>
            <a:off x="658368" y="5111496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내비게이션 길 찾기, 네트워크 라우팅(예: OSPF)에 다익스트라나 그 변형이 쓰입니다.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그림: 집에서 편의점 2분, 학교 10분, 병원 15분. 아직 확정하지 않은 곳 중 가장 가까운 편의점부터 확정합니다.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가장 가까운 곳을 확정해도 안전한가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a0046a4a902a7f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편의점 2분, 학교 10분입니다. 학교를 거쳐 편의점에 가면 10 + x분(x ≥ 0)이라 2분보다 짧아질 수 없습니다.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3b7c61cc09d6e8d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학교를 거쳐 편의점에 가는 길</a:t>
            </a:r>
          </a:p>
        </p:txBody>
      </p:sp>
      <p:sp>
        <p:nvSpPr>
          <p:cNvPr id="12" name="fit:c72f5d17b00cb19d 13"/>
          <p:cNvSpPr/>
          <p:nvPr/>
        </p:nvSpPr>
        <p:spPr>
          <a:xfrm>
            <a:off x="7909560" y="33284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+ x ≥ 10 &gt; 2</a:t>
            </a:r>
          </a:p>
        </p:txBody>
      </p:sp>
      <p:sp>
        <p:nvSpPr>
          <p:cNvPr id="13" name="fit:4190b1266d26f2a4 14"/>
          <p:cNvSpPr/>
          <p:nvPr/>
        </p:nvSpPr>
        <p:spPr>
          <a:xfrm>
            <a:off x="7909560" y="3785616"/>
            <a:ext cx="3666744" cy="10424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학교까지 이미 10분입니다. 간선 비용이 0 이상이면 길을 더 갈수록 거리가 줄지 않으므로 편의점 2분은 더 줄어들 수 없습니다.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4937760"/>
            <a:ext cx="3666744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fit:11c5c8c4b90d4e64 16"/>
          <p:cNvSpPr/>
          <p:nvPr/>
        </p:nvSpPr>
        <p:spPr>
          <a:xfrm>
            <a:off x="7909560" y="506577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= −9라면?</a:t>
            </a:r>
          </a:p>
        </p:txBody>
      </p:sp>
      <p:sp>
        <p:nvSpPr>
          <p:cNvPr id="16" name="fit:77ea738554ac15ba 17"/>
          <p:cNvSpPr/>
          <p:nvPr/>
        </p:nvSpPr>
        <p:spPr>
          <a:xfrm>
            <a:off x="7909560" y="545896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10 − 9 = 1 &lt; 2. 음수 간선이 있으면 이 논리가 깨집니다.</a:t>
            </a:r>
          </a:p>
        </p:txBody>
      </p:sp>
      <p:cxnSp>
        <p:nvCxnSpPr>
          <p:cNvPr id="17" name="연결선 18"/>
          <p:cNvCxnSpPr/>
          <p:nvPr/>
        </p:nvCxnSpPr>
        <p:spPr>
          <a:xfrm flipV="1">
            <a:off x="1832613" y="3218378"/>
            <a:ext cx="3449495" cy="974857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288628" y="342537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834651" y="4394622"/>
            <a:ext cx="3445321" cy="898779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291486" y="485072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5669280" y="3511296"/>
            <a:ext cx="0" cy="1499616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577840" y="411480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78992" y="3913632"/>
            <a:ext cx="768096" cy="76809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285232" y="2724912"/>
            <a:ext cx="768096" cy="76809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편의점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85232" y="5010912"/>
            <a:ext cx="768096" cy="76809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학교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노랑: 지금 가장 가까운 미확정 정점    x: 학교 → 편의점 비용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 · dist[v] 15 → 10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cd81bf47bad89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u를 거쳐 v로 가는 길이 더 짧으면 dist[v]를 고칩니다. 연습문제 예: dist[u] = 7, 가중치 3, dist[v] = 15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6f019e282d75c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완화(relaxation)</a:t>
            </a:r>
          </a:p>
        </p:txBody>
      </p:sp>
      <p:sp>
        <p:nvSpPr>
          <p:cNvPr id="12" name="fit:0fdd4f9a5eafb749 13"/>
          <p:cNvSpPr/>
          <p:nvPr/>
        </p:nvSpPr>
        <p:spPr>
          <a:xfrm>
            <a:off x="7909560" y="332841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dist[v] = min(dist[v], dist[u] + w)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909560" y="3703320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relax.pseudo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3922776"/>
            <a:ext cx="3666744" cy="6766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dist[u] + w &lt; dist[v] then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dist[v] &lt;- dist[u] + w</a:t>
            </a:r>
          </a:p>
        </p:txBody>
      </p:sp>
      <p:sp>
        <p:nvSpPr>
          <p:cNvPr id="15" name="fit:6e0b723c4fd6ce36 16"/>
          <p:cNvSpPr/>
          <p:nvPr/>
        </p:nvSpPr>
        <p:spPr>
          <a:xfrm>
            <a:off x="7909560" y="472744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w: u → v 간선의 비용. 더 짧을 때만 고치고, 같거나 길면 그대로 둡니다.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2139696" y="4114800"/>
            <a:ext cx="3200400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7" name="직사각형 18"/>
          <p:cNvSpPr/>
          <p:nvPr/>
        </p:nvSpPr>
        <p:spPr>
          <a:xfrm>
            <a:off x="3511296" y="41239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803904"/>
            <a:ext cx="621792" cy="621792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358384" y="3803904"/>
            <a:ext cx="621792" cy="621792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1005840" y="3154680"/>
            <a:ext cx="1645920" cy="420624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dist[u] = 7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4572000" y="3154680"/>
            <a:ext cx="2194560" cy="42062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 = 15 → 10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1005840" y="4846320"/>
            <a:ext cx="5760720" cy="457200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256B50"/>
                </a:solidFill>
                <a:latin typeface="Malgun Gothic"/>
                <a:ea typeface="Malgun Gothic"/>
                <a:cs typeface="Malgun Gothic"/>
              </a:rPr>
              <a:t>7 + 3 = 10 &lt; 15  →  dist[v]를 10으로 고칩니다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05840" y="5431536"/>
            <a:ext cx="5760720" cy="45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dist[v]가 9였다면 10 ≥ 9  →  그대로 9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dist를 아는 정점 u    노랑: 고치려는 정점 v    주황: 완화하는 간선 u → 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A에서 출발 · 초기화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ec715f7f45c91e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그래프 A~F, 시작점은 A입니다. dist[A] = 0, 나머지는 아직 길을 모르니 ∞로 둡니다.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6298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78583433e922f5d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다음: 미확정 중 dist가 가장 작은 A(0)를 확정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정점 옆 숫자 = 지금의 dist    ∞: 아직 길을 모름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 확정 · B 8, C 1, D 2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18f87c214fa229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미확정 중 가장 작은 A(0)를 확정합니다. A에서 나가는 간선으로 B, C, D를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477757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ed9543823ae3169f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 + 8 = 8, 0 + 1 = 1, 0 + 2 = 2. 다음: 가장 작은 C(1)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8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C 확정 · B 8 → 6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9fed076f65f58eb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C(1)를 확정합니다. C → B로 1 + 5 = 6 &lt; 8이라 B를 6으로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96821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→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498fa689f59f75cb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 → D는 1 + 2 = 3 ≥ 2라 그대로입니다. 다음: D(2)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8 → 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정점의 최단 거리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2f30d15e258ccf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F(6)를 확정합니다. F → A는 A가 이미 확정되어 고치지 않습니다(6 + 5 = 11 ≥ 0이기도 합니다).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195793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8f8cccd4235c51a 13"/>
          <p:cNvSpPr/>
          <p:nvPr/>
        </p:nvSpPr>
        <p:spPr>
          <a:xfrm>
            <a:off x="7909560" y="525780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정점 확정. 청록 간선 5개 = 최단 경로 트리. A → D → E → F = 2 + 3 + 1 = 6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최단 경로 트리    빨강 점선: 줄지 않은 간선    연회색: 쓰지 않은 간선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 의사코드 (배열판)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dijkstra.pseudo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03809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DIJKSTRA(G, start):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dist[모든 v] &lt;- ∞;  visited[모든 v] &lt;- False;  dist[start]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V번 반복: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&lt;- 미확정 중 dist가 가장 작은 정점 (모두 ∞면 break);  visited[u] &lt;- True   // 확정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u에서 나가는 간선 (u, v, w):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not visited[v] and dist[u] + w &lt; dist[v] then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&lt;- dist[u] + w          // 완화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11" name="fit:95273bf58ee3387e 12"/>
          <p:cNvSpPr/>
          <p:nvPr/>
        </p:nvSpPr>
        <p:spPr>
          <a:xfrm>
            <a:off x="612648" y="389534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선택: 확정하지 않은 정점 중 dist가 가장 작은 정점</a:t>
            </a:r>
          </a:p>
        </p:txBody>
      </p:sp>
      <p:sp>
        <p:nvSpPr>
          <p:cNvPr id="12" name="fit:bc52732013ecab3b 13"/>
          <p:cNvSpPr/>
          <p:nvPr/>
        </p:nvSpPr>
        <p:spPr>
          <a:xfrm>
            <a:off x="795528" y="422452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배열을 처음부터 끝까지 훑으면 V번 비교, 이것을 V번 반복 → O(V²)</a:t>
            </a:r>
          </a:p>
        </p:txBody>
      </p:sp>
      <p:sp>
        <p:nvSpPr>
          <p:cNvPr id="13" name="fit:835a9224e6c39325 14"/>
          <p:cNvSpPr/>
          <p:nvPr/>
        </p:nvSpPr>
        <p:spPr>
          <a:xfrm>
            <a:off x="612648" y="46085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확정: visited[u] &lt;- True</a:t>
            </a:r>
          </a:p>
        </p:txBody>
      </p:sp>
      <p:sp>
        <p:nvSpPr>
          <p:cNvPr id="14" name="fit:a366afd8b226d02f 15"/>
          <p:cNvSpPr/>
          <p:nvPr/>
        </p:nvSpPr>
        <p:spPr>
          <a:xfrm>
            <a:off x="795528" y="49377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확정한 정점은 다시 고치지 않습니다</a:t>
            </a:r>
          </a:p>
        </p:txBody>
      </p:sp>
      <p:sp>
        <p:nvSpPr>
          <p:cNvPr id="15" name="fit:32779aaccb4af727 16"/>
          <p:cNvSpPr/>
          <p:nvPr/>
        </p:nvSpPr>
        <p:spPr>
          <a:xfrm>
            <a:off x="612648" y="53218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완화: u에서 나가는 간선마다</a:t>
            </a:r>
          </a:p>
        </p:txBody>
      </p:sp>
      <p:sp>
        <p:nvSpPr>
          <p:cNvPr id="16" name="fit:25da0fa9cf75fb55 17"/>
          <p:cNvSpPr/>
          <p:nvPr/>
        </p:nvSpPr>
        <p:spPr>
          <a:xfrm>
            <a:off x="795528" y="565099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인접 행렬이면 한 행 V칸을 훑으므로 반복마다 O(V)</a:t>
            </a:r>
          </a:p>
        </p:txBody>
      </p:sp>
      <p:sp>
        <p:nvSpPr>
          <p:cNvPr id="17" name="fit:8cf998502d2010bc 18"/>
          <p:cNvSpPr/>
          <p:nvPr/>
        </p:nvSpPr>
        <p:spPr>
          <a:xfrm>
            <a:off x="612648" y="6035040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배열판 전체 </a:t>
            </a:r>
            <a:r>
              <a:rPr lang="en-US" altLang="ko-KR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O(V²): </a:t>
            </a: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 구현은 보충자료에 있습니다</a:t>
            </a:r>
            <a:endParaRPr lang="ko-KR" altLang="en-US" sz="20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트리는 다를 수 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01bac46f26d97c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MST는 간선 합을, 최단 경로 트리는 시작점에서 각 정점까지의 거리를 최소로 합니다. 같은 그래프에서도 둘은 다를 수 있습니다.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914400" y="2432304"/>
            <a:ext cx="3840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트리(크루스칼)</a:t>
            </a:r>
          </a:p>
        </p:txBody>
      </p:sp>
      <p:cxnSp>
        <p:nvCxnSpPr>
          <p:cNvPr id="11" name="연결선 12"/>
          <p:cNvCxnSpPr/>
          <p:nvPr/>
        </p:nvCxnSpPr>
        <p:spPr>
          <a:xfrm flipV="1">
            <a:off x="14408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17542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08675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6223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1527048" y="5029200"/>
            <a:ext cx="27980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6883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03327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679192" y="28620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43251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400800" y="2432304"/>
            <a:ext cx="5120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트리(다익스트라, 시작 A)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69272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72406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8573153" y="3296411"/>
            <a:ext cx="1324575" cy="1545337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91087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013448" y="5029200"/>
            <a:ext cx="279806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81747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519672" y="478231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21792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0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165592" y="2862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863840" y="3392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2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811512" y="47823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950976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3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914400" y="5650992"/>
            <a:ext cx="4389120" cy="402336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+ 2 = 4 (최소)  ·  A → C 거리 4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6400800" y="5650992"/>
            <a:ext cx="4389120" cy="402336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+ 3 = 5  ·  A → C 거리 3 (최단)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트리 간선    연회색: 트리에 없는 간선    방향 없는 간선은 양방향 간선 2개로 보고 다익스트라를 돌립니다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 반례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실제 최단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을 놓친다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af7b4646c1a3a5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B(5)를 확정하고 B → A를 보면 5 + (−4) = 1 &lt; 2입니다. 하지만 A는 이미 확정되어 고치지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4210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5bb729034eaa00dd 13"/>
          <p:cNvSpPr/>
          <p:nvPr/>
        </p:nvSpPr>
        <p:spPr>
          <a:xfrm>
            <a:off x="7909560" y="4325112"/>
            <a:ext cx="3666744" cy="2834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확정 방식의 답</a:t>
            </a:r>
            <a:r>
              <a:rPr lang="en-US" altLang="ko-KR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: A = 2</a:t>
            </a:r>
            <a:endParaRPr lang="ko-KR" altLang="en-US" sz="16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fit:4f08d272a8763aea 14"/>
          <p:cNvSpPr/>
          <p:nvPr/>
        </p:nvSpPr>
        <p:spPr>
          <a:xfrm>
            <a:off x="7909560" y="4718304"/>
            <a:ext cx="3666744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실제 최단은 S → B → A = 1</a:t>
            </a:r>
          </a:p>
        </p:txBody>
      </p:sp>
      <p:sp>
        <p:nvSpPr>
          <p:cNvPr id="14" name="fit:b715656539a81d42 15"/>
          <p:cNvSpPr/>
          <p:nvPr/>
        </p:nvSpPr>
        <p:spPr>
          <a:xfrm>
            <a:off x="7909560" y="512064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A를 2로 확정한 뒤 다시 처리하지 않으므로, A에서 나가는 간선이 있었다면 그 뒤 정점도 틀립니다.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699810" y="3092657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3195521" y="333441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699810" y="4276195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195521" y="480374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19" name="연결선 20"/>
          <p:cNvCxnSpPr/>
          <p:nvPr/>
        </p:nvCxnSpPr>
        <p:spPr>
          <a:xfrm flipV="1">
            <a:off x="5486400" y="3282696"/>
            <a:ext cx="0" cy="1865376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5394960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−4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216152" y="395935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S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914400" y="448970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2395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49377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 (실제 1)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39512" y="5148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4937760" y="5678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1을 만드는 간선 B → A    음수 간선이 있으면 벨만-포드 같은 다른 알고리즘을 씁니다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761695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5" name="직사각형 6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9"/>
          <p:cNvSpPr/>
          <p:nvPr/>
        </p:nvSpPr>
        <p:spPr>
          <a:xfrm>
            <a:off x="658368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1517904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되돌아보지 않는다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517904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 단계 지금 기준의 최선을 확정하고 번복하지 않습니다. 선택 → 적정성 검사 → 해답 검사를 해답이 될 때까지 반복합니다.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658368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6300216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3" name="직사각형 14"/>
          <p:cNvSpPr/>
          <p:nvPr/>
        </p:nvSpPr>
        <p:spPr>
          <a:xfrm>
            <a:off x="7159752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두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159752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탐욕적 선택 속성(이 선택을 포함하는 최적해가 있다)과 최적 부분 구조. "항상 최적"은 반례 하나로 반박합니다.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0216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58368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7" name="직사각형 18"/>
          <p:cNvSpPr/>
          <p:nvPr/>
        </p:nvSpPr>
        <p:spPr>
          <a:xfrm>
            <a:off x="1517904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기준이 곧 전략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선택은 종료가 빠른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쪼갤 수 있는 배낭은 가성비가 큰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크루스칼은 가중치가 작은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" name="직사각형 20"/>
          <p:cNvSpPr/>
          <p:nvPr/>
        </p:nvSpPr>
        <p:spPr>
          <a:xfrm>
            <a:off x="658368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300216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1" name="직사각형 22"/>
          <p:cNvSpPr/>
          <p:nvPr/>
        </p:nvSpPr>
        <p:spPr>
          <a:xfrm>
            <a:off x="7159752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경우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7159752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배수 조건의 거스름돈, 활동 선택, 쪼갤 수 있는 배낭(가성비 순), 크루스칼 MST, 다익스트라(간선 비용이 모두 0 이상일 때).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0216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58368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5" name="직사각형 26"/>
          <p:cNvSpPr/>
          <p:nvPr/>
        </p:nvSpPr>
        <p:spPr>
          <a:xfrm>
            <a:off x="1517904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보장하지 못하는 경우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1517904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{1, 3, 4}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간선이 있는 다익스트라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 TSP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는 보충자료에서 봅니다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8"/>
          <p:cNvSpPr/>
          <p:nvPr/>
        </p:nvSpPr>
        <p:spPr>
          <a:xfrm>
            <a:off x="658368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300216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9" name="직사각형 30"/>
          <p:cNvSpPr/>
          <p:nvPr/>
        </p:nvSpPr>
        <p:spPr>
          <a:xfrm>
            <a:off x="7159752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다음은 동적 계획법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159752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배낭과 일반 동전 문제는 남은 상태별 답을 저장하는 동적 계획법으로 이어집니다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" name="직사각형 32"/>
          <p:cNvSpPr/>
          <p:nvPr/>
        </p:nvSpPr>
        <p:spPr>
          <a:xfrm>
            <a:off x="6300216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· C 대응표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4c399d02d260193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알고리즘을 두 언어로 쓸 때 자주 바뀌는 부분입니다.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755247"/>
              </p:ext>
            </p:extLst>
          </p:nvPr>
        </p:nvGraphicFramePr>
        <p:xfrm>
          <a:off x="612648" y="2075688"/>
          <a:ext cx="10972800" cy="279806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Python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list.sort(key=…, reverse=True)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qsort(배열, 개수, 크기, 비교 함수)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것부터 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coins.reverse()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for (i = N - 1; i &gt;= 0; i--)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무한대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float("inf"), float("-inf")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long long, INF = 10¹⁸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최솟값 꺼내기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heapq.heappush / heappop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배열을 훑어 최소 찾기 O(V)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묶음 자료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class Item, 튜플 (w, u, 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typedef struct { … } Item;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그래프(다익스트라)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딕셔너리 {정점: {이웃: 비용}}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graph[u][v], -1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0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유효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sys.stdin.readline().split()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scanf("%d %d", &amp;N, &amp;K)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 · 나머지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// coin, K % 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 coins[i], K % coins[i]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567673dede0672fb 12"/>
          <p:cNvSpPr/>
          <p:nvPr/>
        </p:nvSpPr>
        <p:spPr>
          <a:xfrm>
            <a:off x="612648" y="502005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비교 함수는 a가 b보다 앞에 와야 하면 음수, 같으면 0, 뒤에 와야 하면 양수를 돌려줍니다. 오름차순이면 앞이 작을 때 음수입니다(배낭의 by_ratio는 반대).</a:t>
            </a:r>
          </a:p>
        </p:txBody>
      </p:sp>
      <p:sp>
        <p:nvSpPr>
          <p:cNvPr id="12" name="fit:ba639ba1a8aa054c 13"/>
          <p:cNvSpPr/>
          <p:nvPr/>
        </p:nvSpPr>
        <p:spPr>
          <a:xfrm>
            <a:off x="612648" y="5669280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INF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는 큰 정수입니다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더하기 전에 도달 여부와 자료형 범위를 확인합니다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14302</Words>
  <Application>Microsoft Office PowerPoint</Application>
  <DocSecurity>0</DocSecurity>
  <PresentationFormat>와이드스크린</PresentationFormat>
  <Paragraphs>2058</Paragraphs>
  <Slides>69</Slides>
  <Notes>69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4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5장 그리디 알고리즘</dc:title>
  <dc:creator>Walnut Exporter</dc:creator>
  <cp:lastModifiedBy>상돈 박</cp:lastModifiedBy>
  <cp:revision>17</cp:revision>
  <dcterms:created xsi:type="dcterms:W3CDTF">2026-09-19T13:48:20Z</dcterms:created>
  <dcterms:modified xsi:type="dcterms:W3CDTF">2026-10-18T01:09:06Z</dcterms:modified>
</cp:coreProperties>
</file>