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9" r:id="rId4"/>
    <p:sldId id="260" r:id="rId5"/>
    <p:sldId id="261" r:id="rId6"/>
    <p:sldId id="263" r:id="rId7"/>
    <p:sldId id="266" r:id="rId8"/>
    <p:sldId id="267" r:id="rId9"/>
    <p:sldId id="268" r:id="rId10"/>
    <p:sldId id="271" r:id="rId11"/>
    <p:sldId id="276" r:id="rId12"/>
    <p:sldId id="277" r:id="rId13"/>
    <p:sldId id="281" r:id="rId14"/>
    <p:sldId id="282" r:id="rId15"/>
    <p:sldId id="285" r:id="rId16"/>
    <p:sldId id="286" r:id="rId17"/>
    <p:sldId id="287" r:id="rId18"/>
    <p:sldId id="438" r:id="rId19"/>
    <p:sldId id="439" r:id="rId20"/>
    <p:sldId id="290" r:id="rId21"/>
    <p:sldId id="291" r:id="rId22"/>
    <p:sldId id="292" r:id="rId23"/>
    <p:sldId id="293" r:id="rId24"/>
    <p:sldId id="295" r:id="rId25"/>
    <p:sldId id="296" r:id="rId26"/>
    <p:sldId id="297" r:id="rId27"/>
    <p:sldId id="298" r:id="rId28"/>
    <p:sldId id="303" r:id="rId29"/>
    <p:sldId id="311" r:id="rId30"/>
    <p:sldId id="312" r:id="rId31"/>
    <p:sldId id="313" r:id="rId32"/>
    <p:sldId id="314" r:id="rId33"/>
    <p:sldId id="442" r:id="rId34"/>
    <p:sldId id="452" r:id="rId35"/>
    <p:sldId id="317" r:id="rId36"/>
    <p:sldId id="318" r:id="rId37"/>
    <p:sldId id="320" r:id="rId38"/>
    <p:sldId id="323" r:id="rId39"/>
    <p:sldId id="333" r:id="rId40"/>
    <p:sldId id="334" r:id="rId41"/>
    <p:sldId id="338" r:id="rId42"/>
    <p:sldId id="339" r:id="rId43"/>
    <p:sldId id="340" r:id="rId44"/>
    <p:sldId id="343" r:id="rId45"/>
    <p:sldId id="344" r:id="rId46"/>
    <p:sldId id="347" r:id="rId47"/>
    <p:sldId id="349" r:id="rId48"/>
    <p:sldId id="352" r:id="rId49"/>
    <p:sldId id="356" r:id="rId50"/>
    <p:sldId id="357" r:id="rId51"/>
    <p:sldId id="358" r:id="rId52"/>
    <p:sldId id="359" r:id="rId53"/>
    <p:sldId id="383" r:id="rId54"/>
    <p:sldId id="384" r:id="rId55"/>
    <p:sldId id="385" r:id="rId56"/>
    <p:sldId id="386" r:id="rId57"/>
    <p:sldId id="387" r:id="rId58"/>
    <p:sldId id="408" r:id="rId59"/>
    <p:sldId id="411" r:id="rId60"/>
    <p:sldId id="412" r:id="rId61"/>
    <p:sldId id="413" r:id="rId62"/>
    <p:sldId id="414" r:id="rId63"/>
    <p:sldId id="415" r:id="rId64"/>
    <p:sldId id="419" r:id="rId65"/>
    <p:sldId id="420" r:id="rId66"/>
    <p:sldId id="431" r:id="rId67"/>
    <p:sldId id="434" r:id="rId68"/>
    <p:sldId id="450" r:id="rId69"/>
    <p:sldId id="451" r:id="rId7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장에서는 그리디 알고리즘을 배우겠습니다. 표지의 문장처럼, 그리디는 지금 이 순간 가장 좋아 보이는 것을 고르는 방법입니다. 한 번 고른 것은 다시 바꾸지 않습니다.</a:t>
            </a:r>
          </a:p>
          <a:p>
            <a:r>
              <a:t/>
            </a:r>
          </a:p>
          <a:p>
            <a:r>
              <a:t>생각이 단순해서 코드도 짧고 실행도 빠릅니다. 그런데 이렇게 단순한 방법이 언제나 가장 좋은 답을 줄까요? 이번 장 전체의 질문이 바로 이것입니다.</a:t>
            </a:r>
          </a:p>
          <a:p>
            <a:r>
              <a:t/>
            </a:r>
          </a:p>
          <a:p>
            <a:r>
              <a:t>어떤 문제에서는 그리디가 항상 최적해를 주고, 어떤 문제에서는 그럴듯한 답을 내놓고도 틀립니다. 거스름돈과 회의실 배정처럼 익숙한 예제부터 시작하겠습니다. 예제마다 그리디가 무엇을 고르는지 한 단계씩 따라가고, 맞는다면 왜 맞는지, 틀린다면 어떤 입력에서 틀리는지 확인하겠습니다.</a:t>
            </a:r>
          </a:p>
          <a:p>
            <a:r>
              <a:t/>
            </a:r>
          </a:p>
          <a:p>
            <a:r>
              <a:t>먼저 이번 장의 목차를 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장에서는 지금 가장 좋아 보이는 것을 고르는 그리디를 배웁니다. 먼저 거스름돈에서 큰 동전부터 내는 방법이 언제 맞고 언제 틀리는지 보겠습니다. 회의실 배정에서는 시작이 빠른 순서와 길이가 짧은 순서가 왜 실패하고, 종료가 빠른 순서는 왜 안전한지 확인합니다.</a:t>
            </a:r>
          </a:p>
          <a:p>
            <a:r>
              <a:t/>
            </a:r>
          </a:p>
          <a:p>
            <a:r>
              <a:t>배낭에서는 물건을 조금씩 덜어 담을 수 있는 경우와 통째로만 담는 경우를 비교하겠습니다. 이 예들을 모아 그리디가 통하는 두 조건을 정리합니다. 뒤에서는 모든 장소를 연결하는 총비용을 줄이는 크루스칼과, 한 출발점에서 각 장소까지의 거리를 구하는 다익스트라를 봅니다.</a:t>
            </a:r>
          </a:p>
          <a:p>
            <a:r>
              <a:t/>
            </a:r>
          </a:p>
          <a:p>
            <a:r>
              <a:t>예제마다 무엇을 고르는지와 그 선택이 안전한 이유를 함께 보겠습니다. 긴 전체 구현은 보충자료에 두고 핵심 계산과 코드에 집중하겠습니다.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그리디는 영어 단어 그리디, 탐욕스러운이라는 뜻에서 온 이름입니다. 이름 그대로 매 단계에서 지금 기준으로 가장 좋아 보이는 것 하나를 덥석 고릅니다. 화면 왼쪽의 세 줄이 그리디의 성격입니다.</a:t>
            </a:r>
          </a:p>
          <a:p>
            <a:r>
              <a:t/>
            </a:r>
          </a:p>
          <a:p>
            <a:r>
              <a:t>첫째, 후보를 다 알고 있어도 지금 기준 하나로 고릅니다. 오른쪽 만화의 손님은 뒤쪽 코너에 스테이크와 랍스터가 있는 줄 몰랐습니다. 하지만 그리디가 틀리는 이유는 앞을 못 봐서가 아닙니다.</a:t>
            </a:r>
          </a:p>
          <a:p>
            <a:r>
              <a:t/>
            </a:r>
          </a:p>
          <a:p>
            <a:r>
              <a:t>모든 후보를 알고 있어도 정해 둔 기준, 예를 들어 지금 가장 맛있어 보이는 것이라는 기준으로만 고르기 때문입니다. 둘째, 고른 것은 확정하고 되돌리지 않습니다. 아래 문장처럼 손님은 지금 맛있어 보이는 것이라는 기준 하나로 접시를 채웠고, 담은 음식을 다시 내려놓지 않았습니다.</a:t>
            </a:r>
          </a:p>
          <a:p>
            <a:r>
              <a:t/>
            </a:r>
          </a:p>
          <a:p>
            <a:r>
              <a:t>그래서 접시가 꽉 찬 뒤에 스테이크를 만나도 담을 자리가 없습니다. 셋째, 가능한 완성 해를 모두 만들어서 비교하지 않습니다. 모든 경우를 만들어 비교하는 것은 앞에서 배운 완전탐색의 방식입니다.</a:t>
            </a:r>
          </a:p>
          <a:p>
            <a:r>
              <a:t/>
            </a:r>
          </a:p>
          <a:p>
            <a:r>
              <a:t>그리디는 완성된 답들을 견주지 않고, 한 단계씩 고르며 앞으로만 나아갑니다. 그래서 그리디는 빠릅니다. 되돌아보지 않으니까요.</a:t>
            </a:r>
          </a:p>
          <a:p>
            <a:r>
              <a:t/>
            </a:r>
          </a:p>
          <a:p>
            <a:r>
              <a:t>그리고 같은 이유로 틀릴 수도 있습니다. 다음 화면에서 이 틀릴 수 있다는 말을 산의 그림으로 보겠습니다.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짙은 안개 속에서 산의 가장 높은 봉우리를 찾는다고 해 봅시다. 지도가 없고 멀리 보이지도 않습니다. 이때 가장 단순한 전략은 지금 서 있는 곳보다 높은 쪽으로 한 걸음씩 오르는 것입니다.</a:t>
            </a:r>
          </a:p>
          <a:p>
            <a:r>
              <a:t/>
            </a:r>
          </a:p>
          <a:p>
            <a:r>
              <a:t>매 걸음 지금 기준의 최선을 고르는 셈이니 그리디와 같은 방식이죠. 이렇게 오르다 보면 어느 쪽으로 가도 내려가기만 하는 곳에 도착합니다. 주변 어디보다 높은 곳, 이것을 지역 최적해, 영어로 로컬 옵티멈이라고 합니다.</a:t>
            </a:r>
          </a:p>
          <a:p>
            <a:r>
              <a:t/>
            </a:r>
          </a:p>
          <a:p>
            <a:r>
              <a:t>그런데 그곳이 산 전체에서 가장 높은 곳이라는 보장은 없습니다. 작은 언덕 꼭대기일 수도 있습니다. 산 전체에서 가장 높은 곳, 우리가 진짜 원하는 답은 전역 최적해, 글로벌 옵티멈입니다.</a:t>
            </a:r>
          </a:p>
          <a:p>
            <a:r>
              <a:t/>
            </a:r>
          </a:p>
          <a:p>
            <a:r>
              <a:t>그림 오른쪽의 등산객은 작은 봉우리에 서 있고, 안개 너머에 더 높은 진짜 정상이 있습니다. 그림에 적힌 국소적 최적해, 로컬 맥시멈은 지역 최적해, 로컬 옵티멈과 같은 말입니다. 화면 아래의 마시멜로 예도 같은 구조입니다.</a:t>
            </a:r>
          </a:p>
          <a:p>
            <a:r>
              <a:t/>
            </a:r>
          </a:p>
          <a:p>
            <a:r>
              <a:t>지금 하나를 먹는 것은 지금만 보면 최선이지만, 기다렸다가 두 개를 받는 쪽이 전체로는 더 좋습니다. 매 걸음의 최선이 모여서 전체의 최선이 되는지는 문제마다 따로 확인해야 합니다. 그 확인 방법은 오 점 오 절에서 정리하겠습니다.</a:t>
            </a:r>
          </a:p>
          <a:p>
            <a:r>
              <a:t/>
            </a:r>
          </a:p>
          <a:p>
            <a:r>
              <a:t>다음은 그리디가 매 단계에서 하는 일을 세 단계로 나눠 보겠습니다.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그리디 알고리즘은 세 단계를 되풀이합니다. 첫 번째는 선택, 영어로 셀렉션입니다. 남은 후보 중에서 지금 기준으로 가장 좋은 것 하나를 고릅니다.</a:t>
            </a:r>
          </a:p>
          <a:p>
            <a:r>
              <a:t/>
            </a:r>
          </a:p>
          <a:p>
            <a:r>
              <a:t>두 번째는 적정성 검사, 피저빌리티입니다. 방금 고른 것을 넣어도 문제의 제약을 어기지 않는지 확인합니다. 어기면 그 후보는 버리고, 어기지 않으면 지금까지의 답에 넣어 확정합니다.</a:t>
            </a:r>
          </a:p>
          <a:p>
            <a:r>
              <a:t/>
            </a:r>
          </a:p>
          <a:p>
            <a:r>
              <a:t>세 번째는 해답 검사, 솔루션입니다. 지금까지 모은 것이 완전한 해답인지 확인하고, 아직 아니면 다시 첫 번째 선택으로 돌아갑니다. 그래서 세 단계는 한 번으로 끝나지 않고 해답이 완성될 때까지 반복됩니다.</a:t>
            </a:r>
          </a:p>
          <a:p>
            <a:r>
              <a:t/>
            </a:r>
          </a:p>
          <a:p>
            <a:r>
              <a:t>아래 의사코드를 보세요. 그리디 함수는 후보 집합 씨를 받습니다. 에스는 지금까지 확정한 선택이고 빈 집합에서 시작합니다.</a:t>
            </a:r>
          </a:p>
          <a:p>
            <a:r>
              <a:t/>
            </a:r>
          </a:p>
          <a:p>
            <a:r>
              <a:t>와일 조건이 해답 검사입니다. 후보가 남아 있고 에스가 아직 해답이 아니면 반복합니다. 반복 안에서는 씨에서 지금 가장 좋은 후보 엑스를 꺼냅니다.</a:t>
            </a:r>
          </a:p>
          <a:p>
            <a:r>
              <a:t/>
            </a:r>
          </a:p>
          <a:p>
            <a:r>
              <a:t>꺼낸 후보는 씨에서 빠집니다. 이것이 선택입니다. 이프에서 에스에 엑스를 더해도 제약을 지키는지 보고, 지키면 에스에 넣습니다.</a:t>
            </a:r>
          </a:p>
          <a:p>
            <a:r>
              <a:t/>
            </a:r>
          </a:p>
          <a:p>
            <a:r>
              <a:t>이것이 적정성 검사입니다. 반복이 끝나면 에스가 해답일 때 돌려주고, 아니면 해가 없다고 알립니다. 이 코드에는 에스에서 원소를 빼는 줄이 없습니다.</a:t>
            </a:r>
          </a:p>
          <a:p>
            <a:r>
              <a:t/>
            </a:r>
          </a:p>
          <a:p>
            <a:r>
              <a:t>한 번 넣은 것은 끝까지 그대로라는 뜻입니다. 이렇게 지금 기준의 최선을 확정하며 나아가고 되돌리지 않는 것이 그리디의 진행 방식입니다. 다음 표에서는 문제마다 무엇을 가장 좋은 후보라고 정하는지 비교하겠습니다.</a:t>
            </a:r>
          </a:p>
          <a:p>
            <a:r>
              <a:t/>
            </a:r>
          </a:p>
          <a:p>
            <a:r>
              <a:t>허용되는 선택이라는 것과 최적이라는 것은 다릅니다. 이 그리디가 해를 완성하지 못했다는 사실만으로 원래 문제에 해가 없다고 증명한 것은 아닙니다.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표는 오늘 배울 문제의 선택 기준과 최적해 보장 여부를 비교한 것입니다. 최적해는 문제에서 요구하는 가장 좋은 답입니다. 동전에서는 최소 개수, 회의에서는 최대 개수입니다.</a:t>
            </a:r>
          </a:p>
          <a:p>
            <a:r>
              <a:t/>
            </a:r>
          </a:p>
          <a:p>
            <a:r>
              <a:t>첫 두 줄은 모두 큰 동전부터 고릅니다. 오백, 백, 오십, 십 원처럼 차례로 배수 관계이면 최소 개수를 얻지만, 일, 삼, 사 원에서는 실패할 수 있습니다. 회의는 가장 먼저 끝나는 것부터 고르면 최대 개수를 얻습니다. 배낭은 무게당 가치가 높은 것부터 담되, 쪼갤 수 있는 경우에만 최적이 보장됩니다.</a:t>
            </a:r>
          </a:p>
          <a:p>
            <a:r>
              <a:t/>
            </a:r>
          </a:p>
          <a:p>
            <a:r>
              <a:t>크루스칼은 싼 선부터 보면서 사이클을 만들면 버립니다. 다익스트라는 현재 거리가 가장 작은 미확정 정점을 고르고, 모든 간선 비용이 영 이상이어야 합니다. 같은 그리디라도 문제의 조건에 따라 결과가 달라집니다. 먼저 거스름돈을 직접 계산하겠습니다.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편의점 계산대를 떠올려 보세요. 손님에게 천이백육십 원을 거슬러 줘야 합니다. 계산대에는 오백 원, 백 원, 오십 원, 십 원 동전이 충분히 있습니다.</a:t>
            </a:r>
          </a:p>
          <a:p>
            <a:r>
              <a:t/>
            </a:r>
          </a:p>
          <a:p>
            <a:r>
              <a:t>목표는 동전 개수를 최소로 하는 것입니다. 금액만 맞추면 되는 것이 아니라 가장 적은 개수로 맞춰야 합니다. 만화의 점원은 제일 큰 것부터 내겠다고 생각합니다.</a:t>
            </a:r>
          </a:p>
          <a:p>
            <a:r>
              <a:t/>
            </a:r>
          </a:p>
          <a:p>
            <a:r>
              <a:t>이것이 그리디의 기준입니다. 남은 돈 이하의 동전 중에서 가장 큰 동전을 고릅니다. 남은 돈보다 큰 동전은 낼 수 없으니까요.</a:t>
            </a:r>
          </a:p>
          <a:p>
            <a:r>
              <a:t/>
            </a:r>
          </a:p>
          <a:p>
            <a:r>
              <a:t>그리고 그 동전을 한 개씩 세지 않고 낼 수 있는 만큼 한꺼번에 냅니다. 천이백육십 원이면 오백 원은 두 개까지 낼 수 있습니다. 남은 돈은 다음으로 큰 동전에 넘겨 같은 일을 반복합니다.</a:t>
            </a:r>
          </a:p>
          <a:p>
            <a:r>
              <a:t/>
            </a:r>
          </a:p>
          <a:p>
            <a:r>
              <a:t>만화의 결론은 동전 여섯 개입니다. 이 결과가 어떻게 나오는지 다음 화면에서 몫과 나머지로 정리하고, 이어서 한 단계씩 따라가 보겠습니다.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동전을 한 개씩 빼면서 세면 금액이 클수록 오래 걸립니다. 그래서 나눗셈을 한 번 써서 개수와 남은 돈을 함께 구합니다. 첫 표의 첫 줄을 보세요.</a:t>
            </a:r>
          </a:p>
          <a:p>
            <a:r>
              <a:t/>
            </a:r>
          </a:p>
          <a:p>
            <a:r>
              <a:t>천이백육십을 오백으로 나눈 몫은 이입니다. 파이썬에서는 슬래시 두 개로 몫을 구합니다. 오백 원을 두 개 쓴다는 뜻입니다.</a:t>
            </a:r>
          </a:p>
          <a:p>
            <a:r>
              <a:t/>
            </a:r>
          </a:p>
          <a:p>
            <a:r>
              <a:t>둘째 줄은 나머지입니다. 퍼센트 기호가 나머지 연산이고, 천이백육십을 오백으로 나눈 나머지는 이백육십입니다. 오백 원 두 개로 천 원을 내고 남은 돈이 이백육십 원이라는 뜻이죠.</a:t>
            </a:r>
          </a:p>
          <a:p>
            <a:r>
              <a:t/>
            </a:r>
          </a:p>
          <a:p>
            <a:r>
              <a:t>이 이백육십 원이 다음 동전으로 넘어갑니다. 나누기 기호로 천이백육십 나누기 오백을 계산하면 이 점 오이가 나옵니다. 동전을 이 점 오이 개 쓸 수는 없습니다.</a:t>
            </a:r>
          </a:p>
          <a:p>
            <a:r>
              <a:t/>
            </a:r>
          </a:p>
          <a:p>
            <a:r>
              <a:t>그래서 소수가 아니라 몫과 나머지로 생각합니다. 몫이 쓸 개수이고, 나머지가 남은 돈입니다. 아래 표는 그리디의 세 단계를 거스름돈에 대응한 것입니다.</a:t>
            </a:r>
          </a:p>
          <a:p>
            <a:r>
              <a:t/>
            </a:r>
          </a:p>
          <a:p>
            <a:r>
              <a:t>선택은 남은 돈 이하의 가장 큰 동전입니다. 적정성 검사는 몫만큼 써도 남은 돈을 넘지 않는지인데, 몫으로 구한 개수는 처음부터 남은 돈을 넘지 않습니다. 해답 검사는 남은 돈이 영 원인지 확인하는 것입니다.</a:t>
            </a:r>
          </a:p>
          <a:p>
            <a:r>
              <a:t/>
            </a:r>
          </a:p>
          <a:p>
            <a:r>
              <a:t>이제 천이백육십 원을 한 단계씩 따라가 보겠습니다.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단계입니다. 남은 돈은 천이백육십 원입니다. 위 줄은 동전 배열이고, 아래 줄은 동전마다 몇 개를 썼는지 적는 칸입니다.</a:t>
            </a:r>
          </a:p>
          <a:p>
            <a:r>
              <a:t/>
            </a:r>
          </a:p>
          <a:p>
            <a:r>
              <a:t>파란 칸이 지금 보는 동전입니다. 아직 쓰지 않은 동전의 칸은 점으로 비워 두었습니다. 오른쪽 표의 선택부터 보겠습니다.</a:t>
            </a:r>
          </a:p>
          <a:p>
            <a:r>
              <a:t/>
            </a:r>
          </a:p>
          <a:p>
            <a:r>
              <a:t>천이백육십 원 이하인 동전 가운데 가장 큰 것은 오백 원입니다. 천이백육십을 오백으로 나눈 몫은 이이므로 오백 원을 두 개 씁니다. 두 개면 천 원이고 천이백육십 원을 넘지 않으니 적정성 검사도 통과합니다.</a:t>
            </a:r>
          </a:p>
          <a:p>
            <a:r>
              <a:t/>
            </a:r>
          </a:p>
          <a:p>
            <a:r>
              <a:t>나머지는 이백육십입니다. 해답 검사를 보면 남은 돈이 이백육십 원이라 아직 영이 아니므로 계속합니다. 아래 노란 상자의 남은 돈이 이백육십 원으로 바뀌었습니다.</a:t>
            </a:r>
          </a:p>
          <a:p>
            <a:r>
              <a:t/>
            </a:r>
          </a:p>
          <a:p>
            <a:r>
              <a:t>여기서 오백 원 두 개는 확정입니다. 뒤에서 오백 원의 개수를 다시 고치는 일은 없습니다. 이제 남은 이백육십 원을 백 원, 오십 원, 십 원 순서로 처리한 결과까지 이어서 보겠습니다.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화면은 거스름돈을 모두 낸 상태입니다. 앞에서 오백 원 두 개를 내고 이백육십 원이 남았습니다. 이백육십을 백으로 나누면 몫 이, 나머지 육십입니다. 백 원 두 개를 더 내서 지금까지 동전 네 개입니다.</a:t>
            </a:r>
          </a:p>
          <a:p>
            <a:r>
              <a:t/>
            </a:r>
          </a:p>
          <a:p>
            <a:r>
              <a:t>육십을 오십으로 나누면 몫 일, 나머지 십입니다. 오십 원 하나를 내면 누적 다섯 개입니다. 마지막 십 원도 한 개를 내면 남은 돈은 영, 동전은 여섯 개가 됩니다.</a:t>
            </a:r>
          </a:p>
          <a:p>
            <a:r>
              <a:t/>
            </a:r>
          </a:p>
          <a:p>
            <a:r>
              <a:t>금액을 검산하면 천 원에 이백 원, 오십 원, 십 원을 더해 천이백육십 원입니다. 개수는 두 개, 두 개, 한 개, 한 개를 더한 여섯 개입니다. 금액 합과 개수 합을 구별하세요. 앞의 동전 수를 되돌리지 않고 나머지만 다음 동전으로 넘겼습니다. 이것이 그리디의 진행 방식입니다. 여섯 개가 최소인 이유는 뒤의 배수 조건에서 보겠습니다.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시간 복잡도를 볼 때는 무엇의 개수로 셀지가 중요합니다. 여기서는 동전 종류의 수를 케이라고 하겠습니다. 오백, 백, 오십, 십 원이면 케이는 사입니다.</a:t>
            </a:r>
          </a:p>
          <a:p>
            <a:r>
              <a:t/>
            </a:r>
          </a:p>
          <a:p>
            <a:r>
              <a:t>표를 보세요. 천이백육십 원을 거슬러 줄 때 포 문은 네 번 돕니다. 금액을 천 배 늘려 백이십육만 원이 되어도 포 문은 여전히 네 번입니다.</a:t>
            </a:r>
          </a:p>
          <a:p>
            <a:r>
              <a:t/>
            </a:r>
          </a:p>
          <a:p>
            <a:r>
              <a:t>반복 한 번에서 하는 일은 몫과 나머지 계산 한 번씩입니다. 금액이 커도 나눗셈 한 번이면 개수가 나오므로 반복 한 번은 오 일입니다. 오른쪽 열은 동전을 한 개씩 빼는 방법입니다.</a:t>
            </a:r>
          </a:p>
          <a:p>
            <a:r>
              <a:t/>
            </a:r>
          </a:p>
          <a:p>
            <a:r>
              <a:t>천이백육십 원이면 여섯 번 빼면 되지만, 백이십육만 원이면 오백 원만 이천오백이십 번 빼야 합니다. 이 방법은 반복 횟수가 금액에 비례해서 늘어납니다. 몫과 나머지를 쓰면 반복 횟수가 금액이 아니라 동전 종류 수로 정해집니다.</a:t>
            </a:r>
          </a:p>
          <a:p>
            <a:r>
              <a:t/>
            </a:r>
          </a:p>
          <a:p>
            <a:r>
              <a:t>그래서 전체 시간은 케이 곱하기 오 일, 오 케이입니다. 단, 이것은 목록이 이미 큰 단위부터 적혀 있을 때입니다. 동전 목록이 섞여서 주어져 먼저 정렬해야 한다면 정렬에 드는 오 케이 로그 케이가 더해집니다.</a:t>
            </a:r>
          </a:p>
          <a:p>
            <a:r>
              <a:t/>
            </a:r>
          </a:p>
          <a:p>
            <a:r>
              <a:t>또 마지막 줄처럼, 지금처럼 동전 종류가 정해져 있으면 케이는 상수이므로 오 일이라고도 씁니다. 그런데 큰 동전부터 고른 결과가 왜 최소 개수일까요? 다음 화면에서 한국 동전의 배수 조건으로 설명하겠습니다.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동전들은 큰 단위가 바로 아래 단위의 정수배입니다. 오십 원은 십 원 다섯 개, 백 원은 오십 원 두 개, 오백 원은 백 원 다섯 개와 같습니다.</a:t>
            </a:r>
          </a:p>
          <a:p>
            <a:r>
              <a:t/>
            </a:r>
          </a:p>
          <a:p>
            <a:r>
              <a:t>동전 개수가 최소인 답을 하나 생각하겠습니다. 거기에 십 원 다섯 개가 있다면 오십 원 하나로 바꿀 수 있습니다. 금액은 같은데 개수가 줄어드니 최소라는 말과 모순입니다. 따라서 최소 답에는 십 원이 네 개 이하, 같은 이유로 오십 원은 한 개 이하, 백 원은 네 개 이하만 남아야 합니다.</a:t>
            </a:r>
          </a:p>
          <a:p>
            <a:r>
              <a:t/>
            </a:r>
          </a:p>
          <a:p>
            <a:r>
              <a:t>이 작은 동전들을 모두 합쳐도 최대 사백구십 원입니다. 그러니 천이백육십 원을 만들면서 오백 원을 한 개만 쓰는 답은 최소일 수 없습니다. 작은 동전을 올려 바꾸면 오백 원을 더 만들 수 있기 때문입니다. 최소 답도 오백 원을 두 개 써야 합니다.</a:t>
            </a:r>
          </a:p>
          <a:p>
            <a:r>
              <a:t/>
            </a:r>
          </a:p>
          <a:p>
            <a:r>
              <a:t>남은 이백육십 원에도 같은 논리를 적용하면 백 원 두 개, 오십 원 하나, 십 원 하나가 됩니다. 큰 동전부터 몫을 구한 결과와 같습니다. 배수 관계이면 이렇게 최적을 보장합니다. 배수 관계가 아니면 이 보장이 사라지며, 실제 반례를 다음에 보겠습니다.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연습문제 하나를 풀어 보겠습니다. 동전은 일 원, 삼 원, 사 원 세 종류이고 각각 무제한으로 쓸 수 있습니다. 목표는 정확히 육 원을 가장 적은 개수로 만드는 것입니다.</a:t>
            </a:r>
          </a:p>
          <a:p>
            <a:r>
              <a:t/>
            </a:r>
          </a:p>
          <a:p>
            <a:r>
              <a:t>오른쪽에 이 조건을 적었습니다. 이번 그리디는 동전을 한 개씩 고릅니다. 남은 금액을 넘지 않는 동전 중 가장 큰 것을 하나 고르고, 남은 돈이 영 원이 될 때까지 반복합니다.</a:t>
            </a:r>
          </a:p>
          <a:p>
            <a:r>
              <a:t/>
            </a:r>
          </a:p>
          <a:p>
            <a:r>
              <a:t>앞에서처럼 몫으로 한꺼번에 고르든 한 개씩 고르든 결과는 같습니다. 위의 문장이 반박할 주장입니다. 이 방법이 어떤 화폐 체계에서도 항상 동전 수를 최소로 만든다는 주장이죠.</a:t>
            </a:r>
          </a:p>
          <a:p>
            <a:r>
              <a:t/>
            </a:r>
          </a:p>
          <a:p>
            <a:r>
              <a:t>이것을 반박하려면 무엇을 보이면 될까요? 지금은 아직 아무것도 고르지 않은 처음 상태입니다. 위 줄은 동전 사, 삼, 일을 큰 순서로 놓은 것이고, 아래 줄은 동전마다 쓴 개수입니다.</a:t>
            </a:r>
          </a:p>
          <a:p>
            <a:r>
              <a:t/>
            </a:r>
          </a:p>
          <a:p>
            <a:r>
              <a:t>남은 돈은 육 원입니다. 먼저 그리디가 실제로 무엇을 고르는지 한 단계씩 따라가 보겠습니다.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남은 육 원 이하의 동전 중 가장 큰 것은 사 원입니다. 사 원 하나를 고르면 육 원을 넘지 않으므로 허용되고, 남은 돈은 이 원이 됩니다. 사용 개수 칸의 사 원 자리에 일을 적습니다.</a:t>
            </a:r>
          </a:p>
          <a:p>
            <a:r>
              <a:t/>
            </a:r>
          </a:p>
          <a:p>
            <a:r>
              <a:t>아직 남은 돈이 영이 아니므로 계속합니다. 이 원에는 사 원도 삼 원도 너무 큽니다. 일 원 하나를 골라 일 원을 남기고, 다시 일 원 하나를 골라 영 원으로 만듭니다. 결과는 사 원 한 개와 일 원 두 개, 총 세 개입니다.</a:t>
            </a:r>
          </a:p>
          <a:p>
            <a:r>
              <a:t/>
            </a:r>
          </a:p>
          <a:p>
            <a:r>
              <a:t>사 원은 처음에 쓸 수 있는 동전이었고 금액도 정확히 맞췄습니다. 하지만 조건을 지키는 답을 만들었다고 개수까지 최소라는 뜻은 아닙니다. 그리디는 처음 사 원을 고른 결정을 취소하지 않았습니다. 다음에는 사 원 대신 삼 원을 고르는 답과 비교하겠습니다.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 원을 처음에 쓰지 않으면 어떻게 될까요? 삼 원 두 개면 정확히 육 원입니다. 동전 두 개입니다.</a:t>
            </a:r>
          </a:p>
          <a:p>
            <a:r>
              <a:t/>
            </a:r>
          </a:p>
          <a:p>
            <a:r>
              <a:t>맨 아래 줄의 초록 칸이 이 해입니다. 두 줄을 비교해 보세요. 그리디는 사, 일, 일로 세 개, 최적해는 삼, 삼으로 두 개입니다.</a:t>
            </a:r>
          </a:p>
          <a:p>
            <a:r>
              <a:t/>
            </a:r>
          </a:p>
          <a:p>
            <a:r>
              <a:t>두 개가 세 개보다 적으므로 그리디의 답은 최소가 아닙니다. 이것으로 반박이 끝났습니다. 동전 일, 삼, 사 원으로 육 원을 만드는 입력 하나에서 그리디가 최소 개수를 내지 못했으니, 어떤 화폐 체계에서도 항상 최소라는 주장은 거짓입니다.</a:t>
            </a:r>
          </a:p>
          <a:p>
            <a:r>
              <a:t/>
            </a:r>
          </a:p>
          <a:p>
            <a:r>
              <a:t>반박을 글로 쓸 때는 오른쪽 아래처럼 그리디의 결과, 더 좋은 해, 그리고 두 개수의 비교를 모두 적습니다. 첫 선택에서 가장 큰 사 원을 잡는 바람에 삼 원 두 개라는 더 좋은 조합이 막혔습니다. 다음 화면에서 반박이 성립하려면 무엇이 필요한지 정리하겠습니다.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그리디는 항상 최적이다라는 주장은 모든 입력에 대한 주장입니다. 그래서 맞지 않는 입력이 단 하나만 있어도 거짓이 됩니다. 이렇게 주장을 깨는 입력을 반례라고 합니다.</a:t>
            </a:r>
          </a:p>
          <a:p>
            <a:r>
              <a:t/>
            </a:r>
          </a:p>
          <a:p>
            <a:r>
              <a:t>반례에는 조건이 있습니다. 첫째, 문제의 조건을 지키는 입력이어야 합니다. 동전 일, 삼, 사 원과 금액 육 원은 문제가 허용하는 입력입니다.</a:t>
            </a:r>
          </a:p>
          <a:p>
            <a:r>
              <a:t/>
            </a:r>
          </a:p>
          <a:p>
            <a:r>
              <a:t>문제의 조건을 어긴 입력에서 틀리는 것은 반박이 되지 않습니다. 그런 입력은 처음부터 문제 밖이기 때문입니다. 둘째, 그리디의 결과보다 더 좋은 해를 보여야 합니다.</a:t>
            </a:r>
          </a:p>
          <a:p>
            <a:r>
              <a:t/>
            </a:r>
          </a:p>
          <a:p>
            <a:r>
              <a:t>우리는 세 개보다 적은 두 개를 보였습니다. 그리디와 개수가 같은 다른 해를 찾는 것은 반례가 아닙니다. 답이 여러 개일 수 있을 뿐 그리디가 틀린 것은 아니니까요.</a:t>
            </a:r>
          </a:p>
          <a:p>
            <a:r>
              <a:t/>
            </a:r>
          </a:p>
          <a:p>
            <a:r>
              <a:t>셋째, 하나면 충분합니다. 반례를 여러 개 모을 필요가 없습니다. 또 그리디가 느리게 도는 입력을 찾는 것은 최적성과 관계가 없습니다.</a:t>
            </a:r>
          </a:p>
          <a:p>
            <a:r>
              <a:t/>
            </a:r>
          </a:p>
          <a:p>
            <a:r>
              <a:t>여기서 반박하는 것은 답이 가장 좋은가이지, 빠른가가 아닙니다. 반대 방향도 기억하세요. 예제 몇 개에서 그리디가 맞았다고 해서 항상 최적이 증명되지는 않습니다.</a:t>
            </a:r>
          </a:p>
          <a:p>
            <a:r>
              <a:t/>
            </a:r>
          </a:p>
          <a:p>
            <a:r>
              <a:t>작은 입력을 여러 개 확인해도 다른 입력에서 틀릴 수 있습니다. 맞다는 것은 증명으로 보여야 하고, 그 방법은 뒤의 활동 선택 예제와 그리디가 통하는 조건에서 다룹니다. 다음은 일 원을 더한 다섯 종류 동전으로 개수를 세는 연습입니다.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코인 카운트는 금액을 받아 최소 동전 개수를 돌려주는 함수입니다. 동전은 오백, 백, 오십, 십, 일 원입니다. 차례로 배수 관계이므로 큰 동전부터 고르면 됩니다.</a:t>
            </a:r>
          </a:p>
          <a:p>
            <a:r>
              <a:t/>
            </a:r>
          </a:p>
          <a:p>
            <a:r>
              <a:t>카운트는 쓴 동전 개수로 영에서 시작합니다. 각 동전마다 현재 금액을 나눈 몫을 카운트에 더하고, 금액은 나머지로 바꿉니다. 카운트는 이미 쓴 개수이고, 어마운트는 앞으로 내야 할 돈입니다.</a:t>
            </a:r>
          </a:p>
          <a:p>
            <a:r>
              <a:t/>
            </a:r>
          </a:p>
          <a:p>
            <a:r>
              <a:t>천이백육십삼 원이면 오백 원 두 개 뒤에 이백육십삼 원, 백 원 두 개 뒤에 육십삼 원이 남습니다. 오십 원 하나 뒤에는 십삼 원, 십 원 하나 뒤에는 삼 원, 일 원 세 개 뒤에는 영입니다. 개수는 이, 사, 오, 육, 구로 늘어 최종 반환값은 아홉입니다.</a:t>
            </a:r>
          </a:p>
          <a:p>
            <a:r>
              <a:t/>
            </a:r>
          </a:p>
          <a:p>
            <a:r>
              <a:t>영 원이면 모든 몫이 영이라 영을 돌려줍니다. 금액이 커져도 정해진 다섯 종류를 한 번씩만 보므로 시간은 일정합니다. 이제 같은 동작을 두 언어의 코드에서 확인하겠습니다.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줄은 코인 카운트 함수를 정의하고, 어마운트로 금액을 받습니다. 카운트는 쓴 동전 개수로 영에서 시작합니다. 포 문은 코인에 오백, 백, 오십, 십, 일을 큰 순서대로 넣습니다. 별도 정렬은 없습니다.</a:t>
            </a:r>
          </a:p>
          <a:p>
            <a:r>
              <a:t/>
            </a:r>
          </a:p>
          <a:p>
            <a:r>
              <a:t>반복 안의 슬래시 두 개는 몫입니다. 현재 금액을 동전 금액으로 나눈 몫만큼 동전을 쓸 수 있으므로 카운트에 더합니다. 다음 퍼센트 이퀄은 나머지를 구해 어마운트에 다시 저장합니다. 사용할 개수를 먼저 계산하고, 이미 낸 돈을 제외한 금액으로 바꾸는 순서입니다.</a:t>
            </a:r>
          </a:p>
          <a:p>
            <a:r>
              <a:t/>
            </a:r>
          </a:p>
          <a:p>
            <a:r>
              <a:t>천이백육십삼을 넣으면 오백 원 차례에 카운트 이, 남은 돈 이백육십삼입니다. 백 원 뒤에는 카운트 사와 남은 육십삼, 오십 원 뒤에는 오와 십삼, 십 원 뒤에는 육과 삼, 일 원 뒤에는 구와 영이 됩니다.</a:t>
            </a:r>
          </a:p>
          <a:p>
            <a:r>
              <a:t/>
            </a:r>
          </a:p>
          <a:p>
            <a:r>
              <a:t>리턴 카운트는 반복을 전부 마친 뒤 아홉을 돌려줍니다. 포 문 안으로 들여쓰면 첫 동전만 처리하고 끝나므로 주의하세요. 함수는 입력이나 출력을 직접 하지 않고 결과만 반환합니다. 영 원이면 영을 반환합니다. 고정된 다섯 종류에 대한 시간과 추가 공간은 일정합니다.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87225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씨 버전도 같은 계산입니다. 처음 인트는 정수 하나를 반환한다는 뜻이고, 어마운트로 금액을 받습니다. 코인즈 배열에는 오백, 백, 오십, 십, 일이 큰 순서로 들어 있고 카운트는 영입니다.</a:t>
            </a:r>
          </a:p>
          <a:p>
            <a:r>
              <a:t/>
            </a:r>
          </a:p>
          <a:p>
            <a:r>
              <a:t>포 문의 아이는 영부터 사까지 다섯 위치를 가리킵니다. 아이가 오보다 작을 때만 반복하므로 배열 밖을 읽지 않습니다. 코인즈 아이가 현재 동전 금액입니다. 씨에서는 정수끼리 슬래시 하나로 나누면 정수 몫이 나옵니다. 음수가 아닌 이 금액에서는 파이썬의 몫과 같습니다.</a:t>
            </a:r>
          </a:p>
          <a:p>
            <a:r>
              <a:t/>
            </a:r>
          </a:p>
          <a:p>
            <a:r>
              <a:t>그 몫을 카운트에 더한 뒤, 퍼센트 연산으로 나머지만 어마운트에 남깁니다. 천이백육십삼이면 사용 개수는 차례로 둘, 둘, 하나, 하나, 셋입니다. 남은 돈은 이백육십삼, 육십삼, 십삼, 삼, 영으로 바뀌고 총 아홉 개입니다.</a:t>
            </a:r>
          </a:p>
          <a:p>
            <a:r>
              <a:t/>
            </a:r>
          </a:p>
          <a:p>
            <a:r>
              <a:t>리턴은 반복 밖에서 최종 개수를 돌려줍니다. 금액이 영이어도 모든 몫이 영이라 그대로 처리됩니다. 어마운트는 함수 안의 복사본이므로 나머지로 바꿔도 호출한 쪽의 변수를 바꾸지 않습니다. 주어진 십억 이하 범위에서는 인트로 처리할 수 있습니다. 반복은 다섯 번으로 일정합니다.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22247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회사에 회의실이 하나 있다고 해 봅시다. 오늘 하루 회의실을 쓰겠다는 요청이 여러 건 들어왔고, 요청마다 시작 시각과 종료 시각이 정해져 있습니다. 만화 왼쪽처럼 요청이 몰려 담당자가 곤란해하는 상황입니다.</a:t>
            </a:r>
          </a:p>
          <a:p>
            <a:r>
              <a:t/>
            </a:r>
          </a:p>
          <a:p>
            <a:r>
              <a:t>그림 속 세미나실은 이 강의에서 말하는 회의실입니다. 회의 하나를 활동, 영어로 액티비티라고 부릅니다. 그래서 이 문제의 이름이 활동 선택 문제입니다.</a:t>
            </a:r>
          </a:p>
          <a:p>
            <a:r>
              <a:t/>
            </a:r>
          </a:p>
          <a:p>
            <a:r>
              <a:t>회의실은 한 번에 한 회의만 쓸 수 있습니다. 시간이 겹치는 두 회의는 함께 넣을 수 없고, 회의를 도중에 끊을 수도 없습니다. 목표를 정확히 봐야 합니다.</a:t>
            </a:r>
          </a:p>
          <a:p>
            <a:r>
              <a:t/>
            </a:r>
          </a:p>
          <a:p>
            <a:r>
              <a:t>만화 오른쪽에서 사장님이 말하듯 중요한 것은 얼마나 오래가 아니라 최대한 많은 팀입니다. 회의실을 쓰는 시간의 합을 늘리는 것이 아니라, 넣은 회의의 개수를 최대로 만드는 것이 목표입니다. 그럼 두 회의가 겹친다는 것은 정확히 무엇일까요?</a:t>
            </a:r>
          </a:p>
          <a:p>
            <a:r>
              <a:t/>
            </a:r>
          </a:p>
          <a:p>
            <a:r>
              <a:t>한 회의가 끝나는 바로 그 시각에 다음 회의가 시작하면 겹치는 걸까요? 다음 화면에서 이 규칙을 먼저 정하겠습니다.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회의 시간은 대괄호와 소괄호를 섞어 씁니다. 화면 위의 문장을 보세요. 일 콤마 사 구간은 일시에 시작해서 사시에 끝나는 회의입니다.</a:t>
            </a:r>
          </a:p>
          <a:p>
            <a:r>
              <a:t/>
            </a:r>
          </a:p>
          <a:p>
            <a:r>
              <a:t>왼쪽의 대괄호는 일시를 포함한다는 뜻이고, 오른쪽의 소괄호는 사시를 포함하지 않는다는 뜻입니다. 그래서 이 회의는 일시부터 사시 직전까지 회의실을 씁니다. 사시를 포함하지 않으므로 사시가 되는 순간 회의실은 비어 있습니다.</a:t>
            </a:r>
          </a:p>
          <a:p>
            <a:r>
              <a:t/>
            </a:r>
          </a:p>
          <a:p>
            <a:r>
              <a:t>그러니 사시에 시작하는 사 콤마 육 구간의 회의는 바로 이어서 회의실을 쓸 수 있습니다. 타임라인의 주황 점선이 사시입니다. 첫 회의의 끝과 둘째 회의의 시작이 같은 선 위에 있지만 겹치지 않습니다.</a:t>
            </a:r>
          </a:p>
          <a:p>
            <a:r>
              <a:t/>
            </a:r>
          </a:p>
          <a:p>
            <a:r>
              <a:t>일시에서 사시 회의와 사시에서 육시 회의는 함께 고를 수 있습니다. 규칙으로 쓰면 이렇습니다. 다음 회의가 시작하는 시각이 앞 회의가 끝나는 시각보다 크거나 같으면 두 회의는 겹치지 않습니다.</a:t>
            </a:r>
          </a:p>
          <a:p>
            <a:r>
              <a:t/>
            </a:r>
          </a:p>
          <a:p>
            <a:r>
              <a:t>크다가 아니라 크거나 같다라는 점이 중요합니다. 사는 사 이상이므로 통과입니다. 셋째 줄의 삼시에서 오시 회의는 다릅니다.</a:t>
            </a:r>
          </a:p>
          <a:p>
            <a:r>
              <a:t/>
            </a:r>
          </a:p>
          <a:p>
            <a:r>
              <a:t>사시 전인 삼시에 시작하므로 일시에서 사시 회의와 겹치고, 사시 뒤인 오시에 끝나므로 사시에 시작하는 회의와도 겹칩니다. 그래서 이 세 회의 중에서는 일시에서 사시, 사시에서 육시 회의 두 개를 고르는 것이 최대입니다. 이 규칙을 기억하고 어떤 기준으로 회의를 골라야 할지 생각해 보겠습니다.</a:t>
            </a:r>
          </a:p>
          <a:p>
            <a:r>
              <a:t/>
            </a:r>
          </a:p>
          <a:p>
            <a:r>
              <a:t>먼저 가장 그럴듯한 기준, 일찍 시작하는 회의부터 고르기를 시험해 보겠습니다.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직관은 일찍 시작하는 회의부터 고르는 것입니다. 부지런한 새가 벌레를 잡는다는 말처럼 먼저 시작하는 회의를 먼저 넣는 방법이죠. 회의 세 개로 시험해 보겠습니다.</a:t>
            </a:r>
          </a:p>
          <a:p>
            <a:r>
              <a:t/>
            </a:r>
          </a:p>
          <a:p>
            <a:r>
              <a:t>일시에서 십시, 이시에서 삼시, 사시에서 오시 회의를 시작이 빠른 순서로 위에서부터 놓았습니다. 첫 번째로 시작이 가장 빠른 일시에서 십시 회의를 봅니다. 아직 고른 회의가 없으니 겹칠 것도 없습니다.</a:t>
            </a:r>
          </a:p>
          <a:p>
            <a:r>
              <a:t/>
            </a:r>
          </a:p>
          <a:p>
            <a:r>
              <a:t>이 회의를 고릅니다. 이제 회의실은 십시까지 사용 중입니다. 주황 점선이 십시를 표시합니다.</a:t>
            </a:r>
          </a:p>
          <a:p>
            <a:r>
              <a:t/>
            </a:r>
          </a:p>
          <a:p>
            <a:r>
              <a:t>두 번째로 이시에서 삼시 회의를 봅니다. 이시에 시작하는데 회의실은 십시까지 쓰이고 있습니다. 이가 십보다 작으므로 겹칩니다.</a:t>
            </a:r>
          </a:p>
          <a:p>
            <a:r>
              <a:t/>
            </a:r>
          </a:p>
          <a:p>
            <a:r>
              <a:t>건너뜁니다. 세 번째 사시에서 오시 회의도 사시에 시작해서 사가 십보다 작습니다. 역시 겹치므로 건너뜁니다.</a:t>
            </a:r>
          </a:p>
          <a:p>
            <a:r>
              <a:t/>
            </a:r>
          </a:p>
          <a:p>
            <a:r>
              <a:t>결과는 회의 한 개입니다. 일찍 시작한 긴 회의 하나가 하루를 거의 다 차지해서, 그 안에 짧게 들어갈 수 있던 회의들이 모두 밀려났습니다. 그럼 실제로는 몇 개까지 넣을 수 있었을까요?</a:t>
            </a:r>
          </a:p>
          <a:p>
            <a:r>
              <a:t/>
            </a:r>
          </a:p>
          <a:p>
            <a:r>
              <a:t>다음 화면에서 비교하겠습니다.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위의 타임라인은 시작 순 그리디의 결과, 아래는 더 좋은 선택입니다. 일시에서 십시 회의를 버리면 이시에서 삼시, 사시에서 오시 회의를 함께 넣을 수 있습니다. 앞의 회의가 삼시에 끝나고 뒤의 회의는 사시에 시작하므로 겹치지 않습니다.</a:t>
            </a:r>
          </a:p>
          <a:p>
            <a:r>
              <a:t/>
            </a:r>
          </a:p>
          <a:p>
            <a:r>
              <a:t>그리디는 한 개, 더 좋은 선택은 두 개입니다. 문제의 조건을 지키는 활동 세 개짜리 입력 하나에서 그리디보다 많이 고르는 방법을 보였습니다. 그러니 시작이 빠른 순으로 고르는 방법은 최적해를 보장하지 않습니다.</a:t>
            </a:r>
          </a:p>
          <a:p>
            <a:r>
              <a:t/>
            </a:r>
          </a:p>
          <a:p>
            <a:r>
              <a:t>거스름돈에서 본 것처럼 반례 하나로 충분합니다. 이 반례를 글로 쓸 때는 세 가지를 적으면 됩니다. 그리디가 고르는 활동은 일시에서 십시 회의 한 개, 실제로 가장 많이 고를 수 있는 활동은 이시에서 삼시와 사시에서 오시 회의 두 개, 그리고 한 개가 두 개보다 적다는 비교입니다.</a:t>
            </a:r>
          </a:p>
          <a:p>
            <a:r>
              <a:t/>
            </a:r>
          </a:p>
          <a:p>
            <a:r>
              <a:t>이 기준이 틀린 이유는 시작 시각만 보고, 그 회의가 회의실을 얼마나 오래 붙잡는지는 보지 않았기 때문입니다. 그렇다면 짧은 회의부터 고르면 어떨까요? 다음 표의 두 번째 예에서 함께 확인하겠습니다.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올바른 기준은 종료 시각이 빠른 회의부터 보는 것입니다. 종료 순으로 전부 고르는 것이 아니라, 이미 고른 회의와 겹치지 않는 것만 선택합니다. 가장 먼저 끝나면 회의실을 가장 일찍 비워 뒤 회의를 넣을 여지를 남깁니다.</a:t>
            </a:r>
          </a:p>
          <a:p>
            <a:r>
              <a:t/>
            </a:r>
          </a:p>
          <a:p>
            <a:r>
              <a:t>라스트 엔드는 마지막으로 고른 회의의 종료입니다. 종료 순으로 정렬한 뒤 시작이 라스트 엔드 이상이면 고르고, 기준을 그 회의의 종료로 옮깁니다. 겹쳐서 건너뛸 때는 기준을 바꾸지 않습니다.</a:t>
            </a:r>
          </a:p>
          <a:p>
            <a:r>
              <a:t/>
            </a:r>
          </a:p>
          <a:p>
            <a:r>
              <a:t>표의 두 번째 입력도 보겠습니다. 일시에서 오시, 사시에서 육시, 오시에서 구시입니다. 가장 짧은 가운데 회의를 먼저 고르면 앞뒤와 모두 겹쳐 한 개입니다. 반면 첫 회의와 마지막 회의는 오시에 이어져 두 개입니다. 짧은 순서도 항상 맞지는 않습니다.</a:t>
            </a:r>
          </a:p>
          <a:p>
            <a:r>
              <a:t/>
            </a:r>
          </a:p>
          <a:p>
            <a:r>
              <a:t>종료 순서는 첫 회의를 고르고 가운데를 버린 뒤 마지막을 골라 두 개를 얻습니다. 다만 예제에서 맞았다고 증명된 것은 아닙니다. 항상 맞는 이유는 뒤에서 설명하고, 먼저 여섯 회의를 따라가 보겠습니다.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회의 여섯 건으로 따라가겠습니다. 위 줄은 입력 순서입니다. 일번은 일시에서 삼시, 이번은 이시에서 오시, 삼번은 삼시에서 구시, 사번은 육시에서 팔시, 오번은 오시에서 칠시, 육번은 팔시에서 십일시입니다.</a:t>
            </a:r>
          </a:p>
          <a:p>
            <a:r>
              <a:t/>
            </a:r>
          </a:p>
          <a:p>
            <a:r>
              <a:t>칸 아래의 작은 글자가 회의 번호입니다. 아래 줄은 종료 시각이 빠른 순으로 정렬한 결과입니다. 종료 시각은 삼, 오, 칠, 팔, 구, 십일 순서가 됩니다.</a:t>
            </a:r>
          </a:p>
          <a:p>
            <a:r>
              <a:t/>
            </a:r>
          </a:p>
          <a:p>
            <a:r>
              <a:t>그래서 일번, 이번, 오번, 사번, 삼번, 육번 순서입니다. 노란 칸이 입력 순서와 자리가 바뀐 회의입니다. 오번은 칠시에 끝나서 세 번째로 올라왔고, 삼번은 삼시에 일찍 시작하지만 구시에 끝나서 다섯 번째로 내려갔습니다.</a:t>
            </a:r>
          </a:p>
          <a:p>
            <a:r>
              <a:t/>
            </a:r>
          </a:p>
          <a:p>
            <a:r>
              <a:t>아래 상자를 보세요. 라스트 엔드는 음의 무한대에서 시작합니다. 아직 고른 회의가 없다는 뜻입니다.</a:t>
            </a:r>
          </a:p>
          <a:p>
            <a:r>
              <a:t/>
            </a:r>
          </a:p>
          <a:p>
            <a:r>
              <a:t>어떤 회의의 시작 시각도 음의 무한대보다 크므로, 첫 번째로 보는 회의는 반드시 통과합니다. 회의 번호는 입력 순서로 붙인 것이고 정렬해도 바뀌지 않습니다. 실행 결과에 나오는 번호도 이 번호입니다.</a:t>
            </a:r>
          </a:p>
          <a:p>
            <a:r>
              <a:t/>
            </a:r>
          </a:p>
          <a:p>
            <a:r>
              <a:t>이제 정렬된 순서대로 한 회의씩 보겠습니다.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단계입니다. 타임라인은 정렬된 순서대로 위에서부터 놓았습니다. 맨 위의 일번, 일시에서 삼시 회의가 가장 먼저 끝나는 회의입니다.</a:t>
            </a:r>
          </a:p>
          <a:p>
            <a:r>
              <a:t/>
            </a:r>
          </a:p>
          <a:p>
            <a:r>
              <a:t>노란 막대가 지금 고른 회의입니다. 일번은 일시에 시작합니다. 라스트 엔드는 음의 무한대이므로 일이 음의 무한대 이상이라는 조건이 참입니다.</a:t>
            </a:r>
          </a:p>
          <a:p>
            <a:r>
              <a:t/>
            </a:r>
          </a:p>
          <a:p>
            <a:r>
              <a:t>아직 고른 회의가 없으니 겹칠 회의도 없습니다. 일번을 고릅니다. 고른 뒤에는 라스트 엔드를 일번의 종료 시각 삼으로 옮깁니다.</a:t>
            </a:r>
          </a:p>
          <a:p>
            <a:r>
              <a:t/>
            </a:r>
          </a:p>
          <a:p>
            <a:r>
              <a:t>주황 점선이 삼시에 그어졌습니다. 이제부터 삼시보다 먼저 시작하는 회의는 일번과 겹치므로 고를 수 없습니다. 오른쪽 열에는 판정과 그 근거를 함께 적었습니다.</a:t>
            </a:r>
          </a:p>
          <a:p>
            <a:r>
              <a:t/>
            </a:r>
          </a:p>
          <a:p>
            <a:r>
              <a:t>선택, 일은 음의 무한대 이상입니다. 아직 보지 않은 회의는 회색 막대로 남아 있습니다. 가장 먼저 끝나는 회의를 고르는 것이 이 알고리즘의 첫 선택입니다.</a:t>
            </a:r>
          </a:p>
          <a:p>
            <a:r>
              <a:t/>
            </a:r>
          </a:p>
          <a:p>
            <a:r>
              <a:t>일번은 회의실을 삼시에 비워 주므로 뒤에 남는 시간이 가장 깁니다. 다음은 두 번째로 끝나는 이번입니다.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단계입니다. 지금 보는 회의는 이번, 이시에서 오시 회의입니다. 이번은 이시에 시작합니다.</a:t>
            </a:r>
          </a:p>
          <a:p>
            <a:r>
              <a:t/>
            </a:r>
          </a:p>
          <a:p>
            <a:r>
              <a:t>라스트 엔드는 삼입니다. 직전에 고른 일번이 삼시에 끝난다는 뜻입니다. 이가 삼 이상이라는 조건은 거짓입니다.</a:t>
            </a:r>
          </a:p>
          <a:p>
            <a:r>
              <a:t/>
            </a:r>
          </a:p>
          <a:p>
            <a:r>
              <a:t>이번은 일번이 아직 진행 중인 이시에 시작하므로 겹칩니다. 조건을 만족하지 못했으므로 건너뜁니다. 막대를 빨간 점선으로 바꾸고, 오른쪽 열에 건너뜀과 그 근거, 이가 삼보다 작다를 적었습니다.</a:t>
            </a:r>
          </a:p>
          <a:p>
            <a:r>
              <a:t/>
            </a:r>
          </a:p>
          <a:p>
            <a:r>
              <a:t>여기서 삼시라는 기준은 직전에 고른 회의가 끝나는 시각입니다. 그냥 삼시 이전에 시작하는 회의를 버린다는 고정된 규칙이 아니라, 라스트 엔드가 움직이면 기준도 함께 움직입니다. 건너뛸 때는 라스트 엔드를 바꾸지 않습니다.</a:t>
            </a:r>
          </a:p>
          <a:p>
            <a:r>
              <a:t/>
            </a:r>
          </a:p>
          <a:p>
            <a:r>
              <a:t>주황 점선은 그대로 삼시에 있습니다. 라스트 엔드는 회의를 고를 때만 움직입니다. 다음 단계에서는 세 번째로 끝나는 오번을 보겠습니다.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최종 선택은 일번, 오번, 육번의 세 회의입니다. 빠진 중간 단계도 이어 보겠습니다. 일번을 고르면 마지막 종료는 삼이고, 이번은 이시에 시작해 겹치므로 버립니다.</a:t>
            </a:r>
          </a:p>
          <a:p>
            <a:r>
              <a:t/>
            </a:r>
          </a:p>
          <a:p>
            <a:r>
              <a:t>다음 오번은 오시에서 칠시입니다. 오가 삼 이상이므로 선택하여 개수는 둘, 마지막 종료는 칠이 됩니다. 사번은 육시에 시작하므로 칠보다 빨라 버립니다. 이때 기준을 팔로 바꾸지 않고 칠 그대로 둡니다. 삼번도 시작 삼이 칠보다 작아 버립니다.</a:t>
            </a:r>
          </a:p>
          <a:p>
            <a:r>
              <a:t/>
            </a:r>
          </a:p>
          <a:p>
            <a:r>
              <a:t>마지막 육번은 팔시에서 십일시입니다. 팔이 칠 이상이므로 선택하여 개수는 셋, 마지막 종료는 십일입니다. 파란 막대가 일시에서 삼시, 오시에서 칠시, 팔시에서 십일시입니다.</a:t>
            </a:r>
          </a:p>
          <a:p>
            <a:r>
              <a:t/>
            </a:r>
          </a:p>
          <a:p>
            <a:r>
              <a:t>중간에 빈 시간이 있어도 괜찮습니다. 회의실을 꽉 채우는 것이 아니라 회의 개수를 늘리는 문제이기 때문입니다. 각 회의는 한 번만 검사했고 앞의 선택을 취소하지 않았습니다. 이제 걸리는 시간과 이 선택이 최적인 이유를 보겠습니다.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시간은 정렬과 훑기로 나누겠습니다. 회의가 엔 개일 때 종료 순으로 효율적인 비교 정렬을 하면 엔 로그 엔 규모입니다. 파이썬 소트는 최악에도 이 범위이고, 씨의 큐 소트는 구현에 따라 특성이 다를 수 있습니다.</a:t>
            </a:r>
          </a:p>
          <a:p>
            <a:r>
              <a:t/>
            </a:r>
          </a:p>
          <a:p>
            <a:r>
              <a:t>정렬 후에는 회의마다 시작과 마지막 종료를 한 번 비교합니다. 선택한 경우에만 개수와 종료를 바꾸고 되돌아가지 않으므로 훑기는 엔에 비례합니다. 둘을 합치면 일반적으로 정렬 비용이 더 커 전체는 엔 로그 엔 규모입니다.</a:t>
            </a:r>
          </a:p>
          <a:p>
            <a:r>
              <a:t/>
            </a:r>
          </a:p>
          <a:p>
            <a:r>
              <a:t>입력이 이미 종료 순으로 정렬되어 있다면 정렬을 빼고 한 번만 훑아 엔 규모가 됩니다. 문제에서 정렬해 주는지 꼭 확인하세요.</a:t>
            </a:r>
          </a:p>
          <a:p>
            <a:r>
              <a:t/>
            </a:r>
          </a:p>
          <a:p>
            <a:r>
              <a:t>공간도 반환 조건에 따라 다릅니다. 선택한 목록을 저장하면 최대 엔 개의 자리가 필요하지만, 개수만 반환하면 카운트와 마지막 종료만 유지할 수 있습니다. 입력과 정렬 자체의 메모리를 제외한 추가 상태는 일정합니다. 이제 왜 최대 개수를 얻는지 보겠습니다.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최대로 많은 회의를 고른 목록 하나가 있다고 생각하겠습니다. 실제로 그 목록을 미리 찾아낼 필요는 없습니다. 그 최적 목록의 첫 회의를 엑스, 그리디의 가장 먼저 끝나는 회의를 지라고 하겠습니다.</a:t>
            </a:r>
          </a:p>
          <a:p>
            <a:r>
              <a:t/>
            </a:r>
          </a:p>
          <a:p>
            <a:r>
              <a:t>지는 전체에서 가장 먼저 끝나므로 엑스보다 늦게 끝나지 않습니다. 최적 목록에서 엑스 하나를 빼고 지를 넣어 봅니다. 뒤 회의들은 원래 엑스가 끝난 뒤 시작합니다. 지는 더 일찍 끝나므로 뒤 회의와 겹치지 않습니다. 하나를 빼고 하나를 넣었으니 개수도 같습니다. 따라서 바꾼 목록도 최적입니다.</a:t>
            </a:r>
          </a:p>
          <a:p>
            <a:r>
              <a:t/>
            </a:r>
          </a:p>
          <a:p>
            <a:r>
              <a:t>그림에서는 오시에 끝나는 이번을 삼시에 끝나는 일번으로 바꿉니다. 뒤의 사번과 육번은 그대로 들어갑니다. 이 그림은 교환의 예이고, 일반적인 논리는 어떤 최대 목록에도 적용됩니다.</a:t>
            </a:r>
          </a:p>
          <a:p>
            <a:r>
              <a:t/>
            </a:r>
          </a:p>
          <a:p>
            <a:r>
              <a:t>이제 일번을 확정하고 삼시 이후에 시작하는 회의들에 같은 논리를 반복합니다. 매번 최대 개수를 잃지 않으므로 전체도 최적입니다. 모든 최적 목록이 같다는 뜻은 아닙니다. 그리디의 선택을 포함하는 최적 목록이 적어도 하나 있다는 뜻이며, 이런 증명을 교환 논증이라고 합니다.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연습문제입니다. 액티비티 카운트는 활동 목록을 받아, 시간이 겹치지 않게 고를 수 있는 활동의 최대 개수를 돌려주는 함수입니다. 활동은 이미 종료 시각이 빠른 순으로 정렬되어 들어온다고 하겠습니다.</a:t>
            </a:r>
          </a:p>
          <a:p>
            <a:r>
              <a:t/>
            </a:r>
          </a:p>
          <a:p>
            <a:r>
              <a:t>예로 일시에서 사시, 삼시에서 오시, 사시에서 육시 활동을 넣어 보겠습니다. 종료 시각이 사, 오, 육이므로 이미 정렬된 순서입니다. 처음에 카운트는 영, 라스트 엔드는 음의 무한대입니다.</a:t>
            </a:r>
          </a:p>
          <a:p>
            <a:r>
              <a:t/>
            </a:r>
          </a:p>
          <a:p>
            <a:r>
              <a:t>아래 표의 첫 줄입니다. 첫 활동은 일이 음의 무한대 이상이므로 고릅니다. 카운트는 일, 라스트 엔드는 사가 됩니다.</a:t>
            </a:r>
          </a:p>
          <a:p>
            <a:r>
              <a:t/>
            </a:r>
          </a:p>
          <a:p>
            <a:r>
              <a:t>둘째 활동은 삼시에 시작합니다. 삼이 사 이상이라는 조건이 거짓이므로 건너뜁니다. 카운트와 라스트 엔드는 그대로 일과 사입니다.</a:t>
            </a:r>
          </a:p>
          <a:p>
            <a:r>
              <a:t/>
            </a:r>
          </a:p>
          <a:p>
            <a:r>
              <a:t>앞에서 본 것처럼 이 활동은 첫 활동이 끝나기 전에 시작합니다. 셋째 활동은 사시에 시작합니다. 사가 사 이상이라는 조건은 참입니다.</a:t>
            </a:r>
          </a:p>
          <a:p>
            <a:r>
              <a:t/>
            </a:r>
          </a:p>
          <a:p>
            <a:r>
              <a:t>같아도 되니까요. 고르고 카운트는 이, 라스트 엔드는 육이 됩니다. 함수는 이를 돌려줍니다.</a:t>
            </a:r>
          </a:p>
          <a:p>
            <a:r>
              <a:t/>
            </a:r>
          </a:p>
          <a:p>
            <a:r>
              <a:t>일시에서 사시, 사시에서 육시 활동 두 개입니다. 비교 기호를 크다로 쓰면 셋째 활동에서 사가 사보다 크지 않아 건너뛰게 되고, 답이 일로 틀립니다. 끝나는 시각에 바로 시작할 수 있다는 규칙이 크거나 같다에 들어 있습니다.</a:t>
            </a:r>
          </a:p>
          <a:p>
            <a:r>
              <a:t/>
            </a:r>
          </a:p>
          <a:p>
            <a:r>
              <a:t>다음 화면에서 이 과정을 의사코드로 정리하겠습니다.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액티비티 카운트의 의사코드입니다. 앞의 활동 선택 코드에서 고른 활동을 목록에 담는 대신 개수만 세도록 바꾼 모양입니다. 첫 줄의 주석처럼 입력이 종료 시각 순으로 정렬되어 있다는 전제가 있습니다.</a:t>
            </a:r>
          </a:p>
          <a:p>
            <a:r>
              <a:t/>
            </a:r>
          </a:p>
          <a:p>
            <a:r>
              <a:t>카운트를 영, 라스트 엔드를 음의 무한대로 놓습니다. 포 문에서 활동마다 시작과 종료를 꺼내, 시작이 라스트 엔드 이상이면 카운트를 하나 늘리고 라스트 엔드를 종료로 바꿉니다. 끝나면 카운트를 돌려줍니다.</a:t>
            </a:r>
          </a:p>
          <a:p>
            <a:r>
              <a:t/>
            </a:r>
          </a:p>
          <a:p>
            <a:r>
              <a:t>빈 목록을 넣으면 어떻게 될까요? 포 문이 한 번도 돌지 않으므로 카운트는 처음 값 영 그대로 돌아옵니다. 빈 목록을 따로 검사하는 이프가 없어도 됩니다.</a:t>
            </a:r>
          </a:p>
          <a:p>
            <a:r>
              <a:t/>
            </a:r>
          </a:p>
          <a:p>
            <a:r>
              <a:t>반대로 목록의 첫 원소를 미리 꺼내 넣고 시작하는 방식으로 짜면, 빈 목록에서는 꺼낼 원소가 없어 오류가 납니다. 시각이 영 이상이라고 주어진 문제라면 라스트 엔드를 영으로 시작해도 됩니다. 첫 활동의 시작이 영 이상이므로 조건을 통과하기 때문입니다.</a:t>
            </a:r>
          </a:p>
          <a:p>
            <a:r>
              <a:t/>
            </a:r>
          </a:p>
          <a:p>
            <a:r>
              <a:t>시간 복잡도는 입력이 이미 정렬되어 있으므로 한 번 훑는 오 엔입니다. 입력이 정렬되어 있지 않아 직접 정렬부터 한다면 오 엔 로그 엔입니다. 자기 코드가 정렬을 하는지 안 하는지에 맞춰 써야 합니다.</a:t>
            </a:r>
          </a:p>
          <a:p>
            <a:r>
              <a:t/>
            </a:r>
          </a:p>
          <a:p>
            <a:r>
              <a:t>이제 같은 동작을 파이썬과 씨 코드에서 한 줄씩 확인하겠습니다.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파이썬 함수는 이미 종료 순으로 정렬된 회의를 받아 최대 개수만 반환합니다. 모든 시작 시각이 영 이상이라는 조건도 있습니다. 그래서 정렬 줄이 없고, 마지막 종료인 라스트를 영으로 시작해도 첫 회의가 통과합니다. 카운트도 영입니다.</a:t>
            </a:r>
          </a:p>
          <a:p>
            <a:r>
              <a:t/>
            </a:r>
          </a:p>
          <a:p>
            <a:r>
              <a:t>포 문의 스타트와 엔드는 회의 한 쌍의 시작과 종료입니다. 시작이 라스트 이상이면 겹치지 않으므로 카운트를 하나 늘리고 라스트를 지금 종료로 바꿉니다. 두 줄 모두 이프 안에 있습니다. 선택하지 않은 회의의 종료로 라스트를 바꾸면 안 됩니다.</a:t>
            </a:r>
          </a:p>
          <a:p>
            <a:r>
              <a:t/>
            </a:r>
          </a:p>
          <a:p>
            <a:r>
              <a:t>일시에서 사시, 삼시에서 오시, 사시에서 육시를 넣으면 첫 회의 후 카운트 일, 라스트 사입니다. 둘째는 삼이 사보다 작아 건너뜁니다. 셋째는 사가 사 이상이므로 선택하여 카운트 이, 라스트 육이 됩니다. 같아도 허용한다는 것이 중요합니다.</a:t>
            </a:r>
          </a:p>
          <a:p>
            <a:r>
              <a:t/>
            </a:r>
          </a:p>
          <a:p>
            <a:r>
              <a:t>리턴은 반복이 끝난 뒤 이를 반환합니다. 빈 목록이면 반복하지 않아 영입니다. 정렬된 입력을 한 번 훑으므로 시간은 엔에 비례하고 추가 상태는 일정합니다. 입력 목록을 바꾸거나 선택 목록을 새로 만들 필요는 없습니다.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687555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씨 함수는 시작 배열과 종료 배열을 따로 받으며, 같은 위치의 두 값이 한 회의입니다. 엔은 회의 개수입니다. 배열의 길이를 따로 받는 이유는 씨의 함수가 이 배열만으로 원소 수를 알 수 없기 때문입니다. 콘스트는 배열을 읽기만 한다는 뜻입니다.</a:t>
            </a:r>
          </a:p>
          <a:p>
            <a:r>
              <a:t/>
            </a:r>
          </a:p>
          <a:p>
            <a:r>
              <a:t>시각은 영 이상이고 회의들은 이미 종료 순으로 정렬되어 있습니다. 라스트와 카운트를 영으로 놓고 아이를 영부터 엔 빼기 일까지 반복합니다. 스타트 아이가 라스트 이상이면 카운트를 늘리고 라스트를 엔드 아이로 바꿉니다. 겹치면 둘 다 그대로 둡니다.</a:t>
            </a:r>
          </a:p>
          <a:p>
            <a:r>
              <a:t/>
            </a:r>
          </a:p>
          <a:p>
            <a:r>
              <a:t>시작이 일, 삼, 사이고 종료가 사, 오, 육이라면 첫 회의 뒤 카운트 일과 라스트 사, 둘째는 그대로, 셋째 뒤 카운트 이와 라스트 육입니다. 반환값은 이이며 파이썬과 같은 결과입니다. 시작과 종료 배열을 각각 따로 정렬하면 회의 짝이 깨지므로 안 됩니다.</a:t>
            </a:r>
          </a:p>
          <a:p>
            <a:r>
              <a:t/>
            </a:r>
          </a:p>
          <a:p>
            <a:r>
              <a:t>엔이 영이면 반복하지 않고 영을 돌려줍니다. 첫 원소를 미리 읽지 않아 빈 입력도 처리됩니다. 한 번 훑으므로 시간은 엔에 비례하고 추가 공간은 일정합니다. 이제 배낭 문제로 넘어가겠습니다.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81552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배낭 문제는 정해진 무게 안에서 물건들의 가치 합을 가장 크게 만드는 문제입니다. 표의 에이, 비, 씨는 각각 한 개씩 있습니다. 에이는 이십 킬로그램에 만 사천 골드, 비와 씨는 각각 십오 킬로그램에 구천 골드이고 용량은 삼십 킬로그램입니다.</a:t>
            </a:r>
          </a:p>
          <a:p>
            <a:r>
              <a:t/>
            </a:r>
          </a:p>
          <a:p>
            <a:r>
              <a:t>쪼갤 수 있다는 것은 물건의 일부분만 가져올 수 있다는 뜻입니다. 예를 들어 십오 킬로그램짜리에서 십 킬로그램만 담으면 무게뿐 아니라 가치도 삼분의 이만 얻습니다. 금가루를 덜어 담는다고 생각하면 됩니다. 이것이 분할 배낭입니다.</a:t>
            </a:r>
          </a:p>
          <a:p>
            <a:r>
              <a:t/>
            </a:r>
          </a:p>
          <a:p>
            <a:r>
              <a:t>반대로 영 일 배낭은 물건을 통째로 넣거나 아예 넣지 않습니다. 삼십 킬로그램짜리 조각상을 잘라 이십 킬로그램만 담는 것은 허용되지 않습니다. 안 넣는 선택을 영, 통째로 넣는 선택을 일로 표시해서 영 일 배낭이라고 부릅니다. 먼저 용량 삼십인 분할 배낭을 계산하고, 뒤에서는 용량 오십인 별도 예제로 통째로 넣는 경우를 보겠습니다.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분할 배낭에서 무엇을 기준으로 고를지 정하겠습니다. 보물을 일 킬로그램 단위로 덜어 낼 수 있으니, 배낭의 일 킬로그램 자리마다 무엇을 넣을지가 문제입니다. 그래서 기준은 총 가치가 아니라 일 킬로그램에 얼마인지, 즉 무게당 가치입니다.</a:t>
            </a:r>
          </a:p>
          <a:p>
            <a:r>
              <a:t/>
            </a:r>
          </a:p>
          <a:p>
            <a:r>
              <a:t>흔히 가성비라고 부르고, 코드에서는 레이쇼라는 이름을 씁니다. 오른쪽 계산을 보세요. 무게당 가치는 가치를 무게로 나눈 값입니다.</a:t>
            </a:r>
          </a:p>
          <a:p>
            <a:r>
              <a:t/>
            </a:r>
          </a:p>
          <a:p>
            <a:r>
              <a:t>에이는 만 사천을 이십으로 나눠 칠백, 비와 씨는 구천을 십오로 나눠 육백입니다. 단위를 붙여 읽으면 킬로그램당 칠백 골드, 킬로그램당 육백 골드예요. 표의 노란 열이 이 값입니다.</a:t>
            </a:r>
          </a:p>
          <a:p>
            <a:r>
              <a:t/>
            </a:r>
          </a:p>
          <a:p>
            <a:r>
              <a:t>이 값이 큰 순서로 줄을 세우면 에이, 비, 씨입니다. 비와 씨는 육백으로 같은데, 이럴 때는 입력 순서대로 비를 먼저 봅니다. 둘은 무게와 가치까지 같아서 어느 쪽을 먼저 봐도 결과는 같습니다.</a:t>
            </a:r>
          </a:p>
          <a:p>
            <a:r>
              <a:t/>
            </a:r>
          </a:p>
          <a:p>
            <a:r>
              <a:t>아래 회색 막대가 배낭입니다. 지금은 삼십 킬로그램이 모두 비어 있습니다. 그리디의 세 단계로 말하면, 선택은 이 줄의 맨 앞에 있는 보물을 고르는 것입니다.</a:t>
            </a:r>
          </a:p>
          <a:p>
            <a:r>
              <a:t/>
            </a:r>
          </a:p>
          <a:p>
            <a:r>
              <a:t>다음 화면에서는 에이를 통째로 담은 뒤 비를 일부 덜어 담아 배낭을 채우겠습니다.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처음 용량은 삼십 킬로그램입니다. 가성비가 가장 높은 에이 이십 킬로그램을 통째로 넣으면 만 사천 골드를 얻고 십 킬로그램이 남습니다.</a:t>
            </a:r>
          </a:p>
          <a:p>
            <a:r>
              <a:t/>
            </a:r>
          </a:p>
          <a:p>
            <a:r>
              <a:t>비는 십오 킬로그램이라 통째로는 들어가지 않습니다. 하지만 분할 배낭이므로 십 킬로그램만 덜어 담습니다. 전체 십오 중 십이니 삼분의 이이고, 가치도 구천의 삼분의 이인 육천 골드입니다. 또는 십 킬로그램에 킬로그램당 육백 골드를 곱해도 육천입니다.</a:t>
            </a:r>
          </a:p>
          <a:p>
            <a:r>
              <a:t/>
            </a:r>
          </a:p>
          <a:p>
            <a:r>
              <a:t>총가치는 만 사천 더하기 육천으로 이만 골드, 무게는 이십 더하기 십으로 삼십입니다. 용량이 영이 되어 씨는 더 보지 않습니다. 비를 일부 넣었으므로 구천 전체를 더하면 안 됩니다.</a:t>
            </a:r>
          </a:p>
          <a:p>
            <a:r>
              <a:t/>
            </a:r>
          </a:p>
          <a:p>
            <a:r>
              <a:t>에이 대신 비나 씨를 같은 무게만큼 넣으면 킬로그램당 칠백 대신 육백을 얻어 손해입니다. 그래서 에이를 먼저 가능한 만큼 넣는 선택이 안전합니다. 그 뒤 비와 씨는 가성비가 같아 어느 쪽에서 십을 가져와도 같습니다. 이 계산을 코드로 보겠습니다.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의사코드의 커패시티는 앞으로 더 넣을 수 있는 남은 무게입니다. 먼저 물건을 무게당 가치가 큰 순으로 정렬하고, 얻은 가치 합인 토털을 영으로 놓습니다.</a:t>
            </a:r>
          </a:p>
          <a:p>
            <a:r>
              <a:t/>
            </a:r>
          </a:p>
          <a:p>
            <a:r>
              <a:t>포 문에서 물건을 하나씩 봅니다. 테이크는 남은 용량과 물건 무게 중 작은 값입니다. 민은 둘 중 작은 값을 고릅니다. 남은 삼십에 에이 이십이면 이십을 통째로, 남은 십에 비 십오이면 십만 담습니다. 이 한 줄로 통째로 넣기와 일부 넣기를 함께 처리합니다.</a:t>
            </a:r>
          </a:p>
          <a:p>
            <a:r>
              <a:t/>
            </a:r>
          </a:p>
          <a:p>
            <a:r>
              <a:t>토털에는 테이크와 레이쇼를 곱한 값을 더합니다. 레이쇼는 가치 나누기 무게이므로 담은 무게에 곱하면 얻는 가치입니다. 에이에서는 이십 곱하기 칠백으로 만 사천, 비에서는 십 곱하기 육백으로 육천입니다. 그다음 남은 용량에서 테이크를 뺍니다.</a:t>
            </a:r>
          </a:p>
          <a:p>
            <a:r>
              <a:t/>
            </a:r>
          </a:p>
          <a:p>
            <a:r>
              <a:t>용량이 영이면 브레이크로 멈추고 토털 이만을 반환합니다. 물건을 다 봐도 공간이 남을 수 있고, 빈 목록이면 영입니다. 정렬부터 하는 이 코드는 엔 로그 엔 규모입니다. 이미 가성비 순으로 주는 함수 문제라면 훑기만 하므로 엔 규모입니다.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연습문제입니다. 쪼갤 수 있는 배낭이고 용량은 칠입니다. 보물은 괄호 안에 무게, 가치 순서로 적었습니다.</a:t>
            </a:r>
          </a:p>
          <a:p>
            <a:r>
              <a:t/>
            </a:r>
          </a:p>
          <a:p>
            <a:r>
              <a:t>에이가 무게 육, 가치 십팔이고, 비가 무게 사, 가치 이십입니다. 먼저 무게당 가치를 구합니다. 에이는 십팔을 육으로 나눠 삼, 비는 이십을 사로 나눠 오입니다.</a:t>
            </a:r>
          </a:p>
          <a:p>
            <a:r>
              <a:t/>
            </a:r>
          </a:p>
          <a:p>
            <a:r>
              <a:t>그러니 비가 먼저입니다. 표도 비를 위에 두었습니다. 가치만 보면 에이 십팔보다 비 이십이 크지만, 기준은 어디까지나 무게당 가치라는 점을 기억하세요.</a:t>
            </a:r>
          </a:p>
          <a:p>
            <a:r>
              <a:t/>
            </a:r>
          </a:p>
          <a:p>
            <a:r>
              <a:t>첫째, 비를 봅니다. 무게 사가 용량 칠 이하이므로 통째로 담습니다. 가치 이십을 얻고, 남은 용량은 칠 빼기 사, 삼입니다.</a:t>
            </a:r>
          </a:p>
          <a:p>
            <a:r>
              <a:t/>
            </a:r>
          </a:p>
          <a:p>
            <a:r>
              <a:t>둘째, 에이를 봅니다. 무게 육이 남은 삼보다 크므로 통째로는 들어가지 않습니다. 쪼갤 수 있으니 삼만 덜어 담습니다.</a:t>
            </a:r>
          </a:p>
          <a:p>
            <a:r>
              <a:t/>
            </a:r>
          </a:p>
          <a:p>
            <a:r>
              <a:t>비율은 삼을 육으로 나눈 이분의 일, 즉 절반입니다. 가치도 절반이니 십팔 곱하기 이분의 일, 구입니다. 무게당 가치로 계산해도 삼 곱하기 삼으로 똑같이 구입니다.</a:t>
            </a:r>
          </a:p>
          <a:p>
            <a:r>
              <a:t/>
            </a:r>
          </a:p>
          <a:p>
            <a:r>
              <a:t>합계는 이십 더하기 구, 이십구입니다. 막대에서도 비 사와 에이 삼이 용량 칠을 꽉 채웠습니다. 다음 연습은 무게당 가치가 같은 경우입니다.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연습입니다. 용량은 오, 에이는 무게 이, 가치 팔, 비는 무게 사, 가치 십육입니다. 무게당 가치를 구하면 에이는 팔을 이로 나눠 사, 비는 십육을 사로 나눠 사입니다.</a:t>
            </a:r>
          </a:p>
          <a:p>
            <a:r>
              <a:t/>
            </a:r>
          </a:p>
          <a:p>
            <a:r>
              <a:t>둘이 같습니다. 이럴 때는 앞에 있는 에이부터 봅니다. 첫째, 에이의 무게 이는 용량 오 이하이므로 통째로 담고 가치 팔을 얻습니다.</a:t>
            </a:r>
          </a:p>
          <a:p>
            <a:r>
              <a:t/>
            </a:r>
          </a:p>
          <a:p>
            <a:r>
              <a:t>남은 용량은 오 빼기 이, 삼입니다. 둘째, 비의 무게 사는 남은 삼보다 크므로 삼만 덜어 담습니다. 비율은 삼을 사로 나눈 사분의 삼이고, 가치는 십육 곱하기 사분의 삼, 십이입니다.</a:t>
            </a:r>
          </a:p>
          <a:p>
            <a:r>
              <a:t/>
            </a:r>
          </a:p>
          <a:p>
            <a:r>
              <a:t>합계는 팔 더하기 십이, 이십입니다. 오른쪽 아래 문장처럼 순서를 바꿔 비부터 담아도 답은 같습니다. 비 사를 통째로 담아 십육, 남은 일에 에이의 이분의 일을 담아 사, 합계 이십이죠.</a:t>
            </a:r>
          </a:p>
          <a:p>
            <a:r>
              <a:t/>
            </a:r>
          </a:p>
          <a:p>
            <a:r>
              <a:t>무게당 가치가 모두 사이니 다섯 칸 어디에 무엇을 넣든 오 곱하기 사, 이십입니다. 무게당 가치가 같은 보물끼리는 순서가 답을 바꾸지 않습니다. 이제 쪼갤 수 없는 영 일 배낭으로 넘어가겠습니다.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문제부터 정리하겠습니다. 최대 오십 킬로그램을 담는 배낭이 있고, 에이와 비와 씨가 각각 한 개씩 있습니다. 에이는 십 킬로그램에 가치 육십, 비는 이십 킬로그램에 백, 씨는 삼십 킬로그램에 백이십입니다. 물건은 통째로 넣거나 아예 넣지 않습니다. 같은 물건을 여러 개 넣을 수도 없고, 씨를 잘라 이십 킬로그램만 담을 수도 없습니다. 이 조건 안에서 가치 합을 가장 크게 만드는 것이 목표입니다.</a:t>
            </a:r>
          </a:p>
          <a:p>
            <a:r>
              <a:t/>
            </a:r>
          </a:p>
          <a:p>
            <a:r>
              <a:t>이제 가성비가 높은 순서로 넣어 보겠습니다. 무게당 가치는 에이 육, 비 오, 씨 사여서 에이부터 봅니다. 에이를 넣으면 사십 킬로그램, 비를 넣으면 이십 킬로그램이 남습니다. 씨는 삼십 킬로그램 전체가 들어가야 하므로 남은 이십에는 못 넣습니다. 일부만 넣는 선택은 규칙 위반입니다.</a:t>
            </a:r>
          </a:p>
          <a:p>
            <a:r>
              <a:t/>
            </a:r>
          </a:p>
          <a:p>
            <a:r>
              <a:t>이 기준의 결과는 에이와 비, 가치 육십 더하기 백으로 백육십입니다. 빈 공간 이십이 있어도 씨를 넣을 수 없습니다. 하지만 이것이 최댓값인지는 아직 모릅니다. 다음 표에서 에이를 빼는 조합까지 비교하겠습니다.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앞과 같은 조건입니다. 용량은 오십 킬로그램이고 각 물건은 한 번만 통째로 넣습니다. 표에서 무게 합이 오십 이하인 조합들만 비교하겠습니다.</a:t>
            </a:r>
          </a:p>
          <a:p>
            <a:r>
              <a:t/>
            </a:r>
          </a:p>
          <a:p>
            <a:r>
              <a:t>에이와 비는 무게 삼십에 가치 백육십으로 방금 그리디의 결과입니다. 에이와 씨는 무게 사십에 가치 백팔십입니다. 비와 씨는 이십 더하기 삼십으로 무게 오십에 딱 맞고, 가치는 백 더하기 백이십으로 이백이십입니다. 세 개 모두 넣으면 무게 육십이어서 용량을 초과하므로 정답이 될 수 없습니다. 하나만 넣거나 아무것도 넣지 않은 경우까지 보면, 허용된 조합 중 최댓값은 비와 씨의 이백이십입니다.</a:t>
            </a:r>
          </a:p>
          <a:p>
            <a:r>
              <a:t/>
            </a:r>
          </a:p>
          <a:p>
            <a:r>
              <a:t>에이를 먼저 넣으면 사십만 남아 비와 씨를 함께 담지 못합니다. 에이를 빼면 그 둘을 통째로 넣을 수 있어 가치가 육십 더 커집니다. 가성비 일등을 먼저 고르는 결정이 더 좋은 조합을 막은 것입니다.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예제에서는 에이를 먼저 넣으면 사십 킬로그램이 남지만, 비와 씨를 함께 넣으려면 오십이 필요합니다. 그래서 에이를 고정하면 최적 조합인 비와 씨를 놓칩니다.</a:t>
            </a:r>
          </a:p>
          <a:p>
            <a:r>
              <a:t/>
            </a:r>
          </a:p>
          <a:p>
            <a:r>
              <a:t>같은 물건을 쪼갤 수 있었다면 에이 십, 비 이십, 씨의 일부 이십 킬로그램을 담습니다. 씨의 무게당 가치는 사이므로 일부 이십의 가치는 팔십입니다. 합은 육십 더하기 백 더하기 팔십으로 이백사십입니다. 하지만 영 일 배낭에서는 씨 일부를 넣는 행위 자체가 금지입니다. 통째로 고르는 최적 답은 비와 씨의 이백이십입니다.</a:t>
            </a:r>
          </a:p>
          <a:p>
            <a:r>
              <a:t/>
            </a:r>
          </a:p>
          <a:p>
            <a:r>
              <a:t>모든 조합을 보면 정확히 비교할 수는 있습니다. 물건 하나는 넣거나 빼는 두 가지, 둘이면 네 가지, 셋이면 여덟 가지입니다. 물건이 하나 늘 때 기존 후보 각각이 두 갈래로 나뉘므로 엔 개에서는 이의 엔 제곱입니다. 서른 개면 십억 가지가 넘습니다. 다음 장의 동적 계획법은 같은 남은 조건의 답을 저장해 중복 계산을 줄입니다. 지금 결론은 통째로만 담는 배낭에서 가성비 순 그리디로 최적을 보장할 수 없다는 것입니다.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그리디가 어떻게 진행되는지 다시 떠올려 보겠습니다. 매 단계 지금 기준으로 가장 좋아 보이는 것을 고르고, 그것을 확정한 뒤 되돌리지 않습니다. 그래서 그리디가 옳으려면 매번의 확정이 안전해야 하고, 확정한 뒤 남은 문제도 같은 방법으로 풀 수 있어야 합니다.</a:t>
            </a:r>
          </a:p>
          <a:p>
            <a:r>
              <a:t/>
            </a:r>
          </a:p>
          <a:p>
            <a:r>
              <a:t>이것을 두 조건으로 씁니다. 첫째는 탐욕적 선택 속성, 영어로 그리디 초이스 프로퍼티입니다. 지금 가장 좋아 보이는 선택을 포함하는 최적해가 있다는 성질이에요.</a:t>
            </a:r>
          </a:p>
          <a:p>
            <a:r>
              <a:t/>
            </a:r>
          </a:p>
          <a:p>
            <a:r>
              <a:t>이 성질이 있으면 첫 선택을 확정해도 최적해를 놓치지 않습니다. 둘째는 최적 부분 구조, 옵티멀 서브스트럭처입니다. 그 선택을 하고 남은 문제의 최적해가 전체 최적해의 나머지 부분이 된다는 성질입니다.</a:t>
            </a:r>
          </a:p>
          <a:p>
            <a:r>
              <a:t/>
            </a:r>
          </a:p>
          <a:p>
            <a:r>
              <a:t>이 성질이 있으면 남은 문제를 처음 문제와 같은 방식으로 풀어도 됩니다. 청록 문장처럼 두 성질이 함께 있으면 첫 선택이 안전하고, 남은 문제도 같은 방법으로 풀 수 있습니다. 이것을 단계마다 반복하면 그리디의 답이 전체 최적해가 됩니다.</a:t>
            </a:r>
          </a:p>
          <a:p>
            <a:r>
              <a:t/>
            </a:r>
          </a:p>
          <a:p>
            <a:r>
              <a:t>둘 중 하나라도 보이지 못하면 그리디가 최적이라고 말할 수 없습니다. 먼저 첫 번째 조건부터 자세히 보겠습니다.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탐욕적 선택 속성의 정의입니다. 지금 기준으로 가장 좋아 보이는 선택을 해도, 그 선택을 포함하는 최적해가 적어도 하나 있다는 성질입니다. 이 성질을 확인할 때는 청록색 판별 질문 하나를 기억하면 됩니다.</a:t>
            </a:r>
          </a:p>
          <a:p>
            <a:r>
              <a:t/>
            </a:r>
          </a:p>
          <a:p>
            <a:r>
              <a:t>이 선택을 포함하는 최적해가 있는가. 그리디가 첫 번째로 고르는 것을 놓고 이 질문을 던져 보는 겁니다. 답이 예라면 그 선택을 확정하고 남은 문제로 넘어가도 최적해를 놓치지 않습니다.</a:t>
            </a:r>
          </a:p>
          <a:p>
            <a:r>
              <a:t/>
            </a:r>
          </a:p>
          <a:p>
            <a:r>
              <a:t>그 선택을 포함하는 최적해가 어딘가에 있으니까요. 답이 아니오라면, 그 선택을 하는 순간 최적해로 가는 길이 모두 막힙니다. 어떤 최적해에도 그 선택이 들어 있지 않기 때문입니다.</a:t>
            </a:r>
          </a:p>
          <a:p>
            <a:r>
              <a:t/>
            </a:r>
          </a:p>
          <a:p>
            <a:r>
              <a:t>아래 회색 문장도 중요합니다. 여기서 말하는 안전하다는 그 선택이 다른 선택보다 더 좋다는 뜻이 아닙니다. 그 선택을 해도 최적해로 가는 길이 남아 있다는 뜻입니다.</a:t>
            </a:r>
          </a:p>
          <a:p>
            <a:r>
              <a:t/>
            </a:r>
          </a:p>
          <a:p>
            <a:r>
              <a:t>최적해가 여러 개라면 그중 하나만 그 선택을 포함해도 충분합니다. 다음 화면에서는 최적해의 일부를 바꿔 이 질문에 답하는 교환 논증을 보겠습니다.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교환 논증은 가장 좋은 답의 일부를 그리디 선택으로 바꿔도 손해가 없는지 보이는 방법입니다. 최적해 하나를 놓고, 그리디 선택이 없다면 일부를 빼고 넣어 봅니다. 바꾼 답도 문제의 조건을 지키고 값이 나빠지지 않아야 합니다.</a:t>
            </a:r>
          </a:p>
          <a:p>
            <a:r>
              <a:t/>
            </a:r>
          </a:p>
          <a:p>
            <a:r>
              <a:t>회의에서는 첫 회의를 더 일찍 끝나는 회의로 바꿨습니다. 뒤 회의들은 그대로 들어가고 개수도 같으므로 바꾼 목록 역시 최적입니다. 실제 최대 목록을 먼저 찾아내는 절차가 아니라, 그런 목록이 존재한다고 놓고 성질을 따지는 증명입니다.</a:t>
            </a:r>
          </a:p>
          <a:p>
            <a:r>
              <a:t/>
            </a:r>
          </a:p>
          <a:p>
            <a:r>
              <a:t>분할 배낭은 낮은 가성비의 일 킬로그램을 빼고 남아 있는 에이 일 킬로그램을 넣으면 무게는 그대로인데 가치가 육백에서 칠백으로 늘어납니다. 최적이라고 한 답이 더 좋아지니 그런 모습은 최적일 수 없습니다. 이 논리는 조금씩 쪼개 바꿀 수 있을 때만 가능합니다.</a:t>
            </a:r>
          </a:p>
          <a:p>
            <a:r>
              <a:t/>
            </a:r>
          </a:p>
          <a:p>
            <a:r>
              <a:t>동전도 백 원 다섯 개를 오백 원 하나로 바꾸면 같은 금액에 개수가 줄어듭니다. 어느 문제든 조건을 유지하고 값이 나빠지지 않는 교환을 통해, 그리디의 선택을 포함하는 최적해가 있음을 보이는 것이 핵심입니다.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조건은 최적 부분 구조입니다. 선택하고 남은 부분 문제의 최적해에 그 선택을 더하면 전체 최적해가 된다는 성질입니다. 거꾸로 말하면 전체 최적해 안에 부분 문제의 최적해가 들어 있습니다.</a:t>
            </a:r>
          </a:p>
          <a:p>
            <a:r>
              <a:t/>
            </a:r>
          </a:p>
          <a:p>
            <a:r>
              <a:t>그림에서 작은 상자 하나하나가 부분 문제, 그림에서는 하위 문제라고 쓴 것의 최적해입니다. 이것들이 모여 가운데의 전체 최적해, 그림의 전역 최적해를 이룹니다. 안전한 첫 선택을 했다는 전제에서 활동 선택으로 보겠습니다.</a:t>
            </a:r>
          </a:p>
          <a:p>
            <a:r>
              <a:t/>
            </a:r>
          </a:p>
          <a:p>
            <a:r>
              <a:t>첫 선택으로 일번 회의, 일시부터 삼시까지를 골랐다면, 남은 문제는 삼시 이후에 시작하는 회의 중에서 최대한 많이 고르는 것입니다. 처음 문제와 모양이 같고 크기만 작아졌습니다. 이 남은 문제의 최적해에 일번 회의를 더하면 전체 최적해가 됩니다.</a:t>
            </a:r>
          </a:p>
          <a:p>
            <a:r>
              <a:t/>
            </a:r>
          </a:p>
          <a:p>
            <a:r>
              <a:t>그리디는 선택 하나를 확정한 뒤, 남은 문제를 처음과 같은 방법으로 풉니다. 남은 문제를 잘 푼 결과가 전체 답의 나머지가 된다는 보장이 있어야 이 방식이 맞습니다. 그래서 이 성질이 필요합니다.</a:t>
            </a:r>
          </a:p>
          <a:p>
            <a:r>
              <a:t/>
            </a:r>
          </a:p>
          <a:p>
            <a:r>
              <a:t>마지막 문장처럼 이 성질은 그리디만의 것이 아닙니다. 사 장에서 본 최대 구간 합처럼 분할 정복으로 푸는 최적화 문제도, 육 장의 동적 계획법도 이 성질을 씁니다. 다음 표에서는 이 성질만으로는 그리디가 맞는다고 결론 내릴 수 없는 이유를 비교하겠습니다.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조건을 따로 봐야 합니다. 활동 선택과 분할 배낭은 첫 선택이 안전하고, 남은 문제의 최적해를 이어 붙일 수 있어 그리디가 맞습니다.</a:t>
            </a:r>
          </a:p>
          <a:p>
            <a:r>
              <a:t/>
            </a:r>
          </a:p>
          <a:p>
            <a:r>
              <a:t>일, 삼, 사 원으로 육 원을 만들 때는 다릅니다. 그리디가 먼저 고르는 사 원은 최적 답인 삼 원 두 개에 없습니다. 탐욕적 선택 속성이 깨진 것입니다. 하지만 최적 답에서 삼 원 하나를 빼면 남은 삼 원의 최소 답도 삼 원 하나입니다. 최적 부분 구조는 남습니다.</a:t>
            </a:r>
          </a:p>
          <a:p>
            <a:r>
              <a:t/>
            </a:r>
          </a:p>
          <a:p>
            <a:r>
              <a:t>영 일 배낭도 전체 최적 조합의 일부를 고정하면 나머지는 남은 물건과 용량에 대해 최적이어야 합니다. 그렇다고 가성비가 가장 높은 에이를 처음에 고정해도 안전하다는 뜻은 아닙니다. 남은 문제를 잘 푸는 성질과 안전한 첫 선택은 다른 질문입니다.</a:t>
            </a:r>
          </a:p>
          <a:p>
            <a:r>
              <a:t/>
            </a:r>
          </a:p>
          <a:p>
            <a:r>
              <a:t>다익스트라도 음수 간선이 있으면 첫 선택의 안전성이 깨질 수 있습니다. 음수 순환이 없어 최단 거리가 정해지는 경우에는 부분 경로가 최단이라는 성질은 남습니다. 따라서 최적 부분 구조만으로는 그리디를 보장하지 못합니다. 이제 그래프 문제로 넘어가겠습니다.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절부터는 그래프를 씁니다. 그래프는 점과 그 점들을 잇는 선으로 이루어진 그림입니다. 왼쪽 그림을 보면서 오른쪽 표의 용어를 하나씩 읽겠습니다.</a:t>
            </a:r>
          </a:p>
          <a:p>
            <a:r>
              <a:t/>
            </a:r>
          </a:p>
          <a:p>
            <a:r>
              <a:t>정점, 영어로 버텍스는 점입니다. 도시라고 생각하면 됩니다. 이 그림에는 에이, 비, 씨, 디 네 개가 있습니다.</a:t>
            </a:r>
          </a:p>
          <a:p>
            <a:r>
              <a:t/>
            </a:r>
          </a:p>
          <a:p>
            <a:r>
              <a:t>정점의 수를 대문자 브이로 쓰니, 여기서는 브이가 사입니다. 간선, 엣지는 두 정점을 잇는 선이고, 도로에 해당합니다. 간선의 수는 대문자 이로 씁니다.</a:t>
            </a:r>
          </a:p>
          <a:p>
            <a:r>
              <a:t/>
            </a:r>
          </a:p>
          <a:p>
            <a:r>
              <a:t>이 그림의 간선은 다섯 개입니다. 가중치, 웨이트는 선 하나의 비용으로, 문제에 따라 거리나 시간, 설치비를 뜻합니다. 에이 비 간선은 일, 씨 디 간선은 사입니다.</a:t>
            </a:r>
          </a:p>
          <a:p>
            <a:r>
              <a:t/>
            </a:r>
          </a:p>
          <a:p>
            <a:r>
              <a:t>경로는 간선을 따라 이어진 길입니다. 예를 들어 에이에서 비를 거쳐 디로 가는 길이 있습니다. 사이클은 출발한 정점으로 되돌아오는 닫힌 길입니다.</a:t>
            </a:r>
          </a:p>
          <a:p>
            <a:r>
              <a:t/>
            </a:r>
          </a:p>
          <a:p>
            <a:r>
              <a:t>에이에서 비, 씨를 거쳐 다시 에이로 돌아오면 사이클이에요. 마지막으로 신장, 스패닝은 모든 정점을 포함한다는 뜻입니다. 에이, 비, 씨, 디를 하나도 빠짐없이 포함해야 신장이라고 합니다.</a:t>
            </a:r>
          </a:p>
          <a:p>
            <a:r>
              <a:t/>
            </a:r>
          </a:p>
          <a:p>
            <a:r>
              <a:t>다음 화면에서 이 용어들로 최소 신장 트리를 정의하겠습니다.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이 절의 목표를 정의하겠습니다. 신장 트리는 모든 정점을 잇고, 사이클이 없는 간선 모음입니다. 최소 신장 트리는 그런 신장 트리 중에서 가중치 합이 가장 작은 것입니다.</a:t>
            </a:r>
          </a:p>
          <a:p>
            <a:r>
              <a:t/>
            </a:r>
          </a:p>
          <a:p>
            <a:r>
              <a:t>영어로 미니멈 스패닝 트리, 줄여서 엠에스티라고 부릅니다. 조건 세 가지를 보세요. 첫째, 모두 연결되어야 합니다.</a:t>
            </a:r>
          </a:p>
          <a:p>
            <a:r>
              <a:t/>
            </a:r>
          </a:p>
          <a:p>
            <a:r>
              <a:t>어느 정점 하나라도 떨어져 있으면 신장 트리가 아닙니다. 둘째, 사이클이 없어야 합니다. 사이클이 있으면 그중 간선 하나를 빼도 여전히 모든 정점이 연결됩니다.</a:t>
            </a:r>
          </a:p>
          <a:p>
            <a:r>
              <a:t/>
            </a:r>
          </a:p>
          <a:p>
            <a:r>
              <a:t>모두 잇는 데 사이클은 필요 없고, 가중치가 양수라면 그 간선은 비용만 늘린 셈이죠. 셋째, 정점이 브이 개면 간선은 정확히 브이 빼기 일 개입니다. 이유는 다음 화면에서 보겠습니다.</a:t>
            </a:r>
          </a:p>
          <a:p>
            <a:r>
              <a:t/>
            </a:r>
          </a:p>
          <a:p>
            <a:r>
              <a:t>오른쪽 그림은 집 열 채를 잇는 예입니다. 집이 정점, 선이 간선, 수가 가중치입니다. 굵은 선 아홉 개가 최소 신장 트리이고, 가중치를 더하면 삼십팔입니다.</a:t>
            </a:r>
          </a:p>
          <a:p>
            <a:r>
              <a:t/>
            </a:r>
          </a:p>
          <a:p>
            <a:r>
              <a:t>맨 위의 짧은 굵은 선은 숫자가 가려졌는데, 가중치 일입니다. 정점 열 개에 간선 아홉 개, 브이 빼기 일 개가 맞습니다. 회색 선을 하나라도 더 넣으면 사이클이 생기고, 굵은 선을 하나라도 빼면 어떤 집이 떨어져 나갑니다.</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신장 트리의 간선이 왜 브이 빼기 일 개인지 보겠습니다. 먼저 덩어리라는 말을 정합니다. 덩어리는 서로 경로로 이어진 정점들의 묶음입니다.</a:t>
            </a:r>
          </a:p>
          <a:p>
            <a:r>
              <a:t/>
            </a:r>
          </a:p>
          <a:p>
            <a:r>
              <a:t>맨 왼쪽은 간선이 하나도 없는 상태입니다. 정점 네 개가 모두 따로 떨어져 있으니 덩어리가 네 개입니다. 여기에 에이 비 간선을 하나 넣으면 에이와 비가 한 덩어리가 되어 덩어리가 세 개로 줄어듭니다.</a:t>
            </a:r>
          </a:p>
          <a:p>
            <a:r>
              <a:t/>
            </a:r>
          </a:p>
          <a:p>
            <a:r>
              <a:t>비 씨 간선을 넣으면 두 개, 씨 디 간선을 넣으면 한 개가 됩니다. 서로 다른 두 덩어리를 잇는 간선은 덩어리 수를 정확히 하나 줄입니다. 그러니 덩어리 네 개를 한 개로 만들려면 간선이 세 개, 즉 사 빼기 일 개 필요합니다.</a:t>
            </a:r>
          </a:p>
          <a:p>
            <a:r>
              <a:t/>
            </a:r>
          </a:p>
          <a:p>
            <a:r>
              <a:t>정점이 브이 개면 처음 덩어리가 브이 개이므로, 한 덩어리가 되려면 간선 브이 빼기 일 개가 필요합니다. 맨 오른쪽은 간선을 하나 더 넣은 경우입니다. 에이 씨를 넣으면, 에이와 씨는 이미 같은 덩어리라서 덩어리 수가 줄지 않습니다.</a:t>
            </a:r>
          </a:p>
          <a:p>
            <a:r>
              <a:t/>
            </a:r>
          </a:p>
          <a:p>
            <a:r>
              <a:t>대신 에이, 비, 씨, 에이로 도는 사이클이 생깁니다. 이미 길이 있는 두 정점을 또 이었기 때문입니다. 그래서 사이클 없이 모두 잇는 신장 트리의 간선은 정확히 브이 빼기 일 개입니다.</a:t>
            </a:r>
          </a:p>
          <a:p>
            <a:r>
              <a:t/>
            </a:r>
          </a:p>
          <a:p>
            <a:r>
              <a:t>정점 네 개면 세 개, 여섯 개면 다섯 개입니다. 이 사실이 크루스칼이 언제 멈출지를 정해 줍니다.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크루스칼은 모든 선을 비용이 싼 순서로 줄 세웁니다. 특정 도시에서 출발해 이웃으로 이동하는 방식이 아니므로 시작 도시가 없습니다. 처음에는 각 도시가 혼자 있는 묶음입니다.</a:t>
            </a:r>
          </a:p>
          <a:p>
            <a:r>
              <a:t/>
            </a:r>
          </a:p>
          <a:p>
            <a:r>
              <a:t>싼 선부터 보면서 양 끝이 다른 묶음이면 채택해 합칩니다. 같은 묶음이면 중간 도시를 거쳐 이미 이어져 있으므로, 그 선을 더할 때 사이클이 생겨 버립니다. 직접 연결된 선만 확인하는 것이 아니라 기존 경로가 있는지를 봅니다.</a:t>
            </a:r>
          </a:p>
          <a:p>
            <a:r>
              <a:t/>
            </a:r>
          </a:p>
          <a:p>
            <a:r>
              <a:t>왜 싼 선부터여도 괜찮을까요? 한 묶음과 바깥을 잇는 데는 결국 선이 필요합니다. 그 경계를 넘는 가장 싼 선을 빼놓은 최적 트리라면, 그 선을 넣고 생긴 사이클에서 경계를 넘는 다른 선을 빼도 연결은 유지되고 비용은 늘지 않습니다. 필요한 연결을 더 싼 것으로 바꾸는 교환 논리입니다.</a:t>
            </a:r>
          </a:p>
          <a:p>
            <a:r>
              <a:t/>
            </a:r>
          </a:p>
          <a:p>
            <a:r>
              <a:t>채택한 선이 정점 수보다 하나 적어지면 멈춥니다. 원래 끊긴 그래프라면 전체 신장 트리를 만들 수 없습니다. 같은 비용의 선이 여러 개이면 모양은 달라져도 최솟값은 같습니다. 이제 네 도시 예제를 보겠습니다.</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연습문제입니다. 정점은 에이, 비, 씨, 디 네 개이고 간선은 다섯 개입니다. 그래프 용어를 정리할 때 본 바로 그 그래프예요.</a:t>
            </a:r>
          </a:p>
          <a:p>
            <a:r>
              <a:t/>
            </a:r>
          </a:p>
          <a:p>
            <a:r>
              <a:t>가중치는 에이 비 일, 비 씨 이, 에이 씨 삼, 씨 디 사, 비 디 오입니다. 먼저 가중치 오름차순으로 정렬합니다. 오른쪽 표처럼 에이 비, 비 씨, 에이 씨, 씨 디, 비 디 순서입니다.</a:t>
            </a:r>
          </a:p>
          <a:p>
            <a:r>
              <a:t/>
            </a:r>
          </a:p>
          <a:p>
            <a:r>
              <a:t>정점이 네 개이므로 간선 브이 빼기 일, 세 개를 채택하면 멈춥니다. 첫 간선은 에이 비, 일입니다. 그래프의 주황 간선과 노란 정점 에이, 비가 지금 보는 간선과 그 두 끝이고, 표의 노란 줄도 같은 간선입니다.</a:t>
            </a:r>
          </a:p>
          <a:p>
            <a:r>
              <a:t/>
            </a:r>
          </a:p>
          <a:p>
            <a:r>
              <a:t>에이와 비는 각자 혼자인 서로 다른 덩어리이므로 채택합니다. 오른쪽 아래처럼 덩어리는 에이 비 묶음, 씨, 디로 세 개가 되고, 합계는 일입니다. 채택한 간선이 세 개가 되려면 아직 두 개가 더 필요합니다.</a:t>
            </a:r>
          </a:p>
          <a:p>
            <a:r>
              <a:t/>
            </a:r>
          </a:p>
          <a:p>
            <a:r>
              <a:t>다음은 비 씨, 이입니다.</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간선은 비 씨, 이입니다. 앞에서 채택한 에이 비는 이제 청록색이고, 지금 보는 비 씨가 주황색입니다. 비는 에이 비 덩어리에 있고, 씨는 혼자입니다.</a:t>
            </a:r>
          </a:p>
          <a:p>
            <a:r>
              <a:t/>
            </a:r>
          </a:p>
          <a:p>
            <a:r>
              <a:t>서로 다른 덩어리이므로 채택합니다. 이제 에이, 비, 씨가 한 덩어리이고 디만 혼자 남았습니다. 제목 아래 둘째 줄처럼 덩어리는 두 개입니다.</a:t>
            </a:r>
          </a:p>
          <a:p>
            <a:r>
              <a:t/>
            </a:r>
          </a:p>
          <a:p>
            <a:r>
              <a:t>표에는 위의 두 줄이 채택으로 적혀 있습니다. 오른쪽 아래처럼 채택한 간선은 두 개, 합계는 일 더하기 이로 삼입니다. 목표인 간선 세 개까지 하나 남았습니다.</a:t>
            </a:r>
          </a:p>
          <a:p>
            <a:r>
              <a:t/>
            </a:r>
          </a:p>
          <a:p>
            <a:r>
              <a:t>남은 하나는 혼자 떨어진 디를 잇는 간선이어야 합니다. 에이와 씨 사이에 주목하세요. 에이에서 비를 거쳐 씨로 가는 길이 생겼습니다.</a:t>
            </a:r>
          </a:p>
          <a:p>
            <a:r>
              <a:t/>
            </a:r>
          </a:p>
          <a:p>
            <a:r>
              <a:t>다음 간선이 바로 에이 씨입니다. 에이 씨를 채택할지, 넘어가기 전에 직접 판단해 보세요. 판단 기준은 가중치가 아니라, 에이와 씨가 이미 같은 덩어리인가입니다.</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 간선은 에이 씨, 삼입니다. 에이와 씨는 이미 같은 덩어리입니다. 주황색 길처럼 에이에서 에이 비 간선을 타고 비로, 비 씨 간선을 타고 씨로 이미 이어져 있습니다.</a:t>
            </a:r>
          </a:p>
          <a:p>
            <a:r>
              <a:t/>
            </a:r>
          </a:p>
          <a:p>
            <a:r>
              <a:t>여기에 에이 씨를 더하면 에이, 비, 씨, 에이로 도는 사이클이 생깁니다. 에이에서 씨로 가는 길이 두 갈래가 되는 거죠. 그래서 빨간 점선처럼 버립니다.</a:t>
            </a:r>
          </a:p>
          <a:p>
            <a:r>
              <a:t/>
            </a:r>
          </a:p>
          <a:p>
            <a:r>
              <a:t>표의 셋째 줄 결과에 사이클이라고 적었습니다. 덩어리는 그대로 에이 비 씨 묶음과 디, 두 개입니다. 가중치 삼은 남은 씨 디나 비 디보다 작습니다.</a:t>
            </a:r>
          </a:p>
          <a:p>
            <a:r>
              <a:t/>
            </a:r>
          </a:p>
          <a:p>
            <a:r>
              <a:t>그래도 버리는 이유는 가격이 아니라 사이클입니다. 크루스칼은 싼 간선이라도 사이클을 만들면 버립니다. 에이 씨를 넣지 않아도 에이와 씨는 이미 연결되어 있으니 잃는 것이 없습니다.</a:t>
            </a:r>
          </a:p>
          <a:p>
            <a:r>
              <a:t/>
            </a:r>
          </a:p>
          <a:p>
            <a:r>
              <a:t>채택한 간선은 그대로 두 개, 합계도 삼입니다. 다음은 씨 디, 사입니다.</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네 번째 간선은 씨 디, 사입니다. 씨는 에이 비 씨 덩어리에 있고 디는 혼자이므로 채택합니다. 이제 네 정점이 모두 한 덩어리가 되었고, 채택한 간선이 세 개입니다.</a:t>
            </a:r>
          </a:p>
          <a:p>
            <a:r>
              <a:t/>
            </a:r>
          </a:p>
          <a:p>
            <a:r>
              <a:t>정점 네 개의 브이 빼기 일, 세 개가 모였으니 신장 트리가 완성되었습니다. 여기서 멈춥니다. 그래서 마지막 간선 비 디, 오는 확인하지 않습니다.</a:t>
            </a:r>
          </a:p>
          <a:p>
            <a:r>
              <a:t/>
            </a:r>
          </a:p>
          <a:p>
            <a:r>
              <a:t>표에 확인하지 않음이라고 적었습니다. 확인했더라도 비와 디는 이미 같은 덩어리라서 사이클이 되었겠지만, 알고리즘은 간선이 브이 빼기 일 개가 되는 순간 멈추므로 비 디를 꺼내 보지도 않습니다. 최소 신장 트리는 에이 비, 비 씨, 씨 디이고, 합은 일 더하기 이 더하기 사, 칠입니다.</a:t>
            </a:r>
          </a:p>
          <a:p>
            <a:r>
              <a:t/>
            </a:r>
          </a:p>
          <a:p>
            <a:r>
              <a:t>정리하면 에이 비 채택, 비 씨 채택, 에이 씨는 사이클이라 제외, 씨 디 채택, 그리고 비 디는 확인하지 않음입니다. 다음은 가중치가 음수인 경우입니다.</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이번에는 가중치에 음수가 있는 그래프입니다. 정점은 에이, 비, 씨이고, 에이 비는 마이너스 삼, 비 씨는 일, 에이 씨는 사입니다. 크루스칼은 가중치를 정렬할 때 크기를 비교하는 데만 씁니다.</a:t>
            </a:r>
          </a:p>
          <a:p>
            <a:r>
              <a:t/>
            </a:r>
          </a:p>
          <a:p>
            <a:r>
              <a:t>음수도 크기 비교는 똑같이 되니, 마이너스 삼이 가장 작아 맨 앞에 옵니다. 정렬 순서는 에이 비, 비 씨, 에이 씨입니다. 표의 결과 칸에 순서를 붙였습니다.</a:t>
            </a:r>
          </a:p>
          <a:p>
            <a:r>
              <a:t/>
            </a:r>
          </a:p>
          <a:p>
            <a:r>
              <a:t>첫째, 에이 비, 마이너스 삼을 채택합니다. 둘째, 비 씨, 일을 채택합니다. 정점이 세 개이므로 브이 빼기 일, 간선 두 개가 모였고 여기서 멈춥니다.</a:t>
            </a:r>
          </a:p>
          <a:p>
            <a:r>
              <a:t/>
            </a:r>
          </a:p>
          <a:p>
            <a:r>
              <a:t>에이 씨는 확인하지 않습니다. 합은 마이너스 삼 더하기 일, 마이너스 이입니다. 최소 신장 트리의 합이 음수여도 아무 문제가 없습니다.</a:t>
            </a:r>
          </a:p>
          <a:p>
            <a:r>
              <a:t/>
            </a:r>
          </a:p>
          <a:p>
            <a:r>
              <a:t>크루스칼의 선택을 정당화하는 교환 논리에도 가중치가 영 이상이어야 한다는 조건은 필요하지 않습니다. 이 점이 다익스트라와 다릅니다. 오 점 팔 절의 다익스트라는 음수 간선이 있으면 틀릴 수 있지만, 크루스칼은 음수 가중치에서도 그대로 성립합니다.</a:t>
            </a:r>
          </a:p>
          <a:p>
            <a:r>
              <a:t/>
            </a:r>
          </a:p>
          <a:p>
            <a:r>
              <a:t>이제 시작점에서 각 장소까지 가장 짧게 가는 길을 구하는 다익스트라로 넘어가겠습니다.</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다익스트라는 출발점 하나에서 다른 각 장소까지의 최단 거리를 구합니다. 선의 비용은 거리, 시간, 요금 등일 수 있고 이를 가중치라고 부릅니다. 모든 비용이 영 이상인 경우를 다룹니다.</a:t>
            </a:r>
          </a:p>
          <a:p>
            <a:r>
              <a:t/>
            </a:r>
          </a:p>
          <a:p>
            <a:r>
              <a:t>디스트 브이는 출발점부터 브이까지 지금까지 찾은 가장 짧은 길의 비용입니다. 처음에는 출발점만 영, 나머지는 아직 모르므로 무한대입니다. 더 짧은 길을 찾으면 줄이고, 더는 줄지 않는다고 결론 내리는 것을 확정이라고 합니다.</a:t>
            </a:r>
          </a:p>
          <a:p>
            <a:r>
              <a:t/>
            </a:r>
          </a:p>
          <a:p>
            <a:r>
              <a:t>가까운 곳을 고른다고 그 길로 끝까지 이동해 버리는 것은 아닙니다. 에이에서 엑스까지 이, 엑스에서 비까지 십이고 에이에서 비로 직접 가면 십이라고 해 보겠습니다. 에이를 처리하면 엑스 이와 비 십을 둘 다 적습니다. 엑스를 먼저 확정한 뒤 비의 후보 십이를 계산해도 기존 십보다 크므로 바꾸지 않습니다. 엑스를 먼저 보았다고 비까지 그 길로 정한 것이 아닙니다.</a:t>
            </a:r>
          </a:p>
          <a:p>
            <a:r>
              <a:t/>
            </a:r>
          </a:p>
          <a:p>
            <a:r>
              <a:t>그림에서도 편의점 이 분만 먼저 확정하고, 그곳을 거쳐 다른 목적지로 더 짧게 가는 길이 있는지 거리표를 갱신합니다. 다음에는 이 확정이 왜 안전한지 보겠습니다.</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편의점은 이 분, 학교는 십 분입니다. 학교를 거쳐 편의점에 가면 이미 십 분을 쓰고 그 뒤 비용을 더합니다. 추가 비용이 영 이상이면 이 분보다 짧아질 수 없습니다. 길을 더 간다고 누적 비용이 줄어들지 않는 것이 핵심입니다.</a:t>
            </a:r>
          </a:p>
          <a:p>
            <a:r>
              <a:t/>
            </a:r>
          </a:p>
          <a:p>
            <a:r>
              <a:t>일반적인 그래프에서도 가장 작은 미확정 거리가 이라고 해 보겠습니다. 이보다 짧은 다른 길이 있다면 그 길에서 처음 만나는 미확정 정점을 보세요. 그 바로 앞은 확정된 정점이고, 그 앞 정점을 처리할 때 이 길로 가는 비용을 거리표에 반영할 기회가 있었습니다.</a:t>
            </a:r>
          </a:p>
          <a:p>
            <a:r>
              <a:t/>
            </a:r>
          </a:p>
          <a:p>
            <a:r>
              <a:t>전체 길이 이보다 짧고 뒤 비용도 음수가 아니라면, 그 첫 미확정 정점까지도 이보다 짧아야 합니다. 그러면 표에 이보다 작은 미확정 값이 있어야 하는데, 우리가 최소인 이를 골랐다는 말과 모순입니다. 그래서 지금 고른 값은 확정해도 됩니다.</a:t>
            </a:r>
          </a:p>
          <a:p>
            <a:r>
              <a:t/>
            </a:r>
          </a:p>
          <a:p>
            <a:r>
              <a:t>나머지 미확정 값은 나중에 줄어들 수 있습니다. 가까운 하나만 안전하다는 뜻입니다. 학교에서 편의점까지 마이너스 구라면 십 빼기 구로 일이 되어 이보다 짧아집니다. 음수가 있으면 이 논리가 깨집니다. 이제 거리 갱신을 보겠습니다.</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다익스트라가 거리를 고치는 연산을 완화, 영어로 릴랙세이션이라고 합니다. 디스트 브이를, 지금 값과 디스트 유 더하기 더블유 중 작은 값으로 바꾸는 것입니다. 여기서 더블유는 유에서 브이로 가는 간선의 비용입니다.</a:t>
            </a:r>
          </a:p>
          <a:p>
            <a:r>
              <a:t/>
            </a:r>
          </a:p>
          <a:p>
            <a:r>
              <a:t>유를 거쳐 브이로 가는 길이 지금 알고 있는 길보다 짧으면 고치고, 아니면 그대로 둡니다. 연습문제 예로 직접 계산해 보겠습니다. 디스트 유가 칠, 유에서 브이로 가는 간선 비용이 삼, 디스트 브이가 십오입니다.</a:t>
            </a:r>
          </a:p>
          <a:p>
            <a:r>
              <a:t/>
            </a:r>
          </a:p>
          <a:p>
            <a:r>
              <a:t>유를 거치면 칠 더하기 삼, 십입니다. 십이 지금 값 십오보다 작으므로 디스트 브이를 십으로 고칩니다. 시작점에서 브이까지 십오짜리 길만 알고 있었는데, 유를 거치는 십짜리 길을 새로 찾은 것입니다.</a:t>
            </a:r>
          </a:p>
          <a:p>
            <a:r>
              <a:t/>
            </a:r>
          </a:p>
          <a:p>
            <a:r>
              <a:t>반대 경우도 보겠습니다. 디스트 브이가 처음부터 구였다면, 유를 거친 십은 구보다 크므로 고치지 않고 구를 그대로 둡니다. 완화는 거리를 줄이기만 하고 늘리지는 않습니다.</a:t>
            </a:r>
          </a:p>
          <a:p>
            <a:r>
              <a:t/>
            </a:r>
          </a:p>
          <a:p>
            <a:r>
              <a:t>오른쪽 의사코드의 이프 조건이 바로 이 비교입니다. 작다 기호를 쓰므로 같을 때도 고치지 않습니다. 다익스트라는 한 정점을 확정할 때마다 그 정점에서 나가는 간선들로 이 완화를 합니다.</a:t>
            </a:r>
          </a:p>
          <a:p>
            <a:r>
              <a:t/>
            </a:r>
          </a:p>
          <a:p>
            <a:r>
              <a:t>이제 예제 그래프를 처음부터 끝까지 따라가 보겠습니다.</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예제 그래프로 다익스트라를 처음부터 따라가겠습니다. 정점은 에이부터 에프까지 여섯 개이고, 화살표 방향으로만 갈 수 있는 방향 그래프입니다. 간선은 아홉 개입니다.</a:t>
            </a:r>
          </a:p>
          <a:p>
            <a:r>
              <a:t/>
            </a:r>
          </a:p>
          <a:p>
            <a:r>
              <a:t>에이에서 비로 팔, 씨로 일, 디로 이, 씨에서 비로 오, 디로 이, 디에서 정점 이로 삼, 에프로 오, 정점 이에서 에프로 일, 그리고 에프에서 에이로 돌아오는 오가 있습니다. 시작점은 에이입니다. 시작점에서 자기 자신까지는 거리가 영이므로 디스트 에이는 영입니다.</a:t>
            </a:r>
          </a:p>
          <a:p>
            <a:r>
              <a:t/>
            </a:r>
          </a:p>
          <a:p>
            <a:r>
              <a:t>나머지 정점은 아직 어떤 길도 모르므로 무한대로 둡니다. 그래프의 각 정점 옆 숫자와 오른쪽 표가 지금의 디스트입니다. 아직 확정한 정점은 하나도 없습니다.</a:t>
            </a:r>
          </a:p>
          <a:p>
            <a:r>
              <a:t/>
            </a:r>
          </a:p>
          <a:p>
            <a:r>
              <a:t>이제 다익스트라는 같은 일을 반복합니다. 확정하지 않은 정점 중 디스트가 가장 작은 정점을 하나 골라 확정하고, 그 정점에서 나가는 간선으로 완화합니다. 지금 디스트가 무한대가 아닌 정점은 에이뿐이므로 에이가 첫 번째로 확정됩니다.</a:t>
            </a:r>
          </a:p>
          <a:p>
            <a:r>
              <a:t/>
            </a:r>
          </a:p>
          <a:p>
            <a:r>
              <a:t>다음 화면에서 에이를 확정하고 에이에서 나가는 간선 세 개를 완화하겠습니다.</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첫 번째 확정입니다. 확정하지 않은 정점 중 디스트가 가장 작은 것은 영인 에이입니다. 에이를 확정합니다.</a:t>
            </a:r>
          </a:p>
          <a:p>
            <a:r>
              <a:t/>
            </a:r>
          </a:p>
          <a:p>
            <a:r>
              <a:t>시작점까지의 거리 영은 더 줄어들 수 없으니 당연합니다. 이제 에이에서 나가는 간선 세 개로 완화합니다. 비는 영 더하기 팔, 팔이 무한대보다 작으므로 팔로 고칩니다.</a:t>
            </a:r>
          </a:p>
          <a:p>
            <a:r>
              <a:t/>
            </a:r>
          </a:p>
          <a:p>
            <a:r>
              <a:t>씨는 영 더하기 일로 일, 디는 영 더하기 이로 이가 됩니다. 그래프에서 주황색 간선이 이번에 완화한 간선이고, 오른쪽 표에서 바뀐 값은 청록색으로 표시했습니다. 정점 이와 에프는 에이에서 바로 가는 간선이 없어서 아직 무한대입니다.</a:t>
            </a:r>
          </a:p>
          <a:p>
            <a:r>
              <a:t/>
            </a:r>
          </a:p>
          <a:p>
            <a:r>
              <a:t>지금 디스트 비 팔은 확정이 아니라 지금까지 찾은 가장 짧은 거리라는 점을 기억해 두세요. 더 좋은 길이 나오면 바뀔 수 있습니다. 다음에 확정할 정점을 미리 찾아보겠습니다.</a:t>
            </a:r>
          </a:p>
          <a:p>
            <a:r>
              <a:t/>
            </a:r>
          </a:p>
          <a:p>
            <a:r>
              <a:t>미확정인 비 팔, 씨 일, 디 이, 정점 이와 에프 무한대 중 가장 작은 값은 씨의 일입니다. 다음 화면에서 씨를 확정하겠습니다.</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미확정 중 가장 작은 씨의 일을 확정합니다. 씨에서 비로 가는 비용은 오이므로 후보는 일 더하기 오, 육입니다. 기존 비 팔보다 작아서 육으로 고칩니다. 씨에서 디로는 일 더하기 이, 삼이지만 디에는 이미 이가 적혀 있어 바꾸지 않습니다.</a:t>
            </a:r>
          </a:p>
          <a:p>
            <a:r>
              <a:t/>
            </a:r>
          </a:p>
          <a:p>
            <a:r>
              <a:t>그 뒤 단계도 이어 보겠습니다. 다음 최소는 디의 이입니다. 디에서 정점 이로 가면 이 더하기 삼으로 오, 에프로 가면 이 더하기 오로 칠입니다. 둘 다 무한대에서 각각 오와 칠로 바꿉니다.</a:t>
            </a:r>
          </a:p>
          <a:p>
            <a:r>
              <a:t/>
            </a:r>
          </a:p>
          <a:p>
            <a:r>
              <a:t>이제 미확정은 정점 이가 오, 비가 육, 에프가 칠입니다. 정점 이를 오로 확정하고 에프로 가는 비용 일을 더하면 육입니다. 기존 에프 칠보다 작아 육으로 줄입니다.</a:t>
            </a:r>
          </a:p>
          <a:p>
            <a:r>
              <a:t/>
            </a:r>
          </a:p>
          <a:p>
            <a:r>
              <a:t>이제 비와 에프는 모두 육입니다. 그림에서는 비를 먼저 확정하고 에프를 확정합니다. 비에는 더 검사할 나가는 선이 없습니다. 동률의 처리 순서를 바꿔도 최종 거리는 같습니다. 한 정점을 처리할 때 모든 이웃이 바뀌는 것이 아니라 더 짧은 후보만 반영한다는 점을 확인하세요. 다음이 최종 결과입니다.</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마지막으로 에프를 확정합니다. 디스트 에프는 육입니다. 에프에서 나가는 간선은 에이로 가는 오 하나입니다.</a:t>
            </a:r>
          </a:p>
          <a:p>
            <a:r>
              <a:t/>
            </a:r>
          </a:p>
          <a:p>
            <a:r>
              <a:t>에이는 이미 확정되었으므로 고치지 않습니다. 계산해 보아도 육 더하기 오는 십일로 영보다 작지 않습니다. 이제 여섯 정점이 모두 확정되었습니다.</a:t>
            </a:r>
          </a:p>
          <a:p>
            <a:r>
              <a:t/>
            </a:r>
          </a:p>
          <a:p>
            <a:r>
              <a:t>최종 거리는 에이 영, 비 육, 씨 일, 디 이, 정점 이 오, 에프 육입니다. 확정 순서는 에이, 씨, 디, 정점 이, 비, 에프였습니다. 청록색 간선 다섯 개를 보세요.</a:t>
            </a:r>
          </a:p>
          <a:p>
            <a:r>
              <a:t/>
            </a:r>
          </a:p>
          <a:p>
            <a:r>
              <a:t>각 정점의 디스트를 마지막으로 만든 간선입니다. 이 간선들은 시작점 에이에서 뻗어 나가는 나무 모양이 되고, 이것을 최단 경로 트리라고 부릅니다. 예를 들어 에프까지의 최단 경로는 청록색 간선을 따라가면 에이, 디, 정점 이, 에프이고 길이는 이 더하기 삼 더하기 일, 육입니다.</a:t>
            </a:r>
          </a:p>
          <a:p>
            <a:r>
              <a:t/>
            </a:r>
          </a:p>
          <a:p>
            <a:r>
              <a:t>연회색 간선 세 개, 에이에서 비로 가는 팔, 씨에서 디로 가는 이, 디에서 에프로 가는 오는 어떤 최단 경로에도 쓰이지 않았습니다. 지금까지의 과정을 의사코드로 정리해 보겠습니다.</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처음에는 모든 디스트를 무한대, 확정 표시인 비지티드를 거짓으로 놓고 시작점 거리만 영으로 바꿉니다. 반복마다 미확정 중 디스트가 가장 작은 유를 고릅니다. 남은 값이 모두 무한대라면 더 도달할 곳이 없으므로 멈추고 그 값들은 무한대로 남깁니다.</a:t>
            </a:r>
          </a:p>
          <a:p>
            <a:r>
              <a:t/>
            </a:r>
          </a:p>
          <a:p>
            <a:r>
              <a:t>유의 비지티드를 참으로 바꾸는 줄이 확정입니다. 그다음 유에서 나가는 간선들을 하나씩 봅니다. 이웃 브이가 아직 미확정이고, 디스트 유에 간선 비용을 더한 값이 기존 디스트 브이보다 작을 때만 고칩니다. 이 줄이 완화입니다. 같거나 크면 그대로 둡니다.</a:t>
            </a:r>
          </a:p>
          <a:p>
            <a:r>
              <a:t/>
            </a:r>
          </a:p>
          <a:p>
            <a:r>
              <a:t>가장 작은 정점을 고르는 일과 그 정점의 이웃 거리를 고치는 일을 구별하세요. 바깥 반복 한 번에 하나를 확정하지만 여러 간선을 검사할 수 있습니다. 가능한 경로 조합을 모두 만드는 것은 아닙니다. 끝나면 각 목적지의 거리 배열을 반환하며, 그 값들의 합을 반환하는 것이 아닙니다.</a:t>
            </a:r>
          </a:p>
          <a:p>
            <a:r>
              <a:t/>
            </a:r>
          </a:p>
          <a:p>
            <a:r>
              <a:t>배열 최소 검색은 매번 브이 칸을 훑고 최대 브이 번 반복하므로 브이 제곱 규모입니다. 인접 행렬의 이웃 검색도 반복마다 브이 칸이라 같은 범위입니다. 전체 구현은 보충자료에 있습니다. 다음에는 최소 신장 트리와 비교하겠습니다.</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같은 세 도시에서 에이와 비는 이, 비와 씨는 이, 에이와 씨는 삼입니다. 왼쪽 크루스칼은 설치한 선의 총비용을 최소로 합니다. 이인 선 두 개를 고르면 모두 연결되고 합은 사입니다. 삼인 선을 더하면 사이클이라 버립니다. 하지만 이 나무에서 에이부터 씨까지 이동하려면 비를 거쳐 사가 걸립니다.</a:t>
            </a:r>
          </a:p>
          <a:p>
            <a:r>
              <a:t/>
            </a:r>
          </a:p>
          <a:p>
            <a:r>
              <a:t>오른쪽 다익스트라는 출발점이 에이입니다. 비까지는 직접 이이고, 씨까지는 직행 삼과 비를 거친 사 중 삼을 고릅니다. 그래서 에이와 비, 에이와 씨 선을 씁니다. 이 선들의 합은 오로 왼쪽보다 크지만 에이에서 씨까지는 삼으로 더 짧습니다.</a:t>
            </a:r>
          </a:p>
          <a:p>
            <a:r>
              <a:t/>
            </a:r>
          </a:p>
          <a:p>
            <a:r>
              <a:t>왼쪽은 전체 연결망의 비용 합 하나를 줄이고, 오른쪽은 출발점에서 각 목적지까지의 거리를 각각 줄입니다. 목표가 달라 같은 그래프에서도 다른 선을 고를 수 있습니다. 방향 없는 선은 다익스트라에서 양쪽 방향으로 갈 수 있게 처리합니다. 이제 음수 간선이 있을 때를 보겠습니다.</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출발점은 에스입니다. 에스에서 에이로 이, 에스에서 비로 오, 비에서 에이로 마이너스 사인 방향 그래프입니다. 에스를 처리하면 에이 이와 비 오를 기록합니다. 더 작은 에이 이를 먼저 확정하고, 그다음 비 오를 확정합니다.</a:t>
            </a:r>
          </a:p>
          <a:p>
            <a:r>
              <a:t/>
            </a:r>
          </a:p>
          <a:p>
            <a:r>
              <a:t>이때 비를 거쳐 에이로 가는 후보는 오 더하기 마이너스 사, 일입니다. 기존 에이 이보다 짧지만 에이는 이미 확정되어 코드가 고치지 않습니다. 실제 최단은 에스에서 비를 거쳐 에이로 가는 일이므로 오답입니다. 에이 뒤로 다른 길이 있었다면 그 거리도 잘못될 수 있습니다.</a:t>
            </a:r>
          </a:p>
          <a:p>
            <a:r>
              <a:t/>
            </a:r>
          </a:p>
          <a:p>
            <a:r>
              <a:t>음수 간선 때문에 늦게 처리한 곳을 거쳐 이미 확정한 거리보다 작아질 수 있는 것이 원인입니다. 이 그래프는 사이클이 없어도 실패합니다. 음수 간선과, 한 바퀴 돌수록 총비용이 줄어드는 음수 사이클은 다른 개념입니다.</a:t>
            </a:r>
          </a:p>
          <a:p>
            <a:r>
              <a:t/>
            </a:r>
          </a:p>
          <a:p>
            <a:r>
              <a:t>음수 간선이 있다고 모든 입력에서 반드시 틀리지는 않지만 정답 보장이 사라집니다. 그런 경우에는 벨만 포드 같은 다른 방법을 검토합니다. 여기서는 다익스트라의 조건이 모든 간선 비용 영 이상이라는 점을 기억하겠습니다.</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그리디는 정해 둔 기준으로 지금 가장 좋아 보이는 것을 고르고, 앞의 선택을 되돌리지 않는 방법입니다. 입력 전체를 훑을 수도 있지만 가능한 완성 답의 조합을 전부 비교하지는 않습니다.</a:t>
            </a:r>
          </a:p>
          <a:p>
            <a:r>
              <a:t/>
            </a:r>
          </a:p>
          <a:p>
            <a:r>
              <a:t>최적을 보장하려면 그 선택을 포함하는 최적해가 있어야 합니다. 이것이 탐욕적 선택 속성입니다. 선택 뒤의 작은 문제를 최적으로 풀어 이어 붙일 수 있어야 한다는 것이 최적 부분 구조입니다. 교환 논증은 최적 답의 일부를 그리디 선택으로 바꿔도 손해가 없음을 보였습니다.</a:t>
            </a:r>
          </a:p>
          <a:p>
            <a:r>
              <a:t/>
            </a:r>
          </a:p>
          <a:p>
            <a:r>
              <a:t>배수 관계의 동전은 큰 단위부터, 회의는 빨리 끝나는 것부터, 분할 배낭은 가성비가 높은 것부터 고릅니다. 크루스칼은 사이클 없는 싼 선을 골라 연결 비용을 줄입니다. 다익스트라는 가장 가까운 미확정 정점을 고르며 모든 간선 비용이 영 이상이어야 합니다.</a:t>
            </a:r>
          </a:p>
          <a:p>
            <a:r>
              <a:t/>
            </a:r>
          </a:p>
          <a:p>
            <a:r>
              <a:t>일, 삼, 사 원 동전과 영 일 배낭, 음수 간선의 다익스트라에서는 반례를 봤습니다. 항상 맞는다는 주장은 반례 하나로 깨지지만, 예제 몇 개에서 맞았다고 증명되지는 않습니다. 다음 장에서는 상태별 답을 저장하는 동적 계획법을 배우겠습니다. 마지막으로 언어별 표현을 정리합니다.</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파이썬 정렬은 소트의 키로 기준을, 리버스 트루로 내림차순을 정합니다. 씨의 큐 소트는 배열, 개수, 원소 크기, 비교 함수를 받습니다. 비교 함수는 앞 원소가 먼저 와야 하면 음수, 동등하면 영, 뒤에 와야 하면 양수를 반환합니다. 가성비 내림차순이면 큰 값이 먼저입니다. 큰 정수끼리 단순히 빼면 넘칠 수 있으니 비교로 부호를 정하는 편이 안전합니다.</a:t>
            </a:r>
          </a:p>
          <a:p>
            <a:r>
              <a:t/>
            </a:r>
          </a:p>
          <a:p>
            <a:r>
              <a:t>무한대는 파이썬에서 플로트 인프를 쓸 수 있습니다. 씨에서는 롱 롱의 십의 십팔 제곱 같은 큰 정수로 대신합니다. 진짜 무한대가 아니므로 경로보다 충분히 커야 하고, 도달 여부와 덧셈 범위도 확인해야 합니다.</a:t>
            </a:r>
          </a:p>
          <a:p>
            <a:r>
              <a:t/>
            </a:r>
          </a:p>
          <a:p>
            <a:r>
              <a:t>최솟값은 힙큐로 꺼내거나 배열을 훑어 찾을 수 있습니다. 언어 자체보다 자료구조 선택이 시간 차이를 만듭니다. 파이썬의 튜플이나 클래스에 묶은 자료는 씨의 구조체로 옮길 수 있습니다.</a:t>
            </a:r>
          </a:p>
          <a:p>
            <a:r>
              <a:t/>
            </a:r>
          </a:p>
          <a:p>
            <a:r>
              <a:t>그래프는 이웃 목록이나 이차원 배열로 저장합니다. 이 표의 씨 행렬은 마이너스 일이 간선 없음이고, 영은 실제 비용 영인 간선입니다. 둘을 섞으면 안 됩니다. 마지막으로 몫은 파이썬의 슬래시 두 개, 씨의 정수 나눗셈이고, 나머지는 둘 다 퍼센트입니다. 표현이 달라도 선택 기준과 갱신 조건은 같습니다.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sp>
        <p:nvSpPr>
          <p:cNvPr id="2" name="직사각형 3"/>
          <p:cNvSpPr/>
          <p:nvPr/>
        </p:nvSpPr>
        <p:spPr>
          <a:xfrm>
            <a:off x="612648" y="512064"/>
            <a:ext cx="9528048"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200" b="0" dirty="0">
                <a:solidFill>
                  <a:srgbClr val="BBBBBB"/>
                </a:solidFill>
                <a:latin typeface="Malgun Gothic"/>
                <a:ea typeface="Malgun Gothic"/>
                <a:cs typeface="Malgun Gothic"/>
              </a:rPr>
              <a:t>그림으로 쉽게 설명하는 파이썬 알고리즘</a:t>
            </a:r>
          </a:p>
        </p:txBody>
      </p:sp>
      <p:sp>
        <p:nvSpPr>
          <p:cNvPr id="3" name="직사각형 4"/>
          <p:cNvSpPr/>
          <p:nvPr/>
        </p:nvSpPr>
        <p:spPr>
          <a:xfrm>
            <a:off x="612648" y="1060704"/>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4" name="직사각형 5"/>
          <p:cNvSpPr/>
          <p:nvPr/>
        </p:nvSpPr>
        <p:spPr>
          <a:xfrm>
            <a:off x="612648" y="1947672"/>
            <a:ext cx="10003536" cy="822960"/>
          </a:xfrm>
          <a:prstGeom prst="rect">
            <a:avLst/>
          </a:prstGeom>
          <a:noFill/>
          <a:ln w="0">
            <a:noFill/>
          </a:ln>
        </p:spPr>
        <p:txBody>
          <a:bodyPr wrap="square" lIns="0" tIns="0" rIns="0" bIns="0" anchor="t">
            <a:noAutofit/>
          </a:bodyPr>
          <a:lstStyle/>
          <a:p>
            <a:pPr algn="l" eaLnBrk="0" latinLnBrk="0">
              <a:lnSpc>
                <a:spcPct val="100000"/>
              </a:lnSpc>
              <a:buNone/>
            </a:pPr>
            <a:r>
              <a:rPr lang="ko-KR" altLang="en-US" sz="5100" b="1" dirty="0">
                <a:solidFill>
                  <a:srgbClr val="FFFFFF"/>
                </a:solidFill>
                <a:latin typeface="Malgun Gothic"/>
                <a:ea typeface="Malgun Gothic"/>
                <a:cs typeface="Malgun Gothic"/>
              </a:rPr>
              <a:t>5장</a:t>
            </a:r>
          </a:p>
        </p:txBody>
      </p:sp>
      <p:sp>
        <p:nvSpPr>
          <p:cNvPr id="5" name="직사각형 6"/>
          <p:cNvSpPr/>
          <p:nvPr/>
        </p:nvSpPr>
        <p:spPr>
          <a:xfrm>
            <a:off x="612648" y="3108960"/>
            <a:ext cx="10972800" cy="950976"/>
          </a:xfrm>
          <a:prstGeom prst="rect">
            <a:avLst/>
          </a:prstGeom>
          <a:noFill/>
          <a:ln w="0">
            <a:noFill/>
          </a:ln>
        </p:spPr>
        <p:txBody>
          <a:bodyPr wrap="square" lIns="0" tIns="0" rIns="0" bIns="0" anchor="t">
            <a:noAutofit/>
          </a:bodyPr>
          <a:lstStyle/>
          <a:p>
            <a:pPr algn="l" eaLnBrk="0" latinLnBrk="0">
              <a:lnSpc>
                <a:spcPct val="100000"/>
              </a:lnSpc>
              <a:buNone/>
            </a:pPr>
            <a:r>
              <a:rPr lang="ko-KR" altLang="en-US" sz="5100" b="1" dirty="0">
                <a:solidFill>
                  <a:srgbClr val="FFFFFF"/>
                </a:solidFill>
                <a:latin typeface="Malgun Gothic"/>
                <a:ea typeface="Malgun Gothic"/>
                <a:cs typeface="Malgun Gothic"/>
              </a:rPr>
              <a:t>그리디 알고리즘</a:t>
            </a:r>
          </a:p>
        </p:txBody>
      </p:sp>
      <p:sp>
        <p:nvSpPr>
          <p:cNvPr id="6" name="직사각형 7"/>
          <p:cNvSpPr/>
          <p:nvPr/>
        </p:nvSpPr>
        <p:spPr>
          <a:xfrm>
            <a:off x="649224" y="4645152"/>
            <a:ext cx="102870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1875" b="0" dirty="0">
                <a:solidFill>
                  <a:srgbClr val="BBBBBB"/>
                </a:solidFill>
                <a:latin typeface="Consolas"/>
                <a:ea typeface="Consolas"/>
                <a:cs typeface="Consolas"/>
              </a:rPr>
              <a:t>GREEDY ALGORITHM</a:t>
            </a:r>
          </a:p>
        </p:txBody>
      </p:sp>
      <p:sp>
        <p:nvSpPr>
          <p:cNvPr id="7" name="직사각형 8"/>
          <p:cNvSpPr/>
          <p:nvPr/>
        </p:nvSpPr>
        <p:spPr>
          <a:xfrm>
            <a:off x="649224" y="5294376"/>
            <a:ext cx="10479024" cy="630936"/>
          </a:xfrm>
          <a:prstGeom prst="rect">
            <a:avLst/>
          </a:prstGeom>
          <a:noFill/>
          <a:ln w="0">
            <a:noFill/>
          </a:ln>
        </p:spPr>
        <p:txBody>
          <a:bodyPr wrap="square" lIns="0" tIns="0" rIns="0" bIns="0" anchor="t">
            <a:noAutofit/>
          </a:bodyPr>
          <a:lstStyle/>
          <a:p>
            <a:pPr algn="l" eaLnBrk="0" latinLnBrk="0">
              <a:lnSpc>
                <a:spcPct val="100000"/>
              </a:lnSpc>
              <a:buNone/>
            </a:pPr>
            <a:r>
              <a:rPr lang="ko-KR" altLang="en-US" sz="1575" b="0" dirty="0">
                <a:solidFill>
                  <a:srgbClr val="BBBBBB"/>
                </a:solidFill>
                <a:latin typeface="Malgun Gothic"/>
                <a:ea typeface="Malgun Gothic"/>
                <a:cs typeface="Malgun Gothic"/>
              </a:rPr>
              <a:t>지금 이 순간 가장 좋아 보이는 것을 고른다</a:t>
            </a:r>
          </a:p>
        </p:txBody>
      </p:sp>
      <p:sp>
        <p:nvSpPr>
          <p:cNvPr id="8" name="직사각형 9"/>
          <p:cNvSpPr/>
          <p:nvPr/>
        </p:nvSpPr>
        <p:spPr>
          <a:xfrm>
            <a:off x="612648" y="6437376"/>
            <a:ext cx="10972800" cy="9144"/>
          </a:xfrm>
          <a:prstGeom prst="rect">
            <a:avLst/>
          </a:prstGeom>
          <a:solidFill>
            <a:srgbClr val="505050"/>
          </a:solidFill>
          <a:ln w="0">
            <a:noFill/>
          </a:ln>
        </p:spPr>
        <p:txBody>
          <a:bodyPr wrap="square" lIns="0" tIns="0" rIns="0" bIns="0" anchor="t">
            <a:noAutofit/>
          </a:bodyPr>
          <a:lstStyle/>
          <a:p>
            <a:pPr algn="l" eaLnBrk="0" latinLnBrk="0">
              <a:lnSpc>
                <a:spcPct val="100000"/>
              </a:lnSpc>
              <a:buNone/>
            </a:pPr>
            <a:endParaRPr lang="ko-KR" sz="1800"/>
          </a:p>
        </p:txBody>
      </p:sp>
      <p:sp>
        <p:nvSpPr>
          <p:cNvPr id="9" name="직사각형 10"/>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BBBBBB"/>
                </a:solidFill>
                <a:latin typeface="Consolas"/>
                <a:ea typeface="Consolas"/>
                <a:cs typeface="Consolas"/>
              </a:rPr>
              <a:t>05 / GREEDY ALGORITHM</a:t>
            </a:r>
          </a:p>
        </p:txBody>
      </p:sp>
      <p:sp>
        <p:nvSpPr>
          <p:cNvPr id="10" name="직사각형 11"/>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1">
                <a:solidFill>
                  <a:srgbClr val="FFFFFF"/>
                </a:solidFill>
                <a:latin typeface="Malgun Gothic"/>
                <a:ea typeface="Malgun Gothic"/>
                <a:cs typeface="Malgun Gothic"/>
              </a:rPr>
              <a:t>1</a:t>
            </a:r>
            <a:endParaRPr lang="ko-KR" altLang="en-US" sz="1050" b="1" dirty="0">
              <a:solidFill>
                <a:srgbClr val="FFFFFF"/>
              </a:solidFill>
              <a:latin typeface="Malgun Gothic"/>
              <a:ea typeface="Malgun Gothic"/>
              <a:cs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577072"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CHAPTER 05</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이번 장에서 배울 내용</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a:t>
            </a:r>
            <a:endParaRPr lang="ko-KR" altLang="en-US" sz="1050" b="0" dirty="0">
              <a:solidFill>
                <a:srgbClr val="606060"/>
              </a:solidFill>
              <a:latin typeface="Malgun Gothic"/>
              <a:ea typeface="Malgun Gothic"/>
              <a:cs typeface="Malgun Gothic"/>
            </a:endParaRPr>
          </a:p>
        </p:txBody>
      </p:sp>
      <p:sp>
        <p:nvSpPr>
          <p:cNvPr id="9" name="직사각형 10"/>
          <p:cNvSpPr/>
          <p:nvPr/>
        </p:nvSpPr>
        <p:spPr>
          <a:xfrm>
            <a:off x="704088" y="1783080"/>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5.1   그리디의 기본</a:t>
            </a:r>
          </a:p>
        </p:txBody>
      </p:sp>
      <p:sp>
        <p:nvSpPr>
          <p:cNvPr id="10" name="직사각형 11"/>
          <p:cNvSpPr/>
          <p:nvPr/>
        </p:nvSpPr>
        <p:spPr>
          <a:xfrm>
            <a:off x="704088" y="2679192"/>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5.2   거스름돈 문제</a:t>
            </a:r>
          </a:p>
        </p:txBody>
      </p:sp>
      <p:sp>
        <p:nvSpPr>
          <p:cNvPr id="11" name="직사각형 12"/>
          <p:cNvSpPr/>
          <p:nvPr/>
        </p:nvSpPr>
        <p:spPr>
          <a:xfrm>
            <a:off x="704088" y="3575304"/>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5.3   활동 선택 문제</a:t>
            </a:r>
          </a:p>
        </p:txBody>
      </p:sp>
      <p:sp>
        <p:nvSpPr>
          <p:cNvPr id="12" name="직사각형 13"/>
          <p:cNvSpPr/>
          <p:nvPr/>
        </p:nvSpPr>
        <p:spPr>
          <a:xfrm>
            <a:off x="704088" y="4471416"/>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5.4   배낭 문제</a:t>
            </a:r>
          </a:p>
        </p:txBody>
      </p:sp>
      <p:sp>
        <p:nvSpPr>
          <p:cNvPr id="13" name="직사각형 14"/>
          <p:cNvSpPr/>
          <p:nvPr/>
        </p:nvSpPr>
        <p:spPr>
          <a:xfrm>
            <a:off x="704088" y="5367528"/>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5.5   그리디가 통하는 조건</a:t>
            </a:r>
          </a:p>
        </p:txBody>
      </p:sp>
      <p:sp>
        <p:nvSpPr>
          <p:cNvPr id="14" name="직사각형 15"/>
          <p:cNvSpPr/>
          <p:nvPr/>
        </p:nvSpPr>
        <p:spPr>
          <a:xfrm>
            <a:off x="6345936" y="1783080"/>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5.6   크루스칼 알고리즘</a:t>
            </a:r>
          </a:p>
        </p:txBody>
      </p:sp>
      <p:sp>
        <p:nvSpPr>
          <p:cNvPr id="15" name="직사각형 16"/>
          <p:cNvSpPr/>
          <p:nvPr/>
        </p:nvSpPr>
        <p:spPr>
          <a:xfrm>
            <a:off x="6345936" y="2679192"/>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a:solidFill>
                  <a:srgbClr val="171717"/>
                </a:solidFill>
                <a:latin typeface="Malgun Gothic"/>
                <a:ea typeface="Malgun Gothic"/>
                <a:cs typeface="Malgun Gothic"/>
              </a:rPr>
              <a:t>보충   상세 구현</a:t>
            </a:r>
            <a:endParaRPr lang="ko-KR" altLang="en-US" sz="1950" b="0" dirty="0">
              <a:solidFill>
                <a:srgbClr val="171717"/>
              </a:solidFill>
              <a:latin typeface="Malgun Gothic"/>
              <a:ea typeface="Malgun Gothic"/>
              <a:cs typeface="Malgun Gothic"/>
            </a:endParaRPr>
          </a:p>
        </p:txBody>
      </p:sp>
      <p:sp>
        <p:nvSpPr>
          <p:cNvPr id="16" name="직사각형 17"/>
          <p:cNvSpPr/>
          <p:nvPr/>
        </p:nvSpPr>
        <p:spPr>
          <a:xfrm>
            <a:off x="6345936" y="3575304"/>
            <a:ext cx="5221224" cy="42976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5.8   다익스트라 알고리즘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 지금 가장 좋아 보이는 것을 고른다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a:t>
            </a:r>
            <a:endParaRPr lang="ko-KR" altLang="en-US" sz="1050" b="0" dirty="0">
              <a:solidFill>
                <a:srgbClr val="606060"/>
              </a:solidFill>
              <a:latin typeface="Malgun Gothic"/>
              <a:ea typeface="Malgun Gothic"/>
              <a:cs typeface="Malgun Gothic"/>
            </a:endParaRPr>
          </a:p>
        </p:txBody>
      </p:sp>
      <p:sp>
        <p:nvSpPr>
          <p:cNvPr id="9" name="fit:a1496bebe5272e4c 10"/>
          <p:cNvSpPr/>
          <p:nvPr/>
        </p:nvSpPr>
        <p:spPr>
          <a:xfrm>
            <a:off x="658368" y="1737360"/>
            <a:ext cx="5486400" cy="832104"/>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0" dirty="0">
                <a:solidFill>
                  <a:srgbClr val="171717"/>
                </a:solidFill>
                <a:latin typeface="Malgun Gothic"/>
                <a:ea typeface="Malgun Gothic"/>
                <a:cs typeface="Malgun Gothic"/>
              </a:rPr>
              <a:t>그리디(greedy)는 '탐욕스러운'이라는 뜻입니다.</a:t>
            </a:r>
          </a:p>
          <a:p>
            <a:pPr algn="l" eaLnBrk="0" latinLnBrk="0">
              <a:lnSpc>
                <a:spcPct val="105000"/>
              </a:lnSpc>
              <a:buNone/>
            </a:pPr>
            <a:r>
              <a:rPr lang="ko-KR" altLang="en-US" sz="1700" b="0" dirty="0">
                <a:solidFill>
                  <a:srgbClr val="171717"/>
                </a:solidFill>
                <a:latin typeface="Malgun Gothic"/>
                <a:ea typeface="Malgun Gothic"/>
                <a:cs typeface="Malgun Gothic"/>
              </a:rPr>
              <a:t>매 단계 지금 기준으로</a:t>
            </a:r>
          </a:p>
          <a:p>
            <a:pPr algn="l" eaLnBrk="0" latinLnBrk="0">
              <a:lnSpc>
                <a:spcPct val="105000"/>
              </a:lnSpc>
              <a:buNone/>
            </a:pPr>
            <a:r>
              <a:rPr lang="ko-KR" altLang="en-US" sz="1700" b="0" dirty="0">
                <a:solidFill>
                  <a:srgbClr val="171717"/>
                </a:solidFill>
                <a:latin typeface="Malgun Gothic"/>
                <a:ea typeface="Malgun Gothic"/>
                <a:cs typeface="Malgun Gothic"/>
              </a:rPr>
              <a:t>가장 좋아 보이는 것을 고릅니다.</a:t>
            </a:r>
          </a:p>
        </p:txBody>
      </p:sp>
      <p:sp>
        <p:nvSpPr>
          <p:cNvPr id="10" name="fit:80a13a6f057dd471 11"/>
          <p:cNvSpPr/>
          <p:nvPr/>
        </p:nvSpPr>
        <p:spPr>
          <a:xfrm>
            <a:off x="658368" y="2697480"/>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후보를 다 알아도 지금 기준 하나로</a:t>
            </a:r>
          </a:p>
        </p:txBody>
      </p:sp>
      <p:sp>
        <p:nvSpPr>
          <p:cNvPr id="11" name="fit:3bf9a7125ac4dd87 12"/>
          <p:cNvSpPr/>
          <p:nvPr/>
        </p:nvSpPr>
        <p:spPr>
          <a:xfrm>
            <a:off x="841248" y="3017520"/>
            <a:ext cx="530352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앞을 못 봐서 틀리는 것이 아닙니다.</a:t>
            </a:r>
          </a:p>
          <a:p>
            <a:pPr algn="l" eaLnBrk="0" latinLnBrk="0">
              <a:lnSpc>
                <a:spcPct val="105000"/>
              </a:lnSpc>
              <a:buNone/>
            </a:pPr>
            <a:r>
              <a:rPr lang="ko-KR" altLang="en-US" sz="1500" b="0" dirty="0">
                <a:solidFill>
                  <a:srgbClr val="3F3F3F"/>
                </a:solidFill>
                <a:latin typeface="Malgun Gothic"/>
                <a:ea typeface="Malgun Gothic"/>
                <a:cs typeface="Malgun Gothic"/>
              </a:rPr>
              <a:t>정해 둔 기준으로만 고르기 때문입니다.</a:t>
            </a:r>
          </a:p>
        </p:txBody>
      </p:sp>
      <p:sp>
        <p:nvSpPr>
          <p:cNvPr id="12" name="fit:9195ac6c7d213c21 13"/>
          <p:cNvSpPr/>
          <p:nvPr/>
        </p:nvSpPr>
        <p:spPr>
          <a:xfrm>
            <a:off x="658368" y="3630168"/>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고른 것은 확정, 되돌리지 않음</a:t>
            </a:r>
          </a:p>
        </p:txBody>
      </p:sp>
      <p:sp>
        <p:nvSpPr>
          <p:cNvPr id="13" name="fit:ad44fa369eba5c64 14"/>
          <p:cNvSpPr/>
          <p:nvPr/>
        </p:nvSpPr>
        <p:spPr>
          <a:xfrm>
            <a:off x="841248" y="3950208"/>
            <a:ext cx="530352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앞의 선택을 다시 검토하는 단계가 없습니다.</a:t>
            </a:r>
          </a:p>
        </p:txBody>
      </p:sp>
      <p:sp>
        <p:nvSpPr>
          <p:cNvPr id="14" name="fit:da5a8269f8ca6a31 15"/>
          <p:cNvSpPr/>
          <p:nvPr/>
        </p:nvSpPr>
        <p:spPr>
          <a:xfrm>
            <a:off x="658368" y="4325112"/>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완성 해를 모두 비교하지 않음</a:t>
            </a:r>
          </a:p>
        </p:txBody>
      </p:sp>
      <p:sp>
        <p:nvSpPr>
          <p:cNvPr id="15" name="fit:07e0c522ae702a04 16"/>
          <p:cNvSpPr/>
          <p:nvPr/>
        </p:nvSpPr>
        <p:spPr>
          <a:xfrm>
            <a:off x="841248" y="4645152"/>
            <a:ext cx="530352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모든 해를 만들어 비교하는 것은 완전탐색입니다.</a:t>
            </a:r>
          </a:p>
        </p:txBody>
      </p:sp>
      <p:sp>
        <p:nvSpPr>
          <p:cNvPr id="16" name="fit:b5070a5f4d9281a1 17"/>
          <p:cNvSpPr/>
          <p:nvPr/>
        </p:nvSpPr>
        <p:spPr>
          <a:xfrm>
            <a:off x="658368" y="5020056"/>
            <a:ext cx="5486400"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되돌아보지 않아서 빠르고,</a:t>
            </a:r>
          </a:p>
          <a:p>
            <a:pPr algn="l" eaLnBrk="0" latinLnBrk="0">
              <a:lnSpc>
                <a:spcPct val="100000"/>
              </a:lnSpc>
              <a:buNone/>
            </a:pPr>
            <a:r>
              <a:rPr lang="ko-KR" altLang="en-US" sz="2000" b="1" dirty="0">
                <a:solidFill>
                  <a:srgbClr val="0E8A7D"/>
                </a:solidFill>
                <a:latin typeface="Malgun Gothic"/>
                <a:ea typeface="Malgun Gothic"/>
                <a:cs typeface="Malgun Gothic"/>
              </a:rPr>
              <a:t>그래서 틀릴 수도 있습니다.</a:t>
            </a:r>
          </a:p>
        </p:txBody>
      </p:sp>
      <p:pic>
        <p:nvPicPr>
          <p:cNvPr id="17" name="그림 18"/>
          <p:cNvPicPr>
            <a:picLocks noChangeAspect="1"/>
          </p:cNvPicPr>
          <p:nvPr/>
        </p:nvPicPr>
        <p:blipFill>
          <a:blip r:embed="rId3"/>
          <a:stretch>
            <a:fillRect/>
          </a:stretch>
        </p:blipFill>
        <p:spPr>
          <a:xfrm>
            <a:off x="6492240" y="2541733"/>
            <a:ext cx="5093208" cy="2780374"/>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손님은 '지금 맛있어 보이는 것' 기준 하나로 접시를 채웠고, 내려놓지 않아 스테이크 자리가 없습니다.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지역 최적해와 전역 최적해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a:t>
            </a:r>
            <a:endParaRPr lang="ko-KR" altLang="en-US" sz="1050" b="0" dirty="0">
              <a:solidFill>
                <a:srgbClr val="606060"/>
              </a:solidFill>
              <a:latin typeface="Malgun Gothic"/>
              <a:ea typeface="Malgun Gothic"/>
              <a:cs typeface="Malgun Gothic"/>
            </a:endParaRPr>
          </a:p>
        </p:txBody>
      </p:sp>
      <p:sp>
        <p:nvSpPr>
          <p:cNvPr id="9" name="fit:e52a6272df213d3a 10"/>
          <p:cNvSpPr/>
          <p:nvPr/>
        </p:nvSpPr>
        <p:spPr>
          <a:xfrm>
            <a:off x="658368" y="1737360"/>
            <a:ext cx="5486400" cy="886968"/>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안개 낀 산에서 가장 높은 봉우리를 찾습니다.</a:t>
            </a:r>
          </a:p>
          <a:p>
            <a:pPr algn="l" eaLnBrk="0" latinLnBrk="0">
              <a:lnSpc>
                <a:spcPct val="105000"/>
              </a:lnSpc>
              <a:buNone/>
            </a:pPr>
            <a:r>
              <a:rPr lang="ko-KR" altLang="en-US" sz="1800" b="0" dirty="0">
                <a:solidFill>
                  <a:srgbClr val="171717"/>
                </a:solidFill>
                <a:latin typeface="Malgun Gothic"/>
                <a:ea typeface="Malgun Gothic"/>
                <a:cs typeface="Malgun Gothic"/>
              </a:rPr>
              <a:t>가장 단순한 전략은 지금보다 높은 쪽으로</a:t>
            </a:r>
          </a:p>
          <a:p>
            <a:pPr algn="l" eaLnBrk="0" latinLnBrk="0">
              <a:lnSpc>
                <a:spcPct val="105000"/>
              </a:lnSpc>
              <a:buNone/>
            </a:pPr>
            <a:r>
              <a:rPr lang="ko-KR" altLang="en-US" sz="1800" b="0" dirty="0">
                <a:solidFill>
                  <a:srgbClr val="171717"/>
                </a:solidFill>
                <a:latin typeface="Malgun Gothic"/>
                <a:ea typeface="Malgun Gothic"/>
                <a:cs typeface="Malgun Gothic"/>
              </a:rPr>
              <a:t>한 걸음씩 오르는 것입니다.</a:t>
            </a:r>
          </a:p>
        </p:txBody>
      </p:sp>
      <p:sp>
        <p:nvSpPr>
          <p:cNvPr id="10" name="fit:1ffb0753febadcf7 11"/>
          <p:cNvSpPr/>
          <p:nvPr/>
        </p:nvSpPr>
        <p:spPr>
          <a:xfrm>
            <a:off x="658368" y="2752344"/>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지역 최적해 (local optimum)</a:t>
            </a:r>
          </a:p>
        </p:txBody>
      </p:sp>
      <p:sp>
        <p:nvSpPr>
          <p:cNvPr id="11" name="fit:37d53c5920ddf598 12"/>
          <p:cNvSpPr/>
          <p:nvPr/>
        </p:nvSpPr>
        <p:spPr>
          <a:xfrm>
            <a:off x="841248" y="3072384"/>
            <a:ext cx="530352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주변 어디보다 높은 곳.</a:t>
            </a:r>
          </a:p>
          <a:p>
            <a:pPr algn="l" eaLnBrk="0" latinLnBrk="0">
              <a:lnSpc>
                <a:spcPct val="105000"/>
              </a:lnSpc>
              <a:buNone/>
            </a:pPr>
            <a:r>
              <a:rPr lang="ko-KR" altLang="en-US" sz="1500" b="0" dirty="0">
                <a:solidFill>
                  <a:srgbClr val="3F3F3F"/>
                </a:solidFill>
                <a:latin typeface="Malgun Gothic"/>
                <a:ea typeface="Malgun Gothic"/>
                <a:cs typeface="Malgun Gothic"/>
              </a:rPr>
              <a:t>작은 언덕 꼭대기일 수 있습니다.</a:t>
            </a:r>
          </a:p>
        </p:txBody>
      </p:sp>
      <p:sp>
        <p:nvSpPr>
          <p:cNvPr id="12" name="fit:42d16cd441148ff5 13"/>
          <p:cNvSpPr/>
          <p:nvPr/>
        </p:nvSpPr>
        <p:spPr>
          <a:xfrm>
            <a:off x="658368" y="3685032"/>
            <a:ext cx="548640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전역 최적해 (global optimum)</a:t>
            </a:r>
          </a:p>
        </p:txBody>
      </p:sp>
      <p:sp>
        <p:nvSpPr>
          <p:cNvPr id="13" name="fit:3f95fb199cdd495e 14"/>
          <p:cNvSpPr/>
          <p:nvPr/>
        </p:nvSpPr>
        <p:spPr>
          <a:xfrm>
            <a:off x="841248" y="4005072"/>
            <a:ext cx="530352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산 전체에서 가장 높은 곳.</a:t>
            </a:r>
          </a:p>
          <a:p>
            <a:pPr algn="l" eaLnBrk="0" latinLnBrk="0">
              <a:lnSpc>
                <a:spcPct val="105000"/>
              </a:lnSpc>
              <a:buNone/>
            </a:pPr>
            <a:r>
              <a:rPr lang="ko-KR" altLang="en-US" sz="1500" b="0" dirty="0">
                <a:solidFill>
                  <a:srgbClr val="3F3F3F"/>
                </a:solidFill>
                <a:latin typeface="Malgun Gothic"/>
                <a:ea typeface="Malgun Gothic"/>
                <a:cs typeface="Malgun Gothic"/>
              </a:rPr>
              <a:t>우리가 원하는 답입니다.</a:t>
            </a:r>
          </a:p>
        </p:txBody>
      </p:sp>
      <p:sp>
        <p:nvSpPr>
          <p:cNvPr id="14" name="fit:53f7b557098511dc 15"/>
          <p:cNvSpPr/>
          <p:nvPr/>
        </p:nvSpPr>
        <p:spPr>
          <a:xfrm>
            <a:off x="658368" y="4617720"/>
            <a:ext cx="5486400"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매 걸음의 최선이 모여도</a:t>
            </a:r>
          </a:p>
          <a:p>
            <a:pPr algn="l" eaLnBrk="0" latinLnBrk="0">
              <a:lnSpc>
                <a:spcPct val="100000"/>
              </a:lnSpc>
              <a:buNone/>
            </a:pPr>
            <a:r>
              <a:rPr lang="ko-KR" altLang="en-US" sz="2000" b="1" dirty="0">
                <a:solidFill>
                  <a:srgbClr val="0E8A7D"/>
                </a:solidFill>
                <a:latin typeface="Malgun Gothic"/>
                <a:ea typeface="Malgun Gothic"/>
                <a:cs typeface="Malgun Gothic"/>
              </a:rPr>
              <a:t>전체의 최선이라는 보장은 없습니다.</a:t>
            </a:r>
          </a:p>
        </p:txBody>
      </p:sp>
      <p:sp>
        <p:nvSpPr>
          <p:cNvPr id="15" name="fit:d3b5250158d3bf82 16"/>
          <p:cNvSpPr/>
          <p:nvPr/>
        </p:nvSpPr>
        <p:spPr>
          <a:xfrm>
            <a:off x="658368" y="5376672"/>
            <a:ext cx="5486400" cy="484632"/>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마시멜로 하나를 지금 먹는 것도 지금만 보면 최선입니다.</a:t>
            </a:r>
          </a:p>
          <a:p>
            <a:pPr algn="l" eaLnBrk="0" latinLnBrk="0">
              <a:lnSpc>
                <a:spcPct val="100000"/>
              </a:lnSpc>
              <a:buNone/>
            </a:pPr>
            <a:r>
              <a:rPr lang="ko-KR" altLang="en-US" sz="1450" b="0" dirty="0">
                <a:solidFill>
                  <a:srgbClr val="3F3F3F"/>
                </a:solidFill>
                <a:latin typeface="Malgun Gothic"/>
                <a:ea typeface="Malgun Gothic"/>
                <a:cs typeface="Malgun Gothic"/>
              </a:rPr>
              <a:t>기다려서 두 개를 받는 쪽이 전체로는 더 좋습니다.</a:t>
            </a:r>
          </a:p>
        </p:txBody>
      </p:sp>
      <p:pic>
        <p:nvPicPr>
          <p:cNvPr id="16" name="그림 17"/>
          <p:cNvPicPr>
            <a:picLocks noChangeAspect="1"/>
          </p:cNvPicPr>
          <p:nvPr/>
        </p:nvPicPr>
        <p:blipFill>
          <a:blip r:embed="rId3"/>
          <a:stretch>
            <a:fillRect/>
          </a:stretch>
        </p:blipFill>
        <p:spPr>
          <a:xfrm>
            <a:off x="6492240" y="2541733"/>
            <a:ext cx="5093208" cy="2780374"/>
          </a:xfrm>
          <a:prstGeom prst="rect">
            <a:avLst/>
          </a:prstGeom>
        </p:spPr>
      </p:pic>
      <p:sp>
        <p:nvSpPr>
          <p:cNvPr id="17" name="직사각형 18"/>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그림의 '국소적 최적해(Local Maximum)'는 지역 최적해(local optimum)와 같은 말입니다.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 알고리즘의 세 단계</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a:t>
            </a:r>
            <a:endParaRPr lang="ko-KR" altLang="en-US" sz="1050" b="0" dirty="0">
              <a:solidFill>
                <a:srgbClr val="606060"/>
              </a:solidFill>
              <a:latin typeface="Malgun Gothic"/>
              <a:ea typeface="Malgun Gothic"/>
              <a:cs typeface="Malgun Gothic"/>
            </a:endParaRPr>
          </a:p>
        </p:txBody>
      </p:sp>
      <p:sp>
        <p:nvSpPr>
          <p:cNvPr id="9" name="fit:e2e1d093f9f38c58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해답이 완성될 때까지 세 단계를 되풀이합니다.</a:t>
            </a:r>
          </a:p>
        </p:txBody>
      </p:sp>
      <p:sp>
        <p:nvSpPr>
          <p:cNvPr id="10" name="직사각형 11"/>
          <p:cNvSpPr/>
          <p:nvPr/>
        </p:nvSpPr>
        <p:spPr>
          <a:xfrm>
            <a:off x="65836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① 선택</a:t>
            </a:r>
          </a:p>
        </p:txBody>
      </p:sp>
      <p:sp>
        <p:nvSpPr>
          <p:cNvPr id="12" name="직사각형 13"/>
          <p:cNvSpPr/>
          <p:nvPr/>
        </p:nvSpPr>
        <p:spPr>
          <a:xfrm>
            <a:off x="749808" y="2724912"/>
            <a:ext cx="3017520" cy="91440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selection</a:t>
            </a:r>
          </a:p>
          <a:p>
            <a:pPr algn="ctr" eaLnBrk="0" latinLnBrk="0">
              <a:lnSpc>
                <a:spcPct val="110000"/>
              </a:lnSpc>
              <a:buNone/>
            </a:pPr>
            <a:r>
              <a:rPr lang="ko-KR" altLang="en-US" sz="1350" b="0" dirty="0">
                <a:solidFill>
                  <a:srgbClr val="171717"/>
                </a:solidFill>
                <a:latin typeface="Malgun Gothic"/>
                <a:ea typeface="Malgun Gothic"/>
                <a:cs typeface="Malgun Gothic"/>
              </a:rPr>
              <a:t>남은 후보 중 지금 기준으로</a:t>
            </a:r>
          </a:p>
          <a:p>
            <a:pPr algn="ctr" eaLnBrk="0" latinLnBrk="0">
              <a:lnSpc>
                <a:spcPct val="110000"/>
              </a:lnSpc>
              <a:buNone/>
            </a:pPr>
            <a:r>
              <a:rPr lang="ko-KR" altLang="en-US" sz="1350" b="0" dirty="0">
                <a:solidFill>
                  <a:srgbClr val="171717"/>
                </a:solidFill>
                <a:latin typeface="Malgun Gothic"/>
                <a:ea typeface="Malgun Gothic"/>
                <a:cs typeface="Malgun Gothic"/>
              </a:rPr>
              <a:t>가장 좋은 것 하나를 고릅니다.</a:t>
            </a:r>
          </a:p>
        </p:txBody>
      </p:sp>
      <p:sp>
        <p:nvSpPr>
          <p:cNvPr id="13" name="직사각형 14"/>
          <p:cNvSpPr/>
          <p:nvPr/>
        </p:nvSpPr>
        <p:spPr>
          <a:xfrm>
            <a:off x="400507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449884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직사각형 16"/>
          <p:cNvSpPr/>
          <p:nvPr/>
        </p:nvSpPr>
        <p:spPr>
          <a:xfrm>
            <a:off x="459028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② 적정성 검사</a:t>
            </a:r>
          </a:p>
        </p:txBody>
      </p:sp>
      <p:sp>
        <p:nvSpPr>
          <p:cNvPr id="16" name="직사각형 17"/>
          <p:cNvSpPr/>
          <p:nvPr/>
        </p:nvSpPr>
        <p:spPr>
          <a:xfrm>
            <a:off x="4590288" y="2724912"/>
            <a:ext cx="3017520" cy="91440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feasibility</a:t>
            </a:r>
          </a:p>
          <a:p>
            <a:pPr algn="ctr" eaLnBrk="0" latinLnBrk="0">
              <a:lnSpc>
                <a:spcPct val="110000"/>
              </a:lnSpc>
              <a:buNone/>
            </a:pPr>
            <a:r>
              <a:rPr lang="ko-KR" altLang="en-US" sz="1350" b="0" dirty="0">
                <a:solidFill>
                  <a:srgbClr val="171717"/>
                </a:solidFill>
                <a:latin typeface="Malgun Gothic"/>
                <a:ea typeface="Malgun Gothic"/>
                <a:cs typeface="Malgun Gothic"/>
              </a:rPr>
              <a:t>그 선택을 넣어도 제약을</a:t>
            </a:r>
          </a:p>
          <a:p>
            <a:pPr algn="ctr" eaLnBrk="0" latinLnBrk="0">
              <a:lnSpc>
                <a:spcPct val="110000"/>
              </a:lnSpc>
              <a:buNone/>
            </a:pPr>
            <a:r>
              <a:rPr lang="ko-KR" altLang="en-US" sz="1350" b="0" dirty="0">
                <a:solidFill>
                  <a:srgbClr val="171717"/>
                </a:solidFill>
                <a:latin typeface="Malgun Gothic"/>
                <a:ea typeface="Malgun Gothic"/>
                <a:cs typeface="Malgun Gothic"/>
              </a:rPr>
              <a:t>어기지 않는지 확인합니다.</a:t>
            </a:r>
          </a:p>
        </p:txBody>
      </p:sp>
      <p:sp>
        <p:nvSpPr>
          <p:cNvPr id="17" name="직사각형 18"/>
          <p:cNvSpPr/>
          <p:nvPr/>
        </p:nvSpPr>
        <p:spPr>
          <a:xfrm>
            <a:off x="7845552" y="2340864"/>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8" name="직사각형 19"/>
          <p:cNvSpPr/>
          <p:nvPr/>
        </p:nvSpPr>
        <p:spPr>
          <a:xfrm>
            <a:off x="8339328" y="2121408"/>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9" name="직사각형 20"/>
          <p:cNvSpPr/>
          <p:nvPr/>
        </p:nvSpPr>
        <p:spPr>
          <a:xfrm>
            <a:off x="8430768" y="2304288"/>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③ 해답 검사</a:t>
            </a:r>
          </a:p>
        </p:txBody>
      </p:sp>
      <p:sp>
        <p:nvSpPr>
          <p:cNvPr id="20" name="직사각형 21"/>
          <p:cNvSpPr/>
          <p:nvPr/>
        </p:nvSpPr>
        <p:spPr>
          <a:xfrm>
            <a:off x="8430768" y="2724912"/>
            <a:ext cx="3017520" cy="91440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solution</a:t>
            </a:r>
          </a:p>
          <a:p>
            <a:pPr algn="ctr" eaLnBrk="0" latinLnBrk="0">
              <a:lnSpc>
                <a:spcPct val="110000"/>
              </a:lnSpc>
              <a:buNone/>
            </a:pPr>
            <a:r>
              <a:rPr lang="ko-KR" altLang="en-US" sz="1350" b="0" dirty="0">
                <a:solidFill>
                  <a:srgbClr val="171717"/>
                </a:solidFill>
                <a:latin typeface="Malgun Gothic"/>
                <a:ea typeface="Malgun Gothic"/>
                <a:cs typeface="Malgun Gothic"/>
              </a:rPr>
              <a:t>모은 것이 완전한 해답인지</a:t>
            </a:r>
          </a:p>
          <a:p>
            <a:pPr algn="ctr" eaLnBrk="0" latinLnBrk="0">
              <a:lnSpc>
                <a:spcPct val="110000"/>
              </a:lnSpc>
              <a:buNone/>
            </a:pPr>
            <a:r>
              <a:rPr lang="ko-KR" altLang="en-US" sz="1350" b="0" dirty="0">
                <a:solidFill>
                  <a:srgbClr val="171717"/>
                </a:solidFill>
                <a:latin typeface="Malgun Gothic"/>
                <a:ea typeface="Malgun Gothic"/>
                <a:cs typeface="Malgun Gothic"/>
              </a:rPr>
              <a:t>확인합니다. 아니면 ①로.</a:t>
            </a:r>
          </a:p>
        </p:txBody>
      </p:sp>
      <p:sp>
        <p:nvSpPr>
          <p:cNvPr id="21" name="직사각형 22"/>
          <p:cNvSpPr/>
          <p:nvPr/>
        </p:nvSpPr>
        <p:spPr>
          <a:xfrm>
            <a:off x="658368" y="3472688"/>
            <a:ext cx="1088136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greedy.pseudo</a:t>
            </a:r>
          </a:p>
        </p:txBody>
      </p:sp>
      <p:sp>
        <p:nvSpPr>
          <p:cNvPr id="22" name="직사각형 23"/>
          <p:cNvSpPr/>
          <p:nvPr/>
        </p:nvSpPr>
        <p:spPr>
          <a:xfrm>
            <a:off x="658368" y="3692144"/>
            <a:ext cx="10881360" cy="2276856"/>
          </a:xfrm>
          <a:prstGeom prst="rect">
            <a:avLst/>
          </a:prstGeom>
          <a:solidFill>
            <a:srgbClr val="171717"/>
          </a:solidFill>
          <a:ln w="0">
            <a:noFill/>
          </a:ln>
        </p:spPr>
        <p:txBody>
          <a:bodyPr wrap="none" lIns="91440" tIns="91440" rIns="91440" bIns="91440" anchor="t">
            <a:noAutofit/>
          </a:bodyPr>
          <a:lstStyle/>
          <a:p>
            <a:pPr algn="l" eaLnBrk="0" latinLnBrk="0">
              <a:lnSpc>
                <a:spcPct val="130000"/>
              </a:lnSpc>
              <a:buNone/>
            </a:pPr>
            <a:r>
              <a:rPr lang="ko-KR" altLang="en-US" sz="1500" b="0" dirty="0">
                <a:solidFill>
                  <a:srgbClr val="FFFFFF"/>
                </a:solidFill>
                <a:latin typeface="Consolas"/>
                <a:ea typeface="Consolas"/>
                <a:cs typeface="Consolas"/>
              </a:rPr>
              <a:t>GREEDY(C):                                     // C: 후보 집합</a:t>
            </a:r>
          </a:p>
          <a:p>
            <a:pPr algn="l" eaLnBrk="0" latinLnBrk="0">
              <a:lnSpc>
                <a:spcPct val="130000"/>
              </a:lnSpc>
              <a:buNone/>
            </a:pPr>
            <a:r>
              <a:rPr lang="ko-KR" altLang="en-US" sz="1500" b="0" dirty="0">
                <a:solidFill>
                  <a:srgbClr val="FFFFFF"/>
                </a:solidFill>
                <a:latin typeface="Consolas"/>
                <a:ea typeface="Consolas"/>
                <a:cs typeface="Consolas"/>
              </a:rPr>
              <a:t>    S &lt;- 빈 집합                                // 지금까지 확정한 선택</a:t>
            </a:r>
          </a:p>
          <a:p>
            <a:pPr algn="l" eaLnBrk="0" latinLnBrk="0">
              <a:lnSpc>
                <a:spcPct val="130000"/>
              </a:lnSpc>
              <a:buNone/>
            </a:pPr>
            <a:r>
              <a:rPr lang="ko-KR" altLang="en-US" sz="1500" b="0" dirty="0">
                <a:solidFill>
                  <a:srgbClr val="FFFFFF"/>
                </a:solidFill>
                <a:latin typeface="Consolas"/>
                <a:ea typeface="Consolas"/>
                <a:cs typeface="Consolas"/>
              </a:rPr>
              <a:t>    while C가 비어 있지 않고 S가 해답이 아니면:   // 해답 검사</a:t>
            </a:r>
          </a:p>
          <a:p>
            <a:pPr algn="l" eaLnBrk="0" latinLnBrk="0">
              <a:lnSpc>
                <a:spcPct val="130000"/>
              </a:lnSpc>
              <a:buNone/>
            </a:pPr>
            <a:r>
              <a:rPr lang="ko-KR" altLang="en-US" sz="1500" b="0" dirty="0">
                <a:solidFill>
                  <a:srgbClr val="FFFFFF"/>
                </a:solidFill>
                <a:latin typeface="Consolas"/>
                <a:ea typeface="Consolas"/>
                <a:cs typeface="Consolas"/>
              </a:rPr>
              <a:t>        C에서 지금 가장 좋은 후보 x를 꺼낸다      // 선택</a:t>
            </a:r>
          </a:p>
          <a:p>
            <a:pPr algn="l" eaLnBrk="0" latinLnBrk="0">
              <a:lnSpc>
                <a:spcPct val="130000"/>
              </a:lnSpc>
              <a:buNone/>
            </a:pPr>
            <a:r>
              <a:rPr lang="ko-KR" altLang="en-US" sz="1500" b="0" dirty="0">
                <a:solidFill>
                  <a:srgbClr val="FFFFFF"/>
                </a:solidFill>
                <a:latin typeface="Consolas"/>
                <a:ea typeface="Consolas"/>
                <a:cs typeface="Consolas"/>
              </a:rPr>
              <a:t>        if S + {x}가 제약을 지키면:              // 적정성 검사</a:t>
            </a:r>
          </a:p>
          <a:p>
            <a:pPr algn="l" eaLnBrk="0" latinLnBrk="0">
              <a:lnSpc>
                <a:spcPct val="130000"/>
              </a:lnSpc>
              <a:buNone/>
            </a:pPr>
            <a:r>
              <a:rPr lang="ko-KR" altLang="en-US" sz="1500" b="0" dirty="0">
                <a:solidFill>
                  <a:srgbClr val="FFFFFF"/>
                </a:solidFill>
                <a:latin typeface="Consolas"/>
                <a:ea typeface="Consolas"/>
                <a:cs typeface="Consolas"/>
              </a:rPr>
              <a:t>            S &lt;- S + {x}                       // 확정, 되돌리지 않음</a:t>
            </a:r>
          </a:p>
          <a:p>
            <a:pPr algn="l" eaLnBrk="0" latinLnBrk="0">
              <a:lnSpc>
                <a:spcPct val="130000"/>
              </a:lnSpc>
              <a:buNone/>
            </a:pPr>
            <a:r>
              <a:rPr lang="ko-KR" altLang="en-US" sz="1500" b="0" dirty="0">
                <a:solidFill>
                  <a:srgbClr val="FFFFFF"/>
                </a:solidFill>
                <a:latin typeface="Consolas"/>
                <a:ea typeface="Consolas"/>
                <a:cs typeface="Consolas"/>
              </a:rPr>
              <a:t>    if S가 해답이면 return S else return "해 없음"</a:t>
            </a:r>
          </a:p>
        </p:txBody>
      </p:sp>
      <p:sp>
        <p:nvSpPr>
          <p:cNvPr id="23" name="fit:4a6a04f278b3d00f 24"/>
          <p:cNvSpPr/>
          <p:nvPr/>
        </p:nvSpPr>
        <p:spPr>
          <a:xfrm>
            <a:off x="658368" y="5970016"/>
            <a:ext cx="10881360" cy="338328"/>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1" dirty="0">
                <a:solidFill>
                  <a:srgbClr val="0E8A7D"/>
                </a:solidFill>
                <a:latin typeface="Malgun Gothic"/>
                <a:ea typeface="Malgun Gothic"/>
                <a:cs typeface="Malgun Gothic"/>
              </a:rPr>
              <a:t>한 번 확정한 선택은 다시 검토하지 않습니다.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5.1  그리디의 기본</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이 장의 지도: 통하는 문제와 통하지 않는 문제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a:t>
            </a:r>
            <a:endParaRPr lang="ko-KR" altLang="en-US" sz="1050" b="0" dirty="0">
              <a:solidFill>
                <a:srgbClr val="606060"/>
              </a:solidFill>
              <a:latin typeface="Malgun Gothic"/>
              <a:ea typeface="Malgun Gothic"/>
              <a:cs typeface="Malgun Gothic"/>
            </a:endParaRPr>
          </a:p>
        </p:txBody>
      </p:sp>
      <p:sp>
        <p:nvSpPr>
          <p:cNvPr id="9" name="fit:a4f3aeb49ca85f05 10"/>
          <p:cNvSpPr/>
          <p:nvPr/>
        </p:nvSpPr>
        <p:spPr>
          <a:xfrm>
            <a:off x="612648" y="1636776"/>
            <a:ext cx="1097280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모두 '지금 가장 좋은 것 고르기'이지만,</a:t>
            </a:r>
          </a:p>
          <a:p>
            <a:pPr algn="l" eaLnBrk="0" latinLnBrk="0">
              <a:lnSpc>
                <a:spcPct val="105000"/>
              </a:lnSpc>
              <a:buNone/>
            </a:pPr>
            <a:r>
              <a:rPr lang="ko-KR" altLang="en-US" sz="1800" b="0" dirty="0">
                <a:solidFill>
                  <a:srgbClr val="171717"/>
                </a:solidFill>
                <a:latin typeface="Malgun Gothic"/>
                <a:ea typeface="Malgun Gothic"/>
                <a:cs typeface="Malgun Gothic"/>
              </a:rPr>
              <a:t>최적해를 보장하는 문제와 그렇지 않은 문제가 있습니다.</a:t>
            </a:r>
          </a:p>
        </p:txBody>
      </p:sp>
      <p:graphicFrame>
        <p:nvGraphicFramePr>
          <p:cNvPr id="10" name="표 11"/>
          <p:cNvGraphicFramePr>
            <a:graphicFrameLocks noGrp="1"/>
          </p:cNvGraphicFramePr>
          <p:nvPr>
            <p:extLst>
              <p:ext uri="{D42A27DB-BD31-4B8C-83A1-F6EECF244321}">
                <p14:modId xmlns:p14="http://schemas.microsoft.com/office/powerpoint/2010/main" val="1742608454"/>
              </p:ext>
            </p:extLst>
          </p:nvPr>
        </p:nvGraphicFramePr>
        <p:xfrm>
          <a:off x="612648" y="2359152"/>
          <a:ext cx="10972800" cy="2880360"/>
        </p:xfrm>
        <a:graphic>
          <a:graphicData uri="http://schemas.openxmlformats.org/drawingml/2006/table">
            <a:tbl>
              <a:tblPr/>
              <a:tblGrid>
                <a:gridCol w="936702">
                  <a:extLst>
                    <a:ext uri="{9D8B030D-6E8A-4147-A177-3AD203B41FA5}">
                      <a16:colId xmlns:a16="http://schemas.microsoft.com/office/drawing/2014/main" val="20000"/>
                    </a:ext>
                  </a:extLst>
                </a:gridCol>
                <a:gridCol w="3479180">
                  <a:extLst>
                    <a:ext uri="{9D8B030D-6E8A-4147-A177-3AD203B41FA5}">
                      <a16:colId xmlns:a16="http://schemas.microsoft.com/office/drawing/2014/main" val="20001"/>
                    </a:ext>
                  </a:extLst>
                </a:gridCol>
                <a:gridCol w="4415883">
                  <a:extLst>
                    <a:ext uri="{9D8B030D-6E8A-4147-A177-3AD203B41FA5}">
                      <a16:colId xmlns:a16="http://schemas.microsoft.com/office/drawing/2014/main" val="20002"/>
                    </a:ext>
                  </a:extLst>
                </a:gridCol>
                <a:gridCol w="2141034">
                  <a:extLst>
                    <a:ext uri="{9D8B030D-6E8A-4147-A177-3AD203B41FA5}">
                      <a16:colId xmlns:a16="http://schemas.microsoft.com/office/drawing/2014/main" val="20003"/>
                    </a:ext>
                  </a:extLst>
                </a:gridCol>
              </a:tblGrid>
              <a:tr h="320040">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절</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문제</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매 단계의 선택</a:t>
                      </a:r>
                    </a:p>
                  </a:txBody>
                  <a:tcPr marL="54864" marR="54864" marT="18288" marB="18288" anchor="ctr">
                    <a:solidFill>
                      <a:srgbClr val="151515"/>
                    </a:solidFill>
                  </a:tcPr>
                </a:tc>
                <a:tc>
                  <a:txBody>
                    <a:bodyPr/>
                    <a:lstStyle/>
                    <a:p>
                      <a:pPr algn="ctr" eaLnBrk="0" latinLnBrk="0">
                        <a:lnSpc>
                          <a:spcPct val="100000"/>
                        </a:lnSpc>
                        <a:buNone/>
                      </a:pPr>
                      <a:r>
                        <a:rPr lang="ko-KR" altLang="en-US" sz="1450" b="1" dirty="0">
                          <a:solidFill>
                            <a:srgbClr val="FFFFFF"/>
                          </a:solidFill>
                          <a:latin typeface="Malgun Gothic"/>
                          <a:ea typeface="Malgun Gothic"/>
                          <a:cs typeface="Malgun Gothic"/>
                        </a:rPr>
                        <a:t>최적해</a:t>
                      </a:r>
                    </a:p>
                  </a:txBody>
                  <a:tcPr marL="54864" marR="54864" marT="18288" marB="18288" anchor="ctr">
                    <a:solidFill>
                      <a:srgbClr val="151515"/>
                    </a:solidFill>
                  </a:tcPr>
                </a:tc>
                <a:extLst>
                  <a:ext uri="{0D108BD9-81ED-4DB2-BD59-A6C34878D82A}">
                    <a16:rowId xmlns:a16="http://schemas.microsoft.com/office/drawing/2014/main" val="10000"/>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5.2</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거스름돈 (500·100·50·10원)</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큰 동전</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extLst>
                  <a:ext uri="{0D108BD9-81ED-4DB2-BD59-A6C34878D82A}">
                    <a16:rowId xmlns:a16="http://schemas.microsoft.com/office/drawing/2014/main" val="10001"/>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5.2</a:t>
                      </a:r>
                    </a:p>
                  </a:txBody>
                  <a:tcPr marL="54864" marR="54864" marT="18288" marB="18288" anchor="ctr">
                    <a:solidFill>
                      <a:srgbClr val="FFFFFF"/>
                    </a:solidFill>
                  </a:tcPr>
                </a:tc>
                <a:tc>
                  <a:txBody>
                    <a:bodyPr/>
                    <a:lstStyle/>
                    <a:p>
                      <a:pPr algn="ctr" eaLnBrk="0" latinLnBrk="0">
                        <a:lnSpc>
                          <a:spcPct val="100000"/>
                        </a:lnSpc>
                        <a:buNone/>
                      </a:pPr>
                      <a:r>
                        <a:rPr lang="ko-KR" altLang="en-US" sz="1450" b="0">
                          <a:solidFill>
                            <a:srgbClr val="151515"/>
                          </a:solidFill>
                          <a:latin typeface="Malgun Gothic"/>
                          <a:ea typeface="Malgun Gothic"/>
                          <a:cs typeface="Malgun Gothic"/>
                        </a:rPr>
                        <a:t>거스름돈 </a:t>
                      </a:r>
                      <a:r>
                        <a:rPr lang="en-US" altLang="ko-KR" sz="1450" b="0">
                          <a:solidFill>
                            <a:srgbClr val="151515"/>
                          </a:solidFill>
                          <a:latin typeface="Malgun Gothic"/>
                          <a:ea typeface="Malgun Gothic"/>
                          <a:cs typeface="Malgun Gothic"/>
                        </a:rPr>
                        <a:t>(1·3·4</a:t>
                      </a:r>
                      <a:r>
                        <a:rPr lang="ko-KR" altLang="en-US" sz="1450" b="0">
                          <a:solidFill>
                            <a:srgbClr val="151515"/>
                          </a:solidFill>
                          <a:latin typeface="Malgun Gothic"/>
                          <a:ea typeface="Malgun Gothic"/>
                          <a:cs typeface="Malgun Gothic"/>
                        </a:rPr>
                        <a:t>원</a:t>
                      </a:r>
                      <a:r>
                        <a:rPr lang="en-US" altLang="ko-KR" sz="1450" b="0">
                          <a:solidFill>
                            <a:srgbClr val="151515"/>
                          </a:solidFill>
                          <a:latin typeface="Malgun Gothic"/>
                          <a:ea typeface="Malgun Gothic"/>
                          <a:cs typeface="Malgun Gothic"/>
                        </a:rPr>
                        <a:t>)</a:t>
                      </a:r>
                      <a:endParaRPr lang="ko-KR" altLang="en-US" sz="1450" b="0" dirty="0">
                        <a:solidFill>
                          <a:srgbClr val="151515"/>
                        </a:solidFill>
                        <a:latin typeface="Malgun Gothic"/>
                        <a:ea typeface="Malgun Gothic"/>
                        <a:cs typeface="Malgun Gothic"/>
                      </a:endParaRP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큰 동전</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B23B3B"/>
                          </a:solidFill>
                          <a:latin typeface="Malgun Gothic"/>
                          <a:ea typeface="Malgun Gothic"/>
                          <a:cs typeface="Malgun Gothic"/>
                        </a:rPr>
                        <a:t>보장 못 함</a:t>
                      </a:r>
                    </a:p>
                  </a:txBody>
                  <a:tcPr marL="54864" marR="54864" marT="18288" marB="18288" anchor="ctr">
                    <a:solidFill>
                      <a:srgbClr val="FFFFFF"/>
                    </a:solidFill>
                  </a:tcPr>
                </a:tc>
                <a:extLst>
                  <a:ext uri="{0D108BD9-81ED-4DB2-BD59-A6C34878D82A}">
                    <a16:rowId xmlns:a16="http://schemas.microsoft.com/office/drawing/2014/main" val="10002"/>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5.3</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활동 선택 (회의 배정)</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가장 먼저 끝나는 회의</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extLst>
                  <a:ext uri="{0D108BD9-81ED-4DB2-BD59-A6C34878D82A}">
                    <a16:rowId xmlns:a16="http://schemas.microsoft.com/office/drawing/2014/main" val="10003"/>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5.4</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분할 배낭 (쪼갤 수 있음)</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무게당 가치가 가장 높은 보물</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extLst>
                  <a:ext uri="{0D108BD9-81ED-4DB2-BD59-A6C34878D82A}">
                    <a16:rowId xmlns:a16="http://schemas.microsoft.com/office/drawing/2014/main" val="10004"/>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5.4</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0/1 배낭 (쪼갤 수 없음)</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무게당 가치가 가장 높은 보물</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B23B3B"/>
                          </a:solidFill>
                          <a:latin typeface="Malgun Gothic"/>
                          <a:ea typeface="Malgun Gothic"/>
                          <a:cs typeface="Malgun Gothic"/>
                        </a:rPr>
                        <a:t>보장 못 함</a:t>
                      </a:r>
                    </a:p>
                  </a:txBody>
                  <a:tcPr marL="54864" marR="54864" marT="18288" marB="18288" anchor="ctr">
                    <a:solidFill>
                      <a:srgbClr val="FFFFFF"/>
                    </a:solidFill>
                  </a:tcPr>
                </a:tc>
                <a:extLst>
                  <a:ext uri="{0D108BD9-81ED-4DB2-BD59-A6C34878D82A}">
                    <a16:rowId xmlns:a16="http://schemas.microsoft.com/office/drawing/2014/main" val="10005"/>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5.6</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최소 신장 트리 (크루스칼)</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사이클을 만들지 않는 가장 싼 간선</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a:t>
                      </a:r>
                    </a:p>
                  </a:txBody>
                  <a:tcPr marL="54864" marR="54864" marT="18288" marB="18288" anchor="ctr">
                    <a:solidFill>
                      <a:srgbClr val="FFFFFF"/>
                    </a:solidFill>
                  </a:tcPr>
                </a:tc>
                <a:extLst>
                  <a:ext uri="{0D108BD9-81ED-4DB2-BD59-A6C34878D82A}">
                    <a16:rowId xmlns:a16="http://schemas.microsoft.com/office/drawing/2014/main" val="10006"/>
                  </a:ext>
                </a:extLst>
              </a:tr>
              <a:tr h="320040">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5.8</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최단 경로 (다익스트라)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450" b="0" dirty="0">
                          <a:solidFill>
                            <a:srgbClr val="151515"/>
                          </a:solidFill>
                          <a:latin typeface="Malgun Gothic"/>
                          <a:ea typeface="Malgun Gothic"/>
                          <a:cs typeface="Malgun Gothic"/>
                        </a:rPr>
                        <a:t>시작점에서 가장 가까운 미확정 정점</a:t>
                      </a:r>
                    </a:p>
                  </a:txBody>
                  <a:tcPr marL="54864" marR="54864" marT="18288" marB="18288" anchor="ctr">
                    <a:solidFill>
                      <a:srgbClr val="FFFFFF"/>
                    </a:solidFill>
                  </a:tcPr>
                </a:tc>
                <a:tc>
                  <a:txBody>
                    <a:bodyPr/>
                    <a:lstStyle/>
                    <a:p>
                      <a:pPr algn="ctr" eaLnBrk="0" latinLnBrk="0">
                        <a:lnSpc>
                          <a:spcPct val="100000"/>
                        </a:lnSpc>
                        <a:buNone/>
                      </a:pPr>
                      <a:r>
                        <a:rPr lang="ko-KR" altLang="en-US" sz="1450" b="1" dirty="0">
                          <a:solidFill>
                            <a:srgbClr val="0E8A7D"/>
                          </a:solidFill>
                          <a:latin typeface="Malgun Gothic"/>
                          <a:ea typeface="Malgun Gothic"/>
                          <a:cs typeface="Malgun Gothic"/>
                        </a:rPr>
                        <a:t>보장 (간선 비용 ≥ 0)</a:t>
                      </a:r>
                    </a:p>
                  </a:txBody>
                  <a:tcPr marL="54864" marR="54864" marT="18288" marB="18288" anchor="ctr">
                    <a:solidFill>
                      <a:srgbClr val="FFFFFF"/>
                    </a:solidFill>
                  </a:tcPr>
                </a:tc>
                <a:extLst>
                  <a:ext uri="{0D108BD9-81ED-4DB2-BD59-A6C34878D82A}">
                    <a16:rowId xmlns:a16="http://schemas.microsoft.com/office/drawing/2014/main" val="10008"/>
                  </a:ext>
                </a:extLst>
              </a:tr>
            </a:tbl>
          </a:graphicData>
        </a:graphic>
      </p:graphicFrame>
      <p:sp>
        <p:nvSpPr>
          <p:cNvPr id="11" name="fit:2e10945fcf72214a 12"/>
          <p:cNvSpPr/>
          <p:nvPr/>
        </p:nvSpPr>
        <p:spPr>
          <a:xfrm>
            <a:off x="612648" y="5385816"/>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왜 어떤 문제에서는 통하고 어떤 문제에서는 통하지 않는지는 5.5절에서 두 조건으로 정리합니다.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손님에게 1,260원을 거슬러 줍니다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7</a:t>
            </a:r>
            <a:endParaRPr lang="ko-KR" altLang="en-US" sz="1050" b="0" dirty="0">
              <a:solidFill>
                <a:srgbClr val="606060"/>
              </a:solidFill>
              <a:latin typeface="Malgun Gothic"/>
              <a:ea typeface="Malgun Gothic"/>
              <a:cs typeface="Malgun Gothic"/>
            </a:endParaRPr>
          </a:p>
        </p:txBody>
      </p:sp>
      <p:sp>
        <p:nvSpPr>
          <p:cNvPr id="9" name="fit:e2f521d0ebac7a65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동전은 500원, 100원, 50원, 10원</a:t>
            </a:r>
          </a:p>
          <a:p>
            <a:pPr algn="l" eaLnBrk="0" latinLnBrk="0">
              <a:lnSpc>
                <a:spcPct val="105000"/>
              </a:lnSpc>
              <a:buNone/>
            </a:pPr>
            <a:r>
              <a:rPr lang="ko-KR" altLang="en-US" sz="1800" b="0" dirty="0">
                <a:solidFill>
                  <a:srgbClr val="171717"/>
                </a:solidFill>
                <a:latin typeface="Malgun Gothic"/>
                <a:ea typeface="Malgun Gothic"/>
                <a:cs typeface="Malgun Gothic"/>
              </a:rPr>
              <a:t>네 종류가 충분히 있습니다.</a:t>
            </a:r>
          </a:p>
        </p:txBody>
      </p:sp>
      <p:sp>
        <p:nvSpPr>
          <p:cNvPr id="10" name="fit:84e9d36e0d096130 11"/>
          <p:cNvSpPr/>
          <p:nvPr/>
        </p:nvSpPr>
        <p:spPr>
          <a:xfrm>
            <a:off x="658368" y="2459736"/>
            <a:ext cx="512064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목표: 동전 개수를 최소로</a:t>
            </a:r>
          </a:p>
        </p:txBody>
      </p:sp>
      <p:sp>
        <p:nvSpPr>
          <p:cNvPr id="11" name="fit:5604429b6d64656b 12"/>
          <p:cNvSpPr/>
          <p:nvPr/>
        </p:nvSpPr>
        <p:spPr>
          <a:xfrm>
            <a:off x="658368" y="2944368"/>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그리디의 기준</a:t>
            </a:r>
          </a:p>
        </p:txBody>
      </p:sp>
      <p:sp>
        <p:nvSpPr>
          <p:cNvPr id="12" name="fit:1ef3e4624d9a65e2 13"/>
          <p:cNvSpPr/>
          <p:nvPr/>
        </p:nvSpPr>
        <p:spPr>
          <a:xfrm>
            <a:off x="841248" y="3264408"/>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남은 돈 이하의 가장 큰 동전부터 고릅니다.</a:t>
            </a:r>
          </a:p>
        </p:txBody>
      </p:sp>
      <p:sp>
        <p:nvSpPr>
          <p:cNvPr id="13" name="fit:1097b25e1a4fd204 14"/>
          <p:cNvSpPr/>
          <p:nvPr/>
        </p:nvSpPr>
        <p:spPr>
          <a:xfrm>
            <a:off x="658368" y="3639312"/>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한 번에 몫만큼</a:t>
            </a:r>
          </a:p>
        </p:txBody>
      </p:sp>
      <p:sp>
        <p:nvSpPr>
          <p:cNvPr id="14" name="fit:7e6d7cbdd0aea1c9 15"/>
          <p:cNvSpPr/>
          <p:nvPr/>
        </p:nvSpPr>
        <p:spPr>
          <a:xfrm>
            <a:off x="841248" y="3959352"/>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그 동전으로 낼 수 있는 만큼 한꺼번에 냅니다.</a:t>
            </a:r>
          </a:p>
        </p:txBody>
      </p:sp>
      <p:sp>
        <p:nvSpPr>
          <p:cNvPr id="15" name="fit:0003d07ee85dd478 16"/>
          <p:cNvSpPr/>
          <p:nvPr/>
        </p:nvSpPr>
        <p:spPr>
          <a:xfrm>
            <a:off x="658368" y="4334256"/>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나머지로 반복</a:t>
            </a:r>
          </a:p>
        </p:txBody>
      </p:sp>
      <p:sp>
        <p:nvSpPr>
          <p:cNvPr id="16" name="fit:35d5aa4420cc19bc 17"/>
          <p:cNvSpPr/>
          <p:nvPr/>
        </p:nvSpPr>
        <p:spPr>
          <a:xfrm>
            <a:off x="841248" y="4654296"/>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남은 돈으로 다음 큰 동전을 봅니다.</a:t>
            </a:r>
          </a:p>
        </p:txBody>
      </p:sp>
      <p:pic>
        <p:nvPicPr>
          <p:cNvPr id="17" name="그림 18"/>
          <p:cNvPicPr>
            <a:picLocks noChangeAspect="1"/>
          </p:cNvPicPr>
          <p:nvPr/>
        </p:nvPicPr>
        <p:blipFill>
          <a:blip r:embed="rId3"/>
          <a:stretch>
            <a:fillRect/>
          </a:stretch>
        </p:blipFill>
        <p:spPr>
          <a:xfrm>
            <a:off x="6126480" y="2441899"/>
            <a:ext cx="5458968" cy="2980042"/>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만화의 점원도 가장 큰 500원부터 집습니다.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몫과 나머지로 한 번에 셉니다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8</a:t>
            </a:r>
            <a:endParaRPr lang="ko-KR" altLang="en-US" sz="1050" b="0" dirty="0">
              <a:solidFill>
                <a:srgbClr val="606060"/>
              </a:solidFill>
              <a:latin typeface="Malgun Gothic"/>
              <a:ea typeface="Malgun Gothic"/>
              <a:cs typeface="Malgun Gothic"/>
            </a:endParaRPr>
          </a:p>
        </p:txBody>
      </p:sp>
      <p:sp>
        <p:nvSpPr>
          <p:cNvPr id="9" name="fit:71820f144b37717f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500원을 하나씩 빼지 않습니다.</a:t>
            </a:r>
          </a:p>
          <a:p>
            <a:pPr algn="l" eaLnBrk="0" latinLnBrk="0">
              <a:lnSpc>
                <a:spcPct val="105000"/>
              </a:lnSpc>
              <a:buNone/>
            </a:pPr>
            <a:r>
              <a:rPr lang="ko-KR" altLang="en-US" sz="2025" b="0" dirty="0">
                <a:solidFill>
                  <a:srgbClr val="171717"/>
                </a:solidFill>
                <a:latin typeface="Malgun Gothic"/>
                <a:ea typeface="Malgun Gothic"/>
                <a:cs typeface="Malgun Gothic"/>
              </a:rPr>
              <a:t>나눗셈 한 번으로 쓸 개수와 남은 돈을 함께 구합니다.</a:t>
            </a:r>
          </a:p>
        </p:txBody>
      </p:sp>
      <p:graphicFrame>
        <p:nvGraphicFramePr>
          <p:cNvPr id="10" name="표 11"/>
          <p:cNvGraphicFramePr>
            <a:graphicFrameLocks noGrp="1"/>
          </p:cNvGraphicFramePr>
          <p:nvPr>
            <p:extLst>
              <p:ext uri="{D42A27DB-BD31-4B8C-83A1-F6EECF244321}">
                <p14:modId xmlns:p14="http://schemas.microsoft.com/office/powerpoint/2010/main" val="823042777"/>
              </p:ext>
            </p:extLst>
          </p:nvPr>
        </p:nvGraphicFramePr>
        <p:xfrm>
          <a:off x="612648" y="2432304"/>
          <a:ext cx="10972800" cy="1097280"/>
        </p:xfrm>
        <a:graphic>
          <a:graphicData uri="http://schemas.openxmlformats.org/drawingml/2006/table">
            <a:tbl>
              <a:tblPr/>
              <a:tblGrid>
                <a:gridCol w="3012141">
                  <a:extLst>
                    <a:ext uri="{9D8B030D-6E8A-4147-A177-3AD203B41FA5}">
                      <a16:colId xmlns:a16="http://schemas.microsoft.com/office/drawing/2014/main" val="20000"/>
                    </a:ext>
                  </a:extLst>
                </a:gridCol>
                <a:gridCol w="5593976">
                  <a:extLst>
                    <a:ext uri="{9D8B030D-6E8A-4147-A177-3AD203B41FA5}">
                      <a16:colId xmlns:a16="http://schemas.microsoft.com/office/drawing/2014/main" val="20001"/>
                    </a:ext>
                  </a:extLst>
                </a:gridCol>
                <a:gridCol w="2366682">
                  <a:extLst>
                    <a:ext uri="{9D8B030D-6E8A-4147-A177-3AD203B41FA5}">
                      <a16:colId xmlns:a16="http://schemas.microsoft.com/office/drawing/2014/main" val="20002"/>
                    </a:ext>
                  </a:extLst>
                </a:gridCol>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식 (Python)</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뜻</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1,260원에서</a:t>
                      </a:r>
                    </a:p>
                  </a:txBody>
                  <a:tcPr marL="54864" marR="54864" marT="18288" marB="18288" anchor="ctr">
                    <a:solidFill>
                      <a:srgbClr val="151515"/>
                    </a:solidFill>
                  </a:tcPr>
                </a:tc>
                <a:extLst>
                  <a:ext uri="{0D108BD9-81ED-4DB2-BD59-A6C34878D82A}">
                    <a16:rowId xmlns:a16="http://schemas.microsoft.com/office/drawing/2014/main" val="10000"/>
                  </a:ext>
                </a:extLst>
              </a:tr>
              <a:tr h="365760">
                <a:tc>
                  <a:txBody>
                    <a:bodyPr/>
                    <a:lstStyle/>
                    <a:p>
                      <a:pPr algn="ctr" eaLnBrk="0" latinLnBrk="0">
                        <a:lnSpc>
                          <a:spcPct val="100000"/>
                        </a:lnSpc>
                        <a:buNone/>
                      </a:pPr>
                      <a:r>
                        <a:rPr lang="ko-KR" altLang="en-US" sz="1650" b="0" dirty="0">
                          <a:solidFill>
                            <a:srgbClr val="151515"/>
                          </a:solidFill>
                          <a:latin typeface="Consolas"/>
                          <a:ea typeface="Consolas"/>
                          <a:cs typeface="Consolas"/>
                        </a:rPr>
                        <a:t>1260 // 500</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몫: 500원을 몇 개 쓰는가</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Malgun Gothic"/>
                          <a:ea typeface="Malgun Gothic"/>
                          <a:cs typeface="Malgun Gothic"/>
                        </a:rPr>
                        <a:t>2</a:t>
                      </a:r>
                    </a:p>
                  </a:txBody>
                  <a:tcPr marL="54864" marR="54864" marT="18288" marB="18288" anchor="ctr">
                    <a:solidFill>
                      <a:srgbClr val="FFFFFF"/>
                    </a:solidFill>
                  </a:tcPr>
                </a:tc>
                <a:extLst>
                  <a:ext uri="{0D108BD9-81ED-4DB2-BD59-A6C34878D82A}">
                    <a16:rowId xmlns:a16="http://schemas.microsoft.com/office/drawing/2014/main" val="10001"/>
                  </a:ext>
                </a:extLst>
              </a:tr>
              <a:tr h="365760">
                <a:tc>
                  <a:txBody>
                    <a:bodyPr/>
                    <a:lstStyle/>
                    <a:p>
                      <a:pPr algn="ctr" eaLnBrk="0" latinLnBrk="0">
                        <a:lnSpc>
                          <a:spcPct val="100000"/>
                        </a:lnSpc>
                        <a:buNone/>
                      </a:pPr>
                      <a:r>
                        <a:rPr lang="ko-KR" altLang="en-US" sz="1650" b="0" dirty="0">
                          <a:solidFill>
                            <a:srgbClr val="151515"/>
                          </a:solidFill>
                          <a:latin typeface="Consolas"/>
                          <a:ea typeface="Consolas"/>
                          <a:cs typeface="Consolas"/>
                        </a:rPr>
                        <a:t>1260 % 500</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나머지: 다음 동전으로 넘기는 돈</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Malgun Gothic"/>
                          <a:ea typeface="Malgun Gothic"/>
                          <a:cs typeface="Malgun Gothic"/>
                        </a:rPr>
                        <a:t>260</a:t>
                      </a:r>
                    </a:p>
                  </a:txBody>
                  <a:tcPr marL="54864" marR="54864" marT="18288" marB="18288" anchor="ctr">
                    <a:solidFill>
                      <a:srgbClr val="FFFFFF"/>
                    </a:solidFill>
                  </a:tcPr>
                </a:tc>
                <a:extLst>
                  <a:ext uri="{0D108BD9-81ED-4DB2-BD59-A6C34878D82A}">
                    <a16:rowId xmlns:a16="http://schemas.microsoft.com/office/drawing/2014/main" val="10002"/>
                  </a:ext>
                </a:extLst>
              </a:tr>
            </a:tbl>
          </a:graphicData>
        </a:graphic>
      </p:graphicFrame>
      <p:sp>
        <p:nvSpPr>
          <p:cNvPr id="11" name="fit:3d52983d0c6ad268 12"/>
          <p:cNvSpPr/>
          <p:nvPr/>
        </p:nvSpPr>
        <p:spPr>
          <a:xfrm>
            <a:off x="612648" y="367588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1260 ÷ 500 = 2.52처럼 소수로 보지 않습니다. 500원 2개를 쓰고 260원이 남습니다.</a:t>
            </a:r>
          </a:p>
        </p:txBody>
      </p:sp>
      <p:graphicFrame>
        <p:nvGraphicFramePr>
          <p:cNvPr id="12" name="표 13"/>
          <p:cNvGraphicFramePr>
            <a:graphicFrameLocks noGrp="1"/>
          </p:cNvGraphicFramePr>
          <p:nvPr>
            <p:extLst>
              <p:ext uri="{D42A27DB-BD31-4B8C-83A1-F6EECF244321}">
                <p14:modId xmlns:p14="http://schemas.microsoft.com/office/powerpoint/2010/main" val="3437933037"/>
              </p:ext>
            </p:extLst>
          </p:nvPr>
        </p:nvGraphicFramePr>
        <p:xfrm>
          <a:off x="612648" y="4078224"/>
          <a:ext cx="10972800" cy="1463040"/>
        </p:xfrm>
        <a:graphic>
          <a:graphicData uri="http://schemas.openxmlformats.org/drawingml/2006/table">
            <a:tbl>
              <a:tblPr/>
              <a:tblGrid>
                <a:gridCol w="3012141">
                  <a:extLst>
                    <a:ext uri="{9D8B030D-6E8A-4147-A177-3AD203B41FA5}">
                      <a16:colId xmlns:a16="http://schemas.microsoft.com/office/drawing/2014/main" val="20000"/>
                    </a:ext>
                  </a:extLst>
                </a:gridCol>
                <a:gridCol w="7960659">
                  <a:extLst>
                    <a:ext uri="{9D8B030D-6E8A-4147-A177-3AD203B41FA5}">
                      <a16:colId xmlns:a16="http://schemas.microsoft.com/office/drawing/2014/main" val="20001"/>
                    </a:ext>
                  </a:extLst>
                </a:gridCol>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그리디의 세 단계</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거스름돈에서</a:t>
                      </a:r>
                    </a:p>
                  </a:txBody>
                  <a:tcPr marL="54864" marR="54864" marT="18288" marB="18288" anchor="ctr">
                    <a:solidFill>
                      <a:srgbClr val="151515"/>
                    </a:solidFill>
                  </a:tcPr>
                </a:tc>
                <a:extLst>
                  <a:ext uri="{0D108BD9-81ED-4DB2-BD59-A6C34878D82A}">
                    <a16:rowId xmlns:a16="http://schemas.microsoft.com/office/drawing/2014/main" val="10000"/>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남은 돈 이하의 가장 큰 동전</a:t>
                      </a:r>
                    </a:p>
                  </a:txBody>
                  <a:tcPr marL="54864" marR="54864" marT="18288" marB="18288" anchor="ctr">
                    <a:solidFill>
                      <a:srgbClr val="FFFFFF"/>
                    </a:solidFill>
                  </a:tcPr>
                </a:tc>
                <a:extLst>
                  <a:ext uri="{0D108BD9-81ED-4DB2-BD59-A6C34878D82A}">
                    <a16:rowId xmlns:a16="http://schemas.microsoft.com/office/drawing/2014/main" val="10001"/>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② 적정성 검사</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몫만큼 써도 남은 돈을 넘지 않는다</a:t>
                      </a:r>
                    </a:p>
                  </a:txBody>
                  <a:tcPr marL="54864" marR="54864" marT="18288" marB="18288" anchor="ctr">
                    <a:solidFill>
                      <a:srgbClr val="FFFFFF"/>
                    </a:solidFill>
                  </a:tcPr>
                </a:tc>
                <a:extLst>
                  <a:ext uri="{0D108BD9-81ED-4DB2-BD59-A6C34878D82A}">
                    <a16:rowId xmlns:a16="http://schemas.microsoft.com/office/drawing/2014/main" val="10002"/>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남은 돈이 0원이면 끝</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500원 · 1,260원에서 2개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9</a:t>
            </a:r>
            <a:endParaRPr lang="ko-KR" altLang="en-US" sz="1050" b="0" dirty="0">
              <a:solidFill>
                <a:srgbClr val="606060"/>
              </a:solidFill>
              <a:latin typeface="Malgun Gothic"/>
              <a:ea typeface="Malgun Gothic"/>
              <a:cs typeface="Malgun Gothic"/>
            </a:endParaRPr>
          </a:p>
        </p:txBody>
      </p:sp>
      <p:sp>
        <p:nvSpPr>
          <p:cNvPr id="9" name="fit:4958b5df74709a4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1,260원 이하의 가장 큰 동전은 500원입니다.</a:t>
            </a:r>
          </a:p>
          <a:p>
            <a:pPr algn="l" eaLnBrk="0" latinLnBrk="0">
              <a:lnSpc>
                <a:spcPct val="100000"/>
              </a:lnSpc>
              <a:buNone/>
            </a:pPr>
            <a:r>
              <a:rPr lang="ko-KR" altLang="en-US" sz="2025" b="0" dirty="0">
                <a:solidFill>
                  <a:srgbClr val="171717"/>
                </a:solidFill>
                <a:latin typeface="Malgun Gothic"/>
                <a:ea typeface="Malgun Gothic"/>
                <a:cs typeface="Malgun Gothic"/>
              </a:rPr>
              <a:t>1260 // 500 = 2, 1260 % 500 = 260</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2622106275"/>
              </p:ext>
            </p:extLst>
          </p:nvPr>
        </p:nvGraphicFramePr>
        <p:xfrm>
          <a:off x="7909560" y="2935224"/>
          <a:ext cx="3666744" cy="1243584"/>
        </p:xfrm>
        <a:graphic>
          <a:graphicData uri="http://schemas.openxmlformats.org/drawingml/2006/table">
            <a:tbl>
              <a:tblPr/>
              <a:tblGrid>
                <a:gridCol w="1264394">
                  <a:extLst>
                    <a:ext uri="{9D8B030D-6E8A-4147-A177-3AD203B41FA5}">
                      <a16:colId xmlns:a16="http://schemas.microsoft.com/office/drawing/2014/main" val="20000"/>
                    </a:ext>
                  </a:extLst>
                </a:gridCol>
                <a:gridCol w="2402350">
                  <a:extLst>
                    <a:ext uri="{9D8B030D-6E8A-4147-A177-3AD203B41FA5}">
                      <a16:colId xmlns:a16="http://schemas.microsoft.com/office/drawing/2014/main" val="20001"/>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500원</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2개 = 1,000원 ≤ 1,260원</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260원 남음 → 계속</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fit:fb3491e724395097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확정한 동전</a:t>
            </a:r>
          </a:p>
        </p:txBody>
      </p:sp>
      <p:sp>
        <p:nvSpPr>
          <p:cNvPr id="13" name="fit:dcde57058ce35796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500원 2개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extLst>
              <p:ext uri="{D42A27DB-BD31-4B8C-83A1-F6EECF244321}">
                <p14:modId xmlns:p14="http://schemas.microsoft.com/office/powerpoint/2010/main" val="1246058811"/>
              </p:ext>
            </p:extLst>
          </p:nvPr>
        </p:nvGraphicFramePr>
        <p:xfrm>
          <a:off x="2103120" y="2651760"/>
          <a:ext cx="438912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500</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6" name="직사각형 17"/>
          <p:cNvSpPr/>
          <p:nvPr/>
        </p:nvSpPr>
        <p:spPr>
          <a:xfrm>
            <a:off x="192024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지금</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extLst>
              <p:ext uri="{D42A27DB-BD31-4B8C-83A1-F6EECF244321}">
                <p14:modId xmlns:p14="http://schemas.microsoft.com/office/powerpoint/2010/main" val="1692686918"/>
              </p:ext>
            </p:extLst>
          </p:nvPr>
        </p:nvGraphicFramePr>
        <p:xfrm>
          <a:off x="2103120" y="3657600"/>
          <a:ext cx="438912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260원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보는 동전    회색: 이미 처리한 동전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a:solidFill>
                  <a:srgbClr val="171717"/>
                </a:solidFill>
                <a:latin typeface="Malgun Gothic"/>
                <a:ea typeface="Malgun Gothic"/>
                <a:cs typeface="Malgun Gothic"/>
              </a:rPr>
              <a:t>계산 결과</a:t>
            </a:r>
            <a:r>
              <a:rPr lang="en-US" altLang="ko-KR" sz="3000" b="1">
                <a:solidFill>
                  <a:srgbClr val="171717"/>
                </a:solidFill>
                <a:latin typeface="Malgun Gothic"/>
                <a:ea typeface="Malgun Gothic"/>
                <a:cs typeface="Malgun Gothic"/>
              </a:rPr>
              <a:t>: </a:t>
            </a:r>
            <a:r>
              <a:rPr lang="ko-KR" altLang="en-US" sz="3000" b="1">
                <a:solidFill>
                  <a:srgbClr val="171717"/>
                </a:solidFill>
                <a:latin typeface="Malgun Gothic"/>
                <a:ea typeface="Malgun Gothic"/>
                <a:cs typeface="Malgun Gothic"/>
              </a:rPr>
              <a:t>남은 돈 </a:t>
            </a:r>
            <a:r>
              <a:rPr lang="en-US" altLang="ko-KR" sz="3000" b="1">
                <a:solidFill>
                  <a:srgbClr val="171717"/>
                </a:solidFill>
                <a:latin typeface="Malgun Gothic"/>
                <a:ea typeface="Malgun Gothic"/>
                <a:cs typeface="Malgun Gothic"/>
              </a:rPr>
              <a:t>0</a:t>
            </a:r>
            <a:r>
              <a:rPr lang="ko-KR" altLang="en-US" sz="3000" b="1">
                <a:solidFill>
                  <a:srgbClr val="171717"/>
                </a:solidFill>
                <a:latin typeface="Malgun Gothic"/>
                <a:ea typeface="Malgun Gothic"/>
                <a:cs typeface="Malgun Gothic"/>
              </a:rPr>
              <a:t>원</a:t>
            </a:r>
            <a:r>
              <a:rPr lang="en-US" altLang="ko-KR" sz="3000" b="1">
                <a:solidFill>
                  <a:srgbClr val="171717"/>
                </a:solidFill>
                <a:latin typeface="Malgun Gothic"/>
                <a:ea typeface="Malgun Gothic"/>
                <a:cs typeface="Malgun Gothic"/>
              </a:rPr>
              <a:t>, </a:t>
            </a:r>
            <a:r>
              <a:rPr lang="ko-KR" altLang="en-US" sz="3000" b="1">
                <a:solidFill>
                  <a:srgbClr val="171717"/>
                </a:solidFill>
                <a:latin typeface="Malgun Gothic"/>
                <a:ea typeface="Malgun Gothic"/>
                <a:cs typeface="Malgun Gothic"/>
              </a:rPr>
              <a:t>모두 </a:t>
            </a:r>
            <a:r>
              <a:rPr lang="en-US" altLang="ko-KR" sz="3000" b="1">
                <a:solidFill>
                  <a:srgbClr val="171717"/>
                </a:solidFill>
                <a:latin typeface="Malgun Gothic"/>
                <a:ea typeface="Malgun Gothic"/>
                <a:cs typeface="Malgun Gothic"/>
              </a:rPr>
              <a:t>6</a:t>
            </a:r>
            <a:r>
              <a:rPr lang="ko-KR" altLang="en-US" sz="3000" b="1">
                <a:solidFill>
                  <a:srgbClr val="171717"/>
                </a:solidFill>
                <a:latin typeface="Malgun Gothic"/>
                <a:ea typeface="Malgun Gothic"/>
                <a:cs typeface="Malgun Gothic"/>
              </a:rPr>
              <a:t>개</a:t>
            </a:r>
            <a:endParaRPr lang="ko-KR" altLang="en-US" sz="3000" b="1" dirty="0">
              <a:solidFill>
                <a:srgbClr val="171717"/>
              </a:solidFill>
              <a:latin typeface="Malgun Gothic"/>
              <a:ea typeface="Malgun Gothic"/>
              <a:cs typeface="Malgun Gothic"/>
            </a:endParaRP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10</a:t>
            </a:r>
            <a:endParaRPr lang="ko-KR" altLang="en-US" sz="1050" b="0" dirty="0">
              <a:solidFill>
                <a:srgbClr val="606060"/>
              </a:solidFill>
              <a:latin typeface="Malgun Gothic"/>
              <a:ea typeface="Malgun Gothic"/>
              <a:cs typeface="Malgun Gothic"/>
            </a:endParaRPr>
          </a:p>
        </p:txBody>
      </p:sp>
      <p:sp>
        <p:nvSpPr>
          <p:cNvPr id="9" name="fit:993f69b127ce3e3c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마지막 10원입니다. 10 // 10 = 1, 10 % 10 = 0</a:t>
            </a:r>
          </a:p>
          <a:p>
            <a:pPr algn="l" eaLnBrk="0" latinLnBrk="0">
              <a:lnSpc>
                <a:spcPct val="100000"/>
              </a:lnSpc>
              <a:buNone/>
            </a:pPr>
            <a:r>
              <a:rPr lang="ko-KR" altLang="en-US" sz="2025" b="0" dirty="0">
                <a:solidFill>
                  <a:srgbClr val="171717"/>
                </a:solidFill>
                <a:latin typeface="Malgun Gothic"/>
                <a:ea typeface="Malgun Gothic"/>
                <a:cs typeface="Malgun Gothic"/>
              </a:rPr>
              <a:t>남은 돈이 0원이 되어 해답이 완성됩니다.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3420594997"/>
              </p:ext>
            </p:extLst>
          </p:nvPr>
        </p:nvGraphicFramePr>
        <p:xfrm>
          <a:off x="7909560" y="2935224"/>
          <a:ext cx="3666744" cy="1243584"/>
        </p:xfrm>
        <a:graphic>
          <a:graphicData uri="http://schemas.openxmlformats.org/drawingml/2006/table">
            <a:tbl>
              <a:tblPr/>
              <a:tblGrid>
                <a:gridCol w="1264394">
                  <a:extLst>
                    <a:ext uri="{9D8B030D-6E8A-4147-A177-3AD203B41FA5}">
                      <a16:colId xmlns:a16="http://schemas.microsoft.com/office/drawing/2014/main" val="20000"/>
                    </a:ext>
                  </a:extLst>
                </a:gridCol>
                <a:gridCol w="2402350">
                  <a:extLst>
                    <a:ext uri="{9D8B030D-6E8A-4147-A177-3AD203B41FA5}">
                      <a16:colId xmlns:a16="http://schemas.microsoft.com/office/drawing/2014/main" val="20001"/>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10원</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1개 = 10원 ≤ 10원</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0원 → 완성</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fit:fb3491e724395097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확정한 동전</a:t>
            </a:r>
          </a:p>
        </p:txBody>
      </p:sp>
      <p:sp>
        <p:nvSpPr>
          <p:cNvPr id="13" name="fit:01167c2cc1b2577d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2 + 2 + 1 + 1 = 6개</a:t>
            </a:r>
          </a:p>
        </p:txBody>
      </p:sp>
      <p:sp>
        <p:nvSpPr>
          <p:cNvPr id="14" name="fit:17cbfa7f204eb63e 15"/>
          <p:cNvSpPr/>
          <p:nvPr/>
        </p:nvSpPr>
        <p:spPr>
          <a:xfrm>
            <a:off x="7909560" y="5084064"/>
            <a:ext cx="3666744" cy="484632"/>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이 6개가 최소인 이유는</a:t>
            </a:r>
          </a:p>
          <a:p>
            <a:pPr algn="l" eaLnBrk="0" latinLnBrk="0">
              <a:lnSpc>
                <a:spcPct val="100000"/>
              </a:lnSpc>
              <a:buNone/>
            </a:pPr>
            <a:r>
              <a:rPr lang="ko-KR" altLang="en-US" sz="1450" b="0" dirty="0">
                <a:solidFill>
                  <a:srgbClr val="3F3F3F"/>
                </a:solidFill>
                <a:latin typeface="Malgun Gothic"/>
                <a:ea typeface="Malgun Gothic"/>
                <a:cs typeface="Malgun Gothic"/>
              </a:rPr>
              <a:t>뒤의 배수 조건에서 봅니다.</a:t>
            </a:r>
          </a:p>
        </p:txBody>
      </p:sp>
      <p:sp>
        <p:nvSpPr>
          <p:cNvPr id="15" name="직사각형 16"/>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6" name="표 17"/>
          <p:cNvGraphicFramePr>
            <a:graphicFrameLocks noGrp="1"/>
          </p:cNvGraphicFramePr>
          <p:nvPr>
            <p:extLst>
              <p:ext uri="{D42A27DB-BD31-4B8C-83A1-F6EECF244321}">
                <p14:modId xmlns:p14="http://schemas.microsoft.com/office/powerpoint/2010/main" val="2225890120"/>
              </p:ext>
            </p:extLst>
          </p:nvPr>
        </p:nvGraphicFramePr>
        <p:xfrm>
          <a:off x="2103120" y="2651760"/>
          <a:ext cx="438912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500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100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50</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DCECFB"/>
                    </a:solidFill>
                  </a:tcPr>
                </a:tc>
                <a:extLst>
                  <a:ext uri="{0D108BD9-81ED-4DB2-BD59-A6C34878D82A}">
                    <a16:rowId xmlns:a16="http://schemas.microsoft.com/office/drawing/2014/main" val="10000"/>
                  </a:ext>
                </a:extLst>
              </a:tr>
            </a:tbl>
          </a:graphicData>
        </a:graphic>
      </p:graphicFrame>
      <p:sp>
        <p:nvSpPr>
          <p:cNvPr id="17" name="직사각형 18"/>
          <p:cNvSpPr/>
          <p:nvPr/>
        </p:nvSpPr>
        <p:spPr>
          <a:xfrm>
            <a:off x="521208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지금</a:t>
            </a:r>
          </a:p>
        </p:txBody>
      </p:sp>
      <p:sp>
        <p:nvSpPr>
          <p:cNvPr id="18" name="직사각형 19"/>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9" name="표 20"/>
          <p:cNvGraphicFramePr>
            <a:graphicFrameLocks noGrp="1"/>
          </p:cNvGraphicFramePr>
          <p:nvPr>
            <p:extLst>
              <p:ext uri="{D42A27DB-BD31-4B8C-83A1-F6EECF244321}">
                <p14:modId xmlns:p14="http://schemas.microsoft.com/office/powerpoint/2010/main" val="524052983"/>
              </p:ext>
            </p:extLst>
          </p:nvPr>
        </p:nvGraphicFramePr>
        <p:xfrm>
          <a:off x="2103120" y="3657600"/>
          <a:ext cx="438912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93776">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2</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777777"/>
                          </a:solidFill>
                          <a:latin typeface="Consolas"/>
                          <a:ea typeface="Consolas"/>
                          <a:cs typeface="Consolas"/>
                        </a:rPr>
                        <a:t>1</a:t>
                      </a:r>
                    </a:p>
                  </a:txBody>
                  <a:tcPr marL="54864" marR="54864" marT="18288" marB="18288" anchor="ctr">
                    <a:solidFill>
                      <a:srgbClr val="F8F8F8"/>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extLst>
                  <a:ext uri="{0D108BD9-81ED-4DB2-BD59-A6C34878D82A}">
                    <a16:rowId xmlns:a16="http://schemas.microsoft.com/office/drawing/2014/main" val="10000"/>
                  </a:ext>
                </a:extLst>
              </a:tr>
            </a:tbl>
          </a:graphicData>
        </a:graphic>
      </p:graphicFrame>
      <p:sp>
        <p:nvSpPr>
          <p:cNvPr id="20" name="직사각형 21"/>
          <p:cNvSpPr/>
          <p:nvPr/>
        </p:nvSpPr>
        <p:spPr>
          <a:xfrm>
            <a:off x="2103120" y="4480560"/>
            <a:ext cx="274320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0원</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보는 동전    회색: 이미 처리한 동전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복잡도: 금액이 아니라 동전 종류 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11</a:t>
            </a:r>
            <a:endParaRPr lang="ko-KR" altLang="en-US" sz="1050" b="0" dirty="0">
              <a:solidFill>
                <a:srgbClr val="606060"/>
              </a:solidFill>
              <a:latin typeface="Malgun Gothic"/>
              <a:ea typeface="Malgun Gothic"/>
              <a:cs typeface="Malgun Gothic"/>
            </a:endParaRPr>
          </a:p>
        </p:txBody>
      </p:sp>
      <p:sp>
        <p:nvSpPr>
          <p:cNvPr id="9" name="fit:ed165bd5a9006da3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K = 동전 종류의 수. 지금은 500, 100, 50, 10원이라 K = 4입니다.</a:t>
            </a:r>
          </a:p>
        </p:txBody>
      </p:sp>
      <p:graphicFrame>
        <p:nvGraphicFramePr>
          <p:cNvPr id="10" name="표 11"/>
          <p:cNvGraphicFramePr>
            <a:graphicFrameLocks noGrp="1"/>
          </p:cNvGraphicFramePr>
          <p:nvPr>
            <p:extLst>
              <p:ext uri="{D42A27DB-BD31-4B8C-83A1-F6EECF244321}">
                <p14:modId xmlns:p14="http://schemas.microsoft.com/office/powerpoint/2010/main" val="2567776519"/>
              </p:ext>
            </p:extLst>
          </p:nvPr>
        </p:nvGraphicFramePr>
        <p:xfrm>
          <a:off x="612648" y="2103120"/>
          <a:ext cx="10972800" cy="1097280"/>
        </p:xfrm>
        <a:graphic>
          <a:graphicData uri="http://schemas.openxmlformats.org/drawingml/2006/table">
            <a:tbl>
              <a:tblPr/>
              <a:tblGrid>
                <a:gridCol w="3135086">
                  <a:extLst>
                    <a:ext uri="{9D8B030D-6E8A-4147-A177-3AD203B41FA5}">
                      <a16:colId xmlns:a16="http://schemas.microsoft.com/office/drawing/2014/main" val="20000"/>
                    </a:ext>
                  </a:extLst>
                </a:gridCol>
                <a:gridCol w="3918857">
                  <a:extLst>
                    <a:ext uri="{9D8B030D-6E8A-4147-A177-3AD203B41FA5}">
                      <a16:colId xmlns:a16="http://schemas.microsoft.com/office/drawing/2014/main" val="20001"/>
                    </a:ext>
                  </a:extLst>
                </a:gridCol>
                <a:gridCol w="3918857">
                  <a:extLst>
                    <a:ext uri="{9D8B030D-6E8A-4147-A177-3AD203B41FA5}">
                      <a16:colId xmlns:a16="http://schemas.microsoft.com/office/drawing/2014/main" val="20002"/>
                    </a:ext>
                  </a:extLst>
                </a:gridCol>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거슬러 줄 돈</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몫과 나머지: 반복 횟수</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하나씩 빼기: 빼는 횟수</a:t>
                      </a:r>
                    </a:p>
                  </a:txBody>
                  <a:tcPr marL="54864" marR="54864" marT="18288" marB="18288" anchor="ctr">
                    <a:solidFill>
                      <a:srgbClr val="151515"/>
                    </a:solidFill>
                  </a:tcPr>
                </a:tc>
                <a:extLst>
                  <a:ext uri="{0D108BD9-81ED-4DB2-BD59-A6C34878D82A}">
                    <a16:rowId xmlns:a16="http://schemas.microsoft.com/office/drawing/2014/main" val="10000"/>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1,260원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4번</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6번</a:t>
                      </a:r>
                    </a:p>
                  </a:txBody>
                  <a:tcPr marL="54864" marR="54864" marT="18288" marB="18288" anchor="ctr">
                    <a:solidFill>
                      <a:srgbClr val="FFFFFF"/>
                    </a:solidFill>
                  </a:tcPr>
                </a:tc>
                <a:extLst>
                  <a:ext uri="{0D108BD9-81ED-4DB2-BD59-A6C34878D82A}">
                    <a16:rowId xmlns:a16="http://schemas.microsoft.com/office/drawing/2014/main" val="10001"/>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1,260,000원</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0E8A7D"/>
                          </a:solidFill>
                          <a:latin typeface="Malgun Gothic"/>
                          <a:ea typeface="Malgun Gothic"/>
                          <a:cs typeface="Malgun Gothic"/>
                        </a:rPr>
                        <a:t>4번</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B23B3B"/>
                          </a:solidFill>
                          <a:latin typeface="Malgun Gothic"/>
                          <a:ea typeface="Malgun Gothic"/>
                          <a:cs typeface="Malgun Gothic"/>
                        </a:rPr>
                        <a:t>2,520번</a:t>
                      </a:r>
                    </a:p>
                  </a:txBody>
                  <a:tcPr marL="54864" marR="54864" marT="18288" marB="18288" anchor="ctr">
                    <a:solidFill>
                      <a:srgbClr val="FFFFFF"/>
                    </a:solidFill>
                  </a:tcPr>
                </a:tc>
                <a:extLst>
                  <a:ext uri="{0D108BD9-81ED-4DB2-BD59-A6C34878D82A}">
                    <a16:rowId xmlns:a16="http://schemas.microsoft.com/office/drawing/2014/main" val="10002"/>
                  </a:ext>
                </a:extLst>
              </a:tr>
            </a:tbl>
          </a:graphicData>
        </a:graphic>
      </p:graphicFrame>
      <p:sp>
        <p:nvSpPr>
          <p:cNvPr id="11" name="fit:016293f2f0d68da8 12"/>
          <p:cNvSpPr/>
          <p:nvPr/>
        </p:nvSpPr>
        <p:spPr>
          <a:xfrm>
            <a:off x="612648" y="33467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반복 한 번: 몫과 나머지 한 번씩 → O(1)</a:t>
            </a:r>
          </a:p>
        </p:txBody>
      </p:sp>
      <p:sp>
        <p:nvSpPr>
          <p:cNvPr id="12" name="fit:39d52ade6b2bdc1d 13"/>
          <p:cNvSpPr/>
          <p:nvPr/>
        </p:nvSpPr>
        <p:spPr>
          <a:xfrm>
            <a:off x="795528" y="36758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금액이 커도 나눗셈 한 번이면 개수가 나옵니다.</a:t>
            </a:r>
          </a:p>
        </p:txBody>
      </p:sp>
      <p:sp>
        <p:nvSpPr>
          <p:cNvPr id="13" name="fit:be20a7262c44ba2a 14"/>
          <p:cNvSpPr/>
          <p:nvPr/>
        </p:nvSpPr>
        <p:spPr>
          <a:xfrm>
            <a:off x="612648" y="405993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전체: K × O(1) = O(K)</a:t>
            </a:r>
          </a:p>
        </p:txBody>
      </p:sp>
      <p:sp>
        <p:nvSpPr>
          <p:cNvPr id="14" name="fit:a3ae631dead1a338 15"/>
          <p:cNvSpPr/>
          <p:nvPr/>
        </p:nvSpPr>
        <p:spPr>
          <a:xfrm>
            <a:off x="795528" y="438912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목록이 이미 큰 단위부터 적혀 있을 때입니다. 정렬부터 해야 하면 O(K log K)가 더해집니다.</a:t>
            </a:r>
          </a:p>
        </p:txBody>
      </p:sp>
      <p:sp>
        <p:nvSpPr>
          <p:cNvPr id="15" name="fit:1433d2fd79867e62 16"/>
          <p:cNvSpPr/>
          <p:nvPr/>
        </p:nvSpPr>
        <p:spPr>
          <a:xfrm>
            <a:off x="612648" y="477316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하나씩 빼는 방법은 반복 횟수가 금액에 비례해서 늘어납니다.</a:t>
            </a:r>
          </a:p>
        </p:txBody>
      </p:sp>
      <p:sp>
        <p:nvSpPr>
          <p:cNvPr id="16" name="fit:defe730fb20def5b 17"/>
          <p:cNvSpPr/>
          <p:nvPr/>
        </p:nvSpPr>
        <p:spPr>
          <a:xfrm>
            <a:off x="612648" y="51755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동전 종류가 고정이면 K는 상수이므로 O(1)이라고도 씁니다.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큰 동전부터가 최적인가: 배수 조건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12</a:t>
            </a:r>
            <a:endParaRPr lang="ko-KR" altLang="en-US" sz="1050" b="0" dirty="0">
              <a:solidFill>
                <a:srgbClr val="606060"/>
              </a:solidFill>
              <a:latin typeface="Malgun Gothic"/>
              <a:ea typeface="Malgun Gothic"/>
              <a:cs typeface="Malgun Gothic"/>
            </a:endParaRPr>
          </a:p>
        </p:txBody>
      </p:sp>
      <p:sp>
        <p:nvSpPr>
          <p:cNvPr id="9" name="fit:1492bf713976cd19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한국 동전은 큰 단위가 바로 아래 단위의 배수입니다.</a:t>
            </a:r>
          </a:p>
        </p:txBody>
      </p:sp>
      <p:graphicFrame>
        <p:nvGraphicFramePr>
          <p:cNvPr id="10" name="표 11"/>
          <p:cNvGraphicFramePr>
            <a:graphicFrameLocks noGrp="1"/>
          </p:cNvGraphicFramePr>
          <p:nvPr>
            <p:extLst>
              <p:ext uri="{D42A27DB-BD31-4B8C-83A1-F6EECF244321}">
                <p14:modId xmlns:p14="http://schemas.microsoft.com/office/powerpoint/2010/main" val="2422402915"/>
              </p:ext>
            </p:extLst>
          </p:nvPr>
        </p:nvGraphicFramePr>
        <p:xfrm>
          <a:off x="612648" y="2103120"/>
          <a:ext cx="10972800" cy="1463040"/>
        </p:xfrm>
        <a:graphic>
          <a:graphicData uri="http://schemas.openxmlformats.org/drawingml/2006/table">
            <a:tbl>
              <a:tblPr/>
              <a:tblGrid>
                <a:gridCol w="2887579">
                  <a:extLst>
                    <a:ext uri="{9D8B030D-6E8A-4147-A177-3AD203B41FA5}">
                      <a16:colId xmlns:a16="http://schemas.microsoft.com/office/drawing/2014/main" val="20000"/>
                    </a:ext>
                  </a:extLst>
                </a:gridCol>
                <a:gridCol w="4620126">
                  <a:extLst>
                    <a:ext uri="{9D8B030D-6E8A-4147-A177-3AD203B41FA5}">
                      <a16:colId xmlns:a16="http://schemas.microsoft.com/office/drawing/2014/main" val="20001"/>
                    </a:ext>
                  </a:extLst>
                </a:gridCol>
                <a:gridCol w="3465095">
                  <a:extLst>
                    <a:ext uri="{9D8B030D-6E8A-4147-A177-3AD203B41FA5}">
                      <a16:colId xmlns:a16="http://schemas.microsoft.com/office/drawing/2014/main" val="20002"/>
                    </a:ext>
                  </a:extLst>
                </a:gridCol>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큰 동전 1개</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같은 금액의 작은 동전</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개수</a:t>
                      </a:r>
                    </a:p>
                  </a:txBody>
                  <a:tcPr marL="54864" marR="54864" marT="18288" marB="18288" anchor="ctr">
                    <a:solidFill>
                      <a:srgbClr val="151515"/>
                    </a:solidFill>
                  </a:tcPr>
                </a:tc>
                <a:extLst>
                  <a:ext uri="{0D108BD9-81ED-4DB2-BD59-A6C34878D82A}">
                    <a16:rowId xmlns:a16="http://schemas.microsoft.com/office/drawing/2014/main" val="10000"/>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500원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100원 5개</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1개 ↔ 5개</a:t>
                      </a:r>
                    </a:p>
                  </a:txBody>
                  <a:tcPr marL="54864" marR="54864" marT="18288" marB="18288" anchor="ctr">
                    <a:solidFill>
                      <a:srgbClr val="FFFFFF"/>
                    </a:solidFill>
                  </a:tcPr>
                </a:tc>
                <a:extLst>
                  <a:ext uri="{0D108BD9-81ED-4DB2-BD59-A6C34878D82A}">
                    <a16:rowId xmlns:a16="http://schemas.microsoft.com/office/drawing/2014/main" val="10001"/>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100원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50원 2개</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1개 ↔ 2개</a:t>
                      </a:r>
                    </a:p>
                  </a:txBody>
                  <a:tcPr marL="54864" marR="54864" marT="18288" marB="18288" anchor="ctr">
                    <a:solidFill>
                      <a:srgbClr val="FFFFFF"/>
                    </a:solidFill>
                  </a:tcPr>
                </a:tc>
                <a:extLst>
                  <a:ext uri="{0D108BD9-81ED-4DB2-BD59-A6C34878D82A}">
                    <a16:rowId xmlns:a16="http://schemas.microsoft.com/office/drawing/2014/main" val="10002"/>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50원</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10원 5개</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1개 ↔ 5개</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fit:97727c44b8173175 12"/>
          <p:cNvSpPr/>
          <p:nvPr/>
        </p:nvSpPr>
        <p:spPr>
          <a:xfrm>
            <a:off x="612648" y="371246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작은 동전이 쌓이면 큰 동전 하나로 바꿀 수 있습니다</a:t>
            </a:r>
          </a:p>
        </p:txBody>
      </p:sp>
      <p:sp>
        <p:nvSpPr>
          <p:cNvPr id="12" name="fit:ac95b49e6419672c 13"/>
          <p:cNvSpPr/>
          <p:nvPr/>
        </p:nvSpPr>
        <p:spPr>
          <a:xfrm>
            <a:off x="795528" y="404164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100원 5개를 500원 1개로 바꾸면 금액은 같고 개수는 5개에서 1개로 줄어듭니다.</a:t>
            </a:r>
          </a:p>
        </p:txBody>
      </p:sp>
      <p:sp>
        <p:nvSpPr>
          <p:cNvPr id="13" name="fit:611f1ddab462b0f2 14"/>
          <p:cNvSpPr/>
          <p:nvPr/>
        </p:nvSpPr>
        <p:spPr>
          <a:xfrm>
            <a:off x="612648" y="442569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그래서 큰 동전을 덜 쓰면 개수만 늘어납니다</a:t>
            </a:r>
          </a:p>
        </p:txBody>
      </p:sp>
      <p:sp>
        <p:nvSpPr>
          <p:cNvPr id="14" name="fit:fef6a95363235da1 15"/>
          <p:cNvSpPr/>
          <p:nvPr/>
        </p:nvSpPr>
        <p:spPr>
          <a:xfrm>
            <a:off x="795528" y="475488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큰 동전을 낼 수 있는 만큼 쓰는 그리디의 선택이 손해가 되지 않습니다.</a:t>
            </a:r>
          </a:p>
        </p:txBody>
      </p:sp>
      <p:sp>
        <p:nvSpPr>
          <p:cNvPr id="15" name="fit:24107074819060c8 16"/>
          <p:cNvSpPr/>
          <p:nvPr/>
        </p:nvSpPr>
        <p:spPr>
          <a:xfrm>
            <a:off x="612648" y="5138928"/>
            <a:ext cx="1097280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배수 조건이면 그리디가 최적입니다(충분조건).</a:t>
            </a:r>
          </a:p>
        </p:txBody>
      </p:sp>
      <p:sp>
        <p:nvSpPr>
          <p:cNvPr id="16" name="fit:a9030218f2518541 17"/>
          <p:cNvSpPr/>
          <p:nvPr/>
        </p:nvSpPr>
        <p:spPr>
          <a:xfrm>
            <a:off x="612648" y="5623560"/>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배수 조건이 깨지면 이 보장이 사라집니다.</a:t>
            </a:r>
          </a:p>
          <a:p>
            <a:pPr algn="l" eaLnBrk="0" latinLnBrk="0">
              <a:lnSpc>
                <a:spcPct val="100000"/>
              </a:lnSpc>
              <a:buNone/>
            </a:pPr>
            <a:r>
              <a:rPr lang="ko-KR" altLang="en-US" sz="1650" b="0" dirty="0">
                <a:solidFill>
                  <a:srgbClr val="3F3F3F"/>
                </a:solidFill>
                <a:latin typeface="Malgun Gothic"/>
                <a:ea typeface="Malgun Gothic"/>
                <a:cs typeface="Malgun Gothic"/>
              </a:rPr>
              <a:t>늘 틀린다는 뜻이 아니라 틀리는 입력이 생길 수 있다는 뜻입니다.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동전 1, 3, 4원으로 6원 · 시작</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13</a:t>
            </a:r>
            <a:endParaRPr lang="ko-KR" altLang="en-US" sz="1050" b="0" dirty="0">
              <a:solidFill>
                <a:srgbClr val="606060"/>
              </a:solidFill>
              <a:latin typeface="Malgun Gothic"/>
              <a:ea typeface="Malgun Gothic"/>
              <a:cs typeface="Malgun Gothic"/>
            </a:endParaRPr>
          </a:p>
        </p:txBody>
      </p:sp>
      <p:sp>
        <p:nvSpPr>
          <p:cNvPr id="9" name="fit:552997b3bd5482b0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주장: "남은 돈 이하의 가장 큰 동전을 하나씩</a:t>
            </a:r>
          </a:p>
          <a:p>
            <a:pPr algn="l" eaLnBrk="0" latinLnBrk="0">
              <a:lnSpc>
                <a:spcPct val="100000"/>
              </a:lnSpc>
              <a:buNone/>
            </a:pPr>
            <a:r>
              <a:rPr lang="ko-KR" altLang="en-US" sz="2025" b="0" dirty="0">
                <a:solidFill>
                  <a:srgbClr val="171717"/>
                </a:solidFill>
                <a:latin typeface="Malgun Gothic"/>
                <a:ea typeface="Malgun Gothic"/>
                <a:cs typeface="Malgun Gothic"/>
              </a:rPr>
              <a:t>고르면 어떤 화폐 체계에서도 개수가 최소다."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096e52d265b86aa7 12"/>
          <p:cNvSpPr/>
          <p:nvPr/>
        </p:nvSpPr>
        <p:spPr>
          <a:xfrm>
            <a:off x="7909560" y="2935224"/>
            <a:ext cx="3666744"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600" b="0" dirty="0">
                <a:solidFill>
                  <a:srgbClr val="171717"/>
                </a:solidFill>
                <a:latin typeface="Malgun Gothic"/>
                <a:ea typeface="Malgun Gothic"/>
                <a:cs typeface="Malgun Gothic"/>
              </a:rPr>
              <a:t>문제 조건</a:t>
            </a:r>
          </a:p>
        </p:txBody>
      </p:sp>
      <p:sp>
        <p:nvSpPr>
          <p:cNvPr id="12" name="fit:337aa7ebda1698e7 13"/>
          <p:cNvSpPr/>
          <p:nvPr/>
        </p:nvSpPr>
        <p:spPr>
          <a:xfrm>
            <a:off x="7909560" y="3264408"/>
            <a:ext cx="3666744"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동전: 1원, 3원, 4원</a:t>
            </a:r>
          </a:p>
          <a:p>
            <a:pPr algn="l" eaLnBrk="0" latinLnBrk="0">
              <a:lnSpc>
                <a:spcPct val="105000"/>
              </a:lnSpc>
              <a:buNone/>
            </a:pPr>
            <a:r>
              <a:rPr lang="ko-KR" altLang="en-US" sz="1500" b="0" dirty="0">
                <a:solidFill>
                  <a:srgbClr val="171717"/>
                </a:solidFill>
                <a:latin typeface="Malgun Gothic"/>
                <a:ea typeface="Malgun Gothic"/>
                <a:cs typeface="Malgun Gothic"/>
              </a:rPr>
              <a:t>(각각 무제한)</a:t>
            </a:r>
          </a:p>
        </p:txBody>
      </p:sp>
      <p:sp>
        <p:nvSpPr>
          <p:cNvPr id="13" name="fit:2d56275e5878da47 14"/>
          <p:cNvSpPr/>
          <p:nvPr/>
        </p:nvSpPr>
        <p:spPr>
          <a:xfrm>
            <a:off x="7909560" y="3840480"/>
            <a:ext cx="3666744"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목표: 정확히 6원을</a:t>
            </a:r>
          </a:p>
          <a:p>
            <a:pPr algn="l" eaLnBrk="0" latinLnBrk="0">
              <a:lnSpc>
                <a:spcPct val="105000"/>
              </a:lnSpc>
              <a:buNone/>
            </a:pPr>
            <a:r>
              <a:rPr lang="ko-KR" altLang="en-US" sz="1500" b="0" dirty="0">
                <a:solidFill>
                  <a:srgbClr val="171717"/>
                </a:solidFill>
                <a:latin typeface="Malgun Gothic"/>
                <a:ea typeface="Malgun Gothic"/>
                <a:cs typeface="Malgun Gothic"/>
              </a:rPr>
              <a:t>가장 적은 개수로</a:t>
            </a:r>
          </a:p>
        </p:txBody>
      </p:sp>
      <p:sp>
        <p:nvSpPr>
          <p:cNvPr id="14" name="fit:68b9524b4b65fb84 15"/>
          <p:cNvSpPr/>
          <p:nvPr/>
        </p:nvSpPr>
        <p:spPr>
          <a:xfrm>
            <a:off x="7909560" y="4416552"/>
            <a:ext cx="3666744" cy="740664"/>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 남은 돈 이하의</a:t>
            </a:r>
          </a:p>
          <a:p>
            <a:pPr algn="l" eaLnBrk="0" latinLnBrk="0">
              <a:lnSpc>
                <a:spcPct val="105000"/>
              </a:lnSpc>
              <a:buNone/>
            </a:pPr>
            <a:r>
              <a:rPr lang="ko-KR" altLang="en-US" sz="1500" b="0" dirty="0">
                <a:solidFill>
                  <a:srgbClr val="171717"/>
                </a:solidFill>
                <a:latin typeface="Malgun Gothic"/>
                <a:ea typeface="Malgun Gothic"/>
                <a:cs typeface="Malgun Gothic"/>
              </a:rPr>
              <a:t>가장 큰 동전 하나를 고르고</a:t>
            </a:r>
          </a:p>
          <a:p>
            <a:pPr algn="l" eaLnBrk="0" latinLnBrk="0">
              <a:lnSpc>
                <a:spcPct val="105000"/>
              </a:lnSpc>
              <a:buNone/>
            </a:pPr>
            <a:r>
              <a:rPr lang="ko-KR" altLang="en-US" sz="1500" b="0" dirty="0">
                <a:solidFill>
                  <a:srgbClr val="171717"/>
                </a:solidFill>
                <a:latin typeface="Malgun Gothic"/>
                <a:ea typeface="Malgun Gothic"/>
                <a:cs typeface="Malgun Gothic"/>
              </a:rPr>
              <a:t>0원이 될 때까지 반복</a:t>
            </a:r>
          </a:p>
        </p:txBody>
      </p:sp>
      <p:sp>
        <p:nvSpPr>
          <p:cNvPr id="15" name="fit:4934355d2f2135e9 16"/>
          <p:cNvSpPr/>
          <p:nvPr/>
        </p:nvSpPr>
        <p:spPr>
          <a:xfrm>
            <a:off x="7909560" y="5230368"/>
            <a:ext cx="3666744"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이 주장을 반박해 봅시다.</a:t>
            </a:r>
          </a:p>
        </p:txBody>
      </p:sp>
      <p:sp>
        <p:nvSpPr>
          <p:cNvPr id="16" name="직사각형 17"/>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7" name="표 18"/>
          <p:cNvGraphicFramePr>
            <a:graphicFrameLocks noGrp="1"/>
          </p:cNvGraphicFramePr>
          <p:nvPr>
            <p:extLst>
              <p:ext uri="{D42A27DB-BD31-4B8C-83A1-F6EECF244321}">
                <p14:modId xmlns:p14="http://schemas.microsoft.com/office/powerpoint/2010/main" val="2087174182"/>
              </p:ext>
            </p:extLst>
          </p:nvPr>
        </p:nvGraphicFramePr>
        <p:xfrm>
          <a:off x="2103120" y="265176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8" name="직사각형 19"/>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9" name="표 20"/>
          <p:cNvGraphicFramePr>
            <a:graphicFrameLocks noGrp="1"/>
          </p:cNvGraphicFramePr>
          <p:nvPr>
            <p:extLst>
              <p:ext uri="{D42A27DB-BD31-4B8C-83A1-F6EECF244321}">
                <p14:modId xmlns:p14="http://schemas.microsoft.com/office/powerpoint/2010/main" val="508728650"/>
              </p:ext>
            </p:extLst>
          </p:nvPr>
        </p:nvGraphicFramePr>
        <p:xfrm>
          <a:off x="2103120" y="365760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20" name="직사각형 21"/>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6원</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고른 동전    회색: 남은 돈보다 커서 고를 수 없는 동전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4원 · 6원에서 4원 하나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14</a:t>
            </a:r>
            <a:endParaRPr lang="ko-KR" altLang="en-US" sz="1050" b="0" dirty="0">
              <a:solidFill>
                <a:srgbClr val="606060"/>
              </a:solidFill>
              <a:latin typeface="Malgun Gothic"/>
              <a:ea typeface="Malgun Gothic"/>
              <a:cs typeface="Malgun Gothic"/>
            </a:endParaRPr>
          </a:p>
        </p:txBody>
      </p:sp>
      <p:sp>
        <p:nvSpPr>
          <p:cNvPr id="9" name="fit:ff9411f4e50154c2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6원 이하의 가장 큰 동전은 4원입니다.</a:t>
            </a:r>
          </a:p>
          <a:p>
            <a:pPr algn="l" eaLnBrk="0" latinLnBrk="0">
              <a:lnSpc>
                <a:spcPct val="100000"/>
              </a:lnSpc>
              <a:buNone/>
            </a:pPr>
            <a:r>
              <a:rPr lang="ko-KR" altLang="en-US" sz="2025" b="0" dirty="0">
                <a:solidFill>
                  <a:srgbClr val="171717"/>
                </a:solidFill>
                <a:latin typeface="Malgun Gothic"/>
                <a:ea typeface="Malgun Gothic"/>
                <a:cs typeface="Malgun Gothic"/>
              </a:rPr>
              <a:t>4원 하나를 확정합니다. 남은 돈 6 − 4 = 2원.</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3853332708"/>
              </p:ext>
            </p:extLst>
          </p:nvPr>
        </p:nvGraphicFramePr>
        <p:xfrm>
          <a:off x="7909560" y="2935224"/>
          <a:ext cx="3666744" cy="1243584"/>
        </p:xfrm>
        <a:graphic>
          <a:graphicData uri="http://schemas.openxmlformats.org/drawingml/2006/table">
            <a:tbl>
              <a:tblPr/>
              <a:tblGrid>
                <a:gridCol w="1264394">
                  <a:extLst>
                    <a:ext uri="{9D8B030D-6E8A-4147-A177-3AD203B41FA5}">
                      <a16:colId xmlns:a16="http://schemas.microsoft.com/office/drawing/2014/main" val="20000"/>
                    </a:ext>
                  </a:extLst>
                </a:gridCol>
                <a:gridCol w="2402350">
                  <a:extLst>
                    <a:ext uri="{9D8B030D-6E8A-4147-A177-3AD203B41FA5}">
                      <a16:colId xmlns:a16="http://schemas.microsoft.com/office/drawing/2014/main" val="20001"/>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이번 판단</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4원</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② 적정성</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4원 ≤ 6원</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2원 남음 → 계속</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fit:4c6f7534279b1c0f 13"/>
          <p:cNvSpPr/>
          <p:nvPr/>
        </p:nvSpPr>
        <p:spPr>
          <a:xfrm>
            <a:off x="7909560" y="432511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지금까지 고른 동전</a:t>
            </a:r>
          </a:p>
        </p:txBody>
      </p:sp>
      <p:sp>
        <p:nvSpPr>
          <p:cNvPr id="13" name="fit:16dbdc46a9138a14 14"/>
          <p:cNvSpPr/>
          <p:nvPr/>
        </p:nvSpPr>
        <p:spPr>
          <a:xfrm>
            <a:off x="7909560" y="462686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4원 (1개)</a:t>
            </a:r>
          </a:p>
        </p:txBody>
      </p:sp>
      <p:sp>
        <p:nvSpPr>
          <p:cNvPr id="14" name="직사각형 15"/>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5" name="표 16"/>
          <p:cNvGraphicFramePr>
            <a:graphicFrameLocks noGrp="1"/>
          </p:cNvGraphicFramePr>
          <p:nvPr>
            <p:extLst>
              <p:ext uri="{D42A27DB-BD31-4B8C-83A1-F6EECF244321}">
                <p14:modId xmlns:p14="http://schemas.microsoft.com/office/powerpoint/2010/main" val="878394371"/>
              </p:ext>
            </p:extLst>
          </p:nvPr>
        </p:nvGraphicFramePr>
        <p:xfrm>
          <a:off x="2103120" y="265176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6" name="직사각형 17"/>
          <p:cNvSpPr/>
          <p:nvPr/>
        </p:nvSpPr>
        <p:spPr>
          <a:xfrm>
            <a:off x="1920240" y="3182112"/>
            <a:ext cx="146304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D5A8A"/>
                </a:solidFill>
                <a:latin typeface="Malgun Gothic"/>
                <a:ea typeface="Malgun Gothic"/>
                <a:cs typeface="Malgun Gothic"/>
              </a:rPr>
              <a:t>↑ 선택</a:t>
            </a:r>
          </a:p>
        </p:txBody>
      </p:sp>
      <p:sp>
        <p:nvSpPr>
          <p:cNvPr id="17" name="직사각형 18"/>
          <p:cNvSpPr/>
          <p:nvPr/>
        </p:nvSpPr>
        <p:spPr>
          <a:xfrm>
            <a:off x="731520" y="376732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사용 개수</a:t>
            </a:r>
          </a:p>
        </p:txBody>
      </p:sp>
      <p:graphicFrame>
        <p:nvGraphicFramePr>
          <p:cNvPr id="18" name="표 19"/>
          <p:cNvGraphicFramePr>
            <a:graphicFrameLocks noGrp="1"/>
          </p:cNvGraphicFramePr>
          <p:nvPr>
            <p:extLst>
              <p:ext uri="{D42A27DB-BD31-4B8C-83A1-F6EECF244321}">
                <p14:modId xmlns:p14="http://schemas.microsoft.com/office/powerpoint/2010/main" val="917957633"/>
              </p:ext>
            </p:extLst>
          </p:nvPr>
        </p:nvGraphicFramePr>
        <p:xfrm>
          <a:off x="2103120" y="365760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9" name="직사각형 20"/>
          <p:cNvSpPr/>
          <p:nvPr/>
        </p:nvSpPr>
        <p:spPr>
          <a:xfrm>
            <a:off x="2103120" y="4480560"/>
            <a:ext cx="274320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남은 돈 2원</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지금 고른 동전    회색: 남은 돈보다 커서 고를 수 없는 동전</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최적: 3 + 3 = 2개 · 반례 완성</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15</a:t>
            </a:r>
            <a:endParaRPr lang="ko-KR" altLang="en-US" sz="1050" b="0" dirty="0">
              <a:solidFill>
                <a:srgbClr val="606060"/>
              </a:solidFill>
              <a:latin typeface="Malgun Gothic"/>
              <a:ea typeface="Malgun Gothic"/>
              <a:cs typeface="Malgun Gothic"/>
            </a:endParaRPr>
          </a:p>
        </p:txBody>
      </p:sp>
      <p:sp>
        <p:nvSpPr>
          <p:cNvPr id="9" name="fit:9f202ccc10ff4b1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4원을 쓰지 않으면 3원 두 개로 6원이 됩니다.</a:t>
            </a:r>
          </a:p>
          <a:p>
            <a:pPr algn="l" eaLnBrk="0" latinLnBrk="0">
              <a:lnSpc>
                <a:spcPct val="100000"/>
              </a:lnSpc>
              <a:buNone/>
            </a:pPr>
            <a:r>
              <a:rPr lang="ko-KR" altLang="en-US" sz="2025" b="0" dirty="0">
                <a:solidFill>
                  <a:srgbClr val="171717"/>
                </a:solidFill>
                <a:latin typeface="Malgun Gothic"/>
                <a:ea typeface="Malgun Gothic"/>
                <a:cs typeface="Malgun Gothic"/>
              </a:rPr>
              <a:t>2개 &lt; 3개, 그리디의 답은 최소가 아닙니다.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2bd628b5c356df4f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 4 + 1 + 1 = 6원 → 3개</a:t>
            </a:r>
          </a:p>
        </p:txBody>
      </p:sp>
      <p:sp>
        <p:nvSpPr>
          <p:cNvPr id="12" name="fit:cd3e3232e0462c11 13"/>
          <p:cNvSpPr/>
          <p:nvPr/>
        </p:nvSpPr>
        <p:spPr>
          <a:xfrm>
            <a:off x="7909560" y="325526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최적: 3 + 3 = 6원 → 2개</a:t>
            </a:r>
          </a:p>
        </p:txBody>
      </p:sp>
      <p:sp>
        <p:nvSpPr>
          <p:cNvPr id="13" name="fit:8e36c26210bb968d 14"/>
          <p:cNvSpPr/>
          <p:nvPr/>
        </p:nvSpPr>
        <p:spPr>
          <a:xfrm>
            <a:off x="7909560" y="3648456"/>
            <a:ext cx="3666744" cy="649224"/>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이 입력 하나로</a:t>
            </a:r>
          </a:p>
          <a:p>
            <a:pPr algn="l" eaLnBrk="0" latinLnBrk="0">
              <a:lnSpc>
                <a:spcPct val="100000"/>
              </a:lnSpc>
              <a:buNone/>
            </a:pPr>
            <a:r>
              <a:rPr lang="ko-KR" altLang="en-US" sz="2000" b="1" dirty="0">
                <a:solidFill>
                  <a:srgbClr val="0E8A7D"/>
                </a:solidFill>
                <a:latin typeface="Malgun Gothic"/>
                <a:ea typeface="Malgun Gothic"/>
                <a:cs typeface="Malgun Gothic"/>
              </a:rPr>
              <a:t>주장이 깨집니다.</a:t>
            </a:r>
          </a:p>
        </p:txBody>
      </p:sp>
      <p:sp>
        <p:nvSpPr>
          <p:cNvPr id="14" name="fit:6d2ca5b7d8ec75a0 15"/>
          <p:cNvSpPr/>
          <p:nvPr/>
        </p:nvSpPr>
        <p:spPr>
          <a:xfrm>
            <a:off x="7909560" y="4407408"/>
            <a:ext cx="3666744" cy="704088"/>
          </a:xfrm>
          <a:prstGeom prst="rect">
            <a:avLst/>
          </a:prstGeom>
          <a:noFill/>
          <a:ln w="0">
            <a:noFill/>
          </a:ln>
        </p:spPr>
        <p:txBody>
          <a:bodyPr wrap="square" lIns="0" tIns="0" rIns="0" bIns="0" anchor="t">
            <a:noAutofit/>
          </a:bodyPr>
          <a:lstStyle/>
          <a:p>
            <a:pPr algn="l" eaLnBrk="0" latinLnBrk="0">
              <a:lnSpc>
                <a:spcPct val="100000"/>
              </a:lnSpc>
              <a:buNone/>
            </a:pPr>
            <a:r>
              <a:rPr lang="ko-KR" altLang="en-US" sz="1450" b="0" dirty="0">
                <a:solidFill>
                  <a:srgbClr val="3F3F3F"/>
                </a:solidFill>
                <a:latin typeface="Malgun Gothic"/>
                <a:ea typeface="Malgun Gothic"/>
                <a:cs typeface="Malgun Gothic"/>
              </a:rPr>
              <a:t>반박에 쓸 것:</a:t>
            </a:r>
          </a:p>
          <a:p>
            <a:pPr algn="l" eaLnBrk="0" latinLnBrk="0">
              <a:lnSpc>
                <a:spcPct val="100000"/>
              </a:lnSpc>
              <a:buNone/>
            </a:pPr>
            <a:r>
              <a:rPr lang="ko-KR" altLang="en-US" sz="1450" b="0" dirty="0">
                <a:solidFill>
                  <a:srgbClr val="3F3F3F"/>
                </a:solidFill>
                <a:latin typeface="Malgun Gothic"/>
                <a:ea typeface="Malgun Gothic"/>
                <a:cs typeface="Malgun Gothic"/>
              </a:rPr>
              <a:t>그리디의 결과, 더 좋은 해,</a:t>
            </a:r>
          </a:p>
          <a:p>
            <a:pPr algn="l" eaLnBrk="0" latinLnBrk="0">
              <a:lnSpc>
                <a:spcPct val="100000"/>
              </a:lnSpc>
              <a:buNone/>
            </a:pPr>
            <a:r>
              <a:rPr lang="ko-KR" altLang="en-US" sz="1450" b="0" dirty="0">
                <a:solidFill>
                  <a:srgbClr val="3F3F3F"/>
                </a:solidFill>
                <a:latin typeface="Malgun Gothic"/>
                <a:ea typeface="Malgun Gothic"/>
                <a:cs typeface="Malgun Gothic"/>
              </a:rPr>
              <a:t>두 개수의 비교</a:t>
            </a:r>
          </a:p>
        </p:txBody>
      </p:sp>
      <p:sp>
        <p:nvSpPr>
          <p:cNvPr id="15" name="직사각형 16"/>
          <p:cNvSpPr/>
          <p:nvPr/>
        </p:nvSpPr>
        <p:spPr>
          <a:xfrm>
            <a:off x="73152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6" name="표 17"/>
          <p:cNvGraphicFramePr>
            <a:graphicFrameLocks noGrp="1"/>
          </p:cNvGraphicFramePr>
          <p:nvPr>
            <p:extLst>
              <p:ext uri="{D42A27DB-BD31-4B8C-83A1-F6EECF244321}">
                <p14:modId xmlns:p14="http://schemas.microsoft.com/office/powerpoint/2010/main" val="1919973724"/>
              </p:ext>
            </p:extLst>
          </p:nvPr>
        </p:nvGraphicFramePr>
        <p:xfrm>
          <a:off x="2103120" y="265176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4</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7" name="직사각형 18"/>
          <p:cNvSpPr/>
          <p:nvPr/>
        </p:nvSpPr>
        <p:spPr>
          <a:xfrm>
            <a:off x="731520" y="358444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그리디</a:t>
            </a:r>
          </a:p>
        </p:txBody>
      </p:sp>
      <p:graphicFrame>
        <p:nvGraphicFramePr>
          <p:cNvPr id="18" name="표 19"/>
          <p:cNvGraphicFramePr>
            <a:graphicFrameLocks noGrp="1"/>
          </p:cNvGraphicFramePr>
          <p:nvPr>
            <p:extLst>
              <p:ext uri="{D42A27DB-BD31-4B8C-83A1-F6EECF244321}">
                <p14:modId xmlns:p14="http://schemas.microsoft.com/office/powerpoint/2010/main" val="2263695171"/>
              </p:ext>
            </p:extLst>
          </p:nvPr>
        </p:nvGraphicFramePr>
        <p:xfrm>
          <a:off x="2103120" y="347472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extLst>
                  <a:ext uri="{0D108BD9-81ED-4DB2-BD59-A6C34878D82A}">
                    <a16:rowId xmlns:a16="http://schemas.microsoft.com/office/drawing/2014/main" val="10000"/>
                  </a:ext>
                </a:extLst>
              </a:tr>
            </a:tbl>
          </a:graphicData>
        </a:graphic>
      </p:graphicFrame>
      <p:sp>
        <p:nvSpPr>
          <p:cNvPr id="19" name="직사각형 20"/>
          <p:cNvSpPr/>
          <p:nvPr/>
        </p:nvSpPr>
        <p:spPr>
          <a:xfrm>
            <a:off x="731520" y="431596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최적</a:t>
            </a:r>
          </a:p>
        </p:txBody>
      </p:sp>
      <p:graphicFrame>
        <p:nvGraphicFramePr>
          <p:cNvPr id="20" name="표 21"/>
          <p:cNvGraphicFramePr>
            <a:graphicFrameLocks noGrp="1"/>
          </p:cNvGraphicFramePr>
          <p:nvPr>
            <p:extLst>
              <p:ext uri="{D42A27DB-BD31-4B8C-83A1-F6EECF244321}">
                <p14:modId xmlns:p14="http://schemas.microsoft.com/office/powerpoint/2010/main" val="3531542730"/>
              </p:ext>
            </p:extLst>
          </p:nvPr>
        </p:nvGraphicFramePr>
        <p:xfrm>
          <a:off x="2103120" y="4206240"/>
          <a:ext cx="3291840" cy="493776"/>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DF1E4"/>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21" name="직사각형 22"/>
          <p:cNvSpPr/>
          <p:nvPr/>
        </p:nvSpPr>
        <p:spPr>
          <a:xfrm>
            <a:off x="2103120" y="5029200"/>
            <a:ext cx="3291840" cy="512064"/>
          </a:xfrm>
          <a:prstGeom prst="rect">
            <a:avLst/>
          </a:prstGeom>
          <a:solidFill>
            <a:srgbClr val="F2F2F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그리디 3개  vs  최적 2개</a:t>
            </a:r>
          </a:p>
        </p:txBody>
      </p:sp>
      <p:sp>
        <p:nvSpPr>
          <p:cNvPr id="22" name="직사각형 2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그리디가 쓴 동전    초록: 최적해가 쓴 동전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'항상 최적'은 반례 하나로 반박합니다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16</a:t>
            </a:r>
            <a:endParaRPr lang="ko-KR" altLang="en-US" sz="1050" b="0" dirty="0">
              <a:solidFill>
                <a:srgbClr val="606060"/>
              </a:solidFill>
              <a:latin typeface="Malgun Gothic"/>
              <a:ea typeface="Malgun Gothic"/>
              <a:cs typeface="Malgun Gothic"/>
            </a:endParaRPr>
          </a:p>
        </p:txBody>
      </p:sp>
      <p:sp>
        <p:nvSpPr>
          <p:cNvPr id="9" name="fit:b2c4801e27ecd068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'항상 최적이다'라는 주장은 맞지 않는 입력이 하나만 있어도 거짓입니다.</a:t>
            </a:r>
          </a:p>
        </p:txBody>
      </p:sp>
      <p:sp>
        <p:nvSpPr>
          <p:cNvPr id="10" name="fit:49204ef7aae12440 11"/>
          <p:cNvSpPr/>
          <p:nvPr/>
        </p:nvSpPr>
        <p:spPr>
          <a:xfrm>
            <a:off x="612648" y="210312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문제의 조건을 지키는 입력</a:t>
            </a:r>
          </a:p>
        </p:txBody>
      </p:sp>
      <p:sp>
        <p:nvSpPr>
          <p:cNvPr id="11" name="fit:e0ec687ec3a24a2f 12"/>
          <p:cNvSpPr/>
          <p:nvPr/>
        </p:nvSpPr>
        <p:spPr>
          <a:xfrm>
            <a:off x="795528" y="2432304"/>
            <a:ext cx="1078992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동전 1, 3, 4원과 금액 6원은 문제가 허용하는 입력입니다.</a:t>
            </a:r>
          </a:p>
          <a:p>
            <a:pPr algn="l" eaLnBrk="0" latinLnBrk="0">
              <a:lnSpc>
                <a:spcPct val="105000"/>
              </a:lnSpc>
              <a:buNone/>
            </a:pPr>
            <a:r>
              <a:rPr lang="ko-KR" altLang="en-US" sz="1575" b="0" dirty="0">
                <a:solidFill>
                  <a:srgbClr val="3F3F3F"/>
                </a:solidFill>
                <a:latin typeface="Malgun Gothic"/>
                <a:ea typeface="Malgun Gothic"/>
                <a:cs typeface="Malgun Gothic"/>
              </a:rPr>
              <a:t>조건을 어긴 입력에서 틀리는 것은 반박이 아닙니다.</a:t>
            </a:r>
          </a:p>
        </p:txBody>
      </p:sp>
      <p:sp>
        <p:nvSpPr>
          <p:cNvPr id="12" name="fit:15d21c8f84211bda 13"/>
          <p:cNvSpPr/>
          <p:nvPr/>
        </p:nvSpPr>
        <p:spPr>
          <a:xfrm>
            <a:off x="612648" y="307238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그리디의 결과보다 더 좋은 해</a:t>
            </a:r>
          </a:p>
        </p:txBody>
      </p:sp>
      <p:sp>
        <p:nvSpPr>
          <p:cNvPr id="13" name="fit:fa19ec826b694c64 14"/>
          <p:cNvSpPr/>
          <p:nvPr/>
        </p:nvSpPr>
        <p:spPr>
          <a:xfrm>
            <a:off x="795528" y="340156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그리디 3개보다 적은 2개를 보였습니다. 그리디와 개수가 같은 다른 해는 반례가 아닙니다.</a:t>
            </a:r>
          </a:p>
        </p:txBody>
      </p:sp>
      <p:sp>
        <p:nvSpPr>
          <p:cNvPr id="14" name="fit:d77ebfedef7a0f21 15"/>
          <p:cNvSpPr/>
          <p:nvPr/>
        </p:nvSpPr>
        <p:spPr>
          <a:xfrm>
            <a:off x="612648" y="378561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하나면 충분</a:t>
            </a:r>
          </a:p>
        </p:txBody>
      </p:sp>
      <p:sp>
        <p:nvSpPr>
          <p:cNvPr id="15" name="fit:3ccd95addf2b5173 16"/>
          <p:cNvSpPr/>
          <p:nvPr/>
        </p:nvSpPr>
        <p:spPr>
          <a:xfrm>
            <a:off x="795528" y="411480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반례를 여러 개 모을 필요가 없습니다. 실행이 느린 입력은 최적성의 반례가 아닙니다.</a:t>
            </a:r>
          </a:p>
        </p:txBody>
      </p:sp>
      <p:sp>
        <p:nvSpPr>
          <p:cNvPr id="16" name="fit:75ecdc69fa389ab6 17"/>
          <p:cNvSpPr/>
          <p:nvPr/>
        </p:nvSpPr>
        <p:spPr>
          <a:xfrm>
            <a:off x="612648" y="4498848"/>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반대로, 예제 몇 개에서 맞았다고 '항상 최적'이 증명되지는 않습니다.</a:t>
            </a:r>
          </a:p>
        </p:txBody>
      </p:sp>
      <p:sp>
        <p:nvSpPr>
          <p:cNvPr id="17" name="fit:9017ec8604267c82 18"/>
          <p:cNvSpPr/>
          <p:nvPr/>
        </p:nvSpPr>
        <p:spPr>
          <a:xfrm>
            <a:off x="612648" y="4956048"/>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맞다는 것을 보이는 방법은 5.3절 끝과 5.5절에서 다룹니다.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5.2  거스름돈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coin_count · 1원까지 다섯 종류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17</a:t>
            </a:r>
            <a:endParaRPr lang="ko-KR" altLang="en-US" sz="1050" b="0" dirty="0">
              <a:solidFill>
                <a:srgbClr val="606060"/>
              </a:solidFill>
              <a:latin typeface="Malgun Gothic"/>
              <a:ea typeface="Malgun Gothic"/>
              <a:cs typeface="Malgun Gothic"/>
            </a:endParaRPr>
          </a:p>
        </p:txBody>
      </p:sp>
      <p:sp>
        <p:nvSpPr>
          <p:cNvPr id="9" name="fit:18f567d94dce27a5 10"/>
          <p:cNvSpPr/>
          <p:nvPr/>
        </p:nvSpPr>
        <p:spPr>
          <a:xfrm>
            <a:off x="612648" y="1636776"/>
            <a:ext cx="6766560" cy="969264"/>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coin_count(amount): amount원을 거슬러 줄</a:t>
            </a:r>
          </a:p>
          <a:p>
            <a:pPr algn="l" eaLnBrk="0" latinLnBrk="0">
              <a:lnSpc>
                <a:spcPct val="100000"/>
              </a:lnSpc>
              <a:buNone/>
            </a:pPr>
            <a:r>
              <a:rPr lang="ko-KR" altLang="en-US" sz="2025" b="0" dirty="0">
                <a:solidFill>
                  <a:srgbClr val="171717"/>
                </a:solidFill>
                <a:latin typeface="Malgun Gothic"/>
                <a:ea typeface="Malgun Gothic"/>
                <a:cs typeface="Malgun Gothic"/>
              </a:rPr>
              <a:t>최소 동전 개수를 돌려줍니다. 큰 동전부터</a:t>
            </a:r>
          </a:p>
          <a:p>
            <a:pPr algn="l" eaLnBrk="0" latinLnBrk="0">
              <a:lnSpc>
                <a:spcPct val="100000"/>
              </a:lnSpc>
              <a:buNone/>
            </a:pPr>
            <a:r>
              <a:rPr lang="ko-KR" altLang="en-US" sz="2025" b="0" dirty="0">
                <a:solidFill>
                  <a:srgbClr val="171717"/>
                </a:solidFill>
                <a:latin typeface="Malgun Gothic"/>
                <a:ea typeface="Malgun Gothic"/>
                <a:cs typeface="Malgun Gothic"/>
              </a:rPr>
              <a:t>몫만큼 쓰고 나머지를 다음 동전으로 넘깁니다.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909560" y="2935224"/>
            <a:ext cx="3666744"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coin_count.pseudo</a:t>
            </a:r>
          </a:p>
        </p:txBody>
      </p:sp>
      <p:sp>
        <p:nvSpPr>
          <p:cNvPr id="12" name="직사각형 13"/>
          <p:cNvSpPr/>
          <p:nvPr/>
        </p:nvSpPr>
        <p:spPr>
          <a:xfrm>
            <a:off x="7909560" y="3154680"/>
            <a:ext cx="3666744" cy="1687576"/>
          </a:xfrm>
          <a:prstGeom prst="rect">
            <a:avLst/>
          </a:prstGeom>
          <a:solidFill>
            <a:srgbClr val="171717"/>
          </a:solidFill>
          <a:ln w="0">
            <a:noFill/>
          </a:ln>
        </p:spPr>
        <p:txBody>
          <a:bodyPr wrap="none" lIns="91440" tIns="91440" rIns="91440" bIns="91440" anchor="t">
            <a:noAutofit/>
          </a:bodyPr>
          <a:lstStyle/>
          <a:p>
            <a:pPr algn="l" eaLnBrk="0" latinLnBrk="0">
              <a:lnSpc>
                <a:spcPct val="130000"/>
              </a:lnSpc>
              <a:buNone/>
            </a:pPr>
            <a:r>
              <a:rPr lang="ko-KR" altLang="en-US" sz="1300" b="0" dirty="0">
                <a:solidFill>
                  <a:srgbClr val="FFFFFF"/>
                </a:solidFill>
                <a:latin typeface="Consolas"/>
                <a:ea typeface="Consolas"/>
                <a:cs typeface="Consolas"/>
              </a:rPr>
              <a:t>COIN_COUNT(amount):</a:t>
            </a:r>
          </a:p>
          <a:p>
            <a:pPr algn="l" eaLnBrk="0" latinLnBrk="0">
              <a:lnSpc>
                <a:spcPct val="130000"/>
              </a:lnSpc>
              <a:buNone/>
            </a:pPr>
            <a:r>
              <a:rPr lang="ko-KR" altLang="en-US" sz="1300" b="0" dirty="0">
                <a:solidFill>
                  <a:srgbClr val="FFFFFF"/>
                </a:solidFill>
                <a:latin typeface="Consolas"/>
                <a:ea typeface="Consolas"/>
                <a:cs typeface="Consolas"/>
              </a:rPr>
              <a:t>  count &lt;- 0</a:t>
            </a:r>
          </a:p>
          <a:p>
            <a:pPr algn="l" eaLnBrk="0" latinLnBrk="0">
              <a:lnSpc>
                <a:spcPct val="130000"/>
              </a:lnSpc>
              <a:buNone/>
            </a:pPr>
            <a:r>
              <a:rPr lang="ko-KR" altLang="en-US" sz="1300" b="0" dirty="0">
                <a:solidFill>
                  <a:srgbClr val="FFFFFF"/>
                </a:solidFill>
                <a:latin typeface="Consolas"/>
                <a:ea typeface="Consolas"/>
                <a:cs typeface="Consolas"/>
              </a:rPr>
              <a:t>  for coin in [500, 100, 50, 10, 1]:</a:t>
            </a:r>
          </a:p>
          <a:p>
            <a:pPr algn="l" eaLnBrk="0" latinLnBrk="0">
              <a:lnSpc>
                <a:spcPct val="130000"/>
              </a:lnSpc>
              <a:buNone/>
            </a:pPr>
            <a:r>
              <a:rPr lang="ko-KR" altLang="en-US" sz="1300" b="0" dirty="0">
                <a:solidFill>
                  <a:srgbClr val="FFFFFF"/>
                </a:solidFill>
                <a:latin typeface="Consolas"/>
                <a:ea typeface="Consolas"/>
                <a:cs typeface="Consolas"/>
              </a:rPr>
              <a:t>    count &lt;- count + 몫(amount, coin)</a:t>
            </a:r>
          </a:p>
          <a:p>
            <a:pPr algn="l" eaLnBrk="0" latinLnBrk="0">
              <a:lnSpc>
                <a:spcPct val="130000"/>
              </a:lnSpc>
              <a:buNone/>
            </a:pPr>
            <a:r>
              <a:rPr lang="ko-KR" altLang="en-US" sz="1300" b="0" dirty="0">
                <a:solidFill>
                  <a:srgbClr val="FFFFFF"/>
                </a:solidFill>
                <a:latin typeface="Consolas"/>
                <a:ea typeface="Consolas"/>
                <a:cs typeface="Consolas"/>
              </a:rPr>
              <a:t>    amount &lt;- 나머지(amount, coin)</a:t>
            </a:r>
          </a:p>
          <a:p>
            <a:pPr algn="l" eaLnBrk="0" latinLnBrk="0">
              <a:lnSpc>
                <a:spcPct val="130000"/>
              </a:lnSpc>
              <a:buNone/>
            </a:pPr>
            <a:r>
              <a:rPr lang="ko-KR" altLang="en-US" sz="1300" b="0" dirty="0">
                <a:solidFill>
                  <a:srgbClr val="FFFFFF"/>
                </a:solidFill>
                <a:latin typeface="Consolas"/>
                <a:ea typeface="Consolas"/>
                <a:cs typeface="Consolas"/>
              </a:rPr>
              <a:t>  return count</a:t>
            </a:r>
          </a:p>
        </p:txBody>
      </p:sp>
      <p:sp>
        <p:nvSpPr>
          <p:cNvPr id="13" name="fit:9ab3527532a5244e 14"/>
          <p:cNvSpPr/>
          <p:nvPr/>
        </p:nvSpPr>
        <p:spPr>
          <a:xfrm>
            <a:off x="7909560" y="4970272"/>
            <a:ext cx="3666744" cy="24688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몫: Python //, C /    나머지: %</a:t>
            </a:r>
          </a:p>
        </p:txBody>
      </p:sp>
      <p:sp>
        <p:nvSpPr>
          <p:cNvPr id="14" name="fit:15affb70365705a2 15"/>
          <p:cNvSpPr/>
          <p:nvPr/>
        </p:nvSpPr>
        <p:spPr>
          <a:xfrm>
            <a:off x="7909560" y="5290312"/>
            <a:ext cx="3666744"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0E8A7D"/>
                </a:solidFill>
                <a:latin typeface="Malgun Gothic"/>
                <a:ea typeface="Malgun Gothic"/>
                <a:cs typeface="Malgun Gothic"/>
              </a:rPr>
              <a:t>금액과 관계없이 5번 → O(1)</a:t>
            </a:r>
          </a:p>
        </p:txBody>
      </p:sp>
      <p:sp>
        <p:nvSpPr>
          <p:cNvPr id="15" name="fit:ce484e23e5609449 16"/>
          <p:cNvSpPr/>
          <p:nvPr/>
        </p:nvSpPr>
        <p:spPr>
          <a:xfrm>
            <a:off x="7909560" y="5710936"/>
            <a:ext cx="3666744" cy="676656"/>
          </a:xfrm>
          <a:prstGeom prst="rect">
            <a:avLst/>
          </a:prstGeom>
          <a:noFill/>
          <a:ln w="0">
            <a:noFill/>
          </a:ln>
        </p:spPr>
        <p:txBody>
          <a:bodyPr wrap="square" lIns="0" tIns="0" rIns="0" bIns="0" anchor="t">
            <a:noAutofit/>
          </a:bodyPr>
          <a:lstStyle/>
          <a:p>
            <a:pPr algn="l" eaLnBrk="0" latinLnBrk="0">
              <a:lnSpc>
                <a:spcPct val="100000"/>
              </a:lnSpc>
              <a:buNone/>
            </a:pPr>
            <a:r>
              <a:rPr lang="ko-KR" altLang="en-US" sz="1400" b="0" dirty="0">
                <a:solidFill>
                  <a:srgbClr val="3F3F3F"/>
                </a:solidFill>
                <a:latin typeface="Malgun Gothic"/>
                <a:ea typeface="Malgun Gothic"/>
                <a:cs typeface="Malgun Gothic"/>
              </a:rPr>
              <a:t>K = 동전 종류 수로 쓰면 O(K)</a:t>
            </a:r>
          </a:p>
          <a:p>
            <a:pPr algn="l" eaLnBrk="0" latinLnBrk="0">
              <a:lnSpc>
                <a:spcPct val="100000"/>
              </a:lnSpc>
              <a:buNone/>
            </a:pPr>
            <a:r>
              <a:rPr lang="ko-KR" altLang="en-US" sz="1400" b="0" dirty="0">
                <a:solidFill>
                  <a:srgbClr val="3F3F3F"/>
                </a:solidFill>
                <a:latin typeface="Malgun Gothic"/>
                <a:ea typeface="Malgun Gothic"/>
                <a:cs typeface="Malgun Gothic"/>
              </a:rPr>
              <a:t>하나씩 빼면 O(amount)</a:t>
            </a:r>
          </a:p>
          <a:p>
            <a:pPr algn="l" eaLnBrk="0" latinLnBrk="0">
              <a:lnSpc>
                <a:spcPct val="100000"/>
              </a:lnSpc>
              <a:buNone/>
            </a:pPr>
            <a:r>
              <a:rPr lang="ko-KR" altLang="en-US" sz="1400" b="0" dirty="0">
                <a:solidFill>
                  <a:srgbClr val="3F3F3F"/>
                </a:solidFill>
                <a:latin typeface="Malgun Gothic"/>
                <a:ea typeface="Malgun Gothic"/>
                <a:cs typeface="Malgun Gothic"/>
              </a:rPr>
              <a:t>amount = 0이면 0개</a:t>
            </a:r>
          </a:p>
        </p:txBody>
      </p:sp>
      <p:sp>
        <p:nvSpPr>
          <p:cNvPr id="16" name="직사각형 17"/>
          <p:cNvSpPr/>
          <p:nvPr/>
        </p:nvSpPr>
        <p:spPr>
          <a:xfrm>
            <a:off x="731520" y="294436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동전</a:t>
            </a:r>
          </a:p>
        </p:txBody>
      </p:sp>
      <p:graphicFrame>
        <p:nvGraphicFramePr>
          <p:cNvPr id="17" name="표 18"/>
          <p:cNvGraphicFramePr>
            <a:graphicFrameLocks noGrp="1"/>
          </p:cNvGraphicFramePr>
          <p:nvPr>
            <p:extLst>
              <p:ext uri="{D42A27DB-BD31-4B8C-83A1-F6EECF244321}">
                <p14:modId xmlns:p14="http://schemas.microsoft.com/office/powerpoint/2010/main" val="1843004768"/>
              </p:ext>
            </p:extLst>
          </p:nvPr>
        </p:nvGraphicFramePr>
        <p:xfrm>
          <a:off x="2103120" y="2834640"/>
          <a:ext cx="5029200" cy="493776"/>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500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50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10</a:t>
                      </a:r>
                    </a:p>
                  </a:txBody>
                  <a:tcPr marL="54864" marR="54864" marT="18288" marB="18288" anchor="ctr">
                    <a:solidFill>
                      <a:srgbClr val="FFFFFF"/>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8" name="직사각형 19"/>
          <p:cNvSpPr/>
          <p:nvPr/>
        </p:nvSpPr>
        <p:spPr>
          <a:xfrm>
            <a:off x="731520" y="3712464"/>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몫 (개수)</a:t>
            </a:r>
          </a:p>
        </p:txBody>
      </p:sp>
      <p:graphicFrame>
        <p:nvGraphicFramePr>
          <p:cNvPr id="19" name="표 20"/>
          <p:cNvGraphicFramePr>
            <a:graphicFrameLocks noGrp="1"/>
          </p:cNvGraphicFramePr>
          <p:nvPr>
            <p:extLst>
              <p:ext uri="{D42A27DB-BD31-4B8C-83A1-F6EECF244321}">
                <p14:modId xmlns:p14="http://schemas.microsoft.com/office/powerpoint/2010/main" val="1780194151"/>
              </p:ext>
            </p:extLst>
          </p:nvPr>
        </p:nvGraphicFramePr>
        <p:xfrm>
          <a:off x="2103120" y="3602736"/>
          <a:ext cx="5029200" cy="493776"/>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93776">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2</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1</a:t>
                      </a:r>
                    </a:p>
                  </a:txBody>
                  <a:tcPr marL="54864" marR="54864" marT="18288" marB="18288" anchor="ctr">
                    <a:solidFill>
                      <a:srgbClr val="DCECFB"/>
                    </a:solidFill>
                  </a:tcPr>
                </a:tc>
                <a:tc>
                  <a:txBody>
                    <a:bodyPr/>
                    <a:lstStyle/>
                    <a:p>
                      <a:pPr algn="ctr" eaLnBrk="0" latinLnBrk="0">
                        <a:lnSpc>
                          <a:spcPct val="100000"/>
                        </a:lnSpc>
                        <a:buNone/>
                      </a:pPr>
                      <a:r>
                        <a:rPr lang="ko-KR" altLang="en-US" sz="2250" b="1" dirty="0">
                          <a:solidFill>
                            <a:srgbClr val="151515"/>
                          </a:solidFill>
                          <a:latin typeface="Consolas"/>
                          <a:ea typeface="Consolas"/>
                          <a:cs typeface="Consolas"/>
                        </a:rPr>
                        <a:t>3</a:t>
                      </a:r>
                    </a:p>
                  </a:txBody>
                  <a:tcPr marL="54864" marR="54864" marT="18288" marB="18288" anchor="ctr">
                    <a:solidFill>
                      <a:srgbClr val="DCECFB"/>
                    </a:solidFill>
                  </a:tcPr>
                </a:tc>
                <a:extLst>
                  <a:ext uri="{0D108BD9-81ED-4DB2-BD59-A6C34878D82A}">
                    <a16:rowId xmlns:a16="http://schemas.microsoft.com/office/drawing/2014/main" val="10000"/>
                  </a:ext>
                </a:extLst>
              </a:tr>
            </a:tbl>
          </a:graphicData>
        </a:graphic>
      </p:graphicFrame>
      <p:sp>
        <p:nvSpPr>
          <p:cNvPr id="20" name="직사각형 21"/>
          <p:cNvSpPr/>
          <p:nvPr/>
        </p:nvSpPr>
        <p:spPr>
          <a:xfrm>
            <a:off x="731520" y="4480560"/>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남은 돈</a:t>
            </a:r>
          </a:p>
        </p:txBody>
      </p:sp>
      <p:graphicFrame>
        <p:nvGraphicFramePr>
          <p:cNvPr id="21" name="표 22"/>
          <p:cNvGraphicFramePr>
            <a:graphicFrameLocks noGrp="1"/>
          </p:cNvGraphicFramePr>
          <p:nvPr>
            <p:extLst>
              <p:ext uri="{D42A27DB-BD31-4B8C-83A1-F6EECF244321}">
                <p14:modId xmlns:p14="http://schemas.microsoft.com/office/powerpoint/2010/main" val="1269472979"/>
              </p:ext>
            </p:extLst>
          </p:nvPr>
        </p:nvGraphicFramePr>
        <p:xfrm>
          <a:off x="2103120" y="4370832"/>
          <a:ext cx="5029200" cy="493776"/>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93776">
                <a:tc>
                  <a:txBody>
                    <a:bodyPr/>
                    <a:lstStyle/>
                    <a:p>
                      <a:pPr algn="ctr" eaLnBrk="0" latinLnBrk="0">
                        <a:lnSpc>
                          <a:spcPct val="100000"/>
                        </a:lnSpc>
                        <a:buNone/>
                      </a:pPr>
                      <a:r>
                        <a:rPr lang="ko-KR" altLang="en-US" sz="2000" b="1" dirty="0">
                          <a:solidFill>
                            <a:srgbClr val="151515"/>
                          </a:solidFill>
                          <a:latin typeface="Consolas"/>
                          <a:ea typeface="Consolas"/>
                          <a:cs typeface="Consolas"/>
                        </a:rPr>
                        <a:t>263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63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13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3</a:t>
                      </a:r>
                    </a:p>
                  </a:txBody>
                  <a:tcPr marL="54864" marR="54864" marT="18288" marB="18288" anchor="ctr">
                    <a:solidFill>
                      <a:srgbClr val="FFFFFF"/>
                    </a:solidFill>
                  </a:tcPr>
                </a:tc>
                <a:tc>
                  <a:txBody>
                    <a:bodyPr/>
                    <a:lstStyle/>
                    <a:p>
                      <a:pPr algn="ctr" eaLnBrk="0" latinLnBrk="0">
                        <a:lnSpc>
                          <a:spcPct val="100000"/>
                        </a:lnSpc>
                        <a:buNone/>
                      </a:pPr>
                      <a:r>
                        <a:rPr lang="ko-KR" altLang="en-US" sz="2000" b="1" dirty="0">
                          <a:solidFill>
                            <a:srgbClr val="151515"/>
                          </a:solidFill>
                          <a:latin typeface="Consolas"/>
                          <a:ea typeface="Consolas"/>
                          <a:cs typeface="Consolas"/>
                        </a:rPr>
                        <a:t>0</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22" name="직사각형 23"/>
          <p:cNvSpPr/>
          <p:nvPr/>
        </p:nvSpPr>
        <p:spPr>
          <a:xfrm>
            <a:off x="2103120" y="5084064"/>
            <a:ext cx="512064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700" b="1" dirty="0">
                <a:solidFill>
                  <a:srgbClr val="151515"/>
                </a:solidFill>
                <a:latin typeface="Malgun Gothic"/>
                <a:ea typeface="Malgun Gothic"/>
                <a:cs typeface="Malgun Gothic"/>
              </a:rPr>
              <a:t>coin_count(1263) = 2 + 2 + 1 + 1 + 3 = 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28-64">
            <a:extLst>
              <a:ext uri="{FF2B5EF4-FFF2-40B4-BE49-F238E27FC236}">
                <a16:creationId xmlns:a16="http://schemas.microsoft.com/office/drawing/2014/main" id="{0A49A506-A938-4109-B9A7-3CB9BA3C0C2D}"/>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5장 탐욕 알고리즘  /  Python/C 구현</a:t>
            </a:r>
          </a:p>
        </p:txBody>
      </p:sp>
      <p:sp>
        <p:nvSpPr>
          <p:cNvPr id="2" name="text-28-1080">
            <a:extLst>
              <a:ext uri="{FF2B5EF4-FFF2-40B4-BE49-F238E27FC236}">
                <a16:creationId xmlns:a16="http://schemas.microsoft.com/office/drawing/2014/main" id="{96C2F3F5-6394-4D60-ABA3-5DD4D66DB3F9}"/>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a16:creationId xmlns:a16="http://schemas.microsoft.com/office/drawing/2014/main" id="{436E6E62-5D20-442F-AF04-F8E6BB38C866}"/>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lang="ko-KR" altLang="en-US" sz="3000" b="1" i="0">
                <a:solidFill>
                  <a:srgbClr val="171717"/>
                </a:solidFill>
                <a:latin typeface="Malgun Gothic"/>
                <a:ea typeface="Malgun Gothic"/>
                <a:cs typeface="Malgun Gothic"/>
              </a:rPr>
              <a:t>함수</a:t>
            </a:r>
            <a:r>
              <a:rPr sz="3000" b="1" i="0">
                <a:solidFill>
                  <a:srgbClr val="171717"/>
                </a:solidFill>
                <a:latin typeface="Malgun Gothic"/>
                <a:ea typeface="Malgun Gothic"/>
                <a:cs typeface="Malgun Gothic"/>
              </a:rPr>
              <a:t>  Python 구현</a:t>
            </a:r>
          </a:p>
        </p:txBody>
      </p:sp>
      <p:sp>
        <p:nvSpPr>
          <p:cNvPr id="4" name="직사각형 3">
            <a:extLst>
              <a:ext uri="{FF2B5EF4-FFF2-40B4-BE49-F238E27FC236}">
                <a16:creationId xmlns:a16="http://schemas.microsoft.com/office/drawing/2014/main" id="{57255299-8241-4B96-A7EF-D42CBA731A9C}"/>
              </a:ext>
            </a:extLst>
          </p:cNvPr>
          <p:cNvSpPr>
            <a:spLocks noGrp="1"/>
          </p:cNvSpPr>
          <p:nvPr/>
        </p:nvSpPr>
        <p:spPr>
          <a:xfrm>
            <a:off x="609600" y="1381125"/>
            <a:ext cx="10972800" cy="19050"/>
          </a:xfrm>
          <a:prstGeom prst="rect">
            <a:avLst/>
          </a:prstGeom>
          <a:solidFill>
            <a:srgbClr val="171717"/>
          </a:solidFill>
          <a:ln w="0">
            <a:noFill/>
          </a:ln>
        </p:spPr>
      </p:sp>
      <p:sp>
        <p:nvSpPr>
          <p:cNvPr id="5" name="직사각형 4">
            <a:extLst>
              <a:ext uri="{FF2B5EF4-FFF2-40B4-BE49-F238E27FC236}">
                <a16:creationId xmlns:a16="http://schemas.microsoft.com/office/drawing/2014/main" id="{ACE381D7-C77A-4D1F-AA3F-5BF3FF8D355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a16:creationId xmlns:a16="http://schemas.microsoft.com/office/drawing/2014/main" id="{00A2658D-40B0-49F3-ACBB-163A082C831C}"/>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05 / GREEDY ALGORITHMS · EXERCISES</a:t>
            </a:r>
          </a:p>
        </p:txBody>
      </p:sp>
      <p:sp>
        <p:nvSpPr>
          <p:cNvPr id="7" name="text-689-1160">
            <a:extLst>
              <a:ext uri="{FF2B5EF4-FFF2-40B4-BE49-F238E27FC236}">
                <a16:creationId xmlns:a16="http://schemas.microsoft.com/office/drawing/2014/main" id="{D59A9CD6-4032-4FDB-B111-C8A4D5571204}"/>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18</a:t>
            </a:r>
            <a:endParaRPr sz="1050" b="1" i="0">
              <a:solidFill>
                <a:srgbClr val="171717"/>
              </a:solidFill>
              <a:latin typeface="Consolas"/>
              <a:ea typeface="Consolas"/>
              <a:cs typeface="Consolas"/>
            </a:endParaRPr>
          </a:p>
        </p:txBody>
      </p:sp>
      <p:sp>
        <p:nvSpPr>
          <p:cNvPr id="8" name="text-163-64">
            <a:extLst>
              <a:ext uri="{FF2B5EF4-FFF2-40B4-BE49-F238E27FC236}">
                <a16:creationId xmlns:a16="http://schemas.microsoft.com/office/drawing/2014/main" id="{AC64A26A-C53F-4FA4-8124-66D69238E52F}"/>
              </a:ext>
            </a:extLst>
          </p:cNvPr>
          <p:cNvSpPr>
            <a:spLocks noGrp="1"/>
          </p:cNvSpPr>
          <p:nvPr/>
        </p:nvSpPr>
        <p:spPr>
          <a:xfrm>
            <a:off x="609600" y="1552575"/>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정수배 화폐 거스름돈</a:t>
            </a:r>
          </a:p>
        </p:txBody>
      </p:sp>
      <p:sp>
        <p:nvSpPr>
          <p:cNvPr id="9" name="직사각형 8">
            <a:extLst>
              <a:ext uri="{FF2B5EF4-FFF2-40B4-BE49-F238E27FC236}">
                <a16:creationId xmlns:a16="http://schemas.microsoft.com/office/drawing/2014/main" id="{63C1B77B-B149-4E24-93CC-B4D298D68F77}"/>
              </a:ext>
            </a:extLst>
          </p:cNvPr>
          <p:cNvSpPr>
            <a:spLocks noGrp="1"/>
          </p:cNvSpPr>
          <p:nvPr/>
        </p:nvSpPr>
        <p:spPr>
          <a:xfrm>
            <a:off x="609600" y="1981200"/>
            <a:ext cx="10972800" cy="3962400"/>
          </a:xfrm>
          <a:prstGeom prst="rect">
            <a:avLst/>
          </a:prstGeom>
          <a:solidFill>
            <a:srgbClr val="171717"/>
          </a:solidFill>
          <a:ln w="0">
            <a:noFill/>
          </a:ln>
        </p:spPr>
      </p:sp>
      <p:sp>
        <p:nvSpPr>
          <p:cNvPr id="10" name="text-222-81">
            <a:extLst>
              <a:ext uri="{FF2B5EF4-FFF2-40B4-BE49-F238E27FC236}">
                <a16:creationId xmlns:a16="http://schemas.microsoft.com/office/drawing/2014/main" id="{D7333983-B7AF-4C61-82E7-4E2AE008F97B}"/>
              </a:ext>
            </a:extLst>
          </p:cNvPr>
          <p:cNvSpPr>
            <a:spLocks noGrp="1"/>
          </p:cNvSpPr>
          <p:nvPr/>
        </p:nvSpPr>
        <p:spPr>
          <a:xfrm>
            <a:off x="771525" y="2120265"/>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01</a:t>
            </a:r>
          </a:p>
        </p:txBody>
      </p:sp>
      <p:sp>
        <p:nvSpPr>
          <p:cNvPr id="11" name="text-222-135">
            <a:extLst>
              <a:ext uri="{FF2B5EF4-FFF2-40B4-BE49-F238E27FC236}">
                <a16:creationId xmlns:a16="http://schemas.microsoft.com/office/drawing/2014/main" id="{CBE188FD-0901-44D8-8E84-943B23566943}"/>
              </a:ext>
            </a:extLst>
          </p:cNvPr>
          <p:cNvSpPr>
            <a:spLocks noGrp="1"/>
          </p:cNvSpPr>
          <p:nvPr/>
        </p:nvSpPr>
        <p:spPr>
          <a:xfrm>
            <a:off x="1285875" y="2120265"/>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coin_count(amount):</a:t>
            </a:r>
          </a:p>
        </p:txBody>
      </p:sp>
      <p:sp>
        <p:nvSpPr>
          <p:cNvPr id="12" name="text-242.5-81">
            <a:extLst>
              <a:ext uri="{FF2B5EF4-FFF2-40B4-BE49-F238E27FC236}">
                <a16:creationId xmlns:a16="http://schemas.microsoft.com/office/drawing/2014/main" id="{A2ED12A2-E9EF-485E-A99B-803D35A5FA7A}"/>
              </a:ext>
            </a:extLst>
          </p:cNvPr>
          <p:cNvSpPr>
            <a:spLocks noGrp="1"/>
          </p:cNvSpPr>
          <p:nvPr/>
        </p:nvSpPr>
        <p:spPr>
          <a:xfrm>
            <a:off x="771525" y="2374107"/>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02</a:t>
            </a:r>
          </a:p>
        </p:txBody>
      </p:sp>
      <p:sp>
        <p:nvSpPr>
          <p:cNvPr id="13" name="text-242.5-135">
            <a:extLst>
              <a:ext uri="{FF2B5EF4-FFF2-40B4-BE49-F238E27FC236}">
                <a16:creationId xmlns:a16="http://schemas.microsoft.com/office/drawing/2014/main" id="{E021D9E1-8B55-4066-AC2B-04C8A2D2B675}"/>
              </a:ext>
            </a:extLst>
          </p:cNvPr>
          <p:cNvSpPr>
            <a:spLocks noGrp="1"/>
          </p:cNvSpPr>
          <p:nvPr/>
        </p:nvSpPr>
        <p:spPr>
          <a:xfrm>
            <a:off x="1285875" y="2374107"/>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count = 0</a:t>
            </a:r>
          </a:p>
        </p:txBody>
      </p:sp>
      <p:sp>
        <p:nvSpPr>
          <p:cNvPr id="14" name="text-263-81">
            <a:extLst>
              <a:ext uri="{FF2B5EF4-FFF2-40B4-BE49-F238E27FC236}">
                <a16:creationId xmlns:a16="http://schemas.microsoft.com/office/drawing/2014/main" id="{27F4DB41-8FE4-4168-B4A0-99F8EAE9C8E5}"/>
              </a:ext>
            </a:extLst>
          </p:cNvPr>
          <p:cNvSpPr>
            <a:spLocks noGrp="1"/>
          </p:cNvSpPr>
          <p:nvPr/>
        </p:nvSpPr>
        <p:spPr>
          <a:xfrm>
            <a:off x="771525" y="2627948"/>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03</a:t>
            </a:r>
          </a:p>
        </p:txBody>
      </p:sp>
      <p:sp>
        <p:nvSpPr>
          <p:cNvPr id="15" name="text-263-135">
            <a:extLst>
              <a:ext uri="{FF2B5EF4-FFF2-40B4-BE49-F238E27FC236}">
                <a16:creationId xmlns:a16="http://schemas.microsoft.com/office/drawing/2014/main" id="{2FF73232-B87A-4553-A3FA-CFD13F1D0AC8}"/>
              </a:ext>
            </a:extLst>
          </p:cNvPr>
          <p:cNvSpPr>
            <a:spLocks noGrp="1"/>
          </p:cNvSpPr>
          <p:nvPr/>
        </p:nvSpPr>
        <p:spPr>
          <a:xfrm>
            <a:off x="1285875" y="2627948"/>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coin in [500, 100, 50, 10, 1]:</a:t>
            </a:r>
          </a:p>
        </p:txBody>
      </p:sp>
      <p:sp>
        <p:nvSpPr>
          <p:cNvPr id="16" name="text-283.5-81">
            <a:extLst>
              <a:ext uri="{FF2B5EF4-FFF2-40B4-BE49-F238E27FC236}">
                <a16:creationId xmlns:a16="http://schemas.microsoft.com/office/drawing/2014/main" id="{48AF368C-D359-496B-8CCB-E9ED864E4E0E}"/>
              </a:ext>
            </a:extLst>
          </p:cNvPr>
          <p:cNvSpPr>
            <a:spLocks noGrp="1"/>
          </p:cNvSpPr>
          <p:nvPr/>
        </p:nvSpPr>
        <p:spPr>
          <a:xfrm>
            <a:off x="771525" y="288179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04</a:t>
            </a:r>
          </a:p>
        </p:txBody>
      </p:sp>
      <p:sp>
        <p:nvSpPr>
          <p:cNvPr id="17" name="text-283.5-135">
            <a:extLst>
              <a:ext uri="{FF2B5EF4-FFF2-40B4-BE49-F238E27FC236}">
                <a16:creationId xmlns:a16="http://schemas.microsoft.com/office/drawing/2014/main" id="{5DFB331F-2F79-43D6-830D-19AA22366D9E}"/>
              </a:ext>
            </a:extLst>
          </p:cNvPr>
          <p:cNvSpPr>
            <a:spLocks noGrp="1"/>
          </p:cNvSpPr>
          <p:nvPr/>
        </p:nvSpPr>
        <p:spPr>
          <a:xfrm>
            <a:off x="1285875" y="288179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count += amount // coin</a:t>
            </a:r>
          </a:p>
        </p:txBody>
      </p:sp>
      <p:sp>
        <p:nvSpPr>
          <p:cNvPr id="18" name="text-304-81">
            <a:extLst>
              <a:ext uri="{FF2B5EF4-FFF2-40B4-BE49-F238E27FC236}">
                <a16:creationId xmlns:a16="http://schemas.microsoft.com/office/drawing/2014/main" id="{B6C1DD5E-EC44-49E2-B480-203DB789CB42}"/>
              </a:ext>
            </a:extLst>
          </p:cNvPr>
          <p:cNvSpPr>
            <a:spLocks noGrp="1"/>
          </p:cNvSpPr>
          <p:nvPr/>
        </p:nvSpPr>
        <p:spPr>
          <a:xfrm>
            <a:off x="771525" y="313563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05</a:t>
            </a:r>
          </a:p>
        </p:txBody>
      </p:sp>
      <p:sp>
        <p:nvSpPr>
          <p:cNvPr id="19" name="text-304-135">
            <a:extLst>
              <a:ext uri="{FF2B5EF4-FFF2-40B4-BE49-F238E27FC236}">
                <a16:creationId xmlns:a16="http://schemas.microsoft.com/office/drawing/2014/main" id="{470D7A46-D21A-4C08-8D0D-3AD4A469475C}"/>
              </a:ext>
            </a:extLst>
          </p:cNvPr>
          <p:cNvSpPr>
            <a:spLocks noGrp="1"/>
          </p:cNvSpPr>
          <p:nvPr/>
        </p:nvSpPr>
        <p:spPr>
          <a:xfrm>
            <a:off x="1285875" y="313563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amount %= coin</a:t>
            </a:r>
          </a:p>
        </p:txBody>
      </p:sp>
      <p:sp>
        <p:nvSpPr>
          <p:cNvPr id="20" name="text-324.5-81">
            <a:extLst>
              <a:ext uri="{FF2B5EF4-FFF2-40B4-BE49-F238E27FC236}">
                <a16:creationId xmlns:a16="http://schemas.microsoft.com/office/drawing/2014/main" id="{F0E0B869-2BFB-4E6C-89CA-6A88D609CB98}"/>
              </a:ext>
            </a:extLst>
          </p:cNvPr>
          <p:cNvSpPr>
            <a:spLocks noGrp="1"/>
          </p:cNvSpPr>
          <p:nvPr/>
        </p:nvSpPr>
        <p:spPr>
          <a:xfrm>
            <a:off x="771525" y="3389472"/>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06</a:t>
            </a:r>
          </a:p>
        </p:txBody>
      </p:sp>
      <p:sp>
        <p:nvSpPr>
          <p:cNvPr id="21" name="text-324.5-135">
            <a:extLst>
              <a:ext uri="{FF2B5EF4-FFF2-40B4-BE49-F238E27FC236}">
                <a16:creationId xmlns:a16="http://schemas.microsoft.com/office/drawing/2014/main" id="{66E4559D-57CE-480D-9698-2DAACC1975ED}"/>
              </a:ext>
            </a:extLst>
          </p:cNvPr>
          <p:cNvSpPr>
            <a:spLocks noGrp="1"/>
          </p:cNvSpPr>
          <p:nvPr/>
        </p:nvSpPr>
        <p:spPr>
          <a:xfrm>
            <a:off x="1285875" y="3389472"/>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count</a:t>
            </a:r>
          </a:p>
        </p:txBody>
      </p:sp>
      <p:sp>
        <p:nvSpPr>
          <p:cNvPr id="22" name="text-635-64">
            <a:extLst>
              <a:ext uri="{FF2B5EF4-FFF2-40B4-BE49-F238E27FC236}">
                <a16:creationId xmlns:a16="http://schemas.microsoft.com/office/drawing/2014/main" id="{825AB6E5-569A-42ED-9C89-B9FBD6EA01FC}"/>
              </a:ext>
            </a:extLst>
          </p:cNvPr>
          <p:cNvSpPr>
            <a:spLocks noGrp="1"/>
          </p:cNvSpPr>
          <p:nvPr/>
        </p:nvSpPr>
        <p:spPr>
          <a:xfrm>
            <a:off x="609600" y="6048375"/>
            <a:ext cx="10972800" cy="213360"/>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고정된 5종류이므로 시간 O(1). 일반 m종류에서는 시간 O(m).</a:t>
            </a:r>
          </a:p>
        </p:txBody>
      </p:sp>
    </p:spTree>
    <p:extLst>
      <p:ext uri="{BB962C8B-B14F-4D97-AF65-F5344CB8AC3E}">
        <p14:creationId xmlns:p14="http://schemas.microsoft.com/office/powerpoint/2010/main" val="3128710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28-64">
            <a:extLst>
              <a:ext uri="{FF2B5EF4-FFF2-40B4-BE49-F238E27FC236}">
                <a16:creationId xmlns:a16="http://schemas.microsoft.com/office/drawing/2014/main" id="{13C258FF-D447-4D74-BBB9-2D0F23BE2EE9}"/>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5장 탐욕 알고리즘  /  Python/C 구현</a:t>
            </a:r>
          </a:p>
        </p:txBody>
      </p:sp>
      <p:sp>
        <p:nvSpPr>
          <p:cNvPr id="2" name="text-28-1080">
            <a:extLst>
              <a:ext uri="{FF2B5EF4-FFF2-40B4-BE49-F238E27FC236}">
                <a16:creationId xmlns:a16="http://schemas.microsoft.com/office/drawing/2014/main" id="{4C064ACF-04E6-46EF-B93B-724AB20F3AD0}"/>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a16:creationId xmlns:a16="http://schemas.microsoft.com/office/drawing/2014/main" id="{4FCC1443-CD42-48A3-9EFE-16BCAE5A8C74}"/>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lang="ko-KR" altLang="en-US" sz="3000" b="1" i="0">
                <a:solidFill>
                  <a:srgbClr val="171717"/>
                </a:solidFill>
                <a:latin typeface="Malgun Gothic"/>
                <a:ea typeface="Malgun Gothic"/>
                <a:cs typeface="Malgun Gothic"/>
              </a:rPr>
              <a:t>함수</a:t>
            </a:r>
            <a:r>
              <a:rPr sz="3000" b="1" i="0">
                <a:solidFill>
                  <a:srgbClr val="171717"/>
                </a:solidFill>
                <a:latin typeface="Malgun Gothic"/>
                <a:ea typeface="Malgun Gothic"/>
                <a:cs typeface="Malgun Gothic"/>
              </a:rPr>
              <a:t>  C 구현</a:t>
            </a:r>
          </a:p>
        </p:txBody>
      </p:sp>
      <p:sp>
        <p:nvSpPr>
          <p:cNvPr id="4" name="직사각형 3">
            <a:extLst>
              <a:ext uri="{FF2B5EF4-FFF2-40B4-BE49-F238E27FC236}">
                <a16:creationId xmlns:a16="http://schemas.microsoft.com/office/drawing/2014/main" id="{4226AD5F-1ADF-4499-A958-A3667FC74BBE}"/>
              </a:ext>
            </a:extLst>
          </p:cNvPr>
          <p:cNvSpPr>
            <a:spLocks noGrp="1"/>
          </p:cNvSpPr>
          <p:nvPr/>
        </p:nvSpPr>
        <p:spPr>
          <a:xfrm>
            <a:off x="609600" y="1381125"/>
            <a:ext cx="10972800" cy="19050"/>
          </a:xfrm>
          <a:prstGeom prst="rect">
            <a:avLst/>
          </a:prstGeom>
          <a:solidFill>
            <a:srgbClr val="171717"/>
          </a:solidFill>
          <a:ln w="0">
            <a:noFill/>
          </a:ln>
        </p:spPr>
      </p:sp>
      <p:sp>
        <p:nvSpPr>
          <p:cNvPr id="5" name="직사각형 4">
            <a:extLst>
              <a:ext uri="{FF2B5EF4-FFF2-40B4-BE49-F238E27FC236}">
                <a16:creationId xmlns:a16="http://schemas.microsoft.com/office/drawing/2014/main" id="{2EE4B3B5-BA42-4D1C-B036-424D9BA251D8}"/>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a16:creationId xmlns:a16="http://schemas.microsoft.com/office/drawing/2014/main" id="{F3556B3F-F6CF-4B46-8F76-B9CE34B5B286}"/>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05 / GREEDY ALGORITHMS · EXERCISES</a:t>
            </a:r>
          </a:p>
        </p:txBody>
      </p:sp>
      <p:sp>
        <p:nvSpPr>
          <p:cNvPr id="7" name="text-689-1160">
            <a:extLst>
              <a:ext uri="{FF2B5EF4-FFF2-40B4-BE49-F238E27FC236}">
                <a16:creationId xmlns:a16="http://schemas.microsoft.com/office/drawing/2014/main" id="{B7379B0F-2563-46DB-B614-A17003D193F7}"/>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19</a:t>
            </a:r>
            <a:endParaRPr sz="1050" b="1" i="0">
              <a:solidFill>
                <a:srgbClr val="171717"/>
              </a:solidFill>
              <a:latin typeface="Consolas"/>
              <a:ea typeface="Consolas"/>
              <a:cs typeface="Consolas"/>
            </a:endParaRPr>
          </a:p>
        </p:txBody>
      </p:sp>
      <p:sp>
        <p:nvSpPr>
          <p:cNvPr id="8" name="text-163-64">
            <a:extLst>
              <a:ext uri="{FF2B5EF4-FFF2-40B4-BE49-F238E27FC236}">
                <a16:creationId xmlns:a16="http://schemas.microsoft.com/office/drawing/2014/main" id="{3F08FEC5-3F2F-4587-9D84-A2864450B68B}"/>
              </a:ext>
            </a:extLst>
          </p:cNvPr>
          <p:cNvSpPr>
            <a:spLocks noGrp="1"/>
          </p:cNvSpPr>
          <p:nvPr/>
        </p:nvSpPr>
        <p:spPr>
          <a:xfrm>
            <a:off x="609600" y="1552575"/>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정수배 화폐 거스름돈</a:t>
            </a:r>
          </a:p>
        </p:txBody>
      </p:sp>
      <p:sp>
        <p:nvSpPr>
          <p:cNvPr id="9" name="직사각형 8">
            <a:extLst>
              <a:ext uri="{FF2B5EF4-FFF2-40B4-BE49-F238E27FC236}">
                <a16:creationId xmlns:a16="http://schemas.microsoft.com/office/drawing/2014/main" id="{6B8E8BD7-29E0-4692-8F74-03BAD6BAF248}"/>
              </a:ext>
            </a:extLst>
          </p:cNvPr>
          <p:cNvSpPr>
            <a:spLocks noGrp="1"/>
          </p:cNvSpPr>
          <p:nvPr/>
        </p:nvSpPr>
        <p:spPr>
          <a:xfrm>
            <a:off x="609600" y="1981200"/>
            <a:ext cx="10972800" cy="3962400"/>
          </a:xfrm>
          <a:prstGeom prst="rect">
            <a:avLst/>
          </a:prstGeom>
          <a:solidFill>
            <a:srgbClr val="171717"/>
          </a:solidFill>
          <a:ln w="0">
            <a:noFill/>
          </a:ln>
        </p:spPr>
      </p:sp>
      <p:sp>
        <p:nvSpPr>
          <p:cNvPr id="10" name="text-222-81">
            <a:extLst>
              <a:ext uri="{FF2B5EF4-FFF2-40B4-BE49-F238E27FC236}">
                <a16:creationId xmlns:a16="http://schemas.microsoft.com/office/drawing/2014/main" id="{7CFD8188-FA81-4248-B6C9-5FA0D5F08D74}"/>
              </a:ext>
            </a:extLst>
          </p:cNvPr>
          <p:cNvSpPr>
            <a:spLocks noGrp="1"/>
          </p:cNvSpPr>
          <p:nvPr/>
        </p:nvSpPr>
        <p:spPr>
          <a:xfrm>
            <a:off x="771525" y="2120265"/>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01</a:t>
            </a:r>
          </a:p>
        </p:txBody>
      </p:sp>
      <p:sp>
        <p:nvSpPr>
          <p:cNvPr id="11" name="text-222-135">
            <a:extLst>
              <a:ext uri="{FF2B5EF4-FFF2-40B4-BE49-F238E27FC236}">
                <a16:creationId xmlns:a16="http://schemas.microsoft.com/office/drawing/2014/main" id="{757FD895-ECE4-49F0-BDD8-FF70B4ECF186}"/>
              </a:ext>
            </a:extLst>
          </p:cNvPr>
          <p:cNvSpPr>
            <a:spLocks noGrp="1"/>
          </p:cNvSpPr>
          <p:nvPr/>
        </p:nvSpPr>
        <p:spPr>
          <a:xfrm>
            <a:off x="1285875" y="2120265"/>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int coin_count(int amount) {</a:t>
            </a:r>
          </a:p>
        </p:txBody>
      </p:sp>
      <p:sp>
        <p:nvSpPr>
          <p:cNvPr id="12" name="text-242.5-81">
            <a:extLst>
              <a:ext uri="{FF2B5EF4-FFF2-40B4-BE49-F238E27FC236}">
                <a16:creationId xmlns:a16="http://schemas.microsoft.com/office/drawing/2014/main" id="{D7460148-0A73-40B1-BB01-0E3FA63AC6E9}"/>
              </a:ext>
            </a:extLst>
          </p:cNvPr>
          <p:cNvSpPr>
            <a:spLocks noGrp="1"/>
          </p:cNvSpPr>
          <p:nvPr/>
        </p:nvSpPr>
        <p:spPr>
          <a:xfrm>
            <a:off x="771525" y="2374107"/>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02</a:t>
            </a:r>
          </a:p>
        </p:txBody>
      </p:sp>
      <p:sp>
        <p:nvSpPr>
          <p:cNvPr id="13" name="text-242.5-135">
            <a:extLst>
              <a:ext uri="{FF2B5EF4-FFF2-40B4-BE49-F238E27FC236}">
                <a16:creationId xmlns:a16="http://schemas.microsoft.com/office/drawing/2014/main" id="{ADBA584C-74BD-4CB2-ABEA-E5B8C36BD7E1}"/>
              </a:ext>
            </a:extLst>
          </p:cNvPr>
          <p:cNvSpPr>
            <a:spLocks noGrp="1"/>
          </p:cNvSpPr>
          <p:nvPr/>
        </p:nvSpPr>
        <p:spPr>
          <a:xfrm>
            <a:off x="1285875" y="2374107"/>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int coins[]={500,100,50,10,1}, count=0;</a:t>
            </a:r>
          </a:p>
        </p:txBody>
      </p:sp>
      <p:sp>
        <p:nvSpPr>
          <p:cNvPr id="14" name="text-263-81">
            <a:extLst>
              <a:ext uri="{FF2B5EF4-FFF2-40B4-BE49-F238E27FC236}">
                <a16:creationId xmlns:a16="http://schemas.microsoft.com/office/drawing/2014/main" id="{8BA35540-79AF-4F84-A9AB-C52DD0DAE913}"/>
              </a:ext>
            </a:extLst>
          </p:cNvPr>
          <p:cNvSpPr>
            <a:spLocks noGrp="1"/>
          </p:cNvSpPr>
          <p:nvPr/>
        </p:nvSpPr>
        <p:spPr>
          <a:xfrm>
            <a:off x="771525" y="2627948"/>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03</a:t>
            </a:r>
          </a:p>
        </p:txBody>
      </p:sp>
      <p:sp>
        <p:nvSpPr>
          <p:cNvPr id="15" name="text-263-135">
            <a:extLst>
              <a:ext uri="{FF2B5EF4-FFF2-40B4-BE49-F238E27FC236}">
                <a16:creationId xmlns:a16="http://schemas.microsoft.com/office/drawing/2014/main" id="{ABBD640B-A3EA-4AA5-B334-701DA273DDED}"/>
              </a:ext>
            </a:extLst>
          </p:cNvPr>
          <p:cNvSpPr>
            <a:spLocks noGrp="1"/>
          </p:cNvSpPr>
          <p:nvPr/>
        </p:nvSpPr>
        <p:spPr>
          <a:xfrm>
            <a:off x="1285875" y="2627948"/>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(int i=0; i&lt;5; ++i) {</a:t>
            </a:r>
          </a:p>
        </p:txBody>
      </p:sp>
      <p:sp>
        <p:nvSpPr>
          <p:cNvPr id="16" name="text-283.5-81">
            <a:extLst>
              <a:ext uri="{FF2B5EF4-FFF2-40B4-BE49-F238E27FC236}">
                <a16:creationId xmlns:a16="http://schemas.microsoft.com/office/drawing/2014/main" id="{980244E7-3278-45FC-830B-C2F1F182F0EB}"/>
              </a:ext>
            </a:extLst>
          </p:cNvPr>
          <p:cNvSpPr>
            <a:spLocks noGrp="1"/>
          </p:cNvSpPr>
          <p:nvPr/>
        </p:nvSpPr>
        <p:spPr>
          <a:xfrm>
            <a:off x="771525" y="288179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04</a:t>
            </a:r>
          </a:p>
        </p:txBody>
      </p:sp>
      <p:sp>
        <p:nvSpPr>
          <p:cNvPr id="17" name="text-283.5-135">
            <a:extLst>
              <a:ext uri="{FF2B5EF4-FFF2-40B4-BE49-F238E27FC236}">
                <a16:creationId xmlns:a16="http://schemas.microsoft.com/office/drawing/2014/main" id="{61D0D067-0639-44A8-9AB1-6BAAAF33B58A}"/>
              </a:ext>
            </a:extLst>
          </p:cNvPr>
          <p:cNvSpPr>
            <a:spLocks noGrp="1"/>
          </p:cNvSpPr>
          <p:nvPr/>
        </p:nvSpPr>
        <p:spPr>
          <a:xfrm>
            <a:off x="1285875" y="288179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count+=amount/coins[i];</a:t>
            </a:r>
          </a:p>
        </p:txBody>
      </p:sp>
      <p:sp>
        <p:nvSpPr>
          <p:cNvPr id="18" name="text-304-81">
            <a:extLst>
              <a:ext uri="{FF2B5EF4-FFF2-40B4-BE49-F238E27FC236}">
                <a16:creationId xmlns:a16="http://schemas.microsoft.com/office/drawing/2014/main" id="{DBE0B24A-A011-4D95-B9FF-877C3C10A55B}"/>
              </a:ext>
            </a:extLst>
          </p:cNvPr>
          <p:cNvSpPr>
            <a:spLocks noGrp="1"/>
          </p:cNvSpPr>
          <p:nvPr/>
        </p:nvSpPr>
        <p:spPr>
          <a:xfrm>
            <a:off x="771525" y="313563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05</a:t>
            </a:r>
          </a:p>
        </p:txBody>
      </p:sp>
      <p:sp>
        <p:nvSpPr>
          <p:cNvPr id="19" name="text-304-135">
            <a:extLst>
              <a:ext uri="{FF2B5EF4-FFF2-40B4-BE49-F238E27FC236}">
                <a16:creationId xmlns:a16="http://schemas.microsoft.com/office/drawing/2014/main" id="{F9C7B5F2-E57C-48B8-A8FE-1AF71A5031C4}"/>
              </a:ext>
            </a:extLst>
          </p:cNvPr>
          <p:cNvSpPr>
            <a:spLocks noGrp="1"/>
          </p:cNvSpPr>
          <p:nvPr/>
        </p:nvSpPr>
        <p:spPr>
          <a:xfrm>
            <a:off x="1285875" y="313563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amount%=coins[i];</a:t>
            </a:r>
          </a:p>
        </p:txBody>
      </p:sp>
      <p:sp>
        <p:nvSpPr>
          <p:cNvPr id="20" name="text-324.5-81">
            <a:extLst>
              <a:ext uri="{FF2B5EF4-FFF2-40B4-BE49-F238E27FC236}">
                <a16:creationId xmlns:a16="http://schemas.microsoft.com/office/drawing/2014/main" id="{21CF80C9-8365-41CD-8285-40F03189C777}"/>
              </a:ext>
            </a:extLst>
          </p:cNvPr>
          <p:cNvSpPr>
            <a:spLocks noGrp="1"/>
          </p:cNvSpPr>
          <p:nvPr/>
        </p:nvSpPr>
        <p:spPr>
          <a:xfrm>
            <a:off x="771525" y="3389472"/>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06</a:t>
            </a:r>
          </a:p>
        </p:txBody>
      </p:sp>
      <p:sp>
        <p:nvSpPr>
          <p:cNvPr id="21" name="text-324.5-135">
            <a:extLst>
              <a:ext uri="{FF2B5EF4-FFF2-40B4-BE49-F238E27FC236}">
                <a16:creationId xmlns:a16="http://schemas.microsoft.com/office/drawing/2014/main" id="{2E57B6DC-BA9F-447F-B00A-E9D77564DF93}"/>
              </a:ext>
            </a:extLst>
          </p:cNvPr>
          <p:cNvSpPr>
            <a:spLocks noGrp="1"/>
          </p:cNvSpPr>
          <p:nvPr/>
        </p:nvSpPr>
        <p:spPr>
          <a:xfrm>
            <a:off x="1285875" y="3389472"/>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a:t>
            </a:r>
          </a:p>
        </p:txBody>
      </p:sp>
      <p:sp>
        <p:nvSpPr>
          <p:cNvPr id="22" name="text-345-81">
            <a:extLst>
              <a:ext uri="{FF2B5EF4-FFF2-40B4-BE49-F238E27FC236}">
                <a16:creationId xmlns:a16="http://schemas.microsoft.com/office/drawing/2014/main" id="{0A94F552-F342-4908-88A4-6C519EF9771A}"/>
              </a:ext>
            </a:extLst>
          </p:cNvPr>
          <p:cNvSpPr>
            <a:spLocks noGrp="1"/>
          </p:cNvSpPr>
          <p:nvPr/>
        </p:nvSpPr>
        <p:spPr>
          <a:xfrm>
            <a:off x="771525" y="3643313"/>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07</a:t>
            </a:r>
          </a:p>
        </p:txBody>
      </p:sp>
      <p:sp>
        <p:nvSpPr>
          <p:cNvPr id="23" name="text-345-135">
            <a:extLst>
              <a:ext uri="{FF2B5EF4-FFF2-40B4-BE49-F238E27FC236}">
                <a16:creationId xmlns:a16="http://schemas.microsoft.com/office/drawing/2014/main" id="{FE537195-95C7-4DC1-A510-6E13803C6857}"/>
              </a:ext>
            </a:extLst>
          </p:cNvPr>
          <p:cNvSpPr>
            <a:spLocks noGrp="1"/>
          </p:cNvSpPr>
          <p:nvPr/>
        </p:nvSpPr>
        <p:spPr>
          <a:xfrm>
            <a:off x="1285875" y="3643313"/>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count;</a:t>
            </a:r>
          </a:p>
        </p:txBody>
      </p:sp>
      <p:sp>
        <p:nvSpPr>
          <p:cNvPr id="24" name="text-365.5-81">
            <a:extLst>
              <a:ext uri="{FF2B5EF4-FFF2-40B4-BE49-F238E27FC236}">
                <a16:creationId xmlns:a16="http://schemas.microsoft.com/office/drawing/2014/main" id="{22D68749-A7F8-4486-9CCD-5D015D811530}"/>
              </a:ext>
            </a:extLst>
          </p:cNvPr>
          <p:cNvSpPr>
            <a:spLocks noGrp="1"/>
          </p:cNvSpPr>
          <p:nvPr/>
        </p:nvSpPr>
        <p:spPr>
          <a:xfrm>
            <a:off x="771525" y="3897154"/>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08</a:t>
            </a:r>
          </a:p>
        </p:txBody>
      </p:sp>
      <p:sp>
        <p:nvSpPr>
          <p:cNvPr id="25" name="text-365.5-135">
            <a:extLst>
              <a:ext uri="{FF2B5EF4-FFF2-40B4-BE49-F238E27FC236}">
                <a16:creationId xmlns:a16="http://schemas.microsoft.com/office/drawing/2014/main" id="{662EAC6E-FBBA-4F6E-8858-22CAF37FA28A}"/>
              </a:ext>
            </a:extLst>
          </p:cNvPr>
          <p:cNvSpPr>
            <a:spLocks noGrp="1"/>
          </p:cNvSpPr>
          <p:nvPr/>
        </p:nvSpPr>
        <p:spPr>
          <a:xfrm>
            <a:off x="1285875" y="3897154"/>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a:t>
            </a:r>
          </a:p>
        </p:txBody>
      </p:sp>
      <p:sp>
        <p:nvSpPr>
          <p:cNvPr id="26" name="text-635-64">
            <a:extLst>
              <a:ext uri="{FF2B5EF4-FFF2-40B4-BE49-F238E27FC236}">
                <a16:creationId xmlns:a16="http://schemas.microsoft.com/office/drawing/2014/main" id="{A6EAFD9F-4092-4491-A8D8-4AE9EB1ABDAF}"/>
              </a:ext>
            </a:extLst>
          </p:cNvPr>
          <p:cNvSpPr>
            <a:spLocks noGrp="1"/>
          </p:cNvSpPr>
          <p:nvPr/>
        </p:nvSpPr>
        <p:spPr>
          <a:xfrm>
            <a:off x="609600" y="6048375"/>
            <a:ext cx="10972800" cy="213360"/>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고정된 5종류이므로 시간 O(1). 일반 m종류에서는 시간 O(m).</a:t>
            </a:r>
          </a:p>
        </p:txBody>
      </p:sp>
    </p:spTree>
    <p:extLst>
      <p:ext uri="{BB962C8B-B14F-4D97-AF65-F5344CB8AC3E}">
        <p14:creationId xmlns:p14="http://schemas.microsoft.com/office/powerpoint/2010/main" val="3197399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회의실 하나, 회의는 최대한 많이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20</a:t>
            </a:r>
            <a:endParaRPr lang="ko-KR" altLang="en-US" sz="1050" b="0" dirty="0">
              <a:solidFill>
                <a:srgbClr val="606060"/>
              </a:solidFill>
              <a:latin typeface="Malgun Gothic"/>
              <a:ea typeface="Malgun Gothic"/>
              <a:cs typeface="Malgun Gothic"/>
            </a:endParaRPr>
          </a:p>
        </p:txBody>
      </p:sp>
      <p:sp>
        <p:nvSpPr>
          <p:cNvPr id="9" name="fit:f7b5afc09c0f3450 10"/>
          <p:cNvSpPr/>
          <p:nvPr/>
        </p:nvSpPr>
        <p:spPr>
          <a:xfrm>
            <a:off x="658368" y="1737360"/>
            <a:ext cx="5120640" cy="56692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0" dirty="0">
                <a:solidFill>
                  <a:srgbClr val="171717"/>
                </a:solidFill>
                <a:latin typeface="Malgun Gothic"/>
                <a:ea typeface="Malgun Gothic"/>
                <a:cs typeface="Malgun Gothic"/>
              </a:rPr>
              <a:t>회의실은 하나, 요청은 여러 건입니다.</a:t>
            </a:r>
          </a:p>
          <a:p>
            <a:pPr algn="l" eaLnBrk="0" latinLnBrk="0">
              <a:lnSpc>
                <a:spcPct val="105000"/>
              </a:lnSpc>
              <a:buNone/>
            </a:pPr>
            <a:r>
              <a:rPr lang="ko-KR" altLang="en-US" sz="1700" b="0" dirty="0">
                <a:solidFill>
                  <a:srgbClr val="171717"/>
                </a:solidFill>
                <a:latin typeface="Malgun Gothic"/>
                <a:ea typeface="Malgun Gothic"/>
                <a:cs typeface="Malgun Gothic"/>
              </a:rPr>
              <a:t>회의마다 시작 시각과 종료 시각이 있습니다.</a:t>
            </a:r>
          </a:p>
        </p:txBody>
      </p:sp>
      <p:sp>
        <p:nvSpPr>
          <p:cNvPr id="10" name="fit:a65c261de82eba10 11"/>
          <p:cNvSpPr/>
          <p:nvPr/>
        </p:nvSpPr>
        <p:spPr>
          <a:xfrm>
            <a:off x="658368" y="2432304"/>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회의 하나 = 활동(activity)</a:t>
            </a:r>
          </a:p>
        </p:txBody>
      </p:sp>
      <p:sp>
        <p:nvSpPr>
          <p:cNvPr id="11" name="fit:ce3bfddb9f6662b3 12"/>
          <p:cNvSpPr/>
          <p:nvPr/>
        </p:nvSpPr>
        <p:spPr>
          <a:xfrm>
            <a:off x="841248" y="2752344"/>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그래서 활동 선택 문제라고 부릅니다.</a:t>
            </a:r>
          </a:p>
        </p:txBody>
      </p:sp>
      <p:sp>
        <p:nvSpPr>
          <p:cNvPr id="12" name="fit:094e5bffada2d5e2 13"/>
          <p:cNvSpPr/>
          <p:nvPr/>
        </p:nvSpPr>
        <p:spPr>
          <a:xfrm>
            <a:off x="658368" y="3127248"/>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한 번에 한 회의만</a:t>
            </a:r>
          </a:p>
        </p:txBody>
      </p:sp>
      <p:sp>
        <p:nvSpPr>
          <p:cNvPr id="13" name="fit:cd1d98f01756c609 14"/>
          <p:cNvSpPr/>
          <p:nvPr/>
        </p:nvSpPr>
        <p:spPr>
          <a:xfrm>
            <a:off x="841248" y="3447288"/>
            <a:ext cx="4937760" cy="502920"/>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시간이 겹치는 두 회의는 함께 넣을 수 없고,</a:t>
            </a:r>
          </a:p>
          <a:p>
            <a:pPr algn="l" eaLnBrk="0" latinLnBrk="0">
              <a:lnSpc>
                <a:spcPct val="105000"/>
              </a:lnSpc>
              <a:buNone/>
            </a:pPr>
            <a:r>
              <a:rPr lang="ko-KR" altLang="en-US" sz="1500" b="0" dirty="0">
                <a:solidFill>
                  <a:srgbClr val="3F3F3F"/>
                </a:solidFill>
                <a:latin typeface="Malgun Gothic"/>
                <a:ea typeface="Malgun Gothic"/>
                <a:cs typeface="Malgun Gothic"/>
              </a:rPr>
              <a:t>회의를 도중에 끊을 수도 없습니다.</a:t>
            </a:r>
          </a:p>
        </p:txBody>
      </p:sp>
      <p:sp>
        <p:nvSpPr>
          <p:cNvPr id="14" name="fit:44767632e7f669fd 15"/>
          <p:cNvSpPr/>
          <p:nvPr/>
        </p:nvSpPr>
        <p:spPr>
          <a:xfrm>
            <a:off x="658368" y="4059936"/>
            <a:ext cx="5120640" cy="301752"/>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1" dirty="0">
                <a:solidFill>
                  <a:srgbClr val="171717"/>
                </a:solidFill>
                <a:latin typeface="Malgun Gothic"/>
                <a:ea typeface="Malgun Gothic"/>
                <a:cs typeface="Malgun Gothic"/>
              </a:rPr>
              <a:t>목표: 회의의 개수를 최대로</a:t>
            </a:r>
          </a:p>
        </p:txBody>
      </p:sp>
      <p:sp>
        <p:nvSpPr>
          <p:cNvPr id="15" name="fit:566c0ea5a0f43703 16"/>
          <p:cNvSpPr/>
          <p:nvPr/>
        </p:nvSpPr>
        <p:spPr>
          <a:xfrm>
            <a:off x="841248" y="4379976"/>
            <a:ext cx="4937760"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3F3F3F"/>
                </a:solidFill>
                <a:latin typeface="Malgun Gothic"/>
                <a:ea typeface="Malgun Gothic"/>
                <a:cs typeface="Malgun Gothic"/>
              </a:rPr>
              <a:t>사용 시간의 합이 아니라 넣은 회의의 수입니다.</a:t>
            </a:r>
          </a:p>
        </p:txBody>
      </p:sp>
      <p:pic>
        <p:nvPicPr>
          <p:cNvPr id="16" name="그림 17"/>
          <p:cNvPicPr>
            <a:picLocks noChangeAspect="1"/>
          </p:cNvPicPr>
          <p:nvPr/>
        </p:nvPicPr>
        <p:blipFill>
          <a:blip r:embed="rId3"/>
          <a:stretch>
            <a:fillRect/>
          </a:stretch>
        </p:blipFill>
        <p:spPr>
          <a:xfrm>
            <a:off x="6126480" y="2444143"/>
            <a:ext cx="5458968" cy="2975554"/>
          </a:xfrm>
          <a:prstGeom prst="rect">
            <a:avLst/>
          </a:prstGeom>
        </p:spPr>
      </p:pic>
      <p:sp>
        <p:nvSpPr>
          <p:cNvPr id="17" name="직사각형 18"/>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 속 '세미나실'은 이 강의의 회의실입니다. 목표는 '오래'가 아니라 '많이'입니다.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[시작, 종료) 표기: 끝나는 시각에 바로 시작</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21</a:t>
            </a:r>
            <a:endParaRPr lang="ko-KR" altLang="en-US" sz="1050" b="0" dirty="0">
              <a:solidFill>
                <a:srgbClr val="606060"/>
              </a:solidFill>
              <a:latin typeface="Malgun Gothic"/>
              <a:ea typeface="Malgun Gothic"/>
              <a:cs typeface="Malgun Gothic"/>
            </a:endParaRPr>
          </a:p>
        </p:txBody>
      </p:sp>
      <p:sp>
        <p:nvSpPr>
          <p:cNvPr id="9" name="fit:099b4de91e7c97fa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 4)는 1시에 시작해 4시에 끝나는 회의입니다.</a:t>
            </a:r>
          </a:p>
          <a:p>
            <a:pPr algn="l" eaLnBrk="0" latinLnBrk="0">
              <a:lnSpc>
                <a:spcPct val="100000"/>
              </a:lnSpc>
              <a:buNone/>
            </a:pPr>
            <a:r>
              <a:rPr lang="ko-KR" altLang="en-US" sz="2025" b="0" dirty="0">
                <a:solidFill>
                  <a:srgbClr val="171717"/>
                </a:solidFill>
                <a:latin typeface="Malgun Gothic"/>
                <a:ea typeface="Malgun Gothic"/>
                <a:cs typeface="Malgun Gothic"/>
              </a:rPr>
              <a:t>[는 1시를 포함하고, )는 4시를 포함하지 않습니다.</a:t>
            </a:r>
          </a:p>
        </p:txBody>
      </p:sp>
      <p:cxnSp>
        <p:nvCxnSpPr>
          <p:cNvPr id="10" name="연결선 11"/>
          <p:cNvCxnSpPr/>
          <p:nvPr/>
        </p:nvCxnSpPr>
        <p:spPr>
          <a:xfrm>
            <a:off x="2743200" y="2852928"/>
            <a:ext cx="0" cy="1444752"/>
          </a:xfrm>
          <a:prstGeom prst="line">
            <a:avLst/>
          </a:prstGeom>
          <a:ln w="6350">
            <a:solidFill>
              <a:srgbClr val="E6E6E6"/>
            </a:solidFill>
          </a:ln>
        </p:spPr>
      </p:cxnSp>
      <p:sp>
        <p:nvSpPr>
          <p:cNvPr id="11" name="직사각형 12"/>
          <p:cNvSpPr/>
          <p:nvPr/>
        </p:nvSpPr>
        <p:spPr>
          <a:xfrm>
            <a:off x="25603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657600" y="2852928"/>
            <a:ext cx="0" cy="1444752"/>
          </a:xfrm>
          <a:prstGeom prst="line">
            <a:avLst/>
          </a:prstGeom>
          <a:ln w="6350">
            <a:solidFill>
              <a:srgbClr val="E6E6E6"/>
            </a:solidFill>
          </a:ln>
        </p:spPr>
      </p:cxnSp>
      <p:sp>
        <p:nvSpPr>
          <p:cNvPr id="13" name="직사각형 14"/>
          <p:cNvSpPr/>
          <p:nvPr/>
        </p:nvSpPr>
        <p:spPr>
          <a:xfrm>
            <a:off x="34747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4572000" y="2852928"/>
            <a:ext cx="0" cy="1444752"/>
          </a:xfrm>
          <a:prstGeom prst="line">
            <a:avLst/>
          </a:prstGeom>
          <a:ln w="6350">
            <a:solidFill>
              <a:srgbClr val="E6E6E6"/>
            </a:solidFill>
          </a:ln>
        </p:spPr>
      </p:cxnSp>
      <p:sp>
        <p:nvSpPr>
          <p:cNvPr id="15" name="직사각형 16"/>
          <p:cNvSpPr/>
          <p:nvPr/>
        </p:nvSpPr>
        <p:spPr>
          <a:xfrm>
            <a:off x="43891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5486400" y="2852928"/>
            <a:ext cx="0" cy="1444752"/>
          </a:xfrm>
          <a:prstGeom prst="line">
            <a:avLst/>
          </a:prstGeom>
          <a:ln w="6350">
            <a:solidFill>
              <a:srgbClr val="E6E6E6"/>
            </a:solidFill>
          </a:ln>
        </p:spPr>
      </p:cxnSp>
      <p:sp>
        <p:nvSpPr>
          <p:cNvPr id="17" name="직사각형 18"/>
          <p:cNvSpPr/>
          <p:nvPr/>
        </p:nvSpPr>
        <p:spPr>
          <a:xfrm>
            <a:off x="53035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6400800" y="2852928"/>
            <a:ext cx="0" cy="1444752"/>
          </a:xfrm>
          <a:prstGeom prst="line">
            <a:avLst/>
          </a:prstGeom>
          <a:ln w="6350">
            <a:solidFill>
              <a:srgbClr val="E6E6E6"/>
            </a:solidFill>
          </a:ln>
        </p:spPr>
      </p:cxnSp>
      <p:sp>
        <p:nvSpPr>
          <p:cNvPr id="19" name="직사각형 20"/>
          <p:cNvSpPr/>
          <p:nvPr/>
        </p:nvSpPr>
        <p:spPr>
          <a:xfrm>
            <a:off x="62179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7315200" y="2852928"/>
            <a:ext cx="0" cy="1444752"/>
          </a:xfrm>
          <a:prstGeom prst="line">
            <a:avLst/>
          </a:prstGeom>
          <a:ln w="6350">
            <a:solidFill>
              <a:srgbClr val="E6E6E6"/>
            </a:solidFill>
          </a:ln>
        </p:spPr>
      </p:cxnSp>
      <p:sp>
        <p:nvSpPr>
          <p:cNvPr id="21" name="직사각형 22"/>
          <p:cNvSpPr/>
          <p:nvPr/>
        </p:nvSpPr>
        <p:spPr>
          <a:xfrm>
            <a:off x="71323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8229600" y="2852928"/>
            <a:ext cx="0" cy="1444752"/>
          </a:xfrm>
          <a:prstGeom prst="line">
            <a:avLst/>
          </a:prstGeom>
          <a:ln w="6350">
            <a:solidFill>
              <a:srgbClr val="E6E6E6"/>
            </a:solidFill>
          </a:ln>
        </p:spPr>
      </p:cxnSp>
      <p:sp>
        <p:nvSpPr>
          <p:cNvPr id="23" name="직사각형 24"/>
          <p:cNvSpPr/>
          <p:nvPr/>
        </p:nvSpPr>
        <p:spPr>
          <a:xfrm>
            <a:off x="80467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9144000" y="2852928"/>
            <a:ext cx="0" cy="1444752"/>
          </a:xfrm>
          <a:prstGeom prst="line">
            <a:avLst/>
          </a:prstGeom>
          <a:ln w="6350">
            <a:solidFill>
              <a:srgbClr val="E6E6E6"/>
            </a:solidFill>
          </a:ln>
        </p:spPr>
      </p:cxnSp>
      <p:sp>
        <p:nvSpPr>
          <p:cNvPr id="25" name="직사각형 26"/>
          <p:cNvSpPr/>
          <p:nvPr/>
        </p:nvSpPr>
        <p:spPr>
          <a:xfrm>
            <a:off x="8961120" y="26151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6400800" y="2834640"/>
            <a:ext cx="0" cy="1517904"/>
          </a:xfrm>
          <a:prstGeom prst="line">
            <a:avLst/>
          </a:prstGeom>
          <a:ln w="28575">
            <a:solidFill>
              <a:srgbClr val="B8651B"/>
            </a:solidFill>
            <a:prstDash val="dash"/>
          </a:ln>
        </p:spPr>
      </p:cxnSp>
      <p:sp>
        <p:nvSpPr>
          <p:cNvPr id="27" name="직사각형 28"/>
          <p:cNvSpPr/>
          <p:nvPr/>
        </p:nvSpPr>
        <p:spPr>
          <a:xfrm>
            <a:off x="960120" y="297180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 4)</a:t>
            </a:r>
          </a:p>
        </p:txBody>
      </p:sp>
      <p:sp>
        <p:nvSpPr>
          <p:cNvPr id="28" name="직사각형 29"/>
          <p:cNvSpPr/>
          <p:nvPr/>
        </p:nvSpPr>
        <p:spPr>
          <a:xfrm>
            <a:off x="3657600" y="2971800"/>
            <a:ext cx="2743200" cy="36576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1시 ~ 4시 직전</a:t>
            </a:r>
          </a:p>
        </p:txBody>
      </p:sp>
      <p:sp>
        <p:nvSpPr>
          <p:cNvPr id="29" name="직사각형 30"/>
          <p:cNvSpPr/>
          <p:nvPr/>
        </p:nvSpPr>
        <p:spPr>
          <a:xfrm>
            <a:off x="960120" y="342900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 6)</a:t>
            </a:r>
          </a:p>
        </p:txBody>
      </p:sp>
      <p:sp>
        <p:nvSpPr>
          <p:cNvPr id="30" name="직사각형 31"/>
          <p:cNvSpPr/>
          <p:nvPr/>
        </p:nvSpPr>
        <p:spPr>
          <a:xfrm>
            <a:off x="6400800" y="3429000"/>
            <a:ext cx="1828800" cy="36576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4시부터</a:t>
            </a:r>
          </a:p>
        </p:txBody>
      </p:sp>
      <p:sp>
        <p:nvSpPr>
          <p:cNvPr id="31" name="직사각형 32"/>
          <p:cNvSpPr/>
          <p:nvPr/>
        </p:nvSpPr>
        <p:spPr>
          <a:xfrm>
            <a:off x="960120" y="388620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[3, 5)</a:t>
            </a:r>
          </a:p>
        </p:txBody>
      </p:sp>
      <p:sp>
        <p:nvSpPr>
          <p:cNvPr id="32" name="직사각형 33"/>
          <p:cNvSpPr/>
          <p:nvPr/>
        </p:nvSpPr>
        <p:spPr>
          <a:xfrm>
            <a:off x="5486400" y="3886200"/>
            <a:ext cx="1828800" cy="36576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33" name="직사각형 34"/>
          <p:cNvSpPr/>
          <p:nvPr/>
        </p:nvSpPr>
        <p:spPr>
          <a:xfrm>
            <a:off x="5577840" y="4370832"/>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4시</a:t>
            </a:r>
          </a:p>
        </p:txBody>
      </p:sp>
      <p:sp>
        <p:nvSpPr>
          <p:cNvPr id="34" name="직사각형 35"/>
          <p:cNvSpPr/>
          <p:nvPr/>
        </p:nvSpPr>
        <p:spPr>
          <a:xfrm>
            <a:off x="9418320" y="2971800"/>
            <a:ext cx="214884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함께 고를 수 있음</a:t>
            </a:r>
          </a:p>
        </p:txBody>
      </p:sp>
      <p:sp>
        <p:nvSpPr>
          <p:cNvPr id="35" name="직사각형 36"/>
          <p:cNvSpPr/>
          <p:nvPr/>
        </p:nvSpPr>
        <p:spPr>
          <a:xfrm>
            <a:off x="9418320" y="3429000"/>
            <a:ext cx="214884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4 ≥ 4</a:t>
            </a:r>
          </a:p>
        </p:txBody>
      </p:sp>
      <p:sp>
        <p:nvSpPr>
          <p:cNvPr id="36" name="직사각형 37"/>
          <p:cNvSpPr/>
          <p:nvPr/>
        </p:nvSpPr>
        <p:spPr>
          <a:xfrm>
            <a:off x="9418320" y="3886200"/>
            <a:ext cx="214884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둘 모두와 겹침</a:t>
            </a:r>
          </a:p>
        </p:txBody>
      </p:sp>
      <p:sp>
        <p:nvSpPr>
          <p:cNvPr id="37" name="fit:13ebb2f6b3475686 38"/>
          <p:cNvSpPr/>
          <p:nvPr/>
        </p:nvSpPr>
        <p:spPr>
          <a:xfrm>
            <a:off x="612648" y="4828032"/>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규칙: 다음 회의의 시작 ≥ 앞 회의의 종료이면 겹치지 않습니다.</a:t>
            </a:r>
          </a:p>
        </p:txBody>
      </p:sp>
      <p:sp>
        <p:nvSpPr>
          <p:cNvPr id="38" name="fit:324d16a96fbc7491 39"/>
          <p:cNvSpPr/>
          <p:nvPr/>
        </p:nvSpPr>
        <p:spPr>
          <a:xfrm>
            <a:off x="612648" y="5285232"/>
            <a:ext cx="10972800" cy="56692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0" dirty="0">
                <a:solidFill>
                  <a:srgbClr val="171717"/>
                </a:solidFill>
                <a:latin typeface="Malgun Gothic"/>
                <a:ea typeface="Malgun Gothic"/>
                <a:cs typeface="Malgun Gothic"/>
              </a:rPr>
              <a:t>[1, 4)와 [4, 6)은 함께 고를 수 있습니다. 4시에 하나가 끝나고 다른 하나가 시작합니다.</a:t>
            </a:r>
          </a:p>
          <a:p>
            <a:pPr algn="l" eaLnBrk="0" latinLnBrk="0">
              <a:lnSpc>
                <a:spcPct val="105000"/>
              </a:lnSpc>
              <a:buNone/>
            </a:pPr>
            <a:r>
              <a:rPr lang="ko-KR" altLang="en-US" sz="1700" b="0" dirty="0">
                <a:solidFill>
                  <a:srgbClr val="171717"/>
                </a:solidFill>
                <a:latin typeface="Malgun Gothic"/>
                <a:ea typeface="Malgun Gothic"/>
                <a:cs typeface="Malgun Gothic"/>
              </a:rPr>
              <a:t>[3, 5)는 4시 전에 시작해 4시 뒤에 끝나므로 [1, 4), [4, 6) 둘 모두와 겹칩니다.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실패 ① 일찍 시작하는 회의부터? · 1개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22</a:t>
            </a:r>
            <a:endParaRPr lang="ko-KR" altLang="en-US" sz="1050" b="0" dirty="0">
              <a:solidFill>
                <a:srgbClr val="606060"/>
              </a:solidFill>
              <a:latin typeface="Malgun Gothic"/>
              <a:ea typeface="Malgun Gothic"/>
              <a:cs typeface="Malgun Gothic"/>
            </a:endParaRPr>
          </a:p>
        </p:txBody>
      </p:sp>
      <p:sp>
        <p:nvSpPr>
          <p:cNvPr id="9" name="fit:fb9de2c01a2a5a7e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시작이 빠른 순으로 보며 겹치지 않으면 고릅니다.</a:t>
            </a:r>
          </a:p>
          <a:p>
            <a:pPr algn="l" eaLnBrk="0" latinLnBrk="0">
              <a:lnSpc>
                <a:spcPct val="100000"/>
              </a:lnSpc>
              <a:buNone/>
            </a:pPr>
            <a:r>
              <a:rPr lang="ko-KR" altLang="en-US" sz="2025" b="0" dirty="0">
                <a:solidFill>
                  <a:srgbClr val="171717"/>
                </a:solidFill>
                <a:latin typeface="Malgun Gothic"/>
                <a:ea typeface="Malgun Gothic"/>
                <a:cs typeface="Malgun Gothic"/>
              </a:rPr>
              <a:t>[1, 10)을 먼저 고르자 나머지 둘이 모두 겹칩니다.</a:t>
            </a:r>
          </a:p>
        </p:txBody>
      </p:sp>
      <p:cxnSp>
        <p:nvCxnSpPr>
          <p:cNvPr id="10" name="연결선 11"/>
          <p:cNvCxnSpPr/>
          <p:nvPr/>
        </p:nvCxnSpPr>
        <p:spPr>
          <a:xfrm>
            <a:off x="2743200" y="2944368"/>
            <a:ext cx="0" cy="1444752"/>
          </a:xfrm>
          <a:prstGeom prst="line">
            <a:avLst/>
          </a:prstGeom>
          <a:ln w="6350">
            <a:solidFill>
              <a:srgbClr val="E6E6E6"/>
            </a:solidFill>
          </a:ln>
        </p:spPr>
      </p:cxnSp>
      <p:sp>
        <p:nvSpPr>
          <p:cNvPr id="11" name="직사각형 12"/>
          <p:cNvSpPr/>
          <p:nvPr/>
        </p:nvSpPr>
        <p:spPr>
          <a:xfrm>
            <a:off x="2560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83280" y="2944368"/>
            <a:ext cx="0" cy="1444752"/>
          </a:xfrm>
          <a:prstGeom prst="line">
            <a:avLst/>
          </a:prstGeom>
          <a:ln w="6350">
            <a:solidFill>
              <a:srgbClr val="E6E6E6"/>
            </a:solidFill>
          </a:ln>
        </p:spPr>
      </p:cxnSp>
      <p:sp>
        <p:nvSpPr>
          <p:cNvPr id="13" name="직사각형 14"/>
          <p:cNvSpPr/>
          <p:nvPr/>
        </p:nvSpPr>
        <p:spPr>
          <a:xfrm>
            <a:off x="32004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4023360" y="2944368"/>
            <a:ext cx="0" cy="1444752"/>
          </a:xfrm>
          <a:prstGeom prst="line">
            <a:avLst/>
          </a:prstGeom>
          <a:ln w="6350">
            <a:solidFill>
              <a:srgbClr val="E6E6E6"/>
            </a:solidFill>
          </a:ln>
        </p:spPr>
      </p:cxnSp>
      <p:sp>
        <p:nvSpPr>
          <p:cNvPr id="15" name="직사각형 16"/>
          <p:cNvSpPr/>
          <p:nvPr/>
        </p:nvSpPr>
        <p:spPr>
          <a:xfrm>
            <a:off x="38404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663440" y="2944368"/>
            <a:ext cx="0" cy="1444752"/>
          </a:xfrm>
          <a:prstGeom prst="line">
            <a:avLst/>
          </a:prstGeom>
          <a:ln w="6350">
            <a:solidFill>
              <a:srgbClr val="E6E6E6"/>
            </a:solidFill>
          </a:ln>
        </p:spPr>
      </p:cxnSp>
      <p:sp>
        <p:nvSpPr>
          <p:cNvPr id="17" name="직사각형 18"/>
          <p:cNvSpPr/>
          <p:nvPr/>
        </p:nvSpPr>
        <p:spPr>
          <a:xfrm>
            <a:off x="44805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303520" y="2944368"/>
            <a:ext cx="0" cy="1444752"/>
          </a:xfrm>
          <a:prstGeom prst="line">
            <a:avLst/>
          </a:prstGeom>
          <a:ln w="6350">
            <a:solidFill>
              <a:srgbClr val="E6E6E6"/>
            </a:solidFill>
          </a:ln>
        </p:spPr>
      </p:cxnSp>
      <p:sp>
        <p:nvSpPr>
          <p:cNvPr id="19" name="직사각형 20"/>
          <p:cNvSpPr/>
          <p:nvPr/>
        </p:nvSpPr>
        <p:spPr>
          <a:xfrm>
            <a:off x="51206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943600" y="2944368"/>
            <a:ext cx="0" cy="1444752"/>
          </a:xfrm>
          <a:prstGeom prst="line">
            <a:avLst/>
          </a:prstGeom>
          <a:ln w="6350">
            <a:solidFill>
              <a:srgbClr val="E6E6E6"/>
            </a:solidFill>
          </a:ln>
        </p:spPr>
      </p:cxnSp>
      <p:sp>
        <p:nvSpPr>
          <p:cNvPr id="21" name="직사각형 22"/>
          <p:cNvSpPr/>
          <p:nvPr/>
        </p:nvSpPr>
        <p:spPr>
          <a:xfrm>
            <a:off x="5760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583680" y="2944368"/>
            <a:ext cx="0" cy="1444752"/>
          </a:xfrm>
          <a:prstGeom prst="line">
            <a:avLst/>
          </a:prstGeom>
          <a:ln w="6350">
            <a:solidFill>
              <a:srgbClr val="E6E6E6"/>
            </a:solidFill>
          </a:ln>
        </p:spPr>
      </p:cxnSp>
      <p:sp>
        <p:nvSpPr>
          <p:cNvPr id="23" name="직사각형 24"/>
          <p:cNvSpPr/>
          <p:nvPr/>
        </p:nvSpPr>
        <p:spPr>
          <a:xfrm>
            <a:off x="64008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7223760" y="2944368"/>
            <a:ext cx="0" cy="1444752"/>
          </a:xfrm>
          <a:prstGeom prst="line">
            <a:avLst/>
          </a:prstGeom>
          <a:ln w="6350">
            <a:solidFill>
              <a:srgbClr val="E6E6E6"/>
            </a:solidFill>
          </a:ln>
        </p:spPr>
      </p:cxnSp>
      <p:sp>
        <p:nvSpPr>
          <p:cNvPr id="25" name="직사각형 26"/>
          <p:cNvSpPr/>
          <p:nvPr/>
        </p:nvSpPr>
        <p:spPr>
          <a:xfrm>
            <a:off x="70408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863840" y="2944368"/>
            <a:ext cx="0" cy="1444752"/>
          </a:xfrm>
          <a:prstGeom prst="line">
            <a:avLst/>
          </a:prstGeom>
          <a:ln w="6350">
            <a:solidFill>
              <a:srgbClr val="E6E6E6"/>
            </a:solidFill>
          </a:ln>
        </p:spPr>
      </p:cxnSp>
      <p:sp>
        <p:nvSpPr>
          <p:cNvPr id="27" name="직사각형 28"/>
          <p:cNvSpPr/>
          <p:nvPr/>
        </p:nvSpPr>
        <p:spPr>
          <a:xfrm>
            <a:off x="76809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503920" y="2944368"/>
            <a:ext cx="0" cy="1444752"/>
          </a:xfrm>
          <a:prstGeom prst="line">
            <a:avLst/>
          </a:prstGeom>
          <a:ln w="6350">
            <a:solidFill>
              <a:srgbClr val="E6E6E6"/>
            </a:solidFill>
          </a:ln>
        </p:spPr>
      </p:cxnSp>
      <p:sp>
        <p:nvSpPr>
          <p:cNvPr id="29" name="직사각형 30"/>
          <p:cNvSpPr/>
          <p:nvPr/>
        </p:nvSpPr>
        <p:spPr>
          <a:xfrm>
            <a:off x="83210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9144000" y="2944368"/>
            <a:ext cx="0" cy="1444752"/>
          </a:xfrm>
          <a:prstGeom prst="line">
            <a:avLst/>
          </a:prstGeom>
          <a:ln w="6350">
            <a:solidFill>
              <a:srgbClr val="E6E6E6"/>
            </a:solidFill>
          </a:ln>
        </p:spPr>
      </p:cxnSp>
      <p:sp>
        <p:nvSpPr>
          <p:cNvPr id="31" name="직사각형 32"/>
          <p:cNvSpPr/>
          <p:nvPr/>
        </p:nvSpPr>
        <p:spPr>
          <a:xfrm>
            <a:off x="8961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784080" y="2944368"/>
            <a:ext cx="0" cy="1444752"/>
          </a:xfrm>
          <a:prstGeom prst="line">
            <a:avLst/>
          </a:prstGeom>
          <a:ln w="6350">
            <a:solidFill>
              <a:srgbClr val="E6E6E6"/>
            </a:solidFill>
          </a:ln>
        </p:spPr>
      </p:cxnSp>
      <p:sp>
        <p:nvSpPr>
          <p:cNvPr id="33" name="직사각형 34"/>
          <p:cNvSpPr/>
          <p:nvPr/>
        </p:nvSpPr>
        <p:spPr>
          <a:xfrm>
            <a:off x="96012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144000" y="2926080"/>
            <a:ext cx="0" cy="1517904"/>
          </a:xfrm>
          <a:prstGeom prst="line">
            <a:avLst/>
          </a:prstGeom>
          <a:ln w="28575">
            <a:solidFill>
              <a:srgbClr val="B8651B"/>
            </a:solidFill>
            <a:prstDash val="dash"/>
          </a:ln>
        </p:spPr>
      </p:cxnSp>
      <p:sp>
        <p:nvSpPr>
          <p:cNvPr id="35" name="직사각형 36"/>
          <p:cNvSpPr/>
          <p:nvPr/>
        </p:nvSpPr>
        <p:spPr>
          <a:xfrm>
            <a:off x="960120" y="306324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 10)</a:t>
            </a:r>
          </a:p>
        </p:txBody>
      </p:sp>
      <p:sp>
        <p:nvSpPr>
          <p:cNvPr id="36" name="직사각형 37"/>
          <p:cNvSpPr/>
          <p:nvPr/>
        </p:nvSpPr>
        <p:spPr>
          <a:xfrm>
            <a:off x="3383280" y="3063240"/>
            <a:ext cx="5760720" cy="36576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① 선택</a:t>
            </a:r>
          </a:p>
        </p:txBody>
      </p:sp>
      <p:sp>
        <p:nvSpPr>
          <p:cNvPr id="37" name="직사각형 38"/>
          <p:cNvSpPr/>
          <p:nvPr/>
        </p:nvSpPr>
        <p:spPr>
          <a:xfrm>
            <a:off x="960120" y="352044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 3)</a:t>
            </a:r>
          </a:p>
        </p:txBody>
      </p:sp>
      <p:sp>
        <p:nvSpPr>
          <p:cNvPr id="38" name="직사각형 39"/>
          <p:cNvSpPr/>
          <p:nvPr/>
        </p:nvSpPr>
        <p:spPr>
          <a:xfrm>
            <a:off x="4023360" y="3520440"/>
            <a:ext cx="640080" cy="36576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②</a:t>
            </a:r>
          </a:p>
        </p:txBody>
      </p:sp>
      <p:sp>
        <p:nvSpPr>
          <p:cNvPr id="39" name="직사각형 40"/>
          <p:cNvSpPr/>
          <p:nvPr/>
        </p:nvSpPr>
        <p:spPr>
          <a:xfrm>
            <a:off x="960120" y="3977640"/>
            <a:ext cx="169164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[4, 5)</a:t>
            </a:r>
          </a:p>
        </p:txBody>
      </p:sp>
      <p:sp>
        <p:nvSpPr>
          <p:cNvPr id="40" name="직사각형 41"/>
          <p:cNvSpPr/>
          <p:nvPr/>
        </p:nvSpPr>
        <p:spPr>
          <a:xfrm>
            <a:off x="5303520" y="3977640"/>
            <a:ext cx="640080" cy="365760"/>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③</a:t>
            </a:r>
          </a:p>
        </p:txBody>
      </p:sp>
      <p:sp>
        <p:nvSpPr>
          <p:cNvPr id="41" name="직사각형 42"/>
          <p:cNvSpPr/>
          <p:nvPr/>
        </p:nvSpPr>
        <p:spPr>
          <a:xfrm>
            <a:off x="8321040" y="4462272"/>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10시까지 사용 중</a:t>
            </a:r>
          </a:p>
        </p:txBody>
      </p:sp>
      <p:sp>
        <p:nvSpPr>
          <p:cNvPr id="42" name="직사각형 43"/>
          <p:cNvSpPr/>
          <p:nvPr/>
        </p:nvSpPr>
        <p:spPr>
          <a:xfrm>
            <a:off x="2743200" y="5120640"/>
            <a:ext cx="3291840" cy="512064"/>
          </a:xfrm>
          <a:prstGeom prst="rect">
            <a:avLst/>
          </a:prstGeom>
          <a:solidFill>
            <a:srgbClr val="FBE1E1"/>
          </a:solidFill>
          <a:ln w="0">
            <a:noFill/>
          </a:ln>
        </p:spPr>
        <p:txBody>
          <a:bodyPr wrap="square" lIns="0" tIns="0" rIns="0" bIns="0" anchor="ctr">
            <a:noAutofit/>
          </a:bodyPr>
          <a:lstStyle/>
          <a:p>
            <a:pPr algn="ctr" eaLnBrk="0" latinLnBrk="0">
              <a:lnSpc>
                <a:spcPct val="100000"/>
              </a:lnSpc>
              <a:buNone/>
            </a:pPr>
            <a:r>
              <a:rPr lang="ko-KR" altLang="en-US" sz="1800" b="1" dirty="0">
                <a:solidFill>
                  <a:srgbClr val="B23B3B"/>
                </a:solidFill>
                <a:latin typeface="Malgun Gothic"/>
                <a:ea typeface="Malgun Gothic"/>
                <a:cs typeface="Malgun Gothic"/>
              </a:rPr>
              <a:t>시작 순 그리디: 1개</a:t>
            </a:r>
          </a:p>
        </p:txBody>
      </p:sp>
      <p:sp>
        <p:nvSpPr>
          <p:cNvPr id="43" name="직사각형 44"/>
          <p:cNvSpPr/>
          <p:nvPr/>
        </p:nvSpPr>
        <p:spPr>
          <a:xfrm>
            <a:off x="9966960" y="3063240"/>
            <a:ext cx="160020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8651B"/>
                </a:solidFill>
                <a:latin typeface="Malgun Gothic"/>
                <a:ea typeface="Malgun Gothic"/>
                <a:cs typeface="Malgun Gothic"/>
              </a:rPr>
              <a:t>① 처음이라 고름</a:t>
            </a:r>
          </a:p>
        </p:txBody>
      </p:sp>
      <p:sp>
        <p:nvSpPr>
          <p:cNvPr id="44" name="직사각형 45"/>
          <p:cNvSpPr/>
          <p:nvPr/>
        </p:nvSpPr>
        <p:spPr>
          <a:xfrm>
            <a:off x="9966960" y="3520440"/>
            <a:ext cx="160020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② 2시 &lt; 10시</a:t>
            </a:r>
          </a:p>
        </p:txBody>
      </p:sp>
      <p:sp>
        <p:nvSpPr>
          <p:cNvPr id="45" name="직사각형 46"/>
          <p:cNvSpPr/>
          <p:nvPr/>
        </p:nvSpPr>
        <p:spPr>
          <a:xfrm>
            <a:off x="9966960" y="3977640"/>
            <a:ext cx="1600200" cy="365760"/>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③ 4시 &lt; 10시</a:t>
            </a:r>
          </a:p>
        </p:txBody>
      </p:sp>
      <p:sp>
        <p:nvSpPr>
          <p:cNvPr id="46" name="직사각형 4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고른 회의    빨강 점선: 겹쳐서 버린 회의    주황 점선: 회의실이 비는 시각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반례 완성: 시작 순 1개 &lt; 최적 2개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23</a:t>
            </a:r>
            <a:endParaRPr lang="ko-KR" altLang="en-US" sz="1050" b="0" dirty="0">
              <a:solidFill>
                <a:srgbClr val="606060"/>
              </a:solidFill>
              <a:latin typeface="Malgun Gothic"/>
              <a:ea typeface="Malgun Gothic"/>
              <a:cs typeface="Malgun Gothic"/>
            </a:endParaRPr>
          </a:p>
        </p:txBody>
      </p:sp>
      <p:sp>
        <p:nvSpPr>
          <p:cNvPr id="9" name="fit:4e0d4a5aaa26d0e1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 10)을 버리면 [2, 3)과 [4, 5)를 함께 넣을 수 있습니다.</a:t>
            </a:r>
          </a:p>
          <a:p>
            <a:pPr algn="l" eaLnBrk="0" latinLnBrk="0">
              <a:lnSpc>
                <a:spcPct val="100000"/>
              </a:lnSpc>
              <a:buNone/>
            </a:pPr>
            <a:r>
              <a:rPr lang="ko-KR" altLang="en-US" sz="2025" b="0" dirty="0">
                <a:solidFill>
                  <a:srgbClr val="171717"/>
                </a:solidFill>
                <a:latin typeface="Malgun Gothic"/>
                <a:ea typeface="Malgun Gothic"/>
                <a:cs typeface="Malgun Gothic"/>
              </a:rPr>
              <a:t>그리디 1개 &lt; 최적 2개, 이 기준은 최적을 보장하지 않습니다.</a:t>
            </a:r>
          </a:p>
        </p:txBody>
      </p:sp>
      <p:sp>
        <p:nvSpPr>
          <p:cNvPr id="10" name="직사각형 11"/>
          <p:cNvSpPr/>
          <p:nvPr/>
        </p:nvSpPr>
        <p:spPr>
          <a:xfrm>
            <a:off x="612648" y="24505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시작 순 그리디: [1, 10) 하나</a:t>
            </a:r>
          </a:p>
        </p:txBody>
      </p:sp>
      <p:cxnSp>
        <p:nvCxnSpPr>
          <p:cNvPr id="11" name="연결선 12"/>
          <p:cNvCxnSpPr/>
          <p:nvPr/>
        </p:nvCxnSpPr>
        <p:spPr>
          <a:xfrm>
            <a:off x="2743200" y="2944368"/>
            <a:ext cx="0" cy="1170432"/>
          </a:xfrm>
          <a:prstGeom prst="line">
            <a:avLst/>
          </a:prstGeom>
          <a:ln w="6350">
            <a:solidFill>
              <a:srgbClr val="E6E6E6"/>
            </a:solidFill>
          </a:ln>
        </p:spPr>
      </p:cxnSp>
      <p:sp>
        <p:nvSpPr>
          <p:cNvPr id="12" name="직사각형 13"/>
          <p:cNvSpPr/>
          <p:nvPr/>
        </p:nvSpPr>
        <p:spPr>
          <a:xfrm>
            <a:off x="25603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3" name="연결선 14"/>
          <p:cNvCxnSpPr/>
          <p:nvPr/>
        </p:nvCxnSpPr>
        <p:spPr>
          <a:xfrm>
            <a:off x="3383280" y="2944368"/>
            <a:ext cx="0" cy="1170432"/>
          </a:xfrm>
          <a:prstGeom prst="line">
            <a:avLst/>
          </a:prstGeom>
          <a:ln w="6350">
            <a:solidFill>
              <a:srgbClr val="E6E6E6"/>
            </a:solidFill>
          </a:ln>
        </p:spPr>
      </p:cxnSp>
      <p:sp>
        <p:nvSpPr>
          <p:cNvPr id="14" name="직사각형 15"/>
          <p:cNvSpPr/>
          <p:nvPr/>
        </p:nvSpPr>
        <p:spPr>
          <a:xfrm>
            <a:off x="32004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5" name="연결선 16"/>
          <p:cNvCxnSpPr/>
          <p:nvPr/>
        </p:nvCxnSpPr>
        <p:spPr>
          <a:xfrm>
            <a:off x="4023360" y="2944368"/>
            <a:ext cx="0" cy="1170432"/>
          </a:xfrm>
          <a:prstGeom prst="line">
            <a:avLst/>
          </a:prstGeom>
          <a:ln w="6350">
            <a:solidFill>
              <a:srgbClr val="E6E6E6"/>
            </a:solidFill>
          </a:ln>
        </p:spPr>
      </p:cxnSp>
      <p:sp>
        <p:nvSpPr>
          <p:cNvPr id="16" name="직사각형 17"/>
          <p:cNvSpPr/>
          <p:nvPr/>
        </p:nvSpPr>
        <p:spPr>
          <a:xfrm>
            <a:off x="38404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7" name="연결선 18"/>
          <p:cNvCxnSpPr/>
          <p:nvPr/>
        </p:nvCxnSpPr>
        <p:spPr>
          <a:xfrm>
            <a:off x="4663440" y="2944368"/>
            <a:ext cx="0" cy="1170432"/>
          </a:xfrm>
          <a:prstGeom prst="line">
            <a:avLst/>
          </a:prstGeom>
          <a:ln w="6350">
            <a:solidFill>
              <a:srgbClr val="E6E6E6"/>
            </a:solidFill>
          </a:ln>
        </p:spPr>
      </p:cxnSp>
      <p:sp>
        <p:nvSpPr>
          <p:cNvPr id="18" name="직사각형 19"/>
          <p:cNvSpPr/>
          <p:nvPr/>
        </p:nvSpPr>
        <p:spPr>
          <a:xfrm>
            <a:off x="44805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9" name="연결선 20"/>
          <p:cNvCxnSpPr/>
          <p:nvPr/>
        </p:nvCxnSpPr>
        <p:spPr>
          <a:xfrm>
            <a:off x="5303520" y="2944368"/>
            <a:ext cx="0" cy="1170432"/>
          </a:xfrm>
          <a:prstGeom prst="line">
            <a:avLst/>
          </a:prstGeom>
          <a:ln w="6350">
            <a:solidFill>
              <a:srgbClr val="E6E6E6"/>
            </a:solidFill>
          </a:ln>
        </p:spPr>
      </p:cxnSp>
      <p:sp>
        <p:nvSpPr>
          <p:cNvPr id="20" name="직사각형 21"/>
          <p:cNvSpPr/>
          <p:nvPr/>
        </p:nvSpPr>
        <p:spPr>
          <a:xfrm>
            <a:off x="51206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1" name="연결선 22"/>
          <p:cNvCxnSpPr/>
          <p:nvPr/>
        </p:nvCxnSpPr>
        <p:spPr>
          <a:xfrm>
            <a:off x="5943600" y="2944368"/>
            <a:ext cx="0" cy="1170432"/>
          </a:xfrm>
          <a:prstGeom prst="line">
            <a:avLst/>
          </a:prstGeom>
          <a:ln w="6350">
            <a:solidFill>
              <a:srgbClr val="E6E6E6"/>
            </a:solidFill>
          </a:ln>
        </p:spPr>
      </p:cxnSp>
      <p:sp>
        <p:nvSpPr>
          <p:cNvPr id="22" name="직사각형 23"/>
          <p:cNvSpPr/>
          <p:nvPr/>
        </p:nvSpPr>
        <p:spPr>
          <a:xfrm>
            <a:off x="57607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3" name="연결선 24"/>
          <p:cNvCxnSpPr/>
          <p:nvPr/>
        </p:nvCxnSpPr>
        <p:spPr>
          <a:xfrm>
            <a:off x="6583680" y="2944368"/>
            <a:ext cx="0" cy="1170432"/>
          </a:xfrm>
          <a:prstGeom prst="line">
            <a:avLst/>
          </a:prstGeom>
          <a:ln w="6350">
            <a:solidFill>
              <a:srgbClr val="E6E6E6"/>
            </a:solidFill>
          </a:ln>
        </p:spPr>
      </p:cxnSp>
      <p:sp>
        <p:nvSpPr>
          <p:cNvPr id="24" name="직사각형 25"/>
          <p:cNvSpPr/>
          <p:nvPr/>
        </p:nvSpPr>
        <p:spPr>
          <a:xfrm>
            <a:off x="64008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5" name="연결선 26"/>
          <p:cNvCxnSpPr/>
          <p:nvPr/>
        </p:nvCxnSpPr>
        <p:spPr>
          <a:xfrm>
            <a:off x="7223760" y="2944368"/>
            <a:ext cx="0" cy="1170432"/>
          </a:xfrm>
          <a:prstGeom prst="line">
            <a:avLst/>
          </a:prstGeom>
          <a:ln w="6350">
            <a:solidFill>
              <a:srgbClr val="E6E6E6"/>
            </a:solidFill>
          </a:ln>
        </p:spPr>
      </p:cxnSp>
      <p:sp>
        <p:nvSpPr>
          <p:cNvPr id="26" name="직사각형 27"/>
          <p:cNvSpPr/>
          <p:nvPr/>
        </p:nvSpPr>
        <p:spPr>
          <a:xfrm>
            <a:off x="704088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7" name="연결선 28"/>
          <p:cNvCxnSpPr/>
          <p:nvPr/>
        </p:nvCxnSpPr>
        <p:spPr>
          <a:xfrm>
            <a:off x="7863840" y="2944368"/>
            <a:ext cx="0" cy="1170432"/>
          </a:xfrm>
          <a:prstGeom prst="line">
            <a:avLst/>
          </a:prstGeom>
          <a:ln w="6350">
            <a:solidFill>
              <a:srgbClr val="E6E6E6"/>
            </a:solidFill>
          </a:ln>
        </p:spPr>
      </p:cxnSp>
      <p:sp>
        <p:nvSpPr>
          <p:cNvPr id="28" name="직사각형 29"/>
          <p:cNvSpPr/>
          <p:nvPr/>
        </p:nvSpPr>
        <p:spPr>
          <a:xfrm>
            <a:off x="768096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9" name="연결선 30"/>
          <p:cNvCxnSpPr/>
          <p:nvPr/>
        </p:nvCxnSpPr>
        <p:spPr>
          <a:xfrm>
            <a:off x="8503920" y="2944368"/>
            <a:ext cx="0" cy="1170432"/>
          </a:xfrm>
          <a:prstGeom prst="line">
            <a:avLst/>
          </a:prstGeom>
          <a:ln w="6350">
            <a:solidFill>
              <a:srgbClr val="E6E6E6"/>
            </a:solidFill>
          </a:ln>
        </p:spPr>
      </p:cxnSp>
      <p:sp>
        <p:nvSpPr>
          <p:cNvPr id="30" name="직사각형 31"/>
          <p:cNvSpPr/>
          <p:nvPr/>
        </p:nvSpPr>
        <p:spPr>
          <a:xfrm>
            <a:off x="832104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1" name="연결선 32"/>
          <p:cNvCxnSpPr/>
          <p:nvPr/>
        </p:nvCxnSpPr>
        <p:spPr>
          <a:xfrm>
            <a:off x="9144000" y="2944368"/>
            <a:ext cx="0" cy="1170432"/>
          </a:xfrm>
          <a:prstGeom prst="line">
            <a:avLst/>
          </a:prstGeom>
          <a:ln w="6350">
            <a:solidFill>
              <a:srgbClr val="E6E6E6"/>
            </a:solidFill>
          </a:ln>
        </p:spPr>
      </p:cxnSp>
      <p:sp>
        <p:nvSpPr>
          <p:cNvPr id="32" name="직사각형 33"/>
          <p:cNvSpPr/>
          <p:nvPr/>
        </p:nvSpPr>
        <p:spPr>
          <a:xfrm>
            <a:off x="896112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3" name="연결선 34"/>
          <p:cNvCxnSpPr/>
          <p:nvPr/>
        </p:nvCxnSpPr>
        <p:spPr>
          <a:xfrm>
            <a:off x="9784080" y="2944368"/>
            <a:ext cx="0" cy="1170432"/>
          </a:xfrm>
          <a:prstGeom prst="line">
            <a:avLst/>
          </a:prstGeom>
          <a:ln w="6350">
            <a:solidFill>
              <a:srgbClr val="E6E6E6"/>
            </a:solidFill>
          </a:ln>
        </p:spPr>
      </p:cxnSp>
      <p:sp>
        <p:nvSpPr>
          <p:cNvPr id="34" name="직사각형 35"/>
          <p:cNvSpPr/>
          <p:nvPr/>
        </p:nvSpPr>
        <p:spPr>
          <a:xfrm>
            <a:off x="9601200" y="27066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sp>
        <p:nvSpPr>
          <p:cNvPr id="35" name="직사각형 36"/>
          <p:cNvSpPr/>
          <p:nvPr/>
        </p:nvSpPr>
        <p:spPr>
          <a:xfrm>
            <a:off x="960120" y="306324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 10)</a:t>
            </a:r>
          </a:p>
        </p:txBody>
      </p:sp>
      <p:sp>
        <p:nvSpPr>
          <p:cNvPr id="36" name="직사각형 37"/>
          <p:cNvSpPr/>
          <p:nvPr/>
        </p:nvSpPr>
        <p:spPr>
          <a:xfrm>
            <a:off x="3383280" y="3063240"/>
            <a:ext cx="576072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37" name="직사각형 38"/>
          <p:cNvSpPr/>
          <p:nvPr/>
        </p:nvSpPr>
        <p:spPr>
          <a:xfrm>
            <a:off x="960120" y="34290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[2, 3)</a:t>
            </a:r>
          </a:p>
        </p:txBody>
      </p:sp>
      <p:sp>
        <p:nvSpPr>
          <p:cNvPr id="38" name="직사각형 39"/>
          <p:cNvSpPr/>
          <p:nvPr/>
        </p:nvSpPr>
        <p:spPr>
          <a:xfrm>
            <a:off x="4023360" y="3429000"/>
            <a:ext cx="64008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7947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[4, 5)</a:t>
            </a:r>
          </a:p>
        </p:txBody>
      </p:sp>
      <p:sp>
        <p:nvSpPr>
          <p:cNvPr id="40" name="직사각형 41"/>
          <p:cNvSpPr/>
          <p:nvPr/>
        </p:nvSpPr>
        <p:spPr>
          <a:xfrm>
            <a:off x="5303520" y="3794760"/>
            <a:ext cx="64008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612648" y="427939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최적: [2, 3)과 [4, 5) 두 개</a:t>
            </a:r>
          </a:p>
        </p:txBody>
      </p:sp>
      <p:cxnSp>
        <p:nvCxnSpPr>
          <p:cNvPr id="42" name="연결선 43"/>
          <p:cNvCxnSpPr/>
          <p:nvPr/>
        </p:nvCxnSpPr>
        <p:spPr>
          <a:xfrm>
            <a:off x="2743200" y="4773168"/>
            <a:ext cx="0" cy="1170432"/>
          </a:xfrm>
          <a:prstGeom prst="line">
            <a:avLst/>
          </a:prstGeom>
          <a:ln w="6350">
            <a:solidFill>
              <a:srgbClr val="E6E6E6"/>
            </a:solidFill>
          </a:ln>
        </p:spPr>
      </p:cxnSp>
      <p:sp>
        <p:nvSpPr>
          <p:cNvPr id="43" name="직사각형 44"/>
          <p:cNvSpPr/>
          <p:nvPr/>
        </p:nvSpPr>
        <p:spPr>
          <a:xfrm>
            <a:off x="25603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44" name="연결선 45"/>
          <p:cNvCxnSpPr/>
          <p:nvPr/>
        </p:nvCxnSpPr>
        <p:spPr>
          <a:xfrm>
            <a:off x="3383280" y="4773168"/>
            <a:ext cx="0" cy="1170432"/>
          </a:xfrm>
          <a:prstGeom prst="line">
            <a:avLst/>
          </a:prstGeom>
          <a:ln w="6350">
            <a:solidFill>
              <a:srgbClr val="E6E6E6"/>
            </a:solidFill>
          </a:ln>
        </p:spPr>
      </p:cxnSp>
      <p:sp>
        <p:nvSpPr>
          <p:cNvPr id="45" name="직사각형 46"/>
          <p:cNvSpPr/>
          <p:nvPr/>
        </p:nvSpPr>
        <p:spPr>
          <a:xfrm>
            <a:off x="32004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46" name="연결선 47"/>
          <p:cNvCxnSpPr/>
          <p:nvPr/>
        </p:nvCxnSpPr>
        <p:spPr>
          <a:xfrm>
            <a:off x="4023360" y="4773168"/>
            <a:ext cx="0" cy="1170432"/>
          </a:xfrm>
          <a:prstGeom prst="line">
            <a:avLst/>
          </a:prstGeom>
          <a:ln w="6350">
            <a:solidFill>
              <a:srgbClr val="E6E6E6"/>
            </a:solidFill>
          </a:ln>
        </p:spPr>
      </p:cxnSp>
      <p:sp>
        <p:nvSpPr>
          <p:cNvPr id="47" name="직사각형 48"/>
          <p:cNvSpPr/>
          <p:nvPr/>
        </p:nvSpPr>
        <p:spPr>
          <a:xfrm>
            <a:off x="384048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48" name="연결선 49"/>
          <p:cNvCxnSpPr/>
          <p:nvPr/>
        </p:nvCxnSpPr>
        <p:spPr>
          <a:xfrm>
            <a:off x="4663440" y="4773168"/>
            <a:ext cx="0" cy="1170432"/>
          </a:xfrm>
          <a:prstGeom prst="line">
            <a:avLst/>
          </a:prstGeom>
          <a:ln w="6350">
            <a:solidFill>
              <a:srgbClr val="E6E6E6"/>
            </a:solidFill>
          </a:ln>
        </p:spPr>
      </p:cxnSp>
      <p:sp>
        <p:nvSpPr>
          <p:cNvPr id="49" name="직사각형 50"/>
          <p:cNvSpPr/>
          <p:nvPr/>
        </p:nvSpPr>
        <p:spPr>
          <a:xfrm>
            <a:off x="448056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50" name="연결선 51"/>
          <p:cNvCxnSpPr/>
          <p:nvPr/>
        </p:nvCxnSpPr>
        <p:spPr>
          <a:xfrm>
            <a:off x="5303520" y="4773168"/>
            <a:ext cx="0" cy="1170432"/>
          </a:xfrm>
          <a:prstGeom prst="line">
            <a:avLst/>
          </a:prstGeom>
          <a:ln w="6350">
            <a:solidFill>
              <a:srgbClr val="E6E6E6"/>
            </a:solidFill>
          </a:ln>
        </p:spPr>
      </p:cxnSp>
      <p:sp>
        <p:nvSpPr>
          <p:cNvPr id="51" name="직사각형 52"/>
          <p:cNvSpPr/>
          <p:nvPr/>
        </p:nvSpPr>
        <p:spPr>
          <a:xfrm>
            <a:off x="512064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52" name="연결선 53"/>
          <p:cNvCxnSpPr/>
          <p:nvPr/>
        </p:nvCxnSpPr>
        <p:spPr>
          <a:xfrm>
            <a:off x="5943600" y="4773168"/>
            <a:ext cx="0" cy="1170432"/>
          </a:xfrm>
          <a:prstGeom prst="line">
            <a:avLst/>
          </a:prstGeom>
          <a:ln w="6350">
            <a:solidFill>
              <a:srgbClr val="E6E6E6"/>
            </a:solidFill>
          </a:ln>
        </p:spPr>
      </p:cxnSp>
      <p:sp>
        <p:nvSpPr>
          <p:cNvPr id="53" name="직사각형 54"/>
          <p:cNvSpPr/>
          <p:nvPr/>
        </p:nvSpPr>
        <p:spPr>
          <a:xfrm>
            <a:off x="57607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54" name="연결선 55"/>
          <p:cNvCxnSpPr/>
          <p:nvPr/>
        </p:nvCxnSpPr>
        <p:spPr>
          <a:xfrm>
            <a:off x="6583680" y="4773168"/>
            <a:ext cx="0" cy="1170432"/>
          </a:xfrm>
          <a:prstGeom prst="line">
            <a:avLst/>
          </a:prstGeom>
          <a:ln w="6350">
            <a:solidFill>
              <a:srgbClr val="E6E6E6"/>
            </a:solidFill>
          </a:ln>
        </p:spPr>
      </p:cxnSp>
      <p:sp>
        <p:nvSpPr>
          <p:cNvPr id="55" name="직사각형 56"/>
          <p:cNvSpPr/>
          <p:nvPr/>
        </p:nvSpPr>
        <p:spPr>
          <a:xfrm>
            <a:off x="64008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56" name="연결선 57"/>
          <p:cNvCxnSpPr/>
          <p:nvPr/>
        </p:nvCxnSpPr>
        <p:spPr>
          <a:xfrm>
            <a:off x="7223760" y="4773168"/>
            <a:ext cx="0" cy="1170432"/>
          </a:xfrm>
          <a:prstGeom prst="line">
            <a:avLst/>
          </a:prstGeom>
          <a:ln w="6350">
            <a:solidFill>
              <a:srgbClr val="E6E6E6"/>
            </a:solidFill>
          </a:ln>
        </p:spPr>
      </p:cxnSp>
      <p:sp>
        <p:nvSpPr>
          <p:cNvPr id="57" name="직사각형 58"/>
          <p:cNvSpPr/>
          <p:nvPr/>
        </p:nvSpPr>
        <p:spPr>
          <a:xfrm>
            <a:off x="704088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58" name="연결선 59"/>
          <p:cNvCxnSpPr/>
          <p:nvPr/>
        </p:nvCxnSpPr>
        <p:spPr>
          <a:xfrm>
            <a:off x="7863840" y="4773168"/>
            <a:ext cx="0" cy="1170432"/>
          </a:xfrm>
          <a:prstGeom prst="line">
            <a:avLst/>
          </a:prstGeom>
          <a:ln w="6350">
            <a:solidFill>
              <a:srgbClr val="E6E6E6"/>
            </a:solidFill>
          </a:ln>
        </p:spPr>
      </p:cxnSp>
      <p:sp>
        <p:nvSpPr>
          <p:cNvPr id="59" name="직사각형 60"/>
          <p:cNvSpPr/>
          <p:nvPr/>
        </p:nvSpPr>
        <p:spPr>
          <a:xfrm>
            <a:off x="768096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60" name="연결선 61"/>
          <p:cNvCxnSpPr/>
          <p:nvPr/>
        </p:nvCxnSpPr>
        <p:spPr>
          <a:xfrm>
            <a:off x="8503920" y="4773168"/>
            <a:ext cx="0" cy="1170432"/>
          </a:xfrm>
          <a:prstGeom prst="line">
            <a:avLst/>
          </a:prstGeom>
          <a:ln w="6350">
            <a:solidFill>
              <a:srgbClr val="E6E6E6"/>
            </a:solidFill>
          </a:ln>
        </p:spPr>
      </p:cxnSp>
      <p:sp>
        <p:nvSpPr>
          <p:cNvPr id="61" name="직사각형 62"/>
          <p:cNvSpPr/>
          <p:nvPr/>
        </p:nvSpPr>
        <p:spPr>
          <a:xfrm>
            <a:off x="832104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62" name="연결선 63"/>
          <p:cNvCxnSpPr/>
          <p:nvPr/>
        </p:nvCxnSpPr>
        <p:spPr>
          <a:xfrm>
            <a:off x="9144000" y="4773168"/>
            <a:ext cx="0" cy="1170432"/>
          </a:xfrm>
          <a:prstGeom prst="line">
            <a:avLst/>
          </a:prstGeom>
          <a:ln w="6350">
            <a:solidFill>
              <a:srgbClr val="E6E6E6"/>
            </a:solidFill>
          </a:ln>
        </p:spPr>
      </p:cxnSp>
      <p:sp>
        <p:nvSpPr>
          <p:cNvPr id="63" name="직사각형 64"/>
          <p:cNvSpPr/>
          <p:nvPr/>
        </p:nvSpPr>
        <p:spPr>
          <a:xfrm>
            <a:off x="896112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64" name="연결선 65"/>
          <p:cNvCxnSpPr/>
          <p:nvPr/>
        </p:nvCxnSpPr>
        <p:spPr>
          <a:xfrm>
            <a:off x="9784080" y="4773168"/>
            <a:ext cx="0" cy="1170432"/>
          </a:xfrm>
          <a:prstGeom prst="line">
            <a:avLst/>
          </a:prstGeom>
          <a:ln w="6350">
            <a:solidFill>
              <a:srgbClr val="E6E6E6"/>
            </a:solidFill>
          </a:ln>
        </p:spPr>
      </p:cxnSp>
      <p:sp>
        <p:nvSpPr>
          <p:cNvPr id="65" name="직사각형 66"/>
          <p:cNvSpPr/>
          <p:nvPr/>
        </p:nvSpPr>
        <p:spPr>
          <a:xfrm>
            <a:off x="9601200" y="453542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sp>
        <p:nvSpPr>
          <p:cNvPr id="66" name="직사각형 67"/>
          <p:cNvSpPr/>
          <p:nvPr/>
        </p:nvSpPr>
        <p:spPr>
          <a:xfrm>
            <a:off x="960120" y="489204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[1, 10)</a:t>
            </a:r>
          </a:p>
        </p:txBody>
      </p:sp>
      <p:sp>
        <p:nvSpPr>
          <p:cNvPr id="67" name="직사각형 68"/>
          <p:cNvSpPr/>
          <p:nvPr/>
        </p:nvSpPr>
        <p:spPr>
          <a:xfrm>
            <a:off x="3383280" y="4892040"/>
            <a:ext cx="5760720" cy="274320"/>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68" name="직사각형 69"/>
          <p:cNvSpPr/>
          <p:nvPr/>
        </p:nvSpPr>
        <p:spPr>
          <a:xfrm>
            <a:off x="960120" y="52578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[2, 3)</a:t>
            </a:r>
          </a:p>
        </p:txBody>
      </p:sp>
      <p:sp>
        <p:nvSpPr>
          <p:cNvPr id="69" name="직사각형 70"/>
          <p:cNvSpPr/>
          <p:nvPr/>
        </p:nvSpPr>
        <p:spPr>
          <a:xfrm>
            <a:off x="4023360" y="5257800"/>
            <a:ext cx="6400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70" name="직사각형 71"/>
          <p:cNvSpPr/>
          <p:nvPr/>
        </p:nvSpPr>
        <p:spPr>
          <a:xfrm>
            <a:off x="960120" y="56235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 5)</a:t>
            </a:r>
          </a:p>
        </p:txBody>
      </p:sp>
      <p:sp>
        <p:nvSpPr>
          <p:cNvPr id="71" name="직사각형 72"/>
          <p:cNvSpPr/>
          <p:nvPr/>
        </p:nvSpPr>
        <p:spPr>
          <a:xfrm>
            <a:off x="5303520" y="5623560"/>
            <a:ext cx="6400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72" name="직사각형 73"/>
          <p:cNvSpPr/>
          <p:nvPr/>
        </p:nvSpPr>
        <p:spPr>
          <a:xfrm>
            <a:off x="10058400" y="3291840"/>
            <a:ext cx="1463040" cy="512064"/>
          </a:xfrm>
          <a:prstGeom prst="rect">
            <a:avLst/>
          </a:prstGeom>
          <a:noFill/>
          <a:ln w="0">
            <a:noFill/>
          </a:ln>
        </p:spPr>
        <p:txBody>
          <a:bodyPr wrap="square" lIns="0" tIns="0" rIns="0" bIns="0" anchor="ctr">
            <a:noAutofit/>
          </a:bodyPr>
          <a:lstStyle/>
          <a:p>
            <a:pPr algn="l" eaLnBrk="0" latinLnBrk="0">
              <a:lnSpc>
                <a:spcPct val="100000"/>
              </a:lnSpc>
              <a:buNone/>
            </a:pPr>
            <a:r>
              <a:rPr lang="ko-KR" altLang="en-US" sz="2800" b="1" dirty="0">
                <a:solidFill>
                  <a:srgbClr val="B23B3B"/>
                </a:solidFill>
                <a:latin typeface="Malgun Gothic"/>
                <a:ea typeface="Malgun Gothic"/>
                <a:cs typeface="Malgun Gothic"/>
              </a:rPr>
              <a:t>1개</a:t>
            </a:r>
          </a:p>
        </p:txBody>
      </p:sp>
      <p:sp>
        <p:nvSpPr>
          <p:cNvPr id="73" name="직사각형 74"/>
          <p:cNvSpPr/>
          <p:nvPr/>
        </p:nvSpPr>
        <p:spPr>
          <a:xfrm>
            <a:off x="10058400" y="5120640"/>
            <a:ext cx="1463040" cy="512064"/>
          </a:xfrm>
          <a:prstGeom prst="rect">
            <a:avLst/>
          </a:prstGeom>
          <a:noFill/>
          <a:ln w="0">
            <a:noFill/>
          </a:ln>
        </p:spPr>
        <p:txBody>
          <a:bodyPr wrap="square" lIns="0" tIns="0" rIns="0" bIns="0" anchor="ctr">
            <a:noAutofit/>
          </a:bodyPr>
          <a:lstStyle/>
          <a:p>
            <a:pPr algn="l" eaLnBrk="0" latinLnBrk="0">
              <a:lnSpc>
                <a:spcPct val="100000"/>
              </a:lnSpc>
              <a:buNone/>
            </a:pPr>
            <a:r>
              <a:rPr lang="ko-KR" altLang="en-US" sz="2800" b="1" dirty="0">
                <a:solidFill>
                  <a:srgbClr val="0E8A7D"/>
                </a:solidFill>
                <a:latin typeface="Malgun Gothic"/>
                <a:ea typeface="Malgun Gothic"/>
                <a:cs typeface="Malgun Gothic"/>
              </a:rPr>
              <a:t>2개</a:t>
            </a:r>
          </a:p>
        </p:txBody>
      </p:sp>
      <p:sp>
        <p:nvSpPr>
          <p:cNvPr id="74" name="직사각형 7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그리디가 고른 회의    파랑: 최적해의 회의</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성공 전략: 가장 먼저 끝나는 회의부터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24</a:t>
            </a:r>
            <a:endParaRPr lang="ko-KR" altLang="en-US" sz="1050" b="0" dirty="0">
              <a:solidFill>
                <a:srgbClr val="606060"/>
              </a:solidFill>
              <a:latin typeface="Malgun Gothic"/>
              <a:ea typeface="Malgun Gothic"/>
              <a:cs typeface="Malgun Gothic"/>
            </a:endParaRPr>
          </a:p>
        </p:txBody>
      </p:sp>
      <p:sp>
        <p:nvSpPr>
          <p:cNvPr id="9" name="fit:417f7a365af47e37 10"/>
          <p:cNvSpPr/>
          <p:nvPr/>
        </p:nvSpPr>
        <p:spPr>
          <a:xfrm>
            <a:off x="612648" y="1636776"/>
            <a:ext cx="10972800" cy="630936"/>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회의실을 가장 빨리 비워 주는 회의부터 고릅니다.</a:t>
            </a:r>
          </a:p>
          <a:p>
            <a:pPr algn="l" eaLnBrk="0" latinLnBrk="0">
              <a:lnSpc>
                <a:spcPct val="100000"/>
              </a:lnSpc>
              <a:buNone/>
            </a:pPr>
            <a:r>
              <a:rPr lang="ko-KR" altLang="en-US" sz="1950" b="0" dirty="0">
                <a:solidFill>
                  <a:srgbClr val="171717"/>
                </a:solidFill>
                <a:latin typeface="Malgun Gothic"/>
                <a:ea typeface="Malgun Gothic"/>
                <a:cs typeface="Malgun Gothic"/>
              </a:rPr>
              <a:t>last_end는 마지막으로 고른 회의의 종료 시각입니다.</a:t>
            </a:r>
          </a:p>
        </p:txBody>
      </p:sp>
      <p:sp>
        <p:nvSpPr>
          <p:cNvPr id="10" name="직사각형 11"/>
          <p:cNvSpPr/>
          <p:nvPr/>
        </p:nvSpPr>
        <p:spPr>
          <a:xfrm>
            <a:off x="658368" y="2414016"/>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596896"/>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① 정렬</a:t>
            </a:r>
          </a:p>
        </p:txBody>
      </p:sp>
      <p:sp>
        <p:nvSpPr>
          <p:cNvPr id="12" name="직사각형 13"/>
          <p:cNvSpPr/>
          <p:nvPr/>
        </p:nvSpPr>
        <p:spPr>
          <a:xfrm>
            <a:off x="749808" y="3017520"/>
            <a:ext cx="3017520" cy="105156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회의를 종료 시각이</a:t>
            </a:r>
          </a:p>
          <a:p>
            <a:pPr algn="ctr" eaLnBrk="0" latinLnBrk="0">
              <a:lnSpc>
                <a:spcPct val="110000"/>
              </a:lnSpc>
              <a:buNone/>
            </a:pPr>
            <a:r>
              <a:rPr lang="ko-KR" altLang="en-US" sz="1350" b="0" dirty="0">
                <a:solidFill>
                  <a:srgbClr val="171717"/>
                </a:solidFill>
                <a:latin typeface="Malgun Gothic"/>
                <a:ea typeface="Malgun Gothic"/>
                <a:cs typeface="Malgun Gothic"/>
              </a:rPr>
              <a:t>빠른 순으로 늘어놓습니다.</a:t>
            </a:r>
          </a:p>
        </p:txBody>
      </p:sp>
      <p:sp>
        <p:nvSpPr>
          <p:cNvPr id="13" name="직사각형 14"/>
          <p:cNvSpPr/>
          <p:nvPr/>
        </p:nvSpPr>
        <p:spPr>
          <a:xfrm>
            <a:off x="4005072" y="2633472"/>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4498848" y="2414016"/>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직사각형 16"/>
          <p:cNvSpPr/>
          <p:nvPr/>
        </p:nvSpPr>
        <p:spPr>
          <a:xfrm>
            <a:off x="4590288" y="2596896"/>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② 고르기</a:t>
            </a:r>
          </a:p>
        </p:txBody>
      </p:sp>
      <p:sp>
        <p:nvSpPr>
          <p:cNvPr id="16" name="직사각형 17"/>
          <p:cNvSpPr/>
          <p:nvPr/>
        </p:nvSpPr>
        <p:spPr>
          <a:xfrm>
            <a:off x="4590288" y="3017520"/>
            <a:ext cx="3017520" cy="105156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시작 ≥ last_end이면 고르고</a:t>
            </a:r>
          </a:p>
          <a:p>
            <a:pPr algn="ctr" eaLnBrk="0" latinLnBrk="0">
              <a:lnSpc>
                <a:spcPct val="110000"/>
              </a:lnSpc>
              <a:buNone/>
            </a:pPr>
            <a:r>
              <a:rPr lang="ko-KR" altLang="en-US" sz="1350" b="0" dirty="0">
                <a:solidFill>
                  <a:srgbClr val="171717"/>
                </a:solidFill>
                <a:latin typeface="Malgun Gothic"/>
                <a:ea typeface="Malgun Gothic"/>
                <a:cs typeface="Malgun Gothic"/>
              </a:rPr>
              <a:t>last_end를 그 회의의</a:t>
            </a:r>
          </a:p>
          <a:p>
            <a:pPr algn="ctr" eaLnBrk="0" latinLnBrk="0">
              <a:lnSpc>
                <a:spcPct val="110000"/>
              </a:lnSpc>
              <a:buNone/>
            </a:pPr>
            <a:r>
              <a:rPr lang="ko-KR" altLang="en-US" sz="1350" b="0" dirty="0">
                <a:solidFill>
                  <a:srgbClr val="171717"/>
                </a:solidFill>
                <a:latin typeface="Malgun Gothic"/>
                <a:ea typeface="Malgun Gothic"/>
                <a:cs typeface="Malgun Gothic"/>
              </a:rPr>
              <a:t>종료 시각으로 옮깁니다.</a:t>
            </a:r>
          </a:p>
        </p:txBody>
      </p:sp>
      <p:sp>
        <p:nvSpPr>
          <p:cNvPr id="17" name="직사각형 18"/>
          <p:cNvSpPr/>
          <p:nvPr/>
        </p:nvSpPr>
        <p:spPr>
          <a:xfrm>
            <a:off x="7845552" y="2633472"/>
            <a:ext cx="347472" cy="292608"/>
          </a:xfrm>
          <a:prstGeom prst="rightArrow">
            <a:avLst/>
          </a:prstGeom>
          <a:solidFill>
            <a:srgbClr val="E9E9E9"/>
          </a:solidFill>
          <a:ln w="9525">
            <a:solidFill>
              <a:srgbClr val="D4D4D4"/>
            </a:solidFill>
          </a:ln>
        </p:spPr>
        <p:txBody>
          <a:bodyPr wrap="square" lIns="0" tIns="0" rIns="0" bIns="0" anchor="t">
            <a:noAutofit/>
          </a:bodyPr>
          <a:lstStyle/>
          <a:p>
            <a:pPr algn="l" eaLnBrk="0" latinLnBrk="0">
              <a:lnSpc>
                <a:spcPct val="100000"/>
              </a:lnSpc>
              <a:buNone/>
            </a:pPr>
            <a:endParaRPr lang="ko-KR" sz="1800"/>
          </a:p>
        </p:txBody>
      </p:sp>
      <p:sp>
        <p:nvSpPr>
          <p:cNvPr id="18" name="직사각형 19"/>
          <p:cNvSpPr/>
          <p:nvPr/>
        </p:nvSpPr>
        <p:spPr>
          <a:xfrm>
            <a:off x="8339328" y="2414016"/>
            <a:ext cx="32004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9" name="직사각형 20"/>
          <p:cNvSpPr/>
          <p:nvPr/>
        </p:nvSpPr>
        <p:spPr>
          <a:xfrm>
            <a:off x="8430768" y="2596896"/>
            <a:ext cx="30175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③ 반복</a:t>
            </a:r>
          </a:p>
        </p:txBody>
      </p:sp>
      <p:sp>
        <p:nvSpPr>
          <p:cNvPr id="20" name="직사각형 21"/>
          <p:cNvSpPr/>
          <p:nvPr/>
        </p:nvSpPr>
        <p:spPr>
          <a:xfrm>
            <a:off x="8430768" y="3017520"/>
            <a:ext cx="3017520" cy="1051560"/>
          </a:xfrm>
          <a:prstGeom prst="rect">
            <a:avLst/>
          </a:prstGeom>
          <a:noFill/>
          <a:ln w="0">
            <a:noFill/>
          </a:ln>
        </p:spPr>
        <p:txBody>
          <a:bodyPr wrap="square" lIns="0" tIns="0" rIns="0" bIns="0" anchor="t">
            <a:noAutofit/>
          </a:bodyPr>
          <a:lstStyle/>
          <a:p>
            <a:pPr algn="ctr" eaLnBrk="0" latinLnBrk="0">
              <a:lnSpc>
                <a:spcPct val="110000"/>
              </a:lnSpc>
              <a:buNone/>
            </a:pPr>
            <a:r>
              <a:rPr lang="ko-KR" altLang="en-US" sz="1350" b="0" dirty="0">
                <a:solidFill>
                  <a:srgbClr val="171717"/>
                </a:solidFill>
                <a:latin typeface="Malgun Gothic"/>
                <a:ea typeface="Malgun Gothic"/>
                <a:cs typeface="Malgun Gothic"/>
              </a:rPr>
              <a:t>끝까지 봅니다.</a:t>
            </a:r>
          </a:p>
          <a:p>
            <a:pPr algn="ctr" eaLnBrk="0" latinLnBrk="0">
              <a:lnSpc>
                <a:spcPct val="110000"/>
              </a:lnSpc>
              <a:buNone/>
            </a:pPr>
            <a:r>
              <a:rPr lang="ko-KR" altLang="en-US" sz="1350" b="0" dirty="0">
                <a:solidFill>
                  <a:srgbClr val="171717"/>
                </a:solidFill>
                <a:latin typeface="Malgun Gothic"/>
                <a:ea typeface="Malgun Gothic"/>
                <a:cs typeface="Malgun Gothic"/>
              </a:rPr>
              <a:t>조건을 처음 만족하는 회의가</a:t>
            </a:r>
          </a:p>
          <a:p>
            <a:pPr algn="ctr" eaLnBrk="0" latinLnBrk="0">
              <a:lnSpc>
                <a:spcPct val="110000"/>
              </a:lnSpc>
              <a:buNone/>
            </a:pPr>
            <a:r>
              <a:rPr lang="ko-KR" altLang="en-US" sz="1350" b="0" dirty="0">
                <a:solidFill>
                  <a:srgbClr val="171717"/>
                </a:solidFill>
                <a:latin typeface="Malgun Gothic"/>
                <a:ea typeface="Malgun Gothic"/>
                <a:cs typeface="Malgun Gothic"/>
              </a:rPr>
              <a:t>곧 겹치지 않는 회의 중</a:t>
            </a:r>
          </a:p>
          <a:p>
            <a:pPr algn="ctr" eaLnBrk="0" latinLnBrk="0">
              <a:lnSpc>
                <a:spcPct val="110000"/>
              </a:lnSpc>
              <a:buNone/>
            </a:pPr>
            <a:r>
              <a:rPr lang="ko-KR" altLang="en-US" sz="1350" b="0" dirty="0">
                <a:solidFill>
                  <a:srgbClr val="171717"/>
                </a:solidFill>
                <a:latin typeface="Malgun Gothic"/>
                <a:ea typeface="Malgun Gothic"/>
                <a:cs typeface="Malgun Gothic"/>
              </a:rPr>
              <a:t>가장 먼저 끝나는 회의입니다.</a:t>
            </a:r>
          </a:p>
        </p:txBody>
      </p:sp>
      <p:graphicFrame>
        <p:nvGraphicFramePr>
          <p:cNvPr id="21" name="표 22"/>
          <p:cNvGraphicFramePr>
            <a:graphicFrameLocks noGrp="1"/>
          </p:cNvGraphicFramePr>
          <p:nvPr>
            <p:extLst>
              <p:ext uri="{D42A27DB-BD31-4B8C-83A1-F6EECF244321}">
                <p14:modId xmlns:p14="http://schemas.microsoft.com/office/powerpoint/2010/main" val="247762460"/>
              </p:ext>
            </p:extLst>
          </p:nvPr>
        </p:nvGraphicFramePr>
        <p:xfrm>
          <a:off x="658368" y="4105656"/>
          <a:ext cx="10881360" cy="987552"/>
        </p:xfrm>
        <a:graphic>
          <a:graphicData uri="http://schemas.openxmlformats.org/drawingml/2006/table">
            <a:tbl>
              <a:tblPr/>
              <a:tblGrid>
                <a:gridCol w="46634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9184">
                <a:tc>
                  <a:txBody>
                    <a:bodyPr/>
                    <a:lstStyle/>
                    <a:p>
                      <a:pPr algn="ctr" eaLnBrk="0" latinLnBrk="0">
                        <a:lnSpc>
                          <a:spcPct val="100000"/>
                        </a:lnSpc>
                        <a:buNone/>
                      </a:pPr>
                      <a:r>
                        <a:rPr lang="ko-KR" altLang="en-US" sz="1500" b="1">
                          <a:solidFill>
                            <a:srgbClr val="FFFFFF"/>
                          </a:solidFill>
                          <a:latin typeface="Malgun Gothic"/>
                          <a:ea typeface="Malgun Gothic"/>
                          <a:cs typeface="Malgun Gothic"/>
                        </a:rPr>
                        <a:t>기준별 비교</a:t>
                      </a:r>
                      <a:endParaRPr lang="ko-KR" altLang="en-US" sz="1500" b="1" dirty="0">
                        <a:solidFill>
                          <a:srgbClr val="FFFFFF"/>
                        </a:solidFill>
                        <a:latin typeface="Malgun Gothic"/>
                        <a:ea typeface="Malgun Gothic"/>
                        <a:cs typeface="Malgun Gothic"/>
                      </a:endParaRP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시작 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짧은 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종료 순</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최적</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 10), [2, 3), [4, 5)</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1개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 5), [4, 6), [5, 9)</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1개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2개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2개</a:t>
                      </a:r>
                    </a:p>
                  </a:txBody>
                  <a:tcPr marL="54864" marR="54864" marT="18288" marB="18288" anchor="ctr">
                    <a:solidFill>
                      <a:srgbClr val="FFFFFF"/>
                    </a:solidFill>
                  </a:tcPr>
                </a:tc>
                <a:extLst>
                  <a:ext uri="{0D108BD9-81ED-4DB2-BD59-A6C34878D82A}">
                    <a16:rowId xmlns:a16="http://schemas.microsoft.com/office/drawing/2014/main" val="10002"/>
                  </a:ext>
                </a:extLst>
              </a:tr>
            </a:tbl>
          </a:graphicData>
        </a:graphic>
      </p:graphicFrame>
      <p:sp>
        <p:nvSpPr>
          <p:cNvPr id="22" name="fit:c2da3d2bc5fb617a 23"/>
          <p:cNvSpPr/>
          <p:nvPr/>
        </p:nvSpPr>
        <p:spPr>
          <a:xfrm>
            <a:off x="658368" y="5239512"/>
            <a:ext cx="1088136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두 예에서 맞았다고 해서 증명된 것은 아닙니다. 왜 맞는지는 이 절 끝에서 봅니다.</a:t>
            </a:r>
          </a:p>
          <a:p>
            <a:pPr algn="l" eaLnBrk="0" latinLnBrk="0">
              <a:lnSpc>
                <a:spcPct val="100000"/>
              </a:lnSpc>
              <a:buNone/>
            </a:pPr>
            <a:r>
              <a:rPr lang="ko-KR" altLang="en-US" sz="1650" b="0" dirty="0">
                <a:solidFill>
                  <a:srgbClr val="3F3F3F"/>
                </a:solidFill>
                <a:latin typeface="Malgun Gothic"/>
                <a:ea typeface="Malgun Gothic"/>
                <a:cs typeface="Malgun Gothic"/>
              </a:rPr>
              <a:t>'안전한 선택'(그렇게 골라도 최적해를 놓치지 않는 선택)의 정확한 뜻은 5.5절에서 정의합니다.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예제: 회의 여섯 건을 종료 시각 순으로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25</a:t>
            </a:r>
            <a:endParaRPr lang="ko-KR" altLang="en-US" sz="1050" b="0" dirty="0">
              <a:solidFill>
                <a:srgbClr val="606060"/>
              </a:solidFill>
              <a:latin typeface="Malgun Gothic"/>
              <a:ea typeface="Malgun Gothic"/>
              <a:cs typeface="Malgun Gothic"/>
            </a:endParaRPr>
          </a:p>
        </p:txBody>
      </p:sp>
      <p:sp>
        <p:nvSpPr>
          <p:cNvPr id="9" name="fit:b65429105c0987a9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회의 여섯 건을 종료 시각이 빠른 순으로 정렬합니다.</a:t>
            </a:r>
          </a:p>
          <a:p>
            <a:pPr algn="l" eaLnBrk="0" latinLnBrk="0">
              <a:lnSpc>
                <a:spcPct val="100000"/>
              </a:lnSpc>
              <a:buNone/>
            </a:pPr>
            <a:r>
              <a:rPr lang="ko-KR" altLang="en-US" sz="2025" b="0" dirty="0">
                <a:solidFill>
                  <a:srgbClr val="171717"/>
                </a:solidFill>
                <a:latin typeface="Malgun Gothic"/>
                <a:ea typeface="Malgun Gothic"/>
                <a:cs typeface="Malgun Gothic"/>
              </a:rPr>
              <a:t>칸 아래의 작은 글자는 입력 순서로 붙인 회의 번호입니다.</a:t>
            </a:r>
          </a:p>
        </p:txBody>
      </p:sp>
      <p:sp>
        <p:nvSpPr>
          <p:cNvPr id="10" name="직사각형 11"/>
          <p:cNvSpPr/>
          <p:nvPr/>
        </p:nvSpPr>
        <p:spPr>
          <a:xfrm>
            <a:off x="1371600" y="276148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입력 순서</a:t>
            </a:r>
          </a:p>
        </p:txBody>
      </p:sp>
      <p:graphicFrame>
        <p:nvGraphicFramePr>
          <p:cNvPr id="11" name="표 12"/>
          <p:cNvGraphicFramePr>
            <a:graphicFrameLocks noGrp="1"/>
          </p:cNvGraphicFramePr>
          <p:nvPr>
            <p:extLst>
              <p:ext uri="{D42A27DB-BD31-4B8C-83A1-F6EECF244321}">
                <p14:modId xmlns:p14="http://schemas.microsoft.com/office/powerpoint/2010/main" val="2959691702"/>
              </p:ext>
            </p:extLst>
          </p:nvPr>
        </p:nvGraphicFramePr>
        <p:xfrm>
          <a:off x="2743200" y="2651760"/>
          <a:ext cx="7132320" cy="493776"/>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93776">
                <a:tc>
                  <a:txBody>
                    <a:bodyPr/>
                    <a:lstStyle/>
                    <a:p>
                      <a:pPr algn="ctr" eaLnBrk="0" latinLnBrk="0">
                        <a:lnSpc>
                          <a:spcPct val="100000"/>
                        </a:lnSpc>
                        <a:buNone/>
                      </a:pPr>
                      <a:r>
                        <a:rPr lang="ko-KR" altLang="en-US" sz="1650" b="1" dirty="0">
                          <a:solidFill>
                            <a:srgbClr val="151515"/>
                          </a:solidFill>
                          <a:latin typeface="Consolas"/>
                          <a:ea typeface="Consolas"/>
                          <a:cs typeface="Consolas"/>
                        </a:rPr>
                        <a:t>[1, 3)</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[2, 5)</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[3, 9)</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[6, 8)</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[5, 7)</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[8, 11)</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12" name="직사각형 13"/>
          <p:cNvSpPr/>
          <p:nvPr/>
        </p:nvSpPr>
        <p:spPr>
          <a:xfrm>
            <a:off x="274320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1번</a:t>
            </a:r>
          </a:p>
        </p:txBody>
      </p:sp>
      <p:sp>
        <p:nvSpPr>
          <p:cNvPr id="13" name="직사각형 14"/>
          <p:cNvSpPr/>
          <p:nvPr/>
        </p:nvSpPr>
        <p:spPr>
          <a:xfrm>
            <a:off x="393192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2번</a:t>
            </a:r>
          </a:p>
        </p:txBody>
      </p:sp>
      <p:sp>
        <p:nvSpPr>
          <p:cNvPr id="14" name="직사각형 15"/>
          <p:cNvSpPr/>
          <p:nvPr/>
        </p:nvSpPr>
        <p:spPr>
          <a:xfrm>
            <a:off x="512064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3번</a:t>
            </a:r>
          </a:p>
        </p:txBody>
      </p:sp>
      <p:sp>
        <p:nvSpPr>
          <p:cNvPr id="15" name="직사각형 16"/>
          <p:cNvSpPr/>
          <p:nvPr/>
        </p:nvSpPr>
        <p:spPr>
          <a:xfrm>
            <a:off x="630936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4번</a:t>
            </a:r>
          </a:p>
        </p:txBody>
      </p:sp>
      <p:sp>
        <p:nvSpPr>
          <p:cNvPr id="16" name="직사각형 17"/>
          <p:cNvSpPr/>
          <p:nvPr/>
        </p:nvSpPr>
        <p:spPr>
          <a:xfrm>
            <a:off x="749808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5번</a:t>
            </a:r>
          </a:p>
        </p:txBody>
      </p:sp>
      <p:sp>
        <p:nvSpPr>
          <p:cNvPr id="17" name="직사각형 18"/>
          <p:cNvSpPr/>
          <p:nvPr/>
        </p:nvSpPr>
        <p:spPr>
          <a:xfrm>
            <a:off x="8686800" y="318211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6번</a:t>
            </a:r>
          </a:p>
        </p:txBody>
      </p:sp>
      <p:sp>
        <p:nvSpPr>
          <p:cNvPr id="18" name="직사각형 19"/>
          <p:cNvSpPr/>
          <p:nvPr/>
        </p:nvSpPr>
        <p:spPr>
          <a:xfrm>
            <a:off x="1371600" y="3950208"/>
            <a:ext cx="1325880" cy="36576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종료 순</a:t>
            </a:r>
          </a:p>
        </p:txBody>
      </p:sp>
      <p:graphicFrame>
        <p:nvGraphicFramePr>
          <p:cNvPr id="19" name="표 20"/>
          <p:cNvGraphicFramePr>
            <a:graphicFrameLocks noGrp="1"/>
          </p:cNvGraphicFramePr>
          <p:nvPr>
            <p:extLst>
              <p:ext uri="{D42A27DB-BD31-4B8C-83A1-F6EECF244321}">
                <p14:modId xmlns:p14="http://schemas.microsoft.com/office/powerpoint/2010/main" val="1841201580"/>
              </p:ext>
            </p:extLst>
          </p:nvPr>
        </p:nvGraphicFramePr>
        <p:xfrm>
          <a:off x="2743200" y="3840480"/>
          <a:ext cx="7132320" cy="493776"/>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493776">
                <a:tc>
                  <a:txBody>
                    <a:bodyPr/>
                    <a:lstStyle/>
                    <a:p>
                      <a:pPr algn="ctr" eaLnBrk="0" latinLnBrk="0">
                        <a:lnSpc>
                          <a:spcPct val="100000"/>
                        </a:lnSpc>
                        <a:buNone/>
                      </a:pPr>
                      <a:r>
                        <a:rPr lang="ko-KR" altLang="en-US" sz="1650" b="1" dirty="0">
                          <a:solidFill>
                            <a:srgbClr val="151515"/>
                          </a:solidFill>
                          <a:latin typeface="Consolas"/>
                          <a:ea typeface="Consolas"/>
                          <a:cs typeface="Consolas"/>
                        </a:rPr>
                        <a:t>[1, 3)</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[2, 5)</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[5, 7)</a:t>
                      </a:r>
                    </a:p>
                  </a:txBody>
                  <a:tcPr marL="54864" marR="54864" marT="18288" marB="18288" anchor="ctr">
                    <a:solidFill>
                      <a:srgbClr val="FFF1C2"/>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[6, 8)</a:t>
                      </a:r>
                    </a:p>
                  </a:txBody>
                  <a:tcPr marL="54864" marR="54864" marT="18288" marB="18288" anchor="ctr">
                    <a:solidFill>
                      <a:srgbClr val="FFFFFF"/>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[3, 9)</a:t>
                      </a:r>
                    </a:p>
                  </a:txBody>
                  <a:tcPr marL="54864" marR="54864" marT="18288" marB="18288" anchor="ctr">
                    <a:solidFill>
                      <a:srgbClr val="FFF1C2"/>
                    </a:solidFill>
                  </a:tcPr>
                </a:tc>
                <a:tc>
                  <a:txBody>
                    <a:bodyPr/>
                    <a:lstStyle/>
                    <a:p>
                      <a:pPr algn="ctr" eaLnBrk="0" latinLnBrk="0">
                        <a:lnSpc>
                          <a:spcPct val="100000"/>
                        </a:lnSpc>
                        <a:buNone/>
                      </a:pPr>
                      <a:r>
                        <a:rPr lang="ko-KR" altLang="en-US" sz="1650" b="1" dirty="0">
                          <a:solidFill>
                            <a:srgbClr val="151515"/>
                          </a:solidFill>
                          <a:latin typeface="Consolas"/>
                          <a:ea typeface="Consolas"/>
                          <a:cs typeface="Consolas"/>
                        </a:rPr>
                        <a:t>[8, 11)</a:t>
                      </a:r>
                    </a:p>
                  </a:txBody>
                  <a:tcPr marL="54864" marR="54864" marT="18288" marB="18288" anchor="ctr">
                    <a:solidFill>
                      <a:srgbClr val="FFFFFF"/>
                    </a:solidFill>
                  </a:tcPr>
                </a:tc>
                <a:extLst>
                  <a:ext uri="{0D108BD9-81ED-4DB2-BD59-A6C34878D82A}">
                    <a16:rowId xmlns:a16="http://schemas.microsoft.com/office/drawing/2014/main" val="10000"/>
                  </a:ext>
                </a:extLst>
              </a:tr>
            </a:tbl>
          </a:graphicData>
        </a:graphic>
      </p:graphicFrame>
      <p:sp>
        <p:nvSpPr>
          <p:cNvPr id="20" name="직사각형 21"/>
          <p:cNvSpPr/>
          <p:nvPr/>
        </p:nvSpPr>
        <p:spPr>
          <a:xfrm>
            <a:off x="274320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1번</a:t>
            </a:r>
          </a:p>
        </p:txBody>
      </p:sp>
      <p:sp>
        <p:nvSpPr>
          <p:cNvPr id="21" name="직사각형 22"/>
          <p:cNvSpPr/>
          <p:nvPr/>
        </p:nvSpPr>
        <p:spPr>
          <a:xfrm>
            <a:off x="393192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2번</a:t>
            </a:r>
          </a:p>
        </p:txBody>
      </p:sp>
      <p:sp>
        <p:nvSpPr>
          <p:cNvPr id="22" name="직사각형 23"/>
          <p:cNvSpPr/>
          <p:nvPr/>
        </p:nvSpPr>
        <p:spPr>
          <a:xfrm>
            <a:off x="512064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5번</a:t>
            </a:r>
          </a:p>
        </p:txBody>
      </p:sp>
      <p:sp>
        <p:nvSpPr>
          <p:cNvPr id="23" name="직사각형 24"/>
          <p:cNvSpPr/>
          <p:nvPr/>
        </p:nvSpPr>
        <p:spPr>
          <a:xfrm>
            <a:off x="630936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4번</a:t>
            </a:r>
          </a:p>
        </p:txBody>
      </p:sp>
      <p:sp>
        <p:nvSpPr>
          <p:cNvPr id="24" name="직사각형 25"/>
          <p:cNvSpPr/>
          <p:nvPr/>
        </p:nvSpPr>
        <p:spPr>
          <a:xfrm>
            <a:off x="749808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3번</a:t>
            </a:r>
          </a:p>
        </p:txBody>
      </p:sp>
      <p:sp>
        <p:nvSpPr>
          <p:cNvPr id="25" name="직사각형 26"/>
          <p:cNvSpPr/>
          <p:nvPr/>
        </p:nvSpPr>
        <p:spPr>
          <a:xfrm>
            <a:off x="8686800" y="4370832"/>
            <a:ext cx="1188720" cy="219456"/>
          </a:xfrm>
          <a:prstGeom prst="rect">
            <a:avLst/>
          </a:prstGeom>
          <a:noFill/>
          <a:ln w="0">
            <a:noFill/>
          </a:ln>
        </p:spPr>
        <p:txBody>
          <a:bodyPr wrap="square" lIns="0" tIns="0" rIns="0" bIns="0" anchor="t">
            <a:noAutofit/>
          </a:bodyPr>
          <a:lstStyle/>
          <a:p>
            <a:pPr algn="ctr" eaLnBrk="0" latinLnBrk="0">
              <a:lnSpc>
                <a:spcPct val="100000"/>
              </a:lnSpc>
              <a:buNone/>
            </a:pPr>
            <a:r>
              <a:rPr lang="ko-KR" altLang="en-US" sz="1300" b="0" dirty="0">
                <a:solidFill>
                  <a:srgbClr val="555555"/>
                </a:solidFill>
                <a:latin typeface="Malgun Gothic"/>
                <a:ea typeface="Malgun Gothic"/>
                <a:cs typeface="Malgun Gothic"/>
              </a:rPr>
              <a:t>6번</a:t>
            </a:r>
          </a:p>
        </p:txBody>
      </p:sp>
      <p:sp>
        <p:nvSpPr>
          <p:cNvPr id="26" name="직사각형 27"/>
          <p:cNvSpPr/>
          <p:nvPr/>
        </p:nvSpPr>
        <p:spPr>
          <a:xfrm>
            <a:off x="2743200" y="5266944"/>
            <a:ext cx="4754880" cy="51206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last_end = −∞ (아직 고른 회의 없음)</a:t>
            </a:r>
          </a:p>
        </p:txBody>
      </p:sp>
      <p:sp>
        <p:nvSpPr>
          <p:cNvPr id="27" name="직사각형 28"/>
          <p:cNvSpPr/>
          <p:nvPr/>
        </p:nvSpPr>
        <p:spPr>
          <a:xfrm>
            <a:off x="2743200" y="4773168"/>
            <a:ext cx="713232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171717"/>
                </a:solidFill>
                <a:latin typeface="Malgun Gothic"/>
                <a:ea typeface="Malgun Gothic"/>
                <a:cs typeface="Malgun Gothic"/>
              </a:rPr>
              <a:t>종료 시각: 3 &lt; 5 &lt; 7 &lt; 8 &lt; 9 &lt; 11</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칸: 입력 순서와 자리가 바뀐 회의</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1번 [1, 3) · 선택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26</a:t>
            </a:r>
            <a:endParaRPr lang="ko-KR" altLang="en-US" sz="1050" b="0" dirty="0">
              <a:solidFill>
                <a:srgbClr val="606060"/>
              </a:solidFill>
              <a:latin typeface="Malgun Gothic"/>
              <a:ea typeface="Malgun Gothic"/>
              <a:cs typeface="Malgun Gothic"/>
            </a:endParaRPr>
          </a:p>
        </p:txBody>
      </p:sp>
      <p:sp>
        <p:nvSpPr>
          <p:cNvPr id="9" name="fit:1df23c4a2b41543b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last_end = −∞이므로 1 ≥ −∞가 참입니다. 겹칠 회의가 없습니다.</a:t>
            </a:r>
          </a:p>
          <a:p>
            <a:pPr algn="l" eaLnBrk="0" latinLnBrk="0">
              <a:lnSpc>
                <a:spcPct val="100000"/>
              </a:lnSpc>
              <a:buNone/>
            </a:pPr>
            <a:r>
              <a:rPr lang="ko-KR" altLang="en-US" sz="2025" b="0" dirty="0">
                <a:solidFill>
                  <a:srgbClr val="171717"/>
                </a:solidFill>
                <a:latin typeface="Malgun Gothic"/>
                <a:ea typeface="Malgun Gothic"/>
                <a:cs typeface="Malgun Gothic"/>
              </a:rPr>
              <a:t>1번을 고르고 last_end를 3으로 옮깁니다.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450342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368046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3</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0E8A7D"/>
                </a:solidFill>
                <a:latin typeface="Malgun Gothic"/>
                <a:ea typeface="Malgun Gothic"/>
                <a:cs typeface="Malgun Gothic"/>
              </a:rPr>
              <a:t>← 선택 (1 ≥ −∞)</a:t>
            </a:r>
          </a:p>
        </p:txBody>
      </p:sp>
      <p:sp>
        <p:nvSpPr>
          <p:cNvPr id="51" name="직사각형 5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2번 [2, 5) · 건너뜀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27</a:t>
            </a:r>
            <a:endParaRPr lang="ko-KR" altLang="en-US" sz="1050" b="0" dirty="0">
              <a:solidFill>
                <a:srgbClr val="606060"/>
              </a:solidFill>
              <a:latin typeface="Malgun Gothic"/>
              <a:ea typeface="Malgun Gothic"/>
              <a:cs typeface="Malgun Gothic"/>
            </a:endParaRPr>
          </a:p>
        </p:txBody>
      </p:sp>
      <p:sp>
        <p:nvSpPr>
          <p:cNvPr id="9" name="fit:e3959a74ce6c33f8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2번은 2시에 시작하는데, 직전에 고른 1번은 3시에 끝납니다.</a:t>
            </a:r>
          </a:p>
          <a:p>
            <a:pPr algn="l" eaLnBrk="0" latinLnBrk="0">
              <a:lnSpc>
                <a:spcPct val="100000"/>
              </a:lnSpc>
              <a:buNone/>
            </a:pPr>
            <a:r>
              <a:rPr lang="ko-KR" altLang="en-US" sz="2025" b="0" dirty="0">
                <a:solidFill>
                  <a:srgbClr val="171717"/>
                </a:solidFill>
                <a:latin typeface="Malgun Gothic"/>
                <a:ea typeface="Malgun Gothic"/>
                <a:cs typeface="Malgun Gothic"/>
              </a:rPr>
              <a:t>2 ≥ 3을 만족하지 못해 건너뜁니다. last_end는 3 그대로입니다.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450342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EDEDED"/>
          </a:solidFill>
          <a:ln w="15875">
            <a:solidFill>
              <a:srgbClr val="BDBDBD"/>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368046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3</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1" dirty="0">
                <a:solidFill>
                  <a:srgbClr val="B23B3B"/>
                </a:solidFill>
                <a:latin typeface="Malgun Gothic"/>
                <a:ea typeface="Malgun Gothic"/>
                <a:cs typeface="Malgun Gothic"/>
              </a:rPr>
              <a:t>← 건너뜀 (2 &lt; 3)</a:t>
            </a:r>
          </a:p>
        </p:txBody>
      </p:sp>
      <p:sp>
        <p:nvSpPr>
          <p:cNvPr id="52" name="직사각형 5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노랑: 지금 고른 회의  빨강 점선: 건너뜀  회색: 아직 보지 않은 회의  주황 점선: last_end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완료: 1번, 5번, 6번 · 3개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28</a:t>
            </a:r>
            <a:endParaRPr lang="ko-KR" altLang="en-US" sz="1050" b="0" dirty="0">
              <a:solidFill>
                <a:srgbClr val="606060"/>
              </a:solidFill>
              <a:latin typeface="Malgun Gothic"/>
              <a:ea typeface="Malgun Gothic"/>
              <a:cs typeface="Malgun Gothic"/>
            </a:endParaRPr>
          </a:p>
        </p:txBody>
      </p:sp>
      <p:sp>
        <p:nvSpPr>
          <p:cNvPr id="9" name="fit:377afb41de9c10ba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고른 회의는 1번 [1, 3), 5번 [5, 7), 6번 [8, 11), 모두 3개입니다.</a:t>
            </a:r>
          </a:p>
          <a:p>
            <a:pPr algn="l" eaLnBrk="0" latinLnBrk="0">
              <a:lnSpc>
                <a:spcPct val="100000"/>
              </a:lnSpc>
              <a:buNone/>
            </a:pPr>
            <a:r>
              <a:rPr lang="ko-KR" altLang="en-US" sz="2025" b="0" dirty="0">
                <a:solidFill>
                  <a:srgbClr val="171717"/>
                </a:solidFill>
                <a:latin typeface="Malgun Gothic"/>
                <a:ea typeface="Malgun Gothic"/>
                <a:cs typeface="Malgun Gothic"/>
              </a:rPr>
              <a:t>앞의 판정을 되돌린 적은 한 번도 없습니다.</a:t>
            </a:r>
          </a:p>
        </p:txBody>
      </p:sp>
      <p:cxnSp>
        <p:nvCxnSpPr>
          <p:cNvPr id="10" name="연결선 11"/>
          <p:cNvCxnSpPr/>
          <p:nvPr/>
        </p:nvCxnSpPr>
        <p:spPr>
          <a:xfrm>
            <a:off x="2743200" y="2761488"/>
            <a:ext cx="0" cy="2487168"/>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329940" y="2761488"/>
            <a:ext cx="0" cy="2487168"/>
          </a:xfrm>
          <a:prstGeom prst="line">
            <a:avLst/>
          </a:prstGeom>
          <a:ln w="6350">
            <a:solidFill>
              <a:srgbClr val="E6E6E6"/>
            </a:solidFill>
          </a:ln>
        </p:spPr>
      </p:cxnSp>
      <p:sp>
        <p:nvSpPr>
          <p:cNvPr id="13" name="직사각형 14"/>
          <p:cNvSpPr/>
          <p:nvPr/>
        </p:nvSpPr>
        <p:spPr>
          <a:xfrm>
            <a:off x="31470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3916680" y="2761488"/>
            <a:ext cx="0" cy="2487168"/>
          </a:xfrm>
          <a:prstGeom prst="line">
            <a:avLst/>
          </a:prstGeom>
          <a:ln w="6350">
            <a:solidFill>
              <a:srgbClr val="E6E6E6"/>
            </a:solidFill>
          </a:ln>
        </p:spPr>
      </p:cxnSp>
      <p:sp>
        <p:nvSpPr>
          <p:cNvPr id="15" name="직사각형 16"/>
          <p:cNvSpPr/>
          <p:nvPr/>
        </p:nvSpPr>
        <p:spPr>
          <a:xfrm>
            <a:off x="37338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503420" y="2761488"/>
            <a:ext cx="0" cy="2487168"/>
          </a:xfrm>
          <a:prstGeom prst="line">
            <a:avLst/>
          </a:prstGeom>
          <a:ln w="6350">
            <a:solidFill>
              <a:srgbClr val="E6E6E6"/>
            </a:solidFill>
          </a:ln>
        </p:spPr>
      </p:cxnSp>
      <p:sp>
        <p:nvSpPr>
          <p:cNvPr id="17" name="직사각형 18"/>
          <p:cNvSpPr/>
          <p:nvPr/>
        </p:nvSpPr>
        <p:spPr>
          <a:xfrm>
            <a:off x="43205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090160" y="2761488"/>
            <a:ext cx="0" cy="2487168"/>
          </a:xfrm>
          <a:prstGeom prst="line">
            <a:avLst/>
          </a:prstGeom>
          <a:ln w="6350">
            <a:solidFill>
              <a:srgbClr val="E6E6E6"/>
            </a:solidFill>
          </a:ln>
        </p:spPr>
      </p:cxnSp>
      <p:sp>
        <p:nvSpPr>
          <p:cNvPr id="19" name="직사각형 20"/>
          <p:cNvSpPr/>
          <p:nvPr/>
        </p:nvSpPr>
        <p:spPr>
          <a:xfrm>
            <a:off x="49072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5676900" y="2761488"/>
            <a:ext cx="0" cy="2487168"/>
          </a:xfrm>
          <a:prstGeom prst="line">
            <a:avLst/>
          </a:prstGeom>
          <a:ln w="6350">
            <a:solidFill>
              <a:srgbClr val="E6E6E6"/>
            </a:solidFill>
          </a:ln>
        </p:spPr>
      </p:cxnSp>
      <p:sp>
        <p:nvSpPr>
          <p:cNvPr id="21" name="직사각형 22"/>
          <p:cNvSpPr/>
          <p:nvPr/>
        </p:nvSpPr>
        <p:spPr>
          <a:xfrm>
            <a:off x="54940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6263640" y="2761488"/>
            <a:ext cx="0" cy="2487168"/>
          </a:xfrm>
          <a:prstGeom prst="line">
            <a:avLst/>
          </a:prstGeom>
          <a:ln w="6350">
            <a:solidFill>
              <a:srgbClr val="E6E6E6"/>
            </a:solidFill>
          </a:ln>
        </p:spPr>
      </p:cxnSp>
      <p:sp>
        <p:nvSpPr>
          <p:cNvPr id="23" name="직사각형 24"/>
          <p:cNvSpPr/>
          <p:nvPr/>
        </p:nvSpPr>
        <p:spPr>
          <a:xfrm>
            <a:off x="60807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6850380" y="2761488"/>
            <a:ext cx="0" cy="2487168"/>
          </a:xfrm>
          <a:prstGeom prst="line">
            <a:avLst/>
          </a:prstGeom>
          <a:ln w="6350">
            <a:solidFill>
              <a:srgbClr val="E6E6E6"/>
            </a:solidFill>
          </a:ln>
        </p:spPr>
      </p:cxnSp>
      <p:sp>
        <p:nvSpPr>
          <p:cNvPr id="25" name="직사각형 26"/>
          <p:cNvSpPr/>
          <p:nvPr/>
        </p:nvSpPr>
        <p:spPr>
          <a:xfrm>
            <a:off x="66675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437120" y="2761488"/>
            <a:ext cx="0" cy="2487168"/>
          </a:xfrm>
          <a:prstGeom prst="line">
            <a:avLst/>
          </a:prstGeom>
          <a:ln w="6350">
            <a:solidFill>
              <a:srgbClr val="E6E6E6"/>
            </a:solidFill>
          </a:ln>
        </p:spPr>
      </p:cxnSp>
      <p:sp>
        <p:nvSpPr>
          <p:cNvPr id="27" name="직사각형 28"/>
          <p:cNvSpPr/>
          <p:nvPr/>
        </p:nvSpPr>
        <p:spPr>
          <a:xfrm>
            <a:off x="72542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28" name="연결선 29"/>
          <p:cNvCxnSpPr/>
          <p:nvPr/>
        </p:nvCxnSpPr>
        <p:spPr>
          <a:xfrm>
            <a:off x="8023860" y="2761488"/>
            <a:ext cx="0" cy="2487168"/>
          </a:xfrm>
          <a:prstGeom prst="line">
            <a:avLst/>
          </a:prstGeom>
          <a:ln w="6350">
            <a:solidFill>
              <a:srgbClr val="E6E6E6"/>
            </a:solidFill>
          </a:ln>
        </p:spPr>
      </p:cxnSp>
      <p:sp>
        <p:nvSpPr>
          <p:cNvPr id="29" name="직사각형 30"/>
          <p:cNvSpPr/>
          <p:nvPr/>
        </p:nvSpPr>
        <p:spPr>
          <a:xfrm>
            <a:off x="78409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0" name="연결선 31"/>
          <p:cNvCxnSpPr/>
          <p:nvPr/>
        </p:nvCxnSpPr>
        <p:spPr>
          <a:xfrm>
            <a:off x="8610600" y="2761488"/>
            <a:ext cx="0" cy="2487168"/>
          </a:xfrm>
          <a:prstGeom prst="line">
            <a:avLst/>
          </a:prstGeom>
          <a:ln w="6350">
            <a:solidFill>
              <a:srgbClr val="E6E6E6"/>
            </a:solidFill>
          </a:ln>
        </p:spPr>
      </p:cxnSp>
      <p:sp>
        <p:nvSpPr>
          <p:cNvPr id="31" name="직사각형 32"/>
          <p:cNvSpPr/>
          <p:nvPr/>
        </p:nvSpPr>
        <p:spPr>
          <a:xfrm>
            <a:off x="84277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2" name="연결선 33"/>
          <p:cNvCxnSpPr/>
          <p:nvPr/>
        </p:nvCxnSpPr>
        <p:spPr>
          <a:xfrm>
            <a:off x="9197340" y="2761488"/>
            <a:ext cx="0" cy="2487168"/>
          </a:xfrm>
          <a:prstGeom prst="line">
            <a:avLst/>
          </a:prstGeom>
          <a:ln w="6350">
            <a:solidFill>
              <a:srgbClr val="E6E6E6"/>
            </a:solidFill>
          </a:ln>
        </p:spPr>
      </p:cxnSp>
      <p:sp>
        <p:nvSpPr>
          <p:cNvPr id="33" name="직사각형 34"/>
          <p:cNvSpPr/>
          <p:nvPr/>
        </p:nvSpPr>
        <p:spPr>
          <a:xfrm>
            <a:off x="90144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34" name="연결선 35"/>
          <p:cNvCxnSpPr/>
          <p:nvPr/>
        </p:nvCxnSpPr>
        <p:spPr>
          <a:xfrm>
            <a:off x="9784080" y="2761488"/>
            <a:ext cx="0" cy="2487168"/>
          </a:xfrm>
          <a:prstGeom prst="line">
            <a:avLst/>
          </a:prstGeom>
          <a:ln w="6350">
            <a:solidFill>
              <a:srgbClr val="E6E6E6"/>
            </a:solidFill>
          </a:ln>
        </p:spPr>
      </p:cxnSp>
      <p:sp>
        <p:nvSpPr>
          <p:cNvPr id="35" name="직사각형 36"/>
          <p:cNvSpPr/>
          <p:nvPr/>
        </p:nvSpPr>
        <p:spPr>
          <a:xfrm>
            <a:off x="96012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cxnSp>
        <p:nvCxnSpPr>
          <p:cNvPr id="36" name="연결선 37"/>
          <p:cNvCxnSpPr/>
          <p:nvPr/>
        </p:nvCxnSpPr>
        <p:spPr>
          <a:xfrm>
            <a:off x="9197340" y="2743200"/>
            <a:ext cx="0" cy="2560320"/>
          </a:xfrm>
          <a:prstGeom prst="line">
            <a:avLst/>
          </a:prstGeom>
          <a:ln w="28575">
            <a:solidFill>
              <a:srgbClr val="B8651B"/>
            </a:solidFill>
            <a:prstDash val="dash"/>
          </a:ln>
        </p:spPr>
      </p:cxnSp>
      <p:sp>
        <p:nvSpPr>
          <p:cNvPr id="37" name="직사각형 3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1번 [1, 3)</a:t>
            </a:r>
          </a:p>
        </p:txBody>
      </p:sp>
      <p:sp>
        <p:nvSpPr>
          <p:cNvPr id="38" name="직사각형 39"/>
          <p:cNvSpPr/>
          <p:nvPr/>
        </p:nvSpPr>
        <p:spPr>
          <a:xfrm>
            <a:off x="3329940" y="2880360"/>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39" name="직사각형 4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2번 [2, 5)</a:t>
            </a:r>
          </a:p>
        </p:txBody>
      </p:sp>
      <p:sp>
        <p:nvSpPr>
          <p:cNvPr id="40" name="직사각형 41"/>
          <p:cNvSpPr/>
          <p:nvPr/>
        </p:nvSpPr>
        <p:spPr>
          <a:xfrm>
            <a:off x="3916680" y="3282696"/>
            <a:ext cx="1760220" cy="310896"/>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1" name="직사각형 4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5번 [5, 7)</a:t>
            </a:r>
          </a:p>
        </p:txBody>
      </p:sp>
      <p:sp>
        <p:nvSpPr>
          <p:cNvPr id="42" name="직사각형 43"/>
          <p:cNvSpPr/>
          <p:nvPr/>
        </p:nvSpPr>
        <p:spPr>
          <a:xfrm>
            <a:off x="5676900" y="3685032"/>
            <a:ext cx="117348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3" name="직사각형 44"/>
          <p:cNvSpPr/>
          <p:nvPr/>
        </p:nvSpPr>
        <p:spPr>
          <a:xfrm>
            <a:off x="960120" y="4087368"/>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4번 [6, 8)</a:t>
            </a:r>
          </a:p>
        </p:txBody>
      </p:sp>
      <p:sp>
        <p:nvSpPr>
          <p:cNvPr id="44" name="직사각형 45"/>
          <p:cNvSpPr/>
          <p:nvPr/>
        </p:nvSpPr>
        <p:spPr>
          <a:xfrm>
            <a:off x="6263640" y="4087368"/>
            <a:ext cx="1173480" cy="310896"/>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960120" y="4489704"/>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AAAAAA"/>
                </a:solidFill>
                <a:latin typeface="Malgun Gothic"/>
                <a:ea typeface="Malgun Gothic"/>
                <a:cs typeface="Malgun Gothic"/>
              </a:rPr>
              <a:t>3번 [3, 9)</a:t>
            </a:r>
          </a:p>
        </p:txBody>
      </p:sp>
      <p:sp>
        <p:nvSpPr>
          <p:cNvPr id="46" name="직사각형 47"/>
          <p:cNvSpPr/>
          <p:nvPr/>
        </p:nvSpPr>
        <p:spPr>
          <a:xfrm>
            <a:off x="4503420" y="4489704"/>
            <a:ext cx="3520440" cy="310896"/>
          </a:xfrm>
          <a:prstGeom prst="rect">
            <a:avLst/>
          </a:prstGeom>
          <a:solidFill>
            <a:srgbClr val="F6F6F6"/>
          </a:solidFill>
          <a:ln w="15875">
            <a:solidFill>
              <a:srgbClr val="E0E0E0"/>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960120" y="489204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7437120" y="4892040"/>
            <a:ext cx="176022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8374380" y="5321808"/>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11</a:t>
            </a:r>
          </a:p>
        </p:txBody>
      </p:sp>
      <p:sp>
        <p:nvSpPr>
          <p:cNvPr id="50" name="직사각형 51"/>
          <p:cNvSpPr/>
          <p:nvPr/>
        </p:nvSpPr>
        <p:spPr>
          <a:xfrm>
            <a:off x="9921240" y="288036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1" name="직사각형 52"/>
          <p:cNvSpPr/>
          <p:nvPr/>
        </p:nvSpPr>
        <p:spPr>
          <a:xfrm>
            <a:off x="9921240" y="3282696"/>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2" name="직사각형 53"/>
          <p:cNvSpPr/>
          <p:nvPr/>
        </p:nvSpPr>
        <p:spPr>
          <a:xfrm>
            <a:off x="9921240" y="3685032"/>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3" name="직사각형 54"/>
          <p:cNvSpPr/>
          <p:nvPr/>
        </p:nvSpPr>
        <p:spPr>
          <a:xfrm>
            <a:off x="9921240" y="4087368"/>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4" name="직사각형 55"/>
          <p:cNvSpPr/>
          <p:nvPr/>
        </p:nvSpPr>
        <p:spPr>
          <a:xfrm>
            <a:off x="9921240" y="4489704"/>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B23B3B"/>
                </a:solidFill>
                <a:latin typeface="Malgun Gothic"/>
                <a:ea typeface="Malgun Gothic"/>
                <a:cs typeface="Malgun Gothic"/>
              </a:rPr>
              <a:t>건너뜀</a:t>
            </a:r>
          </a:p>
        </p:txBody>
      </p:sp>
      <p:sp>
        <p:nvSpPr>
          <p:cNvPr id="55" name="직사각형 56"/>
          <p:cNvSpPr/>
          <p:nvPr/>
        </p:nvSpPr>
        <p:spPr>
          <a:xfrm>
            <a:off x="9921240" y="4892040"/>
            <a:ext cx="166420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425" b="0" dirty="0">
                <a:solidFill>
                  <a:srgbClr val="0E8A7D"/>
                </a:solidFill>
                <a:latin typeface="Malgun Gothic"/>
                <a:ea typeface="Malgun Gothic"/>
                <a:cs typeface="Malgun Gothic"/>
              </a:rPr>
              <a:t>선택</a:t>
            </a:r>
          </a:p>
        </p:txBody>
      </p:sp>
      <p:sp>
        <p:nvSpPr>
          <p:cNvPr id="56" name="직사각형 57"/>
          <p:cNvSpPr/>
          <p:nvPr/>
        </p:nvSpPr>
        <p:spPr>
          <a:xfrm>
            <a:off x="2743200" y="5724144"/>
            <a:ext cx="877824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이 3개가 최대인지는 뒤의 '왜 옳은가'에서 확인합니다.</a:t>
            </a:r>
          </a:p>
        </p:txBody>
      </p:sp>
      <p:sp>
        <p:nvSpPr>
          <p:cNvPr id="57" name="직사각형 58"/>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고른 회의    회색: 건너뛴 회의    주황 점선: last_end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복잡도: 정렬 O(n log n) + 한 번 훑기 O(n)</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29</a:t>
            </a:r>
            <a:endParaRPr lang="ko-KR" altLang="en-US" sz="1050" b="0" dirty="0">
              <a:solidFill>
                <a:srgbClr val="606060"/>
              </a:solidFill>
              <a:latin typeface="Malgun Gothic"/>
              <a:ea typeface="Malgun Gothic"/>
              <a:cs typeface="Malgun Gothic"/>
            </a:endParaRPr>
          </a:p>
        </p:txBody>
      </p:sp>
      <p:sp>
        <p:nvSpPr>
          <p:cNvPr id="9" name="fit:afdb634b584ad49b 10"/>
          <p:cNvSpPr/>
          <p:nvPr/>
        </p:nvSpPr>
        <p:spPr>
          <a:xfrm>
            <a:off x="612648" y="1636776"/>
            <a:ext cx="10972800" cy="338328"/>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n = 회의의 수</a:t>
            </a:r>
          </a:p>
        </p:txBody>
      </p:sp>
      <p:graphicFrame>
        <p:nvGraphicFramePr>
          <p:cNvPr id="10" name="표 11"/>
          <p:cNvGraphicFramePr>
            <a:graphicFrameLocks noGrp="1"/>
          </p:cNvGraphicFramePr>
          <p:nvPr>
            <p:extLst>
              <p:ext uri="{D42A27DB-BD31-4B8C-83A1-F6EECF244321}">
                <p14:modId xmlns:p14="http://schemas.microsoft.com/office/powerpoint/2010/main" val="3938473311"/>
              </p:ext>
            </p:extLst>
          </p:nvPr>
        </p:nvGraphicFramePr>
        <p:xfrm>
          <a:off x="612648" y="2103120"/>
          <a:ext cx="10972800" cy="1463040"/>
        </p:xfrm>
        <a:graphic>
          <a:graphicData uri="http://schemas.openxmlformats.org/drawingml/2006/table">
            <a:tbl>
              <a:tblPr/>
              <a:tblGrid>
                <a:gridCol w="1995055">
                  <a:extLst>
                    <a:ext uri="{9D8B030D-6E8A-4147-A177-3AD203B41FA5}">
                      <a16:colId xmlns:a16="http://schemas.microsoft.com/office/drawing/2014/main" val="20000"/>
                    </a:ext>
                  </a:extLst>
                </a:gridCol>
                <a:gridCol w="6384175">
                  <a:extLst>
                    <a:ext uri="{9D8B030D-6E8A-4147-A177-3AD203B41FA5}">
                      <a16:colId xmlns:a16="http://schemas.microsoft.com/office/drawing/2014/main" val="20001"/>
                    </a:ext>
                  </a:extLst>
                </a:gridCol>
                <a:gridCol w="2593571">
                  <a:extLst>
                    <a:ext uri="{9D8B030D-6E8A-4147-A177-3AD203B41FA5}">
                      <a16:colId xmlns:a16="http://schemas.microsoft.com/office/drawing/2014/main" val="20002"/>
                    </a:ext>
                  </a:extLst>
                </a:gridCol>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하는 일</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시간</a:t>
                      </a:r>
                    </a:p>
                  </a:txBody>
                  <a:tcPr marL="54864" marR="54864" marT="18288" marB="18288" anchor="ctr">
                    <a:solidFill>
                      <a:srgbClr val="151515"/>
                    </a:solidFill>
                  </a:tcPr>
                </a:tc>
                <a:extLst>
                  <a:ext uri="{0D108BD9-81ED-4DB2-BD59-A6C34878D82A}">
                    <a16:rowId xmlns:a16="http://schemas.microsoft.com/office/drawing/2014/main" val="10000"/>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정렬</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종료 시각 순으로 정렬 (sort, qsort)</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O(n log n)</a:t>
                      </a:r>
                    </a:p>
                  </a:txBody>
                  <a:tcPr marL="54864" marR="54864" marT="18288" marB="18288" anchor="ctr">
                    <a:solidFill>
                      <a:srgbClr val="FFFFFF"/>
                    </a:solidFill>
                  </a:tcPr>
                </a:tc>
                <a:extLst>
                  <a:ext uri="{0D108BD9-81ED-4DB2-BD59-A6C34878D82A}">
                    <a16:rowId xmlns:a16="http://schemas.microsoft.com/office/drawing/2014/main" val="10001"/>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훑기</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앞에서부터 한 번, 회의마다 비교 한 번</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O(n)</a:t>
                      </a:r>
                    </a:p>
                  </a:txBody>
                  <a:tcPr marL="54864" marR="54864" marT="18288" marB="18288" anchor="ctr">
                    <a:solidFill>
                      <a:srgbClr val="FFFFFF"/>
                    </a:solidFill>
                  </a:tcPr>
                </a:tc>
                <a:extLst>
                  <a:ext uri="{0D108BD9-81ED-4DB2-BD59-A6C34878D82A}">
                    <a16:rowId xmlns:a16="http://schemas.microsoft.com/office/drawing/2014/main" val="10002"/>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공간</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고른 회의 목록</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O(n)</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fit:a0bc256da94b2d1b 12"/>
          <p:cNvSpPr/>
          <p:nvPr/>
        </p:nvSpPr>
        <p:spPr>
          <a:xfrm>
            <a:off x="612648" y="3712464"/>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O(n log n) + O(n) = O(n log n)</a:t>
            </a:r>
          </a:p>
        </p:txBody>
      </p:sp>
      <p:sp>
        <p:nvSpPr>
          <p:cNvPr id="12" name="fit:bac482fe2cc7dad5 13"/>
          <p:cNvSpPr/>
          <p:nvPr/>
        </p:nvSpPr>
        <p:spPr>
          <a:xfrm>
            <a:off x="612648" y="422452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Python의 sort는 최악에도 O(n log n), C의 qsort는 보통 O(n log n)</a:t>
            </a:r>
          </a:p>
        </p:txBody>
      </p:sp>
      <p:sp>
        <p:nvSpPr>
          <p:cNvPr id="13" name="fit:043b0b305e602543 14"/>
          <p:cNvSpPr/>
          <p:nvPr/>
        </p:nvSpPr>
        <p:spPr>
          <a:xfrm>
            <a:off x="795528" y="455371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전체 비용은 정렬이 정합니다.</a:t>
            </a:r>
          </a:p>
        </p:txBody>
      </p:sp>
      <p:sp>
        <p:nvSpPr>
          <p:cNvPr id="14" name="fit:377ad1d35187aab2 15"/>
          <p:cNvSpPr/>
          <p:nvPr/>
        </p:nvSpPr>
        <p:spPr>
          <a:xfrm>
            <a:off x="612648" y="493776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입력이 이미 종료 시각 순이면 O(n)</a:t>
            </a:r>
          </a:p>
        </p:txBody>
      </p:sp>
      <p:sp>
        <p:nvSpPr>
          <p:cNvPr id="15" name="fit:f490f62e5b5824bd 16"/>
          <p:cNvSpPr/>
          <p:nvPr/>
        </p:nvSpPr>
        <p:spPr>
          <a:xfrm>
            <a:off x="795528" y="526694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정렬을 빼고 한 번 훑기만 하면 됩니다.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옳은가: 첫 회의를 바꿔 넣어도 최적</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30</a:t>
            </a:r>
            <a:endParaRPr lang="ko-KR" altLang="en-US" sz="1050" b="0" dirty="0">
              <a:solidFill>
                <a:srgbClr val="606060"/>
              </a:solidFill>
              <a:latin typeface="Malgun Gothic"/>
              <a:ea typeface="Malgun Gothic"/>
              <a:cs typeface="Malgun Gothic"/>
            </a:endParaRPr>
          </a:p>
        </p:txBody>
      </p:sp>
      <p:sp>
        <p:nvSpPr>
          <p:cNvPr id="9" name="fit:50fb12ac7ecbb4cf 10"/>
          <p:cNvSpPr/>
          <p:nvPr/>
        </p:nvSpPr>
        <p:spPr>
          <a:xfrm>
            <a:off x="612648" y="1636776"/>
            <a:ext cx="6766560" cy="969264"/>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최적해 O를 하나 가져옵니다.</a:t>
            </a:r>
          </a:p>
          <a:p>
            <a:pPr algn="l" eaLnBrk="0" latinLnBrk="0">
              <a:lnSpc>
                <a:spcPct val="100000"/>
              </a:lnSpc>
              <a:buNone/>
            </a:pPr>
            <a:r>
              <a:rPr lang="ko-KR" altLang="en-US" sz="2025" b="0" dirty="0">
                <a:solidFill>
                  <a:srgbClr val="171717"/>
                </a:solidFill>
                <a:latin typeface="Malgun Gothic"/>
                <a:ea typeface="Malgun Gothic"/>
                <a:cs typeface="Malgun Gothic"/>
              </a:rPr>
              <a:t>예: 2번, 4번, 6번(3개). O의 첫 회의 2번을</a:t>
            </a:r>
          </a:p>
          <a:p>
            <a:pPr algn="l" eaLnBrk="0" latinLnBrk="0">
              <a:lnSpc>
                <a:spcPct val="100000"/>
              </a:lnSpc>
              <a:buNone/>
            </a:pPr>
            <a:r>
              <a:rPr lang="ko-KR" altLang="en-US" sz="2025" b="0" dirty="0">
                <a:solidFill>
                  <a:srgbClr val="171717"/>
                </a:solidFill>
                <a:latin typeface="Malgun Gothic"/>
                <a:ea typeface="Malgun Gothic"/>
                <a:cs typeface="Malgun Gothic"/>
              </a:rPr>
              <a:t>그리디의 첫 회의 1번으로 바꿔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1d6d970b06864e5e 12"/>
          <p:cNvSpPr/>
          <p:nvPr/>
        </p:nvSpPr>
        <p:spPr>
          <a:xfrm>
            <a:off x="7909560" y="2935224"/>
            <a:ext cx="3666744" cy="859536"/>
          </a:xfrm>
          <a:prstGeom prst="rect">
            <a:avLst/>
          </a:prstGeom>
          <a:noFill/>
          <a:ln w="0">
            <a:noFill/>
          </a:ln>
        </p:spPr>
        <p:txBody>
          <a:bodyPr wrap="square" lIns="0" tIns="0" rIns="0" bIns="0" anchor="t">
            <a:noAutofit/>
          </a:bodyPr>
          <a:lstStyle/>
          <a:p>
            <a:pPr algn="l" eaLnBrk="0" latinLnBrk="0">
              <a:lnSpc>
                <a:spcPct val="105000"/>
              </a:lnSpc>
              <a:buNone/>
            </a:pPr>
            <a:r>
              <a:rPr lang="ko-KR" altLang="en-US" sz="1300" b="0" dirty="0">
                <a:solidFill>
                  <a:srgbClr val="171717"/>
                </a:solidFill>
                <a:latin typeface="Malgun Gothic"/>
                <a:ea typeface="Malgun Gothic"/>
                <a:cs typeface="Malgun Gothic"/>
              </a:rPr>
              <a:t>① g = 그리디의 첫 회의 (1번)</a:t>
            </a:r>
          </a:p>
          <a:p>
            <a:pPr algn="l" eaLnBrk="0" latinLnBrk="0">
              <a:lnSpc>
                <a:spcPct val="105000"/>
              </a:lnSpc>
              <a:buNone/>
            </a:pPr>
            <a:r>
              <a:rPr lang="ko-KR" altLang="en-US" sz="1300" b="0" dirty="0">
                <a:solidFill>
                  <a:srgbClr val="171717"/>
                </a:solidFill>
                <a:latin typeface="Malgun Gothic"/>
                <a:ea typeface="Malgun Gothic"/>
                <a:cs typeface="Malgun Gothic"/>
              </a:rPr>
              <a:t>  = 전체에서 가장 먼저 끝나는 회의</a:t>
            </a:r>
          </a:p>
          <a:p>
            <a:pPr algn="l" eaLnBrk="0" latinLnBrk="0">
              <a:lnSpc>
                <a:spcPct val="105000"/>
              </a:lnSpc>
              <a:buNone/>
            </a:pPr>
            <a:r>
              <a:rPr lang="ko-KR" altLang="en-US" sz="1300" b="0" dirty="0">
                <a:solidFill>
                  <a:srgbClr val="171717"/>
                </a:solidFill>
                <a:latin typeface="Malgun Gothic"/>
                <a:ea typeface="Malgun Gothic"/>
                <a:cs typeface="Malgun Gothic"/>
              </a:rPr>
              <a:t>  x = O에서 가장 먼저 끝나는 회의 (2번)</a:t>
            </a:r>
          </a:p>
          <a:p>
            <a:pPr algn="l" eaLnBrk="0" latinLnBrk="0">
              <a:lnSpc>
                <a:spcPct val="105000"/>
              </a:lnSpc>
              <a:buNone/>
            </a:pPr>
            <a:r>
              <a:rPr lang="ko-KR" altLang="en-US" sz="1300" b="0" dirty="0">
                <a:solidFill>
                  <a:srgbClr val="171717"/>
                </a:solidFill>
                <a:latin typeface="Malgun Gothic"/>
                <a:ea typeface="Malgun Gothic"/>
                <a:cs typeface="Malgun Gothic"/>
              </a:rPr>
              <a:t>  → g의 종료 ≤ x의 종료 (3 ≤ 5)</a:t>
            </a:r>
          </a:p>
        </p:txBody>
      </p:sp>
      <p:sp>
        <p:nvSpPr>
          <p:cNvPr id="12" name="fit:1eb1238cab3fdfc3 13"/>
          <p:cNvSpPr/>
          <p:nvPr/>
        </p:nvSpPr>
        <p:spPr>
          <a:xfrm>
            <a:off x="7909560" y="3849624"/>
            <a:ext cx="3666744" cy="438912"/>
          </a:xfrm>
          <a:prstGeom prst="rect">
            <a:avLst/>
          </a:prstGeom>
          <a:noFill/>
          <a:ln w="0">
            <a:noFill/>
          </a:ln>
        </p:spPr>
        <p:txBody>
          <a:bodyPr wrap="square" lIns="0" tIns="0" rIns="0" bIns="0" anchor="t">
            <a:noAutofit/>
          </a:bodyPr>
          <a:lstStyle/>
          <a:p>
            <a:pPr algn="l" eaLnBrk="0" latinLnBrk="0">
              <a:lnSpc>
                <a:spcPct val="105000"/>
              </a:lnSpc>
              <a:buNone/>
            </a:pPr>
            <a:r>
              <a:rPr lang="ko-KR" altLang="en-US" sz="1300" b="0" dirty="0">
                <a:solidFill>
                  <a:srgbClr val="171717"/>
                </a:solidFill>
                <a:latin typeface="Malgun Gothic"/>
                <a:ea typeface="Malgun Gothic"/>
                <a:cs typeface="Malgun Gothic"/>
              </a:rPr>
              <a:t>② O의 나머지는 x가 끝난 뒤 시작</a:t>
            </a:r>
          </a:p>
          <a:p>
            <a:pPr algn="l" eaLnBrk="0" latinLnBrk="0">
              <a:lnSpc>
                <a:spcPct val="105000"/>
              </a:lnSpc>
              <a:buNone/>
            </a:pPr>
            <a:r>
              <a:rPr lang="ko-KR" altLang="en-US" sz="1300" b="0" dirty="0">
                <a:solidFill>
                  <a:srgbClr val="171717"/>
                </a:solidFill>
                <a:latin typeface="Malgun Gothic"/>
                <a:ea typeface="Malgun Gothic"/>
                <a:cs typeface="Malgun Gothic"/>
              </a:rPr>
              <a:t>  → g와도 겹치지 않습니다.</a:t>
            </a:r>
          </a:p>
        </p:txBody>
      </p:sp>
      <p:sp>
        <p:nvSpPr>
          <p:cNvPr id="13" name="fit:2fcf4e7a9e189a87 14"/>
          <p:cNvSpPr/>
          <p:nvPr/>
        </p:nvSpPr>
        <p:spPr>
          <a:xfrm>
            <a:off x="7909560" y="4343400"/>
            <a:ext cx="3666744" cy="438912"/>
          </a:xfrm>
          <a:prstGeom prst="rect">
            <a:avLst/>
          </a:prstGeom>
          <a:noFill/>
          <a:ln w="0">
            <a:noFill/>
          </a:ln>
        </p:spPr>
        <p:txBody>
          <a:bodyPr wrap="square" lIns="0" tIns="0" rIns="0" bIns="0" anchor="t">
            <a:noAutofit/>
          </a:bodyPr>
          <a:lstStyle/>
          <a:p>
            <a:pPr algn="l" eaLnBrk="0" latinLnBrk="0">
              <a:lnSpc>
                <a:spcPct val="105000"/>
              </a:lnSpc>
              <a:buNone/>
            </a:pPr>
            <a:r>
              <a:rPr lang="ko-KR" altLang="en-US" sz="1300" b="0" dirty="0">
                <a:solidFill>
                  <a:srgbClr val="171717"/>
                </a:solidFill>
                <a:latin typeface="Malgun Gothic"/>
                <a:ea typeface="Malgun Gothic"/>
                <a:cs typeface="Malgun Gothic"/>
              </a:rPr>
              <a:t>③ 개수가 같으므로 O′도 최적해</a:t>
            </a:r>
          </a:p>
          <a:p>
            <a:pPr algn="l" eaLnBrk="0" latinLnBrk="0">
              <a:lnSpc>
                <a:spcPct val="105000"/>
              </a:lnSpc>
              <a:buNone/>
            </a:pPr>
            <a:r>
              <a:rPr lang="ko-KR" altLang="en-US" sz="1300" b="0" dirty="0">
                <a:solidFill>
                  <a:srgbClr val="171717"/>
                </a:solidFill>
                <a:latin typeface="Malgun Gothic"/>
                <a:ea typeface="Malgun Gothic"/>
                <a:cs typeface="Malgun Gothic"/>
              </a:rPr>
              <a:t>  → 남은 회의에도 되풀이합니다.</a:t>
            </a:r>
          </a:p>
        </p:txBody>
      </p:sp>
      <p:sp>
        <p:nvSpPr>
          <p:cNvPr id="14" name="fit:02b4295a96355031 15"/>
          <p:cNvSpPr/>
          <p:nvPr/>
        </p:nvSpPr>
        <p:spPr>
          <a:xfrm>
            <a:off x="7909560" y="4837176"/>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0E8A7D"/>
                </a:solidFill>
                <a:latin typeface="Malgun Gothic"/>
                <a:ea typeface="Malgun Gothic"/>
                <a:cs typeface="Malgun Gothic"/>
              </a:rPr>
              <a:t>첫 회의를 포함하는 최적해가</a:t>
            </a:r>
          </a:p>
          <a:p>
            <a:pPr algn="l" eaLnBrk="0" latinLnBrk="0">
              <a:lnSpc>
                <a:spcPct val="100000"/>
              </a:lnSpc>
              <a:buNone/>
            </a:pPr>
            <a:r>
              <a:rPr lang="ko-KR" altLang="en-US" sz="1650" b="1" dirty="0">
                <a:solidFill>
                  <a:srgbClr val="0E8A7D"/>
                </a:solidFill>
                <a:latin typeface="Malgun Gothic"/>
                <a:ea typeface="Malgun Gothic"/>
                <a:cs typeface="Malgun Gothic"/>
              </a:rPr>
              <a:t>적어도 하나 있습니다.</a:t>
            </a:r>
          </a:p>
        </p:txBody>
      </p:sp>
      <p:sp>
        <p:nvSpPr>
          <p:cNvPr id="15" name="fit:40b060c5f955c625 16"/>
          <p:cNvSpPr/>
          <p:nvPr/>
        </p:nvSpPr>
        <p:spPr>
          <a:xfrm>
            <a:off x="7909560" y="5449824"/>
            <a:ext cx="3666744"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이 방법이 교환 논증입니다:</a:t>
            </a:r>
          </a:p>
          <a:p>
            <a:pPr algn="l" eaLnBrk="0" latinLnBrk="0">
              <a:lnSpc>
                <a:spcPct val="100000"/>
              </a:lnSpc>
              <a:buNone/>
            </a:pPr>
            <a:r>
              <a:rPr lang="ko-KR" altLang="en-US" sz="1350" b="0" dirty="0">
                <a:solidFill>
                  <a:srgbClr val="3F3F3F"/>
                </a:solidFill>
                <a:latin typeface="Malgun Gothic"/>
                <a:ea typeface="Malgun Gothic"/>
                <a:cs typeface="Malgun Gothic"/>
              </a:rPr>
              <a:t>최적해의 일부를 탐욕 선택으로</a:t>
            </a:r>
          </a:p>
          <a:p>
            <a:pPr algn="l" eaLnBrk="0" latinLnBrk="0">
              <a:lnSpc>
                <a:spcPct val="100000"/>
              </a:lnSpc>
              <a:buNone/>
            </a:pPr>
            <a:r>
              <a:rPr lang="ko-KR" altLang="en-US" sz="1350" b="0" dirty="0">
                <a:solidFill>
                  <a:srgbClr val="3F3F3F"/>
                </a:solidFill>
                <a:latin typeface="Malgun Gothic"/>
                <a:ea typeface="Malgun Gothic"/>
                <a:cs typeface="Malgun Gothic"/>
              </a:rPr>
              <a:t>바꿔도 여전히 최적해임을 보입니다.</a:t>
            </a:r>
          </a:p>
        </p:txBody>
      </p:sp>
      <p:sp>
        <p:nvSpPr>
          <p:cNvPr id="16" name="직사각형 17"/>
          <p:cNvSpPr/>
          <p:nvPr/>
        </p:nvSpPr>
        <p:spPr>
          <a:xfrm>
            <a:off x="612648" y="2651760"/>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최적해 O의 예: 2번, 4번, 6번 (3개)</a:t>
            </a:r>
          </a:p>
        </p:txBody>
      </p:sp>
      <p:cxnSp>
        <p:nvCxnSpPr>
          <p:cNvPr id="17" name="연결선 18"/>
          <p:cNvCxnSpPr/>
          <p:nvPr/>
        </p:nvCxnSpPr>
        <p:spPr>
          <a:xfrm>
            <a:off x="2395728" y="3145536"/>
            <a:ext cx="0" cy="1170432"/>
          </a:xfrm>
          <a:prstGeom prst="line">
            <a:avLst/>
          </a:prstGeom>
          <a:ln w="6350">
            <a:solidFill>
              <a:srgbClr val="E6E6E6"/>
            </a:solidFill>
          </a:ln>
        </p:spPr>
      </p:cxnSp>
      <p:sp>
        <p:nvSpPr>
          <p:cNvPr id="18" name="직사각형 19"/>
          <p:cNvSpPr/>
          <p:nvPr/>
        </p:nvSpPr>
        <p:spPr>
          <a:xfrm>
            <a:off x="221284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9" name="연결선 20"/>
          <p:cNvCxnSpPr/>
          <p:nvPr/>
        </p:nvCxnSpPr>
        <p:spPr>
          <a:xfrm>
            <a:off x="2791968" y="3145536"/>
            <a:ext cx="0" cy="1170432"/>
          </a:xfrm>
          <a:prstGeom prst="line">
            <a:avLst/>
          </a:prstGeom>
          <a:ln w="6350">
            <a:solidFill>
              <a:srgbClr val="E6E6E6"/>
            </a:solidFill>
          </a:ln>
        </p:spPr>
      </p:cxnSp>
      <p:sp>
        <p:nvSpPr>
          <p:cNvPr id="20" name="직사각형 21"/>
          <p:cNvSpPr/>
          <p:nvPr/>
        </p:nvSpPr>
        <p:spPr>
          <a:xfrm>
            <a:off x="260908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21" name="연결선 22"/>
          <p:cNvCxnSpPr/>
          <p:nvPr/>
        </p:nvCxnSpPr>
        <p:spPr>
          <a:xfrm>
            <a:off x="3188208" y="3145536"/>
            <a:ext cx="0" cy="1170432"/>
          </a:xfrm>
          <a:prstGeom prst="line">
            <a:avLst/>
          </a:prstGeom>
          <a:ln w="6350">
            <a:solidFill>
              <a:srgbClr val="E6E6E6"/>
            </a:solidFill>
          </a:ln>
        </p:spPr>
      </p:cxnSp>
      <p:sp>
        <p:nvSpPr>
          <p:cNvPr id="22" name="직사각형 23"/>
          <p:cNvSpPr/>
          <p:nvPr/>
        </p:nvSpPr>
        <p:spPr>
          <a:xfrm>
            <a:off x="300532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23" name="연결선 24"/>
          <p:cNvCxnSpPr/>
          <p:nvPr/>
        </p:nvCxnSpPr>
        <p:spPr>
          <a:xfrm>
            <a:off x="3584448" y="3145536"/>
            <a:ext cx="0" cy="1170432"/>
          </a:xfrm>
          <a:prstGeom prst="line">
            <a:avLst/>
          </a:prstGeom>
          <a:ln w="6350">
            <a:solidFill>
              <a:srgbClr val="E6E6E6"/>
            </a:solidFill>
          </a:ln>
        </p:spPr>
      </p:cxnSp>
      <p:sp>
        <p:nvSpPr>
          <p:cNvPr id="24" name="직사각형 25"/>
          <p:cNvSpPr/>
          <p:nvPr/>
        </p:nvSpPr>
        <p:spPr>
          <a:xfrm>
            <a:off x="340156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25" name="연결선 26"/>
          <p:cNvCxnSpPr/>
          <p:nvPr/>
        </p:nvCxnSpPr>
        <p:spPr>
          <a:xfrm>
            <a:off x="3980688" y="3145536"/>
            <a:ext cx="0" cy="1170432"/>
          </a:xfrm>
          <a:prstGeom prst="line">
            <a:avLst/>
          </a:prstGeom>
          <a:ln w="6350">
            <a:solidFill>
              <a:srgbClr val="E6E6E6"/>
            </a:solidFill>
          </a:ln>
        </p:spPr>
      </p:cxnSp>
      <p:sp>
        <p:nvSpPr>
          <p:cNvPr id="26" name="직사각형 27"/>
          <p:cNvSpPr/>
          <p:nvPr/>
        </p:nvSpPr>
        <p:spPr>
          <a:xfrm>
            <a:off x="379780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7" name="연결선 28"/>
          <p:cNvCxnSpPr/>
          <p:nvPr/>
        </p:nvCxnSpPr>
        <p:spPr>
          <a:xfrm>
            <a:off x="4376928" y="3145536"/>
            <a:ext cx="0" cy="1170432"/>
          </a:xfrm>
          <a:prstGeom prst="line">
            <a:avLst/>
          </a:prstGeom>
          <a:ln w="6350">
            <a:solidFill>
              <a:srgbClr val="E6E6E6"/>
            </a:solidFill>
          </a:ln>
        </p:spPr>
      </p:cxnSp>
      <p:sp>
        <p:nvSpPr>
          <p:cNvPr id="28" name="직사각형 29"/>
          <p:cNvSpPr/>
          <p:nvPr/>
        </p:nvSpPr>
        <p:spPr>
          <a:xfrm>
            <a:off x="419404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9" name="연결선 30"/>
          <p:cNvCxnSpPr/>
          <p:nvPr/>
        </p:nvCxnSpPr>
        <p:spPr>
          <a:xfrm>
            <a:off x="4773168" y="3145536"/>
            <a:ext cx="0" cy="1170432"/>
          </a:xfrm>
          <a:prstGeom prst="line">
            <a:avLst/>
          </a:prstGeom>
          <a:ln w="6350">
            <a:solidFill>
              <a:srgbClr val="E6E6E6"/>
            </a:solidFill>
          </a:ln>
        </p:spPr>
      </p:cxnSp>
      <p:sp>
        <p:nvSpPr>
          <p:cNvPr id="30" name="직사각형 31"/>
          <p:cNvSpPr/>
          <p:nvPr/>
        </p:nvSpPr>
        <p:spPr>
          <a:xfrm>
            <a:off x="459028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31" name="연결선 32"/>
          <p:cNvCxnSpPr/>
          <p:nvPr/>
        </p:nvCxnSpPr>
        <p:spPr>
          <a:xfrm>
            <a:off x="5169408" y="3145536"/>
            <a:ext cx="0" cy="1170432"/>
          </a:xfrm>
          <a:prstGeom prst="line">
            <a:avLst/>
          </a:prstGeom>
          <a:ln w="6350">
            <a:solidFill>
              <a:srgbClr val="E6E6E6"/>
            </a:solidFill>
          </a:ln>
        </p:spPr>
      </p:cxnSp>
      <p:sp>
        <p:nvSpPr>
          <p:cNvPr id="32" name="직사각형 33"/>
          <p:cNvSpPr/>
          <p:nvPr/>
        </p:nvSpPr>
        <p:spPr>
          <a:xfrm>
            <a:off x="498652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33" name="연결선 34"/>
          <p:cNvCxnSpPr/>
          <p:nvPr/>
        </p:nvCxnSpPr>
        <p:spPr>
          <a:xfrm>
            <a:off x="5565648" y="3145536"/>
            <a:ext cx="0" cy="1170432"/>
          </a:xfrm>
          <a:prstGeom prst="line">
            <a:avLst/>
          </a:prstGeom>
          <a:ln w="6350">
            <a:solidFill>
              <a:srgbClr val="E6E6E6"/>
            </a:solidFill>
          </a:ln>
        </p:spPr>
      </p:cxnSp>
      <p:sp>
        <p:nvSpPr>
          <p:cNvPr id="34" name="직사각형 35"/>
          <p:cNvSpPr/>
          <p:nvPr/>
        </p:nvSpPr>
        <p:spPr>
          <a:xfrm>
            <a:off x="538276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35" name="연결선 36"/>
          <p:cNvCxnSpPr/>
          <p:nvPr/>
        </p:nvCxnSpPr>
        <p:spPr>
          <a:xfrm>
            <a:off x="5961888" y="3145536"/>
            <a:ext cx="0" cy="1170432"/>
          </a:xfrm>
          <a:prstGeom prst="line">
            <a:avLst/>
          </a:prstGeom>
          <a:ln w="6350">
            <a:solidFill>
              <a:srgbClr val="E6E6E6"/>
            </a:solidFill>
          </a:ln>
        </p:spPr>
      </p:cxnSp>
      <p:sp>
        <p:nvSpPr>
          <p:cNvPr id="36" name="직사각형 37"/>
          <p:cNvSpPr/>
          <p:nvPr/>
        </p:nvSpPr>
        <p:spPr>
          <a:xfrm>
            <a:off x="577900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37" name="연결선 38"/>
          <p:cNvCxnSpPr/>
          <p:nvPr/>
        </p:nvCxnSpPr>
        <p:spPr>
          <a:xfrm>
            <a:off x="6358128" y="3145536"/>
            <a:ext cx="0" cy="1170432"/>
          </a:xfrm>
          <a:prstGeom prst="line">
            <a:avLst/>
          </a:prstGeom>
          <a:ln w="6350">
            <a:solidFill>
              <a:srgbClr val="E6E6E6"/>
            </a:solidFill>
          </a:ln>
        </p:spPr>
      </p:cxnSp>
      <p:sp>
        <p:nvSpPr>
          <p:cNvPr id="38" name="직사각형 39"/>
          <p:cNvSpPr/>
          <p:nvPr/>
        </p:nvSpPr>
        <p:spPr>
          <a:xfrm>
            <a:off x="617524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39" name="연결선 40"/>
          <p:cNvCxnSpPr/>
          <p:nvPr/>
        </p:nvCxnSpPr>
        <p:spPr>
          <a:xfrm>
            <a:off x="6754368" y="3145536"/>
            <a:ext cx="0" cy="1170432"/>
          </a:xfrm>
          <a:prstGeom prst="line">
            <a:avLst/>
          </a:prstGeom>
          <a:ln w="6350">
            <a:solidFill>
              <a:srgbClr val="E6E6E6"/>
            </a:solidFill>
          </a:ln>
        </p:spPr>
      </p:cxnSp>
      <p:sp>
        <p:nvSpPr>
          <p:cNvPr id="40" name="직사각형 41"/>
          <p:cNvSpPr/>
          <p:nvPr/>
        </p:nvSpPr>
        <p:spPr>
          <a:xfrm>
            <a:off x="657148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41" name="연결선 42"/>
          <p:cNvCxnSpPr/>
          <p:nvPr/>
        </p:nvCxnSpPr>
        <p:spPr>
          <a:xfrm>
            <a:off x="7150608" y="3145536"/>
            <a:ext cx="0" cy="1170432"/>
          </a:xfrm>
          <a:prstGeom prst="line">
            <a:avLst/>
          </a:prstGeom>
          <a:ln w="6350">
            <a:solidFill>
              <a:srgbClr val="E6E6E6"/>
            </a:solidFill>
          </a:ln>
        </p:spPr>
      </p:cxnSp>
      <p:sp>
        <p:nvSpPr>
          <p:cNvPr id="42" name="직사각형 43"/>
          <p:cNvSpPr/>
          <p:nvPr/>
        </p:nvSpPr>
        <p:spPr>
          <a:xfrm>
            <a:off x="6967728" y="2907792"/>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sp>
        <p:nvSpPr>
          <p:cNvPr id="43" name="직사각형 44"/>
          <p:cNvSpPr/>
          <p:nvPr/>
        </p:nvSpPr>
        <p:spPr>
          <a:xfrm>
            <a:off x="612648" y="3264408"/>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2번 [2, 5)</a:t>
            </a:r>
          </a:p>
        </p:txBody>
      </p:sp>
      <p:sp>
        <p:nvSpPr>
          <p:cNvPr id="44" name="직사각형 45"/>
          <p:cNvSpPr/>
          <p:nvPr/>
        </p:nvSpPr>
        <p:spPr>
          <a:xfrm>
            <a:off x="3188208" y="3264408"/>
            <a:ext cx="118872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45" name="직사각형 46"/>
          <p:cNvSpPr/>
          <p:nvPr/>
        </p:nvSpPr>
        <p:spPr>
          <a:xfrm>
            <a:off x="612648" y="3630168"/>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46" name="직사각형 47"/>
          <p:cNvSpPr/>
          <p:nvPr/>
        </p:nvSpPr>
        <p:spPr>
          <a:xfrm>
            <a:off x="4773168" y="3630168"/>
            <a:ext cx="7924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7" name="직사각형 48"/>
          <p:cNvSpPr/>
          <p:nvPr/>
        </p:nvSpPr>
        <p:spPr>
          <a:xfrm>
            <a:off x="612648" y="3995928"/>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48" name="직사각형 49"/>
          <p:cNvSpPr/>
          <p:nvPr/>
        </p:nvSpPr>
        <p:spPr>
          <a:xfrm>
            <a:off x="5565648" y="3995928"/>
            <a:ext cx="118872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49" name="직사각형 50"/>
          <p:cNvSpPr/>
          <p:nvPr/>
        </p:nvSpPr>
        <p:spPr>
          <a:xfrm>
            <a:off x="612648" y="4416552"/>
            <a:ext cx="10972800" cy="256032"/>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O의 2번을 1번으로 바꾼 O′: 3개 그대로</a:t>
            </a:r>
          </a:p>
        </p:txBody>
      </p:sp>
      <p:cxnSp>
        <p:nvCxnSpPr>
          <p:cNvPr id="50" name="연결선 51"/>
          <p:cNvCxnSpPr/>
          <p:nvPr/>
        </p:nvCxnSpPr>
        <p:spPr>
          <a:xfrm>
            <a:off x="2395728" y="4910328"/>
            <a:ext cx="0" cy="1170432"/>
          </a:xfrm>
          <a:prstGeom prst="line">
            <a:avLst/>
          </a:prstGeom>
          <a:ln w="6350">
            <a:solidFill>
              <a:srgbClr val="E6E6E6"/>
            </a:solidFill>
          </a:ln>
        </p:spPr>
      </p:cxnSp>
      <p:sp>
        <p:nvSpPr>
          <p:cNvPr id="51" name="직사각형 52"/>
          <p:cNvSpPr/>
          <p:nvPr/>
        </p:nvSpPr>
        <p:spPr>
          <a:xfrm>
            <a:off x="221284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52" name="연결선 53"/>
          <p:cNvCxnSpPr/>
          <p:nvPr/>
        </p:nvCxnSpPr>
        <p:spPr>
          <a:xfrm>
            <a:off x="2791968" y="4910328"/>
            <a:ext cx="0" cy="1170432"/>
          </a:xfrm>
          <a:prstGeom prst="line">
            <a:avLst/>
          </a:prstGeom>
          <a:ln w="6350">
            <a:solidFill>
              <a:srgbClr val="E6E6E6"/>
            </a:solidFill>
          </a:ln>
        </p:spPr>
      </p:cxnSp>
      <p:sp>
        <p:nvSpPr>
          <p:cNvPr id="53" name="직사각형 54"/>
          <p:cNvSpPr/>
          <p:nvPr/>
        </p:nvSpPr>
        <p:spPr>
          <a:xfrm>
            <a:off x="260908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54" name="연결선 55"/>
          <p:cNvCxnSpPr/>
          <p:nvPr/>
        </p:nvCxnSpPr>
        <p:spPr>
          <a:xfrm>
            <a:off x="3188208" y="4910328"/>
            <a:ext cx="0" cy="1170432"/>
          </a:xfrm>
          <a:prstGeom prst="line">
            <a:avLst/>
          </a:prstGeom>
          <a:ln w="6350">
            <a:solidFill>
              <a:srgbClr val="E6E6E6"/>
            </a:solidFill>
          </a:ln>
        </p:spPr>
      </p:cxnSp>
      <p:sp>
        <p:nvSpPr>
          <p:cNvPr id="55" name="직사각형 56"/>
          <p:cNvSpPr/>
          <p:nvPr/>
        </p:nvSpPr>
        <p:spPr>
          <a:xfrm>
            <a:off x="300532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56" name="연결선 57"/>
          <p:cNvCxnSpPr/>
          <p:nvPr/>
        </p:nvCxnSpPr>
        <p:spPr>
          <a:xfrm>
            <a:off x="3584448" y="4910328"/>
            <a:ext cx="0" cy="1170432"/>
          </a:xfrm>
          <a:prstGeom prst="line">
            <a:avLst/>
          </a:prstGeom>
          <a:ln w="6350">
            <a:solidFill>
              <a:srgbClr val="E6E6E6"/>
            </a:solidFill>
          </a:ln>
        </p:spPr>
      </p:cxnSp>
      <p:sp>
        <p:nvSpPr>
          <p:cNvPr id="57" name="직사각형 58"/>
          <p:cNvSpPr/>
          <p:nvPr/>
        </p:nvSpPr>
        <p:spPr>
          <a:xfrm>
            <a:off x="340156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58" name="연결선 59"/>
          <p:cNvCxnSpPr/>
          <p:nvPr/>
        </p:nvCxnSpPr>
        <p:spPr>
          <a:xfrm>
            <a:off x="3980688" y="4910328"/>
            <a:ext cx="0" cy="1170432"/>
          </a:xfrm>
          <a:prstGeom prst="line">
            <a:avLst/>
          </a:prstGeom>
          <a:ln w="6350">
            <a:solidFill>
              <a:srgbClr val="E6E6E6"/>
            </a:solidFill>
          </a:ln>
        </p:spPr>
      </p:cxnSp>
      <p:sp>
        <p:nvSpPr>
          <p:cNvPr id="59" name="직사각형 60"/>
          <p:cNvSpPr/>
          <p:nvPr/>
        </p:nvSpPr>
        <p:spPr>
          <a:xfrm>
            <a:off x="379780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60" name="연결선 61"/>
          <p:cNvCxnSpPr/>
          <p:nvPr/>
        </p:nvCxnSpPr>
        <p:spPr>
          <a:xfrm>
            <a:off x="4376928" y="4910328"/>
            <a:ext cx="0" cy="1170432"/>
          </a:xfrm>
          <a:prstGeom prst="line">
            <a:avLst/>
          </a:prstGeom>
          <a:ln w="6350">
            <a:solidFill>
              <a:srgbClr val="E6E6E6"/>
            </a:solidFill>
          </a:ln>
        </p:spPr>
      </p:cxnSp>
      <p:sp>
        <p:nvSpPr>
          <p:cNvPr id="61" name="직사각형 62"/>
          <p:cNvSpPr/>
          <p:nvPr/>
        </p:nvSpPr>
        <p:spPr>
          <a:xfrm>
            <a:off x="419404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62" name="연결선 63"/>
          <p:cNvCxnSpPr/>
          <p:nvPr/>
        </p:nvCxnSpPr>
        <p:spPr>
          <a:xfrm>
            <a:off x="4773168" y="4910328"/>
            <a:ext cx="0" cy="1170432"/>
          </a:xfrm>
          <a:prstGeom prst="line">
            <a:avLst/>
          </a:prstGeom>
          <a:ln w="6350">
            <a:solidFill>
              <a:srgbClr val="E6E6E6"/>
            </a:solidFill>
          </a:ln>
        </p:spPr>
      </p:cxnSp>
      <p:sp>
        <p:nvSpPr>
          <p:cNvPr id="63" name="직사각형 64"/>
          <p:cNvSpPr/>
          <p:nvPr/>
        </p:nvSpPr>
        <p:spPr>
          <a:xfrm>
            <a:off x="459028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64" name="연결선 65"/>
          <p:cNvCxnSpPr/>
          <p:nvPr/>
        </p:nvCxnSpPr>
        <p:spPr>
          <a:xfrm>
            <a:off x="5169408" y="4910328"/>
            <a:ext cx="0" cy="1170432"/>
          </a:xfrm>
          <a:prstGeom prst="line">
            <a:avLst/>
          </a:prstGeom>
          <a:ln w="6350">
            <a:solidFill>
              <a:srgbClr val="E6E6E6"/>
            </a:solidFill>
          </a:ln>
        </p:spPr>
      </p:cxnSp>
      <p:sp>
        <p:nvSpPr>
          <p:cNvPr id="65" name="직사각형 66"/>
          <p:cNvSpPr/>
          <p:nvPr/>
        </p:nvSpPr>
        <p:spPr>
          <a:xfrm>
            <a:off x="498652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66" name="연결선 67"/>
          <p:cNvCxnSpPr/>
          <p:nvPr/>
        </p:nvCxnSpPr>
        <p:spPr>
          <a:xfrm>
            <a:off x="5565648" y="4910328"/>
            <a:ext cx="0" cy="1170432"/>
          </a:xfrm>
          <a:prstGeom prst="line">
            <a:avLst/>
          </a:prstGeom>
          <a:ln w="6350">
            <a:solidFill>
              <a:srgbClr val="E6E6E6"/>
            </a:solidFill>
          </a:ln>
        </p:spPr>
      </p:cxnSp>
      <p:sp>
        <p:nvSpPr>
          <p:cNvPr id="67" name="직사각형 68"/>
          <p:cNvSpPr/>
          <p:nvPr/>
        </p:nvSpPr>
        <p:spPr>
          <a:xfrm>
            <a:off x="538276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8</a:t>
            </a:r>
          </a:p>
        </p:txBody>
      </p:sp>
      <p:cxnSp>
        <p:nvCxnSpPr>
          <p:cNvPr id="68" name="연결선 69"/>
          <p:cNvCxnSpPr/>
          <p:nvPr/>
        </p:nvCxnSpPr>
        <p:spPr>
          <a:xfrm>
            <a:off x="5961888" y="4910328"/>
            <a:ext cx="0" cy="1170432"/>
          </a:xfrm>
          <a:prstGeom prst="line">
            <a:avLst/>
          </a:prstGeom>
          <a:ln w="6350">
            <a:solidFill>
              <a:srgbClr val="E6E6E6"/>
            </a:solidFill>
          </a:ln>
        </p:spPr>
      </p:cxnSp>
      <p:sp>
        <p:nvSpPr>
          <p:cNvPr id="69" name="직사각형 70"/>
          <p:cNvSpPr/>
          <p:nvPr/>
        </p:nvSpPr>
        <p:spPr>
          <a:xfrm>
            <a:off x="577900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9</a:t>
            </a:r>
          </a:p>
        </p:txBody>
      </p:sp>
      <p:cxnSp>
        <p:nvCxnSpPr>
          <p:cNvPr id="70" name="연결선 71"/>
          <p:cNvCxnSpPr/>
          <p:nvPr/>
        </p:nvCxnSpPr>
        <p:spPr>
          <a:xfrm>
            <a:off x="6358128" y="4910328"/>
            <a:ext cx="0" cy="1170432"/>
          </a:xfrm>
          <a:prstGeom prst="line">
            <a:avLst/>
          </a:prstGeom>
          <a:ln w="6350">
            <a:solidFill>
              <a:srgbClr val="E6E6E6"/>
            </a:solidFill>
          </a:ln>
        </p:spPr>
      </p:cxnSp>
      <p:sp>
        <p:nvSpPr>
          <p:cNvPr id="71" name="직사각형 72"/>
          <p:cNvSpPr/>
          <p:nvPr/>
        </p:nvSpPr>
        <p:spPr>
          <a:xfrm>
            <a:off x="617524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10</a:t>
            </a:r>
          </a:p>
        </p:txBody>
      </p:sp>
      <p:cxnSp>
        <p:nvCxnSpPr>
          <p:cNvPr id="72" name="연결선 73"/>
          <p:cNvCxnSpPr/>
          <p:nvPr/>
        </p:nvCxnSpPr>
        <p:spPr>
          <a:xfrm>
            <a:off x="6754368" y="4910328"/>
            <a:ext cx="0" cy="1170432"/>
          </a:xfrm>
          <a:prstGeom prst="line">
            <a:avLst/>
          </a:prstGeom>
          <a:ln w="6350">
            <a:solidFill>
              <a:srgbClr val="E6E6E6"/>
            </a:solidFill>
          </a:ln>
        </p:spPr>
      </p:cxnSp>
      <p:sp>
        <p:nvSpPr>
          <p:cNvPr id="73" name="직사각형 74"/>
          <p:cNvSpPr/>
          <p:nvPr/>
        </p:nvSpPr>
        <p:spPr>
          <a:xfrm>
            <a:off x="657148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11</a:t>
            </a:r>
          </a:p>
        </p:txBody>
      </p:sp>
      <p:cxnSp>
        <p:nvCxnSpPr>
          <p:cNvPr id="74" name="연결선 75"/>
          <p:cNvCxnSpPr/>
          <p:nvPr/>
        </p:nvCxnSpPr>
        <p:spPr>
          <a:xfrm>
            <a:off x="7150608" y="4910328"/>
            <a:ext cx="0" cy="1170432"/>
          </a:xfrm>
          <a:prstGeom prst="line">
            <a:avLst/>
          </a:prstGeom>
          <a:ln w="6350">
            <a:solidFill>
              <a:srgbClr val="E6E6E6"/>
            </a:solidFill>
          </a:ln>
        </p:spPr>
      </p:cxnSp>
      <p:sp>
        <p:nvSpPr>
          <p:cNvPr id="75" name="직사각형 76"/>
          <p:cNvSpPr/>
          <p:nvPr/>
        </p:nvSpPr>
        <p:spPr>
          <a:xfrm>
            <a:off x="6967728" y="467258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12</a:t>
            </a:r>
          </a:p>
        </p:txBody>
      </p:sp>
      <p:sp>
        <p:nvSpPr>
          <p:cNvPr id="76" name="직사각형 77"/>
          <p:cNvSpPr/>
          <p:nvPr/>
        </p:nvSpPr>
        <p:spPr>
          <a:xfrm>
            <a:off x="612648" y="502920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1" dirty="0">
                <a:solidFill>
                  <a:srgbClr val="151515"/>
                </a:solidFill>
                <a:latin typeface="Malgun Gothic"/>
                <a:ea typeface="Malgun Gothic"/>
                <a:cs typeface="Malgun Gothic"/>
              </a:rPr>
              <a:t>1번 [1, 3)</a:t>
            </a:r>
          </a:p>
        </p:txBody>
      </p:sp>
      <p:sp>
        <p:nvSpPr>
          <p:cNvPr id="77" name="직사각형 78"/>
          <p:cNvSpPr/>
          <p:nvPr/>
        </p:nvSpPr>
        <p:spPr>
          <a:xfrm>
            <a:off x="2791968" y="5029200"/>
            <a:ext cx="792480" cy="274320"/>
          </a:xfrm>
          <a:prstGeom prst="rect">
            <a:avLst/>
          </a:prstGeom>
          <a:solidFill>
            <a:srgbClr val="FFF1C2"/>
          </a:solidFill>
          <a:ln w="15875">
            <a:solidFill>
              <a:srgbClr val="B8651B"/>
            </a:solidFill>
          </a:ln>
        </p:spPr>
        <p:txBody>
          <a:bodyPr wrap="square" lIns="0" tIns="0" rIns="0" bIns="0" anchor="ctr">
            <a:noAutofit/>
          </a:bodyPr>
          <a:lstStyle/>
          <a:p>
            <a:pPr algn="ctr" eaLnBrk="0" latinLnBrk="0">
              <a:lnSpc>
                <a:spcPct val="100000"/>
              </a:lnSpc>
              <a:buNone/>
            </a:pPr>
            <a:endParaRPr lang="ko-KR" sz="1200"/>
          </a:p>
        </p:txBody>
      </p:sp>
      <p:sp>
        <p:nvSpPr>
          <p:cNvPr id="78" name="직사각형 79"/>
          <p:cNvSpPr/>
          <p:nvPr/>
        </p:nvSpPr>
        <p:spPr>
          <a:xfrm>
            <a:off x="612648" y="539496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4번 [6, 8)</a:t>
            </a:r>
          </a:p>
        </p:txBody>
      </p:sp>
      <p:sp>
        <p:nvSpPr>
          <p:cNvPr id="79" name="직사각형 80"/>
          <p:cNvSpPr/>
          <p:nvPr/>
        </p:nvSpPr>
        <p:spPr>
          <a:xfrm>
            <a:off x="4773168" y="5394960"/>
            <a:ext cx="79248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80" name="직사각형 81"/>
          <p:cNvSpPr/>
          <p:nvPr/>
        </p:nvSpPr>
        <p:spPr>
          <a:xfrm>
            <a:off x="612648" y="5760720"/>
            <a:ext cx="1691640" cy="274320"/>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6번 [8, 11)</a:t>
            </a:r>
          </a:p>
        </p:txBody>
      </p:sp>
      <p:sp>
        <p:nvSpPr>
          <p:cNvPr id="81" name="직사각형 82"/>
          <p:cNvSpPr/>
          <p:nvPr/>
        </p:nvSpPr>
        <p:spPr>
          <a:xfrm>
            <a:off x="5565648" y="5760720"/>
            <a:ext cx="1188720" cy="274320"/>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endParaRPr lang="ko-KR" sz="1200"/>
          </a:p>
        </p:txBody>
      </p:sp>
      <p:sp>
        <p:nvSpPr>
          <p:cNvPr id="82" name="직사각형 8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바꾸는 회의    파랑: 그대로 두는 회의</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activity_count · [1, 4), [3, 5), [4, 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31</a:t>
            </a:r>
            <a:endParaRPr lang="ko-KR" altLang="en-US" sz="1050" b="0" dirty="0">
              <a:solidFill>
                <a:srgbClr val="606060"/>
              </a:solidFill>
              <a:latin typeface="Malgun Gothic"/>
              <a:ea typeface="Malgun Gothic"/>
              <a:cs typeface="Malgun Gothic"/>
            </a:endParaRPr>
          </a:p>
        </p:txBody>
      </p:sp>
      <p:sp>
        <p:nvSpPr>
          <p:cNvPr id="9" name="fit:22415881af9b2f56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종료 시각 순으로 정렬되어 들어온 활동의 최대 개수를 셉니다.</a:t>
            </a:r>
          </a:p>
          <a:p>
            <a:pPr algn="l" eaLnBrk="0" latinLnBrk="0">
              <a:lnSpc>
                <a:spcPct val="100000"/>
              </a:lnSpc>
              <a:buNone/>
            </a:pPr>
            <a:r>
              <a:rPr lang="ko-KR" altLang="en-US" sz="2025" b="0" dirty="0">
                <a:solidFill>
                  <a:srgbClr val="171717"/>
                </a:solidFill>
                <a:latin typeface="Malgun Gothic"/>
                <a:ea typeface="Malgun Gothic"/>
                <a:cs typeface="Malgun Gothic"/>
              </a:rPr>
              <a:t>시작 ≥ last_end이면 고르고 count를 1 늘립니다.</a:t>
            </a:r>
          </a:p>
        </p:txBody>
      </p:sp>
      <p:cxnSp>
        <p:nvCxnSpPr>
          <p:cNvPr id="10" name="연결선 11"/>
          <p:cNvCxnSpPr/>
          <p:nvPr/>
        </p:nvCxnSpPr>
        <p:spPr>
          <a:xfrm>
            <a:off x="2743200" y="2761488"/>
            <a:ext cx="0" cy="1280160"/>
          </a:xfrm>
          <a:prstGeom prst="line">
            <a:avLst/>
          </a:prstGeom>
          <a:ln w="6350">
            <a:solidFill>
              <a:srgbClr val="E6E6E6"/>
            </a:solidFill>
          </a:ln>
        </p:spPr>
      </p:cxnSp>
      <p:sp>
        <p:nvSpPr>
          <p:cNvPr id="11" name="직사각형 12"/>
          <p:cNvSpPr/>
          <p:nvPr/>
        </p:nvSpPr>
        <p:spPr>
          <a:xfrm>
            <a:off x="25603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0</a:t>
            </a:r>
          </a:p>
        </p:txBody>
      </p:sp>
      <p:cxnSp>
        <p:nvCxnSpPr>
          <p:cNvPr id="12" name="연결선 13"/>
          <p:cNvCxnSpPr/>
          <p:nvPr/>
        </p:nvCxnSpPr>
        <p:spPr>
          <a:xfrm>
            <a:off x="3474720" y="2761488"/>
            <a:ext cx="0" cy="1280160"/>
          </a:xfrm>
          <a:prstGeom prst="line">
            <a:avLst/>
          </a:prstGeom>
          <a:ln w="6350">
            <a:solidFill>
              <a:srgbClr val="E6E6E6"/>
            </a:solidFill>
          </a:ln>
        </p:spPr>
      </p:cxnSp>
      <p:sp>
        <p:nvSpPr>
          <p:cNvPr id="13" name="직사각형 14"/>
          <p:cNvSpPr/>
          <p:nvPr/>
        </p:nvSpPr>
        <p:spPr>
          <a:xfrm>
            <a:off x="32918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1</a:t>
            </a:r>
          </a:p>
        </p:txBody>
      </p:sp>
      <p:cxnSp>
        <p:nvCxnSpPr>
          <p:cNvPr id="14" name="연결선 15"/>
          <p:cNvCxnSpPr/>
          <p:nvPr/>
        </p:nvCxnSpPr>
        <p:spPr>
          <a:xfrm>
            <a:off x="4206240" y="2761488"/>
            <a:ext cx="0" cy="1280160"/>
          </a:xfrm>
          <a:prstGeom prst="line">
            <a:avLst/>
          </a:prstGeom>
          <a:ln w="6350">
            <a:solidFill>
              <a:srgbClr val="E6E6E6"/>
            </a:solidFill>
          </a:ln>
        </p:spPr>
      </p:cxnSp>
      <p:sp>
        <p:nvSpPr>
          <p:cNvPr id="15" name="직사각형 16"/>
          <p:cNvSpPr/>
          <p:nvPr/>
        </p:nvSpPr>
        <p:spPr>
          <a:xfrm>
            <a:off x="40233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2</a:t>
            </a:r>
          </a:p>
        </p:txBody>
      </p:sp>
      <p:cxnSp>
        <p:nvCxnSpPr>
          <p:cNvPr id="16" name="연결선 17"/>
          <p:cNvCxnSpPr/>
          <p:nvPr/>
        </p:nvCxnSpPr>
        <p:spPr>
          <a:xfrm>
            <a:off x="4937760" y="2761488"/>
            <a:ext cx="0" cy="1280160"/>
          </a:xfrm>
          <a:prstGeom prst="line">
            <a:avLst/>
          </a:prstGeom>
          <a:ln w="6350">
            <a:solidFill>
              <a:srgbClr val="E6E6E6"/>
            </a:solidFill>
          </a:ln>
        </p:spPr>
      </p:cxnSp>
      <p:sp>
        <p:nvSpPr>
          <p:cNvPr id="17" name="직사각형 18"/>
          <p:cNvSpPr/>
          <p:nvPr/>
        </p:nvSpPr>
        <p:spPr>
          <a:xfrm>
            <a:off x="475488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3</a:t>
            </a:r>
          </a:p>
        </p:txBody>
      </p:sp>
      <p:cxnSp>
        <p:nvCxnSpPr>
          <p:cNvPr id="18" name="연결선 19"/>
          <p:cNvCxnSpPr/>
          <p:nvPr/>
        </p:nvCxnSpPr>
        <p:spPr>
          <a:xfrm>
            <a:off x="5669280" y="2761488"/>
            <a:ext cx="0" cy="1280160"/>
          </a:xfrm>
          <a:prstGeom prst="line">
            <a:avLst/>
          </a:prstGeom>
          <a:ln w="6350">
            <a:solidFill>
              <a:srgbClr val="E6E6E6"/>
            </a:solidFill>
          </a:ln>
        </p:spPr>
      </p:cxnSp>
      <p:sp>
        <p:nvSpPr>
          <p:cNvPr id="19" name="직사각형 20"/>
          <p:cNvSpPr/>
          <p:nvPr/>
        </p:nvSpPr>
        <p:spPr>
          <a:xfrm>
            <a:off x="548640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4</a:t>
            </a:r>
          </a:p>
        </p:txBody>
      </p:sp>
      <p:cxnSp>
        <p:nvCxnSpPr>
          <p:cNvPr id="20" name="연결선 21"/>
          <p:cNvCxnSpPr/>
          <p:nvPr/>
        </p:nvCxnSpPr>
        <p:spPr>
          <a:xfrm>
            <a:off x="6400800" y="2761488"/>
            <a:ext cx="0" cy="1280160"/>
          </a:xfrm>
          <a:prstGeom prst="line">
            <a:avLst/>
          </a:prstGeom>
          <a:ln w="6350">
            <a:solidFill>
              <a:srgbClr val="E6E6E6"/>
            </a:solidFill>
          </a:ln>
        </p:spPr>
      </p:cxnSp>
      <p:sp>
        <p:nvSpPr>
          <p:cNvPr id="21" name="직사각형 22"/>
          <p:cNvSpPr/>
          <p:nvPr/>
        </p:nvSpPr>
        <p:spPr>
          <a:xfrm>
            <a:off x="621792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5</a:t>
            </a:r>
          </a:p>
        </p:txBody>
      </p:sp>
      <p:cxnSp>
        <p:nvCxnSpPr>
          <p:cNvPr id="22" name="연결선 23"/>
          <p:cNvCxnSpPr/>
          <p:nvPr/>
        </p:nvCxnSpPr>
        <p:spPr>
          <a:xfrm>
            <a:off x="7132320" y="2761488"/>
            <a:ext cx="0" cy="1280160"/>
          </a:xfrm>
          <a:prstGeom prst="line">
            <a:avLst/>
          </a:prstGeom>
          <a:ln w="6350">
            <a:solidFill>
              <a:srgbClr val="E6E6E6"/>
            </a:solidFill>
          </a:ln>
        </p:spPr>
      </p:cxnSp>
      <p:sp>
        <p:nvSpPr>
          <p:cNvPr id="23" name="직사각형 24"/>
          <p:cNvSpPr/>
          <p:nvPr/>
        </p:nvSpPr>
        <p:spPr>
          <a:xfrm>
            <a:off x="694944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6</a:t>
            </a:r>
          </a:p>
        </p:txBody>
      </p:sp>
      <p:cxnSp>
        <p:nvCxnSpPr>
          <p:cNvPr id="24" name="연결선 25"/>
          <p:cNvCxnSpPr/>
          <p:nvPr/>
        </p:nvCxnSpPr>
        <p:spPr>
          <a:xfrm>
            <a:off x="7863840" y="2761488"/>
            <a:ext cx="0" cy="1280160"/>
          </a:xfrm>
          <a:prstGeom prst="line">
            <a:avLst/>
          </a:prstGeom>
          <a:ln w="6350">
            <a:solidFill>
              <a:srgbClr val="E6E6E6"/>
            </a:solidFill>
          </a:ln>
        </p:spPr>
      </p:cxnSp>
      <p:sp>
        <p:nvSpPr>
          <p:cNvPr id="25" name="직사각형 26"/>
          <p:cNvSpPr/>
          <p:nvPr/>
        </p:nvSpPr>
        <p:spPr>
          <a:xfrm>
            <a:off x="7680960" y="2523744"/>
            <a:ext cx="365760" cy="201168"/>
          </a:xfrm>
          <a:prstGeom prst="rect">
            <a:avLst/>
          </a:prstGeom>
          <a:noFill/>
          <a:ln w="0">
            <a:noFill/>
          </a:ln>
        </p:spPr>
        <p:txBody>
          <a:bodyPr wrap="square" lIns="0" tIns="0" rIns="0" bIns="0" anchor="t">
            <a:noAutofit/>
          </a:bodyPr>
          <a:lstStyle/>
          <a:p>
            <a:pPr algn="ctr" eaLnBrk="0" latinLnBrk="0">
              <a:lnSpc>
                <a:spcPct val="100000"/>
              </a:lnSpc>
              <a:buNone/>
            </a:pPr>
            <a:r>
              <a:rPr lang="ko-KR" altLang="en-US" sz="1050" b="0" dirty="0">
                <a:solidFill>
                  <a:srgbClr val="666666"/>
                </a:solidFill>
                <a:latin typeface="Malgun Gothic"/>
                <a:ea typeface="Malgun Gothic"/>
                <a:cs typeface="Malgun Gothic"/>
              </a:rPr>
              <a:t>7</a:t>
            </a:r>
          </a:p>
        </p:txBody>
      </p:sp>
      <p:cxnSp>
        <p:nvCxnSpPr>
          <p:cNvPr id="26" name="연결선 27"/>
          <p:cNvCxnSpPr/>
          <p:nvPr/>
        </p:nvCxnSpPr>
        <p:spPr>
          <a:xfrm>
            <a:off x="7132320" y="2743200"/>
            <a:ext cx="0" cy="1353312"/>
          </a:xfrm>
          <a:prstGeom prst="line">
            <a:avLst/>
          </a:prstGeom>
          <a:ln w="28575">
            <a:solidFill>
              <a:srgbClr val="B8651B"/>
            </a:solidFill>
            <a:prstDash val="dash"/>
          </a:ln>
        </p:spPr>
      </p:cxnSp>
      <p:sp>
        <p:nvSpPr>
          <p:cNvPr id="27" name="직사각형 28"/>
          <p:cNvSpPr/>
          <p:nvPr/>
        </p:nvSpPr>
        <p:spPr>
          <a:xfrm>
            <a:off x="960120" y="2880360"/>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[1, 4)</a:t>
            </a:r>
          </a:p>
        </p:txBody>
      </p:sp>
      <p:sp>
        <p:nvSpPr>
          <p:cNvPr id="28" name="직사각형 29"/>
          <p:cNvSpPr/>
          <p:nvPr/>
        </p:nvSpPr>
        <p:spPr>
          <a:xfrm>
            <a:off x="3474720" y="2880360"/>
            <a:ext cx="219456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① 고름</a:t>
            </a:r>
          </a:p>
        </p:txBody>
      </p:sp>
      <p:sp>
        <p:nvSpPr>
          <p:cNvPr id="29" name="직사각형 30"/>
          <p:cNvSpPr/>
          <p:nvPr/>
        </p:nvSpPr>
        <p:spPr>
          <a:xfrm>
            <a:off x="960120" y="3282696"/>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B23B3B"/>
                </a:solidFill>
                <a:latin typeface="Malgun Gothic"/>
                <a:ea typeface="Malgun Gothic"/>
                <a:cs typeface="Malgun Gothic"/>
              </a:rPr>
              <a:t>[3, 5)</a:t>
            </a:r>
          </a:p>
        </p:txBody>
      </p:sp>
      <p:sp>
        <p:nvSpPr>
          <p:cNvPr id="30" name="직사각형 31"/>
          <p:cNvSpPr/>
          <p:nvPr/>
        </p:nvSpPr>
        <p:spPr>
          <a:xfrm>
            <a:off x="4937760" y="3282696"/>
            <a:ext cx="1463040" cy="310896"/>
          </a:xfrm>
          <a:prstGeom prst="rect">
            <a:avLst/>
          </a:prstGeom>
          <a:solidFill>
            <a:srgbClr val="FBE1E1"/>
          </a:solidFill>
          <a:ln w="15875">
            <a:solidFill>
              <a:srgbClr val="B23B3B"/>
            </a:solidFill>
            <a:prstDash val="dash"/>
          </a:ln>
        </p:spPr>
        <p:txBody>
          <a:bodyPr wrap="square" lIns="0" tIns="0" rIns="0" bIns="0" anchor="ctr">
            <a:noAutofit/>
          </a:bodyPr>
          <a:lstStyle/>
          <a:p>
            <a:pPr algn="ctr" eaLnBrk="0" latinLnBrk="0">
              <a:lnSpc>
                <a:spcPct val="100000"/>
              </a:lnSpc>
              <a:buNone/>
            </a:pPr>
            <a:r>
              <a:rPr lang="ko-KR" altLang="en-US" sz="1200" b="1" dirty="0">
                <a:solidFill>
                  <a:srgbClr val="B23B3B"/>
                </a:solidFill>
                <a:latin typeface="Malgun Gothic"/>
                <a:ea typeface="Malgun Gothic"/>
                <a:cs typeface="Malgun Gothic"/>
              </a:rPr>
              <a:t>② 3 &lt; 4</a:t>
            </a:r>
          </a:p>
        </p:txBody>
      </p:sp>
      <p:sp>
        <p:nvSpPr>
          <p:cNvPr id="31" name="직사각형 32"/>
          <p:cNvSpPr/>
          <p:nvPr/>
        </p:nvSpPr>
        <p:spPr>
          <a:xfrm>
            <a:off x="960120" y="3685032"/>
            <a:ext cx="1691640" cy="310896"/>
          </a:xfrm>
          <a:prstGeom prst="rect">
            <a:avLst/>
          </a:prstGeom>
          <a:noFill/>
          <a:ln w="0">
            <a:noFill/>
          </a:ln>
        </p:spPr>
        <p:txBody>
          <a:bodyPr wrap="square" lIns="0" tIns="0" rIns="0" bIns="0" anchor="ctr">
            <a:noAutofit/>
          </a:bodyPr>
          <a:lstStyle/>
          <a:p>
            <a:pPr algn="r" eaLnBrk="0" latinLnBrk="0">
              <a:lnSpc>
                <a:spcPct val="100000"/>
              </a:lnSpc>
              <a:buNone/>
            </a:pPr>
            <a:r>
              <a:rPr lang="ko-KR" altLang="en-US" sz="1425" b="0" dirty="0">
                <a:solidFill>
                  <a:srgbClr val="151515"/>
                </a:solidFill>
                <a:latin typeface="Malgun Gothic"/>
                <a:ea typeface="Malgun Gothic"/>
                <a:cs typeface="Malgun Gothic"/>
              </a:rPr>
              <a:t>[4, 6)</a:t>
            </a:r>
          </a:p>
        </p:txBody>
      </p:sp>
      <p:sp>
        <p:nvSpPr>
          <p:cNvPr id="32" name="직사각형 33"/>
          <p:cNvSpPr/>
          <p:nvPr/>
        </p:nvSpPr>
        <p:spPr>
          <a:xfrm>
            <a:off x="5669280" y="3685032"/>
            <a:ext cx="1463040" cy="310896"/>
          </a:xfrm>
          <a:prstGeom prst="rect">
            <a:avLst/>
          </a:prstGeom>
          <a:solidFill>
            <a:srgbClr val="DCECFB"/>
          </a:solidFill>
          <a:ln w="15875">
            <a:solidFill>
              <a:srgbClr val="1D5A8A"/>
            </a:solidFill>
          </a:ln>
        </p:spPr>
        <p:txBody>
          <a:bodyPr wrap="square" lIns="0" tIns="0" rIns="0" bIns="0" anchor="ctr">
            <a:noAutofit/>
          </a:bodyPr>
          <a:lstStyle/>
          <a:p>
            <a:pPr algn="ctr" eaLnBrk="0" latinLnBrk="0">
              <a:lnSpc>
                <a:spcPct val="100000"/>
              </a:lnSpc>
              <a:buNone/>
            </a:pPr>
            <a:r>
              <a:rPr lang="ko-KR" altLang="en-US" sz="1200" b="1" dirty="0">
                <a:solidFill>
                  <a:srgbClr val="151515"/>
                </a:solidFill>
                <a:latin typeface="Malgun Gothic"/>
                <a:ea typeface="Malgun Gothic"/>
                <a:cs typeface="Malgun Gothic"/>
              </a:rPr>
              <a:t>③ 4 ≥ 4</a:t>
            </a:r>
          </a:p>
        </p:txBody>
      </p:sp>
      <p:sp>
        <p:nvSpPr>
          <p:cNvPr id="33" name="직사각형 34"/>
          <p:cNvSpPr/>
          <p:nvPr/>
        </p:nvSpPr>
        <p:spPr>
          <a:xfrm>
            <a:off x="6309360" y="4114800"/>
            <a:ext cx="164592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425" b="1" dirty="0">
                <a:solidFill>
                  <a:srgbClr val="B8651B"/>
                </a:solidFill>
                <a:latin typeface="Malgun Gothic"/>
                <a:ea typeface="Malgun Gothic"/>
                <a:cs typeface="Malgun Gothic"/>
              </a:rPr>
              <a:t>last_end = 6</a:t>
            </a:r>
          </a:p>
        </p:txBody>
      </p:sp>
      <p:sp>
        <p:nvSpPr>
          <p:cNvPr id="34" name="직사각형 35"/>
          <p:cNvSpPr/>
          <p:nvPr/>
        </p:nvSpPr>
        <p:spPr>
          <a:xfrm>
            <a:off x="8503920" y="3017520"/>
            <a:ext cx="3017520" cy="512064"/>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activity_count = 2</a:t>
            </a:r>
          </a:p>
        </p:txBody>
      </p:sp>
      <p:graphicFrame>
        <p:nvGraphicFramePr>
          <p:cNvPr id="35" name="표 36"/>
          <p:cNvGraphicFramePr>
            <a:graphicFrameLocks noGrp="1"/>
          </p:cNvGraphicFramePr>
          <p:nvPr>
            <p:extLst>
              <p:ext uri="{D42A27DB-BD31-4B8C-83A1-F6EECF244321}">
                <p14:modId xmlns:p14="http://schemas.microsoft.com/office/powerpoint/2010/main" val="173056858"/>
              </p:ext>
            </p:extLst>
          </p:nvPr>
        </p:nvGraphicFramePr>
        <p:xfrm>
          <a:off x="2743200" y="4526280"/>
          <a:ext cx="8778240" cy="1554480"/>
        </p:xfrm>
        <a:graphic>
          <a:graphicData uri="http://schemas.openxmlformats.org/drawingml/2006/table">
            <a:tbl>
              <a:tblPr/>
              <a:tblGrid>
                <a:gridCol w="1132676">
                  <a:extLst>
                    <a:ext uri="{9D8B030D-6E8A-4147-A177-3AD203B41FA5}">
                      <a16:colId xmlns:a16="http://schemas.microsoft.com/office/drawing/2014/main" val="20000"/>
                    </a:ext>
                  </a:extLst>
                </a:gridCol>
                <a:gridCol w="1415845">
                  <a:extLst>
                    <a:ext uri="{9D8B030D-6E8A-4147-A177-3AD203B41FA5}">
                      <a16:colId xmlns:a16="http://schemas.microsoft.com/office/drawing/2014/main" val="20001"/>
                    </a:ext>
                  </a:extLst>
                </a:gridCol>
                <a:gridCol w="3681197">
                  <a:extLst>
                    <a:ext uri="{9D8B030D-6E8A-4147-A177-3AD203B41FA5}">
                      <a16:colId xmlns:a16="http://schemas.microsoft.com/office/drawing/2014/main" val="20002"/>
                    </a:ext>
                  </a:extLst>
                </a:gridCol>
                <a:gridCol w="1132676">
                  <a:extLst>
                    <a:ext uri="{9D8B030D-6E8A-4147-A177-3AD203B41FA5}">
                      <a16:colId xmlns:a16="http://schemas.microsoft.com/office/drawing/2014/main" val="20003"/>
                    </a:ext>
                  </a:extLst>
                </a:gridCol>
                <a:gridCol w="1415845">
                  <a:extLst>
                    <a:ext uri="{9D8B030D-6E8A-4147-A177-3AD203B41FA5}">
                      <a16:colId xmlns:a16="http://schemas.microsoft.com/office/drawing/2014/main" val="20004"/>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차례</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활동</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시작 ≥ last_end ?</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count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last_end</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처음</a:t>
                      </a:r>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c>
                  <a:txBody>
                    <a:bodyPr/>
                    <a:lstStyle/>
                    <a:p>
                      <a:pPr algn="ctr" eaLnBrk="0" latinLnBrk="0">
                        <a:lnSpc>
                          <a:spcPct val="100000"/>
                        </a:lnSpc>
                        <a:buNone/>
                      </a:pPr>
                      <a:endParaRPr lang="ko-KR" sz="1400"/>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 4)</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 ≥ −∞ → 고름</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 5)</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 ≥ 4 아님 → 건너뜀</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 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4 ≥ 4 → 고름</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FFF"/>
                    </a:solidFill>
                  </a:tcPr>
                </a:tc>
                <a:extLst>
                  <a:ext uri="{0D108BD9-81ED-4DB2-BD59-A6C34878D82A}">
                    <a16:rowId xmlns:a16="http://schemas.microsoft.com/office/drawing/2014/main" val="10004"/>
                  </a:ext>
                </a:extLst>
              </a:tr>
            </a:tbl>
          </a:graphicData>
        </a:graphic>
      </p:graphicFrame>
      <p:sp>
        <p:nvSpPr>
          <p:cNvPr id="36" name="직사각형 37"/>
          <p:cNvSpPr/>
          <p:nvPr/>
        </p:nvSpPr>
        <p:spPr>
          <a:xfrm>
            <a:off x="8503920" y="3621024"/>
            <a:ext cx="3017520" cy="292608"/>
          </a:xfrm>
          <a:prstGeom prst="rect">
            <a:avLst/>
          </a:prstGeom>
          <a:noFill/>
          <a:ln w="0">
            <a:noFill/>
          </a:ln>
        </p:spPr>
        <p:txBody>
          <a:bodyPr wrap="square" lIns="0" tIns="0" rIns="0" bIns="0" anchor="t">
            <a:noAutofit/>
          </a:bodyPr>
          <a:lstStyle/>
          <a:p>
            <a:pPr algn="ctr" eaLnBrk="0" latinLnBrk="0">
              <a:lnSpc>
                <a:spcPct val="100000"/>
              </a:lnSpc>
              <a:buNone/>
            </a:pPr>
            <a:r>
              <a:rPr lang="ko-KR" altLang="en-US" sz="1600" b="1" dirty="0">
                <a:solidFill>
                  <a:srgbClr val="0E8A7D"/>
                </a:solidFill>
                <a:latin typeface="Malgun Gothic"/>
                <a:ea typeface="Malgun Gothic"/>
                <a:cs typeface="Malgun Gothic"/>
              </a:rPr>
              <a:t>[1, 4)와 [4, 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5.3  활동 선택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activity_count: 빈 목록은 0, 시간 O(n)</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32</a:t>
            </a:r>
            <a:endParaRPr lang="ko-KR" altLang="en-US" sz="1050" b="0" dirty="0">
              <a:solidFill>
                <a:srgbClr val="606060"/>
              </a:solidFill>
              <a:latin typeface="Malgun Gothic"/>
              <a:ea typeface="Malgun Gothic"/>
              <a:cs typeface="Malgun Gothic"/>
            </a:endParaRP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activity_count.pseudo</a:t>
            </a:r>
          </a:p>
        </p:txBody>
      </p:sp>
      <p:sp>
        <p:nvSpPr>
          <p:cNvPr id="10" name="직사각형 11"/>
          <p:cNvSpPr/>
          <p:nvPr/>
        </p:nvSpPr>
        <p:spPr>
          <a:xfrm>
            <a:off x="612648" y="1856232"/>
            <a:ext cx="10972800" cy="2684272"/>
          </a:xfrm>
          <a:prstGeom prst="rect">
            <a:avLst/>
          </a:prstGeom>
          <a:solidFill>
            <a:srgbClr val="171717"/>
          </a:solidFill>
          <a:ln w="0">
            <a:noFill/>
          </a:ln>
        </p:spPr>
        <p:txBody>
          <a:bodyPr wrap="none" lIns="91440" tIns="91440" rIns="91440" bIns="91440" anchor="t">
            <a:noAutofit/>
          </a:bodyPr>
          <a:lstStyle/>
          <a:p>
            <a:pPr algn="l" eaLnBrk="0" latinLnBrk="0">
              <a:lnSpc>
                <a:spcPct val="130000"/>
              </a:lnSpc>
              <a:buNone/>
            </a:pPr>
            <a:r>
              <a:rPr lang="ko-KR" altLang="en-US" sz="1600" b="0" dirty="0">
                <a:solidFill>
                  <a:srgbClr val="FFFFFF"/>
                </a:solidFill>
                <a:latin typeface="Consolas"/>
                <a:ea typeface="Consolas"/>
                <a:cs typeface="Consolas"/>
              </a:rPr>
              <a:t>ACTIVITY_COUNT(activities):     // 종료 시각 순으로 정렬되어 있다</a:t>
            </a:r>
          </a:p>
          <a:p>
            <a:pPr algn="l" eaLnBrk="0" latinLnBrk="0">
              <a:lnSpc>
                <a:spcPct val="130000"/>
              </a:lnSpc>
              <a:buNone/>
            </a:pPr>
            <a:r>
              <a:rPr lang="ko-KR" altLang="en-US" sz="1600" b="0" dirty="0">
                <a:solidFill>
                  <a:srgbClr val="FFFFFF"/>
                </a:solidFill>
                <a:latin typeface="Consolas"/>
                <a:ea typeface="Consolas"/>
                <a:cs typeface="Consolas"/>
              </a:rPr>
              <a:t>    count &lt;- 0</a:t>
            </a:r>
          </a:p>
          <a:p>
            <a:pPr algn="l" eaLnBrk="0" latinLnBrk="0">
              <a:lnSpc>
                <a:spcPct val="130000"/>
              </a:lnSpc>
              <a:buNone/>
            </a:pPr>
            <a:r>
              <a:rPr lang="ko-KR" altLang="en-US" sz="1600" b="0" dirty="0">
                <a:solidFill>
                  <a:srgbClr val="FFFFFF"/>
                </a:solidFill>
                <a:latin typeface="Consolas"/>
                <a:ea typeface="Consolas"/>
                <a:cs typeface="Consolas"/>
              </a:rPr>
              <a:t>    last_end &lt;- -∞</a:t>
            </a:r>
          </a:p>
          <a:p>
            <a:pPr algn="l" eaLnBrk="0" latinLnBrk="0">
              <a:lnSpc>
                <a:spcPct val="130000"/>
              </a:lnSpc>
              <a:buNone/>
            </a:pPr>
            <a:r>
              <a:rPr lang="ko-KR" altLang="en-US" sz="1600" b="0" dirty="0">
                <a:solidFill>
                  <a:srgbClr val="FFFFFF"/>
                </a:solidFill>
                <a:latin typeface="Consolas"/>
                <a:ea typeface="Consolas"/>
                <a:cs typeface="Consolas"/>
              </a:rPr>
              <a:t>    for (start, end) in activities:</a:t>
            </a:r>
          </a:p>
          <a:p>
            <a:pPr algn="l" eaLnBrk="0" latinLnBrk="0">
              <a:lnSpc>
                <a:spcPct val="130000"/>
              </a:lnSpc>
              <a:buNone/>
            </a:pPr>
            <a:r>
              <a:rPr lang="ko-KR" altLang="en-US" sz="1600" b="0" dirty="0">
                <a:solidFill>
                  <a:srgbClr val="FFFFFF"/>
                </a:solidFill>
                <a:latin typeface="Consolas"/>
                <a:ea typeface="Consolas"/>
                <a:cs typeface="Consolas"/>
              </a:rPr>
              <a:t>        if start &gt;= last_end:   // 끝나는 시각에 바로 시작해도 된다</a:t>
            </a:r>
          </a:p>
          <a:p>
            <a:pPr algn="l" eaLnBrk="0" latinLnBrk="0">
              <a:lnSpc>
                <a:spcPct val="130000"/>
              </a:lnSpc>
              <a:buNone/>
            </a:pPr>
            <a:r>
              <a:rPr lang="ko-KR" altLang="en-US" sz="1600" b="0" dirty="0">
                <a:solidFill>
                  <a:srgbClr val="FFFFFF"/>
                </a:solidFill>
                <a:latin typeface="Consolas"/>
                <a:ea typeface="Consolas"/>
                <a:cs typeface="Consolas"/>
              </a:rPr>
              <a:t>            count &lt;- count + 1</a:t>
            </a:r>
          </a:p>
          <a:p>
            <a:pPr algn="l" eaLnBrk="0" latinLnBrk="0">
              <a:lnSpc>
                <a:spcPct val="130000"/>
              </a:lnSpc>
              <a:buNone/>
            </a:pPr>
            <a:r>
              <a:rPr lang="ko-KR" altLang="en-US" sz="1600" b="0" dirty="0">
                <a:solidFill>
                  <a:srgbClr val="FFFFFF"/>
                </a:solidFill>
                <a:latin typeface="Consolas"/>
                <a:ea typeface="Consolas"/>
                <a:cs typeface="Consolas"/>
              </a:rPr>
              <a:t>            last_end &lt;- end</a:t>
            </a:r>
          </a:p>
          <a:p>
            <a:pPr algn="l" eaLnBrk="0" latinLnBrk="0">
              <a:lnSpc>
                <a:spcPct val="130000"/>
              </a:lnSpc>
              <a:buNone/>
            </a:pPr>
            <a:r>
              <a:rPr lang="ko-KR" altLang="en-US" sz="1600" b="0" dirty="0">
                <a:solidFill>
                  <a:srgbClr val="FFFFFF"/>
                </a:solidFill>
                <a:latin typeface="Consolas"/>
                <a:ea typeface="Consolas"/>
                <a:cs typeface="Consolas"/>
              </a:rPr>
              <a:t>    return count                // 빈 목록이면 0</a:t>
            </a:r>
          </a:p>
        </p:txBody>
      </p:sp>
      <p:sp>
        <p:nvSpPr>
          <p:cNvPr id="11" name="fit:86bbf8aba0a2d522 12"/>
          <p:cNvSpPr/>
          <p:nvPr/>
        </p:nvSpPr>
        <p:spPr>
          <a:xfrm>
            <a:off x="612648" y="4668520"/>
            <a:ext cx="10972800" cy="56692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빈 목록.</a:t>
            </a:r>
            <a:r>
              <a:rPr lang="ko-KR" altLang="en-US" sz="1700" b="0" dirty="0">
                <a:solidFill>
                  <a:srgbClr val="171717"/>
                </a:solidFill>
                <a:latin typeface="Malgun Gothic"/>
                <a:ea typeface="Malgun Gothic"/>
                <a:cs typeface="Malgun Gothic"/>
              </a:rPr>
              <a:t> for 문이 한 번도 돌지 않아 count = 0을 그대로 돌려줍니다.</a:t>
            </a:r>
          </a:p>
          <a:p>
            <a:pPr algn="l" eaLnBrk="0" latinLnBrk="0">
              <a:lnSpc>
                <a:spcPct val="105000"/>
              </a:lnSpc>
              <a:buNone/>
            </a:pPr>
            <a:r>
              <a:rPr lang="ko-KR" altLang="en-US" sz="1700" b="0" dirty="0">
                <a:solidFill>
                  <a:srgbClr val="171717"/>
                </a:solidFill>
                <a:latin typeface="Malgun Gothic"/>
                <a:ea typeface="Malgun Gothic"/>
                <a:cs typeface="Malgun Gothic"/>
              </a:rPr>
              <a:t>목록[0]을 먼저 넣는 방식은 빈 목록에서 오류가 납니다.</a:t>
            </a:r>
          </a:p>
        </p:txBody>
      </p:sp>
      <p:sp>
        <p:nvSpPr>
          <p:cNvPr id="12" name="fit:8e43e66e984d5a59 13"/>
          <p:cNvSpPr/>
          <p:nvPr/>
        </p:nvSpPr>
        <p:spPr>
          <a:xfrm>
            <a:off x="612648" y="5363464"/>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시각이 0 이상으로 주어지면</a:t>
            </a:r>
            <a:r>
              <a:rPr lang="ko-KR" altLang="en-US" sz="1700" b="0" dirty="0">
                <a:solidFill>
                  <a:srgbClr val="171717"/>
                </a:solidFill>
                <a:latin typeface="Malgun Gothic"/>
                <a:ea typeface="Malgun Gothic"/>
                <a:cs typeface="Malgun Gothic"/>
              </a:rPr>
              <a:t> last_end를 0으로 시작해도 됩니다. 첫 활동이 그대로 통과합니다.</a:t>
            </a:r>
          </a:p>
        </p:txBody>
      </p:sp>
      <p:sp>
        <p:nvSpPr>
          <p:cNvPr id="13" name="fit:9ef1dd0543a4a073 14"/>
          <p:cNvSpPr/>
          <p:nvPr/>
        </p:nvSpPr>
        <p:spPr>
          <a:xfrm>
            <a:off x="612648" y="5784088"/>
            <a:ext cx="10972800" cy="292608"/>
          </a:xfrm>
          <a:prstGeom prst="rect">
            <a:avLst/>
          </a:prstGeom>
          <a:noFill/>
          <a:ln w="0">
            <a:noFill/>
          </a:ln>
        </p:spPr>
        <p:txBody>
          <a:bodyPr wrap="square" lIns="0" tIns="0" rIns="0" bIns="0" anchor="t">
            <a:noAutofit/>
          </a:bodyPr>
          <a:lstStyle/>
          <a:p>
            <a:pPr algn="l" eaLnBrk="0" latinLnBrk="0">
              <a:lnSpc>
                <a:spcPct val="105000"/>
              </a:lnSpc>
              <a:buNone/>
            </a:pPr>
            <a:r>
              <a:rPr lang="ko-KR" altLang="en-US" sz="1700" b="1" dirty="0">
                <a:solidFill>
                  <a:srgbClr val="171717"/>
                </a:solidFill>
                <a:latin typeface="Malgun Gothic"/>
                <a:ea typeface="Malgun Gothic"/>
                <a:cs typeface="Malgun Gothic"/>
              </a:rPr>
              <a:t>시간 복잡도.</a:t>
            </a:r>
            <a:r>
              <a:rPr lang="ko-KR" altLang="en-US" sz="1700" b="0" dirty="0">
                <a:solidFill>
                  <a:srgbClr val="171717"/>
                </a:solidFill>
                <a:latin typeface="Malgun Gothic"/>
                <a:ea typeface="Malgun Gothic"/>
                <a:cs typeface="Malgun Gothic"/>
              </a:rPr>
              <a:t> 정렬된 입력을 한 번 훑으므로 O(n), 직접 정렬부터 하면 O(n log n)입니다.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28-64">
            <a:extLst>
              <a:ext uri="{FF2B5EF4-FFF2-40B4-BE49-F238E27FC236}">
                <a16:creationId xmlns:a16="http://schemas.microsoft.com/office/drawing/2014/main" id="{8C717D09-89CE-41EC-AA59-3302C385C5CB}"/>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5장 탐욕 알고리즘  /  Python/C 구현</a:t>
            </a:r>
          </a:p>
        </p:txBody>
      </p:sp>
      <p:sp>
        <p:nvSpPr>
          <p:cNvPr id="2" name="text-28-1080">
            <a:extLst>
              <a:ext uri="{FF2B5EF4-FFF2-40B4-BE49-F238E27FC236}">
                <a16:creationId xmlns:a16="http://schemas.microsoft.com/office/drawing/2014/main" id="{24A22ED5-36DA-4287-A203-82C0FE0FCDEA}"/>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a16:creationId xmlns:a16="http://schemas.microsoft.com/office/drawing/2014/main" id="{A311DF53-5363-4F0A-81D4-1CBC78DD2C1E}"/>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lang="ko-KR" altLang="en-US" sz="3000" b="1" i="0">
                <a:solidFill>
                  <a:srgbClr val="171717"/>
                </a:solidFill>
                <a:latin typeface="Malgun Gothic"/>
                <a:ea typeface="Malgun Gothic"/>
                <a:cs typeface="Malgun Gothic"/>
              </a:rPr>
              <a:t>함수</a:t>
            </a:r>
            <a:r>
              <a:rPr sz="3000" b="1" i="0">
                <a:solidFill>
                  <a:srgbClr val="171717"/>
                </a:solidFill>
                <a:latin typeface="Malgun Gothic"/>
                <a:ea typeface="Malgun Gothic"/>
                <a:cs typeface="Malgun Gothic"/>
              </a:rPr>
              <a:t>  Python 구현</a:t>
            </a:r>
          </a:p>
        </p:txBody>
      </p:sp>
      <p:sp>
        <p:nvSpPr>
          <p:cNvPr id="4" name="직사각형 3">
            <a:extLst>
              <a:ext uri="{FF2B5EF4-FFF2-40B4-BE49-F238E27FC236}">
                <a16:creationId xmlns:a16="http://schemas.microsoft.com/office/drawing/2014/main" id="{F1400466-C89A-4EE3-B73B-99B0376D8F35}"/>
              </a:ext>
            </a:extLst>
          </p:cNvPr>
          <p:cNvSpPr>
            <a:spLocks noGrp="1"/>
          </p:cNvSpPr>
          <p:nvPr/>
        </p:nvSpPr>
        <p:spPr>
          <a:xfrm>
            <a:off x="609600" y="1381125"/>
            <a:ext cx="10972800" cy="19050"/>
          </a:xfrm>
          <a:prstGeom prst="rect">
            <a:avLst/>
          </a:prstGeom>
          <a:solidFill>
            <a:srgbClr val="171717"/>
          </a:solidFill>
          <a:ln w="0">
            <a:noFill/>
          </a:ln>
        </p:spPr>
      </p:sp>
      <p:sp>
        <p:nvSpPr>
          <p:cNvPr id="5" name="직사각형 4">
            <a:extLst>
              <a:ext uri="{FF2B5EF4-FFF2-40B4-BE49-F238E27FC236}">
                <a16:creationId xmlns:a16="http://schemas.microsoft.com/office/drawing/2014/main" id="{E8BE5A14-D720-4F9A-922A-2F282C11ED44}"/>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a16:creationId xmlns:a16="http://schemas.microsoft.com/office/drawing/2014/main" id="{872E5C61-69A8-4DE3-AE5A-2C5D0F4EE74E}"/>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05 / GREEDY ALGORITHMS · EXERCISES</a:t>
            </a:r>
          </a:p>
        </p:txBody>
      </p:sp>
      <p:sp>
        <p:nvSpPr>
          <p:cNvPr id="7" name="text-689-1160">
            <a:extLst>
              <a:ext uri="{FF2B5EF4-FFF2-40B4-BE49-F238E27FC236}">
                <a16:creationId xmlns:a16="http://schemas.microsoft.com/office/drawing/2014/main" id="{1F8C8D45-F8E2-49D9-BAB7-8D2C23C0EB7B}"/>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33</a:t>
            </a:r>
            <a:endParaRPr sz="1050" b="1" i="0">
              <a:solidFill>
                <a:srgbClr val="171717"/>
              </a:solidFill>
              <a:latin typeface="Consolas"/>
              <a:ea typeface="Consolas"/>
              <a:cs typeface="Consolas"/>
            </a:endParaRPr>
          </a:p>
        </p:txBody>
      </p:sp>
      <p:sp>
        <p:nvSpPr>
          <p:cNvPr id="8" name="text-163-64">
            <a:extLst>
              <a:ext uri="{FF2B5EF4-FFF2-40B4-BE49-F238E27FC236}">
                <a16:creationId xmlns:a16="http://schemas.microsoft.com/office/drawing/2014/main" id="{116BD6FB-CF9A-4AFE-9764-B4597B06666C}"/>
              </a:ext>
            </a:extLst>
          </p:cNvPr>
          <p:cNvSpPr>
            <a:spLocks noGrp="1"/>
          </p:cNvSpPr>
          <p:nvPr/>
        </p:nvSpPr>
        <p:spPr>
          <a:xfrm>
            <a:off x="609600" y="1552575"/>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활동 선택</a:t>
            </a:r>
          </a:p>
        </p:txBody>
      </p:sp>
      <p:sp>
        <p:nvSpPr>
          <p:cNvPr id="9" name="직사각형 8">
            <a:extLst>
              <a:ext uri="{FF2B5EF4-FFF2-40B4-BE49-F238E27FC236}">
                <a16:creationId xmlns:a16="http://schemas.microsoft.com/office/drawing/2014/main" id="{DECCC62D-B054-4FE8-B252-C48D2A3A68D1}"/>
              </a:ext>
            </a:extLst>
          </p:cNvPr>
          <p:cNvSpPr>
            <a:spLocks noGrp="1"/>
          </p:cNvSpPr>
          <p:nvPr/>
        </p:nvSpPr>
        <p:spPr>
          <a:xfrm>
            <a:off x="609600" y="1981200"/>
            <a:ext cx="10972800" cy="3962400"/>
          </a:xfrm>
          <a:prstGeom prst="rect">
            <a:avLst/>
          </a:prstGeom>
          <a:solidFill>
            <a:srgbClr val="171717"/>
          </a:solidFill>
          <a:ln w="0">
            <a:noFill/>
          </a:ln>
        </p:spPr>
      </p:sp>
      <p:sp>
        <p:nvSpPr>
          <p:cNvPr id="10" name="text-222-81">
            <a:extLst>
              <a:ext uri="{FF2B5EF4-FFF2-40B4-BE49-F238E27FC236}">
                <a16:creationId xmlns:a16="http://schemas.microsoft.com/office/drawing/2014/main" id="{B1950A53-3B30-4B13-B55C-EECEDA3B8930}"/>
              </a:ext>
            </a:extLst>
          </p:cNvPr>
          <p:cNvSpPr>
            <a:spLocks noGrp="1"/>
          </p:cNvSpPr>
          <p:nvPr/>
        </p:nvSpPr>
        <p:spPr>
          <a:xfrm>
            <a:off x="771525" y="2120265"/>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01</a:t>
            </a:r>
          </a:p>
        </p:txBody>
      </p:sp>
      <p:sp>
        <p:nvSpPr>
          <p:cNvPr id="11" name="text-222-135">
            <a:extLst>
              <a:ext uri="{FF2B5EF4-FFF2-40B4-BE49-F238E27FC236}">
                <a16:creationId xmlns:a16="http://schemas.microsoft.com/office/drawing/2014/main" id="{0C69B417-8300-4A5D-A8B4-E207AF28C6FF}"/>
              </a:ext>
            </a:extLst>
          </p:cNvPr>
          <p:cNvSpPr>
            <a:spLocks noGrp="1"/>
          </p:cNvSpPr>
          <p:nvPr/>
        </p:nvSpPr>
        <p:spPr>
          <a:xfrm>
            <a:off x="1285875" y="2120265"/>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def activity_count(activities):</a:t>
            </a:r>
          </a:p>
        </p:txBody>
      </p:sp>
      <p:sp>
        <p:nvSpPr>
          <p:cNvPr id="12" name="text-242.5-81">
            <a:extLst>
              <a:ext uri="{FF2B5EF4-FFF2-40B4-BE49-F238E27FC236}">
                <a16:creationId xmlns:a16="http://schemas.microsoft.com/office/drawing/2014/main" id="{75299A57-CE21-42F1-AF54-8983BAE6A8C0}"/>
              </a:ext>
            </a:extLst>
          </p:cNvPr>
          <p:cNvSpPr>
            <a:spLocks noGrp="1"/>
          </p:cNvSpPr>
          <p:nvPr/>
        </p:nvSpPr>
        <p:spPr>
          <a:xfrm>
            <a:off x="771525" y="2374107"/>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02</a:t>
            </a:r>
          </a:p>
        </p:txBody>
      </p:sp>
      <p:sp>
        <p:nvSpPr>
          <p:cNvPr id="13" name="text-242.5-135">
            <a:extLst>
              <a:ext uri="{FF2B5EF4-FFF2-40B4-BE49-F238E27FC236}">
                <a16:creationId xmlns:a16="http://schemas.microsoft.com/office/drawing/2014/main" id="{622B3D55-F0A9-4DCD-81B3-BC235C41E748}"/>
              </a:ext>
            </a:extLst>
          </p:cNvPr>
          <p:cNvSpPr>
            <a:spLocks noGrp="1"/>
          </p:cNvSpPr>
          <p:nvPr/>
        </p:nvSpPr>
        <p:spPr>
          <a:xfrm>
            <a:off x="1285875" y="2374107"/>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last = 0</a:t>
            </a:r>
          </a:p>
        </p:txBody>
      </p:sp>
      <p:sp>
        <p:nvSpPr>
          <p:cNvPr id="14" name="text-263-81">
            <a:extLst>
              <a:ext uri="{FF2B5EF4-FFF2-40B4-BE49-F238E27FC236}">
                <a16:creationId xmlns:a16="http://schemas.microsoft.com/office/drawing/2014/main" id="{C98D1B10-2F18-4861-A388-A7A45FB11314}"/>
              </a:ext>
            </a:extLst>
          </p:cNvPr>
          <p:cNvSpPr>
            <a:spLocks noGrp="1"/>
          </p:cNvSpPr>
          <p:nvPr/>
        </p:nvSpPr>
        <p:spPr>
          <a:xfrm>
            <a:off x="771525" y="2627948"/>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03</a:t>
            </a:r>
          </a:p>
        </p:txBody>
      </p:sp>
      <p:sp>
        <p:nvSpPr>
          <p:cNvPr id="15" name="text-263-135">
            <a:extLst>
              <a:ext uri="{FF2B5EF4-FFF2-40B4-BE49-F238E27FC236}">
                <a16:creationId xmlns:a16="http://schemas.microsoft.com/office/drawing/2014/main" id="{DE73AC0E-D107-4869-8E60-ACA0ACEF4610}"/>
              </a:ext>
            </a:extLst>
          </p:cNvPr>
          <p:cNvSpPr>
            <a:spLocks noGrp="1"/>
          </p:cNvSpPr>
          <p:nvPr/>
        </p:nvSpPr>
        <p:spPr>
          <a:xfrm>
            <a:off x="1285875" y="2627948"/>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count = 0</a:t>
            </a:r>
          </a:p>
        </p:txBody>
      </p:sp>
      <p:sp>
        <p:nvSpPr>
          <p:cNvPr id="16" name="text-283.5-81">
            <a:extLst>
              <a:ext uri="{FF2B5EF4-FFF2-40B4-BE49-F238E27FC236}">
                <a16:creationId xmlns:a16="http://schemas.microsoft.com/office/drawing/2014/main" id="{FA92E78D-70D0-4AFC-AE12-C77286140168}"/>
              </a:ext>
            </a:extLst>
          </p:cNvPr>
          <p:cNvSpPr>
            <a:spLocks noGrp="1"/>
          </p:cNvSpPr>
          <p:nvPr/>
        </p:nvSpPr>
        <p:spPr>
          <a:xfrm>
            <a:off x="771525" y="288179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04</a:t>
            </a:r>
          </a:p>
        </p:txBody>
      </p:sp>
      <p:sp>
        <p:nvSpPr>
          <p:cNvPr id="17" name="text-283.5-135">
            <a:extLst>
              <a:ext uri="{FF2B5EF4-FFF2-40B4-BE49-F238E27FC236}">
                <a16:creationId xmlns:a16="http://schemas.microsoft.com/office/drawing/2014/main" id="{04D81A39-3423-4FE6-83AB-60294651E378}"/>
              </a:ext>
            </a:extLst>
          </p:cNvPr>
          <p:cNvSpPr>
            <a:spLocks noGrp="1"/>
          </p:cNvSpPr>
          <p:nvPr/>
        </p:nvSpPr>
        <p:spPr>
          <a:xfrm>
            <a:off x="1285875" y="288179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start, end in activities:</a:t>
            </a:r>
          </a:p>
        </p:txBody>
      </p:sp>
      <p:sp>
        <p:nvSpPr>
          <p:cNvPr id="18" name="text-304-81">
            <a:extLst>
              <a:ext uri="{FF2B5EF4-FFF2-40B4-BE49-F238E27FC236}">
                <a16:creationId xmlns:a16="http://schemas.microsoft.com/office/drawing/2014/main" id="{C82E302E-E088-46C4-999F-D2518AD1591C}"/>
              </a:ext>
            </a:extLst>
          </p:cNvPr>
          <p:cNvSpPr>
            <a:spLocks noGrp="1"/>
          </p:cNvSpPr>
          <p:nvPr/>
        </p:nvSpPr>
        <p:spPr>
          <a:xfrm>
            <a:off x="771525" y="313563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05</a:t>
            </a:r>
          </a:p>
        </p:txBody>
      </p:sp>
      <p:sp>
        <p:nvSpPr>
          <p:cNvPr id="19" name="text-304-135">
            <a:extLst>
              <a:ext uri="{FF2B5EF4-FFF2-40B4-BE49-F238E27FC236}">
                <a16:creationId xmlns:a16="http://schemas.microsoft.com/office/drawing/2014/main" id="{E6479DDE-C49D-4987-963E-2CF813746BB8}"/>
              </a:ext>
            </a:extLst>
          </p:cNvPr>
          <p:cNvSpPr>
            <a:spLocks noGrp="1"/>
          </p:cNvSpPr>
          <p:nvPr/>
        </p:nvSpPr>
        <p:spPr>
          <a:xfrm>
            <a:off x="1285875" y="313563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start &gt;= last:</a:t>
            </a:r>
          </a:p>
        </p:txBody>
      </p:sp>
      <p:sp>
        <p:nvSpPr>
          <p:cNvPr id="20" name="text-324.5-81">
            <a:extLst>
              <a:ext uri="{FF2B5EF4-FFF2-40B4-BE49-F238E27FC236}">
                <a16:creationId xmlns:a16="http://schemas.microsoft.com/office/drawing/2014/main" id="{13D3EBF7-CC0A-40E1-8FA3-038ECE12AF6D}"/>
              </a:ext>
            </a:extLst>
          </p:cNvPr>
          <p:cNvSpPr>
            <a:spLocks noGrp="1"/>
          </p:cNvSpPr>
          <p:nvPr/>
        </p:nvSpPr>
        <p:spPr>
          <a:xfrm>
            <a:off x="771525" y="3389472"/>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06</a:t>
            </a:r>
          </a:p>
        </p:txBody>
      </p:sp>
      <p:sp>
        <p:nvSpPr>
          <p:cNvPr id="21" name="text-324.5-135">
            <a:extLst>
              <a:ext uri="{FF2B5EF4-FFF2-40B4-BE49-F238E27FC236}">
                <a16:creationId xmlns:a16="http://schemas.microsoft.com/office/drawing/2014/main" id="{DBFE5A07-239B-4793-8D3F-DAE83749CB77}"/>
              </a:ext>
            </a:extLst>
          </p:cNvPr>
          <p:cNvSpPr>
            <a:spLocks noGrp="1"/>
          </p:cNvSpPr>
          <p:nvPr/>
        </p:nvSpPr>
        <p:spPr>
          <a:xfrm>
            <a:off x="1285875" y="3389472"/>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count += 1</a:t>
            </a:r>
          </a:p>
        </p:txBody>
      </p:sp>
      <p:sp>
        <p:nvSpPr>
          <p:cNvPr id="22" name="text-345-81">
            <a:extLst>
              <a:ext uri="{FF2B5EF4-FFF2-40B4-BE49-F238E27FC236}">
                <a16:creationId xmlns:a16="http://schemas.microsoft.com/office/drawing/2014/main" id="{E2E5A330-DB72-421C-B5B3-169379205FBB}"/>
              </a:ext>
            </a:extLst>
          </p:cNvPr>
          <p:cNvSpPr>
            <a:spLocks noGrp="1"/>
          </p:cNvSpPr>
          <p:nvPr/>
        </p:nvSpPr>
        <p:spPr>
          <a:xfrm>
            <a:off x="771525" y="3643313"/>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07</a:t>
            </a:r>
          </a:p>
        </p:txBody>
      </p:sp>
      <p:sp>
        <p:nvSpPr>
          <p:cNvPr id="23" name="text-345-135">
            <a:extLst>
              <a:ext uri="{FF2B5EF4-FFF2-40B4-BE49-F238E27FC236}">
                <a16:creationId xmlns:a16="http://schemas.microsoft.com/office/drawing/2014/main" id="{C9A08D9F-30D8-48E1-9A49-C0BDFE6A1D7B}"/>
              </a:ext>
            </a:extLst>
          </p:cNvPr>
          <p:cNvSpPr>
            <a:spLocks noGrp="1"/>
          </p:cNvSpPr>
          <p:nvPr/>
        </p:nvSpPr>
        <p:spPr>
          <a:xfrm>
            <a:off x="1285875" y="3643313"/>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last = end</a:t>
            </a:r>
          </a:p>
        </p:txBody>
      </p:sp>
      <p:sp>
        <p:nvSpPr>
          <p:cNvPr id="24" name="text-365.5-81">
            <a:extLst>
              <a:ext uri="{FF2B5EF4-FFF2-40B4-BE49-F238E27FC236}">
                <a16:creationId xmlns:a16="http://schemas.microsoft.com/office/drawing/2014/main" id="{77F5950A-655A-4175-AC56-4BA266AA18BE}"/>
              </a:ext>
            </a:extLst>
          </p:cNvPr>
          <p:cNvSpPr>
            <a:spLocks noGrp="1"/>
          </p:cNvSpPr>
          <p:nvPr/>
        </p:nvSpPr>
        <p:spPr>
          <a:xfrm>
            <a:off x="771525" y="3897154"/>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08</a:t>
            </a:r>
          </a:p>
        </p:txBody>
      </p:sp>
      <p:sp>
        <p:nvSpPr>
          <p:cNvPr id="25" name="text-365.5-135">
            <a:extLst>
              <a:ext uri="{FF2B5EF4-FFF2-40B4-BE49-F238E27FC236}">
                <a16:creationId xmlns:a16="http://schemas.microsoft.com/office/drawing/2014/main" id="{488440E3-3CDD-4B7C-A8E6-86463C1CDF28}"/>
              </a:ext>
            </a:extLst>
          </p:cNvPr>
          <p:cNvSpPr>
            <a:spLocks noGrp="1"/>
          </p:cNvSpPr>
          <p:nvPr/>
        </p:nvSpPr>
        <p:spPr>
          <a:xfrm>
            <a:off x="1285875" y="3897154"/>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count</a:t>
            </a:r>
          </a:p>
        </p:txBody>
      </p:sp>
      <p:sp>
        <p:nvSpPr>
          <p:cNvPr id="26" name="text-635-64">
            <a:extLst>
              <a:ext uri="{FF2B5EF4-FFF2-40B4-BE49-F238E27FC236}">
                <a16:creationId xmlns:a16="http://schemas.microsoft.com/office/drawing/2014/main" id="{780773CB-C1C3-4426-992F-13D7F43E053D}"/>
              </a:ext>
            </a:extLst>
          </p:cNvPr>
          <p:cNvSpPr>
            <a:spLocks noGrp="1"/>
          </p:cNvSpPr>
          <p:nvPr/>
        </p:nvSpPr>
        <p:spPr>
          <a:xfrm>
            <a:off x="609600" y="6048375"/>
            <a:ext cx="10972800" cy="213360"/>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정렬된 입력에서 시간 O(n). 정렬까지 하면 O(n log n).</a:t>
            </a:r>
          </a:p>
        </p:txBody>
      </p:sp>
    </p:spTree>
    <p:extLst>
      <p:ext uri="{BB962C8B-B14F-4D97-AF65-F5344CB8AC3E}">
        <p14:creationId xmlns:p14="http://schemas.microsoft.com/office/powerpoint/2010/main" val="1071089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28-64">
            <a:extLst>
              <a:ext uri="{FF2B5EF4-FFF2-40B4-BE49-F238E27FC236}">
                <a16:creationId xmlns:a16="http://schemas.microsoft.com/office/drawing/2014/main" id="{AB0AE57D-0F34-4A9C-AB20-2783895A4CD0}"/>
              </a:ext>
            </a:extLst>
          </p:cNvPr>
          <p:cNvSpPr>
            <a:spLocks noGrp="1"/>
          </p:cNvSpPr>
          <p:nvPr/>
        </p:nvSpPr>
        <p:spPr>
          <a:xfrm>
            <a:off x="609600" y="266700"/>
            <a:ext cx="8096250" cy="247650"/>
          </a:xfrm>
          <a:prstGeom prst="rect">
            <a:avLst/>
          </a:prstGeom>
          <a:noFill/>
          <a:ln w="0">
            <a:noFill/>
          </a:ln>
        </p:spPr>
        <p:txBody>
          <a:bodyPr wrap="none" lIns="0" tIns="0" rIns="0" bIns="0" anchor="t">
            <a:noAutofit/>
          </a:bodyPr>
          <a:lstStyle/>
          <a:p>
            <a:pPr algn="l">
              <a:lnSpc>
                <a:spcPct val="108000"/>
              </a:lnSpc>
              <a:buNone/>
              <a:defRPr sz="1050" b="1" i="0">
                <a:solidFill>
                  <a:srgbClr val="606060"/>
                </a:solidFill>
                <a:latin typeface="Malgun Gothic"/>
                <a:ea typeface="Malgun Gothic"/>
                <a:cs typeface="Malgun Gothic"/>
              </a:defRPr>
            </a:pPr>
            <a:r>
              <a:rPr sz="1050" b="1" i="0">
                <a:solidFill>
                  <a:srgbClr val="606060"/>
                </a:solidFill>
                <a:latin typeface="Malgun Gothic"/>
                <a:ea typeface="Malgun Gothic"/>
                <a:cs typeface="Malgun Gothic"/>
              </a:rPr>
              <a:t>5장 탐욕 알고리즘  /  Python/C 구현</a:t>
            </a:r>
          </a:p>
        </p:txBody>
      </p:sp>
      <p:sp>
        <p:nvSpPr>
          <p:cNvPr id="2" name="text-28-1080">
            <a:extLst>
              <a:ext uri="{FF2B5EF4-FFF2-40B4-BE49-F238E27FC236}">
                <a16:creationId xmlns:a16="http://schemas.microsoft.com/office/drawing/2014/main" id="{53271D23-CF5A-47D9-9CFE-6D05130E21C3}"/>
              </a:ext>
            </a:extLst>
          </p:cNvPr>
          <p:cNvSpPr>
            <a:spLocks noGrp="1"/>
          </p:cNvSpPr>
          <p:nvPr/>
        </p:nvSpPr>
        <p:spPr>
          <a:xfrm>
            <a:off x="10287000" y="266700"/>
            <a:ext cx="1295400" cy="238125"/>
          </a:xfrm>
          <a:prstGeom prst="rect">
            <a:avLst/>
          </a:prstGeom>
          <a:noFill/>
          <a:ln w="0">
            <a:noFill/>
          </a:ln>
        </p:spPr>
        <p:txBody>
          <a:bodyPr wrap="none" lIns="0" tIns="0" rIns="0" bIns="0" anchor="t">
            <a:noAutofit/>
          </a:bodyPr>
          <a:lstStyle/>
          <a:p>
            <a:pPr algn="r">
              <a:lnSpc>
                <a:spcPct val="108000"/>
              </a:lnSpc>
              <a:buNone/>
              <a:defRPr sz="900" b="0" i="0">
                <a:solidFill>
                  <a:srgbClr val="606060"/>
                </a:solidFill>
                <a:latin typeface="Consolas"/>
                <a:ea typeface="Consolas"/>
                <a:cs typeface="Consolas"/>
              </a:defRPr>
            </a:pPr>
            <a:r>
              <a:rPr sz="900" b="0" i="0">
                <a:solidFill>
                  <a:srgbClr val="606060"/>
                </a:solidFill>
                <a:latin typeface="Consolas"/>
                <a:ea typeface="Consolas"/>
                <a:cs typeface="Consolas"/>
              </a:rPr>
              <a:t>ALGORITHMS</a:t>
            </a:r>
          </a:p>
        </p:txBody>
      </p:sp>
      <p:sp>
        <p:nvSpPr>
          <p:cNvPr id="3" name="text-72-62">
            <a:extLst>
              <a:ext uri="{FF2B5EF4-FFF2-40B4-BE49-F238E27FC236}">
                <a16:creationId xmlns:a16="http://schemas.microsoft.com/office/drawing/2014/main" id="{B8FC3E79-1B5B-47AD-A602-47A1271723FF}"/>
              </a:ext>
            </a:extLst>
          </p:cNvPr>
          <p:cNvSpPr>
            <a:spLocks noGrp="1"/>
          </p:cNvSpPr>
          <p:nvPr/>
        </p:nvSpPr>
        <p:spPr>
          <a:xfrm>
            <a:off x="590550" y="685800"/>
            <a:ext cx="10991850" cy="638175"/>
          </a:xfrm>
          <a:prstGeom prst="rect">
            <a:avLst/>
          </a:prstGeom>
          <a:noFill/>
          <a:ln w="0">
            <a:noFill/>
          </a:ln>
        </p:spPr>
        <p:txBody>
          <a:bodyPr wrap="none" lIns="0" tIns="0" rIns="0" bIns="0" anchor="t">
            <a:noAutofit/>
          </a:bodyPr>
          <a:lstStyle/>
          <a:p>
            <a:pPr algn="l">
              <a:lnSpc>
                <a:spcPct val="108000"/>
              </a:lnSpc>
              <a:buNone/>
              <a:defRPr sz="3000" b="1" i="0">
                <a:solidFill>
                  <a:srgbClr val="171717"/>
                </a:solidFill>
                <a:latin typeface="Malgun Gothic"/>
                <a:ea typeface="Malgun Gothic"/>
                <a:cs typeface="Malgun Gothic"/>
              </a:defRPr>
            </a:pPr>
            <a:r>
              <a:rPr lang="ko-KR" altLang="en-US" sz="3000" b="1" i="0">
                <a:solidFill>
                  <a:srgbClr val="171717"/>
                </a:solidFill>
                <a:latin typeface="Malgun Gothic"/>
                <a:ea typeface="Malgun Gothic"/>
                <a:cs typeface="Malgun Gothic"/>
              </a:rPr>
              <a:t>함수</a:t>
            </a:r>
            <a:r>
              <a:rPr sz="3000" b="1" i="0">
                <a:solidFill>
                  <a:srgbClr val="171717"/>
                </a:solidFill>
                <a:latin typeface="Malgun Gothic"/>
                <a:ea typeface="Malgun Gothic"/>
                <a:cs typeface="Malgun Gothic"/>
              </a:rPr>
              <a:t>  C 구현</a:t>
            </a:r>
          </a:p>
        </p:txBody>
      </p:sp>
      <p:sp>
        <p:nvSpPr>
          <p:cNvPr id="4" name="직사각형 3">
            <a:extLst>
              <a:ext uri="{FF2B5EF4-FFF2-40B4-BE49-F238E27FC236}">
                <a16:creationId xmlns:a16="http://schemas.microsoft.com/office/drawing/2014/main" id="{0E655A6B-3487-4D6A-9F22-BC838ACD9F64}"/>
              </a:ext>
            </a:extLst>
          </p:cNvPr>
          <p:cNvSpPr>
            <a:spLocks noGrp="1"/>
          </p:cNvSpPr>
          <p:nvPr/>
        </p:nvSpPr>
        <p:spPr>
          <a:xfrm>
            <a:off x="609600" y="1381125"/>
            <a:ext cx="10972800" cy="19050"/>
          </a:xfrm>
          <a:prstGeom prst="rect">
            <a:avLst/>
          </a:prstGeom>
          <a:solidFill>
            <a:srgbClr val="171717"/>
          </a:solidFill>
          <a:ln w="0">
            <a:noFill/>
          </a:ln>
        </p:spPr>
      </p:sp>
      <p:sp>
        <p:nvSpPr>
          <p:cNvPr id="5" name="직사각형 4">
            <a:extLst>
              <a:ext uri="{FF2B5EF4-FFF2-40B4-BE49-F238E27FC236}">
                <a16:creationId xmlns:a16="http://schemas.microsoft.com/office/drawing/2014/main" id="{B6C4C9BD-D0D6-493B-81E2-0AC1A0AF914F}"/>
              </a:ext>
            </a:extLst>
          </p:cNvPr>
          <p:cNvSpPr>
            <a:spLocks noGrp="1"/>
          </p:cNvSpPr>
          <p:nvPr/>
        </p:nvSpPr>
        <p:spPr>
          <a:xfrm>
            <a:off x="609600" y="6438900"/>
            <a:ext cx="10972800" cy="9525"/>
          </a:xfrm>
          <a:prstGeom prst="rect">
            <a:avLst/>
          </a:prstGeom>
          <a:solidFill>
            <a:srgbClr val="D4D4D4"/>
          </a:solidFill>
          <a:ln w="0">
            <a:noFill/>
          </a:ln>
        </p:spPr>
      </p:sp>
      <p:sp>
        <p:nvSpPr>
          <p:cNvPr id="6" name="text-693-64">
            <a:extLst>
              <a:ext uri="{FF2B5EF4-FFF2-40B4-BE49-F238E27FC236}">
                <a16:creationId xmlns:a16="http://schemas.microsoft.com/office/drawing/2014/main" id="{3DCEFE2B-C3E8-4586-BCBA-D46EDF6AEF19}"/>
              </a:ext>
            </a:extLst>
          </p:cNvPr>
          <p:cNvSpPr>
            <a:spLocks noGrp="1"/>
          </p:cNvSpPr>
          <p:nvPr/>
        </p:nvSpPr>
        <p:spPr>
          <a:xfrm>
            <a:off x="609600" y="6600825"/>
            <a:ext cx="9906000" cy="190500"/>
          </a:xfrm>
          <a:prstGeom prst="rect">
            <a:avLst/>
          </a:prstGeom>
          <a:noFill/>
          <a:ln w="0">
            <a:noFill/>
          </a:ln>
        </p:spPr>
        <p:txBody>
          <a:bodyPr wrap="none" lIns="0" tIns="0" rIns="0" bIns="0" anchor="t">
            <a:noAutofit/>
          </a:bodyPr>
          <a:lstStyle/>
          <a:p>
            <a:pPr algn="l">
              <a:lnSpc>
                <a:spcPct val="108000"/>
              </a:lnSpc>
              <a:buNone/>
              <a:defRPr sz="825" b="0" i="0">
                <a:solidFill>
                  <a:srgbClr val="606060"/>
                </a:solidFill>
                <a:latin typeface="Consolas"/>
                <a:ea typeface="Consolas"/>
                <a:cs typeface="Consolas"/>
              </a:defRPr>
            </a:pPr>
            <a:r>
              <a:rPr sz="825" b="0" i="0">
                <a:solidFill>
                  <a:srgbClr val="606060"/>
                </a:solidFill>
                <a:latin typeface="Consolas"/>
                <a:ea typeface="Consolas"/>
                <a:cs typeface="Consolas"/>
              </a:rPr>
              <a:t>05 / GREEDY ALGORITHMS · EXERCISES</a:t>
            </a:r>
          </a:p>
        </p:txBody>
      </p:sp>
      <p:sp>
        <p:nvSpPr>
          <p:cNvPr id="7" name="text-689-1160">
            <a:extLst>
              <a:ext uri="{FF2B5EF4-FFF2-40B4-BE49-F238E27FC236}">
                <a16:creationId xmlns:a16="http://schemas.microsoft.com/office/drawing/2014/main" id="{0FC7F104-7BF6-4B4B-8E04-249615FE7B86}"/>
              </a:ext>
            </a:extLst>
          </p:cNvPr>
          <p:cNvSpPr>
            <a:spLocks noGrp="1"/>
          </p:cNvSpPr>
          <p:nvPr/>
        </p:nvSpPr>
        <p:spPr>
          <a:xfrm>
            <a:off x="11049000" y="6562725"/>
            <a:ext cx="533400" cy="238125"/>
          </a:xfrm>
          <a:prstGeom prst="rect">
            <a:avLst/>
          </a:prstGeom>
          <a:noFill/>
          <a:ln w="0">
            <a:noFill/>
          </a:ln>
        </p:spPr>
        <p:txBody>
          <a:bodyPr wrap="none" lIns="0" tIns="0" rIns="0" bIns="0" anchor="t">
            <a:noAutofit/>
          </a:bodyPr>
          <a:lstStyle/>
          <a:p>
            <a:pPr algn="r">
              <a:lnSpc>
                <a:spcPct val="108000"/>
              </a:lnSpc>
              <a:buNone/>
              <a:defRPr sz="1050" b="1" i="0">
                <a:solidFill>
                  <a:srgbClr val="171717"/>
                </a:solidFill>
                <a:latin typeface="Consolas"/>
                <a:ea typeface="Consolas"/>
                <a:cs typeface="Consolas"/>
              </a:defRPr>
            </a:pPr>
            <a:r>
              <a:rPr lang="en-US" altLang="ko-KR" sz="1050" b="1" i="0">
                <a:solidFill>
                  <a:srgbClr val="171717"/>
                </a:solidFill>
                <a:latin typeface="Consolas"/>
                <a:ea typeface="Consolas"/>
                <a:cs typeface="Consolas"/>
              </a:rPr>
              <a:t>34</a:t>
            </a:r>
            <a:endParaRPr sz="1050" b="1" i="0">
              <a:solidFill>
                <a:srgbClr val="171717"/>
              </a:solidFill>
              <a:latin typeface="Consolas"/>
              <a:ea typeface="Consolas"/>
              <a:cs typeface="Consolas"/>
            </a:endParaRPr>
          </a:p>
        </p:txBody>
      </p:sp>
      <p:sp>
        <p:nvSpPr>
          <p:cNvPr id="8" name="text-163-64">
            <a:extLst>
              <a:ext uri="{FF2B5EF4-FFF2-40B4-BE49-F238E27FC236}">
                <a16:creationId xmlns:a16="http://schemas.microsoft.com/office/drawing/2014/main" id="{20D2AF78-A83E-4E0A-8760-26BED0B3A9B9}"/>
              </a:ext>
            </a:extLst>
          </p:cNvPr>
          <p:cNvSpPr>
            <a:spLocks noGrp="1"/>
          </p:cNvSpPr>
          <p:nvPr/>
        </p:nvSpPr>
        <p:spPr>
          <a:xfrm>
            <a:off x="609600" y="1552575"/>
            <a:ext cx="10972800" cy="266700"/>
          </a:xfrm>
          <a:prstGeom prst="rect">
            <a:avLst/>
          </a:prstGeom>
          <a:noFill/>
          <a:ln w="0">
            <a:noFill/>
          </a:ln>
        </p:spPr>
        <p:txBody>
          <a:bodyPr wrap="none" lIns="0" tIns="0" rIns="0" bIns="0" anchor="t">
            <a:noAutofit/>
          </a:bodyPr>
          <a:lstStyle/>
          <a:p>
            <a:pPr algn="l">
              <a:lnSpc>
                <a:spcPct val="108000"/>
              </a:lnSpc>
              <a:buNone/>
              <a:defRPr sz="1500" b="0" i="0">
                <a:solidFill>
                  <a:srgbClr val="606060"/>
                </a:solidFill>
                <a:latin typeface="Malgun Gothic"/>
                <a:ea typeface="Malgun Gothic"/>
                <a:cs typeface="Malgun Gothic"/>
              </a:defRPr>
            </a:pPr>
            <a:r>
              <a:rPr sz="1500" b="0" i="0">
                <a:solidFill>
                  <a:srgbClr val="606060"/>
                </a:solidFill>
                <a:latin typeface="Malgun Gothic"/>
                <a:ea typeface="Malgun Gothic"/>
                <a:cs typeface="Malgun Gothic"/>
              </a:rPr>
              <a:t>활동 선택</a:t>
            </a:r>
          </a:p>
        </p:txBody>
      </p:sp>
      <p:sp>
        <p:nvSpPr>
          <p:cNvPr id="9" name="직사각형 8">
            <a:extLst>
              <a:ext uri="{FF2B5EF4-FFF2-40B4-BE49-F238E27FC236}">
                <a16:creationId xmlns:a16="http://schemas.microsoft.com/office/drawing/2014/main" id="{84AFADD3-E55B-4ED8-A8D2-CA70757D44E2}"/>
              </a:ext>
            </a:extLst>
          </p:cNvPr>
          <p:cNvSpPr>
            <a:spLocks noGrp="1"/>
          </p:cNvSpPr>
          <p:nvPr/>
        </p:nvSpPr>
        <p:spPr>
          <a:xfrm>
            <a:off x="609600" y="1981200"/>
            <a:ext cx="10972800" cy="3962400"/>
          </a:xfrm>
          <a:prstGeom prst="rect">
            <a:avLst/>
          </a:prstGeom>
          <a:solidFill>
            <a:srgbClr val="171717"/>
          </a:solidFill>
          <a:ln w="0">
            <a:noFill/>
          </a:ln>
        </p:spPr>
      </p:sp>
      <p:sp>
        <p:nvSpPr>
          <p:cNvPr id="10" name="text-222-81">
            <a:extLst>
              <a:ext uri="{FF2B5EF4-FFF2-40B4-BE49-F238E27FC236}">
                <a16:creationId xmlns:a16="http://schemas.microsoft.com/office/drawing/2014/main" id="{BA163D64-78C4-4C83-AFE9-5D9654BAC2CD}"/>
              </a:ext>
            </a:extLst>
          </p:cNvPr>
          <p:cNvSpPr>
            <a:spLocks noGrp="1"/>
          </p:cNvSpPr>
          <p:nvPr/>
        </p:nvSpPr>
        <p:spPr>
          <a:xfrm>
            <a:off x="771525" y="2120265"/>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01</a:t>
            </a:r>
          </a:p>
        </p:txBody>
      </p:sp>
      <p:sp>
        <p:nvSpPr>
          <p:cNvPr id="11" name="text-222-135">
            <a:extLst>
              <a:ext uri="{FF2B5EF4-FFF2-40B4-BE49-F238E27FC236}">
                <a16:creationId xmlns:a16="http://schemas.microsoft.com/office/drawing/2014/main" id="{54EAE422-B85D-4044-BE49-3D48AB3CEA62}"/>
              </a:ext>
            </a:extLst>
          </p:cNvPr>
          <p:cNvSpPr>
            <a:spLocks noGrp="1"/>
          </p:cNvSpPr>
          <p:nvPr/>
        </p:nvSpPr>
        <p:spPr>
          <a:xfrm>
            <a:off x="1285875" y="2120265"/>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int activity_count(const int start[], const int end[], int n) {</a:t>
            </a:r>
          </a:p>
        </p:txBody>
      </p:sp>
      <p:sp>
        <p:nvSpPr>
          <p:cNvPr id="12" name="text-242.5-81">
            <a:extLst>
              <a:ext uri="{FF2B5EF4-FFF2-40B4-BE49-F238E27FC236}">
                <a16:creationId xmlns:a16="http://schemas.microsoft.com/office/drawing/2014/main" id="{D2D355D2-2B71-4096-BFE7-9C07D4518C1F}"/>
              </a:ext>
            </a:extLst>
          </p:cNvPr>
          <p:cNvSpPr>
            <a:spLocks noGrp="1"/>
          </p:cNvSpPr>
          <p:nvPr/>
        </p:nvSpPr>
        <p:spPr>
          <a:xfrm>
            <a:off x="771525" y="2374107"/>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02</a:t>
            </a:r>
          </a:p>
        </p:txBody>
      </p:sp>
      <p:sp>
        <p:nvSpPr>
          <p:cNvPr id="13" name="text-242.5-135">
            <a:extLst>
              <a:ext uri="{FF2B5EF4-FFF2-40B4-BE49-F238E27FC236}">
                <a16:creationId xmlns:a16="http://schemas.microsoft.com/office/drawing/2014/main" id="{C0AA2D93-05EE-4D6C-A57D-CE38423DBEBC}"/>
              </a:ext>
            </a:extLst>
          </p:cNvPr>
          <p:cNvSpPr>
            <a:spLocks noGrp="1"/>
          </p:cNvSpPr>
          <p:nvPr/>
        </p:nvSpPr>
        <p:spPr>
          <a:xfrm>
            <a:off x="1285875" y="2374107"/>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int last=0, count=0;</a:t>
            </a:r>
          </a:p>
        </p:txBody>
      </p:sp>
      <p:sp>
        <p:nvSpPr>
          <p:cNvPr id="14" name="text-263-81">
            <a:extLst>
              <a:ext uri="{FF2B5EF4-FFF2-40B4-BE49-F238E27FC236}">
                <a16:creationId xmlns:a16="http://schemas.microsoft.com/office/drawing/2014/main" id="{46CEB7AB-244E-4E46-A253-494B620AFBCD}"/>
              </a:ext>
            </a:extLst>
          </p:cNvPr>
          <p:cNvSpPr>
            <a:spLocks noGrp="1"/>
          </p:cNvSpPr>
          <p:nvPr/>
        </p:nvSpPr>
        <p:spPr>
          <a:xfrm>
            <a:off x="771525" y="2627948"/>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03</a:t>
            </a:r>
          </a:p>
        </p:txBody>
      </p:sp>
      <p:sp>
        <p:nvSpPr>
          <p:cNvPr id="15" name="text-263-135">
            <a:extLst>
              <a:ext uri="{FF2B5EF4-FFF2-40B4-BE49-F238E27FC236}">
                <a16:creationId xmlns:a16="http://schemas.microsoft.com/office/drawing/2014/main" id="{047C1736-2149-4B73-BD45-E56DEAC1E338}"/>
              </a:ext>
            </a:extLst>
          </p:cNvPr>
          <p:cNvSpPr>
            <a:spLocks noGrp="1"/>
          </p:cNvSpPr>
          <p:nvPr/>
        </p:nvSpPr>
        <p:spPr>
          <a:xfrm>
            <a:off x="1285875" y="2627948"/>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for (int i=0; i&lt;n; ++i) {</a:t>
            </a:r>
          </a:p>
        </p:txBody>
      </p:sp>
      <p:sp>
        <p:nvSpPr>
          <p:cNvPr id="16" name="text-283.5-81">
            <a:extLst>
              <a:ext uri="{FF2B5EF4-FFF2-40B4-BE49-F238E27FC236}">
                <a16:creationId xmlns:a16="http://schemas.microsoft.com/office/drawing/2014/main" id="{9B26831F-B110-45F5-9FCF-D3A9D996BC0A}"/>
              </a:ext>
            </a:extLst>
          </p:cNvPr>
          <p:cNvSpPr>
            <a:spLocks noGrp="1"/>
          </p:cNvSpPr>
          <p:nvPr/>
        </p:nvSpPr>
        <p:spPr>
          <a:xfrm>
            <a:off x="771525" y="288179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04</a:t>
            </a:r>
          </a:p>
        </p:txBody>
      </p:sp>
      <p:sp>
        <p:nvSpPr>
          <p:cNvPr id="17" name="text-283.5-135">
            <a:extLst>
              <a:ext uri="{FF2B5EF4-FFF2-40B4-BE49-F238E27FC236}">
                <a16:creationId xmlns:a16="http://schemas.microsoft.com/office/drawing/2014/main" id="{249E80D3-F0A5-49E0-9BCE-F114D74D6B84}"/>
              </a:ext>
            </a:extLst>
          </p:cNvPr>
          <p:cNvSpPr>
            <a:spLocks noGrp="1"/>
          </p:cNvSpPr>
          <p:nvPr/>
        </p:nvSpPr>
        <p:spPr>
          <a:xfrm>
            <a:off x="1285875" y="288179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if (start[i]&gt;=last) {</a:t>
            </a:r>
          </a:p>
        </p:txBody>
      </p:sp>
      <p:sp>
        <p:nvSpPr>
          <p:cNvPr id="18" name="text-304-81">
            <a:extLst>
              <a:ext uri="{FF2B5EF4-FFF2-40B4-BE49-F238E27FC236}">
                <a16:creationId xmlns:a16="http://schemas.microsoft.com/office/drawing/2014/main" id="{3128E0C2-31CD-4846-A2DC-071D2F2FECAF}"/>
              </a:ext>
            </a:extLst>
          </p:cNvPr>
          <p:cNvSpPr>
            <a:spLocks noGrp="1"/>
          </p:cNvSpPr>
          <p:nvPr/>
        </p:nvSpPr>
        <p:spPr>
          <a:xfrm>
            <a:off x="771525" y="3135630"/>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05</a:t>
            </a:r>
          </a:p>
        </p:txBody>
      </p:sp>
      <p:sp>
        <p:nvSpPr>
          <p:cNvPr id="19" name="text-304-135">
            <a:extLst>
              <a:ext uri="{FF2B5EF4-FFF2-40B4-BE49-F238E27FC236}">
                <a16:creationId xmlns:a16="http://schemas.microsoft.com/office/drawing/2014/main" id="{9D19CF57-EAA7-41D3-A2F3-EEEB630166B5}"/>
              </a:ext>
            </a:extLst>
          </p:cNvPr>
          <p:cNvSpPr>
            <a:spLocks noGrp="1"/>
          </p:cNvSpPr>
          <p:nvPr/>
        </p:nvSpPr>
        <p:spPr>
          <a:xfrm>
            <a:off x="1285875" y="3135630"/>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++count;</a:t>
            </a:r>
          </a:p>
        </p:txBody>
      </p:sp>
      <p:sp>
        <p:nvSpPr>
          <p:cNvPr id="20" name="text-324.5-81">
            <a:extLst>
              <a:ext uri="{FF2B5EF4-FFF2-40B4-BE49-F238E27FC236}">
                <a16:creationId xmlns:a16="http://schemas.microsoft.com/office/drawing/2014/main" id="{258AA08F-5D67-41B9-B4DB-3EC6C93C192A}"/>
              </a:ext>
            </a:extLst>
          </p:cNvPr>
          <p:cNvSpPr>
            <a:spLocks noGrp="1"/>
          </p:cNvSpPr>
          <p:nvPr/>
        </p:nvSpPr>
        <p:spPr>
          <a:xfrm>
            <a:off x="771525" y="3389472"/>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06</a:t>
            </a:r>
          </a:p>
        </p:txBody>
      </p:sp>
      <p:sp>
        <p:nvSpPr>
          <p:cNvPr id="21" name="text-324.5-135">
            <a:extLst>
              <a:ext uri="{FF2B5EF4-FFF2-40B4-BE49-F238E27FC236}">
                <a16:creationId xmlns:a16="http://schemas.microsoft.com/office/drawing/2014/main" id="{7EA28D2A-7573-4086-B1C5-8E0B72EBAFA1}"/>
              </a:ext>
            </a:extLst>
          </p:cNvPr>
          <p:cNvSpPr>
            <a:spLocks noGrp="1"/>
          </p:cNvSpPr>
          <p:nvPr/>
        </p:nvSpPr>
        <p:spPr>
          <a:xfrm>
            <a:off x="1285875" y="3389472"/>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last=end[i];</a:t>
            </a:r>
          </a:p>
        </p:txBody>
      </p:sp>
      <p:sp>
        <p:nvSpPr>
          <p:cNvPr id="22" name="text-345-81">
            <a:extLst>
              <a:ext uri="{FF2B5EF4-FFF2-40B4-BE49-F238E27FC236}">
                <a16:creationId xmlns:a16="http://schemas.microsoft.com/office/drawing/2014/main" id="{25F64AEC-89CB-42B4-9B0E-12D1EF918F8D}"/>
              </a:ext>
            </a:extLst>
          </p:cNvPr>
          <p:cNvSpPr>
            <a:spLocks noGrp="1"/>
          </p:cNvSpPr>
          <p:nvPr/>
        </p:nvSpPr>
        <p:spPr>
          <a:xfrm>
            <a:off x="771525" y="3643313"/>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07</a:t>
            </a:r>
          </a:p>
        </p:txBody>
      </p:sp>
      <p:sp>
        <p:nvSpPr>
          <p:cNvPr id="23" name="text-345-135">
            <a:extLst>
              <a:ext uri="{FF2B5EF4-FFF2-40B4-BE49-F238E27FC236}">
                <a16:creationId xmlns:a16="http://schemas.microsoft.com/office/drawing/2014/main" id="{86702648-AF7F-46B2-835F-D644531900D0}"/>
              </a:ext>
            </a:extLst>
          </p:cNvPr>
          <p:cNvSpPr>
            <a:spLocks noGrp="1"/>
          </p:cNvSpPr>
          <p:nvPr/>
        </p:nvSpPr>
        <p:spPr>
          <a:xfrm>
            <a:off x="1285875" y="3643313"/>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a:t>
            </a:r>
          </a:p>
        </p:txBody>
      </p:sp>
      <p:sp>
        <p:nvSpPr>
          <p:cNvPr id="24" name="text-365.5-81">
            <a:extLst>
              <a:ext uri="{FF2B5EF4-FFF2-40B4-BE49-F238E27FC236}">
                <a16:creationId xmlns:a16="http://schemas.microsoft.com/office/drawing/2014/main" id="{52935350-4BA2-418D-8932-DF35A022A4F7}"/>
              </a:ext>
            </a:extLst>
          </p:cNvPr>
          <p:cNvSpPr>
            <a:spLocks noGrp="1"/>
          </p:cNvSpPr>
          <p:nvPr/>
        </p:nvSpPr>
        <p:spPr>
          <a:xfrm>
            <a:off x="771525" y="3897154"/>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08</a:t>
            </a:r>
          </a:p>
        </p:txBody>
      </p:sp>
      <p:sp>
        <p:nvSpPr>
          <p:cNvPr id="25" name="text-365.5-135">
            <a:extLst>
              <a:ext uri="{FF2B5EF4-FFF2-40B4-BE49-F238E27FC236}">
                <a16:creationId xmlns:a16="http://schemas.microsoft.com/office/drawing/2014/main" id="{3CA19AEB-1FEC-446F-B363-9B0906962B12}"/>
              </a:ext>
            </a:extLst>
          </p:cNvPr>
          <p:cNvSpPr>
            <a:spLocks noGrp="1"/>
          </p:cNvSpPr>
          <p:nvPr/>
        </p:nvSpPr>
        <p:spPr>
          <a:xfrm>
            <a:off x="1285875" y="3897154"/>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a:t>
            </a:r>
          </a:p>
        </p:txBody>
      </p:sp>
      <p:sp>
        <p:nvSpPr>
          <p:cNvPr id="26" name="text-386-81">
            <a:extLst>
              <a:ext uri="{FF2B5EF4-FFF2-40B4-BE49-F238E27FC236}">
                <a16:creationId xmlns:a16="http://schemas.microsoft.com/office/drawing/2014/main" id="{9CEDCB01-F5E2-4591-8AA5-D52114E7ED87}"/>
              </a:ext>
            </a:extLst>
          </p:cNvPr>
          <p:cNvSpPr>
            <a:spLocks noGrp="1"/>
          </p:cNvSpPr>
          <p:nvPr/>
        </p:nvSpPr>
        <p:spPr>
          <a:xfrm>
            <a:off x="771525" y="4150995"/>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09</a:t>
            </a:r>
          </a:p>
        </p:txBody>
      </p:sp>
      <p:sp>
        <p:nvSpPr>
          <p:cNvPr id="27" name="text-386-135">
            <a:extLst>
              <a:ext uri="{FF2B5EF4-FFF2-40B4-BE49-F238E27FC236}">
                <a16:creationId xmlns:a16="http://schemas.microsoft.com/office/drawing/2014/main" id="{5CFE5407-AD60-4AE0-B6D4-BDD0D64D067D}"/>
              </a:ext>
            </a:extLst>
          </p:cNvPr>
          <p:cNvSpPr>
            <a:spLocks noGrp="1"/>
          </p:cNvSpPr>
          <p:nvPr/>
        </p:nvSpPr>
        <p:spPr>
          <a:xfrm>
            <a:off x="1285875" y="4150995"/>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    return count;</a:t>
            </a:r>
          </a:p>
        </p:txBody>
      </p:sp>
      <p:sp>
        <p:nvSpPr>
          <p:cNvPr id="28" name="text-406.5-81">
            <a:extLst>
              <a:ext uri="{FF2B5EF4-FFF2-40B4-BE49-F238E27FC236}">
                <a16:creationId xmlns:a16="http://schemas.microsoft.com/office/drawing/2014/main" id="{CC15608B-D1E3-402D-A02E-42EDB5F6BE26}"/>
              </a:ext>
            </a:extLst>
          </p:cNvPr>
          <p:cNvSpPr>
            <a:spLocks noGrp="1"/>
          </p:cNvSpPr>
          <p:nvPr/>
        </p:nvSpPr>
        <p:spPr>
          <a:xfrm>
            <a:off x="771525" y="4404837"/>
            <a:ext cx="361950" cy="238125"/>
          </a:xfrm>
          <a:prstGeom prst="rect">
            <a:avLst/>
          </a:prstGeom>
          <a:noFill/>
          <a:ln w="0">
            <a:noFill/>
          </a:ln>
        </p:spPr>
        <p:txBody>
          <a:bodyPr wrap="none" lIns="0" tIns="0" rIns="0" bIns="0" anchor="t">
            <a:noAutofit/>
          </a:bodyPr>
          <a:lstStyle/>
          <a:p>
            <a:pPr algn="l">
              <a:lnSpc>
                <a:spcPct val="108000"/>
              </a:lnSpc>
              <a:buNone/>
              <a:defRPr sz="1200" b="0" i="0">
                <a:solidFill>
                  <a:srgbClr val="8D8D8D"/>
                </a:solidFill>
                <a:latin typeface="Consolas"/>
                <a:ea typeface="Consolas"/>
                <a:cs typeface="Consolas"/>
              </a:defRPr>
            </a:pPr>
            <a:r>
              <a:rPr sz="1200" b="0" i="0">
                <a:solidFill>
                  <a:srgbClr val="8D8D8D"/>
                </a:solidFill>
                <a:latin typeface="Consolas"/>
                <a:ea typeface="Consolas"/>
                <a:cs typeface="Consolas"/>
              </a:rPr>
              <a:t>10</a:t>
            </a:r>
          </a:p>
        </p:txBody>
      </p:sp>
      <p:sp>
        <p:nvSpPr>
          <p:cNvPr id="29" name="text-406.5-135">
            <a:extLst>
              <a:ext uri="{FF2B5EF4-FFF2-40B4-BE49-F238E27FC236}">
                <a16:creationId xmlns:a16="http://schemas.microsoft.com/office/drawing/2014/main" id="{AE26947E-8F4E-437D-99BC-819F00F08192}"/>
              </a:ext>
            </a:extLst>
          </p:cNvPr>
          <p:cNvSpPr>
            <a:spLocks noGrp="1"/>
          </p:cNvSpPr>
          <p:nvPr/>
        </p:nvSpPr>
        <p:spPr>
          <a:xfrm>
            <a:off x="1285875" y="4404837"/>
            <a:ext cx="10115550" cy="247650"/>
          </a:xfrm>
          <a:prstGeom prst="rect">
            <a:avLst/>
          </a:prstGeom>
          <a:noFill/>
          <a:ln w="0">
            <a:noFill/>
          </a:ln>
        </p:spPr>
        <p:txBody>
          <a:bodyPr wrap="none" lIns="0" tIns="0" rIns="0" bIns="0" anchor="t">
            <a:noAutofit/>
          </a:bodyPr>
          <a:lstStyle/>
          <a:p>
            <a:pPr algn="l">
              <a:lnSpc>
                <a:spcPct val="108000"/>
              </a:lnSpc>
              <a:buNone/>
              <a:defRPr sz="1575" b="0" i="0">
                <a:solidFill>
                  <a:srgbClr val="FFFFFF"/>
                </a:solidFill>
                <a:latin typeface="Consolas"/>
                <a:ea typeface="Consolas"/>
                <a:cs typeface="Consolas"/>
              </a:defRPr>
            </a:pPr>
            <a:r>
              <a:rPr sz="1575" b="0" i="0">
                <a:solidFill>
                  <a:srgbClr val="FFFFFF"/>
                </a:solidFill>
                <a:latin typeface="Consolas"/>
                <a:ea typeface="Consolas"/>
                <a:cs typeface="Consolas"/>
              </a:rPr>
              <a:t>}</a:t>
            </a:r>
          </a:p>
        </p:txBody>
      </p:sp>
      <p:sp>
        <p:nvSpPr>
          <p:cNvPr id="30" name="text-635-64">
            <a:extLst>
              <a:ext uri="{FF2B5EF4-FFF2-40B4-BE49-F238E27FC236}">
                <a16:creationId xmlns:a16="http://schemas.microsoft.com/office/drawing/2014/main" id="{6E4AC7F1-603D-406B-878D-538F7EB68027}"/>
              </a:ext>
            </a:extLst>
          </p:cNvPr>
          <p:cNvSpPr>
            <a:spLocks noGrp="1"/>
          </p:cNvSpPr>
          <p:nvPr/>
        </p:nvSpPr>
        <p:spPr>
          <a:xfrm>
            <a:off x="609600" y="6048375"/>
            <a:ext cx="10972800" cy="213360"/>
          </a:xfrm>
          <a:prstGeom prst="rect">
            <a:avLst/>
          </a:prstGeom>
          <a:noFill/>
          <a:ln w="0">
            <a:noFill/>
          </a:ln>
        </p:spPr>
        <p:txBody>
          <a:bodyPr wrap="none" lIns="0" tIns="0" rIns="0" bIns="0" anchor="t">
            <a:noAutofit/>
          </a:bodyPr>
          <a:lstStyle/>
          <a:p>
            <a:pPr algn="l">
              <a:lnSpc>
                <a:spcPct val="108000"/>
              </a:lnSpc>
              <a:buNone/>
              <a:defRPr sz="1200" b="0" i="0">
                <a:solidFill>
                  <a:srgbClr val="606060"/>
                </a:solidFill>
                <a:latin typeface="Malgun Gothic"/>
                <a:ea typeface="Malgun Gothic"/>
                <a:cs typeface="Malgun Gothic"/>
              </a:defRPr>
            </a:pPr>
            <a:r>
              <a:rPr sz="1200" b="0" i="0">
                <a:solidFill>
                  <a:srgbClr val="606060"/>
                </a:solidFill>
                <a:latin typeface="Malgun Gothic"/>
                <a:ea typeface="Malgun Gothic"/>
                <a:cs typeface="Malgun Gothic"/>
              </a:rPr>
              <a:t>정렬된 입력에서 시간 O(n). 정렬까지 하면 O(n log n).</a:t>
            </a:r>
          </a:p>
        </p:txBody>
      </p:sp>
    </p:spTree>
    <p:extLst>
      <p:ext uri="{BB962C8B-B14F-4D97-AF65-F5344CB8AC3E}">
        <p14:creationId xmlns:p14="http://schemas.microsoft.com/office/powerpoint/2010/main" val="1094734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배낭 문제: 용량 안에서 가치를 최대로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35</a:t>
            </a:r>
            <a:endParaRPr lang="ko-KR" altLang="en-US" sz="1050" b="0" dirty="0">
              <a:solidFill>
                <a:srgbClr val="606060"/>
              </a:solidFill>
              <a:latin typeface="Malgun Gothic"/>
              <a:ea typeface="Malgun Gothic"/>
              <a:cs typeface="Malgun Gothic"/>
            </a:endParaRPr>
          </a:p>
        </p:txBody>
      </p:sp>
      <p:sp>
        <p:nvSpPr>
          <p:cNvPr id="9" name="fit:862437d58731c9b9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배낭에 넣을 물건 A·B·C가 각각 1개씩 있습니다. 총무게가 용량을 넘지 않게 골라,</a:t>
            </a:r>
          </a:p>
          <a:p>
            <a:pPr algn="l" eaLnBrk="0" latinLnBrk="0">
              <a:lnSpc>
                <a:spcPct val="105000"/>
              </a:lnSpc>
              <a:buNone/>
            </a:pPr>
            <a:r>
              <a:rPr lang="ko-KR" altLang="en-US" sz="2025" b="0" dirty="0">
                <a:solidFill>
                  <a:srgbClr val="171717"/>
                </a:solidFill>
                <a:latin typeface="Malgun Gothic"/>
                <a:ea typeface="Malgun Gothic"/>
                <a:cs typeface="Malgun Gothic"/>
              </a:rPr>
              <a:t>담은 물건의 가치 합을 가장 크게 만드는 문제입니다.</a:t>
            </a:r>
          </a:p>
        </p:txBody>
      </p:sp>
      <p:graphicFrame>
        <p:nvGraphicFramePr>
          <p:cNvPr id="10" name="표 11"/>
          <p:cNvGraphicFramePr>
            <a:graphicFrameLocks noGrp="1"/>
          </p:cNvGraphicFramePr>
          <p:nvPr>
            <p:extLst>
              <p:ext uri="{D42A27DB-BD31-4B8C-83A1-F6EECF244321}">
                <p14:modId xmlns:p14="http://schemas.microsoft.com/office/powerpoint/2010/main" val="4235198019"/>
              </p:ext>
            </p:extLst>
          </p:nvPr>
        </p:nvGraphicFramePr>
        <p:xfrm>
          <a:off x="612648" y="2432304"/>
          <a:ext cx="10972800" cy="146304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물건</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650" b="1" dirty="0">
                          <a:solidFill>
                            <a:srgbClr val="FFFFFF"/>
                          </a:solidFill>
                          <a:latin typeface="Malgun Gothic"/>
                          <a:ea typeface="Malgun Gothic"/>
                          <a:cs typeface="Malgun Gothic"/>
                        </a:rPr>
                        <a:t>가치</a:t>
                      </a:r>
                    </a:p>
                  </a:txBody>
                  <a:tcPr marL="54864" marR="54864" marT="18288" marB="18288" anchor="ctr">
                    <a:solidFill>
                      <a:srgbClr val="151515"/>
                    </a:solidFill>
                  </a:tcPr>
                </a:tc>
                <a:extLst>
                  <a:ext uri="{0D108BD9-81ED-4DB2-BD59-A6C34878D82A}">
                    <a16:rowId xmlns:a16="http://schemas.microsoft.com/office/drawing/2014/main" val="10000"/>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14,000 G</a:t>
                      </a:r>
                    </a:p>
                  </a:txBody>
                  <a:tcPr marL="54864" marR="54864" marT="18288" marB="18288" anchor="ctr">
                    <a:solidFill>
                      <a:srgbClr val="FFFFFF"/>
                    </a:solidFill>
                  </a:tcPr>
                </a:tc>
                <a:extLst>
                  <a:ext uri="{0D108BD9-81ED-4DB2-BD59-A6C34878D82A}">
                    <a16:rowId xmlns:a16="http://schemas.microsoft.com/office/drawing/2014/main" val="10001"/>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9,000 G</a:t>
                      </a:r>
                    </a:p>
                  </a:txBody>
                  <a:tcPr marL="54864" marR="54864" marT="18288" marB="18288" anchor="ctr">
                    <a:solidFill>
                      <a:srgbClr val="FFFFFF"/>
                    </a:solidFill>
                  </a:tcPr>
                </a:tc>
                <a:extLst>
                  <a:ext uri="{0D108BD9-81ED-4DB2-BD59-A6C34878D82A}">
                    <a16:rowId xmlns:a16="http://schemas.microsoft.com/office/drawing/2014/main" val="10002"/>
                  </a:ext>
                </a:extLst>
              </a:tr>
              <a:tr h="365760">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650" b="0" dirty="0">
                          <a:solidFill>
                            <a:srgbClr val="151515"/>
                          </a:solidFill>
                          <a:latin typeface="Malgun Gothic"/>
                          <a:ea typeface="Malgun Gothic"/>
                          <a:cs typeface="Malgun Gothic"/>
                        </a:rPr>
                        <a:t>9,000 G</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1" name="fit:450fd5583941906e 12"/>
          <p:cNvSpPr/>
          <p:nvPr/>
        </p:nvSpPr>
        <p:spPr>
          <a:xfrm>
            <a:off x="612648" y="4041648"/>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배낭 용량은 </a:t>
            </a:r>
            <a:r>
              <a:rPr lang="ko-KR" altLang="en-US" sz="1800" b="1" dirty="0">
                <a:solidFill>
                  <a:srgbClr val="171717"/>
                </a:solidFill>
                <a:latin typeface="Malgun Gothic"/>
                <a:ea typeface="Malgun Gothic"/>
                <a:cs typeface="Malgun Gothic"/>
              </a:rPr>
              <a:t>30kg</a:t>
            </a:r>
            <a:r>
              <a:rPr lang="ko-KR" altLang="en-US" sz="1800" b="0" dirty="0">
                <a:solidFill>
                  <a:srgbClr val="171717"/>
                </a:solidFill>
                <a:latin typeface="Malgun Gothic"/>
                <a:ea typeface="Malgun Gothic"/>
                <a:cs typeface="Malgun Gothic"/>
              </a:rPr>
              <a:t>입니다. G(골드)는 가치의 단위입니다.</a:t>
            </a:r>
          </a:p>
        </p:txBody>
      </p:sp>
      <p:sp>
        <p:nvSpPr>
          <p:cNvPr id="12" name="fit:a33c8ab66029f3d0 13"/>
          <p:cNvSpPr/>
          <p:nvPr/>
        </p:nvSpPr>
        <p:spPr>
          <a:xfrm>
            <a:off x="612648" y="448056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분할 배낭: 물건의 일부만 덜어 담을 수 있음</a:t>
            </a:r>
          </a:p>
        </p:txBody>
      </p:sp>
      <p:sp>
        <p:nvSpPr>
          <p:cNvPr id="13" name="fit:9547d137e73e1312 14"/>
          <p:cNvSpPr/>
          <p:nvPr/>
        </p:nvSpPr>
        <p:spPr>
          <a:xfrm>
            <a:off x="795528" y="480974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예: 15kg 물건에서 10kg만 담으면, 가치도 전체의 10/15만 얻습니다.</a:t>
            </a:r>
          </a:p>
        </p:txBody>
      </p:sp>
      <p:sp>
        <p:nvSpPr>
          <p:cNvPr id="14" name="fit:d1fad72c8dd62eb6 15"/>
          <p:cNvSpPr/>
          <p:nvPr/>
        </p:nvSpPr>
        <p:spPr>
          <a:xfrm>
            <a:off x="612648" y="519379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0/1 배낭: 안 넣기(0) 또는 통째로 넣기(1)</a:t>
            </a:r>
          </a:p>
        </p:txBody>
      </p:sp>
      <p:sp>
        <p:nvSpPr>
          <p:cNvPr id="15" name="fit:c60bf719cb2d90ac 16"/>
          <p:cNvSpPr/>
          <p:nvPr/>
        </p:nvSpPr>
        <p:spPr>
          <a:xfrm>
            <a:off x="795528" y="552297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예: 30kg 조각상은 반으로 자르거나 20kg만 담을 수 없습니다.</a:t>
            </a:r>
          </a:p>
        </p:txBody>
      </p:sp>
      <p:sp>
        <p:nvSpPr>
          <p:cNvPr id="16" name="fit:05795517b7c9e444 17"/>
          <p:cNvSpPr/>
          <p:nvPr/>
        </p:nvSpPr>
        <p:spPr>
          <a:xfrm>
            <a:off x="612648" y="590702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a:solidFill>
                  <a:srgbClr val="3F3F3F"/>
                </a:solidFill>
                <a:latin typeface="Malgun Gothic"/>
                <a:ea typeface="Malgun Gothic"/>
                <a:cs typeface="Malgun Gothic"/>
              </a:rPr>
              <a:t>먼저 분할 배낭(30kg)을 계산하고, 뒤에서 0/1 배낭(50kg)과 비교합니다.</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무게당 가치(가성비) 순으로 정렬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36</a:t>
            </a:r>
            <a:endParaRPr lang="ko-KR" altLang="en-US" sz="1050" b="0" dirty="0">
              <a:solidFill>
                <a:srgbClr val="606060"/>
              </a:solidFill>
              <a:latin typeface="Malgun Gothic"/>
              <a:ea typeface="Malgun Gothic"/>
              <a:cs typeface="Malgun Gothic"/>
            </a:endParaRPr>
          </a:p>
        </p:txBody>
      </p:sp>
      <p:sp>
        <p:nvSpPr>
          <p:cNvPr id="9" name="fit:2cf17bfdeb73cd6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1kg에 얼마인지, 즉 무게당 가치를 구해</a:t>
            </a:r>
          </a:p>
          <a:p>
            <a:pPr algn="l" eaLnBrk="0" latinLnBrk="0">
              <a:lnSpc>
                <a:spcPct val="100000"/>
              </a:lnSpc>
              <a:buNone/>
            </a:pPr>
            <a:r>
              <a:rPr lang="ko-KR" altLang="en-US" sz="2025" b="0" dirty="0">
                <a:solidFill>
                  <a:srgbClr val="171717"/>
                </a:solidFill>
                <a:latin typeface="Malgun Gothic"/>
                <a:ea typeface="Malgun Gothic"/>
                <a:cs typeface="Malgun Gothic"/>
              </a:rPr>
              <a:t>높은 순서로 세웁니다. 코드에서는 ratio라고 부릅니다.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62fba806253ece12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무게당 가치 = 가치 ÷ 무게</a:t>
            </a:r>
          </a:p>
        </p:txBody>
      </p:sp>
      <p:sp>
        <p:nvSpPr>
          <p:cNvPr id="12" name="fit:2f2c5603d15b9106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 14,000 ÷ 20 = 700</a:t>
            </a:r>
          </a:p>
        </p:txBody>
      </p:sp>
      <p:sp>
        <p:nvSpPr>
          <p:cNvPr id="13" name="fit:0be6f459dd803282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B: 9,000 ÷ 15 = 600</a:t>
            </a:r>
          </a:p>
        </p:txBody>
      </p:sp>
      <p:sp>
        <p:nvSpPr>
          <p:cNvPr id="14" name="fit:37cd234b136c2203 15"/>
          <p:cNvSpPr/>
          <p:nvPr/>
        </p:nvSpPr>
        <p:spPr>
          <a:xfrm>
            <a:off x="7909560" y="39502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C: 9,000 ÷ 15 = 600</a:t>
            </a:r>
          </a:p>
        </p:txBody>
      </p:sp>
      <p:sp>
        <p:nvSpPr>
          <p:cNvPr id="15" name="fit:32c01cf4315438bd 16"/>
          <p:cNvSpPr/>
          <p:nvPr/>
        </p:nvSpPr>
        <p:spPr>
          <a:xfrm>
            <a:off x="7909560" y="4343400"/>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순서: A → B → C</a:t>
            </a:r>
          </a:p>
        </p:txBody>
      </p:sp>
      <p:sp>
        <p:nvSpPr>
          <p:cNvPr id="16" name="fit:9768b63315f77b34 17"/>
          <p:cNvSpPr/>
          <p:nvPr/>
        </p:nvSpPr>
        <p:spPr>
          <a:xfrm>
            <a:off x="7909560" y="4800600"/>
            <a:ext cx="3666744" cy="448056"/>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B와 C는 같으므로</a:t>
            </a:r>
          </a:p>
          <a:p>
            <a:pPr algn="l" eaLnBrk="0" latinLnBrk="0">
              <a:lnSpc>
                <a:spcPct val="100000"/>
              </a:lnSpc>
              <a:buNone/>
            </a:pPr>
            <a:r>
              <a:rPr lang="ko-KR" altLang="en-US" sz="1350" b="0" dirty="0">
                <a:solidFill>
                  <a:srgbClr val="3F3F3F"/>
                </a:solidFill>
                <a:latin typeface="Malgun Gothic"/>
                <a:ea typeface="Malgun Gothic"/>
                <a:cs typeface="Malgun Gothic"/>
              </a:rPr>
              <a:t>입력 순서대로 B를 먼저 봅니다.</a:t>
            </a:r>
          </a:p>
        </p:txBody>
      </p:sp>
      <p:sp>
        <p:nvSpPr>
          <p:cNvPr id="17" name="직사각형 18"/>
          <p:cNvSpPr/>
          <p:nvPr/>
        </p:nvSpPr>
        <p:spPr>
          <a:xfrm>
            <a:off x="612648" y="4754880"/>
            <a:ext cx="6583680" cy="512064"/>
          </a:xfrm>
          <a:prstGeom prst="rect">
            <a:avLst/>
          </a:prstGeom>
          <a:solidFill>
            <a:srgbClr val="F2F2F2"/>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0" dirty="0">
                <a:solidFill>
                  <a:srgbClr val="606060"/>
                </a:solidFill>
                <a:latin typeface="Malgun Gothic"/>
                <a:ea typeface="Malgun Gothic"/>
                <a:cs typeface="Malgun Gothic"/>
              </a:rPr>
              <a:t>빈 공간 30kg</a:t>
            </a:r>
          </a:p>
        </p:txBody>
      </p:sp>
      <p:graphicFrame>
        <p:nvGraphicFramePr>
          <p:cNvPr id="18" name="표 19"/>
          <p:cNvGraphicFramePr>
            <a:graphicFrameLocks noGrp="1"/>
          </p:cNvGraphicFramePr>
          <p:nvPr>
            <p:extLst>
              <p:ext uri="{D42A27DB-BD31-4B8C-83A1-F6EECF244321}">
                <p14:modId xmlns:p14="http://schemas.microsoft.com/office/powerpoint/2010/main" val="1207371111"/>
              </p:ext>
            </p:extLst>
          </p:nvPr>
        </p:nvGraphicFramePr>
        <p:xfrm>
          <a:off x="612648" y="2651760"/>
          <a:ext cx="6583680" cy="1316736"/>
        </p:xfrm>
        <a:graphic>
          <a:graphicData uri="http://schemas.openxmlformats.org/drawingml/2006/table">
            <a:tbl>
              <a:tblPr/>
              <a:tblGrid>
                <a:gridCol w="752421">
                  <a:extLst>
                    <a:ext uri="{9D8B030D-6E8A-4147-A177-3AD203B41FA5}">
                      <a16:colId xmlns:a16="http://schemas.microsoft.com/office/drawing/2014/main" val="20000"/>
                    </a:ext>
                  </a:extLst>
                </a:gridCol>
                <a:gridCol w="940526">
                  <a:extLst>
                    <a:ext uri="{9D8B030D-6E8A-4147-A177-3AD203B41FA5}">
                      <a16:colId xmlns:a16="http://schemas.microsoft.com/office/drawing/2014/main" val="20001"/>
                    </a:ext>
                  </a:extLst>
                </a:gridCol>
                <a:gridCol w="1128631">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128631">
                  <a:extLst>
                    <a:ext uri="{9D8B030D-6E8A-4147-A177-3AD203B41FA5}">
                      <a16:colId xmlns:a16="http://schemas.microsoft.com/office/drawing/2014/main" val="20005"/>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700 G/kg</a:t>
                      </a:r>
                    </a:p>
                  </a:txBody>
                  <a:tcPr marL="54864" marR="54864" marT="18288" marB="18288" anchor="ctr">
                    <a:solidFill>
                      <a:srgbClr val="FFF1C2"/>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 G/kg</a:t>
                      </a:r>
                    </a:p>
                  </a:txBody>
                  <a:tcPr marL="54864" marR="54864" marT="18288" marB="18288" anchor="ctr">
                    <a:solidFill>
                      <a:srgbClr val="FFF1C2"/>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 G/kg</a:t>
                      </a:r>
                    </a:p>
                  </a:txBody>
                  <a:tcPr marL="54864" marR="54864" marT="18288" marB="18288" anchor="ctr">
                    <a:solidFill>
                      <a:srgbClr val="FFF1C2"/>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9" name="직사각형 20"/>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정렬 기준인 무게당 가치    회색 막대: 비어 있는 배낭</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en-US" altLang="ko-KR" sz="3000" b="1">
                <a:solidFill>
                  <a:srgbClr val="171717"/>
                </a:solidFill>
                <a:latin typeface="Malgun Gothic"/>
                <a:ea typeface="Malgun Gothic"/>
                <a:cs typeface="Malgun Gothic"/>
              </a:rPr>
              <a:t>A</a:t>
            </a:r>
            <a:r>
              <a:rPr lang="ko-KR" altLang="en-US" sz="3000" b="1">
                <a:solidFill>
                  <a:srgbClr val="171717"/>
                </a:solidFill>
                <a:latin typeface="Malgun Gothic"/>
                <a:ea typeface="Malgun Gothic"/>
                <a:cs typeface="Malgun Gothic"/>
              </a:rPr>
              <a:t>를 모두 담고</a:t>
            </a:r>
            <a:r>
              <a:rPr lang="en-US" altLang="ko-KR" sz="3000" b="1">
                <a:solidFill>
                  <a:srgbClr val="171717"/>
                </a:solidFill>
                <a:latin typeface="Malgun Gothic"/>
                <a:ea typeface="Malgun Gothic"/>
                <a:cs typeface="Malgun Gothic"/>
              </a:rPr>
              <a:t>, B</a:t>
            </a:r>
            <a:r>
              <a:rPr lang="ko-KR" altLang="en-US" sz="3000" b="1">
                <a:solidFill>
                  <a:srgbClr val="171717"/>
                </a:solidFill>
                <a:latin typeface="Malgun Gothic"/>
                <a:ea typeface="Malgun Gothic"/>
                <a:cs typeface="Malgun Gothic"/>
              </a:rPr>
              <a:t>는 남은 </a:t>
            </a:r>
            <a:r>
              <a:rPr lang="en-US" altLang="ko-KR" sz="3000" b="1">
                <a:solidFill>
                  <a:srgbClr val="171717"/>
                </a:solidFill>
                <a:latin typeface="Malgun Gothic"/>
                <a:ea typeface="Malgun Gothic"/>
                <a:cs typeface="Malgun Gothic"/>
              </a:rPr>
              <a:t>10kg</a:t>
            </a:r>
            <a:r>
              <a:rPr lang="ko-KR" altLang="en-US" sz="3000" b="1">
                <a:solidFill>
                  <a:srgbClr val="171717"/>
                </a:solidFill>
                <a:latin typeface="Malgun Gothic"/>
                <a:ea typeface="Malgun Gothic"/>
                <a:cs typeface="Malgun Gothic"/>
              </a:rPr>
              <a:t>만</a:t>
            </a:r>
            <a:endParaRPr lang="ko-KR" altLang="en-US" sz="3000" b="1" dirty="0">
              <a:solidFill>
                <a:srgbClr val="171717"/>
              </a:solidFill>
              <a:latin typeface="Malgun Gothic"/>
              <a:ea typeface="Malgun Gothic"/>
              <a:cs typeface="Malgun Gothic"/>
            </a:endParaRP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37</a:t>
            </a:r>
            <a:endParaRPr lang="ko-KR" altLang="en-US" sz="1050" b="0" dirty="0">
              <a:solidFill>
                <a:srgbClr val="606060"/>
              </a:solidFill>
              <a:latin typeface="Malgun Gothic"/>
              <a:ea typeface="Malgun Gothic"/>
              <a:cs typeface="Malgun Gothic"/>
            </a:endParaRPr>
          </a:p>
        </p:txBody>
      </p:sp>
      <p:sp>
        <p:nvSpPr>
          <p:cNvPr id="9" name="fit:f5129065688d76ed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B는 15kg인데 남은 용량은 10kg입니다.</a:t>
            </a:r>
          </a:p>
          <a:p>
            <a:pPr algn="l" eaLnBrk="0" latinLnBrk="0">
              <a:lnSpc>
                <a:spcPct val="100000"/>
              </a:lnSpc>
              <a:buNone/>
            </a:pPr>
            <a:r>
              <a:rPr lang="ko-KR" altLang="en-US" sz="2025" b="0" dirty="0">
                <a:solidFill>
                  <a:srgbClr val="171717"/>
                </a:solidFill>
                <a:latin typeface="Malgun Gothic"/>
                <a:ea typeface="Malgun Gothic"/>
                <a:cs typeface="Malgun Gothic"/>
              </a:rPr>
              <a:t>통째로는 들어가지 않으니 10kg만 덜어 담습니다.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1986514e9663df55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1" dirty="0">
                <a:solidFill>
                  <a:srgbClr val="171717"/>
                </a:solidFill>
                <a:latin typeface="Malgun Gothic"/>
                <a:ea typeface="Malgun Gothic"/>
                <a:cs typeface="Malgun Gothic"/>
              </a:rPr>
              <a:t>적정성 검사</a:t>
            </a:r>
            <a:r>
              <a:rPr lang="ko-KR" altLang="en-US" sz="1500" b="0" dirty="0">
                <a:solidFill>
                  <a:srgbClr val="171717"/>
                </a:solidFill>
                <a:latin typeface="Malgun Gothic"/>
                <a:ea typeface="Malgun Gothic"/>
                <a:cs typeface="Malgun Gothic"/>
              </a:rPr>
              <a:t>: 15kg &gt; 남은 10kg</a:t>
            </a:r>
          </a:p>
        </p:txBody>
      </p:sp>
      <p:sp>
        <p:nvSpPr>
          <p:cNvPr id="12" name="fit:e351b649f3bd1383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 10kg만 덜어 담습니다.</a:t>
            </a:r>
          </a:p>
        </p:txBody>
      </p:sp>
      <p:sp>
        <p:nvSpPr>
          <p:cNvPr id="13" name="fit:26b94a9b92c36315 14"/>
          <p:cNvSpPr/>
          <p:nvPr/>
        </p:nvSpPr>
        <p:spPr>
          <a:xfrm>
            <a:off x="7909560" y="37033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덜어 담는 비율</a:t>
            </a:r>
          </a:p>
        </p:txBody>
      </p:sp>
      <p:sp>
        <p:nvSpPr>
          <p:cNvPr id="14" name="fit:09c523416fbfc1bc 15"/>
          <p:cNvSpPr/>
          <p:nvPr/>
        </p:nvSpPr>
        <p:spPr>
          <a:xfrm>
            <a:off x="7909560" y="3986784"/>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10 ÷ 15 = 2/3</a:t>
            </a:r>
          </a:p>
        </p:txBody>
      </p:sp>
      <p:sp>
        <p:nvSpPr>
          <p:cNvPr id="15" name="fit:0a9aa311cef7cca1 16"/>
          <p:cNvSpPr/>
          <p:nvPr/>
        </p:nvSpPr>
        <p:spPr>
          <a:xfrm>
            <a:off x="7909560" y="446227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얻는 가치</a:t>
            </a:r>
          </a:p>
        </p:txBody>
      </p:sp>
      <p:sp>
        <p:nvSpPr>
          <p:cNvPr id="16" name="fit:23ff4650ee973db0 17"/>
          <p:cNvSpPr/>
          <p:nvPr/>
        </p:nvSpPr>
        <p:spPr>
          <a:xfrm>
            <a:off x="7909560" y="474573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9,000 × 2/3 = 6,000 G</a:t>
            </a:r>
          </a:p>
        </p:txBody>
      </p:sp>
      <p:sp>
        <p:nvSpPr>
          <p:cNvPr id="17" name="fit:af43d76779ca7aee 18"/>
          <p:cNvSpPr/>
          <p:nvPr/>
        </p:nvSpPr>
        <p:spPr>
          <a:xfrm>
            <a:off x="7909560" y="5129784"/>
            <a:ext cx="3666744" cy="24688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 10kg × 600 G/kg</a:t>
            </a:r>
          </a:p>
        </p:txBody>
      </p:sp>
      <p:sp>
        <p:nvSpPr>
          <p:cNvPr id="18" name="직사각형 19"/>
          <p:cNvSpPr/>
          <p:nvPr/>
        </p:nvSpPr>
        <p:spPr>
          <a:xfrm>
            <a:off x="612648" y="4754880"/>
            <a:ext cx="4389120"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20kg</a:t>
            </a:r>
          </a:p>
        </p:txBody>
      </p:sp>
      <p:sp>
        <p:nvSpPr>
          <p:cNvPr id="19" name="직사각형 20"/>
          <p:cNvSpPr/>
          <p:nvPr/>
        </p:nvSpPr>
        <p:spPr>
          <a:xfrm>
            <a:off x="5001768" y="4754880"/>
            <a:ext cx="2194560"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10kg</a:t>
            </a:r>
          </a:p>
        </p:txBody>
      </p:sp>
      <p:graphicFrame>
        <p:nvGraphicFramePr>
          <p:cNvPr id="20" name="표 21"/>
          <p:cNvGraphicFramePr>
            <a:graphicFrameLocks noGrp="1"/>
          </p:cNvGraphicFramePr>
          <p:nvPr>
            <p:extLst>
              <p:ext uri="{D42A27DB-BD31-4B8C-83A1-F6EECF244321}">
                <p14:modId xmlns:p14="http://schemas.microsoft.com/office/powerpoint/2010/main" val="2844628567"/>
              </p:ext>
            </p:extLst>
          </p:nvPr>
        </p:nvGraphicFramePr>
        <p:xfrm>
          <a:off x="612648" y="2651760"/>
          <a:ext cx="6583680" cy="1316736"/>
        </p:xfrm>
        <a:graphic>
          <a:graphicData uri="http://schemas.openxmlformats.org/drawingml/2006/table">
            <a:tbl>
              <a:tblPr/>
              <a:tblGrid>
                <a:gridCol w="752421">
                  <a:extLst>
                    <a:ext uri="{9D8B030D-6E8A-4147-A177-3AD203B41FA5}">
                      <a16:colId xmlns:a16="http://schemas.microsoft.com/office/drawing/2014/main" val="20000"/>
                    </a:ext>
                  </a:extLst>
                </a:gridCol>
                <a:gridCol w="940526">
                  <a:extLst>
                    <a:ext uri="{9D8B030D-6E8A-4147-A177-3AD203B41FA5}">
                      <a16:colId xmlns:a16="http://schemas.microsoft.com/office/drawing/2014/main" val="20001"/>
                    </a:ext>
                  </a:extLst>
                </a:gridCol>
                <a:gridCol w="1128631">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128631">
                  <a:extLst>
                    <a:ext uri="{9D8B030D-6E8A-4147-A177-3AD203B41FA5}">
                      <a16:colId xmlns:a16="http://schemas.microsoft.com/office/drawing/2014/main" val="20005"/>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14,000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700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20kg</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14,000 G</a:t>
                      </a:r>
                    </a:p>
                  </a:txBody>
                  <a:tcPr marL="54864" marR="54864" marT="18288" marB="18288" anchor="ctr">
                    <a:solidFill>
                      <a:srgbClr val="DCECFB"/>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10kg (2/3)</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6,000 G</a:t>
                      </a:r>
                    </a:p>
                  </a:txBody>
                  <a:tcPr marL="54864" marR="54864" marT="18288" marB="18288" anchor="ctr">
                    <a:solidFill>
                      <a:srgbClr val="DDF1E4"/>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15kg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9,000 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600 G/kg</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21" name="직사각형 22"/>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30kg)</a:t>
            </a:r>
          </a:p>
        </p:txBody>
      </p:sp>
      <p:sp>
        <p:nvSpPr>
          <p:cNvPr id="22" name="직사각형 23"/>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의사코드: 무게당 가치 순으로 채우기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38</a:t>
            </a:r>
            <a:endParaRPr lang="ko-KR" altLang="en-US" sz="1050" b="0" dirty="0">
              <a:solidFill>
                <a:srgbClr val="606060"/>
              </a:solidFill>
              <a:latin typeface="Malgun Gothic"/>
              <a:ea typeface="Malgun Gothic"/>
              <a:cs typeface="Malgun Gothic"/>
            </a:endParaRP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fractional_knapsack.pseudo</a:t>
            </a:r>
          </a:p>
        </p:txBody>
      </p:sp>
      <p:sp>
        <p:nvSpPr>
          <p:cNvPr id="10" name="직사각형 11"/>
          <p:cNvSpPr/>
          <p:nvPr/>
        </p:nvSpPr>
        <p:spPr>
          <a:xfrm>
            <a:off x="612648" y="1856232"/>
            <a:ext cx="10972800" cy="2798064"/>
          </a:xfrm>
          <a:prstGeom prst="rect">
            <a:avLst/>
          </a:prstGeom>
          <a:solidFill>
            <a:srgbClr val="171717"/>
          </a:solidFill>
          <a:ln w="0">
            <a:noFill/>
          </a:ln>
        </p:spPr>
        <p:txBody>
          <a:bodyPr wrap="none" lIns="91440" tIns="91440" rIns="91440" bIns="91440" anchor="t">
            <a:noAutofit/>
          </a:bodyPr>
          <a:lstStyle/>
          <a:p>
            <a:pPr algn="l" eaLnBrk="0" latinLnBrk="0">
              <a:lnSpc>
                <a:spcPct val="130000"/>
              </a:lnSpc>
              <a:buNone/>
            </a:pPr>
            <a:r>
              <a:rPr lang="en-US" altLang="ko-KR" sz="1300" b="0">
                <a:solidFill>
                  <a:srgbClr val="FFFFFF"/>
                </a:solidFill>
                <a:latin typeface="Consolas"/>
                <a:ea typeface="Consolas"/>
                <a:cs typeface="Consolas"/>
              </a:rPr>
              <a:t>FRACTIONAL_KNAPSACK(items, capacity):</a:t>
            </a:r>
          </a:p>
          <a:p>
            <a:pPr algn="l" eaLnBrk="0" latinLnBrk="0">
              <a:lnSpc>
                <a:spcPct val="130000"/>
              </a:lnSpc>
              <a:buNone/>
            </a:pPr>
            <a:r>
              <a:rPr lang="en-US" altLang="ko-KR" sz="1300" b="0">
                <a:solidFill>
                  <a:srgbClr val="FFFFFF"/>
                </a:solidFill>
                <a:latin typeface="Consolas"/>
                <a:ea typeface="Consolas"/>
                <a:cs typeface="Consolas"/>
              </a:rPr>
              <a:t>    items</a:t>
            </a:r>
            <a:r>
              <a:rPr lang="ko-KR" altLang="en-US" sz="1300" b="0">
                <a:solidFill>
                  <a:srgbClr val="FFFFFF"/>
                </a:solidFill>
                <a:latin typeface="Consolas"/>
                <a:ea typeface="Consolas"/>
                <a:cs typeface="Consolas"/>
              </a:rPr>
              <a:t>를 무게당 가치가 큰 순서로 정렬</a:t>
            </a:r>
          </a:p>
          <a:p>
            <a:pPr algn="l" eaLnBrk="0" latinLnBrk="0">
              <a:lnSpc>
                <a:spcPct val="130000"/>
              </a:lnSpc>
              <a:buNone/>
            </a:pPr>
            <a:r>
              <a:rPr lang="ko-KR" altLang="en-US" sz="1300" b="0">
                <a:solidFill>
                  <a:srgbClr val="FFFFFF"/>
                </a:solidFill>
                <a:latin typeface="Consolas"/>
                <a:ea typeface="Consolas"/>
                <a:cs typeface="Consolas"/>
              </a:rPr>
              <a:t>    </a:t>
            </a:r>
            <a:r>
              <a:rPr lang="en-US" altLang="ko-KR" sz="1300" b="0">
                <a:solidFill>
                  <a:srgbClr val="FFFFFF"/>
                </a:solidFill>
                <a:latin typeface="Consolas"/>
                <a:ea typeface="Consolas"/>
                <a:cs typeface="Consolas"/>
              </a:rPr>
              <a:t>total &lt;- 0</a:t>
            </a:r>
          </a:p>
          <a:p>
            <a:pPr algn="l" eaLnBrk="0" latinLnBrk="0">
              <a:lnSpc>
                <a:spcPct val="130000"/>
              </a:lnSpc>
              <a:buNone/>
            </a:pPr>
            <a:r>
              <a:rPr lang="en-US" altLang="ko-KR" sz="1300" b="0">
                <a:solidFill>
                  <a:srgbClr val="FFFFFF"/>
                </a:solidFill>
                <a:latin typeface="Consolas"/>
                <a:ea typeface="Consolas"/>
                <a:cs typeface="Consolas"/>
              </a:rPr>
              <a:t>    for item in items:</a:t>
            </a:r>
          </a:p>
          <a:p>
            <a:pPr algn="l" eaLnBrk="0" latinLnBrk="0">
              <a:lnSpc>
                <a:spcPct val="130000"/>
              </a:lnSpc>
              <a:buNone/>
            </a:pPr>
            <a:r>
              <a:rPr lang="en-US" altLang="ko-KR" sz="1300" b="0">
                <a:solidFill>
                  <a:srgbClr val="FFFFFF"/>
                </a:solidFill>
                <a:latin typeface="Consolas"/>
                <a:ea typeface="Consolas"/>
                <a:cs typeface="Consolas"/>
              </a:rPr>
              <a:t>        take &lt;- min(capacity, item.weight)</a:t>
            </a:r>
          </a:p>
          <a:p>
            <a:pPr algn="l" eaLnBrk="0" latinLnBrk="0">
              <a:lnSpc>
                <a:spcPct val="130000"/>
              </a:lnSpc>
              <a:buNone/>
            </a:pPr>
            <a:r>
              <a:rPr lang="en-US" altLang="ko-KR" sz="1300" b="0">
                <a:solidFill>
                  <a:srgbClr val="FFFFFF"/>
                </a:solidFill>
                <a:latin typeface="Consolas"/>
                <a:ea typeface="Consolas"/>
                <a:cs typeface="Consolas"/>
              </a:rPr>
              <a:t>        total &lt;- total + take * item.ratio</a:t>
            </a:r>
          </a:p>
          <a:p>
            <a:pPr algn="l" eaLnBrk="0" latinLnBrk="0">
              <a:lnSpc>
                <a:spcPct val="130000"/>
              </a:lnSpc>
              <a:buNone/>
            </a:pPr>
            <a:r>
              <a:rPr lang="en-US" altLang="ko-KR" sz="1300" b="0">
                <a:solidFill>
                  <a:srgbClr val="FFFFFF"/>
                </a:solidFill>
                <a:latin typeface="Consolas"/>
                <a:ea typeface="Consolas"/>
                <a:cs typeface="Consolas"/>
              </a:rPr>
              <a:t>        capacity &lt;- capacity - take</a:t>
            </a:r>
          </a:p>
          <a:p>
            <a:pPr algn="l" eaLnBrk="0" latinLnBrk="0">
              <a:lnSpc>
                <a:spcPct val="130000"/>
              </a:lnSpc>
              <a:buNone/>
            </a:pPr>
            <a:r>
              <a:rPr lang="en-US" altLang="ko-KR" sz="1300" b="0">
                <a:solidFill>
                  <a:srgbClr val="FFFFFF"/>
                </a:solidFill>
                <a:latin typeface="Consolas"/>
                <a:ea typeface="Consolas"/>
                <a:cs typeface="Consolas"/>
              </a:rPr>
              <a:t>        if capacity == 0: break</a:t>
            </a:r>
          </a:p>
          <a:p>
            <a:pPr algn="l" eaLnBrk="0" latinLnBrk="0">
              <a:lnSpc>
                <a:spcPct val="130000"/>
              </a:lnSpc>
              <a:buNone/>
            </a:pPr>
            <a:r>
              <a:rPr lang="en-US" altLang="ko-KR" sz="1300" b="0">
                <a:solidFill>
                  <a:srgbClr val="FFFFFF"/>
                </a:solidFill>
                <a:latin typeface="Consolas"/>
                <a:ea typeface="Consolas"/>
                <a:cs typeface="Consolas"/>
              </a:rPr>
              <a:t>    return total</a:t>
            </a:r>
            <a:endParaRPr lang="ko-KR" altLang="en-US" sz="1300" b="0" dirty="0">
              <a:solidFill>
                <a:srgbClr val="FFFFFF"/>
              </a:solidFill>
              <a:latin typeface="Consolas"/>
              <a:ea typeface="Consolas"/>
              <a:cs typeface="Consolas"/>
            </a:endParaRPr>
          </a:p>
        </p:txBody>
      </p:sp>
      <p:graphicFrame>
        <p:nvGraphicFramePr>
          <p:cNvPr id="11" name="표 12"/>
          <p:cNvGraphicFramePr>
            <a:graphicFrameLocks noGrp="1"/>
          </p:cNvGraphicFramePr>
          <p:nvPr>
            <p:extLst>
              <p:ext uri="{D42A27DB-BD31-4B8C-83A1-F6EECF244321}">
                <p14:modId xmlns:p14="http://schemas.microsoft.com/office/powerpoint/2010/main" val="1003700940"/>
              </p:ext>
            </p:extLst>
          </p:nvPr>
        </p:nvGraphicFramePr>
        <p:xfrm>
          <a:off x="612648" y="4782312"/>
          <a:ext cx="10972800" cy="1316736"/>
        </p:xfrm>
        <a:graphic>
          <a:graphicData uri="http://schemas.openxmlformats.org/drawingml/2006/table">
            <a:tbl>
              <a:tblPr/>
              <a:tblGrid>
                <a:gridCol w="2366682">
                  <a:extLst>
                    <a:ext uri="{9D8B030D-6E8A-4147-A177-3AD203B41FA5}">
                      <a16:colId xmlns:a16="http://schemas.microsoft.com/office/drawing/2014/main" val="20000"/>
                    </a:ext>
                  </a:extLst>
                </a:gridCol>
                <a:gridCol w="8606118">
                  <a:extLst>
                    <a:ext uri="{9D8B030D-6E8A-4147-A177-3AD203B41FA5}">
                      <a16:colId xmlns:a16="http://schemas.microsoft.com/office/drawing/2014/main" val="20001"/>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단계</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의사코드에서</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① 선택</a:t>
                      </a:r>
                    </a:p>
                  </a:txBody>
                  <a:tcPr marL="54864" marR="54864" marT="18288" marB="18288" anchor="ctr">
                    <a:solidFill>
                      <a:srgbClr val="FFFFFF"/>
                    </a:solidFill>
                  </a:tcPr>
                </a:tc>
                <a:tc>
                  <a:txBody>
                    <a:bodyPr/>
                    <a:lstStyle/>
                    <a:p>
                      <a:pPr algn="l" eaLnBrk="0" latinLnBrk="0">
                        <a:lnSpc>
                          <a:spcPct val="100000"/>
                        </a:lnSpc>
                        <a:buNone/>
                      </a:pPr>
                      <a:r>
                        <a:rPr lang="ko-KR" altLang="en-US" sz="1500" b="0" dirty="0">
                          <a:solidFill>
                            <a:srgbClr val="151515"/>
                          </a:solidFill>
                          <a:latin typeface="Malgun Gothic"/>
                          <a:ea typeface="Malgun Gothic"/>
                          <a:cs typeface="Malgun Gothic"/>
                        </a:rPr>
                        <a:t>정렬된 순서대로, 남은 보물 중 무게당 가치가 가장 높은 것을 봅니다.</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② 적정성 검사</a:t>
                      </a:r>
                    </a:p>
                  </a:txBody>
                  <a:tcPr marL="54864" marR="54864" marT="18288" marB="18288" anchor="ctr">
                    <a:solidFill>
                      <a:srgbClr val="FFFFFF"/>
                    </a:solidFill>
                  </a:tcPr>
                </a:tc>
                <a:tc>
                  <a:txBody>
                    <a:bodyPr/>
                    <a:lstStyle/>
                    <a:p>
                      <a:pPr algn="l" eaLnBrk="0" latinLnBrk="0">
                        <a:lnSpc>
                          <a:spcPct val="100000"/>
                        </a:lnSpc>
                        <a:buNone/>
                      </a:pPr>
                      <a:r>
                        <a:rPr lang="ko-KR" altLang="en-US" sz="1500" b="0" dirty="0">
                          <a:solidFill>
                            <a:srgbClr val="151515"/>
                          </a:solidFill>
                          <a:latin typeface="Malgun Gothic"/>
                          <a:ea typeface="Malgun Gothic"/>
                          <a:cs typeface="Malgun Gothic"/>
                        </a:rPr>
                        <a:t>남은 용량과 물건 무게 중 작은 값(take)만큼 담습니다.</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③ 해답 검사</a:t>
                      </a:r>
                    </a:p>
                  </a:txBody>
                  <a:tcPr marL="54864" marR="54864" marT="18288" marB="18288" anchor="ctr">
                    <a:solidFill>
                      <a:srgbClr val="FFFFFF"/>
                    </a:solidFill>
                  </a:tcPr>
                </a:tc>
                <a:tc>
                  <a:txBody>
                    <a:bodyPr/>
                    <a:lstStyle/>
                    <a:p>
                      <a:pPr algn="l" eaLnBrk="0" latinLnBrk="0">
                        <a:lnSpc>
                          <a:spcPct val="100000"/>
                        </a:lnSpc>
                        <a:buNone/>
                      </a:pPr>
                      <a:r>
                        <a:rPr lang="ko-KR" altLang="en-US" sz="1500" b="0" dirty="0">
                          <a:solidFill>
                            <a:srgbClr val="151515"/>
                          </a:solidFill>
                          <a:latin typeface="Malgun Gothic"/>
                          <a:ea typeface="Malgun Gothic"/>
                          <a:cs typeface="Malgun Gothic"/>
                        </a:rPr>
                        <a:t>남은 용량이 0이면 break. 아니면 다음 물건을 봅니다.</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용량 7 · A(6, 18) · B(4, 20)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39</a:t>
            </a:r>
            <a:endParaRPr lang="ko-KR" altLang="en-US" sz="1050" b="0" dirty="0">
              <a:solidFill>
                <a:srgbClr val="606060"/>
              </a:solidFill>
              <a:latin typeface="Malgun Gothic"/>
              <a:ea typeface="Malgun Gothic"/>
              <a:cs typeface="Malgun Gothic"/>
            </a:endParaRPr>
          </a:p>
        </p:txBody>
      </p:sp>
      <p:sp>
        <p:nvSpPr>
          <p:cNvPr id="9" name="fit:00aa4b59c3e02c94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쪼갤 수 있는 배낭, 보물은 (무게, 가치)입니다.</a:t>
            </a:r>
          </a:p>
          <a:p>
            <a:pPr algn="l" eaLnBrk="0" latinLnBrk="0">
              <a:lnSpc>
                <a:spcPct val="100000"/>
              </a:lnSpc>
              <a:buNone/>
            </a:pPr>
            <a:r>
              <a:rPr lang="ko-KR" altLang="en-US" sz="2025" b="0" dirty="0">
                <a:solidFill>
                  <a:srgbClr val="171717"/>
                </a:solidFill>
                <a:latin typeface="Malgun Gothic"/>
                <a:ea typeface="Malgun Gothic"/>
                <a:cs typeface="Malgun Gothic"/>
              </a:rPr>
              <a:t>무게당 가치 A 18 ÷ 6 = 3, B 20 ÷ 4 = 5 → B부터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e5c32f9fe9dcc513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① B: 4 ≤ 7 → 전부, 가치 20</a:t>
            </a:r>
          </a:p>
        </p:txBody>
      </p:sp>
      <p:sp>
        <p:nvSpPr>
          <p:cNvPr id="12" name="fit:050a0bc6ab6a2f49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② 남은 용량 7 − 4 = 3</a:t>
            </a:r>
          </a:p>
        </p:txBody>
      </p:sp>
      <p:sp>
        <p:nvSpPr>
          <p:cNvPr id="13" name="fit:ea1537625d358b28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③ A: 6 &gt; 3 → 3만 덜어 담기</a:t>
            </a:r>
          </a:p>
        </p:txBody>
      </p:sp>
      <p:sp>
        <p:nvSpPr>
          <p:cNvPr id="14" name="fit:62b496b736e01c6b 15"/>
          <p:cNvSpPr/>
          <p:nvPr/>
        </p:nvSpPr>
        <p:spPr>
          <a:xfrm>
            <a:off x="7909560" y="39502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3 ÷ 6 = 1/2 → 18 × 1/2 = 9</a:t>
            </a:r>
          </a:p>
        </p:txBody>
      </p:sp>
      <p:sp>
        <p:nvSpPr>
          <p:cNvPr id="15" name="fit:dabc1253d25728db 16"/>
          <p:cNvSpPr/>
          <p:nvPr/>
        </p:nvSpPr>
        <p:spPr>
          <a:xfrm>
            <a:off x="7909560" y="4379976"/>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합계 20 + 9 = 29</a:t>
            </a:r>
          </a:p>
        </p:txBody>
      </p:sp>
      <p:sp>
        <p:nvSpPr>
          <p:cNvPr id="16" name="직사각형 17"/>
          <p:cNvSpPr/>
          <p:nvPr/>
        </p:nvSpPr>
        <p:spPr>
          <a:xfrm>
            <a:off x="612648" y="4297680"/>
            <a:ext cx="3758184"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4</a:t>
            </a:r>
          </a:p>
        </p:txBody>
      </p:sp>
      <p:sp>
        <p:nvSpPr>
          <p:cNvPr id="17" name="직사각형 18"/>
          <p:cNvSpPr/>
          <p:nvPr/>
        </p:nvSpPr>
        <p:spPr>
          <a:xfrm>
            <a:off x="4370832" y="4297680"/>
            <a:ext cx="2825496"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3 (절반)</a:t>
            </a:r>
          </a:p>
        </p:txBody>
      </p:sp>
      <p:graphicFrame>
        <p:nvGraphicFramePr>
          <p:cNvPr id="18" name="표 19"/>
          <p:cNvGraphicFramePr>
            <a:graphicFrameLocks noGrp="1"/>
          </p:cNvGraphicFramePr>
          <p:nvPr>
            <p:extLst>
              <p:ext uri="{D42A27DB-BD31-4B8C-83A1-F6EECF244321}">
                <p14:modId xmlns:p14="http://schemas.microsoft.com/office/powerpoint/2010/main" val="522768771"/>
              </p:ext>
            </p:extLst>
          </p:nvPr>
        </p:nvGraphicFramePr>
        <p:xfrm>
          <a:off x="612648" y="2651760"/>
          <a:ext cx="6583680" cy="987552"/>
        </p:xfrm>
        <a:graphic>
          <a:graphicData uri="http://schemas.openxmlformats.org/drawingml/2006/table">
            <a:tbl>
              <a:tblPr/>
              <a:tblGrid>
                <a:gridCol w="752421">
                  <a:extLst>
                    <a:ext uri="{9D8B030D-6E8A-4147-A177-3AD203B41FA5}">
                      <a16:colId xmlns:a16="http://schemas.microsoft.com/office/drawing/2014/main" val="20000"/>
                    </a:ext>
                  </a:extLst>
                </a:gridCol>
                <a:gridCol w="940526">
                  <a:extLst>
                    <a:ext uri="{9D8B030D-6E8A-4147-A177-3AD203B41FA5}">
                      <a16:colId xmlns:a16="http://schemas.microsoft.com/office/drawing/2014/main" val="20001"/>
                    </a:ext>
                  </a:extLst>
                </a:gridCol>
                <a:gridCol w="1128631">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128631">
                  <a:extLst>
                    <a:ext uri="{9D8B030D-6E8A-4147-A177-3AD203B41FA5}">
                      <a16:colId xmlns:a16="http://schemas.microsoft.com/office/drawing/2014/main" val="20005"/>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 (전부)</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20</a:t>
                      </a:r>
                    </a:p>
                  </a:txBody>
                  <a:tcPr marL="54864" marR="54864" marT="18288" marB="18288" anchor="ctr">
                    <a:solidFill>
                      <a:srgbClr val="DCECFB"/>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18</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 (3/6)</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9</a:t>
                      </a:r>
                    </a:p>
                  </a:txBody>
                  <a:tcPr marL="54864" marR="54864" marT="18288" marB="18288" anchor="ctr">
                    <a:solidFill>
                      <a:srgbClr val="DDF1E4"/>
                    </a:solidFill>
                  </a:tcPr>
                </a:tc>
                <a:extLst>
                  <a:ext uri="{0D108BD9-81ED-4DB2-BD59-A6C34878D82A}">
                    <a16:rowId xmlns:a16="http://schemas.microsoft.com/office/drawing/2014/main" val="10002"/>
                  </a:ext>
                </a:extLst>
              </a:tr>
            </a:tbl>
          </a:graphicData>
        </a:graphic>
      </p:graphicFrame>
      <p:sp>
        <p:nvSpPr>
          <p:cNvPr id="19" name="직사각형 20"/>
          <p:cNvSpPr/>
          <p:nvPr/>
        </p:nvSpPr>
        <p:spPr>
          <a:xfrm>
            <a:off x="612648" y="39684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7)</a:t>
            </a:r>
          </a:p>
        </p:txBody>
      </p:sp>
      <p:sp>
        <p:nvSpPr>
          <p:cNvPr id="20" name="직사각형 21"/>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    노랑: 무게당 가치</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용량 5 · A(2, 8) · B(4, 16)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40</a:t>
            </a:r>
            <a:endParaRPr lang="ko-KR" altLang="en-US" sz="1050" b="0" dirty="0">
              <a:solidFill>
                <a:srgbClr val="606060"/>
              </a:solidFill>
              <a:latin typeface="Malgun Gothic"/>
              <a:ea typeface="Malgun Gothic"/>
              <a:cs typeface="Malgun Gothic"/>
            </a:endParaRPr>
          </a:p>
        </p:txBody>
      </p:sp>
      <p:sp>
        <p:nvSpPr>
          <p:cNvPr id="9" name="fit:768365d3a94fcb59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무게당 가치는 A 8 ÷ 2 = 4, B 16 ÷ 4 = 4로 같습니다.</a:t>
            </a:r>
          </a:p>
          <a:p>
            <a:pPr algn="l" eaLnBrk="0" latinLnBrk="0">
              <a:lnSpc>
                <a:spcPct val="100000"/>
              </a:lnSpc>
              <a:buNone/>
            </a:pPr>
            <a:r>
              <a:rPr lang="ko-KR" altLang="en-US" sz="2025" b="0" dirty="0">
                <a:solidFill>
                  <a:srgbClr val="171717"/>
                </a:solidFill>
                <a:latin typeface="Malgun Gothic"/>
                <a:ea typeface="Malgun Gothic"/>
                <a:cs typeface="Malgun Gothic"/>
              </a:rPr>
              <a:t>같으면 앞에 있는 A부터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1c61785cdf10a94e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① A: 2 ≤ 5 → 전부, 가치 8</a:t>
            </a:r>
          </a:p>
        </p:txBody>
      </p:sp>
      <p:sp>
        <p:nvSpPr>
          <p:cNvPr id="12" name="fit:4cbbdaadb16dd7cd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② 남은 용량 5 − 2 = 3</a:t>
            </a:r>
          </a:p>
        </p:txBody>
      </p:sp>
      <p:sp>
        <p:nvSpPr>
          <p:cNvPr id="13" name="fit:dedd0320ee0f3229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③ B: 4 &gt; 3 → 3만 덜어 담기</a:t>
            </a:r>
          </a:p>
        </p:txBody>
      </p:sp>
      <p:sp>
        <p:nvSpPr>
          <p:cNvPr id="14" name="fit:18e2ff248e5c90e7 15"/>
          <p:cNvSpPr/>
          <p:nvPr/>
        </p:nvSpPr>
        <p:spPr>
          <a:xfrm>
            <a:off x="7909560" y="395020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3 ÷ 4 = 3/4 → 16 × 3/4 = 12</a:t>
            </a:r>
          </a:p>
        </p:txBody>
      </p:sp>
      <p:sp>
        <p:nvSpPr>
          <p:cNvPr id="15" name="fit:b7e496fff65185e3 16"/>
          <p:cNvSpPr/>
          <p:nvPr/>
        </p:nvSpPr>
        <p:spPr>
          <a:xfrm>
            <a:off x="7909560" y="4343400"/>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합계 8 + 12 = 20</a:t>
            </a:r>
          </a:p>
        </p:txBody>
      </p:sp>
      <p:sp>
        <p:nvSpPr>
          <p:cNvPr id="16" name="fit:11eca8a07ce612ac 17"/>
          <p:cNvSpPr/>
          <p:nvPr/>
        </p:nvSpPr>
        <p:spPr>
          <a:xfrm>
            <a:off x="7909560" y="4809744"/>
            <a:ext cx="3666744" cy="448056"/>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B부터 담아도 16 + 4 = 20.</a:t>
            </a:r>
          </a:p>
          <a:p>
            <a:pPr algn="l" eaLnBrk="0" latinLnBrk="0">
              <a:lnSpc>
                <a:spcPct val="100000"/>
              </a:lnSpc>
              <a:buNone/>
            </a:pPr>
            <a:r>
              <a:rPr lang="ko-KR" altLang="en-US" sz="1350" b="0" dirty="0">
                <a:solidFill>
                  <a:srgbClr val="3F3F3F"/>
                </a:solidFill>
                <a:latin typeface="Malgun Gothic"/>
                <a:ea typeface="Malgun Gothic"/>
                <a:cs typeface="Malgun Gothic"/>
              </a:rPr>
              <a:t>무게당 가치가 모두 4라서 5 × 4 = 20입니다.</a:t>
            </a:r>
          </a:p>
        </p:txBody>
      </p:sp>
      <p:sp>
        <p:nvSpPr>
          <p:cNvPr id="17" name="직사각형 18"/>
          <p:cNvSpPr/>
          <p:nvPr/>
        </p:nvSpPr>
        <p:spPr>
          <a:xfrm>
            <a:off x="612648" y="4297680"/>
            <a:ext cx="2633472"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2</a:t>
            </a:r>
          </a:p>
        </p:txBody>
      </p:sp>
      <p:sp>
        <p:nvSpPr>
          <p:cNvPr id="18" name="직사각형 19"/>
          <p:cNvSpPr/>
          <p:nvPr/>
        </p:nvSpPr>
        <p:spPr>
          <a:xfrm>
            <a:off x="3246120" y="4297680"/>
            <a:ext cx="3950208" cy="512064"/>
          </a:xfrm>
          <a:prstGeom prst="rect">
            <a:avLst/>
          </a:prstGeom>
          <a:solidFill>
            <a:srgbClr val="DDF1E4"/>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3 (3/4)</a:t>
            </a:r>
          </a:p>
        </p:txBody>
      </p:sp>
      <p:graphicFrame>
        <p:nvGraphicFramePr>
          <p:cNvPr id="19" name="표 20"/>
          <p:cNvGraphicFramePr>
            <a:graphicFrameLocks noGrp="1"/>
          </p:cNvGraphicFramePr>
          <p:nvPr>
            <p:extLst>
              <p:ext uri="{D42A27DB-BD31-4B8C-83A1-F6EECF244321}">
                <p14:modId xmlns:p14="http://schemas.microsoft.com/office/powerpoint/2010/main" val="1571620068"/>
              </p:ext>
            </p:extLst>
          </p:nvPr>
        </p:nvGraphicFramePr>
        <p:xfrm>
          <a:off x="612648" y="2651760"/>
          <a:ext cx="6583680" cy="987552"/>
        </p:xfrm>
        <a:graphic>
          <a:graphicData uri="http://schemas.openxmlformats.org/drawingml/2006/table">
            <a:tbl>
              <a:tblPr/>
              <a:tblGrid>
                <a:gridCol w="752421">
                  <a:extLst>
                    <a:ext uri="{9D8B030D-6E8A-4147-A177-3AD203B41FA5}">
                      <a16:colId xmlns:a16="http://schemas.microsoft.com/office/drawing/2014/main" val="20000"/>
                    </a:ext>
                  </a:extLst>
                </a:gridCol>
                <a:gridCol w="940526">
                  <a:extLst>
                    <a:ext uri="{9D8B030D-6E8A-4147-A177-3AD203B41FA5}">
                      <a16:colId xmlns:a16="http://schemas.microsoft.com/office/drawing/2014/main" val="20001"/>
                    </a:ext>
                  </a:extLst>
                </a:gridCol>
                <a:gridCol w="1128631">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128631">
                  <a:extLst>
                    <a:ext uri="{9D8B030D-6E8A-4147-A177-3AD203B41FA5}">
                      <a16:colId xmlns:a16="http://schemas.microsoft.com/office/drawing/2014/main" val="20005"/>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보물</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무게</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8</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 (전부)</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a:txBody>
                  <a:tcPr marL="54864" marR="54864" marT="18288" marB="18288" anchor="ctr">
                    <a:solidFill>
                      <a:srgbClr val="DCECFB"/>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16</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 (3/4)</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12</a:t>
                      </a:r>
                    </a:p>
                  </a:txBody>
                  <a:tcPr marL="54864" marR="54864" marT="18288" marB="18288" anchor="ctr">
                    <a:solidFill>
                      <a:srgbClr val="DDF1E4"/>
                    </a:solidFill>
                  </a:tcPr>
                </a:tc>
                <a:extLst>
                  <a:ext uri="{0D108BD9-81ED-4DB2-BD59-A6C34878D82A}">
                    <a16:rowId xmlns:a16="http://schemas.microsoft.com/office/drawing/2014/main" val="10002"/>
                  </a:ext>
                </a:extLst>
              </a:tr>
            </a:tbl>
          </a:graphicData>
        </a:graphic>
      </p:graphicFrame>
      <p:sp>
        <p:nvSpPr>
          <p:cNvPr id="20" name="직사각형 21"/>
          <p:cNvSpPr/>
          <p:nvPr/>
        </p:nvSpPr>
        <p:spPr>
          <a:xfrm>
            <a:off x="612648" y="39684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5)</a:t>
            </a:r>
          </a:p>
        </p:txBody>
      </p:sp>
      <p:sp>
        <p:nvSpPr>
          <p:cNvPr id="21" name="직사각형 22"/>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통째로 담은 보물    초록: 일부만 덜어 담은 보물    노랑: 무게당 가치</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0/1 배낭: 물건은 통째로만 담기</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41</a:t>
            </a:r>
            <a:endParaRPr lang="ko-KR" altLang="en-US" sz="1050" b="0" dirty="0">
              <a:solidFill>
                <a:srgbClr val="606060"/>
              </a:solidFill>
              <a:latin typeface="Malgun Gothic"/>
              <a:ea typeface="Malgun Gothic"/>
              <a:cs typeface="Malgun Gothic"/>
            </a:endParaRPr>
          </a:p>
        </p:txBody>
      </p:sp>
      <p:sp>
        <p:nvSpPr>
          <p:cNvPr id="9" name="fit:b839d99089270805 10"/>
          <p:cNvSpPr/>
          <p:nvPr/>
        </p:nvSpPr>
        <p:spPr>
          <a:xfrm>
            <a:off x="612648" y="1636776"/>
            <a:ext cx="10972800" cy="914400"/>
          </a:xfrm>
          <a:prstGeom prst="rect">
            <a:avLst/>
          </a:prstGeom>
          <a:noFill/>
          <a:ln w="0">
            <a:noFill/>
          </a:ln>
        </p:spPr>
        <p:txBody>
          <a:bodyPr wrap="square" lIns="0" tIns="0" rIns="0" bIns="0" anchor="t">
            <a:noAutofit/>
          </a:bodyPr>
          <a:lstStyle/>
          <a:p>
            <a:pPr algn="l" eaLnBrk="0" latinLnBrk="0">
              <a:lnSpc>
                <a:spcPct val="100000"/>
              </a:lnSpc>
              <a:buNone/>
            </a:pPr>
            <a:r>
              <a:rPr lang="ko-KR" altLang="en-US" sz="1875" b="0" dirty="0">
                <a:solidFill>
                  <a:srgbClr val="171717"/>
                </a:solidFill>
                <a:latin typeface="Malgun Gothic"/>
                <a:ea typeface="Malgun Gothic"/>
                <a:cs typeface="Malgun Gothic"/>
              </a:rPr>
              <a:t>배낭 용량은 50kg이고, 아래 물건 A·B·C가 각각 1개씩 있습니다.</a:t>
            </a:r>
          </a:p>
          <a:p>
            <a:pPr algn="l" eaLnBrk="0" latinLnBrk="0">
              <a:lnSpc>
                <a:spcPct val="100000"/>
              </a:lnSpc>
              <a:buNone/>
            </a:pPr>
            <a:r>
              <a:rPr lang="ko-KR" altLang="en-US" sz="1875" b="0" dirty="0">
                <a:solidFill>
                  <a:srgbClr val="171717"/>
                </a:solidFill>
                <a:latin typeface="Malgun Gothic"/>
                <a:ea typeface="Malgun Gothic"/>
                <a:cs typeface="Malgun Gothic"/>
              </a:rPr>
              <a:t>물건은 통째로 넣거나 빼야 합니다. 잘라서 일부만 넣을 수 없습니다.</a:t>
            </a:r>
          </a:p>
          <a:p>
            <a:pPr algn="l" eaLnBrk="0" latinLnBrk="0">
              <a:lnSpc>
                <a:spcPct val="100000"/>
              </a:lnSpc>
              <a:buNone/>
            </a:pPr>
            <a:r>
              <a:rPr lang="ko-KR" altLang="en-US" sz="1875" b="0" dirty="0">
                <a:solidFill>
                  <a:srgbClr val="171717"/>
                </a:solidFill>
                <a:latin typeface="Malgun Gothic"/>
                <a:ea typeface="Malgun Gothic"/>
                <a:cs typeface="Malgun Gothic"/>
              </a:rPr>
              <a:t>50kg 안에서 총가치를 최대로 만드세요. 먼저 가성비 순으로 넣어 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0a500d51e589ff28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① A 담음: 남은 용량 40kg</a:t>
            </a:r>
          </a:p>
        </p:txBody>
      </p:sp>
      <p:sp>
        <p:nvSpPr>
          <p:cNvPr id="12" name="fit:212c5361ba54e3bd 13"/>
          <p:cNvSpPr/>
          <p:nvPr/>
        </p:nvSpPr>
        <p:spPr>
          <a:xfrm>
            <a:off x="7909560" y="3273552"/>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② B 담음: 남은 용량 20kg</a:t>
            </a:r>
          </a:p>
        </p:txBody>
      </p:sp>
      <p:sp>
        <p:nvSpPr>
          <p:cNvPr id="13" name="fit:7f773269ca384dbe 14"/>
          <p:cNvSpPr/>
          <p:nvPr/>
        </p:nvSpPr>
        <p:spPr>
          <a:xfrm>
            <a:off x="7909560" y="361188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③ C 30kg: 남은 20kg에 못 넣음</a:t>
            </a:r>
          </a:p>
        </p:txBody>
      </p:sp>
      <p:sp>
        <p:nvSpPr>
          <p:cNvPr id="14" name="fit:8653b7da843f4f72 15"/>
          <p:cNvSpPr/>
          <p:nvPr/>
        </p:nvSpPr>
        <p:spPr>
          <a:xfrm>
            <a:off x="7909560" y="40416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그리디의 답</a:t>
            </a:r>
          </a:p>
        </p:txBody>
      </p:sp>
      <p:sp>
        <p:nvSpPr>
          <p:cNvPr id="15" name="fit:46b60fb62f81cf7e 16"/>
          <p:cNvSpPr/>
          <p:nvPr/>
        </p:nvSpPr>
        <p:spPr>
          <a:xfrm>
            <a:off x="7909560" y="4325112"/>
            <a:ext cx="3666744"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60 + 100 = 160</a:t>
            </a:r>
          </a:p>
        </p:txBody>
      </p:sp>
      <p:sp>
        <p:nvSpPr>
          <p:cNvPr id="16" name="직사각형 17"/>
          <p:cNvSpPr/>
          <p:nvPr/>
        </p:nvSpPr>
        <p:spPr>
          <a:xfrm>
            <a:off x="612648" y="4754880"/>
            <a:ext cx="1316736"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A 10kg</a:t>
            </a:r>
          </a:p>
        </p:txBody>
      </p:sp>
      <p:sp>
        <p:nvSpPr>
          <p:cNvPr id="17" name="직사각형 18"/>
          <p:cNvSpPr/>
          <p:nvPr/>
        </p:nvSpPr>
        <p:spPr>
          <a:xfrm>
            <a:off x="1929384" y="4754880"/>
            <a:ext cx="2633472" cy="512064"/>
          </a:xfrm>
          <a:prstGeom prst="rect">
            <a:avLst/>
          </a:prstGeom>
          <a:solidFill>
            <a:srgbClr val="DCECFB"/>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1" dirty="0">
                <a:solidFill>
                  <a:srgbClr val="151515"/>
                </a:solidFill>
                <a:latin typeface="Malgun Gothic"/>
                <a:ea typeface="Malgun Gothic"/>
                <a:cs typeface="Malgun Gothic"/>
              </a:rPr>
              <a:t>B 20kg</a:t>
            </a:r>
          </a:p>
        </p:txBody>
      </p:sp>
      <p:sp>
        <p:nvSpPr>
          <p:cNvPr id="18" name="직사각형 19"/>
          <p:cNvSpPr/>
          <p:nvPr/>
        </p:nvSpPr>
        <p:spPr>
          <a:xfrm>
            <a:off x="4562856" y="4754880"/>
            <a:ext cx="2633472" cy="512064"/>
          </a:xfrm>
          <a:prstGeom prst="rect">
            <a:avLst/>
          </a:prstGeom>
          <a:solidFill>
            <a:srgbClr val="F2F2F2"/>
          </a:solidFill>
          <a:ln w="9525">
            <a:solidFill>
              <a:srgbClr val="CCCCCC"/>
            </a:solidFill>
          </a:ln>
        </p:spPr>
        <p:txBody>
          <a:bodyPr wrap="square" lIns="0" tIns="0" rIns="0" bIns="0" anchor="ctr">
            <a:noAutofit/>
          </a:bodyPr>
          <a:lstStyle/>
          <a:p>
            <a:pPr algn="ctr" eaLnBrk="0" latinLnBrk="0">
              <a:lnSpc>
                <a:spcPct val="100000"/>
              </a:lnSpc>
              <a:buNone/>
            </a:pPr>
            <a:r>
              <a:rPr lang="ko-KR" altLang="en-US" sz="1600" b="0" dirty="0">
                <a:solidFill>
                  <a:srgbClr val="606060"/>
                </a:solidFill>
                <a:latin typeface="Malgun Gothic"/>
                <a:ea typeface="Malgun Gothic"/>
                <a:cs typeface="Malgun Gothic"/>
              </a:rPr>
              <a:t>빈 공간 20kg</a:t>
            </a:r>
          </a:p>
        </p:txBody>
      </p:sp>
      <p:graphicFrame>
        <p:nvGraphicFramePr>
          <p:cNvPr id="19" name="표 20"/>
          <p:cNvGraphicFramePr>
            <a:graphicFrameLocks noGrp="1"/>
          </p:cNvGraphicFramePr>
          <p:nvPr>
            <p:extLst>
              <p:ext uri="{D42A27DB-BD31-4B8C-83A1-F6EECF244321}">
                <p14:modId xmlns:p14="http://schemas.microsoft.com/office/powerpoint/2010/main" val="67184544"/>
              </p:ext>
            </p:extLst>
          </p:nvPr>
        </p:nvGraphicFramePr>
        <p:xfrm>
          <a:off x="612648" y="2651760"/>
          <a:ext cx="6583680" cy="1316736"/>
        </p:xfrm>
        <a:graphic>
          <a:graphicData uri="http://schemas.openxmlformats.org/drawingml/2006/table">
            <a:tbl>
              <a:tblPr/>
              <a:tblGrid>
                <a:gridCol w="752421">
                  <a:extLst>
                    <a:ext uri="{9D8B030D-6E8A-4147-A177-3AD203B41FA5}">
                      <a16:colId xmlns:a16="http://schemas.microsoft.com/office/drawing/2014/main" val="20000"/>
                    </a:ext>
                  </a:extLst>
                </a:gridCol>
                <a:gridCol w="940526">
                  <a:extLst>
                    <a:ext uri="{9D8B030D-6E8A-4147-A177-3AD203B41FA5}">
                      <a16:colId xmlns:a16="http://schemas.microsoft.com/office/drawing/2014/main" val="20001"/>
                    </a:ext>
                  </a:extLst>
                </a:gridCol>
                <a:gridCol w="1128631">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gridCol w="1128631">
                  <a:extLst>
                    <a:ext uri="{9D8B030D-6E8A-4147-A177-3AD203B41FA5}">
                      <a16:colId xmlns:a16="http://schemas.microsoft.com/office/drawing/2014/main" val="20005"/>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물건</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무게(kg)</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무게당 가치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결정</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얻은 가치</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담음</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60</a:t>
                      </a:r>
                    </a:p>
                  </a:txBody>
                  <a:tcPr marL="54864" marR="54864" marT="18288" marB="18288" anchor="ctr">
                    <a:solidFill>
                      <a:srgbClr val="DCECFB"/>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담음</a:t>
                      </a:r>
                    </a:p>
                  </a:txBody>
                  <a:tcPr marL="54864" marR="54864" marT="18288" marB="18288" anchor="ctr">
                    <a:solidFill>
                      <a:srgbClr val="DCECFB"/>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100</a:t>
                      </a:r>
                    </a:p>
                  </a:txBody>
                  <a:tcPr marL="54864" marR="54864" marT="18288" marB="18288" anchor="ctr">
                    <a:solidFill>
                      <a:srgbClr val="DCECFB"/>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120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건너뜀</a:t>
                      </a:r>
                    </a:p>
                  </a:txBody>
                  <a:tcPr marL="54864" marR="54864" marT="18288" marB="18288" anchor="ctr">
                    <a:solidFill>
                      <a:srgbClr val="FBE1E1"/>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20" name="직사각형 21"/>
          <p:cNvSpPr/>
          <p:nvPr/>
        </p:nvSpPr>
        <p:spPr>
          <a:xfrm>
            <a:off x="612648" y="4425696"/>
            <a:ext cx="640080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배낭 (용량 50kg)</a:t>
            </a:r>
          </a:p>
        </p:txBody>
      </p:sp>
      <p:sp>
        <p:nvSpPr>
          <p:cNvPr id="21" name="직사각형 22"/>
          <p:cNvSpPr/>
          <p:nvPr/>
        </p:nvSpPr>
        <p:spPr>
          <a:xfrm>
            <a:off x="612648" y="5524500"/>
            <a:ext cx="10972800" cy="552450"/>
          </a:xfrm>
          <a:prstGeom prst="rect">
            <a:avLst/>
          </a:prstGeom>
          <a:noFill/>
          <a:ln w="0">
            <a:noFill/>
          </a:ln>
        </p:spPr>
        <p:txBody>
          <a:bodyPr wrap="square" lIns="0" tIns="0" rIns="0" bIns="0" anchor="t">
            <a:noAutofit/>
          </a:bodyPr>
          <a:lstStyle/>
          <a:p>
            <a:pPr algn="l" eaLnBrk="0" latinLnBrk="0">
              <a:lnSpc>
                <a:spcPct val="100000"/>
              </a:lnSpc>
              <a:buNone/>
            </a:pPr>
            <a:r>
              <a:rPr lang="ko-KR" altLang="en-US" sz="1700" b="0" dirty="0">
                <a:solidFill>
                  <a:srgbClr val="171717"/>
                </a:solidFill>
                <a:latin typeface="Malgun Gothic"/>
                <a:ea typeface="Malgun Gothic"/>
                <a:cs typeface="Malgun Gothic"/>
              </a:rPr>
              <a:t>C는 30kg짜리 물건 하나입니다. 잘라서 20kg만 담는 것은 규칙 위반입니다.</a:t>
            </a:r>
          </a:p>
          <a:p>
            <a:pPr algn="l" eaLnBrk="0" latinLnBrk="0">
              <a:lnSpc>
                <a:spcPct val="100000"/>
              </a:lnSpc>
              <a:buNone/>
            </a:pPr>
            <a:r>
              <a:rPr lang="ko-KR" altLang="en-US" sz="1700" b="0" dirty="0">
                <a:solidFill>
                  <a:srgbClr val="171717"/>
                </a:solidFill>
                <a:latin typeface="Malgun Gothic"/>
                <a:ea typeface="Malgun Gothic"/>
                <a:cs typeface="Malgun Gothic"/>
              </a:rPr>
              <a:t>0 = 넣지 않음, 1 = 통째로 넣음. 반 개를 넣는 선택은 없습니다.</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조합을 다 보면 B + C = 220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42</a:t>
            </a:r>
            <a:endParaRPr lang="ko-KR" altLang="en-US" sz="1050" b="0" dirty="0">
              <a:solidFill>
                <a:srgbClr val="606060"/>
              </a:solidFill>
              <a:latin typeface="Malgun Gothic"/>
              <a:ea typeface="Malgun Gothic"/>
              <a:cs typeface="Malgun Gothic"/>
            </a:endParaRPr>
          </a:p>
        </p:txBody>
      </p:sp>
      <p:graphicFrame>
        <p:nvGraphicFramePr>
          <p:cNvPr id="9" name="표 10"/>
          <p:cNvGraphicFramePr>
            <a:graphicFrameLocks noGrp="1"/>
          </p:cNvGraphicFramePr>
          <p:nvPr>
            <p:extLst>
              <p:ext uri="{D42A27DB-BD31-4B8C-83A1-F6EECF244321}">
                <p14:modId xmlns:p14="http://schemas.microsoft.com/office/powerpoint/2010/main" val="1314571316"/>
              </p:ext>
            </p:extLst>
          </p:nvPr>
        </p:nvGraphicFramePr>
        <p:xfrm>
          <a:off x="612648" y="1636776"/>
          <a:ext cx="10972800" cy="2962656"/>
        </p:xfrm>
        <a:graphic>
          <a:graphicData uri="http://schemas.openxmlformats.org/drawingml/2006/table">
            <a:tbl>
              <a:tblPr/>
              <a:tblGrid>
                <a:gridCol w="2801566">
                  <a:extLst>
                    <a:ext uri="{9D8B030D-6E8A-4147-A177-3AD203B41FA5}">
                      <a16:colId xmlns:a16="http://schemas.microsoft.com/office/drawing/2014/main" val="20000"/>
                    </a:ext>
                  </a:extLst>
                </a:gridCol>
                <a:gridCol w="2334638">
                  <a:extLst>
                    <a:ext uri="{9D8B030D-6E8A-4147-A177-3AD203B41FA5}">
                      <a16:colId xmlns:a16="http://schemas.microsoft.com/office/drawing/2014/main" val="20001"/>
                    </a:ext>
                  </a:extLst>
                </a:gridCol>
                <a:gridCol w="2334638">
                  <a:extLst>
                    <a:ext uri="{9D8B030D-6E8A-4147-A177-3AD203B41FA5}">
                      <a16:colId xmlns:a16="http://schemas.microsoft.com/office/drawing/2014/main" val="20002"/>
                    </a:ext>
                  </a:extLst>
                </a:gridCol>
                <a:gridCol w="3501957">
                  <a:extLst>
                    <a:ext uri="{9D8B030D-6E8A-4147-A177-3AD203B41FA5}">
                      <a16:colId xmlns:a16="http://schemas.microsoft.com/office/drawing/2014/main" val="20003"/>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담은 물건</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무게 합(kg)</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가치 합</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판정</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없음</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100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120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extLst>
                  <a:ext uri="{0D108BD9-81ED-4DB2-BD59-A6C34878D82A}">
                    <a16:rowId xmlns:a16="http://schemas.microsoft.com/office/drawing/2014/main" val="10004"/>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160</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1D5A8A"/>
                          </a:solidFill>
                          <a:latin typeface="Malgun Gothic"/>
                          <a:ea typeface="Malgun Gothic"/>
                          <a:cs typeface="Malgun Gothic"/>
                        </a:rPr>
                        <a:t>가능 (그리디의 답)</a:t>
                      </a:r>
                    </a:p>
                  </a:txBody>
                  <a:tcPr marL="54864" marR="54864" marT="18288" marB="18288" anchor="ctr">
                    <a:solidFill>
                      <a:srgbClr val="FFFFFF"/>
                    </a:solidFill>
                  </a:tcPr>
                </a:tc>
                <a:extLst>
                  <a:ext uri="{0D108BD9-81ED-4DB2-BD59-A6C34878D82A}">
                    <a16:rowId xmlns:a16="http://schemas.microsoft.com/office/drawing/2014/main" val="10005"/>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180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가능</a:t>
                      </a:r>
                    </a:p>
                  </a:txBody>
                  <a:tcPr marL="54864" marR="54864" marT="18288" marB="18288" anchor="ctr">
                    <a:solidFill>
                      <a:srgbClr val="FFFFFF"/>
                    </a:solidFill>
                  </a:tcPr>
                </a:tc>
                <a:extLst>
                  <a:ext uri="{0D108BD9-81ED-4DB2-BD59-A6C34878D82A}">
                    <a16:rowId xmlns:a16="http://schemas.microsoft.com/office/drawing/2014/main" val="10006"/>
                  </a:ext>
                </a:extLst>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B + C</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50</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220</a:t>
                      </a:r>
                    </a:p>
                  </a:txBody>
                  <a:tcPr marL="54864" marR="54864" marT="18288" marB="18288" anchor="ctr">
                    <a:solidFill>
                      <a:srgbClr val="DDF1E4"/>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가능 · 최대</a:t>
                      </a:r>
                    </a:p>
                  </a:txBody>
                  <a:tcPr marL="54864" marR="54864" marT="18288" marB="18288" anchor="ctr">
                    <a:solidFill>
                      <a:srgbClr val="DDF1E4"/>
                    </a:solidFill>
                  </a:tcPr>
                </a:tc>
                <a:extLst>
                  <a:ext uri="{0D108BD9-81ED-4DB2-BD59-A6C34878D82A}">
                    <a16:rowId xmlns:a16="http://schemas.microsoft.com/office/drawing/2014/main" val="10007"/>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 + B + 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60</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50kg 초과</a:t>
                      </a:r>
                    </a:p>
                  </a:txBody>
                  <a:tcPr marL="54864" marR="54864" marT="18288" marB="18288" anchor="ctr">
                    <a:solidFill>
                      <a:srgbClr val="FFFFFF"/>
                    </a:solidFill>
                  </a:tcPr>
                </a:tc>
                <a:extLst>
                  <a:ext uri="{0D108BD9-81ED-4DB2-BD59-A6C34878D82A}">
                    <a16:rowId xmlns:a16="http://schemas.microsoft.com/office/drawing/2014/main" val="10008"/>
                  </a:ext>
                </a:extLst>
              </a:tr>
            </a:tbl>
          </a:graphicData>
        </a:graphic>
      </p:graphicFrame>
      <p:sp>
        <p:nvSpPr>
          <p:cNvPr id="10" name="fit:a486a186e9c10c25 11"/>
          <p:cNvSpPr/>
          <p:nvPr/>
        </p:nvSpPr>
        <p:spPr>
          <a:xfrm>
            <a:off x="612648" y="4745736"/>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최적해는 B + C = 220입니다. 그리디의 답 160보다 60 큽니다.</a:t>
            </a:r>
          </a:p>
        </p:txBody>
      </p:sp>
      <p:sp>
        <p:nvSpPr>
          <p:cNvPr id="11" name="fit:a49b34f283346047 12"/>
          <p:cNvSpPr/>
          <p:nvPr/>
        </p:nvSpPr>
        <p:spPr>
          <a:xfrm>
            <a:off x="612648" y="5257800"/>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가성비 1등 A를 먼저 넣으면 B와 C를 함께 넣을 수 없습니다.</a:t>
            </a:r>
          </a:p>
          <a:p>
            <a:pPr algn="l" eaLnBrk="0" latinLnBrk="0">
              <a:lnSpc>
                <a:spcPct val="100000"/>
              </a:lnSpc>
              <a:buNone/>
            </a:pPr>
            <a:r>
              <a:rPr lang="ko-KR" altLang="en-US" sz="1650" b="0" dirty="0">
                <a:solidFill>
                  <a:srgbClr val="3F3F3F"/>
                </a:solidFill>
                <a:latin typeface="Malgun Gothic"/>
                <a:ea typeface="Malgun Gothic"/>
                <a:cs typeface="Malgun Gothic"/>
              </a:rPr>
              <a:t>A를 빼고 B+C를 담으면 무게 20+30=50kg, 가치 100+120=220입니다.</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5.4  배낭 문제</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0/1 배낭에서 그리디가 실패하는 이유</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43</a:t>
            </a:r>
            <a:endParaRPr lang="ko-KR" altLang="en-US" sz="1050" b="0" dirty="0">
              <a:solidFill>
                <a:srgbClr val="606060"/>
              </a:solidFill>
              <a:latin typeface="Malgun Gothic"/>
              <a:ea typeface="Malgun Gothic"/>
              <a:cs typeface="Malgun Gothic"/>
            </a:endParaRPr>
          </a:p>
        </p:txBody>
      </p:sp>
      <p:sp>
        <p:nvSpPr>
          <p:cNvPr id="9" name="fit:2b352e0c62bd1927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첫 선택이 최적해에 없다</a:t>
            </a:r>
          </a:p>
        </p:txBody>
      </p:sp>
      <p:sp>
        <p:nvSpPr>
          <p:cNvPr id="10" name="fit:2acb35ccd421fe33 11"/>
          <p:cNvSpPr/>
          <p:nvPr/>
        </p:nvSpPr>
        <p:spPr>
          <a:xfrm>
            <a:off x="795528" y="196596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en-US" altLang="ko-KR" sz="1575" b="0">
                <a:solidFill>
                  <a:srgbClr val="3F3F3F"/>
                </a:solidFill>
                <a:latin typeface="Malgun Gothic"/>
                <a:ea typeface="Malgun Gothic"/>
                <a:cs typeface="Malgun Gothic"/>
              </a:rPr>
              <a:t>A(10kg)를 넣으면 40kg이 남아 B(20kg)와 C(30kg)를 함께 넣지 못합니다.</a:t>
            </a:r>
          </a:p>
        </p:txBody>
      </p:sp>
      <p:sp>
        <p:nvSpPr>
          <p:cNvPr id="11" name="fit:b2531f86ecd8dc82 12"/>
          <p:cNvSpPr/>
          <p:nvPr/>
        </p:nvSpPr>
        <p:spPr>
          <a:xfrm>
            <a:off x="612648" y="235000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분할 배낭과의 차이</a:t>
            </a:r>
          </a:p>
        </p:txBody>
      </p:sp>
      <p:sp>
        <p:nvSpPr>
          <p:cNvPr id="12" name="fit:56f20c60fce80385 13"/>
          <p:cNvSpPr/>
          <p:nvPr/>
        </p:nvSpPr>
        <p:spPr>
          <a:xfrm>
            <a:off x="795528" y="2679192"/>
            <a:ext cx="1078992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a:solidFill>
                  <a:srgbClr val="3F3F3F"/>
                </a:solidFill>
                <a:latin typeface="Malgun Gothic"/>
                <a:ea typeface="Malgun Gothic"/>
                <a:cs typeface="Malgun Gothic"/>
              </a:rPr>
              <a:t>분할 배낭이면 A 10kg, B 20kg, C 일부 20kg로 가치 240을 얻습니다.</a:t>
            </a:r>
          </a:p>
          <a:p>
            <a:pPr algn="l" eaLnBrk="0" latinLnBrk="0">
              <a:lnSpc>
                <a:spcPct val="105000"/>
              </a:lnSpc>
              <a:buNone/>
            </a:pPr>
            <a:r>
              <a:rPr lang="ko-KR" altLang="en-US" sz="1575" b="0">
                <a:solidFill>
                  <a:srgbClr val="3F3F3F"/>
                </a:solidFill>
                <a:latin typeface="Malgun Gothic"/>
                <a:ea typeface="Malgun Gothic"/>
                <a:cs typeface="Malgun Gothic"/>
              </a:rPr>
              <a:t>0/1에서는 C 일부를 넣을 수 없습니다. B+C를 통째로 담는 220이 최적입니다.</a:t>
            </a:r>
          </a:p>
        </p:txBody>
      </p:sp>
      <p:sp>
        <p:nvSpPr>
          <p:cNvPr id="13" name="fit:1cc9a669c322793e 14"/>
          <p:cNvSpPr/>
          <p:nvPr/>
        </p:nvSpPr>
        <p:spPr>
          <a:xfrm>
            <a:off x="612648" y="331927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모든 조합을 보면?</a:t>
            </a:r>
          </a:p>
        </p:txBody>
      </p:sp>
      <p:sp>
        <p:nvSpPr>
          <p:cNvPr id="14" name="fit:1d306d76c1c1d03e 15"/>
          <p:cNvSpPr/>
          <p:nvPr/>
        </p:nvSpPr>
        <p:spPr>
          <a:xfrm>
            <a:off x="795528" y="364845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보물 n개를 담거나 말거나: 2ⁿ가지. 보물이 30개면 10억 가지가 넘습니다.</a:t>
            </a:r>
          </a:p>
        </p:txBody>
      </p:sp>
      <p:sp>
        <p:nvSpPr>
          <p:cNvPr id="15" name="fit:e0ac22383b6b9413 16"/>
          <p:cNvSpPr/>
          <p:nvPr/>
        </p:nvSpPr>
        <p:spPr>
          <a:xfrm>
            <a:off x="612648" y="40325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④ 6장 동적 계획법</a:t>
            </a:r>
          </a:p>
        </p:txBody>
      </p:sp>
      <p:sp>
        <p:nvSpPr>
          <p:cNvPr id="16" name="fit:6b58876d7fd7441f 17"/>
          <p:cNvSpPr/>
          <p:nvPr/>
        </p:nvSpPr>
        <p:spPr>
          <a:xfrm>
            <a:off x="795528" y="43616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같은 부분 문제의 답을 표에 저장해 다시 계산하지 않습니다. 0/1 배낭의 정확한 답은 6장에서 구합니다.</a:t>
            </a:r>
          </a:p>
        </p:txBody>
      </p:sp>
      <p:sp>
        <p:nvSpPr>
          <p:cNvPr id="17" name="fit:f2ae1b802e44768f 18"/>
          <p:cNvSpPr/>
          <p:nvPr/>
        </p:nvSpPr>
        <p:spPr>
          <a:xfrm>
            <a:off x="612648" y="4745736"/>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0/1 배낭에서 무게당 가치 그리디는 최적해를 보장하지 못합니다.</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그리디가 최적해를 보장하는 두 조건</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44</a:t>
            </a:r>
            <a:endParaRPr lang="ko-KR" altLang="en-US" sz="1050" b="0" dirty="0">
              <a:solidFill>
                <a:srgbClr val="606060"/>
              </a:solidFill>
              <a:latin typeface="Malgun Gothic"/>
              <a:ea typeface="Malgun Gothic"/>
              <a:cs typeface="Malgun Gothic"/>
            </a:endParaRPr>
          </a:p>
        </p:txBody>
      </p:sp>
      <p:sp>
        <p:nvSpPr>
          <p:cNvPr id="9" name="fit:e9016a93db067e93 10"/>
          <p:cNvSpPr/>
          <p:nvPr/>
        </p:nvSpPr>
        <p:spPr>
          <a:xfrm>
            <a:off x="612648" y="1636776"/>
            <a:ext cx="10972800" cy="630936"/>
          </a:xfrm>
          <a:prstGeom prst="rect">
            <a:avLst/>
          </a:prstGeom>
          <a:noFill/>
          <a:ln w="0">
            <a:noFill/>
          </a:ln>
        </p:spPr>
        <p:txBody>
          <a:bodyPr wrap="square" lIns="0" tIns="0" rIns="0" bIns="0" anchor="t">
            <a:noAutofit/>
          </a:bodyPr>
          <a:lstStyle/>
          <a:p>
            <a:pPr algn="l" eaLnBrk="0" latinLnBrk="0">
              <a:lnSpc>
                <a:spcPct val="100000"/>
              </a:lnSpc>
              <a:buNone/>
            </a:pPr>
            <a:r>
              <a:rPr lang="ko-KR" altLang="en-US" sz="1950" b="0" dirty="0">
                <a:solidFill>
                  <a:srgbClr val="171717"/>
                </a:solidFill>
                <a:latin typeface="Malgun Gothic"/>
                <a:ea typeface="Malgun Gothic"/>
                <a:cs typeface="Malgun Gothic"/>
              </a:rPr>
              <a:t>그리디는 매 단계 지금 기준의 최선을 확정하고 되돌리지 않습니다.</a:t>
            </a:r>
          </a:p>
          <a:p>
            <a:pPr algn="l" eaLnBrk="0" latinLnBrk="0">
              <a:lnSpc>
                <a:spcPct val="100000"/>
              </a:lnSpc>
              <a:buNone/>
            </a:pPr>
            <a:r>
              <a:rPr lang="ko-KR" altLang="en-US" sz="1950" b="0" dirty="0">
                <a:solidFill>
                  <a:srgbClr val="171717"/>
                </a:solidFill>
                <a:latin typeface="Malgun Gothic"/>
                <a:ea typeface="Malgun Gothic"/>
                <a:cs typeface="Malgun Gothic"/>
              </a:rPr>
              <a:t>이 방식이 최적해를 낸다고 보장하려면 두 성질을 보여야 합니다.</a:t>
            </a:r>
          </a:p>
        </p:txBody>
      </p:sp>
      <p:sp>
        <p:nvSpPr>
          <p:cNvPr id="10" name="직사각형 11"/>
          <p:cNvSpPr/>
          <p:nvPr/>
        </p:nvSpPr>
        <p:spPr>
          <a:xfrm>
            <a:off x="658368" y="2414016"/>
            <a:ext cx="5257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1" name="직사각형 12"/>
          <p:cNvSpPr/>
          <p:nvPr/>
        </p:nvSpPr>
        <p:spPr>
          <a:xfrm>
            <a:off x="749808" y="2596896"/>
            <a:ext cx="50749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0E8A7D"/>
                </a:solidFill>
                <a:latin typeface="Malgun Gothic"/>
                <a:ea typeface="Malgun Gothic"/>
                <a:cs typeface="Malgun Gothic"/>
              </a:rPr>
              <a:t>① 탐욕적 선택 속성</a:t>
            </a:r>
          </a:p>
        </p:txBody>
      </p:sp>
      <p:sp>
        <p:nvSpPr>
          <p:cNvPr id="12" name="직사각형 13"/>
          <p:cNvSpPr/>
          <p:nvPr/>
        </p:nvSpPr>
        <p:spPr>
          <a:xfrm>
            <a:off x="749808" y="3017520"/>
            <a:ext cx="50749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greedy choice property</a:t>
            </a:r>
          </a:p>
          <a:p>
            <a:pPr algn="ctr" eaLnBrk="0" latinLnBrk="0">
              <a:lnSpc>
                <a:spcPct val="110000"/>
              </a:lnSpc>
              <a:buNone/>
            </a:pPr>
            <a:r>
              <a:rPr lang="ko-KR" altLang="en-US" sz="1500" b="0" dirty="0">
                <a:solidFill>
                  <a:srgbClr val="171717"/>
                </a:solidFill>
                <a:latin typeface="Malgun Gothic"/>
                <a:ea typeface="Malgun Gothic"/>
                <a:cs typeface="Malgun Gothic"/>
              </a:rPr>
              <a:t>지금 가장 좋아 보이는 선택을</a:t>
            </a:r>
          </a:p>
          <a:p>
            <a:pPr algn="ctr" eaLnBrk="0" latinLnBrk="0">
              <a:lnSpc>
                <a:spcPct val="110000"/>
              </a:lnSpc>
              <a:buNone/>
            </a:pPr>
            <a:r>
              <a:rPr lang="ko-KR" altLang="en-US" sz="1500" b="0" dirty="0">
                <a:solidFill>
                  <a:srgbClr val="171717"/>
                </a:solidFill>
                <a:latin typeface="Malgun Gothic"/>
                <a:ea typeface="Malgun Gothic"/>
                <a:cs typeface="Malgun Gothic"/>
              </a:rPr>
              <a:t>포함하는 최적해가 있다</a:t>
            </a:r>
          </a:p>
        </p:txBody>
      </p:sp>
      <p:sp>
        <p:nvSpPr>
          <p:cNvPr id="13" name="직사각형 14"/>
          <p:cNvSpPr/>
          <p:nvPr/>
        </p:nvSpPr>
        <p:spPr>
          <a:xfrm>
            <a:off x="6281928" y="2414016"/>
            <a:ext cx="5257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4" name="직사각형 15"/>
          <p:cNvSpPr/>
          <p:nvPr/>
        </p:nvSpPr>
        <p:spPr>
          <a:xfrm>
            <a:off x="6373368" y="2596896"/>
            <a:ext cx="5074920" cy="365760"/>
          </a:xfrm>
          <a:prstGeom prst="rect">
            <a:avLst/>
          </a:prstGeom>
          <a:noFill/>
          <a:ln w="0">
            <a:noFill/>
          </a:ln>
        </p:spPr>
        <p:txBody>
          <a:bodyPr wrap="square" lIns="0" tIns="0" rIns="0" bIns="0" anchor="ctr">
            <a:noAutofit/>
          </a:bodyPr>
          <a:lstStyle/>
          <a:p>
            <a:pPr algn="ctr" eaLnBrk="0" latinLnBrk="0">
              <a:lnSpc>
                <a:spcPct val="100000"/>
              </a:lnSpc>
              <a:buNone/>
            </a:pPr>
            <a:r>
              <a:rPr lang="ko-KR" altLang="en-US" sz="1650" b="1" dirty="0">
                <a:solidFill>
                  <a:srgbClr val="0E8A7D"/>
                </a:solidFill>
                <a:latin typeface="Malgun Gothic"/>
                <a:ea typeface="Malgun Gothic"/>
                <a:cs typeface="Malgun Gothic"/>
              </a:rPr>
              <a:t>② 최적 부분 구조</a:t>
            </a:r>
          </a:p>
        </p:txBody>
      </p:sp>
      <p:sp>
        <p:nvSpPr>
          <p:cNvPr id="15" name="직사각형 16"/>
          <p:cNvSpPr/>
          <p:nvPr/>
        </p:nvSpPr>
        <p:spPr>
          <a:xfrm>
            <a:off x="6373368" y="3017520"/>
            <a:ext cx="5074920" cy="1097280"/>
          </a:xfrm>
          <a:prstGeom prst="rect">
            <a:avLst/>
          </a:prstGeom>
          <a:noFill/>
          <a:ln w="0">
            <a:noFill/>
          </a:ln>
        </p:spPr>
        <p:txBody>
          <a:bodyPr wrap="square" lIns="0" tIns="0" rIns="0" bIns="0" anchor="t">
            <a:noAutofit/>
          </a:bodyPr>
          <a:lstStyle/>
          <a:p>
            <a:pPr algn="ctr" eaLnBrk="0" latinLnBrk="0">
              <a:lnSpc>
                <a:spcPct val="110000"/>
              </a:lnSpc>
              <a:buNone/>
            </a:pPr>
            <a:r>
              <a:rPr lang="ko-KR" altLang="en-US" sz="1500" b="0" dirty="0">
                <a:solidFill>
                  <a:srgbClr val="171717"/>
                </a:solidFill>
                <a:latin typeface="Malgun Gothic"/>
                <a:ea typeface="Malgun Gothic"/>
                <a:cs typeface="Malgun Gothic"/>
              </a:rPr>
              <a:t>optimal substructure</a:t>
            </a:r>
          </a:p>
          <a:p>
            <a:pPr algn="ctr" eaLnBrk="0" latinLnBrk="0">
              <a:lnSpc>
                <a:spcPct val="110000"/>
              </a:lnSpc>
              <a:buNone/>
            </a:pPr>
            <a:r>
              <a:rPr lang="ko-KR" altLang="en-US" sz="1500" b="0" dirty="0">
                <a:solidFill>
                  <a:srgbClr val="171717"/>
                </a:solidFill>
                <a:latin typeface="Malgun Gothic"/>
                <a:ea typeface="Malgun Gothic"/>
                <a:cs typeface="Malgun Gothic"/>
              </a:rPr>
              <a:t>그 선택을 하고 남은 문제의 최적해가</a:t>
            </a:r>
          </a:p>
          <a:p>
            <a:pPr algn="ctr" eaLnBrk="0" latinLnBrk="0">
              <a:lnSpc>
                <a:spcPct val="110000"/>
              </a:lnSpc>
              <a:buNone/>
            </a:pPr>
            <a:r>
              <a:rPr lang="ko-KR" altLang="en-US" sz="1500" b="0" dirty="0">
                <a:solidFill>
                  <a:srgbClr val="171717"/>
                </a:solidFill>
                <a:latin typeface="Malgun Gothic"/>
                <a:ea typeface="Malgun Gothic"/>
                <a:cs typeface="Malgun Gothic"/>
              </a:rPr>
              <a:t>전체 최적해의 나머지가 된다</a:t>
            </a:r>
          </a:p>
        </p:txBody>
      </p:sp>
      <p:sp>
        <p:nvSpPr>
          <p:cNvPr id="16" name="fit:8f37c4c1ed1b2c20 17"/>
          <p:cNvSpPr/>
          <p:nvPr/>
        </p:nvSpPr>
        <p:spPr>
          <a:xfrm>
            <a:off x="658368" y="4151376"/>
            <a:ext cx="10881360" cy="374904"/>
          </a:xfrm>
          <a:prstGeom prst="rect">
            <a:avLst/>
          </a:prstGeom>
          <a:noFill/>
          <a:ln w="0">
            <a:noFill/>
          </a:ln>
        </p:spPr>
        <p:txBody>
          <a:bodyPr wrap="square" lIns="0" tIns="0" rIns="0" bIns="0" anchor="t">
            <a:noAutofit/>
          </a:bodyPr>
          <a:lstStyle/>
          <a:p>
            <a:pPr algn="l" eaLnBrk="0" latinLnBrk="0">
              <a:lnSpc>
                <a:spcPct val="100000"/>
              </a:lnSpc>
              <a:buNone/>
            </a:pPr>
            <a:r>
              <a:rPr lang="ko-KR" altLang="en-US" sz="2200" b="1" dirty="0">
                <a:solidFill>
                  <a:srgbClr val="0E8A7D"/>
                </a:solidFill>
                <a:latin typeface="Malgun Gothic"/>
                <a:ea typeface="Malgun Gothic"/>
                <a:cs typeface="Malgun Gothic"/>
              </a:rPr>
              <a:t>①로 첫 선택이 안전하고, ②로 남은 문제를 같은 방법으로 풀 수 있습니다.</a:t>
            </a:r>
          </a:p>
        </p:txBody>
      </p:sp>
      <p:sp>
        <p:nvSpPr>
          <p:cNvPr id="17" name="fit:eb0e0f8baff1c98d 18"/>
          <p:cNvSpPr/>
          <p:nvPr/>
        </p:nvSpPr>
        <p:spPr>
          <a:xfrm>
            <a:off x="658368" y="4636008"/>
            <a:ext cx="1088136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이 둘을 단계마다 이어 붙이면 그리디의 답이 전체 최적해가 됩니다. 둘 중 하나라도 보이지 못하면 보장이 사라집니다.</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탐욕적 선택 속성 (greedy choice property)</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45</a:t>
            </a:r>
            <a:endParaRPr lang="ko-KR" altLang="en-US" sz="1050" b="0" dirty="0">
              <a:solidFill>
                <a:srgbClr val="606060"/>
              </a:solidFill>
              <a:latin typeface="Malgun Gothic"/>
              <a:ea typeface="Malgun Gothic"/>
              <a:cs typeface="Malgun Gothic"/>
            </a:endParaRPr>
          </a:p>
        </p:txBody>
      </p:sp>
      <p:sp>
        <p:nvSpPr>
          <p:cNvPr id="9" name="fit:da8048fa2cbba117 10"/>
          <p:cNvSpPr/>
          <p:nvPr/>
        </p:nvSpPr>
        <p:spPr>
          <a:xfrm>
            <a:off x="612648" y="1636776"/>
            <a:ext cx="10972800" cy="667512"/>
          </a:xfrm>
          <a:prstGeom prst="rect">
            <a:avLst/>
          </a:prstGeom>
          <a:noFill/>
          <a:ln w="0">
            <a:noFill/>
          </a:ln>
        </p:spPr>
        <p:txBody>
          <a:bodyPr wrap="square" lIns="0" tIns="0" rIns="0" bIns="0" anchor="t">
            <a:noAutofit/>
          </a:bodyPr>
          <a:lstStyle/>
          <a:p>
            <a:pPr algn="l" eaLnBrk="0" latinLnBrk="0">
              <a:lnSpc>
                <a:spcPct val="105000"/>
              </a:lnSpc>
              <a:buNone/>
            </a:pPr>
            <a:r>
              <a:rPr lang="ko-KR" altLang="en-US" sz="2025" b="0" dirty="0">
                <a:solidFill>
                  <a:srgbClr val="171717"/>
                </a:solidFill>
                <a:latin typeface="Malgun Gothic"/>
                <a:ea typeface="Malgun Gothic"/>
                <a:cs typeface="Malgun Gothic"/>
              </a:rPr>
              <a:t>지금 기준으로 가장 좋아 보이는 선택을 해도, 그 선택을 포함하는 최적해가 적어도 하나 있다는 성질입니다.</a:t>
            </a:r>
          </a:p>
        </p:txBody>
      </p:sp>
      <p:sp>
        <p:nvSpPr>
          <p:cNvPr id="10" name="fit:ff74592b4967b429 11"/>
          <p:cNvSpPr/>
          <p:nvPr/>
        </p:nvSpPr>
        <p:spPr>
          <a:xfrm>
            <a:off x="612648" y="2432304"/>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판별 질문: 이 선택을 포함하는 최적해가 있는가?</a:t>
            </a:r>
          </a:p>
        </p:txBody>
      </p:sp>
      <p:sp>
        <p:nvSpPr>
          <p:cNvPr id="11" name="fit:7d1e5cef806786a7 12"/>
          <p:cNvSpPr/>
          <p:nvPr/>
        </p:nvSpPr>
        <p:spPr>
          <a:xfrm>
            <a:off x="612648" y="294436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예</a:t>
            </a:r>
          </a:p>
        </p:txBody>
      </p:sp>
      <p:sp>
        <p:nvSpPr>
          <p:cNvPr id="12" name="fit:84a1dec647adb88c 13"/>
          <p:cNvSpPr/>
          <p:nvPr/>
        </p:nvSpPr>
        <p:spPr>
          <a:xfrm>
            <a:off x="795528" y="327355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 선택을 확정하고 남은 문제로 넘어가도 최적해를 놓치지 않습니다.</a:t>
            </a:r>
          </a:p>
        </p:txBody>
      </p:sp>
      <p:sp>
        <p:nvSpPr>
          <p:cNvPr id="13" name="fit:7dcb18da4e339036 14"/>
          <p:cNvSpPr/>
          <p:nvPr/>
        </p:nvSpPr>
        <p:spPr>
          <a:xfrm>
            <a:off x="612648" y="365760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아니오</a:t>
            </a:r>
          </a:p>
        </p:txBody>
      </p:sp>
      <p:sp>
        <p:nvSpPr>
          <p:cNvPr id="14" name="fit:06b28aa1c99695bf 15"/>
          <p:cNvSpPr/>
          <p:nvPr/>
        </p:nvSpPr>
        <p:spPr>
          <a:xfrm>
            <a:off x="795528" y="398678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그 선택을 하는 순간 최적해로 가는 길이 모두 막힙니다.</a:t>
            </a:r>
          </a:p>
        </p:txBody>
      </p:sp>
      <p:sp>
        <p:nvSpPr>
          <p:cNvPr id="15" name="fit:b456af62ded74b9b 16"/>
          <p:cNvSpPr/>
          <p:nvPr/>
        </p:nvSpPr>
        <p:spPr>
          <a:xfrm>
            <a:off x="612648" y="4370832"/>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"안전하다"는 다른 선택보다 더 좋다는 뜻이 아니라, 이 선택을 해도 최적해로 가는 길이 남아 있다는 뜻입니다. 최적해가 여러 개라면 그중 하나만 이 선택을 포함해도 됩니다.</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교환 논증의 핵심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46</a:t>
            </a:r>
            <a:endParaRPr lang="ko-KR" altLang="en-US" sz="1050" b="0" dirty="0">
              <a:solidFill>
                <a:srgbClr val="606060"/>
              </a:solidFill>
              <a:latin typeface="Malgun Gothic"/>
              <a:ea typeface="Malgun Gothic"/>
              <a:cs typeface="Malgun Gothic"/>
            </a:endParaRPr>
          </a:p>
        </p:txBody>
      </p:sp>
      <p:sp>
        <p:nvSpPr>
          <p:cNvPr id="9" name="fit:075aa79d3a3cab7b 10"/>
          <p:cNvSpPr/>
          <p:nvPr/>
        </p:nvSpPr>
        <p:spPr>
          <a:xfrm>
            <a:off x="612648" y="1636776"/>
            <a:ext cx="10972800" cy="402336"/>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0E8A7D"/>
                </a:solidFill>
                <a:latin typeface="Malgun Gothic"/>
                <a:ea typeface="Malgun Gothic"/>
                <a:cs typeface="Malgun Gothic"/>
              </a:rPr>
              <a:t>최적해의 일부를 탐욕 선택으로 바꿔도 여전히 최적해임을 보입니다.</a:t>
            </a:r>
          </a:p>
        </p:txBody>
      </p:sp>
      <p:sp>
        <p:nvSpPr>
          <p:cNvPr id="10" name="fit:0543bbfcadfb527b 11"/>
          <p:cNvSpPr/>
          <p:nvPr/>
        </p:nvSpPr>
        <p:spPr>
          <a:xfrm>
            <a:off x="612648" y="2148840"/>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어떤 최적해 O에서 시작합니다</a:t>
            </a:r>
          </a:p>
        </p:txBody>
      </p:sp>
      <p:sp>
        <p:nvSpPr>
          <p:cNvPr id="11" name="fit:778e49bc6fc4af9d 12"/>
          <p:cNvSpPr/>
          <p:nvPr/>
        </p:nvSpPr>
        <p:spPr>
          <a:xfrm>
            <a:off x="795528" y="2478024"/>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O에 탐욕 선택 g가 없다고 합시다.</a:t>
            </a:r>
          </a:p>
        </p:txBody>
      </p:sp>
      <p:sp>
        <p:nvSpPr>
          <p:cNvPr id="12" name="fit:aeef3f2e8ea647cf 13"/>
          <p:cNvSpPr/>
          <p:nvPr/>
        </p:nvSpPr>
        <p:spPr>
          <a:xfrm>
            <a:off x="612648" y="2862072"/>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O의 일부를 g로 바꿉니다</a:t>
            </a:r>
          </a:p>
        </p:txBody>
      </p:sp>
      <p:sp>
        <p:nvSpPr>
          <p:cNvPr id="13" name="fit:8c8ea80a6aff296d 14"/>
          <p:cNvSpPr/>
          <p:nvPr/>
        </p:nvSpPr>
        <p:spPr>
          <a:xfrm>
            <a:off x="795528" y="3191256"/>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바꾼 O′도 문제의 조건(겹치지 않음, 용량, 금액)을 지킵니다.</a:t>
            </a:r>
          </a:p>
        </p:txBody>
      </p:sp>
      <p:sp>
        <p:nvSpPr>
          <p:cNvPr id="14" name="fit:fef3bc31f9cf10dd 15"/>
          <p:cNvSpPr/>
          <p:nvPr/>
        </p:nvSpPr>
        <p:spPr>
          <a:xfrm>
            <a:off x="612648" y="357530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값이 나빠지지 않음을 보입니다</a:t>
            </a:r>
          </a:p>
        </p:txBody>
      </p:sp>
      <p:sp>
        <p:nvSpPr>
          <p:cNvPr id="15" name="fit:4c49ef934ca2f6cd 16"/>
          <p:cNvSpPr/>
          <p:nvPr/>
        </p:nvSpPr>
        <p:spPr>
          <a:xfrm>
            <a:off x="795528" y="390448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O′의 값이 O보다 나쁘지 않으면 O′도 최적해이고, O′에는 g가 들어 있습니다.</a:t>
            </a:r>
          </a:p>
        </p:txBody>
      </p:sp>
      <p:graphicFrame>
        <p:nvGraphicFramePr>
          <p:cNvPr id="16" name="표 17"/>
          <p:cNvGraphicFramePr>
            <a:graphicFrameLocks noGrp="1"/>
          </p:cNvGraphicFramePr>
          <p:nvPr>
            <p:extLst>
              <p:ext uri="{D42A27DB-BD31-4B8C-83A1-F6EECF244321}">
                <p14:modId xmlns:p14="http://schemas.microsoft.com/office/powerpoint/2010/main" val="1569709295"/>
              </p:ext>
            </p:extLst>
          </p:nvPr>
        </p:nvGraphicFramePr>
        <p:xfrm>
          <a:off x="612648" y="4288536"/>
          <a:ext cx="10972800" cy="1243584"/>
        </p:xfrm>
        <a:graphic>
          <a:graphicData uri="http://schemas.openxmlformats.org/drawingml/2006/table">
            <a:tbl>
              <a:tblPr/>
              <a:tblGrid>
                <a:gridCol w="24384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예</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바꾸는 것</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나빠지지 않는 이유</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활동 선택 (5.3)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O의 첫 회의 → 1번 [1, 3)</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1번이 더 일찍 끝나 겹치지 않고, 개수 그대로</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분할 배낭 (5.4)</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안의 B·C 1kg → 밖의 A 1kg</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1kg당 600 G → 700 G, 가치가 늘어남</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표준 동전 (5.2)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100원 5개 → 500원 1개</a:t>
                      </a:r>
                    </a:p>
                  </a:txBody>
                  <a:tcPr marL="54864" marR="54864" marT="18288" marB="18288" anchor="ctr">
                    <a:solidFill>
                      <a:srgbClr val="FFFFFF"/>
                    </a:solidFill>
                  </a:tcPr>
                </a:tc>
                <a:tc>
                  <a:txBody>
                    <a:bodyPr/>
                    <a:lstStyle/>
                    <a:p>
                      <a:pPr algn="ctr" eaLnBrk="0" latinLnBrk="0">
                        <a:lnSpc>
                          <a:spcPct val="100000"/>
                        </a:lnSpc>
                        <a:buNone/>
                      </a:pPr>
                      <a:r>
                        <a:rPr lang="ko-KR" altLang="en-US" sz="1400" b="0">
                          <a:solidFill>
                            <a:srgbClr val="151515"/>
                          </a:solidFill>
                          <a:latin typeface="Malgun Gothic"/>
                          <a:ea typeface="Malgun Gothic"/>
                          <a:cs typeface="Malgun Gothic"/>
                        </a:rPr>
                        <a:t>같은 금액을 동전 </a:t>
                      </a:r>
                      <a:r>
                        <a:rPr lang="en-US" altLang="ko-KR" sz="1400" b="0">
                          <a:solidFill>
                            <a:srgbClr val="151515"/>
                          </a:solidFill>
                          <a:latin typeface="Malgun Gothic"/>
                          <a:ea typeface="Malgun Gothic"/>
                          <a:cs typeface="Malgun Gothic"/>
                        </a:rPr>
                        <a:t>4</a:t>
                      </a:r>
                      <a:r>
                        <a:rPr lang="ko-KR" altLang="en-US" sz="1400" b="0">
                          <a:solidFill>
                            <a:srgbClr val="151515"/>
                          </a:solidFill>
                          <a:latin typeface="Malgun Gothic"/>
                          <a:ea typeface="Malgun Gothic"/>
                          <a:cs typeface="Malgun Gothic"/>
                        </a:rPr>
                        <a:t>개 적게</a:t>
                      </a:r>
                      <a:endParaRPr lang="ko-KR" altLang="en-US" sz="1400" b="0" dirty="0">
                        <a:solidFill>
                          <a:srgbClr val="151515"/>
                        </a:solidFill>
                        <a:latin typeface="Malgun Gothic"/>
                        <a:ea typeface="Malgun Gothic"/>
                        <a:cs typeface="Malgun Gothic"/>
                      </a:endParaRP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7" name="fit:7ff1daad6120779c 18"/>
          <p:cNvSpPr/>
          <p:nvPr/>
        </p:nvSpPr>
        <p:spPr>
          <a:xfrm>
            <a:off x="612648" y="567842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결론은 늘 같습니다. 탐욕 선택을 포함하는 최적해가 있다 → 탐욕적 선택 속성이 성립합니다.</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최적 부분 구조 (optimal substructure)</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47</a:t>
            </a:r>
            <a:endParaRPr lang="ko-KR" altLang="en-US" sz="1050" b="0" dirty="0">
              <a:solidFill>
                <a:srgbClr val="606060"/>
              </a:solidFill>
              <a:latin typeface="Malgun Gothic"/>
              <a:ea typeface="Malgun Gothic"/>
              <a:cs typeface="Malgun Gothic"/>
            </a:endParaRPr>
          </a:p>
        </p:txBody>
      </p:sp>
      <p:sp>
        <p:nvSpPr>
          <p:cNvPr id="9" name="fit:4b2df7395048251b 10"/>
          <p:cNvSpPr/>
          <p:nvPr/>
        </p:nvSpPr>
        <p:spPr>
          <a:xfrm>
            <a:off x="658368" y="1737360"/>
            <a:ext cx="5120640" cy="1170432"/>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선택하고 남은 부분 문제(하위 문제)의 최적해에 그 선택을 더하면 전체 최적해가 된다는 성질입니다. 거꾸로 말하면 전체 최적해 안에 부분 문제의 최적해가 들어 있습니다.</a:t>
            </a:r>
          </a:p>
        </p:txBody>
      </p:sp>
      <p:sp>
        <p:nvSpPr>
          <p:cNvPr id="10" name="fit:9ea371377acf8344 11"/>
          <p:cNvSpPr/>
          <p:nvPr/>
        </p:nvSpPr>
        <p:spPr>
          <a:xfrm>
            <a:off x="658368" y="3035808"/>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예: 활동 선택</a:t>
            </a:r>
          </a:p>
        </p:txBody>
      </p:sp>
      <p:sp>
        <p:nvSpPr>
          <p:cNvPr id="11" name="fit:fe7c3a85be490736 12"/>
          <p:cNvSpPr/>
          <p:nvPr/>
        </p:nvSpPr>
        <p:spPr>
          <a:xfrm>
            <a:off x="841248" y="3364992"/>
            <a:ext cx="4937760" cy="77724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1번 [1, 3)을 고르면 남은 문제는 "3시 이후에 시작하는 회의 중 최대 개수 고르기"입니다. 그 최적해에 1번을 더하면 전체 최적해가 됩니다.</a:t>
            </a:r>
          </a:p>
        </p:txBody>
      </p:sp>
      <p:sp>
        <p:nvSpPr>
          <p:cNvPr id="12" name="fit:83a860a318d281b9 13"/>
          <p:cNvSpPr/>
          <p:nvPr/>
        </p:nvSpPr>
        <p:spPr>
          <a:xfrm>
            <a:off x="658368" y="4251960"/>
            <a:ext cx="512064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그리디는 선택을 확정한 뒤 남은 문제를 같은 방법으로 풉니다. 그래서 이 성질이 필요합니다.</a:t>
            </a:r>
          </a:p>
        </p:txBody>
      </p:sp>
      <p:sp>
        <p:nvSpPr>
          <p:cNvPr id="13" name="fit:3a5405e8e2e35d0d 14"/>
          <p:cNvSpPr/>
          <p:nvPr/>
        </p:nvSpPr>
        <p:spPr>
          <a:xfrm>
            <a:off x="658368" y="4901184"/>
            <a:ext cx="512064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4장의 최대 구간 합처럼 분할 정복으로 푸는 최적화 문제, 6장의 동적 계획법도 이 성질을 씁니다.</a:t>
            </a:r>
          </a:p>
        </p:txBody>
      </p:sp>
      <p:pic>
        <p:nvPicPr>
          <p:cNvPr id="14" name="그림 15"/>
          <p:cNvPicPr>
            <a:picLocks noChangeAspect="1"/>
          </p:cNvPicPr>
          <p:nvPr/>
        </p:nvPicPr>
        <p:blipFill>
          <a:blip r:embed="rId3"/>
          <a:stretch>
            <a:fillRect/>
          </a:stretch>
        </p:blipFill>
        <p:spPr>
          <a:xfrm>
            <a:off x="6126480" y="2441899"/>
            <a:ext cx="5458968" cy="2980042"/>
          </a:xfrm>
          <a:prstGeom prst="rect">
            <a:avLst/>
          </a:prstGeom>
        </p:spPr>
      </p:pic>
      <p:sp>
        <p:nvSpPr>
          <p:cNvPr id="15" name="직사각형 16"/>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작은 문제의 최적해(그림의 최적 부분해)를 모아 전체 최적해(그림의 전역 최적해)를 만듭니다.</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5.5  그리디가 통하는 조건</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주의: ②만으로는 그리디를 보장할 수 없다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48</a:t>
            </a:r>
            <a:endParaRPr lang="ko-KR" altLang="en-US" sz="1050" b="0" dirty="0">
              <a:solidFill>
                <a:srgbClr val="606060"/>
              </a:solidFill>
              <a:latin typeface="Malgun Gothic"/>
              <a:ea typeface="Malgun Gothic"/>
              <a:cs typeface="Malgun Gothic"/>
            </a:endParaRPr>
          </a:p>
        </p:txBody>
      </p:sp>
      <p:graphicFrame>
        <p:nvGraphicFramePr>
          <p:cNvPr id="9" name="표 10"/>
          <p:cNvGraphicFramePr>
            <a:graphicFrameLocks noGrp="1"/>
          </p:cNvGraphicFramePr>
          <p:nvPr>
            <p:extLst>
              <p:ext uri="{D42A27DB-BD31-4B8C-83A1-F6EECF244321}">
                <p14:modId xmlns:p14="http://schemas.microsoft.com/office/powerpoint/2010/main" val="3515759034"/>
              </p:ext>
            </p:extLst>
          </p:nvPr>
        </p:nvGraphicFramePr>
        <p:xfrm>
          <a:off x="612648" y="1636776"/>
          <a:ext cx="10972800" cy="2304288"/>
        </p:xfrm>
        <a:graphic>
          <a:graphicData uri="http://schemas.openxmlformats.org/drawingml/2006/table">
            <a:tbl>
              <a:tblPr/>
              <a:tblGrid>
                <a:gridCol w="4014439">
                  <a:extLst>
                    <a:ext uri="{9D8B030D-6E8A-4147-A177-3AD203B41FA5}">
                      <a16:colId xmlns:a16="http://schemas.microsoft.com/office/drawing/2014/main" val="20000"/>
                    </a:ext>
                  </a:extLst>
                </a:gridCol>
                <a:gridCol w="1873405">
                  <a:extLst>
                    <a:ext uri="{9D8B030D-6E8A-4147-A177-3AD203B41FA5}">
                      <a16:colId xmlns:a16="http://schemas.microsoft.com/office/drawing/2014/main" val="20001"/>
                    </a:ext>
                  </a:extLst>
                </a:gridCol>
                <a:gridCol w="2141034">
                  <a:extLst>
                    <a:ext uri="{9D8B030D-6E8A-4147-A177-3AD203B41FA5}">
                      <a16:colId xmlns:a16="http://schemas.microsoft.com/office/drawing/2014/main" val="20002"/>
                    </a:ext>
                  </a:extLst>
                </a:gridCol>
                <a:gridCol w="2943922">
                  <a:extLst>
                    <a:ext uri="{9D8B030D-6E8A-4147-A177-3AD203B41FA5}">
                      <a16:colId xmlns:a16="http://schemas.microsoft.com/office/drawing/2014/main" val="20003"/>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문제 (그리디의 기준)</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① 탐욕적 선택</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② 최적 부분 구조</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그리디의 결과</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활동 선택 (종료가 빠른 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최적</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분할 배낭 (무게당 가치 순)</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최적</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en-US" altLang="ko-KR" sz="1500" b="0">
                          <a:solidFill>
                            <a:srgbClr val="151515"/>
                          </a:solidFill>
                          <a:latin typeface="Malgun Gothic"/>
                          <a:ea typeface="Malgun Gothic"/>
                          <a:cs typeface="Malgun Gothic"/>
                        </a:rPr>
                        <a:t>1·3·4</a:t>
                      </a:r>
                      <a:r>
                        <a:rPr lang="ko-KR" altLang="en-US" sz="1500" b="0">
                          <a:solidFill>
                            <a:srgbClr val="151515"/>
                          </a:solidFill>
                          <a:latin typeface="Malgun Gothic"/>
                          <a:ea typeface="Malgun Gothic"/>
                          <a:cs typeface="Malgun Gothic"/>
                        </a:rPr>
                        <a:t>원 동전 </a:t>
                      </a:r>
                      <a:r>
                        <a:rPr lang="en-US" altLang="ko-KR" sz="1500" b="0">
                          <a:solidFill>
                            <a:srgbClr val="151515"/>
                          </a:solidFill>
                          <a:latin typeface="Malgun Gothic"/>
                          <a:ea typeface="Malgun Gothic"/>
                          <a:cs typeface="Malgun Gothic"/>
                        </a:rPr>
                        <a:t>(</a:t>
                      </a:r>
                      <a:r>
                        <a:rPr lang="ko-KR" altLang="en-US" sz="1500" b="0">
                          <a:solidFill>
                            <a:srgbClr val="151515"/>
                          </a:solidFill>
                          <a:latin typeface="Malgun Gothic"/>
                          <a:ea typeface="Malgun Gothic"/>
                          <a:cs typeface="Malgun Gothic"/>
                        </a:rPr>
                        <a:t>큰 동전부터</a:t>
                      </a:r>
                      <a:r>
                        <a:rPr lang="en-US" altLang="ko-KR" sz="1500" b="0">
                          <a:solidFill>
                            <a:srgbClr val="151515"/>
                          </a:solidFill>
                          <a:latin typeface="Malgun Gothic"/>
                          <a:ea typeface="Malgun Gothic"/>
                          <a:cs typeface="Malgun Gothic"/>
                        </a:rPr>
                        <a:t>)</a:t>
                      </a:r>
                      <a:endParaRPr lang="ko-KR" altLang="en-US" sz="1500" b="0" dirty="0">
                        <a:solidFill>
                          <a:srgbClr val="151515"/>
                        </a:solidFill>
                        <a:latin typeface="Malgun Gothic"/>
                        <a:ea typeface="Malgun Gothic"/>
                        <a:cs typeface="Malgun Gothic"/>
                      </a:endParaRP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깨짐</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보장 못 함 → 6장 DP</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0/1 배낭 (무게당 가치 순)</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깨짐</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보장 못 함 → 6장 DP</a:t>
                      </a:r>
                    </a:p>
                  </a:txBody>
                  <a:tcPr marL="54864" marR="54864" marT="18288" marB="18288" anchor="ctr">
                    <a:solidFill>
                      <a:srgbClr val="FFFFFF"/>
                    </a:solidFill>
                  </a:tcPr>
                </a:tc>
                <a:extLst>
                  <a:ext uri="{0D108BD9-81ED-4DB2-BD59-A6C34878D82A}">
                    <a16:rowId xmlns:a16="http://schemas.microsoft.com/office/drawing/2014/main" val="10004"/>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최단 경로, 간선 비용 ≥ 0 (다익스트라)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256B50"/>
                          </a:solidFill>
                          <a:latin typeface="Malgun Gothic"/>
                          <a:ea typeface="Malgun Gothic"/>
                          <a:cs typeface="Malgun Gothic"/>
                        </a:rPr>
                        <a:t>최적 (5.8)</a:t>
                      </a:r>
                    </a:p>
                  </a:txBody>
                  <a:tcPr marL="54864" marR="54864" marT="18288" marB="18288" anchor="ctr">
                    <a:solidFill>
                      <a:srgbClr val="FFFFFF"/>
                    </a:solidFill>
                  </a:tcPr>
                </a:tc>
                <a:extLst>
                  <a:ext uri="{0D108BD9-81ED-4DB2-BD59-A6C34878D82A}">
                    <a16:rowId xmlns:a16="http://schemas.microsoft.com/office/drawing/2014/main" val="10005"/>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최단 경로, 음수 간선 (다익스트라)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깨짐</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성립</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B23B3B"/>
                          </a:solidFill>
                          <a:latin typeface="Malgun Gothic"/>
                          <a:ea typeface="Malgun Gothic"/>
                          <a:cs typeface="Malgun Gothic"/>
                        </a:rPr>
                        <a:t>틀릴 수 있음 (5.8)</a:t>
                      </a:r>
                    </a:p>
                  </a:txBody>
                  <a:tcPr marL="54864" marR="54864" marT="18288" marB="18288" anchor="ctr">
                    <a:solidFill>
                      <a:srgbClr val="FFFFFF"/>
                    </a:solidFill>
                  </a:tcPr>
                </a:tc>
                <a:extLst>
                  <a:ext uri="{0D108BD9-81ED-4DB2-BD59-A6C34878D82A}">
                    <a16:rowId xmlns:a16="http://schemas.microsoft.com/office/drawing/2014/main" val="10006"/>
                  </a:ext>
                </a:extLst>
              </a:tr>
            </a:tbl>
          </a:graphicData>
        </a:graphic>
      </p:graphicFrame>
      <p:sp>
        <p:nvSpPr>
          <p:cNvPr id="10" name="fit:4c9fe978979afa60 11"/>
          <p:cNvSpPr/>
          <p:nvPr/>
        </p:nvSpPr>
        <p:spPr>
          <a:xfrm>
            <a:off x="612648" y="4087368"/>
            <a:ext cx="10972800" cy="676656"/>
          </a:xfrm>
          <a:prstGeom prst="rect">
            <a:avLst/>
          </a:prstGeom>
          <a:noFill/>
          <a:ln w="0">
            <a:noFill/>
          </a:ln>
        </p:spPr>
        <p:txBody>
          <a:bodyPr wrap="square" lIns="0" tIns="0" rIns="0" bIns="0" anchor="t">
            <a:noAutofit/>
          </a:bodyPr>
          <a:lstStyle/>
          <a:p>
            <a:pPr algn="l" eaLnBrk="0" latinLnBrk="0">
              <a:lnSpc>
                <a:spcPct val="100000"/>
              </a:lnSpc>
              <a:buNone/>
            </a:pPr>
            <a:r>
              <a:rPr lang="en-US" altLang="ko-KR" sz="2100" b="1">
                <a:solidFill>
                  <a:srgbClr val="0E8A7D"/>
                </a:solidFill>
                <a:latin typeface="Malgun Gothic"/>
                <a:ea typeface="Malgun Gothic"/>
                <a:cs typeface="Malgun Gothic"/>
              </a:rPr>
              <a:t>1·3·4</a:t>
            </a:r>
            <a:r>
              <a:rPr lang="ko-KR" altLang="en-US" sz="2100" b="1">
                <a:solidFill>
                  <a:srgbClr val="0E8A7D"/>
                </a:solidFill>
                <a:latin typeface="Malgun Gothic"/>
                <a:ea typeface="Malgun Gothic"/>
                <a:cs typeface="Malgun Gothic"/>
              </a:rPr>
              <a:t>원 동전과 </a:t>
            </a:r>
            <a:r>
              <a:rPr lang="en-US" altLang="ko-KR" sz="2100" b="1">
                <a:solidFill>
                  <a:srgbClr val="0E8A7D"/>
                </a:solidFill>
                <a:latin typeface="Malgun Gothic"/>
                <a:ea typeface="Malgun Gothic"/>
                <a:cs typeface="Malgun Gothic"/>
              </a:rPr>
              <a:t>0/1 </a:t>
            </a:r>
            <a:r>
              <a:rPr lang="ko-KR" altLang="en-US" sz="2100" b="1">
                <a:solidFill>
                  <a:srgbClr val="0E8A7D"/>
                </a:solidFill>
                <a:latin typeface="Malgun Gothic"/>
                <a:ea typeface="Malgun Gothic"/>
                <a:cs typeface="Malgun Gothic"/>
              </a:rPr>
              <a:t>배낭은 </a:t>
            </a:r>
            <a:r>
              <a:rPr lang="ko-KR" altLang="en-US" sz="2100" b="1" dirty="0">
                <a:solidFill>
                  <a:srgbClr val="0E8A7D"/>
                </a:solidFill>
                <a:latin typeface="Malgun Gothic"/>
                <a:ea typeface="Malgun Gothic"/>
                <a:cs typeface="Malgun Gothic"/>
              </a:rPr>
              <a:t>①이 깨진 예입니다. ②는 성립하므로 6장 동적 계획법으로 풀립니다.</a:t>
            </a:r>
          </a:p>
        </p:txBody>
      </p:sp>
      <p:sp>
        <p:nvSpPr>
          <p:cNvPr id="11" name="fit:b330f053da83b4f4 12"/>
          <p:cNvSpPr/>
          <p:nvPr/>
        </p:nvSpPr>
        <p:spPr>
          <a:xfrm>
            <a:off x="612648" y="4873752"/>
            <a:ext cx="10972800"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최단 경로는 음수 간선이 있어도(한 바퀴 돌수록 짧아지는 순환이 없다면) ②가 성립합니다. 다익스트라가 옳으려면 "간선 비용이 모두 0 이상이면, 아직 확정하지 않은 곳 중 지금 가장 가까운 곳은 더 가까워지지 않는다"는 ①의 근거가 더 필요합니다.</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그래프 용어: 정점, 간선, 가중치</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49</a:t>
            </a:r>
            <a:endParaRPr lang="ko-KR" altLang="en-US" sz="1050" b="0" dirty="0">
              <a:solidFill>
                <a:srgbClr val="606060"/>
              </a:solidFill>
              <a:latin typeface="Malgun Gothic"/>
              <a:ea typeface="Malgun Gothic"/>
              <a:cs typeface="Malgun Gothic"/>
            </a:endParaRPr>
          </a:p>
        </p:txBody>
      </p:sp>
      <p:sp>
        <p:nvSpPr>
          <p:cNvPr id="9" name="fit:b7889294fc2e6941 10"/>
          <p:cNvSpPr/>
          <p:nvPr/>
        </p:nvSpPr>
        <p:spPr>
          <a:xfrm>
            <a:off x="612648" y="1636776"/>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도시와 도로를 그래프로 나타냅니다. 왼쪽은 정점 4개, 간선 5개짜리 그래프입니다.</a:t>
            </a:r>
          </a:p>
        </p:txBody>
      </p:sp>
      <p:cxnSp>
        <p:nvCxnSpPr>
          <p:cNvPr id="10" name="연결선 11"/>
          <p:cNvCxnSpPr/>
          <p:nvPr/>
        </p:nvCxnSpPr>
        <p:spPr>
          <a:xfrm flipV="1">
            <a:off x="1119823" y="2880149"/>
            <a:ext cx="1783714" cy="1189142"/>
          </a:xfrm>
          <a:prstGeom prst="line">
            <a:avLst/>
          </a:prstGeom>
          <a:ln w="19050">
            <a:solidFill>
              <a:srgbClr val="9A9A9A"/>
            </a:solidFill>
          </a:ln>
        </p:spPr>
      </p:cxnSp>
      <p:sp>
        <p:nvSpPr>
          <p:cNvPr id="11" name="직사각형 12"/>
          <p:cNvSpPr/>
          <p:nvPr/>
        </p:nvSpPr>
        <p:spPr>
          <a:xfrm>
            <a:off x="1692781" y="321582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12" name="연결선 13"/>
          <p:cNvCxnSpPr/>
          <p:nvPr/>
        </p:nvCxnSpPr>
        <p:spPr>
          <a:xfrm>
            <a:off x="3108960" y="2990088"/>
            <a:ext cx="0" cy="2432304"/>
          </a:xfrm>
          <a:prstGeom prst="line">
            <a:avLst/>
          </a:prstGeom>
          <a:ln w="19050">
            <a:solidFill>
              <a:srgbClr val="9A9A9A"/>
            </a:solidFill>
          </a:ln>
        </p:spPr>
      </p:cxnSp>
      <p:sp>
        <p:nvSpPr>
          <p:cNvPr id="13" name="직사각형 14"/>
          <p:cNvSpPr/>
          <p:nvPr/>
        </p:nvSpPr>
        <p:spPr>
          <a:xfrm>
            <a:off x="2596896" y="40690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4" name="연결선 15"/>
          <p:cNvCxnSpPr/>
          <p:nvPr/>
        </p:nvCxnSpPr>
        <p:spPr>
          <a:xfrm>
            <a:off x="1119823" y="4343189"/>
            <a:ext cx="1783714" cy="1189142"/>
          </a:xfrm>
          <a:prstGeom prst="line">
            <a:avLst/>
          </a:prstGeom>
          <a:ln w="19050">
            <a:solidFill>
              <a:srgbClr val="9A9A9A"/>
            </a:solidFill>
          </a:ln>
        </p:spPr>
      </p:cxnSp>
      <p:sp>
        <p:nvSpPr>
          <p:cNvPr id="15" name="직사각형 16"/>
          <p:cNvSpPr/>
          <p:nvPr/>
        </p:nvSpPr>
        <p:spPr>
          <a:xfrm>
            <a:off x="1692781" y="492233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16" name="연결선 17"/>
          <p:cNvCxnSpPr/>
          <p:nvPr/>
        </p:nvCxnSpPr>
        <p:spPr>
          <a:xfrm flipV="1">
            <a:off x="3314383" y="4343189"/>
            <a:ext cx="1783714" cy="1189142"/>
          </a:xfrm>
          <a:prstGeom prst="line">
            <a:avLst/>
          </a:prstGeom>
          <a:ln w="19050">
            <a:solidFill>
              <a:srgbClr val="9A9A9A"/>
            </a:solidFill>
          </a:ln>
        </p:spPr>
      </p:cxnSp>
      <p:sp>
        <p:nvSpPr>
          <p:cNvPr id="17" name="직사각형 18"/>
          <p:cNvSpPr/>
          <p:nvPr/>
        </p:nvSpPr>
        <p:spPr>
          <a:xfrm>
            <a:off x="4049651" y="492233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18" name="연결선 19"/>
          <p:cNvCxnSpPr/>
          <p:nvPr/>
        </p:nvCxnSpPr>
        <p:spPr>
          <a:xfrm>
            <a:off x="3314383" y="2880149"/>
            <a:ext cx="1783714" cy="1189142"/>
          </a:xfrm>
          <a:prstGeom prst="line">
            <a:avLst/>
          </a:prstGeom>
          <a:ln w="19050">
            <a:solidFill>
              <a:srgbClr val="9A9A9A"/>
            </a:solidFill>
          </a:ln>
        </p:spPr>
      </p:cxnSp>
      <p:sp>
        <p:nvSpPr>
          <p:cNvPr id="19" name="직사각형 20"/>
          <p:cNvSpPr/>
          <p:nvPr/>
        </p:nvSpPr>
        <p:spPr>
          <a:xfrm>
            <a:off x="4049651" y="321582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0" name="직사각형 21"/>
          <p:cNvSpPr/>
          <p:nvPr/>
        </p:nvSpPr>
        <p:spPr>
          <a:xfrm>
            <a:off x="66751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1" name="직사각형 22"/>
          <p:cNvSpPr/>
          <p:nvPr/>
        </p:nvSpPr>
        <p:spPr>
          <a:xfrm>
            <a:off x="2862072" y="24963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2" name="직사각형 23"/>
          <p:cNvSpPr/>
          <p:nvPr/>
        </p:nvSpPr>
        <p:spPr>
          <a:xfrm>
            <a:off x="2862072" y="542239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3" name="직사각형 24"/>
          <p:cNvSpPr/>
          <p:nvPr/>
        </p:nvSpPr>
        <p:spPr>
          <a:xfrm>
            <a:off x="5056632" y="39593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graphicFrame>
        <p:nvGraphicFramePr>
          <p:cNvPr id="24" name="표 25"/>
          <p:cNvGraphicFramePr>
            <a:graphicFrameLocks noGrp="1"/>
          </p:cNvGraphicFramePr>
          <p:nvPr>
            <p:extLst>
              <p:ext uri="{D42A27DB-BD31-4B8C-83A1-F6EECF244321}">
                <p14:modId xmlns:p14="http://schemas.microsoft.com/office/powerpoint/2010/main" val="1412893198"/>
              </p:ext>
            </p:extLst>
          </p:nvPr>
        </p:nvGraphicFramePr>
        <p:xfrm>
          <a:off x="5943600" y="2651760"/>
          <a:ext cx="5641848" cy="1984248"/>
        </p:xfrm>
        <a:graphic>
          <a:graphicData uri="http://schemas.openxmlformats.org/drawingml/2006/table">
            <a:tbl>
              <a:tblPr/>
              <a:tblGrid>
                <a:gridCol w="1524824">
                  <a:extLst>
                    <a:ext uri="{9D8B030D-6E8A-4147-A177-3AD203B41FA5}">
                      <a16:colId xmlns:a16="http://schemas.microsoft.com/office/drawing/2014/main" val="20000"/>
                    </a:ext>
                  </a:extLst>
                </a:gridCol>
                <a:gridCol w="2515959">
                  <a:extLst>
                    <a:ext uri="{9D8B030D-6E8A-4147-A177-3AD203B41FA5}">
                      <a16:colId xmlns:a16="http://schemas.microsoft.com/office/drawing/2014/main" val="20001"/>
                    </a:ext>
                  </a:extLst>
                </a:gridCol>
                <a:gridCol w="1601065">
                  <a:extLst>
                    <a:ext uri="{9D8B030D-6E8A-4147-A177-3AD203B41FA5}">
                      <a16:colId xmlns:a16="http://schemas.microsoft.com/office/drawing/2014/main" val="20002"/>
                    </a:ext>
                  </a:extLst>
                </a:gridCol>
              </a:tblGrid>
              <a:tr h="283464">
                <a:tc>
                  <a:txBody>
                    <a:bodyPr/>
                    <a:lstStyle/>
                    <a:p>
                      <a:pPr algn="ctr" eaLnBrk="0" latinLnBrk="0">
                        <a:lnSpc>
                          <a:spcPct val="100000"/>
                        </a:lnSpc>
                        <a:buNone/>
                      </a:pPr>
                      <a:r>
                        <a:rPr lang="ko-KR" altLang="en-US" sz="1300" b="1" dirty="0">
                          <a:solidFill>
                            <a:srgbClr val="FFFFFF"/>
                          </a:solidFill>
                          <a:latin typeface="Malgun Gothic"/>
                          <a:ea typeface="Malgun Gothic"/>
                          <a:cs typeface="Malgun Gothic"/>
                        </a:rPr>
                        <a:t>용어</a:t>
                      </a:r>
                    </a:p>
                  </a:txBody>
                  <a:tcPr marL="54864" marR="54864" marT="18288" marB="18288" anchor="ctr">
                    <a:solidFill>
                      <a:srgbClr val="151515"/>
                    </a:solidFill>
                  </a:tcPr>
                </a:tc>
                <a:tc>
                  <a:txBody>
                    <a:bodyPr/>
                    <a:lstStyle/>
                    <a:p>
                      <a:pPr algn="ctr" eaLnBrk="0" latinLnBrk="0">
                        <a:lnSpc>
                          <a:spcPct val="100000"/>
                        </a:lnSpc>
                        <a:buNone/>
                      </a:pPr>
                      <a:r>
                        <a:rPr lang="ko-KR" altLang="en-US" sz="1300" b="1" dirty="0">
                          <a:solidFill>
                            <a:srgbClr val="FFFFFF"/>
                          </a:solidFill>
                          <a:latin typeface="Malgun Gothic"/>
                          <a:ea typeface="Malgun Gothic"/>
                          <a:cs typeface="Malgun Gothic"/>
                        </a:rPr>
                        <a:t>뜻</a:t>
                      </a:r>
                    </a:p>
                  </a:txBody>
                  <a:tcPr marL="54864" marR="54864" marT="18288" marB="18288" anchor="ctr">
                    <a:solidFill>
                      <a:srgbClr val="151515"/>
                    </a:solidFill>
                  </a:tcPr>
                </a:tc>
                <a:tc>
                  <a:txBody>
                    <a:bodyPr/>
                    <a:lstStyle/>
                    <a:p>
                      <a:pPr algn="ctr" eaLnBrk="0" latinLnBrk="0">
                        <a:lnSpc>
                          <a:spcPct val="100000"/>
                        </a:lnSpc>
                        <a:buNone/>
                      </a:pPr>
                      <a:r>
                        <a:rPr lang="ko-KR" altLang="en-US" sz="1300" b="1" dirty="0">
                          <a:solidFill>
                            <a:srgbClr val="FFFFFF"/>
                          </a:solidFill>
                          <a:latin typeface="Malgun Gothic"/>
                          <a:ea typeface="Malgun Gothic"/>
                          <a:cs typeface="Malgun Gothic"/>
                        </a:rPr>
                        <a:t>이 그림에서</a:t>
                      </a:r>
                    </a:p>
                  </a:txBody>
                  <a:tcPr marL="54864" marR="54864" marT="18288" marB="18288" anchor="ctr">
                    <a:solidFill>
                      <a:srgbClr val="151515"/>
                    </a:solidFill>
                  </a:tcPr>
                </a:tc>
                <a:extLst>
                  <a:ext uri="{0D108BD9-81ED-4DB2-BD59-A6C34878D82A}">
                    <a16:rowId xmlns:a16="http://schemas.microsoft.com/office/drawing/2014/main" val="10000"/>
                  </a:ext>
                </a:extLst>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정점 (vertex)</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점. 예: 도시</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V = 4 (A~D)</a:t>
                      </a:r>
                    </a:p>
                  </a:txBody>
                  <a:tcPr marL="54864" marR="54864" marT="18288" marB="18288" anchor="ctr">
                    <a:solidFill>
                      <a:srgbClr val="FFFFFF"/>
                    </a:solidFill>
                  </a:tcPr>
                </a:tc>
                <a:extLst>
                  <a:ext uri="{0D108BD9-81ED-4DB2-BD59-A6C34878D82A}">
                    <a16:rowId xmlns:a16="http://schemas.microsoft.com/office/drawing/2014/main" val="10001"/>
                  </a:ext>
                </a:extLst>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간선 (edge)</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두 정점을 잇는 선. 예: 도로</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E = 5</a:t>
                      </a:r>
                    </a:p>
                  </a:txBody>
                  <a:tcPr marL="54864" marR="54864" marT="18288" marB="18288" anchor="ctr">
                    <a:solidFill>
                      <a:srgbClr val="FFFFFF"/>
                    </a:solidFill>
                  </a:tcPr>
                </a:tc>
                <a:extLst>
                  <a:ext uri="{0D108BD9-81ED-4DB2-BD59-A6C34878D82A}">
                    <a16:rowId xmlns:a16="http://schemas.microsoft.com/office/drawing/2014/main" val="10002"/>
                  </a:ext>
                </a:extLst>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가중치 (weight)</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간선에 붙은 비용</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 – B 1, C – D 4</a:t>
                      </a:r>
                    </a:p>
                  </a:txBody>
                  <a:tcPr marL="54864" marR="54864" marT="18288" marB="18288" anchor="ctr">
                    <a:solidFill>
                      <a:srgbClr val="FFFFFF"/>
                    </a:solidFill>
                  </a:tcPr>
                </a:tc>
                <a:extLst>
                  <a:ext uri="{0D108BD9-81ED-4DB2-BD59-A6C34878D82A}">
                    <a16:rowId xmlns:a16="http://schemas.microsoft.com/office/drawing/2014/main" val="10003"/>
                  </a:ext>
                </a:extLst>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경로 (path)</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간선을 따라 이어진 길</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 – B – D</a:t>
                      </a:r>
                    </a:p>
                  </a:txBody>
                  <a:tcPr marL="54864" marR="54864" marT="18288" marB="18288" anchor="ctr">
                    <a:solidFill>
                      <a:srgbClr val="FFFFFF"/>
                    </a:solidFill>
                  </a:tcPr>
                </a:tc>
                <a:extLst>
                  <a:ext uri="{0D108BD9-81ED-4DB2-BD59-A6C34878D82A}">
                    <a16:rowId xmlns:a16="http://schemas.microsoft.com/office/drawing/2014/main" val="10004"/>
                  </a:ext>
                </a:extLst>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사이클 (cycle)</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출발점으로 돌아오는 닫힌 길</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 – B – C – A</a:t>
                      </a:r>
                    </a:p>
                  </a:txBody>
                  <a:tcPr marL="54864" marR="54864" marT="18288" marB="18288" anchor="ctr">
                    <a:solidFill>
                      <a:srgbClr val="FFFFFF"/>
                    </a:solidFill>
                  </a:tcPr>
                </a:tc>
                <a:extLst>
                  <a:ext uri="{0D108BD9-81ED-4DB2-BD59-A6C34878D82A}">
                    <a16:rowId xmlns:a16="http://schemas.microsoft.com/office/drawing/2014/main" val="10005"/>
                  </a:ext>
                </a:extLst>
              </a:tr>
              <a:tr h="283464">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신장 (spanning)</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모든 정점을 포함한다</a:t>
                      </a:r>
                    </a:p>
                  </a:txBody>
                  <a:tcPr marL="54864" marR="54864" marT="18288" marB="18288" anchor="ctr">
                    <a:solidFill>
                      <a:srgbClr val="FFFFFF"/>
                    </a:solidFill>
                  </a:tcPr>
                </a:tc>
                <a:tc>
                  <a:txBody>
                    <a:bodyPr/>
                    <a:lstStyle/>
                    <a:p>
                      <a:pPr algn="ctr" eaLnBrk="0" latinLnBrk="0">
                        <a:lnSpc>
                          <a:spcPct val="100000"/>
                        </a:lnSpc>
                        <a:buNone/>
                      </a:pPr>
                      <a:r>
                        <a:rPr lang="ko-KR" altLang="en-US" sz="1300" b="0" dirty="0">
                          <a:solidFill>
                            <a:srgbClr val="151515"/>
                          </a:solidFill>
                          <a:latin typeface="Malgun Gothic"/>
                          <a:ea typeface="Malgun Gothic"/>
                          <a:cs typeface="Malgun Gothic"/>
                        </a:rPr>
                        <a:t>A~D 모두</a:t>
                      </a:r>
                    </a:p>
                  </a:txBody>
                  <a:tcPr marL="54864" marR="54864" marT="18288" marB="18288" anchor="ctr">
                    <a:solidFill>
                      <a:srgbClr val="FFFFFF"/>
                    </a:solidFill>
                  </a:tcPr>
                </a:tc>
                <a:extLst>
                  <a:ext uri="{0D108BD9-81ED-4DB2-BD59-A6C34878D82A}">
                    <a16:rowId xmlns:a16="http://schemas.microsoft.com/office/drawing/2014/main" val="10006"/>
                  </a:ext>
                </a:extLst>
              </a:tr>
            </a:tbl>
          </a:graphicData>
        </a:graphic>
      </p:graphicFrame>
      <p:sp>
        <p:nvSpPr>
          <p:cNvPr id="25" name="직사각형 26"/>
          <p:cNvSpPr/>
          <p:nvPr/>
        </p:nvSpPr>
        <p:spPr>
          <a:xfrm>
            <a:off x="5943600" y="4754880"/>
            <a:ext cx="5641848" cy="548640"/>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V는 정점의 수, E는 간선의 수를 나타내는 기호입니다.</a:t>
            </a:r>
          </a:p>
        </p:txBody>
      </p:sp>
      <p:sp>
        <p:nvSpPr>
          <p:cNvPr id="26" name="직사각형 2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원: 정점    선: 간선    선 위의 수: 가중치</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최소 신장 트리 (MST)</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50</a:t>
            </a:r>
            <a:endParaRPr lang="ko-KR" altLang="en-US" sz="1050" b="0" dirty="0">
              <a:solidFill>
                <a:srgbClr val="606060"/>
              </a:solidFill>
              <a:latin typeface="Malgun Gothic"/>
              <a:ea typeface="Malgun Gothic"/>
              <a:cs typeface="Malgun Gothic"/>
            </a:endParaRPr>
          </a:p>
        </p:txBody>
      </p:sp>
      <p:sp>
        <p:nvSpPr>
          <p:cNvPr id="9" name="fit:6f4c251d7e457f34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1" dirty="0">
                <a:solidFill>
                  <a:srgbClr val="171717"/>
                </a:solidFill>
                <a:latin typeface="Malgun Gothic"/>
                <a:ea typeface="Malgun Gothic"/>
                <a:cs typeface="Malgun Gothic"/>
              </a:rPr>
              <a:t>신장 트리</a:t>
            </a:r>
            <a:r>
              <a:rPr lang="ko-KR" altLang="en-US" sz="1800" b="0" dirty="0">
                <a:solidFill>
                  <a:srgbClr val="171717"/>
                </a:solidFill>
                <a:latin typeface="Malgun Gothic"/>
                <a:ea typeface="Malgun Gothic"/>
                <a:cs typeface="Malgun Gothic"/>
              </a:rPr>
              <a:t>: 모든 정점을 잇고, 사이클이 없는 간선 모음</a:t>
            </a:r>
          </a:p>
        </p:txBody>
      </p:sp>
      <p:sp>
        <p:nvSpPr>
          <p:cNvPr id="10" name="fit:6c01e07bf5dfc0d8 11"/>
          <p:cNvSpPr/>
          <p:nvPr/>
        </p:nvSpPr>
        <p:spPr>
          <a:xfrm>
            <a:off x="658368" y="2459736"/>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1" dirty="0">
                <a:solidFill>
                  <a:srgbClr val="171717"/>
                </a:solidFill>
                <a:latin typeface="Malgun Gothic"/>
                <a:ea typeface="Malgun Gothic"/>
                <a:cs typeface="Malgun Gothic"/>
              </a:rPr>
              <a:t>최소 신장 트리</a:t>
            </a:r>
            <a:r>
              <a:rPr lang="ko-KR" altLang="en-US" sz="1800" b="0" dirty="0">
                <a:solidFill>
                  <a:srgbClr val="171717"/>
                </a:solidFill>
                <a:latin typeface="Malgun Gothic"/>
                <a:ea typeface="Malgun Gothic"/>
                <a:cs typeface="Malgun Gothic"/>
              </a:rPr>
              <a:t>(Minimum Spanning Tree, MST): 신장 트리 중 가중치 합이 가장 작은 것</a:t>
            </a:r>
          </a:p>
        </p:txBody>
      </p:sp>
      <p:sp>
        <p:nvSpPr>
          <p:cNvPr id="11" name="fit:b96226f3235c7a30 12"/>
          <p:cNvSpPr/>
          <p:nvPr/>
        </p:nvSpPr>
        <p:spPr>
          <a:xfrm>
            <a:off x="658368" y="3182112"/>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모두 연결</a:t>
            </a:r>
          </a:p>
        </p:txBody>
      </p:sp>
      <p:sp>
        <p:nvSpPr>
          <p:cNvPr id="12" name="fit:5ab8854dd98eb610 13"/>
          <p:cNvSpPr/>
          <p:nvPr/>
        </p:nvSpPr>
        <p:spPr>
          <a:xfrm>
            <a:off x="841248" y="3511296"/>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어느 정점도 떨어져 있으면 안 됩니다.</a:t>
            </a:r>
          </a:p>
        </p:txBody>
      </p:sp>
      <p:sp>
        <p:nvSpPr>
          <p:cNvPr id="13" name="fit:fb6883d89e07b358 14"/>
          <p:cNvSpPr/>
          <p:nvPr/>
        </p:nvSpPr>
        <p:spPr>
          <a:xfrm>
            <a:off x="658368" y="3895344"/>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사이클 없음</a:t>
            </a:r>
          </a:p>
        </p:txBody>
      </p:sp>
      <p:sp>
        <p:nvSpPr>
          <p:cNvPr id="14" name="fit:73c417dc2f563200 15"/>
          <p:cNvSpPr/>
          <p:nvPr/>
        </p:nvSpPr>
        <p:spPr>
          <a:xfrm>
            <a:off x="841248" y="4224528"/>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사이클이 있으면 그중 간선 하나를 빼도 모두 연결된 채입니다. 모두 잇는 데 사이클은 필요 없습니다.</a:t>
            </a:r>
          </a:p>
        </p:txBody>
      </p:sp>
      <p:sp>
        <p:nvSpPr>
          <p:cNvPr id="15" name="fit:d9c07b4105e03927 16"/>
          <p:cNvSpPr/>
          <p:nvPr/>
        </p:nvSpPr>
        <p:spPr>
          <a:xfrm>
            <a:off x="658368" y="4864608"/>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간선은 정확히 V − 1개</a:t>
            </a:r>
          </a:p>
        </p:txBody>
      </p:sp>
      <p:sp>
        <p:nvSpPr>
          <p:cNvPr id="16" name="fit:e3b56a1b91c6221c 17"/>
          <p:cNvSpPr/>
          <p:nvPr/>
        </p:nvSpPr>
        <p:spPr>
          <a:xfrm>
            <a:off x="841248" y="5193792"/>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정점이 V개면 간선은 V − 1개입니다(다음 슬라이드).</a:t>
            </a:r>
          </a:p>
        </p:txBody>
      </p:sp>
      <p:pic>
        <p:nvPicPr>
          <p:cNvPr id="17" name="그림 18"/>
          <p:cNvPicPr>
            <a:picLocks noChangeAspect="1"/>
          </p:cNvPicPr>
          <p:nvPr/>
        </p:nvPicPr>
        <p:blipFill>
          <a:blip r:embed="rId3"/>
          <a:stretch>
            <a:fillRect/>
          </a:stretch>
        </p:blipFill>
        <p:spPr>
          <a:xfrm>
            <a:off x="6245546" y="1828800"/>
            <a:ext cx="5220836" cy="4206240"/>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굵은 선 9개 = 최소 신장 트리(정점 10개, 합 38). 집 = 정점, 선 = 간선, 수 = 가중치 (맨 위 짧은 굵은 선 = 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신장 트리의 간선은 V − 1개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51</a:t>
            </a:r>
            <a:endParaRPr lang="ko-KR" altLang="en-US" sz="1050" b="0" dirty="0">
              <a:solidFill>
                <a:srgbClr val="606060"/>
              </a:solidFill>
              <a:latin typeface="Malgun Gothic"/>
              <a:ea typeface="Malgun Gothic"/>
              <a:cs typeface="Malgun Gothic"/>
            </a:endParaRPr>
          </a:p>
        </p:txBody>
      </p:sp>
      <p:sp>
        <p:nvSpPr>
          <p:cNvPr id="9" name="fit:d1de669203f4ab65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덩어리 = 서로 경로로 이어진 정점들의 묶음입니다. 서로 다른 두 덩어리를 잇는 간선을 하나 더할 때마다 덩어리가 하나씩 줄어듭니다.</a:t>
            </a:r>
          </a:p>
        </p:txBody>
      </p:sp>
      <p:sp>
        <p:nvSpPr>
          <p:cNvPr id="10" name="직사각형 11"/>
          <p:cNvSpPr/>
          <p:nvPr/>
        </p:nvSpPr>
        <p:spPr>
          <a:xfrm>
            <a:off x="667512" y="309067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11" name="직사각형 12"/>
          <p:cNvSpPr/>
          <p:nvPr/>
        </p:nvSpPr>
        <p:spPr>
          <a:xfrm>
            <a:off x="1856232" y="309067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12" name="직사각형 13"/>
          <p:cNvSpPr/>
          <p:nvPr/>
        </p:nvSpPr>
        <p:spPr>
          <a:xfrm>
            <a:off x="185623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13" name="직사각형 14"/>
          <p:cNvSpPr/>
          <p:nvPr/>
        </p:nvSpPr>
        <p:spPr>
          <a:xfrm>
            <a:off x="66751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14" name="연결선 15"/>
          <p:cNvCxnSpPr/>
          <p:nvPr/>
        </p:nvCxnSpPr>
        <p:spPr>
          <a:xfrm>
            <a:off x="3264408" y="3291840"/>
            <a:ext cx="786384" cy="0"/>
          </a:xfrm>
          <a:prstGeom prst="line">
            <a:avLst/>
          </a:prstGeom>
          <a:ln w="44450">
            <a:solidFill>
              <a:srgbClr val="0E8A7D"/>
            </a:solidFill>
          </a:ln>
        </p:spPr>
      </p:cxnSp>
      <p:sp>
        <p:nvSpPr>
          <p:cNvPr id="15" name="직사각형 16"/>
          <p:cNvSpPr/>
          <p:nvPr/>
        </p:nvSpPr>
        <p:spPr>
          <a:xfrm>
            <a:off x="286207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16" name="직사각형 17"/>
          <p:cNvSpPr/>
          <p:nvPr/>
        </p:nvSpPr>
        <p:spPr>
          <a:xfrm>
            <a:off x="405079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17" name="직사각형 18"/>
          <p:cNvSpPr/>
          <p:nvPr/>
        </p:nvSpPr>
        <p:spPr>
          <a:xfrm>
            <a:off x="405079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18" name="직사각형 19"/>
          <p:cNvSpPr/>
          <p:nvPr/>
        </p:nvSpPr>
        <p:spPr>
          <a:xfrm>
            <a:off x="286207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19" name="연결선 20"/>
          <p:cNvCxnSpPr/>
          <p:nvPr/>
        </p:nvCxnSpPr>
        <p:spPr>
          <a:xfrm>
            <a:off x="5458968" y="3291840"/>
            <a:ext cx="786384" cy="0"/>
          </a:xfrm>
          <a:prstGeom prst="line">
            <a:avLst/>
          </a:prstGeom>
          <a:ln w="44450">
            <a:solidFill>
              <a:srgbClr val="0E8A7D"/>
            </a:solidFill>
          </a:ln>
        </p:spPr>
      </p:cxnSp>
      <p:cxnSp>
        <p:nvCxnSpPr>
          <p:cNvPr id="20" name="연결선 21"/>
          <p:cNvCxnSpPr/>
          <p:nvPr/>
        </p:nvCxnSpPr>
        <p:spPr>
          <a:xfrm>
            <a:off x="6446520" y="3493008"/>
            <a:ext cx="0" cy="694944"/>
          </a:xfrm>
          <a:prstGeom prst="line">
            <a:avLst/>
          </a:prstGeom>
          <a:ln w="44450">
            <a:solidFill>
              <a:srgbClr val="0E8A7D"/>
            </a:solidFill>
          </a:ln>
        </p:spPr>
      </p:cxnSp>
      <p:sp>
        <p:nvSpPr>
          <p:cNvPr id="21" name="직사각형 22"/>
          <p:cNvSpPr/>
          <p:nvPr/>
        </p:nvSpPr>
        <p:spPr>
          <a:xfrm>
            <a:off x="505663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2" name="직사각형 23"/>
          <p:cNvSpPr/>
          <p:nvPr/>
        </p:nvSpPr>
        <p:spPr>
          <a:xfrm>
            <a:off x="624535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3" name="직사각형 24"/>
          <p:cNvSpPr/>
          <p:nvPr/>
        </p:nvSpPr>
        <p:spPr>
          <a:xfrm>
            <a:off x="624535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4" name="직사각형 25"/>
          <p:cNvSpPr/>
          <p:nvPr/>
        </p:nvSpPr>
        <p:spPr>
          <a:xfrm>
            <a:off x="5056632" y="4187952"/>
            <a:ext cx="402336" cy="40233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25" name="연결선 26"/>
          <p:cNvCxnSpPr/>
          <p:nvPr/>
        </p:nvCxnSpPr>
        <p:spPr>
          <a:xfrm>
            <a:off x="7653528" y="3291840"/>
            <a:ext cx="786384" cy="0"/>
          </a:xfrm>
          <a:prstGeom prst="line">
            <a:avLst/>
          </a:prstGeom>
          <a:ln w="44450">
            <a:solidFill>
              <a:srgbClr val="0E8A7D"/>
            </a:solidFill>
          </a:ln>
        </p:spPr>
      </p:cxnSp>
      <p:cxnSp>
        <p:nvCxnSpPr>
          <p:cNvPr id="26" name="연결선 27"/>
          <p:cNvCxnSpPr/>
          <p:nvPr/>
        </p:nvCxnSpPr>
        <p:spPr>
          <a:xfrm>
            <a:off x="8641080" y="3493008"/>
            <a:ext cx="0" cy="694944"/>
          </a:xfrm>
          <a:prstGeom prst="line">
            <a:avLst/>
          </a:prstGeom>
          <a:ln w="44450">
            <a:solidFill>
              <a:srgbClr val="0E8A7D"/>
            </a:solidFill>
          </a:ln>
        </p:spPr>
      </p:cxnSp>
      <p:cxnSp>
        <p:nvCxnSpPr>
          <p:cNvPr id="27" name="연결선 28"/>
          <p:cNvCxnSpPr/>
          <p:nvPr/>
        </p:nvCxnSpPr>
        <p:spPr>
          <a:xfrm flipH="1">
            <a:off x="7653528" y="4389120"/>
            <a:ext cx="786384" cy="0"/>
          </a:xfrm>
          <a:prstGeom prst="line">
            <a:avLst/>
          </a:prstGeom>
          <a:ln w="44450">
            <a:solidFill>
              <a:srgbClr val="0E8A7D"/>
            </a:solidFill>
          </a:ln>
        </p:spPr>
      </p:cxnSp>
      <p:sp>
        <p:nvSpPr>
          <p:cNvPr id="28" name="직사각형 29"/>
          <p:cNvSpPr/>
          <p:nvPr/>
        </p:nvSpPr>
        <p:spPr>
          <a:xfrm>
            <a:off x="725119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9" name="직사각형 30"/>
          <p:cNvSpPr/>
          <p:nvPr/>
        </p:nvSpPr>
        <p:spPr>
          <a:xfrm>
            <a:off x="843991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0" name="직사각형 31"/>
          <p:cNvSpPr/>
          <p:nvPr/>
        </p:nvSpPr>
        <p:spPr>
          <a:xfrm>
            <a:off x="843991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1" name="직사각형 32"/>
          <p:cNvSpPr/>
          <p:nvPr/>
        </p:nvSpPr>
        <p:spPr>
          <a:xfrm>
            <a:off x="725119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cxnSp>
        <p:nvCxnSpPr>
          <p:cNvPr id="32" name="연결선 33"/>
          <p:cNvCxnSpPr/>
          <p:nvPr/>
        </p:nvCxnSpPr>
        <p:spPr>
          <a:xfrm>
            <a:off x="9848088" y="3291840"/>
            <a:ext cx="786384" cy="0"/>
          </a:xfrm>
          <a:prstGeom prst="line">
            <a:avLst/>
          </a:prstGeom>
          <a:ln w="44450">
            <a:solidFill>
              <a:srgbClr val="0E8A7D"/>
            </a:solidFill>
          </a:ln>
        </p:spPr>
      </p:cxnSp>
      <p:cxnSp>
        <p:nvCxnSpPr>
          <p:cNvPr id="33" name="연결선 34"/>
          <p:cNvCxnSpPr/>
          <p:nvPr/>
        </p:nvCxnSpPr>
        <p:spPr>
          <a:xfrm>
            <a:off x="10835640" y="3493008"/>
            <a:ext cx="0" cy="694944"/>
          </a:xfrm>
          <a:prstGeom prst="line">
            <a:avLst/>
          </a:prstGeom>
          <a:ln w="44450">
            <a:solidFill>
              <a:srgbClr val="0E8A7D"/>
            </a:solidFill>
          </a:ln>
        </p:spPr>
      </p:cxnSp>
      <p:cxnSp>
        <p:nvCxnSpPr>
          <p:cNvPr id="34" name="연결선 35"/>
          <p:cNvCxnSpPr/>
          <p:nvPr/>
        </p:nvCxnSpPr>
        <p:spPr>
          <a:xfrm flipH="1">
            <a:off x="9848088" y="4389120"/>
            <a:ext cx="786384" cy="0"/>
          </a:xfrm>
          <a:prstGeom prst="line">
            <a:avLst/>
          </a:prstGeom>
          <a:ln w="44450">
            <a:solidFill>
              <a:srgbClr val="0E8A7D"/>
            </a:solidFill>
          </a:ln>
        </p:spPr>
      </p:cxnSp>
      <p:cxnSp>
        <p:nvCxnSpPr>
          <p:cNvPr id="35" name="연결선 36"/>
          <p:cNvCxnSpPr/>
          <p:nvPr/>
        </p:nvCxnSpPr>
        <p:spPr>
          <a:xfrm>
            <a:off x="9794739" y="3428288"/>
            <a:ext cx="893082" cy="824383"/>
          </a:xfrm>
          <a:prstGeom prst="line">
            <a:avLst/>
          </a:prstGeom>
          <a:ln w="19050">
            <a:solidFill>
              <a:srgbClr val="B23B3B"/>
            </a:solidFill>
            <a:prstDash val="dash"/>
          </a:ln>
        </p:spPr>
      </p:cxnSp>
      <p:sp>
        <p:nvSpPr>
          <p:cNvPr id="36" name="직사각형 37"/>
          <p:cNvSpPr/>
          <p:nvPr/>
        </p:nvSpPr>
        <p:spPr>
          <a:xfrm>
            <a:off x="944575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7" name="직사각형 38"/>
          <p:cNvSpPr/>
          <p:nvPr/>
        </p:nvSpPr>
        <p:spPr>
          <a:xfrm>
            <a:off x="10634472" y="309067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8" name="직사각형 39"/>
          <p:cNvSpPr/>
          <p:nvPr/>
        </p:nvSpPr>
        <p:spPr>
          <a:xfrm>
            <a:off x="1063447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9" name="직사각형 40"/>
          <p:cNvSpPr/>
          <p:nvPr/>
        </p:nvSpPr>
        <p:spPr>
          <a:xfrm>
            <a:off x="9445752" y="4187952"/>
            <a:ext cx="402336" cy="40233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40" name="직사각형 41"/>
          <p:cNvSpPr/>
          <p:nvPr/>
        </p:nvSpPr>
        <p:spPr>
          <a:xfrm>
            <a:off x="68580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0개</a:t>
            </a:r>
          </a:p>
        </p:txBody>
      </p:sp>
      <p:sp>
        <p:nvSpPr>
          <p:cNvPr id="41" name="직사각형 42"/>
          <p:cNvSpPr/>
          <p:nvPr/>
        </p:nvSpPr>
        <p:spPr>
          <a:xfrm>
            <a:off x="288036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1개</a:t>
            </a:r>
          </a:p>
        </p:txBody>
      </p:sp>
      <p:sp>
        <p:nvSpPr>
          <p:cNvPr id="42" name="직사각형 43"/>
          <p:cNvSpPr/>
          <p:nvPr/>
        </p:nvSpPr>
        <p:spPr>
          <a:xfrm>
            <a:off x="507492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2개</a:t>
            </a:r>
          </a:p>
        </p:txBody>
      </p:sp>
      <p:sp>
        <p:nvSpPr>
          <p:cNvPr id="43" name="직사각형 44"/>
          <p:cNvSpPr/>
          <p:nvPr/>
        </p:nvSpPr>
        <p:spPr>
          <a:xfrm>
            <a:off x="726948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3개</a:t>
            </a:r>
          </a:p>
        </p:txBody>
      </p:sp>
      <p:sp>
        <p:nvSpPr>
          <p:cNvPr id="44" name="직사각형 45"/>
          <p:cNvSpPr/>
          <p:nvPr/>
        </p:nvSpPr>
        <p:spPr>
          <a:xfrm>
            <a:off x="9464040" y="274320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간선 하나 더</a:t>
            </a:r>
          </a:p>
        </p:txBody>
      </p:sp>
      <p:sp>
        <p:nvSpPr>
          <p:cNvPr id="45" name="직사각형 46"/>
          <p:cNvSpPr/>
          <p:nvPr/>
        </p:nvSpPr>
        <p:spPr>
          <a:xfrm>
            <a:off x="68580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덩어리 4개</a:t>
            </a:r>
          </a:p>
        </p:txBody>
      </p:sp>
      <p:sp>
        <p:nvSpPr>
          <p:cNvPr id="46" name="직사각형 47"/>
          <p:cNvSpPr/>
          <p:nvPr/>
        </p:nvSpPr>
        <p:spPr>
          <a:xfrm>
            <a:off x="288036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덩어리 3개</a:t>
            </a:r>
          </a:p>
        </p:txBody>
      </p:sp>
      <p:sp>
        <p:nvSpPr>
          <p:cNvPr id="47" name="직사각형 48"/>
          <p:cNvSpPr/>
          <p:nvPr/>
        </p:nvSpPr>
        <p:spPr>
          <a:xfrm>
            <a:off x="507492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171717"/>
                </a:solidFill>
                <a:latin typeface="Malgun Gothic"/>
                <a:ea typeface="Malgun Gothic"/>
                <a:cs typeface="Malgun Gothic"/>
              </a:rPr>
              <a:t>덩어리 2개</a:t>
            </a:r>
          </a:p>
        </p:txBody>
      </p:sp>
      <p:sp>
        <p:nvSpPr>
          <p:cNvPr id="48" name="직사각형 49"/>
          <p:cNvSpPr/>
          <p:nvPr/>
        </p:nvSpPr>
        <p:spPr>
          <a:xfrm>
            <a:off x="726948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0E8A7D"/>
                </a:solidFill>
                <a:latin typeface="Malgun Gothic"/>
                <a:ea typeface="Malgun Gothic"/>
                <a:cs typeface="Malgun Gothic"/>
              </a:rPr>
              <a:t>덩어리 1개</a:t>
            </a:r>
          </a:p>
        </p:txBody>
      </p:sp>
      <p:sp>
        <p:nvSpPr>
          <p:cNvPr id="49" name="직사각형 50"/>
          <p:cNvSpPr/>
          <p:nvPr/>
        </p:nvSpPr>
        <p:spPr>
          <a:xfrm>
            <a:off x="9464040" y="4709160"/>
            <a:ext cx="1554480" cy="274320"/>
          </a:xfrm>
          <a:prstGeom prst="rect">
            <a:avLst/>
          </a:prstGeom>
          <a:noFill/>
          <a:ln w="0">
            <a:noFill/>
          </a:ln>
        </p:spPr>
        <p:txBody>
          <a:bodyPr wrap="square" lIns="0" tIns="0" rIns="0" bIns="0" anchor="t">
            <a:noAutofit/>
          </a:bodyPr>
          <a:lstStyle/>
          <a:p>
            <a:pPr algn="ctr" eaLnBrk="0" latinLnBrk="0">
              <a:lnSpc>
                <a:spcPct val="100000"/>
              </a:lnSpc>
              <a:buNone/>
            </a:pPr>
            <a:r>
              <a:rPr lang="ko-KR" altLang="en-US" sz="1650" b="1" dirty="0">
                <a:solidFill>
                  <a:srgbClr val="B23B3B"/>
                </a:solidFill>
                <a:latin typeface="Malgun Gothic"/>
                <a:ea typeface="Malgun Gothic"/>
                <a:cs typeface="Malgun Gothic"/>
              </a:rPr>
              <a:t>사이클 발생</a:t>
            </a:r>
          </a:p>
        </p:txBody>
      </p:sp>
      <p:sp>
        <p:nvSpPr>
          <p:cNvPr id="50" name="fit:3246beffbb096d57 51"/>
          <p:cNvSpPr/>
          <p:nvPr/>
        </p:nvSpPr>
        <p:spPr>
          <a:xfrm>
            <a:off x="612648" y="5193792"/>
            <a:ext cx="10972800" cy="356616"/>
          </a:xfrm>
          <a:prstGeom prst="rect">
            <a:avLst/>
          </a:prstGeom>
          <a:noFill/>
          <a:ln w="0">
            <a:noFill/>
          </a:ln>
        </p:spPr>
        <p:txBody>
          <a:bodyPr wrap="square" lIns="0" tIns="0" rIns="0" bIns="0" anchor="t">
            <a:noAutofit/>
          </a:bodyPr>
          <a:lstStyle/>
          <a:p>
            <a:pPr algn="l" eaLnBrk="0" latinLnBrk="0">
              <a:lnSpc>
                <a:spcPct val="100000"/>
              </a:lnSpc>
              <a:buNone/>
            </a:pPr>
            <a:r>
              <a:rPr lang="ko-KR" altLang="en-US" sz="2100" b="1" dirty="0">
                <a:solidFill>
                  <a:srgbClr val="0E8A7D"/>
                </a:solidFill>
                <a:latin typeface="Malgun Gothic"/>
                <a:ea typeface="Malgun Gothic"/>
                <a:cs typeface="Malgun Gothic"/>
              </a:rPr>
              <a:t>정점 V개를 한 덩어리로 이으려면 간선 V − 1개가 필요합니다.</a:t>
            </a:r>
          </a:p>
        </p:txBody>
      </p:sp>
      <p:sp>
        <p:nvSpPr>
          <p:cNvPr id="51" name="fit:13c60391ac6541bd 52"/>
          <p:cNvSpPr/>
          <p:nvPr/>
        </p:nvSpPr>
        <p:spPr>
          <a:xfrm>
            <a:off x="612648" y="5660136"/>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간선을 하나 더 넣으면 이미 이어진 두 정점을 또 잇게 되어 덩어리는 줄지 않고 사이클만 생깁니다. 그래서 신장 트리의 간선은 정확히 V − 1개입니다.</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크루스칼: 가장 싼 간선부터 잇는다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52</a:t>
            </a:r>
            <a:endParaRPr lang="ko-KR" altLang="en-US" sz="1050" b="0" dirty="0">
              <a:solidFill>
                <a:srgbClr val="606060"/>
              </a:solidFill>
              <a:latin typeface="Malgun Gothic"/>
              <a:ea typeface="Malgun Gothic"/>
              <a:cs typeface="Malgun Gothic"/>
            </a:endParaRPr>
          </a:p>
        </p:txBody>
      </p:sp>
      <p:sp>
        <p:nvSpPr>
          <p:cNvPr id="9" name="fit:0b57310d07169824 10"/>
          <p:cNvSpPr/>
          <p:nvPr/>
        </p:nvSpPr>
        <p:spPr>
          <a:xfrm>
            <a:off x="658368" y="1737360"/>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① 정렬</a:t>
            </a:r>
          </a:p>
        </p:txBody>
      </p:sp>
      <p:sp>
        <p:nvSpPr>
          <p:cNvPr id="10" name="fit:fd3b010012216165 11"/>
          <p:cNvSpPr/>
          <p:nvPr/>
        </p:nvSpPr>
        <p:spPr>
          <a:xfrm>
            <a:off x="841248" y="2066544"/>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모든 간선을 가중치 오름차순으로 줄 세웁니다.</a:t>
            </a:r>
          </a:p>
        </p:txBody>
      </p:sp>
      <p:sp>
        <p:nvSpPr>
          <p:cNvPr id="11" name="fit:9b5ca5a1a5183f49 12"/>
          <p:cNvSpPr/>
          <p:nvPr/>
        </p:nvSpPr>
        <p:spPr>
          <a:xfrm>
            <a:off x="658368" y="2450592"/>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② 싼 간선부터 검사</a:t>
            </a:r>
          </a:p>
        </p:txBody>
      </p:sp>
      <p:sp>
        <p:nvSpPr>
          <p:cNvPr id="12" name="fit:c71909c7f37586bd 13"/>
          <p:cNvSpPr/>
          <p:nvPr/>
        </p:nvSpPr>
        <p:spPr>
          <a:xfrm>
            <a:off x="841248" y="2779776"/>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사이클을 만들지 않으면 채택하고, 만들면 버립니다.</a:t>
            </a:r>
          </a:p>
        </p:txBody>
      </p:sp>
      <p:sp>
        <p:nvSpPr>
          <p:cNvPr id="13" name="fit:776fa308e411933f 14"/>
          <p:cNvSpPr/>
          <p:nvPr/>
        </p:nvSpPr>
        <p:spPr>
          <a:xfrm>
            <a:off x="658368" y="3163824"/>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③ 멈춤</a:t>
            </a:r>
          </a:p>
        </p:txBody>
      </p:sp>
      <p:sp>
        <p:nvSpPr>
          <p:cNvPr id="14" name="fit:3e1c69787374a42e 15"/>
          <p:cNvSpPr/>
          <p:nvPr/>
        </p:nvSpPr>
        <p:spPr>
          <a:xfrm>
            <a:off x="841248" y="3493008"/>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채택한 간선이 V − 1개가 되면 끝납니다.</a:t>
            </a:r>
          </a:p>
        </p:txBody>
      </p:sp>
      <p:sp>
        <p:nvSpPr>
          <p:cNvPr id="15" name="fit:5e564016c6f49db8 16"/>
          <p:cNvSpPr/>
          <p:nvPr/>
        </p:nvSpPr>
        <p:spPr>
          <a:xfrm>
            <a:off x="658368" y="3877056"/>
            <a:ext cx="5120640" cy="621792"/>
          </a:xfrm>
          <a:prstGeom prst="rect">
            <a:avLst/>
          </a:prstGeom>
          <a:noFill/>
          <a:ln w="0">
            <a:noFill/>
          </a:ln>
        </p:spPr>
        <p:txBody>
          <a:bodyPr wrap="square" lIns="0" tIns="0" rIns="0" bIns="0" anchor="t">
            <a:noAutofit/>
          </a:bodyPr>
          <a:lstStyle/>
          <a:p>
            <a:pPr algn="l" eaLnBrk="0" latinLnBrk="0">
              <a:lnSpc>
                <a:spcPct val="100000"/>
              </a:lnSpc>
              <a:buNone/>
            </a:pPr>
            <a:r>
              <a:rPr lang="ko-KR" altLang="en-US" sz="1900" b="1" dirty="0">
                <a:solidFill>
                  <a:srgbClr val="0E8A7D"/>
                </a:solidFill>
                <a:latin typeface="Malgun Gothic"/>
                <a:ea typeface="Malgun Gothic"/>
                <a:cs typeface="Malgun Gothic"/>
              </a:rPr>
              <a:t>사이클 판정: 간선의 두 끝이 이미 같은 덩어리이면 사이클</a:t>
            </a:r>
          </a:p>
        </p:txBody>
      </p:sp>
      <p:sp>
        <p:nvSpPr>
          <p:cNvPr id="16" name="fit:d83ac612ca4fb575 17"/>
          <p:cNvSpPr/>
          <p:nvPr/>
        </p:nvSpPr>
        <p:spPr>
          <a:xfrm>
            <a:off x="658368" y="4608576"/>
            <a:ext cx="5120640"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선택 = 남은 간선 중 가장 싼 것, 적정성 검사 = 사이클이 생기지 않는가, 해답 검사 = 간선이 V − 1개인가</a:t>
            </a:r>
          </a:p>
        </p:txBody>
      </p:sp>
      <p:pic>
        <p:nvPicPr>
          <p:cNvPr id="17" name="그림 18"/>
          <p:cNvPicPr>
            <a:picLocks noChangeAspect="1"/>
          </p:cNvPicPr>
          <p:nvPr/>
        </p:nvPicPr>
        <p:blipFill>
          <a:blip r:embed="rId3"/>
          <a:stretch>
            <a:fillRect/>
          </a:stretch>
        </p:blipFill>
        <p:spPr>
          <a:xfrm>
            <a:off x="6126480" y="2441899"/>
            <a:ext cx="5458968" cy="2980042"/>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왼쪽 그림: 가장 싼 간선부터 잇는다    오른쪽 그림: 이미 이어진 두 곳을 또 이으면 사이클이 되므로 버린다</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a:solidFill>
                  <a:srgbClr val="171717"/>
                </a:solidFill>
                <a:latin typeface="Malgun Gothic"/>
                <a:ea typeface="Malgun Gothic"/>
                <a:cs typeface="Malgun Gothic"/>
              </a:rPr>
              <a:t>크루스칼 ① </a:t>
            </a:r>
            <a:r>
              <a:rPr lang="en-US" altLang="ko-KR" sz="3000" b="1">
                <a:solidFill>
                  <a:srgbClr val="171717"/>
                </a:solidFill>
                <a:latin typeface="Malgun Gothic"/>
                <a:ea typeface="Malgun Gothic"/>
                <a:cs typeface="Malgun Gothic"/>
              </a:rPr>
              <a:t>AB 1 </a:t>
            </a:r>
            <a:r>
              <a:rPr lang="ko-KR" altLang="en-US" sz="3000" b="1">
                <a:solidFill>
                  <a:srgbClr val="171717"/>
                </a:solidFill>
                <a:latin typeface="Malgun Gothic"/>
                <a:ea typeface="Malgun Gothic"/>
                <a:cs typeface="Malgun Gothic"/>
              </a:rPr>
              <a:t>채택</a:t>
            </a:r>
            <a:endParaRPr lang="ko-KR" altLang="en-US" sz="3000" b="1" dirty="0">
              <a:solidFill>
                <a:srgbClr val="171717"/>
              </a:solidFill>
              <a:latin typeface="Malgun Gothic"/>
              <a:ea typeface="Malgun Gothic"/>
              <a:cs typeface="Malgun Gothic"/>
            </a:endParaRP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53</a:t>
            </a:r>
            <a:endParaRPr lang="ko-KR" altLang="en-US" sz="1050" b="0" dirty="0">
              <a:solidFill>
                <a:srgbClr val="606060"/>
              </a:solidFill>
              <a:latin typeface="Malgun Gothic"/>
              <a:ea typeface="Malgun Gothic"/>
              <a:cs typeface="Malgun Gothic"/>
            </a:endParaRPr>
          </a:p>
        </p:txBody>
      </p:sp>
      <p:sp>
        <p:nvSpPr>
          <p:cNvPr id="9" name="fit:b92d24154a3cfc7a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간선을 정렬하면 AB 1, BC 2, AC 3, CD 4, BD 5입니다. 정점이 4개이므로 간선 3개(V − 1)에서 멈춥니다.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816016152"/>
              </p:ext>
            </p:extLst>
          </p:nvPr>
        </p:nvGraphicFramePr>
        <p:xfrm>
          <a:off x="7909560" y="2935224"/>
          <a:ext cx="3666744" cy="1975104"/>
        </p:xfrm>
        <a:graphic>
          <a:graphicData uri="http://schemas.openxmlformats.org/drawingml/2006/table">
            <a:tbl>
              <a:tblPr/>
              <a:tblGrid>
                <a:gridCol w="1254412">
                  <a:extLst>
                    <a:ext uri="{9D8B030D-6E8A-4147-A177-3AD203B41FA5}">
                      <a16:colId xmlns:a16="http://schemas.microsoft.com/office/drawing/2014/main" val="20000"/>
                    </a:ext>
                  </a:extLst>
                </a:gridCol>
                <a:gridCol w="964933">
                  <a:extLst>
                    <a:ext uri="{9D8B030D-6E8A-4147-A177-3AD203B41FA5}">
                      <a16:colId xmlns:a16="http://schemas.microsoft.com/office/drawing/2014/main" val="20001"/>
                    </a:ext>
                  </a:extLst>
                </a:gridCol>
                <a:gridCol w="1447399">
                  <a:extLst>
                    <a:ext uri="{9D8B030D-6E8A-4147-A177-3AD203B41FA5}">
                      <a16:colId xmlns:a16="http://schemas.microsoft.com/office/drawing/2014/main" val="20002"/>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AB</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1C2"/>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4"/>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2" name="fit:60ec7fb8b6dd7c45 13"/>
          <p:cNvSpPr/>
          <p:nvPr/>
        </p:nvSpPr>
        <p:spPr>
          <a:xfrm>
            <a:off x="7909560" y="50749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A와 B는 서로 다른 덩어리 → 채택</a:t>
            </a:r>
          </a:p>
        </p:txBody>
      </p:sp>
      <p:sp>
        <p:nvSpPr>
          <p:cNvPr id="13" name="fit:d58c11ab620f4470 14"/>
          <p:cNvSpPr/>
          <p:nvPr/>
        </p:nvSpPr>
        <p:spPr>
          <a:xfrm>
            <a:off x="7909560" y="5413248"/>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덩어리: {A, B} {C} {D}</a:t>
            </a:r>
          </a:p>
        </p:txBody>
      </p:sp>
      <p:sp>
        <p:nvSpPr>
          <p:cNvPr id="14" name="fit:877f35efb051e1d3 15"/>
          <p:cNvSpPr/>
          <p:nvPr/>
        </p:nvSpPr>
        <p:spPr>
          <a:xfrm>
            <a:off x="7909560" y="575157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1</a:t>
            </a:r>
          </a:p>
        </p:txBody>
      </p:sp>
      <p:cxnSp>
        <p:nvCxnSpPr>
          <p:cNvPr id="15" name="연결선 16"/>
          <p:cNvCxnSpPr/>
          <p:nvPr/>
        </p:nvCxnSpPr>
        <p:spPr>
          <a:xfrm flipV="1">
            <a:off x="1394143" y="2788709"/>
            <a:ext cx="1783714" cy="1189142"/>
          </a:xfrm>
          <a:prstGeom prst="line">
            <a:avLst/>
          </a:prstGeom>
          <a:ln w="44450">
            <a:solidFill>
              <a:srgbClr val="B8651B"/>
            </a:solidFill>
          </a:ln>
        </p:spPr>
      </p:cxnSp>
      <p:sp>
        <p:nvSpPr>
          <p:cNvPr id="16" name="직사각형 17"/>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7" name="연결선 18"/>
          <p:cNvCxnSpPr/>
          <p:nvPr/>
        </p:nvCxnSpPr>
        <p:spPr>
          <a:xfrm>
            <a:off x="3383280" y="2898648"/>
            <a:ext cx="0" cy="2432304"/>
          </a:xfrm>
          <a:prstGeom prst="line">
            <a:avLst/>
          </a:prstGeom>
          <a:ln w="19050">
            <a:solidFill>
              <a:srgbClr val="9A9A9A"/>
            </a:solidFill>
          </a:ln>
        </p:spPr>
      </p:cxnSp>
      <p:sp>
        <p:nvSpPr>
          <p:cNvPr id="18" name="직사각형 19"/>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9" name="연결선 20"/>
          <p:cNvCxnSpPr/>
          <p:nvPr/>
        </p:nvCxnSpPr>
        <p:spPr>
          <a:xfrm>
            <a:off x="1394143" y="4251749"/>
            <a:ext cx="1783714" cy="1189142"/>
          </a:xfrm>
          <a:prstGeom prst="line">
            <a:avLst/>
          </a:prstGeom>
          <a:ln w="19050">
            <a:solidFill>
              <a:srgbClr val="9A9A9A"/>
            </a:solidFill>
          </a:ln>
        </p:spPr>
      </p:cxnSp>
      <p:sp>
        <p:nvSpPr>
          <p:cNvPr id="20" name="직사각형 21"/>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1" name="연결선 22"/>
          <p:cNvCxnSpPr/>
          <p:nvPr/>
        </p:nvCxnSpPr>
        <p:spPr>
          <a:xfrm flipV="1">
            <a:off x="3588703" y="4251749"/>
            <a:ext cx="1783714" cy="1189142"/>
          </a:xfrm>
          <a:prstGeom prst="line">
            <a:avLst/>
          </a:prstGeom>
          <a:ln w="19050">
            <a:solidFill>
              <a:srgbClr val="9A9A9A"/>
            </a:solidFill>
          </a:ln>
        </p:spPr>
      </p:cxnSp>
      <p:sp>
        <p:nvSpPr>
          <p:cNvPr id="22" name="직사각형 23"/>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23" name="연결선 24"/>
          <p:cNvCxnSpPr/>
          <p:nvPr/>
        </p:nvCxnSpPr>
        <p:spPr>
          <a:xfrm>
            <a:off x="3588703" y="2788709"/>
            <a:ext cx="1783714" cy="1189142"/>
          </a:xfrm>
          <a:prstGeom prst="line">
            <a:avLst/>
          </a:prstGeom>
          <a:ln w="19050">
            <a:solidFill>
              <a:srgbClr val="9A9A9A"/>
            </a:solidFill>
          </a:ln>
        </p:spPr>
      </p:cxnSp>
      <p:sp>
        <p:nvSpPr>
          <p:cNvPr id="24" name="직사각형 25"/>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5" name="직사각형 26"/>
          <p:cNvSpPr/>
          <p:nvPr/>
        </p:nvSpPr>
        <p:spPr>
          <a:xfrm>
            <a:off x="941832" y="38679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6" name="직사각형 27"/>
          <p:cNvSpPr/>
          <p:nvPr/>
        </p:nvSpPr>
        <p:spPr>
          <a:xfrm>
            <a:off x="313639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7" name="직사각형 28"/>
          <p:cNvSpPr/>
          <p:nvPr/>
        </p:nvSpPr>
        <p:spPr>
          <a:xfrm>
            <a:off x="3136392" y="533095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8" name="직사각형 29"/>
          <p:cNvSpPr/>
          <p:nvPr/>
        </p:nvSpPr>
        <p:spPr>
          <a:xfrm>
            <a:off x="5330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9" name="직사각형 30"/>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② BC 2 채택</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54</a:t>
            </a:r>
            <a:endParaRPr lang="ko-KR" altLang="en-US" sz="1050" b="0" dirty="0">
              <a:solidFill>
                <a:srgbClr val="606060"/>
              </a:solidFill>
              <a:latin typeface="Malgun Gothic"/>
              <a:ea typeface="Malgun Gothic"/>
              <a:cs typeface="Malgun Gothic"/>
            </a:endParaRPr>
          </a:p>
        </p:txBody>
      </p:sp>
      <p:sp>
        <p:nvSpPr>
          <p:cNvPr id="9" name="fit:25b2691ff2a7ef7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B({A, B})와 C(혼자)는 서로 다른 덩어리입니다 → 채택.</a:t>
            </a:r>
          </a:p>
          <a:p>
            <a:pPr algn="l" eaLnBrk="0" latinLnBrk="0">
              <a:lnSpc>
                <a:spcPct val="100000"/>
              </a:lnSpc>
              <a:buNone/>
            </a:pPr>
            <a:r>
              <a:rPr lang="ko-KR" altLang="en-US" sz="2025" b="0" dirty="0">
                <a:solidFill>
                  <a:srgbClr val="171717"/>
                </a:solidFill>
                <a:latin typeface="Malgun Gothic"/>
                <a:ea typeface="Malgun Gothic"/>
                <a:cs typeface="Malgun Gothic"/>
              </a:rPr>
              <a:t>덩어리: {A, B, C} {D}</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1394712076"/>
              </p:ext>
            </p:extLst>
          </p:nvPr>
        </p:nvGraphicFramePr>
        <p:xfrm>
          <a:off x="7909560" y="2935224"/>
          <a:ext cx="3666744" cy="1975104"/>
        </p:xfrm>
        <a:graphic>
          <a:graphicData uri="http://schemas.openxmlformats.org/drawingml/2006/table">
            <a:tbl>
              <a:tblPr/>
              <a:tblGrid>
                <a:gridCol w="1254412">
                  <a:extLst>
                    <a:ext uri="{9D8B030D-6E8A-4147-A177-3AD203B41FA5}">
                      <a16:colId xmlns:a16="http://schemas.microsoft.com/office/drawing/2014/main" val="20000"/>
                    </a:ext>
                  </a:extLst>
                </a:gridCol>
                <a:gridCol w="964933">
                  <a:extLst>
                    <a:ext uri="{9D8B030D-6E8A-4147-A177-3AD203B41FA5}">
                      <a16:colId xmlns:a16="http://schemas.microsoft.com/office/drawing/2014/main" val="20001"/>
                    </a:ext>
                  </a:extLst>
                </a:gridCol>
                <a:gridCol w="1447399">
                  <a:extLst>
                    <a:ext uri="{9D8B030D-6E8A-4147-A177-3AD203B41FA5}">
                      <a16:colId xmlns:a16="http://schemas.microsoft.com/office/drawing/2014/main" val="20002"/>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BC</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1C2"/>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4"/>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2" name="fit:28a9b88ebb5e5c5a 13"/>
          <p:cNvSpPr/>
          <p:nvPr/>
        </p:nvSpPr>
        <p:spPr>
          <a:xfrm>
            <a:off x="7909560" y="50749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채택한 간선 2개</a:t>
            </a:r>
          </a:p>
        </p:txBody>
      </p:sp>
      <p:sp>
        <p:nvSpPr>
          <p:cNvPr id="13" name="fit:082fa0ca8ece80fe 14"/>
          <p:cNvSpPr/>
          <p:nvPr/>
        </p:nvSpPr>
        <p:spPr>
          <a:xfrm>
            <a:off x="7909560" y="5413248"/>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1 + 2 = 3</a:t>
            </a:r>
          </a:p>
        </p:txBody>
      </p:sp>
      <p:cxnSp>
        <p:nvCxnSpPr>
          <p:cNvPr id="14" name="연결선 15"/>
          <p:cNvCxnSpPr/>
          <p:nvPr/>
        </p:nvCxnSpPr>
        <p:spPr>
          <a:xfrm flipV="1">
            <a:off x="1394143" y="2788709"/>
            <a:ext cx="1783714" cy="1189142"/>
          </a:xfrm>
          <a:prstGeom prst="line">
            <a:avLst/>
          </a:prstGeom>
          <a:ln w="44450">
            <a:solidFill>
              <a:srgbClr val="0E8A7D"/>
            </a:solidFill>
          </a:ln>
        </p:spPr>
      </p:cxnSp>
      <p:sp>
        <p:nvSpPr>
          <p:cNvPr id="15" name="직사각형 16"/>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6" name="연결선 17"/>
          <p:cNvCxnSpPr/>
          <p:nvPr/>
        </p:nvCxnSpPr>
        <p:spPr>
          <a:xfrm>
            <a:off x="3383280" y="2898648"/>
            <a:ext cx="0" cy="2432304"/>
          </a:xfrm>
          <a:prstGeom prst="line">
            <a:avLst/>
          </a:prstGeom>
          <a:ln w="44450">
            <a:solidFill>
              <a:srgbClr val="B8651B"/>
            </a:solidFill>
          </a:ln>
        </p:spPr>
      </p:cxnSp>
      <p:sp>
        <p:nvSpPr>
          <p:cNvPr id="17" name="직사각형 18"/>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8" name="연결선 19"/>
          <p:cNvCxnSpPr/>
          <p:nvPr/>
        </p:nvCxnSpPr>
        <p:spPr>
          <a:xfrm>
            <a:off x="1394143" y="4251749"/>
            <a:ext cx="1783714" cy="1189142"/>
          </a:xfrm>
          <a:prstGeom prst="line">
            <a:avLst/>
          </a:prstGeom>
          <a:ln w="19050">
            <a:solidFill>
              <a:srgbClr val="9A9A9A"/>
            </a:solidFill>
          </a:ln>
        </p:spPr>
      </p:cxnSp>
      <p:sp>
        <p:nvSpPr>
          <p:cNvPr id="19" name="직사각형 20"/>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0" name="연결선 21"/>
          <p:cNvCxnSpPr/>
          <p:nvPr/>
        </p:nvCxnSpPr>
        <p:spPr>
          <a:xfrm flipV="1">
            <a:off x="3588703" y="4251749"/>
            <a:ext cx="1783714" cy="1189142"/>
          </a:xfrm>
          <a:prstGeom prst="line">
            <a:avLst/>
          </a:prstGeom>
          <a:ln w="19050">
            <a:solidFill>
              <a:srgbClr val="9A9A9A"/>
            </a:solidFill>
          </a:ln>
        </p:spPr>
      </p:cxnSp>
      <p:sp>
        <p:nvSpPr>
          <p:cNvPr id="21" name="직사각형 22"/>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22" name="연결선 23"/>
          <p:cNvCxnSpPr/>
          <p:nvPr/>
        </p:nvCxnSpPr>
        <p:spPr>
          <a:xfrm>
            <a:off x="3588703" y="2788709"/>
            <a:ext cx="1783714" cy="1189142"/>
          </a:xfrm>
          <a:prstGeom prst="line">
            <a:avLst/>
          </a:prstGeom>
          <a:ln w="19050">
            <a:solidFill>
              <a:srgbClr val="9A9A9A"/>
            </a:solidFill>
          </a:ln>
        </p:spPr>
      </p:cxnSp>
      <p:sp>
        <p:nvSpPr>
          <p:cNvPr id="23" name="직사각형 24"/>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4" name="직사각형 25"/>
          <p:cNvSpPr/>
          <p:nvPr/>
        </p:nvSpPr>
        <p:spPr>
          <a:xfrm>
            <a:off x="941832" y="38679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5" name="직사각형 26"/>
          <p:cNvSpPr/>
          <p:nvPr/>
        </p:nvSpPr>
        <p:spPr>
          <a:xfrm>
            <a:off x="3136392" y="24048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3136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5330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주황: 지금 보는 간선(노랑 정점: 그 두 끝)    빨강 점선: 버린 간선    초록 정점: 채택한 간선에 닿은 정점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③ AC 3 사이클 → 버림</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55</a:t>
            </a:r>
            <a:endParaRPr lang="ko-KR" altLang="en-US" sz="1050" b="0" dirty="0">
              <a:solidFill>
                <a:srgbClr val="606060"/>
              </a:solidFill>
              <a:latin typeface="Malgun Gothic"/>
              <a:ea typeface="Malgun Gothic"/>
              <a:cs typeface="Malgun Gothic"/>
            </a:endParaRPr>
          </a:p>
        </p:txBody>
      </p:sp>
      <p:sp>
        <p:nvSpPr>
          <p:cNvPr id="9" name="fit:3c6456e567c9253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A와 C는 이미 A – B – C로 이어져 있습니다.</a:t>
            </a:r>
          </a:p>
          <a:p>
            <a:pPr algn="l" eaLnBrk="0" latinLnBrk="0">
              <a:lnSpc>
                <a:spcPct val="100000"/>
              </a:lnSpc>
              <a:buNone/>
            </a:pPr>
            <a:r>
              <a:rPr lang="ko-KR" altLang="en-US" sz="2025" b="0" dirty="0">
                <a:solidFill>
                  <a:srgbClr val="171717"/>
                </a:solidFill>
                <a:latin typeface="Malgun Gothic"/>
                <a:ea typeface="Malgun Gothic"/>
                <a:cs typeface="Malgun Gothic"/>
              </a:rPr>
              <a:t>AC를 더하면 사이클 A – B – C – A가 생기므로 버립니다.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1752753850"/>
              </p:ext>
            </p:extLst>
          </p:nvPr>
        </p:nvGraphicFramePr>
        <p:xfrm>
          <a:off x="7909560" y="2935224"/>
          <a:ext cx="3666744" cy="1975104"/>
        </p:xfrm>
        <a:graphic>
          <a:graphicData uri="http://schemas.openxmlformats.org/drawingml/2006/table">
            <a:tbl>
              <a:tblPr/>
              <a:tblGrid>
                <a:gridCol w="1254412">
                  <a:extLst>
                    <a:ext uri="{9D8B030D-6E8A-4147-A177-3AD203B41FA5}">
                      <a16:colId xmlns:a16="http://schemas.microsoft.com/office/drawing/2014/main" val="20000"/>
                    </a:ext>
                  </a:extLst>
                </a:gridCol>
                <a:gridCol w="964933">
                  <a:extLst>
                    <a:ext uri="{9D8B030D-6E8A-4147-A177-3AD203B41FA5}">
                      <a16:colId xmlns:a16="http://schemas.microsoft.com/office/drawing/2014/main" val="20001"/>
                    </a:ext>
                  </a:extLst>
                </a:gridCol>
                <a:gridCol w="1447399">
                  <a:extLst>
                    <a:ext uri="{9D8B030D-6E8A-4147-A177-3AD203B41FA5}">
                      <a16:colId xmlns:a16="http://schemas.microsoft.com/office/drawing/2014/main" val="20002"/>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AC</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사이클</a:t>
                      </a:r>
                    </a:p>
                  </a:txBody>
                  <a:tcPr marL="54864" marR="54864" marT="18288" marB="18288" anchor="ctr">
                    <a:solidFill>
                      <a:srgbClr val="FFF1C2"/>
                    </a:solidFill>
                  </a:tcPr>
                </a:tc>
                <a:extLst>
                  <a:ext uri="{0D108BD9-81ED-4DB2-BD59-A6C34878D82A}">
                    <a16:rowId xmlns:a16="http://schemas.microsoft.com/office/drawing/2014/main" val="10003"/>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CD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4"/>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endParaRPr lang="ko-KR" sz="1500"/>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2" name="fit:160591a2d1cb080d 13"/>
          <p:cNvSpPr/>
          <p:nvPr/>
        </p:nvSpPr>
        <p:spPr>
          <a:xfrm>
            <a:off x="7909560" y="5074920"/>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채택한 간선 그대로 2개</a:t>
            </a:r>
          </a:p>
        </p:txBody>
      </p:sp>
      <p:sp>
        <p:nvSpPr>
          <p:cNvPr id="13" name="fit:133dda4b9bc020a5 14"/>
          <p:cNvSpPr/>
          <p:nvPr/>
        </p:nvSpPr>
        <p:spPr>
          <a:xfrm>
            <a:off x="7909560" y="5413248"/>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3</a:t>
            </a:r>
          </a:p>
        </p:txBody>
      </p:sp>
      <p:cxnSp>
        <p:nvCxnSpPr>
          <p:cNvPr id="14" name="연결선 15"/>
          <p:cNvCxnSpPr/>
          <p:nvPr/>
        </p:nvCxnSpPr>
        <p:spPr>
          <a:xfrm flipV="1">
            <a:off x="1394143" y="2788709"/>
            <a:ext cx="1783714" cy="1189142"/>
          </a:xfrm>
          <a:prstGeom prst="line">
            <a:avLst/>
          </a:prstGeom>
          <a:ln w="44450">
            <a:solidFill>
              <a:srgbClr val="B8651B"/>
            </a:solidFill>
          </a:ln>
        </p:spPr>
      </p:cxnSp>
      <p:sp>
        <p:nvSpPr>
          <p:cNvPr id="15" name="직사각형 16"/>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6" name="연결선 17"/>
          <p:cNvCxnSpPr/>
          <p:nvPr/>
        </p:nvCxnSpPr>
        <p:spPr>
          <a:xfrm>
            <a:off x="3383280" y="2898648"/>
            <a:ext cx="0" cy="2432304"/>
          </a:xfrm>
          <a:prstGeom prst="line">
            <a:avLst/>
          </a:prstGeom>
          <a:ln w="44450">
            <a:solidFill>
              <a:srgbClr val="B8651B"/>
            </a:solidFill>
          </a:ln>
        </p:spPr>
      </p:cxnSp>
      <p:sp>
        <p:nvSpPr>
          <p:cNvPr id="17" name="직사각형 18"/>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8" name="연결선 19"/>
          <p:cNvCxnSpPr/>
          <p:nvPr/>
        </p:nvCxnSpPr>
        <p:spPr>
          <a:xfrm>
            <a:off x="1394143" y="4251749"/>
            <a:ext cx="1783714" cy="1189142"/>
          </a:xfrm>
          <a:prstGeom prst="line">
            <a:avLst/>
          </a:prstGeom>
          <a:ln w="19050">
            <a:solidFill>
              <a:srgbClr val="B23B3B"/>
            </a:solidFill>
            <a:prstDash val="dash"/>
          </a:ln>
        </p:spPr>
      </p:cxnSp>
      <p:sp>
        <p:nvSpPr>
          <p:cNvPr id="19" name="직사각형 20"/>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3</a:t>
            </a:r>
          </a:p>
        </p:txBody>
      </p:sp>
      <p:cxnSp>
        <p:nvCxnSpPr>
          <p:cNvPr id="20" name="연결선 21"/>
          <p:cNvCxnSpPr/>
          <p:nvPr/>
        </p:nvCxnSpPr>
        <p:spPr>
          <a:xfrm flipV="1">
            <a:off x="3588703" y="4251749"/>
            <a:ext cx="1783714" cy="1189142"/>
          </a:xfrm>
          <a:prstGeom prst="line">
            <a:avLst/>
          </a:prstGeom>
          <a:ln w="19050">
            <a:solidFill>
              <a:srgbClr val="9A9A9A"/>
            </a:solidFill>
          </a:ln>
        </p:spPr>
      </p:cxnSp>
      <p:sp>
        <p:nvSpPr>
          <p:cNvPr id="21" name="직사각형 22"/>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p:txBody>
      </p:sp>
      <p:cxnSp>
        <p:nvCxnSpPr>
          <p:cNvPr id="22" name="연결선 23"/>
          <p:cNvCxnSpPr/>
          <p:nvPr/>
        </p:nvCxnSpPr>
        <p:spPr>
          <a:xfrm>
            <a:off x="3588703" y="2788709"/>
            <a:ext cx="1783714" cy="1189142"/>
          </a:xfrm>
          <a:prstGeom prst="line">
            <a:avLst/>
          </a:prstGeom>
          <a:ln w="19050">
            <a:solidFill>
              <a:srgbClr val="9A9A9A"/>
            </a:solidFill>
          </a:ln>
        </p:spPr>
      </p:cxnSp>
      <p:sp>
        <p:nvSpPr>
          <p:cNvPr id="23" name="직사각형 24"/>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24" name="직사각형 25"/>
          <p:cNvSpPr/>
          <p:nvPr/>
        </p:nvSpPr>
        <p:spPr>
          <a:xfrm>
            <a:off x="941832" y="38679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5" name="직사각형 26"/>
          <p:cNvSpPr/>
          <p:nvPr/>
        </p:nvSpPr>
        <p:spPr>
          <a:xfrm>
            <a:off x="313639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3136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5330952" y="38679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주황: A와 C를 이미 잇는 길    빨강 점선: 버린 AC(노랑 정점: 그 두 끝)    초록 정점: 채택한 간선에 닿은 정점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④ CD 4 채택 · 합 7</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56</a:t>
            </a:r>
            <a:endParaRPr lang="ko-KR" altLang="en-US" sz="1050" b="0" dirty="0">
              <a:solidFill>
                <a:srgbClr val="606060"/>
              </a:solidFill>
              <a:latin typeface="Malgun Gothic"/>
              <a:ea typeface="Malgun Gothic"/>
              <a:cs typeface="Malgun Gothic"/>
            </a:endParaRPr>
          </a:p>
        </p:txBody>
      </p:sp>
      <p:sp>
        <p:nvSpPr>
          <p:cNvPr id="9" name="fit:48a82fd0aee41166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D가 연결되어 간선 3개(= V − 1)가 되었으므로 멈춥니다.</a:t>
            </a:r>
          </a:p>
          <a:p>
            <a:pPr algn="l" eaLnBrk="0" latinLnBrk="0">
              <a:lnSpc>
                <a:spcPct val="100000"/>
              </a:lnSpc>
              <a:buNone/>
            </a:pPr>
            <a:r>
              <a:rPr lang="ko-KR" altLang="en-US" sz="2025" b="0" dirty="0">
                <a:solidFill>
                  <a:srgbClr val="171717"/>
                </a:solidFill>
                <a:latin typeface="Malgun Gothic"/>
                <a:ea typeface="Malgun Gothic"/>
                <a:cs typeface="Malgun Gothic"/>
              </a:rPr>
              <a:t>BD(5)는 확인하지 않습니다.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1682977463"/>
              </p:ext>
            </p:extLst>
          </p:nvPr>
        </p:nvGraphicFramePr>
        <p:xfrm>
          <a:off x="7909560" y="2935224"/>
          <a:ext cx="3666744" cy="1975104"/>
        </p:xfrm>
        <a:graphic>
          <a:graphicData uri="http://schemas.openxmlformats.org/drawingml/2006/table">
            <a:tbl>
              <a:tblPr/>
              <a:tblGrid>
                <a:gridCol w="1254412">
                  <a:extLst>
                    <a:ext uri="{9D8B030D-6E8A-4147-A177-3AD203B41FA5}">
                      <a16:colId xmlns:a16="http://schemas.microsoft.com/office/drawing/2014/main" val="20000"/>
                    </a:ext>
                  </a:extLst>
                </a:gridCol>
                <a:gridCol w="964933">
                  <a:extLst>
                    <a:ext uri="{9D8B030D-6E8A-4147-A177-3AD203B41FA5}">
                      <a16:colId xmlns:a16="http://schemas.microsoft.com/office/drawing/2014/main" val="20001"/>
                    </a:ext>
                  </a:extLst>
                </a:gridCol>
                <a:gridCol w="1447399">
                  <a:extLst>
                    <a:ext uri="{9D8B030D-6E8A-4147-A177-3AD203B41FA5}">
                      <a16:colId xmlns:a16="http://schemas.microsoft.com/office/drawing/2014/main" val="20002"/>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B23B3B"/>
                          </a:solidFill>
                          <a:latin typeface="Malgun Gothic"/>
                          <a:ea typeface="Malgun Gothic"/>
                          <a:cs typeface="Malgun Gothic"/>
                        </a:rPr>
                        <a:t>사이클</a:t>
                      </a:r>
                    </a:p>
                  </a:txBody>
                  <a:tcPr marL="54864" marR="54864" marT="18288" marB="18288" anchor="ctr">
                    <a:solidFill>
                      <a:srgbClr val="FFFFFF"/>
                    </a:solidFill>
                  </a:tcPr>
                </a:tc>
                <a:extLst>
                  <a:ext uri="{0D108BD9-81ED-4DB2-BD59-A6C34878D82A}">
                    <a16:rowId xmlns:a16="http://schemas.microsoft.com/office/drawing/2014/main" val="10003"/>
                  </a:ext>
                </a:extLst>
              </a:tr>
              <a:tr h="329184">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CD</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151515"/>
                          </a:solidFill>
                          <a:latin typeface="Malgun Gothic"/>
                          <a:ea typeface="Malgun Gothic"/>
                          <a:cs typeface="Malgun Gothic"/>
                        </a:rPr>
                        <a:t>4</a:t>
                      </a:r>
                    </a:p>
                  </a:txBody>
                  <a:tcPr marL="54864" marR="54864" marT="18288" marB="18288" anchor="ctr">
                    <a:solidFill>
                      <a:srgbClr val="FFF1C2"/>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채택</a:t>
                      </a:r>
                    </a:p>
                  </a:txBody>
                  <a:tcPr marL="54864" marR="54864" marT="18288" marB="18288" anchor="ctr">
                    <a:solidFill>
                      <a:srgbClr val="FFF1C2"/>
                    </a:solidFill>
                  </a:tcPr>
                </a:tc>
                <a:extLst>
                  <a:ext uri="{0D108BD9-81ED-4DB2-BD59-A6C34878D82A}">
                    <a16:rowId xmlns:a16="http://schemas.microsoft.com/office/drawing/2014/main" val="10004"/>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BD</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5</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2" name="fit:0516277beea8aea4 13"/>
          <p:cNvSpPr/>
          <p:nvPr/>
        </p:nvSpPr>
        <p:spPr>
          <a:xfrm>
            <a:off x="7909560" y="5074920"/>
            <a:ext cx="3666744" cy="237744"/>
          </a:xfrm>
          <a:prstGeom prst="rect">
            <a:avLst/>
          </a:prstGeom>
          <a:noFill/>
          <a:ln w="0">
            <a:noFill/>
          </a:ln>
        </p:spPr>
        <p:txBody>
          <a:bodyPr wrap="square" lIns="0" tIns="0" rIns="0" bIns="0" anchor="t">
            <a:noAutofit/>
          </a:bodyPr>
          <a:lstStyle/>
          <a:p>
            <a:pPr algn="l" eaLnBrk="0" latinLnBrk="0">
              <a:lnSpc>
                <a:spcPct val="105000"/>
              </a:lnSpc>
              <a:buNone/>
            </a:pPr>
            <a:r>
              <a:rPr lang="ko-KR" altLang="en-US" sz="1350" b="0" dirty="0">
                <a:solidFill>
                  <a:srgbClr val="171717"/>
                </a:solidFill>
                <a:latin typeface="Malgun Gothic"/>
                <a:ea typeface="Malgun Gothic"/>
                <a:cs typeface="Malgun Gothic"/>
              </a:rPr>
              <a:t>AB → BC → (AC 사이클) → CD → 멈춤</a:t>
            </a:r>
          </a:p>
        </p:txBody>
      </p:sp>
      <p:sp>
        <p:nvSpPr>
          <p:cNvPr id="13" name="fit:815168a9ca1aa094 14"/>
          <p:cNvSpPr/>
          <p:nvPr/>
        </p:nvSpPr>
        <p:spPr>
          <a:xfrm>
            <a:off x="7909560" y="538581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1 + 2 + 4 = 7</a:t>
            </a:r>
          </a:p>
        </p:txBody>
      </p:sp>
      <p:cxnSp>
        <p:nvCxnSpPr>
          <p:cNvPr id="14" name="연결선 15"/>
          <p:cNvCxnSpPr/>
          <p:nvPr/>
        </p:nvCxnSpPr>
        <p:spPr>
          <a:xfrm flipV="1">
            <a:off x="1394143" y="2788709"/>
            <a:ext cx="1783714" cy="1189142"/>
          </a:xfrm>
          <a:prstGeom prst="line">
            <a:avLst/>
          </a:prstGeom>
          <a:ln w="44450">
            <a:solidFill>
              <a:srgbClr val="0E8A7D"/>
            </a:solidFill>
          </a:ln>
        </p:spPr>
      </p:cxnSp>
      <p:sp>
        <p:nvSpPr>
          <p:cNvPr id="15" name="직사각형 16"/>
          <p:cNvSpPr/>
          <p:nvPr/>
        </p:nvSpPr>
        <p:spPr>
          <a:xfrm>
            <a:off x="196710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6" name="연결선 17"/>
          <p:cNvCxnSpPr/>
          <p:nvPr/>
        </p:nvCxnSpPr>
        <p:spPr>
          <a:xfrm>
            <a:off x="3383280" y="2898648"/>
            <a:ext cx="0" cy="2432304"/>
          </a:xfrm>
          <a:prstGeom prst="line">
            <a:avLst/>
          </a:prstGeom>
          <a:ln w="44450">
            <a:solidFill>
              <a:srgbClr val="0E8A7D"/>
            </a:solidFill>
          </a:ln>
        </p:spPr>
      </p:cxnSp>
      <p:sp>
        <p:nvSpPr>
          <p:cNvPr id="17" name="직사각형 18"/>
          <p:cNvSpPr/>
          <p:nvPr/>
        </p:nvSpPr>
        <p:spPr>
          <a:xfrm>
            <a:off x="2871216" y="397764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8" name="연결선 19"/>
          <p:cNvCxnSpPr/>
          <p:nvPr/>
        </p:nvCxnSpPr>
        <p:spPr>
          <a:xfrm>
            <a:off x="1394143" y="4251749"/>
            <a:ext cx="1783714" cy="1189142"/>
          </a:xfrm>
          <a:prstGeom prst="line">
            <a:avLst/>
          </a:prstGeom>
          <a:ln w="19050">
            <a:solidFill>
              <a:srgbClr val="B23B3B"/>
            </a:solidFill>
            <a:prstDash val="dash"/>
          </a:ln>
        </p:spPr>
      </p:cxnSp>
      <p:sp>
        <p:nvSpPr>
          <p:cNvPr id="19" name="직사각형 20"/>
          <p:cNvSpPr/>
          <p:nvPr/>
        </p:nvSpPr>
        <p:spPr>
          <a:xfrm>
            <a:off x="196710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3</a:t>
            </a:r>
          </a:p>
        </p:txBody>
      </p:sp>
      <p:cxnSp>
        <p:nvCxnSpPr>
          <p:cNvPr id="20" name="연결선 21"/>
          <p:cNvCxnSpPr/>
          <p:nvPr/>
        </p:nvCxnSpPr>
        <p:spPr>
          <a:xfrm flipV="1">
            <a:off x="3588703" y="4251749"/>
            <a:ext cx="1783714" cy="1189142"/>
          </a:xfrm>
          <a:prstGeom prst="line">
            <a:avLst/>
          </a:prstGeom>
          <a:ln w="44450">
            <a:solidFill>
              <a:srgbClr val="B8651B"/>
            </a:solidFill>
          </a:ln>
        </p:spPr>
      </p:cxnSp>
      <p:sp>
        <p:nvSpPr>
          <p:cNvPr id="21" name="직사각형 22"/>
          <p:cNvSpPr/>
          <p:nvPr/>
        </p:nvSpPr>
        <p:spPr>
          <a:xfrm>
            <a:off x="4323971" y="483089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4</a:t>
            </a:r>
          </a:p>
        </p:txBody>
      </p:sp>
      <p:cxnSp>
        <p:nvCxnSpPr>
          <p:cNvPr id="22" name="연결선 23"/>
          <p:cNvCxnSpPr/>
          <p:nvPr/>
        </p:nvCxnSpPr>
        <p:spPr>
          <a:xfrm>
            <a:off x="3588703" y="2788709"/>
            <a:ext cx="1783714" cy="1189142"/>
          </a:xfrm>
          <a:prstGeom prst="line">
            <a:avLst/>
          </a:prstGeom>
          <a:ln w="12700">
            <a:solidFill>
              <a:srgbClr val="D0D0D0"/>
            </a:solidFill>
          </a:ln>
        </p:spPr>
      </p:cxnSp>
      <p:sp>
        <p:nvSpPr>
          <p:cNvPr id="23" name="직사각형 24"/>
          <p:cNvSpPr/>
          <p:nvPr/>
        </p:nvSpPr>
        <p:spPr>
          <a:xfrm>
            <a:off x="4323971" y="312438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5</a:t>
            </a:r>
          </a:p>
        </p:txBody>
      </p:sp>
      <p:sp>
        <p:nvSpPr>
          <p:cNvPr id="24" name="직사각형 25"/>
          <p:cNvSpPr/>
          <p:nvPr/>
        </p:nvSpPr>
        <p:spPr>
          <a:xfrm>
            <a:off x="941832" y="38679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5" name="직사각형 26"/>
          <p:cNvSpPr/>
          <p:nvPr/>
        </p:nvSpPr>
        <p:spPr>
          <a:xfrm>
            <a:off x="3136392" y="24048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3136392" y="533095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7" name="직사각형 28"/>
          <p:cNvSpPr/>
          <p:nvPr/>
        </p:nvSpPr>
        <p:spPr>
          <a:xfrm>
            <a:off x="5330952" y="38679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28" name="직사각형 29"/>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    주황: 지금 보는 간선(노랑 정점: 그 두 끝)    빨강 점선: 버림    회색: 확인하지 않음    초록 정점: 채택한 간선에 닿은 정점</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5.6  크루스칼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연습: 음수 가중치 AB = −3</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57</a:t>
            </a:r>
            <a:endParaRPr lang="ko-KR" altLang="en-US" sz="1050" b="0" dirty="0">
              <a:solidFill>
                <a:srgbClr val="606060"/>
              </a:solidFill>
              <a:latin typeface="Malgun Gothic"/>
              <a:ea typeface="Malgun Gothic"/>
              <a:cs typeface="Malgun Gothic"/>
            </a:endParaRPr>
          </a:p>
        </p:txBody>
      </p:sp>
      <p:sp>
        <p:nvSpPr>
          <p:cNvPr id="9" name="fit:966cce49a65236b6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정점 A, B, C와 AB = −3, BC = 1, AC = 4.</a:t>
            </a:r>
          </a:p>
          <a:p>
            <a:pPr algn="l" eaLnBrk="0" latinLnBrk="0">
              <a:lnSpc>
                <a:spcPct val="100000"/>
              </a:lnSpc>
              <a:buNone/>
            </a:pPr>
            <a:r>
              <a:rPr lang="ko-KR" altLang="en-US" sz="2025" b="0" dirty="0">
                <a:solidFill>
                  <a:srgbClr val="171717"/>
                </a:solidFill>
                <a:latin typeface="Malgun Gothic"/>
                <a:ea typeface="Malgun Gothic"/>
                <a:cs typeface="Malgun Gothic"/>
              </a:rPr>
              <a:t>정렬하면 AB(−3)가 맨 앞입니다.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2776015904"/>
              </p:ext>
            </p:extLst>
          </p:nvPr>
        </p:nvGraphicFramePr>
        <p:xfrm>
          <a:off x="7909560" y="2935224"/>
          <a:ext cx="3666744" cy="1316736"/>
        </p:xfrm>
        <a:graphic>
          <a:graphicData uri="http://schemas.openxmlformats.org/drawingml/2006/table">
            <a:tbl>
              <a:tblPr/>
              <a:tblGrid>
                <a:gridCol w="1254412">
                  <a:extLst>
                    <a:ext uri="{9D8B030D-6E8A-4147-A177-3AD203B41FA5}">
                      <a16:colId xmlns:a16="http://schemas.microsoft.com/office/drawing/2014/main" val="20000"/>
                    </a:ext>
                  </a:extLst>
                </a:gridCol>
                <a:gridCol w="964933">
                  <a:extLst>
                    <a:ext uri="{9D8B030D-6E8A-4147-A177-3AD203B41FA5}">
                      <a16:colId xmlns:a16="http://schemas.microsoft.com/office/drawing/2014/main" val="20001"/>
                    </a:ext>
                  </a:extLst>
                </a:gridCol>
                <a:gridCol w="1447399">
                  <a:extLst>
                    <a:ext uri="{9D8B030D-6E8A-4147-A177-3AD203B41FA5}">
                      <a16:colId xmlns:a16="http://schemas.microsoft.com/office/drawing/2014/main" val="20002"/>
                    </a:ext>
                  </a:extLst>
                </a:gridCol>
              </a:tblGrid>
              <a:tr h="329184">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간선</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가중치</a:t>
                      </a:r>
                    </a:p>
                  </a:txBody>
                  <a:tcPr marL="54864" marR="54864" marT="18288" marB="18288" anchor="ctr">
                    <a:solidFill>
                      <a:srgbClr val="151515"/>
                    </a:solidFill>
                  </a:tcPr>
                </a:tc>
                <a:tc>
                  <a:txBody>
                    <a:bodyPr/>
                    <a:lstStyle/>
                    <a:p>
                      <a:pPr algn="ctr" eaLnBrk="0" latinLnBrk="0">
                        <a:lnSpc>
                          <a:spcPct val="100000"/>
                        </a:lnSpc>
                        <a:buNone/>
                      </a:pPr>
                      <a:r>
                        <a:rPr lang="ko-KR" altLang="en-US" sz="1500" b="1" dirty="0">
                          <a:solidFill>
                            <a:srgbClr val="FFFFFF"/>
                          </a:solidFill>
                          <a:latin typeface="Malgun Gothic"/>
                          <a:ea typeface="Malgun Gothic"/>
                          <a:cs typeface="Malgun Gothic"/>
                        </a:rPr>
                        <a:t>결과</a:t>
                      </a:r>
                    </a:p>
                  </a:txBody>
                  <a:tcPr marL="54864" marR="54864" marT="18288" marB="18288" anchor="ctr">
                    <a:solidFill>
                      <a:srgbClr val="151515"/>
                    </a:solidFill>
                  </a:tcPr>
                </a:tc>
                <a:extLst>
                  <a:ext uri="{0D108BD9-81ED-4DB2-BD59-A6C34878D82A}">
                    <a16:rowId xmlns:a16="http://schemas.microsoft.com/office/drawing/2014/main" val="10000"/>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AB</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−3</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① 채택</a:t>
                      </a:r>
                    </a:p>
                  </a:txBody>
                  <a:tcPr marL="54864" marR="54864" marT="18288" marB="18288" anchor="ctr">
                    <a:solidFill>
                      <a:srgbClr val="FFFFFF"/>
                    </a:solidFill>
                  </a:tcPr>
                </a:tc>
                <a:extLst>
                  <a:ext uri="{0D108BD9-81ED-4DB2-BD59-A6C34878D82A}">
                    <a16:rowId xmlns:a16="http://schemas.microsoft.com/office/drawing/2014/main" val="10001"/>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BC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1</a:t>
                      </a:r>
                    </a:p>
                  </a:txBody>
                  <a:tcPr marL="54864" marR="54864" marT="18288" marB="18288" anchor="ctr">
                    <a:solidFill>
                      <a:srgbClr val="FFFFFF"/>
                    </a:solidFill>
                  </a:tcPr>
                </a:tc>
                <a:tc>
                  <a:txBody>
                    <a:bodyPr/>
                    <a:lstStyle/>
                    <a:p>
                      <a:pPr algn="ctr" eaLnBrk="0" latinLnBrk="0">
                        <a:lnSpc>
                          <a:spcPct val="100000"/>
                        </a:lnSpc>
                        <a:buNone/>
                      </a:pPr>
                      <a:r>
                        <a:rPr lang="ko-KR" altLang="en-US" sz="1500" b="1" dirty="0">
                          <a:solidFill>
                            <a:srgbClr val="0E8A7D"/>
                          </a:solidFill>
                          <a:latin typeface="Malgun Gothic"/>
                          <a:ea typeface="Malgun Gothic"/>
                          <a:cs typeface="Malgun Gothic"/>
                        </a:rPr>
                        <a:t>② 채택</a:t>
                      </a:r>
                    </a:p>
                  </a:txBody>
                  <a:tcPr marL="54864" marR="54864" marT="18288" marB="18288" anchor="ctr">
                    <a:solidFill>
                      <a:srgbClr val="FFFFFF"/>
                    </a:solidFill>
                  </a:tcPr>
                </a:tc>
                <a:extLst>
                  <a:ext uri="{0D108BD9-81ED-4DB2-BD59-A6C34878D82A}">
                    <a16:rowId xmlns:a16="http://schemas.microsoft.com/office/drawing/2014/main" val="10002"/>
                  </a:ext>
                </a:extLst>
              </a:tr>
              <a:tr h="329184">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AC</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151515"/>
                          </a:solidFill>
                          <a:latin typeface="Malgun Gothic"/>
                          <a:ea typeface="Malgun Gothic"/>
                          <a:cs typeface="Malgun Gothic"/>
                        </a:rPr>
                        <a:t>4</a:t>
                      </a:r>
                    </a:p>
                  </a:txBody>
                  <a:tcPr marL="54864" marR="54864" marT="18288" marB="18288" anchor="ctr">
                    <a:solidFill>
                      <a:srgbClr val="FFFFFF"/>
                    </a:solidFill>
                  </a:tcPr>
                </a:tc>
                <a:tc>
                  <a:txBody>
                    <a:bodyPr/>
                    <a:lstStyle/>
                    <a:p>
                      <a:pPr algn="ctr" eaLnBrk="0" latinLnBrk="0">
                        <a:lnSpc>
                          <a:spcPct val="100000"/>
                        </a:lnSpc>
                        <a:buNone/>
                      </a:pPr>
                      <a:r>
                        <a:rPr lang="ko-KR" altLang="en-US" sz="1500" b="0" dirty="0">
                          <a:solidFill>
                            <a:srgbClr val="606060"/>
                          </a:solidFill>
                          <a:latin typeface="Malgun Gothic"/>
                          <a:ea typeface="Malgun Gothic"/>
                          <a:cs typeface="Malgun Gothic"/>
                        </a:rPr>
                        <a:t>확인하지 않음</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2" name="fit:82cc2ef9d8d22a22 13"/>
          <p:cNvSpPr/>
          <p:nvPr/>
        </p:nvSpPr>
        <p:spPr>
          <a:xfrm>
            <a:off x="7909560" y="439826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간선 2개 = V − 1 → 멈춤</a:t>
            </a:r>
          </a:p>
        </p:txBody>
      </p:sp>
      <p:sp>
        <p:nvSpPr>
          <p:cNvPr id="13" name="fit:a83d83a7ca66d189 14"/>
          <p:cNvSpPr/>
          <p:nvPr/>
        </p:nvSpPr>
        <p:spPr>
          <a:xfrm>
            <a:off x="7909560" y="4736592"/>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합 −3 + 1 = −2</a:t>
            </a:r>
          </a:p>
        </p:txBody>
      </p:sp>
      <p:sp>
        <p:nvSpPr>
          <p:cNvPr id="14" name="fit:5f5057de8f0f5dd5 15"/>
          <p:cNvSpPr/>
          <p:nvPr/>
        </p:nvSpPr>
        <p:spPr>
          <a:xfrm>
            <a:off x="7909560" y="5193792"/>
            <a:ext cx="3666744"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1350" b="0" dirty="0">
                <a:solidFill>
                  <a:srgbClr val="3F3F3F"/>
                </a:solidFill>
                <a:latin typeface="Malgun Gothic"/>
                <a:ea typeface="Malgun Gothic"/>
                <a:cs typeface="Malgun Gothic"/>
              </a:rPr>
              <a:t>크루스칼은 가중치를 크기 비교에만 씁니다. 음수여도 그대로 성립합니다. 음수 간선에서 틀릴 수 있는 다익스트라(5.8)와 다릅니다.</a:t>
            </a:r>
          </a:p>
        </p:txBody>
      </p:sp>
      <p:cxnSp>
        <p:nvCxnSpPr>
          <p:cNvPr id="15" name="연결선 16"/>
          <p:cNvCxnSpPr/>
          <p:nvPr/>
        </p:nvCxnSpPr>
        <p:spPr>
          <a:xfrm flipV="1">
            <a:off x="1550012" y="3188175"/>
            <a:ext cx="1746297" cy="1670371"/>
          </a:xfrm>
          <a:prstGeom prst="line">
            <a:avLst/>
          </a:prstGeom>
          <a:ln w="44450">
            <a:solidFill>
              <a:srgbClr val="0E8A7D"/>
            </a:solidFill>
          </a:ln>
        </p:spPr>
      </p:cxnSp>
      <p:sp>
        <p:nvSpPr>
          <p:cNvPr id="16" name="직사각형 17"/>
          <p:cNvSpPr/>
          <p:nvPr/>
        </p:nvSpPr>
        <p:spPr>
          <a:xfrm>
            <a:off x="2084287" y="3780475"/>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cxnSp>
        <p:nvCxnSpPr>
          <p:cNvPr id="17" name="연결선 18"/>
          <p:cNvCxnSpPr/>
          <p:nvPr/>
        </p:nvCxnSpPr>
        <p:spPr>
          <a:xfrm>
            <a:off x="3653132" y="3188175"/>
            <a:ext cx="1746297" cy="1670371"/>
          </a:xfrm>
          <a:prstGeom prst="line">
            <a:avLst/>
          </a:prstGeom>
          <a:ln w="44450">
            <a:solidFill>
              <a:srgbClr val="0E8A7D"/>
            </a:solidFill>
          </a:ln>
        </p:spPr>
      </p:cxnSp>
      <p:sp>
        <p:nvSpPr>
          <p:cNvPr id="18" name="직사각형 19"/>
          <p:cNvSpPr/>
          <p:nvPr/>
        </p:nvSpPr>
        <p:spPr>
          <a:xfrm>
            <a:off x="4389665" y="3780475"/>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9" name="연결선 20"/>
          <p:cNvCxnSpPr/>
          <p:nvPr/>
        </p:nvCxnSpPr>
        <p:spPr>
          <a:xfrm>
            <a:off x="1618488" y="5029200"/>
            <a:ext cx="3712464" cy="0"/>
          </a:xfrm>
          <a:prstGeom prst="line">
            <a:avLst/>
          </a:prstGeom>
          <a:ln w="12700">
            <a:solidFill>
              <a:srgbClr val="D0D0D0"/>
            </a:solidFill>
          </a:ln>
        </p:spPr>
      </p:cxnSp>
      <p:sp>
        <p:nvSpPr>
          <p:cNvPr id="20" name="직사각형 21"/>
          <p:cNvSpPr/>
          <p:nvPr/>
        </p:nvSpPr>
        <p:spPr>
          <a:xfrm>
            <a:off x="323697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4</a:t>
            </a:r>
          </a:p>
        </p:txBody>
      </p:sp>
      <p:sp>
        <p:nvSpPr>
          <p:cNvPr id="21" name="직사각형 22"/>
          <p:cNvSpPr/>
          <p:nvPr/>
        </p:nvSpPr>
        <p:spPr>
          <a:xfrm>
            <a:off x="112471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2" name="직사각형 23"/>
          <p:cNvSpPr/>
          <p:nvPr/>
        </p:nvSpPr>
        <p:spPr>
          <a:xfrm>
            <a:off x="3227832" y="277063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3" name="직사각형 24"/>
          <p:cNvSpPr/>
          <p:nvPr/>
        </p:nvSpPr>
        <p:spPr>
          <a:xfrm>
            <a:off x="533095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4" name="직사각형 2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채택한 간선    회색: 확인하지 않은 간선</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한 시작점에서 모든 정점까지의 최단 거리</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58</a:t>
            </a:r>
            <a:endParaRPr lang="ko-KR" altLang="en-US" sz="1050" b="0" dirty="0">
              <a:solidFill>
                <a:srgbClr val="606060"/>
              </a:solidFill>
              <a:latin typeface="Malgun Gothic"/>
              <a:ea typeface="Malgun Gothic"/>
              <a:cs typeface="Malgun Gothic"/>
            </a:endParaRPr>
          </a:p>
        </p:txBody>
      </p:sp>
      <p:sp>
        <p:nvSpPr>
          <p:cNvPr id="9" name="fit:ab3a2f6679f03078 10"/>
          <p:cNvSpPr/>
          <p:nvPr/>
        </p:nvSpPr>
        <p:spPr>
          <a:xfrm>
            <a:off x="658368" y="1737360"/>
            <a:ext cx="5120640" cy="594360"/>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시작점 하나에서 </a:t>
            </a:r>
            <a:r>
              <a:rPr lang="ko-KR" altLang="en-US" sz="1800" b="1" dirty="0">
                <a:solidFill>
                  <a:srgbClr val="171717"/>
                </a:solidFill>
                <a:latin typeface="Malgun Gothic"/>
                <a:ea typeface="Malgun Gothic"/>
                <a:cs typeface="Malgun Gothic"/>
              </a:rPr>
              <a:t>다른 모든 정점까지</a:t>
            </a:r>
            <a:r>
              <a:rPr lang="ko-KR" altLang="en-US" sz="1800" b="0" dirty="0">
                <a:solidFill>
                  <a:srgbClr val="171717"/>
                </a:solidFill>
                <a:latin typeface="Malgun Gothic"/>
                <a:ea typeface="Malgun Gothic"/>
                <a:cs typeface="Malgun Gothic"/>
              </a:rPr>
              <a:t> 가장 짧은 경로의 길이를 구합니다.</a:t>
            </a:r>
          </a:p>
        </p:txBody>
      </p:sp>
      <p:sp>
        <p:nvSpPr>
          <p:cNvPr id="10" name="fit:fd5187ee1321b3b3 11"/>
          <p:cNvSpPr/>
          <p:nvPr/>
        </p:nvSpPr>
        <p:spPr>
          <a:xfrm>
            <a:off x="658368" y="2459736"/>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dist[v]</a:t>
            </a:r>
          </a:p>
        </p:txBody>
      </p:sp>
      <p:sp>
        <p:nvSpPr>
          <p:cNvPr id="11" name="fit:cf7af4d44f837c4e 12"/>
          <p:cNvSpPr/>
          <p:nvPr/>
        </p:nvSpPr>
        <p:spPr>
          <a:xfrm>
            <a:off x="841248" y="2788920"/>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시작점에서 v까지 지금까지 찾은 가장 짧은 거리. 처음엔 시작점 0, 나머지 ∞</a:t>
            </a:r>
          </a:p>
        </p:txBody>
      </p:sp>
      <p:sp>
        <p:nvSpPr>
          <p:cNvPr id="12" name="fit:7de19bc243cd8b76 13"/>
          <p:cNvSpPr/>
          <p:nvPr/>
        </p:nvSpPr>
        <p:spPr>
          <a:xfrm>
            <a:off x="658368" y="3429000"/>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확정</a:t>
            </a:r>
          </a:p>
        </p:txBody>
      </p:sp>
      <p:sp>
        <p:nvSpPr>
          <p:cNvPr id="13" name="fit:53298c9f7190bc06 14"/>
          <p:cNvSpPr/>
          <p:nvPr/>
        </p:nvSpPr>
        <p:spPr>
          <a:xfrm>
            <a:off x="841248" y="3758184"/>
            <a:ext cx="493776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dist[v]가 더 줄어들지 않는다고 결론 내리는 것</a:t>
            </a:r>
          </a:p>
        </p:txBody>
      </p:sp>
      <p:sp>
        <p:nvSpPr>
          <p:cNvPr id="14" name="fit:4977154339b6b5f6 15"/>
          <p:cNvSpPr/>
          <p:nvPr/>
        </p:nvSpPr>
        <p:spPr>
          <a:xfrm>
            <a:off x="658368" y="4142232"/>
            <a:ext cx="512064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다익스트라의 선택</a:t>
            </a:r>
          </a:p>
        </p:txBody>
      </p:sp>
      <p:sp>
        <p:nvSpPr>
          <p:cNvPr id="15" name="fit:51fc9e25f84256db 16"/>
          <p:cNvSpPr/>
          <p:nvPr/>
        </p:nvSpPr>
        <p:spPr>
          <a:xfrm>
            <a:off x="841248" y="4471416"/>
            <a:ext cx="4937760" cy="530352"/>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아직 확정하지 않은 정점 중 dist가 가장 작은 곳부터 확정합니다</a:t>
            </a:r>
          </a:p>
        </p:txBody>
      </p:sp>
      <p:sp>
        <p:nvSpPr>
          <p:cNvPr id="16" name="fit:7a8f12f82cfd8387 17"/>
          <p:cNvSpPr/>
          <p:nvPr/>
        </p:nvSpPr>
        <p:spPr>
          <a:xfrm>
            <a:off x="658368" y="5111496"/>
            <a:ext cx="512064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내비게이션 길 찾기, 네트워크 라우팅(예: OSPF)에 다익스트라나 그 변형이 쓰입니다.</a:t>
            </a:r>
          </a:p>
        </p:txBody>
      </p:sp>
      <p:pic>
        <p:nvPicPr>
          <p:cNvPr id="17" name="그림 18"/>
          <p:cNvPicPr>
            <a:picLocks noChangeAspect="1"/>
          </p:cNvPicPr>
          <p:nvPr/>
        </p:nvPicPr>
        <p:blipFill>
          <a:blip r:embed="rId3"/>
          <a:stretch>
            <a:fillRect/>
          </a:stretch>
        </p:blipFill>
        <p:spPr>
          <a:xfrm>
            <a:off x="6126480" y="2441899"/>
            <a:ext cx="5458968" cy="2980042"/>
          </a:xfrm>
          <a:prstGeom prst="rect">
            <a:avLst/>
          </a:prstGeom>
        </p:spPr>
      </p:pic>
      <p:sp>
        <p:nvSpPr>
          <p:cNvPr id="18" name="직사각형 19"/>
          <p:cNvSpPr/>
          <p:nvPr/>
        </p:nvSpPr>
        <p:spPr>
          <a:xfrm>
            <a:off x="612648" y="6089904"/>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0" dirty="0">
                <a:solidFill>
                  <a:srgbClr val="3F3F3F"/>
                </a:solidFill>
                <a:latin typeface="Malgun Gothic"/>
                <a:ea typeface="Malgun Gothic"/>
                <a:cs typeface="Malgun Gothic"/>
              </a:rPr>
              <a:t>그림: 집에서 편의점 2분, 학교 10분, 병원 15분. 아직 확정하지 않은 곳 중 가장 가까운 편의점부터 확정합니다.</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왜 가장 가까운 곳을 확정해도 안전한가</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59</a:t>
            </a:r>
            <a:endParaRPr lang="ko-KR" altLang="en-US" sz="1050" b="0" dirty="0">
              <a:solidFill>
                <a:srgbClr val="606060"/>
              </a:solidFill>
              <a:latin typeface="Malgun Gothic"/>
              <a:ea typeface="Malgun Gothic"/>
              <a:cs typeface="Malgun Gothic"/>
            </a:endParaRPr>
          </a:p>
        </p:txBody>
      </p:sp>
      <p:sp>
        <p:nvSpPr>
          <p:cNvPr id="9" name="fit:ffa0046a4a902a7f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편의점 2분, 학교 10분입니다. 학교를 거쳐 편의점에 가면 10 + x분(x ≥ 0)이라 2분보다 짧아질 수 없습니다.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3b7c61cc09d6e8d8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학교를 거쳐 편의점에 가는 길</a:t>
            </a:r>
          </a:p>
        </p:txBody>
      </p:sp>
      <p:sp>
        <p:nvSpPr>
          <p:cNvPr id="12" name="fit:c72f5d17b00cb19d 13"/>
          <p:cNvSpPr/>
          <p:nvPr/>
        </p:nvSpPr>
        <p:spPr>
          <a:xfrm>
            <a:off x="7909560" y="3328416"/>
            <a:ext cx="3666744"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dirty="0">
                <a:solidFill>
                  <a:srgbClr val="0E8A7D"/>
                </a:solidFill>
                <a:latin typeface="Malgun Gothic"/>
                <a:ea typeface="Malgun Gothic"/>
                <a:cs typeface="Malgun Gothic"/>
              </a:rPr>
              <a:t>10 + x ≥ 10 &gt; 2</a:t>
            </a:r>
          </a:p>
        </p:txBody>
      </p:sp>
      <p:sp>
        <p:nvSpPr>
          <p:cNvPr id="13" name="fit:4190b1266d26f2a4 14"/>
          <p:cNvSpPr/>
          <p:nvPr/>
        </p:nvSpPr>
        <p:spPr>
          <a:xfrm>
            <a:off x="7909560" y="3785616"/>
            <a:ext cx="3666744" cy="104241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학교까지 이미 10분입니다. 간선 비용이 0 이상이면 길을 더 갈수록 거리가 줄지 않으므로 편의점 2분은 더 줄어들 수 없습니다.</a:t>
            </a:r>
          </a:p>
        </p:txBody>
      </p:sp>
      <p:sp>
        <p:nvSpPr>
          <p:cNvPr id="14" name="직사각형 15"/>
          <p:cNvSpPr/>
          <p:nvPr/>
        </p:nvSpPr>
        <p:spPr>
          <a:xfrm>
            <a:off x="7909560" y="4937760"/>
            <a:ext cx="3666744"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5" name="fit:11c5c8c4b90d4e64 16"/>
          <p:cNvSpPr/>
          <p:nvPr/>
        </p:nvSpPr>
        <p:spPr>
          <a:xfrm>
            <a:off x="7909560" y="5065776"/>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x = −9라면?</a:t>
            </a:r>
          </a:p>
        </p:txBody>
      </p:sp>
      <p:sp>
        <p:nvSpPr>
          <p:cNvPr id="16" name="fit:77ea738554ac15ba 17"/>
          <p:cNvSpPr/>
          <p:nvPr/>
        </p:nvSpPr>
        <p:spPr>
          <a:xfrm>
            <a:off x="7909560" y="5458968"/>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10 − 9 = 1 &lt; 2. 음수 간선이 있으면 이 논리가 깨집니다.</a:t>
            </a:r>
          </a:p>
        </p:txBody>
      </p:sp>
      <p:cxnSp>
        <p:nvCxnSpPr>
          <p:cNvPr id="17" name="연결선 18"/>
          <p:cNvCxnSpPr/>
          <p:nvPr/>
        </p:nvCxnSpPr>
        <p:spPr>
          <a:xfrm flipV="1">
            <a:off x="1832613" y="3218378"/>
            <a:ext cx="3449495" cy="974857"/>
          </a:xfrm>
          <a:prstGeom prst="line">
            <a:avLst/>
          </a:prstGeom>
          <a:ln w="44450">
            <a:solidFill>
              <a:srgbClr val="0E8A7D"/>
            </a:solidFill>
            <a:tailEnd type="triangle" w="med" len="med"/>
          </a:ln>
        </p:spPr>
      </p:cxnSp>
      <p:sp>
        <p:nvSpPr>
          <p:cNvPr id="18" name="직사각형 19"/>
          <p:cNvSpPr/>
          <p:nvPr/>
        </p:nvSpPr>
        <p:spPr>
          <a:xfrm>
            <a:off x="3288628" y="342537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a:off x="1834651" y="4394622"/>
            <a:ext cx="3445321" cy="898779"/>
          </a:xfrm>
          <a:prstGeom prst="line">
            <a:avLst/>
          </a:prstGeom>
          <a:ln w="19050">
            <a:solidFill>
              <a:srgbClr val="9A9A9A"/>
            </a:solidFill>
            <a:tailEnd type="triangle" w="med" len="med"/>
          </a:ln>
        </p:spPr>
      </p:cxnSp>
      <p:sp>
        <p:nvSpPr>
          <p:cNvPr id="20" name="직사각형 21"/>
          <p:cNvSpPr/>
          <p:nvPr/>
        </p:nvSpPr>
        <p:spPr>
          <a:xfrm>
            <a:off x="3291486" y="485072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10</a:t>
            </a:r>
          </a:p>
        </p:txBody>
      </p:sp>
      <p:cxnSp>
        <p:nvCxnSpPr>
          <p:cNvPr id="21" name="연결선 22"/>
          <p:cNvCxnSpPr/>
          <p:nvPr/>
        </p:nvCxnSpPr>
        <p:spPr>
          <a:xfrm flipV="1">
            <a:off x="5669280" y="3511296"/>
            <a:ext cx="0" cy="1499616"/>
          </a:xfrm>
          <a:prstGeom prst="line">
            <a:avLst/>
          </a:prstGeom>
          <a:ln w="19050">
            <a:solidFill>
              <a:srgbClr val="9A9A9A"/>
            </a:solidFill>
            <a:tailEnd type="triangle" w="med" len="med"/>
          </a:ln>
        </p:spPr>
      </p:cxnSp>
      <p:sp>
        <p:nvSpPr>
          <p:cNvPr id="22" name="직사각형 23"/>
          <p:cNvSpPr/>
          <p:nvPr/>
        </p:nvSpPr>
        <p:spPr>
          <a:xfrm>
            <a:off x="5577840" y="411480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x</a:t>
            </a:r>
          </a:p>
        </p:txBody>
      </p:sp>
      <p:sp>
        <p:nvSpPr>
          <p:cNvPr id="23" name="직사각형 24"/>
          <p:cNvSpPr/>
          <p:nvPr/>
        </p:nvSpPr>
        <p:spPr>
          <a:xfrm>
            <a:off x="1078992" y="3913632"/>
            <a:ext cx="768096" cy="76809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집</a:t>
            </a:r>
          </a:p>
        </p:txBody>
      </p:sp>
      <p:sp>
        <p:nvSpPr>
          <p:cNvPr id="24" name="직사각형 25"/>
          <p:cNvSpPr/>
          <p:nvPr/>
        </p:nvSpPr>
        <p:spPr>
          <a:xfrm>
            <a:off x="5285232" y="2724912"/>
            <a:ext cx="768096" cy="76809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편의점</a:t>
            </a:r>
          </a:p>
        </p:txBody>
      </p:sp>
      <p:sp>
        <p:nvSpPr>
          <p:cNvPr id="25" name="직사각형 26"/>
          <p:cNvSpPr/>
          <p:nvPr/>
        </p:nvSpPr>
        <p:spPr>
          <a:xfrm>
            <a:off x="5285232" y="5010912"/>
            <a:ext cx="768096" cy="76809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학교</a:t>
            </a:r>
          </a:p>
        </p:txBody>
      </p:sp>
      <p:sp>
        <p:nvSpPr>
          <p:cNvPr id="26" name="직사각형 27"/>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시작점    노랑: 지금 가장 가까운 미확정 정점    x: 학교 → 편의점 비용</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완화 · dist[v] 15 → 10</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60</a:t>
            </a:r>
            <a:endParaRPr lang="ko-KR" altLang="en-US" sz="1050" b="0" dirty="0">
              <a:solidFill>
                <a:srgbClr val="606060"/>
              </a:solidFill>
              <a:latin typeface="Malgun Gothic"/>
              <a:ea typeface="Malgun Gothic"/>
              <a:cs typeface="Malgun Gothic"/>
            </a:endParaRPr>
          </a:p>
        </p:txBody>
      </p:sp>
      <p:sp>
        <p:nvSpPr>
          <p:cNvPr id="9" name="fit:b9cd81bf47bad89e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u를 거쳐 v로 가는 길이 더 짧으면 dist[v]를 고칩니다. 연습문제 예: dist[u] = 7, 가중치 3, dist[v] = 15</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sp>
        <p:nvSpPr>
          <p:cNvPr id="11" name="fit:26f019e282d75c4f 12"/>
          <p:cNvSpPr/>
          <p:nvPr/>
        </p:nvSpPr>
        <p:spPr>
          <a:xfrm>
            <a:off x="7909560" y="2935224"/>
            <a:ext cx="3666744" cy="265176"/>
          </a:xfrm>
          <a:prstGeom prst="rect">
            <a:avLst/>
          </a:prstGeom>
          <a:noFill/>
          <a:ln w="0">
            <a:noFill/>
          </a:ln>
        </p:spPr>
        <p:txBody>
          <a:bodyPr wrap="square" lIns="0" tIns="0" rIns="0" bIns="0" anchor="t">
            <a:noAutofit/>
          </a:bodyPr>
          <a:lstStyle/>
          <a:p>
            <a:pPr algn="l" eaLnBrk="0" latinLnBrk="0">
              <a:lnSpc>
                <a:spcPct val="105000"/>
              </a:lnSpc>
              <a:buNone/>
            </a:pPr>
            <a:r>
              <a:rPr lang="ko-KR" altLang="en-US" sz="1500" b="0" dirty="0">
                <a:solidFill>
                  <a:srgbClr val="171717"/>
                </a:solidFill>
                <a:latin typeface="Malgun Gothic"/>
                <a:ea typeface="Malgun Gothic"/>
                <a:cs typeface="Malgun Gothic"/>
              </a:rPr>
              <a:t>완화(relaxation)</a:t>
            </a:r>
          </a:p>
        </p:txBody>
      </p:sp>
      <p:sp>
        <p:nvSpPr>
          <p:cNvPr id="12" name="fit:0fdd4f9a5eafb749 13"/>
          <p:cNvSpPr/>
          <p:nvPr/>
        </p:nvSpPr>
        <p:spPr>
          <a:xfrm>
            <a:off x="7909560" y="3328416"/>
            <a:ext cx="3666744"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500" b="1" dirty="0">
                <a:solidFill>
                  <a:srgbClr val="0E8A7D"/>
                </a:solidFill>
                <a:latin typeface="Malgun Gothic"/>
                <a:ea typeface="Malgun Gothic"/>
                <a:cs typeface="Malgun Gothic"/>
              </a:rPr>
              <a:t>dist[v] = min(dist[v], dist[u] + w)</a:t>
            </a:r>
          </a:p>
        </p:txBody>
      </p:sp>
      <p:sp>
        <p:nvSpPr>
          <p:cNvPr id="13" name="직사각형 14"/>
          <p:cNvSpPr/>
          <p:nvPr/>
        </p:nvSpPr>
        <p:spPr>
          <a:xfrm>
            <a:off x="7909560" y="3703320"/>
            <a:ext cx="3666744"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relax.pseudo</a:t>
            </a:r>
          </a:p>
        </p:txBody>
      </p:sp>
      <p:sp>
        <p:nvSpPr>
          <p:cNvPr id="14" name="직사각형 15"/>
          <p:cNvSpPr/>
          <p:nvPr/>
        </p:nvSpPr>
        <p:spPr>
          <a:xfrm>
            <a:off x="7909560" y="3922776"/>
            <a:ext cx="3666744" cy="676656"/>
          </a:xfrm>
          <a:prstGeom prst="rect">
            <a:avLst/>
          </a:prstGeom>
          <a:solidFill>
            <a:srgbClr val="171717"/>
          </a:solidFill>
          <a:ln w="0">
            <a:noFill/>
          </a:ln>
        </p:spPr>
        <p:txBody>
          <a:bodyPr wrap="none" lIns="91440" tIns="91440" rIns="91440" bIns="91440" anchor="t">
            <a:noAutofit/>
          </a:bodyPr>
          <a:lstStyle/>
          <a:p>
            <a:pPr algn="l" eaLnBrk="0" latinLnBrk="0">
              <a:lnSpc>
                <a:spcPct val="100000"/>
              </a:lnSpc>
              <a:buNone/>
            </a:pPr>
            <a:r>
              <a:rPr lang="ko-KR" altLang="en-US" sz="1500" b="0" dirty="0">
                <a:solidFill>
                  <a:srgbClr val="FFFFFF"/>
                </a:solidFill>
                <a:latin typeface="Consolas"/>
                <a:ea typeface="Consolas"/>
                <a:cs typeface="Consolas"/>
              </a:rPr>
              <a:t>if dist[u] + w &lt; dist[v] then</a:t>
            </a:r>
          </a:p>
          <a:p>
            <a:pPr algn="l" eaLnBrk="0" latinLnBrk="0">
              <a:lnSpc>
                <a:spcPct val="100000"/>
              </a:lnSpc>
              <a:buNone/>
            </a:pPr>
            <a:r>
              <a:rPr lang="ko-KR" altLang="en-US" sz="1500" b="0" dirty="0">
                <a:solidFill>
                  <a:srgbClr val="FFFFFF"/>
                </a:solidFill>
                <a:latin typeface="Consolas"/>
                <a:ea typeface="Consolas"/>
                <a:cs typeface="Consolas"/>
              </a:rPr>
              <a:t>    dist[v] &lt;- dist[u] + w</a:t>
            </a:r>
          </a:p>
        </p:txBody>
      </p:sp>
      <p:sp>
        <p:nvSpPr>
          <p:cNvPr id="15" name="fit:6e0b723c4fd6ce36 16"/>
          <p:cNvSpPr/>
          <p:nvPr/>
        </p:nvSpPr>
        <p:spPr>
          <a:xfrm>
            <a:off x="7909560" y="4727448"/>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w: u → v 간선의 비용. 더 짧을 때만 고치고, 같거나 길면 그대로 둡니다.</a:t>
            </a:r>
          </a:p>
        </p:txBody>
      </p:sp>
      <p:cxnSp>
        <p:nvCxnSpPr>
          <p:cNvPr id="16" name="연결선 17"/>
          <p:cNvCxnSpPr/>
          <p:nvPr/>
        </p:nvCxnSpPr>
        <p:spPr>
          <a:xfrm>
            <a:off x="2139696" y="4114800"/>
            <a:ext cx="3200400" cy="0"/>
          </a:xfrm>
          <a:prstGeom prst="line">
            <a:avLst/>
          </a:prstGeom>
          <a:ln w="44450">
            <a:solidFill>
              <a:srgbClr val="B8651B"/>
            </a:solidFill>
            <a:tailEnd type="triangle" w="med" len="med"/>
          </a:ln>
        </p:spPr>
      </p:cxnSp>
      <p:sp>
        <p:nvSpPr>
          <p:cNvPr id="17" name="직사각형 18"/>
          <p:cNvSpPr/>
          <p:nvPr/>
        </p:nvSpPr>
        <p:spPr>
          <a:xfrm>
            <a:off x="3511296" y="41239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3</a:t>
            </a:r>
          </a:p>
        </p:txBody>
      </p:sp>
      <p:sp>
        <p:nvSpPr>
          <p:cNvPr id="18" name="직사각형 19"/>
          <p:cNvSpPr/>
          <p:nvPr/>
        </p:nvSpPr>
        <p:spPr>
          <a:xfrm>
            <a:off x="1517904" y="3803904"/>
            <a:ext cx="621792" cy="621792"/>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u</a:t>
            </a:r>
          </a:p>
        </p:txBody>
      </p:sp>
      <p:sp>
        <p:nvSpPr>
          <p:cNvPr id="19" name="직사각형 20"/>
          <p:cNvSpPr/>
          <p:nvPr/>
        </p:nvSpPr>
        <p:spPr>
          <a:xfrm>
            <a:off x="5358384" y="3803904"/>
            <a:ext cx="621792" cy="621792"/>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v</a:t>
            </a:r>
          </a:p>
        </p:txBody>
      </p:sp>
      <p:sp>
        <p:nvSpPr>
          <p:cNvPr id="20" name="직사각형 21"/>
          <p:cNvSpPr/>
          <p:nvPr/>
        </p:nvSpPr>
        <p:spPr>
          <a:xfrm>
            <a:off x="1005840" y="3154680"/>
            <a:ext cx="1645920" cy="420624"/>
          </a:xfrm>
          <a:prstGeom prst="rect">
            <a:avLst/>
          </a:prstGeom>
          <a:solidFill>
            <a:srgbClr val="DCECFB"/>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dist[u] = 7</a:t>
            </a:r>
          </a:p>
        </p:txBody>
      </p:sp>
      <p:sp>
        <p:nvSpPr>
          <p:cNvPr id="21" name="직사각형 22"/>
          <p:cNvSpPr/>
          <p:nvPr/>
        </p:nvSpPr>
        <p:spPr>
          <a:xfrm>
            <a:off x="4572000" y="3154680"/>
            <a:ext cx="2194560" cy="420624"/>
          </a:xfrm>
          <a:prstGeom prst="rect">
            <a:avLst/>
          </a:prstGeom>
          <a:solidFill>
            <a:srgbClr val="FFF1C2"/>
          </a:solidFill>
          <a:ln w="0">
            <a:noFill/>
          </a:ln>
        </p:spPr>
        <p:txBody>
          <a:bodyPr wrap="square" lIns="0" tIns="0" rIns="0" bIns="0" anchor="ctr">
            <a:noAutofit/>
          </a:bodyPr>
          <a:lstStyle/>
          <a:p>
            <a:pPr algn="ctr" eaLnBrk="0" latinLnBrk="0">
              <a:lnSpc>
                <a:spcPct val="100000"/>
              </a:lnSpc>
              <a:buNone/>
            </a:pPr>
            <a:r>
              <a:rPr lang="ko-KR" altLang="en-US" sz="1800" b="1" dirty="0">
                <a:solidFill>
                  <a:srgbClr val="151515"/>
                </a:solidFill>
                <a:latin typeface="Malgun Gothic"/>
                <a:ea typeface="Malgun Gothic"/>
                <a:cs typeface="Malgun Gothic"/>
              </a:rPr>
              <a:t>dist[v] = 15 → 10</a:t>
            </a:r>
          </a:p>
        </p:txBody>
      </p:sp>
      <p:sp>
        <p:nvSpPr>
          <p:cNvPr id="22" name="직사각형 23"/>
          <p:cNvSpPr/>
          <p:nvPr/>
        </p:nvSpPr>
        <p:spPr>
          <a:xfrm>
            <a:off x="1005840" y="4846320"/>
            <a:ext cx="5760720" cy="457200"/>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800" b="1" dirty="0">
                <a:solidFill>
                  <a:srgbClr val="256B50"/>
                </a:solidFill>
                <a:latin typeface="Malgun Gothic"/>
                <a:ea typeface="Malgun Gothic"/>
                <a:cs typeface="Malgun Gothic"/>
              </a:rPr>
              <a:t>7 + 3 = 10 &lt; 15  →  dist[v]를 10으로 고칩니다</a:t>
            </a:r>
          </a:p>
        </p:txBody>
      </p:sp>
      <p:sp>
        <p:nvSpPr>
          <p:cNvPr id="23" name="직사각형 24"/>
          <p:cNvSpPr/>
          <p:nvPr/>
        </p:nvSpPr>
        <p:spPr>
          <a:xfrm>
            <a:off x="1005840" y="5431536"/>
            <a:ext cx="5760720" cy="457200"/>
          </a:xfrm>
          <a:prstGeom prst="rect">
            <a:avLst/>
          </a:prstGeom>
          <a:solidFill>
            <a:srgbClr val="F2F2F2"/>
          </a:solidFill>
          <a:ln w="0">
            <a:noFill/>
          </a:ln>
        </p:spPr>
        <p:txBody>
          <a:bodyPr wrap="square" lIns="0" tIns="0" rIns="0" bIns="0" anchor="ctr">
            <a:noAutofit/>
          </a:bodyPr>
          <a:lstStyle/>
          <a:p>
            <a:pPr algn="ctr" eaLnBrk="0" latinLnBrk="0">
              <a:lnSpc>
                <a:spcPct val="100000"/>
              </a:lnSpc>
              <a:buNone/>
            </a:pPr>
            <a:r>
              <a:rPr lang="ko-KR" altLang="en-US" sz="1650" b="0" dirty="0">
                <a:solidFill>
                  <a:srgbClr val="151515"/>
                </a:solidFill>
                <a:latin typeface="Malgun Gothic"/>
                <a:ea typeface="Malgun Gothic"/>
                <a:cs typeface="Malgun Gothic"/>
              </a:rPr>
              <a:t>dist[v]가 9였다면 10 ≥ 9  →  그대로 9</a:t>
            </a:r>
          </a:p>
        </p:txBody>
      </p:sp>
      <p:sp>
        <p:nvSpPr>
          <p:cNvPr id="24" name="직사각형 25"/>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파랑: dist를 아는 정점 u    노랑: 고치려는 정점 v    주황: 완화하는 간선 u → v</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예제: A에서 출발 · 초기화</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61</a:t>
            </a:r>
            <a:endParaRPr lang="ko-KR" altLang="en-US" sz="1050" b="0" dirty="0">
              <a:solidFill>
                <a:srgbClr val="606060"/>
              </a:solidFill>
              <a:latin typeface="Malgun Gothic"/>
              <a:ea typeface="Malgun Gothic"/>
              <a:cs typeface="Malgun Gothic"/>
            </a:endParaRPr>
          </a:p>
        </p:txBody>
      </p:sp>
      <p:sp>
        <p:nvSpPr>
          <p:cNvPr id="9" name="fit:bec715f7f45c91e9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방향 그래프 A~F, 시작점은 A입니다. dist[A] = 0, 나머지는 아직 길을 모르니 ∞로 둡니다.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345062982"/>
              </p:ext>
            </p:extLst>
          </p:nvPr>
        </p:nvGraphicFramePr>
        <p:xfrm>
          <a:off x="7909560" y="2935224"/>
          <a:ext cx="3666744" cy="2176272"/>
        </p:xfrm>
        <a:graphic>
          <a:graphicData uri="http://schemas.openxmlformats.org/drawingml/2006/table">
            <a:tbl>
              <a:tblPr/>
              <a:tblGrid>
                <a:gridCol w="894328">
                  <a:extLst>
                    <a:ext uri="{9D8B030D-6E8A-4147-A177-3AD203B41FA5}">
                      <a16:colId xmlns:a16="http://schemas.microsoft.com/office/drawing/2014/main" val="20000"/>
                    </a:ext>
                  </a:extLst>
                </a:gridCol>
                <a:gridCol w="1341492">
                  <a:extLst>
                    <a:ext uri="{9D8B030D-6E8A-4147-A177-3AD203B41FA5}">
                      <a16:colId xmlns:a16="http://schemas.microsoft.com/office/drawing/2014/main" val="20001"/>
                    </a:ext>
                  </a:extLst>
                </a:gridCol>
                <a:gridCol w="1430924">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4"/>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6"/>
                  </a:ext>
                </a:extLst>
              </a:tr>
            </a:tbl>
          </a:graphicData>
        </a:graphic>
      </p:graphicFrame>
      <p:sp>
        <p:nvSpPr>
          <p:cNvPr id="12" name="fit:378583433e922f5d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다음: 미확정 중 dist가 가장 작은 A(0)를 확정</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19050">
            <a:solidFill>
              <a:srgbClr val="9A9A9A"/>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19050">
            <a:solidFill>
              <a:srgbClr val="9A9A9A"/>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19050">
            <a:solidFill>
              <a:srgbClr val="9A9A9A"/>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19050">
            <a:solidFill>
              <a:srgbClr val="9A9A9A"/>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35" name="직사각형 36"/>
          <p:cNvSpPr/>
          <p:nvPr/>
        </p:nvSpPr>
        <p:spPr>
          <a:xfrm>
            <a:off x="459943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37" name="직사각형 38"/>
          <p:cNvSpPr/>
          <p:nvPr/>
        </p:nvSpPr>
        <p:spPr>
          <a:xfrm>
            <a:off x="58795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검정: 시작점    정점 옆 숫자 = 지금의 dist    ∞: 아직 길을 모름</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① A 확정 · B 8, C 1, D 2</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62</a:t>
            </a:r>
            <a:endParaRPr lang="ko-KR" altLang="en-US" sz="1050" b="0" dirty="0">
              <a:solidFill>
                <a:srgbClr val="606060"/>
              </a:solidFill>
              <a:latin typeface="Malgun Gothic"/>
              <a:ea typeface="Malgun Gothic"/>
              <a:cs typeface="Malgun Gothic"/>
            </a:endParaRPr>
          </a:p>
        </p:txBody>
      </p:sp>
      <p:sp>
        <p:nvSpPr>
          <p:cNvPr id="9" name="fit:218f87c214fa2297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미확정 중 가장 작은 A(0)를 확정합니다. A에서 나가는 간선으로 B, C, D를 고칩니다.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1530477757"/>
              </p:ext>
            </p:extLst>
          </p:nvPr>
        </p:nvGraphicFramePr>
        <p:xfrm>
          <a:off x="7909560" y="2935224"/>
          <a:ext cx="3666744" cy="2176272"/>
        </p:xfrm>
        <a:graphic>
          <a:graphicData uri="http://schemas.openxmlformats.org/drawingml/2006/table">
            <a:tbl>
              <a:tblPr/>
              <a:tblGrid>
                <a:gridCol w="894328">
                  <a:extLst>
                    <a:ext uri="{9D8B030D-6E8A-4147-A177-3AD203B41FA5}">
                      <a16:colId xmlns:a16="http://schemas.microsoft.com/office/drawing/2014/main" val="20000"/>
                    </a:ext>
                  </a:extLst>
                </a:gridCol>
                <a:gridCol w="1341492">
                  <a:extLst>
                    <a:ext uri="{9D8B030D-6E8A-4147-A177-3AD203B41FA5}">
                      <a16:colId xmlns:a16="http://schemas.microsoft.com/office/drawing/2014/main" val="20001"/>
                    </a:ext>
                  </a:extLst>
                </a:gridCol>
                <a:gridCol w="1430924">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8</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1</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 → 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4"/>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6"/>
                  </a:ext>
                </a:extLst>
              </a:tr>
            </a:tbl>
          </a:graphicData>
        </a:graphic>
      </p:graphicFrame>
      <p:sp>
        <p:nvSpPr>
          <p:cNvPr id="12" name="fit:ed9543823ae3169f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0 + 8 = 8, 0 + 1 = 1, 0 + 2 = 2. 다음: 가장 작은 C(1)</a:t>
            </a:r>
          </a:p>
        </p:txBody>
      </p:sp>
      <p:cxnSp>
        <p:nvCxnSpPr>
          <p:cNvPr id="13" name="연결선 14"/>
          <p:cNvCxnSpPr/>
          <p:nvPr/>
        </p:nvCxnSpPr>
        <p:spPr>
          <a:xfrm flipV="1">
            <a:off x="1183561" y="3201588"/>
            <a:ext cx="911554" cy="878998"/>
          </a:xfrm>
          <a:prstGeom prst="line">
            <a:avLst/>
          </a:prstGeom>
          <a:ln w="44450">
            <a:solidFill>
              <a:srgbClr val="B8651B"/>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B8651B"/>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B8651B"/>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19050">
            <a:solidFill>
              <a:srgbClr val="9A9A9A"/>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9A9A9A"/>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19050">
            <a:solidFill>
              <a:srgbClr val="9A9A9A"/>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8</a:t>
            </a:r>
          </a:p>
        </p:txBody>
      </p:sp>
      <p:sp>
        <p:nvSpPr>
          <p:cNvPr id="35" name="직사각형 36"/>
          <p:cNvSpPr/>
          <p:nvPr/>
        </p:nvSpPr>
        <p:spPr>
          <a:xfrm>
            <a:off x="459943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1</a:t>
            </a:r>
          </a:p>
        </p:txBody>
      </p:sp>
      <p:sp>
        <p:nvSpPr>
          <p:cNvPr id="37" name="직사각형 38"/>
          <p:cNvSpPr/>
          <p:nvPr/>
        </p:nvSpPr>
        <p:spPr>
          <a:xfrm>
            <a:off x="58795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 → 2</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② C 확정 · B 8 → 6</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63</a:t>
            </a:r>
            <a:endParaRPr lang="ko-KR" altLang="en-US" sz="1050" b="0" dirty="0">
              <a:solidFill>
                <a:srgbClr val="606060"/>
              </a:solidFill>
              <a:latin typeface="Malgun Gothic"/>
              <a:ea typeface="Malgun Gothic"/>
              <a:cs typeface="Malgun Gothic"/>
            </a:endParaRPr>
          </a:p>
        </p:txBody>
      </p:sp>
      <p:sp>
        <p:nvSpPr>
          <p:cNvPr id="9" name="fit:89fed076f65f58eb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가장 작은 C(1)를 확정합니다. C → B로 1 + 5 = 6 &lt; 8이라 B를 6으로 고칩니다.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3979968212"/>
              </p:ext>
            </p:extLst>
          </p:nvPr>
        </p:nvGraphicFramePr>
        <p:xfrm>
          <a:off x="7909560" y="2935224"/>
          <a:ext cx="3666744" cy="2176272"/>
        </p:xfrm>
        <a:graphic>
          <a:graphicData uri="http://schemas.openxmlformats.org/drawingml/2006/table">
            <a:tbl>
              <a:tblPr/>
              <a:tblGrid>
                <a:gridCol w="894328">
                  <a:extLst>
                    <a:ext uri="{9D8B030D-6E8A-4147-A177-3AD203B41FA5}">
                      <a16:colId xmlns:a16="http://schemas.microsoft.com/office/drawing/2014/main" val="20000"/>
                    </a:ext>
                  </a:extLst>
                </a:gridCol>
                <a:gridCol w="1341492">
                  <a:extLst>
                    <a:ext uri="{9D8B030D-6E8A-4147-A177-3AD203B41FA5}">
                      <a16:colId xmlns:a16="http://schemas.microsoft.com/office/drawing/2014/main" val="20001"/>
                    </a:ext>
                  </a:extLst>
                </a:gridCol>
                <a:gridCol w="1430924">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FFF"/>
                    </a:solidFill>
                  </a:tcPr>
                </a:tc>
                <a:tc>
                  <a:txBody>
                    <a:bodyPr/>
                    <a:lstStyle/>
                    <a:p>
                      <a:pPr algn="ctr" eaLnBrk="0" latinLnBrk="0">
                        <a:lnSpc>
                          <a:spcPct val="100000"/>
                        </a:lnSpc>
                        <a:buNone/>
                      </a:pPr>
                      <a:r>
                        <a:rPr lang="ko-KR" altLang="en-US" sz="1400" b="1" dirty="0">
                          <a:solidFill>
                            <a:srgbClr val="0E8A7D"/>
                          </a:solidFill>
                          <a:latin typeface="Malgun Gothic"/>
                          <a:ea typeface="Malgun Gothic"/>
                          <a:cs typeface="Malgun Gothic"/>
                        </a:rPr>
                        <a:t>8 → 6</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extLst>
                  <a:ext uri="{0D108BD9-81ED-4DB2-BD59-A6C34878D82A}">
                    <a16:rowId xmlns:a16="http://schemas.microsoft.com/office/drawing/2014/main" val="10003"/>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4"/>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미확정</a:t>
                      </a:r>
                    </a:p>
                  </a:txBody>
                  <a:tcPr marL="54864" marR="54864" marT="18288" marB="18288" anchor="ctr">
                    <a:solidFill>
                      <a:srgbClr val="FFFFFF"/>
                    </a:solidFill>
                  </a:tcPr>
                </a:tc>
                <a:extLst>
                  <a:ext uri="{0D108BD9-81ED-4DB2-BD59-A6C34878D82A}">
                    <a16:rowId xmlns:a16="http://schemas.microsoft.com/office/drawing/2014/main" val="10006"/>
                  </a:ext>
                </a:extLst>
              </a:tr>
            </a:tbl>
          </a:graphicData>
        </a:graphic>
      </p:graphicFrame>
      <p:sp>
        <p:nvSpPr>
          <p:cNvPr id="12" name="fit:498fa689f59f75cb 13"/>
          <p:cNvSpPr/>
          <p:nvPr/>
        </p:nvSpPr>
        <p:spPr>
          <a:xfrm>
            <a:off x="7909560" y="5257800"/>
            <a:ext cx="3666744"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C → D는 1 + 2 = 3 ≥ 2라 그대로입니다. 다음: D(2)</a:t>
            </a:r>
          </a:p>
        </p:txBody>
      </p:sp>
      <p:cxnSp>
        <p:nvCxnSpPr>
          <p:cNvPr id="13" name="연결선 14"/>
          <p:cNvCxnSpPr/>
          <p:nvPr/>
        </p:nvCxnSpPr>
        <p:spPr>
          <a:xfrm flipV="1">
            <a:off x="1183561" y="3201588"/>
            <a:ext cx="911554" cy="878998"/>
          </a:xfrm>
          <a:prstGeom prst="line">
            <a:avLst/>
          </a:prstGeom>
          <a:ln w="19050">
            <a:solidFill>
              <a:srgbClr val="9A9A9A"/>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B8651B"/>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9050">
            <a:solidFill>
              <a:srgbClr val="B23B3B"/>
            </a:solidFill>
            <a:prstDash val="dash"/>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19050">
            <a:solidFill>
              <a:srgbClr val="9A9A9A"/>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9050">
            <a:solidFill>
              <a:srgbClr val="9A9A9A"/>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19050">
            <a:solidFill>
              <a:srgbClr val="9A9A9A"/>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9A9A9A"/>
            </a:solidFill>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0E8A7D"/>
                </a:solidFill>
                <a:latin typeface="Malgun Gothic"/>
                <a:ea typeface="Malgun Gothic"/>
                <a:cs typeface="Malgun Gothic"/>
              </a:rPr>
              <a:t>8 → 6</a:t>
            </a:r>
          </a:p>
        </p:txBody>
      </p:sp>
      <p:sp>
        <p:nvSpPr>
          <p:cNvPr id="35" name="직사각형 36"/>
          <p:cNvSpPr/>
          <p:nvPr/>
        </p:nvSpPr>
        <p:spPr>
          <a:xfrm>
            <a:off x="4599432" y="277063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1" name="직사각형 42"/>
          <p:cNvSpPr/>
          <p:nvPr/>
        </p:nvSpPr>
        <p:spPr>
          <a:xfrm>
            <a:off x="2039112" y="5239512"/>
            <a:ext cx="493776" cy="493776"/>
          </a:xfrm>
          <a:prstGeom prst="ellipse">
            <a:avLst/>
          </a:prstGeom>
          <a:solidFill>
            <a:srgbClr val="FFFFFF"/>
          </a:solidFill>
          <a:ln w="22225">
            <a:solidFill>
              <a:srgbClr val="7A7A7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606060"/>
                </a:solidFill>
                <a:latin typeface="Malgun Gothic"/>
                <a:ea typeface="Malgun Gothic"/>
                <a:cs typeface="Malgun Gothic"/>
              </a:rPr>
              <a:t>∞</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노랑: 이번에 확정    파랑: 확정    주황: 이번에 완화한 간선    청록: 지금 dist를 만든 간선    빨강 점선: 줄지 않음</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a:solidFill>
                  <a:srgbClr val="171717"/>
                </a:solidFill>
                <a:latin typeface="Malgun Gothic"/>
                <a:ea typeface="Malgun Gothic"/>
                <a:cs typeface="Malgun Gothic"/>
              </a:rPr>
              <a:t>계산 결과</a:t>
            </a:r>
            <a:r>
              <a:rPr lang="en-US" altLang="ko-KR" sz="3000" b="1">
                <a:solidFill>
                  <a:srgbClr val="171717"/>
                </a:solidFill>
                <a:latin typeface="Malgun Gothic"/>
                <a:ea typeface="Malgun Gothic"/>
                <a:cs typeface="Malgun Gothic"/>
              </a:rPr>
              <a:t>: </a:t>
            </a:r>
            <a:r>
              <a:rPr lang="ko-KR" altLang="en-US" sz="3000" b="1">
                <a:solidFill>
                  <a:srgbClr val="171717"/>
                </a:solidFill>
                <a:latin typeface="Malgun Gothic"/>
                <a:ea typeface="Malgun Gothic"/>
                <a:cs typeface="Malgun Gothic"/>
              </a:rPr>
              <a:t>모든 정점의 최단 거리</a:t>
            </a:r>
            <a:endParaRPr lang="ko-KR" altLang="en-US" sz="3000" b="1" dirty="0">
              <a:solidFill>
                <a:srgbClr val="171717"/>
              </a:solidFill>
              <a:latin typeface="Malgun Gothic"/>
              <a:ea typeface="Malgun Gothic"/>
              <a:cs typeface="Malgun Gothic"/>
            </a:endParaRP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64</a:t>
            </a:r>
            <a:endParaRPr lang="ko-KR" altLang="en-US" sz="1050" b="0" dirty="0">
              <a:solidFill>
                <a:srgbClr val="606060"/>
              </a:solidFill>
              <a:latin typeface="Malgun Gothic"/>
              <a:ea typeface="Malgun Gothic"/>
              <a:cs typeface="Malgun Gothic"/>
            </a:endParaRPr>
          </a:p>
        </p:txBody>
      </p:sp>
      <p:sp>
        <p:nvSpPr>
          <p:cNvPr id="9" name="fit:82f30d15e258ccfd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F(6)를 확정합니다. F → A는 A가 이미 확정되어 고치지 않습니다(6 + 5 = 11 ≥ 0이기도 합니다).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2345195793"/>
              </p:ext>
            </p:extLst>
          </p:nvPr>
        </p:nvGraphicFramePr>
        <p:xfrm>
          <a:off x="7909560" y="2935224"/>
          <a:ext cx="3666744" cy="2176272"/>
        </p:xfrm>
        <a:graphic>
          <a:graphicData uri="http://schemas.openxmlformats.org/drawingml/2006/table">
            <a:tbl>
              <a:tblPr/>
              <a:tblGrid>
                <a:gridCol w="894328">
                  <a:extLst>
                    <a:ext uri="{9D8B030D-6E8A-4147-A177-3AD203B41FA5}">
                      <a16:colId xmlns:a16="http://schemas.microsoft.com/office/drawing/2014/main" val="20000"/>
                    </a:ext>
                  </a:extLst>
                </a:gridCol>
                <a:gridCol w="1341492">
                  <a:extLst>
                    <a:ext uri="{9D8B030D-6E8A-4147-A177-3AD203B41FA5}">
                      <a16:colId xmlns:a16="http://schemas.microsoft.com/office/drawing/2014/main" val="20001"/>
                    </a:ext>
                  </a:extLst>
                </a:gridCol>
                <a:gridCol w="1430924">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C</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1</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3"/>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D</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4"/>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E</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5"/>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F</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6</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extLst>
                  <a:ext uri="{0D108BD9-81ED-4DB2-BD59-A6C34878D82A}">
                    <a16:rowId xmlns:a16="http://schemas.microsoft.com/office/drawing/2014/main" val="10006"/>
                  </a:ext>
                </a:extLst>
              </a:tr>
            </a:tbl>
          </a:graphicData>
        </a:graphic>
      </p:graphicFrame>
      <p:sp>
        <p:nvSpPr>
          <p:cNvPr id="12" name="fit:38f8cccd4235c51a 13"/>
          <p:cNvSpPr/>
          <p:nvPr/>
        </p:nvSpPr>
        <p:spPr>
          <a:xfrm>
            <a:off x="7909560" y="5257800"/>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모든 정점 확정. 청록 간선 5개 = 최단 경로 트리. A → D → E → F = 2 + 3 + 1 = 6</a:t>
            </a:r>
          </a:p>
        </p:txBody>
      </p:sp>
      <p:cxnSp>
        <p:nvCxnSpPr>
          <p:cNvPr id="13" name="연결선 14"/>
          <p:cNvCxnSpPr/>
          <p:nvPr/>
        </p:nvCxnSpPr>
        <p:spPr>
          <a:xfrm flipV="1">
            <a:off x="1183561" y="3201588"/>
            <a:ext cx="911554" cy="878998"/>
          </a:xfrm>
          <a:prstGeom prst="line">
            <a:avLst/>
          </a:prstGeom>
          <a:ln w="12700">
            <a:solidFill>
              <a:srgbClr val="D0D0D0"/>
            </a:solidFill>
            <a:tailEnd type="triangle" w="med" len="med"/>
          </a:ln>
        </p:spPr>
      </p:cxnSp>
      <p:sp>
        <p:nvSpPr>
          <p:cNvPr id="14" name="직사각형 15"/>
          <p:cNvSpPr/>
          <p:nvPr/>
        </p:nvSpPr>
        <p:spPr>
          <a:xfrm>
            <a:off x="130662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8</a:t>
            </a:r>
          </a:p>
        </p:txBody>
      </p:sp>
      <p:cxnSp>
        <p:nvCxnSpPr>
          <p:cNvPr id="15" name="연결선 16"/>
          <p:cNvCxnSpPr/>
          <p:nvPr/>
        </p:nvCxnSpPr>
        <p:spPr>
          <a:xfrm flipV="1">
            <a:off x="1240884" y="3098666"/>
            <a:ext cx="3352980" cy="1077744"/>
          </a:xfrm>
          <a:prstGeom prst="line">
            <a:avLst/>
          </a:prstGeom>
          <a:ln w="44450">
            <a:solidFill>
              <a:srgbClr val="0E8A7D"/>
            </a:solidFill>
            <a:tailEnd type="triangle" w="med" len="med"/>
          </a:ln>
        </p:spPr>
      </p:cxnSp>
      <p:sp>
        <p:nvSpPr>
          <p:cNvPr id="16" name="직사각형 17"/>
          <p:cNvSpPr/>
          <p:nvPr/>
        </p:nvSpPr>
        <p:spPr>
          <a:xfrm>
            <a:off x="2643566" y="335829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17" name="연결선 18"/>
          <p:cNvCxnSpPr/>
          <p:nvPr/>
        </p:nvCxnSpPr>
        <p:spPr>
          <a:xfrm>
            <a:off x="1252728" y="4251960"/>
            <a:ext cx="4608576" cy="0"/>
          </a:xfrm>
          <a:prstGeom prst="line">
            <a:avLst/>
          </a:prstGeom>
          <a:ln w="44450">
            <a:solidFill>
              <a:srgbClr val="0E8A7D"/>
            </a:solidFill>
            <a:tailEnd type="triangle" w="med" len="med"/>
          </a:ln>
        </p:spPr>
      </p:cxnSp>
      <p:sp>
        <p:nvSpPr>
          <p:cNvPr id="18" name="직사각형 19"/>
          <p:cNvSpPr/>
          <p:nvPr/>
        </p:nvSpPr>
        <p:spPr>
          <a:xfrm>
            <a:off x="3328416" y="396849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9" name="연결선 20"/>
          <p:cNvCxnSpPr/>
          <p:nvPr/>
        </p:nvCxnSpPr>
        <p:spPr>
          <a:xfrm flipH="1">
            <a:off x="2551176" y="3017520"/>
            <a:ext cx="2048256" cy="0"/>
          </a:xfrm>
          <a:prstGeom prst="line">
            <a:avLst/>
          </a:prstGeom>
          <a:ln w="44450">
            <a:solidFill>
              <a:srgbClr val="0E8A7D"/>
            </a:solidFill>
            <a:tailEnd type="triangle" w="med" len="med"/>
          </a:ln>
        </p:spPr>
      </p:cxnSp>
      <p:sp>
        <p:nvSpPr>
          <p:cNvPr id="20" name="직사각형 21"/>
          <p:cNvSpPr/>
          <p:nvPr/>
        </p:nvSpPr>
        <p:spPr>
          <a:xfrm>
            <a:off x="3328416" y="273405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21" name="연결선 22"/>
          <p:cNvCxnSpPr/>
          <p:nvPr/>
        </p:nvCxnSpPr>
        <p:spPr>
          <a:xfrm>
            <a:off x="5024041" y="3188894"/>
            <a:ext cx="911554" cy="878998"/>
          </a:xfrm>
          <a:prstGeom prst="line">
            <a:avLst/>
          </a:prstGeom>
          <a:ln w="12700">
            <a:solidFill>
              <a:srgbClr val="D0D0D0"/>
            </a:solidFill>
            <a:tailEnd type="triangle" w="med" len="med"/>
          </a:ln>
        </p:spPr>
      </p:cxnSp>
      <p:sp>
        <p:nvSpPr>
          <p:cNvPr id="22" name="직사각형 23"/>
          <p:cNvSpPr/>
          <p:nvPr/>
        </p:nvSpPr>
        <p:spPr>
          <a:xfrm>
            <a:off x="5350211" y="339226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a:t>
            </a:r>
          </a:p>
        </p:txBody>
      </p:sp>
      <p:cxnSp>
        <p:nvCxnSpPr>
          <p:cNvPr id="23" name="연결선 24"/>
          <p:cNvCxnSpPr/>
          <p:nvPr/>
        </p:nvCxnSpPr>
        <p:spPr>
          <a:xfrm flipH="1">
            <a:off x="5037205" y="4423334"/>
            <a:ext cx="911554" cy="878998"/>
          </a:xfrm>
          <a:prstGeom prst="line">
            <a:avLst/>
          </a:prstGeom>
          <a:ln w="44450">
            <a:solidFill>
              <a:srgbClr val="0E8A7D"/>
            </a:solidFill>
            <a:tailEnd type="triangle" w="med" len="med"/>
          </a:ln>
        </p:spPr>
      </p:cxnSp>
      <p:sp>
        <p:nvSpPr>
          <p:cNvPr id="24" name="직사각형 25"/>
          <p:cNvSpPr/>
          <p:nvPr/>
        </p:nvSpPr>
        <p:spPr>
          <a:xfrm>
            <a:off x="535021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cxnSp>
        <p:nvCxnSpPr>
          <p:cNvPr id="25" name="연결선 26"/>
          <p:cNvCxnSpPr/>
          <p:nvPr/>
        </p:nvCxnSpPr>
        <p:spPr>
          <a:xfrm flipH="1">
            <a:off x="2538455" y="4327510"/>
            <a:ext cx="3352980" cy="1077744"/>
          </a:xfrm>
          <a:prstGeom prst="line">
            <a:avLst/>
          </a:prstGeom>
          <a:ln w="12700">
            <a:solidFill>
              <a:srgbClr val="D0D0D0"/>
            </a:solidFill>
            <a:tailEnd type="triangle" w="med" len="med"/>
          </a:ln>
        </p:spPr>
      </p:cxnSp>
      <p:sp>
        <p:nvSpPr>
          <p:cNvPr id="26" name="직사각형 27"/>
          <p:cNvSpPr/>
          <p:nvPr/>
        </p:nvSpPr>
        <p:spPr>
          <a:xfrm>
            <a:off x="4013266" y="487130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5</a:t>
            </a:r>
          </a:p>
        </p:txBody>
      </p:sp>
      <p:cxnSp>
        <p:nvCxnSpPr>
          <p:cNvPr id="27" name="연결선 28"/>
          <p:cNvCxnSpPr/>
          <p:nvPr/>
        </p:nvCxnSpPr>
        <p:spPr>
          <a:xfrm flipH="1">
            <a:off x="2551176" y="5486400"/>
            <a:ext cx="2048256" cy="0"/>
          </a:xfrm>
          <a:prstGeom prst="line">
            <a:avLst/>
          </a:prstGeom>
          <a:ln w="44450">
            <a:solidFill>
              <a:srgbClr val="0E8A7D"/>
            </a:solidFill>
            <a:tailEnd type="triangle" w="med" len="med"/>
          </a:ln>
        </p:spPr>
      </p:cxnSp>
      <p:sp>
        <p:nvSpPr>
          <p:cNvPr id="28" name="직사각형 29"/>
          <p:cNvSpPr/>
          <p:nvPr/>
        </p:nvSpPr>
        <p:spPr>
          <a:xfrm>
            <a:off x="3328416" y="54955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1</a:t>
            </a:r>
          </a:p>
        </p:txBody>
      </p:sp>
      <p:cxnSp>
        <p:nvCxnSpPr>
          <p:cNvPr id="29" name="연결선 30"/>
          <p:cNvCxnSpPr/>
          <p:nvPr/>
        </p:nvCxnSpPr>
        <p:spPr>
          <a:xfrm flipH="1" flipV="1">
            <a:off x="1196725" y="4436028"/>
            <a:ext cx="911554" cy="878998"/>
          </a:xfrm>
          <a:prstGeom prst="line">
            <a:avLst/>
          </a:prstGeom>
          <a:ln w="19050">
            <a:solidFill>
              <a:srgbClr val="B23B3B"/>
            </a:solidFill>
            <a:prstDash val="dash"/>
            <a:tailEnd type="triangle" w="med" len="med"/>
          </a:ln>
        </p:spPr>
      </p:cxnSp>
      <p:sp>
        <p:nvSpPr>
          <p:cNvPr id="30" name="직사각형 31"/>
          <p:cNvSpPr/>
          <p:nvPr/>
        </p:nvSpPr>
        <p:spPr>
          <a:xfrm>
            <a:off x="1306621" y="4837336"/>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23B3B"/>
                </a:solidFill>
                <a:latin typeface="Malgun Gothic"/>
                <a:ea typeface="Malgun Gothic"/>
                <a:cs typeface="Malgun Gothic"/>
              </a:rPr>
              <a:t>5</a:t>
            </a:r>
          </a:p>
        </p:txBody>
      </p:sp>
      <p:sp>
        <p:nvSpPr>
          <p:cNvPr id="31" name="직사각형 32"/>
          <p:cNvSpPr/>
          <p:nvPr/>
        </p:nvSpPr>
        <p:spPr>
          <a:xfrm>
            <a:off x="75895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32" name="직사각형 33"/>
          <p:cNvSpPr/>
          <p:nvPr/>
        </p:nvSpPr>
        <p:spPr>
          <a:xfrm>
            <a:off x="45720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33" name="직사각형 34"/>
          <p:cNvSpPr/>
          <p:nvPr/>
        </p:nvSpPr>
        <p:spPr>
          <a:xfrm>
            <a:off x="203911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4" name="직사각형 35"/>
          <p:cNvSpPr/>
          <p:nvPr/>
        </p:nvSpPr>
        <p:spPr>
          <a:xfrm>
            <a:off x="17373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6</a:t>
            </a:r>
          </a:p>
        </p:txBody>
      </p:sp>
      <p:sp>
        <p:nvSpPr>
          <p:cNvPr id="35" name="직사각형 36"/>
          <p:cNvSpPr/>
          <p:nvPr/>
        </p:nvSpPr>
        <p:spPr>
          <a:xfrm>
            <a:off x="459943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6" name="직사각형 37"/>
          <p:cNvSpPr/>
          <p:nvPr/>
        </p:nvSpPr>
        <p:spPr>
          <a:xfrm>
            <a:off x="429768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1</a:t>
            </a:r>
          </a:p>
        </p:txBody>
      </p:sp>
      <p:sp>
        <p:nvSpPr>
          <p:cNvPr id="37" name="직사각형 38"/>
          <p:cNvSpPr/>
          <p:nvPr/>
        </p:nvSpPr>
        <p:spPr>
          <a:xfrm>
            <a:off x="5879592" y="4005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D</a:t>
            </a:r>
          </a:p>
        </p:txBody>
      </p:sp>
      <p:sp>
        <p:nvSpPr>
          <p:cNvPr id="38" name="직사각형 39"/>
          <p:cNvSpPr/>
          <p:nvPr/>
        </p:nvSpPr>
        <p:spPr>
          <a:xfrm>
            <a:off x="5577840" y="369417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2</a:t>
            </a:r>
          </a:p>
        </p:txBody>
      </p:sp>
      <p:sp>
        <p:nvSpPr>
          <p:cNvPr id="39" name="직사각형 40"/>
          <p:cNvSpPr/>
          <p:nvPr/>
        </p:nvSpPr>
        <p:spPr>
          <a:xfrm>
            <a:off x="4599432" y="52395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E</a:t>
            </a:r>
          </a:p>
        </p:txBody>
      </p:sp>
      <p:sp>
        <p:nvSpPr>
          <p:cNvPr id="40" name="직사각형 41"/>
          <p:cNvSpPr/>
          <p:nvPr/>
        </p:nvSpPr>
        <p:spPr>
          <a:xfrm>
            <a:off x="429768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5</a:t>
            </a:r>
          </a:p>
        </p:txBody>
      </p:sp>
      <p:sp>
        <p:nvSpPr>
          <p:cNvPr id="41" name="직사각형 42"/>
          <p:cNvSpPr/>
          <p:nvPr/>
        </p:nvSpPr>
        <p:spPr>
          <a:xfrm>
            <a:off x="2039112" y="523951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F</a:t>
            </a:r>
          </a:p>
        </p:txBody>
      </p:sp>
      <p:sp>
        <p:nvSpPr>
          <p:cNvPr id="42" name="직사각형 43"/>
          <p:cNvSpPr/>
          <p:nvPr/>
        </p:nvSpPr>
        <p:spPr>
          <a:xfrm>
            <a:off x="1737360" y="57698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6</a:t>
            </a:r>
          </a:p>
        </p:txBody>
      </p:sp>
      <p:sp>
        <p:nvSpPr>
          <p:cNvPr id="43" name="직사각형 44"/>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최단 경로 트리    빨강 점선: 줄지 않은 간선    연회색: 쓰지 않은 간선</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다익스트라 의사코드 (배열판)</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65</a:t>
            </a:r>
            <a:endParaRPr lang="ko-KR" altLang="en-US" sz="1050" b="0" dirty="0">
              <a:solidFill>
                <a:srgbClr val="606060"/>
              </a:solidFill>
              <a:latin typeface="Malgun Gothic"/>
              <a:ea typeface="Malgun Gothic"/>
              <a:cs typeface="Malgun Gothic"/>
            </a:endParaRPr>
          </a:p>
        </p:txBody>
      </p:sp>
      <p:sp>
        <p:nvSpPr>
          <p:cNvPr id="9" name="직사각형 10"/>
          <p:cNvSpPr/>
          <p:nvPr/>
        </p:nvSpPr>
        <p:spPr>
          <a:xfrm>
            <a:off x="612648" y="1636776"/>
            <a:ext cx="10972800" cy="21945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0" dirty="0">
                <a:solidFill>
                  <a:srgbClr val="606060"/>
                </a:solidFill>
                <a:latin typeface="Consolas"/>
                <a:ea typeface="Consolas"/>
                <a:cs typeface="Consolas"/>
              </a:rPr>
              <a:t>dijkstra.pseudo</a:t>
            </a:r>
          </a:p>
        </p:txBody>
      </p:sp>
      <p:sp>
        <p:nvSpPr>
          <p:cNvPr id="10" name="직사각형 11"/>
          <p:cNvSpPr/>
          <p:nvPr/>
        </p:nvSpPr>
        <p:spPr>
          <a:xfrm>
            <a:off x="612648" y="1856232"/>
            <a:ext cx="10972800" cy="2038096"/>
          </a:xfrm>
          <a:prstGeom prst="rect">
            <a:avLst/>
          </a:prstGeom>
          <a:solidFill>
            <a:srgbClr val="171717"/>
          </a:solidFill>
          <a:ln w="0">
            <a:noFill/>
          </a:ln>
        </p:spPr>
        <p:txBody>
          <a:bodyPr wrap="none" lIns="91440" tIns="91440" rIns="91440" bIns="91440" anchor="t">
            <a:noAutofit/>
          </a:bodyPr>
          <a:lstStyle/>
          <a:p>
            <a:pPr algn="l" eaLnBrk="0" latinLnBrk="0">
              <a:lnSpc>
                <a:spcPct val="130000"/>
              </a:lnSpc>
              <a:buNone/>
            </a:pPr>
            <a:r>
              <a:rPr lang="ko-KR" altLang="en-US" sz="1200" b="0" dirty="0">
                <a:solidFill>
                  <a:srgbClr val="FFFFFF"/>
                </a:solidFill>
                <a:latin typeface="Consolas"/>
                <a:ea typeface="Consolas"/>
                <a:cs typeface="Consolas"/>
              </a:rPr>
              <a:t>DIJKSTRA(G, start):</a:t>
            </a:r>
          </a:p>
          <a:p>
            <a:pPr algn="l" eaLnBrk="0" latinLnBrk="0">
              <a:lnSpc>
                <a:spcPct val="130000"/>
              </a:lnSpc>
              <a:buNone/>
            </a:pPr>
            <a:r>
              <a:rPr lang="ko-KR" altLang="en-US" sz="1200" b="0" dirty="0">
                <a:solidFill>
                  <a:srgbClr val="FFFFFF"/>
                </a:solidFill>
                <a:latin typeface="Consolas"/>
                <a:ea typeface="Consolas"/>
                <a:cs typeface="Consolas"/>
              </a:rPr>
              <a:t>    dist[모든 v] &lt;- ∞;  visited[모든 v] &lt;- False;  dist[start] &lt;- 0</a:t>
            </a:r>
          </a:p>
          <a:p>
            <a:pPr algn="l" eaLnBrk="0" latinLnBrk="0">
              <a:lnSpc>
                <a:spcPct val="130000"/>
              </a:lnSpc>
              <a:buNone/>
            </a:pPr>
            <a:r>
              <a:rPr lang="ko-KR" altLang="en-US" sz="1200" b="0" dirty="0">
                <a:solidFill>
                  <a:srgbClr val="FFFFFF"/>
                </a:solidFill>
                <a:latin typeface="Consolas"/>
                <a:ea typeface="Consolas"/>
                <a:cs typeface="Consolas"/>
              </a:rPr>
              <a:t>    V번 반복:</a:t>
            </a:r>
          </a:p>
          <a:p>
            <a:pPr algn="l" eaLnBrk="0" latinLnBrk="0">
              <a:lnSpc>
                <a:spcPct val="130000"/>
              </a:lnSpc>
              <a:buNone/>
            </a:pPr>
            <a:r>
              <a:rPr lang="ko-KR" altLang="en-US" sz="1200" b="0" dirty="0">
                <a:solidFill>
                  <a:srgbClr val="FFFFFF"/>
                </a:solidFill>
                <a:latin typeface="Consolas"/>
                <a:ea typeface="Consolas"/>
                <a:cs typeface="Consolas"/>
              </a:rPr>
              <a:t>        u &lt;- 미확정 중 dist가 가장 작은 정점 (모두 ∞면 break);  visited[u] &lt;- True   // 확정</a:t>
            </a:r>
          </a:p>
          <a:p>
            <a:pPr algn="l" eaLnBrk="0" latinLnBrk="0">
              <a:lnSpc>
                <a:spcPct val="130000"/>
              </a:lnSpc>
              <a:buNone/>
            </a:pPr>
            <a:r>
              <a:rPr lang="ko-KR" altLang="en-US" sz="1200" b="0" dirty="0">
                <a:solidFill>
                  <a:srgbClr val="FFFFFF"/>
                </a:solidFill>
                <a:latin typeface="Consolas"/>
                <a:ea typeface="Consolas"/>
                <a:cs typeface="Consolas"/>
              </a:rPr>
              <a:t>        for u에서 나가는 간선 (u, v, w):</a:t>
            </a:r>
          </a:p>
          <a:p>
            <a:pPr algn="l" eaLnBrk="0" latinLnBrk="0">
              <a:lnSpc>
                <a:spcPct val="130000"/>
              </a:lnSpc>
              <a:buNone/>
            </a:pPr>
            <a:r>
              <a:rPr lang="ko-KR" altLang="en-US" sz="1200" b="0" dirty="0">
                <a:solidFill>
                  <a:srgbClr val="FFFFFF"/>
                </a:solidFill>
                <a:latin typeface="Consolas"/>
                <a:ea typeface="Consolas"/>
                <a:cs typeface="Consolas"/>
              </a:rPr>
              <a:t>            if not visited[v] and dist[u] + w &lt; dist[v] then</a:t>
            </a:r>
          </a:p>
          <a:p>
            <a:pPr algn="l" eaLnBrk="0" latinLnBrk="0">
              <a:lnSpc>
                <a:spcPct val="130000"/>
              </a:lnSpc>
              <a:buNone/>
            </a:pPr>
            <a:r>
              <a:rPr lang="ko-KR" altLang="en-US" sz="1200" b="0" dirty="0">
                <a:solidFill>
                  <a:srgbClr val="FFFFFF"/>
                </a:solidFill>
                <a:latin typeface="Consolas"/>
                <a:ea typeface="Consolas"/>
                <a:cs typeface="Consolas"/>
              </a:rPr>
              <a:t>                dist[v] &lt;- dist[u] + w          // 완화</a:t>
            </a:r>
          </a:p>
          <a:p>
            <a:pPr algn="l" eaLnBrk="0" latinLnBrk="0">
              <a:lnSpc>
                <a:spcPct val="130000"/>
              </a:lnSpc>
              <a:buNone/>
            </a:pPr>
            <a:r>
              <a:rPr lang="ko-KR" altLang="en-US" sz="1200" b="0" dirty="0">
                <a:solidFill>
                  <a:srgbClr val="FFFFFF"/>
                </a:solidFill>
                <a:latin typeface="Consolas"/>
                <a:ea typeface="Consolas"/>
                <a:cs typeface="Consolas"/>
              </a:rPr>
              <a:t>    return dist</a:t>
            </a:r>
          </a:p>
        </p:txBody>
      </p:sp>
      <p:sp>
        <p:nvSpPr>
          <p:cNvPr id="11" name="fit:95273bf58ee3387e 12"/>
          <p:cNvSpPr/>
          <p:nvPr/>
        </p:nvSpPr>
        <p:spPr>
          <a:xfrm>
            <a:off x="612648" y="3895344"/>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선택: 확정하지 않은 정점 중 dist가 가장 작은 정점</a:t>
            </a:r>
          </a:p>
        </p:txBody>
      </p:sp>
      <p:sp>
        <p:nvSpPr>
          <p:cNvPr id="12" name="fit:bc52732013ecab3b 13"/>
          <p:cNvSpPr/>
          <p:nvPr/>
        </p:nvSpPr>
        <p:spPr>
          <a:xfrm>
            <a:off x="795528" y="4224528"/>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배열을 처음부터 끝까지 훑으면 V번 비교, 이것을 V번 반복 → O(V²)</a:t>
            </a:r>
          </a:p>
        </p:txBody>
      </p:sp>
      <p:sp>
        <p:nvSpPr>
          <p:cNvPr id="13" name="fit:835a9224e6c39325 14"/>
          <p:cNvSpPr/>
          <p:nvPr/>
        </p:nvSpPr>
        <p:spPr>
          <a:xfrm>
            <a:off x="612648" y="4608576"/>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확정: visited[u] &lt;- True</a:t>
            </a:r>
          </a:p>
        </p:txBody>
      </p:sp>
      <p:sp>
        <p:nvSpPr>
          <p:cNvPr id="14" name="fit:a366afd8b226d02f 15"/>
          <p:cNvSpPr/>
          <p:nvPr/>
        </p:nvSpPr>
        <p:spPr>
          <a:xfrm>
            <a:off x="795528" y="4937760"/>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확정한 정점은 다시 고치지 않습니다</a:t>
            </a:r>
          </a:p>
        </p:txBody>
      </p:sp>
      <p:sp>
        <p:nvSpPr>
          <p:cNvPr id="15" name="fit:32779aaccb4af727 16"/>
          <p:cNvSpPr/>
          <p:nvPr/>
        </p:nvSpPr>
        <p:spPr>
          <a:xfrm>
            <a:off x="612648" y="5321808"/>
            <a:ext cx="10972800" cy="310896"/>
          </a:xfrm>
          <a:prstGeom prst="rect">
            <a:avLst/>
          </a:prstGeom>
          <a:noFill/>
          <a:ln w="0">
            <a:noFill/>
          </a:ln>
        </p:spPr>
        <p:txBody>
          <a:bodyPr wrap="square" lIns="0" tIns="0" rIns="0" bIns="0" anchor="t">
            <a:noAutofit/>
          </a:bodyPr>
          <a:lstStyle/>
          <a:p>
            <a:pPr algn="l" eaLnBrk="0" latinLnBrk="0">
              <a:lnSpc>
                <a:spcPct val="100000"/>
              </a:lnSpc>
              <a:buNone/>
            </a:pPr>
            <a:r>
              <a:rPr lang="ko-KR" altLang="en-US" sz="1800" b="1" dirty="0">
                <a:solidFill>
                  <a:srgbClr val="171717"/>
                </a:solidFill>
                <a:latin typeface="Malgun Gothic"/>
                <a:ea typeface="Malgun Gothic"/>
                <a:cs typeface="Malgun Gothic"/>
              </a:rPr>
              <a:t>완화: u에서 나가는 간선마다</a:t>
            </a:r>
          </a:p>
        </p:txBody>
      </p:sp>
      <p:sp>
        <p:nvSpPr>
          <p:cNvPr id="16" name="fit:25da0fa9cf75fb55 17"/>
          <p:cNvSpPr/>
          <p:nvPr/>
        </p:nvSpPr>
        <p:spPr>
          <a:xfrm>
            <a:off x="795528" y="5650992"/>
            <a:ext cx="10789920" cy="274320"/>
          </a:xfrm>
          <a:prstGeom prst="rect">
            <a:avLst/>
          </a:prstGeom>
          <a:noFill/>
          <a:ln w="0">
            <a:noFill/>
          </a:ln>
        </p:spPr>
        <p:txBody>
          <a:bodyPr wrap="square" lIns="0" tIns="0" rIns="0" bIns="0" anchor="t">
            <a:noAutofit/>
          </a:bodyPr>
          <a:lstStyle/>
          <a:p>
            <a:pPr algn="l" eaLnBrk="0" latinLnBrk="0">
              <a:lnSpc>
                <a:spcPct val="105000"/>
              </a:lnSpc>
              <a:buNone/>
            </a:pPr>
            <a:r>
              <a:rPr lang="ko-KR" altLang="en-US" sz="1575" b="0" dirty="0">
                <a:solidFill>
                  <a:srgbClr val="3F3F3F"/>
                </a:solidFill>
                <a:latin typeface="Malgun Gothic"/>
                <a:ea typeface="Malgun Gothic"/>
                <a:cs typeface="Malgun Gothic"/>
              </a:rPr>
              <a:t>인접 행렬이면 한 행 V칸을 훑으므로 반복마다 O(V)</a:t>
            </a:r>
          </a:p>
        </p:txBody>
      </p:sp>
      <p:sp>
        <p:nvSpPr>
          <p:cNvPr id="17" name="fit:8cf998502d2010bc 18"/>
          <p:cNvSpPr/>
          <p:nvPr/>
        </p:nvSpPr>
        <p:spPr>
          <a:xfrm>
            <a:off x="612648" y="6035040"/>
            <a:ext cx="10972800" cy="347472"/>
          </a:xfrm>
          <a:prstGeom prst="rect">
            <a:avLst/>
          </a:prstGeom>
          <a:noFill/>
          <a:ln w="0">
            <a:noFill/>
          </a:ln>
        </p:spPr>
        <p:txBody>
          <a:bodyPr wrap="square" lIns="0" tIns="0" rIns="0" bIns="0" anchor="t">
            <a:noAutofit/>
          </a:bodyPr>
          <a:lstStyle/>
          <a:p>
            <a:pPr algn="l" eaLnBrk="0" latinLnBrk="0">
              <a:lnSpc>
                <a:spcPct val="100000"/>
              </a:lnSpc>
              <a:buNone/>
            </a:pPr>
            <a:r>
              <a:rPr lang="ko-KR" altLang="en-US" sz="2000" b="1">
                <a:solidFill>
                  <a:srgbClr val="0E8A7D"/>
                </a:solidFill>
                <a:latin typeface="Malgun Gothic"/>
                <a:ea typeface="Malgun Gothic"/>
                <a:cs typeface="Malgun Gothic"/>
              </a:rPr>
              <a:t>배열판 전체 </a:t>
            </a:r>
            <a:r>
              <a:rPr lang="en-US" altLang="ko-KR" sz="2000" b="1">
                <a:solidFill>
                  <a:srgbClr val="0E8A7D"/>
                </a:solidFill>
                <a:latin typeface="Malgun Gothic"/>
                <a:ea typeface="Malgun Gothic"/>
                <a:cs typeface="Malgun Gothic"/>
              </a:rPr>
              <a:t>O(V²): </a:t>
            </a:r>
            <a:r>
              <a:rPr lang="ko-KR" altLang="en-US" sz="2000" b="1">
                <a:solidFill>
                  <a:srgbClr val="0E8A7D"/>
                </a:solidFill>
                <a:latin typeface="Malgun Gothic"/>
                <a:ea typeface="Malgun Gothic"/>
                <a:cs typeface="Malgun Gothic"/>
              </a:rPr>
              <a:t>전체 구현은 보충자료에 있습니다</a:t>
            </a:r>
            <a:endParaRPr lang="ko-KR" altLang="en-US" sz="2000" b="1" dirty="0">
              <a:solidFill>
                <a:srgbClr val="0E8A7D"/>
              </a:solidFill>
              <a:latin typeface="Malgun Gothic"/>
              <a:ea typeface="Malgun Gothic"/>
              <a:cs typeface="Malgun Gothic"/>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최소 신장 트리와 최단 경로 트리는 다를 수 있다</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66</a:t>
            </a:r>
            <a:endParaRPr lang="ko-KR" altLang="en-US" sz="1050" b="0" dirty="0">
              <a:solidFill>
                <a:srgbClr val="606060"/>
              </a:solidFill>
              <a:latin typeface="Malgun Gothic"/>
              <a:ea typeface="Malgun Gothic"/>
              <a:cs typeface="Malgun Gothic"/>
            </a:endParaRPr>
          </a:p>
        </p:txBody>
      </p:sp>
      <p:sp>
        <p:nvSpPr>
          <p:cNvPr id="9" name="fit:1d01bac46f26d97c 10"/>
          <p:cNvSpPr/>
          <p:nvPr/>
        </p:nvSpPr>
        <p:spPr>
          <a:xfrm>
            <a:off x="612648" y="1636776"/>
            <a:ext cx="1097280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MST는 간선 합을, 최단 경로 트리는 시작점에서 각 정점까지의 거리를 최소로 합니다. 같은 그래프에서도 둘은 다를 수 있습니다.</a:t>
            </a:r>
          </a:p>
        </p:txBody>
      </p:sp>
      <p:sp>
        <p:nvSpPr>
          <p:cNvPr id="10" name="직사각형 11"/>
          <p:cNvSpPr/>
          <p:nvPr/>
        </p:nvSpPr>
        <p:spPr>
          <a:xfrm>
            <a:off x="914400" y="2432304"/>
            <a:ext cx="384048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최소 신장 트리(크루스칼)</a:t>
            </a:r>
          </a:p>
        </p:txBody>
      </p:sp>
      <p:cxnSp>
        <p:nvCxnSpPr>
          <p:cNvPr id="11" name="연결선 12"/>
          <p:cNvCxnSpPr/>
          <p:nvPr/>
        </p:nvCxnSpPr>
        <p:spPr>
          <a:xfrm flipV="1">
            <a:off x="1440833" y="3296411"/>
            <a:ext cx="1324575" cy="1545337"/>
          </a:xfrm>
          <a:prstGeom prst="line">
            <a:avLst/>
          </a:prstGeom>
          <a:ln w="44450">
            <a:solidFill>
              <a:srgbClr val="0E8A7D"/>
            </a:solidFill>
          </a:ln>
        </p:spPr>
      </p:cxnSp>
      <p:sp>
        <p:nvSpPr>
          <p:cNvPr id="12" name="직사각형 13"/>
          <p:cNvSpPr/>
          <p:nvPr/>
        </p:nvSpPr>
        <p:spPr>
          <a:xfrm>
            <a:off x="1754294"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3" name="연결선 14"/>
          <p:cNvCxnSpPr/>
          <p:nvPr/>
        </p:nvCxnSpPr>
        <p:spPr>
          <a:xfrm>
            <a:off x="3086753" y="3296411"/>
            <a:ext cx="1324575" cy="1545337"/>
          </a:xfrm>
          <a:prstGeom prst="line">
            <a:avLst/>
          </a:prstGeom>
          <a:ln w="44450">
            <a:solidFill>
              <a:srgbClr val="0E8A7D"/>
            </a:solidFill>
          </a:ln>
        </p:spPr>
      </p:cxnSp>
      <p:sp>
        <p:nvSpPr>
          <p:cNvPr id="14" name="직사각형 15"/>
          <p:cNvSpPr/>
          <p:nvPr/>
        </p:nvSpPr>
        <p:spPr>
          <a:xfrm>
            <a:off x="3622378"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5" name="연결선 16"/>
          <p:cNvCxnSpPr/>
          <p:nvPr/>
        </p:nvCxnSpPr>
        <p:spPr>
          <a:xfrm>
            <a:off x="1527048" y="5029200"/>
            <a:ext cx="2798064" cy="0"/>
          </a:xfrm>
          <a:prstGeom prst="line">
            <a:avLst/>
          </a:prstGeom>
          <a:ln w="12700">
            <a:solidFill>
              <a:srgbClr val="D0D0D0"/>
            </a:solidFill>
          </a:ln>
        </p:spPr>
      </p:cxnSp>
      <p:sp>
        <p:nvSpPr>
          <p:cNvPr id="16" name="직사각형 17"/>
          <p:cNvSpPr/>
          <p:nvPr/>
        </p:nvSpPr>
        <p:spPr>
          <a:xfrm>
            <a:off x="268833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3</a:t>
            </a:r>
          </a:p>
        </p:txBody>
      </p:sp>
      <p:sp>
        <p:nvSpPr>
          <p:cNvPr id="17" name="직사각형 18"/>
          <p:cNvSpPr/>
          <p:nvPr/>
        </p:nvSpPr>
        <p:spPr>
          <a:xfrm>
            <a:off x="103327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18" name="직사각형 19"/>
          <p:cNvSpPr/>
          <p:nvPr/>
        </p:nvSpPr>
        <p:spPr>
          <a:xfrm>
            <a:off x="2679192" y="286207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19" name="직사각형 20"/>
          <p:cNvSpPr/>
          <p:nvPr/>
        </p:nvSpPr>
        <p:spPr>
          <a:xfrm>
            <a:off x="4325112" y="4782312"/>
            <a:ext cx="493776" cy="493776"/>
          </a:xfrm>
          <a:prstGeom prst="ellipse">
            <a:avLst/>
          </a:prstGeom>
          <a:solidFill>
            <a:srgbClr val="DDF1E4"/>
          </a:solidFill>
          <a:ln w="22225">
            <a:solidFill>
              <a:srgbClr val="256B50"/>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20" name="직사각형 21"/>
          <p:cNvSpPr/>
          <p:nvPr/>
        </p:nvSpPr>
        <p:spPr>
          <a:xfrm>
            <a:off x="6400800" y="2432304"/>
            <a:ext cx="5120640" cy="274320"/>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171717"/>
                </a:solidFill>
                <a:latin typeface="Malgun Gothic"/>
                <a:ea typeface="Malgun Gothic"/>
                <a:cs typeface="Malgun Gothic"/>
              </a:rPr>
              <a:t>최단 경로 트리(다익스트라, 시작 A)</a:t>
            </a:r>
          </a:p>
        </p:txBody>
      </p:sp>
      <p:cxnSp>
        <p:nvCxnSpPr>
          <p:cNvPr id="21" name="연결선 22"/>
          <p:cNvCxnSpPr/>
          <p:nvPr/>
        </p:nvCxnSpPr>
        <p:spPr>
          <a:xfrm flipV="1">
            <a:off x="6927233" y="3296411"/>
            <a:ext cx="1324575" cy="1545337"/>
          </a:xfrm>
          <a:prstGeom prst="line">
            <a:avLst/>
          </a:prstGeom>
          <a:ln w="44450">
            <a:solidFill>
              <a:srgbClr val="0E8A7D"/>
            </a:solidFill>
          </a:ln>
        </p:spPr>
      </p:cxnSp>
      <p:sp>
        <p:nvSpPr>
          <p:cNvPr id="22" name="직사각형 23"/>
          <p:cNvSpPr/>
          <p:nvPr/>
        </p:nvSpPr>
        <p:spPr>
          <a:xfrm>
            <a:off x="7240694"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23" name="연결선 24"/>
          <p:cNvCxnSpPr/>
          <p:nvPr/>
        </p:nvCxnSpPr>
        <p:spPr>
          <a:xfrm>
            <a:off x="8573153" y="3296411"/>
            <a:ext cx="1324575" cy="1545337"/>
          </a:xfrm>
          <a:prstGeom prst="line">
            <a:avLst/>
          </a:prstGeom>
          <a:ln w="12700">
            <a:solidFill>
              <a:srgbClr val="D0D0D0"/>
            </a:solidFill>
          </a:ln>
        </p:spPr>
      </p:cxnSp>
      <p:sp>
        <p:nvSpPr>
          <p:cNvPr id="24" name="직사각형 25"/>
          <p:cNvSpPr/>
          <p:nvPr/>
        </p:nvSpPr>
        <p:spPr>
          <a:xfrm>
            <a:off x="9108778" y="3836707"/>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AAAAAA"/>
                </a:solidFill>
                <a:latin typeface="Malgun Gothic"/>
                <a:ea typeface="Malgun Gothic"/>
                <a:cs typeface="Malgun Gothic"/>
              </a:rPr>
              <a:t>2</a:t>
            </a:r>
          </a:p>
        </p:txBody>
      </p:sp>
      <p:cxnSp>
        <p:nvCxnSpPr>
          <p:cNvPr id="25" name="연결선 26"/>
          <p:cNvCxnSpPr/>
          <p:nvPr/>
        </p:nvCxnSpPr>
        <p:spPr>
          <a:xfrm>
            <a:off x="7013448" y="5029200"/>
            <a:ext cx="2798064" cy="0"/>
          </a:xfrm>
          <a:prstGeom prst="line">
            <a:avLst/>
          </a:prstGeom>
          <a:ln w="44450">
            <a:solidFill>
              <a:srgbClr val="0E8A7D"/>
            </a:solidFill>
          </a:ln>
        </p:spPr>
      </p:cxnSp>
      <p:sp>
        <p:nvSpPr>
          <p:cNvPr id="26" name="직사각형 27"/>
          <p:cNvSpPr/>
          <p:nvPr/>
        </p:nvSpPr>
        <p:spPr>
          <a:xfrm>
            <a:off x="8174736" y="5038344"/>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3</a:t>
            </a:r>
          </a:p>
        </p:txBody>
      </p:sp>
      <p:sp>
        <p:nvSpPr>
          <p:cNvPr id="27" name="직사각형 28"/>
          <p:cNvSpPr/>
          <p:nvPr/>
        </p:nvSpPr>
        <p:spPr>
          <a:xfrm>
            <a:off x="6519672" y="4782312"/>
            <a:ext cx="493776" cy="493776"/>
          </a:xfrm>
          <a:prstGeom prst="ellipse">
            <a:avLst/>
          </a:prstGeom>
          <a:solidFill>
            <a:srgbClr val="151515"/>
          </a:solidFill>
          <a:ln w="22225">
            <a:solidFill>
              <a:srgbClr val="151515"/>
            </a:solidFill>
          </a:ln>
        </p:spPr>
        <p:txBody>
          <a:bodyPr wrap="none" lIns="0" tIns="0" rIns="0" bIns="0" anchor="ctr">
            <a:noAutofit/>
          </a:bodyPr>
          <a:lstStyle/>
          <a:p>
            <a:pPr algn="ctr" eaLnBrk="0" latinLnBrk="0">
              <a:lnSpc>
                <a:spcPct val="100000"/>
              </a:lnSpc>
              <a:buNone/>
            </a:pPr>
            <a:r>
              <a:rPr lang="ko-KR" altLang="en-US" sz="1650" b="1" dirty="0">
                <a:solidFill>
                  <a:srgbClr val="FFFFFF"/>
                </a:solidFill>
                <a:latin typeface="Malgun Gothic"/>
                <a:ea typeface="Malgun Gothic"/>
                <a:cs typeface="Malgun Gothic"/>
              </a:rPr>
              <a:t>A</a:t>
            </a:r>
          </a:p>
        </p:txBody>
      </p:sp>
      <p:sp>
        <p:nvSpPr>
          <p:cNvPr id="28" name="직사각형 29"/>
          <p:cNvSpPr/>
          <p:nvPr/>
        </p:nvSpPr>
        <p:spPr>
          <a:xfrm>
            <a:off x="6217920" y="53126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dist 0</a:t>
            </a:r>
          </a:p>
        </p:txBody>
      </p:sp>
      <p:sp>
        <p:nvSpPr>
          <p:cNvPr id="29" name="직사각형 30"/>
          <p:cNvSpPr/>
          <p:nvPr/>
        </p:nvSpPr>
        <p:spPr>
          <a:xfrm>
            <a:off x="8165592" y="286207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30" name="직사각형 31"/>
          <p:cNvSpPr/>
          <p:nvPr/>
        </p:nvSpPr>
        <p:spPr>
          <a:xfrm>
            <a:off x="7863840" y="339242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dist 2</a:t>
            </a:r>
          </a:p>
        </p:txBody>
      </p:sp>
      <p:sp>
        <p:nvSpPr>
          <p:cNvPr id="31" name="직사각형 32"/>
          <p:cNvSpPr/>
          <p:nvPr/>
        </p:nvSpPr>
        <p:spPr>
          <a:xfrm>
            <a:off x="9811512" y="478231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C</a:t>
            </a:r>
          </a:p>
        </p:txBody>
      </p:sp>
      <p:sp>
        <p:nvSpPr>
          <p:cNvPr id="32" name="직사각형 33"/>
          <p:cNvSpPr/>
          <p:nvPr/>
        </p:nvSpPr>
        <p:spPr>
          <a:xfrm>
            <a:off x="9509760" y="531266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dist 3</a:t>
            </a:r>
          </a:p>
        </p:txBody>
      </p:sp>
      <p:sp>
        <p:nvSpPr>
          <p:cNvPr id="33" name="직사각형 34"/>
          <p:cNvSpPr/>
          <p:nvPr/>
        </p:nvSpPr>
        <p:spPr>
          <a:xfrm>
            <a:off x="914400" y="5650992"/>
            <a:ext cx="4389120" cy="402336"/>
          </a:xfrm>
          <a:prstGeom prst="rect">
            <a:avLst/>
          </a:prstGeom>
          <a:solidFill>
            <a:srgbClr val="DDF1E4"/>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간선 합 2 + 2 = 4 (최소)  ·  A → C 거리 4</a:t>
            </a:r>
          </a:p>
        </p:txBody>
      </p:sp>
      <p:sp>
        <p:nvSpPr>
          <p:cNvPr id="34" name="직사각형 35"/>
          <p:cNvSpPr/>
          <p:nvPr/>
        </p:nvSpPr>
        <p:spPr>
          <a:xfrm>
            <a:off x="6400800" y="5650992"/>
            <a:ext cx="4389120" cy="402336"/>
          </a:xfrm>
          <a:prstGeom prst="rect">
            <a:avLst/>
          </a:prstGeom>
          <a:solidFill>
            <a:srgbClr val="DCECFB"/>
          </a:solidFill>
          <a:ln w="0">
            <a:noFill/>
          </a:ln>
        </p:spPr>
        <p:txBody>
          <a:bodyPr wrap="square" lIns="0" tIns="0" rIns="0" bIns="0" anchor="ctr">
            <a:noAutofit/>
          </a:bodyPr>
          <a:lstStyle/>
          <a:p>
            <a:pPr algn="ctr" eaLnBrk="0" latinLnBrk="0">
              <a:lnSpc>
                <a:spcPct val="100000"/>
              </a:lnSpc>
              <a:buNone/>
            </a:pPr>
            <a:r>
              <a:rPr lang="ko-KR" altLang="en-US" sz="1500" b="1" dirty="0">
                <a:solidFill>
                  <a:srgbClr val="151515"/>
                </a:solidFill>
                <a:latin typeface="Malgun Gothic"/>
                <a:ea typeface="Malgun Gothic"/>
                <a:cs typeface="Malgun Gothic"/>
              </a:rPr>
              <a:t>간선 합 2 + 3 = 5  ·  A → C 거리 3 (최단)</a:t>
            </a:r>
          </a:p>
        </p:txBody>
      </p:sp>
      <p:sp>
        <p:nvSpPr>
          <p:cNvPr id="35" name="직사각형 36"/>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청록: 트리 간선    연회색: 트리에 없는 간선    방향 없는 간선은 양방향 간선 2개로 보고 다익스트라를 돌립니다</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5.8  다익스트라 알고리즘</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a:solidFill>
                  <a:srgbClr val="171717"/>
                </a:solidFill>
                <a:latin typeface="Malgun Gothic"/>
                <a:ea typeface="Malgun Gothic"/>
                <a:cs typeface="Malgun Gothic"/>
              </a:rPr>
              <a:t>음수 간선 반례</a:t>
            </a:r>
            <a:r>
              <a:rPr lang="en-US" altLang="ko-KR" sz="3000" b="1">
                <a:solidFill>
                  <a:srgbClr val="171717"/>
                </a:solidFill>
                <a:latin typeface="Malgun Gothic"/>
                <a:ea typeface="Malgun Gothic"/>
                <a:cs typeface="Malgun Gothic"/>
              </a:rPr>
              <a:t>: </a:t>
            </a:r>
            <a:r>
              <a:rPr lang="ko-KR" altLang="en-US" sz="3000" b="1">
                <a:solidFill>
                  <a:srgbClr val="171717"/>
                </a:solidFill>
                <a:latin typeface="Malgun Gothic"/>
                <a:ea typeface="Malgun Gothic"/>
                <a:cs typeface="Malgun Gothic"/>
              </a:rPr>
              <a:t>실제 최단 </a:t>
            </a:r>
            <a:r>
              <a:rPr lang="en-US" altLang="ko-KR" sz="3000" b="1">
                <a:solidFill>
                  <a:srgbClr val="171717"/>
                </a:solidFill>
                <a:latin typeface="Malgun Gothic"/>
                <a:ea typeface="Malgun Gothic"/>
                <a:cs typeface="Malgun Gothic"/>
              </a:rPr>
              <a:t>1</a:t>
            </a:r>
            <a:r>
              <a:rPr lang="ko-KR" altLang="en-US" sz="3000" b="1">
                <a:solidFill>
                  <a:srgbClr val="171717"/>
                </a:solidFill>
                <a:latin typeface="Malgun Gothic"/>
                <a:ea typeface="Malgun Gothic"/>
                <a:cs typeface="Malgun Gothic"/>
              </a:rPr>
              <a:t>을 놓친다</a:t>
            </a:r>
            <a:endParaRPr lang="ko-KR" altLang="en-US" sz="3000" b="1" dirty="0">
              <a:solidFill>
                <a:srgbClr val="171717"/>
              </a:solidFill>
              <a:latin typeface="Malgun Gothic"/>
              <a:ea typeface="Malgun Gothic"/>
              <a:cs typeface="Malgun Gothic"/>
            </a:endParaRP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67</a:t>
            </a:r>
            <a:endParaRPr lang="ko-KR" altLang="en-US" sz="1050" b="0" dirty="0">
              <a:solidFill>
                <a:srgbClr val="606060"/>
              </a:solidFill>
              <a:latin typeface="Malgun Gothic"/>
              <a:ea typeface="Malgun Gothic"/>
              <a:cs typeface="Malgun Gothic"/>
            </a:endParaRPr>
          </a:p>
        </p:txBody>
      </p:sp>
      <p:sp>
        <p:nvSpPr>
          <p:cNvPr id="9" name="fit:5af7b4646c1a3a51 10"/>
          <p:cNvSpPr/>
          <p:nvPr/>
        </p:nvSpPr>
        <p:spPr>
          <a:xfrm>
            <a:off x="612648" y="1636776"/>
            <a:ext cx="6766560" cy="658368"/>
          </a:xfrm>
          <a:prstGeom prst="rect">
            <a:avLst/>
          </a:prstGeom>
          <a:noFill/>
          <a:ln w="0">
            <a:noFill/>
          </a:ln>
        </p:spPr>
        <p:txBody>
          <a:bodyPr wrap="square" lIns="0" tIns="0" rIns="0" bIns="0" anchor="t">
            <a:noAutofit/>
          </a:bodyPr>
          <a:lstStyle/>
          <a:p>
            <a:pPr algn="l" eaLnBrk="0" latinLnBrk="0">
              <a:lnSpc>
                <a:spcPct val="100000"/>
              </a:lnSpc>
              <a:buNone/>
            </a:pPr>
            <a:r>
              <a:rPr lang="ko-KR" altLang="en-US" sz="2025" b="0" dirty="0">
                <a:solidFill>
                  <a:srgbClr val="171717"/>
                </a:solidFill>
                <a:latin typeface="Malgun Gothic"/>
                <a:ea typeface="Malgun Gothic"/>
                <a:cs typeface="Malgun Gothic"/>
              </a:rPr>
              <a:t>B(5)를 확정하고 B → A를 보면 5 + (−4) = 1 &lt; 2입니다. 하지만 A는 이미 확정되어 고치지 않습니다.</a:t>
            </a:r>
          </a:p>
        </p:txBody>
      </p:sp>
      <p:sp>
        <p:nvSpPr>
          <p:cNvPr id="10" name="직사각형 11"/>
          <p:cNvSpPr/>
          <p:nvPr/>
        </p:nvSpPr>
        <p:spPr>
          <a:xfrm>
            <a:off x="7525512" y="2880360"/>
            <a:ext cx="9144" cy="2935224"/>
          </a:xfrm>
          <a:prstGeom prst="rect">
            <a:avLst/>
          </a:prstGeom>
          <a:solidFill>
            <a:srgbClr val="CCCCCC"/>
          </a:solidFill>
          <a:ln w="0">
            <a:noFill/>
          </a:ln>
        </p:spPr>
        <p:txBody>
          <a:bodyPr wrap="square" lIns="0" tIns="0" rIns="0" bIns="0" anchor="t">
            <a:noAutofit/>
          </a:bodyPr>
          <a:lstStyle/>
          <a:p>
            <a:pPr algn="l" eaLnBrk="0" latinLnBrk="0">
              <a:lnSpc>
                <a:spcPct val="100000"/>
              </a:lnSpc>
              <a:buNone/>
            </a:pPr>
            <a:endParaRPr lang="ko-KR" sz="1800"/>
          </a:p>
        </p:txBody>
      </p:sp>
      <p:graphicFrame>
        <p:nvGraphicFramePr>
          <p:cNvPr id="11" name="표 12"/>
          <p:cNvGraphicFramePr>
            <a:graphicFrameLocks noGrp="1"/>
          </p:cNvGraphicFramePr>
          <p:nvPr>
            <p:extLst>
              <p:ext uri="{D42A27DB-BD31-4B8C-83A1-F6EECF244321}">
                <p14:modId xmlns:p14="http://schemas.microsoft.com/office/powerpoint/2010/main" val="1286642105"/>
              </p:ext>
            </p:extLst>
          </p:nvPr>
        </p:nvGraphicFramePr>
        <p:xfrm>
          <a:off x="7909560" y="2935224"/>
          <a:ext cx="3666744" cy="1243584"/>
        </p:xfrm>
        <a:graphic>
          <a:graphicData uri="http://schemas.openxmlformats.org/drawingml/2006/table">
            <a:tbl>
              <a:tblPr/>
              <a:tblGrid>
                <a:gridCol w="894328">
                  <a:extLst>
                    <a:ext uri="{9D8B030D-6E8A-4147-A177-3AD203B41FA5}">
                      <a16:colId xmlns:a16="http://schemas.microsoft.com/office/drawing/2014/main" val="20000"/>
                    </a:ext>
                  </a:extLst>
                </a:gridCol>
                <a:gridCol w="1341492">
                  <a:extLst>
                    <a:ext uri="{9D8B030D-6E8A-4147-A177-3AD203B41FA5}">
                      <a16:colId xmlns:a16="http://schemas.microsoft.com/office/drawing/2014/main" val="20001"/>
                    </a:ext>
                  </a:extLst>
                </a:gridCol>
                <a:gridCol w="1430924">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정점</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dist</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상태</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S</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0</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A</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2</a:t>
                      </a:r>
                    </a:p>
                  </a:txBody>
                  <a:tcPr marL="54864" marR="54864" marT="18288" marB="18288" anchor="ctr">
                    <a:solidFill>
                      <a:srgbClr val="DCECFB"/>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확정</a:t>
                      </a:r>
                    </a:p>
                  </a:txBody>
                  <a:tcPr marL="54864" marR="54864" marT="18288" marB="18288" anchor="ctr">
                    <a:solidFill>
                      <a:srgbClr val="DCECFB"/>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B</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5</a:t>
                      </a:r>
                    </a:p>
                  </a:txBody>
                  <a:tcPr marL="54864" marR="54864" marT="18288" marB="18288" anchor="ctr">
                    <a:solidFill>
                      <a:srgbClr val="FFF1C2"/>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이번 확정</a:t>
                      </a:r>
                    </a:p>
                  </a:txBody>
                  <a:tcPr marL="54864" marR="54864" marT="18288" marB="18288" anchor="ctr">
                    <a:solidFill>
                      <a:srgbClr val="FFF1C2"/>
                    </a:solidFill>
                  </a:tcPr>
                </a:tc>
                <a:extLst>
                  <a:ext uri="{0D108BD9-81ED-4DB2-BD59-A6C34878D82A}">
                    <a16:rowId xmlns:a16="http://schemas.microsoft.com/office/drawing/2014/main" val="10003"/>
                  </a:ext>
                </a:extLst>
              </a:tr>
            </a:tbl>
          </a:graphicData>
        </a:graphic>
      </p:graphicFrame>
      <p:sp>
        <p:nvSpPr>
          <p:cNvPr id="12" name="fit:5bb729034eaa00dd 13"/>
          <p:cNvSpPr/>
          <p:nvPr/>
        </p:nvSpPr>
        <p:spPr>
          <a:xfrm>
            <a:off x="7909560" y="4325112"/>
            <a:ext cx="3666744" cy="283464"/>
          </a:xfrm>
          <a:prstGeom prst="rect">
            <a:avLst/>
          </a:prstGeom>
          <a:noFill/>
          <a:ln w="0">
            <a:noFill/>
          </a:ln>
        </p:spPr>
        <p:txBody>
          <a:bodyPr wrap="square" lIns="0" tIns="0" rIns="0" bIns="0" anchor="t">
            <a:noAutofit/>
          </a:bodyPr>
          <a:lstStyle/>
          <a:p>
            <a:pPr algn="l" eaLnBrk="0" latinLnBrk="0">
              <a:lnSpc>
                <a:spcPct val="100000"/>
              </a:lnSpc>
              <a:buNone/>
            </a:pPr>
            <a:r>
              <a:rPr lang="ko-KR" altLang="en-US" sz="1600" b="1">
                <a:solidFill>
                  <a:srgbClr val="0E8A7D"/>
                </a:solidFill>
                <a:latin typeface="Malgun Gothic"/>
                <a:ea typeface="Malgun Gothic"/>
                <a:cs typeface="Malgun Gothic"/>
              </a:rPr>
              <a:t>확정 방식의 답</a:t>
            </a:r>
            <a:r>
              <a:rPr lang="en-US" altLang="ko-KR" sz="1600" b="1">
                <a:solidFill>
                  <a:srgbClr val="0E8A7D"/>
                </a:solidFill>
                <a:latin typeface="Malgun Gothic"/>
                <a:ea typeface="Malgun Gothic"/>
                <a:cs typeface="Malgun Gothic"/>
              </a:rPr>
              <a:t>: A = 2</a:t>
            </a:r>
            <a:endParaRPr lang="ko-KR" altLang="en-US" sz="1600" b="1" dirty="0">
              <a:solidFill>
                <a:srgbClr val="0E8A7D"/>
              </a:solidFill>
              <a:latin typeface="Malgun Gothic"/>
              <a:ea typeface="Malgun Gothic"/>
              <a:cs typeface="Malgun Gothic"/>
            </a:endParaRPr>
          </a:p>
        </p:txBody>
      </p:sp>
      <p:sp>
        <p:nvSpPr>
          <p:cNvPr id="13" name="fit:4f08d272a8763aea 14"/>
          <p:cNvSpPr/>
          <p:nvPr/>
        </p:nvSpPr>
        <p:spPr>
          <a:xfrm>
            <a:off x="7909560" y="4718304"/>
            <a:ext cx="3666744" cy="29260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1" dirty="0">
                <a:solidFill>
                  <a:srgbClr val="B23B3B"/>
                </a:solidFill>
                <a:latin typeface="Malgun Gothic"/>
                <a:ea typeface="Malgun Gothic"/>
                <a:cs typeface="Malgun Gothic"/>
              </a:rPr>
              <a:t>실제 최단은 S → B → A = 1</a:t>
            </a:r>
          </a:p>
        </p:txBody>
      </p:sp>
      <p:sp>
        <p:nvSpPr>
          <p:cNvPr id="14" name="fit:b715656539a81d42 15"/>
          <p:cNvSpPr/>
          <p:nvPr/>
        </p:nvSpPr>
        <p:spPr>
          <a:xfrm>
            <a:off x="7909560" y="5120640"/>
            <a:ext cx="3666744" cy="795528"/>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A를 2로 확정한 뒤 다시 처리하지 않으므로, A에서 나가는 간선이 있었다면 그 뒤 정점도 틀립니다.</a:t>
            </a:r>
          </a:p>
        </p:txBody>
      </p:sp>
      <p:cxnSp>
        <p:nvCxnSpPr>
          <p:cNvPr id="15" name="연결선 16"/>
          <p:cNvCxnSpPr/>
          <p:nvPr/>
        </p:nvCxnSpPr>
        <p:spPr>
          <a:xfrm flipV="1">
            <a:off x="1699810" y="3092657"/>
            <a:ext cx="3532282" cy="1043629"/>
          </a:xfrm>
          <a:prstGeom prst="line">
            <a:avLst/>
          </a:prstGeom>
          <a:ln w="44450">
            <a:solidFill>
              <a:srgbClr val="0E8A7D"/>
            </a:solidFill>
            <a:tailEnd type="triangle" w="med" len="med"/>
          </a:ln>
        </p:spPr>
      </p:cxnSp>
      <p:sp>
        <p:nvSpPr>
          <p:cNvPr id="16" name="직사각형 17"/>
          <p:cNvSpPr/>
          <p:nvPr/>
        </p:nvSpPr>
        <p:spPr>
          <a:xfrm>
            <a:off x="3195521" y="3334412"/>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2</a:t>
            </a:r>
          </a:p>
        </p:txBody>
      </p:sp>
      <p:cxnSp>
        <p:nvCxnSpPr>
          <p:cNvPr id="17" name="연결선 18"/>
          <p:cNvCxnSpPr/>
          <p:nvPr/>
        </p:nvCxnSpPr>
        <p:spPr>
          <a:xfrm>
            <a:off x="1699810" y="4276195"/>
            <a:ext cx="3532282" cy="1043629"/>
          </a:xfrm>
          <a:prstGeom prst="line">
            <a:avLst/>
          </a:prstGeom>
          <a:ln w="44450">
            <a:solidFill>
              <a:srgbClr val="0E8A7D"/>
            </a:solidFill>
            <a:tailEnd type="triangle" w="med" len="med"/>
          </a:ln>
        </p:spPr>
      </p:cxnSp>
      <p:sp>
        <p:nvSpPr>
          <p:cNvPr id="18" name="직사각형 19"/>
          <p:cNvSpPr/>
          <p:nvPr/>
        </p:nvSpPr>
        <p:spPr>
          <a:xfrm>
            <a:off x="3195521" y="4803748"/>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0E8A7D"/>
                </a:solidFill>
                <a:latin typeface="Malgun Gothic"/>
                <a:ea typeface="Malgun Gothic"/>
                <a:cs typeface="Malgun Gothic"/>
              </a:rPr>
              <a:t>5</a:t>
            </a:r>
          </a:p>
        </p:txBody>
      </p:sp>
      <p:cxnSp>
        <p:nvCxnSpPr>
          <p:cNvPr id="19" name="연결선 20"/>
          <p:cNvCxnSpPr/>
          <p:nvPr/>
        </p:nvCxnSpPr>
        <p:spPr>
          <a:xfrm flipV="1">
            <a:off x="5486400" y="3282696"/>
            <a:ext cx="0" cy="1865376"/>
          </a:xfrm>
          <a:prstGeom prst="line">
            <a:avLst/>
          </a:prstGeom>
          <a:ln w="44450">
            <a:solidFill>
              <a:srgbClr val="B8651B"/>
            </a:solidFill>
            <a:tailEnd type="triangle" w="med" len="med"/>
          </a:ln>
        </p:spPr>
      </p:cxnSp>
      <p:sp>
        <p:nvSpPr>
          <p:cNvPr id="20" name="직사각형 21"/>
          <p:cNvSpPr/>
          <p:nvPr/>
        </p:nvSpPr>
        <p:spPr>
          <a:xfrm>
            <a:off x="5394960" y="4069080"/>
            <a:ext cx="475488" cy="274320"/>
          </a:xfrm>
          <a:prstGeom prst="rect">
            <a:avLst/>
          </a:prstGeom>
          <a:solidFill>
            <a:srgbClr val="FFFFFF"/>
          </a:solidFill>
          <a:ln w="0">
            <a:noFill/>
          </a:ln>
        </p:spPr>
        <p:txBody>
          <a:bodyPr wrap="square" lIns="0" tIns="0" rIns="0" bIns="0" anchor="ctr">
            <a:noAutofit/>
          </a:bodyPr>
          <a:lstStyle/>
          <a:p>
            <a:pPr algn="ctr" eaLnBrk="0" latinLnBrk="0">
              <a:lnSpc>
                <a:spcPct val="100000"/>
              </a:lnSpc>
              <a:buNone/>
            </a:pPr>
            <a:r>
              <a:rPr lang="ko-KR" altLang="en-US" sz="1500" b="1" dirty="0">
                <a:solidFill>
                  <a:srgbClr val="B8651B"/>
                </a:solidFill>
                <a:latin typeface="Malgun Gothic"/>
                <a:ea typeface="Malgun Gothic"/>
                <a:cs typeface="Malgun Gothic"/>
              </a:rPr>
              <a:t>−4</a:t>
            </a:r>
          </a:p>
        </p:txBody>
      </p:sp>
      <p:sp>
        <p:nvSpPr>
          <p:cNvPr id="21" name="직사각형 22"/>
          <p:cNvSpPr/>
          <p:nvPr/>
        </p:nvSpPr>
        <p:spPr>
          <a:xfrm>
            <a:off x="1216152" y="395935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S</a:t>
            </a:r>
          </a:p>
        </p:txBody>
      </p:sp>
      <p:sp>
        <p:nvSpPr>
          <p:cNvPr id="22" name="직사각형 23"/>
          <p:cNvSpPr/>
          <p:nvPr/>
        </p:nvSpPr>
        <p:spPr>
          <a:xfrm>
            <a:off x="914400" y="448970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0</a:t>
            </a:r>
          </a:p>
        </p:txBody>
      </p:sp>
      <p:sp>
        <p:nvSpPr>
          <p:cNvPr id="23" name="직사각형 24"/>
          <p:cNvSpPr/>
          <p:nvPr/>
        </p:nvSpPr>
        <p:spPr>
          <a:xfrm>
            <a:off x="5239512" y="2770632"/>
            <a:ext cx="493776" cy="493776"/>
          </a:xfrm>
          <a:prstGeom prst="ellipse">
            <a:avLst/>
          </a:prstGeom>
          <a:solidFill>
            <a:srgbClr val="DCECFB"/>
          </a:solidFill>
          <a:ln w="22225">
            <a:solidFill>
              <a:srgbClr val="1D5A8A"/>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A</a:t>
            </a:r>
          </a:p>
        </p:txBody>
      </p:sp>
      <p:sp>
        <p:nvSpPr>
          <p:cNvPr id="24" name="직사각형 25"/>
          <p:cNvSpPr/>
          <p:nvPr/>
        </p:nvSpPr>
        <p:spPr>
          <a:xfrm>
            <a:off x="4937760" y="2459736"/>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B23B3B"/>
                </a:solidFill>
                <a:latin typeface="Malgun Gothic"/>
                <a:ea typeface="Malgun Gothic"/>
                <a:cs typeface="Malgun Gothic"/>
              </a:rPr>
              <a:t>2 (실제 1)</a:t>
            </a:r>
          </a:p>
        </p:txBody>
      </p:sp>
      <p:sp>
        <p:nvSpPr>
          <p:cNvPr id="25" name="직사각형 26"/>
          <p:cNvSpPr/>
          <p:nvPr/>
        </p:nvSpPr>
        <p:spPr>
          <a:xfrm>
            <a:off x="5239512" y="5148072"/>
            <a:ext cx="493776" cy="493776"/>
          </a:xfrm>
          <a:prstGeom prst="ellipse">
            <a:avLst/>
          </a:prstGeom>
          <a:solidFill>
            <a:srgbClr val="FFF1C2"/>
          </a:solidFill>
          <a:ln w="22225">
            <a:solidFill>
              <a:srgbClr val="B8651B"/>
            </a:solidFill>
          </a:ln>
        </p:spPr>
        <p:txBody>
          <a:bodyPr wrap="none" lIns="0" tIns="0" rIns="0" bIns="0" anchor="ctr">
            <a:noAutofit/>
          </a:bodyPr>
          <a:lstStyle/>
          <a:p>
            <a:pPr algn="ctr" eaLnBrk="0" latinLnBrk="0">
              <a:lnSpc>
                <a:spcPct val="100000"/>
              </a:lnSpc>
              <a:buNone/>
            </a:pPr>
            <a:r>
              <a:rPr lang="ko-KR" altLang="en-US" sz="1650" b="1" dirty="0">
                <a:solidFill>
                  <a:srgbClr val="151515"/>
                </a:solidFill>
                <a:latin typeface="Malgun Gothic"/>
                <a:ea typeface="Malgun Gothic"/>
                <a:cs typeface="Malgun Gothic"/>
              </a:rPr>
              <a:t>B</a:t>
            </a:r>
          </a:p>
        </p:txBody>
      </p:sp>
      <p:sp>
        <p:nvSpPr>
          <p:cNvPr id="26" name="직사각형 27"/>
          <p:cNvSpPr/>
          <p:nvPr/>
        </p:nvSpPr>
        <p:spPr>
          <a:xfrm>
            <a:off x="4937760" y="5678424"/>
            <a:ext cx="1097280" cy="256032"/>
          </a:xfrm>
          <a:prstGeom prst="rect">
            <a:avLst/>
          </a:prstGeom>
          <a:noFill/>
          <a:ln w="0">
            <a:noFill/>
          </a:ln>
        </p:spPr>
        <p:txBody>
          <a:bodyPr wrap="square" lIns="0" tIns="0" rIns="0" bIns="0" anchor="t">
            <a:noAutofit/>
          </a:bodyPr>
          <a:lstStyle/>
          <a:p>
            <a:pPr algn="ctr" eaLnBrk="0" latinLnBrk="0">
              <a:lnSpc>
                <a:spcPct val="100000"/>
              </a:lnSpc>
              <a:buNone/>
            </a:pPr>
            <a:r>
              <a:rPr lang="ko-KR" altLang="en-US" sz="1350" b="1" dirty="0">
                <a:solidFill>
                  <a:srgbClr val="1D5A8A"/>
                </a:solidFill>
                <a:latin typeface="Malgun Gothic"/>
                <a:ea typeface="Malgun Gothic"/>
                <a:cs typeface="Malgun Gothic"/>
              </a:rPr>
              <a:t>5</a:t>
            </a:r>
          </a:p>
        </p:txBody>
      </p:sp>
      <p:sp>
        <p:nvSpPr>
          <p:cNvPr id="27" name="직사각형 28"/>
          <p:cNvSpPr/>
          <p:nvPr/>
        </p:nvSpPr>
        <p:spPr>
          <a:xfrm>
            <a:off x="612648" y="6144768"/>
            <a:ext cx="109728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425" b="0" dirty="0">
                <a:solidFill>
                  <a:srgbClr val="171717"/>
                </a:solidFill>
                <a:latin typeface="Malgun Gothic"/>
                <a:ea typeface="Malgun Gothic"/>
                <a:cs typeface="Malgun Gothic"/>
              </a:rPr>
              <a:t>주황: 1을 만드는 간선 B → A    음수 간선이 있으면 벨만-포드 같은 다른 알고리즘을 씁니다</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7616952"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CHAPTER 05</a:t>
            </a:r>
          </a:p>
        </p:txBody>
      </p:sp>
      <p:sp>
        <p:nvSpPr>
          <p:cNvPr id="3" name="직사각형 4"/>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5장 정리</a:t>
            </a:r>
          </a:p>
        </p:txBody>
      </p:sp>
      <p:sp>
        <p:nvSpPr>
          <p:cNvPr id="4" name="직사각형 5"/>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5" name="직사각형 6"/>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7" name="직사각형 8"/>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68</a:t>
            </a:r>
            <a:endParaRPr lang="ko-KR" altLang="en-US" sz="1050" b="0" dirty="0">
              <a:solidFill>
                <a:srgbClr val="606060"/>
              </a:solidFill>
              <a:latin typeface="Malgun Gothic"/>
              <a:ea typeface="Malgun Gothic"/>
              <a:cs typeface="Malgun Gothic"/>
            </a:endParaRPr>
          </a:p>
        </p:txBody>
      </p:sp>
      <p:sp>
        <p:nvSpPr>
          <p:cNvPr id="8" name="직사각형 9"/>
          <p:cNvSpPr/>
          <p:nvPr/>
        </p:nvSpPr>
        <p:spPr>
          <a:xfrm>
            <a:off x="658368" y="1645920"/>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9" name="직사각형 10"/>
          <p:cNvSpPr/>
          <p:nvPr/>
        </p:nvSpPr>
        <p:spPr>
          <a:xfrm>
            <a:off x="1517904" y="1828800"/>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그리디는 되돌아보지 않는다</a:t>
            </a:r>
          </a:p>
        </p:txBody>
      </p:sp>
      <p:sp>
        <p:nvSpPr>
          <p:cNvPr id="10" name="직사각형 11"/>
          <p:cNvSpPr/>
          <p:nvPr/>
        </p:nvSpPr>
        <p:spPr>
          <a:xfrm>
            <a:off x="1517904" y="2194560"/>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매 단계 지금 기준의 최선을 확정하고 번복하지 않습니다. 선택 → 적정성 검사 → 해답 검사를 해답이 될 때까지 반복합니다.</a:t>
            </a:r>
          </a:p>
        </p:txBody>
      </p:sp>
      <p:sp>
        <p:nvSpPr>
          <p:cNvPr id="11" name="직사각형 12"/>
          <p:cNvSpPr/>
          <p:nvPr/>
        </p:nvSpPr>
        <p:spPr>
          <a:xfrm>
            <a:off x="658368" y="1810512"/>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01</a:t>
            </a:r>
          </a:p>
        </p:txBody>
      </p:sp>
      <p:sp>
        <p:nvSpPr>
          <p:cNvPr id="12" name="직사각형 13"/>
          <p:cNvSpPr/>
          <p:nvPr/>
        </p:nvSpPr>
        <p:spPr>
          <a:xfrm>
            <a:off x="6300216" y="1645920"/>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3" name="직사각형 14"/>
          <p:cNvSpPr/>
          <p:nvPr/>
        </p:nvSpPr>
        <p:spPr>
          <a:xfrm>
            <a:off x="7159752" y="1828800"/>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최적을 보장하는 두 조건</a:t>
            </a:r>
          </a:p>
        </p:txBody>
      </p:sp>
      <p:sp>
        <p:nvSpPr>
          <p:cNvPr id="14" name="직사각형 15"/>
          <p:cNvSpPr/>
          <p:nvPr/>
        </p:nvSpPr>
        <p:spPr>
          <a:xfrm>
            <a:off x="7159752" y="2194560"/>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탐욕적 선택 속성(이 선택을 포함하는 최적해가 있다)과 최적 부분 구조. "항상 최적"은 반례 하나로 반박합니다.</a:t>
            </a:r>
          </a:p>
        </p:txBody>
      </p:sp>
      <p:sp>
        <p:nvSpPr>
          <p:cNvPr id="15" name="직사각형 16"/>
          <p:cNvSpPr/>
          <p:nvPr/>
        </p:nvSpPr>
        <p:spPr>
          <a:xfrm>
            <a:off x="6300216" y="1810512"/>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02</a:t>
            </a:r>
          </a:p>
        </p:txBody>
      </p:sp>
      <p:sp>
        <p:nvSpPr>
          <p:cNvPr id="16" name="직사각형 17"/>
          <p:cNvSpPr/>
          <p:nvPr/>
        </p:nvSpPr>
        <p:spPr>
          <a:xfrm>
            <a:off x="658368" y="3145536"/>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17" name="직사각형 18"/>
          <p:cNvSpPr/>
          <p:nvPr/>
        </p:nvSpPr>
        <p:spPr>
          <a:xfrm>
            <a:off x="1517904" y="3328416"/>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정렬 기준이 곧 전략</a:t>
            </a:r>
          </a:p>
        </p:txBody>
      </p:sp>
      <p:sp>
        <p:nvSpPr>
          <p:cNvPr id="18" name="직사각형 19"/>
          <p:cNvSpPr/>
          <p:nvPr/>
        </p:nvSpPr>
        <p:spPr>
          <a:xfrm>
            <a:off x="1517904" y="3694176"/>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a:solidFill>
                  <a:srgbClr val="606060"/>
                </a:solidFill>
                <a:latin typeface="Malgun Gothic"/>
                <a:ea typeface="Malgun Gothic"/>
                <a:cs typeface="Malgun Gothic"/>
              </a:rPr>
              <a:t>활동 선택은 종료가 빠른 순</a:t>
            </a:r>
            <a:r>
              <a:rPr lang="en-US" altLang="ko-KR" sz="1250" b="0">
                <a:solidFill>
                  <a:srgbClr val="606060"/>
                </a:solidFill>
                <a:latin typeface="Malgun Gothic"/>
                <a:ea typeface="Malgun Gothic"/>
                <a:cs typeface="Malgun Gothic"/>
              </a:rPr>
              <a:t>, </a:t>
            </a:r>
            <a:r>
              <a:rPr lang="ko-KR" altLang="en-US" sz="1250" b="0">
                <a:solidFill>
                  <a:srgbClr val="606060"/>
                </a:solidFill>
                <a:latin typeface="Malgun Gothic"/>
                <a:ea typeface="Malgun Gothic"/>
                <a:cs typeface="Malgun Gothic"/>
              </a:rPr>
              <a:t>쪼갤 수 있는 배낭은 가성비가 큰 순</a:t>
            </a:r>
            <a:r>
              <a:rPr lang="en-US" altLang="ko-KR" sz="1250" b="0">
                <a:solidFill>
                  <a:srgbClr val="606060"/>
                </a:solidFill>
                <a:latin typeface="Malgun Gothic"/>
                <a:ea typeface="Malgun Gothic"/>
                <a:cs typeface="Malgun Gothic"/>
              </a:rPr>
              <a:t>, </a:t>
            </a:r>
            <a:r>
              <a:rPr lang="ko-KR" altLang="en-US" sz="1250" b="0">
                <a:solidFill>
                  <a:srgbClr val="606060"/>
                </a:solidFill>
                <a:latin typeface="Malgun Gothic"/>
                <a:ea typeface="Malgun Gothic"/>
                <a:cs typeface="Malgun Gothic"/>
              </a:rPr>
              <a:t>크루스칼은 가중치가 작은 순</a:t>
            </a:r>
            <a:r>
              <a:rPr lang="en-US" altLang="ko-KR" sz="1250" b="0">
                <a:solidFill>
                  <a:srgbClr val="606060"/>
                </a:solidFill>
                <a:latin typeface="Malgun Gothic"/>
                <a:ea typeface="Malgun Gothic"/>
                <a:cs typeface="Malgun Gothic"/>
              </a:rPr>
              <a:t>.</a:t>
            </a:r>
            <a:endParaRPr lang="ko-KR" altLang="en-US" sz="1250" b="0" dirty="0">
              <a:solidFill>
                <a:srgbClr val="606060"/>
              </a:solidFill>
              <a:latin typeface="Malgun Gothic"/>
              <a:ea typeface="Malgun Gothic"/>
              <a:cs typeface="Malgun Gothic"/>
            </a:endParaRPr>
          </a:p>
        </p:txBody>
      </p:sp>
      <p:sp>
        <p:nvSpPr>
          <p:cNvPr id="19" name="직사각형 20"/>
          <p:cNvSpPr/>
          <p:nvPr/>
        </p:nvSpPr>
        <p:spPr>
          <a:xfrm>
            <a:off x="658368" y="3310128"/>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03</a:t>
            </a:r>
          </a:p>
        </p:txBody>
      </p:sp>
      <p:sp>
        <p:nvSpPr>
          <p:cNvPr id="20" name="직사각형 21"/>
          <p:cNvSpPr/>
          <p:nvPr/>
        </p:nvSpPr>
        <p:spPr>
          <a:xfrm>
            <a:off x="6300216" y="3145536"/>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21" name="직사각형 22"/>
          <p:cNvSpPr/>
          <p:nvPr/>
        </p:nvSpPr>
        <p:spPr>
          <a:xfrm>
            <a:off x="7159752" y="3328416"/>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최적을 보장하는 경우</a:t>
            </a:r>
          </a:p>
        </p:txBody>
      </p:sp>
      <p:sp>
        <p:nvSpPr>
          <p:cNvPr id="22" name="직사각형 23"/>
          <p:cNvSpPr/>
          <p:nvPr/>
        </p:nvSpPr>
        <p:spPr>
          <a:xfrm>
            <a:off x="7159752" y="3694176"/>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ko-KR" altLang="en-US" sz="1250" b="0" dirty="0">
                <a:solidFill>
                  <a:srgbClr val="606060"/>
                </a:solidFill>
                <a:latin typeface="Malgun Gothic"/>
                <a:ea typeface="Malgun Gothic"/>
                <a:cs typeface="Malgun Gothic"/>
              </a:rPr>
              <a:t>배수 조건의 거스름돈, 활동 선택, 쪼갤 수 있는 배낭(가성비 순), 크루스칼 MST, 다익스트라(간선 비용이 모두 0 이상일 때).</a:t>
            </a:r>
          </a:p>
        </p:txBody>
      </p:sp>
      <p:sp>
        <p:nvSpPr>
          <p:cNvPr id="23" name="직사각형 24"/>
          <p:cNvSpPr/>
          <p:nvPr/>
        </p:nvSpPr>
        <p:spPr>
          <a:xfrm>
            <a:off x="6300216" y="3310128"/>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04</a:t>
            </a:r>
          </a:p>
        </p:txBody>
      </p:sp>
      <p:sp>
        <p:nvSpPr>
          <p:cNvPr id="24" name="직사각형 25"/>
          <p:cNvSpPr/>
          <p:nvPr/>
        </p:nvSpPr>
        <p:spPr>
          <a:xfrm>
            <a:off x="658368" y="4645152"/>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25" name="직사각형 26"/>
          <p:cNvSpPr/>
          <p:nvPr/>
        </p:nvSpPr>
        <p:spPr>
          <a:xfrm>
            <a:off x="1517904" y="4828032"/>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보장하지 못하는 경우</a:t>
            </a:r>
          </a:p>
        </p:txBody>
      </p:sp>
      <p:sp>
        <p:nvSpPr>
          <p:cNvPr id="26" name="직사각형 27"/>
          <p:cNvSpPr/>
          <p:nvPr/>
        </p:nvSpPr>
        <p:spPr>
          <a:xfrm>
            <a:off x="1517904" y="5193792"/>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en-US" altLang="ko-KR" sz="1250" b="0">
                <a:solidFill>
                  <a:srgbClr val="606060"/>
                </a:solidFill>
                <a:latin typeface="Malgun Gothic"/>
                <a:ea typeface="Malgun Gothic"/>
                <a:cs typeface="Malgun Gothic"/>
              </a:rPr>
              <a:t>{1, 3, 4} </a:t>
            </a:r>
            <a:r>
              <a:rPr lang="ko-KR" altLang="en-US" sz="1250" b="0">
                <a:solidFill>
                  <a:srgbClr val="606060"/>
                </a:solidFill>
                <a:latin typeface="Malgun Gothic"/>
                <a:ea typeface="Malgun Gothic"/>
                <a:cs typeface="Malgun Gothic"/>
              </a:rPr>
              <a:t>동전</a:t>
            </a:r>
            <a:r>
              <a:rPr lang="en-US" altLang="ko-KR" sz="1250" b="0">
                <a:solidFill>
                  <a:srgbClr val="606060"/>
                </a:solidFill>
                <a:latin typeface="Malgun Gothic"/>
                <a:ea typeface="Malgun Gothic"/>
                <a:cs typeface="Malgun Gothic"/>
              </a:rPr>
              <a:t>, 0/1 </a:t>
            </a:r>
            <a:r>
              <a:rPr lang="ko-KR" altLang="en-US" sz="1250" b="0">
                <a:solidFill>
                  <a:srgbClr val="606060"/>
                </a:solidFill>
                <a:latin typeface="Malgun Gothic"/>
                <a:ea typeface="Malgun Gothic"/>
                <a:cs typeface="Malgun Gothic"/>
              </a:rPr>
              <a:t>배낭</a:t>
            </a:r>
            <a:r>
              <a:rPr lang="en-US" altLang="ko-KR" sz="1250" b="0">
                <a:solidFill>
                  <a:srgbClr val="606060"/>
                </a:solidFill>
                <a:latin typeface="Malgun Gothic"/>
                <a:ea typeface="Malgun Gothic"/>
                <a:cs typeface="Malgun Gothic"/>
              </a:rPr>
              <a:t>, </a:t>
            </a:r>
            <a:r>
              <a:rPr lang="ko-KR" altLang="en-US" sz="1250" b="0">
                <a:solidFill>
                  <a:srgbClr val="606060"/>
                </a:solidFill>
                <a:latin typeface="Malgun Gothic"/>
                <a:ea typeface="Malgun Gothic"/>
                <a:cs typeface="Malgun Gothic"/>
              </a:rPr>
              <a:t>음수 간선이 있는 다익스트라</a:t>
            </a:r>
            <a:r>
              <a:rPr lang="en-US" altLang="ko-KR" sz="1250" b="0">
                <a:solidFill>
                  <a:srgbClr val="606060"/>
                </a:solidFill>
                <a:latin typeface="Malgun Gothic"/>
                <a:ea typeface="Malgun Gothic"/>
                <a:cs typeface="Malgun Gothic"/>
              </a:rPr>
              <a:t>.</a:t>
            </a:r>
            <a:endParaRPr lang="ko-KR" altLang="en-US" sz="1250" b="0" dirty="0">
              <a:solidFill>
                <a:srgbClr val="606060"/>
              </a:solidFill>
              <a:latin typeface="Malgun Gothic"/>
              <a:ea typeface="Malgun Gothic"/>
              <a:cs typeface="Malgun Gothic"/>
            </a:endParaRPr>
          </a:p>
        </p:txBody>
      </p:sp>
      <p:sp>
        <p:nvSpPr>
          <p:cNvPr id="27" name="직사각형 28"/>
          <p:cNvSpPr/>
          <p:nvPr/>
        </p:nvSpPr>
        <p:spPr>
          <a:xfrm>
            <a:off x="658368" y="4809744"/>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05</a:t>
            </a:r>
          </a:p>
        </p:txBody>
      </p:sp>
      <p:sp>
        <p:nvSpPr>
          <p:cNvPr id="28" name="직사각형 29"/>
          <p:cNvSpPr/>
          <p:nvPr/>
        </p:nvSpPr>
        <p:spPr>
          <a:xfrm>
            <a:off x="6300216" y="4645152"/>
            <a:ext cx="5230368"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29" name="직사각형 30"/>
          <p:cNvSpPr/>
          <p:nvPr/>
        </p:nvSpPr>
        <p:spPr>
          <a:xfrm>
            <a:off x="7159752" y="4828032"/>
            <a:ext cx="4133088" cy="310896"/>
          </a:xfrm>
          <a:prstGeom prst="rect">
            <a:avLst/>
          </a:prstGeom>
          <a:noFill/>
          <a:ln w="0">
            <a:noFill/>
          </a:ln>
        </p:spPr>
        <p:txBody>
          <a:bodyPr wrap="square" lIns="0" tIns="0" rIns="0" bIns="0" anchor="ctr">
            <a:noAutofit/>
          </a:bodyPr>
          <a:lstStyle/>
          <a:p>
            <a:pPr algn="l" eaLnBrk="0" latinLnBrk="0">
              <a:lnSpc>
                <a:spcPct val="100000"/>
              </a:lnSpc>
              <a:buNone/>
            </a:pPr>
            <a:r>
              <a:rPr lang="ko-KR" altLang="en-US" sz="1500" b="1" dirty="0">
                <a:solidFill>
                  <a:srgbClr val="171717"/>
                </a:solidFill>
                <a:latin typeface="Malgun Gothic"/>
                <a:ea typeface="Malgun Gothic"/>
                <a:cs typeface="Malgun Gothic"/>
              </a:rPr>
              <a:t>다음은 동적 계획법</a:t>
            </a:r>
          </a:p>
        </p:txBody>
      </p:sp>
      <p:sp>
        <p:nvSpPr>
          <p:cNvPr id="30" name="직사각형 31"/>
          <p:cNvSpPr/>
          <p:nvPr/>
        </p:nvSpPr>
        <p:spPr>
          <a:xfrm>
            <a:off x="7159752" y="5193792"/>
            <a:ext cx="4133088" cy="877824"/>
          </a:xfrm>
          <a:prstGeom prst="rect">
            <a:avLst/>
          </a:prstGeom>
          <a:noFill/>
          <a:ln w="0">
            <a:noFill/>
          </a:ln>
        </p:spPr>
        <p:txBody>
          <a:bodyPr wrap="square" lIns="0" tIns="0" rIns="0" bIns="0" anchor="t">
            <a:noAutofit/>
          </a:bodyPr>
          <a:lstStyle/>
          <a:p>
            <a:pPr algn="l" eaLnBrk="0" latinLnBrk="0">
              <a:lnSpc>
                <a:spcPct val="110000"/>
              </a:lnSpc>
              <a:buNone/>
            </a:pPr>
            <a:r>
              <a:rPr lang="en-US" altLang="ko-KR" sz="1250" b="0">
                <a:solidFill>
                  <a:srgbClr val="606060"/>
                </a:solidFill>
                <a:latin typeface="Malgun Gothic"/>
                <a:ea typeface="Malgun Gothic"/>
                <a:cs typeface="Malgun Gothic"/>
              </a:rPr>
              <a:t>0/1 </a:t>
            </a:r>
            <a:r>
              <a:rPr lang="ko-KR" altLang="en-US" sz="1250" b="0">
                <a:solidFill>
                  <a:srgbClr val="606060"/>
                </a:solidFill>
                <a:latin typeface="Malgun Gothic"/>
                <a:ea typeface="Malgun Gothic"/>
                <a:cs typeface="Malgun Gothic"/>
              </a:rPr>
              <a:t>배낭과 일반 동전 문제는 남은 상태별 답을 저장하는 동적 계획법으로 이어집니다</a:t>
            </a:r>
            <a:r>
              <a:rPr lang="en-US" altLang="ko-KR" sz="1250" b="0">
                <a:solidFill>
                  <a:srgbClr val="606060"/>
                </a:solidFill>
                <a:latin typeface="Malgun Gothic"/>
                <a:ea typeface="Malgun Gothic"/>
                <a:cs typeface="Malgun Gothic"/>
              </a:rPr>
              <a:t>.</a:t>
            </a:r>
            <a:endParaRPr lang="ko-KR" altLang="en-US" sz="1250" b="0" dirty="0">
              <a:solidFill>
                <a:srgbClr val="606060"/>
              </a:solidFill>
              <a:latin typeface="Malgun Gothic"/>
              <a:ea typeface="Malgun Gothic"/>
              <a:cs typeface="Malgun Gothic"/>
            </a:endParaRPr>
          </a:p>
        </p:txBody>
      </p:sp>
      <p:sp>
        <p:nvSpPr>
          <p:cNvPr id="31" name="직사각형 32"/>
          <p:cNvSpPr/>
          <p:nvPr/>
        </p:nvSpPr>
        <p:spPr>
          <a:xfrm>
            <a:off x="6300216" y="4809744"/>
            <a:ext cx="731520" cy="365760"/>
          </a:xfrm>
          <a:prstGeom prst="rect">
            <a:avLst/>
          </a:prstGeom>
          <a:noFill/>
          <a:ln w="0">
            <a:noFill/>
          </a:ln>
        </p:spPr>
        <p:txBody>
          <a:bodyPr wrap="square" lIns="0" tIns="0" rIns="0" bIns="0" anchor="t">
            <a:noAutofit/>
          </a:bodyPr>
          <a:lstStyle/>
          <a:p>
            <a:pPr algn="l" eaLnBrk="0" latinLnBrk="0">
              <a:lnSpc>
                <a:spcPct val="100000"/>
              </a:lnSpc>
              <a:buNone/>
            </a:pPr>
            <a:r>
              <a:rPr lang="ko-KR" altLang="en-US" sz="2400" b="1" dirty="0">
                <a:solidFill>
                  <a:srgbClr val="C8C8C8"/>
                </a:solidFill>
                <a:latin typeface="Consolas"/>
                <a:ea typeface="Consolas"/>
                <a:cs typeface="Consolas"/>
              </a:rPr>
              <a:t>06</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3"/>
          <p:cNvSpPr/>
          <p:nvPr/>
        </p:nvSpPr>
        <p:spPr>
          <a:xfrm>
            <a:off x="612648" y="265176"/>
            <a:ext cx="8229600" cy="265176"/>
          </a:xfrm>
          <a:prstGeom prst="rect">
            <a:avLst/>
          </a:prstGeom>
          <a:noFill/>
          <a:ln w="0">
            <a:noFill/>
          </a:ln>
        </p:spPr>
        <p:txBody>
          <a:bodyPr wrap="square" lIns="0" tIns="0" rIns="0" bIns="0" anchor="t">
            <a:noAutofit/>
          </a:bodyPr>
          <a:lstStyle/>
          <a:p>
            <a:pPr algn="l" eaLnBrk="0" latinLnBrk="0">
              <a:lnSpc>
                <a:spcPct val="100000"/>
              </a:lnSpc>
              <a:buNone/>
            </a:pPr>
            <a:r>
              <a:rPr lang="ko-KR" altLang="en-US" sz="1050" b="1" dirty="0">
                <a:solidFill>
                  <a:srgbClr val="606060"/>
                </a:solidFill>
                <a:latin typeface="Malgun Gothic"/>
                <a:ea typeface="Malgun Gothic"/>
                <a:cs typeface="Malgun Gothic"/>
              </a:rPr>
              <a:t>5장 정리</a:t>
            </a:r>
          </a:p>
        </p:txBody>
      </p:sp>
      <p:sp>
        <p:nvSpPr>
          <p:cNvPr id="3" name="직사각형 4"/>
          <p:cNvSpPr/>
          <p:nvPr/>
        </p:nvSpPr>
        <p:spPr>
          <a:xfrm>
            <a:off x="10287000" y="265176"/>
            <a:ext cx="1298448" cy="228600"/>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Malgun Gothic"/>
                <a:ea typeface="Malgun Gothic"/>
                <a:cs typeface="Malgun Gothic"/>
              </a:rPr>
              <a:t>ALGORITHMS</a:t>
            </a:r>
          </a:p>
        </p:txBody>
      </p:sp>
      <p:sp>
        <p:nvSpPr>
          <p:cNvPr id="4" name="직사각형 5"/>
          <p:cNvSpPr/>
          <p:nvPr/>
        </p:nvSpPr>
        <p:spPr>
          <a:xfrm>
            <a:off x="594360" y="685800"/>
            <a:ext cx="10991088" cy="640080"/>
          </a:xfrm>
          <a:prstGeom prst="rect">
            <a:avLst/>
          </a:prstGeom>
          <a:noFill/>
          <a:ln w="0">
            <a:noFill/>
          </a:ln>
        </p:spPr>
        <p:txBody>
          <a:bodyPr wrap="square" lIns="0" tIns="0" rIns="0" bIns="0" anchor="t">
            <a:noAutofit/>
          </a:bodyPr>
          <a:lstStyle/>
          <a:p>
            <a:pPr algn="l" eaLnBrk="0" latinLnBrk="0">
              <a:lnSpc>
                <a:spcPct val="100000"/>
              </a:lnSpc>
              <a:buNone/>
            </a:pPr>
            <a:r>
              <a:rPr lang="ko-KR" altLang="en-US" sz="3000" b="1" dirty="0">
                <a:solidFill>
                  <a:srgbClr val="171717"/>
                </a:solidFill>
                <a:latin typeface="Malgun Gothic"/>
                <a:ea typeface="Malgun Gothic"/>
                <a:cs typeface="Malgun Gothic"/>
              </a:rPr>
              <a:t>Python · C 대응표</a:t>
            </a:r>
          </a:p>
        </p:txBody>
      </p:sp>
      <p:sp>
        <p:nvSpPr>
          <p:cNvPr id="5" name="직사각형 6"/>
          <p:cNvSpPr/>
          <p:nvPr/>
        </p:nvSpPr>
        <p:spPr>
          <a:xfrm>
            <a:off x="612648" y="1380744"/>
            <a:ext cx="10972800" cy="18288"/>
          </a:xfrm>
          <a:prstGeom prst="rect">
            <a:avLst/>
          </a:prstGeom>
          <a:solidFill>
            <a:srgbClr val="171717"/>
          </a:solidFill>
          <a:ln w="0">
            <a:noFill/>
          </a:ln>
        </p:spPr>
        <p:txBody>
          <a:bodyPr wrap="square" lIns="0" tIns="0" rIns="0" bIns="0" anchor="t">
            <a:noAutofit/>
          </a:bodyPr>
          <a:lstStyle/>
          <a:p>
            <a:pPr algn="l" eaLnBrk="0" latinLnBrk="0">
              <a:lnSpc>
                <a:spcPct val="100000"/>
              </a:lnSpc>
              <a:buNone/>
            </a:pPr>
            <a:endParaRPr lang="ko-KR" sz="1800"/>
          </a:p>
        </p:txBody>
      </p:sp>
      <p:sp>
        <p:nvSpPr>
          <p:cNvPr id="6" name="직사각형 7"/>
          <p:cNvSpPr/>
          <p:nvPr/>
        </p:nvSpPr>
        <p:spPr>
          <a:xfrm>
            <a:off x="612648" y="6437376"/>
            <a:ext cx="10972800" cy="9144"/>
          </a:xfrm>
          <a:prstGeom prst="rect">
            <a:avLst/>
          </a:prstGeom>
          <a:solidFill>
            <a:srgbClr val="D4D4D4"/>
          </a:solidFill>
          <a:ln w="0">
            <a:noFill/>
          </a:ln>
        </p:spPr>
        <p:txBody>
          <a:bodyPr wrap="square" lIns="0" tIns="0" rIns="0" bIns="0" anchor="t">
            <a:noAutofit/>
          </a:bodyPr>
          <a:lstStyle/>
          <a:p>
            <a:pPr algn="l" eaLnBrk="0" latinLnBrk="0">
              <a:lnSpc>
                <a:spcPct val="100000"/>
              </a:lnSpc>
              <a:buNone/>
            </a:pPr>
            <a:endParaRPr lang="ko-KR" sz="1800"/>
          </a:p>
        </p:txBody>
      </p:sp>
      <p:sp>
        <p:nvSpPr>
          <p:cNvPr id="7" name="직사각형 8"/>
          <p:cNvSpPr/>
          <p:nvPr/>
        </p:nvSpPr>
        <p:spPr>
          <a:xfrm>
            <a:off x="612648" y="6592824"/>
            <a:ext cx="7616952" cy="192024"/>
          </a:xfrm>
          <a:prstGeom prst="rect">
            <a:avLst/>
          </a:prstGeom>
          <a:noFill/>
          <a:ln w="0">
            <a:noFill/>
          </a:ln>
        </p:spPr>
        <p:txBody>
          <a:bodyPr wrap="square" lIns="0" tIns="0" rIns="0" bIns="0" anchor="t">
            <a:noAutofit/>
          </a:bodyPr>
          <a:lstStyle/>
          <a:p>
            <a:pPr algn="l" eaLnBrk="0" latinLnBrk="0">
              <a:lnSpc>
                <a:spcPct val="100000"/>
              </a:lnSpc>
              <a:buNone/>
            </a:pPr>
            <a:r>
              <a:rPr lang="ko-KR" altLang="en-US" sz="900" b="0" dirty="0">
                <a:solidFill>
                  <a:srgbClr val="606060"/>
                </a:solidFill>
                <a:latin typeface="Consolas"/>
                <a:ea typeface="Consolas"/>
                <a:cs typeface="Consolas"/>
              </a:rPr>
              <a:t>05 / GREEDY ALGORITHM</a:t>
            </a:r>
          </a:p>
        </p:txBody>
      </p:sp>
      <p:sp>
        <p:nvSpPr>
          <p:cNvPr id="8" name="직사각형 9"/>
          <p:cNvSpPr/>
          <p:nvPr/>
        </p:nvSpPr>
        <p:spPr>
          <a:xfrm>
            <a:off x="10515600" y="6556248"/>
            <a:ext cx="1060704" cy="228600"/>
          </a:xfrm>
          <a:prstGeom prst="rect">
            <a:avLst/>
          </a:prstGeom>
          <a:noFill/>
          <a:ln w="0">
            <a:noFill/>
          </a:ln>
        </p:spPr>
        <p:txBody>
          <a:bodyPr wrap="square" lIns="0" tIns="0" rIns="0" bIns="0" anchor="t">
            <a:noAutofit/>
          </a:bodyPr>
          <a:lstStyle/>
          <a:p>
            <a:pPr algn="r" eaLnBrk="0" latinLnBrk="0">
              <a:lnSpc>
                <a:spcPct val="100000"/>
              </a:lnSpc>
              <a:buNone/>
            </a:pPr>
            <a:r>
              <a:rPr lang="en-US" altLang="ko-KR" sz="1050" b="0">
                <a:solidFill>
                  <a:srgbClr val="606060"/>
                </a:solidFill>
                <a:latin typeface="Malgun Gothic"/>
                <a:ea typeface="Malgun Gothic"/>
                <a:cs typeface="Malgun Gothic"/>
              </a:rPr>
              <a:t>69</a:t>
            </a:r>
            <a:endParaRPr lang="ko-KR" altLang="en-US" sz="1050" b="0" dirty="0">
              <a:solidFill>
                <a:srgbClr val="606060"/>
              </a:solidFill>
              <a:latin typeface="Malgun Gothic"/>
              <a:ea typeface="Malgun Gothic"/>
              <a:cs typeface="Malgun Gothic"/>
            </a:endParaRPr>
          </a:p>
        </p:txBody>
      </p:sp>
      <p:sp>
        <p:nvSpPr>
          <p:cNvPr id="9" name="fit:54c399d02d260193 10"/>
          <p:cNvSpPr/>
          <p:nvPr/>
        </p:nvSpPr>
        <p:spPr>
          <a:xfrm>
            <a:off x="612648" y="1636776"/>
            <a:ext cx="10972800" cy="310896"/>
          </a:xfrm>
          <a:prstGeom prst="rect">
            <a:avLst/>
          </a:prstGeom>
          <a:noFill/>
          <a:ln w="0">
            <a:noFill/>
          </a:ln>
        </p:spPr>
        <p:txBody>
          <a:bodyPr wrap="square" lIns="0" tIns="0" rIns="0" bIns="0" anchor="t">
            <a:noAutofit/>
          </a:bodyPr>
          <a:lstStyle/>
          <a:p>
            <a:pPr algn="l" eaLnBrk="0" latinLnBrk="0">
              <a:lnSpc>
                <a:spcPct val="105000"/>
              </a:lnSpc>
              <a:buNone/>
            </a:pPr>
            <a:r>
              <a:rPr lang="ko-KR" altLang="en-US" sz="1800" b="0" dirty="0">
                <a:solidFill>
                  <a:srgbClr val="171717"/>
                </a:solidFill>
                <a:latin typeface="Malgun Gothic"/>
                <a:ea typeface="Malgun Gothic"/>
                <a:cs typeface="Malgun Gothic"/>
              </a:rPr>
              <a:t>같은 알고리즘을 두 언어로 쓸 때 자주 바뀌는 부분입니다.</a:t>
            </a:r>
          </a:p>
        </p:txBody>
      </p:sp>
      <p:graphicFrame>
        <p:nvGraphicFramePr>
          <p:cNvPr id="10" name="표 11"/>
          <p:cNvGraphicFramePr>
            <a:graphicFrameLocks noGrp="1"/>
          </p:cNvGraphicFramePr>
          <p:nvPr>
            <p:extLst>
              <p:ext uri="{D42A27DB-BD31-4B8C-83A1-F6EECF244321}">
                <p14:modId xmlns:p14="http://schemas.microsoft.com/office/powerpoint/2010/main" val="814755247"/>
              </p:ext>
            </p:extLst>
          </p:nvPr>
        </p:nvGraphicFramePr>
        <p:xfrm>
          <a:off x="612648" y="2075688"/>
          <a:ext cx="10972800" cy="2798064"/>
        </p:xfrm>
        <a:graphic>
          <a:graphicData uri="http://schemas.openxmlformats.org/drawingml/2006/table">
            <a:tbl>
              <a:tblPr/>
              <a:tblGrid>
                <a:gridCol w="21031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10896">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하는 일</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Python</a:t>
                      </a:r>
                    </a:p>
                  </a:txBody>
                  <a:tcPr marL="54864" marR="54864" marT="18288" marB="18288" anchor="ctr">
                    <a:solidFill>
                      <a:srgbClr val="151515"/>
                    </a:solidFill>
                  </a:tcPr>
                </a:tc>
                <a:tc>
                  <a:txBody>
                    <a:bodyPr/>
                    <a:lstStyle/>
                    <a:p>
                      <a:pPr algn="ctr" eaLnBrk="0" latinLnBrk="0">
                        <a:lnSpc>
                          <a:spcPct val="100000"/>
                        </a:lnSpc>
                        <a:buNone/>
                      </a:pPr>
                      <a:r>
                        <a:rPr lang="ko-KR" altLang="en-US" sz="1400" b="1" dirty="0">
                          <a:solidFill>
                            <a:srgbClr val="FFFFFF"/>
                          </a:solidFill>
                          <a:latin typeface="Malgun Gothic"/>
                          <a:ea typeface="Malgun Gothic"/>
                          <a:cs typeface="Malgun Gothic"/>
                        </a:rPr>
                        <a:t>C</a:t>
                      </a:r>
                    </a:p>
                  </a:txBody>
                  <a:tcPr marL="54864" marR="54864" marT="18288" marB="18288" anchor="ctr">
                    <a:solidFill>
                      <a:srgbClr val="151515"/>
                    </a:solidFill>
                  </a:tcPr>
                </a:tc>
                <a:extLst>
                  <a:ext uri="{0D108BD9-81ED-4DB2-BD59-A6C34878D82A}">
                    <a16:rowId xmlns:a16="http://schemas.microsoft.com/office/drawing/2014/main" val="10000"/>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정렬</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list.sort(key=…, reverse=True)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qsort(배열, 개수, 크기, 비교 함수)</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큰 것부터 보기</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coins.reverse()</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for (i = N - 1; i &gt;= 0; i--)</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무한대</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float("inf"), float("-inf")</a:t>
                      </a:r>
                    </a:p>
                  </a:txBody>
                  <a:tcPr marL="54864" marR="54864" marT="18288" marB="18288" anchor="ctr">
                    <a:solidFill>
                      <a:srgbClr val="FFFFFF"/>
                    </a:solidFill>
                  </a:tcPr>
                </a:tc>
                <a:tc>
                  <a:txBody>
                    <a:bodyPr/>
                    <a:lstStyle/>
                    <a:p>
                      <a:pPr algn="ctr" eaLnBrk="0" latinLnBrk="0">
                        <a:lnSpc>
                          <a:spcPct val="100000"/>
                        </a:lnSpc>
                        <a:buNone/>
                      </a:pPr>
                      <a:r>
                        <a:rPr lang="en-US" altLang="ko-KR" sz="1400" b="0">
                          <a:solidFill>
                            <a:srgbClr val="151515"/>
                          </a:solidFill>
                          <a:latin typeface="Malgun Gothic"/>
                          <a:ea typeface="Malgun Gothic"/>
                          <a:cs typeface="Malgun Gothic"/>
                        </a:rPr>
                        <a:t>long long, INF = 10¹⁸</a:t>
                      </a:r>
                      <a:endParaRPr lang="ko-KR" altLang="en-US" sz="1400" b="0" dirty="0">
                        <a:solidFill>
                          <a:srgbClr val="151515"/>
                        </a:solidFill>
                        <a:latin typeface="Malgun Gothic"/>
                        <a:ea typeface="Malgun Gothic"/>
                        <a:cs typeface="Malgun Gothic"/>
                      </a:endParaRP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최솟값 꺼내기</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heapq.heappush / heappop</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배열을 훑어 최소 찾기 O(V)</a:t>
                      </a:r>
                    </a:p>
                  </a:txBody>
                  <a:tcPr marL="54864" marR="54864" marT="18288" marB="18288" anchor="ctr">
                    <a:solidFill>
                      <a:srgbClr val="FFFFFF"/>
                    </a:solidFill>
                  </a:tcPr>
                </a:tc>
                <a:extLst>
                  <a:ext uri="{0D108BD9-81ED-4DB2-BD59-A6C34878D82A}">
                    <a16:rowId xmlns:a16="http://schemas.microsoft.com/office/drawing/2014/main" val="10004"/>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묶음 자료</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class Item, 튜플 (w, u, v)</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typedef struct { … } Item;</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그래프(다익스트라)</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딕셔너리 {정점: {이웃: 비용}}</a:t>
                      </a:r>
                    </a:p>
                  </a:txBody>
                  <a:tcPr marL="54864" marR="54864" marT="18288" marB="18288" anchor="ctr">
                    <a:solidFill>
                      <a:srgbClr val="FFFFFF"/>
                    </a:solidFill>
                  </a:tcPr>
                </a:tc>
                <a:tc>
                  <a:txBody>
                    <a:bodyPr/>
                    <a:lstStyle/>
                    <a:p>
                      <a:pPr algn="ctr" eaLnBrk="0" latinLnBrk="0">
                        <a:lnSpc>
                          <a:spcPct val="100000"/>
                        </a:lnSpc>
                        <a:buNone/>
                      </a:pPr>
                      <a:r>
                        <a:rPr lang="en-US" altLang="ko-KR" sz="1400" b="0">
                          <a:solidFill>
                            <a:srgbClr val="151515"/>
                          </a:solidFill>
                          <a:latin typeface="Malgun Gothic"/>
                          <a:ea typeface="Malgun Gothic"/>
                          <a:cs typeface="Malgun Gothic"/>
                        </a:rPr>
                        <a:t>graph[u][v], -1 = </a:t>
                      </a:r>
                      <a:r>
                        <a:rPr lang="ko-KR" altLang="en-US" sz="1400" b="0">
                          <a:solidFill>
                            <a:srgbClr val="151515"/>
                          </a:solidFill>
                          <a:latin typeface="Malgun Gothic"/>
                          <a:ea typeface="Malgun Gothic"/>
                          <a:cs typeface="Malgun Gothic"/>
                        </a:rPr>
                        <a:t>없음</a:t>
                      </a:r>
                      <a:r>
                        <a:rPr lang="en-US" altLang="ko-KR" sz="1400" b="0">
                          <a:solidFill>
                            <a:srgbClr val="151515"/>
                          </a:solidFill>
                          <a:latin typeface="Malgun Gothic"/>
                          <a:ea typeface="Malgun Gothic"/>
                          <a:cs typeface="Malgun Gothic"/>
                        </a:rPr>
                        <a:t>, 0 = </a:t>
                      </a:r>
                      <a:r>
                        <a:rPr lang="ko-KR" altLang="en-US" sz="1400" b="0">
                          <a:solidFill>
                            <a:srgbClr val="151515"/>
                          </a:solidFill>
                          <a:latin typeface="Malgun Gothic"/>
                          <a:ea typeface="Malgun Gothic"/>
                          <a:cs typeface="Malgun Gothic"/>
                        </a:rPr>
                        <a:t>유효</a:t>
                      </a:r>
                      <a:endParaRPr lang="ko-KR" altLang="en-US" sz="1400" b="0" dirty="0">
                        <a:solidFill>
                          <a:srgbClr val="151515"/>
                        </a:solidFill>
                        <a:latin typeface="Malgun Gothic"/>
                        <a:ea typeface="Malgun Gothic"/>
                        <a:cs typeface="Malgun Gothic"/>
                      </a:endParaRPr>
                    </a:p>
                  </a:txBody>
                  <a:tcPr marL="54864" marR="54864" marT="18288" marB="18288" anchor="ctr">
                    <a:solidFill>
                      <a:srgbClr val="FFFFFF"/>
                    </a:solidFill>
                  </a:tcPr>
                </a:tc>
                <a:extLst>
                  <a:ext uri="{0D108BD9-81ED-4DB2-BD59-A6C34878D82A}">
                    <a16:rowId xmlns:a16="http://schemas.microsoft.com/office/drawing/2014/main" val="10006"/>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입력</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sys.stdin.readline().split()</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scanf("%d %d", &amp;N, &amp;K)</a:t>
                      </a:r>
                    </a:p>
                  </a:txBody>
                  <a:tcPr marL="54864" marR="54864" marT="18288" marB="18288" anchor="ctr">
                    <a:solidFill>
                      <a:srgbClr val="FFFFFF"/>
                    </a:solidFill>
                  </a:tcPr>
                </a:tc>
                <a:extLst>
                  <a:ext uri="{0D108BD9-81ED-4DB2-BD59-A6C34878D82A}">
                    <a16:rowId xmlns:a16="http://schemas.microsoft.com/office/drawing/2014/main" val="10007"/>
                  </a:ext>
                </a:extLst>
              </a:tr>
              <a:tr h="310896">
                <a:tc>
                  <a:txBody>
                    <a:bodyPr/>
                    <a:lstStyle/>
                    <a:p>
                      <a:pPr algn="ctr" eaLnBrk="0" latinLnBrk="0">
                        <a:lnSpc>
                          <a:spcPct val="100000"/>
                        </a:lnSpc>
                        <a:buNone/>
                      </a:pPr>
                      <a:r>
                        <a:rPr lang="ko-KR" altLang="en-US" sz="1400" b="1" dirty="0">
                          <a:solidFill>
                            <a:srgbClr val="151515"/>
                          </a:solidFill>
                          <a:latin typeface="Malgun Gothic"/>
                          <a:ea typeface="Malgun Gothic"/>
                          <a:cs typeface="Malgun Gothic"/>
                        </a:rPr>
                        <a:t>몫 · 나머지</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K // coin, K % coin</a:t>
                      </a:r>
                    </a:p>
                  </a:txBody>
                  <a:tcPr marL="54864" marR="54864" marT="18288" marB="18288" anchor="ctr">
                    <a:solidFill>
                      <a:srgbClr val="FFFFFF"/>
                    </a:solidFill>
                  </a:tcPr>
                </a:tc>
                <a:tc>
                  <a:txBody>
                    <a:bodyPr/>
                    <a:lstStyle/>
                    <a:p>
                      <a:pPr algn="ctr" eaLnBrk="0" latinLnBrk="0">
                        <a:lnSpc>
                          <a:spcPct val="100000"/>
                        </a:lnSpc>
                        <a:buNone/>
                      </a:pPr>
                      <a:r>
                        <a:rPr lang="ko-KR" altLang="en-US" sz="1400" b="0" dirty="0">
                          <a:solidFill>
                            <a:srgbClr val="151515"/>
                          </a:solidFill>
                          <a:latin typeface="Malgun Gothic"/>
                          <a:ea typeface="Malgun Gothic"/>
                          <a:cs typeface="Malgun Gothic"/>
                        </a:rPr>
                        <a:t>K / coins[i], K % coins[i]</a:t>
                      </a:r>
                    </a:p>
                  </a:txBody>
                  <a:tcPr marL="54864" marR="54864" marT="18288" marB="18288" anchor="ctr">
                    <a:solidFill>
                      <a:srgbClr val="FFFFFF"/>
                    </a:solidFill>
                  </a:tcPr>
                </a:tc>
                <a:extLst>
                  <a:ext uri="{0D108BD9-81ED-4DB2-BD59-A6C34878D82A}">
                    <a16:rowId xmlns:a16="http://schemas.microsoft.com/office/drawing/2014/main" val="10008"/>
                  </a:ext>
                </a:extLst>
              </a:tr>
            </a:tbl>
          </a:graphicData>
        </a:graphic>
      </p:graphicFrame>
      <p:sp>
        <p:nvSpPr>
          <p:cNvPr id="11" name="fit:567673dede0672fb 12"/>
          <p:cNvSpPr/>
          <p:nvPr/>
        </p:nvSpPr>
        <p:spPr>
          <a:xfrm>
            <a:off x="612648" y="5020056"/>
            <a:ext cx="10972800" cy="539496"/>
          </a:xfrm>
          <a:prstGeom prst="rect">
            <a:avLst/>
          </a:prstGeom>
          <a:noFill/>
          <a:ln w="0">
            <a:noFill/>
          </a:ln>
        </p:spPr>
        <p:txBody>
          <a:bodyPr wrap="square" lIns="0" tIns="0" rIns="0" bIns="0" anchor="t">
            <a:noAutofit/>
          </a:bodyPr>
          <a:lstStyle/>
          <a:p>
            <a:pPr algn="l" eaLnBrk="0" latinLnBrk="0">
              <a:lnSpc>
                <a:spcPct val="100000"/>
              </a:lnSpc>
              <a:buNone/>
            </a:pPr>
            <a:r>
              <a:rPr lang="ko-KR" altLang="en-US" sz="1650" b="0" dirty="0">
                <a:solidFill>
                  <a:srgbClr val="3F3F3F"/>
                </a:solidFill>
                <a:latin typeface="Malgun Gothic"/>
                <a:ea typeface="Malgun Gothic"/>
                <a:cs typeface="Malgun Gothic"/>
              </a:rPr>
              <a:t>비교 함수는 a가 b보다 앞에 와야 하면 음수, 같으면 0, 뒤에 와야 하면 양수를 돌려줍니다. 오름차순이면 앞이 작을 때 음수입니다(배낭의 by_ratio는 반대).</a:t>
            </a:r>
          </a:p>
        </p:txBody>
      </p:sp>
      <p:sp>
        <p:nvSpPr>
          <p:cNvPr id="12" name="fit:ba639ba1a8aa054c 13"/>
          <p:cNvSpPr/>
          <p:nvPr/>
        </p:nvSpPr>
        <p:spPr>
          <a:xfrm>
            <a:off x="612648" y="5669280"/>
            <a:ext cx="10972800" cy="292608"/>
          </a:xfrm>
          <a:prstGeom prst="rect">
            <a:avLst/>
          </a:prstGeom>
          <a:noFill/>
          <a:ln w="0">
            <a:noFill/>
          </a:ln>
        </p:spPr>
        <p:txBody>
          <a:bodyPr wrap="square" lIns="0" tIns="0" rIns="0" bIns="0" anchor="t">
            <a:noAutofit/>
          </a:bodyPr>
          <a:lstStyle/>
          <a:p>
            <a:pPr algn="l" eaLnBrk="0" latinLnBrk="0">
              <a:lnSpc>
                <a:spcPct val="100000"/>
              </a:lnSpc>
              <a:buNone/>
            </a:pPr>
            <a:r>
              <a:rPr lang="en-US" altLang="ko-KR" sz="1650" b="0">
                <a:solidFill>
                  <a:srgbClr val="3F3F3F"/>
                </a:solidFill>
                <a:latin typeface="Malgun Gothic"/>
                <a:ea typeface="Malgun Gothic"/>
                <a:cs typeface="Malgun Gothic"/>
              </a:rPr>
              <a:t>INF</a:t>
            </a:r>
            <a:r>
              <a:rPr lang="ko-KR" altLang="en-US" sz="1650" b="0">
                <a:solidFill>
                  <a:srgbClr val="3F3F3F"/>
                </a:solidFill>
                <a:latin typeface="Malgun Gothic"/>
                <a:ea typeface="Malgun Gothic"/>
                <a:cs typeface="Malgun Gothic"/>
              </a:rPr>
              <a:t>는 큰 정수입니다</a:t>
            </a:r>
            <a:r>
              <a:rPr lang="en-US" altLang="ko-KR" sz="1650" b="0">
                <a:solidFill>
                  <a:srgbClr val="3F3F3F"/>
                </a:solidFill>
                <a:latin typeface="Malgun Gothic"/>
                <a:ea typeface="Malgun Gothic"/>
                <a:cs typeface="Malgun Gothic"/>
              </a:rPr>
              <a:t>. </a:t>
            </a:r>
            <a:r>
              <a:rPr lang="ko-KR" altLang="en-US" sz="1650" b="0">
                <a:solidFill>
                  <a:srgbClr val="3F3F3F"/>
                </a:solidFill>
                <a:latin typeface="Malgun Gothic"/>
                <a:ea typeface="Malgun Gothic"/>
                <a:cs typeface="Malgun Gothic"/>
              </a:rPr>
              <a:t>더하기 전에 도달 여부와 자료형 범위를 확인합니다</a:t>
            </a:r>
            <a:r>
              <a:rPr lang="en-US" altLang="ko-KR" sz="1650" b="0">
                <a:solidFill>
                  <a:srgbClr val="3F3F3F"/>
                </a:solidFill>
                <a:latin typeface="Malgun Gothic"/>
                <a:ea typeface="Malgun Gothic"/>
                <a:cs typeface="Malgun Gothic"/>
              </a:rPr>
              <a:t>.</a:t>
            </a:r>
            <a:endParaRPr lang="ko-KR" altLang="en-US" sz="1650" b="0" dirty="0">
              <a:solidFill>
                <a:srgbClr val="3F3F3F"/>
              </a:solidFill>
              <a:latin typeface="Malgun Gothic"/>
              <a:ea typeface="Malgun Gothic"/>
              <a:cs typeface="Malgun Gothi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14274</Words>
  <Application>Microsoft Office PowerPoint</Application>
  <DocSecurity>0</DocSecurity>
  <PresentationFormat>와이드스크린</PresentationFormat>
  <Paragraphs>2054</Paragraphs>
  <Slides>69</Slides>
  <Notes>69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69</vt:i4>
      </vt:variant>
    </vt:vector>
  </HeadingPairs>
  <TitlesOfParts>
    <vt:vector size="74"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5장 그리디 알고리즘</dc:title>
  <dc:creator>Walnut Exporter</dc:creator>
  <cp:lastModifiedBy>상돈 박</cp:lastModifiedBy>
  <cp:revision>18</cp:revision>
  <dcterms:created xsi:type="dcterms:W3CDTF">2026-09-19T13:48:20Z</dcterms:created>
  <dcterms:modified xsi:type="dcterms:W3CDTF">2026-10-18T01:32:17Z</dcterms:modified>
</cp:coreProperties>
</file>