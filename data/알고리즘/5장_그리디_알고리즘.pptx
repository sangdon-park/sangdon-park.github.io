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Lst>
  <p:notesMasterIdLst>
    <p:notesMasterId r:id="rId71"/>
  </p:notesMasterIdLst>
  <p:sldIdLst>
    <p:sldId id="256" r:id="rId2"/>
    <p:sldId id="257" r:id="rId3"/>
    <p:sldId id="259" r:id="rId4"/>
    <p:sldId id="260" r:id="rId5"/>
    <p:sldId id="261" r:id="rId6"/>
    <p:sldId id="263" r:id="rId7"/>
    <p:sldId id="266" r:id="rId8"/>
    <p:sldId id="267" r:id="rId9"/>
    <p:sldId id="268" r:id="rId10"/>
    <p:sldId id="271" r:id="rId11"/>
    <p:sldId id="276" r:id="rId12"/>
    <p:sldId id="277" r:id="rId13"/>
    <p:sldId id="281" r:id="rId14"/>
    <p:sldId id="282" r:id="rId15"/>
    <p:sldId id="285" r:id="rId16"/>
    <p:sldId id="286" r:id="rId17"/>
    <p:sldId id="287" r:id="rId18"/>
    <p:sldId id="438" r:id="rId19"/>
    <p:sldId id="439" r:id="rId20"/>
    <p:sldId id="290" r:id="rId21"/>
    <p:sldId id="291" r:id="rId22"/>
    <p:sldId id="292" r:id="rId23"/>
    <p:sldId id="293" r:id="rId24"/>
    <p:sldId id="295" r:id="rId25"/>
    <p:sldId id="296" r:id="rId26"/>
    <p:sldId id="297" r:id="rId27"/>
    <p:sldId id="298" r:id="rId28"/>
    <p:sldId id="303" r:id="rId29"/>
    <p:sldId id="311" r:id="rId30"/>
    <p:sldId id="312" r:id="rId31"/>
    <p:sldId id="313" r:id="rId32"/>
    <p:sldId id="314" r:id="rId33"/>
    <p:sldId id="442" r:id="rId34"/>
    <p:sldId id="452" r:id="rId35"/>
    <p:sldId id="317" r:id="rId36"/>
    <p:sldId id="318" r:id="rId37"/>
    <p:sldId id="320" r:id="rId38"/>
    <p:sldId id="323" r:id="rId39"/>
    <p:sldId id="333" r:id="rId40"/>
    <p:sldId id="334" r:id="rId41"/>
    <p:sldId id="338" r:id="rId42"/>
    <p:sldId id="339" r:id="rId43"/>
    <p:sldId id="340" r:id="rId44"/>
    <p:sldId id="343" r:id="rId45"/>
    <p:sldId id="344" r:id="rId46"/>
    <p:sldId id="347" r:id="rId47"/>
    <p:sldId id="349" r:id="rId48"/>
    <p:sldId id="352" r:id="rId49"/>
    <p:sldId id="356" r:id="rId50"/>
    <p:sldId id="357" r:id="rId51"/>
    <p:sldId id="358" r:id="rId52"/>
    <p:sldId id="359" r:id="rId53"/>
    <p:sldId id="383" r:id="rId54"/>
    <p:sldId id="384" r:id="rId55"/>
    <p:sldId id="385" r:id="rId56"/>
    <p:sldId id="386" r:id="rId57"/>
    <p:sldId id="387" r:id="rId58"/>
    <p:sldId id="408" r:id="rId59"/>
    <p:sldId id="411" r:id="rId60"/>
    <p:sldId id="412" r:id="rId61"/>
    <p:sldId id="413" r:id="rId62"/>
    <p:sldId id="414" r:id="rId63"/>
    <p:sldId id="415" r:id="rId64"/>
    <p:sldId id="419" r:id="rId65"/>
    <p:sldId id="420" r:id="rId66"/>
    <p:sldId id="431" r:id="rId67"/>
    <p:sldId id="434" r:id="rId68"/>
    <p:sldId id="450" r:id="rId69"/>
    <p:sldId id="451" r:id="rId70"/>
  </p:sldIdLst>
  <p:sldSz cx="12192000" cy="6858000"/>
  <p:notesSz cx="6858000" cy="9144000"/>
  <p:defaultText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snapToObjects="1">
      <p:cViewPr varScale="1">
        <p:scale>
          <a:sx n="150" d="100"/>
          <a:sy n="150" d="100"/>
        </p:scale>
        <p:origin x="654" y="12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slide" Target="slides/slide65.xml"/><Relationship Id="rId74" Type="http://schemas.openxmlformats.org/officeDocument/2006/relationships/theme" Target="theme/theme1.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presProps" Target="presProps.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 Type="http://schemas.openxmlformats.org/officeDocument/2006/relationships/slide" Target="slides/slide6.xml"/><Relationship Id="rId71"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62.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63.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64.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65.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66.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67.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68.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69.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장에서는 그리디 알고리즘을 배우겠습니다. 표지의 문장처럼, 그리디는 지금 이 순간 가장 좋아 보이는 것을 고르는 방법입니다. 한 번 고른 것은 다시 바꾸지 않습니다. 생각이 단순해서 코드도 짧고 실행도 빠릅니다. 그런데 이렇게 단순한 방법이 언제나 가장 좋은 답을 줄까요? 이번 장 전체의 질문이 바로 이것입니다. 어떤 문제에서는 그리디가 항상 최적해를 주고, 어떤 문제에서는 그럴듯한 답을 내놓고도 틀립니다. 거스름돈과 회의실 배정처럼 익숙한 예제부터 시작하겠습니다. 예제마다 그리디가 무엇을 고르는지 한 단계씩 따라가고, 맞는다면 왜 맞는지, 틀린다면 어떤 입력에서 틀리는지 확인하겠습니다.</a:t>
            </a:r>
          </a:p>
          <a:p>
            <a:r>
              <a:t/>
            </a:r>
          </a:p>
          <a:p>
            <a:r>
              <a:t>오늘은 코드 이름만 외우기보다 문제의 목표와 선택 기준을 먼저 말할 수 있도록 해 보겠습니다. 같은 큰 것부터 고르기라도 동전 종류에 따라 맞거나 틀릴 수 있고, 같은 그래프에서도 연결 비용을 줄이는 일과 이동 거리를 줄이는 일은 다릅니다. 이 차이를 예제와 계산으로 하나씩 확인하는 것이 이번 시간의 중심입니다.</a:t>
            </a:r>
          </a:p>
          <a:p>
            <a:r>
              <a:t/>
            </a:r>
          </a:p>
          <a:p>
            <a:r>
              <a:t>먼저 이번 장의 목차를 보겠습니다.</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 장은 지금 가장 좋아 보이는 것을 먼저 고르는 방법이 언제 통하는지 배우는 시간입니다. 먼저 거스름돈으로 시작하겠습니다. 큰 동전부터 내는 방법은 익숙하지만, 동전 종류가 바뀌면 최소 개수를 놓칠 수 있습니다. 같은 코드 모양인데 왜 결과가 달라지는지 숫자로 확인하겠습니다.</a:t>
            </a:r>
          </a:p>
          <a:p>
            <a:r>
              <a:t>그다음은 회의실 하나에 회의를 최대한 많이 넣는 활동 선택입니다. 시작이 빠른 순서와 길이가 짧은 순서가 왜 실패하는지 보고, 종료가 빠른 순서가 왜 안전한지 설명하겠습니다. 배낭에서는 물건을 조금씩 덜어 담을 수 있는 경우와 통째로만 담는 경우를 나눠 봅니다. 여기까지의 예를 모아 탐욕적 선택 속성과 최적 부분 구조라는 두 조건을 정리하겠습니다.</a:t>
            </a:r>
          </a:p>
          <a:p>
            <a:r>
              <a:t>뒤에서는 점과 선으로 표현한 그래프를 씁니다. 크루스칼은 모든 장소를 연결하는 선의 총비용을 줄이는 방법이고, 다익스트라는 한 출발점에서 각 장소까지 가는 거리를 줄이는 방법입니다. 둘 다 싼 것을 고르는 것처럼 보여도 목표가 다릅니다. 이 차이까지 구별하는 것이 오늘의 목표입니다. 긴 전체 구현은 보충자료에 두고, 여기서는 선택 기준과 실제 계산, 핵심 코드에 집중하겠습니다.</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그리디는 영어 단어 그리디, 탐욕스러운이라는 뜻에서 온 이름입니다. 이름 그대로 매 단계에서 지금 기준으로 가장 좋아 보이는 것 하나를 덥석 고릅니다. 화면 왼쪽의 세 줄이 그리디의 성격입니다. 첫째, 후보를 다 알고 있어도 지금 기준 하나로 고릅니다. 오른쪽 만화의 손님은 뒤쪽 코너에 스테이크와 랍스터가 있는 줄 몰랐습니다. 하지만 그리디가 틀리는 이유는 앞을 못 봐서가 아닙니다. 모든 후보를 알고 있어도 정해 둔 기준, 예를 들어 지금 가장 맛있어 보이는 것이라는 기준으로만 고르기 때문입니다. 둘째, 고른 것은 확정하고 되돌리지 않습니다. 아래 문장처럼 손님은 지금 맛있어 보이는 것이라는 기준 하나로 접시를 채웠고, 담은 음식을 다시 내려놓지 않았습니다. 그래서 접시가 꽉 찬 뒤에 스테이크를 만나도 담을 자리가 없습니다. 셋째, 가능한 완성 해를 모두 만들어서 비교하지 않습니다. 모든 경우를 만들어 비교하는 것은 앞에서 배운 완전탐색의 방식입니다. 그리디는 완성된 답들을 견주지 않고, 한 단계씩 고르며 앞으로만 나아갑니다. 그래서 그리디는 빠릅니다. 되돌아보지 않으니까요. 그리고 같은 이유로 틀릴 수도 있습니다.</a:t>
            </a:r>
          </a:p>
          <a:p>
            <a:r>
              <a:t/>
            </a:r>
          </a:p>
          <a:p>
            <a:r>
              <a:t>후보를 모두 안다는 것과 모든 조합을 비교한다는 것은 다릅니다. 예를 들어 물건의 무게와 가격 목록을 전부 읽고도 비싼 순으로만 고를 수 있습니다. 목록을 다 읽었다고 가능한 배낭 조합을 모두 만든 것은 아닙니다. 또 그리디가 모든 문제에서 빠르다는 보장은 없고, 실제 시간은 정렬과 검사 같은 작업을 따져야 합니다. 여기서 중요한 성격은 앞의 선택을 취소하는 과정이 없다는 것입니다.</a:t>
            </a:r>
          </a:p>
          <a:p>
            <a:r>
              <a:t/>
            </a:r>
          </a:p>
          <a:p>
            <a:r>
              <a:t>다음 화면에서 이 틀릴 수 있다는 말을 산의 그림으로 보겠습니다.</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짙은 안개 속에서 산의 가장 높은 봉우리를 찾는다고 해 봅시다. 지도가 없고 멀리 보이지도 않습니다. 이때 가장 단순한 전략은 지금 서 있는 곳보다 높은 쪽으로 한 걸음씩 오르는 것입니다. 매 걸음 지금 기준의 최선을 고르는 셈이니 그리디와 같은 방식이죠. 이렇게 오르다 보면 어느 쪽으로 가도 내려가기만 하는 곳에 도착합니다. 주변 어디보다 높은 곳, 이것을 지역 최적해, 영어로 로컬 옵티멈이라고 합니다. 그런데 그곳이 산 전체에서 가장 높은 곳이라는 보장은 없습니다. 작은 언덕 꼭대기일 수도 있습니다. 산 전체에서 가장 높은 곳, 우리가 진짜 원하는 답은 전역 최적해, 글로벌 옵티멈입니다. 그림 오른쪽의 등산객은 작은 봉우리에 서 있고, 안개 너머에 더 높은 진짜 정상이 있습니다. 그림에 적힌 국소적 최적해, 로컬 맥시멈은 지역 최적해, 로컬 옵티멈과 같은 말입니다. 화면 아래의 마시멜로 예도 같은 구조입니다. 지금 하나를 먹는 것은 지금만 보면 최선이지만, 기다렸다가 두 개를 받는 쪽이 전체로는 더 좋습니다. 매 걸음의 최선이 모여서 전체의 최선이 되는지는 문제마다 따로 확인해야 합니다. 그 확인 방법은 오 점 오 절에서 정리하겠습니다.</a:t>
            </a:r>
          </a:p>
          <a:p>
            <a:r>
              <a:t/>
            </a:r>
          </a:p>
          <a:p>
            <a:r>
              <a:t>이 그림은 용어를 이해하기 위한 비유입니다. 실제로 다룰 동전과 회의 문제에서 산을 오르는 것은 아닙니다. 그 문제의 목표에 맞게 가장 좋은 답을 따로 정의해야 합니다. 지금 좋아 보이는 한 번의 결정과 끝까지 만든 답의 품질을 구별하자는 뜻입니다. 한 걸음이 유리해 보인다는 이유만으로 전체 답도 가장 좋다고 결론 내릴 수는 없습니다.</a:t>
            </a:r>
          </a:p>
          <a:p>
            <a:r>
              <a:t/>
            </a:r>
          </a:p>
          <a:p>
            <a:r>
              <a:t>다음은 그리디가 매 단계에서 하는 일을 세 단계로 나눠 보겠습니다.</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그리디 알고리즘은 세 단계를 되풀이합니다. 첫 번째는 선택, 영어로 셀렉션입니다. 남은 후보 중에서 지금 기준으로 가장 좋은 것 하나를 고릅니다. 두 번째는 적정성 검사, 피저빌리티입니다. 방금 고른 것을 넣어도 문제의 제약을 어기지 않는지 확인합니다. 어기면 그 후보는 버리고, 어기지 않으면 지금까지의 답에 넣어 확정합니다. 세 번째는 해답 검사, 솔루션입니다. 지금까지 모은 것이 완전한 해답인지 확인하고, 아직 아니면 다시 첫 번째 선택으로 돌아갑니다. 그래서 세 단계는 한 번으로 끝나지 않고 해답이 완성될 때까지 반복됩니다. 아래 의사코드를 보세요. 그리디 함수는 후보 집합 씨를 받습니다. 에스는 지금까지 확정한 선택이고 빈 집합에서 시작합니다. 와일 조건이 해답 검사입니다. 후보가 남아 있고 에스가 아직 해답이 아니면 반복합니다. 반복 안에서는 씨에서 지금 가장 좋은 후보 엑스를 꺼냅니다. 꺼낸 후보는 씨에서 빠집니다. 이것이 선택입니다. 이프에서 에스에 엑스를 더해도 제약을 지키는지 보고, 지키면 에스에 넣습니다. 이것이 적정성 검사입니다. 반복이 끝나면 에스가 해답일 때 돌려주고, 아니면 해가 없다고 알립니다. 이 코드에는 에스에서 원소를 빼는 줄이 없습니다. 한 번 넣은 것은 끝까지 그대로라는 뜻입니다. 이렇게 지금 기준의 최선을 확정하며 나아가고 되돌리지 않는 것이 그리디의 진행 방식입니다.</a:t>
            </a:r>
          </a:p>
          <a:p>
            <a:r>
              <a:t/>
            </a:r>
          </a:p>
          <a:p>
            <a:r>
              <a:t>적정성 검사를 통과했다고 최적이라는 뜻은 아닙니다. 금액을 넘기지 않거나 회의가 겹치지 않는다는 것은 허용되는 선택이라는 뜻일 뿐입니다. 허용된 선택 가운데도 나중의 더 좋은 조합을 막는 선택이 있을 수 있습니다. 마지막 해 없음 역시 이 그리디가 답을 완성하지 못했다는 뜻으로 읽어야 합니다. 알고리즘의 정확성을 별도로 보이지 않았다면 원래 문제에 해가 전혀 없다는 것까지 증명한 것은 아닙니다.</a:t>
            </a:r>
          </a:p>
          <a:p>
            <a:r>
              <a:t/>
            </a:r>
          </a:p>
          <a:p>
            <a:r>
              <a:t>다음 표에서는 문제마다 무엇을 가장 좋은 후보라고 정하는지 비교하겠습니다.</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표는 오늘 배울 내용을 미리 펼쳐 놓은 지도입니다. 지금 전부 외울 필요는 없습니다. 가운데 열의 선택 기준과 마지막 열의 보장 여부가 함께 달라진다는 점을 보겠습니다. 최적해라는 말은 문제에서 요구한 기준으로 가장 좋은 답이라는 뜻입니다. 동전에서는 가장 적은 개수, 회의에서는 가장 많은 개수입니다.</a:t>
            </a:r>
          </a:p>
          <a:p>
            <a:r>
              <a:t>첫 두 줄은 둘 다 큰 동전부터 고릅니다. 오백 원, 백 원, 오십 원, 십 원처럼 단위가 차례로 배수 관계이면 최소 개수를 얻습니다. 하지만 일 원, 삼 원, 사 원에서는 육 원을 만들 때 사 원, 일 원, 일 원의 세 개보다 삼 원 두 개가 낫습니다. 선택 기준이 같아도 입력 조건이 달라지면 보장이 사라집니다.</a:t>
            </a:r>
          </a:p>
          <a:p>
            <a:r>
              <a:t>회의는 가장 먼저 끝나는 회의부터, 쪼갤 수 있는 배낭은 무게당 가치가 높은 물건부터 고르면 최적해를 얻습니다. 쪼갤 수 없는 영 일 배낭에서는 같은 가성비 기준이 실패할 수 있습니다. 크루스칼은 싼 선부터 보되 이미 연결된 곳을 다시 이어 사이클을 만들면 버립니다. 다익스트라는 시작점부터의 현재 거리가 가장 작은 미확정 정점을 고릅니다. 이때 모든 간선 비용이 영 이상이어야 합니다.</a:t>
            </a:r>
          </a:p>
          <a:p>
            <a:r>
              <a:t>따라서 그리디라는 이름만 보고 항상 맞다거나 항상 틀리다고 말하면 안 됩니다. 무엇을 고르는지, 어떤 조건에서 안전한지를 한 쌍으로 기억해야 합니다. 이제 첫 번째 문제인 거스름돈부터 직접 계산하겠습니다.</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편의점 계산대를 떠올려 보세요. 손님에게 천이백육십 원을 거슬러 줘야 합니다. 계산대에는 오백 원, 백 원, 오십 원, 십 원 동전이 충분히 있습니다. 목표는 동전 개수를 최소로 하는 것입니다. 금액만 맞추면 되는 것이 아니라 가장 적은 개수로 맞춰야 합니다. 만화의 점원은 제일 큰 것부터 내겠다고 생각합니다. 이것이 그리디의 기준입니다. 남은 돈 이하의 동전 중에서 가장 큰 동전을 고릅니다. 남은 돈보다 큰 동전은 낼 수 없으니까요. 그리고 그 동전을 한 개씩 세지 않고 낼 수 있는 만큼 한꺼번에 냅니다. 천이백육십 원이면 오백 원은 두 개까지 낼 수 있습니다. 남은 돈은 다음으로 큰 동전에 넘겨 같은 일을 반복합니다. 만화의 결론은 동전 여섯 개입니다.</a:t>
            </a:r>
          </a:p>
          <a:p>
            <a:r>
              <a:t/>
            </a:r>
          </a:p>
          <a:p>
            <a:r>
              <a:t>동전 수를 줄인다는 목표를 십 원짜리만 쓰는 답과 비교해 보겠습니다. 십 원 백스물여섯 개도 금액은 맞지만 동전이 너무 많습니다. 금액이 맞는 것과 개수가 최소인 것은 별개의 조건입니다. 또 동전마다 쓸 수 있는 개수가 제한되어 있다면 지금 문제와 달라집니다. 여기서는 각 종류가 충분하다는 조건 아래 계산하겠습니다.</a:t>
            </a:r>
          </a:p>
          <a:p>
            <a:r>
              <a:t/>
            </a:r>
          </a:p>
          <a:p>
            <a:r>
              <a:t>이 결과가 어떻게 나오는지 다음 화면에서 몫과 나머지로 정리하고, 이어서 한 단계씩 따라가 보겠습니다.</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동전을 한 개씩 빼면서 세면 금액이 클수록 오래 걸립니다. 그래서 나눗셈을 한 번 써서 개수와 남은 돈을 함께 구합니다. 첫 표의 첫 줄을 보세요. 천이백육십을 오백으로 나눈 몫은 이입니다. 파이썬에서는 슬래시 두 개로 몫을 구합니다. 오백 원을 두 개 쓴다는 뜻입니다. 둘째 줄은 나머지입니다. 퍼센트 기호가 나머지 연산이고, 천이백육십을 오백으로 나눈 나머지는 이백육십입니다. 오백 원 두 개로 천 원을 내고 남은 돈이 이백육십 원이라는 뜻이죠. 이 이백육십 원이 다음 동전으로 넘어갑니다. 나누기 기호로 천이백육십 나누기 오백을 계산하면 이 점 오이가 나옵니다. 동전을 이 점 오이 개 쓸 수는 없습니다. 그래서 소수가 아니라 몫과 나머지로 생각합니다. 몫이 쓸 개수이고, 나머지가 남은 돈입니다. 아래 표는 그리디의 세 단계를 거스름돈에 대응한 것입니다. 선택은 남은 돈 이하의 가장 큰 동전입니다. 적정성 검사는 몫만큼 써도 남은 돈을 넘지 않는지인데, 몫으로 구한 개수는 처음부터 남은 돈을 넘지 않습니다. 해답 검사는 남은 돈이 영 원인지 확인하는 것입니다.</a:t>
            </a:r>
          </a:p>
          <a:p>
            <a:r>
              <a:t/>
            </a:r>
          </a:p>
          <a:p>
            <a:r>
              <a:t>몫과 나머지를 함께 쓰는 이유는 현재 금액이 동전 금액 곱하기 몫에 나머지를 더한 값으로 나뉘기 때문입니다. 천이백육십은 오백 곱하기 이에 이백육십을 더한 값입니다. 이미 낸 천 원은 다시 처리하지 않고 이백육십만 넘깁니다. 순서를 바꿔 나머지부터 저장하면 원래 금액을 잃기 때문에, 코드에서도 개수를 먼저 더한 뒤 남은 금액을 갱신하겠습니다.</a:t>
            </a:r>
          </a:p>
          <a:p>
            <a:r>
              <a:t/>
            </a:r>
          </a:p>
          <a:p>
            <a:r>
              <a:t>이제 천이백육십 원을 한 단계씩 따라가 보겠습니다.</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단계입니다. 남은 돈은 천이백육십 원입니다. 위 줄은 동전 배열이고, 아래 줄은 동전마다 몇 개를 썼는지 적는 칸입니다. 파란 칸이 지금 보는 동전입니다. 아직 쓰지 않은 동전의 칸은 점으로 비워 두었습니다. 오른쪽 표의 선택부터 보겠습니다. 천이백육십 원 이하인 동전 가운데 가장 큰 것은 오백 원입니다. 천이백육십을 오백으로 나눈 몫은 이이므로 오백 원을 두 개 씁니다. 두 개면 천 원이고 천이백육십 원을 넘지 않으니 적정성 검사도 통과합니다. 나머지는 이백육십입니다. 해답 검사를 보면 남은 돈이 이백육십 원이라 아직 영이 아니므로 계속합니다. 아래 노란 상자의 남은 돈이 이백육십 원으로 바뀌었습니다. 여기서 오백 원 두 개는 확정입니다. 뒤에서 오백 원의 개수를 다시 고치는 일은 없습니다.</a:t>
            </a:r>
          </a:p>
          <a:p>
            <a:r>
              <a:t/>
            </a:r>
          </a:p>
          <a:p>
            <a:r>
              <a:t>현재 누적 개수는 둘이고, 앞으로 처리할 금액은 이백육십입니다. 남은 돈 이백육십을 그대로 동전 개수에 더하는 것이 아닙니다. 돈과 개수의 단위가 다르기 때문입니다. 다음 동전에서도 나눈 몫만 개수에 더하고, 나머지만 다음 금액으로 넘긴다는 두 역할을 분리해서 보겠습니다.</a:t>
            </a:r>
          </a:p>
          <a:p>
            <a:r>
              <a:t/>
            </a:r>
          </a:p>
          <a:p>
            <a:r>
              <a:t>이제 남은 이백육십 원을 백 원, 오십 원, 십 원 순서로 처리한 결과까지 이어서 보겠습니다.</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화면은 거스름돈을 모두 낸 마지막 상태입니다. 앞에서 오백 원 두 개를 내고 이백육십 원이 남았습니다. 중간 계산도 이어서 해 보겠습니다. 이백육십을 백으로 나눈 몫은 이입니다. 백 원 두 개를 더 내면 이백 원을 낸 것이고, 남은 돈은 육십 원입니다. 지금까지 쓴 동전은 네 개입니다.</a:t>
            </a:r>
          </a:p>
          <a:p>
            <a:r>
              <a:t>이제 육십 원을 오십 원으로 나눕니다. 몫은 일, 나머지는 십입니다. 오십 원 하나를 내서 누적 다섯 개가 되고 십 원이 남습니다. 마지막으로 십 원을 십 원으로 나누면 몫 일, 나머지 영입니다. 십 원 하나를 더 내면 화면처럼 남은 돈이 영이 되고, 동전은 여섯 개입니다.</a:t>
            </a:r>
          </a:p>
          <a:p>
            <a:r>
              <a:t>금액과 개수를 따로 검산해 보겠습니다. 오백 원 두 개로 천 원, 백 원 두 개로 이백 원, 오십 원 하나와 십 원 하나로 육십 원입니다. 금액 합은 천이백육십 원이 맞습니다. 개수 합은 두 개 더하기 두 개 더하기 한 개 더하기 한 개로 여섯 개입니다. 동전 금액을 더한 값과 동전 개수를 더한 값을 혼동하면 안 됩니다.</a:t>
            </a:r>
          </a:p>
          <a:p>
            <a:r>
              <a:t>이 과정에서 오백 원을 두 개 내기로 한 결정을 나중에 취소하지 않았습니다. 앞의 동전으로 낼 수 있는 만큼 낸 뒤 나머지만 다음 동전으로 넘겼습니다. 지금은 금액이 맞는 답을 만들었다는 것까지 확인했습니다. 여섯 개보다 적게는 불가능하다는 설명은 뒤의 배수 조건에서 하겠습니다. 먼저 반복 횟수가 무엇에 따라 늘어나는지 보겠습니다.</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시간 복잡도를 볼 때는 무엇의 개수로 셀지가 중요합니다. 여기서는 동전 종류의 수를 케이라고 하겠습니다. 오백, 백, 오십, 십 원이면 케이는 사입니다. 표를 보세요. 천이백육십 원을 거슬러 줄 때 포 문은 네 번 돕니다. 금액을 천 배 늘려 백이십육만 원이 되어도 포 문은 여전히 네 번입니다. 반복 한 번에서 하는 일은 몫과 나머지 계산 한 번씩입니다. 금액이 커도 나눗셈 한 번이면 개수가 나오므로 반복 한 번은 오 일입니다. 오른쪽 열은 동전을 한 개씩 빼는 방법입니다. 천이백육십 원이면 여섯 번 빼면 되지만, 백이십육만 원이면 오백 원만 이천오백이십 번 빼야 합니다. 이 방법은 반복 횟수가 금액에 비례해서 늘어납니다. 몫과 나머지를 쓰면 반복 횟수가 금액이 아니라 동전 종류 수로 정해집니다. 그래서 전체 시간은 케이 곱하기 오 일, 오 케이입니다. 단, 이것은 목록이 이미 큰 단위부터 적혀 있을 때입니다. 동전 목록이 섞여서 주어져 먼저 정렬해야 한다면 정렬에 드는 오 케이 로그 케이가 더해집니다. 또 마지막 줄처럼, 지금처럼 동전 종류가 정해져 있으면 케이는 상수이므로 오 일이라고도 씁니다. 그런데 큰 동전부터 고른 결과가 왜 최소 개수일까요?</a:t>
            </a:r>
          </a:p>
          <a:p>
            <a:r>
              <a:t/>
            </a:r>
          </a:p>
          <a:p>
            <a:r>
              <a:t>고정된 네 종류 문제에서 일정한 시간이라는 말은 실제 실행 시간이 언제나 정확히 같은 초라는 뜻은 아닙니다. 입력 금액이 커져도 반복 횟수가 늘지 않는다는 뜻입니다. 여기서는 주어진 크기의 정수 연산을 한 번의 작업으로 세는 일반적인 분석을 쓰고 있습니다. 금액 자체의 숫자 자릿수가 끝없이 늘어나는 별도 계산 모델까지 같은 말로 단정하지는 않겠습니다.</a:t>
            </a:r>
          </a:p>
          <a:p>
            <a:r>
              <a:t/>
            </a:r>
          </a:p>
          <a:p>
            <a:r>
              <a:t>다음 화면에서 한국 동전의 배수 조건으로 설명하겠습니다.</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왜 큰 동전부터 내면 개수가 최소일까요? 오늘의 동전은 오백 원, 백 원, 오십 원, 십 원이고, 각 동전은 충분히 많다고 하겠습니다. 큰 단위가 바로 아래 단위의 정수배라는 점이 핵심입니다. 오십 원은 십 원 다섯 개, 백 원은 오십 원 두 개, 오백 원은 백 원 다섯 개와 같습니다.</a:t>
            </a:r>
          </a:p>
          <a:p>
            <a:r>
              <a:t>가장 적은 동전을 쓴 답을 하나 생각해 보겠습니다. 거기에 십 원이 다섯 개 이상 있다면, 십 원 다섯 개를 오십 원 하나로 바꿀 수 있습니다. 금액은 오십 원 그대로인데 동전은 다섯 개에서 한 개로 줄어듭니다. 그러면 처음 답이 최소였다는 말과 맞지 않습니다. 따라서 최소인 답에는 십 원이 네 개 이하만 남아야 합니다. 같은 이유로 오십 원은 한 개 이하, 백 원은 네 개 이하만 남아야 합니다.</a:t>
            </a:r>
          </a:p>
          <a:p>
            <a:r>
              <a:t>이렇게 작은 동전부터 큰 동전으로 올려 바꾸고 나면, 오백 원보다 작은 동전이 나타낼 수 있는 합은 최대 사백구십 원입니다. 백 원 네 개, 오십 원 한 개, 십 원 네 개를 더한 값입니다. 그러니 천이백육십 원을 만들 때 오백 원을 한 개만 쓰고 나머지 칠백육십 원을 작은 동전으로 채우는 모습은 최소일 수 없습니다. 작은 동전을 바꾸면 오백 원을 하나 더 만들 수 있기 때문입니다. 최소인 답도 오백 원을 두 개 써야 합니다.</a:t>
            </a:r>
          </a:p>
          <a:p>
            <a:r>
              <a:t>그다음 남은 이백육십 원에도 같은 논리를 적용하면 백 원 두 개, 오십 원 하나, 십 원 하나가 남습니다. 이것이 큰 동전부터 몫을 구한 그리디와 같습니다. 일반적인 배수 관계의 동전에서도 작은 단위 묶음을 차례로 올려 바꾸면 같은 결론을 얻습니다. 단, 배수 조건은 충분조건입니다. 배수 관계가 아니면 무조건 틀린다는 뜻이 아니라 이 설명으로는 최적을 보장할 수 없다는 뜻입니다. 이제 실제로 실패하는 동전을 보겠습니다.</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연습문제 하나를 풀어 보겠습니다. 동전은 일 원, 삼 원, 사 원 세 종류이고 각각 무제한으로 쓸 수 있습니다. 목표는 정확히 육 원을 가장 적은 개수로 만드는 것입니다. 오른쪽에 이 조건을 적었습니다. 이번 그리디는 동전을 한 개씩 고릅니다. 남은 금액을 넘지 않는 동전 중 가장 큰 것을 하나 고르고, 남은 돈이 영 원이 될 때까지 반복합니다. 앞에서처럼 몫으로 한꺼번에 고르든 한 개씩 고르든 결과는 같습니다. 위의 문장이 반박할 주장입니다. 이 방법이 어떤 화폐 체계에서도 항상 동전 수를 최소로 만든다는 주장이죠. 이것을 반박하려면 무엇을 보이면 될까요? 지금은 아직 아무것도 고르지 않은 처음 상태입니다. 위 줄은 동전 사, 삼, 일을 큰 순서로 놓은 것이고, 아래 줄은 동전마다 쓴 개수입니다. 남은 돈은 육 원입니다.</a:t>
            </a:r>
          </a:p>
          <a:p>
            <a:r>
              <a:t/>
            </a:r>
          </a:p>
          <a:p>
            <a:r>
              <a:t>각각 무제한이라는 조건 때문에 삼 원을 두 번 써도 되고 일 원을 여러 번 써도 됩니다. 반례를 찾는 동안에도 정확히 육 원을 만든다는 조건은 지켜야 합니다. 사 원과 삼 원을 고르면 칠 원이라 허용되지 않고, 사 원 하나만 고르면 이 원이 부족하니 아직 답이 아닙니다. 먼저 정해 둔 규칙대로 끝까지 계산한 결과와 다른 유효한 답을 비교하겠습니다.</a:t>
            </a:r>
          </a:p>
          <a:p>
            <a:r>
              <a:t/>
            </a:r>
          </a:p>
          <a:p>
            <a:r>
              <a:t>먼저 그리디가 실제로 무엇을 고르는지 한 단계씩 따라가 보겠습니다.</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선택입니다. 남은 돈 육 원 이하의 동전은 사 원, 삼 원, 일 원 모두입니다. 그중 가장 큰 사 원을 고릅니다. 사 원은 남은 돈을 가장 많이 줄여 주는 동전이므로, 지금 기준으로는 가장 좋은 선택입니다. 동전 줄의 파란 칸과 화살표가 이 선택입니다. 적정성 검사에서 사 원은 육 원을 넘지 않으므로 통과합니다. 사 원 하나를 확정하고, 남은 돈은 육 빼기 사, 이 원이 됩니다. 사용 개수 줄의 사 원 자리에 일을 적었습니다. 해답 검사에서는 남은 돈이 이 원이므로 아직 영이 아닙니다. 계속합니다. 이 사 원은 이제 되돌리지 않습니다. 이 선택이 좋았는지는 끝까지 가 봐야 알 수 있는데, 그리디는 끝까지 간 뒤에도 돌아와서 확인하지 않습니다.</a:t>
            </a:r>
          </a:p>
          <a:p>
            <a:r>
              <a:t/>
            </a:r>
          </a:p>
          <a:p>
            <a:r>
              <a:t>남은 이 원에는 사 원도 삼 원도 너무 큽니다. 따라서 일 원 하나를 골라 일 원을 남기고, 다시 일 원 하나를 골라 영 원으로 만듭니다. 최종 선택은 사 원 한 개와 일 원 두 개, 총 세 개입니다. 처음 사 원은 쓸 수 있는 동전이었으므로 적정성 검사에는 문제가 없었습니다. 그런데도 개수가 최소인지는 별도 문제입니다. 다음에는 사 원을 고르지 않는 답과 비교하겠습니다.</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사 원을 처음에 쓰지 않으면 어떻게 될까요? 삼 원 두 개면 정확히 육 원입니다. 동전 두 개입니다. 맨 아래 줄의 초록 칸이 이 해입니다. 두 줄을 비교해 보세요. 그리디는 사, 일, 일로 세 개, 최적해는 삼, 삼으로 두 개입니다. 두 개가 세 개보다 적으므로 그리디의 답은 최소가 아닙니다. 이것으로 반박이 끝났습니다. 동전 일, 삼, 사 원으로 육 원을 만드는 입력 하나에서 그리디가 최소 개수를 내지 못했으니, 어떤 화폐 체계에서도 항상 최소라는 주장은 거짓입니다. 반박을 글로 쓸 때는 오른쪽 아래처럼 그리디의 결과, 더 좋은 해, 그리고 두 개수의 비교를 모두 적습니다. 첫 선택에서 가장 큰 사 원을 잡는 바람에 삼 원 두 개라는 더 좋은 조합이 막혔습니다.</a:t>
            </a:r>
          </a:p>
          <a:p>
            <a:r>
              <a:t/>
            </a:r>
          </a:p>
          <a:p>
            <a:r>
              <a:t>여기서는 실제 최소가 두 개라는 것까지 쉽게 확인할 수 있습니다. 한 개로 육 원을 만들려면 육 원짜리 동전이 있어야 하는데 없습니다. 삼 원 두 개로는 만들 수 있으니 최소는 두 개입니다. 다만 큰 동전 그리디가 항상 맞는다는 주장을 깨는 데는 여기까지의 최소 증명도 꼭 필요한 것은 아닙니다. 그리디의 세 개보다 적은 유효한 두 개짜리 답만 있어도 이미 반박됩니다.</a:t>
            </a:r>
          </a:p>
          <a:p>
            <a:r>
              <a:t/>
            </a:r>
          </a:p>
          <a:p>
            <a:r>
              <a:t>다음 화면에서 반박이 성립하려면 무엇이 필요한지 정리하겠습니다.</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그리디는 항상 최적이다라는 주장은 모든 입력에 대한 주장입니다. 그래서 맞지 않는 입력이 단 하나만 있어도 거짓이 됩니다. 이렇게 주장을 깨는 입력을 반례라고 합니다. 반례에는 조건이 있습니다. 첫째, 문제의 조건을 지키는 입력이어야 합니다. 동전 일, 삼, 사 원과 금액 육 원은 문제가 허용하는 입력입니다. 문제의 조건을 어긴 입력에서 틀리는 것은 반박이 되지 않습니다. 그런 입력은 처음부터 문제 밖이기 때문입니다. 둘째, 그리디의 결과보다 더 좋은 해를 보여야 합니다. 우리는 세 개보다 적은 두 개를 보였습니다. 그리디와 개수가 같은 다른 해를 찾는 것은 반례가 아닙니다. 답이 여러 개일 수 있을 뿐 그리디가 틀린 것은 아니니까요. 셋째, 하나면 충분합니다. 반례를 여러 개 모을 필요가 없습니다. 또 그리디가 느리게 도는 입력을 찾는 것은 최적성과 관계가 없습니다. 여기서 반박하는 것은 답이 가장 좋은가이지, 빠른가가 아닙니다. 반대 방향도 기억하세요. 예제 몇 개에서 그리디가 맞았다고 해서 항상 최적이 증명되지는 않습니다. 작은 입력을 여러 개 확인해도 다른 입력에서 틀릴 수 있습니다. 맞다는 것은 증명으로 보여야 하고, 그 방법은 뒤의 활동 선택 예제와 그리디가 통하는 조건에서 다룹니다.</a:t>
            </a:r>
          </a:p>
          <a:p>
            <a:r>
              <a:t/>
            </a:r>
          </a:p>
          <a:p>
            <a:r>
              <a:t>또 최적값과 선택 목록을 구별해야 합니다. 동전 조합이 달라도 개수가 같은 최소 답이 여러 개 있을 수 있습니다. 회의도 고른 번호가 달라도 최대 개수가 같을 수 있습니다. 다른 답을 찾았다는 사실만으로 오답이라고 하면 안 되고, 문제에서 비교하는 값이 실제로 더 나은지 확인해야 합니다.</a:t>
            </a:r>
          </a:p>
          <a:p>
            <a:r>
              <a:t/>
            </a:r>
          </a:p>
          <a:p>
            <a:r>
              <a:t>다음은 일 원을 더한 다섯 종류 동전으로 개수를 세는 연습입니다.</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일 원까지 포함한 다섯 종류의 동전으로 최소 개수를 돌려주는 함수를 만들겠습니다. 함수 이름은 코인 카운트입니다. 입력 어마운트는 거슬러 줄 금액이고, 반환할 값은 동전의 총개수입니다. 동전 종류는 오백, 백, 오십, 십, 일 원입니다. 모두 바로 아래 단위의 배수이므로 앞의 그리디를 그대로 적용할 수 있습니다.</a:t>
            </a:r>
          </a:p>
          <a:p>
            <a:r>
              <a:t>처음 카운트는 영입니다. 아직 동전을 하나도 쓰지 않았기 때문입니다. 각 동전을 큰 것부터 보면서 현재 금액을 그 동전으로 나눈 몫을 카운트에 더합니다. 그다음 현재 금액을 나머지로 바꿉니다. 카운트는 지금까지 쓴 개수이고, 어마운트는 앞으로 더 내야 하는 돈입니다. 두 변수가 서로 다른 역할이라는 점을 기억하세요.</a:t>
            </a:r>
          </a:p>
          <a:p>
            <a:r>
              <a:t>천이백육십삼 원으로 계산하겠습니다. 오백 원 두 개를 써서 이백육십삼 원이 남습니다. 백 원 두 개를 더 써서 육십삼 원, 오십 원 하나를 써서 십삼 원, 십 원 하나를 써서 삼 원이 남습니다. 마지막에는 일 원 세 개를 씁니다. 누적 개수는 이, 사, 오, 육, 구 순서로 바뀌고, 최종 반환값은 아홉입니다. 일 원이 있으므로 남는 금액 없이 정확하게 만들 수 있습니다.</a:t>
            </a:r>
          </a:p>
          <a:p>
            <a:r>
              <a:t>영 원이면 모든 몫이 영이라 결과도 영입니다. 금액이 십억 원이어도 반복은 다섯 번입니다. 동전을 한 개씩 빼는 것이 아니라 종류마다 나눗셈 한 번으로 개수를 구하므로, 정해진 다섯 종류에 대해서는 일정한 시간입니다. 이제 이 동작을 파이썬과 씨 코드에서 각각 확인하겠습니다.</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파이썬 코드의 첫 줄은 코인 카운트라는 함수를 정의합니다. 괄호 안의 어마운트는 호출할 때 받은 금액입니다. 이 함수 안에서 입력을 다시 읽거나 결과를 출력하지는 않습니다. 마지막 리턴으로 계산한 개수를 돌려줍니다.</a:t>
            </a:r>
          </a:p>
          <a:p>
            <a:r>
              <a:t>카운트에 영을 넣는 줄은 동전 개수를 세기 위한 준비입니다. 다음 포 문은 코인에 오백, 백, 오십, 십, 일을 차례대로 넣습니다. 코인은 동전 한 개의 금액이고, 카운트는 동전 몇 개를 썼는지입니다. 같은 숫자를 세는 변수가 아닙니다. 이 목록이 큰 순서로 되어 있기 때문에 별도 정렬은 없습니다.</a:t>
            </a:r>
          </a:p>
          <a:p>
            <a:r>
              <a:t>반복 안의 첫 줄에서 슬래시 두 개는 몫입니다. 어마운트를 코인으로 나눈 몫만큼 그 동전을 쓸 수 있으므로, 그 값을 카운트에 누적합니다. 더하기 이퀄은 기존 값에 오른쪽 값을 더해 다시 저장한다는 뜻입니다. 다음 줄의 퍼센트 이퀄은 나머지를 구해 어마운트에 다시 저장합니다. 이 순서가 중요합니다. 원래 남은 금액으로 사용할 개수를 먼저 계산한 뒤, 이미 낸 돈을 제외한 나머지로 바꿉니다.</a:t>
            </a:r>
          </a:p>
          <a:p>
            <a:r>
              <a:t>천이백육십삼을 넣으면 첫 반복에서 몫 이는 카운트에 들어가고 나머지 이백육십삼은 어마운트에 들어갑니다. 백 원 차례에는 개수를 두 개 더해 카운트 사, 남은 돈 육십삼입니다. 오십 원 뒤에는 카운트 오와 남은 돈 십삼, 십 원 뒤에는 카운트 육과 남은 돈 삼, 일 원 뒤에는 카운트 구와 남은 돈 영입니다. 반복이 끝난 뒤 리턴 카운트가 아홉을 돌려줍니다.</a:t>
            </a:r>
          </a:p>
          <a:p>
            <a:r>
              <a:t>리턴이 포 문 안이 아니라 바깥에 있다는 점도 보세요. 안쪽에 넣으면 오백 원만 처리하고 함수가 끝나 버립니다. 입력이 영이어도 별도 처리가 필요 없습니다. 다섯 몫이 전부 영이므로 영을 반환합니다. 이 코드는 동전 종류가 고정되어 있어 시간도 추가 공간도 일정합니다. 종류 수를 따로 늘리는 일반 문제라면 그 종류 수만큼 반복합니다.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428722563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씨 코드도 하는 일은 같습니다. 맨 앞 인트는 함수가 정수 하나를 반환한다는 뜻입니다. 코인 카운트의 매개변수 어마운트로 금액을 받습니다. 여기서 어마운트는 함수 안에서 쓰는 값의 복사본이므로, 나머지로 바꿔도 함수를 부른 쪽의 원래 금액 변수를 바꾸는 것은 아닙니다.</a:t>
            </a:r>
          </a:p>
          <a:p>
            <a:r>
              <a:t>코인즈 배열에는 오백, 백, 오십, 십, 일이 큰 순서대로 들어 있습니다. 카운트는 영으로 시작합니다. 포 문의 아이는 영부터 시작하는 배열 위치입니다. 아이가 오보다 작은 동안 반복하고, 한 번 끝날 때마다 하나씩 늘어납니다. 따라서 위치 영, 일, 이, 삼, 사의 다섯 칸을 읽습니다. 코인즈 아이가 그 차례의 동전 금액입니다.</a:t>
            </a:r>
          </a:p>
          <a:p>
            <a:r>
              <a:t>카운트에 더하는 식을 보겠습니다. 씨에서는 정수끼리 슬래시 하나로 나누면 정수 몫이 나옵니다. 이 문제의 금액은 음수가 아니므로 파이썬의 몫 연산과 같은 결과입니다. 어마운트를 현재 동전 금액으로 나눈 몫을 누적하고, 다음 줄에서 퍼센트 연산으로 남은 금액만 어마운트에 저장합니다. 퍼센트는 비율이나 백분율이 아니라 나머지 연산입니다.</a:t>
            </a:r>
          </a:p>
          <a:p>
            <a:r>
              <a:t>천이백육십삼을 넣었을 때 오백 원에서 두 개와 남은 이백육십삼, 백 원에서 두 개와 육십삼, 오십 원에서 한 개와 십삼, 십 원에서 한 개와 삼, 일 원에서 세 개와 영이 됩니다. 카운트의 최종값은 아홉입니다. 닫는 중괄호 뒤의 리턴은 다섯 동전을 전부 처리한 후 실행됩니다. 출력문이 아니라 함수의 결과를 넘기는 줄입니다.</a:t>
            </a:r>
          </a:p>
          <a:p>
            <a:r>
              <a:t>금액이 영이면 그대로 영을 돌려줍니다. 주어진 범위가 영 이상 십억 이하라면 이 코드에서 금액과 개수는 일반적인 삼십이 비트 인트 범위에 들어갑니다. 입력 범위가 더 큰 별도 문제에서는 자료형도 다시 확인해야 합니다. 배열 다섯 칸을 한 번씩 읽으므로 정해진 동전에 대한 시간은 일정합니다. 이제 동전에서 회의실 배정으로 문제를 바꿔 보겠습니다.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222247209"/>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회사에 회의실이 하나 있다고 해 봅시다. 오늘 하루 회의실을 쓰겠다는 요청이 여러 건 들어왔고, 요청마다 시작 시각과 종료 시각이 정해져 있습니다. 만화 왼쪽처럼 요청이 몰려 담당자가 곤란해하는 상황입니다. 그림 속 세미나실은 이 강의에서 말하는 회의실입니다. 회의 하나를 활동, 영어로 액티비티라고 부릅니다. 그래서 이 문제의 이름이 활동 선택 문제입니다. 회의실은 한 번에 한 회의만 쓸 수 있습니다. 시간이 겹치는 두 회의는 함께 넣을 수 없고, 회의를 도중에 끊을 수도 없습니다. 목표를 정확히 봐야 합니다. 만화 오른쪽에서 사장님이 말하듯 중요한 것은 얼마나 오래가 아니라 최대한 많은 팀입니다. 회의실을 쓰는 시간의 합을 늘리는 것이 아니라, 넣은 회의의 개수를 최대로 만드는 것이 목표입니다. 그럼 두 회의가 겹친다는 것은 정확히 무엇일까요? 한 회의가 끝나는 바로 그 시각에 다음 회의가 시작하면 겹치는 걸까요?</a:t>
            </a:r>
          </a:p>
          <a:p>
            <a:r>
              <a:t/>
            </a:r>
          </a:p>
          <a:p>
            <a:r>
              <a:t>회의마다 중요도나 수익을 따로 주지 않았다는 점도 중요합니다. 여기서는 모든 회의가 개수 하나로 똑같이 셉니다. 만약 어떤 회의는 십 점이고 어떤 회의는 일 점이라서 총수익을 최대화하라고 바꾸면 다른 문제입니다. 지금 배울 빠른 종료 기준을 그런 문제에도 그대로 적용하면 안 됩니다.</a:t>
            </a:r>
          </a:p>
          <a:p>
            <a:r>
              <a:t/>
            </a:r>
          </a:p>
          <a:p>
            <a:r>
              <a:t>다음 화면에서 이 규칙을 먼저 정하겠습니다.</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회의 시간은 대괄호와 소괄호를 섞어 씁니다. 화면 위의 문장을 보세요. 일 콤마 사 구간은 일시에 시작해서 사시에 끝나는 회의입니다. 왼쪽의 대괄호는 일시를 포함한다는 뜻이고, 오른쪽의 소괄호는 사시를 포함하지 않는다는 뜻입니다. 그래서 이 회의는 일시부터 사시 직전까지 회의실을 씁니다. 사시를 포함하지 않으므로 사시가 되는 순간 회의실은 비어 있습니다. 그러니 사시에 시작하는 사 콤마 육 구간의 회의는 바로 이어서 회의실을 쓸 수 있습니다. 타임라인의 주황 점선이 사시입니다. 첫 회의의 끝과 둘째 회의의 시작이 같은 선 위에 있지만 겹치지 않습니다. 일시에서 사시 회의와 사시에서 육시 회의는 함께 고를 수 있습니다. 규칙으로 쓰면 이렇습니다. 다음 회의가 시작하는 시각이 앞 회의가 끝나는 시각보다 크거나 같으면 두 회의는 겹치지 않습니다. 크다가 아니라 크거나 같다라는 점이 중요합니다. 사는 사 이상이므로 통과입니다. 셋째 줄의 삼시에서 오시 회의는 다릅니다. 사시 전인 삼시에 시작하므로 일시에서 사시 회의와 겹치고, 사시 뒤인 오시에 끝나므로 사시에 시작하는 회의와도 겹칩니다. 그래서 이 세 회의 중에서는 일시에서 사시, 사시에서 육시 회의 두 개를 고르는 것이 최대입니다. 이 규칙을 기억하고 어떤 기준으로 회의를 골라야 할지 생각해 보겠습니다.</a:t>
            </a:r>
          </a:p>
          <a:p>
            <a:r>
              <a:t/>
            </a:r>
          </a:p>
          <a:p>
            <a:r>
              <a:t>종료 시각을 포함하지 않는다고 회의 길이가 줄어드는 것은 아닙니다. 일시부터 사시까지는 세 시간입니다. 겹침을 판단할 때 사시라는 경계에서 다음 회의를 허용한다는 약속입니다. 준비나 청소에 한 시간이 필요하다는 조건이 추가된다면 비교식에도 그 시간을 넣어야 하지만, 지금 문제에는 그런 추가 시간이 없습니다.</a:t>
            </a:r>
          </a:p>
          <a:p>
            <a:r>
              <a:t/>
            </a:r>
          </a:p>
          <a:p>
            <a:r>
              <a:t>먼저 가장 그럴듯한 기준, 일찍 시작하는 회의부터 고르기를 시험해 보겠습니다.</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직관은 일찍 시작하는 회의부터 고르는 것입니다. 부지런한 새가 벌레를 잡는다는 말처럼 먼저 시작하는 회의를 먼저 넣는 방법이죠. 회의 세 개로 시험해 보겠습니다. 일시에서 십시, 이시에서 삼시, 사시에서 오시 회의를 시작이 빠른 순서로 위에서부터 놓았습니다. 첫 번째로 시작이 가장 빠른 일시에서 십시 회의를 봅니다. 아직 고른 회의가 없으니 겹칠 것도 없습니다. 이 회의를 고릅니다. 이제 회의실은 십시까지 사용 중입니다. 주황 점선이 십시를 표시합니다. 두 번째로 이시에서 삼시 회의를 봅니다. 이시에 시작하는데 회의실은 십시까지 쓰이고 있습니다. 이가 십보다 작으므로 겹칩니다. 건너뜁니다. 세 번째 사시에서 오시 회의도 사시에 시작해서 사가 십보다 작습니다. 역시 겹치므로 건너뜁니다. 결과는 회의 한 개입니다. 일찍 시작한 긴 회의 하나가 하루를 거의 다 차지해서, 그 안에 짧게 들어갈 수 있던 회의들이 모두 밀려났습니다. 그럼 실제로는 몇 개까지 넣을 수 있었을까요?</a:t>
            </a:r>
          </a:p>
          <a:p>
            <a:r>
              <a:t/>
            </a:r>
          </a:p>
          <a:p>
            <a:r>
              <a:t>긴 회의가 나쁘고 짧은 회의가 항상 좋다는 뜻으로 결론 내리지는 않겠습니다. 이 입력에서는 일찍 시작하는 기준이 긴 회의 하나를 먼저 고르게 해서 실패했습니다. 반례가 보여 주는 것은 이 기준이 모든 입력에서 최대 개수를 보장하지 못한다는 것뿐입니다. 다음 예에서는 그리디와 더 좋은 목록의 개수를 직접 비교하겠습니다.</a:t>
            </a:r>
          </a:p>
          <a:p>
            <a:r>
              <a:t/>
            </a:r>
          </a:p>
          <a:p>
            <a:r>
              <a:t>다음 화면에서 비교하겠습니다.</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위의 타임라인은 시작 순 그리디의 결과, 아래는 더 좋은 선택입니다. 일시에서 십시 회의를 버리면 이시에서 삼시, 사시에서 오시 회의를 함께 넣을 수 있습니다. 앞의 회의가 삼시에 끝나고 뒤의 회의는 사시에 시작하므로 겹치지 않습니다. 그리디는 한 개, 더 좋은 선택은 두 개입니다. 문제의 조건을 지키는 활동 세 개짜리 입력 하나에서 그리디보다 많이 고르는 방법을 보였습니다. 그러니 시작이 빠른 순으로 고르는 방법은 최적해를 보장하지 않습니다. 거스름돈에서 본 것처럼 반례 하나로 충분합니다. 이 반례를 글로 쓸 때는 세 가지를 적으면 됩니다. 그리디가 고르는 활동은 일시에서 십시 회의 한 개, 실제로 가장 많이 고를 수 있는 활동은 이시에서 삼시와 사시에서 오시 회의 두 개, 그리고 한 개가 두 개보다 적다는 비교입니다. 이 기준이 틀린 이유는 시작 시각만 보고, 그 회의가 회의실을 얼마나 오래 붙잡는지는 보지 않았기 때문입니다. 그렇다면 짧은 회의부터 고르면 어떨까요?</a:t>
            </a:r>
          </a:p>
          <a:p>
            <a:r>
              <a:t/>
            </a:r>
          </a:p>
          <a:p>
            <a:r>
              <a:t>여기서 일시에서 십시 회의를 나중에 취소하면 두 개를 넣을 수 있습니다. 하지만 처음부터 고른 것을 되돌리지 않는 규칙을 정했으므로, 그것은 원래의 시작 순 그리디가 아닙니다. 결과가 틀린 뒤 예외적으로 한 번 취소하는 것이 아니라, 어떤 첫 선택이 안전한지 기준 자체를 다시 찾아야 합니다.</a:t>
            </a:r>
          </a:p>
          <a:p>
            <a:r>
              <a:t/>
            </a:r>
          </a:p>
          <a:p>
            <a:r>
              <a:t>다음 표의 두 번째 예에서 함께 확인하겠습니다.</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맞는 기준은 가장 먼저 끝나는 회의부터 고르는 것입니다. 여기서 그냥 종료 시각 순서대로 전부 선택한다는 뜻은 아닙니다. 종료 순서로 살펴보되, 이미 고른 회의와 겹치지 않는 것만 선택합니다. 그중 가장 먼저 끝나는 회의가 회의실을 가장 빨리 비워 주므로 뒤의 회의를 넣을 여지를 남깁니다.</a:t>
            </a:r>
          </a:p>
          <a:p>
            <a:r>
              <a:t>라스트 엔드는 마지막으로 선택한 회의의 종료 시각입니다. 회의를 종료 시각이 작은 순서로 정렬하고 앞에서부터 읽습니다. 지금 회의의 시작이 라스트 엔드 이상이면 선택하고, 라스트 엔드를 지금 회의의 종료로 옮깁니다. 시작이 더 작으면 겹치므로 넘어갑니다. 건너뛴 회의의 종료로 기준을 바꾸면 안 됩니다.</a:t>
            </a:r>
          </a:p>
          <a:p>
            <a:r>
              <a:t>아래 표의 첫 입력은 방금 본 반례입니다. 일시에서 십시의 긴 회의 대신 이시에서 삼시, 사시에서 오시를 고르면 두 개입니다. 종료 순서는 이 짧은 두 회의를 먼저 보게 해서 두 개를 얻습니다. 그렇다고 회의 길이가 짧은 순서가 언제나 맞는 것은 아닙니다. 두 번째 입력을 보겠습니다. 일시에서 오시, 사시에서 육시, 오시에서 구시가 있습니다. 가운데 회의는 두 시간이라 가장 짧지만, 이것을 고르면 앞뒤 회의와 모두 겹쳐 한 개만 남습니다. 반대로 첫 회의와 마지막 회의는 오시에 바로 이어져 두 개를 고를 수 있습니다.</a:t>
            </a:r>
          </a:p>
          <a:p>
            <a:r>
              <a:t>이 두 번째 입력도 종료 순서로 보면 일시에서 오시를 먼저 고르고 사시에서 육시는 버린 뒤 오시에서 구시를 고릅니다. 결과는 두 개입니다. 시작 순서와 길이 순서가 그럴듯해도 실패하는 이유가 보이죠. 다만 예제 두 개에서 맞았다는 것은 증명이 아닙니다. 전체 입력에서 맞는 이유는 뒤에서 첫 회의를 바꾸는 논리로 설명하겠습니다. 먼저 여섯 회의의 실제 실행을 보겠습니다.</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회의 여섯 건으로 따라가겠습니다. 위 줄은 입력 순서입니다. 일번은 일시에서 삼시, 이번은 이시에서 오시, 삼번은 삼시에서 구시, 사번은 육시에서 팔시, 오번은 오시에서 칠시, 육번은 팔시에서 십일시입니다. 칸 아래의 작은 글자가 회의 번호입니다. 아래 줄은 종료 시각이 빠른 순으로 정렬한 결과입니다. 종료 시각은 삼, 오, 칠, 팔, 구, 십일 순서가 됩니다. 그래서 일번, 이번, 오번, 사번, 삼번, 육번 순서입니다. 노란 칸이 입력 순서와 자리가 바뀐 회의입니다. 오번은 칠시에 끝나서 세 번째로 올라왔고, 삼번은 삼시에 일찍 시작하지만 구시에 끝나서 다섯 번째로 내려갔습니다. 아래 상자를 보세요. 라스트 엔드는 음의 무한대에서 시작합니다. 아직 고른 회의가 없다는 뜻입니다. 어떤 회의의 시작 시각도 음의 무한대보다 크므로, 첫 번째로 보는 회의는 반드시 통과합니다. 회의 번호는 입력 순서로 붙인 것이고 정렬해도 바뀌지 않습니다. 실행 결과에 나오는 번호도 이 번호입니다.</a:t>
            </a:r>
          </a:p>
          <a:p>
            <a:r>
              <a:t/>
            </a:r>
          </a:p>
          <a:p>
            <a:r>
              <a:t>정렬할 때 시작과 종료는 한 회의의 짝으로 함께 움직입니다. 종료 값만 따로 정렬하면 다른 회의의 시작과 섞여 입력 자체가 달라집니다. 또 목록을 정렬하는 데 쓴 종료 시각과, 실제 선택 여부를 검사하는 시작 시각을 구별하세요. 종료가 빠른 순으로 읽은 뒤, 시작이 지금의 마지막 종료 이상인지 검사합니다.</a:t>
            </a:r>
          </a:p>
          <a:p>
            <a:r>
              <a:t/>
            </a:r>
          </a:p>
          <a:p>
            <a:r>
              <a:t>이제 정렬된 순서대로 한 회의씩 보겠습니다.</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단계입니다. 타임라인은 정렬된 순서대로 위에서부터 놓았습니다. 맨 위의 일번, 일시에서 삼시 회의가 가장 먼저 끝나는 회의입니다. 노란 막대가 지금 고른 회의입니다. 일번은 일시에 시작합니다. 라스트 엔드는 음의 무한대이므로 일이 음의 무한대 이상이라는 조건이 참입니다. 아직 고른 회의가 없으니 겹칠 회의도 없습니다. 일번을 고릅니다. 고른 뒤에는 라스트 엔드를 일번의 종료 시각 삼으로 옮깁니다. 주황 점선이 삼시에 그어졌습니다. 이제부터 삼시보다 먼저 시작하는 회의는 일번과 겹치므로 고를 수 없습니다. 오른쪽 열에는 판정과 그 근거를 함께 적었습니다. 선택, 일은 음의 무한대 이상입니다. 아직 보지 않은 회의는 회색 막대로 남아 있습니다. 가장 먼저 끝나는 회의를 고르는 것이 이 알고리즘의 첫 선택입니다. 일번은 회의실을 삼시에 비워 주므로 뒤에 남는 시간이 가장 깁니다.</a:t>
            </a:r>
          </a:p>
          <a:p>
            <a:r>
              <a:t/>
            </a:r>
          </a:p>
          <a:p>
            <a:r>
              <a:t>라스트 엔드를 삼으로 바꾼 것은 다음 회의가 반드시 삼시에 시작해야 한다는 뜻은 아닙니다. 삼시 이상이면 됩니다. 삼시에 시작해도 되고 오시에 시작해도 됩니다. 회의 사이 빈 시간이 있어도 목표인 개수 계산에는 문제가 없습니다. 또 라스트 엔드는 선택한 회의의 종료이지 시작 일도, 회의 길이 이도 아닙니다.</a:t>
            </a:r>
          </a:p>
          <a:p>
            <a:r>
              <a:t/>
            </a:r>
          </a:p>
          <a:p>
            <a:r>
              <a:t>다음은 두 번째로 끝나는 이번입니다.</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단계입니다. 지금 보는 회의는 이번, 이시에서 오시 회의입니다. 이번은 이시에 시작합니다. 라스트 엔드는 삼입니다. 직전에 고른 일번이 삼시에 끝난다는 뜻입니다. 이가 삼 이상이라는 조건은 거짓입니다. 이번은 일번이 아직 진행 중인 이시에 시작하므로 겹칩니다. 조건을 만족하지 못했으므로 건너뜁니다. 막대를 빨간 점선으로 바꾸고, 오른쪽 열에 건너뜀과 그 근거, 이가 삼보다 작다를 적었습니다. 여기서 삼시라는 기준은 직전에 고른 회의가 끝나는 시각입니다. 그냥 삼시 이전에 시작하는 회의를 버린다는 고정된 규칙이 아니라, 라스트 엔드가 움직이면 기준도 함께 움직입니다. 건너뛸 때는 라스트 엔드를 바꾸지 않습니다. 주황 점선은 그대로 삼시에 있습니다. 라스트 엔드는 회의를 고를 때만 움직입니다.</a:t>
            </a:r>
          </a:p>
          <a:p>
            <a:r>
              <a:t/>
            </a:r>
          </a:p>
          <a:p>
            <a:r>
              <a:t>이때 종료 오가 기존 종료 삼보다 늦다는 이유로 버린 것은 아닙니다. 선택하는 뒤 회의는 보통 더 늦게 끝납니다. 버리는 직접적인 이유는 시작 이가 현재의 종료 삼보다 빨라 시간이 겹친다는 것입니다. 정렬에 쓰는 값과 겹침 검사에 쓰는 값을 따로 읽어야 조건이 분명해집니다.</a:t>
            </a:r>
          </a:p>
          <a:p>
            <a:r>
              <a:t/>
            </a:r>
          </a:p>
          <a:p>
            <a:r>
              <a:t>다음 단계에서는 세 번째로 끝나는 오번을 보겠습니다.</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최종 결과는 일번, 오번, 육번의 세 회의입니다. 중간 단계를 빠짐없이 이어 보겠습니다. 일번을 고른 뒤 마지막 종료 시각은 삼이었습니다. 이번은 이시에 시작하므로 삼보다 작아서 버렸습니다. 그래서 종료 시각은 여전히 삼입니다.</a:t>
            </a:r>
          </a:p>
          <a:p>
            <a:r>
              <a:t>다음은 정렬된 목록의 세 번째인 오번입니다. 오시에 시작해서 칠시에 끝납니다. 오가 삼 이상이므로 일번과 겹치지 않습니다. 오번을 선택하고 개수는 두 개, 마지막 종료는 칠로 바꿉니다. 그다음 사번은 육시에 시작해서 팔시에 끝납니다. 육이 칠보다 작으므로 오번과 겹쳐 건너뜁니다. 여기서도 마지막 종료는 팔이 아니라 칠 그대로입니다.</a:t>
            </a:r>
          </a:p>
          <a:p>
            <a:r>
              <a:t>다음 삼번은 삼시에 시작해서 구시에 끝납니다. 종료는 늦지만 시작은 삼입니다. 지금 기준 칠보다 먼저 시작하므로 역시 버립니다. 마지막 육번은 팔시에 시작해 십일시에 끝납니다. 팔은 칠 이상이므로 선택합니다. 개수는 세 개, 마지막 종료는 십일입니다. 그래서 파란 막대가 일시에서 삼시, 오시에서 칠시, 팔시에서 십일시의 세 개가 됩니다.</a:t>
            </a:r>
          </a:p>
          <a:p>
            <a:r>
              <a:t>중간에 회의실이 비어 있는 시간이 있어도 괜찮습니다. 목표가 하루를 빈틈없이 채우는 것이 아니라 회의 개수를 최대화하는 것이기 때문입니다. 각 회의는 한 번씩만 검사했고, 앞에서 선택한 회의를 취소하거나 버린 회의를 다시 꺼내지 않았습니다. 이런 방식으로 세 개를 얻었습니다. 이제 정렬과 검사에 걸리는 시간을 구분하고, 이 선택이 왜 최대인지 설명하겠습니다.</a:t>
            </a: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회의가 엔 개일 때 시간을 나눠 세어 보겠습니다. 첫 작업은 종료 시각 순서로 정렬하는 일입니다. 비교 정렬을 사용하면 보통 엔 로그 엔 규모의 시간이 듭니다. 파이썬의 소트는 최악의 경우에도 이 범위입니다. 씨의 큐 소트는 사용하는 구현에 따라 특성이 다를 수 있으므로, 표준 함수라는 이유만으로 모든 구현의 최악 시간이 똑같이 보장된다고 말하지는 않겠습니다. 여기서는 일반적인 효율적인 정렬을 전제로 설명합니다.</a:t>
            </a:r>
          </a:p>
          <a:p>
            <a:r>
              <a:t>두 번째 작업은 정렬된 회의를 한 번 훑는 일입니다. 회의마다 시작 시각과 마지막 종료 시각을 비교하고, 선택할 때만 개수와 종료 시각을 고칩니다. 회의가 여섯 개이면 비교 여섯 번, 천 개이면 천 번입니다. 선택한 회의 수가 적더라도 입력 회의는 끝까지 보므로 훑기는 엔에 비례합니다.</a:t>
            </a:r>
          </a:p>
          <a:p>
            <a:r>
              <a:t>정렬부터 한다면 정렬 시간과 훑기 시간을 더해서 전체는 엔 로그 엔 규모입니다. 반대로 문제에서 이미 종료 시각 순으로 정렬된 입력을 준다면 정렬할 필요가 없어 엔 규모만 남습니다. 같은 활동 선택이라도 어떤 입력을 받는 함수인지에 따라 시간 설명이 달라지는 이유입니다.</a:t>
            </a:r>
          </a:p>
          <a:p>
            <a:r>
              <a:t>공간도 무엇을 반환하는지 구별해야 합니다. 선택한 회의들을 목록에 저장하면 그 목록은 최대로 엔 개까지 커질 수 있습니다. 개수만 반환한다면 카운트와 마지막 종료 시각 정도만 유지하면 됩니다. 이때 입력 배열이나 정렬 자체의 메모리를 빼고 보는 추가 상태는 일정합니다. 뒤의 코인과 회의 함수 문제도 입력과 반환 조건에 맞춰 복잡도를 설명해야 합니다. 이제 종료 순서가 최대 개수를 보장하는 이유를 보겠습니다.</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회의를 바꿔도 손해가 없다는 것이 증명의 핵심입니다. 먼저 우리가 원하는 최대 개수의 회의 목록이 있다고 생각하겠습니다. 지금 그 목록을 실제로 찾아낼 필요는 없습니다. 가능한 목록들 가운데 최대인 것이 적어도 하나는 있으니, 그것 하나를 놓고 성질을 따져 보는 것입니다.</a:t>
            </a:r>
          </a:p>
          <a:p>
            <a:r>
              <a:t>그 최적 목록의 첫 회의를 엑스, 그리디가 고른 가장 먼저 끝나는 회의를 지라고 하겠습니다. 지는 전체에서 가장 먼저 끝나므로 지의 종료는 엑스의 종료보다 늦지 않습니다. 최적 목록에서 엑스 하나만 빼고 지를 넣어 봅니다. 나머지 회의들은 원래 엑스가 끝난 뒤에 시작했습니다. 지는 그보다 일찍 또는 같은 때 끝나므로, 나머지를 그대로 두어도 겹치지 않습니다. 한 개를 빼고 한 개를 넣었으니 회의 개수도 같습니다. 따라서 바꾼 목록도 최적입니다.</a:t>
            </a:r>
          </a:p>
          <a:p>
            <a:r>
              <a:t>그림에서는 이번이 오시에 끝나고 일번이 삼시에 끝납니다. 뒤의 사번은 육시에, 육번은 팔시에 시작하므로 앞을 일번으로 바꿔도 문제가 없습니다. 그림의 세 회의는 교환을 보여 주는 예이고, 일반적인 증명은 방금 말한 최대 목록의 첫 회의에 대한 논리입니다. 세 개가 최대라고 먼저 믿어야만 설명이 되는 것은 아닙니다.</a:t>
            </a:r>
          </a:p>
          <a:p>
            <a:r>
              <a:t>이제 일번을 확정하고 삼시 이후에 시작할 수 있는 회의만 남깁니다. 이 남은 문제에서도 가장 먼저 끝나는 회의로 첫 회의를 바꿔 같은 논리를 반복할 수 있습니다. 매번 선택을 확정해도 최대 개수를 잃지 않으므로 마지막 결과도 최대입니다. 모든 최적 목록이 그리디와 완전히 같다는 뜻은 아닙니다. 그리디의 선택을 포함하는 최적 목록이 적어도 하나 있다는 뜻입니다. 이런 식으로 최적 답의 일부를 바꾸는 증명을 교환 논증이라고 합니다.</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연습문제입니다. 액티비티 카운트는 활동 목록을 받아, 시간이 겹치지 않게 고를 수 있는 활동의 최대 개수를 돌려주는 함수입니다. 활동은 이미 종료 시각이 빠른 순으로 정렬되어 들어온다고 하겠습니다. 예로 일시에서 사시, 삼시에서 오시, 사시에서 육시 활동을 넣어 보겠습니다. 종료 시각이 사, 오, 육이므로 이미 정렬된 순서입니다. 처음에 카운트는 영, 라스트 엔드는 음의 무한대입니다. 아래 표의 첫 줄입니다. 첫 활동은 일이 음의 무한대 이상이므로 고릅니다. 카운트는 일, 라스트 엔드는 사가 됩니다. 둘째 활동은 삼시에 시작합니다. 삼이 사 이상이라는 조건이 거짓이므로 건너뜁니다. 카운트와 라스트 엔드는 그대로 일과 사입니다. 앞에서 본 것처럼 이 활동은 첫 활동이 끝나기 전에 시작합니다. 셋째 활동은 사시에 시작합니다. 사가 사 이상이라는 조건은 참입니다. 같아도 되니까요. 고르고 카운트는 이, 라스트 엔드는 육이 됩니다. 함수는 이를 돌려줍니다. 일시에서 사시, 사시에서 육시 활동 두 개입니다. 비교 기호를 크다로 쓰면 셋째 활동에서 사가 사보다 크지 않아 건너뛰게 되고, 답이 일로 틀립니다. 끝나는 시각에 바로 시작할 수 있다는 규칙이 크거나 같다에 들어 있습니다.</a:t>
            </a:r>
          </a:p>
          <a:p>
            <a:r>
              <a:t/>
            </a:r>
          </a:p>
          <a:p>
            <a:r>
              <a:t>처음 일반 표에서는 마지막 종료를 음의 무한대로 두었습니다. 이 뒤의 실제 함수는 모든 시각이 영 이상이라는 조건을 이용해 영으로 시작합니다. 둘 다 이 입력에서 같은 선택을 합니다. 하지만 음수 시각도 가능한 다른 문제에서 아무 생각 없이 영을 쓰면 첫 음수 시각 회의를 놓칠 수 있으니, 초기값은 입력 조건과 함께 정해야 합니다.</a:t>
            </a:r>
          </a:p>
          <a:p>
            <a:r>
              <a:t/>
            </a:r>
          </a:p>
          <a:p>
            <a:r>
              <a:t>다음 화면에서 이 과정을 의사코드로 정리하겠습니다.</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액티비티 카운트의 의사코드입니다. 앞의 활동 선택 코드에서 고른 활동을 목록에 담는 대신 개수만 세도록 바꾼 모양입니다. 첫 줄의 주석처럼 입력이 종료 시각 순으로 정렬되어 있다는 전제가 있습니다. 카운트를 영, 라스트 엔드를 음의 무한대로 놓습니다. 포 문에서 활동마다 시작과 종료를 꺼내, 시작이 라스트 엔드 이상이면 카운트를 하나 늘리고 라스트 엔드를 종료로 바꿉니다. 끝나면 카운트를 돌려줍니다. 빈 목록을 넣으면 어떻게 될까요? 포 문이 한 번도 돌지 않으므로 카운트는 처음 값 영 그대로 돌아옵니다. 빈 목록을 따로 검사하는 이프가 없어도 됩니다. 반대로 목록의 첫 원소를 미리 꺼내 넣고 시작하는 방식으로 짜면, 빈 목록에서는 꺼낼 원소가 없어 오류가 납니다. 시각이 영 이상이라고 주어진 문제라면 라스트 엔드를 영으로 시작해도 됩니다. 첫 활동의 시작이 영 이상이므로 조건을 통과하기 때문입니다. 시간 복잡도는 입력이 이미 정렬되어 있으므로 한 번 훑는 오 엔입니다. 입력이 정렬되어 있지 않아 직접 정렬부터 한다면 오 엔 로그 엔입니다. 자기 코드가 정렬을 하는지 안 하는지에 맞춰 써야 합니다.</a:t>
            </a:r>
          </a:p>
          <a:p>
            <a:r>
              <a:t/>
            </a:r>
          </a:p>
          <a:p>
            <a:r>
              <a:t>여기서 시작과 종료를 꺼낸다는 것은 회의 하나를 두 값으로 읽는다는 뜻입니다. 다음 회의로 넘어갈 때 카운트나 마지막 종료를 영으로 다시 초기화하지 않습니다. 두 값은 반복 전체에 걸쳐 지금까지의 결과를 유지합니다. 초기화를 포 문 안에 넣으면 앞에서 고른 기록을 매번 잃어버려 누적 개수를 셀 수 없습니다.</a:t>
            </a:r>
          </a:p>
          <a:p>
            <a:r>
              <a:t/>
            </a:r>
          </a:p>
          <a:p>
            <a:r>
              <a:t>이제 같은 동작을 파이썬과 씨 코드에서 한 줄씩 확인하겠습니다.</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파이썬 함수는 회의 목록을 받아 선택할 수 있는 최대 개수만 돌려줍니다. 문제에서 목록은 이미 종료 시각 순으로 정렬되어 있고 시각은 영 이상이라고 주어집니다. 그래서 함수 안에는 정렬하는 줄이 없습니다. 입력이 무작위인데 이 코드만 그대로 쓰면 같은 보장을 할 수 없습니다.</a:t>
            </a:r>
          </a:p>
          <a:p>
            <a:r>
              <a:t>첫 줄의 라스트는 마지막으로 고른 회의가 끝나는 시각입니다. 영으로 시작하는 것은 아직 선택한 회의가 없다는 표시입니다. 모든 시작 시각이 영 이상이므로 첫 회의가 통과합니다. 카운트는 선택한 회의 개수이고 영으로 시작합니다. 앞의 일반 의사코드는 음의 무한대를 썼지만, 이 함수는 음수 시각이 없다는 조건 덕분에 영을 쓸 수 있습니다.</a:t>
            </a:r>
          </a:p>
          <a:p>
            <a:r>
              <a:t>포 문의 스타트와 엔드는 회의 한 쌍에서 시작과 종료를 꺼내 담습니다. 이프는 시작이 라스트보다 크거나 같은지 확인합니다. 참이면 겹치지 않으므로 카운트를 하나 늘리고, 라스트를 지금 회의의 종료로 바꿉니다. 두 줄 모두 이프 안에 있습니다. 선택하지 않은 회의의 종료로 라스트를 바꾸면 기준이 망가지기 때문입니다. 거짓이면 아무것도 바꾸지 않고 다음 회의로 갑니다.</a:t>
            </a:r>
          </a:p>
          <a:p>
            <a:r>
              <a:t>일시에서 사시, 삼시에서 오시, 사시에서 육시를 넣어 보겠습니다. 첫 회의는 일이 영 이상이므로 선택하여 카운트 일, 라스트 사입니다. 두 번째는 삼이 사보다 작아서 건너뛰고 두 값은 그대로입니다. 세 번째는 사가 사 이상이므로 선택하여 카운트 이, 라스트 육입니다. 반환값은 이입니다. 크거나 같다에서 같다를 빼면 끝나는 즉시 시작하는 세 번째 회의를 놓칩니다.</a:t>
            </a:r>
          </a:p>
          <a:p>
            <a:r>
              <a:t>빈 목록이면 반복을 한 번도 하지 않아 영을 반환합니다. 선택한 목록이 아니라 개수만 필요해서 별도 배열을 만들지 않습니다. 정렬된 입력을 한 번 훑으므로 시간은 엔에 비례하고 추가 상태는 일정합니다. 함수는 목록을 읽기만 하고 회의 순서나 내용을 바꾸지 않습니다.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3168755557"/>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씨 버전은 파이썬의 회의 쌍 목록 대신 시작 시각 배열과 종료 시각 배열을 나눠 받습니다. 같은 위치에 있는 두 원소가 한 회의입니다. 스타트 영과 엔드 영이 첫 회의, 스타트 일과 엔드 일이 두 번째 회의인 식입니다. 엔은 회의 개수입니다. 씨의 배열만으로 길이를 알아낼 수 없으므로 개수를 따로 받습니다.</a:t>
            </a:r>
          </a:p>
          <a:p>
            <a:r>
              <a:t>배열 앞의 콘스트는 이 함수가 배열 내용을 바꾸지 않고 읽겠다는 뜻입니다. 함수 안에서는 라스트와 카운트 두 정수만 바꿉니다. 라스트는 영, 카운트도 영으로 시작합니다. 여기서도 시작 시각은 영 이상이고, 배열 쌍은 종료 시각 순서로 이미 정렬되어 있다는 전제가 필요합니다. 함수 안에서 배열을 따로따로 정렬하면 회의의 시작과 종료 짝이 깨지므로 안 됩니다.</a:t>
            </a:r>
          </a:p>
          <a:p>
            <a:r>
              <a:t>포 문은 아이가 영부터 엔보다 작을 때까지 반복합니다. 배열의 마지막 유효 위치가 엔 빼기 일이기 때문에 조건은 작다입니다. 반복마다 스타트 아이와 라스트를 비교합니다. 크거나 같으면 이 회의를 고르고 카운트를 하나 늘린 다음 라스트를 엔드 아이로 바꿉니다. 이 두 줄이 같은 이프 중괄호 안에 있다는 점이 중요합니다. 겹치는 회의는 카운트도 라스트도 바꾸지 않습니다.</a:t>
            </a:r>
          </a:p>
          <a:p>
            <a:r>
              <a:t>시작 배열이 일, 삼, 사이고 종료 배열이 사, 오, 육이라면 첫 회의 후에는 카운트 일과 라스트 사입니다. 두 번째는 삼이 사보다 작아 그대로입니다. 세 번째는 사가 사 이상이라 카운트 이와 라스트 육이 됩니다. 리턴 카운트는 이를 돌려줍니다. 파이썬과 변수 표기만 다르고 판단 과정은 같습니다.</a:t>
            </a:r>
          </a:p>
          <a:p>
            <a:r>
              <a:t>엔이 영이면 포 문 조건이 처음부터 거짓이라 영을 반환합니다. 첫 원소를 미리 읽지 않아서 빈 입력도 안전하게 처리합니다. 한 회의를 한 번씩 보므로 시간은 엔에 비례하고, 개수만 세는 추가 메모리는 일정합니다. 이제 정해진 용량 안에서 물건의 가치를 높이는 배낭 문제로 넘어가겠습니다.</a:t>
            </a:r>
          </a:p>
        </p:txBody>
      </p:sp>
      <p:sp>
        <p:nvSpPr>
          <p:cNvPr id="4" name="Slide Number Placeholder 3"/>
          <p:cNvSpPr>
            <a:spLocks noGrp="1"/>
          </p:cNvSpPr>
          <p:nvPr>
            <p:ph type="sldNum" idx="5"/>
          </p:nvPr>
        </p:nvSpPr>
        <p:spPr/>
        <p:txBody>
          <a:bodyPr/>
          <a:lstStyle/>
          <a:p>
            <a:endParaRPr/>
          </a:p>
        </p:txBody>
      </p:sp>
    </p:spTree>
    <p:extLst>
      <p:ext uri="{BB962C8B-B14F-4D97-AF65-F5344CB8AC3E}">
        <p14:creationId xmlns:p14="http://schemas.microsoft.com/office/powerpoint/2010/main" val="2068155263"/>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배낭 문제가 무엇인지부터 정리하겠습니다. 용량이 정해진 배낭 하나가 있고, 보물마다 무게와 가치가 정해져 있습니다. 담은 무게의 합이 용량을 넘으면 안 됩니다. 그 안에서 가치의 합을 가장 크게 만드는 것이 목표예요. 영어로는 냅색 프라블럼이라고 합니다. 표를 보세요. 보물은 에이, 비, 씨 세 개입니다. 에이는 무게 이십 킬로그램에 가치 만 사천 골드, 비와 씨는 둘 다 십오 킬로그램에 구천 골드입니다. 골드, 줄여서 지는 가치의 단위입니다. 배낭 용량은 삼십 킬로그램입니다. 세 개를 다 담으면 오십 킬로그램이라 들어가지 않으니, 무엇을 얼마나 담을지 골라야 합니다. 이 문제는 보물을 쪼갤 수 있느냐에 따라 두 가지로 나뉩니다. 보물이 금가루처럼 원하는 만큼 덜어 낼 수 있는 것이라면 분할 배낭, 영어로 프랙셔널 냅색입니다. 반대로 조각상처럼 통째로만 담을 수 있다면 영 일 배낭입니다. 담으면 일, 담지 않으면 영이라서 붙은 이름이에요. 두 문제는 표의 숫자가 같아도 답이 달라집니다. 이번 절에서는 먼저 분할 배낭을 문제, 단계, 코드, 실행 결과까지 끝까지 보고, 그다음에는 용량 오십인 별도의 예제로 영 일 배낭이 실패하는 경우를 보겠습니다.</a:t>
            </a:r>
          </a:p>
          <a:p>
            <a:r>
              <a:t/>
            </a:r>
          </a:p>
          <a:p>
            <a:r>
              <a:t>배낭의 영과 일은 물건의 종류가 둘이라는 뜻이 아닙니다. 각 물건 하나에 대해 넣지 않으면 영, 통째로 넣으면 일이라는 선택을 표현한 것입니다. 분할 배낭은 그 사이의 절반이나 삼분의 이도 허용합니다. 또 배낭 용량을 넘지 않는 것이 제약이고, 용량을 무조건 꽉 채우라는 것이 목표는 아닙니다. 허용된 무게 안에서 가치 합을 크게 만드는 것이 목표입니다.</a:t>
            </a:r>
          </a:p>
          <a:p>
            <a:r>
              <a:t/>
            </a:r>
          </a:p>
          <a:p>
            <a:r>
              <a:t>다음 화면에서 분할 배낭의 기준부터 정하겠습니다.</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분할 배낭에서 무엇을 기준으로 고를지 정하겠습니다. 보물을 일 킬로그램 단위로 덜어 낼 수 있으니, 배낭의 일 킬로그램 자리마다 무엇을 넣을지가 문제입니다. 그래서 기준은 총 가치가 아니라 일 킬로그램에 얼마인지, 즉 무게당 가치입니다. 흔히 가성비라고 부르고, 코드에서는 레이쇼라는 이름을 씁니다. 오른쪽 계산을 보세요. 무게당 가치는 가치를 무게로 나눈 값입니다. 에이는 만 사천을 이십으로 나눠 칠백, 비와 씨는 구천을 십오로 나눠 육백입니다. 단위를 붙여 읽으면 킬로그램당 칠백 골드, 킬로그램당 육백 골드예요. 표의 노란 열이 이 값입니다. 이 값이 큰 순서로 줄을 세우면 에이, 비, 씨입니다. 비와 씨는 육백으로 같은데, 이럴 때는 입력 순서대로 비를 먼저 봅니다. 둘은 무게와 가치까지 같아서 어느 쪽을 먼저 봐도 결과는 같습니다. 아래 회색 막대가 배낭입니다. 지금은 삼십 킬로그램이 모두 비어 있습니다. 그리디의 세 단계로 말하면, 선택은 이 줄의 맨 앞에 있는 보물을 고르는 것입니다.</a:t>
            </a:r>
          </a:p>
          <a:p>
            <a:r>
              <a:t/>
            </a:r>
          </a:p>
          <a:p>
            <a:r>
              <a:t>가치만 큰 물건이나 무게만 작은 물건을 고르는 기준과는 다릅니다. 에이는 총가치도 크지만, 지금 계산하는 핵심은 일 킬로그램을 넣을 때 칠백을 얻는다는 점입니다. 비나 씨를 일 킬로그램 담을 자리를 에이로 바꾸면 같은 공간에서 백 골드를 더 얻습니다. 이렇게 같은 무게끼리 비교할 수 있는 것은 물건을 쪼갤 수 있기 때문입니다.</a:t>
            </a:r>
          </a:p>
          <a:p>
            <a:r>
              <a:t/>
            </a:r>
          </a:p>
          <a:p>
            <a:r>
              <a:t>다음 화면에서는 에이를 통째로 담은 뒤 비를 일부 덜어 담아 배낭을 채우겠습니다.</a:t>
            </a: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에이를 통째로 넣고 비를 일부 넣는 과정을 이어서 계산하겠습니다. 처음 배낭 용량은 삼십 킬로그램입니다. 무게당 가치가 가장 높은 에이는 이십 킬로그램에 만 사천 골드입니다. 이십은 삼십 이하이므로 통째로 넣습니다. 지금까지 얻은 가치는 만 사천 골드이고 남은 용량은 십 킬로그램입니다.</a:t>
            </a:r>
          </a:p>
          <a:p>
            <a:r>
              <a:t>다음 비는 십오 킬로그램인데 남은 자리는 십 킬로그램입니다. 통째로는 들어가지 않지만 지금은 분할 배낭이므로 일부만 덜어 담을 수 있습니다. 비에서 십 킬로그램만 가져오겠습니다. 전체 십오 중 십을 가져온 것이므로 삼분의 이를 가져온 것입니다. 가치도 구천 골드 전체가 아니라 삼분의 이인 육천 골드만 더합니다.</a:t>
            </a:r>
          </a:p>
          <a:p>
            <a:r>
              <a:t>무게당 가치로 계산하면 더 간단합니다. 비는 일 킬로그램당 육백 골드이므로 십 킬로그램이면 십 곱하기 육백, 육천 골드입니다. 에이의 만 사천과 비의 육천을 더하면 이만 골드입니다. 무게는 이십 더하기 십으로 삼십이라 용량을 정확히 채웠습니다. 남은 용량이 영이므로 씨는 더 보지 않고 멈춥니다. 비를 일부 넣었다고 구천 전체를 더하면 안 된다는 점을 기억하세요.</a:t>
            </a:r>
          </a:p>
          <a:p>
            <a:r>
              <a:t>왜 더 싼 것을 섞는다고 나아지지 않을까요? 비나 씨의 일 킬로그램은 육백 골드인데 에이의 일 킬로그램은 칠백 골드입니다. 에이를 덜 담고 비나 씨를 더 담으면 같은 무게에서 가치를 잃습니다. 그래서 에이를 먼저 가능한 만큼 넣는 것이 안전합니다. 에이를 다 넣은 뒤 비와 씨는 무게당 가치가 같으므로 어느 쪽에서 남은 십 킬로그램을 가져와도 가치는 같습니다. 이제 이 계산을 의사코드 한 줄씩으로 옮겨 보겠습니다.</a:t>
            </a: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화면의 의사코드는 남은 용량을 줄여 가는 버전입니다. 커패시티는 처음 배낭 크기로 시작하지만 반복 중에는 앞으로 더 넣을 수 있는 남은 무게를 뜻합니다. 이미 담은 무게를 뜻하는 변수가 아니라는 점을 먼저 구별하겠습니다.</a:t>
            </a:r>
          </a:p>
          <a:p>
            <a:r>
              <a:t>첫 줄에서 물건들을 무게당 가치가 큰 순서로 정렬합니다. 아이템의 레이쇼는 가치 나누기 무게입니다. 무게는 양수이고 가치는 음수가 아닌 일반적인 분할 배낭 조건을 생각하겠습니다. 토털은 얻은 가치의 합으로 영에서 시작합니다. 포 문은 정렬된 물건을 하나씩 가져옵니다.</a:t>
            </a:r>
          </a:p>
          <a:p>
            <a:r>
              <a:t>테이크는 남은 용량과 지금 물건의 무게 중 작은 값입니다. 민은 둘 중 작은 값을 고르는 함수입니다. 예를 들어 남은 용량 삼십에 에이 무게 이십이면 테이크는 이십이라 통째로 담습니다. 남은 용량 십에 비 무게 십오이면 테이크는 십이라 일부만 담습니다. 통째로 넣는 경우와 일부만 넣는 경우를 이 한 줄이 함께 처리합니다.</a:t>
            </a:r>
          </a:p>
          <a:p>
            <a:r>
              <a:t>다음 줄에서는 테이크에 레이쇼를 곱해 토털에 더합니다. 담은 킬로그램에 킬로그램당 가치를 곱하니 이번에 얻은 가치가 됩니다. 에이에서는 이십 곱하기 칠백으로 만 사천, 비에서는 십 곱하기 육백으로 육천이 더해집니다. 그다음 커패시티에서 테이크를 뺍니다. 남은 용량은 삼십에서 십, 다시 영이 됩니다. 영이면 브레이크로 반복을 멈추고, 마지막 리턴으로 이만을 돌려줍니다.</a:t>
            </a:r>
          </a:p>
          <a:p>
            <a:r>
              <a:t>물건을 다 봤는데 공간이 남았다면 가진 물건을 모두 담은 값으로 끝납니다. 물건이 하나도 없으면 토털 영을 그대로 돌려줍니다. 정렬부터 하는 일반 알고리즘은 엔 로그 엔 규모이고, 이미 무게당 가치 순서로 정렬해 주는 함수 문제에서는 훑기만 하므로 엔 규모입니다. 지금 화면에는 정렬 줄이 있으니 정렬 비용을 빼고 말하면 안 됩니다. 다음 숫자 예에서도 같은 테이크 계산을 해 보겠습니다.</a:t>
            </a: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연습문제입니다. 쪼갤 수 있는 배낭이고 용량은 칠입니다. 보물은 괄호 안에 무게, 가치 순서로 적었습니다. 에이가 무게 육, 가치 십팔이고, 비가 무게 사, 가치 이십입니다. 먼저 무게당 가치를 구합니다. 에이는 십팔을 육으로 나눠 삼, 비는 이십을 사로 나눠 오입니다. 그러니 비가 먼저입니다. 표도 비를 위에 두었습니다. 가치만 보면 에이 십팔보다 비 이십이 크지만, 기준은 어디까지나 무게당 가치라는 점을 기억하세요. 첫째, 비를 봅니다. 무게 사가 용량 칠 이하이므로 통째로 담습니다. 가치 이십을 얻고, 남은 용량은 칠 빼기 사, 삼입니다. 둘째, 에이를 봅니다. 무게 육이 남은 삼보다 크므로 통째로는 들어가지 않습니다. 쪼갤 수 있으니 삼만 덜어 담습니다. 비율은 삼을 육으로 나눈 이분의 일, 즉 절반입니다. 가치도 절반이니 십팔 곱하기 이분의 일, 구입니다. 무게당 가치로 계산해도 삼 곱하기 삼으로 똑같이 구입니다. 합계는 이십 더하기 구, 이십구입니다. 막대에서도 비 사와 에이 삼이 용량 칠을 꽉 채웠습니다.</a:t>
            </a:r>
          </a:p>
          <a:p>
            <a:r>
              <a:t/>
            </a:r>
          </a:p>
          <a:p>
            <a:r>
              <a:t>에이를 먼저 통째로 넣었다면 가치 십팔에 남은 용량 일만큼 비를 담아 오를 더 얻어 이십삼입니다. 비를 먼저 넣은 이십구보다 작습니다. 이 비교는 무엇을 먼저 담는지가 왜 중요한지 보여 줍니다. 두 답 모두 무게 칠을 채워도 그 안에 들어 있는 물건의 무게당 가치가 달라 결과 가치가 달라집니다.</a:t>
            </a:r>
          </a:p>
          <a:p>
            <a:r>
              <a:t/>
            </a:r>
          </a:p>
          <a:p>
            <a:r>
              <a:t>다음 연습은 무게당 가치가 같은 경우입니다.</a:t>
            </a: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연습입니다. 용량은 오, 에이는 무게 이, 가치 팔, 비는 무게 사, 가치 십육입니다. 무게당 가치를 구하면 에이는 팔을 이로 나눠 사, 비는 십육을 사로 나눠 사입니다. 둘이 같습니다. 이럴 때는 앞에 있는 에이부터 봅니다. 첫째, 에이의 무게 이는 용량 오 이하이므로 통째로 담고 가치 팔을 얻습니다. 남은 용량은 오 빼기 이, 삼입니다. 둘째, 비의 무게 사는 남은 삼보다 크므로 삼만 덜어 담습니다. 비율은 삼을 사로 나눈 사분의 삼이고, 가치는 십육 곱하기 사분의 삼, 십이입니다. 합계는 팔 더하기 십이, 이십입니다. 오른쪽 아래 문장처럼 순서를 바꿔 비부터 담아도 답은 같습니다. 비 사를 통째로 담아 십육, 남은 일에 에이의 이분의 일을 담아 사, 합계 이십이죠. 무게당 가치가 모두 사이니 다섯 칸 어디에 무엇을 넣든 오 곱하기 사, 이십입니다. 무게당 가치가 같은 보물끼리는 순서가 답을 바꾸지 않습니다.</a:t>
            </a:r>
          </a:p>
          <a:p>
            <a:r>
              <a:t/>
            </a:r>
          </a:p>
          <a:p>
            <a:r>
              <a:t>어느 쪽을 먼저 넣든 된다는 것은 두 물건의 무게당 가치가 같기 때문입니다. 무게나 총가치가 같아서가 아닙니다. 그리고 일부를 덜어 담을 수 있다는 조건을 여전히 쓰고 있습니다. 영 일 배낭으로 바꾸면 절반이나 사분의 삼을 넣을 수 없으므로 같은 설명을 그대로 쓸 수 없습니다.</a:t>
            </a:r>
          </a:p>
          <a:p>
            <a:r>
              <a:t/>
            </a:r>
          </a:p>
          <a:p>
            <a:r>
              <a:t>이제 쪼갤 수 없는 영 일 배낭으로 넘어가겠습니다.</a:t>
            </a: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영 일 배낭 연습입니다. 괄호 안은 무게, 가치 순서입니다. 용량은 오십, 보물은 에이가 무게 십 가치 육십, 비가 무게 이십 가치 백, 씨가 무게 삼십 가치 백이십입니다. 무게당 가치는 에이가 육십 나누기 십으로 육, 비가 백 나누기 이십으로 오, 씨가 백이십 나누기 삼십으로 사입니다. 그래서 에이, 비, 씨 순서로 봅니다. 첫째, 에이의 무게 십은 오십 이하이므로 담습니다. 남은 용량은 사십입니다. 둘째, 비의 무게 이십은 남은 사십 이하이므로 담습니다. 남은 용량은 이십입니다. 셋째, 씨의 무게 삼십은 남은 이십보다 크므로 건너뜁니다. 쪼갤 수 없으니까요. 그리디의 답은 에이와 비, 육십 더하기 백으로 백육십입니다. 표의 결정 열에서 파랑은 담은 보물, 빨강은 건너뛴 보물입니다. 아래 막대를 보면 에이 십과 비 이십을 채우고 빈 공간이 이십 남았습니다. 남은 이십이 씨의 무게 삼십보다 작아서 씨가 들어가지 못한 것이 한눈에 보입니다.</a:t>
            </a:r>
          </a:p>
          <a:p>
            <a:r>
              <a:t/>
            </a:r>
          </a:p>
          <a:p>
            <a:r>
              <a:t>영 일 배낭에서는 물건마다 통째로 넣거나 빼는 두 선택만 있습니다. 씨를 이십만 잘라 넣어 빈 공간을 채우는 것은 금지입니다. 에이를 먼저 고르는 기준을 끝까지 지킨 결과가 백육십이라는 뜻이지, 아직 백육십이 전체 최댓값이라고 증명한 것은 아닙니다. 지금 화면의 그리디 결과와 다음 표의 전체 후보를 비교해야 합니다.</a:t>
            </a:r>
          </a:p>
          <a:p>
            <a:r>
              <a:t/>
            </a:r>
          </a:p>
          <a:p>
            <a:r>
              <a:t>이번에도 조합을 모두 따져서 백육십이 정말 최대인지 확인해 보겠습니다.</a:t>
            </a: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조합을 모두 보겠습니다. 표의 첫 줄처럼 아무것도 담지 않으면 영입니다. 하나만 담으면 에이 육십, 비 백, 씨 백이십입니다. 두 개를 담으면, 에이와 비는 무게 삼십에 가치 백육십으로 그리디의 답입니다. 에이와 씨는 무게 사십에 가치 백팔십입니다. 비와 씨는 무게 오십으로 용량에 딱 맞고, 가치는 백 더하기 백이십, 이백이십입니다. 세 개를 다 담으면 무게 육십이라 용량을 넘습니다. 최대는 초록 줄, 비와 씨의 이백이십입니다. 그리디의 백육십보다 육십이 큽니다. 에이와 씨의 백팔십도 그리디보다 큽니다. 왜 이렇게 되었을까요? 그리디가 무게당 가치 일등 에이를 먼저 담는 순간, 남은 사십에는 비 이십과 씨 삼십을 함께 넣을 수 없습니다. 최적해 비 더하기 씨에는 에이가 없습니다. 첫 선택부터 최적해에서 벗어난 것입니다. 정리하면, 영 일 배낭에서 무게당 가치 그리디의 답은 백육십이고 실제 최대는 이백이십입니다.</a:t>
            </a:r>
          </a:p>
          <a:p>
            <a:r>
              <a:t/>
            </a:r>
          </a:p>
          <a:p>
            <a:r>
              <a:t>표를 읽을 때는 무게 합부터 검사하고, 용량 이하인 행끼리 가치 합을 비교하겠습니다. 세 개를 다 넣은 행은 가치가 이백팔십이어도 무게 육십으로 용량 오십을 넘으므로 후보에서 제외됩니다. 허용된 행들 가운데 이백이십이 가장 큽니다. 값이 커 보인다는 이유로 제약을 어긴 행을 정답으로 고르면 안 됩니다.</a:t>
            </a:r>
          </a:p>
          <a:p>
            <a:r>
              <a:t/>
            </a:r>
          </a:p>
          <a:p>
            <a:r>
              <a:t>다음 화면에서 이 실패의 이유를 정리하겠습니다.</a:t>
            </a: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방금 예제는 용량 오십, 에이는 무게 십에 가치 육십, 비는 이십에 백, 씨는 삼십에 백이십이었습니다. 무게당 가치가 가장 높은 에이를 먼저 넣으면 사십이 남습니다. 하지만 비와 씨를 함께 넣으려면 이십 더하기 삼십으로 오십이 필요합니다. 남은 사십에는 함께 들어가지 않습니다. 그래서 처음의 에이 선택이 최적 조합인 비와 씨를 막았습니다.</a:t>
            </a:r>
          </a:p>
          <a:p>
            <a:r>
              <a:t>쪼갤 수 있었다면 이야기가 다릅니다. 에이 십과 비 이십을 넣고 남은 이십에 씨를 이십만큼 덜어 담습니다. 씨는 삼십에 백이십이므로 일 무게당 가치는 사입니다. 이십만 담으면 가치는 팔십이고, 합은 육십 더하기 백 더하기 팔십으로 이백사십입니다. 하지만 영 일 배낭에서는 씨의 일부만 넣는 행위 자체가 허용되지 않습니다. 분할 배낭의 교환 논리를 그대로 가져올 수 없는 이유입니다.</a:t>
            </a:r>
          </a:p>
          <a:p>
            <a:r>
              <a:t>그렇다면 모든 조합을 보면 되지 않을까요? 보물이 하나라면 넣거나 빼는 두 가지입니다. 둘이면 둘 다 빼기, 첫째만 넣기, 둘째만 넣기, 둘 다 넣기의 네 가지입니다. 셋이면 앞의 네 가지 각각에서 셋째를 넣거나 빼므로 여덟 가지입니다. 새 물건이 하나 늘 때마다 기존 후보 하나하나가 두 갈래로 나뉘어 후보 수가 두 배가 됩니다. 그래서 엔 개에서는 이를 엔 번 곱한 만큼, 즉 이의 엔 제곱 가지입니다. 서른 개만 되어도 십억 가지가 넘습니다. 반복문이 있다는 이유가 아니라, 비교할 조합이 이렇게 늘어나는 것이 부담입니다.</a:t>
            </a:r>
          </a:p>
          <a:p>
            <a:r>
              <a:t>이것이 정확한 알고리즘은 반드시 모든 조합을 직접 나열해야 한다는 뜻은 아닙니다. 다음 장의 동적 계획법은 같은 남은 조건에서의 답을 저장해 중복 계산을 줄입니다. 지금의 결론은 더 좁습니다. 쪼갤 수 없는 배낭에서 무게당 가치 순으로 한 번씩 고르는 방법만으로는 최적해를 보장할 수 없습니다.</a:t>
            </a: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그리디가 어떻게 진행되는지 다시 떠올려 보겠습니다. 매 단계 지금 기준으로 가장 좋아 보이는 것을 고르고, 그것을 확정한 뒤 되돌리지 않습니다. 그래서 그리디가 옳으려면 매번의 확정이 안전해야 하고, 확정한 뒤 남은 문제도 같은 방법으로 풀 수 있어야 합니다. 이것을 두 조건으로 씁니다. 첫째는 탐욕적 선택 속성, 영어로 그리디 초이스 프로퍼티입니다. 지금 가장 좋아 보이는 선택을 포함하는 최적해가 있다는 성질이에요. 이 성질이 있으면 첫 선택을 확정해도 최적해를 놓치지 않습니다. 둘째는 최적 부분 구조, 옵티멀 서브스트럭처입니다. 그 선택을 하고 남은 문제의 최적해가 전체 최적해의 나머지 부분이 된다는 성질입니다. 이 성질이 있으면 남은 문제를 처음 문제와 같은 방식으로 풀어도 됩니다. 청록 문장처럼 두 성질이 함께 있으면 첫 선택이 안전하고, 남은 문제도 같은 방법으로 풀 수 있습니다. 이것을 단계마다 반복하면 그리디의 답이 전체 최적해가 됩니다. 둘 중 하나라도 보이지 못하면 그리디가 최적이라고 말할 수 없습니다.</a:t>
            </a:r>
          </a:p>
          <a:p>
            <a:r>
              <a:t/>
            </a:r>
          </a:p>
          <a:p>
            <a:r>
              <a:t>두 용어를 짧게 바꾸면 지금 골라도 괜찮은가, 그리고 남은 문제를 잘 풀면 이어 붙일 수 있는가입니다. 첫째를 확인하지 않고 둘째만 확인하면, 잘못된 첫 선택 뒤에서 남은 문제만 열심히 풀 수도 있습니다. 앞의 영 일 배낭에서 에이를 고정한 채 최선을 찾아도 에이를 빼는 최적 조합에는 도달하지 못하는 것과 같습니다.</a:t>
            </a:r>
          </a:p>
          <a:p>
            <a:r>
              <a:t/>
            </a:r>
          </a:p>
          <a:p>
            <a:r>
              <a:t>먼저 첫 번째 조건부터 자세히 보겠습니다.</a:t>
            </a: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탐욕적 선택 속성의 정의입니다. 지금 기준으로 가장 좋아 보이는 선택을 해도, 그 선택을 포함하는 최적해가 적어도 하나 있다는 성질입니다. 이 성질을 확인할 때는 청록색 판별 질문 하나를 기억하면 됩니다. 이 선택을 포함하는 최적해가 있는가. 그리디가 첫 번째로 고르는 것을 놓고 이 질문을 던져 보는 겁니다. 답이 예라면 그 선택을 확정하고 남은 문제로 넘어가도 최적해를 놓치지 않습니다. 그 선택을 포함하는 최적해가 어딘가에 있으니까요. 답이 아니오라면, 그 선택을 하는 순간 최적해로 가는 길이 모두 막힙니다. 어떤 최적해에도 그 선택이 들어 있지 않기 때문입니다. 아래 회색 문장도 중요합니다. 여기서 말하는 안전하다는 그 선택이 다른 선택보다 더 좋다는 뜻이 아닙니다. 그 선택을 해도 최적해로 가는 길이 남아 있다는 뜻입니다. 최적해가 여러 개라면 그중 하나만 그 선택을 포함해도 충분합니다.</a:t>
            </a:r>
          </a:p>
          <a:p>
            <a:r>
              <a:t/>
            </a:r>
          </a:p>
          <a:p>
            <a:r>
              <a:t>최적해라는 말은 남들보다 조금 좋은 답이 아니라 가능한 답 중 가장 좋은 값의 답입니다. 회의에서 최대 세 개를 고를 수 있고 서로 다른 세 개짜리 목록이 여럿 있다면 그 목록은 모두 최적해입니다. 그리디 첫 회의가 그중 한 목록에만 들어 있어도 첫 선택을 확정할 수 있습니다. 다른 모든 최적 목록까지 똑같이 만들 필요는 없습니다.</a:t>
            </a:r>
          </a:p>
          <a:p>
            <a:r>
              <a:t/>
            </a:r>
          </a:p>
          <a:p>
            <a:r>
              <a:t>다음 화면에서는 최적해의 일부를 바꿔 이 질문에 답하는 교환 논증을 보겠습니다.</a:t>
            </a: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교환 논증이라는 이름이 낯설지만, 뜻은 가장 좋은 답의 일부를 우리가 고른 것으로 바꿔도 손해가 없는지 보자는 것입니다. 먼저 최적해 하나를 놓고 생각합니다. 그 안에 그리디의 선택이 이미 있다면 첫 선택은 안전합니다. 없다면 그 안의 일부를 빼고 그리디 선택을 넣어 봅니다. 이때 조건을 계속 지키고, 답의 값도 나빠지지 않아야 합니다.</a:t>
            </a:r>
          </a:p>
          <a:p>
            <a:r>
              <a:t>회의에서는 최적 목록의 첫 회의를 더 먼저 끝나는 회의로 바꿨습니다. 뒤 회의들은 그대로 시작할 수 있고 개수도 하나를 빼고 하나를 넣었으니 같습니다. 그래서 그리디의 첫 회의를 포함하는 최적 목록이 생겼습니다. 실제 최대 목록을 미리 계산하는 알고리즘이 아니라, 그런 최대 목록이 존재한다고 놓고 성질을 따지는 증명입니다.</a:t>
            </a:r>
          </a:p>
          <a:p>
            <a:r>
              <a:t>분할 배낭에서는 에이가 아직 밖에 남아 있는데 안에는 더 낮은 가성비의 물건이 들어 있다고 해 보겠습니다. 배낭 안의 일 킬로그램을 빼고 에이 일 킬로그램을 넣으면 무게는 그대로이고 가치는 육백에서 칠백으로 늘어납니다. 최적이라고 한 답이 더 좋아졌으니, 그런 낮은 가성비를 먼저 담은 모습은 최적일 수 없습니다. 일부를 자유롭게 바꿀 수 있다는 것이 핵심이고, 남은 양이 일 킬로그램보다 작으면 그 작은 양만큼 바꾸면 됩니다. 통째로만 넣는 배낭에는 이 교환을 쓸 수 없습니다.</a:t>
            </a:r>
          </a:p>
          <a:p>
            <a:r>
              <a:t>동전도 같습니다. 백 원 다섯 개를 오백 원 한 개로 바꾸면 총금액은 그대로이고 개수는 네 개 줄어듭니다. 최소라고 한 답에 그런 묶음이 남아 있다면 모순입니다. 최대화 문제에서는 값이 줄지 않는지, 최소화 문제에서는 값이 늘지 않는지 확인합니다. 바꾼 답이 원래 최적해보다 나쁘지 않다면 그것도 최적해입니다. 이렇게 그리디의 선택이 들어 있는 최적해를 보이는 것이 교환 논증의 결론입니다.</a:t>
            </a: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조건은 최적 부분 구조입니다. 선택하고 남은 부분 문제의 최적해에 그 선택을 더하면 전체 최적해가 된다는 성질입니다. 거꾸로 말하면 전체 최적해 안에 부분 문제의 최적해가 들어 있습니다. 그림에서 작은 상자 하나하나가 부분 문제, 그림에서는 하위 문제라고 쓴 것의 최적해입니다. 이것들이 모여 가운데의 전체 최적해, 그림의 전역 최적해를 이룹니다. 활동 선택으로 보겠습니다. 첫 선택으로 일번 회의, 일시부터 삼시까지를 골랐다면, 남은 문제는 삼시 이후에 시작하는 회의 중에서 최대한 많이 고르는 것입니다. 처음 문제와 모양이 같고 크기만 작아졌습니다. 이 남은 문제의 최적해에 일번 회의를 더하면 전체 최적해가 됩니다. 그리디는 선택 하나를 확정한 뒤, 남은 문제를 처음과 같은 방법으로 풉니다. 남은 문제를 잘 푼 결과가 전체 답의 나머지가 된다는 보장이 있어야 이 방식이 맞습니다. 그래서 이 성질이 필요합니다. 마지막 문장처럼 이 성질은 그리디만의 것이 아닙니다. 사 장에서 본 최대 구간 합처럼 분할 정복으로 푸는 최적화 문제도, 육 장의 동적 계획법도 이 성질을 씁니다.</a:t>
            </a:r>
          </a:p>
          <a:p>
            <a:r>
              <a:t/>
            </a:r>
          </a:p>
          <a:p>
            <a:r>
              <a:t>여기서는 첫 회의를 안전하게 골랐다는 앞의 조건과 함께 읽어야 합니다. 아무 회의나 먼저 골라도 남은 최대 개수에 하나를 더하면 전체 최대가 된다는 뜻은 아닙니다. 예를 들어 일시에서 십시의 긴 회의를 잘못 고정하면 남은 곳에서 최선을 다해도 두 개짜리 답을 놓칠 수 있습니다. 남은 문제의 최적성만으로는 잘못된 첫 선택을 되돌릴 수 없습니다.</a:t>
            </a:r>
          </a:p>
          <a:p>
            <a:r>
              <a:t/>
            </a:r>
          </a:p>
          <a:p>
            <a:r>
              <a:t>다음 표에서는 이 성질만으로는 그리디가 맞는다고 결론 내릴 수 없는 이유를 비교하겠습니다.</a:t>
            </a: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표는 두 조건을 따로 봐야 하는 이유를 보여 줍니다. 활동 선택과 분할 배낭은 안전한 첫 선택이 있고, 그 선택 뒤의 작은 문제를 최적으로 풀어 이어 붙일 수 있습니다. 두 조건이 함께 맞기 때문에 우리가 쓴 그리디가 최적입니다.</a:t>
            </a:r>
          </a:p>
          <a:p>
            <a:r>
              <a:t>일 원, 삼 원, 사 원 동전으로 육 원을 만드는 문제는 다릅니다. 큰 동전부터 고르면 사 원을 먼저 고르지만, 최소인 삼 원 두 개에는 사 원이 없습니다. 그러니 그 첫 선택을 포함하는 최적해가 있다는 조건이 깨집니다. 하지만 최적 부분 구조는 남아 있습니다. 최적 답 삼 원과 삼 원에서 삼 원 하나를 떼면, 남은 삼 원의 최소 답은 삼 원 한 개입니다. 만약 나머지에 더 좋은 답이 있었다면 원래 전체 답도 더 좋게 바꿀 수 있었겠죠.</a:t>
            </a:r>
          </a:p>
          <a:p>
            <a:r>
              <a:t>영 일 배낭도 비슷합니다. 전체 최적 조합의 일부를 고정하면 남은 물건과 남은 용량에 대한 답은 최적이어야 합니다. 그렇다고 처음에 가성비가 가장 높은 물건을 고정해도 안전하다는 뜻은 아닙니다. 방금 용량 오십의 예에서 에이를 먼저 넣으면 비와 씨의 최적 조합을 놓쳤습니다. 남은 문제를 잘 푸는 성질과, 처음에 무엇을 확정해도 되는지는 다른 질문입니다.</a:t>
            </a:r>
          </a:p>
          <a:p>
            <a:r>
              <a:t>아래 두 줄의 다익스트라는 뒤에서 배울 내용입니다. 간선 비용이 영 이상이면 가장 가까운 미확정 정점을 안전하게 확정합니다. 음수 간선이 있으면 이 선택은 실패할 수 있습니다. 그래도 한 바퀴 돌수록 비용이 계속 줄어드는 음수 순환이 없는 상황에서는 최단 경로의 부분 경로가 최단이라는 성질은 남습니다. 이처럼 최적 부분 구조가 있다고 그리디가 자동으로 맞는 것은 아닙니다. 동전과 영 일 배낭은 다음 장의 동적 계획법으로 이어지고, 지금부터는 그래프에서 안전한 선택을 찾아보겠습니다.</a:t>
            </a:r>
          </a:p>
        </p:txBody>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절부터는 그래프를 씁니다. 그래프는 점과 그 점들을 잇는 선으로 이루어진 그림입니다. 왼쪽 그림을 보면서 오른쪽 표의 용어를 하나씩 읽겠습니다. 정점, 영어로 버텍스는 점입니다. 도시라고 생각하면 됩니다. 이 그림에는 에이, 비, 씨, 디 네 개가 있습니다. 정점의 수를 대문자 브이로 쓰니, 여기서는 브이가 사입니다. 간선, 엣지는 두 정점을 잇는 선이고, 도로에 해당합니다. 간선의 수는 대문자 이로 씁니다. 이 그림의 간선은 다섯 개입니다. 가중치, 웨이트는 간선에 붙은 비용입니다. 에이 비 간선은 일, 씨 디 간선은 사입니다. 경로는 간선을 따라 이어진 길입니다. 예를 들어 에이에서 비를 거쳐 디로 가는 길이 있습니다. 사이클은 출발한 정점으로 되돌아오는 닫힌 길입니다. 에이에서 비, 씨를 거쳐 다시 에이로 돌아오면 사이클이에요. 마지막으로 신장, 스패닝은 모든 정점을 포함한다는 뜻입니다. 에이, 비, 씨, 디를 하나도 빠짐없이 포함해야 신장이라고 합니다.</a:t>
            </a:r>
          </a:p>
          <a:p>
            <a:r>
              <a:t/>
            </a:r>
          </a:p>
          <a:p>
            <a:r>
              <a:t>가중치라는 용어를 어렵게 생각할 필요는 없습니다. 선 하나를 쓰는 데 붙여 놓은 숫자입니다. 도로 길이라면 거리이고, 지나가는 시간이라면 분이고, 설치비라면 돈입니다. 크루스칼에서는 선들을 설치하는 총비용으로, 다익스트라에서는 지나온 선들의 누적 비용으로 읽겠습니다. 무엇의 비용인지 문제에서 정하는 것이지 항상 거리만 뜻하는 것은 아닙니다.</a:t>
            </a:r>
          </a:p>
          <a:p>
            <a:r>
              <a:t/>
            </a:r>
          </a:p>
          <a:p>
            <a:r>
              <a:t>다음 화면에서 이 용어들로 최소 신장 트리를 정의하겠습니다.</a:t>
            </a:r>
          </a:p>
        </p:txBody>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이 절의 목표를 정의하겠습니다. 신장 트리는 모든 정점을 잇고, 사이클이 없는 간선 모음입니다. 최소 신장 트리는 그런 신장 트리 중에서 가중치 합이 가장 작은 것입니다. 영어로 미니멈 스패닝 트리, 줄여서 엠에스티라고 부릅니다. 조건 세 가지를 보세요. 첫째, 모두 연결되어야 합니다. 어느 정점 하나라도 떨어져 있으면 신장 트리가 아닙니다. 둘째, 사이클이 없어야 합니다. 사이클이 있으면 그중 간선 하나를 빼도 여전히 모든 정점이 연결됩니다. 모두 잇는 데 사이클은 필요 없고, 가중치가 양수라면 그 간선은 비용만 늘린 셈이죠. 셋째, 정점이 브이 개면 간선은 정확히 브이 빼기 일 개입니다. 이유는 다음 화면에서 보겠습니다. 오른쪽 그림은 집 열 채를 잇는 예입니다. 집이 정점, 선이 간선, 수가 가중치입니다. 굵은 선 아홉 개가 최소 신장 트리이고, 가중치를 더하면 삼십팔입니다. 맨 위의 짧은 굵은 선은 숫자가 가려졌는데, 가중치 일입니다. 정점 열 개에 간선 아홉 개, 브이 빼기 일 개가 맞습니다. 회색 선을 하나라도 더 넣으면 사이클이 생기고, 굵은 선을 하나라도 빼면 어떤 집이 떨어져 나갑니다.</a:t>
            </a:r>
          </a:p>
          <a:p>
            <a:r>
              <a:t/>
            </a:r>
          </a:p>
          <a:p>
            <a:r>
              <a:t>여기서는 집 한 채를 정해 그 집에서 출발하는 문제가 아닙니다. 어느 집에서든 다른 집으로 선을 따라 갈 수 있는 전체 연결망을 만드는 문제입니다. 최소 신장 트리가 여러 개일 수는 있지만, 최소라는 같은 기준의 답이므로 총비용은 같습니다. 집 이름이나 그림에서 왼쪽에 놓인 위치가 선택 순서를 정하지는 않습니다.</a:t>
            </a:r>
          </a:p>
        </p:txBody>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신장 트리의 간선이 왜 브이 빼기 일 개인지 보겠습니다. 먼저 덩어리라는 말을 정합니다. 덩어리는 서로 경로로 이어진 정점들의 묶음입니다. 맨 왼쪽은 간선이 하나도 없는 상태입니다. 정점 네 개가 모두 따로 떨어져 있으니 덩어리가 네 개입니다. 여기에 에이 비 간선을 하나 넣으면 에이와 비가 한 덩어리가 되어 덩어리가 세 개로 줄어듭니다. 비 씨 간선을 넣으면 두 개, 씨 디 간선을 넣으면 한 개가 됩니다. 서로 다른 두 덩어리를 잇는 간선은 덩어리 수를 정확히 하나 줄입니다. 그러니 덩어리 네 개를 한 개로 만들려면 간선이 세 개, 즉 사 빼기 일 개 필요합니다. 정점이 브이 개면 처음 덩어리가 브이 개이므로, 한 덩어리가 되려면 간선 브이 빼기 일 개가 필요합니다. 맨 오른쪽은 간선을 하나 더 넣은 경우입니다. 에이 씨를 넣으면, 에이와 씨는 이미 같은 덩어리라서 덩어리 수가 줄지 않습니다. 대신 에이, 비, 씨, 에이로 도는 사이클이 생깁니다. 이미 길이 있는 두 정점을 또 이었기 때문입니다. 그래서 사이클 없이 모두 잇는 신장 트리의 간선은 정확히 브이 빼기 일 개입니다. 정점 네 개면 세 개, 여섯 개면 다섯 개입니다. 이 사실이 크루스칼이 언제 멈출지를 정해 줍니다.</a:t>
            </a:r>
          </a:p>
          <a:p>
            <a:r>
              <a:t/>
            </a:r>
          </a:p>
          <a:p>
            <a:r>
              <a:t>반대로 아무 간선이나 세 개 골랐다고 네 정점을 연결한 것은 아닙니다. 에이, 비, 씨끼리 세 선을 골라 삼각형을 만들면 디는 여전히 떨어져 있습니다. 브이 빼기 일 개라는 개수와 사이클 없이 연결한다는 조건을 함께 써야 합니다. 크루스칼은 같은 묶음을 잇는 선을 버리기 때문에 채택할 때마다 묶음 수가 실제로 하나씩 줄어듭니다.</a:t>
            </a:r>
          </a:p>
        </p:txBody>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크루스칼은 모든 도로를 공사비가 싼 순서로 줄 세우는 방법입니다. 어느 도시에서 출발해 옆 도시로 이동하는 방식이 아닙니다. 지금 연결된 위치와 상관없이 그래프 전체에서 가장 싼 남은 선을 봅니다. 그래서 처음에는 서로 떨어진 여러 묶음이 동시에 생길 수 있습니다.</a:t>
            </a:r>
          </a:p>
          <a:p>
            <a:r>
              <a:t>처음에는 각 도시가 혼자 있는 묶음입니다. 선의 양 끝이 서로 다른 묶음이면 그 선을 채택해 두 묶음을 합칩니다. 이미 같은 묶음이면 기존 길로 서로 오갈 수 있습니다. 거기에 선을 하나 더 넣으면 한 바퀴 도는 사이클이 생기므로 버립니다. 중요한 것은 직접 선이 있느냐만 보는 것이 아니라 중간 도시를 거쳐서라도 이미 이어져 있느냐를 보는 것입니다.</a:t>
            </a:r>
          </a:p>
          <a:p>
            <a:r>
              <a:t>왜 싼 선을 먼저 연결해도 괜찮을까요? 현재 한 묶음과 바깥을 잇는 데는 결국 선 하나가 필요합니다. 그 경계를 넘는 가장 싼 선 대신 더 비싼 선을 사용한 최적 트리가 있다면, 그 싼 선을 넣고 생긴 사이클에서 경계를 넘는 다른 선 하나를 뺄 수 있습니다. 연결은 유지되고 비용은 늘지 않습니다. 따라서 지금의 싼 선택을 포함하는 최적 트리를 만들 수 있습니다. 자세한 형식 증명보다, 필요한 연결을 더 싼 것으로 바꿔도 손해가 없다는 뜻을 먼저 이해하면 됩니다.</a:t>
            </a:r>
          </a:p>
          <a:p>
            <a:r>
              <a:t>정점이 브이 개이면 채택한 선이 브이 빼기 일 개가 될 때 멈춥니다. 여기서는 모든 도시를 연결할 수 있는 그래프를 전제로 합니다. 그래프가 원래 끊겨 있으면 선을 다 봐도 한 묶음이 되지 않아 전체 신장 트리는 만들 수 없습니다. 비용이 같은 선이 여러 개라면 선택된 선 모양은 달라질 수 있지만, 만들어진 최소 트리의 총비용은 같습니다. 이제 네 도시 예제를 따라가겠습니다.</a:t>
            </a: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연습문제입니다. 정점은 에이, 비, 씨, 디 네 개이고 간선은 다섯 개입니다. 그래프 용어를 정리할 때 본 바로 그 그래프예요. 가중치는 에이 비 일, 비 씨 이, 에이 씨 삼, 씨 디 사, 비 디 오입니다. 먼저 가중치 오름차순으로 정렬합니다. 오른쪽 표처럼 에이 비, 비 씨, 에이 씨, 씨 디, 비 디 순서입니다. 정점이 네 개이므로 간선 브이 빼기 일, 세 개를 채택하면 멈춥니다. 첫 간선은 에이 비, 일입니다. 그래프의 주황 간선과 노란 정점 에이, 비가 지금 보는 간선과 그 두 끝이고, 표의 노란 줄도 같은 간선입니다. 에이와 비는 각자 혼자인 서로 다른 덩어리이므로 채택합니다. 오른쪽 아래처럼 덩어리는 에이 비 묶음, 씨, 디로 세 개가 되고, 합계는 일입니다. 채택한 간선이 세 개가 되려면 아직 두 개가 더 필요합니다.</a:t>
            </a:r>
          </a:p>
          <a:p>
            <a:r>
              <a:t/>
            </a:r>
          </a:p>
          <a:p>
            <a:r>
              <a:t>이 첫 채택에서 에이에 방문했다거나 에이에서 출발했다고 표현하지 않겠습니다. 가장 싼 선이 에이와 비를 이었을 뿐입니다. 만약 가장 싼 선이 씨와 디 사이에 있었다면 그 선부터 봅니다. 알고리즘의 기준은 특정 도시와의 가까움이 아니라 그래프 전체 간선의 가격 순서입니다.</a:t>
            </a:r>
          </a:p>
          <a:p>
            <a:r>
              <a:t/>
            </a:r>
          </a:p>
          <a:p>
            <a:r>
              <a:t>다음은 비 씨, 이입니다.</a:t>
            </a: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번째 간선은 비 씨, 이입니다. 앞에서 채택한 에이 비는 이제 청록색이고, 지금 보는 비 씨가 주황색입니다. 비는 에이 비 덩어리에 있고, 씨는 혼자입니다. 서로 다른 덩어리이므로 채택합니다. 이제 에이, 비, 씨가 한 덩어리이고 디만 혼자 남았습니다. 제목 아래 둘째 줄처럼 덩어리는 두 개입니다. 표에는 위의 두 줄이 채택으로 적혀 있습니다. 오른쪽 아래처럼 채택한 간선은 두 개, 합계는 일 더하기 이로 삼입니다. 목표인 간선 세 개까지 하나 남았습니다. 남은 하나는 혼자 떨어진 디를 잇는 간선이어야 합니다. 에이와 씨 사이에 주목하세요. 에이에서 비를 거쳐 씨로 가는 길이 생겼습니다. 다음 간선이 바로 에이 씨입니다. 에이 씨를 채택할지, 넘어가기 전에 직접 판단해 보세요. 판단 기준은 가중치가 아니라, 에이와 씨가 이미 같은 덩어리인가입니다.</a:t>
            </a:r>
          </a:p>
          <a:p>
            <a:r>
              <a:t/>
            </a:r>
          </a:p>
          <a:p>
            <a:r>
              <a:t>새로 더한 비용은 이이고 누적 비용은 삼입니다. 채택한 선의 개수는 둘, 연결된 정점 수는 셋, 남은 묶음 수는 둘로 서로 다른 숫자입니다. 문제에서 총비용을 물으면 개수 둘을 답하는 것이 아니라 일과 이를 더한 삼을 계산해야 합니다. 다음 선을 볼 때도 이 누적 상태를 유지합니다.</a:t>
            </a: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세 번째 간선은 에이 씨, 삼입니다. 에이와 씨는 이미 같은 덩어리입니다. 주황색 길처럼 에이에서 에이 비 간선을 타고 비로, 비 씨 간선을 타고 씨로 이미 이어져 있습니다. 여기에 에이 씨를 더하면 에이, 비, 씨, 에이로 도는 사이클이 생깁니다. 에이에서 씨로 가는 길이 두 갈래가 되는 거죠. 그래서 빨간 점선처럼 버립니다. 표의 셋째 줄 결과에 사이클이라고 적었습니다. 덩어리는 그대로 에이 비 씨 묶음과 디, 두 개입니다. 가중치 삼은 남은 씨 디나 비 디보다 작습니다. 그래도 버리는 이유는 가격이 아니라 사이클입니다. 크루스칼은 싼 간선이라도 사이클을 만들면 버립니다. 에이 씨를 넣지 않아도 에이와 씨는 이미 연결되어 있으니 잃는 것이 없습니다. 채택한 간선은 그대로 두 개, 합계도 삼입니다.</a:t>
            </a:r>
          </a:p>
          <a:p>
            <a:r>
              <a:t/>
            </a:r>
          </a:p>
          <a:p>
            <a:r>
              <a:t>사이클을 버리면 삼이라는 비용을 합계에 더하지 않습니다. 채택된 간선 수 역시 늘리지 않습니다. 간선을 확인한 횟수는 세 번이지만 실제 채택 수는 두 개입니다. 멈추는 조건은 확인한 간선이 세 개가 되는 때가 아니라 채택한 간선이 세 개가 되는 때입니다. 이 둘을 섞으면 아직 떨어진 디를 연결하기 전에 잘못 끝낼 수 있습니다.</a:t>
            </a:r>
          </a:p>
          <a:p>
            <a:r>
              <a:t/>
            </a:r>
          </a:p>
          <a:p>
            <a:r>
              <a:t>다음은 씨 디, 사입니다.</a:t>
            </a: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네 번째 간선은 씨 디, 사입니다. 씨는 에이 비 씨 덩어리에 있고 디는 혼자이므로 채택합니다. 이제 네 정점이 모두 한 덩어리가 되었고, 채택한 간선이 세 개입니다. 정점 네 개의 브이 빼기 일, 세 개가 모였으니 신장 트리가 완성되었습니다. 여기서 멈춥니다. 그래서 마지막 간선 비 디, 오는 확인하지 않습니다. 표에 확인하지 않음이라고 적었습니다. 확인했더라도 비와 디는 이미 같은 덩어리라서 사이클이 되었겠지만, 알고리즘은 간선이 브이 빼기 일 개가 되는 순간 멈추므로 비 디를 꺼내 보지도 않습니다. 최소 신장 트리는 에이 비, 비 씨, 씨 디이고, 합은 일 더하기 이 더하기 사, 칠입니다. 정리하면 에이 비 채택, 비 씨 채택, 에이 씨는 사이클이라 제외, 씨 디 채택, 그리고 비 디는 확인하지 않음입니다.</a:t>
            </a:r>
          </a:p>
          <a:p>
            <a:r>
              <a:t/>
            </a:r>
          </a:p>
          <a:p>
            <a:r>
              <a:t>총비용 칠을 다른 세 선의 합과 모두 비교해 정한 것은 아닙니다. 정렬된 순서와 사이클 검사로 안전한 선을 고른 결과입니다. 그렇다고 모든 선을 읽지 않아도 된다는 뜻은 아닙니다. 입력의 선들을 정렬하려면 전체 간선 목록을 먼저 다룰 수 있습니다. 조합을 전부 만들어 비교하지 않는다는 점과 입력을 살펴보는 일을 구별해야 합니다.</a:t>
            </a:r>
          </a:p>
          <a:p>
            <a:r>
              <a:t/>
            </a:r>
          </a:p>
          <a:p>
            <a:r>
              <a:t>다음은 가중치가 음수인 경우입니다.</a:t>
            </a: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이번에는 가중치에 음수가 있는 그래프입니다. 정점은 에이, 비, 씨이고, 에이 비는 마이너스 삼, 비 씨는 일, 에이 씨는 사입니다. 크루스칼은 가중치를 정렬할 때 크기를 비교하는 데만 씁니다. 음수도 크기 비교는 똑같이 되니, 마이너스 삼이 가장 작아 맨 앞에 옵니다. 정렬 순서는 에이 비, 비 씨, 에이 씨입니다. 표의 결과 칸에 순서를 붙였습니다. 첫째, 에이 비, 마이너스 삼을 채택합니다. 둘째, 비 씨, 일을 채택합니다. 정점이 세 개이므로 브이 빼기 일, 간선 두 개가 모였고 여기서 멈춥니다. 에이 씨는 확인하지 않습니다. 합은 마이너스 삼 더하기 일, 마이너스 이입니다. 최소 신장 트리의 합이 음수여도 아무 문제가 없습니다. 크루스칼의 선택을 정당화하는 교환 논리에도 가중치가 영 이상이어야 한다는 조건은 필요하지 않습니다. 이 점이 다익스트라와 다릅니다. 오 점 팔 절의 다익스트라는 음수 간선이 있으면 틀릴 수 있지만, 크루스칼은 음수 가중치에서도 그대로 성립합니다.</a:t>
            </a:r>
          </a:p>
          <a:p>
            <a:r>
              <a:t/>
            </a:r>
          </a:p>
          <a:p>
            <a:r>
              <a:t>음수라서 사이클도 허용하자는 뜻은 아닙니다. 신장 트리는 정의상 사이클이 없어야 하므로 가중치 부호와 무관하게 그 조건을 지킵니다. 비용이 음수인 간선이 실제로는 할인이나 이득을 표현한다고 생각해도 됩니다. 중요한 것은 이 문제의 목표가 경로를 반복해서 도는 비용이 아니라 선택한 트리 간선들의 합이라는 점입니다.</a:t>
            </a:r>
          </a:p>
          <a:p>
            <a:r>
              <a:t/>
            </a:r>
          </a:p>
          <a:p>
            <a:r>
              <a:t>이제 시작점에서 각 장소까지 가장 짧게 가는 길을 구하는 다익스트라로 넘어가겠습니다.</a:t>
            </a:r>
          </a:p>
        </p:txBody>
      </p:sp>
    </p:spTree>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다익스트라는 출발점 하나에서 다른 각 장소까지 가장 짧게 가는 거리를 구합니다. 모든 도시를 돌아보는 여행 순서를 만드는 문제가 아닙니다. 출발점에서 비까지 얼마나 걸리는지, 씨까지 얼마나 걸리는지처럼 목적지별 답을 각각 구합니다. 선의 숫자는 거리일 수도 있고 시간이나 요금일 수도 있습니다. 이런 일반적인 선의 비용을 가중치라고 부릅니다. 다익스트라는 그 비용이 모두 영 이상인 경우를 다룹니다.</a:t>
            </a:r>
          </a:p>
          <a:p>
            <a:r>
              <a:t>디스트라는 배열을 쓰겠습니다. 디스트 브이는 출발점에서 브이까지 지금까지 발견한 길 가운데 가장 짧은 길의 비용입니다. 처음에는 출발점이 영이고 나머지는 무한대입니다. 무한대는 아직 길을 찾지 못했다는 표시입니다. 이후 더 짧은 길을 발견하면 값을 줄입니다. 더는 줄어들 수 없다고 결론 내린 정점에 표시하는 것을 확정이라고 합니다.</a:t>
            </a:r>
          </a:p>
          <a:p>
            <a:r>
              <a:t>여기서 가장 가까운 곳을 고른다는 말을 차를 몰고 그쪽으로 가 버린다고 이해하면 헷갈립니다. 알고리즘은 움직이는 자동차가 아니라 여러 목적지의 거리표를 관리합니다. 예를 들어 에이에서 엑스까지 이, 엑스에서 비까지 십이고, 에이에서 비로 바로 가면 십이라고 해 보겠습니다. 에이를 처리하면 엑스 이와 비 십을 둘 다 적습니다. 엑스를 먼저 확정한 뒤 비까지 가는 후보 이 더하기 십, 십이를 계산해도 기존 비 십보다 크므로 비의 값은 바꾸지 않습니다. 엑스를 먼저 보았다고 비까지도 그 길로 가기로 정한 것이 아닙니다.</a:t>
            </a:r>
          </a:p>
          <a:p>
            <a:r>
              <a:t>그림에서는 집에서 편의점 이 분, 학교 십 분, 병원 십오 분을 발견한 상태입니다. 그중 가장 작은 편의점의 이 분만 먼저 확정하고, 편의점을 거쳐 다른 곳으로 더 짧게 가는 길이 있는지 계산합니다. 가까운 정점 하나를 확정하는 것과 나머지 정점의 경로까지 확정하는 것을 구별하세요. 이제 이 확정이 왜 안전한지 보겠습니다.</a:t>
            </a:r>
          </a:p>
        </p:txBody>
      </p:sp>
    </p:spTree>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그림에서 편의점은 이 분, 학교는 십 분입니다. 학교를 거쳐 편의점에 가면 학교까지 십 분에 그 뒤 길의 비용을 더해야 합니다. 그 비용을 엑스라고 할 때 엑스가 영 이상이면 합은 적어도 십 분입니다. 이미 학교에 도착하는 데 십 분을 썼으니 이 분짜리 길을 이길 수 없습니다. 길을 더 간다고 지금까지 쓴 시간이 줄어들지 않는 것이 핵심입니다.</a:t>
            </a:r>
          </a:p>
          <a:p>
            <a:r>
              <a:t>복잡한 그래프에서도 같은 생각을 조금 정확하게 적용할 수 있습니다. 지금 가장 작은 미확정 거리가 이이고, 이보다 짧은 다른 길이 있다고 가정해 보겠습니다. 그 길을 출발점부터 따라가다가 아직 확정하지 않은 정점에 처음 들어가는 순간을 봅니다. 바로 앞 정점은 이미 확정된 곳입니다. 그 앞 정점을 처리할 때 나가는 선을 검사했으므로, 처음 미확정 정점까지 가는 이 경로의 비용은 이미 거리표에 반영할 기회가 있었습니다.</a:t>
            </a:r>
          </a:p>
          <a:p>
            <a:r>
              <a:t>그 전체 길이 이보다 짧고 뒤에 더하는 비용도 음수가 아니라면, 그 처음 미확정 정점까지의 비용 역시 이보다 짧아야 합니다. 그러면 미확정 거리표에 이보다 작은 값이 있어야 합니다. 그런데 우리는 그 표에서 가장 작은 값 이를 골랐습니다. 두 말이 동시에 맞을 수 없습니다. 그래서 지금 고른 이만큼은 더 짧아질 수 없고 확정해도 됩니다.</a:t>
            </a:r>
          </a:p>
          <a:p>
            <a:r>
              <a:t>다른 미확정 정점의 값은 이후에 줄어들 수 있습니다. 가장 가까운 하나만 안전하게 확정한다는 말이지 모든 직행 경로가 최단이라는 말은 아닙니다. 또 학교에서 편의점까지 비용이 마이너스 구라면 십 빼기 구로 일이 되어 이보다 작아집니다. 그래서 음수 간선이 있으면 이 설명의 핵심이 깨집니다. 먼저 거리를 실제로 줄이는 연산부터 보겠습니다.</a:t>
            </a:r>
          </a:p>
        </p:txBody>
      </p:sp>
    </p:spTree>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다익스트라가 거리를 고치는 연산을 완화, 영어로 릴랙세이션이라고 합니다. 디스트 브이를, 지금 값과 디스트 유 더하기 더블유 중 작은 값으로 바꾸는 것입니다. 여기서 더블유는 유에서 브이로 가는 간선의 비용입니다. 유를 거쳐 브이로 가는 길이 지금 알고 있는 길보다 짧으면 고치고, 아니면 그대로 둡니다. 연습문제 예로 직접 계산해 보겠습니다. 디스트 유가 칠, 유에서 브이로 가는 간선 비용이 삼, 디스트 브이가 십오입니다. 유를 거치면 칠 더하기 삼, 십입니다. 십이 지금 값 십오보다 작으므로 디스트 브이를 십으로 고칩니다. 시작점에서 브이까지 십오짜리 길만 알고 있었는데, 유를 거치는 십짜리 길을 새로 찾은 것입니다. 반대 경우도 보겠습니다. 디스트 브이가 처음부터 구였다면, 유를 거친 십은 구보다 크므로 고치지 않고 구를 그대로 둡니다. 완화는 거리를 줄이기만 하고 늘리지는 않습니다. 오른쪽 의사코드의 이프 조건이 바로 이 비교입니다. 작다 기호를 쓰므로 같을 때도 고치지 않습니다. 다익스트라는 한 정점을 확정할 때마다 그 정점에서 나가는 간선들로 이 완화를 합니다.</a:t>
            </a:r>
          </a:p>
          <a:p>
            <a:r>
              <a:t/>
            </a:r>
          </a:p>
          <a:p>
            <a:r>
              <a:t>헷갈리기 쉬운 계산도 구별하겠습니다. 십오에 삼을 더하는 것이 아닙니다. 십오는 기존에 찾은 다른 길의 비용이므로 비교 대상입니다. 칠은 출발점에서 유까지 이미 쓴 비용이고 삼은 유에서 브이로 한 번 더 가는 비용입니다. 그래서 새 후보 칠 더하기 삼과 기존 십오를 비교합니다. 디스트 유 자체는 이 연산에서 바뀌지 않습니다.</a:t>
            </a:r>
          </a:p>
          <a:p>
            <a:r>
              <a:t/>
            </a:r>
          </a:p>
          <a:p>
            <a:r>
              <a:t>이제 예제 그래프를 처음부터 끝까지 따라가 보겠습니다.</a:t>
            </a:r>
          </a:p>
        </p:txBody>
      </p:sp>
    </p:spTree>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이제 예제 그래프로 다익스트라를 처음부터 따라가겠습니다. 정점은 에이부터 에프까지 여섯 개이고, 화살표 방향으로만 갈 수 있는 방향 그래프입니다. 간선은 아홉 개입니다. 에이에서 비로 팔, 씨로 일, 디로 이, 씨에서 비로 오, 디로 이, 디에서 정점 이로 삼, 에프로 오, 정점 이에서 에프로 일, 그리고 에프에서 에이로 돌아오는 오가 있습니다. 시작점은 에이입니다. 시작점에서 자기 자신까지는 거리가 영이므로 디스트 에이는 영입니다. 나머지 정점은 아직 어떤 길도 모르므로 무한대로 둡니다. 그래프의 각 정점 옆 숫자와 오른쪽 표가 지금의 디스트입니다. 아직 확정한 정점은 하나도 없습니다. 이제 다익스트라는 같은 일을 반복합니다. 확정하지 않은 정점 중 디스트가 가장 작은 정점을 하나 골라 확정하고, 그 정점에서 나가는 간선으로 완화합니다. 지금 디스트가 무한대가 아닌 정점은 에이뿐이므로 에이가 첫 번째로 확정됩니다.</a:t>
            </a:r>
          </a:p>
          <a:p>
            <a:r>
              <a:t/>
            </a:r>
          </a:p>
          <a:p>
            <a:r>
              <a:t>에프에서 에이로 가는 화살표가 있다고 에이에서 에프로도 바로 갈 수 있는 것은 아닙니다. 방향 그래프에서는 화살표 방향을 반드시 지켜야 합니다. 또 무한대는 아직 경로를 발견하지 못한 초기값이지 그 정점에 영원히 갈 수 없다고 결론 낸 표시가 아닙니다. 뒤의 중간 정점들을 처리하면 유한한 값으로 바뀔 수 있습니다.</a:t>
            </a:r>
          </a:p>
          <a:p>
            <a:r>
              <a:t/>
            </a:r>
          </a:p>
          <a:p>
            <a:r>
              <a:t>다음 화면에서 에이를 확정하고 에이에서 나가는 간선 세 개를 완화하겠습니다.</a:t>
            </a:r>
          </a:p>
        </p:txBody>
      </p:sp>
    </p:spTree>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첫 번째 확정입니다. 확정하지 않은 정점 중 디스트가 가장 작은 것은 영인 에이입니다. 에이를 확정합니다. 시작점까지의 거리 영은 더 줄어들 수 없으니 당연합니다. 이제 에이에서 나가는 간선 세 개로 완화합니다. 비는 영 더하기 팔, 팔이 무한대보다 작으므로 팔로 고칩니다. 씨는 영 더하기 일로 일, 디는 영 더하기 이로 이가 됩니다. 그래프에서 주황색 간선이 이번에 완화한 간선이고, 오른쪽 표에서 바뀐 값은 청록색으로 표시했습니다. 정점 이와 에프는 에이에서 바로 가는 간선이 없어서 아직 무한대입니다. 지금 디스트 비 팔은 확정이 아니라 지금까지 찾은 가장 짧은 거리라는 점을 기억해 두세요. 더 좋은 길이 나오면 바뀔 수 있습니다. 다음에 확정할 정점을 미리 찾아보겠습니다. 미확정인 비 팔, 씨 일, 디 이, 정점 이와 에프 무한대 중 가장 작은 값은 씨의 일입니다.</a:t>
            </a:r>
          </a:p>
          <a:p>
            <a:r>
              <a:t/>
            </a:r>
          </a:p>
          <a:p>
            <a:r>
              <a:t>비의 팔이 적혔다고 비까지 팔이 최단으로 확정된 것은 아닙니다. 씨의 일이 더 작으므로 먼저 씨를 확정하고, 씨를 거쳐 비로 더 짧게 가는 후보를 계산할 수 있습니다. 출발점에서 직접 갈 수 있는 여러 정점의 값들을 동시에 기록해 둔다는 점이 한 길로만 움직이는 탐색과 다른 부분입니다.</a:t>
            </a:r>
          </a:p>
          <a:p>
            <a:r>
              <a:t/>
            </a:r>
          </a:p>
          <a:p>
            <a:r>
              <a:t>다음 화면에서 씨를 확정하겠습니다.</a:t>
            </a:r>
          </a:p>
        </p:txBody>
      </p:sp>
    </p:spTree>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현재 미확정 거리 중 가장 작은 값은 씨의 일입니다. 씨를 일로 확정하고, 씨에서 나가는 두 간선을 검사하겠습니다. 먼저 씨에서 비로 가는 비용은 오입니다. 출발점 에이에서 씨까지 일이 들고 거기서 비까지 오가 더 드니 후보는 육입니다. 기존 비 팔보다 작으므로 비를 육으로 줄입니다. 바로 가는 길보다 씨를 거쳐 가는 길이 더 짧다는 것을 찾았습니다.</a:t>
            </a:r>
          </a:p>
          <a:p>
            <a:r>
              <a:t>씨에서 디로 가는 비용은 이입니다. 후보는 일 더하기 이로 삼입니다. 하지만 디에는 에이에서 바로 가는 이가 이미 적혀 있습니다. 삼은 이보다 길어서 바꾸지 않습니다. 같은 정점에서 두 간선을 검사해도 하나는 갱신되고 하나는 그대로일 수 있습니다. 매번 간선 하나의 숫자가 아니라 출발점부터의 누적 후보를 비교해야 합니다.</a:t>
            </a:r>
          </a:p>
          <a:p>
            <a:r>
              <a:t>이후의 중간 과정도 이어서 계산하겠습니다. 다음 미확정 최소는 디의 이입니다. 디에서 정점 이로 가는 선의 비용은 삼이므로, 디를 거친 정점 이의 거리는 이 더하기 삼으로 오입니다. 처음에는 무한대였으니 오로 고칩니다. 디에서 에프로 가는 선은 오이므로 후보는 이 더하기 오로 칠이고, 에프를 칠로 고칩니다.</a:t>
            </a:r>
          </a:p>
          <a:p>
            <a:r>
              <a:t>이제 미확정 값은 정점 이가 오, 비가 육, 에프가 칠입니다. 정점 이를 오로 확정합니다. 정점 이에서 에프로 가는 비용은 일이므로 후보는 오 더하기 일로 육입니다. 에프의 기존 칠보다 작아 육으로 줄입니다. 이제 비와 에프가 모두 육으로 같습니다. 그림의 진행에서는 비를 먼저 확정한 뒤 에프를 확정합니다. 비에는 이 예에서 더 검사할 나가는 선이 없습니다. 동률의 순서를 바꿔도 최종 거리는 같습니다. 다음 화면이 그 계산을 마친 결과입니다.</a:t>
            </a:r>
          </a:p>
        </p:txBody>
      </p:sp>
    </p:spTree>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마지막으로 에프를 확정합니다. 디스트 에프는 육입니다. 에프에서 나가는 간선은 에이로 가는 오 하나입니다. 에이는 이미 확정되었으므로 고치지 않습니다. 계산해 보아도 육 더하기 오는 십일로 영보다 작지 않습니다. 이제 여섯 정점이 모두 확정되었습니다. 최종 거리는 에이 영, 비 육, 씨 일, 디 이, 정점 이 오, 에프 육입니다. 확정 순서는 에이, 씨, 디, 정점 이, 비, 에프였습니다. 청록색 간선 다섯 개를 보세요. 각 정점의 디스트를 마지막으로 만든 간선입니다. 이 간선들은 시작점 에이에서 뻗어 나가는 나무 모양이 되고, 이것을 최단 경로 트리라고 부릅니다. 예를 들어 에프까지의 최단 경로는 청록색 간선을 따라가면 에이, 디, 정점 이, 에프이고 길이는 이 더하기 삼 더하기 일, 육입니다. 연회색 간선 세 개, 에이에서 비로 가는 팔, 씨에서 디로 가는 이, 디에서 에프로 가는 오는 어떤 최단 경로에도 쓰이지 않았습니다.</a:t>
            </a:r>
          </a:p>
          <a:p>
            <a:r>
              <a:t/>
            </a:r>
          </a:p>
          <a:p>
            <a:r>
              <a:t>디스트 비 육은 에이에서 씨로 일, 씨에서 비로 오를 더한 값입니다. 디스트 에프 육과 숫자는 같아도 두 목적지의 경로는 다릅니다. 동률이라 어떤 정점을 먼저 확정하느냐에 따라 처리 순서가 달라질 수는 있지만, 여기의 거리 답이 달라지는 것은 아닙니다. 선택한 트리 간선의 비용 합이나 모든 거리의 합을 따로 구하라는 문제와도 구별하겠습니다.</a:t>
            </a:r>
          </a:p>
          <a:p>
            <a:r>
              <a:t/>
            </a:r>
          </a:p>
          <a:p>
            <a:r>
              <a:t>지금까지의 과정을 의사코드로 정리해 보겠습니다.</a:t>
            </a:r>
          </a:p>
        </p:txBody>
      </p:sp>
    </p:spTree>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의사코드의 입력은 그래프와 시작 정점입니다. 디스트는 시작점에서 각 정점까지 발견한 최단 후보이고, 비지티드는 그 거리를 확정했는지 나타냅니다. 처음에는 모든 디스트를 무한대, 모든 비지티드를 거짓으로 놓습니다. 시작점만 디스트 영으로 바꿉니다. 아직 출발점도 확정 표시는 하지 않았으므로 첫 반복에서 선택됩니다.</a:t>
            </a:r>
          </a:p>
          <a:p>
            <a:r>
              <a:t>반복은 정점 수인 브이 번까지 합니다. 매번 아직 확정하지 않은 정점들 가운데 디스트가 가장 작은 유를 고릅니다. 여기서 유는 지금 정점의 이름이고, 대문자 브이는 전체 정점 수입니다. 남은 값이 모두 무한대라면 시작점에서 더 도달할 곳이 없으므로 반복을 끝냅니다. 그런 정점은 결과에도 무한대로 남습니다. 전체 그래프가 연결되지 않아도 알고리즘이 멈추는 이유입니다.</a:t>
            </a:r>
          </a:p>
          <a:p>
            <a:r>
              <a:t>유를 골랐다면 비지티드 유를 참으로 바꿉니다. 이것이 확정입니다. 다음 포 문은 유에서 나가는 간선들을 하나씩 봅니다. 이웃 브이가 아직 미확정이고, 디스트 유에 간선 비용 더블유를 더한 값이 기존 디스트 브이보다 작을 때만 새 값으로 고칩니다. 이것이 완화입니다. 같거나 더 크면 그대로 둡니다. 모든 간선을 다 따라가며 경로 조합을 만드는 것이 아니라 이웃마다 거리 후보 하나를 비교하는 것입니다.</a:t>
            </a:r>
          </a:p>
          <a:p>
            <a:r>
              <a:t>선택과 완화를 구별하세요. 가장 작은 디스트 정점 하나를 고르는 것은 다음 확정 대상을 정하는 일이고, 그 정점의 나가는 선을 검사하는 것은 다른 거리표를 갱신하는 일입니다. 따라서 바깥 반복 하나에 정점 하나를 확정하면서 여러 이웃을 확인할 수 있습니다. 마지막 리턴은 거리 배열 전체를 돌려줍니다. 거리들을 전부 더한 합을 반환하는 것이 아닙니다.</a:t>
            </a:r>
          </a:p>
          <a:p>
            <a:r>
              <a:t>배열에서 최소를 찾으려면 매번 최대 브이 칸을 훑습니다. 이것을 최대 브이 번 하므로 브이 제곱 규모입니다. 인접 행렬로 이웃을 찾을 때도 한 행의 브이 칸을 검사하므로 전체는 같은 범위입니다. 인접 리스트라면 간선 검사 자체는 전체에서 간선 수에 비례하지만, 이 배열판의 최소 선택 비용은 여전히 남습니다. 긴 전체 구현은 보충자료에서 볼 수 있습니다. 다음에는 이렇게 만든 나무와 최소 신장 트리가 왜 다른지 비교하겠습니다.</a:t>
            </a:r>
          </a:p>
        </p:txBody>
      </p:sp>
    </p:spTree>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두 그림은 같은 세 도시와 같은 도로입니다. 에이와 비 사이 비용 이, 비와 씨 사이 비용 이, 에이와 씨 사이 비용 삼입니다. 이번에는 방향 없는 도로이므로 양쪽으로 오갈 수 있습니다. 왼쪽과 오른쪽의 차이는 도로 자체가 아니라 무엇을 최소로 하려는가입니다.</a:t>
            </a:r>
          </a:p>
          <a:p>
            <a:r>
              <a:t>왼쪽 크루스칼은 도로를 설치하는 총비용을 줄입니다. 이인 두 선을 고르면 모든 도시가 연결되고 합은 사입니다. 삼인 선까지 넣으면 사이클이 생기므로 필요 없습니다. 이렇게 만든 최소 신장 트리에서 에이에서 씨로 가려면 비를 거쳐 이 더하기 이, 사가 걸립니다. 도로 설치비를 최소로 했다고 모든 도시 사이 이동 거리도 최소가 되는 것은 아닙니다.</a:t>
            </a:r>
          </a:p>
          <a:p>
            <a:r>
              <a:t>오른쪽 다익스트라는 출발점이 에이입니다. 비까지는 직접 이가 가장 짧습니다. 씨까지는 직접 가는 삼과 비를 거친 사를 비교해 삼을 고릅니다. 그래서 에이와 비 선, 에이와 씨 선이 최단 경로 트리에 들어갑니다. 이 선들의 비용 합은 오이므로 왼쪽 설치비 사보다 큽니다. 하지만 에이에서 씨까지는 삼이라 왼쪽의 사보다 짧습니다.</a:t>
            </a:r>
          </a:p>
          <a:p>
            <a:r>
              <a:t>왼쪽은 모든 도시를 연결하는 데 드는 간선 비용 합 하나가 목표이고, 오른쪽은 정해진 출발점에서 각 도착지까지의 거리 각각이 목표입니다. 오른쪽도 거리들의 합을 최소화하자는 식으로 알고리즘을 정의한 것은 아닙니다. 각 목적지의 최단 거리를 각각 구합니다. 그래서 같은 그래프여도 트리의 모양이 다를 수 있고, 두 결과는 각자 자기 목표에서는 맞습니다. 방향 없는 간선은 양쪽 방향의 간선 두 개처럼 다익스트라에서 처리하면 됩니다. 이제 다익스트라가 필요한 조건을 어겼을 때를 보겠습니다.</a:t>
            </a:r>
          </a:p>
        </p:txBody>
      </p:sp>
    </p:spTree>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이 반례는 에스가 출발점인 작은 방향 그래프입니다. 에스에서 에이로 이, 에스에서 비로 오, 비에서 에이로 마이너스 사입니다. 음수는 여기서 실제 도로 거리라는 뜻이 아니라 할인이나 이익처럼 일반적인 비용을 숫자로 표현한 예입니다. 화살표 방향으로만 갈 수 있습니다.</a:t>
            </a:r>
          </a:p>
          <a:p>
            <a:r>
              <a:t>처음에는 에스 영, 나머지 무한대입니다. 에스를 확정해 나가는 간선을 검사하면 에이 이와 비 오를 기록합니다. 이제 미확정 중 작은 것은 에이의 이이므로 에이를 확정합니다. 앞의 의사코드는 확정된 정점을 나중에 고치지 않는 버전입니다. 그다음 비를 오로 확정하고 비에서 에이로 가는 선을 검사합니다.</a:t>
            </a:r>
          </a:p>
          <a:p>
            <a:r>
              <a:t>비까지 오에 간선 마이너스 사를 더하면 일입니다. 기존 에이 이보다 짧은 길이 뒤늦게 나온 것입니다. 실제로 에스에서 비를 거쳐 에이로 가면 일이 들고, 바로 가는 이는 더 깁니다. 하지만 에이는 이미 확정되어 있어 코드의 미확정 이웃 조건을 통과하지 못합니다. 그래서 배열에는 틀린 값 이가 남습니다. 만약 에이에서 다른 도시로 나가는 길이 있었다면 그 뒤의 거리도 잘못될 수 있습니다.</a:t>
            </a:r>
          </a:p>
          <a:p>
            <a:r>
              <a:t>원인은 음수가 있으니 무엇이든 이상해진다는 막연한 말이 아닙니다. 늦게 도착하는 정점에서 음수 선을 타면 이미 확정한 정점의 거리보다 작아질 수 있는데, 다익스트라는 그 가능성이 없다는 전제로 확정하기 때문입니다. 이 그래프에는 사이클조차 없지만 실패합니다. 음수 간선과 음수 사이클은 다른 개념입니다. 음수 간선은 선 하나의 비용이 음수인 것이고, 음수 사이클은 한 바퀴 돌 때 총비용이 줄어드는 순환입니다.</a:t>
            </a:r>
          </a:p>
          <a:p>
            <a:r>
              <a:t>음수 간선이 있다고 모든 입력에서 반드시 오답인 것은 아니지만, 다익스트라의 정답 보장이 사라집니다. 이런 경우에는 벨만 포드 같은 다른 알고리즘을 검토합니다. 여기서는 새 알고리즘의 구현까지 가지 않고, 다익스트라에는 모든 간선 비용이 영 이상이라는 조건이 필요하다는 것을 기억하면 됩니다.</a:t>
            </a:r>
          </a:p>
        </p:txBody>
      </p:sp>
    </p:spTree>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오 장을 정리하겠습니다. 그리디는 매 단계 정해 둔 기준으로 지금 가장 좋아 보이는 것을 고르고, 선택을 확정한 뒤 되돌리지 않는 방법입니다. 문제에 따라 후보를 다 훑을 수도 있습니다. 빠른 이유를 모든 자료를 안 봐서라고 외우면 안 됩니다. 가능한 완성 답들의 조합을 전부 만들어 비교하지 않는다는 점이 중요합니다.</a:t>
            </a:r>
          </a:p>
          <a:p>
            <a:r>
              <a:t>최적을 보장하려면 첫 선택이 안전해야 합니다. 즉 그 선택을 포함하는 최적해가 적어도 하나 있어야 합니다. 이것이 탐욕적 선택 속성입니다. 그리고 선택 뒤에 남은 문제를 최적으로 푼 결과가 전체 답의 나머지가 되어야 합니다. 이것이 최적 부분 구조입니다. 교환 논증은 최적 답의 일부를 그리디의 선택으로 바꿔도 조건과 값이 나빠지지 않는지 보이는 방법이었습니다.</a:t>
            </a:r>
          </a:p>
          <a:p>
            <a:r>
              <a:t>문제마다 기준과 조건을 묶어 기억하겠습니다. 배수 관계의 거스름돈은 큰 동전부터, 활동 선택은 끝나는 시각이 빠른 회의부터, 분할 배낭은 무게당 가치가 큰 물건부터 고릅니다. 크루스칼은 싼 간선부터 보되 사이클이 생기면 버려 전체 연결 비용을 최소로 합니다. 다익스트라는 시작점에서 현재 거리가 가장 작은 미확정 정점을 확정하며, 모든 간선 비용이 영 이상일 때 각 목적지의 최단 거리를 구합니다.</a:t>
            </a:r>
          </a:p>
          <a:p>
            <a:r>
              <a:t>반대로 일 원, 삼 원, 사 원으로 육 원을 만들 때 큰 동전부터 고르면 실패했습니다. 영 일 배낭에서도 가성비가 가장 큰 에이를 먼저 넣는 순간 더 좋은 비와 씨 조합을 놓쳤습니다. 다익스트라에는 음수 간선 반례가 있었습니다. 항상 맞다는 주장을 깨려면 조건을 지키는 입력 하나와 더 좋은 답을 비교하면 충분합니다. 예제 몇 개에서 맞은 것만으로 항상 맞다고 할 수는 없습니다.</a:t>
            </a:r>
          </a:p>
          <a:p>
            <a:r>
              <a:t>다음 장의 동적 계획법에서는 남은 금액이나 남은 용량 같은 상태별 답을 저장하는 방법을 배웁니다. 지금 기억할 질문은 무엇을 최대 또는 최소로 하는가, 지금 어떤 기준으로 고르는가, 그 선택이 안전한 이유가 있는가입니다. 마지막으로 파이썬과 씨의 표현 차이를 정리하겠습니다.</a:t>
            </a:r>
          </a:p>
        </p:txBody>
      </p:sp>
    </p:spTree>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마지막 표는 같은 알고리즘을 파이썬과 씨로 옮길 때 바뀌는 표현입니다. 첫 줄의 정렬부터 보겠습니다. 파이썬의 소트에서는 키로 정렬 기준을 지정하고 리버스 트루로 내림차순을 정합니다. 씨의 큐 소트는 배열, 원소 수, 원소 크기, 비교 함수를 받습니다. 비교 함수는 첫 원소가 앞에 와야 하면 음수, 동등하게 취급하면 영, 뒤에 와야 하면 양수를 반환합니다. 오름차순이면 작은 값이 앞에 오고, 배낭의 가성비 내림차순이면 큰 값이 앞에 와야 합니다. 큰 정수 두 개를 단순히 빼 반환하면 넘칠 수 있으니 비교로 부호를 정하는 편이 안전합니다.</a:t>
            </a:r>
          </a:p>
          <a:p>
            <a:r>
              <a:t>이미 작은 순서로 있는 배열을 큰 것부터 볼 때 파이썬은 리버스로 뒤집을 수 있고, 씨는 마지막 위치부터 거꾸로 읽을 수 있습니다. 이것은 순서를 다루는 방법이지 동전 문제의 최적성을 보장하는 이유 자체는 아닙니다. 앞의 코인 카운트에서는 애초에 큰 동전부터 적어 두었습니다.</a:t>
            </a:r>
          </a:p>
          <a:p>
            <a:r>
              <a:t>무한대는 파이썬에서 플로트 인프처럼 표현할 수 있습니다. 씨의 인프는 이 표에서 롱 롱으로 담는 십의 십팔 제곱 같은 큰 정수입니다. 진짜 무한대가 아니므로 가능한 경로보다 충분히 커야 하고, 여기에 비용을 더할 때 자료형 범위를 넘지 않는지도 확인해야 합니다. 아직 도달하지 못한 값에 무조건 덧셈하지 말고 도달 여부를 먼저 검사해야 합니다.</a:t>
            </a:r>
          </a:p>
          <a:p>
            <a:r>
              <a:t>최솟값을 꺼내는 힙 큐는 파이썬의 힙큐를 쓸 수 있고, 씨에서는 직접 힙을 만들거나 여기서 본 배열 최소 검색을 쓸 수 있습니다. 언어 자체가 알고리즘의 속도를 정하는 것은 아닙니다. 어떤 자료구조를 선택했는지가 중요합니다. 파이썬의 튜플이나 클래스에 묶은 무게와 가치, 간선의 양 끝과 비용은 씨의 구조체로 묶을 수 있습니다.</a:t>
            </a:r>
          </a:p>
          <a:p>
            <a:r>
              <a:t>그래프도 파이썬 딕셔너리의 이웃 목록이나 씨의 이차원 배열처럼 다르게 저장할 수 있습니다. 이 표의 씨 행렬에서는 마이너스 일을 간선 없음으로 쓰고, 영은 실제 비용 영인 간선으로 인정합니다. 영을 간선 없음과 동시에 쓰면 영 비용 도로를 잃습니다. 마지막으로 몫은 파이썬의 슬래시 두 개, 씨의 정수 나눗셈이고, 나머지는 둘 다 퍼센트입니다. 지금처럼 음수가 아닌 금액에서는 같은 동작입니다. 입력을 읽는 문법과 별개로 핵심 선택 기준과 갱신 조건은 두 언어에서 같아야 합니다. 여기까지 이해한 뒤 헷갈리는 조건이나 계산을 질문해 주세요.</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a:spcBef>
          <a:spcPct val="0"/>
        </a:spcBef>
        <a:buNone/>
        <a:defRPr sz="4400" kern="1200">
          <a:solidFill>
            <a:schemeClr val="tx1"/>
          </a:solidFill>
          <a:latin typeface="+mj-lt"/>
          <a:ea typeface="+mj-lt"/>
          <a:cs typeface="+mj-lt"/>
        </a:defRPr>
      </a:lvl1pPr>
    </p:titleStyle>
    <p:bodyStyle>
      <a:lvl1pPr marL="342900" indent="-342900" algn="l" defTabSz="914400">
        <a:spcBef>
          <a:spcPct val="20000"/>
        </a:spcBef>
        <a:buFont typeface="Arial"/>
        <a:buChar char="•"/>
        <a:defRPr sz="3200" kern="1200">
          <a:solidFill>
            <a:schemeClr val="tx1"/>
          </a:solidFill>
          <a:latin typeface="+mn-lt"/>
          <a:ea typeface="+mn-lt"/>
          <a:cs typeface="+mn-lt"/>
        </a:defRPr>
      </a:lvl1pPr>
      <a:lvl2pPr marL="742950" indent="-285750" algn="l" defTabSz="914400">
        <a:spcBef>
          <a:spcPct val="20000"/>
        </a:spcBef>
        <a:buFont typeface="Arial"/>
        <a:buChar char="–"/>
        <a:defRPr sz="2800" kern="1200">
          <a:solidFill>
            <a:schemeClr val="tx1"/>
          </a:solidFill>
          <a:latin typeface="+mn-lt"/>
          <a:ea typeface="+mn-lt"/>
          <a:cs typeface="+mn-lt"/>
        </a:defRPr>
      </a:lvl2pPr>
      <a:lvl3pPr marL="1143000" indent="-228600" algn="l" defTabSz="914400">
        <a:spcBef>
          <a:spcPct val="20000"/>
        </a:spcBef>
        <a:buFont typeface="Arial"/>
        <a:buChar char="•"/>
        <a:defRPr sz="2400" kern="1200">
          <a:solidFill>
            <a:schemeClr val="tx1"/>
          </a:solidFill>
          <a:latin typeface="+mn-lt"/>
          <a:ea typeface="+mn-lt"/>
          <a:cs typeface="+mn-lt"/>
        </a:defRPr>
      </a:lvl3pPr>
      <a:lvl4pPr marL="1600200" indent="-228600" algn="l" defTabSz="914400">
        <a:spcBef>
          <a:spcPct val="20000"/>
        </a:spcBef>
        <a:buFont typeface="Arial"/>
        <a:buChar char="–"/>
        <a:defRPr sz="2000" kern="1200">
          <a:solidFill>
            <a:schemeClr val="tx1"/>
          </a:solidFill>
          <a:latin typeface="+mn-lt"/>
          <a:ea typeface="+mn-lt"/>
          <a:cs typeface="+mn-lt"/>
        </a:defRPr>
      </a:lvl4pPr>
      <a:lvl5pPr marL="2057400" indent="-228600" algn="l" defTabSz="914400">
        <a:spcBef>
          <a:spcPct val="20000"/>
        </a:spcBef>
        <a:buFont typeface="Arial"/>
        <a:buChar char="»"/>
        <a:defRPr sz="2000" kern="1200">
          <a:solidFill>
            <a:schemeClr val="tx1"/>
          </a:solidFill>
          <a:latin typeface="+mn-lt"/>
          <a:ea typeface="+mn-lt"/>
          <a:cs typeface="+mn-lt"/>
        </a:defRPr>
      </a:lvl5pPr>
      <a:lvl6pPr marL="2514600" indent="-228600" algn="l" defTabSz="914400">
        <a:spcBef>
          <a:spcPct val="20000"/>
        </a:spcBef>
        <a:buFont typeface="Arial"/>
        <a:buChar char="•"/>
        <a:defRPr sz="2000" kern="1200">
          <a:solidFill>
            <a:schemeClr val="tx1"/>
          </a:solidFill>
          <a:latin typeface="+mn-lt"/>
          <a:ea typeface="+mn-lt"/>
          <a:cs typeface="+mn-lt"/>
        </a:defRPr>
      </a:lvl6pPr>
      <a:lvl7pPr marL="2971800" indent="-228600" algn="l" defTabSz="914400">
        <a:spcBef>
          <a:spcPct val="20000"/>
        </a:spcBef>
        <a:buFont typeface="Arial"/>
        <a:buChar char="•"/>
        <a:defRPr sz="2000" kern="1200">
          <a:solidFill>
            <a:schemeClr val="tx1"/>
          </a:solidFill>
          <a:latin typeface="+mn-lt"/>
          <a:ea typeface="+mn-lt"/>
          <a:cs typeface="+mn-lt"/>
        </a:defRPr>
      </a:lvl7pPr>
      <a:lvl8pPr marL="3429000" indent="-228600" algn="l" defTabSz="914400">
        <a:spcBef>
          <a:spcPct val="20000"/>
        </a:spcBef>
        <a:buFont typeface="Arial"/>
        <a:buChar char="•"/>
        <a:defRPr sz="2000" kern="1200">
          <a:solidFill>
            <a:schemeClr val="tx1"/>
          </a:solidFill>
          <a:latin typeface="+mn-lt"/>
          <a:ea typeface="+mn-lt"/>
          <a:cs typeface="+mn-lt"/>
        </a:defRPr>
      </a:lvl8pPr>
      <a:lvl9pPr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marL="0" algn="l" defTabSz="914400">
        <a:buNone/>
        <a:defRPr sz="1800" kern="1200">
          <a:solidFill>
            <a:schemeClr val="tx1"/>
          </a:solidFill>
          <a:latin typeface="+mn-lt"/>
          <a:ea typeface="+mn-lt"/>
          <a:cs typeface="+mn-lt"/>
        </a:defRPr>
      </a:lvl1pPr>
      <a:lvl2pPr marL="457200" algn="l" defTabSz="914400">
        <a:buNone/>
        <a:defRPr sz="1800" kern="1200">
          <a:solidFill>
            <a:schemeClr val="tx1"/>
          </a:solidFill>
          <a:latin typeface="+mn-lt"/>
          <a:ea typeface="+mn-lt"/>
          <a:cs typeface="+mn-lt"/>
        </a:defRPr>
      </a:lvl2pPr>
      <a:lvl3pPr marL="914400" algn="l" defTabSz="914400">
        <a:buNone/>
        <a:defRPr sz="1800" kern="1200">
          <a:solidFill>
            <a:schemeClr val="tx1"/>
          </a:solidFill>
          <a:latin typeface="+mn-lt"/>
          <a:ea typeface="+mn-lt"/>
          <a:cs typeface="+mn-lt"/>
        </a:defRPr>
      </a:lvl3pPr>
      <a:lvl4pPr marL="1371600" algn="l" defTabSz="914400">
        <a:buNone/>
        <a:defRPr sz="1800" kern="1200">
          <a:solidFill>
            <a:schemeClr val="tx1"/>
          </a:solidFill>
          <a:latin typeface="+mn-lt"/>
          <a:ea typeface="+mn-lt"/>
          <a:cs typeface="+mn-lt"/>
        </a:defRPr>
      </a:lvl4pPr>
      <a:lvl5pPr marL="1828800" algn="l" defTabSz="914400">
        <a:buNone/>
        <a:defRPr sz="1800" kern="1200">
          <a:solidFill>
            <a:schemeClr val="tx1"/>
          </a:solidFill>
          <a:latin typeface="+mn-lt"/>
          <a:ea typeface="+mn-lt"/>
          <a:cs typeface="+mn-lt"/>
        </a:defRPr>
      </a:lvl5pPr>
      <a:lvl6pPr marL="2286000" algn="l" defTabSz="914400">
        <a:buNone/>
        <a:defRPr sz="1800" kern="1200">
          <a:solidFill>
            <a:schemeClr val="tx1"/>
          </a:solidFill>
          <a:latin typeface="+mn-lt"/>
          <a:ea typeface="+mn-lt"/>
          <a:cs typeface="+mn-lt"/>
        </a:defRPr>
      </a:lvl6pPr>
      <a:lvl7pPr marL="2743200" algn="l" defTabSz="914400">
        <a:buNone/>
        <a:defRPr sz="1800" kern="1200">
          <a:solidFill>
            <a:schemeClr val="tx1"/>
          </a:solidFill>
          <a:latin typeface="+mn-lt"/>
          <a:ea typeface="+mn-lt"/>
          <a:cs typeface="+mn-lt"/>
        </a:defRPr>
      </a:lvl7pPr>
      <a:lvl8pPr marL="3200400" algn="l" defTabSz="914400">
        <a:buNone/>
        <a:defRPr sz="1800" kern="1200">
          <a:solidFill>
            <a:schemeClr val="tx1"/>
          </a:solidFill>
          <a:latin typeface="+mn-lt"/>
          <a:ea typeface="+mn-lt"/>
          <a:cs typeface="+mn-lt"/>
        </a:defRPr>
      </a:lvl8pPr>
      <a:lvl9pPr marL="3657600" algn="l" defTabSz="914400">
        <a:buNone/>
        <a:defRPr sz="1800" kern="1200">
          <a:solidFill>
            <a:schemeClr val="tx1"/>
          </a:solidFill>
          <a:latin typeface="+mn-lt"/>
          <a:ea typeface="+mn-lt"/>
          <a:cs typeface="+mn-lt"/>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47.xml"/><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50.xml"/><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52.xml"/><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2" Type="http://schemas.openxmlformats.org/officeDocument/2006/relationships/notesSlide" Target="../notesSlides/notesSlide54.xml"/><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58.xml"/><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2" Type="http://schemas.openxmlformats.org/officeDocument/2006/relationships/notesSlide" Target="../notesSlides/notesSlide59.xml"/><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2" Type="http://schemas.openxmlformats.org/officeDocument/2006/relationships/notesSlide" Target="../notesSlides/notesSlide60.xml"/><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2" Type="http://schemas.openxmlformats.org/officeDocument/2006/relationships/notesSlide" Target="../notesSlides/notesSlide61.xml"/><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2" Type="http://schemas.openxmlformats.org/officeDocument/2006/relationships/notesSlide" Target="../notesSlides/notesSlide62.xml"/><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2" Type="http://schemas.openxmlformats.org/officeDocument/2006/relationships/notesSlide" Target="../notesSlides/notesSlide63.xml"/><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64.xml"/><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65.xml"/><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2" Type="http://schemas.openxmlformats.org/officeDocument/2006/relationships/notesSlide" Target="../notesSlides/notesSlide66.xml"/><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2" Type="http://schemas.openxmlformats.org/officeDocument/2006/relationships/notesSlide" Target="../notesSlides/notesSlide67.xml"/><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2" Type="http://schemas.openxmlformats.org/officeDocument/2006/relationships/notesSlide" Target="../notesSlides/notesSlide68.xml"/><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69.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171717"/>
        </a:solidFill>
        <a:effectLst/>
      </p:bgPr>
    </p:bg>
    <p:spTree>
      <p:nvGrpSpPr>
        <p:cNvPr id="1" name=""/>
        <p:cNvGrpSpPr/>
        <p:nvPr/>
      </p:nvGrpSpPr>
      <p:grpSpPr>
        <a:xfrm>
          <a:off x="0" y="0"/>
          <a:ext cx="0" cy="0"/>
          <a:chOff x="0" y="0"/>
          <a:chExt cx="0" cy="0"/>
        </a:xfrm>
      </p:grpSpPr>
      <p:sp>
        <p:nvSpPr>
          <p:cNvPr id="2" name="직사각형 3"/>
          <p:cNvSpPr/>
          <p:nvPr/>
        </p:nvSpPr>
        <p:spPr>
          <a:xfrm>
            <a:off x="612648" y="512064"/>
            <a:ext cx="9528048"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200" b="0" dirty="0">
                <a:solidFill>
                  <a:srgbClr val="BBBBBB"/>
                </a:solidFill>
                <a:latin typeface="Malgun Gothic"/>
                <a:ea typeface="Malgun Gothic"/>
                <a:cs typeface="Malgun Gothic"/>
              </a:rPr>
              <a:t>그림으로 쉽게 설명하는 파이썬 알고리즘</a:t>
            </a:r>
          </a:p>
        </p:txBody>
      </p:sp>
      <p:sp>
        <p:nvSpPr>
          <p:cNvPr id="3" name="직사각형 4"/>
          <p:cNvSpPr/>
          <p:nvPr/>
        </p:nvSpPr>
        <p:spPr>
          <a:xfrm>
            <a:off x="612648" y="1060704"/>
            <a:ext cx="10972800" cy="9144"/>
          </a:xfrm>
          <a:prstGeom prst="rect">
            <a:avLst/>
          </a:prstGeom>
          <a:solidFill>
            <a:srgbClr val="505050"/>
          </a:solidFill>
          <a:ln w="0">
            <a:noFill/>
          </a:ln>
        </p:spPr>
        <p:txBody>
          <a:bodyPr wrap="square" lIns="0" tIns="0" rIns="0" bIns="0" anchor="t">
            <a:noAutofit/>
          </a:bodyPr>
          <a:lstStyle/>
          <a:p>
            <a:pPr algn="l" eaLnBrk="0" latinLnBrk="0">
              <a:lnSpc>
                <a:spcPct val="100000"/>
              </a:lnSpc>
              <a:buNone/>
            </a:pPr>
            <a:endParaRPr lang="ko-KR" sz="1800"/>
          </a:p>
        </p:txBody>
      </p:sp>
      <p:sp>
        <p:nvSpPr>
          <p:cNvPr id="4" name="직사각형 5"/>
          <p:cNvSpPr/>
          <p:nvPr/>
        </p:nvSpPr>
        <p:spPr>
          <a:xfrm>
            <a:off x="612648" y="1947672"/>
            <a:ext cx="10003536" cy="822960"/>
          </a:xfrm>
          <a:prstGeom prst="rect">
            <a:avLst/>
          </a:prstGeom>
          <a:noFill/>
          <a:ln w="0">
            <a:noFill/>
          </a:ln>
        </p:spPr>
        <p:txBody>
          <a:bodyPr wrap="square" lIns="0" tIns="0" rIns="0" bIns="0" anchor="t">
            <a:noAutofit/>
          </a:bodyPr>
          <a:lstStyle/>
          <a:p>
            <a:pPr algn="l" eaLnBrk="0" latinLnBrk="0">
              <a:lnSpc>
                <a:spcPct val="100000"/>
              </a:lnSpc>
              <a:buNone/>
            </a:pPr>
            <a:r>
              <a:rPr lang="ko-KR" altLang="en-US" sz="5100" b="1" dirty="0">
                <a:solidFill>
                  <a:srgbClr val="FFFFFF"/>
                </a:solidFill>
                <a:latin typeface="Malgun Gothic"/>
                <a:ea typeface="Malgun Gothic"/>
                <a:cs typeface="Malgun Gothic"/>
              </a:rPr>
              <a:t>5장</a:t>
            </a:r>
          </a:p>
        </p:txBody>
      </p:sp>
      <p:sp>
        <p:nvSpPr>
          <p:cNvPr id="5" name="직사각형 6"/>
          <p:cNvSpPr/>
          <p:nvPr/>
        </p:nvSpPr>
        <p:spPr>
          <a:xfrm>
            <a:off x="612648" y="3108960"/>
            <a:ext cx="10972800" cy="950976"/>
          </a:xfrm>
          <a:prstGeom prst="rect">
            <a:avLst/>
          </a:prstGeom>
          <a:noFill/>
          <a:ln w="0">
            <a:noFill/>
          </a:ln>
        </p:spPr>
        <p:txBody>
          <a:bodyPr wrap="square" lIns="0" tIns="0" rIns="0" bIns="0" anchor="t">
            <a:noAutofit/>
          </a:bodyPr>
          <a:lstStyle/>
          <a:p>
            <a:pPr algn="l" eaLnBrk="0" latinLnBrk="0">
              <a:lnSpc>
                <a:spcPct val="100000"/>
              </a:lnSpc>
              <a:buNone/>
            </a:pPr>
            <a:r>
              <a:rPr lang="ko-KR" altLang="en-US" sz="5100" b="1" dirty="0">
                <a:solidFill>
                  <a:srgbClr val="FFFFFF"/>
                </a:solidFill>
                <a:latin typeface="Malgun Gothic"/>
                <a:ea typeface="Malgun Gothic"/>
                <a:cs typeface="Malgun Gothic"/>
              </a:rPr>
              <a:t>그리디 알고리즘</a:t>
            </a:r>
          </a:p>
        </p:txBody>
      </p:sp>
      <p:sp>
        <p:nvSpPr>
          <p:cNvPr id="6" name="직사각형 7"/>
          <p:cNvSpPr/>
          <p:nvPr/>
        </p:nvSpPr>
        <p:spPr>
          <a:xfrm>
            <a:off x="649224" y="4645152"/>
            <a:ext cx="10287000" cy="402336"/>
          </a:xfrm>
          <a:prstGeom prst="rect">
            <a:avLst/>
          </a:prstGeom>
          <a:noFill/>
          <a:ln w="0">
            <a:noFill/>
          </a:ln>
        </p:spPr>
        <p:txBody>
          <a:bodyPr wrap="square" lIns="0" tIns="0" rIns="0" bIns="0" anchor="t">
            <a:noAutofit/>
          </a:bodyPr>
          <a:lstStyle/>
          <a:p>
            <a:pPr algn="l" eaLnBrk="0" latinLnBrk="0">
              <a:lnSpc>
                <a:spcPct val="100000"/>
              </a:lnSpc>
              <a:buNone/>
            </a:pPr>
            <a:r>
              <a:rPr lang="ko-KR" altLang="en-US" sz="1875" b="0" dirty="0">
                <a:solidFill>
                  <a:srgbClr val="BBBBBB"/>
                </a:solidFill>
                <a:latin typeface="Consolas"/>
                <a:ea typeface="Consolas"/>
                <a:cs typeface="Consolas"/>
              </a:rPr>
              <a:t>GREEDY ALGORITHM</a:t>
            </a:r>
          </a:p>
        </p:txBody>
      </p:sp>
      <p:sp>
        <p:nvSpPr>
          <p:cNvPr id="7" name="직사각형 8"/>
          <p:cNvSpPr/>
          <p:nvPr/>
        </p:nvSpPr>
        <p:spPr>
          <a:xfrm>
            <a:off x="649224" y="5294376"/>
            <a:ext cx="10479024" cy="630936"/>
          </a:xfrm>
          <a:prstGeom prst="rect">
            <a:avLst/>
          </a:prstGeom>
          <a:noFill/>
          <a:ln w="0">
            <a:noFill/>
          </a:ln>
        </p:spPr>
        <p:txBody>
          <a:bodyPr wrap="square" lIns="0" tIns="0" rIns="0" bIns="0" anchor="t">
            <a:noAutofit/>
          </a:bodyPr>
          <a:lstStyle/>
          <a:p>
            <a:pPr algn="l" eaLnBrk="0" latinLnBrk="0">
              <a:lnSpc>
                <a:spcPct val="100000"/>
              </a:lnSpc>
              <a:buNone/>
            </a:pPr>
            <a:r>
              <a:rPr lang="ko-KR" altLang="en-US" sz="1575" b="0" dirty="0">
                <a:solidFill>
                  <a:srgbClr val="BBBBBB"/>
                </a:solidFill>
                <a:latin typeface="Malgun Gothic"/>
                <a:ea typeface="Malgun Gothic"/>
                <a:cs typeface="Malgun Gothic"/>
              </a:rPr>
              <a:t>지금 이 순간 가장 좋아 보이는 것을 고른다</a:t>
            </a:r>
          </a:p>
        </p:txBody>
      </p:sp>
      <p:sp>
        <p:nvSpPr>
          <p:cNvPr id="8" name="직사각형 9"/>
          <p:cNvSpPr/>
          <p:nvPr/>
        </p:nvSpPr>
        <p:spPr>
          <a:xfrm>
            <a:off x="612648" y="6437376"/>
            <a:ext cx="10972800" cy="9144"/>
          </a:xfrm>
          <a:prstGeom prst="rect">
            <a:avLst/>
          </a:prstGeom>
          <a:solidFill>
            <a:srgbClr val="505050"/>
          </a:solidFill>
          <a:ln w="0">
            <a:noFill/>
          </a:ln>
        </p:spPr>
        <p:txBody>
          <a:bodyPr wrap="square" lIns="0" tIns="0" rIns="0" bIns="0" anchor="t">
            <a:noAutofit/>
          </a:bodyPr>
          <a:lstStyle/>
          <a:p>
            <a:pPr algn="l" eaLnBrk="0" latinLnBrk="0">
              <a:lnSpc>
                <a:spcPct val="100000"/>
              </a:lnSpc>
              <a:buNone/>
            </a:pPr>
            <a:endParaRPr lang="ko-KR" sz="1800"/>
          </a:p>
        </p:txBody>
      </p:sp>
      <p:sp>
        <p:nvSpPr>
          <p:cNvPr id="9" name="직사각형 10"/>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BBBBBB"/>
                </a:solidFill>
                <a:latin typeface="Consolas"/>
                <a:ea typeface="Consolas"/>
                <a:cs typeface="Consolas"/>
              </a:rPr>
              <a:t>05 / GREEDY ALGORITHM</a:t>
            </a:r>
          </a:p>
        </p:txBody>
      </p:sp>
      <p:sp>
        <p:nvSpPr>
          <p:cNvPr id="10" name="직사각형 11"/>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1">
                <a:solidFill>
                  <a:srgbClr val="FFFFFF"/>
                </a:solidFill>
                <a:latin typeface="Malgun Gothic"/>
                <a:ea typeface="Malgun Gothic"/>
                <a:cs typeface="Malgun Gothic"/>
              </a:rPr>
              <a:t>1</a:t>
            </a:r>
            <a:endParaRPr lang="ko-KR" altLang="en-US" sz="1050" b="1" dirty="0">
              <a:solidFill>
                <a:srgbClr val="FFFFFF"/>
              </a:solidFill>
              <a:latin typeface="Malgun Gothic"/>
              <a:ea typeface="Malgun Gothic"/>
              <a:cs typeface="Malgun Gothic"/>
            </a:endParaRP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577072"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CHAPTER 05</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이번 장에서 배울 내용</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a:t>
            </a:r>
            <a:endParaRPr lang="ko-KR" altLang="en-US" sz="1050" b="0" dirty="0">
              <a:solidFill>
                <a:srgbClr val="606060"/>
              </a:solidFill>
              <a:latin typeface="Malgun Gothic"/>
              <a:ea typeface="Malgun Gothic"/>
              <a:cs typeface="Malgun Gothic"/>
            </a:endParaRPr>
          </a:p>
        </p:txBody>
      </p:sp>
      <p:sp>
        <p:nvSpPr>
          <p:cNvPr id="9" name="직사각형 10"/>
          <p:cNvSpPr/>
          <p:nvPr/>
        </p:nvSpPr>
        <p:spPr>
          <a:xfrm>
            <a:off x="704088" y="1783080"/>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5.1   그리디의 기본</a:t>
            </a:r>
          </a:p>
        </p:txBody>
      </p:sp>
      <p:sp>
        <p:nvSpPr>
          <p:cNvPr id="10" name="직사각형 11"/>
          <p:cNvSpPr/>
          <p:nvPr/>
        </p:nvSpPr>
        <p:spPr>
          <a:xfrm>
            <a:off x="704088" y="2679192"/>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5.2   거스름돈 문제</a:t>
            </a:r>
          </a:p>
        </p:txBody>
      </p:sp>
      <p:sp>
        <p:nvSpPr>
          <p:cNvPr id="11" name="직사각형 12"/>
          <p:cNvSpPr/>
          <p:nvPr/>
        </p:nvSpPr>
        <p:spPr>
          <a:xfrm>
            <a:off x="704088" y="3575304"/>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5.3   활동 선택 문제</a:t>
            </a:r>
          </a:p>
        </p:txBody>
      </p:sp>
      <p:sp>
        <p:nvSpPr>
          <p:cNvPr id="12" name="직사각형 13"/>
          <p:cNvSpPr/>
          <p:nvPr/>
        </p:nvSpPr>
        <p:spPr>
          <a:xfrm>
            <a:off x="704088" y="4471416"/>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5.4   배낭 문제</a:t>
            </a:r>
          </a:p>
        </p:txBody>
      </p:sp>
      <p:sp>
        <p:nvSpPr>
          <p:cNvPr id="13" name="직사각형 14"/>
          <p:cNvSpPr/>
          <p:nvPr/>
        </p:nvSpPr>
        <p:spPr>
          <a:xfrm>
            <a:off x="704088" y="5367528"/>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5.5   그리디가 통하는 조건</a:t>
            </a:r>
          </a:p>
        </p:txBody>
      </p:sp>
      <p:sp>
        <p:nvSpPr>
          <p:cNvPr id="14" name="직사각형 15"/>
          <p:cNvSpPr/>
          <p:nvPr/>
        </p:nvSpPr>
        <p:spPr>
          <a:xfrm>
            <a:off x="6345936" y="1783080"/>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5.6   크루스칼 알고리즘</a:t>
            </a:r>
          </a:p>
        </p:txBody>
      </p:sp>
      <p:sp>
        <p:nvSpPr>
          <p:cNvPr id="15" name="직사각형 16"/>
          <p:cNvSpPr/>
          <p:nvPr/>
        </p:nvSpPr>
        <p:spPr>
          <a:xfrm>
            <a:off x="6345936" y="2679192"/>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a:solidFill>
                  <a:srgbClr val="171717"/>
                </a:solidFill>
                <a:latin typeface="Malgun Gothic"/>
                <a:ea typeface="Malgun Gothic"/>
                <a:cs typeface="Malgun Gothic"/>
              </a:rPr>
              <a:t>보충   상세 구현</a:t>
            </a:r>
            <a:endParaRPr lang="ko-KR" altLang="en-US" sz="1950" b="0" dirty="0">
              <a:solidFill>
                <a:srgbClr val="171717"/>
              </a:solidFill>
              <a:latin typeface="Malgun Gothic"/>
              <a:ea typeface="Malgun Gothic"/>
              <a:cs typeface="Malgun Gothic"/>
            </a:endParaRPr>
          </a:p>
        </p:txBody>
      </p:sp>
      <p:sp>
        <p:nvSpPr>
          <p:cNvPr id="16" name="직사각형 17"/>
          <p:cNvSpPr/>
          <p:nvPr/>
        </p:nvSpPr>
        <p:spPr>
          <a:xfrm>
            <a:off x="6345936" y="3575304"/>
            <a:ext cx="5221224" cy="42976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5.8   다익스트라 알고리즘</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5.1  그리디의 기본</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그리디: 지금 가장 좋아 보이는 것을 고른다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a:t>
            </a:r>
            <a:endParaRPr lang="ko-KR" altLang="en-US" sz="1050" b="0" dirty="0">
              <a:solidFill>
                <a:srgbClr val="606060"/>
              </a:solidFill>
              <a:latin typeface="Malgun Gothic"/>
              <a:ea typeface="Malgun Gothic"/>
              <a:cs typeface="Malgun Gothic"/>
            </a:endParaRPr>
          </a:p>
        </p:txBody>
      </p:sp>
      <p:sp>
        <p:nvSpPr>
          <p:cNvPr id="9" name="fit:a1496bebe5272e4c 10"/>
          <p:cNvSpPr/>
          <p:nvPr/>
        </p:nvSpPr>
        <p:spPr>
          <a:xfrm>
            <a:off x="658368" y="1737360"/>
            <a:ext cx="5486400" cy="832104"/>
          </a:xfrm>
          <a:prstGeom prst="rect">
            <a:avLst/>
          </a:prstGeom>
          <a:noFill/>
          <a:ln w="0">
            <a:noFill/>
          </a:ln>
        </p:spPr>
        <p:txBody>
          <a:bodyPr wrap="square" lIns="0" tIns="0" rIns="0" bIns="0" anchor="t">
            <a:noAutofit/>
          </a:bodyPr>
          <a:lstStyle/>
          <a:p>
            <a:pPr algn="l" eaLnBrk="0" latinLnBrk="0">
              <a:lnSpc>
                <a:spcPct val="105000"/>
              </a:lnSpc>
              <a:buNone/>
            </a:pPr>
            <a:r>
              <a:rPr lang="ko-KR" altLang="en-US" sz="1700" b="0" dirty="0">
                <a:solidFill>
                  <a:srgbClr val="171717"/>
                </a:solidFill>
                <a:latin typeface="Malgun Gothic"/>
                <a:ea typeface="Malgun Gothic"/>
                <a:cs typeface="Malgun Gothic"/>
              </a:rPr>
              <a:t>그리디(greedy)는 '탐욕스러운'이라는 뜻입니다.</a:t>
            </a:r>
          </a:p>
          <a:p>
            <a:pPr algn="l" eaLnBrk="0" latinLnBrk="0">
              <a:lnSpc>
                <a:spcPct val="105000"/>
              </a:lnSpc>
              <a:buNone/>
            </a:pPr>
            <a:r>
              <a:rPr lang="ko-KR" altLang="en-US" sz="1700" b="0" dirty="0">
                <a:solidFill>
                  <a:srgbClr val="171717"/>
                </a:solidFill>
                <a:latin typeface="Malgun Gothic"/>
                <a:ea typeface="Malgun Gothic"/>
                <a:cs typeface="Malgun Gothic"/>
              </a:rPr>
              <a:t>매 단계 지금 기준으로</a:t>
            </a:r>
          </a:p>
          <a:p>
            <a:pPr algn="l" eaLnBrk="0" latinLnBrk="0">
              <a:lnSpc>
                <a:spcPct val="105000"/>
              </a:lnSpc>
              <a:buNone/>
            </a:pPr>
            <a:r>
              <a:rPr lang="ko-KR" altLang="en-US" sz="1700" b="0" dirty="0">
                <a:solidFill>
                  <a:srgbClr val="171717"/>
                </a:solidFill>
                <a:latin typeface="Malgun Gothic"/>
                <a:ea typeface="Malgun Gothic"/>
                <a:cs typeface="Malgun Gothic"/>
              </a:rPr>
              <a:t>가장 좋아 보이는 것을 고릅니다.</a:t>
            </a:r>
          </a:p>
        </p:txBody>
      </p:sp>
      <p:sp>
        <p:nvSpPr>
          <p:cNvPr id="10" name="fit:80a13a6f057dd471 11"/>
          <p:cNvSpPr/>
          <p:nvPr/>
        </p:nvSpPr>
        <p:spPr>
          <a:xfrm>
            <a:off x="658368" y="2697480"/>
            <a:ext cx="548640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후보를 다 알아도 지금 기준 하나로</a:t>
            </a:r>
          </a:p>
        </p:txBody>
      </p:sp>
      <p:sp>
        <p:nvSpPr>
          <p:cNvPr id="11" name="fit:3bf9a7125ac4dd87 12"/>
          <p:cNvSpPr/>
          <p:nvPr/>
        </p:nvSpPr>
        <p:spPr>
          <a:xfrm>
            <a:off x="841248" y="3017520"/>
            <a:ext cx="5303520" cy="502920"/>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앞을 못 봐서 틀리는 것이 아닙니다.</a:t>
            </a:r>
          </a:p>
          <a:p>
            <a:pPr algn="l" eaLnBrk="0" latinLnBrk="0">
              <a:lnSpc>
                <a:spcPct val="105000"/>
              </a:lnSpc>
              <a:buNone/>
            </a:pPr>
            <a:r>
              <a:rPr lang="ko-KR" altLang="en-US" sz="1500" b="0" dirty="0">
                <a:solidFill>
                  <a:srgbClr val="3F3F3F"/>
                </a:solidFill>
                <a:latin typeface="Malgun Gothic"/>
                <a:ea typeface="Malgun Gothic"/>
                <a:cs typeface="Malgun Gothic"/>
              </a:rPr>
              <a:t>정해 둔 기준으로만 고르기 때문입니다.</a:t>
            </a:r>
          </a:p>
        </p:txBody>
      </p:sp>
      <p:sp>
        <p:nvSpPr>
          <p:cNvPr id="12" name="fit:9195ac6c7d213c21 13"/>
          <p:cNvSpPr/>
          <p:nvPr/>
        </p:nvSpPr>
        <p:spPr>
          <a:xfrm>
            <a:off x="658368" y="3630168"/>
            <a:ext cx="548640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고른 것은 확정, 되돌리지 않음</a:t>
            </a:r>
          </a:p>
        </p:txBody>
      </p:sp>
      <p:sp>
        <p:nvSpPr>
          <p:cNvPr id="13" name="fit:ad44fa369eba5c64 14"/>
          <p:cNvSpPr/>
          <p:nvPr/>
        </p:nvSpPr>
        <p:spPr>
          <a:xfrm>
            <a:off x="841248" y="3950208"/>
            <a:ext cx="530352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앞의 선택을 다시 검토하는 단계가 없습니다.</a:t>
            </a:r>
          </a:p>
        </p:txBody>
      </p:sp>
      <p:sp>
        <p:nvSpPr>
          <p:cNvPr id="14" name="fit:da5a8269f8ca6a31 15"/>
          <p:cNvSpPr/>
          <p:nvPr/>
        </p:nvSpPr>
        <p:spPr>
          <a:xfrm>
            <a:off x="658368" y="4325112"/>
            <a:ext cx="548640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완성 해를 모두 비교하지 않음</a:t>
            </a:r>
          </a:p>
        </p:txBody>
      </p:sp>
      <p:sp>
        <p:nvSpPr>
          <p:cNvPr id="15" name="fit:07e0c522ae702a04 16"/>
          <p:cNvSpPr/>
          <p:nvPr/>
        </p:nvSpPr>
        <p:spPr>
          <a:xfrm>
            <a:off x="841248" y="4645152"/>
            <a:ext cx="530352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모든 해를 만들어 비교하는 것은 완전탐색입니다.</a:t>
            </a:r>
          </a:p>
        </p:txBody>
      </p:sp>
      <p:sp>
        <p:nvSpPr>
          <p:cNvPr id="16" name="fit:b5070a5f4d9281a1 17"/>
          <p:cNvSpPr/>
          <p:nvPr/>
        </p:nvSpPr>
        <p:spPr>
          <a:xfrm>
            <a:off x="658368" y="5020056"/>
            <a:ext cx="5486400" cy="649224"/>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되돌아보지 않아서 빠르고,</a:t>
            </a:r>
          </a:p>
          <a:p>
            <a:pPr algn="l" eaLnBrk="0" latinLnBrk="0">
              <a:lnSpc>
                <a:spcPct val="100000"/>
              </a:lnSpc>
              <a:buNone/>
            </a:pPr>
            <a:r>
              <a:rPr lang="ko-KR" altLang="en-US" sz="2000" b="1" dirty="0">
                <a:solidFill>
                  <a:srgbClr val="0E8A7D"/>
                </a:solidFill>
                <a:latin typeface="Malgun Gothic"/>
                <a:ea typeface="Malgun Gothic"/>
                <a:cs typeface="Malgun Gothic"/>
              </a:rPr>
              <a:t>그래서 틀릴 수도 있습니다.</a:t>
            </a:r>
          </a:p>
        </p:txBody>
      </p:sp>
      <p:pic>
        <p:nvPicPr>
          <p:cNvPr id="17" name="그림 18"/>
          <p:cNvPicPr>
            <a:picLocks noChangeAspect="1"/>
          </p:cNvPicPr>
          <p:nvPr/>
        </p:nvPicPr>
        <p:blipFill>
          <a:blip r:embed="rId3"/>
          <a:stretch>
            <a:fillRect/>
          </a:stretch>
        </p:blipFill>
        <p:spPr>
          <a:xfrm>
            <a:off x="6492240" y="2541733"/>
            <a:ext cx="5093208" cy="2780374"/>
          </a:xfrm>
          <a:prstGeom prst="rect">
            <a:avLst/>
          </a:prstGeom>
        </p:spPr>
      </p:pic>
      <p:sp>
        <p:nvSpPr>
          <p:cNvPr id="18" name="직사각형 19"/>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손님은 '지금 맛있어 보이는 것' 기준 하나로 접시를 채웠고, 내려놓지 않아 스테이크 자리가 없습니다.</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5.1  그리디의 기본</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지역 최적해와 전역 최적해</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a:t>
            </a:r>
            <a:endParaRPr lang="ko-KR" altLang="en-US" sz="1050" b="0" dirty="0">
              <a:solidFill>
                <a:srgbClr val="606060"/>
              </a:solidFill>
              <a:latin typeface="Malgun Gothic"/>
              <a:ea typeface="Malgun Gothic"/>
              <a:cs typeface="Malgun Gothic"/>
            </a:endParaRPr>
          </a:p>
        </p:txBody>
      </p:sp>
      <p:sp>
        <p:nvSpPr>
          <p:cNvPr id="9" name="fit:e52a6272df213d3a 10"/>
          <p:cNvSpPr/>
          <p:nvPr/>
        </p:nvSpPr>
        <p:spPr>
          <a:xfrm>
            <a:off x="658368" y="1737360"/>
            <a:ext cx="5486400" cy="886968"/>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안개 낀 산에서 가장 높은 봉우리를 찾습니다.</a:t>
            </a:r>
          </a:p>
          <a:p>
            <a:pPr algn="l" eaLnBrk="0" latinLnBrk="0">
              <a:lnSpc>
                <a:spcPct val="105000"/>
              </a:lnSpc>
              <a:buNone/>
            </a:pPr>
            <a:r>
              <a:rPr lang="ko-KR" altLang="en-US" sz="1800" b="0" dirty="0">
                <a:solidFill>
                  <a:srgbClr val="171717"/>
                </a:solidFill>
                <a:latin typeface="Malgun Gothic"/>
                <a:ea typeface="Malgun Gothic"/>
                <a:cs typeface="Malgun Gothic"/>
              </a:rPr>
              <a:t>가장 단순한 전략은 지금보다 높은 쪽으로</a:t>
            </a:r>
          </a:p>
          <a:p>
            <a:pPr algn="l" eaLnBrk="0" latinLnBrk="0">
              <a:lnSpc>
                <a:spcPct val="105000"/>
              </a:lnSpc>
              <a:buNone/>
            </a:pPr>
            <a:r>
              <a:rPr lang="ko-KR" altLang="en-US" sz="1800" b="0" dirty="0">
                <a:solidFill>
                  <a:srgbClr val="171717"/>
                </a:solidFill>
                <a:latin typeface="Malgun Gothic"/>
                <a:ea typeface="Malgun Gothic"/>
                <a:cs typeface="Malgun Gothic"/>
              </a:rPr>
              <a:t>한 걸음씩 오르는 것입니다.</a:t>
            </a:r>
          </a:p>
        </p:txBody>
      </p:sp>
      <p:sp>
        <p:nvSpPr>
          <p:cNvPr id="10" name="fit:1ffb0753febadcf7 11"/>
          <p:cNvSpPr/>
          <p:nvPr/>
        </p:nvSpPr>
        <p:spPr>
          <a:xfrm>
            <a:off x="658368" y="2752344"/>
            <a:ext cx="548640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지역 최적해 (local optimum)</a:t>
            </a:r>
          </a:p>
        </p:txBody>
      </p:sp>
      <p:sp>
        <p:nvSpPr>
          <p:cNvPr id="11" name="fit:37d53c5920ddf598 12"/>
          <p:cNvSpPr/>
          <p:nvPr/>
        </p:nvSpPr>
        <p:spPr>
          <a:xfrm>
            <a:off x="841248" y="3072384"/>
            <a:ext cx="5303520" cy="502920"/>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주변 어디보다 높은 곳.</a:t>
            </a:r>
          </a:p>
          <a:p>
            <a:pPr algn="l" eaLnBrk="0" latinLnBrk="0">
              <a:lnSpc>
                <a:spcPct val="105000"/>
              </a:lnSpc>
              <a:buNone/>
            </a:pPr>
            <a:r>
              <a:rPr lang="ko-KR" altLang="en-US" sz="1500" b="0" dirty="0">
                <a:solidFill>
                  <a:srgbClr val="3F3F3F"/>
                </a:solidFill>
                <a:latin typeface="Malgun Gothic"/>
                <a:ea typeface="Malgun Gothic"/>
                <a:cs typeface="Malgun Gothic"/>
              </a:rPr>
              <a:t>작은 언덕 꼭대기일 수 있습니다.</a:t>
            </a:r>
          </a:p>
        </p:txBody>
      </p:sp>
      <p:sp>
        <p:nvSpPr>
          <p:cNvPr id="12" name="fit:42d16cd441148ff5 13"/>
          <p:cNvSpPr/>
          <p:nvPr/>
        </p:nvSpPr>
        <p:spPr>
          <a:xfrm>
            <a:off x="658368" y="3685032"/>
            <a:ext cx="548640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전역 최적해 (global optimum)</a:t>
            </a:r>
          </a:p>
        </p:txBody>
      </p:sp>
      <p:sp>
        <p:nvSpPr>
          <p:cNvPr id="13" name="fit:3f95fb199cdd495e 14"/>
          <p:cNvSpPr/>
          <p:nvPr/>
        </p:nvSpPr>
        <p:spPr>
          <a:xfrm>
            <a:off x="841248" y="4005072"/>
            <a:ext cx="5303520" cy="502920"/>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산 전체에서 가장 높은 곳.</a:t>
            </a:r>
          </a:p>
          <a:p>
            <a:pPr algn="l" eaLnBrk="0" latinLnBrk="0">
              <a:lnSpc>
                <a:spcPct val="105000"/>
              </a:lnSpc>
              <a:buNone/>
            </a:pPr>
            <a:r>
              <a:rPr lang="ko-KR" altLang="en-US" sz="1500" b="0" dirty="0">
                <a:solidFill>
                  <a:srgbClr val="3F3F3F"/>
                </a:solidFill>
                <a:latin typeface="Malgun Gothic"/>
                <a:ea typeface="Malgun Gothic"/>
                <a:cs typeface="Malgun Gothic"/>
              </a:rPr>
              <a:t>우리가 원하는 답입니다.</a:t>
            </a:r>
          </a:p>
        </p:txBody>
      </p:sp>
      <p:sp>
        <p:nvSpPr>
          <p:cNvPr id="14" name="fit:53f7b557098511dc 15"/>
          <p:cNvSpPr/>
          <p:nvPr/>
        </p:nvSpPr>
        <p:spPr>
          <a:xfrm>
            <a:off x="658368" y="4617720"/>
            <a:ext cx="5486400" cy="649224"/>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매 걸음의 최선이 모여도</a:t>
            </a:r>
          </a:p>
          <a:p>
            <a:pPr algn="l" eaLnBrk="0" latinLnBrk="0">
              <a:lnSpc>
                <a:spcPct val="100000"/>
              </a:lnSpc>
              <a:buNone/>
            </a:pPr>
            <a:r>
              <a:rPr lang="ko-KR" altLang="en-US" sz="2000" b="1" dirty="0">
                <a:solidFill>
                  <a:srgbClr val="0E8A7D"/>
                </a:solidFill>
                <a:latin typeface="Malgun Gothic"/>
                <a:ea typeface="Malgun Gothic"/>
                <a:cs typeface="Malgun Gothic"/>
              </a:rPr>
              <a:t>전체의 최선이라는 보장은 없습니다.</a:t>
            </a:r>
          </a:p>
        </p:txBody>
      </p:sp>
      <p:sp>
        <p:nvSpPr>
          <p:cNvPr id="15" name="fit:d3b5250158d3bf82 16"/>
          <p:cNvSpPr/>
          <p:nvPr/>
        </p:nvSpPr>
        <p:spPr>
          <a:xfrm>
            <a:off x="658368" y="5376672"/>
            <a:ext cx="5486400" cy="484632"/>
          </a:xfrm>
          <a:prstGeom prst="rect">
            <a:avLst/>
          </a:prstGeom>
          <a:noFill/>
          <a:ln w="0">
            <a:noFill/>
          </a:ln>
        </p:spPr>
        <p:txBody>
          <a:bodyPr wrap="square" lIns="0" tIns="0" rIns="0" bIns="0" anchor="t">
            <a:noAutofit/>
          </a:bodyPr>
          <a:lstStyle/>
          <a:p>
            <a:pPr algn="l" eaLnBrk="0" latinLnBrk="0">
              <a:lnSpc>
                <a:spcPct val="100000"/>
              </a:lnSpc>
              <a:buNone/>
            </a:pPr>
            <a:r>
              <a:rPr lang="ko-KR" altLang="en-US" sz="1450" b="0" dirty="0">
                <a:solidFill>
                  <a:srgbClr val="3F3F3F"/>
                </a:solidFill>
                <a:latin typeface="Malgun Gothic"/>
                <a:ea typeface="Malgun Gothic"/>
                <a:cs typeface="Malgun Gothic"/>
              </a:rPr>
              <a:t>마시멜로 하나를 지금 먹는 것도 지금만 보면 최선입니다.</a:t>
            </a:r>
          </a:p>
          <a:p>
            <a:pPr algn="l" eaLnBrk="0" latinLnBrk="0">
              <a:lnSpc>
                <a:spcPct val="100000"/>
              </a:lnSpc>
              <a:buNone/>
            </a:pPr>
            <a:r>
              <a:rPr lang="ko-KR" altLang="en-US" sz="1450" b="0" dirty="0">
                <a:solidFill>
                  <a:srgbClr val="3F3F3F"/>
                </a:solidFill>
                <a:latin typeface="Malgun Gothic"/>
                <a:ea typeface="Malgun Gothic"/>
                <a:cs typeface="Malgun Gothic"/>
              </a:rPr>
              <a:t>기다려서 두 개를 받는 쪽이 전체로는 더 좋습니다.</a:t>
            </a:r>
          </a:p>
        </p:txBody>
      </p:sp>
      <p:pic>
        <p:nvPicPr>
          <p:cNvPr id="16" name="그림 17"/>
          <p:cNvPicPr>
            <a:picLocks noChangeAspect="1"/>
          </p:cNvPicPr>
          <p:nvPr/>
        </p:nvPicPr>
        <p:blipFill>
          <a:blip r:embed="rId3"/>
          <a:stretch>
            <a:fillRect/>
          </a:stretch>
        </p:blipFill>
        <p:spPr>
          <a:xfrm>
            <a:off x="6492240" y="2541733"/>
            <a:ext cx="5093208" cy="2780374"/>
          </a:xfrm>
          <a:prstGeom prst="rect">
            <a:avLst/>
          </a:prstGeom>
        </p:spPr>
      </p:pic>
      <p:sp>
        <p:nvSpPr>
          <p:cNvPr id="17" name="직사각형 18"/>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그림의 '국소적 최적해(Local Maximum)'는 지역 최적해(local optimum)와 같은 말입니다.</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5.1  그리디의 기본</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그리디 알고리즘의 세 단계</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a:t>
            </a:r>
            <a:endParaRPr lang="ko-KR" altLang="en-US" sz="1050" b="0" dirty="0">
              <a:solidFill>
                <a:srgbClr val="606060"/>
              </a:solidFill>
              <a:latin typeface="Malgun Gothic"/>
              <a:ea typeface="Malgun Gothic"/>
              <a:cs typeface="Malgun Gothic"/>
            </a:endParaRPr>
          </a:p>
        </p:txBody>
      </p:sp>
      <p:sp>
        <p:nvSpPr>
          <p:cNvPr id="9" name="fit:e2e1d093f9f38c58 10"/>
          <p:cNvSpPr/>
          <p:nvPr/>
        </p:nvSpPr>
        <p:spPr>
          <a:xfrm>
            <a:off x="612648" y="1636776"/>
            <a:ext cx="10972800" cy="33832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해답이 완성될 때까지 세 단계를 되풀이합니다.</a:t>
            </a:r>
          </a:p>
        </p:txBody>
      </p:sp>
      <p:sp>
        <p:nvSpPr>
          <p:cNvPr id="10" name="직사각형 11"/>
          <p:cNvSpPr/>
          <p:nvPr/>
        </p:nvSpPr>
        <p:spPr>
          <a:xfrm>
            <a:off x="658368" y="2121408"/>
            <a:ext cx="32004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1" name="직사각형 12"/>
          <p:cNvSpPr/>
          <p:nvPr/>
        </p:nvSpPr>
        <p:spPr>
          <a:xfrm>
            <a:off x="749808" y="2304288"/>
            <a:ext cx="30175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① 선택</a:t>
            </a:r>
          </a:p>
        </p:txBody>
      </p:sp>
      <p:sp>
        <p:nvSpPr>
          <p:cNvPr id="12" name="직사각형 13"/>
          <p:cNvSpPr/>
          <p:nvPr/>
        </p:nvSpPr>
        <p:spPr>
          <a:xfrm>
            <a:off x="749808" y="2724912"/>
            <a:ext cx="3017520" cy="914400"/>
          </a:xfrm>
          <a:prstGeom prst="rect">
            <a:avLst/>
          </a:prstGeom>
          <a:noFill/>
          <a:ln w="0">
            <a:noFill/>
          </a:ln>
        </p:spPr>
        <p:txBody>
          <a:bodyPr wrap="square" lIns="0" tIns="0" rIns="0" bIns="0" anchor="t">
            <a:noAutofit/>
          </a:bodyPr>
          <a:lstStyle/>
          <a:p>
            <a:pPr algn="ctr" eaLnBrk="0" latinLnBrk="0">
              <a:lnSpc>
                <a:spcPct val="110000"/>
              </a:lnSpc>
              <a:buNone/>
            </a:pPr>
            <a:r>
              <a:rPr lang="ko-KR" altLang="en-US" sz="1350" b="0" dirty="0">
                <a:solidFill>
                  <a:srgbClr val="171717"/>
                </a:solidFill>
                <a:latin typeface="Malgun Gothic"/>
                <a:ea typeface="Malgun Gothic"/>
                <a:cs typeface="Malgun Gothic"/>
              </a:rPr>
              <a:t>selection</a:t>
            </a:r>
          </a:p>
          <a:p>
            <a:pPr algn="ctr" eaLnBrk="0" latinLnBrk="0">
              <a:lnSpc>
                <a:spcPct val="110000"/>
              </a:lnSpc>
              <a:buNone/>
            </a:pPr>
            <a:r>
              <a:rPr lang="ko-KR" altLang="en-US" sz="1350" b="0" dirty="0">
                <a:solidFill>
                  <a:srgbClr val="171717"/>
                </a:solidFill>
                <a:latin typeface="Malgun Gothic"/>
                <a:ea typeface="Malgun Gothic"/>
                <a:cs typeface="Malgun Gothic"/>
              </a:rPr>
              <a:t>남은 후보 중 지금 기준으로</a:t>
            </a:r>
          </a:p>
          <a:p>
            <a:pPr algn="ctr" eaLnBrk="0" latinLnBrk="0">
              <a:lnSpc>
                <a:spcPct val="110000"/>
              </a:lnSpc>
              <a:buNone/>
            </a:pPr>
            <a:r>
              <a:rPr lang="ko-KR" altLang="en-US" sz="1350" b="0" dirty="0">
                <a:solidFill>
                  <a:srgbClr val="171717"/>
                </a:solidFill>
                <a:latin typeface="Malgun Gothic"/>
                <a:ea typeface="Malgun Gothic"/>
                <a:cs typeface="Malgun Gothic"/>
              </a:rPr>
              <a:t>가장 좋은 것 하나를 고릅니다.</a:t>
            </a:r>
          </a:p>
        </p:txBody>
      </p:sp>
      <p:sp>
        <p:nvSpPr>
          <p:cNvPr id="13" name="직사각형 14"/>
          <p:cNvSpPr/>
          <p:nvPr/>
        </p:nvSpPr>
        <p:spPr>
          <a:xfrm>
            <a:off x="4005072" y="2340864"/>
            <a:ext cx="347472" cy="292608"/>
          </a:xfrm>
          <a:prstGeom prst="rightArrow">
            <a:avLst/>
          </a:prstGeom>
          <a:solidFill>
            <a:srgbClr val="E9E9E9"/>
          </a:solidFill>
          <a:ln w="9525">
            <a:solidFill>
              <a:srgbClr val="D4D4D4"/>
            </a:solidFill>
          </a:ln>
        </p:spPr>
        <p:txBody>
          <a:bodyPr wrap="square" lIns="0" tIns="0" rIns="0" bIns="0" anchor="t">
            <a:noAutofit/>
          </a:bodyPr>
          <a:lstStyle/>
          <a:p>
            <a:pPr algn="l" eaLnBrk="0" latinLnBrk="0">
              <a:lnSpc>
                <a:spcPct val="100000"/>
              </a:lnSpc>
              <a:buNone/>
            </a:pPr>
            <a:endParaRPr lang="ko-KR" sz="1800"/>
          </a:p>
        </p:txBody>
      </p:sp>
      <p:sp>
        <p:nvSpPr>
          <p:cNvPr id="14" name="직사각형 15"/>
          <p:cNvSpPr/>
          <p:nvPr/>
        </p:nvSpPr>
        <p:spPr>
          <a:xfrm>
            <a:off x="4498848" y="2121408"/>
            <a:ext cx="32004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5" name="직사각형 16"/>
          <p:cNvSpPr/>
          <p:nvPr/>
        </p:nvSpPr>
        <p:spPr>
          <a:xfrm>
            <a:off x="4590288" y="2304288"/>
            <a:ext cx="30175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② 적정성 검사</a:t>
            </a:r>
          </a:p>
        </p:txBody>
      </p:sp>
      <p:sp>
        <p:nvSpPr>
          <p:cNvPr id="16" name="직사각형 17"/>
          <p:cNvSpPr/>
          <p:nvPr/>
        </p:nvSpPr>
        <p:spPr>
          <a:xfrm>
            <a:off x="4590288" y="2724912"/>
            <a:ext cx="3017520" cy="914400"/>
          </a:xfrm>
          <a:prstGeom prst="rect">
            <a:avLst/>
          </a:prstGeom>
          <a:noFill/>
          <a:ln w="0">
            <a:noFill/>
          </a:ln>
        </p:spPr>
        <p:txBody>
          <a:bodyPr wrap="square" lIns="0" tIns="0" rIns="0" bIns="0" anchor="t">
            <a:noAutofit/>
          </a:bodyPr>
          <a:lstStyle/>
          <a:p>
            <a:pPr algn="ctr" eaLnBrk="0" latinLnBrk="0">
              <a:lnSpc>
                <a:spcPct val="110000"/>
              </a:lnSpc>
              <a:buNone/>
            </a:pPr>
            <a:r>
              <a:rPr lang="ko-KR" altLang="en-US" sz="1350" b="0" dirty="0">
                <a:solidFill>
                  <a:srgbClr val="171717"/>
                </a:solidFill>
                <a:latin typeface="Malgun Gothic"/>
                <a:ea typeface="Malgun Gothic"/>
                <a:cs typeface="Malgun Gothic"/>
              </a:rPr>
              <a:t>feasibility</a:t>
            </a:r>
          </a:p>
          <a:p>
            <a:pPr algn="ctr" eaLnBrk="0" latinLnBrk="0">
              <a:lnSpc>
                <a:spcPct val="110000"/>
              </a:lnSpc>
              <a:buNone/>
            </a:pPr>
            <a:r>
              <a:rPr lang="ko-KR" altLang="en-US" sz="1350" b="0" dirty="0">
                <a:solidFill>
                  <a:srgbClr val="171717"/>
                </a:solidFill>
                <a:latin typeface="Malgun Gothic"/>
                <a:ea typeface="Malgun Gothic"/>
                <a:cs typeface="Malgun Gothic"/>
              </a:rPr>
              <a:t>그 선택을 넣어도 제약을</a:t>
            </a:r>
          </a:p>
          <a:p>
            <a:pPr algn="ctr" eaLnBrk="0" latinLnBrk="0">
              <a:lnSpc>
                <a:spcPct val="110000"/>
              </a:lnSpc>
              <a:buNone/>
            </a:pPr>
            <a:r>
              <a:rPr lang="ko-KR" altLang="en-US" sz="1350" b="0" dirty="0">
                <a:solidFill>
                  <a:srgbClr val="171717"/>
                </a:solidFill>
                <a:latin typeface="Malgun Gothic"/>
                <a:ea typeface="Malgun Gothic"/>
                <a:cs typeface="Malgun Gothic"/>
              </a:rPr>
              <a:t>어기지 않는지 확인합니다.</a:t>
            </a:r>
          </a:p>
        </p:txBody>
      </p:sp>
      <p:sp>
        <p:nvSpPr>
          <p:cNvPr id="17" name="직사각형 18"/>
          <p:cNvSpPr/>
          <p:nvPr/>
        </p:nvSpPr>
        <p:spPr>
          <a:xfrm>
            <a:off x="7845552" y="2340864"/>
            <a:ext cx="347472" cy="292608"/>
          </a:xfrm>
          <a:prstGeom prst="rightArrow">
            <a:avLst/>
          </a:prstGeom>
          <a:solidFill>
            <a:srgbClr val="E9E9E9"/>
          </a:solidFill>
          <a:ln w="9525">
            <a:solidFill>
              <a:srgbClr val="D4D4D4"/>
            </a:solidFill>
          </a:ln>
        </p:spPr>
        <p:txBody>
          <a:bodyPr wrap="square" lIns="0" tIns="0" rIns="0" bIns="0" anchor="t">
            <a:noAutofit/>
          </a:bodyPr>
          <a:lstStyle/>
          <a:p>
            <a:pPr algn="l" eaLnBrk="0" latinLnBrk="0">
              <a:lnSpc>
                <a:spcPct val="100000"/>
              </a:lnSpc>
              <a:buNone/>
            </a:pPr>
            <a:endParaRPr lang="ko-KR" sz="1800"/>
          </a:p>
        </p:txBody>
      </p:sp>
      <p:sp>
        <p:nvSpPr>
          <p:cNvPr id="18" name="직사각형 19"/>
          <p:cNvSpPr/>
          <p:nvPr/>
        </p:nvSpPr>
        <p:spPr>
          <a:xfrm>
            <a:off x="8339328" y="2121408"/>
            <a:ext cx="32004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9" name="직사각형 20"/>
          <p:cNvSpPr/>
          <p:nvPr/>
        </p:nvSpPr>
        <p:spPr>
          <a:xfrm>
            <a:off x="8430768" y="2304288"/>
            <a:ext cx="30175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③ 해답 검사</a:t>
            </a:r>
          </a:p>
        </p:txBody>
      </p:sp>
      <p:sp>
        <p:nvSpPr>
          <p:cNvPr id="20" name="직사각형 21"/>
          <p:cNvSpPr/>
          <p:nvPr/>
        </p:nvSpPr>
        <p:spPr>
          <a:xfrm>
            <a:off x="8430768" y="2724912"/>
            <a:ext cx="3017520" cy="914400"/>
          </a:xfrm>
          <a:prstGeom prst="rect">
            <a:avLst/>
          </a:prstGeom>
          <a:noFill/>
          <a:ln w="0">
            <a:noFill/>
          </a:ln>
        </p:spPr>
        <p:txBody>
          <a:bodyPr wrap="square" lIns="0" tIns="0" rIns="0" bIns="0" anchor="t">
            <a:noAutofit/>
          </a:bodyPr>
          <a:lstStyle/>
          <a:p>
            <a:pPr algn="ctr" eaLnBrk="0" latinLnBrk="0">
              <a:lnSpc>
                <a:spcPct val="110000"/>
              </a:lnSpc>
              <a:buNone/>
            </a:pPr>
            <a:r>
              <a:rPr lang="ko-KR" altLang="en-US" sz="1350" b="0" dirty="0">
                <a:solidFill>
                  <a:srgbClr val="171717"/>
                </a:solidFill>
                <a:latin typeface="Malgun Gothic"/>
                <a:ea typeface="Malgun Gothic"/>
                <a:cs typeface="Malgun Gothic"/>
              </a:rPr>
              <a:t>solution</a:t>
            </a:r>
          </a:p>
          <a:p>
            <a:pPr algn="ctr" eaLnBrk="0" latinLnBrk="0">
              <a:lnSpc>
                <a:spcPct val="110000"/>
              </a:lnSpc>
              <a:buNone/>
            </a:pPr>
            <a:r>
              <a:rPr lang="ko-KR" altLang="en-US" sz="1350" b="0" dirty="0">
                <a:solidFill>
                  <a:srgbClr val="171717"/>
                </a:solidFill>
                <a:latin typeface="Malgun Gothic"/>
                <a:ea typeface="Malgun Gothic"/>
                <a:cs typeface="Malgun Gothic"/>
              </a:rPr>
              <a:t>모은 것이 완전한 해답인지</a:t>
            </a:r>
          </a:p>
          <a:p>
            <a:pPr algn="ctr" eaLnBrk="0" latinLnBrk="0">
              <a:lnSpc>
                <a:spcPct val="110000"/>
              </a:lnSpc>
              <a:buNone/>
            </a:pPr>
            <a:r>
              <a:rPr lang="ko-KR" altLang="en-US" sz="1350" b="0" dirty="0">
                <a:solidFill>
                  <a:srgbClr val="171717"/>
                </a:solidFill>
                <a:latin typeface="Malgun Gothic"/>
                <a:ea typeface="Malgun Gothic"/>
                <a:cs typeface="Malgun Gothic"/>
              </a:rPr>
              <a:t>확인합니다. 아니면 ①로.</a:t>
            </a:r>
          </a:p>
        </p:txBody>
      </p:sp>
      <p:sp>
        <p:nvSpPr>
          <p:cNvPr id="21" name="직사각형 22"/>
          <p:cNvSpPr/>
          <p:nvPr/>
        </p:nvSpPr>
        <p:spPr>
          <a:xfrm>
            <a:off x="658368" y="3472688"/>
            <a:ext cx="10881360" cy="21945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0" dirty="0">
                <a:solidFill>
                  <a:srgbClr val="606060"/>
                </a:solidFill>
                <a:latin typeface="Consolas"/>
                <a:ea typeface="Consolas"/>
                <a:cs typeface="Consolas"/>
              </a:rPr>
              <a:t>greedy.pseudo</a:t>
            </a:r>
          </a:p>
        </p:txBody>
      </p:sp>
      <p:sp>
        <p:nvSpPr>
          <p:cNvPr id="22" name="직사각형 23"/>
          <p:cNvSpPr/>
          <p:nvPr/>
        </p:nvSpPr>
        <p:spPr>
          <a:xfrm>
            <a:off x="658368" y="3692144"/>
            <a:ext cx="10881360" cy="2276856"/>
          </a:xfrm>
          <a:prstGeom prst="rect">
            <a:avLst/>
          </a:prstGeom>
          <a:solidFill>
            <a:srgbClr val="171717"/>
          </a:solidFill>
          <a:ln w="0">
            <a:noFill/>
          </a:ln>
        </p:spPr>
        <p:txBody>
          <a:bodyPr wrap="none" lIns="91440" tIns="91440" rIns="91440" bIns="91440" anchor="t">
            <a:noAutofit/>
          </a:bodyPr>
          <a:lstStyle/>
          <a:p>
            <a:pPr algn="l" eaLnBrk="0" latinLnBrk="0">
              <a:lnSpc>
                <a:spcPct val="130000"/>
              </a:lnSpc>
              <a:buNone/>
            </a:pPr>
            <a:r>
              <a:rPr lang="ko-KR" altLang="en-US" sz="1500" b="0" dirty="0">
                <a:solidFill>
                  <a:srgbClr val="FFFFFF"/>
                </a:solidFill>
                <a:latin typeface="Consolas"/>
                <a:ea typeface="Consolas"/>
                <a:cs typeface="Consolas"/>
              </a:rPr>
              <a:t>GREEDY(C):                                     // C: 후보 집합</a:t>
            </a:r>
          </a:p>
          <a:p>
            <a:pPr algn="l" eaLnBrk="0" latinLnBrk="0">
              <a:lnSpc>
                <a:spcPct val="130000"/>
              </a:lnSpc>
              <a:buNone/>
            </a:pPr>
            <a:r>
              <a:rPr lang="ko-KR" altLang="en-US" sz="1500" b="0" dirty="0">
                <a:solidFill>
                  <a:srgbClr val="FFFFFF"/>
                </a:solidFill>
                <a:latin typeface="Consolas"/>
                <a:ea typeface="Consolas"/>
                <a:cs typeface="Consolas"/>
              </a:rPr>
              <a:t>    S &lt;- 빈 집합                                // 지금까지 확정한 선택</a:t>
            </a:r>
          </a:p>
          <a:p>
            <a:pPr algn="l" eaLnBrk="0" latinLnBrk="0">
              <a:lnSpc>
                <a:spcPct val="130000"/>
              </a:lnSpc>
              <a:buNone/>
            </a:pPr>
            <a:r>
              <a:rPr lang="ko-KR" altLang="en-US" sz="1500" b="0" dirty="0">
                <a:solidFill>
                  <a:srgbClr val="FFFFFF"/>
                </a:solidFill>
                <a:latin typeface="Consolas"/>
                <a:ea typeface="Consolas"/>
                <a:cs typeface="Consolas"/>
              </a:rPr>
              <a:t>    while C가 비어 있지 않고 S가 해답이 아니면:   // 해답 검사</a:t>
            </a:r>
          </a:p>
          <a:p>
            <a:pPr algn="l" eaLnBrk="0" latinLnBrk="0">
              <a:lnSpc>
                <a:spcPct val="130000"/>
              </a:lnSpc>
              <a:buNone/>
            </a:pPr>
            <a:r>
              <a:rPr lang="ko-KR" altLang="en-US" sz="1500" b="0" dirty="0">
                <a:solidFill>
                  <a:srgbClr val="FFFFFF"/>
                </a:solidFill>
                <a:latin typeface="Consolas"/>
                <a:ea typeface="Consolas"/>
                <a:cs typeface="Consolas"/>
              </a:rPr>
              <a:t>        C에서 지금 가장 좋은 후보 x를 꺼낸다      // 선택</a:t>
            </a:r>
          </a:p>
          <a:p>
            <a:pPr algn="l" eaLnBrk="0" latinLnBrk="0">
              <a:lnSpc>
                <a:spcPct val="130000"/>
              </a:lnSpc>
              <a:buNone/>
            </a:pPr>
            <a:r>
              <a:rPr lang="ko-KR" altLang="en-US" sz="1500" b="0" dirty="0">
                <a:solidFill>
                  <a:srgbClr val="FFFFFF"/>
                </a:solidFill>
                <a:latin typeface="Consolas"/>
                <a:ea typeface="Consolas"/>
                <a:cs typeface="Consolas"/>
              </a:rPr>
              <a:t>        if S + {x}가 제약을 지키면:              // 적정성 검사</a:t>
            </a:r>
          </a:p>
          <a:p>
            <a:pPr algn="l" eaLnBrk="0" latinLnBrk="0">
              <a:lnSpc>
                <a:spcPct val="130000"/>
              </a:lnSpc>
              <a:buNone/>
            </a:pPr>
            <a:r>
              <a:rPr lang="ko-KR" altLang="en-US" sz="1500" b="0" dirty="0">
                <a:solidFill>
                  <a:srgbClr val="FFFFFF"/>
                </a:solidFill>
                <a:latin typeface="Consolas"/>
                <a:ea typeface="Consolas"/>
                <a:cs typeface="Consolas"/>
              </a:rPr>
              <a:t>            S &lt;- S + {x}                       // 확정, 되돌리지 않음</a:t>
            </a:r>
          </a:p>
          <a:p>
            <a:pPr algn="l" eaLnBrk="0" latinLnBrk="0">
              <a:lnSpc>
                <a:spcPct val="130000"/>
              </a:lnSpc>
              <a:buNone/>
            </a:pPr>
            <a:r>
              <a:rPr lang="ko-KR" altLang="en-US" sz="1500" b="0" dirty="0">
                <a:solidFill>
                  <a:srgbClr val="FFFFFF"/>
                </a:solidFill>
                <a:latin typeface="Consolas"/>
                <a:ea typeface="Consolas"/>
                <a:cs typeface="Consolas"/>
              </a:rPr>
              <a:t>    if S가 해답이면 return S else return "해 없음"</a:t>
            </a:r>
          </a:p>
        </p:txBody>
      </p:sp>
      <p:sp>
        <p:nvSpPr>
          <p:cNvPr id="23" name="fit:4a6a04f278b3d00f 24"/>
          <p:cNvSpPr/>
          <p:nvPr/>
        </p:nvSpPr>
        <p:spPr>
          <a:xfrm>
            <a:off x="658368" y="5970016"/>
            <a:ext cx="10881360" cy="338328"/>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1" dirty="0">
                <a:solidFill>
                  <a:srgbClr val="0E8A7D"/>
                </a:solidFill>
                <a:latin typeface="Malgun Gothic"/>
                <a:ea typeface="Malgun Gothic"/>
                <a:cs typeface="Malgun Gothic"/>
              </a:rPr>
              <a:t>한 번 확정한 선택은 다시 검토하지 않습니다.</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5.1  그리디의 기본</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이 장의 지도: 통하는 문제와 통하지 않는 문제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a:t>
            </a:r>
            <a:endParaRPr lang="ko-KR" altLang="en-US" sz="1050" b="0" dirty="0">
              <a:solidFill>
                <a:srgbClr val="606060"/>
              </a:solidFill>
              <a:latin typeface="Malgun Gothic"/>
              <a:ea typeface="Malgun Gothic"/>
              <a:cs typeface="Malgun Gothic"/>
            </a:endParaRPr>
          </a:p>
        </p:txBody>
      </p:sp>
      <p:sp>
        <p:nvSpPr>
          <p:cNvPr id="9" name="fit:a4f3aeb49ca85f05 10"/>
          <p:cNvSpPr/>
          <p:nvPr/>
        </p:nvSpPr>
        <p:spPr>
          <a:xfrm>
            <a:off x="612648" y="1636776"/>
            <a:ext cx="10972800" cy="594360"/>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모두 '지금 가장 좋은 것 고르기'이지만,</a:t>
            </a:r>
          </a:p>
          <a:p>
            <a:pPr algn="l" eaLnBrk="0" latinLnBrk="0">
              <a:lnSpc>
                <a:spcPct val="105000"/>
              </a:lnSpc>
              <a:buNone/>
            </a:pPr>
            <a:r>
              <a:rPr lang="ko-KR" altLang="en-US" sz="1800" b="0" dirty="0">
                <a:solidFill>
                  <a:srgbClr val="171717"/>
                </a:solidFill>
                <a:latin typeface="Malgun Gothic"/>
                <a:ea typeface="Malgun Gothic"/>
                <a:cs typeface="Malgun Gothic"/>
              </a:rPr>
              <a:t>최적해를 보장하는 문제와 그렇지 않은 문제가 있습니다.</a:t>
            </a:r>
          </a:p>
        </p:txBody>
      </p:sp>
      <p:graphicFrame>
        <p:nvGraphicFramePr>
          <p:cNvPr id="10" name="표 11"/>
          <p:cNvGraphicFramePr>
            <a:graphicFrameLocks noGrp="1"/>
          </p:cNvGraphicFramePr>
          <p:nvPr>
            <p:extLst>
              <p:ext uri="{D42A27DB-BD31-4B8C-83A1-F6EECF244321}">
                <p14:modId xmlns:p14="http://schemas.microsoft.com/office/powerpoint/2010/main" val="1742608454"/>
              </p:ext>
            </p:extLst>
          </p:nvPr>
        </p:nvGraphicFramePr>
        <p:xfrm>
          <a:off x="612648" y="2359152"/>
          <a:ext cx="10972800" cy="2880360"/>
        </p:xfrm>
        <a:graphic>
          <a:graphicData uri="http://schemas.openxmlformats.org/drawingml/2006/table">
            <a:tbl>
              <a:tblPr/>
              <a:tblGrid>
                <a:gridCol w="936702">
                  <a:extLst>
                    <a:ext uri="{9D8B030D-6E8A-4147-A177-3AD203B41FA5}">
                      <a16:colId xmlns:a16="http://schemas.microsoft.com/office/drawing/2014/main" val="20000"/>
                    </a:ext>
                  </a:extLst>
                </a:gridCol>
                <a:gridCol w="3479180">
                  <a:extLst>
                    <a:ext uri="{9D8B030D-6E8A-4147-A177-3AD203B41FA5}">
                      <a16:colId xmlns:a16="http://schemas.microsoft.com/office/drawing/2014/main" val="20001"/>
                    </a:ext>
                  </a:extLst>
                </a:gridCol>
                <a:gridCol w="4415883">
                  <a:extLst>
                    <a:ext uri="{9D8B030D-6E8A-4147-A177-3AD203B41FA5}">
                      <a16:colId xmlns:a16="http://schemas.microsoft.com/office/drawing/2014/main" val="20002"/>
                    </a:ext>
                  </a:extLst>
                </a:gridCol>
                <a:gridCol w="2141034">
                  <a:extLst>
                    <a:ext uri="{9D8B030D-6E8A-4147-A177-3AD203B41FA5}">
                      <a16:colId xmlns:a16="http://schemas.microsoft.com/office/drawing/2014/main" val="20003"/>
                    </a:ext>
                  </a:extLst>
                </a:gridCol>
              </a:tblGrid>
              <a:tr h="320040">
                <a:tc>
                  <a:txBody>
                    <a:bodyPr/>
                    <a:lstStyle/>
                    <a:p>
                      <a:pPr algn="ctr" eaLnBrk="0" latinLnBrk="0">
                        <a:lnSpc>
                          <a:spcPct val="100000"/>
                        </a:lnSpc>
                        <a:buNone/>
                      </a:pPr>
                      <a:r>
                        <a:rPr lang="ko-KR" altLang="en-US" sz="1450" b="1" dirty="0">
                          <a:solidFill>
                            <a:srgbClr val="FFFFFF"/>
                          </a:solidFill>
                          <a:latin typeface="Malgun Gothic"/>
                          <a:ea typeface="Malgun Gothic"/>
                          <a:cs typeface="Malgun Gothic"/>
                        </a:rPr>
                        <a:t>절</a:t>
                      </a:r>
                    </a:p>
                  </a:txBody>
                  <a:tcPr marL="54864" marR="54864" marT="18288" marB="18288" anchor="ctr">
                    <a:solidFill>
                      <a:srgbClr val="151515"/>
                    </a:solidFill>
                  </a:tcPr>
                </a:tc>
                <a:tc>
                  <a:txBody>
                    <a:bodyPr/>
                    <a:lstStyle/>
                    <a:p>
                      <a:pPr algn="ctr" eaLnBrk="0" latinLnBrk="0">
                        <a:lnSpc>
                          <a:spcPct val="100000"/>
                        </a:lnSpc>
                        <a:buNone/>
                      </a:pPr>
                      <a:r>
                        <a:rPr lang="ko-KR" altLang="en-US" sz="1450" b="1" dirty="0">
                          <a:solidFill>
                            <a:srgbClr val="FFFFFF"/>
                          </a:solidFill>
                          <a:latin typeface="Malgun Gothic"/>
                          <a:ea typeface="Malgun Gothic"/>
                          <a:cs typeface="Malgun Gothic"/>
                        </a:rPr>
                        <a:t>문제</a:t>
                      </a:r>
                    </a:p>
                  </a:txBody>
                  <a:tcPr marL="54864" marR="54864" marT="18288" marB="18288" anchor="ctr">
                    <a:solidFill>
                      <a:srgbClr val="151515"/>
                    </a:solidFill>
                  </a:tcPr>
                </a:tc>
                <a:tc>
                  <a:txBody>
                    <a:bodyPr/>
                    <a:lstStyle/>
                    <a:p>
                      <a:pPr algn="ctr" eaLnBrk="0" latinLnBrk="0">
                        <a:lnSpc>
                          <a:spcPct val="100000"/>
                        </a:lnSpc>
                        <a:buNone/>
                      </a:pPr>
                      <a:r>
                        <a:rPr lang="ko-KR" altLang="en-US" sz="1450" b="1" dirty="0">
                          <a:solidFill>
                            <a:srgbClr val="FFFFFF"/>
                          </a:solidFill>
                          <a:latin typeface="Malgun Gothic"/>
                          <a:ea typeface="Malgun Gothic"/>
                          <a:cs typeface="Malgun Gothic"/>
                        </a:rPr>
                        <a:t>매 단계의 선택</a:t>
                      </a:r>
                    </a:p>
                  </a:txBody>
                  <a:tcPr marL="54864" marR="54864" marT="18288" marB="18288" anchor="ctr">
                    <a:solidFill>
                      <a:srgbClr val="151515"/>
                    </a:solidFill>
                  </a:tcPr>
                </a:tc>
                <a:tc>
                  <a:txBody>
                    <a:bodyPr/>
                    <a:lstStyle/>
                    <a:p>
                      <a:pPr algn="ctr" eaLnBrk="0" latinLnBrk="0">
                        <a:lnSpc>
                          <a:spcPct val="100000"/>
                        </a:lnSpc>
                        <a:buNone/>
                      </a:pPr>
                      <a:r>
                        <a:rPr lang="ko-KR" altLang="en-US" sz="1450" b="1" dirty="0">
                          <a:solidFill>
                            <a:srgbClr val="FFFFFF"/>
                          </a:solidFill>
                          <a:latin typeface="Malgun Gothic"/>
                          <a:ea typeface="Malgun Gothic"/>
                          <a:cs typeface="Malgun Gothic"/>
                        </a:rPr>
                        <a:t>최적해</a:t>
                      </a:r>
                    </a:p>
                  </a:txBody>
                  <a:tcPr marL="54864" marR="54864" marT="18288" marB="18288" anchor="ctr">
                    <a:solidFill>
                      <a:srgbClr val="151515"/>
                    </a:solidFill>
                  </a:tcPr>
                </a:tc>
                <a:extLst>
                  <a:ext uri="{0D108BD9-81ED-4DB2-BD59-A6C34878D82A}">
                    <a16:rowId xmlns:a16="http://schemas.microsoft.com/office/drawing/2014/main" val="10000"/>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5.2</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거스름돈 (500·100·50·10원)</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가장 큰 동전</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0E8A7D"/>
                          </a:solidFill>
                          <a:latin typeface="Malgun Gothic"/>
                          <a:ea typeface="Malgun Gothic"/>
                          <a:cs typeface="Malgun Gothic"/>
                        </a:rPr>
                        <a:t>보장</a:t>
                      </a:r>
                    </a:p>
                  </a:txBody>
                  <a:tcPr marL="54864" marR="54864" marT="18288" marB="18288" anchor="ctr">
                    <a:solidFill>
                      <a:srgbClr val="FFFFFF"/>
                    </a:solidFill>
                  </a:tcPr>
                </a:tc>
                <a:extLst>
                  <a:ext uri="{0D108BD9-81ED-4DB2-BD59-A6C34878D82A}">
                    <a16:rowId xmlns:a16="http://schemas.microsoft.com/office/drawing/2014/main" val="10001"/>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5.2</a:t>
                      </a:r>
                    </a:p>
                  </a:txBody>
                  <a:tcPr marL="54864" marR="54864" marT="18288" marB="18288" anchor="ctr">
                    <a:solidFill>
                      <a:srgbClr val="FFFFFF"/>
                    </a:solidFill>
                  </a:tcPr>
                </a:tc>
                <a:tc>
                  <a:txBody>
                    <a:bodyPr/>
                    <a:lstStyle/>
                    <a:p>
                      <a:pPr algn="ctr" eaLnBrk="0" latinLnBrk="0">
                        <a:lnSpc>
                          <a:spcPct val="100000"/>
                        </a:lnSpc>
                        <a:buNone/>
                      </a:pPr>
                      <a:r>
                        <a:rPr lang="ko-KR" altLang="en-US" sz="1450" b="0">
                          <a:solidFill>
                            <a:srgbClr val="151515"/>
                          </a:solidFill>
                          <a:latin typeface="Malgun Gothic"/>
                          <a:ea typeface="Malgun Gothic"/>
                          <a:cs typeface="Malgun Gothic"/>
                        </a:rPr>
                        <a:t>거스름돈 </a:t>
                      </a:r>
                      <a:r>
                        <a:rPr lang="en-US" altLang="ko-KR" sz="1450" b="0">
                          <a:solidFill>
                            <a:srgbClr val="151515"/>
                          </a:solidFill>
                          <a:latin typeface="Malgun Gothic"/>
                          <a:ea typeface="Malgun Gothic"/>
                          <a:cs typeface="Malgun Gothic"/>
                        </a:rPr>
                        <a:t>(1·3·4</a:t>
                      </a:r>
                      <a:r>
                        <a:rPr lang="ko-KR" altLang="en-US" sz="1450" b="0">
                          <a:solidFill>
                            <a:srgbClr val="151515"/>
                          </a:solidFill>
                          <a:latin typeface="Malgun Gothic"/>
                          <a:ea typeface="Malgun Gothic"/>
                          <a:cs typeface="Malgun Gothic"/>
                        </a:rPr>
                        <a:t>원</a:t>
                      </a:r>
                      <a:r>
                        <a:rPr lang="en-US" altLang="ko-KR" sz="1450" b="0">
                          <a:solidFill>
                            <a:srgbClr val="151515"/>
                          </a:solidFill>
                          <a:latin typeface="Malgun Gothic"/>
                          <a:ea typeface="Malgun Gothic"/>
                          <a:cs typeface="Malgun Gothic"/>
                        </a:rPr>
                        <a:t>)</a:t>
                      </a:r>
                      <a:endParaRPr lang="ko-KR" altLang="en-US" sz="1450" b="0" dirty="0">
                        <a:solidFill>
                          <a:srgbClr val="151515"/>
                        </a:solidFill>
                        <a:latin typeface="Malgun Gothic"/>
                        <a:ea typeface="Malgun Gothic"/>
                        <a:cs typeface="Malgun Gothic"/>
                      </a:endParaRP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가장 큰 동전</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B23B3B"/>
                          </a:solidFill>
                          <a:latin typeface="Malgun Gothic"/>
                          <a:ea typeface="Malgun Gothic"/>
                          <a:cs typeface="Malgun Gothic"/>
                        </a:rPr>
                        <a:t>보장 못 함</a:t>
                      </a:r>
                    </a:p>
                  </a:txBody>
                  <a:tcPr marL="54864" marR="54864" marT="18288" marB="18288" anchor="ctr">
                    <a:solidFill>
                      <a:srgbClr val="FFFFFF"/>
                    </a:solidFill>
                  </a:tcPr>
                </a:tc>
                <a:extLst>
                  <a:ext uri="{0D108BD9-81ED-4DB2-BD59-A6C34878D82A}">
                    <a16:rowId xmlns:a16="http://schemas.microsoft.com/office/drawing/2014/main" val="10002"/>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5.3</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활동 선택 (회의 배정)</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가장 먼저 끝나는 회의</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0E8A7D"/>
                          </a:solidFill>
                          <a:latin typeface="Malgun Gothic"/>
                          <a:ea typeface="Malgun Gothic"/>
                          <a:cs typeface="Malgun Gothic"/>
                        </a:rPr>
                        <a:t>보장</a:t>
                      </a:r>
                    </a:p>
                  </a:txBody>
                  <a:tcPr marL="54864" marR="54864" marT="18288" marB="18288" anchor="ctr">
                    <a:solidFill>
                      <a:srgbClr val="FFFFFF"/>
                    </a:solidFill>
                  </a:tcPr>
                </a:tc>
                <a:extLst>
                  <a:ext uri="{0D108BD9-81ED-4DB2-BD59-A6C34878D82A}">
                    <a16:rowId xmlns:a16="http://schemas.microsoft.com/office/drawing/2014/main" val="10003"/>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5.4</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분할 배낭 (쪼갤 수 있음)</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무게당 가치가 가장 높은 보물</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0E8A7D"/>
                          </a:solidFill>
                          <a:latin typeface="Malgun Gothic"/>
                          <a:ea typeface="Malgun Gothic"/>
                          <a:cs typeface="Malgun Gothic"/>
                        </a:rPr>
                        <a:t>보장</a:t>
                      </a:r>
                    </a:p>
                  </a:txBody>
                  <a:tcPr marL="54864" marR="54864" marT="18288" marB="18288" anchor="ctr">
                    <a:solidFill>
                      <a:srgbClr val="FFFFFF"/>
                    </a:solidFill>
                  </a:tcPr>
                </a:tc>
                <a:extLst>
                  <a:ext uri="{0D108BD9-81ED-4DB2-BD59-A6C34878D82A}">
                    <a16:rowId xmlns:a16="http://schemas.microsoft.com/office/drawing/2014/main" val="10004"/>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5.4</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0/1 배낭 (쪼갤 수 없음)</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무게당 가치가 가장 높은 보물</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B23B3B"/>
                          </a:solidFill>
                          <a:latin typeface="Malgun Gothic"/>
                          <a:ea typeface="Malgun Gothic"/>
                          <a:cs typeface="Malgun Gothic"/>
                        </a:rPr>
                        <a:t>보장 못 함</a:t>
                      </a:r>
                    </a:p>
                  </a:txBody>
                  <a:tcPr marL="54864" marR="54864" marT="18288" marB="18288" anchor="ctr">
                    <a:solidFill>
                      <a:srgbClr val="FFFFFF"/>
                    </a:solidFill>
                  </a:tcPr>
                </a:tc>
                <a:extLst>
                  <a:ext uri="{0D108BD9-81ED-4DB2-BD59-A6C34878D82A}">
                    <a16:rowId xmlns:a16="http://schemas.microsoft.com/office/drawing/2014/main" val="10005"/>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5.6</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최소 신장 트리 (크루스칼)</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사이클을 만들지 않는 가장 싼 간선</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0E8A7D"/>
                          </a:solidFill>
                          <a:latin typeface="Malgun Gothic"/>
                          <a:ea typeface="Malgun Gothic"/>
                          <a:cs typeface="Malgun Gothic"/>
                        </a:rPr>
                        <a:t>보장</a:t>
                      </a:r>
                    </a:p>
                  </a:txBody>
                  <a:tcPr marL="54864" marR="54864" marT="18288" marB="18288" anchor="ctr">
                    <a:solidFill>
                      <a:srgbClr val="FFFFFF"/>
                    </a:solidFill>
                  </a:tcPr>
                </a:tc>
                <a:extLst>
                  <a:ext uri="{0D108BD9-81ED-4DB2-BD59-A6C34878D82A}">
                    <a16:rowId xmlns:a16="http://schemas.microsoft.com/office/drawing/2014/main" val="10006"/>
                  </a:ext>
                </a:extLst>
              </a:tr>
              <a:tr h="320040">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5.8</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최단 경로 (다익스트라)</a:t>
                      </a:r>
                    </a:p>
                  </a:txBody>
                  <a:tcPr marL="54864" marR="54864" marT="18288" marB="18288" anchor="ctr">
                    <a:solidFill>
                      <a:srgbClr val="FFFFFF"/>
                    </a:solidFill>
                  </a:tcPr>
                </a:tc>
                <a:tc>
                  <a:txBody>
                    <a:bodyPr/>
                    <a:lstStyle/>
                    <a:p>
                      <a:pPr algn="ctr" eaLnBrk="0" latinLnBrk="0">
                        <a:lnSpc>
                          <a:spcPct val="100000"/>
                        </a:lnSpc>
                        <a:buNone/>
                      </a:pPr>
                      <a:r>
                        <a:rPr lang="ko-KR" altLang="en-US" sz="1450" b="0" dirty="0">
                          <a:solidFill>
                            <a:srgbClr val="151515"/>
                          </a:solidFill>
                          <a:latin typeface="Malgun Gothic"/>
                          <a:ea typeface="Malgun Gothic"/>
                          <a:cs typeface="Malgun Gothic"/>
                        </a:rPr>
                        <a:t>시작점에서 가장 가까운 미확정 정점</a:t>
                      </a:r>
                    </a:p>
                  </a:txBody>
                  <a:tcPr marL="54864" marR="54864" marT="18288" marB="18288" anchor="ctr">
                    <a:solidFill>
                      <a:srgbClr val="FFFFFF"/>
                    </a:solidFill>
                  </a:tcPr>
                </a:tc>
                <a:tc>
                  <a:txBody>
                    <a:bodyPr/>
                    <a:lstStyle/>
                    <a:p>
                      <a:pPr algn="ctr" eaLnBrk="0" latinLnBrk="0">
                        <a:lnSpc>
                          <a:spcPct val="100000"/>
                        </a:lnSpc>
                        <a:buNone/>
                      </a:pPr>
                      <a:r>
                        <a:rPr lang="ko-KR" altLang="en-US" sz="1450" b="1" dirty="0">
                          <a:solidFill>
                            <a:srgbClr val="0E8A7D"/>
                          </a:solidFill>
                          <a:latin typeface="Malgun Gothic"/>
                          <a:ea typeface="Malgun Gothic"/>
                          <a:cs typeface="Malgun Gothic"/>
                        </a:rPr>
                        <a:t>보장 (간선 비용 ≥ 0)</a:t>
                      </a:r>
                    </a:p>
                  </a:txBody>
                  <a:tcPr marL="54864" marR="54864" marT="18288" marB="18288" anchor="ctr">
                    <a:solidFill>
                      <a:srgbClr val="FFFFFF"/>
                    </a:solidFill>
                  </a:tcPr>
                </a:tc>
                <a:extLst>
                  <a:ext uri="{0D108BD9-81ED-4DB2-BD59-A6C34878D82A}">
                    <a16:rowId xmlns:a16="http://schemas.microsoft.com/office/drawing/2014/main" val="10008"/>
                  </a:ext>
                </a:extLst>
              </a:tr>
            </a:tbl>
          </a:graphicData>
        </a:graphic>
      </p:graphicFrame>
      <p:sp>
        <p:nvSpPr>
          <p:cNvPr id="11" name="fit:2e10945fcf72214a 12"/>
          <p:cNvSpPr/>
          <p:nvPr/>
        </p:nvSpPr>
        <p:spPr>
          <a:xfrm>
            <a:off x="612648" y="5385816"/>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왜 어떤 문제에서는 통하고 어떤 문제에서는 통하지 않는지는 5.5절에서 두 조건으로 정리합니다.</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손님에게 1,260원을 거슬러 줍니다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7</a:t>
            </a:r>
            <a:endParaRPr lang="ko-KR" altLang="en-US" sz="1050" b="0" dirty="0">
              <a:solidFill>
                <a:srgbClr val="606060"/>
              </a:solidFill>
              <a:latin typeface="Malgun Gothic"/>
              <a:ea typeface="Malgun Gothic"/>
              <a:cs typeface="Malgun Gothic"/>
            </a:endParaRPr>
          </a:p>
        </p:txBody>
      </p:sp>
      <p:sp>
        <p:nvSpPr>
          <p:cNvPr id="9" name="fit:e2f521d0ebac7a65 10"/>
          <p:cNvSpPr/>
          <p:nvPr/>
        </p:nvSpPr>
        <p:spPr>
          <a:xfrm>
            <a:off x="658368" y="1737360"/>
            <a:ext cx="5120640" cy="594360"/>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동전은 500원, 100원, 50원, 10원</a:t>
            </a:r>
          </a:p>
          <a:p>
            <a:pPr algn="l" eaLnBrk="0" latinLnBrk="0">
              <a:lnSpc>
                <a:spcPct val="105000"/>
              </a:lnSpc>
              <a:buNone/>
            </a:pPr>
            <a:r>
              <a:rPr lang="ko-KR" altLang="en-US" sz="1800" b="0" dirty="0">
                <a:solidFill>
                  <a:srgbClr val="171717"/>
                </a:solidFill>
                <a:latin typeface="Malgun Gothic"/>
                <a:ea typeface="Malgun Gothic"/>
                <a:cs typeface="Malgun Gothic"/>
              </a:rPr>
              <a:t>네 종류가 충분히 있습니다.</a:t>
            </a:r>
          </a:p>
        </p:txBody>
      </p:sp>
      <p:sp>
        <p:nvSpPr>
          <p:cNvPr id="10" name="fit:84e9d36e0d096130 11"/>
          <p:cNvSpPr/>
          <p:nvPr/>
        </p:nvSpPr>
        <p:spPr>
          <a:xfrm>
            <a:off x="658368" y="2459736"/>
            <a:ext cx="5120640" cy="374904"/>
          </a:xfrm>
          <a:prstGeom prst="rect">
            <a:avLst/>
          </a:prstGeom>
          <a:noFill/>
          <a:ln w="0">
            <a:noFill/>
          </a:ln>
        </p:spPr>
        <p:txBody>
          <a:bodyPr wrap="square" lIns="0" tIns="0" rIns="0" bIns="0" anchor="t">
            <a:noAutofit/>
          </a:bodyPr>
          <a:lstStyle/>
          <a:p>
            <a:pPr algn="l" eaLnBrk="0" latinLnBrk="0">
              <a:lnSpc>
                <a:spcPct val="100000"/>
              </a:lnSpc>
              <a:buNone/>
            </a:pPr>
            <a:r>
              <a:rPr lang="ko-KR" altLang="en-US" sz="2200" b="1" dirty="0">
                <a:solidFill>
                  <a:srgbClr val="0E8A7D"/>
                </a:solidFill>
                <a:latin typeface="Malgun Gothic"/>
                <a:ea typeface="Malgun Gothic"/>
                <a:cs typeface="Malgun Gothic"/>
              </a:rPr>
              <a:t>목표: 동전 개수를 최소로</a:t>
            </a:r>
          </a:p>
        </p:txBody>
      </p:sp>
      <p:sp>
        <p:nvSpPr>
          <p:cNvPr id="11" name="fit:5604429b6d64656b 12"/>
          <p:cNvSpPr/>
          <p:nvPr/>
        </p:nvSpPr>
        <p:spPr>
          <a:xfrm>
            <a:off x="658368" y="2944368"/>
            <a:ext cx="512064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그리디의 기준</a:t>
            </a:r>
          </a:p>
        </p:txBody>
      </p:sp>
      <p:sp>
        <p:nvSpPr>
          <p:cNvPr id="12" name="fit:1ef3e4624d9a65e2 13"/>
          <p:cNvSpPr/>
          <p:nvPr/>
        </p:nvSpPr>
        <p:spPr>
          <a:xfrm>
            <a:off x="841248" y="3264408"/>
            <a:ext cx="493776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남은 돈 이하의 가장 큰 동전부터 고릅니다.</a:t>
            </a:r>
          </a:p>
        </p:txBody>
      </p:sp>
      <p:sp>
        <p:nvSpPr>
          <p:cNvPr id="13" name="fit:1097b25e1a4fd204 14"/>
          <p:cNvSpPr/>
          <p:nvPr/>
        </p:nvSpPr>
        <p:spPr>
          <a:xfrm>
            <a:off x="658368" y="3639312"/>
            <a:ext cx="512064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한 번에 몫만큼</a:t>
            </a:r>
          </a:p>
        </p:txBody>
      </p:sp>
      <p:sp>
        <p:nvSpPr>
          <p:cNvPr id="14" name="fit:7e6d7cbdd0aea1c9 15"/>
          <p:cNvSpPr/>
          <p:nvPr/>
        </p:nvSpPr>
        <p:spPr>
          <a:xfrm>
            <a:off x="841248" y="3959352"/>
            <a:ext cx="493776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그 동전으로 낼 수 있는 만큼 한꺼번에 냅니다.</a:t>
            </a:r>
          </a:p>
        </p:txBody>
      </p:sp>
      <p:sp>
        <p:nvSpPr>
          <p:cNvPr id="15" name="fit:0003d07ee85dd478 16"/>
          <p:cNvSpPr/>
          <p:nvPr/>
        </p:nvSpPr>
        <p:spPr>
          <a:xfrm>
            <a:off x="658368" y="4334256"/>
            <a:ext cx="512064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나머지로 반복</a:t>
            </a:r>
          </a:p>
        </p:txBody>
      </p:sp>
      <p:sp>
        <p:nvSpPr>
          <p:cNvPr id="16" name="fit:35d5aa4420cc19bc 17"/>
          <p:cNvSpPr/>
          <p:nvPr/>
        </p:nvSpPr>
        <p:spPr>
          <a:xfrm>
            <a:off x="841248" y="4654296"/>
            <a:ext cx="493776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남은 돈으로 다음 큰 동전을 봅니다.</a:t>
            </a:r>
          </a:p>
        </p:txBody>
      </p:sp>
      <p:pic>
        <p:nvPicPr>
          <p:cNvPr id="17" name="그림 18"/>
          <p:cNvPicPr>
            <a:picLocks noChangeAspect="1"/>
          </p:cNvPicPr>
          <p:nvPr/>
        </p:nvPicPr>
        <p:blipFill>
          <a:blip r:embed="rId3"/>
          <a:stretch>
            <a:fillRect/>
          </a:stretch>
        </p:blipFill>
        <p:spPr>
          <a:xfrm>
            <a:off x="6126480" y="2441899"/>
            <a:ext cx="5458968" cy="2980042"/>
          </a:xfrm>
          <a:prstGeom prst="rect">
            <a:avLst/>
          </a:prstGeom>
        </p:spPr>
      </p:pic>
      <p:sp>
        <p:nvSpPr>
          <p:cNvPr id="18" name="직사각형 19"/>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만화의 점원도 가장 큰 500원부터 집습니다.</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몫과 나머지로 한 번에 셉니다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8</a:t>
            </a:r>
            <a:endParaRPr lang="ko-KR" altLang="en-US" sz="1050" b="0" dirty="0">
              <a:solidFill>
                <a:srgbClr val="606060"/>
              </a:solidFill>
              <a:latin typeface="Malgun Gothic"/>
              <a:ea typeface="Malgun Gothic"/>
              <a:cs typeface="Malgun Gothic"/>
            </a:endParaRPr>
          </a:p>
        </p:txBody>
      </p:sp>
      <p:sp>
        <p:nvSpPr>
          <p:cNvPr id="9" name="fit:71820f144b37717f 10"/>
          <p:cNvSpPr/>
          <p:nvPr/>
        </p:nvSpPr>
        <p:spPr>
          <a:xfrm>
            <a:off x="612648" y="1636776"/>
            <a:ext cx="10972800" cy="667512"/>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500원을 하나씩 빼지 않습니다.</a:t>
            </a:r>
          </a:p>
          <a:p>
            <a:pPr algn="l" eaLnBrk="0" latinLnBrk="0">
              <a:lnSpc>
                <a:spcPct val="105000"/>
              </a:lnSpc>
              <a:buNone/>
            </a:pPr>
            <a:r>
              <a:rPr lang="ko-KR" altLang="en-US" sz="2025" b="0" dirty="0">
                <a:solidFill>
                  <a:srgbClr val="171717"/>
                </a:solidFill>
                <a:latin typeface="Malgun Gothic"/>
                <a:ea typeface="Malgun Gothic"/>
                <a:cs typeface="Malgun Gothic"/>
              </a:rPr>
              <a:t>나눗셈 한 번으로 쓸 개수와 남은 돈을 함께 구합니다.</a:t>
            </a:r>
          </a:p>
        </p:txBody>
      </p:sp>
      <p:graphicFrame>
        <p:nvGraphicFramePr>
          <p:cNvPr id="10" name="표 11"/>
          <p:cNvGraphicFramePr>
            <a:graphicFrameLocks noGrp="1"/>
          </p:cNvGraphicFramePr>
          <p:nvPr>
            <p:extLst>
              <p:ext uri="{D42A27DB-BD31-4B8C-83A1-F6EECF244321}">
                <p14:modId xmlns:p14="http://schemas.microsoft.com/office/powerpoint/2010/main" val="823042777"/>
              </p:ext>
            </p:extLst>
          </p:nvPr>
        </p:nvGraphicFramePr>
        <p:xfrm>
          <a:off x="612648" y="2432304"/>
          <a:ext cx="10972800" cy="1097280"/>
        </p:xfrm>
        <a:graphic>
          <a:graphicData uri="http://schemas.openxmlformats.org/drawingml/2006/table">
            <a:tbl>
              <a:tblPr/>
              <a:tblGrid>
                <a:gridCol w="3012141">
                  <a:extLst>
                    <a:ext uri="{9D8B030D-6E8A-4147-A177-3AD203B41FA5}">
                      <a16:colId xmlns:a16="http://schemas.microsoft.com/office/drawing/2014/main" val="20000"/>
                    </a:ext>
                  </a:extLst>
                </a:gridCol>
                <a:gridCol w="5593976">
                  <a:extLst>
                    <a:ext uri="{9D8B030D-6E8A-4147-A177-3AD203B41FA5}">
                      <a16:colId xmlns:a16="http://schemas.microsoft.com/office/drawing/2014/main" val="20001"/>
                    </a:ext>
                  </a:extLst>
                </a:gridCol>
                <a:gridCol w="2366682">
                  <a:extLst>
                    <a:ext uri="{9D8B030D-6E8A-4147-A177-3AD203B41FA5}">
                      <a16:colId xmlns:a16="http://schemas.microsoft.com/office/drawing/2014/main" val="20002"/>
                    </a:ext>
                  </a:extLst>
                </a:gridCol>
              </a:tblGrid>
              <a:tr h="365760">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식 (Python)</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뜻</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1,260원에서</a:t>
                      </a:r>
                    </a:p>
                  </a:txBody>
                  <a:tcPr marL="54864" marR="54864" marT="18288" marB="18288" anchor="ctr">
                    <a:solidFill>
                      <a:srgbClr val="151515"/>
                    </a:solidFill>
                  </a:tcPr>
                </a:tc>
                <a:extLst>
                  <a:ext uri="{0D108BD9-81ED-4DB2-BD59-A6C34878D82A}">
                    <a16:rowId xmlns:a16="http://schemas.microsoft.com/office/drawing/2014/main" val="10000"/>
                  </a:ext>
                </a:extLst>
              </a:tr>
              <a:tr h="365760">
                <a:tc>
                  <a:txBody>
                    <a:bodyPr/>
                    <a:lstStyle/>
                    <a:p>
                      <a:pPr algn="ctr" eaLnBrk="0" latinLnBrk="0">
                        <a:lnSpc>
                          <a:spcPct val="100000"/>
                        </a:lnSpc>
                        <a:buNone/>
                      </a:pPr>
                      <a:r>
                        <a:rPr lang="ko-KR" altLang="en-US" sz="1650" b="0" dirty="0">
                          <a:solidFill>
                            <a:srgbClr val="151515"/>
                          </a:solidFill>
                          <a:latin typeface="Consolas"/>
                          <a:ea typeface="Consolas"/>
                          <a:cs typeface="Consolas"/>
                        </a:rPr>
                        <a:t>1260 // 500</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몫: 500원을 몇 개 쓰는가</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Malgun Gothic"/>
                          <a:ea typeface="Malgun Gothic"/>
                          <a:cs typeface="Malgun Gothic"/>
                        </a:rPr>
                        <a:t>2</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pPr algn="ctr" eaLnBrk="0" latinLnBrk="0">
                        <a:lnSpc>
                          <a:spcPct val="100000"/>
                        </a:lnSpc>
                        <a:buNone/>
                      </a:pPr>
                      <a:r>
                        <a:rPr lang="ko-KR" altLang="en-US" sz="1650" b="0" dirty="0">
                          <a:solidFill>
                            <a:srgbClr val="151515"/>
                          </a:solidFill>
                          <a:latin typeface="Consolas"/>
                          <a:ea typeface="Consolas"/>
                          <a:cs typeface="Consolas"/>
                        </a:rPr>
                        <a:t>1260 % 500</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나머지: 다음 동전으로 넘기는 돈</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Malgun Gothic"/>
                          <a:ea typeface="Malgun Gothic"/>
                          <a:cs typeface="Malgun Gothic"/>
                        </a:rPr>
                        <a:t>260</a:t>
                      </a:r>
                    </a:p>
                  </a:txBody>
                  <a:tcPr marL="54864" marR="54864" marT="18288" marB="18288" anchor="ctr">
                    <a:solidFill>
                      <a:srgbClr val="FFFFFF"/>
                    </a:solidFill>
                  </a:tcPr>
                </a:tc>
                <a:extLst>
                  <a:ext uri="{0D108BD9-81ED-4DB2-BD59-A6C34878D82A}">
                    <a16:rowId xmlns:a16="http://schemas.microsoft.com/office/drawing/2014/main" val="10002"/>
                  </a:ext>
                </a:extLst>
              </a:tr>
            </a:tbl>
          </a:graphicData>
        </a:graphic>
      </p:graphicFrame>
      <p:sp>
        <p:nvSpPr>
          <p:cNvPr id="11" name="fit:3d52983d0c6ad268 12"/>
          <p:cNvSpPr/>
          <p:nvPr/>
        </p:nvSpPr>
        <p:spPr>
          <a:xfrm>
            <a:off x="612648" y="3675888"/>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1260 ÷ 500 = 2.52처럼 소수로 보지 않습니다. 500원 2개를 쓰고 260원이 남습니다.</a:t>
            </a:r>
          </a:p>
        </p:txBody>
      </p:sp>
      <p:graphicFrame>
        <p:nvGraphicFramePr>
          <p:cNvPr id="12" name="표 13"/>
          <p:cNvGraphicFramePr>
            <a:graphicFrameLocks noGrp="1"/>
          </p:cNvGraphicFramePr>
          <p:nvPr>
            <p:extLst>
              <p:ext uri="{D42A27DB-BD31-4B8C-83A1-F6EECF244321}">
                <p14:modId xmlns:p14="http://schemas.microsoft.com/office/powerpoint/2010/main" val="3437933037"/>
              </p:ext>
            </p:extLst>
          </p:nvPr>
        </p:nvGraphicFramePr>
        <p:xfrm>
          <a:off x="612648" y="4078224"/>
          <a:ext cx="10972800" cy="1463040"/>
        </p:xfrm>
        <a:graphic>
          <a:graphicData uri="http://schemas.openxmlformats.org/drawingml/2006/table">
            <a:tbl>
              <a:tblPr/>
              <a:tblGrid>
                <a:gridCol w="3012141">
                  <a:extLst>
                    <a:ext uri="{9D8B030D-6E8A-4147-A177-3AD203B41FA5}">
                      <a16:colId xmlns:a16="http://schemas.microsoft.com/office/drawing/2014/main" val="20000"/>
                    </a:ext>
                  </a:extLst>
                </a:gridCol>
                <a:gridCol w="7960659">
                  <a:extLst>
                    <a:ext uri="{9D8B030D-6E8A-4147-A177-3AD203B41FA5}">
                      <a16:colId xmlns:a16="http://schemas.microsoft.com/office/drawing/2014/main" val="20001"/>
                    </a:ext>
                  </a:extLst>
                </a:gridCol>
              </a:tblGrid>
              <a:tr h="365760">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그리디의 세 단계</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거스름돈에서</a:t>
                      </a:r>
                    </a:p>
                  </a:txBody>
                  <a:tcPr marL="54864" marR="54864" marT="18288" marB="18288" anchor="ctr">
                    <a:solidFill>
                      <a:srgbClr val="151515"/>
                    </a:solidFill>
                  </a:tcPr>
                </a:tc>
                <a:extLst>
                  <a:ext uri="{0D108BD9-81ED-4DB2-BD59-A6C34878D82A}">
                    <a16:rowId xmlns:a16="http://schemas.microsoft.com/office/drawing/2014/main" val="10000"/>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① 선택</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남은 돈 이하의 가장 큰 동전</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② 적정성 검사</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몫만큼 써도 남은 돈을 넘지 않는다</a:t>
                      </a:r>
                    </a:p>
                  </a:txBody>
                  <a:tcPr marL="54864" marR="54864" marT="18288" marB="18288" anchor="ctr">
                    <a:solidFill>
                      <a:srgbClr val="FFFFFF"/>
                    </a:solidFill>
                  </a:tcPr>
                </a:tc>
                <a:extLst>
                  <a:ext uri="{0D108BD9-81ED-4DB2-BD59-A6C34878D82A}">
                    <a16:rowId xmlns:a16="http://schemas.microsoft.com/office/drawing/2014/main" val="10002"/>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③ 해답 검사</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남은 돈이 0원이면 끝</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① 500원 · 1,260원에서 2개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9</a:t>
            </a:r>
            <a:endParaRPr lang="ko-KR" altLang="en-US" sz="1050" b="0" dirty="0">
              <a:solidFill>
                <a:srgbClr val="606060"/>
              </a:solidFill>
              <a:latin typeface="Malgun Gothic"/>
              <a:ea typeface="Malgun Gothic"/>
              <a:cs typeface="Malgun Gothic"/>
            </a:endParaRPr>
          </a:p>
        </p:txBody>
      </p:sp>
      <p:sp>
        <p:nvSpPr>
          <p:cNvPr id="9" name="fit:4958b5df74709a41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1,260원 이하의 가장 큰 동전은 500원입니다.</a:t>
            </a:r>
          </a:p>
          <a:p>
            <a:pPr algn="l" eaLnBrk="0" latinLnBrk="0">
              <a:lnSpc>
                <a:spcPct val="100000"/>
              </a:lnSpc>
              <a:buNone/>
            </a:pPr>
            <a:r>
              <a:rPr lang="ko-KR" altLang="en-US" sz="2025" b="0" dirty="0">
                <a:solidFill>
                  <a:srgbClr val="171717"/>
                </a:solidFill>
                <a:latin typeface="Malgun Gothic"/>
                <a:ea typeface="Malgun Gothic"/>
                <a:cs typeface="Malgun Gothic"/>
              </a:rPr>
              <a:t>1260 // 500 = 2, 1260 % 500 = 260</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2622106275"/>
              </p:ext>
            </p:extLst>
          </p:nvPr>
        </p:nvGraphicFramePr>
        <p:xfrm>
          <a:off x="7909560" y="2935224"/>
          <a:ext cx="3666744" cy="1243584"/>
        </p:xfrm>
        <a:graphic>
          <a:graphicData uri="http://schemas.openxmlformats.org/drawingml/2006/table">
            <a:tbl>
              <a:tblPr/>
              <a:tblGrid>
                <a:gridCol w="1264394">
                  <a:extLst>
                    <a:ext uri="{9D8B030D-6E8A-4147-A177-3AD203B41FA5}">
                      <a16:colId xmlns:a16="http://schemas.microsoft.com/office/drawing/2014/main" val="20000"/>
                    </a:ext>
                  </a:extLst>
                </a:gridCol>
                <a:gridCol w="2402350">
                  <a:extLst>
                    <a:ext uri="{9D8B030D-6E8A-4147-A177-3AD203B41FA5}">
                      <a16:colId xmlns:a16="http://schemas.microsoft.com/office/drawing/2014/main" val="20001"/>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단계</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이번 판단</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① 선택</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500원</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② 적정성</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2개 = 1,000원 ≤ 1,260원</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③ 해답 검사</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260원 남음 → 계속</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fit:fb3491e724395097 13"/>
          <p:cNvSpPr/>
          <p:nvPr/>
        </p:nvSpPr>
        <p:spPr>
          <a:xfrm>
            <a:off x="7909560" y="432511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지금까지 확정한 동전</a:t>
            </a:r>
          </a:p>
        </p:txBody>
      </p:sp>
      <p:sp>
        <p:nvSpPr>
          <p:cNvPr id="13" name="fit:dcde57058ce35796 14"/>
          <p:cNvSpPr/>
          <p:nvPr/>
        </p:nvSpPr>
        <p:spPr>
          <a:xfrm>
            <a:off x="7909560" y="4626864"/>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500원 2개</a:t>
            </a:r>
          </a:p>
        </p:txBody>
      </p:sp>
      <p:sp>
        <p:nvSpPr>
          <p:cNvPr id="14" name="직사각형 15"/>
          <p:cNvSpPr/>
          <p:nvPr/>
        </p:nvSpPr>
        <p:spPr>
          <a:xfrm>
            <a:off x="731520" y="276148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동전</a:t>
            </a:r>
          </a:p>
        </p:txBody>
      </p:sp>
      <p:graphicFrame>
        <p:nvGraphicFramePr>
          <p:cNvPr id="15" name="표 16"/>
          <p:cNvGraphicFramePr>
            <a:graphicFrameLocks noGrp="1"/>
          </p:cNvGraphicFramePr>
          <p:nvPr>
            <p:extLst>
              <p:ext uri="{D42A27DB-BD31-4B8C-83A1-F6EECF244321}">
                <p14:modId xmlns:p14="http://schemas.microsoft.com/office/powerpoint/2010/main" val="1246058811"/>
              </p:ext>
            </p:extLst>
          </p:nvPr>
        </p:nvGraphicFramePr>
        <p:xfrm>
          <a:off x="2103120" y="2651760"/>
          <a:ext cx="438912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500</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100</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50</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10</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6" name="직사각형 17"/>
          <p:cNvSpPr/>
          <p:nvPr/>
        </p:nvSpPr>
        <p:spPr>
          <a:xfrm>
            <a:off x="1920240" y="3182112"/>
            <a:ext cx="146304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D5A8A"/>
                </a:solidFill>
                <a:latin typeface="Malgun Gothic"/>
                <a:ea typeface="Malgun Gothic"/>
                <a:cs typeface="Malgun Gothic"/>
              </a:rPr>
              <a:t>↑ 지금</a:t>
            </a:r>
          </a:p>
        </p:txBody>
      </p:sp>
      <p:sp>
        <p:nvSpPr>
          <p:cNvPr id="17" name="직사각형 18"/>
          <p:cNvSpPr/>
          <p:nvPr/>
        </p:nvSpPr>
        <p:spPr>
          <a:xfrm>
            <a:off x="731520" y="376732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사용 개수</a:t>
            </a:r>
          </a:p>
        </p:txBody>
      </p:sp>
      <p:graphicFrame>
        <p:nvGraphicFramePr>
          <p:cNvPr id="18" name="표 19"/>
          <p:cNvGraphicFramePr>
            <a:graphicFrameLocks noGrp="1"/>
          </p:cNvGraphicFramePr>
          <p:nvPr>
            <p:extLst>
              <p:ext uri="{D42A27DB-BD31-4B8C-83A1-F6EECF244321}">
                <p14:modId xmlns:p14="http://schemas.microsoft.com/office/powerpoint/2010/main" val="1692686918"/>
              </p:ext>
            </p:extLst>
          </p:nvPr>
        </p:nvGraphicFramePr>
        <p:xfrm>
          <a:off x="2103120" y="3657600"/>
          <a:ext cx="438912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2</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9" name="직사각형 20"/>
          <p:cNvSpPr/>
          <p:nvPr/>
        </p:nvSpPr>
        <p:spPr>
          <a:xfrm>
            <a:off x="2103120" y="4480560"/>
            <a:ext cx="2743200" cy="512064"/>
          </a:xfrm>
          <a:prstGeom prst="rect">
            <a:avLst/>
          </a:prstGeom>
          <a:solidFill>
            <a:srgbClr val="FFF1C2"/>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남은 돈 260원</a:t>
            </a:r>
          </a:p>
        </p:txBody>
      </p:sp>
      <p:sp>
        <p:nvSpPr>
          <p:cNvPr id="20" name="직사각형 21"/>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지금 보는 동전    회색: 이미 처리한 동전</a:t>
            </a:r>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a:solidFill>
                  <a:srgbClr val="171717"/>
                </a:solidFill>
                <a:latin typeface="Malgun Gothic"/>
                <a:ea typeface="Malgun Gothic"/>
                <a:cs typeface="Malgun Gothic"/>
              </a:rPr>
              <a:t>계산 결과</a:t>
            </a:r>
            <a:r>
              <a:rPr lang="en-US" altLang="ko-KR" sz="3000" b="1">
                <a:solidFill>
                  <a:srgbClr val="171717"/>
                </a:solidFill>
                <a:latin typeface="Malgun Gothic"/>
                <a:ea typeface="Malgun Gothic"/>
                <a:cs typeface="Malgun Gothic"/>
              </a:rPr>
              <a:t>: </a:t>
            </a:r>
            <a:r>
              <a:rPr lang="ko-KR" altLang="en-US" sz="3000" b="1">
                <a:solidFill>
                  <a:srgbClr val="171717"/>
                </a:solidFill>
                <a:latin typeface="Malgun Gothic"/>
                <a:ea typeface="Malgun Gothic"/>
                <a:cs typeface="Malgun Gothic"/>
              </a:rPr>
              <a:t>남은 돈 </a:t>
            </a:r>
            <a:r>
              <a:rPr lang="en-US" altLang="ko-KR" sz="3000" b="1">
                <a:solidFill>
                  <a:srgbClr val="171717"/>
                </a:solidFill>
                <a:latin typeface="Malgun Gothic"/>
                <a:ea typeface="Malgun Gothic"/>
                <a:cs typeface="Malgun Gothic"/>
              </a:rPr>
              <a:t>0</a:t>
            </a:r>
            <a:r>
              <a:rPr lang="ko-KR" altLang="en-US" sz="3000" b="1">
                <a:solidFill>
                  <a:srgbClr val="171717"/>
                </a:solidFill>
                <a:latin typeface="Malgun Gothic"/>
                <a:ea typeface="Malgun Gothic"/>
                <a:cs typeface="Malgun Gothic"/>
              </a:rPr>
              <a:t>원</a:t>
            </a:r>
            <a:r>
              <a:rPr lang="en-US" altLang="ko-KR" sz="3000" b="1">
                <a:solidFill>
                  <a:srgbClr val="171717"/>
                </a:solidFill>
                <a:latin typeface="Malgun Gothic"/>
                <a:ea typeface="Malgun Gothic"/>
                <a:cs typeface="Malgun Gothic"/>
              </a:rPr>
              <a:t>, </a:t>
            </a:r>
            <a:r>
              <a:rPr lang="ko-KR" altLang="en-US" sz="3000" b="1">
                <a:solidFill>
                  <a:srgbClr val="171717"/>
                </a:solidFill>
                <a:latin typeface="Malgun Gothic"/>
                <a:ea typeface="Malgun Gothic"/>
                <a:cs typeface="Malgun Gothic"/>
              </a:rPr>
              <a:t>모두 </a:t>
            </a:r>
            <a:r>
              <a:rPr lang="en-US" altLang="ko-KR" sz="3000" b="1">
                <a:solidFill>
                  <a:srgbClr val="171717"/>
                </a:solidFill>
                <a:latin typeface="Malgun Gothic"/>
                <a:ea typeface="Malgun Gothic"/>
                <a:cs typeface="Malgun Gothic"/>
              </a:rPr>
              <a:t>6</a:t>
            </a:r>
            <a:r>
              <a:rPr lang="ko-KR" altLang="en-US" sz="3000" b="1">
                <a:solidFill>
                  <a:srgbClr val="171717"/>
                </a:solidFill>
                <a:latin typeface="Malgun Gothic"/>
                <a:ea typeface="Malgun Gothic"/>
                <a:cs typeface="Malgun Gothic"/>
              </a:rPr>
              <a:t>개</a:t>
            </a:r>
            <a:endParaRPr lang="ko-KR" altLang="en-US" sz="3000" b="1" dirty="0">
              <a:solidFill>
                <a:srgbClr val="171717"/>
              </a:solidFill>
              <a:latin typeface="Malgun Gothic"/>
              <a:ea typeface="Malgun Gothic"/>
              <a:cs typeface="Malgun Gothic"/>
            </a:endParaRP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10</a:t>
            </a:r>
            <a:endParaRPr lang="ko-KR" altLang="en-US" sz="1050" b="0" dirty="0">
              <a:solidFill>
                <a:srgbClr val="606060"/>
              </a:solidFill>
              <a:latin typeface="Malgun Gothic"/>
              <a:ea typeface="Malgun Gothic"/>
              <a:cs typeface="Malgun Gothic"/>
            </a:endParaRPr>
          </a:p>
        </p:txBody>
      </p:sp>
      <p:sp>
        <p:nvSpPr>
          <p:cNvPr id="9" name="fit:993f69b127ce3e3c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마지막 10원입니다. 10 // 10 = 1, 10 % 10 = 0</a:t>
            </a:r>
          </a:p>
          <a:p>
            <a:pPr algn="l" eaLnBrk="0" latinLnBrk="0">
              <a:lnSpc>
                <a:spcPct val="100000"/>
              </a:lnSpc>
              <a:buNone/>
            </a:pPr>
            <a:r>
              <a:rPr lang="ko-KR" altLang="en-US" sz="2025" b="0" dirty="0">
                <a:solidFill>
                  <a:srgbClr val="171717"/>
                </a:solidFill>
                <a:latin typeface="Malgun Gothic"/>
                <a:ea typeface="Malgun Gothic"/>
                <a:cs typeface="Malgun Gothic"/>
              </a:rPr>
              <a:t>남은 돈이 0원이 되어 해답이 완성됩니다.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3420594997"/>
              </p:ext>
            </p:extLst>
          </p:nvPr>
        </p:nvGraphicFramePr>
        <p:xfrm>
          <a:off x="7909560" y="2935224"/>
          <a:ext cx="3666744" cy="1243584"/>
        </p:xfrm>
        <a:graphic>
          <a:graphicData uri="http://schemas.openxmlformats.org/drawingml/2006/table">
            <a:tbl>
              <a:tblPr/>
              <a:tblGrid>
                <a:gridCol w="1264394">
                  <a:extLst>
                    <a:ext uri="{9D8B030D-6E8A-4147-A177-3AD203B41FA5}">
                      <a16:colId xmlns:a16="http://schemas.microsoft.com/office/drawing/2014/main" val="20000"/>
                    </a:ext>
                  </a:extLst>
                </a:gridCol>
                <a:gridCol w="2402350">
                  <a:extLst>
                    <a:ext uri="{9D8B030D-6E8A-4147-A177-3AD203B41FA5}">
                      <a16:colId xmlns:a16="http://schemas.microsoft.com/office/drawing/2014/main" val="20001"/>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단계</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이번 판단</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① 선택</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10원</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② 적정성</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1개 = 10원 ≤ 10원</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③ 해답 검사</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0원 → 완성</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fit:fb3491e724395097 13"/>
          <p:cNvSpPr/>
          <p:nvPr/>
        </p:nvSpPr>
        <p:spPr>
          <a:xfrm>
            <a:off x="7909560" y="432511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지금까지 확정한 동전</a:t>
            </a:r>
          </a:p>
        </p:txBody>
      </p:sp>
      <p:sp>
        <p:nvSpPr>
          <p:cNvPr id="13" name="fit:01167c2cc1b2577d 14"/>
          <p:cNvSpPr/>
          <p:nvPr/>
        </p:nvSpPr>
        <p:spPr>
          <a:xfrm>
            <a:off x="7909560" y="4626864"/>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2 + 2 + 1 + 1 = 6개</a:t>
            </a:r>
          </a:p>
        </p:txBody>
      </p:sp>
      <p:sp>
        <p:nvSpPr>
          <p:cNvPr id="14" name="fit:17cbfa7f204eb63e 15"/>
          <p:cNvSpPr/>
          <p:nvPr/>
        </p:nvSpPr>
        <p:spPr>
          <a:xfrm>
            <a:off x="7909560" y="5084064"/>
            <a:ext cx="3666744" cy="484632"/>
          </a:xfrm>
          <a:prstGeom prst="rect">
            <a:avLst/>
          </a:prstGeom>
          <a:noFill/>
          <a:ln w="0">
            <a:noFill/>
          </a:ln>
        </p:spPr>
        <p:txBody>
          <a:bodyPr wrap="square" lIns="0" tIns="0" rIns="0" bIns="0" anchor="t">
            <a:noAutofit/>
          </a:bodyPr>
          <a:lstStyle/>
          <a:p>
            <a:pPr algn="l" eaLnBrk="0" latinLnBrk="0">
              <a:lnSpc>
                <a:spcPct val="100000"/>
              </a:lnSpc>
              <a:buNone/>
            </a:pPr>
            <a:r>
              <a:rPr lang="ko-KR" altLang="en-US" sz="1450" b="0" dirty="0">
                <a:solidFill>
                  <a:srgbClr val="3F3F3F"/>
                </a:solidFill>
                <a:latin typeface="Malgun Gothic"/>
                <a:ea typeface="Malgun Gothic"/>
                <a:cs typeface="Malgun Gothic"/>
              </a:rPr>
              <a:t>이 6개가 최소인 이유는</a:t>
            </a:r>
          </a:p>
          <a:p>
            <a:pPr algn="l" eaLnBrk="0" latinLnBrk="0">
              <a:lnSpc>
                <a:spcPct val="100000"/>
              </a:lnSpc>
              <a:buNone/>
            </a:pPr>
            <a:r>
              <a:rPr lang="ko-KR" altLang="en-US" sz="1450" b="0" dirty="0">
                <a:solidFill>
                  <a:srgbClr val="3F3F3F"/>
                </a:solidFill>
                <a:latin typeface="Malgun Gothic"/>
                <a:ea typeface="Malgun Gothic"/>
                <a:cs typeface="Malgun Gothic"/>
              </a:rPr>
              <a:t>뒤의 배수 조건에서 봅니다.</a:t>
            </a:r>
          </a:p>
        </p:txBody>
      </p:sp>
      <p:sp>
        <p:nvSpPr>
          <p:cNvPr id="15" name="직사각형 16"/>
          <p:cNvSpPr/>
          <p:nvPr/>
        </p:nvSpPr>
        <p:spPr>
          <a:xfrm>
            <a:off x="731520" y="276148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동전</a:t>
            </a:r>
          </a:p>
        </p:txBody>
      </p:sp>
      <p:graphicFrame>
        <p:nvGraphicFramePr>
          <p:cNvPr id="16" name="표 17"/>
          <p:cNvGraphicFramePr>
            <a:graphicFrameLocks noGrp="1"/>
          </p:cNvGraphicFramePr>
          <p:nvPr>
            <p:extLst>
              <p:ext uri="{D42A27DB-BD31-4B8C-83A1-F6EECF244321}">
                <p14:modId xmlns:p14="http://schemas.microsoft.com/office/powerpoint/2010/main" val="2225890120"/>
              </p:ext>
            </p:extLst>
          </p:nvPr>
        </p:nvGraphicFramePr>
        <p:xfrm>
          <a:off x="2103120" y="2651760"/>
          <a:ext cx="438912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93776">
                <a:tc>
                  <a:txBody>
                    <a:bodyPr/>
                    <a:lstStyle/>
                    <a:p>
                      <a:pPr algn="ctr" eaLnBrk="0" latinLnBrk="0">
                        <a:lnSpc>
                          <a:spcPct val="100000"/>
                        </a:lnSpc>
                        <a:buNone/>
                      </a:pPr>
                      <a:r>
                        <a:rPr lang="ko-KR" altLang="en-US" sz="2250" b="1" dirty="0">
                          <a:solidFill>
                            <a:srgbClr val="777777"/>
                          </a:solidFill>
                          <a:latin typeface="Consolas"/>
                          <a:ea typeface="Consolas"/>
                          <a:cs typeface="Consolas"/>
                        </a:rPr>
                        <a:t>500</a:t>
                      </a:r>
                    </a:p>
                  </a:txBody>
                  <a:tcPr marL="54864" marR="54864" marT="18288" marB="18288" anchor="ctr">
                    <a:solidFill>
                      <a:srgbClr val="F8F8F8"/>
                    </a:solidFill>
                  </a:tcPr>
                </a:tc>
                <a:tc>
                  <a:txBody>
                    <a:bodyPr/>
                    <a:lstStyle/>
                    <a:p>
                      <a:pPr algn="ctr" eaLnBrk="0" latinLnBrk="0">
                        <a:lnSpc>
                          <a:spcPct val="100000"/>
                        </a:lnSpc>
                        <a:buNone/>
                      </a:pPr>
                      <a:r>
                        <a:rPr lang="ko-KR" altLang="en-US" sz="2250" b="1" dirty="0">
                          <a:solidFill>
                            <a:srgbClr val="777777"/>
                          </a:solidFill>
                          <a:latin typeface="Consolas"/>
                          <a:ea typeface="Consolas"/>
                          <a:cs typeface="Consolas"/>
                        </a:rPr>
                        <a:t>100</a:t>
                      </a:r>
                    </a:p>
                  </a:txBody>
                  <a:tcPr marL="54864" marR="54864" marT="18288" marB="18288" anchor="ctr">
                    <a:solidFill>
                      <a:srgbClr val="F8F8F8"/>
                    </a:solidFill>
                  </a:tcPr>
                </a:tc>
                <a:tc>
                  <a:txBody>
                    <a:bodyPr/>
                    <a:lstStyle/>
                    <a:p>
                      <a:pPr algn="ctr" eaLnBrk="0" latinLnBrk="0">
                        <a:lnSpc>
                          <a:spcPct val="100000"/>
                        </a:lnSpc>
                        <a:buNone/>
                      </a:pPr>
                      <a:r>
                        <a:rPr lang="ko-KR" altLang="en-US" sz="2250" b="1" dirty="0">
                          <a:solidFill>
                            <a:srgbClr val="777777"/>
                          </a:solidFill>
                          <a:latin typeface="Consolas"/>
                          <a:ea typeface="Consolas"/>
                          <a:cs typeface="Consolas"/>
                        </a:rPr>
                        <a:t>50</a:t>
                      </a:r>
                    </a:p>
                  </a:txBody>
                  <a:tcPr marL="54864" marR="54864" marT="18288" marB="18288" anchor="ctr">
                    <a:solidFill>
                      <a:srgbClr val="F8F8F8"/>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10</a:t>
                      </a:r>
                    </a:p>
                  </a:txBody>
                  <a:tcPr marL="54864" marR="54864" marT="18288" marB="18288" anchor="ctr">
                    <a:solidFill>
                      <a:srgbClr val="DCECFB"/>
                    </a:solidFill>
                  </a:tcPr>
                </a:tc>
                <a:extLst>
                  <a:ext uri="{0D108BD9-81ED-4DB2-BD59-A6C34878D82A}">
                    <a16:rowId xmlns:a16="http://schemas.microsoft.com/office/drawing/2014/main" val="10000"/>
                  </a:ext>
                </a:extLst>
              </a:tr>
            </a:tbl>
          </a:graphicData>
        </a:graphic>
      </p:graphicFrame>
      <p:sp>
        <p:nvSpPr>
          <p:cNvPr id="17" name="직사각형 18"/>
          <p:cNvSpPr/>
          <p:nvPr/>
        </p:nvSpPr>
        <p:spPr>
          <a:xfrm>
            <a:off x="5212080" y="3182112"/>
            <a:ext cx="146304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D5A8A"/>
                </a:solidFill>
                <a:latin typeface="Malgun Gothic"/>
                <a:ea typeface="Malgun Gothic"/>
                <a:cs typeface="Malgun Gothic"/>
              </a:rPr>
              <a:t>↑ 지금</a:t>
            </a:r>
          </a:p>
        </p:txBody>
      </p:sp>
      <p:sp>
        <p:nvSpPr>
          <p:cNvPr id="18" name="직사각형 19"/>
          <p:cNvSpPr/>
          <p:nvPr/>
        </p:nvSpPr>
        <p:spPr>
          <a:xfrm>
            <a:off x="731520" y="376732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사용 개수</a:t>
            </a:r>
          </a:p>
        </p:txBody>
      </p:sp>
      <p:graphicFrame>
        <p:nvGraphicFramePr>
          <p:cNvPr id="19" name="표 20"/>
          <p:cNvGraphicFramePr>
            <a:graphicFrameLocks noGrp="1"/>
          </p:cNvGraphicFramePr>
          <p:nvPr>
            <p:extLst>
              <p:ext uri="{D42A27DB-BD31-4B8C-83A1-F6EECF244321}">
                <p14:modId xmlns:p14="http://schemas.microsoft.com/office/powerpoint/2010/main" val="524052983"/>
              </p:ext>
            </p:extLst>
          </p:nvPr>
        </p:nvGraphicFramePr>
        <p:xfrm>
          <a:off x="2103120" y="3657600"/>
          <a:ext cx="438912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gridCol w="1097280">
                  <a:extLst>
                    <a:ext uri="{9D8B030D-6E8A-4147-A177-3AD203B41FA5}">
                      <a16:colId xmlns:a16="http://schemas.microsoft.com/office/drawing/2014/main" val="20003"/>
                    </a:ext>
                  </a:extLst>
                </a:gridCol>
              </a:tblGrid>
              <a:tr h="493776">
                <a:tc>
                  <a:txBody>
                    <a:bodyPr/>
                    <a:lstStyle/>
                    <a:p>
                      <a:pPr algn="ctr" eaLnBrk="0" latinLnBrk="0">
                        <a:lnSpc>
                          <a:spcPct val="100000"/>
                        </a:lnSpc>
                        <a:buNone/>
                      </a:pPr>
                      <a:r>
                        <a:rPr lang="ko-KR" altLang="en-US" sz="2250" b="1" dirty="0">
                          <a:solidFill>
                            <a:srgbClr val="777777"/>
                          </a:solidFill>
                          <a:latin typeface="Consolas"/>
                          <a:ea typeface="Consolas"/>
                          <a:cs typeface="Consolas"/>
                        </a:rPr>
                        <a:t>2</a:t>
                      </a:r>
                    </a:p>
                  </a:txBody>
                  <a:tcPr marL="54864" marR="54864" marT="18288" marB="18288" anchor="ctr">
                    <a:solidFill>
                      <a:srgbClr val="F8F8F8"/>
                    </a:solidFill>
                  </a:tcPr>
                </a:tc>
                <a:tc>
                  <a:txBody>
                    <a:bodyPr/>
                    <a:lstStyle/>
                    <a:p>
                      <a:pPr algn="ctr" eaLnBrk="0" latinLnBrk="0">
                        <a:lnSpc>
                          <a:spcPct val="100000"/>
                        </a:lnSpc>
                        <a:buNone/>
                      </a:pPr>
                      <a:r>
                        <a:rPr lang="ko-KR" altLang="en-US" sz="2250" b="1" dirty="0">
                          <a:solidFill>
                            <a:srgbClr val="777777"/>
                          </a:solidFill>
                          <a:latin typeface="Consolas"/>
                          <a:ea typeface="Consolas"/>
                          <a:cs typeface="Consolas"/>
                        </a:rPr>
                        <a:t>2</a:t>
                      </a:r>
                    </a:p>
                  </a:txBody>
                  <a:tcPr marL="54864" marR="54864" marT="18288" marB="18288" anchor="ctr">
                    <a:solidFill>
                      <a:srgbClr val="F8F8F8"/>
                    </a:solidFill>
                  </a:tcPr>
                </a:tc>
                <a:tc>
                  <a:txBody>
                    <a:bodyPr/>
                    <a:lstStyle/>
                    <a:p>
                      <a:pPr algn="ctr" eaLnBrk="0" latinLnBrk="0">
                        <a:lnSpc>
                          <a:spcPct val="100000"/>
                        </a:lnSpc>
                        <a:buNone/>
                      </a:pPr>
                      <a:r>
                        <a:rPr lang="ko-KR" altLang="en-US" sz="2250" b="1" dirty="0">
                          <a:solidFill>
                            <a:srgbClr val="777777"/>
                          </a:solidFill>
                          <a:latin typeface="Consolas"/>
                          <a:ea typeface="Consolas"/>
                          <a:cs typeface="Consolas"/>
                        </a:rPr>
                        <a:t>1</a:t>
                      </a:r>
                    </a:p>
                  </a:txBody>
                  <a:tcPr marL="54864" marR="54864" marT="18288" marB="18288" anchor="ctr">
                    <a:solidFill>
                      <a:srgbClr val="F8F8F8"/>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DCECFB"/>
                    </a:solidFill>
                  </a:tcPr>
                </a:tc>
                <a:extLst>
                  <a:ext uri="{0D108BD9-81ED-4DB2-BD59-A6C34878D82A}">
                    <a16:rowId xmlns:a16="http://schemas.microsoft.com/office/drawing/2014/main" val="10000"/>
                  </a:ext>
                </a:extLst>
              </a:tr>
            </a:tbl>
          </a:graphicData>
        </a:graphic>
      </p:graphicFrame>
      <p:sp>
        <p:nvSpPr>
          <p:cNvPr id="20" name="직사각형 21"/>
          <p:cNvSpPr/>
          <p:nvPr/>
        </p:nvSpPr>
        <p:spPr>
          <a:xfrm>
            <a:off x="2103120" y="4480560"/>
            <a:ext cx="2743200" cy="512064"/>
          </a:xfrm>
          <a:prstGeom prst="rect">
            <a:avLst/>
          </a:prstGeom>
          <a:solidFill>
            <a:srgbClr val="DDF1E4"/>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남은 돈 0원</a:t>
            </a:r>
          </a:p>
        </p:txBody>
      </p:sp>
      <p:sp>
        <p:nvSpPr>
          <p:cNvPr id="21" name="직사각형 22"/>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지금 보는 동전    회색: 이미 처리한 동전</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복잡도: 금액이 아니라 동전 종류 수</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11</a:t>
            </a:r>
            <a:endParaRPr lang="ko-KR" altLang="en-US" sz="1050" b="0" dirty="0">
              <a:solidFill>
                <a:srgbClr val="606060"/>
              </a:solidFill>
              <a:latin typeface="Malgun Gothic"/>
              <a:ea typeface="Malgun Gothic"/>
              <a:cs typeface="Malgun Gothic"/>
            </a:endParaRPr>
          </a:p>
        </p:txBody>
      </p:sp>
      <p:sp>
        <p:nvSpPr>
          <p:cNvPr id="9" name="fit:ed165bd5a9006da3 10"/>
          <p:cNvSpPr/>
          <p:nvPr/>
        </p:nvSpPr>
        <p:spPr>
          <a:xfrm>
            <a:off x="612648" y="1636776"/>
            <a:ext cx="10972800" cy="338328"/>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K = 동전 종류의 수. 지금은 500, 100, 50, 10원이라 K = 4입니다.</a:t>
            </a:r>
          </a:p>
        </p:txBody>
      </p:sp>
      <p:graphicFrame>
        <p:nvGraphicFramePr>
          <p:cNvPr id="10" name="표 11"/>
          <p:cNvGraphicFramePr>
            <a:graphicFrameLocks noGrp="1"/>
          </p:cNvGraphicFramePr>
          <p:nvPr>
            <p:extLst>
              <p:ext uri="{D42A27DB-BD31-4B8C-83A1-F6EECF244321}">
                <p14:modId xmlns:p14="http://schemas.microsoft.com/office/powerpoint/2010/main" val="2567776519"/>
              </p:ext>
            </p:extLst>
          </p:nvPr>
        </p:nvGraphicFramePr>
        <p:xfrm>
          <a:off x="612648" y="2103120"/>
          <a:ext cx="10972800" cy="1097280"/>
        </p:xfrm>
        <a:graphic>
          <a:graphicData uri="http://schemas.openxmlformats.org/drawingml/2006/table">
            <a:tbl>
              <a:tblPr/>
              <a:tblGrid>
                <a:gridCol w="3135086">
                  <a:extLst>
                    <a:ext uri="{9D8B030D-6E8A-4147-A177-3AD203B41FA5}">
                      <a16:colId xmlns:a16="http://schemas.microsoft.com/office/drawing/2014/main" val="20000"/>
                    </a:ext>
                  </a:extLst>
                </a:gridCol>
                <a:gridCol w="3918857">
                  <a:extLst>
                    <a:ext uri="{9D8B030D-6E8A-4147-A177-3AD203B41FA5}">
                      <a16:colId xmlns:a16="http://schemas.microsoft.com/office/drawing/2014/main" val="20001"/>
                    </a:ext>
                  </a:extLst>
                </a:gridCol>
                <a:gridCol w="3918857">
                  <a:extLst>
                    <a:ext uri="{9D8B030D-6E8A-4147-A177-3AD203B41FA5}">
                      <a16:colId xmlns:a16="http://schemas.microsoft.com/office/drawing/2014/main" val="20002"/>
                    </a:ext>
                  </a:extLst>
                </a:gridCol>
              </a:tblGrid>
              <a:tr h="365760">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거슬러 줄 돈</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몫과 나머지: 반복 횟수</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하나씩 빼기: 빼는 횟수</a:t>
                      </a:r>
                    </a:p>
                  </a:txBody>
                  <a:tcPr marL="54864" marR="54864" marT="18288" marB="18288" anchor="ctr">
                    <a:solidFill>
                      <a:srgbClr val="151515"/>
                    </a:solidFill>
                  </a:tcPr>
                </a:tc>
                <a:extLst>
                  <a:ext uri="{0D108BD9-81ED-4DB2-BD59-A6C34878D82A}">
                    <a16:rowId xmlns:a16="http://schemas.microsoft.com/office/drawing/2014/main" val="10000"/>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1,260원</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4번</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6번</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1,260,000원</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0E8A7D"/>
                          </a:solidFill>
                          <a:latin typeface="Malgun Gothic"/>
                          <a:ea typeface="Malgun Gothic"/>
                          <a:cs typeface="Malgun Gothic"/>
                        </a:rPr>
                        <a:t>4번</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B23B3B"/>
                          </a:solidFill>
                          <a:latin typeface="Malgun Gothic"/>
                          <a:ea typeface="Malgun Gothic"/>
                          <a:cs typeface="Malgun Gothic"/>
                        </a:rPr>
                        <a:t>2,520번</a:t>
                      </a:r>
                    </a:p>
                  </a:txBody>
                  <a:tcPr marL="54864" marR="54864" marT="18288" marB="18288" anchor="ctr">
                    <a:solidFill>
                      <a:srgbClr val="FFFFFF"/>
                    </a:solidFill>
                  </a:tcPr>
                </a:tc>
                <a:extLst>
                  <a:ext uri="{0D108BD9-81ED-4DB2-BD59-A6C34878D82A}">
                    <a16:rowId xmlns:a16="http://schemas.microsoft.com/office/drawing/2014/main" val="10002"/>
                  </a:ext>
                </a:extLst>
              </a:tr>
            </a:tbl>
          </a:graphicData>
        </a:graphic>
      </p:graphicFrame>
      <p:sp>
        <p:nvSpPr>
          <p:cNvPr id="11" name="fit:016293f2f0d68da8 12"/>
          <p:cNvSpPr/>
          <p:nvPr/>
        </p:nvSpPr>
        <p:spPr>
          <a:xfrm>
            <a:off x="612648" y="3346704"/>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반복 한 번: 몫과 나머지 한 번씩 → O(1)</a:t>
            </a:r>
          </a:p>
        </p:txBody>
      </p:sp>
      <p:sp>
        <p:nvSpPr>
          <p:cNvPr id="12" name="fit:39d52ade6b2bdc1d 13"/>
          <p:cNvSpPr/>
          <p:nvPr/>
        </p:nvSpPr>
        <p:spPr>
          <a:xfrm>
            <a:off x="795528" y="3675888"/>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금액이 커도 나눗셈 한 번이면 개수가 나옵니다.</a:t>
            </a:r>
          </a:p>
        </p:txBody>
      </p:sp>
      <p:sp>
        <p:nvSpPr>
          <p:cNvPr id="13" name="fit:be20a7262c44ba2a 14"/>
          <p:cNvSpPr/>
          <p:nvPr/>
        </p:nvSpPr>
        <p:spPr>
          <a:xfrm>
            <a:off x="612648" y="4059936"/>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전체: K × O(1) = O(K)</a:t>
            </a:r>
          </a:p>
        </p:txBody>
      </p:sp>
      <p:sp>
        <p:nvSpPr>
          <p:cNvPr id="14" name="fit:a3ae631dead1a338 15"/>
          <p:cNvSpPr/>
          <p:nvPr/>
        </p:nvSpPr>
        <p:spPr>
          <a:xfrm>
            <a:off x="795528" y="4389120"/>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목록이 이미 큰 단위부터 적혀 있을 때입니다. 정렬부터 해야 하면 O(K log K)가 더해집니다.</a:t>
            </a:r>
          </a:p>
        </p:txBody>
      </p:sp>
      <p:sp>
        <p:nvSpPr>
          <p:cNvPr id="15" name="fit:1433d2fd79867e62 16"/>
          <p:cNvSpPr/>
          <p:nvPr/>
        </p:nvSpPr>
        <p:spPr>
          <a:xfrm>
            <a:off x="612648" y="4773168"/>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하나씩 빼는 방법은 반복 횟수가 금액에 비례해서 늘어납니다.</a:t>
            </a:r>
          </a:p>
        </p:txBody>
      </p:sp>
      <p:sp>
        <p:nvSpPr>
          <p:cNvPr id="16" name="fit:defe730fb20def5b 17"/>
          <p:cNvSpPr/>
          <p:nvPr/>
        </p:nvSpPr>
        <p:spPr>
          <a:xfrm>
            <a:off x="612648" y="51755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동전 종류가 고정이면 K는 상수이므로 O(1)이라고도 씁니다.</a:t>
            </a:r>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왜 큰 동전부터가 최적인가: 배수 조건</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12</a:t>
            </a:r>
            <a:endParaRPr lang="ko-KR" altLang="en-US" sz="1050" b="0" dirty="0">
              <a:solidFill>
                <a:srgbClr val="606060"/>
              </a:solidFill>
              <a:latin typeface="Malgun Gothic"/>
              <a:ea typeface="Malgun Gothic"/>
              <a:cs typeface="Malgun Gothic"/>
            </a:endParaRPr>
          </a:p>
        </p:txBody>
      </p:sp>
      <p:sp>
        <p:nvSpPr>
          <p:cNvPr id="9" name="fit:1492bf713976cd19 10"/>
          <p:cNvSpPr/>
          <p:nvPr/>
        </p:nvSpPr>
        <p:spPr>
          <a:xfrm>
            <a:off x="612648" y="1636776"/>
            <a:ext cx="10972800" cy="338328"/>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한국 동전은 큰 단위가 바로 아래 단위의 배수입니다.</a:t>
            </a:r>
          </a:p>
        </p:txBody>
      </p:sp>
      <p:graphicFrame>
        <p:nvGraphicFramePr>
          <p:cNvPr id="10" name="표 11"/>
          <p:cNvGraphicFramePr>
            <a:graphicFrameLocks noGrp="1"/>
          </p:cNvGraphicFramePr>
          <p:nvPr>
            <p:extLst>
              <p:ext uri="{D42A27DB-BD31-4B8C-83A1-F6EECF244321}">
                <p14:modId xmlns:p14="http://schemas.microsoft.com/office/powerpoint/2010/main" val="2422402915"/>
              </p:ext>
            </p:extLst>
          </p:nvPr>
        </p:nvGraphicFramePr>
        <p:xfrm>
          <a:off x="612648" y="2103120"/>
          <a:ext cx="10972800" cy="1463040"/>
        </p:xfrm>
        <a:graphic>
          <a:graphicData uri="http://schemas.openxmlformats.org/drawingml/2006/table">
            <a:tbl>
              <a:tblPr/>
              <a:tblGrid>
                <a:gridCol w="2887579">
                  <a:extLst>
                    <a:ext uri="{9D8B030D-6E8A-4147-A177-3AD203B41FA5}">
                      <a16:colId xmlns:a16="http://schemas.microsoft.com/office/drawing/2014/main" val="20000"/>
                    </a:ext>
                  </a:extLst>
                </a:gridCol>
                <a:gridCol w="4620126">
                  <a:extLst>
                    <a:ext uri="{9D8B030D-6E8A-4147-A177-3AD203B41FA5}">
                      <a16:colId xmlns:a16="http://schemas.microsoft.com/office/drawing/2014/main" val="20001"/>
                    </a:ext>
                  </a:extLst>
                </a:gridCol>
                <a:gridCol w="3465095">
                  <a:extLst>
                    <a:ext uri="{9D8B030D-6E8A-4147-A177-3AD203B41FA5}">
                      <a16:colId xmlns:a16="http://schemas.microsoft.com/office/drawing/2014/main" val="20002"/>
                    </a:ext>
                  </a:extLst>
                </a:gridCol>
              </a:tblGrid>
              <a:tr h="365760">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큰 동전 1개</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같은 금액의 작은 동전</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개수</a:t>
                      </a:r>
                    </a:p>
                  </a:txBody>
                  <a:tcPr marL="54864" marR="54864" marT="18288" marB="18288" anchor="ctr">
                    <a:solidFill>
                      <a:srgbClr val="151515"/>
                    </a:solidFill>
                  </a:tcPr>
                </a:tc>
                <a:extLst>
                  <a:ext uri="{0D108BD9-81ED-4DB2-BD59-A6C34878D82A}">
                    <a16:rowId xmlns:a16="http://schemas.microsoft.com/office/drawing/2014/main" val="10000"/>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500원</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100원 5개</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1개 ↔ 5개</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100원</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50원 2개</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1개 ↔ 2개</a:t>
                      </a:r>
                    </a:p>
                  </a:txBody>
                  <a:tcPr marL="54864" marR="54864" marT="18288" marB="18288" anchor="ctr">
                    <a:solidFill>
                      <a:srgbClr val="FFFFFF"/>
                    </a:solidFill>
                  </a:tcPr>
                </a:tc>
                <a:extLst>
                  <a:ext uri="{0D108BD9-81ED-4DB2-BD59-A6C34878D82A}">
                    <a16:rowId xmlns:a16="http://schemas.microsoft.com/office/drawing/2014/main" val="10002"/>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50원</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10원 5개</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1개 ↔ 5개</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fit:97727c44b8173175 12"/>
          <p:cNvSpPr/>
          <p:nvPr/>
        </p:nvSpPr>
        <p:spPr>
          <a:xfrm>
            <a:off x="612648" y="3712464"/>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작은 동전이 쌓이면 큰 동전 하나로 바꿀 수 있습니다</a:t>
            </a:r>
          </a:p>
        </p:txBody>
      </p:sp>
      <p:sp>
        <p:nvSpPr>
          <p:cNvPr id="12" name="fit:ac95b49e6419672c 13"/>
          <p:cNvSpPr/>
          <p:nvPr/>
        </p:nvSpPr>
        <p:spPr>
          <a:xfrm>
            <a:off x="795528" y="4041648"/>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100원 5개를 500원 1개로 바꾸면 금액은 같고 개수는 5개에서 1개로 줄어듭니다.</a:t>
            </a:r>
          </a:p>
        </p:txBody>
      </p:sp>
      <p:sp>
        <p:nvSpPr>
          <p:cNvPr id="13" name="fit:611f1ddab462b0f2 14"/>
          <p:cNvSpPr/>
          <p:nvPr/>
        </p:nvSpPr>
        <p:spPr>
          <a:xfrm>
            <a:off x="612648" y="4425696"/>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그래서 큰 동전을 덜 쓰면 개수만 늘어납니다</a:t>
            </a:r>
          </a:p>
        </p:txBody>
      </p:sp>
      <p:sp>
        <p:nvSpPr>
          <p:cNvPr id="14" name="fit:fef6a95363235da1 15"/>
          <p:cNvSpPr/>
          <p:nvPr/>
        </p:nvSpPr>
        <p:spPr>
          <a:xfrm>
            <a:off x="795528" y="4754880"/>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큰 동전을 낼 수 있는 만큼 쓰는 그리디의 선택이 손해가 되지 않습니다.</a:t>
            </a:r>
          </a:p>
        </p:txBody>
      </p:sp>
      <p:sp>
        <p:nvSpPr>
          <p:cNvPr id="15" name="fit:24107074819060c8 16"/>
          <p:cNvSpPr/>
          <p:nvPr/>
        </p:nvSpPr>
        <p:spPr>
          <a:xfrm>
            <a:off x="612648" y="5138928"/>
            <a:ext cx="10972800" cy="374904"/>
          </a:xfrm>
          <a:prstGeom prst="rect">
            <a:avLst/>
          </a:prstGeom>
          <a:noFill/>
          <a:ln w="0">
            <a:noFill/>
          </a:ln>
        </p:spPr>
        <p:txBody>
          <a:bodyPr wrap="square" lIns="0" tIns="0" rIns="0" bIns="0" anchor="t">
            <a:noAutofit/>
          </a:bodyPr>
          <a:lstStyle/>
          <a:p>
            <a:pPr algn="l" eaLnBrk="0" latinLnBrk="0">
              <a:lnSpc>
                <a:spcPct val="100000"/>
              </a:lnSpc>
              <a:buNone/>
            </a:pPr>
            <a:r>
              <a:rPr lang="ko-KR" altLang="en-US" sz="2200" b="1" dirty="0">
                <a:solidFill>
                  <a:srgbClr val="0E8A7D"/>
                </a:solidFill>
                <a:latin typeface="Malgun Gothic"/>
                <a:ea typeface="Malgun Gothic"/>
                <a:cs typeface="Malgun Gothic"/>
              </a:rPr>
              <a:t>배수 조건이면 그리디가 최적입니다(충분조건).</a:t>
            </a:r>
          </a:p>
        </p:txBody>
      </p:sp>
      <p:sp>
        <p:nvSpPr>
          <p:cNvPr id="16" name="fit:a9030218f2518541 17"/>
          <p:cNvSpPr/>
          <p:nvPr/>
        </p:nvSpPr>
        <p:spPr>
          <a:xfrm>
            <a:off x="612648" y="5623560"/>
            <a:ext cx="1097280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배수 조건이 깨지면 이 보장이 사라집니다.</a:t>
            </a:r>
          </a:p>
          <a:p>
            <a:pPr algn="l" eaLnBrk="0" latinLnBrk="0">
              <a:lnSpc>
                <a:spcPct val="100000"/>
              </a:lnSpc>
              <a:buNone/>
            </a:pPr>
            <a:r>
              <a:rPr lang="ko-KR" altLang="en-US" sz="1650" b="0" dirty="0">
                <a:solidFill>
                  <a:srgbClr val="3F3F3F"/>
                </a:solidFill>
                <a:latin typeface="Malgun Gothic"/>
                <a:ea typeface="Malgun Gothic"/>
                <a:cs typeface="Malgun Gothic"/>
              </a:rPr>
              <a:t>늘 틀린다는 뜻이 아니라 틀리는 입력이 생길 수 있다는 뜻입니다.</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동전 1, 3, 4원으로 6원 · 시작</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13</a:t>
            </a:r>
            <a:endParaRPr lang="ko-KR" altLang="en-US" sz="1050" b="0" dirty="0">
              <a:solidFill>
                <a:srgbClr val="606060"/>
              </a:solidFill>
              <a:latin typeface="Malgun Gothic"/>
              <a:ea typeface="Malgun Gothic"/>
              <a:cs typeface="Malgun Gothic"/>
            </a:endParaRPr>
          </a:p>
        </p:txBody>
      </p:sp>
      <p:sp>
        <p:nvSpPr>
          <p:cNvPr id="9" name="fit:552997b3bd5482b0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주장: "남은 돈 이하의 가장 큰 동전을 하나씩</a:t>
            </a:r>
          </a:p>
          <a:p>
            <a:pPr algn="l" eaLnBrk="0" latinLnBrk="0">
              <a:lnSpc>
                <a:spcPct val="100000"/>
              </a:lnSpc>
              <a:buNone/>
            </a:pPr>
            <a:r>
              <a:rPr lang="ko-KR" altLang="en-US" sz="2025" b="0" dirty="0">
                <a:solidFill>
                  <a:srgbClr val="171717"/>
                </a:solidFill>
                <a:latin typeface="Malgun Gothic"/>
                <a:ea typeface="Malgun Gothic"/>
                <a:cs typeface="Malgun Gothic"/>
              </a:rPr>
              <a:t>고르면 어떤 화폐 체계에서도 개수가 최소다."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096e52d265b86aa7 12"/>
          <p:cNvSpPr/>
          <p:nvPr/>
        </p:nvSpPr>
        <p:spPr>
          <a:xfrm>
            <a:off x="7909560" y="2935224"/>
            <a:ext cx="3666744"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600" b="0" dirty="0">
                <a:solidFill>
                  <a:srgbClr val="171717"/>
                </a:solidFill>
                <a:latin typeface="Malgun Gothic"/>
                <a:ea typeface="Malgun Gothic"/>
                <a:cs typeface="Malgun Gothic"/>
              </a:rPr>
              <a:t>문제 조건</a:t>
            </a:r>
          </a:p>
        </p:txBody>
      </p:sp>
      <p:sp>
        <p:nvSpPr>
          <p:cNvPr id="12" name="fit:337aa7ebda1698e7 13"/>
          <p:cNvSpPr/>
          <p:nvPr/>
        </p:nvSpPr>
        <p:spPr>
          <a:xfrm>
            <a:off x="7909560" y="3264408"/>
            <a:ext cx="3666744" cy="502920"/>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동전: 1원, 3원, 4원</a:t>
            </a:r>
          </a:p>
          <a:p>
            <a:pPr algn="l" eaLnBrk="0" latinLnBrk="0">
              <a:lnSpc>
                <a:spcPct val="105000"/>
              </a:lnSpc>
              <a:buNone/>
            </a:pPr>
            <a:r>
              <a:rPr lang="ko-KR" altLang="en-US" sz="1500" b="0" dirty="0">
                <a:solidFill>
                  <a:srgbClr val="171717"/>
                </a:solidFill>
                <a:latin typeface="Malgun Gothic"/>
                <a:ea typeface="Malgun Gothic"/>
                <a:cs typeface="Malgun Gothic"/>
              </a:rPr>
              <a:t>(각각 무제한)</a:t>
            </a:r>
          </a:p>
        </p:txBody>
      </p:sp>
      <p:sp>
        <p:nvSpPr>
          <p:cNvPr id="13" name="fit:2d56275e5878da47 14"/>
          <p:cNvSpPr/>
          <p:nvPr/>
        </p:nvSpPr>
        <p:spPr>
          <a:xfrm>
            <a:off x="7909560" y="3840480"/>
            <a:ext cx="3666744" cy="502920"/>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목표: 정확히 6원을</a:t>
            </a:r>
          </a:p>
          <a:p>
            <a:pPr algn="l" eaLnBrk="0" latinLnBrk="0">
              <a:lnSpc>
                <a:spcPct val="105000"/>
              </a:lnSpc>
              <a:buNone/>
            </a:pPr>
            <a:r>
              <a:rPr lang="ko-KR" altLang="en-US" sz="1500" b="0" dirty="0">
                <a:solidFill>
                  <a:srgbClr val="171717"/>
                </a:solidFill>
                <a:latin typeface="Malgun Gothic"/>
                <a:ea typeface="Malgun Gothic"/>
                <a:cs typeface="Malgun Gothic"/>
              </a:rPr>
              <a:t>가장 적은 개수로</a:t>
            </a:r>
          </a:p>
        </p:txBody>
      </p:sp>
      <p:sp>
        <p:nvSpPr>
          <p:cNvPr id="14" name="fit:68b9524b4b65fb84 15"/>
          <p:cNvSpPr/>
          <p:nvPr/>
        </p:nvSpPr>
        <p:spPr>
          <a:xfrm>
            <a:off x="7909560" y="4416552"/>
            <a:ext cx="3666744" cy="740664"/>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그리디: 남은 돈 이하의</a:t>
            </a:r>
          </a:p>
          <a:p>
            <a:pPr algn="l" eaLnBrk="0" latinLnBrk="0">
              <a:lnSpc>
                <a:spcPct val="105000"/>
              </a:lnSpc>
              <a:buNone/>
            </a:pPr>
            <a:r>
              <a:rPr lang="ko-KR" altLang="en-US" sz="1500" b="0" dirty="0">
                <a:solidFill>
                  <a:srgbClr val="171717"/>
                </a:solidFill>
                <a:latin typeface="Malgun Gothic"/>
                <a:ea typeface="Malgun Gothic"/>
                <a:cs typeface="Malgun Gothic"/>
              </a:rPr>
              <a:t>가장 큰 동전 하나를 고르고</a:t>
            </a:r>
          </a:p>
          <a:p>
            <a:pPr algn="l" eaLnBrk="0" latinLnBrk="0">
              <a:lnSpc>
                <a:spcPct val="105000"/>
              </a:lnSpc>
              <a:buNone/>
            </a:pPr>
            <a:r>
              <a:rPr lang="ko-KR" altLang="en-US" sz="1500" b="0" dirty="0">
                <a:solidFill>
                  <a:srgbClr val="171717"/>
                </a:solidFill>
                <a:latin typeface="Malgun Gothic"/>
                <a:ea typeface="Malgun Gothic"/>
                <a:cs typeface="Malgun Gothic"/>
              </a:rPr>
              <a:t>0원이 될 때까지 반복</a:t>
            </a:r>
          </a:p>
        </p:txBody>
      </p:sp>
      <p:sp>
        <p:nvSpPr>
          <p:cNvPr id="15" name="fit:4934355d2f2135e9 16"/>
          <p:cNvSpPr/>
          <p:nvPr/>
        </p:nvSpPr>
        <p:spPr>
          <a:xfrm>
            <a:off x="7909560" y="5230368"/>
            <a:ext cx="3666744"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0E8A7D"/>
                </a:solidFill>
                <a:latin typeface="Malgun Gothic"/>
                <a:ea typeface="Malgun Gothic"/>
                <a:cs typeface="Malgun Gothic"/>
              </a:rPr>
              <a:t>이 주장을 반박해 봅시다.</a:t>
            </a:r>
          </a:p>
        </p:txBody>
      </p:sp>
      <p:sp>
        <p:nvSpPr>
          <p:cNvPr id="16" name="직사각형 17"/>
          <p:cNvSpPr/>
          <p:nvPr/>
        </p:nvSpPr>
        <p:spPr>
          <a:xfrm>
            <a:off x="731520" y="276148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동전</a:t>
            </a:r>
          </a:p>
        </p:txBody>
      </p:sp>
      <p:graphicFrame>
        <p:nvGraphicFramePr>
          <p:cNvPr id="17" name="표 18"/>
          <p:cNvGraphicFramePr>
            <a:graphicFrameLocks noGrp="1"/>
          </p:cNvGraphicFramePr>
          <p:nvPr>
            <p:extLst>
              <p:ext uri="{D42A27DB-BD31-4B8C-83A1-F6EECF244321}">
                <p14:modId xmlns:p14="http://schemas.microsoft.com/office/powerpoint/2010/main" val="2087174182"/>
              </p:ext>
            </p:extLst>
          </p:nvPr>
        </p:nvGraphicFramePr>
        <p:xfrm>
          <a:off x="2103120" y="265176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4</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3</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8" name="직사각형 19"/>
          <p:cNvSpPr/>
          <p:nvPr/>
        </p:nvSpPr>
        <p:spPr>
          <a:xfrm>
            <a:off x="731520" y="376732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사용 개수</a:t>
            </a:r>
          </a:p>
        </p:txBody>
      </p:sp>
      <p:graphicFrame>
        <p:nvGraphicFramePr>
          <p:cNvPr id="19" name="표 20"/>
          <p:cNvGraphicFramePr>
            <a:graphicFrameLocks noGrp="1"/>
          </p:cNvGraphicFramePr>
          <p:nvPr>
            <p:extLst>
              <p:ext uri="{D42A27DB-BD31-4B8C-83A1-F6EECF244321}">
                <p14:modId xmlns:p14="http://schemas.microsoft.com/office/powerpoint/2010/main" val="508728650"/>
              </p:ext>
            </p:extLst>
          </p:nvPr>
        </p:nvGraphicFramePr>
        <p:xfrm>
          <a:off x="2103120" y="365760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20" name="직사각형 21"/>
          <p:cNvSpPr/>
          <p:nvPr/>
        </p:nvSpPr>
        <p:spPr>
          <a:xfrm>
            <a:off x="2103120" y="4480560"/>
            <a:ext cx="2743200" cy="512064"/>
          </a:xfrm>
          <a:prstGeom prst="rect">
            <a:avLst/>
          </a:prstGeom>
          <a:solidFill>
            <a:srgbClr val="FFF1C2"/>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남은 돈 6원</a:t>
            </a:r>
          </a:p>
        </p:txBody>
      </p:sp>
      <p:sp>
        <p:nvSpPr>
          <p:cNvPr id="21" name="직사각형 22"/>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지금 고른 동전    회색: 남은 돈보다 커서 고를 수 없는 동전</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① 4원 · 6원에서 4원 하나</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14</a:t>
            </a:r>
            <a:endParaRPr lang="ko-KR" altLang="en-US" sz="1050" b="0" dirty="0">
              <a:solidFill>
                <a:srgbClr val="606060"/>
              </a:solidFill>
              <a:latin typeface="Malgun Gothic"/>
              <a:ea typeface="Malgun Gothic"/>
              <a:cs typeface="Malgun Gothic"/>
            </a:endParaRPr>
          </a:p>
        </p:txBody>
      </p:sp>
      <p:sp>
        <p:nvSpPr>
          <p:cNvPr id="9" name="fit:ff9411f4e50154c2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6원 이하의 가장 큰 동전은 4원입니다.</a:t>
            </a:r>
          </a:p>
          <a:p>
            <a:pPr algn="l" eaLnBrk="0" latinLnBrk="0">
              <a:lnSpc>
                <a:spcPct val="100000"/>
              </a:lnSpc>
              <a:buNone/>
            </a:pPr>
            <a:r>
              <a:rPr lang="ko-KR" altLang="en-US" sz="2025" b="0" dirty="0">
                <a:solidFill>
                  <a:srgbClr val="171717"/>
                </a:solidFill>
                <a:latin typeface="Malgun Gothic"/>
                <a:ea typeface="Malgun Gothic"/>
                <a:cs typeface="Malgun Gothic"/>
              </a:rPr>
              <a:t>4원 하나를 확정합니다. 남은 돈 6 − 4 = 2원.</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3853332708"/>
              </p:ext>
            </p:extLst>
          </p:nvPr>
        </p:nvGraphicFramePr>
        <p:xfrm>
          <a:off x="7909560" y="2935224"/>
          <a:ext cx="3666744" cy="1243584"/>
        </p:xfrm>
        <a:graphic>
          <a:graphicData uri="http://schemas.openxmlformats.org/drawingml/2006/table">
            <a:tbl>
              <a:tblPr/>
              <a:tblGrid>
                <a:gridCol w="1264394">
                  <a:extLst>
                    <a:ext uri="{9D8B030D-6E8A-4147-A177-3AD203B41FA5}">
                      <a16:colId xmlns:a16="http://schemas.microsoft.com/office/drawing/2014/main" val="20000"/>
                    </a:ext>
                  </a:extLst>
                </a:gridCol>
                <a:gridCol w="2402350">
                  <a:extLst>
                    <a:ext uri="{9D8B030D-6E8A-4147-A177-3AD203B41FA5}">
                      <a16:colId xmlns:a16="http://schemas.microsoft.com/office/drawing/2014/main" val="20001"/>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단계</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이번 판단</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① 선택</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4원</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② 적정성</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4원 ≤ 6원</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③ 해답 검사</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2원 남음 → 계속</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fit:4c6f7534279b1c0f 13"/>
          <p:cNvSpPr/>
          <p:nvPr/>
        </p:nvSpPr>
        <p:spPr>
          <a:xfrm>
            <a:off x="7909560" y="432511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지금까지 고른 동전</a:t>
            </a:r>
          </a:p>
        </p:txBody>
      </p:sp>
      <p:sp>
        <p:nvSpPr>
          <p:cNvPr id="13" name="fit:16dbdc46a9138a14 14"/>
          <p:cNvSpPr/>
          <p:nvPr/>
        </p:nvSpPr>
        <p:spPr>
          <a:xfrm>
            <a:off x="7909560" y="4626864"/>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4원 (1개)</a:t>
            </a:r>
          </a:p>
        </p:txBody>
      </p:sp>
      <p:sp>
        <p:nvSpPr>
          <p:cNvPr id="14" name="직사각형 15"/>
          <p:cNvSpPr/>
          <p:nvPr/>
        </p:nvSpPr>
        <p:spPr>
          <a:xfrm>
            <a:off x="731520" y="276148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동전</a:t>
            </a:r>
          </a:p>
        </p:txBody>
      </p:sp>
      <p:graphicFrame>
        <p:nvGraphicFramePr>
          <p:cNvPr id="15" name="표 16"/>
          <p:cNvGraphicFramePr>
            <a:graphicFrameLocks noGrp="1"/>
          </p:cNvGraphicFramePr>
          <p:nvPr>
            <p:extLst>
              <p:ext uri="{D42A27DB-BD31-4B8C-83A1-F6EECF244321}">
                <p14:modId xmlns:p14="http://schemas.microsoft.com/office/powerpoint/2010/main" val="878394371"/>
              </p:ext>
            </p:extLst>
          </p:nvPr>
        </p:nvGraphicFramePr>
        <p:xfrm>
          <a:off x="2103120" y="265176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4</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3</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6" name="직사각형 17"/>
          <p:cNvSpPr/>
          <p:nvPr/>
        </p:nvSpPr>
        <p:spPr>
          <a:xfrm>
            <a:off x="1920240" y="3182112"/>
            <a:ext cx="146304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D5A8A"/>
                </a:solidFill>
                <a:latin typeface="Malgun Gothic"/>
                <a:ea typeface="Malgun Gothic"/>
                <a:cs typeface="Malgun Gothic"/>
              </a:rPr>
              <a:t>↑ 선택</a:t>
            </a:r>
          </a:p>
        </p:txBody>
      </p:sp>
      <p:sp>
        <p:nvSpPr>
          <p:cNvPr id="17" name="직사각형 18"/>
          <p:cNvSpPr/>
          <p:nvPr/>
        </p:nvSpPr>
        <p:spPr>
          <a:xfrm>
            <a:off x="731520" y="376732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사용 개수</a:t>
            </a:r>
          </a:p>
        </p:txBody>
      </p:sp>
      <p:graphicFrame>
        <p:nvGraphicFramePr>
          <p:cNvPr id="18" name="표 19"/>
          <p:cNvGraphicFramePr>
            <a:graphicFrameLocks noGrp="1"/>
          </p:cNvGraphicFramePr>
          <p:nvPr>
            <p:extLst>
              <p:ext uri="{D42A27DB-BD31-4B8C-83A1-F6EECF244321}">
                <p14:modId xmlns:p14="http://schemas.microsoft.com/office/powerpoint/2010/main" val="917957633"/>
              </p:ext>
            </p:extLst>
          </p:nvPr>
        </p:nvGraphicFramePr>
        <p:xfrm>
          <a:off x="2103120" y="365760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9" name="직사각형 20"/>
          <p:cNvSpPr/>
          <p:nvPr/>
        </p:nvSpPr>
        <p:spPr>
          <a:xfrm>
            <a:off x="2103120" y="4480560"/>
            <a:ext cx="2743200" cy="512064"/>
          </a:xfrm>
          <a:prstGeom prst="rect">
            <a:avLst/>
          </a:prstGeom>
          <a:solidFill>
            <a:srgbClr val="FFF1C2"/>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남은 돈 2원</a:t>
            </a:r>
          </a:p>
        </p:txBody>
      </p:sp>
      <p:sp>
        <p:nvSpPr>
          <p:cNvPr id="20" name="직사각형 21"/>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지금 고른 동전    회색: 남은 돈보다 커서 고를 수 없는 동전</a:t>
            </a:r>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최적: 3 + 3 = 2개 · 반례 완성</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15</a:t>
            </a:r>
            <a:endParaRPr lang="ko-KR" altLang="en-US" sz="1050" b="0" dirty="0">
              <a:solidFill>
                <a:srgbClr val="606060"/>
              </a:solidFill>
              <a:latin typeface="Malgun Gothic"/>
              <a:ea typeface="Malgun Gothic"/>
              <a:cs typeface="Malgun Gothic"/>
            </a:endParaRPr>
          </a:p>
        </p:txBody>
      </p:sp>
      <p:sp>
        <p:nvSpPr>
          <p:cNvPr id="9" name="fit:9f202ccc10ff4b17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4원을 쓰지 않으면 3원 두 개로 6원이 됩니다.</a:t>
            </a:r>
          </a:p>
          <a:p>
            <a:pPr algn="l" eaLnBrk="0" latinLnBrk="0">
              <a:lnSpc>
                <a:spcPct val="100000"/>
              </a:lnSpc>
              <a:buNone/>
            </a:pPr>
            <a:r>
              <a:rPr lang="ko-KR" altLang="en-US" sz="2025" b="0" dirty="0">
                <a:solidFill>
                  <a:srgbClr val="171717"/>
                </a:solidFill>
                <a:latin typeface="Malgun Gothic"/>
                <a:ea typeface="Malgun Gothic"/>
                <a:cs typeface="Malgun Gothic"/>
              </a:rPr>
              <a:t>2개 &lt; 3개, 그리디의 답은 최소가 아닙니다.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2bd628b5c356df4f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그리디: 4 + 1 + 1 = 6원 → 3개</a:t>
            </a:r>
          </a:p>
        </p:txBody>
      </p:sp>
      <p:sp>
        <p:nvSpPr>
          <p:cNvPr id="12" name="fit:cd3e3232e0462c11 13"/>
          <p:cNvSpPr/>
          <p:nvPr/>
        </p:nvSpPr>
        <p:spPr>
          <a:xfrm>
            <a:off x="7909560" y="325526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최적: 3 + 3 = 6원 → 2개</a:t>
            </a:r>
          </a:p>
        </p:txBody>
      </p:sp>
      <p:sp>
        <p:nvSpPr>
          <p:cNvPr id="13" name="fit:8e36c26210bb968d 14"/>
          <p:cNvSpPr/>
          <p:nvPr/>
        </p:nvSpPr>
        <p:spPr>
          <a:xfrm>
            <a:off x="7909560" y="3648456"/>
            <a:ext cx="3666744" cy="649224"/>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이 입력 하나로</a:t>
            </a:r>
          </a:p>
          <a:p>
            <a:pPr algn="l" eaLnBrk="0" latinLnBrk="0">
              <a:lnSpc>
                <a:spcPct val="100000"/>
              </a:lnSpc>
              <a:buNone/>
            </a:pPr>
            <a:r>
              <a:rPr lang="ko-KR" altLang="en-US" sz="2000" b="1" dirty="0">
                <a:solidFill>
                  <a:srgbClr val="0E8A7D"/>
                </a:solidFill>
                <a:latin typeface="Malgun Gothic"/>
                <a:ea typeface="Malgun Gothic"/>
                <a:cs typeface="Malgun Gothic"/>
              </a:rPr>
              <a:t>주장이 깨집니다.</a:t>
            </a:r>
          </a:p>
        </p:txBody>
      </p:sp>
      <p:sp>
        <p:nvSpPr>
          <p:cNvPr id="14" name="fit:6d2ca5b7d8ec75a0 15"/>
          <p:cNvSpPr/>
          <p:nvPr/>
        </p:nvSpPr>
        <p:spPr>
          <a:xfrm>
            <a:off x="7909560" y="4407408"/>
            <a:ext cx="3666744" cy="704088"/>
          </a:xfrm>
          <a:prstGeom prst="rect">
            <a:avLst/>
          </a:prstGeom>
          <a:noFill/>
          <a:ln w="0">
            <a:noFill/>
          </a:ln>
        </p:spPr>
        <p:txBody>
          <a:bodyPr wrap="square" lIns="0" tIns="0" rIns="0" bIns="0" anchor="t">
            <a:noAutofit/>
          </a:bodyPr>
          <a:lstStyle/>
          <a:p>
            <a:pPr algn="l" eaLnBrk="0" latinLnBrk="0">
              <a:lnSpc>
                <a:spcPct val="100000"/>
              </a:lnSpc>
              <a:buNone/>
            </a:pPr>
            <a:r>
              <a:rPr lang="ko-KR" altLang="en-US" sz="1450" b="0" dirty="0">
                <a:solidFill>
                  <a:srgbClr val="3F3F3F"/>
                </a:solidFill>
                <a:latin typeface="Malgun Gothic"/>
                <a:ea typeface="Malgun Gothic"/>
                <a:cs typeface="Malgun Gothic"/>
              </a:rPr>
              <a:t>반박에 쓸 것:</a:t>
            </a:r>
          </a:p>
          <a:p>
            <a:pPr algn="l" eaLnBrk="0" latinLnBrk="0">
              <a:lnSpc>
                <a:spcPct val="100000"/>
              </a:lnSpc>
              <a:buNone/>
            </a:pPr>
            <a:r>
              <a:rPr lang="ko-KR" altLang="en-US" sz="1450" b="0" dirty="0">
                <a:solidFill>
                  <a:srgbClr val="3F3F3F"/>
                </a:solidFill>
                <a:latin typeface="Malgun Gothic"/>
                <a:ea typeface="Malgun Gothic"/>
                <a:cs typeface="Malgun Gothic"/>
              </a:rPr>
              <a:t>그리디의 결과, 더 좋은 해,</a:t>
            </a:r>
          </a:p>
          <a:p>
            <a:pPr algn="l" eaLnBrk="0" latinLnBrk="0">
              <a:lnSpc>
                <a:spcPct val="100000"/>
              </a:lnSpc>
              <a:buNone/>
            </a:pPr>
            <a:r>
              <a:rPr lang="ko-KR" altLang="en-US" sz="1450" b="0" dirty="0">
                <a:solidFill>
                  <a:srgbClr val="3F3F3F"/>
                </a:solidFill>
                <a:latin typeface="Malgun Gothic"/>
                <a:ea typeface="Malgun Gothic"/>
                <a:cs typeface="Malgun Gothic"/>
              </a:rPr>
              <a:t>두 개수의 비교</a:t>
            </a:r>
          </a:p>
        </p:txBody>
      </p:sp>
      <p:sp>
        <p:nvSpPr>
          <p:cNvPr id="15" name="직사각형 16"/>
          <p:cNvSpPr/>
          <p:nvPr/>
        </p:nvSpPr>
        <p:spPr>
          <a:xfrm>
            <a:off x="731520" y="276148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동전</a:t>
            </a:r>
          </a:p>
        </p:txBody>
      </p:sp>
      <p:graphicFrame>
        <p:nvGraphicFramePr>
          <p:cNvPr id="16" name="표 17"/>
          <p:cNvGraphicFramePr>
            <a:graphicFrameLocks noGrp="1"/>
          </p:cNvGraphicFramePr>
          <p:nvPr>
            <p:extLst>
              <p:ext uri="{D42A27DB-BD31-4B8C-83A1-F6EECF244321}">
                <p14:modId xmlns:p14="http://schemas.microsoft.com/office/powerpoint/2010/main" val="1919973724"/>
              </p:ext>
            </p:extLst>
          </p:nvPr>
        </p:nvGraphicFramePr>
        <p:xfrm>
          <a:off x="2103120" y="265176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4</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3</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7" name="직사각형 18"/>
          <p:cNvSpPr/>
          <p:nvPr/>
        </p:nvSpPr>
        <p:spPr>
          <a:xfrm>
            <a:off x="731520" y="358444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그리디</a:t>
            </a:r>
          </a:p>
        </p:txBody>
      </p:sp>
      <p:graphicFrame>
        <p:nvGraphicFramePr>
          <p:cNvPr id="18" name="표 19"/>
          <p:cNvGraphicFramePr>
            <a:graphicFrameLocks noGrp="1"/>
          </p:cNvGraphicFramePr>
          <p:nvPr>
            <p:extLst>
              <p:ext uri="{D42A27DB-BD31-4B8C-83A1-F6EECF244321}">
                <p14:modId xmlns:p14="http://schemas.microsoft.com/office/powerpoint/2010/main" val="2263695171"/>
              </p:ext>
            </p:extLst>
          </p:nvPr>
        </p:nvGraphicFramePr>
        <p:xfrm>
          <a:off x="2103120" y="347472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2</a:t>
                      </a:r>
                    </a:p>
                  </a:txBody>
                  <a:tcPr marL="54864" marR="54864" marT="18288" marB="18288" anchor="ctr">
                    <a:solidFill>
                      <a:srgbClr val="DCECFB"/>
                    </a:solidFill>
                  </a:tcPr>
                </a:tc>
                <a:extLst>
                  <a:ext uri="{0D108BD9-81ED-4DB2-BD59-A6C34878D82A}">
                    <a16:rowId xmlns:a16="http://schemas.microsoft.com/office/drawing/2014/main" val="10000"/>
                  </a:ext>
                </a:extLst>
              </a:tr>
            </a:tbl>
          </a:graphicData>
        </a:graphic>
      </p:graphicFrame>
      <p:sp>
        <p:nvSpPr>
          <p:cNvPr id="19" name="직사각형 20"/>
          <p:cNvSpPr/>
          <p:nvPr/>
        </p:nvSpPr>
        <p:spPr>
          <a:xfrm>
            <a:off x="731520" y="431596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최적</a:t>
            </a:r>
          </a:p>
        </p:txBody>
      </p:sp>
      <p:graphicFrame>
        <p:nvGraphicFramePr>
          <p:cNvPr id="20" name="표 21"/>
          <p:cNvGraphicFramePr>
            <a:graphicFrameLocks noGrp="1"/>
          </p:cNvGraphicFramePr>
          <p:nvPr>
            <p:extLst>
              <p:ext uri="{D42A27DB-BD31-4B8C-83A1-F6EECF244321}">
                <p14:modId xmlns:p14="http://schemas.microsoft.com/office/powerpoint/2010/main" val="3531542730"/>
              </p:ext>
            </p:extLst>
          </p:nvPr>
        </p:nvGraphicFramePr>
        <p:xfrm>
          <a:off x="2103120" y="4206240"/>
          <a:ext cx="3291840" cy="493776"/>
        </p:xfrm>
        <a:graphic>
          <a:graphicData uri="http://schemas.openxmlformats.org/drawingml/2006/table">
            <a:tbl>
              <a:tblPr/>
              <a:tblGrid>
                <a:gridCol w="109728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97280">
                  <a:extLst>
                    <a:ext uri="{9D8B030D-6E8A-4147-A177-3AD203B41FA5}">
                      <a16:colId xmlns:a16="http://schemas.microsoft.com/office/drawing/2014/main" val="20002"/>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2</a:t>
                      </a:r>
                    </a:p>
                  </a:txBody>
                  <a:tcPr marL="54864" marR="54864" marT="18288" marB="18288" anchor="ctr">
                    <a:solidFill>
                      <a:srgbClr val="DDF1E4"/>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21" name="직사각형 22"/>
          <p:cNvSpPr/>
          <p:nvPr/>
        </p:nvSpPr>
        <p:spPr>
          <a:xfrm>
            <a:off x="2103120" y="5029200"/>
            <a:ext cx="3291840" cy="512064"/>
          </a:xfrm>
          <a:prstGeom prst="rect">
            <a:avLst/>
          </a:prstGeom>
          <a:solidFill>
            <a:srgbClr val="F2F2F2"/>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그리디 3개  vs  최적 2개</a:t>
            </a:r>
          </a:p>
        </p:txBody>
      </p:sp>
      <p:sp>
        <p:nvSpPr>
          <p:cNvPr id="22" name="직사각형 23"/>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그리디가 쓴 동전    초록: 최적해가 쓴 동전</a:t>
            </a:r>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'항상 최적'은 반례 하나로 반박합니다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16</a:t>
            </a:r>
            <a:endParaRPr lang="ko-KR" altLang="en-US" sz="1050" b="0" dirty="0">
              <a:solidFill>
                <a:srgbClr val="606060"/>
              </a:solidFill>
              <a:latin typeface="Malgun Gothic"/>
              <a:ea typeface="Malgun Gothic"/>
              <a:cs typeface="Malgun Gothic"/>
            </a:endParaRPr>
          </a:p>
        </p:txBody>
      </p:sp>
      <p:sp>
        <p:nvSpPr>
          <p:cNvPr id="9" name="fit:b2c4801e27ecd068 10"/>
          <p:cNvSpPr/>
          <p:nvPr/>
        </p:nvSpPr>
        <p:spPr>
          <a:xfrm>
            <a:off x="612648" y="1636776"/>
            <a:ext cx="10972800" cy="338328"/>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'항상 최적이다'라는 주장은 맞지 않는 입력이 하나만 있어도 거짓입니다.</a:t>
            </a:r>
          </a:p>
        </p:txBody>
      </p:sp>
      <p:sp>
        <p:nvSpPr>
          <p:cNvPr id="10" name="fit:49204ef7aae12440 11"/>
          <p:cNvSpPr/>
          <p:nvPr/>
        </p:nvSpPr>
        <p:spPr>
          <a:xfrm>
            <a:off x="612648" y="2103120"/>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① 문제의 조건을 지키는 입력</a:t>
            </a:r>
          </a:p>
        </p:txBody>
      </p:sp>
      <p:sp>
        <p:nvSpPr>
          <p:cNvPr id="11" name="fit:e0ec687ec3a24a2f 12"/>
          <p:cNvSpPr/>
          <p:nvPr/>
        </p:nvSpPr>
        <p:spPr>
          <a:xfrm>
            <a:off x="795528" y="2432304"/>
            <a:ext cx="10789920" cy="530352"/>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동전 1, 3, 4원과 금액 6원은 문제가 허용하는 입력입니다.</a:t>
            </a:r>
          </a:p>
          <a:p>
            <a:pPr algn="l" eaLnBrk="0" latinLnBrk="0">
              <a:lnSpc>
                <a:spcPct val="105000"/>
              </a:lnSpc>
              <a:buNone/>
            </a:pPr>
            <a:r>
              <a:rPr lang="ko-KR" altLang="en-US" sz="1575" b="0" dirty="0">
                <a:solidFill>
                  <a:srgbClr val="3F3F3F"/>
                </a:solidFill>
                <a:latin typeface="Malgun Gothic"/>
                <a:ea typeface="Malgun Gothic"/>
                <a:cs typeface="Malgun Gothic"/>
              </a:rPr>
              <a:t>조건을 어긴 입력에서 틀리는 것은 반박이 아닙니다.</a:t>
            </a:r>
          </a:p>
        </p:txBody>
      </p:sp>
      <p:sp>
        <p:nvSpPr>
          <p:cNvPr id="12" name="fit:15d21c8f84211bda 13"/>
          <p:cNvSpPr/>
          <p:nvPr/>
        </p:nvSpPr>
        <p:spPr>
          <a:xfrm>
            <a:off x="612648" y="3072384"/>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② 그리디의 결과보다 더 좋은 해</a:t>
            </a:r>
          </a:p>
        </p:txBody>
      </p:sp>
      <p:sp>
        <p:nvSpPr>
          <p:cNvPr id="13" name="fit:fa19ec826b694c64 14"/>
          <p:cNvSpPr/>
          <p:nvPr/>
        </p:nvSpPr>
        <p:spPr>
          <a:xfrm>
            <a:off x="795528" y="3401568"/>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그리디 3개보다 적은 2개를 보였습니다. 그리디와 개수가 같은 다른 해는 반례가 아닙니다.</a:t>
            </a:r>
          </a:p>
        </p:txBody>
      </p:sp>
      <p:sp>
        <p:nvSpPr>
          <p:cNvPr id="14" name="fit:d77ebfedef7a0f21 15"/>
          <p:cNvSpPr/>
          <p:nvPr/>
        </p:nvSpPr>
        <p:spPr>
          <a:xfrm>
            <a:off x="612648" y="3785616"/>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③ 하나면 충분</a:t>
            </a:r>
          </a:p>
        </p:txBody>
      </p:sp>
      <p:sp>
        <p:nvSpPr>
          <p:cNvPr id="15" name="fit:3ccd95addf2b5173 16"/>
          <p:cNvSpPr/>
          <p:nvPr/>
        </p:nvSpPr>
        <p:spPr>
          <a:xfrm>
            <a:off x="795528" y="4114800"/>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반례를 여러 개 모을 필요가 없습니다. 실행이 느린 입력은 최적성의 반례가 아닙니다.</a:t>
            </a:r>
          </a:p>
        </p:txBody>
      </p:sp>
      <p:sp>
        <p:nvSpPr>
          <p:cNvPr id="16" name="fit:75ecdc69fa389ab6 17"/>
          <p:cNvSpPr/>
          <p:nvPr/>
        </p:nvSpPr>
        <p:spPr>
          <a:xfrm>
            <a:off x="612648" y="4498848"/>
            <a:ext cx="10972800"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반대로, 예제 몇 개에서 맞았다고 '항상 최적'이 증명되지는 않습니다.</a:t>
            </a:r>
          </a:p>
        </p:txBody>
      </p:sp>
      <p:sp>
        <p:nvSpPr>
          <p:cNvPr id="17" name="fit:9017ec8604267c82 18"/>
          <p:cNvSpPr/>
          <p:nvPr/>
        </p:nvSpPr>
        <p:spPr>
          <a:xfrm>
            <a:off x="612648" y="4956048"/>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맞다는 것을 보이는 방법은 5.3절 끝과 5.5절에서 다룹니다.</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5.2  거스름돈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coin_count · 1원까지 다섯 종류</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17</a:t>
            </a:r>
            <a:endParaRPr lang="ko-KR" altLang="en-US" sz="1050" b="0" dirty="0">
              <a:solidFill>
                <a:srgbClr val="606060"/>
              </a:solidFill>
              <a:latin typeface="Malgun Gothic"/>
              <a:ea typeface="Malgun Gothic"/>
              <a:cs typeface="Malgun Gothic"/>
            </a:endParaRPr>
          </a:p>
        </p:txBody>
      </p:sp>
      <p:sp>
        <p:nvSpPr>
          <p:cNvPr id="9" name="fit:18f567d94dce27a5 10"/>
          <p:cNvSpPr/>
          <p:nvPr/>
        </p:nvSpPr>
        <p:spPr>
          <a:xfrm>
            <a:off x="612648" y="1636776"/>
            <a:ext cx="6766560" cy="969264"/>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coin_count(amount): amount원을 거슬러 줄</a:t>
            </a:r>
          </a:p>
          <a:p>
            <a:pPr algn="l" eaLnBrk="0" latinLnBrk="0">
              <a:lnSpc>
                <a:spcPct val="100000"/>
              </a:lnSpc>
              <a:buNone/>
            </a:pPr>
            <a:r>
              <a:rPr lang="ko-KR" altLang="en-US" sz="2025" b="0" dirty="0">
                <a:solidFill>
                  <a:srgbClr val="171717"/>
                </a:solidFill>
                <a:latin typeface="Malgun Gothic"/>
                <a:ea typeface="Malgun Gothic"/>
                <a:cs typeface="Malgun Gothic"/>
              </a:rPr>
              <a:t>최소 동전 개수를 돌려줍니다. 큰 동전부터</a:t>
            </a:r>
          </a:p>
          <a:p>
            <a:pPr algn="l" eaLnBrk="0" latinLnBrk="0">
              <a:lnSpc>
                <a:spcPct val="100000"/>
              </a:lnSpc>
              <a:buNone/>
            </a:pPr>
            <a:r>
              <a:rPr lang="ko-KR" altLang="en-US" sz="2025" b="0" dirty="0">
                <a:solidFill>
                  <a:srgbClr val="171717"/>
                </a:solidFill>
                <a:latin typeface="Malgun Gothic"/>
                <a:ea typeface="Malgun Gothic"/>
                <a:cs typeface="Malgun Gothic"/>
              </a:rPr>
              <a:t>몫만큼 쓰고 나머지를 다음 동전으로 넘깁니다.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직사각형 12"/>
          <p:cNvSpPr/>
          <p:nvPr/>
        </p:nvSpPr>
        <p:spPr>
          <a:xfrm>
            <a:off x="7909560" y="2935224"/>
            <a:ext cx="3666744" cy="21945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0" dirty="0">
                <a:solidFill>
                  <a:srgbClr val="606060"/>
                </a:solidFill>
                <a:latin typeface="Consolas"/>
                <a:ea typeface="Consolas"/>
                <a:cs typeface="Consolas"/>
              </a:rPr>
              <a:t>coin_count.pseudo</a:t>
            </a:r>
          </a:p>
        </p:txBody>
      </p:sp>
      <p:sp>
        <p:nvSpPr>
          <p:cNvPr id="12" name="직사각형 13"/>
          <p:cNvSpPr/>
          <p:nvPr/>
        </p:nvSpPr>
        <p:spPr>
          <a:xfrm>
            <a:off x="7909560" y="3154680"/>
            <a:ext cx="3666744" cy="1687576"/>
          </a:xfrm>
          <a:prstGeom prst="rect">
            <a:avLst/>
          </a:prstGeom>
          <a:solidFill>
            <a:srgbClr val="171717"/>
          </a:solidFill>
          <a:ln w="0">
            <a:noFill/>
          </a:ln>
        </p:spPr>
        <p:txBody>
          <a:bodyPr wrap="none" lIns="91440" tIns="91440" rIns="91440" bIns="91440" anchor="t">
            <a:noAutofit/>
          </a:bodyPr>
          <a:lstStyle/>
          <a:p>
            <a:pPr algn="l" eaLnBrk="0" latinLnBrk="0">
              <a:lnSpc>
                <a:spcPct val="130000"/>
              </a:lnSpc>
              <a:buNone/>
            </a:pPr>
            <a:r>
              <a:rPr lang="ko-KR" altLang="en-US" sz="1300" b="0" dirty="0">
                <a:solidFill>
                  <a:srgbClr val="FFFFFF"/>
                </a:solidFill>
                <a:latin typeface="Consolas"/>
                <a:ea typeface="Consolas"/>
                <a:cs typeface="Consolas"/>
              </a:rPr>
              <a:t>COIN_COUNT(amount):</a:t>
            </a:r>
          </a:p>
          <a:p>
            <a:pPr algn="l" eaLnBrk="0" latinLnBrk="0">
              <a:lnSpc>
                <a:spcPct val="130000"/>
              </a:lnSpc>
              <a:buNone/>
            </a:pPr>
            <a:r>
              <a:rPr lang="ko-KR" altLang="en-US" sz="1300" b="0" dirty="0">
                <a:solidFill>
                  <a:srgbClr val="FFFFFF"/>
                </a:solidFill>
                <a:latin typeface="Consolas"/>
                <a:ea typeface="Consolas"/>
                <a:cs typeface="Consolas"/>
              </a:rPr>
              <a:t>  count &lt;- 0</a:t>
            </a:r>
          </a:p>
          <a:p>
            <a:pPr algn="l" eaLnBrk="0" latinLnBrk="0">
              <a:lnSpc>
                <a:spcPct val="130000"/>
              </a:lnSpc>
              <a:buNone/>
            </a:pPr>
            <a:r>
              <a:rPr lang="ko-KR" altLang="en-US" sz="1300" b="0" dirty="0">
                <a:solidFill>
                  <a:srgbClr val="FFFFFF"/>
                </a:solidFill>
                <a:latin typeface="Consolas"/>
                <a:ea typeface="Consolas"/>
                <a:cs typeface="Consolas"/>
              </a:rPr>
              <a:t>  for coin in [500, 100, 50, 10, 1]:</a:t>
            </a:r>
          </a:p>
          <a:p>
            <a:pPr algn="l" eaLnBrk="0" latinLnBrk="0">
              <a:lnSpc>
                <a:spcPct val="130000"/>
              </a:lnSpc>
              <a:buNone/>
            </a:pPr>
            <a:r>
              <a:rPr lang="ko-KR" altLang="en-US" sz="1300" b="0" dirty="0">
                <a:solidFill>
                  <a:srgbClr val="FFFFFF"/>
                </a:solidFill>
                <a:latin typeface="Consolas"/>
                <a:ea typeface="Consolas"/>
                <a:cs typeface="Consolas"/>
              </a:rPr>
              <a:t>    count &lt;- count + 몫(amount, coin)</a:t>
            </a:r>
          </a:p>
          <a:p>
            <a:pPr algn="l" eaLnBrk="0" latinLnBrk="0">
              <a:lnSpc>
                <a:spcPct val="130000"/>
              </a:lnSpc>
              <a:buNone/>
            </a:pPr>
            <a:r>
              <a:rPr lang="ko-KR" altLang="en-US" sz="1300" b="0" dirty="0">
                <a:solidFill>
                  <a:srgbClr val="FFFFFF"/>
                </a:solidFill>
                <a:latin typeface="Consolas"/>
                <a:ea typeface="Consolas"/>
                <a:cs typeface="Consolas"/>
              </a:rPr>
              <a:t>    amount &lt;- 나머지(amount, coin)</a:t>
            </a:r>
          </a:p>
          <a:p>
            <a:pPr algn="l" eaLnBrk="0" latinLnBrk="0">
              <a:lnSpc>
                <a:spcPct val="130000"/>
              </a:lnSpc>
              <a:buNone/>
            </a:pPr>
            <a:r>
              <a:rPr lang="ko-KR" altLang="en-US" sz="1300" b="0" dirty="0">
                <a:solidFill>
                  <a:srgbClr val="FFFFFF"/>
                </a:solidFill>
                <a:latin typeface="Consolas"/>
                <a:ea typeface="Consolas"/>
                <a:cs typeface="Consolas"/>
              </a:rPr>
              <a:t>  return count</a:t>
            </a:r>
          </a:p>
        </p:txBody>
      </p:sp>
      <p:sp>
        <p:nvSpPr>
          <p:cNvPr id="13" name="fit:9ab3527532a5244e 14"/>
          <p:cNvSpPr/>
          <p:nvPr/>
        </p:nvSpPr>
        <p:spPr>
          <a:xfrm>
            <a:off x="7909560" y="4970272"/>
            <a:ext cx="3666744" cy="246888"/>
          </a:xfrm>
          <a:prstGeom prst="rect">
            <a:avLst/>
          </a:prstGeom>
          <a:noFill/>
          <a:ln w="0">
            <a:noFill/>
          </a:ln>
        </p:spPr>
        <p:txBody>
          <a:bodyPr wrap="square" lIns="0" tIns="0" rIns="0" bIns="0" anchor="t">
            <a:noAutofit/>
          </a:bodyPr>
          <a:lstStyle/>
          <a:p>
            <a:pPr algn="l" eaLnBrk="0" latinLnBrk="0">
              <a:lnSpc>
                <a:spcPct val="100000"/>
              </a:lnSpc>
              <a:buNone/>
            </a:pPr>
            <a:r>
              <a:rPr lang="ko-KR" altLang="en-US" sz="1350" b="0" dirty="0">
                <a:solidFill>
                  <a:srgbClr val="3F3F3F"/>
                </a:solidFill>
                <a:latin typeface="Malgun Gothic"/>
                <a:ea typeface="Malgun Gothic"/>
                <a:cs typeface="Malgun Gothic"/>
              </a:rPr>
              <a:t>몫: Python //, C /    나머지: %</a:t>
            </a:r>
          </a:p>
        </p:txBody>
      </p:sp>
      <p:sp>
        <p:nvSpPr>
          <p:cNvPr id="14" name="fit:15affb70365705a2 15"/>
          <p:cNvSpPr/>
          <p:nvPr/>
        </p:nvSpPr>
        <p:spPr>
          <a:xfrm>
            <a:off x="7909560" y="5290312"/>
            <a:ext cx="3666744"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0E8A7D"/>
                </a:solidFill>
                <a:latin typeface="Malgun Gothic"/>
                <a:ea typeface="Malgun Gothic"/>
                <a:cs typeface="Malgun Gothic"/>
              </a:rPr>
              <a:t>금액과 관계없이 5번 → O(1)</a:t>
            </a:r>
          </a:p>
        </p:txBody>
      </p:sp>
      <p:sp>
        <p:nvSpPr>
          <p:cNvPr id="15" name="fit:ce484e23e5609449 16"/>
          <p:cNvSpPr/>
          <p:nvPr/>
        </p:nvSpPr>
        <p:spPr>
          <a:xfrm>
            <a:off x="7909560" y="5710936"/>
            <a:ext cx="3666744" cy="676656"/>
          </a:xfrm>
          <a:prstGeom prst="rect">
            <a:avLst/>
          </a:prstGeom>
          <a:noFill/>
          <a:ln w="0">
            <a:noFill/>
          </a:ln>
        </p:spPr>
        <p:txBody>
          <a:bodyPr wrap="square" lIns="0" tIns="0" rIns="0" bIns="0" anchor="t">
            <a:noAutofit/>
          </a:bodyPr>
          <a:lstStyle/>
          <a:p>
            <a:pPr algn="l" eaLnBrk="0" latinLnBrk="0">
              <a:lnSpc>
                <a:spcPct val="100000"/>
              </a:lnSpc>
              <a:buNone/>
            </a:pPr>
            <a:r>
              <a:rPr lang="ko-KR" altLang="en-US" sz="1400" b="0" dirty="0">
                <a:solidFill>
                  <a:srgbClr val="3F3F3F"/>
                </a:solidFill>
                <a:latin typeface="Malgun Gothic"/>
                <a:ea typeface="Malgun Gothic"/>
                <a:cs typeface="Malgun Gothic"/>
              </a:rPr>
              <a:t>K = 동전 종류 수로 쓰면 O(K)</a:t>
            </a:r>
          </a:p>
          <a:p>
            <a:pPr algn="l" eaLnBrk="0" latinLnBrk="0">
              <a:lnSpc>
                <a:spcPct val="100000"/>
              </a:lnSpc>
              <a:buNone/>
            </a:pPr>
            <a:r>
              <a:rPr lang="ko-KR" altLang="en-US" sz="1400" b="0" dirty="0">
                <a:solidFill>
                  <a:srgbClr val="3F3F3F"/>
                </a:solidFill>
                <a:latin typeface="Malgun Gothic"/>
                <a:ea typeface="Malgun Gothic"/>
                <a:cs typeface="Malgun Gothic"/>
              </a:rPr>
              <a:t>하나씩 빼면 O(amount)</a:t>
            </a:r>
          </a:p>
          <a:p>
            <a:pPr algn="l" eaLnBrk="0" latinLnBrk="0">
              <a:lnSpc>
                <a:spcPct val="100000"/>
              </a:lnSpc>
              <a:buNone/>
            </a:pPr>
            <a:r>
              <a:rPr lang="ko-KR" altLang="en-US" sz="1400" b="0" dirty="0">
                <a:solidFill>
                  <a:srgbClr val="3F3F3F"/>
                </a:solidFill>
                <a:latin typeface="Malgun Gothic"/>
                <a:ea typeface="Malgun Gothic"/>
                <a:cs typeface="Malgun Gothic"/>
              </a:rPr>
              <a:t>amount = 0이면 0개</a:t>
            </a:r>
          </a:p>
        </p:txBody>
      </p:sp>
      <p:sp>
        <p:nvSpPr>
          <p:cNvPr id="16" name="직사각형 17"/>
          <p:cNvSpPr/>
          <p:nvPr/>
        </p:nvSpPr>
        <p:spPr>
          <a:xfrm>
            <a:off x="731520" y="294436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동전</a:t>
            </a:r>
          </a:p>
        </p:txBody>
      </p:sp>
      <p:graphicFrame>
        <p:nvGraphicFramePr>
          <p:cNvPr id="17" name="표 18"/>
          <p:cNvGraphicFramePr>
            <a:graphicFrameLocks noGrp="1"/>
          </p:cNvGraphicFramePr>
          <p:nvPr>
            <p:extLst>
              <p:ext uri="{D42A27DB-BD31-4B8C-83A1-F6EECF244321}">
                <p14:modId xmlns:p14="http://schemas.microsoft.com/office/powerpoint/2010/main" val="1843004768"/>
              </p:ext>
            </p:extLst>
          </p:nvPr>
        </p:nvGraphicFramePr>
        <p:xfrm>
          <a:off x="2103120" y="2834640"/>
          <a:ext cx="5029200" cy="493776"/>
        </p:xfrm>
        <a:graphic>
          <a:graphicData uri="http://schemas.openxmlformats.org/drawingml/2006/table">
            <a:tbl>
              <a:tblPr/>
              <a:tblGrid>
                <a:gridCol w="10058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500</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100</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50</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10</a:t>
                      </a:r>
                    </a:p>
                  </a:txBody>
                  <a:tcPr marL="54864" marR="54864" marT="18288" marB="18288" anchor="ctr">
                    <a:solidFill>
                      <a:srgbClr val="FFFFFF"/>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8" name="직사각형 19"/>
          <p:cNvSpPr/>
          <p:nvPr/>
        </p:nvSpPr>
        <p:spPr>
          <a:xfrm>
            <a:off x="731520" y="3712464"/>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몫 (개수)</a:t>
            </a:r>
          </a:p>
        </p:txBody>
      </p:sp>
      <p:graphicFrame>
        <p:nvGraphicFramePr>
          <p:cNvPr id="19" name="표 20"/>
          <p:cNvGraphicFramePr>
            <a:graphicFrameLocks noGrp="1"/>
          </p:cNvGraphicFramePr>
          <p:nvPr>
            <p:extLst>
              <p:ext uri="{D42A27DB-BD31-4B8C-83A1-F6EECF244321}">
                <p14:modId xmlns:p14="http://schemas.microsoft.com/office/powerpoint/2010/main" val="1780194151"/>
              </p:ext>
            </p:extLst>
          </p:nvPr>
        </p:nvGraphicFramePr>
        <p:xfrm>
          <a:off x="2103120" y="3602736"/>
          <a:ext cx="5029200" cy="493776"/>
        </p:xfrm>
        <a:graphic>
          <a:graphicData uri="http://schemas.openxmlformats.org/drawingml/2006/table">
            <a:tbl>
              <a:tblPr/>
              <a:tblGrid>
                <a:gridCol w="10058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493776">
                <a:tc>
                  <a:txBody>
                    <a:bodyPr/>
                    <a:lstStyle/>
                    <a:p>
                      <a:pPr algn="ctr" eaLnBrk="0" latinLnBrk="0">
                        <a:lnSpc>
                          <a:spcPct val="100000"/>
                        </a:lnSpc>
                        <a:buNone/>
                      </a:pPr>
                      <a:r>
                        <a:rPr lang="ko-KR" altLang="en-US" sz="2250" b="1" dirty="0">
                          <a:solidFill>
                            <a:srgbClr val="151515"/>
                          </a:solidFill>
                          <a:latin typeface="Consolas"/>
                          <a:ea typeface="Consolas"/>
                          <a:cs typeface="Consolas"/>
                        </a:rPr>
                        <a:t>2</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2</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1</a:t>
                      </a:r>
                    </a:p>
                  </a:txBody>
                  <a:tcPr marL="54864" marR="54864" marT="18288" marB="18288" anchor="ctr">
                    <a:solidFill>
                      <a:srgbClr val="DCECFB"/>
                    </a:solidFill>
                  </a:tcPr>
                </a:tc>
                <a:tc>
                  <a:txBody>
                    <a:bodyPr/>
                    <a:lstStyle/>
                    <a:p>
                      <a:pPr algn="ctr" eaLnBrk="0" latinLnBrk="0">
                        <a:lnSpc>
                          <a:spcPct val="100000"/>
                        </a:lnSpc>
                        <a:buNone/>
                      </a:pPr>
                      <a:r>
                        <a:rPr lang="ko-KR" altLang="en-US" sz="2250" b="1" dirty="0">
                          <a:solidFill>
                            <a:srgbClr val="151515"/>
                          </a:solidFill>
                          <a:latin typeface="Consolas"/>
                          <a:ea typeface="Consolas"/>
                          <a:cs typeface="Consolas"/>
                        </a:rPr>
                        <a:t>3</a:t>
                      </a:r>
                    </a:p>
                  </a:txBody>
                  <a:tcPr marL="54864" marR="54864" marT="18288" marB="18288" anchor="ctr">
                    <a:solidFill>
                      <a:srgbClr val="DCECFB"/>
                    </a:solidFill>
                  </a:tcPr>
                </a:tc>
                <a:extLst>
                  <a:ext uri="{0D108BD9-81ED-4DB2-BD59-A6C34878D82A}">
                    <a16:rowId xmlns:a16="http://schemas.microsoft.com/office/drawing/2014/main" val="10000"/>
                  </a:ext>
                </a:extLst>
              </a:tr>
            </a:tbl>
          </a:graphicData>
        </a:graphic>
      </p:graphicFrame>
      <p:sp>
        <p:nvSpPr>
          <p:cNvPr id="20" name="직사각형 21"/>
          <p:cNvSpPr/>
          <p:nvPr/>
        </p:nvSpPr>
        <p:spPr>
          <a:xfrm>
            <a:off x="731520" y="4480560"/>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남은 돈</a:t>
            </a:r>
          </a:p>
        </p:txBody>
      </p:sp>
      <p:graphicFrame>
        <p:nvGraphicFramePr>
          <p:cNvPr id="21" name="표 22"/>
          <p:cNvGraphicFramePr>
            <a:graphicFrameLocks noGrp="1"/>
          </p:cNvGraphicFramePr>
          <p:nvPr>
            <p:extLst>
              <p:ext uri="{D42A27DB-BD31-4B8C-83A1-F6EECF244321}">
                <p14:modId xmlns:p14="http://schemas.microsoft.com/office/powerpoint/2010/main" val="1269472979"/>
              </p:ext>
            </p:extLst>
          </p:nvPr>
        </p:nvGraphicFramePr>
        <p:xfrm>
          <a:off x="2103120" y="4370832"/>
          <a:ext cx="5029200" cy="493776"/>
        </p:xfrm>
        <a:graphic>
          <a:graphicData uri="http://schemas.openxmlformats.org/drawingml/2006/table">
            <a:tbl>
              <a:tblPr/>
              <a:tblGrid>
                <a:gridCol w="1005840">
                  <a:extLst>
                    <a:ext uri="{9D8B030D-6E8A-4147-A177-3AD203B41FA5}">
                      <a16:colId xmlns:a16="http://schemas.microsoft.com/office/drawing/2014/main" val="20000"/>
                    </a:ext>
                  </a:extLst>
                </a:gridCol>
                <a:gridCol w="1005840">
                  <a:extLst>
                    <a:ext uri="{9D8B030D-6E8A-4147-A177-3AD203B41FA5}">
                      <a16:colId xmlns:a16="http://schemas.microsoft.com/office/drawing/2014/main" val="20001"/>
                    </a:ext>
                  </a:extLst>
                </a:gridCol>
                <a:gridCol w="1005840">
                  <a:extLst>
                    <a:ext uri="{9D8B030D-6E8A-4147-A177-3AD203B41FA5}">
                      <a16:colId xmlns:a16="http://schemas.microsoft.com/office/drawing/2014/main" val="20002"/>
                    </a:ext>
                  </a:extLst>
                </a:gridCol>
                <a:gridCol w="1005840">
                  <a:extLst>
                    <a:ext uri="{9D8B030D-6E8A-4147-A177-3AD203B41FA5}">
                      <a16:colId xmlns:a16="http://schemas.microsoft.com/office/drawing/2014/main" val="20003"/>
                    </a:ext>
                  </a:extLst>
                </a:gridCol>
                <a:gridCol w="1005840">
                  <a:extLst>
                    <a:ext uri="{9D8B030D-6E8A-4147-A177-3AD203B41FA5}">
                      <a16:colId xmlns:a16="http://schemas.microsoft.com/office/drawing/2014/main" val="20004"/>
                    </a:ext>
                  </a:extLst>
                </a:gridCol>
              </a:tblGrid>
              <a:tr h="493776">
                <a:tc>
                  <a:txBody>
                    <a:bodyPr/>
                    <a:lstStyle/>
                    <a:p>
                      <a:pPr algn="ctr" eaLnBrk="0" latinLnBrk="0">
                        <a:lnSpc>
                          <a:spcPct val="100000"/>
                        </a:lnSpc>
                        <a:buNone/>
                      </a:pPr>
                      <a:r>
                        <a:rPr lang="ko-KR" altLang="en-US" sz="2000" b="1" dirty="0">
                          <a:solidFill>
                            <a:srgbClr val="151515"/>
                          </a:solidFill>
                          <a:latin typeface="Consolas"/>
                          <a:ea typeface="Consolas"/>
                          <a:cs typeface="Consolas"/>
                        </a:rPr>
                        <a:t>263</a:t>
                      </a:r>
                    </a:p>
                  </a:txBody>
                  <a:tcPr marL="54864" marR="54864" marT="18288" marB="18288" anchor="ctr">
                    <a:solidFill>
                      <a:srgbClr val="FFFFFF"/>
                    </a:solidFill>
                  </a:tcPr>
                </a:tc>
                <a:tc>
                  <a:txBody>
                    <a:bodyPr/>
                    <a:lstStyle/>
                    <a:p>
                      <a:pPr algn="ctr" eaLnBrk="0" latinLnBrk="0">
                        <a:lnSpc>
                          <a:spcPct val="100000"/>
                        </a:lnSpc>
                        <a:buNone/>
                      </a:pPr>
                      <a:r>
                        <a:rPr lang="ko-KR" altLang="en-US" sz="2000" b="1" dirty="0">
                          <a:solidFill>
                            <a:srgbClr val="151515"/>
                          </a:solidFill>
                          <a:latin typeface="Consolas"/>
                          <a:ea typeface="Consolas"/>
                          <a:cs typeface="Consolas"/>
                        </a:rPr>
                        <a:t>63</a:t>
                      </a:r>
                    </a:p>
                  </a:txBody>
                  <a:tcPr marL="54864" marR="54864" marT="18288" marB="18288" anchor="ctr">
                    <a:solidFill>
                      <a:srgbClr val="FFFFFF"/>
                    </a:solidFill>
                  </a:tcPr>
                </a:tc>
                <a:tc>
                  <a:txBody>
                    <a:bodyPr/>
                    <a:lstStyle/>
                    <a:p>
                      <a:pPr algn="ctr" eaLnBrk="0" latinLnBrk="0">
                        <a:lnSpc>
                          <a:spcPct val="100000"/>
                        </a:lnSpc>
                        <a:buNone/>
                      </a:pPr>
                      <a:r>
                        <a:rPr lang="ko-KR" altLang="en-US" sz="2000" b="1" dirty="0">
                          <a:solidFill>
                            <a:srgbClr val="151515"/>
                          </a:solidFill>
                          <a:latin typeface="Consolas"/>
                          <a:ea typeface="Consolas"/>
                          <a:cs typeface="Consolas"/>
                        </a:rPr>
                        <a:t>13</a:t>
                      </a:r>
                    </a:p>
                  </a:txBody>
                  <a:tcPr marL="54864" marR="54864" marT="18288" marB="18288" anchor="ctr">
                    <a:solidFill>
                      <a:srgbClr val="FFFFFF"/>
                    </a:solidFill>
                  </a:tcPr>
                </a:tc>
                <a:tc>
                  <a:txBody>
                    <a:bodyPr/>
                    <a:lstStyle/>
                    <a:p>
                      <a:pPr algn="ctr" eaLnBrk="0" latinLnBrk="0">
                        <a:lnSpc>
                          <a:spcPct val="100000"/>
                        </a:lnSpc>
                        <a:buNone/>
                      </a:pPr>
                      <a:r>
                        <a:rPr lang="ko-KR" altLang="en-US" sz="2000" b="1" dirty="0">
                          <a:solidFill>
                            <a:srgbClr val="151515"/>
                          </a:solidFill>
                          <a:latin typeface="Consolas"/>
                          <a:ea typeface="Consolas"/>
                          <a:cs typeface="Consolas"/>
                        </a:rPr>
                        <a:t>3</a:t>
                      </a:r>
                    </a:p>
                  </a:txBody>
                  <a:tcPr marL="54864" marR="54864" marT="18288" marB="18288" anchor="ctr">
                    <a:solidFill>
                      <a:srgbClr val="FFFFFF"/>
                    </a:solidFill>
                  </a:tcPr>
                </a:tc>
                <a:tc>
                  <a:txBody>
                    <a:bodyPr/>
                    <a:lstStyle/>
                    <a:p>
                      <a:pPr algn="ctr" eaLnBrk="0" latinLnBrk="0">
                        <a:lnSpc>
                          <a:spcPct val="100000"/>
                        </a:lnSpc>
                        <a:buNone/>
                      </a:pPr>
                      <a:r>
                        <a:rPr lang="ko-KR" altLang="en-US" sz="2000" b="1" dirty="0">
                          <a:solidFill>
                            <a:srgbClr val="151515"/>
                          </a:solidFill>
                          <a:latin typeface="Consolas"/>
                          <a:ea typeface="Consolas"/>
                          <a:cs typeface="Consolas"/>
                        </a:rPr>
                        <a:t>0</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22" name="직사각형 23"/>
          <p:cNvSpPr/>
          <p:nvPr/>
        </p:nvSpPr>
        <p:spPr>
          <a:xfrm>
            <a:off x="2103120" y="5084064"/>
            <a:ext cx="5120640" cy="512064"/>
          </a:xfrm>
          <a:prstGeom prst="rect">
            <a:avLst/>
          </a:prstGeom>
          <a:solidFill>
            <a:srgbClr val="DDF1E4"/>
          </a:solidFill>
          <a:ln w="0">
            <a:noFill/>
          </a:ln>
        </p:spPr>
        <p:txBody>
          <a:bodyPr wrap="square" lIns="0" tIns="0" rIns="0" bIns="0" anchor="ctr">
            <a:noAutofit/>
          </a:bodyPr>
          <a:lstStyle/>
          <a:p>
            <a:pPr algn="ctr" eaLnBrk="0" latinLnBrk="0">
              <a:lnSpc>
                <a:spcPct val="100000"/>
              </a:lnSpc>
              <a:buNone/>
            </a:pPr>
            <a:r>
              <a:rPr lang="ko-KR" altLang="en-US" sz="1700" b="1" dirty="0">
                <a:solidFill>
                  <a:srgbClr val="151515"/>
                </a:solidFill>
                <a:latin typeface="Malgun Gothic"/>
                <a:ea typeface="Malgun Gothic"/>
                <a:cs typeface="Malgun Gothic"/>
              </a:rPr>
              <a:t>coin_count(1263) = 2 + 2 + 1 + 1 + 3 = 9</a:t>
            </a:r>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text-28-64">
            <a:extLst>
              <a:ext uri="{FF2B5EF4-FFF2-40B4-BE49-F238E27FC236}">
                <a16:creationId xmlns:a16="http://schemas.microsoft.com/office/drawing/2014/main" id="{0A49A506-A938-4109-B9A7-3CB9BA3C0C2D}"/>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5장 탐욕 알고리즘  /  Python/C 구현</a:t>
            </a:r>
          </a:p>
        </p:txBody>
      </p:sp>
      <p:sp>
        <p:nvSpPr>
          <p:cNvPr id="2" name="text-28-1080">
            <a:extLst>
              <a:ext uri="{FF2B5EF4-FFF2-40B4-BE49-F238E27FC236}">
                <a16:creationId xmlns:a16="http://schemas.microsoft.com/office/drawing/2014/main" id="{96C2F3F5-6394-4D60-ABA3-5DD4D66DB3F9}"/>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36E6E62-5D20-442F-AF04-F8E6BB38C866}"/>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함수</a:t>
            </a:r>
            <a:r>
              <a:rPr sz="3000" b="1" i="0">
                <a:solidFill>
                  <a:srgbClr val="171717"/>
                </a:solidFill>
                <a:latin typeface="Malgun Gothic"/>
                <a:ea typeface="Malgun Gothic"/>
                <a:cs typeface="Malgun Gothic"/>
              </a:rPr>
              <a:t>  Python 구현</a:t>
            </a:r>
          </a:p>
        </p:txBody>
      </p:sp>
      <p:sp>
        <p:nvSpPr>
          <p:cNvPr id="4" name="직사각형 3">
            <a:extLst>
              <a:ext uri="{FF2B5EF4-FFF2-40B4-BE49-F238E27FC236}">
                <a16:creationId xmlns:a16="http://schemas.microsoft.com/office/drawing/2014/main" id="{57255299-8241-4B96-A7EF-D42CBA731A9C}"/>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ACE381D7-C77A-4D1F-AA3F-5BF3FF8D355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00A2658D-40B0-49F3-ACBB-163A082C831C}"/>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05 / GREEDY ALGORITHMS · EXERCISES</a:t>
            </a:r>
          </a:p>
        </p:txBody>
      </p:sp>
      <p:sp>
        <p:nvSpPr>
          <p:cNvPr id="7" name="text-689-1160">
            <a:extLst>
              <a:ext uri="{FF2B5EF4-FFF2-40B4-BE49-F238E27FC236}">
                <a16:creationId xmlns:a16="http://schemas.microsoft.com/office/drawing/2014/main" id="{D59A9CD6-4032-4FDB-B111-C8A4D5571204}"/>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18</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AC64A26A-C53F-4FA4-8124-66D69238E52F}"/>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정수배 화폐 거스름돈</a:t>
            </a:r>
          </a:p>
        </p:txBody>
      </p:sp>
      <p:sp>
        <p:nvSpPr>
          <p:cNvPr id="9" name="직사각형 8">
            <a:extLst>
              <a:ext uri="{FF2B5EF4-FFF2-40B4-BE49-F238E27FC236}">
                <a16:creationId xmlns:a16="http://schemas.microsoft.com/office/drawing/2014/main" id="{63C1B77B-B149-4E24-93CC-B4D298D68F77}"/>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D7333983-B7AF-4C61-82E7-4E2AE008F97B}"/>
              </a:ext>
            </a:extLst>
          </p:cNvPr>
          <p:cNvSpPr>
            <a:spLocks noGrp="1"/>
          </p:cNvSpPr>
          <p:nvPr/>
        </p:nvSpPr>
        <p:spPr>
          <a:xfrm>
            <a:off x="771525" y="212026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CBE188FD-0901-44D8-8E84-943B23566943}"/>
              </a:ext>
            </a:extLst>
          </p:cNvPr>
          <p:cNvSpPr>
            <a:spLocks noGrp="1"/>
          </p:cNvSpPr>
          <p:nvPr/>
        </p:nvSpPr>
        <p:spPr>
          <a:xfrm>
            <a:off x="1285875" y="212026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coin_count(amount):</a:t>
            </a:r>
          </a:p>
        </p:txBody>
      </p:sp>
      <p:sp>
        <p:nvSpPr>
          <p:cNvPr id="12" name="text-242.5-81">
            <a:extLst>
              <a:ext uri="{FF2B5EF4-FFF2-40B4-BE49-F238E27FC236}">
                <a16:creationId xmlns:a16="http://schemas.microsoft.com/office/drawing/2014/main" id="{A2ED12A2-E9EF-485E-A99B-803D35A5FA7A}"/>
              </a:ext>
            </a:extLst>
          </p:cNvPr>
          <p:cNvSpPr>
            <a:spLocks noGrp="1"/>
          </p:cNvSpPr>
          <p:nvPr/>
        </p:nvSpPr>
        <p:spPr>
          <a:xfrm>
            <a:off x="771525" y="2374107"/>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E021D9E1-8B55-4066-AC2B-04C8A2D2B675}"/>
              </a:ext>
            </a:extLst>
          </p:cNvPr>
          <p:cNvSpPr>
            <a:spLocks noGrp="1"/>
          </p:cNvSpPr>
          <p:nvPr/>
        </p:nvSpPr>
        <p:spPr>
          <a:xfrm>
            <a:off x="1285875" y="2374107"/>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 = 0</a:t>
            </a:r>
          </a:p>
        </p:txBody>
      </p:sp>
      <p:sp>
        <p:nvSpPr>
          <p:cNvPr id="14" name="text-263-81">
            <a:extLst>
              <a:ext uri="{FF2B5EF4-FFF2-40B4-BE49-F238E27FC236}">
                <a16:creationId xmlns:a16="http://schemas.microsoft.com/office/drawing/2014/main" id="{27F4DB41-8FE4-4168-B4A0-99F8EAE9C8E5}"/>
              </a:ext>
            </a:extLst>
          </p:cNvPr>
          <p:cNvSpPr>
            <a:spLocks noGrp="1"/>
          </p:cNvSpPr>
          <p:nvPr/>
        </p:nvSpPr>
        <p:spPr>
          <a:xfrm>
            <a:off x="771525" y="262794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2FF73232-B87A-4553-A3FA-CFD13F1D0AC8}"/>
              </a:ext>
            </a:extLst>
          </p:cNvPr>
          <p:cNvSpPr>
            <a:spLocks noGrp="1"/>
          </p:cNvSpPr>
          <p:nvPr/>
        </p:nvSpPr>
        <p:spPr>
          <a:xfrm>
            <a:off x="1285875" y="262794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coin in [500, 100, 50, 10, 1]:</a:t>
            </a:r>
          </a:p>
        </p:txBody>
      </p:sp>
      <p:sp>
        <p:nvSpPr>
          <p:cNvPr id="16" name="text-283.5-81">
            <a:extLst>
              <a:ext uri="{FF2B5EF4-FFF2-40B4-BE49-F238E27FC236}">
                <a16:creationId xmlns:a16="http://schemas.microsoft.com/office/drawing/2014/main" id="{48AF368C-D359-496B-8CCB-E9ED864E4E0E}"/>
              </a:ext>
            </a:extLst>
          </p:cNvPr>
          <p:cNvSpPr>
            <a:spLocks noGrp="1"/>
          </p:cNvSpPr>
          <p:nvPr/>
        </p:nvSpPr>
        <p:spPr>
          <a:xfrm>
            <a:off x="771525" y="288179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5DFB331F-2F79-43D6-830D-19AA22366D9E}"/>
              </a:ext>
            </a:extLst>
          </p:cNvPr>
          <p:cNvSpPr>
            <a:spLocks noGrp="1"/>
          </p:cNvSpPr>
          <p:nvPr/>
        </p:nvSpPr>
        <p:spPr>
          <a:xfrm>
            <a:off x="1285875" y="288179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 += amount // coin</a:t>
            </a:r>
          </a:p>
        </p:txBody>
      </p:sp>
      <p:sp>
        <p:nvSpPr>
          <p:cNvPr id="18" name="text-304-81">
            <a:extLst>
              <a:ext uri="{FF2B5EF4-FFF2-40B4-BE49-F238E27FC236}">
                <a16:creationId xmlns:a16="http://schemas.microsoft.com/office/drawing/2014/main" id="{B6C1DD5E-EC44-49E2-B480-203DB789CB42}"/>
              </a:ext>
            </a:extLst>
          </p:cNvPr>
          <p:cNvSpPr>
            <a:spLocks noGrp="1"/>
          </p:cNvSpPr>
          <p:nvPr/>
        </p:nvSpPr>
        <p:spPr>
          <a:xfrm>
            <a:off x="771525" y="313563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470D7A46-D21A-4C08-8D0D-3AD4A469475C}"/>
              </a:ext>
            </a:extLst>
          </p:cNvPr>
          <p:cNvSpPr>
            <a:spLocks noGrp="1"/>
          </p:cNvSpPr>
          <p:nvPr/>
        </p:nvSpPr>
        <p:spPr>
          <a:xfrm>
            <a:off x="1285875" y="313563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amount %= coin</a:t>
            </a:r>
          </a:p>
        </p:txBody>
      </p:sp>
      <p:sp>
        <p:nvSpPr>
          <p:cNvPr id="20" name="text-324.5-81">
            <a:extLst>
              <a:ext uri="{FF2B5EF4-FFF2-40B4-BE49-F238E27FC236}">
                <a16:creationId xmlns:a16="http://schemas.microsoft.com/office/drawing/2014/main" id="{F0E0B869-2BFB-4E6C-89CA-6A88D609CB98}"/>
              </a:ext>
            </a:extLst>
          </p:cNvPr>
          <p:cNvSpPr>
            <a:spLocks noGrp="1"/>
          </p:cNvSpPr>
          <p:nvPr/>
        </p:nvSpPr>
        <p:spPr>
          <a:xfrm>
            <a:off x="771525" y="3389472"/>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66E4559D-57CE-480D-9698-2DAACC1975ED}"/>
              </a:ext>
            </a:extLst>
          </p:cNvPr>
          <p:cNvSpPr>
            <a:spLocks noGrp="1"/>
          </p:cNvSpPr>
          <p:nvPr/>
        </p:nvSpPr>
        <p:spPr>
          <a:xfrm>
            <a:off x="1285875" y="3389472"/>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2" name="text-635-64">
            <a:extLst>
              <a:ext uri="{FF2B5EF4-FFF2-40B4-BE49-F238E27FC236}">
                <a16:creationId xmlns:a16="http://schemas.microsoft.com/office/drawing/2014/main" id="{825AB6E5-569A-42ED-9C89-B9FBD6EA01FC}"/>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고정된 5종류이므로 시간 O(1). 일반 m종류에서는 시간 O(m).</a:t>
            </a:r>
          </a:p>
        </p:txBody>
      </p:sp>
    </p:spTree>
    <p:extLst>
      <p:ext uri="{BB962C8B-B14F-4D97-AF65-F5344CB8AC3E}">
        <p14:creationId xmlns:p14="http://schemas.microsoft.com/office/powerpoint/2010/main" val="312871065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28-64">
            <a:extLst>
              <a:ext uri="{FF2B5EF4-FFF2-40B4-BE49-F238E27FC236}">
                <a16:creationId xmlns:a16="http://schemas.microsoft.com/office/drawing/2014/main" id="{13C258FF-D447-4D74-BBB9-2D0F23BE2EE9}"/>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5장 탐욕 알고리즘  /  Python/C 구현</a:t>
            </a:r>
          </a:p>
        </p:txBody>
      </p:sp>
      <p:sp>
        <p:nvSpPr>
          <p:cNvPr id="2" name="text-28-1080">
            <a:extLst>
              <a:ext uri="{FF2B5EF4-FFF2-40B4-BE49-F238E27FC236}">
                <a16:creationId xmlns:a16="http://schemas.microsoft.com/office/drawing/2014/main" id="{4C064ACF-04E6-46EF-B93B-724AB20F3AD0}"/>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4FCC1443-CD42-48A3-9EFE-16BCAE5A8C74}"/>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함수</a:t>
            </a:r>
            <a:r>
              <a:rPr sz="3000" b="1" i="0">
                <a:solidFill>
                  <a:srgbClr val="171717"/>
                </a:solidFill>
                <a:latin typeface="Malgun Gothic"/>
                <a:ea typeface="Malgun Gothic"/>
                <a:cs typeface="Malgun Gothic"/>
              </a:rPr>
              <a:t>  C 구현</a:t>
            </a:r>
          </a:p>
        </p:txBody>
      </p:sp>
      <p:sp>
        <p:nvSpPr>
          <p:cNvPr id="4" name="직사각형 3">
            <a:extLst>
              <a:ext uri="{FF2B5EF4-FFF2-40B4-BE49-F238E27FC236}">
                <a16:creationId xmlns:a16="http://schemas.microsoft.com/office/drawing/2014/main" id="{4226AD5F-1ADF-4499-A958-A3667FC74BBE}"/>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2EE4B3B5-BA42-4D1C-B036-424D9BA251D8}"/>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F3556B3F-F6CF-4B46-8F76-B9CE34B5B286}"/>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05 / GREEDY ALGORITHMS · EXERCISES</a:t>
            </a:r>
          </a:p>
        </p:txBody>
      </p:sp>
      <p:sp>
        <p:nvSpPr>
          <p:cNvPr id="7" name="text-689-1160">
            <a:extLst>
              <a:ext uri="{FF2B5EF4-FFF2-40B4-BE49-F238E27FC236}">
                <a16:creationId xmlns:a16="http://schemas.microsoft.com/office/drawing/2014/main" id="{B7379B0F-2563-46DB-B614-A17003D193F7}"/>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19</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3F08FEC5-3F2F-4587-9D84-A2864450B68B}"/>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정수배 화폐 거스름돈</a:t>
            </a:r>
          </a:p>
        </p:txBody>
      </p:sp>
      <p:sp>
        <p:nvSpPr>
          <p:cNvPr id="9" name="직사각형 8">
            <a:extLst>
              <a:ext uri="{FF2B5EF4-FFF2-40B4-BE49-F238E27FC236}">
                <a16:creationId xmlns:a16="http://schemas.microsoft.com/office/drawing/2014/main" id="{6B8E8BD7-29E0-4692-8F74-03BAD6BAF248}"/>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7CFD8188-FA81-4248-B6C9-5FA0D5F08D74}"/>
              </a:ext>
            </a:extLst>
          </p:cNvPr>
          <p:cNvSpPr>
            <a:spLocks noGrp="1"/>
          </p:cNvSpPr>
          <p:nvPr/>
        </p:nvSpPr>
        <p:spPr>
          <a:xfrm>
            <a:off x="771525" y="212026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757FD895-ECE4-49F0-BDD8-FF70B4ECF186}"/>
              </a:ext>
            </a:extLst>
          </p:cNvPr>
          <p:cNvSpPr>
            <a:spLocks noGrp="1"/>
          </p:cNvSpPr>
          <p:nvPr/>
        </p:nvSpPr>
        <p:spPr>
          <a:xfrm>
            <a:off x="1285875" y="212026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int coin_count(int amount) {</a:t>
            </a:r>
          </a:p>
        </p:txBody>
      </p:sp>
      <p:sp>
        <p:nvSpPr>
          <p:cNvPr id="12" name="text-242.5-81">
            <a:extLst>
              <a:ext uri="{FF2B5EF4-FFF2-40B4-BE49-F238E27FC236}">
                <a16:creationId xmlns:a16="http://schemas.microsoft.com/office/drawing/2014/main" id="{D7460148-0A73-40B1-BB01-0E3FA63AC6E9}"/>
              </a:ext>
            </a:extLst>
          </p:cNvPr>
          <p:cNvSpPr>
            <a:spLocks noGrp="1"/>
          </p:cNvSpPr>
          <p:nvPr/>
        </p:nvSpPr>
        <p:spPr>
          <a:xfrm>
            <a:off x="771525" y="2374107"/>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ADBA584C-74BD-4CB2-ABEA-E5B8C36BD7E1}"/>
              </a:ext>
            </a:extLst>
          </p:cNvPr>
          <p:cNvSpPr>
            <a:spLocks noGrp="1"/>
          </p:cNvSpPr>
          <p:nvPr/>
        </p:nvSpPr>
        <p:spPr>
          <a:xfrm>
            <a:off x="1285875" y="2374107"/>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coins[]={500,100,50,10,1}, count=0;</a:t>
            </a:r>
          </a:p>
        </p:txBody>
      </p:sp>
      <p:sp>
        <p:nvSpPr>
          <p:cNvPr id="14" name="text-263-81">
            <a:extLst>
              <a:ext uri="{FF2B5EF4-FFF2-40B4-BE49-F238E27FC236}">
                <a16:creationId xmlns:a16="http://schemas.microsoft.com/office/drawing/2014/main" id="{8BA35540-79AF-4F84-A9AB-C52DD0DAE913}"/>
              </a:ext>
            </a:extLst>
          </p:cNvPr>
          <p:cNvSpPr>
            <a:spLocks noGrp="1"/>
          </p:cNvSpPr>
          <p:nvPr/>
        </p:nvSpPr>
        <p:spPr>
          <a:xfrm>
            <a:off x="771525" y="262794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ABBD640B-A3EA-4AA5-B334-701DA273DDED}"/>
              </a:ext>
            </a:extLst>
          </p:cNvPr>
          <p:cNvSpPr>
            <a:spLocks noGrp="1"/>
          </p:cNvSpPr>
          <p:nvPr/>
        </p:nvSpPr>
        <p:spPr>
          <a:xfrm>
            <a:off x="1285875" y="262794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i=0; i&lt;5; ++i) {</a:t>
            </a:r>
          </a:p>
        </p:txBody>
      </p:sp>
      <p:sp>
        <p:nvSpPr>
          <p:cNvPr id="16" name="text-283.5-81">
            <a:extLst>
              <a:ext uri="{FF2B5EF4-FFF2-40B4-BE49-F238E27FC236}">
                <a16:creationId xmlns:a16="http://schemas.microsoft.com/office/drawing/2014/main" id="{980244E7-3278-45FC-830B-C2F1F182F0EB}"/>
              </a:ext>
            </a:extLst>
          </p:cNvPr>
          <p:cNvSpPr>
            <a:spLocks noGrp="1"/>
          </p:cNvSpPr>
          <p:nvPr/>
        </p:nvSpPr>
        <p:spPr>
          <a:xfrm>
            <a:off x="771525" y="288179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61D0D067-0639-44A8-9AB1-6BAAAF33B58A}"/>
              </a:ext>
            </a:extLst>
          </p:cNvPr>
          <p:cNvSpPr>
            <a:spLocks noGrp="1"/>
          </p:cNvSpPr>
          <p:nvPr/>
        </p:nvSpPr>
        <p:spPr>
          <a:xfrm>
            <a:off x="1285875" y="288179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count+=amount/coins[i];</a:t>
            </a:r>
          </a:p>
        </p:txBody>
      </p:sp>
      <p:sp>
        <p:nvSpPr>
          <p:cNvPr id="18" name="text-304-81">
            <a:extLst>
              <a:ext uri="{FF2B5EF4-FFF2-40B4-BE49-F238E27FC236}">
                <a16:creationId xmlns:a16="http://schemas.microsoft.com/office/drawing/2014/main" id="{DBE0B24A-A011-4D95-B9FF-877C3C10A55B}"/>
              </a:ext>
            </a:extLst>
          </p:cNvPr>
          <p:cNvSpPr>
            <a:spLocks noGrp="1"/>
          </p:cNvSpPr>
          <p:nvPr/>
        </p:nvSpPr>
        <p:spPr>
          <a:xfrm>
            <a:off x="771525" y="313563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F9C7B5F2-E57C-48B8-A8FE-1AF71A5031C4}"/>
              </a:ext>
            </a:extLst>
          </p:cNvPr>
          <p:cNvSpPr>
            <a:spLocks noGrp="1"/>
          </p:cNvSpPr>
          <p:nvPr/>
        </p:nvSpPr>
        <p:spPr>
          <a:xfrm>
            <a:off x="1285875" y="313563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amount%=coins[i];</a:t>
            </a:r>
          </a:p>
        </p:txBody>
      </p:sp>
      <p:sp>
        <p:nvSpPr>
          <p:cNvPr id="20" name="text-324.5-81">
            <a:extLst>
              <a:ext uri="{FF2B5EF4-FFF2-40B4-BE49-F238E27FC236}">
                <a16:creationId xmlns:a16="http://schemas.microsoft.com/office/drawing/2014/main" id="{21CF80C9-8365-41CD-8285-40F03189C777}"/>
              </a:ext>
            </a:extLst>
          </p:cNvPr>
          <p:cNvSpPr>
            <a:spLocks noGrp="1"/>
          </p:cNvSpPr>
          <p:nvPr/>
        </p:nvSpPr>
        <p:spPr>
          <a:xfrm>
            <a:off x="771525" y="3389472"/>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2E57B6DC-BA9F-447F-B00A-E9D77564DF93}"/>
              </a:ext>
            </a:extLst>
          </p:cNvPr>
          <p:cNvSpPr>
            <a:spLocks noGrp="1"/>
          </p:cNvSpPr>
          <p:nvPr/>
        </p:nvSpPr>
        <p:spPr>
          <a:xfrm>
            <a:off x="1285875" y="3389472"/>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2" name="text-345-81">
            <a:extLst>
              <a:ext uri="{FF2B5EF4-FFF2-40B4-BE49-F238E27FC236}">
                <a16:creationId xmlns:a16="http://schemas.microsoft.com/office/drawing/2014/main" id="{0A94F552-F342-4908-88A4-6C519EF9771A}"/>
              </a:ext>
            </a:extLst>
          </p:cNvPr>
          <p:cNvSpPr>
            <a:spLocks noGrp="1"/>
          </p:cNvSpPr>
          <p:nvPr/>
        </p:nvSpPr>
        <p:spPr>
          <a:xfrm>
            <a:off x="771525" y="36433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FE537195-95C7-4DC1-A510-6E13803C6857}"/>
              </a:ext>
            </a:extLst>
          </p:cNvPr>
          <p:cNvSpPr>
            <a:spLocks noGrp="1"/>
          </p:cNvSpPr>
          <p:nvPr/>
        </p:nvSpPr>
        <p:spPr>
          <a:xfrm>
            <a:off x="1285875" y="36433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4" name="text-365.5-81">
            <a:extLst>
              <a:ext uri="{FF2B5EF4-FFF2-40B4-BE49-F238E27FC236}">
                <a16:creationId xmlns:a16="http://schemas.microsoft.com/office/drawing/2014/main" id="{22D68749-A7F8-4486-9CCD-5D015D811530}"/>
              </a:ext>
            </a:extLst>
          </p:cNvPr>
          <p:cNvSpPr>
            <a:spLocks noGrp="1"/>
          </p:cNvSpPr>
          <p:nvPr/>
        </p:nvSpPr>
        <p:spPr>
          <a:xfrm>
            <a:off x="771525" y="3897154"/>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662EAC6E-FBBA-4F6E-8858-22CAF37FA28A}"/>
              </a:ext>
            </a:extLst>
          </p:cNvPr>
          <p:cNvSpPr>
            <a:spLocks noGrp="1"/>
          </p:cNvSpPr>
          <p:nvPr/>
        </p:nvSpPr>
        <p:spPr>
          <a:xfrm>
            <a:off x="1285875" y="3897154"/>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26" name="text-635-64">
            <a:extLst>
              <a:ext uri="{FF2B5EF4-FFF2-40B4-BE49-F238E27FC236}">
                <a16:creationId xmlns:a16="http://schemas.microsoft.com/office/drawing/2014/main" id="{A6EAFD9F-4092-4491-A8D8-4AE9EB1ABDAF}"/>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고정된 5종류이므로 시간 O(1). 일반 m종류에서는 시간 O(m).</a:t>
            </a:r>
          </a:p>
        </p:txBody>
      </p:sp>
    </p:spTree>
    <p:extLst>
      <p:ext uri="{BB962C8B-B14F-4D97-AF65-F5344CB8AC3E}">
        <p14:creationId xmlns:p14="http://schemas.microsoft.com/office/powerpoint/2010/main" val="319739925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회의실 하나, 회의는 최대한 많이</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20</a:t>
            </a:r>
            <a:endParaRPr lang="ko-KR" altLang="en-US" sz="1050" b="0" dirty="0">
              <a:solidFill>
                <a:srgbClr val="606060"/>
              </a:solidFill>
              <a:latin typeface="Malgun Gothic"/>
              <a:ea typeface="Malgun Gothic"/>
              <a:cs typeface="Malgun Gothic"/>
            </a:endParaRPr>
          </a:p>
        </p:txBody>
      </p:sp>
      <p:sp>
        <p:nvSpPr>
          <p:cNvPr id="9" name="fit:f7b5afc09c0f3450 10"/>
          <p:cNvSpPr/>
          <p:nvPr/>
        </p:nvSpPr>
        <p:spPr>
          <a:xfrm>
            <a:off x="658368" y="1737360"/>
            <a:ext cx="5120640" cy="566928"/>
          </a:xfrm>
          <a:prstGeom prst="rect">
            <a:avLst/>
          </a:prstGeom>
          <a:noFill/>
          <a:ln w="0">
            <a:noFill/>
          </a:ln>
        </p:spPr>
        <p:txBody>
          <a:bodyPr wrap="square" lIns="0" tIns="0" rIns="0" bIns="0" anchor="t">
            <a:noAutofit/>
          </a:bodyPr>
          <a:lstStyle/>
          <a:p>
            <a:pPr algn="l" eaLnBrk="0" latinLnBrk="0">
              <a:lnSpc>
                <a:spcPct val="105000"/>
              </a:lnSpc>
              <a:buNone/>
            </a:pPr>
            <a:r>
              <a:rPr lang="ko-KR" altLang="en-US" sz="1700" b="0" dirty="0">
                <a:solidFill>
                  <a:srgbClr val="171717"/>
                </a:solidFill>
                <a:latin typeface="Malgun Gothic"/>
                <a:ea typeface="Malgun Gothic"/>
                <a:cs typeface="Malgun Gothic"/>
              </a:rPr>
              <a:t>회의실은 하나, 요청은 여러 건입니다.</a:t>
            </a:r>
          </a:p>
          <a:p>
            <a:pPr algn="l" eaLnBrk="0" latinLnBrk="0">
              <a:lnSpc>
                <a:spcPct val="105000"/>
              </a:lnSpc>
              <a:buNone/>
            </a:pPr>
            <a:r>
              <a:rPr lang="ko-KR" altLang="en-US" sz="1700" b="0" dirty="0">
                <a:solidFill>
                  <a:srgbClr val="171717"/>
                </a:solidFill>
                <a:latin typeface="Malgun Gothic"/>
                <a:ea typeface="Malgun Gothic"/>
                <a:cs typeface="Malgun Gothic"/>
              </a:rPr>
              <a:t>회의마다 시작 시각과 종료 시각이 있습니다.</a:t>
            </a:r>
          </a:p>
        </p:txBody>
      </p:sp>
      <p:sp>
        <p:nvSpPr>
          <p:cNvPr id="10" name="fit:a65c261de82eba10 11"/>
          <p:cNvSpPr/>
          <p:nvPr/>
        </p:nvSpPr>
        <p:spPr>
          <a:xfrm>
            <a:off x="658368" y="2432304"/>
            <a:ext cx="512064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회의 하나 = 활동(activity)</a:t>
            </a:r>
          </a:p>
        </p:txBody>
      </p:sp>
      <p:sp>
        <p:nvSpPr>
          <p:cNvPr id="11" name="fit:ce3bfddb9f6662b3 12"/>
          <p:cNvSpPr/>
          <p:nvPr/>
        </p:nvSpPr>
        <p:spPr>
          <a:xfrm>
            <a:off x="841248" y="2752344"/>
            <a:ext cx="493776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그래서 활동 선택 문제라고 부릅니다.</a:t>
            </a:r>
          </a:p>
        </p:txBody>
      </p:sp>
      <p:sp>
        <p:nvSpPr>
          <p:cNvPr id="12" name="fit:094e5bffada2d5e2 13"/>
          <p:cNvSpPr/>
          <p:nvPr/>
        </p:nvSpPr>
        <p:spPr>
          <a:xfrm>
            <a:off x="658368" y="3127248"/>
            <a:ext cx="512064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한 번에 한 회의만</a:t>
            </a:r>
          </a:p>
        </p:txBody>
      </p:sp>
      <p:sp>
        <p:nvSpPr>
          <p:cNvPr id="13" name="fit:cd1d98f01756c609 14"/>
          <p:cNvSpPr/>
          <p:nvPr/>
        </p:nvSpPr>
        <p:spPr>
          <a:xfrm>
            <a:off x="841248" y="3447288"/>
            <a:ext cx="4937760" cy="502920"/>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시간이 겹치는 두 회의는 함께 넣을 수 없고,</a:t>
            </a:r>
          </a:p>
          <a:p>
            <a:pPr algn="l" eaLnBrk="0" latinLnBrk="0">
              <a:lnSpc>
                <a:spcPct val="105000"/>
              </a:lnSpc>
              <a:buNone/>
            </a:pPr>
            <a:r>
              <a:rPr lang="ko-KR" altLang="en-US" sz="1500" b="0" dirty="0">
                <a:solidFill>
                  <a:srgbClr val="3F3F3F"/>
                </a:solidFill>
                <a:latin typeface="Malgun Gothic"/>
                <a:ea typeface="Malgun Gothic"/>
                <a:cs typeface="Malgun Gothic"/>
              </a:rPr>
              <a:t>회의를 도중에 끊을 수도 없습니다.</a:t>
            </a:r>
          </a:p>
        </p:txBody>
      </p:sp>
      <p:sp>
        <p:nvSpPr>
          <p:cNvPr id="14" name="fit:44767632e7f669fd 15"/>
          <p:cNvSpPr/>
          <p:nvPr/>
        </p:nvSpPr>
        <p:spPr>
          <a:xfrm>
            <a:off x="658368" y="4059936"/>
            <a:ext cx="5120640" cy="301752"/>
          </a:xfrm>
          <a:prstGeom prst="rect">
            <a:avLst/>
          </a:prstGeom>
          <a:noFill/>
          <a:ln w="0">
            <a:noFill/>
          </a:ln>
        </p:spPr>
        <p:txBody>
          <a:bodyPr wrap="square" lIns="0" tIns="0" rIns="0" bIns="0" anchor="t">
            <a:noAutofit/>
          </a:bodyPr>
          <a:lstStyle/>
          <a:p>
            <a:pPr algn="l" eaLnBrk="0" latinLnBrk="0">
              <a:lnSpc>
                <a:spcPct val="100000"/>
              </a:lnSpc>
              <a:buNone/>
            </a:pPr>
            <a:r>
              <a:rPr lang="ko-KR" altLang="en-US" sz="1700" b="1" dirty="0">
                <a:solidFill>
                  <a:srgbClr val="171717"/>
                </a:solidFill>
                <a:latin typeface="Malgun Gothic"/>
                <a:ea typeface="Malgun Gothic"/>
                <a:cs typeface="Malgun Gothic"/>
              </a:rPr>
              <a:t>목표: 회의의 개수를 최대로</a:t>
            </a:r>
          </a:p>
        </p:txBody>
      </p:sp>
      <p:sp>
        <p:nvSpPr>
          <p:cNvPr id="15" name="fit:566c0ea5a0f43703 16"/>
          <p:cNvSpPr/>
          <p:nvPr/>
        </p:nvSpPr>
        <p:spPr>
          <a:xfrm>
            <a:off x="841248" y="4379976"/>
            <a:ext cx="4937760"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3F3F3F"/>
                </a:solidFill>
                <a:latin typeface="Malgun Gothic"/>
                <a:ea typeface="Malgun Gothic"/>
                <a:cs typeface="Malgun Gothic"/>
              </a:rPr>
              <a:t>사용 시간의 합이 아니라 넣은 회의의 수입니다.</a:t>
            </a:r>
          </a:p>
        </p:txBody>
      </p:sp>
      <p:pic>
        <p:nvPicPr>
          <p:cNvPr id="16" name="그림 17"/>
          <p:cNvPicPr>
            <a:picLocks noChangeAspect="1"/>
          </p:cNvPicPr>
          <p:nvPr/>
        </p:nvPicPr>
        <p:blipFill>
          <a:blip r:embed="rId3"/>
          <a:stretch>
            <a:fillRect/>
          </a:stretch>
        </p:blipFill>
        <p:spPr>
          <a:xfrm>
            <a:off x="6126480" y="2444143"/>
            <a:ext cx="5458968" cy="2975554"/>
          </a:xfrm>
          <a:prstGeom prst="rect">
            <a:avLst/>
          </a:prstGeom>
        </p:spPr>
      </p:pic>
      <p:sp>
        <p:nvSpPr>
          <p:cNvPr id="17" name="직사각형 18"/>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그림 속 '세미나실'은 이 강의의 회의실입니다. 목표는 '오래'가 아니라 '많이'입니다.</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[시작, 종료) 표기: 끝나는 시각에 바로 시작</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21</a:t>
            </a:r>
            <a:endParaRPr lang="ko-KR" altLang="en-US" sz="1050" b="0" dirty="0">
              <a:solidFill>
                <a:srgbClr val="606060"/>
              </a:solidFill>
              <a:latin typeface="Malgun Gothic"/>
              <a:ea typeface="Malgun Gothic"/>
              <a:cs typeface="Malgun Gothic"/>
            </a:endParaRPr>
          </a:p>
        </p:txBody>
      </p:sp>
      <p:sp>
        <p:nvSpPr>
          <p:cNvPr id="9" name="fit:099b4de91e7c97fa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[1, 4)는 1시에 시작해 4시에 끝나는 회의입니다.</a:t>
            </a:r>
          </a:p>
          <a:p>
            <a:pPr algn="l" eaLnBrk="0" latinLnBrk="0">
              <a:lnSpc>
                <a:spcPct val="100000"/>
              </a:lnSpc>
              <a:buNone/>
            </a:pPr>
            <a:r>
              <a:rPr lang="ko-KR" altLang="en-US" sz="2025" b="0" dirty="0">
                <a:solidFill>
                  <a:srgbClr val="171717"/>
                </a:solidFill>
                <a:latin typeface="Malgun Gothic"/>
                <a:ea typeface="Malgun Gothic"/>
                <a:cs typeface="Malgun Gothic"/>
              </a:rPr>
              <a:t>[는 1시를 포함하고, )는 4시를 포함하지 않습니다.</a:t>
            </a:r>
          </a:p>
        </p:txBody>
      </p:sp>
      <p:cxnSp>
        <p:nvCxnSpPr>
          <p:cNvPr id="10" name="연결선 11"/>
          <p:cNvCxnSpPr/>
          <p:nvPr/>
        </p:nvCxnSpPr>
        <p:spPr>
          <a:xfrm>
            <a:off x="2743200" y="2852928"/>
            <a:ext cx="0" cy="1444752"/>
          </a:xfrm>
          <a:prstGeom prst="line">
            <a:avLst/>
          </a:prstGeom>
          <a:ln w="6350">
            <a:solidFill>
              <a:srgbClr val="E6E6E6"/>
            </a:solidFill>
          </a:ln>
        </p:spPr>
      </p:cxnSp>
      <p:sp>
        <p:nvSpPr>
          <p:cNvPr id="11" name="직사각형 12"/>
          <p:cNvSpPr/>
          <p:nvPr/>
        </p:nvSpPr>
        <p:spPr>
          <a:xfrm>
            <a:off x="25603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2" name="연결선 13"/>
          <p:cNvCxnSpPr/>
          <p:nvPr/>
        </p:nvCxnSpPr>
        <p:spPr>
          <a:xfrm>
            <a:off x="3657600" y="2852928"/>
            <a:ext cx="0" cy="1444752"/>
          </a:xfrm>
          <a:prstGeom prst="line">
            <a:avLst/>
          </a:prstGeom>
          <a:ln w="6350">
            <a:solidFill>
              <a:srgbClr val="E6E6E6"/>
            </a:solidFill>
          </a:ln>
        </p:spPr>
      </p:cxnSp>
      <p:sp>
        <p:nvSpPr>
          <p:cNvPr id="13" name="직사각형 14"/>
          <p:cNvSpPr/>
          <p:nvPr/>
        </p:nvSpPr>
        <p:spPr>
          <a:xfrm>
            <a:off x="34747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4" name="연결선 15"/>
          <p:cNvCxnSpPr/>
          <p:nvPr/>
        </p:nvCxnSpPr>
        <p:spPr>
          <a:xfrm>
            <a:off x="4572000" y="2852928"/>
            <a:ext cx="0" cy="1444752"/>
          </a:xfrm>
          <a:prstGeom prst="line">
            <a:avLst/>
          </a:prstGeom>
          <a:ln w="6350">
            <a:solidFill>
              <a:srgbClr val="E6E6E6"/>
            </a:solidFill>
          </a:ln>
        </p:spPr>
      </p:cxnSp>
      <p:sp>
        <p:nvSpPr>
          <p:cNvPr id="15" name="직사각형 16"/>
          <p:cNvSpPr/>
          <p:nvPr/>
        </p:nvSpPr>
        <p:spPr>
          <a:xfrm>
            <a:off x="43891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6" name="연결선 17"/>
          <p:cNvCxnSpPr/>
          <p:nvPr/>
        </p:nvCxnSpPr>
        <p:spPr>
          <a:xfrm>
            <a:off x="5486400" y="2852928"/>
            <a:ext cx="0" cy="1444752"/>
          </a:xfrm>
          <a:prstGeom prst="line">
            <a:avLst/>
          </a:prstGeom>
          <a:ln w="6350">
            <a:solidFill>
              <a:srgbClr val="E6E6E6"/>
            </a:solidFill>
          </a:ln>
        </p:spPr>
      </p:cxnSp>
      <p:sp>
        <p:nvSpPr>
          <p:cNvPr id="17" name="직사각형 18"/>
          <p:cNvSpPr/>
          <p:nvPr/>
        </p:nvSpPr>
        <p:spPr>
          <a:xfrm>
            <a:off x="53035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8" name="연결선 19"/>
          <p:cNvCxnSpPr/>
          <p:nvPr/>
        </p:nvCxnSpPr>
        <p:spPr>
          <a:xfrm>
            <a:off x="6400800" y="2852928"/>
            <a:ext cx="0" cy="1444752"/>
          </a:xfrm>
          <a:prstGeom prst="line">
            <a:avLst/>
          </a:prstGeom>
          <a:ln w="6350">
            <a:solidFill>
              <a:srgbClr val="E6E6E6"/>
            </a:solidFill>
          </a:ln>
        </p:spPr>
      </p:cxnSp>
      <p:sp>
        <p:nvSpPr>
          <p:cNvPr id="19" name="직사각형 20"/>
          <p:cNvSpPr/>
          <p:nvPr/>
        </p:nvSpPr>
        <p:spPr>
          <a:xfrm>
            <a:off x="62179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0" name="연결선 21"/>
          <p:cNvCxnSpPr/>
          <p:nvPr/>
        </p:nvCxnSpPr>
        <p:spPr>
          <a:xfrm>
            <a:off x="7315200" y="2852928"/>
            <a:ext cx="0" cy="1444752"/>
          </a:xfrm>
          <a:prstGeom prst="line">
            <a:avLst/>
          </a:prstGeom>
          <a:ln w="6350">
            <a:solidFill>
              <a:srgbClr val="E6E6E6"/>
            </a:solidFill>
          </a:ln>
        </p:spPr>
      </p:cxnSp>
      <p:sp>
        <p:nvSpPr>
          <p:cNvPr id="21" name="직사각형 22"/>
          <p:cNvSpPr/>
          <p:nvPr/>
        </p:nvSpPr>
        <p:spPr>
          <a:xfrm>
            <a:off x="71323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2" name="연결선 23"/>
          <p:cNvCxnSpPr/>
          <p:nvPr/>
        </p:nvCxnSpPr>
        <p:spPr>
          <a:xfrm>
            <a:off x="8229600" y="2852928"/>
            <a:ext cx="0" cy="1444752"/>
          </a:xfrm>
          <a:prstGeom prst="line">
            <a:avLst/>
          </a:prstGeom>
          <a:ln w="6350">
            <a:solidFill>
              <a:srgbClr val="E6E6E6"/>
            </a:solidFill>
          </a:ln>
        </p:spPr>
      </p:cxnSp>
      <p:sp>
        <p:nvSpPr>
          <p:cNvPr id="23" name="직사각형 24"/>
          <p:cNvSpPr/>
          <p:nvPr/>
        </p:nvSpPr>
        <p:spPr>
          <a:xfrm>
            <a:off x="80467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4" name="연결선 25"/>
          <p:cNvCxnSpPr/>
          <p:nvPr/>
        </p:nvCxnSpPr>
        <p:spPr>
          <a:xfrm>
            <a:off x="9144000" y="2852928"/>
            <a:ext cx="0" cy="1444752"/>
          </a:xfrm>
          <a:prstGeom prst="line">
            <a:avLst/>
          </a:prstGeom>
          <a:ln w="6350">
            <a:solidFill>
              <a:srgbClr val="E6E6E6"/>
            </a:solidFill>
          </a:ln>
        </p:spPr>
      </p:cxnSp>
      <p:sp>
        <p:nvSpPr>
          <p:cNvPr id="25" name="직사각형 26"/>
          <p:cNvSpPr/>
          <p:nvPr/>
        </p:nvSpPr>
        <p:spPr>
          <a:xfrm>
            <a:off x="8961120" y="26151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6" name="연결선 27"/>
          <p:cNvCxnSpPr/>
          <p:nvPr/>
        </p:nvCxnSpPr>
        <p:spPr>
          <a:xfrm>
            <a:off x="6400800" y="2834640"/>
            <a:ext cx="0" cy="1517904"/>
          </a:xfrm>
          <a:prstGeom prst="line">
            <a:avLst/>
          </a:prstGeom>
          <a:ln w="28575">
            <a:solidFill>
              <a:srgbClr val="B8651B"/>
            </a:solidFill>
            <a:prstDash val="dash"/>
          </a:ln>
        </p:spPr>
      </p:cxnSp>
      <p:sp>
        <p:nvSpPr>
          <p:cNvPr id="27" name="직사각형 28"/>
          <p:cNvSpPr/>
          <p:nvPr/>
        </p:nvSpPr>
        <p:spPr>
          <a:xfrm>
            <a:off x="960120" y="2971800"/>
            <a:ext cx="169164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[1, 4)</a:t>
            </a:r>
          </a:p>
        </p:txBody>
      </p:sp>
      <p:sp>
        <p:nvSpPr>
          <p:cNvPr id="28" name="직사각형 29"/>
          <p:cNvSpPr/>
          <p:nvPr/>
        </p:nvSpPr>
        <p:spPr>
          <a:xfrm>
            <a:off x="3657600" y="2971800"/>
            <a:ext cx="2743200" cy="36576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r>
              <a:rPr lang="ko-KR" altLang="en-US" sz="1200" b="1" dirty="0">
                <a:solidFill>
                  <a:srgbClr val="151515"/>
                </a:solidFill>
                <a:latin typeface="Malgun Gothic"/>
                <a:ea typeface="Malgun Gothic"/>
                <a:cs typeface="Malgun Gothic"/>
              </a:rPr>
              <a:t>1시 ~ 4시 직전</a:t>
            </a:r>
          </a:p>
        </p:txBody>
      </p:sp>
      <p:sp>
        <p:nvSpPr>
          <p:cNvPr id="29" name="직사각형 30"/>
          <p:cNvSpPr/>
          <p:nvPr/>
        </p:nvSpPr>
        <p:spPr>
          <a:xfrm>
            <a:off x="960120" y="3429000"/>
            <a:ext cx="169164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 6)</a:t>
            </a:r>
          </a:p>
        </p:txBody>
      </p:sp>
      <p:sp>
        <p:nvSpPr>
          <p:cNvPr id="30" name="직사각형 31"/>
          <p:cNvSpPr/>
          <p:nvPr/>
        </p:nvSpPr>
        <p:spPr>
          <a:xfrm>
            <a:off x="6400800" y="3429000"/>
            <a:ext cx="1828800" cy="36576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r>
              <a:rPr lang="ko-KR" altLang="en-US" sz="1200" b="1" dirty="0">
                <a:solidFill>
                  <a:srgbClr val="151515"/>
                </a:solidFill>
                <a:latin typeface="Malgun Gothic"/>
                <a:ea typeface="Malgun Gothic"/>
                <a:cs typeface="Malgun Gothic"/>
              </a:rPr>
              <a:t>4시부터</a:t>
            </a:r>
          </a:p>
        </p:txBody>
      </p:sp>
      <p:sp>
        <p:nvSpPr>
          <p:cNvPr id="31" name="직사각형 32"/>
          <p:cNvSpPr/>
          <p:nvPr/>
        </p:nvSpPr>
        <p:spPr>
          <a:xfrm>
            <a:off x="960120" y="3886200"/>
            <a:ext cx="169164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B23B3B"/>
                </a:solidFill>
                <a:latin typeface="Malgun Gothic"/>
                <a:ea typeface="Malgun Gothic"/>
                <a:cs typeface="Malgun Gothic"/>
              </a:rPr>
              <a:t>[3, 5)</a:t>
            </a:r>
          </a:p>
        </p:txBody>
      </p:sp>
      <p:sp>
        <p:nvSpPr>
          <p:cNvPr id="32" name="직사각형 33"/>
          <p:cNvSpPr/>
          <p:nvPr/>
        </p:nvSpPr>
        <p:spPr>
          <a:xfrm>
            <a:off x="5486400" y="3886200"/>
            <a:ext cx="1828800" cy="365760"/>
          </a:xfrm>
          <a:prstGeom prst="rect">
            <a:avLst/>
          </a:prstGeom>
          <a:solidFill>
            <a:srgbClr val="FBE1E1"/>
          </a:solidFill>
          <a:ln w="15875">
            <a:solidFill>
              <a:srgbClr val="B23B3B"/>
            </a:solidFill>
            <a:prstDash val="dash"/>
          </a:ln>
        </p:spPr>
        <p:txBody>
          <a:bodyPr wrap="square" lIns="0" tIns="0" rIns="0" bIns="0" anchor="ctr">
            <a:noAutofit/>
          </a:bodyPr>
          <a:lstStyle/>
          <a:p>
            <a:pPr algn="ctr" eaLnBrk="0" latinLnBrk="0">
              <a:lnSpc>
                <a:spcPct val="100000"/>
              </a:lnSpc>
              <a:buNone/>
            </a:pPr>
            <a:endParaRPr lang="ko-KR" sz="1200"/>
          </a:p>
        </p:txBody>
      </p:sp>
      <p:sp>
        <p:nvSpPr>
          <p:cNvPr id="33" name="직사각형 34"/>
          <p:cNvSpPr/>
          <p:nvPr/>
        </p:nvSpPr>
        <p:spPr>
          <a:xfrm>
            <a:off x="5577840" y="4370832"/>
            <a:ext cx="164592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425" b="1" dirty="0">
                <a:solidFill>
                  <a:srgbClr val="B8651B"/>
                </a:solidFill>
                <a:latin typeface="Malgun Gothic"/>
                <a:ea typeface="Malgun Gothic"/>
                <a:cs typeface="Malgun Gothic"/>
              </a:rPr>
              <a:t>4시</a:t>
            </a:r>
          </a:p>
        </p:txBody>
      </p:sp>
      <p:sp>
        <p:nvSpPr>
          <p:cNvPr id="34" name="직사각형 35"/>
          <p:cNvSpPr/>
          <p:nvPr/>
        </p:nvSpPr>
        <p:spPr>
          <a:xfrm>
            <a:off x="9418320" y="2971800"/>
            <a:ext cx="2148840" cy="365760"/>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0E8A7D"/>
                </a:solidFill>
                <a:latin typeface="Malgun Gothic"/>
                <a:ea typeface="Malgun Gothic"/>
                <a:cs typeface="Malgun Gothic"/>
              </a:rPr>
              <a:t>함께 고를 수 있음</a:t>
            </a:r>
          </a:p>
        </p:txBody>
      </p:sp>
      <p:sp>
        <p:nvSpPr>
          <p:cNvPr id="35" name="직사각형 36"/>
          <p:cNvSpPr/>
          <p:nvPr/>
        </p:nvSpPr>
        <p:spPr>
          <a:xfrm>
            <a:off x="9418320" y="3429000"/>
            <a:ext cx="2148840" cy="365760"/>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0E8A7D"/>
                </a:solidFill>
                <a:latin typeface="Malgun Gothic"/>
                <a:ea typeface="Malgun Gothic"/>
                <a:cs typeface="Malgun Gothic"/>
              </a:rPr>
              <a:t>4 ≥ 4</a:t>
            </a:r>
          </a:p>
        </p:txBody>
      </p:sp>
      <p:sp>
        <p:nvSpPr>
          <p:cNvPr id="36" name="직사각형 37"/>
          <p:cNvSpPr/>
          <p:nvPr/>
        </p:nvSpPr>
        <p:spPr>
          <a:xfrm>
            <a:off x="9418320" y="3886200"/>
            <a:ext cx="2148840" cy="365760"/>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B23B3B"/>
                </a:solidFill>
                <a:latin typeface="Malgun Gothic"/>
                <a:ea typeface="Malgun Gothic"/>
                <a:cs typeface="Malgun Gothic"/>
              </a:rPr>
              <a:t>둘 모두와 겹침</a:t>
            </a:r>
          </a:p>
        </p:txBody>
      </p:sp>
      <p:sp>
        <p:nvSpPr>
          <p:cNvPr id="37" name="fit:13ebb2f6b3475686 38"/>
          <p:cNvSpPr/>
          <p:nvPr/>
        </p:nvSpPr>
        <p:spPr>
          <a:xfrm>
            <a:off x="612648" y="4828032"/>
            <a:ext cx="10972800"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규칙: 다음 회의의 시작 ≥ 앞 회의의 종료이면 겹치지 않습니다.</a:t>
            </a:r>
          </a:p>
        </p:txBody>
      </p:sp>
      <p:sp>
        <p:nvSpPr>
          <p:cNvPr id="38" name="fit:324d16a96fbc7491 39"/>
          <p:cNvSpPr/>
          <p:nvPr/>
        </p:nvSpPr>
        <p:spPr>
          <a:xfrm>
            <a:off x="612648" y="5285232"/>
            <a:ext cx="10972800" cy="566928"/>
          </a:xfrm>
          <a:prstGeom prst="rect">
            <a:avLst/>
          </a:prstGeom>
          <a:noFill/>
          <a:ln w="0">
            <a:noFill/>
          </a:ln>
        </p:spPr>
        <p:txBody>
          <a:bodyPr wrap="square" lIns="0" tIns="0" rIns="0" bIns="0" anchor="t">
            <a:noAutofit/>
          </a:bodyPr>
          <a:lstStyle/>
          <a:p>
            <a:pPr algn="l" eaLnBrk="0" latinLnBrk="0">
              <a:lnSpc>
                <a:spcPct val="105000"/>
              </a:lnSpc>
              <a:buNone/>
            </a:pPr>
            <a:r>
              <a:rPr lang="ko-KR" altLang="en-US" sz="1700" b="0" dirty="0">
                <a:solidFill>
                  <a:srgbClr val="171717"/>
                </a:solidFill>
                <a:latin typeface="Malgun Gothic"/>
                <a:ea typeface="Malgun Gothic"/>
                <a:cs typeface="Malgun Gothic"/>
              </a:rPr>
              <a:t>[1, 4)와 [4, 6)은 함께 고를 수 있습니다. 4시에 하나가 끝나고 다른 하나가 시작합니다.</a:t>
            </a:r>
          </a:p>
          <a:p>
            <a:pPr algn="l" eaLnBrk="0" latinLnBrk="0">
              <a:lnSpc>
                <a:spcPct val="105000"/>
              </a:lnSpc>
              <a:buNone/>
            </a:pPr>
            <a:r>
              <a:rPr lang="ko-KR" altLang="en-US" sz="1700" b="0" dirty="0">
                <a:solidFill>
                  <a:srgbClr val="171717"/>
                </a:solidFill>
                <a:latin typeface="Malgun Gothic"/>
                <a:ea typeface="Malgun Gothic"/>
                <a:cs typeface="Malgun Gothic"/>
              </a:rPr>
              <a:t>[3, 5)는 4시 전에 시작해 4시 뒤에 끝나므로 [1, 4), [4, 6) 둘 모두와 겹칩니다.</a:t>
            </a: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실패 ① 일찍 시작하는 회의부터? · 1개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22</a:t>
            </a:r>
            <a:endParaRPr lang="ko-KR" altLang="en-US" sz="1050" b="0" dirty="0">
              <a:solidFill>
                <a:srgbClr val="606060"/>
              </a:solidFill>
              <a:latin typeface="Malgun Gothic"/>
              <a:ea typeface="Malgun Gothic"/>
              <a:cs typeface="Malgun Gothic"/>
            </a:endParaRPr>
          </a:p>
        </p:txBody>
      </p:sp>
      <p:sp>
        <p:nvSpPr>
          <p:cNvPr id="9" name="fit:fb9de2c01a2a5a7e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시작이 빠른 순으로 보며 겹치지 않으면 고릅니다.</a:t>
            </a:r>
          </a:p>
          <a:p>
            <a:pPr algn="l" eaLnBrk="0" latinLnBrk="0">
              <a:lnSpc>
                <a:spcPct val="100000"/>
              </a:lnSpc>
              <a:buNone/>
            </a:pPr>
            <a:r>
              <a:rPr lang="ko-KR" altLang="en-US" sz="2025" b="0" dirty="0">
                <a:solidFill>
                  <a:srgbClr val="171717"/>
                </a:solidFill>
                <a:latin typeface="Malgun Gothic"/>
                <a:ea typeface="Malgun Gothic"/>
                <a:cs typeface="Malgun Gothic"/>
              </a:rPr>
              <a:t>[1, 10)을 먼저 고르자 나머지 둘이 모두 겹칩니다.</a:t>
            </a:r>
          </a:p>
        </p:txBody>
      </p:sp>
      <p:cxnSp>
        <p:nvCxnSpPr>
          <p:cNvPr id="10" name="연결선 11"/>
          <p:cNvCxnSpPr/>
          <p:nvPr/>
        </p:nvCxnSpPr>
        <p:spPr>
          <a:xfrm>
            <a:off x="2743200" y="2944368"/>
            <a:ext cx="0" cy="1444752"/>
          </a:xfrm>
          <a:prstGeom prst="line">
            <a:avLst/>
          </a:prstGeom>
          <a:ln w="6350">
            <a:solidFill>
              <a:srgbClr val="E6E6E6"/>
            </a:solidFill>
          </a:ln>
        </p:spPr>
      </p:cxnSp>
      <p:sp>
        <p:nvSpPr>
          <p:cNvPr id="11" name="직사각형 12"/>
          <p:cNvSpPr/>
          <p:nvPr/>
        </p:nvSpPr>
        <p:spPr>
          <a:xfrm>
            <a:off x="256032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2" name="연결선 13"/>
          <p:cNvCxnSpPr/>
          <p:nvPr/>
        </p:nvCxnSpPr>
        <p:spPr>
          <a:xfrm>
            <a:off x="3383280" y="2944368"/>
            <a:ext cx="0" cy="1444752"/>
          </a:xfrm>
          <a:prstGeom prst="line">
            <a:avLst/>
          </a:prstGeom>
          <a:ln w="6350">
            <a:solidFill>
              <a:srgbClr val="E6E6E6"/>
            </a:solidFill>
          </a:ln>
        </p:spPr>
      </p:cxnSp>
      <p:sp>
        <p:nvSpPr>
          <p:cNvPr id="13" name="직사각형 14"/>
          <p:cNvSpPr/>
          <p:nvPr/>
        </p:nvSpPr>
        <p:spPr>
          <a:xfrm>
            <a:off x="320040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4" name="연결선 15"/>
          <p:cNvCxnSpPr/>
          <p:nvPr/>
        </p:nvCxnSpPr>
        <p:spPr>
          <a:xfrm>
            <a:off x="4023360" y="2944368"/>
            <a:ext cx="0" cy="1444752"/>
          </a:xfrm>
          <a:prstGeom prst="line">
            <a:avLst/>
          </a:prstGeom>
          <a:ln w="6350">
            <a:solidFill>
              <a:srgbClr val="E6E6E6"/>
            </a:solidFill>
          </a:ln>
        </p:spPr>
      </p:cxnSp>
      <p:sp>
        <p:nvSpPr>
          <p:cNvPr id="15" name="직사각형 16"/>
          <p:cNvSpPr/>
          <p:nvPr/>
        </p:nvSpPr>
        <p:spPr>
          <a:xfrm>
            <a:off x="384048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6" name="연결선 17"/>
          <p:cNvCxnSpPr/>
          <p:nvPr/>
        </p:nvCxnSpPr>
        <p:spPr>
          <a:xfrm>
            <a:off x="4663440" y="2944368"/>
            <a:ext cx="0" cy="1444752"/>
          </a:xfrm>
          <a:prstGeom prst="line">
            <a:avLst/>
          </a:prstGeom>
          <a:ln w="6350">
            <a:solidFill>
              <a:srgbClr val="E6E6E6"/>
            </a:solidFill>
          </a:ln>
        </p:spPr>
      </p:cxnSp>
      <p:sp>
        <p:nvSpPr>
          <p:cNvPr id="17" name="직사각형 18"/>
          <p:cNvSpPr/>
          <p:nvPr/>
        </p:nvSpPr>
        <p:spPr>
          <a:xfrm>
            <a:off x="448056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8" name="연결선 19"/>
          <p:cNvCxnSpPr/>
          <p:nvPr/>
        </p:nvCxnSpPr>
        <p:spPr>
          <a:xfrm>
            <a:off x="5303520" y="2944368"/>
            <a:ext cx="0" cy="1444752"/>
          </a:xfrm>
          <a:prstGeom prst="line">
            <a:avLst/>
          </a:prstGeom>
          <a:ln w="6350">
            <a:solidFill>
              <a:srgbClr val="E6E6E6"/>
            </a:solidFill>
          </a:ln>
        </p:spPr>
      </p:cxnSp>
      <p:sp>
        <p:nvSpPr>
          <p:cNvPr id="19" name="직사각형 20"/>
          <p:cNvSpPr/>
          <p:nvPr/>
        </p:nvSpPr>
        <p:spPr>
          <a:xfrm>
            <a:off x="512064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0" name="연결선 21"/>
          <p:cNvCxnSpPr/>
          <p:nvPr/>
        </p:nvCxnSpPr>
        <p:spPr>
          <a:xfrm>
            <a:off x="5943600" y="2944368"/>
            <a:ext cx="0" cy="1444752"/>
          </a:xfrm>
          <a:prstGeom prst="line">
            <a:avLst/>
          </a:prstGeom>
          <a:ln w="6350">
            <a:solidFill>
              <a:srgbClr val="E6E6E6"/>
            </a:solidFill>
          </a:ln>
        </p:spPr>
      </p:cxnSp>
      <p:sp>
        <p:nvSpPr>
          <p:cNvPr id="21" name="직사각형 22"/>
          <p:cNvSpPr/>
          <p:nvPr/>
        </p:nvSpPr>
        <p:spPr>
          <a:xfrm>
            <a:off x="576072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2" name="연결선 23"/>
          <p:cNvCxnSpPr/>
          <p:nvPr/>
        </p:nvCxnSpPr>
        <p:spPr>
          <a:xfrm>
            <a:off x="6583680" y="2944368"/>
            <a:ext cx="0" cy="1444752"/>
          </a:xfrm>
          <a:prstGeom prst="line">
            <a:avLst/>
          </a:prstGeom>
          <a:ln w="6350">
            <a:solidFill>
              <a:srgbClr val="E6E6E6"/>
            </a:solidFill>
          </a:ln>
        </p:spPr>
      </p:cxnSp>
      <p:sp>
        <p:nvSpPr>
          <p:cNvPr id="23" name="직사각형 24"/>
          <p:cNvSpPr/>
          <p:nvPr/>
        </p:nvSpPr>
        <p:spPr>
          <a:xfrm>
            <a:off x="640080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4" name="연결선 25"/>
          <p:cNvCxnSpPr/>
          <p:nvPr/>
        </p:nvCxnSpPr>
        <p:spPr>
          <a:xfrm>
            <a:off x="7223760" y="2944368"/>
            <a:ext cx="0" cy="1444752"/>
          </a:xfrm>
          <a:prstGeom prst="line">
            <a:avLst/>
          </a:prstGeom>
          <a:ln w="6350">
            <a:solidFill>
              <a:srgbClr val="E6E6E6"/>
            </a:solidFill>
          </a:ln>
        </p:spPr>
      </p:cxnSp>
      <p:sp>
        <p:nvSpPr>
          <p:cNvPr id="25" name="직사각형 26"/>
          <p:cNvSpPr/>
          <p:nvPr/>
        </p:nvSpPr>
        <p:spPr>
          <a:xfrm>
            <a:off x="704088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6" name="연결선 27"/>
          <p:cNvCxnSpPr/>
          <p:nvPr/>
        </p:nvCxnSpPr>
        <p:spPr>
          <a:xfrm>
            <a:off x="7863840" y="2944368"/>
            <a:ext cx="0" cy="1444752"/>
          </a:xfrm>
          <a:prstGeom prst="line">
            <a:avLst/>
          </a:prstGeom>
          <a:ln w="6350">
            <a:solidFill>
              <a:srgbClr val="E6E6E6"/>
            </a:solidFill>
          </a:ln>
        </p:spPr>
      </p:cxnSp>
      <p:sp>
        <p:nvSpPr>
          <p:cNvPr id="27" name="직사각형 28"/>
          <p:cNvSpPr/>
          <p:nvPr/>
        </p:nvSpPr>
        <p:spPr>
          <a:xfrm>
            <a:off x="768096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28" name="연결선 29"/>
          <p:cNvCxnSpPr/>
          <p:nvPr/>
        </p:nvCxnSpPr>
        <p:spPr>
          <a:xfrm>
            <a:off x="8503920" y="2944368"/>
            <a:ext cx="0" cy="1444752"/>
          </a:xfrm>
          <a:prstGeom prst="line">
            <a:avLst/>
          </a:prstGeom>
          <a:ln w="6350">
            <a:solidFill>
              <a:srgbClr val="E6E6E6"/>
            </a:solidFill>
          </a:ln>
        </p:spPr>
      </p:cxnSp>
      <p:sp>
        <p:nvSpPr>
          <p:cNvPr id="29" name="직사각형 30"/>
          <p:cNvSpPr/>
          <p:nvPr/>
        </p:nvSpPr>
        <p:spPr>
          <a:xfrm>
            <a:off x="832104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30" name="연결선 31"/>
          <p:cNvCxnSpPr/>
          <p:nvPr/>
        </p:nvCxnSpPr>
        <p:spPr>
          <a:xfrm>
            <a:off x="9144000" y="2944368"/>
            <a:ext cx="0" cy="1444752"/>
          </a:xfrm>
          <a:prstGeom prst="line">
            <a:avLst/>
          </a:prstGeom>
          <a:ln w="6350">
            <a:solidFill>
              <a:srgbClr val="E6E6E6"/>
            </a:solidFill>
          </a:ln>
        </p:spPr>
      </p:cxnSp>
      <p:sp>
        <p:nvSpPr>
          <p:cNvPr id="31" name="직사각형 32"/>
          <p:cNvSpPr/>
          <p:nvPr/>
        </p:nvSpPr>
        <p:spPr>
          <a:xfrm>
            <a:off x="896112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32" name="연결선 33"/>
          <p:cNvCxnSpPr/>
          <p:nvPr/>
        </p:nvCxnSpPr>
        <p:spPr>
          <a:xfrm>
            <a:off x="9784080" y="2944368"/>
            <a:ext cx="0" cy="1444752"/>
          </a:xfrm>
          <a:prstGeom prst="line">
            <a:avLst/>
          </a:prstGeom>
          <a:ln w="6350">
            <a:solidFill>
              <a:srgbClr val="E6E6E6"/>
            </a:solidFill>
          </a:ln>
        </p:spPr>
      </p:cxnSp>
      <p:sp>
        <p:nvSpPr>
          <p:cNvPr id="33" name="직사각형 34"/>
          <p:cNvSpPr/>
          <p:nvPr/>
        </p:nvSpPr>
        <p:spPr>
          <a:xfrm>
            <a:off x="960120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cxnSp>
        <p:nvCxnSpPr>
          <p:cNvPr id="34" name="연결선 35"/>
          <p:cNvCxnSpPr/>
          <p:nvPr/>
        </p:nvCxnSpPr>
        <p:spPr>
          <a:xfrm>
            <a:off x="9144000" y="2926080"/>
            <a:ext cx="0" cy="1517904"/>
          </a:xfrm>
          <a:prstGeom prst="line">
            <a:avLst/>
          </a:prstGeom>
          <a:ln w="28575">
            <a:solidFill>
              <a:srgbClr val="B8651B"/>
            </a:solidFill>
            <a:prstDash val="dash"/>
          </a:ln>
        </p:spPr>
      </p:cxnSp>
      <p:sp>
        <p:nvSpPr>
          <p:cNvPr id="35" name="직사각형 36"/>
          <p:cNvSpPr/>
          <p:nvPr/>
        </p:nvSpPr>
        <p:spPr>
          <a:xfrm>
            <a:off x="960120" y="3063240"/>
            <a:ext cx="169164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1" dirty="0">
                <a:solidFill>
                  <a:srgbClr val="151515"/>
                </a:solidFill>
                <a:latin typeface="Malgun Gothic"/>
                <a:ea typeface="Malgun Gothic"/>
                <a:cs typeface="Malgun Gothic"/>
              </a:rPr>
              <a:t>[1, 10)</a:t>
            </a:r>
          </a:p>
        </p:txBody>
      </p:sp>
      <p:sp>
        <p:nvSpPr>
          <p:cNvPr id="36" name="직사각형 37"/>
          <p:cNvSpPr/>
          <p:nvPr/>
        </p:nvSpPr>
        <p:spPr>
          <a:xfrm>
            <a:off x="3383280" y="3063240"/>
            <a:ext cx="5760720" cy="365760"/>
          </a:xfrm>
          <a:prstGeom prst="rect">
            <a:avLst/>
          </a:prstGeom>
          <a:solidFill>
            <a:srgbClr val="FFF1C2"/>
          </a:solidFill>
          <a:ln w="15875">
            <a:solidFill>
              <a:srgbClr val="B8651B"/>
            </a:solidFill>
          </a:ln>
        </p:spPr>
        <p:txBody>
          <a:bodyPr wrap="square" lIns="0" tIns="0" rIns="0" bIns="0" anchor="ctr">
            <a:noAutofit/>
          </a:bodyPr>
          <a:lstStyle/>
          <a:p>
            <a:pPr algn="ctr" eaLnBrk="0" latinLnBrk="0">
              <a:lnSpc>
                <a:spcPct val="100000"/>
              </a:lnSpc>
              <a:buNone/>
            </a:pPr>
            <a:r>
              <a:rPr lang="ko-KR" altLang="en-US" sz="1200" b="1" dirty="0">
                <a:solidFill>
                  <a:srgbClr val="151515"/>
                </a:solidFill>
                <a:latin typeface="Malgun Gothic"/>
                <a:ea typeface="Malgun Gothic"/>
                <a:cs typeface="Malgun Gothic"/>
              </a:rPr>
              <a:t>① 선택</a:t>
            </a:r>
          </a:p>
        </p:txBody>
      </p:sp>
      <p:sp>
        <p:nvSpPr>
          <p:cNvPr id="37" name="직사각형 38"/>
          <p:cNvSpPr/>
          <p:nvPr/>
        </p:nvSpPr>
        <p:spPr>
          <a:xfrm>
            <a:off x="960120" y="3520440"/>
            <a:ext cx="169164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B23B3B"/>
                </a:solidFill>
                <a:latin typeface="Malgun Gothic"/>
                <a:ea typeface="Malgun Gothic"/>
                <a:cs typeface="Malgun Gothic"/>
              </a:rPr>
              <a:t>[2, 3)</a:t>
            </a:r>
          </a:p>
        </p:txBody>
      </p:sp>
      <p:sp>
        <p:nvSpPr>
          <p:cNvPr id="38" name="직사각형 39"/>
          <p:cNvSpPr/>
          <p:nvPr/>
        </p:nvSpPr>
        <p:spPr>
          <a:xfrm>
            <a:off x="4023360" y="3520440"/>
            <a:ext cx="640080" cy="365760"/>
          </a:xfrm>
          <a:prstGeom prst="rect">
            <a:avLst/>
          </a:prstGeom>
          <a:solidFill>
            <a:srgbClr val="FBE1E1"/>
          </a:solidFill>
          <a:ln w="15875">
            <a:solidFill>
              <a:srgbClr val="B23B3B"/>
            </a:solidFill>
            <a:prstDash val="dash"/>
          </a:ln>
        </p:spPr>
        <p:txBody>
          <a:bodyPr wrap="square" lIns="0" tIns="0" rIns="0" bIns="0" anchor="ctr">
            <a:noAutofit/>
          </a:bodyPr>
          <a:lstStyle/>
          <a:p>
            <a:pPr algn="ctr" eaLnBrk="0" latinLnBrk="0">
              <a:lnSpc>
                <a:spcPct val="100000"/>
              </a:lnSpc>
              <a:buNone/>
            </a:pPr>
            <a:r>
              <a:rPr lang="ko-KR" altLang="en-US" sz="1200" b="1" dirty="0">
                <a:solidFill>
                  <a:srgbClr val="B23B3B"/>
                </a:solidFill>
                <a:latin typeface="Malgun Gothic"/>
                <a:ea typeface="Malgun Gothic"/>
                <a:cs typeface="Malgun Gothic"/>
              </a:rPr>
              <a:t>②</a:t>
            </a:r>
          </a:p>
        </p:txBody>
      </p:sp>
      <p:sp>
        <p:nvSpPr>
          <p:cNvPr id="39" name="직사각형 40"/>
          <p:cNvSpPr/>
          <p:nvPr/>
        </p:nvSpPr>
        <p:spPr>
          <a:xfrm>
            <a:off x="960120" y="3977640"/>
            <a:ext cx="169164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B23B3B"/>
                </a:solidFill>
                <a:latin typeface="Malgun Gothic"/>
                <a:ea typeface="Malgun Gothic"/>
                <a:cs typeface="Malgun Gothic"/>
              </a:rPr>
              <a:t>[4, 5)</a:t>
            </a:r>
          </a:p>
        </p:txBody>
      </p:sp>
      <p:sp>
        <p:nvSpPr>
          <p:cNvPr id="40" name="직사각형 41"/>
          <p:cNvSpPr/>
          <p:nvPr/>
        </p:nvSpPr>
        <p:spPr>
          <a:xfrm>
            <a:off x="5303520" y="3977640"/>
            <a:ext cx="640080" cy="365760"/>
          </a:xfrm>
          <a:prstGeom prst="rect">
            <a:avLst/>
          </a:prstGeom>
          <a:solidFill>
            <a:srgbClr val="FBE1E1"/>
          </a:solidFill>
          <a:ln w="15875">
            <a:solidFill>
              <a:srgbClr val="B23B3B"/>
            </a:solidFill>
            <a:prstDash val="dash"/>
          </a:ln>
        </p:spPr>
        <p:txBody>
          <a:bodyPr wrap="square" lIns="0" tIns="0" rIns="0" bIns="0" anchor="ctr">
            <a:noAutofit/>
          </a:bodyPr>
          <a:lstStyle/>
          <a:p>
            <a:pPr algn="ctr" eaLnBrk="0" latinLnBrk="0">
              <a:lnSpc>
                <a:spcPct val="100000"/>
              </a:lnSpc>
              <a:buNone/>
            </a:pPr>
            <a:r>
              <a:rPr lang="ko-KR" altLang="en-US" sz="1200" b="1" dirty="0">
                <a:solidFill>
                  <a:srgbClr val="B23B3B"/>
                </a:solidFill>
                <a:latin typeface="Malgun Gothic"/>
                <a:ea typeface="Malgun Gothic"/>
                <a:cs typeface="Malgun Gothic"/>
              </a:rPr>
              <a:t>③</a:t>
            </a:r>
          </a:p>
        </p:txBody>
      </p:sp>
      <p:sp>
        <p:nvSpPr>
          <p:cNvPr id="41" name="직사각형 42"/>
          <p:cNvSpPr/>
          <p:nvPr/>
        </p:nvSpPr>
        <p:spPr>
          <a:xfrm>
            <a:off x="8321040" y="4462272"/>
            <a:ext cx="164592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425" b="1" dirty="0">
                <a:solidFill>
                  <a:srgbClr val="B8651B"/>
                </a:solidFill>
                <a:latin typeface="Malgun Gothic"/>
                <a:ea typeface="Malgun Gothic"/>
                <a:cs typeface="Malgun Gothic"/>
              </a:rPr>
              <a:t>10시까지 사용 중</a:t>
            </a:r>
          </a:p>
        </p:txBody>
      </p:sp>
      <p:sp>
        <p:nvSpPr>
          <p:cNvPr id="42" name="직사각형 43"/>
          <p:cNvSpPr/>
          <p:nvPr/>
        </p:nvSpPr>
        <p:spPr>
          <a:xfrm>
            <a:off x="2743200" y="5120640"/>
            <a:ext cx="3291840" cy="512064"/>
          </a:xfrm>
          <a:prstGeom prst="rect">
            <a:avLst/>
          </a:prstGeom>
          <a:solidFill>
            <a:srgbClr val="FBE1E1"/>
          </a:solidFill>
          <a:ln w="0">
            <a:noFill/>
          </a:ln>
        </p:spPr>
        <p:txBody>
          <a:bodyPr wrap="square" lIns="0" tIns="0" rIns="0" bIns="0" anchor="ctr">
            <a:noAutofit/>
          </a:bodyPr>
          <a:lstStyle/>
          <a:p>
            <a:pPr algn="ctr" eaLnBrk="0" latinLnBrk="0">
              <a:lnSpc>
                <a:spcPct val="100000"/>
              </a:lnSpc>
              <a:buNone/>
            </a:pPr>
            <a:r>
              <a:rPr lang="ko-KR" altLang="en-US" sz="1800" b="1" dirty="0">
                <a:solidFill>
                  <a:srgbClr val="B23B3B"/>
                </a:solidFill>
                <a:latin typeface="Malgun Gothic"/>
                <a:ea typeface="Malgun Gothic"/>
                <a:cs typeface="Malgun Gothic"/>
              </a:rPr>
              <a:t>시작 순 그리디: 1개</a:t>
            </a:r>
          </a:p>
        </p:txBody>
      </p:sp>
      <p:sp>
        <p:nvSpPr>
          <p:cNvPr id="43" name="직사각형 44"/>
          <p:cNvSpPr/>
          <p:nvPr/>
        </p:nvSpPr>
        <p:spPr>
          <a:xfrm>
            <a:off x="9966960" y="3063240"/>
            <a:ext cx="1600200" cy="365760"/>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B8651B"/>
                </a:solidFill>
                <a:latin typeface="Malgun Gothic"/>
                <a:ea typeface="Malgun Gothic"/>
                <a:cs typeface="Malgun Gothic"/>
              </a:rPr>
              <a:t>① 처음이라 고름</a:t>
            </a:r>
          </a:p>
        </p:txBody>
      </p:sp>
      <p:sp>
        <p:nvSpPr>
          <p:cNvPr id="44" name="직사각형 45"/>
          <p:cNvSpPr/>
          <p:nvPr/>
        </p:nvSpPr>
        <p:spPr>
          <a:xfrm>
            <a:off x="9966960" y="3520440"/>
            <a:ext cx="1600200" cy="365760"/>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B23B3B"/>
                </a:solidFill>
                <a:latin typeface="Malgun Gothic"/>
                <a:ea typeface="Malgun Gothic"/>
                <a:cs typeface="Malgun Gothic"/>
              </a:rPr>
              <a:t>② 2시 &lt; 10시</a:t>
            </a:r>
          </a:p>
        </p:txBody>
      </p:sp>
      <p:sp>
        <p:nvSpPr>
          <p:cNvPr id="45" name="직사각형 46"/>
          <p:cNvSpPr/>
          <p:nvPr/>
        </p:nvSpPr>
        <p:spPr>
          <a:xfrm>
            <a:off x="9966960" y="3977640"/>
            <a:ext cx="1600200" cy="365760"/>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B23B3B"/>
                </a:solidFill>
                <a:latin typeface="Malgun Gothic"/>
                <a:ea typeface="Malgun Gothic"/>
                <a:cs typeface="Malgun Gothic"/>
              </a:rPr>
              <a:t>③ 4시 &lt; 10시</a:t>
            </a:r>
          </a:p>
        </p:txBody>
      </p:sp>
      <p:sp>
        <p:nvSpPr>
          <p:cNvPr id="46" name="직사각형 47"/>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고른 회의    빨강 점선: 겹쳐서 버린 회의    주황 점선: 회의실이 비는 시각</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반례 완성: 시작 순 1개 &lt; 최적 2개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23</a:t>
            </a:r>
            <a:endParaRPr lang="ko-KR" altLang="en-US" sz="1050" b="0" dirty="0">
              <a:solidFill>
                <a:srgbClr val="606060"/>
              </a:solidFill>
              <a:latin typeface="Malgun Gothic"/>
              <a:ea typeface="Malgun Gothic"/>
              <a:cs typeface="Malgun Gothic"/>
            </a:endParaRPr>
          </a:p>
        </p:txBody>
      </p:sp>
      <p:sp>
        <p:nvSpPr>
          <p:cNvPr id="9" name="fit:4e0d4a5aaa26d0e1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[1, 10)을 버리면 [2, 3)과 [4, 5)를 함께 넣을 수 있습니다.</a:t>
            </a:r>
          </a:p>
          <a:p>
            <a:pPr algn="l" eaLnBrk="0" latinLnBrk="0">
              <a:lnSpc>
                <a:spcPct val="100000"/>
              </a:lnSpc>
              <a:buNone/>
            </a:pPr>
            <a:r>
              <a:rPr lang="ko-KR" altLang="en-US" sz="2025" b="0" dirty="0">
                <a:solidFill>
                  <a:srgbClr val="171717"/>
                </a:solidFill>
                <a:latin typeface="Malgun Gothic"/>
                <a:ea typeface="Malgun Gothic"/>
                <a:cs typeface="Malgun Gothic"/>
              </a:rPr>
              <a:t>그리디 1개 &lt; 최적 2개, 이 기준은 최적을 보장하지 않습니다.</a:t>
            </a:r>
          </a:p>
        </p:txBody>
      </p:sp>
      <p:sp>
        <p:nvSpPr>
          <p:cNvPr id="10" name="직사각형 11"/>
          <p:cNvSpPr/>
          <p:nvPr/>
        </p:nvSpPr>
        <p:spPr>
          <a:xfrm>
            <a:off x="612648" y="2450592"/>
            <a:ext cx="10972800" cy="256032"/>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171717"/>
                </a:solidFill>
                <a:latin typeface="Malgun Gothic"/>
                <a:ea typeface="Malgun Gothic"/>
                <a:cs typeface="Malgun Gothic"/>
              </a:rPr>
              <a:t>시작 순 그리디: [1, 10) 하나</a:t>
            </a:r>
          </a:p>
        </p:txBody>
      </p:sp>
      <p:cxnSp>
        <p:nvCxnSpPr>
          <p:cNvPr id="11" name="연결선 12"/>
          <p:cNvCxnSpPr/>
          <p:nvPr/>
        </p:nvCxnSpPr>
        <p:spPr>
          <a:xfrm>
            <a:off x="2743200" y="2944368"/>
            <a:ext cx="0" cy="1170432"/>
          </a:xfrm>
          <a:prstGeom prst="line">
            <a:avLst/>
          </a:prstGeom>
          <a:ln w="6350">
            <a:solidFill>
              <a:srgbClr val="E6E6E6"/>
            </a:solidFill>
          </a:ln>
        </p:spPr>
      </p:cxnSp>
      <p:sp>
        <p:nvSpPr>
          <p:cNvPr id="12" name="직사각형 13"/>
          <p:cNvSpPr/>
          <p:nvPr/>
        </p:nvSpPr>
        <p:spPr>
          <a:xfrm>
            <a:off x="256032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3" name="연결선 14"/>
          <p:cNvCxnSpPr/>
          <p:nvPr/>
        </p:nvCxnSpPr>
        <p:spPr>
          <a:xfrm>
            <a:off x="3383280" y="2944368"/>
            <a:ext cx="0" cy="1170432"/>
          </a:xfrm>
          <a:prstGeom prst="line">
            <a:avLst/>
          </a:prstGeom>
          <a:ln w="6350">
            <a:solidFill>
              <a:srgbClr val="E6E6E6"/>
            </a:solidFill>
          </a:ln>
        </p:spPr>
      </p:cxnSp>
      <p:sp>
        <p:nvSpPr>
          <p:cNvPr id="14" name="직사각형 15"/>
          <p:cNvSpPr/>
          <p:nvPr/>
        </p:nvSpPr>
        <p:spPr>
          <a:xfrm>
            <a:off x="320040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5" name="연결선 16"/>
          <p:cNvCxnSpPr/>
          <p:nvPr/>
        </p:nvCxnSpPr>
        <p:spPr>
          <a:xfrm>
            <a:off x="4023360" y="2944368"/>
            <a:ext cx="0" cy="1170432"/>
          </a:xfrm>
          <a:prstGeom prst="line">
            <a:avLst/>
          </a:prstGeom>
          <a:ln w="6350">
            <a:solidFill>
              <a:srgbClr val="E6E6E6"/>
            </a:solidFill>
          </a:ln>
        </p:spPr>
      </p:cxnSp>
      <p:sp>
        <p:nvSpPr>
          <p:cNvPr id="16" name="직사각형 17"/>
          <p:cNvSpPr/>
          <p:nvPr/>
        </p:nvSpPr>
        <p:spPr>
          <a:xfrm>
            <a:off x="384048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7" name="연결선 18"/>
          <p:cNvCxnSpPr/>
          <p:nvPr/>
        </p:nvCxnSpPr>
        <p:spPr>
          <a:xfrm>
            <a:off x="4663440" y="2944368"/>
            <a:ext cx="0" cy="1170432"/>
          </a:xfrm>
          <a:prstGeom prst="line">
            <a:avLst/>
          </a:prstGeom>
          <a:ln w="6350">
            <a:solidFill>
              <a:srgbClr val="E6E6E6"/>
            </a:solidFill>
          </a:ln>
        </p:spPr>
      </p:cxnSp>
      <p:sp>
        <p:nvSpPr>
          <p:cNvPr id="18" name="직사각형 19"/>
          <p:cNvSpPr/>
          <p:nvPr/>
        </p:nvSpPr>
        <p:spPr>
          <a:xfrm>
            <a:off x="448056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9" name="연결선 20"/>
          <p:cNvCxnSpPr/>
          <p:nvPr/>
        </p:nvCxnSpPr>
        <p:spPr>
          <a:xfrm>
            <a:off x="5303520" y="2944368"/>
            <a:ext cx="0" cy="1170432"/>
          </a:xfrm>
          <a:prstGeom prst="line">
            <a:avLst/>
          </a:prstGeom>
          <a:ln w="6350">
            <a:solidFill>
              <a:srgbClr val="E6E6E6"/>
            </a:solidFill>
          </a:ln>
        </p:spPr>
      </p:cxnSp>
      <p:sp>
        <p:nvSpPr>
          <p:cNvPr id="20" name="직사각형 21"/>
          <p:cNvSpPr/>
          <p:nvPr/>
        </p:nvSpPr>
        <p:spPr>
          <a:xfrm>
            <a:off x="512064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1" name="연결선 22"/>
          <p:cNvCxnSpPr/>
          <p:nvPr/>
        </p:nvCxnSpPr>
        <p:spPr>
          <a:xfrm>
            <a:off x="5943600" y="2944368"/>
            <a:ext cx="0" cy="1170432"/>
          </a:xfrm>
          <a:prstGeom prst="line">
            <a:avLst/>
          </a:prstGeom>
          <a:ln w="6350">
            <a:solidFill>
              <a:srgbClr val="E6E6E6"/>
            </a:solidFill>
          </a:ln>
        </p:spPr>
      </p:cxnSp>
      <p:sp>
        <p:nvSpPr>
          <p:cNvPr id="22" name="직사각형 23"/>
          <p:cNvSpPr/>
          <p:nvPr/>
        </p:nvSpPr>
        <p:spPr>
          <a:xfrm>
            <a:off x="576072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3" name="연결선 24"/>
          <p:cNvCxnSpPr/>
          <p:nvPr/>
        </p:nvCxnSpPr>
        <p:spPr>
          <a:xfrm>
            <a:off x="6583680" y="2944368"/>
            <a:ext cx="0" cy="1170432"/>
          </a:xfrm>
          <a:prstGeom prst="line">
            <a:avLst/>
          </a:prstGeom>
          <a:ln w="6350">
            <a:solidFill>
              <a:srgbClr val="E6E6E6"/>
            </a:solidFill>
          </a:ln>
        </p:spPr>
      </p:cxnSp>
      <p:sp>
        <p:nvSpPr>
          <p:cNvPr id="24" name="직사각형 25"/>
          <p:cNvSpPr/>
          <p:nvPr/>
        </p:nvSpPr>
        <p:spPr>
          <a:xfrm>
            <a:off x="640080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5" name="연결선 26"/>
          <p:cNvCxnSpPr/>
          <p:nvPr/>
        </p:nvCxnSpPr>
        <p:spPr>
          <a:xfrm>
            <a:off x="7223760" y="2944368"/>
            <a:ext cx="0" cy="1170432"/>
          </a:xfrm>
          <a:prstGeom prst="line">
            <a:avLst/>
          </a:prstGeom>
          <a:ln w="6350">
            <a:solidFill>
              <a:srgbClr val="E6E6E6"/>
            </a:solidFill>
          </a:ln>
        </p:spPr>
      </p:cxnSp>
      <p:sp>
        <p:nvSpPr>
          <p:cNvPr id="26" name="직사각형 27"/>
          <p:cNvSpPr/>
          <p:nvPr/>
        </p:nvSpPr>
        <p:spPr>
          <a:xfrm>
            <a:off x="704088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7" name="연결선 28"/>
          <p:cNvCxnSpPr/>
          <p:nvPr/>
        </p:nvCxnSpPr>
        <p:spPr>
          <a:xfrm>
            <a:off x="7863840" y="2944368"/>
            <a:ext cx="0" cy="1170432"/>
          </a:xfrm>
          <a:prstGeom prst="line">
            <a:avLst/>
          </a:prstGeom>
          <a:ln w="6350">
            <a:solidFill>
              <a:srgbClr val="E6E6E6"/>
            </a:solidFill>
          </a:ln>
        </p:spPr>
      </p:cxnSp>
      <p:sp>
        <p:nvSpPr>
          <p:cNvPr id="28" name="직사각형 29"/>
          <p:cNvSpPr/>
          <p:nvPr/>
        </p:nvSpPr>
        <p:spPr>
          <a:xfrm>
            <a:off x="768096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29" name="연결선 30"/>
          <p:cNvCxnSpPr/>
          <p:nvPr/>
        </p:nvCxnSpPr>
        <p:spPr>
          <a:xfrm>
            <a:off x="8503920" y="2944368"/>
            <a:ext cx="0" cy="1170432"/>
          </a:xfrm>
          <a:prstGeom prst="line">
            <a:avLst/>
          </a:prstGeom>
          <a:ln w="6350">
            <a:solidFill>
              <a:srgbClr val="E6E6E6"/>
            </a:solidFill>
          </a:ln>
        </p:spPr>
      </p:cxnSp>
      <p:sp>
        <p:nvSpPr>
          <p:cNvPr id="30" name="직사각형 31"/>
          <p:cNvSpPr/>
          <p:nvPr/>
        </p:nvSpPr>
        <p:spPr>
          <a:xfrm>
            <a:off x="832104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31" name="연결선 32"/>
          <p:cNvCxnSpPr/>
          <p:nvPr/>
        </p:nvCxnSpPr>
        <p:spPr>
          <a:xfrm>
            <a:off x="9144000" y="2944368"/>
            <a:ext cx="0" cy="1170432"/>
          </a:xfrm>
          <a:prstGeom prst="line">
            <a:avLst/>
          </a:prstGeom>
          <a:ln w="6350">
            <a:solidFill>
              <a:srgbClr val="E6E6E6"/>
            </a:solidFill>
          </a:ln>
        </p:spPr>
      </p:cxnSp>
      <p:sp>
        <p:nvSpPr>
          <p:cNvPr id="32" name="직사각형 33"/>
          <p:cNvSpPr/>
          <p:nvPr/>
        </p:nvSpPr>
        <p:spPr>
          <a:xfrm>
            <a:off x="896112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33" name="연결선 34"/>
          <p:cNvCxnSpPr/>
          <p:nvPr/>
        </p:nvCxnSpPr>
        <p:spPr>
          <a:xfrm>
            <a:off x="9784080" y="2944368"/>
            <a:ext cx="0" cy="1170432"/>
          </a:xfrm>
          <a:prstGeom prst="line">
            <a:avLst/>
          </a:prstGeom>
          <a:ln w="6350">
            <a:solidFill>
              <a:srgbClr val="E6E6E6"/>
            </a:solidFill>
          </a:ln>
        </p:spPr>
      </p:cxnSp>
      <p:sp>
        <p:nvSpPr>
          <p:cNvPr id="34" name="직사각형 35"/>
          <p:cNvSpPr/>
          <p:nvPr/>
        </p:nvSpPr>
        <p:spPr>
          <a:xfrm>
            <a:off x="9601200" y="27066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sp>
        <p:nvSpPr>
          <p:cNvPr id="35" name="직사각형 36"/>
          <p:cNvSpPr/>
          <p:nvPr/>
        </p:nvSpPr>
        <p:spPr>
          <a:xfrm>
            <a:off x="960120" y="306324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1" dirty="0">
                <a:solidFill>
                  <a:srgbClr val="151515"/>
                </a:solidFill>
                <a:latin typeface="Malgun Gothic"/>
                <a:ea typeface="Malgun Gothic"/>
                <a:cs typeface="Malgun Gothic"/>
              </a:rPr>
              <a:t>[1, 10)</a:t>
            </a:r>
          </a:p>
        </p:txBody>
      </p:sp>
      <p:sp>
        <p:nvSpPr>
          <p:cNvPr id="36" name="직사각형 37"/>
          <p:cNvSpPr/>
          <p:nvPr/>
        </p:nvSpPr>
        <p:spPr>
          <a:xfrm>
            <a:off x="3383280" y="3063240"/>
            <a:ext cx="5760720" cy="274320"/>
          </a:xfrm>
          <a:prstGeom prst="rect">
            <a:avLst/>
          </a:prstGeom>
          <a:solidFill>
            <a:srgbClr val="FFF1C2"/>
          </a:solidFill>
          <a:ln w="15875">
            <a:solidFill>
              <a:srgbClr val="B8651B"/>
            </a:solidFill>
          </a:ln>
        </p:spPr>
        <p:txBody>
          <a:bodyPr wrap="square" lIns="0" tIns="0" rIns="0" bIns="0" anchor="ctr">
            <a:noAutofit/>
          </a:bodyPr>
          <a:lstStyle/>
          <a:p>
            <a:pPr algn="ctr" eaLnBrk="0" latinLnBrk="0">
              <a:lnSpc>
                <a:spcPct val="100000"/>
              </a:lnSpc>
              <a:buNone/>
            </a:pPr>
            <a:endParaRPr lang="ko-KR" sz="1200"/>
          </a:p>
        </p:txBody>
      </p:sp>
      <p:sp>
        <p:nvSpPr>
          <p:cNvPr id="37" name="직사각형 38"/>
          <p:cNvSpPr/>
          <p:nvPr/>
        </p:nvSpPr>
        <p:spPr>
          <a:xfrm>
            <a:off x="960120" y="342900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AAAAAA"/>
                </a:solidFill>
                <a:latin typeface="Malgun Gothic"/>
                <a:ea typeface="Malgun Gothic"/>
                <a:cs typeface="Malgun Gothic"/>
              </a:rPr>
              <a:t>[2, 3)</a:t>
            </a:r>
          </a:p>
        </p:txBody>
      </p:sp>
      <p:sp>
        <p:nvSpPr>
          <p:cNvPr id="38" name="직사각형 39"/>
          <p:cNvSpPr/>
          <p:nvPr/>
        </p:nvSpPr>
        <p:spPr>
          <a:xfrm>
            <a:off x="4023360" y="3429000"/>
            <a:ext cx="640080" cy="274320"/>
          </a:xfrm>
          <a:prstGeom prst="rect">
            <a:avLst/>
          </a:prstGeom>
          <a:solidFill>
            <a:srgbClr val="F6F6F6"/>
          </a:solidFill>
          <a:ln w="15875">
            <a:solidFill>
              <a:srgbClr val="E0E0E0"/>
            </a:solidFill>
          </a:ln>
        </p:spPr>
        <p:txBody>
          <a:bodyPr wrap="square" lIns="0" tIns="0" rIns="0" bIns="0" anchor="ctr">
            <a:noAutofit/>
          </a:bodyPr>
          <a:lstStyle/>
          <a:p>
            <a:pPr algn="ctr" eaLnBrk="0" latinLnBrk="0">
              <a:lnSpc>
                <a:spcPct val="100000"/>
              </a:lnSpc>
              <a:buNone/>
            </a:pPr>
            <a:endParaRPr lang="ko-KR" sz="1200"/>
          </a:p>
        </p:txBody>
      </p:sp>
      <p:sp>
        <p:nvSpPr>
          <p:cNvPr id="39" name="직사각형 40"/>
          <p:cNvSpPr/>
          <p:nvPr/>
        </p:nvSpPr>
        <p:spPr>
          <a:xfrm>
            <a:off x="960120" y="379476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AAAAAA"/>
                </a:solidFill>
                <a:latin typeface="Malgun Gothic"/>
                <a:ea typeface="Malgun Gothic"/>
                <a:cs typeface="Malgun Gothic"/>
              </a:rPr>
              <a:t>[4, 5)</a:t>
            </a:r>
          </a:p>
        </p:txBody>
      </p:sp>
      <p:sp>
        <p:nvSpPr>
          <p:cNvPr id="40" name="직사각형 41"/>
          <p:cNvSpPr/>
          <p:nvPr/>
        </p:nvSpPr>
        <p:spPr>
          <a:xfrm>
            <a:off x="5303520" y="3794760"/>
            <a:ext cx="640080" cy="274320"/>
          </a:xfrm>
          <a:prstGeom prst="rect">
            <a:avLst/>
          </a:prstGeom>
          <a:solidFill>
            <a:srgbClr val="F6F6F6"/>
          </a:solidFill>
          <a:ln w="15875">
            <a:solidFill>
              <a:srgbClr val="E0E0E0"/>
            </a:solidFill>
          </a:ln>
        </p:spPr>
        <p:txBody>
          <a:bodyPr wrap="square" lIns="0" tIns="0" rIns="0" bIns="0" anchor="ctr">
            <a:noAutofit/>
          </a:bodyPr>
          <a:lstStyle/>
          <a:p>
            <a:pPr algn="ctr" eaLnBrk="0" latinLnBrk="0">
              <a:lnSpc>
                <a:spcPct val="100000"/>
              </a:lnSpc>
              <a:buNone/>
            </a:pPr>
            <a:endParaRPr lang="ko-KR" sz="1200"/>
          </a:p>
        </p:txBody>
      </p:sp>
      <p:sp>
        <p:nvSpPr>
          <p:cNvPr id="41" name="직사각형 42"/>
          <p:cNvSpPr/>
          <p:nvPr/>
        </p:nvSpPr>
        <p:spPr>
          <a:xfrm>
            <a:off x="612648" y="4279392"/>
            <a:ext cx="10972800" cy="256032"/>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171717"/>
                </a:solidFill>
                <a:latin typeface="Malgun Gothic"/>
                <a:ea typeface="Malgun Gothic"/>
                <a:cs typeface="Malgun Gothic"/>
              </a:rPr>
              <a:t>최적: [2, 3)과 [4, 5) 두 개</a:t>
            </a:r>
          </a:p>
        </p:txBody>
      </p:sp>
      <p:cxnSp>
        <p:nvCxnSpPr>
          <p:cNvPr id="42" name="연결선 43"/>
          <p:cNvCxnSpPr/>
          <p:nvPr/>
        </p:nvCxnSpPr>
        <p:spPr>
          <a:xfrm>
            <a:off x="2743200" y="4773168"/>
            <a:ext cx="0" cy="1170432"/>
          </a:xfrm>
          <a:prstGeom prst="line">
            <a:avLst/>
          </a:prstGeom>
          <a:ln w="6350">
            <a:solidFill>
              <a:srgbClr val="E6E6E6"/>
            </a:solidFill>
          </a:ln>
        </p:spPr>
      </p:cxnSp>
      <p:sp>
        <p:nvSpPr>
          <p:cNvPr id="43" name="직사각형 44"/>
          <p:cNvSpPr/>
          <p:nvPr/>
        </p:nvSpPr>
        <p:spPr>
          <a:xfrm>
            <a:off x="256032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44" name="연결선 45"/>
          <p:cNvCxnSpPr/>
          <p:nvPr/>
        </p:nvCxnSpPr>
        <p:spPr>
          <a:xfrm>
            <a:off x="3383280" y="4773168"/>
            <a:ext cx="0" cy="1170432"/>
          </a:xfrm>
          <a:prstGeom prst="line">
            <a:avLst/>
          </a:prstGeom>
          <a:ln w="6350">
            <a:solidFill>
              <a:srgbClr val="E6E6E6"/>
            </a:solidFill>
          </a:ln>
        </p:spPr>
      </p:cxnSp>
      <p:sp>
        <p:nvSpPr>
          <p:cNvPr id="45" name="직사각형 46"/>
          <p:cNvSpPr/>
          <p:nvPr/>
        </p:nvSpPr>
        <p:spPr>
          <a:xfrm>
            <a:off x="320040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46" name="연결선 47"/>
          <p:cNvCxnSpPr/>
          <p:nvPr/>
        </p:nvCxnSpPr>
        <p:spPr>
          <a:xfrm>
            <a:off x="4023360" y="4773168"/>
            <a:ext cx="0" cy="1170432"/>
          </a:xfrm>
          <a:prstGeom prst="line">
            <a:avLst/>
          </a:prstGeom>
          <a:ln w="6350">
            <a:solidFill>
              <a:srgbClr val="E6E6E6"/>
            </a:solidFill>
          </a:ln>
        </p:spPr>
      </p:cxnSp>
      <p:sp>
        <p:nvSpPr>
          <p:cNvPr id="47" name="직사각형 48"/>
          <p:cNvSpPr/>
          <p:nvPr/>
        </p:nvSpPr>
        <p:spPr>
          <a:xfrm>
            <a:off x="384048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48" name="연결선 49"/>
          <p:cNvCxnSpPr/>
          <p:nvPr/>
        </p:nvCxnSpPr>
        <p:spPr>
          <a:xfrm>
            <a:off x="4663440" y="4773168"/>
            <a:ext cx="0" cy="1170432"/>
          </a:xfrm>
          <a:prstGeom prst="line">
            <a:avLst/>
          </a:prstGeom>
          <a:ln w="6350">
            <a:solidFill>
              <a:srgbClr val="E6E6E6"/>
            </a:solidFill>
          </a:ln>
        </p:spPr>
      </p:cxnSp>
      <p:sp>
        <p:nvSpPr>
          <p:cNvPr id="49" name="직사각형 50"/>
          <p:cNvSpPr/>
          <p:nvPr/>
        </p:nvSpPr>
        <p:spPr>
          <a:xfrm>
            <a:off x="448056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50" name="연결선 51"/>
          <p:cNvCxnSpPr/>
          <p:nvPr/>
        </p:nvCxnSpPr>
        <p:spPr>
          <a:xfrm>
            <a:off x="5303520" y="4773168"/>
            <a:ext cx="0" cy="1170432"/>
          </a:xfrm>
          <a:prstGeom prst="line">
            <a:avLst/>
          </a:prstGeom>
          <a:ln w="6350">
            <a:solidFill>
              <a:srgbClr val="E6E6E6"/>
            </a:solidFill>
          </a:ln>
        </p:spPr>
      </p:cxnSp>
      <p:sp>
        <p:nvSpPr>
          <p:cNvPr id="51" name="직사각형 52"/>
          <p:cNvSpPr/>
          <p:nvPr/>
        </p:nvSpPr>
        <p:spPr>
          <a:xfrm>
            <a:off x="512064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52" name="연결선 53"/>
          <p:cNvCxnSpPr/>
          <p:nvPr/>
        </p:nvCxnSpPr>
        <p:spPr>
          <a:xfrm>
            <a:off x="5943600" y="4773168"/>
            <a:ext cx="0" cy="1170432"/>
          </a:xfrm>
          <a:prstGeom prst="line">
            <a:avLst/>
          </a:prstGeom>
          <a:ln w="6350">
            <a:solidFill>
              <a:srgbClr val="E6E6E6"/>
            </a:solidFill>
          </a:ln>
        </p:spPr>
      </p:cxnSp>
      <p:sp>
        <p:nvSpPr>
          <p:cNvPr id="53" name="직사각형 54"/>
          <p:cNvSpPr/>
          <p:nvPr/>
        </p:nvSpPr>
        <p:spPr>
          <a:xfrm>
            <a:off x="576072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54" name="연결선 55"/>
          <p:cNvCxnSpPr/>
          <p:nvPr/>
        </p:nvCxnSpPr>
        <p:spPr>
          <a:xfrm>
            <a:off x="6583680" y="4773168"/>
            <a:ext cx="0" cy="1170432"/>
          </a:xfrm>
          <a:prstGeom prst="line">
            <a:avLst/>
          </a:prstGeom>
          <a:ln w="6350">
            <a:solidFill>
              <a:srgbClr val="E6E6E6"/>
            </a:solidFill>
          </a:ln>
        </p:spPr>
      </p:cxnSp>
      <p:sp>
        <p:nvSpPr>
          <p:cNvPr id="55" name="직사각형 56"/>
          <p:cNvSpPr/>
          <p:nvPr/>
        </p:nvSpPr>
        <p:spPr>
          <a:xfrm>
            <a:off x="640080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56" name="연결선 57"/>
          <p:cNvCxnSpPr/>
          <p:nvPr/>
        </p:nvCxnSpPr>
        <p:spPr>
          <a:xfrm>
            <a:off x="7223760" y="4773168"/>
            <a:ext cx="0" cy="1170432"/>
          </a:xfrm>
          <a:prstGeom prst="line">
            <a:avLst/>
          </a:prstGeom>
          <a:ln w="6350">
            <a:solidFill>
              <a:srgbClr val="E6E6E6"/>
            </a:solidFill>
          </a:ln>
        </p:spPr>
      </p:cxnSp>
      <p:sp>
        <p:nvSpPr>
          <p:cNvPr id="57" name="직사각형 58"/>
          <p:cNvSpPr/>
          <p:nvPr/>
        </p:nvSpPr>
        <p:spPr>
          <a:xfrm>
            <a:off x="704088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58" name="연결선 59"/>
          <p:cNvCxnSpPr/>
          <p:nvPr/>
        </p:nvCxnSpPr>
        <p:spPr>
          <a:xfrm>
            <a:off x="7863840" y="4773168"/>
            <a:ext cx="0" cy="1170432"/>
          </a:xfrm>
          <a:prstGeom prst="line">
            <a:avLst/>
          </a:prstGeom>
          <a:ln w="6350">
            <a:solidFill>
              <a:srgbClr val="E6E6E6"/>
            </a:solidFill>
          </a:ln>
        </p:spPr>
      </p:cxnSp>
      <p:sp>
        <p:nvSpPr>
          <p:cNvPr id="59" name="직사각형 60"/>
          <p:cNvSpPr/>
          <p:nvPr/>
        </p:nvSpPr>
        <p:spPr>
          <a:xfrm>
            <a:off x="768096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60" name="연결선 61"/>
          <p:cNvCxnSpPr/>
          <p:nvPr/>
        </p:nvCxnSpPr>
        <p:spPr>
          <a:xfrm>
            <a:off x="8503920" y="4773168"/>
            <a:ext cx="0" cy="1170432"/>
          </a:xfrm>
          <a:prstGeom prst="line">
            <a:avLst/>
          </a:prstGeom>
          <a:ln w="6350">
            <a:solidFill>
              <a:srgbClr val="E6E6E6"/>
            </a:solidFill>
          </a:ln>
        </p:spPr>
      </p:cxnSp>
      <p:sp>
        <p:nvSpPr>
          <p:cNvPr id="61" name="직사각형 62"/>
          <p:cNvSpPr/>
          <p:nvPr/>
        </p:nvSpPr>
        <p:spPr>
          <a:xfrm>
            <a:off x="832104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62" name="연결선 63"/>
          <p:cNvCxnSpPr/>
          <p:nvPr/>
        </p:nvCxnSpPr>
        <p:spPr>
          <a:xfrm>
            <a:off x="9144000" y="4773168"/>
            <a:ext cx="0" cy="1170432"/>
          </a:xfrm>
          <a:prstGeom prst="line">
            <a:avLst/>
          </a:prstGeom>
          <a:ln w="6350">
            <a:solidFill>
              <a:srgbClr val="E6E6E6"/>
            </a:solidFill>
          </a:ln>
        </p:spPr>
      </p:cxnSp>
      <p:sp>
        <p:nvSpPr>
          <p:cNvPr id="63" name="직사각형 64"/>
          <p:cNvSpPr/>
          <p:nvPr/>
        </p:nvSpPr>
        <p:spPr>
          <a:xfrm>
            <a:off x="896112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64" name="연결선 65"/>
          <p:cNvCxnSpPr/>
          <p:nvPr/>
        </p:nvCxnSpPr>
        <p:spPr>
          <a:xfrm>
            <a:off x="9784080" y="4773168"/>
            <a:ext cx="0" cy="1170432"/>
          </a:xfrm>
          <a:prstGeom prst="line">
            <a:avLst/>
          </a:prstGeom>
          <a:ln w="6350">
            <a:solidFill>
              <a:srgbClr val="E6E6E6"/>
            </a:solidFill>
          </a:ln>
        </p:spPr>
      </p:cxnSp>
      <p:sp>
        <p:nvSpPr>
          <p:cNvPr id="65" name="직사각형 66"/>
          <p:cNvSpPr/>
          <p:nvPr/>
        </p:nvSpPr>
        <p:spPr>
          <a:xfrm>
            <a:off x="9601200" y="453542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sp>
        <p:nvSpPr>
          <p:cNvPr id="66" name="직사각형 67"/>
          <p:cNvSpPr/>
          <p:nvPr/>
        </p:nvSpPr>
        <p:spPr>
          <a:xfrm>
            <a:off x="960120" y="489204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AAAAAA"/>
                </a:solidFill>
                <a:latin typeface="Malgun Gothic"/>
                <a:ea typeface="Malgun Gothic"/>
                <a:cs typeface="Malgun Gothic"/>
              </a:rPr>
              <a:t>[1, 10)</a:t>
            </a:r>
          </a:p>
        </p:txBody>
      </p:sp>
      <p:sp>
        <p:nvSpPr>
          <p:cNvPr id="67" name="직사각형 68"/>
          <p:cNvSpPr/>
          <p:nvPr/>
        </p:nvSpPr>
        <p:spPr>
          <a:xfrm>
            <a:off x="3383280" y="4892040"/>
            <a:ext cx="5760720" cy="274320"/>
          </a:xfrm>
          <a:prstGeom prst="rect">
            <a:avLst/>
          </a:prstGeom>
          <a:solidFill>
            <a:srgbClr val="F6F6F6"/>
          </a:solidFill>
          <a:ln w="15875">
            <a:solidFill>
              <a:srgbClr val="E0E0E0"/>
            </a:solidFill>
          </a:ln>
        </p:spPr>
        <p:txBody>
          <a:bodyPr wrap="square" lIns="0" tIns="0" rIns="0" bIns="0" anchor="ctr">
            <a:noAutofit/>
          </a:bodyPr>
          <a:lstStyle/>
          <a:p>
            <a:pPr algn="ctr" eaLnBrk="0" latinLnBrk="0">
              <a:lnSpc>
                <a:spcPct val="100000"/>
              </a:lnSpc>
              <a:buNone/>
            </a:pPr>
            <a:endParaRPr lang="ko-KR" sz="1200"/>
          </a:p>
        </p:txBody>
      </p:sp>
      <p:sp>
        <p:nvSpPr>
          <p:cNvPr id="68" name="직사각형 69"/>
          <p:cNvSpPr/>
          <p:nvPr/>
        </p:nvSpPr>
        <p:spPr>
          <a:xfrm>
            <a:off x="960120" y="525780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[2, 3)</a:t>
            </a:r>
          </a:p>
        </p:txBody>
      </p:sp>
      <p:sp>
        <p:nvSpPr>
          <p:cNvPr id="69" name="직사각형 70"/>
          <p:cNvSpPr/>
          <p:nvPr/>
        </p:nvSpPr>
        <p:spPr>
          <a:xfrm>
            <a:off x="4023360" y="5257800"/>
            <a:ext cx="640080" cy="27432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70" name="직사각형 71"/>
          <p:cNvSpPr/>
          <p:nvPr/>
        </p:nvSpPr>
        <p:spPr>
          <a:xfrm>
            <a:off x="960120" y="562356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 5)</a:t>
            </a:r>
          </a:p>
        </p:txBody>
      </p:sp>
      <p:sp>
        <p:nvSpPr>
          <p:cNvPr id="71" name="직사각형 72"/>
          <p:cNvSpPr/>
          <p:nvPr/>
        </p:nvSpPr>
        <p:spPr>
          <a:xfrm>
            <a:off x="5303520" y="5623560"/>
            <a:ext cx="640080" cy="27432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72" name="직사각형 73"/>
          <p:cNvSpPr/>
          <p:nvPr/>
        </p:nvSpPr>
        <p:spPr>
          <a:xfrm>
            <a:off x="10058400" y="3291840"/>
            <a:ext cx="1463040" cy="512064"/>
          </a:xfrm>
          <a:prstGeom prst="rect">
            <a:avLst/>
          </a:prstGeom>
          <a:noFill/>
          <a:ln w="0">
            <a:noFill/>
          </a:ln>
        </p:spPr>
        <p:txBody>
          <a:bodyPr wrap="square" lIns="0" tIns="0" rIns="0" bIns="0" anchor="ctr">
            <a:noAutofit/>
          </a:bodyPr>
          <a:lstStyle/>
          <a:p>
            <a:pPr algn="l" eaLnBrk="0" latinLnBrk="0">
              <a:lnSpc>
                <a:spcPct val="100000"/>
              </a:lnSpc>
              <a:buNone/>
            </a:pPr>
            <a:r>
              <a:rPr lang="ko-KR" altLang="en-US" sz="2800" b="1" dirty="0">
                <a:solidFill>
                  <a:srgbClr val="B23B3B"/>
                </a:solidFill>
                <a:latin typeface="Malgun Gothic"/>
                <a:ea typeface="Malgun Gothic"/>
                <a:cs typeface="Malgun Gothic"/>
              </a:rPr>
              <a:t>1개</a:t>
            </a:r>
          </a:p>
        </p:txBody>
      </p:sp>
      <p:sp>
        <p:nvSpPr>
          <p:cNvPr id="73" name="직사각형 74"/>
          <p:cNvSpPr/>
          <p:nvPr/>
        </p:nvSpPr>
        <p:spPr>
          <a:xfrm>
            <a:off x="10058400" y="5120640"/>
            <a:ext cx="1463040" cy="512064"/>
          </a:xfrm>
          <a:prstGeom prst="rect">
            <a:avLst/>
          </a:prstGeom>
          <a:noFill/>
          <a:ln w="0">
            <a:noFill/>
          </a:ln>
        </p:spPr>
        <p:txBody>
          <a:bodyPr wrap="square" lIns="0" tIns="0" rIns="0" bIns="0" anchor="ctr">
            <a:noAutofit/>
          </a:bodyPr>
          <a:lstStyle/>
          <a:p>
            <a:pPr algn="l" eaLnBrk="0" latinLnBrk="0">
              <a:lnSpc>
                <a:spcPct val="100000"/>
              </a:lnSpc>
              <a:buNone/>
            </a:pPr>
            <a:r>
              <a:rPr lang="ko-KR" altLang="en-US" sz="2800" b="1" dirty="0">
                <a:solidFill>
                  <a:srgbClr val="0E8A7D"/>
                </a:solidFill>
                <a:latin typeface="Malgun Gothic"/>
                <a:ea typeface="Malgun Gothic"/>
                <a:cs typeface="Malgun Gothic"/>
              </a:rPr>
              <a:t>2개</a:t>
            </a:r>
          </a:p>
        </p:txBody>
      </p:sp>
      <p:sp>
        <p:nvSpPr>
          <p:cNvPr id="74" name="직사각형 75"/>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그리디가 고른 회의    파랑: 최적해의 회의</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성공 전략: 가장 먼저 끝나는 회의부터</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24</a:t>
            </a:r>
            <a:endParaRPr lang="ko-KR" altLang="en-US" sz="1050" b="0" dirty="0">
              <a:solidFill>
                <a:srgbClr val="606060"/>
              </a:solidFill>
              <a:latin typeface="Malgun Gothic"/>
              <a:ea typeface="Malgun Gothic"/>
              <a:cs typeface="Malgun Gothic"/>
            </a:endParaRPr>
          </a:p>
        </p:txBody>
      </p:sp>
      <p:sp>
        <p:nvSpPr>
          <p:cNvPr id="9" name="fit:417f7a365af47e37 10"/>
          <p:cNvSpPr/>
          <p:nvPr/>
        </p:nvSpPr>
        <p:spPr>
          <a:xfrm>
            <a:off x="612648" y="1636776"/>
            <a:ext cx="10972800" cy="630936"/>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회의실을 가장 빨리 비워 주는 회의부터 고릅니다.</a:t>
            </a:r>
          </a:p>
          <a:p>
            <a:pPr algn="l" eaLnBrk="0" latinLnBrk="0">
              <a:lnSpc>
                <a:spcPct val="100000"/>
              </a:lnSpc>
              <a:buNone/>
            </a:pPr>
            <a:r>
              <a:rPr lang="ko-KR" altLang="en-US" sz="1950" b="0" dirty="0">
                <a:solidFill>
                  <a:srgbClr val="171717"/>
                </a:solidFill>
                <a:latin typeface="Malgun Gothic"/>
                <a:ea typeface="Malgun Gothic"/>
                <a:cs typeface="Malgun Gothic"/>
              </a:rPr>
              <a:t>last_end는 마지막으로 고른 회의의 종료 시각입니다.</a:t>
            </a:r>
          </a:p>
        </p:txBody>
      </p:sp>
      <p:sp>
        <p:nvSpPr>
          <p:cNvPr id="10" name="직사각형 11"/>
          <p:cNvSpPr/>
          <p:nvPr/>
        </p:nvSpPr>
        <p:spPr>
          <a:xfrm>
            <a:off x="658368" y="2414016"/>
            <a:ext cx="32004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1" name="직사각형 12"/>
          <p:cNvSpPr/>
          <p:nvPr/>
        </p:nvSpPr>
        <p:spPr>
          <a:xfrm>
            <a:off x="749808" y="2596896"/>
            <a:ext cx="30175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① 정렬</a:t>
            </a:r>
          </a:p>
        </p:txBody>
      </p:sp>
      <p:sp>
        <p:nvSpPr>
          <p:cNvPr id="12" name="직사각형 13"/>
          <p:cNvSpPr/>
          <p:nvPr/>
        </p:nvSpPr>
        <p:spPr>
          <a:xfrm>
            <a:off x="749808" y="3017520"/>
            <a:ext cx="3017520" cy="1051560"/>
          </a:xfrm>
          <a:prstGeom prst="rect">
            <a:avLst/>
          </a:prstGeom>
          <a:noFill/>
          <a:ln w="0">
            <a:noFill/>
          </a:ln>
        </p:spPr>
        <p:txBody>
          <a:bodyPr wrap="square" lIns="0" tIns="0" rIns="0" bIns="0" anchor="t">
            <a:noAutofit/>
          </a:bodyPr>
          <a:lstStyle/>
          <a:p>
            <a:pPr algn="ctr" eaLnBrk="0" latinLnBrk="0">
              <a:lnSpc>
                <a:spcPct val="110000"/>
              </a:lnSpc>
              <a:buNone/>
            </a:pPr>
            <a:r>
              <a:rPr lang="ko-KR" altLang="en-US" sz="1350" b="0" dirty="0">
                <a:solidFill>
                  <a:srgbClr val="171717"/>
                </a:solidFill>
                <a:latin typeface="Malgun Gothic"/>
                <a:ea typeface="Malgun Gothic"/>
                <a:cs typeface="Malgun Gothic"/>
              </a:rPr>
              <a:t>회의를 종료 시각이</a:t>
            </a:r>
          </a:p>
          <a:p>
            <a:pPr algn="ctr" eaLnBrk="0" latinLnBrk="0">
              <a:lnSpc>
                <a:spcPct val="110000"/>
              </a:lnSpc>
              <a:buNone/>
            </a:pPr>
            <a:r>
              <a:rPr lang="ko-KR" altLang="en-US" sz="1350" b="0" dirty="0">
                <a:solidFill>
                  <a:srgbClr val="171717"/>
                </a:solidFill>
                <a:latin typeface="Malgun Gothic"/>
                <a:ea typeface="Malgun Gothic"/>
                <a:cs typeface="Malgun Gothic"/>
              </a:rPr>
              <a:t>빠른 순으로 늘어놓습니다.</a:t>
            </a:r>
          </a:p>
        </p:txBody>
      </p:sp>
      <p:sp>
        <p:nvSpPr>
          <p:cNvPr id="13" name="직사각형 14"/>
          <p:cNvSpPr/>
          <p:nvPr/>
        </p:nvSpPr>
        <p:spPr>
          <a:xfrm>
            <a:off x="4005072" y="2633472"/>
            <a:ext cx="347472" cy="292608"/>
          </a:xfrm>
          <a:prstGeom prst="rightArrow">
            <a:avLst/>
          </a:prstGeom>
          <a:solidFill>
            <a:srgbClr val="E9E9E9"/>
          </a:solidFill>
          <a:ln w="9525">
            <a:solidFill>
              <a:srgbClr val="D4D4D4"/>
            </a:solidFill>
          </a:ln>
        </p:spPr>
        <p:txBody>
          <a:bodyPr wrap="square" lIns="0" tIns="0" rIns="0" bIns="0" anchor="t">
            <a:noAutofit/>
          </a:bodyPr>
          <a:lstStyle/>
          <a:p>
            <a:pPr algn="l" eaLnBrk="0" latinLnBrk="0">
              <a:lnSpc>
                <a:spcPct val="100000"/>
              </a:lnSpc>
              <a:buNone/>
            </a:pPr>
            <a:endParaRPr lang="ko-KR" sz="1800"/>
          </a:p>
        </p:txBody>
      </p:sp>
      <p:sp>
        <p:nvSpPr>
          <p:cNvPr id="14" name="직사각형 15"/>
          <p:cNvSpPr/>
          <p:nvPr/>
        </p:nvSpPr>
        <p:spPr>
          <a:xfrm>
            <a:off x="4498848" y="2414016"/>
            <a:ext cx="32004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5" name="직사각형 16"/>
          <p:cNvSpPr/>
          <p:nvPr/>
        </p:nvSpPr>
        <p:spPr>
          <a:xfrm>
            <a:off x="4590288" y="2596896"/>
            <a:ext cx="30175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② 고르기</a:t>
            </a:r>
          </a:p>
        </p:txBody>
      </p:sp>
      <p:sp>
        <p:nvSpPr>
          <p:cNvPr id="16" name="직사각형 17"/>
          <p:cNvSpPr/>
          <p:nvPr/>
        </p:nvSpPr>
        <p:spPr>
          <a:xfrm>
            <a:off x="4590288" y="3017520"/>
            <a:ext cx="3017520" cy="1051560"/>
          </a:xfrm>
          <a:prstGeom prst="rect">
            <a:avLst/>
          </a:prstGeom>
          <a:noFill/>
          <a:ln w="0">
            <a:noFill/>
          </a:ln>
        </p:spPr>
        <p:txBody>
          <a:bodyPr wrap="square" lIns="0" tIns="0" rIns="0" bIns="0" anchor="t">
            <a:noAutofit/>
          </a:bodyPr>
          <a:lstStyle/>
          <a:p>
            <a:pPr algn="ctr" eaLnBrk="0" latinLnBrk="0">
              <a:lnSpc>
                <a:spcPct val="110000"/>
              </a:lnSpc>
              <a:buNone/>
            </a:pPr>
            <a:r>
              <a:rPr lang="ko-KR" altLang="en-US" sz="1350" b="0" dirty="0">
                <a:solidFill>
                  <a:srgbClr val="171717"/>
                </a:solidFill>
                <a:latin typeface="Malgun Gothic"/>
                <a:ea typeface="Malgun Gothic"/>
                <a:cs typeface="Malgun Gothic"/>
              </a:rPr>
              <a:t>시작 ≥ last_end이면 고르고</a:t>
            </a:r>
          </a:p>
          <a:p>
            <a:pPr algn="ctr" eaLnBrk="0" latinLnBrk="0">
              <a:lnSpc>
                <a:spcPct val="110000"/>
              </a:lnSpc>
              <a:buNone/>
            </a:pPr>
            <a:r>
              <a:rPr lang="ko-KR" altLang="en-US" sz="1350" b="0" dirty="0">
                <a:solidFill>
                  <a:srgbClr val="171717"/>
                </a:solidFill>
                <a:latin typeface="Malgun Gothic"/>
                <a:ea typeface="Malgun Gothic"/>
                <a:cs typeface="Malgun Gothic"/>
              </a:rPr>
              <a:t>last_end를 그 회의의</a:t>
            </a:r>
          </a:p>
          <a:p>
            <a:pPr algn="ctr" eaLnBrk="0" latinLnBrk="0">
              <a:lnSpc>
                <a:spcPct val="110000"/>
              </a:lnSpc>
              <a:buNone/>
            </a:pPr>
            <a:r>
              <a:rPr lang="ko-KR" altLang="en-US" sz="1350" b="0" dirty="0">
                <a:solidFill>
                  <a:srgbClr val="171717"/>
                </a:solidFill>
                <a:latin typeface="Malgun Gothic"/>
                <a:ea typeface="Malgun Gothic"/>
                <a:cs typeface="Malgun Gothic"/>
              </a:rPr>
              <a:t>종료 시각으로 옮깁니다.</a:t>
            </a:r>
          </a:p>
        </p:txBody>
      </p:sp>
      <p:sp>
        <p:nvSpPr>
          <p:cNvPr id="17" name="직사각형 18"/>
          <p:cNvSpPr/>
          <p:nvPr/>
        </p:nvSpPr>
        <p:spPr>
          <a:xfrm>
            <a:off x="7845552" y="2633472"/>
            <a:ext cx="347472" cy="292608"/>
          </a:xfrm>
          <a:prstGeom prst="rightArrow">
            <a:avLst/>
          </a:prstGeom>
          <a:solidFill>
            <a:srgbClr val="E9E9E9"/>
          </a:solidFill>
          <a:ln w="9525">
            <a:solidFill>
              <a:srgbClr val="D4D4D4"/>
            </a:solidFill>
          </a:ln>
        </p:spPr>
        <p:txBody>
          <a:bodyPr wrap="square" lIns="0" tIns="0" rIns="0" bIns="0" anchor="t">
            <a:noAutofit/>
          </a:bodyPr>
          <a:lstStyle/>
          <a:p>
            <a:pPr algn="l" eaLnBrk="0" latinLnBrk="0">
              <a:lnSpc>
                <a:spcPct val="100000"/>
              </a:lnSpc>
              <a:buNone/>
            </a:pPr>
            <a:endParaRPr lang="ko-KR" sz="1800"/>
          </a:p>
        </p:txBody>
      </p:sp>
      <p:sp>
        <p:nvSpPr>
          <p:cNvPr id="18" name="직사각형 19"/>
          <p:cNvSpPr/>
          <p:nvPr/>
        </p:nvSpPr>
        <p:spPr>
          <a:xfrm>
            <a:off x="8339328" y="2414016"/>
            <a:ext cx="32004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9" name="직사각형 20"/>
          <p:cNvSpPr/>
          <p:nvPr/>
        </p:nvSpPr>
        <p:spPr>
          <a:xfrm>
            <a:off x="8430768" y="2596896"/>
            <a:ext cx="30175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③ 반복</a:t>
            </a:r>
          </a:p>
        </p:txBody>
      </p:sp>
      <p:sp>
        <p:nvSpPr>
          <p:cNvPr id="20" name="직사각형 21"/>
          <p:cNvSpPr/>
          <p:nvPr/>
        </p:nvSpPr>
        <p:spPr>
          <a:xfrm>
            <a:off x="8430768" y="3017520"/>
            <a:ext cx="3017520" cy="1051560"/>
          </a:xfrm>
          <a:prstGeom prst="rect">
            <a:avLst/>
          </a:prstGeom>
          <a:noFill/>
          <a:ln w="0">
            <a:noFill/>
          </a:ln>
        </p:spPr>
        <p:txBody>
          <a:bodyPr wrap="square" lIns="0" tIns="0" rIns="0" bIns="0" anchor="t">
            <a:noAutofit/>
          </a:bodyPr>
          <a:lstStyle/>
          <a:p>
            <a:pPr algn="ctr" eaLnBrk="0" latinLnBrk="0">
              <a:lnSpc>
                <a:spcPct val="110000"/>
              </a:lnSpc>
              <a:buNone/>
            </a:pPr>
            <a:r>
              <a:rPr lang="ko-KR" altLang="en-US" sz="1350" b="0" dirty="0">
                <a:solidFill>
                  <a:srgbClr val="171717"/>
                </a:solidFill>
                <a:latin typeface="Malgun Gothic"/>
                <a:ea typeface="Malgun Gothic"/>
                <a:cs typeface="Malgun Gothic"/>
              </a:rPr>
              <a:t>끝까지 봅니다.</a:t>
            </a:r>
          </a:p>
          <a:p>
            <a:pPr algn="ctr" eaLnBrk="0" latinLnBrk="0">
              <a:lnSpc>
                <a:spcPct val="110000"/>
              </a:lnSpc>
              <a:buNone/>
            </a:pPr>
            <a:r>
              <a:rPr lang="ko-KR" altLang="en-US" sz="1350" b="0" dirty="0">
                <a:solidFill>
                  <a:srgbClr val="171717"/>
                </a:solidFill>
                <a:latin typeface="Malgun Gothic"/>
                <a:ea typeface="Malgun Gothic"/>
                <a:cs typeface="Malgun Gothic"/>
              </a:rPr>
              <a:t>조건을 처음 만족하는 회의가</a:t>
            </a:r>
          </a:p>
          <a:p>
            <a:pPr algn="ctr" eaLnBrk="0" latinLnBrk="0">
              <a:lnSpc>
                <a:spcPct val="110000"/>
              </a:lnSpc>
              <a:buNone/>
            </a:pPr>
            <a:r>
              <a:rPr lang="ko-KR" altLang="en-US" sz="1350" b="0" dirty="0">
                <a:solidFill>
                  <a:srgbClr val="171717"/>
                </a:solidFill>
                <a:latin typeface="Malgun Gothic"/>
                <a:ea typeface="Malgun Gothic"/>
                <a:cs typeface="Malgun Gothic"/>
              </a:rPr>
              <a:t>곧 겹치지 않는 회의 중</a:t>
            </a:r>
          </a:p>
          <a:p>
            <a:pPr algn="ctr" eaLnBrk="0" latinLnBrk="0">
              <a:lnSpc>
                <a:spcPct val="110000"/>
              </a:lnSpc>
              <a:buNone/>
            </a:pPr>
            <a:r>
              <a:rPr lang="ko-KR" altLang="en-US" sz="1350" b="0" dirty="0">
                <a:solidFill>
                  <a:srgbClr val="171717"/>
                </a:solidFill>
                <a:latin typeface="Malgun Gothic"/>
                <a:ea typeface="Malgun Gothic"/>
                <a:cs typeface="Malgun Gothic"/>
              </a:rPr>
              <a:t>가장 먼저 끝나는 회의입니다.</a:t>
            </a:r>
          </a:p>
        </p:txBody>
      </p:sp>
      <p:graphicFrame>
        <p:nvGraphicFramePr>
          <p:cNvPr id="21" name="표 22"/>
          <p:cNvGraphicFramePr>
            <a:graphicFrameLocks noGrp="1"/>
          </p:cNvGraphicFramePr>
          <p:nvPr>
            <p:extLst>
              <p:ext uri="{D42A27DB-BD31-4B8C-83A1-F6EECF244321}">
                <p14:modId xmlns:p14="http://schemas.microsoft.com/office/powerpoint/2010/main" val="247762460"/>
              </p:ext>
            </p:extLst>
          </p:nvPr>
        </p:nvGraphicFramePr>
        <p:xfrm>
          <a:off x="658368" y="4105656"/>
          <a:ext cx="10881360" cy="987552"/>
        </p:xfrm>
        <a:graphic>
          <a:graphicData uri="http://schemas.openxmlformats.org/drawingml/2006/table">
            <a:tbl>
              <a:tblPr/>
              <a:tblGrid>
                <a:gridCol w="4663440">
                  <a:extLst>
                    <a:ext uri="{9D8B030D-6E8A-4147-A177-3AD203B41FA5}">
                      <a16:colId xmlns:a16="http://schemas.microsoft.com/office/drawing/2014/main" val="20000"/>
                    </a:ext>
                  </a:extLst>
                </a:gridCol>
                <a:gridCol w="1554480">
                  <a:extLst>
                    <a:ext uri="{9D8B030D-6E8A-4147-A177-3AD203B41FA5}">
                      <a16:colId xmlns:a16="http://schemas.microsoft.com/office/drawing/2014/main" val="20001"/>
                    </a:ext>
                  </a:extLst>
                </a:gridCol>
                <a:gridCol w="1554480">
                  <a:extLst>
                    <a:ext uri="{9D8B030D-6E8A-4147-A177-3AD203B41FA5}">
                      <a16:colId xmlns:a16="http://schemas.microsoft.com/office/drawing/2014/main" val="20002"/>
                    </a:ext>
                  </a:extLst>
                </a:gridCol>
                <a:gridCol w="1554480">
                  <a:extLst>
                    <a:ext uri="{9D8B030D-6E8A-4147-A177-3AD203B41FA5}">
                      <a16:colId xmlns:a16="http://schemas.microsoft.com/office/drawing/2014/main" val="20003"/>
                    </a:ext>
                  </a:extLst>
                </a:gridCol>
                <a:gridCol w="1554480">
                  <a:extLst>
                    <a:ext uri="{9D8B030D-6E8A-4147-A177-3AD203B41FA5}">
                      <a16:colId xmlns:a16="http://schemas.microsoft.com/office/drawing/2014/main" val="20004"/>
                    </a:ext>
                  </a:extLst>
                </a:gridCol>
              </a:tblGrid>
              <a:tr h="329184">
                <a:tc>
                  <a:txBody>
                    <a:bodyPr/>
                    <a:lstStyle/>
                    <a:p>
                      <a:pPr algn="ctr" eaLnBrk="0" latinLnBrk="0">
                        <a:lnSpc>
                          <a:spcPct val="100000"/>
                        </a:lnSpc>
                        <a:buNone/>
                      </a:pPr>
                      <a:r>
                        <a:rPr lang="ko-KR" altLang="en-US" sz="1500" b="1">
                          <a:solidFill>
                            <a:srgbClr val="FFFFFF"/>
                          </a:solidFill>
                          <a:latin typeface="Malgun Gothic"/>
                          <a:ea typeface="Malgun Gothic"/>
                          <a:cs typeface="Malgun Gothic"/>
                        </a:rPr>
                        <a:t>기준별 비교</a:t>
                      </a:r>
                      <a:endParaRPr lang="ko-KR" altLang="en-US" sz="1500" b="1" dirty="0">
                        <a:solidFill>
                          <a:srgbClr val="FFFFFF"/>
                        </a:solidFill>
                        <a:latin typeface="Malgun Gothic"/>
                        <a:ea typeface="Malgun Gothic"/>
                        <a:cs typeface="Malgun Gothic"/>
                      </a:endParaRP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시작 순</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짧은 순</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종료 순</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최적</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 10), [2, 3), [4, 5)</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1개</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2개</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2개</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2개</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 5), [4, 6), [5, 9)</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2개</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1개</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2개</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2개</a:t>
                      </a:r>
                    </a:p>
                  </a:txBody>
                  <a:tcPr marL="54864" marR="54864" marT="18288" marB="18288" anchor="ctr">
                    <a:solidFill>
                      <a:srgbClr val="FFFFFF"/>
                    </a:solidFill>
                  </a:tcPr>
                </a:tc>
                <a:extLst>
                  <a:ext uri="{0D108BD9-81ED-4DB2-BD59-A6C34878D82A}">
                    <a16:rowId xmlns:a16="http://schemas.microsoft.com/office/drawing/2014/main" val="10002"/>
                  </a:ext>
                </a:extLst>
              </a:tr>
            </a:tbl>
          </a:graphicData>
        </a:graphic>
      </p:graphicFrame>
      <p:sp>
        <p:nvSpPr>
          <p:cNvPr id="22" name="fit:c2da3d2bc5fb617a 23"/>
          <p:cNvSpPr/>
          <p:nvPr/>
        </p:nvSpPr>
        <p:spPr>
          <a:xfrm>
            <a:off x="658368" y="5239512"/>
            <a:ext cx="1088136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두 예에서 맞았다고 해서 증명된 것은 아닙니다. 왜 맞는지는 이 절 끝에서 봅니다.</a:t>
            </a:r>
          </a:p>
          <a:p>
            <a:pPr algn="l" eaLnBrk="0" latinLnBrk="0">
              <a:lnSpc>
                <a:spcPct val="100000"/>
              </a:lnSpc>
              <a:buNone/>
            </a:pPr>
            <a:r>
              <a:rPr lang="ko-KR" altLang="en-US" sz="1650" b="0" dirty="0">
                <a:solidFill>
                  <a:srgbClr val="3F3F3F"/>
                </a:solidFill>
                <a:latin typeface="Malgun Gothic"/>
                <a:ea typeface="Malgun Gothic"/>
                <a:cs typeface="Malgun Gothic"/>
              </a:rPr>
              <a:t>'안전한 선택'(그렇게 골라도 최적해를 놓치지 않는 선택)의 정확한 뜻은 5.5절에서 정의합니다.</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예제: 회의 여섯 건을 종료 시각 순으로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25</a:t>
            </a:r>
            <a:endParaRPr lang="ko-KR" altLang="en-US" sz="1050" b="0" dirty="0">
              <a:solidFill>
                <a:srgbClr val="606060"/>
              </a:solidFill>
              <a:latin typeface="Malgun Gothic"/>
              <a:ea typeface="Malgun Gothic"/>
              <a:cs typeface="Malgun Gothic"/>
            </a:endParaRPr>
          </a:p>
        </p:txBody>
      </p:sp>
      <p:sp>
        <p:nvSpPr>
          <p:cNvPr id="9" name="fit:b65429105c0987a9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회의 여섯 건을 종료 시각이 빠른 순으로 정렬합니다.</a:t>
            </a:r>
          </a:p>
          <a:p>
            <a:pPr algn="l" eaLnBrk="0" latinLnBrk="0">
              <a:lnSpc>
                <a:spcPct val="100000"/>
              </a:lnSpc>
              <a:buNone/>
            </a:pPr>
            <a:r>
              <a:rPr lang="ko-KR" altLang="en-US" sz="2025" b="0" dirty="0">
                <a:solidFill>
                  <a:srgbClr val="171717"/>
                </a:solidFill>
                <a:latin typeface="Malgun Gothic"/>
                <a:ea typeface="Malgun Gothic"/>
                <a:cs typeface="Malgun Gothic"/>
              </a:rPr>
              <a:t>칸 아래의 작은 글자는 입력 순서로 붙인 회의 번호입니다.</a:t>
            </a:r>
          </a:p>
        </p:txBody>
      </p:sp>
      <p:sp>
        <p:nvSpPr>
          <p:cNvPr id="10" name="직사각형 11"/>
          <p:cNvSpPr/>
          <p:nvPr/>
        </p:nvSpPr>
        <p:spPr>
          <a:xfrm>
            <a:off x="1371600" y="276148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입력 순서</a:t>
            </a:r>
          </a:p>
        </p:txBody>
      </p:sp>
      <p:graphicFrame>
        <p:nvGraphicFramePr>
          <p:cNvPr id="11" name="표 12"/>
          <p:cNvGraphicFramePr>
            <a:graphicFrameLocks noGrp="1"/>
          </p:cNvGraphicFramePr>
          <p:nvPr>
            <p:extLst>
              <p:ext uri="{D42A27DB-BD31-4B8C-83A1-F6EECF244321}">
                <p14:modId xmlns:p14="http://schemas.microsoft.com/office/powerpoint/2010/main" val="2959691702"/>
              </p:ext>
            </p:extLst>
          </p:nvPr>
        </p:nvGraphicFramePr>
        <p:xfrm>
          <a:off x="2743200" y="2651760"/>
          <a:ext cx="7132320" cy="493776"/>
        </p:xfrm>
        <a:graphic>
          <a:graphicData uri="http://schemas.openxmlformats.org/drawingml/2006/table">
            <a:tbl>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tblGrid>
              <a:tr h="493776">
                <a:tc>
                  <a:txBody>
                    <a:bodyPr/>
                    <a:lstStyle/>
                    <a:p>
                      <a:pPr algn="ctr" eaLnBrk="0" latinLnBrk="0">
                        <a:lnSpc>
                          <a:spcPct val="100000"/>
                        </a:lnSpc>
                        <a:buNone/>
                      </a:pPr>
                      <a:r>
                        <a:rPr lang="ko-KR" altLang="en-US" sz="1650" b="1" dirty="0">
                          <a:solidFill>
                            <a:srgbClr val="151515"/>
                          </a:solidFill>
                          <a:latin typeface="Consolas"/>
                          <a:ea typeface="Consolas"/>
                          <a:cs typeface="Consolas"/>
                        </a:rPr>
                        <a:t>[1, 3)</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[2, 5)</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[3, 9)</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[6, 8)</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[5, 7)</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[8, 11)</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12" name="직사각형 13"/>
          <p:cNvSpPr/>
          <p:nvPr/>
        </p:nvSpPr>
        <p:spPr>
          <a:xfrm>
            <a:off x="2743200" y="318211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1번</a:t>
            </a:r>
          </a:p>
        </p:txBody>
      </p:sp>
      <p:sp>
        <p:nvSpPr>
          <p:cNvPr id="13" name="직사각형 14"/>
          <p:cNvSpPr/>
          <p:nvPr/>
        </p:nvSpPr>
        <p:spPr>
          <a:xfrm>
            <a:off x="3931920" y="318211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2번</a:t>
            </a:r>
          </a:p>
        </p:txBody>
      </p:sp>
      <p:sp>
        <p:nvSpPr>
          <p:cNvPr id="14" name="직사각형 15"/>
          <p:cNvSpPr/>
          <p:nvPr/>
        </p:nvSpPr>
        <p:spPr>
          <a:xfrm>
            <a:off x="5120640" y="318211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3번</a:t>
            </a:r>
          </a:p>
        </p:txBody>
      </p:sp>
      <p:sp>
        <p:nvSpPr>
          <p:cNvPr id="15" name="직사각형 16"/>
          <p:cNvSpPr/>
          <p:nvPr/>
        </p:nvSpPr>
        <p:spPr>
          <a:xfrm>
            <a:off x="6309360" y="318211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4번</a:t>
            </a:r>
          </a:p>
        </p:txBody>
      </p:sp>
      <p:sp>
        <p:nvSpPr>
          <p:cNvPr id="16" name="직사각형 17"/>
          <p:cNvSpPr/>
          <p:nvPr/>
        </p:nvSpPr>
        <p:spPr>
          <a:xfrm>
            <a:off x="7498080" y="318211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5번</a:t>
            </a:r>
          </a:p>
        </p:txBody>
      </p:sp>
      <p:sp>
        <p:nvSpPr>
          <p:cNvPr id="17" name="직사각형 18"/>
          <p:cNvSpPr/>
          <p:nvPr/>
        </p:nvSpPr>
        <p:spPr>
          <a:xfrm>
            <a:off x="8686800" y="318211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6번</a:t>
            </a:r>
          </a:p>
        </p:txBody>
      </p:sp>
      <p:sp>
        <p:nvSpPr>
          <p:cNvPr id="18" name="직사각형 19"/>
          <p:cNvSpPr/>
          <p:nvPr/>
        </p:nvSpPr>
        <p:spPr>
          <a:xfrm>
            <a:off x="1371600" y="3950208"/>
            <a:ext cx="1325880" cy="36576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종료 순</a:t>
            </a:r>
          </a:p>
        </p:txBody>
      </p:sp>
      <p:graphicFrame>
        <p:nvGraphicFramePr>
          <p:cNvPr id="19" name="표 20"/>
          <p:cNvGraphicFramePr>
            <a:graphicFrameLocks noGrp="1"/>
          </p:cNvGraphicFramePr>
          <p:nvPr>
            <p:extLst>
              <p:ext uri="{D42A27DB-BD31-4B8C-83A1-F6EECF244321}">
                <p14:modId xmlns:p14="http://schemas.microsoft.com/office/powerpoint/2010/main" val="1841201580"/>
              </p:ext>
            </p:extLst>
          </p:nvPr>
        </p:nvGraphicFramePr>
        <p:xfrm>
          <a:off x="2743200" y="3840480"/>
          <a:ext cx="7132320" cy="493776"/>
        </p:xfrm>
        <a:graphic>
          <a:graphicData uri="http://schemas.openxmlformats.org/drawingml/2006/table">
            <a:tbl>
              <a:tblPr/>
              <a:tblGrid>
                <a:gridCol w="118872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188720">
                  <a:extLst>
                    <a:ext uri="{9D8B030D-6E8A-4147-A177-3AD203B41FA5}">
                      <a16:colId xmlns:a16="http://schemas.microsoft.com/office/drawing/2014/main" val="20002"/>
                    </a:ext>
                  </a:extLst>
                </a:gridCol>
                <a:gridCol w="1188720">
                  <a:extLst>
                    <a:ext uri="{9D8B030D-6E8A-4147-A177-3AD203B41FA5}">
                      <a16:colId xmlns:a16="http://schemas.microsoft.com/office/drawing/2014/main" val="20003"/>
                    </a:ext>
                  </a:extLst>
                </a:gridCol>
                <a:gridCol w="1188720">
                  <a:extLst>
                    <a:ext uri="{9D8B030D-6E8A-4147-A177-3AD203B41FA5}">
                      <a16:colId xmlns:a16="http://schemas.microsoft.com/office/drawing/2014/main" val="20004"/>
                    </a:ext>
                  </a:extLst>
                </a:gridCol>
                <a:gridCol w="1188720">
                  <a:extLst>
                    <a:ext uri="{9D8B030D-6E8A-4147-A177-3AD203B41FA5}">
                      <a16:colId xmlns:a16="http://schemas.microsoft.com/office/drawing/2014/main" val="20005"/>
                    </a:ext>
                  </a:extLst>
                </a:gridCol>
              </a:tblGrid>
              <a:tr h="493776">
                <a:tc>
                  <a:txBody>
                    <a:bodyPr/>
                    <a:lstStyle/>
                    <a:p>
                      <a:pPr algn="ctr" eaLnBrk="0" latinLnBrk="0">
                        <a:lnSpc>
                          <a:spcPct val="100000"/>
                        </a:lnSpc>
                        <a:buNone/>
                      </a:pPr>
                      <a:r>
                        <a:rPr lang="ko-KR" altLang="en-US" sz="1650" b="1" dirty="0">
                          <a:solidFill>
                            <a:srgbClr val="151515"/>
                          </a:solidFill>
                          <a:latin typeface="Consolas"/>
                          <a:ea typeface="Consolas"/>
                          <a:cs typeface="Consolas"/>
                        </a:rPr>
                        <a:t>[1, 3)</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[2, 5)</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[5, 7)</a:t>
                      </a:r>
                    </a:p>
                  </a:txBody>
                  <a:tcPr marL="54864" marR="54864" marT="18288" marB="18288" anchor="ctr">
                    <a:solidFill>
                      <a:srgbClr val="FFF1C2"/>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[6, 8)</a:t>
                      </a:r>
                    </a:p>
                  </a:txBody>
                  <a:tcPr marL="54864" marR="54864" marT="18288" marB="18288" anchor="ctr">
                    <a:solidFill>
                      <a:srgbClr val="FFFFFF"/>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[3, 9)</a:t>
                      </a:r>
                    </a:p>
                  </a:txBody>
                  <a:tcPr marL="54864" marR="54864" marT="18288" marB="18288" anchor="ctr">
                    <a:solidFill>
                      <a:srgbClr val="FFF1C2"/>
                    </a:solidFill>
                  </a:tcPr>
                </a:tc>
                <a:tc>
                  <a:txBody>
                    <a:bodyPr/>
                    <a:lstStyle/>
                    <a:p>
                      <a:pPr algn="ctr" eaLnBrk="0" latinLnBrk="0">
                        <a:lnSpc>
                          <a:spcPct val="100000"/>
                        </a:lnSpc>
                        <a:buNone/>
                      </a:pPr>
                      <a:r>
                        <a:rPr lang="ko-KR" altLang="en-US" sz="1650" b="1" dirty="0">
                          <a:solidFill>
                            <a:srgbClr val="151515"/>
                          </a:solidFill>
                          <a:latin typeface="Consolas"/>
                          <a:ea typeface="Consolas"/>
                          <a:cs typeface="Consolas"/>
                        </a:rPr>
                        <a:t>[8, 11)</a:t>
                      </a:r>
                    </a:p>
                  </a:txBody>
                  <a:tcPr marL="54864" marR="54864" marT="18288" marB="18288" anchor="ctr">
                    <a:solidFill>
                      <a:srgbClr val="FFFFFF"/>
                    </a:solidFill>
                  </a:tcPr>
                </a:tc>
                <a:extLst>
                  <a:ext uri="{0D108BD9-81ED-4DB2-BD59-A6C34878D82A}">
                    <a16:rowId xmlns:a16="http://schemas.microsoft.com/office/drawing/2014/main" val="10000"/>
                  </a:ext>
                </a:extLst>
              </a:tr>
            </a:tbl>
          </a:graphicData>
        </a:graphic>
      </p:graphicFrame>
      <p:sp>
        <p:nvSpPr>
          <p:cNvPr id="20" name="직사각형 21"/>
          <p:cNvSpPr/>
          <p:nvPr/>
        </p:nvSpPr>
        <p:spPr>
          <a:xfrm>
            <a:off x="2743200" y="437083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1번</a:t>
            </a:r>
          </a:p>
        </p:txBody>
      </p:sp>
      <p:sp>
        <p:nvSpPr>
          <p:cNvPr id="21" name="직사각형 22"/>
          <p:cNvSpPr/>
          <p:nvPr/>
        </p:nvSpPr>
        <p:spPr>
          <a:xfrm>
            <a:off x="3931920" y="437083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2번</a:t>
            </a:r>
          </a:p>
        </p:txBody>
      </p:sp>
      <p:sp>
        <p:nvSpPr>
          <p:cNvPr id="22" name="직사각형 23"/>
          <p:cNvSpPr/>
          <p:nvPr/>
        </p:nvSpPr>
        <p:spPr>
          <a:xfrm>
            <a:off x="5120640" y="437083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5번</a:t>
            </a:r>
          </a:p>
        </p:txBody>
      </p:sp>
      <p:sp>
        <p:nvSpPr>
          <p:cNvPr id="23" name="직사각형 24"/>
          <p:cNvSpPr/>
          <p:nvPr/>
        </p:nvSpPr>
        <p:spPr>
          <a:xfrm>
            <a:off x="6309360" y="437083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4번</a:t>
            </a:r>
          </a:p>
        </p:txBody>
      </p:sp>
      <p:sp>
        <p:nvSpPr>
          <p:cNvPr id="24" name="직사각형 25"/>
          <p:cNvSpPr/>
          <p:nvPr/>
        </p:nvSpPr>
        <p:spPr>
          <a:xfrm>
            <a:off x="7498080" y="437083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3번</a:t>
            </a:r>
          </a:p>
        </p:txBody>
      </p:sp>
      <p:sp>
        <p:nvSpPr>
          <p:cNvPr id="25" name="직사각형 26"/>
          <p:cNvSpPr/>
          <p:nvPr/>
        </p:nvSpPr>
        <p:spPr>
          <a:xfrm>
            <a:off x="8686800" y="4370832"/>
            <a:ext cx="1188720" cy="219456"/>
          </a:xfrm>
          <a:prstGeom prst="rect">
            <a:avLst/>
          </a:prstGeom>
          <a:noFill/>
          <a:ln w="0">
            <a:noFill/>
          </a:ln>
        </p:spPr>
        <p:txBody>
          <a:bodyPr wrap="square" lIns="0" tIns="0" rIns="0" bIns="0" anchor="t">
            <a:noAutofit/>
          </a:bodyPr>
          <a:lstStyle/>
          <a:p>
            <a:pPr algn="ctr" eaLnBrk="0" latinLnBrk="0">
              <a:lnSpc>
                <a:spcPct val="100000"/>
              </a:lnSpc>
              <a:buNone/>
            </a:pPr>
            <a:r>
              <a:rPr lang="ko-KR" altLang="en-US" sz="1300" b="0" dirty="0">
                <a:solidFill>
                  <a:srgbClr val="555555"/>
                </a:solidFill>
                <a:latin typeface="Malgun Gothic"/>
                <a:ea typeface="Malgun Gothic"/>
                <a:cs typeface="Malgun Gothic"/>
              </a:rPr>
              <a:t>6번</a:t>
            </a:r>
          </a:p>
        </p:txBody>
      </p:sp>
      <p:sp>
        <p:nvSpPr>
          <p:cNvPr id="26" name="직사각형 27"/>
          <p:cNvSpPr/>
          <p:nvPr/>
        </p:nvSpPr>
        <p:spPr>
          <a:xfrm>
            <a:off x="2743200" y="5266944"/>
            <a:ext cx="4754880" cy="512064"/>
          </a:xfrm>
          <a:prstGeom prst="rect">
            <a:avLst/>
          </a:prstGeom>
          <a:solidFill>
            <a:srgbClr val="FFF1C2"/>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last_end = −∞ (아직 고른 회의 없음)</a:t>
            </a:r>
          </a:p>
        </p:txBody>
      </p:sp>
      <p:sp>
        <p:nvSpPr>
          <p:cNvPr id="27" name="직사각형 28"/>
          <p:cNvSpPr/>
          <p:nvPr/>
        </p:nvSpPr>
        <p:spPr>
          <a:xfrm>
            <a:off x="2743200" y="4773168"/>
            <a:ext cx="713232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171717"/>
                </a:solidFill>
                <a:latin typeface="Malgun Gothic"/>
                <a:ea typeface="Malgun Gothic"/>
                <a:cs typeface="Malgun Gothic"/>
              </a:rPr>
              <a:t>종료 시각: 3 &lt; 5 &lt; 7 &lt; 8 &lt; 9 &lt; 11</a:t>
            </a:r>
          </a:p>
        </p:txBody>
      </p:sp>
      <p:sp>
        <p:nvSpPr>
          <p:cNvPr id="28" name="직사각형 29"/>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칸: 입력 순서와 자리가 바뀐 회의</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① 1번 [1, 3) · 선택</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26</a:t>
            </a:r>
            <a:endParaRPr lang="ko-KR" altLang="en-US" sz="1050" b="0" dirty="0">
              <a:solidFill>
                <a:srgbClr val="606060"/>
              </a:solidFill>
              <a:latin typeface="Malgun Gothic"/>
              <a:ea typeface="Malgun Gothic"/>
              <a:cs typeface="Malgun Gothic"/>
            </a:endParaRPr>
          </a:p>
        </p:txBody>
      </p:sp>
      <p:sp>
        <p:nvSpPr>
          <p:cNvPr id="9" name="fit:1df23c4a2b41543b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last_end = −∞이므로 1 ≥ −∞가 참입니다. 겹칠 회의가 없습니다.</a:t>
            </a:r>
          </a:p>
          <a:p>
            <a:pPr algn="l" eaLnBrk="0" latinLnBrk="0">
              <a:lnSpc>
                <a:spcPct val="100000"/>
              </a:lnSpc>
              <a:buNone/>
            </a:pPr>
            <a:r>
              <a:rPr lang="ko-KR" altLang="en-US" sz="2025" b="0" dirty="0">
                <a:solidFill>
                  <a:srgbClr val="171717"/>
                </a:solidFill>
                <a:latin typeface="Malgun Gothic"/>
                <a:ea typeface="Malgun Gothic"/>
                <a:cs typeface="Malgun Gothic"/>
              </a:rPr>
              <a:t>1번을 고르고 last_end를 3으로 옮깁니다.</a:t>
            </a:r>
          </a:p>
        </p:txBody>
      </p:sp>
      <p:cxnSp>
        <p:nvCxnSpPr>
          <p:cNvPr id="10" name="연결선 11"/>
          <p:cNvCxnSpPr/>
          <p:nvPr/>
        </p:nvCxnSpPr>
        <p:spPr>
          <a:xfrm>
            <a:off x="2743200" y="2761488"/>
            <a:ext cx="0" cy="2487168"/>
          </a:xfrm>
          <a:prstGeom prst="line">
            <a:avLst/>
          </a:prstGeom>
          <a:ln w="6350">
            <a:solidFill>
              <a:srgbClr val="E6E6E6"/>
            </a:solidFill>
          </a:ln>
        </p:spPr>
      </p:cxnSp>
      <p:sp>
        <p:nvSpPr>
          <p:cNvPr id="11" name="직사각형 12"/>
          <p:cNvSpPr/>
          <p:nvPr/>
        </p:nvSpPr>
        <p:spPr>
          <a:xfrm>
            <a:off x="25603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2" name="연결선 13"/>
          <p:cNvCxnSpPr/>
          <p:nvPr/>
        </p:nvCxnSpPr>
        <p:spPr>
          <a:xfrm>
            <a:off x="3329940" y="2761488"/>
            <a:ext cx="0" cy="2487168"/>
          </a:xfrm>
          <a:prstGeom prst="line">
            <a:avLst/>
          </a:prstGeom>
          <a:ln w="6350">
            <a:solidFill>
              <a:srgbClr val="E6E6E6"/>
            </a:solidFill>
          </a:ln>
        </p:spPr>
      </p:cxnSp>
      <p:sp>
        <p:nvSpPr>
          <p:cNvPr id="13" name="직사각형 14"/>
          <p:cNvSpPr/>
          <p:nvPr/>
        </p:nvSpPr>
        <p:spPr>
          <a:xfrm>
            <a:off x="31470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4" name="연결선 15"/>
          <p:cNvCxnSpPr/>
          <p:nvPr/>
        </p:nvCxnSpPr>
        <p:spPr>
          <a:xfrm>
            <a:off x="3916680" y="2761488"/>
            <a:ext cx="0" cy="2487168"/>
          </a:xfrm>
          <a:prstGeom prst="line">
            <a:avLst/>
          </a:prstGeom>
          <a:ln w="6350">
            <a:solidFill>
              <a:srgbClr val="E6E6E6"/>
            </a:solidFill>
          </a:ln>
        </p:spPr>
      </p:cxnSp>
      <p:sp>
        <p:nvSpPr>
          <p:cNvPr id="15" name="직사각형 16"/>
          <p:cNvSpPr/>
          <p:nvPr/>
        </p:nvSpPr>
        <p:spPr>
          <a:xfrm>
            <a:off x="37338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6" name="연결선 17"/>
          <p:cNvCxnSpPr/>
          <p:nvPr/>
        </p:nvCxnSpPr>
        <p:spPr>
          <a:xfrm>
            <a:off x="4503420" y="2761488"/>
            <a:ext cx="0" cy="2487168"/>
          </a:xfrm>
          <a:prstGeom prst="line">
            <a:avLst/>
          </a:prstGeom>
          <a:ln w="6350">
            <a:solidFill>
              <a:srgbClr val="E6E6E6"/>
            </a:solidFill>
          </a:ln>
        </p:spPr>
      </p:cxnSp>
      <p:sp>
        <p:nvSpPr>
          <p:cNvPr id="17" name="직사각형 18"/>
          <p:cNvSpPr/>
          <p:nvPr/>
        </p:nvSpPr>
        <p:spPr>
          <a:xfrm>
            <a:off x="43205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8" name="연결선 19"/>
          <p:cNvCxnSpPr/>
          <p:nvPr/>
        </p:nvCxnSpPr>
        <p:spPr>
          <a:xfrm>
            <a:off x="5090160" y="2761488"/>
            <a:ext cx="0" cy="2487168"/>
          </a:xfrm>
          <a:prstGeom prst="line">
            <a:avLst/>
          </a:prstGeom>
          <a:ln w="6350">
            <a:solidFill>
              <a:srgbClr val="E6E6E6"/>
            </a:solidFill>
          </a:ln>
        </p:spPr>
      </p:cxnSp>
      <p:sp>
        <p:nvSpPr>
          <p:cNvPr id="19" name="직사각형 20"/>
          <p:cNvSpPr/>
          <p:nvPr/>
        </p:nvSpPr>
        <p:spPr>
          <a:xfrm>
            <a:off x="49072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0" name="연결선 21"/>
          <p:cNvCxnSpPr/>
          <p:nvPr/>
        </p:nvCxnSpPr>
        <p:spPr>
          <a:xfrm>
            <a:off x="5676900" y="2761488"/>
            <a:ext cx="0" cy="2487168"/>
          </a:xfrm>
          <a:prstGeom prst="line">
            <a:avLst/>
          </a:prstGeom>
          <a:ln w="6350">
            <a:solidFill>
              <a:srgbClr val="E6E6E6"/>
            </a:solidFill>
          </a:ln>
        </p:spPr>
      </p:cxnSp>
      <p:sp>
        <p:nvSpPr>
          <p:cNvPr id="21" name="직사각형 22"/>
          <p:cNvSpPr/>
          <p:nvPr/>
        </p:nvSpPr>
        <p:spPr>
          <a:xfrm>
            <a:off x="54940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2" name="연결선 23"/>
          <p:cNvCxnSpPr/>
          <p:nvPr/>
        </p:nvCxnSpPr>
        <p:spPr>
          <a:xfrm>
            <a:off x="6263640" y="2761488"/>
            <a:ext cx="0" cy="2487168"/>
          </a:xfrm>
          <a:prstGeom prst="line">
            <a:avLst/>
          </a:prstGeom>
          <a:ln w="6350">
            <a:solidFill>
              <a:srgbClr val="E6E6E6"/>
            </a:solidFill>
          </a:ln>
        </p:spPr>
      </p:cxnSp>
      <p:sp>
        <p:nvSpPr>
          <p:cNvPr id="23" name="직사각형 24"/>
          <p:cNvSpPr/>
          <p:nvPr/>
        </p:nvSpPr>
        <p:spPr>
          <a:xfrm>
            <a:off x="60807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4" name="연결선 25"/>
          <p:cNvCxnSpPr/>
          <p:nvPr/>
        </p:nvCxnSpPr>
        <p:spPr>
          <a:xfrm>
            <a:off x="6850380" y="2761488"/>
            <a:ext cx="0" cy="2487168"/>
          </a:xfrm>
          <a:prstGeom prst="line">
            <a:avLst/>
          </a:prstGeom>
          <a:ln w="6350">
            <a:solidFill>
              <a:srgbClr val="E6E6E6"/>
            </a:solidFill>
          </a:ln>
        </p:spPr>
      </p:cxnSp>
      <p:sp>
        <p:nvSpPr>
          <p:cNvPr id="25" name="직사각형 26"/>
          <p:cNvSpPr/>
          <p:nvPr/>
        </p:nvSpPr>
        <p:spPr>
          <a:xfrm>
            <a:off x="66675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6" name="연결선 27"/>
          <p:cNvCxnSpPr/>
          <p:nvPr/>
        </p:nvCxnSpPr>
        <p:spPr>
          <a:xfrm>
            <a:off x="7437120" y="2761488"/>
            <a:ext cx="0" cy="2487168"/>
          </a:xfrm>
          <a:prstGeom prst="line">
            <a:avLst/>
          </a:prstGeom>
          <a:ln w="6350">
            <a:solidFill>
              <a:srgbClr val="E6E6E6"/>
            </a:solidFill>
          </a:ln>
        </p:spPr>
      </p:cxnSp>
      <p:sp>
        <p:nvSpPr>
          <p:cNvPr id="27" name="직사각형 28"/>
          <p:cNvSpPr/>
          <p:nvPr/>
        </p:nvSpPr>
        <p:spPr>
          <a:xfrm>
            <a:off x="72542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28" name="연결선 29"/>
          <p:cNvCxnSpPr/>
          <p:nvPr/>
        </p:nvCxnSpPr>
        <p:spPr>
          <a:xfrm>
            <a:off x="8023860" y="2761488"/>
            <a:ext cx="0" cy="2487168"/>
          </a:xfrm>
          <a:prstGeom prst="line">
            <a:avLst/>
          </a:prstGeom>
          <a:ln w="6350">
            <a:solidFill>
              <a:srgbClr val="E6E6E6"/>
            </a:solidFill>
          </a:ln>
        </p:spPr>
      </p:cxnSp>
      <p:sp>
        <p:nvSpPr>
          <p:cNvPr id="29" name="직사각형 30"/>
          <p:cNvSpPr/>
          <p:nvPr/>
        </p:nvSpPr>
        <p:spPr>
          <a:xfrm>
            <a:off x="78409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30" name="연결선 31"/>
          <p:cNvCxnSpPr/>
          <p:nvPr/>
        </p:nvCxnSpPr>
        <p:spPr>
          <a:xfrm>
            <a:off x="8610600" y="2761488"/>
            <a:ext cx="0" cy="2487168"/>
          </a:xfrm>
          <a:prstGeom prst="line">
            <a:avLst/>
          </a:prstGeom>
          <a:ln w="6350">
            <a:solidFill>
              <a:srgbClr val="E6E6E6"/>
            </a:solidFill>
          </a:ln>
        </p:spPr>
      </p:cxnSp>
      <p:sp>
        <p:nvSpPr>
          <p:cNvPr id="31" name="직사각형 32"/>
          <p:cNvSpPr/>
          <p:nvPr/>
        </p:nvSpPr>
        <p:spPr>
          <a:xfrm>
            <a:off x="84277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32" name="연결선 33"/>
          <p:cNvCxnSpPr/>
          <p:nvPr/>
        </p:nvCxnSpPr>
        <p:spPr>
          <a:xfrm>
            <a:off x="9197340" y="2761488"/>
            <a:ext cx="0" cy="2487168"/>
          </a:xfrm>
          <a:prstGeom prst="line">
            <a:avLst/>
          </a:prstGeom>
          <a:ln w="6350">
            <a:solidFill>
              <a:srgbClr val="E6E6E6"/>
            </a:solidFill>
          </a:ln>
        </p:spPr>
      </p:cxnSp>
      <p:sp>
        <p:nvSpPr>
          <p:cNvPr id="33" name="직사각형 34"/>
          <p:cNvSpPr/>
          <p:nvPr/>
        </p:nvSpPr>
        <p:spPr>
          <a:xfrm>
            <a:off x="90144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cxnSp>
        <p:nvCxnSpPr>
          <p:cNvPr id="34" name="연결선 35"/>
          <p:cNvCxnSpPr/>
          <p:nvPr/>
        </p:nvCxnSpPr>
        <p:spPr>
          <a:xfrm>
            <a:off x="9784080" y="2761488"/>
            <a:ext cx="0" cy="2487168"/>
          </a:xfrm>
          <a:prstGeom prst="line">
            <a:avLst/>
          </a:prstGeom>
          <a:ln w="6350">
            <a:solidFill>
              <a:srgbClr val="E6E6E6"/>
            </a:solidFill>
          </a:ln>
        </p:spPr>
      </p:cxnSp>
      <p:sp>
        <p:nvSpPr>
          <p:cNvPr id="35" name="직사각형 36"/>
          <p:cNvSpPr/>
          <p:nvPr/>
        </p:nvSpPr>
        <p:spPr>
          <a:xfrm>
            <a:off x="96012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12</a:t>
            </a:r>
          </a:p>
        </p:txBody>
      </p:sp>
      <p:cxnSp>
        <p:nvCxnSpPr>
          <p:cNvPr id="36" name="연결선 37"/>
          <p:cNvCxnSpPr/>
          <p:nvPr/>
        </p:nvCxnSpPr>
        <p:spPr>
          <a:xfrm>
            <a:off x="4503420" y="2743200"/>
            <a:ext cx="0" cy="2560320"/>
          </a:xfrm>
          <a:prstGeom prst="line">
            <a:avLst/>
          </a:prstGeom>
          <a:ln w="28575">
            <a:solidFill>
              <a:srgbClr val="B8651B"/>
            </a:solidFill>
            <a:prstDash val="dash"/>
          </a:ln>
        </p:spPr>
      </p:cxnSp>
      <p:sp>
        <p:nvSpPr>
          <p:cNvPr id="37" name="직사각형 38"/>
          <p:cNvSpPr/>
          <p:nvPr/>
        </p:nvSpPr>
        <p:spPr>
          <a:xfrm>
            <a:off x="960120" y="288036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1" dirty="0">
                <a:solidFill>
                  <a:srgbClr val="151515"/>
                </a:solidFill>
                <a:latin typeface="Malgun Gothic"/>
                <a:ea typeface="Malgun Gothic"/>
                <a:cs typeface="Malgun Gothic"/>
              </a:rPr>
              <a:t>1번 [1, 3)</a:t>
            </a:r>
          </a:p>
        </p:txBody>
      </p:sp>
      <p:sp>
        <p:nvSpPr>
          <p:cNvPr id="38" name="직사각형 39"/>
          <p:cNvSpPr/>
          <p:nvPr/>
        </p:nvSpPr>
        <p:spPr>
          <a:xfrm>
            <a:off x="3329940" y="2880360"/>
            <a:ext cx="1173480" cy="310896"/>
          </a:xfrm>
          <a:prstGeom prst="rect">
            <a:avLst/>
          </a:prstGeom>
          <a:solidFill>
            <a:srgbClr val="FFF1C2"/>
          </a:solidFill>
          <a:ln w="15875">
            <a:solidFill>
              <a:srgbClr val="B8651B"/>
            </a:solidFill>
          </a:ln>
        </p:spPr>
        <p:txBody>
          <a:bodyPr wrap="square" lIns="0" tIns="0" rIns="0" bIns="0" anchor="ctr">
            <a:noAutofit/>
          </a:bodyPr>
          <a:lstStyle/>
          <a:p>
            <a:pPr algn="ctr" eaLnBrk="0" latinLnBrk="0">
              <a:lnSpc>
                <a:spcPct val="100000"/>
              </a:lnSpc>
              <a:buNone/>
            </a:pPr>
            <a:endParaRPr lang="ko-KR" sz="1200"/>
          </a:p>
        </p:txBody>
      </p:sp>
      <p:sp>
        <p:nvSpPr>
          <p:cNvPr id="39" name="직사각형 40"/>
          <p:cNvSpPr/>
          <p:nvPr/>
        </p:nvSpPr>
        <p:spPr>
          <a:xfrm>
            <a:off x="960120" y="3282696"/>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2번 [2, 5)</a:t>
            </a:r>
          </a:p>
        </p:txBody>
      </p:sp>
      <p:sp>
        <p:nvSpPr>
          <p:cNvPr id="40" name="직사각형 41"/>
          <p:cNvSpPr/>
          <p:nvPr/>
        </p:nvSpPr>
        <p:spPr>
          <a:xfrm>
            <a:off x="3916680" y="3282696"/>
            <a:ext cx="176022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1" name="직사각형 42"/>
          <p:cNvSpPr/>
          <p:nvPr/>
        </p:nvSpPr>
        <p:spPr>
          <a:xfrm>
            <a:off x="960120" y="3685032"/>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5번 [5, 7)</a:t>
            </a:r>
          </a:p>
        </p:txBody>
      </p:sp>
      <p:sp>
        <p:nvSpPr>
          <p:cNvPr id="42" name="직사각형 43"/>
          <p:cNvSpPr/>
          <p:nvPr/>
        </p:nvSpPr>
        <p:spPr>
          <a:xfrm>
            <a:off x="5676900" y="3685032"/>
            <a:ext cx="117348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3" name="직사각형 44"/>
          <p:cNvSpPr/>
          <p:nvPr/>
        </p:nvSpPr>
        <p:spPr>
          <a:xfrm>
            <a:off x="960120" y="4087368"/>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4번 [6, 8)</a:t>
            </a:r>
          </a:p>
        </p:txBody>
      </p:sp>
      <p:sp>
        <p:nvSpPr>
          <p:cNvPr id="44" name="직사각형 45"/>
          <p:cNvSpPr/>
          <p:nvPr/>
        </p:nvSpPr>
        <p:spPr>
          <a:xfrm>
            <a:off x="6263640" y="4087368"/>
            <a:ext cx="117348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5" name="직사각형 46"/>
          <p:cNvSpPr/>
          <p:nvPr/>
        </p:nvSpPr>
        <p:spPr>
          <a:xfrm>
            <a:off x="960120" y="4489704"/>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3번 [3, 9)</a:t>
            </a:r>
          </a:p>
        </p:txBody>
      </p:sp>
      <p:sp>
        <p:nvSpPr>
          <p:cNvPr id="46" name="직사각형 47"/>
          <p:cNvSpPr/>
          <p:nvPr/>
        </p:nvSpPr>
        <p:spPr>
          <a:xfrm>
            <a:off x="4503420" y="4489704"/>
            <a:ext cx="352044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7" name="직사각형 48"/>
          <p:cNvSpPr/>
          <p:nvPr/>
        </p:nvSpPr>
        <p:spPr>
          <a:xfrm>
            <a:off x="960120" y="489204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6번 [8, 11)</a:t>
            </a:r>
          </a:p>
        </p:txBody>
      </p:sp>
      <p:sp>
        <p:nvSpPr>
          <p:cNvPr id="48" name="직사각형 49"/>
          <p:cNvSpPr/>
          <p:nvPr/>
        </p:nvSpPr>
        <p:spPr>
          <a:xfrm>
            <a:off x="7437120" y="4892040"/>
            <a:ext cx="176022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9" name="직사각형 50"/>
          <p:cNvSpPr/>
          <p:nvPr/>
        </p:nvSpPr>
        <p:spPr>
          <a:xfrm>
            <a:off x="3680460" y="5321808"/>
            <a:ext cx="164592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425" b="1" dirty="0">
                <a:solidFill>
                  <a:srgbClr val="B8651B"/>
                </a:solidFill>
                <a:latin typeface="Malgun Gothic"/>
                <a:ea typeface="Malgun Gothic"/>
                <a:cs typeface="Malgun Gothic"/>
              </a:rPr>
              <a:t>last_end = 3</a:t>
            </a:r>
          </a:p>
        </p:txBody>
      </p:sp>
      <p:sp>
        <p:nvSpPr>
          <p:cNvPr id="50" name="직사각형 51"/>
          <p:cNvSpPr/>
          <p:nvPr/>
        </p:nvSpPr>
        <p:spPr>
          <a:xfrm>
            <a:off x="9921240" y="2880360"/>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0E8A7D"/>
                </a:solidFill>
                <a:latin typeface="Malgun Gothic"/>
                <a:ea typeface="Malgun Gothic"/>
                <a:cs typeface="Malgun Gothic"/>
              </a:rPr>
              <a:t>← 선택 (1 ≥ −∞)</a:t>
            </a:r>
          </a:p>
        </p:txBody>
      </p:sp>
      <p:sp>
        <p:nvSpPr>
          <p:cNvPr id="51" name="직사각형 52"/>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고른 회의  노랑: 지금 고른 회의  빨강 점선: 건너뜀  회색: 아직 보지 않은 회의  주황 점선: last_end</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② 2번 [2, 5) · 건너뜀</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27</a:t>
            </a:r>
            <a:endParaRPr lang="ko-KR" altLang="en-US" sz="1050" b="0" dirty="0">
              <a:solidFill>
                <a:srgbClr val="606060"/>
              </a:solidFill>
              <a:latin typeface="Malgun Gothic"/>
              <a:ea typeface="Malgun Gothic"/>
              <a:cs typeface="Malgun Gothic"/>
            </a:endParaRPr>
          </a:p>
        </p:txBody>
      </p:sp>
      <p:sp>
        <p:nvSpPr>
          <p:cNvPr id="9" name="fit:e3959a74ce6c33f8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2번은 2시에 시작하는데, 직전에 고른 1번은 3시에 끝납니다.</a:t>
            </a:r>
          </a:p>
          <a:p>
            <a:pPr algn="l" eaLnBrk="0" latinLnBrk="0">
              <a:lnSpc>
                <a:spcPct val="100000"/>
              </a:lnSpc>
              <a:buNone/>
            </a:pPr>
            <a:r>
              <a:rPr lang="ko-KR" altLang="en-US" sz="2025" b="0" dirty="0">
                <a:solidFill>
                  <a:srgbClr val="171717"/>
                </a:solidFill>
                <a:latin typeface="Malgun Gothic"/>
                <a:ea typeface="Malgun Gothic"/>
                <a:cs typeface="Malgun Gothic"/>
              </a:rPr>
              <a:t>2 ≥ 3을 만족하지 못해 건너뜁니다. last_end는 3 그대로입니다.</a:t>
            </a:r>
          </a:p>
        </p:txBody>
      </p:sp>
      <p:cxnSp>
        <p:nvCxnSpPr>
          <p:cNvPr id="10" name="연결선 11"/>
          <p:cNvCxnSpPr/>
          <p:nvPr/>
        </p:nvCxnSpPr>
        <p:spPr>
          <a:xfrm>
            <a:off x="2743200" y="2761488"/>
            <a:ext cx="0" cy="2487168"/>
          </a:xfrm>
          <a:prstGeom prst="line">
            <a:avLst/>
          </a:prstGeom>
          <a:ln w="6350">
            <a:solidFill>
              <a:srgbClr val="E6E6E6"/>
            </a:solidFill>
          </a:ln>
        </p:spPr>
      </p:cxnSp>
      <p:sp>
        <p:nvSpPr>
          <p:cNvPr id="11" name="직사각형 12"/>
          <p:cNvSpPr/>
          <p:nvPr/>
        </p:nvSpPr>
        <p:spPr>
          <a:xfrm>
            <a:off x="25603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2" name="연결선 13"/>
          <p:cNvCxnSpPr/>
          <p:nvPr/>
        </p:nvCxnSpPr>
        <p:spPr>
          <a:xfrm>
            <a:off x="3329940" y="2761488"/>
            <a:ext cx="0" cy="2487168"/>
          </a:xfrm>
          <a:prstGeom prst="line">
            <a:avLst/>
          </a:prstGeom>
          <a:ln w="6350">
            <a:solidFill>
              <a:srgbClr val="E6E6E6"/>
            </a:solidFill>
          </a:ln>
        </p:spPr>
      </p:cxnSp>
      <p:sp>
        <p:nvSpPr>
          <p:cNvPr id="13" name="직사각형 14"/>
          <p:cNvSpPr/>
          <p:nvPr/>
        </p:nvSpPr>
        <p:spPr>
          <a:xfrm>
            <a:off x="31470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4" name="연결선 15"/>
          <p:cNvCxnSpPr/>
          <p:nvPr/>
        </p:nvCxnSpPr>
        <p:spPr>
          <a:xfrm>
            <a:off x="3916680" y="2761488"/>
            <a:ext cx="0" cy="2487168"/>
          </a:xfrm>
          <a:prstGeom prst="line">
            <a:avLst/>
          </a:prstGeom>
          <a:ln w="6350">
            <a:solidFill>
              <a:srgbClr val="E6E6E6"/>
            </a:solidFill>
          </a:ln>
        </p:spPr>
      </p:cxnSp>
      <p:sp>
        <p:nvSpPr>
          <p:cNvPr id="15" name="직사각형 16"/>
          <p:cNvSpPr/>
          <p:nvPr/>
        </p:nvSpPr>
        <p:spPr>
          <a:xfrm>
            <a:off x="37338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6" name="연결선 17"/>
          <p:cNvCxnSpPr/>
          <p:nvPr/>
        </p:nvCxnSpPr>
        <p:spPr>
          <a:xfrm>
            <a:off x="4503420" y="2761488"/>
            <a:ext cx="0" cy="2487168"/>
          </a:xfrm>
          <a:prstGeom prst="line">
            <a:avLst/>
          </a:prstGeom>
          <a:ln w="6350">
            <a:solidFill>
              <a:srgbClr val="E6E6E6"/>
            </a:solidFill>
          </a:ln>
        </p:spPr>
      </p:cxnSp>
      <p:sp>
        <p:nvSpPr>
          <p:cNvPr id="17" name="직사각형 18"/>
          <p:cNvSpPr/>
          <p:nvPr/>
        </p:nvSpPr>
        <p:spPr>
          <a:xfrm>
            <a:off x="43205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8" name="연결선 19"/>
          <p:cNvCxnSpPr/>
          <p:nvPr/>
        </p:nvCxnSpPr>
        <p:spPr>
          <a:xfrm>
            <a:off x="5090160" y="2761488"/>
            <a:ext cx="0" cy="2487168"/>
          </a:xfrm>
          <a:prstGeom prst="line">
            <a:avLst/>
          </a:prstGeom>
          <a:ln w="6350">
            <a:solidFill>
              <a:srgbClr val="E6E6E6"/>
            </a:solidFill>
          </a:ln>
        </p:spPr>
      </p:cxnSp>
      <p:sp>
        <p:nvSpPr>
          <p:cNvPr id="19" name="직사각형 20"/>
          <p:cNvSpPr/>
          <p:nvPr/>
        </p:nvSpPr>
        <p:spPr>
          <a:xfrm>
            <a:off x="49072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0" name="연결선 21"/>
          <p:cNvCxnSpPr/>
          <p:nvPr/>
        </p:nvCxnSpPr>
        <p:spPr>
          <a:xfrm>
            <a:off x="5676900" y="2761488"/>
            <a:ext cx="0" cy="2487168"/>
          </a:xfrm>
          <a:prstGeom prst="line">
            <a:avLst/>
          </a:prstGeom>
          <a:ln w="6350">
            <a:solidFill>
              <a:srgbClr val="E6E6E6"/>
            </a:solidFill>
          </a:ln>
        </p:spPr>
      </p:cxnSp>
      <p:sp>
        <p:nvSpPr>
          <p:cNvPr id="21" name="직사각형 22"/>
          <p:cNvSpPr/>
          <p:nvPr/>
        </p:nvSpPr>
        <p:spPr>
          <a:xfrm>
            <a:off x="54940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2" name="연결선 23"/>
          <p:cNvCxnSpPr/>
          <p:nvPr/>
        </p:nvCxnSpPr>
        <p:spPr>
          <a:xfrm>
            <a:off x="6263640" y="2761488"/>
            <a:ext cx="0" cy="2487168"/>
          </a:xfrm>
          <a:prstGeom prst="line">
            <a:avLst/>
          </a:prstGeom>
          <a:ln w="6350">
            <a:solidFill>
              <a:srgbClr val="E6E6E6"/>
            </a:solidFill>
          </a:ln>
        </p:spPr>
      </p:cxnSp>
      <p:sp>
        <p:nvSpPr>
          <p:cNvPr id="23" name="직사각형 24"/>
          <p:cNvSpPr/>
          <p:nvPr/>
        </p:nvSpPr>
        <p:spPr>
          <a:xfrm>
            <a:off x="60807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4" name="연결선 25"/>
          <p:cNvCxnSpPr/>
          <p:nvPr/>
        </p:nvCxnSpPr>
        <p:spPr>
          <a:xfrm>
            <a:off x="6850380" y="2761488"/>
            <a:ext cx="0" cy="2487168"/>
          </a:xfrm>
          <a:prstGeom prst="line">
            <a:avLst/>
          </a:prstGeom>
          <a:ln w="6350">
            <a:solidFill>
              <a:srgbClr val="E6E6E6"/>
            </a:solidFill>
          </a:ln>
        </p:spPr>
      </p:cxnSp>
      <p:sp>
        <p:nvSpPr>
          <p:cNvPr id="25" name="직사각형 26"/>
          <p:cNvSpPr/>
          <p:nvPr/>
        </p:nvSpPr>
        <p:spPr>
          <a:xfrm>
            <a:off x="66675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6" name="연결선 27"/>
          <p:cNvCxnSpPr/>
          <p:nvPr/>
        </p:nvCxnSpPr>
        <p:spPr>
          <a:xfrm>
            <a:off x="7437120" y="2761488"/>
            <a:ext cx="0" cy="2487168"/>
          </a:xfrm>
          <a:prstGeom prst="line">
            <a:avLst/>
          </a:prstGeom>
          <a:ln w="6350">
            <a:solidFill>
              <a:srgbClr val="E6E6E6"/>
            </a:solidFill>
          </a:ln>
        </p:spPr>
      </p:cxnSp>
      <p:sp>
        <p:nvSpPr>
          <p:cNvPr id="27" name="직사각형 28"/>
          <p:cNvSpPr/>
          <p:nvPr/>
        </p:nvSpPr>
        <p:spPr>
          <a:xfrm>
            <a:off x="72542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28" name="연결선 29"/>
          <p:cNvCxnSpPr/>
          <p:nvPr/>
        </p:nvCxnSpPr>
        <p:spPr>
          <a:xfrm>
            <a:off x="8023860" y="2761488"/>
            <a:ext cx="0" cy="2487168"/>
          </a:xfrm>
          <a:prstGeom prst="line">
            <a:avLst/>
          </a:prstGeom>
          <a:ln w="6350">
            <a:solidFill>
              <a:srgbClr val="E6E6E6"/>
            </a:solidFill>
          </a:ln>
        </p:spPr>
      </p:cxnSp>
      <p:sp>
        <p:nvSpPr>
          <p:cNvPr id="29" name="직사각형 30"/>
          <p:cNvSpPr/>
          <p:nvPr/>
        </p:nvSpPr>
        <p:spPr>
          <a:xfrm>
            <a:off x="78409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30" name="연결선 31"/>
          <p:cNvCxnSpPr/>
          <p:nvPr/>
        </p:nvCxnSpPr>
        <p:spPr>
          <a:xfrm>
            <a:off x="8610600" y="2761488"/>
            <a:ext cx="0" cy="2487168"/>
          </a:xfrm>
          <a:prstGeom prst="line">
            <a:avLst/>
          </a:prstGeom>
          <a:ln w="6350">
            <a:solidFill>
              <a:srgbClr val="E6E6E6"/>
            </a:solidFill>
          </a:ln>
        </p:spPr>
      </p:cxnSp>
      <p:sp>
        <p:nvSpPr>
          <p:cNvPr id="31" name="직사각형 32"/>
          <p:cNvSpPr/>
          <p:nvPr/>
        </p:nvSpPr>
        <p:spPr>
          <a:xfrm>
            <a:off x="84277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32" name="연결선 33"/>
          <p:cNvCxnSpPr/>
          <p:nvPr/>
        </p:nvCxnSpPr>
        <p:spPr>
          <a:xfrm>
            <a:off x="9197340" y="2761488"/>
            <a:ext cx="0" cy="2487168"/>
          </a:xfrm>
          <a:prstGeom prst="line">
            <a:avLst/>
          </a:prstGeom>
          <a:ln w="6350">
            <a:solidFill>
              <a:srgbClr val="E6E6E6"/>
            </a:solidFill>
          </a:ln>
        </p:spPr>
      </p:cxnSp>
      <p:sp>
        <p:nvSpPr>
          <p:cNvPr id="33" name="직사각형 34"/>
          <p:cNvSpPr/>
          <p:nvPr/>
        </p:nvSpPr>
        <p:spPr>
          <a:xfrm>
            <a:off x="90144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cxnSp>
        <p:nvCxnSpPr>
          <p:cNvPr id="34" name="연결선 35"/>
          <p:cNvCxnSpPr/>
          <p:nvPr/>
        </p:nvCxnSpPr>
        <p:spPr>
          <a:xfrm>
            <a:off x="9784080" y="2761488"/>
            <a:ext cx="0" cy="2487168"/>
          </a:xfrm>
          <a:prstGeom prst="line">
            <a:avLst/>
          </a:prstGeom>
          <a:ln w="6350">
            <a:solidFill>
              <a:srgbClr val="E6E6E6"/>
            </a:solidFill>
          </a:ln>
        </p:spPr>
      </p:cxnSp>
      <p:sp>
        <p:nvSpPr>
          <p:cNvPr id="35" name="직사각형 36"/>
          <p:cNvSpPr/>
          <p:nvPr/>
        </p:nvSpPr>
        <p:spPr>
          <a:xfrm>
            <a:off x="96012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12</a:t>
            </a:r>
          </a:p>
        </p:txBody>
      </p:sp>
      <p:cxnSp>
        <p:nvCxnSpPr>
          <p:cNvPr id="36" name="연결선 37"/>
          <p:cNvCxnSpPr/>
          <p:nvPr/>
        </p:nvCxnSpPr>
        <p:spPr>
          <a:xfrm>
            <a:off x="4503420" y="2743200"/>
            <a:ext cx="0" cy="2560320"/>
          </a:xfrm>
          <a:prstGeom prst="line">
            <a:avLst/>
          </a:prstGeom>
          <a:ln w="28575">
            <a:solidFill>
              <a:srgbClr val="B8651B"/>
            </a:solidFill>
            <a:prstDash val="dash"/>
          </a:ln>
        </p:spPr>
      </p:cxnSp>
      <p:sp>
        <p:nvSpPr>
          <p:cNvPr id="37" name="직사각형 38"/>
          <p:cNvSpPr/>
          <p:nvPr/>
        </p:nvSpPr>
        <p:spPr>
          <a:xfrm>
            <a:off x="960120" y="288036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1번 [1, 3)</a:t>
            </a:r>
          </a:p>
        </p:txBody>
      </p:sp>
      <p:sp>
        <p:nvSpPr>
          <p:cNvPr id="38" name="직사각형 39"/>
          <p:cNvSpPr/>
          <p:nvPr/>
        </p:nvSpPr>
        <p:spPr>
          <a:xfrm>
            <a:off x="3329940" y="2880360"/>
            <a:ext cx="1173480" cy="310896"/>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39" name="직사각형 40"/>
          <p:cNvSpPr/>
          <p:nvPr/>
        </p:nvSpPr>
        <p:spPr>
          <a:xfrm>
            <a:off x="960120" y="3282696"/>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B23B3B"/>
                </a:solidFill>
                <a:latin typeface="Malgun Gothic"/>
                <a:ea typeface="Malgun Gothic"/>
                <a:cs typeface="Malgun Gothic"/>
              </a:rPr>
              <a:t>2번 [2, 5)</a:t>
            </a:r>
          </a:p>
        </p:txBody>
      </p:sp>
      <p:sp>
        <p:nvSpPr>
          <p:cNvPr id="40" name="직사각형 41"/>
          <p:cNvSpPr/>
          <p:nvPr/>
        </p:nvSpPr>
        <p:spPr>
          <a:xfrm>
            <a:off x="3916680" y="3282696"/>
            <a:ext cx="1760220" cy="310896"/>
          </a:xfrm>
          <a:prstGeom prst="rect">
            <a:avLst/>
          </a:prstGeom>
          <a:solidFill>
            <a:srgbClr val="FBE1E1"/>
          </a:solidFill>
          <a:ln w="15875">
            <a:solidFill>
              <a:srgbClr val="B23B3B"/>
            </a:solidFill>
            <a:prstDash val="dash"/>
          </a:ln>
        </p:spPr>
        <p:txBody>
          <a:bodyPr wrap="square" lIns="0" tIns="0" rIns="0" bIns="0" anchor="ctr">
            <a:noAutofit/>
          </a:bodyPr>
          <a:lstStyle/>
          <a:p>
            <a:pPr algn="ctr" eaLnBrk="0" latinLnBrk="0">
              <a:lnSpc>
                <a:spcPct val="100000"/>
              </a:lnSpc>
              <a:buNone/>
            </a:pPr>
            <a:endParaRPr lang="ko-KR" sz="1200"/>
          </a:p>
        </p:txBody>
      </p:sp>
      <p:sp>
        <p:nvSpPr>
          <p:cNvPr id="41" name="직사각형 42"/>
          <p:cNvSpPr/>
          <p:nvPr/>
        </p:nvSpPr>
        <p:spPr>
          <a:xfrm>
            <a:off x="960120" y="3685032"/>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5번 [5, 7)</a:t>
            </a:r>
          </a:p>
        </p:txBody>
      </p:sp>
      <p:sp>
        <p:nvSpPr>
          <p:cNvPr id="42" name="직사각형 43"/>
          <p:cNvSpPr/>
          <p:nvPr/>
        </p:nvSpPr>
        <p:spPr>
          <a:xfrm>
            <a:off x="5676900" y="3685032"/>
            <a:ext cx="117348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3" name="직사각형 44"/>
          <p:cNvSpPr/>
          <p:nvPr/>
        </p:nvSpPr>
        <p:spPr>
          <a:xfrm>
            <a:off x="960120" y="4087368"/>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4번 [6, 8)</a:t>
            </a:r>
          </a:p>
        </p:txBody>
      </p:sp>
      <p:sp>
        <p:nvSpPr>
          <p:cNvPr id="44" name="직사각형 45"/>
          <p:cNvSpPr/>
          <p:nvPr/>
        </p:nvSpPr>
        <p:spPr>
          <a:xfrm>
            <a:off x="6263640" y="4087368"/>
            <a:ext cx="117348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5" name="직사각형 46"/>
          <p:cNvSpPr/>
          <p:nvPr/>
        </p:nvSpPr>
        <p:spPr>
          <a:xfrm>
            <a:off x="960120" y="4489704"/>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3번 [3, 9)</a:t>
            </a:r>
          </a:p>
        </p:txBody>
      </p:sp>
      <p:sp>
        <p:nvSpPr>
          <p:cNvPr id="46" name="직사각형 47"/>
          <p:cNvSpPr/>
          <p:nvPr/>
        </p:nvSpPr>
        <p:spPr>
          <a:xfrm>
            <a:off x="4503420" y="4489704"/>
            <a:ext cx="352044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7" name="직사각형 48"/>
          <p:cNvSpPr/>
          <p:nvPr/>
        </p:nvSpPr>
        <p:spPr>
          <a:xfrm>
            <a:off x="960120" y="489204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6번 [8, 11)</a:t>
            </a:r>
          </a:p>
        </p:txBody>
      </p:sp>
      <p:sp>
        <p:nvSpPr>
          <p:cNvPr id="48" name="직사각형 49"/>
          <p:cNvSpPr/>
          <p:nvPr/>
        </p:nvSpPr>
        <p:spPr>
          <a:xfrm>
            <a:off x="7437120" y="4892040"/>
            <a:ext cx="1760220" cy="310896"/>
          </a:xfrm>
          <a:prstGeom prst="rect">
            <a:avLst/>
          </a:prstGeom>
          <a:solidFill>
            <a:srgbClr val="EDEDED"/>
          </a:solidFill>
          <a:ln w="15875">
            <a:solidFill>
              <a:srgbClr val="BDBDBD"/>
            </a:solidFill>
          </a:ln>
        </p:spPr>
        <p:txBody>
          <a:bodyPr wrap="square" lIns="0" tIns="0" rIns="0" bIns="0" anchor="ctr">
            <a:noAutofit/>
          </a:bodyPr>
          <a:lstStyle/>
          <a:p>
            <a:pPr algn="ctr" eaLnBrk="0" latinLnBrk="0">
              <a:lnSpc>
                <a:spcPct val="100000"/>
              </a:lnSpc>
              <a:buNone/>
            </a:pPr>
            <a:endParaRPr lang="ko-KR" sz="1200"/>
          </a:p>
        </p:txBody>
      </p:sp>
      <p:sp>
        <p:nvSpPr>
          <p:cNvPr id="49" name="직사각형 50"/>
          <p:cNvSpPr/>
          <p:nvPr/>
        </p:nvSpPr>
        <p:spPr>
          <a:xfrm>
            <a:off x="3680460" y="5321808"/>
            <a:ext cx="164592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425" b="1" dirty="0">
                <a:solidFill>
                  <a:srgbClr val="B8651B"/>
                </a:solidFill>
                <a:latin typeface="Malgun Gothic"/>
                <a:ea typeface="Malgun Gothic"/>
                <a:cs typeface="Malgun Gothic"/>
              </a:rPr>
              <a:t>last_end = 3</a:t>
            </a:r>
          </a:p>
        </p:txBody>
      </p:sp>
      <p:sp>
        <p:nvSpPr>
          <p:cNvPr id="50" name="직사각형 51"/>
          <p:cNvSpPr/>
          <p:nvPr/>
        </p:nvSpPr>
        <p:spPr>
          <a:xfrm>
            <a:off x="9921240" y="2880360"/>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0E8A7D"/>
                </a:solidFill>
                <a:latin typeface="Malgun Gothic"/>
                <a:ea typeface="Malgun Gothic"/>
                <a:cs typeface="Malgun Gothic"/>
              </a:rPr>
              <a:t>선택</a:t>
            </a:r>
          </a:p>
        </p:txBody>
      </p:sp>
      <p:sp>
        <p:nvSpPr>
          <p:cNvPr id="51" name="직사각형 52"/>
          <p:cNvSpPr/>
          <p:nvPr/>
        </p:nvSpPr>
        <p:spPr>
          <a:xfrm>
            <a:off x="9921240" y="3282696"/>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1" dirty="0">
                <a:solidFill>
                  <a:srgbClr val="B23B3B"/>
                </a:solidFill>
                <a:latin typeface="Malgun Gothic"/>
                <a:ea typeface="Malgun Gothic"/>
                <a:cs typeface="Malgun Gothic"/>
              </a:rPr>
              <a:t>← 건너뜀 (2 &lt; 3)</a:t>
            </a:r>
          </a:p>
        </p:txBody>
      </p:sp>
      <p:sp>
        <p:nvSpPr>
          <p:cNvPr id="52" name="직사각형 53"/>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고른 회의  노랑: 지금 고른 회의  빨강 점선: 건너뜀  회색: 아직 보지 않은 회의  주황 점선: last_end</a:t>
            </a:r>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완료: 1번, 5번, 6번 · 3개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28</a:t>
            </a:r>
            <a:endParaRPr lang="ko-KR" altLang="en-US" sz="1050" b="0" dirty="0">
              <a:solidFill>
                <a:srgbClr val="606060"/>
              </a:solidFill>
              <a:latin typeface="Malgun Gothic"/>
              <a:ea typeface="Malgun Gothic"/>
              <a:cs typeface="Malgun Gothic"/>
            </a:endParaRPr>
          </a:p>
        </p:txBody>
      </p:sp>
      <p:sp>
        <p:nvSpPr>
          <p:cNvPr id="9" name="fit:377afb41de9c10ba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고른 회의는 1번 [1, 3), 5번 [5, 7), 6번 [8, 11), 모두 3개입니다.</a:t>
            </a:r>
          </a:p>
          <a:p>
            <a:pPr algn="l" eaLnBrk="0" latinLnBrk="0">
              <a:lnSpc>
                <a:spcPct val="100000"/>
              </a:lnSpc>
              <a:buNone/>
            </a:pPr>
            <a:r>
              <a:rPr lang="ko-KR" altLang="en-US" sz="2025" b="0" dirty="0">
                <a:solidFill>
                  <a:srgbClr val="171717"/>
                </a:solidFill>
                <a:latin typeface="Malgun Gothic"/>
                <a:ea typeface="Malgun Gothic"/>
                <a:cs typeface="Malgun Gothic"/>
              </a:rPr>
              <a:t>앞의 판정을 되돌린 적은 한 번도 없습니다.</a:t>
            </a:r>
          </a:p>
        </p:txBody>
      </p:sp>
      <p:cxnSp>
        <p:nvCxnSpPr>
          <p:cNvPr id="10" name="연결선 11"/>
          <p:cNvCxnSpPr/>
          <p:nvPr/>
        </p:nvCxnSpPr>
        <p:spPr>
          <a:xfrm>
            <a:off x="2743200" y="2761488"/>
            <a:ext cx="0" cy="2487168"/>
          </a:xfrm>
          <a:prstGeom prst="line">
            <a:avLst/>
          </a:prstGeom>
          <a:ln w="6350">
            <a:solidFill>
              <a:srgbClr val="E6E6E6"/>
            </a:solidFill>
          </a:ln>
        </p:spPr>
      </p:cxnSp>
      <p:sp>
        <p:nvSpPr>
          <p:cNvPr id="11" name="직사각형 12"/>
          <p:cNvSpPr/>
          <p:nvPr/>
        </p:nvSpPr>
        <p:spPr>
          <a:xfrm>
            <a:off x="25603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2" name="연결선 13"/>
          <p:cNvCxnSpPr/>
          <p:nvPr/>
        </p:nvCxnSpPr>
        <p:spPr>
          <a:xfrm>
            <a:off x="3329940" y="2761488"/>
            <a:ext cx="0" cy="2487168"/>
          </a:xfrm>
          <a:prstGeom prst="line">
            <a:avLst/>
          </a:prstGeom>
          <a:ln w="6350">
            <a:solidFill>
              <a:srgbClr val="E6E6E6"/>
            </a:solidFill>
          </a:ln>
        </p:spPr>
      </p:cxnSp>
      <p:sp>
        <p:nvSpPr>
          <p:cNvPr id="13" name="직사각형 14"/>
          <p:cNvSpPr/>
          <p:nvPr/>
        </p:nvSpPr>
        <p:spPr>
          <a:xfrm>
            <a:off x="31470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4" name="연결선 15"/>
          <p:cNvCxnSpPr/>
          <p:nvPr/>
        </p:nvCxnSpPr>
        <p:spPr>
          <a:xfrm>
            <a:off x="3916680" y="2761488"/>
            <a:ext cx="0" cy="2487168"/>
          </a:xfrm>
          <a:prstGeom prst="line">
            <a:avLst/>
          </a:prstGeom>
          <a:ln w="6350">
            <a:solidFill>
              <a:srgbClr val="E6E6E6"/>
            </a:solidFill>
          </a:ln>
        </p:spPr>
      </p:cxnSp>
      <p:sp>
        <p:nvSpPr>
          <p:cNvPr id="15" name="직사각형 16"/>
          <p:cNvSpPr/>
          <p:nvPr/>
        </p:nvSpPr>
        <p:spPr>
          <a:xfrm>
            <a:off x="37338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6" name="연결선 17"/>
          <p:cNvCxnSpPr/>
          <p:nvPr/>
        </p:nvCxnSpPr>
        <p:spPr>
          <a:xfrm>
            <a:off x="4503420" y="2761488"/>
            <a:ext cx="0" cy="2487168"/>
          </a:xfrm>
          <a:prstGeom prst="line">
            <a:avLst/>
          </a:prstGeom>
          <a:ln w="6350">
            <a:solidFill>
              <a:srgbClr val="E6E6E6"/>
            </a:solidFill>
          </a:ln>
        </p:spPr>
      </p:cxnSp>
      <p:sp>
        <p:nvSpPr>
          <p:cNvPr id="17" name="직사각형 18"/>
          <p:cNvSpPr/>
          <p:nvPr/>
        </p:nvSpPr>
        <p:spPr>
          <a:xfrm>
            <a:off x="43205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8" name="연결선 19"/>
          <p:cNvCxnSpPr/>
          <p:nvPr/>
        </p:nvCxnSpPr>
        <p:spPr>
          <a:xfrm>
            <a:off x="5090160" y="2761488"/>
            <a:ext cx="0" cy="2487168"/>
          </a:xfrm>
          <a:prstGeom prst="line">
            <a:avLst/>
          </a:prstGeom>
          <a:ln w="6350">
            <a:solidFill>
              <a:srgbClr val="E6E6E6"/>
            </a:solidFill>
          </a:ln>
        </p:spPr>
      </p:cxnSp>
      <p:sp>
        <p:nvSpPr>
          <p:cNvPr id="19" name="직사각형 20"/>
          <p:cNvSpPr/>
          <p:nvPr/>
        </p:nvSpPr>
        <p:spPr>
          <a:xfrm>
            <a:off x="49072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0" name="연결선 21"/>
          <p:cNvCxnSpPr/>
          <p:nvPr/>
        </p:nvCxnSpPr>
        <p:spPr>
          <a:xfrm>
            <a:off x="5676900" y="2761488"/>
            <a:ext cx="0" cy="2487168"/>
          </a:xfrm>
          <a:prstGeom prst="line">
            <a:avLst/>
          </a:prstGeom>
          <a:ln w="6350">
            <a:solidFill>
              <a:srgbClr val="E6E6E6"/>
            </a:solidFill>
          </a:ln>
        </p:spPr>
      </p:cxnSp>
      <p:sp>
        <p:nvSpPr>
          <p:cNvPr id="21" name="직사각형 22"/>
          <p:cNvSpPr/>
          <p:nvPr/>
        </p:nvSpPr>
        <p:spPr>
          <a:xfrm>
            <a:off x="54940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2" name="연결선 23"/>
          <p:cNvCxnSpPr/>
          <p:nvPr/>
        </p:nvCxnSpPr>
        <p:spPr>
          <a:xfrm>
            <a:off x="6263640" y="2761488"/>
            <a:ext cx="0" cy="2487168"/>
          </a:xfrm>
          <a:prstGeom prst="line">
            <a:avLst/>
          </a:prstGeom>
          <a:ln w="6350">
            <a:solidFill>
              <a:srgbClr val="E6E6E6"/>
            </a:solidFill>
          </a:ln>
        </p:spPr>
      </p:cxnSp>
      <p:sp>
        <p:nvSpPr>
          <p:cNvPr id="23" name="직사각형 24"/>
          <p:cNvSpPr/>
          <p:nvPr/>
        </p:nvSpPr>
        <p:spPr>
          <a:xfrm>
            <a:off x="60807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4" name="연결선 25"/>
          <p:cNvCxnSpPr/>
          <p:nvPr/>
        </p:nvCxnSpPr>
        <p:spPr>
          <a:xfrm>
            <a:off x="6850380" y="2761488"/>
            <a:ext cx="0" cy="2487168"/>
          </a:xfrm>
          <a:prstGeom prst="line">
            <a:avLst/>
          </a:prstGeom>
          <a:ln w="6350">
            <a:solidFill>
              <a:srgbClr val="E6E6E6"/>
            </a:solidFill>
          </a:ln>
        </p:spPr>
      </p:cxnSp>
      <p:sp>
        <p:nvSpPr>
          <p:cNvPr id="25" name="직사각형 26"/>
          <p:cNvSpPr/>
          <p:nvPr/>
        </p:nvSpPr>
        <p:spPr>
          <a:xfrm>
            <a:off x="66675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6" name="연결선 27"/>
          <p:cNvCxnSpPr/>
          <p:nvPr/>
        </p:nvCxnSpPr>
        <p:spPr>
          <a:xfrm>
            <a:off x="7437120" y="2761488"/>
            <a:ext cx="0" cy="2487168"/>
          </a:xfrm>
          <a:prstGeom prst="line">
            <a:avLst/>
          </a:prstGeom>
          <a:ln w="6350">
            <a:solidFill>
              <a:srgbClr val="E6E6E6"/>
            </a:solidFill>
          </a:ln>
        </p:spPr>
      </p:cxnSp>
      <p:sp>
        <p:nvSpPr>
          <p:cNvPr id="27" name="직사각형 28"/>
          <p:cNvSpPr/>
          <p:nvPr/>
        </p:nvSpPr>
        <p:spPr>
          <a:xfrm>
            <a:off x="72542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28" name="연결선 29"/>
          <p:cNvCxnSpPr/>
          <p:nvPr/>
        </p:nvCxnSpPr>
        <p:spPr>
          <a:xfrm>
            <a:off x="8023860" y="2761488"/>
            <a:ext cx="0" cy="2487168"/>
          </a:xfrm>
          <a:prstGeom prst="line">
            <a:avLst/>
          </a:prstGeom>
          <a:ln w="6350">
            <a:solidFill>
              <a:srgbClr val="E6E6E6"/>
            </a:solidFill>
          </a:ln>
        </p:spPr>
      </p:cxnSp>
      <p:sp>
        <p:nvSpPr>
          <p:cNvPr id="29" name="직사각형 30"/>
          <p:cNvSpPr/>
          <p:nvPr/>
        </p:nvSpPr>
        <p:spPr>
          <a:xfrm>
            <a:off x="78409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30" name="연결선 31"/>
          <p:cNvCxnSpPr/>
          <p:nvPr/>
        </p:nvCxnSpPr>
        <p:spPr>
          <a:xfrm>
            <a:off x="8610600" y="2761488"/>
            <a:ext cx="0" cy="2487168"/>
          </a:xfrm>
          <a:prstGeom prst="line">
            <a:avLst/>
          </a:prstGeom>
          <a:ln w="6350">
            <a:solidFill>
              <a:srgbClr val="E6E6E6"/>
            </a:solidFill>
          </a:ln>
        </p:spPr>
      </p:cxnSp>
      <p:sp>
        <p:nvSpPr>
          <p:cNvPr id="31" name="직사각형 32"/>
          <p:cNvSpPr/>
          <p:nvPr/>
        </p:nvSpPr>
        <p:spPr>
          <a:xfrm>
            <a:off x="84277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32" name="연결선 33"/>
          <p:cNvCxnSpPr/>
          <p:nvPr/>
        </p:nvCxnSpPr>
        <p:spPr>
          <a:xfrm>
            <a:off x="9197340" y="2761488"/>
            <a:ext cx="0" cy="2487168"/>
          </a:xfrm>
          <a:prstGeom prst="line">
            <a:avLst/>
          </a:prstGeom>
          <a:ln w="6350">
            <a:solidFill>
              <a:srgbClr val="E6E6E6"/>
            </a:solidFill>
          </a:ln>
        </p:spPr>
      </p:cxnSp>
      <p:sp>
        <p:nvSpPr>
          <p:cNvPr id="33" name="직사각형 34"/>
          <p:cNvSpPr/>
          <p:nvPr/>
        </p:nvSpPr>
        <p:spPr>
          <a:xfrm>
            <a:off x="90144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cxnSp>
        <p:nvCxnSpPr>
          <p:cNvPr id="34" name="연결선 35"/>
          <p:cNvCxnSpPr/>
          <p:nvPr/>
        </p:nvCxnSpPr>
        <p:spPr>
          <a:xfrm>
            <a:off x="9784080" y="2761488"/>
            <a:ext cx="0" cy="2487168"/>
          </a:xfrm>
          <a:prstGeom prst="line">
            <a:avLst/>
          </a:prstGeom>
          <a:ln w="6350">
            <a:solidFill>
              <a:srgbClr val="E6E6E6"/>
            </a:solidFill>
          </a:ln>
        </p:spPr>
      </p:cxnSp>
      <p:sp>
        <p:nvSpPr>
          <p:cNvPr id="35" name="직사각형 36"/>
          <p:cNvSpPr/>
          <p:nvPr/>
        </p:nvSpPr>
        <p:spPr>
          <a:xfrm>
            <a:off x="96012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12</a:t>
            </a:r>
          </a:p>
        </p:txBody>
      </p:sp>
      <p:cxnSp>
        <p:nvCxnSpPr>
          <p:cNvPr id="36" name="연결선 37"/>
          <p:cNvCxnSpPr/>
          <p:nvPr/>
        </p:nvCxnSpPr>
        <p:spPr>
          <a:xfrm>
            <a:off x="9197340" y="2743200"/>
            <a:ext cx="0" cy="2560320"/>
          </a:xfrm>
          <a:prstGeom prst="line">
            <a:avLst/>
          </a:prstGeom>
          <a:ln w="28575">
            <a:solidFill>
              <a:srgbClr val="B8651B"/>
            </a:solidFill>
            <a:prstDash val="dash"/>
          </a:ln>
        </p:spPr>
      </p:cxnSp>
      <p:sp>
        <p:nvSpPr>
          <p:cNvPr id="37" name="직사각형 38"/>
          <p:cNvSpPr/>
          <p:nvPr/>
        </p:nvSpPr>
        <p:spPr>
          <a:xfrm>
            <a:off x="960120" y="288036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1번 [1, 3)</a:t>
            </a:r>
          </a:p>
        </p:txBody>
      </p:sp>
      <p:sp>
        <p:nvSpPr>
          <p:cNvPr id="38" name="직사각형 39"/>
          <p:cNvSpPr/>
          <p:nvPr/>
        </p:nvSpPr>
        <p:spPr>
          <a:xfrm>
            <a:off x="3329940" y="2880360"/>
            <a:ext cx="1173480" cy="310896"/>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39" name="직사각형 40"/>
          <p:cNvSpPr/>
          <p:nvPr/>
        </p:nvSpPr>
        <p:spPr>
          <a:xfrm>
            <a:off x="960120" y="3282696"/>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AAAAAA"/>
                </a:solidFill>
                <a:latin typeface="Malgun Gothic"/>
                <a:ea typeface="Malgun Gothic"/>
                <a:cs typeface="Malgun Gothic"/>
              </a:rPr>
              <a:t>2번 [2, 5)</a:t>
            </a:r>
          </a:p>
        </p:txBody>
      </p:sp>
      <p:sp>
        <p:nvSpPr>
          <p:cNvPr id="40" name="직사각형 41"/>
          <p:cNvSpPr/>
          <p:nvPr/>
        </p:nvSpPr>
        <p:spPr>
          <a:xfrm>
            <a:off x="3916680" y="3282696"/>
            <a:ext cx="1760220" cy="310896"/>
          </a:xfrm>
          <a:prstGeom prst="rect">
            <a:avLst/>
          </a:prstGeom>
          <a:solidFill>
            <a:srgbClr val="F6F6F6"/>
          </a:solidFill>
          <a:ln w="15875">
            <a:solidFill>
              <a:srgbClr val="E0E0E0"/>
            </a:solidFill>
          </a:ln>
        </p:spPr>
        <p:txBody>
          <a:bodyPr wrap="square" lIns="0" tIns="0" rIns="0" bIns="0" anchor="ctr">
            <a:noAutofit/>
          </a:bodyPr>
          <a:lstStyle/>
          <a:p>
            <a:pPr algn="ctr" eaLnBrk="0" latinLnBrk="0">
              <a:lnSpc>
                <a:spcPct val="100000"/>
              </a:lnSpc>
              <a:buNone/>
            </a:pPr>
            <a:endParaRPr lang="ko-KR" sz="1200"/>
          </a:p>
        </p:txBody>
      </p:sp>
      <p:sp>
        <p:nvSpPr>
          <p:cNvPr id="41" name="직사각형 42"/>
          <p:cNvSpPr/>
          <p:nvPr/>
        </p:nvSpPr>
        <p:spPr>
          <a:xfrm>
            <a:off x="960120" y="3685032"/>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5번 [5, 7)</a:t>
            </a:r>
          </a:p>
        </p:txBody>
      </p:sp>
      <p:sp>
        <p:nvSpPr>
          <p:cNvPr id="42" name="직사각형 43"/>
          <p:cNvSpPr/>
          <p:nvPr/>
        </p:nvSpPr>
        <p:spPr>
          <a:xfrm>
            <a:off x="5676900" y="3685032"/>
            <a:ext cx="1173480" cy="310896"/>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43" name="직사각형 44"/>
          <p:cNvSpPr/>
          <p:nvPr/>
        </p:nvSpPr>
        <p:spPr>
          <a:xfrm>
            <a:off x="960120" y="4087368"/>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AAAAAA"/>
                </a:solidFill>
                <a:latin typeface="Malgun Gothic"/>
                <a:ea typeface="Malgun Gothic"/>
                <a:cs typeface="Malgun Gothic"/>
              </a:rPr>
              <a:t>4번 [6, 8)</a:t>
            </a:r>
          </a:p>
        </p:txBody>
      </p:sp>
      <p:sp>
        <p:nvSpPr>
          <p:cNvPr id="44" name="직사각형 45"/>
          <p:cNvSpPr/>
          <p:nvPr/>
        </p:nvSpPr>
        <p:spPr>
          <a:xfrm>
            <a:off x="6263640" y="4087368"/>
            <a:ext cx="1173480" cy="310896"/>
          </a:xfrm>
          <a:prstGeom prst="rect">
            <a:avLst/>
          </a:prstGeom>
          <a:solidFill>
            <a:srgbClr val="F6F6F6"/>
          </a:solidFill>
          <a:ln w="15875">
            <a:solidFill>
              <a:srgbClr val="E0E0E0"/>
            </a:solidFill>
          </a:ln>
        </p:spPr>
        <p:txBody>
          <a:bodyPr wrap="square" lIns="0" tIns="0" rIns="0" bIns="0" anchor="ctr">
            <a:noAutofit/>
          </a:bodyPr>
          <a:lstStyle/>
          <a:p>
            <a:pPr algn="ctr" eaLnBrk="0" latinLnBrk="0">
              <a:lnSpc>
                <a:spcPct val="100000"/>
              </a:lnSpc>
              <a:buNone/>
            </a:pPr>
            <a:endParaRPr lang="ko-KR" sz="1200"/>
          </a:p>
        </p:txBody>
      </p:sp>
      <p:sp>
        <p:nvSpPr>
          <p:cNvPr id="45" name="직사각형 46"/>
          <p:cNvSpPr/>
          <p:nvPr/>
        </p:nvSpPr>
        <p:spPr>
          <a:xfrm>
            <a:off x="960120" y="4489704"/>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AAAAAA"/>
                </a:solidFill>
                <a:latin typeface="Malgun Gothic"/>
                <a:ea typeface="Malgun Gothic"/>
                <a:cs typeface="Malgun Gothic"/>
              </a:rPr>
              <a:t>3번 [3, 9)</a:t>
            </a:r>
          </a:p>
        </p:txBody>
      </p:sp>
      <p:sp>
        <p:nvSpPr>
          <p:cNvPr id="46" name="직사각형 47"/>
          <p:cNvSpPr/>
          <p:nvPr/>
        </p:nvSpPr>
        <p:spPr>
          <a:xfrm>
            <a:off x="4503420" y="4489704"/>
            <a:ext cx="3520440" cy="310896"/>
          </a:xfrm>
          <a:prstGeom prst="rect">
            <a:avLst/>
          </a:prstGeom>
          <a:solidFill>
            <a:srgbClr val="F6F6F6"/>
          </a:solidFill>
          <a:ln w="15875">
            <a:solidFill>
              <a:srgbClr val="E0E0E0"/>
            </a:solidFill>
          </a:ln>
        </p:spPr>
        <p:txBody>
          <a:bodyPr wrap="square" lIns="0" tIns="0" rIns="0" bIns="0" anchor="ctr">
            <a:noAutofit/>
          </a:bodyPr>
          <a:lstStyle/>
          <a:p>
            <a:pPr algn="ctr" eaLnBrk="0" latinLnBrk="0">
              <a:lnSpc>
                <a:spcPct val="100000"/>
              </a:lnSpc>
              <a:buNone/>
            </a:pPr>
            <a:endParaRPr lang="ko-KR" sz="1200"/>
          </a:p>
        </p:txBody>
      </p:sp>
      <p:sp>
        <p:nvSpPr>
          <p:cNvPr id="47" name="직사각형 48"/>
          <p:cNvSpPr/>
          <p:nvPr/>
        </p:nvSpPr>
        <p:spPr>
          <a:xfrm>
            <a:off x="960120" y="489204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6번 [8, 11)</a:t>
            </a:r>
          </a:p>
        </p:txBody>
      </p:sp>
      <p:sp>
        <p:nvSpPr>
          <p:cNvPr id="48" name="직사각형 49"/>
          <p:cNvSpPr/>
          <p:nvPr/>
        </p:nvSpPr>
        <p:spPr>
          <a:xfrm>
            <a:off x="7437120" y="4892040"/>
            <a:ext cx="1760220" cy="310896"/>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49" name="직사각형 50"/>
          <p:cNvSpPr/>
          <p:nvPr/>
        </p:nvSpPr>
        <p:spPr>
          <a:xfrm>
            <a:off x="8374380" y="5321808"/>
            <a:ext cx="164592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425" b="1" dirty="0">
                <a:solidFill>
                  <a:srgbClr val="B8651B"/>
                </a:solidFill>
                <a:latin typeface="Malgun Gothic"/>
                <a:ea typeface="Malgun Gothic"/>
                <a:cs typeface="Malgun Gothic"/>
              </a:rPr>
              <a:t>last_end = 11</a:t>
            </a:r>
          </a:p>
        </p:txBody>
      </p:sp>
      <p:sp>
        <p:nvSpPr>
          <p:cNvPr id="50" name="직사각형 51"/>
          <p:cNvSpPr/>
          <p:nvPr/>
        </p:nvSpPr>
        <p:spPr>
          <a:xfrm>
            <a:off x="9921240" y="2880360"/>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0E8A7D"/>
                </a:solidFill>
                <a:latin typeface="Malgun Gothic"/>
                <a:ea typeface="Malgun Gothic"/>
                <a:cs typeface="Malgun Gothic"/>
              </a:rPr>
              <a:t>선택</a:t>
            </a:r>
          </a:p>
        </p:txBody>
      </p:sp>
      <p:sp>
        <p:nvSpPr>
          <p:cNvPr id="51" name="직사각형 52"/>
          <p:cNvSpPr/>
          <p:nvPr/>
        </p:nvSpPr>
        <p:spPr>
          <a:xfrm>
            <a:off x="9921240" y="3282696"/>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B23B3B"/>
                </a:solidFill>
                <a:latin typeface="Malgun Gothic"/>
                <a:ea typeface="Malgun Gothic"/>
                <a:cs typeface="Malgun Gothic"/>
              </a:rPr>
              <a:t>건너뜀</a:t>
            </a:r>
          </a:p>
        </p:txBody>
      </p:sp>
      <p:sp>
        <p:nvSpPr>
          <p:cNvPr id="52" name="직사각형 53"/>
          <p:cNvSpPr/>
          <p:nvPr/>
        </p:nvSpPr>
        <p:spPr>
          <a:xfrm>
            <a:off x="9921240" y="3685032"/>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0E8A7D"/>
                </a:solidFill>
                <a:latin typeface="Malgun Gothic"/>
                <a:ea typeface="Malgun Gothic"/>
                <a:cs typeface="Malgun Gothic"/>
              </a:rPr>
              <a:t>선택</a:t>
            </a:r>
          </a:p>
        </p:txBody>
      </p:sp>
      <p:sp>
        <p:nvSpPr>
          <p:cNvPr id="53" name="직사각형 54"/>
          <p:cNvSpPr/>
          <p:nvPr/>
        </p:nvSpPr>
        <p:spPr>
          <a:xfrm>
            <a:off x="9921240" y="4087368"/>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B23B3B"/>
                </a:solidFill>
                <a:latin typeface="Malgun Gothic"/>
                <a:ea typeface="Malgun Gothic"/>
                <a:cs typeface="Malgun Gothic"/>
              </a:rPr>
              <a:t>건너뜀</a:t>
            </a:r>
          </a:p>
        </p:txBody>
      </p:sp>
      <p:sp>
        <p:nvSpPr>
          <p:cNvPr id="54" name="직사각형 55"/>
          <p:cNvSpPr/>
          <p:nvPr/>
        </p:nvSpPr>
        <p:spPr>
          <a:xfrm>
            <a:off x="9921240" y="4489704"/>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B23B3B"/>
                </a:solidFill>
                <a:latin typeface="Malgun Gothic"/>
                <a:ea typeface="Malgun Gothic"/>
                <a:cs typeface="Malgun Gothic"/>
              </a:rPr>
              <a:t>건너뜀</a:t>
            </a:r>
          </a:p>
        </p:txBody>
      </p:sp>
      <p:sp>
        <p:nvSpPr>
          <p:cNvPr id="55" name="직사각형 56"/>
          <p:cNvSpPr/>
          <p:nvPr/>
        </p:nvSpPr>
        <p:spPr>
          <a:xfrm>
            <a:off x="9921240" y="4892040"/>
            <a:ext cx="166420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425" b="0" dirty="0">
                <a:solidFill>
                  <a:srgbClr val="0E8A7D"/>
                </a:solidFill>
                <a:latin typeface="Malgun Gothic"/>
                <a:ea typeface="Malgun Gothic"/>
                <a:cs typeface="Malgun Gothic"/>
              </a:rPr>
              <a:t>선택</a:t>
            </a:r>
          </a:p>
        </p:txBody>
      </p:sp>
      <p:sp>
        <p:nvSpPr>
          <p:cNvPr id="56" name="직사각형 57"/>
          <p:cNvSpPr/>
          <p:nvPr/>
        </p:nvSpPr>
        <p:spPr>
          <a:xfrm>
            <a:off x="2743200" y="5724144"/>
            <a:ext cx="877824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이 3개가 최대인지는 뒤의 '왜 옳은가'에서 확인합니다.</a:t>
            </a:r>
          </a:p>
        </p:txBody>
      </p:sp>
      <p:sp>
        <p:nvSpPr>
          <p:cNvPr id="57" name="직사각형 58"/>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고른 회의    회색: 건너뛴 회의    주황 점선: last_end</a:t>
            </a:r>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복잡도: 정렬 O(n log n) + 한 번 훑기 O(n)</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29</a:t>
            </a:r>
            <a:endParaRPr lang="ko-KR" altLang="en-US" sz="1050" b="0" dirty="0">
              <a:solidFill>
                <a:srgbClr val="606060"/>
              </a:solidFill>
              <a:latin typeface="Malgun Gothic"/>
              <a:ea typeface="Malgun Gothic"/>
              <a:cs typeface="Malgun Gothic"/>
            </a:endParaRPr>
          </a:p>
        </p:txBody>
      </p:sp>
      <p:sp>
        <p:nvSpPr>
          <p:cNvPr id="9" name="fit:afdb634b584ad49b 10"/>
          <p:cNvSpPr/>
          <p:nvPr/>
        </p:nvSpPr>
        <p:spPr>
          <a:xfrm>
            <a:off x="612648" y="1636776"/>
            <a:ext cx="10972800" cy="338328"/>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n = 회의의 수</a:t>
            </a:r>
          </a:p>
        </p:txBody>
      </p:sp>
      <p:graphicFrame>
        <p:nvGraphicFramePr>
          <p:cNvPr id="10" name="표 11"/>
          <p:cNvGraphicFramePr>
            <a:graphicFrameLocks noGrp="1"/>
          </p:cNvGraphicFramePr>
          <p:nvPr>
            <p:extLst>
              <p:ext uri="{D42A27DB-BD31-4B8C-83A1-F6EECF244321}">
                <p14:modId xmlns:p14="http://schemas.microsoft.com/office/powerpoint/2010/main" val="3938473311"/>
              </p:ext>
            </p:extLst>
          </p:nvPr>
        </p:nvGraphicFramePr>
        <p:xfrm>
          <a:off x="612648" y="2103120"/>
          <a:ext cx="10972800" cy="1463040"/>
        </p:xfrm>
        <a:graphic>
          <a:graphicData uri="http://schemas.openxmlformats.org/drawingml/2006/table">
            <a:tbl>
              <a:tblPr/>
              <a:tblGrid>
                <a:gridCol w="1995055">
                  <a:extLst>
                    <a:ext uri="{9D8B030D-6E8A-4147-A177-3AD203B41FA5}">
                      <a16:colId xmlns:a16="http://schemas.microsoft.com/office/drawing/2014/main" val="20000"/>
                    </a:ext>
                  </a:extLst>
                </a:gridCol>
                <a:gridCol w="6384175">
                  <a:extLst>
                    <a:ext uri="{9D8B030D-6E8A-4147-A177-3AD203B41FA5}">
                      <a16:colId xmlns:a16="http://schemas.microsoft.com/office/drawing/2014/main" val="20001"/>
                    </a:ext>
                  </a:extLst>
                </a:gridCol>
                <a:gridCol w="2593571">
                  <a:extLst>
                    <a:ext uri="{9D8B030D-6E8A-4147-A177-3AD203B41FA5}">
                      <a16:colId xmlns:a16="http://schemas.microsoft.com/office/drawing/2014/main" val="20002"/>
                    </a:ext>
                  </a:extLst>
                </a:gridCol>
              </a:tblGrid>
              <a:tr h="365760">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단계</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하는 일</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시간</a:t>
                      </a:r>
                    </a:p>
                  </a:txBody>
                  <a:tcPr marL="54864" marR="54864" marT="18288" marB="18288" anchor="ctr">
                    <a:solidFill>
                      <a:srgbClr val="151515"/>
                    </a:solidFill>
                  </a:tcPr>
                </a:tc>
                <a:extLst>
                  <a:ext uri="{0D108BD9-81ED-4DB2-BD59-A6C34878D82A}">
                    <a16:rowId xmlns:a16="http://schemas.microsoft.com/office/drawing/2014/main" val="10000"/>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정렬</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종료 시각 순으로 정렬 (sort, qsort)</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O(n log n)</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훑기</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앞에서부터 한 번, 회의마다 비교 한 번</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O(n)</a:t>
                      </a:r>
                    </a:p>
                  </a:txBody>
                  <a:tcPr marL="54864" marR="54864" marT="18288" marB="18288" anchor="ctr">
                    <a:solidFill>
                      <a:srgbClr val="FFFFFF"/>
                    </a:solidFill>
                  </a:tcPr>
                </a:tc>
                <a:extLst>
                  <a:ext uri="{0D108BD9-81ED-4DB2-BD59-A6C34878D82A}">
                    <a16:rowId xmlns:a16="http://schemas.microsoft.com/office/drawing/2014/main" val="10002"/>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공간</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고른 회의 목록</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O(n)</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fit:a0bc256da94b2d1b 12"/>
          <p:cNvSpPr/>
          <p:nvPr/>
        </p:nvSpPr>
        <p:spPr>
          <a:xfrm>
            <a:off x="612648" y="3712464"/>
            <a:ext cx="10972800" cy="402336"/>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0E8A7D"/>
                </a:solidFill>
                <a:latin typeface="Malgun Gothic"/>
                <a:ea typeface="Malgun Gothic"/>
                <a:cs typeface="Malgun Gothic"/>
              </a:rPr>
              <a:t>O(n log n) + O(n) = O(n log n)</a:t>
            </a:r>
          </a:p>
        </p:txBody>
      </p:sp>
      <p:sp>
        <p:nvSpPr>
          <p:cNvPr id="12" name="fit:bac482fe2cc7dad5 13"/>
          <p:cNvSpPr/>
          <p:nvPr/>
        </p:nvSpPr>
        <p:spPr>
          <a:xfrm>
            <a:off x="612648" y="4224528"/>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Python의 sort는 최악에도 O(n log n), C의 qsort는 보통 O(n log n)</a:t>
            </a:r>
          </a:p>
        </p:txBody>
      </p:sp>
      <p:sp>
        <p:nvSpPr>
          <p:cNvPr id="13" name="fit:043b0b305e602543 14"/>
          <p:cNvSpPr/>
          <p:nvPr/>
        </p:nvSpPr>
        <p:spPr>
          <a:xfrm>
            <a:off x="795528" y="4553712"/>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전체 비용은 정렬이 정합니다.</a:t>
            </a:r>
          </a:p>
        </p:txBody>
      </p:sp>
      <p:sp>
        <p:nvSpPr>
          <p:cNvPr id="14" name="fit:377ad1d35187aab2 15"/>
          <p:cNvSpPr/>
          <p:nvPr/>
        </p:nvSpPr>
        <p:spPr>
          <a:xfrm>
            <a:off x="612648" y="4937760"/>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입력이 이미 종료 시각 순이면 O(n)</a:t>
            </a:r>
          </a:p>
        </p:txBody>
      </p:sp>
      <p:sp>
        <p:nvSpPr>
          <p:cNvPr id="15" name="fit:f490f62e5b5824bd 16"/>
          <p:cNvSpPr/>
          <p:nvPr/>
        </p:nvSpPr>
        <p:spPr>
          <a:xfrm>
            <a:off x="795528" y="5266944"/>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정렬을 빼고 한 번 훑기만 하면 됩니다.</a:t>
            </a:r>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왜 옳은가: 첫 회의를 바꿔 넣어도 최적</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30</a:t>
            </a:r>
            <a:endParaRPr lang="ko-KR" altLang="en-US" sz="1050" b="0" dirty="0">
              <a:solidFill>
                <a:srgbClr val="606060"/>
              </a:solidFill>
              <a:latin typeface="Malgun Gothic"/>
              <a:ea typeface="Malgun Gothic"/>
              <a:cs typeface="Malgun Gothic"/>
            </a:endParaRPr>
          </a:p>
        </p:txBody>
      </p:sp>
      <p:sp>
        <p:nvSpPr>
          <p:cNvPr id="9" name="fit:50fb12ac7ecbb4cf 10"/>
          <p:cNvSpPr/>
          <p:nvPr/>
        </p:nvSpPr>
        <p:spPr>
          <a:xfrm>
            <a:off x="612648" y="1636776"/>
            <a:ext cx="6766560" cy="969264"/>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최적해 O를 하나 가져옵니다.</a:t>
            </a:r>
          </a:p>
          <a:p>
            <a:pPr algn="l" eaLnBrk="0" latinLnBrk="0">
              <a:lnSpc>
                <a:spcPct val="100000"/>
              </a:lnSpc>
              <a:buNone/>
            </a:pPr>
            <a:r>
              <a:rPr lang="ko-KR" altLang="en-US" sz="2025" b="0" dirty="0">
                <a:solidFill>
                  <a:srgbClr val="171717"/>
                </a:solidFill>
                <a:latin typeface="Malgun Gothic"/>
                <a:ea typeface="Malgun Gothic"/>
                <a:cs typeface="Malgun Gothic"/>
              </a:rPr>
              <a:t>예: 2번, 4번, 6번(3개). O의 첫 회의 2번을</a:t>
            </a:r>
          </a:p>
          <a:p>
            <a:pPr algn="l" eaLnBrk="0" latinLnBrk="0">
              <a:lnSpc>
                <a:spcPct val="100000"/>
              </a:lnSpc>
              <a:buNone/>
            </a:pPr>
            <a:r>
              <a:rPr lang="ko-KR" altLang="en-US" sz="2025" b="0" dirty="0">
                <a:solidFill>
                  <a:srgbClr val="171717"/>
                </a:solidFill>
                <a:latin typeface="Malgun Gothic"/>
                <a:ea typeface="Malgun Gothic"/>
                <a:cs typeface="Malgun Gothic"/>
              </a:rPr>
              <a:t>그리디의 첫 회의 1번으로 바꿔 봅니다.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1d6d970b06864e5e 12"/>
          <p:cNvSpPr/>
          <p:nvPr/>
        </p:nvSpPr>
        <p:spPr>
          <a:xfrm>
            <a:off x="7909560" y="2935224"/>
            <a:ext cx="3666744" cy="859536"/>
          </a:xfrm>
          <a:prstGeom prst="rect">
            <a:avLst/>
          </a:prstGeom>
          <a:noFill/>
          <a:ln w="0">
            <a:noFill/>
          </a:ln>
        </p:spPr>
        <p:txBody>
          <a:bodyPr wrap="square" lIns="0" tIns="0" rIns="0" bIns="0" anchor="t">
            <a:noAutofit/>
          </a:bodyPr>
          <a:lstStyle/>
          <a:p>
            <a:pPr algn="l" eaLnBrk="0" latinLnBrk="0">
              <a:lnSpc>
                <a:spcPct val="105000"/>
              </a:lnSpc>
              <a:buNone/>
            </a:pPr>
            <a:r>
              <a:rPr lang="ko-KR" altLang="en-US" sz="1300" b="0" dirty="0">
                <a:solidFill>
                  <a:srgbClr val="171717"/>
                </a:solidFill>
                <a:latin typeface="Malgun Gothic"/>
                <a:ea typeface="Malgun Gothic"/>
                <a:cs typeface="Malgun Gothic"/>
              </a:rPr>
              <a:t>① g = 그리디의 첫 회의 (1번)</a:t>
            </a:r>
          </a:p>
          <a:p>
            <a:pPr algn="l" eaLnBrk="0" latinLnBrk="0">
              <a:lnSpc>
                <a:spcPct val="105000"/>
              </a:lnSpc>
              <a:buNone/>
            </a:pPr>
            <a:r>
              <a:rPr lang="ko-KR" altLang="en-US" sz="1300" b="0" dirty="0">
                <a:solidFill>
                  <a:srgbClr val="171717"/>
                </a:solidFill>
                <a:latin typeface="Malgun Gothic"/>
                <a:ea typeface="Malgun Gothic"/>
                <a:cs typeface="Malgun Gothic"/>
              </a:rPr>
              <a:t>  = 전체에서 가장 먼저 끝나는 회의</a:t>
            </a:r>
          </a:p>
          <a:p>
            <a:pPr algn="l" eaLnBrk="0" latinLnBrk="0">
              <a:lnSpc>
                <a:spcPct val="105000"/>
              </a:lnSpc>
              <a:buNone/>
            </a:pPr>
            <a:r>
              <a:rPr lang="ko-KR" altLang="en-US" sz="1300" b="0" dirty="0">
                <a:solidFill>
                  <a:srgbClr val="171717"/>
                </a:solidFill>
                <a:latin typeface="Malgun Gothic"/>
                <a:ea typeface="Malgun Gothic"/>
                <a:cs typeface="Malgun Gothic"/>
              </a:rPr>
              <a:t>  x = O에서 가장 먼저 끝나는 회의 (2번)</a:t>
            </a:r>
          </a:p>
          <a:p>
            <a:pPr algn="l" eaLnBrk="0" latinLnBrk="0">
              <a:lnSpc>
                <a:spcPct val="105000"/>
              </a:lnSpc>
              <a:buNone/>
            </a:pPr>
            <a:r>
              <a:rPr lang="ko-KR" altLang="en-US" sz="1300" b="0" dirty="0">
                <a:solidFill>
                  <a:srgbClr val="171717"/>
                </a:solidFill>
                <a:latin typeface="Malgun Gothic"/>
                <a:ea typeface="Malgun Gothic"/>
                <a:cs typeface="Malgun Gothic"/>
              </a:rPr>
              <a:t>  → g의 종료 ≤ x의 종료 (3 ≤ 5)</a:t>
            </a:r>
          </a:p>
        </p:txBody>
      </p:sp>
      <p:sp>
        <p:nvSpPr>
          <p:cNvPr id="12" name="fit:1eb1238cab3fdfc3 13"/>
          <p:cNvSpPr/>
          <p:nvPr/>
        </p:nvSpPr>
        <p:spPr>
          <a:xfrm>
            <a:off x="7909560" y="3849624"/>
            <a:ext cx="3666744" cy="438912"/>
          </a:xfrm>
          <a:prstGeom prst="rect">
            <a:avLst/>
          </a:prstGeom>
          <a:noFill/>
          <a:ln w="0">
            <a:noFill/>
          </a:ln>
        </p:spPr>
        <p:txBody>
          <a:bodyPr wrap="square" lIns="0" tIns="0" rIns="0" bIns="0" anchor="t">
            <a:noAutofit/>
          </a:bodyPr>
          <a:lstStyle/>
          <a:p>
            <a:pPr algn="l" eaLnBrk="0" latinLnBrk="0">
              <a:lnSpc>
                <a:spcPct val="105000"/>
              </a:lnSpc>
              <a:buNone/>
            </a:pPr>
            <a:r>
              <a:rPr lang="ko-KR" altLang="en-US" sz="1300" b="0" dirty="0">
                <a:solidFill>
                  <a:srgbClr val="171717"/>
                </a:solidFill>
                <a:latin typeface="Malgun Gothic"/>
                <a:ea typeface="Malgun Gothic"/>
                <a:cs typeface="Malgun Gothic"/>
              </a:rPr>
              <a:t>② O의 나머지는 x가 끝난 뒤 시작</a:t>
            </a:r>
          </a:p>
          <a:p>
            <a:pPr algn="l" eaLnBrk="0" latinLnBrk="0">
              <a:lnSpc>
                <a:spcPct val="105000"/>
              </a:lnSpc>
              <a:buNone/>
            </a:pPr>
            <a:r>
              <a:rPr lang="ko-KR" altLang="en-US" sz="1300" b="0" dirty="0">
                <a:solidFill>
                  <a:srgbClr val="171717"/>
                </a:solidFill>
                <a:latin typeface="Malgun Gothic"/>
                <a:ea typeface="Malgun Gothic"/>
                <a:cs typeface="Malgun Gothic"/>
              </a:rPr>
              <a:t>  → g와도 겹치지 않습니다.</a:t>
            </a:r>
          </a:p>
        </p:txBody>
      </p:sp>
      <p:sp>
        <p:nvSpPr>
          <p:cNvPr id="13" name="fit:2fcf4e7a9e189a87 14"/>
          <p:cNvSpPr/>
          <p:nvPr/>
        </p:nvSpPr>
        <p:spPr>
          <a:xfrm>
            <a:off x="7909560" y="4343400"/>
            <a:ext cx="3666744" cy="438912"/>
          </a:xfrm>
          <a:prstGeom prst="rect">
            <a:avLst/>
          </a:prstGeom>
          <a:noFill/>
          <a:ln w="0">
            <a:noFill/>
          </a:ln>
        </p:spPr>
        <p:txBody>
          <a:bodyPr wrap="square" lIns="0" tIns="0" rIns="0" bIns="0" anchor="t">
            <a:noAutofit/>
          </a:bodyPr>
          <a:lstStyle/>
          <a:p>
            <a:pPr algn="l" eaLnBrk="0" latinLnBrk="0">
              <a:lnSpc>
                <a:spcPct val="105000"/>
              </a:lnSpc>
              <a:buNone/>
            </a:pPr>
            <a:r>
              <a:rPr lang="ko-KR" altLang="en-US" sz="1300" b="0" dirty="0">
                <a:solidFill>
                  <a:srgbClr val="171717"/>
                </a:solidFill>
                <a:latin typeface="Malgun Gothic"/>
                <a:ea typeface="Malgun Gothic"/>
                <a:cs typeface="Malgun Gothic"/>
              </a:rPr>
              <a:t>③ 개수가 같으므로 O′도 최적해</a:t>
            </a:r>
          </a:p>
          <a:p>
            <a:pPr algn="l" eaLnBrk="0" latinLnBrk="0">
              <a:lnSpc>
                <a:spcPct val="105000"/>
              </a:lnSpc>
              <a:buNone/>
            </a:pPr>
            <a:r>
              <a:rPr lang="ko-KR" altLang="en-US" sz="1300" b="0" dirty="0">
                <a:solidFill>
                  <a:srgbClr val="171717"/>
                </a:solidFill>
                <a:latin typeface="Malgun Gothic"/>
                <a:ea typeface="Malgun Gothic"/>
                <a:cs typeface="Malgun Gothic"/>
              </a:rPr>
              <a:t>  → 남은 회의에도 되풀이합니다.</a:t>
            </a:r>
          </a:p>
        </p:txBody>
      </p:sp>
      <p:sp>
        <p:nvSpPr>
          <p:cNvPr id="14" name="fit:02b4295a96355031 15"/>
          <p:cNvSpPr/>
          <p:nvPr/>
        </p:nvSpPr>
        <p:spPr>
          <a:xfrm>
            <a:off x="7909560" y="4837176"/>
            <a:ext cx="3666744"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0E8A7D"/>
                </a:solidFill>
                <a:latin typeface="Malgun Gothic"/>
                <a:ea typeface="Malgun Gothic"/>
                <a:cs typeface="Malgun Gothic"/>
              </a:rPr>
              <a:t>첫 회의를 포함하는 최적해가</a:t>
            </a:r>
          </a:p>
          <a:p>
            <a:pPr algn="l" eaLnBrk="0" latinLnBrk="0">
              <a:lnSpc>
                <a:spcPct val="100000"/>
              </a:lnSpc>
              <a:buNone/>
            </a:pPr>
            <a:r>
              <a:rPr lang="ko-KR" altLang="en-US" sz="1650" b="1" dirty="0">
                <a:solidFill>
                  <a:srgbClr val="0E8A7D"/>
                </a:solidFill>
                <a:latin typeface="Malgun Gothic"/>
                <a:ea typeface="Malgun Gothic"/>
                <a:cs typeface="Malgun Gothic"/>
              </a:rPr>
              <a:t>적어도 하나 있습니다.</a:t>
            </a:r>
          </a:p>
        </p:txBody>
      </p:sp>
      <p:sp>
        <p:nvSpPr>
          <p:cNvPr id="15" name="fit:40b060c5f955c625 16"/>
          <p:cNvSpPr/>
          <p:nvPr/>
        </p:nvSpPr>
        <p:spPr>
          <a:xfrm>
            <a:off x="7909560" y="5449824"/>
            <a:ext cx="3666744"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1350" b="0" dirty="0">
                <a:solidFill>
                  <a:srgbClr val="3F3F3F"/>
                </a:solidFill>
                <a:latin typeface="Malgun Gothic"/>
                <a:ea typeface="Malgun Gothic"/>
                <a:cs typeface="Malgun Gothic"/>
              </a:rPr>
              <a:t>이 방법이 교환 논증입니다:</a:t>
            </a:r>
          </a:p>
          <a:p>
            <a:pPr algn="l" eaLnBrk="0" latinLnBrk="0">
              <a:lnSpc>
                <a:spcPct val="100000"/>
              </a:lnSpc>
              <a:buNone/>
            </a:pPr>
            <a:r>
              <a:rPr lang="ko-KR" altLang="en-US" sz="1350" b="0" dirty="0">
                <a:solidFill>
                  <a:srgbClr val="3F3F3F"/>
                </a:solidFill>
                <a:latin typeface="Malgun Gothic"/>
                <a:ea typeface="Malgun Gothic"/>
                <a:cs typeface="Malgun Gothic"/>
              </a:rPr>
              <a:t>최적해의 일부를 탐욕 선택으로</a:t>
            </a:r>
          </a:p>
          <a:p>
            <a:pPr algn="l" eaLnBrk="0" latinLnBrk="0">
              <a:lnSpc>
                <a:spcPct val="100000"/>
              </a:lnSpc>
              <a:buNone/>
            </a:pPr>
            <a:r>
              <a:rPr lang="ko-KR" altLang="en-US" sz="1350" b="0" dirty="0">
                <a:solidFill>
                  <a:srgbClr val="3F3F3F"/>
                </a:solidFill>
                <a:latin typeface="Malgun Gothic"/>
                <a:ea typeface="Malgun Gothic"/>
                <a:cs typeface="Malgun Gothic"/>
              </a:rPr>
              <a:t>바꿔도 여전히 최적해임을 보입니다.</a:t>
            </a:r>
          </a:p>
        </p:txBody>
      </p:sp>
      <p:sp>
        <p:nvSpPr>
          <p:cNvPr id="16" name="직사각형 17"/>
          <p:cNvSpPr/>
          <p:nvPr/>
        </p:nvSpPr>
        <p:spPr>
          <a:xfrm>
            <a:off x="612648" y="2651760"/>
            <a:ext cx="10972800" cy="256032"/>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171717"/>
                </a:solidFill>
                <a:latin typeface="Malgun Gothic"/>
                <a:ea typeface="Malgun Gothic"/>
                <a:cs typeface="Malgun Gothic"/>
              </a:rPr>
              <a:t>최적해 O의 예: 2번, 4번, 6번 (3개)</a:t>
            </a:r>
          </a:p>
        </p:txBody>
      </p:sp>
      <p:cxnSp>
        <p:nvCxnSpPr>
          <p:cNvPr id="17" name="연결선 18"/>
          <p:cNvCxnSpPr/>
          <p:nvPr/>
        </p:nvCxnSpPr>
        <p:spPr>
          <a:xfrm>
            <a:off x="2395728" y="3145536"/>
            <a:ext cx="0" cy="1170432"/>
          </a:xfrm>
          <a:prstGeom prst="line">
            <a:avLst/>
          </a:prstGeom>
          <a:ln w="6350">
            <a:solidFill>
              <a:srgbClr val="E6E6E6"/>
            </a:solidFill>
          </a:ln>
        </p:spPr>
      </p:cxnSp>
      <p:sp>
        <p:nvSpPr>
          <p:cNvPr id="18" name="직사각형 19"/>
          <p:cNvSpPr/>
          <p:nvPr/>
        </p:nvSpPr>
        <p:spPr>
          <a:xfrm>
            <a:off x="221284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9" name="연결선 20"/>
          <p:cNvCxnSpPr/>
          <p:nvPr/>
        </p:nvCxnSpPr>
        <p:spPr>
          <a:xfrm>
            <a:off x="2791968" y="3145536"/>
            <a:ext cx="0" cy="1170432"/>
          </a:xfrm>
          <a:prstGeom prst="line">
            <a:avLst/>
          </a:prstGeom>
          <a:ln w="6350">
            <a:solidFill>
              <a:srgbClr val="E6E6E6"/>
            </a:solidFill>
          </a:ln>
        </p:spPr>
      </p:cxnSp>
      <p:sp>
        <p:nvSpPr>
          <p:cNvPr id="20" name="직사각형 21"/>
          <p:cNvSpPr/>
          <p:nvPr/>
        </p:nvSpPr>
        <p:spPr>
          <a:xfrm>
            <a:off x="260908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21" name="연결선 22"/>
          <p:cNvCxnSpPr/>
          <p:nvPr/>
        </p:nvCxnSpPr>
        <p:spPr>
          <a:xfrm>
            <a:off x="3188208" y="3145536"/>
            <a:ext cx="0" cy="1170432"/>
          </a:xfrm>
          <a:prstGeom prst="line">
            <a:avLst/>
          </a:prstGeom>
          <a:ln w="6350">
            <a:solidFill>
              <a:srgbClr val="E6E6E6"/>
            </a:solidFill>
          </a:ln>
        </p:spPr>
      </p:cxnSp>
      <p:sp>
        <p:nvSpPr>
          <p:cNvPr id="22" name="직사각형 23"/>
          <p:cNvSpPr/>
          <p:nvPr/>
        </p:nvSpPr>
        <p:spPr>
          <a:xfrm>
            <a:off x="300532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23" name="연결선 24"/>
          <p:cNvCxnSpPr/>
          <p:nvPr/>
        </p:nvCxnSpPr>
        <p:spPr>
          <a:xfrm>
            <a:off x="3584448" y="3145536"/>
            <a:ext cx="0" cy="1170432"/>
          </a:xfrm>
          <a:prstGeom prst="line">
            <a:avLst/>
          </a:prstGeom>
          <a:ln w="6350">
            <a:solidFill>
              <a:srgbClr val="E6E6E6"/>
            </a:solidFill>
          </a:ln>
        </p:spPr>
      </p:cxnSp>
      <p:sp>
        <p:nvSpPr>
          <p:cNvPr id="24" name="직사각형 25"/>
          <p:cNvSpPr/>
          <p:nvPr/>
        </p:nvSpPr>
        <p:spPr>
          <a:xfrm>
            <a:off x="340156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25" name="연결선 26"/>
          <p:cNvCxnSpPr/>
          <p:nvPr/>
        </p:nvCxnSpPr>
        <p:spPr>
          <a:xfrm>
            <a:off x="3980688" y="3145536"/>
            <a:ext cx="0" cy="1170432"/>
          </a:xfrm>
          <a:prstGeom prst="line">
            <a:avLst/>
          </a:prstGeom>
          <a:ln w="6350">
            <a:solidFill>
              <a:srgbClr val="E6E6E6"/>
            </a:solidFill>
          </a:ln>
        </p:spPr>
      </p:cxnSp>
      <p:sp>
        <p:nvSpPr>
          <p:cNvPr id="26" name="직사각형 27"/>
          <p:cNvSpPr/>
          <p:nvPr/>
        </p:nvSpPr>
        <p:spPr>
          <a:xfrm>
            <a:off x="379780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7" name="연결선 28"/>
          <p:cNvCxnSpPr/>
          <p:nvPr/>
        </p:nvCxnSpPr>
        <p:spPr>
          <a:xfrm>
            <a:off x="4376928" y="3145536"/>
            <a:ext cx="0" cy="1170432"/>
          </a:xfrm>
          <a:prstGeom prst="line">
            <a:avLst/>
          </a:prstGeom>
          <a:ln w="6350">
            <a:solidFill>
              <a:srgbClr val="E6E6E6"/>
            </a:solidFill>
          </a:ln>
        </p:spPr>
      </p:cxnSp>
      <p:sp>
        <p:nvSpPr>
          <p:cNvPr id="28" name="직사각형 29"/>
          <p:cNvSpPr/>
          <p:nvPr/>
        </p:nvSpPr>
        <p:spPr>
          <a:xfrm>
            <a:off x="419404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9" name="연결선 30"/>
          <p:cNvCxnSpPr/>
          <p:nvPr/>
        </p:nvCxnSpPr>
        <p:spPr>
          <a:xfrm>
            <a:off x="4773168" y="3145536"/>
            <a:ext cx="0" cy="1170432"/>
          </a:xfrm>
          <a:prstGeom prst="line">
            <a:avLst/>
          </a:prstGeom>
          <a:ln w="6350">
            <a:solidFill>
              <a:srgbClr val="E6E6E6"/>
            </a:solidFill>
          </a:ln>
        </p:spPr>
      </p:cxnSp>
      <p:sp>
        <p:nvSpPr>
          <p:cNvPr id="30" name="직사각형 31"/>
          <p:cNvSpPr/>
          <p:nvPr/>
        </p:nvSpPr>
        <p:spPr>
          <a:xfrm>
            <a:off x="459028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31" name="연결선 32"/>
          <p:cNvCxnSpPr/>
          <p:nvPr/>
        </p:nvCxnSpPr>
        <p:spPr>
          <a:xfrm>
            <a:off x="5169408" y="3145536"/>
            <a:ext cx="0" cy="1170432"/>
          </a:xfrm>
          <a:prstGeom prst="line">
            <a:avLst/>
          </a:prstGeom>
          <a:ln w="6350">
            <a:solidFill>
              <a:srgbClr val="E6E6E6"/>
            </a:solidFill>
          </a:ln>
        </p:spPr>
      </p:cxnSp>
      <p:sp>
        <p:nvSpPr>
          <p:cNvPr id="32" name="직사각형 33"/>
          <p:cNvSpPr/>
          <p:nvPr/>
        </p:nvSpPr>
        <p:spPr>
          <a:xfrm>
            <a:off x="498652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33" name="연결선 34"/>
          <p:cNvCxnSpPr/>
          <p:nvPr/>
        </p:nvCxnSpPr>
        <p:spPr>
          <a:xfrm>
            <a:off x="5565648" y="3145536"/>
            <a:ext cx="0" cy="1170432"/>
          </a:xfrm>
          <a:prstGeom prst="line">
            <a:avLst/>
          </a:prstGeom>
          <a:ln w="6350">
            <a:solidFill>
              <a:srgbClr val="E6E6E6"/>
            </a:solidFill>
          </a:ln>
        </p:spPr>
      </p:cxnSp>
      <p:sp>
        <p:nvSpPr>
          <p:cNvPr id="34" name="직사각형 35"/>
          <p:cNvSpPr/>
          <p:nvPr/>
        </p:nvSpPr>
        <p:spPr>
          <a:xfrm>
            <a:off x="538276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35" name="연결선 36"/>
          <p:cNvCxnSpPr/>
          <p:nvPr/>
        </p:nvCxnSpPr>
        <p:spPr>
          <a:xfrm>
            <a:off x="5961888" y="3145536"/>
            <a:ext cx="0" cy="1170432"/>
          </a:xfrm>
          <a:prstGeom prst="line">
            <a:avLst/>
          </a:prstGeom>
          <a:ln w="6350">
            <a:solidFill>
              <a:srgbClr val="E6E6E6"/>
            </a:solidFill>
          </a:ln>
        </p:spPr>
      </p:cxnSp>
      <p:sp>
        <p:nvSpPr>
          <p:cNvPr id="36" name="직사각형 37"/>
          <p:cNvSpPr/>
          <p:nvPr/>
        </p:nvSpPr>
        <p:spPr>
          <a:xfrm>
            <a:off x="577900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37" name="연결선 38"/>
          <p:cNvCxnSpPr/>
          <p:nvPr/>
        </p:nvCxnSpPr>
        <p:spPr>
          <a:xfrm>
            <a:off x="6358128" y="3145536"/>
            <a:ext cx="0" cy="1170432"/>
          </a:xfrm>
          <a:prstGeom prst="line">
            <a:avLst/>
          </a:prstGeom>
          <a:ln w="6350">
            <a:solidFill>
              <a:srgbClr val="E6E6E6"/>
            </a:solidFill>
          </a:ln>
        </p:spPr>
      </p:cxnSp>
      <p:sp>
        <p:nvSpPr>
          <p:cNvPr id="38" name="직사각형 39"/>
          <p:cNvSpPr/>
          <p:nvPr/>
        </p:nvSpPr>
        <p:spPr>
          <a:xfrm>
            <a:off x="617524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39" name="연결선 40"/>
          <p:cNvCxnSpPr/>
          <p:nvPr/>
        </p:nvCxnSpPr>
        <p:spPr>
          <a:xfrm>
            <a:off x="6754368" y="3145536"/>
            <a:ext cx="0" cy="1170432"/>
          </a:xfrm>
          <a:prstGeom prst="line">
            <a:avLst/>
          </a:prstGeom>
          <a:ln w="6350">
            <a:solidFill>
              <a:srgbClr val="E6E6E6"/>
            </a:solidFill>
          </a:ln>
        </p:spPr>
      </p:cxnSp>
      <p:sp>
        <p:nvSpPr>
          <p:cNvPr id="40" name="직사각형 41"/>
          <p:cNvSpPr/>
          <p:nvPr/>
        </p:nvSpPr>
        <p:spPr>
          <a:xfrm>
            <a:off x="657148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cxnSp>
        <p:nvCxnSpPr>
          <p:cNvPr id="41" name="연결선 42"/>
          <p:cNvCxnSpPr/>
          <p:nvPr/>
        </p:nvCxnSpPr>
        <p:spPr>
          <a:xfrm>
            <a:off x="7150608" y="3145536"/>
            <a:ext cx="0" cy="1170432"/>
          </a:xfrm>
          <a:prstGeom prst="line">
            <a:avLst/>
          </a:prstGeom>
          <a:ln w="6350">
            <a:solidFill>
              <a:srgbClr val="E6E6E6"/>
            </a:solidFill>
          </a:ln>
        </p:spPr>
      </p:cxnSp>
      <p:sp>
        <p:nvSpPr>
          <p:cNvPr id="42" name="직사각형 43"/>
          <p:cNvSpPr/>
          <p:nvPr/>
        </p:nvSpPr>
        <p:spPr>
          <a:xfrm>
            <a:off x="6967728" y="2907792"/>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12</a:t>
            </a:r>
          </a:p>
        </p:txBody>
      </p:sp>
      <p:sp>
        <p:nvSpPr>
          <p:cNvPr id="43" name="직사각형 44"/>
          <p:cNvSpPr/>
          <p:nvPr/>
        </p:nvSpPr>
        <p:spPr>
          <a:xfrm>
            <a:off x="612648" y="3264408"/>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1" dirty="0">
                <a:solidFill>
                  <a:srgbClr val="151515"/>
                </a:solidFill>
                <a:latin typeface="Malgun Gothic"/>
                <a:ea typeface="Malgun Gothic"/>
                <a:cs typeface="Malgun Gothic"/>
              </a:rPr>
              <a:t>2번 [2, 5)</a:t>
            </a:r>
          </a:p>
        </p:txBody>
      </p:sp>
      <p:sp>
        <p:nvSpPr>
          <p:cNvPr id="44" name="직사각형 45"/>
          <p:cNvSpPr/>
          <p:nvPr/>
        </p:nvSpPr>
        <p:spPr>
          <a:xfrm>
            <a:off x="3188208" y="3264408"/>
            <a:ext cx="1188720" cy="274320"/>
          </a:xfrm>
          <a:prstGeom prst="rect">
            <a:avLst/>
          </a:prstGeom>
          <a:solidFill>
            <a:srgbClr val="FFF1C2"/>
          </a:solidFill>
          <a:ln w="15875">
            <a:solidFill>
              <a:srgbClr val="B8651B"/>
            </a:solidFill>
          </a:ln>
        </p:spPr>
        <p:txBody>
          <a:bodyPr wrap="square" lIns="0" tIns="0" rIns="0" bIns="0" anchor="ctr">
            <a:noAutofit/>
          </a:bodyPr>
          <a:lstStyle/>
          <a:p>
            <a:pPr algn="ctr" eaLnBrk="0" latinLnBrk="0">
              <a:lnSpc>
                <a:spcPct val="100000"/>
              </a:lnSpc>
              <a:buNone/>
            </a:pPr>
            <a:endParaRPr lang="ko-KR" sz="1200"/>
          </a:p>
        </p:txBody>
      </p:sp>
      <p:sp>
        <p:nvSpPr>
          <p:cNvPr id="45" name="직사각형 46"/>
          <p:cNvSpPr/>
          <p:nvPr/>
        </p:nvSpPr>
        <p:spPr>
          <a:xfrm>
            <a:off x="612648" y="3630168"/>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4번 [6, 8)</a:t>
            </a:r>
          </a:p>
        </p:txBody>
      </p:sp>
      <p:sp>
        <p:nvSpPr>
          <p:cNvPr id="46" name="직사각형 47"/>
          <p:cNvSpPr/>
          <p:nvPr/>
        </p:nvSpPr>
        <p:spPr>
          <a:xfrm>
            <a:off x="4773168" y="3630168"/>
            <a:ext cx="792480" cy="27432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47" name="직사각형 48"/>
          <p:cNvSpPr/>
          <p:nvPr/>
        </p:nvSpPr>
        <p:spPr>
          <a:xfrm>
            <a:off x="612648" y="3995928"/>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6번 [8, 11)</a:t>
            </a:r>
          </a:p>
        </p:txBody>
      </p:sp>
      <p:sp>
        <p:nvSpPr>
          <p:cNvPr id="48" name="직사각형 49"/>
          <p:cNvSpPr/>
          <p:nvPr/>
        </p:nvSpPr>
        <p:spPr>
          <a:xfrm>
            <a:off x="5565648" y="3995928"/>
            <a:ext cx="1188720" cy="27432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49" name="직사각형 50"/>
          <p:cNvSpPr/>
          <p:nvPr/>
        </p:nvSpPr>
        <p:spPr>
          <a:xfrm>
            <a:off x="612648" y="4416552"/>
            <a:ext cx="10972800" cy="256032"/>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171717"/>
                </a:solidFill>
                <a:latin typeface="Malgun Gothic"/>
                <a:ea typeface="Malgun Gothic"/>
                <a:cs typeface="Malgun Gothic"/>
              </a:rPr>
              <a:t>O의 2번을 1번으로 바꾼 O′: 3개 그대로</a:t>
            </a:r>
          </a:p>
        </p:txBody>
      </p:sp>
      <p:cxnSp>
        <p:nvCxnSpPr>
          <p:cNvPr id="50" name="연결선 51"/>
          <p:cNvCxnSpPr/>
          <p:nvPr/>
        </p:nvCxnSpPr>
        <p:spPr>
          <a:xfrm>
            <a:off x="2395728" y="4910328"/>
            <a:ext cx="0" cy="1170432"/>
          </a:xfrm>
          <a:prstGeom prst="line">
            <a:avLst/>
          </a:prstGeom>
          <a:ln w="6350">
            <a:solidFill>
              <a:srgbClr val="E6E6E6"/>
            </a:solidFill>
          </a:ln>
        </p:spPr>
      </p:cxnSp>
      <p:sp>
        <p:nvSpPr>
          <p:cNvPr id="51" name="직사각형 52"/>
          <p:cNvSpPr/>
          <p:nvPr/>
        </p:nvSpPr>
        <p:spPr>
          <a:xfrm>
            <a:off x="221284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52" name="연결선 53"/>
          <p:cNvCxnSpPr/>
          <p:nvPr/>
        </p:nvCxnSpPr>
        <p:spPr>
          <a:xfrm>
            <a:off x="2791968" y="4910328"/>
            <a:ext cx="0" cy="1170432"/>
          </a:xfrm>
          <a:prstGeom prst="line">
            <a:avLst/>
          </a:prstGeom>
          <a:ln w="6350">
            <a:solidFill>
              <a:srgbClr val="E6E6E6"/>
            </a:solidFill>
          </a:ln>
        </p:spPr>
      </p:cxnSp>
      <p:sp>
        <p:nvSpPr>
          <p:cNvPr id="53" name="직사각형 54"/>
          <p:cNvSpPr/>
          <p:nvPr/>
        </p:nvSpPr>
        <p:spPr>
          <a:xfrm>
            <a:off x="260908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54" name="연결선 55"/>
          <p:cNvCxnSpPr/>
          <p:nvPr/>
        </p:nvCxnSpPr>
        <p:spPr>
          <a:xfrm>
            <a:off x="3188208" y="4910328"/>
            <a:ext cx="0" cy="1170432"/>
          </a:xfrm>
          <a:prstGeom prst="line">
            <a:avLst/>
          </a:prstGeom>
          <a:ln w="6350">
            <a:solidFill>
              <a:srgbClr val="E6E6E6"/>
            </a:solidFill>
          </a:ln>
        </p:spPr>
      </p:cxnSp>
      <p:sp>
        <p:nvSpPr>
          <p:cNvPr id="55" name="직사각형 56"/>
          <p:cNvSpPr/>
          <p:nvPr/>
        </p:nvSpPr>
        <p:spPr>
          <a:xfrm>
            <a:off x="300532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56" name="연결선 57"/>
          <p:cNvCxnSpPr/>
          <p:nvPr/>
        </p:nvCxnSpPr>
        <p:spPr>
          <a:xfrm>
            <a:off x="3584448" y="4910328"/>
            <a:ext cx="0" cy="1170432"/>
          </a:xfrm>
          <a:prstGeom prst="line">
            <a:avLst/>
          </a:prstGeom>
          <a:ln w="6350">
            <a:solidFill>
              <a:srgbClr val="E6E6E6"/>
            </a:solidFill>
          </a:ln>
        </p:spPr>
      </p:cxnSp>
      <p:sp>
        <p:nvSpPr>
          <p:cNvPr id="57" name="직사각형 58"/>
          <p:cNvSpPr/>
          <p:nvPr/>
        </p:nvSpPr>
        <p:spPr>
          <a:xfrm>
            <a:off x="340156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58" name="연결선 59"/>
          <p:cNvCxnSpPr/>
          <p:nvPr/>
        </p:nvCxnSpPr>
        <p:spPr>
          <a:xfrm>
            <a:off x="3980688" y="4910328"/>
            <a:ext cx="0" cy="1170432"/>
          </a:xfrm>
          <a:prstGeom prst="line">
            <a:avLst/>
          </a:prstGeom>
          <a:ln w="6350">
            <a:solidFill>
              <a:srgbClr val="E6E6E6"/>
            </a:solidFill>
          </a:ln>
        </p:spPr>
      </p:cxnSp>
      <p:sp>
        <p:nvSpPr>
          <p:cNvPr id="59" name="직사각형 60"/>
          <p:cNvSpPr/>
          <p:nvPr/>
        </p:nvSpPr>
        <p:spPr>
          <a:xfrm>
            <a:off x="379780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60" name="연결선 61"/>
          <p:cNvCxnSpPr/>
          <p:nvPr/>
        </p:nvCxnSpPr>
        <p:spPr>
          <a:xfrm>
            <a:off x="4376928" y="4910328"/>
            <a:ext cx="0" cy="1170432"/>
          </a:xfrm>
          <a:prstGeom prst="line">
            <a:avLst/>
          </a:prstGeom>
          <a:ln w="6350">
            <a:solidFill>
              <a:srgbClr val="E6E6E6"/>
            </a:solidFill>
          </a:ln>
        </p:spPr>
      </p:cxnSp>
      <p:sp>
        <p:nvSpPr>
          <p:cNvPr id="61" name="직사각형 62"/>
          <p:cNvSpPr/>
          <p:nvPr/>
        </p:nvSpPr>
        <p:spPr>
          <a:xfrm>
            <a:off x="419404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62" name="연결선 63"/>
          <p:cNvCxnSpPr/>
          <p:nvPr/>
        </p:nvCxnSpPr>
        <p:spPr>
          <a:xfrm>
            <a:off x="4773168" y="4910328"/>
            <a:ext cx="0" cy="1170432"/>
          </a:xfrm>
          <a:prstGeom prst="line">
            <a:avLst/>
          </a:prstGeom>
          <a:ln w="6350">
            <a:solidFill>
              <a:srgbClr val="E6E6E6"/>
            </a:solidFill>
          </a:ln>
        </p:spPr>
      </p:cxnSp>
      <p:sp>
        <p:nvSpPr>
          <p:cNvPr id="63" name="직사각형 64"/>
          <p:cNvSpPr/>
          <p:nvPr/>
        </p:nvSpPr>
        <p:spPr>
          <a:xfrm>
            <a:off x="459028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64" name="연결선 65"/>
          <p:cNvCxnSpPr/>
          <p:nvPr/>
        </p:nvCxnSpPr>
        <p:spPr>
          <a:xfrm>
            <a:off x="5169408" y="4910328"/>
            <a:ext cx="0" cy="1170432"/>
          </a:xfrm>
          <a:prstGeom prst="line">
            <a:avLst/>
          </a:prstGeom>
          <a:ln w="6350">
            <a:solidFill>
              <a:srgbClr val="E6E6E6"/>
            </a:solidFill>
          </a:ln>
        </p:spPr>
      </p:cxnSp>
      <p:sp>
        <p:nvSpPr>
          <p:cNvPr id="65" name="직사각형 66"/>
          <p:cNvSpPr/>
          <p:nvPr/>
        </p:nvSpPr>
        <p:spPr>
          <a:xfrm>
            <a:off x="498652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66" name="연결선 67"/>
          <p:cNvCxnSpPr/>
          <p:nvPr/>
        </p:nvCxnSpPr>
        <p:spPr>
          <a:xfrm>
            <a:off x="5565648" y="4910328"/>
            <a:ext cx="0" cy="1170432"/>
          </a:xfrm>
          <a:prstGeom prst="line">
            <a:avLst/>
          </a:prstGeom>
          <a:ln w="6350">
            <a:solidFill>
              <a:srgbClr val="E6E6E6"/>
            </a:solidFill>
          </a:ln>
        </p:spPr>
      </p:cxnSp>
      <p:sp>
        <p:nvSpPr>
          <p:cNvPr id="67" name="직사각형 68"/>
          <p:cNvSpPr/>
          <p:nvPr/>
        </p:nvSpPr>
        <p:spPr>
          <a:xfrm>
            <a:off x="538276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8</a:t>
            </a:r>
          </a:p>
        </p:txBody>
      </p:sp>
      <p:cxnSp>
        <p:nvCxnSpPr>
          <p:cNvPr id="68" name="연결선 69"/>
          <p:cNvCxnSpPr/>
          <p:nvPr/>
        </p:nvCxnSpPr>
        <p:spPr>
          <a:xfrm>
            <a:off x="5961888" y="4910328"/>
            <a:ext cx="0" cy="1170432"/>
          </a:xfrm>
          <a:prstGeom prst="line">
            <a:avLst/>
          </a:prstGeom>
          <a:ln w="6350">
            <a:solidFill>
              <a:srgbClr val="E6E6E6"/>
            </a:solidFill>
          </a:ln>
        </p:spPr>
      </p:cxnSp>
      <p:sp>
        <p:nvSpPr>
          <p:cNvPr id="69" name="직사각형 70"/>
          <p:cNvSpPr/>
          <p:nvPr/>
        </p:nvSpPr>
        <p:spPr>
          <a:xfrm>
            <a:off x="577900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9</a:t>
            </a:r>
          </a:p>
        </p:txBody>
      </p:sp>
      <p:cxnSp>
        <p:nvCxnSpPr>
          <p:cNvPr id="70" name="연결선 71"/>
          <p:cNvCxnSpPr/>
          <p:nvPr/>
        </p:nvCxnSpPr>
        <p:spPr>
          <a:xfrm>
            <a:off x="6358128" y="4910328"/>
            <a:ext cx="0" cy="1170432"/>
          </a:xfrm>
          <a:prstGeom prst="line">
            <a:avLst/>
          </a:prstGeom>
          <a:ln w="6350">
            <a:solidFill>
              <a:srgbClr val="E6E6E6"/>
            </a:solidFill>
          </a:ln>
        </p:spPr>
      </p:cxnSp>
      <p:sp>
        <p:nvSpPr>
          <p:cNvPr id="71" name="직사각형 72"/>
          <p:cNvSpPr/>
          <p:nvPr/>
        </p:nvSpPr>
        <p:spPr>
          <a:xfrm>
            <a:off x="617524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10</a:t>
            </a:r>
          </a:p>
        </p:txBody>
      </p:sp>
      <p:cxnSp>
        <p:nvCxnSpPr>
          <p:cNvPr id="72" name="연결선 73"/>
          <p:cNvCxnSpPr/>
          <p:nvPr/>
        </p:nvCxnSpPr>
        <p:spPr>
          <a:xfrm>
            <a:off x="6754368" y="4910328"/>
            <a:ext cx="0" cy="1170432"/>
          </a:xfrm>
          <a:prstGeom prst="line">
            <a:avLst/>
          </a:prstGeom>
          <a:ln w="6350">
            <a:solidFill>
              <a:srgbClr val="E6E6E6"/>
            </a:solidFill>
          </a:ln>
        </p:spPr>
      </p:cxnSp>
      <p:sp>
        <p:nvSpPr>
          <p:cNvPr id="73" name="직사각형 74"/>
          <p:cNvSpPr/>
          <p:nvPr/>
        </p:nvSpPr>
        <p:spPr>
          <a:xfrm>
            <a:off x="657148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11</a:t>
            </a:r>
          </a:p>
        </p:txBody>
      </p:sp>
      <p:cxnSp>
        <p:nvCxnSpPr>
          <p:cNvPr id="74" name="연결선 75"/>
          <p:cNvCxnSpPr/>
          <p:nvPr/>
        </p:nvCxnSpPr>
        <p:spPr>
          <a:xfrm>
            <a:off x="7150608" y="4910328"/>
            <a:ext cx="0" cy="1170432"/>
          </a:xfrm>
          <a:prstGeom prst="line">
            <a:avLst/>
          </a:prstGeom>
          <a:ln w="6350">
            <a:solidFill>
              <a:srgbClr val="E6E6E6"/>
            </a:solidFill>
          </a:ln>
        </p:spPr>
      </p:cxnSp>
      <p:sp>
        <p:nvSpPr>
          <p:cNvPr id="75" name="직사각형 76"/>
          <p:cNvSpPr/>
          <p:nvPr/>
        </p:nvSpPr>
        <p:spPr>
          <a:xfrm>
            <a:off x="6967728" y="467258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12</a:t>
            </a:r>
          </a:p>
        </p:txBody>
      </p:sp>
      <p:sp>
        <p:nvSpPr>
          <p:cNvPr id="76" name="직사각형 77"/>
          <p:cNvSpPr/>
          <p:nvPr/>
        </p:nvSpPr>
        <p:spPr>
          <a:xfrm>
            <a:off x="612648" y="502920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1" dirty="0">
                <a:solidFill>
                  <a:srgbClr val="151515"/>
                </a:solidFill>
                <a:latin typeface="Malgun Gothic"/>
                <a:ea typeface="Malgun Gothic"/>
                <a:cs typeface="Malgun Gothic"/>
              </a:rPr>
              <a:t>1번 [1, 3)</a:t>
            </a:r>
          </a:p>
        </p:txBody>
      </p:sp>
      <p:sp>
        <p:nvSpPr>
          <p:cNvPr id="77" name="직사각형 78"/>
          <p:cNvSpPr/>
          <p:nvPr/>
        </p:nvSpPr>
        <p:spPr>
          <a:xfrm>
            <a:off x="2791968" y="5029200"/>
            <a:ext cx="792480" cy="274320"/>
          </a:xfrm>
          <a:prstGeom prst="rect">
            <a:avLst/>
          </a:prstGeom>
          <a:solidFill>
            <a:srgbClr val="FFF1C2"/>
          </a:solidFill>
          <a:ln w="15875">
            <a:solidFill>
              <a:srgbClr val="B8651B"/>
            </a:solidFill>
          </a:ln>
        </p:spPr>
        <p:txBody>
          <a:bodyPr wrap="square" lIns="0" tIns="0" rIns="0" bIns="0" anchor="ctr">
            <a:noAutofit/>
          </a:bodyPr>
          <a:lstStyle/>
          <a:p>
            <a:pPr algn="ctr" eaLnBrk="0" latinLnBrk="0">
              <a:lnSpc>
                <a:spcPct val="100000"/>
              </a:lnSpc>
              <a:buNone/>
            </a:pPr>
            <a:endParaRPr lang="ko-KR" sz="1200"/>
          </a:p>
        </p:txBody>
      </p:sp>
      <p:sp>
        <p:nvSpPr>
          <p:cNvPr id="78" name="직사각형 79"/>
          <p:cNvSpPr/>
          <p:nvPr/>
        </p:nvSpPr>
        <p:spPr>
          <a:xfrm>
            <a:off x="612648" y="539496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4번 [6, 8)</a:t>
            </a:r>
          </a:p>
        </p:txBody>
      </p:sp>
      <p:sp>
        <p:nvSpPr>
          <p:cNvPr id="79" name="직사각형 80"/>
          <p:cNvSpPr/>
          <p:nvPr/>
        </p:nvSpPr>
        <p:spPr>
          <a:xfrm>
            <a:off x="4773168" y="5394960"/>
            <a:ext cx="792480" cy="27432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80" name="직사각형 81"/>
          <p:cNvSpPr/>
          <p:nvPr/>
        </p:nvSpPr>
        <p:spPr>
          <a:xfrm>
            <a:off x="612648" y="5760720"/>
            <a:ext cx="1691640" cy="274320"/>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6번 [8, 11)</a:t>
            </a:r>
          </a:p>
        </p:txBody>
      </p:sp>
      <p:sp>
        <p:nvSpPr>
          <p:cNvPr id="81" name="직사각형 82"/>
          <p:cNvSpPr/>
          <p:nvPr/>
        </p:nvSpPr>
        <p:spPr>
          <a:xfrm>
            <a:off x="5565648" y="5760720"/>
            <a:ext cx="1188720" cy="274320"/>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endParaRPr lang="ko-KR" sz="1200"/>
          </a:p>
        </p:txBody>
      </p:sp>
      <p:sp>
        <p:nvSpPr>
          <p:cNvPr id="82" name="직사각형 83"/>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바꾸는 회의    파랑: 그대로 두는 회의</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activity_count · [1, 4), [3, 5), [4, 6)</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31</a:t>
            </a:r>
            <a:endParaRPr lang="ko-KR" altLang="en-US" sz="1050" b="0" dirty="0">
              <a:solidFill>
                <a:srgbClr val="606060"/>
              </a:solidFill>
              <a:latin typeface="Malgun Gothic"/>
              <a:ea typeface="Malgun Gothic"/>
              <a:cs typeface="Malgun Gothic"/>
            </a:endParaRPr>
          </a:p>
        </p:txBody>
      </p:sp>
      <p:sp>
        <p:nvSpPr>
          <p:cNvPr id="9" name="fit:22415881af9b2f56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종료 시각 순으로 정렬되어 들어온 활동의 최대 개수를 셉니다.</a:t>
            </a:r>
          </a:p>
          <a:p>
            <a:pPr algn="l" eaLnBrk="0" latinLnBrk="0">
              <a:lnSpc>
                <a:spcPct val="100000"/>
              </a:lnSpc>
              <a:buNone/>
            </a:pPr>
            <a:r>
              <a:rPr lang="ko-KR" altLang="en-US" sz="2025" b="0" dirty="0">
                <a:solidFill>
                  <a:srgbClr val="171717"/>
                </a:solidFill>
                <a:latin typeface="Malgun Gothic"/>
                <a:ea typeface="Malgun Gothic"/>
                <a:cs typeface="Malgun Gothic"/>
              </a:rPr>
              <a:t>시작 ≥ last_end이면 고르고 count를 1 늘립니다.</a:t>
            </a:r>
          </a:p>
        </p:txBody>
      </p:sp>
      <p:cxnSp>
        <p:nvCxnSpPr>
          <p:cNvPr id="10" name="연결선 11"/>
          <p:cNvCxnSpPr/>
          <p:nvPr/>
        </p:nvCxnSpPr>
        <p:spPr>
          <a:xfrm>
            <a:off x="2743200" y="2761488"/>
            <a:ext cx="0" cy="1280160"/>
          </a:xfrm>
          <a:prstGeom prst="line">
            <a:avLst/>
          </a:prstGeom>
          <a:ln w="6350">
            <a:solidFill>
              <a:srgbClr val="E6E6E6"/>
            </a:solidFill>
          </a:ln>
        </p:spPr>
      </p:cxnSp>
      <p:sp>
        <p:nvSpPr>
          <p:cNvPr id="11" name="직사각형 12"/>
          <p:cNvSpPr/>
          <p:nvPr/>
        </p:nvSpPr>
        <p:spPr>
          <a:xfrm>
            <a:off x="25603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0</a:t>
            </a:r>
          </a:p>
        </p:txBody>
      </p:sp>
      <p:cxnSp>
        <p:nvCxnSpPr>
          <p:cNvPr id="12" name="연결선 13"/>
          <p:cNvCxnSpPr/>
          <p:nvPr/>
        </p:nvCxnSpPr>
        <p:spPr>
          <a:xfrm>
            <a:off x="3474720" y="2761488"/>
            <a:ext cx="0" cy="1280160"/>
          </a:xfrm>
          <a:prstGeom prst="line">
            <a:avLst/>
          </a:prstGeom>
          <a:ln w="6350">
            <a:solidFill>
              <a:srgbClr val="E6E6E6"/>
            </a:solidFill>
          </a:ln>
        </p:spPr>
      </p:cxnSp>
      <p:sp>
        <p:nvSpPr>
          <p:cNvPr id="13" name="직사각형 14"/>
          <p:cNvSpPr/>
          <p:nvPr/>
        </p:nvSpPr>
        <p:spPr>
          <a:xfrm>
            <a:off x="32918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1</a:t>
            </a:r>
          </a:p>
        </p:txBody>
      </p:sp>
      <p:cxnSp>
        <p:nvCxnSpPr>
          <p:cNvPr id="14" name="연결선 15"/>
          <p:cNvCxnSpPr/>
          <p:nvPr/>
        </p:nvCxnSpPr>
        <p:spPr>
          <a:xfrm>
            <a:off x="4206240" y="2761488"/>
            <a:ext cx="0" cy="1280160"/>
          </a:xfrm>
          <a:prstGeom prst="line">
            <a:avLst/>
          </a:prstGeom>
          <a:ln w="6350">
            <a:solidFill>
              <a:srgbClr val="E6E6E6"/>
            </a:solidFill>
          </a:ln>
        </p:spPr>
      </p:cxnSp>
      <p:sp>
        <p:nvSpPr>
          <p:cNvPr id="15" name="직사각형 16"/>
          <p:cNvSpPr/>
          <p:nvPr/>
        </p:nvSpPr>
        <p:spPr>
          <a:xfrm>
            <a:off x="40233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2</a:t>
            </a:r>
          </a:p>
        </p:txBody>
      </p:sp>
      <p:cxnSp>
        <p:nvCxnSpPr>
          <p:cNvPr id="16" name="연결선 17"/>
          <p:cNvCxnSpPr/>
          <p:nvPr/>
        </p:nvCxnSpPr>
        <p:spPr>
          <a:xfrm>
            <a:off x="4937760" y="2761488"/>
            <a:ext cx="0" cy="1280160"/>
          </a:xfrm>
          <a:prstGeom prst="line">
            <a:avLst/>
          </a:prstGeom>
          <a:ln w="6350">
            <a:solidFill>
              <a:srgbClr val="E6E6E6"/>
            </a:solidFill>
          </a:ln>
        </p:spPr>
      </p:cxnSp>
      <p:sp>
        <p:nvSpPr>
          <p:cNvPr id="17" name="직사각형 18"/>
          <p:cNvSpPr/>
          <p:nvPr/>
        </p:nvSpPr>
        <p:spPr>
          <a:xfrm>
            <a:off x="475488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3</a:t>
            </a:r>
          </a:p>
        </p:txBody>
      </p:sp>
      <p:cxnSp>
        <p:nvCxnSpPr>
          <p:cNvPr id="18" name="연결선 19"/>
          <p:cNvCxnSpPr/>
          <p:nvPr/>
        </p:nvCxnSpPr>
        <p:spPr>
          <a:xfrm>
            <a:off x="5669280" y="2761488"/>
            <a:ext cx="0" cy="1280160"/>
          </a:xfrm>
          <a:prstGeom prst="line">
            <a:avLst/>
          </a:prstGeom>
          <a:ln w="6350">
            <a:solidFill>
              <a:srgbClr val="E6E6E6"/>
            </a:solidFill>
          </a:ln>
        </p:spPr>
      </p:cxnSp>
      <p:sp>
        <p:nvSpPr>
          <p:cNvPr id="19" name="직사각형 20"/>
          <p:cNvSpPr/>
          <p:nvPr/>
        </p:nvSpPr>
        <p:spPr>
          <a:xfrm>
            <a:off x="548640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4</a:t>
            </a:r>
          </a:p>
        </p:txBody>
      </p:sp>
      <p:cxnSp>
        <p:nvCxnSpPr>
          <p:cNvPr id="20" name="연결선 21"/>
          <p:cNvCxnSpPr/>
          <p:nvPr/>
        </p:nvCxnSpPr>
        <p:spPr>
          <a:xfrm>
            <a:off x="6400800" y="2761488"/>
            <a:ext cx="0" cy="1280160"/>
          </a:xfrm>
          <a:prstGeom prst="line">
            <a:avLst/>
          </a:prstGeom>
          <a:ln w="6350">
            <a:solidFill>
              <a:srgbClr val="E6E6E6"/>
            </a:solidFill>
          </a:ln>
        </p:spPr>
      </p:cxnSp>
      <p:sp>
        <p:nvSpPr>
          <p:cNvPr id="21" name="직사각형 22"/>
          <p:cNvSpPr/>
          <p:nvPr/>
        </p:nvSpPr>
        <p:spPr>
          <a:xfrm>
            <a:off x="621792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5</a:t>
            </a:r>
          </a:p>
        </p:txBody>
      </p:sp>
      <p:cxnSp>
        <p:nvCxnSpPr>
          <p:cNvPr id="22" name="연결선 23"/>
          <p:cNvCxnSpPr/>
          <p:nvPr/>
        </p:nvCxnSpPr>
        <p:spPr>
          <a:xfrm>
            <a:off x="7132320" y="2761488"/>
            <a:ext cx="0" cy="1280160"/>
          </a:xfrm>
          <a:prstGeom prst="line">
            <a:avLst/>
          </a:prstGeom>
          <a:ln w="6350">
            <a:solidFill>
              <a:srgbClr val="E6E6E6"/>
            </a:solidFill>
          </a:ln>
        </p:spPr>
      </p:cxnSp>
      <p:sp>
        <p:nvSpPr>
          <p:cNvPr id="23" name="직사각형 24"/>
          <p:cNvSpPr/>
          <p:nvPr/>
        </p:nvSpPr>
        <p:spPr>
          <a:xfrm>
            <a:off x="694944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6</a:t>
            </a:r>
          </a:p>
        </p:txBody>
      </p:sp>
      <p:cxnSp>
        <p:nvCxnSpPr>
          <p:cNvPr id="24" name="연결선 25"/>
          <p:cNvCxnSpPr/>
          <p:nvPr/>
        </p:nvCxnSpPr>
        <p:spPr>
          <a:xfrm>
            <a:off x="7863840" y="2761488"/>
            <a:ext cx="0" cy="1280160"/>
          </a:xfrm>
          <a:prstGeom prst="line">
            <a:avLst/>
          </a:prstGeom>
          <a:ln w="6350">
            <a:solidFill>
              <a:srgbClr val="E6E6E6"/>
            </a:solidFill>
          </a:ln>
        </p:spPr>
      </p:cxnSp>
      <p:sp>
        <p:nvSpPr>
          <p:cNvPr id="25" name="직사각형 26"/>
          <p:cNvSpPr/>
          <p:nvPr/>
        </p:nvSpPr>
        <p:spPr>
          <a:xfrm>
            <a:off x="7680960" y="2523744"/>
            <a:ext cx="365760" cy="201168"/>
          </a:xfrm>
          <a:prstGeom prst="rect">
            <a:avLst/>
          </a:prstGeom>
          <a:noFill/>
          <a:ln w="0">
            <a:noFill/>
          </a:ln>
        </p:spPr>
        <p:txBody>
          <a:bodyPr wrap="square" lIns="0" tIns="0" rIns="0" bIns="0" anchor="t">
            <a:noAutofit/>
          </a:bodyPr>
          <a:lstStyle/>
          <a:p>
            <a:pPr algn="ctr" eaLnBrk="0" latinLnBrk="0">
              <a:lnSpc>
                <a:spcPct val="100000"/>
              </a:lnSpc>
              <a:buNone/>
            </a:pPr>
            <a:r>
              <a:rPr lang="ko-KR" altLang="en-US" sz="1050" b="0" dirty="0">
                <a:solidFill>
                  <a:srgbClr val="666666"/>
                </a:solidFill>
                <a:latin typeface="Malgun Gothic"/>
                <a:ea typeface="Malgun Gothic"/>
                <a:cs typeface="Malgun Gothic"/>
              </a:rPr>
              <a:t>7</a:t>
            </a:r>
          </a:p>
        </p:txBody>
      </p:sp>
      <p:cxnSp>
        <p:nvCxnSpPr>
          <p:cNvPr id="26" name="연결선 27"/>
          <p:cNvCxnSpPr/>
          <p:nvPr/>
        </p:nvCxnSpPr>
        <p:spPr>
          <a:xfrm>
            <a:off x="7132320" y="2743200"/>
            <a:ext cx="0" cy="1353312"/>
          </a:xfrm>
          <a:prstGeom prst="line">
            <a:avLst/>
          </a:prstGeom>
          <a:ln w="28575">
            <a:solidFill>
              <a:srgbClr val="B8651B"/>
            </a:solidFill>
            <a:prstDash val="dash"/>
          </a:ln>
        </p:spPr>
      </p:cxnSp>
      <p:sp>
        <p:nvSpPr>
          <p:cNvPr id="27" name="직사각형 28"/>
          <p:cNvSpPr/>
          <p:nvPr/>
        </p:nvSpPr>
        <p:spPr>
          <a:xfrm>
            <a:off x="960120" y="2880360"/>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[1, 4)</a:t>
            </a:r>
          </a:p>
        </p:txBody>
      </p:sp>
      <p:sp>
        <p:nvSpPr>
          <p:cNvPr id="28" name="직사각형 29"/>
          <p:cNvSpPr/>
          <p:nvPr/>
        </p:nvSpPr>
        <p:spPr>
          <a:xfrm>
            <a:off x="3474720" y="2880360"/>
            <a:ext cx="2194560" cy="310896"/>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r>
              <a:rPr lang="ko-KR" altLang="en-US" sz="1200" b="1" dirty="0">
                <a:solidFill>
                  <a:srgbClr val="151515"/>
                </a:solidFill>
                <a:latin typeface="Malgun Gothic"/>
                <a:ea typeface="Malgun Gothic"/>
                <a:cs typeface="Malgun Gothic"/>
              </a:rPr>
              <a:t>① 고름</a:t>
            </a:r>
          </a:p>
        </p:txBody>
      </p:sp>
      <p:sp>
        <p:nvSpPr>
          <p:cNvPr id="29" name="직사각형 30"/>
          <p:cNvSpPr/>
          <p:nvPr/>
        </p:nvSpPr>
        <p:spPr>
          <a:xfrm>
            <a:off x="960120" y="3282696"/>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B23B3B"/>
                </a:solidFill>
                <a:latin typeface="Malgun Gothic"/>
                <a:ea typeface="Malgun Gothic"/>
                <a:cs typeface="Malgun Gothic"/>
              </a:rPr>
              <a:t>[3, 5)</a:t>
            </a:r>
          </a:p>
        </p:txBody>
      </p:sp>
      <p:sp>
        <p:nvSpPr>
          <p:cNvPr id="30" name="직사각형 31"/>
          <p:cNvSpPr/>
          <p:nvPr/>
        </p:nvSpPr>
        <p:spPr>
          <a:xfrm>
            <a:off x="4937760" y="3282696"/>
            <a:ext cx="1463040" cy="310896"/>
          </a:xfrm>
          <a:prstGeom prst="rect">
            <a:avLst/>
          </a:prstGeom>
          <a:solidFill>
            <a:srgbClr val="FBE1E1"/>
          </a:solidFill>
          <a:ln w="15875">
            <a:solidFill>
              <a:srgbClr val="B23B3B"/>
            </a:solidFill>
            <a:prstDash val="dash"/>
          </a:ln>
        </p:spPr>
        <p:txBody>
          <a:bodyPr wrap="square" lIns="0" tIns="0" rIns="0" bIns="0" anchor="ctr">
            <a:noAutofit/>
          </a:bodyPr>
          <a:lstStyle/>
          <a:p>
            <a:pPr algn="ctr" eaLnBrk="0" latinLnBrk="0">
              <a:lnSpc>
                <a:spcPct val="100000"/>
              </a:lnSpc>
              <a:buNone/>
            </a:pPr>
            <a:r>
              <a:rPr lang="ko-KR" altLang="en-US" sz="1200" b="1" dirty="0">
                <a:solidFill>
                  <a:srgbClr val="B23B3B"/>
                </a:solidFill>
                <a:latin typeface="Malgun Gothic"/>
                <a:ea typeface="Malgun Gothic"/>
                <a:cs typeface="Malgun Gothic"/>
              </a:rPr>
              <a:t>② 3 &lt; 4</a:t>
            </a:r>
          </a:p>
        </p:txBody>
      </p:sp>
      <p:sp>
        <p:nvSpPr>
          <p:cNvPr id="31" name="직사각형 32"/>
          <p:cNvSpPr/>
          <p:nvPr/>
        </p:nvSpPr>
        <p:spPr>
          <a:xfrm>
            <a:off x="960120" y="3685032"/>
            <a:ext cx="1691640" cy="310896"/>
          </a:xfrm>
          <a:prstGeom prst="rect">
            <a:avLst/>
          </a:prstGeom>
          <a:noFill/>
          <a:ln w="0">
            <a:noFill/>
          </a:ln>
        </p:spPr>
        <p:txBody>
          <a:bodyPr wrap="square" lIns="0" tIns="0" rIns="0" bIns="0" anchor="ctr">
            <a:noAutofit/>
          </a:bodyPr>
          <a:lstStyle/>
          <a:p>
            <a:pPr algn="r" eaLnBrk="0" latinLnBrk="0">
              <a:lnSpc>
                <a:spcPct val="100000"/>
              </a:lnSpc>
              <a:buNone/>
            </a:pPr>
            <a:r>
              <a:rPr lang="ko-KR" altLang="en-US" sz="1425" b="0" dirty="0">
                <a:solidFill>
                  <a:srgbClr val="151515"/>
                </a:solidFill>
                <a:latin typeface="Malgun Gothic"/>
                <a:ea typeface="Malgun Gothic"/>
                <a:cs typeface="Malgun Gothic"/>
              </a:rPr>
              <a:t>[4, 6)</a:t>
            </a:r>
          </a:p>
        </p:txBody>
      </p:sp>
      <p:sp>
        <p:nvSpPr>
          <p:cNvPr id="32" name="직사각형 33"/>
          <p:cNvSpPr/>
          <p:nvPr/>
        </p:nvSpPr>
        <p:spPr>
          <a:xfrm>
            <a:off x="5669280" y="3685032"/>
            <a:ext cx="1463040" cy="310896"/>
          </a:xfrm>
          <a:prstGeom prst="rect">
            <a:avLst/>
          </a:prstGeom>
          <a:solidFill>
            <a:srgbClr val="DCECFB"/>
          </a:solidFill>
          <a:ln w="15875">
            <a:solidFill>
              <a:srgbClr val="1D5A8A"/>
            </a:solidFill>
          </a:ln>
        </p:spPr>
        <p:txBody>
          <a:bodyPr wrap="square" lIns="0" tIns="0" rIns="0" bIns="0" anchor="ctr">
            <a:noAutofit/>
          </a:bodyPr>
          <a:lstStyle/>
          <a:p>
            <a:pPr algn="ctr" eaLnBrk="0" latinLnBrk="0">
              <a:lnSpc>
                <a:spcPct val="100000"/>
              </a:lnSpc>
              <a:buNone/>
            </a:pPr>
            <a:r>
              <a:rPr lang="ko-KR" altLang="en-US" sz="1200" b="1" dirty="0">
                <a:solidFill>
                  <a:srgbClr val="151515"/>
                </a:solidFill>
                <a:latin typeface="Malgun Gothic"/>
                <a:ea typeface="Malgun Gothic"/>
                <a:cs typeface="Malgun Gothic"/>
              </a:rPr>
              <a:t>③ 4 ≥ 4</a:t>
            </a:r>
          </a:p>
        </p:txBody>
      </p:sp>
      <p:sp>
        <p:nvSpPr>
          <p:cNvPr id="33" name="직사각형 34"/>
          <p:cNvSpPr/>
          <p:nvPr/>
        </p:nvSpPr>
        <p:spPr>
          <a:xfrm>
            <a:off x="6309360" y="4114800"/>
            <a:ext cx="164592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425" b="1" dirty="0">
                <a:solidFill>
                  <a:srgbClr val="B8651B"/>
                </a:solidFill>
                <a:latin typeface="Malgun Gothic"/>
                <a:ea typeface="Malgun Gothic"/>
                <a:cs typeface="Malgun Gothic"/>
              </a:rPr>
              <a:t>last_end = 6</a:t>
            </a:r>
          </a:p>
        </p:txBody>
      </p:sp>
      <p:sp>
        <p:nvSpPr>
          <p:cNvPr id="34" name="직사각형 35"/>
          <p:cNvSpPr/>
          <p:nvPr/>
        </p:nvSpPr>
        <p:spPr>
          <a:xfrm>
            <a:off x="8503920" y="3017520"/>
            <a:ext cx="3017520" cy="512064"/>
          </a:xfrm>
          <a:prstGeom prst="rect">
            <a:avLst/>
          </a:prstGeom>
          <a:solidFill>
            <a:srgbClr val="DDF1E4"/>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activity_count = 2</a:t>
            </a:r>
          </a:p>
        </p:txBody>
      </p:sp>
      <p:graphicFrame>
        <p:nvGraphicFramePr>
          <p:cNvPr id="35" name="표 36"/>
          <p:cNvGraphicFramePr>
            <a:graphicFrameLocks noGrp="1"/>
          </p:cNvGraphicFramePr>
          <p:nvPr>
            <p:extLst>
              <p:ext uri="{D42A27DB-BD31-4B8C-83A1-F6EECF244321}">
                <p14:modId xmlns:p14="http://schemas.microsoft.com/office/powerpoint/2010/main" val="173056858"/>
              </p:ext>
            </p:extLst>
          </p:nvPr>
        </p:nvGraphicFramePr>
        <p:xfrm>
          <a:off x="2743200" y="4526280"/>
          <a:ext cx="8778240" cy="1554480"/>
        </p:xfrm>
        <a:graphic>
          <a:graphicData uri="http://schemas.openxmlformats.org/drawingml/2006/table">
            <a:tbl>
              <a:tblPr/>
              <a:tblGrid>
                <a:gridCol w="1132676">
                  <a:extLst>
                    <a:ext uri="{9D8B030D-6E8A-4147-A177-3AD203B41FA5}">
                      <a16:colId xmlns:a16="http://schemas.microsoft.com/office/drawing/2014/main" val="20000"/>
                    </a:ext>
                  </a:extLst>
                </a:gridCol>
                <a:gridCol w="1415845">
                  <a:extLst>
                    <a:ext uri="{9D8B030D-6E8A-4147-A177-3AD203B41FA5}">
                      <a16:colId xmlns:a16="http://schemas.microsoft.com/office/drawing/2014/main" val="20001"/>
                    </a:ext>
                  </a:extLst>
                </a:gridCol>
                <a:gridCol w="3681197">
                  <a:extLst>
                    <a:ext uri="{9D8B030D-6E8A-4147-A177-3AD203B41FA5}">
                      <a16:colId xmlns:a16="http://schemas.microsoft.com/office/drawing/2014/main" val="20002"/>
                    </a:ext>
                  </a:extLst>
                </a:gridCol>
                <a:gridCol w="1132676">
                  <a:extLst>
                    <a:ext uri="{9D8B030D-6E8A-4147-A177-3AD203B41FA5}">
                      <a16:colId xmlns:a16="http://schemas.microsoft.com/office/drawing/2014/main" val="20003"/>
                    </a:ext>
                  </a:extLst>
                </a:gridCol>
                <a:gridCol w="1415845">
                  <a:extLst>
                    <a:ext uri="{9D8B030D-6E8A-4147-A177-3AD203B41FA5}">
                      <a16:colId xmlns:a16="http://schemas.microsoft.com/office/drawing/2014/main" val="20004"/>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차례</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활동</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시작 ≥ last_end ?</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count</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last_end</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처음</a:t>
                      </a:r>
                    </a:p>
                  </a:txBody>
                  <a:tcPr marL="54864" marR="54864" marT="18288" marB="18288" anchor="ctr">
                    <a:solidFill>
                      <a:srgbClr val="FFFFFF"/>
                    </a:solidFill>
                  </a:tcPr>
                </a:tc>
                <a:tc>
                  <a:txBody>
                    <a:bodyPr/>
                    <a:lstStyle/>
                    <a:p>
                      <a:pPr algn="ctr" eaLnBrk="0" latinLnBrk="0">
                        <a:lnSpc>
                          <a:spcPct val="100000"/>
                        </a:lnSpc>
                        <a:buNone/>
                      </a:pPr>
                      <a:endParaRPr lang="ko-KR" sz="1400"/>
                    </a:p>
                  </a:txBody>
                  <a:tcPr marL="54864" marR="54864" marT="18288" marB="18288" anchor="ctr">
                    <a:solidFill>
                      <a:srgbClr val="FFFFFF"/>
                    </a:solidFill>
                  </a:tcPr>
                </a:tc>
                <a:tc>
                  <a:txBody>
                    <a:bodyPr/>
                    <a:lstStyle/>
                    <a:p>
                      <a:pPr algn="ctr" eaLnBrk="0" latinLnBrk="0">
                        <a:lnSpc>
                          <a:spcPct val="100000"/>
                        </a:lnSpc>
                        <a:buNone/>
                      </a:pPr>
                      <a:endParaRPr lang="ko-KR" sz="1400"/>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 4)</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 ≥ −∞ → 고름</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4</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[3, 5)</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3 ≥ 4 아님 → 건너뜀</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4</a:t>
                      </a:r>
                    </a:p>
                  </a:txBody>
                  <a:tcPr marL="54864" marR="54864" marT="18288" marB="18288" anchor="ctr">
                    <a:solidFill>
                      <a:srgbClr val="FFFFFF"/>
                    </a:solidFill>
                  </a:tcPr>
                </a:tc>
                <a:extLst>
                  <a:ext uri="{0D108BD9-81ED-4DB2-BD59-A6C34878D82A}">
                    <a16:rowId xmlns:a16="http://schemas.microsoft.com/office/drawing/2014/main" val="10003"/>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3</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[4, 6)</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4 ≥ 4 → 고름</a:t>
                      </a:r>
                    </a:p>
                  </a:txBody>
                  <a:tcPr marL="54864" marR="54864" marT="18288" marB="18288" anchor="ctr">
                    <a:solidFill>
                      <a:srgbClr val="FFFFFF"/>
                    </a:solidFill>
                  </a:tcPr>
                </a:tc>
                <a:tc>
                  <a:txBody>
                    <a:bodyPr/>
                    <a:lstStyle/>
                    <a:p>
                      <a:pPr algn="ctr" eaLnBrk="0" latinLnBrk="0">
                        <a:lnSpc>
                          <a:spcPct val="100000"/>
                        </a:lnSpc>
                        <a:buNone/>
                      </a:pPr>
                      <a:r>
                        <a:rPr lang="ko-KR" altLang="en-US" sz="1400" b="1" dirty="0">
                          <a:solidFill>
                            <a:srgbClr val="0E8A7D"/>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6</a:t>
                      </a:r>
                    </a:p>
                  </a:txBody>
                  <a:tcPr marL="54864" marR="54864" marT="18288" marB="18288" anchor="ctr">
                    <a:solidFill>
                      <a:srgbClr val="FFFFFF"/>
                    </a:solidFill>
                  </a:tcPr>
                </a:tc>
                <a:extLst>
                  <a:ext uri="{0D108BD9-81ED-4DB2-BD59-A6C34878D82A}">
                    <a16:rowId xmlns:a16="http://schemas.microsoft.com/office/drawing/2014/main" val="10004"/>
                  </a:ext>
                </a:extLst>
              </a:tr>
            </a:tbl>
          </a:graphicData>
        </a:graphic>
      </p:graphicFrame>
      <p:sp>
        <p:nvSpPr>
          <p:cNvPr id="36" name="직사각형 37"/>
          <p:cNvSpPr/>
          <p:nvPr/>
        </p:nvSpPr>
        <p:spPr>
          <a:xfrm>
            <a:off x="8503920" y="3621024"/>
            <a:ext cx="3017520" cy="292608"/>
          </a:xfrm>
          <a:prstGeom prst="rect">
            <a:avLst/>
          </a:prstGeom>
          <a:noFill/>
          <a:ln w="0">
            <a:noFill/>
          </a:ln>
        </p:spPr>
        <p:txBody>
          <a:bodyPr wrap="square" lIns="0" tIns="0" rIns="0" bIns="0" anchor="t">
            <a:noAutofit/>
          </a:bodyPr>
          <a:lstStyle/>
          <a:p>
            <a:pPr algn="ctr" eaLnBrk="0" latinLnBrk="0">
              <a:lnSpc>
                <a:spcPct val="100000"/>
              </a:lnSpc>
              <a:buNone/>
            </a:pPr>
            <a:r>
              <a:rPr lang="ko-KR" altLang="en-US" sz="1600" b="1" dirty="0">
                <a:solidFill>
                  <a:srgbClr val="0E8A7D"/>
                </a:solidFill>
                <a:latin typeface="Malgun Gothic"/>
                <a:ea typeface="Malgun Gothic"/>
                <a:cs typeface="Malgun Gothic"/>
              </a:rPr>
              <a:t>[1, 4)와 [4, 6)</a:t>
            </a:r>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5.3  활동 선택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activity_count: 빈 목록은 0, 시간 O(n)</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32</a:t>
            </a:r>
            <a:endParaRPr lang="ko-KR" altLang="en-US" sz="1050" b="0" dirty="0">
              <a:solidFill>
                <a:srgbClr val="606060"/>
              </a:solidFill>
              <a:latin typeface="Malgun Gothic"/>
              <a:ea typeface="Malgun Gothic"/>
              <a:cs typeface="Malgun Gothic"/>
            </a:endParaRPr>
          </a:p>
        </p:txBody>
      </p:sp>
      <p:sp>
        <p:nvSpPr>
          <p:cNvPr id="9" name="직사각형 10"/>
          <p:cNvSpPr/>
          <p:nvPr/>
        </p:nvSpPr>
        <p:spPr>
          <a:xfrm>
            <a:off x="612648" y="1636776"/>
            <a:ext cx="10972800" cy="21945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0" dirty="0">
                <a:solidFill>
                  <a:srgbClr val="606060"/>
                </a:solidFill>
                <a:latin typeface="Consolas"/>
                <a:ea typeface="Consolas"/>
                <a:cs typeface="Consolas"/>
              </a:rPr>
              <a:t>activity_count.pseudo</a:t>
            </a:r>
          </a:p>
        </p:txBody>
      </p:sp>
      <p:sp>
        <p:nvSpPr>
          <p:cNvPr id="10" name="직사각형 11"/>
          <p:cNvSpPr/>
          <p:nvPr/>
        </p:nvSpPr>
        <p:spPr>
          <a:xfrm>
            <a:off x="612648" y="1856232"/>
            <a:ext cx="10972800" cy="2684272"/>
          </a:xfrm>
          <a:prstGeom prst="rect">
            <a:avLst/>
          </a:prstGeom>
          <a:solidFill>
            <a:srgbClr val="171717"/>
          </a:solidFill>
          <a:ln w="0">
            <a:noFill/>
          </a:ln>
        </p:spPr>
        <p:txBody>
          <a:bodyPr wrap="none" lIns="91440" tIns="91440" rIns="91440" bIns="91440" anchor="t">
            <a:noAutofit/>
          </a:bodyPr>
          <a:lstStyle/>
          <a:p>
            <a:pPr algn="l" eaLnBrk="0" latinLnBrk="0">
              <a:lnSpc>
                <a:spcPct val="130000"/>
              </a:lnSpc>
              <a:buNone/>
            </a:pPr>
            <a:r>
              <a:rPr lang="ko-KR" altLang="en-US" sz="1600" b="0" dirty="0">
                <a:solidFill>
                  <a:srgbClr val="FFFFFF"/>
                </a:solidFill>
                <a:latin typeface="Consolas"/>
                <a:ea typeface="Consolas"/>
                <a:cs typeface="Consolas"/>
              </a:rPr>
              <a:t>ACTIVITY_COUNT(activities):     // 종료 시각 순으로 정렬되어 있다</a:t>
            </a:r>
          </a:p>
          <a:p>
            <a:pPr algn="l" eaLnBrk="0" latinLnBrk="0">
              <a:lnSpc>
                <a:spcPct val="130000"/>
              </a:lnSpc>
              <a:buNone/>
            </a:pPr>
            <a:r>
              <a:rPr lang="ko-KR" altLang="en-US" sz="1600" b="0" dirty="0">
                <a:solidFill>
                  <a:srgbClr val="FFFFFF"/>
                </a:solidFill>
                <a:latin typeface="Consolas"/>
                <a:ea typeface="Consolas"/>
                <a:cs typeface="Consolas"/>
              </a:rPr>
              <a:t>    count &lt;- 0</a:t>
            </a:r>
          </a:p>
          <a:p>
            <a:pPr algn="l" eaLnBrk="0" latinLnBrk="0">
              <a:lnSpc>
                <a:spcPct val="130000"/>
              </a:lnSpc>
              <a:buNone/>
            </a:pPr>
            <a:r>
              <a:rPr lang="ko-KR" altLang="en-US" sz="1600" b="0" dirty="0">
                <a:solidFill>
                  <a:srgbClr val="FFFFFF"/>
                </a:solidFill>
                <a:latin typeface="Consolas"/>
                <a:ea typeface="Consolas"/>
                <a:cs typeface="Consolas"/>
              </a:rPr>
              <a:t>    last_end &lt;- -∞</a:t>
            </a:r>
          </a:p>
          <a:p>
            <a:pPr algn="l" eaLnBrk="0" latinLnBrk="0">
              <a:lnSpc>
                <a:spcPct val="130000"/>
              </a:lnSpc>
              <a:buNone/>
            </a:pPr>
            <a:r>
              <a:rPr lang="ko-KR" altLang="en-US" sz="1600" b="0" dirty="0">
                <a:solidFill>
                  <a:srgbClr val="FFFFFF"/>
                </a:solidFill>
                <a:latin typeface="Consolas"/>
                <a:ea typeface="Consolas"/>
                <a:cs typeface="Consolas"/>
              </a:rPr>
              <a:t>    for (start, end) in activities:</a:t>
            </a:r>
          </a:p>
          <a:p>
            <a:pPr algn="l" eaLnBrk="0" latinLnBrk="0">
              <a:lnSpc>
                <a:spcPct val="130000"/>
              </a:lnSpc>
              <a:buNone/>
            </a:pPr>
            <a:r>
              <a:rPr lang="ko-KR" altLang="en-US" sz="1600" b="0" dirty="0">
                <a:solidFill>
                  <a:srgbClr val="FFFFFF"/>
                </a:solidFill>
                <a:latin typeface="Consolas"/>
                <a:ea typeface="Consolas"/>
                <a:cs typeface="Consolas"/>
              </a:rPr>
              <a:t>        if start &gt;= last_end:   // 끝나는 시각에 바로 시작해도 된다</a:t>
            </a:r>
          </a:p>
          <a:p>
            <a:pPr algn="l" eaLnBrk="0" latinLnBrk="0">
              <a:lnSpc>
                <a:spcPct val="130000"/>
              </a:lnSpc>
              <a:buNone/>
            </a:pPr>
            <a:r>
              <a:rPr lang="ko-KR" altLang="en-US" sz="1600" b="0" dirty="0">
                <a:solidFill>
                  <a:srgbClr val="FFFFFF"/>
                </a:solidFill>
                <a:latin typeface="Consolas"/>
                <a:ea typeface="Consolas"/>
                <a:cs typeface="Consolas"/>
              </a:rPr>
              <a:t>            count &lt;- count + 1</a:t>
            </a:r>
          </a:p>
          <a:p>
            <a:pPr algn="l" eaLnBrk="0" latinLnBrk="0">
              <a:lnSpc>
                <a:spcPct val="130000"/>
              </a:lnSpc>
              <a:buNone/>
            </a:pPr>
            <a:r>
              <a:rPr lang="ko-KR" altLang="en-US" sz="1600" b="0" dirty="0">
                <a:solidFill>
                  <a:srgbClr val="FFFFFF"/>
                </a:solidFill>
                <a:latin typeface="Consolas"/>
                <a:ea typeface="Consolas"/>
                <a:cs typeface="Consolas"/>
              </a:rPr>
              <a:t>            last_end &lt;- end</a:t>
            </a:r>
          </a:p>
          <a:p>
            <a:pPr algn="l" eaLnBrk="0" latinLnBrk="0">
              <a:lnSpc>
                <a:spcPct val="130000"/>
              </a:lnSpc>
              <a:buNone/>
            </a:pPr>
            <a:r>
              <a:rPr lang="ko-KR" altLang="en-US" sz="1600" b="0" dirty="0">
                <a:solidFill>
                  <a:srgbClr val="FFFFFF"/>
                </a:solidFill>
                <a:latin typeface="Consolas"/>
                <a:ea typeface="Consolas"/>
                <a:cs typeface="Consolas"/>
              </a:rPr>
              <a:t>    return count                // 빈 목록이면 0</a:t>
            </a:r>
          </a:p>
        </p:txBody>
      </p:sp>
      <p:sp>
        <p:nvSpPr>
          <p:cNvPr id="11" name="fit:86bbf8aba0a2d522 12"/>
          <p:cNvSpPr/>
          <p:nvPr/>
        </p:nvSpPr>
        <p:spPr>
          <a:xfrm>
            <a:off x="612648" y="4668520"/>
            <a:ext cx="10972800" cy="566928"/>
          </a:xfrm>
          <a:prstGeom prst="rect">
            <a:avLst/>
          </a:prstGeom>
          <a:noFill/>
          <a:ln w="0">
            <a:noFill/>
          </a:ln>
        </p:spPr>
        <p:txBody>
          <a:bodyPr wrap="square" lIns="0" tIns="0" rIns="0" bIns="0" anchor="t">
            <a:noAutofit/>
          </a:bodyPr>
          <a:lstStyle/>
          <a:p>
            <a:pPr algn="l" eaLnBrk="0" latinLnBrk="0">
              <a:lnSpc>
                <a:spcPct val="105000"/>
              </a:lnSpc>
              <a:buNone/>
            </a:pPr>
            <a:r>
              <a:rPr lang="ko-KR" altLang="en-US" sz="1700" b="1" dirty="0">
                <a:solidFill>
                  <a:srgbClr val="171717"/>
                </a:solidFill>
                <a:latin typeface="Malgun Gothic"/>
                <a:ea typeface="Malgun Gothic"/>
                <a:cs typeface="Malgun Gothic"/>
              </a:rPr>
              <a:t>빈 목록.</a:t>
            </a:r>
            <a:r>
              <a:rPr lang="ko-KR" altLang="en-US" sz="1700" b="0" dirty="0">
                <a:solidFill>
                  <a:srgbClr val="171717"/>
                </a:solidFill>
                <a:latin typeface="Malgun Gothic"/>
                <a:ea typeface="Malgun Gothic"/>
                <a:cs typeface="Malgun Gothic"/>
              </a:rPr>
              <a:t> for 문이 한 번도 돌지 않아 count = 0을 그대로 돌려줍니다.</a:t>
            </a:r>
          </a:p>
          <a:p>
            <a:pPr algn="l" eaLnBrk="0" latinLnBrk="0">
              <a:lnSpc>
                <a:spcPct val="105000"/>
              </a:lnSpc>
              <a:buNone/>
            </a:pPr>
            <a:r>
              <a:rPr lang="ko-KR" altLang="en-US" sz="1700" b="0" dirty="0">
                <a:solidFill>
                  <a:srgbClr val="171717"/>
                </a:solidFill>
                <a:latin typeface="Malgun Gothic"/>
                <a:ea typeface="Malgun Gothic"/>
                <a:cs typeface="Malgun Gothic"/>
              </a:rPr>
              <a:t>목록[0]을 먼저 넣는 방식은 빈 목록에서 오류가 납니다.</a:t>
            </a:r>
          </a:p>
        </p:txBody>
      </p:sp>
      <p:sp>
        <p:nvSpPr>
          <p:cNvPr id="12" name="fit:8e43e66e984d5a59 13"/>
          <p:cNvSpPr/>
          <p:nvPr/>
        </p:nvSpPr>
        <p:spPr>
          <a:xfrm>
            <a:off x="612648" y="5363464"/>
            <a:ext cx="10972800" cy="292608"/>
          </a:xfrm>
          <a:prstGeom prst="rect">
            <a:avLst/>
          </a:prstGeom>
          <a:noFill/>
          <a:ln w="0">
            <a:noFill/>
          </a:ln>
        </p:spPr>
        <p:txBody>
          <a:bodyPr wrap="square" lIns="0" tIns="0" rIns="0" bIns="0" anchor="t">
            <a:noAutofit/>
          </a:bodyPr>
          <a:lstStyle/>
          <a:p>
            <a:pPr algn="l" eaLnBrk="0" latinLnBrk="0">
              <a:lnSpc>
                <a:spcPct val="105000"/>
              </a:lnSpc>
              <a:buNone/>
            </a:pPr>
            <a:r>
              <a:rPr lang="ko-KR" altLang="en-US" sz="1700" b="1" dirty="0">
                <a:solidFill>
                  <a:srgbClr val="171717"/>
                </a:solidFill>
                <a:latin typeface="Malgun Gothic"/>
                <a:ea typeface="Malgun Gothic"/>
                <a:cs typeface="Malgun Gothic"/>
              </a:rPr>
              <a:t>시각이 0 이상으로 주어지면</a:t>
            </a:r>
            <a:r>
              <a:rPr lang="ko-KR" altLang="en-US" sz="1700" b="0" dirty="0">
                <a:solidFill>
                  <a:srgbClr val="171717"/>
                </a:solidFill>
                <a:latin typeface="Malgun Gothic"/>
                <a:ea typeface="Malgun Gothic"/>
                <a:cs typeface="Malgun Gothic"/>
              </a:rPr>
              <a:t> last_end를 0으로 시작해도 됩니다. 첫 활동이 그대로 통과합니다.</a:t>
            </a:r>
          </a:p>
        </p:txBody>
      </p:sp>
      <p:sp>
        <p:nvSpPr>
          <p:cNvPr id="13" name="fit:9ef1dd0543a4a073 14"/>
          <p:cNvSpPr/>
          <p:nvPr/>
        </p:nvSpPr>
        <p:spPr>
          <a:xfrm>
            <a:off x="612648" y="5784088"/>
            <a:ext cx="10972800" cy="292608"/>
          </a:xfrm>
          <a:prstGeom prst="rect">
            <a:avLst/>
          </a:prstGeom>
          <a:noFill/>
          <a:ln w="0">
            <a:noFill/>
          </a:ln>
        </p:spPr>
        <p:txBody>
          <a:bodyPr wrap="square" lIns="0" tIns="0" rIns="0" bIns="0" anchor="t">
            <a:noAutofit/>
          </a:bodyPr>
          <a:lstStyle/>
          <a:p>
            <a:pPr algn="l" eaLnBrk="0" latinLnBrk="0">
              <a:lnSpc>
                <a:spcPct val="105000"/>
              </a:lnSpc>
              <a:buNone/>
            </a:pPr>
            <a:r>
              <a:rPr lang="ko-KR" altLang="en-US" sz="1700" b="1" dirty="0">
                <a:solidFill>
                  <a:srgbClr val="171717"/>
                </a:solidFill>
                <a:latin typeface="Malgun Gothic"/>
                <a:ea typeface="Malgun Gothic"/>
                <a:cs typeface="Malgun Gothic"/>
              </a:rPr>
              <a:t>시간 복잡도.</a:t>
            </a:r>
            <a:r>
              <a:rPr lang="ko-KR" altLang="en-US" sz="1700" b="0" dirty="0">
                <a:solidFill>
                  <a:srgbClr val="171717"/>
                </a:solidFill>
                <a:latin typeface="Malgun Gothic"/>
                <a:ea typeface="Malgun Gothic"/>
                <a:cs typeface="Malgun Gothic"/>
              </a:rPr>
              <a:t> 정렬된 입력을 한 번 훑으므로 O(n), 직접 정렬부터 하면 O(n log n)입니다.</a:t>
            </a:r>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 name="text-28-64">
            <a:extLst>
              <a:ext uri="{FF2B5EF4-FFF2-40B4-BE49-F238E27FC236}">
                <a16:creationId xmlns:a16="http://schemas.microsoft.com/office/drawing/2014/main" id="{8C717D09-89CE-41EC-AA59-3302C385C5CB}"/>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5장 탐욕 알고리즘  /  Python/C 구현</a:t>
            </a:r>
          </a:p>
        </p:txBody>
      </p:sp>
      <p:sp>
        <p:nvSpPr>
          <p:cNvPr id="2" name="text-28-1080">
            <a:extLst>
              <a:ext uri="{FF2B5EF4-FFF2-40B4-BE49-F238E27FC236}">
                <a16:creationId xmlns:a16="http://schemas.microsoft.com/office/drawing/2014/main" id="{24A22ED5-36DA-4287-A203-82C0FE0FCDEA}"/>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A311DF53-5363-4F0A-81D4-1CBC78DD2C1E}"/>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함수</a:t>
            </a:r>
            <a:r>
              <a:rPr sz="3000" b="1" i="0">
                <a:solidFill>
                  <a:srgbClr val="171717"/>
                </a:solidFill>
                <a:latin typeface="Malgun Gothic"/>
                <a:ea typeface="Malgun Gothic"/>
                <a:cs typeface="Malgun Gothic"/>
              </a:rPr>
              <a:t>  Python 구현</a:t>
            </a:r>
          </a:p>
        </p:txBody>
      </p:sp>
      <p:sp>
        <p:nvSpPr>
          <p:cNvPr id="4" name="직사각형 3">
            <a:extLst>
              <a:ext uri="{FF2B5EF4-FFF2-40B4-BE49-F238E27FC236}">
                <a16:creationId xmlns:a16="http://schemas.microsoft.com/office/drawing/2014/main" id="{F1400466-C89A-4EE3-B73B-99B0376D8F35}"/>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E8BE5A14-D720-4F9A-922A-2F282C11ED44}"/>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872E5C61-69A8-4DE3-AE5A-2C5D0F4EE74E}"/>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05 / GREEDY ALGORITHMS · EXERCISES</a:t>
            </a:r>
          </a:p>
        </p:txBody>
      </p:sp>
      <p:sp>
        <p:nvSpPr>
          <p:cNvPr id="7" name="text-689-1160">
            <a:extLst>
              <a:ext uri="{FF2B5EF4-FFF2-40B4-BE49-F238E27FC236}">
                <a16:creationId xmlns:a16="http://schemas.microsoft.com/office/drawing/2014/main" id="{1F8C8D45-F8E2-49D9-BAB7-8D2C23C0EB7B}"/>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33</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116BD6FB-CF9A-4AFE-9764-B4597B06666C}"/>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활동 선택</a:t>
            </a:r>
          </a:p>
        </p:txBody>
      </p:sp>
      <p:sp>
        <p:nvSpPr>
          <p:cNvPr id="9" name="직사각형 8">
            <a:extLst>
              <a:ext uri="{FF2B5EF4-FFF2-40B4-BE49-F238E27FC236}">
                <a16:creationId xmlns:a16="http://schemas.microsoft.com/office/drawing/2014/main" id="{DECCC62D-B054-4FE8-B252-C48D2A3A68D1}"/>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B1950A53-3B30-4B13-B55C-EECEDA3B8930}"/>
              </a:ext>
            </a:extLst>
          </p:cNvPr>
          <p:cNvSpPr>
            <a:spLocks noGrp="1"/>
          </p:cNvSpPr>
          <p:nvPr/>
        </p:nvSpPr>
        <p:spPr>
          <a:xfrm>
            <a:off x="771525" y="212026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0C69B417-8300-4A5D-A8B4-E207AF28C6FF}"/>
              </a:ext>
            </a:extLst>
          </p:cNvPr>
          <p:cNvSpPr>
            <a:spLocks noGrp="1"/>
          </p:cNvSpPr>
          <p:nvPr/>
        </p:nvSpPr>
        <p:spPr>
          <a:xfrm>
            <a:off x="1285875" y="212026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def activity_count(activities):</a:t>
            </a:r>
          </a:p>
        </p:txBody>
      </p:sp>
      <p:sp>
        <p:nvSpPr>
          <p:cNvPr id="12" name="text-242.5-81">
            <a:extLst>
              <a:ext uri="{FF2B5EF4-FFF2-40B4-BE49-F238E27FC236}">
                <a16:creationId xmlns:a16="http://schemas.microsoft.com/office/drawing/2014/main" id="{75299A57-CE21-42F1-AF54-8983BAE6A8C0}"/>
              </a:ext>
            </a:extLst>
          </p:cNvPr>
          <p:cNvSpPr>
            <a:spLocks noGrp="1"/>
          </p:cNvSpPr>
          <p:nvPr/>
        </p:nvSpPr>
        <p:spPr>
          <a:xfrm>
            <a:off x="771525" y="2374107"/>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622B3D55-F0A9-4DCD-81B3-BC235C41E748}"/>
              </a:ext>
            </a:extLst>
          </p:cNvPr>
          <p:cNvSpPr>
            <a:spLocks noGrp="1"/>
          </p:cNvSpPr>
          <p:nvPr/>
        </p:nvSpPr>
        <p:spPr>
          <a:xfrm>
            <a:off x="1285875" y="2374107"/>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last = 0</a:t>
            </a:r>
          </a:p>
        </p:txBody>
      </p:sp>
      <p:sp>
        <p:nvSpPr>
          <p:cNvPr id="14" name="text-263-81">
            <a:extLst>
              <a:ext uri="{FF2B5EF4-FFF2-40B4-BE49-F238E27FC236}">
                <a16:creationId xmlns:a16="http://schemas.microsoft.com/office/drawing/2014/main" id="{C98D1B10-2F18-4861-A388-A7A45FB11314}"/>
              </a:ext>
            </a:extLst>
          </p:cNvPr>
          <p:cNvSpPr>
            <a:spLocks noGrp="1"/>
          </p:cNvSpPr>
          <p:nvPr/>
        </p:nvSpPr>
        <p:spPr>
          <a:xfrm>
            <a:off x="771525" y="262794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DE73AC0E-D107-4869-8E60-ACA0ACEF4610}"/>
              </a:ext>
            </a:extLst>
          </p:cNvPr>
          <p:cNvSpPr>
            <a:spLocks noGrp="1"/>
          </p:cNvSpPr>
          <p:nvPr/>
        </p:nvSpPr>
        <p:spPr>
          <a:xfrm>
            <a:off x="1285875" y="262794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 = 0</a:t>
            </a:r>
          </a:p>
        </p:txBody>
      </p:sp>
      <p:sp>
        <p:nvSpPr>
          <p:cNvPr id="16" name="text-283.5-81">
            <a:extLst>
              <a:ext uri="{FF2B5EF4-FFF2-40B4-BE49-F238E27FC236}">
                <a16:creationId xmlns:a16="http://schemas.microsoft.com/office/drawing/2014/main" id="{FA92E78D-70D0-4AFC-AE12-C77286140168}"/>
              </a:ext>
            </a:extLst>
          </p:cNvPr>
          <p:cNvSpPr>
            <a:spLocks noGrp="1"/>
          </p:cNvSpPr>
          <p:nvPr/>
        </p:nvSpPr>
        <p:spPr>
          <a:xfrm>
            <a:off x="771525" y="288179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04D81A39-3423-4FE6-83AB-60294651E378}"/>
              </a:ext>
            </a:extLst>
          </p:cNvPr>
          <p:cNvSpPr>
            <a:spLocks noGrp="1"/>
          </p:cNvSpPr>
          <p:nvPr/>
        </p:nvSpPr>
        <p:spPr>
          <a:xfrm>
            <a:off x="1285875" y="288179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start, end in activities:</a:t>
            </a:r>
          </a:p>
        </p:txBody>
      </p:sp>
      <p:sp>
        <p:nvSpPr>
          <p:cNvPr id="18" name="text-304-81">
            <a:extLst>
              <a:ext uri="{FF2B5EF4-FFF2-40B4-BE49-F238E27FC236}">
                <a16:creationId xmlns:a16="http://schemas.microsoft.com/office/drawing/2014/main" id="{C82E302E-E088-46C4-999F-D2518AD1591C}"/>
              </a:ext>
            </a:extLst>
          </p:cNvPr>
          <p:cNvSpPr>
            <a:spLocks noGrp="1"/>
          </p:cNvSpPr>
          <p:nvPr/>
        </p:nvSpPr>
        <p:spPr>
          <a:xfrm>
            <a:off x="771525" y="313563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E6479DDE-C49D-4987-963E-2CF813746BB8}"/>
              </a:ext>
            </a:extLst>
          </p:cNvPr>
          <p:cNvSpPr>
            <a:spLocks noGrp="1"/>
          </p:cNvSpPr>
          <p:nvPr/>
        </p:nvSpPr>
        <p:spPr>
          <a:xfrm>
            <a:off x="1285875" y="313563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start &gt;= last:</a:t>
            </a:r>
          </a:p>
        </p:txBody>
      </p:sp>
      <p:sp>
        <p:nvSpPr>
          <p:cNvPr id="20" name="text-324.5-81">
            <a:extLst>
              <a:ext uri="{FF2B5EF4-FFF2-40B4-BE49-F238E27FC236}">
                <a16:creationId xmlns:a16="http://schemas.microsoft.com/office/drawing/2014/main" id="{13D3EBF7-CC0A-40E1-8FA3-038ECE12AF6D}"/>
              </a:ext>
            </a:extLst>
          </p:cNvPr>
          <p:cNvSpPr>
            <a:spLocks noGrp="1"/>
          </p:cNvSpPr>
          <p:nvPr/>
        </p:nvSpPr>
        <p:spPr>
          <a:xfrm>
            <a:off x="771525" y="3389472"/>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DBFE5A07-239B-4793-8D3F-DAE83749CB77}"/>
              </a:ext>
            </a:extLst>
          </p:cNvPr>
          <p:cNvSpPr>
            <a:spLocks noGrp="1"/>
          </p:cNvSpPr>
          <p:nvPr/>
        </p:nvSpPr>
        <p:spPr>
          <a:xfrm>
            <a:off x="1285875" y="3389472"/>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 += 1</a:t>
            </a:r>
          </a:p>
        </p:txBody>
      </p:sp>
      <p:sp>
        <p:nvSpPr>
          <p:cNvPr id="22" name="text-345-81">
            <a:extLst>
              <a:ext uri="{FF2B5EF4-FFF2-40B4-BE49-F238E27FC236}">
                <a16:creationId xmlns:a16="http://schemas.microsoft.com/office/drawing/2014/main" id="{E2E5A330-DB72-421C-B5B3-169379205FBB}"/>
              </a:ext>
            </a:extLst>
          </p:cNvPr>
          <p:cNvSpPr>
            <a:spLocks noGrp="1"/>
          </p:cNvSpPr>
          <p:nvPr/>
        </p:nvSpPr>
        <p:spPr>
          <a:xfrm>
            <a:off x="771525" y="36433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C9A08D9F-30D8-48E1-9A49-C0BDFE6A1D7B}"/>
              </a:ext>
            </a:extLst>
          </p:cNvPr>
          <p:cNvSpPr>
            <a:spLocks noGrp="1"/>
          </p:cNvSpPr>
          <p:nvPr/>
        </p:nvSpPr>
        <p:spPr>
          <a:xfrm>
            <a:off x="1285875" y="36433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last = end</a:t>
            </a:r>
          </a:p>
        </p:txBody>
      </p:sp>
      <p:sp>
        <p:nvSpPr>
          <p:cNvPr id="24" name="text-365.5-81">
            <a:extLst>
              <a:ext uri="{FF2B5EF4-FFF2-40B4-BE49-F238E27FC236}">
                <a16:creationId xmlns:a16="http://schemas.microsoft.com/office/drawing/2014/main" id="{77F5950A-655A-4175-AC56-4BA266AA18BE}"/>
              </a:ext>
            </a:extLst>
          </p:cNvPr>
          <p:cNvSpPr>
            <a:spLocks noGrp="1"/>
          </p:cNvSpPr>
          <p:nvPr/>
        </p:nvSpPr>
        <p:spPr>
          <a:xfrm>
            <a:off x="771525" y="3897154"/>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488440E3-3CDD-4B7C-A8E6-86463C1CDF28}"/>
              </a:ext>
            </a:extLst>
          </p:cNvPr>
          <p:cNvSpPr>
            <a:spLocks noGrp="1"/>
          </p:cNvSpPr>
          <p:nvPr/>
        </p:nvSpPr>
        <p:spPr>
          <a:xfrm>
            <a:off x="1285875" y="3897154"/>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6" name="text-635-64">
            <a:extLst>
              <a:ext uri="{FF2B5EF4-FFF2-40B4-BE49-F238E27FC236}">
                <a16:creationId xmlns:a16="http://schemas.microsoft.com/office/drawing/2014/main" id="{780773CB-C1C3-4426-992F-13D7F43E053D}"/>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정렬된 입력에서 시간 O(n). 정렬까지 하면 O(n log n).</a:t>
            </a:r>
          </a:p>
        </p:txBody>
      </p:sp>
    </p:spTree>
    <p:extLst>
      <p:ext uri="{BB962C8B-B14F-4D97-AF65-F5344CB8AC3E}">
        <p14:creationId xmlns:p14="http://schemas.microsoft.com/office/powerpoint/2010/main" val="107108947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1" name="text-28-64">
            <a:extLst>
              <a:ext uri="{FF2B5EF4-FFF2-40B4-BE49-F238E27FC236}">
                <a16:creationId xmlns:a16="http://schemas.microsoft.com/office/drawing/2014/main" id="{AB0AE57D-0F34-4A9C-AB20-2783895A4CD0}"/>
              </a:ext>
            </a:extLst>
          </p:cNvPr>
          <p:cNvSpPr>
            <a:spLocks noGrp="1"/>
          </p:cNvSpPr>
          <p:nvPr/>
        </p:nvSpPr>
        <p:spPr>
          <a:xfrm>
            <a:off x="609600" y="266700"/>
            <a:ext cx="8096250" cy="247650"/>
          </a:xfrm>
          <a:prstGeom prst="rect">
            <a:avLst/>
          </a:prstGeom>
          <a:noFill/>
          <a:ln w="0">
            <a:noFill/>
          </a:ln>
        </p:spPr>
        <p:txBody>
          <a:bodyPr wrap="none" lIns="0" tIns="0" rIns="0" bIns="0" anchor="t">
            <a:noAutofit/>
          </a:bodyPr>
          <a:lstStyle/>
          <a:p>
            <a:pPr algn="l">
              <a:lnSpc>
                <a:spcPct val="108000"/>
              </a:lnSpc>
              <a:buNone/>
              <a:defRPr sz="1050" b="1" i="0">
                <a:solidFill>
                  <a:srgbClr val="606060"/>
                </a:solidFill>
                <a:latin typeface="Malgun Gothic"/>
                <a:ea typeface="Malgun Gothic"/>
                <a:cs typeface="Malgun Gothic"/>
              </a:defRPr>
            </a:pPr>
            <a:r>
              <a:rPr sz="1050" b="1" i="0">
                <a:solidFill>
                  <a:srgbClr val="606060"/>
                </a:solidFill>
                <a:latin typeface="Malgun Gothic"/>
                <a:ea typeface="Malgun Gothic"/>
                <a:cs typeface="Malgun Gothic"/>
              </a:rPr>
              <a:t>5장 탐욕 알고리즘  /  Python/C 구현</a:t>
            </a:r>
          </a:p>
        </p:txBody>
      </p:sp>
      <p:sp>
        <p:nvSpPr>
          <p:cNvPr id="2" name="text-28-1080">
            <a:extLst>
              <a:ext uri="{FF2B5EF4-FFF2-40B4-BE49-F238E27FC236}">
                <a16:creationId xmlns:a16="http://schemas.microsoft.com/office/drawing/2014/main" id="{53271D23-CF5A-47D9-9CFE-6D05130E21C3}"/>
              </a:ext>
            </a:extLst>
          </p:cNvPr>
          <p:cNvSpPr>
            <a:spLocks noGrp="1"/>
          </p:cNvSpPr>
          <p:nvPr/>
        </p:nvSpPr>
        <p:spPr>
          <a:xfrm>
            <a:off x="10287000" y="266700"/>
            <a:ext cx="1295400" cy="238125"/>
          </a:xfrm>
          <a:prstGeom prst="rect">
            <a:avLst/>
          </a:prstGeom>
          <a:noFill/>
          <a:ln w="0">
            <a:noFill/>
          </a:ln>
        </p:spPr>
        <p:txBody>
          <a:bodyPr wrap="none" lIns="0" tIns="0" rIns="0" bIns="0" anchor="t">
            <a:noAutofit/>
          </a:bodyPr>
          <a:lstStyle/>
          <a:p>
            <a:pPr algn="r">
              <a:lnSpc>
                <a:spcPct val="108000"/>
              </a:lnSpc>
              <a:buNone/>
              <a:defRPr sz="900" b="0" i="0">
                <a:solidFill>
                  <a:srgbClr val="606060"/>
                </a:solidFill>
                <a:latin typeface="Consolas"/>
                <a:ea typeface="Consolas"/>
                <a:cs typeface="Consolas"/>
              </a:defRPr>
            </a:pPr>
            <a:r>
              <a:rPr sz="900" b="0" i="0">
                <a:solidFill>
                  <a:srgbClr val="606060"/>
                </a:solidFill>
                <a:latin typeface="Consolas"/>
                <a:ea typeface="Consolas"/>
                <a:cs typeface="Consolas"/>
              </a:rPr>
              <a:t>ALGORITHMS</a:t>
            </a:r>
          </a:p>
        </p:txBody>
      </p:sp>
      <p:sp>
        <p:nvSpPr>
          <p:cNvPr id="3" name="text-72-62">
            <a:extLst>
              <a:ext uri="{FF2B5EF4-FFF2-40B4-BE49-F238E27FC236}">
                <a16:creationId xmlns:a16="http://schemas.microsoft.com/office/drawing/2014/main" id="{B8FC3E79-1B5B-47AD-A602-47A1271723FF}"/>
              </a:ext>
            </a:extLst>
          </p:cNvPr>
          <p:cNvSpPr>
            <a:spLocks noGrp="1"/>
          </p:cNvSpPr>
          <p:nvPr/>
        </p:nvSpPr>
        <p:spPr>
          <a:xfrm>
            <a:off x="590550" y="685800"/>
            <a:ext cx="10991850" cy="638175"/>
          </a:xfrm>
          <a:prstGeom prst="rect">
            <a:avLst/>
          </a:prstGeom>
          <a:noFill/>
          <a:ln w="0">
            <a:noFill/>
          </a:ln>
        </p:spPr>
        <p:txBody>
          <a:bodyPr wrap="none" lIns="0" tIns="0" rIns="0" bIns="0" anchor="t">
            <a:noAutofit/>
          </a:bodyPr>
          <a:lstStyle/>
          <a:p>
            <a:pPr algn="l">
              <a:lnSpc>
                <a:spcPct val="108000"/>
              </a:lnSpc>
              <a:buNone/>
              <a:defRPr sz="3000" b="1" i="0">
                <a:solidFill>
                  <a:srgbClr val="171717"/>
                </a:solidFill>
                <a:latin typeface="Malgun Gothic"/>
                <a:ea typeface="Malgun Gothic"/>
                <a:cs typeface="Malgun Gothic"/>
              </a:defRPr>
            </a:pPr>
            <a:r>
              <a:rPr lang="ko-KR" altLang="en-US" sz="3000" b="1" i="0">
                <a:solidFill>
                  <a:srgbClr val="171717"/>
                </a:solidFill>
                <a:latin typeface="Malgun Gothic"/>
                <a:ea typeface="Malgun Gothic"/>
                <a:cs typeface="Malgun Gothic"/>
              </a:rPr>
              <a:t>함수</a:t>
            </a:r>
            <a:r>
              <a:rPr sz="3000" b="1" i="0">
                <a:solidFill>
                  <a:srgbClr val="171717"/>
                </a:solidFill>
                <a:latin typeface="Malgun Gothic"/>
                <a:ea typeface="Malgun Gothic"/>
                <a:cs typeface="Malgun Gothic"/>
              </a:rPr>
              <a:t>  C 구현</a:t>
            </a:r>
          </a:p>
        </p:txBody>
      </p:sp>
      <p:sp>
        <p:nvSpPr>
          <p:cNvPr id="4" name="직사각형 3">
            <a:extLst>
              <a:ext uri="{FF2B5EF4-FFF2-40B4-BE49-F238E27FC236}">
                <a16:creationId xmlns:a16="http://schemas.microsoft.com/office/drawing/2014/main" id="{0E655A6B-3487-4D6A-9F22-BC838ACD9F64}"/>
              </a:ext>
            </a:extLst>
          </p:cNvPr>
          <p:cNvSpPr>
            <a:spLocks noGrp="1"/>
          </p:cNvSpPr>
          <p:nvPr/>
        </p:nvSpPr>
        <p:spPr>
          <a:xfrm>
            <a:off x="609600" y="1381125"/>
            <a:ext cx="10972800" cy="19050"/>
          </a:xfrm>
          <a:prstGeom prst="rect">
            <a:avLst/>
          </a:prstGeom>
          <a:solidFill>
            <a:srgbClr val="171717"/>
          </a:solidFill>
          <a:ln w="0">
            <a:noFill/>
          </a:ln>
        </p:spPr>
      </p:sp>
      <p:sp>
        <p:nvSpPr>
          <p:cNvPr id="5" name="직사각형 4">
            <a:extLst>
              <a:ext uri="{FF2B5EF4-FFF2-40B4-BE49-F238E27FC236}">
                <a16:creationId xmlns:a16="http://schemas.microsoft.com/office/drawing/2014/main" id="{B6C4C9BD-D0D6-493B-81E2-0AC1A0AF914F}"/>
              </a:ext>
            </a:extLst>
          </p:cNvPr>
          <p:cNvSpPr>
            <a:spLocks noGrp="1"/>
          </p:cNvSpPr>
          <p:nvPr/>
        </p:nvSpPr>
        <p:spPr>
          <a:xfrm>
            <a:off x="609600" y="6438900"/>
            <a:ext cx="10972800" cy="9525"/>
          </a:xfrm>
          <a:prstGeom prst="rect">
            <a:avLst/>
          </a:prstGeom>
          <a:solidFill>
            <a:srgbClr val="D4D4D4"/>
          </a:solidFill>
          <a:ln w="0">
            <a:noFill/>
          </a:ln>
        </p:spPr>
      </p:sp>
      <p:sp>
        <p:nvSpPr>
          <p:cNvPr id="6" name="text-693-64">
            <a:extLst>
              <a:ext uri="{FF2B5EF4-FFF2-40B4-BE49-F238E27FC236}">
                <a16:creationId xmlns:a16="http://schemas.microsoft.com/office/drawing/2014/main" id="{3DCEFE2B-C3E8-4586-BCBA-D46EDF6AEF19}"/>
              </a:ext>
            </a:extLst>
          </p:cNvPr>
          <p:cNvSpPr>
            <a:spLocks noGrp="1"/>
          </p:cNvSpPr>
          <p:nvPr/>
        </p:nvSpPr>
        <p:spPr>
          <a:xfrm>
            <a:off x="609600" y="6600825"/>
            <a:ext cx="9906000" cy="190500"/>
          </a:xfrm>
          <a:prstGeom prst="rect">
            <a:avLst/>
          </a:prstGeom>
          <a:noFill/>
          <a:ln w="0">
            <a:noFill/>
          </a:ln>
        </p:spPr>
        <p:txBody>
          <a:bodyPr wrap="none" lIns="0" tIns="0" rIns="0" bIns="0" anchor="t">
            <a:noAutofit/>
          </a:bodyPr>
          <a:lstStyle/>
          <a:p>
            <a:pPr algn="l">
              <a:lnSpc>
                <a:spcPct val="108000"/>
              </a:lnSpc>
              <a:buNone/>
              <a:defRPr sz="825" b="0" i="0">
                <a:solidFill>
                  <a:srgbClr val="606060"/>
                </a:solidFill>
                <a:latin typeface="Consolas"/>
                <a:ea typeface="Consolas"/>
                <a:cs typeface="Consolas"/>
              </a:defRPr>
            </a:pPr>
            <a:r>
              <a:rPr sz="825" b="0" i="0">
                <a:solidFill>
                  <a:srgbClr val="606060"/>
                </a:solidFill>
                <a:latin typeface="Consolas"/>
                <a:ea typeface="Consolas"/>
                <a:cs typeface="Consolas"/>
              </a:rPr>
              <a:t>05 / GREEDY ALGORITHMS · EXERCISES</a:t>
            </a:r>
          </a:p>
        </p:txBody>
      </p:sp>
      <p:sp>
        <p:nvSpPr>
          <p:cNvPr id="7" name="text-689-1160">
            <a:extLst>
              <a:ext uri="{FF2B5EF4-FFF2-40B4-BE49-F238E27FC236}">
                <a16:creationId xmlns:a16="http://schemas.microsoft.com/office/drawing/2014/main" id="{0FC7F104-7BF6-4B4B-8E04-249615FE7B86}"/>
              </a:ext>
            </a:extLst>
          </p:cNvPr>
          <p:cNvSpPr>
            <a:spLocks noGrp="1"/>
          </p:cNvSpPr>
          <p:nvPr/>
        </p:nvSpPr>
        <p:spPr>
          <a:xfrm>
            <a:off x="11049000" y="6562725"/>
            <a:ext cx="533400" cy="238125"/>
          </a:xfrm>
          <a:prstGeom prst="rect">
            <a:avLst/>
          </a:prstGeom>
          <a:noFill/>
          <a:ln w="0">
            <a:noFill/>
          </a:ln>
        </p:spPr>
        <p:txBody>
          <a:bodyPr wrap="none" lIns="0" tIns="0" rIns="0" bIns="0" anchor="t">
            <a:noAutofit/>
          </a:bodyPr>
          <a:lstStyle/>
          <a:p>
            <a:pPr algn="r">
              <a:lnSpc>
                <a:spcPct val="108000"/>
              </a:lnSpc>
              <a:buNone/>
              <a:defRPr sz="1050" b="1" i="0">
                <a:solidFill>
                  <a:srgbClr val="171717"/>
                </a:solidFill>
                <a:latin typeface="Consolas"/>
                <a:ea typeface="Consolas"/>
                <a:cs typeface="Consolas"/>
              </a:defRPr>
            </a:pPr>
            <a:r>
              <a:rPr lang="en-US" altLang="ko-KR" sz="1050" b="1" i="0">
                <a:solidFill>
                  <a:srgbClr val="171717"/>
                </a:solidFill>
                <a:latin typeface="Consolas"/>
                <a:ea typeface="Consolas"/>
                <a:cs typeface="Consolas"/>
              </a:rPr>
              <a:t>34</a:t>
            </a:r>
            <a:endParaRPr sz="1050" b="1" i="0">
              <a:solidFill>
                <a:srgbClr val="171717"/>
              </a:solidFill>
              <a:latin typeface="Consolas"/>
              <a:ea typeface="Consolas"/>
              <a:cs typeface="Consolas"/>
            </a:endParaRPr>
          </a:p>
        </p:txBody>
      </p:sp>
      <p:sp>
        <p:nvSpPr>
          <p:cNvPr id="8" name="text-163-64">
            <a:extLst>
              <a:ext uri="{FF2B5EF4-FFF2-40B4-BE49-F238E27FC236}">
                <a16:creationId xmlns:a16="http://schemas.microsoft.com/office/drawing/2014/main" id="{20D2AF78-A83E-4E0A-8760-26BED0B3A9B9}"/>
              </a:ext>
            </a:extLst>
          </p:cNvPr>
          <p:cNvSpPr>
            <a:spLocks noGrp="1"/>
          </p:cNvSpPr>
          <p:nvPr/>
        </p:nvSpPr>
        <p:spPr>
          <a:xfrm>
            <a:off x="609600" y="1552575"/>
            <a:ext cx="10972800" cy="266700"/>
          </a:xfrm>
          <a:prstGeom prst="rect">
            <a:avLst/>
          </a:prstGeom>
          <a:noFill/>
          <a:ln w="0">
            <a:noFill/>
          </a:ln>
        </p:spPr>
        <p:txBody>
          <a:bodyPr wrap="none" lIns="0" tIns="0" rIns="0" bIns="0" anchor="t">
            <a:noAutofit/>
          </a:bodyPr>
          <a:lstStyle/>
          <a:p>
            <a:pPr algn="l">
              <a:lnSpc>
                <a:spcPct val="108000"/>
              </a:lnSpc>
              <a:buNone/>
              <a:defRPr sz="1500" b="0" i="0">
                <a:solidFill>
                  <a:srgbClr val="606060"/>
                </a:solidFill>
                <a:latin typeface="Malgun Gothic"/>
                <a:ea typeface="Malgun Gothic"/>
                <a:cs typeface="Malgun Gothic"/>
              </a:defRPr>
            </a:pPr>
            <a:r>
              <a:rPr sz="1500" b="0" i="0">
                <a:solidFill>
                  <a:srgbClr val="606060"/>
                </a:solidFill>
                <a:latin typeface="Malgun Gothic"/>
                <a:ea typeface="Malgun Gothic"/>
                <a:cs typeface="Malgun Gothic"/>
              </a:rPr>
              <a:t>활동 선택</a:t>
            </a:r>
          </a:p>
        </p:txBody>
      </p:sp>
      <p:sp>
        <p:nvSpPr>
          <p:cNvPr id="9" name="직사각형 8">
            <a:extLst>
              <a:ext uri="{FF2B5EF4-FFF2-40B4-BE49-F238E27FC236}">
                <a16:creationId xmlns:a16="http://schemas.microsoft.com/office/drawing/2014/main" id="{84AFADD3-E55B-4ED8-A8D2-CA70757D44E2}"/>
              </a:ext>
            </a:extLst>
          </p:cNvPr>
          <p:cNvSpPr>
            <a:spLocks noGrp="1"/>
          </p:cNvSpPr>
          <p:nvPr/>
        </p:nvSpPr>
        <p:spPr>
          <a:xfrm>
            <a:off x="609600" y="1981200"/>
            <a:ext cx="10972800" cy="3962400"/>
          </a:xfrm>
          <a:prstGeom prst="rect">
            <a:avLst/>
          </a:prstGeom>
          <a:solidFill>
            <a:srgbClr val="171717"/>
          </a:solidFill>
          <a:ln w="0">
            <a:noFill/>
          </a:ln>
        </p:spPr>
      </p:sp>
      <p:sp>
        <p:nvSpPr>
          <p:cNvPr id="10" name="text-222-81">
            <a:extLst>
              <a:ext uri="{FF2B5EF4-FFF2-40B4-BE49-F238E27FC236}">
                <a16:creationId xmlns:a16="http://schemas.microsoft.com/office/drawing/2014/main" id="{BA163D64-78C4-4C83-AFE9-5D9654BAC2CD}"/>
              </a:ext>
            </a:extLst>
          </p:cNvPr>
          <p:cNvSpPr>
            <a:spLocks noGrp="1"/>
          </p:cNvSpPr>
          <p:nvPr/>
        </p:nvSpPr>
        <p:spPr>
          <a:xfrm>
            <a:off x="771525" y="212026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01</a:t>
            </a:r>
          </a:p>
        </p:txBody>
      </p:sp>
      <p:sp>
        <p:nvSpPr>
          <p:cNvPr id="11" name="text-222-135">
            <a:extLst>
              <a:ext uri="{FF2B5EF4-FFF2-40B4-BE49-F238E27FC236}">
                <a16:creationId xmlns:a16="http://schemas.microsoft.com/office/drawing/2014/main" id="{54EAE422-B85D-4044-BE49-3D48AB3CEA62}"/>
              </a:ext>
            </a:extLst>
          </p:cNvPr>
          <p:cNvSpPr>
            <a:spLocks noGrp="1"/>
          </p:cNvSpPr>
          <p:nvPr/>
        </p:nvSpPr>
        <p:spPr>
          <a:xfrm>
            <a:off x="1285875" y="212026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int activity_count(const int start[], const int end[], int n) {</a:t>
            </a:r>
          </a:p>
        </p:txBody>
      </p:sp>
      <p:sp>
        <p:nvSpPr>
          <p:cNvPr id="12" name="text-242.5-81">
            <a:extLst>
              <a:ext uri="{FF2B5EF4-FFF2-40B4-BE49-F238E27FC236}">
                <a16:creationId xmlns:a16="http://schemas.microsoft.com/office/drawing/2014/main" id="{D2D355D2-2B71-4096-BFE7-9C07D4518C1F}"/>
              </a:ext>
            </a:extLst>
          </p:cNvPr>
          <p:cNvSpPr>
            <a:spLocks noGrp="1"/>
          </p:cNvSpPr>
          <p:nvPr/>
        </p:nvSpPr>
        <p:spPr>
          <a:xfrm>
            <a:off x="771525" y="2374107"/>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02</a:t>
            </a:r>
          </a:p>
        </p:txBody>
      </p:sp>
      <p:sp>
        <p:nvSpPr>
          <p:cNvPr id="13" name="text-242.5-135">
            <a:extLst>
              <a:ext uri="{FF2B5EF4-FFF2-40B4-BE49-F238E27FC236}">
                <a16:creationId xmlns:a16="http://schemas.microsoft.com/office/drawing/2014/main" id="{C0AA2D93-05EE-4D6C-A57D-CE38423DBEBC}"/>
              </a:ext>
            </a:extLst>
          </p:cNvPr>
          <p:cNvSpPr>
            <a:spLocks noGrp="1"/>
          </p:cNvSpPr>
          <p:nvPr/>
        </p:nvSpPr>
        <p:spPr>
          <a:xfrm>
            <a:off x="1285875" y="2374107"/>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int last=0, count=0;</a:t>
            </a:r>
          </a:p>
        </p:txBody>
      </p:sp>
      <p:sp>
        <p:nvSpPr>
          <p:cNvPr id="14" name="text-263-81">
            <a:extLst>
              <a:ext uri="{FF2B5EF4-FFF2-40B4-BE49-F238E27FC236}">
                <a16:creationId xmlns:a16="http://schemas.microsoft.com/office/drawing/2014/main" id="{46CEB7AB-244E-4E46-A253-494B620AFBCD}"/>
              </a:ext>
            </a:extLst>
          </p:cNvPr>
          <p:cNvSpPr>
            <a:spLocks noGrp="1"/>
          </p:cNvSpPr>
          <p:nvPr/>
        </p:nvSpPr>
        <p:spPr>
          <a:xfrm>
            <a:off x="771525" y="2627948"/>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03</a:t>
            </a:r>
          </a:p>
        </p:txBody>
      </p:sp>
      <p:sp>
        <p:nvSpPr>
          <p:cNvPr id="15" name="text-263-135">
            <a:extLst>
              <a:ext uri="{FF2B5EF4-FFF2-40B4-BE49-F238E27FC236}">
                <a16:creationId xmlns:a16="http://schemas.microsoft.com/office/drawing/2014/main" id="{047C1736-2149-4B73-BD45-E56DEAC1E338}"/>
              </a:ext>
            </a:extLst>
          </p:cNvPr>
          <p:cNvSpPr>
            <a:spLocks noGrp="1"/>
          </p:cNvSpPr>
          <p:nvPr/>
        </p:nvSpPr>
        <p:spPr>
          <a:xfrm>
            <a:off x="1285875" y="2627948"/>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for (int i=0; i&lt;n; ++i) {</a:t>
            </a:r>
          </a:p>
        </p:txBody>
      </p:sp>
      <p:sp>
        <p:nvSpPr>
          <p:cNvPr id="16" name="text-283.5-81">
            <a:extLst>
              <a:ext uri="{FF2B5EF4-FFF2-40B4-BE49-F238E27FC236}">
                <a16:creationId xmlns:a16="http://schemas.microsoft.com/office/drawing/2014/main" id="{9B26831F-B110-45F5-9FCF-D3A9D996BC0A}"/>
              </a:ext>
            </a:extLst>
          </p:cNvPr>
          <p:cNvSpPr>
            <a:spLocks noGrp="1"/>
          </p:cNvSpPr>
          <p:nvPr/>
        </p:nvSpPr>
        <p:spPr>
          <a:xfrm>
            <a:off x="771525" y="288179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04</a:t>
            </a:r>
          </a:p>
        </p:txBody>
      </p:sp>
      <p:sp>
        <p:nvSpPr>
          <p:cNvPr id="17" name="text-283.5-135">
            <a:extLst>
              <a:ext uri="{FF2B5EF4-FFF2-40B4-BE49-F238E27FC236}">
                <a16:creationId xmlns:a16="http://schemas.microsoft.com/office/drawing/2014/main" id="{249E80D3-F0A5-49E0-9BCE-F114D74D6B84}"/>
              </a:ext>
            </a:extLst>
          </p:cNvPr>
          <p:cNvSpPr>
            <a:spLocks noGrp="1"/>
          </p:cNvSpPr>
          <p:nvPr/>
        </p:nvSpPr>
        <p:spPr>
          <a:xfrm>
            <a:off x="1285875" y="288179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if (start[i]&gt;=last) {</a:t>
            </a:r>
          </a:p>
        </p:txBody>
      </p:sp>
      <p:sp>
        <p:nvSpPr>
          <p:cNvPr id="18" name="text-304-81">
            <a:extLst>
              <a:ext uri="{FF2B5EF4-FFF2-40B4-BE49-F238E27FC236}">
                <a16:creationId xmlns:a16="http://schemas.microsoft.com/office/drawing/2014/main" id="{3128E0C2-31CD-4846-A2DC-071D2F2FECAF}"/>
              </a:ext>
            </a:extLst>
          </p:cNvPr>
          <p:cNvSpPr>
            <a:spLocks noGrp="1"/>
          </p:cNvSpPr>
          <p:nvPr/>
        </p:nvSpPr>
        <p:spPr>
          <a:xfrm>
            <a:off x="771525" y="3135630"/>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05</a:t>
            </a:r>
          </a:p>
        </p:txBody>
      </p:sp>
      <p:sp>
        <p:nvSpPr>
          <p:cNvPr id="19" name="text-304-135">
            <a:extLst>
              <a:ext uri="{FF2B5EF4-FFF2-40B4-BE49-F238E27FC236}">
                <a16:creationId xmlns:a16="http://schemas.microsoft.com/office/drawing/2014/main" id="{9D19CF57-EAA7-41D3-A2F3-EEEB630166B5}"/>
              </a:ext>
            </a:extLst>
          </p:cNvPr>
          <p:cNvSpPr>
            <a:spLocks noGrp="1"/>
          </p:cNvSpPr>
          <p:nvPr/>
        </p:nvSpPr>
        <p:spPr>
          <a:xfrm>
            <a:off x="1285875" y="3135630"/>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++count;</a:t>
            </a:r>
          </a:p>
        </p:txBody>
      </p:sp>
      <p:sp>
        <p:nvSpPr>
          <p:cNvPr id="20" name="text-324.5-81">
            <a:extLst>
              <a:ext uri="{FF2B5EF4-FFF2-40B4-BE49-F238E27FC236}">
                <a16:creationId xmlns:a16="http://schemas.microsoft.com/office/drawing/2014/main" id="{258AA08F-5D67-41B9-B4DB-3EC6C93C192A}"/>
              </a:ext>
            </a:extLst>
          </p:cNvPr>
          <p:cNvSpPr>
            <a:spLocks noGrp="1"/>
          </p:cNvSpPr>
          <p:nvPr/>
        </p:nvSpPr>
        <p:spPr>
          <a:xfrm>
            <a:off x="771525" y="3389472"/>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06</a:t>
            </a:r>
          </a:p>
        </p:txBody>
      </p:sp>
      <p:sp>
        <p:nvSpPr>
          <p:cNvPr id="21" name="text-324.5-135">
            <a:extLst>
              <a:ext uri="{FF2B5EF4-FFF2-40B4-BE49-F238E27FC236}">
                <a16:creationId xmlns:a16="http://schemas.microsoft.com/office/drawing/2014/main" id="{7EA28D2A-7573-4086-B1C5-8E0B72EBAFA1}"/>
              </a:ext>
            </a:extLst>
          </p:cNvPr>
          <p:cNvSpPr>
            <a:spLocks noGrp="1"/>
          </p:cNvSpPr>
          <p:nvPr/>
        </p:nvSpPr>
        <p:spPr>
          <a:xfrm>
            <a:off x="1285875" y="3389472"/>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last=end[i];</a:t>
            </a:r>
          </a:p>
        </p:txBody>
      </p:sp>
      <p:sp>
        <p:nvSpPr>
          <p:cNvPr id="22" name="text-345-81">
            <a:extLst>
              <a:ext uri="{FF2B5EF4-FFF2-40B4-BE49-F238E27FC236}">
                <a16:creationId xmlns:a16="http://schemas.microsoft.com/office/drawing/2014/main" id="{25F64AEC-89CB-42B4-9B0E-12D1EF918F8D}"/>
              </a:ext>
            </a:extLst>
          </p:cNvPr>
          <p:cNvSpPr>
            <a:spLocks noGrp="1"/>
          </p:cNvSpPr>
          <p:nvPr/>
        </p:nvSpPr>
        <p:spPr>
          <a:xfrm>
            <a:off x="771525" y="3643313"/>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07</a:t>
            </a:r>
          </a:p>
        </p:txBody>
      </p:sp>
      <p:sp>
        <p:nvSpPr>
          <p:cNvPr id="23" name="text-345-135">
            <a:extLst>
              <a:ext uri="{FF2B5EF4-FFF2-40B4-BE49-F238E27FC236}">
                <a16:creationId xmlns:a16="http://schemas.microsoft.com/office/drawing/2014/main" id="{86702648-AF7F-46B2-835F-D644531900D0}"/>
              </a:ext>
            </a:extLst>
          </p:cNvPr>
          <p:cNvSpPr>
            <a:spLocks noGrp="1"/>
          </p:cNvSpPr>
          <p:nvPr/>
        </p:nvSpPr>
        <p:spPr>
          <a:xfrm>
            <a:off x="1285875" y="3643313"/>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4" name="text-365.5-81">
            <a:extLst>
              <a:ext uri="{FF2B5EF4-FFF2-40B4-BE49-F238E27FC236}">
                <a16:creationId xmlns:a16="http://schemas.microsoft.com/office/drawing/2014/main" id="{52935350-4BA2-418D-8932-DF35A022A4F7}"/>
              </a:ext>
            </a:extLst>
          </p:cNvPr>
          <p:cNvSpPr>
            <a:spLocks noGrp="1"/>
          </p:cNvSpPr>
          <p:nvPr/>
        </p:nvSpPr>
        <p:spPr>
          <a:xfrm>
            <a:off x="771525" y="3897154"/>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08</a:t>
            </a:r>
          </a:p>
        </p:txBody>
      </p:sp>
      <p:sp>
        <p:nvSpPr>
          <p:cNvPr id="25" name="text-365.5-135">
            <a:extLst>
              <a:ext uri="{FF2B5EF4-FFF2-40B4-BE49-F238E27FC236}">
                <a16:creationId xmlns:a16="http://schemas.microsoft.com/office/drawing/2014/main" id="{3CA19AEB-1FEC-446F-B363-9B0906962B12}"/>
              </a:ext>
            </a:extLst>
          </p:cNvPr>
          <p:cNvSpPr>
            <a:spLocks noGrp="1"/>
          </p:cNvSpPr>
          <p:nvPr/>
        </p:nvSpPr>
        <p:spPr>
          <a:xfrm>
            <a:off x="1285875" y="3897154"/>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a:t>
            </a:r>
          </a:p>
        </p:txBody>
      </p:sp>
      <p:sp>
        <p:nvSpPr>
          <p:cNvPr id="26" name="text-386-81">
            <a:extLst>
              <a:ext uri="{FF2B5EF4-FFF2-40B4-BE49-F238E27FC236}">
                <a16:creationId xmlns:a16="http://schemas.microsoft.com/office/drawing/2014/main" id="{9CEDCB01-F5E2-4591-8AA5-D52114E7ED87}"/>
              </a:ext>
            </a:extLst>
          </p:cNvPr>
          <p:cNvSpPr>
            <a:spLocks noGrp="1"/>
          </p:cNvSpPr>
          <p:nvPr/>
        </p:nvSpPr>
        <p:spPr>
          <a:xfrm>
            <a:off x="771525" y="4150995"/>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09</a:t>
            </a:r>
          </a:p>
        </p:txBody>
      </p:sp>
      <p:sp>
        <p:nvSpPr>
          <p:cNvPr id="27" name="text-386-135">
            <a:extLst>
              <a:ext uri="{FF2B5EF4-FFF2-40B4-BE49-F238E27FC236}">
                <a16:creationId xmlns:a16="http://schemas.microsoft.com/office/drawing/2014/main" id="{5CFE5407-AD60-4AE0-B6D4-BDD0D64D067D}"/>
              </a:ext>
            </a:extLst>
          </p:cNvPr>
          <p:cNvSpPr>
            <a:spLocks noGrp="1"/>
          </p:cNvSpPr>
          <p:nvPr/>
        </p:nvSpPr>
        <p:spPr>
          <a:xfrm>
            <a:off x="1285875" y="4150995"/>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    return count;</a:t>
            </a:r>
          </a:p>
        </p:txBody>
      </p:sp>
      <p:sp>
        <p:nvSpPr>
          <p:cNvPr id="28" name="text-406.5-81">
            <a:extLst>
              <a:ext uri="{FF2B5EF4-FFF2-40B4-BE49-F238E27FC236}">
                <a16:creationId xmlns:a16="http://schemas.microsoft.com/office/drawing/2014/main" id="{CC15608B-D1E3-402D-A02E-42EDB5F6BE26}"/>
              </a:ext>
            </a:extLst>
          </p:cNvPr>
          <p:cNvSpPr>
            <a:spLocks noGrp="1"/>
          </p:cNvSpPr>
          <p:nvPr/>
        </p:nvSpPr>
        <p:spPr>
          <a:xfrm>
            <a:off x="771525" y="4404837"/>
            <a:ext cx="361950" cy="238125"/>
          </a:xfrm>
          <a:prstGeom prst="rect">
            <a:avLst/>
          </a:prstGeom>
          <a:noFill/>
          <a:ln w="0">
            <a:noFill/>
          </a:ln>
        </p:spPr>
        <p:txBody>
          <a:bodyPr wrap="none" lIns="0" tIns="0" rIns="0" bIns="0" anchor="t">
            <a:noAutofit/>
          </a:bodyPr>
          <a:lstStyle/>
          <a:p>
            <a:pPr algn="l">
              <a:lnSpc>
                <a:spcPct val="108000"/>
              </a:lnSpc>
              <a:buNone/>
              <a:defRPr sz="1200" b="0" i="0">
                <a:solidFill>
                  <a:srgbClr val="8D8D8D"/>
                </a:solidFill>
                <a:latin typeface="Consolas"/>
                <a:ea typeface="Consolas"/>
                <a:cs typeface="Consolas"/>
              </a:defRPr>
            </a:pPr>
            <a:r>
              <a:rPr sz="1200" b="0" i="0">
                <a:solidFill>
                  <a:srgbClr val="8D8D8D"/>
                </a:solidFill>
                <a:latin typeface="Consolas"/>
                <a:ea typeface="Consolas"/>
                <a:cs typeface="Consolas"/>
              </a:rPr>
              <a:t>10</a:t>
            </a:r>
          </a:p>
        </p:txBody>
      </p:sp>
      <p:sp>
        <p:nvSpPr>
          <p:cNvPr id="29" name="text-406.5-135">
            <a:extLst>
              <a:ext uri="{FF2B5EF4-FFF2-40B4-BE49-F238E27FC236}">
                <a16:creationId xmlns:a16="http://schemas.microsoft.com/office/drawing/2014/main" id="{AE26947E-8F4E-437D-99BC-819F00F08192}"/>
              </a:ext>
            </a:extLst>
          </p:cNvPr>
          <p:cNvSpPr>
            <a:spLocks noGrp="1"/>
          </p:cNvSpPr>
          <p:nvPr/>
        </p:nvSpPr>
        <p:spPr>
          <a:xfrm>
            <a:off x="1285875" y="4404837"/>
            <a:ext cx="10115550" cy="247650"/>
          </a:xfrm>
          <a:prstGeom prst="rect">
            <a:avLst/>
          </a:prstGeom>
          <a:noFill/>
          <a:ln w="0">
            <a:noFill/>
          </a:ln>
        </p:spPr>
        <p:txBody>
          <a:bodyPr wrap="none" lIns="0" tIns="0" rIns="0" bIns="0" anchor="t">
            <a:noAutofit/>
          </a:bodyPr>
          <a:lstStyle/>
          <a:p>
            <a:pPr algn="l">
              <a:lnSpc>
                <a:spcPct val="108000"/>
              </a:lnSpc>
              <a:buNone/>
              <a:defRPr sz="1575" b="0" i="0">
                <a:solidFill>
                  <a:srgbClr val="FFFFFF"/>
                </a:solidFill>
                <a:latin typeface="Consolas"/>
                <a:ea typeface="Consolas"/>
                <a:cs typeface="Consolas"/>
              </a:defRPr>
            </a:pPr>
            <a:r>
              <a:rPr sz="1575" b="0" i="0">
                <a:solidFill>
                  <a:srgbClr val="FFFFFF"/>
                </a:solidFill>
                <a:latin typeface="Consolas"/>
                <a:ea typeface="Consolas"/>
                <a:cs typeface="Consolas"/>
              </a:rPr>
              <a:t>}</a:t>
            </a:r>
          </a:p>
        </p:txBody>
      </p:sp>
      <p:sp>
        <p:nvSpPr>
          <p:cNvPr id="30" name="text-635-64">
            <a:extLst>
              <a:ext uri="{FF2B5EF4-FFF2-40B4-BE49-F238E27FC236}">
                <a16:creationId xmlns:a16="http://schemas.microsoft.com/office/drawing/2014/main" id="{6E4AC7F1-603D-406B-878D-538F7EB68027}"/>
              </a:ext>
            </a:extLst>
          </p:cNvPr>
          <p:cNvSpPr>
            <a:spLocks noGrp="1"/>
          </p:cNvSpPr>
          <p:nvPr/>
        </p:nvSpPr>
        <p:spPr>
          <a:xfrm>
            <a:off x="609600" y="6048375"/>
            <a:ext cx="10972800" cy="213360"/>
          </a:xfrm>
          <a:prstGeom prst="rect">
            <a:avLst/>
          </a:prstGeom>
          <a:noFill/>
          <a:ln w="0">
            <a:noFill/>
          </a:ln>
        </p:spPr>
        <p:txBody>
          <a:bodyPr wrap="none" lIns="0" tIns="0" rIns="0" bIns="0" anchor="t">
            <a:noAutofit/>
          </a:bodyPr>
          <a:lstStyle/>
          <a:p>
            <a:pPr algn="l">
              <a:lnSpc>
                <a:spcPct val="108000"/>
              </a:lnSpc>
              <a:buNone/>
              <a:defRPr sz="1200" b="0" i="0">
                <a:solidFill>
                  <a:srgbClr val="606060"/>
                </a:solidFill>
                <a:latin typeface="Malgun Gothic"/>
                <a:ea typeface="Malgun Gothic"/>
                <a:cs typeface="Malgun Gothic"/>
              </a:defRPr>
            </a:pPr>
            <a:r>
              <a:rPr sz="1200" b="0" i="0">
                <a:solidFill>
                  <a:srgbClr val="606060"/>
                </a:solidFill>
                <a:latin typeface="Malgun Gothic"/>
                <a:ea typeface="Malgun Gothic"/>
                <a:cs typeface="Malgun Gothic"/>
              </a:rPr>
              <a:t>정렬된 입력에서 시간 O(n). 정렬까지 하면 O(n log n).</a:t>
            </a:r>
          </a:p>
        </p:txBody>
      </p:sp>
    </p:spTree>
    <p:extLst>
      <p:ext uri="{BB962C8B-B14F-4D97-AF65-F5344CB8AC3E}">
        <p14:creationId xmlns:p14="http://schemas.microsoft.com/office/powerpoint/2010/main" val="1094734476"/>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배낭 문제: 용량 안에서 가치를 최대로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35</a:t>
            </a:r>
            <a:endParaRPr lang="ko-KR" altLang="en-US" sz="1050" b="0" dirty="0">
              <a:solidFill>
                <a:srgbClr val="606060"/>
              </a:solidFill>
              <a:latin typeface="Malgun Gothic"/>
              <a:ea typeface="Malgun Gothic"/>
              <a:cs typeface="Malgun Gothic"/>
            </a:endParaRPr>
          </a:p>
        </p:txBody>
      </p:sp>
      <p:sp>
        <p:nvSpPr>
          <p:cNvPr id="9" name="fit:862437d58731c9b9 10"/>
          <p:cNvSpPr/>
          <p:nvPr/>
        </p:nvSpPr>
        <p:spPr>
          <a:xfrm>
            <a:off x="612648" y="1636776"/>
            <a:ext cx="10972800" cy="667512"/>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용량이 정해진 배낭에 보물을 담습니다. 담은 무게의 합이 용량을 넘지 않게 하면서</a:t>
            </a:r>
          </a:p>
          <a:p>
            <a:pPr algn="l" eaLnBrk="0" latinLnBrk="0">
              <a:lnSpc>
                <a:spcPct val="105000"/>
              </a:lnSpc>
              <a:buNone/>
            </a:pPr>
            <a:r>
              <a:rPr lang="ko-KR" altLang="en-US" sz="2025" b="0" dirty="0">
                <a:solidFill>
                  <a:srgbClr val="171717"/>
                </a:solidFill>
                <a:latin typeface="Malgun Gothic"/>
                <a:ea typeface="Malgun Gothic"/>
                <a:cs typeface="Malgun Gothic"/>
              </a:rPr>
              <a:t>가치의 합을 가장 크게 만드는 문제가 </a:t>
            </a:r>
            <a:r>
              <a:rPr lang="ko-KR" altLang="en-US" sz="2025" b="1" dirty="0">
                <a:solidFill>
                  <a:srgbClr val="171717"/>
                </a:solidFill>
                <a:latin typeface="Malgun Gothic"/>
                <a:ea typeface="Malgun Gothic"/>
                <a:cs typeface="Malgun Gothic"/>
              </a:rPr>
              <a:t>배낭 문제</a:t>
            </a:r>
            <a:r>
              <a:rPr lang="ko-KR" altLang="en-US" sz="2025" b="0" dirty="0">
                <a:solidFill>
                  <a:srgbClr val="171717"/>
                </a:solidFill>
                <a:latin typeface="Malgun Gothic"/>
                <a:ea typeface="Malgun Gothic"/>
                <a:cs typeface="Malgun Gothic"/>
              </a:rPr>
              <a:t>(knapsack problem)입니다.</a:t>
            </a:r>
          </a:p>
        </p:txBody>
      </p:sp>
      <p:graphicFrame>
        <p:nvGraphicFramePr>
          <p:cNvPr id="10" name="표 11"/>
          <p:cNvGraphicFramePr>
            <a:graphicFrameLocks noGrp="1"/>
          </p:cNvGraphicFramePr>
          <p:nvPr>
            <p:extLst>
              <p:ext uri="{D42A27DB-BD31-4B8C-83A1-F6EECF244321}">
                <p14:modId xmlns:p14="http://schemas.microsoft.com/office/powerpoint/2010/main" val="4235198019"/>
              </p:ext>
            </p:extLst>
          </p:nvPr>
        </p:nvGraphicFramePr>
        <p:xfrm>
          <a:off x="612648" y="2432304"/>
          <a:ext cx="10972800" cy="1463040"/>
        </p:xfrm>
        <a:graphic>
          <a:graphicData uri="http://schemas.openxmlformats.org/drawingml/2006/table">
            <a:tbl>
              <a:tblPr/>
              <a:tblGrid>
                <a:gridCol w="36576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gridCol w="3657600">
                  <a:extLst>
                    <a:ext uri="{9D8B030D-6E8A-4147-A177-3AD203B41FA5}">
                      <a16:colId xmlns:a16="http://schemas.microsoft.com/office/drawing/2014/main" val="20002"/>
                    </a:ext>
                  </a:extLst>
                </a:gridCol>
              </a:tblGrid>
              <a:tr h="365760">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보물</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무게</a:t>
                      </a:r>
                    </a:p>
                  </a:txBody>
                  <a:tcPr marL="54864" marR="54864" marT="18288" marB="18288" anchor="ctr">
                    <a:solidFill>
                      <a:srgbClr val="151515"/>
                    </a:solidFill>
                  </a:tcPr>
                </a:tc>
                <a:tc>
                  <a:txBody>
                    <a:bodyPr/>
                    <a:lstStyle/>
                    <a:p>
                      <a:pPr algn="ctr" eaLnBrk="0" latinLnBrk="0">
                        <a:lnSpc>
                          <a:spcPct val="100000"/>
                        </a:lnSpc>
                        <a:buNone/>
                      </a:pPr>
                      <a:r>
                        <a:rPr lang="ko-KR" altLang="en-US" sz="1650" b="1" dirty="0">
                          <a:solidFill>
                            <a:srgbClr val="FFFFFF"/>
                          </a:solidFill>
                          <a:latin typeface="Malgun Gothic"/>
                          <a:ea typeface="Malgun Gothic"/>
                          <a:cs typeface="Malgun Gothic"/>
                        </a:rPr>
                        <a:t>가치</a:t>
                      </a:r>
                    </a:p>
                  </a:txBody>
                  <a:tcPr marL="54864" marR="54864" marT="18288" marB="18288" anchor="ctr">
                    <a:solidFill>
                      <a:srgbClr val="151515"/>
                    </a:solidFill>
                  </a:tcPr>
                </a:tc>
                <a:extLst>
                  <a:ext uri="{0D108BD9-81ED-4DB2-BD59-A6C34878D82A}">
                    <a16:rowId xmlns:a16="http://schemas.microsoft.com/office/drawing/2014/main" val="10000"/>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20kg</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14,000 G</a:t>
                      </a:r>
                    </a:p>
                  </a:txBody>
                  <a:tcPr marL="54864" marR="54864" marT="18288" marB="18288" anchor="ctr">
                    <a:solidFill>
                      <a:srgbClr val="FFFFFF"/>
                    </a:solidFill>
                  </a:tcPr>
                </a:tc>
                <a:extLst>
                  <a:ext uri="{0D108BD9-81ED-4DB2-BD59-A6C34878D82A}">
                    <a16:rowId xmlns:a16="http://schemas.microsoft.com/office/drawing/2014/main" val="10001"/>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15kg</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9,000 G</a:t>
                      </a:r>
                    </a:p>
                  </a:txBody>
                  <a:tcPr marL="54864" marR="54864" marT="18288" marB="18288" anchor="ctr">
                    <a:solidFill>
                      <a:srgbClr val="FFFFFF"/>
                    </a:solidFill>
                  </a:tcPr>
                </a:tc>
                <a:extLst>
                  <a:ext uri="{0D108BD9-81ED-4DB2-BD59-A6C34878D82A}">
                    <a16:rowId xmlns:a16="http://schemas.microsoft.com/office/drawing/2014/main" val="10002"/>
                  </a:ext>
                </a:extLst>
              </a:tr>
              <a:tr h="365760">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15kg</a:t>
                      </a:r>
                    </a:p>
                  </a:txBody>
                  <a:tcPr marL="54864" marR="54864" marT="18288" marB="18288" anchor="ctr">
                    <a:solidFill>
                      <a:srgbClr val="FFFFFF"/>
                    </a:solidFill>
                  </a:tcPr>
                </a:tc>
                <a:tc>
                  <a:txBody>
                    <a:bodyPr/>
                    <a:lstStyle/>
                    <a:p>
                      <a:pPr algn="ctr" eaLnBrk="0" latinLnBrk="0">
                        <a:lnSpc>
                          <a:spcPct val="100000"/>
                        </a:lnSpc>
                        <a:buNone/>
                      </a:pPr>
                      <a:r>
                        <a:rPr lang="ko-KR" altLang="en-US" sz="1650" b="0" dirty="0">
                          <a:solidFill>
                            <a:srgbClr val="151515"/>
                          </a:solidFill>
                          <a:latin typeface="Malgun Gothic"/>
                          <a:ea typeface="Malgun Gothic"/>
                          <a:cs typeface="Malgun Gothic"/>
                        </a:rPr>
                        <a:t>9,000 G</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1" name="fit:450fd5583941906e 12"/>
          <p:cNvSpPr/>
          <p:nvPr/>
        </p:nvSpPr>
        <p:spPr>
          <a:xfrm>
            <a:off x="612648" y="4041648"/>
            <a:ext cx="10972800" cy="310896"/>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배낭 용량은 </a:t>
            </a:r>
            <a:r>
              <a:rPr lang="ko-KR" altLang="en-US" sz="1800" b="1" dirty="0">
                <a:solidFill>
                  <a:srgbClr val="171717"/>
                </a:solidFill>
                <a:latin typeface="Malgun Gothic"/>
                <a:ea typeface="Malgun Gothic"/>
                <a:cs typeface="Malgun Gothic"/>
              </a:rPr>
              <a:t>30kg</a:t>
            </a:r>
            <a:r>
              <a:rPr lang="ko-KR" altLang="en-US" sz="1800" b="0" dirty="0">
                <a:solidFill>
                  <a:srgbClr val="171717"/>
                </a:solidFill>
                <a:latin typeface="Malgun Gothic"/>
                <a:ea typeface="Malgun Gothic"/>
                <a:cs typeface="Malgun Gothic"/>
              </a:rPr>
              <a:t>입니다. G(골드)는 가치의 단위입니다.</a:t>
            </a:r>
          </a:p>
        </p:txBody>
      </p:sp>
      <p:sp>
        <p:nvSpPr>
          <p:cNvPr id="12" name="fit:a33c8ab66029f3d0 13"/>
          <p:cNvSpPr/>
          <p:nvPr/>
        </p:nvSpPr>
        <p:spPr>
          <a:xfrm>
            <a:off x="612648" y="4480560"/>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쪼갤 수 있다 → 분할 배낭 (fractional knapsack)</a:t>
            </a:r>
          </a:p>
        </p:txBody>
      </p:sp>
      <p:sp>
        <p:nvSpPr>
          <p:cNvPr id="13" name="fit:9547d137e73e1312 14"/>
          <p:cNvSpPr/>
          <p:nvPr/>
        </p:nvSpPr>
        <p:spPr>
          <a:xfrm>
            <a:off x="795528" y="4809744"/>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가루처럼 원하는 만큼 덜어 담을 수 있습니다.</a:t>
            </a:r>
          </a:p>
        </p:txBody>
      </p:sp>
      <p:sp>
        <p:nvSpPr>
          <p:cNvPr id="14" name="fit:d1fad72c8dd62eb6 15"/>
          <p:cNvSpPr/>
          <p:nvPr/>
        </p:nvSpPr>
        <p:spPr>
          <a:xfrm>
            <a:off x="612648" y="5193792"/>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쪼갤 수 없다 → 0/1 배낭 (0/1 knapsack)</a:t>
            </a:r>
          </a:p>
        </p:txBody>
      </p:sp>
      <p:sp>
        <p:nvSpPr>
          <p:cNvPr id="15" name="fit:c60bf719cb2d90ac 16"/>
          <p:cNvSpPr/>
          <p:nvPr/>
        </p:nvSpPr>
        <p:spPr>
          <a:xfrm>
            <a:off x="795528" y="5522976"/>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통째로 담거나(1) 아예 담지 않습니다(0).</a:t>
            </a:r>
          </a:p>
        </p:txBody>
      </p:sp>
      <p:sp>
        <p:nvSpPr>
          <p:cNvPr id="16" name="fit:05795517b7c9e444 17"/>
          <p:cNvSpPr/>
          <p:nvPr/>
        </p:nvSpPr>
        <p:spPr>
          <a:xfrm>
            <a:off x="612648" y="590702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a:solidFill>
                  <a:srgbClr val="3F3F3F"/>
                </a:solidFill>
                <a:latin typeface="Malgun Gothic"/>
                <a:ea typeface="Malgun Gothic"/>
                <a:cs typeface="Malgun Gothic"/>
              </a:rPr>
              <a:t>분할 배낭을 계산한 뒤</a:t>
            </a:r>
            <a:r>
              <a:rPr lang="en-US" altLang="ko-KR" sz="1650" b="0">
                <a:solidFill>
                  <a:srgbClr val="3F3F3F"/>
                </a:solidFill>
                <a:latin typeface="Malgun Gothic"/>
                <a:ea typeface="Malgun Gothic"/>
                <a:cs typeface="Malgun Gothic"/>
              </a:rPr>
              <a:t>, </a:t>
            </a:r>
            <a:r>
              <a:rPr lang="ko-KR" altLang="en-US" sz="1650" b="0">
                <a:solidFill>
                  <a:srgbClr val="3F3F3F"/>
                </a:solidFill>
                <a:latin typeface="Malgun Gothic"/>
                <a:ea typeface="Malgun Gothic"/>
                <a:cs typeface="Malgun Gothic"/>
              </a:rPr>
              <a:t>용량 </a:t>
            </a:r>
            <a:r>
              <a:rPr lang="en-US" altLang="ko-KR" sz="1650" b="0">
                <a:solidFill>
                  <a:srgbClr val="3F3F3F"/>
                </a:solidFill>
                <a:latin typeface="Malgun Gothic"/>
                <a:ea typeface="Malgun Gothic"/>
                <a:cs typeface="Malgun Gothic"/>
              </a:rPr>
              <a:t>50</a:t>
            </a:r>
            <a:r>
              <a:rPr lang="ko-KR" altLang="en-US" sz="1650" b="0">
                <a:solidFill>
                  <a:srgbClr val="3F3F3F"/>
                </a:solidFill>
                <a:latin typeface="Malgun Gothic"/>
                <a:ea typeface="Malgun Gothic"/>
                <a:cs typeface="Malgun Gothic"/>
              </a:rPr>
              <a:t>인 </a:t>
            </a:r>
            <a:r>
              <a:rPr lang="en-US" altLang="ko-KR" sz="1650" b="0">
                <a:solidFill>
                  <a:srgbClr val="3F3F3F"/>
                </a:solidFill>
                <a:latin typeface="Malgun Gothic"/>
                <a:ea typeface="Malgun Gothic"/>
                <a:cs typeface="Malgun Gothic"/>
              </a:rPr>
              <a:t>0/1 </a:t>
            </a:r>
            <a:r>
              <a:rPr lang="ko-KR" altLang="en-US" sz="1650" b="0">
                <a:solidFill>
                  <a:srgbClr val="3F3F3F"/>
                </a:solidFill>
                <a:latin typeface="Malgun Gothic"/>
                <a:ea typeface="Malgun Gothic"/>
                <a:cs typeface="Malgun Gothic"/>
              </a:rPr>
              <a:t>배낭의 반례와 비교합니다</a:t>
            </a:r>
            <a:r>
              <a:rPr lang="en-US" altLang="ko-KR" sz="1650" b="0">
                <a:solidFill>
                  <a:srgbClr val="3F3F3F"/>
                </a:solidFill>
                <a:latin typeface="Malgun Gothic"/>
                <a:ea typeface="Malgun Gothic"/>
                <a:cs typeface="Malgun Gothic"/>
              </a:rPr>
              <a:t>.</a:t>
            </a:r>
            <a:endParaRPr lang="ko-KR" altLang="en-US" sz="1650" b="0" dirty="0">
              <a:solidFill>
                <a:srgbClr val="3F3F3F"/>
              </a:solidFill>
              <a:latin typeface="Malgun Gothic"/>
              <a:ea typeface="Malgun Gothic"/>
              <a:cs typeface="Malgun Gothic"/>
            </a:endParaRPr>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① 무게당 가치(가성비) 순으로 정렬</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36</a:t>
            </a:r>
            <a:endParaRPr lang="ko-KR" altLang="en-US" sz="1050" b="0" dirty="0">
              <a:solidFill>
                <a:srgbClr val="606060"/>
              </a:solidFill>
              <a:latin typeface="Malgun Gothic"/>
              <a:ea typeface="Malgun Gothic"/>
              <a:cs typeface="Malgun Gothic"/>
            </a:endParaRPr>
          </a:p>
        </p:txBody>
      </p:sp>
      <p:sp>
        <p:nvSpPr>
          <p:cNvPr id="9" name="fit:2cf17bfdeb73cd61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1kg에 얼마인지, 즉 무게당 가치를 구해</a:t>
            </a:r>
          </a:p>
          <a:p>
            <a:pPr algn="l" eaLnBrk="0" latinLnBrk="0">
              <a:lnSpc>
                <a:spcPct val="100000"/>
              </a:lnSpc>
              <a:buNone/>
            </a:pPr>
            <a:r>
              <a:rPr lang="ko-KR" altLang="en-US" sz="2025" b="0" dirty="0">
                <a:solidFill>
                  <a:srgbClr val="171717"/>
                </a:solidFill>
                <a:latin typeface="Malgun Gothic"/>
                <a:ea typeface="Malgun Gothic"/>
                <a:cs typeface="Malgun Gothic"/>
              </a:rPr>
              <a:t>높은 순서로 세웁니다. 코드에서는 ratio라고 부릅니다.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62fba806253ece12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무게당 가치 = 가치 ÷ 무게</a:t>
            </a:r>
          </a:p>
        </p:txBody>
      </p:sp>
      <p:sp>
        <p:nvSpPr>
          <p:cNvPr id="12" name="fit:2f2c5603d15b9106 13"/>
          <p:cNvSpPr/>
          <p:nvPr/>
        </p:nvSpPr>
        <p:spPr>
          <a:xfrm>
            <a:off x="7909560" y="327355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A: 14,000 ÷ 20 = 700</a:t>
            </a:r>
          </a:p>
        </p:txBody>
      </p:sp>
      <p:sp>
        <p:nvSpPr>
          <p:cNvPr id="13" name="fit:0be6f459dd803282 14"/>
          <p:cNvSpPr/>
          <p:nvPr/>
        </p:nvSpPr>
        <p:spPr>
          <a:xfrm>
            <a:off x="7909560" y="361188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B: 9,000 ÷ 15 = 600</a:t>
            </a:r>
          </a:p>
        </p:txBody>
      </p:sp>
      <p:sp>
        <p:nvSpPr>
          <p:cNvPr id="14" name="fit:37cd234b136c2203 15"/>
          <p:cNvSpPr/>
          <p:nvPr/>
        </p:nvSpPr>
        <p:spPr>
          <a:xfrm>
            <a:off x="7909560" y="3950208"/>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C: 9,000 ÷ 15 = 600</a:t>
            </a:r>
          </a:p>
        </p:txBody>
      </p:sp>
      <p:sp>
        <p:nvSpPr>
          <p:cNvPr id="15" name="fit:32c01cf4315438bd 16"/>
          <p:cNvSpPr/>
          <p:nvPr/>
        </p:nvSpPr>
        <p:spPr>
          <a:xfrm>
            <a:off x="7909560" y="4343400"/>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순서: A → B → C</a:t>
            </a:r>
          </a:p>
        </p:txBody>
      </p:sp>
      <p:sp>
        <p:nvSpPr>
          <p:cNvPr id="16" name="fit:9768b63315f77b34 17"/>
          <p:cNvSpPr/>
          <p:nvPr/>
        </p:nvSpPr>
        <p:spPr>
          <a:xfrm>
            <a:off x="7909560" y="4800600"/>
            <a:ext cx="3666744" cy="448056"/>
          </a:xfrm>
          <a:prstGeom prst="rect">
            <a:avLst/>
          </a:prstGeom>
          <a:noFill/>
          <a:ln w="0">
            <a:noFill/>
          </a:ln>
        </p:spPr>
        <p:txBody>
          <a:bodyPr wrap="square" lIns="0" tIns="0" rIns="0" bIns="0" anchor="t">
            <a:noAutofit/>
          </a:bodyPr>
          <a:lstStyle/>
          <a:p>
            <a:pPr algn="l" eaLnBrk="0" latinLnBrk="0">
              <a:lnSpc>
                <a:spcPct val="100000"/>
              </a:lnSpc>
              <a:buNone/>
            </a:pPr>
            <a:r>
              <a:rPr lang="ko-KR" altLang="en-US" sz="1350" b="0" dirty="0">
                <a:solidFill>
                  <a:srgbClr val="3F3F3F"/>
                </a:solidFill>
                <a:latin typeface="Malgun Gothic"/>
                <a:ea typeface="Malgun Gothic"/>
                <a:cs typeface="Malgun Gothic"/>
              </a:rPr>
              <a:t>B와 C는 같으므로</a:t>
            </a:r>
          </a:p>
          <a:p>
            <a:pPr algn="l" eaLnBrk="0" latinLnBrk="0">
              <a:lnSpc>
                <a:spcPct val="100000"/>
              </a:lnSpc>
              <a:buNone/>
            </a:pPr>
            <a:r>
              <a:rPr lang="ko-KR" altLang="en-US" sz="1350" b="0" dirty="0">
                <a:solidFill>
                  <a:srgbClr val="3F3F3F"/>
                </a:solidFill>
                <a:latin typeface="Malgun Gothic"/>
                <a:ea typeface="Malgun Gothic"/>
                <a:cs typeface="Malgun Gothic"/>
              </a:rPr>
              <a:t>입력 순서대로 B를 먼저 봅니다.</a:t>
            </a:r>
          </a:p>
        </p:txBody>
      </p:sp>
      <p:sp>
        <p:nvSpPr>
          <p:cNvPr id="17" name="직사각형 18"/>
          <p:cNvSpPr/>
          <p:nvPr/>
        </p:nvSpPr>
        <p:spPr>
          <a:xfrm>
            <a:off x="612648" y="4754880"/>
            <a:ext cx="6583680" cy="512064"/>
          </a:xfrm>
          <a:prstGeom prst="rect">
            <a:avLst/>
          </a:prstGeom>
          <a:solidFill>
            <a:srgbClr val="F2F2F2"/>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0" dirty="0">
                <a:solidFill>
                  <a:srgbClr val="606060"/>
                </a:solidFill>
                <a:latin typeface="Malgun Gothic"/>
                <a:ea typeface="Malgun Gothic"/>
                <a:cs typeface="Malgun Gothic"/>
              </a:rPr>
              <a:t>빈 공간 30kg</a:t>
            </a:r>
          </a:p>
        </p:txBody>
      </p:sp>
      <p:graphicFrame>
        <p:nvGraphicFramePr>
          <p:cNvPr id="18" name="표 19"/>
          <p:cNvGraphicFramePr>
            <a:graphicFrameLocks noGrp="1"/>
          </p:cNvGraphicFramePr>
          <p:nvPr>
            <p:extLst>
              <p:ext uri="{D42A27DB-BD31-4B8C-83A1-F6EECF244321}">
                <p14:modId xmlns:p14="http://schemas.microsoft.com/office/powerpoint/2010/main" val="1207371111"/>
              </p:ext>
            </p:extLst>
          </p:nvPr>
        </p:nvGraphicFramePr>
        <p:xfrm>
          <a:off x="612648" y="2651760"/>
          <a:ext cx="6583680" cy="1316736"/>
        </p:xfrm>
        <a:graphic>
          <a:graphicData uri="http://schemas.openxmlformats.org/drawingml/2006/table">
            <a:tbl>
              <a:tblPr/>
              <a:tblGrid>
                <a:gridCol w="752421">
                  <a:extLst>
                    <a:ext uri="{9D8B030D-6E8A-4147-A177-3AD203B41FA5}">
                      <a16:colId xmlns:a16="http://schemas.microsoft.com/office/drawing/2014/main" val="20000"/>
                    </a:ext>
                  </a:extLst>
                </a:gridCol>
                <a:gridCol w="940526">
                  <a:extLst>
                    <a:ext uri="{9D8B030D-6E8A-4147-A177-3AD203B41FA5}">
                      <a16:colId xmlns:a16="http://schemas.microsoft.com/office/drawing/2014/main" val="20001"/>
                    </a:ext>
                  </a:extLst>
                </a:gridCol>
                <a:gridCol w="1128631">
                  <a:extLst>
                    <a:ext uri="{9D8B030D-6E8A-4147-A177-3AD203B41FA5}">
                      <a16:colId xmlns:a16="http://schemas.microsoft.com/office/drawing/2014/main" val="20002"/>
                    </a:ext>
                  </a:extLst>
                </a:gridCol>
                <a:gridCol w="1316736">
                  <a:extLst>
                    <a:ext uri="{9D8B030D-6E8A-4147-A177-3AD203B41FA5}">
                      <a16:colId xmlns:a16="http://schemas.microsoft.com/office/drawing/2014/main" val="20003"/>
                    </a:ext>
                  </a:extLst>
                </a:gridCol>
                <a:gridCol w="1316736">
                  <a:extLst>
                    <a:ext uri="{9D8B030D-6E8A-4147-A177-3AD203B41FA5}">
                      <a16:colId xmlns:a16="http://schemas.microsoft.com/office/drawing/2014/main" val="20004"/>
                    </a:ext>
                  </a:extLst>
                </a:gridCol>
                <a:gridCol w="1128631">
                  <a:extLst>
                    <a:ext uri="{9D8B030D-6E8A-4147-A177-3AD203B41FA5}">
                      <a16:colId xmlns:a16="http://schemas.microsoft.com/office/drawing/2014/main" val="20005"/>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보물</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무게당 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담은 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얻은 가치</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20kg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14,000 G</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700 G/kg</a:t>
                      </a:r>
                    </a:p>
                  </a:txBody>
                  <a:tcPr marL="54864" marR="54864" marT="18288" marB="18288" anchor="ctr">
                    <a:solidFill>
                      <a:srgbClr val="FFF1C2"/>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15kg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9,000 G</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600 G/kg</a:t>
                      </a:r>
                    </a:p>
                  </a:txBody>
                  <a:tcPr marL="54864" marR="54864" marT="18288" marB="18288" anchor="ctr">
                    <a:solidFill>
                      <a:srgbClr val="FFF1C2"/>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15kg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9,000 G</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600 G/kg</a:t>
                      </a:r>
                    </a:p>
                  </a:txBody>
                  <a:tcPr marL="54864" marR="54864" marT="18288" marB="18288" anchor="ctr">
                    <a:solidFill>
                      <a:srgbClr val="FFF1C2"/>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9" name="직사각형 20"/>
          <p:cNvSpPr/>
          <p:nvPr/>
        </p:nvSpPr>
        <p:spPr>
          <a:xfrm>
            <a:off x="612648" y="4425696"/>
            <a:ext cx="640080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배낭 (용량 30kg)</a:t>
            </a:r>
          </a:p>
        </p:txBody>
      </p:sp>
      <p:sp>
        <p:nvSpPr>
          <p:cNvPr id="20" name="직사각형 21"/>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정렬 기준인 무게당 가치    회색 막대: 비어 있는 배낭</a:t>
            </a:r>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en-US" altLang="ko-KR" sz="3000" b="1">
                <a:solidFill>
                  <a:srgbClr val="171717"/>
                </a:solidFill>
                <a:latin typeface="Malgun Gothic"/>
                <a:ea typeface="Malgun Gothic"/>
                <a:cs typeface="Malgun Gothic"/>
              </a:rPr>
              <a:t>A</a:t>
            </a:r>
            <a:r>
              <a:rPr lang="ko-KR" altLang="en-US" sz="3000" b="1">
                <a:solidFill>
                  <a:srgbClr val="171717"/>
                </a:solidFill>
                <a:latin typeface="Malgun Gothic"/>
                <a:ea typeface="Malgun Gothic"/>
                <a:cs typeface="Malgun Gothic"/>
              </a:rPr>
              <a:t>를 모두 담고</a:t>
            </a:r>
            <a:r>
              <a:rPr lang="en-US" altLang="ko-KR" sz="3000" b="1">
                <a:solidFill>
                  <a:srgbClr val="171717"/>
                </a:solidFill>
                <a:latin typeface="Malgun Gothic"/>
                <a:ea typeface="Malgun Gothic"/>
                <a:cs typeface="Malgun Gothic"/>
              </a:rPr>
              <a:t>, B</a:t>
            </a:r>
            <a:r>
              <a:rPr lang="ko-KR" altLang="en-US" sz="3000" b="1">
                <a:solidFill>
                  <a:srgbClr val="171717"/>
                </a:solidFill>
                <a:latin typeface="Malgun Gothic"/>
                <a:ea typeface="Malgun Gothic"/>
                <a:cs typeface="Malgun Gothic"/>
              </a:rPr>
              <a:t>는 남은 </a:t>
            </a:r>
            <a:r>
              <a:rPr lang="en-US" altLang="ko-KR" sz="3000" b="1">
                <a:solidFill>
                  <a:srgbClr val="171717"/>
                </a:solidFill>
                <a:latin typeface="Malgun Gothic"/>
                <a:ea typeface="Malgun Gothic"/>
                <a:cs typeface="Malgun Gothic"/>
              </a:rPr>
              <a:t>10kg</a:t>
            </a:r>
            <a:r>
              <a:rPr lang="ko-KR" altLang="en-US" sz="3000" b="1">
                <a:solidFill>
                  <a:srgbClr val="171717"/>
                </a:solidFill>
                <a:latin typeface="Malgun Gothic"/>
                <a:ea typeface="Malgun Gothic"/>
                <a:cs typeface="Malgun Gothic"/>
              </a:rPr>
              <a:t>만</a:t>
            </a:r>
            <a:endParaRPr lang="ko-KR" altLang="en-US" sz="3000" b="1" dirty="0">
              <a:solidFill>
                <a:srgbClr val="171717"/>
              </a:solidFill>
              <a:latin typeface="Malgun Gothic"/>
              <a:ea typeface="Malgun Gothic"/>
              <a:cs typeface="Malgun Gothic"/>
            </a:endParaRP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37</a:t>
            </a:r>
            <a:endParaRPr lang="ko-KR" altLang="en-US" sz="1050" b="0" dirty="0">
              <a:solidFill>
                <a:srgbClr val="606060"/>
              </a:solidFill>
              <a:latin typeface="Malgun Gothic"/>
              <a:ea typeface="Malgun Gothic"/>
              <a:cs typeface="Malgun Gothic"/>
            </a:endParaRPr>
          </a:p>
        </p:txBody>
      </p:sp>
      <p:sp>
        <p:nvSpPr>
          <p:cNvPr id="9" name="fit:f5129065688d76ed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B는 15kg인데 남은 용량은 10kg입니다.</a:t>
            </a:r>
          </a:p>
          <a:p>
            <a:pPr algn="l" eaLnBrk="0" latinLnBrk="0">
              <a:lnSpc>
                <a:spcPct val="100000"/>
              </a:lnSpc>
              <a:buNone/>
            </a:pPr>
            <a:r>
              <a:rPr lang="ko-KR" altLang="en-US" sz="2025" b="0" dirty="0">
                <a:solidFill>
                  <a:srgbClr val="171717"/>
                </a:solidFill>
                <a:latin typeface="Malgun Gothic"/>
                <a:ea typeface="Malgun Gothic"/>
                <a:cs typeface="Malgun Gothic"/>
              </a:rPr>
              <a:t>통째로는 들어가지 않으니 10kg만 덜어 담습니다.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1986514e9663df55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1" dirty="0">
                <a:solidFill>
                  <a:srgbClr val="171717"/>
                </a:solidFill>
                <a:latin typeface="Malgun Gothic"/>
                <a:ea typeface="Malgun Gothic"/>
                <a:cs typeface="Malgun Gothic"/>
              </a:rPr>
              <a:t>적정성 검사</a:t>
            </a:r>
            <a:r>
              <a:rPr lang="ko-KR" altLang="en-US" sz="1500" b="0" dirty="0">
                <a:solidFill>
                  <a:srgbClr val="171717"/>
                </a:solidFill>
                <a:latin typeface="Malgun Gothic"/>
                <a:ea typeface="Malgun Gothic"/>
                <a:cs typeface="Malgun Gothic"/>
              </a:rPr>
              <a:t>: 15kg &gt; 남은 10kg</a:t>
            </a:r>
          </a:p>
        </p:txBody>
      </p:sp>
      <p:sp>
        <p:nvSpPr>
          <p:cNvPr id="12" name="fit:e351b649f3bd1383 13"/>
          <p:cNvSpPr/>
          <p:nvPr/>
        </p:nvSpPr>
        <p:spPr>
          <a:xfrm>
            <a:off x="7909560" y="327355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 10kg만 덜어 담습니다.</a:t>
            </a:r>
          </a:p>
        </p:txBody>
      </p:sp>
      <p:sp>
        <p:nvSpPr>
          <p:cNvPr id="13" name="fit:26b94a9b92c36315 14"/>
          <p:cNvSpPr/>
          <p:nvPr/>
        </p:nvSpPr>
        <p:spPr>
          <a:xfrm>
            <a:off x="7909560" y="370332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덜어 담는 비율</a:t>
            </a:r>
          </a:p>
        </p:txBody>
      </p:sp>
      <p:sp>
        <p:nvSpPr>
          <p:cNvPr id="14" name="fit:09c523416fbfc1bc 15"/>
          <p:cNvSpPr/>
          <p:nvPr/>
        </p:nvSpPr>
        <p:spPr>
          <a:xfrm>
            <a:off x="7909560" y="3986784"/>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10 ÷ 15 = 2/3</a:t>
            </a:r>
          </a:p>
        </p:txBody>
      </p:sp>
      <p:sp>
        <p:nvSpPr>
          <p:cNvPr id="15" name="fit:0a9aa311cef7cca1 16"/>
          <p:cNvSpPr/>
          <p:nvPr/>
        </p:nvSpPr>
        <p:spPr>
          <a:xfrm>
            <a:off x="7909560" y="446227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얻는 가치</a:t>
            </a:r>
          </a:p>
        </p:txBody>
      </p:sp>
      <p:sp>
        <p:nvSpPr>
          <p:cNvPr id="16" name="fit:23ff4650ee973db0 17"/>
          <p:cNvSpPr/>
          <p:nvPr/>
        </p:nvSpPr>
        <p:spPr>
          <a:xfrm>
            <a:off x="7909560" y="4745736"/>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9,000 × 2/3 = 6,000 G</a:t>
            </a:r>
          </a:p>
        </p:txBody>
      </p:sp>
      <p:sp>
        <p:nvSpPr>
          <p:cNvPr id="17" name="fit:af43d76779ca7aee 18"/>
          <p:cNvSpPr/>
          <p:nvPr/>
        </p:nvSpPr>
        <p:spPr>
          <a:xfrm>
            <a:off x="7909560" y="5129784"/>
            <a:ext cx="3666744" cy="246888"/>
          </a:xfrm>
          <a:prstGeom prst="rect">
            <a:avLst/>
          </a:prstGeom>
          <a:noFill/>
          <a:ln w="0">
            <a:noFill/>
          </a:ln>
        </p:spPr>
        <p:txBody>
          <a:bodyPr wrap="square" lIns="0" tIns="0" rIns="0" bIns="0" anchor="t">
            <a:noAutofit/>
          </a:bodyPr>
          <a:lstStyle/>
          <a:p>
            <a:pPr algn="l" eaLnBrk="0" latinLnBrk="0">
              <a:lnSpc>
                <a:spcPct val="100000"/>
              </a:lnSpc>
              <a:buNone/>
            </a:pPr>
            <a:r>
              <a:rPr lang="ko-KR" altLang="en-US" sz="1350" b="0" dirty="0">
                <a:solidFill>
                  <a:srgbClr val="3F3F3F"/>
                </a:solidFill>
                <a:latin typeface="Malgun Gothic"/>
                <a:ea typeface="Malgun Gothic"/>
                <a:cs typeface="Malgun Gothic"/>
              </a:rPr>
              <a:t>= 10kg × 600 G/kg</a:t>
            </a:r>
          </a:p>
        </p:txBody>
      </p:sp>
      <p:sp>
        <p:nvSpPr>
          <p:cNvPr id="18" name="직사각형 19"/>
          <p:cNvSpPr/>
          <p:nvPr/>
        </p:nvSpPr>
        <p:spPr>
          <a:xfrm>
            <a:off x="612648" y="4754880"/>
            <a:ext cx="4389120" cy="512064"/>
          </a:xfrm>
          <a:prstGeom prst="rect">
            <a:avLst/>
          </a:prstGeom>
          <a:solidFill>
            <a:srgbClr val="DCECFB"/>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A 20kg</a:t>
            </a:r>
          </a:p>
        </p:txBody>
      </p:sp>
      <p:sp>
        <p:nvSpPr>
          <p:cNvPr id="19" name="직사각형 20"/>
          <p:cNvSpPr/>
          <p:nvPr/>
        </p:nvSpPr>
        <p:spPr>
          <a:xfrm>
            <a:off x="5001768" y="4754880"/>
            <a:ext cx="2194560" cy="512064"/>
          </a:xfrm>
          <a:prstGeom prst="rect">
            <a:avLst/>
          </a:prstGeom>
          <a:solidFill>
            <a:srgbClr val="DDF1E4"/>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B 10kg</a:t>
            </a:r>
          </a:p>
        </p:txBody>
      </p:sp>
      <p:graphicFrame>
        <p:nvGraphicFramePr>
          <p:cNvPr id="20" name="표 21"/>
          <p:cNvGraphicFramePr>
            <a:graphicFrameLocks noGrp="1"/>
          </p:cNvGraphicFramePr>
          <p:nvPr>
            <p:extLst>
              <p:ext uri="{D42A27DB-BD31-4B8C-83A1-F6EECF244321}">
                <p14:modId xmlns:p14="http://schemas.microsoft.com/office/powerpoint/2010/main" val="2844628567"/>
              </p:ext>
            </p:extLst>
          </p:nvPr>
        </p:nvGraphicFramePr>
        <p:xfrm>
          <a:off x="612648" y="2651760"/>
          <a:ext cx="6583680" cy="1316736"/>
        </p:xfrm>
        <a:graphic>
          <a:graphicData uri="http://schemas.openxmlformats.org/drawingml/2006/table">
            <a:tbl>
              <a:tblPr/>
              <a:tblGrid>
                <a:gridCol w="752421">
                  <a:extLst>
                    <a:ext uri="{9D8B030D-6E8A-4147-A177-3AD203B41FA5}">
                      <a16:colId xmlns:a16="http://schemas.microsoft.com/office/drawing/2014/main" val="20000"/>
                    </a:ext>
                  </a:extLst>
                </a:gridCol>
                <a:gridCol w="940526">
                  <a:extLst>
                    <a:ext uri="{9D8B030D-6E8A-4147-A177-3AD203B41FA5}">
                      <a16:colId xmlns:a16="http://schemas.microsoft.com/office/drawing/2014/main" val="20001"/>
                    </a:ext>
                  </a:extLst>
                </a:gridCol>
                <a:gridCol w="1128631">
                  <a:extLst>
                    <a:ext uri="{9D8B030D-6E8A-4147-A177-3AD203B41FA5}">
                      <a16:colId xmlns:a16="http://schemas.microsoft.com/office/drawing/2014/main" val="20002"/>
                    </a:ext>
                  </a:extLst>
                </a:gridCol>
                <a:gridCol w="1316736">
                  <a:extLst>
                    <a:ext uri="{9D8B030D-6E8A-4147-A177-3AD203B41FA5}">
                      <a16:colId xmlns:a16="http://schemas.microsoft.com/office/drawing/2014/main" val="20003"/>
                    </a:ext>
                  </a:extLst>
                </a:gridCol>
                <a:gridCol w="1316736">
                  <a:extLst>
                    <a:ext uri="{9D8B030D-6E8A-4147-A177-3AD203B41FA5}">
                      <a16:colId xmlns:a16="http://schemas.microsoft.com/office/drawing/2014/main" val="20004"/>
                    </a:ext>
                  </a:extLst>
                </a:gridCol>
                <a:gridCol w="1128631">
                  <a:extLst>
                    <a:ext uri="{9D8B030D-6E8A-4147-A177-3AD203B41FA5}">
                      <a16:colId xmlns:a16="http://schemas.microsoft.com/office/drawing/2014/main" val="20005"/>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보물</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무게당 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담은 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얻은 가치</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20kg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14,000 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700 G/kg</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20kg</a:t>
                      </a:r>
                    </a:p>
                  </a:txBody>
                  <a:tcPr marL="54864" marR="54864" marT="18288" marB="18288" anchor="ctr">
                    <a:solidFill>
                      <a:srgbClr val="DCECFB"/>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14,000 G</a:t>
                      </a:r>
                    </a:p>
                  </a:txBody>
                  <a:tcPr marL="54864" marR="54864" marT="18288" marB="18288" anchor="ctr">
                    <a:solidFill>
                      <a:srgbClr val="DCECFB"/>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15kg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9,000 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600 G/kg</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10kg (2/3)</a:t>
                      </a:r>
                    </a:p>
                  </a:txBody>
                  <a:tcPr marL="54864" marR="54864" marT="18288" marB="18288" anchor="ctr">
                    <a:solidFill>
                      <a:srgbClr val="DDF1E4"/>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6,000 G</a:t>
                      </a:r>
                    </a:p>
                  </a:txBody>
                  <a:tcPr marL="54864" marR="54864" marT="18288" marB="18288" anchor="ctr">
                    <a:solidFill>
                      <a:srgbClr val="DDF1E4"/>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15kg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9,000 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600 G/kg</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21" name="직사각형 22"/>
          <p:cNvSpPr/>
          <p:nvPr/>
        </p:nvSpPr>
        <p:spPr>
          <a:xfrm>
            <a:off x="612648" y="4425696"/>
            <a:ext cx="640080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배낭 (용량 30kg)</a:t>
            </a:r>
          </a:p>
        </p:txBody>
      </p:sp>
      <p:sp>
        <p:nvSpPr>
          <p:cNvPr id="22" name="직사각형 23"/>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통째로 담은 보물    초록: 일부만 덜어 담은 보물</a:t>
            </a:r>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의사코드: 무게당 가치 순으로 채우기</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38</a:t>
            </a:r>
            <a:endParaRPr lang="ko-KR" altLang="en-US" sz="1050" b="0" dirty="0">
              <a:solidFill>
                <a:srgbClr val="606060"/>
              </a:solidFill>
              <a:latin typeface="Malgun Gothic"/>
              <a:ea typeface="Malgun Gothic"/>
              <a:cs typeface="Malgun Gothic"/>
            </a:endParaRPr>
          </a:p>
        </p:txBody>
      </p:sp>
      <p:sp>
        <p:nvSpPr>
          <p:cNvPr id="9" name="직사각형 10"/>
          <p:cNvSpPr/>
          <p:nvPr/>
        </p:nvSpPr>
        <p:spPr>
          <a:xfrm>
            <a:off x="612648" y="1636776"/>
            <a:ext cx="10972800" cy="21945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0" dirty="0">
                <a:solidFill>
                  <a:srgbClr val="606060"/>
                </a:solidFill>
                <a:latin typeface="Consolas"/>
                <a:ea typeface="Consolas"/>
                <a:cs typeface="Consolas"/>
              </a:rPr>
              <a:t>fractional_knapsack.pseudo</a:t>
            </a:r>
          </a:p>
        </p:txBody>
      </p:sp>
      <p:sp>
        <p:nvSpPr>
          <p:cNvPr id="10" name="직사각형 11"/>
          <p:cNvSpPr/>
          <p:nvPr/>
        </p:nvSpPr>
        <p:spPr>
          <a:xfrm>
            <a:off x="612648" y="1856232"/>
            <a:ext cx="10972800" cy="2798064"/>
          </a:xfrm>
          <a:prstGeom prst="rect">
            <a:avLst/>
          </a:prstGeom>
          <a:solidFill>
            <a:srgbClr val="171717"/>
          </a:solidFill>
          <a:ln w="0">
            <a:noFill/>
          </a:ln>
        </p:spPr>
        <p:txBody>
          <a:bodyPr wrap="none" lIns="91440" tIns="91440" rIns="91440" bIns="91440" anchor="t">
            <a:noAutofit/>
          </a:bodyPr>
          <a:lstStyle/>
          <a:p>
            <a:pPr algn="l" eaLnBrk="0" latinLnBrk="0">
              <a:lnSpc>
                <a:spcPct val="130000"/>
              </a:lnSpc>
              <a:buNone/>
            </a:pPr>
            <a:r>
              <a:rPr lang="en-US" altLang="ko-KR" sz="1300" b="0">
                <a:solidFill>
                  <a:srgbClr val="FFFFFF"/>
                </a:solidFill>
                <a:latin typeface="Consolas"/>
                <a:ea typeface="Consolas"/>
                <a:cs typeface="Consolas"/>
              </a:rPr>
              <a:t>FRACTIONAL_KNAPSACK(items, capacity):</a:t>
            </a:r>
          </a:p>
          <a:p>
            <a:pPr algn="l" eaLnBrk="0" latinLnBrk="0">
              <a:lnSpc>
                <a:spcPct val="130000"/>
              </a:lnSpc>
              <a:buNone/>
            </a:pPr>
            <a:r>
              <a:rPr lang="en-US" altLang="ko-KR" sz="1300" b="0">
                <a:solidFill>
                  <a:srgbClr val="FFFFFF"/>
                </a:solidFill>
                <a:latin typeface="Consolas"/>
                <a:ea typeface="Consolas"/>
                <a:cs typeface="Consolas"/>
              </a:rPr>
              <a:t>    items</a:t>
            </a:r>
            <a:r>
              <a:rPr lang="ko-KR" altLang="en-US" sz="1300" b="0">
                <a:solidFill>
                  <a:srgbClr val="FFFFFF"/>
                </a:solidFill>
                <a:latin typeface="Consolas"/>
                <a:ea typeface="Consolas"/>
                <a:cs typeface="Consolas"/>
              </a:rPr>
              <a:t>를 무게당 가치가 큰 순서로 정렬</a:t>
            </a:r>
          </a:p>
          <a:p>
            <a:pPr algn="l" eaLnBrk="0" latinLnBrk="0">
              <a:lnSpc>
                <a:spcPct val="130000"/>
              </a:lnSpc>
              <a:buNone/>
            </a:pPr>
            <a:r>
              <a:rPr lang="ko-KR" altLang="en-US" sz="1300" b="0">
                <a:solidFill>
                  <a:srgbClr val="FFFFFF"/>
                </a:solidFill>
                <a:latin typeface="Consolas"/>
                <a:ea typeface="Consolas"/>
                <a:cs typeface="Consolas"/>
              </a:rPr>
              <a:t>    </a:t>
            </a:r>
            <a:r>
              <a:rPr lang="en-US" altLang="ko-KR" sz="1300" b="0">
                <a:solidFill>
                  <a:srgbClr val="FFFFFF"/>
                </a:solidFill>
                <a:latin typeface="Consolas"/>
                <a:ea typeface="Consolas"/>
                <a:cs typeface="Consolas"/>
              </a:rPr>
              <a:t>total &lt;- 0</a:t>
            </a:r>
          </a:p>
          <a:p>
            <a:pPr algn="l" eaLnBrk="0" latinLnBrk="0">
              <a:lnSpc>
                <a:spcPct val="130000"/>
              </a:lnSpc>
              <a:buNone/>
            </a:pPr>
            <a:r>
              <a:rPr lang="en-US" altLang="ko-KR" sz="1300" b="0">
                <a:solidFill>
                  <a:srgbClr val="FFFFFF"/>
                </a:solidFill>
                <a:latin typeface="Consolas"/>
                <a:ea typeface="Consolas"/>
                <a:cs typeface="Consolas"/>
              </a:rPr>
              <a:t>    for item in items:</a:t>
            </a:r>
          </a:p>
          <a:p>
            <a:pPr algn="l" eaLnBrk="0" latinLnBrk="0">
              <a:lnSpc>
                <a:spcPct val="130000"/>
              </a:lnSpc>
              <a:buNone/>
            </a:pPr>
            <a:r>
              <a:rPr lang="en-US" altLang="ko-KR" sz="1300" b="0">
                <a:solidFill>
                  <a:srgbClr val="FFFFFF"/>
                </a:solidFill>
                <a:latin typeface="Consolas"/>
                <a:ea typeface="Consolas"/>
                <a:cs typeface="Consolas"/>
              </a:rPr>
              <a:t>        take &lt;- min(capacity, item.weight)</a:t>
            </a:r>
          </a:p>
          <a:p>
            <a:pPr algn="l" eaLnBrk="0" latinLnBrk="0">
              <a:lnSpc>
                <a:spcPct val="130000"/>
              </a:lnSpc>
              <a:buNone/>
            </a:pPr>
            <a:r>
              <a:rPr lang="en-US" altLang="ko-KR" sz="1300" b="0">
                <a:solidFill>
                  <a:srgbClr val="FFFFFF"/>
                </a:solidFill>
                <a:latin typeface="Consolas"/>
                <a:ea typeface="Consolas"/>
                <a:cs typeface="Consolas"/>
              </a:rPr>
              <a:t>        total &lt;- total + take * item.ratio</a:t>
            </a:r>
          </a:p>
          <a:p>
            <a:pPr algn="l" eaLnBrk="0" latinLnBrk="0">
              <a:lnSpc>
                <a:spcPct val="130000"/>
              </a:lnSpc>
              <a:buNone/>
            </a:pPr>
            <a:r>
              <a:rPr lang="en-US" altLang="ko-KR" sz="1300" b="0">
                <a:solidFill>
                  <a:srgbClr val="FFFFFF"/>
                </a:solidFill>
                <a:latin typeface="Consolas"/>
                <a:ea typeface="Consolas"/>
                <a:cs typeface="Consolas"/>
              </a:rPr>
              <a:t>        capacity &lt;- capacity - take</a:t>
            </a:r>
          </a:p>
          <a:p>
            <a:pPr algn="l" eaLnBrk="0" latinLnBrk="0">
              <a:lnSpc>
                <a:spcPct val="130000"/>
              </a:lnSpc>
              <a:buNone/>
            </a:pPr>
            <a:r>
              <a:rPr lang="en-US" altLang="ko-KR" sz="1300" b="0">
                <a:solidFill>
                  <a:srgbClr val="FFFFFF"/>
                </a:solidFill>
                <a:latin typeface="Consolas"/>
                <a:ea typeface="Consolas"/>
                <a:cs typeface="Consolas"/>
              </a:rPr>
              <a:t>        if capacity == 0: break</a:t>
            </a:r>
          </a:p>
          <a:p>
            <a:pPr algn="l" eaLnBrk="0" latinLnBrk="0">
              <a:lnSpc>
                <a:spcPct val="130000"/>
              </a:lnSpc>
              <a:buNone/>
            </a:pPr>
            <a:r>
              <a:rPr lang="en-US" altLang="ko-KR" sz="1300" b="0">
                <a:solidFill>
                  <a:srgbClr val="FFFFFF"/>
                </a:solidFill>
                <a:latin typeface="Consolas"/>
                <a:ea typeface="Consolas"/>
                <a:cs typeface="Consolas"/>
              </a:rPr>
              <a:t>    return total</a:t>
            </a:r>
            <a:endParaRPr lang="ko-KR" altLang="en-US" sz="1300" b="0" dirty="0">
              <a:solidFill>
                <a:srgbClr val="FFFFFF"/>
              </a:solidFill>
              <a:latin typeface="Consolas"/>
              <a:ea typeface="Consolas"/>
              <a:cs typeface="Consolas"/>
            </a:endParaRPr>
          </a:p>
        </p:txBody>
      </p:sp>
      <p:graphicFrame>
        <p:nvGraphicFramePr>
          <p:cNvPr id="11" name="표 12"/>
          <p:cNvGraphicFramePr>
            <a:graphicFrameLocks noGrp="1"/>
          </p:cNvGraphicFramePr>
          <p:nvPr>
            <p:extLst>
              <p:ext uri="{D42A27DB-BD31-4B8C-83A1-F6EECF244321}">
                <p14:modId xmlns:p14="http://schemas.microsoft.com/office/powerpoint/2010/main" val="1003700940"/>
              </p:ext>
            </p:extLst>
          </p:nvPr>
        </p:nvGraphicFramePr>
        <p:xfrm>
          <a:off x="612648" y="4782312"/>
          <a:ext cx="10972800" cy="1316736"/>
        </p:xfrm>
        <a:graphic>
          <a:graphicData uri="http://schemas.openxmlformats.org/drawingml/2006/table">
            <a:tbl>
              <a:tblPr/>
              <a:tblGrid>
                <a:gridCol w="2366682">
                  <a:extLst>
                    <a:ext uri="{9D8B030D-6E8A-4147-A177-3AD203B41FA5}">
                      <a16:colId xmlns:a16="http://schemas.microsoft.com/office/drawing/2014/main" val="20000"/>
                    </a:ext>
                  </a:extLst>
                </a:gridCol>
                <a:gridCol w="8606118">
                  <a:extLst>
                    <a:ext uri="{9D8B030D-6E8A-4147-A177-3AD203B41FA5}">
                      <a16:colId xmlns:a16="http://schemas.microsoft.com/office/drawing/2014/main" val="20001"/>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단계</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의사코드에서</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① 선택</a:t>
                      </a:r>
                    </a:p>
                  </a:txBody>
                  <a:tcPr marL="54864" marR="54864" marT="18288" marB="18288" anchor="ctr">
                    <a:solidFill>
                      <a:srgbClr val="FFFFFF"/>
                    </a:solidFill>
                  </a:tcPr>
                </a:tc>
                <a:tc>
                  <a:txBody>
                    <a:bodyPr/>
                    <a:lstStyle/>
                    <a:p>
                      <a:pPr algn="l" eaLnBrk="0" latinLnBrk="0">
                        <a:lnSpc>
                          <a:spcPct val="100000"/>
                        </a:lnSpc>
                        <a:buNone/>
                      </a:pPr>
                      <a:r>
                        <a:rPr lang="ko-KR" altLang="en-US" sz="1500" b="0" dirty="0">
                          <a:solidFill>
                            <a:srgbClr val="151515"/>
                          </a:solidFill>
                          <a:latin typeface="Malgun Gothic"/>
                          <a:ea typeface="Malgun Gothic"/>
                          <a:cs typeface="Malgun Gothic"/>
                        </a:rPr>
                        <a:t>정렬된 순서대로, 남은 보물 중 무게당 가치가 가장 높은 것을 봅니다.</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② 적정성 검사</a:t>
                      </a:r>
                    </a:p>
                  </a:txBody>
                  <a:tcPr marL="54864" marR="54864" marT="18288" marB="18288" anchor="ctr">
                    <a:solidFill>
                      <a:srgbClr val="FFFFFF"/>
                    </a:solidFill>
                  </a:tcPr>
                </a:tc>
                <a:tc>
                  <a:txBody>
                    <a:bodyPr/>
                    <a:lstStyle/>
                    <a:p>
                      <a:pPr algn="l" eaLnBrk="0" latinLnBrk="0">
                        <a:lnSpc>
                          <a:spcPct val="100000"/>
                        </a:lnSpc>
                        <a:buNone/>
                      </a:pPr>
                      <a:r>
                        <a:rPr lang="ko-KR" altLang="en-US" sz="1500" b="0" dirty="0">
                          <a:solidFill>
                            <a:srgbClr val="151515"/>
                          </a:solidFill>
                          <a:latin typeface="Malgun Gothic"/>
                          <a:ea typeface="Malgun Gothic"/>
                          <a:cs typeface="Malgun Gothic"/>
                        </a:rPr>
                        <a:t>남은 용량과 물건 무게 중 작은 값(take)만큼 담습니다.</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③ 해답 검사</a:t>
                      </a:r>
                    </a:p>
                  </a:txBody>
                  <a:tcPr marL="54864" marR="54864" marT="18288" marB="18288" anchor="ctr">
                    <a:solidFill>
                      <a:srgbClr val="FFFFFF"/>
                    </a:solidFill>
                  </a:tcPr>
                </a:tc>
                <a:tc>
                  <a:txBody>
                    <a:bodyPr/>
                    <a:lstStyle/>
                    <a:p>
                      <a:pPr algn="l" eaLnBrk="0" latinLnBrk="0">
                        <a:lnSpc>
                          <a:spcPct val="100000"/>
                        </a:lnSpc>
                        <a:buNone/>
                      </a:pPr>
                      <a:r>
                        <a:rPr lang="ko-KR" altLang="en-US" sz="1500" b="0" dirty="0">
                          <a:solidFill>
                            <a:srgbClr val="151515"/>
                          </a:solidFill>
                          <a:latin typeface="Malgun Gothic"/>
                          <a:ea typeface="Malgun Gothic"/>
                          <a:cs typeface="Malgun Gothic"/>
                        </a:rPr>
                        <a:t>남은 용량이 0이면 break. 아니면 다음 물건을 봅니다.</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용량 7 · A(6, 18) · B(4, 20)</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39</a:t>
            </a:r>
            <a:endParaRPr lang="ko-KR" altLang="en-US" sz="1050" b="0" dirty="0">
              <a:solidFill>
                <a:srgbClr val="606060"/>
              </a:solidFill>
              <a:latin typeface="Malgun Gothic"/>
              <a:ea typeface="Malgun Gothic"/>
              <a:cs typeface="Malgun Gothic"/>
            </a:endParaRPr>
          </a:p>
        </p:txBody>
      </p:sp>
      <p:sp>
        <p:nvSpPr>
          <p:cNvPr id="9" name="fit:00aa4b59c3e02c94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쪼갤 수 있는 배낭, 보물은 (무게, 가치)입니다.</a:t>
            </a:r>
          </a:p>
          <a:p>
            <a:pPr algn="l" eaLnBrk="0" latinLnBrk="0">
              <a:lnSpc>
                <a:spcPct val="100000"/>
              </a:lnSpc>
              <a:buNone/>
            </a:pPr>
            <a:r>
              <a:rPr lang="ko-KR" altLang="en-US" sz="2025" b="0" dirty="0">
                <a:solidFill>
                  <a:srgbClr val="171717"/>
                </a:solidFill>
                <a:latin typeface="Malgun Gothic"/>
                <a:ea typeface="Malgun Gothic"/>
                <a:cs typeface="Malgun Gothic"/>
              </a:rPr>
              <a:t>무게당 가치 A 18 ÷ 6 = 3, B 20 ÷ 4 = 5 → B부터 봅니다.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e5c32f9fe9dcc513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① B: 4 ≤ 7 → 전부, 가치 20</a:t>
            </a:r>
          </a:p>
        </p:txBody>
      </p:sp>
      <p:sp>
        <p:nvSpPr>
          <p:cNvPr id="12" name="fit:050a0bc6ab6a2f49 13"/>
          <p:cNvSpPr/>
          <p:nvPr/>
        </p:nvSpPr>
        <p:spPr>
          <a:xfrm>
            <a:off x="7909560" y="327355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② 남은 용량 7 − 4 = 3</a:t>
            </a:r>
          </a:p>
        </p:txBody>
      </p:sp>
      <p:sp>
        <p:nvSpPr>
          <p:cNvPr id="13" name="fit:ea1537625d358b28 14"/>
          <p:cNvSpPr/>
          <p:nvPr/>
        </p:nvSpPr>
        <p:spPr>
          <a:xfrm>
            <a:off x="7909560" y="361188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③ A: 6 &gt; 3 → 3만 덜어 담기</a:t>
            </a:r>
          </a:p>
        </p:txBody>
      </p:sp>
      <p:sp>
        <p:nvSpPr>
          <p:cNvPr id="14" name="fit:62b496b736e01c6b 15"/>
          <p:cNvSpPr/>
          <p:nvPr/>
        </p:nvSpPr>
        <p:spPr>
          <a:xfrm>
            <a:off x="7909560" y="3950208"/>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3 ÷ 6 = 1/2 → 18 × 1/2 = 9</a:t>
            </a:r>
          </a:p>
        </p:txBody>
      </p:sp>
      <p:sp>
        <p:nvSpPr>
          <p:cNvPr id="15" name="fit:dabc1253d25728db 16"/>
          <p:cNvSpPr/>
          <p:nvPr/>
        </p:nvSpPr>
        <p:spPr>
          <a:xfrm>
            <a:off x="7909560" y="4379976"/>
            <a:ext cx="3666744" cy="374904"/>
          </a:xfrm>
          <a:prstGeom prst="rect">
            <a:avLst/>
          </a:prstGeom>
          <a:noFill/>
          <a:ln w="0">
            <a:noFill/>
          </a:ln>
        </p:spPr>
        <p:txBody>
          <a:bodyPr wrap="square" lIns="0" tIns="0" rIns="0" bIns="0" anchor="t">
            <a:noAutofit/>
          </a:bodyPr>
          <a:lstStyle/>
          <a:p>
            <a:pPr algn="l" eaLnBrk="0" latinLnBrk="0">
              <a:lnSpc>
                <a:spcPct val="100000"/>
              </a:lnSpc>
              <a:buNone/>
            </a:pPr>
            <a:r>
              <a:rPr lang="ko-KR" altLang="en-US" sz="2200" b="1" dirty="0">
                <a:solidFill>
                  <a:srgbClr val="0E8A7D"/>
                </a:solidFill>
                <a:latin typeface="Malgun Gothic"/>
                <a:ea typeface="Malgun Gothic"/>
                <a:cs typeface="Malgun Gothic"/>
              </a:rPr>
              <a:t>합계 20 + 9 = 29</a:t>
            </a:r>
          </a:p>
        </p:txBody>
      </p:sp>
      <p:sp>
        <p:nvSpPr>
          <p:cNvPr id="16" name="직사각형 17"/>
          <p:cNvSpPr/>
          <p:nvPr/>
        </p:nvSpPr>
        <p:spPr>
          <a:xfrm>
            <a:off x="612648" y="4297680"/>
            <a:ext cx="3758184" cy="512064"/>
          </a:xfrm>
          <a:prstGeom prst="rect">
            <a:avLst/>
          </a:prstGeom>
          <a:solidFill>
            <a:srgbClr val="DCECFB"/>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B 4</a:t>
            </a:r>
          </a:p>
        </p:txBody>
      </p:sp>
      <p:sp>
        <p:nvSpPr>
          <p:cNvPr id="17" name="직사각형 18"/>
          <p:cNvSpPr/>
          <p:nvPr/>
        </p:nvSpPr>
        <p:spPr>
          <a:xfrm>
            <a:off x="4370832" y="4297680"/>
            <a:ext cx="2825496" cy="512064"/>
          </a:xfrm>
          <a:prstGeom prst="rect">
            <a:avLst/>
          </a:prstGeom>
          <a:solidFill>
            <a:srgbClr val="DDF1E4"/>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A 3 (절반)</a:t>
            </a:r>
          </a:p>
        </p:txBody>
      </p:sp>
      <p:graphicFrame>
        <p:nvGraphicFramePr>
          <p:cNvPr id="18" name="표 19"/>
          <p:cNvGraphicFramePr>
            <a:graphicFrameLocks noGrp="1"/>
          </p:cNvGraphicFramePr>
          <p:nvPr>
            <p:extLst>
              <p:ext uri="{D42A27DB-BD31-4B8C-83A1-F6EECF244321}">
                <p14:modId xmlns:p14="http://schemas.microsoft.com/office/powerpoint/2010/main" val="522768771"/>
              </p:ext>
            </p:extLst>
          </p:nvPr>
        </p:nvGraphicFramePr>
        <p:xfrm>
          <a:off x="612648" y="2651760"/>
          <a:ext cx="6583680" cy="987552"/>
        </p:xfrm>
        <a:graphic>
          <a:graphicData uri="http://schemas.openxmlformats.org/drawingml/2006/table">
            <a:tbl>
              <a:tblPr/>
              <a:tblGrid>
                <a:gridCol w="752421">
                  <a:extLst>
                    <a:ext uri="{9D8B030D-6E8A-4147-A177-3AD203B41FA5}">
                      <a16:colId xmlns:a16="http://schemas.microsoft.com/office/drawing/2014/main" val="20000"/>
                    </a:ext>
                  </a:extLst>
                </a:gridCol>
                <a:gridCol w="940526">
                  <a:extLst>
                    <a:ext uri="{9D8B030D-6E8A-4147-A177-3AD203B41FA5}">
                      <a16:colId xmlns:a16="http://schemas.microsoft.com/office/drawing/2014/main" val="20001"/>
                    </a:ext>
                  </a:extLst>
                </a:gridCol>
                <a:gridCol w="1128631">
                  <a:extLst>
                    <a:ext uri="{9D8B030D-6E8A-4147-A177-3AD203B41FA5}">
                      <a16:colId xmlns:a16="http://schemas.microsoft.com/office/drawing/2014/main" val="20002"/>
                    </a:ext>
                  </a:extLst>
                </a:gridCol>
                <a:gridCol w="1316736">
                  <a:extLst>
                    <a:ext uri="{9D8B030D-6E8A-4147-A177-3AD203B41FA5}">
                      <a16:colId xmlns:a16="http://schemas.microsoft.com/office/drawing/2014/main" val="20003"/>
                    </a:ext>
                  </a:extLst>
                </a:gridCol>
                <a:gridCol w="1316736">
                  <a:extLst>
                    <a:ext uri="{9D8B030D-6E8A-4147-A177-3AD203B41FA5}">
                      <a16:colId xmlns:a16="http://schemas.microsoft.com/office/drawing/2014/main" val="20004"/>
                    </a:ext>
                  </a:extLst>
                </a:gridCol>
                <a:gridCol w="1128631">
                  <a:extLst>
                    <a:ext uri="{9D8B030D-6E8A-4147-A177-3AD203B41FA5}">
                      <a16:colId xmlns:a16="http://schemas.microsoft.com/office/drawing/2014/main" val="20005"/>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보물</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무게당 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담은 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얻은 가치</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20</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4 (전부)</a:t>
                      </a:r>
                    </a:p>
                  </a:txBody>
                  <a:tcPr marL="54864" marR="54864" marT="18288" marB="18288" anchor="ctr">
                    <a:solidFill>
                      <a:srgbClr val="DCECFB"/>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20</a:t>
                      </a:r>
                    </a:p>
                  </a:txBody>
                  <a:tcPr marL="54864" marR="54864" marT="18288" marB="18288" anchor="ctr">
                    <a:solidFill>
                      <a:srgbClr val="DCECFB"/>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6</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18</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3 (3/6)</a:t>
                      </a:r>
                    </a:p>
                  </a:txBody>
                  <a:tcPr marL="54864" marR="54864" marT="18288" marB="18288" anchor="ctr">
                    <a:solidFill>
                      <a:srgbClr val="DDF1E4"/>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9</a:t>
                      </a:r>
                    </a:p>
                  </a:txBody>
                  <a:tcPr marL="54864" marR="54864" marT="18288" marB="18288" anchor="ctr">
                    <a:solidFill>
                      <a:srgbClr val="DDF1E4"/>
                    </a:solidFill>
                  </a:tcPr>
                </a:tc>
                <a:extLst>
                  <a:ext uri="{0D108BD9-81ED-4DB2-BD59-A6C34878D82A}">
                    <a16:rowId xmlns:a16="http://schemas.microsoft.com/office/drawing/2014/main" val="10002"/>
                  </a:ext>
                </a:extLst>
              </a:tr>
            </a:tbl>
          </a:graphicData>
        </a:graphic>
      </p:graphicFrame>
      <p:sp>
        <p:nvSpPr>
          <p:cNvPr id="19" name="직사각형 20"/>
          <p:cNvSpPr/>
          <p:nvPr/>
        </p:nvSpPr>
        <p:spPr>
          <a:xfrm>
            <a:off x="612648" y="3968496"/>
            <a:ext cx="640080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배낭 (용량 7)</a:t>
            </a:r>
          </a:p>
        </p:txBody>
      </p:sp>
      <p:sp>
        <p:nvSpPr>
          <p:cNvPr id="20" name="직사각형 21"/>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통째로 담은 보물    초록: 일부만 덜어 담은 보물    노랑: 무게당 가치</a:t>
            </a:r>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용량 5 · A(2, 8) · B(4, 16)</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40</a:t>
            </a:r>
            <a:endParaRPr lang="ko-KR" altLang="en-US" sz="1050" b="0" dirty="0">
              <a:solidFill>
                <a:srgbClr val="606060"/>
              </a:solidFill>
              <a:latin typeface="Malgun Gothic"/>
              <a:ea typeface="Malgun Gothic"/>
              <a:cs typeface="Malgun Gothic"/>
            </a:endParaRPr>
          </a:p>
        </p:txBody>
      </p:sp>
      <p:sp>
        <p:nvSpPr>
          <p:cNvPr id="9" name="fit:768365d3a94fcb59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무게당 가치는 A 8 ÷ 2 = 4, B 16 ÷ 4 = 4로 같습니다.</a:t>
            </a:r>
          </a:p>
          <a:p>
            <a:pPr algn="l" eaLnBrk="0" latinLnBrk="0">
              <a:lnSpc>
                <a:spcPct val="100000"/>
              </a:lnSpc>
              <a:buNone/>
            </a:pPr>
            <a:r>
              <a:rPr lang="ko-KR" altLang="en-US" sz="2025" b="0" dirty="0">
                <a:solidFill>
                  <a:srgbClr val="171717"/>
                </a:solidFill>
                <a:latin typeface="Malgun Gothic"/>
                <a:ea typeface="Malgun Gothic"/>
                <a:cs typeface="Malgun Gothic"/>
              </a:rPr>
              <a:t>같으면 앞에 있는 A부터 봅니다.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1c61785cdf10a94e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① A: 2 ≤ 5 → 전부, 가치 8</a:t>
            </a:r>
          </a:p>
        </p:txBody>
      </p:sp>
      <p:sp>
        <p:nvSpPr>
          <p:cNvPr id="12" name="fit:4cbbdaadb16dd7cd 13"/>
          <p:cNvSpPr/>
          <p:nvPr/>
        </p:nvSpPr>
        <p:spPr>
          <a:xfrm>
            <a:off x="7909560" y="327355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② 남은 용량 5 − 2 = 3</a:t>
            </a:r>
          </a:p>
        </p:txBody>
      </p:sp>
      <p:sp>
        <p:nvSpPr>
          <p:cNvPr id="13" name="fit:dedd0320ee0f3229 14"/>
          <p:cNvSpPr/>
          <p:nvPr/>
        </p:nvSpPr>
        <p:spPr>
          <a:xfrm>
            <a:off x="7909560" y="361188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③ B: 4 &gt; 3 → 3만 덜어 담기</a:t>
            </a:r>
          </a:p>
        </p:txBody>
      </p:sp>
      <p:sp>
        <p:nvSpPr>
          <p:cNvPr id="14" name="fit:18e2ff248e5c90e7 15"/>
          <p:cNvSpPr/>
          <p:nvPr/>
        </p:nvSpPr>
        <p:spPr>
          <a:xfrm>
            <a:off x="7909560" y="3950208"/>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3 ÷ 4 = 3/4 → 16 × 3/4 = 12</a:t>
            </a:r>
          </a:p>
        </p:txBody>
      </p:sp>
      <p:sp>
        <p:nvSpPr>
          <p:cNvPr id="15" name="fit:b7e496fff65185e3 16"/>
          <p:cNvSpPr/>
          <p:nvPr/>
        </p:nvSpPr>
        <p:spPr>
          <a:xfrm>
            <a:off x="7909560" y="4343400"/>
            <a:ext cx="3666744" cy="374904"/>
          </a:xfrm>
          <a:prstGeom prst="rect">
            <a:avLst/>
          </a:prstGeom>
          <a:noFill/>
          <a:ln w="0">
            <a:noFill/>
          </a:ln>
        </p:spPr>
        <p:txBody>
          <a:bodyPr wrap="square" lIns="0" tIns="0" rIns="0" bIns="0" anchor="t">
            <a:noAutofit/>
          </a:bodyPr>
          <a:lstStyle/>
          <a:p>
            <a:pPr algn="l" eaLnBrk="0" latinLnBrk="0">
              <a:lnSpc>
                <a:spcPct val="100000"/>
              </a:lnSpc>
              <a:buNone/>
            </a:pPr>
            <a:r>
              <a:rPr lang="ko-KR" altLang="en-US" sz="2200" b="1" dirty="0">
                <a:solidFill>
                  <a:srgbClr val="0E8A7D"/>
                </a:solidFill>
                <a:latin typeface="Malgun Gothic"/>
                <a:ea typeface="Malgun Gothic"/>
                <a:cs typeface="Malgun Gothic"/>
              </a:rPr>
              <a:t>합계 8 + 12 = 20</a:t>
            </a:r>
          </a:p>
        </p:txBody>
      </p:sp>
      <p:sp>
        <p:nvSpPr>
          <p:cNvPr id="16" name="fit:11eca8a07ce612ac 17"/>
          <p:cNvSpPr/>
          <p:nvPr/>
        </p:nvSpPr>
        <p:spPr>
          <a:xfrm>
            <a:off x="7909560" y="4809744"/>
            <a:ext cx="3666744" cy="448056"/>
          </a:xfrm>
          <a:prstGeom prst="rect">
            <a:avLst/>
          </a:prstGeom>
          <a:noFill/>
          <a:ln w="0">
            <a:noFill/>
          </a:ln>
        </p:spPr>
        <p:txBody>
          <a:bodyPr wrap="square" lIns="0" tIns="0" rIns="0" bIns="0" anchor="t">
            <a:noAutofit/>
          </a:bodyPr>
          <a:lstStyle/>
          <a:p>
            <a:pPr algn="l" eaLnBrk="0" latinLnBrk="0">
              <a:lnSpc>
                <a:spcPct val="100000"/>
              </a:lnSpc>
              <a:buNone/>
            </a:pPr>
            <a:r>
              <a:rPr lang="ko-KR" altLang="en-US" sz="1350" b="0" dirty="0">
                <a:solidFill>
                  <a:srgbClr val="3F3F3F"/>
                </a:solidFill>
                <a:latin typeface="Malgun Gothic"/>
                <a:ea typeface="Malgun Gothic"/>
                <a:cs typeface="Malgun Gothic"/>
              </a:rPr>
              <a:t>B부터 담아도 16 + 4 = 20.</a:t>
            </a:r>
          </a:p>
          <a:p>
            <a:pPr algn="l" eaLnBrk="0" latinLnBrk="0">
              <a:lnSpc>
                <a:spcPct val="100000"/>
              </a:lnSpc>
              <a:buNone/>
            </a:pPr>
            <a:r>
              <a:rPr lang="ko-KR" altLang="en-US" sz="1350" b="0" dirty="0">
                <a:solidFill>
                  <a:srgbClr val="3F3F3F"/>
                </a:solidFill>
                <a:latin typeface="Malgun Gothic"/>
                <a:ea typeface="Malgun Gothic"/>
                <a:cs typeface="Malgun Gothic"/>
              </a:rPr>
              <a:t>무게당 가치가 모두 4라서 5 × 4 = 20입니다.</a:t>
            </a:r>
          </a:p>
        </p:txBody>
      </p:sp>
      <p:sp>
        <p:nvSpPr>
          <p:cNvPr id="17" name="직사각형 18"/>
          <p:cNvSpPr/>
          <p:nvPr/>
        </p:nvSpPr>
        <p:spPr>
          <a:xfrm>
            <a:off x="612648" y="4297680"/>
            <a:ext cx="2633472" cy="512064"/>
          </a:xfrm>
          <a:prstGeom prst="rect">
            <a:avLst/>
          </a:prstGeom>
          <a:solidFill>
            <a:srgbClr val="DCECFB"/>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A 2</a:t>
            </a:r>
          </a:p>
        </p:txBody>
      </p:sp>
      <p:sp>
        <p:nvSpPr>
          <p:cNvPr id="18" name="직사각형 19"/>
          <p:cNvSpPr/>
          <p:nvPr/>
        </p:nvSpPr>
        <p:spPr>
          <a:xfrm>
            <a:off x="3246120" y="4297680"/>
            <a:ext cx="3950208" cy="512064"/>
          </a:xfrm>
          <a:prstGeom prst="rect">
            <a:avLst/>
          </a:prstGeom>
          <a:solidFill>
            <a:srgbClr val="DDF1E4"/>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B 3 (3/4)</a:t>
            </a:r>
          </a:p>
        </p:txBody>
      </p:sp>
      <p:graphicFrame>
        <p:nvGraphicFramePr>
          <p:cNvPr id="19" name="표 20"/>
          <p:cNvGraphicFramePr>
            <a:graphicFrameLocks noGrp="1"/>
          </p:cNvGraphicFramePr>
          <p:nvPr>
            <p:extLst>
              <p:ext uri="{D42A27DB-BD31-4B8C-83A1-F6EECF244321}">
                <p14:modId xmlns:p14="http://schemas.microsoft.com/office/powerpoint/2010/main" val="1571620068"/>
              </p:ext>
            </p:extLst>
          </p:nvPr>
        </p:nvGraphicFramePr>
        <p:xfrm>
          <a:off x="612648" y="2651760"/>
          <a:ext cx="6583680" cy="987552"/>
        </p:xfrm>
        <a:graphic>
          <a:graphicData uri="http://schemas.openxmlformats.org/drawingml/2006/table">
            <a:tbl>
              <a:tblPr/>
              <a:tblGrid>
                <a:gridCol w="752421">
                  <a:extLst>
                    <a:ext uri="{9D8B030D-6E8A-4147-A177-3AD203B41FA5}">
                      <a16:colId xmlns:a16="http://schemas.microsoft.com/office/drawing/2014/main" val="20000"/>
                    </a:ext>
                  </a:extLst>
                </a:gridCol>
                <a:gridCol w="940526">
                  <a:extLst>
                    <a:ext uri="{9D8B030D-6E8A-4147-A177-3AD203B41FA5}">
                      <a16:colId xmlns:a16="http://schemas.microsoft.com/office/drawing/2014/main" val="20001"/>
                    </a:ext>
                  </a:extLst>
                </a:gridCol>
                <a:gridCol w="1128631">
                  <a:extLst>
                    <a:ext uri="{9D8B030D-6E8A-4147-A177-3AD203B41FA5}">
                      <a16:colId xmlns:a16="http://schemas.microsoft.com/office/drawing/2014/main" val="20002"/>
                    </a:ext>
                  </a:extLst>
                </a:gridCol>
                <a:gridCol w="1316736">
                  <a:extLst>
                    <a:ext uri="{9D8B030D-6E8A-4147-A177-3AD203B41FA5}">
                      <a16:colId xmlns:a16="http://schemas.microsoft.com/office/drawing/2014/main" val="20003"/>
                    </a:ext>
                  </a:extLst>
                </a:gridCol>
                <a:gridCol w="1316736">
                  <a:extLst>
                    <a:ext uri="{9D8B030D-6E8A-4147-A177-3AD203B41FA5}">
                      <a16:colId xmlns:a16="http://schemas.microsoft.com/office/drawing/2014/main" val="20004"/>
                    </a:ext>
                  </a:extLst>
                </a:gridCol>
                <a:gridCol w="1128631">
                  <a:extLst>
                    <a:ext uri="{9D8B030D-6E8A-4147-A177-3AD203B41FA5}">
                      <a16:colId xmlns:a16="http://schemas.microsoft.com/office/drawing/2014/main" val="20005"/>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보물</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무게당 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담은 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얻은 가치</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8</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2 (전부)</a:t>
                      </a:r>
                    </a:p>
                  </a:txBody>
                  <a:tcPr marL="54864" marR="54864" marT="18288" marB="18288" anchor="ctr">
                    <a:solidFill>
                      <a:srgbClr val="DCECFB"/>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8</a:t>
                      </a:r>
                    </a:p>
                  </a:txBody>
                  <a:tcPr marL="54864" marR="54864" marT="18288" marB="18288" anchor="ctr">
                    <a:solidFill>
                      <a:srgbClr val="DCECFB"/>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16</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3 (3/4)</a:t>
                      </a:r>
                    </a:p>
                  </a:txBody>
                  <a:tcPr marL="54864" marR="54864" marT="18288" marB="18288" anchor="ctr">
                    <a:solidFill>
                      <a:srgbClr val="DDF1E4"/>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12</a:t>
                      </a:r>
                    </a:p>
                  </a:txBody>
                  <a:tcPr marL="54864" marR="54864" marT="18288" marB="18288" anchor="ctr">
                    <a:solidFill>
                      <a:srgbClr val="DDF1E4"/>
                    </a:solidFill>
                  </a:tcPr>
                </a:tc>
                <a:extLst>
                  <a:ext uri="{0D108BD9-81ED-4DB2-BD59-A6C34878D82A}">
                    <a16:rowId xmlns:a16="http://schemas.microsoft.com/office/drawing/2014/main" val="10002"/>
                  </a:ext>
                </a:extLst>
              </a:tr>
            </a:tbl>
          </a:graphicData>
        </a:graphic>
      </p:graphicFrame>
      <p:sp>
        <p:nvSpPr>
          <p:cNvPr id="20" name="직사각형 21"/>
          <p:cNvSpPr/>
          <p:nvPr/>
        </p:nvSpPr>
        <p:spPr>
          <a:xfrm>
            <a:off x="612648" y="3968496"/>
            <a:ext cx="640080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배낭 (용량 5)</a:t>
            </a:r>
          </a:p>
        </p:txBody>
      </p:sp>
      <p:sp>
        <p:nvSpPr>
          <p:cNvPr id="21" name="직사각형 22"/>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통째로 담은 보물    초록: 일부만 덜어 담은 보물    노랑: 무게당 가치</a:t>
            </a:r>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0/1 용량 50 · 그리디는 160</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41</a:t>
            </a:r>
            <a:endParaRPr lang="ko-KR" altLang="en-US" sz="1050" b="0" dirty="0">
              <a:solidFill>
                <a:srgbClr val="606060"/>
              </a:solidFill>
              <a:latin typeface="Malgun Gothic"/>
              <a:ea typeface="Malgun Gothic"/>
              <a:cs typeface="Malgun Gothic"/>
            </a:endParaRPr>
          </a:p>
        </p:txBody>
      </p:sp>
      <p:sp>
        <p:nvSpPr>
          <p:cNvPr id="9" name="fit:b839d99089270805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A(10, 60), B(20, 100), C(30, 120)입니다(무게, 가치).</a:t>
            </a:r>
          </a:p>
          <a:p>
            <a:pPr algn="l" eaLnBrk="0" latinLnBrk="0">
              <a:lnSpc>
                <a:spcPct val="100000"/>
              </a:lnSpc>
              <a:buNone/>
            </a:pPr>
            <a:r>
              <a:rPr lang="ko-KR" altLang="en-US" sz="2025" b="0" dirty="0">
                <a:solidFill>
                  <a:srgbClr val="171717"/>
                </a:solidFill>
                <a:latin typeface="Malgun Gothic"/>
                <a:ea typeface="Malgun Gothic"/>
                <a:cs typeface="Malgun Gothic"/>
              </a:rPr>
              <a:t>무게당 가치 A 6, B 5, C 4 → A, B, C 순서로 봅니다.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0a500d51e589ff28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① A: 10 ≤ 50 → 담음, 남은 40</a:t>
            </a:r>
          </a:p>
        </p:txBody>
      </p:sp>
      <p:sp>
        <p:nvSpPr>
          <p:cNvPr id="12" name="fit:212c5361ba54e3bd 13"/>
          <p:cNvSpPr/>
          <p:nvPr/>
        </p:nvSpPr>
        <p:spPr>
          <a:xfrm>
            <a:off x="7909560" y="3273552"/>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② B: 20 ≤ 40 → 담음, 남은 20</a:t>
            </a:r>
          </a:p>
        </p:txBody>
      </p:sp>
      <p:sp>
        <p:nvSpPr>
          <p:cNvPr id="13" name="fit:7f773269ca384dbe 14"/>
          <p:cNvSpPr/>
          <p:nvPr/>
        </p:nvSpPr>
        <p:spPr>
          <a:xfrm>
            <a:off x="7909560" y="361188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③ C: 30 &gt; 20 → 건너뜀</a:t>
            </a:r>
          </a:p>
        </p:txBody>
      </p:sp>
      <p:sp>
        <p:nvSpPr>
          <p:cNvPr id="14" name="fit:8653b7da843f4f72 15"/>
          <p:cNvSpPr/>
          <p:nvPr/>
        </p:nvSpPr>
        <p:spPr>
          <a:xfrm>
            <a:off x="7909560" y="4041648"/>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그리디의 답</a:t>
            </a:r>
          </a:p>
        </p:txBody>
      </p:sp>
      <p:sp>
        <p:nvSpPr>
          <p:cNvPr id="15" name="fit:46b60fb62f81cf7e 16"/>
          <p:cNvSpPr/>
          <p:nvPr/>
        </p:nvSpPr>
        <p:spPr>
          <a:xfrm>
            <a:off x="7909560" y="4325112"/>
            <a:ext cx="3666744" cy="374904"/>
          </a:xfrm>
          <a:prstGeom prst="rect">
            <a:avLst/>
          </a:prstGeom>
          <a:noFill/>
          <a:ln w="0">
            <a:noFill/>
          </a:ln>
        </p:spPr>
        <p:txBody>
          <a:bodyPr wrap="square" lIns="0" tIns="0" rIns="0" bIns="0" anchor="t">
            <a:noAutofit/>
          </a:bodyPr>
          <a:lstStyle/>
          <a:p>
            <a:pPr algn="l" eaLnBrk="0" latinLnBrk="0">
              <a:lnSpc>
                <a:spcPct val="100000"/>
              </a:lnSpc>
              <a:buNone/>
            </a:pPr>
            <a:r>
              <a:rPr lang="ko-KR" altLang="en-US" sz="2200" b="1" dirty="0">
                <a:solidFill>
                  <a:srgbClr val="0E8A7D"/>
                </a:solidFill>
                <a:latin typeface="Malgun Gothic"/>
                <a:ea typeface="Malgun Gothic"/>
                <a:cs typeface="Malgun Gothic"/>
              </a:rPr>
              <a:t>60 + 100 = 160</a:t>
            </a:r>
          </a:p>
        </p:txBody>
      </p:sp>
      <p:sp>
        <p:nvSpPr>
          <p:cNvPr id="16" name="직사각형 17"/>
          <p:cNvSpPr/>
          <p:nvPr/>
        </p:nvSpPr>
        <p:spPr>
          <a:xfrm>
            <a:off x="612648" y="4754880"/>
            <a:ext cx="1316736" cy="512064"/>
          </a:xfrm>
          <a:prstGeom prst="rect">
            <a:avLst/>
          </a:prstGeom>
          <a:solidFill>
            <a:srgbClr val="DCECFB"/>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A 10</a:t>
            </a:r>
          </a:p>
        </p:txBody>
      </p:sp>
      <p:sp>
        <p:nvSpPr>
          <p:cNvPr id="17" name="직사각형 18"/>
          <p:cNvSpPr/>
          <p:nvPr/>
        </p:nvSpPr>
        <p:spPr>
          <a:xfrm>
            <a:off x="1929384" y="4754880"/>
            <a:ext cx="2633472" cy="512064"/>
          </a:xfrm>
          <a:prstGeom prst="rect">
            <a:avLst/>
          </a:prstGeom>
          <a:solidFill>
            <a:srgbClr val="DCECFB"/>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1" dirty="0">
                <a:solidFill>
                  <a:srgbClr val="151515"/>
                </a:solidFill>
                <a:latin typeface="Malgun Gothic"/>
                <a:ea typeface="Malgun Gothic"/>
                <a:cs typeface="Malgun Gothic"/>
              </a:rPr>
              <a:t>B 20</a:t>
            </a:r>
          </a:p>
        </p:txBody>
      </p:sp>
      <p:sp>
        <p:nvSpPr>
          <p:cNvPr id="18" name="직사각형 19"/>
          <p:cNvSpPr/>
          <p:nvPr/>
        </p:nvSpPr>
        <p:spPr>
          <a:xfrm>
            <a:off x="4562856" y="4754880"/>
            <a:ext cx="2633472" cy="512064"/>
          </a:xfrm>
          <a:prstGeom prst="rect">
            <a:avLst/>
          </a:prstGeom>
          <a:solidFill>
            <a:srgbClr val="F2F2F2"/>
          </a:solidFill>
          <a:ln w="9525">
            <a:solidFill>
              <a:srgbClr val="CCCCCC"/>
            </a:solidFill>
          </a:ln>
        </p:spPr>
        <p:txBody>
          <a:bodyPr wrap="square" lIns="0" tIns="0" rIns="0" bIns="0" anchor="ctr">
            <a:noAutofit/>
          </a:bodyPr>
          <a:lstStyle/>
          <a:p>
            <a:pPr algn="ctr" eaLnBrk="0" latinLnBrk="0">
              <a:lnSpc>
                <a:spcPct val="100000"/>
              </a:lnSpc>
              <a:buNone/>
            </a:pPr>
            <a:r>
              <a:rPr lang="ko-KR" altLang="en-US" sz="1600" b="0" dirty="0">
                <a:solidFill>
                  <a:srgbClr val="606060"/>
                </a:solidFill>
                <a:latin typeface="Malgun Gothic"/>
                <a:ea typeface="Malgun Gothic"/>
                <a:cs typeface="Malgun Gothic"/>
              </a:rPr>
              <a:t>빈 공간 20</a:t>
            </a:r>
          </a:p>
        </p:txBody>
      </p:sp>
      <p:graphicFrame>
        <p:nvGraphicFramePr>
          <p:cNvPr id="19" name="표 20"/>
          <p:cNvGraphicFramePr>
            <a:graphicFrameLocks noGrp="1"/>
          </p:cNvGraphicFramePr>
          <p:nvPr>
            <p:extLst>
              <p:ext uri="{D42A27DB-BD31-4B8C-83A1-F6EECF244321}">
                <p14:modId xmlns:p14="http://schemas.microsoft.com/office/powerpoint/2010/main" val="67184544"/>
              </p:ext>
            </p:extLst>
          </p:nvPr>
        </p:nvGraphicFramePr>
        <p:xfrm>
          <a:off x="612648" y="2651760"/>
          <a:ext cx="6583680" cy="1316736"/>
        </p:xfrm>
        <a:graphic>
          <a:graphicData uri="http://schemas.openxmlformats.org/drawingml/2006/table">
            <a:tbl>
              <a:tblPr/>
              <a:tblGrid>
                <a:gridCol w="752421">
                  <a:extLst>
                    <a:ext uri="{9D8B030D-6E8A-4147-A177-3AD203B41FA5}">
                      <a16:colId xmlns:a16="http://schemas.microsoft.com/office/drawing/2014/main" val="20000"/>
                    </a:ext>
                  </a:extLst>
                </a:gridCol>
                <a:gridCol w="940526">
                  <a:extLst>
                    <a:ext uri="{9D8B030D-6E8A-4147-A177-3AD203B41FA5}">
                      <a16:colId xmlns:a16="http://schemas.microsoft.com/office/drawing/2014/main" val="20001"/>
                    </a:ext>
                  </a:extLst>
                </a:gridCol>
                <a:gridCol w="1128631">
                  <a:extLst>
                    <a:ext uri="{9D8B030D-6E8A-4147-A177-3AD203B41FA5}">
                      <a16:colId xmlns:a16="http://schemas.microsoft.com/office/drawing/2014/main" val="20002"/>
                    </a:ext>
                  </a:extLst>
                </a:gridCol>
                <a:gridCol w="1316736">
                  <a:extLst>
                    <a:ext uri="{9D8B030D-6E8A-4147-A177-3AD203B41FA5}">
                      <a16:colId xmlns:a16="http://schemas.microsoft.com/office/drawing/2014/main" val="20003"/>
                    </a:ext>
                  </a:extLst>
                </a:gridCol>
                <a:gridCol w="1316736">
                  <a:extLst>
                    <a:ext uri="{9D8B030D-6E8A-4147-A177-3AD203B41FA5}">
                      <a16:colId xmlns:a16="http://schemas.microsoft.com/office/drawing/2014/main" val="20004"/>
                    </a:ext>
                  </a:extLst>
                </a:gridCol>
                <a:gridCol w="1128631">
                  <a:extLst>
                    <a:ext uri="{9D8B030D-6E8A-4147-A177-3AD203B41FA5}">
                      <a16:colId xmlns:a16="http://schemas.microsoft.com/office/drawing/2014/main" val="20005"/>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보물</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무게당 가치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결정</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얻은 가치</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60</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6</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담음</a:t>
                      </a:r>
                    </a:p>
                  </a:txBody>
                  <a:tcPr marL="54864" marR="54864" marT="18288" marB="18288" anchor="ctr">
                    <a:solidFill>
                      <a:srgbClr val="DCECFB"/>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60</a:t>
                      </a:r>
                    </a:p>
                  </a:txBody>
                  <a:tcPr marL="54864" marR="54864" marT="18288" marB="18288" anchor="ctr">
                    <a:solidFill>
                      <a:srgbClr val="DCECFB"/>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100</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담음</a:t>
                      </a:r>
                    </a:p>
                  </a:txBody>
                  <a:tcPr marL="54864" marR="54864" marT="18288" marB="18288" anchor="ctr">
                    <a:solidFill>
                      <a:srgbClr val="DCECFB"/>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100</a:t>
                      </a:r>
                    </a:p>
                  </a:txBody>
                  <a:tcPr marL="54864" marR="54864" marT="18288" marB="18288" anchor="ctr">
                    <a:solidFill>
                      <a:srgbClr val="DCECFB"/>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120</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건너뜀</a:t>
                      </a:r>
                    </a:p>
                  </a:txBody>
                  <a:tcPr marL="54864" marR="54864" marT="18288" marB="18288" anchor="ctr">
                    <a:solidFill>
                      <a:srgbClr val="FBE1E1"/>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0</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20" name="직사각형 21"/>
          <p:cNvSpPr/>
          <p:nvPr/>
        </p:nvSpPr>
        <p:spPr>
          <a:xfrm>
            <a:off x="612648" y="4425696"/>
            <a:ext cx="640080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배낭 (용량 50)</a:t>
            </a:r>
          </a:p>
        </p:txBody>
      </p:sp>
      <p:sp>
        <p:nvSpPr>
          <p:cNvPr id="21" name="직사각형 22"/>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담은 보물    빨강: 건너뛴 보물    노랑: 무게당 가치    회색: 남은 빈 공간</a:t>
            </a:r>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조합을 다 보면 B + C = 220</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42</a:t>
            </a:r>
            <a:endParaRPr lang="ko-KR" altLang="en-US" sz="1050" b="0" dirty="0">
              <a:solidFill>
                <a:srgbClr val="606060"/>
              </a:solidFill>
              <a:latin typeface="Malgun Gothic"/>
              <a:ea typeface="Malgun Gothic"/>
              <a:cs typeface="Malgun Gothic"/>
            </a:endParaRPr>
          </a:p>
        </p:txBody>
      </p:sp>
      <p:graphicFrame>
        <p:nvGraphicFramePr>
          <p:cNvPr id="9" name="표 10"/>
          <p:cNvGraphicFramePr>
            <a:graphicFrameLocks noGrp="1"/>
          </p:cNvGraphicFramePr>
          <p:nvPr>
            <p:extLst>
              <p:ext uri="{D42A27DB-BD31-4B8C-83A1-F6EECF244321}">
                <p14:modId xmlns:p14="http://schemas.microsoft.com/office/powerpoint/2010/main" val="1314571316"/>
              </p:ext>
            </p:extLst>
          </p:nvPr>
        </p:nvGraphicFramePr>
        <p:xfrm>
          <a:off x="612648" y="1636776"/>
          <a:ext cx="10972800" cy="2962656"/>
        </p:xfrm>
        <a:graphic>
          <a:graphicData uri="http://schemas.openxmlformats.org/drawingml/2006/table">
            <a:tbl>
              <a:tblPr/>
              <a:tblGrid>
                <a:gridCol w="2801566">
                  <a:extLst>
                    <a:ext uri="{9D8B030D-6E8A-4147-A177-3AD203B41FA5}">
                      <a16:colId xmlns:a16="http://schemas.microsoft.com/office/drawing/2014/main" val="20000"/>
                    </a:ext>
                  </a:extLst>
                </a:gridCol>
                <a:gridCol w="2334638">
                  <a:extLst>
                    <a:ext uri="{9D8B030D-6E8A-4147-A177-3AD203B41FA5}">
                      <a16:colId xmlns:a16="http://schemas.microsoft.com/office/drawing/2014/main" val="20001"/>
                    </a:ext>
                  </a:extLst>
                </a:gridCol>
                <a:gridCol w="2334638">
                  <a:extLst>
                    <a:ext uri="{9D8B030D-6E8A-4147-A177-3AD203B41FA5}">
                      <a16:colId xmlns:a16="http://schemas.microsoft.com/office/drawing/2014/main" val="20002"/>
                    </a:ext>
                  </a:extLst>
                </a:gridCol>
                <a:gridCol w="3501957">
                  <a:extLst>
                    <a:ext uri="{9D8B030D-6E8A-4147-A177-3AD203B41FA5}">
                      <a16:colId xmlns:a16="http://schemas.microsoft.com/office/drawing/2014/main" val="20003"/>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담은 보물</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무게 합</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가치 합</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판정</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없음</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가능</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60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가능</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100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가능</a:t>
                      </a:r>
                    </a:p>
                  </a:txBody>
                  <a:tcPr marL="54864" marR="54864" marT="18288" marB="18288" anchor="ctr">
                    <a:solidFill>
                      <a:srgbClr val="FFFFFF"/>
                    </a:solidFill>
                  </a:tcPr>
                </a:tc>
                <a:extLst>
                  <a:ext uri="{0D108BD9-81ED-4DB2-BD59-A6C34878D82A}">
                    <a16:rowId xmlns:a16="http://schemas.microsoft.com/office/drawing/2014/main" val="10003"/>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120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가능</a:t>
                      </a:r>
                    </a:p>
                  </a:txBody>
                  <a:tcPr marL="54864" marR="54864" marT="18288" marB="18288" anchor="ctr">
                    <a:solidFill>
                      <a:srgbClr val="FFFFFF"/>
                    </a:solidFill>
                  </a:tcPr>
                </a:tc>
                <a:extLst>
                  <a:ext uri="{0D108BD9-81ED-4DB2-BD59-A6C34878D82A}">
                    <a16:rowId xmlns:a16="http://schemas.microsoft.com/office/drawing/2014/main" val="10004"/>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 + 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160</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1D5A8A"/>
                          </a:solidFill>
                          <a:latin typeface="Malgun Gothic"/>
                          <a:ea typeface="Malgun Gothic"/>
                          <a:cs typeface="Malgun Gothic"/>
                        </a:rPr>
                        <a:t>가능 (그리디의 답)</a:t>
                      </a:r>
                    </a:p>
                  </a:txBody>
                  <a:tcPr marL="54864" marR="54864" marT="18288" marB="18288" anchor="ctr">
                    <a:solidFill>
                      <a:srgbClr val="FFFFFF"/>
                    </a:solidFill>
                  </a:tcPr>
                </a:tc>
                <a:extLst>
                  <a:ext uri="{0D108BD9-81ED-4DB2-BD59-A6C34878D82A}">
                    <a16:rowId xmlns:a16="http://schemas.microsoft.com/office/drawing/2014/main" val="10005"/>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 + 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180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가능</a:t>
                      </a:r>
                    </a:p>
                  </a:txBody>
                  <a:tcPr marL="54864" marR="54864" marT="18288" marB="18288" anchor="ctr">
                    <a:solidFill>
                      <a:srgbClr val="FFFFFF"/>
                    </a:solidFill>
                  </a:tcPr>
                </a:tc>
                <a:extLst>
                  <a:ext uri="{0D108BD9-81ED-4DB2-BD59-A6C34878D82A}">
                    <a16:rowId xmlns:a16="http://schemas.microsoft.com/office/drawing/2014/main" val="10006"/>
                  </a:ext>
                </a:extLst>
              </a:tr>
              <a:tr h="329184">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B + C</a:t>
                      </a:r>
                    </a:p>
                  </a:txBody>
                  <a:tcPr marL="54864" marR="54864" marT="18288" marB="18288" anchor="ctr">
                    <a:solidFill>
                      <a:srgbClr val="DDF1E4"/>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50</a:t>
                      </a:r>
                    </a:p>
                  </a:txBody>
                  <a:tcPr marL="54864" marR="54864" marT="18288" marB="18288" anchor="ctr">
                    <a:solidFill>
                      <a:srgbClr val="DDF1E4"/>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220</a:t>
                      </a:r>
                    </a:p>
                  </a:txBody>
                  <a:tcPr marL="54864" marR="54864" marT="18288" marB="18288" anchor="ctr">
                    <a:solidFill>
                      <a:srgbClr val="DDF1E4"/>
                    </a:solidFill>
                  </a:tcPr>
                </a:tc>
                <a:tc>
                  <a:txBody>
                    <a:bodyPr/>
                    <a:lstStyle/>
                    <a:p>
                      <a:pPr algn="ctr" eaLnBrk="0" latinLnBrk="0">
                        <a:lnSpc>
                          <a:spcPct val="100000"/>
                        </a:lnSpc>
                        <a:buNone/>
                      </a:pPr>
                      <a:r>
                        <a:rPr lang="ko-KR" altLang="en-US" sz="1500" b="1" dirty="0">
                          <a:solidFill>
                            <a:srgbClr val="256B50"/>
                          </a:solidFill>
                          <a:latin typeface="Malgun Gothic"/>
                          <a:ea typeface="Malgun Gothic"/>
                          <a:cs typeface="Malgun Gothic"/>
                        </a:rPr>
                        <a:t>가능 · 최대</a:t>
                      </a:r>
                    </a:p>
                  </a:txBody>
                  <a:tcPr marL="54864" marR="54864" marT="18288" marB="18288" anchor="ctr">
                    <a:solidFill>
                      <a:srgbClr val="DDF1E4"/>
                    </a:solidFill>
                  </a:tcPr>
                </a:tc>
                <a:extLst>
                  <a:ext uri="{0D108BD9-81ED-4DB2-BD59-A6C34878D82A}">
                    <a16:rowId xmlns:a16="http://schemas.microsoft.com/office/drawing/2014/main" val="10007"/>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 + B + 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60</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B23B3B"/>
                          </a:solidFill>
                          <a:latin typeface="Malgun Gothic"/>
                          <a:ea typeface="Malgun Gothic"/>
                          <a:cs typeface="Malgun Gothic"/>
                        </a:rPr>
                        <a:t>50 초과</a:t>
                      </a:r>
                    </a:p>
                  </a:txBody>
                  <a:tcPr marL="54864" marR="54864" marT="18288" marB="18288" anchor="ctr">
                    <a:solidFill>
                      <a:srgbClr val="FFFFFF"/>
                    </a:solidFill>
                  </a:tcPr>
                </a:tc>
                <a:extLst>
                  <a:ext uri="{0D108BD9-81ED-4DB2-BD59-A6C34878D82A}">
                    <a16:rowId xmlns:a16="http://schemas.microsoft.com/office/drawing/2014/main" val="10008"/>
                  </a:ext>
                </a:extLst>
              </a:tr>
            </a:tbl>
          </a:graphicData>
        </a:graphic>
      </p:graphicFrame>
      <p:sp>
        <p:nvSpPr>
          <p:cNvPr id="10" name="fit:a486a186e9c10c25 11"/>
          <p:cNvSpPr/>
          <p:nvPr/>
        </p:nvSpPr>
        <p:spPr>
          <a:xfrm>
            <a:off x="612648" y="4745736"/>
            <a:ext cx="10972800" cy="402336"/>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0E8A7D"/>
                </a:solidFill>
                <a:latin typeface="Malgun Gothic"/>
                <a:ea typeface="Malgun Gothic"/>
                <a:cs typeface="Malgun Gothic"/>
              </a:rPr>
              <a:t>최적해는 B + C = 220입니다. 그리디의 답 160보다 60 큽니다.</a:t>
            </a:r>
          </a:p>
        </p:txBody>
      </p:sp>
      <p:sp>
        <p:nvSpPr>
          <p:cNvPr id="11" name="fit:a49b34f283346047 12"/>
          <p:cNvSpPr/>
          <p:nvPr/>
        </p:nvSpPr>
        <p:spPr>
          <a:xfrm>
            <a:off x="612648" y="5257800"/>
            <a:ext cx="1097280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무게당 가치 1등인 A를 담는 순간, 남은 40에는 B(20)와 C(30)를 함께 넣을 수 없습니다.</a:t>
            </a:r>
          </a:p>
          <a:p>
            <a:pPr algn="l" eaLnBrk="0" latinLnBrk="0">
              <a:lnSpc>
                <a:spcPct val="100000"/>
              </a:lnSpc>
              <a:buNone/>
            </a:pPr>
            <a:r>
              <a:rPr lang="ko-KR" altLang="en-US" sz="1650" b="0" dirty="0">
                <a:solidFill>
                  <a:srgbClr val="3F3F3F"/>
                </a:solidFill>
                <a:latin typeface="Malgun Gothic"/>
                <a:ea typeface="Malgun Gothic"/>
                <a:cs typeface="Malgun Gothic"/>
              </a:rPr>
              <a:t>첫 선택부터 최적해에서 벗어난 것입니다.</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5.4  배낭 문제</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0/1 배낭에서 그리디가 실패하는 이유</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43</a:t>
            </a:r>
            <a:endParaRPr lang="ko-KR" altLang="en-US" sz="1050" b="0" dirty="0">
              <a:solidFill>
                <a:srgbClr val="606060"/>
              </a:solidFill>
              <a:latin typeface="Malgun Gothic"/>
              <a:ea typeface="Malgun Gothic"/>
              <a:cs typeface="Malgun Gothic"/>
            </a:endParaRPr>
          </a:p>
        </p:txBody>
      </p:sp>
      <p:sp>
        <p:nvSpPr>
          <p:cNvPr id="9" name="fit:2b352e0c62bd1927 10"/>
          <p:cNvSpPr/>
          <p:nvPr/>
        </p:nvSpPr>
        <p:spPr>
          <a:xfrm>
            <a:off x="612648" y="1636776"/>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① 첫 선택이 최적해에 없다</a:t>
            </a:r>
          </a:p>
        </p:txBody>
      </p:sp>
      <p:sp>
        <p:nvSpPr>
          <p:cNvPr id="10" name="fit:2acb35ccd421fe33 11"/>
          <p:cNvSpPr/>
          <p:nvPr/>
        </p:nvSpPr>
        <p:spPr>
          <a:xfrm>
            <a:off x="795528" y="1965960"/>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en-US" altLang="ko-KR" sz="1575" b="0">
                <a:solidFill>
                  <a:srgbClr val="3F3F3F"/>
                </a:solidFill>
                <a:latin typeface="Malgun Gothic"/>
                <a:ea typeface="Malgun Gothic"/>
                <a:cs typeface="Malgun Gothic"/>
              </a:rPr>
              <a:t>A</a:t>
            </a:r>
            <a:r>
              <a:rPr lang="ko-KR" altLang="en-US" sz="1575" b="0">
                <a:solidFill>
                  <a:srgbClr val="3F3F3F"/>
                </a:solidFill>
                <a:latin typeface="Malgun Gothic"/>
                <a:ea typeface="Malgun Gothic"/>
                <a:cs typeface="Malgun Gothic"/>
              </a:rPr>
              <a:t>를 담으면 </a:t>
            </a:r>
            <a:r>
              <a:rPr lang="en-US" altLang="ko-KR" sz="1575" b="0">
                <a:solidFill>
                  <a:srgbClr val="3F3F3F"/>
                </a:solidFill>
                <a:latin typeface="Malgun Gothic"/>
                <a:ea typeface="Malgun Gothic"/>
                <a:cs typeface="Malgun Gothic"/>
              </a:rPr>
              <a:t>40</a:t>
            </a:r>
            <a:r>
              <a:rPr lang="ko-KR" altLang="en-US" sz="1575" b="0">
                <a:solidFill>
                  <a:srgbClr val="3F3F3F"/>
                </a:solidFill>
                <a:latin typeface="Malgun Gothic"/>
                <a:ea typeface="Malgun Gothic"/>
                <a:cs typeface="Malgun Gothic"/>
              </a:rPr>
              <a:t>이 남아 </a:t>
            </a:r>
            <a:r>
              <a:rPr lang="en-US" altLang="ko-KR" sz="1575" b="0">
                <a:solidFill>
                  <a:srgbClr val="3F3F3F"/>
                </a:solidFill>
                <a:latin typeface="Malgun Gothic"/>
                <a:ea typeface="Malgun Gothic"/>
                <a:cs typeface="Malgun Gothic"/>
              </a:rPr>
              <a:t>B(20)</a:t>
            </a:r>
            <a:r>
              <a:rPr lang="ko-KR" altLang="en-US" sz="1575" b="0">
                <a:solidFill>
                  <a:srgbClr val="3F3F3F"/>
                </a:solidFill>
                <a:latin typeface="Malgun Gothic"/>
                <a:ea typeface="Malgun Gothic"/>
                <a:cs typeface="Malgun Gothic"/>
              </a:rPr>
              <a:t>와 </a:t>
            </a:r>
            <a:r>
              <a:rPr lang="en-US" altLang="ko-KR" sz="1575" b="0">
                <a:solidFill>
                  <a:srgbClr val="3F3F3F"/>
                </a:solidFill>
                <a:latin typeface="Malgun Gothic"/>
                <a:ea typeface="Malgun Gothic"/>
                <a:cs typeface="Malgun Gothic"/>
              </a:rPr>
              <a:t>C(30)</a:t>
            </a:r>
            <a:r>
              <a:rPr lang="ko-KR" altLang="en-US" sz="1575" b="0">
                <a:solidFill>
                  <a:srgbClr val="3F3F3F"/>
                </a:solidFill>
                <a:latin typeface="Malgun Gothic"/>
                <a:ea typeface="Malgun Gothic"/>
                <a:cs typeface="Malgun Gothic"/>
              </a:rPr>
              <a:t>를 함께 넣지 못합니다</a:t>
            </a:r>
            <a:r>
              <a:rPr lang="en-US" altLang="ko-KR" sz="1575" b="0">
                <a:solidFill>
                  <a:srgbClr val="3F3F3F"/>
                </a:solidFill>
                <a:latin typeface="Malgun Gothic"/>
                <a:ea typeface="Malgun Gothic"/>
                <a:cs typeface="Malgun Gothic"/>
              </a:rPr>
              <a:t>. </a:t>
            </a:r>
            <a:r>
              <a:rPr lang="ko-KR" altLang="en-US" sz="1575" b="0">
                <a:solidFill>
                  <a:srgbClr val="3F3F3F"/>
                </a:solidFill>
                <a:latin typeface="Malgun Gothic"/>
                <a:ea typeface="Malgun Gothic"/>
                <a:cs typeface="Malgun Gothic"/>
              </a:rPr>
              <a:t>최적해 </a:t>
            </a:r>
            <a:r>
              <a:rPr lang="en-US" altLang="ko-KR" sz="1575" b="0">
                <a:solidFill>
                  <a:srgbClr val="3F3F3F"/>
                </a:solidFill>
                <a:latin typeface="Malgun Gothic"/>
                <a:ea typeface="Malgun Gothic"/>
                <a:cs typeface="Malgun Gothic"/>
              </a:rPr>
              <a:t>B + C</a:t>
            </a:r>
            <a:r>
              <a:rPr lang="ko-KR" altLang="en-US" sz="1575" b="0">
                <a:solidFill>
                  <a:srgbClr val="3F3F3F"/>
                </a:solidFill>
                <a:latin typeface="Malgun Gothic"/>
                <a:ea typeface="Malgun Gothic"/>
                <a:cs typeface="Malgun Gothic"/>
              </a:rPr>
              <a:t>에는 </a:t>
            </a:r>
            <a:r>
              <a:rPr lang="en-US" altLang="ko-KR" sz="1575" b="0">
                <a:solidFill>
                  <a:srgbClr val="3F3F3F"/>
                </a:solidFill>
                <a:latin typeface="Malgun Gothic"/>
                <a:ea typeface="Malgun Gothic"/>
                <a:cs typeface="Malgun Gothic"/>
              </a:rPr>
              <a:t>A</a:t>
            </a:r>
            <a:r>
              <a:rPr lang="ko-KR" altLang="en-US" sz="1575" b="0">
                <a:solidFill>
                  <a:srgbClr val="3F3F3F"/>
                </a:solidFill>
                <a:latin typeface="Malgun Gothic"/>
                <a:ea typeface="Malgun Gothic"/>
                <a:cs typeface="Malgun Gothic"/>
              </a:rPr>
              <a:t>가 없습니다</a:t>
            </a:r>
            <a:r>
              <a:rPr lang="en-US" altLang="ko-KR" sz="1575" b="0">
                <a:solidFill>
                  <a:srgbClr val="3F3F3F"/>
                </a:solidFill>
                <a:latin typeface="Malgun Gothic"/>
                <a:ea typeface="Malgun Gothic"/>
                <a:cs typeface="Malgun Gothic"/>
              </a:rPr>
              <a:t>.</a:t>
            </a:r>
            <a:endParaRPr lang="ko-KR" altLang="en-US" sz="1575" b="0" dirty="0">
              <a:solidFill>
                <a:srgbClr val="3F3F3F"/>
              </a:solidFill>
              <a:latin typeface="Malgun Gothic"/>
              <a:ea typeface="Malgun Gothic"/>
              <a:cs typeface="Malgun Gothic"/>
            </a:endParaRPr>
          </a:p>
        </p:txBody>
      </p:sp>
      <p:sp>
        <p:nvSpPr>
          <p:cNvPr id="11" name="fit:b2531f86ecd8dc82 12"/>
          <p:cNvSpPr/>
          <p:nvPr/>
        </p:nvSpPr>
        <p:spPr>
          <a:xfrm>
            <a:off x="612648" y="2350008"/>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② 분할 배낭과의 차이</a:t>
            </a:r>
          </a:p>
        </p:txBody>
      </p:sp>
      <p:sp>
        <p:nvSpPr>
          <p:cNvPr id="12" name="fit:56f20c60fce80385 13"/>
          <p:cNvSpPr/>
          <p:nvPr/>
        </p:nvSpPr>
        <p:spPr>
          <a:xfrm>
            <a:off x="795528" y="2679192"/>
            <a:ext cx="10789920" cy="530352"/>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a:solidFill>
                  <a:srgbClr val="3F3F3F"/>
                </a:solidFill>
                <a:latin typeface="Malgun Gothic"/>
                <a:ea typeface="Malgun Gothic"/>
                <a:cs typeface="Malgun Gothic"/>
              </a:rPr>
              <a:t>쪼갤 수 있으면 </a:t>
            </a:r>
            <a:r>
              <a:rPr lang="en-US" altLang="ko-KR" sz="1575" b="0">
                <a:solidFill>
                  <a:srgbClr val="3F3F3F"/>
                </a:solidFill>
                <a:latin typeface="Malgun Gothic"/>
                <a:ea typeface="Malgun Gothic"/>
                <a:cs typeface="Malgun Gothic"/>
              </a:rPr>
              <a:t>A(10), B(20), C</a:t>
            </a:r>
            <a:r>
              <a:rPr lang="ko-KR" altLang="en-US" sz="1575" b="0">
                <a:solidFill>
                  <a:srgbClr val="3F3F3F"/>
                </a:solidFill>
                <a:latin typeface="Malgun Gothic"/>
                <a:ea typeface="Malgun Gothic"/>
                <a:cs typeface="Malgun Gothic"/>
              </a:rPr>
              <a:t>의 </a:t>
            </a:r>
            <a:r>
              <a:rPr lang="en-US" altLang="ko-KR" sz="1575" b="0">
                <a:solidFill>
                  <a:srgbClr val="3F3F3F"/>
                </a:solidFill>
                <a:latin typeface="Malgun Gothic"/>
                <a:ea typeface="Malgun Gothic"/>
                <a:cs typeface="Malgun Gothic"/>
              </a:rPr>
              <a:t>20</a:t>
            </a:r>
            <a:r>
              <a:rPr lang="ko-KR" altLang="en-US" sz="1575" b="0">
                <a:solidFill>
                  <a:srgbClr val="3F3F3F"/>
                </a:solidFill>
                <a:latin typeface="Malgun Gothic"/>
                <a:ea typeface="Malgun Gothic"/>
                <a:cs typeface="Malgun Gothic"/>
              </a:rPr>
              <a:t>을 담아 가치 </a:t>
            </a:r>
            <a:r>
              <a:rPr lang="en-US" altLang="ko-KR" sz="1575" b="0">
                <a:solidFill>
                  <a:srgbClr val="3F3F3F"/>
                </a:solidFill>
                <a:latin typeface="Malgun Gothic"/>
                <a:ea typeface="Malgun Gothic"/>
                <a:cs typeface="Malgun Gothic"/>
              </a:rPr>
              <a:t>240</a:t>
            </a:r>
            <a:r>
              <a:rPr lang="ko-KR" altLang="en-US" sz="1575" b="0">
                <a:solidFill>
                  <a:srgbClr val="3F3F3F"/>
                </a:solidFill>
                <a:latin typeface="Malgun Gothic"/>
                <a:ea typeface="Malgun Gothic"/>
                <a:cs typeface="Malgun Gothic"/>
              </a:rPr>
              <a:t>을 얻습니다</a:t>
            </a:r>
            <a:r>
              <a:rPr lang="en-US" altLang="ko-KR" sz="1575" b="0">
                <a:solidFill>
                  <a:srgbClr val="3F3F3F"/>
                </a:solidFill>
                <a:latin typeface="Malgun Gothic"/>
                <a:ea typeface="Malgun Gothic"/>
                <a:cs typeface="Malgun Gothic"/>
              </a:rPr>
              <a:t>.</a:t>
            </a:r>
            <a:endParaRPr lang="ko-KR" altLang="en-US" sz="1575" b="0" dirty="0">
              <a:solidFill>
                <a:srgbClr val="3F3F3F"/>
              </a:solidFill>
              <a:latin typeface="Malgun Gothic"/>
              <a:ea typeface="Malgun Gothic"/>
              <a:cs typeface="Malgun Gothic"/>
            </a:endParaRPr>
          </a:p>
          <a:p>
            <a:pPr algn="l" eaLnBrk="0" latinLnBrk="0">
              <a:lnSpc>
                <a:spcPct val="105000"/>
              </a:lnSpc>
              <a:buNone/>
            </a:pPr>
            <a:r>
              <a:rPr lang="ko-KR" altLang="en-US" sz="1575" b="0" dirty="0">
                <a:solidFill>
                  <a:srgbClr val="3F3F3F"/>
                </a:solidFill>
                <a:latin typeface="Malgun Gothic"/>
                <a:ea typeface="Malgun Gothic"/>
                <a:cs typeface="Malgun Gothic"/>
              </a:rPr>
              <a:t>쪼갤 수 없으면 1kg 교환을 쓸 수 없고, 이 예처럼 빈 공간이 손해로 남습니다.</a:t>
            </a:r>
          </a:p>
        </p:txBody>
      </p:sp>
      <p:sp>
        <p:nvSpPr>
          <p:cNvPr id="13" name="fit:1cc9a669c322793e 14"/>
          <p:cNvSpPr/>
          <p:nvPr/>
        </p:nvSpPr>
        <p:spPr>
          <a:xfrm>
            <a:off x="612648" y="3319272"/>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③ 모든 조합을 보면?</a:t>
            </a:r>
          </a:p>
        </p:txBody>
      </p:sp>
      <p:sp>
        <p:nvSpPr>
          <p:cNvPr id="14" name="fit:1d306d76c1c1d03e 15"/>
          <p:cNvSpPr/>
          <p:nvPr/>
        </p:nvSpPr>
        <p:spPr>
          <a:xfrm>
            <a:off x="795528" y="3648456"/>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보물 n개를 담거나 말거나: 2ⁿ가지. 보물이 30개면 10억 가지가 넘습니다.</a:t>
            </a:r>
          </a:p>
        </p:txBody>
      </p:sp>
      <p:sp>
        <p:nvSpPr>
          <p:cNvPr id="15" name="fit:e0ac22383b6b9413 16"/>
          <p:cNvSpPr/>
          <p:nvPr/>
        </p:nvSpPr>
        <p:spPr>
          <a:xfrm>
            <a:off x="612648" y="4032504"/>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④ 6장 동적 계획법</a:t>
            </a:r>
          </a:p>
        </p:txBody>
      </p:sp>
      <p:sp>
        <p:nvSpPr>
          <p:cNvPr id="16" name="fit:6b58876d7fd7441f 17"/>
          <p:cNvSpPr/>
          <p:nvPr/>
        </p:nvSpPr>
        <p:spPr>
          <a:xfrm>
            <a:off x="795528" y="4361688"/>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같은 부분 문제의 답을 표에 저장해 다시 계산하지 않습니다. 0/1 배낭의 정확한 답은 6장에서 구합니다.</a:t>
            </a:r>
          </a:p>
        </p:txBody>
      </p:sp>
      <p:sp>
        <p:nvSpPr>
          <p:cNvPr id="17" name="fit:f2ae1b802e44768f 18"/>
          <p:cNvSpPr/>
          <p:nvPr/>
        </p:nvSpPr>
        <p:spPr>
          <a:xfrm>
            <a:off x="612648" y="4745736"/>
            <a:ext cx="10972800" cy="402336"/>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0E8A7D"/>
                </a:solidFill>
                <a:latin typeface="Malgun Gothic"/>
                <a:ea typeface="Malgun Gothic"/>
                <a:cs typeface="Malgun Gothic"/>
              </a:rPr>
              <a:t>0/1 배낭에서 무게당 가치 그리디는 최적해를 보장하지 못합니다.</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5.5  그리디가 통하는 조건</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그리디가 최적해를 보장하는 두 조건</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44</a:t>
            </a:r>
            <a:endParaRPr lang="ko-KR" altLang="en-US" sz="1050" b="0" dirty="0">
              <a:solidFill>
                <a:srgbClr val="606060"/>
              </a:solidFill>
              <a:latin typeface="Malgun Gothic"/>
              <a:ea typeface="Malgun Gothic"/>
              <a:cs typeface="Malgun Gothic"/>
            </a:endParaRPr>
          </a:p>
        </p:txBody>
      </p:sp>
      <p:sp>
        <p:nvSpPr>
          <p:cNvPr id="9" name="fit:e9016a93db067e93 10"/>
          <p:cNvSpPr/>
          <p:nvPr/>
        </p:nvSpPr>
        <p:spPr>
          <a:xfrm>
            <a:off x="612648" y="1636776"/>
            <a:ext cx="10972800" cy="630936"/>
          </a:xfrm>
          <a:prstGeom prst="rect">
            <a:avLst/>
          </a:prstGeom>
          <a:noFill/>
          <a:ln w="0">
            <a:noFill/>
          </a:ln>
        </p:spPr>
        <p:txBody>
          <a:bodyPr wrap="square" lIns="0" tIns="0" rIns="0" bIns="0" anchor="t">
            <a:noAutofit/>
          </a:bodyPr>
          <a:lstStyle/>
          <a:p>
            <a:pPr algn="l" eaLnBrk="0" latinLnBrk="0">
              <a:lnSpc>
                <a:spcPct val="100000"/>
              </a:lnSpc>
              <a:buNone/>
            </a:pPr>
            <a:r>
              <a:rPr lang="ko-KR" altLang="en-US" sz="1950" b="0" dirty="0">
                <a:solidFill>
                  <a:srgbClr val="171717"/>
                </a:solidFill>
                <a:latin typeface="Malgun Gothic"/>
                <a:ea typeface="Malgun Gothic"/>
                <a:cs typeface="Malgun Gothic"/>
              </a:rPr>
              <a:t>그리디는 매 단계 지금 기준의 최선을 확정하고 되돌리지 않습니다.</a:t>
            </a:r>
          </a:p>
          <a:p>
            <a:pPr algn="l" eaLnBrk="0" latinLnBrk="0">
              <a:lnSpc>
                <a:spcPct val="100000"/>
              </a:lnSpc>
              <a:buNone/>
            </a:pPr>
            <a:r>
              <a:rPr lang="ko-KR" altLang="en-US" sz="1950" b="0" dirty="0">
                <a:solidFill>
                  <a:srgbClr val="171717"/>
                </a:solidFill>
                <a:latin typeface="Malgun Gothic"/>
                <a:ea typeface="Malgun Gothic"/>
                <a:cs typeface="Malgun Gothic"/>
              </a:rPr>
              <a:t>이 방식이 최적해를 낸다고 보장하려면 두 성질을 보여야 합니다.</a:t>
            </a:r>
          </a:p>
        </p:txBody>
      </p:sp>
      <p:sp>
        <p:nvSpPr>
          <p:cNvPr id="10" name="직사각형 11"/>
          <p:cNvSpPr/>
          <p:nvPr/>
        </p:nvSpPr>
        <p:spPr>
          <a:xfrm>
            <a:off x="658368" y="2414016"/>
            <a:ext cx="5257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1" name="직사각형 12"/>
          <p:cNvSpPr/>
          <p:nvPr/>
        </p:nvSpPr>
        <p:spPr>
          <a:xfrm>
            <a:off x="749808" y="2596896"/>
            <a:ext cx="50749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0E8A7D"/>
                </a:solidFill>
                <a:latin typeface="Malgun Gothic"/>
                <a:ea typeface="Malgun Gothic"/>
                <a:cs typeface="Malgun Gothic"/>
              </a:rPr>
              <a:t>① 탐욕적 선택 속성</a:t>
            </a:r>
          </a:p>
        </p:txBody>
      </p:sp>
      <p:sp>
        <p:nvSpPr>
          <p:cNvPr id="12" name="직사각형 13"/>
          <p:cNvSpPr/>
          <p:nvPr/>
        </p:nvSpPr>
        <p:spPr>
          <a:xfrm>
            <a:off x="749808" y="3017520"/>
            <a:ext cx="5074920" cy="1097280"/>
          </a:xfrm>
          <a:prstGeom prst="rect">
            <a:avLst/>
          </a:prstGeom>
          <a:noFill/>
          <a:ln w="0">
            <a:noFill/>
          </a:ln>
        </p:spPr>
        <p:txBody>
          <a:bodyPr wrap="square" lIns="0" tIns="0" rIns="0" bIns="0" anchor="t">
            <a:noAutofit/>
          </a:bodyPr>
          <a:lstStyle/>
          <a:p>
            <a:pPr algn="ctr" eaLnBrk="0" latinLnBrk="0">
              <a:lnSpc>
                <a:spcPct val="110000"/>
              </a:lnSpc>
              <a:buNone/>
            </a:pPr>
            <a:r>
              <a:rPr lang="ko-KR" altLang="en-US" sz="1500" b="0" dirty="0">
                <a:solidFill>
                  <a:srgbClr val="171717"/>
                </a:solidFill>
                <a:latin typeface="Malgun Gothic"/>
                <a:ea typeface="Malgun Gothic"/>
                <a:cs typeface="Malgun Gothic"/>
              </a:rPr>
              <a:t>greedy choice property</a:t>
            </a:r>
          </a:p>
          <a:p>
            <a:pPr algn="ctr" eaLnBrk="0" latinLnBrk="0">
              <a:lnSpc>
                <a:spcPct val="110000"/>
              </a:lnSpc>
              <a:buNone/>
            </a:pPr>
            <a:r>
              <a:rPr lang="ko-KR" altLang="en-US" sz="1500" b="0" dirty="0">
                <a:solidFill>
                  <a:srgbClr val="171717"/>
                </a:solidFill>
                <a:latin typeface="Malgun Gothic"/>
                <a:ea typeface="Malgun Gothic"/>
                <a:cs typeface="Malgun Gothic"/>
              </a:rPr>
              <a:t>지금 가장 좋아 보이는 선택을</a:t>
            </a:r>
          </a:p>
          <a:p>
            <a:pPr algn="ctr" eaLnBrk="0" latinLnBrk="0">
              <a:lnSpc>
                <a:spcPct val="110000"/>
              </a:lnSpc>
              <a:buNone/>
            </a:pPr>
            <a:r>
              <a:rPr lang="ko-KR" altLang="en-US" sz="1500" b="0" dirty="0">
                <a:solidFill>
                  <a:srgbClr val="171717"/>
                </a:solidFill>
                <a:latin typeface="Malgun Gothic"/>
                <a:ea typeface="Malgun Gothic"/>
                <a:cs typeface="Malgun Gothic"/>
              </a:rPr>
              <a:t>포함하는 최적해가 있다</a:t>
            </a:r>
          </a:p>
        </p:txBody>
      </p:sp>
      <p:sp>
        <p:nvSpPr>
          <p:cNvPr id="13" name="직사각형 14"/>
          <p:cNvSpPr/>
          <p:nvPr/>
        </p:nvSpPr>
        <p:spPr>
          <a:xfrm>
            <a:off x="6281928" y="2414016"/>
            <a:ext cx="5257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4" name="직사각형 15"/>
          <p:cNvSpPr/>
          <p:nvPr/>
        </p:nvSpPr>
        <p:spPr>
          <a:xfrm>
            <a:off x="6373368" y="2596896"/>
            <a:ext cx="5074920" cy="365760"/>
          </a:xfrm>
          <a:prstGeom prst="rect">
            <a:avLst/>
          </a:prstGeom>
          <a:noFill/>
          <a:ln w="0">
            <a:noFill/>
          </a:ln>
        </p:spPr>
        <p:txBody>
          <a:bodyPr wrap="square" lIns="0" tIns="0" rIns="0" bIns="0" anchor="ctr">
            <a:noAutofit/>
          </a:bodyPr>
          <a:lstStyle/>
          <a:p>
            <a:pPr algn="ctr" eaLnBrk="0" latinLnBrk="0">
              <a:lnSpc>
                <a:spcPct val="100000"/>
              </a:lnSpc>
              <a:buNone/>
            </a:pPr>
            <a:r>
              <a:rPr lang="ko-KR" altLang="en-US" sz="1650" b="1" dirty="0">
                <a:solidFill>
                  <a:srgbClr val="0E8A7D"/>
                </a:solidFill>
                <a:latin typeface="Malgun Gothic"/>
                <a:ea typeface="Malgun Gothic"/>
                <a:cs typeface="Malgun Gothic"/>
              </a:rPr>
              <a:t>② 최적 부분 구조</a:t>
            </a:r>
          </a:p>
        </p:txBody>
      </p:sp>
      <p:sp>
        <p:nvSpPr>
          <p:cNvPr id="15" name="직사각형 16"/>
          <p:cNvSpPr/>
          <p:nvPr/>
        </p:nvSpPr>
        <p:spPr>
          <a:xfrm>
            <a:off x="6373368" y="3017520"/>
            <a:ext cx="5074920" cy="1097280"/>
          </a:xfrm>
          <a:prstGeom prst="rect">
            <a:avLst/>
          </a:prstGeom>
          <a:noFill/>
          <a:ln w="0">
            <a:noFill/>
          </a:ln>
        </p:spPr>
        <p:txBody>
          <a:bodyPr wrap="square" lIns="0" tIns="0" rIns="0" bIns="0" anchor="t">
            <a:noAutofit/>
          </a:bodyPr>
          <a:lstStyle/>
          <a:p>
            <a:pPr algn="ctr" eaLnBrk="0" latinLnBrk="0">
              <a:lnSpc>
                <a:spcPct val="110000"/>
              </a:lnSpc>
              <a:buNone/>
            </a:pPr>
            <a:r>
              <a:rPr lang="ko-KR" altLang="en-US" sz="1500" b="0" dirty="0">
                <a:solidFill>
                  <a:srgbClr val="171717"/>
                </a:solidFill>
                <a:latin typeface="Malgun Gothic"/>
                <a:ea typeface="Malgun Gothic"/>
                <a:cs typeface="Malgun Gothic"/>
              </a:rPr>
              <a:t>optimal substructure</a:t>
            </a:r>
          </a:p>
          <a:p>
            <a:pPr algn="ctr" eaLnBrk="0" latinLnBrk="0">
              <a:lnSpc>
                <a:spcPct val="110000"/>
              </a:lnSpc>
              <a:buNone/>
            </a:pPr>
            <a:r>
              <a:rPr lang="ko-KR" altLang="en-US" sz="1500" b="0" dirty="0">
                <a:solidFill>
                  <a:srgbClr val="171717"/>
                </a:solidFill>
                <a:latin typeface="Malgun Gothic"/>
                <a:ea typeface="Malgun Gothic"/>
                <a:cs typeface="Malgun Gothic"/>
              </a:rPr>
              <a:t>그 선택을 하고 남은 문제의 최적해가</a:t>
            </a:r>
          </a:p>
          <a:p>
            <a:pPr algn="ctr" eaLnBrk="0" latinLnBrk="0">
              <a:lnSpc>
                <a:spcPct val="110000"/>
              </a:lnSpc>
              <a:buNone/>
            </a:pPr>
            <a:r>
              <a:rPr lang="ko-KR" altLang="en-US" sz="1500" b="0" dirty="0">
                <a:solidFill>
                  <a:srgbClr val="171717"/>
                </a:solidFill>
                <a:latin typeface="Malgun Gothic"/>
                <a:ea typeface="Malgun Gothic"/>
                <a:cs typeface="Malgun Gothic"/>
              </a:rPr>
              <a:t>전체 최적해의 나머지가 된다</a:t>
            </a:r>
          </a:p>
        </p:txBody>
      </p:sp>
      <p:sp>
        <p:nvSpPr>
          <p:cNvPr id="16" name="fit:8f37c4c1ed1b2c20 17"/>
          <p:cNvSpPr/>
          <p:nvPr/>
        </p:nvSpPr>
        <p:spPr>
          <a:xfrm>
            <a:off x="658368" y="4151376"/>
            <a:ext cx="10881360" cy="374904"/>
          </a:xfrm>
          <a:prstGeom prst="rect">
            <a:avLst/>
          </a:prstGeom>
          <a:noFill/>
          <a:ln w="0">
            <a:noFill/>
          </a:ln>
        </p:spPr>
        <p:txBody>
          <a:bodyPr wrap="square" lIns="0" tIns="0" rIns="0" bIns="0" anchor="t">
            <a:noAutofit/>
          </a:bodyPr>
          <a:lstStyle/>
          <a:p>
            <a:pPr algn="l" eaLnBrk="0" latinLnBrk="0">
              <a:lnSpc>
                <a:spcPct val="100000"/>
              </a:lnSpc>
              <a:buNone/>
            </a:pPr>
            <a:r>
              <a:rPr lang="ko-KR" altLang="en-US" sz="2200" b="1" dirty="0">
                <a:solidFill>
                  <a:srgbClr val="0E8A7D"/>
                </a:solidFill>
                <a:latin typeface="Malgun Gothic"/>
                <a:ea typeface="Malgun Gothic"/>
                <a:cs typeface="Malgun Gothic"/>
              </a:rPr>
              <a:t>①로 첫 선택이 안전하고, ②로 남은 문제를 같은 방법으로 풀 수 있습니다.</a:t>
            </a:r>
          </a:p>
        </p:txBody>
      </p:sp>
      <p:sp>
        <p:nvSpPr>
          <p:cNvPr id="17" name="fit:eb0e0f8baff1c98d 18"/>
          <p:cNvSpPr/>
          <p:nvPr/>
        </p:nvSpPr>
        <p:spPr>
          <a:xfrm>
            <a:off x="658368" y="4636008"/>
            <a:ext cx="1088136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이 둘을 단계마다 이어 붙이면 그리디의 답이 전체 최적해가 됩니다. 둘 중 하나라도 보이지 못하면 보장이 사라집니다.</a:t>
            </a:r>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5.5  그리디가 통하는 조건</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① 탐욕적 선택 속성 (greedy choice property)</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45</a:t>
            </a:r>
            <a:endParaRPr lang="ko-KR" altLang="en-US" sz="1050" b="0" dirty="0">
              <a:solidFill>
                <a:srgbClr val="606060"/>
              </a:solidFill>
              <a:latin typeface="Malgun Gothic"/>
              <a:ea typeface="Malgun Gothic"/>
              <a:cs typeface="Malgun Gothic"/>
            </a:endParaRPr>
          </a:p>
        </p:txBody>
      </p:sp>
      <p:sp>
        <p:nvSpPr>
          <p:cNvPr id="9" name="fit:da8048fa2cbba117 10"/>
          <p:cNvSpPr/>
          <p:nvPr/>
        </p:nvSpPr>
        <p:spPr>
          <a:xfrm>
            <a:off x="612648" y="1636776"/>
            <a:ext cx="10972800" cy="667512"/>
          </a:xfrm>
          <a:prstGeom prst="rect">
            <a:avLst/>
          </a:prstGeom>
          <a:noFill/>
          <a:ln w="0">
            <a:noFill/>
          </a:ln>
        </p:spPr>
        <p:txBody>
          <a:bodyPr wrap="square" lIns="0" tIns="0" rIns="0" bIns="0" anchor="t">
            <a:noAutofit/>
          </a:bodyPr>
          <a:lstStyle/>
          <a:p>
            <a:pPr algn="l" eaLnBrk="0" latinLnBrk="0">
              <a:lnSpc>
                <a:spcPct val="105000"/>
              </a:lnSpc>
              <a:buNone/>
            </a:pPr>
            <a:r>
              <a:rPr lang="ko-KR" altLang="en-US" sz="2025" b="0" dirty="0">
                <a:solidFill>
                  <a:srgbClr val="171717"/>
                </a:solidFill>
                <a:latin typeface="Malgun Gothic"/>
                <a:ea typeface="Malgun Gothic"/>
                <a:cs typeface="Malgun Gothic"/>
              </a:rPr>
              <a:t>지금 기준으로 가장 좋아 보이는 선택을 해도, 그 선택을 포함하는 최적해가 적어도 하나 있다는 성질입니다.</a:t>
            </a:r>
          </a:p>
        </p:txBody>
      </p:sp>
      <p:sp>
        <p:nvSpPr>
          <p:cNvPr id="10" name="fit:ff74592b4967b429 11"/>
          <p:cNvSpPr/>
          <p:nvPr/>
        </p:nvSpPr>
        <p:spPr>
          <a:xfrm>
            <a:off x="612648" y="2432304"/>
            <a:ext cx="10972800" cy="402336"/>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0E8A7D"/>
                </a:solidFill>
                <a:latin typeface="Malgun Gothic"/>
                <a:ea typeface="Malgun Gothic"/>
                <a:cs typeface="Malgun Gothic"/>
              </a:rPr>
              <a:t>판별 질문: 이 선택을 포함하는 최적해가 있는가?</a:t>
            </a:r>
          </a:p>
        </p:txBody>
      </p:sp>
      <p:sp>
        <p:nvSpPr>
          <p:cNvPr id="11" name="fit:7d1e5cef806786a7 12"/>
          <p:cNvSpPr/>
          <p:nvPr/>
        </p:nvSpPr>
        <p:spPr>
          <a:xfrm>
            <a:off x="612648" y="2944368"/>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예</a:t>
            </a:r>
          </a:p>
        </p:txBody>
      </p:sp>
      <p:sp>
        <p:nvSpPr>
          <p:cNvPr id="12" name="fit:84a1dec647adb88c 13"/>
          <p:cNvSpPr/>
          <p:nvPr/>
        </p:nvSpPr>
        <p:spPr>
          <a:xfrm>
            <a:off x="795528" y="3273552"/>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그 선택을 확정하고 남은 문제로 넘어가도 최적해를 놓치지 않습니다.</a:t>
            </a:r>
          </a:p>
        </p:txBody>
      </p:sp>
      <p:sp>
        <p:nvSpPr>
          <p:cNvPr id="13" name="fit:7dcb18da4e339036 14"/>
          <p:cNvSpPr/>
          <p:nvPr/>
        </p:nvSpPr>
        <p:spPr>
          <a:xfrm>
            <a:off x="612648" y="3657600"/>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아니오</a:t>
            </a:r>
          </a:p>
        </p:txBody>
      </p:sp>
      <p:sp>
        <p:nvSpPr>
          <p:cNvPr id="14" name="fit:06b28aa1c99695bf 15"/>
          <p:cNvSpPr/>
          <p:nvPr/>
        </p:nvSpPr>
        <p:spPr>
          <a:xfrm>
            <a:off x="795528" y="3986784"/>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그 선택을 하는 순간 최적해로 가는 길이 모두 막힙니다.</a:t>
            </a:r>
          </a:p>
        </p:txBody>
      </p:sp>
      <p:sp>
        <p:nvSpPr>
          <p:cNvPr id="15" name="fit:b456af62ded74b9b 16"/>
          <p:cNvSpPr/>
          <p:nvPr/>
        </p:nvSpPr>
        <p:spPr>
          <a:xfrm>
            <a:off x="612648" y="4370832"/>
            <a:ext cx="1097280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"안전하다"는 다른 선택보다 더 좋다는 뜻이 아니라, 이 선택을 해도 최적해로 가는 길이 남아 있다는 뜻입니다. 최적해가 여러 개라면 그중 하나만 이 선택을 포함해도 됩니다.</a:t>
            </a:r>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5.5  그리디가 통하는 조건</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교환 논증의 핵심</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46</a:t>
            </a:r>
            <a:endParaRPr lang="ko-KR" altLang="en-US" sz="1050" b="0" dirty="0">
              <a:solidFill>
                <a:srgbClr val="606060"/>
              </a:solidFill>
              <a:latin typeface="Malgun Gothic"/>
              <a:ea typeface="Malgun Gothic"/>
              <a:cs typeface="Malgun Gothic"/>
            </a:endParaRPr>
          </a:p>
        </p:txBody>
      </p:sp>
      <p:sp>
        <p:nvSpPr>
          <p:cNvPr id="9" name="fit:075aa79d3a3cab7b 10"/>
          <p:cNvSpPr/>
          <p:nvPr/>
        </p:nvSpPr>
        <p:spPr>
          <a:xfrm>
            <a:off x="612648" y="1636776"/>
            <a:ext cx="10972800" cy="402336"/>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0E8A7D"/>
                </a:solidFill>
                <a:latin typeface="Malgun Gothic"/>
                <a:ea typeface="Malgun Gothic"/>
                <a:cs typeface="Malgun Gothic"/>
              </a:rPr>
              <a:t>최적해의 일부를 탐욕 선택으로 바꿔도 여전히 최적해임을 보입니다.</a:t>
            </a:r>
          </a:p>
        </p:txBody>
      </p:sp>
      <p:sp>
        <p:nvSpPr>
          <p:cNvPr id="10" name="fit:0543bbfcadfb527b 11"/>
          <p:cNvSpPr/>
          <p:nvPr/>
        </p:nvSpPr>
        <p:spPr>
          <a:xfrm>
            <a:off x="612648" y="2148840"/>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① 어떤 최적해 O에서 시작합니다</a:t>
            </a:r>
          </a:p>
        </p:txBody>
      </p:sp>
      <p:sp>
        <p:nvSpPr>
          <p:cNvPr id="11" name="fit:778e49bc6fc4af9d 12"/>
          <p:cNvSpPr/>
          <p:nvPr/>
        </p:nvSpPr>
        <p:spPr>
          <a:xfrm>
            <a:off x="795528" y="2478024"/>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O에 탐욕 선택 g가 없다고 합시다.</a:t>
            </a:r>
          </a:p>
        </p:txBody>
      </p:sp>
      <p:sp>
        <p:nvSpPr>
          <p:cNvPr id="12" name="fit:aeef3f2e8ea647cf 13"/>
          <p:cNvSpPr/>
          <p:nvPr/>
        </p:nvSpPr>
        <p:spPr>
          <a:xfrm>
            <a:off x="612648" y="2862072"/>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② O의 일부를 g로 바꿉니다</a:t>
            </a:r>
          </a:p>
        </p:txBody>
      </p:sp>
      <p:sp>
        <p:nvSpPr>
          <p:cNvPr id="13" name="fit:8c8ea80a6aff296d 14"/>
          <p:cNvSpPr/>
          <p:nvPr/>
        </p:nvSpPr>
        <p:spPr>
          <a:xfrm>
            <a:off x="795528" y="3191256"/>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바꾼 O′도 문제의 조건(겹치지 않음, 용량, 금액)을 지킵니다.</a:t>
            </a:r>
          </a:p>
        </p:txBody>
      </p:sp>
      <p:sp>
        <p:nvSpPr>
          <p:cNvPr id="14" name="fit:fef3bc31f9cf10dd 15"/>
          <p:cNvSpPr/>
          <p:nvPr/>
        </p:nvSpPr>
        <p:spPr>
          <a:xfrm>
            <a:off x="612648" y="3575304"/>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③ 값이 나빠지지 않음을 보입니다</a:t>
            </a:r>
          </a:p>
        </p:txBody>
      </p:sp>
      <p:sp>
        <p:nvSpPr>
          <p:cNvPr id="15" name="fit:4c49ef934ca2f6cd 16"/>
          <p:cNvSpPr/>
          <p:nvPr/>
        </p:nvSpPr>
        <p:spPr>
          <a:xfrm>
            <a:off x="795528" y="3904488"/>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O′의 값이 O보다 나쁘지 않으면 O′도 최적해이고, O′에는 g가 들어 있습니다.</a:t>
            </a:r>
          </a:p>
        </p:txBody>
      </p:sp>
      <p:graphicFrame>
        <p:nvGraphicFramePr>
          <p:cNvPr id="16" name="표 17"/>
          <p:cNvGraphicFramePr>
            <a:graphicFrameLocks noGrp="1"/>
          </p:cNvGraphicFramePr>
          <p:nvPr>
            <p:extLst>
              <p:ext uri="{D42A27DB-BD31-4B8C-83A1-F6EECF244321}">
                <p14:modId xmlns:p14="http://schemas.microsoft.com/office/powerpoint/2010/main" val="1569709295"/>
              </p:ext>
            </p:extLst>
          </p:nvPr>
        </p:nvGraphicFramePr>
        <p:xfrm>
          <a:off x="612648" y="4288536"/>
          <a:ext cx="10972800" cy="1243584"/>
        </p:xfrm>
        <a:graphic>
          <a:graphicData uri="http://schemas.openxmlformats.org/drawingml/2006/table">
            <a:tbl>
              <a:tblPr/>
              <a:tblGrid>
                <a:gridCol w="2438400">
                  <a:extLst>
                    <a:ext uri="{9D8B030D-6E8A-4147-A177-3AD203B41FA5}">
                      <a16:colId xmlns:a16="http://schemas.microsoft.com/office/drawing/2014/main" val="20000"/>
                    </a:ext>
                  </a:extLst>
                </a:gridCol>
                <a:gridCol w="3962400">
                  <a:extLst>
                    <a:ext uri="{9D8B030D-6E8A-4147-A177-3AD203B41FA5}">
                      <a16:colId xmlns:a16="http://schemas.microsoft.com/office/drawing/2014/main" val="20001"/>
                    </a:ext>
                  </a:extLst>
                </a:gridCol>
                <a:gridCol w="4572000">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예</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바꾸는 것</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나빠지지 않는 이유</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활동 선택 (5.3)</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O의 첫 회의 → 1번 [1, 3)</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1번이 더 일찍 끝나 겹치지 않고, 개수 그대로</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분할 배낭 (5.4)</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안의 B·C 1kg → 밖의 A 1kg</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1kg당 600 G → 700 G, 가치가 늘어남</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표준 동전 (5.2)</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100원 5개 → 500원 1개</a:t>
                      </a:r>
                    </a:p>
                  </a:txBody>
                  <a:tcPr marL="54864" marR="54864" marT="18288" marB="18288" anchor="ctr">
                    <a:solidFill>
                      <a:srgbClr val="FFFFFF"/>
                    </a:solidFill>
                  </a:tcPr>
                </a:tc>
                <a:tc>
                  <a:txBody>
                    <a:bodyPr/>
                    <a:lstStyle/>
                    <a:p>
                      <a:pPr algn="ctr" eaLnBrk="0" latinLnBrk="0">
                        <a:lnSpc>
                          <a:spcPct val="100000"/>
                        </a:lnSpc>
                        <a:buNone/>
                      </a:pPr>
                      <a:r>
                        <a:rPr lang="ko-KR" altLang="en-US" sz="1400" b="0">
                          <a:solidFill>
                            <a:srgbClr val="151515"/>
                          </a:solidFill>
                          <a:latin typeface="Malgun Gothic"/>
                          <a:ea typeface="Malgun Gothic"/>
                          <a:cs typeface="Malgun Gothic"/>
                        </a:rPr>
                        <a:t>같은 금액을 동전 </a:t>
                      </a:r>
                      <a:r>
                        <a:rPr lang="en-US" altLang="ko-KR" sz="1400" b="0">
                          <a:solidFill>
                            <a:srgbClr val="151515"/>
                          </a:solidFill>
                          <a:latin typeface="Malgun Gothic"/>
                          <a:ea typeface="Malgun Gothic"/>
                          <a:cs typeface="Malgun Gothic"/>
                        </a:rPr>
                        <a:t>4</a:t>
                      </a:r>
                      <a:r>
                        <a:rPr lang="ko-KR" altLang="en-US" sz="1400" b="0">
                          <a:solidFill>
                            <a:srgbClr val="151515"/>
                          </a:solidFill>
                          <a:latin typeface="Malgun Gothic"/>
                          <a:ea typeface="Malgun Gothic"/>
                          <a:cs typeface="Malgun Gothic"/>
                        </a:rPr>
                        <a:t>개 적게</a:t>
                      </a:r>
                      <a:endParaRPr lang="ko-KR" altLang="en-US" sz="1400" b="0" dirty="0">
                        <a:solidFill>
                          <a:srgbClr val="151515"/>
                        </a:solidFill>
                        <a:latin typeface="Malgun Gothic"/>
                        <a:ea typeface="Malgun Gothic"/>
                        <a:cs typeface="Malgun Gothic"/>
                      </a:endParaRP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7" name="fit:7ff1daad6120779c 18"/>
          <p:cNvSpPr/>
          <p:nvPr/>
        </p:nvSpPr>
        <p:spPr>
          <a:xfrm>
            <a:off x="612648" y="567842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결론은 늘 같습니다. 탐욕 선택을 포함하는 최적해가 있다 → 탐욕적 선택 속성이 성립합니다.</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5.5  그리디가 통하는 조건</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② 최적 부분 구조 (optimal substructure)</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47</a:t>
            </a:r>
            <a:endParaRPr lang="ko-KR" altLang="en-US" sz="1050" b="0" dirty="0">
              <a:solidFill>
                <a:srgbClr val="606060"/>
              </a:solidFill>
              <a:latin typeface="Malgun Gothic"/>
              <a:ea typeface="Malgun Gothic"/>
              <a:cs typeface="Malgun Gothic"/>
            </a:endParaRPr>
          </a:p>
        </p:txBody>
      </p:sp>
      <p:sp>
        <p:nvSpPr>
          <p:cNvPr id="9" name="fit:4b2df7395048251b 10"/>
          <p:cNvSpPr/>
          <p:nvPr/>
        </p:nvSpPr>
        <p:spPr>
          <a:xfrm>
            <a:off x="658368" y="1737360"/>
            <a:ext cx="5120640" cy="1170432"/>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선택하고 남은 부분 문제(하위 문제)의 최적해에 그 선택을 더하면 전체 최적해가 된다는 성질입니다. 거꾸로 말하면 전체 최적해 안에 부분 문제의 최적해가 들어 있습니다.</a:t>
            </a:r>
          </a:p>
        </p:txBody>
      </p:sp>
      <p:sp>
        <p:nvSpPr>
          <p:cNvPr id="10" name="fit:9ea371377acf8344 11"/>
          <p:cNvSpPr/>
          <p:nvPr/>
        </p:nvSpPr>
        <p:spPr>
          <a:xfrm>
            <a:off x="658368" y="3035808"/>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예: 활동 선택</a:t>
            </a:r>
          </a:p>
        </p:txBody>
      </p:sp>
      <p:sp>
        <p:nvSpPr>
          <p:cNvPr id="11" name="fit:fe7c3a85be490736 12"/>
          <p:cNvSpPr/>
          <p:nvPr/>
        </p:nvSpPr>
        <p:spPr>
          <a:xfrm>
            <a:off x="841248" y="3364992"/>
            <a:ext cx="4937760" cy="77724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1번 [1, 3)을 고르면 남은 문제는 "3시 이후에 시작하는 회의 중 최대 개수 고르기"입니다. 그 최적해에 1번을 더하면 전체 최적해가 됩니다.</a:t>
            </a:r>
          </a:p>
        </p:txBody>
      </p:sp>
      <p:sp>
        <p:nvSpPr>
          <p:cNvPr id="12" name="fit:83a860a318d281b9 13"/>
          <p:cNvSpPr/>
          <p:nvPr/>
        </p:nvSpPr>
        <p:spPr>
          <a:xfrm>
            <a:off x="658368" y="4251960"/>
            <a:ext cx="512064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그리디는 선택을 확정한 뒤 남은 문제를 같은 방법으로 풉니다. 그래서 이 성질이 필요합니다.</a:t>
            </a:r>
          </a:p>
        </p:txBody>
      </p:sp>
      <p:sp>
        <p:nvSpPr>
          <p:cNvPr id="13" name="fit:3a5405e8e2e35d0d 14"/>
          <p:cNvSpPr/>
          <p:nvPr/>
        </p:nvSpPr>
        <p:spPr>
          <a:xfrm>
            <a:off x="658368" y="4901184"/>
            <a:ext cx="512064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4장의 최대 구간 합처럼 분할 정복으로 푸는 최적화 문제, 6장의 동적 계획법도 이 성질을 씁니다.</a:t>
            </a:r>
          </a:p>
        </p:txBody>
      </p:sp>
      <p:pic>
        <p:nvPicPr>
          <p:cNvPr id="14" name="그림 15"/>
          <p:cNvPicPr>
            <a:picLocks noChangeAspect="1"/>
          </p:cNvPicPr>
          <p:nvPr/>
        </p:nvPicPr>
        <p:blipFill>
          <a:blip r:embed="rId3"/>
          <a:stretch>
            <a:fillRect/>
          </a:stretch>
        </p:blipFill>
        <p:spPr>
          <a:xfrm>
            <a:off x="6126480" y="2441899"/>
            <a:ext cx="5458968" cy="2980042"/>
          </a:xfrm>
          <a:prstGeom prst="rect">
            <a:avLst/>
          </a:prstGeom>
        </p:spPr>
      </p:pic>
      <p:sp>
        <p:nvSpPr>
          <p:cNvPr id="15" name="직사각형 16"/>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작은 문제의 최적해(그림의 최적 부분해)를 모아 전체 최적해(그림의 전역 최적해)를 만듭니다.</a:t>
            </a:r>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5.5  그리디가 통하는 조건</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주의: ②만으로는 그리디를 보장할 수 없다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48</a:t>
            </a:r>
            <a:endParaRPr lang="ko-KR" altLang="en-US" sz="1050" b="0" dirty="0">
              <a:solidFill>
                <a:srgbClr val="606060"/>
              </a:solidFill>
              <a:latin typeface="Malgun Gothic"/>
              <a:ea typeface="Malgun Gothic"/>
              <a:cs typeface="Malgun Gothic"/>
            </a:endParaRPr>
          </a:p>
        </p:txBody>
      </p:sp>
      <p:graphicFrame>
        <p:nvGraphicFramePr>
          <p:cNvPr id="9" name="표 10"/>
          <p:cNvGraphicFramePr>
            <a:graphicFrameLocks noGrp="1"/>
          </p:cNvGraphicFramePr>
          <p:nvPr>
            <p:extLst>
              <p:ext uri="{D42A27DB-BD31-4B8C-83A1-F6EECF244321}">
                <p14:modId xmlns:p14="http://schemas.microsoft.com/office/powerpoint/2010/main" val="3515759034"/>
              </p:ext>
            </p:extLst>
          </p:nvPr>
        </p:nvGraphicFramePr>
        <p:xfrm>
          <a:off x="612648" y="1636776"/>
          <a:ext cx="10972800" cy="2304288"/>
        </p:xfrm>
        <a:graphic>
          <a:graphicData uri="http://schemas.openxmlformats.org/drawingml/2006/table">
            <a:tbl>
              <a:tblPr/>
              <a:tblGrid>
                <a:gridCol w="4014439">
                  <a:extLst>
                    <a:ext uri="{9D8B030D-6E8A-4147-A177-3AD203B41FA5}">
                      <a16:colId xmlns:a16="http://schemas.microsoft.com/office/drawing/2014/main" val="20000"/>
                    </a:ext>
                  </a:extLst>
                </a:gridCol>
                <a:gridCol w="1873405">
                  <a:extLst>
                    <a:ext uri="{9D8B030D-6E8A-4147-A177-3AD203B41FA5}">
                      <a16:colId xmlns:a16="http://schemas.microsoft.com/office/drawing/2014/main" val="20001"/>
                    </a:ext>
                  </a:extLst>
                </a:gridCol>
                <a:gridCol w="2141034">
                  <a:extLst>
                    <a:ext uri="{9D8B030D-6E8A-4147-A177-3AD203B41FA5}">
                      <a16:colId xmlns:a16="http://schemas.microsoft.com/office/drawing/2014/main" val="20002"/>
                    </a:ext>
                  </a:extLst>
                </a:gridCol>
                <a:gridCol w="2943922">
                  <a:extLst>
                    <a:ext uri="{9D8B030D-6E8A-4147-A177-3AD203B41FA5}">
                      <a16:colId xmlns:a16="http://schemas.microsoft.com/office/drawing/2014/main" val="20003"/>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문제 (그리디의 기준)</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① 탐욕적 선택</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② 최적 부분 구조</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그리디의 결과</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활동 선택 (종료가 빠른 순)</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256B50"/>
                          </a:solidFill>
                          <a:latin typeface="Malgun Gothic"/>
                          <a:ea typeface="Malgun Gothic"/>
                          <a:cs typeface="Malgun Gothic"/>
                        </a:rPr>
                        <a:t>최적</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분할 배낭 (무게당 가치 순)</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256B50"/>
                          </a:solidFill>
                          <a:latin typeface="Malgun Gothic"/>
                          <a:ea typeface="Malgun Gothic"/>
                          <a:cs typeface="Malgun Gothic"/>
                        </a:rPr>
                        <a:t>최적</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en-US" altLang="ko-KR" sz="1500" b="0">
                          <a:solidFill>
                            <a:srgbClr val="151515"/>
                          </a:solidFill>
                          <a:latin typeface="Malgun Gothic"/>
                          <a:ea typeface="Malgun Gothic"/>
                          <a:cs typeface="Malgun Gothic"/>
                        </a:rPr>
                        <a:t>1·3·4</a:t>
                      </a:r>
                      <a:r>
                        <a:rPr lang="ko-KR" altLang="en-US" sz="1500" b="0">
                          <a:solidFill>
                            <a:srgbClr val="151515"/>
                          </a:solidFill>
                          <a:latin typeface="Malgun Gothic"/>
                          <a:ea typeface="Malgun Gothic"/>
                          <a:cs typeface="Malgun Gothic"/>
                        </a:rPr>
                        <a:t>원 동전 </a:t>
                      </a:r>
                      <a:r>
                        <a:rPr lang="en-US" altLang="ko-KR" sz="1500" b="0">
                          <a:solidFill>
                            <a:srgbClr val="151515"/>
                          </a:solidFill>
                          <a:latin typeface="Malgun Gothic"/>
                          <a:ea typeface="Malgun Gothic"/>
                          <a:cs typeface="Malgun Gothic"/>
                        </a:rPr>
                        <a:t>(</a:t>
                      </a:r>
                      <a:r>
                        <a:rPr lang="ko-KR" altLang="en-US" sz="1500" b="0">
                          <a:solidFill>
                            <a:srgbClr val="151515"/>
                          </a:solidFill>
                          <a:latin typeface="Malgun Gothic"/>
                          <a:ea typeface="Malgun Gothic"/>
                          <a:cs typeface="Malgun Gothic"/>
                        </a:rPr>
                        <a:t>큰 동전부터</a:t>
                      </a:r>
                      <a:r>
                        <a:rPr lang="en-US" altLang="ko-KR" sz="1500" b="0">
                          <a:solidFill>
                            <a:srgbClr val="151515"/>
                          </a:solidFill>
                          <a:latin typeface="Malgun Gothic"/>
                          <a:ea typeface="Malgun Gothic"/>
                          <a:cs typeface="Malgun Gothic"/>
                        </a:rPr>
                        <a:t>)</a:t>
                      </a:r>
                      <a:endParaRPr lang="ko-KR" altLang="en-US" sz="1500" b="0" dirty="0">
                        <a:solidFill>
                          <a:srgbClr val="151515"/>
                        </a:solidFill>
                        <a:latin typeface="Malgun Gothic"/>
                        <a:ea typeface="Malgun Gothic"/>
                        <a:cs typeface="Malgun Gothic"/>
                      </a:endParaRP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깨짐</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B23B3B"/>
                          </a:solidFill>
                          <a:latin typeface="Malgun Gothic"/>
                          <a:ea typeface="Malgun Gothic"/>
                          <a:cs typeface="Malgun Gothic"/>
                        </a:rPr>
                        <a:t>보장 못 함 → 6장 DP</a:t>
                      </a:r>
                    </a:p>
                  </a:txBody>
                  <a:tcPr marL="54864" marR="54864" marT="18288" marB="18288" anchor="ctr">
                    <a:solidFill>
                      <a:srgbClr val="FFFFFF"/>
                    </a:solidFill>
                  </a:tcPr>
                </a:tc>
                <a:extLst>
                  <a:ext uri="{0D108BD9-81ED-4DB2-BD59-A6C34878D82A}">
                    <a16:rowId xmlns:a16="http://schemas.microsoft.com/office/drawing/2014/main" val="10003"/>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0/1 배낭 (무게당 가치 순)</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깨짐</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B23B3B"/>
                          </a:solidFill>
                          <a:latin typeface="Malgun Gothic"/>
                          <a:ea typeface="Malgun Gothic"/>
                          <a:cs typeface="Malgun Gothic"/>
                        </a:rPr>
                        <a:t>보장 못 함 → 6장 DP</a:t>
                      </a:r>
                    </a:p>
                  </a:txBody>
                  <a:tcPr marL="54864" marR="54864" marT="18288" marB="18288" anchor="ctr">
                    <a:solidFill>
                      <a:srgbClr val="FFFFFF"/>
                    </a:solidFill>
                  </a:tcPr>
                </a:tc>
                <a:extLst>
                  <a:ext uri="{0D108BD9-81ED-4DB2-BD59-A6C34878D82A}">
                    <a16:rowId xmlns:a16="http://schemas.microsoft.com/office/drawing/2014/main" val="10004"/>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최단 경로, 간선 비용 ≥ 0 (다익스트라)</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256B50"/>
                          </a:solidFill>
                          <a:latin typeface="Malgun Gothic"/>
                          <a:ea typeface="Malgun Gothic"/>
                          <a:cs typeface="Malgun Gothic"/>
                        </a:rPr>
                        <a:t>최적 (5.8)</a:t>
                      </a:r>
                    </a:p>
                  </a:txBody>
                  <a:tcPr marL="54864" marR="54864" marT="18288" marB="18288" anchor="ctr">
                    <a:solidFill>
                      <a:srgbClr val="FFFFFF"/>
                    </a:solidFill>
                  </a:tcPr>
                </a:tc>
                <a:extLst>
                  <a:ext uri="{0D108BD9-81ED-4DB2-BD59-A6C34878D82A}">
                    <a16:rowId xmlns:a16="http://schemas.microsoft.com/office/drawing/2014/main" val="10005"/>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최단 경로, 음수 간선 (다익스트라)</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깨짐</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성립</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B23B3B"/>
                          </a:solidFill>
                          <a:latin typeface="Malgun Gothic"/>
                          <a:ea typeface="Malgun Gothic"/>
                          <a:cs typeface="Malgun Gothic"/>
                        </a:rPr>
                        <a:t>틀릴 수 있음 (5.8)</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p:sp>
        <p:nvSpPr>
          <p:cNvPr id="10" name="fit:4c9fe978979afa60 11"/>
          <p:cNvSpPr/>
          <p:nvPr/>
        </p:nvSpPr>
        <p:spPr>
          <a:xfrm>
            <a:off x="612648" y="4087368"/>
            <a:ext cx="10972800" cy="676656"/>
          </a:xfrm>
          <a:prstGeom prst="rect">
            <a:avLst/>
          </a:prstGeom>
          <a:noFill/>
          <a:ln w="0">
            <a:noFill/>
          </a:ln>
        </p:spPr>
        <p:txBody>
          <a:bodyPr wrap="square" lIns="0" tIns="0" rIns="0" bIns="0" anchor="t">
            <a:noAutofit/>
          </a:bodyPr>
          <a:lstStyle/>
          <a:p>
            <a:pPr algn="l" eaLnBrk="0" latinLnBrk="0">
              <a:lnSpc>
                <a:spcPct val="100000"/>
              </a:lnSpc>
              <a:buNone/>
            </a:pPr>
            <a:r>
              <a:rPr lang="en-US" altLang="ko-KR" sz="2100" b="1">
                <a:solidFill>
                  <a:srgbClr val="0E8A7D"/>
                </a:solidFill>
                <a:latin typeface="Malgun Gothic"/>
                <a:ea typeface="Malgun Gothic"/>
                <a:cs typeface="Malgun Gothic"/>
              </a:rPr>
              <a:t>1·3·4</a:t>
            </a:r>
            <a:r>
              <a:rPr lang="ko-KR" altLang="en-US" sz="2100" b="1">
                <a:solidFill>
                  <a:srgbClr val="0E8A7D"/>
                </a:solidFill>
                <a:latin typeface="Malgun Gothic"/>
                <a:ea typeface="Malgun Gothic"/>
                <a:cs typeface="Malgun Gothic"/>
              </a:rPr>
              <a:t>원 동전과 </a:t>
            </a:r>
            <a:r>
              <a:rPr lang="en-US" altLang="ko-KR" sz="2100" b="1">
                <a:solidFill>
                  <a:srgbClr val="0E8A7D"/>
                </a:solidFill>
                <a:latin typeface="Malgun Gothic"/>
                <a:ea typeface="Malgun Gothic"/>
                <a:cs typeface="Malgun Gothic"/>
              </a:rPr>
              <a:t>0/1 </a:t>
            </a:r>
            <a:r>
              <a:rPr lang="ko-KR" altLang="en-US" sz="2100" b="1">
                <a:solidFill>
                  <a:srgbClr val="0E8A7D"/>
                </a:solidFill>
                <a:latin typeface="Malgun Gothic"/>
                <a:ea typeface="Malgun Gothic"/>
                <a:cs typeface="Malgun Gothic"/>
              </a:rPr>
              <a:t>배낭은 </a:t>
            </a:r>
            <a:r>
              <a:rPr lang="ko-KR" altLang="en-US" sz="2100" b="1" dirty="0">
                <a:solidFill>
                  <a:srgbClr val="0E8A7D"/>
                </a:solidFill>
                <a:latin typeface="Malgun Gothic"/>
                <a:ea typeface="Malgun Gothic"/>
                <a:cs typeface="Malgun Gothic"/>
              </a:rPr>
              <a:t>①이 깨진 예입니다. ②는 성립하므로 6장 동적 계획법으로 풀립니다.</a:t>
            </a:r>
          </a:p>
        </p:txBody>
      </p:sp>
      <p:sp>
        <p:nvSpPr>
          <p:cNvPr id="11" name="fit:b330f053da83b4f4 12"/>
          <p:cNvSpPr/>
          <p:nvPr/>
        </p:nvSpPr>
        <p:spPr>
          <a:xfrm>
            <a:off x="612648" y="4873752"/>
            <a:ext cx="10972800" cy="79552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최단 경로는 음수 간선이 있어도(한 바퀴 돌수록 짧아지는 순환이 없다면) ②가 성립합니다. 다익스트라가 옳으려면 "간선 비용이 모두 0 이상이면, 아직 확정하지 않은 곳 중 지금 가장 가까운 곳은 더 가까워지지 않는다"는 ①의 근거가 더 필요합니다.</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그래프 용어: 정점, 간선, 가중치</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49</a:t>
            </a:r>
            <a:endParaRPr lang="ko-KR" altLang="en-US" sz="1050" b="0" dirty="0">
              <a:solidFill>
                <a:srgbClr val="606060"/>
              </a:solidFill>
              <a:latin typeface="Malgun Gothic"/>
              <a:ea typeface="Malgun Gothic"/>
              <a:cs typeface="Malgun Gothic"/>
            </a:endParaRPr>
          </a:p>
        </p:txBody>
      </p:sp>
      <p:sp>
        <p:nvSpPr>
          <p:cNvPr id="9" name="fit:b7889294fc2e6941 10"/>
          <p:cNvSpPr/>
          <p:nvPr/>
        </p:nvSpPr>
        <p:spPr>
          <a:xfrm>
            <a:off x="612648" y="1636776"/>
            <a:ext cx="10972800"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도시와 도로를 그래프로 나타냅니다. 왼쪽은 정점 4개, 간선 5개짜리 그래프입니다.</a:t>
            </a:r>
          </a:p>
        </p:txBody>
      </p:sp>
      <p:cxnSp>
        <p:nvCxnSpPr>
          <p:cNvPr id="10" name="연결선 11"/>
          <p:cNvCxnSpPr/>
          <p:nvPr/>
        </p:nvCxnSpPr>
        <p:spPr>
          <a:xfrm flipV="1">
            <a:off x="1119823" y="2880149"/>
            <a:ext cx="1783714" cy="1189142"/>
          </a:xfrm>
          <a:prstGeom prst="line">
            <a:avLst/>
          </a:prstGeom>
          <a:ln w="19050">
            <a:solidFill>
              <a:srgbClr val="9A9A9A"/>
            </a:solidFill>
          </a:ln>
        </p:spPr>
      </p:cxnSp>
      <p:sp>
        <p:nvSpPr>
          <p:cNvPr id="11" name="직사각형 12"/>
          <p:cNvSpPr/>
          <p:nvPr/>
        </p:nvSpPr>
        <p:spPr>
          <a:xfrm>
            <a:off x="1692781" y="321582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1</a:t>
            </a:r>
          </a:p>
        </p:txBody>
      </p:sp>
      <p:cxnSp>
        <p:nvCxnSpPr>
          <p:cNvPr id="12" name="연결선 13"/>
          <p:cNvCxnSpPr/>
          <p:nvPr/>
        </p:nvCxnSpPr>
        <p:spPr>
          <a:xfrm>
            <a:off x="3108960" y="2990088"/>
            <a:ext cx="0" cy="2432304"/>
          </a:xfrm>
          <a:prstGeom prst="line">
            <a:avLst/>
          </a:prstGeom>
          <a:ln w="19050">
            <a:solidFill>
              <a:srgbClr val="9A9A9A"/>
            </a:solidFill>
          </a:ln>
        </p:spPr>
      </p:cxnSp>
      <p:sp>
        <p:nvSpPr>
          <p:cNvPr id="13" name="직사각형 14"/>
          <p:cNvSpPr/>
          <p:nvPr/>
        </p:nvSpPr>
        <p:spPr>
          <a:xfrm>
            <a:off x="2596896" y="406908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2</a:t>
            </a:r>
          </a:p>
        </p:txBody>
      </p:sp>
      <p:cxnSp>
        <p:nvCxnSpPr>
          <p:cNvPr id="14" name="연결선 15"/>
          <p:cNvCxnSpPr/>
          <p:nvPr/>
        </p:nvCxnSpPr>
        <p:spPr>
          <a:xfrm>
            <a:off x="1119823" y="4343189"/>
            <a:ext cx="1783714" cy="1189142"/>
          </a:xfrm>
          <a:prstGeom prst="line">
            <a:avLst/>
          </a:prstGeom>
          <a:ln w="19050">
            <a:solidFill>
              <a:srgbClr val="9A9A9A"/>
            </a:solidFill>
          </a:ln>
        </p:spPr>
      </p:cxnSp>
      <p:sp>
        <p:nvSpPr>
          <p:cNvPr id="15" name="직사각형 16"/>
          <p:cNvSpPr/>
          <p:nvPr/>
        </p:nvSpPr>
        <p:spPr>
          <a:xfrm>
            <a:off x="1692781" y="492233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p:txBody>
      </p:sp>
      <p:cxnSp>
        <p:nvCxnSpPr>
          <p:cNvPr id="16" name="연결선 17"/>
          <p:cNvCxnSpPr/>
          <p:nvPr/>
        </p:nvCxnSpPr>
        <p:spPr>
          <a:xfrm flipV="1">
            <a:off x="3314383" y="4343189"/>
            <a:ext cx="1783714" cy="1189142"/>
          </a:xfrm>
          <a:prstGeom prst="line">
            <a:avLst/>
          </a:prstGeom>
          <a:ln w="19050">
            <a:solidFill>
              <a:srgbClr val="9A9A9A"/>
            </a:solidFill>
          </a:ln>
        </p:spPr>
      </p:cxnSp>
      <p:sp>
        <p:nvSpPr>
          <p:cNvPr id="17" name="직사각형 18"/>
          <p:cNvSpPr/>
          <p:nvPr/>
        </p:nvSpPr>
        <p:spPr>
          <a:xfrm>
            <a:off x="4049651" y="492233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p:txBody>
      </p:sp>
      <p:cxnSp>
        <p:nvCxnSpPr>
          <p:cNvPr id="18" name="연결선 19"/>
          <p:cNvCxnSpPr/>
          <p:nvPr/>
        </p:nvCxnSpPr>
        <p:spPr>
          <a:xfrm>
            <a:off x="3314383" y="2880149"/>
            <a:ext cx="1783714" cy="1189142"/>
          </a:xfrm>
          <a:prstGeom prst="line">
            <a:avLst/>
          </a:prstGeom>
          <a:ln w="19050">
            <a:solidFill>
              <a:srgbClr val="9A9A9A"/>
            </a:solidFill>
          </a:ln>
        </p:spPr>
      </p:cxnSp>
      <p:sp>
        <p:nvSpPr>
          <p:cNvPr id="19" name="직사각형 20"/>
          <p:cNvSpPr/>
          <p:nvPr/>
        </p:nvSpPr>
        <p:spPr>
          <a:xfrm>
            <a:off x="4049651" y="321582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20" name="직사각형 21"/>
          <p:cNvSpPr/>
          <p:nvPr/>
        </p:nvSpPr>
        <p:spPr>
          <a:xfrm>
            <a:off x="667512" y="395935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1" name="직사각형 22"/>
          <p:cNvSpPr/>
          <p:nvPr/>
        </p:nvSpPr>
        <p:spPr>
          <a:xfrm>
            <a:off x="2862072" y="24963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2" name="직사각형 23"/>
          <p:cNvSpPr/>
          <p:nvPr/>
        </p:nvSpPr>
        <p:spPr>
          <a:xfrm>
            <a:off x="2862072" y="542239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3" name="직사각형 24"/>
          <p:cNvSpPr/>
          <p:nvPr/>
        </p:nvSpPr>
        <p:spPr>
          <a:xfrm>
            <a:off x="5056632" y="395935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graphicFrame>
        <p:nvGraphicFramePr>
          <p:cNvPr id="24" name="표 25"/>
          <p:cNvGraphicFramePr>
            <a:graphicFrameLocks noGrp="1"/>
          </p:cNvGraphicFramePr>
          <p:nvPr>
            <p:extLst>
              <p:ext uri="{D42A27DB-BD31-4B8C-83A1-F6EECF244321}">
                <p14:modId xmlns:p14="http://schemas.microsoft.com/office/powerpoint/2010/main" val="1412893198"/>
              </p:ext>
            </p:extLst>
          </p:nvPr>
        </p:nvGraphicFramePr>
        <p:xfrm>
          <a:off x="5943600" y="2651760"/>
          <a:ext cx="5641848" cy="1984248"/>
        </p:xfrm>
        <a:graphic>
          <a:graphicData uri="http://schemas.openxmlformats.org/drawingml/2006/table">
            <a:tbl>
              <a:tblPr/>
              <a:tblGrid>
                <a:gridCol w="1524824">
                  <a:extLst>
                    <a:ext uri="{9D8B030D-6E8A-4147-A177-3AD203B41FA5}">
                      <a16:colId xmlns:a16="http://schemas.microsoft.com/office/drawing/2014/main" val="20000"/>
                    </a:ext>
                  </a:extLst>
                </a:gridCol>
                <a:gridCol w="2515959">
                  <a:extLst>
                    <a:ext uri="{9D8B030D-6E8A-4147-A177-3AD203B41FA5}">
                      <a16:colId xmlns:a16="http://schemas.microsoft.com/office/drawing/2014/main" val="20001"/>
                    </a:ext>
                  </a:extLst>
                </a:gridCol>
                <a:gridCol w="1601065">
                  <a:extLst>
                    <a:ext uri="{9D8B030D-6E8A-4147-A177-3AD203B41FA5}">
                      <a16:colId xmlns:a16="http://schemas.microsoft.com/office/drawing/2014/main" val="20002"/>
                    </a:ext>
                  </a:extLst>
                </a:gridCol>
              </a:tblGrid>
              <a:tr h="283464">
                <a:tc>
                  <a:txBody>
                    <a:bodyPr/>
                    <a:lstStyle/>
                    <a:p>
                      <a:pPr algn="ctr" eaLnBrk="0" latinLnBrk="0">
                        <a:lnSpc>
                          <a:spcPct val="100000"/>
                        </a:lnSpc>
                        <a:buNone/>
                      </a:pPr>
                      <a:r>
                        <a:rPr lang="ko-KR" altLang="en-US" sz="1300" b="1" dirty="0">
                          <a:solidFill>
                            <a:srgbClr val="FFFFFF"/>
                          </a:solidFill>
                          <a:latin typeface="Malgun Gothic"/>
                          <a:ea typeface="Malgun Gothic"/>
                          <a:cs typeface="Malgun Gothic"/>
                        </a:rPr>
                        <a:t>용어</a:t>
                      </a:r>
                    </a:p>
                  </a:txBody>
                  <a:tcPr marL="54864" marR="54864" marT="18288" marB="18288" anchor="ctr">
                    <a:solidFill>
                      <a:srgbClr val="151515"/>
                    </a:solidFill>
                  </a:tcPr>
                </a:tc>
                <a:tc>
                  <a:txBody>
                    <a:bodyPr/>
                    <a:lstStyle/>
                    <a:p>
                      <a:pPr algn="ctr" eaLnBrk="0" latinLnBrk="0">
                        <a:lnSpc>
                          <a:spcPct val="100000"/>
                        </a:lnSpc>
                        <a:buNone/>
                      </a:pPr>
                      <a:r>
                        <a:rPr lang="ko-KR" altLang="en-US" sz="1300" b="1" dirty="0">
                          <a:solidFill>
                            <a:srgbClr val="FFFFFF"/>
                          </a:solidFill>
                          <a:latin typeface="Malgun Gothic"/>
                          <a:ea typeface="Malgun Gothic"/>
                          <a:cs typeface="Malgun Gothic"/>
                        </a:rPr>
                        <a:t>뜻</a:t>
                      </a:r>
                    </a:p>
                  </a:txBody>
                  <a:tcPr marL="54864" marR="54864" marT="18288" marB="18288" anchor="ctr">
                    <a:solidFill>
                      <a:srgbClr val="151515"/>
                    </a:solidFill>
                  </a:tcPr>
                </a:tc>
                <a:tc>
                  <a:txBody>
                    <a:bodyPr/>
                    <a:lstStyle/>
                    <a:p>
                      <a:pPr algn="ctr" eaLnBrk="0" latinLnBrk="0">
                        <a:lnSpc>
                          <a:spcPct val="100000"/>
                        </a:lnSpc>
                        <a:buNone/>
                      </a:pPr>
                      <a:r>
                        <a:rPr lang="ko-KR" altLang="en-US" sz="1300" b="1" dirty="0">
                          <a:solidFill>
                            <a:srgbClr val="FFFFFF"/>
                          </a:solidFill>
                          <a:latin typeface="Malgun Gothic"/>
                          <a:ea typeface="Malgun Gothic"/>
                          <a:cs typeface="Malgun Gothic"/>
                        </a:rPr>
                        <a:t>이 그림에서</a:t>
                      </a:r>
                    </a:p>
                  </a:txBody>
                  <a:tcPr marL="54864" marR="54864" marT="18288" marB="18288" anchor="ctr">
                    <a:solidFill>
                      <a:srgbClr val="151515"/>
                    </a:solidFill>
                  </a:tcPr>
                </a:tc>
                <a:extLst>
                  <a:ext uri="{0D108BD9-81ED-4DB2-BD59-A6C34878D82A}">
                    <a16:rowId xmlns:a16="http://schemas.microsoft.com/office/drawing/2014/main" val="10000"/>
                  </a:ext>
                </a:extLst>
              </a:tr>
              <a:tr h="283464">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정점 (vertex)</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점. 예: 도시</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V = 4 (A~D)</a:t>
                      </a:r>
                    </a:p>
                  </a:txBody>
                  <a:tcPr marL="54864" marR="54864" marT="18288" marB="18288" anchor="ctr">
                    <a:solidFill>
                      <a:srgbClr val="FFFFFF"/>
                    </a:solidFill>
                  </a:tcPr>
                </a:tc>
                <a:extLst>
                  <a:ext uri="{0D108BD9-81ED-4DB2-BD59-A6C34878D82A}">
                    <a16:rowId xmlns:a16="http://schemas.microsoft.com/office/drawing/2014/main" val="10001"/>
                  </a:ext>
                </a:extLst>
              </a:tr>
              <a:tr h="283464">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간선 (edge)</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두 정점을 잇는 선. 예: 도로</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E = 5</a:t>
                      </a:r>
                    </a:p>
                  </a:txBody>
                  <a:tcPr marL="54864" marR="54864" marT="18288" marB="18288" anchor="ctr">
                    <a:solidFill>
                      <a:srgbClr val="FFFFFF"/>
                    </a:solidFill>
                  </a:tcPr>
                </a:tc>
                <a:extLst>
                  <a:ext uri="{0D108BD9-81ED-4DB2-BD59-A6C34878D82A}">
                    <a16:rowId xmlns:a16="http://schemas.microsoft.com/office/drawing/2014/main" val="10002"/>
                  </a:ext>
                </a:extLst>
              </a:tr>
              <a:tr h="283464">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가중치 (weight)</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간선에 붙은 비용</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A – B 1, C – D 4</a:t>
                      </a:r>
                    </a:p>
                  </a:txBody>
                  <a:tcPr marL="54864" marR="54864" marT="18288" marB="18288" anchor="ctr">
                    <a:solidFill>
                      <a:srgbClr val="FFFFFF"/>
                    </a:solidFill>
                  </a:tcPr>
                </a:tc>
                <a:extLst>
                  <a:ext uri="{0D108BD9-81ED-4DB2-BD59-A6C34878D82A}">
                    <a16:rowId xmlns:a16="http://schemas.microsoft.com/office/drawing/2014/main" val="10003"/>
                  </a:ext>
                </a:extLst>
              </a:tr>
              <a:tr h="283464">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경로 (path)</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간선을 따라 이어진 길</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A – B – D</a:t>
                      </a:r>
                    </a:p>
                  </a:txBody>
                  <a:tcPr marL="54864" marR="54864" marT="18288" marB="18288" anchor="ctr">
                    <a:solidFill>
                      <a:srgbClr val="FFFFFF"/>
                    </a:solidFill>
                  </a:tcPr>
                </a:tc>
                <a:extLst>
                  <a:ext uri="{0D108BD9-81ED-4DB2-BD59-A6C34878D82A}">
                    <a16:rowId xmlns:a16="http://schemas.microsoft.com/office/drawing/2014/main" val="10004"/>
                  </a:ext>
                </a:extLst>
              </a:tr>
              <a:tr h="283464">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사이클 (cycle)</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출발점으로 돌아오는 닫힌 길</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A – B – C – A</a:t>
                      </a:r>
                    </a:p>
                  </a:txBody>
                  <a:tcPr marL="54864" marR="54864" marT="18288" marB="18288" anchor="ctr">
                    <a:solidFill>
                      <a:srgbClr val="FFFFFF"/>
                    </a:solidFill>
                  </a:tcPr>
                </a:tc>
                <a:extLst>
                  <a:ext uri="{0D108BD9-81ED-4DB2-BD59-A6C34878D82A}">
                    <a16:rowId xmlns:a16="http://schemas.microsoft.com/office/drawing/2014/main" val="10005"/>
                  </a:ext>
                </a:extLst>
              </a:tr>
              <a:tr h="283464">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신장 (spanning)</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모든 정점을 포함한다</a:t>
                      </a:r>
                    </a:p>
                  </a:txBody>
                  <a:tcPr marL="54864" marR="54864" marT="18288" marB="18288" anchor="ctr">
                    <a:solidFill>
                      <a:srgbClr val="FFFFFF"/>
                    </a:solidFill>
                  </a:tcPr>
                </a:tc>
                <a:tc>
                  <a:txBody>
                    <a:bodyPr/>
                    <a:lstStyle/>
                    <a:p>
                      <a:pPr algn="ctr" eaLnBrk="0" latinLnBrk="0">
                        <a:lnSpc>
                          <a:spcPct val="100000"/>
                        </a:lnSpc>
                        <a:buNone/>
                      </a:pPr>
                      <a:r>
                        <a:rPr lang="ko-KR" altLang="en-US" sz="1300" b="0" dirty="0">
                          <a:solidFill>
                            <a:srgbClr val="151515"/>
                          </a:solidFill>
                          <a:latin typeface="Malgun Gothic"/>
                          <a:ea typeface="Malgun Gothic"/>
                          <a:cs typeface="Malgun Gothic"/>
                        </a:rPr>
                        <a:t>A~D 모두</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p:sp>
        <p:nvSpPr>
          <p:cNvPr id="25" name="직사각형 26"/>
          <p:cNvSpPr/>
          <p:nvPr/>
        </p:nvSpPr>
        <p:spPr>
          <a:xfrm>
            <a:off x="5943600" y="4754880"/>
            <a:ext cx="5641848" cy="548640"/>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V는 정점의 수, E는 간선의 수를 나타내는 기호입니다.</a:t>
            </a:r>
          </a:p>
        </p:txBody>
      </p:sp>
      <p:sp>
        <p:nvSpPr>
          <p:cNvPr id="26" name="직사각형 27"/>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원: 정점    선: 간선    선 위의 수: 가중치</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최소 신장 트리 (MST)</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50</a:t>
            </a:r>
            <a:endParaRPr lang="ko-KR" altLang="en-US" sz="1050" b="0" dirty="0">
              <a:solidFill>
                <a:srgbClr val="606060"/>
              </a:solidFill>
              <a:latin typeface="Malgun Gothic"/>
              <a:ea typeface="Malgun Gothic"/>
              <a:cs typeface="Malgun Gothic"/>
            </a:endParaRPr>
          </a:p>
        </p:txBody>
      </p:sp>
      <p:sp>
        <p:nvSpPr>
          <p:cNvPr id="9" name="fit:6f4c251d7e457f34 10"/>
          <p:cNvSpPr/>
          <p:nvPr/>
        </p:nvSpPr>
        <p:spPr>
          <a:xfrm>
            <a:off x="658368" y="1737360"/>
            <a:ext cx="5120640" cy="594360"/>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1" dirty="0">
                <a:solidFill>
                  <a:srgbClr val="171717"/>
                </a:solidFill>
                <a:latin typeface="Malgun Gothic"/>
                <a:ea typeface="Malgun Gothic"/>
                <a:cs typeface="Malgun Gothic"/>
              </a:rPr>
              <a:t>신장 트리</a:t>
            </a:r>
            <a:r>
              <a:rPr lang="ko-KR" altLang="en-US" sz="1800" b="0" dirty="0">
                <a:solidFill>
                  <a:srgbClr val="171717"/>
                </a:solidFill>
                <a:latin typeface="Malgun Gothic"/>
                <a:ea typeface="Malgun Gothic"/>
                <a:cs typeface="Malgun Gothic"/>
              </a:rPr>
              <a:t>: 모든 정점을 잇고, 사이클이 없는 간선 모음</a:t>
            </a:r>
          </a:p>
        </p:txBody>
      </p:sp>
      <p:sp>
        <p:nvSpPr>
          <p:cNvPr id="10" name="fit:6c01e07bf5dfc0d8 11"/>
          <p:cNvSpPr/>
          <p:nvPr/>
        </p:nvSpPr>
        <p:spPr>
          <a:xfrm>
            <a:off x="658368" y="2459736"/>
            <a:ext cx="5120640" cy="594360"/>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1" dirty="0">
                <a:solidFill>
                  <a:srgbClr val="171717"/>
                </a:solidFill>
                <a:latin typeface="Malgun Gothic"/>
                <a:ea typeface="Malgun Gothic"/>
                <a:cs typeface="Malgun Gothic"/>
              </a:rPr>
              <a:t>최소 신장 트리</a:t>
            </a:r>
            <a:r>
              <a:rPr lang="ko-KR" altLang="en-US" sz="1800" b="0" dirty="0">
                <a:solidFill>
                  <a:srgbClr val="171717"/>
                </a:solidFill>
                <a:latin typeface="Malgun Gothic"/>
                <a:ea typeface="Malgun Gothic"/>
                <a:cs typeface="Malgun Gothic"/>
              </a:rPr>
              <a:t>(Minimum Spanning Tree, MST): 신장 트리 중 가중치 합이 가장 작은 것</a:t>
            </a:r>
          </a:p>
        </p:txBody>
      </p:sp>
      <p:sp>
        <p:nvSpPr>
          <p:cNvPr id="11" name="fit:b96226f3235c7a30 12"/>
          <p:cNvSpPr/>
          <p:nvPr/>
        </p:nvSpPr>
        <p:spPr>
          <a:xfrm>
            <a:off x="658368" y="3182112"/>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모두 연결</a:t>
            </a:r>
          </a:p>
        </p:txBody>
      </p:sp>
      <p:sp>
        <p:nvSpPr>
          <p:cNvPr id="12" name="fit:5ab8854dd98eb610 13"/>
          <p:cNvSpPr/>
          <p:nvPr/>
        </p:nvSpPr>
        <p:spPr>
          <a:xfrm>
            <a:off x="841248" y="3511296"/>
            <a:ext cx="493776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어느 정점도 떨어져 있으면 안 됩니다.</a:t>
            </a:r>
          </a:p>
        </p:txBody>
      </p:sp>
      <p:sp>
        <p:nvSpPr>
          <p:cNvPr id="13" name="fit:fb6883d89e07b358 14"/>
          <p:cNvSpPr/>
          <p:nvPr/>
        </p:nvSpPr>
        <p:spPr>
          <a:xfrm>
            <a:off x="658368" y="3895344"/>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사이클 없음</a:t>
            </a:r>
          </a:p>
        </p:txBody>
      </p:sp>
      <p:sp>
        <p:nvSpPr>
          <p:cNvPr id="14" name="fit:73c417dc2f563200 15"/>
          <p:cNvSpPr/>
          <p:nvPr/>
        </p:nvSpPr>
        <p:spPr>
          <a:xfrm>
            <a:off x="841248" y="4224528"/>
            <a:ext cx="4937760" cy="530352"/>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사이클이 있으면 그중 간선 하나를 빼도 모두 연결된 채입니다. 모두 잇는 데 사이클은 필요 없습니다.</a:t>
            </a:r>
          </a:p>
        </p:txBody>
      </p:sp>
      <p:sp>
        <p:nvSpPr>
          <p:cNvPr id="15" name="fit:d9c07b4105e03927 16"/>
          <p:cNvSpPr/>
          <p:nvPr/>
        </p:nvSpPr>
        <p:spPr>
          <a:xfrm>
            <a:off x="658368" y="4864608"/>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간선은 정확히 V − 1개</a:t>
            </a:r>
          </a:p>
        </p:txBody>
      </p:sp>
      <p:sp>
        <p:nvSpPr>
          <p:cNvPr id="16" name="fit:e3b56a1b91c6221c 17"/>
          <p:cNvSpPr/>
          <p:nvPr/>
        </p:nvSpPr>
        <p:spPr>
          <a:xfrm>
            <a:off x="841248" y="5193792"/>
            <a:ext cx="493776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정점이 V개면 간선은 V − 1개입니다(다음 슬라이드).</a:t>
            </a:r>
          </a:p>
        </p:txBody>
      </p:sp>
      <p:pic>
        <p:nvPicPr>
          <p:cNvPr id="17" name="그림 18"/>
          <p:cNvPicPr>
            <a:picLocks noChangeAspect="1"/>
          </p:cNvPicPr>
          <p:nvPr/>
        </p:nvPicPr>
        <p:blipFill>
          <a:blip r:embed="rId3"/>
          <a:stretch>
            <a:fillRect/>
          </a:stretch>
        </p:blipFill>
        <p:spPr>
          <a:xfrm>
            <a:off x="6245546" y="1828800"/>
            <a:ext cx="5220836" cy="4206240"/>
          </a:xfrm>
          <a:prstGeom prst="rect">
            <a:avLst/>
          </a:prstGeom>
        </p:spPr>
      </p:pic>
      <p:sp>
        <p:nvSpPr>
          <p:cNvPr id="18" name="직사각형 19"/>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굵은 선 9개 = 최소 신장 트리(정점 10개, 합 38). 집 = 정점, 선 = 간선, 수 = 가중치 (맨 위 짧은 굵은 선 = 1)</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신장 트리의 간선은 V − 1개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51</a:t>
            </a:r>
            <a:endParaRPr lang="ko-KR" altLang="en-US" sz="1050" b="0" dirty="0">
              <a:solidFill>
                <a:srgbClr val="606060"/>
              </a:solidFill>
              <a:latin typeface="Malgun Gothic"/>
              <a:ea typeface="Malgun Gothic"/>
              <a:cs typeface="Malgun Gothic"/>
            </a:endParaRPr>
          </a:p>
        </p:txBody>
      </p:sp>
      <p:sp>
        <p:nvSpPr>
          <p:cNvPr id="9" name="fit:d1de669203f4ab65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덩어리 = 서로 경로로 이어진 정점들의 묶음입니다. 서로 다른 두 덩어리를 잇는 간선을 하나 더할 때마다 덩어리가 하나씩 줄어듭니다.</a:t>
            </a:r>
          </a:p>
        </p:txBody>
      </p:sp>
      <p:sp>
        <p:nvSpPr>
          <p:cNvPr id="10" name="직사각형 11"/>
          <p:cNvSpPr/>
          <p:nvPr/>
        </p:nvSpPr>
        <p:spPr>
          <a:xfrm>
            <a:off x="667512" y="309067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11" name="직사각형 12"/>
          <p:cNvSpPr/>
          <p:nvPr/>
        </p:nvSpPr>
        <p:spPr>
          <a:xfrm>
            <a:off x="1856232" y="309067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12" name="직사각형 13"/>
          <p:cNvSpPr/>
          <p:nvPr/>
        </p:nvSpPr>
        <p:spPr>
          <a:xfrm>
            <a:off x="1856232" y="418795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13" name="직사각형 14"/>
          <p:cNvSpPr/>
          <p:nvPr/>
        </p:nvSpPr>
        <p:spPr>
          <a:xfrm>
            <a:off x="667512" y="418795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cxnSp>
        <p:nvCxnSpPr>
          <p:cNvPr id="14" name="연결선 15"/>
          <p:cNvCxnSpPr/>
          <p:nvPr/>
        </p:nvCxnSpPr>
        <p:spPr>
          <a:xfrm>
            <a:off x="3264408" y="3291840"/>
            <a:ext cx="786384" cy="0"/>
          </a:xfrm>
          <a:prstGeom prst="line">
            <a:avLst/>
          </a:prstGeom>
          <a:ln w="44450">
            <a:solidFill>
              <a:srgbClr val="0E8A7D"/>
            </a:solidFill>
          </a:ln>
        </p:spPr>
      </p:cxnSp>
      <p:sp>
        <p:nvSpPr>
          <p:cNvPr id="15" name="직사각형 16"/>
          <p:cNvSpPr/>
          <p:nvPr/>
        </p:nvSpPr>
        <p:spPr>
          <a:xfrm>
            <a:off x="286207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16" name="직사각형 17"/>
          <p:cNvSpPr/>
          <p:nvPr/>
        </p:nvSpPr>
        <p:spPr>
          <a:xfrm>
            <a:off x="405079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17" name="직사각형 18"/>
          <p:cNvSpPr/>
          <p:nvPr/>
        </p:nvSpPr>
        <p:spPr>
          <a:xfrm>
            <a:off x="4050792" y="418795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18" name="직사각형 19"/>
          <p:cNvSpPr/>
          <p:nvPr/>
        </p:nvSpPr>
        <p:spPr>
          <a:xfrm>
            <a:off x="2862072" y="418795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cxnSp>
        <p:nvCxnSpPr>
          <p:cNvPr id="19" name="연결선 20"/>
          <p:cNvCxnSpPr/>
          <p:nvPr/>
        </p:nvCxnSpPr>
        <p:spPr>
          <a:xfrm>
            <a:off x="5458968" y="3291840"/>
            <a:ext cx="786384" cy="0"/>
          </a:xfrm>
          <a:prstGeom prst="line">
            <a:avLst/>
          </a:prstGeom>
          <a:ln w="44450">
            <a:solidFill>
              <a:srgbClr val="0E8A7D"/>
            </a:solidFill>
          </a:ln>
        </p:spPr>
      </p:cxnSp>
      <p:cxnSp>
        <p:nvCxnSpPr>
          <p:cNvPr id="20" name="연결선 21"/>
          <p:cNvCxnSpPr/>
          <p:nvPr/>
        </p:nvCxnSpPr>
        <p:spPr>
          <a:xfrm>
            <a:off x="6446520" y="3493008"/>
            <a:ext cx="0" cy="694944"/>
          </a:xfrm>
          <a:prstGeom prst="line">
            <a:avLst/>
          </a:prstGeom>
          <a:ln w="44450">
            <a:solidFill>
              <a:srgbClr val="0E8A7D"/>
            </a:solidFill>
          </a:ln>
        </p:spPr>
      </p:cxnSp>
      <p:sp>
        <p:nvSpPr>
          <p:cNvPr id="21" name="직사각형 22"/>
          <p:cNvSpPr/>
          <p:nvPr/>
        </p:nvSpPr>
        <p:spPr>
          <a:xfrm>
            <a:off x="505663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2" name="직사각형 23"/>
          <p:cNvSpPr/>
          <p:nvPr/>
        </p:nvSpPr>
        <p:spPr>
          <a:xfrm>
            <a:off x="624535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3" name="직사각형 24"/>
          <p:cNvSpPr/>
          <p:nvPr/>
        </p:nvSpPr>
        <p:spPr>
          <a:xfrm>
            <a:off x="6245352" y="418795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4" name="직사각형 25"/>
          <p:cNvSpPr/>
          <p:nvPr/>
        </p:nvSpPr>
        <p:spPr>
          <a:xfrm>
            <a:off x="5056632" y="4187952"/>
            <a:ext cx="402336" cy="40233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cxnSp>
        <p:nvCxnSpPr>
          <p:cNvPr id="25" name="연결선 26"/>
          <p:cNvCxnSpPr/>
          <p:nvPr/>
        </p:nvCxnSpPr>
        <p:spPr>
          <a:xfrm>
            <a:off x="7653528" y="3291840"/>
            <a:ext cx="786384" cy="0"/>
          </a:xfrm>
          <a:prstGeom prst="line">
            <a:avLst/>
          </a:prstGeom>
          <a:ln w="44450">
            <a:solidFill>
              <a:srgbClr val="0E8A7D"/>
            </a:solidFill>
          </a:ln>
        </p:spPr>
      </p:cxnSp>
      <p:cxnSp>
        <p:nvCxnSpPr>
          <p:cNvPr id="26" name="연결선 27"/>
          <p:cNvCxnSpPr/>
          <p:nvPr/>
        </p:nvCxnSpPr>
        <p:spPr>
          <a:xfrm>
            <a:off x="8641080" y="3493008"/>
            <a:ext cx="0" cy="694944"/>
          </a:xfrm>
          <a:prstGeom prst="line">
            <a:avLst/>
          </a:prstGeom>
          <a:ln w="44450">
            <a:solidFill>
              <a:srgbClr val="0E8A7D"/>
            </a:solidFill>
          </a:ln>
        </p:spPr>
      </p:cxnSp>
      <p:cxnSp>
        <p:nvCxnSpPr>
          <p:cNvPr id="27" name="연결선 28"/>
          <p:cNvCxnSpPr/>
          <p:nvPr/>
        </p:nvCxnSpPr>
        <p:spPr>
          <a:xfrm flipH="1">
            <a:off x="7653528" y="4389120"/>
            <a:ext cx="786384" cy="0"/>
          </a:xfrm>
          <a:prstGeom prst="line">
            <a:avLst/>
          </a:prstGeom>
          <a:ln w="44450">
            <a:solidFill>
              <a:srgbClr val="0E8A7D"/>
            </a:solidFill>
          </a:ln>
        </p:spPr>
      </p:cxnSp>
      <p:sp>
        <p:nvSpPr>
          <p:cNvPr id="28" name="직사각형 29"/>
          <p:cNvSpPr/>
          <p:nvPr/>
        </p:nvSpPr>
        <p:spPr>
          <a:xfrm>
            <a:off x="725119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9" name="직사각형 30"/>
          <p:cNvSpPr/>
          <p:nvPr/>
        </p:nvSpPr>
        <p:spPr>
          <a:xfrm>
            <a:off x="843991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0" name="직사각형 31"/>
          <p:cNvSpPr/>
          <p:nvPr/>
        </p:nvSpPr>
        <p:spPr>
          <a:xfrm>
            <a:off x="8439912" y="418795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1" name="직사각형 32"/>
          <p:cNvSpPr/>
          <p:nvPr/>
        </p:nvSpPr>
        <p:spPr>
          <a:xfrm>
            <a:off x="7251192" y="418795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cxnSp>
        <p:nvCxnSpPr>
          <p:cNvPr id="32" name="연결선 33"/>
          <p:cNvCxnSpPr/>
          <p:nvPr/>
        </p:nvCxnSpPr>
        <p:spPr>
          <a:xfrm>
            <a:off x="9848088" y="3291840"/>
            <a:ext cx="786384" cy="0"/>
          </a:xfrm>
          <a:prstGeom prst="line">
            <a:avLst/>
          </a:prstGeom>
          <a:ln w="44450">
            <a:solidFill>
              <a:srgbClr val="0E8A7D"/>
            </a:solidFill>
          </a:ln>
        </p:spPr>
      </p:cxnSp>
      <p:cxnSp>
        <p:nvCxnSpPr>
          <p:cNvPr id="33" name="연결선 34"/>
          <p:cNvCxnSpPr/>
          <p:nvPr/>
        </p:nvCxnSpPr>
        <p:spPr>
          <a:xfrm>
            <a:off x="10835640" y="3493008"/>
            <a:ext cx="0" cy="694944"/>
          </a:xfrm>
          <a:prstGeom prst="line">
            <a:avLst/>
          </a:prstGeom>
          <a:ln w="44450">
            <a:solidFill>
              <a:srgbClr val="0E8A7D"/>
            </a:solidFill>
          </a:ln>
        </p:spPr>
      </p:cxnSp>
      <p:cxnSp>
        <p:nvCxnSpPr>
          <p:cNvPr id="34" name="연결선 35"/>
          <p:cNvCxnSpPr/>
          <p:nvPr/>
        </p:nvCxnSpPr>
        <p:spPr>
          <a:xfrm flipH="1">
            <a:off x="9848088" y="4389120"/>
            <a:ext cx="786384" cy="0"/>
          </a:xfrm>
          <a:prstGeom prst="line">
            <a:avLst/>
          </a:prstGeom>
          <a:ln w="44450">
            <a:solidFill>
              <a:srgbClr val="0E8A7D"/>
            </a:solidFill>
          </a:ln>
        </p:spPr>
      </p:cxnSp>
      <p:cxnSp>
        <p:nvCxnSpPr>
          <p:cNvPr id="35" name="연결선 36"/>
          <p:cNvCxnSpPr/>
          <p:nvPr/>
        </p:nvCxnSpPr>
        <p:spPr>
          <a:xfrm>
            <a:off x="9794739" y="3428288"/>
            <a:ext cx="893082" cy="824383"/>
          </a:xfrm>
          <a:prstGeom prst="line">
            <a:avLst/>
          </a:prstGeom>
          <a:ln w="19050">
            <a:solidFill>
              <a:srgbClr val="B23B3B"/>
            </a:solidFill>
            <a:prstDash val="dash"/>
          </a:ln>
        </p:spPr>
      </p:cxnSp>
      <p:sp>
        <p:nvSpPr>
          <p:cNvPr id="36" name="직사각형 37"/>
          <p:cNvSpPr/>
          <p:nvPr/>
        </p:nvSpPr>
        <p:spPr>
          <a:xfrm>
            <a:off x="944575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37" name="직사각형 38"/>
          <p:cNvSpPr/>
          <p:nvPr/>
        </p:nvSpPr>
        <p:spPr>
          <a:xfrm>
            <a:off x="10634472" y="309067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8" name="직사각형 39"/>
          <p:cNvSpPr/>
          <p:nvPr/>
        </p:nvSpPr>
        <p:spPr>
          <a:xfrm>
            <a:off x="10634472" y="418795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9" name="직사각형 40"/>
          <p:cNvSpPr/>
          <p:nvPr/>
        </p:nvSpPr>
        <p:spPr>
          <a:xfrm>
            <a:off x="9445752" y="4187952"/>
            <a:ext cx="402336" cy="40233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40" name="직사각형 41"/>
          <p:cNvSpPr/>
          <p:nvPr/>
        </p:nvSpPr>
        <p:spPr>
          <a:xfrm>
            <a:off x="685800" y="274320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간선 0개</a:t>
            </a:r>
          </a:p>
        </p:txBody>
      </p:sp>
      <p:sp>
        <p:nvSpPr>
          <p:cNvPr id="41" name="직사각형 42"/>
          <p:cNvSpPr/>
          <p:nvPr/>
        </p:nvSpPr>
        <p:spPr>
          <a:xfrm>
            <a:off x="2880360" y="274320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간선 1개</a:t>
            </a:r>
          </a:p>
        </p:txBody>
      </p:sp>
      <p:sp>
        <p:nvSpPr>
          <p:cNvPr id="42" name="직사각형 43"/>
          <p:cNvSpPr/>
          <p:nvPr/>
        </p:nvSpPr>
        <p:spPr>
          <a:xfrm>
            <a:off x="5074920" y="274320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간선 2개</a:t>
            </a:r>
          </a:p>
        </p:txBody>
      </p:sp>
      <p:sp>
        <p:nvSpPr>
          <p:cNvPr id="43" name="직사각형 44"/>
          <p:cNvSpPr/>
          <p:nvPr/>
        </p:nvSpPr>
        <p:spPr>
          <a:xfrm>
            <a:off x="7269480" y="274320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간선 3개</a:t>
            </a:r>
          </a:p>
        </p:txBody>
      </p:sp>
      <p:sp>
        <p:nvSpPr>
          <p:cNvPr id="44" name="직사각형 45"/>
          <p:cNvSpPr/>
          <p:nvPr/>
        </p:nvSpPr>
        <p:spPr>
          <a:xfrm>
            <a:off x="9464040" y="274320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간선 하나 더</a:t>
            </a:r>
          </a:p>
        </p:txBody>
      </p:sp>
      <p:sp>
        <p:nvSpPr>
          <p:cNvPr id="45" name="직사각형 46"/>
          <p:cNvSpPr/>
          <p:nvPr/>
        </p:nvSpPr>
        <p:spPr>
          <a:xfrm>
            <a:off x="685800" y="470916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덩어리 4개</a:t>
            </a:r>
          </a:p>
        </p:txBody>
      </p:sp>
      <p:sp>
        <p:nvSpPr>
          <p:cNvPr id="46" name="직사각형 47"/>
          <p:cNvSpPr/>
          <p:nvPr/>
        </p:nvSpPr>
        <p:spPr>
          <a:xfrm>
            <a:off x="2880360" y="470916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덩어리 3개</a:t>
            </a:r>
          </a:p>
        </p:txBody>
      </p:sp>
      <p:sp>
        <p:nvSpPr>
          <p:cNvPr id="47" name="직사각형 48"/>
          <p:cNvSpPr/>
          <p:nvPr/>
        </p:nvSpPr>
        <p:spPr>
          <a:xfrm>
            <a:off x="5074920" y="470916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171717"/>
                </a:solidFill>
                <a:latin typeface="Malgun Gothic"/>
                <a:ea typeface="Malgun Gothic"/>
                <a:cs typeface="Malgun Gothic"/>
              </a:rPr>
              <a:t>덩어리 2개</a:t>
            </a:r>
          </a:p>
        </p:txBody>
      </p:sp>
      <p:sp>
        <p:nvSpPr>
          <p:cNvPr id="48" name="직사각형 49"/>
          <p:cNvSpPr/>
          <p:nvPr/>
        </p:nvSpPr>
        <p:spPr>
          <a:xfrm>
            <a:off x="7269480" y="470916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0E8A7D"/>
                </a:solidFill>
                <a:latin typeface="Malgun Gothic"/>
                <a:ea typeface="Malgun Gothic"/>
                <a:cs typeface="Malgun Gothic"/>
              </a:rPr>
              <a:t>덩어리 1개</a:t>
            </a:r>
          </a:p>
        </p:txBody>
      </p:sp>
      <p:sp>
        <p:nvSpPr>
          <p:cNvPr id="49" name="직사각형 50"/>
          <p:cNvSpPr/>
          <p:nvPr/>
        </p:nvSpPr>
        <p:spPr>
          <a:xfrm>
            <a:off x="9464040" y="4709160"/>
            <a:ext cx="1554480" cy="274320"/>
          </a:xfrm>
          <a:prstGeom prst="rect">
            <a:avLst/>
          </a:prstGeom>
          <a:noFill/>
          <a:ln w="0">
            <a:noFill/>
          </a:ln>
        </p:spPr>
        <p:txBody>
          <a:bodyPr wrap="square" lIns="0" tIns="0" rIns="0" bIns="0" anchor="t">
            <a:noAutofit/>
          </a:bodyPr>
          <a:lstStyle/>
          <a:p>
            <a:pPr algn="ctr" eaLnBrk="0" latinLnBrk="0">
              <a:lnSpc>
                <a:spcPct val="100000"/>
              </a:lnSpc>
              <a:buNone/>
            </a:pPr>
            <a:r>
              <a:rPr lang="ko-KR" altLang="en-US" sz="1650" b="1" dirty="0">
                <a:solidFill>
                  <a:srgbClr val="B23B3B"/>
                </a:solidFill>
                <a:latin typeface="Malgun Gothic"/>
                <a:ea typeface="Malgun Gothic"/>
                <a:cs typeface="Malgun Gothic"/>
              </a:rPr>
              <a:t>사이클 발생</a:t>
            </a:r>
          </a:p>
        </p:txBody>
      </p:sp>
      <p:sp>
        <p:nvSpPr>
          <p:cNvPr id="50" name="fit:3246beffbb096d57 51"/>
          <p:cNvSpPr/>
          <p:nvPr/>
        </p:nvSpPr>
        <p:spPr>
          <a:xfrm>
            <a:off x="612648" y="5193792"/>
            <a:ext cx="10972800" cy="356616"/>
          </a:xfrm>
          <a:prstGeom prst="rect">
            <a:avLst/>
          </a:prstGeom>
          <a:noFill/>
          <a:ln w="0">
            <a:noFill/>
          </a:ln>
        </p:spPr>
        <p:txBody>
          <a:bodyPr wrap="square" lIns="0" tIns="0" rIns="0" bIns="0" anchor="t">
            <a:noAutofit/>
          </a:bodyPr>
          <a:lstStyle/>
          <a:p>
            <a:pPr algn="l" eaLnBrk="0" latinLnBrk="0">
              <a:lnSpc>
                <a:spcPct val="100000"/>
              </a:lnSpc>
              <a:buNone/>
            </a:pPr>
            <a:r>
              <a:rPr lang="ko-KR" altLang="en-US" sz="2100" b="1" dirty="0">
                <a:solidFill>
                  <a:srgbClr val="0E8A7D"/>
                </a:solidFill>
                <a:latin typeface="Malgun Gothic"/>
                <a:ea typeface="Malgun Gothic"/>
                <a:cs typeface="Malgun Gothic"/>
              </a:rPr>
              <a:t>정점 V개를 한 덩어리로 이으려면 간선 V − 1개가 필요합니다.</a:t>
            </a:r>
          </a:p>
        </p:txBody>
      </p:sp>
      <p:sp>
        <p:nvSpPr>
          <p:cNvPr id="51" name="fit:13c60391ac6541bd 52"/>
          <p:cNvSpPr/>
          <p:nvPr/>
        </p:nvSpPr>
        <p:spPr>
          <a:xfrm>
            <a:off x="612648" y="5660136"/>
            <a:ext cx="1097280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간선을 하나 더 넣으면 이미 이어진 두 정점을 또 잇게 되어 덩어리는 줄지 않고 사이클만 생깁니다. 그래서 신장 트리의 간선은 정확히 V − 1개입니다.</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크루스칼: 가장 싼 간선부터 잇는다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52</a:t>
            </a:r>
            <a:endParaRPr lang="ko-KR" altLang="en-US" sz="1050" b="0" dirty="0">
              <a:solidFill>
                <a:srgbClr val="606060"/>
              </a:solidFill>
              <a:latin typeface="Malgun Gothic"/>
              <a:ea typeface="Malgun Gothic"/>
              <a:cs typeface="Malgun Gothic"/>
            </a:endParaRPr>
          </a:p>
        </p:txBody>
      </p:sp>
      <p:sp>
        <p:nvSpPr>
          <p:cNvPr id="9" name="fit:0b57310d07169824 10"/>
          <p:cNvSpPr/>
          <p:nvPr/>
        </p:nvSpPr>
        <p:spPr>
          <a:xfrm>
            <a:off x="658368" y="1737360"/>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① 정렬</a:t>
            </a:r>
          </a:p>
        </p:txBody>
      </p:sp>
      <p:sp>
        <p:nvSpPr>
          <p:cNvPr id="10" name="fit:fd3b010012216165 11"/>
          <p:cNvSpPr/>
          <p:nvPr/>
        </p:nvSpPr>
        <p:spPr>
          <a:xfrm>
            <a:off x="841248" y="2066544"/>
            <a:ext cx="493776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모든 간선을 가중치 오름차순으로 줄 세웁니다.</a:t>
            </a:r>
          </a:p>
        </p:txBody>
      </p:sp>
      <p:sp>
        <p:nvSpPr>
          <p:cNvPr id="11" name="fit:9b5ca5a1a5183f49 12"/>
          <p:cNvSpPr/>
          <p:nvPr/>
        </p:nvSpPr>
        <p:spPr>
          <a:xfrm>
            <a:off x="658368" y="2450592"/>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② 싼 간선부터 검사</a:t>
            </a:r>
          </a:p>
        </p:txBody>
      </p:sp>
      <p:sp>
        <p:nvSpPr>
          <p:cNvPr id="12" name="fit:c71909c7f37586bd 13"/>
          <p:cNvSpPr/>
          <p:nvPr/>
        </p:nvSpPr>
        <p:spPr>
          <a:xfrm>
            <a:off x="841248" y="2779776"/>
            <a:ext cx="493776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사이클을 만들지 않으면 채택하고, 만들면 버립니다.</a:t>
            </a:r>
          </a:p>
        </p:txBody>
      </p:sp>
      <p:sp>
        <p:nvSpPr>
          <p:cNvPr id="13" name="fit:776fa308e411933f 14"/>
          <p:cNvSpPr/>
          <p:nvPr/>
        </p:nvSpPr>
        <p:spPr>
          <a:xfrm>
            <a:off x="658368" y="3163824"/>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③ 멈춤</a:t>
            </a:r>
          </a:p>
        </p:txBody>
      </p:sp>
      <p:sp>
        <p:nvSpPr>
          <p:cNvPr id="14" name="fit:3e1c69787374a42e 15"/>
          <p:cNvSpPr/>
          <p:nvPr/>
        </p:nvSpPr>
        <p:spPr>
          <a:xfrm>
            <a:off x="841248" y="3493008"/>
            <a:ext cx="493776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채택한 간선이 V − 1개가 되면 끝납니다.</a:t>
            </a:r>
          </a:p>
        </p:txBody>
      </p:sp>
      <p:sp>
        <p:nvSpPr>
          <p:cNvPr id="15" name="fit:5e564016c6f49db8 16"/>
          <p:cNvSpPr/>
          <p:nvPr/>
        </p:nvSpPr>
        <p:spPr>
          <a:xfrm>
            <a:off x="658368" y="3877056"/>
            <a:ext cx="5120640" cy="621792"/>
          </a:xfrm>
          <a:prstGeom prst="rect">
            <a:avLst/>
          </a:prstGeom>
          <a:noFill/>
          <a:ln w="0">
            <a:noFill/>
          </a:ln>
        </p:spPr>
        <p:txBody>
          <a:bodyPr wrap="square" lIns="0" tIns="0" rIns="0" bIns="0" anchor="t">
            <a:noAutofit/>
          </a:bodyPr>
          <a:lstStyle/>
          <a:p>
            <a:pPr algn="l" eaLnBrk="0" latinLnBrk="0">
              <a:lnSpc>
                <a:spcPct val="100000"/>
              </a:lnSpc>
              <a:buNone/>
            </a:pPr>
            <a:r>
              <a:rPr lang="ko-KR" altLang="en-US" sz="1900" b="1" dirty="0">
                <a:solidFill>
                  <a:srgbClr val="0E8A7D"/>
                </a:solidFill>
                <a:latin typeface="Malgun Gothic"/>
                <a:ea typeface="Malgun Gothic"/>
                <a:cs typeface="Malgun Gothic"/>
              </a:rPr>
              <a:t>사이클 판정: 간선의 두 끝이 이미 같은 덩어리이면 사이클</a:t>
            </a:r>
          </a:p>
        </p:txBody>
      </p:sp>
      <p:sp>
        <p:nvSpPr>
          <p:cNvPr id="16" name="fit:d83ac612ca4fb575 17"/>
          <p:cNvSpPr/>
          <p:nvPr/>
        </p:nvSpPr>
        <p:spPr>
          <a:xfrm>
            <a:off x="658368" y="4608576"/>
            <a:ext cx="5120640" cy="79552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선택 = 남은 간선 중 가장 싼 것, 적정성 검사 = 사이클이 생기지 않는가, 해답 검사 = 간선이 V − 1개인가</a:t>
            </a:r>
          </a:p>
        </p:txBody>
      </p:sp>
      <p:pic>
        <p:nvPicPr>
          <p:cNvPr id="17" name="그림 18"/>
          <p:cNvPicPr>
            <a:picLocks noChangeAspect="1"/>
          </p:cNvPicPr>
          <p:nvPr/>
        </p:nvPicPr>
        <p:blipFill>
          <a:blip r:embed="rId3"/>
          <a:stretch>
            <a:fillRect/>
          </a:stretch>
        </p:blipFill>
        <p:spPr>
          <a:xfrm>
            <a:off x="6126480" y="2441899"/>
            <a:ext cx="5458968" cy="2980042"/>
          </a:xfrm>
          <a:prstGeom prst="rect">
            <a:avLst/>
          </a:prstGeom>
        </p:spPr>
      </p:pic>
      <p:sp>
        <p:nvSpPr>
          <p:cNvPr id="18" name="직사각형 19"/>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왼쪽 그림: 가장 싼 간선부터 잇는다    오른쪽 그림: 이미 이어진 두 곳을 또 이으면 사이클이 되므로 버린다</a:t>
            </a:r>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a:solidFill>
                  <a:srgbClr val="171717"/>
                </a:solidFill>
                <a:latin typeface="Malgun Gothic"/>
                <a:ea typeface="Malgun Gothic"/>
                <a:cs typeface="Malgun Gothic"/>
              </a:rPr>
              <a:t>크루스칼 ① </a:t>
            </a:r>
            <a:r>
              <a:rPr lang="en-US" altLang="ko-KR" sz="3000" b="1">
                <a:solidFill>
                  <a:srgbClr val="171717"/>
                </a:solidFill>
                <a:latin typeface="Malgun Gothic"/>
                <a:ea typeface="Malgun Gothic"/>
                <a:cs typeface="Malgun Gothic"/>
              </a:rPr>
              <a:t>AB 1 </a:t>
            </a:r>
            <a:r>
              <a:rPr lang="ko-KR" altLang="en-US" sz="3000" b="1">
                <a:solidFill>
                  <a:srgbClr val="171717"/>
                </a:solidFill>
                <a:latin typeface="Malgun Gothic"/>
                <a:ea typeface="Malgun Gothic"/>
                <a:cs typeface="Malgun Gothic"/>
              </a:rPr>
              <a:t>채택</a:t>
            </a:r>
            <a:endParaRPr lang="ko-KR" altLang="en-US" sz="3000" b="1" dirty="0">
              <a:solidFill>
                <a:srgbClr val="171717"/>
              </a:solidFill>
              <a:latin typeface="Malgun Gothic"/>
              <a:ea typeface="Malgun Gothic"/>
              <a:cs typeface="Malgun Gothic"/>
            </a:endParaRP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53</a:t>
            </a:r>
            <a:endParaRPr lang="ko-KR" altLang="en-US" sz="1050" b="0" dirty="0">
              <a:solidFill>
                <a:srgbClr val="606060"/>
              </a:solidFill>
              <a:latin typeface="Malgun Gothic"/>
              <a:ea typeface="Malgun Gothic"/>
              <a:cs typeface="Malgun Gothic"/>
            </a:endParaRPr>
          </a:p>
        </p:txBody>
      </p:sp>
      <p:sp>
        <p:nvSpPr>
          <p:cNvPr id="9" name="fit:b92d24154a3cfc7a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간선을 정렬하면 AB 1, BC 2, AC 3, CD 4, BD 5입니다. 정점이 4개이므로 간선 3개(V − 1)에서 멈춥니다.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816016152"/>
              </p:ext>
            </p:extLst>
          </p:nvPr>
        </p:nvGraphicFramePr>
        <p:xfrm>
          <a:off x="7909560" y="2935224"/>
          <a:ext cx="3666744" cy="1975104"/>
        </p:xfrm>
        <a:graphic>
          <a:graphicData uri="http://schemas.openxmlformats.org/drawingml/2006/table">
            <a:tbl>
              <a:tblPr/>
              <a:tblGrid>
                <a:gridCol w="1254412">
                  <a:extLst>
                    <a:ext uri="{9D8B030D-6E8A-4147-A177-3AD203B41FA5}">
                      <a16:colId xmlns:a16="http://schemas.microsoft.com/office/drawing/2014/main" val="20000"/>
                    </a:ext>
                  </a:extLst>
                </a:gridCol>
                <a:gridCol w="964933">
                  <a:extLst>
                    <a:ext uri="{9D8B030D-6E8A-4147-A177-3AD203B41FA5}">
                      <a16:colId xmlns:a16="http://schemas.microsoft.com/office/drawing/2014/main" val="20001"/>
                    </a:ext>
                  </a:extLst>
                </a:gridCol>
                <a:gridCol w="1447399">
                  <a:extLst>
                    <a:ext uri="{9D8B030D-6E8A-4147-A177-3AD203B41FA5}">
                      <a16:colId xmlns:a16="http://schemas.microsoft.com/office/drawing/2014/main" val="20002"/>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간선</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가중치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결과</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AB</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1</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1C2"/>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3"/>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4"/>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5</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5"/>
                  </a:ext>
                </a:extLst>
              </a:tr>
            </a:tbl>
          </a:graphicData>
        </a:graphic>
      </p:graphicFrame>
      <p:sp>
        <p:nvSpPr>
          <p:cNvPr id="12" name="fit:60ec7fb8b6dd7c45 13"/>
          <p:cNvSpPr/>
          <p:nvPr/>
        </p:nvSpPr>
        <p:spPr>
          <a:xfrm>
            <a:off x="7909560" y="507492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A와 B는 서로 다른 덩어리 → 채택</a:t>
            </a:r>
          </a:p>
        </p:txBody>
      </p:sp>
      <p:sp>
        <p:nvSpPr>
          <p:cNvPr id="13" name="fit:d58c11ab620f4470 14"/>
          <p:cNvSpPr/>
          <p:nvPr/>
        </p:nvSpPr>
        <p:spPr>
          <a:xfrm>
            <a:off x="7909560" y="5413248"/>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덩어리: {A, B} {C} {D}</a:t>
            </a:r>
          </a:p>
        </p:txBody>
      </p:sp>
      <p:sp>
        <p:nvSpPr>
          <p:cNvPr id="14" name="fit:877f35efb051e1d3 15"/>
          <p:cNvSpPr/>
          <p:nvPr/>
        </p:nvSpPr>
        <p:spPr>
          <a:xfrm>
            <a:off x="7909560" y="5751576"/>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합 1</a:t>
            </a:r>
          </a:p>
        </p:txBody>
      </p:sp>
      <p:cxnSp>
        <p:nvCxnSpPr>
          <p:cNvPr id="15" name="연결선 16"/>
          <p:cNvCxnSpPr/>
          <p:nvPr/>
        </p:nvCxnSpPr>
        <p:spPr>
          <a:xfrm flipV="1">
            <a:off x="1394143" y="2788709"/>
            <a:ext cx="1783714" cy="1189142"/>
          </a:xfrm>
          <a:prstGeom prst="line">
            <a:avLst/>
          </a:prstGeom>
          <a:ln w="44450">
            <a:solidFill>
              <a:srgbClr val="B8651B"/>
            </a:solidFill>
          </a:ln>
        </p:spPr>
      </p:cxnSp>
      <p:sp>
        <p:nvSpPr>
          <p:cNvPr id="16" name="직사각형 17"/>
          <p:cNvSpPr/>
          <p:nvPr/>
        </p:nvSpPr>
        <p:spPr>
          <a:xfrm>
            <a:off x="196710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1</a:t>
            </a:r>
          </a:p>
        </p:txBody>
      </p:sp>
      <p:cxnSp>
        <p:nvCxnSpPr>
          <p:cNvPr id="17" name="연결선 18"/>
          <p:cNvCxnSpPr/>
          <p:nvPr/>
        </p:nvCxnSpPr>
        <p:spPr>
          <a:xfrm>
            <a:off x="3383280" y="2898648"/>
            <a:ext cx="0" cy="2432304"/>
          </a:xfrm>
          <a:prstGeom prst="line">
            <a:avLst/>
          </a:prstGeom>
          <a:ln w="19050">
            <a:solidFill>
              <a:srgbClr val="9A9A9A"/>
            </a:solidFill>
          </a:ln>
        </p:spPr>
      </p:cxnSp>
      <p:sp>
        <p:nvSpPr>
          <p:cNvPr id="18" name="직사각형 19"/>
          <p:cNvSpPr/>
          <p:nvPr/>
        </p:nvSpPr>
        <p:spPr>
          <a:xfrm>
            <a:off x="2871216" y="397764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2</a:t>
            </a:r>
          </a:p>
        </p:txBody>
      </p:sp>
      <p:cxnSp>
        <p:nvCxnSpPr>
          <p:cNvPr id="19" name="연결선 20"/>
          <p:cNvCxnSpPr/>
          <p:nvPr/>
        </p:nvCxnSpPr>
        <p:spPr>
          <a:xfrm>
            <a:off x="1394143" y="4251749"/>
            <a:ext cx="1783714" cy="1189142"/>
          </a:xfrm>
          <a:prstGeom prst="line">
            <a:avLst/>
          </a:prstGeom>
          <a:ln w="19050">
            <a:solidFill>
              <a:srgbClr val="9A9A9A"/>
            </a:solidFill>
          </a:ln>
        </p:spPr>
      </p:cxnSp>
      <p:sp>
        <p:nvSpPr>
          <p:cNvPr id="20" name="직사각형 21"/>
          <p:cNvSpPr/>
          <p:nvPr/>
        </p:nvSpPr>
        <p:spPr>
          <a:xfrm>
            <a:off x="196710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p:txBody>
      </p:sp>
      <p:cxnSp>
        <p:nvCxnSpPr>
          <p:cNvPr id="21" name="연결선 22"/>
          <p:cNvCxnSpPr/>
          <p:nvPr/>
        </p:nvCxnSpPr>
        <p:spPr>
          <a:xfrm flipV="1">
            <a:off x="3588703" y="4251749"/>
            <a:ext cx="1783714" cy="1189142"/>
          </a:xfrm>
          <a:prstGeom prst="line">
            <a:avLst/>
          </a:prstGeom>
          <a:ln w="19050">
            <a:solidFill>
              <a:srgbClr val="9A9A9A"/>
            </a:solidFill>
          </a:ln>
        </p:spPr>
      </p:cxnSp>
      <p:sp>
        <p:nvSpPr>
          <p:cNvPr id="22" name="직사각형 23"/>
          <p:cNvSpPr/>
          <p:nvPr/>
        </p:nvSpPr>
        <p:spPr>
          <a:xfrm>
            <a:off x="432397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p:txBody>
      </p:sp>
      <p:cxnSp>
        <p:nvCxnSpPr>
          <p:cNvPr id="23" name="연결선 24"/>
          <p:cNvCxnSpPr/>
          <p:nvPr/>
        </p:nvCxnSpPr>
        <p:spPr>
          <a:xfrm>
            <a:off x="3588703" y="2788709"/>
            <a:ext cx="1783714" cy="1189142"/>
          </a:xfrm>
          <a:prstGeom prst="line">
            <a:avLst/>
          </a:prstGeom>
          <a:ln w="19050">
            <a:solidFill>
              <a:srgbClr val="9A9A9A"/>
            </a:solidFill>
          </a:ln>
        </p:spPr>
      </p:cxnSp>
      <p:sp>
        <p:nvSpPr>
          <p:cNvPr id="24" name="직사각형 25"/>
          <p:cNvSpPr/>
          <p:nvPr/>
        </p:nvSpPr>
        <p:spPr>
          <a:xfrm>
            <a:off x="432397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25" name="직사각형 26"/>
          <p:cNvSpPr/>
          <p:nvPr/>
        </p:nvSpPr>
        <p:spPr>
          <a:xfrm>
            <a:off x="941832" y="386791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6" name="직사각형 27"/>
          <p:cNvSpPr/>
          <p:nvPr/>
        </p:nvSpPr>
        <p:spPr>
          <a:xfrm>
            <a:off x="3136392" y="240487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7" name="직사각형 28"/>
          <p:cNvSpPr/>
          <p:nvPr/>
        </p:nvSpPr>
        <p:spPr>
          <a:xfrm>
            <a:off x="3136392" y="533095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8" name="직사각형 29"/>
          <p:cNvSpPr/>
          <p:nvPr/>
        </p:nvSpPr>
        <p:spPr>
          <a:xfrm>
            <a:off x="5330952" y="38679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29" name="직사각형 30"/>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청록: 채택한 간선    주황: 지금 보는 간선(노랑 정점: 그 두 끝)    빨강 점선: 버린 간선    초록 정점: 채택한 간선에 닿은 정점</a:t>
            </a:r>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② BC 2 채택</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54</a:t>
            </a:r>
            <a:endParaRPr lang="ko-KR" altLang="en-US" sz="1050" b="0" dirty="0">
              <a:solidFill>
                <a:srgbClr val="606060"/>
              </a:solidFill>
              <a:latin typeface="Malgun Gothic"/>
              <a:ea typeface="Malgun Gothic"/>
              <a:cs typeface="Malgun Gothic"/>
            </a:endParaRPr>
          </a:p>
        </p:txBody>
      </p:sp>
      <p:sp>
        <p:nvSpPr>
          <p:cNvPr id="9" name="fit:25b2691ff2a7ef7e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B({A, B})와 C(혼자)는 서로 다른 덩어리입니다 → 채택.</a:t>
            </a:r>
          </a:p>
          <a:p>
            <a:pPr algn="l" eaLnBrk="0" latinLnBrk="0">
              <a:lnSpc>
                <a:spcPct val="100000"/>
              </a:lnSpc>
              <a:buNone/>
            </a:pPr>
            <a:r>
              <a:rPr lang="ko-KR" altLang="en-US" sz="2025" b="0" dirty="0">
                <a:solidFill>
                  <a:srgbClr val="171717"/>
                </a:solidFill>
                <a:latin typeface="Malgun Gothic"/>
                <a:ea typeface="Malgun Gothic"/>
                <a:cs typeface="Malgun Gothic"/>
              </a:rPr>
              <a:t>덩어리: {A, B, C} {D}</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1394712076"/>
              </p:ext>
            </p:extLst>
          </p:nvPr>
        </p:nvGraphicFramePr>
        <p:xfrm>
          <a:off x="7909560" y="2935224"/>
          <a:ext cx="3666744" cy="1975104"/>
        </p:xfrm>
        <a:graphic>
          <a:graphicData uri="http://schemas.openxmlformats.org/drawingml/2006/table">
            <a:tbl>
              <a:tblPr/>
              <a:tblGrid>
                <a:gridCol w="1254412">
                  <a:extLst>
                    <a:ext uri="{9D8B030D-6E8A-4147-A177-3AD203B41FA5}">
                      <a16:colId xmlns:a16="http://schemas.microsoft.com/office/drawing/2014/main" val="20000"/>
                    </a:ext>
                  </a:extLst>
                </a:gridCol>
                <a:gridCol w="964933">
                  <a:extLst>
                    <a:ext uri="{9D8B030D-6E8A-4147-A177-3AD203B41FA5}">
                      <a16:colId xmlns:a16="http://schemas.microsoft.com/office/drawing/2014/main" val="20001"/>
                    </a:ext>
                  </a:extLst>
                </a:gridCol>
                <a:gridCol w="1447399">
                  <a:extLst>
                    <a:ext uri="{9D8B030D-6E8A-4147-A177-3AD203B41FA5}">
                      <a16:colId xmlns:a16="http://schemas.microsoft.com/office/drawing/2014/main" val="20002"/>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간선</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가중치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결과</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BC</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2</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1C2"/>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3"/>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4"/>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5</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5"/>
                  </a:ext>
                </a:extLst>
              </a:tr>
            </a:tbl>
          </a:graphicData>
        </a:graphic>
      </p:graphicFrame>
      <p:sp>
        <p:nvSpPr>
          <p:cNvPr id="12" name="fit:28a9b88ebb5e5c5a 13"/>
          <p:cNvSpPr/>
          <p:nvPr/>
        </p:nvSpPr>
        <p:spPr>
          <a:xfrm>
            <a:off x="7909560" y="507492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채택한 간선 2개</a:t>
            </a:r>
          </a:p>
        </p:txBody>
      </p:sp>
      <p:sp>
        <p:nvSpPr>
          <p:cNvPr id="13" name="fit:082fa0ca8ece80fe 14"/>
          <p:cNvSpPr/>
          <p:nvPr/>
        </p:nvSpPr>
        <p:spPr>
          <a:xfrm>
            <a:off x="7909560" y="5413248"/>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합 1 + 2 = 3</a:t>
            </a:r>
          </a:p>
        </p:txBody>
      </p:sp>
      <p:cxnSp>
        <p:nvCxnSpPr>
          <p:cNvPr id="14" name="연결선 15"/>
          <p:cNvCxnSpPr/>
          <p:nvPr/>
        </p:nvCxnSpPr>
        <p:spPr>
          <a:xfrm flipV="1">
            <a:off x="1394143" y="2788709"/>
            <a:ext cx="1783714" cy="1189142"/>
          </a:xfrm>
          <a:prstGeom prst="line">
            <a:avLst/>
          </a:prstGeom>
          <a:ln w="44450">
            <a:solidFill>
              <a:srgbClr val="0E8A7D"/>
            </a:solidFill>
          </a:ln>
        </p:spPr>
      </p:cxnSp>
      <p:sp>
        <p:nvSpPr>
          <p:cNvPr id="15" name="직사각형 16"/>
          <p:cNvSpPr/>
          <p:nvPr/>
        </p:nvSpPr>
        <p:spPr>
          <a:xfrm>
            <a:off x="196710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1</a:t>
            </a:r>
          </a:p>
        </p:txBody>
      </p:sp>
      <p:cxnSp>
        <p:nvCxnSpPr>
          <p:cNvPr id="16" name="연결선 17"/>
          <p:cNvCxnSpPr/>
          <p:nvPr/>
        </p:nvCxnSpPr>
        <p:spPr>
          <a:xfrm>
            <a:off x="3383280" y="2898648"/>
            <a:ext cx="0" cy="2432304"/>
          </a:xfrm>
          <a:prstGeom prst="line">
            <a:avLst/>
          </a:prstGeom>
          <a:ln w="44450">
            <a:solidFill>
              <a:srgbClr val="B8651B"/>
            </a:solidFill>
          </a:ln>
        </p:spPr>
      </p:cxnSp>
      <p:sp>
        <p:nvSpPr>
          <p:cNvPr id="17" name="직사각형 18"/>
          <p:cNvSpPr/>
          <p:nvPr/>
        </p:nvSpPr>
        <p:spPr>
          <a:xfrm>
            <a:off x="2871216" y="397764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2</a:t>
            </a:r>
          </a:p>
        </p:txBody>
      </p:sp>
      <p:cxnSp>
        <p:nvCxnSpPr>
          <p:cNvPr id="18" name="연결선 19"/>
          <p:cNvCxnSpPr/>
          <p:nvPr/>
        </p:nvCxnSpPr>
        <p:spPr>
          <a:xfrm>
            <a:off x="1394143" y="4251749"/>
            <a:ext cx="1783714" cy="1189142"/>
          </a:xfrm>
          <a:prstGeom prst="line">
            <a:avLst/>
          </a:prstGeom>
          <a:ln w="19050">
            <a:solidFill>
              <a:srgbClr val="9A9A9A"/>
            </a:solidFill>
          </a:ln>
        </p:spPr>
      </p:cxnSp>
      <p:sp>
        <p:nvSpPr>
          <p:cNvPr id="19" name="직사각형 20"/>
          <p:cNvSpPr/>
          <p:nvPr/>
        </p:nvSpPr>
        <p:spPr>
          <a:xfrm>
            <a:off x="196710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p:txBody>
      </p:sp>
      <p:cxnSp>
        <p:nvCxnSpPr>
          <p:cNvPr id="20" name="연결선 21"/>
          <p:cNvCxnSpPr/>
          <p:nvPr/>
        </p:nvCxnSpPr>
        <p:spPr>
          <a:xfrm flipV="1">
            <a:off x="3588703" y="4251749"/>
            <a:ext cx="1783714" cy="1189142"/>
          </a:xfrm>
          <a:prstGeom prst="line">
            <a:avLst/>
          </a:prstGeom>
          <a:ln w="19050">
            <a:solidFill>
              <a:srgbClr val="9A9A9A"/>
            </a:solidFill>
          </a:ln>
        </p:spPr>
      </p:cxnSp>
      <p:sp>
        <p:nvSpPr>
          <p:cNvPr id="21" name="직사각형 22"/>
          <p:cNvSpPr/>
          <p:nvPr/>
        </p:nvSpPr>
        <p:spPr>
          <a:xfrm>
            <a:off x="432397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p:txBody>
      </p:sp>
      <p:cxnSp>
        <p:nvCxnSpPr>
          <p:cNvPr id="22" name="연결선 23"/>
          <p:cNvCxnSpPr/>
          <p:nvPr/>
        </p:nvCxnSpPr>
        <p:spPr>
          <a:xfrm>
            <a:off x="3588703" y="2788709"/>
            <a:ext cx="1783714" cy="1189142"/>
          </a:xfrm>
          <a:prstGeom prst="line">
            <a:avLst/>
          </a:prstGeom>
          <a:ln w="19050">
            <a:solidFill>
              <a:srgbClr val="9A9A9A"/>
            </a:solidFill>
          </a:ln>
        </p:spPr>
      </p:cxnSp>
      <p:sp>
        <p:nvSpPr>
          <p:cNvPr id="23" name="직사각형 24"/>
          <p:cNvSpPr/>
          <p:nvPr/>
        </p:nvSpPr>
        <p:spPr>
          <a:xfrm>
            <a:off x="432397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24" name="직사각형 25"/>
          <p:cNvSpPr/>
          <p:nvPr/>
        </p:nvSpPr>
        <p:spPr>
          <a:xfrm>
            <a:off x="941832" y="386791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5" name="직사각형 26"/>
          <p:cNvSpPr/>
          <p:nvPr/>
        </p:nvSpPr>
        <p:spPr>
          <a:xfrm>
            <a:off x="3136392" y="240487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6" name="직사각형 27"/>
          <p:cNvSpPr/>
          <p:nvPr/>
        </p:nvSpPr>
        <p:spPr>
          <a:xfrm>
            <a:off x="3136392" y="533095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7" name="직사각형 28"/>
          <p:cNvSpPr/>
          <p:nvPr/>
        </p:nvSpPr>
        <p:spPr>
          <a:xfrm>
            <a:off x="5330952" y="38679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28" name="직사각형 29"/>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청록: 채택한 간선    주황: 지금 보는 간선(노랑 정점: 그 두 끝)    빨강 점선: 버린 간선    초록 정점: 채택한 간선에 닿은 정점</a:t>
            </a:r>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③ AC 3 사이클 → 버림</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55</a:t>
            </a:r>
            <a:endParaRPr lang="ko-KR" altLang="en-US" sz="1050" b="0" dirty="0">
              <a:solidFill>
                <a:srgbClr val="606060"/>
              </a:solidFill>
              <a:latin typeface="Malgun Gothic"/>
              <a:ea typeface="Malgun Gothic"/>
              <a:cs typeface="Malgun Gothic"/>
            </a:endParaRPr>
          </a:p>
        </p:txBody>
      </p:sp>
      <p:sp>
        <p:nvSpPr>
          <p:cNvPr id="9" name="fit:3c6456e567c9253e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A와 C는 이미 A – B – C로 이어져 있습니다.</a:t>
            </a:r>
          </a:p>
          <a:p>
            <a:pPr algn="l" eaLnBrk="0" latinLnBrk="0">
              <a:lnSpc>
                <a:spcPct val="100000"/>
              </a:lnSpc>
              <a:buNone/>
            </a:pPr>
            <a:r>
              <a:rPr lang="ko-KR" altLang="en-US" sz="2025" b="0" dirty="0">
                <a:solidFill>
                  <a:srgbClr val="171717"/>
                </a:solidFill>
                <a:latin typeface="Malgun Gothic"/>
                <a:ea typeface="Malgun Gothic"/>
                <a:cs typeface="Malgun Gothic"/>
              </a:rPr>
              <a:t>AC를 더하면 사이클 A – B – C – A가 생기므로 버립니다.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1752753850"/>
              </p:ext>
            </p:extLst>
          </p:nvPr>
        </p:nvGraphicFramePr>
        <p:xfrm>
          <a:off x="7909560" y="2935224"/>
          <a:ext cx="3666744" cy="1975104"/>
        </p:xfrm>
        <a:graphic>
          <a:graphicData uri="http://schemas.openxmlformats.org/drawingml/2006/table">
            <a:tbl>
              <a:tblPr/>
              <a:tblGrid>
                <a:gridCol w="1254412">
                  <a:extLst>
                    <a:ext uri="{9D8B030D-6E8A-4147-A177-3AD203B41FA5}">
                      <a16:colId xmlns:a16="http://schemas.microsoft.com/office/drawing/2014/main" val="20000"/>
                    </a:ext>
                  </a:extLst>
                </a:gridCol>
                <a:gridCol w="964933">
                  <a:extLst>
                    <a:ext uri="{9D8B030D-6E8A-4147-A177-3AD203B41FA5}">
                      <a16:colId xmlns:a16="http://schemas.microsoft.com/office/drawing/2014/main" val="20001"/>
                    </a:ext>
                  </a:extLst>
                </a:gridCol>
                <a:gridCol w="1447399">
                  <a:extLst>
                    <a:ext uri="{9D8B030D-6E8A-4147-A177-3AD203B41FA5}">
                      <a16:colId xmlns:a16="http://schemas.microsoft.com/office/drawing/2014/main" val="20002"/>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간선</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가중치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결과</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AC</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사이클</a:t>
                      </a:r>
                    </a:p>
                  </a:txBody>
                  <a:tcPr marL="54864" marR="54864" marT="18288" marB="18288" anchor="ctr">
                    <a:solidFill>
                      <a:srgbClr val="FFF1C2"/>
                    </a:solidFill>
                  </a:tcPr>
                </a:tc>
                <a:extLst>
                  <a:ext uri="{0D108BD9-81ED-4DB2-BD59-A6C34878D82A}">
                    <a16:rowId xmlns:a16="http://schemas.microsoft.com/office/drawing/2014/main" val="10003"/>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CD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4"/>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5</a:t>
                      </a:r>
                    </a:p>
                  </a:txBody>
                  <a:tcPr marL="54864" marR="54864" marT="18288" marB="18288" anchor="ctr">
                    <a:solidFill>
                      <a:srgbClr val="FFFFFF"/>
                    </a:solidFill>
                  </a:tcPr>
                </a:tc>
                <a:tc>
                  <a:txBody>
                    <a:bodyPr/>
                    <a:lstStyle/>
                    <a:p>
                      <a:pPr algn="ctr" eaLnBrk="0" latinLnBrk="0">
                        <a:lnSpc>
                          <a:spcPct val="100000"/>
                        </a:lnSpc>
                        <a:buNone/>
                      </a:pPr>
                      <a:endParaRPr lang="ko-KR" sz="1500"/>
                    </a:p>
                  </a:txBody>
                  <a:tcPr marL="54864" marR="54864" marT="18288" marB="18288" anchor="ctr">
                    <a:solidFill>
                      <a:srgbClr val="FFFFFF"/>
                    </a:solidFill>
                  </a:tcPr>
                </a:tc>
                <a:extLst>
                  <a:ext uri="{0D108BD9-81ED-4DB2-BD59-A6C34878D82A}">
                    <a16:rowId xmlns:a16="http://schemas.microsoft.com/office/drawing/2014/main" val="10005"/>
                  </a:ext>
                </a:extLst>
              </a:tr>
            </a:tbl>
          </a:graphicData>
        </a:graphic>
      </p:graphicFrame>
      <p:sp>
        <p:nvSpPr>
          <p:cNvPr id="12" name="fit:160591a2d1cb080d 13"/>
          <p:cNvSpPr/>
          <p:nvPr/>
        </p:nvSpPr>
        <p:spPr>
          <a:xfrm>
            <a:off x="7909560" y="5074920"/>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채택한 간선 그대로 2개</a:t>
            </a:r>
          </a:p>
        </p:txBody>
      </p:sp>
      <p:sp>
        <p:nvSpPr>
          <p:cNvPr id="13" name="fit:133dda4b9bc020a5 14"/>
          <p:cNvSpPr/>
          <p:nvPr/>
        </p:nvSpPr>
        <p:spPr>
          <a:xfrm>
            <a:off x="7909560" y="5413248"/>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합 3</a:t>
            </a:r>
          </a:p>
        </p:txBody>
      </p:sp>
      <p:cxnSp>
        <p:nvCxnSpPr>
          <p:cNvPr id="14" name="연결선 15"/>
          <p:cNvCxnSpPr/>
          <p:nvPr/>
        </p:nvCxnSpPr>
        <p:spPr>
          <a:xfrm flipV="1">
            <a:off x="1394143" y="2788709"/>
            <a:ext cx="1783714" cy="1189142"/>
          </a:xfrm>
          <a:prstGeom prst="line">
            <a:avLst/>
          </a:prstGeom>
          <a:ln w="44450">
            <a:solidFill>
              <a:srgbClr val="B8651B"/>
            </a:solidFill>
          </a:ln>
        </p:spPr>
      </p:cxnSp>
      <p:sp>
        <p:nvSpPr>
          <p:cNvPr id="15" name="직사각형 16"/>
          <p:cNvSpPr/>
          <p:nvPr/>
        </p:nvSpPr>
        <p:spPr>
          <a:xfrm>
            <a:off x="196710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1</a:t>
            </a:r>
          </a:p>
        </p:txBody>
      </p:sp>
      <p:cxnSp>
        <p:nvCxnSpPr>
          <p:cNvPr id="16" name="연결선 17"/>
          <p:cNvCxnSpPr/>
          <p:nvPr/>
        </p:nvCxnSpPr>
        <p:spPr>
          <a:xfrm>
            <a:off x="3383280" y="2898648"/>
            <a:ext cx="0" cy="2432304"/>
          </a:xfrm>
          <a:prstGeom prst="line">
            <a:avLst/>
          </a:prstGeom>
          <a:ln w="44450">
            <a:solidFill>
              <a:srgbClr val="B8651B"/>
            </a:solidFill>
          </a:ln>
        </p:spPr>
      </p:cxnSp>
      <p:sp>
        <p:nvSpPr>
          <p:cNvPr id="17" name="직사각형 18"/>
          <p:cNvSpPr/>
          <p:nvPr/>
        </p:nvSpPr>
        <p:spPr>
          <a:xfrm>
            <a:off x="2871216" y="397764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2</a:t>
            </a:r>
          </a:p>
        </p:txBody>
      </p:sp>
      <p:cxnSp>
        <p:nvCxnSpPr>
          <p:cNvPr id="18" name="연결선 19"/>
          <p:cNvCxnSpPr/>
          <p:nvPr/>
        </p:nvCxnSpPr>
        <p:spPr>
          <a:xfrm>
            <a:off x="1394143" y="4251749"/>
            <a:ext cx="1783714" cy="1189142"/>
          </a:xfrm>
          <a:prstGeom prst="line">
            <a:avLst/>
          </a:prstGeom>
          <a:ln w="19050">
            <a:solidFill>
              <a:srgbClr val="B23B3B"/>
            </a:solidFill>
            <a:prstDash val="dash"/>
          </a:ln>
        </p:spPr>
      </p:cxnSp>
      <p:sp>
        <p:nvSpPr>
          <p:cNvPr id="19" name="직사각형 20"/>
          <p:cNvSpPr/>
          <p:nvPr/>
        </p:nvSpPr>
        <p:spPr>
          <a:xfrm>
            <a:off x="196710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23B3B"/>
                </a:solidFill>
                <a:latin typeface="Malgun Gothic"/>
                <a:ea typeface="Malgun Gothic"/>
                <a:cs typeface="Malgun Gothic"/>
              </a:rPr>
              <a:t>3</a:t>
            </a:r>
          </a:p>
        </p:txBody>
      </p:sp>
      <p:cxnSp>
        <p:nvCxnSpPr>
          <p:cNvPr id="20" name="연결선 21"/>
          <p:cNvCxnSpPr/>
          <p:nvPr/>
        </p:nvCxnSpPr>
        <p:spPr>
          <a:xfrm flipV="1">
            <a:off x="3588703" y="4251749"/>
            <a:ext cx="1783714" cy="1189142"/>
          </a:xfrm>
          <a:prstGeom prst="line">
            <a:avLst/>
          </a:prstGeom>
          <a:ln w="19050">
            <a:solidFill>
              <a:srgbClr val="9A9A9A"/>
            </a:solidFill>
          </a:ln>
        </p:spPr>
      </p:cxnSp>
      <p:sp>
        <p:nvSpPr>
          <p:cNvPr id="21" name="직사각형 22"/>
          <p:cNvSpPr/>
          <p:nvPr/>
        </p:nvSpPr>
        <p:spPr>
          <a:xfrm>
            <a:off x="432397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p:txBody>
      </p:sp>
      <p:cxnSp>
        <p:nvCxnSpPr>
          <p:cNvPr id="22" name="연결선 23"/>
          <p:cNvCxnSpPr/>
          <p:nvPr/>
        </p:nvCxnSpPr>
        <p:spPr>
          <a:xfrm>
            <a:off x="3588703" y="2788709"/>
            <a:ext cx="1783714" cy="1189142"/>
          </a:xfrm>
          <a:prstGeom prst="line">
            <a:avLst/>
          </a:prstGeom>
          <a:ln w="19050">
            <a:solidFill>
              <a:srgbClr val="9A9A9A"/>
            </a:solidFill>
          </a:ln>
        </p:spPr>
      </p:cxnSp>
      <p:sp>
        <p:nvSpPr>
          <p:cNvPr id="23" name="직사각형 24"/>
          <p:cNvSpPr/>
          <p:nvPr/>
        </p:nvSpPr>
        <p:spPr>
          <a:xfrm>
            <a:off x="432397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24" name="직사각형 25"/>
          <p:cNvSpPr/>
          <p:nvPr/>
        </p:nvSpPr>
        <p:spPr>
          <a:xfrm>
            <a:off x="941832" y="386791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5" name="직사각형 26"/>
          <p:cNvSpPr/>
          <p:nvPr/>
        </p:nvSpPr>
        <p:spPr>
          <a:xfrm>
            <a:off x="3136392" y="240487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6" name="직사각형 27"/>
          <p:cNvSpPr/>
          <p:nvPr/>
        </p:nvSpPr>
        <p:spPr>
          <a:xfrm>
            <a:off x="3136392" y="533095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7" name="직사각형 28"/>
          <p:cNvSpPr/>
          <p:nvPr/>
        </p:nvSpPr>
        <p:spPr>
          <a:xfrm>
            <a:off x="5330952" y="38679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28" name="직사각형 29"/>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주황: A와 C를 이미 잇는 길    빨강 점선: 버린 AC(노랑 정점: 그 두 끝)    초록 정점: 채택한 간선에 닿은 정점</a:t>
            </a:r>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④ CD 4 채택 · 합 7</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56</a:t>
            </a:r>
            <a:endParaRPr lang="ko-KR" altLang="en-US" sz="1050" b="0" dirty="0">
              <a:solidFill>
                <a:srgbClr val="606060"/>
              </a:solidFill>
              <a:latin typeface="Malgun Gothic"/>
              <a:ea typeface="Malgun Gothic"/>
              <a:cs typeface="Malgun Gothic"/>
            </a:endParaRPr>
          </a:p>
        </p:txBody>
      </p:sp>
      <p:sp>
        <p:nvSpPr>
          <p:cNvPr id="9" name="fit:48a82fd0aee41166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D가 연결되어 간선 3개(= V − 1)가 되었으므로 멈춥니다.</a:t>
            </a:r>
          </a:p>
          <a:p>
            <a:pPr algn="l" eaLnBrk="0" latinLnBrk="0">
              <a:lnSpc>
                <a:spcPct val="100000"/>
              </a:lnSpc>
              <a:buNone/>
            </a:pPr>
            <a:r>
              <a:rPr lang="ko-KR" altLang="en-US" sz="2025" b="0" dirty="0">
                <a:solidFill>
                  <a:srgbClr val="171717"/>
                </a:solidFill>
                <a:latin typeface="Malgun Gothic"/>
                <a:ea typeface="Malgun Gothic"/>
                <a:cs typeface="Malgun Gothic"/>
              </a:rPr>
              <a:t>BD(5)는 확인하지 않습니다.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1682977463"/>
              </p:ext>
            </p:extLst>
          </p:nvPr>
        </p:nvGraphicFramePr>
        <p:xfrm>
          <a:off x="7909560" y="2935224"/>
          <a:ext cx="3666744" cy="1975104"/>
        </p:xfrm>
        <a:graphic>
          <a:graphicData uri="http://schemas.openxmlformats.org/drawingml/2006/table">
            <a:tbl>
              <a:tblPr/>
              <a:tblGrid>
                <a:gridCol w="1254412">
                  <a:extLst>
                    <a:ext uri="{9D8B030D-6E8A-4147-A177-3AD203B41FA5}">
                      <a16:colId xmlns:a16="http://schemas.microsoft.com/office/drawing/2014/main" val="20000"/>
                    </a:ext>
                  </a:extLst>
                </a:gridCol>
                <a:gridCol w="964933">
                  <a:extLst>
                    <a:ext uri="{9D8B030D-6E8A-4147-A177-3AD203B41FA5}">
                      <a16:colId xmlns:a16="http://schemas.microsoft.com/office/drawing/2014/main" val="20001"/>
                    </a:ext>
                  </a:extLst>
                </a:gridCol>
                <a:gridCol w="1447399">
                  <a:extLst>
                    <a:ext uri="{9D8B030D-6E8A-4147-A177-3AD203B41FA5}">
                      <a16:colId xmlns:a16="http://schemas.microsoft.com/office/drawing/2014/main" val="20002"/>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간선</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가중치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결과</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B23B3B"/>
                          </a:solidFill>
                          <a:latin typeface="Malgun Gothic"/>
                          <a:ea typeface="Malgun Gothic"/>
                          <a:cs typeface="Malgun Gothic"/>
                        </a:rPr>
                        <a:t>사이클</a:t>
                      </a:r>
                    </a:p>
                  </a:txBody>
                  <a:tcPr marL="54864" marR="54864" marT="18288" marB="18288" anchor="ctr">
                    <a:solidFill>
                      <a:srgbClr val="FFFFFF"/>
                    </a:solidFill>
                  </a:tcPr>
                </a:tc>
                <a:extLst>
                  <a:ext uri="{0D108BD9-81ED-4DB2-BD59-A6C34878D82A}">
                    <a16:rowId xmlns:a16="http://schemas.microsoft.com/office/drawing/2014/main" val="10003"/>
                  </a:ext>
                </a:extLst>
              </a:tr>
              <a:tr h="329184">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CD</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151515"/>
                          </a:solidFill>
                          <a:latin typeface="Malgun Gothic"/>
                          <a:ea typeface="Malgun Gothic"/>
                          <a:cs typeface="Malgun Gothic"/>
                        </a:rPr>
                        <a:t>4</a:t>
                      </a:r>
                    </a:p>
                  </a:txBody>
                  <a:tcPr marL="54864" marR="54864" marT="18288" marB="18288" anchor="ctr">
                    <a:solidFill>
                      <a:srgbClr val="FFF1C2"/>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채택</a:t>
                      </a:r>
                    </a:p>
                  </a:txBody>
                  <a:tcPr marL="54864" marR="54864" marT="18288" marB="18288" anchor="ctr">
                    <a:solidFill>
                      <a:srgbClr val="FFF1C2"/>
                    </a:solidFill>
                  </a:tcPr>
                </a:tc>
                <a:extLst>
                  <a:ext uri="{0D108BD9-81ED-4DB2-BD59-A6C34878D82A}">
                    <a16:rowId xmlns:a16="http://schemas.microsoft.com/office/drawing/2014/main" val="10004"/>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BD</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5</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606060"/>
                          </a:solidFill>
                          <a:latin typeface="Malgun Gothic"/>
                          <a:ea typeface="Malgun Gothic"/>
                          <a:cs typeface="Malgun Gothic"/>
                        </a:rPr>
                        <a:t>확인하지 않음</a:t>
                      </a:r>
                    </a:p>
                  </a:txBody>
                  <a:tcPr marL="54864" marR="54864" marT="18288" marB="18288" anchor="ctr">
                    <a:solidFill>
                      <a:srgbClr val="FFFFFF"/>
                    </a:solidFill>
                  </a:tcPr>
                </a:tc>
                <a:extLst>
                  <a:ext uri="{0D108BD9-81ED-4DB2-BD59-A6C34878D82A}">
                    <a16:rowId xmlns:a16="http://schemas.microsoft.com/office/drawing/2014/main" val="10005"/>
                  </a:ext>
                </a:extLst>
              </a:tr>
            </a:tbl>
          </a:graphicData>
        </a:graphic>
      </p:graphicFrame>
      <p:sp>
        <p:nvSpPr>
          <p:cNvPr id="12" name="fit:0516277beea8aea4 13"/>
          <p:cNvSpPr/>
          <p:nvPr/>
        </p:nvSpPr>
        <p:spPr>
          <a:xfrm>
            <a:off x="7909560" y="5074920"/>
            <a:ext cx="3666744" cy="237744"/>
          </a:xfrm>
          <a:prstGeom prst="rect">
            <a:avLst/>
          </a:prstGeom>
          <a:noFill/>
          <a:ln w="0">
            <a:noFill/>
          </a:ln>
        </p:spPr>
        <p:txBody>
          <a:bodyPr wrap="square" lIns="0" tIns="0" rIns="0" bIns="0" anchor="t">
            <a:noAutofit/>
          </a:bodyPr>
          <a:lstStyle/>
          <a:p>
            <a:pPr algn="l" eaLnBrk="0" latinLnBrk="0">
              <a:lnSpc>
                <a:spcPct val="105000"/>
              </a:lnSpc>
              <a:buNone/>
            </a:pPr>
            <a:r>
              <a:rPr lang="ko-KR" altLang="en-US" sz="1350" b="0" dirty="0">
                <a:solidFill>
                  <a:srgbClr val="171717"/>
                </a:solidFill>
                <a:latin typeface="Malgun Gothic"/>
                <a:ea typeface="Malgun Gothic"/>
                <a:cs typeface="Malgun Gothic"/>
              </a:rPr>
              <a:t>AB → BC → (AC 사이클) → CD → 멈춤</a:t>
            </a:r>
          </a:p>
        </p:txBody>
      </p:sp>
      <p:sp>
        <p:nvSpPr>
          <p:cNvPr id="13" name="fit:815168a9ca1aa094 14"/>
          <p:cNvSpPr/>
          <p:nvPr/>
        </p:nvSpPr>
        <p:spPr>
          <a:xfrm>
            <a:off x="7909560" y="5385816"/>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합 1 + 2 + 4 = 7</a:t>
            </a:r>
          </a:p>
        </p:txBody>
      </p:sp>
      <p:cxnSp>
        <p:nvCxnSpPr>
          <p:cNvPr id="14" name="연결선 15"/>
          <p:cNvCxnSpPr/>
          <p:nvPr/>
        </p:nvCxnSpPr>
        <p:spPr>
          <a:xfrm flipV="1">
            <a:off x="1394143" y="2788709"/>
            <a:ext cx="1783714" cy="1189142"/>
          </a:xfrm>
          <a:prstGeom prst="line">
            <a:avLst/>
          </a:prstGeom>
          <a:ln w="44450">
            <a:solidFill>
              <a:srgbClr val="0E8A7D"/>
            </a:solidFill>
          </a:ln>
        </p:spPr>
      </p:cxnSp>
      <p:sp>
        <p:nvSpPr>
          <p:cNvPr id="15" name="직사각형 16"/>
          <p:cNvSpPr/>
          <p:nvPr/>
        </p:nvSpPr>
        <p:spPr>
          <a:xfrm>
            <a:off x="196710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1</a:t>
            </a:r>
          </a:p>
        </p:txBody>
      </p:sp>
      <p:cxnSp>
        <p:nvCxnSpPr>
          <p:cNvPr id="16" name="연결선 17"/>
          <p:cNvCxnSpPr/>
          <p:nvPr/>
        </p:nvCxnSpPr>
        <p:spPr>
          <a:xfrm>
            <a:off x="3383280" y="2898648"/>
            <a:ext cx="0" cy="2432304"/>
          </a:xfrm>
          <a:prstGeom prst="line">
            <a:avLst/>
          </a:prstGeom>
          <a:ln w="44450">
            <a:solidFill>
              <a:srgbClr val="0E8A7D"/>
            </a:solidFill>
          </a:ln>
        </p:spPr>
      </p:cxnSp>
      <p:sp>
        <p:nvSpPr>
          <p:cNvPr id="17" name="직사각형 18"/>
          <p:cNvSpPr/>
          <p:nvPr/>
        </p:nvSpPr>
        <p:spPr>
          <a:xfrm>
            <a:off x="2871216" y="397764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8" name="연결선 19"/>
          <p:cNvCxnSpPr/>
          <p:nvPr/>
        </p:nvCxnSpPr>
        <p:spPr>
          <a:xfrm>
            <a:off x="1394143" y="4251749"/>
            <a:ext cx="1783714" cy="1189142"/>
          </a:xfrm>
          <a:prstGeom prst="line">
            <a:avLst/>
          </a:prstGeom>
          <a:ln w="19050">
            <a:solidFill>
              <a:srgbClr val="B23B3B"/>
            </a:solidFill>
            <a:prstDash val="dash"/>
          </a:ln>
        </p:spPr>
      </p:cxnSp>
      <p:sp>
        <p:nvSpPr>
          <p:cNvPr id="19" name="직사각형 20"/>
          <p:cNvSpPr/>
          <p:nvPr/>
        </p:nvSpPr>
        <p:spPr>
          <a:xfrm>
            <a:off x="196710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23B3B"/>
                </a:solidFill>
                <a:latin typeface="Malgun Gothic"/>
                <a:ea typeface="Malgun Gothic"/>
                <a:cs typeface="Malgun Gothic"/>
              </a:rPr>
              <a:t>3</a:t>
            </a:r>
          </a:p>
        </p:txBody>
      </p:sp>
      <p:cxnSp>
        <p:nvCxnSpPr>
          <p:cNvPr id="20" name="연결선 21"/>
          <p:cNvCxnSpPr/>
          <p:nvPr/>
        </p:nvCxnSpPr>
        <p:spPr>
          <a:xfrm flipV="1">
            <a:off x="3588703" y="4251749"/>
            <a:ext cx="1783714" cy="1189142"/>
          </a:xfrm>
          <a:prstGeom prst="line">
            <a:avLst/>
          </a:prstGeom>
          <a:ln w="44450">
            <a:solidFill>
              <a:srgbClr val="B8651B"/>
            </a:solidFill>
          </a:ln>
        </p:spPr>
      </p:cxnSp>
      <p:sp>
        <p:nvSpPr>
          <p:cNvPr id="21" name="직사각형 22"/>
          <p:cNvSpPr/>
          <p:nvPr/>
        </p:nvSpPr>
        <p:spPr>
          <a:xfrm>
            <a:off x="4323971" y="483089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4</a:t>
            </a:r>
          </a:p>
        </p:txBody>
      </p:sp>
      <p:cxnSp>
        <p:nvCxnSpPr>
          <p:cNvPr id="22" name="연결선 23"/>
          <p:cNvCxnSpPr/>
          <p:nvPr/>
        </p:nvCxnSpPr>
        <p:spPr>
          <a:xfrm>
            <a:off x="3588703" y="2788709"/>
            <a:ext cx="1783714" cy="1189142"/>
          </a:xfrm>
          <a:prstGeom prst="line">
            <a:avLst/>
          </a:prstGeom>
          <a:ln w="12700">
            <a:solidFill>
              <a:srgbClr val="D0D0D0"/>
            </a:solidFill>
          </a:ln>
        </p:spPr>
      </p:cxnSp>
      <p:sp>
        <p:nvSpPr>
          <p:cNvPr id="23" name="직사각형 24"/>
          <p:cNvSpPr/>
          <p:nvPr/>
        </p:nvSpPr>
        <p:spPr>
          <a:xfrm>
            <a:off x="4323971" y="312438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5</a:t>
            </a:r>
          </a:p>
        </p:txBody>
      </p:sp>
      <p:sp>
        <p:nvSpPr>
          <p:cNvPr id="24" name="직사각형 25"/>
          <p:cNvSpPr/>
          <p:nvPr/>
        </p:nvSpPr>
        <p:spPr>
          <a:xfrm>
            <a:off x="941832" y="386791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5" name="직사각형 26"/>
          <p:cNvSpPr/>
          <p:nvPr/>
        </p:nvSpPr>
        <p:spPr>
          <a:xfrm>
            <a:off x="3136392" y="240487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6" name="직사각형 27"/>
          <p:cNvSpPr/>
          <p:nvPr/>
        </p:nvSpPr>
        <p:spPr>
          <a:xfrm>
            <a:off x="3136392" y="533095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7" name="직사각형 28"/>
          <p:cNvSpPr/>
          <p:nvPr/>
        </p:nvSpPr>
        <p:spPr>
          <a:xfrm>
            <a:off x="5330952" y="386791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28" name="직사각형 29"/>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청록: 채택    주황: 지금 보는 간선(노랑 정점: 그 두 끝)    빨강 점선: 버림    회색: 확인하지 않음    초록 정점: 채택한 간선에 닿은 정점</a:t>
            </a:r>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5.6  크루스칼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연습: 음수 가중치 AB = −3</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57</a:t>
            </a:r>
            <a:endParaRPr lang="ko-KR" altLang="en-US" sz="1050" b="0" dirty="0">
              <a:solidFill>
                <a:srgbClr val="606060"/>
              </a:solidFill>
              <a:latin typeface="Malgun Gothic"/>
              <a:ea typeface="Malgun Gothic"/>
              <a:cs typeface="Malgun Gothic"/>
            </a:endParaRPr>
          </a:p>
        </p:txBody>
      </p:sp>
      <p:sp>
        <p:nvSpPr>
          <p:cNvPr id="9" name="fit:966cce49a65236b6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정점 A, B, C와 AB = −3, BC = 1, AC = 4.</a:t>
            </a:r>
          </a:p>
          <a:p>
            <a:pPr algn="l" eaLnBrk="0" latinLnBrk="0">
              <a:lnSpc>
                <a:spcPct val="100000"/>
              </a:lnSpc>
              <a:buNone/>
            </a:pPr>
            <a:r>
              <a:rPr lang="ko-KR" altLang="en-US" sz="2025" b="0" dirty="0">
                <a:solidFill>
                  <a:srgbClr val="171717"/>
                </a:solidFill>
                <a:latin typeface="Malgun Gothic"/>
                <a:ea typeface="Malgun Gothic"/>
                <a:cs typeface="Malgun Gothic"/>
              </a:rPr>
              <a:t>정렬하면 AB(−3)가 맨 앞입니다.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2776015904"/>
              </p:ext>
            </p:extLst>
          </p:nvPr>
        </p:nvGraphicFramePr>
        <p:xfrm>
          <a:off x="7909560" y="2935224"/>
          <a:ext cx="3666744" cy="1316736"/>
        </p:xfrm>
        <a:graphic>
          <a:graphicData uri="http://schemas.openxmlformats.org/drawingml/2006/table">
            <a:tbl>
              <a:tblPr/>
              <a:tblGrid>
                <a:gridCol w="1254412">
                  <a:extLst>
                    <a:ext uri="{9D8B030D-6E8A-4147-A177-3AD203B41FA5}">
                      <a16:colId xmlns:a16="http://schemas.microsoft.com/office/drawing/2014/main" val="20000"/>
                    </a:ext>
                  </a:extLst>
                </a:gridCol>
                <a:gridCol w="964933">
                  <a:extLst>
                    <a:ext uri="{9D8B030D-6E8A-4147-A177-3AD203B41FA5}">
                      <a16:colId xmlns:a16="http://schemas.microsoft.com/office/drawing/2014/main" val="20001"/>
                    </a:ext>
                  </a:extLst>
                </a:gridCol>
                <a:gridCol w="1447399">
                  <a:extLst>
                    <a:ext uri="{9D8B030D-6E8A-4147-A177-3AD203B41FA5}">
                      <a16:colId xmlns:a16="http://schemas.microsoft.com/office/drawing/2014/main" val="20002"/>
                    </a:ext>
                  </a:extLst>
                </a:gridCol>
              </a:tblGrid>
              <a:tr h="329184">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간선</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가중치</a:t>
                      </a:r>
                    </a:p>
                  </a:txBody>
                  <a:tcPr marL="54864" marR="54864" marT="18288" marB="18288" anchor="ctr">
                    <a:solidFill>
                      <a:srgbClr val="151515"/>
                    </a:solidFill>
                  </a:tcPr>
                </a:tc>
                <a:tc>
                  <a:txBody>
                    <a:bodyPr/>
                    <a:lstStyle/>
                    <a:p>
                      <a:pPr algn="ctr" eaLnBrk="0" latinLnBrk="0">
                        <a:lnSpc>
                          <a:spcPct val="100000"/>
                        </a:lnSpc>
                        <a:buNone/>
                      </a:pPr>
                      <a:r>
                        <a:rPr lang="ko-KR" altLang="en-US" sz="1500" b="1" dirty="0">
                          <a:solidFill>
                            <a:srgbClr val="FFFFFF"/>
                          </a:solidFill>
                          <a:latin typeface="Malgun Gothic"/>
                          <a:ea typeface="Malgun Gothic"/>
                          <a:cs typeface="Malgun Gothic"/>
                        </a:rPr>
                        <a:t>결과</a:t>
                      </a:r>
                    </a:p>
                  </a:txBody>
                  <a:tcPr marL="54864" marR="54864" marT="18288" marB="18288" anchor="ctr">
                    <a:solidFill>
                      <a:srgbClr val="151515"/>
                    </a:solidFill>
                  </a:tcPr>
                </a:tc>
                <a:extLst>
                  <a:ext uri="{0D108BD9-81ED-4DB2-BD59-A6C34878D82A}">
                    <a16:rowId xmlns:a16="http://schemas.microsoft.com/office/drawing/2014/main" val="10000"/>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AB</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−3</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① 채택</a:t>
                      </a:r>
                    </a:p>
                  </a:txBody>
                  <a:tcPr marL="54864" marR="54864" marT="18288" marB="18288" anchor="ctr">
                    <a:solidFill>
                      <a:srgbClr val="FFFFFF"/>
                    </a:solidFill>
                  </a:tcPr>
                </a:tc>
                <a:extLst>
                  <a:ext uri="{0D108BD9-81ED-4DB2-BD59-A6C34878D82A}">
                    <a16:rowId xmlns:a16="http://schemas.microsoft.com/office/drawing/2014/main" val="10001"/>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BC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1</a:t>
                      </a:r>
                    </a:p>
                  </a:txBody>
                  <a:tcPr marL="54864" marR="54864" marT="18288" marB="18288" anchor="ctr">
                    <a:solidFill>
                      <a:srgbClr val="FFFFFF"/>
                    </a:solidFill>
                  </a:tcPr>
                </a:tc>
                <a:tc>
                  <a:txBody>
                    <a:bodyPr/>
                    <a:lstStyle/>
                    <a:p>
                      <a:pPr algn="ctr" eaLnBrk="0" latinLnBrk="0">
                        <a:lnSpc>
                          <a:spcPct val="100000"/>
                        </a:lnSpc>
                        <a:buNone/>
                      </a:pPr>
                      <a:r>
                        <a:rPr lang="ko-KR" altLang="en-US" sz="1500" b="1" dirty="0">
                          <a:solidFill>
                            <a:srgbClr val="0E8A7D"/>
                          </a:solidFill>
                          <a:latin typeface="Malgun Gothic"/>
                          <a:ea typeface="Malgun Gothic"/>
                          <a:cs typeface="Malgun Gothic"/>
                        </a:rPr>
                        <a:t>② 채택</a:t>
                      </a:r>
                    </a:p>
                  </a:txBody>
                  <a:tcPr marL="54864" marR="54864" marT="18288" marB="18288" anchor="ctr">
                    <a:solidFill>
                      <a:srgbClr val="FFFFFF"/>
                    </a:solidFill>
                  </a:tcPr>
                </a:tc>
                <a:extLst>
                  <a:ext uri="{0D108BD9-81ED-4DB2-BD59-A6C34878D82A}">
                    <a16:rowId xmlns:a16="http://schemas.microsoft.com/office/drawing/2014/main" val="10002"/>
                  </a:ext>
                </a:extLst>
              </a:tr>
              <a:tr h="329184">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AC</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151515"/>
                          </a:solidFill>
                          <a:latin typeface="Malgun Gothic"/>
                          <a:ea typeface="Malgun Gothic"/>
                          <a:cs typeface="Malgun Gothic"/>
                        </a:rPr>
                        <a:t>4</a:t>
                      </a:r>
                    </a:p>
                  </a:txBody>
                  <a:tcPr marL="54864" marR="54864" marT="18288" marB="18288" anchor="ctr">
                    <a:solidFill>
                      <a:srgbClr val="FFFFFF"/>
                    </a:solidFill>
                  </a:tcPr>
                </a:tc>
                <a:tc>
                  <a:txBody>
                    <a:bodyPr/>
                    <a:lstStyle/>
                    <a:p>
                      <a:pPr algn="ctr" eaLnBrk="0" latinLnBrk="0">
                        <a:lnSpc>
                          <a:spcPct val="100000"/>
                        </a:lnSpc>
                        <a:buNone/>
                      </a:pPr>
                      <a:r>
                        <a:rPr lang="ko-KR" altLang="en-US" sz="1500" b="0" dirty="0">
                          <a:solidFill>
                            <a:srgbClr val="606060"/>
                          </a:solidFill>
                          <a:latin typeface="Malgun Gothic"/>
                          <a:ea typeface="Malgun Gothic"/>
                          <a:cs typeface="Malgun Gothic"/>
                        </a:rPr>
                        <a:t>확인하지 않음</a:t>
                      </a:r>
                    </a:p>
                  </a:txBody>
                  <a:tcPr marL="54864" marR="54864" marT="18288" marB="18288" anchor="ctr">
                    <a:solidFill>
                      <a:srgbClr val="FFFFFF"/>
                    </a:solidFill>
                  </a:tcPr>
                </a:tc>
                <a:extLst>
                  <a:ext uri="{0D108BD9-81ED-4DB2-BD59-A6C34878D82A}">
                    <a16:rowId xmlns:a16="http://schemas.microsoft.com/office/drawing/2014/main" val="10003"/>
                  </a:ext>
                </a:extLst>
              </a:tr>
            </a:tbl>
          </a:graphicData>
        </a:graphic>
      </p:graphicFrame>
      <p:sp>
        <p:nvSpPr>
          <p:cNvPr id="12" name="fit:82cc2ef9d8d22a22 13"/>
          <p:cNvSpPr/>
          <p:nvPr/>
        </p:nvSpPr>
        <p:spPr>
          <a:xfrm>
            <a:off x="7909560" y="439826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간선 2개 = V − 1 → 멈춤</a:t>
            </a:r>
          </a:p>
        </p:txBody>
      </p:sp>
      <p:sp>
        <p:nvSpPr>
          <p:cNvPr id="13" name="fit:a83d83a7ca66d189 14"/>
          <p:cNvSpPr/>
          <p:nvPr/>
        </p:nvSpPr>
        <p:spPr>
          <a:xfrm>
            <a:off x="7909560" y="4736592"/>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합 −3 + 1 = −2</a:t>
            </a:r>
          </a:p>
        </p:txBody>
      </p:sp>
      <p:sp>
        <p:nvSpPr>
          <p:cNvPr id="14" name="fit:5f5057de8f0f5dd5 15"/>
          <p:cNvSpPr/>
          <p:nvPr/>
        </p:nvSpPr>
        <p:spPr>
          <a:xfrm>
            <a:off x="7909560" y="5193792"/>
            <a:ext cx="3666744"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1350" b="0" dirty="0">
                <a:solidFill>
                  <a:srgbClr val="3F3F3F"/>
                </a:solidFill>
                <a:latin typeface="Malgun Gothic"/>
                <a:ea typeface="Malgun Gothic"/>
                <a:cs typeface="Malgun Gothic"/>
              </a:rPr>
              <a:t>크루스칼은 가중치를 크기 비교에만 씁니다. 음수여도 그대로 성립합니다. 음수 간선에서 틀릴 수 있는 다익스트라(5.8)와 다릅니다.</a:t>
            </a:r>
          </a:p>
        </p:txBody>
      </p:sp>
      <p:cxnSp>
        <p:nvCxnSpPr>
          <p:cNvPr id="15" name="연결선 16"/>
          <p:cNvCxnSpPr/>
          <p:nvPr/>
        </p:nvCxnSpPr>
        <p:spPr>
          <a:xfrm flipV="1">
            <a:off x="1550012" y="3188175"/>
            <a:ext cx="1746297" cy="1670371"/>
          </a:xfrm>
          <a:prstGeom prst="line">
            <a:avLst/>
          </a:prstGeom>
          <a:ln w="44450">
            <a:solidFill>
              <a:srgbClr val="0E8A7D"/>
            </a:solidFill>
          </a:ln>
        </p:spPr>
      </p:cxnSp>
      <p:sp>
        <p:nvSpPr>
          <p:cNvPr id="16" name="직사각형 17"/>
          <p:cNvSpPr/>
          <p:nvPr/>
        </p:nvSpPr>
        <p:spPr>
          <a:xfrm>
            <a:off x="2084287" y="3780475"/>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−3</a:t>
            </a:r>
          </a:p>
        </p:txBody>
      </p:sp>
      <p:cxnSp>
        <p:nvCxnSpPr>
          <p:cNvPr id="17" name="연결선 18"/>
          <p:cNvCxnSpPr/>
          <p:nvPr/>
        </p:nvCxnSpPr>
        <p:spPr>
          <a:xfrm>
            <a:off x="3653132" y="3188175"/>
            <a:ext cx="1746297" cy="1670371"/>
          </a:xfrm>
          <a:prstGeom prst="line">
            <a:avLst/>
          </a:prstGeom>
          <a:ln w="44450">
            <a:solidFill>
              <a:srgbClr val="0E8A7D"/>
            </a:solidFill>
          </a:ln>
        </p:spPr>
      </p:cxnSp>
      <p:sp>
        <p:nvSpPr>
          <p:cNvPr id="18" name="직사각형 19"/>
          <p:cNvSpPr/>
          <p:nvPr/>
        </p:nvSpPr>
        <p:spPr>
          <a:xfrm>
            <a:off x="4389665" y="3780475"/>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1</a:t>
            </a:r>
          </a:p>
        </p:txBody>
      </p:sp>
      <p:cxnSp>
        <p:nvCxnSpPr>
          <p:cNvPr id="19" name="연결선 20"/>
          <p:cNvCxnSpPr/>
          <p:nvPr/>
        </p:nvCxnSpPr>
        <p:spPr>
          <a:xfrm>
            <a:off x="1618488" y="5029200"/>
            <a:ext cx="3712464" cy="0"/>
          </a:xfrm>
          <a:prstGeom prst="line">
            <a:avLst/>
          </a:prstGeom>
          <a:ln w="12700">
            <a:solidFill>
              <a:srgbClr val="D0D0D0"/>
            </a:solidFill>
          </a:ln>
        </p:spPr>
      </p:cxnSp>
      <p:sp>
        <p:nvSpPr>
          <p:cNvPr id="20" name="직사각형 21"/>
          <p:cNvSpPr/>
          <p:nvPr/>
        </p:nvSpPr>
        <p:spPr>
          <a:xfrm>
            <a:off x="3236976" y="50383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4</a:t>
            </a:r>
          </a:p>
        </p:txBody>
      </p:sp>
      <p:sp>
        <p:nvSpPr>
          <p:cNvPr id="21" name="직사각형 22"/>
          <p:cNvSpPr/>
          <p:nvPr/>
        </p:nvSpPr>
        <p:spPr>
          <a:xfrm>
            <a:off x="1124712" y="478231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2" name="직사각형 23"/>
          <p:cNvSpPr/>
          <p:nvPr/>
        </p:nvSpPr>
        <p:spPr>
          <a:xfrm>
            <a:off x="3227832" y="277063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3" name="직사각형 24"/>
          <p:cNvSpPr/>
          <p:nvPr/>
        </p:nvSpPr>
        <p:spPr>
          <a:xfrm>
            <a:off x="5330952" y="478231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4" name="직사각형 25"/>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청록: 채택한 간선    회색: 확인하지 않은 간선</a:t>
            </a:r>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한 시작점에서 모든 정점까지의 최단 거리</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58</a:t>
            </a:r>
            <a:endParaRPr lang="ko-KR" altLang="en-US" sz="1050" b="0" dirty="0">
              <a:solidFill>
                <a:srgbClr val="606060"/>
              </a:solidFill>
              <a:latin typeface="Malgun Gothic"/>
              <a:ea typeface="Malgun Gothic"/>
              <a:cs typeface="Malgun Gothic"/>
            </a:endParaRPr>
          </a:p>
        </p:txBody>
      </p:sp>
      <p:sp>
        <p:nvSpPr>
          <p:cNvPr id="9" name="fit:ab3a2f6679f03078 10"/>
          <p:cNvSpPr/>
          <p:nvPr/>
        </p:nvSpPr>
        <p:spPr>
          <a:xfrm>
            <a:off x="658368" y="1737360"/>
            <a:ext cx="5120640" cy="594360"/>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시작점 하나에서 </a:t>
            </a:r>
            <a:r>
              <a:rPr lang="ko-KR" altLang="en-US" sz="1800" b="1" dirty="0">
                <a:solidFill>
                  <a:srgbClr val="171717"/>
                </a:solidFill>
                <a:latin typeface="Malgun Gothic"/>
                <a:ea typeface="Malgun Gothic"/>
                <a:cs typeface="Malgun Gothic"/>
              </a:rPr>
              <a:t>다른 모든 정점까지</a:t>
            </a:r>
            <a:r>
              <a:rPr lang="ko-KR" altLang="en-US" sz="1800" b="0" dirty="0">
                <a:solidFill>
                  <a:srgbClr val="171717"/>
                </a:solidFill>
                <a:latin typeface="Malgun Gothic"/>
                <a:ea typeface="Malgun Gothic"/>
                <a:cs typeface="Malgun Gothic"/>
              </a:rPr>
              <a:t> 가장 짧은 경로의 길이를 구합니다.</a:t>
            </a:r>
          </a:p>
        </p:txBody>
      </p:sp>
      <p:sp>
        <p:nvSpPr>
          <p:cNvPr id="10" name="fit:fd5187ee1321b3b3 11"/>
          <p:cNvSpPr/>
          <p:nvPr/>
        </p:nvSpPr>
        <p:spPr>
          <a:xfrm>
            <a:off x="658368" y="2459736"/>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dist[v]</a:t>
            </a:r>
          </a:p>
        </p:txBody>
      </p:sp>
      <p:sp>
        <p:nvSpPr>
          <p:cNvPr id="11" name="fit:cf7af4d44f837c4e 12"/>
          <p:cNvSpPr/>
          <p:nvPr/>
        </p:nvSpPr>
        <p:spPr>
          <a:xfrm>
            <a:off x="841248" y="2788920"/>
            <a:ext cx="4937760" cy="530352"/>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시작점에서 v까지 지금까지 찾은 가장 짧은 거리. 처음엔 시작점 0, 나머지 ∞</a:t>
            </a:r>
          </a:p>
        </p:txBody>
      </p:sp>
      <p:sp>
        <p:nvSpPr>
          <p:cNvPr id="12" name="fit:7de19bc243cd8b76 13"/>
          <p:cNvSpPr/>
          <p:nvPr/>
        </p:nvSpPr>
        <p:spPr>
          <a:xfrm>
            <a:off x="658368" y="3429000"/>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확정</a:t>
            </a:r>
          </a:p>
        </p:txBody>
      </p:sp>
      <p:sp>
        <p:nvSpPr>
          <p:cNvPr id="13" name="fit:53298c9f7190bc06 14"/>
          <p:cNvSpPr/>
          <p:nvPr/>
        </p:nvSpPr>
        <p:spPr>
          <a:xfrm>
            <a:off x="841248" y="3758184"/>
            <a:ext cx="493776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dist[v]가 더 줄어들지 않는다고 결론 내리는 것</a:t>
            </a:r>
          </a:p>
        </p:txBody>
      </p:sp>
      <p:sp>
        <p:nvSpPr>
          <p:cNvPr id="14" name="fit:4977154339b6b5f6 15"/>
          <p:cNvSpPr/>
          <p:nvPr/>
        </p:nvSpPr>
        <p:spPr>
          <a:xfrm>
            <a:off x="658368" y="4142232"/>
            <a:ext cx="512064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다익스트라의 선택</a:t>
            </a:r>
          </a:p>
        </p:txBody>
      </p:sp>
      <p:sp>
        <p:nvSpPr>
          <p:cNvPr id="15" name="fit:51fc9e25f84256db 16"/>
          <p:cNvSpPr/>
          <p:nvPr/>
        </p:nvSpPr>
        <p:spPr>
          <a:xfrm>
            <a:off x="841248" y="4471416"/>
            <a:ext cx="4937760" cy="530352"/>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아직 확정하지 않은 정점 중 dist가 가장 작은 곳부터 확정합니다</a:t>
            </a:r>
          </a:p>
        </p:txBody>
      </p:sp>
      <p:sp>
        <p:nvSpPr>
          <p:cNvPr id="16" name="fit:7a8f12f82cfd8387 17"/>
          <p:cNvSpPr/>
          <p:nvPr/>
        </p:nvSpPr>
        <p:spPr>
          <a:xfrm>
            <a:off x="658368" y="5111496"/>
            <a:ext cx="512064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내비게이션 길 찾기, 네트워크 라우팅(예: OSPF)에 다익스트라나 그 변형이 쓰입니다.</a:t>
            </a:r>
          </a:p>
        </p:txBody>
      </p:sp>
      <p:pic>
        <p:nvPicPr>
          <p:cNvPr id="17" name="그림 18"/>
          <p:cNvPicPr>
            <a:picLocks noChangeAspect="1"/>
          </p:cNvPicPr>
          <p:nvPr/>
        </p:nvPicPr>
        <p:blipFill>
          <a:blip r:embed="rId3"/>
          <a:stretch>
            <a:fillRect/>
          </a:stretch>
        </p:blipFill>
        <p:spPr>
          <a:xfrm>
            <a:off x="6126480" y="2441899"/>
            <a:ext cx="5458968" cy="2980042"/>
          </a:xfrm>
          <a:prstGeom prst="rect">
            <a:avLst/>
          </a:prstGeom>
        </p:spPr>
      </p:pic>
      <p:sp>
        <p:nvSpPr>
          <p:cNvPr id="18" name="직사각형 19"/>
          <p:cNvSpPr/>
          <p:nvPr/>
        </p:nvSpPr>
        <p:spPr>
          <a:xfrm>
            <a:off x="612648" y="6089904"/>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0" dirty="0">
                <a:solidFill>
                  <a:srgbClr val="3F3F3F"/>
                </a:solidFill>
                <a:latin typeface="Malgun Gothic"/>
                <a:ea typeface="Malgun Gothic"/>
                <a:cs typeface="Malgun Gothic"/>
              </a:rPr>
              <a:t>그림: 집에서 편의점 2분, 학교 10분, 병원 15분. 아직 확정하지 않은 곳 중 가장 가까운 편의점부터 확정합니다.</a:t>
            </a:r>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왜 가장 가까운 곳을 확정해도 안전한가</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59</a:t>
            </a:r>
            <a:endParaRPr lang="ko-KR" altLang="en-US" sz="1050" b="0" dirty="0">
              <a:solidFill>
                <a:srgbClr val="606060"/>
              </a:solidFill>
              <a:latin typeface="Malgun Gothic"/>
              <a:ea typeface="Malgun Gothic"/>
              <a:cs typeface="Malgun Gothic"/>
            </a:endParaRPr>
          </a:p>
        </p:txBody>
      </p:sp>
      <p:sp>
        <p:nvSpPr>
          <p:cNvPr id="9" name="fit:ffa0046a4a902a7f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편의점 2분, 학교 10분입니다. 학교를 거쳐 편의점에 가면 10 + x분(x ≥ 0)이라 2분보다 짧아질 수 없습니다.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3b7c61cc09d6e8d8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학교를 거쳐 편의점에 가는 길</a:t>
            </a:r>
          </a:p>
        </p:txBody>
      </p:sp>
      <p:sp>
        <p:nvSpPr>
          <p:cNvPr id="12" name="fit:c72f5d17b00cb19d 13"/>
          <p:cNvSpPr/>
          <p:nvPr/>
        </p:nvSpPr>
        <p:spPr>
          <a:xfrm>
            <a:off x="7909560" y="3328416"/>
            <a:ext cx="3666744"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dirty="0">
                <a:solidFill>
                  <a:srgbClr val="0E8A7D"/>
                </a:solidFill>
                <a:latin typeface="Malgun Gothic"/>
                <a:ea typeface="Malgun Gothic"/>
                <a:cs typeface="Malgun Gothic"/>
              </a:rPr>
              <a:t>10 + x ≥ 10 &gt; 2</a:t>
            </a:r>
          </a:p>
        </p:txBody>
      </p:sp>
      <p:sp>
        <p:nvSpPr>
          <p:cNvPr id="13" name="fit:4190b1266d26f2a4 14"/>
          <p:cNvSpPr/>
          <p:nvPr/>
        </p:nvSpPr>
        <p:spPr>
          <a:xfrm>
            <a:off x="7909560" y="3785616"/>
            <a:ext cx="3666744" cy="104241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학교까지 이미 10분입니다. 간선 비용이 0 이상이면 길을 더 갈수록 거리가 줄지 않으므로 편의점 2분은 더 줄어들 수 없습니다.</a:t>
            </a:r>
          </a:p>
        </p:txBody>
      </p:sp>
      <p:sp>
        <p:nvSpPr>
          <p:cNvPr id="14" name="직사각형 15"/>
          <p:cNvSpPr/>
          <p:nvPr/>
        </p:nvSpPr>
        <p:spPr>
          <a:xfrm>
            <a:off x="7909560" y="4937760"/>
            <a:ext cx="3666744"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5" name="fit:11c5c8c4b90d4e64 16"/>
          <p:cNvSpPr/>
          <p:nvPr/>
        </p:nvSpPr>
        <p:spPr>
          <a:xfrm>
            <a:off x="7909560" y="5065776"/>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x = −9라면?</a:t>
            </a:r>
          </a:p>
        </p:txBody>
      </p:sp>
      <p:sp>
        <p:nvSpPr>
          <p:cNvPr id="16" name="fit:77ea738554ac15ba 17"/>
          <p:cNvSpPr/>
          <p:nvPr/>
        </p:nvSpPr>
        <p:spPr>
          <a:xfrm>
            <a:off x="7909560" y="5458968"/>
            <a:ext cx="3666744"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10 − 9 = 1 &lt; 2. 음수 간선이 있으면 이 논리가 깨집니다.</a:t>
            </a:r>
          </a:p>
        </p:txBody>
      </p:sp>
      <p:cxnSp>
        <p:nvCxnSpPr>
          <p:cNvPr id="17" name="연결선 18"/>
          <p:cNvCxnSpPr/>
          <p:nvPr/>
        </p:nvCxnSpPr>
        <p:spPr>
          <a:xfrm flipV="1">
            <a:off x="1832613" y="3218378"/>
            <a:ext cx="3449495" cy="974857"/>
          </a:xfrm>
          <a:prstGeom prst="line">
            <a:avLst/>
          </a:prstGeom>
          <a:ln w="44450">
            <a:solidFill>
              <a:srgbClr val="0E8A7D"/>
            </a:solidFill>
            <a:tailEnd type="triangle" w="med" len="med"/>
          </a:ln>
        </p:spPr>
      </p:cxnSp>
      <p:sp>
        <p:nvSpPr>
          <p:cNvPr id="18" name="직사각형 19"/>
          <p:cNvSpPr/>
          <p:nvPr/>
        </p:nvSpPr>
        <p:spPr>
          <a:xfrm>
            <a:off x="3288628" y="342537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9" name="연결선 20"/>
          <p:cNvCxnSpPr/>
          <p:nvPr/>
        </p:nvCxnSpPr>
        <p:spPr>
          <a:xfrm>
            <a:off x="1834651" y="4394622"/>
            <a:ext cx="3445321" cy="898779"/>
          </a:xfrm>
          <a:prstGeom prst="line">
            <a:avLst/>
          </a:prstGeom>
          <a:ln w="19050">
            <a:solidFill>
              <a:srgbClr val="9A9A9A"/>
            </a:solidFill>
            <a:tailEnd type="triangle" w="med" len="med"/>
          </a:ln>
        </p:spPr>
      </p:cxnSp>
      <p:sp>
        <p:nvSpPr>
          <p:cNvPr id="20" name="직사각형 21"/>
          <p:cNvSpPr/>
          <p:nvPr/>
        </p:nvSpPr>
        <p:spPr>
          <a:xfrm>
            <a:off x="3291486" y="485072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10</a:t>
            </a:r>
          </a:p>
        </p:txBody>
      </p:sp>
      <p:cxnSp>
        <p:nvCxnSpPr>
          <p:cNvPr id="21" name="연결선 22"/>
          <p:cNvCxnSpPr/>
          <p:nvPr/>
        </p:nvCxnSpPr>
        <p:spPr>
          <a:xfrm flipV="1">
            <a:off x="5669280" y="3511296"/>
            <a:ext cx="0" cy="1499616"/>
          </a:xfrm>
          <a:prstGeom prst="line">
            <a:avLst/>
          </a:prstGeom>
          <a:ln w="19050">
            <a:solidFill>
              <a:srgbClr val="9A9A9A"/>
            </a:solidFill>
            <a:tailEnd type="triangle" w="med" len="med"/>
          </a:ln>
        </p:spPr>
      </p:cxnSp>
      <p:sp>
        <p:nvSpPr>
          <p:cNvPr id="22" name="직사각형 23"/>
          <p:cNvSpPr/>
          <p:nvPr/>
        </p:nvSpPr>
        <p:spPr>
          <a:xfrm>
            <a:off x="5577840" y="411480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x</a:t>
            </a:r>
          </a:p>
        </p:txBody>
      </p:sp>
      <p:sp>
        <p:nvSpPr>
          <p:cNvPr id="23" name="직사각형 24"/>
          <p:cNvSpPr/>
          <p:nvPr/>
        </p:nvSpPr>
        <p:spPr>
          <a:xfrm>
            <a:off x="1078992" y="3913632"/>
            <a:ext cx="768096" cy="768096"/>
          </a:xfrm>
          <a:prstGeom prst="ellipse">
            <a:avLst/>
          </a:prstGeom>
          <a:solidFill>
            <a:srgbClr val="151515"/>
          </a:solidFill>
          <a:ln w="22225">
            <a:solidFill>
              <a:srgbClr val="151515"/>
            </a:solidFill>
          </a:ln>
        </p:spPr>
        <p:txBody>
          <a:bodyPr wrap="none" lIns="0" tIns="0" rIns="0" bIns="0" anchor="ctr">
            <a:noAutofit/>
          </a:bodyPr>
          <a:lstStyle/>
          <a:p>
            <a:pPr algn="ctr" eaLnBrk="0" latinLnBrk="0">
              <a:lnSpc>
                <a:spcPct val="100000"/>
              </a:lnSpc>
              <a:buNone/>
            </a:pPr>
            <a:r>
              <a:rPr lang="ko-KR" altLang="en-US" sz="1650" b="1" dirty="0">
                <a:solidFill>
                  <a:srgbClr val="FFFFFF"/>
                </a:solidFill>
                <a:latin typeface="Malgun Gothic"/>
                <a:ea typeface="Malgun Gothic"/>
                <a:cs typeface="Malgun Gothic"/>
              </a:rPr>
              <a:t>집</a:t>
            </a:r>
          </a:p>
        </p:txBody>
      </p:sp>
      <p:sp>
        <p:nvSpPr>
          <p:cNvPr id="24" name="직사각형 25"/>
          <p:cNvSpPr/>
          <p:nvPr/>
        </p:nvSpPr>
        <p:spPr>
          <a:xfrm>
            <a:off x="5285232" y="2724912"/>
            <a:ext cx="768096" cy="76809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편의점</a:t>
            </a:r>
          </a:p>
        </p:txBody>
      </p:sp>
      <p:sp>
        <p:nvSpPr>
          <p:cNvPr id="25" name="직사각형 26"/>
          <p:cNvSpPr/>
          <p:nvPr/>
        </p:nvSpPr>
        <p:spPr>
          <a:xfrm>
            <a:off x="5285232" y="5010912"/>
            <a:ext cx="768096" cy="76809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학교</a:t>
            </a:r>
          </a:p>
        </p:txBody>
      </p:sp>
      <p:sp>
        <p:nvSpPr>
          <p:cNvPr id="26" name="직사각형 27"/>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검정: 시작점    노랑: 지금 가장 가까운 미확정 정점    x: 학교 → 편의점 비용</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완화 · dist[v] 15 → 10</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60</a:t>
            </a:r>
            <a:endParaRPr lang="ko-KR" altLang="en-US" sz="1050" b="0" dirty="0">
              <a:solidFill>
                <a:srgbClr val="606060"/>
              </a:solidFill>
              <a:latin typeface="Malgun Gothic"/>
              <a:ea typeface="Malgun Gothic"/>
              <a:cs typeface="Malgun Gothic"/>
            </a:endParaRPr>
          </a:p>
        </p:txBody>
      </p:sp>
      <p:sp>
        <p:nvSpPr>
          <p:cNvPr id="9" name="fit:b9cd81bf47bad89e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u를 거쳐 v로 가는 길이 더 짧으면 dist[v]를 고칩니다. 연습문제 예: dist[u] = 7, 가중치 3, dist[v] = 15</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sp>
        <p:nvSpPr>
          <p:cNvPr id="11" name="fit:26f019e282d75c4f 12"/>
          <p:cNvSpPr/>
          <p:nvPr/>
        </p:nvSpPr>
        <p:spPr>
          <a:xfrm>
            <a:off x="7909560" y="2935224"/>
            <a:ext cx="3666744" cy="265176"/>
          </a:xfrm>
          <a:prstGeom prst="rect">
            <a:avLst/>
          </a:prstGeom>
          <a:noFill/>
          <a:ln w="0">
            <a:noFill/>
          </a:ln>
        </p:spPr>
        <p:txBody>
          <a:bodyPr wrap="square" lIns="0" tIns="0" rIns="0" bIns="0" anchor="t">
            <a:noAutofit/>
          </a:bodyPr>
          <a:lstStyle/>
          <a:p>
            <a:pPr algn="l" eaLnBrk="0" latinLnBrk="0">
              <a:lnSpc>
                <a:spcPct val="105000"/>
              </a:lnSpc>
              <a:buNone/>
            </a:pPr>
            <a:r>
              <a:rPr lang="ko-KR" altLang="en-US" sz="1500" b="0" dirty="0">
                <a:solidFill>
                  <a:srgbClr val="171717"/>
                </a:solidFill>
                <a:latin typeface="Malgun Gothic"/>
                <a:ea typeface="Malgun Gothic"/>
                <a:cs typeface="Malgun Gothic"/>
              </a:rPr>
              <a:t>완화(relaxation)</a:t>
            </a:r>
          </a:p>
        </p:txBody>
      </p:sp>
      <p:sp>
        <p:nvSpPr>
          <p:cNvPr id="12" name="fit:0fdd4f9a5eafb749 13"/>
          <p:cNvSpPr/>
          <p:nvPr/>
        </p:nvSpPr>
        <p:spPr>
          <a:xfrm>
            <a:off x="7909560" y="3328416"/>
            <a:ext cx="3666744"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500" b="1" dirty="0">
                <a:solidFill>
                  <a:srgbClr val="0E8A7D"/>
                </a:solidFill>
                <a:latin typeface="Malgun Gothic"/>
                <a:ea typeface="Malgun Gothic"/>
                <a:cs typeface="Malgun Gothic"/>
              </a:rPr>
              <a:t>dist[v] = min(dist[v], dist[u] + w)</a:t>
            </a:r>
          </a:p>
        </p:txBody>
      </p:sp>
      <p:sp>
        <p:nvSpPr>
          <p:cNvPr id="13" name="직사각형 14"/>
          <p:cNvSpPr/>
          <p:nvPr/>
        </p:nvSpPr>
        <p:spPr>
          <a:xfrm>
            <a:off x="7909560" y="3703320"/>
            <a:ext cx="3666744" cy="21945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0" dirty="0">
                <a:solidFill>
                  <a:srgbClr val="606060"/>
                </a:solidFill>
                <a:latin typeface="Consolas"/>
                <a:ea typeface="Consolas"/>
                <a:cs typeface="Consolas"/>
              </a:rPr>
              <a:t>relax.pseudo</a:t>
            </a:r>
          </a:p>
        </p:txBody>
      </p:sp>
      <p:sp>
        <p:nvSpPr>
          <p:cNvPr id="14" name="직사각형 15"/>
          <p:cNvSpPr/>
          <p:nvPr/>
        </p:nvSpPr>
        <p:spPr>
          <a:xfrm>
            <a:off x="7909560" y="3922776"/>
            <a:ext cx="3666744" cy="676656"/>
          </a:xfrm>
          <a:prstGeom prst="rect">
            <a:avLst/>
          </a:prstGeom>
          <a:solidFill>
            <a:srgbClr val="171717"/>
          </a:solidFill>
          <a:ln w="0">
            <a:noFill/>
          </a:ln>
        </p:spPr>
        <p:txBody>
          <a:bodyPr wrap="none" lIns="91440" tIns="91440" rIns="91440" bIns="91440" anchor="t">
            <a:noAutofit/>
          </a:bodyPr>
          <a:lstStyle/>
          <a:p>
            <a:pPr algn="l" eaLnBrk="0" latinLnBrk="0">
              <a:lnSpc>
                <a:spcPct val="100000"/>
              </a:lnSpc>
              <a:buNone/>
            </a:pPr>
            <a:r>
              <a:rPr lang="ko-KR" altLang="en-US" sz="1500" b="0" dirty="0">
                <a:solidFill>
                  <a:srgbClr val="FFFFFF"/>
                </a:solidFill>
                <a:latin typeface="Consolas"/>
                <a:ea typeface="Consolas"/>
                <a:cs typeface="Consolas"/>
              </a:rPr>
              <a:t>if dist[u] + w &lt; dist[v] then</a:t>
            </a:r>
          </a:p>
          <a:p>
            <a:pPr algn="l" eaLnBrk="0" latinLnBrk="0">
              <a:lnSpc>
                <a:spcPct val="100000"/>
              </a:lnSpc>
              <a:buNone/>
            </a:pPr>
            <a:r>
              <a:rPr lang="ko-KR" altLang="en-US" sz="1500" b="0" dirty="0">
                <a:solidFill>
                  <a:srgbClr val="FFFFFF"/>
                </a:solidFill>
                <a:latin typeface="Consolas"/>
                <a:ea typeface="Consolas"/>
                <a:cs typeface="Consolas"/>
              </a:rPr>
              <a:t>    dist[v] &lt;- dist[u] + w</a:t>
            </a:r>
          </a:p>
        </p:txBody>
      </p:sp>
      <p:sp>
        <p:nvSpPr>
          <p:cNvPr id="15" name="fit:6e0b723c4fd6ce36 16"/>
          <p:cNvSpPr/>
          <p:nvPr/>
        </p:nvSpPr>
        <p:spPr>
          <a:xfrm>
            <a:off x="7909560" y="4727448"/>
            <a:ext cx="3666744"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w: u → v 간선의 비용. 더 짧을 때만 고치고, 같거나 길면 그대로 둡니다.</a:t>
            </a:r>
          </a:p>
        </p:txBody>
      </p:sp>
      <p:cxnSp>
        <p:nvCxnSpPr>
          <p:cNvPr id="16" name="연결선 17"/>
          <p:cNvCxnSpPr/>
          <p:nvPr/>
        </p:nvCxnSpPr>
        <p:spPr>
          <a:xfrm>
            <a:off x="2139696" y="4114800"/>
            <a:ext cx="3200400" cy="0"/>
          </a:xfrm>
          <a:prstGeom prst="line">
            <a:avLst/>
          </a:prstGeom>
          <a:ln w="44450">
            <a:solidFill>
              <a:srgbClr val="B8651B"/>
            </a:solidFill>
            <a:tailEnd type="triangle" w="med" len="med"/>
          </a:ln>
        </p:spPr>
      </p:cxnSp>
      <p:sp>
        <p:nvSpPr>
          <p:cNvPr id="17" name="직사각형 18"/>
          <p:cNvSpPr/>
          <p:nvPr/>
        </p:nvSpPr>
        <p:spPr>
          <a:xfrm>
            <a:off x="3511296" y="41239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3</a:t>
            </a:r>
          </a:p>
        </p:txBody>
      </p:sp>
      <p:sp>
        <p:nvSpPr>
          <p:cNvPr id="18" name="직사각형 19"/>
          <p:cNvSpPr/>
          <p:nvPr/>
        </p:nvSpPr>
        <p:spPr>
          <a:xfrm>
            <a:off x="1517904" y="3803904"/>
            <a:ext cx="621792" cy="621792"/>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u</a:t>
            </a:r>
          </a:p>
        </p:txBody>
      </p:sp>
      <p:sp>
        <p:nvSpPr>
          <p:cNvPr id="19" name="직사각형 20"/>
          <p:cNvSpPr/>
          <p:nvPr/>
        </p:nvSpPr>
        <p:spPr>
          <a:xfrm>
            <a:off x="5358384" y="3803904"/>
            <a:ext cx="621792" cy="621792"/>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v</a:t>
            </a:r>
          </a:p>
        </p:txBody>
      </p:sp>
      <p:sp>
        <p:nvSpPr>
          <p:cNvPr id="20" name="직사각형 21"/>
          <p:cNvSpPr/>
          <p:nvPr/>
        </p:nvSpPr>
        <p:spPr>
          <a:xfrm>
            <a:off x="1005840" y="3154680"/>
            <a:ext cx="1645920" cy="420624"/>
          </a:xfrm>
          <a:prstGeom prst="rect">
            <a:avLst/>
          </a:prstGeom>
          <a:solidFill>
            <a:srgbClr val="DCECFB"/>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dist[u] = 7</a:t>
            </a:r>
          </a:p>
        </p:txBody>
      </p:sp>
      <p:sp>
        <p:nvSpPr>
          <p:cNvPr id="21" name="직사각형 22"/>
          <p:cNvSpPr/>
          <p:nvPr/>
        </p:nvSpPr>
        <p:spPr>
          <a:xfrm>
            <a:off x="4572000" y="3154680"/>
            <a:ext cx="2194560" cy="420624"/>
          </a:xfrm>
          <a:prstGeom prst="rect">
            <a:avLst/>
          </a:prstGeom>
          <a:solidFill>
            <a:srgbClr val="FFF1C2"/>
          </a:solidFill>
          <a:ln w="0">
            <a:noFill/>
          </a:ln>
        </p:spPr>
        <p:txBody>
          <a:bodyPr wrap="square" lIns="0" tIns="0" rIns="0" bIns="0" anchor="ctr">
            <a:noAutofit/>
          </a:bodyPr>
          <a:lstStyle/>
          <a:p>
            <a:pPr algn="ctr" eaLnBrk="0" latinLnBrk="0">
              <a:lnSpc>
                <a:spcPct val="100000"/>
              </a:lnSpc>
              <a:buNone/>
            </a:pPr>
            <a:r>
              <a:rPr lang="ko-KR" altLang="en-US" sz="1800" b="1" dirty="0">
                <a:solidFill>
                  <a:srgbClr val="151515"/>
                </a:solidFill>
                <a:latin typeface="Malgun Gothic"/>
                <a:ea typeface="Malgun Gothic"/>
                <a:cs typeface="Malgun Gothic"/>
              </a:rPr>
              <a:t>dist[v] = 15 → 10</a:t>
            </a:r>
          </a:p>
        </p:txBody>
      </p:sp>
      <p:sp>
        <p:nvSpPr>
          <p:cNvPr id="22" name="직사각형 23"/>
          <p:cNvSpPr/>
          <p:nvPr/>
        </p:nvSpPr>
        <p:spPr>
          <a:xfrm>
            <a:off x="1005840" y="4846320"/>
            <a:ext cx="5760720" cy="457200"/>
          </a:xfrm>
          <a:prstGeom prst="rect">
            <a:avLst/>
          </a:prstGeom>
          <a:solidFill>
            <a:srgbClr val="DDF1E4"/>
          </a:solidFill>
          <a:ln w="0">
            <a:noFill/>
          </a:ln>
        </p:spPr>
        <p:txBody>
          <a:bodyPr wrap="square" lIns="0" tIns="0" rIns="0" bIns="0" anchor="ctr">
            <a:noAutofit/>
          </a:bodyPr>
          <a:lstStyle/>
          <a:p>
            <a:pPr algn="ctr" eaLnBrk="0" latinLnBrk="0">
              <a:lnSpc>
                <a:spcPct val="100000"/>
              </a:lnSpc>
              <a:buNone/>
            </a:pPr>
            <a:r>
              <a:rPr lang="ko-KR" altLang="en-US" sz="1800" b="1" dirty="0">
                <a:solidFill>
                  <a:srgbClr val="256B50"/>
                </a:solidFill>
                <a:latin typeface="Malgun Gothic"/>
                <a:ea typeface="Malgun Gothic"/>
                <a:cs typeface="Malgun Gothic"/>
              </a:rPr>
              <a:t>7 + 3 = 10 &lt; 15  →  dist[v]를 10으로 고칩니다</a:t>
            </a:r>
          </a:p>
        </p:txBody>
      </p:sp>
      <p:sp>
        <p:nvSpPr>
          <p:cNvPr id="23" name="직사각형 24"/>
          <p:cNvSpPr/>
          <p:nvPr/>
        </p:nvSpPr>
        <p:spPr>
          <a:xfrm>
            <a:off x="1005840" y="5431536"/>
            <a:ext cx="5760720" cy="457200"/>
          </a:xfrm>
          <a:prstGeom prst="rect">
            <a:avLst/>
          </a:prstGeom>
          <a:solidFill>
            <a:srgbClr val="F2F2F2"/>
          </a:solidFill>
          <a:ln w="0">
            <a:noFill/>
          </a:ln>
        </p:spPr>
        <p:txBody>
          <a:bodyPr wrap="square" lIns="0" tIns="0" rIns="0" bIns="0" anchor="ctr">
            <a:noAutofit/>
          </a:bodyPr>
          <a:lstStyle/>
          <a:p>
            <a:pPr algn="ctr" eaLnBrk="0" latinLnBrk="0">
              <a:lnSpc>
                <a:spcPct val="100000"/>
              </a:lnSpc>
              <a:buNone/>
            </a:pPr>
            <a:r>
              <a:rPr lang="ko-KR" altLang="en-US" sz="1650" b="0" dirty="0">
                <a:solidFill>
                  <a:srgbClr val="151515"/>
                </a:solidFill>
                <a:latin typeface="Malgun Gothic"/>
                <a:ea typeface="Malgun Gothic"/>
                <a:cs typeface="Malgun Gothic"/>
              </a:rPr>
              <a:t>dist[v]가 9였다면 10 ≥ 9  →  그대로 9</a:t>
            </a:r>
          </a:p>
        </p:txBody>
      </p:sp>
      <p:sp>
        <p:nvSpPr>
          <p:cNvPr id="24" name="직사각형 25"/>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파랑: dist를 아는 정점 u    노랑: 고치려는 정점 v    주황: 완화하는 간선 u → v</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예제: A에서 출발 · 초기화</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61</a:t>
            </a:r>
            <a:endParaRPr lang="ko-KR" altLang="en-US" sz="1050" b="0" dirty="0">
              <a:solidFill>
                <a:srgbClr val="606060"/>
              </a:solidFill>
              <a:latin typeface="Malgun Gothic"/>
              <a:ea typeface="Malgun Gothic"/>
              <a:cs typeface="Malgun Gothic"/>
            </a:endParaRPr>
          </a:p>
        </p:txBody>
      </p:sp>
      <p:sp>
        <p:nvSpPr>
          <p:cNvPr id="9" name="fit:bec715f7f45c91e9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방향 그래프 A~F, 시작점은 A입니다. dist[A] = 0, 나머지는 아직 길을 모르니 ∞로 둡니다.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345062982"/>
              </p:ext>
            </p:extLst>
          </p:nvPr>
        </p:nvGraphicFramePr>
        <p:xfrm>
          <a:off x="7909560" y="2935224"/>
          <a:ext cx="3666744" cy="2176272"/>
        </p:xfrm>
        <a:graphic>
          <a:graphicData uri="http://schemas.openxmlformats.org/drawingml/2006/table">
            <a:tbl>
              <a:tblPr/>
              <a:tblGrid>
                <a:gridCol w="894328">
                  <a:extLst>
                    <a:ext uri="{9D8B030D-6E8A-4147-A177-3AD203B41FA5}">
                      <a16:colId xmlns:a16="http://schemas.microsoft.com/office/drawing/2014/main" val="20000"/>
                    </a:ext>
                  </a:extLst>
                </a:gridCol>
                <a:gridCol w="1341492">
                  <a:extLst>
                    <a:ext uri="{9D8B030D-6E8A-4147-A177-3AD203B41FA5}">
                      <a16:colId xmlns:a16="http://schemas.microsoft.com/office/drawing/2014/main" val="20001"/>
                    </a:ext>
                  </a:extLst>
                </a:gridCol>
                <a:gridCol w="1430924">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정점</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dist</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상태</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A</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3"/>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D</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4"/>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E</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5"/>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F</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p:sp>
        <p:nvSpPr>
          <p:cNvPr id="12" name="fit:378583433e922f5d 13"/>
          <p:cNvSpPr/>
          <p:nvPr/>
        </p:nvSpPr>
        <p:spPr>
          <a:xfrm>
            <a:off x="7909560" y="5257800"/>
            <a:ext cx="3666744"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다음: 미확정 중 dist가 가장 작은 A(0)를 확정</a:t>
            </a:r>
          </a:p>
        </p:txBody>
      </p:sp>
      <p:cxnSp>
        <p:nvCxnSpPr>
          <p:cNvPr id="13" name="연결선 14"/>
          <p:cNvCxnSpPr/>
          <p:nvPr/>
        </p:nvCxnSpPr>
        <p:spPr>
          <a:xfrm flipV="1">
            <a:off x="1183561" y="3201588"/>
            <a:ext cx="911554" cy="878998"/>
          </a:xfrm>
          <a:prstGeom prst="line">
            <a:avLst/>
          </a:prstGeom>
          <a:ln w="19050">
            <a:solidFill>
              <a:srgbClr val="9A9A9A"/>
            </a:solidFill>
            <a:tailEnd type="triangle" w="med" len="med"/>
          </a:ln>
        </p:spPr>
      </p:cxnSp>
      <p:sp>
        <p:nvSpPr>
          <p:cNvPr id="14" name="직사각형 15"/>
          <p:cNvSpPr/>
          <p:nvPr/>
        </p:nvSpPr>
        <p:spPr>
          <a:xfrm>
            <a:off x="130662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8</a:t>
            </a:r>
          </a:p>
        </p:txBody>
      </p:sp>
      <p:cxnSp>
        <p:nvCxnSpPr>
          <p:cNvPr id="15" name="연결선 16"/>
          <p:cNvCxnSpPr/>
          <p:nvPr/>
        </p:nvCxnSpPr>
        <p:spPr>
          <a:xfrm flipV="1">
            <a:off x="1240884" y="3098666"/>
            <a:ext cx="3352980" cy="1077744"/>
          </a:xfrm>
          <a:prstGeom prst="line">
            <a:avLst/>
          </a:prstGeom>
          <a:ln w="19050">
            <a:solidFill>
              <a:srgbClr val="9A9A9A"/>
            </a:solidFill>
            <a:tailEnd type="triangle" w="med" len="med"/>
          </a:ln>
        </p:spPr>
      </p:cxnSp>
      <p:sp>
        <p:nvSpPr>
          <p:cNvPr id="16" name="직사각형 17"/>
          <p:cNvSpPr/>
          <p:nvPr/>
        </p:nvSpPr>
        <p:spPr>
          <a:xfrm>
            <a:off x="2643566" y="335829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1</a:t>
            </a:r>
          </a:p>
        </p:txBody>
      </p:sp>
      <p:cxnSp>
        <p:nvCxnSpPr>
          <p:cNvPr id="17" name="연결선 18"/>
          <p:cNvCxnSpPr/>
          <p:nvPr/>
        </p:nvCxnSpPr>
        <p:spPr>
          <a:xfrm>
            <a:off x="1252728" y="4251960"/>
            <a:ext cx="4608576" cy="0"/>
          </a:xfrm>
          <a:prstGeom prst="line">
            <a:avLst/>
          </a:prstGeom>
          <a:ln w="19050">
            <a:solidFill>
              <a:srgbClr val="9A9A9A"/>
            </a:solidFill>
            <a:tailEnd type="triangle" w="med" len="med"/>
          </a:ln>
        </p:spPr>
      </p:cxnSp>
      <p:sp>
        <p:nvSpPr>
          <p:cNvPr id="18" name="직사각형 19"/>
          <p:cNvSpPr/>
          <p:nvPr/>
        </p:nvSpPr>
        <p:spPr>
          <a:xfrm>
            <a:off x="3328416" y="396849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2</a:t>
            </a:r>
          </a:p>
        </p:txBody>
      </p:sp>
      <p:cxnSp>
        <p:nvCxnSpPr>
          <p:cNvPr id="19" name="연결선 20"/>
          <p:cNvCxnSpPr/>
          <p:nvPr/>
        </p:nvCxnSpPr>
        <p:spPr>
          <a:xfrm flipH="1">
            <a:off x="2551176" y="3017520"/>
            <a:ext cx="2048256" cy="0"/>
          </a:xfrm>
          <a:prstGeom prst="line">
            <a:avLst/>
          </a:prstGeom>
          <a:ln w="19050">
            <a:solidFill>
              <a:srgbClr val="9A9A9A"/>
            </a:solidFill>
            <a:tailEnd type="triangle" w="med" len="med"/>
          </a:ln>
        </p:spPr>
      </p:cxnSp>
      <p:sp>
        <p:nvSpPr>
          <p:cNvPr id="20" name="직사각형 21"/>
          <p:cNvSpPr/>
          <p:nvPr/>
        </p:nvSpPr>
        <p:spPr>
          <a:xfrm>
            <a:off x="3328416" y="273405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cxnSp>
        <p:nvCxnSpPr>
          <p:cNvPr id="21" name="연결선 22"/>
          <p:cNvCxnSpPr/>
          <p:nvPr/>
        </p:nvCxnSpPr>
        <p:spPr>
          <a:xfrm>
            <a:off x="5024041" y="3188894"/>
            <a:ext cx="911554" cy="878998"/>
          </a:xfrm>
          <a:prstGeom prst="line">
            <a:avLst/>
          </a:prstGeom>
          <a:ln w="19050">
            <a:solidFill>
              <a:srgbClr val="9A9A9A"/>
            </a:solidFill>
            <a:tailEnd type="triangle" w="med" len="med"/>
          </a:ln>
        </p:spPr>
      </p:cxnSp>
      <p:sp>
        <p:nvSpPr>
          <p:cNvPr id="22" name="직사각형 23"/>
          <p:cNvSpPr/>
          <p:nvPr/>
        </p:nvSpPr>
        <p:spPr>
          <a:xfrm>
            <a:off x="535021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2</a:t>
            </a:r>
          </a:p>
        </p:txBody>
      </p:sp>
      <p:cxnSp>
        <p:nvCxnSpPr>
          <p:cNvPr id="23" name="연결선 24"/>
          <p:cNvCxnSpPr/>
          <p:nvPr/>
        </p:nvCxnSpPr>
        <p:spPr>
          <a:xfrm flipH="1">
            <a:off x="5037205" y="4423334"/>
            <a:ext cx="911554" cy="878998"/>
          </a:xfrm>
          <a:prstGeom prst="line">
            <a:avLst/>
          </a:prstGeom>
          <a:ln w="19050">
            <a:solidFill>
              <a:srgbClr val="9A9A9A"/>
            </a:solidFill>
            <a:tailEnd type="triangle" w="med" len="med"/>
          </a:ln>
        </p:spPr>
      </p:cxnSp>
      <p:sp>
        <p:nvSpPr>
          <p:cNvPr id="24" name="직사각형 25"/>
          <p:cNvSpPr/>
          <p:nvPr/>
        </p:nvSpPr>
        <p:spPr>
          <a:xfrm>
            <a:off x="535021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p:txBody>
      </p:sp>
      <p:cxnSp>
        <p:nvCxnSpPr>
          <p:cNvPr id="25" name="연결선 26"/>
          <p:cNvCxnSpPr/>
          <p:nvPr/>
        </p:nvCxnSpPr>
        <p:spPr>
          <a:xfrm flipH="1">
            <a:off x="2538455" y="4327510"/>
            <a:ext cx="3352980" cy="1077744"/>
          </a:xfrm>
          <a:prstGeom prst="line">
            <a:avLst/>
          </a:prstGeom>
          <a:ln w="19050">
            <a:solidFill>
              <a:srgbClr val="9A9A9A"/>
            </a:solidFill>
            <a:tailEnd type="triangle" w="med" len="med"/>
          </a:ln>
        </p:spPr>
      </p:cxnSp>
      <p:sp>
        <p:nvSpPr>
          <p:cNvPr id="26" name="직사각형 27"/>
          <p:cNvSpPr/>
          <p:nvPr/>
        </p:nvSpPr>
        <p:spPr>
          <a:xfrm>
            <a:off x="4013266" y="487130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cxnSp>
        <p:nvCxnSpPr>
          <p:cNvPr id="27" name="연결선 28"/>
          <p:cNvCxnSpPr/>
          <p:nvPr/>
        </p:nvCxnSpPr>
        <p:spPr>
          <a:xfrm flipH="1">
            <a:off x="2551176" y="5486400"/>
            <a:ext cx="2048256" cy="0"/>
          </a:xfrm>
          <a:prstGeom prst="line">
            <a:avLst/>
          </a:prstGeom>
          <a:ln w="19050">
            <a:solidFill>
              <a:srgbClr val="9A9A9A"/>
            </a:solidFill>
            <a:tailEnd type="triangle" w="med" len="med"/>
          </a:ln>
        </p:spPr>
      </p:cxnSp>
      <p:sp>
        <p:nvSpPr>
          <p:cNvPr id="28" name="직사각형 29"/>
          <p:cNvSpPr/>
          <p:nvPr/>
        </p:nvSpPr>
        <p:spPr>
          <a:xfrm>
            <a:off x="3328416" y="54955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1</a:t>
            </a:r>
          </a:p>
        </p:txBody>
      </p:sp>
      <p:cxnSp>
        <p:nvCxnSpPr>
          <p:cNvPr id="29" name="연결선 30"/>
          <p:cNvCxnSpPr/>
          <p:nvPr/>
        </p:nvCxnSpPr>
        <p:spPr>
          <a:xfrm flipH="1" flipV="1">
            <a:off x="1196725" y="4436028"/>
            <a:ext cx="911554" cy="878998"/>
          </a:xfrm>
          <a:prstGeom prst="line">
            <a:avLst/>
          </a:prstGeom>
          <a:ln w="19050">
            <a:solidFill>
              <a:srgbClr val="9A9A9A"/>
            </a:solidFill>
            <a:tailEnd type="triangle" w="med" len="med"/>
          </a:ln>
        </p:spPr>
      </p:cxnSp>
      <p:sp>
        <p:nvSpPr>
          <p:cNvPr id="30" name="직사각형 31"/>
          <p:cNvSpPr/>
          <p:nvPr/>
        </p:nvSpPr>
        <p:spPr>
          <a:xfrm>
            <a:off x="130662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31" name="직사각형 32"/>
          <p:cNvSpPr/>
          <p:nvPr/>
        </p:nvSpPr>
        <p:spPr>
          <a:xfrm>
            <a:off x="758952" y="4005072"/>
            <a:ext cx="493776" cy="493776"/>
          </a:xfrm>
          <a:prstGeom prst="ellipse">
            <a:avLst/>
          </a:prstGeom>
          <a:solidFill>
            <a:srgbClr val="151515"/>
          </a:solidFill>
          <a:ln w="22225">
            <a:solidFill>
              <a:srgbClr val="151515"/>
            </a:solidFill>
          </a:ln>
        </p:spPr>
        <p:txBody>
          <a:bodyPr wrap="none" lIns="0" tIns="0" rIns="0" bIns="0" anchor="ctr">
            <a:noAutofit/>
          </a:bodyPr>
          <a:lstStyle/>
          <a:p>
            <a:pPr algn="ctr" eaLnBrk="0" latinLnBrk="0">
              <a:lnSpc>
                <a:spcPct val="100000"/>
              </a:lnSpc>
              <a:buNone/>
            </a:pPr>
            <a:r>
              <a:rPr lang="ko-KR" altLang="en-US" sz="1650" b="1" dirty="0">
                <a:solidFill>
                  <a:srgbClr val="FFFFFF"/>
                </a:solidFill>
                <a:latin typeface="Malgun Gothic"/>
                <a:ea typeface="Malgun Gothic"/>
                <a:cs typeface="Malgun Gothic"/>
              </a:rPr>
              <a:t>A</a:t>
            </a:r>
          </a:p>
        </p:txBody>
      </p:sp>
      <p:sp>
        <p:nvSpPr>
          <p:cNvPr id="32" name="직사각형 33"/>
          <p:cNvSpPr/>
          <p:nvPr/>
        </p:nvSpPr>
        <p:spPr>
          <a:xfrm>
            <a:off x="45720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0</a:t>
            </a:r>
          </a:p>
        </p:txBody>
      </p:sp>
      <p:sp>
        <p:nvSpPr>
          <p:cNvPr id="33" name="직사각형 34"/>
          <p:cNvSpPr/>
          <p:nvPr/>
        </p:nvSpPr>
        <p:spPr>
          <a:xfrm>
            <a:off x="2039112" y="277063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4" name="직사각형 35"/>
          <p:cNvSpPr/>
          <p:nvPr/>
        </p:nvSpPr>
        <p:spPr>
          <a:xfrm>
            <a:off x="173736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35" name="직사각형 36"/>
          <p:cNvSpPr/>
          <p:nvPr/>
        </p:nvSpPr>
        <p:spPr>
          <a:xfrm>
            <a:off x="4599432" y="277063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6" name="직사각형 37"/>
          <p:cNvSpPr/>
          <p:nvPr/>
        </p:nvSpPr>
        <p:spPr>
          <a:xfrm>
            <a:off x="429768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37" name="직사각형 38"/>
          <p:cNvSpPr/>
          <p:nvPr/>
        </p:nvSpPr>
        <p:spPr>
          <a:xfrm>
            <a:off x="5879592" y="400507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38" name="직사각형 39"/>
          <p:cNvSpPr/>
          <p:nvPr/>
        </p:nvSpPr>
        <p:spPr>
          <a:xfrm>
            <a:off x="557784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39" name="직사각형 40"/>
          <p:cNvSpPr/>
          <p:nvPr/>
        </p:nvSpPr>
        <p:spPr>
          <a:xfrm>
            <a:off x="4599432" y="52395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E</a:t>
            </a:r>
          </a:p>
        </p:txBody>
      </p:sp>
      <p:sp>
        <p:nvSpPr>
          <p:cNvPr id="40" name="직사각형 41"/>
          <p:cNvSpPr/>
          <p:nvPr/>
        </p:nvSpPr>
        <p:spPr>
          <a:xfrm>
            <a:off x="429768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41" name="직사각형 42"/>
          <p:cNvSpPr/>
          <p:nvPr/>
        </p:nvSpPr>
        <p:spPr>
          <a:xfrm>
            <a:off x="2039112" y="52395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F</a:t>
            </a:r>
          </a:p>
        </p:txBody>
      </p:sp>
      <p:sp>
        <p:nvSpPr>
          <p:cNvPr id="42" name="직사각형 43"/>
          <p:cNvSpPr/>
          <p:nvPr/>
        </p:nvSpPr>
        <p:spPr>
          <a:xfrm>
            <a:off x="173736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43" name="직사각형 44"/>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검정: 시작점    정점 옆 숫자 = 지금의 dist    ∞: 아직 길을 모름</a:t>
            </a:r>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① A 확정 · B 8, C 1, D 2</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62</a:t>
            </a:r>
            <a:endParaRPr lang="ko-KR" altLang="en-US" sz="1050" b="0" dirty="0">
              <a:solidFill>
                <a:srgbClr val="606060"/>
              </a:solidFill>
              <a:latin typeface="Malgun Gothic"/>
              <a:ea typeface="Malgun Gothic"/>
              <a:cs typeface="Malgun Gothic"/>
            </a:endParaRPr>
          </a:p>
        </p:txBody>
      </p:sp>
      <p:sp>
        <p:nvSpPr>
          <p:cNvPr id="9" name="fit:218f87c214fa2297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미확정 중 가장 작은 A(0)를 확정합니다. A에서 나가는 간선으로 B, C, D를 고칩니다.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1530477757"/>
              </p:ext>
            </p:extLst>
          </p:nvPr>
        </p:nvGraphicFramePr>
        <p:xfrm>
          <a:off x="7909560" y="2935224"/>
          <a:ext cx="3666744" cy="2176272"/>
        </p:xfrm>
        <a:graphic>
          <a:graphicData uri="http://schemas.openxmlformats.org/drawingml/2006/table">
            <a:tbl>
              <a:tblPr/>
              <a:tblGrid>
                <a:gridCol w="894328">
                  <a:extLst>
                    <a:ext uri="{9D8B030D-6E8A-4147-A177-3AD203B41FA5}">
                      <a16:colId xmlns:a16="http://schemas.microsoft.com/office/drawing/2014/main" val="20000"/>
                    </a:ext>
                  </a:extLst>
                </a:gridCol>
                <a:gridCol w="1341492">
                  <a:extLst>
                    <a:ext uri="{9D8B030D-6E8A-4147-A177-3AD203B41FA5}">
                      <a16:colId xmlns:a16="http://schemas.microsoft.com/office/drawing/2014/main" val="20001"/>
                    </a:ext>
                  </a:extLst>
                </a:gridCol>
                <a:gridCol w="1430924">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정점</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dist</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상태</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A</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이번 확정</a:t>
                      </a:r>
                    </a:p>
                  </a:txBody>
                  <a:tcPr marL="54864" marR="54864" marT="18288" marB="18288" anchor="ctr">
                    <a:solidFill>
                      <a:srgbClr val="FFF1C2"/>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400" b="1" dirty="0">
                          <a:solidFill>
                            <a:srgbClr val="0E8A7D"/>
                          </a:solidFill>
                          <a:latin typeface="Malgun Gothic"/>
                          <a:ea typeface="Malgun Gothic"/>
                          <a:cs typeface="Malgun Gothic"/>
                        </a:rPr>
                        <a:t>∞ → 8</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C</a:t>
                      </a:r>
                    </a:p>
                  </a:txBody>
                  <a:tcPr marL="54864" marR="54864" marT="18288" marB="18288" anchor="ctr">
                    <a:solidFill>
                      <a:srgbClr val="FFFFFF"/>
                    </a:solidFill>
                  </a:tcPr>
                </a:tc>
                <a:tc>
                  <a:txBody>
                    <a:bodyPr/>
                    <a:lstStyle/>
                    <a:p>
                      <a:pPr algn="ctr" eaLnBrk="0" latinLnBrk="0">
                        <a:lnSpc>
                          <a:spcPct val="100000"/>
                        </a:lnSpc>
                        <a:buNone/>
                      </a:pPr>
                      <a:r>
                        <a:rPr lang="ko-KR" altLang="en-US" sz="1400" b="1" dirty="0">
                          <a:solidFill>
                            <a:srgbClr val="0E8A7D"/>
                          </a:solidFill>
                          <a:latin typeface="Malgun Gothic"/>
                          <a:ea typeface="Malgun Gothic"/>
                          <a:cs typeface="Malgun Gothic"/>
                        </a:rPr>
                        <a:t>∞ → 1</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3"/>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D</a:t>
                      </a:r>
                    </a:p>
                  </a:txBody>
                  <a:tcPr marL="54864" marR="54864" marT="18288" marB="18288" anchor="ctr">
                    <a:solidFill>
                      <a:srgbClr val="FFFFFF"/>
                    </a:solidFill>
                  </a:tcPr>
                </a:tc>
                <a:tc>
                  <a:txBody>
                    <a:bodyPr/>
                    <a:lstStyle/>
                    <a:p>
                      <a:pPr algn="ctr" eaLnBrk="0" latinLnBrk="0">
                        <a:lnSpc>
                          <a:spcPct val="100000"/>
                        </a:lnSpc>
                        <a:buNone/>
                      </a:pPr>
                      <a:r>
                        <a:rPr lang="ko-KR" altLang="en-US" sz="1400" b="1" dirty="0">
                          <a:solidFill>
                            <a:srgbClr val="0E8A7D"/>
                          </a:solidFill>
                          <a:latin typeface="Malgun Gothic"/>
                          <a:ea typeface="Malgun Gothic"/>
                          <a:cs typeface="Malgun Gothic"/>
                        </a:rPr>
                        <a:t>∞ → 2</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4"/>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E</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5"/>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F</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p:sp>
        <p:nvSpPr>
          <p:cNvPr id="12" name="fit:ed9543823ae3169f 13"/>
          <p:cNvSpPr/>
          <p:nvPr/>
        </p:nvSpPr>
        <p:spPr>
          <a:xfrm>
            <a:off x="7909560" y="5257800"/>
            <a:ext cx="3666744"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0 + 8 = 8, 0 + 1 = 1, 0 + 2 = 2. 다음: 가장 작은 C(1)</a:t>
            </a:r>
          </a:p>
        </p:txBody>
      </p:sp>
      <p:cxnSp>
        <p:nvCxnSpPr>
          <p:cNvPr id="13" name="연결선 14"/>
          <p:cNvCxnSpPr/>
          <p:nvPr/>
        </p:nvCxnSpPr>
        <p:spPr>
          <a:xfrm flipV="1">
            <a:off x="1183561" y="3201588"/>
            <a:ext cx="911554" cy="878998"/>
          </a:xfrm>
          <a:prstGeom prst="line">
            <a:avLst/>
          </a:prstGeom>
          <a:ln w="44450">
            <a:solidFill>
              <a:srgbClr val="B8651B"/>
            </a:solidFill>
            <a:tailEnd type="triangle" w="med" len="med"/>
          </a:ln>
        </p:spPr>
      </p:cxnSp>
      <p:sp>
        <p:nvSpPr>
          <p:cNvPr id="14" name="직사각형 15"/>
          <p:cNvSpPr/>
          <p:nvPr/>
        </p:nvSpPr>
        <p:spPr>
          <a:xfrm>
            <a:off x="130662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8</a:t>
            </a:r>
          </a:p>
        </p:txBody>
      </p:sp>
      <p:cxnSp>
        <p:nvCxnSpPr>
          <p:cNvPr id="15" name="연결선 16"/>
          <p:cNvCxnSpPr/>
          <p:nvPr/>
        </p:nvCxnSpPr>
        <p:spPr>
          <a:xfrm flipV="1">
            <a:off x="1240884" y="3098666"/>
            <a:ext cx="3352980" cy="1077744"/>
          </a:xfrm>
          <a:prstGeom prst="line">
            <a:avLst/>
          </a:prstGeom>
          <a:ln w="44450">
            <a:solidFill>
              <a:srgbClr val="B8651B"/>
            </a:solidFill>
            <a:tailEnd type="triangle" w="med" len="med"/>
          </a:ln>
        </p:spPr>
      </p:cxnSp>
      <p:sp>
        <p:nvSpPr>
          <p:cNvPr id="16" name="직사각형 17"/>
          <p:cNvSpPr/>
          <p:nvPr/>
        </p:nvSpPr>
        <p:spPr>
          <a:xfrm>
            <a:off x="2643566" y="335829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1</a:t>
            </a:r>
          </a:p>
        </p:txBody>
      </p:sp>
      <p:cxnSp>
        <p:nvCxnSpPr>
          <p:cNvPr id="17" name="연결선 18"/>
          <p:cNvCxnSpPr/>
          <p:nvPr/>
        </p:nvCxnSpPr>
        <p:spPr>
          <a:xfrm>
            <a:off x="1252728" y="4251960"/>
            <a:ext cx="4608576" cy="0"/>
          </a:xfrm>
          <a:prstGeom prst="line">
            <a:avLst/>
          </a:prstGeom>
          <a:ln w="44450">
            <a:solidFill>
              <a:srgbClr val="B8651B"/>
            </a:solidFill>
            <a:tailEnd type="triangle" w="med" len="med"/>
          </a:ln>
        </p:spPr>
      </p:cxnSp>
      <p:sp>
        <p:nvSpPr>
          <p:cNvPr id="18" name="직사각형 19"/>
          <p:cNvSpPr/>
          <p:nvPr/>
        </p:nvSpPr>
        <p:spPr>
          <a:xfrm>
            <a:off x="3328416" y="396849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2</a:t>
            </a:r>
          </a:p>
        </p:txBody>
      </p:sp>
      <p:cxnSp>
        <p:nvCxnSpPr>
          <p:cNvPr id="19" name="연결선 20"/>
          <p:cNvCxnSpPr/>
          <p:nvPr/>
        </p:nvCxnSpPr>
        <p:spPr>
          <a:xfrm flipH="1">
            <a:off x="2551176" y="3017520"/>
            <a:ext cx="2048256" cy="0"/>
          </a:xfrm>
          <a:prstGeom prst="line">
            <a:avLst/>
          </a:prstGeom>
          <a:ln w="19050">
            <a:solidFill>
              <a:srgbClr val="9A9A9A"/>
            </a:solidFill>
            <a:tailEnd type="triangle" w="med" len="med"/>
          </a:ln>
        </p:spPr>
      </p:cxnSp>
      <p:sp>
        <p:nvSpPr>
          <p:cNvPr id="20" name="직사각형 21"/>
          <p:cNvSpPr/>
          <p:nvPr/>
        </p:nvSpPr>
        <p:spPr>
          <a:xfrm>
            <a:off x="3328416" y="273405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cxnSp>
        <p:nvCxnSpPr>
          <p:cNvPr id="21" name="연결선 22"/>
          <p:cNvCxnSpPr/>
          <p:nvPr/>
        </p:nvCxnSpPr>
        <p:spPr>
          <a:xfrm>
            <a:off x="5024041" y="3188894"/>
            <a:ext cx="911554" cy="878998"/>
          </a:xfrm>
          <a:prstGeom prst="line">
            <a:avLst/>
          </a:prstGeom>
          <a:ln w="19050">
            <a:solidFill>
              <a:srgbClr val="9A9A9A"/>
            </a:solidFill>
            <a:tailEnd type="triangle" w="med" len="med"/>
          </a:ln>
        </p:spPr>
      </p:cxnSp>
      <p:sp>
        <p:nvSpPr>
          <p:cNvPr id="22" name="직사각형 23"/>
          <p:cNvSpPr/>
          <p:nvPr/>
        </p:nvSpPr>
        <p:spPr>
          <a:xfrm>
            <a:off x="535021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2</a:t>
            </a:r>
          </a:p>
        </p:txBody>
      </p:sp>
      <p:cxnSp>
        <p:nvCxnSpPr>
          <p:cNvPr id="23" name="연결선 24"/>
          <p:cNvCxnSpPr/>
          <p:nvPr/>
        </p:nvCxnSpPr>
        <p:spPr>
          <a:xfrm flipH="1">
            <a:off x="5037205" y="4423334"/>
            <a:ext cx="911554" cy="878998"/>
          </a:xfrm>
          <a:prstGeom prst="line">
            <a:avLst/>
          </a:prstGeom>
          <a:ln w="19050">
            <a:solidFill>
              <a:srgbClr val="9A9A9A"/>
            </a:solidFill>
            <a:tailEnd type="triangle" w="med" len="med"/>
          </a:ln>
        </p:spPr>
      </p:cxnSp>
      <p:sp>
        <p:nvSpPr>
          <p:cNvPr id="24" name="직사각형 25"/>
          <p:cNvSpPr/>
          <p:nvPr/>
        </p:nvSpPr>
        <p:spPr>
          <a:xfrm>
            <a:off x="535021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p:txBody>
      </p:sp>
      <p:cxnSp>
        <p:nvCxnSpPr>
          <p:cNvPr id="25" name="연결선 26"/>
          <p:cNvCxnSpPr/>
          <p:nvPr/>
        </p:nvCxnSpPr>
        <p:spPr>
          <a:xfrm flipH="1">
            <a:off x="2538455" y="4327510"/>
            <a:ext cx="3352980" cy="1077744"/>
          </a:xfrm>
          <a:prstGeom prst="line">
            <a:avLst/>
          </a:prstGeom>
          <a:ln w="19050">
            <a:solidFill>
              <a:srgbClr val="9A9A9A"/>
            </a:solidFill>
            <a:tailEnd type="triangle" w="med" len="med"/>
          </a:ln>
        </p:spPr>
      </p:cxnSp>
      <p:sp>
        <p:nvSpPr>
          <p:cNvPr id="26" name="직사각형 27"/>
          <p:cNvSpPr/>
          <p:nvPr/>
        </p:nvSpPr>
        <p:spPr>
          <a:xfrm>
            <a:off x="4013266" y="487130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cxnSp>
        <p:nvCxnSpPr>
          <p:cNvPr id="27" name="연결선 28"/>
          <p:cNvCxnSpPr/>
          <p:nvPr/>
        </p:nvCxnSpPr>
        <p:spPr>
          <a:xfrm flipH="1">
            <a:off x="2551176" y="5486400"/>
            <a:ext cx="2048256" cy="0"/>
          </a:xfrm>
          <a:prstGeom prst="line">
            <a:avLst/>
          </a:prstGeom>
          <a:ln w="19050">
            <a:solidFill>
              <a:srgbClr val="9A9A9A"/>
            </a:solidFill>
            <a:tailEnd type="triangle" w="med" len="med"/>
          </a:ln>
        </p:spPr>
      </p:cxnSp>
      <p:sp>
        <p:nvSpPr>
          <p:cNvPr id="28" name="직사각형 29"/>
          <p:cNvSpPr/>
          <p:nvPr/>
        </p:nvSpPr>
        <p:spPr>
          <a:xfrm>
            <a:off x="3328416" y="54955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1</a:t>
            </a:r>
          </a:p>
        </p:txBody>
      </p:sp>
      <p:cxnSp>
        <p:nvCxnSpPr>
          <p:cNvPr id="29" name="연결선 30"/>
          <p:cNvCxnSpPr/>
          <p:nvPr/>
        </p:nvCxnSpPr>
        <p:spPr>
          <a:xfrm flipH="1" flipV="1">
            <a:off x="1196725" y="4436028"/>
            <a:ext cx="911554" cy="878998"/>
          </a:xfrm>
          <a:prstGeom prst="line">
            <a:avLst/>
          </a:prstGeom>
          <a:ln w="19050">
            <a:solidFill>
              <a:srgbClr val="9A9A9A"/>
            </a:solidFill>
            <a:tailEnd type="triangle" w="med" len="med"/>
          </a:ln>
        </p:spPr>
      </p:cxnSp>
      <p:sp>
        <p:nvSpPr>
          <p:cNvPr id="30" name="직사각형 31"/>
          <p:cNvSpPr/>
          <p:nvPr/>
        </p:nvSpPr>
        <p:spPr>
          <a:xfrm>
            <a:off x="130662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31" name="직사각형 32"/>
          <p:cNvSpPr/>
          <p:nvPr/>
        </p:nvSpPr>
        <p:spPr>
          <a:xfrm>
            <a:off x="758952" y="400507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32" name="직사각형 33"/>
          <p:cNvSpPr/>
          <p:nvPr/>
        </p:nvSpPr>
        <p:spPr>
          <a:xfrm>
            <a:off x="45720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0</a:t>
            </a:r>
          </a:p>
        </p:txBody>
      </p:sp>
      <p:sp>
        <p:nvSpPr>
          <p:cNvPr id="33" name="직사각형 34"/>
          <p:cNvSpPr/>
          <p:nvPr/>
        </p:nvSpPr>
        <p:spPr>
          <a:xfrm>
            <a:off x="2039112" y="277063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4" name="직사각형 35"/>
          <p:cNvSpPr/>
          <p:nvPr/>
        </p:nvSpPr>
        <p:spPr>
          <a:xfrm>
            <a:off x="173736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0E8A7D"/>
                </a:solidFill>
                <a:latin typeface="Malgun Gothic"/>
                <a:ea typeface="Malgun Gothic"/>
                <a:cs typeface="Malgun Gothic"/>
              </a:rPr>
              <a:t>∞ → 8</a:t>
            </a:r>
          </a:p>
        </p:txBody>
      </p:sp>
      <p:sp>
        <p:nvSpPr>
          <p:cNvPr id="35" name="직사각형 36"/>
          <p:cNvSpPr/>
          <p:nvPr/>
        </p:nvSpPr>
        <p:spPr>
          <a:xfrm>
            <a:off x="4599432" y="277063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6" name="직사각형 37"/>
          <p:cNvSpPr/>
          <p:nvPr/>
        </p:nvSpPr>
        <p:spPr>
          <a:xfrm>
            <a:off x="429768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0E8A7D"/>
                </a:solidFill>
                <a:latin typeface="Malgun Gothic"/>
                <a:ea typeface="Malgun Gothic"/>
                <a:cs typeface="Malgun Gothic"/>
              </a:rPr>
              <a:t>∞ → 1</a:t>
            </a:r>
          </a:p>
        </p:txBody>
      </p:sp>
      <p:sp>
        <p:nvSpPr>
          <p:cNvPr id="37" name="직사각형 38"/>
          <p:cNvSpPr/>
          <p:nvPr/>
        </p:nvSpPr>
        <p:spPr>
          <a:xfrm>
            <a:off x="5879592" y="400507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38" name="직사각형 39"/>
          <p:cNvSpPr/>
          <p:nvPr/>
        </p:nvSpPr>
        <p:spPr>
          <a:xfrm>
            <a:off x="557784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0E8A7D"/>
                </a:solidFill>
                <a:latin typeface="Malgun Gothic"/>
                <a:ea typeface="Malgun Gothic"/>
                <a:cs typeface="Malgun Gothic"/>
              </a:rPr>
              <a:t>∞ → 2</a:t>
            </a:r>
          </a:p>
        </p:txBody>
      </p:sp>
      <p:sp>
        <p:nvSpPr>
          <p:cNvPr id="39" name="직사각형 40"/>
          <p:cNvSpPr/>
          <p:nvPr/>
        </p:nvSpPr>
        <p:spPr>
          <a:xfrm>
            <a:off x="4599432" y="52395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E</a:t>
            </a:r>
          </a:p>
        </p:txBody>
      </p:sp>
      <p:sp>
        <p:nvSpPr>
          <p:cNvPr id="40" name="직사각형 41"/>
          <p:cNvSpPr/>
          <p:nvPr/>
        </p:nvSpPr>
        <p:spPr>
          <a:xfrm>
            <a:off x="429768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41" name="직사각형 42"/>
          <p:cNvSpPr/>
          <p:nvPr/>
        </p:nvSpPr>
        <p:spPr>
          <a:xfrm>
            <a:off x="2039112" y="52395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F</a:t>
            </a:r>
          </a:p>
        </p:txBody>
      </p:sp>
      <p:sp>
        <p:nvSpPr>
          <p:cNvPr id="42" name="직사각형 43"/>
          <p:cNvSpPr/>
          <p:nvPr/>
        </p:nvSpPr>
        <p:spPr>
          <a:xfrm>
            <a:off x="173736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43" name="직사각형 44"/>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이번에 확정    파랑: 확정    주황: 이번에 완화한 간선    청록: 지금 dist를 만든 간선    빨강 점선: 줄지 않음</a:t>
            </a:r>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② C 확정 · B 8 → 6</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63</a:t>
            </a:r>
            <a:endParaRPr lang="ko-KR" altLang="en-US" sz="1050" b="0" dirty="0">
              <a:solidFill>
                <a:srgbClr val="606060"/>
              </a:solidFill>
              <a:latin typeface="Malgun Gothic"/>
              <a:ea typeface="Malgun Gothic"/>
              <a:cs typeface="Malgun Gothic"/>
            </a:endParaRPr>
          </a:p>
        </p:txBody>
      </p:sp>
      <p:sp>
        <p:nvSpPr>
          <p:cNvPr id="9" name="fit:89fed076f65f58eb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가장 작은 C(1)를 확정합니다. C → B로 1 + 5 = 6 &lt; 8이라 B를 6으로 고칩니다.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3979968212"/>
              </p:ext>
            </p:extLst>
          </p:nvPr>
        </p:nvGraphicFramePr>
        <p:xfrm>
          <a:off x="7909560" y="2935224"/>
          <a:ext cx="3666744" cy="2176272"/>
        </p:xfrm>
        <a:graphic>
          <a:graphicData uri="http://schemas.openxmlformats.org/drawingml/2006/table">
            <a:tbl>
              <a:tblPr/>
              <a:tblGrid>
                <a:gridCol w="894328">
                  <a:extLst>
                    <a:ext uri="{9D8B030D-6E8A-4147-A177-3AD203B41FA5}">
                      <a16:colId xmlns:a16="http://schemas.microsoft.com/office/drawing/2014/main" val="20000"/>
                    </a:ext>
                  </a:extLst>
                </a:gridCol>
                <a:gridCol w="1341492">
                  <a:extLst>
                    <a:ext uri="{9D8B030D-6E8A-4147-A177-3AD203B41FA5}">
                      <a16:colId xmlns:a16="http://schemas.microsoft.com/office/drawing/2014/main" val="20001"/>
                    </a:ext>
                  </a:extLst>
                </a:gridCol>
                <a:gridCol w="1430924">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정점</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dist</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상태</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A</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B</a:t>
                      </a:r>
                    </a:p>
                  </a:txBody>
                  <a:tcPr marL="54864" marR="54864" marT="18288" marB="18288" anchor="ctr">
                    <a:solidFill>
                      <a:srgbClr val="FFFFFF"/>
                    </a:solidFill>
                  </a:tcPr>
                </a:tc>
                <a:tc>
                  <a:txBody>
                    <a:bodyPr/>
                    <a:lstStyle/>
                    <a:p>
                      <a:pPr algn="ctr" eaLnBrk="0" latinLnBrk="0">
                        <a:lnSpc>
                          <a:spcPct val="100000"/>
                        </a:lnSpc>
                        <a:buNone/>
                      </a:pPr>
                      <a:r>
                        <a:rPr lang="ko-KR" altLang="en-US" sz="1400" b="1" dirty="0">
                          <a:solidFill>
                            <a:srgbClr val="0E8A7D"/>
                          </a:solidFill>
                          <a:latin typeface="Malgun Gothic"/>
                          <a:ea typeface="Malgun Gothic"/>
                          <a:cs typeface="Malgun Gothic"/>
                        </a:rPr>
                        <a:t>8 → 6</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C</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이번 확정</a:t>
                      </a:r>
                    </a:p>
                  </a:txBody>
                  <a:tcPr marL="54864" marR="54864" marT="18288" marB="18288" anchor="ctr">
                    <a:solidFill>
                      <a:srgbClr val="FFF1C2"/>
                    </a:solidFill>
                  </a:tcPr>
                </a:tc>
                <a:extLst>
                  <a:ext uri="{0D108BD9-81ED-4DB2-BD59-A6C34878D82A}">
                    <a16:rowId xmlns:a16="http://schemas.microsoft.com/office/drawing/2014/main" val="10003"/>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D</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4"/>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E</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5"/>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F</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미확정</a:t>
                      </a:r>
                    </a:p>
                  </a:txBody>
                  <a:tcPr marL="54864" marR="54864" marT="18288" marB="18288" anchor="ctr">
                    <a:solidFill>
                      <a:srgbClr val="FFFFFF"/>
                    </a:solidFill>
                  </a:tcPr>
                </a:tc>
                <a:extLst>
                  <a:ext uri="{0D108BD9-81ED-4DB2-BD59-A6C34878D82A}">
                    <a16:rowId xmlns:a16="http://schemas.microsoft.com/office/drawing/2014/main" val="10006"/>
                  </a:ext>
                </a:extLst>
              </a:tr>
            </a:tbl>
          </a:graphicData>
        </a:graphic>
      </p:graphicFrame>
      <p:sp>
        <p:nvSpPr>
          <p:cNvPr id="12" name="fit:498fa689f59f75cb 13"/>
          <p:cNvSpPr/>
          <p:nvPr/>
        </p:nvSpPr>
        <p:spPr>
          <a:xfrm>
            <a:off x="7909560" y="5257800"/>
            <a:ext cx="3666744"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C → D는 1 + 2 = 3 ≥ 2라 그대로입니다. 다음: D(2)</a:t>
            </a:r>
          </a:p>
        </p:txBody>
      </p:sp>
      <p:cxnSp>
        <p:nvCxnSpPr>
          <p:cNvPr id="13" name="연결선 14"/>
          <p:cNvCxnSpPr/>
          <p:nvPr/>
        </p:nvCxnSpPr>
        <p:spPr>
          <a:xfrm flipV="1">
            <a:off x="1183561" y="3201588"/>
            <a:ext cx="911554" cy="878998"/>
          </a:xfrm>
          <a:prstGeom prst="line">
            <a:avLst/>
          </a:prstGeom>
          <a:ln w="19050">
            <a:solidFill>
              <a:srgbClr val="9A9A9A"/>
            </a:solidFill>
            <a:tailEnd type="triangle" w="med" len="med"/>
          </a:ln>
        </p:spPr>
      </p:cxnSp>
      <p:sp>
        <p:nvSpPr>
          <p:cNvPr id="14" name="직사각형 15"/>
          <p:cNvSpPr/>
          <p:nvPr/>
        </p:nvSpPr>
        <p:spPr>
          <a:xfrm>
            <a:off x="130662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8</a:t>
            </a:r>
          </a:p>
        </p:txBody>
      </p:sp>
      <p:cxnSp>
        <p:nvCxnSpPr>
          <p:cNvPr id="15" name="연결선 16"/>
          <p:cNvCxnSpPr/>
          <p:nvPr/>
        </p:nvCxnSpPr>
        <p:spPr>
          <a:xfrm flipV="1">
            <a:off x="1240884" y="3098666"/>
            <a:ext cx="3352980" cy="1077744"/>
          </a:xfrm>
          <a:prstGeom prst="line">
            <a:avLst/>
          </a:prstGeom>
          <a:ln w="44450">
            <a:solidFill>
              <a:srgbClr val="0E8A7D"/>
            </a:solidFill>
            <a:tailEnd type="triangle" w="med" len="med"/>
          </a:ln>
        </p:spPr>
      </p:cxnSp>
      <p:sp>
        <p:nvSpPr>
          <p:cNvPr id="16" name="직사각형 17"/>
          <p:cNvSpPr/>
          <p:nvPr/>
        </p:nvSpPr>
        <p:spPr>
          <a:xfrm>
            <a:off x="2643566" y="335829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1</a:t>
            </a:r>
          </a:p>
        </p:txBody>
      </p:sp>
      <p:cxnSp>
        <p:nvCxnSpPr>
          <p:cNvPr id="17" name="연결선 18"/>
          <p:cNvCxnSpPr/>
          <p:nvPr/>
        </p:nvCxnSpPr>
        <p:spPr>
          <a:xfrm>
            <a:off x="1252728" y="4251960"/>
            <a:ext cx="4608576" cy="0"/>
          </a:xfrm>
          <a:prstGeom prst="line">
            <a:avLst/>
          </a:prstGeom>
          <a:ln w="44450">
            <a:solidFill>
              <a:srgbClr val="0E8A7D"/>
            </a:solidFill>
            <a:tailEnd type="triangle" w="med" len="med"/>
          </a:ln>
        </p:spPr>
      </p:cxnSp>
      <p:sp>
        <p:nvSpPr>
          <p:cNvPr id="18" name="직사각형 19"/>
          <p:cNvSpPr/>
          <p:nvPr/>
        </p:nvSpPr>
        <p:spPr>
          <a:xfrm>
            <a:off x="3328416" y="396849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9" name="연결선 20"/>
          <p:cNvCxnSpPr/>
          <p:nvPr/>
        </p:nvCxnSpPr>
        <p:spPr>
          <a:xfrm flipH="1">
            <a:off x="2551176" y="3017520"/>
            <a:ext cx="2048256" cy="0"/>
          </a:xfrm>
          <a:prstGeom prst="line">
            <a:avLst/>
          </a:prstGeom>
          <a:ln w="44450">
            <a:solidFill>
              <a:srgbClr val="B8651B"/>
            </a:solidFill>
            <a:tailEnd type="triangle" w="med" len="med"/>
          </a:ln>
        </p:spPr>
      </p:cxnSp>
      <p:sp>
        <p:nvSpPr>
          <p:cNvPr id="20" name="직사각형 21"/>
          <p:cNvSpPr/>
          <p:nvPr/>
        </p:nvSpPr>
        <p:spPr>
          <a:xfrm>
            <a:off x="3328416" y="273405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5</a:t>
            </a:r>
          </a:p>
        </p:txBody>
      </p:sp>
      <p:cxnSp>
        <p:nvCxnSpPr>
          <p:cNvPr id="21" name="연결선 22"/>
          <p:cNvCxnSpPr/>
          <p:nvPr/>
        </p:nvCxnSpPr>
        <p:spPr>
          <a:xfrm>
            <a:off x="5024041" y="3188894"/>
            <a:ext cx="911554" cy="878998"/>
          </a:xfrm>
          <a:prstGeom prst="line">
            <a:avLst/>
          </a:prstGeom>
          <a:ln w="19050">
            <a:solidFill>
              <a:srgbClr val="B23B3B"/>
            </a:solidFill>
            <a:prstDash val="dash"/>
            <a:tailEnd type="triangle" w="med" len="med"/>
          </a:ln>
        </p:spPr>
      </p:cxnSp>
      <p:sp>
        <p:nvSpPr>
          <p:cNvPr id="22" name="직사각형 23"/>
          <p:cNvSpPr/>
          <p:nvPr/>
        </p:nvSpPr>
        <p:spPr>
          <a:xfrm>
            <a:off x="535021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23B3B"/>
                </a:solidFill>
                <a:latin typeface="Malgun Gothic"/>
                <a:ea typeface="Malgun Gothic"/>
                <a:cs typeface="Malgun Gothic"/>
              </a:rPr>
              <a:t>2</a:t>
            </a:r>
          </a:p>
        </p:txBody>
      </p:sp>
      <p:cxnSp>
        <p:nvCxnSpPr>
          <p:cNvPr id="23" name="연결선 24"/>
          <p:cNvCxnSpPr/>
          <p:nvPr/>
        </p:nvCxnSpPr>
        <p:spPr>
          <a:xfrm flipH="1">
            <a:off x="5037205" y="4423334"/>
            <a:ext cx="911554" cy="878998"/>
          </a:xfrm>
          <a:prstGeom prst="line">
            <a:avLst/>
          </a:prstGeom>
          <a:ln w="19050">
            <a:solidFill>
              <a:srgbClr val="9A9A9A"/>
            </a:solidFill>
            <a:tailEnd type="triangle" w="med" len="med"/>
          </a:ln>
        </p:spPr>
      </p:cxnSp>
      <p:sp>
        <p:nvSpPr>
          <p:cNvPr id="24" name="직사각형 25"/>
          <p:cNvSpPr/>
          <p:nvPr/>
        </p:nvSpPr>
        <p:spPr>
          <a:xfrm>
            <a:off x="535021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3</a:t>
            </a:r>
          </a:p>
        </p:txBody>
      </p:sp>
      <p:cxnSp>
        <p:nvCxnSpPr>
          <p:cNvPr id="25" name="연결선 26"/>
          <p:cNvCxnSpPr/>
          <p:nvPr/>
        </p:nvCxnSpPr>
        <p:spPr>
          <a:xfrm flipH="1">
            <a:off x="2538455" y="4327510"/>
            <a:ext cx="3352980" cy="1077744"/>
          </a:xfrm>
          <a:prstGeom prst="line">
            <a:avLst/>
          </a:prstGeom>
          <a:ln w="19050">
            <a:solidFill>
              <a:srgbClr val="9A9A9A"/>
            </a:solidFill>
            <a:tailEnd type="triangle" w="med" len="med"/>
          </a:ln>
        </p:spPr>
      </p:cxnSp>
      <p:sp>
        <p:nvSpPr>
          <p:cNvPr id="26" name="직사각형 27"/>
          <p:cNvSpPr/>
          <p:nvPr/>
        </p:nvSpPr>
        <p:spPr>
          <a:xfrm>
            <a:off x="4013266" y="487130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cxnSp>
        <p:nvCxnSpPr>
          <p:cNvPr id="27" name="연결선 28"/>
          <p:cNvCxnSpPr/>
          <p:nvPr/>
        </p:nvCxnSpPr>
        <p:spPr>
          <a:xfrm flipH="1">
            <a:off x="2551176" y="5486400"/>
            <a:ext cx="2048256" cy="0"/>
          </a:xfrm>
          <a:prstGeom prst="line">
            <a:avLst/>
          </a:prstGeom>
          <a:ln w="19050">
            <a:solidFill>
              <a:srgbClr val="9A9A9A"/>
            </a:solidFill>
            <a:tailEnd type="triangle" w="med" len="med"/>
          </a:ln>
        </p:spPr>
      </p:cxnSp>
      <p:sp>
        <p:nvSpPr>
          <p:cNvPr id="28" name="직사각형 29"/>
          <p:cNvSpPr/>
          <p:nvPr/>
        </p:nvSpPr>
        <p:spPr>
          <a:xfrm>
            <a:off x="3328416" y="54955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1</a:t>
            </a:r>
          </a:p>
        </p:txBody>
      </p:sp>
      <p:cxnSp>
        <p:nvCxnSpPr>
          <p:cNvPr id="29" name="연결선 30"/>
          <p:cNvCxnSpPr/>
          <p:nvPr/>
        </p:nvCxnSpPr>
        <p:spPr>
          <a:xfrm flipH="1" flipV="1">
            <a:off x="1196725" y="4436028"/>
            <a:ext cx="911554" cy="878998"/>
          </a:xfrm>
          <a:prstGeom prst="line">
            <a:avLst/>
          </a:prstGeom>
          <a:ln w="19050">
            <a:solidFill>
              <a:srgbClr val="9A9A9A"/>
            </a:solidFill>
            <a:tailEnd type="triangle" w="med" len="med"/>
          </a:ln>
        </p:spPr>
      </p:cxnSp>
      <p:sp>
        <p:nvSpPr>
          <p:cNvPr id="30" name="직사각형 31"/>
          <p:cNvSpPr/>
          <p:nvPr/>
        </p:nvSpPr>
        <p:spPr>
          <a:xfrm>
            <a:off x="130662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5</a:t>
            </a:r>
          </a:p>
        </p:txBody>
      </p:sp>
      <p:sp>
        <p:nvSpPr>
          <p:cNvPr id="31" name="직사각형 32"/>
          <p:cNvSpPr/>
          <p:nvPr/>
        </p:nvSpPr>
        <p:spPr>
          <a:xfrm>
            <a:off x="758952" y="400507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32" name="직사각형 33"/>
          <p:cNvSpPr/>
          <p:nvPr/>
        </p:nvSpPr>
        <p:spPr>
          <a:xfrm>
            <a:off x="45720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0</a:t>
            </a:r>
          </a:p>
        </p:txBody>
      </p:sp>
      <p:sp>
        <p:nvSpPr>
          <p:cNvPr id="33" name="직사각형 34"/>
          <p:cNvSpPr/>
          <p:nvPr/>
        </p:nvSpPr>
        <p:spPr>
          <a:xfrm>
            <a:off x="2039112" y="277063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4" name="직사각형 35"/>
          <p:cNvSpPr/>
          <p:nvPr/>
        </p:nvSpPr>
        <p:spPr>
          <a:xfrm>
            <a:off x="173736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0E8A7D"/>
                </a:solidFill>
                <a:latin typeface="Malgun Gothic"/>
                <a:ea typeface="Malgun Gothic"/>
                <a:cs typeface="Malgun Gothic"/>
              </a:rPr>
              <a:t>8 → 6</a:t>
            </a:r>
          </a:p>
        </p:txBody>
      </p:sp>
      <p:sp>
        <p:nvSpPr>
          <p:cNvPr id="35" name="직사각형 36"/>
          <p:cNvSpPr/>
          <p:nvPr/>
        </p:nvSpPr>
        <p:spPr>
          <a:xfrm>
            <a:off x="4599432" y="277063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6" name="직사각형 37"/>
          <p:cNvSpPr/>
          <p:nvPr/>
        </p:nvSpPr>
        <p:spPr>
          <a:xfrm>
            <a:off x="429768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1</a:t>
            </a:r>
          </a:p>
        </p:txBody>
      </p:sp>
      <p:sp>
        <p:nvSpPr>
          <p:cNvPr id="37" name="직사각형 38"/>
          <p:cNvSpPr/>
          <p:nvPr/>
        </p:nvSpPr>
        <p:spPr>
          <a:xfrm>
            <a:off x="5879592" y="400507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38" name="직사각형 39"/>
          <p:cNvSpPr/>
          <p:nvPr/>
        </p:nvSpPr>
        <p:spPr>
          <a:xfrm>
            <a:off x="557784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2</a:t>
            </a:r>
          </a:p>
        </p:txBody>
      </p:sp>
      <p:sp>
        <p:nvSpPr>
          <p:cNvPr id="39" name="직사각형 40"/>
          <p:cNvSpPr/>
          <p:nvPr/>
        </p:nvSpPr>
        <p:spPr>
          <a:xfrm>
            <a:off x="4599432" y="52395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E</a:t>
            </a:r>
          </a:p>
        </p:txBody>
      </p:sp>
      <p:sp>
        <p:nvSpPr>
          <p:cNvPr id="40" name="직사각형 41"/>
          <p:cNvSpPr/>
          <p:nvPr/>
        </p:nvSpPr>
        <p:spPr>
          <a:xfrm>
            <a:off x="429768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41" name="직사각형 42"/>
          <p:cNvSpPr/>
          <p:nvPr/>
        </p:nvSpPr>
        <p:spPr>
          <a:xfrm>
            <a:off x="2039112" y="5239512"/>
            <a:ext cx="493776" cy="493776"/>
          </a:xfrm>
          <a:prstGeom prst="ellipse">
            <a:avLst/>
          </a:prstGeom>
          <a:solidFill>
            <a:srgbClr val="FFFFFF"/>
          </a:solidFill>
          <a:ln w="22225">
            <a:solidFill>
              <a:srgbClr val="7A7A7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F</a:t>
            </a:r>
          </a:p>
        </p:txBody>
      </p:sp>
      <p:sp>
        <p:nvSpPr>
          <p:cNvPr id="42" name="직사각형 43"/>
          <p:cNvSpPr/>
          <p:nvPr/>
        </p:nvSpPr>
        <p:spPr>
          <a:xfrm>
            <a:off x="173736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606060"/>
                </a:solidFill>
                <a:latin typeface="Malgun Gothic"/>
                <a:ea typeface="Malgun Gothic"/>
                <a:cs typeface="Malgun Gothic"/>
              </a:rPr>
              <a:t>∞</a:t>
            </a:r>
          </a:p>
        </p:txBody>
      </p:sp>
      <p:sp>
        <p:nvSpPr>
          <p:cNvPr id="43" name="직사각형 44"/>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노랑: 이번에 확정    파랑: 확정    주황: 이번에 완화한 간선    청록: 지금 dist를 만든 간선    빨강 점선: 줄지 않음</a:t>
            </a:r>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a:solidFill>
                  <a:srgbClr val="171717"/>
                </a:solidFill>
                <a:latin typeface="Malgun Gothic"/>
                <a:ea typeface="Malgun Gothic"/>
                <a:cs typeface="Malgun Gothic"/>
              </a:rPr>
              <a:t>계산 결과</a:t>
            </a:r>
            <a:r>
              <a:rPr lang="en-US" altLang="ko-KR" sz="3000" b="1">
                <a:solidFill>
                  <a:srgbClr val="171717"/>
                </a:solidFill>
                <a:latin typeface="Malgun Gothic"/>
                <a:ea typeface="Malgun Gothic"/>
                <a:cs typeface="Malgun Gothic"/>
              </a:rPr>
              <a:t>: </a:t>
            </a:r>
            <a:r>
              <a:rPr lang="ko-KR" altLang="en-US" sz="3000" b="1">
                <a:solidFill>
                  <a:srgbClr val="171717"/>
                </a:solidFill>
                <a:latin typeface="Malgun Gothic"/>
                <a:ea typeface="Malgun Gothic"/>
                <a:cs typeface="Malgun Gothic"/>
              </a:rPr>
              <a:t>모든 정점의 최단 거리</a:t>
            </a:r>
            <a:endParaRPr lang="ko-KR" altLang="en-US" sz="3000" b="1" dirty="0">
              <a:solidFill>
                <a:srgbClr val="171717"/>
              </a:solidFill>
              <a:latin typeface="Malgun Gothic"/>
              <a:ea typeface="Malgun Gothic"/>
              <a:cs typeface="Malgun Gothic"/>
            </a:endParaRP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64</a:t>
            </a:r>
            <a:endParaRPr lang="ko-KR" altLang="en-US" sz="1050" b="0" dirty="0">
              <a:solidFill>
                <a:srgbClr val="606060"/>
              </a:solidFill>
              <a:latin typeface="Malgun Gothic"/>
              <a:ea typeface="Malgun Gothic"/>
              <a:cs typeface="Malgun Gothic"/>
            </a:endParaRPr>
          </a:p>
        </p:txBody>
      </p:sp>
      <p:sp>
        <p:nvSpPr>
          <p:cNvPr id="9" name="fit:82f30d15e258ccfd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F(6)를 확정합니다. F → A는 A가 이미 확정되어 고치지 않습니다(6 + 5 = 11 ≥ 0이기도 합니다).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2345195793"/>
              </p:ext>
            </p:extLst>
          </p:nvPr>
        </p:nvGraphicFramePr>
        <p:xfrm>
          <a:off x="7909560" y="2935224"/>
          <a:ext cx="3666744" cy="2176272"/>
        </p:xfrm>
        <a:graphic>
          <a:graphicData uri="http://schemas.openxmlformats.org/drawingml/2006/table">
            <a:tbl>
              <a:tblPr/>
              <a:tblGrid>
                <a:gridCol w="894328">
                  <a:extLst>
                    <a:ext uri="{9D8B030D-6E8A-4147-A177-3AD203B41FA5}">
                      <a16:colId xmlns:a16="http://schemas.microsoft.com/office/drawing/2014/main" val="20000"/>
                    </a:ext>
                  </a:extLst>
                </a:gridCol>
                <a:gridCol w="1341492">
                  <a:extLst>
                    <a:ext uri="{9D8B030D-6E8A-4147-A177-3AD203B41FA5}">
                      <a16:colId xmlns:a16="http://schemas.microsoft.com/office/drawing/2014/main" val="20001"/>
                    </a:ext>
                  </a:extLst>
                </a:gridCol>
                <a:gridCol w="1430924">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정점</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dist</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상태</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A</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B</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6</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C</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1</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3"/>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D</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4"/>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E</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5</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5"/>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F</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6</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이번 확정</a:t>
                      </a:r>
                    </a:p>
                  </a:txBody>
                  <a:tcPr marL="54864" marR="54864" marT="18288" marB="18288" anchor="ctr">
                    <a:solidFill>
                      <a:srgbClr val="FFF1C2"/>
                    </a:solidFill>
                  </a:tcPr>
                </a:tc>
                <a:extLst>
                  <a:ext uri="{0D108BD9-81ED-4DB2-BD59-A6C34878D82A}">
                    <a16:rowId xmlns:a16="http://schemas.microsoft.com/office/drawing/2014/main" val="10006"/>
                  </a:ext>
                </a:extLst>
              </a:tr>
            </a:tbl>
          </a:graphicData>
        </a:graphic>
      </p:graphicFrame>
      <p:sp>
        <p:nvSpPr>
          <p:cNvPr id="12" name="fit:38f8cccd4235c51a 13"/>
          <p:cNvSpPr/>
          <p:nvPr/>
        </p:nvSpPr>
        <p:spPr>
          <a:xfrm>
            <a:off x="7909560" y="5257800"/>
            <a:ext cx="3666744" cy="79552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모든 정점 확정. 청록 간선 5개 = 최단 경로 트리. A → D → E → F = 2 + 3 + 1 = 6</a:t>
            </a:r>
          </a:p>
        </p:txBody>
      </p:sp>
      <p:cxnSp>
        <p:nvCxnSpPr>
          <p:cNvPr id="13" name="연결선 14"/>
          <p:cNvCxnSpPr/>
          <p:nvPr/>
        </p:nvCxnSpPr>
        <p:spPr>
          <a:xfrm flipV="1">
            <a:off x="1183561" y="3201588"/>
            <a:ext cx="911554" cy="878998"/>
          </a:xfrm>
          <a:prstGeom prst="line">
            <a:avLst/>
          </a:prstGeom>
          <a:ln w="12700">
            <a:solidFill>
              <a:srgbClr val="D0D0D0"/>
            </a:solidFill>
            <a:tailEnd type="triangle" w="med" len="med"/>
          </a:ln>
        </p:spPr>
      </p:cxnSp>
      <p:sp>
        <p:nvSpPr>
          <p:cNvPr id="14" name="직사각형 15"/>
          <p:cNvSpPr/>
          <p:nvPr/>
        </p:nvSpPr>
        <p:spPr>
          <a:xfrm>
            <a:off x="130662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8</a:t>
            </a:r>
          </a:p>
        </p:txBody>
      </p:sp>
      <p:cxnSp>
        <p:nvCxnSpPr>
          <p:cNvPr id="15" name="연결선 16"/>
          <p:cNvCxnSpPr/>
          <p:nvPr/>
        </p:nvCxnSpPr>
        <p:spPr>
          <a:xfrm flipV="1">
            <a:off x="1240884" y="3098666"/>
            <a:ext cx="3352980" cy="1077744"/>
          </a:xfrm>
          <a:prstGeom prst="line">
            <a:avLst/>
          </a:prstGeom>
          <a:ln w="44450">
            <a:solidFill>
              <a:srgbClr val="0E8A7D"/>
            </a:solidFill>
            <a:tailEnd type="triangle" w="med" len="med"/>
          </a:ln>
        </p:spPr>
      </p:cxnSp>
      <p:sp>
        <p:nvSpPr>
          <p:cNvPr id="16" name="직사각형 17"/>
          <p:cNvSpPr/>
          <p:nvPr/>
        </p:nvSpPr>
        <p:spPr>
          <a:xfrm>
            <a:off x="2643566" y="335829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1</a:t>
            </a:r>
          </a:p>
        </p:txBody>
      </p:sp>
      <p:cxnSp>
        <p:nvCxnSpPr>
          <p:cNvPr id="17" name="연결선 18"/>
          <p:cNvCxnSpPr/>
          <p:nvPr/>
        </p:nvCxnSpPr>
        <p:spPr>
          <a:xfrm>
            <a:off x="1252728" y="4251960"/>
            <a:ext cx="4608576" cy="0"/>
          </a:xfrm>
          <a:prstGeom prst="line">
            <a:avLst/>
          </a:prstGeom>
          <a:ln w="44450">
            <a:solidFill>
              <a:srgbClr val="0E8A7D"/>
            </a:solidFill>
            <a:tailEnd type="triangle" w="med" len="med"/>
          </a:ln>
        </p:spPr>
      </p:cxnSp>
      <p:sp>
        <p:nvSpPr>
          <p:cNvPr id="18" name="직사각형 19"/>
          <p:cNvSpPr/>
          <p:nvPr/>
        </p:nvSpPr>
        <p:spPr>
          <a:xfrm>
            <a:off x="3328416" y="396849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9" name="연결선 20"/>
          <p:cNvCxnSpPr/>
          <p:nvPr/>
        </p:nvCxnSpPr>
        <p:spPr>
          <a:xfrm flipH="1">
            <a:off x="2551176" y="3017520"/>
            <a:ext cx="2048256" cy="0"/>
          </a:xfrm>
          <a:prstGeom prst="line">
            <a:avLst/>
          </a:prstGeom>
          <a:ln w="44450">
            <a:solidFill>
              <a:srgbClr val="0E8A7D"/>
            </a:solidFill>
            <a:tailEnd type="triangle" w="med" len="med"/>
          </a:ln>
        </p:spPr>
      </p:cxnSp>
      <p:sp>
        <p:nvSpPr>
          <p:cNvPr id="20" name="직사각형 21"/>
          <p:cNvSpPr/>
          <p:nvPr/>
        </p:nvSpPr>
        <p:spPr>
          <a:xfrm>
            <a:off x="3328416" y="273405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5</a:t>
            </a:r>
          </a:p>
        </p:txBody>
      </p:sp>
      <p:cxnSp>
        <p:nvCxnSpPr>
          <p:cNvPr id="21" name="연결선 22"/>
          <p:cNvCxnSpPr/>
          <p:nvPr/>
        </p:nvCxnSpPr>
        <p:spPr>
          <a:xfrm>
            <a:off x="5024041" y="3188894"/>
            <a:ext cx="911554" cy="878998"/>
          </a:xfrm>
          <a:prstGeom prst="line">
            <a:avLst/>
          </a:prstGeom>
          <a:ln w="12700">
            <a:solidFill>
              <a:srgbClr val="D0D0D0"/>
            </a:solidFill>
            <a:tailEnd type="triangle" w="med" len="med"/>
          </a:ln>
        </p:spPr>
      </p:cxnSp>
      <p:sp>
        <p:nvSpPr>
          <p:cNvPr id="22" name="직사각형 23"/>
          <p:cNvSpPr/>
          <p:nvPr/>
        </p:nvSpPr>
        <p:spPr>
          <a:xfrm>
            <a:off x="5350211" y="339226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2</a:t>
            </a:r>
          </a:p>
        </p:txBody>
      </p:sp>
      <p:cxnSp>
        <p:nvCxnSpPr>
          <p:cNvPr id="23" name="연결선 24"/>
          <p:cNvCxnSpPr/>
          <p:nvPr/>
        </p:nvCxnSpPr>
        <p:spPr>
          <a:xfrm flipH="1">
            <a:off x="5037205" y="4423334"/>
            <a:ext cx="911554" cy="878998"/>
          </a:xfrm>
          <a:prstGeom prst="line">
            <a:avLst/>
          </a:prstGeom>
          <a:ln w="44450">
            <a:solidFill>
              <a:srgbClr val="0E8A7D"/>
            </a:solidFill>
            <a:tailEnd type="triangle" w="med" len="med"/>
          </a:ln>
        </p:spPr>
      </p:cxnSp>
      <p:sp>
        <p:nvSpPr>
          <p:cNvPr id="24" name="직사각형 25"/>
          <p:cNvSpPr/>
          <p:nvPr/>
        </p:nvSpPr>
        <p:spPr>
          <a:xfrm>
            <a:off x="535021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3</a:t>
            </a:r>
          </a:p>
        </p:txBody>
      </p:sp>
      <p:cxnSp>
        <p:nvCxnSpPr>
          <p:cNvPr id="25" name="연결선 26"/>
          <p:cNvCxnSpPr/>
          <p:nvPr/>
        </p:nvCxnSpPr>
        <p:spPr>
          <a:xfrm flipH="1">
            <a:off x="2538455" y="4327510"/>
            <a:ext cx="3352980" cy="1077744"/>
          </a:xfrm>
          <a:prstGeom prst="line">
            <a:avLst/>
          </a:prstGeom>
          <a:ln w="12700">
            <a:solidFill>
              <a:srgbClr val="D0D0D0"/>
            </a:solidFill>
            <a:tailEnd type="triangle" w="med" len="med"/>
          </a:ln>
        </p:spPr>
      </p:cxnSp>
      <p:sp>
        <p:nvSpPr>
          <p:cNvPr id="26" name="직사각형 27"/>
          <p:cNvSpPr/>
          <p:nvPr/>
        </p:nvSpPr>
        <p:spPr>
          <a:xfrm>
            <a:off x="4013266" y="487130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5</a:t>
            </a:r>
          </a:p>
        </p:txBody>
      </p:sp>
      <p:cxnSp>
        <p:nvCxnSpPr>
          <p:cNvPr id="27" name="연결선 28"/>
          <p:cNvCxnSpPr/>
          <p:nvPr/>
        </p:nvCxnSpPr>
        <p:spPr>
          <a:xfrm flipH="1">
            <a:off x="2551176" y="5486400"/>
            <a:ext cx="2048256" cy="0"/>
          </a:xfrm>
          <a:prstGeom prst="line">
            <a:avLst/>
          </a:prstGeom>
          <a:ln w="44450">
            <a:solidFill>
              <a:srgbClr val="0E8A7D"/>
            </a:solidFill>
            <a:tailEnd type="triangle" w="med" len="med"/>
          </a:ln>
        </p:spPr>
      </p:cxnSp>
      <p:sp>
        <p:nvSpPr>
          <p:cNvPr id="28" name="직사각형 29"/>
          <p:cNvSpPr/>
          <p:nvPr/>
        </p:nvSpPr>
        <p:spPr>
          <a:xfrm>
            <a:off x="3328416" y="54955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1</a:t>
            </a:r>
          </a:p>
        </p:txBody>
      </p:sp>
      <p:cxnSp>
        <p:nvCxnSpPr>
          <p:cNvPr id="29" name="연결선 30"/>
          <p:cNvCxnSpPr/>
          <p:nvPr/>
        </p:nvCxnSpPr>
        <p:spPr>
          <a:xfrm flipH="1" flipV="1">
            <a:off x="1196725" y="4436028"/>
            <a:ext cx="911554" cy="878998"/>
          </a:xfrm>
          <a:prstGeom prst="line">
            <a:avLst/>
          </a:prstGeom>
          <a:ln w="19050">
            <a:solidFill>
              <a:srgbClr val="B23B3B"/>
            </a:solidFill>
            <a:prstDash val="dash"/>
            <a:tailEnd type="triangle" w="med" len="med"/>
          </a:ln>
        </p:spPr>
      </p:cxnSp>
      <p:sp>
        <p:nvSpPr>
          <p:cNvPr id="30" name="직사각형 31"/>
          <p:cNvSpPr/>
          <p:nvPr/>
        </p:nvSpPr>
        <p:spPr>
          <a:xfrm>
            <a:off x="1306621" y="4837336"/>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23B3B"/>
                </a:solidFill>
                <a:latin typeface="Malgun Gothic"/>
                <a:ea typeface="Malgun Gothic"/>
                <a:cs typeface="Malgun Gothic"/>
              </a:rPr>
              <a:t>5</a:t>
            </a:r>
          </a:p>
        </p:txBody>
      </p:sp>
      <p:sp>
        <p:nvSpPr>
          <p:cNvPr id="31" name="직사각형 32"/>
          <p:cNvSpPr/>
          <p:nvPr/>
        </p:nvSpPr>
        <p:spPr>
          <a:xfrm>
            <a:off x="758952" y="400507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32" name="직사각형 33"/>
          <p:cNvSpPr/>
          <p:nvPr/>
        </p:nvSpPr>
        <p:spPr>
          <a:xfrm>
            <a:off x="45720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0</a:t>
            </a:r>
          </a:p>
        </p:txBody>
      </p:sp>
      <p:sp>
        <p:nvSpPr>
          <p:cNvPr id="33" name="직사각형 34"/>
          <p:cNvSpPr/>
          <p:nvPr/>
        </p:nvSpPr>
        <p:spPr>
          <a:xfrm>
            <a:off x="2039112" y="277063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4" name="직사각형 35"/>
          <p:cNvSpPr/>
          <p:nvPr/>
        </p:nvSpPr>
        <p:spPr>
          <a:xfrm>
            <a:off x="173736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6</a:t>
            </a:r>
          </a:p>
        </p:txBody>
      </p:sp>
      <p:sp>
        <p:nvSpPr>
          <p:cNvPr id="35" name="직사각형 36"/>
          <p:cNvSpPr/>
          <p:nvPr/>
        </p:nvSpPr>
        <p:spPr>
          <a:xfrm>
            <a:off x="4599432" y="277063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6" name="직사각형 37"/>
          <p:cNvSpPr/>
          <p:nvPr/>
        </p:nvSpPr>
        <p:spPr>
          <a:xfrm>
            <a:off x="429768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1</a:t>
            </a:r>
          </a:p>
        </p:txBody>
      </p:sp>
      <p:sp>
        <p:nvSpPr>
          <p:cNvPr id="37" name="직사각형 38"/>
          <p:cNvSpPr/>
          <p:nvPr/>
        </p:nvSpPr>
        <p:spPr>
          <a:xfrm>
            <a:off x="5879592" y="400507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D</a:t>
            </a:r>
          </a:p>
        </p:txBody>
      </p:sp>
      <p:sp>
        <p:nvSpPr>
          <p:cNvPr id="38" name="직사각형 39"/>
          <p:cNvSpPr/>
          <p:nvPr/>
        </p:nvSpPr>
        <p:spPr>
          <a:xfrm>
            <a:off x="5577840" y="369417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2</a:t>
            </a:r>
          </a:p>
        </p:txBody>
      </p:sp>
      <p:sp>
        <p:nvSpPr>
          <p:cNvPr id="39" name="직사각형 40"/>
          <p:cNvSpPr/>
          <p:nvPr/>
        </p:nvSpPr>
        <p:spPr>
          <a:xfrm>
            <a:off x="4599432" y="523951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E</a:t>
            </a:r>
          </a:p>
        </p:txBody>
      </p:sp>
      <p:sp>
        <p:nvSpPr>
          <p:cNvPr id="40" name="직사각형 41"/>
          <p:cNvSpPr/>
          <p:nvPr/>
        </p:nvSpPr>
        <p:spPr>
          <a:xfrm>
            <a:off x="429768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5</a:t>
            </a:r>
          </a:p>
        </p:txBody>
      </p:sp>
      <p:sp>
        <p:nvSpPr>
          <p:cNvPr id="41" name="직사각형 42"/>
          <p:cNvSpPr/>
          <p:nvPr/>
        </p:nvSpPr>
        <p:spPr>
          <a:xfrm>
            <a:off x="2039112" y="523951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F</a:t>
            </a:r>
          </a:p>
        </p:txBody>
      </p:sp>
      <p:sp>
        <p:nvSpPr>
          <p:cNvPr id="42" name="직사각형 43"/>
          <p:cNvSpPr/>
          <p:nvPr/>
        </p:nvSpPr>
        <p:spPr>
          <a:xfrm>
            <a:off x="1737360" y="57698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6</a:t>
            </a:r>
          </a:p>
        </p:txBody>
      </p:sp>
      <p:sp>
        <p:nvSpPr>
          <p:cNvPr id="43" name="직사각형 44"/>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청록: 최단 경로 트리    빨강 점선: 줄지 않은 간선    연회색: 쓰지 않은 간선</a:t>
            </a:r>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다익스트라 의사코드 (배열판)</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65</a:t>
            </a:r>
            <a:endParaRPr lang="ko-KR" altLang="en-US" sz="1050" b="0" dirty="0">
              <a:solidFill>
                <a:srgbClr val="606060"/>
              </a:solidFill>
              <a:latin typeface="Malgun Gothic"/>
              <a:ea typeface="Malgun Gothic"/>
              <a:cs typeface="Malgun Gothic"/>
            </a:endParaRPr>
          </a:p>
        </p:txBody>
      </p:sp>
      <p:sp>
        <p:nvSpPr>
          <p:cNvPr id="9" name="직사각형 10"/>
          <p:cNvSpPr/>
          <p:nvPr/>
        </p:nvSpPr>
        <p:spPr>
          <a:xfrm>
            <a:off x="612648" y="1636776"/>
            <a:ext cx="10972800" cy="21945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0" dirty="0">
                <a:solidFill>
                  <a:srgbClr val="606060"/>
                </a:solidFill>
                <a:latin typeface="Consolas"/>
                <a:ea typeface="Consolas"/>
                <a:cs typeface="Consolas"/>
              </a:rPr>
              <a:t>dijkstra.pseudo</a:t>
            </a:r>
          </a:p>
        </p:txBody>
      </p:sp>
      <p:sp>
        <p:nvSpPr>
          <p:cNvPr id="10" name="직사각형 11"/>
          <p:cNvSpPr/>
          <p:nvPr/>
        </p:nvSpPr>
        <p:spPr>
          <a:xfrm>
            <a:off x="612648" y="1856232"/>
            <a:ext cx="10972800" cy="2038096"/>
          </a:xfrm>
          <a:prstGeom prst="rect">
            <a:avLst/>
          </a:prstGeom>
          <a:solidFill>
            <a:srgbClr val="171717"/>
          </a:solidFill>
          <a:ln w="0">
            <a:noFill/>
          </a:ln>
        </p:spPr>
        <p:txBody>
          <a:bodyPr wrap="none" lIns="91440" tIns="91440" rIns="91440" bIns="91440" anchor="t">
            <a:noAutofit/>
          </a:bodyPr>
          <a:lstStyle/>
          <a:p>
            <a:pPr algn="l" eaLnBrk="0" latinLnBrk="0">
              <a:lnSpc>
                <a:spcPct val="130000"/>
              </a:lnSpc>
              <a:buNone/>
            </a:pPr>
            <a:r>
              <a:rPr lang="ko-KR" altLang="en-US" sz="1200" b="0" dirty="0">
                <a:solidFill>
                  <a:srgbClr val="FFFFFF"/>
                </a:solidFill>
                <a:latin typeface="Consolas"/>
                <a:ea typeface="Consolas"/>
                <a:cs typeface="Consolas"/>
              </a:rPr>
              <a:t>DIJKSTRA(G, start):</a:t>
            </a:r>
          </a:p>
          <a:p>
            <a:pPr algn="l" eaLnBrk="0" latinLnBrk="0">
              <a:lnSpc>
                <a:spcPct val="130000"/>
              </a:lnSpc>
              <a:buNone/>
            </a:pPr>
            <a:r>
              <a:rPr lang="ko-KR" altLang="en-US" sz="1200" b="0" dirty="0">
                <a:solidFill>
                  <a:srgbClr val="FFFFFF"/>
                </a:solidFill>
                <a:latin typeface="Consolas"/>
                <a:ea typeface="Consolas"/>
                <a:cs typeface="Consolas"/>
              </a:rPr>
              <a:t>    dist[모든 v] &lt;- ∞;  visited[모든 v] &lt;- False;  dist[start] &lt;- 0</a:t>
            </a:r>
          </a:p>
          <a:p>
            <a:pPr algn="l" eaLnBrk="0" latinLnBrk="0">
              <a:lnSpc>
                <a:spcPct val="130000"/>
              </a:lnSpc>
              <a:buNone/>
            </a:pPr>
            <a:r>
              <a:rPr lang="ko-KR" altLang="en-US" sz="1200" b="0" dirty="0">
                <a:solidFill>
                  <a:srgbClr val="FFFFFF"/>
                </a:solidFill>
                <a:latin typeface="Consolas"/>
                <a:ea typeface="Consolas"/>
                <a:cs typeface="Consolas"/>
              </a:rPr>
              <a:t>    V번 반복:</a:t>
            </a:r>
          </a:p>
          <a:p>
            <a:pPr algn="l" eaLnBrk="0" latinLnBrk="0">
              <a:lnSpc>
                <a:spcPct val="130000"/>
              </a:lnSpc>
              <a:buNone/>
            </a:pPr>
            <a:r>
              <a:rPr lang="ko-KR" altLang="en-US" sz="1200" b="0" dirty="0">
                <a:solidFill>
                  <a:srgbClr val="FFFFFF"/>
                </a:solidFill>
                <a:latin typeface="Consolas"/>
                <a:ea typeface="Consolas"/>
                <a:cs typeface="Consolas"/>
              </a:rPr>
              <a:t>        u &lt;- 미확정 중 dist가 가장 작은 정점 (모두 ∞면 break);  visited[u] &lt;- True   // 확정</a:t>
            </a:r>
          </a:p>
          <a:p>
            <a:pPr algn="l" eaLnBrk="0" latinLnBrk="0">
              <a:lnSpc>
                <a:spcPct val="130000"/>
              </a:lnSpc>
              <a:buNone/>
            </a:pPr>
            <a:r>
              <a:rPr lang="ko-KR" altLang="en-US" sz="1200" b="0" dirty="0">
                <a:solidFill>
                  <a:srgbClr val="FFFFFF"/>
                </a:solidFill>
                <a:latin typeface="Consolas"/>
                <a:ea typeface="Consolas"/>
                <a:cs typeface="Consolas"/>
              </a:rPr>
              <a:t>        for u에서 나가는 간선 (u, v, w):</a:t>
            </a:r>
          </a:p>
          <a:p>
            <a:pPr algn="l" eaLnBrk="0" latinLnBrk="0">
              <a:lnSpc>
                <a:spcPct val="130000"/>
              </a:lnSpc>
              <a:buNone/>
            </a:pPr>
            <a:r>
              <a:rPr lang="ko-KR" altLang="en-US" sz="1200" b="0" dirty="0">
                <a:solidFill>
                  <a:srgbClr val="FFFFFF"/>
                </a:solidFill>
                <a:latin typeface="Consolas"/>
                <a:ea typeface="Consolas"/>
                <a:cs typeface="Consolas"/>
              </a:rPr>
              <a:t>            if not visited[v] and dist[u] + w &lt; dist[v] then</a:t>
            </a:r>
          </a:p>
          <a:p>
            <a:pPr algn="l" eaLnBrk="0" latinLnBrk="0">
              <a:lnSpc>
                <a:spcPct val="130000"/>
              </a:lnSpc>
              <a:buNone/>
            </a:pPr>
            <a:r>
              <a:rPr lang="ko-KR" altLang="en-US" sz="1200" b="0" dirty="0">
                <a:solidFill>
                  <a:srgbClr val="FFFFFF"/>
                </a:solidFill>
                <a:latin typeface="Consolas"/>
                <a:ea typeface="Consolas"/>
                <a:cs typeface="Consolas"/>
              </a:rPr>
              <a:t>                dist[v] &lt;- dist[u] + w          // 완화</a:t>
            </a:r>
          </a:p>
          <a:p>
            <a:pPr algn="l" eaLnBrk="0" latinLnBrk="0">
              <a:lnSpc>
                <a:spcPct val="130000"/>
              </a:lnSpc>
              <a:buNone/>
            </a:pPr>
            <a:r>
              <a:rPr lang="ko-KR" altLang="en-US" sz="1200" b="0" dirty="0">
                <a:solidFill>
                  <a:srgbClr val="FFFFFF"/>
                </a:solidFill>
                <a:latin typeface="Consolas"/>
                <a:ea typeface="Consolas"/>
                <a:cs typeface="Consolas"/>
              </a:rPr>
              <a:t>    return dist</a:t>
            </a:r>
          </a:p>
        </p:txBody>
      </p:sp>
      <p:sp>
        <p:nvSpPr>
          <p:cNvPr id="11" name="fit:95273bf58ee3387e 12"/>
          <p:cNvSpPr/>
          <p:nvPr/>
        </p:nvSpPr>
        <p:spPr>
          <a:xfrm>
            <a:off x="612648" y="3895344"/>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선택: 확정하지 않은 정점 중 dist가 가장 작은 정점</a:t>
            </a:r>
          </a:p>
        </p:txBody>
      </p:sp>
      <p:sp>
        <p:nvSpPr>
          <p:cNvPr id="12" name="fit:bc52732013ecab3b 13"/>
          <p:cNvSpPr/>
          <p:nvPr/>
        </p:nvSpPr>
        <p:spPr>
          <a:xfrm>
            <a:off x="795528" y="4224528"/>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배열을 처음부터 끝까지 훑으면 V번 비교, 이것을 V번 반복 → O(V²)</a:t>
            </a:r>
          </a:p>
        </p:txBody>
      </p:sp>
      <p:sp>
        <p:nvSpPr>
          <p:cNvPr id="13" name="fit:835a9224e6c39325 14"/>
          <p:cNvSpPr/>
          <p:nvPr/>
        </p:nvSpPr>
        <p:spPr>
          <a:xfrm>
            <a:off x="612648" y="4608576"/>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확정: visited[u] &lt;- True</a:t>
            </a:r>
          </a:p>
        </p:txBody>
      </p:sp>
      <p:sp>
        <p:nvSpPr>
          <p:cNvPr id="14" name="fit:a366afd8b226d02f 15"/>
          <p:cNvSpPr/>
          <p:nvPr/>
        </p:nvSpPr>
        <p:spPr>
          <a:xfrm>
            <a:off x="795528" y="4937760"/>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확정한 정점은 다시 고치지 않습니다</a:t>
            </a:r>
          </a:p>
        </p:txBody>
      </p:sp>
      <p:sp>
        <p:nvSpPr>
          <p:cNvPr id="15" name="fit:32779aaccb4af727 16"/>
          <p:cNvSpPr/>
          <p:nvPr/>
        </p:nvSpPr>
        <p:spPr>
          <a:xfrm>
            <a:off x="612648" y="5321808"/>
            <a:ext cx="10972800" cy="310896"/>
          </a:xfrm>
          <a:prstGeom prst="rect">
            <a:avLst/>
          </a:prstGeom>
          <a:noFill/>
          <a:ln w="0">
            <a:noFill/>
          </a:ln>
        </p:spPr>
        <p:txBody>
          <a:bodyPr wrap="square" lIns="0" tIns="0" rIns="0" bIns="0" anchor="t">
            <a:noAutofit/>
          </a:bodyPr>
          <a:lstStyle/>
          <a:p>
            <a:pPr algn="l" eaLnBrk="0" latinLnBrk="0">
              <a:lnSpc>
                <a:spcPct val="100000"/>
              </a:lnSpc>
              <a:buNone/>
            </a:pPr>
            <a:r>
              <a:rPr lang="ko-KR" altLang="en-US" sz="1800" b="1" dirty="0">
                <a:solidFill>
                  <a:srgbClr val="171717"/>
                </a:solidFill>
                <a:latin typeface="Malgun Gothic"/>
                <a:ea typeface="Malgun Gothic"/>
                <a:cs typeface="Malgun Gothic"/>
              </a:rPr>
              <a:t>완화: u에서 나가는 간선마다</a:t>
            </a:r>
          </a:p>
        </p:txBody>
      </p:sp>
      <p:sp>
        <p:nvSpPr>
          <p:cNvPr id="16" name="fit:25da0fa9cf75fb55 17"/>
          <p:cNvSpPr/>
          <p:nvPr/>
        </p:nvSpPr>
        <p:spPr>
          <a:xfrm>
            <a:off x="795528" y="5650992"/>
            <a:ext cx="10789920" cy="274320"/>
          </a:xfrm>
          <a:prstGeom prst="rect">
            <a:avLst/>
          </a:prstGeom>
          <a:noFill/>
          <a:ln w="0">
            <a:noFill/>
          </a:ln>
        </p:spPr>
        <p:txBody>
          <a:bodyPr wrap="square" lIns="0" tIns="0" rIns="0" bIns="0" anchor="t">
            <a:noAutofit/>
          </a:bodyPr>
          <a:lstStyle/>
          <a:p>
            <a:pPr algn="l" eaLnBrk="0" latinLnBrk="0">
              <a:lnSpc>
                <a:spcPct val="105000"/>
              </a:lnSpc>
              <a:buNone/>
            </a:pPr>
            <a:r>
              <a:rPr lang="ko-KR" altLang="en-US" sz="1575" b="0" dirty="0">
                <a:solidFill>
                  <a:srgbClr val="3F3F3F"/>
                </a:solidFill>
                <a:latin typeface="Malgun Gothic"/>
                <a:ea typeface="Malgun Gothic"/>
                <a:cs typeface="Malgun Gothic"/>
              </a:rPr>
              <a:t>인접 행렬이면 한 행 V칸을 훑으므로 반복마다 O(V)</a:t>
            </a:r>
          </a:p>
        </p:txBody>
      </p:sp>
      <p:sp>
        <p:nvSpPr>
          <p:cNvPr id="17" name="fit:8cf998502d2010bc 18"/>
          <p:cNvSpPr/>
          <p:nvPr/>
        </p:nvSpPr>
        <p:spPr>
          <a:xfrm>
            <a:off x="612648" y="6035040"/>
            <a:ext cx="10972800" cy="347472"/>
          </a:xfrm>
          <a:prstGeom prst="rect">
            <a:avLst/>
          </a:prstGeom>
          <a:noFill/>
          <a:ln w="0">
            <a:noFill/>
          </a:ln>
        </p:spPr>
        <p:txBody>
          <a:bodyPr wrap="square" lIns="0" tIns="0" rIns="0" bIns="0" anchor="t">
            <a:noAutofit/>
          </a:bodyPr>
          <a:lstStyle/>
          <a:p>
            <a:pPr algn="l" eaLnBrk="0" latinLnBrk="0">
              <a:lnSpc>
                <a:spcPct val="100000"/>
              </a:lnSpc>
              <a:buNone/>
            </a:pPr>
            <a:r>
              <a:rPr lang="ko-KR" altLang="en-US" sz="2000" b="1">
                <a:solidFill>
                  <a:srgbClr val="0E8A7D"/>
                </a:solidFill>
                <a:latin typeface="Malgun Gothic"/>
                <a:ea typeface="Malgun Gothic"/>
                <a:cs typeface="Malgun Gothic"/>
              </a:rPr>
              <a:t>배열판 전체 </a:t>
            </a:r>
            <a:r>
              <a:rPr lang="en-US" altLang="ko-KR" sz="2000" b="1">
                <a:solidFill>
                  <a:srgbClr val="0E8A7D"/>
                </a:solidFill>
                <a:latin typeface="Malgun Gothic"/>
                <a:ea typeface="Malgun Gothic"/>
                <a:cs typeface="Malgun Gothic"/>
              </a:rPr>
              <a:t>O(V²): </a:t>
            </a:r>
            <a:r>
              <a:rPr lang="ko-KR" altLang="en-US" sz="2000" b="1">
                <a:solidFill>
                  <a:srgbClr val="0E8A7D"/>
                </a:solidFill>
                <a:latin typeface="Malgun Gothic"/>
                <a:ea typeface="Malgun Gothic"/>
                <a:cs typeface="Malgun Gothic"/>
              </a:rPr>
              <a:t>전체 구현은 보충자료에 있습니다</a:t>
            </a:r>
            <a:endParaRPr lang="ko-KR" altLang="en-US" sz="2000" b="1" dirty="0">
              <a:solidFill>
                <a:srgbClr val="0E8A7D"/>
              </a:solidFill>
              <a:latin typeface="Malgun Gothic"/>
              <a:ea typeface="Malgun Gothic"/>
              <a:cs typeface="Malgun Gothic"/>
            </a:endParaRPr>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최소 신장 트리와 최단 경로 트리는 다를 수 있다</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66</a:t>
            </a:r>
            <a:endParaRPr lang="ko-KR" altLang="en-US" sz="1050" b="0" dirty="0">
              <a:solidFill>
                <a:srgbClr val="606060"/>
              </a:solidFill>
              <a:latin typeface="Malgun Gothic"/>
              <a:ea typeface="Malgun Gothic"/>
              <a:cs typeface="Malgun Gothic"/>
            </a:endParaRPr>
          </a:p>
        </p:txBody>
      </p:sp>
      <p:sp>
        <p:nvSpPr>
          <p:cNvPr id="9" name="fit:1d01bac46f26d97c 10"/>
          <p:cNvSpPr/>
          <p:nvPr/>
        </p:nvSpPr>
        <p:spPr>
          <a:xfrm>
            <a:off x="612648" y="1636776"/>
            <a:ext cx="1097280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MST는 간선 합을, 최단 경로 트리는 시작점에서 각 정점까지의 거리를 최소로 합니다. 같은 그래프에서도 둘은 다를 수 있습니다.</a:t>
            </a:r>
          </a:p>
        </p:txBody>
      </p:sp>
      <p:sp>
        <p:nvSpPr>
          <p:cNvPr id="10" name="직사각형 11"/>
          <p:cNvSpPr/>
          <p:nvPr/>
        </p:nvSpPr>
        <p:spPr>
          <a:xfrm>
            <a:off x="914400" y="2432304"/>
            <a:ext cx="384048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171717"/>
                </a:solidFill>
                <a:latin typeface="Malgun Gothic"/>
                <a:ea typeface="Malgun Gothic"/>
                <a:cs typeface="Malgun Gothic"/>
              </a:rPr>
              <a:t>최소 신장 트리(크루스칼)</a:t>
            </a:r>
          </a:p>
        </p:txBody>
      </p:sp>
      <p:cxnSp>
        <p:nvCxnSpPr>
          <p:cNvPr id="11" name="연결선 12"/>
          <p:cNvCxnSpPr/>
          <p:nvPr/>
        </p:nvCxnSpPr>
        <p:spPr>
          <a:xfrm flipV="1">
            <a:off x="1440833" y="3296411"/>
            <a:ext cx="1324575" cy="1545337"/>
          </a:xfrm>
          <a:prstGeom prst="line">
            <a:avLst/>
          </a:prstGeom>
          <a:ln w="44450">
            <a:solidFill>
              <a:srgbClr val="0E8A7D"/>
            </a:solidFill>
          </a:ln>
        </p:spPr>
      </p:cxnSp>
      <p:sp>
        <p:nvSpPr>
          <p:cNvPr id="12" name="직사각형 13"/>
          <p:cNvSpPr/>
          <p:nvPr/>
        </p:nvSpPr>
        <p:spPr>
          <a:xfrm>
            <a:off x="1754294" y="3836707"/>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3" name="연결선 14"/>
          <p:cNvCxnSpPr/>
          <p:nvPr/>
        </p:nvCxnSpPr>
        <p:spPr>
          <a:xfrm>
            <a:off x="3086753" y="3296411"/>
            <a:ext cx="1324575" cy="1545337"/>
          </a:xfrm>
          <a:prstGeom prst="line">
            <a:avLst/>
          </a:prstGeom>
          <a:ln w="44450">
            <a:solidFill>
              <a:srgbClr val="0E8A7D"/>
            </a:solidFill>
          </a:ln>
        </p:spPr>
      </p:cxnSp>
      <p:sp>
        <p:nvSpPr>
          <p:cNvPr id="14" name="직사각형 15"/>
          <p:cNvSpPr/>
          <p:nvPr/>
        </p:nvSpPr>
        <p:spPr>
          <a:xfrm>
            <a:off x="3622378" y="3836707"/>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5" name="연결선 16"/>
          <p:cNvCxnSpPr/>
          <p:nvPr/>
        </p:nvCxnSpPr>
        <p:spPr>
          <a:xfrm>
            <a:off x="1527048" y="5029200"/>
            <a:ext cx="2798064" cy="0"/>
          </a:xfrm>
          <a:prstGeom prst="line">
            <a:avLst/>
          </a:prstGeom>
          <a:ln w="12700">
            <a:solidFill>
              <a:srgbClr val="D0D0D0"/>
            </a:solidFill>
          </a:ln>
        </p:spPr>
      </p:cxnSp>
      <p:sp>
        <p:nvSpPr>
          <p:cNvPr id="16" name="직사각형 17"/>
          <p:cNvSpPr/>
          <p:nvPr/>
        </p:nvSpPr>
        <p:spPr>
          <a:xfrm>
            <a:off x="2688336" y="50383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3</a:t>
            </a:r>
          </a:p>
        </p:txBody>
      </p:sp>
      <p:sp>
        <p:nvSpPr>
          <p:cNvPr id="17" name="직사각형 18"/>
          <p:cNvSpPr/>
          <p:nvPr/>
        </p:nvSpPr>
        <p:spPr>
          <a:xfrm>
            <a:off x="1033272" y="478231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18" name="직사각형 19"/>
          <p:cNvSpPr/>
          <p:nvPr/>
        </p:nvSpPr>
        <p:spPr>
          <a:xfrm>
            <a:off x="2679192" y="286207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19" name="직사각형 20"/>
          <p:cNvSpPr/>
          <p:nvPr/>
        </p:nvSpPr>
        <p:spPr>
          <a:xfrm>
            <a:off x="4325112" y="4782312"/>
            <a:ext cx="493776" cy="493776"/>
          </a:xfrm>
          <a:prstGeom prst="ellipse">
            <a:avLst/>
          </a:prstGeom>
          <a:solidFill>
            <a:srgbClr val="DDF1E4"/>
          </a:solidFill>
          <a:ln w="22225">
            <a:solidFill>
              <a:srgbClr val="256B50"/>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20" name="직사각형 21"/>
          <p:cNvSpPr/>
          <p:nvPr/>
        </p:nvSpPr>
        <p:spPr>
          <a:xfrm>
            <a:off x="6400800" y="2432304"/>
            <a:ext cx="5120640" cy="274320"/>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171717"/>
                </a:solidFill>
                <a:latin typeface="Malgun Gothic"/>
                <a:ea typeface="Malgun Gothic"/>
                <a:cs typeface="Malgun Gothic"/>
              </a:rPr>
              <a:t>최단 경로 트리(다익스트라, 시작 A)</a:t>
            </a:r>
          </a:p>
        </p:txBody>
      </p:sp>
      <p:cxnSp>
        <p:nvCxnSpPr>
          <p:cNvPr id="21" name="연결선 22"/>
          <p:cNvCxnSpPr/>
          <p:nvPr/>
        </p:nvCxnSpPr>
        <p:spPr>
          <a:xfrm flipV="1">
            <a:off x="6927233" y="3296411"/>
            <a:ext cx="1324575" cy="1545337"/>
          </a:xfrm>
          <a:prstGeom prst="line">
            <a:avLst/>
          </a:prstGeom>
          <a:ln w="44450">
            <a:solidFill>
              <a:srgbClr val="0E8A7D"/>
            </a:solidFill>
          </a:ln>
        </p:spPr>
      </p:cxnSp>
      <p:sp>
        <p:nvSpPr>
          <p:cNvPr id="22" name="직사각형 23"/>
          <p:cNvSpPr/>
          <p:nvPr/>
        </p:nvSpPr>
        <p:spPr>
          <a:xfrm>
            <a:off x="7240694" y="3836707"/>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23" name="연결선 24"/>
          <p:cNvCxnSpPr/>
          <p:nvPr/>
        </p:nvCxnSpPr>
        <p:spPr>
          <a:xfrm>
            <a:off x="8573153" y="3296411"/>
            <a:ext cx="1324575" cy="1545337"/>
          </a:xfrm>
          <a:prstGeom prst="line">
            <a:avLst/>
          </a:prstGeom>
          <a:ln w="12700">
            <a:solidFill>
              <a:srgbClr val="D0D0D0"/>
            </a:solidFill>
          </a:ln>
        </p:spPr>
      </p:cxnSp>
      <p:sp>
        <p:nvSpPr>
          <p:cNvPr id="24" name="직사각형 25"/>
          <p:cNvSpPr/>
          <p:nvPr/>
        </p:nvSpPr>
        <p:spPr>
          <a:xfrm>
            <a:off x="9108778" y="3836707"/>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AAAAAA"/>
                </a:solidFill>
                <a:latin typeface="Malgun Gothic"/>
                <a:ea typeface="Malgun Gothic"/>
                <a:cs typeface="Malgun Gothic"/>
              </a:rPr>
              <a:t>2</a:t>
            </a:r>
          </a:p>
        </p:txBody>
      </p:sp>
      <p:cxnSp>
        <p:nvCxnSpPr>
          <p:cNvPr id="25" name="연결선 26"/>
          <p:cNvCxnSpPr/>
          <p:nvPr/>
        </p:nvCxnSpPr>
        <p:spPr>
          <a:xfrm>
            <a:off x="7013448" y="5029200"/>
            <a:ext cx="2798064" cy="0"/>
          </a:xfrm>
          <a:prstGeom prst="line">
            <a:avLst/>
          </a:prstGeom>
          <a:ln w="44450">
            <a:solidFill>
              <a:srgbClr val="0E8A7D"/>
            </a:solidFill>
          </a:ln>
        </p:spPr>
      </p:cxnSp>
      <p:sp>
        <p:nvSpPr>
          <p:cNvPr id="26" name="직사각형 27"/>
          <p:cNvSpPr/>
          <p:nvPr/>
        </p:nvSpPr>
        <p:spPr>
          <a:xfrm>
            <a:off x="8174736" y="5038344"/>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3</a:t>
            </a:r>
          </a:p>
        </p:txBody>
      </p:sp>
      <p:sp>
        <p:nvSpPr>
          <p:cNvPr id="27" name="직사각형 28"/>
          <p:cNvSpPr/>
          <p:nvPr/>
        </p:nvSpPr>
        <p:spPr>
          <a:xfrm>
            <a:off x="6519672" y="4782312"/>
            <a:ext cx="493776" cy="493776"/>
          </a:xfrm>
          <a:prstGeom prst="ellipse">
            <a:avLst/>
          </a:prstGeom>
          <a:solidFill>
            <a:srgbClr val="151515"/>
          </a:solidFill>
          <a:ln w="22225">
            <a:solidFill>
              <a:srgbClr val="151515"/>
            </a:solidFill>
          </a:ln>
        </p:spPr>
        <p:txBody>
          <a:bodyPr wrap="none" lIns="0" tIns="0" rIns="0" bIns="0" anchor="ctr">
            <a:noAutofit/>
          </a:bodyPr>
          <a:lstStyle/>
          <a:p>
            <a:pPr algn="ctr" eaLnBrk="0" latinLnBrk="0">
              <a:lnSpc>
                <a:spcPct val="100000"/>
              </a:lnSpc>
              <a:buNone/>
            </a:pPr>
            <a:r>
              <a:rPr lang="ko-KR" altLang="en-US" sz="1650" b="1" dirty="0">
                <a:solidFill>
                  <a:srgbClr val="FFFFFF"/>
                </a:solidFill>
                <a:latin typeface="Malgun Gothic"/>
                <a:ea typeface="Malgun Gothic"/>
                <a:cs typeface="Malgun Gothic"/>
              </a:rPr>
              <a:t>A</a:t>
            </a:r>
          </a:p>
        </p:txBody>
      </p:sp>
      <p:sp>
        <p:nvSpPr>
          <p:cNvPr id="28" name="직사각형 29"/>
          <p:cNvSpPr/>
          <p:nvPr/>
        </p:nvSpPr>
        <p:spPr>
          <a:xfrm>
            <a:off x="6217920" y="53126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dist 0</a:t>
            </a:r>
          </a:p>
        </p:txBody>
      </p:sp>
      <p:sp>
        <p:nvSpPr>
          <p:cNvPr id="29" name="직사각형 30"/>
          <p:cNvSpPr/>
          <p:nvPr/>
        </p:nvSpPr>
        <p:spPr>
          <a:xfrm>
            <a:off x="8165592" y="286207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30" name="직사각형 31"/>
          <p:cNvSpPr/>
          <p:nvPr/>
        </p:nvSpPr>
        <p:spPr>
          <a:xfrm>
            <a:off x="7863840" y="339242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dist 2</a:t>
            </a:r>
          </a:p>
        </p:txBody>
      </p:sp>
      <p:sp>
        <p:nvSpPr>
          <p:cNvPr id="31" name="직사각형 32"/>
          <p:cNvSpPr/>
          <p:nvPr/>
        </p:nvSpPr>
        <p:spPr>
          <a:xfrm>
            <a:off x="9811512" y="478231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C</a:t>
            </a:r>
          </a:p>
        </p:txBody>
      </p:sp>
      <p:sp>
        <p:nvSpPr>
          <p:cNvPr id="32" name="직사각형 33"/>
          <p:cNvSpPr/>
          <p:nvPr/>
        </p:nvSpPr>
        <p:spPr>
          <a:xfrm>
            <a:off x="9509760" y="531266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dist 3</a:t>
            </a:r>
          </a:p>
        </p:txBody>
      </p:sp>
      <p:sp>
        <p:nvSpPr>
          <p:cNvPr id="33" name="직사각형 34"/>
          <p:cNvSpPr/>
          <p:nvPr/>
        </p:nvSpPr>
        <p:spPr>
          <a:xfrm>
            <a:off x="914400" y="5650992"/>
            <a:ext cx="4389120" cy="402336"/>
          </a:xfrm>
          <a:prstGeom prst="rect">
            <a:avLst/>
          </a:prstGeom>
          <a:solidFill>
            <a:srgbClr val="DDF1E4"/>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간선 합 2 + 2 = 4 (최소)  ·  A → C 거리 4</a:t>
            </a:r>
          </a:p>
        </p:txBody>
      </p:sp>
      <p:sp>
        <p:nvSpPr>
          <p:cNvPr id="34" name="직사각형 35"/>
          <p:cNvSpPr/>
          <p:nvPr/>
        </p:nvSpPr>
        <p:spPr>
          <a:xfrm>
            <a:off x="6400800" y="5650992"/>
            <a:ext cx="4389120" cy="402336"/>
          </a:xfrm>
          <a:prstGeom prst="rect">
            <a:avLst/>
          </a:prstGeom>
          <a:solidFill>
            <a:srgbClr val="DCECFB"/>
          </a:solidFill>
          <a:ln w="0">
            <a:noFill/>
          </a:ln>
        </p:spPr>
        <p:txBody>
          <a:bodyPr wrap="square" lIns="0" tIns="0" rIns="0" bIns="0" anchor="ctr">
            <a:noAutofit/>
          </a:bodyPr>
          <a:lstStyle/>
          <a:p>
            <a:pPr algn="ctr" eaLnBrk="0" latinLnBrk="0">
              <a:lnSpc>
                <a:spcPct val="100000"/>
              </a:lnSpc>
              <a:buNone/>
            </a:pPr>
            <a:r>
              <a:rPr lang="ko-KR" altLang="en-US" sz="1500" b="1" dirty="0">
                <a:solidFill>
                  <a:srgbClr val="151515"/>
                </a:solidFill>
                <a:latin typeface="Malgun Gothic"/>
                <a:ea typeface="Malgun Gothic"/>
                <a:cs typeface="Malgun Gothic"/>
              </a:rPr>
              <a:t>간선 합 2 + 3 = 5  ·  A → C 거리 3 (최단)</a:t>
            </a:r>
          </a:p>
        </p:txBody>
      </p:sp>
      <p:sp>
        <p:nvSpPr>
          <p:cNvPr id="35" name="직사각형 36"/>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청록: 트리 간선    연회색: 트리에 없는 간선    방향 없는 간선은 양방향 간선 2개로 보고 다익스트라를 돌립니다</a:t>
            </a:r>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5.8  다익스트라 알고리즘</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a:solidFill>
                  <a:srgbClr val="171717"/>
                </a:solidFill>
                <a:latin typeface="Malgun Gothic"/>
                <a:ea typeface="Malgun Gothic"/>
                <a:cs typeface="Malgun Gothic"/>
              </a:rPr>
              <a:t>음수 간선 반례</a:t>
            </a:r>
            <a:r>
              <a:rPr lang="en-US" altLang="ko-KR" sz="3000" b="1">
                <a:solidFill>
                  <a:srgbClr val="171717"/>
                </a:solidFill>
                <a:latin typeface="Malgun Gothic"/>
                <a:ea typeface="Malgun Gothic"/>
                <a:cs typeface="Malgun Gothic"/>
              </a:rPr>
              <a:t>: </a:t>
            </a:r>
            <a:r>
              <a:rPr lang="ko-KR" altLang="en-US" sz="3000" b="1">
                <a:solidFill>
                  <a:srgbClr val="171717"/>
                </a:solidFill>
                <a:latin typeface="Malgun Gothic"/>
                <a:ea typeface="Malgun Gothic"/>
                <a:cs typeface="Malgun Gothic"/>
              </a:rPr>
              <a:t>실제 최단 </a:t>
            </a:r>
            <a:r>
              <a:rPr lang="en-US" altLang="ko-KR" sz="3000" b="1">
                <a:solidFill>
                  <a:srgbClr val="171717"/>
                </a:solidFill>
                <a:latin typeface="Malgun Gothic"/>
                <a:ea typeface="Malgun Gothic"/>
                <a:cs typeface="Malgun Gothic"/>
              </a:rPr>
              <a:t>1</a:t>
            </a:r>
            <a:r>
              <a:rPr lang="ko-KR" altLang="en-US" sz="3000" b="1">
                <a:solidFill>
                  <a:srgbClr val="171717"/>
                </a:solidFill>
                <a:latin typeface="Malgun Gothic"/>
                <a:ea typeface="Malgun Gothic"/>
                <a:cs typeface="Malgun Gothic"/>
              </a:rPr>
              <a:t>을 놓친다</a:t>
            </a:r>
            <a:endParaRPr lang="ko-KR" altLang="en-US" sz="3000" b="1" dirty="0">
              <a:solidFill>
                <a:srgbClr val="171717"/>
              </a:solidFill>
              <a:latin typeface="Malgun Gothic"/>
              <a:ea typeface="Malgun Gothic"/>
              <a:cs typeface="Malgun Gothic"/>
            </a:endParaRP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67</a:t>
            </a:r>
            <a:endParaRPr lang="ko-KR" altLang="en-US" sz="1050" b="0" dirty="0">
              <a:solidFill>
                <a:srgbClr val="606060"/>
              </a:solidFill>
              <a:latin typeface="Malgun Gothic"/>
              <a:ea typeface="Malgun Gothic"/>
              <a:cs typeface="Malgun Gothic"/>
            </a:endParaRPr>
          </a:p>
        </p:txBody>
      </p:sp>
      <p:sp>
        <p:nvSpPr>
          <p:cNvPr id="9" name="fit:5af7b4646c1a3a51 10"/>
          <p:cNvSpPr/>
          <p:nvPr/>
        </p:nvSpPr>
        <p:spPr>
          <a:xfrm>
            <a:off x="612648" y="1636776"/>
            <a:ext cx="6766560" cy="658368"/>
          </a:xfrm>
          <a:prstGeom prst="rect">
            <a:avLst/>
          </a:prstGeom>
          <a:noFill/>
          <a:ln w="0">
            <a:noFill/>
          </a:ln>
        </p:spPr>
        <p:txBody>
          <a:bodyPr wrap="square" lIns="0" tIns="0" rIns="0" bIns="0" anchor="t">
            <a:noAutofit/>
          </a:bodyPr>
          <a:lstStyle/>
          <a:p>
            <a:pPr algn="l" eaLnBrk="0" latinLnBrk="0">
              <a:lnSpc>
                <a:spcPct val="100000"/>
              </a:lnSpc>
              <a:buNone/>
            </a:pPr>
            <a:r>
              <a:rPr lang="ko-KR" altLang="en-US" sz="2025" b="0" dirty="0">
                <a:solidFill>
                  <a:srgbClr val="171717"/>
                </a:solidFill>
                <a:latin typeface="Malgun Gothic"/>
                <a:ea typeface="Malgun Gothic"/>
                <a:cs typeface="Malgun Gothic"/>
              </a:rPr>
              <a:t>B(5)를 확정하고 B → A를 보면 5 + (−4) = 1 &lt; 2입니다. 하지만 A는 이미 확정되어 고치지 않습니다.</a:t>
            </a:r>
          </a:p>
        </p:txBody>
      </p:sp>
      <p:sp>
        <p:nvSpPr>
          <p:cNvPr id="10" name="직사각형 11"/>
          <p:cNvSpPr/>
          <p:nvPr/>
        </p:nvSpPr>
        <p:spPr>
          <a:xfrm>
            <a:off x="7525512" y="2880360"/>
            <a:ext cx="9144" cy="2935224"/>
          </a:xfrm>
          <a:prstGeom prst="rect">
            <a:avLst/>
          </a:prstGeom>
          <a:solidFill>
            <a:srgbClr val="CCCCCC"/>
          </a:solidFill>
          <a:ln w="0">
            <a:noFill/>
          </a:ln>
        </p:spPr>
        <p:txBody>
          <a:bodyPr wrap="square" lIns="0" tIns="0" rIns="0" bIns="0" anchor="t">
            <a:noAutofit/>
          </a:bodyPr>
          <a:lstStyle/>
          <a:p>
            <a:pPr algn="l" eaLnBrk="0" latinLnBrk="0">
              <a:lnSpc>
                <a:spcPct val="100000"/>
              </a:lnSpc>
              <a:buNone/>
            </a:pPr>
            <a:endParaRPr lang="ko-KR" sz="1800"/>
          </a:p>
        </p:txBody>
      </p:sp>
      <p:graphicFrame>
        <p:nvGraphicFramePr>
          <p:cNvPr id="11" name="표 12"/>
          <p:cNvGraphicFramePr>
            <a:graphicFrameLocks noGrp="1"/>
          </p:cNvGraphicFramePr>
          <p:nvPr>
            <p:extLst>
              <p:ext uri="{D42A27DB-BD31-4B8C-83A1-F6EECF244321}">
                <p14:modId xmlns:p14="http://schemas.microsoft.com/office/powerpoint/2010/main" val="1286642105"/>
              </p:ext>
            </p:extLst>
          </p:nvPr>
        </p:nvGraphicFramePr>
        <p:xfrm>
          <a:off x="7909560" y="2935224"/>
          <a:ext cx="3666744" cy="1243584"/>
        </p:xfrm>
        <a:graphic>
          <a:graphicData uri="http://schemas.openxmlformats.org/drawingml/2006/table">
            <a:tbl>
              <a:tblPr/>
              <a:tblGrid>
                <a:gridCol w="894328">
                  <a:extLst>
                    <a:ext uri="{9D8B030D-6E8A-4147-A177-3AD203B41FA5}">
                      <a16:colId xmlns:a16="http://schemas.microsoft.com/office/drawing/2014/main" val="20000"/>
                    </a:ext>
                  </a:extLst>
                </a:gridCol>
                <a:gridCol w="1341492">
                  <a:extLst>
                    <a:ext uri="{9D8B030D-6E8A-4147-A177-3AD203B41FA5}">
                      <a16:colId xmlns:a16="http://schemas.microsoft.com/office/drawing/2014/main" val="20001"/>
                    </a:ext>
                  </a:extLst>
                </a:gridCol>
                <a:gridCol w="1430924">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정점</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dist</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상태</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S</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0</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A</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2</a:t>
                      </a:r>
                    </a:p>
                  </a:txBody>
                  <a:tcPr marL="54864" marR="54864" marT="18288" marB="18288" anchor="ctr">
                    <a:solidFill>
                      <a:srgbClr val="DCECFB"/>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확정</a:t>
                      </a:r>
                    </a:p>
                  </a:txBody>
                  <a:tcPr marL="54864" marR="54864" marT="18288" marB="18288" anchor="ctr">
                    <a:solidFill>
                      <a:srgbClr val="DCECFB"/>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B</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5</a:t>
                      </a:r>
                    </a:p>
                  </a:txBody>
                  <a:tcPr marL="54864" marR="54864" marT="18288" marB="18288" anchor="ctr">
                    <a:solidFill>
                      <a:srgbClr val="FFF1C2"/>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이번 확정</a:t>
                      </a:r>
                    </a:p>
                  </a:txBody>
                  <a:tcPr marL="54864" marR="54864" marT="18288" marB="18288" anchor="ctr">
                    <a:solidFill>
                      <a:srgbClr val="FFF1C2"/>
                    </a:solidFill>
                  </a:tcPr>
                </a:tc>
                <a:extLst>
                  <a:ext uri="{0D108BD9-81ED-4DB2-BD59-A6C34878D82A}">
                    <a16:rowId xmlns:a16="http://schemas.microsoft.com/office/drawing/2014/main" val="10003"/>
                  </a:ext>
                </a:extLst>
              </a:tr>
            </a:tbl>
          </a:graphicData>
        </a:graphic>
      </p:graphicFrame>
      <p:sp>
        <p:nvSpPr>
          <p:cNvPr id="12" name="fit:5bb729034eaa00dd 13"/>
          <p:cNvSpPr/>
          <p:nvPr/>
        </p:nvSpPr>
        <p:spPr>
          <a:xfrm>
            <a:off x="7909560" y="4325112"/>
            <a:ext cx="3666744" cy="283464"/>
          </a:xfrm>
          <a:prstGeom prst="rect">
            <a:avLst/>
          </a:prstGeom>
          <a:noFill/>
          <a:ln w="0">
            <a:noFill/>
          </a:ln>
        </p:spPr>
        <p:txBody>
          <a:bodyPr wrap="square" lIns="0" tIns="0" rIns="0" bIns="0" anchor="t">
            <a:noAutofit/>
          </a:bodyPr>
          <a:lstStyle/>
          <a:p>
            <a:pPr algn="l" eaLnBrk="0" latinLnBrk="0">
              <a:lnSpc>
                <a:spcPct val="100000"/>
              </a:lnSpc>
              <a:buNone/>
            </a:pPr>
            <a:r>
              <a:rPr lang="ko-KR" altLang="en-US" sz="1600" b="1">
                <a:solidFill>
                  <a:srgbClr val="0E8A7D"/>
                </a:solidFill>
                <a:latin typeface="Malgun Gothic"/>
                <a:ea typeface="Malgun Gothic"/>
                <a:cs typeface="Malgun Gothic"/>
              </a:rPr>
              <a:t>확정 방식의 답</a:t>
            </a:r>
            <a:r>
              <a:rPr lang="en-US" altLang="ko-KR" sz="1600" b="1">
                <a:solidFill>
                  <a:srgbClr val="0E8A7D"/>
                </a:solidFill>
                <a:latin typeface="Malgun Gothic"/>
                <a:ea typeface="Malgun Gothic"/>
                <a:cs typeface="Malgun Gothic"/>
              </a:rPr>
              <a:t>: A = 2</a:t>
            </a:r>
            <a:endParaRPr lang="ko-KR" altLang="en-US" sz="1600" b="1" dirty="0">
              <a:solidFill>
                <a:srgbClr val="0E8A7D"/>
              </a:solidFill>
              <a:latin typeface="Malgun Gothic"/>
              <a:ea typeface="Malgun Gothic"/>
              <a:cs typeface="Malgun Gothic"/>
            </a:endParaRPr>
          </a:p>
        </p:txBody>
      </p:sp>
      <p:sp>
        <p:nvSpPr>
          <p:cNvPr id="13" name="fit:4f08d272a8763aea 14"/>
          <p:cNvSpPr/>
          <p:nvPr/>
        </p:nvSpPr>
        <p:spPr>
          <a:xfrm>
            <a:off x="7909560" y="4718304"/>
            <a:ext cx="3666744" cy="29260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1" dirty="0">
                <a:solidFill>
                  <a:srgbClr val="B23B3B"/>
                </a:solidFill>
                <a:latin typeface="Malgun Gothic"/>
                <a:ea typeface="Malgun Gothic"/>
                <a:cs typeface="Malgun Gothic"/>
              </a:rPr>
              <a:t>실제 최단은 S → B → A = 1</a:t>
            </a:r>
          </a:p>
        </p:txBody>
      </p:sp>
      <p:sp>
        <p:nvSpPr>
          <p:cNvPr id="14" name="fit:b715656539a81d42 15"/>
          <p:cNvSpPr/>
          <p:nvPr/>
        </p:nvSpPr>
        <p:spPr>
          <a:xfrm>
            <a:off x="7909560" y="5120640"/>
            <a:ext cx="3666744" cy="795528"/>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A를 2로 확정한 뒤 다시 처리하지 않으므로, A에서 나가는 간선이 있었다면 그 뒤 정점도 틀립니다.</a:t>
            </a:r>
          </a:p>
        </p:txBody>
      </p:sp>
      <p:cxnSp>
        <p:nvCxnSpPr>
          <p:cNvPr id="15" name="연결선 16"/>
          <p:cNvCxnSpPr/>
          <p:nvPr/>
        </p:nvCxnSpPr>
        <p:spPr>
          <a:xfrm flipV="1">
            <a:off x="1699810" y="3092657"/>
            <a:ext cx="3532282" cy="1043629"/>
          </a:xfrm>
          <a:prstGeom prst="line">
            <a:avLst/>
          </a:prstGeom>
          <a:ln w="44450">
            <a:solidFill>
              <a:srgbClr val="0E8A7D"/>
            </a:solidFill>
            <a:tailEnd type="triangle" w="med" len="med"/>
          </a:ln>
        </p:spPr>
      </p:cxnSp>
      <p:sp>
        <p:nvSpPr>
          <p:cNvPr id="16" name="직사각형 17"/>
          <p:cNvSpPr/>
          <p:nvPr/>
        </p:nvSpPr>
        <p:spPr>
          <a:xfrm>
            <a:off x="3195521" y="3334412"/>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2</a:t>
            </a:r>
          </a:p>
        </p:txBody>
      </p:sp>
      <p:cxnSp>
        <p:nvCxnSpPr>
          <p:cNvPr id="17" name="연결선 18"/>
          <p:cNvCxnSpPr/>
          <p:nvPr/>
        </p:nvCxnSpPr>
        <p:spPr>
          <a:xfrm>
            <a:off x="1699810" y="4276195"/>
            <a:ext cx="3532282" cy="1043629"/>
          </a:xfrm>
          <a:prstGeom prst="line">
            <a:avLst/>
          </a:prstGeom>
          <a:ln w="44450">
            <a:solidFill>
              <a:srgbClr val="0E8A7D"/>
            </a:solidFill>
            <a:tailEnd type="triangle" w="med" len="med"/>
          </a:ln>
        </p:spPr>
      </p:cxnSp>
      <p:sp>
        <p:nvSpPr>
          <p:cNvPr id="18" name="직사각형 19"/>
          <p:cNvSpPr/>
          <p:nvPr/>
        </p:nvSpPr>
        <p:spPr>
          <a:xfrm>
            <a:off x="3195521" y="4803748"/>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0E8A7D"/>
                </a:solidFill>
                <a:latin typeface="Malgun Gothic"/>
                <a:ea typeface="Malgun Gothic"/>
                <a:cs typeface="Malgun Gothic"/>
              </a:rPr>
              <a:t>5</a:t>
            </a:r>
          </a:p>
        </p:txBody>
      </p:sp>
      <p:cxnSp>
        <p:nvCxnSpPr>
          <p:cNvPr id="19" name="연결선 20"/>
          <p:cNvCxnSpPr/>
          <p:nvPr/>
        </p:nvCxnSpPr>
        <p:spPr>
          <a:xfrm flipV="1">
            <a:off x="5486400" y="3282696"/>
            <a:ext cx="0" cy="1865376"/>
          </a:xfrm>
          <a:prstGeom prst="line">
            <a:avLst/>
          </a:prstGeom>
          <a:ln w="44450">
            <a:solidFill>
              <a:srgbClr val="B8651B"/>
            </a:solidFill>
            <a:tailEnd type="triangle" w="med" len="med"/>
          </a:ln>
        </p:spPr>
      </p:cxnSp>
      <p:sp>
        <p:nvSpPr>
          <p:cNvPr id="20" name="직사각형 21"/>
          <p:cNvSpPr/>
          <p:nvPr/>
        </p:nvSpPr>
        <p:spPr>
          <a:xfrm>
            <a:off x="5394960" y="4069080"/>
            <a:ext cx="475488" cy="274320"/>
          </a:xfrm>
          <a:prstGeom prst="rect">
            <a:avLst/>
          </a:prstGeom>
          <a:solidFill>
            <a:srgbClr val="FFFFFF"/>
          </a:solidFill>
          <a:ln w="0">
            <a:noFill/>
          </a:ln>
        </p:spPr>
        <p:txBody>
          <a:bodyPr wrap="square" lIns="0" tIns="0" rIns="0" bIns="0" anchor="ctr">
            <a:noAutofit/>
          </a:bodyPr>
          <a:lstStyle/>
          <a:p>
            <a:pPr algn="ctr" eaLnBrk="0" latinLnBrk="0">
              <a:lnSpc>
                <a:spcPct val="100000"/>
              </a:lnSpc>
              <a:buNone/>
            </a:pPr>
            <a:r>
              <a:rPr lang="ko-KR" altLang="en-US" sz="1500" b="1" dirty="0">
                <a:solidFill>
                  <a:srgbClr val="B8651B"/>
                </a:solidFill>
                <a:latin typeface="Malgun Gothic"/>
                <a:ea typeface="Malgun Gothic"/>
                <a:cs typeface="Malgun Gothic"/>
              </a:rPr>
              <a:t>−4</a:t>
            </a:r>
          </a:p>
        </p:txBody>
      </p:sp>
      <p:sp>
        <p:nvSpPr>
          <p:cNvPr id="21" name="직사각형 22"/>
          <p:cNvSpPr/>
          <p:nvPr/>
        </p:nvSpPr>
        <p:spPr>
          <a:xfrm>
            <a:off x="1216152" y="395935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S</a:t>
            </a:r>
          </a:p>
        </p:txBody>
      </p:sp>
      <p:sp>
        <p:nvSpPr>
          <p:cNvPr id="22" name="직사각형 23"/>
          <p:cNvSpPr/>
          <p:nvPr/>
        </p:nvSpPr>
        <p:spPr>
          <a:xfrm>
            <a:off x="914400" y="448970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0</a:t>
            </a:r>
          </a:p>
        </p:txBody>
      </p:sp>
      <p:sp>
        <p:nvSpPr>
          <p:cNvPr id="23" name="직사각형 24"/>
          <p:cNvSpPr/>
          <p:nvPr/>
        </p:nvSpPr>
        <p:spPr>
          <a:xfrm>
            <a:off x="5239512" y="2770632"/>
            <a:ext cx="493776" cy="493776"/>
          </a:xfrm>
          <a:prstGeom prst="ellipse">
            <a:avLst/>
          </a:prstGeom>
          <a:solidFill>
            <a:srgbClr val="DCECFB"/>
          </a:solidFill>
          <a:ln w="22225">
            <a:solidFill>
              <a:srgbClr val="1D5A8A"/>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A</a:t>
            </a:r>
          </a:p>
        </p:txBody>
      </p:sp>
      <p:sp>
        <p:nvSpPr>
          <p:cNvPr id="24" name="직사각형 25"/>
          <p:cNvSpPr/>
          <p:nvPr/>
        </p:nvSpPr>
        <p:spPr>
          <a:xfrm>
            <a:off x="4937760" y="2459736"/>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B23B3B"/>
                </a:solidFill>
                <a:latin typeface="Malgun Gothic"/>
                <a:ea typeface="Malgun Gothic"/>
                <a:cs typeface="Malgun Gothic"/>
              </a:rPr>
              <a:t>2 (실제 1)</a:t>
            </a:r>
          </a:p>
        </p:txBody>
      </p:sp>
      <p:sp>
        <p:nvSpPr>
          <p:cNvPr id="25" name="직사각형 26"/>
          <p:cNvSpPr/>
          <p:nvPr/>
        </p:nvSpPr>
        <p:spPr>
          <a:xfrm>
            <a:off x="5239512" y="5148072"/>
            <a:ext cx="493776" cy="493776"/>
          </a:xfrm>
          <a:prstGeom prst="ellipse">
            <a:avLst/>
          </a:prstGeom>
          <a:solidFill>
            <a:srgbClr val="FFF1C2"/>
          </a:solidFill>
          <a:ln w="22225">
            <a:solidFill>
              <a:srgbClr val="B8651B"/>
            </a:solidFill>
          </a:ln>
        </p:spPr>
        <p:txBody>
          <a:bodyPr wrap="none" lIns="0" tIns="0" rIns="0" bIns="0" anchor="ctr">
            <a:noAutofit/>
          </a:bodyPr>
          <a:lstStyle/>
          <a:p>
            <a:pPr algn="ctr" eaLnBrk="0" latinLnBrk="0">
              <a:lnSpc>
                <a:spcPct val="100000"/>
              </a:lnSpc>
              <a:buNone/>
            </a:pPr>
            <a:r>
              <a:rPr lang="ko-KR" altLang="en-US" sz="1650" b="1" dirty="0">
                <a:solidFill>
                  <a:srgbClr val="151515"/>
                </a:solidFill>
                <a:latin typeface="Malgun Gothic"/>
                <a:ea typeface="Malgun Gothic"/>
                <a:cs typeface="Malgun Gothic"/>
              </a:rPr>
              <a:t>B</a:t>
            </a:r>
          </a:p>
        </p:txBody>
      </p:sp>
      <p:sp>
        <p:nvSpPr>
          <p:cNvPr id="26" name="직사각형 27"/>
          <p:cNvSpPr/>
          <p:nvPr/>
        </p:nvSpPr>
        <p:spPr>
          <a:xfrm>
            <a:off x="4937760" y="5678424"/>
            <a:ext cx="1097280" cy="256032"/>
          </a:xfrm>
          <a:prstGeom prst="rect">
            <a:avLst/>
          </a:prstGeom>
          <a:noFill/>
          <a:ln w="0">
            <a:noFill/>
          </a:ln>
        </p:spPr>
        <p:txBody>
          <a:bodyPr wrap="square" lIns="0" tIns="0" rIns="0" bIns="0" anchor="t">
            <a:noAutofit/>
          </a:bodyPr>
          <a:lstStyle/>
          <a:p>
            <a:pPr algn="ctr" eaLnBrk="0" latinLnBrk="0">
              <a:lnSpc>
                <a:spcPct val="100000"/>
              </a:lnSpc>
              <a:buNone/>
            </a:pPr>
            <a:r>
              <a:rPr lang="ko-KR" altLang="en-US" sz="1350" b="1" dirty="0">
                <a:solidFill>
                  <a:srgbClr val="1D5A8A"/>
                </a:solidFill>
                <a:latin typeface="Malgun Gothic"/>
                <a:ea typeface="Malgun Gothic"/>
                <a:cs typeface="Malgun Gothic"/>
              </a:rPr>
              <a:t>5</a:t>
            </a:r>
          </a:p>
        </p:txBody>
      </p:sp>
      <p:sp>
        <p:nvSpPr>
          <p:cNvPr id="27" name="직사각형 28"/>
          <p:cNvSpPr/>
          <p:nvPr/>
        </p:nvSpPr>
        <p:spPr>
          <a:xfrm>
            <a:off x="612648" y="6144768"/>
            <a:ext cx="109728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425" b="0" dirty="0">
                <a:solidFill>
                  <a:srgbClr val="171717"/>
                </a:solidFill>
                <a:latin typeface="Malgun Gothic"/>
                <a:ea typeface="Malgun Gothic"/>
                <a:cs typeface="Malgun Gothic"/>
              </a:rPr>
              <a:t>주황: 1을 만드는 간선 B → A    음수 간선이 있으면 벨만-포드 같은 다른 알고리즘을 씁니다</a:t>
            </a:r>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7616952"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CHAPTER 05</a:t>
            </a:r>
          </a:p>
        </p:txBody>
      </p:sp>
      <p:sp>
        <p:nvSpPr>
          <p:cNvPr id="3" name="직사각형 4"/>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5장 정리</a:t>
            </a:r>
          </a:p>
        </p:txBody>
      </p:sp>
      <p:sp>
        <p:nvSpPr>
          <p:cNvPr id="4" name="직사각형 5"/>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5" name="직사각형 6"/>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7" name="직사각형 8"/>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68</a:t>
            </a:r>
            <a:endParaRPr lang="ko-KR" altLang="en-US" sz="1050" b="0" dirty="0">
              <a:solidFill>
                <a:srgbClr val="606060"/>
              </a:solidFill>
              <a:latin typeface="Malgun Gothic"/>
              <a:ea typeface="Malgun Gothic"/>
              <a:cs typeface="Malgun Gothic"/>
            </a:endParaRPr>
          </a:p>
        </p:txBody>
      </p:sp>
      <p:sp>
        <p:nvSpPr>
          <p:cNvPr id="8" name="직사각형 9"/>
          <p:cNvSpPr/>
          <p:nvPr/>
        </p:nvSpPr>
        <p:spPr>
          <a:xfrm>
            <a:off x="658368" y="1645920"/>
            <a:ext cx="5230368"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9" name="직사각형 10"/>
          <p:cNvSpPr/>
          <p:nvPr/>
        </p:nvSpPr>
        <p:spPr>
          <a:xfrm>
            <a:off x="1517904" y="1828800"/>
            <a:ext cx="413308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그리디는 되돌아보지 않는다</a:t>
            </a:r>
          </a:p>
        </p:txBody>
      </p:sp>
      <p:sp>
        <p:nvSpPr>
          <p:cNvPr id="10" name="직사각형 11"/>
          <p:cNvSpPr/>
          <p:nvPr/>
        </p:nvSpPr>
        <p:spPr>
          <a:xfrm>
            <a:off x="1517904" y="2194560"/>
            <a:ext cx="4133088" cy="877824"/>
          </a:xfrm>
          <a:prstGeom prst="rect">
            <a:avLst/>
          </a:prstGeom>
          <a:noFill/>
          <a:ln w="0">
            <a:noFill/>
          </a:ln>
        </p:spPr>
        <p:txBody>
          <a:bodyPr wrap="square" lIns="0" tIns="0" rIns="0" bIns="0" anchor="t">
            <a:noAutofit/>
          </a:bodyPr>
          <a:lstStyle/>
          <a:p>
            <a:pPr algn="l" eaLnBrk="0" latinLnBrk="0">
              <a:lnSpc>
                <a:spcPct val="110000"/>
              </a:lnSpc>
              <a:buNone/>
            </a:pPr>
            <a:r>
              <a:rPr lang="ko-KR" altLang="en-US" sz="1250" b="0" dirty="0">
                <a:solidFill>
                  <a:srgbClr val="606060"/>
                </a:solidFill>
                <a:latin typeface="Malgun Gothic"/>
                <a:ea typeface="Malgun Gothic"/>
                <a:cs typeface="Malgun Gothic"/>
              </a:rPr>
              <a:t>매 단계 지금 기준의 최선을 확정하고 번복하지 않습니다. 선택 → 적정성 검사 → 해답 검사를 해답이 될 때까지 반복합니다.</a:t>
            </a:r>
          </a:p>
        </p:txBody>
      </p:sp>
      <p:sp>
        <p:nvSpPr>
          <p:cNvPr id="11" name="직사각형 12"/>
          <p:cNvSpPr/>
          <p:nvPr/>
        </p:nvSpPr>
        <p:spPr>
          <a:xfrm>
            <a:off x="658368" y="1810512"/>
            <a:ext cx="731520" cy="365760"/>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C8C8C8"/>
                </a:solidFill>
                <a:latin typeface="Consolas"/>
                <a:ea typeface="Consolas"/>
                <a:cs typeface="Consolas"/>
              </a:rPr>
              <a:t>01</a:t>
            </a:r>
          </a:p>
        </p:txBody>
      </p:sp>
      <p:sp>
        <p:nvSpPr>
          <p:cNvPr id="12" name="직사각형 13"/>
          <p:cNvSpPr/>
          <p:nvPr/>
        </p:nvSpPr>
        <p:spPr>
          <a:xfrm>
            <a:off x="6300216" y="1645920"/>
            <a:ext cx="5230368"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3" name="직사각형 14"/>
          <p:cNvSpPr/>
          <p:nvPr/>
        </p:nvSpPr>
        <p:spPr>
          <a:xfrm>
            <a:off x="7159752" y="1828800"/>
            <a:ext cx="413308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최적을 보장하는 두 조건</a:t>
            </a:r>
          </a:p>
        </p:txBody>
      </p:sp>
      <p:sp>
        <p:nvSpPr>
          <p:cNvPr id="14" name="직사각형 15"/>
          <p:cNvSpPr/>
          <p:nvPr/>
        </p:nvSpPr>
        <p:spPr>
          <a:xfrm>
            <a:off x="7159752" y="2194560"/>
            <a:ext cx="4133088" cy="877824"/>
          </a:xfrm>
          <a:prstGeom prst="rect">
            <a:avLst/>
          </a:prstGeom>
          <a:noFill/>
          <a:ln w="0">
            <a:noFill/>
          </a:ln>
        </p:spPr>
        <p:txBody>
          <a:bodyPr wrap="square" lIns="0" tIns="0" rIns="0" bIns="0" anchor="t">
            <a:noAutofit/>
          </a:bodyPr>
          <a:lstStyle/>
          <a:p>
            <a:pPr algn="l" eaLnBrk="0" latinLnBrk="0">
              <a:lnSpc>
                <a:spcPct val="110000"/>
              </a:lnSpc>
              <a:buNone/>
            </a:pPr>
            <a:r>
              <a:rPr lang="ko-KR" altLang="en-US" sz="1250" b="0" dirty="0">
                <a:solidFill>
                  <a:srgbClr val="606060"/>
                </a:solidFill>
                <a:latin typeface="Malgun Gothic"/>
                <a:ea typeface="Malgun Gothic"/>
                <a:cs typeface="Malgun Gothic"/>
              </a:rPr>
              <a:t>탐욕적 선택 속성(이 선택을 포함하는 최적해가 있다)과 최적 부분 구조. "항상 최적"은 반례 하나로 반박합니다.</a:t>
            </a:r>
          </a:p>
        </p:txBody>
      </p:sp>
      <p:sp>
        <p:nvSpPr>
          <p:cNvPr id="15" name="직사각형 16"/>
          <p:cNvSpPr/>
          <p:nvPr/>
        </p:nvSpPr>
        <p:spPr>
          <a:xfrm>
            <a:off x="6300216" y="1810512"/>
            <a:ext cx="731520" cy="365760"/>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C8C8C8"/>
                </a:solidFill>
                <a:latin typeface="Consolas"/>
                <a:ea typeface="Consolas"/>
                <a:cs typeface="Consolas"/>
              </a:rPr>
              <a:t>02</a:t>
            </a:r>
          </a:p>
        </p:txBody>
      </p:sp>
      <p:sp>
        <p:nvSpPr>
          <p:cNvPr id="16" name="직사각형 17"/>
          <p:cNvSpPr/>
          <p:nvPr/>
        </p:nvSpPr>
        <p:spPr>
          <a:xfrm>
            <a:off x="658368" y="3145536"/>
            <a:ext cx="5230368"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17" name="직사각형 18"/>
          <p:cNvSpPr/>
          <p:nvPr/>
        </p:nvSpPr>
        <p:spPr>
          <a:xfrm>
            <a:off x="1517904" y="3328416"/>
            <a:ext cx="413308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정렬 기준이 곧 전략</a:t>
            </a:r>
          </a:p>
        </p:txBody>
      </p:sp>
      <p:sp>
        <p:nvSpPr>
          <p:cNvPr id="18" name="직사각형 19"/>
          <p:cNvSpPr/>
          <p:nvPr/>
        </p:nvSpPr>
        <p:spPr>
          <a:xfrm>
            <a:off x="1517904" y="3694176"/>
            <a:ext cx="4133088" cy="877824"/>
          </a:xfrm>
          <a:prstGeom prst="rect">
            <a:avLst/>
          </a:prstGeom>
          <a:noFill/>
          <a:ln w="0">
            <a:noFill/>
          </a:ln>
        </p:spPr>
        <p:txBody>
          <a:bodyPr wrap="square" lIns="0" tIns="0" rIns="0" bIns="0" anchor="t">
            <a:noAutofit/>
          </a:bodyPr>
          <a:lstStyle/>
          <a:p>
            <a:pPr algn="l" eaLnBrk="0" latinLnBrk="0">
              <a:lnSpc>
                <a:spcPct val="110000"/>
              </a:lnSpc>
              <a:buNone/>
            </a:pPr>
            <a:r>
              <a:rPr lang="ko-KR" altLang="en-US" sz="1250" b="0">
                <a:solidFill>
                  <a:srgbClr val="606060"/>
                </a:solidFill>
                <a:latin typeface="Malgun Gothic"/>
                <a:ea typeface="Malgun Gothic"/>
                <a:cs typeface="Malgun Gothic"/>
              </a:rPr>
              <a:t>활동 선택은 종료가 빠른 순</a:t>
            </a:r>
            <a:r>
              <a:rPr lang="en-US" altLang="ko-KR" sz="1250" b="0">
                <a:solidFill>
                  <a:srgbClr val="606060"/>
                </a:solidFill>
                <a:latin typeface="Malgun Gothic"/>
                <a:ea typeface="Malgun Gothic"/>
                <a:cs typeface="Malgun Gothic"/>
              </a:rPr>
              <a:t>, </a:t>
            </a:r>
            <a:r>
              <a:rPr lang="ko-KR" altLang="en-US" sz="1250" b="0">
                <a:solidFill>
                  <a:srgbClr val="606060"/>
                </a:solidFill>
                <a:latin typeface="Malgun Gothic"/>
                <a:ea typeface="Malgun Gothic"/>
                <a:cs typeface="Malgun Gothic"/>
              </a:rPr>
              <a:t>쪼갤 수 있는 배낭은 가성비가 큰 순</a:t>
            </a:r>
            <a:r>
              <a:rPr lang="en-US" altLang="ko-KR" sz="1250" b="0">
                <a:solidFill>
                  <a:srgbClr val="606060"/>
                </a:solidFill>
                <a:latin typeface="Malgun Gothic"/>
                <a:ea typeface="Malgun Gothic"/>
                <a:cs typeface="Malgun Gothic"/>
              </a:rPr>
              <a:t>, </a:t>
            </a:r>
            <a:r>
              <a:rPr lang="ko-KR" altLang="en-US" sz="1250" b="0">
                <a:solidFill>
                  <a:srgbClr val="606060"/>
                </a:solidFill>
                <a:latin typeface="Malgun Gothic"/>
                <a:ea typeface="Malgun Gothic"/>
                <a:cs typeface="Malgun Gothic"/>
              </a:rPr>
              <a:t>크루스칼은 가중치가 작은 순</a:t>
            </a:r>
            <a:r>
              <a:rPr lang="en-US" altLang="ko-KR" sz="1250" b="0">
                <a:solidFill>
                  <a:srgbClr val="606060"/>
                </a:solidFill>
                <a:latin typeface="Malgun Gothic"/>
                <a:ea typeface="Malgun Gothic"/>
                <a:cs typeface="Malgun Gothic"/>
              </a:rPr>
              <a:t>.</a:t>
            </a:r>
            <a:endParaRPr lang="ko-KR" altLang="en-US" sz="1250" b="0" dirty="0">
              <a:solidFill>
                <a:srgbClr val="606060"/>
              </a:solidFill>
              <a:latin typeface="Malgun Gothic"/>
              <a:ea typeface="Malgun Gothic"/>
              <a:cs typeface="Malgun Gothic"/>
            </a:endParaRPr>
          </a:p>
        </p:txBody>
      </p:sp>
      <p:sp>
        <p:nvSpPr>
          <p:cNvPr id="19" name="직사각형 20"/>
          <p:cNvSpPr/>
          <p:nvPr/>
        </p:nvSpPr>
        <p:spPr>
          <a:xfrm>
            <a:off x="658368" y="3310128"/>
            <a:ext cx="731520" cy="365760"/>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C8C8C8"/>
                </a:solidFill>
                <a:latin typeface="Consolas"/>
                <a:ea typeface="Consolas"/>
                <a:cs typeface="Consolas"/>
              </a:rPr>
              <a:t>03</a:t>
            </a:r>
          </a:p>
        </p:txBody>
      </p:sp>
      <p:sp>
        <p:nvSpPr>
          <p:cNvPr id="20" name="직사각형 21"/>
          <p:cNvSpPr/>
          <p:nvPr/>
        </p:nvSpPr>
        <p:spPr>
          <a:xfrm>
            <a:off x="6300216" y="3145536"/>
            <a:ext cx="5230368"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21" name="직사각형 22"/>
          <p:cNvSpPr/>
          <p:nvPr/>
        </p:nvSpPr>
        <p:spPr>
          <a:xfrm>
            <a:off x="7159752" y="3328416"/>
            <a:ext cx="413308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최적을 보장하는 경우</a:t>
            </a:r>
          </a:p>
        </p:txBody>
      </p:sp>
      <p:sp>
        <p:nvSpPr>
          <p:cNvPr id="22" name="직사각형 23"/>
          <p:cNvSpPr/>
          <p:nvPr/>
        </p:nvSpPr>
        <p:spPr>
          <a:xfrm>
            <a:off x="7159752" y="3694176"/>
            <a:ext cx="4133088" cy="877824"/>
          </a:xfrm>
          <a:prstGeom prst="rect">
            <a:avLst/>
          </a:prstGeom>
          <a:noFill/>
          <a:ln w="0">
            <a:noFill/>
          </a:ln>
        </p:spPr>
        <p:txBody>
          <a:bodyPr wrap="square" lIns="0" tIns="0" rIns="0" bIns="0" anchor="t">
            <a:noAutofit/>
          </a:bodyPr>
          <a:lstStyle/>
          <a:p>
            <a:pPr algn="l" eaLnBrk="0" latinLnBrk="0">
              <a:lnSpc>
                <a:spcPct val="110000"/>
              </a:lnSpc>
              <a:buNone/>
            </a:pPr>
            <a:r>
              <a:rPr lang="ko-KR" altLang="en-US" sz="1250" b="0" dirty="0">
                <a:solidFill>
                  <a:srgbClr val="606060"/>
                </a:solidFill>
                <a:latin typeface="Malgun Gothic"/>
                <a:ea typeface="Malgun Gothic"/>
                <a:cs typeface="Malgun Gothic"/>
              </a:rPr>
              <a:t>배수 조건의 거스름돈, 활동 선택, 쪼갤 수 있는 배낭(가성비 순), 크루스칼 MST, 다익스트라(간선 비용이 모두 0 이상일 때).</a:t>
            </a:r>
          </a:p>
        </p:txBody>
      </p:sp>
      <p:sp>
        <p:nvSpPr>
          <p:cNvPr id="23" name="직사각형 24"/>
          <p:cNvSpPr/>
          <p:nvPr/>
        </p:nvSpPr>
        <p:spPr>
          <a:xfrm>
            <a:off x="6300216" y="3310128"/>
            <a:ext cx="731520" cy="365760"/>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C8C8C8"/>
                </a:solidFill>
                <a:latin typeface="Consolas"/>
                <a:ea typeface="Consolas"/>
                <a:cs typeface="Consolas"/>
              </a:rPr>
              <a:t>04</a:t>
            </a:r>
          </a:p>
        </p:txBody>
      </p:sp>
      <p:sp>
        <p:nvSpPr>
          <p:cNvPr id="24" name="직사각형 25"/>
          <p:cNvSpPr/>
          <p:nvPr/>
        </p:nvSpPr>
        <p:spPr>
          <a:xfrm>
            <a:off x="658368" y="4645152"/>
            <a:ext cx="5230368"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25" name="직사각형 26"/>
          <p:cNvSpPr/>
          <p:nvPr/>
        </p:nvSpPr>
        <p:spPr>
          <a:xfrm>
            <a:off x="1517904" y="4828032"/>
            <a:ext cx="413308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보장하지 못하는 경우</a:t>
            </a:r>
          </a:p>
        </p:txBody>
      </p:sp>
      <p:sp>
        <p:nvSpPr>
          <p:cNvPr id="26" name="직사각형 27"/>
          <p:cNvSpPr/>
          <p:nvPr/>
        </p:nvSpPr>
        <p:spPr>
          <a:xfrm>
            <a:off x="1517904" y="5193792"/>
            <a:ext cx="4133088" cy="877824"/>
          </a:xfrm>
          <a:prstGeom prst="rect">
            <a:avLst/>
          </a:prstGeom>
          <a:noFill/>
          <a:ln w="0">
            <a:noFill/>
          </a:ln>
        </p:spPr>
        <p:txBody>
          <a:bodyPr wrap="square" lIns="0" tIns="0" rIns="0" bIns="0" anchor="t">
            <a:noAutofit/>
          </a:bodyPr>
          <a:lstStyle/>
          <a:p>
            <a:pPr algn="l" eaLnBrk="0" latinLnBrk="0">
              <a:lnSpc>
                <a:spcPct val="110000"/>
              </a:lnSpc>
              <a:buNone/>
            </a:pPr>
            <a:r>
              <a:rPr lang="en-US" altLang="ko-KR" sz="1250" b="0">
                <a:solidFill>
                  <a:srgbClr val="606060"/>
                </a:solidFill>
                <a:latin typeface="Malgun Gothic"/>
                <a:ea typeface="Malgun Gothic"/>
                <a:cs typeface="Malgun Gothic"/>
              </a:rPr>
              <a:t>{1, 3, 4} </a:t>
            </a:r>
            <a:r>
              <a:rPr lang="ko-KR" altLang="en-US" sz="1250" b="0">
                <a:solidFill>
                  <a:srgbClr val="606060"/>
                </a:solidFill>
                <a:latin typeface="Malgun Gothic"/>
                <a:ea typeface="Malgun Gothic"/>
                <a:cs typeface="Malgun Gothic"/>
              </a:rPr>
              <a:t>동전</a:t>
            </a:r>
            <a:r>
              <a:rPr lang="en-US" altLang="ko-KR" sz="1250" b="0">
                <a:solidFill>
                  <a:srgbClr val="606060"/>
                </a:solidFill>
                <a:latin typeface="Malgun Gothic"/>
                <a:ea typeface="Malgun Gothic"/>
                <a:cs typeface="Malgun Gothic"/>
              </a:rPr>
              <a:t>, 0/1 </a:t>
            </a:r>
            <a:r>
              <a:rPr lang="ko-KR" altLang="en-US" sz="1250" b="0">
                <a:solidFill>
                  <a:srgbClr val="606060"/>
                </a:solidFill>
                <a:latin typeface="Malgun Gothic"/>
                <a:ea typeface="Malgun Gothic"/>
                <a:cs typeface="Malgun Gothic"/>
              </a:rPr>
              <a:t>배낭</a:t>
            </a:r>
            <a:r>
              <a:rPr lang="en-US" altLang="ko-KR" sz="1250" b="0">
                <a:solidFill>
                  <a:srgbClr val="606060"/>
                </a:solidFill>
                <a:latin typeface="Malgun Gothic"/>
                <a:ea typeface="Malgun Gothic"/>
                <a:cs typeface="Malgun Gothic"/>
              </a:rPr>
              <a:t>, </a:t>
            </a:r>
            <a:r>
              <a:rPr lang="ko-KR" altLang="en-US" sz="1250" b="0">
                <a:solidFill>
                  <a:srgbClr val="606060"/>
                </a:solidFill>
                <a:latin typeface="Malgun Gothic"/>
                <a:ea typeface="Malgun Gothic"/>
                <a:cs typeface="Malgun Gothic"/>
              </a:rPr>
              <a:t>음수 간선이 있는 다익스트라</a:t>
            </a:r>
            <a:r>
              <a:rPr lang="en-US" altLang="ko-KR" sz="1250" b="0">
                <a:solidFill>
                  <a:srgbClr val="606060"/>
                </a:solidFill>
                <a:latin typeface="Malgun Gothic"/>
                <a:ea typeface="Malgun Gothic"/>
                <a:cs typeface="Malgun Gothic"/>
              </a:rPr>
              <a:t>.</a:t>
            </a:r>
            <a:endParaRPr lang="ko-KR" altLang="en-US" sz="1250" b="0" dirty="0">
              <a:solidFill>
                <a:srgbClr val="606060"/>
              </a:solidFill>
              <a:latin typeface="Malgun Gothic"/>
              <a:ea typeface="Malgun Gothic"/>
              <a:cs typeface="Malgun Gothic"/>
            </a:endParaRPr>
          </a:p>
        </p:txBody>
      </p:sp>
      <p:sp>
        <p:nvSpPr>
          <p:cNvPr id="27" name="직사각형 28"/>
          <p:cNvSpPr/>
          <p:nvPr/>
        </p:nvSpPr>
        <p:spPr>
          <a:xfrm>
            <a:off x="658368" y="4809744"/>
            <a:ext cx="731520" cy="365760"/>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C8C8C8"/>
                </a:solidFill>
                <a:latin typeface="Consolas"/>
                <a:ea typeface="Consolas"/>
                <a:cs typeface="Consolas"/>
              </a:rPr>
              <a:t>05</a:t>
            </a:r>
          </a:p>
        </p:txBody>
      </p:sp>
      <p:sp>
        <p:nvSpPr>
          <p:cNvPr id="28" name="직사각형 29"/>
          <p:cNvSpPr/>
          <p:nvPr/>
        </p:nvSpPr>
        <p:spPr>
          <a:xfrm>
            <a:off x="6300216" y="4645152"/>
            <a:ext cx="5230368"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29" name="직사각형 30"/>
          <p:cNvSpPr/>
          <p:nvPr/>
        </p:nvSpPr>
        <p:spPr>
          <a:xfrm>
            <a:off x="7159752" y="4828032"/>
            <a:ext cx="4133088" cy="310896"/>
          </a:xfrm>
          <a:prstGeom prst="rect">
            <a:avLst/>
          </a:prstGeom>
          <a:noFill/>
          <a:ln w="0">
            <a:noFill/>
          </a:ln>
        </p:spPr>
        <p:txBody>
          <a:bodyPr wrap="square" lIns="0" tIns="0" rIns="0" bIns="0" anchor="ctr">
            <a:noAutofit/>
          </a:bodyPr>
          <a:lstStyle/>
          <a:p>
            <a:pPr algn="l" eaLnBrk="0" latinLnBrk="0">
              <a:lnSpc>
                <a:spcPct val="100000"/>
              </a:lnSpc>
              <a:buNone/>
            </a:pPr>
            <a:r>
              <a:rPr lang="ko-KR" altLang="en-US" sz="1500" b="1" dirty="0">
                <a:solidFill>
                  <a:srgbClr val="171717"/>
                </a:solidFill>
                <a:latin typeface="Malgun Gothic"/>
                <a:ea typeface="Malgun Gothic"/>
                <a:cs typeface="Malgun Gothic"/>
              </a:rPr>
              <a:t>다음은 동적 계획법</a:t>
            </a:r>
          </a:p>
        </p:txBody>
      </p:sp>
      <p:sp>
        <p:nvSpPr>
          <p:cNvPr id="30" name="직사각형 31"/>
          <p:cNvSpPr/>
          <p:nvPr/>
        </p:nvSpPr>
        <p:spPr>
          <a:xfrm>
            <a:off x="7159752" y="5193792"/>
            <a:ext cx="4133088" cy="877824"/>
          </a:xfrm>
          <a:prstGeom prst="rect">
            <a:avLst/>
          </a:prstGeom>
          <a:noFill/>
          <a:ln w="0">
            <a:noFill/>
          </a:ln>
        </p:spPr>
        <p:txBody>
          <a:bodyPr wrap="square" lIns="0" tIns="0" rIns="0" bIns="0" anchor="t">
            <a:noAutofit/>
          </a:bodyPr>
          <a:lstStyle/>
          <a:p>
            <a:pPr algn="l" eaLnBrk="0" latinLnBrk="0">
              <a:lnSpc>
                <a:spcPct val="110000"/>
              </a:lnSpc>
              <a:buNone/>
            </a:pPr>
            <a:r>
              <a:rPr lang="en-US" altLang="ko-KR" sz="1250" b="0">
                <a:solidFill>
                  <a:srgbClr val="606060"/>
                </a:solidFill>
                <a:latin typeface="Malgun Gothic"/>
                <a:ea typeface="Malgun Gothic"/>
                <a:cs typeface="Malgun Gothic"/>
              </a:rPr>
              <a:t>0/1 </a:t>
            </a:r>
            <a:r>
              <a:rPr lang="ko-KR" altLang="en-US" sz="1250" b="0">
                <a:solidFill>
                  <a:srgbClr val="606060"/>
                </a:solidFill>
                <a:latin typeface="Malgun Gothic"/>
                <a:ea typeface="Malgun Gothic"/>
                <a:cs typeface="Malgun Gothic"/>
              </a:rPr>
              <a:t>배낭과 일반 동전 문제는 남은 상태별 답을 저장하는 동적 계획법으로 이어집니다</a:t>
            </a:r>
            <a:r>
              <a:rPr lang="en-US" altLang="ko-KR" sz="1250" b="0">
                <a:solidFill>
                  <a:srgbClr val="606060"/>
                </a:solidFill>
                <a:latin typeface="Malgun Gothic"/>
                <a:ea typeface="Malgun Gothic"/>
                <a:cs typeface="Malgun Gothic"/>
              </a:rPr>
              <a:t>.</a:t>
            </a:r>
            <a:endParaRPr lang="ko-KR" altLang="en-US" sz="1250" b="0" dirty="0">
              <a:solidFill>
                <a:srgbClr val="606060"/>
              </a:solidFill>
              <a:latin typeface="Malgun Gothic"/>
              <a:ea typeface="Malgun Gothic"/>
              <a:cs typeface="Malgun Gothic"/>
            </a:endParaRPr>
          </a:p>
        </p:txBody>
      </p:sp>
      <p:sp>
        <p:nvSpPr>
          <p:cNvPr id="31" name="직사각형 32"/>
          <p:cNvSpPr/>
          <p:nvPr/>
        </p:nvSpPr>
        <p:spPr>
          <a:xfrm>
            <a:off x="6300216" y="4809744"/>
            <a:ext cx="731520" cy="365760"/>
          </a:xfrm>
          <a:prstGeom prst="rect">
            <a:avLst/>
          </a:prstGeom>
          <a:noFill/>
          <a:ln w="0">
            <a:noFill/>
          </a:ln>
        </p:spPr>
        <p:txBody>
          <a:bodyPr wrap="square" lIns="0" tIns="0" rIns="0" bIns="0" anchor="t">
            <a:noAutofit/>
          </a:bodyPr>
          <a:lstStyle/>
          <a:p>
            <a:pPr algn="l" eaLnBrk="0" latinLnBrk="0">
              <a:lnSpc>
                <a:spcPct val="100000"/>
              </a:lnSpc>
              <a:buNone/>
            </a:pPr>
            <a:r>
              <a:rPr lang="ko-KR" altLang="en-US" sz="2400" b="1" dirty="0">
                <a:solidFill>
                  <a:srgbClr val="C8C8C8"/>
                </a:solidFill>
                <a:latin typeface="Consolas"/>
                <a:ea typeface="Consolas"/>
                <a:cs typeface="Consolas"/>
              </a:rPr>
              <a:t>06</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직사각형 3"/>
          <p:cNvSpPr/>
          <p:nvPr/>
        </p:nvSpPr>
        <p:spPr>
          <a:xfrm>
            <a:off x="612648" y="265176"/>
            <a:ext cx="8229600" cy="265176"/>
          </a:xfrm>
          <a:prstGeom prst="rect">
            <a:avLst/>
          </a:prstGeom>
          <a:noFill/>
          <a:ln w="0">
            <a:noFill/>
          </a:ln>
        </p:spPr>
        <p:txBody>
          <a:bodyPr wrap="square" lIns="0" tIns="0" rIns="0" bIns="0" anchor="t">
            <a:noAutofit/>
          </a:bodyPr>
          <a:lstStyle/>
          <a:p>
            <a:pPr algn="l" eaLnBrk="0" latinLnBrk="0">
              <a:lnSpc>
                <a:spcPct val="100000"/>
              </a:lnSpc>
              <a:buNone/>
            </a:pPr>
            <a:r>
              <a:rPr lang="ko-KR" altLang="en-US" sz="1050" b="1" dirty="0">
                <a:solidFill>
                  <a:srgbClr val="606060"/>
                </a:solidFill>
                <a:latin typeface="Malgun Gothic"/>
                <a:ea typeface="Malgun Gothic"/>
                <a:cs typeface="Malgun Gothic"/>
              </a:rPr>
              <a:t>5장 정리</a:t>
            </a:r>
          </a:p>
        </p:txBody>
      </p:sp>
      <p:sp>
        <p:nvSpPr>
          <p:cNvPr id="3" name="직사각형 4"/>
          <p:cNvSpPr/>
          <p:nvPr/>
        </p:nvSpPr>
        <p:spPr>
          <a:xfrm>
            <a:off x="10287000" y="265176"/>
            <a:ext cx="1298448" cy="228600"/>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Malgun Gothic"/>
                <a:ea typeface="Malgun Gothic"/>
                <a:cs typeface="Malgun Gothic"/>
              </a:rPr>
              <a:t>ALGORITHMS</a:t>
            </a:r>
          </a:p>
        </p:txBody>
      </p:sp>
      <p:sp>
        <p:nvSpPr>
          <p:cNvPr id="4" name="직사각형 5"/>
          <p:cNvSpPr/>
          <p:nvPr/>
        </p:nvSpPr>
        <p:spPr>
          <a:xfrm>
            <a:off x="594360" y="685800"/>
            <a:ext cx="10991088" cy="640080"/>
          </a:xfrm>
          <a:prstGeom prst="rect">
            <a:avLst/>
          </a:prstGeom>
          <a:noFill/>
          <a:ln w="0">
            <a:noFill/>
          </a:ln>
        </p:spPr>
        <p:txBody>
          <a:bodyPr wrap="square" lIns="0" tIns="0" rIns="0" bIns="0" anchor="t">
            <a:noAutofit/>
          </a:bodyPr>
          <a:lstStyle/>
          <a:p>
            <a:pPr algn="l" eaLnBrk="0" latinLnBrk="0">
              <a:lnSpc>
                <a:spcPct val="100000"/>
              </a:lnSpc>
              <a:buNone/>
            </a:pPr>
            <a:r>
              <a:rPr lang="ko-KR" altLang="en-US" sz="3000" b="1" dirty="0">
                <a:solidFill>
                  <a:srgbClr val="171717"/>
                </a:solidFill>
                <a:latin typeface="Malgun Gothic"/>
                <a:ea typeface="Malgun Gothic"/>
                <a:cs typeface="Malgun Gothic"/>
              </a:rPr>
              <a:t>Python · C 대응표</a:t>
            </a:r>
          </a:p>
        </p:txBody>
      </p:sp>
      <p:sp>
        <p:nvSpPr>
          <p:cNvPr id="5" name="직사각형 6"/>
          <p:cNvSpPr/>
          <p:nvPr/>
        </p:nvSpPr>
        <p:spPr>
          <a:xfrm>
            <a:off x="612648" y="1380744"/>
            <a:ext cx="10972800" cy="18288"/>
          </a:xfrm>
          <a:prstGeom prst="rect">
            <a:avLst/>
          </a:prstGeom>
          <a:solidFill>
            <a:srgbClr val="171717"/>
          </a:solidFill>
          <a:ln w="0">
            <a:noFill/>
          </a:ln>
        </p:spPr>
        <p:txBody>
          <a:bodyPr wrap="square" lIns="0" tIns="0" rIns="0" bIns="0" anchor="t">
            <a:noAutofit/>
          </a:bodyPr>
          <a:lstStyle/>
          <a:p>
            <a:pPr algn="l" eaLnBrk="0" latinLnBrk="0">
              <a:lnSpc>
                <a:spcPct val="100000"/>
              </a:lnSpc>
              <a:buNone/>
            </a:pPr>
            <a:endParaRPr lang="ko-KR" sz="1800"/>
          </a:p>
        </p:txBody>
      </p:sp>
      <p:sp>
        <p:nvSpPr>
          <p:cNvPr id="6" name="직사각형 7"/>
          <p:cNvSpPr/>
          <p:nvPr/>
        </p:nvSpPr>
        <p:spPr>
          <a:xfrm>
            <a:off x="612648" y="6437376"/>
            <a:ext cx="10972800" cy="9144"/>
          </a:xfrm>
          <a:prstGeom prst="rect">
            <a:avLst/>
          </a:prstGeom>
          <a:solidFill>
            <a:srgbClr val="D4D4D4"/>
          </a:solidFill>
          <a:ln w="0">
            <a:noFill/>
          </a:ln>
        </p:spPr>
        <p:txBody>
          <a:bodyPr wrap="square" lIns="0" tIns="0" rIns="0" bIns="0" anchor="t">
            <a:noAutofit/>
          </a:bodyPr>
          <a:lstStyle/>
          <a:p>
            <a:pPr algn="l" eaLnBrk="0" latinLnBrk="0">
              <a:lnSpc>
                <a:spcPct val="100000"/>
              </a:lnSpc>
              <a:buNone/>
            </a:pPr>
            <a:endParaRPr lang="ko-KR" sz="1800"/>
          </a:p>
        </p:txBody>
      </p:sp>
      <p:sp>
        <p:nvSpPr>
          <p:cNvPr id="7" name="직사각형 8"/>
          <p:cNvSpPr/>
          <p:nvPr/>
        </p:nvSpPr>
        <p:spPr>
          <a:xfrm>
            <a:off x="612648" y="6592824"/>
            <a:ext cx="7616952" cy="192024"/>
          </a:xfrm>
          <a:prstGeom prst="rect">
            <a:avLst/>
          </a:prstGeom>
          <a:noFill/>
          <a:ln w="0">
            <a:noFill/>
          </a:ln>
        </p:spPr>
        <p:txBody>
          <a:bodyPr wrap="square" lIns="0" tIns="0" rIns="0" bIns="0" anchor="t">
            <a:noAutofit/>
          </a:bodyPr>
          <a:lstStyle/>
          <a:p>
            <a:pPr algn="l" eaLnBrk="0" latinLnBrk="0">
              <a:lnSpc>
                <a:spcPct val="100000"/>
              </a:lnSpc>
              <a:buNone/>
            </a:pPr>
            <a:r>
              <a:rPr lang="ko-KR" altLang="en-US" sz="900" b="0" dirty="0">
                <a:solidFill>
                  <a:srgbClr val="606060"/>
                </a:solidFill>
                <a:latin typeface="Consolas"/>
                <a:ea typeface="Consolas"/>
                <a:cs typeface="Consolas"/>
              </a:rPr>
              <a:t>05 / GREEDY ALGORITHM</a:t>
            </a:r>
          </a:p>
        </p:txBody>
      </p:sp>
      <p:sp>
        <p:nvSpPr>
          <p:cNvPr id="8" name="직사각형 9"/>
          <p:cNvSpPr/>
          <p:nvPr/>
        </p:nvSpPr>
        <p:spPr>
          <a:xfrm>
            <a:off x="10515600" y="6556248"/>
            <a:ext cx="1060704" cy="228600"/>
          </a:xfrm>
          <a:prstGeom prst="rect">
            <a:avLst/>
          </a:prstGeom>
          <a:noFill/>
          <a:ln w="0">
            <a:noFill/>
          </a:ln>
        </p:spPr>
        <p:txBody>
          <a:bodyPr wrap="square" lIns="0" tIns="0" rIns="0" bIns="0" anchor="t">
            <a:noAutofit/>
          </a:bodyPr>
          <a:lstStyle/>
          <a:p>
            <a:pPr algn="r" eaLnBrk="0" latinLnBrk="0">
              <a:lnSpc>
                <a:spcPct val="100000"/>
              </a:lnSpc>
              <a:buNone/>
            </a:pPr>
            <a:r>
              <a:rPr lang="en-US" altLang="ko-KR" sz="1050" b="0">
                <a:solidFill>
                  <a:srgbClr val="606060"/>
                </a:solidFill>
                <a:latin typeface="Malgun Gothic"/>
                <a:ea typeface="Malgun Gothic"/>
                <a:cs typeface="Malgun Gothic"/>
              </a:rPr>
              <a:t>69</a:t>
            </a:r>
            <a:endParaRPr lang="ko-KR" altLang="en-US" sz="1050" b="0" dirty="0">
              <a:solidFill>
                <a:srgbClr val="606060"/>
              </a:solidFill>
              <a:latin typeface="Malgun Gothic"/>
              <a:ea typeface="Malgun Gothic"/>
              <a:cs typeface="Malgun Gothic"/>
            </a:endParaRPr>
          </a:p>
        </p:txBody>
      </p:sp>
      <p:sp>
        <p:nvSpPr>
          <p:cNvPr id="9" name="fit:54c399d02d260193 10"/>
          <p:cNvSpPr/>
          <p:nvPr/>
        </p:nvSpPr>
        <p:spPr>
          <a:xfrm>
            <a:off x="612648" y="1636776"/>
            <a:ext cx="10972800" cy="310896"/>
          </a:xfrm>
          <a:prstGeom prst="rect">
            <a:avLst/>
          </a:prstGeom>
          <a:noFill/>
          <a:ln w="0">
            <a:noFill/>
          </a:ln>
        </p:spPr>
        <p:txBody>
          <a:bodyPr wrap="square" lIns="0" tIns="0" rIns="0" bIns="0" anchor="t">
            <a:noAutofit/>
          </a:bodyPr>
          <a:lstStyle/>
          <a:p>
            <a:pPr algn="l" eaLnBrk="0" latinLnBrk="0">
              <a:lnSpc>
                <a:spcPct val="105000"/>
              </a:lnSpc>
              <a:buNone/>
            </a:pPr>
            <a:r>
              <a:rPr lang="ko-KR" altLang="en-US" sz="1800" b="0" dirty="0">
                <a:solidFill>
                  <a:srgbClr val="171717"/>
                </a:solidFill>
                <a:latin typeface="Malgun Gothic"/>
                <a:ea typeface="Malgun Gothic"/>
                <a:cs typeface="Malgun Gothic"/>
              </a:rPr>
              <a:t>같은 알고리즘을 두 언어로 쓸 때 자주 바뀌는 부분입니다.</a:t>
            </a:r>
          </a:p>
        </p:txBody>
      </p:sp>
      <p:graphicFrame>
        <p:nvGraphicFramePr>
          <p:cNvPr id="10" name="표 11"/>
          <p:cNvGraphicFramePr>
            <a:graphicFrameLocks noGrp="1"/>
          </p:cNvGraphicFramePr>
          <p:nvPr>
            <p:extLst>
              <p:ext uri="{D42A27DB-BD31-4B8C-83A1-F6EECF244321}">
                <p14:modId xmlns:p14="http://schemas.microsoft.com/office/powerpoint/2010/main" val="814755247"/>
              </p:ext>
            </p:extLst>
          </p:nvPr>
        </p:nvGraphicFramePr>
        <p:xfrm>
          <a:off x="612648" y="2075688"/>
          <a:ext cx="10972800" cy="2798064"/>
        </p:xfrm>
        <a:graphic>
          <a:graphicData uri="http://schemas.openxmlformats.org/drawingml/2006/table">
            <a:tbl>
              <a:tblPr/>
              <a:tblGrid>
                <a:gridCol w="2103120">
                  <a:extLst>
                    <a:ext uri="{9D8B030D-6E8A-4147-A177-3AD203B41FA5}">
                      <a16:colId xmlns:a16="http://schemas.microsoft.com/office/drawing/2014/main" val="20000"/>
                    </a:ext>
                  </a:extLst>
                </a:gridCol>
                <a:gridCol w="4389120">
                  <a:extLst>
                    <a:ext uri="{9D8B030D-6E8A-4147-A177-3AD203B41FA5}">
                      <a16:colId xmlns:a16="http://schemas.microsoft.com/office/drawing/2014/main" val="20001"/>
                    </a:ext>
                  </a:extLst>
                </a:gridCol>
                <a:gridCol w="4480560">
                  <a:extLst>
                    <a:ext uri="{9D8B030D-6E8A-4147-A177-3AD203B41FA5}">
                      <a16:colId xmlns:a16="http://schemas.microsoft.com/office/drawing/2014/main" val="20002"/>
                    </a:ext>
                  </a:extLst>
                </a:gridCol>
              </a:tblGrid>
              <a:tr h="310896">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하는 일</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Python</a:t>
                      </a:r>
                    </a:p>
                  </a:txBody>
                  <a:tcPr marL="54864" marR="54864" marT="18288" marB="18288" anchor="ctr">
                    <a:solidFill>
                      <a:srgbClr val="151515"/>
                    </a:solidFill>
                  </a:tcPr>
                </a:tc>
                <a:tc>
                  <a:txBody>
                    <a:bodyPr/>
                    <a:lstStyle/>
                    <a:p>
                      <a:pPr algn="ctr" eaLnBrk="0" latinLnBrk="0">
                        <a:lnSpc>
                          <a:spcPct val="100000"/>
                        </a:lnSpc>
                        <a:buNone/>
                      </a:pPr>
                      <a:r>
                        <a:rPr lang="ko-KR" altLang="en-US" sz="1400" b="1" dirty="0">
                          <a:solidFill>
                            <a:srgbClr val="FFFFFF"/>
                          </a:solidFill>
                          <a:latin typeface="Malgun Gothic"/>
                          <a:ea typeface="Malgun Gothic"/>
                          <a:cs typeface="Malgun Gothic"/>
                        </a:rPr>
                        <a:t>C</a:t>
                      </a:r>
                    </a:p>
                  </a:txBody>
                  <a:tcPr marL="54864" marR="54864" marT="18288" marB="18288" anchor="ctr">
                    <a:solidFill>
                      <a:srgbClr val="151515"/>
                    </a:solidFill>
                  </a:tcPr>
                </a:tc>
                <a:extLst>
                  <a:ext uri="{0D108BD9-81ED-4DB2-BD59-A6C34878D82A}">
                    <a16:rowId xmlns:a16="http://schemas.microsoft.com/office/drawing/2014/main" val="10000"/>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정렬</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list.sort(key=…, reverse=True)</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qsort(배열, 개수, 크기, 비교 함수)</a:t>
                      </a:r>
                    </a:p>
                  </a:txBody>
                  <a:tcPr marL="54864" marR="54864" marT="18288" marB="18288" anchor="ctr">
                    <a:solidFill>
                      <a:srgbClr val="FFFFFF"/>
                    </a:solidFill>
                  </a:tcPr>
                </a:tc>
                <a:extLst>
                  <a:ext uri="{0D108BD9-81ED-4DB2-BD59-A6C34878D82A}">
                    <a16:rowId xmlns:a16="http://schemas.microsoft.com/office/drawing/2014/main" val="10001"/>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큰 것부터 보기</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coins.reverse()</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for (i = N - 1; i &gt;= 0; i--)</a:t>
                      </a:r>
                    </a:p>
                  </a:txBody>
                  <a:tcPr marL="54864" marR="54864" marT="18288" marB="18288" anchor="ctr">
                    <a:solidFill>
                      <a:srgbClr val="FFFFFF"/>
                    </a:solidFill>
                  </a:tcPr>
                </a:tc>
                <a:extLst>
                  <a:ext uri="{0D108BD9-81ED-4DB2-BD59-A6C34878D82A}">
                    <a16:rowId xmlns:a16="http://schemas.microsoft.com/office/drawing/2014/main" val="10002"/>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무한대</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float("inf"), float("-inf")</a:t>
                      </a:r>
                    </a:p>
                  </a:txBody>
                  <a:tcPr marL="54864" marR="54864" marT="18288" marB="18288" anchor="ctr">
                    <a:solidFill>
                      <a:srgbClr val="FFFFFF"/>
                    </a:solidFill>
                  </a:tcPr>
                </a:tc>
                <a:tc>
                  <a:txBody>
                    <a:bodyPr/>
                    <a:lstStyle/>
                    <a:p>
                      <a:pPr algn="ctr" eaLnBrk="0" latinLnBrk="0">
                        <a:lnSpc>
                          <a:spcPct val="100000"/>
                        </a:lnSpc>
                        <a:buNone/>
                      </a:pPr>
                      <a:r>
                        <a:rPr lang="en-US" altLang="ko-KR" sz="1400" b="0">
                          <a:solidFill>
                            <a:srgbClr val="151515"/>
                          </a:solidFill>
                          <a:latin typeface="Malgun Gothic"/>
                          <a:ea typeface="Malgun Gothic"/>
                          <a:cs typeface="Malgun Gothic"/>
                        </a:rPr>
                        <a:t>long long, INF = 10¹⁸</a:t>
                      </a:r>
                      <a:endParaRPr lang="ko-KR" altLang="en-US" sz="1400" b="0" dirty="0">
                        <a:solidFill>
                          <a:srgbClr val="151515"/>
                        </a:solidFill>
                        <a:latin typeface="Malgun Gothic"/>
                        <a:ea typeface="Malgun Gothic"/>
                        <a:cs typeface="Malgun Gothic"/>
                      </a:endParaRPr>
                    </a:p>
                  </a:txBody>
                  <a:tcPr marL="54864" marR="54864" marT="18288" marB="18288" anchor="ctr">
                    <a:solidFill>
                      <a:srgbClr val="FFFFFF"/>
                    </a:solidFill>
                  </a:tcPr>
                </a:tc>
                <a:extLst>
                  <a:ext uri="{0D108BD9-81ED-4DB2-BD59-A6C34878D82A}">
                    <a16:rowId xmlns:a16="http://schemas.microsoft.com/office/drawing/2014/main" val="10003"/>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최솟값 꺼내기</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heapq.heappush / heappop</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배열을 훑어 최소 찾기 O(V)</a:t>
                      </a:r>
                    </a:p>
                  </a:txBody>
                  <a:tcPr marL="54864" marR="54864" marT="18288" marB="18288" anchor="ctr">
                    <a:solidFill>
                      <a:srgbClr val="FFFFFF"/>
                    </a:solidFill>
                  </a:tcPr>
                </a:tc>
                <a:extLst>
                  <a:ext uri="{0D108BD9-81ED-4DB2-BD59-A6C34878D82A}">
                    <a16:rowId xmlns:a16="http://schemas.microsoft.com/office/drawing/2014/main" val="10004"/>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묶음 자료</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class Item, 튜플 (w, u, v)</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typedef struct { … } Item;</a:t>
                      </a:r>
                    </a:p>
                  </a:txBody>
                  <a:tcPr marL="54864" marR="54864" marT="18288" marB="18288" anchor="ctr">
                    <a:solidFill>
                      <a:srgbClr val="FFFFFF"/>
                    </a:solidFill>
                  </a:tcPr>
                </a:tc>
                <a:extLst>
                  <a:ext uri="{0D108BD9-81ED-4DB2-BD59-A6C34878D82A}">
                    <a16:rowId xmlns:a16="http://schemas.microsoft.com/office/drawing/2014/main" val="10005"/>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그래프(다익스트라)</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딕셔너리 {정점: {이웃: 비용}}</a:t>
                      </a:r>
                    </a:p>
                  </a:txBody>
                  <a:tcPr marL="54864" marR="54864" marT="18288" marB="18288" anchor="ctr">
                    <a:solidFill>
                      <a:srgbClr val="FFFFFF"/>
                    </a:solidFill>
                  </a:tcPr>
                </a:tc>
                <a:tc>
                  <a:txBody>
                    <a:bodyPr/>
                    <a:lstStyle/>
                    <a:p>
                      <a:pPr algn="ctr" eaLnBrk="0" latinLnBrk="0">
                        <a:lnSpc>
                          <a:spcPct val="100000"/>
                        </a:lnSpc>
                        <a:buNone/>
                      </a:pPr>
                      <a:r>
                        <a:rPr lang="en-US" altLang="ko-KR" sz="1400" b="0">
                          <a:solidFill>
                            <a:srgbClr val="151515"/>
                          </a:solidFill>
                          <a:latin typeface="Malgun Gothic"/>
                          <a:ea typeface="Malgun Gothic"/>
                          <a:cs typeface="Malgun Gothic"/>
                        </a:rPr>
                        <a:t>graph[u][v], -1 = </a:t>
                      </a:r>
                      <a:r>
                        <a:rPr lang="ko-KR" altLang="en-US" sz="1400" b="0">
                          <a:solidFill>
                            <a:srgbClr val="151515"/>
                          </a:solidFill>
                          <a:latin typeface="Malgun Gothic"/>
                          <a:ea typeface="Malgun Gothic"/>
                          <a:cs typeface="Malgun Gothic"/>
                        </a:rPr>
                        <a:t>없음</a:t>
                      </a:r>
                      <a:r>
                        <a:rPr lang="en-US" altLang="ko-KR" sz="1400" b="0">
                          <a:solidFill>
                            <a:srgbClr val="151515"/>
                          </a:solidFill>
                          <a:latin typeface="Malgun Gothic"/>
                          <a:ea typeface="Malgun Gothic"/>
                          <a:cs typeface="Malgun Gothic"/>
                        </a:rPr>
                        <a:t>, 0 = </a:t>
                      </a:r>
                      <a:r>
                        <a:rPr lang="ko-KR" altLang="en-US" sz="1400" b="0">
                          <a:solidFill>
                            <a:srgbClr val="151515"/>
                          </a:solidFill>
                          <a:latin typeface="Malgun Gothic"/>
                          <a:ea typeface="Malgun Gothic"/>
                          <a:cs typeface="Malgun Gothic"/>
                        </a:rPr>
                        <a:t>유효</a:t>
                      </a:r>
                      <a:endParaRPr lang="ko-KR" altLang="en-US" sz="1400" b="0" dirty="0">
                        <a:solidFill>
                          <a:srgbClr val="151515"/>
                        </a:solidFill>
                        <a:latin typeface="Malgun Gothic"/>
                        <a:ea typeface="Malgun Gothic"/>
                        <a:cs typeface="Malgun Gothic"/>
                      </a:endParaRPr>
                    </a:p>
                  </a:txBody>
                  <a:tcPr marL="54864" marR="54864" marT="18288" marB="18288" anchor="ctr">
                    <a:solidFill>
                      <a:srgbClr val="FFFFFF"/>
                    </a:solidFill>
                  </a:tcPr>
                </a:tc>
                <a:extLst>
                  <a:ext uri="{0D108BD9-81ED-4DB2-BD59-A6C34878D82A}">
                    <a16:rowId xmlns:a16="http://schemas.microsoft.com/office/drawing/2014/main" val="10006"/>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입력</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sys.stdin.readline().split()</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scanf("%d %d", &amp;N, &amp;K)</a:t>
                      </a:r>
                    </a:p>
                  </a:txBody>
                  <a:tcPr marL="54864" marR="54864" marT="18288" marB="18288" anchor="ctr">
                    <a:solidFill>
                      <a:srgbClr val="FFFFFF"/>
                    </a:solidFill>
                  </a:tcPr>
                </a:tc>
                <a:extLst>
                  <a:ext uri="{0D108BD9-81ED-4DB2-BD59-A6C34878D82A}">
                    <a16:rowId xmlns:a16="http://schemas.microsoft.com/office/drawing/2014/main" val="10007"/>
                  </a:ext>
                </a:extLst>
              </a:tr>
              <a:tr h="310896">
                <a:tc>
                  <a:txBody>
                    <a:bodyPr/>
                    <a:lstStyle/>
                    <a:p>
                      <a:pPr algn="ctr" eaLnBrk="0" latinLnBrk="0">
                        <a:lnSpc>
                          <a:spcPct val="100000"/>
                        </a:lnSpc>
                        <a:buNone/>
                      </a:pPr>
                      <a:r>
                        <a:rPr lang="ko-KR" altLang="en-US" sz="1400" b="1" dirty="0">
                          <a:solidFill>
                            <a:srgbClr val="151515"/>
                          </a:solidFill>
                          <a:latin typeface="Malgun Gothic"/>
                          <a:ea typeface="Malgun Gothic"/>
                          <a:cs typeface="Malgun Gothic"/>
                        </a:rPr>
                        <a:t>몫 · 나머지</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K // coin, K % coin</a:t>
                      </a:r>
                    </a:p>
                  </a:txBody>
                  <a:tcPr marL="54864" marR="54864" marT="18288" marB="18288" anchor="ctr">
                    <a:solidFill>
                      <a:srgbClr val="FFFFFF"/>
                    </a:solidFill>
                  </a:tcPr>
                </a:tc>
                <a:tc>
                  <a:txBody>
                    <a:bodyPr/>
                    <a:lstStyle/>
                    <a:p>
                      <a:pPr algn="ctr" eaLnBrk="0" latinLnBrk="0">
                        <a:lnSpc>
                          <a:spcPct val="100000"/>
                        </a:lnSpc>
                        <a:buNone/>
                      </a:pPr>
                      <a:r>
                        <a:rPr lang="ko-KR" altLang="en-US" sz="1400" b="0" dirty="0">
                          <a:solidFill>
                            <a:srgbClr val="151515"/>
                          </a:solidFill>
                          <a:latin typeface="Malgun Gothic"/>
                          <a:ea typeface="Malgun Gothic"/>
                          <a:cs typeface="Malgun Gothic"/>
                        </a:rPr>
                        <a:t>K / coins[i], K % coins[i]</a:t>
                      </a:r>
                    </a:p>
                  </a:txBody>
                  <a:tcPr marL="54864" marR="54864" marT="18288" marB="18288" anchor="ctr">
                    <a:solidFill>
                      <a:srgbClr val="FFFFFF"/>
                    </a:solidFill>
                  </a:tcPr>
                </a:tc>
                <a:extLst>
                  <a:ext uri="{0D108BD9-81ED-4DB2-BD59-A6C34878D82A}">
                    <a16:rowId xmlns:a16="http://schemas.microsoft.com/office/drawing/2014/main" val="10008"/>
                  </a:ext>
                </a:extLst>
              </a:tr>
            </a:tbl>
          </a:graphicData>
        </a:graphic>
      </p:graphicFrame>
      <p:sp>
        <p:nvSpPr>
          <p:cNvPr id="11" name="fit:567673dede0672fb 12"/>
          <p:cNvSpPr/>
          <p:nvPr/>
        </p:nvSpPr>
        <p:spPr>
          <a:xfrm>
            <a:off x="612648" y="5020056"/>
            <a:ext cx="10972800" cy="539496"/>
          </a:xfrm>
          <a:prstGeom prst="rect">
            <a:avLst/>
          </a:prstGeom>
          <a:noFill/>
          <a:ln w="0">
            <a:noFill/>
          </a:ln>
        </p:spPr>
        <p:txBody>
          <a:bodyPr wrap="square" lIns="0" tIns="0" rIns="0" bIns="0" anchor="t">
            <a:noAutofit/>
          </a:bodyPr>
          <a:lstStyle/>
          <a:p>
            <a:pPr algn="l" eaLnBrk="0" latinLnBrk="0">
              <a:lnSpc>
                <a:spcPct val="100000"/>
              </a:lnSpc>
              <a:buNone/>
            </a:pPr>
            <a:r>
              <a:rPr lang="ko-KR" altLang="en-US" sz="1650" b="0" dirty="0">
                <a:solidFill>
                  <a:srgbClr val="3F3F3F"/>
                </a:solidFill>
                <a:latin typeface="Malgun Gothic"/>
                <a:ea typeface="Malgun Gothic"/>
                <a:cs typeface="Malgun Gothic"/>
              </a:rPr>
              <a:t>비교 함수는 a가 b보다 앞에 와야 하면 음수, 같으면 0, 뒤에 와야 하면 양수를 돌려줍니다. 오름차순이면 앞이 작을 때 음수입니다(배낭의 by_ratio는 반대).</a:t>
            </a:r>
          </a:p>
        </p:txBody>
      </p:sp>
      <p:sp>
        <p:nvSpPr>
          <p:cNvPr id="12" name="fit:ba639ba1a8aa054c 13"/>
          <p:cNvSpPr/>
          <p:nvPr/>
        </p:nvSpPr>
        <p:spPr>
          <a:xfrm>
            <a:off x="612648" y="5669280"/>
            <a:ext cx="10972800" cy="292608"/>
          </a:xfrm>
          <a:prstGeom prst="rect">
            <a:avLst/>
          </a:prstGeom>
          <a:noFill/>
          <a:ln w="0">
            <a:noFill/>
          </a:ln>
        </p:spPr>
        <p:txBody>
          <a:bodyPr wrap="square" lIns="0" tIns="0" rIns="0" bIns="0" anchor="t">
            <a:noAutofit/>
          </a:bodyPr>
          <a:lstStyle/>
          <a:p>
            <a:pPr algn="l" eaLnBrk="0" latinLnBrk="0">
              <a:lnSpc>
                <a:spcPct val="100000"/>
              </a:lnSpc>
              <a:buNone/>
            </a:pPr>
            <a:r>
              <a:rPr lang="en-US" altLang="ko-KR" sz="1650" b="0">
                <a:solidFill>
                  <a:srgbClr val="3F3F3F"/>
                </a:solidFill>
                <a:latin typeface="Malgun Gothic"/>
                <a:ea typeface="Malgun Gothic"/>
                <a:cs typeface="Malgun Gothic"/>
              </a:rPr>
              <a:t>INF</a:t>
            </a:r>
            <a:r>
              <a:rPr lang="ko-KR" altLang="en-US" sz="1650" b="0">
                <a:solidFill>
                  <a:srgbClr val="3F3F3F"/>
                </a:solidFill>
                <a:latin typeface="Malgun Gothic"/>
                <a:ea typeface="Malgun Gothic"/>
                <a:cs typeface="Malgun Gothic"/>
              </a:rPr>
              <a:t>는 큰 정수입니다</a:t>
            </a:r>
            <a:r>
              <a:rPr lang="en-US" altLang="ko-KR" sz="1650" b="0">
                <a:solidFill>
                  <a:srgbClr val="3F3F3F"/>
                </a:solidFill>
                <a:latin typeface="Malgun Gothic"/>
                <a:ea typeface="Malgun Gothic"/>
                <a:cs typeface="Malgun Gothic"/>
              </a:rPr>
              <a:t>. </a:t>
            </a:r>
            <a:r>
              <a:rPr lang="ko-KR" altLang="en-US" sz="1650" b="0">
                <a:solidFill>
                  <a:srgbClr val="3F3F3F"/>
                </a:solidFill>
                <a:latin typeface="Malgun Gothic"/>
                <a:ea typeface="Malgun Gothic"/>
                <a:cs typeface="Malgun Gothic"/>
              </a:rPr>
              <a:t>더하기 전에 도달 여부와 자료형 범위를 확인합니다</a:t>
            </a:r>
            <a:r>
              <a:rPr lang="en-US" altLang="ko-KR" sz="1650" b="0">
                <a:solidFill>
                  <a:srgbClr val="3F3F3F"/>
                </a:solidFill>
                <a:latin typeface="Malgun Gothic"/>
                <a:ea typeface="Malgun Gothic"/>
                <a:cs typeface="Malgun Gothic"/>
              </a:rPr>
              <a:t>.</a:t>
            </a:r>
            <a:endParaRPr lang="ko-KR" altLang="en-US" sz="1650" b="0" dirty="0">
              <a:solidFill>
                <a:srgbClr val="3F3F3F"/>
              </a:solidFill>
              <a:latin typeface="Malgun Gothic"/>
              <a:ea typeface="Malgun Gothic"/>
              <a:cs typeface="Malgun Gothic"/>
            </a:endParaRP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14274</Words>
  <Application>Microsoft Office PowerPoint</Application>
  <DocSecurity>0</DocSecurity>
  <PresentationFormat>와이드스크린</PresentationFormat>
  <Paragraphs>2054</Paragraphs>
  <Slides>69</Slides>
  <Notes>69</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69</vt:i4>
      </vt:variant>
    </vt:vector>
  </HeadingPairs>
  <TitlesOfParts>
    <vt:vector size="74" baseType="lpstr">
      <vt:lpstr>Malgun Gothic</vt:lpstr>
      <vt:lpstr>Arial</vt:lpstr>
      <vt:lpstr>Calibri</vt:lpstr>
      <vt:lpstr>Consolas</vt:lpstr>
      <vt:lpstr>Office Theme</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5장 그리디 알고리즘</dc:title>
  <dc:creator>Walnut Exporter</dc:creator>
  <cp:lastModifiedBy>상돈 박</cp:lastModifiedBy>
  <cp:revision>18</cp:revision>
  <dcterms:created xsi:type="dcterms:W3CDTF">2026-09-19T13:48:20Z</dcterms:created>
  <dcterms:modified xsi:type="dcterms:W3CDTF">2026-10-18T01:32:17Z</dcterms:modified>
</cp:coreProperties>
</file>