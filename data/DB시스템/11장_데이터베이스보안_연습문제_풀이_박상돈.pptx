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50292" cy="514350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4" name="Image 0" descr="/home/claude/icon_shiel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1430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789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9808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보안 연습문제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86384" y="2487168"/>
            <a:ext cx="2103120" cy="0"/>
          </a:xfrm>
          <a:prstGeom prst="line">
            <a:avLst/>
          </a:prstGeom>
          <a:noFill/>
          <a:ln w="31750">
            <a:solidFill>
              <a:srgbClr val="3FA7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정답  형식  ·  GRANT · REVOKE · ROLE  ·  권한 전파(CASCADE)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개론  ·  IT CookBook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18120" y="4069080"/>
            <a:ext cx="274320" cy="274320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11" name="Shape 8"/>
          <p:cNvSpPr/>
          <p:nvPr/>
        </p:nvSpPr>
        <p:spPr>
          <a:xfrm>
            <a:off x="7479792" y="434340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7918704" y="4443984"/>
            <a:ext cx="274320" cy="274320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11장 한눈에 보기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보안과 권한 관리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755648" cy="960120"/>
          </a:xfrm>
          <a:prstGeom prst="roundRect">
            <a:avLst>
              <a:gd name="adj" fmla="val 7619"/>
            </a:avLst>
          </a:prstGeom>
          <a:solidFill>
            <a:srgbClr val="8AA0B2"/>
          </a:solidFill>
          <a:ln/>
          <a:effectLst>
            <a:outerShdw sx="100000" sy="100000" kx="0" ky="0" algn="bl" rotWithShape="0" blurRad="76200" dist="25400" dir="8100000">
              <a:srgbClr val="22384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41732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vs 무결성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04288" y="1417320"/>
            <a:ext cx="420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06624" y="1417320"/>
            <a:ext cx="1755648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22384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06624" y="141732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3984" y="1417320"/>
            <a:ext cx="420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755648" cy="960120"/>
          </a:xfrm>
          <a:prstGeom prst="roundRect">
            <a:avLst>
              <a:gd name="adj" fmla="val 7619"/>
            </a:avLst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22384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41732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REVOKE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취소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417320"/>
            <a:ext cx="420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86016" y="1417320"/>
            <a:ext cx="1755648" cy="960120"/>
          </a:xfrm>
          <a:prstGeom prst="roundRect">
            <a:avLst>
              <a:gd name="adj" fmla="val 7619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8100000">
              <a:srgbClr val="22384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86016" y="141732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관리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25146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없는 사용자로부터 보호 = 보안     /     권한 있는 사용자로부터 정확성 보호 = 무결성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8074152" cy="1664208"/>
          </a:xfrm>
          <a:prstGeom prst="roundRect">
            <a:avLst>
              <a:gd name="adj" fmla="val 4396"/>
            </a:avLst>
          </a:prstGeom>
          <a:solidFill>
            <a:srgbClr val="E8F2F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163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SQL 구문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54787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권한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객체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</a:t>
            </a:r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[WITH GRANT OPTION] ;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권한 부여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91363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권한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객체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</a:t>
            </a:r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[CASCADE | RESTRICT] ;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권한 취소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27939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 ; </a:t>
            </a:r>
            <a:pPr indent="0" marL="0">
              <a:buNone/>
            </a:pPr>
            <a:r>
              <a:rPr lang="en-US" sz="1200" dirty="0">
                <a:solidFill>
                  <a:srgbClr val="8A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; </a:t>
            </a:r>
            <a:pPr indent="0" marL="0">
              <a:buNone/>
            </a:pPr>
            <a:r>
              <a:rPr lang="en-US" sz="1200" dirty="0">
                <a:solidFill>
                  <a:srgbClr val="8A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ROLE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 ;</a:t>
            </a:r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역할 관리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502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788920" y="1783080"/>
            <a:ext cx="0" cy="960120"/>
          </a:xfrm>
          <a:prstGeom prst="line">
            <a:avLst/>
          </a:prstGeom>
          <a:noFill/>
          <a:ln w="31750">
            <a:solidFill>
              <a:srgbClr val="3FA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개념 · 권한 명령어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81528" y="2432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Privileges  ·  Q1–Q5</a:t>
            </a:r>
            <a:endParaRPr lang="en-US" sz="1600" dirty="0"/>
          </a:p>
        </p:txBody>
      </p:sp>
      <p:pic>
        <p:nvPicPr>
          <p:cNvPr id="8" name="Image 0" descr="/home/claude/icon_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868680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4023360"/>
            <a:ext cx="274320" cy="274320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10" name="Shape 7"/>
          <p:cNvSpPr/>
          <p:nvPr/>
        </p:nvSpPr>
        <p:spPr>
          <a:xfrm>
            <a:off x="7434072" y="42976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7872984" y="4398264"/>
            <a:ext cx="274320" cy="274320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개념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보안과 무결성 / 보안 설명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630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설명의 Ⓐ와 Ⓑ의 내용이 올바르게 짝지어진 것은?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180136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</a:t>
            </a:r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권한이 없는 사용자가 DB에 접근할 수 없도록 보호하는 것이고,  </a:t>
            </a:r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 </a:t>
            </a:r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정확성 유지를 위해 권한 있는 사용자로부터 DB를 보호하는 것이다.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8952" y="2130552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Ⓐ보안, Ⓑ병행 제어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Ⓐ보안, Ⓑ무결성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Ⓐ무결성, Ⓑ병행 제어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Ⓐ무결성, Ⓑ보안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07415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52928"/>
            <a:ext cx="68580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92608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보안에 대한 설명으로 옳지 않은 것은?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8952" y="335584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불법적 접근으로부터 DB 보호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사용자마다 다양한 권한 부여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권한 부여는 DBMS 자체가 담당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일부 속성만 권한 부여 가능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개념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보안과 무결성 / 보안 설명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49961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630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설명의 Ⓐ와 Ⓑ의 내용이 올바르게 짝지어진 것은?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180136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</a:t>
            </a:r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권한이 없는 사용자가 DB에 접근할 수 없도록 보호하는 것이고,  </a:t>
            </a:r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 </a:t>
            </a:r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정확성 유지를 위해 권한 있는 사용자로부터 DB를 보호하는 것이다.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8952" y="2130552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Ⓐ보안, Ⓑ병행 제어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Ⓐ보안, Ⓑ무결성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Ⓐ무결성, Ⓑ병행 제어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Ⓐ무결성, Ⓑ보안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" y="25420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542032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84248" y="2523744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보안=권한 없는 사용자로부터 보호 · 무결성=권한 있는 사용자로부터 정확성 보호.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8074152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18688"/>
            <a:ext cx="68580" cy="149961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2918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보안에 대한 설명으로 옳지 않은 것은?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372160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불법적 접근으로부터 DB 보호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사용자마다 다양한 권한 부여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권한 부여는 DBMS 자체가 담당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일부 속성만 권한 부여 가능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" y="41605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160520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84248" y="4142232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 대한 권한 부여·취소는 DBMS가 아니라 관리자(DBA)가 담당한다 → ③이 틀림.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명령어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 · 취소 · 재부여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객체에 대한 사용 권한을 부여하는 SQL 명령어는?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1801368"/>
            <a:ext cx="7525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REVOKE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GRANT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ROLE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340864"/>
            <a:ext cx="807415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404872"/>
            <a:ext cx="6858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459736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부여된 객체의 사용 권한을 취소하는 SQL 명령어는?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2816352"/>
            <a:ext cx="7525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REVOKE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GRANT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ROLE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346704"/>
            <a:ext cx="807415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10712"/>
            <a:ext cx="6858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465576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사용자가 다른 사용자에게도 권한을 부여하려면 필요한 옵션은?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3822192"/>
            <a:ext cx="7525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WITH REVOKE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WITH CREATE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WITH GRANT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WITH ROLE OPTION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명령어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 · 취소 · 재부여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89611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객체에 대한 사용 권한을 부여하는 SQL 명령어는?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1801368"/>
            <a:ext cx="665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REVOKE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GRANT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ROLE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807415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551176"/>
            <a:ext cx="68580" cy="89611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60604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부여된 객체의 사용 권한을 취소하는 SQL 명령어는?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2962656"/>
            <a:ext cx="665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CREATE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REVOKE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GRANT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ROLE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648456"/>
            <a:ext cx="807415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12464"/>
            <a:ext cx="68580" cy="89611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767328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사용자가 다른 사용자에게도 권한을 부여하려면 필요한 옵션은?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4123944"/>
            <a:ext cx="665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WITH REVOKE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WITH CREATE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WITH GRANT OPTION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WITH ROLE OPTION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42632" y="14356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7342632" y="143560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42632" y="25968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42632" y="25968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42632" y="375818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7342632" y="37581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502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788920" y="1783080"/>
            <a:ext cx="0" cy="960120"/>
          </a:xfrm>
          <a:prstGeom prst="line">
            <a:avLst/>
          </a:prstGeom>
          <a:noFill/>
          <a:ln w="31750">
            <a:solidFill>
              <a:srgbClr val="3FA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역할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81528" y="2432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Option &amp; Roles  ·  Q6–Q9</a:t>
            </a:r>
            <a:endParaRPr lang="en-US" sz="1600" dirty="0"/>
          </a:p>
        </p:txBody>
      </p:sp>
      <p:pic>
        <p:nvPicPr>
          <p:cNvPr id="8" name="Image 0" descr="/home/claude/icon_user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868680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4023360"/>
            <a:ext cx="274320" cy="274320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10" name="Shape 7"/>
          <p:cNvSpPr/>
          <p:nvPr/>
        </p:nvSpPr>
        <p:spPr>
          <a:xfrm>
            <a:off x="7434072" y="42976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7872984" y="4398264"/>
            <a:ext cx="274320" cy="274320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회수(CASCADE)의 결과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98448"/>
            <a:ext cx="8074152" cy="1078992"/>
          </a:xfrm>
          <a:prstGeom prst="roundRect">
            <a:avLst>
              <a:gd name="adj" fmla="val 5932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8988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DBA&gt;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STUDENT TO U1 </a:t>
            </a:r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700784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U1&gt;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STUDENT TO U2;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DBA&gt;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SELECT ON STUDENT FROM U1 </a:t>
            </a:r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80741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24328"/>
            <a:ext cx="68580" cy="1289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67919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3개 명령문을 순서대로 수행한 결과로 옳지 않은 것은?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301752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DBA는 STUDENT 검색 권한이 있다.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U1은 STUDENT 검색 권한이 없다.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U2는 검색 권한을 다른 사용자에게 부여할 수 없다.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U2는 STUDENT 검색 권한이 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회수(CASCADE)의 결과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98448"/>
            <a:ext cx="8074152" cy="1078992"/>
          </a:xfrm>
          <a:prstGeom prst="roundRect">
            <a:avLst>
              <a:gd name="adj" fmla="val 5932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8988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DBA&gt;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STUDENT TO U1 </a:t>
            </a:r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700784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U1&gt;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STUDENT TO U2;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DBA&gt;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SELECT ON STUDENT FROM U1 </a:t>
            </a:r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8074152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24328"/>
            <a:ext cx="68580" cy="18653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67919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3개 명령문을 순서대로 수행한 결과로 옳지 않은 것은?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30175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DBA는 STUDENT 검색 권한이 있다.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U1은 STUDENT 검색 권한이 없다.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U2는 검색 권한을 다른 사용자에게 부여할 수 없다.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U2는 STUDENT 검색 권한이 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004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3483864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779008" y="303580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7DED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004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31152" y="30540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23760" y="3483864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059168" y="303580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8952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7DED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2004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30540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58952" y="413308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" y="4133088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84248" y="4114800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 회수로 U1→U2 권한이 함께 취소된다. U2도 검색 권한이 없으므로 ④가 틀림.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GRANT OPTION 으로 가능한 일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98448"/>
            <a:ext cx="8074152" cy="566928"/>
          </a:xfrm>
          <a:prstGeom prst="roundRect">
            <a:avLst>
              <a:gd name="adj" fmla="val 11290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98448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Hong&gt; </a:t>
            </a:r>
            <a:pPr indent="0" marL="0">
              <a:buNone/>
            </a:pPr>
            <a:r>
              <a:rPr lang="en-US" sz="1250" b="1" dirty="0">
                <a:solidFill>
                  <a:srgbClr val="A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제품 ... ;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제품 TO Kim </a:t>
            </a:r>
            <a:pPr indent="0" marL="0"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8074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93976"/>
            <a:ext cx="68580" cy="17465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148840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상황에서 다음 중 옳지 않은 것은?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" y="2487168"/>
            <a:ext cx="7571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Kim은 제품의 기본키를 외래키로 참조하는 배송 테이블을 생성할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Kim은 제품 테이블에 대한 검색용 뷰를 생성할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Hong은 추가로 “GRANT UPDATE ON 제품 TO Kim”을 실행할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Kim은 “GRANT SELECT ON 제품 TO Park”을 실행할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GRANT OPTION 으로 가능한 일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298448"/>
            <a:ext cx="8074152" cy="566928"/>
          </a:xfrm>
          <a:prstGeom prst="roundRect">
            <a:avLst>
              <a:gd name="adj" fmla="val 11290"/>
            </a:avLst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98448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Hong&gt; </a:t>
            </a:r>
            <a:pPr indent="0" marL="0">
              <a:buNone/>
            </a:pPr>
            <a:r>
              <a:rPr lang="en-US" sz="1250" b="1" dirty="0">
                <a:solidFill>
                  <a:srgbClr val="A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제품 ... ;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제품 TO Kim </a:t>
            </a:r>
            <a:pPr indent="0" marL="0">
              <a:buNone/>
            </a:pPr>
            <a:r>
              <a:rPr lang="en-US" sz="12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8074152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93976"/>
            <a:ext cx="68580" cy="226771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148840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상황에서 다음 중 옳지 않은 것은?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" y="2487168"/>
            <a:ext cx="7571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Kim은 제품의 기본키를 외래키로 참조하는 배송 테이블을 생성할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Kim은 제품 테이블에 대한 검색용 뷰를 생성할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Hong은 추가로 “GRANT UPDATE ON 제품 TO Kim”을 실행할 수 있다.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Kim은 “GRANT SELECT ON 제품 TO Park”을 실행할 수 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" y="3968496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968496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84248" y="3950208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외래키 참조에는 REFERENCES 권한이 필요하다. Kim은 SELECT 권한만 받았으므로 배송 테이블 생성 불가 → ①이 틀림.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권한 회수(INSERT)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2435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63040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순서로 INSERT 권한을 모두 WITH GRANT OPTION과 함께 허가했다.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181051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A가 B의 INSERT 권한을 취소하면 C와 D의 권한은?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221284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 취소, D 유지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C·D 모두 유지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 유지, D 취소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C·D 연쇄 취소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34440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13432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148840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34056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13048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48456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33672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12664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148072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33288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D7EA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3886200"/>
            <a:ext cx="8074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→ B → C → D : INSERT 권한이 WITH GRANT OPTION으로 연쇄 부여된 상태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전파 · 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권한 회수(INSERT)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24358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63040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순서로 INSERT 권한을 모두 WITH GRANT OPTION과 함께 허가했다.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1810512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A가 B의 INSERT 권한을 취소하면 C와 D의 권한은?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2212848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 취소, D 유지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C·D 모두 유지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 유지, D 취소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C·D 연쇄 취소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34440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1A2744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13432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148840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34056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F7DED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29169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13048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48456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33672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F7DED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0056" y="29169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12664" y="3346704"/>
            <a:ext cx="420624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48072" y="2898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 OPT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33288" y="3063240"/>
            <a:ext cx="1078992" cy="566928"/>
          </a:xfrm>
          <a:prstGeom prst="roundRect">
            <a:avLst>
              <a:gd name="adj" fmla="val 12903"/>
            </a:avLst>
          </a:prstGeom>
          <a:solidFill>
            <a:srgbClr val="F7DED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3288" y="3063240"/>
            <a:ext cx="1078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19672" y="29169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05840" y="3977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977640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31136" y="3959352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회수는 연쇄(CASCADE)된다. B 취소 → B에서 받은 C, C에서 받은 D 권한이 모두 함께 취소된다.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 · 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사용하면 얻게 되는 장점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807415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81328"/>
            <a:ext cx="68580" cy="170078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0" descr="/home/claude/icon_key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731520" cy="731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74520" y="1828800"/>
            <a:ext cx="6336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역할(role)을 사용하면 어떤 장점이 있는지 설명하시오.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74520" y="2331720"/>
            <a:ext cx="6336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 여러 권한을 하나로 묶어 관리한다는 관점에서 ‘부여’와 ‘수정’ 두 측면을 생각해 보세요.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 · 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사용하면 얻게 되는 장점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38999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17320"/>
            <a:ext cx="3899916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62763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권한 부여의 단순화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8952" y="2194560"/>
            <a:ext cx="33969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부여하고 싶은 여러 권한을 미리 역할에 넣어두고, 필요할 때 그 역할만 부여하면 한 번에 여러 권한을 쉽게 줄 수 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77156" y="1417320"/>
            <a:ext cx="38999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7156" y="1417320"/>
            <a:ext cx="3899916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3188" y="162763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권한 수정의 단순화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33188" y="2194560"/>
            <a:ext cx="33969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역할에 권한이 추가·취소되는 변화가 생기면, 그 역할을 부여받은 모든 사용자에게 변화가 그대로 전달되어 권한 관리가 쉬워진다.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950208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 = 권한의 묶음 → 부여·수정을 한 번에 처리하여 권한 관리 비용을 크게 줄인다.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502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788920" y="1783080"/>
            <a:ext cx="0" cy="960120"/>
          </a:xfrm>
          <a:prstGeom prst="line">
            <a:avLst/>
          </a:prstGeom>
          <a:noFill/>
          <a:ln w="31750">
            <a:solidFill>
              <a:srgbClr val="3FA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실습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81528" y="2432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Security SQL  ·  Q10–Q15</a:t>
            </a:r>
            <a:endParaRPr lang="en-US" sz="1600" dirty="0"/>
          </a:p>
        </p:txBody>
      </p:sp>
      <p:pic>
        <p:nvPicPr>
          <p:cNvPr id="8" name="Image 0" descr="/home/claude/icon_key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868680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4023360"/>
            <a:ext cx="274320" cy="274320"/>
          </a:xfrm>
          <a:prstGeom prst="rect">
            <a:avLst/>
          </a:prstGeom>
          <a:solidFill>
            <a:srgbClr val="3FA7C9"/>
          </a:solidFill>
          <a:ln/>
        </p:spPr>
      </p:sp>
      <p:sp>
        <p:nvSpPr>
          <p:cNvPr id="10" name="Shape 7"/>
          <p:cNvSpPr/>
          <p:nvPr/>
        </p:nvSpPr>
        <p:spPr>
          <a:xfrm>
            <a:off x="7434072" y="4297680"/>
            <a:ext cx="384048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7872984" y="4398264"/>
            <a:ext cx="274320" cy="274320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GRANT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권한 부여 / PUBLIC 권한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Kim에게 테이블 생성 시스템 권한을 부여하고, 다른 사용자에게도 부여 가능하게 하는 빈칸은?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182880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182880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①____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③________________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44368"/>
            <a:ext cx="6858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99923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사용자에게 주문 테이블의 검색·수정·삽입 권한을 부여하는 SQL 문을 작성하시오.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3429000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모든 사용자 = PUBLIC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GRANT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권한 부여 / PUBLIC 권한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517904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3898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Kim에게 테이블 생성 시스템 권한을 부여하고, 다른 사용자에게도 부여 가능하게 하는 빈칸은?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1810512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1810512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GRANT OPTION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" y="2432304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table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grant option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8074152" cy="1517904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81528"/>
            <a:ext cx="68580" cy="13898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3639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사용자에게 주문 테이블의 검색·수정·삽입 권한을 부여하는 SQL 문을 작성하시오.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356616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356616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SELECT, UPDATE, INSERT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주문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REVOKE / 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회수 / 역할 생성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Kim의 사원 테이블 검색 권한과 Kim이 재부여한 권한까지 함께 취소하는 빈칸은?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182880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182880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①______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③____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 </a:t>
            </a:r>
            <a:pPr indent="0" marL="0">
              <a:buNone/>
            </a:pPr>
            <a:r>
              <a:rPr lang="en-US" sz="1400" b="1" dirty="0">
                <a:solidFill>
                  <a:srgbClr val="3FA7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④________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44368"/>
            <a:ext cx="6858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99923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이라는 이름의 역할을 생성하는 SQL 문을 작성하시오.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3429000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역할 생성 명령어를 떠올려 보세요.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REVOKE / 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회수 / 역할 생성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517904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3898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Kim의 사원 테이블 검색 권한과 Kim이 재부여한 권한까지 함께 취소하는 빈칸은?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1810512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1810512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사원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" y="2432304"/>
            <a:ext cx="7571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revoke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    </a:t>
            </a:r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cascade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8074152" cy="1517904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81528"/>
            <a:ext cx="68580" cy="138988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3639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이라는 이름의 역할을 생성하는 SQL 문을 작성하시오.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356616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356616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emp_role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부여 / 역할 제거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역할을 사용자 Kim에게 부여하는 SQL 문을 작성하시오.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" y="1874520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역할도 GRANT 로 부여합니다.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852928"/>
            <a:ext cx="6858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90779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이라는 이름의 역할을 제거하는 SQL 문을 작성하시오.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" y="3337560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역할 제거 명령어를 떠올려 보세요.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작성 · 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부여 / 역할 제거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32588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389888"/>
            <a:ext cx="68580" cy="106070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44475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역할을 사용자 Kim에게 부여하는 SQL 문을 작성하시오.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182880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182880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emp_role  </a:t>
            </a:r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07415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52928"/>
            <a:ext cx="68580" cy="106070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907792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emp_role 이라는 이름의 역할을 제거하는 SQL 문을 작성하시오.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" y="3337560"/>
            <a:ext cx="7571232" cy="548640"/>
          </a:xfrm>
          <a:prstGeom prst="roundRect">
            <a:avLst>
              <a:gd name="adj" fmla="val 11667"/>
            </a:avLst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984" y="3337560"/>
            <a:ext cx="7114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ROLE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emp_role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8074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 생애주기  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→ GRANT 역할 TO 사용자 → DROP ROLE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" y="0"/>
            <a:ext cx="4114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818120" y="4736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58784" y="4818888"/>
            <a:ext cx="118872" cy="1188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4818888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11장 데이터베이스 보안 핵심 정리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71600"/>
            <a:ext cx="2587752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159105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개념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" y="20848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보안 = 권한 없는 접근 차단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무결성 = 정확성 유지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권한 부여·취소는 DBA 담당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객체·일부 속성 단위로 부여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71600"/>
            <a:ext cx="2587752" cy="8229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159105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명령어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83864" y="20848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GRANT … TO 사용자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REVOKE … FROM 사용자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WITH GRANT OPTION=재부여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CASCADE = 연쇄 취소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sx="100000" sy="100000" kx="0" ky="0" algn="bl" rotWithShape="0" blurRad="88900" dist="25400" dir="8100000">
              <a:srgbClr val="22384C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371600"/>
            <a:ext cx="2587752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159105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7064" y="2084832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CREATE ROLE 역할명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GRANT 역할 TO 사용자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DROP ROLE 역할명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권한 부여·수정 단순화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8074152" cy="749808"/>
          </a:xfrm>
          <a:prstGeom prst="roundRect">
            <a:avLst>
              <a:gd name="adj" fmla="val 9756"/>
            </a:avLst>
          </a:prstGeom>
          <a:solidFill>
            <a:srgbClr val="E8F2F8"/>
          </a:solidFill>
          <a:ln w="12700">
            <a:solidFill>
              <a:srgbClr val="C7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05072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GRANT로 권한을 주고 REVOKE로 거둔다. WITH GRANT OPTION은 재부여를, CASCADE는 연쇄 취소를 일으키며, 역할(ROLE)은 권한 묶음으로 관리를 단순화한다.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11장 데이터베이스 보안 연습문제 풀이</dc:title>
  <dc:subject>PptxGenJS Presentation</dc:subject>
  <dc:creator>박상돈</dc:creator>
  <cp:lastModifiedBy>박상돈</cp:lastModifiedBy>
  <cp:revision>1</cp:revision>
  <dcterms:created xsi:type="dcterms:W3CDTF">2026-06-06T06:06:43Z</dcterms:created>
  <dcterms:modified xsi:type="dcterms:W3CDTF">2026-06-06T06:06:43Z</dcterms:modified>
</cp:coreProperties>
</file>