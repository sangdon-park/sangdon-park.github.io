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57629" autoAdjust="0"/>
  </p:normalViewPr>
  <p:slideViewPr>
    <p:cSldViewPr snapToGrid="0" snapToObjects="1">
      <p:cViewPr varScale="1">
        <p:scale>
          <a:sx n="87" d="100"/>
          <a:sy n="87" d="100"/>
        </p:scale>
        <p:origin x="168" y="72"/>
      </p:cViewPr>
      <p:guideLst/>
    </p:cSldViewPr>
  </p:slideViewPr>
  <p:notesTextViewPr>
    <p:cViewPr>
      <p:scale>
        <a:sx n="1" d="1"/>
        <a:sy n="1" d="1"/>
      </p:scale>
      <p:origin x="0" y="-2472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7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안녕하세요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대전대학교 컴퓨터공학과 박상돈입니다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잘 오셨습니다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지난 시간에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Preview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수업이 어떤 수업인지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학기 동안 무엇을 배울지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평가는 어떻게 하는지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전체적인 그림을 함께 살펴봤습니다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기억나시죠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퀴즈 과제가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30%,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중간고사가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30%,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기말고사가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30%,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출석이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10%.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내용이었습니다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오늘부터는 본격적으로 데이터베이스의 세계에 들어갑니다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오늘 배울 내용은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 기본 개념입니다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제목만 보면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 개념이니까 쉽겠지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생각하실 수 있는데요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사실 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장에서 나오는 개념들이 이 과목의 뼈대를 이루는 핵심 내용입니다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장에서 배우는 용어들이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계속 반복해서 나옵니다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건물로 치면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층에 해당하는 거예요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층이 부실하면 위에 아무리 잘 쌓아도 무너집니다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마찬가지로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장에서 배우는 기초가 탄탄하지 않으면 나중에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배울 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정규화를 배울 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트랜잭션을 배울 때 전부 흔들립니다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특히 오늘 배울 내용 중에서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데이터와 정보의 차이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데이터베이스의 정의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데이터베이스의 네 가지 특징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분류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것들은 중간고사에서도 단골로 나오고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나중에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기업 면접에서도 기초 질문으로 나오는 것들입니다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실제로 네이버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카카오 같은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기업 신입 면접에서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데이터베이스의 특징을 설명해보세요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질문이 나온 적이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그러니까 오늘 확실하게 이해하고 넘어가는 것이 아주 중요합니다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그러면 오늘의 로드맵을 먼저 확인하고 시작하겠습니다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오늘 수업의 목차입니다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크게 세 개의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섹션으로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나뉩니다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 섹션은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데이터베이스의 필요성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여기서는 아주 근본적인 질문부터 시작합니다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데이터가 뭔가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정보가 뭔가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둘이 어떻게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다른가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정보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처리란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무엇인지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정보 시스템은 어떤 구조로 되어 있는지를 다룹니다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한마디로 왜 데이터베이스라는 것이 이 세상에 필요하게 되었는가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배경을 이해하는 파트입니다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 섹션은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데이터베이스의 정의와 특징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데이터베이스의 정확한 정의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교과서적 정의가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뭔지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보고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정의 안에 숨어있는 네 개의 키워드가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뭔지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하나하나 뜯어봅니다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그다음에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데이터베이스가 가진 네 가지 핵심 특징이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뭔지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CRUD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개념은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뭔지를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배웁니다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솔직히 말씀드리면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두 번째 섹션이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장에서 시험 출제 비중이 가장 높은 파트입니다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중간고사에 서술형으로 나올 가능성이 높은 내용이 여기에 몰려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그러니까 여기서 졸면 절대 안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 섹션은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과학 시대의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데이터를 형태별로 분류하면 정형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반정형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비정형 데이터가 있고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특성별로 분류하면 범주형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수치형 데이터가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각각이 정확히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뭔지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어떻게 구분하는지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예시는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뭔지를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하나하나 살펴봅니다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파트는 주로 객관식이나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O/X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문제로 나옵니다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오늘 수업의 진행 순서를 말씀드리면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전반부에 섹션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섹션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다루겠습니다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정도 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쉬고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후반부에 섹션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다루겠습니다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그러면 첫 번째 섹션부터 시작합시다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 섹션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데이터베이스의 필요성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데이터베이스를 배우기 전에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가장 기본적인 질문부터 해보겠습니다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단어 매일 쓰시죠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다 썼다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백업해라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말 자주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하잖아요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그런데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데이터가 정확히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뭐야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물으면 막상 깔끔하게 대답하기 어려운 경우가 많습니다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 마찬가지입니다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정보를 좀 찾아봐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정보가 부족하다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말을 하는데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같은 말이냐고 물으면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것 같기도 하고 다른 것 같기도 하죠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바로 이 두 개념을 명확하게 구분하는 것이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장의 출발점입니다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이걸 구분하지 못하면 데이터베이스가 왜 필요한지도 이해할 수 없거든요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슬라이드를 보시면 왼쪽에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오른쪽에 정보가 나란히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둘의 차이를 아주 확실하게 짚어보겠습니다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데이터부터 봅시다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Data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현실 세계에서 단순히 관찰하거나 수집한 사실이나 값을 말합니다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두 단어가 키워드입니다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뭐냐면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아직 가공되지 않은 원시 상태라는 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Raw Data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라고도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날것의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자체만으로는 어떤 의미를 판단하기 어렵습니다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이게 무슨 말이냐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들어 보면 바로 이해가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이라는 단어 하나만 봤을 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여러분은 이게 뭘 의미하는지 바로 알 수 있나요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지역 이름인지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카페 이름인지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아이돌 그룹 이름인지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맥락 없이는 알 수 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그냥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이라는 글자 세 개일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뿐이에요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"35"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숫자를 보면 뭐라고 생각하시나요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나이가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살인 건지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기온이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도인 건지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시험 점수가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점인 건지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몸무게가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킬로그램인 건지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단독으로는 전혀 알 수 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35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숫자 그 자체는 아무런 의미를 전달하지 못합니다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"2025-08-01"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어떤가요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날짜 같긴 한데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무슨 날인지는 모릅니다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누구의 생일인지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행사 날짜인지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계약 만료일인지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이것만으로는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알 수 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맥락이 없는 날것 그대로의 상태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이것이 바로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데이터는 숫자일 수도 있고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문자일 수도 있고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기호일 수도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형태는 다양하지만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공통점은 그 자체로는 의미를 가지기 어렵다는 것입니다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그러면 정보는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뭘까요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Information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데이터를 의사결정에 유용하게 활용할 수 있도록 처리하고 조직화한 결과물입니다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쉽게 말하면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데이터에 맥락과 의미를 부여한 것이 정보입니다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아까 예로 든 데이터들을 합쳐보겠습니다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"35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"2025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맑음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네 개의 데이터를 조합하면 뭐가 되느냐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"2025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서울 기온이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도이고 맑음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폭염 경보 발령이 필요하다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정보입니다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정보냐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이걸 보고 기상청 담당자가 폭염 경보를 내릴지 말지 의사결정을 할 수 있기 때문입니다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하나하나는 의미가 없었지만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합쳐서 가공하니까 가치가 생겼습니다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여러분이 반드시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기억하셔야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할 핵심 포인트는 슬라이드 하단에 있는 이 문장입니다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데이터는 원재료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정보는 가공된 제품이다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데이터에서 처리를 거치면 정보가 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흐름을 꼭 기억하세요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비유를 하나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해볼게요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여러분 치킨 좋아하시죠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닭 한 마리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밀가루 한 봉지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식용유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양념장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이것들이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원재료예요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이걸 그냥 식탁에 올려놓으면 먹을 수 있나요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없죠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생닭을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어떻게 먹습니까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닭을 손질하고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밀가루를 입히고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기름에 튀기고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양념을 발라야 비로소 치킨이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치킨이 정보입니다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원재료인 데이터를 가공해야 가치 있는 결과물인 정보가 만들어지는 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가지 비유를 더 해볼까요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좀 더 현실적인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걸로요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여러분이 편의점에서 알바를 한다고 합시다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매일매일 팔린 상품 이름과 수량을 기록합니다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삼각김밥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컵라면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아이스크림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콜라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하루치 판매 기록이라는 날것의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숫자들이에요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데이터가 한 달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달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석 달치 쌓이면 어떻게 될까요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이걸 분석해보니까 패턴이 보입니다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화요일에는 삼각김밥이 유독 잘 팔린다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왜냐하면 근처 학교에서 화요일에 급식이 없거든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금요일 저녁에는 맥주가 잘 팔린다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왜냐하면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불금이니까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여름에는 아이스크림 재고를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배로 늘려야 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 대비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 판매량이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 가까이 뛰니까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결론이 나오면 이건 정보입니다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정보를 바탕으로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점장이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발주 수량을 조절하고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재고를 관리하고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알바 스케줄을 짤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자체는 그냥 숫자 나열이었지만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분석하고 가공하니까 구체적인 의사결정에 활용할 수 있는 가치 있는 결과물이 된 거죠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데이터에서 처리를 거쳐 정보가 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흐름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이것은 이 과목 전체를 관통하는 핵심 원리입니다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데이터베이스가 하는 일이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뭐냐고요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바로 이 과정을 체계적으로 관리하는 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데이터를 잘 저장해두고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필요할 때 빠르게 꺼내서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유용한 정보로 만들 수 있게 해주는 도구가 데이터베이스입니다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시험에서는 이런 식으로 나올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데이터와 정보의 차이를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서술하시오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서술형 문제가 나올 수 있고요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 중 데이터에 해당하는 것은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이라는 객관식도 나올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데이터에서 정보가 만들어지는 과정을 무엇이라 하는가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단답형도 나올 수 있어요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답은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정보 처리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바로 다음 슬라이드에서 다루겠습니다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반드시 구분할 수 있어야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데이터와 정보의 차이를 알았으니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둘을 연결하는 과정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정보 처리에 대해 좀 더 자세히 보겠습니다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 Processing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이라고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정보 처리의 정의는 이렇습니다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데이터에서 정보를 추출하는 과정 또는 방법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좀 더 풀어서 말하면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데이터를 상황에 맞게 분석하고 해석하여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간의 의미 관계를 파악하는 것입니다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키워드는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해석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의미 관계 파악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 중앙에 있는 흐름도를 보시면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왼쪽에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있고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가운데에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처리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가공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해석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이라는 단계가 있고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오른쪽에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아까 배운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데이터에서 처리를 거쳐 정보가 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흐름을 도식화한 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세 단계의 흐름도는 단순하지만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정보 시스템의 가장 기본적인 구조를 나타내고 있으니 꼭 기억해주세요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구체적인 예시를 좀 더 풍부하게 살펴보겠습니다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기상 데이터 예시입니다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 하단에도 나와 있는데요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데이터가 네 개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"35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"2025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맑음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네 개의 개별 데이터를 따로따로 보면 각각의 단편적인 사실일 뿐입니다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그냥 도시 이름이고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"35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그냥 온도 수치이고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"2025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그냥 날짜이고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맑음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그냥 날씨 상태입니다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개별적으로는 별다른 의미가 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그런데 이것들을 합치고 분석하면 뭐가 되느냐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"2025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서울의 기온이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도이고 날씨가 맑다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기상청 기준으로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 이상이면 폭염 주의보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35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 이상이면 폭염 경보에 해당하므로 폭염 경보 발령이 필요하다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되면 기상청에서 의사결정을 내릴 수 있는 유용한 정보가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 나아가서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서울시민들에게 외출 자제를 권고하고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독거노인 가정 안전 확인을 지시하고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무더위 쉼터를 추가 개방해야 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후속 의사결정까지 가능해집니다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 예시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수강 신청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좀 더 여러분과 가까운 상황이죠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데이터가 이렇게 있다고 합시다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데이터베이스시스템 수강 신청자가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명이고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강의실 정원은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명이고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신청이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 정각부터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 사이에 몰렸다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그냥 숫자와 사실입니다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그런데 이걸 처리하면 정보가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데이터베이스시스템 강좌가 정원을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 초과했기 때문에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명은 대기번호를 받아야 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수요가 이 정도로 높으니 추가 분반 개설을 검토해야 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정보를 바탕으로 학과 사무실에서 분반을 개설할지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정원을 늘릴지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아니면 강의실을 더 큰 곳으로 옮길지 의사결정을 내릴 수 있게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 예시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카페 매출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여러분이 카페를 운영한다고 합시다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일주일 동안 아메리카노 판매 기록이 이렇습니다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월요일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화요일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수요일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목요일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금요일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토요일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일요일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날것의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숫자 일곱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개예요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이걸 그냥 보면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이번 주에 이만큼 팔았구나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정도밖에 모릅니다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그런데 이걸 제대로 분석하면 어떻게 될까요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평일 평균을 계산해보면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120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더하기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115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더하기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130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더하기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125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더하기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180,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나누면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잔입니다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주말 평균은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더하기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나누면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잔입니다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주말 매출이 평일 대비 약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퍼센트 높습니다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특히 금요일부터 매출이 확 뛰는 걸 볼 수 있죠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도출되는 정보는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금요일부터 원두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발주량을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배로 늘려야 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토요일과 일요일에는 아르바이트를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 더 배치해야 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월요일과 화요일에는 할인 이벤트를 해서 평일 매출을 끌어올리는 전략을 쓸 수 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보이시죠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자체는 숫자 나열에 불과했지만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분석하고 가공하니까 구체적인 행동 지침이 나왔습니다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이것이 정보 처리의 힘입니다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그러면 이 정보 처리라는 과정이 왜 그렇게 중요하냐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데이터베이스의 존재 이유가 바로 이 정보 처리를 효율적으로 하기 위해서이기 때문입니다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데이터가 아무리 많아도 가공하지 않으면 쓸모가 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100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건의 고객 거래 데이터가 하드디스크에 쌓여 있는데 아무도 분석하지 않는다면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그건 디스크 용량만 차지하는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쓸모없는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파일이나 다름없습니다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반대로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데이터를 체계적으로 저장하고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필요할 때 빠르게 꺼내서 가공할 수 있다면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 행동 패턴을 파악하고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매출을 예측하고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마케팅 전략을 세울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이걸 가능하게 해주는 도구가 바로 데이터베이스입니다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데이터베이스를 배우는 것은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단순히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데이터를 저장하는 방법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배우는 게 아닙니다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데이터에서 가치를 뽑아내는 전체 과정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배우는 것이라고 할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관점을 가지고 이 수업에 임해주시면 좋겠습니다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좀 더 큰 그림을 보겠습니다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데이터베이스가 전체 시스템에서 어떤 위치에 있는지를 이해하는 것이 중요합니다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정보 시스템이란 무엇인가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정보 시스템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Information System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조직 운영에 필요한 데이터를 수집하고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가공하고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분배하는 체계적인 시스템입니다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핵심은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수집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가공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네 단계입니다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이걸 이해하기 위해 기업 환경을 상상해봅시다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여러분이 삼성전자 같은 대기업에 다닌다고 합시다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회사에서는 매일 엄청나게 많은 데이터가 발생합니다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영업부에서는 고객 주문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매출 데이터가 쏟아지고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생산부에서는 제품 생산량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불량률 데이터가 나오고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인사부에서는 직원 급여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근태 데이터가 생기고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재무부에서는 수입과 지출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세금 데이터가 쌓이고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마케팅부에서는 광고 효과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 반응 데이터가 들어옵니다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데이터들이 각각 따로 놀면 어떻게 될까요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영업부에서는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이번 달 매출이 올랐다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건 아는데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그게 마케팅부의 어떤 캠페인 때문인지는 모릅니다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생산부에서는 불량률이 올랐다는 건 아는데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그게 어떤 원자재 공급업체 때문인지는 파악이 안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부서가 각자의 데이터만 가지고 있으면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조직 전체의 큰 그림을 볼 수가 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필요한 것이 정보 시스템입니다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부서의 데이터를 한 곳에 모아서 저장하고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필요할 때 가공해서 각 부서에 유용한 정보로 제공하는 전체적인 체계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이것이 정보 시스템의 역할입니다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 왼쪽을 보시면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정보 시스템의 종류로 두 가지가 나옵니다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MIS,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경영 정보 시스템입니다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Management Information System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약자입니다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MIS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기업의 경영 관리에 필요한 의사결정 정보를 제공하는 시스템입니다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인사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마케팅 등 기업의 다양한 분야에서 활용됩니다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MIS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만들어내는 정보는 어떤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거냐면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이번 분기 매출이 전 분기 대비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퍼센트 증가했습니다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제품의 재고가 안전 수준 이하로 떨어졌습니다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이번 달 직원 이직률이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퍼센트를 초과했습니다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정보를 경영자에게 제공해서 의사결정을 돕는 시스템이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DSS,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의사결정 지원 시스템입니다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Decision Support System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약자입니다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DSS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한 단계 더 나아갑니다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MIS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상황이 이렇습니다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보여준다면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DSS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어떻게 해야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까지 분석해서 제안합니다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"A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지역의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 여성 고객이 급증하고 있으니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해당 세그먼트를 타겟으로 하는 마케팅을 강화하면 매출을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퍼센트 더 늘릴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식으로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데이터를 더 깊이 분석해서 의사결정의 방향까지 제시하는 것이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DSS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MIS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DSS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모든 시스템의 기반에 무엇이 있을까요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바로 데이터베이스입니다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데이터가 없으면 정보도 없고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정보가 없으면 의사결정도 없으니까요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 오른쪽의 계층 구조를 보겠습니다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세 가지 용어를 반드시 구분해야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이게 아주 중요합니다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가장 아래에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DB, Database,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이것은 데이터의 저장소입니다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말 그대로 데이터가 저장된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곳이에요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건물에 비유하면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창고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해당합니다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창고에는 물건이 쌓여 있잖아요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위에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DBMS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DBMS, Database Management System,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 관리 시스템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저장된 데이터를 관리하는 소프트웨어입니다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데이터를 추가하고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수정하고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삭제하고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검색하는 등의 작업을 해주는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프로그램이에요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창고에 비유하면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창고 관리인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창고 관리인이 물건을 정리하고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누가 요청하면 찾아서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가져다주고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새 물건이 들어오면 적절한 위치에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넣어주잖아요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DBMS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바로 그 역할을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대표적인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DBMS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Oracle, MySQL, PostgreSQL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것들이 있는데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장에서 자세히 배우겠습니다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이 둘을 포함한 전체를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부릅니다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DBS, Database System,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 시스템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DB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더하기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DBMS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더하기 사용자 더하기 응용 프로그램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모든 것을 합친 것이 데이터베이스 시스템입니다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창고에 비유하면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창고 자체 더하기 창고 관리인 더하기 물건을 가져가는 사람들 더하기 물류 시스템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이걸 다 합친 전체 체계입니다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장에서 자세히 다룹니다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매우 중요한 포인트를 강조하겠습니다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DB, DBMS, DBS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전부 다른 개념입니다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일상에서는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말을 뭉뚱그려서 쓰지만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학문적으로는 엄격하게 구분해야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퀴즈를 하나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내볼게요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여러분 많이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들어보셨을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MySQL. "MySQL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무엇인가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 DB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인가요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DBMS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인가요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DBS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인가요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한번 생각해보세요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정답은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DBMS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MySQL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데이터베이스 자체가 아니라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데이터베이스를 관리하는 소프트웨어입니다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MySQL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관리하는 실제 데이터가 저장된 곳이고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MySQL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DBMS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그걸 사용하는 개발자와 사용자와 응용 프로그램을 모두 합치면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이걸 정확히 구분할 수 있어야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시험에서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데이터베이스와 데이터베이스 관리 시스템의 차이를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설명하시오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문제가 나올 수 있으니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데이터의 저장소이고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DBMS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그 데이터를 관리하는 소프트웨어라는 점을 꼭 기억해주세요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데이터베이스는 정보 시스템의 핵심 기반 인프라입니다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데이터가 없으면 정보 처리가 불가능하고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정보가 없으면 의사결정이 불가능합니다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것의 출발점이 데이터베이스인 셈이죠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여기까지가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 데이터베이스가 필요한가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대한 답이었습니다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핵심을 한 줄로 요약하면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데이터에서 정보를 만들어야 하는데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그러려면 데이터를 체계적으로 저장하고 관리하는 도구가 필요하다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그것이 데이터베이스다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정리할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여기까지 질문 있으신 분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계신가요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데이터와 정보의 차이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DBMS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구분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부분에서 헷갈리는 거 없으시면 다음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섹션으로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넘어가겠습니다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좋습니다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두 번째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섹션으로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넘어갑니다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데이터베이스가 왜 필요한지는 이해했습니다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그러면 이제 핵심 질문으로 들어가야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데이터베이스의 정확한 정의가 뭐냐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데이터베이스가 가진 핵심 특징이 뭐냐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부분은 제가 아까 강조했듯이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시험 출제 빈도가 매우 높은 핵심 파트입니다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객관식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단답형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서술형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형태로든 나올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지금부터 약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정도는 정말 집중해주시기 바랍니다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데이터베이스의 정의입니다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 상단에 있는 정의를 같이 읽어보겠습니다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천천히 읽을 테니까 중요하다 싶은 부분은 밑줄 치시면 좋겠습니다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조직의 여러 사용자가 공유하여 사용할 수 있도록 통합해서 저장한 운영 데이터의 집합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한 문장이 데이터베이스의 교과서적 정의입니다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번 더 읽겠습니다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조직의 여러 사용자가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공유하여 사용할 수 있도록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통합해서 저장한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운영 데이터의 집합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한 문장 안에 네 개의 핵심 키워드가 숨어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하나씩 뜯어보겠습니다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 키워드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공유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Shared Data.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조직의 여러 사용자가 함께 소유하고 이용할 수 있는 공용 데이터라는 뜻입니다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쉽게 말해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사람만 쓰는 데이터가 아니라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사용자가 같이 쓰는 데이터라는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뜻이에요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 대학교를 예로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들어볼게요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학생 한 명의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연락처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정보가 필요한 부서가 한 군데일까요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아닙니다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교무처에서는 성적 관리하고 졸업 심사하는 데 학생 데이터가 필요합니다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학생처에서는 장학금 심사하고 학생 지원하는 데 필요합니다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도서관에서는 도서 대출 기록 관리하는 데 필요합니다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총무처에서는 등록금 납부를 확인하는 데 필요합니다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취업지원센터에서는 졸업생 취업 통계를 내는 데 필요합니다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최소 다섯 군데 이상의 부서가 같은 학생 데이터를 필요로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이때 이 모든 부서가 하나의 학생 데이터베이스를 공유해서 각자의 목적에 맞게 활용하는 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교무처가 따로 학생 명단을 만들고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학생처가 또 따로 만들고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도서관이 또 따로 만들면 어떻게 될까요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데이터가 다섯 군데에 중복으로 존재하게 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군데에서 수정하면 나머지 네 군데도 다 수정해야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하나라도 빼먹으면 데이터 불일치가 발생합니다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문제를 방지하기 위해 데이터를 공유하는 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 키워드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Integrated Data.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데이터의 중복을 최소화한 통합된 데이터 집합이라는 뜻입니다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핵심 단어는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완전히 제거가 아니라 최소화예요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차이가 아주 중요합니다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완전 제거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아니라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표현하냐면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성능상의 이유로 통제 가능한 중복은 일부 허용할 수 있기 때문입니다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테이블에서 아주 자주 조회되는 데이터를 속도 향상을 위해 의도적으로 다른 테이블에도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복사해놓는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경우가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의도적으로 만든 통제된 중복이라서 괜찮습니다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문제가 되는 건 불필요한 중복입니다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데이터가 여기저기에 중복으로 저장되어서 불일치가 생기는 것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이것이 가장 큰 문제입니다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학생 김철수의 전화번호가 교무처 시스템에는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"010-1234-5678"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되어 있고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학생처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시스템에는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"010-9999-8888"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되어 있으면 어떻게 됩니까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뭐가 맞는 건지 알 수가 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이것을 데이터 불일치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Inconsistency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이것이 데이터베이스 이전의 파일 시스템이 가졌던 가장 큰 문제였고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이걸 해결하기 위해 통합 데이터베이스가 등장한 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시험 팁을 하나 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데이터에서 중복은 완전히 제거된다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O/X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문제가 나올 수 있는데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답은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중복을 최소화하는 것이지 완전히 제거하는 것이 아닙니다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이거 함정 문제로 잘 나옵니다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 키워드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Stored Data.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컴퓨터가 접근할 수 있는 저장 매체에 저장된 데이터라는 뜻입니다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하드디스크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SSD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물리적 저장 장치에 저장되어 있어야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당연한 것 같지만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명시하는 이유가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사람의 머릿속에만 있는 지식은 데이터베이스가 아닙니다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내가 아는 학생이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명이야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말해도 그건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아닙니다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종이 서류장에만 있는 데이터도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엄밀히 말하면 컴퓨터가 접근할 수 있는 상태가 아니니까 데이터베이스라고 부르기 어렵습니다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데이터베이스는 반드시 컴퓨터가 읽고 쓸 수 있는 디지털 형태로 저장되어야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 번째 키워드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운영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Operational Data.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조직의 주요 기능을 수행하기 위해 지속적으로 유지하고 관리해야 하는 필수 데이터라는 뜻입니다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중요한 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임시 데이터는 해당하지 않는다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점입니다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개발자가 테스트 목적으로 만든 더미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일시적인 계산 중간 결과물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회의 중에 메모한 임시 노트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것들은 운영 데이터가 아닙니다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조직이 기능하기 위해 반드시 있어야 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지속적으로 유지해야 하는 데이터만이 운영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대학교의 운영 데이터는 학생 정보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교수 정보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강의 시간표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등록금 납부 내역 같은 것들입니다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반대로 운영 데이터가 아닌 것은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시스템 테스트용으로 만든 가짜 학생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임시 보고서 초안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시험 삼아 만들어본 연습 테이블 같은 것들이죠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네 가지 키워드를 다시 한번 정리하겠습니다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운영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정의는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운영 데이터의 집합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시험에서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데이터베이스의 정의에 포함되는 네 가지 키워드를 쓰시오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문제가 나오면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운영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네 가지를 쓰면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반드시 외우세요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암기 팁을 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공통저운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이라고 외워보세요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운영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공통저운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공통적으로 저장하고 운영한다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어감을 살려서 외우면 기억에 남을 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각 키워드를 반대 사례와 짝지어서 기억하면 더 오래 남습니다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공유가 안 되면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부서가 따로 관리해서 불일치가 발생합니다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통합이 안 되면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데이터가 중복 저장되어 불일치가 생깁니다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저장이 안 되면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컴퓨터가 접근할 수 없으니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아닙니다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운영이 아니면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임시 데이터는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범주에 들어가지 않습니다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반대 사례를 떠올리면 시험에서 어떤 형태로 물어봐도 답할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데이터베이스의 정의를 알았으니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데이터베이스의 특징을 살펴보겠습니다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데이터베이스에는 총 네 가지 핵심 특징이 있는데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슬라이드에서 처음 두 가지를 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 특징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실시간 접근입니다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Real-Time Accessibility.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사용자가 데이터를 요청하면 실시간으로 빠르게 응답할 수 있어야 한다는 뜻입니다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질의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하는데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질의에 대해 즉각적인 결과를 반환해야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이게 왜 중요한지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실생활 예시로 한번 느껴봅시다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여러분이 은행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ATM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가서 잔액 조회 버튼을 누릅니다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그런데 결과가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뒤에 나온다면 어떻겠습니까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아무도 안 쓰겠죠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당연히 수 초 이내에 결과가 나와야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수강 신청은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어떤가요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신청 버튼을 눌렀는데 결과가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 후에 나온다면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사이에 다른 과목도 다 마감되어 버릴 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성공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떠야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인터넷 쇼핑은요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쿠팡에서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노트북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검색했는데 결과가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뒤에 나온다면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고객이 다 이탈합니다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실제로 아마존에서 연구한 바에 따르면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페이지 로딩 시간이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영점 일 초만 늘어나도 매출이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퍼센트 감소한다고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0.1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초가 매출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퍼센트입니다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아마존 규모에서 매출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퍼센트면 수조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원이에요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대형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기업들은 데이터베이스 성능 최적화에 수천억 원을 투자합니다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실시간 처리 환경을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OLTP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부릅니다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Online Transaction Processing,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온라인 트랜잭션 처리의 약자입니다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OLTP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환경에서는 이 실시간 접근이 가장 중요한 요구사항입니다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 초 이내의 응답 시간 보장이 필수적입니다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핵심을 정리하면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데이터베이스는 사용자가 원할 때 즉시 데이터를 제공할 수 있어야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이것이 첫 번째 특징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실시간 접근입니다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 특징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계속 변화입니다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 Evolution.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데이터베이스는 정적인 것이 아니라 동적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Dynamic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새로운 데이터가 들어오고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기존 데이터가 수정되고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불필요한 데이터가 삭제되면서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항상 최신의 정확한 데이터 상태를 유지해야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매우 중요한 개념이 나옵니다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CRUD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C, R, U, D.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지금부터 여러분이 컴퓨터공학 공부하는 동안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취업한 이후에도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수없이 듣게 될 용어입니다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확실히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알아두세요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CRUD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소프트웨어의 기본 데이터 처리 요구사항을 나타내는 약자입니다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 글자 각각이 하나의 연산을 나타냅니다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새로운 데이터를 삽입하는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것이에요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들어 신입생이 입학하면 학생 테이블에 새로운 레코드를 추가합니다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새로운 강좌가 개설되면 강좌 테이블에 추가합니다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읽기입니다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데이터를 검색하고 조회하는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것이에요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들어 특정 학생의 성적을 조회합니다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학년 컴퓨터공학과 학생 명단을 검색합니다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Update,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수정입니다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기존 데이터를 변경하는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것이에요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들어 학생이 이사를 해서 주소를 변경합니다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성적이 정정되어서 학점을 수정합니다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Delete,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삭제입니다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불필요한 데이터를 제거하는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것이에요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들어 폐강된 강좌를 삭제합니다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졸업생 데이터를 아카이브로 옮기고 현재 데이터베이스에서 삭제합니다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CRUD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왜 이렇게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중요하냐면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소프트웨어의 데이터 처리는 결국 이 네 가지의 조합이기 때문입니다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여러분이 나중에 웹 개발을 하든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앱 개발을 하든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게임을 만들든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데이터를 다루는 모든 작업은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Create, Read, Update, Delete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 하나입니다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예외가 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나중에 웹 개발에서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 API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것을 배우게 되는데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REST API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 결국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CRUD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메서드에 대응시킨 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Create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메서드에 해당하고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Read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해당하고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Update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PUT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해당하고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Delete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DELETE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해당합니다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우리가 이 수업의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주차와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주차에 배울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CRUD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수행하기 위한 언어입니다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Create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INSERT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명령어에 해당하고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Read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해당하고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Update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해당하고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Delete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DELETE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해당합니다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대응 관계를 지금 당장 외울 필요는 없지만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CRUD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개념 자체는 반드시 기억해주세요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나머지 두 가지 특징을 보겠습니다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 특징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동시 공유입니다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Concurrent Sharing.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사용자가 동시에 같은 데이터 또는 서로 다른 데이터를 사용할 수 있어야 한다는 뜻입니다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이걸 이해하려면 현실 상황을 생각해보는 게 제일 좋습니다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수강 신청 시나리오를 생각해봅시다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수강 신청 기간에 여러분 수백 명이 동시에 같은 강좌에 신청합니다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데이터베이스시스템 수업의 정원이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명이라고 합시다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9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 정각에 수강 신청이 열리면 수백 명이 거의 동시에 신청 버튼을 누릅니다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이때 데이터베이스는 동시에 쏟아지는 요청을 처리하면서도 데이터가 꼬이지 않도록 관리해야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만약 잔여 석이 딱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석 남았는데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명이 동시에 신청 버튼을 눌렀다면 어떻게 되어야 할까요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 다 성공하면 안 되겠죠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정원이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명인데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명이 등록되면 큰 문제입니다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반드시 한 명만 성공하고 다른 한 명은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마감되었습니다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나와야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콘서트 티켓 예매도 똑같은 상황입니다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아이브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콘서트 티켓이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장인데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동시에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명이 접속합니다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남은 마지막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장에 두 명이 거의 동시에 결제 버튼을 누르면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명만 성공해야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명 다 결제가 되면 실제 좌석은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개인데 티켓이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 발행되는 대참사가 벌어지겠죠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상황에서 데이터의 정확성을 보장하면서 동시 접근을 허용하는 기술을 동시성 제어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Concurrency Control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이라고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트랜잭션 격리 수준이라는 개념을 통해 충돌을 방지합니다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나중에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주차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회복과 병행 제어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자세히 배울 내용입니다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지금은 데이터베이스의 핵심 특징 중 하나가 여러 사용자의 동시 접근을 보장하면서도 데이터의 정확성을 유지하는 것이라는 점만 확실히 기억해주세요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 번째 특징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내용으로 참조입니다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Content Reference.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데이터의 물리적 주소가 아니라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데이터의 내용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Content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검색한다는 뜻입니다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이게 좀 추상적으로 들릴 수 있으니까 비유를 해보겠습니다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옛날 방식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 시스템 방식은 이런 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여러분이 도서관에서 책을 찾는데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사서한테 이렇게 말합니다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층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구역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번째 선반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왼쪽에서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번째 책 주세요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물리적 위치를 정확히 알아야만 책을 찾을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만약 그 책이 다른 곳으로 옮겨졌다면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못 찾습니다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위치가 바뀔 때마다 새로운 위치를 외워야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 방식은 이렇게 바뀝니다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컴퓨터 과학 관련 책 중에서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이후에 출판된 거 다 찾아주세요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원하는 조건만 말하면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책이 어디에 꽂혀 있든 상관없어요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사서가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 이 경우에는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DBMS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알아서 조건에 맞는 책을 다 찾아줍니다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슬라이드에 있는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예시를 보시면 이렇게 되어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SELECT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별표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학생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학과 이퀄 컴퓨터공학과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이게 무슨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뜻이냐면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학생 테이블에서 학과가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컴퓨터공학과인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데이터를 전부 찾아줘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명령입니다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사용자는 데이터가 디스크의 어느 섹터에 저장되어 있는지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몇 번째 블록에 있는지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전혀 알 필요가 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그냥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학과가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컴퓨터공학과인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학생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이라는 조건만 제시하면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DBMS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내부적으로 해당 데이터의 위치를 찾아서 결과를 돌려줍니다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이것이 데이터베이스가 파일 시스템에 비해 훨씬 편리한 이유 중 하나입니다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"What",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무엇을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원하는지만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말하면 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"How",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어떻게 찾을지는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DBMS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알아서 처리합니다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방식을 나중에 선언적 방식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Declarative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방식이라고 배우게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SQL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배울 때 다시 나오는 개념이니까 지금은 이 정도만 이해하시면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 가지 특징을 다시 한 번 정리하겠습니다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반드시 외워야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실시간 접근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사용자가 요청하면 즉시 응답해야 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빠르게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계속 변화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CRUD,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삽입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삭제를 통해 항상 최신 상태를 유지해야 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동적으로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동시 공유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사용자가 동시에 사용할 수 있어야 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함께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 번째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내용으로 참조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물리적 주소가 아닌 내용 조건으로 검색한다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편리하게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암기 팁을 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앞글자를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따서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실계동내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외우세요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실시간 접근의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계속 변화의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동시 공유의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내용 참조의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".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실계동내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실시간으로 계속 동시에 내용으로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같이 한 번 말해볼까요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실계동내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좋습니다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시험에서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데이터베이스의 네 가지 특징을 쓰고 각각을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설명하시오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문제가 나오면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실계동내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떠올리고 하나씩 풀어서 쓰면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여기까지가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전반부 내용입니다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꽤 많은 내용을 다뤘는데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핵심만 세 줄로 정리하겠습니다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데이터는 원재료이고 정보는 가공품이다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둘은 다르다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정의에 포함되는 네 가지 키워드는 공유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운영이다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셋째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네 가지 특징은 실시간 접근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계속 변화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동시 공유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내용 참조이다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실계동내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질문 있으신 분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계신가요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여기까지 괜찮으시면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쉬고 후반부로 넘어가겠습니다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휴식 시간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후반부에는 데이터의 분류에 대해 다룹니다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정형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반정형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비정형 데이터가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뭔지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범주형 데이터와 수치형 데이터가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뭔지를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배울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건데요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실생활 예시가 많아서 전반부보다는 좀 더 재미있을 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요즘 빅데이터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AI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시대에 특히 중요한 내용이니까 기대해주세요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화장실 다녀오시고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 한 잔 마시고 오세요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후반부 시작합니다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 오셨죠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 섹션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과학 시대의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전반부에서 데이터가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뭔지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데이터베이스의 정의와 특징이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뭔지를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배웠습니다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이제는 데이터 자체를 좀 더 깊이 들여다보겠습니다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데이터에도 여러 종류가 있거든요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데이터가 같은 형태가 아닙니다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잠깐 생각해보세요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엑셀 표에 들어있는 숫자 데이터와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유튜브 동영상과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JSON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세 가지가 같은 종류의 데이터일까요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아니잖아요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형태가 완전히 다릅니다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엑셀은 깔끔한 표 형태이고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유튜브 동영상은 영상 파일이고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JSON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중괄호 안에 키와 값이 들어있는 텍스트 파일이죠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데이터를 어떤 기준으로 분류할 수 있는지를 살펴보겠습니다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분류 기준은 두 가지입니다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형태에 따른 분류와 특성에 따른 분류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하나씩 봅시다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데이터를 분류하는 첫 번째 기준은 구조화된 형태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데이터가 얼마나 구조화되어 있느냐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기준에 따라 데이터는 세 가지로 나뉩니다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정형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 Data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미리 정해진 스키마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Schema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따라 행과 열로 구성된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이게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뭔지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바로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와닿을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여러분이 엑셀에서 표를 만들면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열은 이름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열은 나이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열은 주소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식으로 구조가 딱 정해져 있잖아요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깔끔한 표 형태로 정리된 데이터가 정형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대표적으로 관계형 데이터베이스의 테이블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CSV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엑셀 스프레드시트가 정형 데이터에 해당합니다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반정형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Semi-Structured Data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고정된 스키마가 없지만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내부에 구조에 대한 설명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메타데이터가 포함되어 있는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반정형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이라는 말이 좀 생소하죠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쉽게 말하면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완전히 표 형태는 아닌데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그렇다고 구조가 아예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없지도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않은 중간 형태입니다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안에 태그나 키라는 것이 있어서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스스로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나는 이런 구조로 되어 있어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설명하고 있는 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대표적으로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HTML, XML, JSON,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센서 데이터가 반정형 데이터에 해당합니다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특히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요즘 웹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데이터를 주고받을 때 표준으로 쓰이는 형식이라서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여러분이 프로그래밍에서 정말 많이 접하게 될 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셋째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비정형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Unstructured Data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정해진 구조가 전혀 없는 자유 형태의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대표적으로 텍스트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이미지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음성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PDF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문서가 비정형 데이터에 해당합니다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여러분이 하루에 찍는 셀카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인스타에 올리는 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유튜브에서 보는 영상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카톡 메시지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것들이 전부 비정형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정말 중요한 사실 하나를 강조하겠습니다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데이터의 약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퍼센트 이상이 비정형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여러분이 생각하는 것보다 정형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그러니까 깔끔한 표 형태의 데이터는 세상 전체 데이터에서 차지하는 비중이 훨씬 적습니다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카톡 메시지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동영상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이메일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뉴스 기사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비구조화된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데이터가 압도적으로 많고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 빠른 속도로 증가하고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세 가지를 비교하자면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정형 데이터는 구조화 정도가 가장 높고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엑셀이나 관계형 데이터베이스에서 관리합니다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Oracle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MySQL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시스템이죠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반정형 데이터는 구조화 정도가 중간이고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MongoDB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NoSQL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시스템에서 많이 다룹니다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비정형 데이터는 구조가 없고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Hadoop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Spark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빅데이터 처리 프레임워크에서 다룹니다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세 가지 구분은 시험에서 빈도 높은 출제 포인트입니다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"JSON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어떤 유형의 데이터인가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답은 반정형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"PDF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파일은 어떤 유형인가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답은 비정형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엑셀 파일은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정형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식으로 나올 수 있으니 확실히 구분해두세요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정형 데이터를 좀 더 자세히 보겠습니다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정형 데이터는 미리 정해진 구조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스키마에 따라 저장된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행과 열로 구성되는 것이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핵심이에요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스키마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용어가 처음 나왔는데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간단히 말하면 데이터의 구조를 미리 정의한 것입니다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테이블을 만들 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학번은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정수형이고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자리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이름은 문자열이고 최대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학과는 문자열이고 최대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식으로 미리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정해놓는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거예요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스키마라는 개념은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장에서 다시 자세히 배웁니다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슬라이드의 예시 테이블을 보시면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학생 정보 테이블이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맨 위 행에 학번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평점이라는 열 이름이 있고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아래에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20210001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김철수 컴퓨터공학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3.8, 20210002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이영희 전자공학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4.2, 20210003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박민준 컴퓨터공학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3.5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데이터가 들어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열은 학번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평점으로 고정되어 있고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행이 한 명의 학생 데이터를 나타냅니다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행이 동일한 구조를 가지고 있죠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이것이 정형 데이터의 전형적인 모습입니다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정형 데이터의 특징을 다섯 가지로 정리하겠습니다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고정된 스키마를 가지고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구조가 미리 정해져 있어서 일관성이 보장됩니다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SQL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검색하고 조작할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SQL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이라는 언어를 사용해서 데이터를 추가하고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검색하고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수정하고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삭제할 수 있어요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우리가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주차와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주차에 집중적으로 배울 내용입니다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셋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무결성이 보장됩니다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스키마에 맞지 않는 데이터는 입력 자체가 거부됩니다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들어 학번 칸에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가나다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넣으려고 하면 에러가 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넷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관계형 데이터베이스에서 관리됩니다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다섯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트랜잭션을 지원합니다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처리 중에 오류가 나면 원래 상태로 되돌릴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대표적인 시스템으로는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Oracle, MySQL, PostgreSQL, MS SQL Server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이름들은 나중에 계속 나올 테니 익숙해지세요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여러분이 취업 후에 가장 많이 접하게 될 데이터가 바로 이 정형 데이터이고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이걸 다루는 시스템이 관계형 데이터베이스입니다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기업의 핵심 업무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회원 정보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주문 정보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결제 정보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재고 정보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것들은 거의 다 정형 데이터로 관리됩니다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정확성과 일관성이 매우 중요한 데이터이기 때문이죠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다음은 반정형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아까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내용 안에 구조에 대한 설명이 함께 존재하는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했었죠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이게 좀 추상적이니까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코드를 보면서 이해합시다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슬라이드에 왼쪽에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XML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오른쪽에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예시가 나란히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왼쪽의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XML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예시를 보겠습니다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줄씩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같이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읽어볼게요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맨 처음에 꺾쇠 괄호 열고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학생목록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닫고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시작 태그입니다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지금부터 학생 목록이 시작된다는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뜻이에요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그다음에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꺾쇠 괄호 열고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학생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닫고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명의 학생 데이터가 시작됩니다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안에 꺾쇠 괄호 열고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닫고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20210001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슬래시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닫고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값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20210001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학번이야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태그가 설명해주고 있는 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마찬가지로 이름 태그 안에 김철수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학과 태그 안에 컴퓨터공학이 들어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보이시죠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값인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"20210001",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김철수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컴퓨터공학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사이사이에 학번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학과 같은 태그가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태그가 바로 데이터의 구조를 설명하는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메타데이터입니다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별도로 스키마를 따로 정의하지 않아도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자체를 보면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값은 학번이고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값은 이름이구나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알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반정형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의미입니다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스키마가 아예 없는 건 아닌데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그러면 비정형이겠죠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정형 데이터처럼 외부에 별도로 정의된 것도 아닙니다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안에 구조 정보가 내포되어 있는 거죠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다음으로 오른쪽의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예시를 보겠습니다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JSON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 Object Notation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약자인데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웹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데이터 교환 표준이 사실상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카카오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네이버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구글 등 거의 모든 웹 서비스의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데이터를 주고받습니다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여러분이 프로그래밍에서 정말 많이 접하게 될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형식이에요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형식을 보면 중괄호가 있고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안에 큰따옴표로 감싼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학생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이라는 키가 있고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콜론 다음에 대괄호 안에 또 중괄호가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중괄호 안에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콜론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"20210001",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콜론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김철수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콜론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컴퓨터공학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식으로 키와 값이 쌍으로 들어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XML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과의 차이점은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XML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꺾쇠 괄호로 된 태그를 사용하고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JSON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중괄호와 큰따옴표를 사용하는 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 쌍 형태라는 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형식은 다르지만 본질은 같습니다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 다 데이터 안에 구조 정보가 포함되어 있는 반정형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그러면 정형 데이터와 반정형 데이터의 핵심 차이가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뭘까요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한마디로 정리하면 이렇습니다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정형 데이터는 스키마가 외부에 미리 정의되어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테이블을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생성할 때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학번은 정수형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이름은 문자열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처럼 먼저 구조를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정해놓고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데이터를 넣습니다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정해진 구조에 맞지 않는 데이터는 아예 들어갈 수 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반정형 데이터는 스키마가 데이터 안에 내포되어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별도로 테이블을 정의하지 않아도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구조를 유연하게 변경할 수 있어요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학생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데이터에는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전화번호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필드가 있고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학생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에는 없어도 전혀 문제가 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나중에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취미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필드를 추가하고 싶으면 그냥 추가하면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정형 데이터에서는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ALTER TABLE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이라는 명령어로 테이블 구조 자체를 변경해야 하는 등 좀 복잡한 과정이 필요하지만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반정형은 훨씬 유연합니다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유연성 때문에 웹 서비스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모바일 앱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IoT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센서 데이터 등에서 반정형 데이터가 많이 사용됩니다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MongoDB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NoSQL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데이터베이스가 바로 이런 반정형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특히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형태의 데이터를 다루기 위해 만들어진 시스템입니다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시험에 나올 수 있는 포인트를 짚어드리면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반정형 데이터의 예를 세 가지 쓰시오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문제가 나오면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HTML, XML, JSON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쓰면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 비정형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정해진 구조 없이 저장되는 데이터이고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데이터의 약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퍼센트 이상을 차지한다고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했었죠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슬라이드에 네 가지 유형이 카드 형태로 나와있습니다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하나씩 보겠습니다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텍스트입니다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SNS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게시물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이메일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뉴스 기사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웹 문서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여러분이 네이버에 쓰는 블로그 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인스타에 올리는 캡션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배달앱에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남기는 리뷰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것들이 전부 비정형 텍스트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글의 형식이 정해져 있지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않잖아요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사람은 한 줄만 쓰고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사람은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A4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열 장 분량을 쓰기도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이미지입니다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의료 영상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X-ray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것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위성 이미지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그래픽 파일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스마트폰 하나로 하루에 수십 장의 사진을 찍는 시대입니다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 세계적으로 하루에 촬영되는 사진이 약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억 장이라고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14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억 장이요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이게 매일 쌓이고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영상과 음성입니다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유튜브 동영상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팟캐스트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CCTV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음악 파일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유튜브에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분마다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 분량의 영상이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업로드된다고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분마다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500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시간이에요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하루면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시간 분량입니다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이걸 다 보려면 한 사람이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동안 쉬지 않고 봐야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하루치만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말이에요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규모의 데이터가 매일매일 생산되고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 번째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문서 파일입니다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PDF, Word, PowerPoint.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파일들은 내부에 텍스트가 있지만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표 형태로 깔끔하게 구조화되어 있지 않으므로 비정형으로 분류됩니다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지금 여러분이 보고 계신 이 강의 슬라이드도 사실 비정형 데이터의 일종입니다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가장 중요한 포인트를 짚겠습니다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비정형 데이터의 급증이 빅데이터 기술을 탄생시켰다는 것입니다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전통적인 관계형 데이터베이스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Oracle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MySQL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시스템은 정형 데이터를 다루는 데 최적화되어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깔끔한 표 형태의 데이터는 아주 잘 처리하지만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사진 수억 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동영상 수백만 시간 분량을 저장하고 분석하기에는 한계가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등장한 것이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Hadoop, Spark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분산 처리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프레임워크이고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MongoDB, Cassandra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NoSQL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데이터베이스이고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딥러닝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같은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기반의 분석 기술입니다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기술들은 비정형 데이터를 효율적으로 저장하고 분석하기 위해 개발되었습니다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수업에서는 주로 정형 데이터를 다루는 관계형 데이터베이스를 배우겠지만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세계에는 비정형 데이터가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퍼센트 이상으로 압도적으로 많다는 것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그것을 다루기 위한 기술들이 빠르게 발전하고 있다는 것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큰 그림은 반드시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알아두셔야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형태에 따른 분류를 봤으니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이번에는 특성에 따른 분류를 보겠습니다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사실 통계학에서 온 분류 체계인데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 설계에서도 매우 중요합니다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왜냐하면 테이블의 각 열을 설계할 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열에 들어가는 데이터가 어떤 특성인지를 알아야 적절한 데이터 타입과 제약 조건을 설정할 수 있기 때문입니다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혈액형을 저장하는 열과 키를 저장하는 열에 같은 데이터 타입을 쓰면 안 되겠죠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데이터의 특성에 따라 크게 범주형 데이터와 수치형 데이터로 나뉩니다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각각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Categorical Data, Numerical Data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슬라이드의 트리 구조를 보시면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맨 위에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있고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왼쪽으로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범주형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뻗어나가고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오른쪽으로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수치형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뻗어나갑니다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범주형 데이터는 다시 두 가지로 나뉩니다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명목형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Nominal,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순서형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Ordinal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명목형은 서열 없는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값이에요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혈액형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MBTI,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성별 같은 것들입니다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순서형은 서열 있는 값입니다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등급 같은 것들이죠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수치형 데이터도 두 가지로 나뉩니다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이산형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Discrete,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연속형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이산형은 단절된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끊어진 숫자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값이에요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판매량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합격자 수 같은 것들입니다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연속형은 연속적인 숫자 값입니다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몸무게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온도 같은 것들이죠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총 네 가지 세부 분류가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시험에서 특정 데이터가 주어지고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이것은 어떤 유형인가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묻는 문제가 나옵니다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그러니까 네 가지를 정확하게 구분할 수 있어야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 두 슬라이드에서 각각을 자세히 살펴보겠습니다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범주형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Categorical Data,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Qualitative Data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한국어로는 질적 데이터 또는 정성적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데이터라고도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종류를 나타내는 값을 가진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명목형 데이터부터 봅시다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Nominal Data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순서가 없는 값을 가지는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단순히 범주를 구분하는 용도로만 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혈액형을 예로 들어봅시다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네 가지 사이에 순서가 있나요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형보다 높다든가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형보다 좋다든가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개념이 있나요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전혀 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그냥 서로 다른 종류일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뿐이에요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MBTI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 마찬가지입니다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INTJ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ENFP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보다 크다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말이 안 되죠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성별도 그렇습니다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남성이 여성보다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높다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순서 개념은 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주거 지역도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서울이 부산보다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앞선다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아닙니다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전공도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컴퓨터공학이 전자공학보다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서열이 없죠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국적도 마찬가지고요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것들이 전부 명목형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명목형의 핵심을 세 가지로 정리하면 이렇습니다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 간의 크기 비교가 불가능합니다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형보다 크다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의미가 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 간의 순서 비교도 불가능합니다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서울이 부산보다 앞선다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의미 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셋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산술 연산도 의미가 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 더하기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계산 자체가 불가능하죠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명목형 데이터로 할 수 있는 건 빈도를 세는 것 정도입니다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 반에서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처럼 각 범주에 몇 명이 속하는지 세는 건 가능합니다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평균을 구하거나 합계를 내는 건 의미가 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다음으로 순서형 데이터를 봅시다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Ordinal Data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순서가 있는 값을 가지는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학년을 생각해봅시다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분명히 순서가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학년이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학년보다 위라는 개념이 있죠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학점도 그렇습니다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보다 높고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보다 높고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보다 높습니다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회원 등급도 골드가 실버보다 높고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실버가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브론즈보다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높습니다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만족도 조사에서도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매우 만족이 만족보다 좋고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만족이 보통보다 좋고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보통이 불만족보다 좋습니다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순서가 있는 범주형 데이터가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순서형입니다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그런데 여기서 아주 중요한 주의점이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순서는 있지만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 간의 간격이 일정하지 않습니다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이게 핵심입니다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학점과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학점의 실력 차이가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학점과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학점의 실력 차이와 정확히 같다고 할 수 있나요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매우 만족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만족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차이가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만족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보통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차이와 같다고 할 수 있나요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간격이 균등하지 않아요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순서형 데이터도 산술 연산이 적합하지 않습니다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학점의 평균을 내는 건 사실 엄밀히 말하면 통계적으로 완벽한 계산은 아닙니다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GPA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구할 때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4.0, 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3.0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식으로 숫자를 부여해서 평균을 내긴 하지만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편의상 하는 것이지 수학적으로 정확한 연산은 아닙니다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 하단에 있는 핵심 포인트를 같이 보겠습니다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학년 더하기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학년은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의미 없는 연산입니다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학년과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학년을 더하면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학년인가요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아니잖아요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이것이 범주형 데이터의 본질입니다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범주형 데이터는 연산의 대상이 아닙니다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연습 문제를 하나 풀어보겠습니다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 중 명목형 데이터는 무엇인가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첫째 학년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둘째 성별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셋째 판매량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넷째 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한번 생각해보세요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정답은 둘째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성별입니다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왜냐하면 학년은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학년으로 순서가 있으니까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순서형입니다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성별은 남녀 사이에 순서가 없으니까 명목형이 맞습니다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판매량은 숫자이고 셀 수 있는 값이니까 이산형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수치형에 해당합니다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키는 연속적인 숫자 값이니까 연속형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수치형에 해당합니다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식으로 구분할 수 있어야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수치형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Numerical Data,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Quantitative Data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한국어로는 양적 데이터 또는 정량적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데이터라고도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크기 비교와 산술 연산이 가능한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범주형 데이터와 가장 큰 차이가 바로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범주형은 연산이 안 되지만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수치형은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이산형 데이터를 봅시다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Discrete Data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단절된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불연속적인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숫자 값을 가지는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이걸 쉽게 기억하는 방법이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세는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기억하세요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개수를 세는 데이터가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이산형입니다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일일 판매량을 예로 들어봅시다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오늘 아이스크림을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팔았습니다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그런데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150.5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개를 팔 수 있나요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없죠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아이스크림 반 개를 파는 건 불가능하니까요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합격자 수도 마찬가지입니다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42.7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명이 합격할 수 있나요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불가능합니다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사람이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0.7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명이 될 수는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없잖아요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항상 정수 값을 취합니다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다른 예시를 더 들어보겠습니다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교통사고 건수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오늘 서울에서 교통사고가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건 발생했다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불가능합니다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건이든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건이든 정수입니다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가족 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 가족은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명이다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불가능하죠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수강 인원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수업 수강생이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42.8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명이다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불가능합니다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주사위 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3.7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나왔다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주사위는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1, 2, 3, 4, 5, 6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 하나만 나옵니다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이산형의 핵심은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 사이에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중간값이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존재하지 않는다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것입니다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 사이에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명은 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값이 뚝뚝 끊어져 있다고 해서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한자로 떨어질 리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흩어질 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이산이라고 부릅니다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다음으로 연속형 데이터를 봅시다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 Data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연속적으로 이어진 숫자 값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실수 값을 가지는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이걸 쉽게 기억하는 방법은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재는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Measure.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측정하는 데이터가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연속형입니다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키를 예로 들어봅시다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172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센티미터와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센티미터 사이에 뭐가 있을까요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172.1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센티미터가 있고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172.15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센티미터가 있고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172.153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센티미터가 있고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172.1537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센티미터가 있고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무한히 많은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중간값이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존재합니다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소수점 이하 값이 의미를 가집니다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몸무게도 마찬가지입니다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68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킬로그램과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69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킬로그램 사이에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68.3, 68.35, 68.352...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무한한 값이 있죠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온도도요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36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37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 사이에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36.5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36.52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무한한 값이 존재합니다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속도도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주가도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환율도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전부 연속형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연속형의 핵심은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값 사이에 무한한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중간값이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존재한다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것이고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측정을 통해 얻는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점입니다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이산형과 연속형을 구분하는 아주 간단하고 확실한 기준을 알려드리겠습니다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이거 하나만 기억하면 절대 안 헷갈립니다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셀 수 있으면 이산형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잴 수 있으면 연속형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몇 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물을 수 있으면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이산형이고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얼마나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물을 수 있으면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연속형입니다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판매량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몇 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팔았어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셀 수 있죠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이산형입니다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얼마나 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자로 재야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연속형입니다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합격자 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몇 명이야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세면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이산형입니다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온도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몇 도야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온도계로 재야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연속형입니다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구분법으로 어떤 데이터가 나와도 분류할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범주형과 수치형의 근본적인 차이를 다시 한번 짚겠습니다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 하단에 있는 핵심 포인트인데요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수치형 데이터는 산술 연산이 가능합니다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합계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표준편차 같은 통계 분석에 직접 활용할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범주형 데이터에서는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 더하기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의미 없었죠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수치형 데이터에서는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학생 세 명의 키 평균이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172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더하기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180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더하기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나누면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172.3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센티미터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계산이 가능하고 의미도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이번 달 총 판매량이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더하기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더하기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합산도 가능합니다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산술 연산이 가능하고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통계 분석에 직접 활용할 수 있다는 것이 수치형 데이터의 가장 큰 장점입니다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전체를 정리하겠습니다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시험에 잘 나오는 네 가지 유형을 다시 한번 확인합니다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범주형의 명목형은 서열이 없고 종류만 구분하는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대표 예시는 혈액형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MBTI,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성별입니다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범주형의 순서형은 서열은 있지만 간격이 불균등한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대표 예시는 학년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등급입니다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수치형의 이산형은 단절된 숫자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셀 수 있는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대표 예시는 판매량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합격자 수입니다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수치형의 연속형은 연속적인 숫자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잴 수 있는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대표 예시는 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몸무게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온도입니다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 연습 문제를 하나 더 풀어보겠습니다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 데이터의 유형을 각각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분류하시오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MBTI,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둘째 학점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셋째 수강 인원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넷째 체온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생각해보세요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MBTI. INTJ, ENFP, ISTP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것들이죠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이것들 사이에 순서가 있나요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그러니까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명목형입니다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둘째 학점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A, B, C, D, F.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순서가 있나요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보다 높죠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그러니까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순서형입니다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셋째 수강 인원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42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38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 같은 숫자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셀 수 있나요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42.5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명이 있을 수 있나요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그러니까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이산형입니다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넷째 체온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36.5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37.2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 같은 숫자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잴 수 있나요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체온계로 잽니다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36.5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36.6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 사이에 무한한 값이 존재하나요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그러니까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연속형입니다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구분이 되시죠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좋습니다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이것으로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 데이터베이스 기본 개념을 모두 다루었습니다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 동안 꽤 많은 내용을 배웠는데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최종 정리를 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이것만 기억하시면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섹션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배운 핵심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데이터는 원재료이고 정보는 가공된 제품이다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데이터에서 처리 과정을 거치면 정보가 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정보 시스템의 기반에 데이터베이스가 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DB, DBMS, DBS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서로 다른 개념이다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데이터의 저장소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DBMS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관리 소프트웨어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DBS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전체 시스템이다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섹션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배운 핵심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데이터베이스의 정의에 포함되는 네 가지 키워드는 공유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운영이다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암기법은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공통저운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데이터에서 중복은 완전히 제거하는 게 아니라 최소화하는 것이다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함정 문제로 나오니까 주의하세요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데이터베이스의 네 가지 특징은 실시간 접근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계속 변화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동시 공유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내용으로 참조이다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암기법은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실계동내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CRUD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Create, Read, Update, Delete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소프트웨어의 기본 데이터 처리 연산이다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섹션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배운 핵심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형태별 분류로는 정형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반정형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비정형 데이터가 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정형은 표 형태이고 관계형 데이터베이스에서 관리하고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반정형은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XML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처럼 데이터 안에 구조가 내포되어 있고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비정형은 사진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텍스트처럼 구조가 없는 데이터다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데이터의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퍼센트 이상이 비정형이다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특성별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분류로는 범주형과 수치형이 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범주형은 명목형과 순서형으로 나뉘고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수치형은 이산형과 연속형으로 나뉜다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셀 수 있으면 이산형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잴 수 있으면 연속형이다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 시간에는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 관리 시스템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DBMS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다룹니다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오늘 우리가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대해 배웠는데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그러면 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이전에는 어떻게 데이터를 관리했느냐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 시스템이라는 걸 썼습니다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그런데 이 파일 시스템에는 심각한 문제점들이 있었어요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중복 문제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종속성 문제 같은 것들이요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문제를 해결하기 위해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DBMS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탄생했습니다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 시간에는 파일 시스템의 문제점이 정확히 무엇이었는지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DBMS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이걸 어떻게 해결했는지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DBMS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장단점은 무엇인지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DBMS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어떤 발전 과정을 거쳐왔는지를 배우겠습니다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오늘 수업 내용 중에 복습이 필요한 부분은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LMS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올린 슬라이드를 다시 보시고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특히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정의 네 가지 키워드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공유 통합 저장 운영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네 가지 특징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실시간 접근 계속 변화 동시 공유 내용 참조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다음 시간까지 반드시 외워오세요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혹시 마지막으로 질문 있으신 분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계신가요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좋습니다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오늘 수고 많으셨습니다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 시간에 뵙겠습니다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감사합니다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5088636"/>
            <a:ext cx="9034272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데이터베이스 기본 개념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Fundamental Concepts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918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박상돈 조교수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대전대학교 컴퓨터공학과</a:t>
            </a:r>
            <a:endParaRPr lang="en-US" sz="18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71600"/>
            <a:ext cx="1188720" cy="1188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72400" y="3200400"/>
            <a:ext cx="1097280" cy="1097280"/>
          </a:xfrm>
          <a:prstGeom prst="ellipse">
            <a:avLst/>
          </a:prstGeom>
          <a:solidFill>
            <a:srgbClr val="0891B2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858000" y="3474720"/>
            <a:ext cx="548640" cy="54864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73152" cy="868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4592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828800" y="1737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데이터베이스의 필요성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2103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데이터와 정보, 정보 처리, 정보 시스템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697480"/>
            <a:ext cx="73152" cy="868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9748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828800" y="2788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데이터베이스의 정의와 특징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0" y="3154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DB의 정의, 4대 특징, CRUD 개념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749040"/>
            <a:ext cx="73152" cy="868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74904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828800" y="3840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과학 시대의 데이터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2880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형태별·특성별 데이터 분류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1장. 데이터베이스 기본 개념  |  박상돈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데이터베이스의 필요성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Databases?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데이터와 정보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37490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51560"/>
            <a:ext cx="3749040" cy="73152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325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(Data)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192024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현실 세계에서 단순히 관찰하거나 수집한 </a:t>
            </a: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사실(Fact)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이나 </a:t>
            </a: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값(Value)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아직 가공되지 않은 원시 상태의 자료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그 자체로는 의미를 가지기 어려움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숫자, 문자, 기호 등 다양한 형태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예시: </a:t>
            </a: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"서울", "35", "2025-02-26"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051560"/>
            <a:ext cx="37490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051560"/>
            <a:ext cx="3749040" cy="7315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716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325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(Information)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029200" y="192024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데이터를 의사 결정에 유용하게 활용할 수 있도록 </a:t>
            </a: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처리·조직화한 결과물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데이터에 맥락과 의미를 부여한 것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의사 결정에 직접 활용 가능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분석·가공 과정을 통해 생성됨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예시: </a:t>
            </a: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"서울의 평균기온은 35°C로 폭염"</a:t>
            </a:r>
            <a:endParaRPr lang="en-US" sz="1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2468880"/>
            <a:ext cx="411480" cy="4114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40080" y="4526280"/>
            <a:ext cx="786384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8" name="Text 13"/>
          <p:cNvSpPr/>
          <p:nvPr/>
        </p:nvSpPr>
        <p:spPr>
          <a:xfrm>
            <a:off x="822960" y="45262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데이터는 원재료, 정보는 가공된 제품 — 데이터 → 처리(가공) → 정보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정보 처리 (Information Processing)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51560"/>
            <a:ext cx="73152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051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정의: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데이터(Data)에서 정보(Information)를 추출하는 과정 또는 방법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데이터를 상황에 맞게 분석·해석하여 데이터 간의 의미 관계를 파악하는 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377440"/>
            <a:ext cx="2011680" cy="1188720"/>
          </a:xfrm>
          <a:prstGeom prst="rect">
            <a:avLst/>
          </a:prstGeom>
          <a:solidFill>
            <a:srgbClr val="1A274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514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데이터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(Data)</a:t>
            </a:r>
            <a:endParaRPr lang="en-US" sz="16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743200"/>
            <a:ext cx="365760" cy="36576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566160" y="2377440"/>
            <a:ext cx="2011680" cy="1188720"/>
          </a:xfrm>
          <a:prstGeom prst="rect">
            <a:avLst/>
          </a:prstGeom>
          <a:solidFill>
            <a:srgbClr val="0891B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566160" y="2514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처리·가공</a:t>
            </a:r>
            <a:endParaRPr lang="en-US" sz="16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2EBF2"/>
                </a:solidFill>
              </a:rPr>
              <a:t>분석 / 해석 / 변환</a:t>
            </a:r>
            <a:endParaRPr lang="en-US" sz="16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2743200"/>
            <a:ext cx="365760" cy="36576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400800" y="2377440"/>
            <a:ext cx="2011680" cy="1188720"/>
          </a:xfrm>
          <a:prstGeom prst="rect">
            <a:avLst/>
          </a:prstGeom>
          <a:solidFill>
            <a:srgbClr val="1A274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400800" y="2514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정보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(Information)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40080" y="3840480"/>
            <a:ext cx="78638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91440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914400" y="4206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데이터: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서울, 35°C, 2025-08-01, 맑음  →  </a:t>
            </a: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정보: </a:t>
            </a: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"2025년 8월 1일 서울 기온 35°C, 폭염 경보 발령 필요"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정보 시스템과 데이터베이스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3749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51560"/>
            <a:ext cx="3749040" cy="73152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325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시스템 (Information System)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182880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 운영에 필요한 데이터를 수집·저장·가공·분배하는 체계적인 시스템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의사 결정 지원 시스템 (DSS)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 관리자의 의사 결정을 지원하기 위한 정보를 제공하는 시스템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 정보 시스템 (MIS)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기업의 경영 관리에 필요한 의사 결정용 정보 시스템. 재무, 인사, 생산, 마케팅 등 다양한 분야에 활용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051560"/>
            <a:ext cx="3749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051560"/>
            <a:ext cx="3749040" cy="7315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716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325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데이터베이스 계층 구조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029200" y="1965960"/>
            <a:ext cx="3200400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2"/>
          <p:cNvSpPr/>
          <p:nvPr/>
        </p:nvSpPr>
        <p:spPr>
          <a:xfrm>
            <a:off x="5212080" y="20116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DB  </a:t>
            </a:r>
            <a:r>
              <a:rPr lang="en-US" sz="1100" dirty="0">
                <a:solidFill>
                  <a:srgbClr val="B2EBF2"/>
                </a:solidFill>
              </a:rPr>
              <a:t>데이터베이스 (Database)</a:t>
            </a:r>
            <a:endParaRPr lang="en-US" sz="16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데이터의 저장소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5029200" y="2926080"/>
            <a:ext cx="3200400" cy="77724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8" name="Text 14"/>
          <p:cNvSpPr/>
          <p:nvPr/>
        </p:nvSpPr>
        <p:spPr>
          <a:xfrm>
            <a:off x="5212080" y="29718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DBMS  </a:t>
            </a:r>
            <a:r>
              <a:rPr lang="en-US" sz="1100" dirty="0">
                <a:solidFill>
                  <a:srgbClr val="B2EBF2"/>
                </a:solidFill>
              </a:rPr>
              <a:t>DB 관리 시스템</a:t>
            </a:r>
            <a:endParaRPr lang="en-US" sz="16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데이터를 관리하는 소프트웨어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029200" y="3886200"/>
            <a:ext cx="32004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0" name="Text 16"/>
          <p:cNvSpPr/>
          <p:nvPr/>
        </p:nvSpPr>
        <p:spPr>
          <a:xfrm>
            <a:off x="5212080" y="39319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DBS  </a:t>
            </a:r>
            <a:r>
              <a:rPr lang="en-US" sz="1100" dirty="0">
                <a:solidFill>
                  <a:srgbClr val="B2EBF2"/>
                </a:solidFill>
              </a:rPr>
              <a:t>데이터베이스 시스템</a:t>
            </a:r>
            <a:endParaRPr lang="en-US" sz="16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DB + DBMS + 사용자 + 응용 프로그램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데이터베이스의 정의와 특징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and Characteristics of Database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데이터베이스(DB)의 정의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786384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조직의 여러 사용자가 공유하여 사용할 수 있도록 통합해서 저장한 운영 데이터의 집합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103120"/>
            <a:ext cx="73152" cy="12344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24028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2194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</a:rPr>
              <a:t>공유 데이터</a:t>
            </a:r>
            <a:r>
              <a:rPr lang="en-US" sz="1000" dirty="0">
                <a:solidFill>
                  <a:srgbClr val="94A3B8"/>
                </a:solidFill>
              </a:rPr>
              <a:t>  Shared Data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26517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조직의 여러 사용자가 함께 소유하고 이용할 수 있는 공용 데이터. 각 부서와 사용자가 자신의 목적에 맞게 활용 가능.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54880" y="210312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2103120"/>
            <a:ext cx="73152" cy="12344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24028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94960" y="2194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</a:rPr>
              <a:t>통합 데이터</a:t>
            </a:r>
            <a:r>
              <a:rPr lang="en-US" sz="1000" dirty="0">
                <a:solidFill>
                  <a:srgbClr val="94A3B8"/>
                </a:solidFill>
              </a:rPr>
              <a:t>  Integrated Data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983480" y="26517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데이터의 중복을 최소화한 통합된 데이터 집합. 불필요한 중복은 제거하고 통제 가능한 중복만 허용함.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40080" y="352044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0080" y="3520440"/>
            <a:ext cx="73152" cy="123444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65760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8016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</a:rPr>
              <a:t>저장 데이터</a:t>
            </a:r>
            <a:r>
              <a:rPr lang="en-US" sz="1000" dirty="0">
                <a:solidFill>
                  <a:srgbClr val="94A3B8"/>
                </a:solidFill>
              </a:rPr>
              <a:t>  Stored Data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868680" y="40690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컴퓨터가 접근할 수 있는 저장 매체(디스크, SSD 등)에 저장된 데이터. 물리적으로 영구 보존이 가능해야 함.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754880" y="352044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54880" y="3520440"/>
            <a:ext cx="73152" cy="12344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65760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9496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</a:rPr>
              <a:t>운영 데이터</a:t>
            </a:r>
            <a:r>
              <a:rPr lang="en-US" sz="1000" dirty="0">
                <a:solidFill>
                  <a:srgbClr val="94A3B8"/>
                </a:solidFill>
              </a:rPr>
              <a:t>  Operational Data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4983480" y="40690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조직의 주요 기능을 수행하기 위해 지속적으로 유지·관리해야 하는 필수 데이터. 임시 데이터는 해당하지 않음.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데이터베이스의 특징 (1/2)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78638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51560"/>
            <a:ext cx="73152" cy="173736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2344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188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접근 (Real-Time Accessibility)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05840" y="169164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사용자의 데이터 요구에 실시간으로 빠르게 응답할 수 있어야 합니다.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질의(Query)에 대해 즉각적인 결과를 반환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온라인 트랜잭션 처리(OLTP) 환경에서 핵심적인 요구사항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 초 이내의 응답 시간 보장이 필수적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2971800"/>
            <a:ext cx="78638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2971800"/>
            <a:ext cx="73152" cy="19202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1546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5448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계속 변화 (Continuous Evolution)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005840" y="361188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데이터베이스는 동적(Dynamic) 특성을 가지며, 항상 최신의 정확한 데이터 상태를 유지해야 합니다.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— 소프트웨어 기본 데이터 처리 요구사항: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 (Create): 새로운 데이터 삽입  |  R (Read): 데이터 검색·조회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 (Update): 기존 데이터 수정   |  D (Delete): 불필요한 데이터 삭제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데이터베이스의 특징 (2/2)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78638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51560"/>
            <a:ext cx="73152" cy="173736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2344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188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동시 공유 (Concurrent Sharing)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05840" y="169164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사용자가 동시에 같은 데이터 또는 서로 다른 데이터를 사용할 수 있습니다.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동시성 제어(Concurrency Control)를 통해 데이터 일관성 유지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트랜잭션 격리 수준(Isolation Level)으로 충돌 방지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다중 사용자 환경에서 데이터 무결성 보장이 핵심 과제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2971800"/>
            <a:ext cx="78638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2971800"/>
            <a:ext cx="73152" cy="19202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1546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5448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내용으로 참조 (Content Reference)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005840" y="361188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데이터의 물리적 주소가 아닌, 데이터의 내용(Content)으로 검색합니다.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사용자가 찾고자 하는 조건을 제시하면 해당 데이터를 모두 검색 가능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데이터가 물리적으로 분산 저장되어 있어도 논리적으로 통합 검색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SQL의 WHERE 절이 대표적인 내용 기반 참조 방식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예: SELECT * FROM 학생 WHERE 학과 = '컴퓨터공학과'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 과학 시대의 데이터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the Age of Data Science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형태에 따른 데이터 분류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데이터는 구조화된 형태에 따라 3가지로 구분됩니다.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78638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554480"/>
            <a:ext cx="73152" cy="9601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4592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정형 데이터  Structured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71600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미리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정해진 스키마(Schema)에 따라 행과 열로 구성된 데이터. 관계형 데이터베이스, 스프레드시트 등.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766560" y="1783080"/>
            <a:ext cx="1554480" cy="502920"/>
          </a:xfrm>
          <a:prstGeom prst="rect">
            <a:avLst/>
          </a:prstGeom>
          <a:solidFill>
            <a:srgbClr val="0891B2">
              <a:alpha val="1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766560" y="1783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RDBMS, CSV, Excel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2697480"/>
            <a:ext cx="78638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2697480"/>
            <a:ext cx="73152" cy="9601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78892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37160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반정형 데이터  Semi-Structured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71600" y="3063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고정된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스키마 없이 데이터 내부에 구조(메타데이터)가 포함된 데이터. 유연한 구조 변경이 가능.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766560" y="2926080"/>
            <a:ext cx="1554480" cy="502920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6766560" y="2926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XML, JSON, 센서 데이터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40080" y="3840480"/>
            <a:ext cx="78638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40080" y="3840480"/>
            <a:ext cx="73152" cy="96012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93192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7160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비정형 데이터  Unstructured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371600" y="4206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정해진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구조가 없는 자유 형태의 데이터. 전체 데이터의 약 80%를 차지하며 빠르게 증가 중.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766560" y="4069080"/>
            <a:ext cx="1554480" cy="502920"/>
          </a:xfrm>
          <a:prstGeom prst="rect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27" name="Text 22"/>
          <p:cNvSpPr/>
          <p:nvPr/>
        </p:nvSpPr>
        <p:spPr>
          <a:xfrm>
            <a:off x="6766560" y="4069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텍스트, 이미지, 영상, 음성, PDF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정형 데이터 (Structured Data)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미리 정해진 구조(Schema)에 따라 저장된 데이터 — 행(Row)과 열(Column)로 구성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예시: 학생 정보 테이블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4572000" cy="9906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학번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이름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학과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학년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평점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20210001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김철수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컴퓨터공학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20210002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이영희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전자공학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4.2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20210003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박민준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컴퓨터공학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035040" y="192024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35040" y="1920240"/>
            <a:ext cx="24688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특징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217920" y="237744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고정된 스키마 보유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SQL로 검색·조작 가능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 무결성 보장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관계형 DB에서 관리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트랜잭션 지원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시스템: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Oracle, MySQL, PostgreSQL, MS SQL Server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반정형 데이터 (Semi-Structured Data)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내용 안에 구조(메타데이터)에 대한 설명이 함께 존재하는 데이터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3749040" cy="2926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XML 예시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&lt;학생목록&gt;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&lt;학생&gt;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&lt;학번&gt;20210001&lt;/학번&gt;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&lt;이름&gt;김철수&lt;/이름&gt;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&lt;학과&gt;컴퓨터공학&lt;/학과&gt;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&lt;/학생&gt;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&lt;/학생목록&gt;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920240"/>
            <a:ext cx="3749040" cy="2926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예시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33172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"학생": [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"학번": "20210001",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"이름": "김철수",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"학과": "컴퓨터공학"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비정형 데이터 (Unstructured Data)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정해진 구조 없이 저장되는 데이터 — 전체 데이터의 약 80% 이상을 차지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3749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920240"/>
            <a:ext cx="73152" cy="10058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5740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2423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게시물, 이메일, 뉴스 기사, 리뷰, 웹 문서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1920240"/>
            <a:ext cx="3749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192024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0574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4068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983480" y="2423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사진, 의료 영상(X-ray, CT), 위성 이미지, 그래픽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0080" y="3108960"/>
            <a:ext cx="3749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0080" y="3108960"/>
            <a:ext cx="73152" cy="100584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24612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2588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영상/음성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868680" y="3611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유튜브 동영상, 팟캐스트, CCTV 영상, 음악 파일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754880" y="3108960"/>
            <a:ext cx="3749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54880" y="3108960"/>
            <a:ext cx="73152" cy="10058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24612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4068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파일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4983480" y="3611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Word, PowerPoint 등 비구조적 포맷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3"/>
          <p:cNvSpPr/>
          <p:nvPr/>
        </p:nvSpPr>
        <p:spPr>
          <a:xfrm>
            <a:off x="914400" y="4434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비정형 데이터의 급증 → 빅데이터 기술(Hadoop, Spark, NoSQL)과 AI/ML 기반 분석의 중요성 대두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6"/>
          <p:cNvSpPr/>
          <p:nvPr/>
        </p:nvSpPr>
        <p:spPr>
          <a:xfrm>
            <a:off x="4800600" y="2011680"/>
            <a:ext cx="1234440" cy="56007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3108960" y="2011680"/>
            <a:ext cx="1234440" cy="56007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특성에 따른 데이터 분류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데이터의 특성에 따라 범주형 데이터와 수치형 데이터로 구분합니다.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508760"/>
            <a:ext cx="2743200" cy="5486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6"/>
          <p:cNvSpPr/>
          <p:nvPr/>
        </p:nvSpPr>
        <p:spPr>
          <a:xfrm>
            <a:off x="3200400" y="1508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320040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60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범주형 (Categorical)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 flipH="1">
            <a:off x="1554480" y="3108960"/>
            <a:ext cx="365760" cy="2743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51760" y="3108960"/>
            <a:ext cx="365760" cy="2743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383280"/>
            <a:ext cx="1463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429000"/>
            <a:ext cx="1463040" cy="1371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</a:rPr>
              <a:t>명목형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Nominal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서열 </a:t>
            </a:r>
            <a:r>
              <a:rPr lang="en-US" sz="1000" dirty="0" err="1">
                <a:solidFill>
                  <a:srgbClr val="000000"/>
                </a:solidFill>
              </a:rPr>
              <a:t>없는</a:t>
            </a:r>
            <a:r>
              <a:rPr lang="en-US" sz="1000" dirty="0">
                <a:solidFill>
                  <a:srgbClr val="000000"/>
                </a:solidFill>
              </a:rPr>
              <a:t> 값</a:t>
            </a:r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예: 혈액형,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MBTI, 성별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77440" y="3383280"/>
            <a:ext cx="1463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377440" y="3429000"/>
            <a:ext cx="1463040" cy="1371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</a:rPr>
              <a:t>순서형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Ordinal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서열 </a:t>
            </a:r>
            <a:r>
              <a:rPr lang="en-US" sz="1000" dirty="0" err="1">
                <a:solidFill>
                  <a:srgbClr val="000000"/>
                </a:solidFill>
              </a:rPr>
              <a:t>있는</a:t>
            </a:r>
            <a:r>
              <a:rPr lang="en-US" sz="1000" dirty="0">
                <a:solidFill>
                  <a:srgbClr val="000000"/>
                </a:solidFill>
              </a:rPr>
              <a:t> 값</a:t>
            </a:r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예: 학년,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학점, 등급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03520" y="2560320"/>
            <a:ext cx="320040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2560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수치형 (Numerical)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 flipH="1">
            <a:off x="6217920" y="3108960"/>
            <a:ext cx="411480" cy="2743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69480" y="3108960"/>
            <a:ext cx="411480" cy="2743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0" y="3383280"/>
            <a:ext cx="1463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03520" y="3429000"/>
            <a:ext cx="1463040" cy="1371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이산형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Discrete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000" dirty="0" err="1">
                <a:solidFill>
                  <a:srgbClr val="000000"/>
                </a:solidFill>
              </a:rPr>
              <a:t>단절된</a:t>
            </a:r>
            <a:r>
              <a:rPr lang="en-US" sz="1000" dirty="0">
                <a:solidFill>
                  <a:srgbClr val="000000"/>
                </a:solidFill>
              </a:rPr>
              <a:t> </a:t>
            </a:r>
            <a:r>
              <a:rPr lang="en-US" sz="1000" dirty="0" err="1">
                <a:solidFill>
                  <a:srgbClr val="000000"/>
                </a:solidFill>
              </a:rPr>
              <a:t>숫자값</a:t>
            </a:r>
            <a:endParaRPr lang="en-US" sz="1000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예: 판매량,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합격자 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040880" y="3383280"/>
            <a:ext cx="1463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040880" y="3429000"/>
            <a:ext cx="1463040" cy="1371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연속형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Continuous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000" dirty="0" err="1">
                <a:solidFill>
                  <a:srgbClr val="000000"/>
                </a:solidFill>
              </a:rPr>
              <a:t>연속적</a:t>
            </a:r>
            <a:r>
              <a:rPr lang="en-US" sz="1000" dirty="0">
                <a:solidFill>
                  <a:srgbClr val="000000"/>
                </a:solidFill>
              </a:rPr>
              <a:t> </a:t>
            </a:r>
            <a:r>
              <a:rPr lang="en-US" sz="1000" dirty="0" err="1">
                <a:solidFill>
                  <a:srgbClr val="000000"/>
                </a:solidFill>
              </a:rPr>
              <a:t>숫자값</a:t>
            </a:r>
            <a:endParaRPr lang="en-US" sz="1000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예: 키, 몸무게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온도, 속도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범주형 데이터 (Categorical / Qualitative Data)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7863840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종류를 나타내는 값을 가진 데이터 — 질적/정성적 데이터(Qualitative Data)라고도 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7490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874520"/>
            <a:ext cx="374904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명목형 데이터 (Nominal)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4231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서열(순서)이 없는 값을 가지는 데이터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단순히 범주를 구분하는 용도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값 간의 크기 비교나 순서 비교 불가능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산술 연산이 의미 없음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혈액형(A, B, O, AB), MBTI, 성별,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주거 지역, 전공, 국적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874520"/>
            <a:ext cx="37490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874520"/>
            <a:ext cx="374904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순서형 데이터 (Ordinal)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0" y="24231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서열(순서)이 있는 값을 가지는 데이터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값 간의 순서 비교 가능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그러나 값 간의 간격이 일정하지 않음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산술 연산이 적합하지 않음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학년(1~4), 학점(A~F), 회원 등급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(골드&gt;실버&gt;브론즈), 만족도(상/중/하)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786384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5262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범주형 데이터는 연산이 어려움 — "1학년 + 2학년 = ?" → 의미 없는 연산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수치형 데이터 (Numerical / Quantitative Data)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7863840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크기 비교와 산술 연산이 가능한 데이터 — 양적/정량적 데이터(Quantitative Data)라고도 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7490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874520"/>
            <a:ext cx="374904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이산형 데이터 (Discrete)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4231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단절된(불연속적) 숫자 값을 가지는 데이터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주로 개수(Count)를 세는 데이터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정수 값만 취할 수 있는 경우가 많음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값 사이에 중간값이 존재하지 않음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일일 판매량, 합격자 수, 교통사고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건수, 가족 수, 수강 인원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874520"/>
            <a:ext cx="37490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874520"/>
            <a:ext cx="374904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연속형 데이터 (Continuous)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0" y="24231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연속적으로 이어진 숫자 값(실수)을 가지는 데이터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측정(Measurement)을 통해 얻는 데이터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두 값 사이에 무한한 중간값 존재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소수점 이하 값이 의미를 가짐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키(172.5cm), 몸무게(68.3kg), 온도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(36.5°C), 속도(km/h), 주가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786384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5262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수치형 데이터는 연산 가능 — 평균, 합계, 표준편차 등 통계 분석에 직접 활용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9144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감사합니다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840480" y="3291840"/>
            <a:ext cx="146304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566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박상돈 조교수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대전대학교 컴퓨터공학과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3840480"/>
            <a:ext cx="731520" cy="73152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955280" y="731520"/>
            <a:ext cx="914400" cy="9144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10819</Words>
  <Application>Microsoft Office PowerPoint</Application>
  <PresentationFormat>화면 슬라이드 쇼(16:9)</PresentationFormat>
  <Paragraphs>536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맑은 고딕</vt:lpstr>
      <vt:lpstr>Arial</vt:lpstr>
      <vt:lpstr>Arial Black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1장. 데이터베이스 기본 개념</dc:title>
  <dc:subject>PptxGenJS Presentation</dc:subject>
  <dc:creator>박상돈</dc:creator>
  <cp:lastModifiedBy>USER</cp:lastModifiedBy>
  <cp:revision>51</cp:revision>
  <dcterms:created xsi:type="dcterms:W3CDTF">2026-02-26T04:21:50Z</dcterms:created>
  <dcterms:modified xsi:type="dcterms:W3CDTF">2026-02-26T15:52:18Z</dcterms:modified>
</cp:coreProperties>
</file>