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</p:sldIdLst>
  <p:notesMasterIdLst>
    <p:notesMasterId r:id="rId8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notesMaster" Target="notesMasters/notesMaster1.xml"/><Relationship Id="rId89" Type="http://schemas.openxmlformats.org/officeDocument/2006/relationships/presProps" Target="presProps.xml"/><Relationship Id="rId90" Type="http://schemas.openxmlformats.org/officeDocument/2006/relationships/viewProps" Target="viewProps.xml"/><Relationship Id="rId91" Type="http://schemas.openxmlformats.org/officeDocument/2006/relationships/theme" Target="theme/theme1.xml"/><Relationship Id="rId9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0" y="1417320"/>
            <a:ext cx="50566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2436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3000" dirty="0"/>
          </a:p>
        </p:txBody>
      </p:sp>
      <p:sp>
        <p:nvSpPr>
          <p:cNvPr id="4" name="Shape 2"/>
          <p:cNvSpPr/>
          <p:nvPr/>
        </p:nvSpPr>
        <p:spPr>
          <a:xfrm>
            <a:off x="10469880" y="777240"/>
            <a:ext cx="868680" cy="8686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8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EXERCISES &amp; SOLUTIONS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19659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연습문제 풀이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8FD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회복과 병행 제어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86968" y="3657600"/>
            <a:ext cx="237744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977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41문항  ·  객관식 23 + 주관식 18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D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박상돈 조교수  ·  대전대학교 컴퓨터공학과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6916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3383280" y="25146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문제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29000" y="34564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Choice  ·  Q1 – Q23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데이터베이스에서 논리적인 작업의 단위로, 하나의 기능을 수행하기 위해 필요한 일련의 연산들을 의미하는 것은?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투플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로킹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01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</a:t>
            </a:r>
            <a:pPr indent="0" marL="0">
              <a:buNone/>
            </a:pPr>
            <a:r>
              <a:rPr lang="en-US" sz="25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E4F4EA"/>
          </a:solidFill>
          <a:ln w="28575">
            <a:solidFill>
              <a:srgbClr val="2E9E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68296"/>
            <a:ext cx="475488" cy="47548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64824" y="23774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22376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로킹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91672" cy="1481328"/>
          </a:xfrm>
          <a:prstGeom prst="roundRect">
            <a:avLst>
              <a:gd name="adj" fmla="val 4321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70001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7000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175504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트랜잭션(transaction)은 하나의 작업을 수행하는 데 필요한 데이터베이스 연산들을 모아 놓은 논리적인 작업 단위입니다.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트랜잭션에 대한 설명으로 옳지 않은 것은?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트랜잭션의 연산은 모두 정상적으로 수행되거나 하나도 수행되지 않아야 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성공적으로 수행된 후에도 데이터베이스가 일관성 있는 상태를 유지해야 한다.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 중 생성된 중간 연산 결과를 다른 트랜잭션의 연산이 접근할 수 있다.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성공적으로 완료된 후 반영된 수행 결과는 영구적으로 유지되어야 한다.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02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</a:t>
            </a:r>
            <a:pPr indent="0" marL="0">
              <a:buNone/>
            </a:pPr>
            <a:r>
              <a:rPr lang="en-US" sz="25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트랜잭션의 연산은 모두 정상적으로 수행되거나 하나도 수행되지 않아야 한다.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성공적으로 수행된 후에도 데이터베이스가 일관성 있는 상태를 유지해야 한다.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E4F4EA"/>
          </a:solidFill>
          <a:ln w="28575">
            <a:solidFill>
              <a:srgbClr val="2E9E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10712"/>
            <a:ext cx="475488" cy="47548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 중 생성된 중간 연산 결과를 다른 트랜잭션의 연산이 접근할 수 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12664" y="341985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22376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성공적으로 완료된 후 반영된 수행 결과는 영구적으로 유지되어야 한다.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91672" cy="1481328"/>
          </a:xfrm>
          <a:prstGeom prst="roundRect">
            <a:avLst>
              <a:gd name="adj" fmla="val 4321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70001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7000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175504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③은 격리성(isolation)에 위배됩니다. 수행 중인 트랜잭션의 중간 결과는 다른 트랜잭션이 접근할 수 없어야 합니다.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트랜잭션에 대한 설명으로 옳은 것은?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트랜잭션의 일부 연산만 데이터베이스에 반영할 수 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트랜잭션은 병행 제어와 회복 작업의 단위다.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트랜잭션은 하나의 기능을 수행하기 위한 물리적 작업 단위다.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완료를 뜻하는 rollback과 작업 취소를 뜻하는 commit 연산이 있다.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03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</a:t>
            </a:r>
            <a:pPr indent="0" marL="0">
              <a:buNone/>
            </a:pPr>
            <a:r>
              <a:rPr lang="en-US" sz="25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트랜잭션의 일부 연산만 데이터베이스에 반영할 수 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E4F4EA"/>
          </a:solidFill>
          <a:ln w="28575">
            <a:solidFill>
              <a:srgbClr val="2E9E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68296"/>
            <a:ext cx="475488" cy="47548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트랜잭션은 병행 제어와 회복 작업의 단위다.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64824" y="23774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트랜잭션은 하나의 기능을 수행하기 위한 물리적 작업 단위다.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22376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완료를 뜻하는 rollback과 작업 취소를 뜻하는 commit 연산이 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91672" cy="1481328"/>
          </a:xfrm>
          <a:prstGeom prst="roundRect">
            <a:avLst>
              <a:gd name="adj" fmla="val 4321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70001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7000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175504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트랜잭션은 병행 제어와 회복의 기본 단위입니다. ①은 원자성 위배, ③은 '논리적' 작업 단위, ④는 commit↔rollback 의미가 뒤바뀌었습니다.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04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설명이 의미하는 트랜잭션의 특성은?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1325880"/>
          </a:xfrm>
          <a:prstGeom prst="roundRect">
            <a:avLst>
              <a:gd name="adj" fmla="val 4828"/>
            </a:avLst>
          </a:prstGeom>
          <a:solidFill>
            <a:srgbClr val="E7EEF4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92808"/>
            <a:ext cx="105156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트랜잭션이 동시에 수행되더라도 각 트랜잭션이 독립적으로 수행될 수 있도록, 현재 수행 중인 트랜잭션이 완료될 때까지 다른 트랜잭션의 연산은 끼어들 수 없다. 즉, T1과 T2가 있다면 T1 시작 전에 T2가 끝나거나, T1이 끝난 후 T2가 시작되어야 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310128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60273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02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371600" y="3346704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원자성(atomicity)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3310128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360273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602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223760" y="3346704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일관성(consistency)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16552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70916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709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371600" y="4453128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격리성(isolation)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4416552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470916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709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223760" y="4453128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지속성(durability)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04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</a:t>
            </a:r>
            <a:pPr indent="0" marL="0">
              <a:buNone/>
            </a:pPr>
            <a:r>
              <a:rPr lang="en-US" sz="25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원자성(atomicity)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일관성(consistency)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E4F4EA"/>
          </a:solidFill>
          <a:ln w="28575">
            <a:solidFill>
              <a:srgbClr val="2E9E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10712"/>
            <a:ext cx="475488" cy="47548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격리성(isolation)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12664" y="341985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22376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지속성(durability)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91672" cy="1481328"/>
          </a:xfrm>
          <a:prstGeom prst="roundRect">
            <a:avLst>
              <a:gd name="adj" fmla="val 4321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70001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7000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175504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트랜잭션이 동시에 수행되어도 서로 간섭 없이 독립적으로 실행되는 특성은 격리성(isolation)입니다.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05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무결성을 보장하기 위한 트랜잭션의 특성으로 올바르지 않은 것은?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자율성(autonomy)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일관성(consistency)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격리성(isolation)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지속성(durability)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05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</a:t>
            </a:r>
            <a:pPr indent="0" marL="0">
              <a:buNone/>
            </a:pPr>
            <a:r>
              <a:rPr lang="en-US" sz="25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E4F4EA"/>
          </a:solidFill>
          <a:ln w="28575">
            <a:solidFill>
              <a:srgbClr val="2E9E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68296"/>
            <a:ext cx="475488" cy="47548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자율성(autonomy)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12664" y="23774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22376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일관성(consistency)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격리성(isolation)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22376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지속성(durability)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91672" cy="1481328"/>
          </a:xfrm>
          <a:prstGeom prst="roundRect">
            <a:avLst>
              <a:gd name="adj" fmla="val 4321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70001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7000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175504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트랜잭션의 특성(ACID)은 원자성·일관성·격리성·지속성입니다. '자율성'은 ACID에 포함되지 않습니다.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06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설명이 의미하는 트랜잭션의 특성은?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1325880"/>
          </a:xfrm>
          <a:prstGeom prst="roundRect">
            <a:avLst>
              <a:gd name="adj" fmla="val 4828"/>
            </a:avLst>
          </a:prstGeom>
          <a:solidFill>
            <a:srgbClr val="E7EEF4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92808"/>
            <a:ext cx="105156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트랜잭션의 연산이 데이터베이스에 모두 반영되거나, 모두 반영되지 않아야 하는 all-or-nothing 방식이어야 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310128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60273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02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371600" y="3346704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원자성(atomicity)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3310128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360273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602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223760" y="3346704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일관성(consistency)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16552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70916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709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371600" y="4453128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격리성(isolation)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4416552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470916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709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223760" y="4453128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지속성(durability)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06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</a:t>
            </a:r>
            <a:pPr indent="0" marL="0">
              <a:buNone/>
            </a:pPr>
            <a:r>
              <a:rPr lang="en-US" sz="25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E4F4EA"/>
          </a:solidFill>
          <a:ln w="28575">
            <a:solidFill>
              <a:srgbClr val="2E9E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68296"/>
            <a:ext cx="475488" cy="47548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원자성(atomicity)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12664" y="23774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22376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일관성(consistency)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격리성(isolation)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22376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지속성(durability)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91672" cy="1481328"/>
          </a:xfrm>
          <a:prstGeom prst="roundRect">
            <a:avLst>
              <a:gd name="adj" fmla="val 4321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70001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7000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175504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연산이 전부 반영되거나 전혀 반영되지 않아야 하는 all-or-nothing 특성은 원자성(atomicity)입니다.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07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 상태에 대한 다음 설명 중 옳은 것은?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commit 연산을 실행한 상태를 활동 상태라고 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트랜잭션의 모든 연산이 처리된 상태를 부분 완료 상태라고 한다.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장애가 발생하여 수행이 중단된 상태를 철회 상태라고 한다.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수행이 실패하여 rollback 연산을 실행한 상태를 실패 상태라고 한다.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07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</a:t>
            </a:r>
            <a:pPr indent="0" marL="0">
              <a:buNone/>
            </a:pPr>
            <a:r>
              <a:rPr lang="en-US" sz="25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commit 연산을 실행한 상태를 활동 상태라고 한다.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E4F4EA"/>
          </a:solidFill>
          <a:ln w="28575">
            <a:solidFill>
              <a:srgbClr val="2E9E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68296"/>
            <a:ext cx="475488" cy="47548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트랜잭션의 모든 연산이 처리된 상태를 부분 완료 상태라고 한다.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64824" y="23774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장애가 발생하여 수행이 중단된 상태를 철회 상태라고 한다.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22376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수행이 실패하여 rollback 연산을 실행한 상태를 실패 상태라고 한다.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91672" cy="1481328"/>
          </a:xfrm>
          <a:prstGeom prst="roundRect">
            <a:avLst>
              <a:gd name="adj" fmla="val 4321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70001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7000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175504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연산까지 처리하고 commit 직전인 상태가 부분 완료 상태입니다. ①은 완료, ③은 실패, ④는 철회 상태에 해당합니다.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08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 수행 도중 장애가 발생했을 때 데이터베이스를 장애 발생 전의 일관된 상태로 복구시키는 것은?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재시작(restart)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철회(abort)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회복(recovery)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정지(stop)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08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</a:t>
            </a:r>
            <a:pPr indent="0" marL="0">
              <a:buNone/>
            </a:pPr>
            <a:r>
              <a:rPr lang="en-US" sz="25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재시작(restart)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철회(abort)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E4F4EA"/>
          </a:solidFill>
          <a:ln w="28575">
            <a:solidFill>
              <a:srgbClr val="2E9E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10712"/>
            <a:ext cx="475488" cy="47548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회복(recovery)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12664" y="341985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22376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정지(stop)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91672" cy="1481328"/>
          </a:xfrm>
          <a:prstGeom prst="roundRect">
            <a:avLst>
              <a:gd name="adj" fmla="val 4321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70001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7000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175504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발생 전의 일관된 상태로 데이터베이스를 되돌리는 작업을 회복(recovery)이라고 합니다.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09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 장애가 발생하는 원인으로 거리가 먼 것은?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대상 데이터의 부재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디스크 헤드의 고장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잘못된 데이터의 입력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논리적 연산 오류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09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</a:t>
            </a:r>
            <a:pPr indent="0" marL="0">
              <a:buNone/>
            </a:pPr>
            <a:r>
              <a:rPr lang="en-US" sz="25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대상 데이터의 부재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E4F4EA"/>
          </a:solidFill>
          <a:ln w="28575">
            <a:solidFill>
              <a:srgbClr val="2E9E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68296"/>
            <a:ext cx="475488" cy="47548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디스크 헤드의 고장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64824" y="23774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잘못된 데이터의 입력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22376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논리적 연산 오류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91672" cy="1481328"/>
          </a:xfrm>
          <a:prstGeom prst="roundRect">
            <a:avLst>
              <a:gd name="adj" fmla="val 4321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70001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7000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175504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디스크 헤드 고장은 저장 장치 손상으로 인한 미디어 장애의 원인입니다. 나머지는 트랜잭션 자체의 장애 원인입니다.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10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시스템에 발생하는 장애의 유형으로 거리가 먼 것은?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 장애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장애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장애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미디어 장애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10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</a:t>
            </a:r>
            <a:pPr indent="0" marL="0">
              <a:buNone/>
            </a:pPr>
            <a:r>
              <a:rPr lang="en-US" sz="25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 장애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장애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E4F4EA"/>
          </a:solidFill>
          <a:ln w="28575">
            <a:solidFill>
              <a:srgbClr val="2E9E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10712"/>
            <a:ext cx="475488" cy="47548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장애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12664" y="341985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22376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미디어 장애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91672" cy="1481328"/>
          </a:xfrm>
          <a:prstGeom prst="roundRect">
            <a:avLst>
              <a:gd name="adj" fmla="val 4321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70001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7000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175504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장애 유형은 트랜잭션 장애·시스템 장애·미디어 장애로 구분합니다. 네트워크 장애는 포함되지 않습니다.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비소멸성 저장 장치로 데이터 복사본을 만들어, 어떤 장애가 발생해도 데이터를 손실 없이 영구 저장할 수 있는 저장 장치는?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캐시 저장 장치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휘발성 저장 장치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비휘발성 저장 장치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 저장 장치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11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</a:t>
            </a:r>
            <a:pPr indent="0" marL="0">
              <a:buNone/>
            </a:pPr>
            <a:r>
              <a:rPr lang="en-US" sz="25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캐시 저장 장치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휘발성 저장 장치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비휘발성 저장 장치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E4F4EA"/>
          </a:solidFill>
          <a:ln w="28575">
            <a:solidFill>
              <a:srgbClr val="2E9E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3410712"/>
            <a:ext cx="475488" cy="47548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 저장 장치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64824" y="341985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91672" cy="1481328"/>
          </a:xfrm>
          <a:prstGeom prst="roundRect">
            <a:avLst>
              <a:gd name="adj" fmla="val 4321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70001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7000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175504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비휘발성 저장 장치에 복사본을 두어 데이터 손실을 막는 것이 안정 저장 장치(stable storage)입니다.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디스크 블록에 저장되어 있는 데이터 X를 메인 메모리의 버퍼 블록으로 이동시키는 연산은?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input(X)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output(X)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read(X)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write(X)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12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</a:t>
            </a:r>
            <a:pPr indent="0" marL="0">
              <a:buNone/>
            </a:pPr>
            <a:r>
              <a:rPr lang="en-US" sz="25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E4F4EA"/>
          </a:solidFill>
          <a:ln w="28575">
            <a:solidFill>
              <a:srgbClr val="2E9E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68296"/>
            <a:ext cx="475488" cy="47548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input(X)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12664" y="23774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22376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output(X)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read(X)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22376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write(X)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91672" cy="1481328"/>
          </a:xfrm>
          <a:prstGeom prst="roundRect">
            <a:avLst>
              <a:gd name="adj" fmla="val 4321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70001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7000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175504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디스크 → 메인 메모리 버퍼로의 블록 이동은 input(X)입니다. (반대 방향은 output(X))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프로그램의 변수 값을 메인 메모리 버퍼 블록에 있는 데이터 X에 기록하는 연산은?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input(X)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output(X)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read(X)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write(X)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13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</a:t>
            </a:r>
            <a:pPr indent="0" marL="0">
              <a:buNone/>
            </a:pPr>
            <a:r>
              <a:rPr lang="en-US" sz="25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input(X)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output(X)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read(X)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E4F4EA"/>
          </a:solidFill>
          <a:ln w="28575">
            <a:solidFill>
              <a:srgbClr val="2E9E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3410712"/>
            <a:ext cx="475488" cy="47548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write(X)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64824" y="341985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91672" cy="1481328"/>
          </a:xfrm>
          <a:prstGeom prst="roundRect">
            <a:avLst>
              <a:gd name="adj" fmla="val 4321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70001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7000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175504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변수 값을 버퍼 블록의 X에 기록하는 연산은 write(X)입니다. (버퍼 → 변수는 read(X))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14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데이터베이스의 회복 기법에 해당하지 않는 것은?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 회복 기법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미디어 회복 기법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시점 회복 기법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로킹 회복 기법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14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</a:t>
            </a:r>
            <a:pPr indent="0" marL="0">
              <a:buNone/>
            </a:pPr>
            <a:r>
              <a:rPr lang="en-US" sz="25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 회복 기법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미디어 회복 기법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시점 회복 기법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E4F4EA"/>
          </a:solidFill>
          <a:ln w="28575">
            <a:solidFill>
              <a:srgbClr val="2E9E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3410712"/>
            <a:ext cx="475488" cy="47548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로킹 회복 기법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64824" y="341985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91672" cy="1481328"/>
          </a:xfrm>
          <a:prstGeom prst="roundRect">
            <a:avLst>
              <a:gd name="adj" fmla="val 4321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70001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7000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175504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로킹은 병행 제어 기법입니다. 회복 기법에는 로그 기반·검사 시점·미디어 회복 기법 등이 있습니다.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15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덤프를 이용하는 회복 기법으로, 장애가 발생하면 가장 최근에 복사해 둔 덤프로 장애 발생 이전의 일관된 상태로 복구하는 것은?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 이용 회복 기법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미디어 회복 기법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시점 회복 기법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로킹 회복 기법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15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</a:t>
            </a:r>
            <a:pPr indent="0" marL="0">
              <a:buNone/>
            </a:pPr>
            <a:r>
              <a:rPr lang="en-US" sz="25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 이용 회복 기법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E4F4EA"/>
          </a:solidFill>
          <a:ln w="28575">
            <a:solidFill>
              <a:srgbClr val="2E9E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68296"/>
            <a:ext cx="475488" cy="47548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미디어 회복 기법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64824" y="23774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시점 회복 기법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22376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로킹 회복 기법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91672" cy="1481328"/>
          </a:xfrm>
          <a:prstGeom prst="roundRect">
            <a:avLst>
              <a:gd name="adj" fmla="val 4321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70001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7000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175504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덤프(전체 복사본)를 이용해 복구하는 것은 미디어 회복 기법입니다.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16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병행 제어 없이 여러 트랜잭션을 동시에 수행할 때 발생할 수 있는 문제점이 아닌 것은?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갱신 분실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중복성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모순성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연쇄 복귀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16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</a:t>
            </a:r>
            <a:pPr indent="0" marL="0">
              <a:buNone/>
            </a:pPr>
            <a:r>
              <a:rPr lang="en-US" sz="25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갱신 분실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E4F4EA"/>
          </a:solidFill>
          <a:ln w="28575">
            <a:solidFill>
              <a:srgbClr val="2E9E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68296"/>
            <a:ext cx="475488" cy="47548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64824" y="23774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모순성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22376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연쇄 복귀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91672" cy="1481328"/>
          </a:xfrm>
          <a:prstGeom prst="roundRect">
            <a:avLst>
              <a:gd name="adj" fmla="val 4321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70001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7000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175504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병행 수행 시 발생 문제는 갱신 분실·모순성·연쇄 복귀 등입니다. '중복성'은 해당하지 않습니다.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17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병행 제어 없이 여러 트랜잭션을 동시에 수행할 때 발생할 수 있는 문제점 중 다음 설명이 의미하는 것은?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1325880"/>
          </a:xfrm>
          <a:prstGeom prst="roundRect">
            <a:avLst>
              <a:gd name="adj" fmla="val 4828"/>
            </a:avLst>
          </a:prstGeom>
          <a:solidFill>
            <a:srgbClr val="E7EEF4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92808"/>
            <a:ext cx="105156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트랜잭션이 수행한 데이터 변경 연산의 결과를 다른 트랜잭션이 덮어 써, 변경 연산이 무효화되는 것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310128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60273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02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371600" y="3346704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갱신 분실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3310128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360273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602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223760" y="3346704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중복성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16552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70916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709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371600" y="4453128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모순성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4416552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470916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709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223760" y="4453128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연쇄 복귀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17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</a:t>
            </a:r>
            <a:pPr indent="0" marL="0">
              <a:buNone/>
            </a:pPr>
            <a:r>
              <a:rPr lang="en-US" sz="25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E4F4EA"/>
          </a:solidFill>
          <a:ln w="28575">
            <a:solidFill>
              <a:srgbClr val="2E9E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68296"/>
            <a:ext cx="475488" cy="47548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갱신 분실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12664" y="23774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22376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모순성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22376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연쇄 복귀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91672" cy="1481328"/>
          </a:xfrm>
          <a:prstGeom prst="roundRect">
            <a:avLst>
              <a:gd name="adj" fmla="val 4321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70001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7000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175504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트랜잭션의 갱신 결과가 다른 트랜잭션에 의해 덮어쓰여 사라지는 현상은 갱신 분실(lost update)입니다.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18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병행 제어의 목적으로 옳지 않은 것은?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활용도 최대화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시간 최대화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공유 최대화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일관성 유지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18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</a:t>
            </a:r>
            <a:pPr indent="0" marL="0">
              <a:buNone/>
            </a:pPr>
            <a:r>
              <a:rPr lang="en-US" sz="25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활용도 최대화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E4F4EA"/>
          </a:solidFill>
          <a:ln w="28575">
            <a:solidFill>
              <a:srgbClr val="2E9E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68296"/>
            <a:ext cx="475488" cy="47548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시간 최대화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64824" y="23774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공유 최대화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22376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일관성 유지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91672" cy="1481328"/>
          </a:xfrm>
          <a:prstGeom prst="roundRect">
            <a:avLst>
              <a:gd name="adj" fmla="val 4321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70001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7000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175504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시간은 '최소화'해야 합니다. 병행 제어는 활용도·공유 최대화와 일관성 유지를 목적으로 합니다.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19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로킹 기법에서 상대가 독점한 데이터의 unlock 연산을 기다리며 수행을 중단하고 있는 상태를 무엇이라 하는가?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중단 상태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회피 상태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대기 상태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교착 상태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19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</a:t>
            </a:r>
            <a:pPr indent="0" marL="0">
              <a:buNone/>
            </a:pPr>
            <a:r>
              <a:rPr lang="en-US" sz="25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중단 상태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회피 상태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대기 상태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E4F4EA"/>
          </a:solidFill>
          <a:ln w="28575">
            <a:solidFill>
              <a:srgbClr val="2E9E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3410712"/>
            <a:ext cx="475488" cy="47548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교착 상태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64824" y="341985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91672" cy="1481328"/>
          </a:xfrm>
          <a:prstGeom prst="roundRect">
            <a:avLst>
              <a:gd name="adj" fmla="val 4321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70001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7000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175504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상대가 잠근 데이터의 해제를 무한정 기다리며 진행하지 못하는 상태가 교착 상태(deadlock)입니다.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20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로킹(locking) 단위에 대한 설명으로 옳지 않은 것은?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로킹 단위가 커질수록 병행성이 낮아진다.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로킹 단위가 커질수록 lock 연산의 개수가 적어진다.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로킹 단위가 작아질수록 제어 기법이 단순해진다.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데이터베이스도 로킹 단위가 될 수 있다.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20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</a:t>
            </a:r>
            <a:pPr indent="0" marL="0">
              <a:buNone/>
            </a:pPr>
            <a:r>
              <a:rPr lang="en-US" sz="25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로킹 단위가 커질수록 병행성이 낮아진다.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로킹 단위가 커질수록 lock 연산의 개수가 적어진다.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E4F4EA"/>
          </a:solidFill>
          <a:ln w="28575">
            <a:solidFill>
              <a:srgbClr val="2E9E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10712"/>
            <a:ext cx="475488" cy="47548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로킹 단위가 작아질수록 제어 기법이 단순해진다.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12664" y="341985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22376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데이터베이스도 로킹 단위가 될 수 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91672" cy="1481328"/>
          </a:xfrm>
          <a:prstGeom prst="roundRect">
            <a:avLst>
              <a:gd name="adj" fmla="val 4321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70001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7000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175504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로킹 단위가 작아질수록 관리할 lock이 많아져 제어 기법이 오히려 복잡해집니다.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병행 제어에서 로킹 단위가 작은 경우에 대한 설명으로 옳지 않은 것은?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lock 연산의 개수가 많아진다.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병행성의 수준이 낮아진다.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병행 제어 기법이 복잡해진다.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교착 상태가 발생하는 경우가 많아진다.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21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</a:t>
            </a:r>
            <a:pPr indent="0" marL="0">
              <a:buNone/>
            </a:pPr>
            <a:r>
              <a:rPr lang="en-US" sz="25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lock 연산의 개수가 많아진다.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E4F4EA"/>
          </a:solidFill>
          <a:ln w="28575">
            <a:solidFill>
              <a:srgbClr val="2E9E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68296"/>
            <a:ext cx="475488" cy="47548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병행성의 수준이 낮아진다.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64824" y="23774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병행 제어 기법이 복잡해진다.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22376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교착 상태가 발생하는 경우가 많아진다.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91672" cy="1481328"/>
          </a:xfrm>
          <a:prstGeom prst="roundRect">
            <a:avLst>
              <a:gd name="adj" fmla="val 4321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70001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7000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175504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로킹 단위가 작으면 병행성 수준은 오히려 '높아집니다'. 나머지 ①③④는 모두 작은 단위의 특징입니다.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로킹 기법에서 트랜잭션이 데이터에 대한 독점권을 요청하는 연산은?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lock 연산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unlock 연산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redo 연산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undo 연산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22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</a:t>
            </a:r>
            <a:pPr indent="0" marL="0">
              <a:buNone/>
            </a:pPr>
            <a:r>
              <a:rPr lang="en-US" sz="25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E4F4EA"/>
          </a:solidFill>
          <a:ln w="28575">
            <a:solidFill>
              <a:srgbClr val="2E9E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68296"/>
            <a:ext cx="475488" cy="47548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lock 연산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12664" y="23774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22376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unlock 연산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redo 연산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22376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undo 연산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91672" cy="1481328"/>
          </a:xfrm>
          <a:prstGeom prst="roundRect">
            <a:avLst>
              <a:gd name="adj" fmla="val 4321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70001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7000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175504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데이터에 대한 독점권(잠금)을 요청하는 연산은 lock 연산이고, 해제는 unlock 연산입니다.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 로킹 규약에 대한 설명으로 옳은 것은?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lock만 실행할 수 있고 unlock은 실행할 수 없는 축소 단계가 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3017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3310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3054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unlock만 실행할 수 있고 lock은 실행할 수 없는 확장 단계가 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직렬 가능성이 보장된다.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4160520"/>
            <a:ext cx="5239512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4453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4197096"/>
            <a:ext cx="3913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교착 상태가 발생하지 않도록 예방할 수 있다.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23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 </a:t>
            </a:r>
            <a:pPr indent="0" marL="0">
              <a:buNone/>
            </a:pPr>
            <a:r>
              <a:rPr lang="en-US" sz="25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lock만 실행할 수 있고 unlock은 실행할 수 없는 축소 단계가 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21408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3682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157984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unlock만 실행할 수 있고 lock은 실행할 수 없는 확장 단계가 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E4F4EA"/>
          </a:solidFill>
          <a:ln w="28575">
            <a:solidFill>
              <a:srgbClr val="2E9E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10712"/>
            <a:ext cx="475488" cy="47548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직렬 가능성이 보장된다.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12664" y="341985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0" y="3163824"/>
            <a:ext cx="5239512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223760" y="3200400"/>
            <a:ext cx="39136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교착 상태가 발생하지 않도록 예방할 수 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91672" cy="1481328"/>
          </a:xfrm>
          <a:prstGeom prst="roundRect">
            <a:avLst>
              <a:gd name="adj" fmla="val 4321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70001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7000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175504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 로킹 규약(2PL)은 직렬 가능성을 보장합니다. 확장 단계는 lock만, 축소 단계는 unlock만 가능하며, 교착 상태는 예방하지 못합니다.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6916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3383280" y="25146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 문제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29000" y="34564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Answer &amp; Descriptive  ·  Q24 – Q41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24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트랜잭션이 무엇인지 설명하시오.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24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100584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700784"/>
            <a:ext cx="10515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작업을 수행하기 위해 필요한 데이터베이스 연산들을 모아 놓은 논리적인 작업의 단위입니다.</a:t>
            </a:r>
            <a:endParaRPr lang="en-US" sz="15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25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무결성과 일관성을 보장하기 위한 트랜잭션의 특성 네 가지가 무엇인지 설명하시오.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25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01368"/>
            <a:ext cx="1737360" cy="512064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0136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원자성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97480" y="16002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Atomicity — 연산은 모두 반영되거나 전혀 반영되지 않는다(all-or-nothing)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679192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880360"/>
            <a:ext cx="1737360" cy="512064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8036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97480" y="2679192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Consistency — 수행 후에도 일관된 데이터베이스 상태를 유지한다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758184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959352"/>
            <a:ext cx="1737360" cy="512064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5935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격리성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697480" y="3758184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Isolation — 동시 수행 트랜잭션이 서로 간섭하지 않는다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837176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5038344"/>
            <a:ext cx="1737360" cy="512064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038344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지속성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697480" y="4837176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Durability — 완료된 결과는 영구적으로 반영된다</a:t>
            </a:r>
            <a:endParaRPr lang="en-US" sz="13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26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한빛 은행에서 A가 고객 인증을 거쳐 잔액을 조회한 후, 타인에게 송금하는 도중에 장애가 발생했을 경우의 부작용을 방지할 수 있는 트랜잭션의 특성은?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26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4F4EA"/>
          </a:solidFill>
          <a:ln w="25400">
            <a:solidFill>
              <a:srgbClr val="2E9E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0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원자성</a:t>
            </a:r>
            <a:pPr algn="ctr" indent="0" marL="0">
              <a:buNone/>
            </a:pPr>
            <a:r>
              <a:rPr lang="en-US" sz="16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(atomicity)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1091672" cy="1554480"/>
          </a:xfrm>
          <a:prstGeom prst="roundRect">
            <a:avLst>
              <a:gd name="adj" fmla="val 4118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87121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8712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346704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송금 연산의 일부만 반영되면 출금은 되고 입금은 안 되는 잔액 불일치가 생깁니다. 연산을 전부 반영하거나 전혀 반영하지 않는 all-or-nothing(원자성)을 보장하면 장애 시 트랜잭션 전체가 취소되어 부작용을 막을 수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27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설명에서 Ⓐ와 Ⓑ가 각각 무엇인지 쓰시오.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11091672" cy="1188720"/>
          </a:xfrm>
          <a:prstGeom prst="roundRect">
            <a:avLst>
              <a:gd name="adj" fmla="val 5385"/>
            </a:avLst>
          </a:prstGeom>
          <a:solidFill>
            <a:srgbClr val="E7EEF4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47088"/>
            <a:ext cx="10515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트랜잭션의 수행이 성공적으로 완료됐음을 선언하는 연산은 ( Ⓐ )이고, 트랜잭션을 수행하기 이전 상태로 되돌리기 위해 작업 취소를 선언하는 연산은 ( Ⓑ )이다.</a:t>
            </a:r>
            <a:endParaRPr lang="en-US" sz="13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27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88366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53312" y="169164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COMMIT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199632" y="1691640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88366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04304" y="169164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ROLLBACK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11091672" cy="1417320"/>
          </a:xfrm>
          <a:prstGeom prst="roundRect">
            <a:avLst>
              <a:gd name="adj" fmla="val 4516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291693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91693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3392424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COMMIT은 트랜잭션의 성공적 완료를 확정해 결과를 영구 반영하고, ROLLBACK은 실패한 트랜잭션의 작업을 취소해 이전 상태로 되돌립니다.</a:t>
            </a:r>
            <a:endParaRPr lang="en-US" sz="12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28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트랜잭션의 5가지 상태를 나타내는 다음 그림에서 Ⓐ·Ⓑ는 어떤 상태이고, Ⓒ·Ⓓ는 어떤 연산인가?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069080" y="2340864"/>
            <a:ext cx="914400" cy="0"/>
          </a:xfrm>
          <a:prstGeom prst="line">
            <a:avLst/>
          </a:prstGeom>
          <a:noFill/>
          <a:ln w="25400">
            <a:solidFill>
              <a:srgbClr val="6E7E8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223760" y="2340864"/>
            <a:ext cx="1005840" cy="0"/>
          </a:xfrm>
          <a:prstGeom prst="line">
            <a:avLst/>
          </a:prstGeom>
          <a:noFill/>
          <a:ln w="25400">
            <a:solidFill>
              <a:srgbClr val="6E7E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48940" y="2715768"/>
            <a:ext cx="0" cy="1490472"/>
          </a:xfrm>
          <a:prstGeom prst="line">
            <a:avLst/>
          </a:prstGeom>
          <a:noFill/>
          <a:ln w="25400">
            <a:solidFill>
              <a:srgbClr val="6E7E8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069080" y="4581144"/>
            <a:ext cx="914400" cy="0"/>
          </a:xfrm>
          <a:prstGeom prst="line">
            <a:avLst/>
          </a:prstGeom>
          <a:noFill/>
          <a:ln w="25400">
            <a:solidFill>
              <a:srgbClr val="6E7E8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>
            <a:off x="4069080" y="2715768"/>
            <a:ext cx="914400" cy="1490472"/>
          </a:xfrm>
          <a:prstGeom prst="line">
            <a:avLst/>
          </a:prstGeom>
          <a:noFill/>
          <a:ln w="25400">
            <a:solidFill>
              <a:srgbClr val="6E7E8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828800" y="1965960"/>
            <a:ext cx="22402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1965960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83480" y="1965960"/>
            <a:ext cx="22402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965960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Ⓐ 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0" y="1965960"/>
            <a:ext cx="22402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965960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828800" y="4206240"/>
            <a:ext cx="22402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4206240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83480" y="4206240"/>
            <a:ext cx="22402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4206240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Ⓑ 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12280" y="1600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Ⓒ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11880" y="38221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Ⓓ</a:t>
            </a:r>
            <a:endParaRPr lang="en-US" sz="11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28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069080" y="2340864"/>
            <a:ext cx="914400" cy="0"/>
          </a:xfrm>
          <a:prstGeom prst="line">
            <a:avLst/>
          </a:prstGeom>
          <a:noFill/>
          <a:ln w="25400">
            <a:solidFill>
              <a:srgbClr val="6E7E8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223760" y="2340864"/>
            <a:ext cx="1005840" cy="0"/>
          </a:xfrm>
          <a:prstGeom prst="line">
            <a:avLst/>
          </a:prstGeom>
          <a:noFill/>
          <a:ln w="25400">
            <a:solidFill>
              <a:srgbClr val="6E7E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48940" y="2715768"/>
            <a:ext cx="0" cy="1490472"/>
          </a:xfrm>
          <a:prstGeom prst="line">
            <a:avLst/>
          </a:prstGeom>
          <a:noFill/>
          <a:ln w="25400">
            <a:solidFill>
              <a:srgbClr val="6E7E8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069080" y="4581144"/>
            <a:ext cx="914400" cy="0"/>
          </a:xfrm>
          <a:prstGeom prst="line">
            <a:avLst/>
          </a:prstGeom>
          <a:noFill/>
          <a:ln w="25400">
            <a:solidFill>
              <a:srgbClr val="6E7E8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>
            <a:off x="4069080" y="2715768"/>
            <a:ext cx="914400" cy="1490472"/>
          </a:xfrm>
          <a:prstGeom prst="line">
            <a:avLst/>
          </a:prstGeom>
          <a:noFill/>
          <a:ln w="25400">
            <a:solidFill>
              <a:srgbClr val="6E7E8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828800" y="1965960"/>
            <a:ext cx="22402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1965960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83480" y="1965960"/>
            <a:ext cx="2240280" cy="749808"/>
          </a:xfrm>
          <a:prstGeom prst="roundRect">
            <a:avLst>
              <a:gd name="adj" fmla="val 7317"/>
            </a:avLst>
          </a:prstGeom>
          <a:solidFill>
            <a:srgbClr val="1C7293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965960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 완료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0" y="1965960"/>
            <a:ext cx="22402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965960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828800" y="4206240"/>
            <a:ext cx="22402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4206240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83480" y="4206240"/>
            <a:ext cx="2240280" cy="749808"/>
          </a:xfrm>
          <a:prstGeom prst="roundRect">
            <a:avLst>
              <a:gd name="adj" fmla="val 7317"/>
            </a:avLst>
          </a:prstGeom>
          <a:solidFill>
            <a:srgbClr val="1C7293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4206240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12280" y="1600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COMMIT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11880" y="38221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A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ROLLBACK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71500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7150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Ⓐ  </a:t>
            </a:r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 완료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46704" y="571500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46704" y="57150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Ⓑ  </a:t>
            </a:r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철회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44768" y="571500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57150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Ⓒ  </a:t>
            </a:r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COMMIT 연산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942832" y="571500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42832" y="57150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Ⓓ  </a:t>
            </a:r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ROLLBACK 연산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29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회복을 위해 복사본을 만드는 방법에 대한 다음 설명에서 Ⓐ와 Ⓑ를 채우시오.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11091672" cy="1280160"/>
          </a:xfrm>
          <a:prstGeom prst="roundRect">
            <a:avLst>
              <a:gd name="adj" fmla="val 5000"/>
            </a:avLst>
          </a:prstGeom>
          <a:solidFill>
            <a:srgbClr val="E7EEF4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47088"/>
            <a:ext cx="10515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Ⓐ ) : 데이터베이스 전체 내용을 다른 저장 장치에 주기적으로 복사하는 방법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Ⓑ ) : 변경 연산이 수행될 때마다 변경된 데이터의 이전 값과 새로운 값을 별도의 파일에 기록하는 방법</a:t>
            </a:r>
            <a:endParaRPr lang="en-US" sz="13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29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97510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53312" y="178308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덤프(dump)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199632" y="1783080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97510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04304" y="178308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로그(log)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11091672" cy="1417320"/>
          </a:xfrm>
          <a:prstGeom prst="roundRect">
            <a:avLst>
              <a:gd name="adj" fmla="val 4516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00837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00837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3483864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덤프는 전체 내용을 통째로 복사하는 미디어 회복용 방법이고, 로그는 변경 연산마다 이전 값과 새 값을 기록해 redo·undo에 사용하는 로그 기반 회복용 방법입니다.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30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회복을 위한 기본 연산에 대한 다음 설명에서 Ⓐ와 Ⓑ를 채우시오.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11091672" cy="1280160"/>
          </a:xfrm>
          <a:prstGeom prst="roundRect">
            <a:avLst>
              <a:gd name="adj" fmla="val 5000"/>
            </a:avLst>
          </a:prstGeom>
          <a:solidFill>
            <a:srgbClr val="E7EEF4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47088"/>
            <a:ext cx="10515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Ⓐ ) 연산 : 로그에 기록된 변경 연산 후의 새로운 값을 이용해 변경 연산을 재실행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Ⓑ ) 연산 : 로그에 기록된 변경 연산 이전의 값을 이용해 변경 연산을 취소</a:t>
            </a:r>
            <a:endParaRPr lang="en-US" sz="13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30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97510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53312" y="178308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Redo (재실행)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199632" y="1783080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97510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04304" y="178308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Undo (취소)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11091672" cy="1417320"/>
          </a:xfrm>
          <a:prstGeom prst="roundRect">
            <a:avLst>
              <a:gd name="adj" fmla="val 4516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00837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00837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3483864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Redo는 로그의 '새로운 값'으로 연산을 다시 실행해 완료 트랜잭션을 복구하고, Undo는 로그의 '이전 값'으로 연산을 취소해 미완료 트랜잭션을 되돌립니다.</a:t>
            </a:r>
            <a:endParaRPr lang="en-US" sz="12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트랜잭션이 데이터를 변경하면 부분 완료되기 전이라도 즉시 데이터베이스에 반영하고, 회복을 대비해 변경 내용을 로그에 기록하며, 회복 시 redo와 undo가 모두 가능한 회복 기법은?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31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4F4EA"/>
          </a:solidFill>
          <a:ln w="25400">
            <a:solidFill>
              <a:srgbClr val="2E9E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0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갱신 회복 기법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1091672" cy="1554480"/>
          </a:xfrm>
          <a:prstGeom prst="roundRect">
            <a:avLst>
              <a:gd name="adj" fmla="val 4118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87121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8712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346704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변경을 즉시 DB에 반영하므로, 회복 시 완료된 트랜잭션은 Redo로, 미완료 트랜잭션은 Undo로 처리합니다. (반대로 지연 갱신 회복 기법은 commit 전까지 DB에 반영하지 않아 Undo가 필요 없습니다.)</a:t>
            </a:r>
            <a:endParaRPr lang="en-US" sz="12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rollback 연산에 대해 간단히 설명하시오.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32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100584" cy="1463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700784"/>
            <a:ext cx="10515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 수행에 실패했음을 선언하는 연산입니다. 트랜잭션이 실패한 경우 지금까지 수행한 작업을 모두 취소하고, 트랜잭션 수행 이전의 상태로 데이터베이스를 되돌리는 작업을 수행합니다.</a:t>
            </a:r>
            <a:endParaRPr lang="en-US" sz="15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시점 회복 기법이 검사 시점을 이용하지 않는 일반 로그 회복 기법에 비해 어떤 장점이 있는지 설명하시오.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33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1109167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100584" cy="1737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700784"/>
            <a:ext cx="105156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장애가 발생하면 가장 가까운 검사 시점 이전의 트랜잭션은 회복 대상에서 제외하고, 검사 시점 이후의 트랜잭션에 대해서만 회복 작업을 수행합니다. 따라서 불필요한 회복 작업을 줄여 데이터베이스 회복 시간이 단축됩니다.</a:t>
            </a:r>
            <a:endParaRPr lang="en-US" sz="15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34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직렬 스케줄과 직렬 가능 스케줄의 공통점과 차이는 무엇인가?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34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63040"/>
            <a:ext cx="1554480" cy="420624"/>
          </a:xfrm>
          <a:prstGeom prst="roundRect">
            <a:avLst>
              <a:gd name="adj" fmla="val 21739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630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01168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스케줄의 실행 결과(데이터베이스 최종 상태)가 서로 동일합니다.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99632" y="16002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82512" y="1463040"/>
            <a:ext cx="1554480" cy="420624"/>
          </a:xfrm>
          <a:prstGeom prst="roundRect">
            <a:avLst>
              <a:gd name="adj" fmla="val 21739"/>
            </a:avLst>
          </a:prstGeom>
          <a:solidFill>
            <a:srgbClr val="E8A838"/>
          </a:solidFill>
          <a:ln/>
        </p:spPr>
      </p:sp>
      <p:sp>
        <p:nvSpPr>
          <p:cNvPr id="14" name="Text 12"/>
          <p:cNvSpPr/>
          <p:nvPr/>
        </p:nvSpPr>
        <p:spPr>
          <a:xfrm>
            <a:off x="6382512" y="14630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차이점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36792" y="20116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직렬 스케줄은 트랜잭션을 순차 실행하지만, 직렬 가능 스케줄은 인터리빙을 사용하는 '비직렬' 스케줄입니다.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35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 로킹 규약에 대한 다음 설명에서 Ⓐ와 Ⓑ를 채우시오.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11091672" cy="1600200"/>
          </a:xfrm>
          <a:prstGeom prst="roundRect">
            <a:avLst>
              <a:gd name="adj" fmla="val 4000"/>
            </a:avLst>
          </a:prstGeom>
          <a:solidFill>
            <a:srgbClr val="E7EEF4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47088"/>
            <a:ext cx="10515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로킹 규약의 문제를 해결하고 직렬 가능성을 보장하기 위해 lock·unlock 연산의 실행 시점에 규약을 추가한 것이 2단계 로킹 규약이다.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Ⓐ ) 단계 : lock 연산만 수행할 수 있고 unlock 연산은 수행할 수 없는 단계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Ⓑ ) 단계 : unlock 연산만 수행할 수 있고 lock 연산은 수행할 수 없는 단계</a:t>
            </a:r>
            <a:endParaRPr lang="en-US" sz="13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35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02082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53312" y="182880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확장(growing) 단계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199632" y="1828800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202082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04304" y="182880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축소(shrinking) 단계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11091672" cy="1417320"/>
          </a:xfrm>
          <a:prstGeom prst="roundRect">
            <a:avLst>
              <a:gd name="adj" fmla="val 4516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05409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05409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3529584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단계에서는 필요한 lock을 모두 획득하기만 하고, 한 번 unlock을 시작하면 축소 단계로 들어가 더 이상 lock을 걸 수 없습니다. 이 규칙이 직렬 가능성을 보장합니다.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36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A→B로 100원을 이체하는 T1과 C에서 200원을 출금하는 T2의 로그·DB 기록 상태이다. 각 장애 시점의 회복 연산을 구하시오.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81328"/>
            <a:ext cx="11091672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9105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로그(Log)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949440" y="159105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반영 / 장애 시점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2048256"/>
            <a:ext cx="64008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⟨T1, start⟩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2418588"/>
            <a:ext cx="64008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⟨T1, A, 1000, 900⟩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2788920"/>
            <a:ext cx="64008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⟨T1, B, 2000, 2100⟩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63840" y="2825496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28254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5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◀ 장애1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3159252"/>
            <a:ext cx="64008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⟨T1, commit⟩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60120" y="3529584"/>
            <a:ext cx="64008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900,  B = 2100   (DB 반영)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63840" y="35661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3566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5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◀ 장애2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0120" y="3899916"/>
            <a:ext cx="64008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⟨T2, start⟩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60120" y="4270248"/>
            <a:ext cx="64008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⟨T2, C, 3000, 2800⟩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0120" y="4640580"/>
            <a:ext cx="64008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= 2800   (DB 반영)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863840" y="4677156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46771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5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◀ 장애3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60120" y="5010912"/>
            <a:ext cx="64008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⟨T2, commit⟩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863840" y="5047488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50474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5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◀ 장애4</a:t>
            </a:r>
            <a:endParaRPr lang="en-US" sz="11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36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00200"/>
            <a:ext cx="9144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7465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T1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21122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지연 갱신 회복 기법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99632" y="1600200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9632" y="1600200"/>
            <a:ext cx="9144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73952" y="17465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T2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73952" y="21122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즉시 갱신 회복 기법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2898648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898648"/>
            <a:ext cx="9144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0449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(3) 장애1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34107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회복 작업 불필요 (T1 commit 이전)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99632" y="2898648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9632" y="2898648"/>
            <a:ext cx="9144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473952" y="30449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(4) 장애2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73952" y="34107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Redo(T1)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4197096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197096"/>
            <a:ext cx="9144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343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(5) 장애3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2960" y="4709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Redo(T1),  Undo(T2)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199632" y="4197096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99632" y="4197096"/>
            <a:ext cx="9144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473952" y="4343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(6) 장애4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73952" y="4709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Redo(T1),  Redo(T2)</a:t>
            </a:r>
            <a:endParaRPr lang="en-US" sz="15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37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개의 트랜잭션이 수행되는 다음 그림(검사 시점·장애 발생 표시)을 보고 회복 연산을 구하시오.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80160" y="5806440"/>
            <a:ext cx="9601200" cy="0"/>
          </a:xfrm>
          <a:prstGeom prst="line">
            <a:avLst/>
          </a:prstGeom>
          <a:noFill/>
          <a:ln w="19050">
            <a:solidFill>
              <a:srgbClr val="6E7E8C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418320" y="5861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흐름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12664" y="1783080"/>
            <a:ext cx="0" cy="402336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398264" y="1472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시점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441180" y="1783080"/>
            <a:ext cx="0" cy="4023360"/>
          </a:xfrm>
          <a:prstGeom prst="line">
            <a:avLst/>
          </a:prstGeom>
          <a:noFill/>
          <a:ln w="22860">
            <a:solidFill>
              <a:srgbClr val="D953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26780" y="1472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5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발생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0040" y="225856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664208" y="2331720"/>
            <a:ext cx="2496312" cy="274320"/>
          </a:xfrm>
          <a:prstGeom prst="roundRect">
            <a:avLst>
              <a:gd name="adj" fmla="val 40000"/>
            </a:avLst>
          </a:prstGeom>
          <a:solidFill>
            <a:srgbClr val="2E97B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2404872"/>
            <a:ext cx="128016" cy="12801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7" name="Shape 15"/>
          <p:cNvSpPr/>
          <p:nvPr/>
        </p:nvSpPr>
        <p:spPr>
          <a:xfrm>
            <a:off x="4096512" y="2404872"/>
            <a:ext cx="128016" cy="12801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099816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240280" y="3172968"/>
            <a:ext cx="5376672" cy="274320"/>
          </a:xfrm>
          <a:prstGeom prst="roundRect">
            <a:avLst>
              <a:gd name="adj" fmla="val 40000"/>
            </a:avLst>
          </a:prstGeom>
          <a:solidFill>
            <a:srgbClr val="2E97B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76272" y="3246120"/>
            <a:ext cx="128016" cy="12801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1" name="Shape 19"/>
          <p:cNvSpPr/>
          <p:nvPr/>
        </p:nvSpPr>
        <p:spPr>
          <a:xfrm>
            <a:off x="7552944" y="3246120"/>
            <a:ext cx="128016" cy="12801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941064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96712" y="4014216"/>
            <a:ext cx="2688336" cy="274320"/>
          </a:xfrm>
          <a:prstGeom prst="roundRect">
            <a:avLst>
              <a:gd name="adj" fmla="val 40000"/>
            </a:avLst>
          </a:prstGeom>
          <a:solidFill>
            <a:srgbClr val="2E97B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2704" y="4087368"/>
            <a:ext cx="128016" cy="12801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5" name="Shape 23"/>
          <p:cNvSpPr/>
          <p:nvPr/>
        </p:nvSpPr>
        <p:spPr>
          <a:xfrm>
            <a:off x="8321040" y="4087368"/>
            <a:ext cx="128016" cy="12801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782312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232904" y="4855464"/>
            <a:ext cx="3552444" cy="274320"/>
          </a:xfrm>
          <a:prstGeom prst="roundRect">
            <a:avLst>
              <a:gd name="adj" fmla="val 40000"/>
            </a:avLst>
          </a:prstGeom>
          <a:solidFill>
            <a:srgbClr val="2E97B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68896" y="4928616"/>
            <a:ext cx="128016" cy="128016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9" name="Shape 27"/>
          <p:cNvSpPr/>
          <p:nvPr/>
        </p:nvSpPr>
        <p:spPr>
          <a:xfrm>
            <a:off x="10721340" y="4928616"/>
            <a:ext cx="128016" cy="128016"/>
          </a:xfrm>
          <a:prstGeom prst="ellipse">
            <a:avLst/>
          </a:prstGeom>
          <a:solidFill>
            <a:srgbClr val="1A2744"/>
          </a:solidFill>
          <a:ln/>
        </p:spPr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37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FBEAEA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53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Undo 필요  </a:t>
            </a:r>
            <a:pPr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(검사 시점 미고려)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99632" y="155448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4F4EA"/>
          </a:solidFill>
          <a:ln w="19050">
            <a:solidFill>
              <a:srgbClr val="2E9E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Redo 필요  </a:t>
            </a:r>
            <a:pPr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(검사 시점 미고려)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28232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T1,  T2,  T3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1109167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26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(3) 검사 시점을 고려한 경우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34670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T1  :  </a:t>
            </a:r>
            <a:pPr indent="0" marL="0">
              <a:buNone/>
            </a:pPr>
            <a:r>
              <a:rPr lang="en-US" sz="13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회복 작업 불필요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60120" y="373075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T2  :  </a:t>
            </a:r>
            <a:pPr indent="0" marL="0">
              <a:buNone/>
            </a:pPr>
            <a:r>
              <a:rPr lang="en-US" sz="13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시점 이후 연산만 Redo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41148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T3  :  </a:t>
            </a:r>
            <a:pPr indent="0" marL="0">
              <a:buNone/>
            </a:pPr>
            <a:r>
              <a:rPr lang="en-US" sz="13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 전체 연산 Redo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60120" y="449884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T4  :  </a:t>
            </a:r>
            <a:pPr indent="0" marL="0">
              <a:buNone/>
            </a:pPr>
            <a:r>
              <a:rPr lang="en-US" sz="13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 전체 연산 Undo</a:t>
            </a:r>
            <a:endParaRPr lang="en-US" sz="13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38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병행 제어가 무엇인지 설명하시오.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38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1109167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100584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700784"/>
            <a:ext cx="10515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개의 트랜잭션이 동시에 수행되면서 같은 데이터에 접근하여 연산을 수행하더라도, 문제가 발생하지 않고 정확한 결과를 얻을 수 있도록 트랜잭션의 수행을 제어하는 것을 의미합니다.</a:t>
            </a:r>
            <a:endParaRPr lang="en-US" sz="15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39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 스케줄이 무엇인지 설명하시오.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39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100584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700784"/>
            <a:ext cx="10515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트랜잭션에 포함되어 있는 연산들을 실행하는 순서를 의미합니다.</a:t>
            </a:r>
            <a:endParaRPr lang="en-US" sz="15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40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유형의 트랜잭션 스케줄에 대한 다음 설명에서 Ⓐ는 무엇인가?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11091672" cy="1417320"/>
          </a:xfrm>
          <a:prstGeom prst="roundRect">
            <a:avLst>
              <a:gd name="adj" fmla="val 4516"/>
            </a:avLst>
          </a:prstGeom>
          <a:solidFill>
            <a:srgbClr val="E7EEF4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47088"/>
            <a:ext cx="105156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직렬 스케줄 : 인터리빙 없이 트랜잭션별로 연산을 순차 실행하는 것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비직렬 스케줄 : 인터리빙을 이용해 트랜잭션들을 병행 실행하는 것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Ⓐ ) : 직렬 스케줄과 동일한 정확한 결과를 생성하는 비직렬 스케줄</a:t>
            </a:r>
            <a:endParaRPr lang="en-US" sz="13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40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4F4EA"/>
          </a:solidFill>
          <a:ln w="25400">
            <a:solidFill>
              <a:srgbClr val="2E9E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Ⓐ  </a:t>
            </a:r>
            <a:pPr algn="ctr" indent="0" marL="0">
              <a:buNone/>
            </a:pPr>
            <a:r>
              <a:rPr lang="en-US" sz="24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직렬 가능 스케줄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11091672" cy="1417320"/>
          </a:xfrm>
          <a:prstGeom prst="roundRect">
            <a:avLst>
              <a:gd name="adj" fmla="val 4516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09981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998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575304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직렬 가능 스케줄은 비직렬 스케줄이지만 그 실행 결과가 어떤 직렬 스케줄의 결과와 같아, 병행 수행을 허용하면서도 정확성을 보장하는 스케줄입니다.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다음과 같이 병행 제어 없이 두 트랜잭션 T1과 T2가 수행될 때, 최종 X의 값은? (처음 X = 100)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1737360"/>
          <a:ext cx="7772400" cy="914400"/>
        </p:xfrm>
        <a:graphic>
          <a:graphicData uri="http://schemas.openxmlformats.org/drawingml/2006/table">
            <a:tbl>
              <a:tblPr/>
              <a:tblGrid>
                <a:gridCol w="3886200"/>
                <a:gridCol w="3886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트랜잭션 T1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트랜잭션 T2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7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read(X);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7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X + 30;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7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write(X);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7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read(X);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7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rollback;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7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X − 50;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7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write(X);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194560" y="1325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X = 100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1268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↓</a:t>
            </a:r>
            <a:endParaRPr lang="en-US" sz="13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9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41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4F4EA"/>
          </a:solidFill>
          <a:ln w="25400">
            <a:solidFill>
              <a:srgbClr val="2E9E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0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X = </a:t>
            </a:r>
            <a:pPr algn="ctr" indent="0" marL="0">
              <a:buNone/>
            </a:pPr>
            <a:r>
              <a:rPr lang="en-US" sz="30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1091672" cy="1783080"/>
          </a:xfrm>
          <a:prstGeom prst="roundRect">
            <a:avLst>
              <a:gd name="adj" fmla="val 3590"/>
            </a:avLst>
          </a:prstGeom>
          <a:solidFill>
            <a:srgbClr val="FBF3E1"/>
          </a:solidFill>
          <a:ln w="12700">
            <a:solidFill>
              <a:srgbClr val="EAD3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871216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E8A83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8712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346704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C4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T1이 write(X)로 130을 기록한 뒤 T2가 read(X)로 그 값(130)을 읽습니다. 이후 T1이 rollback되어도 T2는 이미 읽은 130으로 X = 130 − 50 = 80을 계산해 기록하므로, 최종 X는 80이 됩니다. (T1의 갱신이 무효화되는 갱신 분실 상황)</a:t>
            </a:r>
            <a:endParaRPr lang="en-US" sz="12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5550408" y="1600200"/>
            <a:ext cx="1097280" cy="1097280"/>
          </a:xfrm>
          <a:prstGeom prst="ellipse">
            <a:avLst/>
          </a:prstGeom>
          <a:solidFill>
            <a:srgbClr val="1C7293">
              <a:alpha val="45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50408" y="1600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8FD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✦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0" y="2971800"/>
            <a:ext cx="12191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수고하셨습니다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0" y="3977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D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10장 회복과 병행 제어  ·  연습문제 풀이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44805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박상돈 조교수  ·  대전대학교 컴퓨터공학과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86</Slides>
  <Notes>86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8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</vt:vector>
  </TitlesOfParts>
  <Company>대전대학교 컴퓨터공학과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10장 회복과 병행 제어 연습문제 풀이</dc:title>
  <dc:subject>PptxGenJS Presentation</dc:subject>
  <dc:creator>박상돈</dc:creator>
  <cp:lastModifiedBy>박상돈</cp:lastModifiedBy>
  <cp:revision>1</cp:revision>
  <dcterms:created xsi:type="dcterms:W3CDTF">2026-06-06T06:53:31Z</dcterms:created>
  <dcterms:modified xsi:type="dcterms:W3CDTF">2026-06-06T06:53:31Z</dcterms:modified>
</cp:coreProperties>
</file>