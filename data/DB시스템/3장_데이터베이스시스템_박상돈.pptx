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47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4157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시스템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56616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시스템의 정의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시스템의 구성 요소와 개념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데이터베이스의 구조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스키마, 3단계 구조, 데이터 독립성, 데이터 사전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사용자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DBA, 최종 사용자, 응용 프로그래머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언어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DDL, DML, DCL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5778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구성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5778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질의 처리기, 데이터 저장 관리자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시스템의 정의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Database System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시스템이란?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7863840" cy="118872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05156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데이터베이스 시스템 (DB System)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</a:rPr>
              <a:t>데이터베이스에 데이터를 저장하고, 저장된 데이터를 관리하여 조직에 필요한 정보를 생성해주는 시스템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시스템의 구성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" y="292608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Shape 9"/>
          <p:cNvSpPr/>
          <p:nvPr/>
        </p:nvSpPr>
        <p:spPr>
          <a:xfrm>
            <a:off x="1234440" y="3108960"/>
            <a:ext cx="594360" cy="59436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312" y="32278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152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(DB)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152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통합·저장된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데이터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468880" y="3566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274320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2743200" y="2926080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Shape 15"/>
          <p:cNvSpPr/>
          <p:nvPr/>
        </p:nvSpPr>
        <p:spPr>
          <a:xfrm>
            <a:off x="3337560" y="3108960"/>
            <a:ext cx="594360" cy="59436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432" y="3227832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83464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283464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관리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소프트웨어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0" y="3566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484632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846320" y="2926080"/>
            <a:ext cx="18288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Shape 21"/>
          <p:cNvSpPr/>
          <p:nvPr/>
        </p:nvSpPr>
        <p:spPr>
          <a:xfrm>
            <a:off x="5440680" y="3108960"/>
            <a:ext cx="594360" cy="59436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3227832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3776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93776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DBA, 최종 사용자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프로그래머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675120" y="3566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694944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949440" y="2926080"/>
            <a:ext cx="18288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Shape 27"/>
          <p:cNvSpPr/>
          <p:nvPr/>
        </p:nvSpPr>
        <p:spPr>
          <a:xfrm>
            <a:off x="7543800" y="3108960"/>
            <a:ext cx="594360" cy="59436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2672" y="3227832"/>
            <a:ext cx="365760" cy="36576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04088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응용 프로그램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704088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DB에 접근하는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소프트웨어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데이터베이스의 구조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Architecture — Schema, 3-Level Structure, Data Independence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스키마와 인스턴스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2286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(Schema)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데이터베이스에 저장되는 데이터 구조와 제약조건을 정의한 것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286000"/>
          <a:ext cx="3200400" cy="914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속성명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데이터 타입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제약조건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고객번호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PRIMARY KEY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이름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CHAR(20)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NOT NULL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연락처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CHAR(13)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100584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54880" y="1005840"/>
            <a:ext cx="73152" cy="2286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4300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인스턴스 (Instance)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502920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정의된 스키마에 따라 데이터베이스에 실제로 저장된 값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286000"/>
          <a:ext cx="32004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고객번호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이름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연락처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홍길동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010-1234-5678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김영희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010-9876-5432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이철수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010-5555-7777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Shape 12"/>
          <p:cNvSpPr/>
          <p:nvPr/>
        </p:nvSpPr>
        <p:spPr>
          <a:xfrm>
            <a:off x="640080" y="3520440"/>
            <a:ext cx="7863840" cy="82296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65760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71600" y="36118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핵심 차이:  </a:t>
            </a:r>
            <a:r>
              <a:rPr lang="en-US" sz="1200" dirty="0">
                <a:solidFill>
                  <a:srgbClr val="E2E8F0"/>
                </a:solidFill>
              </a:rPr>
              <a:t>스키마는 자주 변경되지 않지만, 인스턴스는 삽입·삭제·수정으로 계속 변화합니다.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19"/>
          <p:cNvSpPr/>
          <p:nvPr/>
        </p:nvSpPr>
        <p:spPr>
          <a:xfrm>
            <a:off x="640080" y="374904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7160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56032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데이터베이스 구조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ANSI/SPARC 3-Level Database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73152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44752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단계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Level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41732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개별 사용자 관점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사용자별 외부 스키마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560320" y="2377440"/>
            <a:ext cx="54864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1"/>
          <p:cNvSpPr/>
          <p:nvPr/>
        </p:nvSpPr>
        <p:spPr>
          <a:xfrm>
            <a:off x="283464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인터페이스 (논리적 사상)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" y="2560320"/>
            <a:ext cx="73152" cy="10058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33472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1732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단계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417320" y="28803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Level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41732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전체 관점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통합된 개념 스키마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2560320" y="3566160"/>
            <a:ext cx="54864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8"/>
          <p:cNvSpPr/>
          <p:nvPr/>
        </p:nvSpPr>
        <p:spPr>
          <a:xfrm>
            <a:off x="283464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인터페이스 (물리적 사상)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0080" y="3749040"/>
            <a:ext cx="73152" cy="100584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22192"/>
            <a:ext cx="365760" cy="3657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4173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단계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1417320" y="4069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Level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41732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장치 관점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내부 스키마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5029200" y="1371600"/>
            <a:ext cx="3474720" cy="33832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5"/>
          <p:cNvSpPr/>
          <p:nvPr/>
        </p:nvSpPr>
        <p:spPr>
          <a:xfrm>
            <a:off x="5303520" y="1508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추상화 수준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530352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높음 (사용자 친화적)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5486400" y="2286000"/>
            <a:ext cx="54864" cy="1828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28"/>
          <p:cNvSpPr/>
          <p:nvPr/>
        </p:nvSpPr>
        <p:spPr>
          <a:xfrm>
            <a:off x="576072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스키마 (여러 개 가능)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76072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 스키마 (1개)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5760720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스키마 (1개)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530352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낮음 (기계 친화적)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구조 — 각 단계 상세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25603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34440"/>
            <a:ext cx="731520" cy="73152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371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단계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724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Level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97280" y="27432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2834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개별 사용자 관점에서 DB를 이해하고 표현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외부 스키마: 사용자에게 필요한 데이터만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사용자가 생각하는 DB의 모습 (논리적 구조)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여러 개의 외부 스키마가 존재 가능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474720" y="1005840"/>
            <a:ext cx="25603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74720" y="100584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Shape 13"/>
          <p:cNvSpPr/>
          <p:nvPr/>
        </p:nvSpPr>
        <p:spPr>
          <a:xfrm>
            <a:off x="4343400" y="1234440"/>
            <a:ext cx="731520" cy="73152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37160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단계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61188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Level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931920" y="27432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7"/>
          <p:cNvSpPr/>
          <p:nvPr/>
        </p:nvSpPr>
        <p:spPr>
          <a:xfrm>
            <a:off x="3611880" y="2834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조직 전체 관점에서 DB를 이해하고 표현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개념 스키마: 모든 사용자의 데이터를 통합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전체 DB의 논리적 구조 (일반적인 '스키마')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데이터베이스당 1개만 존재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09360" y="1005840"/>
            <a:ext cx="25603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09360" y="1005840"/>
            <a:ext cx="25603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Shape 20"/>
          <p:cNvSpPr/>
          <p:nvPr/>
        </p:nvSpPr>
        <p:spPr>
          <a:xfrm>
            <a:off x="7178040" y="1234440"/>
            <a:ext cx="731520" cy="7315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371600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4652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단계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44652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Level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6766560" y="27432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4"/>
          <p:cNvSpPr/>
          <p:nvPr/>
        </p:nvSpPr>
        <p:spPr>
          <a:xfrm>
            <a:off x="6446520" y="2834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저장 장치(디스크) 관점에서 DB를 표현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내부 스키마: 물리적 저장 방법을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레코드 구조, 필드 크기, 인덱스, 접근 경로 등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데이터베이스당 1개만 존재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구조 예시 — 쇼핑몰 고객 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단계 (사용자별 뷰)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25880"/>
            <a:ext cx="3474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325880"/>
            <a:ext cx="54864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371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0891B2"/>
                </a:solidFill>
              </a:rPr>
              <a:t>고객 분석팀: </a:t>
            </a:r>
            <a:r>
              <a:rPr lang="en-US" sz="1000" dirty="0">
                <a:solidFill>
                  <a:srgbClr val="334155"/>
                </a:solidFill>
              </a:rPr>
              <a:t>고객번호, 이름, 등급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0891B2"/>
                </a:solidFill>
              </a:rPr>
              <a:t>상품 배송팀: </a:t>
            </a:r>
            <a:r>
              <a:rPr lang="en-US" sz="1000" dirty="0">
                <a:solidFill>
                  <a:srgbClr val="334155"/>
                </a:solidFill>
              </a:rPr>
              <a:t>고객번호, 이름, 주소, 연락처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25880"/>
            <a:ext cx="54864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3716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각 팀이 필요로 하는 데이터만 포함하는 별도의 외부 스키마 보유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외부 스키마는 여러 개 존재 가능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단계 (전체 논리적 구조)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7863840" cy="2286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고객번호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이름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주소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연락처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등급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4008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모든 사용자의 데이터를 종합하여 구성. DB당 1개만 존재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단계 (물리적 저장 구조)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3931920"/>
            <a:ext cx="786384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393192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RECORD  customer {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cust_no   INT(10)     INDEX  cust_idx;
  name      CHAR(20);   addr  CHAR(30);
  phone     CHAR(13)    INDEX  phone_idx;
  grade     CHAR(10);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 // 총 83바이트, 인덱스 2개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독립성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solidFill>
            <a:srgbClr val="0891B2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05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하위 스키마를 변경하더라도 상위 스키마가 영향을 받지 않는 것 = 데이터 독립성 (Data Independency)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749040" cy="2880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7452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574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논리적 데이터 독립성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" y="24688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0891B2">
              <a:alpha val="1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인터페이스 (외부 ↔ 개념)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2926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 스키마가 변경되어도 외부 스키마는 영향을 받지 않음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5840" y="3566160"/>
            <a:ext cx="30175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57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개념 스키마에서 '전화번호'를 '연락처'로 변경해도, 외부 스키마와 사상(매핑)만 수정하면 됨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1874520"/>
            <a:ext cx="3749040" cy="2880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54880" y="1874520"/>
            <a:ext cx="3749040" cy="64008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05740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49240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물리적 데이터 독립성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937760" y="24688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8B5CF6">
              <a:alpha val="1000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50292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인터페이스 (개념 ↔ 내부)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937760" y="2926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스키마가 변경되어도 개념 스키마는 영향을 받지 않음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120640" y="3566160"/>
            <a:ext cx="30175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4937760" y="3657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내부 스키마의 저장 순서나 인덱스가 변경되어도, 개념 스키마와 사상(매핑)만 수정하면 됨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사전과 데이터 디렉토리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32004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사전 (Data Dictionary)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시스템 카탈로그 (System Catalog)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데이터에 관한 정보(메타데이터)를 저장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스키마와 사상(매핑) 정보 포함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440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 데이터베이스에 저장됨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DBMS가 스스로 생성하고 유지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사용자는 검색만 가능 (수정 불가)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54880" y="1005840"/>
            <a:ext cx="37490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4880" y="1005840"/>
            <a:ext cx="73152" cy="32004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4300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5321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디렉토리 (Data Directory)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0292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사전의 데이터에 접근하는 위치 정보 관리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0292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 DB 안에 존재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02920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시스템만 접근 가능 (사용자 접근 불가)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0" y="3108960"/>
            <a:ext cx="3200400" cy="731520"/>
          </a:xfrm>
          <a:prstGeom prst="rect">
            <a:avLst/>
          </a:prstGeom>
          <a:solidFill>
            <a:srgbClr val="F59E0B">
              <a:alpha val="10000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521208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사전 → 사용자 검색 가능 ✓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디렉토리 → 시스템만 접근 ✗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44348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</a:rPr>
              <a:t>사용자 DB: </a:t>
            </a:r>
            <a:r>
              <a:rPr lang="en-US" sz="1100" dirty="0">
                <a:solidFill>
                  <a:srgbClr val="E2E8F0"/>
                </a:solidFill>
              </a:rPr>
              <a:t>사용자가 실제로 이용하는 데이터 저장  |  </a:t>
            </a:r>
            <a:r>
              <a:rPr lang="en-US" sz="1100" b="1" dirty="0">
                <a:solidFill>
                  <a:srgbClr val="F59E0B"/>
                </a:solidFill>
              </a:rPr>
              <a:t>시스템 DB: </a:t>
            </a:r>
            <a:r>
              <a:rPr lang="en-US" sz="1100" dirty="0">
                <a:solidFill>
                  <a:srgbClr val="E2E8F0"/>
                </a:solidFill>
              </a:rPr>
              <a:t>데이터 사전·디렉토리 등 메타데이터 저장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사용자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Users — DBA, End User, Application Programmer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사용자 유형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25603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96012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188720"/>
            <a:ext cx="777240" cy="77724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35331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관리자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(DBA)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005840" y="26974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834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 시스템 운영·관리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 정의, 보안·백업 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 성능 감시·분석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무결성 제약조건 정의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960120"/>
            <a:ext cx="25603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96012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1188720"/>
            <a:ext cx="777240" cy="77724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3533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사용자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(End User)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3840480" y="26974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0" y="2834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주로 DML(SQL) 사용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직접 사용 or GUI 활용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조회·입력 위주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 정의 권한 없음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960120"/>
            <a:ext cx="25603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09360" y="960120"/>
            <a:ext cx="25603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18"/>
          <p:cNvSpPr/>
          <p:nvPr/>
        </p:nvSpPr>
        <p:spPr>
          <a:xfrm>
            <a:off x="7178040" y="1188720"/>
            <a:ext cx="777240" cy="77724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353312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4652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응용 프로그래머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(App Programmer)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675120" y="26974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1"/>
          <p:cNvSpPr/>
          <p:nvPr/>
        </p:nvSpPr>
        <p:spPr>
          <a:xfrm>
            <a:off x="6492240" y="2834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프로그래밍 언어로 응용 개발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SQL을 프로그램에 삽입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SELECT/INSERT 등 DML 사용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등 DDL은 사용하지 않음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DBA의 주요 업무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96012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14300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구성 요소 선정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325880" y="1344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타입, 구조, 제약조건 결정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2"/>
          <p:cNvSpPr/>
          <p:nvPr/>
        </p:nvSpPr>
        <p:spPr>
          <a:xfrm>
            <a:off x="4937760" y="114300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4068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정의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40680" y="1344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개념/외부/내부 스키마 설계 (개발 초기)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192024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192024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물리적 저장 구조 결정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25880" y="2304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방식, 접근 방법, 인덱스 설계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192024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92024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4"/>
          <p:cNvSpPr/>
          <p:nvPr/>
        </p:nvSpPr>
        <p:spPr>
          <a:xfrm>
            <a:off x="4937760" y="21031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무결성 제약조건 정의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40680" y="2304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정확성 유지를 위한 규칙 설정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288036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080" y="288036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" y="306324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258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보안·접근 권한 정책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32588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사용자별 접근 권한과 보안 정책 수립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54880" y="288036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288036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7760" y="306324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9" name="Text 37"/>
          <p:cNvSpPr/>
          <p:nvPr/>
        </p:nvSpPr>
        <p:spPr>
          <a:xfrm>
            <a:off x="49377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40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백업·회복 기법 정의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4068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 스케줄 예약, 복구 매뉴얼 작성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384048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38404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4" name="Shape 42"/>
          <p:cNvSpPr/>
          <p:nvPr/>
        </p:nvSpPr>
        <p:spPr>
          <a:xfrm>
            <a:off x="822960" y="40233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3258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성능 감시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325880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 현상 분석, 성능 최적화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54880" y="384048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754880" y="38404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Shape 48"/>
          <p:cNvSpPr/>
          <p:nvPr/>
        </p:nvSpPr>
        <p:spPr>
          <a:xfrm>
            <a:off x="4937760" y="40233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1" name="Text 49"/>
          <p:cNvSpPr/>
          <p:nvPr/>
        </p:nvSpPr>
        <p:spPr>
          <a:xfrm>
            <a:off x="49377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40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재구성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5440680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 변경 시 스키마 수정 (운용 단계)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언어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Language — DDL, DML, DCL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언어 — DBMS와의 통신 수단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언어 = 사용자와 DBMS가 통신하는 수단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645920"/>
            <a:ext cx="73152" cy="9601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73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정의어 (DDL)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6304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Definition Language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463040" y="2240280"/>
            <a:ext cx="2286000" cy="274320"/>
          </a:xfrm>
          <a:prstGeom prst="roundRect">
            <a:avLst>
              <a:gd name="adj" fmla="val 16667"/>
            </a:avLst>
          </a:prstGeom>
          <a:solidFill>
            <a:srgbClr val="0891B2">
              <a:alpha val="12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155448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/ ALTER / DROP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스키마를 정의·수정·삭제하기 위한 언어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내용은 데이터 사전에 반영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27889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788920"/>
            <a:ext cx="73152" cy="9601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803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63040" y="2834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조작어 (DML)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146304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Language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463040" y="3383280"/>
            <a:ext cx="2286000" cy="274320"/>
          </a:xfrm>
          <a:prstGeom prst="roundRect">
            <a:avLst>
              <a:gd name="adj" fmla="val 16667"/>
            </a:avLst>
          </a:prstGeom>
          <a:solidFill>
            <a:srgbClr val="F59E0B">
              <a:alpha val="1200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155448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/ INSERT / UPDATE / DELETE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572000" y="2880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데이터를 삽입·삭제·수정·검색하는 언어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절차적 DML / 비절차적(선언적) DML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0080" y="39319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40080" y="393192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02336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46304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제어어 (DCL)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463040" y="4251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 Language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1463040" y="4526280"/>
            <a:ext cx="2286000" cy="274320"/>
          </a:xfrm>
          <a:prstGeom prst="roundRect">
            <a:avLst>
              <a:gd name="adj" fmla="val 16667"/>
            </a:avLst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0" name="Text 25"/>
          <p:cNvSpPr/>
          <p:nvPr/>
        </p:nvSpPr>
        <p:spPr>
          <a:xfrm>
            <a:off x="1554480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/ REVOKE / COMMIT / ROLLBACK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572000" y="4023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무결성·보안·회복·동시성 제어를 위한 언어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정확하고 안전하게 유지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DML: 절차적 vs 비절차적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37490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96012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43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절차적 DML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DML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874520"/>
            <a:ext cx="3200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011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어떻게(How) 찾을지 절차를 명시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743200"/>
            <a:ext cx="338328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SQL문을 프로그래밍 언어의 함수 호출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방식으로 사용 (Embedded SQL)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8404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0891B2">
              <a:alpha val="1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주로 응용 프로그래머가 사용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960120"/>
            <a:ext cx="37490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960120"/>
            <a:ext cx="37490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143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비절차적 DML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3776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Nonprocedural (Declarative) DML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0" y="1874520"/>
            <a:ext cx="3200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011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무엇을(What) 원하는지만 명시 (절차는 DBMS가 처리)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37760" y="2743200"/>
            <a:ext cx="338328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SQL문 자체를 직접 작성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이름 FROM 고객 WHERE 등급='VIP'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37760" y="38404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F59E0B">
              <a:alpha val="1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840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사용자도 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구성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Components — Query Processor &amp; Stored Data Manager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논리적 구성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= 질의 처리기 (Query Processor) + 데이터 저장 관리자 (Stored Data Manager)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5029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645920"/>
            <a:ext cx="5029200" cy="6400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처리기 (Query Processor)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2148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처리 요구를 해석하여 처리하는 역할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14400" y="2560320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560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28016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컴파일러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926080" y="2514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DDL로 작성된 스키마 정의를 해석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14400" y="2999232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2999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280160" y="295351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DML 프리컴파일러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926080" y="29535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 속 DML을 추출 → DML 컴파일러 전달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14400" y="3438144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280160" y="33924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DML 컴파일러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2926080" y="339242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 데이터 처리를 런타임 처리기가 이해하도록 해석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14400" y="3877056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" y="3877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280160" y="383133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 DB 처리기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926080" y="38313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DB에 접근하여 데이터 처리 요구를 실제 실행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14400" y="4315968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7"/>
          <p:cNvSpPr/>
          <p:nvPr/>
        </p:nvSpPr>
        <p:spPr>
          <a:xfrm>
            <a:off x="914400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280160" y="42702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트랜잭션 관리자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2926080" y="42702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권한·무결성·회복·병행 수행 관리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943600" y="16459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943600" y="164592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Shape 32"/>
          <p:cNvSpPr/>
          <p:nvPr/>
        </p:nvSpPr>
        <p:spPr>
          <a:xfrm>
            <a:off x="6812280" y="1920240"/>
            <a:ext cx="777240" cy="77724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7400"/>
            <a:ext cx="457200" cy="45720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12648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저장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126480" y="3337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Data Manager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400800" y="36576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Text 36"/>
          <p:cNvSpPr/>
          <p:nvPr/>
        </p:nvSpPr>
        <p:spPr>
          <a:xfrm>
            <a:off x="612648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디스크에 저장된 DB 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사전 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DB에 대한 실제 접근 담당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8229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20040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  <a:p>
            <a:pPr marL="0" indent="0" algn="ctr">
              <a:buNone/>
            </a:pPr>
            <a:endParaRPr lang="en-US" sz="11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johnsdpark@gmail.com  |  융합과학관 24221호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1327</Words>
  <Application>Microsoft Office PowerPoint</Application>
  <PresentationFormat>화면 슬라이드 쇼(16:9)</PresentationFormat>
  <Paragraphs>304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맑은 고딕</vt:lpstr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3장. 데이터베이스 시스템</dc:title>
  <dc:subject>PptxGenJS Presentation</dc:subject>
  <dc:creator>박상돈</dc:creator>
  <cp:lastModifiedBy>USER</cp:lastModifiedBy>
  <cp:revision>3</cp:revision>
  <dcterms:created xsi:type="dcterms:W3CDTF">2026-02-26T13:41:20Z</dcterms:created>
  <dcterms:modified xsi:type="dcterms:W3CDTF">2026-02-26T13:45:14Z</dcterms:modified>
</cp:coreProperties>
</file>