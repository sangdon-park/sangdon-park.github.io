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6" r:id="rId2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50" d="100"/>
          <a:sy n="150" d="100"/>
        </p:scale>
        <p:origin x="474" y="13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415707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200" dirty="0"/>
              <a:t>안녕하세요, 여러분. 박상돈입니다.</a:t>
            </a:r>
          </a:p>
          <a:p>
            <a:r>
              <a:rPr lang="ko-KR" altLang="en-US" sz="1200" dirty="0"/>
              <a:t>지난 시간에 2장 연습문제 풀이를 했었죠. 21문항을 전부 같이 풀어봤습니다. 파일 시스템의 문제점 네 가지, 중종동개. DBMS의 3대 기능인 정의, 조작, 제어. DDL, DML, DCL의 대응 관계. DBMS의 장점 일곱 가지와 단점 세 가지. 그리고 RDBMS, NoSQL, NewSQL의 비교까지. 다 기억나시죠?</a:t>
            </a:r>
          </a:p>
          <a:p>
            <a:r>
              <a:rPr lang="ko-KR" altLang="en-US" sz="1200" dirty="0"/>
              <a:t>오늘은 3장으로 넘어갑니다. 오늘의 주제는 데이터베이스 시스템입니다. 영어로 Database Systems.</a:t>
            </a:r>
          </a:p>
          <a:p>
            <a:r>
              <a:rPr lang="ko-KR" altLang="en-US" sz="1200" dirty="0"/>
              <a:t>2장에서 우리가 DBMS가 뭔지 배웠습니다. DBMS는 데이터베이스를 관리하는 소프트웨어라고 했죠. 그런데 실제로 데이터베이스가 제대로 돌아가려면 DBMS만 있으면 될까요? 아닙니다. DBMS 외에도 데이터베이스 자체, 사용자, 응용 프로그램, 데이터 언어, 컴퓨터 하드웨어까지 전부 필요합니다. 이 모든 것을 합쳐서 데이터베이스 시스템이라고 부릅니다.</a:t>
            </a:r>
          </a:p>
          <a:p>
            <a:r>
              <a:rPr lang="ko-KR" altLang="en-US" sz="1200" dirty="0"/>
              <a:t>3장은 이 데이터베이스 시스템의 전체 구조를 배우는 장입니다. 특히 3단계 데이터베이스 구조와 데이터 독립성 개념은 데이터베이스 이론의 핵심 중의 핵심이고, 시험에서도 매우 중요한 내용입니다. 면접에서도 "데이터 독립성이 뭐냐?", "스키마가 뭐냐?" 같은 질문이 나올 수 있습니다.</a:t>
            </a:r>
          </a:p>
          <a:p>
            <a:r>
              <a:rPr lang="ko-KR" altLang="en-US" sz="1200" dirty="0"/>
              <a:t>오늘 수업은 3시간입니다. 크게 다섯 파트로 나눌 건데, 1교시에 섹션 1과 섹션 2를 다루고, 10분 쉬고, 2교시에 섹션 3과 섹션 4를 다루고, 10분 쉬고, 3교시에 섹션 5를 다루고 전체 요약을 하겠습니다. 그러면 먼저 오늘의 로드맵을 확인하고 시작합시다.</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200" dirty="0"/>
              <a:t>오늘 수업의 목차입니다. 다섯 개의 섹션으로 구성되어 있습니다.</a:t>
            </a:r>
          </a:p>
          <a:p>
            <a:r>
              <a:rPr lang="ko-KR" altLang="en-US" sz="1200" dirty="0"/>
              <a:t>섹션 1은 "데이터베이스 시스템의 정의"입니다. 데이터베이스 시스템이 정확히 뭔지, 어떤 구성 요소들로 이루어져 있는지를 배웁니다. DB, DBMS, 사용자, 응용 프로그램 이 네 가지 구성 요소를 확인합니다.</a:t>
            </a:r>
          </a:p>
          <a:p>
            <a:r>
              <a:rPr lang="ko-KR" altLang="en-US" sz="1200" dirty="0"/>
              <a:t>섹션 2는 "데이터베이스의 구조"입니다. 이번 장에서 가장 중요한 섹션입니다. 스키마와 인스턴스의 개념, ANSI/SPARC 3단계 데이터베이스 구조, 데이터 독립성, 그리고 데이터 사전까지 다룹니다. 이 내용은 시험에서 비중이 매우 높으니까 집중해서 들어주세요.</a:t>
            </a:r>
          </a:p>
          <a:p>
            <a:r>
              <a:rPr lang="ko-KR" altLang="en-US" sz="1200" dirty="0"/>
              <a:t>섹션 3은 "데이터베이스 사용자"입니다. 데이터베이스를 사용하는 사람을 세 가지 유형으로 분류합니다. DBA, 최종 사용자, 응용 프로그래머. 각각의 역할과 사용하는 데이터 언어가 다릅니다.</a:t>
            </a:r>
          </a:p>
          <a:p>
            <a:r>
              <a:rPr lang="ko-KR" altLang="en-US" sz="1200" dirty="0"/>
              <a:t>섹션 4는 "데이터 언어"입니다. 2장에서 DDL, DML, DCL을 간단히 소개했었는데, 3장에서는 좀 더 깊이 들어갑니다. 특히 절차적 DML과 비절차적 DML의 차이를 배웁니다.</a:t>
            </a:r>
          </a:p>
          <a:p>
            <a:r>
              <a:rPr lang="ko-KR" altLang="en-US" sz="1200" dirty="0"/>
              <a:t>섹션 5는 "DBMS의 구성"입니다. DBMS 내부가 어떻게 구성되어 있는지를 봅니다. 질의 처리기와 저장 데이터 관리자라는 두 가지 핵심 모듈을 배웁니다.</a:t>
            </a:r>
          </a:p>
          <a:p>
            <a:r>
              <a:rPr lang="ko-KR" altLang="en-US" sz="1200" dirty="0"/>
              <a:t>다섯 섹션의 내용이 유기적으로 연결되어 있습니다. 섹션 1에서 전체 시스템의 구성을 보고, 섹션 2에서 데이터베이스의 내부 구조를 보고, 섹션 3에서 누가 이 시스템을 사용하는지 보고, 섹션 4에서 어떤 언어로 소통하는지 보고, 섹션 5에서 DBMS 내부가 어떻게 작동하는지를 봅니다. 바깥에서 안쪽으로 점점 들어가는 구조라고 생각하면 됩니다.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200" dirty="0"/>
              <a:t>첫 번째 섹션, 데이터베이스 시스템의 정의입니다.</a:t>
            </a:r>
          </a:p>
          <a:p>
            <a:r>
              <a:rPr lang="ko-KR" altLang="en-US" sz="1200" dirty="0"/>
              <a:t>이 섹션은 짧지만 중요합니다. 왜냐하면 많은 학생들이 "데이터베이스"와 "데이터베이스 시스템"을 혼동하거든요. 이 둘은 다른 개념입니다. 데이터베이스는 데이터가 저장된 곳이고, 데이터베이스 시스템은 데이터베이스를 포함한 전체 체계입니다. 이 차이를 명확히 하고 가겠습니다.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200" dirty="0"/>
              <a:t>데이터베이스 시스템의 정의를 보겠습니다.</a:t>
            </a:r>
          </a:p>
          <a:p>
            <a:r>
              <a:rPr lang="ko-KR" altLang="en-US" sz="1200" dirty="0"/>
              <a:t>데이터베이스 시스템, 영어로 Database System, 줄여서 DBS는, "데이터베이스에 데이터를 저장하고, 이를 관리하여 조직에 필요한 정보를 생성해주는 시스템"입니다. 그리고 중요한 포인트가 있습니다. 데이터베이스 시스템은 데이터베이스, DBMS, 데이터 언어, 사용자, 컴퓨터를 모두 포함하는 개념이라는 겁니다.</a:t>
            </a:r>
          </a:p>
          <a:p>
            <a:r>
              <a:rPr lang="ko-KR" altLang="en-US" sz="1200" dirty="0"/>
              <a:t>이걸 비유로 설명하면 이렇습니다. 데이터베이스가 "도서관의 책들"이라면, DBMS는 "도서관 관리 소프트웨어"이고, 사용자는 "사서와 이용자"이고, 데이터 언어는 "대출 신청서 양식"이고, 컴퓨터는 "도서관 건물과 설비"입니다. 이 모든 것을 합친 게 "도서관 시스템"인 거죠. 마찬가지로 이 모든 것을 합친 게 데이터베이스 시스템입니다.</a:t>
            </a:r>
          </a:p>
          <a:p>
            <a:r>
              <a:rPr lang="ko-KR" altLang="en-US" sz="1200" dirty="0"/>
              <a:t>슬라이드 하단에 데이터베이스 시스템의 네 가지 주요 구성 요소가 나와 있습니다.</a:t>
            </a:r>
          </a:p>
          <a:p>
            <a:r>
              <a:rPr lang="ko-KR" altLang="en-US" sz="1200" dirty="0"/>
              <a:t>첫 번째, 데이터베이스입니다. 1장에서 배운 것처럼, 통합되고 저장된 운영 데이터입니다. 공유, 통합, 저장, 운영 이 네 가지 키워드, 공통저운 기억나시죠?</a:t>
            </a:r>
          </a:p>
          <a:p>
            <a:r>
              <a:rPr lang="ko-KR" altLang="en-US" sz="1200" dirty="0"/>
              <a:t>두 번째, DBMS입니다. 2장에서 배운 것처럼, 데이터베이스를 관리하는 소프트웨어입니다. Oracle, MySQL, PostgreSQL, MongoDB 같은 것들이죠.</a:t>
            </a:r>
          </a:p>
          <a:p>
            <a:r>
              <a:rPr lang="ko-KR" altLang="en-US" sz="1200" dirty="0"/>
              <a:t>세 번째, 사용자입니다. 데이터베이스를 이용하는 모든 사람을 말합니다. DBA, 최종 사용자, 응용 프로그래머 세 가지로 분류되는데, 이건 섹션 3에서 자세히 다루겠습니다.</a:t>
            </a:r>
          </a:p>
          <a:p>
            <a:r>
              <a:rPr lang="ko-KR" altLang="en-US" sz="1200" dirty="0"/>
              <a:t>네 번째, 응용 프로그램입니다. 데이터베이스에 접근하기 위해 사용하는 소프트웨어입니다. 예를 들어 학사 관리 시스템, 쇼핑몰 웹사이트, 모바일 뱅킹 앱 같은 것들이 전부 데이터베이스에 접근하는 응용 프로그램입니다.</a:t>
            </a:r>
          </a:p>
          <a:p>
            <a:r>
              <a:rPr lang="ko-KR" altLang="en-US" sz="1200" dirty="0"/>
              <a:t>시험에서 "데이터베이스 시스템의 구성 요소를 설명하시오"라는 문제가 나올 수 있습니다. 이때 이 네 가지를 쓰고, 각각 한 줄씩 설명하면 됩니다. 여기에 "컴퓨터"와 "데이터 언어"까지 포함해서 다섯 가지 또는 여섯 가지로 답해도 좋습니다.</a:t>
            </a:r>
          </a:p>
          <a:p>
            <a:r>
              <a:rPr lang="ko-KR" altLang="en-US" sz="1200" dirty="0"/>
              <a:t>자, 이제 데이터베이스 시스템의 구성을 알았으니, 다음 섹션에서 이 시스템의 핵심인 데이터베이스가 내부적으로 어떤 구조를 가지고 있는지를 살펴보겠습니다.</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200" dirty="0"/>
              <a:t>두 번째 섹션, 데이터베이스의 구조입니다. 부제가 스키마, 3단계 구조, 데이터 독립성, 데이터 사전입니다.</a:t>
            </a:r>
          </a:p>
          <a:p>
            <a:r>
              <a:rPr lang="ko-KR" altLang="en-US" sz="1200" dirty="0"/>
              <a:t>이 섹션이 3장에서 가장 핵심적인 내용입니다. 분량도 가장 많고, 시험 출제 비중도 가장 높습니다. 특히 스키마와 인스턴스의 개념, 3단계 데이터베이스 구조, 데이터 독립성은 데이터베이스 이론의 기초 중의 기초이면서 동시에 실무에서도 매우 중요한 개념입니다.</a:t>
            </a:r>
          </a:p>
          <a:p>
            <a:r>
              <a:rPr lang="ko-KR" altLang="en-US" sz="1200" dirty="0"/>
              <a:t>집중해서 들어주시고, 이해가 안 되는 부분이 있으면 바로 질문해주세요.</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200" dirty="0"/>
              <a:t>먼저 스키마와 인스턴스라는 두 가지 핵심 개념을 배우겠습니다.</a:t>
            </a:r>
          </a:p>
          <a:p>
            <a:r>
              <a:rPr lang="ko-KR" altLang="en-US" sz="1200" dirty="0"/>
              <a:t>스키마, 영어로 Schema는, "데이터베이스에 저장되는 데이터 구조와 제약조건을 정의한 것"입니다. 쉽게 말하면 데이터를 담는 그릇의 설계도입니다. 어떤 데이터를 어떤 형태로 저장할 건지를 미리 정해놓은 것이죠.</a:t>
            </a:r>
          </a:p>
          <a:p>
            <a:r>
              <a:rPr lang="ko-KR" altLang="en-US" sz="1200" dirty="0"/>
              <a:t>슬라이드 왼쪽에 스키마의 예시가 나와 있습니다. 고객 테이블의 스키마인데, 속성명, 데이터 타입, 제약조건이 정의되어 있습니다. 고객번호는 INT 타입이고 PRIMARY KEY입니다. 이름은 CHAR(20)이고 NOT NULL입니다. 연락처는 CHAR(13)입니다. 이것이 스키마입니다. "이 테이블에는 이런이런 데이터가 이런 형태로 저장된다"는 약속이에요.</a:t>
            </a:r>
          </a:p>
          <a:p>
            <a:r>
              <a:rPr lang="ko-KR" altLang="en-US" sz="1200" dirty="0"/>
              <a:t>비유를 하나 더 하겠습니다. 스키마는 건물의 설계도와 같습니다. "1층에는 로비가 있고, 2층에는 사무실이 있고, 각 사무실은 가로 5미터 세로 4미터이다." 이것이 설계도입니다. 건물이 지어진 후에 설계도가 자주 바뀌지는 않잖아요? 스키마도 마찬가지입니다. 한번 정의하면 자주 변경되지 않습니다.</a:t>
            </a:r>
          </a:p>
          <a:p>
            <a:r>
              <a:rPr lang="ko-KR" altLang="en-US" sz="1200" dirty="0"/>
              <a:t>인스턴스, 영어로 Instance는, "정의된 스키마에 따라 데이터베이스에 실제로 저장된 값"입니다. 스키마가 그릇의 설계도라면, 인스턴스는 그릇에 실제로 담긴 음식입니다.</a:t>
            </a:r>
          </a:p>
          <a:p>
            <a:r>
              <a:rPr lang="ko-KR" altLang="en-US" sz="1200" dirty="0"/>
              <a:t>슬라이드 오른쪽에 인스턴스의 예시가 나와 있습니다. 고객번호 1001번 홍길동, 1002번 김영희, 1003번 이철수. 이것이 현재 데이터베이스에 실제로 저장되어 있는 값, 즉 인스턴스입니다.</a:t>
            </a:r>
          </a:p>
          <a:p>
            <a:r>
              <a:rPr lang="ko-KR" altLang="en-US" sz="1200" dirty="0"/>
              <a:t>슬라이드 하단에 핵심 차이가 강조되어 있습니다. 스키마는 자주 변경되지 않지만, 인스턴스는 삽입, 삭제, 수정으로 계속 변화합니다. 새 고객이 가입하면 행이 추가되고, 고객이 탈퇴하면 행이 삭제되고, 연락처가 바뀌면 값이 수정됩니다. 이렇게 인스턴스는 계속 변합니다. 하지만 "고객번호, 이름, 연락처"라는 스키마 자체는 바뀌지 않죠.</a:t>
            </a:r>
          </a:p>
          <a:p>
            <a:r>
              <a:rPr lang="ko-KR" altLang="en-US" sz="1200" dirty="0"/>
              <a:t>스키마와 인스턴스의 관계를 프로그래밍으로 비유하면, 스키마는 클래스 정의이고 인스턴스는 객체입니다. 클래스에서 속성을 정의해놓으면, 그 클래스로 만든 여러 객체가 실제 값을 가지잖아요. 그것과 같은 관계입니다.</a:t>
            </a:r>
          </a:p>
          <a:p>
            <a:r>
              <a:rPr lang="ko-KR" altLang="en-US" sz="1200" dirty="0"/>
              <a:t>시험에서 "스키마와 인스턴스의 차이를 설명하시오"라는 문제가 나올 수 있습니다. 핵심은 "스키마는 구조와 제약조건의 정의이고, 인스턴스는 실제 저장된 값이다. 스키마는 자주 변경되지 않지만, 인스턴스는 계속 변화한다"입니다.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200" dirty="0"/>
              <a:t>이제 3장에서 가장 중요한 개념, 3단계 데이터베이스 구조를 배우겠습니다.</a:t>
            </a:r>
          </a:p>
          <a:p>
            <a:r>
              <a:rPr lang="ko-KR" altLang="en-US" sz="1200" dirty="0"/>
              <a:t>3단계 데이터베이스 구조는 미국의 표준화 기관인 ANSI/SPARC에서 제안한 것입니다. 핵심 아이디어는 하나의 데이터베이스를 관점에 따라 세 단계로 나누자는 것입니다. 왜 나누느냐? 일반 사용자가 데이터베이스를 쉽게 이해하고 이용할 수 있도록 하기 위해서입니다.</a:t>
            </a:r>
          </a:p>
          <a:p>
            <a:r>
              <a:rPr lang="ko-KR" altLang="en-US" sz="1200" dirty="0"/>
              <a:t>세 단계가 뭐냐면, 외부 단계, 개념 단계, 내부 단계입니다.</a:t>
            </a:r>
          </a:p>
          <a:p>
            <a:r>
              <a:rPr lang="ko-KR" altLang="en-US" sz="1200" dirty="0"/>
              <a:t>슬라이드 왼쪽을 보시면 위에서 아래로 외부 단계, 개념 단계, 내부 단계가 쌓여 있습니다. 그리고 외부 단계와 개념 단계 사이에 "응용 인터페이스, 논리적 사상"이라는 연결고리가 있고, 개념 단계와 내부 단계 사이에 "저장 인터페이스, 물리적 사상"이라는 연결고리가 있습니다. 이 사상, 영어로 mapping이라는 개념이 나중에 데이터 독립성을 이해하는 데 핵심이 됩니다.</a:t>
            </a:r>
          </a:p>
          <a:p>
            <a:r>
              <a:rPr lang="ko-KR" altLang="en-US" sz="1200" dirty="0"/>
              <a:t>슬라이드 오른쪽에 추상화 수준이 나와 있습니다. 외부 단계가 가장 추상화 수준이 높고 사용자 친화적입니다. 아래로 갈수록 추상화 수준이 낮아지고 기계 친화적이 됩니다. 내부 단계는 디스크에 어떻게 저장되는지를 다루니까 기계 친화적인 거죠.</a:t>
            </a:r>
          </a:p>
          <a:p>
            <a:r>
              <a:rPr lang="ko-KR" altLang="en-US" sz="1200" dirty="0"/>
              <a:t>그리고 중요한 포인트! 외부 스키마는 여러 개가 존재할 수 있지만, 개념 스키마와 내부 스키마는 데이터베이스당 각각 1개만 존재합니다. 이건 시험에서 자주 나오는 포인트입니다. "외부 스키마는 여러 개, 개념 스키마는 1개, 내부 스키마는 1개." 이걸 반드시 기억하세요.</a:t>
            </a:r>
          </a:p>
          <a:p>
            <a:r>
              <a:rPr lang="ko-KR" altLang="en-US" sz="1200" dirty="0"/>
              <a:t>내부 단계에서 외부 단계로 갈수록 추상화 레벨이 높아진다는 것도 교재에 명시된 내용이니 기억해두세요.</a:t>
            </a:r>
          </a:p>
          <a:p>
            <a:r>
              <a:rPr lang="ko-KR" altLang="en-US" sz="1200" dirty="0"/>
              <a:t>이제 각 단계를 하나씩 자세히 살펴보겠습니다.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200" dirty="0"/>
              <a:t>세 단계 각각을 상세하게 보겠습니다.</a:t>
            </a:r>
          </a:p>
          <a:p>
            <a:r>
              <a:rPr lang="ko-KR" altLang="en-US" sz="1200" dirty="0"/>
              <a:t>먼저 외부 단계입니다. 외부 단계는 개별 사용자, 또는 응용 프로그램의 관점에서 데이터베이스를 이해하고 표현하는 단계입니다.</a:t>
            </a:r>
          </a:p>
          <a:p>
            <a:r>
              <a:rPr lang="ko-KR" altLang="en-US" sz="1200" dirty="0"/>
              <a:t>외부 스키마는 각 사용자에게 필요한 데이터만 정의합니다. 전체 데이터베이스 중에서 "나한테 필요한 부분만 보여줘"라는 거예요. 각 사용자가 생각하는 데이터베이스의 모습이 다릅니다. 즉 외부 스키마가 사용자마다 다릅니다. 그래서 하나의 데이터베이스에 대해 외부 스키마가 여러 개 존재할 수 있습니다.</a:t>
            </a:r>
          </a:p>
          <a:p>
            <a:r>
              <a:rPr lang="ko-KR" altLang="en-US" sz="1200" dirty="0"/>
              <a:t>예를 들어, 같은 학생 데이터베이스를 사용하더라도, 학사팀은 "학번, 이름, 학과, 성적"을 보고, 장학금 담당 부서는 "학번, 이름, 소득분위, 장학금 수혜 여부"를 봅니다. 같은 데이터베이스인데 보는 모습이 다른 거죠. 이것이 외부 스키마가 다르다는 뜻입니다.</a:t>
            </a:r>
          </a:p>
          <a:p>
            <a:r>
              <a:rPr lang="ko-KR" altLang="en-US" sz="1200" dirty="0"/>
              <a:t>다음으로 개념 단계입니다. 개념 단계는 조직 전체, 즉 관리자의 관점에서 데이터베이스를 이해하고 표현하는 단계입니다.</a:t>
            </a:r>
          </a:p>
          <a:p>
            <a:r>
              <a:rPr lang="ko-KR" altLang="en-US" sz="1200" dirty="0"/>
              <a:t>개념 스키마는 모든 사용자의 데이터를 통합하여 정의합니다. 데이터의 종류, 데이터 간의 관계, 제약조건, 그리고 보안이나 접근 권한에 대한 정책까지 포함합니다. 우리가 일반적으로 "스키마"라고 하면 대부분 이 개념 스키마를 의미합니다. 데이터베이스당 1개만 존재합니다.</a:t>
            </a:r>
          </a:p>
          <a:p>
            <a:r>
              <a:rPr lang="ko-KR" altLang="en-US" sz="1200" dirty="0"/>
              <a:t>개념 스키마는 2장에서 배운 CREATE TABLE 문으로 정의하는 바로 그것입니다. "학생 테이블에는 학번, 이름, 학과, 학년이 있고, 학번이 기본 키이다." 이것이 개념 스키마의 일부입니다.</a:t>
            </a:r>
          </a:p>
          <a:p>
            <a:r>
              <a:rPr lang="ko-KR" altLang="en-US" sz="1200" dirty="0"/>
              <a:t>마지막으로 내부 단계입니다. 내부 단계는 물리적인 저장 장치의 관점에서 데이터베이스를 표현하는 단계입니다.</a:t>
            </a:r>
          </a:p>
          <a:p>
            <a:r>
              <a:rPr lang="ko-KR" altLang="en-US" sz="1200" dirty="0"/>
              <a:t>내부 스키마는 데이터가 실제로 디스크에 어떻게 저장되는지를 정의합니다. 레코드의 구조가 어떻게 되어 있는지, 각 필드의 크기는 몇 바이트인지, 레코드에 접근하는 경로가 어떻게 되는지 같은 물리적인 저장 구조를 정의합니다. 데이터베이스당 1개만 존재합니다.</a:t>
            </a:r>
          </a:p>
          <a:p>
            <a:r>
              <a:rPr lang="ko-KR" altLang="en-US" sz="1200" dirty="0"/>
              <a:t>내부 스키마는 일반 사용자가 직접 다루는 부분은 아닙니다. 주로 DBA나 DBMS 자체가 관리합니다. 하지만 성능 최적화를 할 때는 내부 스키마를 이해해야 합니다. 예를 들어 인덱스를 어떻게 설정하느냐에 따라 검색 속도가 크게 달라지거든요.</a:t>
            </a:r>
          </a:p>
          <a:p>
            <a:r>
              <a:rPr lang="ko-KR" altLang="en-US" sz="1200" dirty="0"/>
              <a:t>세 단계를 다시 한번 정리하면, 외부 단계는 "각 사용자에게 필요한 부분만", 개념 단계는 "조직 전체의 논리적 구조", 내부 단계는 "물리적 저장 방법". 이 세 가지를 확실하게 구분해서 기억해두세요.</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200" dirty="0"/>
              <a:t>3단계 구조를 구체적인 예시로 이해해봅시다. 쇼핑몰 고객 데이터베이스를 예로 들겠습니다.</a:t>
            </a:r>
          </a:p>
          <a:p>
            <a:r>
              <a:rPr lang="ko-KR" altLang="en-US" sz="1200" dirty="0"/>
              <a:t>먼저 외부 단계를 보겠습니다. 쇼핑몰에는 여러 팀이 있습니다. 고객 분석팀은 고객번호, 이름, 등급을 필요로 합니다. VIP 고객을 분석해야 하니까요. 반면에 상품 배송팀은 고객번호, 이름, 주소, 연락처를 필요로 합니다. 물건을 배달해야 하니까 주소와 연락처가 필수적이에요. 등급 같은 건 배송팀한테는 필요 없습니다.</a:t>
            </a:r>
          </a:p>
          <a:p>
            <a:r>
              <a:rPr lang="ko-KR" altLang="en-US" sz="1200" dirty="0"/>
              <a:t>이처럼 각 팀이 필요로 하는 데이터만 포함하는 별도의 외부 스키마를 가지고 있습니다. 고객 분석팀의 외부 스키마와 배송팀의 외부 스키마가 서로 다른 거죠. 그래서 외부 스키마는 여러 개가 존재할 수 있습니다.</a:t>
            </a:r>
          </a:p>
          <a:p>
            <a:r>
              <a:rPr lang="ko-KR" altLang="en-US" sz="1200" dirty="0"/>
              <a:t>다음으로 개념 단계를 보겠습니다. 개념 단계에서는 모든 사용자의 데이터를 종합합니다. 고객번호, 이름, 주소, 연락처, 등급, 이 다섯 개의 속성이 전부 포함된 하나의 통합된 논리적 구조가 개념 스키마입니다. 데이터베이스당 1개만 존재합니다.</a:t>
            </a:r>
          </a:p>
          <a:p>
            <a:r>
              <a:rPr lang="ko-KR" altLang="en-US" sz="1200" dirty="0"/>
              <a:t>마지막으로 내부 단계를 보겠습니다. 슬라이드에 의사 코드가 나와 있는데, customer라는 레코드가 정의되어 있고, 각 필드의 크기가 명시되어 있습니다. cust_no는 INT 10바이트이고 인덱스가 걸려 있고, name은 CHAR 20바이트, addr은 CHAR 30바이트, phone은 CHAR 13바이트에 인덱스가 걸려 있고, grade는 CHAR 10바이트입니다. 총 83바이트짜리 레코드에 인덱스 2개가 있는 거죠.</a:t>
            </a:r>
          </a:p>
          <a:p>
            <a:r>
              <a:rPr lang="ko-KR" altLang="en-US" sz="1200" dirty="0"/>
              <a:t>이 예시를 통해 같은 데이터를 보더라도 관점에 따라 다르게 표현된다는 것을 이해할 수 있습니다. 외부 단계에서는 "나한테 필요한 것만", 개념 단계에서는 "전체 논리 구조", 내부 단계에서는 "물리적 저장 방법"입니다.</a:t>
            </a:r>
          </a:p>
          <a:p>
            <a:r>
              <a:rPr lang="ko-KR" altLang="en-US" sz="1200" dirty="0"/>
              <a:t>시험에서 "3단계 데이터베이스 구조를 예시를 들어 설명하시오"라는 문제가 나오면 이 쇼핑몰 예시를 쓰면 됩니다.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200" dirty="0"/>
              <a:t>이제 3단계 구조에서 가장 중요한 개념인 데이터 독립성을 배우겠습니다.</a:t>
            </a:r>
          </a:p>
          <a:p>
            <a:r>
              <a:rPr lang="ko-KR" altLang="en-US" sz="1200" dirty="0"/>
              <a:t>데이터 독립성, 영어로 Data Independency란, 하위 스키마를 변경하더라도 상위 스키마가 영향을 받지 않는 특성을 말합니다. 이것이 3단계 구조를 만든 가장 큰 이유입니다.</a:t>
            </a:r>
          </a:p>
          <a:p>
            <a:r>
              <a:rPr lang="ko-KR" altLang="en-US" sz="1200" dirty="0"/>
              <a:t>2장에서 파일 시스템의 문제점으로 "데이터 종속성"을 배웠었죠? 파일 구조가 바뀌면 프로그램도 바꿔야 했습니다. 데이터 독립성은 이 데이터 종속성의 정반대 개념입니다. 3단계 구조 덕분에 하위 구조가 바뀌어도 상위 구조에 영향이 없어지는 겁니다.</a:t>
            </a:r>
          </a:p>
          <a:p>
            <a:r>
              <a:rPr lang="ko-KR" altLang="en-US" sz="1200" dirty="0"/>
              <a:t>데이터 독립성은 두 가지로 나뉩니다.</a:t>
            </a:r>
          </a:p>
          <a:p>
            <a:r>
              <a:rPr lang="ko-KR" altLang="en-US" sz="1200" dirty="0"/>
              <a:t>첫 번째, 논리적 데이터 독립성입니다. 이것은 외부 단계와 개념 단계 사이의 독립성입니다. 개념 스키마가 변경되어도 외부 스키마는 영향을 받지 않습니다. 개념 스키마가 변경되면 관련 외부/개념 사상, 즉 매핑 관계만 수정해주면 됩니다.</a:t>
            </a:r>
          </a:p>
          <a:p>
            <a:r>
              <a:rPr lang="ko-KR" altLang="en-US" sz="1200" dirty="0"/>
              <a:t>예를 들어, 개념 스키마에서 속성 이름을 '전화번호'에서 '연락처'로 변경했다고 합시다. 내부 데이터는 똑같은데 이름만 바뀐 거예요. 이때 외부 스키마는 어떻게 되느냐? 외부 스키마에서는 원래 '전화번호'라는 이름으로 쓰고 있었는데, 외부 스키마 자체를 바꿀 필요 없이, 외부 스키마와 개념 스키마를 연결하는 사상만 "외부의 전화번호는 개념의 연락처에 대응된다"로 수정하면 끝입니다. 외부 스키마를 사용하는 응용 프로그램은 아무것도 안 바꿔도 됩니다.</a:t>
            </a:r>
          </a:p>
          <a:p>
            <a:r>
              <a:rPr lang="ko-KR" altLang="en-US" sz="1200" dirty="0"/>
              <a:t>두 번째, 물리적 데이터 독립성입니다. 이것은 개념 단계와 내부 단계 사이의 독립성입니다. 내부 스키마가 변경되어도 개념 스키마는 영향을 받지 않습니다. 내부 스키마가 변경되면 관련 개념/내부 사상만 수정해주면 됩니다.</a:t>
            </a:r>
          </a:p>
          <a:p>
            <a:r>
              <a:rPr lang="ko-KR" altLang="en-US" sz="1200" dirty="0"/>
              <a:t>예를 들어, 성능 향상을 위해 인덱스를 새로 추가하거나, 데이터의 저장 순서를 바꾸거나, 저장 장치를 HDD에서 SSD로 교체했다고 합시다. 이런 내부 스키마의 변경은 개념 스키마에 영향을 주지 않습니다. 개념 스키마와 내부 스키마를 연결하는 사상만 수정하면 됩니다.</a:t>
            </a:r>
          </a:p>
          <a:p>
            <a:r>
              <a:rPr lang="ko-KR" altLang="en-US" sz="1200" dirty="0"/>
              <a:t>여기서 핵심 키워드가 "사상", 영어로 mapping입니다. 사상이란 두 스키마 사이의 대응 관계를 정의한 것입니다. 데이터 독립성은 바로 이 사상 덕분에 가능합니다. 스키마를 직접 바꾸는 게 아니라 사상만 바꾸면 되니까요.</a:t>
            </a:r>
          </a:p>
          <a:p>
            <a:r>
              <a:rPr lang="ko-KR" altLang="en-US" sz="1200" dirty="0"/>
              <a:t>시험에서 "논리적 데이터 독립성과 물리적 데이터 독립성을 비교하여 설명하시오"라는 문제가 나올 수 있습니다. 논리적 독립성은 외부와 개념 사이, 물리적 독립성은 개념과 내부 사이라는 것과, 각각 어떤 사상을 수정하는지를 명확히 쓰면 좋은 답안이 됩니다.</a:t>
            </a:r>
          </a:p>
          <a:p>
            <a:r>
              <a:rPr lang="ko-KR" altLang="en-US" sz="1200" dirty="0"/>
              <a:t>참고로 물리적 데이터 독립성이 논리적 데이터 독립성보다 구현이 쉽습니다. 왜냐하면 내부 스키마의 변경은 데이터를 물리적으로 어떻게 저장할지의 문제이지, 논리적 의미가 바뀌는 것은 아니니까요. 반면에 개념 스키마의 변경은 데이터의 논리적 의미 자체가 바뀔 수 있어서 더 복잡합니다.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200" dirty="0"/>
              <a:t>이 섹션의 마지막 내용인 데이터 사전과 데이터 디렉토리를 배우겠습니다.</a:t>
            </a:r>
          </a:p>
          <a:p>
            <a:r>
              <a:rPr lang="ko-KR" altLang="en-US" sz="1200" dirty="0"/>
              <a:t>먼저 데이터 사전입니다. 영어로 Data Dictionary, 또는 시스템 카탈로그라고도 합니다.</a:t>
            </a:r>
          </a:p>
          <a:p>
            <a:r>
              <a:rPr lang="ko-KR" altLang="en-US" sz="1200" dirty="0"/>
              <a:t>데이터 사전은 데이터베이스에 저장되는 데이터에 관한 정보, 즉 메타데이터를 유지하는 시스템 데이터베이스입니다. 메타데이터란 "데이터에 대한 데이터"입니다. 데이터 자체가 아니라 데이터의 구조, 의미, 관계에 대한 정보를 말합니다.</a:t>
            </a:r>
          </a:p>
          <a:p>
            <a:r>
              <a:rPr lang="ko-KR" altLang="en-US" sz="1200" dirty="0"/>
              <a:t>데이터 사전에는 어떤 정보가 저장되느냐? 스키마 정보, 사상 정보, 그리고 다양한 제약조건 등이 저장됩니다. 방금 배운 외부 스키마, 개념 스키마, 내부 스키마의 정의와, 외부/개념 사상, 개념/내부 사상의 정보가 전부 데이터 사전에 들어있습니다.</a:t>
            </a:r>
          </a:p>
          <a:p>
            <a:r>
              <a:rPr lang="ko-KR" altLang="en-US" sz="1200" dirty="0"/>
              <a:t>데이터 사전의 중요한 특징 네 가지를 알아두세요.</a:t>
            </a:r>
          </a:p>
          <a:p>
            <a:r>
              <a:rPr lang="ko-KR" altLang="en-US" sz="1200" dirty="0"/>
              <a:t>하나, 시스템 데이터베이스에 저장됩니다. 사용자 데이터베이스와는 별도의 공간입니다.</a:t>
            </a:r>
          </a:p>
          <a:p>
            <a:r>
              <a:rPr lang="ko-KR" altLang="en-US" sz="1200" dirty="0"/>
              <a:t>둘, DBMS가 스스로 생성하고 유지합니다. DBA가 CREATE TABLE을 실행하면, DBMS가 자동으로 데이터 사전에 해당 테이블의 스키마 정보를 기록합니다.</a:t>
            </a:r>
          </a:p>
          <a:p>
            <a:r>
              <a:rPr lang="ko-KR" altLang="en-US" sz="1200" dirty="0"/>
              <a:t>셋, 일반 사용자도 접근 가능하지만 검색만 가능합니다. 수정은 불가합니다. 수정은 DBMS만 할 수 있습니다.</a:t>
            </a:r>
          </a:p>
          <a:p>
            <a:r>
              <a:rPr lang="ko-KR" altLang="en-US" sz="1200" dirty="0"/>
              <a:t>다음으로 데이터 디렉토리입니다. 영어로 Data Directory.</a:t>
            </a:r>
          </a:p>
          <a:p>
            <a:r>
              <a:rPr lang="ko-KR" altLang="en-US" sz="1200" dirty="0"/>
              <a:t>데이터 디렉토리는 데이터 사전의 데이터에 접근하는 위치 정보를 관리합니다. 데이터 사전이 "어떤 테이블이 있다"는 정보를 가지고 있다면, 데이터 디렉토리는 "그 정보가 데이터 사전의 어디에 저장되어 있는지"를 알려줍니다.</a:t>
            </a:r>
          </a:p>
          <a:p>
            <a:r>
              <a:rPr lang="ko-KR" altLang="en-US" sz="1200" dirty="0"/>
              <a:t>데이터 디렉토리의 가장 큰 특징은, 시스템만 접근 가능하다는 점입니다. 사용자는 접근할 수 없습니다.</a:t>
            </a:r>
          </a:p>
          <a:p>
            <a:r>
              <a:rPr lang="ko-KR" altLang="en-US" sz="1200" dirty="0"/>
              <a:t>이 차이를 확실하게 기억하세요. 데이터 사전은 사용자가 검색할 수 있고, 데이터 디렉토리는 시스템만 접근할 수 있습니다. 시험에서 "데이터 사전과 데이터 디렉토리의 차이를 설명하시오"라는 문제가 나올 수 있습니다.</a:t>
            </a:r>
          </a:p>
          <a:p>
            <a:r>
              <a:rPr lang="ko-KR" altLang="en-US" sz="1200" dirty="0"/>
              <a:t>그리고 슬라이드 하단에 사용자 DB와 시스템 DB의 구분이 나와 있습니다. 사용자 DB는 사용자가 실제로 이용하는 데이터가 저장된 일반 데이터베이스이고, 시스템 DB는 데이터 사전이나 디렉토리 같은 메타데이터가 저장된 데이터베이스입니다.</a:t>
            </a:r>
          </a:p>
          <a:p>
            <a:r>
              <a:rPr lang="ko-KR" altLang="en-US" sz="1200" dirty="0"/>
              <a:t>여기까지가 1교시 내용입니다. 데이터베이스 시스템의 정의와 구성 요소, 스키마와 인스턴스, 3단계 데이터베이스 구조, 데이터 독립성, 데이터 사전과 디렉토리를 다뤘습니다. 이 중에서 가장 중요한 건 3단계 구조와 데이터 독립성입니다. 혹시 질문 있으신 분 계신가요? 없으시면 10분 쉬고 2교시를 시작하겠습니다.</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200" dirty="0"/>
              <a:t>세 번째 섹션, 데이터베이스 사용자입니다. 부제가 DBA, 최종 사용자, 응용 프로그래머입니다.</a:t>
            </a:r>
          </a:p>
          <a:p>
            <a:r>
              <a:rPr lang="ko-KR" altLang="en-US" sz="1200" dirty="0"/>
              <a:t>데이터베이스 시스템을 사용하는 사람은 누구냐? 모든 사람이 같은 방식으로 사용하는 건 아닙니다. 역할에 따라 세 가지 유형으로 나뉘고, 각 유형이 사용하는 데이터 언어도 다릅니다. 이 분류를 확실하게 이해하고 가겠습니다.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200" dirty="0"/>
              <a:t>데이터베이스 사용자는 데이터베이스를 이용하기 위해 접근하는 모든 사람을 말합니다. 크게 세 가지 유형이 있습니다. 데이터베이스 관리자, 최종 사용자, 응용 프로그래머.</a:t>
            </a:r>
          </a:p>
          <a:p>
            <a:r>
              <a:rPr lang="ko-KR" altLang="en-US" sz="1200" dirty="0"/>
              <a:t>첫 번째, 데이터베이스 관리자입니다. 영어로 DBA, Database Administrator. DBA는 데이터베이스 시스템의 운영 및 관리를 총괄하는 사람입니다. 데이터베이스의 총책임자라고 생각하면 됩니다.</a:t>
            </a:r>
          </a:p>
          <a:p>
            <a:r>
              <a:rPr lang="ko-KR" altLang="en-US" sz="1200" dirty="0"/>
              <a:t>DBA의 핵심 특징은 주로 DDL과 DCL을 이용한다는 점입니다. DDL은 스키마를 정의하고 수정하는 데이터 정의어이고, DCL은 보안과 권한을 관리하는 데이터 제어어입니다. DBA가 CREATE TABLE로 테이블을 만들고, GRANT로 사용자에게 권한을 부여하는 거죠. DBA는 스키마 정의, 보안 및 백업 관리, 무결성 제약조건 정의 같은 업무를 합니다.</a:t>
            </a:r>
          </a:p>
          <a:p>
            <a:r>
              <a:rPr lang="ko-KR" altLang="en-US" sz="1200" dirty="0"/>
              <a:t>두 번째, 최종 사용자입니다. 영어로 End User. 최종 사용자는 데이터베이스에 접근하여 데이터를 조작, 즉 삽입, 삭제, 수정, 검색하는 사람입니다.</a:t>
            </a:r>
          </a:p>
          <a:p>
            <a:r>
              <a:rPr lang="ko-KR" altLang="en-US" sz="1200" dirty="0"/>
              <a:t>최종 사용자는 주로 DML을 이용합니다. SELECT로 데이터를 검색하고, INSERT로 데이터를 입력하는 거죠. SQL을 직접 사용하기도 하고, GUI 기반의 프로그램을 통해 사용하기도 합니다. 예를 들어 은행 창구 직원이 고객 정보를 조회할 때 직접 SQL을 치는 게 아니라, 은행 업무 시스템의 화면에서 검색 버튼을 누르잖아요? 그 뒤에서 SQL이 실행되는 거예요. 최종 사용자는 스키마를 정의하는 권한이 없습니다. 데이터를 조작만 할 수 있어요.</a:t>
            </a:r>
          </a:p>
          <a:p>
            <a:r>
              <a:rPr lang="ko-KR" altLang="en-US" sz="1200" dirty="0"/>
              <a:t>세 번째, 응용 프로그래머입니다. 영어로 Application Programmer. 응용 프로그래머는 데이터 언어를 이용하여 응용 프로그램을 작성하는 사람입니다.</a:t>
            </a:r>
          </a:p>
          <a:p>
            <a:r>
              <a:rPr lang="ko-KR" altLang="en-US" sz="1200" dirty="0"/>
              <a:t>응용 프로그래머는 프로그래밍 언어, 예를 들어 Java, Python, C++ 같은 언어에 SQL을 삽입하여 프로그램을 만듭니다. 주로 SELECT, INSERT 같은 DML을 사용하고, CREATE 같은 DDL은 사용하지 않습니다. DDL은 DBA의 영역이니까요.</a:t>
            </a:r>
          </a:p>
          <a:p>
            <a:r>
              <a:rPr lang="ko-KR" altLang="en-US" sz="1200" dirty="0"/>
              <a:t>이 세 가지를 비교하는 시험 문제가 나올 수 있습니다. 핵심 구분점은 "사용하는 데이터 언어"입니다. DBA는 DDL과 DCL, 최종 사용자는 DML, 응용 프로그래머도 DML입니다. 그러면 최종 사용자와 응용 프로그래머의 차이는 뭐냐? 최종 사용자는 SQL을 직접 사용하거나 GUI를 통해 사용하고, 응용 프로그래머는 프로그래밍 언어 안에 SQL을 삽입하여 프로그램을 개발한다는 차이가 있습니다.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200" dirty="0"/>
              <a:t>DBA의 주요 업무를 좀 더 자세하게 보겠습니다. 교재에서는 여덟 가지 또는 아홉 가지 업무를 나열하고 있는데, 슬라이드에 여덟 가지로 정리해놨습니다.</a:t>
            </a:r>
          </a:p>
          <a:p>
            <a:r>
              <a:rPr lang="ko-KR" altLang="en-US" sz="1200" dirty="0"/>
              <a:t>첫 번째, DB 구성 요소 선정입니다. 데이터베이스에 저장할 데이터의 타입, 구조, 제약조건을 결정하는 것입니다. "우리 회사에서 어떤 데이터를 저장해야 하느냐?"를 결정하는 가장 초기 단계의 업무입니다.</a:t>
            </a:r>
          </a:p>
          <a:p>
            <a:r>
              <a:rPr lang="ko-KR" altLang="en-US" sz="1200" dirty="0"/>
              <a:t>두 번째, 스키마 정의입니다. 개념 스키마, 외부 스키마, 내부 스키마를 정의하고 설계합니다. 이것은 데이터베이스 개발 초기 단계에서 이루어지는 작업입니다.</a:t>
            </a:r>
          </a:p>
          <a:p>
            <a:r>
              <a:rPr lang="ko-KR" altLang="en-US" sz="1200" dirty="0"/>
              <a:t>세 번째, 물리적 저장 구조 결정입니다. 데이터를 디스크에 어떤 방식으로 저장할지, 접근 방법은 어떻게 할지, 인덱스를 어디에 어떻게 설계할지를 결정합니다.</a:t>
            </a:r>
          </a:p>
          <a:p>
            <a:r>
              <a:rPr lang="ko-KR" altLang="en-US" sz="1200" dirty="0"/>
              <a:t>네 번째, 무결성 제약조건 정의입니다. 데이터의 무결성을 유지하기 위한 제약조건을 정의하고 규칙을 설정합니다. "학년은 1에서 4 사이여야 한다", "학번은 중복될 수 없다" 같은 규칙이죠.</a:t>
            </a:r>
          </a:p>
          <a:p>
            <a:r>
              <a:rPr lang="ko-KR" altLang="en-US" sz="1200" dirty="0"/>
              <a:t>다섯 번째, 보안 및 접근 권한 정책입니다. 보안과 접근 권한에 대한 정책을 결정하고, 사용자별로 접근 권한을 수립합니다. "이 사용자는 학생 테이블을 읽기만 할 수 있다", "이 사용자는 수정도 가능하다" 같은 권한 설정입니다.</a:t>
            </a:r>
          </a:p>
          <a:p>
            <a:r>
              <a:rPr lang="ko-KR" altLang="en-US" sz="1200" dirty="0"/>
              <a:t>여섯 번째, 백업 및 회복 기법 정의입니다. 장애에 대비하여 백업 정책과 회복 기법을 정의하고, 복구 매뉴얼을 작성합니다.</a:t>
            </a:r>
          </a:p>
          <a:p>
            <a:r>
              <a:rPr lang="ko-KR" altLang="en-US" sz="1200" dirty="0"/>
              <a:t>일곱 번째, 시스템 데이터베이스 관리 및 성능 감시입니다. 데이터 사전 같은 시스템 데이터베이스를 관리하고, 병목 현상을 분석하여 시스템 성능을 최적화합니다.</a:t>
            </a:r>
          </a:p>
          <a:p>
            <a:r>
              <a:rPr lang="ko-KR" altLang="en-US" sz="1200" dirty="0"/>
              <a:t>여덟 번째, 데이터베이스 재구성입니다. 요구사항이나 환경이 변경되면 데이터베이스의 구조, 즉 스키마를 수정합니다. 이것은 운용 단계에서 이루어지는 작업입니다.</a:t>
            </a:r>
          </a:p>
          <a:p>
            <a:r>
              <a:rPr lang="ko-KR" altLang="en-US" sz="1200" dirty="0"/>
              <a:t>DBA의 업무가 많죠? 실제 기업에서 DBA는 매우 중요한 직책입니다. 특히 대기업이나 금융기관에서는 DBA의 역할이 핵심적이에요. 여러분 중에 DBA를 목표로 하시는 분이 있다면, 이 업무 목록을 잘 기억해두세요.</a:t>
            </a:r>
          </a:p>
          <a:p>
            <a:r>
              <a:rPr lang="ko-KR" altLang="en-US" sz="1200" dirty="0"/>
              <a:t>시험에서는 "DBA의 주요 업무를 다섯 가지 이상 서술하시오" 같은 문제가 나올 수 있습니다. 여덟 가지 중에서 최소 다섯 가지는 확실하게 쓸 수 있도록 준비해두세요.</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200" dirty="0"/>
              <a:t>네 번째 섹션, 데이터 언어입니다. DDL, DML, DCL을 다룹니다.</a:t>
            </a:r>
          </a:p>
          <a:p>
            <a:r>
              <a:rPr lang="ko-KR" altLang="en-US" sz="1200" dirty="0"/>
              <a:t>2장에서 DBMS의 3대 기능을 배울 때 DDL, DML, DCL을 간단히 소개했었습니다. 오늘은 좀 더 깊이 들어가서, 특히 DML의 두 가지 유형인 절차적 DML과 비절차적 DML의 차이를 배우겠습니다. 이것은 시험에서 자주 나오는 내용입니다.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200" dirty="0"/>
              <a:t>데이터 언어의 전체 그림을 보겠습니다.</a:t>
            </a:r>
          </a:p>
          <a:p>
            <a:r>
              <a:rPr lang="ko-KR" altLang="en-US" sz="1200" dirty="0"/>
              <a:t>데이터 언어란, 사용자와 DBMS 간의 통신 수단입니다. 사용자가 데이터베이스에 어떤 작업을 하고 싶으면, 데이터 언어를 사용하여 DBMS에게 요청해야 합니다. DBMS는 사람의 말을 직접 알아듣지 못하니까, 데이터 언어라는 약속된 형식을 통해 소통하는 겁니다.</a:t>
            </a:r>
          </a:p>
          <a:p>
            <a:r>
              <a:rPr lang="ko-KR" altLang="en-US" sz="1200" dirty="0"/>
              <a:t>데이터 언어는 크게 세 가지로 구분됩니다. 데이터 정의어, 데이터 조작어, 데이터 제어어.</a:t>
            </a:r>
          </a:p>
          <a:p>
            <a:r>
              <a:rPr lang="ko-KR" altLang="en-US" sz="1200" dirty="0"/>
              <a:t>첫 번째, 데이터 정의어, DDL입니다. Data Definition Language의 약자입니다. 데이터베이스의 스키마를 정의하고, 수정하고, 삭제하기 위한 언어입니다. 대표 명령어는 CREATE, ALTER, DROP입니다. DDL로 변경한 내용은 데이터 사전에 반영됩니다. CREATE TABLE을 실행하면 데이터 사전에 해당 테이블의 스키마 정보가 기록되는 거죠.</a:t>
            </a:r>
          </a:p>
          <a:p>
            <a:r>
              <a:rPr lang="ko-KR" altLang="en-US" sz="1200" dirty="0"/>
              <a:t>두 번째, 데이터 조작어, DML입니다. Data Manipulation Language의 약자입니다. 데이터베이스에서 데이터의 삽입, 삭제, 수정, 검색을 처리하는 언어입니다. 대표 명령어는 SELECT, INSERT, UPDATE, DELETE입니다. DML에는 절차적 DML과 비절차적 DML이 있는데, 이건 다음 슬라이드에서 자세히 다루겠습니다. 대표적인 비절차적 DML이 바로 SQL입니다.</a:t>
            </a:r>
          </a:p>
          <a:p>
            <a:r>
              <a:rPr lang="ko-KR" altLang="en-US" sz="1200" dirty="0"/>
              <a:t>세 번째, 데이터 제어어, DCL입니다. Data Control Language의 약자입니다. 무결성 유지, 보안, 회복, 동시성 제어 등을 처리하는 언어입니다. 교재의 표현을 빌리면, "저장된 데이터를 여러 사용자가 무결성과 일관성을 유지하며 문제없이 공유할 수 있도록 내부적으로 필요한 규칙이나 기법을 정의"하는 것입니다. 대표 명령어는 GRANT, REVOKE, COMMIT, ROLLBACK입니다.</a:t>
            </a:r>
          </a:p>
          <a:p>
            <a:r>
              <a:rPr lang="ko-KR" altLang="en-US" sz="1200" dirty="0"/>
              <a:t>이 세 가지를 다시 정리하면, DDL은 "그릇을 만드는 언어", DML은 "그릇에 음식을 넣고 빼는 언어", DCL은 "그릇과 음식을 안전하게 지키는 언어"입니다. 그리고 이 세 가지를 합쳐서 SQL이라고 부릅니다. SQL은 DDL, DML, DCL을 모두 포함하는 통합 언어입니다.</a:t>
            </a:r>
          </a:p>
          <a:p>
            <a:r>
              <a:rPr lang="ko-KR" altLang="en-US" sz="1200" dirty="0"/>
              <a:t>시험에서 "데이터 언어의 세 가지 분류와 각각의 역할을 설명하시오"라는 문제가 나올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200" dirty="0"/>
              <a:t>DML을 좀 더 깊이 살펴보겠습니다. DML에는 절차적 DML과 비절차적 DML 두 가지가 있습니다.</a:t>
            </a:r>
          </a:p>
          <a:p>
            <a:r>
              <a:rPr lang="ko-KR" altLang="en-US" sz="1200" dirty="0"/>
              <a:t>먼저 절차적 DML입니다. 영어로 Procedural DML. 절차적 DML은 사용자가 어떤 데이터를 원하고, 그 데이터를 얻으려면 어떻게 처리해야 하는지를 기술하는 방식입니다. "무엇을"뿐만 아니라 "어떻게"까지 명시해야 합니다.</a:t>
            </a:r>
          </a:p>
          <a:p>
            <a:r>
              <a:rPr lang="ko-KR" altLang="en-US" sz="1200" dirty="0"/>
              <a:t>절차적 DML의 대표적인 사용 방식이 Embedded SQL, 즉 내장 SQL입니다. SQL 문을 프로그래밍 언어에 삽입하여 사용하는 방식이에요. 예를 들어 Java 프로그램 안에 SQL 문을 넣고, Java의 제어 구조(if문, for문 등)로 데이터 처리 절차를 기술하는 거죠. 주로 응용 프로그래머가 사용합니다.</a:t>
            </a:r>
          </a:p>
          <a:p>
            <a:r>
              <a:rPr lang="ko-KR" altLang="en-US" sz="1200" dirty="0"/>
              <a:t>다음으로 비절차적 DML입니다. 영어로 Nonprocedural DML, 또는 선언적 DML이라고도 합니다. 비절차적 DML은 사용자가 어떤 데이터를 원하는지만 기술하면 됩니다. "어떻게 찾을지"는 DBMS가 알아서 결정합니다.</a:t>
            </a:r>
          </a:p>
          <a:p>
            <a:r>
              <a:rPr lang="ko-KR" altLang="en-US" sz="1200" dirty="0"/>
              <a:t>비절차적 DML의 대표가 바로 SQL, Structured Query Language입니다. 슬라이드에 예시가 나와 있죠. SELECT 이름 FROM 고객 WHERE 등급 이퀄 VIP. 이 한 줄이면 끝입니다. "VIP 등급인 고객의 이름을 보여줘." 이것만 말하면 됩니다. 데이터가 디스크의 어디에 저장되어 있는지, 어떤 순서로 검색해야 하는지, 인덱스를 사용할지 말지, 이런 건 DBMS가 알아서 결정합니다.</a:t>
            </a:r>
          </a:p>
          <a:p>
            <a:r>
              <a:rPr lang="ko-KR" altLang="en-US" sz="1200" dirty="0"/>
              <a:t>비절차적 DML은 최종 사용자도 사용할 수 있습니다. "어떻게"를 몰라도 "무엇을" 원하는지만 말하면 되니까요.</a:t>
            </a:r>
          </a:p>
          <a:p>
            <a:r>
              <a:rPr lang="ko-KR" altLang="en-US" sz="1200" dirty="0"/>
              <a:t>이 둘의 차이를 한 줄로 요약하면 이렇습니다. 절차적 DML은 How와 What을 둘 다 기술하고, 비절차적 DML은 What만 기술합니다.</a:t>
            </a:r>
          </a:p>
          <a:p>
            <a:r>
              <a:rPr lang="ko-KR" altLang="en-US" sz="1200" dirty="0"/>
              <a:t>시험에서 "절차적 DML과 비절차적 DML의 차이를 설명하시오"라는 문제가 나올 수 있습니다. "절차적 DML은 어떤 데이터를 원하고 어떻게 처리할지를 둘 다 기술하며, 비절차적 DML은 어떤 데이터를 원하는지만 기술하고 처리 방법은 DBMS가 결정한다"라고 쓰면 됩니다. SQL이 비절차적 DML의 대표라는 것도 함께 쓰면 좋습니다.</a:t>
            </a:r>
          </a:p>
          <a:p>
            <a:r>
              <a:rPr lang="ko-KR" altLang="en-US" sz="1200" dirty="0"/>
              <a:t>여기까지가 2교시 내용입니다. 데이터베이스 사용자의 세 가지 유형, DBA의 주요 업무, 데이터 언어의 세 가지 분류, 그리고 절차적 DML과 비절차적 DML의 차이를 다뤘습니다. 질문 있으신 분 계시면 말씀해주세요. 없으시면 10분 쉬고 3교시를 시작하겠습니다.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200" dirty="0"/>
              <a:t>자, 3교시입니다. 마지막 섹션, DBMS의 구성입니다.</a:t>
            </a:r>
          </a:p>
          <a:p>
            <a:r>
              <a:rPr lang="ko-KR" altLang="en-US" sz="1200" dirty="0"/>
              <a:t>이 섹션에서는 DBMS 소프트웨어의 내부 구조를 살펴봅니다. DBMS가 사용자의 요청을 받아서 어떤 과정을 거쳐 데이터를 처리하는지, 내부적으로 어떤 모듈들이 있는지를 배웁니다.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200" dirty="0"/>
              <a:t>DBMS의 논리적 구성을 보겠습니다.</a:t>
            </a:r>
          </a:p>
          <a:p>
            <a:r>
              <a:rPr lang="ko-KR" altLang="en-US" sz="1200" dirty="0"/>
              <a:t>DBMS는 크게 두 가지로 구성됩니다. 질의 처리기와 데이터 저장 관리자입니다. DBMS의 역할이 데이터베이스를 관리하고 사용자의 데이터 처리 요구를 수행하는 것이니까, 이 두 가지 역할을 담당하는 모듈이 있는 거죠.</a:t>
            </a:r>
          </a:p>
          <a:p>
            <a:r>
              <a:rPr lang="ko-KR" altLang="en-US" sz="1200" dirty="0"/>
              <a:t>먼저 질의 처리기, 영어로 Query Processor를 보겠습니다. 질의 처리기는 사용자의 데이터 처리 요구를 해석하여 처리하는 역할을 합니다. 사용자가 SQL 문을 던지면, 이걸 분석하고 해석해서 실행 가능한 형태로 바꿔주는 거예요.</a:t>
            </a:r>
          </a:p>
          <a:p>
            <a:r>
              <a:rPr lang="ko-KR" altLang="en-US" sz="1200" dirty="0"/>
              <a:t>질의 처리기 안에 다섯 가지 세부 구성 요소가 있습니다.</a:t>
            </a:r>
          </a:p>
          <a:p>
            <a:r>
              <a:rPr lang="ko-KR" altLang="en-US" sz="1200" dirty="0"/>
              <a:t>첫 번째, DDL 컴파일러입니다. DDL로 작성된 스키마 정의를 해석합니다. CREATE TABLE 같은 명령어를 받아서 처리하는 겁니다.</a:t>
            </a:r>
          </a:p>
          <a:p>
            <a:r>
              <a:rPr lang="ko-KR" altLang="en-US" sz="1200" dirty="0"/>
              <a:t>두 번째, DML 프리컴파일러입니다. 응용 프로그램 속에 삽입된 DML, 즉 Embedded SQL을 추출하여 DML 컴파일러에게 전달합니다. Java 코드 안에 SQL이 섞여 있으면, SQL 부분만 골라내서 처리해주는 거예요.</a:t>
            </a:r>
          </a:p>
          <a:p>
            <a:r>
              <a:rPr lang="ko-KR" altLang="en-US" sz="1200" dirty="0"/>
              <a:t>세 번째, DML 컴파일러입니다. DML 문을 분석하여 런타임 처리기가 이해할 수 있는 형태로 해석합니다.</a:t>
            </a:r>
          </a:p>
          <a:p>
            <a:r>
              <a:rPr lang="ko-KR" altLang="en-US" sz="1200" dirty="0"/>
              <a:t>네 번째, 런타임 데이터베이스 처리기입니다. 실제로 데이터베이스에 접근하여 데이터 처리 요구를 실행하는 모듈입니다. DML 컴파일러가 해석한 내용을 받아서 "실제로 디스크에서 데이터를 읽어오고, 쓰고" 하는 작업을 수행합니다.</a:t>
            </a:r>
          </a:p>
          <a:p>
            <a:r>
              <a:rPr lang="ko-KR" altLang="en-US" sz="1200" dirty="0"/>
              <a:t>다섯 번째, 트랜잭션 관리자입니다. 접근 권한 관리, 무결성 검사, 회복, 병행 수행 관리를 담당합니다. 여러 사용자가 동시에 데이터베이스에 접근할 때 문제가 생기지 않도록 제어하는 역할입니다. 이 내용은 13주차에서 자세히 배웁니다.</a:t>
            </a:r>
          </a:p>
          <a:p>
            <a:r>
              <a:rPr lang="ko-KR" altLang="en-US" sz="1200" dirty="0"/>
              <a:t>다음으로 데이터 저장 관리자, 영어로 Stored Data Manager를 보겠습니다. 데이터 저장 관리자는 디스크에 저장된 데이터베이스와 데이터 사전을 관리하고, 데이터베이스에 대한 실제 접근을 담당하는 운영체제 모듈입니다.</a:t>
            </a:r>
          </a:p>
          <a:p>
            <a:r>
              <a:rPr lang="ko-KR" altLang="en-US" sz="1200" dirty="0"/>
              <a:t>사용자의 요청이 처리되는 전체 흐름을 정리하면 이렇습니다. 사용자가 SQL 문을 입력하면, 질의 처리기가 이를 해석하고, 런타임 처리기가 데이터 저장 관리자에게 요청하고, 데이터 저장 관리자가 디스크에서 데이터를 읽어와서 결과를 사용자에게 돌려줍니다.</a:t>
            </a:r>
          </a:p>
          <a:p>
            <a:r>
              <a:rPr lang="ko-KR" altLang="en-US" sz="1200" dirty="0"/>
              <a:t>시험에서 "DBMS의 구성을 설명하시오"라는 문제가 나오면, 질의 처리기와 데이터 저장 관리자 두 가지를 쓰고, 질의 처리기의 세부 구성 요소인 DDL 컴파일러, DML 프리컴파일러, DML 컴파일러, 런타임 처리기, 트랜잭션 관리자를 나열하면 됩니다.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sz="1200" dirty="0"/>
              <a:t>자, 오늘 수업의 전체 내용을 정리하겠습니다.</a:t>
            </a:r>
          </a:p>
          <a:p>
            <a:r>
              <a:rPr lang="ko-KR" altLang="en-US" sz="1200" dirty="0"/>
              <a:t>섹션 1, 데이터베이스 시스템의 정의. 데이터베이스 시스템은 데이터베이스에 데이터를 저장하고 관리하여 조직에 필요한 정보를 생성해주는 시스템입니다. 데이터베이스, DBMS, 사용자, 응용 프로그램, 데이터 언어, 컴퓨터를 모두 포함하는 개념입니다.</a:t>
            </a:r>
          </a:p>
          <a:p>
            <a:r>
              <a:rPr lang="ko-KR" altLang="en-US" sz="1200" dirty="0"/>
              <a:t>섹션 2, 데이터베이스의 구조. 스키마는 데이터 구조와 제약조건의 정의이고, 인스턴스는 실제 저장된 값입니다. ANSI/SPARC 3단계 구조는 외부 단계, 개념 단계, 내부 단계로 나뉩니다. 외부 스키마는 여러 개, 개념 스키마는 1개, 내부 스키마는 1개입니다. 데이터 독립성은 하위 스키마가 변경되어도 상위 스키마가 영향을 받지 않는 것이며, 논리적 독립성과 물리적 독립성 두 가지가 있습니다. 데이터 사전은 메타데이터를 저장하는 시스템 데이터베이스입니다.</a:t>
            </a:r>
          </a:p>
          <a:p>
            <a:r>
              <a:rPr lang="ko-KR" altLang="en-US" sz="1200" dirty="0"/>
              <a:t>섹션 3, 데이터베이스 사용자. DBA는 DDL과 DCL을 주로 사용하며 시스템 전체를 관리합니다. 최종 사용자는 DML을 사용하여 데이터를 조작합니다. 응용 프로그래머는 프로그래밍 언어에 DML을 삽입하여 응용 프로그램을 개발합니다.</a:t>
            </a:r>
          </a:p>
          <a:p>
            <a:r>
              <a:rPr lang="ko-KR" altLang="en-US" sz="1200" dirty="0"/>
              <a:t>섹션 4, 데이터 언어. DDL은 스키마 정의, DML은 데이터 조작, DCL은 데이터 제어를 담당합니다. DML은 절차적 DML과 비절차적 DML로 나뉘며, SQL이 비절차적 DML의 대표입니다.</a:t>
            </a:r>
          </a:p>
          <a:p>
            <a:r>
              <a:rPr lang="ko-KR" altLang="en-US" sz="1200" dirty="0"/>
              <a:t>섹션 5, DBMS의 구성. DBMS는 질의 처리기와 데이터 저장 관리자로 구성됩니다. 질의 처리기에는 DDL 컴파일러, DML 프리컴파일러, DML 컴파일러, 런타임 처리기, 트랜잭션 관리자가 포함됩니다.</a:t>
            </a:r>
          </a:p>
          <a:p>
            <a:r>
              <a:rPr lang="ko-KR" altLang="en-US" sz="1200" dirty="0"/>
              <a:t>마지막으로, 시험 대비 핵심 체크리스트를 정리해드리겠습니다.</a:t>
            </a:r>
          </a:p>
          <a:p>
            <a:r>
              <a:rPr lang="ko-KR" altLang="en-US" sz="1200" dirty="0"/>
              <a:t>스키마와 인스턴스의 차이를 설명할 수 있는가?
3단계 데이터베이스 구조의 각 단계를 설명할 수 있는가?
외부 스키마, 개념 스키마, 내부 스키마의 개수를 정확히 알고 있는가?
논리적 데이터 독립성과 물리적 데이터 독립성을 구분하여 설명할 수 있는가?
데이터 사전과 데이터 디렉토리의 차이를 알고 있는가?
DBA, 최종 사용자, 응용 프로그래머의 차이와 각각 사용하는 데이터 언어를 알고 있는가?
DDL, DML, DCL의 역할과 대표 명령어를 알고 있는가?
절차적 DML과 비절차적 DML의 차이를 설명할 수 있는가?
DBMS의 두 가지 구성 요소를 설명할 수 있는가?</a:t>
            </a:r>
          </a:p>
          <a:p>
            <a:r>
              <a:rPr lang="ko-KR" altLang="en-US" sz="1200" dirty="0"/>
              <a:t>이 체크리스트를 기준으로 복습하시면 됩니다. 다음 시간에는 3장 연습문제 풀이를 하겠습니다.</a:t>
            </a:r>
          </a:p>
          <a:p>
            <a:r>
              <a:rPr lang="ko-KR" altLang="en-US" sz="1200" dirty="0"/>
              <a:t>오늘 3시간 동안 수고 많으셨습니다. 질문 있으신 분은 앞으로 오시면 답해드리겠습니다. 감사합니다.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7.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11.png"/></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17.png"/></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8.png"/></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20.xml.rels><?xml version="1.0" encoding="UTF-8"?><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0891B2"/>
          </a:solidFill>
          <a:ln/>
        </p:spPr>
      </p:sp>
      <p:sp>
        <p:nvSpPr>
          <p:cNvPr id="3" name="Shape 1"/>
          <p:cNvSpPr/>
          <p:nvPr/>
        </p:nvSpPr>
        <p:spPr>
          <a:xfrm>
            <a:off x="109728" y="0"/>
            <a:ext cx="9034272" cy="54864"/>
          </a:xfrm>
          <a:prstGeom prst="rect">
            <a:avLst/>
          </a:prstGeom>
          <a:solidFill>
            <a:srgbClr val="0891B2"/>
          </a:solidFill>
          <a:ln/>
        </p:spPr>
      </p:sp>
      <p:sp>
        <p:nvSpPr>
          <p:cNvPr id="4" name="Shape 2"/>
          <p:cNvSpPr/>
          <p:nvPr/>
        </p:nvSpPr>
        <p:spPr>
          <a:xfrm>
            <a:off x="109728" y="5088636"/>
            <a:ext cx="9034272" cy="54864"/>
          </a:xfrm>
          <a:prstGeom prst="rect">
            <a:avLst/>
          </a:prstGeom>
          <a:solidFill>
            <a:srgbClr val="0891B2"/>
          </a:solidFill>
          <a:ln/>
        </p:spPr>
      </p:sp>
      <p:sp>
        <p:nvSpPr>
          <p:cNvPr id="5" name="Text 3"/>
          <p:cNvSpPr/>
          <p:nvPr/>
        </p:nvSpPr>
        <p:spPr>
          <a:xfrm>
            <a:off x="731520" y="731520"/>
            <a:ext cx="4572000" cy="457200"/>
          </a:xfrm>
          <a:prstGeom prst="rect">
            <a:avLst/>
          </a:prstGeom>
          <a:noFill/>
          <a:ln/>
        </p:spPr>
        <p:txBody>
          <a:bodyPr wrap="square" lIns="0" tIns="0" rIns="0" bIns="0" rtlCol="0" anchor="ctr"/>
          <a:lstStyle/>
          <a:p>
            <a:pPr marL="0" indent="0">
              <a:buNone/>
            </a:pPr>
            <a:r>
              <a:rPr lang="en-US" sz="1400" b="1" kern="0" spc="600" dirty="0">
                <a:solidFill>
                  <a:srgbClr val="22D3EE"/>
                </a:solidFill>
                <a:latin typeface="Arial" pitchFamily="34" charset="0"/>
                <a:ea typeface="Arial" pitchFamily="34" charset="-122"/>
                <a:cs typeface="Arial" pitchFamily="34" charset="-120"/>
              </a:rPr>
              <a:t>CHAPTER 03</a:t>
            </a:r>
            <a:endParaRPr lang="en-US" sz="1400" dirty="0"/>
          </a:p>
        </p:txBody>
      </p:sp>
      <p:sp>
        <p:nvSpPr>
          <p:cNvPr id="6" name="Text 4"/>
          <p:cNvSpPr/>
          <p:nvPr/>
        </p:nvSpPr>
        <p:spPr>
          <a:xfrm>
            <a:off x="731520" y="1280160"/>
            <a:ext cx="6858000" cy="1097280"/>
          </a:xfrm>
          <a:prstGeom prst="rect">
            <a:avLst/>
          </a:prstGeom>
          <a:noFill/>
          <a:ln/>
        </p:spPr>
        <p:txBody>
          <a:bodyPr wrap="square" lIns="0" tIns="0" rIns="0" bIns="0" rtlCol="0" anchor="ctr"/>
          <a:lstStyle/>
          <a:p>
            <a:pPr marL="0" indent="0">
              <a:buNone/>
            </a:pPr>
            <a:r>
              <a:rPr lang="en-US" sz="4200" b="1" dirty="0">
                <a:solidFill>
                  <a:srgbClr val="FFFFFF"/>
                </a:solidFill>
                <a:latin typeface="Arial Black" pitchFamily="34" charset="0"/>
                <a:ea typeface="Arial Black" pitchFamily="34" charset="-122"/>
                <a:cs typeface="Arial Black" pitchFamily="34" charset="-120"/>
              </a:rPr>
              <a:t>데이터베이스 시스템</a:t>
            </a:r>
            <a:endParaRPr lang="en-US" sz="4200" dirty="0"/>
          </a:p>
        </p:txBody>
      </p:sp>
      <p:sp>
        <p:nvSpPr>
          <p:cNvPr id="7" name="Text 5"/>
          <p:cNvSpPr/>
          <p:nvPr/>
        </p:nvSpPr>
        <p:spPr>
          <a:xfrm>
            <a:off x="731520" y="2377440"/>
            <a:ext cx="6400800" cy="457200"/>
          </a:xfrm>
          <a:prstGeom prst="rect">
            <a:avLst/>
          </a:prstGeom>
          <a:noFill/>
          <a:ln/>
        </p:spPr>
        <p:txBody>
          <a:bodyPr wrap="square" lIns="0" tIns="0" rIns="0" bIns="0" rtlCol="0" anchor="ctr"/>
          <a:lstStyle/>
          <a:p>
            <a:pPr marL="0" indent="0">
              <a:buNone/>
            </a:pPr>
            <a:r>
              <a:rPr lang="en-US" sz="1600" i="1" dirty="0">
                <a:solidFill>
                  <a:srgbClr val="94A3B8"/>
                </a:solidFill>
                <a:latin typeface="Calibri" pitchFamily="34" charset="0"/>
                <a:ea typeface="Calibri" pitchFamily="34" charset="-122"/>
                <a:cs typeface="Calibri" pitchFamily="34" charset="-120"/>
              </a:rPr>
              <a:t>Database Systems</a:t>
            </a:r>
            <a:endParaRPr lang="en-US" sz="1600" dirty="0"/>
          </a:p>
        </p:txBody>
      </p:sp>
      <p:sp>
        <p:nvSpPr>
          <p:cNvPr id="8" name="Shape 6"/>
          <p:cNvSpPr/>
          <p:nvPr/>
        </p:nvSpPr>
        <p:spPr>
          <a:xfrm>
            <a:off x="731520" y="3017520"/>
            <a:ext cx="2286000" cy="36576"/>
          </a:xfrm>
          <a:prstGeom prst="rect">
            <a:avLst/>
          </a:prstGeom>
          <a:solidFill>
            <a:srgbClr val="0891B2"/>
          </a:solidFill>
          <a:ln/>
        </p:spPr>
      </p:sp>
      <p:sp>
        <p:nvSpPr>
          <p:cNvPr id="9" name="Text 7"/>
          <p:cNvSpPr/>
          <p:nvPr/>
        </p:nvSpPr>
        <p:spPr>
          <a:xfrm>
            <a:off x="731520" y="3291840"/>
            <a:ext cx="4572000" cy="914400"/>
          </a:xfrm>
          <a:prstGeom prst="rect">
            <a:avLst/>
          </a:prstGeom>
          <a:noFill/>
          <a:ln/>
        </p:spPr>
        <p:txBody>
          <a:bodyPr wrap="square" lIns="0" tIns="0" rIns="0" bIns="0"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박상돈 조교수</a:t>
            </a:r>
            <a:endParaRPr lang="en-US" sz="1800" dirty="0"/>
          </a:p>
          <a:p>
            <a:pPr marL="0" indent="0">
              <a:buNone/>
            </a:pPr>
            <a:r>
              <a:rPr lang="en-US" sz="1400" dirty="0">
                <a:solidFill>
                  <a:srgbClr val="94A3B8"/>
                </a:solidFill>
                <a:latin typeface="Calibri" pitchFamily="34" charset="0"/>
                <a:ea typeface="Calibri" pitchFamily="34" charset="-122"/>
                <a:cs typeface="Calibri" pitchFamily="34" charset="-120"/>
              </a:rPr>
              <a:t>대전대학교 컴퓨터공학과</a:t>
            </a:r>
            <a:endParaRPr lang="en-US" sz="1800" dirty="0"/>
          </a:p>
        </p:txBody>
      </p:sp>
      <p:pic>
        <p:nvPicPr>
          <p:cNvPr id="10" name="Image 0" descr="preencoded.png"/>
          <p:cNvPicPr>
            <a:picLocks noChangeAspect="1"/>
          </p:cNvPicPr>
          <p:nvPr/>
        </p:nvPicPr>
        <p:blipFill>
          <a:blip r:embed="rId3"/>
          <a:stretch>
            <a:fillRect/>
          </a:stretch>
        </p:blipFill>
        <p:spPr>
          <a:xfrm>
            <a:off x="7315200" y="1188720"/>
            <a:ext cx="1188720" cy="1188720"/>
          </a:xfrm>
          <a:prstGeom prst="rect">
            <a:avLst/>
          </a:prstGeom>
        </p:spPr>
      </p:pic>
      <p:sp>
        <p:nvSpPr>
          <p:cNvPr id="11" name="Shape 8"/>
          <p:cNvSpPr/>
          <p:nvPr/>
        </p:nvSpPr>
        <p:spPr>
          <a:xfrm>
            <a:off x="7772400" y="3200400"/>
            <a:ext cx="1097280" cy="1097280"/>
          </a:xfrm>
          <a:prstGeom prst="ellipse">
            <a:avLst/>
          </a:prstGeom>
          <a:solidFill>
            <a:srgbClr val="0891B2">
              <a:alpha val="20000"/>
            </a:srgbClr>
          </a:solidFill>
          <a:ln/>
        </p:spPr>
      </p:sp>
      <p:sp>
        <p:nvSpPr>
          <p:cNvPr id="12" name="Shape 9"/>
          <p:cNvSpPr/>
          <p:nvPr/>
        </p:nvSpPr>
        <p:spPr>
          <a:xfrm>
            <a:off x="6858000" y="3566160"/>
            <a:ext cx="548640" cy="548640"/>
          </a:xfrm>
          <a:prstGeom prst="ellipse">
            <a:avLst/>
          </a:prstGeom>
          <a:solidFill>
            <a:srgbClr val="0891B2">
              <a:alpha val="10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F4F8"/>
        </a:solidFill>
        <a:effectLst/>
      </p:bgPr>
    </p:bg>
    <p:spTree>
      <p:nvGrpSpPr>
        <p:cNvPr id="1" name=""/>
        <p:cNvGrpSpPr/>
        <p:nvPr/>
      </p:nvGrpSpPr>
      <p:grpSpPr>
        <a:xfrm>
          <a:off x="0" y="0"/>
          <a:ext cx="0" cy="0"/>
          <a:chOff x="0" y="0"/>
          <a:chExt cx="0" cy="0"/>
        </a:xfrm>
      </p:grpSpPr>
      <p:sp>
        <p:nvSpPr>
          <p:cNvPr id="2" name="Text 0"/>
          <p:cNvSpPr/>
          <p:nvPr/>
        </p:nvSpPr>
        <p:spPr>
          <a:xfrm>
            <a:off x="640080" y="365760"/>
            <a:ext cx="2743200" cy="457200"/>
          </a:xfrm>
          <a:prstGeom prst="rect">
            <a:avLst/>
          </a:prstGeom>
          <a:noFill/>
          <a:ln/>
        </p:spPr>
        <p:txBody>
          <a:bodyPr wrap="square" lIns="0" tIns="0" rIns="0" bIns="0" rtlCol="0" anchor="ctr"/>
          <a:lstStyle/>
          <a:p>
            <a:pPr marL="0" indent="0">
              <a:buNone/>
            </a:pPr>
            <a:r>
              <a:rPr lang="en-US" sz="1200" b="1" kern="0" spc="500" dirty="0">
                <a:solidFill>
                  <a:srgbClr val="0891B2"/>
                </a:solidFill>
                <a:latin typeface="Arial" pitchFamily="34" charset="0"/>
                <a:ea typeface="Arial" pitchFamily="34" charset="-122"/>
                <a:cs typeface="Arial" pitchFamily="34" charset="-120"/>
              </a:rPr>
              <a:t>CONTENTS</a:t>
            </a:r>
            <a:endParaRPr lang="en-US" sz="1200" dirty="0"/>
          </a:p>
        </p:txBody>
      </p:sp>
      <p:sp>
        <p:nvSpPr>
          <p:cNvPr id="3" name="Text 1"/>
          <p:cNvSpPr/>
          <p:nvPr/>
        </p:nvSpPr>
        <p:spPr>
          <a:xfrm>
            <a:off x="640080" y="731520"/>
            <a:ext cx="4572000" cy="640080"/>
          </a:xfrm>
          <a:prstGeom prst="rect">
            <a:avLst/>
          </a:prstGeom>
          <a:noFill/>
          <a:ln/>
        </p:spPr>
        <p:txBody>
          <a:bodyPr wrap="square" lIns="0" tIns="0" rIns="0" bIns="0" rtlCol="0" anchor="ctr"/>
          <a:lstStyle/>
          <a:p>
            <a:pPr marL="0" indent="0">
              <a:buNone/>
            </a:pPr>
            <a:r>
              <a:rPr lang="en-US" sz="3200" b="1" dirty="0">
                <a:solidFill>
                  <a:srgbClr val="1A2744"/>
                </a:solidFill>
                <a:latin typeface="Arial Black" pitchFamily="34" charset="0"/>
                <a:ea typeface="Arial Black" pitchFamily="34" charset="-122"/>
                <a:cs typeface="Arial Black" pitchFamily="34" charset="-120"/>
              </a:rPr>
              <a:t>목차</a:t>
            </a:r>
            <a:endParaRPr lang="en-US" sz="3200" dirty="0"/>
          </a:p>
        </p:txBody>
      </p:sp>
      <p:sp>
        <p:nvSpPr>
          <p:cNvPr id="4" name="Shape 2"/>
          <p:cNvSpPr/>
          <p:nvPr/>
        </p:nvSpPr>
        <p:spPr>
          <a:xfrm>
            <a:off x="640080" y="1508760"/>
            <a:ext cx="3749040" cy="914400"/>
          </a:xfrm>
          <a:prstGeom prst="rect">
            <a:avLst/>
          </a:prstGeom>
          <a:solidFill>
            <a:srgbClr val="FFFFFF"/>
          </a:solidFill>
          <a:ln/>
          <a:effectLst>
            <a:outerShdw blurRad="76200" dist="25400" dir="8100000" algn="bl" rotWithShape="0">
              <a:srgbClr val="000000">
                <a:alpha val="8000"/>
              </a:srgbClr>
            </a:outerShdw>
          </a:effectLst>
        </p:spPr>
      </p:sp>
      <p:sp>
        <p:nvSpPr>
          <p:cNvPr id="5" name="Shape 3"/>
          <p:cNvSpPr/>
          <p:nvPr/>
        </p:nvSpPr>
        <p:spPr>
          <a:xfrm>
            <a:off x="640080" y="1508760"/>
            <a:ext cx="73152" cy="914400"/>
          </a:xfrm>
          <a:prstGeom prst="rect">
            <a:avLst/>
          </a:prstGeom>
          <a:solidFill>
            <a:srgbClr val="0891B2"/>
          </a:solidFill>
          <a:ln/>
        </p:spPr>
      </p:sp>
      <p:sp>
        <p:nvSpPr>
          <p:cNvPr id="6" name="Text 4"/>
          <p:cNvSpPr/>
          <p:nvPr/>
        </p:nvSpPr>
        <p:spPr>
          <a:xfrm>
            <a:off x="822960" y="1508760"/>
            <a:ext cx="594360" cy="914400"/>
          </a:xfrm>
          <a:prstGeom prst="rect">
            <a:avLst/>
          </a:prstGeom>
          <a:noFill/>
          <a:ln/>
        </p:spPr>
        <p:txBody>
          <a:bodyPr wrap="square" lIns="0" tIns="0" rIns="0" bIns="0" rtlCol="0" anchor="ctr"/>
          <a:lstStyle/>
          <a:p>
            <a:pPr marL="0" indent="0">
              <a:buNone/>
            </a:pPr>
            <a:r>
              <a:rPr lang="en-US" sz="2200" b="1" dirty="0">
                <a:solidFill>
                  <a:srgbClr val="0891B2"/>
                </a:solidFill>
                <a:latin typeface="Arial Black" pitchFamily="34" charset="0"/>
                <a:ea typeface="Arial Black" pitchFamily="34" charset="-122"/>
                <a:cs typeface="Arial Black" pitchFamily="34" charset="-120"/>
              </a:rPr>
              <a:t>01</a:t>
            </a:r>
            <a:endParaRPr lang="en-US" sz="2200" dirty="0"/>
          </a:p>
        </p:txBody>
      </p:sp>
      <p:sp>
        <p:nvSpPr>
          <p:cNvPr id="7" name="Text 5"/>
          <p:cNvSpPr/>
          <p:nvPr/>
        </p:nvSpPr>
        <p:spPr>
          <a:xfrm>
            <a:off x="1463040" y="1618488"/>
            <a:ext cx="2743200" cy="347472"/>
          </a:xfrm>
          <a:prstGeom prst="rect">
            <a:avLst/>
          </a:prstGeom>
          <a:noFill/>
          <a:ln/>
        </p:spPr>
        <p:txBody>
          <a:bodyPr wrap="square" lIns="0" tIns="0" rIns="0" bIns="0" rtlCol="0" anchor="ctr"/>
          <a:lstStyle/>
          <a:p>
            <a:pPr marL="0" indent="0">
              <a:buNone/>
            </a:pPr>
            <a:r>
              <a:rPr lang="en-US" sz="1500" b="1" dirty="0">
                <a:solidFill>
                  <a:srgbClr val="1A2744"/>
                </a:solidFill>
                <a:latin typeface="Arial" pitchFamily="34" charset="0"/>
                <a:ea typeface="Arial" pitchFamily="34" charset="-122"/>
                <a:cs typeface="Arial" pitchFamily="34" charset="-120"/>
              </a:rPr>
              <a:t>데이터베이스 시스템의 정의</a:t>
            </a:r>
            <a:endParaRPr lang="en-US" sz="1500" dirty="0"/>
          </a:p>
        </p:txBody>
      </p:sp>
      <p:sp>
        <p:nvSpPr>
          <p:cNvPr id="8" name="Text 6"/>
          <p:cNvSpPr/>
          <p:nvPr/>
        </p:nvSpPr>
        <p:spPr>
          <a:xfrm>
            <a:off x="1463040" y="1984248"/>
            <a:ext cx="2743200" cy="32004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DB 시스템의 구성 요소와 개념</a:t>
            </a:r>
            <a:endParaRPr lang="en-US" sz="1050" dirty="0"/>
          </a:p>
        </p:txBody>
      </p:sp>
      <p:sp>
        <p:nvSpPr>
          <p:cNvPr id="9" name="Shape 7"/>
          <p:cNvSpPr/>
          <p:nvPr/>
        </p:nvSpPr>
        <p:spPr>
          <a:xfrm>
            <a:off x="640080" y="2606040"/>
            <a:ext cx="3749040" cy="914400"/>
          </a:xfrm>
          <a:prstGeom prst="rect">
            <a:avLst/>
          </a:prstGeom>
          <a:solidFill>
            <a:srgbClr val="FFFFFF"/>
          </a:solidFill>
          <a:ln/>
          <a:effectLst>
            <a:outerShdw blurRad="76200" dist="25400" dir="8100000" algn="bl" rotWithShape="0">
              <a:srgbClr val="000000">
                <a:alpha val="8000"/>
              </a:srgbClr>
            </a:outerShdw>
          </a:effectLst>
        </p:spPr>
      </p:sp>
      <p:sp>
        <p:nvSpPr>
          <p:cNvPr id="10" name="Shape 8"/>
          <p:cNvSpPr/>
          <p:nvPr/>
        </p:nvSpPr>
        <p:spPr>
          <a:xfrm>
            <a:off x="640080" y="2606040"/>
            <a:ext cx="73152" cy="914400"/>
          </a:xfrm>
          <a:prstGeom prst="rect">
            <a:avLst/>
          </a:prstGeom>
          <a:solidFill>
            <a:srgbClr val="0891B2"/>
          </a:solidFill>
          <a:ln/>
        </p:spPr>
      </p:sp>
      <p:sp>
        <p:nvSpPr>
          <p:cNvPr id="11" name="Text 9"/>
          <p:cNvSpPr/>
          <p:nvPr/>
        </p:nvSpPr>
        <p:spPr>
          <a:xfrm>
            <a:off x="822960" y="2606040"/>
            <a:ext cx="594360" cy="914400"/>
          </a:xfrm>
          <a:prstGeom prst="rect">
            <a:avLst/>
          </a:prstGeom>
          <a:noFill/>
          <a:ln/>
        </p:spPr>
        <p:txBody>
          <a:bodyPr wrap="square" lIns="0" tIns="0" rIns="0" bIns="0" rtlCol="0" anchor="ctr"/>
          <a:lstStyle/>
          <a:p>
            <a:pPr marL="0" indent="0">
              <a:buNone/>
            </a:pPr>
            <a:r>
              <a:rPr lang="en-US" sz="2200" b="1" dirty="0">
                <a:solidFill>
                  <a:srgbClr val="0891B2"/>
                </a:solidFill>
                <a:latin typeface="Arial Black" pitchFamily="34" charset="0"/>
                <a:ea typeface="Arial Black" pitchFamily="34" charset="-122"/>
                <a:cs typeface="Arial Black" pitchFamily="34" charset="-120"/>
              </a:rPr>
              <a:t>02</a:t>
            </a:r>
            <a:endParaRPr lang="en-US" sz="2200" dirty="0"/>
          </a:p>
        </p:txBody>
      </p:sp>
      <p:sp>
        <p:nvSpPr>
          <p:cNvPr id="12" name="Text 10"/>
          <p:cNvSpPr/>
          <p:nvPr/>
        </p:nvSpPr>
        <p:spPr>
          <a:xfrm>
            <a:off x="1463040" y="2715768"/>
            <a:ext cx="2743200" cy="347472"/>
          </a:xfrm>
          <a:prstGeom prst="rect">
            <a:avLst/>
          </a:prstGeom>
          <a:noFill/>
          <a:ln/>
        </p:spPr>
        <p:txBody>
          <a:bodyPr wrap="square" lIns="0" tIns="0" rIns="0" bIns="0" rtlCol="0" anchor="ctr"/>
          <a:lstStyle/>
          <a:p>
            <a:pPr marL="0" indent="0">
              <a:buNone/>
            </a:pPr>
            <a:r>
              <a:rPr lang="en-US" sz="1500" b="1" dirty="0">
                <a:solidFill>
                  <a:srgbClr val="1A2744"/>
                </a:solidFill>
                <a:latin typeface="Arial" pitchFamily="34" charset="0"/>
                <a:ea typeface="Arial" pitchFamily="34" charset="-122"/>
                <a:cs typeface="Arial" pitchFamily="34" charset="-120"/>
              </a:rPr>
              <a:t>데이터베이스의 구조</a:t>
            </a:r>
            <a:endParaRPr lang="en-US" sz="1500" dirty="0"/>
          </a:p>
        </p:txBody>
      </p:sp>
      <p:sp>
        <p:nvSpPr>
          <p:cNvPr id="13" name="Text 11"/>
          <p:cNvSpPr/>
          <p:nvPr/>
        </p:nvSpPr>
        <p:spPr>
          <a:xfrm>
            <a:off x="1463040" y="3081528"/>
            <a:ext cx="2743200" cy="32004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스키마, 3단계 구조, 데이터 독립성, 데이터 사전</a:t>
            </a:r>
            <a:endParaRPr lang="en-US" sz="1050" dirty="0"/>
          </a:p>
        </p:txBody>
      </p:sp>
      <p:sp>
        <p:nvSpPr>
          <p:cNvPr id="14" name="Shape 12"/>
          <p:cNvSpPr/>
          <p:nvPr/>
        </p:nvSpPr>
        <p:spPr>
          <a:xfrm>
            <a:off x="640080" y="3703320"/>
            <a:ext cx="3749040" cy="914400"/>
          </a:xfrm>
          <a:prstGeom prst="rect">
            <a:avLst/>
          </a:prstGeom>
          <a:solidFill>
            <a:srgbClr val="FFFFFF"/>
          </a:solidFill>
          <a:ln/>
          <a:effectLst>
            <a:outerShdw blurRad="76200" dist="25400" dir="8100000" algn="bl" rotWithShape="0">
              <a:srgbClr val="000000">
                <a:alpha val="8000"/>
              </a:srgbClr>
            </a:outerShdw>
          </a:effectLst>
        </p:spPr>
      </p:sp>
      <p:sp>
        <p:nvSpPr>
          <p:cNvPr id="15" name="Shape 13"/>
          <p:cNvSpPr/>
          <p:nvPr/>
        </p:nvSpPr>
        <p:spPr>
          <a:xfrm>
            <a:off x="640080" y="3703320"/>
            <a:ext cx="73152" cy="914400"/>
          </a:xfrm>
          <a:prstGeom prst="rect">
            <a:avLst/>
          </a:prstGeom>
          <a:solidFill>
            <a:srgbClr val="0891B2"/>
          </a:solidFill>
          <a:ln/>
        </p:spPr>
      </p:sp>
      <p:sp>
        <p:nvSpPr>
          <p:cNvPr id="16" name="Text 14"/>
          <p:cNvSpPr/>
          <p:nvPr/>
        </p:nvSpPr>
        <p:spPr>
          <a:xfrm>
            <a:off x="822960" y="3703320"/>
            <a:ext cx="594360" cy="914400"/>
          </a:xfrm>
          <a:prstGeom prst="rect">
            <a:avLst/>
          </a:prstGeom>
          <a:noFill/>
          <a:ln/>
        </p:spPr>
        <p:txBody>
          <a:bodyPr wrap="square" lIns="0" tIns="0" rIns="0" bIns="0" rtlCol="0" anchor="ctr"/>
          <a:lstStyle/>
          <a:p>
            <a:pPr marL="0" indent="0">
              <a:buNone/>
            </a:pPr>
            <a:r>
              <a:rPr lang="en-US" sz="2200" b="1" dirty="0">
                <a:solidFill>
                  <a:srgbClr val="0891B2"/>
                </a:solidFill>
                <a:latin typeface="Arial Black" pitchFamily="34" charset="0"/>
                <a:ea typeface="Arial Black" pitchFamily="34" charset="-122"/>
                <a:cs typeface="Arial Black" pitchFamily="34" charset="-120"/>
              </a:rPr>
              <a:t>03</a:t>
            </a:r>
            <a:endParaRPr lang="en-US" sz="2200" dirty="0"/>
          </a:p>
        </p:txBody>
      </p:sp>
      <p:sp>
        <p:nvSpPr>
          <p:cNvPr id="17" name="Text 15"/>
          <p:cNvSpPr/>
          <p:nvPr/>
        </p:nvSpPr>
        <p:spPr>
          <a:xfrm>
            <a:off x="1463040" y="3813048"/>
            <a:ext cx="2743200" cy="347472"/>
          </a:xfrm>
          <a:prstGeom prst="rect">
            <a:avLst/>
          </a:prstGeom>
          <a:noFill/>
          <a:ln/>
        </p:spPr>
        <p:txBody>
          <a:bodyPr wrap="square" lIns="0" tIns="0" rIns="0" bIns="0" rtlCol="0" anchor="ctr"/>
          <a:lstStyle/>
          <a:p>
            <a:pPr marL="0" indent="0">
              <a:buNone/>
            </a:pPr>
            <a:r>
              <a:rPr lang="en-US" sz="1500" b="1" dirty="0">
                <a:solidFill>
                  <a:srgbClr val="1A2744"/>
                </a:solidFill>
                <a:latin typeface="Arial" pitchFamily="34" charset="0"/>
                <a:ea typeface="Arial" pitchFamily="34" charset="-122"/>
                <a:cs typeface="Arial" pitchFamily="34" charset="-120"/>
              </a:rPr>
              <a:t>데이터베이스 사용자</a:t>
            </a:r>
            <a:endParaRPr lang="en-US" sz="1500" dirty="0"/>
          </a:p>
        </p:txBody>
      </p:sp>
      <p:sp>
        <p:nvSpPr>
          <p:cNvPr id="18" name="Text 16"/>
          <p:cNvSpPr/>
          <p:nvPr/>
        </p:nvSpPr>
        <p:spPr>
          <a:xfrm>
            <a:off x="1463040" y="4178808"/>
            <a:ext cx="2743200" cy="32004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DBA, 최종 사용자, 응용 프로그래머</a:t>
            </a:r>
            <a:endParaRPr lang="en-US" sz="1050" dirty="0"/>
          </a:p>
        </p:txBody>
      </p:sp>
      <p:sp>
        <p:nvSpPr>
          <p:cNvPr id="19" name="Shape 17"/>
          <p:cNvSpPr/>
          <p:nvPr/>
        </p:nvSpPr>
        <p:spPr>
          <a:xfrm>
            <a:off x="4754880" y="1508760"/>
            <a:ext cx="3749040" cy="914400"/>
          </a:xfrm>
          <a:prstGeom prst="rect">
            <a:avLst/>
          </a:prstGeom>
          <a:solidFill>
            <a:srgbClr val="FFFFFF"/>
          </a:solidFill>
          <a:ln/>
          <a:effectLst>
            <a:outerShdw blurRad="76200" dist="25400" dir="8100000" algn="bl" rotWithShape="0">
              <a:srgbClr val="000000">
                <a:alpha val="8000"/>
              </a:srgbClr>
            </a:outerShdw>
          </a:effectLst>
        </p:spPr>
      </p:sp>
      <p:sp>
        <p:nvSpPr>
          <p:cNvPr id="20" name="Shape 18"/>
          <p:cNvSpPr/>
          <p:nvPr/>
        </p:nvSpPr>
        <p:spPr>
          <a:xfrm>
            <a:off x="4754880" y="1508760"/>
            <a:ext cx="73152" cy="914400"/>
          </a:xfrm>
          <a:prstGeom prst="rect">
            <a:avLst/>
          </a:prstGeom>
          <a:solidFill>
            <a:srgbClr val="0891B2"/>
          </a:solidFill>
          <a:ln/>
        </p:spPr>
      </p:sp>
      <p:sp>
        <p:nvSpPr>
          <p:cNvPr id="21" name="Text 19"/>
          <p:cNvSpPr/>
          <p:nvPr/>
        </p:nvSpPr>
        <p:spPr>
          <a:xfrm>
            <a:off x="4937760" y="1508760"/>
            <a:ext cx="594360" cy="914400"/>
          </a:xfrm>
          <a:prstGeom prst="rect">
            <a:avLst/>
          </a:prstGeom>
          <a:noFill/>
          <a:ln/>
        </p:spPr>
        <p:txBody>
          <a:bodyPr wrap="square" lIns="0" tIns="0" rIns="0" bIns="0" rtlCol="0" anchor="ctr"/>
          <a:lstStyle/>
          <a:p>
            <a:pPr marL="0" indent="0">
              <a:buNone/>
            </a:pPr>
            <a:r>
              <a:rPr lang="en-US" sz="2200" b="1" dirty="0">
                <a:solidFill>
                  <a:srgbClr val="0891B2"/>
                </a:solidFill>
                <a:latin typeface="Arial Black" pitchFamily="34" charset="0"/>
                <a:ea typeface="Arial Black" pitchFamily="34" charset="-122"/>
                <a:cs typeface="Arial Black" pitchFamily="34" charset="-120"/>
              </a:rPr>
              <a:t>04</a:t>
            </a:r>
            <a:endParaRPr lang="en-US" sz="2200" dirty="0"/>
          </a:p>
        </p:txBody>
      </p:sp>
      <p:sp>
        <p:nvSpPr>
          <p:cNvPr id="22" name="Text 20"/>
          <p:cNvSpPr/>
          <p:nvPr/>
        </p:nvSpPr>
        <p:spPr>
          <a:xfrm>
            <a:off x="5577840" y="1618488"/>
            <a:ext cx="2743200" cy="347472"/>
          </a:xfrm>
          <a:prstGeom prst="rect">
            <a:avLst/>
          </a:prstGeom>
          <a:noFill/>
          <a:ln/>
        </p:spPr>
        <p:txBody>
          <a:bodyPr wrap="square" lIns="0" tIns="0" rIns="0" bIns="0" rtlCol="0" anchor="ctr"/>
          <a:lstStyle/>
          <a:p>
            <a:pPr marL="0" indent="0">
              <a:buNone/>
            </a:pPr>
            <a:r>
              <a:rPr lang="en-US" sz="1500" b="1" dirty="0">
                <a:solidFill>
                  <a:srgbClr val="1A2744"/>
                </a:solidFill>
                <a:latin typeface="Arial" pitchFamily="34" charset="0"/>
                <a:ea typeface="Arial" pitchFamily="34" charset="-122"/>
                <a:cs typeface="Arial" pitchFamily="34" charset="-120"/>
              </a:rPr>
              <a:t>데이터 언어</a:t>
            </a:r>
            <a:endParaRPr lang="en-US" sz="1500" dirty="0"/>
          </a:p>
        </p:txBody>
      </p:sp>
      <p:sp>
        <p:nvSpPr>
          <p:cNvPr id="23" name="Text 21"/>
          <p:cNvSpPr/>
          <p:nvPr/>
        </p:nvSpPr>
        <p:spPr>
          <a:xfrm>
            <a:off x="5577840" y="1984248"/>
            <a:ext cx="2743200" cy="32004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DDL, DML, DCL</a:t>
            </a:r>
            <a:endParaRPr lang="en-US" sz="1050" dirty="0"/>
          </a:p>
        </p:txBody>
      </p:sp>
      <p:sp>
        <p:nvSpPr>
          <p:cNvPr id="24" name="Shape 22"/>
          <p:cNvSpPr/>
          <p:nvPr/>
        </p:nvSpPr>
        <p:spPr>
          <a:xfrm>
            <a:off x="4754880" y="2606040"/>
            <a:ext cx="3749040" cy="914400"/>
          </a:xfrm>
          <a:prstGeom prst="rect">
            <a:avLst/>
          </a:prstGeom>
          <a:solidFill>
            <a:srgbClr val="FFFFFF"/>
          </a:solidFill>
          <a:ln/>
          <a:effectLst>
            <a:outerShdw blurRad="76200" dist="25400" dir="8100000" algn="bl" rotWithShape="0">
              <a:srgbClr val="000000">
                <a:alpha val="8000"/>
              </a:srgbClr>
            </a:outerShdw>
          </a:effectLst>
        </p:spPr>
      </p:sp>
      <p:sp>
        <p:nvSpPr>
          <p:cNvPr id="25" name="Shape 23"/>
          <p:cNvSpPr/>
          <p:nvPr/>
        </p:nvSpPr>
        <p:spPr>
          <a:xfrm>
            <a:off x="4754880" y="2606040"/>
            <a:ext cx="73152" cy="914400"/>
          </a:xfrm>
          <a:prstGeom prst="rect">
            <a:avLst/>
          </a:prstGeom>
          <a:solidFill>
            <a:srgbClr val="0891B2"/>
          </a:solidFill>
          <a:ln/>
        </p:spPr>
      </p:sp>
      <p:sp>
        <p:nvSpPr>
          <p:cNvPr id="26" name="Text 24"/>
          <p:cNvSpPr/>
          <p:nvPr/>
        </p:nvSpPr>
        <p:spPr>
          <a:xfrm>
            <a:off x="4937760" y="2606040"/>
            <a:ext cx="594360" cy="914400"/>
          </a:xfrm>
          <a:prstGeom prst="rect">
            <a:avLst/>
          </a:prstGeom>
          <a:noFill/>
          <a:ln/>
        </p:spPr>
        <p:txBody>
          <a:bodyPr wrap="square" lIns="0" tIns="0" rIns="0" bIns="0" rtlCol="0" anchor="ctr"/>
          <a:lstStyle/>
          <a:p>
            <a:pPr marL="0" indent="0">
              <a:buNone/>
            </a:pPr>
            <a:r>
              <a:rPr lang="en-US" sz="2200" b="1" dirty="0">
                <a:solidFill>
                  <a:srgbClr val="0891B2"/>
                </a:solidFill>
                <a:latin typeface="Arial Black" pitchFamily="34" charset="0"/>
                <a:ea typeface="Arial Black" pitchFamily="34" charset="-122"/>
                <a:cs typeface="Arial Black" pitchFamily="34" charset="-120"/>
              </a:rPr>
              <a:t>05</a:t>
            </a:r>
            <a:endParaRPr lang="en-US" sz="2200" dirty="0"/>
          </a:p>
        </p:txBody>
      </p:sp>
      <p:sp>
        <p:nvSpPr>
          <p:cNvPr id="27" name="Text 25"/>
          <p:cNvSpPr/>
          <p:nvPr/>
        </p:nvSpPr>
        <p:spPr>
          <a:xfrm>
            <a:off x="5577840" y="2715768"/>
            <a:ext cx="2743200" cy="347472"/>
          </a:xfrm>
          <a:prstGeom prst="rect">
            <a:avLst/>
          </a:prstGeom>
          <a:noFill/>
          <a:ln/>
        </p:spPr>
        <p:txBody>
          <a:bodyPr wrap="square" lIns="0" tIns="0" rIns="0" bIns="0" rtlCol="0" anchor="ctr"/>
          <a:lstStyle/>
          <a:p>
            <a:pPr marL="0" indent="0">
              <a:buNone/>
            </a:pPr>
            <a:r>
              <a:rPr lang="en-US" sz="1500" b="1" dirty="0">
                <a:solidFill>
                  <a:srgbClr val="1A2744"/>
                </a:solidFill>
                <a:latin typeface="Arial" pitchFamily="34" charset="0"/>
                <a:ea typeface="Arial" pitchFamily="34" charset="-122"/>
                <a:cs typeface="Arial" pitchFamily="34" charset="-120"/>
              </a:rPr>
              <a:t>DBMS의 구성</a:t>
            </a:r>
            <a:endParaRPr lang="en-US" sz="1500" dirty="0"/>
          </a:p>
        </p:txBody>
      </p:sp>
      <p:sp>
        <p:nvSpPr>
          <p:cNvPr id="28" name="Text 26"/>
          <p:cNvSpPr/>
          <p:nvPr/>
        </p:nvSpPr>
        <p:spPr>
          <a:xfrm>
            <a:off x="5577840" y="3081528"/>
            <a:ext cx="2743200" cy="32004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질의 처리기, 데이터 저장 관리자</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2744"/>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731520" y="1097280"/>
            <a:ext cx="1828800" cy="914400"/>
          </a:xfrm>
          <a:prstGeom prst="rect">
            <a:avLst/>
          </a:prstGeom>
          <a:noFill/>
          <a:ln/>
        </p:spPr>
        <p:txBody>
          <a:bodyPr wrap="square" lIns="0" tIns="0" rIns="0" bIns="0" rtlCol="0" anchor="ctr"/>
          <a:lstStyle/>
          <a:p>
            <a:pPr marL="0" indent="0">
              <a:buNone/>
            </a:pPr>
            <a:r>
              <a:rPr lang="en-US" sz="6000" dirty="0">
                <a:solidFill>
                  <a:srgbClr val="0891B2"/>
                </a:solidFill>
                <a:latin typeface="Arial Black" pitchFamily="34" charset="0"/>
                <a:ea typeface="Arial Black" pitchFamily="34" charset="-122"/>
                <a:cs typeface="Arial Black" pitchFamily="34" charset="-120"/>
              </a:rPr>
              <a:t>01</a:t>
            </a:r>
            <a:endParaRPr lang="en-US" sz="6000" dirty="0"/>
          </a:p>
        </p:txBody>
      </p:sp>
      <p:sp>
        <p:nvSpPr>
          <p:cNvPr id="5" name="Shape 3"/>
          <p:cNvSpPr/>
          <p:nvPr/>
        </p:nvSpPr>
        <p:spPr>
          <a:xfrm>
            <a:off x="731520" y="2103120"/>
            <a:ext cx="1371600" cy="36576"/>
          </a:xfrm>
          <a:prstGeom prst="rect">
            <a:avLst/>
          </a:prstGeom>
          <a:solidFill>
            <a:srgbClr val="0891B2"/>
          </a:solidFill>
          <a:ln/>
        </p:spPr>
      </p:sp>
      <p:sp>
        <p:nvSpPr>
          <p:cNvPr id="6" name="Text 4"/>
          <p:cNvSpPr/>
          <p:nvPr/>
        </p:nvSpPr>
        <p:spPr>
          <a:xfrm>
            <a:off x="731520" y="2377440"/>
            <a:ext cx="7315200" cy="822960"/>
          </a:xfrm>
          <a:prstGeom prst="rect">
            <a:avLst/>
          </a:prstGeom>
          <a:noFill/>
          <a:ln/>
        </p:spPr>
        <p:txBody>
          <a:bodyPr wrap="square" lIns="0" tIns="0" rIns="0" bIns="0" rtlCol="0" anchor="ctr"/>
          <a:lstStyle/>
          <a:p>
            <a:pPr marL="0" indent="0">
              <a:buNone/>
            </a:pPr>
            <a:r>
              <a:rPr lang="en-US" sz="3200" b="1" dirty="0">
                <a:solidFill>
                  <a:srgbClr val="FFFFFF"/>
                </a:solidFill>
                <a:latin typeface="Arial Black" pitchFamily="34" charset="0"/>
                <a:ea typeface="Arial Black" pitchFamily="34" charset="-122"/>
                <a:cs typeface="Arial Black" pitchFamily="34" charset="-120"/>
              </a:rPr>
              <a:t>데이터베이스 시스템의 정의</a:t>
            </a:r>
            <a:endParaRPr lang="en-US" sz="3200" dirty="0"/>
          </a:p>
        </p:txBody>
      </p:sp>
      <p:sp>
        <p:nvSpPr>
          <p:cNvPr id="7" name="Text 5"/>
          <p:cNvSpPr/>
          <p:nvPr/>
        </p:nvSpPr>
        <p:spPr>
          <a:xfrm>
            <a:off x="731520" y="3200400"/>
            <a:ext cx="7315200" cy="457200"/>
          </a:xfrm>
          <a:prstGeom prst="rect">
            <a:avLst/>
          </a:prstGeom>
          <a:noFill/>
          <a:ln/>
        </p:spPr>
        <p:txBody>
          <a:bodyPr wrap="square" lIns="0" tIns="0" rIns="0" bIns="0" rtlCol="0" anchor="ctr"/>
          <a:lstStyle/>
          <a:p>
            <a:pPr marL="0" indent="0">
              <a:buNone/>
            </a:pPr>
            <a:r>
              <a:rPr lang="en-US" sz="1400" i="1" dirty="0">
                <a:solidFill>
                  <a:srgbClr val="94A3B8"/>
                </a:solidFill>
                <a:latin typeface="Calibri" pitchFamily="34" charset="0"/>
                <a:ea typeface="Calibri" pitchFamily="34" charset="-122"/>
                <a:cs typeface="Calibri" pitchFamily="34" charset="-120"/>
              </a:rPr>
              <a:t>Definition of Database System</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Text 1"/>
          <p:cNvSpPr/>
          <p:nvPr/>
        </p:nvSpPr>
        <p:spPr>
          <a:xfrm>
            <a:off x="640080" y="228600"/>
            <a:ext cx="7863840" cy="502920"/>
          </a:xfrm>
          <a:prstGeom prst="rect">
            <a:avLst/>
          </a:prstGeom>
          <a:noFill/>
          <a:ln/>
        </p:spPr>
        <p:txBody>
          <a:bodyPr wrap="square" lIns="0" tIns="0" rIns="0" bIns="0" rtlCol="0" anchor="ctr"/>
          <a:lstStyle/>
          <a:p>
            <a:pPr marL="0" indent="0">
              <a:buNone/>
            </a:pPr>
            <a:r>
              <a:rPr lang="en-US" sz="2200" b="1" dirty="0">
                <a:solidFill>
                  <a:srgbClr val="1A2744"/>
                </a:solidFill>
                <a:latin typeface="Arial Black" pitchFamily="34" charset="0"/>
                <a:ea typeface="Arial Black" pitchFamily="34" charset="-122"/>
                <a:cs typeface="Arial Black" pitchFamily="34" charset="-120"/>
              </a:rPr>
              <a:t>데이터베이스 시스템이란?</a:t>
            </a:r>
            <a:endParaRPr lang="en-US" sz="2200" dirty="0"/>
          </a:p>
        </p:txBody>
      </p:sp>
      <p:sp>
        <p:nvSpPr>
          <p:cNvPr id="4" name="Shape 2"/>
          <p:cNvSpPr/>
          <p:nvPr/>
        </p:nvSpPr>
        <p:spPr>
          <a:xfrm>
            <a:off x="640080" y="777240"/>
            <a:ext cx="7863840" cy="18288"/>
          </a:xfrm>
          <a:prstGeom prst="rect">
            <a:avLst/>
          </a:prstGeom>
          <a:solidFill>
            <a:srgbClr val="E2E8F0"/>
          </a:solidFill>
          <a:ln/>
        </p:spPr>
      </p:sp>
      <p:sp>
        <p:nvSpPr>
          <p:cNvPr id="5" name="Text 3"/>
          <p:cNvSpPr/>
          <p:nvPr/>
        </p:nvSpPr>
        <p:spPr>
          <a:xfrm>
            <a:off x="8412480" y="4663440"/>
            <a:ext cx="457200" cy="320040"/>
          </a:xfrm>
          <a:prstGeom prst="rect">
            <a:avLst/>
          </a:prstGeom>
          <a:noFill/>
          <a:ln/>
        </p:spPr>
        <p:txBody>
          <a:bodyPr wrap="square" lIns="0" tIns="0" rIns="0" bIns="0"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4</a:t>
            </a:r>
            <a:endParaRPr lang="en-US" sz="1000" dirty="0"/>
          </a:p>
        </p:txBody>
      </p:sp>
      <p:sp>
        <p:nvSpPr>
          <p:cNvPr id="6" name="Shape 4"/>
          <p:cNvSpPr/>
          <p:nvPr/>
        </p:nvSpPr>
        <p:spPr>
          <a:xfrm>
            <a:off x="640080" y="1005840"/>
            <a:ext cx="7863840" cy="1188720"/>
          </a:xfrm>
          <a:prstGeom prst="rect">
            <a:avLst/>
          </a:prstGeom>
          <a:solidFill>
            <a:srgbClr val="1A2744"/>
          </a:solidFill>
          <a:ln/>
        </p:spPr>
      </p:sp>
      <p:pic>
        <p:nvPicPr>
          <p:cNvPr id="7" name="Image 0" descr="preencoded.png"/>
          <p:cNvPicPr>
            <a:picLocks noChangeAspect="1"/>
          </p:cNvPicPr>
          <p:nvPr/>
        </p:nvPicPr>
        <p:blipFill>
          <a:blip r:embed="rId3"/>
          <a:stretch>
            <a:fillRect/>
          </a:stretch>
        </p:blipFill>
        <p:spPr>
          <a:xfrm>
            <a:off x="914400" y="1143000"/>
            <a:ext cx="502920" cy="502920"/>
          </a:xfrm>
          <a:prstGeom prst="rect">
            <a:avLst/>
          </a:prstGeom>
        </p:spPr>
      </p:pic>
      <p:sp>
        <p:nvSpPr>
          <p:cNvPr id="8" name="Text 5"/>
          <p:cNvSpPr/>
          <p:nvPr/>
        </p:nvSpPr>
        <p:spPr>
          <a:xfrm>
            <a:off x="1554480" y="1051560"/>
            <a:ext cx="6675120" cy="1051560"/>
          </a:xfrm>
          <a:prstGeom prst="rect">
            <a:avLst/>
          </a:prstGeom>
          <a:noFill/>
          <a:ln/>
        </p:spPr>
        <p:txBody>
          <a:bodyPr wrap="square" lIns="0" tIns="0" rIns="0" bIns="0" rtlCol="0" anchor="ctr"/>
          <a:lstStyle/>
          <a:p>
            <a:pPr marL="0" indent="0">
              <a:buNone/>
            </a:pPr>
            <a:r>
              <a:rPr lang="en-US" sz="1800" b="1" dirty="0">
                <a:solidFill>
                  <a:srgbClr val="FFFFFF"/>
                </a:solidFill>
              </a:rPr>
              <a:t>데이터베이스 시스템 (DB System)</a:t>
            </a:r>
            <a:endParaRPr lang="en-US" sz="1800" dirty="0"/>
          </a:p>
          <a:p>
            <a:pPr marL="0" indent="0">
              <a:buNone/>
            </a:pPr>
            <a:endParaRPr lang="en-US" sz="1800" dirty="0"/>
          </a:p>
          <a:p>
            <a:pPr marL="0" indent="0">
              <a:buNone/>
            </a:pPr>
            <a:r>
              <a:rPr lang="en-US" sz="1300" dirty="0">
                <a:solidFill>
                  <a:srgbClr val="E2E8F0"/>
                </a:solidFill>
              </a:rPr>
              <a:t>데이터베이스에 데이터를 저장하고, 이를 관리하여 조직에 필요한 정보를 생성해주는 시스템. 데이터베이스, DBMS, 데이터 언어, 사용자, 컴퓨터를 모두 포함하는 개념</a:t>
            </a:r>
            <a:endParaRPr lang="en-US" sz="1800" dirty="0"/>
          </a:p>
        </p:txBody>
      </p:sp>
      <p:sp>
        <p:nvSpPr>
          <p:cNvPr id="9" name="Text 6"/>
          <p:cNvSpPr/>
          <p:nvPr/>
        </p:nvSpPr>
        <p:spPr>
          <a:xfrm>
            <a:off x="640080" y="2468880"/>
            <a:ext cx="4572000" cy="365760"/>
          </a:xfrm>
          <a:prstGeom prst="rect">
            <a:avLst/>
          </a:prstGeom>
          <a:noFill/>
          <a:ln/>
        </p:spPr>
        <p:txBody>
          <a:bodyPr wrap="square" lIns="0" tIns="0" rIns="0" bIns="0" rtlCol="0" anchor="ctr"/>
          <a:lstStyle/>
          <a:p>
            <a:pPr marL="0" indent="0">
              <a:buNone/>
            </a:pPr>
            <a:r>
              <a:rPr lang="en-US" sz="1400" b="1" dirty="0">
                <a:solidFill>
                  <a:srgbClr val="1A2744"/>
                </a:solidFill>
                <a:latin typeface="Arial" pitchFamily="34" charset="0"/>
                <a:ea typeface="Arial" pitchFamily="34" charset="-122"/>
                <a:cs typeface="Arial" pitchFamily="34" charset="-120"/>
              </a:rPr>
              <a:t>데이터베이스 시스템의 구성</a:t>
            </a:r>
            <a:endParaRPr lang="en-US" sz="1400" dirty="0"/>
          </a:p>
        </p:txBody>
      </p:sp>
      <p:sp>
        <p:nvSpPr>
          <p:cNvPr id="10" name="Shape 7"/>
          <p:cNvSpPr/>
          <p:nvPr/>
        </p:nvSpPr>
        <p:spPr>
          <a:xfrm>
            <a:off x="640080" y="2926080"/>
            <a:ext cx="1828800" cy="1828800"/>
          </a:xfrm>
          <a:prstGeom prst="rect">
            <a:avLst/>
          </a:prstGeom>
          <a:solidFill>
            <a:srgbClr val="FFFFFF"/>
          </a:solidFill>
          <a:ln/>
          <a:effectLst>
            <a:outerShdw blurRad="50800" dist="25400" dir="8100000" algn="bl" rotWithShape="0">
              <a:srgbClr val="000000">
                <a:alpha val="10000"/>
              </a:srgbClr>
            </a:outerShdw>
          </a:effectLst>
        </p:spPr>
      </p:sp>
      <p:sp>
        <p:nvSpPr>
          <p:cNvPr id="11" name="Shape 8"/>
          <p:cNvSpPr/>
          <p:nvPr/>
        </p:nvSpPr>
        <p:spPr>
          <a:xfrm>
            <a:off x="640080" y="2926080"/>
            <a:ext cx="1828800" cy="54864"/>
          </a:xfrm>
          <a:prstGeom prst="rect">
            <a:avLst/>
          </a:prstGeom>
          <a:solidFill>
            <a:srgbClr val="0891B2"/>
          </a:solidFill>
          <a:ln/>
        </p:spPr>
      </p:sp>
      <p:sp>
        <p:nvSpPr>
          <p:cNvPr id="12" name="Shape 9"/>
          <p:cNvSpPr/>
          <p:nvPr/>
        </p:nvSpPr>
        <p:spPr>
          <a:xfrm>
            <a:off x="1234440" y="3108960"/>
            <a:ext cx="594360" cy="594360"/>
          </a:xfrm>
          <a:prstGeom prst="ellipse">
            <a:avLst/>
          </a:prstGeom>
          <a:solidFill>
            <a:srgbClr val="0891B2">
              <a:alpha val="12000"/>
            </a:srgbClr>
          </a:solidFill>
          <a:ln/>
        </p:spPr>
      </p:sp>
      <p:pic>
        <p:nvPicPr>
          <p:cNvPr id="13" name="Image 1" descr="preencoded.png"/>
          <p:cNvPicPr>
            <a:picLocks noChangeAspect="1"/>
          </p:cNvPicPr>
          <p:nvPr/>
        </p:nvPicPr>
        <p:blipFill>
          <a:blip r:embed="rId4"/>
          <a:stretch>
            <a:fillRect/>
          </a:stretch>
        </p:blipFill>
        <p:spPr>
          <a:xfrm>
            <a:off x="1353312" y="3227832"/>
            <a:ext cx="365760" cy="365760"/>
          </a:xfrm>
          <a:prstGeom prst="rect">
            <a:avLst/>
          </a:prstGeom>
        </p:spPr>
      </p:pic>
      <p:sp>
        <p:nvSpPr>
          <p:cNvPr id="14" name="Text 10"/>
          <p:cNvSpPr/>
          <p:nvPr/>
        </p:nvSpPr>
        <p:spPr>
          <a:xfrm>
            <a:off x="731520" y="3794760"/>
            <a:ext cx="1645920" cy="457200"/>
          </a:xfrm>
          <a:prstGeom prst="rect">
            <a:avLst/>
          </a:prstGeom>
          <a:noFill/>
          <a:ln/>
        </p:spPr>
        <p:txBody>
          <a:bodyPr wrap="square" lIns="0" tIns="0" rIns="0" bIns="0" rtlCol="0" anchor="ctr"/>
          <a:lstStyle/>
          <a:p>
            <a:pPr marL="0" indent="0" algn="ctr">
              <a:buNone/>
            </a:pPr>
            <a:r>
              <a:rPr lang="en-US" sz="1200" b="1" dirty="0">
                <a:solidFill>
                  <a:srgbClr val="1A2744"/>
                </a:solidFill>
                <a:latin typeface="Arial" pitchFamily="34" charset="0"/>
                <a:ea typeface="Arial" pitchFamily="34" charset="-122"/>
                <a:cs typeface="Arial" pitchFamily="34" charset="-120"/>
              </a:rPr>
              <a:t>데이터베이스</a:t>
            </a:r>
            <a:endParaRPr lang="en-US" sz="1200" dirty="0"/>
          </a:p>
          <a:p>
            <a:pPr marL="0" indent="0" algn="ctr">
              <a:buNone/>
            </a:pPr>
            <a:r>
              <a:rPr lang="en-US" sz="1200" b="1" dirty="0">
                <a:solidFill>
                  <a:srgbClr val="1A2744"/>
                </a:solidFill>
                <a:latin typeface="Arial" pitchFamily="34" charset="0"/>
                <a:ea typeface="Arial" pitchFamily="34" charset="-122"/>
                <a:cs typeface="Arial" pitchFamily="34" charset="-120"/>
              </a:rPr>
              <a:t>(DB)</a:t>
            </a:r>
            <a:endParaRPr lang="en-US" sz="1200" dirty="0"/>
          </a:p>
        </p:txBody>
      </p:sp>
      <p:sp>
        <p:nvSpPr>
          <p:cNvPr id="15" name="Text 11"/>
          <p:cNvSpPr/>
          <p:nvPr/>
        </p:nvSpPr>
        <p:spPr>
          <a:xfrm>
            <a:off x="731520" y="4206240"/>
            <a:ext cx="1645920" cy="457200"/>
          </a:xfrm>
          <a:prstGeom prst="rect">
            <a:avLst/>
          </a:prstGeom>
          <a:noFill/>
          <a:ln/>
        </p:spPr>
        <p:txBody>
          <a:bodyPr wrap="square" lIns="0" tIns="0" rIns="0" bIns="0" rtlCol="0" anchor="ctr"/>
          <a:lstStyle/>
          <a:p>
            <a:pPr marL="0" indent="0" algn="ctr">
              <a:buNone/>
            </a:pPr>
            <a:r>
              <a:rPr lang="en-US" sz="1000" dirty="0">
                <a:solidFill>
                  <a:srgbClr val="334155"/>
                </a:solidFill>
                <a:latin typeface="Calibri" pitchFamily="34" charset="0"/>
                <a:ea typeface="Calibri" pitchFamily="34" charset="-122"/>
                <a:cs typeface="Calibri" pitchFamily="34" charset="-120"/>
              </a:rPr>
              <a:t>통합·저장된</a:t>
            </a:r>
            <a:endParaRPr lang="en-US" sz="1000" dirty="0"/>
          </a:p>
          <a:p>
            <a:pPr marL="0" indent="0" algn="ctr">
              <a:buNone/>
            </a:pPr>
            <a:r>
              <a:rPr lang="en-US" sz="1000" dirty="0">
                <a:solidFill>
                  <a:srgbClr val="334155"/>
                </a:solidFill>
                <a:latin typeface="Calibri" pitchFamily="34" charset="0"/>
                <a:ea typeface="Calibri" pitchFamily="34" charset="-122"/>
                <a:cs typeface="Calibri" pitchFamily="34" charset="-120"/>
              </a:rPr>
              <a:t>운영 데이터</a:t>
            </a:r>
            <a:endParaRPr lang="en-US" sz="1000" dirty="0"/>
          </a:p>
        </p:txBody>
      </p:sp>
      <p:sp>
        <p:nvSpPr>
          <p:cNvPr id="16" name="Text 12"/>
          <p:cNvSpPr/>
          <p:nvPr/>
        </p:nvSpPr>
        <p:spPr>
          <a:xfrm>
            <a:off x="2468880" y="3566160"/>
            <a:ext cx="274320" cy="365760"/>
          </a:xfrm>
          <a:prstGeom prst="rect">
            <a:avLst/>
          </a:prstGeom>
          <a:noFill/>
          <a:ln/>
        </p:spPr>
        <p:txBody>
          <a:bodyPr wrap="square" lIns="0" tIns="0" rIns="0" bIns="0" rtlCol="0" anchor="ctr"/>
          <a:lstStyle/>
          <a:p>
            <a:pPr marL="0" indent="0" algn="ctr">
              <a:buNone/>
            </a:pPr>
            <a:r>
              <a:rPr lang="en-US" sz="2000" dirty="0">
                <a:solidFill>
                  <a:srgbClr val="0891B2"/>
                </a:solidFill>
                <a:latin typeface="Arial Black" pitchFamily="34" charset="0"/>
                <a:ea typeface="Arial Black" pitchFamily="34" charset="-122"/>
                <a:cs typeface="Arial Black" pitchFamily="34" charset="-120"/>
              </a:rPr>
              <a:t>+</a:t>
            </a:r>
            <a:endParaRPr lang="en-US" sz="2000" dirty="0"/>
          </a:p>
        </p:txBody>
      </p:sp>
      <p:sp>
        <p:nvSpPr>
          <p:cNvPr id="17" name="Shape 13"/>
          <p:cNvSpPr/>
          <p:nvPr/>
        </p:nvSpPr>
        <p:spPr>
          <a:xfrm>
            <a:off x="2743200" y="2926080"/>
            <a:ext cx="1828800" cy="1828800"/>
          </a:xfrm>
          <a:prstGeom prst="rect">
            <a:avLst/>
          </a:prstGeom>
          <a:solidFill>
            <a:srgbClr val="FFFFFF"/>
          </a:solidFill>
          <a:ln/>
          <a:effectLst>
            <a:outerShdw blurRad="50800" dist="25400" dir="8100000" algn="bl" rotWithShape="0">
              <a:srgbClr val="000000">
                <a:alpha val="10000"/>
              </a:srgbClr>
            </a:outerShdw>
          </a:effectLst>
        </p:spPr>
      </p:sp>
      <p:sp>
        <p:nvSpPr>
          <p:cNvPr id="18" name="Shape 14"/>
          <p:cNvSpPr/>
          <p:nvPr/>
        </p:nvSpPr>
        <p:spPr>
          <a:xfrm>
            <a:off x="2743200" y="2926080"/>
            <a:ext cx="1828800" cy="54864"/>
          </a:xfrm>
          <a:prstGeom prst="rect">
            <a:avLst/>
          </a:prstGeom>
          <a:solidFill>
            <a:srgbClr val="F59E0B"/>
          </a:solidFill>
          <a:ln/>
        </p:spPr>
      </p:sp>
      <p:sp>
        <p:nvSpPr>
          <p:cNvPr id="19" name="Shape 15"/>
          <p:cNvSpPr/>
          <p:nvPr/>
        </p:nvSpPr>
        <p:spPr>
          <a:xfrm>
            <a:off x="3337560" y="3108960"/>
            <a:ext cx="594360" cy="594360"/>
          </a:xfrm>
          <a:prstGeom prst="ellipse">
            <a:avLst/>
          </a:prstGeom>
          <a:solidFill>
            <a:srgbClr val="F59E0B">
              <a:alpha val="12000"/>
            </a:srgbClr>
          </a:solidFill>
          <a:ln/>
        </p:spPr>
      </p:sp>
      <p:pic>
        <p:nvPicPr>
          <p:cNvPr id="20" name="Image 2" descr="preencoded.png"/>
          <p:cNvPicPr>
            <a:picLocks noChangeAspect="1"/>
          </p:cNvPicPr>
          <p:nvPr/>
        </p:nvPicPr>
        <p:blipFill>
          <a:blip r:embed="rId5"/>
          <a:stretch>
            <a:fillRect/>
          </a:stretch>
        </p:blipFill>
        <p:spPr>
          <a:xfrm>
            <a:off x="3456432" y="3227832"/>
            <a:ext cx="365760" cy="365760"/>
          </a:xfrm>
          <a:prstGeom prst="rect">
            <a:avLst/>
          </a:prstGeom>
        </p:spPr>
      </p:pic>
      <p:sp>
        <p:nvSpPr>
          <p:cNvPr id="21" name="Text 16"/>
          <p:cNvSpPr/>
          <p:nvPr/>
        </p:nvSpPr>
        <p:spPr>
          <a:xfrm>
            <a:off x="2834640" y="3794760"/>
            <a:ext cx="1645920" cy="457200"/>
          </a:xfrm>
          <a:prstGeom prst="rect">
            <a:avLst/>
          </a:prstGeom>
          <a:noFill/>
          <a:ln/>
        </p:spPr>
        <p:txBody>
          <a:bodyPr wrap="square" lIns="0" tIns="0" rIns="0" bIns="0" rtlCol="0" anchor="ctr"/>
          <a:lstStyle/>
          <a:p>
            <a:pPr marL="0" indent="0" algn="ctr">
              <a:buNone/>
            </a:pPr>
            <a:r>
              <a:rPr lang="en-US" sz="1200" b="1" dirty="0">
                <a:solidFill>
                  <a:srgbClr val="1A2744"/>
                </a:solidFill>
                <a:latin typeface="Arial" pitchFamily="34" charset="0"/>
                <a:ea typeface="Arial" pitchFamily="34" charset="-122"/>
                <a:cs typeface="Arial" pitchFamily="34" charset="-120"/>
              </a:rPr>
              <a:t>DBMS</a:t>
            </a:r>
            <a:endParaRPr lang="en-US" sz="1200" dirty="0"/>
          </a:p>
        </p:txBody>
      </p:sp>
      <p:sp>
        <p:nvSpPr>
          <p:cNvPr id="22" name="Text 17"/>
          <p:cNvSpPr/>
          <p:nvPr/>
        </p:nvSpPr>
        <p:spPr>
          <a:xfrm>
            <a:off x="2834640" y="4206240"/>
            <a:ext cx="1645920" cy="457200"/>
          </a:xfrm>
          <a:prstGeom prst="rect">
            <a:avLst/>
          </a:prstGeom>
          <a:noFill/>
          <a:ln/>
        </p:spPr>
        <p:txBody>
          <a:bodyPr wrap="square" lIns="0" tIns="0" rIns="0" bIns="0" rtlCol="0" anchor="ctr"/>
          <a:lstStyle/>
          <a:p>
            <a:pPr marL="0" indent="0" algn="ctr">
              <a:buNone/>
            </a:pPr>
            <a:r>
              <a:rPr lang="en-US" sz="1000" dirty="0">
                <a:solidFill>
                  <a:srgbClr val="334155"/>
                </a:solidFill>
                <a:latin typeface="Calibri" pitchFamily="34" charset="0"/>
                <a:ea typeface="Calibri" pitchFamily="34" charset="-122"/>
                <a:cs typeface="Calibri" pitchFamily="34" charset="-120"/>
              </a:rPr>
              <a:t>DB 관리</a:t>
            </a:r>
            <a:endParaRPr lang="en-US" sz="1000" dirty="0"/>
          </a:p>
          <a:p>
            <a:pPr marL="0" indent="0" algn="ctr">
              <a:buNone/>
            </a:pPr>
            <a:r>
              <a:rPr lang="en-US" sz="1000" dirty="0">
                <a:solidFill>
                  <a:srgbClr val="334155"/>
                </a:solidFill>
                <a:latin typeface="Calibri" pitchFamily="34" charset="0"/>
                <a:ea typeface="Calibri" pitchFamily="34" charset="-122"/>
                <a:cs typeface="Calibri" pitchFamily="34" charset="-120"/>
              </a:rPr>
              <a:t>소프트웨어</a:t>
            </a:r>
            <a:endParaRPr lang="en-US" sz="1000" dirty="0"/>
          </a:p>
        </p:txBody>
      </p:sp>
      <p:sp>
        <p:nvSpPr>
          <p:cNvPr id="23" name="Text 18"/>
          <p:cNvSpPr/>
          <p:nvPr/>
        </p:nvSpPr>
        <p:spPr>
          <a:xfrm>
            <a:off x="4572000" y="3566160"/>
            <a:ext cx="274320" cy="365760"/>
          </a:xfrm>
          <a:prstGeom prst="rect">
            <a:avLst/>
          </a:prstGeom>
          <a:noFill/>
          <a:ln/>
        </p:spPr>
        <p:txBody>
          <a:bodyPr wrap="square" lIns="0" tIns="0" rIns="0" bIns="0" rtlCol="0" anchor="ctr"/>
          <a:lstStyle/>
          <a:p>
            <a:pPr marL="0" indent="0" algn="ctr">
              <a:buNone/>
            </a:pPr>
            <a:r>
              <a:rPr lang="en-US" sz="2000" dirty="0">
                <a:solidFill>
                  <a:srgbClr val="0891B2"/>
                </a:solidFill>
                <a:latin typeface="Arial Black" pitchFamily="34" charset="0"/>
                <a:ea typeface="Arial Black" pitchFamily="34" charset="-122"/>
                <a:cs typeface="Arial Black" pitchFamily="34" charset="-120"/>
              </a:rPr>
              <a:t>+</a:t>
            </a:r>
            <a:endParaRPr lang="en-US" sz="2000" dirty="0"/>
          </a:p>
        </p:txBody>
      </p:sp>
      <p:sp>
        <p:nvSpPr>
          <p:cNvPr id="24" name="Shape 19"/>
          <p:cNvSpPr/>
          <p:nvPr/>
        </p:nvSpPr>
        <p:spPr>
          <a:xfrm>
            <a:off x="4846320" y="2926080"/>
            <a:ext cx="1828800" cy="1828800"/>
          </a:xfrm>
          <a:prstGeom prst="rect">
            <a:avLst/>
          </a:prstGeom>
          <a:solidFill>
            <a:srgbClr val="FFFFFF"/>
          </a:solidFill>
          <a:ln/>
          <a:effectLst>
            <a:outerShdw blurRad="50800" dist="25400" dir="8100000" algn="bl" rotWithShape="0">
              <a:srgbClr val="000000">
                <a:alpha val="10000"/>
              </a:srgbClr>
            </a:outerShdw>
          </a:effectLst>
        </p:spPr>
      </p:sp>
      <p:sp>
        <p:nvSpPr>
          <p:cNvPr id="25" name="Shape 20"/>
          <p:cNvSpPr/>
          <p:nvPr/>
        </p:nvSpPr>
        <p:spPr>
          <a:xfrm>
            <a:off x="4846320" y="2926080"/>
            <a:ext cx="1828800" cy="54864"/>
          </a:xfrm>
          <a:prstGeom prst="rect">
            <a:avLst/>
          </a:prstGeom>
          <a:solidFill>
            <a:srgbClr val="8B5CF6"/>
          </a:solidFill>
          <a:ln/>
        </p:spPr>
      </p:sp>
      <p:sp>
        <p:nvSpPr>
          <p:cNvPr id="26" name="Shape 21"/>
          <p:cNvSpPr/>
          <p:nvPr/>
        </p:nvSpPr>
        <p:spPr>
          <a:xfrm>
            <a:off x="5440680" y="3108960"/>
            <a:ext cx="594360" cy="594360"/>
          </a:xfrm>
          <a:prstGeom prst="ellipse">
            <a:avLst/>
          </a:prstGeom>
          <a:solidFill>
            <a:srgbClr val="8B5CF6">
              <a:alpha val="12000"/>
            </a:srgbClr>
          </a:solidFill>
          <a:ln/>
        </p:spPr>
      </p:sp>
      <p:pic>
        <p:nvPicPr>
          <p:cNvPr id="27" name="Image 3" descr="preencoded.png"/>
          <p:cNvPicPr>
            <a:picLocks noChangeAspect="1"/>
          </p:cNvPicPr>
          <p:nvPr/>
        </p:nvPicPr>
        <p:blipFill>
          <a:blip r:embed="rId6"/>
          <a:stretch>
            <a:fillRect/>
          </a:stretch>
        </p:blipFill>
        <p:spPr>
          <a:xfrm>
            <a:off x="5559552" y="3227832"/>
            <a:ext cx="365760" cy="365760"/>
          </a:xfrm>
          <a:prstGeom prst="rect">
            <a:avLst/>
          </a:prstGeom>
        </p:spPr>
      </p:pic>
      <p:sp>
        <p:nvSpPr>
          <p:cNvPr id="28" name="Text 22"/>
          <p:cNvSpPr/>
          <p:nvPr/>
        </p:nvSpPr>
        <p:spPr>
          <a:xfrm>
            <a:off x="4937760" y="3794760"/>
            <a:ext cx="1645920" cy="457200"/>
          </a:xfrm>
          <a:prstGeom prst="rect">
            <a:avLst/>
          </a:prstGeom>
          <a:noFill/>
          <a:ln/>
        </p:spPr>
        <p:txBody>
          <a:bodyPr wrap="square" lIns="0" tIns="0" rIns="0" bIns="0" rtlCol="0" anchor="ctr"/>
          <a:lstStyle/>
          <a:p>
            <a:pPr marL="0" indent="0" algn="ctr">
              <a:buNone/>
            </a:pPr>
            <a:r>
              <a:rPr lang="en-US" sz="1200" b="1" dirty="0">
                <a:solidFill>
                  <a:srgbClr val="1A2744"/>
                </a:solidFill>
                <a:latin typeface="Arial" pitchFamily="34" charset="0"/>
                <a:ea typeface="Arial" pitchFamily="34" charset="-122"/>
                <a:cs typeface="Arial" pitchFamily="34" charset="-120"/>
              </a:rPr>
              <a:t>사용자</a:t>
            </a:r>
            <a:endParaRPr lang="en-US" sz="1200" dirty="0"/>
          </a:p>
        </p:txBody>
      </p:sp>
      <p:sp>
        <p:nvSpPr>
          <p:cNvPr id="29" name="Text 23"/>
          <p:cNvSpPr/>
          <p:nvPr/>
        </p:nvSpPr>
        <p:spPr>
          <a:xfrm>
            <a:off x="4937760" y="4206240"/>
            <a:ext cx="1645920" cy="457200"/>
          </a:xfrm>
          <a:prstGeom prst="rect">
            <a:avLst/>
          </a:prstGeom>
          <a:noFill/>
          <a:ln/>
        </p:spPr>
        <p:txBody>
          <a:bodyPr wrap="square" lIns="0" tIns="0" rIns="0" bIns="0" rtlCol="0" anchor="ctr"/>
          <a:lstStyle/>
          <a:p>
            <a:pPr marL="0" indent="0" algn="ctr">
              <a:buNone/>
            </a:pPr>
            <a:r>
              <a:rPr lang="en-US" sz="1000" dirty="0">
                <a:solidFill>
                  <a:srgbClr val="334155"/>
                </a:solidFill>
                <a:latin typeface="Calibri" pitchFamily="34" charset="0"/>
                <a:ea typeface="Calibri" pitchFamily="34" charset="-122"/>
                <a:cs typeface="Calibri" pitchFamily="34" charset="-120"/>
              </a:rPr>
              <a:t>DBA, 최종 사용자</a:t>
            </a:r>
            <a:endParaRPr lang="en-US" sz="1000" dirty="0"/>
          </a:p>
          <a:p>
            <a:pPr marL="0" indent="0" algn="ctr">
              <a:buNone/>
            </a:pPr>
            <a:r>
              <a:rPr lang="en-US" sz="1000" dirty="0">
                <a:solidFill>
                  <a:srgbClr val="334155"/>
                </a:solidFill>
                <a:latin typeface="Calibri" pitchFamily="34" charset="0"/>
                <a:ea typeface="Calibri" pitchFamily="34" charset="-122"/>
                <a:cs typeface="Calibri" pitchFamily="34" charset="-120"/>
              </a:rPr>
              <a:t>응용 프로그래머</a:t>
            </a:r>
            <a:endParaRPr lang="en-US" sz="1000" dirty="0"/>
          </a:p>
        </p:txBody>
      </p:sp>
      <p:sp>
        <p:nvSpPr>
          <p:cNvPr id="30" name="Text 24"/>
          <p:cNvSpPr/>
          <p:nvPr/>
        </p:nvSpPr>
        <p:spPr>
          <a:xfrm>
            <a:off x="6675120" y="3566160"/>
            <a:ext cx="274320" cy="365760"/>
          </a:xfrm>
          <a:prstGeom prst="rect">
            <a:avLst/>
          </a:prstGeom>
          <a:noFill/>
          <a:ln/>
        </p:spPr>
        <p:txBody>
          <a:bodyPr wrap="square" lIns="0" tIns="0" rIns="0" bIns="0" rtlCol="0" anchor="ctr"/>
          <a:lstStyle/>
          <a:p>
            <a:pPr marL="0" indent="0" algn="ctr">
              <a:buNone/>
            </a:pPr>
            <a:r>
              <a:rPr lang="en-US" sz="2000" dirty="0">
                <a:solidFill>
                  <a:srgbClr val="0891B2"/>
                </a:solidFill>
                <a:latin typeface="Arial Black" pitchFamily="34" charset="0"/>
                <a:ea typeface="Arial Black" pitchFamily="34" charset="-122"/>
                <a:cs typeface="Arial Black" pitchFamily="34" charset="-120"/>
              </a:rPr>
              <a:t>+</a:t>
            </a:r>
            <a:endParaRPr lang="en-US" sz="2000" dirty="0"/>
          </a:p>
        </p:txBody>
      </p:sp>
      <p:sp>
        <p:nvSpPr>
          <p:cNvPr id="31" name="Shape 25"/>
          <p:cNvSpPr/>
          <p:nvPr/>
        </p:nvSpPr>
        <p:spPr>
          <a:xfrm>
            <a:off x="6949440" y="2926080"/>
            <a:ext cx="1828800" cy="1828800"/>
          </a:xfrm>
          <a:prstGeom prst="rect">
            <a:avLst/>
          </a:prstGeom>
          <a:solidFill>
            <a:srgbClr val="FFFFFF"/>
          </a:solidFill>
          <a:ln/>
          <a:effectLst>
            <a:outerShdw blurRad="50800" dist="25400" dir="8100000" algn="bl" rotWithShape="0">
              <a:srgbClr val="000000">
                <a:alpha val="10000"/>
              </a:srgbClr>
            </a:outerShdw>
          </a:effectLst>
        </p:spPr>
      </p:sp>
      <p:sp>
        <p:nvSpPr>
          <p:cNvPr id="32" name="Shape 26"/>
          <p:cNvSpPr/>
          <p:nvPr/>
        </p:nvSpPr>
        <p:spPr>
          <a:xfrm>
            <a:off x="6949440" y="2926080"/>
            <a:ext cx="1828800" cy="54864"/>
          </a:xfrm>
          <a:prstGeom prst="rect">
            <a:avLst/>
          </a:prstGeom>
          <a:solidFill>
            <a:srgbClr val="10B981"/>
          </a:solidFill>
          <a:ln/>
        </p:spPr>
      </p:sp>
      <p:sp>
        <p:nvSpPr>
          <p:cNvPr id="33" name="Shape 27"/>
          <p:cNvSpPr/>
          <p:nvPr/>
        </p:nvSpPr>
        <p:spPr>
          <a:xfrm>
            <a:off x="7543800" y="3108960"/>
            <a:ext cx="594360" cy="594360"/>
          </a:xfrm>
          <a:prstGeom prst="ellipse">
            <a:avLst/>
          </a:prstGeom>
          <a:solidFill>
            <a:srgbClr val="10B981">
              <a:alpha val="12000"/>
            </a:srgbClr>
          </a:solidFill>
          <a:ln/>
        </p:spPr>
      </p:sp>
      <p:pic>
        <p:nvPicPr>
          <p:cNvPr id="34" name="Image 4" descr="preencoded.png"/>
          <p:cNvPicPr>
            <a:picLocks noChangeAspect="1"/>
          </p:cNvPicPr>
          <p:nvPr/>
        </p:nvPicPr>
        <p:blipFill>
          <a:blip r:embed="rId7"/>
          <a:stretch>
            <a:fillRect/>
          </a:stretch>
        </p:blipFill>
        <p:spPr>
          <a:xfrm>
            <a:off x="7662672" y="3227832"/>
            <a:ext cx="365760" cy="365760"/>
          </a:xfrm>
          <a:prstGeom prst="rect">
            <a:avLst/>
          </a:prstGeom>
        </p:spPr>
      </p:pic>
      <p:sp>
        <p:nvSpPr>
          <p:cNvPr id="35" name="Text 28"/>
          <p:cNvSpPr/>
          <p:nvPr/>
        </p:nvSpPr>
        <p:spPr>
          <a:xfrm>
            <a:off x="7040880" y="3794760"/>
            <a:ext cx="1645920" cy="457200"/>
          </a:xfrm>
          <a:prstGeom prst="rect">
            <a:avLst/>
          </a:prstGeom>
          <a:noFill/>
          <a:ln/>
        </p:spPr>
        <p:txBody>
          <a:bodyPr wrap="square" lIns="0" tIns="0" rIns="0" bIns="0" rtlCol="0" anchor="ctr"/>
          <a:lstStyle/>
          <a:p>
            <a:pPr marL="0" indent="0" algn="ctr">
              <a:buNone/>
            </a:pPr>
            <a:r>
              <a:rPr lang="en-US" sz="1200" b="1" dirty="0">
                <a:solidFill>
                  <a:srgbClr val="1A2744"/>
                </a:solidFill>
                <a:latin typeface="Arial" pitchFamily="34" charset="0"/>
                <a:ea typeface="Arial" pitchFamily="34" charset="-122"/>
                <a:cs typeface="Arial" pitchFamily="34" charset="-120"/>
              </a:rPr>
              <a:t>응용 프로그램</a:t>
            </a:r>
            <a:endParaRPr lang="en-US" sz="1200" dirty="0"/>
          </a:p>
        </p:txBody>
      </p:sp>
      <p:sp>
        <p:nvSpPr>
          <p:cNvPr id="36" name="Text 29"/>
          <p:cNvSpPr/>
          <p:nvPr/>
        </p:nvSpPr>
        <p:spPr>
          <a:xfrm>
            <a:off x="7040880" y="4206240"/>
            <a:ext cx="1645920" cy="457200"/>
          </a:xfrm>
          <a:prstGeom prst="rect">
            <a:avLst/>
          </a:prstGeom>
          <a:noFill/>
          <a:ln/>
        </p:spPr>
        <p:txBody>
          <a:bodyPr wrap="square" lIns="0" tIns="0" rIns="0" bIns="0" rtlCol="0" anchor="ctr"/>
          <a:lstStyle/>
          <a:p>
            <a:pPr marL="0" indent="0" algn="ctr">
              <a:buNone/>
            </a:pPr>
            <a:r>
              <a:rPr lang="en-US" sz="1000" dirty="0">
                <a:solidFill>
                  <a:srgbClr val="334155"/>
                </a:solidFill>
                <a:latin typeface="Calibri" pitchFamily="34" charset="0"/>
                <a:ea typeface="Calibri" pitchFamily="34" charset="-122"/>
                <a:cs typeface="Calibri" pitchFamily="34" charset="-120"/>
              </a:rPr>
              <a:t>DB에 접근하는</a:t>
            </a:r>
            <a:endParaRPr lang="en-US" sz="1000" dirty="0"/>
          </a:p>
          <a:p>
            <a:pPr marL="0" indent="0" algn="ctr">
              <a:buNone/>
            </a:pPr>
            <a:r>
              <a:rPr lang="en-US" sz="1000" dirty="0">
                <a:solidFill>
                  <a:srgbClr val="334155"/>
                </a:solidFill>
                <a:latin typeface="Calibri" pitchFamily="34" charset="0"/>
                <a:ea typeface="Calibri" pitchFamily="34" charset="-122"/>
                <a:cs typeface="Calibri" pitchFamily="34" charset="-120"/>
              </a:rPr>
              <a:t>소프트웨어</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A2744"/>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731520" y="1097280"/>
            <a:ext cx="1828800" cy="914400"/>
          </a:xfrm>
          <a:prstGeom prst="rect">
            <a:avLst/>
          </a:prstGeom>
          <a:noFill/>
          <a:ln/>
        </p:spPr>
        <p:txBody>
          <a:bodyPr wrap="square" lIns="0" tIns="0" rIns="0" bIns="0" rtlCol="0" anchor="ctr"/>
          <a:lstStyle/>
          <a:p>
            <a:pPr marL="0" indent="0">
              <a:buNone/>
            </a:pPr>
            <a:r>
              <a:rPr lang="en-US" sz="6000" dirty="0">
                <a:solidFill>
                  <a:srgbClr val="0891B2"/>
                </a:solidFill>
                <a:latin typeface="Arial Black" pitchFamily="34" charset="0"/>
                <a:ea typeface="Arial Black" pitchFamily="34" charset="-122"/>
                <a:cs typeface="Arial Black" pitchFamily="34" charset="-120"/>
              </a:rPr>
              <a:t>02</a:t>
            </a:r>
            <a:endParaRPr lang="en-US" sz="6000" dirty="0"/>
          </a:p>
        </p:txBody>
      </p:sp>
      <p:sp>
        <p:nvSpPr>
          <p:cNvPr id="5" name="Shape 3"/>
          <p:cNvSpPr/>
          <p:nvPr/>
        </p:nvSpPr>
        <p:spPr>
          <a:xfrm>
            <a:off x="731520" y="2103120"/>
            <a:ext cx="1371600" cy="36576"/>
          </a:xfrm>
          <a:prstGeom prst="rect">
            <a:avLst/>
          </a:prstGeom>
          <a:solidFill>
            <a:srgbClr val="0891B2"/>
          </a:solidFill>
          <a:ln/>
        </p:spPr>
      </p:sp>
      <p:sp>
        <p:nvSpPr>
          <p:cNvPr id="6" name="Text 4"/>
          <p:cNvSpPr/>
          <p:nvPr/>
        </p:nvSpPr>
        <p:spPr>
          <a:xfrm>
            <a:off x="731520" y="2377440"/>
            <a:ext cx="7315200" cy="822960"/>
          </a:xfrm>
          <a:prstGeom prst="rect">
            <a:avLst/>
          </a:prstGeom>
          <a:noFill/>
          <a:ln/>
        </p:spPr>
        <p:txBody>
          <a:bodyPr wrap="square" lIns="0" tIns="0" rIns="0" bIns="0" rtlCol="0" anchor="ctr"/>
          <a:lstStyle/>
          <a:p>
            <a:pPr marL="0" indent="0">
              <a:buNone/>
            </a:pPr>
            <a:r>
              <a:rPr lang="en-US" sz="3200" b="1" dirty="0">
                <a:solidFill>
                  <a:srgbClr val="FFFFFF"/>
                </a:solidFill>
                <a:latin typeface="Arial Black" pitchFamily="34" charset="0"/>
                <a:ea typeface="Arial Black" pitchFamily="34" charset="-122"/>
                <a:cs typeface="Arial Black" pitchFamily="34" charset="-120"/>
              </a:rPr>
              <a:t>데이터베이스의 구조</a:t>
            </a:r>
            <a:endParaRPr lang="en-US" sz="3200" dirty="0"/>
          </a:p>
        </p:txBody>
      </p:sp>
      <p:sp>
        <p:nvSpPr>
          <p:cNvPr id="7" name="Text 5"/>
          <p:cNvSpPr/>
          <p:nvPr/>
        </p:nvSpPr>
        <p:spPr>
          <a:xfrm>
            <a:off x="731520" y="3200400"/>
            <a:ext cx="7315200" cy="457200"/>
          </a:xfrm>
          <a:prstGeom prst="rect">
            <a:avLst/>
          </a:prstGeom>
          <a:noFill/>
          <a:ln/>
        </p:spPr>
        <p:txBody>
          <a:bodyPr wrap="square" lIns="0" tIns="0" rIns="0" bIns="0" rtlCol="0" anchor="ctr"/>
          <a:lstStyle/>
          <a:p>
            <a:pPr marL="0" indent="0">
              <a:buNone/>
            </a:pPr>
            <a:r>
              <a:rPr lang="en-US" sz="1400" i="1" dirty="0">
                <a:solidFill>
                  <a:srgbClr val="94A3B8"/>
                </a:solidFill>
                <a:latin typeface="Calibri" pitchFamily="34" charset="0"/>
                <a:ea typeface="Calibri" pitchFamily="34" charset="-122"/>
                <a:cs typeface="Calibri" pitchFamily="34" charset="-120"/>
              </a:rPr>
              <a:t>Database Architecture — Schema, 3-Level Structure, Data Independence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Text 1"/>
          <p:cNvSpPr/>
          <p:nvPr/>
        </p:nvSpPr>
        <p:spPr>
          <a:xfrm>
            <a:off x="640080" y="228600"/>
            <a:ext cx="7863840" cy="502920"/>
          </a:xfrm>
          <a:prstGeom prst="rect">
            <a:avLst/>
          </a:prstGeom>
          <a:noFill/>
          <a:ln/>
        </p:spPr>
        <p:txBody>
          <a:bodyPr wrap="square" lIns="0" tIns="0" rIns="0" bIns="0" rtlCol="0" anchor="ctr"/>
          <a:lstStyle/>
          <a:p>
            <a:pPr marL="0" indent="0">
              <a:buNone/>
            </a:pPr>
            <a:r>
              <a:rPr lang="en-US" sz="2200" b="1" dirty="0">
                <a:solidFill>
                  <a:srgbClr val="1A2744"/>
                </a:solidFill>
                <a:latin typeface="Arial Black" pitchFamily="34" charset="0"/>
                <a:ea typeface="Arial Black" pitchFamily="34" charset="-122"/>
                <a:cs typeface="Arial Black" pitchFamily="34" charset="-120"/>
              </a:rPr>
              <a:t>스키마와 인스턴스</a:t>
            </a:r>
            <a:endParaRPr lang="en-US" sz="2200" dirty="0"/>
          </a:p>
        </p:txBody>
      </p:sp>
      <p:sp>
        <p:nvSpPr>
          <p:cNvPr id="4" name="Shape 2"/>
          <p:cNvSpPr/>
          <p:nvPr/>
        </p:nvSpPr>
        <p:spPr>
          <a:xfrm>
            <a:off x="640080" y="777240"/>
            <a:ext cx="7863840" cy="18288"/>
          </a:xfrm>
          <a:prstGeom prst="rect">
            <a:avLst/>
          </a:prstGeom>
          <a:solidFill>
            <a:srgbClr val="E2E8F0"/>
          </a:solidFill>
          <a:ln/>
        </p:spPr>
      </p:sp>
      <p:sp>
        <p:nvSpPr>
          <p:cNvPr id="5" name="Text 3"/>
          <p:cNvSpPr/>
          <p:nvPr/>
        </p:nvSpPr>
        <p:spPr>
          <a:xfrm>
            <a:off x="8412480" y="4663440"/>
            <a:ext cx="457200" cy="320040"/>
          </a:xfrm>
          <a:prstGeom prst="rect">
            <a:avLst/>
          </a:prstGeom>
          <a:noFill/>
          <a:ln/>
        </p:spPr>
        <p:txBody>
          <a:bodyPr wrap="square" lIns="0" tIns="0" rIns="0" bIns="0"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6</a:t>
            </a:r>
            <a:endParaRPr lang="en-US" sz="1000" dirty="0"/>
          </a:p>
        </p:txBody>
      </p:sp>
      <p:sp>
        <p:nvSpPr>
          <p:cNvPr id="6" name="Shape 4"/>
          <p:cNvSpPr/>
          <p:nvPr/>
        </p:nvSpPr>
        <p:spPr>
          <a:xfrm>
            <a:off x="640080" y="1005840"/>
            <a:ext cx="3749040" cy="2286000"/>
          </a:xfrm>
          <a:prstGeom prst="rect">
            <a:avLst/>
          </a:prstGeom>
          <a:solidFill>
            <a:srgbClr val="FFFFFF"/>
          </a:solidFill>
          <a:ln/>
          <a:effectLst>
            <a:outerShdw blurRad="50800" dist="25400" dir="8100000" algn="bl" rotWithShape="0">
              <a:srgbClr val="000000">
                <a:alpha val="10000"/>
              </a:srgbClr>
            </a:outerShdw>
          </a:effectLst>
        </p:spPr>
      </p:sp>
      <p:sp>
        <p:nvSpPr>
          <p:cNvPr id="7" name="Shape 5"/>
          <p:cNvSpPr/>
          <p:nvPr/>
        </p:nvSpPr>
        <p:spPr>
          <a:xfrm>
            <a:off x="640080" y="1005840"/>
            <a:ext cx="73152" cy="2286000"/>
          </a:xfrm>
          <a:prstGeom prst="rect">
            <a:avLst/>
          </a:prstGeom>
          <a:solidFill>
            <a:srgbClr val="0891B2"/>
          </a:solidFill>
          <a:ln/>
        </p:spPr>
      </p:sp>
      <p:pic>
        <p:nvPicPr>
          <p:cNvPr id="8" name="Image 0" descr="preencoded.png"/>
          <p:cNvPicPr>
            <a:picLocks noChangeAspect="1"/>
          </p:cNvPicPr>
          <p:nvPr/>
        </p:nvPicPr>
        <p:blipFill>
          <a:blip r:embed="rId3"/>
          <a:stretch>
            <a:fillRect/>
          </a:stretch>
        </p:blipFill>
        <p:spPr>
          <a:xfrm>
            <a:off x="914400" y="1143000"/>
            <a:ext cx="320040" cy="320040"/>
          </a:xfrm>
          <a:prstGeom prst="rect">
            <a:avLst/>
          </a:prstGeom>
        </p:spPr>
      </p:pic>
      <p:sp>
        <p:nvSpPr>
          <p:cNvPr id="9" name="Text 6"/>
          <p:cNvSpPr/>
          <p:nvPr/>
        </p:nvSpPr>
        <p:spPr>
          <a:xfrm>
            <a:off x="1371600" y="1097280"/>
            <a:ext cx="2743200" cy="365760"/>
          </a:xfrm>
          <a:prstGeom prst="rect">
            <a:avLst/>
          </a:prstGeom>
          <a:noFill/>
          <a:ln/>
        </p:spPr>
        <p:txBody>
          <a:bodyPr wrap="square" lIns="0" tIns="0" rIns="0" bIns="0" rtlCol="0" anchor="ctr"/>
          <a:lstStyle/>
          <a:p>
            <a:pPr marL="0" indent="0">
              <a:buNone/>
            </a:pPr>
            <a:r>
              <a:rPr lang="en-US" sz="1600" b="1" dirty="0">
                <a:solidFill>
                  <a:srgbClr val="0891B2"/>
                </a:solidFill>
                <a:latin typeface="Arial" pitchFamily="34" charset="0"/>
                <a:ea typeface="Arial" pitchFamily="34" charset="-122"/>
                <a:cs typeface="Arial" pitchFamily="34" charset="-120"/>
              </a:rPr>
              <a:t>스키마 (Schema)</a:t>
            </a:r>
            <a:endParaRPr lang="en-US" sz="1600" dirty="0"/>
          </a:p>
        </p:txBody>
      </p:sp>
      <p:sp>
        <p:nvSpPr>
          <p:cNvPr id="10" name="Text 7"/>
          <p:cNvSpPr/>
          <p:nvPr/>
        </p:nvSpPr>
        <p:spPr>
          <a:xfrm>
            <a:off x="914400" y="1554480"/>
            <a:ext cx="3200400" cy="640080"/>
          </a:xfrm>
          <a:prstGeom prst="rect">
            <a:avLst/>
          </a:prstGeom>
          <a:noFill/>
          <a:ln/>
        </p:spPr>
        <p:txBody>
          <a:bodyPr wrap="square" lIns="0" tIns="0" rIns="0" bIns="0"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데이터베이스에 저장되는 데이터 구조와 제약조건을 정의한 것</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14400" y="2286000"/>
          <a:ext cx="3200400" cy="914400"/>
        </p:xfrm>
        <a:graphic>
          <a:graphicData uri="http://schemas.openxmlformats.org/drawingml/2006/table">
            <a:tbl>
              <a:tblPr/>
              <a:tblGrid>
                <a:gridCol w="10058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0">
                <a:tc>
                  <a:txBody>
                    <a:bodyPr/>
                    <a:lstStyle/>
                    <a:p>
                      <a:pPr marL="0" indent="0" algn="ctr">
                        <a:buNone/>
                      </a:pPr>
                      <a:r>
                        <a:rPr lang="en-US" sz="900" b="1" dirty="0">
                          <a:solidFill>
                            <a:srgbClr val="FFFFFF"/>
                          </a:solidFill>
                        </a:rPr>
                        <a:t>속성명</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891B2"/>
                    </a:solidFill>
                  </a:tcPr>
                </a:tc>
                <a:tc>
                  <a:txBody>
                    <a:bodyPr/>
                    <a:lstStyle/>
                    <a:p>
                      <a:pPr marL="0" indent="0" algn="ctr">
                        <a:buNone/>
                      </a:pPr>
                      <a:r>
                        <a:rPr lang="en-US" sz="900" b="1" dirty="0">
                          <a:solidFill>
                            <a:srgbClr val="FFFFFF"/>
                          </a:solidFill>
                        </a:rPr>
                        <a:t>데이터 타입</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891B2"/>
                    </a:solidFill>
                  </a:tcPr>
                </a:tc>
                <a:tc>
                  <a:txBody>
                    <a:bodyPr/>
                    <a:lstStyle/>
                    <a:p>
                      <a:pPr marL="0" indent="0" algn="ctr">
                        <a:buNone/>
                      </a:pPr>
                      <a:r>
                        <a:rPr lang="en-US" sz="900" b="1" dirty="0">
                          <a:solidFill>
                            <a:srgbClr val="FFFFFF"/>
                          </a:solidFill>
                        </a:rPr>
                        <a:t>제약조건</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0891B2"/>
                    </a:solidFill>
                  </a:tcPr>
                </a:tc>
                <a:extLst>
                  <a:ext uri="{0D108BD9-81ED-4DB2-BD59-A6C34878D82A}">
                    <a16:rowId xmlns:a16="http://schemas.microsoft.com/office/drawing/2014/main" val="10000"/>
                  </a:ext>
                </a:extLst>
              </a:tr>
              <a:tr h="0">
                <a:tc>
                  <a:txBody>
                    <a:bodyPr/>
                    <a:lstStyle/>
                    <a:p>
                      <a:pPr marL="0" indent="0">
                        <a:buNone/>
                      </a:pPr>
                      <a:r>
                        <a:rPr lang="en-US" sz="900" b="1" dirty="0">
                          <a:solidFill>
                            <a:srgbClr val="000000"/>
                          </a:solidFill>
                        </a:rPr>
                        <a:t>고객번호</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000000"/>
                          </a:solidFill>
                        </a:rPr>
                        <a:t>INT</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000000"/>
                          </a:solidFill>
                        </a:rPr>
                        <a:t>PRIMARY KEY</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900" b="1" dirty="0">
                          <a:solidFill>
                            <a:srgbClr val="000000"/>
                          </a:solidFill>
                        </a:rPr>
                        <a:t>이름</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tc>
                  <a:txBody>
                    <a:bodyPr/>
                    <a:lstStyle/>
                    <a:p>
                      <a:pPr marL="0" indent="0">
                        <a:buNone/>
                      </a:pPr>
                      <a:r>
                        <a:rPr lang="en-US" sz="900" dirty="0">
                          <a:solidFill>
                            <a:srgbClr val="000000"/>
                          </a:solidFill>
                        </a:rPr>
                        <a:t>CHAR(20)</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tc>
                  <a:txBody>
                    <a:bodyPr/>
                    <a:lstStyle/>
                    <a:p>
                      <a:pPr marL="0" indent="0">
                        <a:buNone/>
                      </a:pPr>
                      <a:r>
                        <a:rPr lang="en-US" sz="900" dirty="0">
                          <a:solidFill>
                            <a:srgbClr val="000000"/>
                          </a:solidFill>
                        </a:rPr>
                        <a:t>NOT NULL</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extLst>
                  <a:ext uri="{0D108BD9-81ED-4DB2-BD59-A6C34878D82A}">
                    <a16:rowId xmlns:a16="http://schemas.microsoft.com/office/drawing/2014/main" val="10002"/>
                  </a:ext>
                </a:extLst>
              </a:tr>
              <a:tr h="0">
                <a:tc>
                  <a:txBody>
                    <a:bodyPr/>
                    <a:lstStyle/>
                    <a:p>
                      <a:pPr marL="0" indent="0">
                        <a:buNone/>
                      </a:pPr>
                      <a:r>
                        <a:rPr lang="en-US" sz="900" b="1" dirty="0">
                          <a:solidFill>
                            <a:srgbClr val="000000"/>
                          </a:solidFill>
                        </a:rPr>
                        <a:t>연락처</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000000"/>
                          </a:solidFill>
                        </a:rPr>
                        <a:t>CHAR(13)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2" name="Shape 8"/>
          <p:cNvSpPr/>
          <p:nvPr/>
        </p:nvSpPr>
        <p:spPr>
          <a:xfrm>
            <a:off x="4754880" y="1005840"/>
            <a:ext cx="3749040" cy="2286000"/>
          </a:xfrm>
          <a:prstGeom prst="rect">
            <a:avLst/>
          </a:prstGeom>
          <a:solidFill>
            <a:srgbClr val="FFFFFF"/>
          </a:solidFill>
          <a:ln/>
          <a:effectLst>
            <a:outerShdw blurRad="50800" dist="25400" dir="8100000" algn="bl" rotWithShape="0">
              <a:srgbClr val="000000">
                <a:alpha val="10000"/>
              </a:srgbClr>
            </a:outerShdw>
          </a:effectLst>
        </p:spPr>
      </p:sp>
      <p:sp>
        <p:nvSpPr>
          <p:cNvPr id="13" name="Shape 9"/>
          <p:cNvSpPr/>
          <p:nvPr/>
        </p:nvSpPr>
        <p:spPr>
          <a:xfrm>
            <a:off x="4754880" y="1005840"/>
            <a:ext cx="73152" cy="2286000"/>
          </a:xfrm>
          <a:prstGeom prst="rect">
            <a:avLst/>
          </a:prstGeom>
          <a:solidFill>
            <a:srgbClr val="F59E0B"/>
          </a:solidFill>
          <a:ln/>
        </p:spPr>
      </p:sp>
      <p:pic>
        <p:nvPicPr>
          <p:cNvPr id="14" name="Image 1" descr="preencoded.png"/>
          <p:cNvPicPr>
            <a:picLocks noChangeAspect="1"/>
          </p:cNvPicPr>
          <p:nvPr/>
        </p:nvPicPr>
        <p:blipFill>
          <a:blip r:embed="rId4"/>
          <a:stretch>
            <a:fillRect/>
          </a:stretch>
        </p:blipFill>
        <p:spPr>
          <a:xfrm>
            <a:off x="5029200" y="1143000"/>
            <a:ext cx="320040" cy="320040"/>
          </a:xfrm>
          <a:prstGeom prst="rect">
            <a:avLst/>
          </a:prstGeom>
        </p:spPr>
      </p:pic>
      <p:sp>
        <p:nvSpPr>
          <p:cNvPr id="15" name="Text 10"/>
          <p:cNvSpPr/>
          <p:nvPr/>
        </p:nvSpPr>
        <p:spPr>
          <a:xfrm>
            <a:off x="5486400" y="1097280"/>
            <a:ext cx="2743200" cy="365760"/>
          </a:xfrm>
          <a:prstGeom prst="rect">
            <a:avLst/>
          </a:prstGeom>
          <a:noFill/>
          <a:ln/>
        </p:spPr>
        <p:txBody>
          <a:bodyPr wrap="square" lIns="0" tIns="0" rIns="0" bIns="0" rtlCol="0" anchor="ctr"/>
          <a:lstStyle/>
          <a:p>
            <a:pPr marL="0" indent="0">
              <a:buNone/>
            </a:pPr>
            <a:r>
              <a:rPr lang="en-US" sz="1600" b="1" dirty="0">
                <a:solidFill>
                  <a:srgbClr val="F59E0B"/>
                </a:solidFill>
                <a:latin typeface="Arial" pitchFamily="34" charset="0"/>
                <a:ea typeface="Arial" pitchFamily="34" charset="-122"/>
                <a:cs typeface="Arial" pitchFamily="34" charset="-120"/>
              </a:rPr>
              <a:t>인스턴스 (Instance)</a:t>
            </a:r>
            <a:endParaRPr lang="en-US" sz="1600" dirty="0"/>
          </a:p>
        </p:txBody>
      </p:sp>
      <p:sp>
        <p:nvSpPr>
          <p:cNvPr id="16" name="Text 11"/>
          <p:cNvSpPr/>
          <p:nvPr/>
        </p:nvSpPr>
        <p:spPr>
          <a:xfrm>
            <a:off x="5029200" y="1554480"/>
            <a:ext cx="3200400" cy="640080"/>
          </a:xfrm>
          <a:prstGeom prst="rect">
            <a:avLst/>
          </a:prstGeom>
          <a:noFill/>
          <a:ln/>
        </p:spPr>
        <p:txBody>
          <a:bodyPr wrap="square" lIns="0" tIns="0" rIns="0" bIns="0"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정의된 스키마에 따라 데이터베이스에 실제로 저장된 값</a:t>
            </a:r>
            <a:endParaRPr lang="en-US" sz="120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029200" y="2286000"/>
          <a:ext cx="3200400" cy="914400"/>
        </p:xfrm>
        <a:graphic>
          <a:graphicData uri="http://schemas.openxmlformats.org/drawingml/2006/table">
            <a:tbl>
              <a:tblPr/>
              <a:tblGrid>
                <a:gridCol w="9144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0">
                <a:tc>
                  <a:txBody>
                    <a:bodyPr/>
                    <a:lstStyle/>
                    <a:p>
                      <a:pPr marL="0" indent="0" algn="ctr">
                        <a:buNone/>
                      </a:pPr>
                      <a:r>
                        <a:rPr lang="en-US" sz="900" b="1" dirty="0">
                          <a:solidFill>
                            <a:srgbClr val="FFFFFF"/>
                          </a:solidFill>
                        </a:rPr>
                        <a:t>고객번호</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59E0B"/>
                    </a:solidFill>
                  </a:tcPr>
                </a:tc>
                <a:tc>
                  <a:txBody>
                    <a:bodyPr/>
                    <a:lstStyle/>
                    <a:p>
                      <a:pPr marL="0" indent="0" algn="ctr">
                        <a:buNone/>
                      </a:pPr>
                      <a:r>
                        <a:rPr lang="en-US" sz="900" b="1" dirty="0">
                          <a:solidFill>
                            <a:srgbClr val="FFFFFF"/>
                          </a:solidFill>
                        </a:rPr>
                        <a:t>이름</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59E0B"/>
                    </a:solidFill>
                  </a:tcPr>
                </a:tc>
                <a:tc>
                  <a:txBody>
                    <a:bodyPr/>
                    <a:lstStyle/>
                    <a:p>
                      <a:pPr marL="0" indent="0" algn="ctr">
                        <a:buNone/>
                      </a:pPr>
                      <a:r>
                        <a:rPr lang="en-US" sz="900" b="1" dirty="0">
                          <a:solidFill>
                            <a:srgbClr val="FFFFFF"/>
                          </a:solidFill>
                        </a:rPr>
                        <a:t>연락처</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59E0B"/>
                    </a:solidFill>
                  </a:tcPr>
                </a:tc>
                <a:extLst>
                  <a:ext uri="{0D108BD9-81ED-4DB2-BD59-A6C34878D82A}">
                    <a16:rowId xmlns:a16="http://schemas.microsoft.com/office/drawing/2014/main" val="10000"/>
                  </a:ext>
                </a:extLst>
              </a:tr>
              <a:tr h="0">
                <a:tc>
                  <a:txBody>
                    <a:bodyPr/>
                    <a:lstStyle/>
                    <a:p>
                      <a:pPr marL="0" indent="0">
                        <a:buNone/>
                      </a:pPr>
                      <a:r>
                        <a:rPr lang="en-US" sz="900" dirty="0">
                          <a:solidFill>
                            <a:srgbClr val="000000"/>
                          </a:solidFill>
                        </a:rPr>
                        <a:t>1001</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000000"/>
                          </a:solidFill>
                        </a:rPr>
                        <a:t>홍길동</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000000"/>
                          </a:solidFill>
                        </a:rPr>
                        <a:t>010-1234-5678</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900" dirty="0">
                          <a:solidFill>
                            <a:srgbClr val="000000"/>
                          </a:solidFill>
                        </a:rPr>
                        <a:t>1002</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tc>
                  <a:txBody>
                    <a:bodyPr/>
                    <a:lstStyle/>
                    <a:p>
                      <a:pPr marL="0" indent="0">
                        <a:buNone/>
                      </a:pPr>
                      <a:r>
                        <a:rPr lang="en-US" sz="900" dirty="0">
                          <a:solidFill>
                            <a:srgbClr val="000000"/>
                          </a:solidFill>
                        </a:rPr>
                        <a:t>김영희</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tc>
                  <a:txBody>
                    <a:bodyPr/>
                    <a:lstStyle/>
                    <a:p>
                      <a:pPr marL="0" indent="0">
                        <a:buNone/>
                      </a:pPr>
                      <a:r>
                        <a:rPr lang="en-US" sz="900" dirty="0">
                          <a:solidFill>
                            <a:srgbClr val="000000"/>
                          </a:solidFill>
                        </a:rPr>
                        <a:t>010-9876-5432</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0F4F8"/>
                    </a:solidFill>
                  </a:tcPr>
                </a:tc>
                <a:extLst>
                  <a:ext uri="{0D108BD9-81ED-4DB2-BD59-A6C34878D82A}">
                    <a16:rowId xmlns:a16="http://schemas.microsoft.com/office/drawing/2014/main" val="10002"/>
                  </a:ext>
                </a:extLst>
              </a:tr>
              <a:tr h="0">
                <a:tc>
                  <a:txBody>
                    <a:bodyPr/>
                    <a:lstStyle/>
                    <a:p>
                      <a:pPr marL="0" indent="0">
                        <a:buNone/>
                      </a:pPr>
                      <a:r>
                        <a:rPr lang="en-US" sz="900" dirty="0">
                          <a:solidFill>
                            <a:srgbClr val="000000"/>
                          </a:solidFill>
                        </a:rPr>
                        <a:t>1003</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000000"/>
                          </a:solidFill>
                        </a:rPr>
                        <a:t>이철수</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marL="0" indent="0">
                        <a:buNone/>
                      </a:pPr>
                      <a:r>
                        <a:rPr lang="en-US" sz="900" dirty="0">
                          <a:solidFill>
                            <a:srgbClr val="000000"/>
                          </a:solidFill>
                        </a:rPr>
                        <a:t>010-5555-7777</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8" name="Shape 12"/>
          <p:cNvSpPr/>
          <p:nvPr/>
        </p:nvSpPr>
        <p:spPr>
          <a:xfrm>
            <a:off x="640080" y="3520440"/>
            <a:ext cx="7863840" cy="822960"/>
          </a:xfrm>
          <a:prstGeom prst="rect">
            <a:avLst/>
          </a:prstGeom>
          <a:solidFill>
            <a:srgbClr val="1A2744"/>
          </a:solidFill>
          <a:ln/>
        </p:spPr>
      </p:sp>
      <p:pic>
        <p:nvPicPr>
          <p:cNvPr id="19" name="Image 2" descr="preencoded.png"/>
          <p:cNvPicPr>
            <a:picLocks noChangeAspect="1"/>
          </p:cNvPicPr>
          <p:nvPr/>
        </p:nvPicPr>
        <p:blipFill>
          <a:blip r:embed="rId5"/>
          <a:stretch>
            <a:fillRect/>
          </a:stretch>
        </p:blipFill>
        <p:spPr>
          <a:xfrm>
            <a:off x="914400" y="3657600"/>
            <a:ext cx="274320" cy="274320"/>
          </a:xfrm>
          <a:prstGeom prst="rect">
            <a:avLst/>
          </a:prstGeom>
        </p:spPr>
      </p:pic>
      <p:sp>
        <p:nvSpPr>
          <p:cNvPr id="20" name="Text 13"/>
          <p:cNvSpPr/>
          <p:nvPr/>
        </p:nvSpPr>
        <p:spPr>
          <a:xfrm>
            <a:off x="1371600" y="3611880"/>
            <a:ext cx="6858000" cy="731520"/>
          </a:xfrm>
          <a:prstGeom prst="rect">
            <a:avLst/>
          </a:prstGeom>
          <a:noFill/>
          <a:ln/>
        </p:spPr>
        <p:txBody>
          <a:bodyPr wrap="square" lIns="0" tIns="0" rIns="0" bIns="0" rtlCol="0" anchor="ctr"/>
          <a:lstStyle/>
          <a:p>
            <a:pPr marL="0" indent="0">
              <a:buNone/>
            </a:pPr>
            <a:r>
              <a:rPr lang="en-US" sz="1200" b="1" dirty="0">
                <a:solidFill>
                  <a:srgbClr val="F59E0B"/>
                </a:solidFill>
              </a:rPr>
              <a:t xml:space="preserve">핵심 차이:  </a:t>
            </a:r>
            <a:r>
              <a:rPr lang="en-US" sz="1200" dirty="0">
                <a:solidFill>
                  <a:srgbClr val="E2E8F0"/>
                </a:solidFill>
              </a:rPr>
              <a:t>스키마는 자주 변경되지 않지만, 인스턴스는 삽입·삭제·수정으로 계속 변화합니다.</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F4F8"/>
        </a:solidFill>
        <a:effectLst/>
      </p:bgPr>
    </p:bg>
    <p:spTree>
      <p:nvGrpSpPr>
        <p:cNvPr id="1" name=""/>
        <p:cNvGrpSpPr/>
        <p:nvPr/>
      </p:nvGrpSpPr>
      <p:grpSpPr>
        <a:xfrm>
          <a:off x="0" y="0"/>
          <a:ext cx="0" cy="0"/>
          <a:chOff x="0" y="0"/>
          <a:chExt cx="0" cy="0"/>
        </a:xfrm>
      </p:grpSpPr>
      <p:sp>
        <p:nvSpPr>
          <p:cNvPr id="23" name="Shape 19"/>
          <p:cNvSpPr/>
          <p:nvPr/>
        </p:nvSpPr>
        <p:spPr>
          <a:xfrm>
            <a:off x="640080" y="3749040"/>
            <a:ext cx="4114800" cy="1005840"/>
          </a:xfrm>
          <a:prstGeom prst="rect">
            <a:avLst/>
          </a:prstGeom>
          <a:solidFill>
            <a:srgbClr val="FFFFFF"/>
          </a:solidFill>
          <a:ln/>
          <a:effectLst>
            <a:outerShdw blurRad="50800" dist="25400" dir="8100000" algn="bl" rotWithShape="0">
              <a:srgbClr val="000000">
                <a:alpha val="10000"/>
              </a:srgbClr>
            </a:outerShdw>
          </a:effectLst>
        </p:spPr>
      </p:sp>
      <p:sp>
        <p:nvSpPr>
          <p:cNvPr id="7" name="Shape 5"/>
          <p:cNvSpPr/>
          <p:nvPr/>
        </p:nvSpPr>
        <p:spPr>
          <a:xfrm>
            <a:off x="640080" y="1371600"/>
            <a:ext cx="4114800" cy="1005840"/>
          </a:xfrm>
          <a:prstGeom prst="rect">
            <a:avLst/>
          </a:prstGeom>
          <a:solidFill>
            <a:srgbClr val="FFFFFF"/>
          </a:solidFill>
          <a:ln/>
          <a:effectLst>
            <a:outerShdw blurRad="50800" dist="25400" dir="8100000" algn="bl" rotWithShape="0">
              <a:srgbClr val="000000">
                <a:alpha val="10000"/>
              </a:srgbClr>
            </a:outerShdw>
          </a:effectLst>
        </p:spPr>
      </p:sp>
      <p:sp>
        <p:nvSpPr>
          <p:cNvPr id="15" name="Shape 12"/>
          <p:cNvSpPr/>
          <p:nvPr/>
        </p:nvSpPr>
        <p:spPr>
          <a:xfrm>
            <a:off x="640080" y="2560320"/>
            <a:ext cx="4114800" cy="1005840"/>
          </a:xfrm>
          <a:prstGeom prst="rect">
            <a:avLst/>
          </a:prstGeom>
          <a:solidFill>
            <a:srgbClr val="FFFFFF"/>
          </a:solidFill>
          <a:ln/>
          <a:effectLst>
            <a:outerShdw blurRad="50800" dist="25400" dir="8100000" algn="bl" rotWithShape="0">
              <a:srgbClr val="000000">
                <a:alpha val="10000"/>
              </a:srgbClr>
            </a:outerShdw>
          </a:effectLst>
        </p:spPr>
      </p:sp>
      <p:sp>
        <p:nvSpPr>
          <p:cNvPr id="2" name="Shape 0"/>
          <p:cNvSpPr/>
          <p:nvPr/>
        </p:nvSpPr>
        <p:spPr>
          <a:xfrm>
            <a:off x="0" y="0"/>
            <a:ext cx="9144000" cy="54864"/>
          </a:xfrm>
          <a:prstGeom prst="rect">
            <a:avLst/>
          </a:prstGeom>
          <a:solidFill>
            <a:srgbClr val="0891B2"/>
          </a:solidFill>
          <a:ln/>
        </p:spPr>
      </p:sp>
      <p:sp>
        <p:nvSpPr>
          <p:cNvPr id="3" name="Text 1"/>
          <p:cNvSpPr/>
          <p:nvPr/>
        </p:nvSpPr>
        <p:spPr>
          <a:xfrm>
            <a:off x="640080" y="228600"/>
            <a:ext cx="7863840" cy="502920"/>
          </a:xfrm>
          <a:prstGeom prst="rect">
            <a:avLst/>
          </a:prstGeom>
          <a:noFill/>
          <a:ln/>
        </p:spPr>
        <p:txBody>
          <a:bodyPr wrap="square" lIns="0" tIns="0" rIns="0" bIns="0" rtlCol="0" anchor="ctr"/>
          <a:lstStyle/>
          <a:p>
            <a:pPr marL="0" indent="0">
              <a:buNone/>
            </a:pPr>
            <a:r>
              <a:rPr lang="en-US" sz="2200" b="1" dirty="0">
                <a:solidFill>
                  <a:srgbClr val="1A2744"/>
                </a:solidFill>
                <a:latin typeface="Arial Black" pitchFamily="34" charset="0"/>
                <a:ea typeface="Arial Black" pitchFamily="34" charset="-122"/>
                <a:cs typeface="Arial Black" pitchFamily="34" charset="-120"/>
              </a:rPr>
              <a:t>3단계 데이터베이스 구조</a:t>
            </a:r>
            <a:endParaRPr lang="en-US" sz="2200" dirty="0"/>
          </a:p>
        </p:txBody>
      </p:sp>
      <p:sp>
        <p:nvSpPr>
          <p:cNvPr id="4" name="Shape 2"/>
          <p:cNvSpPr/>
          <p:nvPr/>
        </p:nvSpPr>
        <p:spPr>
          <a:xfrm>
            <a:off x="640080" y="777240"/>
            <a:ext cx="7863840" cy="18288"/>
          </a:xfrm>
          <a:prstGeom prst="rect">
            <a:avLst/>
          </a:prstGeom>
          <a:solidFill>
            <a:srgbClr val="E2E8F0"/>
          </a:solidFill>
          <a:ln/>
        </p:spPr>
      </p:sp>
      <p:sp>
        <p:nvSpPr>
          <p:cNvPr id="5" name="Text 3"/>
          <p:cNvSpPr/>
          <p:nvPr/>
        </p:nvSpPr>
        <p:spPr>
          <a:xfrm>
            <a:off x="8412480" y="4663440"/>
            <a:ext cx="457200" cy="320040"/>
          </a:xfrm>
          <a:prstGeom prst="rect">
            <a:avLst/>
          </a:prstGeom>
          <a:noFill/>
          <a:ln/>
        </p:spPr>
        <p:txBody>
          <a:bodyPr wrap="square" lIns="0" tIns="0" rIns="0" bIns="0"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7</a:t>
            </a:r>
            <a:endParaRPr lang="en-US" sz="1000" dirty="0"/>
          </a:p>
        </p:txBody>
      </p:sp>
      <p:sp>
        <p:nvSpPr>
          <p:cNvPr id="6" name="Text 4"/>
          <p:cNvSpPr/>
          <p:nvPr/>
        </p:nvSpPr>
        <p:spPr>
          <a:xfrm>
            <a:off x="640080" y="914400"/>
            <a:ext cx="7315200" cy="320040"/>
          </a:xfrm>
          <a:prstGeom prst="rect">
            <a:avLst/>
          </a:prstGeom>
          <a:noFill/>
          <a:ln/>
        </p:spPr>
        <p:txBody>
          <a:bodyPr wrap="square" lIns="0" tIns="0" rIns="0" bIns="0" rtlCol="0" anchor="ctr"/>
          <a:lstStyle/>
          <a:p>
            <a:pPr marL="0" indent="0">
              <a:buNone/>
            </a:pPr>
            <a:r>
              <a:rPr lang="en-US" sz="1100" i="1" dirty="0">
                <a:solidFill>
                  <a:srgbClr val="94A3B8"/>
                </a:solidFill>
                <a:latin typeface="Calibri" pitchFamily="34" charset="0"/>
                <a:ea typeface="Calibri" pitchFamily="34" charset="-122"/>
                <a:cs typeface="Calibri" pitchFamily="34" charset="-120"/>
              </a:rPr>
              <a:t>미국 표준화 기관 ANSI/SPARC에서 제안 — 하나의 DB를 관점에 따라 세 단계로 나눔</a:t>
            </a:r>
            <a:endParaRPr lang="en-US" sz="1100" dirty="0"/>
          </a:p>
        </p:txBody>
      </p:sp>
      <p:sp>
        <p:nvSpPr>
          <p:cNvPr id="8" name="Shape 6"/>
          <p:cNvSpPr/>
          <p:nvPr/>
        </p:nvSpPr>
        <p:spPr>
          <a:xfrm>
            <a:off x="640080" y="1371600"/>
            <a:ext cx="73152" cy="1005840"/>
          </a:xfrm>
          <a:prstGeom prst="rect">
            <a:avLst/>
          </a:prstGeom>
          <a:solidFill>
            <a:srgbClr val="0891B2"/>
          </a:solidFill>
          <a:ln/>
        </p:spPr>
      </p:sp>
      <p:pic>
        <p:nvPicPr>
          <p:cNvPr id="9" name="Image 0" descr="preencoded.png"/>
          <p:cNvPicPr>
            <a:picLocks noChangeAspect="1"/>
          </p:cNvPicPr>
          <p:nvPr/>
        </p:nvPicPr>
        <p:blipFill>
          <a:blip r:embed="rId3"/>
          <a:stretch>
            <a:fillRect/>
          </a:stretch>
        </p:blipFill>
        <p:spPr>
          <a:xfrm>
            <a:off x="914400" y="1444752"/>
            <a:ext cx="365760" cy="365760"/>
          </a:xfrm>
          <a:prstGeom prst="rect">
            <a:avLst/>
          </a:prstGeom>
        </p:spPr>
      </p:pic>
      <p:sp>
        <p:nvSpPr>
          <p:cNvPr id="10" name="Text 7"/>
          <p:cNvSpPr/>
          <p:nvPr/>
        </p:nvSpPr>
        <p:spPr>
          <a:xfrm>
            <a:off x="1417320" y="1417320"/>
            <a:ext cx="2286000" cy="320040"/>
          </a:xfrm>
          <a:prstGeom prst="rect">
            <a:avLst/>
          </a:prstGeom>
          <a:noFill/>
          <a:ln/>
        </p:spPr>
        <p:txBody>
          <a:bodyPr wrap="square" lIns="0" tIns="0" rIns="0" bIns="0" rtlCol="0" anchor="ctr"/>
          <a:lstStyle/>
          <a:p>
            <a:pPr marL="0" indent="0">
              <a:buNone/>
            </a:pPr>
            <a:r>
              <a:rPr lang="en-US" sz="1600" b="1" dirty="0">
                <a:solidFill>
                  <a:srgbClr val="1A2744"/>
                </a:solidFill>
                <a:latin typeface="Arial" pitchFamily="34" charset="0"/>
                <a:ea typeface="Arial" pitchFamily="34" charset="-122"/>
                <a:cs typeface="Arial" pitchFamily="34" charset="-120"/>
              </a:rPr>
              <a:t>외부 단계</a:t>
            </a:r>
            <a:endParaRPr lang="en-US" sz="1600" dirty="0"/>
          </a:p>
        </p:txBody>
      </p:sp>
      <p:sp>
        <p:nvSpPr>
          <p:cNvPr id="11" name="Text 8"/>
          <p:cNvSpPr/>
          <p:nvPr/>
        </p:nvSpPr>
        <p:spPr>
          <a:xfrm>
            <a:off x="1417320" y="1691640"/>
            <a:ext cx="1828800" cy="228600"/>
          </a:xfrm>
          <a:prstGeom prst="rect">
            <a:avLst/>
          </a:prstGeom>
          <a:noFill/>
          <a:ln/>
        </p:spPr>
        <p:txBody>
          <a:bodyPr wrap="square" lIns="0" tIns="0" rIns="0" bIns="0" rtlCol="0" anchor="ctr"/>
          <a:lstStyle/>
          <a:p>
            <a:pPr marL="0" indent="0">
              <a:buNone/>
            </a:pPr>
            <a:r>
              <a:rPr lang="en-US" sz="1000" i="1" dirty="0">
                <a:solidFill>
                  <a:srgbClr val="94A3B8"/>
                </a:solidFill>
                <a:latin typeface="Calibri" pitchFamily="34" charset="0"/>
                <a:ea typeface="Calibri" pitchFamily="34" charset="-122"/>
                <a:cs typeface="Calibri" pitchFamily="34" charset="-120"/>
              </a:rPr>
              <a:t>External Level</a:t>
            </a:r>
            <a:endParaRPr lang="en-US" sz="1000" dirty="0"/>
          </a:p>
        </p:txBody>
      </p:sp>
      <p:sp>
        <p:nvSpPr>
          <p:cNvPr id="12" name="Text 9"/>
          <p:cNvSpPr/>
          <p:nvPr/>
        </p:nvSpPr>
        <p:spPr>
          <a:xfrm>
            <a:off x="1417320" y="1920240"/>
            <a:ext cx="3108960" cy="365760"/>
          </a:xfrm>
          <a:prstGeom prst="rect">
            <a:avLst/>
          </a:prstGeom>
          <a:noFill/>
          <a:ln/>
        </p:spPr>
        <p:txBody>
          <a:bodyPr wrap="square" lIns="0" tIns="0" rIns="0" bIns="0" rtlCol="0" anchor="ctr"/>
          <a:lstStyle/>
          <a:p>
            <a:pPr marL="0" indent="0">
              <a:buNone/>
            </a:pPr>
            <a:r>
              <a:rPr lang="en-US" sz="1050" dirty="0">
                <a:solidFill>
                  <a:srgbClr val="334155"/>
                </a:solidFill>
                <a:latin typeface="Calibri" pitchFamily="34" charset="0"/>
                <a:ea typeface="Calibri" pitchFamily="34" charset="-122"/>
                <a:cs typeface="Calibri" pitchFamily="34" charset="-120"/>
              </a:rPr>
              <a:t>개별 사용자 관점</a:t>
            </a:r>
            <a:endParaRPr lang="en-US" sz="1050" dirty="0"/>
          </a:p>
          <a:p>
            <a:pPr marL="0" indent="0">
              <a:buNone/>
            </a:pPr>
            <a:r>
              <a:rPr lang="en-US" sz="1050" dirty="0">
                <a:solidFill>
                  <a:srgbClr val="334155"/>
                </a:solidFill>
                <a:latin typeface="Calibri" pitchFamily="34" charset="0"/>
                <a:ea typeface="Calibri" pitchFamily="34" charset="-122"/>
                <a:cs typeface="Calibri" pitchFamily="34" charset="-120"/>
              </a:rPr>
              <a:t>사용자별 외부 스키마</a:t>
            </a:r>
            <a:endParaRPr lang="en-US" sz="1050" dirty="0"/>
          </a:p>
        </p:txBody>
      </p:sp>
      <p:sp>
        <p:nvSpPr>
          <p:cNvPr id="13" name="Shape 10"/>
          <p:cNvSpPr/>
          <p:nvPr/>
        </p:nvSpPr>
        <p:spPr>
          <a:xfrm>
            <a:off x="2560320" y="2377440"/>
            <a:ext cx="54864" cy="548640"/>
          </a:xfrm>
          <a:prstGeom prst="rect">
            <a:avLst/>
          </a:prstGeom>
          <a:solidFill>
            <a:srgbClr val="E2E8F0"/>
          </a:solidFill>
          <a:ln/>
        </p:spPr>
      </p:sp>
      <p:sp>
        <p:nvSpPr>
          <p:cNvPr id="14" name="Text 11"/>
          <p:cNvSpPr/>
          <p:nvPr/>
        </p:nvSpPr>
        <p:spPr>
          <a:xfrm>
            <a:off x="2834640" y="2468880"/>
            <a:ext cx="2286000" cy="274320"/>
          </a:xfrm>
          <a:prstGeom prst="rect">
            <a:avLst/>
          </a:prstGeom>
          <a:noFill/>
          <a:ln/>
        </p:spPr>
        <p:txBody>
          <a:bodyPr wrap="square" lIns="0" tIns="0" rIns="0" bIns="0"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응용 인터페이스 (논리적 사상)</a:t>
            </a:r>
            <a:endParaRPr lang="en-US" sz="900" dirty="0"/>
          </a:p>
        </p:txBody>
      </p:sp>
      <p:sp>
        <p:nvSpPr>
          <p:cNvPr id="16" name="Shape 13"/>
          <p:cNvSpPr/>
          <p:nvPr/>
        </p:nvSpPr>
        <p:spPr>
          <a:xfrm>
            <a:off x="640080" y="2560320"/>
            <a:ext cx="73152" cy="1005840"/>
          </a:xfrm>
          <a:prstGeom prst="rect">
            <a:avLst/>
          </a:prstGeom>
          <a:solidFill>
            <a:srgbClr val="F59E0B"/>
          </a:solidFill>
          <a:ln/>
        </p:spPr>
      </p:sp>
      <p:pic>
        <p:nvPicPr>
          <p:cNvPr id="17" name="Image 1" descr="preencoded.png"/>
          <p:cNvPicPr>
            <a:picLocks noChangeAspect="1"/>
          </p:cNvPicPr>
          <p:nvPr/>
        </p:nvPicPr>
        <p:blipFill>
          <a:blip r:embed="rId4"/>
          <a:stretch>
            <a:fillRect/>
          </a:stretch>
        </p:blipFill>
        <p:spPr>
          <a:xfrm>
            <a:off x="914400" y="2633472"/>
            <a:ext cx="365760" cy="365760"/>
          </a:xfrm>
          <a:prstGeom prst="rect">
            <a:avLst/>
          </a:prstGeom>
        </p:spPr>
      </p:pic>
      <p:sp>
        <p:nvSpPr>
          <p:cNvPr id="18" name="Text 14"/>
          <p:cNvSpPr/>
          <p:nvPr/>
        </p:nvSpPr>
        <p:spPr>
          <a:xfrm>
            <a:off x="1417320" y="2606040"/>
            <a:ext cx="2286000" cy="320040"/>
          </a:xfrm>
          <a:prstGeom prst="rect">
            <a:avLst/>
          </a:prstGeom>
          <a:noFill/>
          <a:ln/>
        </p:spPr>
        <p:txBody>
          <a:bodyPr wrap="square" lIns="0" tIns="0" rIns="0" bIns="0" rtlCol="0" anchor="ctr"/>
          <a:lstStyle/>
          <a:p>
            <a:pPr marL="0" indent="0">
              <a:buNone/>
            </a:pPr>
            <a:r>
              <a:rPr lang="en-US" sz="1600" b="1" dirty="0">
                <a:solidFill>
                  <a:srgbClr val="1A2744"/>
                </a:solidFill>
                <a:latin typeface="Arial" pitchFamily="34" charset="0"/>
                <a:ea typeface="Arial" pitchFamily="34" charset="-122"/>
                <a:cs typeface="Arial" pitchFamily="34" charset="-120"/>
              </a:rPr>
              <a:t>개념 단계</a:t>
            </a:r>
            <a:endParaRPr lang="en-US" sz="1600" dirty="0"/>
          </a:p>
        </p:txBody>
      </p:sp>
      <p:sp>
        <p:nvSpPr>
          <p:cNvPr id="19" name="Text 15"/>
          <p:cNvSpPr/>
          <p:nvPr/>
        </p:nvSpPr>
        <p:spPr>
          <a:xfrm>
            <a:off x="1417320" y="2880360"/>
            <a:ext cx="1828800" cy="228600"/>
          </a:xfrm>
          <a:prstGeom prst="rect">
            <a:avLst/>
          </a:prstGeom>
          <a:noFill/>
          <a:ln/>
        </p:spPr>
        <p:txBody>
          <a:bodyPr wrap="square" lIns="0" tIns="0" rIns="0" bIns="0" rtlCol="0" anchor="ctr"/>
          <a:lstStyle/>
          <a:p>
            <a:pPr marL="0" indent="0">
              <a:buNone/>
            </a:pPr>
            <a:r>
              <a:rPr lang="en-US" sz="1000" i="1" dirty="0">
                <a:solidFill>
                  <a:srgbClr val="94A3B8"/>
                </a:solidFill>
                <a:latin typeface="Calibri" pitchFamily="34" charset="0"/>
                <a:ea typeface="Calibri" pitchFamily="34" charset="-122"/>
                <a:cs typeface="Calibri" pitchFamily="34" charset="-120"/>
              </a:rPr>
              <a:t>Conceptual Level</a:t>
            </a:r>
            <a:endParaRPr lang="en-US" sz="1000" dirty="0"/>
          </a:p>
        </p:txBody>
      </p:sp>
      <p:sp>
        <p:nvSpPr>
          <p:cNvPr id="20" name="Text 16"/>
          <p:cNvSpPr/>
          <p:nvPr/>
        </p:nvSpPr>
        <p:spPr>
          <a:xfrm>
            <a:off x="1417320" y="3108960"/>
            <a:ext cx="3108960" cy="365760"/>
          </a:xfrm>
          <a:prstGeom prst="rect">
            <a:avLst/>
          </a:prstGeom>
          <a:noFill/>
          <a:ln/>
        </p:spPr>
        <p:txBody>
          <a:bodyPr wrap="square" lIns="0" tIns="0" rIns="0" bIns="0" rtlCol="0" anchor="ctr"/>
          <a:lstStyle/>
          <a:p>
            <a:pPr marL="0" indent="0">
              <a:buNone/>
            </a:pPr>
            <a:r>
              <a:rPr lang="en-US" sz="1050" dirty="0">
                <a:solidFill>
                  <a:srgbClr val="334155"/>
                </a:solidFill>
                <a:latin typeface="Calibri" pitchFamily="34" charset="0"/>
                <a:ea typeface="Calibri" pitchFamily="34" charset="-122"/>
                <a:cs typeface="Calibri" pitchFamily="34" charset="-120"/>
              </a:rPr>
              <a:t>조직 전체 관점</a:t>
            </a:r>
            <a:endParaRPr lang="en-US" sz="1050" dirty="0"/>
          </a:p>
          <a:p>
            <a:pPr marL="0" indent="0">
              <a:buNone/>
            </a:pPr>
            <a:r>
              <a:rPr lang="en-US" sz="1050" dirty="0">
                <a:solidFill>
                  <a:srgbClr val="334155"/>
                </a:solidFill>
                <a:latin typeface="Calibri" pitchFamily="34" charset="0"/>
                <a:ea typeface="Calibri" pitchFamily="34" charset="-122"/>
                <a:cs typeface="Calibri" pitchFamily="34" charset="-120"/>
              </a:rPr>
              <a:t>통합된 개념 스키마</a:t>
            </a:r>
            <a:endParaRPr lang="en-US" sz="1050" dirty="0"/>
          </a:p>
        </p:txBody>
      </p:sp>
      <p:sp>
        <p:nvSpPr>
          <p:cNvPr id="21" name="Shape 17"/>
          <p:cNvSpPr/>
          <p:nvPr/>
        </p:nvSpPr>
        <p:spPr>
          <a:xfrm>
            <a:off x="2560320" y="3566160"/>
            <a:ext cx="54864" cy="548640"/>
          </a:xfrm>
          <a:prstGeom prst="rect">
            <a:avLst/>
          </a:prstGeom>
          <a:solidFill>
            <a:srgbClr val="E2E8F0"/>
          </a:solidFill>
          <a:ln/>
        </p:spPr>
      </p:sp>
      <p:sp>
        <p:nvSpPr>
          <p:cNvPr id="22" name="Text 18"/>
          <p:cNvSpPr/>
          <p:nvPr/>
        </p:nvSpPr>
        <p:spPr>
          <a:xfrm>
            <a:off x="2834640" y="3657600"/>
            <a:ext cx="2286000" cy="274320"/>
          </a:xfrm>
          <a:prstGeom prst="rect">
            <a:avLst/>
          </a:prstGeom>
          <a:noFill/>
          <a:ln/>
        </p:spPr>
        <p:txBody>
          <a:bodyPr wrap="square" lIns="0" tIns="0" rIns="0" bIns="0"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저장 인터페이스 (물리적 사상)</a:t>
            </a:r>
            <a:endParaRPr lang="en-US" sz="900" dirty="0"/>
          </a:p>
        </p:txBody>
      </p:sp>
      <p:sp>
        <p:nvSpPr>
          <p:cNvPr id="24" name="Shape 20"/>
          <p:cNvSpPr/>
          <p:nvPr/>
        </p:nvSpPr>
        <p:spPr>
          <a:xfrm>
            <a:off x="640080" y="3749040"/>
            <a:ext cx="73152" cy="1005840"/>
          </a:xfrm>
          <a:prstGeom prst="rect">
            <a:avLst/>
          </a:prstGeom>
          <a:solidFill>
            <a:srgbClr val="8B5CF6"/>
          </a:solidFill>
          <a:ln/>
        </p:spPr>
      </p:sp>
      <p:pic>
        <p:nvPicPr>
          <p:cNvPr id="25" name="Image 2" descr="preencoded.png"/>
          <p:cNvPicPr>
            <a:picLocks noChangeAspect="1"/>
          </p:cNvPicPr>
          <p:nvPr/>
        </p:nvPicPr>
        <p:blipFill>
          <a:blip r:embed="rId5"/>
          <a:stretch>
            <a:fillRect/>
          </a:stretch>
        </p:blipFill>
        <p:spPr>
          <a:xfrm>
            <a:off x="914400" y="3822192"/>
            <a:ext cx="365760" cy="365760"/>
          </a:xfrm>
          <a:prstGeom prst="rect">
            <a:avLst/>
          </a:prstGeom>
        </p:spPr>
      </p:pic>
      <p:sp>
        <p:nvSpPr>
          <p:cNvPr id="26" name="Text 21"/>
          <p:cNvSpPr/>
          <p:nvPr/>
        </p:nvSpPr>
        <p:spPr>
          <a:xfrm>
            <a:off x="1417320" y="3794760"/>
            <a:ext cx="2286000" cy="320040"/>
          </a:xfrm>
          <a:prstGeom prst="rect">
            <a:avLst/>
          </a:prstGeom>
          <a:noFill/>
          <a:ln/>
        </p:spPr>
        <p:txBody>
          <a:bodyPr wrap="square" lIns="0" tIns="0" rIns="0" bIns="0" rtlCol="0" anchor="ctr"/>
          <a:lstStyle/>
          <a:p>
            <a:pPr marL="0" indent="0">
              <a:buNone/>
            </a:pPr>
            <a:r>
              <a:rPr lang="en-US" sz="1600" b="1" dirty="0">
                <a:solidFill>
                  <a:srgbClr val="1A2744"/>
                </a:solidFill>
                <a:latin typeface="Arial" pitchFamily="34" charset="0"/>
                <a:ea typeface="Arial" pitchFamily="34" charset="-122"/>
                <a:cs typeface="Arial" pitchFamily="34" charset="-120"/>
              </a:rPr>
              <a:t>내부 단계</a:t>
            </a:r>
            <a:endParaRPr lang="en-US" sz="1600" dirty="0"/>
          </a:p>
        </p:txBody>
      </p:sp>
      <p:sp>
        <p:nvSpPr>
          <p:cNvPr id="27" name="Text 22"/>
          <p:cNvSpPr/>
          <p:nvPr/>
        </p:nvSpPr>
        <p:spPr>
          <a:xfrm>
            <a:off x="1417320" y="4069080"/>
            <a:ext cx="1828800" cy="228600"/>
          </a:xfrm>
          <a:prstGeom prst="rect">
            <a:avLst/>
          </a:prstGeom>
          <a:noFill/>
          <a:ln/>
        </p:spPr>
        <p:txBody>
          <a:bodyPr wrap="square" lIns="0" tIns="0" rIns="0" bIns="0" rtlCol="0" anchor="ctr"/>
          <a:lstStyle/>
          <a:p>
            <a:pPr marL="0" indent="0">
              <a:buNone/>
            </a:pPr>
            <a:r>
              <a:rPr lang="en-US" sz="1000" i="1" dirty="0">
                <a:solidFill>
                  <a:srgbClr val="94A3B8"/>
                </a:solidFill>
                <a:latin typeface="Calibri" pitchFamily="34" charset="0"/>
                <a:ea typeface="Calibri" pitchFamily="34" charset="-122"/>
                <a:cs typeface="Calibri" pitchFamily="34" charset="-120"/>
              </a:rPr>
              <a:t>Internal Level</a:t>
            </a:r>
            <a:endParaRPr lang="en-US" sz="1000" dirty="0"/>
          </a:p>
        </p:txBody>
      </p:sp>
      <p:sp>
        <p:nvSpPr>
          <p:cNvPr id="28" name="Text 23"/>
          <p:cNvSpPr/>
          <p:nvPr/>
        </p:nvSpPr>
        <p:spPr>
          <a:xfrm>
            <a:off x="1417320" y="4297680"/>
            <a:ext cx="3108960" cy="365760"/>
          </a:xfrm>
          <a:prstGeom prst="rect">
            <a:avLst/>
          </a:prstGeom>
          <a:noFill/>
          <a:ln/>
        </p:spPr>
        <p:txBody>
          <a:bodyPr wrap="square" lIns="0" tIns="0" rIns="0" bIns="0" rtlCol="0" anchor="ctr"/>
          <a:lstStyle/>
          <a:p>
            <a:pPr marL="0" indent="0">
              <a:buNone/>
            </a:pPr>
            <a:r>
              <a:rPr lang="en-US" sz="1050" dirty="0">
                <a:solidFill>
                  <a:srgbClr val="334155"/>
                </a:solidFill>
                <a:latin typeface="Calibri" pitchFamily="34" charset="0"/>
                <a:ea typeface="Calibri" pitchFamily="34" charset="-122"/>
                <a:cs typeface="Calibri" pitchFamily="34" charset="-120"/>
              </a:rPr>
              <a:t>저장 장치 관점</a:t>
            </a:r>
            <a:endParaRPr lang="en-US" sz="1050" dirty="0"/>
          </a:p>
          <a:p>
            <a:pPr marL="0" indent="0">
              <a:buNone/>
            </a:pPr>
            <a:r>
              <a:rPr lang="en-US" sz="1050" dirty="0">
                <a:solidFill>
                  <a:srgbClr val="334155"/>
                </a:solidFill>
                <a:latin typeface="Calibri" pitchFamily="34" charset="0"/>
                <a:ea typeface="Calibri" pitchFamily="34" charset="-122"/>
                <a:cs typeface="Calibri" pitchFamily="34" charset="-120"/>
              </a:rPr>
              <a:t>물리적 내부 스키마</a:t>
            </a:r>
            <a:endParaRPr lang="en-US" sz="1050" dirty="0"/>
          </a:p>
        </p:txBody>
      </p:sp>
      <p:sp>
        <p:nvSpPr>
          <p:cNvPr id="29" name="Shape 24"/>
          <p:cNvSpPr/>
          <p:nvPr/>
        </p:nvSpPr>
        <p:spPr>
          <a:xfrm>
            <a:off x="5029200" y="1371600"/>
            <a:ext cx="3474720" cy="3383280"/>
          </a:xfrm>
          <a:prstGeom prst="rect">
            <a:avLst/>
          </a:prstGeom>
          <a:solidFill>
            <a:srgbClr val="1A2744"/>
          </a:solidFill>
          <a:ln/>
        </p:spPr>
      </p:sp>
      <p:sp>
        <p:nvSpPr>
          <p:cNvPr id="30" name="Text 25"/>
          <p:cNvSpPr/>
          <p:nvPr/>
        </p:nvSpPr>
        <p:spPr>
          <a:xfrm>
            <a:off x="5303520" y="1508760"/>
            <a:ext cx="2926080" cy="320040"/>
          </a:xfrm>
          <a:prstGeom prst="rect">
            <a:avLst/>
          </a:prstGeom>
          <a:noFill/>
          <a:ln/>
        </p:spPr>
        <p:txBody>
          <a:bodyPr wrap="square" lIns="0" tIns="0" rIns="0" bIns="0" rtlCol="0" anchor="ctr"/>
          <a:lstStyle/>
          <a:p>
            <a:pPr marL="0" indent="0">
              <a:buNone/>
            </a:pPr>
            <a:r>
              <a:rPr lang="en-US" sz="1400" b="1" dirty="0">
                <a:solidFill>
                  <a:srgbClr val="FFFFFF"/>
                </a:solidFill>
                <a:latin typeface="Arial" pitchFamily="34" charset="0"/>
                <a:ea typeface="Arial" pitchFamily="34" charset="-122"/>
                <a:cs typeface="Arial" pitchFamily="34" charset="-120"/>
              </a:rPr>
              <a:t>추상화 수준</a:t>
            </a:r>
            <a:endParaRPr lang="en-US" sz="1400" dirty="0"/>
          </a:p>
        </p:txBody>
      </p:sp>
      <p:sp>
        <p:nvSpPr>
          <p:cNvPr id="31" name="Text 26"/>
          <p:cNvSpPr/>
          <p:nvPr/>
        </p:nvSpPr>
        <p:spPr>
          <a:xfrm>
            <a:off x="5303520" y="1920240"/>
            <a:ext cx="2743200" cy="274320"/>
          </a:xfrm>
          <a:prstGeom prst="rect">
            <a:avLst/>
          </a:prstGeom>
          <a:noFill/>
          <a:ln/>
        </p:spPr>
        <p:txBody>
          <a:bodyPr wrap="square" lIns="0" tIns="0" rIns="0" bIns="0" rtlCol="0" anchor="ctr"/>
          <a:lstStyle/>
          <a:p>
            <a:pPr marL="0" indent="0">
              <a:buNone/>
            </a:pPr>
            <a:r>
              <a:rPr lang="en-US" sz="1100" dirty="0">
                <a:solidFill>
                  <a:srgbClr val="22D3EE"/>
                </a:solidFill>
                <a:latin typeface="Calibri" pitchFamily="34" charset="0"/>
                <a:ea typeface="Calibri" pitchFamily="34" charset="-122"/>
                <a:cs typeface="Calibri" pitchFamily="34" charset="-120"/>
              </a:rPr>
              <a:t>▲ 높음 (사용자 친화적)</a:t>
            </a:r>
            <a:endParaRPr lang="en-US" sz="1100" dirty="0"/>
          </a:p>
        </p:txBody>
      </p:sp>
      <p:sp>
        <p:nvSpPr>
          <p:cNvPr id="32" name="Shape 27"/>
          <p:cNvSpPr/>
          <p:nvPr/>
        </p:nvSpPr>
        <p:spPr>
          <a:xfrm>
            <a:off x="5486400" y="2286000"/>
            <a:ext cx="54864" cy="1828800"/>
          </a:xfrm>
          <a:prstGeom prst="rect">
            <a:avLst/>
          </a:prstGeom>
          <a:solidFill>
            <a:srgbClr val="0891B2"/>
          </a:solidFill>
          <a:ln/>
        </p:spPr>
      </p:sp>
      <p:sp>
        <p:nvSpPr>
          <p:cNvPr id="33" name="Text 28"/>
          <p:cNvSpPr/>
          <p:nvPr/>
        </p:nvSpPr>
        <p:spPr>
          <a:xfrm>
            <a:off x="5760720" y="2286000"/>
            <a:ext cx="2560320" cy="274320"/>
          </a:xfrm>
          <a:prstGeom prst="rect">
            <a:avLst/>
          </a:prstGeom>
          <a:noFill/>
          <a:ln/>
        </p:spPr>
        <p:txBody>
          <a:bodyPr wrap="square" lIns="0" tIns="0" rIns="0" bIns="0" rtlCol="0" anchor="ctr"/>
          <a:lstStyle/>
          <a:p>
            <a:pPr marL="0" indent="0">
              <a:buNone/>
            </a:pPr>
            <a:r>
              <a:rPr lang="en-US" sz="1000" dirty="0">
                <a:solidFill>
                  <a:srgbClr val="22D3EE"/>
                </a:solidFill>
                <a:latin typeface="Calibri" pitchFamily="34" charset="0"/>
                <a:ea typeface="Calibri" pitchFamily="34" charset="-122"/>
                <a:cs typeface="Calibri" pitchFamily="34" charset="-120"/>
              </a:rPr>
              <a:t>외부 스키마 (여러 개 가능)</a:t>
            </a:r>
            <a:endParaRPr lang="en-US" sz="1000" dirty="0"/>
          </a:p>
        </p:txBody>
      </p:sp>
      <p:sp>
        <p:nvSpPr>
          <p:cNvPr id="34" name="Text 29"/>
          <p:cNvSpPr/>
          <p:nvPr/>
        </p:nvSpPr>
        <p:spPr>
          <a:xfrm>
            <a:off x="5760720" y="2834640"/>
            <a:ext cx="2560320" cy="274320"/>
          </a:xfrm>
          <a:prstGeom prst="rect">
            <a:avLst/>
          </a:prstGeom>
          <a:noFill/>
          <a:ln/>
        </p:spPr>
        <p:txBody>
          <a:bodyPr wrap="square" lIns="0" tIns="0" rIns="0" bIns="0" rtlCol="0" anchor="ctr"/>
          <a:lstStyle/>
          <a:p>
            <a:pPr marL="0" indent="0">
              <a:buNone/>
            </a:pPr>
            <a:r>
              <a:rPr lang="en-US" sz="1000" dirty="0">
                <a:solidFill>
                  <a:srgbClr val="F59E0B"/>
                </a:solidFill>
                <a:latin typeface="Calibri" pitchFamily="34" charset="0"/>
                <a:ea typeface="Calibri" pitchFamily="34" charset="-122"/>
                <a:cs typeface="Calibri" pitchFamily="34" charset="-120"/>
              </a:rPr>
              <a:t>개념 스키마 (1개)</a:t>
            </a:r>
            <a:endParaRPr lang="en-US" sz="1000" dirty="0"/>
          </a:p>
        </p:txBody>
      </p:sp>
      <p:sp>
        <p:nvSpPr>
          <p:cNvPr id="35" name="Text 30"/>
          <p:cNvSpPr/>
          <p:nvPr/>
        </p:nvSpPr>
        <p:spPr>
          <a:xfrm>
            <a:off x="5760720" y="3383280"/>
            <a:ext cx="2560320" cy="274320"/>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내부 스키마 (1개)</a:t>
            </a:r>
            <a:endParaRPr lang="en-US" sz="1000" dirty="0"/>
          </a:p>
        </p:txBody>
      </p:sp>
      <p:sp>
        <p:nvSpPr>
          <p:cNvPr id="36" name="Text 31"/>
          <p:cNvSpPr/>
          <p:nvPr/>
        </p:nvSpPr>
        <p:spPr>
          <a:xfrm>
            <a:off x="5303520" y="4114800"/>
            <a:ext cx="2743200" cy="274320"/>
          </a:xfrm>
          <a:prstGeom prst="rect">
            <a:avLst/>
          </a:prstGeom>
          <a:noFill/>
          <a:ln/>
        </p:spPr>
        <p:txBody>
          <a:bodyPr wrap="square" lIns="0" tIns="0" rIns="0" bIns="0" rtlCol="0" anchor="ctr"/>
          <a:lstStyle/>
          <a:p>
            <a:pPr marL="0" indent="0">
              <a:buNone/>
            </a:pPr>
            <a:r>
              <a:rPr lang="en-US" sz="1100" dirty="0">
                <a:solidFill>
                  <a:srgbClr val="94A3B8"/>
                </a:solidFill>
                <a:latin typeface="Calibri" pitchFamily="34" charset="0"/>
                <a:ea typeface="Calibri" pitchFamily="34" charset="-122"/>
                <a:cs typeface="Calibri" pitchFamily="34" charset="-120"/>
              </a:rPr>
              <a:t>▼ 낮음 (기계 친화적)</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Text 1"/>
          <p:cNvSpPr/>
          <p:nvPr/>
        </p:nvSpPr>
        <p:spPr>
          <a:xfrm>
            <a:off x="640080" y="228600"/>
            <a:ext cx="7863840" cy="502920"/>
          </a:xfrm>
          <a:prstGeom prst="rect">
            <a:avLst/>
          </a:prstGeom>
          <a:noFill/>
          <a:ln/>
        </p:spPr>
        <p:txBody>
          <a:bodyPr wrap="square" lIns="0" tIns="0" rIns="0" bIns="0" rtlCol="0" anchor="ctr"/>
          <a:lstStyle/>
          <a:p>
            <a:pPr marL="0" indent="0">
              <a:buNone/>
            </a:pPr>
            <a:r>
              <a:rPr lang="en-US" sz="2200" b="1" dirty="0">
                <a:solidFill>
                  <a:srgbClr val="1A2744"/>
                </a:solidFill>
                <a:latin typeface="Arial Black" pitchFamily="34" charset="0"/>
                <a:ea typeface="Arial Black" pitchFamily="34" charset="-122"/>
                <a:cs typeface="Arial Black" pitchFamily="34" charset="-120"/>
              </a:rPr>
              <a:t>3단계 구조 — 각 단계 상세</a:t>
            </a:r>
            <a:endParaRPr lang="en-US" sz="2200" dirty="0"/>
          </a:p>
        </p:txBody>
      </p:sp>
      <p:sp>
        <p:nvSpPr>
          <p:cNvPr id="4" name="Shape 2"/>
          <p:cNvSpPr/>
          <p:nvPr/>
        </p:nvSpPr>
        <p:spPr>
          <a:xfrm>
            <a:off x="640080" y="777240"/>
            <a:ext cx="7863840" cy="18288"/>
          </a:xfrm>
          <a:prstGeom prst="rect">
            <a:avLst/>
          </a:prstGeom>
          <a:solidFill>
            <a:srgbClr val="E2E8F0"/>
          </a:solidFill>
          <a:ln/>
        </p:spPr>
      </p:sp>
      <p:sp>
        <p:nvSpPr>
          <p:cNvPr id="5" name="Text 3"/>
          <p:cNvSpPr/>
          <p:nvPr/>
        </p:nvSpPr>
        <p:spPr>
          <a:xfrm>
            <a:off x="8412480" y="4663440"/>
            <a:ext cx="457200" cy="320040"/>
          </a:xfrm>
          <a:prstGeom prst="rect">
            <a:avLst/>
          </a:prstGeom>
          <a:noFill/>
          <a:ln/>
        </p:spPr>
        <p:txBody>
          <a:bodyPr wrap="square" lIns="0" tIns="0" rIns="0" bIns="0"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8</a:t>
            </a:r>
            <a:endParaRPr lang="en-US" sz="1000" dirty="0"/>
          </a:p>
        </p:txBody>
      </p:sp>
      <p:sp>
        <p:nvSpPr>
          <p:cNvPr id="6" name="Shape 4"/>
          <p:cNvSpPr/>
          <p:nvPr/>
        </p:nvSpPr>
        <p:spPr>
          <a:xfrm>
            <a:off x="640080" y="1005840"/>
            <a:ext cx="2560320" cy="3840480"/>
          </a:xfrm>
          <a:prstGeom prst="rect">
            <a:avLst/>
          </a:prstGeom>
          <a:solidFill>
            <a:srgbClr val="FFFFFF"/>
          </a:solidFill>
          <a:ln/>
          <a:effectLst>
            <a:outerShdw blurRad="50800" dist="25400" dir="8100000" algn="bl" rotWithShape="0">
              <a:srgbClr val="000000">
                <a:alpha val="10000"/>
              </a:srgbClr>
            </a:outerShdw>
          </a:effectLst>
        </p:spPr>
      </p:sp>
      <p:sp>
        <p:nvSpPr>
          <p:cNvPr id="7" name="Shape 5"/>
          <p:cNvSpPr/>
          <p:nvPr/>
        </p:nvSpPr>
        <p:spPr>
          <a:xfrm>
            <a:off x="640080" y="1005840"/>
            <a:ext cx="2560320" cy="64008"/>
          </a:xfrm>
          <a:prstGeom prst="rect">
            <a:avLst/>
          </a:prstGeom>
          <a:solidFill>
            <a:srgbClr val="0891B2"/>
          </a:solidFill>
          <a:ln/>
        </p:spPr>
      </p:sp>
      <p:sp>
        <p:nvSpPr>
          <p:cNvPr id="8" name="Shape 6"/>
          <p:cNvSpPr/>
          <p:nvPr/>
        </p:nvSpPr>
        <p:spPr>
          <a:xfrm>
            <a:off x="1508760" y="1234440"/>
            <a:ext cx="731520" cy="731520"/>
          </a:xfrm>
          <a:prstGeom prst="ellipse">
            <a:avLst/>
          </a:prstGeom>
          <a:solidFill>
            <a:srgbClr val="0891B2">
              <a:alpha val="12000"/>
            </a:srgbClr>
          </a:solidFill>
          <a:ln/>
        </p:spPr>
      </p:sp>
      <p:pic>
        <p:nvPicPr>
          <p:cNvPr id="9" name="Image 0" descr="preencoded.png"/>
          <p:cNvPicPr>
            <a:picLocks noChangeAspect="1"/>
          </p:cNvPicPr>
          <p:nvPr/>
        </p:nvPicPr>
        <p:blipFill>
          <a:blip r:embed="rId3"/>
          <a:stretch>
            <a:fillRect/>
          </a:stretch>
        </p:blipFill>
        <p:spPr>
          <a:xfrm>
            <a:off x="1645920" y="1371600"/>
            <a:ext cx="457200" cy="457200"/>
          </a:xfrm>
          <a:prstGeom prst="rect">
            <a:avLst/>
          </a:prstGeom>
        </p:spPr>
      </p:pic>
      <p:sp>
        <p:nvSpPr>
          <p:cNvPr id="10" name="Text 7"/>
          <p:cNvSpPr/>
          <p:nvPr/>
        </p:nvSpPr>
        <p:spPr>
          <a:xfrm>
            <a:off x="777240" y="2103120"/>
            <a:ext cx="2286000" cy="320040"/>
          </a:xfrm>
          <a:prstGeom prst="rect">
            <a:avLst/>
          </a:prstGeom>
          <a:noFill/>
          <a:ln/>
        </p:spPr>
        <p:txBody>
          <a:bodyPr wrap="square" lIns="0" tIns="0" rIns="0" bIns="0" rtlCol="0" anchor="ctr"/>
          <a:lstStyle/>
          <a:p>
            <a:pPr marL="0" indent="0" algn="ctr">
              <a:buNone/>
            </a:pPr>
            <a:r>
              <a:rPr lang="en-US" sz="1500" b="1" dirty="0">
                <a:solidFill>
                  <a:srgbClr val="1A2744"/>
                </a:solidFill>
                <a:latin typeface="Arial" pitchFamily="34" charset="0"/>
                <a:ea typeface="Arial" pitchFamily="34" charset="-122"/>
                <a:cs typeface="Arial" pitchFamily="34" charset="-120"/>
              </a:rPr>
              <a:t>외부 단계</a:t>
            </a:r>
            <a:endParaRPr lang="en-US" sz="1500" dirty="0"/>
          </a:p>
        </p:txBody>
      </p:sp>
      <p:sp>
        <p:nvSpPr>
          <p:cNvPr id="11" name="Text 8"/>
          <p:cNvSpPr/>
          <p:nvPr/>
        </p:nvSpPr>
        <p:spPr>
          <a:xfrm>
            <a:off x="777240" y="2423160"/>
            <a:ext cx="2286000" cy="228600"/>
          </a:xfrm>
          <a:prstGeom prst="rect">
            <a:avLst/>
          </a:prstGeom>
          <a:noFill/>
          <a:ln/>
        </p:spPr>
        <p:txBody>
          <a:bodyPr wrap="square" lIns="0" tIns="0" rIns="0" bIns="0" rtlCol="0" anchor="ctr"/>
          <a:lstStyle/>
          <a:p>
            <a:pPr marL="0" indent="0" algn="ctr">
              <a:buNone/>
            </a:pPr>
            <a:r>
              <a:rPr lang="en-US" sz="900" i="1" dirty="0">
                <a:solidFill>
                  <a:srgbClr val="94A3B8"/>
                </a:solidFill>
                <a:latin typeface="Calibri" pitchFamily="34" charset="0"/>
                <a:ea typeface="Calibri" pitchFamily="34" charset="-122"/>
                <a:cs typeface="Calibri" pitchFamily="34" charset="-120"/>
              </a:rPr>
              <a:t>External Level</a:t>
            </a:r>
            <a:endParaRPr lang="en-US" sz="900" dirty="0"/>
          </a:p>
        </p:txBody>
      </p:sp>
      <p:sp>
        <p:nvSpPr>
          <p:cNvPr id="12" name="Shape 9"/>
          <p:cNvSpPr/>
          <p:nvPr/>
        </p:nvSpPr>
        <p:spPr>
          <a:xfrm>
            <a:off x="1097280" y="2743200"/>
            <a:ext cx="1645920" cy="18288"/>
          </a:xfrm>
          <a:prstGeom prst="rect">
            <a:avLst/>
          </a:prstGeom>
          <a:solidFill>
            <a:srgbClr val="E2E8F0"/>
          </a:solidFill>
          <a:ln/>
        </p:spPr>
      </p:sp>
      <p:sp>
        <p:nvSpPr>
          <p:cNvPr id="13" name="Text 10"/>
          <p:cNvSpPr/>
          <p:nvPr/>
        </p:nvSpPr>
        <p:spPr>
          <a:xfrm>
            <a:off x="777240" y="2834640"/>
            <a:ext cx="2286000" cy="1920240"/>
          </a:xfrm>
          <a:prstGeom prst="rect">
            <a:avLst/>
          </a:prstGeom>
          <a:noFill/>
          <a:ln/>
        </p:spPr>
        <p:txBody>
          <a:bodyPr wrap="square" lIns="0" tIns="0" rIns="0" bIns="0" rtlCol="0" anchor="ctr"/>
          <a:lstStyle/>
          <a:p>
            <a:pPr marL="0" indent="0">
              <a:lnSpc>
                <a:spcPct val="135000"/>
              </a:lnSpc>
              <a:buNone/>
            </a:pPr>
            <a:r>
              <a:rPr lang="en-US" sz="1000" dirty="0">
                <a:solidFill>
                  <a:srgbClr val="334155"/>
                </a:solidFill>
                <a:latin typeface="Calibri" pitchFamily="34" charset="0"/>
                <a:ea typeface="Calibri" pitchFamily="34" charset="-122"/>
                <a:cs typeface="Calibri" pitchFamily="34" charset="-120"/>
              </a:rPr>
              <a:t>• 개별 사용자(응용 프로그램) 관점에서 DB를 이해하고 표현</a:t>
            </a:r>
            <a:endParaRPr lang="en-US" sz="1000" dirty="0"/>
          </a:p>
          <a:p>
            <a:pPr marL="0" indent="0">
              <a:lnSpc>
                <a:spcPct val="135000"/>
              </a:lnSpc>
              <a:buNone/>
            </a:pPr>
            <a:r>
              <a:rPr lang="en-US" sz="1000" dirty="0">
                <a:solidFill>
                  <a:srgbClr val="334155"/>
                </a:solidFill>
                <a:latin typeface="Calibri" pitchFamily="34" charset="0"/>
                <a:ea typeface="Calibri" pitchFamily="34" charset="-122"/>
                <a:cs typeface="Calibri" pitchFamily="34" charset="-120"/>
              </a:rPr>
              <a:t>• 외부 스키마: 사용자에게 필요한 데이터만 정의</a:t>
            </a:r>
            <a:endParaRPr lang="en-US" sz="1000" dirty="0"/>
          </a:p>
          <a:p>
            <a:pPr marL="0" indent="0">
              <a:lnSpc>
                <a:spcPct val="135000"/>
              </a:lnSpc>
              <a:buNone/>
            </a:pPr>
            <a:r>
              <a:rPr lang="en-US" sz="1000" dirty="0">
                <a:solidFill>
                  <a:srgbClr val="334155"/>
                </a:solidFill>
                <a:latin typeface="Calibri" pitchFamily="34" charset="0"/>
                <a:ea typeface="Calibri" pitchFamily="34" charset="-122"/>
                <a:cs typeface="Calibri" pitchFamily="34" charset="-120"/>
              </a:rPr>
              <a:t>• 각 사용자가 생각하는 DB의 모습이 다름 (외부 스키마가 다름)</a:t>
            </a:r>
            <a:endParaRPr lang="en-US" sz="1000" dirty="0"/>
          </a:p>
          <a:p>
            <a:pPr marL="0" indent="0">
              <a:lnSpc>
                <a:spcPct val="135000"/>
              </a:lnSpc>
              <a:buNone/>
            </a:pPr>
            <a:r>
              <a:rPr lang="en-US" sz="1000" dirty="0">
                <a:solidFill>
                  <a:srgbClr val="334155"/>
                </a:solidFill>
                <a:latin typeface="Calibri" pitchFamily="34" charset="0"/>
                <a:ea typeface="Calibri" pitchFamily="34" charset="-122"/>
                <a:cs typeface="Calibri" pitchFamily="34" charset="-120"/>
              </a:rPr>
              <a:t>• 여러 개의 외부 스키마가 존재 가능</a:t>
            </a:r>
            <a:endParaRPr lang="en-US" sz="1000" dirty="0"/>
          </a:p>
        </p:txBody>
      </p:sp>
      <p:sp>
        <p:nvSpPr>
          <p:cNvPr id="14" name="Shape 11"/>
          <p:cNvSpPr/>
          <p:nvPr/>
        </p:nvSpPr>
        <p:spPr>
          <a:xfrm>
            <a:off x="3474720" y="1005840"/>
            <a:ext cx="2560320" cy="3840480"/>
          </a:xfrm>
          <a:prstGeom prst="rect">
            <a:avLst/>
          </a:prstGeom>
          <a:solidFill>
            <a:srgbClr val="FFFFFF"/>
          </a:solidFill>
          <a:ln/>
          <a:effectLst>
            <a:outerShdw blurRad="50800" dist="25400" dir="8100000" algn="bl" rotWithShape="0">
              <a:srgbClr val="000000">
                <a:alpha val="10000"/>
              </a:srgbClr>
            </a:outerShdw>
          </a:effectLst>
        </p:spPr>
      </p:sp>
      <p:sp>
        <p:nvSpPr>
          <p:cNvPr id="15" name="Shape 12"/>
          <p:cNvSpPr/>
          <p:nvPr/>
        </p:nvSpPr>
        <p:spPr>
          <a:xfrm>
            <a:off x="3474720" y="1005840"/>
            <a:ext cx="2560320" cy="64008"/>
          </a:xfrm>
          <a:prstGeom prst="rect">
            <a:avLst/>
          </a:prstGeom>
          <a:solidFill>
            <a:srgbClr val="F59E0B"/>
          </a:solidFill>
          <a:ln/>
        </p:spPr>
      </p:sp>
      <p:sp>
        <p:nvSpPr>
          <p:cNvPr id="16" name="Shape 13"/>
          <p:cNvSpPr/>
          <p:nvPr/>
        </p:nvSpPr>
        <p:spPr>
          <a:xfrm>
            <a:off x="4343400" y="1234440"/>
            <a:ext cx="731520" cy="731520"/>
          </a:xfrm>
          <a:prstGeom prst="ellipse">
            <a:avLst/>
          </a:prstGeom>
          <a:solidFill>
            <a:srgbClr val="F59E0B">
              <a:alpha val="12000"/>
            </a:srgbClr>
          </a:solidFill>
          <a:ln/>
        </p:spPr>
      </p:sp>
      <p:pic>
        <p:nvPicPr>
          <p:cNvPr id="17" name="Image 1" descr="preencoded.png"/>
          <p:cNvPicPr>
            <a:picLocks noChangeAspect="1"/>
          </p:cNvPicPr>
          <p:nvPr/>
        </p:nvPicPr>
        <p:blipFill>
          <a:blip r:embed="rId4"/>
          <a:stretch>
            <a:fillRect/>
          </a:stretch>
        </p:blipFill>
        <p:spPr>
          <a:xfrm>
            <a:off x="4480560" y="1371600"/>
            <a:ext cx="457200" cy="457200"/>
          </a:xfrm>
          <a:prstGeom prst="rect">
            <a:avLst/>
          </a:prstGeom>
        </p:spPr>
      </p:pic>
      <p:sp>
        <p:nvSpPr>
          <p:cNvPr id="18" name="Text 14"/>
          <p:cNvSpPr/>
          <p:nvPr/>
        </p:nvSpPr>
        <p:spPr>
          <a:xfrm>
            <a:off x="3611880" y="2103120"/>
            <a:ext cx="2286000" cy="320040"/>
          </a:xfrm>
          <a:prstGeom prst="rect">
            <a:avLst/>
          </a:prstGeom>
          <a:noFill/>
          <a:ln/>
        </p:spPr>
        <p:txBody>
          <a:bodyPr wrap="square" lIns="0" tIns="0" rIns="0" bIns="0" rtlCol="0" anchor="ctr"/>
          <a:lstStyle/>
          <a:p>
            <a:pPr marL="0" indent="0" algn="ctr">
              <a:buNone/>
            </a:pPr>
            <a:r>
              <a:rPr lang="en-US" sz="1500" b="1" dirty="0">
                <a:solidFill>
                  <a:srgbClr val="1A2744"/>
                </a:solidFill>
                <a:latin typeface="Arial" pitchFamily="34" charset="0"/>
                <a:ea typeface="Arial" pitchFamily="34" charset="-122"/>
                <a:cs typeface="Arial" pitchFamily="34" charset="-120"/>
              </a:rPr>
              <a:t>개념 단계</a:t>
            </a:r>
            <a:endParaRPr lang="en-US" sz="1500" dirty="0"/>
          </a:p>
        </p:txBody>
      </p:sp>
      <p:sp>
        <p:nvSpPr>
          <p:cNvPr id="19" name="Text 15"/>
          <p:cNvSpPr/>
          <p:nvPr/>
        </p:nvSpPr>
        <p:spPr>
          <a:xfrm>
            <a:off x="3611880" y="2423160"/>
            <a:ext cx="2286000" cy="228600"/>
          </a:xfrm>
          <a:prstGeom prst="rect">
            <a:avLst/>
          </a:prstGeom>
          <a:noFill/>
          <a:ln/>
        </p:spPr>
        <p:txBody>
          <a:bodyPr wrap="square" lIns="0" tIns="0" rIns="0" bIns="0" rtlCol="0" anchor="ctr"/>
          <a:lstStyle/>
          <a:p>
            <a:pPr marL="0" indent="0" algn="ctr">
              <a:buNone/>
            </a:pPr>
            <a:r>
              <a:rPr lang="en-US" sz="900" i="1" dirty="0">
                <a:solidFill>
                  <a:srgbClr val="94A3B8"/>
                </a:solidFill>
                <a:latin typeface="Calibri" pitchFamily="34" charset="0"/>
                <a:ea typeface="Calibri" pitchFamily="34" charset="-122"/>
                <a:cs typeface="Calibri" pitchFamily="34" charset="-120"/>
              </a:rPr>
              <a:t>Conceptual Level</a:t>
            </a:r>
            <a:endParaRPr lang="en-US" sz="900" dirty="0"/>
          </a:p>
        </p:txBody>
      </p:sp>
      <p:sp>
        <p:nvSpPr>
          <p:cNvPr id="20" name="Shape 16"/>
          <p:cNvSpPr/>
          <p:nvPr/>
        </p:nvSpPr>
        <p:spPr>
          <a:xfrm>
            <a:off x="3931920" y="2743200"/>
            <a:ext cx="1645920" cy="18288"/>
          </a:xfrm>
          <a:prstGeom prst="rect">
            <a:avLst/>
          </a:prstGeom>
          <a:solidFill>
            <a:srgbClr val="E2E8F0"/>
          </a:solidFill>
          <a:ln/>
        </p:spPr>
      </p:sp>
      <p:sp>
        <p:nvSpPr>
          <p:cNvPr id="21" name="Text 17"/>
          <p:cNvSpPr/>
          <p:nvPr/>
        </p:nvSpPr>
        <p:spPr>
          <a:xfrm>
            <a:off x="3611880" y="2834640"/>
            <a:ext cx="2286000" cy="1920240"/>
          </a:xfrm>
          <a:prstGeom prst="rect">
            <a:avLst/>
          </a:prstGeom>
          <a:noFill/>
          <a:ln/>
        </p:spPr>
        <p:txBody>
          <a:bodyPr wrap="square" lIns="0" tIns="0" rIns="0" bIns="0" rtlCol="0" anchor="ctr"/>
          <a:lstStyle/>
          <a:p>
            <a:pPr marL="0" indent="0">
              <a:lnSpc>
                <a:spcPct val="135000"/>
              </a:lnSpc>
              <a:buNone/>
            </a:pPr>
            <a:r>
              <a:rPr lang="en-US" sz="1000" dirty="0">
                <a:solidFill>
                  <a:srgbClr val="334155"/>
                </a:solidFill>
                <a:latin typeface="Calibri" pitchFamily="34" charset="0"/>
                <a:ea typeface="Calibri" pitchFamily="34" charset="-122"/>
                <a:cs typeface="Calibri" pitchFamily="34" charset="-120"/>
              </a:rPr>
              <a:t>• 조직 전체(관리자) 관점에서 DB를 이해하고 표현</a:t>
            </a:r>
            <a:endParaRPr lang="en-US" sz="1000" dirty="0"/>
          </a:p>
          <a:p>
            <a:pPr marL="0" indent="0">
              <a:lnSpc>
                <a:spcPct val="135000"/>
              </a:lnSpc>
              <a:buNone/>
            </a:pPr>
            <a:r>
              <a:rPr lang="en-US" sz="1000" dirty="0">
                <a:solidFill>
                  <a:srgbClr val="334155"/>
                </a:solidFill>
                <a:latin typeface="Calibri" pitchFamily="34" charset="0"/>
                <a:ea typeface="Calibri" pitchFamily="34" charset="-122"/>
                <a:cs typeface="Calibri" pitchFamily="34" charset="-120"/>
              </a:rPr>
              <a:t>• 개념 스키마: 모든 사용자의 데이터를 통합 정의</a:t>
            </a:r>
            <a:endParaRPr lang="en-US" sz="1000" dirty="0"/>
          </a:p>
          <a:p>
            <a:pPr marL="0" indent="0">
              <a:lnSpc>
                <a:spcPct val="135000"/>
              </a:lnSpc>
              <a:buNone/>
            </a:pPr>
            <a:r>
              <a:rPr lang="en-US" sz="1000" dirty="0">
                <a:solidFill>
                  <a:srgbClr val="334155"/>
                </a:solidFill>
                <a:latin typeface="Calibri" pitchFamily="34" charset="0"/>
                <a:ea typeface="Calibri" pitchFamily="34" charset="-122"/>
                <a:cs typeface="Calibri" pitchFamily="34" charset="-120"/>
              </a:rPr>
              <a:t>• 데이터 종류, 데이터 간 관계, 제약조건, 보안·접근 권한 포함</a:t>
            </a:r>
            <a:endParaRPr lang="en-US" sz="1000" dirty="0"/>
          </a:p>
          <a:p>
            <a:pPr marL="0" indent="0">
              <a:lnSpc>
                <a:spcPct val="135000"/>
              </a:lnSpc>
              <a:buNone/>
            </a:pPr>
            <a:r>
              <a:rPr lang="en-US" sz="1000" dirty="0">
                <a:solidFill>
                  <a:srgbClr val="334155"/>
                </a:solidFill>
                <a:latin typeface="Calibri" pitchFamily="34" charset="0"/>
                <a:ea typeface="Calibri" pitchFamily="34" charset="-122"/>
                <a:cs typeface="Calibri" pitchFamily="34" charset="-120"/>
              </a:rPr>
              <a:t>• 데이터베이스당 1개만 존재</a:t>
            </a:r>
            <a:endParaRPr lang="en-US" sz="1000" dirty="0"/>
          </a:p>
        </p:txBody>
      </p:sp>
      <p:sp>
        <p:nvSpPr>
          <p:cNvPr id="22" name="Shape 18"/>
          <p:cNvSpPr/>
          <p:nvPr/>
        </p:nvSpPr>
        <p:spPr>
          <a:xfrm>
            <a:off x="6309360" y="1005840"/>
            <a:ext cx="2560320" cy="3840480"/>
          </a:xfrm>
          <a:prstGeom prst="rect">
            <a:avLst/>
          </a:prstGeom>
          <a:solidFill>
            <a:srgbClr val="FFFFFF"/>
          </a:solidFill>
          <a:ln/>
          <a:effectLst>
            <a:outerShdw blurRad="50800" dist="25400" dir="8100000" algn="bl" rotWithShape="0">
              <a:srgbClr val="000000">
                <a:alpha val="10000"/>
              </a:srgbClr>
            </a:outerShdw>
          </a:effectLst>
        </p:spPr>
      </p:sp>
      <p:sp>
        <p:nvSpPr>
          <p:cNvPr id="23" name="Shape 19"/>
          <p:cNvSpPr/>
          <p:nvPr/>
        </p:nvSpPr>
        <p:spPr>
          <a:xfrm>
            <a:off x="6309360" y="1005840"/>
            <a:ext cx="2560320" cy="64008"/>
          </a:xfrm>
          <a:prstGeom prst="rect">
            <a:avLst/>
          </a:prstGeom>
          <a:solidFill>
            <a:srgbClr val="8B5CF6"/>
          </a:solidFill>
          <a:ln/>
        </p:spPr>
      </p:sp>
      <p:sp>
        <p:nvSpPr>
          <p:cNvPr id="24" name="Shape 20"/>
          <p:cNvSpPr/>
          <p:nvPr/>
        </p:nvSpPr>
        <p:spPr>
          <a:xfrm>
            <a:off x="7178040" y="1234440"/>
            <a:ext cx="731520" cy="731520"/>
          </a:xfrm>
          <a:prstGeom prst="ellipse">
            <a:avLst/>
          </a:prstGeom>
          <a:solidFill>
            <a:srgbClr val="8B5CF6">
              <a:alpha val="12000"/>
            </a:srgbClr>
          </a:solidFill>
          <a:ln/>
        </p:spPr>
      </p:sp>
      <p:pic>
        <p:nvPicPr>
          <p:cNvPr id="25" name="Image 2" descr="preencoded.png"/>
          <p:cNvPicPr>
            <a:picLocks noChangeAspect="1"/>
          </p:cNvPicPr>
          <p:nvPr/>
        </p:nvPicPr>
        <p:blipFill>
          <a:blip r:embed="rId5"/>
          <a:stretch>
            <a:fillRect/>
          </a:stretch>
        </p:blipFill>
        <p:spPr>
          <a:xfrm>
            <a:off x="7315200" y="1371600"/>
            <a:ext cx="457200" cy="457200"/>
          </a:xfrm>
          <a:prstGeom prst="rect">
            <a:avLst/>
          </a:prstGeom>
        </p:spPr>
      </p:pic>
      <p:sp>
        <p:nvSpPr>
          <p:cNvPr id="26" name="Text 21"/>
          <p:cNvSpPr/>
          <p:nvPr/>
        </p:nvSpPr>
        <p:spPr>
          <a:xfrm>
            <a:off x="6446520" y="2103120"/>
            <a:ext cx="2286000" cy="320040"/>
          </a:xfrm>
          <a:prstGeom prst="rect">
            <a:avLst/>
          </a:prstGeom>
          <a:noFill/>
          <a:ln/>
        </p:spPr>
        <p:txBody>
          <a:bodyPr wrap="square" lIns="0" tIns="0" rIns="0" bIns="0" rtlCol="0" anchor="ctr"/>
          <a:lstStyle/>
          <a:p>
            <a:pPr marL="0" indent="0" algn="ctr">
              <a:buNone/>
            </a:pPr>
            <a:r>
              <a:rPr lang="en-US" sz="1500" b="1" dirty="0">
                <a:solidFill>
                  <a:srgbClr val="1A2744"/>
                </a:solidFill>
                <a:latin typeface="Arial" pitchFamily="34" charset="0"/>
                <a:ea typeface="Arial" pitchFamily="34" charset="-122"/>
                <a:cs typeface="Arial" pitchFamily="34" charset="-120"/>
              </a:rPr>
              <a:t>내부 단계</a:t>
            </a:r>
            <a:endParaRPr lang="en-US" sz="1500" dirty="0"/>
          </a:p>
        </p:txBody>
      </p:sp>
      <p:sp>
        <p:nvSpPr>
          <p:cNvPr id="27" name="Text 22"/>
          <p:cNvSpPr/>
          <p:nvPr/>
        </p:nvSpPr>
        <p:spPr>
          <a:xfrm>
            <a:off x="6446520" y="2423160"/>
            <a:ext cx="2286000" cy="228600"/>
          </a:xfrm>
          <a:prstGeom prst="rect">
            <a:avLst/>
          </a:prstGeom>
          <a:noFill/>
          <a:ln/>
        </p:spPr>
        <p:txBody>
          <a:bodyPr wrap="square" lIns="0" tIns="0" rIns="0" bIns="0" rtlCol="0" anchor="ctr"/>
          <a:lstStyle/>
          <a:p>
            <a:pPr marL="0" indent="0" algn="ctr">
              <a:buNone/>
            </a:pPr>
            <a:r>
              <a:rPr lang="en-US" sz="900" i="1" dirty="0">
                <a:solidFill>
                  <a:srgbClr val="94A3B8"/>
                </a:solidFill>
                <a:latin typeface="Calibri" pitchFamily="34" charset="0"/>
                <a:ea typeface="Calibri" pitchFamily="34" charset="-122"/>
                <a:cs typeface="Calibri" pitchFamily="34" charset="-120"/>
              </a:rPr>
              <a:t>Internal Level</a:t>
            </a:r>
            <a:endParaRPr lang="en-US" sz="900" dirty="0"/>
          </a:p>
        </p:txBody>
      </p:sp>
      <p:sp>
        <p:nvSpPr>
          <p:cNvPr id="28" name="Shape 23"/>
          <p:cNvSpPr/>
          <p:nvPr/>
        </p:nvSpPr>
        <p:spPr>
          <a:xfrm>
            <a:off x="6766560" y="2743200"/>
            <a:ext cx="1645920" cy="18288"/>
          </a:xfrm>
          <a:prstGeom prst="rect">
            <a:avLst/>
          </a:prstGeom>
          <a:solidFill>
            <a:srgbClr val="E2E8F0"/>
          </a:solidFill>
          <a:ln/>
        </p:spPr>
      </p:sp>
      <p:sp>
        <p:nvSpPr>
          <p:cNvPr id="29" name="Text 24"/>
          <p:cNvSpPr/>
          <p:nvPr/>
        </p:nvSpPr>
        <p:spPr>
          <a:xfrm>
            <a:off x="6446520" y="2834640"/>
            <a:ext cx="2286000" cy="1920240"/>
          </a:xfrm>
          <a:prstGeom prst="rect">
            <a:avLst/>
          </a:prstGeom>
          <a:noFill/>
          <a:ln/>
        </p:spPr>
        <p:txBody>
          <a:bodyPr wrap="square" lIns="0" tIns="0" rIns="0" bIns="0" rtlCol="0" anchor="ctr"/>
          <a:lstStyle/>
          <a:p>
            <a:pPr marL="0" indent="0">
              <a:lnSpc>
                <a:spcPct val="135000"/>
              </a:lnSpc>
              <a:buNone/>
            </a:pPr>
            <a:r>
              <a:rPr lang="en-US" sz="1000" dirty="0">
                <a:solidFill>
                  <a:srgbClr val="334155"/>
                </a:solidFill>
                <a:latin typeface="Calibri" pitchFamily="34" charset="0"/>
                <a:ea typeface="Calibri" pitchFamily="34" charset="-122"/>
                <a:cs typeface="Calibri" pitchFamily="34" charset="-120"/>
              </a:rPr>
              <a:t>• 물리적인 저장 장치의 관점에서 DB를 표현</a:t>
            </a:r>
            <a:endParaRPr lang="en-US" sz="1000" dirty="0"/>
          </a:p>
          <a:p>
            <a:pPr marL="0" indent="0">
              <a:lnSpc>
                <a:spcPct val="135000"/>
              </a:lnSpc>
              <a:buNone/>
            </a:pPr>
            <a:r>
              <a:rPr lang="en-US" sz="1000" dirty="0">
                <a:solidFill>
                  <a:srgbClr val="334155"/>
                </a:solidFill>
                <a:latin typeface="Calibri" pitchFamily="34" charset="0"/>
                <a:ea typeface="Calibri" pitchFamily="34" charset="-122"/>
                <a:cs typeface="Calibri" pitchFamily="34" charset="-120"/>
              </a:rPr>
              <a:t>• 내부 스키마: 물리적 저장 방법을 정의</a:t>
            </a:r>
            <a:endParaRPr lang="en-US" sz="1000" dirty="0"/>
          </a:p>
          <a:p>
            <a:pPr marL="0" indent="0">
              <a:lnSpc>
                <a:spcPct val="135000"/>
              </a:lnSpc>
              <a:buNone/>
            </a:pPr>
            <a:r>
              <a:rPr lang="en-US" sz="1000" dirty="0">
                <a:solidFill>
                  <a:srgbClr val="334155"/>
                </a:solidFill>
                <a:latin typeface="Calibri" pitchFamily="34" charset="0"/>
                <a:ea typeface="Calibri" pitchFamily="34" charset="-122"/>
                <a:cs typeface="Calibri" pitchFamily="34" charset="-120"/>
              </a:rPr>
              <a:t>• 레코드 구조, 필드 크기, 레코드 접근 경로 등 정의</a:t>
            </a:r>
            <a:endParaRPr lang="en-US" sz="1000" dirty="0"/>
          </a:p>
          <a:p>
            <a:pPr marL="0" indent="0">
              <a:lnSpc>
                <a:spcPct val="135000"/>
              </a:lnSpc>
              <a:buNone/>
            </a:pPr>
            <a:r>
              <a:rPr lang="en-US" sz="1000" dirty="0">
                <a:solidFill>
                  <a:srgbClr val="334155"/>
                </a:solidFill>
                <a:latin typeface="Calibri" pitchFamily="34" charset="0"/>
                <a:ea typeface="Calibri" pitchFamily="34" charset="-122"/>
                <a:cs typeface="Calibri" pitchFamily="34" charset="-120"/>
              </a:rPr>
              <a:t>• 데이터베이스당 1개만 존재</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Text 1"/>
          <p:cNvSpPr/>
          <p:nvPr/>
        </p:nvSpPr>
        <p:spPr>
          <a:xfrm>
            <a:off x="640080" y="228600"/>
            <a:ext cx="7863840" cy="502920"/>
          </a:xfrm>
          <a:prstGeom prst="rect">
            <a:avLst/>
          </a:prstGeom>
          <a:noFill/>
          <a:ln/>
        </p:spPr>
        <p:txBody>
          <a:bodyPr wrap="square" lIns="0" tIns="0" rIns="0" bIns="0" rtlCol="0" anchor="ctr"/>
          <a:lstStyle/>
          <a:p>
            <a:pPr marL="0" indent="0">
              <a:buNone/>
            </a:pPr>
            <a:r>
              <a:rPr lang="en-US" sz="2200" b="1" dirty="0">
                <a:solidFill>
                  <a:srgbClr val="1A2744"/>
                </a:solidFill>
                <a:latin typeface="Arial Black" pitchFamily="34" charset="0"/>
                <a:ea typeface="Arial Black" pitchFamily="34" charset="-122"/>
                <a:cs typeface="Arial Black" pitchFamily="34" charset="-120"/>
              </a:rPr>
              <a:t>3단계 구조 예시 — 쇼핑몰 고객 DB</a:t>
            </a:r>
            <a:endParaRPr lang="en-US" sz="2200" dirty="0"/>
          </a:p>
        </p:txBody>
      </p:sp>
      <p:sp>
        <p:nvSpPr>
          <p:cNvPr id="4" name="Shape 2"/>
          <p:cNvSpPr/>
          <p:nvPr/>
        </p:nvSpPr>
        <p:spPr>
          <a:xfrm>
            <a:off x="640080" y="777240"/>
            <a:ext cx="7863840" cy="18288"/>
          </a:xfrm>
          <a:prstGeom prst="rect">
            <a:avLst/>
          </a:prstGeom>
          <a:solidFill>
            <a:srgbClr val="E2E8F0"/>
          </a:solidFill>
          <a:ln/>
        </p:spPr>
      </p:sp>
      <p:sp>
        <p:nvSpPr>
          <p:cNvPr id="5" name="Text 3"/>
          <p:cNvSpPr/>
          <p:nvPr/>
        </p:nvSpPr>
        <p:spPr>
          <a:xfrm>
            <a:off x="8412480" y="4663440"/>
            <a:ext cx="457200" cy="320040"/>
          </a:xfrm>
          <a:prstGeom prst="rect">
            <a:avLst/>
          </a:prstGeom>
          <a:noFill/>
          <a:ln/>
        </p:spPr>
        <p:txBody>
          <a:bodyPr wrap="square" lIns="0" tIns="0" rIns="0" bIns="0"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9</a:t>
            </a:r>
            <a:endParaRPr lang="en-US" sz="1000" dirty="0"/>
          </a:p>
        </p:txBody>
      </p:sp>
      <p:sp>
        <p:nvSpPr>
          <p:cNvPr id="6" name="Text 4"/>
          <p:cNvSpPr/>
          <p:nvPr/>
        </p:nvSpPr>
        <p:spPr>
          <a:xfrm>
            <a:off x="640080" y="960120"/>
            <a:ext cx="3657600" cy="320040"/>
          </a:xfrm>
          <a:prstGeom prst="rect">
            <a:avLst/>
          </a:prstGeom>
          <a:noFill/>
          <a:ln/>
        </p:spPr>
        <p:txBody>
          <a:bodyPr wrap="square" lIns="0" tIns="0" rIns="0" bIns="0" rtlCol="0" anchor="ctr"/>
          <a:lstStyle/>
          <a:p>
            <a:pPr marL="0" indent="0">
              <a:buNone/>
            </a:pPr>
            <a:r>
              <a:rPr lang="en-US" sz="1300" b="1" dirty="0">
                <a:solidFill>
                  <a:srgbClr val="0891B2"/>
                </a:solidFill>
                <a:latin typeface="Arial" pitchFamily="34" charset="0"/>
                <a:ea typeface="Arial" pitchFamily="34" charset="-122"/>
                <a:cs typeface="Arial" pitchFamily="34" charset="-120"/>
              </a:rPr>
              <a:t>외부 단계 (사용자별 뷰)</a:t>
            </a:r>
            <a:endParaRPr lang="en-US" sz="1300" dirty="0"/>
          </a:p>
        </p:txBody>
      </p:sp>
      <p:sp>
        <p:nvSpPr>
          <p:cNvPr id="7" name="Shape 5"/>
          <p:cNvSpPr/>
          <p:nvPr/>
        </p:nvSpPr>
        <p:spPr>
          <a:xfrm>
            <a:off x="640080" y="1325880"/>
            <a:ext cx="3474720" cy="777240"/>
          </a:xfrm>
          <a:prstGeom prst="rect">
            <a:avLst/>
          </a:prstGeom>
          <a:solidFill>
            <a:srgbClr val="FFFFFF"/>
          </a:solidFill>
          <a:ln/>
          <a:effectLst>
            <a:outerShdw blurRad="76200" dist="25400" dir="8100000" algn="bl" rotWithShape="0">
              <a:srgbClr val="000000">
                <a:alpha val="8000"/>
              </a:srgbClr>
            </a:outerShdw>
          </a:effectLst>
        </p:spPr>
      </p:sp>
      <p:sp>
        <p:nvSpPr>
          <p:cNvPr id="8" name="Shape 6"/>
          <p:cNvSpPr/>
          <p:nvPr/>
        </p:nvSpPr>
        <p:spPr>
          <a:xfrm>
            <a:off x="640080" y="1325880"/>
            <a:ext cx="54864" cy="777240"/>
          </a:xfrm>
          <a:prstGeom prst="rect">
            <a:avLst/>
          </a:prstGeom>
          <a:solidFill>
            <a:srgbClr val="0891B2"/>
          </a:solidFill>
          <a:ln/>
        </p:spPr>
      </p:sp>
      <p:sp>
        <p:nvSpPr>
          <p:cNvPr id="9" name="Text 7"/>
          <p:cNvSpPr/>
          <p:nvPr/>
        </p:nvSpPr>
        <p:spPr>
          <a:xfrm>
            <a:off x="914400" y="1371600"/>
            <a:ext cx="3017520" cy="685800"/>
          </a:xfrm>
          <a:prstGeom prst="rect">
            <a:avLst/>
          </a:prstGeom>
          <a:noFill/>
          <a:ln/>
        </p:spPr>
        <p:txBody>
          <a:bodyPr wrap="square" lIns="0" tIns="0" rIns="0" bIns="0" rtlCol="0" anchor="ctr"/>
          <a:lstStyle/>
          <a:p>
            <a:pPr marL="0" indent="0">
              <a:lnSpc>
                <a:spcPct val="140000"/>
              </a:lnSpc>
              <a:buNone/>
            </a:pPr>
            <a:r>
              <a:rPr lang="en-US" sz="1000" b="1" dirty="0">
                <a:solidFill>
                  <a:srgbClr val="0891B2"/>
                </a:solidFill>
              </a:rPr>
              <a:t xml:space="preserve">고객 분석팀: </a:t>
            </a:r>
            <a:r>
              <a:rPr lang="en-US" sz="1000" dirty="0">
                <a:solidFill>
                  <a:srgbClr val="334155"/>
                </a:solidFill>
              </a:rPr>
              <a:t>고객번호, 이름, 등급</a:t>
            </a:r>
            <a:endParaRPr lang="en-US" sz="1000" dirty="0"/>
          </a:p>
          <a:p>
            <a:pPr marL="0" indent="0">
              <a:lnSpc>
                <a:spcPct val="140000"/>
              </a:lnSpc>
              <a:buNone/>
            </a:pPr>
            <a:r>
              <a:rPr lang="en-US" sz="1000" b="1" dirty="0">
                <a:solidFill>
                  <a:srgbClr val="0891B2"/>
                </a:solidFill>
              </a:rPr>
              <a:t xml:space="preserve">상품 배송팀: </a:t>
            </a:r>
            <a:r>
              <a:rPr lang="en-US" sz="1000" dirty="0">
                <a:solidFill>
                  <a:srgbClr val="334155"/>
                </a:solidFill>
              </a:rPr>
              <a:t>고객번호, 이름, 주소, 연락처</a:t>
            </a:r>
            <a:endParaRPr lang="en-US" sz="1000" dirty="0"/>
          </a:p>
        </p:txBody>
      </p:sp>
      <p:sp>
        <p:nvSpPr>
          <p:cNvPr id="10" name="Shape 8"/>
          <p:cNvSpPr/>
          <p:nvPr/>
        </p:nvSpPr>
        <p:spPr>
          <a:xfrm>
            <a:off x="4754880" y="1325880"/>
            <a:ext cx="3749040" cy="777240"/>
          </a:xfrm>
          <a:prstGeom prst="rect">
            <a:avLst/>
          </a:prstGeom>
          <a:solidFill>
            <a:srgbClr val="FFFFFF"/>
          </a:solidFill>
          <a:ln/>
          <a:effectLst>
            <a:outerShdw blurRad="76200" dist="25400" dir="8100000" algn="bl" rotWithShape="0">
              <a:srgbClr val="000000">
                <a:alpha val="8000"/>
              </a:srgbClr>
            </a:outerShdw>
          </a:effectLst>
        </p:spPr>
      </p:sp>
      <p:sp>
        <p:nvSpPr>
          <p:cNvPr id="11" name="Shape 9"/>
          <p:cNvSpPr/>
          <p:nvPr/>
        </p:nvSpPr>
        <p:spPr>
          <a:xfrm>
            <a:off x="4754880" y="1325880"/>
            <a:ext cx="54864" cy="777240"/>
          </a:xfrm>
          <a:prstGeom prst="rect">
            <a:avLst/>
          </a:prstGeom>
          <a:solidFill>
            <a:srgbClr val="0891B2"/>
          </a:solidFill>
          <a:ln/>
        </p:spPr>
      </p:sp>
      <p:sp>
        <p:nvSpPr>
          <p:cNvPr id="12" name="Text 10"/>
          <p:cNvSpPr/>
          <p:nvPr/>
        </p:nvSpPr>
        <p:spPr>
          <a:xfrm>
            <a:off x="5029200" y="1371600"/>
            <a:ext cx="3200400" cy="685800"/>
          </a:xfrm>
          <a:prstGeom prst="rect">
            <a:avLst/>
          </a:prstGeom>
          <a:noFill/>
          <a:ln/>
        </p:spPr>
        <p:txBody>
          <a:bodyPr wrap="square" lIns="0" tIns="0" rIns="0" bIns="0" rtlCol="0" anchor="ctr"/>
          <a:lstStyle/>
          <a:p>
            <a:pPr marL="0" indent="0">
              <a:lnSpc>
                <a:spcPct val="135000"/>
              </a:lnSpc>
              <a:buNone/>
            </a:pPr>
            <a:r>
              <a:rPr lang="en-US" sz="1050" dirty="0">
                <a:solidFill>
                  <a:srgbClr val="334155"/>
                </a:solidFill>
                <a:latin typeface="Calibri" pitchFamily="34" charset="0"/>
                <a:ea typeface="Calibri" pitchFamily="34" charset="-122"/>
                <a:cs typeface="Calibri" pitchFamily="34" charset="-120"/>
              </a:rPr>
              <a:t>→ 각 팀이 필요로 하는 데이터만 포함하는 별도의 외부 스키마 보유</a:t>
            </a:r>
            <a:endParaRPr lang="en-US" sz="1050" dirty="0"/>
          </a:p>
          <a:p>
            <a:pPr marL="0" indent="0">
              <a:lnSpc>
                <a:spcPct val="135000"/>
              </a:lnSpc>
              <a:buNone/>
            </a:pPr>
            <a:r>
              <a:rPr lang="en-US" sz="1050" dirty="0">
                <a:solidFill>
                  <a:srgbClr val="334155"/>
                </a:solidFill>
                <a:latin typeface="Calibri" pitchFamily="34" charset="0"/>
                <a:ea typeface="Calibri" pitchFamily="34" charset="-122"/>
                <a:cs typeface="Calibri" pitchFamily="34" charset="-120"/>
              </a:rPr>
              <a:t>→ 외부 스키마는 여러 개 존재 가능</a:t>
            </a:r>
            <a:endParaRPr lang="en-US" sz="1050" dirty="0"/>
          </a:p>
        </p:txBody>
      </p:sp>
      <p:sp>
        <p:nvSpPr>
          <p:cNvPr id="13" name="Text 11"/>
          <p:cNvSpPr/>
          <p:nvPr/>
        </p:nvSpPr>
        <p:spPr>
          <a:xfrm>
            <a:off x="640080" y="2331720"/>
            <a:ext cx="3657600" cy="320040"/>
          </a:xfrm>
          <a:prstGeom prst="rect">
            <a:avLst/>
          </a:prstGeom>
          <a:noFill/>
          <a:ln/>
        </p:spPr>
        <p:txBody>
          <a:bodyPr wrap="square" lIns="0" tIns="0" rIns="0" bIns="0" rtlCol="0" anchor="ctr"/>
          <a:lstStyle/>
          <a:p>
            <a:pPr marL="0" indent="0">
              <a:buNone/>
            </a:pPr>
            <a:r>
              <a:rPr lang="en-US" sz="1300" b="1" dirty="0">
                <a:solidFill>
                  <a:srgbClr val="F59E0B"/>
                </a:solidFill>
                <a:latin typeface="Arial" pitchFamily="34" charset="0"/>
                <a:ea typeface="Arial" pitchFamily="34" charset="-122"/>
                <a:cs typeface="Arial" pitchFamily="34" charset="-120"/>
              </a:rPr>
              <a:t>개념 단계 (전체 논리적 구조)</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40080" y="2697480"/>
          <a:ext cx="7863840" cy="228600"/>
        </p:xfrm>
        <a:graphic>
          <a:graphicData uri="http://schemas.openxmlformats.org/drawingml/2006/table">
            <a:tbl>
              <a:tblPr/>
              <a:tblGrid>
                <a:gridCol w="109728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0">
                <a:tc>
                  <a:txBody>
                    <a:bodyPr/>
                    <a:lstStyle/>
                    <a:p>
                      <a:pPr marL="0" indent="0" algn="ctr">
                        <a:buNone/>
                      </a:pPr>
                      <a:r>
                        <a:rPr lang="en-US" sz="900" b="1" dirty="0">
                          <a:solidFill>
                            <a:srgbClr val="FFFFFF"/>
                          </a:solidFill>
                        </a:rPr>
                        <a:t>고객번호</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59E0B"/>
                    </a:solidFill>
                  </a:tcPr>
                </a:tc>
                <a:tc>
                  <a:txBody>
                    <a:bodyPr/>
                    <a:lstStyle/>
                    <a:p>
                      <a:pPr marL="0" indent="0" algn="ctr">
                        <a:buNone/>
                      </a:pPr>
                      <a:r>
                        <a:rPr lang="en-US" sz="900" b="1" dirty="0">
                          <a:solidFill>
                            <a:srgbClr val="FFFFFF"/>
                          </a:solidFill>
                        </a:rPr>
                        <a:t>이름</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59E0B"/>
                    </a:solidFill>
                  </a:tcPr>
                </a:tc>
                <a:tc>
                  <a:txBody>
                    <a:bodyPr/>
                    <a:lstStyle/>
                    <a:p>
                      <a:pPr marL="0" indent="0" algn="ctr">
                        <a:buNone/>
                      </a:pPr>
                      <a:r>
                        <a:rPr lang="en-US" sz="900" b="1" dirty="0">
                          <a:solidFill>
                            <a:srgbClr val="FFFFFF"/>
                          </a:solidFill>
                        </a:rPr>
                        <a:t>주소</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59E0B"/>
                    </a:solidFill>
                  </a:tcPr>
                </a:tc>
                <a:tc>
                  <a:txBody>
                    <a:bodyPr/>
                    <a:lstStyle/>
                    <a:p>
                      <a:pPr marL="0" indent="0" algn="ctr">
                        <a:buNone/>
                      </a:pPr>
                      <a:r>
                        <a:rPr lang="en-US" sz="900" b="1" dirty="0">
                          <a:solidFill>
                            <a:srgbClr val="FFFFFF"/>
                          </a:solidFill>
                        </a:rPr>
                        <a:t>연락처</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59E0B"/>
                    </a:solidFill>
                  </a:tcPr>
                </a:tc>
                <a:tc>
                  <a:txBody>
                    <a:bodyPr/>
                    <a:lstStyle/>
                    <a:p>
                      <a:pPr marL="0" indent="0" algn="ctr">
                        <a:buNone/>
                      </a:pPr>
                      <a:r>
                        <a:rPr lang="en-US" sz="900" b="1" dirty="0">
                          <a:solidFill>
                            <a:srgbClr val="FFFFFF"/>
                          </a:solidFill>
                        </a:rPr>
                        <a:t>등급</a:t>
                      </a:r>
                      <a:endParaRPr lang="en-US" sz="900" dirty="0"/>
                    </a:p>
                  </a:txBody>
                  <a:tcP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59E0B"/>
                    </a:solidFill>
                  </a:tcPr>
                </a:tc>
                <a:extLst>
                  <a:ext uri="{0D108BD9-81ED-4DB2-BD59-A6C34878D82A}">
                    <a16:rowId xmlns:a16="http://schemas.microsoft.com/office/drawing/2014/main" val="10000"/>
                  </a:ext>
                </a:extLst>
              </a:tr>
            </a:tbl>
          </a:graphicData>
        </a:graphic>
      </p:graphicFrame>
      <p:sp>
        <p:nvSpPr>
          <p:cNvPr id="15" name="Text 12"/>
          <p:cNvSpPr/>
          <p:nvPr/>
        </p:nvSpPr>
        <p:spPr>
          <a:xfrm>
            <a:off x="640080" y="3108960"/>
            <a:ext cx="7315200" cy="274320"/>
          </a:xfrm>
          <a:prstGeom prst="rect">
            <a:avLst/>
          </a:prstGeom>
          <a:noFill/>
          <a:ln/>
        </p:spPr>
        <p:txBody>
          <a:bodyPr wrap="square" lIns="0" tIns="0" rIns="0" bIns="0" rtlCol="0" anchor="ctr"/>
          <a:lstStyle/>
          <a:p>
            <a:pPr marL="0" indent="0">
              <a:buNone/>
            </a:pPr>
            <a:r>
              <a:rPr lang="en-US" sz="1050" dirty="0">
                <a:solidFill>
                  <a:srgbClr val="334155"/>
                </a:solidFill>
                <a:latin typeface="Calibri" pitchFamily="34" charset="0"/>
                <a:ea typeface="Calibri" pitchFamily="34" charset="-122"/>
                <a:cs typeface="Calibri" pitchFamily="34" charset="-120"/>
              </a:rPr>
              <a:t>→ 모든 사용자의 데이터를 종합하여 구성. DB당 1개만 존재</a:t>
            </a:r>
            <a:endParaRPr lang="en-US" sz="1050" dirty="0"/>
          </a:p>
        </p:txBody>
      </p:sp>
      <p:sp>
        <p:nvSpPr>
          <p:cNvPr id="16" name="Text 13"/>
          <p:cNvSpPr/>
          <p:nvPr/>
        </p:nvSpPr>
        <p:spPr>
          <a:xfrm>
            <a:off x="640080" y="3566160"/>
            <a:ext cx="3657600" cy="320040"/>
          </a:xfrm>
          <a:prstGeom prst="rect">
            <a:avLst/>
          </a:prstGeom>
          <a:noFill/>
          <a:ln/>
        </p:spPr>
        <p:txBody>
          <a:bodyPr wrap="square" lIns="0" tIns="0" rIns="0" bIns="0" rtlCol="0" anchor="ctr"/>
          <a:lstStyle/>
          <a:p>
            <a:pPr marL="0" indent="0">
              <a:buNone/>
            </a:pPr>
            <a:r>
              <a:rPr lang="en-US" sz="1300" b="1" dirty="0">
                <a:solidFill>
                  <a:srgbClr val="8B5CF6"/>
                </a:solidFill>
                <a:latin typeface="Arial" pitchFamily="34" charset="0"/>
                <a:ea typeface="Arial" pitchFamily="34" charset="-122"/>
                <a:cs typeface="Arial" pitchFamily="34" charset="-120"/>
              </a:rPr>
              <a:t>내부 단계 (물리적 저장 구조)</a:t>
            </a:r>
            <a:endParaRPr lang="en-US" sz="1300" dirty="0"/>
          </a:p>
        </p:txBody>
      </p:sp>
      <p:sp>
        <p:nvSpPr>
          <p:cNvPr id="17" name="Shape 14"/>
          <p:cNvSpPr/>
          <p:nvPr/>
        </p:nvSpPr>
        <p:spPr>
          <a:xfrm>
            <a:off x="640080" y="3931920"/>
            <a:ext cx="7863840" cy="960120"/>
          </a:xfrm>
          <a:prstGeom prst="rect">
            <a:avLst/>
          </a:prstGeom>
          <a:solidFill>
            <a:srgbClr val="1E293B"/>
          </a:solidFill>
          <a:ln/>
        </p:spPr>
      </p:sp>
      <p:sp>
        <p:nvSpPr>
          <p:cNvPr id="18" name="Text 15"/>
          <p:cNvSpPr/>
          <p:nvPr/>
        </p:nvSpPr>
        <p:spPr>
          <a:xfrm>
            <a:off x="914400" y="3931920"/>
            <a:ext cx="7315200" cy="960120"/>
          </a:xfrm>
          <a:prstGeom prst="rect">
            <a:avLst/>
          </a:prstGeom>
          <a:noFill/>
          <a:ln/>
        </p:spPr>
        <p:txBody>
          <a:bodyPr wrap="square" lIns="0" tIns="0" rIns="0" bIns="0" rtlCol="0" anchor="ctr"/>
          <a:lstStyle/>
          <a:p>
            <a:pPr marL="0" indent="0">
              <a:buNone/>
            </a:pPr>
            <a:r>
              <a:rPr lang="en-US" sz="1000" dirty="0">
                <a:solidFill>
                  <a:srgbClr val="22D3EE"/>
                </a:solidFill>
                <a:latin typeface="Consolas" pitchFamily="34" charset="0"/>
                <a:ea typeface="Consolas" pitchFamily="34" charset="-122"/>
                <a:cs typeface="Consolas" pitchFamily="34" charset="-120"/>
              </a:rPr>
              <a:t>STORED RECORD  customer {
</a:t>
            </a:r>
            <a:r>
              <a:rPr lang="en-US" sz="1000" dirty="0">
                <a:solidFill>
                  <a:srgbClr val="E2E8F0"/>
                </a:solidFill>
                <a:latin typeface="Consolas" pitchFamily="34" charset="0"/>
                <a:ea typeface="Consolas" pitchFamily="34" charset="-122"/>
                <a:cs typeface="Consolas" pitchFamily="34" charset="-120"/>
              </a:rPr>
              <a:t xml:space="preserve">  cust_no   INT(10)     INDEX  cust_idx;
  name      CHAR(20);   addr  CHAR(30);
  phone     CHAR(13)    INDEX  phone_idx;
  grade     CHAR(10);
</a:t>
            </a:r>
            <a:r>
              <a:rPr lang="en-US" sz="1000" dirty="0">
                <a:solidFill>
                  <a:srgbClr val="94A3B8"/>
                </a:solidFill>
                <a:latin typeface="Consolas" pitchFamily="34" charset="0"/>
                <a:ea typeface="Consolas" pitchFamily="34" charset="-122"/>
                <a:cs typeface="Consolas" pitchFamily="34" charset="-120"/>
              </a:rPr>
              <a:t>}  // 총 83바이트, 인덱스 2개</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Text 1"/>
          <p:cNvSpPr/>
          <p:nvPr/>
        </p:nvSpPr>
        <p:spPr>
          <a:xfrm>
            <a:off x="640080" y="228600"/>
            <a:ext cx="7863840" cy="502920"/>
          </a:xfrm>
          <a:prstGeom prst="rect">
            <a:avLst/>
          </a:prstGeom>
          <a:noFill/>
          <a:ln/>
        </p:spPr>
        <p:txBody>
          <a:bodyPr wrap="square" lIns="0" tIns="0" rIns="0" bIns="0" rtlCol="0" anchor="ctr"/>
          <a:lstStyle/>
          <a:p>
            <a:pPr marL="0" indent="0">
              <a:buNone/>
            </a:pPr>
            <a:r>
              <a:rPr lang="en-US" sz="2200" b="1" dirty="0">
                <a:solidFill>
                  <a:srgbClr val="1A2744"/>
                </a:solidFill>
                <a:latin typeface="Arial Black" pitchFamily="34" charset="0"/>
                <a:ea typeface="Arial Black" pitchFamily="34" charset="-122"/>
                <a:cs typeface="Arial Black" pitchFamily="34" charset="-120"/>
              </a:rPr>
              <a:t>데이터 독립성</a:t>
            </a:r>
            <a:endParaRPr lang="en-US" sz="2200" dirty="0"/>
          </a:p>
        </p:txBody>
      </p:sp>
      <p:sp>
        <p:nvSpPr>
          <p:cNvPr id="4" name="Shape 2"/>
          <p:cNvSpPr/>
          <p:nvPr/>
        </p:nvSpPr>
        <p:spPr>
          <a:xfrm>
            <a:off x="640080" y="777240"/>
            <a:ext cx="7863840" cy="18288"/>
          </a:xfrm>
          <a:prstGeom prst="rect">
            <a:avLst/>
          </a:prstGeom>
          <a:solidFill>
            <a:srgbClr val="E2E8F0"/>
          </a:solidFill>
          <a:ln/>
        </p:spPr>
      </p:sp>
      <p:sp>
        <p:nvSpPr>
          <p:cNvPr id="5" name="Text 3"/>
          <p:cNvSpPr/>
          <p:nvPr/>
        </p:nvSpPr>
        <p:spPr>
          <a:xfrm>
            <a:off x="8412480" y="4663440"/>
            <a:ext cx="457200" cy="320040"/>
          </a:xfrm>
          <a:prstGeom prst="rect">
            <a:avLst/>
          </a:prstGeom>
          <a:noFill/>
          <a:ln/>
        </p:spPr>
        <p:txBody>
          <a:bodyPr wrap="square" lIns="0" tIns="0" rIns="0" bIns="0"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10</a:t>
            </a:r>
            <a:endParaRPr lang="en-US" sz="1000" dirty="0"/>
          </a:p>
        </p:txBody>
      </p:sp>
      <p:sp>
        <p:nvSpPr>
          <p:cNvPr id="6" name="Shape 4"/>
          <p:cNvSpPr/>
          <p:nvPr/>
        </p:nvSpPr>
        <p:spPr>
          <a:xfrm>
            <a:off x="640080" y="1005840"/>
            <a:ext cx="7863840" cy="640080"/>
          </a:xfrm>
          <a:prstGeom prst="rect">
            <a:avLst/>
          </a:prstGeom>
          <a:solidFill>
            <a:srgbClr val="0891B2">
              <a:alpha val="8000"/>
            </a:srgbClr>
          </a:solidFill>
          <a:ln/>
        </p:spPr>
      </p:sp>
      <p:sp>
        <p:nvSpPr>
          <p:cNvPr id="7" name="Text 5"/>
          <p:cNvSpPr/>
          <p:nvPr/>
        </p:nvSpPr>
        <p:spPr>
          <a:xfrm>
            <a:off x="914400" y="1005840"/>
            <a:ext cx="7315200" cy="640080"/>
          </a:xfrm>
          <a:prstGeom prst="rect">
            <a:avLst/>
          </a:prstGeom>
          <a:noFill/>
          <a:ln/>
        </p:spPr>
        <p:txBody>
          <a:bodyPr wrap="square" lIns="0" tIns="0" rIns="0" bIns="0" rtlCol="0" anchor="ctr"/>
          <a:lstStyle/>
          <a:p>
            <a:pPr marL="0" indent="0">
              <a:buNone/>
            </a:pPr>
            <a:r>
              <a:rPr lang="en-US" sz="1200" b="1" dirty="0">
                <a:solidFill>
                  <a:srgbClr val="0891B2"/>
                </a:solidFill>
                <a:latin typeface="Calibri" pitchFamily="34" charset="0"/>
                <a:ea typeface="Calibri" pitchFamily="34" charset="-122"/>
                <a:cs typeface="Calibri" pitchFamily="34" charset="-120"/>
              </a:rPr>
              <a:t>하위 스키마를 변경하더라도 상위 스키마가 영향을 받지 않는 것 = 데이터 독립성 (Data Independency)</a:t>
            </a:r>
            <a:endParaRPr lang="en-US" sz="1200" dirty="0"/>
          </a:p>
        </p:txBody>
      </p:sp>
      <p:sp>
        <p:nvSpPr>
          <p:cNvPr id="8" name="Shape 6"/>
          <p:cNvSpPr/>
          <p:nvPr/>
        </p:nvSpPr>
        <p:spPr>
          <a:xfrm>
            <a:off x="640080" y="1874520"/>
            <a:ext cx="3749040" cy="2880360"/>
          </a:xfrm>
          <a:prstGeom prst="rect">
            <a:avLst/>
          </a:prstGeom>
          <a:solidFill>
            <a:srgbClr val="FFFFFF"/>
          </a:solidFill>
          <a:ln/>
          <a:effectLst>
            <a:outerShdw blurRad="50800" dist="25400" dir="8100000" algn="bl" rotWithShape="0">
              <a:srgbClr val="000000">
                <a:alpha val="10000"/>
              </a:srgbClr>
            </a:outerShdw>
          </a:effectLst>
        </p:spPr>
      </p:sp>
      <p:sp>
        <p:nvSpPr>
          <p:cNvPr id="9" name="Shape 7"/>
          <p:cNvSpPr/>
          <p:nvPr/>
        </p:nvSpPr>
        <p:spPr>
          <a:xfrm>
            <a:off x="640080" y="1874520"/>
            <a:ext cx="3749040" cy="64008"/>
          </a:xfrm>
          <a:prstGeom prst="rect">
            <a:avLst/>
          </a:prstGeom>
          <a:solidFill>
            <a:srgbClr val="0891B2"/>
          </a:solidFill>
          <a:ln/>
        </p:spPr>
      </p:sp>
      <p:pic>
        <p:nvPicPr>
          <p:cNvPr id="10" name="Image 0" descr="preencoded.png"/>
          <p:cNvPicPr>
            <a:picLocks noChangeAspect="1"/>
          </p:cNvPicPr>
          <p:nvPr/>
        </p:nvPicPr>
        <p:blipFill>
          <a:blip r:embed="rId3"/>
          <a:stretch>
            <a:fillRect/>
          </a:stretch>
        </p:blipFill>
        <p:spPr>
          <a:xfrm>
            <a:off x="822960" y="2057400"/>
            <a:ext cx="320040" cy="320040"/>
          </a:xfrm>
          <a:prstGeom prst="rect">
            <a:avLst/>
          </a:prstGeom>
        </p:spPr>
      </p:pic>
      <p:sp>
        <p:nvSpPr>
          <p:cNvPr id="11" name="Text 8"/>
          <p:cNvSpPr/>
          <p:nvPr/>
        </p:nvSpPr>
        <p:spPr>
          <a:xfrm>
            <a:off x="1234440" y="2011680"/>
            <a:ext cx="2926080" cy="365760"/>
          </a:xfrm>
          <a:prstGeom prst="rect">
            <a:avLst/>
          </a:prstGeom>
          <a:noFill/>
          <a:ln/>
        </p:spPr>
        <p:txBody>
          <a:bodyPr wrap="square" lIns="0" tIns="0" rIns="0" bIns="0" rtlCol="0" anchor="ctr"/>
          <a:lstStyle/>
          <a:p>
            <a:pPr marL="0" indent="0">
              <a:buNone/>
            </a:pPr>
            <a:r>
              <a:rPr lang="en-US" sz="1500" b="1" dirty="0">
                <a:solidFill>
                  <a:srgbClr val="1A2744"/>
                </a:solidFill>
                <a:latin typeface="Arial" pitchFamily="34" charset="0"/>
                <a:ea typeface="Arial" pitchFamily="34" charset="-122"/>
                <a:cs typeface="Arial" pitchFamily="34" charset="-120"/>
              </a:rPr>
              <a:t>논리적 데이터 독립성</a:t>
            </a:r>
            <a:endParaRPr lang="en-US" sz="1500" dirty="0"/>
          </a:p>
        </p:txBody>
      </p:sp>
      <p:sp>
        <p:nvSpPr>
          <p:cNvPr id="12" name="Shape 9"/>
          <p:cNvSpPr/>
          <p:nvPr/>
        </p:nvSpPr>
        <p:spPr>
          <a:xfrm>
            <a:off x="822960" y="2468880"/>
            <a:ext cx="3383280" cy="365760"/>
          </a:xfrm>
          <a:prstGeom prst="roundRect">
            <a:avLst>
              <a:gd name="adj" fmla="val 12500"/>
            </a:avLst>
          </a:prstGeom>
          <a:solidFill>
            <a:srgbClr val="0891B2">
              <a:alpha val="10000"/>
            </a:srgbClr>
          </a:solidFill>
          <a:ln/>
        </p:spPr>
      </p:sp>
      <p:sp>
        <p:nvSpPr>
          <p:cNvPr id="13" name="Text 10"/>
          <p:cNvSpPr/>
          <p:nvPr/>
        </p:nvSpPr>
        <p:spPr>
          <a:xfrm>
            <a:off x="914400" y="2468880"/>
            <a:ext cx="3200400" cy="365760"/>
          </a:xfrm>
          <a:prstGeom prst="rect">
            <a:avLst/>
          </a:prstGeom>
          <a:noFill/>
          <a:ln/>
        </p:spPr>
        <p:txBody>
          <a:bodyPr wrap="square" lIns="0" tIns="0" rIns="0" bIns="0" rtlCol="0" anchor="ctr"/>
          <a:lstStyle/>
          <a:p>
            <a:pPr marL="0" indent="0">
              <a:buNone/>
            </a:pPr>
            <a:r>
              <a:rPr lang="en-US" sz="1000" b="1" dirty="0">
                <a:solidFill>
                  <a:srgbClr val="0891B2"/>
                </a:solidFill>
                <a:latin typeface="Calibri" pitchFamily="34" charset="0"/>
                <a:ea typeface="Calibri" pitchFamily="34" charset="-122"/>
                <a:cs typeface="Calibri" pitchFamily="34" charset="-120"/>
              </a:rPr>
              <a:t>응용 인터페이스 (외부 ↔ 개념)</a:t>
            </a:r>
            <a:endParaRPr lang="en-US" sz="1000" dirty="0"/>
          </a:p>
        </p:txBody>
      </p:sp>
      <p:sp>
        <p:nvSpPr>
          <p:cNvPr id="14" name="Text 11"/>
          <p:cNvSpPr/>
          <p:nvPr/>
        </p:nvSpPr>
        <p:spPr>
          <a:xfrm>
            <a:off x="822960" y="2926080"/>
            <a:ext cx="3383280" cy="548640"/>
          </a:xfrm>
          <a:prstGeom prst="rect">
            <a:avLst/>
          </a:prstGeom>
          <a:noFill/>
          <a:ln/>
        </p:spPr>
        <p:txBody>
          <a:bodyPr wrap="square" lIns="0" tIns="0" rIns="0" bIns="0"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개념 스키마가 변경되어도 외부 스키마는 영향을 받지 않음. 관련 외부/개념 사상만 수정하면 됨</a:t>
            </a:r>
            <a:endParaRPr lang="en-US" sz="1200" dirty="0"/>
          </a:p>
        </p:txBody>
      </p:sp>
      <p:sp>
        <p:nvSpPr>
          <p:cNvPr id="15" name="Shape 12"/>
          <p:cNvSpPr/>
          <p:nvPr/>
        </p:nvSpPr>
        <p:spPr>
          <a:xfrm>
            <a:off x="1005840" y="3566160"/>
            <a:ext cx="3017520" cy="18288"/>
          </a:xfrm>
          <a:prstGeom prst="rect">
            <a:avLst/>
          </a:prstGeom>
          <a:solidFill>
            <a:srgbClr val="E2E8F0"/>
          </a:solidFill>
          <a:ln/>
        </p:spPr>
      </p:sp>
      <p:sp>
        <p:nvSpPr>
          <p:cNvPr id="16" name="Text 13"/>
          <p:cNvSpPr/>
          <p:nvPr/>
        </p:nvSpPr>
        <p:spPr>
          <a:xfrm>
            <a:off x="822960" y="3657600"/>
            <a:ext cx="3383280" cy="822960"/>
          </a:xfrm>
          <a:prstGeom prst="rect">
            <a:avLst/>
          </a:prstGeom>
          <a:noFill/>
          <a:ln/>
        </p:spPr>
        <p:txBody>
          <a:bodyPr wrap="square" lIns="0" tIns="0" rIns="0" bIns="0" rtlCol="0" anchor="ctr"/>
          <a:lstStyle/>
          <a:p>
            <a:pPr marL="0" indent="0">
              <a:lnSpc>
                <a:spcPct val="130000"/>
              </a:lnSpc>
              <a:buNone/>
            </a:pPr>
            <a:r>
              <a:rPr lang="en-US" sz="1100" i="1" dirty="0">
                <a:solidFill>
                  <a:srgbClr val="94A3B8"/>
                </a:solidFill>
                <a:latin typeface="Calibri" pitchFamily="34" charset="0"/>
                <a:ea typeface="Calibri" pitchFamily="34" charset="-122"/>
                <a:cs typeface="Calibri" pitchFamily="34" charset="-120"/>
              </a:rPr>
              <a:t>예: 개념 스키마에서 '전화번호'를 '연락처'로 변경해도, 외부 스키마와 사상(매핑)만 수정하면 됨</a:t>
            </a:r>
            <a:endParaRPr lang="en-US" sz="1100" dirty="0"/>
          </a:p>
        </p:txBody>
      </p:sp>
      <p:sp>
        <p:nvSpPr>
          <p:cNvPr id="17" name="Shape 14"/>
          <p:cNvSpPr/>
          <p:nvPr/>
        </p:nvSpPr>
        <p:spPr>
          <a:xfrm>
            <a:off x="4754880" y="1874520"/>
            <a:ext cx="3749040" cy="2880360"/>
          </a:xfrm>
          <a:prstGeom prst="rect">
            <a:avLst/>
          </a:prstGeom>
          <a:solidFill>
            <a:srgbClr val="FFFFFF"/>
          </a:solidFill>
          <a:ln/>
          <a:effectLst>
            <a:outerShdw blurRad="50800" dist="25400" dir="8100000" algn="bl" rotWithShape="0">
              <a:srgbClr val="000000">
                <a:alpha val="10000"/>
              </a:srgbClr>
            </a:outerShdw>
          </a:effectLst>
        </p:spPr>
      </p:sp>
      <p:sp>
        <p:nvSpPr>
          <p:cNvPr id="18" name="Shape 15"/>
          <p:cNvSpPr/>
          <p:nvPr/>
        </p:nvSpPr>
        <p:spPr>
          <a:xfrm>
            <a:off x="4754880" y="1874520"/>
            <a:ext cx="3749040" cy="64008"/>
          </a:xfrm>
          <a:prstGeom prst="rect">
            <a:avLst/>
          </a:prstGeom>
          <a:solidFill>
            <a:srgbClr val="8B5CF6"/>
          </a:solidFill>
          <a:ln/>
        </p:spPr>
      </p:sp>
      <p:pic>
        <p:nvPicPr>
          <p:cNvPr id="19" name="Image 1" descr="preencoded.png"/>
          <p:cNvPicPr>
            <a:picLocks noChangeAspect="1"/>
          </p:cNvPicPr>
          <p:nvPr/>
        </p:nvPicPr>
        <p:blipFill>
          <a:blip r:embed="rId3"/>
          <a:stretch>
            <a:fillRect/>
          </a:stretch>
        </p:blipFill>
        <p:spPr>
          <a:xfrm>
            <a:off x="4937760" y="2057400"/>
            <a:ext cx="320040" cy="320040"/>
          </a:xfrm>
          <a:prstGeom prst="rect">
            <a:avLst/>
          </a:prstGeom>
        </p:spPr>
      </p:pic>
      <p:sp>
        <p:nvSpPr>
          <p:cNvPr id="20" name="Text 16"/>
          <p:cNvSpPr/>
          <p:nvPr/>
        </p:nvSpPr>
        <p:spPr>
          <a:xfrm>
            <a:off x="5349240" y="2011680"/>
            <a:ext cx="2926080" cy="365760"/>
          </a:xfrm>
          <a:prstGeom prst="rect">
            <a:avLst/>
          </a:prstGeom>
          <a:noFill/>
          <a:ln/>
        </p:spPr>
        <p:txBody>
          <a:bodyPr wrap="square" lIns="0" tIns="0" rIns="0" bIns="0" rtlCol="0" anchor="ctr"/>
          <a:lstStyle/>
          <a:p>
            <a:pPr marL="0" indent="0">
              <a:buNone/>
            </a:pPr>
            <a:r>
              <a:rPr lang="en-US" sz="1500" b="1" dirty="0">
                <a:solidFill>
                  <a:srgbClr val="1A2744"/>
                </a:solidFill>
                <a:latin typeface="Arial" pitchFamily="34" charset="0"/>
                <a:ea typeface="Arial" pitchFamily="34" charset="-122"/>
                <a:cs typeface="Arial" pitchFamily="34" charset="-120"/>
              </a:rPr>
              <a:t>물리적 데이터 독립성</a:t>
            </a:r>
            <a:endParaRPr lang="en-US" sz="1500" dirty="0"/>
          </a:p>
        </p:txBody>
      </p:sp>
      <p:sp>
        <p:nvSpPr>
          <p:cNvPr id="21" name="Shape 17"/>
          <p:cNvSpPr/>
          <p:nvPr/>
        </p:nvSpPr>
        <p:spPr>
          <a:xfrm>
            <a:off x="4937760" y="2468880"/>
            <a:ext cx="3383280" cy="365760"/>
          </a:xfrm>
          <a:prstGeom prst="roundRect">
            <a:avLst>
              <a:gd name="adj" fmla="val 12500"/>
            </a:avLst>
          </a:prstGeom>
          <a:solidFill>
            <a:srgbClr val="8B5CF6">
              <a:alpha val="10000"/>
            </a:srgbClr>
          </a:solidFill>
          <a:ln/>
        </p:spPr>
      </p:sp>
      <p:sp>
        <p:nvSpPr>
          <p:cNvPr id="22" name="Text 18"/>
          <p:cNvSpPr/>
          <p:nvPr/>
        </p:nvSpPr>
        <p:spPr>
          <a:xfrm>
            <a:off x="5029200" y="2468880"/>
            <a:ext cx="3200400" cy="365760"/>
          </a:xfrm>
          <a:prstGeom prst="rect">
            <a:avLst/>
          </a:prstGeom>
          <a:noFill/>
          <a:ln/>
        </p:spPr>
        <p:txBody>
          <a:bodyPr wrap="square" lIns="0" tIns="0" rIns="0" bIns="0" rtlCol="0" anchor="ctr"/>
          <a:lstStyle/>
          <a:p>
            <a:pPr marL="0" indent="0">
              <a:buNone/>
            </a:pPr>
            <a:r>
              <a:rPr lang="en-US" sz="1000" b="1" dirty="0">
                <a:solidFill>
                  <a:srgbClr val="8B5CF6"/>
                </a:solidFill>
                <a:latin typeface="Calibri" pitchFamily="34" charset="0"/>
                <a:ea typeface="Calibri" pitchFamily="34" charset="-122"/>
                <a:cs typeface="Calibri" pitchFamily="34" charset="-120"/>
              </a:rPr>
              <a:t>저장 인터페이스 (개념 ↔ 내부)</a:t>
            </a:r>
            <a:endParaRPr lang="en-US" sz="1000" dirty="0"/>
          </a:p>
        </p:txBody>
      </p:sp>
      <p:sp>
        <p:nvSpPr>
          <p:cNvPr id="23" name="Text 19"/>
          <p:cNvSpPr/>
          <p:nvPr/>
        </p:nvSpPr>
        <p:spPr>
          <a:xfrm>
            <a:off x="4937760" y="2926080"/>
            <a:ext cx="3383280" cy="548640"/>
          </a:xfrm>
          <a:prstGeom prst="rect">
            <a:avLst/>
          </a:prstGeom>
          <a:noFill/>
          <a:ln/>
        </p:spPr>
        <p:txBody>
          <a:bodyPr wrap="square" lIns="0" tIns="0" rIns="0" bIns="0"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내부 스키마가 변경되어도 개념 스키마는 영향을 받지 않음. 관련 개념/내부 사상만 수정하면 됨</a:t>
            </a:r>
            <a:endParaRPr lang="en-US" sz="1200" dirty="0"/>
          </a:p>
        </p:txBody>
      </p:sp>
      <p:sp>
        <p:nvSpPr>
          <p:cNvPr id="24" name="Shape 20"/>
          <p:cNvSpPr/>
          <p:nvPr/>
        </p:nvSpPr>
        <p:spPr>
          <a:xfrm>
            <a:off x="5120640" y="3566160"/>
            <a:ext cx="3017520" cy="18288"/>
          </a:xfrm>
          <a:prstGeom prst="rect">
            <a:avLst/>
          </a:prstGeom>
          <a:solidFill>
            <a:srgbClr val="E2E8F0"/>
          </a:solidFill>
          <a:ln/>
        </p:spPr>
      </p:sp>
      <p:sp>
        <p:nvSpPr>
          <p:cNvPr id="25" name="Text 21"/>
          <p:cNvSpPr/>
          <p:nvPr/>
        </p:nvSpPr>
        <p:spPr>
          <a:xfrm>
            <a:off x="4937760" y="3657600"/>
            <a:ext cx="3383280" cy="822960"/>
          </a:xfrm>
          <a:prstGeom prst="rect">
            <a:avLst/>
          </a:prstGeom>
          <a:noFill/>
          <a:ln/>
        </p:spPr>
        <p:txBody>
          <a:bodyPr wrap="square" lIns="0" tIns="0" rIns="0" bIns="0" rtlCol="0" anchor="ctr"/>
          <a:lstStyle/>
          <a:p>
            <a:pPr marL="0" indent="0">
              <a:lnSpc>
                <a:spcPct val="130000"/>
              </a:lnSpc>
              <a:buNone/>
            </a:pPr>
            <a:r>
              <a:rPr lang="en-US" sz="1100" i="1" dirty="0">
                <a:solidFill>
                  <a:srgbClr val="94A3B8"/>
                </a:solidFill>
                <a:latin typeface="Calibri" pitchFamily="34" charset="0"/>
                <a:ea typeface="Calibri" pitchFamily="34" charset="-122"/>
                <a:cs typeface="Calibri" pitchFamily="34" charset="-120"/>
              </a:rPr>
              <a:t>예: 내부 스키마의 저장 순서나 인덱스가 변경되어도, 개념 스키마와 사상(매핑)만 수정하면 됨</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Text 1"/>
          <p:cNvSpPr/>
          <p:nvPr/>
        </p:nvSpPr>
        <p:spPr>
          <a:xfrm>
            <a:off x="640080" y="228600"/>
            <a:ext cx="7863840" cy="502920"/>
          </a:xfrm>
          <a:prstGeom prst="rect">
            <a:avLst/>
          </a:prstGeom>
          <a:noFill/>
          <a:ln/>
        </p:spPr>
        <p:txBody>
          <a:bodyPr wrap="square" lIns="0" tIns="0" rIns="0" bIns="0" rtlCol="0" anchor="ctr"/>
          <a:lstStyle/>
          <a:p>
            <a:pPr marL="0" indent="0">
              <a:buNone/>
            </a:pPr>
            <a:r>
              <a:rPr lang="en-US" sz="2200" b="1" dirty="0">
                <a:solidFill>
                  <a:srgbClr val="1A2744"/>
                </a:solidFill>
                <a:latin typeface="Arial Black" pitchFamily="34" charset="0"/>
                <a:ea typeface="Arial Black" pitchFamily="34" charset="-122"/>
                <a:cs typeface="Arial Black" pitchFamily="34" charset="-120"/>
              </a:rPr>
              <a:t>데이터 사전과 데이터 디렉토리</a:t>
            </a:r>
            <a:endParaRPr lang="en-US" sz="2200" dirty="0"/>
          </a:p>
        </p:txBody>
      </p:sp>
      <p:sp>
        <p:nvSpPr>
          <p:cNvPr id="4" name="Shape 2"/>
          <p:cNvSpPr/>
          <p:nvPr/>
        </p:nvSpPr>
        <p:spPr>
          <a:xfrm>
            <a:off x="640080" y="777240"/>
            <a:ext cx="7863840" cy="18288"/>
          </a:xfrm>
          <a:prstGeom prst="rect">
            <a:avLst/>
          </a:prstGeom>
          <a:solidFill>
            <a:srgbClr val="E2E8F0"/>
          </a:solidFill>
          <a:ln/>
        </p:spPr>
      </p:sp>
      <p:sp>
        <p:nvSpPr>
          <p:cNvPr id="5" name="Text 3"/>
          <p:cNvSpPr/>
          <p:nvPr/>
        </p:nvSpPr>
        <p:spPr>
          <a:xfrm>
            <a:off x="8412480" y="4663440"/>
            <a:ext cx="457200" cy="320040"/>
          </a:xfrm>
          <a:prstGeom prst="rect">
            <a:avLst/>
          </a:prstGeom>
          <a:noFill/>
          <a:ln/>
        </p:spPr>
        <p:txBody>
          <a:bodyPr wrap="square" lIns="0" tIns="0" rIns="0" bIns="0"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11</a:t>
            </a:r>
            <a:endParaRPr lang="en-US" sz="1000" dirty="0"/>
          </a:p>
        </p:txBody>
      </p:sp>
      <p:sp>
        <p:nvSpPr>
          <p:cNvPr id="6" name="Shape 4"/>
          <p:cNvSpPr/>
          <p:nvPr/>
        </p:nvSpPr>
        <p:spPr>
          <a:xfrm>
            <a:off x="640080" y="1005840"/>
            <a:ext cx="3749040" cy="3200400"/>
          </a:xfrm>
          <a:prstGeom prst="rect">
            <a:avLst/>
          </a:prstGeom>
          <a:solidFill>
            <a:srgbClr val="FFFFFF"/>
          </a:solidFill>
          <a:ln/>
          <a:effectLst>
            <a:outerShdw blurRad="50800" dist="25400" dir="8100000" algn="bl" rotWithShape="0">
              <a:srgbClr val="000000">
                <a:alpha val="10000"/>
              </a:srgbClr>
            </a:outerShdw>
          </a:effectLst>
        </p:spPr>
      </p:sp>
      <p:sp>
        <p:nvSpPr>
          <p:cNvPr id="7" name="Shape 5"/>
          <p:cNvSpPr/>
          <p:nvPr/>
        </p:nvSpPr>
        <p:spPr>
          <a:xfrm>
            <a:off x="640080" y="1005840"/>
            <a:ext cx="73152" cy="3200400"/>
          </a:xfrm>
          <a:prstGeom prst="rect">
            <a:avLst/>
          </a:prstGeom>
          <a:solidFill>
            <a:srgbClr val="0891B2"/>
          </a:solidFill>
          <a:ln/>
        </p:spPr>
      </p:sp>
      <p:pic>
        <p:nvPicPr>
          <p:cNvPr id="8" name="Image 0" descr="preencoded.png"/>
          <p:cNvPicPr>
            <a:picLocks noChangeAspect="1"/>
          </p:cNvPicPr>
          <p:nvPr/>
        </p:nvPicPr>
        <p:blipFill>
          <a:blip r:embed="rId3"/>
          <a:stretch>
            <a:fillRect/>
          </a:stretch>
        </p:blipFill>
        <p:spPr>
          <a:xfrm>
            <a:off x="914400" y="1143000"/>
            <a:ext cx="365760" cy="365760"/>
          </a:xfrm>
          <a:prstGeom prst="rect">
            <a:avLst/>
          </a:prstGeom>
        </p:spPr>
      </p:pic>
      <p:sp>
        <p:nvSpPr>
          <p:cNvPr id="9" name="Text 6"/>
          <p:cNvSpPr/>
          <p:nvPr/>
        </p:nvSpPr>
        <p:spPr>
          <a:xfrm>
            <a:off x="1417320" y="1097280"/>
            <a:ext cx="2743200" cy="411480"/>
          </a:xfrm>
          <a:prstGeom prst="rect">
            <a:avLst/>
          </a:prstGeom>
          <a:noFill/>
          <a:ln/>
        </p:spPr>
        <p:txBody>
          <a:bodyPr wrap="square" lIns="0" tIns="0" rIns="0" bIns="0" rtlCol="0" anchor="ctr"/>
          <a:lstStyle/>
          <a:p>
            <a:pPr marL="0" indent="0">
              <a:buNone/>
            </a:pPr>
            <a:r>
              <a:rPr lang="en-US" sz="1500" b="1" dirty="0">
                <a:solidFill>
                  <a:srgbClr val="1A2744"/>
                </a:solidFill>
                <a:latin typeface="Arial" pitchFamily="34" charset="0"/>
                <a:ea typeface="Arial" pitchFamily="34" charset="-122"/>
                <a:cs typeface="Arial" pitchFamily="34" charset="-120"/>
              </a:rPr>
              <a:t>데이터 사전 (Data Dictionary)</a:t>
            </a:r>
            <a:endParaRPr lang="en-US" sz="1500" dirty="0"/>
          </a:p>
        </p:txBody>
      </p:sp>
      <p:sp>
        <p:nvSpPr>
          <p:cNvPr id="10" name="Text 7"/>
          <p:cNvSpPr/>
          <p:nvPr/>
        </p:nvSpPr>
        <p:spPr>
          <a:xfrm>
            <a:off x="1417320" y="1463040"/>
            <a:ext cx="2743200" cy="274320"/>
          </a:xfrm>
          <a:prstGeom prst="rect">
            <a:avLst/>
          </a:prstGeom>
          <a:noFill/>
          <a:ln/>
        </p:spPr>
        <p:txBody>
          <a:bodyPr wrap="square" lIns="0" tIns="0" rIns="0" bIns="0" rtlCol="0" anchor="ctr"/>
          <a:lstStyle/>
          <a:p>
            <a:pPr marL="0" indent="0">
              <a:buNone/>
            </a:pPr>
            <a:r>
              <a:rPr lang="en-US" sz="1000" i="1" dirty="0">
                <a:solidFill>
                  <a:srgbClr val="94A3B8"/>
                </a:solidFill>
                <a:latin typeface="Calibri" pitchFamily="34" charset="0"/>
                <a:ea typeface="Calibri" pitchFamily="34" charset="-122"/>
                <a:cs typeface="Calibri" pitchFamily="34" charset="-120"/>
              </a:rPr>
              <a:t>= 시스템 카탈로그 (System Catalog)</a:t>
            </a:r>
            <a:endParaRPr lang="en-US" sz="1000" dirty="0"/>
          </a:p>
        </p:txBody>
      </p:sp>
      <p:sp>
        <p:nvSpPr>
          <p:cNvPr id="11" name="Text 8"/>
          <p:cNvSpPr/>
          <p:nvPr/>
        </p:nvSpPr>
        <p:spPr>
          <a:xfrm>
            <a:off x="914400" y="1874520"/>
            <a:ext cx="3200400" cy="320040"/>
          </a:xfrm>
          <a:prstGeom prst="rect">
            <a:avLst/>
          </a:prstGeom>
          <a:noFill/>
          <a:ln/>
        </p:spPr>
        <p:txBody>
          <a:bodyPr wrap="square" lIns="0" tIns="0" rIns="0" bIns="0" rtlCol="0" anchor="ctr"/>
          <a:lstStyle/>
          <a:p>
            <a:pPr marL="0" indent="0">
              <a:buNone/>
            </a:pPr>
            <a:r>
              <a:rPr lang="en-US" sz="1100" dirty="0">
                <a:solidFill>
                  <a:srgbClr val="334155"/>
                </a:solidFill>
                <a:latin typeface="Calibri" pitchFamily="34" charset="0"/>
                <a:ea typeface="Calibri" pitchFamily="34" charset="-122"/>
                <a:cs typeface="Calibri" pitchFamily="34" charset="-120"/>
              </a:rPr>
              <a:t>• DB에 저장되는 데이터에 관한 정보(메타데이터)를 유지하는 시스템 DB</a:t>
            </a:r>
            <a:endParaRPr lang="en-US" sz="1100" dirty="0"/>
          </a:p>
        </p:txBody>
      </p:sp>
      <p:sp>
        <p:nvSpPr>
          <p:cNvPr id="12" name="Text 9"/>
          <p:cNvSpPr/>
          <p:nvPr/>
        </p:nvSpPr>
        <p:spPr>
          <a:xfrm>
            <a:off x="914400" y="2240280"/>
            <a:ext cx="3200400" cy="320040"/>
          </a:xfrm>
          <a:prstGeom prst="rect">
            <a:avLst/>
          </a:prstGeom>
          <a:noFill/>
          <a:ln/>
        </p:spPr>
        <p:txBody>
          <a:bodyPr wrap="square" lIns="0" tIns="0" rIns="0" bIns="0" rtlCol="0" anchor="ctr"/>
          <a:lstStyle/>
          <a:p>
            <a:pPr marL="0" indent="0">
              <a:buNone/>
            </a:pPr>
            <a:r>
              <a:rPr lang="en-US" sz="1100" dirty="0">
                <a:solidFill>
                  <a:srgbClr val="334155"/>
                </a:solidFill>
                <a:latin typeface="Calibri" pitchFamily="34" charset="0"/>
                <a:ea typeface="Calibri" pitchFamily="34" charset="-122"/>
                <a:cs typeface="Calibri" pitchFamily="34" charset="-120"/>
              </a:rPr>
              <a:t>• 스키마, 사상(매핑), 다양한 제약조건 등 저장</a:t>
            </a:r>
            <a:endParaRPr lang="en-US" sz="1100" dirty="0"/>
          </a:p>
        </p:txBody>
      </p:sp>
      <p:sp>
        <p:nvSpPr>
          <p:cNvPr id="13" name="Text 10"/>
          <p:cNvSpPr/>
          <p:nvPr/>
        </p:nvSpPr>
        <p:spPr>
          <a:xfrm>
            <a:off x="914400" y="2606040"/>
            <a:ext cx="3200400" cy="320040"/>
          </a:xfrm>
          <a:prstGeom prst="rect">
            <a:avLst/>
          </a:prstGeom>
          <a:noFill/>
          <a:ln/>
        </p:spPr>
        <p:txBody>
          <a:bodyPr wrap="square" lIns="0" tIns="0" rIns="0" bIns="0" rtlCol="0" anchor="ctr"/>
          <a:lstStyle/>
          <a:p>
            <a:pPr marL="0" indent="0">
              <a:buNone/>
            </a:pPr>
            <a:r>
              <a:rPr lang="en-US" sz="1100" dirty="0">
                <a:solidFill>
                  <a:srgbClr val="334155"/>
                </a:solidFill>
                <a:latin typeface="Calibri" pitchFamily="34" charset="0"/>
                <a:ea typeface="Calibri" pitchFamily="34" charset="-122"/>
                <a:cs typeface="Calibri" pitchFamily="34" charset="-120"/>
              </a:rPr>
              <a:t>• 시스템 데이터베이스에 저장됨</a:t>
            </a:r>
            <a:endParaRPr lang="en-US" sz="1100" dirty="0"/>
          </a:p>
        </p:txBody>
      </p:sp>
      <p:sp>
        <p:nvSpPr>
          <p:cNvPr id="14" name="Text 11"/>
          <p:cNvSpPr/>
          <p:nvPr/>
        </p:nvSpPr>
        <p:spPr>
          <a:xfrm>
            <a:off x="914400" y="2971800"/>
            <a:ext cx="3200400" cy="320040"/>
          </a:xfrm>
          <a:prstGeom prst="rect">
            <a:avLst/>
          </a:prstGeom>
          <a:noFill/>
          <a:ln/>
        </p:spPr>
        <p:txBody>
          <a:bodyPr wrap="square" lIns="0" tIns="0" rIns="0" bIns="0" rtlCol="0" anchor="ctr"/>
          <a:lstStyle/>
          <a:p>
            <a:pPr marL="0" indent="0">
              <a:buNone/>
            </a:pPr>
            <a:r>
              <a:rPr lang="en-US" sz="1100" dirty="0">
                <a:solidFill>
                  <a:srgbClr val="334155"/>
                </a:solidFill>
                <a:latin typeface="Calibri" pitchFamily="34" charset="0"/>
                <a:ea typeface="Calibri" pitchFamily="34" charset="-122"/>
                <a:cs typeface="Calibri" pitchFamily="34" charset="-120"/>
              </a:rPr>
              <a:t>• DBMS가 스스로 생성하고 유지</a:t>
            </a:r>
            <a:endParaRPr lang="en-US" sz="1100" dirty="0"/>
          </a:p>
        </p:txBody>
      </p:sp>
      <p:sp>
        <p:nvSpPr>
          <p:cNvPr id="15" name="Text 12"/>
          <p:cNvSpPr/>
          <p:nvPr/>
        </p:nvSpPr>
        <p:spPr>
          <a:xfrm>
            <a:off x="914400" y="3337560"/>
            <a:ext cx="3200400" cy="320040"/>
          </a:xfrm>
          <a:prstGeom prst="rect">
            <a:avLst/>
          </a:prstGeom>
          <a:noFill/>
          <a:ln/>
        </p:spPr>
        <p:txBody>
          <a:bodyPr wrap="square" lIns="0" tIns="0" rIns="0" bIns="0" rtlCol="0" anchor="ctr"/>
          <a:lstStyle/>
          <a:p>
            <a:pPr marL="0" indent="0">
              <a:buNone/>
            </a:pPr>
            <a:r>
              <a:rPr lang="en-US" sz="1100" dirty="0">
                <a:solidFill>
                  <a:srgbClr val="334155"/>
                </a:solidFill>
                <a:latin typeface="Calibri" pitchFamily="34" charset="0"/>
                <a:ea typeface="Calibri" pitchFamily="34" charset="-122"/>
                <a:cs typeface="Calibri" pitchFamily="34" charset="-120"/>
              </a:rPr>
              <a:t>• 일반 사용자도 접근 가능하나 검색만 가능 (수정 불가)</a:t>
            </a:r>
            <a:endParaRPr lang="en-US" sz="1100" dirty="0"/>
          </a:p>
        </p:txBody>
      </p:sp>
      <p:sp>
        <p:nvSpPr>
          <p:cNvPr id="16" name="Shape 13"/>
          <p:cNvSpPr/>
          <p:nvPr/>
        </p:nvSpPr>
        <p:spPr>
          <a:xfrm>
            <a:off x="4754880" y="1005840"/>
            <a:ext cx="3749040" cy="3200400"/>
          </a:xfrm>
          <a:prstGeom prst="rect">
            <a:avLst/>
          </a:prstGeom>
          <a:solidFill>
            <a:srgbClr val="FFFFFF"/>
          </a:solidFill>
          <a:ln/>
          <a:effectLst>
            <a:outerShdw blurRad="50800" dist="25400" dir="8100000" algn="bl" rotWithShape="0">
              <a:srgbClr val="000000">
                <a:alpha val="10000"/>
              </a:srgbClr>
            </a:outerShdw>
          </a:effectLst>
        </p:spPr>
      </p:sp>
      <p:sp>
        <p:nvSpPr>
          <p:cNvPr id="17" name="Shape 14"/>
          <p:cNvSpPr/>
          <p:nvPr/>
        </p:nvSpPr>
        <p:spPr>
          <a:xfrm>
            <a:off x="4754880" y="1005840"/>
            <a:ext cx="73152" cy="3200400"/>
          </a:xfrm>
          <a:prstGeom prst="rect">
            <a:avLst/>
          </a:prstGeom>
          <a:solidFill>
            <a:srgbClr val="F59E0B"/>
          </a:solidFill>
          <a:ln/>
        </p:spPr>
      </p:sp>
      <p:pic>
        <p:nvPicPr>
          <p:cNvPr id="18" name="Image 1" descr="preencoded.png"/>
          <p:cNvPicPr>
            <a:picLocks noChangeAspect="1"/>
          </p:cNvPicPr>
          <p:nvPr/>
        </p:nvPicPr>
        <p:blipFill>
          <a:blip r:embed="rId4"/>
          <a:stretch>
            <a:fillRect/>
          </a:stretch>
        </p:blipFill>
        <p:spPr>
          <a:xfrm>
            <a:off x="5029200" y="1143000"/>
            <a:ext cx="365760" cy="365760"/>
          </a:xfrm>
          <a:prstGeom prst="rect">
            <a:avLst/>
          </a:prstGeom>
        </p:spPr>
      </p:pic>
      <p:sp>
        <p:nvSpPr>
          <p:cNvPr id="19" name="Text 15"/>
          <p:cNvSpPr/>
          <p:nvPr/>
        </p:nvSpPr>
        <p:spPr>
          <a:xfrm>
            <a:off x="5532120" y="1097280"/>
            <a:ext cx="2743200" cy="411480"/>
          </a:xfrm>
          <a:prstGeom prst="rect">
            <a:avLst/>
          </a:prstGeom>
          <a:noFill/>
          <a:ln/>
        </p:spPr>
        <p:txBody>
          <a:bodyPr wrap="square" lIns="0" tIns="0" rIns="0" bIns="0" rtlCol="0" anchor="ctr"/>
          <a:lstStyle/>
          <a:p>
            <a:pPr marL="0" indent="0">
              <a:buNone/>
            </a:pPr>
            <a:r>
              <a:rPr lang="en-US" sz="1500" b="1" dirty="0">
                <a:solidFill>
                  <a:srgbClr val="1A2744"/>
                </a:solidFill>
                <a:latin typeface="Arial" pitchFamily="34" charset="0"/>
                <a:ea typeface="Arial" pitchFamily="34" charset="-122"/>
                <a:cs typeface="Arial" pitchFamily="34" charset="-120"/>
              </a:rPr>
              <a:t>데이터 디렉토리 (Data Directory)</a:t>
            </a:r>
            <a:endParaRPr lang="en-US" sz="1500" dirty="0"/>
          </a:p>
        </p:txBody>
      </p:sp>
      <p:sp>
        <p:nvSpPr>
          <p:cNvPr id="20" name="Text 16"/>
          <p:cNvSpPr/>
          <p:nvPr/>
        </p:nvSpPr>
        <p:spPr>
          <a:xfrm>
            <a:off x="5029200" y="1874520"/>
            <a:ext cx="3200400" cy="365760"/>
          </a:xfrm>
          <a:prstGeom prst="rect">
            <a:avLst/>
          </a:prstGeom>
          <a:noFill/>
          <a:ln/>
        </p:spPr>
        <p:txBody>
          <a:bodyPr wrap="square" lIns="0" tIns="0" rIns="0" bIns="0" rtlCol="0" anchor="ctr"/>
          <a:lstStyle/>
          <a:p>
            <a:pPr marL="0" indent="0">
              <a:buNone/>
            </a:pPr>
            <a:r>
              <a:rPr lang="en-US" sz="1100" dirty="0">
                <a:solidFill>
                  <a:srgbClr val="334155"/>
                </a:solidFill>
                <a:latin typeface="Calibri" pitchFamily="34" charset="0"/>
                <a:ea typeface="Calibri" pitchFamily="34" charset="-122"/>
                <a:cs typeface="Calibri" pitchFamily="34" charset="-120"/>
              </a:rPr>
              <a:t>• 데이터 사전의 데이터에 접근하는 위치 정보 관리</a:t>
            </a:r>
            <a:endParaRPr lang="en-US" sz="1100" dirty="0"/>
          </a:p>
        </p:txBody>
      </p:sp>
      <p:sp>
        <p:nvSpPr>
          <p:cNvPr id="21" name="Text 17"/>
          <p:cNvSpPr/>
          <p:nvPr/>
        </p:nvSpPr>
        <p:spPr>
          <a:xfrm>
            <a:off x="5029200" y="2286000"/>
            <a:ext cx="3200400" cy="365760"/>
          </a:xfrm>
          <a:prstGeom prst="rect">
            <a:avLst/>
          </a:prstGeom>
          <a:noFill/>
          <a:ln/>
        </p:spPr>
        <p:txBody>
          <a:bodyPr wrap="square" lIns="0" tIns="0" rIns="0" bIns="0" rtlCol="0" anchor="ctr"/>
          <a:lstStyle/>
          <a:p>
            <a:pPr marL="0" indent="0">
              <a:buNone/>
            </a:pPr>
            <a:r>
              <a:rPr lang="en-US" sz="1100" dirty="0">
                <a:solidFill>
                  <a:srgbClr val="334155"/>
                </a:solidFill>
                <a:latin typeface="Calibri" pitchFamily="34" charset="0"/>
                <a:ea typeface="Calibri" pitchFamily="34" charset="-122"/>
                <a:cs typeface="Calibri" pitchFamily="34" charset="-120"/>
              </a:rPr>
              <a:t>• 시스템 DB 안에 존재</a:t>
            </a:r>
            <a:endParaRPr lang="en-US" sz="1100" dirty="0"/>
          </a:p>
        </p:txBody>
      </p:sp>
      <p:sp>
        <p:nvSpPr>
          <p:cNvPr id="22" name="Text 18"/>
          <p:cNvSpPr/>
          <p:nvPr/>
        </p:nvSpPr>
        <p:spPr>
          <a:xfrm>
            <a:off x="5029200" y="2697480"/>
            <a:ext cx="3200400" cy="365760"/>
          </a:xfrm>
          <a:prstGeom prst="rect">
            <a:avLst/>
          </a:prstGeom>
          <a:noFill/>
          <a:ln/>
        </p:spPr>
        <p:txBody>
          <a:bodyPr wrap="square" lIns="0" tIns="0" rIns="0" bIns="0" rtlCol="0" anchor="ctr"/>
          <a:lstStyle/>
          <a:p>
            <a:pPr marL="0" indent="0">
              <a:buNone/>
            </a:pPr>
            <a:r>
              <a:rPr lang="en-US" sz="1100" dirty="0">
                <a:solidFill>
                  <a:srgbClr val="334155"/>
                </a:solidFill>
                <a:latin typeface="Calibri" pitchFamily="34" charset="0"/>
                <a:ea typeface="Calibri" pitchFamily="34" charset="-122"/>
                <a:cs typeface="Calibri" pitchFamily="34" charset="-120"/>
              </a:rPr>
              <a:t>• 시스템만 접근 가능 (사용자 접근 불가)</a:t>
            </a:r>
            <a:endParaRPr lang="en-US" sz="1100" dirty="0"/>
          </a:p>
        </p:txBody>
      </p:sp>
      <p:sp>
        <p:nvSpPr>
          <p:cNvPr id="23" name="Shape 19"/>
          <p:cNvSpPr/>
          <p:nvPr/>
        </p:nvSpPr>
        <p:spPr>
          <a:xfrm>
            <a:off x="5029200" y="3108960"/>
            <a:ext cx="3200400" cy="731520"/>
          </a:xfrm>
          <a:prstGeom prst="rect">
            <a:avLst/>
          </a:prstGeom>
          <a:solidFill>
            <a:srgbClr val="F59E0B">
              <a:alpha val="10000"/>
            </a:srgbClr>
          </a:solidFill>
          <a:ln/>
        </p:spPr>
      </p:sp>
      <p:sp>
        <p:nvSpPr>
          <p:cNvPr id="24" name="Text 20"/>
          <p:cNvSpPr/>
          <p:nvPr/>
        </p:nvSpPr>
        <p:spPr>
          <a:xfrm>
            <a:off x="5212080" y="3108960"/>
            <a:ext cx="2834640" cy="731520"/>
          </a:xfrm>
          <a:prstGeom prst="rect">
            <a:avLst/>
          </a:prstGeom>
          <a:noFill/>
          <a:ln/>
        </p:spPr>
        <p:txBody>
          <a:bodyPr wrap="square" lIns="0" tIns="0" rIns="0" bIns="0" rtlCol="0" anchor="ctr"/>
          <a:lstStyle/>
          <a:p>
            <a:pPr marL="0" indent="0">
              <a:lnSpc>
                <a:spcPct val="140000"/>
              </a:lnSpc>
              <a:buNone/>
            </a:pPr>
            <a:r>
              <a:rPr lang="en-US" sz="1100" b="1" dirty="0">
                <a:solidFill>
                  <a:srgbClr val="F59E0B"/>
                </a:solidFill>
                <a:latin typeface="Calibri" pitchFamily="34" charset="0"/>
                <a:ea typeface="Calibri" pitchFamily="34" charset="-122"/>
                <a:cs typeface="Calibri" pitchFamily="34" charset="-120"/>
              </a:rPr>
              <a:t>데이터 사전 → 사용자 검색 가능 ✓</a:t>
            </a:r>
            <a:endParaRPr lang="en-US" sz="1100" dirty="0"/>
          </a:p>
          <a:p>
            <a:pPr marL="0" indent="0">
              <a:lnSpc>
                <a:spcPct val="140000"/>
              </a:lnSpc>
              <a:buNone/>
            </a:pPr>
            <a:r>
              <a:rPr lang="en-US" sz="1100" b="1" dirty="0">
                <a:solidFill>
                  <a:srgbClr val="F59E0B"/>
                </a:solidFill>
                <a:latin typeface="Calibri" pitchFamily="34" charset="0"/>
                <a:ea typeface="Calibri" pitchFamily="34" charset="-122"/>
                <a:cs typeface="Calibri" pitchFamily="34" charset="-120"/>
              </a:rPr>
              <a:t>데이터 디렉토리 → 시스템만 접근 ✗</a:t>
            </a:r>
            <a:endParaRPr lang="en-US" sz="1100" dirty="0"/>
          </a:p>
        </p:txBody>
      </p:sp>
      <p:sp>
        <p:nvSpPr>
          <p:cNvPr id="25" name="Shape 21"/>
          <p:cNvSpPr/>
          <p:nvPr/>
        </p:nvSpPr>
        <p:spPr>
          <a:xfrm>
            <a:off x="640080" y="4434840"/>
            <a:ext cx="7863840" cy="502920"/>
          </a:xfrm>
          <a:prstGeom prst="rect">
            <a:avLst/>
          </a:prstGeom>
          <a:solidFill>
            <a:srgbClr val="1A2744"/>
          </a:solidFill>
          <a:ln/>
        </p:spPr>
      </p:sp>
      <p:sp>
        <p:nvSpPr>
          <p:cNvPr id="26" name="Text 22"/>
          <p:cNvSpPr/>
          <p:nvPr/>
        </p:nvSpPr>
        <p:spPr>
          <a:xfrm>
            <a:off x="914400" y="4434840"/>
            <a:ext cx="7315200" cy="502920"/>
          </a:xfrm>
          <a:prstGeom prst="rect">
            <a:avLst/>
          </a:prstGeom>
          <a:noFill/>
          <a:ln/>
        </p:spPr>
        <p:txBody>
          <a:bodyPr wrap="square" lIns="0" tIns="0" rIns="0" bIns="0" rtlCol="0" anchor="ctr"/>
          <a:lstStyle/>
          <a:p>
            <a:pPr marL="0" indent="0">
              <a:buNone/>
            </a:pPr>
            <a:r>
              <a:rPr lang="en-US" sz="1100" b="1" dirty="0">
                <a:solidFill>
                  <a:srgbClr val="22D3EE"/>
                </a:solidFill>
              </a:rPr>
              <a:t xml:space="preserve">사용자 DB: </a:t>
            </a:r>
            <a:r>
              <a:rPr lang="en-US" sz="1100" dirty="0">
                <a:solidFill>
                  <a:srgbClr val="E2E8F0"/>
                </a:solidFill>
              </a:rPr>
              <a:t xml:space="preserve">사용자가 실제로 이용하는 데이터 저장  |  </a:t>
            </a:r>
            <a:r>
              <a:rPr lang="en-US" sz="1100" b="1" dirty="0">
                <a:solidFill>
                  <a:srgbClr val="F59E0B"/>
                </a:solidFill>
              </a:rPr>
              <a:t xml:space="preserve">시스템 DB: </a:t>
            </a:r>
            <a:r>
              <a:rPr lang="en-US" sz="1100" dirty="0">
                <a:solidFill>
                  <a:srgbClr val="E2E8F0"/>
                </a:solidFill>
              </a:rPr>
              <a:t>데이터 사전·디렉토리 등 메타데이터 저장</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2744"/>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731520" y="1097280"/>
            <a:ext cx="1828800" cy="914400"/>
          </a:xfrm>
          <a:prstGeom prst="rect">
            <a:avLst/>
          </a:prstGeom>
          <a:noFill/>
          <a:ln/>
        </p:spPr>
        <p:txBody>
          <a:bodyPr wrap="square" lIns="0" tIns="0" rIns="0" bIns="0" rtlCol="0" anchor="ctr"/>
          <a:lstStyle/>
          <a:p>
            <a:pPr marL="0" indent="0">
              <a:buNone/>
            </a:pPr>
            <a:r>
              <a:rPr lang="en-US" sz="6000" dirty="0">
                <a:solidFill>
                  <a:srgbClr val="0891B2"/>
                </a:solidFill>
                <a:latin typeface="Arial Black" pitchFamily="34" charset="0"/>
                <a:ea typeface="Arial Black" pitchFamily="34" charset="-122"/>
                <a:cs typeface="Arial Black" pitchFamily="34" charset="-120"/>
              </a:rPr>
              <a:t>03</a:t>
            </a:r>
            <a:endParaRPr lang="en-US" sz="6000" dirty="0"/>
          </a:p>
        </p:txBody>
      </p:sp>
      <p:sp>
        <p:nvSpPr>
          <p:cNvPr id="5" name="Shape 3"/>
          <p:cNvSpPr/>
          <p:nvPr/>
        </p:nvSpPr>
        <p:spPr>
          <a:xfrm>
            <a:off x="731520" y="2103120"/>
            <a:ext cx="1371600" cy="36576"/>
          </a:xfrm>
          <a:prstGeom prst="rect">
            <a:avLst/>
          </a:prstGeom>
          <a:solidFill>
            <a:srgbClr val="0891B2"/>
          </a:solidFill>
          <a:ln/>
        </p:spPr>
      </p:sp>
      <p:sp>
        <p:nvSpPr>
          <p:cNvPr id="6" name="Text 4"/>
          <p:cNvSpPr/>
          <p:nvPr/>
        </p:nvSpPr>
        <p:spPr>
          <a:xfrm>
            <a:off x="731520" y="2377440"/>
            <a:ext cx="7315200" cy="822960"/>
          </a:xfrm>
          <a:prstGeom prst="rect">
            <a:avLst/>
          </a:prstGeom>
          <a:noFill/>
          <a:ln/>
        </p:spPr>
        <p:txBody>
          <a:bodyPr wrap="square" lIns="0" tIns="0" rIns="0" bIns="0" rtlCol="0" anchor="ctr"/>
          <a:lstStyle/>
          <a:p>
            <a:pPr marL="0" indent="0">
              <a:buNone/>
            </a:pPr>
            <a:r>
              <a:rPr lang="en-US" sz="3200" b="1" dirty="0">
                <a:solidFill>
                  <a:srgbClr val="FFFFFF"/>
                </a:solidFill>
                <a:latin typeface="Arial Black" pitchFamily="34" charset="0"/>
                <a:ea typeface="Arial Black" pitchFamily="34" charset="-122"/>
                <a:cs typeface="Arial Black" pitchFamily="34" charset="-120"/>
              </a:rPr>
              <a:t>데이터베이스 사용자</a:t>
            </a:r>
            <a:endParaRPr lang="en-US" sz="3200" dirty="0"/>
          </a:p>
        </p:txBody>
      </p:sp>
      <p:sp>
        <p:nvSpPr>
          <p:cNvPr id="7" name="Text 5"/>
          <p:cNvSpPr/>
          <p:nvPr/>
        </p:nvSpPr>
        <p:spPr>
          <a:xfrm>
            <a:off x="731520" y="3200400"/>
            <a:ext cx="7315200" cy="457200"/>
          </a:xfrm>
          <a:prstGeom prst="rect">
            <a:avLst/>
          </a:prstGeom>
          <a:noFill/>
          <a:ln/>
        </p:spPr>
        <p:txBody>
          <a:bodyPr wrap="square" lIns="0" tIns="0" rIns="0" bIns="0" rtlCol="0" anchor="ctr"/>
          <a:lstStyle/>
          <a:p>
            <a:pPr marL="0" indent="0">
              <a:buNone/>
            </a:pPr>
            <a:r>
              <a:rPr lang="en-US" sz="1400" i="1" dirty="0">
                <a:solidFill>
                  <a:srgbClr val="94A3B8"/>
                </a:solidFill>
                <a:latin typeface="Calibri" pitchFamily="34" charset="0"/>
                <a:ea typeface="Calibri" pitchFamily="34" charset="-122"/>
                <a:cs typeface="Calibri" pitchFamily="34" charset="-120"/>
              </a:rPr>
              <a:t>Database Users — DBA, End User, Application Programmer</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Text 1"/>
          <p:cNvSpPr/>
          <p:nvPr/>
        </p:nvSpPr>
        <p:spPr>
          <a:xfrm>
            <a:off x="640080" y="228600"/>
            <a:ext cx="7863840" cy="502920"/>
          </a:xfrm>
          <a:prstGeom prst="rect">
            <a:avLst/>
          </a:prstGeom>
          <a:noFill/>
          <a:ln/>
        </p:spPr>
        <p:txBody>
          <a:bodyPr wrap="square" lIns="0" tIns="0" rIns="0" bIns="0" rtlCol="0" anchor="ctr"/>
          <a:lstStyle/>
          <a:p>
            <a:pPr marL="0" indent="0">
              <a:buNone/>
            </a:pPr>
            <a:r>
              <a:rPr lang="en-US" sz="2200" b="1" dirty="0">
                <a:solidFill>
                  <a:srgbClr val="1A2744"/>
                </a:solidFill>
                <a:latin typeface="Arial Black" pitchFamily="34" charset="0"/>
                <a:ea typeface="Arial Black" pitchFamily="34" charset="-122"/>
                <a:cs typeface="Arial Black" pitchFamily="34" charset="-120"/>
              </a:rPr>
              <a:t>데이터베이스 사용자 유형</a:t>
            </a:r>
            <a:endParaRPr lang="en-US" sz="2200" dirty="0"/>
          </a:p>
        </p:txBody>
      </p:sp>
      <p:sp>
        <p:nvSpPr>
          <p:cNvPr id="4" name="Shape 2"/>
          <p:cNvSpPr/>
          <p:nvPr/>
        </p:nvSpPr>
        <p:spPr>
          <a:xfrm>
            <a:off x="640080" y="777240"/>
            <a:ext cx="7863840" cy="18288"/>
          </a:xfrm>
          <a:prstGeom prst="rect">
            <a:avLst/>
          </a:prstGeom>
          <a:solidFill>
            <a:srgbClr val="E2E8F0"/>
          </a:solidFill>
          <a:ln/>
        </p:spPr>
      </p:sp>
      <p:sp>
        <p:nvSpPr>
          <p:cNvPr id="5" name="Text 3"/>
          <p:cNvSpPr/>
          <p:nvPr/>
        </p:nvSpPr>
        <p:spPr>
          <a:xfrm>
            <a:off x="8412480" y="4663440"/>
            <a:ext cx="457200" cy="320040"/>
          </a:xfrm>
          <a:prstGeom prst="rect">
            <a:avLst/>
          </a:prstGeom>
          <a:noFill/>
          <a:ln/>
        </p:spPr>
        <p:txBody>
          <a:bodyPr wrap="square" lIns="0" tIns="0" rIns="0" bIns="0"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13</a:t>
            </a:r>
            <a:endParaRPr lang="en-US" sz="1000" dirty="0"/>
          </a:p>
        </p:txBody>
      </p:sp>
      <p:sp>
        <p:nvSpPr>
          <p:cNvPr id="6" name="Shape 4"/>
          <p:cNvSpPr/>
          <p:nvPr/>
        </p:nvSpPr>
        <p:spPr>
          <a:xfrm>
            <a:off x="640080" y="960120"/>
            <a:ext cx="2560320" cy="3886200"/>
          </a:xfrm>
          <a:prstGeom prst="rect">
            <a:avLst/>
          </a:prstGeom>
          <a:solidFill>
            <a:srgbClr val="FFFFFF"/>
          </a:solidFill>
          <a:ln/>
          <a:effectLst>
            <a:outerShdw blurRad="50800" dist="25400" dir="8100000" algn="bl" rotWithShape="0">
              <a:srgbClr val="000000">
                <a:alpha val="10000"/>
              </a:srgbClr>
            </a:outerShdw>
          </a:effectLst>
        </p:spPr>
      </p:sp>
      <p:sp>
        <p:nvSpPr>
          <p:cNvPr id="7" name="Shape 5"/>
          <p:cNvSpPr/>
          <p:nvPr/>
        </p:nvSpPr>
        <p:spPr>
          <a:xfrm>
            <a:off x="640080" y="960120"/>
            <a:ext cx="2560320" cy="64008"/>
          </a:xfrm>
          <a:prstGeom prst="rect">
            <a:avLst/>
          </a:prstGeom>
          <a:solidFill>
            <a:srgbClr val="0891B2"/>
          </a:solidFill>
          <a:ln/>
        </p:spPr>
      </p:sp>
      <p:sp>
        <p:nvSpPr>
          <p:cNvPr id="8" name="Shape 6"/>
          <p:cNvSpPr/>
          <p:nvPr/>
        </p:nvSpPr>
        <p:spPr>
          <a:xfrm>
            <a:off x="1508760" y="1188720"/>
            <a:ext cx="777240" cy="777240"/>
          </a:xfrm>
          <a:prstGeom prst="ellipse">
            <a:avLst/>
          </a:prstGeom>
          <a:solidFill>
            <a:srgbClr val="0891B2">
              <a:alpha val="12000"/>
            </a:srgbClr>
          </a:solidFill>
          <a:ln/>
        </p:spPr>
      </p:sp>
      <p:pic>
        <p:nvPicPr>
          <p:cNvPr id="9" name="Image 0" descr="preencoded.png"/>
          <p:cNvPicPr>
            <a:picLocks noChangeAspect="1"/>
          </p:cNvPicPr>
          <p:nvPr/>
        </p:nvPicPr>
        <p:blipFill>
          <a:blip r:embed="rId3"/>
          <a:stretch>
            <a:fillRect/>
          </a:stretch>
        </p:blipFill>
        <p:spPr>
          <a:xfrm>
            <a:off x="1673352" y="1353312"/>
            <a:ext cx="457200" cy="457200"/>
          </a:xfrm>
          <a:prstGeom prst="rect">
            <a:avLst/>
          </a:prstGeom>
        </p:spPr>
      </p:pic>
      <p:sp>
        <p:nvSpPr>
          <p:cNvPr id="10" name="Text 7"/>
          <p:cNvSpPr/>
          <p:nvPr/>
        </p:nvSpPr>
        <p:spPr>
          <a:xfrm>
            <a:off x="777240" y="2103120"/>
            <a:ext cx="2286000" cy="502920"/>
          </a:xfrm>
          <a:prstGeom prst="rect">
            <a:avLst/>
          </a:prstGeom>
          <a:noFill/>
          <a:ln/>
        </p:spPr>
        <p:txBody>
          <a:bodyPr wrap="square" lIns="0" tIns="0" rIns="0" bIns="0" rtlCol="0" anchor="ctr"/>
          <a:lstStyle/>
          <a:p>
            <a:pPr marL="0" indent="0" algn="ctr">
              <a:buNone/>
            </a:pPr>
            <a:r>
              <a:rPr lang="en-US" sz="1300" b="1" dirty="0">
                <a:solidFill>
                  <a:srgbClr val="1A2744"/>
                </a:solidFill>
                <a:latin typeface="Arial" pitchFamily="34" charset="0"/>
                <a:ea typeface="Arial" pitchFamily="34" charset="-122"/>
                <a:cs typeface="Arial" pitchFamily="34" charset="-120"/>
              </a:rPr>
              <a:t>데이터베이스 관리자</a:t>
            </a:r>
            <a:endParaRPr lang="en-US" sz="1300" dirty="0"/>
          </a:p>
          <a:p>
            <a:pPr marL="0" indent="0" algn="ctr">
              <a:buNone/>
            </a:pPr>
            <a:r>
              <a:rPr lang="en-US" sz="1300" b="1" dirty="0">
                <a:solidFill>
                  <a:srgbClr val="1A2744"/>
                </a:solidFill>
                <a:latin typeface="Arial" pitchFamily="34" charset="0"/>
                <a:ea typeface="Arial" pitchFamily="34" charset="-122"/>
                <a:cs typeface="Arial" pitchFamily="34" charset="-120"/>
              </a:rPr>
              <a:t>(DBA)</a:t>
            </a:r>
            <a:endParaRPr lang="en-US" sz="1300" dirty="0"/>
          </a:p>
        </p:txBody>
      </p:sp>
      <p:sp>
        <p:nvSpPr>
          <p:cNvPr id="11" name="Shape 8"/>
          <p:cNvSpPr/>
          <p:nvPr/>
        </p:nvSpPr>
        <p:spPr>
          <a:xfrm>
            <a:off x="1005840" y="2697480"/>
            <a:ext cx="1828800" cy="18288"/>
          </a:xfrm>
          <a:prstGeom prst="rect">
            <a:avLst/>
          </a:prstGeom>
          <a:solidFill>
            <a:srgbClr val="E2E8F0"/>
          </a:solidFill>
          <a:ln/>
        </p:spPr>
      </p:sp>
      <p:sp>
        <p:nvSpPr>
          <p:cNvPr id="12" name="Text 9"/>
          <p:cNvSpPr/>
          <p:nvPr/>
        </p:nvSpPr>
        <p:spPr>
          <a:xfrm>
            <a:off x="822960" y="2834640"/>
            <a:ext cx="2194560" cy="1920240"/>
          </a:xfrm>
          <a:prstGeom prst="rect">
            <a:avLst/>
          </a:prstGeom>
          <a:noFill/>
          <a:ln/>
        </p:spPr>
        <p:txBody>
          <a:bodyPr wrap="square" lIns="0" tIns="0" rIns="0" bIns="0" rtlCol="0" anchor="ctr"/>
          <a:lstStyle/>
          <a:p>
            <a:pPr marL="0" indent="0">
              <a:lnSpc>
                <a:spcPct val="140000"/>
              </a:lnSpc>
              <a:buNone/>
            </a:pPr>
            <a:r>
              <a:rPr lang="en-US" sz="1050" dirty="0">
                <a:solidFill>
                  <a:srgbClr val="334155"/>
                </a:solidFill>
                <a:latin typeface="Calibri" pitchFamily="34" charset="0"/>
                <a:ea typeface="Calibri" pitchFamily="34" charset="-122"/>
                <a:cs typeface="Calibri" pitchFamily="34" charset="-120"/>
              </a:rPr>
              <a:t>• DB 시스템의 운영 및 관리 총괄</a:t>
            </a:r>
            <a:endParaRPr lang="en-US" sz="1050" dirty="0"/>
          </a:p>
          <a:p>
            <a:pPr marL="0" indent="0">
              <a:lnSpc>
                <a:spcPct val="140000"/>
              </a:lnSpc>
              <a:buNone/>
            </a:pPr>
            <a:r>
              <a:rPr lang="en-US" sz="1050" dirty="0">
                <a:solidFill>
                  <a:srgbClr val="334155"/>
                </a:solidFill>
                <a:latin typeface="Calibri" pitchFamily="34" charset="0"/>
                <a:ea typeface="Calibri" pitchFamily="34" charset="-122"/>
                <a:cs typeface="Calibri" pitchFamily="34" charset="-120"/>
              </a:rPr>
              <a:t>• 스키마 정의, 보안·백업 관리</a:t>
            </a:r>
            <a:endParaRPr lang="en-US" sz="1050" dirty="0"/>
          </a:p>
          <a:p>
            <a:pPr marL="0" indent="0">
              <a:lnSpc>
                <a:spcPct val="140000"/>
              </a:lnSpc>
              <a:buNone/>
            </a:pPr>
            <a:r>
              <a:rPr lang="en-US" sz="1050" dirty="0">
                <a:solidFill>
                  <a:srgbClr val="334155"/>
                </a:solidFill>
                <a:latin typeface="Calibri" pitchFamily="34" charset="0"/>
                <a:ea typeface="Calibri" pitchFamily="34" charset="-122"/>
                <a:cs typeface="Calibri" pitchFamily="34" charset="-120"/>
              </a:rPr>
              <a:t>• 주로 DDL과 DCL을 이용</a:t>
            </a:r>
            <a:endParaRPr lang="en-US" sz="1050" dirty="0"/>
          </a:p>
          <a:p>
            <a:pPr marL="0" indent="0">
              <a:lnSpc>
                <a:spcPct val="140000"/>
              </a:lnSpc>
              <a:buNone/>
            </a:pPr>
            <a:r>
              <a:rPr lang="en-US" sz="1050" dirty="0">
                <a:solidFill>
                  <a:srgbClr val="334155"/>
                </a:solidFill>
                <a:latin typeface="Calibri" pitchFamily="34" charset="0"/>
                <a:ea typeface="Calibri" pitchFamily="34" charset="-122"/>
                <a:cs typeface="Calibri" pitchFamily="34" charset="-120"/>
              </a:rPr>
              <a:t>• 무결성 제약조건 정의</a:t>
            </a:r>
            <a:endParaRPr lang="en-US" sz="1050" dirty="0"/>
          </a:p>
        </p:txBody>
      </p:sp>
      <p:sp>
        <p:nvSpPr>
          <p:cNvPr id="13" name="Shape 10"/>
          <p:cNvSpPr/>
          <p:nvPr/>
        </p:nvSpPr>
        <p:spPr>
          <a:xfrm>
            <a:off x="3474720" y="960120"/>
            <a:ext cx="2560320" cy="3886200"/>
          </a:xfrm>
          <a:prstGeom prst="rect">
            <a:avLst/>
          </a:prstGeom>
          <a:solidFill>
            <a:srgbClr val="FFFFFF"/>
          </a:solidFill>
          <a:ln/>
          <a:effectLst>
            <a:outerShdw blurRad="50800" dist="25400" dir="8100000" algn="bl" rotWithShape="0">
              <a:srgbClr val="000000">
                <a:alpha val="10000"/>
              </a:srgbClr>
            </a:outerShdw>
          </a:effectLst>
        </p:spPr>
      </p:sp>
      <p:sp>
        <p:nvSpPr>
          <p:cNvPr id="14" name="Shape 11"/>
          <p:cNvSpPr/>
          <p:nvPr/>
        </p:nvSpPr>
        <p:spPr>
          <a:xfrm>
            <a:off x="3474720" y="960120"/>
            <a:ext cx="2560320" cy="64008"/>
          </a:xfrm>
          <a:prstGeom prst="rect">
            <a:avLst/>
          </a:prstGeom>
          <a:solidFill>
            <a:srgbClr val="F59E0B"/>
          </a:solidFill>
          <a:ln/>
        </p:spPr>
      </p:sp>
      <p:sp>
        <p:nvSpPr>
          <p:cNvPr id="15" name="Shape 12"/>
          <p:cNvSpPr/>
          <p:nvPr/>
        </p:nvSpPr>
        <p:spPr>
          <a:xfrm>
            <a:off x="4343400" y="1188720"/>
            <a:ext cx="777240" cy="777240"/>
          </a:xfrm>
          <a:prstGeom prst="ellipse">
            <a:avLst/>
          </a:prstGeom>
          <a:solidFill>
            <a:srgbClr val="F59E0B">
              <a:alpha val="12000"/>
            </a:srgbClr>
          </a:solidFill>
          <a:ln/>
        </p:spPr>
      </p:sp>
      <p:pic>
        <p:nvPicPr>
          <p:cNvPr id="16" name="Image 1" descr="preencoded.png"/>
          <p:cNvPicPr>
            <a:picLocks noChangeAspect="1"/>
          </p:cNvPicPr>
          <p:nvPr/>
        </p:nvPicPr>
        <p:blipFill>
          <a:blip r:embed="rId4"/>
          <a:stretch>
            <a:fillRect/>
          </a:stretch>
        </p:blipFill>
        <p:spPr>
          <a:xfrm>
            <a:off x="4507992" y="1353312"/>
            <a:ext cx="457200" cy="457200"/>
          </a:xfrm>
          <a:prstGeom prst="rect">
            <a:avLst/>
          </a:prstGeom>
        </p:spPr>
      </p:pic>
      <p:sp>
        <p:nvSpPr>
          <p:cNvPr id="17" name="Text 13"/>
          <p:cNvSpPr/>
          <p:nvPr/>
        </p:nvSpPr>
        <p:spPr>
          <a:xfrm>
            <a:off x="3611880" y="2103120"/>
            <a:ext cx="2286000" cy="502920"/>
          </a:xfrm>
          <a:prstGeom prst="rect">
            <a:avLst/>
          </a:prstGeom>
          <a:noFill/>
          <a:ln/>
        </p:spPr>
        <p:txBody>
          <a:bodyPr wrap="square" lIns="0" tIns="0" rIns="0" bIns="0" rtlCol="0" anchor="ctr"/>
          <a:lstStyle/>
          <a:p>
            <a:pPr marL="0" indent="0" algn="ctr">
              <a:buNone/>
            </a:pPr>
            <a:r>
              <a:rPr lang="en-US" sz="1300" b="1" dirty="0">
                <a:solidFill>
                  <a:srgbClr val="1A2744"/>
                </a:solidFill>
                <a:latin typeface="Arial" pitchFamily="34" charset="0"/>
                <a:ea typeface="Arial" pitchFamily="34" charset="-122"/>
                <a:cs typeface="Arial" pitchFamily="34" charset="-120"/>
              </a:rPr>
              <a:t>최종 사용자</a:t>
            </a:r>
            <a:endParaRPr lang="en-US" sz="1300" dirty="0"/>
          </a:p>
          <a:p>
            <a:pPr marL="0" indent="0" algn="ctr">
              <a:buNone/>
            </a:pPr>
            <a:r>
              <a:rPr lang="en-US" sz="1300" b="1" dirty="0">
                <a:solidFill>
                  <a:srgbClr val="1A2744"/>
                </a:solidFill>
                <a:latin typeface="Arial" pitchFamily="34" charset="0"/>
                <a:ea typeface="Arial" pitchFamily="34" charset="-122"/>
                <a:cs typeface="Arial" pitchFamily="34" charset="-120"/>
              </a:rPr>
              <a:t>(End User)</a:t>
            </a:r>
            <a:endParaRPr lang="en-US" sz="1300" dirty="0"/>
          </a:p>
        </p:txBody>
      </p:sp>
      <p:sp>
        <p:nvSpPr>
          <p:cNvPr id="18" name="Shape 14"/>
          <p:cNvSpPr/>
          <p:nvPr/>
        </p:nvSpPr>
        <p:spPr>
          <a:xfrm>
            <a:off x="3840480" y="2697480"/>
            <a:ext cx="1828800" cy="18288"/>
          </a:xfrm>
          <a:prstGeom prst="rect">
            <a:avLst/>
          </a:prstGeom>
          <a:solidFill>
            <a:srgbClr val="E2E8F0"/>
          </a:solidFill>
          <a:ln/>
        </p:spPr>
      </p:sp>
      <p:sp>
        <p:nvSpPr>
          <p:cNvPr id="19" name="Text 15"/>
          <p:cNvSpPr/>
          <p:nvPr/>
        </p:nvSpPr>
        <p:spPr>
          <a:xfrm>
            <a:off x="3657600" y="2834640"/>
            <a:ext cx="2194560" cy="1920240"/>
          </a:xfrm>
          <a:prstGeom prst="rect">
            <a:avLst/>
          </a:prstGeom>
          <a:noFill/>
          <a:ln/>
        </p:spPr>
        <p:txBody>
          <a:bodyPr wrap="square" lIns="0" tIns="0" rIns="0" bIns="0" rtlCol="0" anchor="ctr"/>
          <a:lstStyle/>
          <a:p>
            <a:pPr marL="0" indent="0">
              <a:lnSpc>
                <a:spcPct val="140000"/>
              </a:lnSpc>
              <a:buNone/>
            </a:pPr>
            <a:r>
              <a:rPr lang="en-US" sz="1050" dirty="0">
                <a:solidFill>
                  <a:srgbClr val="334155"/>
                </a:solidFill>
                <a:latin typeface="Calibri" pitchFamily="34" charset="0"/>
                <a:ea typeface="Calibri" pitchFamily="34" charset="-122"/>
                <a:cs typeface="Calibri" pitchFamily="34" charset="-120"/>
              </a:rPr>
              <a:t>• 주로 DML(SQL) 사용</a:t>
            </a:r>
            <a:endParaRPr lang="en-US" sz="1050" dirty="0"/>
          </a:p>
          <a:p>
            <a:pPr marL="0" indent="0">
              <a:lnSpc>
                <a:spcPct val="140000"/>
              </a:lnSpc>
              <a:buNone/>
            </a:pPr>
            <a:r>
              <a:rPr lang="en-US" sz="1050" dirty="0">
                <a:solidFill>
                  <a:srgbClr val="334155"/>
                </a:solidFill>
                <a:latin typeface="Calibri" pitchFamily="34" charset="0"/>
                <a:ea typeface="Calibri" pitchFamily="34" charset="-122"/>
                <a:cs typeface="Calibri" pitchFamily="34" charset="-120"/>
              </a:rPr>
              <a:t>• SQL 직접 사용 or GUI 활용</a:t>
            </a:r>
            <a:endParaRPr lang="en-US" sz="1050" dirty="0"/>
          </a:p>
          <a:p>
            <a:pPr marL="0" indent="0">
              <a:lnSpc>
                <a:spcPct val="140000"/>
              </a:lnSpc>
              <a:buNone/>
            </a:pPr>
            <a:r>
              <a:rPr lang="en-US" sz="1050" dirty="0">
                <a:solidFill>
                  <a:srgbClr val="334155"/>
                </a:solidFill>
                <a:latin typeface="Calibri" pitchFamily="34" charset="0"/>
                <a:ea typeface="Calibri" pitchFamily="34" charset="-122"/>
                <a:cs typeface="Calibri" pitchFamily="34" charset="-120"/>
              </a:rPr>
              <a:t>• DB에 접근하여 데이터 조작(삽입·삭제·수정·검색)</a:t>
            </a:r>
            <a:endParaRPr lang="en-US" sz="1050" dirty="0"/>
          </a:p>
          <a:p>
            <a:pPr marL="0" indent="0">
              <a:lnSpc>
                <a:spcPct val="140000"/>
              </a:lnSpc>
              <a:buNone/>
            </a:pPr>
            <a:r>
              <a:rPr lang="en-US" sz="1050" dirty="0">
                <a:solidFill>
                  <a:srgbClr val="334155"/>
                </a:solidFill>
                <a:latin typeface="Calibri" pitchFamily="34" charset="0"/>
                <a:ea typeface="Calibri" pitchFamily="34" charset="-122"/>
                <a:cs typeface="Calibri" pitchFamily="34" charset="-120"/>
              </a:rPr>
              <a:t>• 스키마 정의 권한 없음</a:t>
            </a:r>
            <a:endParaRPr lang="en-US" sz="1050" dirty="0"/>
          </a:p>
        </p:txBody>
      </p:sp>
      <p:sp>
        <p:nvSpPr>
          <p:cNvPr id="20" name="Shape 16"/>
          <p:cNvSpPr/>
          <p:nvPr/>
        </p:nvSpPr>
        <p:spPr>
          <a:xfrm>
            <a:off x="6309360" y="960120"/>
            <a:ext cx="2560320" cy="3886200"/>
          </a:xfrm>
          <a:prstGeom prst="rect">
            <a:avLst/>
          </a:prstGeom>
          <a:solidFill>
            <a:srgbClr val="FFFFFF"/>
          </a:solidFill>
          <a:ln/>
          <a:effectLst>
            <a:outerShdw blurRad="50800" dist="25400" dir="8100000" algn="bl" rotWithShape="0">
              <a:srgbClr val="000000">
                <a:alpha val="10000"/>
              </a:srgbClr>
            </a:outerShdw>
          </a:effectLst>
        </p:spPr>
      </p:sp>
      <p:sp>
        <p:nvSpPr>
          <p:cNvPr id="21" name="Shape 17"/>
          <p:cNvSpPr/>
          <p:nvPr/>
        </p:nvSpPr>
        <p:spPr>
          <a:xfrm>
            <a:off x="6309360" y="960120"/>
            <a:ext cx="2560320" cy="64008"/>
          </a:xfrm>
          <a:prstGeom prst="rect">
            <a:avLst/>
          </a:prstGeom>
          <a:solidFill>
            <a:srgbClr val="8B5CF6"/>
          </a:solidFill>
          <a:ln/>
        </p:spPr>
      </p:sp>
      <p:sp>
        <p:nvSpPr>
          <p:cNvPr id="22" name="Shape 18"/>
          <p:cNvSpPr/>
          <p:nvPr/>
        </p:nvSpPr>
        <p:spPr>
          <a:xfrm>
            <a:off x="7178040" y="1188720"/>
            <a:ext cx="777240" cy="777240"/>
          </a:xfrm>
          <a:prstGeom prst="ellipse">
            <a:avLst/>
          </a:prstGeom>
          <a:solidFill>
            <a:srgbClr val="8B5CF6">
              <a:alpha val="12000"/>
            </a:srgbClr>
          </a:solidFill>
          <a:ln/>
        </p:spPr>
      </p:sp>
      <p:pic>
        <p:nvPicPr>
          <p:cNvPr id="23" name="Image 2" descr="preencoded.png"/>
          <p:cNvPicPr>
            <a:picLocks noChangeAspect="1"/>
          </p:cNvPicPr>
          <p:nvPr/>
        </p:nvPicPr>
        <p:blipFill>
          <a:blip r:embed="rId5"/>
          <a:stretch>
            <a:fillRect/>
          </a:stretch>
        </p:blipFill>
        <p:spPr>
          <a:xfrm>
            <a:off x="7342632" y="1353312"/>
            <a:ext cx="457200" cy="457200"/>
          </a:xfrm>
          <a:prstGeom prst="rect">
            <a:avLst/>
          </a:prstGeom>
        </p:spPr>
      </p:pic>
      <p:sp>
        <p:nvSpPr>
          <p:cNvPr id="24" name="Text 19"/>
          <p:cNvSpPr/>
          <p:nvPr/>
        </p:nvSpPr>
        <p:spPr>
          <a:xfrm>
            <a:off x="6446520" y="2103120"/>
            <a:ext cx="2286000" cy="502920"/>
          </a:xfrm>
          <a:prstGeom prst="rect">
            <a:avLst/>
          </a:prstGeom>
          <a:noFill/>
          <a:ln/>
        </p:spPr>
        <p:txBody>
          <a:bodyPr wrap="square" lIns="0" tIns="0" rIns="0" bIns="0" rtlCol="0" anchor="ctr"/>
          <a:lstStyle/>
          <a:p>
            <a:pPr marL="0" indent="0" algn="ctr">
              <a:buNone/>
            </a:pPr>
            <a:r>
              <a:rPr lang="en-US" sz="1300" b="1" dirty="0">
                <a:solidFill>
                  <a:srgbClr val="1A2744"/>
                </a:solidFill>
                <a:latin typeface="Arial" pitchFamily="34" charset="0"/>
                <a:ea typeface="Arial" pitchFamily="34" charset="-122"/>
                <a:cs typeface="Arial" pitchFamily="34" charset="-120"/>
              </a:rPr>
              <a:t>응용 프로그래머</a:t>
            </a:r>
            <a:endParaRPr lang="en-US" sz="1300" dirty="0"/>
          </a:p>
          <a:p>
            <a:pPr marL="0" indent="0" algn="ctr">
              <a:buNone/>
            </a:pPr>
            <a:r>
              <a:rPr lang="en-US" sz="1300" b="1" dirty="0">
                <a:solidFill>
                  <a:srgbClr val="1A2744"/>
                </a:solidFill>
                <a:latin typeface="Arial" pitchFamily="34" charset="0"/>
                <a:ea typeface="Arial" pitchFamily="34" charset="-122"/>
                <a:cs typeface="Arial" pitchFamily="34" charset="-120"/>
              </a:rPr>
              <a:t>(App Programmer)</a:t>
            </a:r>
            <a:endParaRPr lang="en-US" sz="1300" dirty="0"/>
          </a:p>
        </p:txBody>
      </p:sp>
      <p:sp>
        <p:nvSpPr>
          <p:cNvPr id="25" name="Shape 20"/>
          <p:cNvSpPr/>
          <p:nvPr/>
        </p:nvSpPr>
        <p:spPr>
          <a:xfrm>
            <a:off x="6675120" y="2697480"/>
            <a:ext cx="1828800" cy="18288"/>
          </a:xfrm>
          <a:prstGeom prst="rect">
            <a:avLst/>
          </a:prstGeom>
          <a:solidFill>
            <a:srgbClr val="E2E8F0"/>
          </a:solidFill>
          <a:ln/>
        </p:spPr>
      </p:sp>
      <p:sp>
        <p:nvSpPr>
          <p:cNvPr id="26" name="Text 21"/>
          <p:cNvSpPr/>
          <p:nvPr/>
        </p:nvSpPr>
        <p:spPr>
          <a:xfrm>
            <a:off x="6492240" y="2834640"/>
            <a:ext cx="2194560" cy="1920240"/>
          </a:xfrm>
          <a:prstGeom prst="rect">
            <a:avLst/>
          </a:prstGeom>
          <a:noFill/>
          <a:ln/>
        </p:spPr>
        <p:txBody>
          <a:bodyPr wrap="square" lIns="0" tIns="0" rIns="0" bIns="0" rtlCol="0" anchor="ctr"/>
          <a:lstStyle/>
          <a:p>
            <a:pPr marL="0" indent="0">
              <a:lnSpc>
                <a:spcPct val="140000"/>
              </a:lnSpc>
              <a:buNone/>
            </a:pPr>
            <a:r>
              <a:rPr lang="en-US" sz="1050" dirty="0">
                <a:solidFill>
                  <a:srgbClr val="334155"/>
                </a:solidFill>
                <a:latin typeface="Calibri" pitchFamily="34" charset="0"/>
                <a:ea typeface="Calibri" pitchFamily="34" charset="-122"/>
                <a:cs typeface="Calibri" pitchFamily="34" charset="-120"/>
              </a:rPr>
              <a:t>• 데이터 언어를 이용하여 응용 프로그램 작성</a:t>
            </a:r>
            <a:endParaRPr lang="en-US" sz="1050" dirty="0"/>
          </a:p>
          <a:p>
            <a:pPr marL="0" indent="0">
              <a:lnSpc>
                <a:spcPct val="140000"/>
              </a:lnSpc>
              <a:buNone/>
            </a:pPr>
            <a:r>
              <a:rPr lang="en-US" sz="1050" dirty="0">
                <a:solidFill>
                  <a:srgbClr val="334155"/>
                </a:solidFill>
                <a:latin typeface="Calibri" pitchFamily="34" charset="0"/>
                <a:ea typeface="Calibri" pitchFamily="34" charset="-122"/>
                <a:cs typeface="Calibri" pitchFamily="34" charset="-120"/>
              </a:rPr>
              <a:t>• SQL을 프로그램에 삽입</a:t>
            </a:r>
            <a:endParaRPr lang="en-US" sz="1050" dirty="0"/>
          </a:p>
          <a:p>
            <a:pPr marL="0" indent="0">
              <a:lnSpc>
                <a:spcPct val="140000"/>
              </a:lnSpc>
              <a:buNone/>
            </a:pPr>
            <a:r>
              <a:rPr lang="en-US" sz="1050" dirty="0">
                <a:solidFill>
                  <a:srgbClr val="334155"/>
                </a:solidFill>
                <a:latin typeface="Calibri" pitchFamily="34" charset="0"/>
                <a:ea typeface="Calibri" pitchFamily="34" charset="-122"/>
                <a:cs typeface="Calibri" pitchFamily="34" charset="-120"/>
              </a:rPr>
              <a:t>• SELECT/INSERT 등 DML 사용</a:t>
            </a:r>
            <a:endParaRPr lang="en-US" sz="1050" dirty="0"/>
          </a:p>
          <a:p>
            <a:pPr marL="0" indent="0">
              <a:lnSpc>
                <a:spcPct val="140000"/>
              </a:lnSpc>
              <a:buNone/>
            </a:pPr>
            <a:r>
              <a:rPr lang="en-US" sz="1050" dirty="0">
                <a:solidFill>
                  <a:srgbClr val="334155"/>
                </a:solidFill>
                <a:latin typeface="Calibri" pitchFamily="34" charset="0"/>
                <a:ea typeface="Calibri" pitchFamily="34" charset="-122"/>
                <a:cs typeface="Calibri" pitchFamily="34" charset="-120"/>
              </a:rPr>
              <a:t>• CREATE 등 DDL은 사용하지 않음</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Text 1"/>
          <p:cNvSpPr/>
          <p:nvPr/>
        </p:nvSpPr>
        <p:spPr>
          <a:xfrm>
            <a:off x="640080" y="228600"/>
            <a:ext cx="7863840" cy="502920"/>
          </a:xfrm>
          <a:prstGeom prst="rect">
            <a:avLst/>
          </a:prstGeom>
          <a:noFill/>
          <a:ln/>
        </p:spPr>
        <p:txBody>
          <a:bodyPr wrap="square" lIns="0" tIns="0" rIns="0" bIns="0" rtlCol="0" anchor="ctr"/>
          <a:lstStyle/>
          <a:p>
            <a:pPr marL="0" indent="0">
              <a:buNone/>
            </a:pPr>
            <a:r>
              <a:rPr lang="en-US" sz="2200" b="1" dirty="0">
                <a:solidFill>
                  <a:srgbClr val="1A2744"/>
                </a:solidFill>
                <a:latin typeface="Arial Black" pitchFamily="34" charset="0"/>
                <a:ea typeface="Arial Black" pitchFamily="34" charset="-122"/>
                <a:cs typeface="Arial Black" pitchFamily="34" charset="-120"/>
              </a:rPr>
              <a:t>DBA의 주요 업무</a:t>
            </a:r>
            <a:endParaRPr lang="en-US" sz="2200" dirty="0"/>
          </a:p>
        </p:txBody>
      </p:sp>
      <p:sp>
        <p:nvSpPr>
          <p:cNvPr id="4" name="Shape 2"/>
          <p:cNvSpPr/>
          <p:nvPr/>
        </p:nvSpPr>
        <p:spPr>
          <a:xfrm>
            <a:off x="640080" y="777240"/>
            <a:ext cx="7863840" cy="18288"/>
          </a:xfrm>
          <a:prstGeom prst="rect">
            <a:avLst/>
          </a:prstGeom>
          <a:solidFill>
            <a:srgbClr val="E2E8F0"/>
          </a:solidFill>
          <a:ln/>
        </p:spPr>
      </p:sp>
      <p:sp>
        <p:nvSpPr>
          <p:cNvPr id="5" name="Text 3"/>
          <p:cNvSpPr/>
          <p:nvPr/>
        </p:nvSpPr>
        <p:spPr>
          <a:xfrm>
            <a:off x="8412480" y="4663440"/>
            <a:ext cx="457200" cy="320040"/>
          </a:xfrm>
          <a:prstGeom prst="rect">
            <a:avLst/>
          </a:prstGeom>
          <a:noFill/>
          <a:ln/>
        </p:spPr>
        <p:txBody>
          <a:bodyPr wrap="square" lIns="0" tIns="0" rIns="0" bIns="0"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14</a:t>
            </a:r>
            <a:endParaRPr lang="en-US" sz="1000" dirty="0"/>
          </a:p>
        </p:txBody>
      </p:sp>
      <p:sp>
        <p:nvSpPr>
          <p:cNvPr id="6" name="Shape 4"/>
          <p:cNvSpPr/>
          <p:nvPr/>
        </p:nvSpPr>
        <p:spPr>
          <a:xfrm>
            <a:off x="640080" y="960120"/>
            <a:ext cx="3749040" cy="777240"/>
          </a:xfrm>
          <a:prstGeom prst="rect">
            <a:avLst/>
          </a:prstGeom>
          <a:solidFill>
            <a:srgbClr val="FFFFFF"/>
          </a:solidFill>
          <a:ln/>
          <a:effectLst>
            <a:outerShdw blurRad="76200" dist="25400" dir="8100000" algn="bl" rotWithShape="0">
              <a:srgbClr val="000000">
                <a:alpha val="8000"/>
              </a:srgbClr>
            </a:outerShdw>
          </a:effectLst>
        </p:spPr>
      </p:sp>
      <p:sp>
        <p:nvSpPr>
          <p:cNvPr id="7" name="Shape 5"/>
          <p:cNvSpPr/>
          <p:nvPr/>
        </p:nvSpPr>
        <p:spPr>
          <a:xfrm>
            <a:off x="640080" y="960120"/>
            <a:ext cx="73152" cy="777240"/>
          </a:xfrm>
          <a:prstGeom prst="rect">
            <a:avLst/>
          </a:prstGeom>
          <a:solidFill>
            <a:srgbClr val="0891B2"/>
          </a:solidFill>
          <a:ln/>
        </p:spPr>
      </p:sp>
      <p:sp>
        <p:nvSpPr>
          <p:cNvPr id="8" name="Shape 6"/>
          <p:cNvSpPr/>
          <p:nvPr/>
        </p:nvSpPr>
        <p:spPr>
          <a:xfrm>
            <a:off x="822960" y="1143000"/>
            <a:ext cx="365760" cy="365760"/>
          </a:xfrm>
          <a:prstGeom prst="ellipse">
            <a:avLst/>
          </a:prstGeom>
          <a:solidFill>
            <a:srgbClr val="0891B2"/>
          </a:solidFill>
          <a:ln/>
        </p:spPr>
      </p:sp>
      <p:sp>
        <p:nvSpPr>
          <p:cNvPr id="9" name="Text 7"/>
          <p:cNvSpPr/>
          <p:nvPr/>
        </p:nvSpPr>
        <p:spPr>
          <a:xfrm>
            <a:off x="822960" y="1143000"/>
            <a:ext cx="365760" cy="365760"/>
          </a:xfrm>
          <a:prstGeom prst="rect">
            <a:avLst/>
          </a:prstGeom>
          <a:noFill/>
          <a:ln/>
        </p:spPr>
        <p:txBody>
          <a:bodyPr wrap="square" lIns="0" tIns="0" rIns="0" bIns="0" rtlCol="0" anchor="ctr"/>
          <a:lstStyle/>
          <a:p>
            <a:pPr marL="0" indent="0" algn="ctr">
              <a:buNone/>
            </a:pPr>
            <a:r>
              <a:rPr lang="en-US" sz="1300" dirty="0">
                <a:solidFill>
                  <a:srgbClr val="FFFFFF"/>
                </a:solidFill>
                <a:latin typeface="Arial Black" pitchFamily="34" charset="0"/>
                <a:ea typeface="Arial Black" pitchFamily="34" charset="-122"/>
                <a:cs typeface="Arial Black" pitchFamily="34" charset="-120"/>
              </a:rPr>
              <a:t>1</a:t>
            </a:r>
            <a:endParaRPr lang="en-US" sz="1300" dirty="0"/>
          </a:p>
        </p:txBody>
      </p:sp>
      <p:sp>
        <p:nvSpPr>
          <p:cNvPr id="10" name="Text 8"/>
          <p:cNvSpPr/>
          <p:nvPr/>
        </p:nvSpPr>
        <p:spPr>
          <a:xfrm>
            <a:off x="1325880" y="1005840"/>
            <a:ext cx="2834640" cy="320040"/>
          </a:xfrm>
          <a:prstGeom prst="rect">
            <a:avLst/>
          </a:prstGeom>
          <a:noFill/>
          <a:ln/>
        </p:spPr>
        <p:txBody>
          <a:bodyPr wrap="square" lIns="0" tIns="0" rIns="0" bIns="0" rtlCol="0" anchor="ctr"/>
          <a:lstStyle/>
          <a:p>
            <a:pPr marL="0" indent="0">
              <a:buNone/>
            </a:pPr>
            <a:r>
              <a:rPr lang="en-US" sz="1250" b="1" dirty="0">
                <a:solidFill>
                  <a:srgbClr val="1A2744"/>
                </a:solidFill>
                <a:latin typeface="Arial" pitchFamily="34" charset="0"/>
                <a:ea typeface="Arial" pitchFamily="34" charset="-122"/>
                <a:cs typeface="Arial" pitchFamily="34" charset="-120"/>
              </a:rPr>
              <a:t>DB 구성 요소 선정</a:t>
            </a:r>
            <a:endParaRPr lang="en-US" sz="1250" dirty="0"/>
          </a:p>
        </p:txBody>
      </p:sp>
      <p:sp>
        <p:nvSpPr>
          <p:cNvPr id="11" name="Text 9"/>
          <p:cNvSpPr/>
          <p:nvPr/>
        </p:nvSpPr>
        <p:spPr>
          <a:xfrm>
            <a:off x="1325880" y="1344168"/>
            <a:ext cx="2834640" cy="320040"/>
          </a:xfrm>
          <a:prstGeom prst="rect">
            <a:avLst/>
          </a:prstGeom>
          <a:noFill/>
          <a:ln/>
        </p:spPr>
        <p:txBody>
          <a:bodyPr wrap="square" lIns="0" tIns="0" rIns="0" bIns="0" rtlCol="0" anchor="ctr"/>
          <a:lstStyle/>
          <a:p>
            <a:pPr marL="0" indent="0">
              <a:buNone/>
            </a:pPr>
            <a:r>
              <a:rPr lang="en-US" sz="1050" dirty="0">
                <a:solidFill>
                  <a:srgbClr val="334155"/>
                </a:solidFill>
                <a:latin typeface="Calibri" pitchFamily="34" charset="0"/>
                <a:ea typeface="Calibri" pitchFamily="34" charset="-122"/>
                <a:cs typeface="Calibri" pitchFamily="34" charset="-120"/>
              </a:rPr>
              <a:t>DB에 저장할 데이터의 타입, 구조, 제약조건을 결정</a:t>
            </a:r>
            <a:endParaRPr lang="en-US" sz="1050" dirty="0"/>
          </a:p>
        </p:txBody>
      </p:sp>
      <p:sp>
        <p:nvSpPr>
          <p:cNvPr id="12" name="Shape 10"/>
          <p:cNvSpPr/>
          <p:nvPr/>
        </p:nvSpPr>
        <p:spPr>
          <a:xfrm>
            <a:off x="4754880" y="960120"/>
            <a:ext cx="3749040" cy="777240"/>
          </a:xfrm>
          <a:prstGeom prst="rect">
            <a:avLst/>
          </a:prstGeom>
          <a:solidFill>
            <a:srgbClr val="FFFFFF"/>
          </a:solidFill>
          <a:ln/>
          <a:effectLst>
            <a:outerShdw blurRad="76200" dist="25400" dir="8100000" algn="bl" rotWithShape="0">
              <a:srgbClr val="000000">
                <a:alpha val="8000"/>
              </a:srgbClr>
            </a:outerShdw>
          </a:effectLst>
        </p:spPr>
      </p:sp>
      <p:sp>
        <p:nvSpPr>
          <p:cNvPr id="13" name="Shape 11"/>
          <p:cNvSpPr/>
          <p:nvPr/>
        </p:nvSpPr>
        <p:spPr>
          <a:xfrm>
            <a:off x="4754880" y="960120"/>
            <a:ext cx="73152" cy="777240"/>
          </a:xfrm>
          <a:prstGeom prst="rect">
            <a:avLst/>
          </a:prstGeom>
          <a:solidFill>
            <a:srgbClr val="0891B2"/>
          </a:solidFill>
          <a:ln/>
        </p:spPr>
      </p:sp>
      <p:sp>
        <p:nvSpPr>
          <p:cNvPr id="14" name="Shape 12"/>
          <p:cNvSpPr/>
          <p:nvPr/>
        </p:nvSpPr>
        <p:spPr>
          <a:xfrm>
            <a:off x="4937760" y="1143000"/>
            <a:ext cx="365760" cy="365760"/>
          </a:xfrm>
          <a:prstGeom prst="ellipse">
            <a:avLst/>
          </a:prstGeom>
          <a:solidFill>
            <a:srgbClr val="0891B2"/>
          </a:solidFill>
          <a:ln/>
        </p:spPr>
      </p:sp>
      <p:sp>
        <p:nvSpPr>
          <p:cNvPr id="15" name="Text 13"/>
          <p:cNvSpPr/>
          <p:nvPr/>
        </p:nvSpPr>
        <p:spPr>
          <a:xfrm>
            <a:off x="4937760" y="1143000"/>
            <a:ext cx="365760" cy="365760"/>
          </a:xfrm>
          <a:prstGeom prst="rect">
            <a:avLst/>
          </a:prstGeom>
          <a:noFill/>
          <a:ln/>
        </p:spPr>
        <p:txBody>
          <a:bodyPr wrap="square" lIns="0" tIns="0" rIns="0" bIns="0" rtlCol="0" anchor="ctr"/>
          <a:lstStyle/>
          <a:p>
            <a:pPr marL="0" indent="0" algn="ctr">
              <a:buNone/>
            </a:pPr>
            <a:r>
              <a:rPr lang="en-US" sz="1300" dirty="0">
                <a:solidFill>
                  <a:srgbClr val="FFFFFF"/>
                </a:solidFill>
                <a:latin typeface="Arial Black" pitchFamily="34" charset="0"/>
                <a:ea typeface="Arial Black" pitchFamily="34" charset="-122"/>
                <a:cs typeface="Arial Black" pitchFamily="34" charset="-120"/>
              </a:rPr>
              <a:t>2</a:t>
            </a:r>
            <a:endParaRPr lang="en-US" sz="1300" dirty="0"/>
          </a:p>
        </p:txBody>
      </p:sp>
      <p:sp>
        <p:nvSpPr>
          <p:cNvPr id="16" name="Text 14"/>
          <p:cNvSpPr/>
          <p:nvPr/>
        </p:nvSpPr>
        <p:spPr>
          <a:xfrm>
            <a:off x="5440680" y="1005840"/>
            <a:ext cx="2834640" cy="320040"/>
          </a:xfrm>
          <a:prstGeom prst="rect">
            <a:avLst/>
          </a:prstGeom>
          <a:noFill/>
          <a:ln/>
        </p:spPr>
        <p:txBody>
          <a:bodyPr wrap="square" lIns="0" tIns="0" rIns="0" bIns="0" rtlCol="0" anchor="ctr"/>
          <a:lstStyle/>
          <a:p>
            <a:pPr marL="0" indent="0">
              <a:buNone/>
            </a:pPr>
            <a:r>
              <a:rPr lang="en-US" sz="1250" b="1" dirty="0">
                <a:solidFill>
                  <a:srgbClr val="1A2744"/>
                </a:solidFill>
                <a:latin typeface="Arial" pitchFamily="34" charset="0"/>
                <a:ea typeface="Arial" pitchFamily="34" charset="-122"/>
                <a:cs typeface="Arial" pitchFamily="34" charset="-120"/>
              </a:rPr>
              <a:t>스키마 정의</a:t>
            </a:r>
            <a:endParaRPr lang="en-US" sz="1250" dirty="0"/>
          </a:p>
        </p:txBody>
      </p:sp>
      <p:sp>
        <p:nvSpPr>
          <p:cNvPr id="17" name="Text 15"/>
          <p:cNvSpPr/>
          <p:nvPr/>
        </p:nvSpPr>
        <p:spPr>
          <a:xfrm>
            <a:off x="5440680" y="1344168"/>
            <a:ext cx="2834640" cy="320040"/>
          </a:xfrm>
          <a:prstGeom prst="rect">
            <a:avLst/>
          </a:prstGeom>
          <a:noFill/>
          <a:ln/>
        </p:spPr>
        <p:txBody>
          <a:bodyPr wrap="square" lIns="0" tIns="0" rIns="0" bIns="0" rtlCol="0" anchor="ctr"/>
          <a:lstStyle/>
          <a:p>
            <a:pPr marL="0" indent="0">
              <a:buNone/>
            </a:pPr>
            <a:r>
              <a:rPr lang="en-US" sz="1050" dirty="0">
                <a:solidFill>
                  <a:srgbClr val="334155"/>
                </a:solidFill>
                <a:latin typeface="Calibri" pitchFamily="34" charset="0"/>
                <a:ea typeface="Calibri" pitchFamily="34" charset="-122"/>
                <a:cs typeface="Calibri" pitchFamily="34" charset="-120"/>
              </a:rPr>
              <a:t>개념/외부/내부 스키마 정의 및 설계 (개발 초기 단계)</a:t>
            </a:r>
            <a:endParaRPr lang="en-US" sz="1050" dirty="0"/>
          </a:p>
        </p:txBody>
      </p:sp>
      <p:sp>
        <p:nvSpPr>
          <p:cNvPr id="18" name="Shape 16"/>
          <p:cNvSpPr/>
          <p:nvPr/>
        </p:nvSpPr>
        <p:spPr>
          <a:xfrm>
            <a:off x="640080" y="1920240"/>
            <a:ext cx="3749040" cy="777240"/>
          </a:xfrm>
          <a:prstGeom prst="rect">
            <a:avLst/>
          </a:prstGeom>
          <a:solidFill>
            <a:srgbClr val="FFFFFF"/>
          </a:solidFill>
          <a:ln/>
          <a:effectLst>
            <a:outerShdw blurRad="76200" dist="25400" dir="8100000" algn="bl" rotWithShape="0">
              <a:srgbClr val="000000">
                <a:alpha val="8000"/>
              </a:srgbClr>
            </a:outerShdw>
          </a:effectLst>
        </p:spPr>
      </p:sp>
      <p:sp>
        <p:nvSpPr>
          <p:cNvPr id="19" name="Shape 17"/>
          <p:cNvSpPr/>
          <p:nvPr/>
        </p:nvSpPr>
        <p:spPr>
          <a:xfrm>
            <a:off x="640080" y="1920240"/>
            <a:ext cx="73152" cy="777240"/>
          </a:xfrm>
          <a:prstGeom prst="rect">
            <a:avLst/>
          </a:prstGeom>
          <a:solidFill>
            <a:srgbClr val="0891B2"/>
          </a:solidFill>
          <a:ln/>
        </p:spPr>
      </p:sp>
      <p:sp>
        <p:nvSpPr>
          <p:cNvPr id="20" name="Shape 18"/>
          <p:cNvSpPr/>
          <p:nvPr/>
        </p:nvSpPr>
        <p:spPr>
          <a:xfrm>
            <a:off x="822960" y="2103120"/>
            <a:ext cx="365760" cy="365760"/>
          </a:xfrm>
          <a:prstGeom prst="ellipse">
            <a:avLst/>
          </a:prstGeom>
          <a:solidFill>
            <a:srgbClr val="0891B2"/>
          </a:solidFill>
          <a:ln/>
        </p:spPr>
      </p:sp>
      <p:sp>
        <p:nvSpPr>
          <p:cNvPr id="21" name="Text 19"/>
          <p:cNvSpPr/>
          <p:nvPr/>
        </p:nvSpPr>
        <p:spPr>
          <a:xfrm>
            <a:off x="822960" y="2103120"/>
            <a:ext cx="365760" cy="365760"/>
          </a:xfrm>
          <a:prstGeom prst="rect">
            <a:avLst/>
          </a:prstGeom>
          <a:noFill/>
          <a:ln/>
        </p:spPr>
        <p:txBody>
          <a:bodyPr wrap="square" lIns="0" tIns="0" rIns="0" bIns="0" rtlCol="0" anchor="ctr"/>
          <a:lstStyle/>
          <a:p>
            <a:pPr marL="0" indent="0" algn="ctr">
              <a:buNone/>
            </a:pPr>
            <a:r>
              <a:rPr lang="en-US" sz="1300" dirty="0">
                <a:solidFill>
                  <a:srgbClr val="FFFFFF"/>
                </a:solidFill>
                <a:latin typeface="Arial Black" pitchFamily="34" charset="0"/>
                <a:ea typeface="Arial Black" pitchFamily="34" charset="-122"/>
                <a:cs typeface="Arial Black" pitchFamily="34" charset="-120"/>
              </a:rPr>
              <a:t>3</a:t>
            </a:r>
            <a:endParaRPr lang="en-US" sz="1300" dirty="0"/>
          </a:p>
        </p:txBody>
      </p:sp>
      <p:sp>
        <p:nvSpPr>
          <p:cNvPr id="22" name="Text 20"/>
          <p:cNvSpPr/>
          <p:nvPr/>
        </p:nvSpPr>
        <p:spPr>
          <a:xfrm>
            <a:off x="1325880" y="1965960"/>
            <a:ext cx="2834640" cy="320040"/>
          </a:xfrm>
          <a:prstGeom prst="rect">
            <a:avLst/>
          </a:prstGeom>
          <a:noFill/>
          <a:ln/>
        </p:spPr>
        <p:txBody>
          <a:bodyPr wrap="square" lIns="0" tIns="0" rIns="0" bIns="0" rtlCol="0" anchor="ctr"/>
          <a:lstStyle/>
          <a:p>
            <a:pPr marL="0" indent="0">
              <a:buNone/>
            </a:pPr>
            <a:r>
              <a:rPr lang="en-US" sz="1250" b="1" dirty="0">
                <a:solidFill>
                  <a:srgbClr val="1A2744"/>
                </a:solidFill>
                <a:latin typeface="Arial" pitchFamily="34" charset="0"/>
                <a:ea typeface="Arial" pitchFamily="34" charset="-122"/>
                <a:cs typeface="Arial" pitchFamily="34" charset="-120"/>
              </a:rPr>
              <a:t>물리적 저장 구조 결정</a:t>
            </a:r>
            <a:endParaRPr lang="en-US" sz="1250" dirty="0"/>
          </a:p>
        </p:txBody>
      </p:sp>
      <p:sp>
        <p:nvSpPr>
          <p:cNvPr id="23" name="Text 21"/>
          <p:cNvSpPr/>
          <p:nvPr/>
        </p:nvSpPr>
        <p:spPr>
          <a:xfrm>
            <a:off x="1325880" y="2304288"/>
            <a:ext cx="2834640" cy="320040"/>
          </a:xfrm>
          <a:prstGeom prst="rect">
            <a:avLst/>
          </a:prstGeom>
          <a:noFill/>
          <a:ln/>
        </p:spPr>
        <p:txBody>
          <a:bodyPr wrap="square" lIns="0" tIns="0" rIns="0" bIns="0" rtlCol="0" anchor="ctr"/>
          <a:lstStyle/>
          <a:p>
            <a:pPr marL="0" indent="0">
              <a:buNone/>
            </a:pPr>
            <a:r>
              <a:rPr lang="en-US" sz="1050" dirty="0">
                <a:solidFill>
                  <a:srgbClr val="334155"/>
                </a:solidFill>
                <a:latin typeface="Calibri" pitchFamily="34" charset="0"/>
                <a:ea typeface="Calibri" pitchFamily="34" charset="-122"/>
                <a:cs typeface="Calibri" pitchFamily="34" charset="-120"/>
              </a:rPr>
              <a:t>물리적 저장 구조와 접근 방법 결정, 인덱스 설계</a:t>
            </a:r>
            <a:endParaRPr lang="en-US" sz="1050" dirty="0"/>
          </a:p>
        </p:txBody>
      </p:sp>
      <p:sp>
        <p:nvSpPr>
          <p:cNvPr id="24" name="Shape 22"/>
          <p:cNvSpPr/>
          <p:nvPr/>
        </p:nvSpPr>
        <p:spPr>
          <a:xfrm>
            <a:off x="4754880" y="1920240"/>
            <a:ext cx="3749040" cy="777240"/>
          </a:xfrm>
          <a:prstGeom prst="rect">
            <a:avLst/>
          </a:prstGeom>
          <a:solidFill>
            <a:srgbClr val="FFFFFF"/>
          </a:solidFill>
          <a:ln/>
          <a:effectLst>
            <a:outerShdw blurRad="76200" dist="25400" dir="8100000" algn="bl" rotWithShape="0">
              <a:srgbClr val="000000">
                <a:alpha val="8000"/>
              </a:srgbClr>
            </a:outerShdw>
          </a:effectLst>
        </p:spPr>
      </p:sp>
      <p:sp>
        <p:nvSpPr>
          <p:cNvPr id="25" name="Shape 23"/>
          <p:cNvSpPr/>
          <p:nvPr/>
        </p:nvSpPr>
        <p:spPr>
          <a:xfrm>
            <a:off x="4754880" y="1920240"/>
            <a:ext cx="73152" cy="777240"/>
          </a:xfrm>
          <a:prstGeom prst="rect">
            <a:avLst/>
          </a:prstGeom>
          <a:solidFill>
            <a:srgbClr val="0891B2"/>
          </a:solidFill>
          <a:ln/>
        </p:spPr>
      </p:sp>
      <p:sp>
        <p:nvSpPr>
          <p:cNvPr id="26" name="Shape 24"/>
          <p:cNvSpPr/>
          <p:nvPr/>
        </p:nvSpPr>
        <p:spPr>
          <a:xfrm>
            <a:off x="4937760" y="2103120"/>
            <a:ext cx="365760" cy="365760"/>
          </a:xfrm>
          <a:prstGeom prst="ellipse">
            <a:avLst/>
          </a:prstGeom>
          <a:solidFill>
            <a:srgbClr val="0891B2"/>
          </a:solidFill>
          <a:ln/>
        </p:spPr>
      </p:sp>
      <p:sp>
        <p:nvSpPr>
          <p:cNvPr id="27" name="Text 25"/>
          <p:cNvSpPr/>
          <p:nvPr/>
        </p:nvSpPr>
        <p:spPr>
          <a:xfrm>
            <a:off x="4937760" y="2103120"/>
            <a:ext cx="365760" cy="365760"/>
          </a:xfrm>
          <a:prstGeom prst="rect">
            <a:avLst/>
          </a:prstGeom>
          <a:noFill/>
          <a:ln/>
        </p:spPr>
        <p:txBody>
          <a:bodyPr wrap="square" lIns="0" tIns="0" rIns="0" bIns="0" rtlCol="0" anchor="ctr"/>
          <a:lstStyle/>
          <a:p>
            <a:pPr marL="0" indent="0" algn="ctr">
              <a:buNone/>
            </a:pPr>
            <a:r>
              <a:rPr lang="en-US" sz="1300" dirty="0">
                <a:solidFill>
                  <a:srgbClr val="FFFFFF"/>
                </a:solidFill>
                <a:latin typeface="Arial Black" pitchFamily="34" charset="0"/>
                <a:ea typeface="Arial Black" pitchFamily="34" charset="-122"/>
                <a:cs typeface="Arial Black" pitchFamily="34" charset="-120"/>
              </a:rPr>
              <a:t>4</a:t>
            </a:r>
            <a:endParaRPr lang="en-US" sz="1300" dirty="0"/>
          </a:p>
        </p:txBody>
      </p:sp>
      <p:sp>
        <p:nvSpPr>
          <p:cNvPr id="28" name="Text 26"/>
          <p:cNvSpPr/>
          <p:nvPr/>
        </p:nvSpPr>
        <p:spPr>
          <a:xfrm>
            <a:off x="5440680" y="1965960"/>
            <a:ext cx="2834640" cy="320040"/>
          </a:xfrm>
          <a:prstGeom prst="rect">
            <a:avLst/>
          </a:prstGeom>
          <a:noFill/>
          <a:ln/>
        </p:spPr>
        <p:txBody>
          <a:bodyPr wrap="square" lIns="0" tIns="0" rIns="0" bIns="0" rtlCol="0" anchor="ctr"/>
          <a:lstStyle/>
          <a:p>
            <a:pPr marL="0" indent="0">
              <a:buNone/>
            </a:pPr>
            <a:r>
              <a:rPr lang="en-US" sz="1250" b="1" dirty="0">
                <a:solidFill>
                  <a:srgbClr val="1A2744"/>
                </a:solidFill>
                <a:latin typeface="Arial" pitchFamily="34" charset="0"/>
                <a:ea typeface="Arial" pitchFamily="34" charset="-122"/>
                <a:cs typeface="Arial" pitchFamily="34" charset="-120"/>
              </a:rPr>
              <a:t>무결성 제약조건 정의</a:t>
            </a:r>
            <a:endParaRPr lang="en-US" sz="1250" dirty="0"/>
          </a:p>
        </p:txBody>
      </p:sp>
      <p:sp>
        <p:nvSpPr>
          <p:cNvPr id="29" name="Text 27"/>
          <p:cNvSpPr/>
          <p:nvPr/>
        </p:nvSpPr>
        <p:spPr>
          <a:xfrm>
            <a:off x="5440680" y="2304288"/>
            <a:ext cx="2834640" cy="320040"/>
          </a:xfrm>
          <a:prstGeom prst="rect">
            <a:avLst/>
          </a:prstGeom>
          <a:noFill/>
          <a:ln/>
        </p:spPr>
        <p:txBody>
          <a:bodyPr wrap="square" lIns="0" tIns="0" rIns="0" bIns="0" rtlCol="0" anchor="ctr"/>
          <a:lstStyle/>
          <a:p>
            <a:pPr marL="0" indent="0">
              <a:buNone/>
            </a:pPr>
            <a:r>
              <a:rPr lang="en-US" sz="1050" dirty="0">
                <a:solidFill>
                  <a:srgbClr val="334155"/>
                </a:solidFill>
                <a:latin typeface="Calibri" pitchFamily="34" charset="0"/>
                <a:ea typeface="Calibri" pitchFamily="34" charset="-122"/>
                <a:cs typeface="Calibri" pitchFamily="34" charset="-120"/>
              </a:rPr>
              <a:t>무결성 유지를 위한 제약조건 정의 및 규칙 설정</a:t>
            </a:r>
            <a:endParaRPr lang="en-US" sz="1050" dirty="0"/>
          </a:p>
        </p:txBody>
      </p:sp>
      <p:sp>
        <p:nvSpPr>
          <p:cNvPr id="30" name="Shape 28"/>
          <p:cNvSpPr/>
          <p:nvPr/>
        </p:nvSpPr>
        <p:spPr>
          <a:xfrm>
            <a:off x="640080" y="2880360"/>
            <a:ext cx="3749040" cy="777240"/>
          </a:xfrm>
          <a:prstGeom prst="rect">
            <a:avLst/>
          </a:prstGeom>
          <a:solidFill>
            <a:srgbClr val="FFFFFF"/>
          </a:solidFill>
          <a:ln/>
          <a:effectLst>
            <a:outerShdw blurRad="76200" dist="25400" dir="8100000" algn="bl" rotWithShape="0">
              <a:srgbClr val="000000">
                <a:alpha val="8000"/>
              </a:srgbClr>
            </a:outerShdw>
          </a:effectLst>
        </p:spPr>
      </p:sp>
      <p:sp>
        <p:nvSpPr>
          <p:cNvPr id="31" name="Shape 29"/>
          <p:cNvSpPr/>
          <p:nvPr/>
        </p:nvSpPr>
        <p:spPr>
          <a:xfrm>
            <a:off x="640080" y="2880360"/>
            <a:ext cx="73152" cy="777240"/>
          </a:xfrm>
          <a:prstGeom prst="rect">
            <a:avLst/>
          </a:prstGeom>
          <a:solidFill>
            <a:srgbClr val="0891B2"/>
          </a:solidFill>
          <a:ln/>
        </p:spPr>
      </p:sp>
      <p:sp>
        <p:nvSpPr>
          <p:cNvPr id="32" name="Shape 30"/>
          <p:cNvSpPr/>
          <p:nvPr/>
        </p:nvSpPr>
        <p:spPr>
          <a:xfrm>
            <a:off x="822960" y="3063240"/>
            <a:ext cx="365760" cy="365760"/>
          </a:xfrm>
          <a:prstGeom prst="ellipse">
            <a:avLst/>
          </a:prstGeom>
          <a:solidFill>
            <a:srgbClr val="0891B2"/>
          </a:solidFill>
          <a:ln/>
        </p:spPr>
      </p:sp>
      <p:sp>
        <p:nvSpPr>
          <p:cNvPr id="33" name="Text 31"/>
          <p:cNvSpPr/>
          <p:nvPr/>
        </p:nvSpPr>
        <p:spPr>
          <a:xfrm>
            <a:off x="822960" y="3063240"/>
            <a:ext cx="365760" cy="365760"/>
          </a:xfrm>
          <a:prstGeom prst="rect">
            <a:avLst/>
          </a:prstGeom>
          <a:noFill/>
          <a:ln/>
        </p:spPr>
        <p:txBody>
          <a:bodyPr wrap="square" lIns="0" tIns="0" rIns="0" bIns="0" rtlCol="0" anchor="ctr"/>
          <a:lstStyle/>
          <a:p>
            <a:pPr marL="0" indent="0" algn="ctr">
              <a:buNone/>
            </a:pPr>
            <a:r>
              <a:rPr lang="en-US" sz="1300" dirty="0">
                <a:solidFill>
                  <a:srgbClr val="FFFFFF"/>
                </a:solidFill>
                <a:latin typeface="Arial Black" pitchFamily="34" charset="0"/>
                <a:ea typeface="Arial Black" pitchFamily="34" charset="-122"/>
                <a:cs typeface="Arial Black" pitchFamily="34" charset="-120"/>
              </a:rPr>
              <a:t>5</a:t>
            </a:r>
            <a:endParaRPr lang="en-US" sz="1300" dirty="0"/>
          </a:p>
        </p:txBody>
      </p:sp>
      <p:sp>
        <p:nvSpPr>
          <p:cNvPr id="34" name="Text 32"/>
          <p:cNvSpPr/>
          <p:nvPr/>
        </p:nvSpPr>
        <p:spPr>
          <a:xfrm>
            <a:off x="1325880" y="2926080"/>
            <a:ext cx="2834640" cy="320040"/>
          </a:xfrm>
          <a:prstGeom prst="rect">
            <a:avLst/>
          </a:prstGeom>
          <a:noFill/>
          <a:ln/>
        </p:spPr>
        <p:txBody>
          <a:bodyPr wrap="square" lIns="0" tIns="0" rIns="0" bIns="0" rtlCol="0" anchor="ctr"/>
          <a:lstStyle/>
          <a:p>
            <a:pPr marL="0" indent="0">
              <a:buNone/>
            </a:pPr>
            <a:r>
              <a:rPr lang="en-US" sz="1250" b="1" dirty="0">
                <a:solidFill>
                  <a:srgbClr val="1A2744"/>
                </a:solidFill>
                <a:latin typeface="Arial" pitchFamily="34" charset="0"/>
                <a:ea typeface="Arial" pitchFamily="34" charset="-122"/>
                <a:cs typeface="Arial" pitchFamily="34" charset="-120"/>
              </a:rPr>
              <a:t>보안·접근 권한 정책</a:t>
            </a:r>
            <a:endParaRPr lang="en-US" sz="1250" dirty="0"/>
          </a:p>
        </p:txBody>
      </p:sp>
      <p:sp>
        <p:nvSpPr>
          <p:cNvPr id="35" name="Text 33"/>
          <p:cNvSpPr/>
          <p:nvPr/>
        </p:nvSpPr>
        <p:spPr>
          <a:xfrm>
            <a:off x="1325880" y="3264408"/>
            <a:ext cx="2834640" cy="320040"/>
          </a:xfrm>
          <a:prstGeom prst="rect">
            <a:avLst/>
          </a:prstGeom>
          <a:noFill/>
          <a:ln/>
        </p:spPr>
        <p:txBody>
          <a:bodyPr wrap="square" lIns="0" tIns="0" rIns="0" bIns="0" rtlCol="0" anchor="ctr"/>
          <a:lstStyle/>
          <a:p>
            <a:pPr marL="0" indent="0">
              <a:buNone/>
            </a:pPr>
            <a:r>
              <a:rPr lang="en-US" sz="1050" dirty="0">
                <a:solidFill>
                  <a:srgbClr val="334155"/>
                </a:solidFill>
                <a:latin typeface="Calibri" pitchFamily="34" charset="0"/>
                <a:ea typeface="Calibri" pitchFamily="34" charset="-122"/>
                <a:cs typeface="Calibri" pitchFamily="34" charset="-120"/>
              </a:rPr>
              <a:t>보안 및 접근 권한 정책 결정, 사용자별 권한 수립</a:t>
            </a:r>
            <a:endParaRPr lang="en-US" sz="1050" dirty="0"/>
          </a:p>
        </p:txBody>
      </p:sp>
      <p:sp>
        <p:nvSpPr>
          <p:cNvPr id="36" name="Shape 34"/>
          <p:cNvSpPr/>
          <p:nvPr/>
        </p:nvSpPr>
        <p:spPr>
          <a:xfrm>
            <a:off x="4754880" y="2880360"/>
            <a:ext cx="3749040" cy="777240"/>
          </a:xfrm>
          <a:prstGeom prst="rect">
            <a:avLst/>
          </a:prstGeom>
          <a:solidFill>
            <a:srgbClr val="FFFFFF"/>
          </a:solidFill>
          <a:ln/>
          <a:effectLst>
            <a:outerShdw blurRad="76200" dist="25400" dir="8100000" algn="bl" rotWithShape="0">
              <a:srgbClr val="000000">
                <a:alpha val="8000"/>
              </a:srgbClr>
            </a:outerShdw>
          </a:effectLst>
        </p:spPr>
      </p:sp>
      <p:sp>
        <p:nvSpPr>
          <p:cNvPr id="37" name="Shape 35"/>
          <p:cNvSpPr/>
          <p:nvPr/>
        </p:nvSpPr>
        <p:spPr>
          <a:xfrm>
            <a:off x="4754880" y="2880360"/>
            <a:ext cx="73152" cy="777240"/>
          </a:xfrm>
          <a:prstGeom prst="rect">
            <a:avLst/>
          </a:prstGeom>
          <a:solidFill>
            <a:srgbClr val="0891B2"/>
          </a:solidFill>
          <a:ln/>
        </p:spPr>
      </p:sp>
      <p:sp>
        <p:nvSpPr>
          <p:cNvPr id="38" name="Shape 36"/>
          <p:cNvSpPr/>
          <p:nvPr/>
        </p:nvSpPr>
        <p:spPr>
          <a:xfrm>
            <a:off x="4937760" y="3063240"/>
            <a:ext cx="365760" cy="365760"/>
          </a:xfrm>
          <a:prstGeom prst="ellipse">
            <a:avLst/>
          </a:prstGeom>
          <a:solidFill>
            <a:srgbClr val="0891B2"/>
          </a:solidFill>
          <a:ln/>
        </p:spPr>
      </p:sp>
      <p:sp>
        <p:nvSpPr>
          <p:cNvPr id="39" name="Text 37"/>
          <p:cNvSpPr/>
          <p:nvPr/>
        </p:nvSpPr>
        <p:spPr>
          <a:xfrm>
            <a:off x="4937760" y="3063240"/>
            <a:ext cx="365760" cy="365760"/>
          </a:xfrm>
          <a:prstGeom prst="rect">
            <a:avLst/>
          </a:prstGeom>
          <a:noFill/>
          <a:ln/>
        </p:spPr>
        <p:txBody>
          <a:bodyPr wrap="square" lIns="0" tIns="0" rIns="0" bIns="0" rtlCol="0" anchor="ctr"/>
          <a:lstStyle/>
          <a:p>
            <a:pPr marL="0" indent="0" algn="ctr">
              <a:buNone/>
            </a:pPr>
            <a:r>
              <a:rPr lang="en-US" sz="1300" dirty="0">
                <a:solidFill>
                  <a:srgbClr val="FFFFFF"/>
                </a:solidFill>
                <a:latin typeface="Arial Black" pitchFamily="34" charset="0"/>
                <a:ea typeface="Arial Black" pitchFamily="34" charset="-122"/>
                <a:cs typeface="Arial Black" pitchFamily="34" charset="-120"/>
              </a:rPr>
              <a:t>6</a:t>
            </a:r>
            <a:endParaRPr lang="en-US" sz="1300" dirty="0"/>
          </a:p>
        </p:txBody>
      </p:sp>
      <p:sp>
        <p:nvSpPr>
          <p:cNvPr id="40" name="Text 38"/>
          <p:cNvSpPr/>
          <p:nvPr/>
        </p:nvSpPr>
        <p:spPr>
          <a:xfrm>
            <a:off x="5440680" y="2926080"/>
            <a:ext cx="2834640" cy="320040"/>
          </a:xfrm>
          <a:prstGeom prst="rect">
            <a:avLst/>
          </a:prstGeom>
          <a:noFill/>
          <a:ln/>
        </p:spPr>
        <p:txBody>
          <a:bodyPr wrap="square" lIns="0" tIns="0" rIns="0" bIns="0" rtlCol="0" anchor="ctr"/>
          <a:lstStyle/>
          <a:p>
            <a:pPr marL="0" indent="0">
              <a:buNone/>
            </a:pPr>
            <a:r>
              <a:rPr lang="en-US" sz="1250" b="1" dirty="0">
                <a:solidFill>
                  <a:srgbClr val="1A2744"/>
                </a:solidFill>
                <a:latin typeface="Arial" pitchFamily="34" charset="0"/>
                <a:ea typeface="Arial" pitchFamily="34" charset="-122"/>
                <a:cs typeface="Arial" pitchFamily="34" charset="-120"/>
              </a:rPr>
              <a:t>백업·회복 기법 정의</a:t>
            </a:r>
            <a:endParaRPr lang="en-US" sz="1250" dirty="0"/>
          </a:p>
        </p:txBody>
      </p:sp>
      <p:sp>
        <p:nvSpPr>
          <p:cNvPr id="41" name="Text 39"/>
          <p:cNvSpPr/>
          <p:nvPr/>
        </p:nvSpPr>
        <p:spPr>
          <a:xfrm>
            <a:off x="5440680" y="3264408"/>
            <a:ext cx="2834640" cy="320040"/>
          </a:xfrm>
          <a:prstGeom prst="rect">
            <a:avLst/>
          </a:prstGeom>
          <a:noFill/>
          <a:ln/>
        </p:spPr>
        <p:txBody>
          <a:bodyPr wrap="square" lIns="0" tIns="0" rIns="0" bIns="0" rtlCol="0" anchor="ctr"/>
          <a:lstStyle/>
          <a:p>
            <a:pPr marL="0" indent="0">
              <a:buNone/>
            </a:pPr>
            <a:r>
              <a:rPr lang="en-US" sz="1050" dirty="0">
                <a:solidFill>
                  <a:srgbClr val="334155"/>
                </a:solidFill>
                <a:latin typeface="Calibri" pitchFamily="34" charset="0"/>
                <a:ea typeface="Calibri" pitchFamily="34" charset="-122"/>
                <a:cs typeface="Calibri" pitchFamily="34" charset="-120"/>
              </a:rPr>
              <a:t>백업 및 회복 기법 정의, 복구 매뉴얼 작성</a:t>
            </a:r>
            <a:endParaRPr lang="en-US" sz="1050" dirty="0"/>
          </a:p>
        </p:txBody>
      </p:sp>
      <p:sp>
        <p:nvSpPr>
          <p:cNvPr id="42" name="Shape 40"/>
          <p:cNvSpPr/>
          <p:nvPr/>
        </p:nvSpPr>
        <p:spPr>
          <a:xfrm>
            <a:off x="640080" y="3840480"/>
            <a:ext cx="3749040" cy="777240"/>
          </a:xfrm>
          <a:prstGeom prst="rect">
            <a:avLst/>
          </a:prstGeom>
          <a:solidFill>
            <a:srgbClr val="FFFFFF"/>
          </a:solidFill>
          <a:ln/>
          <a:effectLst>
            <a:outerShdw blurRad="76200" dist="25400" dir="8100000" algn="bl" rotWithShape="0">
              <a:srgbClr val="000000">
                <a:alpha val="8000"/>
              </a:srgbClr>
            </a:outerShdw>
          </a:effectLst>
        </p:spPr>
      </p:sp>
      <p:sp>
        <p:nvSpPr>
          <p:cNvPr id="43" name="Shape 41"/>
          <p:cNvSpPr/>
          <p:nvPr/>
        </p:nvSpPr>
        <p:spPr>
          <a:xfrm>
            <a:off x="640080" y="3840480"/>
            <a:ext cx="73152" cy="777240"/>
          </a:xfrm>
          <a:prstGeom prst="rect">
            <a:avLst/>
          </a:prstGeom>
          <a:solidFill>
            <a:srgbClr val="0891B2"/>
          </a:solidFill>
          <a:ln/>
        </p:spPr>
      </p:sp>
      <p:sp>
        <p:nvSpPr>
          <p:cNvPr id="44" name="Shape 42"/>
          <p:cNvSpPr/>
          <p:nvPr/>
        </p:nvSpPr>
        <p:spPr>
          <a:xfrm>
            <a:off x="822960" y="4023360"/>
            <a:ext cx="365760" cy="365760"/>
          </a:xfrm>
          <a:prstGeom prst="ellipse">
            <a:avLst/>
          </a:prstGeom>
          <a:solidFill>
            <a:srgbClr val="0891B2"/>
          </a:solidFill>
          <a:ln/>
        </p:spPr>
      </p:sp>
      <p:sp>
        <p:nvSpPr>
          <p:cNvPr id="45" name="Text 43"/>
          <p:cNvSpPr/>
          <p:nvPr/>
        </p:nvSpPr>
        <p:spPr>
          <a:xfrm>
            <a:off x="822960" y="4023360"/>
            <a:ext cx="365760" cy="365760"/>
          </a:xfrm>
          <a:prstGeom prst="rect">
            <a:avLst/>
          </a:prstGeom>
          <a:noFill/>
          <a:ln/>
        </p:spPr>
        <p:txBody>
          <a:bodyPr wrap="square" lIns="0" tIns="0" rIns="0" bIns="0" rtlCol="0" anchor="ctr"/>
          <a:lstStyle/>
          <a:p>
            <a:pPr marL="0" indent="0" algn="ctr">
              <a:buNone/>
            </a:pPr>
            <a:r>
              <a:rPr lang="en-US" sz="1300" dirty="0">
                <a:solidFill>
                  <a:srgbClr val="FFFFFF"/>
                </a:solidFill>
                <a:latin typeface="Arial Black" pitchFamily="34" charset="0"/>
                <a:ea typeface="Arial Black" pitchFamily="34" charset="-122"/>
                <a:cs typeface="Arial Black" pitchFamily="34" charset="-120"/>
              </a:rPr>
              <a:t>7</a:t>
            </a:r>
            <a:endParaRPr lang="en-US" sz="1300" dirty="0"/>
          </a:p>
        </p:txBody>
      </p:sp>
      <p:sp>
        <p:nvSpPr>
          <p:cNvPr id="46" name="Text 44"/>
          <p:cNvSpPr/>
          <p:nvPr/>
        </p:nvSpPr>
        <p:spPr>
          <a:xfrm>
            <a:off x="1325880" y="3886200"/>
            <a:ext cx="2834640" cy="320040"/>
          </a:xfrm>
          <a:prstGeom prst="rect">
            <a:avLst/>
          </a:prstGeom>
          <a:noFill/>
          <a:ln/>
        </p:spPr>
        <p:txBody>
          <a:bodyPr wrap="square" lIns="0" tIns="0" rIns="0" bIns="0" rtlCol="0" anchor="ctr"/>
          <a:lstStyle/>
          <a:p>
            <a:pPr marL="0" indent="0">
              <a:buNone/>
            </a:pPr>
            <a:r>
              <a:rPr lang="en-US" sz="1250" b="1" dirty="0">
                <a:solidFill>
                  <a:srgbClr val="1A2744"/>
                </a:solidFill>
                <a:latin typeface="Arial" pitchFamily="34" charset="0"/>
                <a:ea typeface="Arial" pitchFamily="34" charset="-122"/>
                <a:cs typeface="Arial" pitchFamily="34" charset="-120"/>
              </a:rPr>
              <a:t>시스템 DB 관리 및 성능 감시</a:t>
            </a:r>
            <a:endParaRPr lang="en-US" sz="1250" dirty="0"/>
          </a:p>
        </p:txBody>
      </p:sp>
      <p:sp>
        <p:nvSpPr>
          <p:cNvPr id="47" name="Text 45"/>
          <p:cNvSpPr/>
          <p:nvPr/>
        </p:nvSpPr>
        <p:spPr>
          <a:xfrm>
            <a:off x="1325880" y="4224528"/>
            <a:ext cx="2834640" cy="320040"/>
          </a:xfrm>
          <a:prstGeom prst="rect">
            <a:avLst/>
          </a:prstGeom>
          <a:noFill/>
          <a:ln/>
        </p:spPr>
        <p:txBody>
          <a:bodyPr wrap="square" lIns="0" tIns="0" rIns="0" bIns="0" rtlCol="0" anchor="ctr"/>
          <a:lstStyle/>
          <a:p>
            <a:pPr marL="0" indent="0">
              <a:buNone/>
            </a:pPr>
            <a:r>
              <a:rPr lang="en-US" sz="1050" dirty="0">
                <a:solidFill>
                  <a:srgbClr val="334155"/>
                </a:solidFill>
                <a:latin typeface="Calibri" pitchFamily="34" charset="0"/>
                <a:ea typeface="Calibri" pitchFamily="34" charset="-122"/>
                <a:cs typeface="Calibri" pitchFamily="34" charset="-120"/>
              </a:rPr>
              <a:t>시스템 DB(데이터 사전) 관리, 병목 분석</a:t>
            </a:r>
            <a:endParaRPr lang="en-US" sz="1050" dirty="0"/>
          </a:p>
        </p:txBody>
      </p:sp>
      <p:sp>
        <p:nvSpPr>
          <p:cNvPr id="48" name="Shape 46"/>
          <p:cNvSpPr/>
          <p:nvPr/>
        </p:nvSpPr>
        <p:spPr>
          <a:xfrm>
            <a:off x="4754880" y="3840480"/>
            <a:ext cx="3749040" cy="777240"/>
          </a:xfrm>
          <a:prstGeom prst="rect">
            <a:avLst/>
          </a:prstGeom>
          <a:solidFill>
            <a:srgbClr val="FFFFFF"/>
          </a:solidFill>
          <a:ln/>
          <a:effectLst>
            <a:outerShdw blurRad="76200" dist="25400" dir="8100000" algn="bl" rotWithShape="0">
              <a:srgbClr val="000000">
                <a:alpha val="8000"/>
              </a:srgbClr>
            </a:outerShdw>
          </a:effectLst>
        </p:spPr>
      </p:sp>
      <p:sp>
        <p:nvSpPr>
          <p:cNvPr id="49" name="Shape 47"/>
          <p:cNvSpPr/>
          <p:nvPr/>
        </p:nvSpPr>
        <p:spPr>
          <a:xfrm>
            <a:off x="4754880" y="3840480"/>
            <a:ext cx="73152" cy="777240"/>
          </a:xfrm>
          <a:prstGeom prst="rect">
            <a:avLst/>
          </a:prstGeom>
          <a:solidFill>
            <a:srgbClr val="0891B2"/>
          </a:solidFill>
          <a:ln/>
        </p:spPr>
      </p:sp>
      <p:sp>
        <p:nvSpPr>
          <p:cNvPr id="50" name="Shape 48"/>
          <p:cNvSpPr/>
          <p:nvPr/>
        </p:nvSpPr>
        <p:spPr>
          <a:xfrm>
            <a:off x="4937760" y="4023360"/>
            <a:ext cx="365760" cy="365760"/>
          </a:xfrm>
          <a:prstGeom prst="ellipse">
            <a:avLst/>
          </a:prstGeom>
          <a:solidFill>
            <a:srgbClr val="0891B2"/>
          </a:solidFill>
          <a:ln/>
        </p:spPr>
      </p:sp>
      <p:sp>
        <p:nvSpPr>
          <p:cNvPr id="51" name="Text 49"/>
          <p:cNvSpPr/>
          <p:nvPr/>
        </p:nvSpPr>
        <p:spPr>
          <a:xfrm>
            <a:off x="4937760" y="4023360"/>
            <a:ext cx="365760" cy="365760"/>
          </a:xfrm>
          <a:prstGeom prst="rect">
            <a:avLst/>
          </a:prstGeom>
          <a:noFill/>
          <a:ln/>
        </p:spPr>
        <p:txBody>
          <a:bodyPr wrap="square" lIns="0" tIns="0" rIns="0" bIns="0" rtlCol="0" anchor="ctr"/>
          <a:lstStyle/>
          <a:p>
            <a:pPr marL="0" indent="0" algn="ctr">
              <a:buNone/>
            </a:pPr>
            <a:r>
              <a:rPr lang="en-US" sz="1300" dirty="0">
                <a:solidFill>
                  <a:srgbClr val="FFFFFF"/>
                </a:solidFill>
                <a:latin typeface="Arial Black" pitchFamily="34" charset="0"/>
                <a:ea typeface="Arial Black" pitchFamily="34" charset="-122"/>
                <a:cs typeface="Arial Black" pitchFamily="34" charset="-120"/>
              </a:rPr>
              <a:t>8</a:t>
            </a:r>
            <a:endParaRPr lang="en-US" sz="1300" dirty="0"/>
          </a:p>
        </p:txBody>
      </p:sp>
      <p:sp>
        <p:nvSpPr>
          <p:cNvPr id="52" name="Text 50"/>
          <p:cNvSpPr/>
          <p:nvPr/>
        </p:nvSpPr>
        <p:spPr>
          <a:xfrm>
            <a:off x="5440680" y="3886200"/>
            <a:ext cx="2834640" cy="320040"/>
          </a:xfrm>
          <a:prstGeom prst="rect">
            <a:avLst/>
          </a:prstGeom>
          <a:noFill/>
          <a:ln/>
        </p:spPr>
        <p:txBody>
          <a:bodyPr wrap="square" lIns="0" tIns="0" rIns="0" bIns="0" rtlCol="0" anchor="ctr"/>
          <a:lstStyle/>
          <a:p>
            <a:pPr marL="0" indent="0">
              <a:buNone/>
            </a:pPr>
            <a:r>
              <a:rPr lang="en-US" sz="1250" b="1" dirty="0">
                <a:solidFill>
                  <a:srgbClr val="1A2744"/>
                </a:solidFill>
                <a:latin typeface="Arial" pitchFamily="34" charset="0"/>
                <a:ea typeface="Arial" pitchFamily="34" charset="-122"/>
                <a:cs typeface="Arial" pitchFamily="34" charset="-120"/>
              </a:rPr>
              <a:t>DB 재구성</a:t>
            </a:r>
            <a:endParaRPr lang="en-US" sz="1250" dirty="0"/>
          </a:p>
        </p:txBody>
      </p:sp>
      <p:sp>
        <p:nvSpPr>
          <p:cNvPr id="53" name="Text 51"/>
          <p:cNvSpPr/>
          <p:nvPr/>
        </p:nvSpPr>
        <p:spPr>
          <a:xfrm>
            <a:off x="5440680" y="4224528"/>
            <a:ext cx="2834640" cy="320040"/>
          </a:xfrm>
          <a:prstGeom prst="rect">
            <a:avLst/>
          </a:prstGeom>
          <a:noFill/>
          <a:ln/>
        </p:spPr>
        <p:txBody>
          <a:bodyPr wrap="square" lIns="0" tIns="0" rIns="0" bIns="0" rtlCol="0" anchor="ctr"/>
          <a:lstStyle/>
          <a:p>
            <a:pPr marL="0" indent="0">
              <a:buNone/>
            </a:pPr>
            <a:r>
              <a:rPr lang="en-US" sz="1050" dirty="0">
                <a:solidFill>
                  <a:srgbClr val="334155"/>
                </a:solidFill>
                <a:latin typeface="Calibri" pitchFamily="34" charset="0"/>
                <a:ea typeface="Calibri" pitchFamily="34" charset="-122"/>
                <a:cs typeface="Calibri" pitchFamily="34" charset="-120"/>
              </a:rPr>
              <a:t>요구사항이나 환경 변경 시 DB 구조(스키마) 수정</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2744"/>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731520" y="1097280"/>
            <a:ext cx="1828800" cy="914400"/>
          </a:xfrm>
          <a:prstGeom prst="rect">
            <a:avLst/>
          </a:prstGeom>
          <a:noFill/>
          <a:ln/>
        </p:spPr>
        <p:txBody>
          <a:bodyPr wrap="square" lIns="0" tIns="0" rIns="0" bIns="0" rtlCol="0" anchor="ctr"/>
          <a:lstStyle/>
          <a:p>
            <a:pPr marL="0" indent="0">
              <a:buNone/>
            </a:pPr>
            <a:r>
              <a:rPr lang="en-US" sz="6000" dirty="0">
                <a:solidFill>
                  <a:srgbClr val="0891B2"/>
                </a:solidFill>
                <a:latin typeface="Arial Black" pitchFamily="34" charset="0"/>
                <a:ea typeface="Arial Black" pitchFamily="34" charset="-122"/>
                <a:cs typeface="Arial Black" pitchFamily="34" charset="-120"/>
              </a:rPr>
              <a:t>04</a:t>
            </a:r>
            <a:endParaRPr lang="en-US" sz="6000" dirty="0"/>
          </a:p>
        </p:txBody>
      </p:sp>
      <p:sp>
        <p:nvSpPr>
          <p:cNvPr id="5" name="Shape 3"/>
          <p:cNvSpPr/>
          <p:nvPr/>
        </p:nvSpPr>
        <p:spPr>
          <a:xfrm>
            <a:off x="731520" y="2103120"/>
            <a:ext cx="1371600" cy="36576"/>
          </a:xfrm>
          <a:prstGeom prst="rect">
            <a:avLst/>
          </a:prstGeom>
          <a:solidFill>
            <a:srgbClr val="0891B2"/>
          </a:solidFill>
          <a:ln/>
        </p:spPr>
      </p:sp>
      <p:sp>
        <p:nvSpPr>
          <p:cNvPr id="6" name="Text 4"/>
          <p:cNvSpPr/>
          <p:nvPr/>
        </p:nvSpPr>
        <p:spPr>
          <a:xfrm>
            <a:off x="731520" y="2377440"/>
            <a:ext cx="7315200" cy="822960"/>
          </a:xfrm>
          <a:prstGeom prst="rect">
            <a:avLst/>
          </a:prstGeom>
          <a:noFill/>
          <a:ln/>
        </p:spPr>
        <p:txBody>
          <a:bodyPr wrap="square" lIns="0" tIns="0" rIns="0" bIns="0" rtlCol="0" anchor="ctr"/>
          <a:lstStyle/>
          <a:p>
            <a:pPr marL="0" indent="0">
              <a:buNone/>
            </a:pPr>
            <a:r>
              <a:rPr lang="en-US" sz="3200" b="1" dirty="0">
                <a:solidFill>
                  <a:srgbClr val="FFFFFF"/>
                </a:solidFill>
                <a:latin typeface="Arial Black" pitchFamily="34" charset="0"/>
                <a:ea typeface="Arial Black" pitchFamily="34" charset="-122"/>
                <a:cs typeface="Arial Black" pitchFamily="34" charset="-120"/>
              </a:rPr>
              <a:t>데이터 언어</a:t>
            </a:r>
            <a:endParaRPr lang="en-US" sz="3200" dirty="0"/>
          </a:p>
        </p:txBody>
      </p:sp>
      <p:sp>
        <p:nvSpPr>
          <p:cNvPr id="7" name="Text 5"/>
          <p:cNvSpPr/>
          <p:nvPr/>
        </p:nvSpPr>
        <p:spPr>
          <a:xfrm>
            <a:off x="731520" y="3200400"/>
            <a:ext cx="7315200" cy="457200"/>
          </a:xfrm>
          <a:prstGeom prst="rect">
            <a:avLst/>
          </a:prstGeom>
          <a:noFill/>
          <a:ln/>
        </p:spPr>
        <p:txBody>
          <a:bodyPr wrap="square" lIns="0" tIns="0" rIns="0" bIns="0" rtlCol="0" anchor="ctr"/>
          <a:lstStyle/>
          <a:p>
            <a:pPr marL="0" indent="0">
              <a:buNone/>
            </a:pPr>
            <a:r>
              <a:rPr lang="en-US" sz="1400" i="1" dirty="0">
                <a:solidFill>
                  <a:srgbClr val="94A3B8"/>
                </a:solidFill>
                <a:latin typeface="Calibri" pitchFamily="34" charset="0"/>
                <a:ea typeface="Calibri" pitchFamily="34" charset="-122"/>
                <a:cs typeface="Calibri" pitchFamily="34" charset="-120"/>
              </a:rPr>
              <a:t>Data Language — DDL, DML, DCL</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Text 1"/>
          <p:cNvSpPr/>
          <p:nvPr/>
        </p:nvSpPr>
        <p:spPr>
          <a:xfrm>
            <a:off x="640080" y="228600"/>
            <a:ext cx="7863840" cy="502920"/>
          </a:xfrm>
          <a:prstGeom prst="rect">
            <a:avLst/>
          </a:prstGeom>
          <a:noFill/>
          <a:ln/>
        </p:spPr>
        <p:txBody>
          <a:bodyPr wrap="square" lIns="0" tIns="0" rIns="0" bIns="0" rtlCol="0" anchor="ctr"/>
          <a:lstStyle/>
          <a:p>
            <a:pPr marL="0" indent="0">
              <a:buNone/>
            </a:pPr>
            <a:r>
              <a:rPr lang="en-US" sz="2200" b="1" dirty="0">
                <a:solidFill>
                  <a:srgbClr val="1A2744"/>
                </a:solidFill>
                <a:latin typeface="Arial Black" pitchFamily="34" charset="0"/>
                <a:ea typeface="Arial Black" pitchFamily="34" charset="-122"/>
                <a:cs typeface="Arial Black" pitchFamily="34" charset="-120"/>
              </a:rPr>
              <a:t>데이터 언어 — DBMS와의 통신 수단</a:t>
            </a:r>
            <a:endParaRPr lang="en-US" sz="2200" dirty="0"/>
          </a:p>
        </p:txBody>
      </p:sp>
      <p:sp>
        <p:nvSpPr>
          <p:cNvPr id="4" name="Shape 2"/>
          <p:cNvSpPr/>
          <p:nvPr/>
        </p:nvSpPr>
        <p:spPr>
          <a:xfrm>
            <a:off x="640080" y="777240"/>
            <a:ext cx="7863840" cy="18288"/>
          </a:xfrm>
          <a:prstGeom prst="rect">
            <a:avLst/>
          </a:prstGeom>
          <a:solidFill>
            <a:srgbClr val="E2E8F0"/>
          </a:solidFill>
          <a:ln/>
        </p:spPr>
      </p:sp>
      <p:sp>
        <p:nvSpPr>
          <p:cNvPr id="5" name="Text 3"/>
          <p:cNvSpPr/>
          <p:nvPr/>
        </p:nvSpPr>
        <p:spPr>
          <a:xfrm>
            <a:off x="8412480" y="4663440"/>
            <a:ext cx="457200" cy="320040"/>
          </a:xfrm>
          <a:prstGeom prst="rect">
            <a:avLst/>
          </a:prstGeom>
          <a:noFill/>
          <a:ln/>
        </p:spPr>
        <p:txBody>
          <a:bodyPr wrap="square" lIns="0" tIns="0" rIns="0" bIns="0"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16</a:t>
            </a:r>
            <a:endParaRPr lang="en-US" sz="1000" dirty="0"/>
          </a:p>
        </p:txBody>
      </p:sp>
      <p:sp>
        <p:nvSpPr>
          <p:cNvPr id="6" name="Shape 4"/>
          <p:cNvSpPr/>
          <p:nvPr/>
        </p:nvSpPr>
        <p:spPr>
          <a:xfrm>
            <a:off x="640080" y="960120"/>
            <a:ext cx="7863840" cy="457200"/>
          </a:xfrm>
          <a:prstGeom prst="rect">
            <a:avLst/>
          </a:prstGeom>
          <a:solidFill>
            <a:srgbClr val="1A2744"/>
          </a:solidFill>
          <a:ln/>
        </p:spPr>
      </p:sp>
      <p:sp>
        <p:nvSpPr>
          <p:cNvPr id="7" name="Text 5"/>
          <p:cNvSpPr/>
          <p:nvPr/>
        </p:nvSpPr>
        <p:spPr>
          <a:xfrm>
            <a:off x="914400" y="960120"/>
            <a:ext cx="7315200" cy="45720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데이터 언어 = 사용자와 DBMS 간의 통신 수단 (정의어·조작어·제어어로 구분)</a:t>
            </a:r>
            <a:endParaRPr lang="en-US" sz="1300" dirty="0"/>
          </a:p>
        </p:txBody>
      </p:sp>
      <p:sp>
        <p:nvSpPr>
          <p:cNvPr id="8" name="Shape 6"/>
          <p:cNvSpPr/>
          <p:nvPr/>
        </p:nvSpPr>
        <p:spPr>
          <a:xfrm>
            <a:off x="640080" y="1645920"/>
            <a:ext cx="7863840" cy="960120"/>
          </a:xfrm>
          <a:prstGeom prst="rect">
            <a:avLst/>
          </a:prstGeom>
          <a:solidFill>
            <a:srgbClr val="FFFFFF"/>
          </a:solidFill>
          <a:ln/>
          <a:effectLst>
            <a:outerShdw blurRad="50800" dist="25400" dir="8100000" algn="bl" rotWithShape="0">
              <a:srgbClr val="000000">
                <a:alpha val="10000"/>
              </a:srgbClr>
            </a:outerShdw>
          </a:effectLst>
        </p:spPr>
      </p:sp>
      <p:sp>
        <p:nvSpPr>
          <p:cNvPr id="9" name="Shape 7"/>
          <p:cNvSpPr/>
          <p:nvPr/>
        </p:nvSpPr>
        <p:spPr>
          <a:xfrm>
            <a:off x="640080" y="1645920"/>
            <a:ext cx="73152" cy="960120"/>
          </a:xfrm>
          <a:prstGeom prst="rect">
            <a:avLst/>
          </a:prstGeom>
          <a:solidFill>
            <a:srgbClr val="0891B2"/>
          </a:solidFill>
          <a:ln/>
        </p:spPr>
      </p:sp>
      <p:pic>
        <p:nvPicPr>
          <p:cNvPr id="10" name="Image 0" descr="preencoded.png"/>
          <p:cNvPicPr>
            <a:picLocks noChangeAspect="1"/>
          </p:cNvPicPr>
          <p:nvPr/>
        </p:nvPicPr>
        <p:blipFill>
          <a:blip r:embed="rId3"/>
          <a:stretch>
            <a:fillRect/>
          </a:stretch>
        </p:blipFill>
        <p:spPr>
          <a:xfrm>
            <a:off x="914400" y="1737360"/>
            <a:ext cx="365760" cy="365760"/>
          </a:xfrm>
          <a:prstGeom prst="rect">
            <a:avLst/>
          </a:prstGeom>
        </p:spPr>
      </p:pic>
      <p:sp>
        <p:nvSpPr>
          <p:cNvPr id="11" name="Text 8"/>
          <p:cNvSpPr/>
          <p:nvPr/>
        </p:nvSpPr>
        <p:spPr>
          <a:xfrm>
            <a:off x="1463040" y="1691640"/>
            <a:ext cx="2286000" cy="320040"/>
          </a:xfrm>
          <a:prstGeom prst="rect">
            <a:avLst/>
          </a:prstGeom>
          <a:noFill/>
          <a:ln/>
        </p:spPr>
        <p:txBody>
          <a:bodyPr wrap="square" lIns="0" tIns="0" rIns="0" bIns="0" rtlCol="0" anchor="ctr"/>
          <a:lstStyle/>
          <a:p>
            <a:pPr marL="0" indent="0">
              <a:buNone/>
            </a:pPr>
            <a:r>
              <a:rPr lang="en-US" sz="1400" b="1" dirty="0">
                <a:solidFill>
                  <a:srgbClr val="1A2744"/>
                </a:solidFill>
                <a:latin typeface="Arial" pitchFamily="34" charset="0"/>
                <a:ea typeface="Arial" pitchFamily="34" charset="-122"/>
                <a:cs typeface="Arial" pitchFamily="34" charset="-120"/>
              </a:rPr>
              <a:t>데이터 정의어 (DDL)</a:t>
            </a:r>
            <a:endParaRPr lang="en-US" sz="1400" dirty="0"/>
          </a:p>
        </p:txBody>
      </p:sp>
      <p:sp>
        <p:nvSpPr>
          <p:cNvPr id="12" name="Text 9"/>
          <p:cNvSpPr/>
          <p:nvPr/>
        </p:nvSpPr>
        <p:spPr>
          <a:xfrm>
            <a:off x="1463040" y="1965960"/>
            <a:ext cx="2286000" cy="228600"/>
          </a:xfrm>
          <a:prstGeom prst="rect">
            <a:avLst/>
          </a:prstGeom>
          <a:noFill/>
          <a:ln/>
        </p:spPr>
        <p:txBody>
          <a:bodyPr wrap="square" lIns="0" tIns="0" rIns="0" bIns="0"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Data Definition Language</a:t>
            </a:r>
            <a:endParaRPr lang="en-US" sz="900" dirty="0"/>
          </a:p>
        </p:txBody>
      </p:sp>
      <p:sp>
        <p:nvSpPr>
          <p:cNvPr id="13" name="Shape 10"/>
          <p:cNvSpPr/>
          <p:nvPr/>
        </p:nvSpPr>
        <p:spPr>
          <a:xfrm>
            <a:off x="1463040" y="2240280"/>
            <a:ext cx="2286000" cy="274320"/>
          </a:xfrm>
          <a:prstGeom prst="roundRect">
            <a:avLst>
              <a:gd name="adj" fmla="val 16667"/>
            </a:avLst>
          </a:prstGeom>
          <a:solidFill>
            <a:srgbClr val="0891B2">
              <a:alpha val="12000"/>
            </a:srgbClr>
          </a:solidFill>
          <a:ln/>
        </p:spPr>
      </p:sp>
      <p:sp>
        <p:nvSpPr>
          <p:cNvPr id="14" name="Text 11"/>
          <p:cNvSpPr/>
          <p:nvPr/>
        </p:nvSpPr>
        <p:spPr>
          <a:xfrm>
            <a:off x="1554480" y="2240280"/>
            <a:ext cx="2103120" cy="274320"/>
          </a:xfrm>
          <a:prstGeom prst="rect">
            <a:avLst/>
          </a:prstGeom>
          <a:noFill/>
          <a:ln/>
        </p:spPr>
        <p:txBody>
          <a:bodyPr wrap="square" lIns="0" tIns="0" rIns="0" bIns="0" rtlCol="0" anchor="ctr"/>
          <a:lstStyle/>
          <a:p>
            <a:pPr marL="0" indent="0">
              <a:buNone/>
            </a:pPr>
            <a:r>
              <a:rPr lang="en-US" sz="1000" b="1" dirty="0">
                <a:solidFill>
                  <a:srgbClr val="0891B2"/>
                </a:solidFill>
                <a:latin typeface="Consolas" pitchFamily="34" charset="0"/>
                <a:ea typeface="Consolas" pitchFamily="34" charset="-122"/>
                <a:cs typeface="Consolas" pitchFamily="34" charset="-120"/>
              </a:rPr>
              <a:t>CREATE / ALTER / DROP</a:t>
            </a:r>
            <a:endParaRPr lang="en-US" sz="1000" dirty="0"/>
          </a:p>
        </p:txBody>
      </p:sp>
      <p:sp>
        <p:nvSpPr>
          <p:cNvPr id="15" name="Text 12"/>
          <p:cNvSpPr/>
          <p:nvPr/>
        </p:nvSpPr>
        <p:spPr>
          <a:xfrm>
            <a:off x="4572000" y="1737360"/>
            <a:ext cx="3657600" cy="777240"/>
          </a:xfrm>
          <a:prstGeom prst="rect">
            <a:avLst/>
          </a:prstGeom>
          <a:noFill/>
          <a:ln/>
        </p:spPr>
        <p:txBody>
          <a:bodyPr wrap="square" lIns="0" tIns="0" rIns="0" bIns="0" rtlCol="0" anchor="ctr"/>
          <a:lstStyle/>
          <a:p>
            <a:pPr marL="0" indent="0">
              <a:lnSpc>
                <a:spcPct val="130000"/>
              </a:lnSpc>
              <a:buNone/>
            </a:pPr>
            <a:r>
              <a:rPr lang="en-US" sz="1150" dirty="0">
                <a:solidFill>
                  <a:srgbClr val="334155"/>
                </a:solidFill>
                <a:latin typeface="Calibri" pitchFamily="34" charset="0"/>
                <a:ea typeface="Calibri" pitchFamily="34" charset="-122"/>
                <a:cs typeface="Calibri" pitchFamily="34" charset="-120"/>
              </a:rPr>
              <a:t>데이터베이스의 스키마를 정의·수정·삭제하기 위한 언어</a:t>
            </a:r>
            <a:endParaRPr lang="en-US" sz="1150" dirty="0"/>
          </a:p>
          <a:p>
            <a:pPr marL="0" indent="0">
              <a:lnSpc>
                <a:spcPct val="130000"/>
              </a:lnSpc>
              <a:buNone/>
            </a:pPr>
            <a:r>
              <a:rPr lang="en-US" sz="1150" dirty="0">
                <a:solidFill>
                  <a:srgbClr val="334155"/>
                </a:solidFill>
                <a:latin typeface="Calibri" pitchFamily="34" charset="0"/>
                <a:ea typeface="Calibri" pitchFamily="34" charset="-122"/>
                <a:cs typeface="Calibri" pitchFamily="34" charset="-120"/>
              </a:rPr>
              <a:t>변경 내용은 데이터 사전에 반영</a:t>
            </a:r>
            <a:endParaRPr lang="en-US" sz="1150" dirty="0"/>
          </a:p>
        </p:txBody>
      </p:sp>
      <p:sp>
        <p:nvSpPr>
          <p:cNvPr id="16" name="Shape 13"/>
          <p:cNvSpPr/>
          <p:nvPr/>
        </p:nvSpPr>
        <p:spPr>
          <a:xfrm>
            <a:off x="640080" y="2788920"/>
            <a:ext cx="7863840" cy="960120"/>
          </a:xfrm>
          <a:prstGeom prst="rect">
            <a:avLst/>
          </a:prstGeom>
          <a:solidFill>
            <a:srgbClr val="FFFFFF"/>
          </a:solidFill>
          <a:ln/>
          <a:effectLst>
            <a:outerShdw blurRad="50800" dist="25400" dir="8100000" algn="bl" rotWithShape="0">
              <a:srgbClr val="000000">
                <a:alpha val="10000"/>
              </a:srgbClr>
            </a:outerShdw>
          </a:effectLst>
        </p:spPr>
      </p:sp>
      <p:sp>
        <p:nvSpPr>
          <p:cNvPr id="17" name="Shape 14"/>
          <p:cNvSpPr/>
          <p:nvPr/>
        </p:nvSpPr>
        <p:spPr>
          <a:xfrm>
            <a:off x="640080" y="2788920"/>
            <a:ext cx="73152" cy="960120"/>
          </a:xfrm>
          <a:prstGeom prst="rect">
            <a:avLst/>
          </a:prstGeom>
          <a:solidFill>
            <a:srgbClr val="F59E0B"/>
          </a:solidFill>
          <a:ln/>
        </p:spPr>
      </p:sp>
      <p:pic>
        <p:nvPicPr>
          <p:cNvPr id="18" name="Image 1" descr="preencoded.png"/>
          <p:cNvPicPr>
            <a:picLocks noChangeAspect="1"/>
          </p:cNvPicPr>
          <p:nvPr/>
        </p:nvPicPr>
        <p:blipFill>
          <a:blip r:embed="rId4"/>
          <a:stretch>
            <a:fillRect/>
          </a:stretch>
        </p:blipFill>
        <p:spPr>
          <a:xfrm>
            <a:off x="914400" y="2880360"/>
            <a:ext cx="365760" cy="365760"/>
          </a:xfrm>
          <a:prstGeom prst="rect">
            <a:avLst/>
          </a:prstGeom>
        </p:spPr>
      </p:pic>
      <p:sp>
        <p:nvSpPr>
          <p:cNvPr id="19" name="Text 15"/>
          <p:cNvSpPr/>
          <p:nvPr/>
        </p:nvSpPr>
        <p:spPr>
          <a:xfrm>
            <a:off x="1463040" y="2834640"/>
            <a:ext cx="2286000" cy="320040"/>
          </a:xfrm>
          <a:prstGeom prst="rect">
            <a:avLst/>
          </a:prstGeom>
          <a:noFill/>
          <a:ln/>
        </p:spPr>
        <p:txBody>
          <a:bodyPr wrap="square" lIns="0" tIns="0" rIns="0" bIns="0" rtlCol="0" anchor="ctr"/>
          <a:lstStyle/>
          <a:p>
            <a:pPr marL="0" indent="0">
              <a:buNone/>
            </a:pPr>
            <a:r>
              <a:rPr lang="en-US" sz="1400" b="1" dirty="0">
                <a:solidFill>
                  <a:srgbClr val="1A2744"/>
                </a:solidFill>
                <a:latin typeface="Arial" pitchFamily="34" charset="0"/>
                <a:ea typeface="Arial" pitchFamily="34" charset="-122"/>
                <a:cs typeface="Arial" pitchFamily="34" charset="-120"/>
              </a:rPr>
              <a:t>데이터 조작어 (DML)</a:t>
            </a:r>
            <a:endParaRPr lang="en-US" sz="1400" dirty="0"/>
          </a:p>
        </p:txBody>
      </p:sp>
      <p:sp>
        <p:nvSpPr>
          <p:cNvPr id="20" name="Text 16"/>
          <p:cNvSpPr/>
          <p:nvPr/>
        </p:nvSpPr>
        <p:spPr>
          <a:xfrm>
            <a:off x="1463040" y="3108960"/>
            <a:ext cx="2286000" cy="228600"/>
          </a:xfrm>
          <a:prstGeom prst="rect">
            <a:avLst/>
          </a:prstGeom>
          <a:noFill/>
          <a:ln/>
        </p:spPr>
        <p:txBody>
          <a:bodyPr wrap="square" lIns="0" tIns="0" rIns="0" bIns="0"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Data Manipulation Language</a:t>
            </a:r>
            <a:endParaRPr lang="en-US" sz="900" dirty="0"/>
          </a:p>
        </p:txBody>
      </p:sp>
      <p:sp>
        <p:nvSpPr>
          <p:cNvPr id="21" name="Shape 17"/>
          <p:cNvSpPr/>
          <p:nvPr/>
        </p:nvSpPr>
        <p:spPr>
          <a:xfrm>
            <a:off x="1463040" y="3383280"/>
            <a:ext cx="2286000" cy="274320"/>
          </a:xfrm>
          <a:prstGeom prst="roundRect">
            <a:avLst>
              <a:gd name="adj" fmla="val 16667"/>
            </a:avLst>
          </a:prstGeom>
          <a:solidFill>
            <a:srgbClr val="F59E0B">
              <a:alpha val="12000"/>
            </a:srgbClr>
          </a:solidFill>
          <a:ln/>
        </p:spPr>
      </p:sp>
      <p:sp>
        <p:nvSpPr>
          <p:cNvPr id="22" name="Text 18"/>
          <p:cNvSpPr/>
          <p:nvPr/>
        </p:nvSpPr>
        <p:spPr>
          <a:xfrm>
            <a:off x="1554480" y="3383280"/>
            <a:ext cx="2103120" cy="274320"/>
          </a:xfrm>
          <a:prstGeom prst="rect">
            <a:avLst/>
          </a:prstGeom>
          <a:noFill/>
          <a:ln/>
        </p:spPr>
        <p:txBody>
          <a:bodyPr wrap="square" lIns="0" tIns="0" rIns="0" bIns="0" rtlCol="0" anchor="ctr"/>
          <a:lstStyle/>
          <a:p>
            <a:pPr marL="0" indent="0">
              <a:buNone/>
            </a:pPr>
            <a:r>
              <a:rPr lang="en-US" sz="1000" b="1" dirty="0">
                <a:solidFill>
                  <a:srgbClr val="F59E0B"/>
                </a:solidFill>
                <a:latin typeface="Consolas" pitchFamily="34" charset="0"/>
                <a:ea typeface="Consolas" pitchFamily="34" charset="-122"/>
                <a:cs typeface="Consolas" pitchFamily="34" charset="-120"/>
              </a:rPr>
              <a:t>SELECT / INSERT / UPDATE / DELETE</a:t>
            </a:r>
            <a:endParaRPr lang="en-US" sz="1000" dirty="0"/>
          </a:p>
        </p:txBody>
      </p:sp>
      <p:sp>
        <p:nvSpPr>
          <p:cNvPr id="23" name="Text 19"/>
          <p:cNvSpPr/>
          <p:nvPr/>
        </p:nvSpPr>
        <p:spPr>
          <a:xfrm>
            <a:off x="4572000" y="2880360"/>
            <a:ext cx="3657600" cy="777240"/>
          </a:xfrm>
          <a:prstGeom prst="rect">
            <a:avLst/>
          </a:prstGeom>
          <a:noFill/>
          <a:ln/>
        </p:spPr>
        <p:txBody>
          <a:bodyPr wrap="square" lIns="0" tIns="0" rIns="0" bIns="0" rtlCol="0" anchor="ctr"/>
          <a:lstStyle/>
          <a:p>
            <a:pPr marL="0" indent="0">
              <a:lnSpc>
                <a:spcPct val="130000"/>
              </a:lnSpc>
              <a:buNone/>
            </a:pPr>
            <a:r>
              <a:rPr lang="en-US" sz="1150" dirty="0">
                <a:solidFill>
                  <a:srgbClr val="334155"/>
                </a:solidFill>
                <a:latin typeface="Calibri" pitchFamily="34" charset="0"/>
                <a:ea typeface="Calibri" pitchFamily="34" charset="-122"/>
                <a:cs typeface="Calibri" pitchFamily="34" charset="-120"/>
              </a:rPr>
              <a:t>데이터베이스에서 데이터의 삽입·삭제·수정·검색을 처리하는 언어</a:t>
            </a:r>
            <a:endParaRPr lang="en-US" sz="1150" dirty="0"/>
          </a:p>
          <a:p>
            <a:pPr marL="0" indent="0">
              <a:lnSpc>
                <a:spcPct val="130000"/>
              </a:lnSpc>
              <a:buNone/>
            </a:pPr>
            <a:r>
              <a:rPr lang="en-US" sz="1150" dirty="0">
                <a:solidFill>
                  <a:srgbClr val="334155"/>
                </a:solidFill>
                <a:latin typeface="Calibri" pitchFamily="34" charset="0"/>
                <a:ea typeface="Calibri" pitchFamily="34" charset="-122"/>
                <a:cs typeface="Calibri" pitchFamily="34" charset="-120"/>
              </a:rPr>
              <a:t>절차적 DML / 비절차적 DML (예: SQL)</a:t>
            </a:r>
            <a:endParaRPr lang="en-US" sz="1150" dirty="0"/>
          </a:p>
        </p:txBody>
      </p:sp>
      <p:sp>
        <p:nvSpPr>
          <p:cNvPr id="24" name="Shape 20"/>
          <p:cNvSpPr/>
          <p:nvPr/>
        </p:nvSpPr>
        <p:spPr>
          <a:xfrm>
            <a:off x="640080" y="3931920"/>
            <a:ext cx="7863840" cy="960120"/>
          </a:xfrm>
          <a:prstGeom prst="rect">
            <a:avLst/>
          </a:prstGeom>
          <a:solidFill>
            <a:srgbClr val="FFFFFF"/>
          </a:solidFill>
          <a:ln/>
          <a:effectLst>
            <a:outerShdw blurRad="50800" dist="25400" dir="8100000" algn="bl" rotWithShape="0">
              <a:srgbClr val="000000">
                <a:alpha val="10000"/>
              </a:srgbClr>
            </a:outerShdw>
          </a:effectLst>
        </p:spPr>
      </p:sp>
      <p:sp>
        <p:nvSpPr>
          <p:cNvPr id="25" name="Shape 21"/>
          <p:cNvSpPr/>
          <p:nvPr/>
        </p:nvSpPr>
        <p:spPr>
          <a:xfrm>
            <a:off x="640080" y="3931920"/>
            <a:ext cx="73152" cy="960120"/>
          </a:xfrm>
          <a:prstGeom prst="rect">
            <a:avLst/>
          </a:prstGeom>
          <a:solidFill>
            <a:srgbClr val="8B5CF6"/>
          </a:solidFill>
          <a:ln/>
        </p:spPr>
      </p:sp>
      <p:pic>
        <p:nvPicPr>
          <p:cNvPr id="26" name="Image 2" descr="preencoded.png"/>
          <p:cNvPicPr>
            <a:picLocks noChangeAspect="1"/>
          </p:cNvPicPr>
          <p:nvPr/>
        </p:nvPicPr>
        <p:blipFill>
          <a:blip r:embed="rId5"/>
          <a:stretch>
            <a:fillRect/>
          </a:stretch>
        </p:blipFill>
        <p:spPr>
          <a:xfrm>
            <a:off x="914400" y="4023360"/>
            <a:ext cx="365760" cy="365760"/>
          </a:xfrm>
          <a:prstGeom prst="rect">
            <a:avLst/>
          </a:prstGeom>
        </p:spPr>
      </p:pic>
      <p:sp>
        <p:nvSpPr>
          <p:cNvPr id="27" name="Text 22"/>
          <p:cNvSpPr/>
          <p:nvPr/>
        </p:nvSpPr>
        <p:spPr>
          <a:xfrm>
            <a:off x="1463040" y="3977640"/>
            <a:ext cx="2286000" cy="320040"/>
          </a:xfrm>
          <a:prstGeom prst="rect">
            <a:avLst/>
          </a:prstGeom>
          <a:noFill/>
          <a:ln/>
        </p:spPr>
        <p:txBody>
          <a:bodyPr wrap="square" lIns="0" tIns="0" rIns="0" bIns="0" rtlCol="0" anchor="ctr"/>
          <a:lstStyle/>
          <a:p>
            <a:pPr marL="0" indent="0">
              <a:buNone/>
            </a:pPr>
            <a:r>
              <a:rPr lang="en-US" sz="1400" b="1" dirty="0">
                <a:solidFill>
                  <a:srgbClr val="1A2744"/>
                </a:solidFill>
                <a:latin typeface="Arial" pitchFamily="34" charset="0"/>
                <a:ea typeface="Arial" pitchFamily="34" charset="-122"/>
                <a:cs typeface="Arial" pitchFamily="34" charset="-120"/>
              </a:rPr>
              <a:t>데이터 제어어 (DCL)</a:t>
            </a:r>
            <a:endParaRPr lang="en-US" sz="1400" dirty="0"/>
          </a:p>
        </p:txBody>
      </p:sp>
      <p:sp>
        <p:nvSpPr>
          <p:cNvPr id="28" name="Text 23"/>
          <p:cNvSpPr/>
          <p:nvPr/>
        </p:nvSpPr>
        <p:spPr>
          <a:xfrm>
            <a:off x="1463040" y="4251960"/>
            <a:ext cx="2286000" cy="228600"/>
          </a:xfrm>
          <a:prstGeom prst="rect">
            <a:avLst/>
          </a:prstGeom>
          <a:noFill/>
          <a:ln/>
        </p:spPr>
        <p:txBody>
          <a:bodyPr wrap="square" lIns="0" tIns="0" rIns="0" bIns="0" rtlCol="0" anchor="ctr"/>
          <a:lstStyle/>
          <a:p>
            <a:pPr marL="0" indent="0">
              <a:buNone/>
            </a:pPr>
            <a:r>
              <a:rPr lang="en-US" sz="900" i="1" dirty="0">
                <a:solidFill>
                  <a:srgbClr val="94A3B8"/>
                </a:solidFill>
                <a:latin typeface="Calibri" pitchFamily="34" charset="0"/>
                <a:ea typeface="Calibri" pitchFamily="34" charset="-122"/>
                <a:cs typeface="Calibri" pitchFamily="34" charset="-120"/>
              </a:rPr>
              <a:t>Data Control Language</a:t>
            </a:r>
            <a:endParaRPr lang="en-US" sz="900" dirty="0"/>
          </a:p>
        </p:txBody>
      </p:sp>
      <p:sp>
        <p:nvSpPr>
          <p:cNvPr id="29" name="Shape 24"/>
          <p:cNvSpPr/>
          <p:nvPr/>
        </p:nvSpPr>
        <p:spPr>
          <a:xfrm>
            <a:off x="1463040" y="4526280"/>
            <a:ext cx="2286000" cy="274320"/>
          </a:xfrm>
          <a:prstGeom prst="roundRect">
            <a:avLst>
              <a:gd name="adj" fmla="val 16667"/>
            </a:avLst>
          </a:prstGeom>
          <a:solidFill>
            <a:srgbClr val="8B5CF6">
              <a:alpha val="12000"/>
            </a:srgbClr>
          </a:solidFill>
          <a:ln/>
        </p:spPr>
      </p:sp>
      <p:sp>
        <p:nvSpPr>
          <p:cNvPr id="30" name="Text 25"/>
          <p:cNvSpPr/>
          <p:nvPr/>
        </p:nvSpPr>
        <p:spPr>
          <a:xfrm>
            <a:off x="1554480" y="4526280"/>
            <a:ext cx="2103120" cy="274320"/>
          </a:xfrm>
          <a:prstGeom prst="rect">
            <a:avLst/>
          </a:prstGeom>
          <a:noFill/>
          <a:ln/>
        </p:spPr>
        <p:txBody>
          <a:bodyPr wrap="square" lIns="0" tIns="0" rIns="0" bIns="0" rtlCol="0" anchor="ctr"/>
          <a:lstStyle/>
          <a:p>
            <a:pPr marL="0" indent="0">
              <a:buNone/>
            </a:pPr>
            <a:r>
              <a:rPr lang="en-US" sz="1000" b="1" dirty="0">
                <a:solidFill>
                  <a:srgbClr val="8B5CF6"/>
                </a:solidFill>
                <a:latin typeface="Consolas" pitchFamily="34" charset="0"/>
                <a:ea typeface="Consolas" pitchFamily="34" charset="-122"/>
                <a:cs typeface="Consolas" pitchFamily="34" charset="-120"/>
              </a:rPr>
              <a:t>GRANT / REVOKE / COMMIT / ROLLBACK</a:t>
            </a:r>
            <a:endParaRPr lang="en-US" sz="1000" dirty="0"/>
          </a:p>
        </p:txBody>
      </p:sp>
      <p:sp>
        <p:nvSpPr>
          <p:cNvPr id="31" name="Text 26"/>
          <p:cNvSpPr/>
          <p:nvPr/>
        </p:nvSpPr>
        <p:spPr>
          <a:xfrm>
            <a:off x="4572000" y="4023360"/>
            <a:ext cx="3657600" cy="777240"/>
          </a:xfrm>
          <a:prstGeom prst="rect">
            <a:avLst/>
          </a:prstGeom>
          <a:noFill/>
          <a:ln/>
        </p:spPr>
        <p:txBody>
          <a:bodyPr wrap="square" lIns="0" tIns="0" rIns="0" bIns="0" rtlCol="0" anchor="ctr"/>
          <a:lstStyle/>
          <a:p>
            <a:pPr marL="0" indent="0">
              <a:lnSpc>
                <a:spcPct val="130000"/>
              </a:lnSpc>
              <a:buNone/>
            </a:pPr>
            <a:r>
              <a:rPr lang="en-US" sz="1150" dirty="0">
                <a:solidFill>
                  <a:srgbClr val="334155"/>
                </a:solidFill>
                <a:latin typeface="Calibri" pitchFamily="34" charset="0"/>
                <a:ea typeface="Calibri" pitchFamily="34" charset="-122"/>
                <a:cs typeface="Calibri" pitchFamily="34" charset="-120"/>
              </a:rPr>
              <a:t>무결성 유지·보안·회복·동시성 제어 등을 처리하는 언어</a:t>
            </a:r>
            <a:endParaRPr lang="en-US" sz="1150" dirty="0"/>
          </a:p>
          <a:p>
            <a:pPr marL="0" indent="0">
              <a:lnSpc>
                <a:spcPct val="130000"/>
              </a:lnSpc>
              <a:buNone/>
            </a:pPr>
            <a:r>
              <a:rPr lang="en-US" sz="1150" dirty="0">
                <a:solidFill>
                  <a:srgbClr val="334155"/>
                </a:solidFill>
                <a:latin typeface="Calibri" pitchFamily="34" charset="0"/>
                <a:ea typeface="Calibri" pitchFamily="34" charset="-122"/>
                <a:cs typeface="Calibri" pitchFamily="34" charset="-120"/>
              </a:rPr>
              <a:t>내부적으로 필요한 규칙이나 기법을 정의하여 문제없이 공유</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Text 1"/>
          <p:cNvSpPr/>
          <p:nvPr/>
        </p:nvSpPr>
        <p:spPr>
          <a:xfrm>
            <a:off x="640080" y="228600"/>
            <a:ext cx="7863840" cy="502920"/>
          </a:xfrm>
          <a:prstGeom prst="rect">
            <a:avLst/>
          </a:prstGeom>
          <a:noFill/>
          <a:ln/>
        </p:spPr>
        <p:txBody>
          <a:bodyPr wrap="square" lIns="0" tIns="0" rIns="0" bIns="0" rtlCol="0" anchor="ctr"/>
          <a:lstStyle/>
          <a:p>
            <a:pPr marL="0" indent="0">
              <a:buNone/>
            </a:pPr>
            <a:r>
              <a:rPr lang="en-US" sz="2200" b="1" dirty="0">
                <a:solidFill>
                  <a:srgbClr val="1A2744"/>
                </a:solidFill>
                <a:latin typeface="Arial Black" pitchFamily="34" charset="0"/>
                <a:ea typeface="Arial Black" pitchFamily="34" charset="-122"/>
                <a:cs typeface="Arial Black" pitchFamily="34" charset="-120"/>
              </a:rPr>
              <a:t>DML: 절차적 vs 비절차적</a:t>
            </a:r>
            <a:endParaRPr lang="en-US" sz="2200" dirty="0"/>
          </a:p>
        </p:txBody>
      </p:sp>
      <p:sp>
        <p:nvSpPr>
          <p:cNvPr id="4" name="Shape 2"/>
          <p:cNvSpPr/>
          <p:nvPr/>
        </p:nvSpPr>
        <p:spPr>
          <a:xfrm>
            <a:off x="640080" y="777240"/>
            <a:ext cx="7863840" cy="18288"/>
          </a:xfrm>
          <a:prstGeom prst="rect">
            <a:avLst/>
          </a:prstGeom>
          <a:solidFill>
            <a:srgbClr val="E2E8F0"/>
          </a:solidFill>
          <a:ln/>
        </p:spPr>
      </p:sp>
      <p:sp>
        <p:nvSpPr>
          <p:cNvPr id="5" name="Text 3"/>
          <p:cNvSpPr/>
          <p:nvPr/>
        </p:nvSpPr>
        <p:spPr>
          <a:xfrm>
            <a:off x="8412480" y="4663440"/>
            <a:ext cx="457200" cy="320040"/>
          </a:xfrm>
          <a:prstGeom prst="rect">
            <a:avLst/>
          </a:prstGeom>
          <a:noFill/>
          <a:ln/>
        </p:spPr>
        <p:txBody>
          <a:bodyPr wrap="square" lIns="0" tIns="0" rIns="0" bIns="0"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17</a:t>
            </a:r>
            <a:endParaRPr lang="en-US" sz="1000" dirty="0"/>
          </a:p>
        </p:txBody>
      </p:sp>
      <p:sp>
        <p:nvSpPr>
          <p:cNvPr id="6" name="Shape 4"/>
          <p:cNvSpPr/>
          <p:nvPr/>
        </p:nvSpPr>
        <p:spPr>
          <a:xfrm>
            <a:off x="640080" y="960120"/>
            <a:ext cx="3749040" cy="3840480"/>
          </a:xfrm>
          <a:prstGeom prst="rect">
            <a:avLst/>
          </a:prstGeom>
          <a:solidFill>
            <a:srgbClr val="FFFFFF"/>
          </a:solidFill>
          <a:ln/>
          <a:effectLst>
            <a:outerShdw blurRad="50800" dist="25400" dir="8100000" algn="bl" rotWithShape="0">
              <a:srgbClr val="000000">
                <a:alpha val="10000"/>
              </a:srgbClr>
            </a:outerShdw>
          </a:effectLst>
        </p:spPr>
      </p:sp>
      <p:sp>
        <p:nvSpPr>
          <p:cNvPr id="7" name="Shape 5"/>
          <p:cNvSpPr/>
          <p:nvPr/>
        </p:nvSpPr>
        <p:spPr>
          <a:xfrm>
            <a:off x="640080" y="960120"/>
            <a:ext cx="3749040" cy="64008"/>
          </a:xfrm>
          <a:prstGeom prst="rect">
            <a:avLst/>
          </a:prstGeom>
          <a:solidFill>
            <a:srgbClr val="0891B2"/>
          </a:solidFill>
          <a:ln/>
        </p:spPr>
      </p:sp>
      <p:sp>
        <p:nvSpPr>
          <p:cNvPr id="8" name="Text 6"/>
          <p:cNvSpPr/>
          <p:nvPr/>
        </p:nvSpPr>
        <p:spPr>
          <a:xfrm>
            <a:off x="822960" y="1143000"/>
            <a:ext cx="3383280" cy="365760"/>
          </a:xfrm>
          <a:prstGeom prst="rect">
            <a:avLst/>
          </a:prstGeom>
          <a:noFill/>
          <a:ln/>
        </p:spPr>
        <p:txBody>
          <a:bodyPr wrap="square" lIns="0" tIns="0" rIns="0" bIns="0" rtlCol="0" anchor="ctr"/>
          <a:lstStyle/>
          <a:p>
            <a:pPr marL="0" indent="0">
              <a:buNone/>
            </a:pPr>
            <a:r>
              <a:rPr lang="en-US" sz="1600" b="1" dirty="0">
                <a:solidFill>
                  <a:srgbClr val="1A2744"/>
                </a:solidFill>
                <a:latin typeface="Arial" pitchFamily="34" charset="0"/>
                <a:ea typeface="Arial" pitchFamily="34" charset="-122"/>
                <a:cs typeface="Arial" pitchFamily="34" charset="-120"/>
              </a:rPr>
              <a:t>절차적 DML</a:t>
            </a:r>
            <a:endParaRPr lang="en-US" sz="1600" dirty="0"/>
          </a:p>
        </p:txBody>
      </p:sp>
      <p:sp>
        <p:nvSpPr>
          <p:cNvPr id="9" name="Text 7"/>
          <p:cNvSpPr/>
          <p:nvPr/>
        </p:nvSpPr>
        <p:spPr>
          <a:xfrm>
            <a:off x="822960" y="1508760"/>
            <a:ext cx="3383280" cy="274320"/>
          </a:xfrm>
          <a:prstGeom prst="rect">
            <a:avLst/>
          </a:prstGeom>
          <a:noFill/>
          <a:ln/>
        </p:spPr>
        <p:txBody>
          <a:bodyPr wrap="square" lIns="0" tIns="0" rIns="0" bIns="0" rtlCol="0" anchor="ctr"/>
          <a:lstStyle/>
          <a:p>
            <a:pPr marL="0" indent="0">
              <a:buNone/>
            </a:pPr>
            <a:r>
              <a:rPr lang="en-US" sz="1000" i="1" dirty="0">
                <a:solidFill>
                  <a:srgbClr val="94A3B8"/>
                </a:solidFill>
                <a:latin typeface="Calibri" pitchFamily="34" charset="0"/>
                <a:ea typeface="Calibri" pitchFamily="34" charset="-122"/>
                <a:cs typeface="Calibri" pitchFamily="34" charset="-120"/>
              </a:rPr>
              <a:t>Procedural DML</a:t>
            </a:r>
            <a:endParaRPr lang="en-US" sz="1000" dirty="0"/>
          </a:p>
        </p:txBody>
      </p:sp>
      <p:sp>
        <p:nvSpPr>
          <p:cNvPr id="10" name="Shape 8"/>
          <p:cNvSpPr/>
          <p:nvPr/>
        </p:nvSpPr>
        <p:spPr>
          <a:xfrm>
            <a:off x="914400" y="1874520"/>
            <a:ext cx="3200400" cy="18288"/>
          </a:xfrm>
          <a:prstGeom prst="rect">
            <a:avLst/>
          </a:prstGeom>
          <a:solidFill>
            <a:srgbClr val="E2E8F0"/>
          </a:solidFill>
          <a:ln/>
        </p:spPr>
      </p:sp>
      <p:sp>
        <p:nvSpPr>
          <p:cNvPr id="11" name="Text 9"/>
          <p:cNvSpPr/>
          <p:nvPr/>
        </p:nvSpPr>
        <p:spPr>
          <a:xfrm>
            <a:off x="822960" y="2011680"/>
            <a:ext cx="3383280" cy="640080"/>
          </a:xfrm>
          <a:prstGeom prst="rect">
            <a:avLst/>
          </a:prstGeom>
          <a:noFill/>
          <a:ln/>
        </p:spPr>
        <p:txBody>
          <a:bodyPr wrap="square" lIns="0" tIns="0" rIns="0" bIns="0"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어떤 데이터를 원하고, 어떻게 처리해야 하는지를 기술</a:t>
            </a:r>
            <a:endParaRPr lang="en-US" sz="1200" dirty="0"/>
          </a:p>
        </p:txBody>
      </p:sp>
      <p:sp>
        <p:nvSpPr>
          <p:cNvPr id="12" name="Shape 10"/>
          <p:cNvSpPr/>
          <p:nvPr/>
        </p:nvSpPr>
        <p:spPr>
          <a:xfrm>
            <a:off x="822960" y="2743200"/>
            <a:ext cx="3383280" cy="914400"/>
          </a:xfrm>
          <a:prstGeom prst="rect">
            <a:avLst/>
          </a:prstGeom>
          <a:solidFill>
            <a:srgbClr val="1E293B"/>
          </a:solidFill>
          <a:ln/>
        </p:spPr>
      </p:sp>
      <p:sp>
        <p:nvSpPr>
          <p:cNvPr id="13" name="Text 11"/>
          <p:cNvSpPr/>
          <p:nvPr/>
        </p:nvSpPr>
        <p:spPr>
          <a:xfrm>
            <a:off x="1005840" y="2788920"/>
            <a:ext cx="3017520" cy="822960"/>
          </a:xfrm>
          <a:prstGeom prst="rect">
            <a:avLst/>
          </a:prstGeom>
          <a:noFill/>
          <a:ln/>
        </p:spPr>
        <p:txBody>
          <a:bodyPr wrap="square" lIns="0" tIns="0" rIns="0" bIns="0" rtlCol="0" anchor="ctr"/>
          <a:lstStyle/>
          <a:p>
            <a:pPr marL="0" indent="0">
              <a:lnSpc>
                <a:spcPct val="130000"/>
              </a:lnSpc>
              <a:buNone/>
            </a:pPr>
            <a:r>
              <a:rPr lang="en-US" sz="1050" dirty="0">
                <a:solidFill>
                  <a:srgbClr val="22D3EE"/>
                </a:solidFill>
                <a:latin typeface="Consolas" pitchFamily="34" charset="0"/>
                <a:ea typeface="Consolas" pitchFamily="34" charset="-122"/>
                <a:cs typeface="Consolas" pitchFamily="34" charset="-120"/>
              </a:rPr>
              <a:t>SQL문을 프로그래밍 언어에 삽입하여</a:t>
            </a:r>
            <a:endParaRPr lang="en-US" sz="1050" dirty="0"/>
          </a:p>
          <a:p>
            <a:pPr marL="0" indent="0">
              <a:lnSpc>
                <a:spcPct val="130000"/>
              </a:lnSpc>
              <a:buNone/>
            </a:pPr>
            <a:r>
              <a:rPr lang="en-US" sz="1050" dirty="0">
                <a:solidFill>
                  <a:srgbClr val="22D3EE"/>
                </a:solidFill>
                <a:latin typeface="Consolas" pitchFamily="34" charset="0"/>
                <a:ea typeface="Consolas" pitchFamily="34" charset="-122"/>
                <a:cs typeface="Consolas" pitchFamily="34" charset="-120"/>
              </a:rPr>
              <a:t>방식으로 사용 (Embedded SQL)</a:t>
            </a:r>
            <a:endParaRPr lang="en-US" sz="1050" dirty="0"/>
          </a:p>
        </p:txBody>
      </p:sp>
      <p:sp>
        <p:nvSpPr>
          <p:cNvPr id="14" name="Shape 12"/>
          <p:cNvSpPr/>
          <p:nvPr/>
        </p:nvSpPr>
        <p:spPr>
          <a:xfrm>
            <a:off x="822960" y="3840480"/>
            <a:ext cx="3383280" cy="365760"/>
          </a:xfrm>
          <a:prstGeom prst="roundRect">
            <a:avLst>
              <a:gd name="adj" fmla="val 12500"/>
            </a:avLst>
          </a:prstGeom>
          <a:solidFill>
            <a:srgbClr val="0891B2">
              <a:alpha val="10000"/>
            </a:srgbClr>
          </a:solidFill>
          <a:ln/>
        </p:spPr>
      </p:sp>
      <p:sp>
        <p:nvSpPr>
          <p:cNvPr id="15" name="Text 13"/>
          <p:cNvSpPr/>
          <p:nvPr/>
        </p:nvSpPr>
        <p:spPr>
          <a:xfrm>
            <a:off x="1005840" y="3840480"/>
            <a:ext cx="3017520" cy="365760"/>
          </a:xfrm>
          <a:prstGeom prst="rect">
            <a:avLst/>
          </a:prstGeom>
          <a:noFill/>
          <a:ln/>
        </p:spPr>
        <p:txBody>
          <a:bodyPr wrap="square" lIns="0" tIns="0" rIns="0" bIns="0" rtlCol="0" anchor="ctr"/>
          <a:lstStyle/>
          <a:p>
            <a:pPr marL="0" indent="0">
              <a:buNone/>
            </a:pPr>
            <a:r>
              <a:rPr lang="en-US" sz="1100" b="1" dirty="0">
                <a:solidFill>
                  <a:srgbClr val="0891B2"/>
                </a:solidFill>
                <a:latin typeface="Calibri" pitchFamily="34" charset="0"/>
                <a:ea typeface="Calibri" pitchFamily="34" charset="-122"/>
                <a:cs typeface="Calibri" pitchFamily="34" charset="-120"/>
              </a:rPr>
              <a:t>주로 응용 프로그래머가 사용</a:t>
            </a:r>
            <a:endParaRPr lang="en-US" sz="1100" dirty="0"/>
          </a:p>
        </p:txBody>
      </p:sp>
      <p:sp>
        <p:nvSpPr>
          <p:cNvPr id="16" name="Shape 14"/>
          <p:cNvSpPr/>
          <p:nvPr/>
        </p:nvSpPr>
        <p:spPr>
          <a:xfrm>
            <a:off x="4754880" y="960120"/>
            <a:ext cx="3749040" cy="3840480"/>
          </a:xfrm>
          <a:prstGeom prst="rect">
            <a:avLst/>
          </a:prstGeom>
          <a:solidFill>
            <a:srgbClr val="FFFFFF"/>
          </a:solidFill>
          <a:ln/>
          <a:effectLst>
            <a:outerShdw blurRad="50800" dist="25400" dir="8100000" algn="bl" rotWithShape="0">
              <a:srgbClr val="000000">
                <a:alpha val="10000"/>
              </a:srgbClr>
            </a:outerShdw>
          </a:effectLst>
        </p:spPr>
      </p:sp>
      <p:sp>
        <p:nvSpPr>
          <p:cNvPr id="17" name="Shape 15"/>
          <p:cNvSpPr/>
          <p:nvPr/>
        </p:nvSpPr>
        <p:spPr>
          <a:xfrm>
            <a:off x="4754880" y="960120"/>
            <a:ext cx="3749040" cy="64008"/>
          </a:xfrm>
          <a:prstGeom prst="rect">
            <a:avLst/>
          </a:prstGeom>
          <a:solidFill>
            <a:srgbClr val="F59E0B"/>
          </a:solidFill>
          <a:ln/>
        </p:spPr>
      </p:sp>
      <p:sp>
        <p:nvSpPr>
          <p:cNvPr id="18" name="Text 16"/>
          <p:cNvSpPr/>
          <p:nvPr/>
        </p:nvSpPr>
        <p:spPr>
          <a:xfrm>
            <a:off x="4937760" y="1143000"/>
            <a:ext cx="3383280" cy="365760"/>
          </a:xfrm>
          <a:prstGeom prst="rect">
            <a:avLst/>
          </a:prstGeom>
          <a:noFill/>
          <a:ln/>
        </p:spPr>
        <p:txBody>
          <a:bodyPr wrap="square" lIns="0" tIns="0" rIns="0" bIns="0" rtlCol="0" anchor="ctr"/>
          <a:lstStyle/>
          <a:p>
            <a:pPr marL="0" indent="0">
              <a:buNone/>
            </a:pPr>
            <a:r>
              <a:rPr lang="en-US" sz="1600" b="1" dirty="0">
                <a:solidFill>
                  <a:srgbClr val="1A2744"/>
                </a:solidFill>
                <a:latin typeface="Arial" pitchFamily="34" charset="0"/>
                <a:ea typeface="Arial" pitchFamily="34" charset="-122"/>
                <a:cs typeface="Arial" pitchFamily="34" charset="-120"/>
              </a:rPr>
              <a:t>비절차적 DML</a:t>
            </a:r>
            <a:endParaRPr lang="en-US" sz="1600" dirty="0"/>
          </a:p>
        </p:txBody>
      </p:sp>
      <p:sp>
        <p:nvSpPr>
          <p:cNvPr id="19" name="Text 17"/>
          <p:cNvSpPr/>
          <p:nvPr/>
        </p:nvSpPr>
        <p:spPr>
          <a:xfrm>
            <a:off x="4937760" y="1508760"/>
            <a:ext cx="3383280" cy="274320"/>
          </a:xfrm>
          <a:prstGeom prst="rect">
            <a:avLst/>
          </a:prstGeom>
          <a:noFill/>
          <a:ln/>
        </p:spPr>
        <p:txBody>
          <a:bodyPr wrap="square" lIns="0" tIns="0" rIns="0" bIns="0" rtlCol="0" anchor="ctr"/>
          <a:lstStyle/>
          <a:p>
            <a:pPr marL="0" indent="0">
              <a:buNone/>
            </a:pPr>
            <a:r>
              <a:rPr lang="en-US" sz="1000" i="1" dirty="0">
                <a:solidFill>
                  <a:srgbClr val="94A3B8"/>
                </a:solidFill>
                <a:latin typeface="Calibri" pitchFamily="34" charset="0"/>
                <a:ea typeface="Calibri" pitchFamily="34" charset="-122"/>
                <a:cs typeface="Calibri" pitchFamily="34" charset="-120"/>
              </a:rPr>
              <a:t>Nonprocedural (Declarative) DML</a:t>
            </a:r>
            <a:endParaRPr lang="en-US" sz="1000" dirty="0"/>
          </a:p>
        </p:txBody>
      </p:sp>
      <p:sp>
        <p:nvSpPr>
          <p:cNvPr id="20" name="Shape 18"/>
          <p:cNvSpPr/>
          <p:nvPr/>
        </p:nvSpPr>
        <p:spPr>
          <a:xfrm>
            <a:off x="5029200" y="1874520"/>
            <a:ext cx="3200400" cy="18288"/>
          </a:xfrm>
          <a:prstGeom prst="rect">
            <a:avLst/>
          </a:prstGeom>
          <a:solidFill>
            <a:srgbClr val="E2E8F0"/>
          </a:solidFill>
          <a:ln/>
        </p:spPr>
      </p:sp>
      <p:sp>
        <p:nvSpPr>
          <p:cNvPr id="21" name="Text 19"/>
          <p:cNvSpPr/>
          <p:nvPr/>
        </p:nvSpPr>
        <p:spPr>
          <a:xfrm>
            <a:off x="4937760" y="2011680"/>
            <a:ext cx="3383280" cy="640080"/>
          </a:xfrm>
          <a:prstGeom prst="rect">
            <a:avLst/>
          </a:prstGeom>
          <a:noFill/>
          <a:ln/>
        </p:spPr>
        <p:txBody>
          <a:bodyPr wrap="square" lIns="0" tIns="0" rIns="0" bIns="0" rtlCol="0" anchor="ctr"/>
          <a:lstStyle/>
          <a:p>
            <a:pPr marL="0" indent="0">
              <a:lnSpc>
                <a:spcPct val="130000"/>
              </a:lnSpc>
              <a:buNone/>
            </a:pPr>
            <a:r>
              <a:rPr lang="en-US" sz="1200" dirty="0">
                <a:solidFill>
                  <a:srgbClr val="334155"/>
                </a:solidFill>
                <a:latin typeface="Calibri" pitchFamily="34" charset="0"/>
                <a:ea typeface="Calibri" pitchFamily="34" charset="-122"/>
                <a:cs typeface="Calibri" pitchFamily="34" charset="-120"/>
              </a:rPr>
              <a:t>어떤 데이터를 원하는지만 기술 (처리 방법은 DBMS가 결정)</a:t>
            </a:r>
            <a:endParaRPr lang="en-US" sz="1200" dirty="0"/>
          </a:p>
        </p:txBody>
      </p:sp>
      <p:sp>
        <p:nvSpPr>
          <p:cNvPr id="22" name="Shape 20"/>
          <p:cNvSpPr/>
          <p:nvPr/>
        </p:nvSpPr>
        <p:spPr>
          <a:xfrm>
            <a:off x="4937760" y="2743200"/>
            <a:ext cx="3383280" cy="914400"/>
          </a:xfrm>
          <a:prstGeom prst="rect">
            <a:avLst/>
          </a:prstGeom>
          <a:solidFill>
            <a:srgbClr val="1E293B"/>
          </a:solidFill>
          <a:ln/>
        </p:spPr>
      </p:sp>
      <p:sp>
        <p:nvSpPr>
          <p:cNvPr id="23" name="Text 21"/>
          <p:cNvSpPr/>
          <p:nvPr/>
        </p:nvSpPr>
        <p:spPr>
          <a:xfrm>
            <a:off x="5120640" y="2788920"/>
            <a:ext cx="3017520" cy="822960"/>
          </a:xfrm>
          <a:prstGeom prst="rect">
            <a:avLst/>
          </a:prstGeom>
          <a:noFill/>
          <a:ln/>
        </p:spPr>
        <p:txBody>
          <a:bodyPr wrap="square" lIns="0" tIns="0" rIns="0" bIns="0" rtlCol="0" anchor="ctr"/>
          <a:lstStyle/>
          <a:p>
            <a:pPr marL="0" indent="0">
              <a:lnSpc>
                <a:spcPct val="130000"/>
              </a:lnSpc>
              <a:buNone/>
            </a:pPr>
            <a:r>
              <a:rPr lang="en-US" sz="1050" dirty="0">
                <a:solidFill>
                  <a:srgbClr val="22D3EE"/>
                </a:solidFill>
                <a:latin typeface="Consolas" pitchFamily="34" charset="0"/>
                <a:ea typeface="Consolas" pitchFamily="34" charset="-122"/>
                <a:cs typeface="Consolas" pitchFamily="34" charset="-120"/>
              </a:rPr>
              <a:t>SQL (Structured Query Language)이 대표적</a:t>
            </a:r>
            <a:endParaRPr lang="en-US" sz="1050" dirty="0"/>
          </a:p>
          <a:p>
            <a:pPr marL="0" indent="0">
              <a:lnSpc>
                <a:spcPct val="130000"/>
              </a:lnSpc>
              <a:buNone/>
            </a:pPr>
            <a:r>
              <a:rPr lang="en-US" sz="1050" dirty="0">
                <a:solidFill>
                  <a:srgbClr val="22D3EE"/>
                </a:solidFill>
                <a:latin typeface="Consolas" pitchFamily="34" charset="0"/>
                <a:ea typeface="Consolas" pitchFamily="34" charset="-122"/>
                <a:cs typeface="Consolas" pitchFamily="34" charset="-120"/>
              </a:rPr>
              <a:t>SELECT 이름 FROM 고객 WHERE 등급='VIP'</a:t>
            </a:r>
            <a:endParaRPr lang="en-US" sz="1050" dirty="0"/>
          </a:p>
        </p:txBody>
      </p:sp>
      <p:sp>
        <p:nvSpPr>
          <p:cNvPr id="24" name="Shape 22"/>
          <p:cNvSpPr/>
          <p:nvPr/>
        </p:nvSpPr>
        <p:spPr>
          <a:xfrm>
            <a:off x="4937760" y="3840480"/>
            <a:ext cx="3383280" cy="365760"/>
          </a:xfrm>
          <a:prstGeom prst="roundRect">
            <a:avLst>
              <a:gd name="adj" fmla="val 12500"/>
            </a:avLst>
          </a:prstGeom>
          <a:solidFill>
            <a:srgbClr val="F59E0B">
              <a:alpha val="10000"/>
            </a:srgbClr>
          </a:solidFill>
          <a:ln/>
        </p:spPr>
      </p:sp>
      <p:sp>
        <p:nvSpPr>
          <p:cNvPr id="25" name="Text 23"/>
          <p:cNvSpPr/>
          <p:nvPr/>
        </p:nvSpPr>
        <p:spPr>
          <a:xfrm>
            <a:off x="5120640" y="3840480"/>
            <a:ext cx="3017520" cy="365760"/>
          </a:xfrm>
          <a:prstGeom prst="rect">
            <a:avLst/>
          </a:prstGeom>
          <a:noFill/>
          <a:ln/>
        </p:spPr>
        <p:txBody>
          <a:bodyPr wrap="square" lIns="0" tIns="0" rIns="0" bIns="0" rtlCol="0" anchor="ctr"/>
          <a:lstStyle/>
          <a:p>
            <a:pPr marL="0" indent="0">
              <a:buNone/>
            </a:pPr>
            <a:r>
              <a:rPr lang="en-US" sz="1100" b="1" dirty="0">
                <a:solidFill>
                  <a:srgbClr val="F59E0B"/>
                </a:solidFill>
                <a:latin typeface="Calibri" pitchFamily="34" charset="0"/>
                <a:ea typeface="Calibri" pitchFamily="34" charset="-122"/>
                <a:cs typeface="Calibri" pitchFamily="34" charset="-120"/>
              </a:rPr>
              <a:t>최종 사용자도 사용 가능</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2744"/>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sp>
        <p:nvSpPr>
          <p:cNvPr id="4" name="Text 2"/>
          <p:cNvSpPr/>
          <p:nvPr/>
        </p:nvSpPr>
        <p:spPr>
          <a:xfrm>
            <a:off x="731520" y="1097280"/>
            <a:ext cx="1828800" cy="914400"/>
          </a:xfrm>
          <a:prstGeom prst="rect">
            <a:avLst/>
          </a:prstGeom>
          <a:noFill/>
          <a:ln/>
        </p:spPr>
        <p:txBody>
          <a:bodyPr wrap="square" lIns="0" tIns="0" rIns="0" bIns="0" rtlCol="0" anchor="ctr"/>
          <a:lstStyle/>
          <a:p>
            <a:pPr marL="0" indent="0">
              <a:buNone/>
            </a:pPr>
            <a:r>
              <a:rPr lang="en-US" sz="6000" dirty="0">
                <a:solidFill>
                  <a:srgbClr val="0891B2"/>
                </a:solidFill>
                <a:latin typeface="Arial Black" pitchFamily="34" charset="0"/>
                <a:ea typeface="Arial Black" pitchFamily="34" charset="-122"/>
                <a:cs typeface="Arial Black" pitchFamily="34" charset="-120"/>
              </a:rPr>
              <a:t>05</a:t>
            </a:r>
            <a:endParaRPr lang="en-US" sz="6000" dirty="0"/>
          </a:p>
        </p:txBody>
      </p:sp>
      <p:sp>
        <p:nvSpPr>
          <p:cNvPr id="5" name="Shape 3"/>
          <p:cNvSpPr/>
          <p:nvPr/>
        </p:nvSpPr>
        <p:spPr>
          <a:xfrm>
            <a:off x="731520" y="2103120"/>
            <a:ext cx="1371600" cy="36576"/>
          </a:xfrm>
          <a:prstGeom prst="rect">
            <a:avLst/>
          </a:prstGeom>
          <a:solidFill>
            <a:srgbClr val="0891B2"/>
          </a:solidFill>
          <a:ln/>
        </p:spPr>
      </p:sp>
      <p:sp>
        <p:nvSpPr>
          <p:cNvPr id="6" name="Text 4"/>
          <p:cNvSpPr/>
          <p:nvPr/>
        </p:nvSpPr>
        <p:spPr>
          <a:xfrm>
            <a:off x="731520" y="2377440"/>
            <a:ext cx="7315200" cy="822960"/>
          </a:xfrm>
          <a:prstGeom prst="rect">
            <a:avLst/>
          </a:prstGeom>
          <a:noFill/>
          <a:ln/>
        </p:spPr>
        <p:txBody>
          <a:bodyPr wrap="square" lIns="0" tIns="0" rIns="0" bIns="0" rtlCol="0" anchor="ctr"/>
          <a:lstStyle/>
          <a:p>
            <a:pPr marL="0" indent="0">
              <a:buNone/>
            </a:pPr>
            <a:r>
              <a:rPr lang="en-US" sz="3200" b="1" dirty="0">
                <a:solidFill>
                  <a:srgbClr val="FFFFFF"/>
                </a:solidFill>
                <a:latin typeface="Arial Black" pitchFamily="34" charset="0"/>
                <a:ea typeface="Arial Black" pitchFamily="34" charset="-122"/>
                <a:cs typeface="Arial Black" pitchFamily="34" charset="-120"/>
              </a:rPr>
              <a:t>DBMS의 구성</a:t>
            </a:r>
            <a:endParaRPr lang="en-US" sz="3200" dirty="0"/>
          </a:p>
        </p:txBody>
      </p:sp>
      <p:sp>
        <p:nvSpPr>
          <p:cNvPr id="7" name="Text 5"/>
          <p:cNvSpPr/>
          <p:nvPr/>
        </p:nvSpPr>
        <p:spPr>
          <a:xfrm>
            <a:off x="731520" y="3200400"/>
            <a:ext cx="7315200" cy="457200"/>
          </a:xfrm>
          <a:prstGeom prst="rect">
            <a:avLst/>
          </a:prstGeom>
          <a:noFill/>
          <a:ln/>
        </p:spPr>
        <p:txBody>
          <a:bodyPr wrap="square" lIns="0" tIns="0" rIns="0" bIns="0" rtlCol="0" anchor="ctr"/>
          <a:lstStyle/>
          <a:p>
            <a:pPr marL="0" indent="0">
              <a:buNone/>
            </a:pPr>
            <a:r>
              <a:rPr lang="en-US" sz="1400" i="1" dirty="0">
                <a:solidFill>
                  <a:srgbClr val="94A3B8"/>
                </a:solidFill>
                <a:latin typeface="Calibri" pitchFamily="34" charset="0"/>
                <a:ea typeface="Calibri" pitchFamily="34" charset="-122"/>
                <a:cs typeface="Calibri" pitchFamily="34" charset="-120"/>
              </a:rPr>
              <a:t>DBMS Components — Query Processor &amp; Stored Data Manager</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0F4F8"/>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Text 1"/>
          <p:cNvSpPr/>
          <p:nvPr/>
        </p:nvSpPr>
        <p:spPr>
          <a:xfrm>
            <a:off x="640080" y="228600"/>
            <a:ext cx="7863840" cy="502920"/>
          </a:xfrm>
          <a:prstGeom prst="rect">
            <a:avLst/>
          </a:prstGeom>
          <a:noFill/>
          <a:ln/>
        </p:spPr>
        <p:txBody>
          <a:bodyPr wrap="square" lIns="0" tIns="0" rIns="0" bIns="0" rtlCol="0" anchor="ctr"/>
          <a:lstStyle/>
          <a:p>
            <a:pPr marL="0" indent="0">
              <a:buNone/>
            </a:pPr>
            <a:r>
              <a:rPr lang="en-US" sz="2200" b="1" dirty="0">
                <a:solidFill>
                  <a:srgbClr val="1A2744"/>
                </a:solidFill>
                <a:latin typeface="Arial Black" pitchFamily="34" charset="0"/>
                <a:ea typeface="Arial Black" pitchFamily="34" charset="-122"/>
                <a:cs typeface="Arial Black" pitchFamily="34" charset="-120"/>
              </a:rPr>
              <a:t>DBMS의 논리적 구성</a:t>
            </a:r>
            <a:endParaRPr lang="en-US" sz="2200" dirty="0"/>
          </a:p>
        </p:txBody>
      </p:sp>
      <p:sp>
        <p:nvSpPr>
          <p:cNvPr id="4" name="Shape 2"/>
          <p:cNvSpPr/>
          <p:nvPr/>
        </p:nvSpPr>
        <p:spPr>
          <a:xfrm>
            <a:off x="640080" y="777240"/>
            <a:ext cx="7863840" cy="18288"/>
          </a:xfrm>
          <a:prstGeom prst="rect">
            <a:avLst/>
          </a:prstGeom>
          <a:solidFill>
            <a:srgbClr val="E2E8F0"/>
          </a:solidFill>
          <a:ln/>
        </p:spPr>
      </p:sp>
      <p:sp>
        <p:nvSpPr>
          <p:cNvPr id="5" name="Text 3"/>
          <p:cNvSpPr/>
          <p:nvPr/>
        </p:nvSpPr>
        <p:spPr>
          <a:xfrm>
            <a:off x="8412480" y="4663440"/>
            <a:ext cx="457200" cy="320040"/>
          </a:xfrm>
          <a:prstGeom prst="rect">
            <a:avLst/>
          </a:prstGeom>
          <a:noFill/>
          <a:ln/>
        </p:spPr>
        <p:txBody>
          <a:bodyPr wrap="square" lIns="0" tIns="0" rIns="0" bIns="0"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19</a:t>
            </a:r>
            <a:endParaRPr lang="en-US" sz="1000" dirty="0"/>
          </a:p>
        </p:txBody>
      </p:sp>
      <p:sp>
        <p:nvSpPr>
          <p:cNvPr id="6" name="Shape 4"/>
          <p:cNvSpPr/>
          <p:nvPr/>
        </p:nvSpPr>
        <p:spPr>
          <a:xfrm>
            <a:off x="640080" y="960120"/>
            <a:ext cx="7863840" cy="457200"/>
          </a:xfrm>
          <a:prstGeom prst="rect">
            <a:avLst/>
          </a:prstGeom>
          <a:solidFill>
            <a:srgbClr val="1A2744"/>
          </a:solidFill>
          <a:ln/>
        </p:spPr>
      </p:sp>
      <p:sp>
        <p:nvSpPr>
          <p:cNvPr id="7" name="Text 5"/>
          <p:cNvSpPr/>
          <p:nvPr/>
        </p:nvSpPr>
        <p:spPr>
          <a:xfrm>
            <a:off x="914400" y="960120"/>
            <a:ext cx="7315200" cy="457200"/>
          </a:xfrm>
          <a:prstGeom prst="rect">
            <a:avLst/>
          </a:prstGeom>
          <a:noFill/>
          <a:ln/>
        </p:spPr>
        <p:txBody>
          <a:bodyPr wrap="square" lIns="0" tIns="0" rIns="0" bIns="0" rtlCol="0" anchor="ctr"/>
          <a:lstStyle/>
          <a:p>
            <a:pPr marL="0" indent="0">
              <a:buNone/>
            </a:pPr>
            <a:r>
              <a:rPr lang="en-US" sz="1200" b="1" dirty="0">
                <a:solidFill>
                  <a:srgbClr val="FFFFFF"/>
                </a:solidFill>
                <a:latin typeface="Calibri" pitchFamily="34" charset="0"/>
                <a:ea typeface="Calibri" pitchFamily="34" charset="-122"/>
                <a:cs typeface="Calibri" pitchFamily="34" charset="-120"/>
              </a:rPr>
              <a:t>DBMS = 질의 처리기 (Query Processor) + 데이터 저장 관리자 (Stored Data Manager) — DB 관리와 사용자의 데이터 처리 요구를 수행</a:t>
            </a:r>
            <a:endParaRPr lang="en-US" sz="1200" dirty="0"/>
          </a:p>
        </p:txBody>
      </p:sp>
      <p:sp>
        <p:nvSpPr>
          <p:cNvPr id="8" name="Shape 6"/>
          <p:cNvSpPr/>
          <p:nvPr/>
        </p:nvSpPr>
        <p:spPr>
          <a:xfrm>
            <a:off x="640080" y="1645920"/>
            <a:ext cx="5029200" cy="3200400"/>
          </a:xfrm>
          <a:prstGeom prst="rect">
            <a:avLst/>
          </a:prstGeom>
          <a:solidFill>
            <a:srgbClr val="FFFFFF"/>
          </a:solidFill>
          <a:ln/>
          <a:effectLst>
            <a:outerShdw blurRad="50800" dist="25400" dir="8100000" algn="bl" rotWithShape="0">
              <a:srgbClr val="000000">
                <a:alpha val="10000"/>
              </a:srgbClr>
            </a:outerShdw>
          </a:effectLst>
        </p:spPr>
      </p:sp>
      <p:sp>
        <p:nvSpPr>
          <p:cNvPr id="9" name="Shape 7"/>
          <p:cNvSpPr/>
          <p:nvPr/>
        </p:nvSpPr>
        <p:spPr>
          <a:xfrm>
            <a:off x="640080" y="1645920"/>
            <a:ext cx="5029200" cy="64008"/>
          </a:xfrm>
          <a:prstGeom prst="rect">
            <a:avLst/>
          </a:prstGeom>
          <a:solidFill>
            <a:srgbClr val="0891B2"/>
          </a:solidFill>
          <a:ln/>
        </p:spPr>
      </p:sp>
      <p:pic>
        <p:nvPicPr>
          <p:cNvPr id="10" name="Image 0" descr="preencoded.png"/>
          <p:cNvPicPr>
            <a:picLocks noChangeAspect="1"/>
          </p:cNvPicPr>
          <p:nvPr/>
        </p:nvPicPr>
        <p:blipFill>
          <a:blip r:embed="rId3"/>
          <a:stretch>
            <a:fillRect/>
          </a:stretch>
        </p:blipFill>
        <p:spPr>
          <a:xfrm>
            <a:off x="914400" y="1783080"/>
            <a:ext cx="320040" cy="320040"/>
          </a:xfrm>
          <a:prstGeom prst="rect">
            <a:avLst/>
          </a:prstGeom>
        </p:spPr>
      </p:pic>
      <p:sp>
        <p:nvSpPr>
          <p:cNvPr id="11" name="Text 8"/>
          <p:cNvSpPr/>
          <p:nvPr/>
        </p:nvSpPr>
        <p:spPr>
          <a:xfrm>
            <a:off x="1371600" y="1783080"/>
            <a:ext cx="3657600" cy="320040"/>
          </a:xfrm>
          <a:prstGeom prst="rect">
            <a:avLst/>
          </a:prstGeom>
          <a:noFill/>
          <a:ln/>
        </p:spPr>
        <p:txBody>
          <a:bodyPr wrap="square" lIns="0" tIns="0" rIns="0" bIns="0" rtlCol="0" anchor="ctr"/>
          <a:lstStyle/>
          <a:p>
            <a:pPr marL="0" indent="0">
              <a:buNone/>
            </a:pPr>
            <a:r>
              <a:rPr lang="en-US" sz="1500" b="1" dirty="0">
                <a:solidFill>
                  <a:srgbClr val="1A2744"/>
                </a:solidFill>
                <a:latin typeface="Arial" pitchFamily="34" charset="0"/>
                <a:ea typeface="Arial" pitchFamily="34" charset="-122"/>
                <a:cs typeface="Arial" pitchFamily="34" charset="-120"/>
              </a:rPr>
              <a:t>질의 처리기 (Query Processor)</a:t>
            </a:r>
            <a:endParaRPr lang="en-US" sz="1500" dirty="0"/>
          </a:p>
        </p:txBody>
      </p:sp>
      <p:sp>
        <p:nvSpPr>
          <p:cNvPr id="12" name="Text 9"/>
          <p:cNvSpPr/>
          <p:nvPr/>
        </p:nvSpPr>
        <p:spPr>
          <a:xfrm>
            <a:off x="914400" y="2148840"/>
            <a:ext cx="4389120" cy="274320"/>
          </a:xfrm>
          <a:prstGeom prst="rect">
            <a:avLst/>
          </a:prstGeom>
          <a:noFill/>
          <a:ln/>
        </p:spPr>
        <p:txBody>
          <a:bodyPr wrap="square" lIns="0" tIns="0" rIns="0" bIns="0" rtlCol="0" anchor="ctr"/>
          <a:lstStyle/>
          <a:p>
            <a:pPr marL="0" indent="0">
              <a:buNone/>
            </a:pPr>
            <a:r>
              <a:rPr lang="en-US" sz="1050" dirty="0">
                <a:solidFill>
                  <a:srgbClr val="94A3B8"/>
                </a:solidFill>
                <a:latin typeface="Calibri" pitchFamily="34" charset="0"/>
                <a:ea typeface="Calibri" pitchFamily="34" charset="-122"/>
                <a:cs typeface="Calibri" pitchFamily="34" charset="-120"/>
              </a:rPr>
              <a:t>사용자의 데이터 처리 요구를 해석하여 처리하는 역할</a:t>
            </a:r>
            <a:endParaRPr lang="en-US" sz="1050" dirty="0"/>
          </a:p>
        </p:txBody>
      </p:sp>
      <p:sp>
        <p:nvSpPr>
          <p:cNvPr id="13" name="Shape 10"/>
          <p:cNvSpPr/>
          <p:nvPr/>
        </p:nvSpPr>
        <p:spPr>
          <a:xfrm>
            <a:off x="914400" y="2560320"/>
            <a:ext cx="256032" cy="256032"/>
          </a:xfrm>
          <a:prstGeom prst="ellipse">
            <a:avLst/>
          </a:prstGeom>
          <a:solidFill>
            <a:srgbClr val="0891B2"/>
          </a:solidFill>
          <a:ln/>
        </p:spPr>
      </p:sp>
      <p:sp>
        <p:nvSpPr>
          <p:cNvPr id="14" name="Text 11"/>
          <p:cNvSpPr/>
          <p:nvPr/>
        </p:nvSpPr>
        <p:spPr>
          <a:xfrm>
            <a:off x="914400" y="2560320"/>
            <a:ext cx="256032" cy="256032"/>
          </a:xfrm>
          <a:prstGeom prst="rect">
            <a:avLst/>
          </a:prstGeom>
          <a:noFill/>
          <a:ln/>
        </p:spPr>
        <p:txBody>
          <a:bodyPr wrap="square" lIns="0" tIns="0" rIns="0" bIns="0" rtlCol="0" anchor="ctr"/>
          <a:lstStyle/>
          <a:p>
            <a:pPr marL="0" indent="0" algn="ctr">
              <a:buNone/>
            </a:pPr>
            <a:r>
              <a:rPr lang="en-US" sz="1000" dirty="0">
                <a:solidFill>
                  <a:srgbClr val="FFFFFF"/>
                </a:solidFill>
                <a:latin typeface="Arial Black" pitchFamily="34" charset="0"/>
                <a:ea typeface="Arial Black" pitchFamily="34" charset="-122"/>
                <a:cs typeface="Arial Black" pitchFamily="34" charset="-120"/>
              </a:rPr>
              <a:t>1</a:t>
            </a:r>
            <a:endParaRPr lang="en-US" sz="1000" dirty="0"/>
          </a:p>
        </p:txBody>
      </p:sp>
      <p:sp>
        <p:nvSpPr>
          <p:cNvPr id="15" name="Text 12"/>
          <p:cNvSpPr/>
          <p:nvPr/>
        </p:nvSpPr>
        <p:spPr>
          <a:xfrm>
            <a:off x="1280160" y="2514600"/>
            <a:ext cx="1645920" cy="320040"/>
          </a:xfrm>
          <a:prstGeom prst="rect">
            <a:avLst/>
          </a:prstGeom>
          <a:noFill/>
          <a:ln/>
        </p:spPr>
        <p:txBody>
          <a:bodyPr wrap="square" lIns="0" tIns="0" rIns="0" bIns="0" rtlCol="0" anchor="ctr"/>
          <a:lstStyle/>
          <a:p>
            <a:pPr marL="0" indent="0">
              <a:buNone/>
            </a:pPr>
            <a:r>
              <a:rPr lang="en-US" sz="1050" b="1" dirty="0">
                <a:solidFill>
                  <a:srgbClr val="1A2744"/>
                </a:solidFill>
                <a:latin typeface="Arial" pitchFamily="34" charset="0"/>
                <a:ea typeface="Arial" pitchFamily="34" charset="-122"/>
                <a:cs typeface="Arial" pitchFamily="34" charset="-120"/>
              </a:rPr>
              <a:t>DDL 컴파일러</a:t>
            </a:r>
            <a:endParaRPr lang="en-US" sz="1050" dirty="0"/>
          </a:p>
        </p:txBody>
      </p:sp>
      <p:sp>
        <p:nvSpPr>
          <p:cNvPr id="16" name="Text 13"/>
          <p:cNvSpPr/>
          <p:nvPr/>
        </p:nvSpPr>
        <p:spPr>
          <a:xfrm>
            <a:off x="2926080" y="2514600"/>
            <a:ext cx="2560320" cy="320040"/>
          </a:xfrm>
          <a:prstGeom prst="rect">
            <a:avLst/>
          </a:prstGeom>
          <a:noFill/>
          <a:ln/>
        </p:spPr>
        <p:txBody>
          <a:bodyPr wrap="square" lIns="0" tIns="0" rIns="0" bIns="0" rtlCol="0" anchor="ctr"/>
          <a:lstStyle/>
          <a:p>
            <a:pPr marL="0" indent="0">
              <a:buNone/>
            </a:pPr>
            <a:r>
              <a:rPr lang="en-US" sz="1000" dirty="0">
                <a:solidFill>
                  <a:srgbClr val="334155"/>
                </a:solidFill>
                <a:latin typeface="Calibri" pitchFamily="34" charset="0"/>
                <a:ea typeface="Calibri" pitchFamily="34" charset="-122"/>
                <a:cs typeface="Calibri" pitchFamily="34" charset="-120"/>
              </a:rPr>
              <a:t>DDL로 작성된 스키마 정의를 해석</a:t>
            </a:r>
            <a:endParaRPr lang="en-US" sz="1000" dirty="0"/>
          </a:p>
        </p:txBody>
      </p:sp>
      <p:sp>
        <p:nvSpPr>
          <p:cNvPr id="17" name="Shape 14"/>
          <p:cNvSpPr/>
          <p:nvPr/>
        </p:nvSpPr>
        <p:spPr>
          <a:xfrm>
            <a:off x="914400" y="2999232"/>
            <a:ext cx="256032" cy="256032"/>
          </a:xfrm>
          <a:prstGeom prst="ellipse">
            <a:avLst/>
          </a:prstGeom>
          <a:solidFill>
            <a:srgbClr val="0891B2"/>
          </a:solidFill>
          <a:ln/>
        </p:spPr>
      </p:sp>
      <p:sp>
        <p:nvSpPr>
          <p:cNvPr id="18" name="Text 15"/>
          <p:cNvSpPr/>
          <p:nvPr/>
        </p:nvSpPr>
        <p:spPr>
          <a:xfrm>
            <a:off x="914400" y="2999232"/>
            <a:ext cx="256032" cy="256032"/>
          </a:xfrm>
          <a:prstGeom prst="rect">
            <a:avLst/>
          </a:prstGeom>
          <a:noFill/>
          <a:ln/>
        </p:spPr>
        <p:txBody>
          <a:bodyPr wrap="square" lIns="0" tIns="0" rIns="0" bIns="0" rtlCol="0" anchor="ctr"/>
          <a:lstStyle/>
          <a:p>
            <a:pPr marL="0" indent="0" algn="ctr">
              <a:buNone/>
            </a:pPr>
            <a:r>
              <a:rPr lang="en-US" sz="1000" dirty="0">
                <a:solidFill>
                  <a:srgbClr val="FFFFFF"/>
                </a:solidFill>
                <a:latin typeface="Arial Black" pitchFamily="34" charset="0"/>
                <a:ea typeface="Arial Black" pitchFamily="34" charset="-122"/>
                <a:cs typeface="Arial Black" pitchFamily="34" charset="-120"/>
              </a:rPr>
              <a:t>2</a:t>
            </a:r>
            <a:endParaRPr lang="en-US" sz="1000" dirty="0"/>
          </a:p>
        </p:txBody>
      </p:sp>
      <p:sp>
        <p:nvSpPr>
          <p:cNvPr id="19" name="Text 16"/>
          <p:cNvSpPr/>
          <p:nvPr/>
        </p:nvSpPr>
        <p:spPr>
          <a:xfrm>
            <a:off x="1280160" y="2953512"/>
            <a:ext cx="1645920" cy="320040"/>
          </a:xfrm>
          <a:prstGeom prst="rect">
            <a:avLst/>
          </a:prstGeom>
          <a:noFill/>
          <a:ln/>
        </p:spPr>
        <p:txBody>
          <a:bodyPr wrap="square" lIns="0" tIns="0" rIns="0" bIns="0" rtlCol="0" anchor="ctr"/>
          <a:lstStyle/>
          <a:p>
            <a:pPr marL="0" indent="0">
              <a:buNone/>
            </a:pPr>
            <a:r>
              <a:rPr lang="en-US" sz="1050" b="1" dirty="0">
                <a:solidFill>
                  <a:srgbClr val="1A2744"/>
                </a:solidFill>
                <a:latin typeface="Arial" pitchFamily="34" charset="0"/>
                <a:ea typeface="Arial" pitchFamily="34" charset="-122"/>
                <a:cs typeface="Arial" pitchFamily="34" charset="-120"/>
              </a:rPr>
              <a:t>DML 프리컴파일러</a:t>
            </a:r>
            <a:endParaRPr lang="en-US" sz="1050" dirty="0"/>
          </a:p>
        </p:txBody>
      </p:sp>
      <p:sp>
        <p:nvSpPr>
          <p:cNvPr id="20" name="Text 17"/>
          <p:cNvSpPr/>
          <p:nvPr/>
        </p:nvSpPr>
        <p:spPr>
          <a:xfrm>
            <a:off x="2926080" y="2953512"/>
            <a:ext cx="2560320" cy="320040"/>
          </a:xfrm>
          <a:prstGeom prst="rect">
            <a:avLst/>
          </a:prstGeom>
          <a:noFill/>
          <a:ln/>
        </p:spPr>
        <p:txBody>
          <a:bodyPr wrap="square" lIns="0" tIns="0" rIns="0" bIns="0" rtlCol="0" anchor="ctr"/>
          <a:lstStyle/>
          <a:p>
            <a:pPr marL="0" indent="0">
              <a:buNone/>
            </a:pPr>
            <a:r>
              <a:rPr lang="en-US" sz="1000" dirty="0">
                <a:solidFill>
                  <a:srgbClr val="334155"/>
                </a:solidFill>
                <a:latin typeface="Calibri" pitchFamily="34" charset="0"/>
                <a:ea typeface="Calibri" pitchFamily="34" charset="-122"/>
                <a:cs typeface="Calibri" pitchFamily="34" charset="-120"/>
              </a:rPr>
              <a:t>응용 프로그램 속 DML을 추출 → DML 컴파일러 전달</a:t>
            </a:r>
            <a:endParaRPr lang="en-US" sz="1000" dirty="0"/>
          </a:p>
        </p:txBody>
      </p:sp>
      <p:sp>
        <p:nvSpPr>
          <p:cNvPr id="21" name="Shape 18"/>
          <p:cNvSpPr/>
          <p:nvPr/>
        </p:nvSpPr>
        <p:spPr>
          <a:xfrm>
            <a:off x="914400" y="3438144"/>
            <a:ext cx="256032" cy="256032"/>
          </a:xfrm>
          <a:prstGeom prst="ellipse">
            <a:avLst/>
          </a:prstGeom>
          <a:solidFill>
            <a:srgbClr val="0891B2"/>
          </a:solidFill>
          <a:ln/>
        </p:spPr>
      </p:sp>
      <p:sp>
        <p:nvSpPr>
          <p:cNvPr id="22" name="Text 19"/>
          <p:cNvSpPr/>
          <p:nvPr/>
        </p:nvSpPr>
        <p:spPr>
          <a:xfrm>
            <a:off x="914400" y="3438144"/>
            <a:ext cx="256032" cy="256032"/>
          </a:xfrm>
          <a:prstGeom prst="rect">
            <a:avLst/>
          </a:prstGeom>
          <a:noFill/>
          <a:ln/>
        </p:spPr>
        <p:txBody>
          <a:bodyPr wrap="square" lIns="0" tIns="0" rIns="0" bIns="0" rtlCol="0" anchor="ctr"/>
          <a:lstStyle/>
          <a:p>
            <a:pPr marL="0" indent="0" algn="ctr">
              <a:buNone/>
            </a:pPr>
            <a:r>
              <a:rPr lang="en-US" sz="1000" dirty="0">
                <a:solidFill>
                  <a:srgbClr val="FFFFFF"/>
                </a:solidFill>
                <a:latin typeface="Arial Black" pitchFamily="34" charset="0"/>
                <a:ea typeface="Arial Black" pitchFamily="34" charset="-122"/>
                <a:cs typeface="Arial Black" pitchFamily="34" charset="-120"/>
              </a:rPr>
              <a:t>3</a:t>
            </a:r>
            <a:endParaRPr lang="en-US" sz="1000" dirty="0"/>
          </a:p>
        </p:txBody>
      </p:sp>
      <p:sp>
        <p:nvSpPr>
          <p:cNvPr id="23" name="Text 20"/>
          <p:cNvSpPr/>
          <p:nvPr/>
        </p:nvSpPr>
        <p:spPr>
          <a:xfrm>
            <a:off x="1280160" y="3392424"/>
            <a:ext cx="1645920" cy="320040"/>
          </a:xfrm>
          <a:prstGeom prst="rect">
            <a:avLst/>
          </a:prstGeom>
          <a:noFill/>
          <a:ln/>
        </p:spPr>
        <p:txBody>
          <a:bodyPr wrap="square" lIns="0" tIns="0" rIns="0" bIns="0" rtlCol="0" anchor="ctr"/>
          <a:lstStyle/>
          <a:p>
            <a:pPr marL="0" indent="0">
              <a:buNone/>
            </a:pPr>
            <a:r>
              <a:rPr lang="en-US" sz="1050" b="1" dirty="0">
                <a:solidFill>
                  <a:srgbClr val="1A2744"/>
                </a:solidFill>
                <a:latin typeface="Arial" pitchFamily="34" charset="0"/>
                <a:ea typeface="Arial" pitchFamily="34" charset="-122"/>
                <a:cs typeface="Arial" pitchFamily="34" charset="-120"/>
              </a:rPr>
              <a:t>DML 컴파일러</a:t>
            </a:r>
            <a:endParaRPr lang="en-US" sz="1050" dirty="0"/>
          </a:p>
        </p:txBody>
      </p:sp>
      <p:sp>
        <p:nvSpPr>
          <p:cNvPr id="24" name="Text 21"/>
          <p:cNvSpPr/>
          <p:nvPr/>
        </p:nvSpPr>
        <p:spPr>
          <a:xfrm>
            <a:off x="2926080" y="3392424"/>
            <a:ext cx="2560320" cy="320040"/>
          </a:xfrm>
          <a:prstGeom prst="rect">
            <a:avLst/>
          </a:prstGeom>
          <a:noFill/>
          <a:ln/>
        </p:spPr>
        <p:txBody>
          <a:bodyPr wrap="square" lIns="0" tIns="0" rIns="0" bIns="0" rtlCol="0" anchor="ctr"/>
          <a:lstStyle/>
          <a:p>
            <a:pPr marL="0" indent="0">
              <a:buNone/>
            </a:pPr>
            <a:r>
              <a:rPr lang="en-US" sz="1000" dirty="0">
                <a:solidFill>
                  <a:srgbClr val="334155"/>
                </a:solidFill>
                <a:latin typeface="Calibri" pitchFamily="34" charset="0"/>
                <a:ea typeface="Calibri" pitchFamily="34" charset="-122"/>
                <a:cs typeface="Calibri" pitchFamily="34" charset="-120"/>
              </a:rPr>
              <a:t>DML 데이터 처리를 런타임 처리기가 이해하도록 해석</a:t>
            </a:r>
            <a:endParaRPr lang="en-US" sz="1000" dirty="0"/>
          </a:p>
        </p:txBody>
      </p:sp>
      <p:sp>
        <p:nvSpPr>
          <p:cNvPr id="25" name="Shape 22"/>
          <p:cNvSpPr/>
          <p:nvPr/>
        </p:nvSpPr>
        <p:spPr>
          <a:xfrm>
            <a:off x="914400" y="3877056"/>
            <a:ext cx="256032" cy="256032"/>
          </a:xfrm>
          <a:prstGeom prst="ellipse">
            <a:avLst/>
          </a:prstGeom>
          <a:solidFill>
            <a:srgbClr val="0891B2"/>
          </a:solidFill>
          <a:ln/>
        </p:spPr>
      </p:sp>
      <p:sp>
        <p:nvSpPr>
          <p:cNvPr id="26" name="Text 23"/>
          <p:cNvSpPr/>
          <p:nvPr/>
        </p:nvSpPr>
        <p:spPr>
          <a:xfrm>
            <a:off x="914400" y="3877056"/>
            <a:ext cx="256032" cy="256032"/>
          </a:xfrm>
          <a:prstGeom prst="rect">
            <a:avLst/>
          </a:prstGeom>
          <a:noFill/>
          <a:ln/>
        </p:spPr>
        <p:txBody>
          <a:bodyPr wrap="square" lIns="0" tIns="0" rIns="0" bIns="0" rtlCol="0" anchor="ctr"/>
          <a:lstStyle/>
          <a:p>
            <a:pPr marL="0" indent="0" algn="ctr">
              <a:buNone/>
            </a:pPr>
            <a:r>
              <a:rPr lang="en-US" sz="1000" dirty="0">
                <a:solidFill>
                  <a:srgbClr val="FFFFFF"/>
                </a:solidFill>
                <a:latin typeface="Arial Black" pitchFamily="34" charset="0"/>
                <a:ea typeface="Arial Black" pitchFamily="34" charset="-122"/>
                <a:cs typeface="Arial Black" pitchFamily="34" charset="-120"/>
              </a:rPr>
              <a:t>4</a:t>
            </a:r>
            <a:endParaRPr lang="en-US" sz="1000" dirty="0"/>
          </a:p>
        </p:txBody>
      </p:sp>
      <p:sp>
        <p:nvSpPr>
          <p:cNvPr id="27" name="Text 24"/>
          <p:cNvSpPr/>
          <p:nvPr/>
        </p:nvSpPr>
        <p:spPr>
          <a:xfrm>
            <a:off x="1280160" y="3831336"/>
            <a:ext cx="1645920" cy="320040"/>
          </a:xfrm>
          <a:prstGeom prst="rect">
            <a:avLst/>
          </a:prstGeom>
          <a:noFill/>
          <a:ln/>
        </p:spPr>
        <p:txBody>
          <a:bodyPr wrap="square" lIns="0" tIns="0" rIns="0" bIns="0" rtlCol="0" anchor="ctr"/>
          <a:lstStyle/>
          <a:p>
            <a:pPr marL="0" indent="0">
              <a:buNone/>
            </a:pPr>
            <a:r>
              <a:rPr lang="en-US" sz="1050" b="1" dirty="0">
                <a:solidFill>
                  <a:srgbClr val="1A2744"/>
                </a:solidFill>
                <a:latin typeface="Arial" pitchFamily="34" charset="0"/>
                <a:ea typeface="Arial" pitchFamily="34" charset="-122"/>
                <a:cs typeface="Arial" pitchFamily="34" charset="-120"/>
              </a:rPr>
              <a:t>런타임 DB 처리기</a:t>
            </a:r>
            <a:endParaRPr lang="en-US" sz="1050" dirty="0"/>
          </a:p>
        </p:txBody>
      </p:sp>
      <p:sp>
        <p:nvSpPr>
          <p:cNvPr id="28" name="Text 25"/>
          <p:cNvSpPr/>
          <p:nvPr/>
        </p:nvSpPr>
        <p:spPr>
          <a:xfrm>
            <a:off x="2926080" y="3831336"/>
            <a:ext cx="2560320" cy="320040"/>
          </a:xfrm>
          <a:prstGeom prst="rect">
            <a:avLst/>
          </a:prstGeom>
          <a:noFill/>
          <a:ln/>
        </p:spPr>
        <p:txBody>
          <a:bodyPr wrap="square" lIns="0" tIns="0" rIns="0" bIns="0" rtlCol="0" anchor="ctr"/>
          <a:lstStyle/>
          <a:p>
            <a:pPr marL="0" indent="0">
              <a:buNone/>
            </a:pPr>
            <a:r>
              <a:rPr lang="en-US" sz="1000" dirty="0">
                <a:solidFill>
                  <a:srgbClr val="334155"/>
                </a:solidFill>
                <a:latin typeface="Calibri" pitchFamily="34" charset="0"/>
                <a:ea typeface="Calibri" pitchFamily="34" charset="-122"/>
                <a:cs typeface="Calibri" pitchFamily="34" charset="-120"/>
              </a:rPr>
              <a:t>DB에 접근하여 데이터 처리 요구를 실제 실행</a:t>
            </a:r>
            <a:endParaRPr lang="en-US" sz="1000" dirty="0"/>
          </a:p>
        </p:txBody>
      </p:sp>
      <p:sp>
        <p:nvSpPr>
          <p:cNvPr id="29" name="Shape 26"/>
          <p:cNvSpPr/>
          <p:nvPr/>
        </p:nvSpPr>
        <p:spPr>
          <a:xfrm>
            <a:off x="914400" y="4315968"/>
            <a:ext cx="256032" cy="256032"/>
          </a:xfrm>
          <a:prstGeom prst="ellipse">
            <a:avLst/>
          </a:prstGeom>
          <a:solidFill>
            <a:srgbClr val="0891B2"/>
          </a:solidFill>
          <a:ln/>
        </p:spPr>
      </p:sp>
      <p:sp>
        <p:nvSpPr>
          <p:cNvPr id="30" name="Text 27"/>
          <p:cNvSpPr/>
          <p:nvPr/>
        </p:nvSpPr>
        <p:spPr>
          <a:xfrm>
            <a:off x="914400" y="4315968"/>
            <a:ext cx="256032" cy="256032"/>
          </a:xfrm>
          <a:prstGeom prst="rect">
            <a:avLst/>
          </a:prstGeom>
          <a:noFill/>
          <a:ln/>
        </p:spPr>
        <p:txBody>
          <a:bodyPr wrap="square" lIns="0" tIns="0" rIns="0" bIns="0" rtlCol="0" anchor="ctr"/>
          <a:lstStyle/>
          <a:p>
            <a:pPr marL="0" indent="0" algn="ctr">
              <a:buNone/>
            </a:pPr>
            <a:r>
              <a:rPr lang="en-US" sz="1000" dirty="0">
                <a:solidFill>
                  <a:srgbClr val="FFFFFF"/>
                </a:solidFill>
                <a:latin typeface="Arial Black" pitchFamily="34" charset="0"/>
                <a:ea typeface="Arial Black" pitchFamily="34" charset="-122"/>
                <a:cs typeface="Arial Black" pitchFamily="34" charset="-120"/>
              </a:rPr>
              <a:t>5</a:t>
            </a:r>
            <a:endParaRPr lang="en-US" sz="1000" dirty="0"/>
          </a:p>
        </p:txBody>
      </p:sp>
      <p:sp>
        <p:nvSpPr>
          <p:cNvPr id="31" name="Text 28"/>
          <p:cNvSpPr/>
          <p:nvPr/>
        </p:nvSpPr>
        <p:spPr>
          <a:xfrm>
            <a:off x="1280160" y="4270248"/>
            <a:ext cx="1645920" cy="320040"/>
          </a:xfrm>
          <a:prstGeom prst="rect">
            <a:avLst/>
          </a:prstGeom>
          <a:noFill/>
          <a:ln/>
        </p:spPr>
        <p:txBody>
          <a:bodyPr wrap="square" lIns="0" tIns="0" rIns="0" bIns="0" rtlCol="0" anchor="ctr"/>
          <a:lstStyle/>
          <a:p>
            <a:pPr marL="0" indent="0">
              <a:buNone/>
            </a:pPr>
            <a:r>
              <a:rPr lang="en-US" sz="1050" b="1" dirty="0">
                <a:solidFill>
                  <a:srgbClr val="1A2744"/>
                </a:solidFill>
                <a:latin typeface="Arial" pitchFamily="34" charset="0"/>
                <a:ea typeface="Arial" pitchFamily="34" charset="-122"/>
                <a:cs typeface="Arial" pitchFamily="34" charset="-120"/>
              </a:rPr>
              <a:t>트랜잭션 관리자</a:t>
            </a:r>
            <a:endParaRPr lang="en-US" sz="1050" dirty="0"/>
          </a:p>
        </p:txBody>
      </p:sp>
      <p:sp>
        <p:nvSpPr>
          <p:cNvPr id="32" name="Text 29"/>
          <p:cNvSpPr/>
          <p:nvPr/>
        </p:nvSpPr>
        <p:spPr>
          <a:xfrm>
            <a:off x="2926080" y="4270248"/>
            <a:ext cx="2560320" cy="320040"/>
          </a:xfrm>
          <a:prstGeom prst="rect">
            <a:avLst/>
          </a:prstGeom>
          <a:noFill/>
          <a:ln/>
        </p:spPr>
        <p:txBody>
          <a:bodyPr wrap="square" lIns="0" tIns="0" rIns="0" bIns="0" rtlCol="0" anchor="ctr"/>
          <a:lstStyle/>
          <a:p>
            <a:pPr marL="0" indent="0">
              <a:buNone/>
            </a:pPr>
            <a:r>
              <a:rPr lang="en-US" sz="1000" dirty="0">
                <a:solidFill>
                  <a:srgbClr val="334155"/>
                </a:solidFill>
                <a:latin typeface="Calibri" pitchFamily="34" charset="0"/>
                <a:ea typeface="Calibri" pitchFamily="34" charset="-122"/>
                <a:cs typeface="Calibri" pitchFamily="34" charset="-120"/>
              </a:rPr>
              <a:t>접근 권한·무결성·회복·병행 수행 관리</a:t>
            </a:r>
            <a:endParaRPr lang="en-US" sz="1000" dirty="0"/>
          </a:p>
        </p:txBody>
      </p:sp>
      <p:sp>
        <p:nvSpPr>
          <p:cNvPr id="33" name="Shape 30"/>
          <p:cNvSpPr/>
          <p:nvPr/>
        </p:nvSpPr>
        <p:spPr>
          <a:xfrm>
            <a:off x="5943600" y="1645920"/>
            <a:ext cx="2560320" cy="3200400"/>
          </a:xfrm>
          <a:prstGeom prst="rect">
            <a:avLst/>
          </a:prstGeom>
          <a:solidFill>
            <a:srgbClr val="FFFFFF"/>
          </a:solidFill>
          <a:ln/>
          <a:effectLst>
            <a:outerShdw blurRad="50800" dist="25400" dir="8100000" algn="bl" rotWithShape="0">
              <a:srgbClr val="000000">
                <a:alpha val="10000"/>
              </a:srgbClr>
            </a:outerShdw>
          </a:effectLst>
        </p:spPr>
      </p:sp>
      <p:sp>
        <p:nvSpPr>
          <p:cNvPr id="34" name="Shape 31"/>
          <p:cNvSpPr/>
          <p:nvPr/>
        </p:nvSpPr>
        <p:spPr>
          <a:xfrm>
            <a:off x="5943600" y="1645920"/>
            <a:ext cx="2560320" cy="64008"/>
          </a:xfrm>
          <a:prstGeom prst="rect">
            <a:avLst/>
          </a:prstGeom>
          <a:solidFill>
            <a:srgbClr val="F59E0B"/>
          </a:solidFill>
          <a:ln/>
        </p:spPr>
      </p:sp>
      <p:sp>
        <p:nvSpPr>
          <p:cNvPr id="35" name="Shape 32"/>
          <p:cNvSpPr/>
          <p:nvPr/>
        </p:nvSpPr>
        <p:spPr>
          <a:xfrm>
            <a:off x="6812280" y="1920240"/>
            <a:ext cx="777240" cy="777240"/>
          </a:xfrm>
          <a:prstGeom prst="ellipse">
            <a:avLst/>
          </a:prstGeom>
          <a:solidFill>
            <a:srgbClr val="F59E0B">
              <a:alpha val="12000"/>
            </a:srgbClr>
          </a:solidFill>
          <a:ln/>
        </p:spPr>
      </p:sp>
      <p:pic>
        <p:nvPicPr>
          <p:cNvPr id="36" name="Image 1" descr="preencoded.png"/>
          <p:cNvPicPr>
            <a:picLocks noChangeAspect="1"/>
          </p:cNvPicPr>
          <p:nvPr/>
        </p:nvPicPr>
        <p:blipFill>
          <a:blip r:embed="rId4"/>
          <a:stretch>
            <a:fillRect/>
          </a:stretch>
        </p:blipFill>
        <p:spPr>
          <a:xfrm>
            <a:off x="6949440" y="2057400"/>
            <a:ext cx="457200" cy="457200"/>
          </a:xfrm>
          <a:prstGeom prst="rect">
            <a:avLst/>
          </a:prstGeom>
        </p:spPr>
      </p:pic>
      <p:sp>
        <p:nvSpPr>
          <p:cNvPr id="37" name="Text 33"/>
          <p:cNvSpPr/>
          <p:nvPr/>
        </p:nvSpPr>
        <p:spPr>
          <a:xfrm>
            <a:off x="6126480" y="2834640"/>
            <a:ext cx="2194560" cy="502920"/>
          </a:xfrm>
          <a:prstGeom prst="rect">
            <a:avLst/>
          </a:prstGeom>
          <a:noFill/>
          <a:ln/>
        </p:spPr>
        <p:txBody>
          <a:bodyPr wrap="square" lIns="0" tIns="0" rIns="0" bIns="0" rtlCol="0" anchor="ctr"/>
          <a:lstStyle/>
          <a:p>
            <a:pPr marL="0" indent="0" algn="ctr">
              <a:buNone/>
            </a:pPr>
            <a:r>
              <a:rPr lang="en-US" sz="1400" b="1" dirty="0">
                <a:solidFill>
                  <a:srgbClr val="1A2744"/>
                </a:solidFill>
                <a:latin typeface="Arial" pitchFamily="34" charset="0"/>
                <a:ea typeface="Arial" pitchFamily="34" charset="-122"/>
                <a:cs typeface="Arial" pitchFamily="34" charset="-120"/>
              </a:rPr>
              <a:t>데이터 저장</a:t>
            </a:r>
            <a:endParaRPr lang="en-US" sz="1400" dirty="0"/>
          </a:p>
          <a:p>
            <a:pPr marL="0" indent="0" algn="ctr">
              <a:buNone/>
            </a:pPr>
            <a:r>
              <a:rPr lang="en-US" sz="1400" b="1" dirty="0">
                <a:solidFill>
                  <a:srgbClr val="1A2744"/>
                </a:solidFill>
                <a:latin typeface="Arial" pitchFamily="34" charset="0"/>
                <a:ea typeface="Arial" pitchFamily="34" charset="-122"/>
                <a:cs typeface="Arial" pitchFamily="34" charset="-120"/>
              </a:rPr>
              <a:t>관리자</a:t>
            </a:r>
            <a:endParaRPr lang="en-US" sz="1400" dirty="0"/>
          </a:p>
        </p:txBody>
      </p:sp>
      <p:sp>
        <p:nvSpPr>
          <p:cNvPr id="38" name="Text 34"/>
          <p:cNvSpPr/>
          <p:nvPr/>
        </p:nvSpPr>
        <p:spPr>
          <a:xfrm>
            <a:off x="6126480" y="3337560"/>
            <a:ext cx="2194560" cy="228600"/>
          </a:xfrm>
          <a:prstGeom prst="rect">
            <a:avLst/>
          </a:prstGeom>
          <a:noFill/>
          <a:ln/>
        </p:spPr>
        <p:txBody>
          <a:bodyPr wrap="square" lIns="0" tIns="0" rIns="0" bIns="0" rtlCol="0" anchor="ctr"/>
          <a:lstStyle/>
          <a:p>
            <a:pPr marL="0" indent="0" algn="ctr">
              <a:buNone/>
            </a:pPr>
            <a:r>
              <a:rPr lang="en-US" sz="900" i="1" dirty="0">
                <a:solidFill>
                  <a:srgbClr val="94A3B8"/>
                </a:solidFill>
                <a:latin typeface="Calibri" pitchFamily="34" charset="0"/>
                <a:ea typeface="Calibri" pitchFamily="34" charset="-122"/>
                <a:cs typeface="Calibri" pitchFamily="34" charset="-120"/>
              </a:rPr>
              <a:t>Stored Data Manager</a:t>
            </a:r>
            <a:endParaRPr lang="en-US" sz="900" dirty="0"/>
          </a:p>
        </p:txBody>
      </p:sp>
      <p:sp>
        <p:nvSpPr>
          <p:cNvPr id="39" name="Shape 35"/>
          <p:cNvSpPr/>
          <p:nvPr/>
        </p:nvSpPr>
        <p:spPr>
          <a:xfrm>
            <a:off x="6400800" y="3657600"/>
            <a:ext cx="1645920" cy="18288"/>
          </a:xfrm>
          <a:prstGeom prst="rect">
            <a:avLst/>
          </a:prstGeom>
          <a:solidFill>
            <a:srgbClr val="E2E8F0"/>
          </a:solidFill>
          <a:ln/>
        </p:spPr>
      </p:sp>
      <p:sp>
        <p:nvSpPr>
          <p:cNvPr id="40" name="Text 36"/>
          <p:cNvSpPr/>
          <p:nvPr/>
        </p:nvSpPr>
        <p:spPr>
          <a:xfrm>
            <a:off x="6126480" y="3749040"/>
            <a:ext cx="2194560" cy="914400"/>
          </a:xfrm>
          <a:prstGeom prst="rect">
            <a:avLst/>
          </a:prstGeom>
          <a:noFill/>
          <a:ln/>
        </p:spPr>
        <p:txBody>
          <a:bodyPr wrap="square" lIns="0" tIns="0" rIns="0" bIns="0" rtlCol="0" anchor="ctr"/>
          <a:lstStyle/>
          <a:p>
            <a:pPr marL="0" indent="0">
              <a:lnSpc>
                <a:spcPct val="140000"/>
              </a:lnSpc>
              <a:buNone/>
            </a:pPr>
            <a:r>
              <a:rPr lang="en-US" sz="1050" dirty="0">
                <a:solidFill>
                  <a:srgbClr val="334155"/>
                </a:solidFill>
                <a:latin typeface="Calibri" pitchFamily="34" charset="0"/>
                <a:ea typeface="Calibri" pitchFamily="34" charset="-122"/>
                <a:cs typeface="Calibri" pitchFamily="34" charset="-120"/>
              </a:rPr>
              <a:t>• 디스크에 저장된 DB와 데이터 사전을 관리</a:t>
            </a:r>
            <a:endParaRPr lang="en-US" sz="1050" dirty="0"/>
          </a:p>
          <a:p>
            <a:pPr marL="0" indent="0">
              <a:lnSpc>
                <a:spcPct val="140000"/>
              </a:lnSpc>
              <a:buNone/>
            </a:pPr>
            <a:r>
              <a:rPr lang="en-US" sz="1050" dirty="0">
                <a:solidFill>
                  <a:srgbClr val="334155"/>
                </a:solidFill>
                <a:latin typeface="Calibri" pitchFamily="34" charset="0"/>
                <a:ea typeface="Calibri" pitchFamily="34" charset="-122"/>
                <a:cs typeface="Calibri" pitchFamily="34" charset="-120"/>
              </a:rPr>
              <a:t>• 데이터 사전 관리</a:t>
            </a:r>
            <a:endParaRPr lang="en-US" sz="1050" dirty="0"/>
          </a:p>
          <a:p>
            <a:pPr marL="0" indent="0">
              <a:lnSpc>
                <a:spcPct val="140000"/>
              </a:lnSpc>
              <a:buNone/>
            </a:pPr>
            <a:r>
              <a:rPr lang="en-US" sz="1050" dirty="0">
                <a:solidFill>
                  <a:srgbClr val="334155"/>
                </a:solidFill>
                <a:latin typeface="Calibri" pitchFamily="34" charset="0"/>
                <a:ea typeface="Calibri" pitchFamily="34" charset="-122"/>
                <a:cs typeface="Calibri" pitchFamily="34" charset="-120"/>
              </a:rPr>
              <a:t>• DB에 대한 실제 접근을 담당하는 OS 모듈</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1A2744"/>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891B2"/>
          </a:solidFill>
          <a:ln/>
        </p:spPr>
      </p:sp>
      <p:sp>
        <p:nvSpPr>
          <p:cNvPr id="3" name="Shape 1"/>
          <p:cNvSpPr/>
          <p:nvPr/>
        </p:nvSpPr>
        <p:spPr>
          <a:xfrm>
            <a:off x="0" y="5088636"/>
            <a:ext cx="9144000" cy="54864"/>
          </a:xfrm>
          <a:prstGeom prst="rect">
            <a:avLst/>
          </a:prstGeom>
          <a:solidFill>
            <a:srgbClr val="0891B2"/>
          </a:solidFill>
          <a:ln/>
        </p:spPr>
      </p:sp>
      <p:pic>
        <p:nvPicPr>
          <p:cNvPr id="4" name="Image 0" descr="preencoded.png"/>
          <p:cNvPicPr>
            <a:picLocks noChangeAspect="1"/>
          </p:cNvPicPr>
          <p:nvPr/>
        </p:nvPicPr>
        <p:blipFill>
          <a:blip r:embed="rId3"/>
          <a:stretch>
            <a:fillRect/>
          </a:stretch>
        </p:blipFill>
        <p:spPr>
          <a:xfrm>
            <a:off x="4160520" y="822960"/>
            <a:ext cx="822960" cy="822960"/>
          </a:xfrm>
          <a:prstGeom prst="rect">
            <a:avLst/>
          </a:prstGeom>
        </p:spPr>
      </p:pic>
      <p:sp>
        <p:nvSpPr>
          <p:cNvPr id="5" name="Text 2"/>
          <p:cNvSpPr/>
          <p:nvPr/>
        </p:nvSpPr>
        <p:spPr>
          <a:xfrm>
            <a:off x="914400" y="1828800"/>
            <a:ext cx="7315200" cy="822960"/>
          </a:xfrm>
          <a:prstGeom prst="rect">
            <a:avLst/>
          </a:prstGeom>
          <a:noFill/>
          <a:ln/>
        </p:spPr>
        <p:txBody>
          <a:bodyPr wrap="square" lIns="0" tIns="0" rIns="0" bIns="0" rtlCol="0" anchor="ctr"/>
          <a:lstStyle/>
          <a:p>
            <a:pPr marL="0" indent="0" algn="ctr">
              <a:buNone/>
            </a:pPr>
            <a:r>
              <a:rPr lang="en-US" sz="4000" b="1" dirty="0">
                <a:solidFill>
                  <a:srgbClr val="FFFFFF"/>
                </a:solidFill>
                <a:latin typeface="Arial Black" pitchFamily="34" charset="0"/>
                <a:ea typeface="Arial Black" pitchFamily="34" charset="-122"/>
                <a:cs typeface="Arial Black" pitchFamily="34" charset="-120"/>
              </a:rPr>
              <a:t>감사합니다</a:t>
            </a:r>
            <a:endParaRPr lang="en-US" sz="4000" dirty="0"/>
          </a:p>
        </p:txBody>
      </p:sp>
      <p:sp>
        <p:nvSpPr>
          <p:cNvPr id="6" name="Text 3"/>
          <p:cNvSpPr/>
          <p:nvPr/>
        </p:nvSpPr>
        <p:spPr>
          <a:xfrm>
            <a:off x="914400" y="2560320"/>
            <a:ext cx="7315200" cy="457200"/>
          </a:xfrm>
          <a:prstGeom prst="rect">
            <a:avLst/>
          </a:prstGeom>
          <a:noFill/>
          <a:ln/>
        </p:spPr>
        <p:txBody>
          <a:bodyPr wrap="square" lIns="0" tIns="0" rIns="0" bIns="0" rtlCol="0" anchor="ctr"/>
          <a:lstStyle/>
          <a:p>
            <a:pPr marL="0" indent="0" algn="ctr">
              <a:buNone/>
            </a:pPr>
            <a:r>
              <a:rPr lang="en-US" sz="1800" i="1" dirty="0">
                <a:solidFill>
                  <a:srgbClr val="94A3B8"/>
                </a:solidFill>
                <a:latin typeface="Calibri" pitchFamily="34" charset="0"/>
                <a:ea typeface="Calibri" pitchFamily="34" charset="-122"/>
                <a:cs typeface="Calibri" pitchFamily="34" charset="-120"/>
              </a:rPr>
              <a:t>Thank You</a:t>
            </a:r>
            <a:endParaRPr lang="en-US" sz="1800" dirty="0"/>
          </a:p>
        </p:txBody>
      </p:sp>
      <p:sp>
        <p:nvSpPr>
          <p:cNvPr id="7" name="Shape 4"/>
          <p:cNvSpPr/>
          <p:nvPr/>
        </p:nvSpPr>
        <p:spPr>
          <a:xfrm>
            <a:off x="3840480" y="3200400"/>
            <a:ext cx="1463040" cy="36576"/>
          </a:xfrm>
          <a:prstGeom prst="rect">
            <a:avLst/>
          </a:prstGeom>
          <a:solidFill>
            <a:srgbClr val="0891B2"/>
          </a:solidFill>
          <a:ln/>
        </p:spPr>
      </p:sp>
      <p:sp>
        <p:nvSpPr>
          <p:cNvPr id="8" name="Text 5"/>
          <p:cNvSpPr/>
          <p:nvPr/>
        </p:nvSpPr>
        <p:spPr>
          <a:xfrm>
            <a:off x="914400" y="3383280"/>
            <a:ext cx="7315200" cy="731520"/>
          </a:xfrm>
          <a:prstGeom prst="rect">
            <a:avLst/>
          </a:prstGeom>
          <a:noFill/>
          <a:ln/>
        </p:spPr>
        <p:txBody>
          <a:bodyPr wrap="square" lIns="0" tIns="0" rIns="0" bIns="0" rtlCol="0" anchor="ctr"/>
          <a:lstStyle/>
          <a:p>
            <a:pPr marL="0" indent="0" algn="ctr">
              <a:buNone/>
            </a:pPr>
            <a:r>
              <a:rPr lang="en-US" sz="1300" dirty="0">
                <a:solidFill>
                  <a:srgbClr val="94A3B8"/>
                </a:solidFill>
                <a:latin typeface="Calibri" pitchFamily="34" charset="0"/>
                <a:ea typeface="Calibri" pitchFamily="34" charset="-122"/>
                <a:cs typeface="Calibri" pitchFamily="34" charset="-120"/>
              </a:rPr>
              <a:t>박상돈 조교수  |  대전대학교 컴퓨터공학과</a:t>
            </a:r>
            <a:endParaRPr lang="en-US" sz="1300" dirty="0"/>
          </a:p>
          <a:p>
            <a:pPr marL="0" indent="0" algn="ctr">
              <a:buNone/>
            </a:pPr>
            <a:endParaRPr lang="en-US" sz="1100" dirty="0">
              <a:solidFill>
                <a:srgbClr val="0891B2"/>
              </a:solidFill>
              <a:latin typeface="Calibri" pitchFamily="34" charset="0"/>
              <a:ea typeface="Calibri" pitchFamily="34" charset="-122"/>
              <a:cs typeface="Calibri" pitchFamily="34" charset="-120"/>
            </a:endParaRPr>
          </a:p>
          <a:p>
            <a:pPr marL="0" indent="0" algn="ctr">
              <a:buNone/>
            </a:pPr>
            <a:r>
              <a:rPr lang="en-US" sz="1100" dirty="0">
                <a:solidFill>
                  <a:srgbClr val="0891B2"/>
                </a:solidFill>
                <a:latin typeface="Calibri" pitchFamily="34" charset="0"/>
                <a:ea typeface="Calibri" pitchFamily="34" charset="-122"/>
                <a:cs typeface="Calibri" pitchFamily="34" charset="-120"/>
              </a:rPr>
              <a:t>johnsdpark@gmail.com  |  융합과학관 24221호</a:t>
            </a:r>
            <a:endParaRPr lang="en-US" sz="1300" dirty="0"/>
          </a:p>
        </p:txBody>
      </p:sp>
      <p:sp>
        <p:nvSpPr>
          <p:cNvPr id="9" name="Shape 6"/>
          <p:cNvSpPr/>
          <p:nvPr/>
        </p:nvSpPr>
        <p:spPr>
          <a:xfrm>
            <a:off x="457200" y="3840480"/>
            <a:ext cx="731520" cy="731520"/>
          </a:xfrm>
          <a:prstGeom prst="ellipse">
            <a:avLst/>
          </a:prstGeom>
          <a:solidFill>
            <a:srgbClr val="0891B2">
              <a:alpha val="15000"/>
            </a:srgbClr>
          </a:solidFill>
          <a:ln/>
        </p:spPr>
      </p:sp>
      <p:sp>
        <p:nvSpPr>
          <p:cNvPr id="10" name="Shape 7"/>
          <p:cNvSpPr/>
          <p:nvPr/>
        </p:nvSpPr>
        <p:spPr>
          <a:xfrm>
            <a:off x="7955280" y="731520"/>
            <a:ext cx="914400" cy="914400"/>
          </a:xfrm>
          <a:prstGeom prst="ellipse">
            <a:avLst/>
          </a:prstGeom>
          <a:solidFill>
            <a:srgbClr val="0891B2">
              <a:alpha val="12000"/>
            </a:srgbClr>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1327</Words>
  <Application>Microsoft Office PowerPoint</Application>
  <PresentationFormat>화면 슬라이드 쇼(16:9)</PresentationFormat>
  <Paragraphs>304</Paragraphs>
  <Slides>20</Slides>
  <Notes>20</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20</vt:i4>
      </vt:variant>
    </vt:vector>
  </HeadingPairs>
  <TitlesOfParts>
    <vt:vector size="26" baseType="lpstr">
      <vt:lpstr>맑은 고딕</vt:lpstr>
      <vt:lpstr>Arial</vt:lpstr>
      <vt:lpstr>Arial Black</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3장. 데이터베이스 시스템</dc:title>
  <dc:subject>PptxGenJS Presentation</dc:subject>
  <dc:creator>박상돈</dc:creator>
  <cp:lastModifiedBy>USER</cp:lastModifiedBy>
  <cp:revision>3</cp:revision>
  <dcterms:created xsi:type="dcterms:W3CDTF">2026-02-26T13:41:20Z</dcterms:created>
  <dcterms:modified xsi:type="dcterms:W3CDTF">2026-02-26T13:45:14Z</dcterms:modified>
</cp:coreProperties>
</file>