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8" r:id="rId21"/>
    <p:sldId id="274" r:id="rId22"/>
    <p:sldId id="279" r:id="rId23"/>
    <p:sldId id="276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2590" autoAdjust="0"/>
  </p:normalViewPr>
  <p:slideViewPr>
    <p:cSldViewPr snapToGrid="0" snapToObjects="1">
      <p:cViewPr varScale="1">
        <p:scale>
          <a:sx n="153" d="100"/>
          <a:sy n="153" d="100"/>
        </p:scale>
        <p:origin x="20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157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안녕하세요</a:t>
            </a:r>
            <a:r>
              <a:rPr dirty="0"/>
              <a:t>, </a:t>
            </a:r>
            <a:r>
              <a:rPr dirty="0" err="1"/>
              <a:t>여러분</a:t>
            </a:r>
            <a:r>
              <a:rPr dirty="0"/>
              <a:t>. </a:t>
            </a:r>
            <a:r>
              <a:rPr dirty="0" err="1"/>
              <a:t>박상돈입니다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지난</a:t>
            </a:r>
            <a:r>
              <a:rPr dirty="0"/>
              <a:t> </a:t>
            </a:r>
            <a:r>
              <a:rPr dirty="0" err="1"/>
              <a:t>시간에</a:t>
            </a:r>
            <a:r>
              <a:rPr dirty="0"/>
              <a:t> 2장 </a:t>
            </a:r>
            <a:r>
              <a:rPr dirty="0" err="1"/>
              <a:t>연습문제</a:t>
            </a:r>
            <a:r>
              <a:rPr dirty="0"/>
              <a:t> </a:t>
            </a:r>
            <a:r>
              <a:rPr dirty="0" err="1"/>
              <a:t>풀이를</a:t>
            </a:r>
            <a:r>
              <a:rPr dirty="0"/>
              <a:t> </a:t>
            </a:r>
            <a:r>
              <a:rPr dirty="0" err="1"/>
              <a:t>했었죠</a:t>
            </a:r>
            <a:r>
              <a:rPr dirty="0"/>
              <a:t>. 21문항을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같이</a:t>
            </a:r>
            <a:r>
              <a:rPr dirty="0"/>
              <a:t> </a:t>
            </a:r>
            <a:r>
              <a:rPr dirty="0" err="1"/>
              <a:t>풀어봤습니다</a:t>
            </a:r>
            <a:r>
              <a:rPr dirty="0"/>
              <a:t>.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문제점</a:t>
            </a:r>
            <a:r>
              <a:rPr dirty="0"/>
              <a:t> 네 </a:t>
            </a:r>
            <a:r>
              <a:rPr dirty="0" err="1"/>
              <a:t>가지</a:t>
            </a:r>
            <a:r>
              <a:rPr dirty="0"/>
              <a:t>, </a:t>
            </a:r>
            <a:r>
              <a:rPr dirty="0" err="1"/>
              <a:t>중종동개</a:t>
            </a:r>
            <a:r>
              <a:rPr dirty="0"/>
              <a:t>. </a:t>
            </a:r>
            <a:r>
              <a:rPr dirty="0" err="1"/>
              <a:t>DBMS의</a:t>
            </a:r>
            <a:r>
              <a:rPr dirty="0"/>
              <a:t> 3대 </a:t>
            </a:r>
            <a:r>
              <a:rPr dirty="0" err="1"/>
              <a:t>기능인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, </a:t>
            </a:r>
            <a:r>
              <a:rPr dirty="0" err="1"/>
              <a:t>조작</a:t>
            </a:r>
            <a:r>
              <a:rPr dirty="0"/>
              <a:t>, </a:t>
            </a:r>
            <a:r>
              <a:rPr dirty="0" err="1"/>
              <a:t>제어</a:t>
            </a:r>
            <a:r>
              <a:rPr dirty="0"/>
              <a:t>. DDL, DML, </a:t>
            </a:r>
            <a:r>
              <a:rPr dirty="0" err="1"/>
              <a:t>DCL의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관계</a:t>
            </a:r>
            <a:r>
              <a:rPr dirty="0"/>
              <a:t>. </a:t>
            </a:r>
            <a:r>
              <a:rPr dirty="0" err="1"/>
              <a:t>DBMS의</a:t>
            </a:r>
            <a:r>
              <a:rPr dirty="0"/>
              <a:t> </a:t>
            </a:r>
            <a:r>
              <a:rPr dirty="0" err="1"/>
              <a:t>장점</a:t>
            </a:r>
            <a:r>
              <a:rPr dirty="0"/>
              <a:t> </a:t>
            </a:r>
            <a:r>
              <a:rPr dirty="0" err="1"/>
              <a:t>일곱</a:t>
            </a:r>
            <a:r>
              <a:rPr dirty="0"/>
              <a:t> </a:t>
            </a:r>
            <a:r>
              <a:rPr dirty="0" err="1"/>
              <a:t>가지와</a:t>
            </a:r>
            <a:r>
              <a:rPr dirty="0"/>
              <a:t> </a:t>
            </a:r>
            <a:r>
              <a:rPr dirty="0" err="1"/>
              <a:t>단점</a:t>
            </a:r>
            <a:r>
              <a:rPr dirty="0"/>
              <a:t> 세 </a:t>
            </a:r>
            <a:r>
              <a:rPr dirty="0" err="1"/>
              <a:t>가지</a:t>
            </a:r>
            <a:r>
              <a:rPr dirty="0"/>
              <a:t>. </a:t>
            </a:r>
            <a:r>
              <a:rPr dirty="0" err="1"/>
              <a:t>그리고</a:t>
            </a:r>
            <a:r>
              <a:rPr dirty="0"/>
              <a:t> RDBMS, NoSQL, </a:t>
            </a:r>
            <a:r>
              <a:rPr dirty="0" err="1"/>
              <a:t>NewSQL의</a:t>
            </a:r>
            <a:r>
              <a:rPr dirty="0"/>
              <a:t> </a:t>
            </a:r>
            <a:r>
              <a:rPr dirty="0" err="1"/>
              <a:t>비교까지</a:t>
            </a:r>
            <a:r>
              <a:rPr dirty="0"/>
              <a:t>. 다 </a:t>
            </a:r>
            <a:r>
              <a:rPr dirty="0" err="1"/>
              <a:t>기억나시죠</a:t>
            </a:r>
            <a:r>
              <a:rPr dirty="0"/>
              <a:t>?</a:t>
            </a:r>
          </a:p>
          <a:p>
            <a:r>
              <a:rPr dirty="0" err="1"/>
              <a:t>오늘은</a:t>
            </a:r>
            <a:r>
              <a:rPr dirty="0"/>
              <a:t> 3장으로 </a:t>
            </a:r>
            <a:r>
              <a:rPr dirty="0" err="1"/>
              <a:t>넘어갑니다</a:t>
            </a:r>
            <a:r>
              <a:rPr dirty="0"/>
              <a:t>. </a:t>
            </a:r>
            <a:r>
              <a:rPr dirty="0" err="1"/>
              <a:t>오늘의</a:t>
            </a:r>
            <a:r>
              <a:rPr dirty="0"/>
              <a:t> </a:t>
            </a:r>
            <a:r>
              <a:rPr dirty="0" err="1"/>
              <a:t>주제는</a:t>
            </a:r>
            <a:r>
              <a:rPr dirty="0"/>
              <a:t>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시스템입니다</a:t>
            </a:r>
            <a:r>
              <a:rPr dirty="0"/>
              <a:t>. </a:t>
            </a:r>
            <a:r>
              <a:rPr dirty="0" err="1"/>
              <a:t>영어로</a:t>
            </a:r>
            <a:r>
              <a:rPr dirty="0"/>
              <a:t> Database Systems.</a:t>
            </a:r>
          </a:p>
          <a:p>
            <a:r>
              <a:rPr dirty="0"/>
              <a:t>2장에서 </a:t>
            </a:r>
            <a:r>
              <a:rPr dirty="0" err="1"/>
              <a:t>우리가</a:t>
            </a:r>
            <a:r>
              <a:rPr dirty="0"/>
              <a:t> </a:t>
            </a:r>
            <a:r>
              <a:rPr dirty="0" err="1"/>
              <a:t>DBMS가</a:t>
            </a:r>
            <a:r>
              <a:rPr dirty="0"/>
              <a:t> </a:t>
            </a:r>
            <a:r>
              <a:rPr dirty="0" err="1"/>
              <a:t>뭔지</a:t>
            </a:r>
            <a:r>
              <a:rPr dirty="0"/>
              <a:t> </a:t>
            </a:r>
            <a:r>
              <a:rPr dirty="0" err="1"/>
              <a:t>배웠습니다</a:t>
            </a:r>
            <a:r>
              <a:rPr dirty="0"/>
              <a:t>. </a:t>
            </a:r>
            <a:r>
              <a:rPr dirty="0" err="1"/>
              <a:t>DBMS는</a:t>
            </a:r>
            <a:r>
              <a:rPr dirty="0"/>
              <a:t> </a:t>
            </a:r>
            <a:r>
              <a:rPr dirty="0" err="1"/>
              <a:t>데이터베이스를</a:t>
            </a:r>
            <a:r>
              <a:rPr dirty="0"/>
              <a:t> </a:t>
            </a:r>
            <a:r>
              <a:rPr dirty="0" err="1"/>
              <a:t>관리하는</a:t>
            </a:r>
            <a:r>
              <a:rPr dirty="0"/>
              <a:t> </a:t>
            </a:r>
            <a:r>
              <a:rPr dirty="0" err="1"/>
              <a:t>소프트웨어라고</a:t>
            </a:r>
            <a:r>
              <a:rPr dirty="0"/>
              <a:t> </a:t>
            </a:r>
            <a:r>
              <a:rPr dirty="0" err="1"/>
              <a:t>했죠</a:t>
            </a:r>
            <a:r>
              <a:rPr dirty="0"/>
              <a:t>. </a:t>
            </a:r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데이터베이스가</a:t>
            </a:r>
            <a:r>
              <a:rPr dirty="0"/>
              <a:t> </a:t>
            </a:r>
            <a:r>
              <a:rPr dirty="0" err="1"/>
              <a:t>제대로</a:t>
            </a:r>
            <a:r>
              <a:rPr dirty="0"/>
              <a:t> </a:t>
            </a:r>
            <a:r>
              <a:rPr dirty="0" err="1"/>
              <a:t>돌아가려면</a:t>
            </a:r>
            <a:r>
              <a:rPr dirty="0"/>
              <a:t> </a:t>
            </a:r>
            <a:r>
              <a:rPr dirty="0" err="1"/>
              <a:t>DBMS만</a:t>
            </a:r>
            <a:r>
              <a:rPr dirty="0"/>
              <a:t> </a:t>
            </a:r>
            <a:r>
              <a:rPr dirty="0" err="1"/>
              <a:t>있으면</a:t>
            </a:r>
            <a:r>
              <a:rPr dirty="0"/>
              <a:t> </a:t>
            </a:r>
            <a:r>
              <a:rPr dirty="0" err="1"/>
              <a:t>될까요</a:t>
            </a:r>
            <a:r>
              <a:rPr dirty="0"/>
              <a:t>? </a:t>
            </a:r>
            <a:r>
              <a:rPr dirty="0" err="1"/>
              <a:t>아닙니다</a:t>
            </a:r>
            <a:r>
              <a:rPr dirty="0"/>
              <a:t>. DBMS </a:t>
            </a:r>
            <a:r>
              <a:rPr dirty="0" err="1"/>
              <a:t>외에도</a:t>
            </a:r>
            <a:r>
              <a:rPr dirty="0"/>
              <a:t>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자체</a:t>
            </a:r>
            <a:r>
              <a:rPr dirty="0"/>
              <a:t>, 사용자,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프로그램</a:t>
            </a:r>
            <a:r>
              <a:rPr dirty="0"/>
              <a:t>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</a:t>
            </a:r>
            <a:r>
              <a:rPr dirty="0"/>
              <a:t>, </a:t>
            </a:r>
            <a:r>
              <a:rPr dirty="0" err="1"/>
              <a:t>컴퓨터</a:t>
            </a:r>
            <a:r>
              <a:rPr dirty="0"/>
              <a:t> </a:t>
            </a:r>
            <a:r>
              <a:rPr dirty="0" err="1"/>
              <a:t>하드웨어까지</a:t>
            </a:r>
            <a:r>
              <a:rPr dirty="0"/>
              <a:t>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필요합니다</a:t>
            </a:r>
            <a:r>
              <a:rPr dirty="0"/>
              <a:t>. 이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합쳐서</a:t>
            </a:r>
            <a:r>
              <a:rPr dirty="0"/>
              <a:t>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시스템이라고</a:t>
            </a:r>
            <a:r>
              <a:rPr dirty="0"/>
              <a:t> </a:t>
            </a:r>
            <a:r>
              <a:rPr dirty="0" err="1"/>
              <a:t>부릅니다</a:t>
            </a:r>
            <a:r>
              <a:rPr dirty="0"/>
              <a:t>.</a:t>
            </a:r>
          </a:p>
          <a:p>
            <a:r>
              <a:rPr dirty="0"/>
              <a:t>3장은 이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배우는</a:t>
            </a:r>
            <a:r>
              <a:rPr dirty="0"/>
              <a:t> </a:t>
            </a:r>
            <a:r>
              <a:rPr dirty="0" err="1"/>
              <a:t>장입니다</a:t>
            </a:r>
            <a:r>
              <a:rPr dirty="0"/>
              <a:t>. </a:t>
            </a:r>
            <a:r>
              <a:rPr dirty="0" err="1"/>
              <a:t>특히</a:t>
            </a:r>
            <a:r>
              <a:rPr dirty="0"/>
              <a:t> 3단계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구조와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</a:t>
            </a:r>
            <a:r>
              <a:rPr dirty="0"/>
              <a:t> </a:t>
            </a:r>
            <a:r>
              <a:rPr dirty="0" err="1"/>
              <a:t>개념은</a:t>
            </a:r>
            <a:r>
              <a:rPr dirty="0"/>
              <a:t>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이론의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중의</a:t>
            </a:r>
            <a:r>
              <a:rPr dirty="0"/>
              <a:t> </a:t>
            </a:r>
            <a:r>
              <a:rPr dirty="0" err="1"/>
              <a:t>핵심이고</a:t>
            </a:r>
            <a:r>
              <a:rPr dirty="0"/>
              <a:t>, </a:t>
            </a:r>
            <a:r>
              <a:rPr dirty="0" err="1"/>
              <a:t>시험에서도</a:t>
            </a:r>
            <a:r>
              <a:rPr dirty="0"/>
              <a:t> </a:t>
            </a:r>
            <a:r>
              <a:rPr dirty="0" err="1"/>
              <a:t>매우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내용입니다</a:t>
            </a:r>
            <a:r>
              <a:rPr dirty="0"/>
              <a:t>. </a:t>
            </a:r>
            <a:r>
              <a:rPr dirty="0" err="1"/>
              <a:t>면접에서도</a:t>
            </a:r>
            <a:r>
              <a:rPr dirty="0"/>
              <a:t> "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독립성이</a:t>
            </a:r>
            <a:r>
              <a:rPr dirty="0"/>
              <a:t> </a:t>
            </a:r>
            <a:r>
              <a:rPr dirty="0" err="1"/>
              <a:t>뭐냐</a:t>
            </a:r>
            <a:r>
              <a:rPr dirty="0"/>
              <a:t>?", "</a:t>
            </a:r>
            <a:r>
              <a:rPr dirty="0" err="1"/>
              <a:t>스키마가</a:t>
            </a:r>
            <a:r>
              <a:rPr dirty="0"/>
              <a:t> </a:t>
            </a:r>
            <a:r>
              <a:rPr dirty="0" err="1"/>
              <a:t>뭐냐</a:t>
            </a:r>
            <a:r>
              <a:rPr dirty="0"/>
              <a:t>?"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나올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수업은</a:t>
            </a:r>
            <a:r>
              <a:rPr dirty="0"/>
              <a:t> 3시간입니다.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파트로</a:t>
            </a:r>
            <a:r>
              <a:rPr dirty="0"/>
              <a:t> </a:t>
            </a:r>
            <a:r>
              <a:rPr dirty="0" err="1"/>
              <a:t>나눌</a:t>
            </a:r>
            <a:r>
              <a:rPr dirty="0"/>
              <a:t> </a:t>
            </a:r>
            <a:r>
              <a:rPr dirty="0" err="1"/>
              <a:t>건데</a:t>
            </a:r>
            <a:r>
              <a:rPr dirty="0"/>
              <a:t>, 1교시에 </a:t>
            </a:r>
            <a:r>
              <a:rPr dirty="0" err="1"/>
              <a:t>섹션</a:t>
            </a:r>
            <a:r>
              <a:rPr dirty="0"/>
              <a:t> 1과 </a:t>
            </a:r>
            <a:r>
              <a:rPr dirty="0" err="1"/>
              <a:t>섹션</a:t>
            </a:r>
            <a:r>
              <a:rPr dirty="0"/>
              <a:t> 2를 </a:t>
            </a:r>
            <a:r>
              <a:rPr dirty="0" err="1"/>
              <a:t>다루고</a:t>
            </a:r>
            <a:r>
              <a:rPr dirty="0"/>
              <a:t>, 10분 </a:t>
            </a:r>
            <a:r>
              <a:rPr dirty="0" err="1"/>
              <a:t>쉬고</a:t>
            </a:r>
            <a:r>
              <a:rPr dirty="0"/>
              <a:t>, 2교시에 </a:t>
            </a:r>
            <a:r>
              <a:rPr dirty="0" err="1"/>
              <a:t>섹션</a:t>
            </a:r>
            <a:r>
              <a:rPr dirty="0"/>
              <a:t> 3과 </a:t>
            </a:r>
            <a:r>
              <a:rPr dirty="0" err="1"/>
              <a:t>섹션</a:t>
            </a:r>
            <a:r>
              <a:rPr dirty="0"/>
              <a:t> 4를 </a:t>
            </a:r>
            <a:r>
              <a:rPr dirty="0" err="1"/>
              <a:t>다루고</a:t>
            </a:r>
            <a:r>
              <a:rPr dirty="0"/>
              <a:t>, 10분 </a:t>
            </a:r>
            <a:r>
              <a:rPr dirty="0" err="1"/>
              <a:t>쉬고</a:t>
            </a:r>
            <a:r>
              <a:rPr dirty="0"/>
              <a:t>, 3교시에 </a:t>
            </a:r>
            <a:r>
              <a:rPr dirty="0" err="1"/>
              <a:t>섹션</a:t>
            </a:r>
            <a:r>
              <a:rPr dirty="0"/>
              <a:t> 5를 </a:t>
            </a:r>
            <a:r>
              <a:rPr dirty="0" err="1"/>
              <a:t>다루고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요약을</a:t>
            </a:r>
            <a:r>
              <a:rPr dirty="0"/>
              <a:t> </a:t>
            </a:r>
            <a:r>
              <a:rPr dirty="0" err="1"/>
              <a:t>하겠습니다</a:t>
            </a:r>
            <a:r>
              <a:rPr dirty="0"/>
              <a:t>. </a:t>
            </a:r>
            <a:r>
              <a:rPr dirty="0" err="1"/>
              <a:t>그러면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오늘의</a:t>
            </a:r>
            <a:r>
              <a:rPr dirty="0"/>
              <a:t> </a:t>
            </a:r>
            <a:r>
              <a:rPr dirty="0" err="1"/>
              <a:t>로드맵을</a:t>
            </a:r>
            <a:r>
              <a:rPr dirty="0"/>
              <a:t> </a:t>
            </a:r>
            <a:r>
              <a:rPr dirty="0" err="1"/>
              <a:t>확인하고</a:t>
            </a:r>
            <a:r>
              <a:rPr dirty="0"/>
              <a:t> </a:t>
            </a:r>
            <a:r>
              <a:rPr dirty="0" err="1"/>
              <a:t>시작합시다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수업의</a:t>
            </a:r>
            <a:r>
              <a:rPr dirty="0"/>
              <a:t> </a:t>
            </a:r>
            <a:r>
              <a:rPr dirty="0" err="1"/>
              <a:t>목차입니다</a:t>
            </a:r>
            <a:r>
              <a:rPr dirty="0"/>
              <a:t>.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개의</a:t>
            </a:r>
            <a:r>
              <a:rPr dirty="0"/>
              <a:t> </a:t>
            </a:r>
            <a:r>
              <a:rPr dirty="0" err="1"/>
              <a:t>섹션으로</a:t>
            </a:r>
            <a:r>
              <a:rPr dirty="0"/>
              <a:t> </a:t>
            </a:r>
            <a:r>
              <a:rPr dirty="0" err="1"/>
              <a:t>구성되어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섹션</a:t>
            </a:r>
            <a:r>
              <a:rPr dirty="0"/>
              <a:t> 1은 "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정의"입니다</a:t>
            </a:r>
            <a:r>
              <a:rPr dirty="0"/>
              <a:t>.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시스템이</a:t>
            </a:r>
            <a:r>
              <a:rPr dirty="0"/>
              <a:t> </a:t>
            </a:r>
            <a:r>
              <a:rPr dirty="0" err="1"/>
              <a:t>정확히</a:t>
            </a:r>
            <a:r>
              <a:rPr dirty="0"/>
              <a:t> </a:t>
            </a:r>
            <a:r>
              <a:rPr dirty="0" err="1"/>
              <a:t>뭔지</a:t>
            </a:r>
            <a:r>
              <a:rPr dirty="0"/>
              <a:t>,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요소들로</a:t>
            </a:r>
            <a:r>
              <a:rPr dirty="0"/>
              <a:t> </a:t>
            </a:r>
            <a:r>
              <a:rPr dirty="0" err="1"/>
              <a:t>이루어져</a:t>
            </a:r>
            <a:r>
              <a:rPr dirty="0"/>
              <a:t> </a:t>
            </a:r>
            <a:r>
              <a:rPr dirty="0" err="1"/>
              <a:t>있는지를</a:t>
            </a:r>
            <a:r>
              <a:rPr dirty="0"/>
              <a:t> </a:t>
            </a:r>
            <a:r>
              <a:rPr dirty="0" err="1"/>
              <a:t>배웁니다</a:t>
            </a:r>
            <a:r>
              <a:rPr dirty="0"/>
              <a:t>.</a:t>
            </a:r>
          </a:p>
          <a:p>
            <a:r>
              <a:rPr dirty="0" err="1"/>
              <a:t>섹션</a:t>
            </a:r>
            <a:r>
              <a:rPr dirty="0"/>
              <a:t> 2는 "</a:t>
            </a:r>
            <a:r>
              <a:rPr dirty="0" err="1"/>
              <a:t>데이터베이스의</a:t>
            </a:r>
            <a:r>
              <a:rPr dirty="0"/>
              <a:t> </a:t>
            </a:r>
            <a:r>
              <a:rPr dirty="0" err="1"/>
              <a:t>구조"입니다</a:t>
            </a:r>
            <a:r>
              <a:rPr dirty="0"/>
              <a:t>. </a:t>
            </a: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장에서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섹션입니다</a:t>
            </a:r>
            <a:r>
              <a:rPr dirty="0"/>
              <a:t>. </a:t>
            </a:r>
            <a:r>
              <a:rPr dirty="0" err="1"/>
              <a:t>스키마와</a:t>
            </a:r>
            <a:r>
              <a:rPr dirty="0"/>
              <a:t> </a:t>
            </a:r>
            <a:r>
              <a:rPr dirty="0" err="1"/>
              <a:t>인스턴스의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, ANSI/SPARC 3단계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사전까지</a:t>
            </a:r>
            <a:r>
              <a:rPr dirty="0"/>
              <a:t> </a:t>
            </a:r>
            <a:r>
              <a:rPr dirty="0" err="1"/>
              <a:t>다룹니다</a:t>
            </a:r>
            <a:r>
              <a:rPr dirty="0"/>
              <a:t>. </a:t>
            </a:r>
            <a:r>
              <a:rPr dirty="0" err="1"/>
              <a:t>시험에서</a:t>
            </a:r>
            <a:r>
              <a:rPr dirty="0"/>
              <a:t> </a:t>
            </a:r>
            <a:r>
              <a:rPr dirty="0" err="1"/>
              <a:t>비중이</a:t>
            </a:r>
            <a:r>
              <a:rPr dirty="0"/>
              <a:t> </a:t>
            </a:r>
            <a:r>
              <a:rPr dirty="0" err="1"/>
              <a:t>매우</a:t>
            </a:r>
            <a:r>
              <a:rPr dirty="0"/>
              <a:t> </a:t>
            </a:r>
            <a:r>
              <a:rPr dirty="0" err="1"/>
              <a:t>높으니까</a:t>
            </a:r>
            <a:r>
              <a:rPr dirty="0"/>
              <a:t> </a:t>
            </a:r>
            <a:r>
              <a:rPr dirty="0" err="1"/>
              <a:t>집중해서</a:t>
            </a:r>
            <a:r>
              <a:rPr dirty="0"/>
              <a:t> </a:t>
            </a:r>
            <a:r>
              <a:rPr dirty="0" err="1"/>
              <a:t>들어주세요</a:t>
            </a:r>
            <a:r>
              <a:rPr dirty="0"/>
              <a:t>.</a:t>
            </a:r>
          </a:p>
          <a:p>
            <a:r>
              <a:rPr dirty="0" err="1"/>
              <a:t>섹션</a:t>
            </a:r>
            <a:r>
              <a:rPr dirty="0"/>
              <a:t> 3은 "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사용자"입니다</a:t>
            </a:r>
            <a:r>
              <a:rPr dirty="0"/>
              <a:t>. DBA, </a:t>
            </a:r>
            <a:r>
              <a:rPr dirty="0" err="1"/>
              <a:t>최종</a:t>
            </a:r>
            <a:r>
              <a:rPr dirty="0"/>
              <a:t> 사용자,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프로그래머</a:t>
            </a:r>
            <a:r>
              <a:rPr dirty="0"/>
              <a:t>. </a:t>
            </a:r>
            <a:r>
              <a:rPr dirty="0" err="1"/>
              <a:t>각각의</a:t>
            </a:r>
            <a:r>
              <a:rPr dirty="0"/>
              <a:t> </a:t>
            </a:r>
            <a:r>
              <a:rPr dirty="0" err="1"/>
              <a:t>역할과</a:t>
            </a:r>
            <a:r>
              <a:rPr dirty="0"/>
              <a:t> </a:t>
            </a:r>
            <a:r>
              <a:rPr dirty="0" err="1"/>
              <a:t>사용하는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언어가</a:t>
            </a:r>
            <a:r>
              <a:rPr dirty="0"/>
              <a:t> </a:t>
            </a:r>
            <a:r>
              <a:rPr dirty="0" err="1"/>
              <a:t>다릅니다</a:t>
            </a:r>
            <a:r>
              <a:rPr dirty="0"/>
              <a:t>.</a:t>
            </a:r>
          </a:p>
          <a:p>
            <a:r>
              <a:rPr dirty="0" err="1"/>
              <a:t>섹션</a:t>
            </a:r>
            <a:r>
              <a:rPr dirty="0"/>
              <a:t> 4는 "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언어"입니다</a:t>
            </a:r>
            <a:r>
              <a:rPr dirty="0"/>
              <a:t>. DDL, DML, </a:t>
            </a:r>
            <a:r>
              <a:rPr dirty="0" err="1"/>
              <a:t>DCL을</a:t>
            </a:r>
            <a:r>
              <a:rPr dirty="0"/>
              <a:t> 좀 더 </a:t>
            </a:r>
            <a:r>
              <a:rPr dirty="0" err="1"/>
              <a:t>깊이</a:t>
            </a:r>
            <a:r>
              <a:rPr dirty="0"/>
              <a:t> </a:t>
            </a:r>
            <a:r>
              <a:rPr dirty="0" err="1"/>
              <a:t>들어가고</a:t>
            </a:r>
            <a:r>
              <a:rPr dirty="0"/>
              <a:t>, </a:t>
            </a:r>
            <a:r>
              <a:rPr dirty="0" err="1"/>
              <a:t>특히</a:t>
            </a:r>
            <a:r>
              <a:rPr dirty="0"/>
              <a:t> </a:t>
            </a:r>
            <a:r>
              <a:rPr dirty="0" err="1"/>
              <a:t>절차적</a:t>
            </a:r>
            <a:r>
              <a:rPr dirty="0"/>
              <a:t> </a:t>
            </a:r>
            <a:r>
              <a:rPr dirty="0" err="1"/>
              <a:t>DML과</a:t>
            </a:r>
            <a:r>
              <a:rPr dirty="0"/>
              <a:t> </a:t>
            </a:r>
            <a:r>
              <a:rPr dirty="0" err="1"/>
              <a:t>비절차적</a:t>
            </a:r>
            <a:r>
              <a:rPr dirty="0"/>
              <a:t> </a:t>
            </a:r>
            <a:r>
              <a:rPr dirty="0" err="1"/>
              <a:t>DML의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배웁니다</a:t>
            </a:r>
            <a:r>
              <a:rPr dirty="0"/>
              <a:t>.</a:t>
            </a:r>
          </a:p>
          <a:p>
            <a:r>
              <a:rPr dirty="0" err="1"/>
              <a:t>섹션</a:t>
            </a:r>
            <a:r>
              <a:rPr dirty="0"/>
              <a:t> 5는 "</a:t>
            </a:r>
            <a:r>
              <a:rPr dirty="0" err="1"/>
              <a:t>DBMS의</a:t>
            </a:r>
            <a:r>
              <a:rPr dirty="0"/>
              <a:t> </a:t>
            </a:r>
            <a:r>
              <a:rPr dirty="0" err="1"/>
              <a:t>구성"입니다</a:t>
            </a:r>
            <a:r>
              <a:rPr dirty="0"/>
              <a:t>. </a:t>
            </a:r>
            <a:r>
              <a:rPr dirty="0" err="1"/>
              <a:t>질의</a:t>
            </a:r>
            <a:r>
              <a:rPr dirty="0"/>
              <a:t> </a:t>
            </a:r>
            <a:r>
              <a:rPr dirty="0" err="1"/>
              <a:t>처리기와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관리자라는</a:t>
            </a:r>
            <a:r>
              <a:rPr dirty="0"/>
              <a:t> 두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모듈을</a:t>
            </a:r>
            <a:r>
              <a:rPr dirty="0"/>
              <a:t> </a:t>
            </a:r>
            <a:r>
              <a:rPr dirty="0" err="1"/>
              <a:t>배웁니다</a:t>
            </a:r>
            <a:r>
              <a:rPr dirty="0"/>
              <a:t>.</a:t>
            </a:r>
          </a:p>
          <a:p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섹션이</a:t>
            </a:r>
            <a:r>
              <a:rPr dirty="0"/>
              <a:t> </a:t>
            </a:r>
            <a:r>
              <a:rPr dirty="0" err="1"/>
              <a:t>유기적으로</a:t>
            </a:r>
            <a:r>
              <a:rPr dirty="0"/>
              <a:t> </a:t>
            </a:r>
            <a:r>
              <a:rPr dirty="0" err="1"/>
              <a:t>연결되어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바깥에서</a:t>
            </a:r>
            <a:r>
              <a:rPr dirty="0"/>
              <a:t> </a:t>
            </a:r>
            <a:r>
              <a:rPr dirty="0" err="1"/>
              <a:t>안쪽으로</a:t>
            </a:r>
            <a:r>
              <a:rPr dirty="0"/>
              <a:t> </a:t>
            </a:r>
            <a:r>
              <a:rPr dirty="0" err="1"/>
              <a:t>점점</a:t>
            </a:r>
            <a:r>
              <a:rPr dirty="0"/>
              <a:t> </a:t>
            </a:r>
            <a:r>
              <a:rPr dirty="0" err="1"/>
              <a:t>들어가는</a:t>
            </a:r>
            <a:r>
              <a:rPr dirty="0"/>
              <a:t> </a:t>
            </a:r>
            <a:r>
              <a:rPr dirty="0" err="1"/>
              <a:t>구조라고</a:t>
            </a:r>
            <a:r>
              <a:rPr dirty="0"/>
              <a:t> </a:t>
            </a:r>
            <a:r>
              <a:rPr dirty="0" err="1"/>
              <a:t>생각하면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번째 섹션, 데이터베이스 시스템의 정의입니다.</a:t>
            </a:r>
          </a:p>
          <a:p>
            <a:endParaRPr/>
          </a:p>
          <a:p>
            <a:r>
              <a:t>이 섹션은 짧지만 중요합니다. "데이터베이스"와 "데이터베이스 시스템"은 다른 개념입니다. 데이터베이스는 데이터가 저장된 곳이고, 데이터베이스 시스템은 데이터베이스를 포함한 전체 체계입니다. 이 차이를 명확히 하고 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정의를</a:t>
            </a:r>
            <a:r>
              <a:rPr dirty="0"/>
              <a:t> </a:t>
            </a:r>
            <a:r>
              <a:rPr dirty="0" err="1"/>
              <a:t>보겠습니다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, </a:t>
            </a:r>
            <a:r>
              <a:rPr dirty="0" err="1"/>
              <a:t>줄여서</a:t>
            </a:r>
            <a:r>
              <a:rPr dirty="0"/>
              <a:t> </a:t>
            </a:r>
            <a:r>
              <a:rPr dirty="0" err="1"/>
              <a:t>DBS는</a:t>
            </a:r>
            <a:r>
              <a:rPr dirty="0"/>
              <a:t>, "</a:t>
            </a:r>
            <a:r>
              <a:rPr dirty="0" err="1"/>
              <a:t>데이터베이스에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저장하고</a:t>
            </a:r>
            <a:r>
              <a:rPr dirty="0"/>
              <a:t>, </a:t>
            </a:r>
            <a:r>
              <a:rPr dirty="0" err="1"/>
              <a:t>이를</a:t>
            </a:r>
            <a:r>
              <a:rPr dirty="0"/>
              <a:t> </a:t>
            </a:r>
            <a:r>
              <a:rPr dirty="0" err="1"/>
              <a:t>관리하여</a:t>
            </a:r>
            <a:r>
              <a:rPr dirty="0"/>
              <a:t> </a:t>
            </a:r>
            <a:r>
              <a:rPr dirty="0" err="1"/>
              <a:t>조직에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생성해주는</a:t>
            </a:r>
            <a:r>
              <a:rPr dirty="0"/>
              <a:t> </a:t>
            </a:r>
            <a:r>
              <a:rPr dirty="0" err="1"/>
              <a:t>시스템"입니다</a:t>
            </a:r>
            <a:r>
              <a:rPr dirty="0"/>
              <a:t>. </a:t>
            </a:r>
            <a:r>
              <a:rPr dirty="0" err="1"/>
              <a:t>데이터베이스</a:t>
            </a:r>
            <a:r>
              <a:rPr dirty="0"/>
              <a:t>, DBMS,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</a:t>
            </a:r>
            <a:r>
              <a:rPr dirty="0"/>
              <a:t>, 사용자, </a:t>
            </a:r>
            <a:r>
              <a:rPr dirty="0" err="1"/>
              <a:t>컴퓨터를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포함하는</a:t>
            </a:r>
            <a:r>
              <a:rPr dirty="0"/>
              <a:t> </a:t>
            </a:r>
            <a:r>
              <a:rPr dirty="0" err="1"/>
              <a:t>개념이라는</a:t>
            </a:r>
            <a:r>
              <a:rPr dirty="0"/>
              <a:t> </a:t>
            </a:r>
            <a:r>
              <a:rPr dirty="0" err="1"/>
              <a:t>점이</a:t>
            </a:r>
            <a:r>
              <a:rPr dirty="0"/>
              <a:t> </a:t>
            </a:r>
            <a:r>
              <a:rPr dirty="0" err="1"/>
              <a:t>중요합니다</a:t>
            </a:r>
            <a:r>
              <a:rPr dirty="0"/>
              <a:t>.</a:t>
            </a:r>
          </a:p>
          <a:p>
            <a:r>
              <a:rPr dirty="0" err="1"/>
              <a:t>비유하면</a:t>
            </a:r>
            <a:r>
              <a:rPr dirty="0"/>
              <a:t> </a:t>
            </a:r>
            <a:r>
              <a:rPr dirty="0" err="1"/>
              <a:t>이렇습니다</a:t>
            </a:r>
            <a:r>
              <a:rPr dirty="0"/>
              <a:t>. </a:t>
            </a:r>
            <a:r>
              <a:rPr dirty="0" err="1"/>
              <a:t>데이터베이스가</a:t>
            </a:r>
            <a:r>
              <a:rPr dirty="0"/>
              <a:t> "</a:t>
            </a:r>
            <a:r>
              <a:rPr dirty="0" err="1"/>
              <a:t>도서관의</a:t>
            </a:r>
            <a:r>
              <a:rPr dirty="0"/>
              <a:t> </a:t>
            </a:r>
            <a:r>
              <a:rPr dirty="0" err="1"/>
              <a:t>책들"이라면</a:t>
            </a:r>
            <a:r>
              <a:rPr dirty="0"/>
              <a:t>, </a:t>
            </a:r>
            <a:r>
              <a:rPr dirty="0" err="1"/>
              <a:t>DBMS는</a:t>
            </a:r>
            <a:r>
              <a:rPr dirty="0"/>
              <a:t> "</a:t>
            </a:r>
            <a:r>
              <a:rPr dirty="0" err="1"/>
              <a:t>도서관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소프트웨어"이고</a:t>
            </a:r>
            <a:r>
              <a:rPr dirty="0"/>
              <a:t>, </a:t>
            </a:r>
            <a:r>
              <a:rPr dirty="0" err="1"/>
              <a:t>사용자는</a:t>
            </a:r>
            <a:r>
              <a:rPr dirty="0"/>
              <a:t> "</a:t>
            </a:r>
            <a:r>
              <a:rPr dirty="0" err="1"/>
              <a:t>사서와</a:t>
            </a:r>
            <a:r>
              <a:rPr dirty="0"/>
              <a:t> </a:t>
            </a:r>
            <a:r>
              <a:rPr dirty="0" err="1"/>
              <a:t>이용자"이고</a:t>
            </a:r>
            <a:r>
              <a:rPr dirty="0"/>
              <a:t>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언어는</a:t>
            </a:r>
            <a:r>
              <a:rPr dirty="0"/>
              <a:t> "</a:t>
            </a:r>
            <a:r>
              <a:rPr dirty="0" err="1"/>
              <a:t>대출</a:t>
            </a:r>
            <a:r>
              <a:rPr dirty="0"/>
              <a:t> </a:t>
            </a:r>
            <a:r>
              <a:rPr dirty="0" err="1"/>
              <a:t>신청서</a:t>
            </a:r>
            <a:r>
              <a:rPr dirty="0"/>
              <a:t> </a:t>
            </a:r>
            <a:r>
              <a:rPr dirty="0" err="1"/>
              <a:t>양식"이고</a:t>
            </a:r>
            <a:r>
              <a:rPr dirty="0"/>
              <a:t>, </a:t>
            </a:r>
            <a:r>
              <a:rPr dirty="0" err="1"/>
              <a:t>컴퓨터는</a:t>
            </a:r>
            <a:r>
              <a:rPr dirty="0"/>
              <a:t> "</a:t>
            </a:r>
            <a:r>
              <a:rPr dirty="0" err="1"/>
              <a:t>도서관</a:t>
            </a:r>
            <a:r>
              <a:rPr dirty="0"/>
              <a:t> </a:t>
            </a:r>
            <a:r>
              <a:rPr dirty="0" err="1"/>
              <a:t>건물과</a:t>
            </a:r>
            <a:r>
              <a:rPr dirty="0"/>
              <a:t> </a:t>
            </a:r>
            <a:r>
              <a:rPr dirty="0" err="1"/>
              <a:t>설비"입니다</a:t>
            </a:r>
            <a:r>
              <a:rPr dirty="0"/>
              <a:t>.</a:t>
            </a:r>
          </a:p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하단에</a:t>
            </a:r>
            <a:r>
              <a:rPr dirty="0"/>
              <a:t> 네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요소가</a:t>
            </a:r>
            <a:r>
              <a:rPr dirty="0"/>
              <a:t> </a:t>
            </a:r>
            <a:r>
              <a:rPr dirty="0" err="1"/>
              <a:t>나와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첫 </a:t>
            </a:r>
            <a:r>
              <a:rPr dirty="0" err="1"/>
              <a:t>번째</a:t>
            </a:r>
            <a:r>
              <a:rPr dirty="0"/>
              <a:t>, </a:t>
            </a:r>
            <a:r>
              <a:rPr dirty="0" err="1"/>
              <a:t>데이터베이스</a:t>
            </a:r>
            <a:r>
              <a:rPr dirty="0"/>
              <a:t>. </a:t>
            </a:r>
            <a:r>
              <a:rPr dirty="0" err="1"/>
              <a:t>통합되고</a:t>
            </a:r>
            <a:r>
              <a:rPr dirty="0"/>
              <a:t> </a:t>
            </a:r>
            <a:r>
              <a:rPr dirty="0" err="1"/>
              <a:t>저장된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데이터입니다</a:t>
            </a:r>
            <a:r>
              <a:rPr dirty="0"/>
              <a:t>. 두 </a:t>
            </a:r>
            <a:r>
              <a:rPr dirty="0" err="1"/>
              <a:t>번째</a:t>
            </a:r>
            <a:r>
              <a:rPr dirty="0"/>
              <a:t>, DBMS. </a:t>
            </a:r>
            <a:r>
              <a:rPr dirty="0" err="1"/>
              <a:t>데이터베이스를</a:t>
            </a:r>
            <a:r>
              <a:rPr dirty="0"/>
              <a:t> </a:t>
            </a:r>
            <a:r>
              <a:rPr dirty="0" err="1"/>
              <a:t>관리하는</a:t>
            </a:r>
            <a:r>
              <a:rPr dirty="0"/>
              <a:t> </a:t>
            </a:r>
            <a:r>
              <a:rPr dirty="0" err="1"/>
              <a:t>소프트웨어입니다</a:t>
            </a:r>
            <a:r>
              <a:rPr dirty="0"/>
              <a:t>. 세 </a:t>
            </a:r>
            <a:r>
              <a:rPr dirty="0" err="1"/>
              <a:t>번째</a:t>
            </a:r>
            <a:r>
              <a:rPr dirty="0"/>
              <a:t>, 사용자. DBA, </a:t>
            </a:r>
            <a:r>
              <a:rPr dirty="0" err="1"/>
              <a:t>최종</a:t>
            </a:r>
            <a:r>
              <a:rPr dirty="0"/>
              <a:t> 사용자,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프로그래머로</a:t>
            </a:r>
            <a:r>
              <a:rPr dirty="0"/>
              <a:t> </a:t>
            </a:r>
            <a:r>
              <a:rPr dirty="0" err="1"/>
              <a:t>분류됩니다</a:t>
            </a:r>
            <a:r>
              <a:rPr dirty="0"/>
              <a:t>. 네 </a:t>
            </a:r>
            <a:r>
              <a:rPr dirty="0" err="1"/>
              <a:t>번째</a:t>
            </a:r>
            <a:r>
              <a:rPr dirty="0"/>
              <a:t>,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프로그램</a:t>
            </a:r>
            <a:r>
              <a:rPr dirty="0"/>
              <a:t>. </a:t>
            </a:r>
            <a:r>
              <a:rPr dirty="0" err="1"/>
              <a:t>데이터베이스에</a:t>
            </a:r>
            <a:r>
              <a:rPr dirty="0"/>
              <a:t> </a:t>
            </a:r>
            <a:r>
              <a:rPr dirty="0" err="1"/>
              <a:t>접근하기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소프트웨어입니다</a:t>
            </a:r>
            <a:r>
              <a:rPr dirty="0"/>
              <a:t>.</a:t>
            </a:r>
          </a:p>
          <a:p>
            <a:r>
              <a:rPr dirty="0" err="1"/>
              <a:t>시험에서</a:t>
            </a:r>
            <a:r>
              <a:rPr dirty="0"/>
              <a:t> "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요소를</a:t>
            </a:r>
            <a:r>
              <a:rPr dirty="0"/>
              <a:t> </a:t>
            </a:r>
            <a:r>
              <a:rPr dirty="0" err="1"/>
              <a:t>설명하시오"라는</a:t>
            </a:r>
            <a:r>
              <a:rPr dirty="0"/>
              <a:t> </a:t>
            </a:r>
            <a:r>
              <a:rPr dirty="0" err="1"/>
              <a:t>문제가</a:t>
            </a:r>
            <a:r>
              <a:rPr dirty="0"/>
              <a:t> </a:t>
            </a:r>
            <a:r>
              <a:rPr dirty="0" err="1"/>
              <a:t>나올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 이 네 </a:t>
            </a:r>
            <a:r>
              <a:rPr dirty="0" err="1"/>
              <a:t>가지에</a:t>
            </a:r>
            <a:r>
              <a:rPr dirty="0"/>
              <a:t> "</a:t>
            </a:r>
            <a:r>
              <a:rPr dirty="0" err="1"/>
              <a:t>컴퓨터"와</a:t>
            </a:r>
            <a:r>
              <a:rPr dirty="0"/>
              <a:t> "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언어"까지</a:t>
            </a:r>
            <a:r>
              <a:rPr dirty="0"/>
              <a:t> </a:t>
            </a:r>
            <a:r>
              <a:rPr dirty="0" err="1"/>
              <a:t>포함해서</a:t>
            </a:r>
            <a:r>
              <a:rPr dirty="0"/>
              <a:t> </a:t>
            </a:r>
            <a:r>
              <a:rPr dirty="0" err="1"/>
              <a:t>답해도</a:t>
            </a:r>
            <a:r>
              <a:rPr dirty="0"/>
              <a:t> </a:t>
            </a:r>
            <a:r>
              <a:rPr dirty="0" err="1"/>
              <a:t>좋습니다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두 번째 섹션, 데이터베이스의 구조입니다.</a:t>
            </a:r>
          </a:p>
          <a:p>
            <a:endParaRPr/>
          </a:p>
          <a:p>
            <a:endParaRPr/>
          </a:p>
          <a:p>
            <a:r>
              <a:t>이 섹션이 3장에서 가장 핵심적인 내용입니다. 분량도 가장 많고, 시험 출제 비중도 가장 높습니다. 스키마와 인스턴스, 3단계 구조, 데이터 독립성은 데이터베이스 이론의 기초 중의 기초입니다. 집중해서 들어주세요.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스키마와</a:t>
            </a:r>
            <a:r>
              <a:rPr dirty="0"/>
              <a:t> </a:t>
            </a:r>
            <a:r>
              <a:rPr dirty="0" err="1"/>
              <a:t>인스턴스라는</a:t>
            </a:r>
            <a:r>
              <a:rPr dirty="0"/>
              <a:t> 두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개념을</a:t>
            </a:r>
            <a:r>
              <a:rPr dirty="0"/>
              <a:t> </a:t>
            </a:r>
            <a:r>
              <a:rPr dirty="0" err="1"/>
              <a:t>배우겠습니다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스키마</a:t>
            </a:r>
            <a:r>
              <a:rPr dirty="0"/>
              <a:t>, </a:t>
            </a:r>
            <a:r>
              <a:rPr dirty="0" err="1"/>
              <a:t>Schema는</a:t>
            </a:r>
            <a:r>
              <a:rPr dirty="0"/>
              <a:t>, </a:t>
            </a:r>
            <a:r>
              <a:rPr dirty="0" err="1"/>
              <a:t>데이터베이스에</a:t>
            </a:r>
            <a:r>
              <a:rPr dirty="0"/>
              <a:t> </a:t>
            </a:r>
            <a:r>
              <a:rPr dirty="0" err="1"/>
              <a:t>저장되는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구조와</a:t>
            </a:r>
            <a:r>
              <a:rPr dirty="0"/>
              <a:t> </a:t>
            </a:r>
            <a:r>
              <a:rPr dirty="0" err="1"/>
              <a:t>제약조건을</a:t>
            </a:r>
            <a:r>
              <a:rPr dirty="0"/>
              <a:t> </a:t>
            </a:r>
            <a:r>
              <a:rPr dirty="0" err="1"/>
              <a:t>정의한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 </a:t>
            </a:r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말하면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담는</a:t>
            </a:r>
            <a:r>
              <a:rPr dirty="0"/>
              <a:t> </a:t>
            </a:r>
            <a:r>
              <a:rPr dirty="0" err="1"/>
              <a:t>그릇의</a:t>
            </a:r>
            <a:r>
              <a:rPr dirty="0"/>
              <a:t> </a:t>
            </a:r>
            <a:r>
              <a:rPr dirty="0" err="1"/>
              <a:t>설계도입니다</a:t>
            </a:r>
            <a:r>
              <a:rPr dirty="0"/>
              <a:t>.</a:t>
            </a:r>
          </a:p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왼쪽에</a:t>
            </a:r>
            <a:r>
              <a:rPr dirty="0"/>
              <a:t> </a:t>
            </a:r>
            <a:r>
              <a:rPr dirty="0" err="1"/>
              <a:t>스키마의</a:t>
            </a:r>
            <a:r>
              <a:rPr dirty="0"/>
              <a:t> </a:t>
            </a:r>
            <a:r>
              <a:rPr dirty="0" err="1"/>
              <a:t>예시가</a:t>
            </a:r>
            <a:r>
              <a:rPr dirty="0"/>
              <a:t> </a:t>
            </a:r>
            <a:r>
              <a:rPr dirty="0" err="1"/>
              <a:t>나와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테이블의</a:t>
            </a:r>
            <a:r>
              <a:rPr dirty="0"/>
              <a:t> </a:t>
            </a:r>
            <a:r>
              <a:rPr dirty="0" err="1"/>
              <a:t>스키마인데</a:t>
            </a:r>
            <a:r>
              <a:rPr dirty="0"/>
              <a:t>, </a:t>
            </a:r>
            <a:r>
              <a:rPr dirty="0" err="1"/>
              <a:t>고객번호는</a:t>
            </a:r>
            <a:r>
              <a:rPr dirty="0"/>
              <a:t> INT </a:t>
            </a:r>
            <a:r>
              <a:rPr dirty="0" err="1"/>
              <a:t>타입이고</a:t>
            </a:r>
            <a:r>
              <a:rPr dirty="0"/>
              <a:t> PRIMARY KEY, </a:t>
            </a:r>
            <a:r>
              <a:rPr dirty="0" err="1"/>
              <a:t>이름은</a:t>
            </a:r>
            <a:r>
              <a:rPr dirty="0"/>
              <a:t> CHAR(20)</a:t>
            </a:r>
            <a:r>
              <a:rPr dirty="0" err="1"/>
              <a:t>이고</a:t>
            </a:r>
            <a:r>
              <a:rPr dirty="0"/>
              <a:t> NOT NULL, </a:t>
            </a:r>
            <a:r>
              <a:rPr dirty="0" err="1"/>
              <a:t>연락처는</a:t>
            </a:r>
            <a:r>
              <a:rPr dirty="0"/>
              <a:t> CHAR(13)</a:t>
            </a:r>
            <a:r>
              <a:rPr dirty="0" err="1"/>
              <a:t>입니다</a:t>
            </a:r>
            <a:r>
              <a:rPr dirty="0"/>
              <a:t>. "이 </a:t>
            </a:r>
            <a:r>
              <a:rPr dirty="0" err="1"/>
              <a:t>테이블에는</a:t>
            </a:r>
            <a:r>
              <a:rPr dirty="0"/>
              <a:t> </a:t>
            </a:r>
            <a:r>
              <a:rPr dirty="0" err="1"/>
              <a:t>이런</a:t>
            </a:r>
            <a:r>
              <a:rPr dirty="0"/>
              <a:t> </a:t>
            </a:r>
            <a:r>
              <a:rPr dirty="0" err="1"/>
              <a:t>데이터가</a:t>
            </a:r>
            <a:r>
              <a:rPr dirty="0"/>
              <a:t> </a:t>
            </a:r>
            <a:r>
              <a:rPr dirty="0" err="1"/>
              <a:t>이런</a:t>
            </a:r>
            <a:r>
              <a:rPr dirty="0"/>
              <a:t> </a:t>
            </a:r>
            <a:r>
              <a:rPr dirty="0" err="1"/>
              <a:t>형태로</a:t>
            </a:r>
            <a:r>
              <a:rPr dirty="0"/>
              <a:t> </a:t>
            </a:r>
            <a:r>
              <a:rPr dirty="0" err="1"/>
              <a:t>저장된다"는</a:t>
            </a:r>
            <a:r>
              <a:rPr dirty="0"/>
              <a:t> </a:t>
            </a:r>
            <a:r>
              <a:rPr dirty="0" err="1"/>
              <a:t>약속이에요</a:t>
            </a:r>
            <a:r>
              <a:rPr dirty="0"/>
              <a:t>.</a:t>
            </a:r>
          </a:p>
          <a:p>
            <a:r>
              <a:rPr dirty="0" err="1"/>
              <a:t>인스턴스</a:t>
            </a:r>
            <a:r>
              <a:rPr dirty="0"/>
              <a:t>, </a:t>
            </a:r>
            <a:r>
              <a:rPr dirty="0" err="1"/>
              <a:t>Instance는</a:t>
            </a:r>
            <a:r>
              <a:rPr dirty="0"/>
              <a:t>, </a:t>
            </a:r>
            <a:r>
              <a:rPr dirty="0" err="1"/>
              <a:t>정의된</a:t>
            </a:r>
            <a:r>
              <a:rPr dirty="0"/>
              <a:t> </a:t>
            </a:r>
            <a:r>
              <a:rPr dirty="0" err="1"/>
              <a:t>스키마에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데이터베이스에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저장된</a:t>
            </a:r>
            <a:r>
              <a:rPr dirty="0"/>
              <a:t> </a:t>
            </a:r>
            <a:r>
              <a:rPr dirty="0" err="1"/>
              <a:t>값입니다</a:t>
            </a:r>
            <a:r>
              <a:rPr dirty="0"/>
              <a:t>. </a:t>
            </a:r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홍길동</a:t>
            </a:r>
            <a:r>
              <a:rPr dirty="0"/>
              <a:t>, </a:t>
            </a:r>
            <a:r>
              <a:rPr dirty="0" err="1"/>
              <a:t>김영희</a:t>
            </a:r>
            <a:r>
              <a:rPr dirty="0"/>
              <a:t>, </a:t>
            </a:r>
            <a:r>
              <a:rPr dirty="0" err="1"/>
              <a:t>이철수의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데이터가</a:t>
            </a:r>
            <a:r>
              <a:rPr dirty="0"/>
              <a:t> </a:t>
            </a:r>
            <a:r>
              <a:rPr dirty="0" err="1"/>
              <a:t>나와</a:t>
            </a:r>
            <a:r>
              <a:rPr dirty="0"/>
              <a:t> </a:t>
            </a:r>
            <a:r>
              <a:rPr dirty="0" err="1"/>
              <a:t>있죠</a:t>
            </a:r>
            <a:r>
              <a:rPr dirty="0"/>
              <a:t>.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인스턴스입니다</a:t>
            </a:r>
            <a:r>
              <a:rPr dirty="0"/>
              <a:t>.</a:t>
            </a:r>
          </a:p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하단에</a:t>
            </a:r>
            <a:r>
              <a:rPr dirty="0"/>
              <a:t> </a:t>
            </a:r>
            <a:r>
              <a:rPr dirty="0" err="1"/>
              <a:t>교재의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 3-2, "</a:t>
            </a:r>
            <a:r>
              <a:rPr dirty="0" err="1"/>
              <a:t>스키마의</a:t>
            </a:r>
            <a:r>
              <a:rPr dirty="0"/>
              <a:t> </a:t>
            </a:r>
            <a:r>
              <a:rPr dirty="0" err="1"/>
              <a:t>예"가</a:t>
            </a:r>
            <a:r>
              <a:rPr dirty="0"/>
              <a:t> </a:t>
            </a:r>
            <a:r>
              <a:rPr dirty="0" err="1"/>
              <a:t>나와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고객이라는</a:t>
            </a:r>
            <a:r>
              <a:rPr dirty="0"/>
              <a:t> </a:t>
            </a:r>
            <a:r>
              <a:rPr dirty="0" err="1"/>
              <a:t>엔티티에</a:t>
            </a:r>
            <a:r>
              <a:rPr dirty="0"/>
              <a:t> </a:t>
            </a:r>
            <a:r>
              <a:rPr dirty="0" err="1"/>
              <a:t>고객번호</a:t>
            </a:r>
            <a:r>
              <a:rPr dirty="0"/>
              <a:t> INT, </a:t>
            </a:r>
            <a:r>
              <a:rPr dirty="0" err="1"/>
              <a:t>이름</a:t>
            </a:r>
            <a:r>
              <a:rPr dirty="0"/>
              <a:t> CHAR(10), </a:t>
            </a:r>
            <a:r>
              <a:rPr dirty="0" err="1"/>
              <a:t>나이</a:t>
            </a:r>
            <a:r>
              <a:rPr dirty="0"/>
              <a:t> INT, </a:t>
            </a:r>
            <a:r>
              <a:rPr dirty="0" err="1"/>
              <a:t>주소</a:t>
            </a:r>
            <a:r>
              <a:rPr dirty="0"/>
              <a:t> CHAR(20)이 </a:t>
            </a:r>
            <a:r>
              <a:rPr dirty="0" err="1"/>
              <a:t>정의되어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볼 수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이처럼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타입과</a:t>
            </a:r>
            <a:r>
              <a:rPr dirty="0"/>
              <a:t> </a:t>
            </a:r>
            <a:r>
              <a:rPr dirty="0" err="1"/>
              <a:t>크기를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정해놓은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기억하세요</a:t>
            </a:r>
            <a:r>
              <a:rPr dirty="0"/>
              <a:t>.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자주</a:t>
            </a:r>
            <a:r>
              <a:rPr dirty="0"/>
              <a:t> </a:t>
            </a:r>
            <a:r>
              <a:rPr dirty="0" err="1"/>
              <a:t>변경되지</a:t>
            </a:r>
            <a:r>
              <a:rPr dirty="0"/>
              <a:t> </a:t>
            </a:r>
            <a:r>
              <a:rPr dirty="0" err="1"/>
              <a:t>않지만</a:t>
            </a:r>
            <a:r>
              <a:rPr dirty="0"/>
              <a:t>, </a:t>
            </a:r>
            <a:r>
              <a:rPr dirty="0" err="1"/>
              <a:t>인스턴스는</a:t>
            </a:r>
            <a:r>
              <a:rPr dirty="0"/>
              <a:t> </a:t>
            </a:r>
            <a:r>
              <a:rPr dirty="0" err="1"/>
              <a:t>삽입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, </a:t>
            </a:r>
            <a:r>
              <a:rPr dirty="0" err="1"/>
              <a:t>수정으로</a:t>
            </a:r>
            <a:r>
              <a:rPr dirty="0"/>
              <a:t> </a:t>
            </a:r>
            <a:r>
              <a:rPr dirty="0" err="1"/>
              <a:t>계속</a:t>
            </a:r>
            <a:r>
              <a:rPr dirty="0"/>
              <a:t> </a:t>
            </a:r>
            <a:r>
              <a:rPr dirty="0" err="1"/>
              <a:t>변화합니다</a:t>
            </a:r>
            <a:r>
              <a:rPr dirty="0"/>
              <a:t>. </a:t>
            </a:r>
            <a:r>
              <a:rPr dirty="0" err="1"/>
              <a:t>프로그래밍으로</a:t>
            </a:r>
            <a:r>
              <a:rPr dirty="0"/>
              <a:t> </a:t>
            </a:r>
            <a:r>
              <a:rPr dirty="0" err="1"/>
              <a:t>비유하면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클래스</a:t>
            </a:r>
            <a:r>
              <a:rPr dirty="0"/>
              <a:t> </a:t>
            </a:r>
            <a:r>
              <a:rPr dirty="0" err="1"/>
              <a:t>정의이고</a:t>
            </a:r>
            <a:r>
              <a:rPr dirty="0"/>
              <a:t>, </a:t>
            </a:r>
            <a:r>
              <a:rPr dirty="0" err="1"/>
              <a:t>인스턴스는</a:t>
            </a:r>
            <a:r>
              <a:rPr dirty="0"/>
              <a:t> </a:t>
            </a:r>
            <a:r>
              <a:rPr dirty="0" err="1"/>
              <a:t>객체입니다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이제</a:t>
            </a:r>
            <a:r>
              <a:rPr dirty="0"/>
              <a:t> 3장에서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, 3단계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배우겠습니다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왼쪽에</a:t>
            </a:r>
            <a:r>
              <a:rPr dirty="0"/>
              <a:t> </a:t>
            </a:r>
            <a:r>
              <a:rPr dirty="0" err="1"/>
              <a:t>교재의</a:t>
            </a:r>
            <a:r>
              <a:rPr dirty="0"/>
              <a:t> 3단계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다이어그램이</a:t>
            </a:r>
            <a:r>
              <a:rPr dirty="0"/>
              <a:t> </a:t>
            </a:r>
            <a:r>
              <a:rPr dirty="0" err="1"/>
              <a:t>나와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위에서부터</a:t>
            </a:r>
            <a:r>
              <a:rPr dirty="0"/>
              <a:t> </a:t>
            </a:r>
            <a:r>
              <a:rPr dirty="0" err="1"/>
              <a:t>보겠습니다</a:t>
            </a:r>
            <a:r>
              <a:rPr dirty="0"/>
              <a:t>.</a:t>
            </a:r>
          </a:p>
          <a:p>
            <a:r>
              <a:rPr dirty="0"/>
              <a:t>맨 </a:t>
            </a:r>
            <a:r>
              <a:rPr dirty="0" err="1"/>
              <a:t>위에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단계가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사용자 </a:t>
            </a:r>
            <a:r>
              <a:rPr dirty="0" err="1"/>
              <a:t>관점입니다</a:t>
            </a:r>
            <a:r>
              <a:rPr dirty="0"/>
              <a:t>.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</a:t>
            </a:r>
            <a:r>
              <a:rPr dirty="0"/>
              <a:t> 1,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</a:t>
            </a:r>
            <a:r>
              <a:rPr dirty="0"/>
              <a:t> 2부터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N까지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개가</a:t>
            </a:r>
            <a:r>
              <a:rPr dirty="0"/>
              <a:t> </a:t>
            </a:r>
            <a:r>
              <a:rPr dirty="0" err="1"/>
              <a:t>존재할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 각 </a:t>
            </a:r>
            <a:r>
              <a:rPr dirty="0" err="1"/>
              <a:t>사용자마다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데이터가</a:t>
            </a:r>
            <a:r>
              <a:rPr dirty="0"/>
              <a:t> </a:t>
            </a:r>
            <a:r>
              <a:rPr dirty="0" err="1"/>
              <a:t>다르니까요</a:t>
            </a:r>
            <a:r>
              <a:rPr dirty="0"/>
              <a:t>.</a:t>
            </a:r>
          </a:p>
          <a:p>
            <a:r>
              <a:rPr dirty="0"/>
              <a:t>그 </a:t>
            </a:r>
            <a:r>
              <a:rPr dirty="0" err="1"/>
              <a:t>아래에</a:t>
            </a:r>
            <a:r>
              <a:rPr dirty="0"/>
              <a:t> </a:t>
            </a:r>
            <a:r>
              <a:rPr dirty="0" err="1"/>
              <a:t>빨간</a:t>
            </a:r>
            <a:r>
              <a:rPr dirty="0"/>
              <a:t> </a:t>
            </a:r>
            <a:r>
              <a:rPr dirty="0" err="1"/>
              <a:t>박스로</a:t>
            </a:r>
            <a:r>
              <a:rPr dirty="0"/>
              <a:t> "</a:t>
            </a:r>
            <a:r>
              <a:rPr dirty="0" err="1"/>
              <a:t>외부</a:t>
            </a:r>
            <a:r>
              <a:rPr dirty="0"/>
              <a:t>/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사상</a:t>
            </a:r>
            <a:r>
              <a:rPr dirty="0"/>
              <a:t>, </a:t>
            </a:r>
            <a:r>
              <a:rPr dirty="0" err="1"/>
              <a:t>논리적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독립성"이라고</a:t>
            </a:r>
            <a:r>
              <a:rPr dirty="0"/>
              <a:t> </a:t>
            </a:r>
            <a:r>
              <a:rPr dirty="0" err="1"/>
              <a:t>표시되어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이 </a:t>
            </a:r>
            <a:r>
              <a:rPr dirty="0" err="1"/>
              <a:t>사상이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스키마와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스키마를</a:t>
            </a:r>
            <a:r>
              <a:rPr dirty="0"/>
              <a:t> </a:t>
            </a:r>
            <a:r>
              <a:rPr dirty="0" err="1"/>
              <a:t>연결해주는</a:t>
            </a:r>
            <a:r>
              <a:rPr dirty="0"/>
              <a:t> </a:t>
            </a:r>
            <a:r>
              <a:rPr dirty="0" err="1"/>
              <a:t>매핑입니다</a:t>
            </a:r>
            <a:r>
              <a:rPr dirty="0"/>
              <a:t>. </a:t>
            </a:r>
            <a:r>
              <a:rPr dirty="0" err="1"/>
              <a:t>나중에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독립성을</a:t>
            </a:r>
            <a:r>
              <a:rPr dirty="0"/>
              <a:t> </a:t>
            </a:r>
            <a:r>
              <a:rPr dirty="0" err="1"/>
              <a:t>배울</a:t>
            </a:r>
            <a:r>
              <a:rPr dirty="0"/>
              <a:t> 때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나옵니다</a:t>
            </a:r>
            <a:r>
              <a:rPr dirty="0"/>
              <a:t>.</a:t>
            </a:r>
          </a:p>
          <a:p>
            <a:r>
              <a:rPr dirty="0" err="1"/>
              <a:t>가운데에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단계가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</a:t>
            </a: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관점입니다</a:t>
            </a:r>
            <a:r>
              <a:rPr dirty="0"/>
              <a:t>.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딱 </a:t>
            </a:r>
            <a:r>
              <a:rPr dirty="0" err="1"/>
              <a:t>하나만</a:t>
            </a:r>
            <a:r>
              <a:rPr dirty="0"/>
              <a:t> </a:t>
            </a:r>
            <a:r>
              <a:rPr dirty="0" err="1"/>
              <a:t>존재합니다</a:t>
            </a:r>
            <a:r>
              <a:rPr dirty="0"/>
              <a:t>.</a:t>
            </a:r>
          </a:p>
          <a:p>
            <a:r>
              <a:rPr dirty="0"/>
              <a:t>그 </a:t>
            </a:r>
            <a:r>
              <a:rPr dirty="0" err="1"/>
              <a:t>아래에</a:t>
            </a:r>
            <a:r>
              <a:rPr dirty="0"/>
              <a:t> 또 </a:t>
            </a:r>
            <a:r>
              <a:rPr dirty="0" err="1"/>
              <a:t>빨간</a:t>
            </a:r>
            <a:r>
              <a:rPr dirty="0"/>
              <a:t> </a:t>
            </a:r>
            <a:r>
              <a:rPr dirty="0" err="1"/>
              <a:t>박스로</a:t>
            </a:r>
            <a:r>
              <a:rPr dirty="0"/>
              <a:t> "</a:t>
            </a:r>
            <a:r>
              <a:rPr dirty="0" err="1"/>
              <a:t>개념</a:t>
            </a:r>
            <a:r>
              <a:rPr dirty="0"/>
              <a:t>/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사상</a:t>
            </a:r>
            <a:r>
              <a:rPr dirty="0"/>
              <a:t>, </a:t>
            </a:r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독립성"이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/>
              <a:t>맨 </a:t>
            </a:r>
            <a:r>
              <a:rPr dirty="0" err="1"/>
              <a:t>아래에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단계가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장치</a:t>
            </a:r>
            <a:r>
              <a:rPr dirty="0"/>
              <a:t> </a:t>
            </a:r>
            <a:r>
              <a:rPr dirty="0" err="1"/>
              <a:t>관점입니다</a:t>
            </a:r>
            <a:r>
              <a:rPr dirty="0"/>
              <a:t>.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스키마도</a:t>
            </a:r>
            <a:r>
              <a:rPr dirty="0"/>
              <a:t> </a:t>
            </a:r>
            <a:r>
              <a:rPr dirty="0" err="1"/>
              <a:t>하나만</a:t>
            </a:r>
            <a:r>
              <a:rPr dirty="0"/>
              <a:t> </a:t>
            </a:r>
            <a:r>
              <a:rPr dirty="0" err="1"/>
              <a:t>존재합니다</a:t>
            </a:r>
            <a:r>
              <a:rPr dirty="0"/>
              <a:t>. </a:t>
            </a:r>
            <a:r>
              <a:rPr dirty="0" err="1"/>
              <a:t>그리고</a:t>
            </a:r>
            <a:r>
              <a:rPr dirty="0"/>
              <a:t> 그 </a:t>
            </a:r>
            <a:r>
              <a:rPr dirty="0" err="1"/>
              <a:t>아래에</a:t>
            </a:r>
            <a:r>
              <a:rPr dirty="0"/>
              <a:t> "</a:t>
            </a:r>
            <a:r>
              <a:rPr dirty="0" err="1"/>
              <a:t>물리적으로</a:t>
            </a:r>
            <a:r>
              <a:rPr dirty="0"/>
              <a:t> </a:t>
            </a:r>
            <a:r>
              <a:rPr dirty="0" err="1"/>
              <a:t>저장된</a:t>
            </a:r>
            <a:r>
              <a:rPr dirty="0"/>
              <a:t> </a:t>
            </a:r>
            <a:r>
              <a:rPr dirty="0" err="1"/>
              <a:t>데이터베이스"가</a:t>
            </a:r>
            <a:r>
              <a:rPr dirty="0"/>
              <a:t> </a:t>
            </a:r>
            <a:r>
              <a:rPr dirty="0" err="1"/>
              <a:t>디스크</a:t>
            </a:r>
            <a:r>
              <a:rPr dirty="0"/>
              <a:t> </a:t>
            </a:r>
            <a:r>
              <a:rPr dirty="0" err="1"/>
              <a:t>아이콘으로</a:t>
            </a:r>
            <a:r>
              <a:rPr dirty="0"/>
              <a:t> </a:t>
            </a:r>
            <a:r>
              <a:rPr dirty="0" err="1"/>
              <a:t>표현되어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오른쪽에</a:t>
            </a:r>
            <a:r>
              <a:rPr dirty="0"/>
              <a:t> </a:t>
            </a:r>
            <a:r>
              <a:rPr dirty="0" err="1"/>
              <a:t>추상화</a:t>
            </a:r>
            <a:r>
              <a:rPr dirty="0"/>
              <a:t> </a:t>
            </a:r>
            <a:r>
              <a:rPr dirty="0" err="1"/>
              <a:t>수준이</a:t>
            </a:r>
            <a:r>
              <a:rPr dirty="0"/>
              <a:t> </a:t>
            </a:r>
            <a:r>
              <a:rPr dirty="0" err="1"/>
              <a:t>나와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위로</a:t>
            </a:r>
            <a:r>
              <a:rPr dirty="0"/>
              <a:t> </a:t>
            </a:r>
            <a:r>
              <a:rPr dirty="0" err="1"/>
              <a:t>갈수록</a:t>
            </a:r>
            <a:r>
              <a:rPr dirty="0"/>
              <a:t> </a:t>
            </a:r>
            <a:r>
              <a:rPr dirty="0" err="1"/>
              <a:t>추상화가</a:t>
            </a:r>
            <a:r>
              <a:rPr dirty="0"/>
              <a:t> </a:t>
            </a:r>
            <a:r>
              <a:rPr dirty="0" err="1"/>
              <a:t>높고</a:t>
            </a:r>
            <a:r>
              <a:rPr dirty="0"/>
              <a:t> 사용자 </a:t>
            </a:r>
            <a:r>
              <a:rPr dirty="0" err="1"/>
              <a:t>친화적</a:t>
            </a:r>
            <a:r>
              <a:rPr dirty="0"/>
              <a:t>, </a:t>
            </a:r>
            <a:r>
              <a:rPr dirty="0" err="1"/>
              <a:t>아래로</a:t>
            </a:r>
            <a:r>
              <a:rPr dirty="0"/>
              <a:t> </a:t>
            </a:r>
            <a:r>
              <a:rPr dirty="0" err="1"/>
              <a:t>갈수록</a:t>
            </a:r>
            <a:r>
              <a:rPr dirty="0"/>
              <a:t> </a:t>
            </a:r>
            <a:r>
              <a:rPr dirty="0" err="1"/>
              <a:t>기계</a:t>
            </a:r>
            <a:r>
              <a:rPr dirty="0"/>
              <a:t> </a:t>
            </a:r>
            <a:r>
              <a:rPr dirty="0" err="1"/>
              <a:t>친화적입니다</a:t>
            </a:r>
            <a:r>
              <a:rPr dirty="0"/>
              <a:t>.</a:t>
            </a:r>
          </a:p>
          <a:p>
            <a:r>
              <a:rPr dirty="0" err="1"/>
              <a:t>반드시</a:t>
            </a:r>
            <a:r>
              <a:rPr dirty="0"/>
              <a:t> </a:t>
            </a:r>
            <a:r>
              <a:rPr dirty="0" err="1"/>
              <a:t>기억할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!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개,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1개,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1개. </a:t>
            </a:r>
            <a:r>
              <a:rPr dirty="0" err="1"/>
              <a:t>이건</a:t>
            </a:r>
            <a:r>
              <a:rPr dirty="0"/>
              <a:t> </a:t>
            </a:r>
            <a:r>
              <a:rPr dirty="0" err="1"/>
              <a:t>시험</a:t>
            </a:r>
            <a:r>
              <a:rPr dirty="0"/>
              <a:t> </a:t>
            </a:r>
            <a:r>
              <a:rPr dirty="0" err="1"/>
              <a:t>단골입니다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세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각각을</a:t>
            </a:r>
            <a:r>
              <a:rPr dirty="0"/>
              <a:t> </a:t>
            </a:r>
            <a:r>
              <a:rPr dirty="0" err="1"/>
              <a:t>상세하게</a:t>
            </a:r>
            <a:r>
              <a:rPr dirty="0"/>
              <a:t> </a:t>
            </a:r>
            <a:r>
              <a:rPr dirty="0" err="1"/>
              <a:t>보겠습니다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단계는</a:t>
            </a:r>
            <a:r>
              <a:rPr dirty="0"/>
              <a:t> </a:t>
            </a:r>
            <a:r>
              <a:rPr dirty="0" err="1"/>
              <a:t>개별</a:t>
            </a:r>
            <a:r>
              <a:rPr dirty="0"/>
              <a:t> 사용자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프로그램의</a:t>
            </a:r>
            <a:r>
              <a:rPr dirty="0"/>
              <a:t> </a:t>
            </a:r>
            <a:r>
              <a:rPr dirty="0" err="1"/>
              <a:t>관점입니다</a:t>
            </a:r>
            <a:r>
              <a:rPr dirty="0"/>
              <a:t>.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사용자에게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데이터만</a:t>
            </a:r>
            <a:r>
              <a:rPr dirty="0"/>
              <a:t> </a:t>
            </a:r>
            <a:r>
              <a:rPr dirty="0" err="1"/>
              <a:t>정의합니다</a:t>
            </a:r>
            <a:r>
              <a:rPr dirty="0"/>
              <a:t>. 각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생각하는</a:t>
            </a:r>
            <a:r>
              <a:rPr dirty="0"/>
              <a:t> </a:t>
            </a:r>
            <a:r>
              <a:rPr dirty="0" err="1"/>
              <a:t>DB의</a:t>
            </a:r>
            <a:r>
              <a:rPr dirty="0"/>
              <a:t> </a:t>
            </a:r>
            <a:r>
              <a:rPr dirty="0" err="1"/>
              <a:t>모습이</a:t>
            </a:r>
            <a:r>
              <a:rPr dirty="0"/>
              <a:t> </a:t>
            </a:r>
            <a:r>
              <a:rPr dirty="0" err="1"/>
              <a:t>다르므로</a:t>
            </a:r>
            <a:r>
              <a:rPr dirty="0"/>
              <a:t>,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스키마가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개 </a:t>
            </a:r>
            <a:r>
              <a:rPr dirty="0" err="1"/>
              <a:t>존재할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단계는</a:t>
            </a:r>
            <a:r>
              <a:rPr dirty="0"/>
              <a:t> </a:t>
            </a: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, 즉 </a:t>
            </a:r>
            <a:r>
              <a:rPr dirty="0" err="1"/>
              <a:t>관리자의</a:t>
            </a:r>
            <a:r>
              <a:rPr dirty="0"/>
              <a:t> </a:t>
            </a:r>
            <a:r>
              <a:rPr dirty="0" err="1"/>
              <a:t>관점입니다</a:t>
            </a:r>
            <a:r>
              <a:rPr dirty="0"/>
              <a:t>.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정의합니다</a:t>
            </a:r>
            <a:r>
              <a:rPr dirty="0"/>
              <a:t>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종류</a:t>
            </a:r>
            <a:r>
              <a:rPr dirty="0"/>
              <a:t>, </a:t>
            </a:r>
            <a:r>
              <a:rPr dirty="0" err="1"/>
              <a:t>데이터</a:t>
            </a:r>
            <a:r>
              <a:rPr dirty="0"/>
              <a:t> 간 </a:t>
            </a:r>
            <a:r>
              <a:rPr dirty="0" err="1"/>
              <a:t>관계</a:t>
            </a:r>
            <a:r>
              <a:rPr dirty="0"/>
              <a:t>, </a:t>
            </a:r>
            <a:r>
              <a:rPr dirty="0" err="1"/>
              <a:t>제약조건</a:t>
            </a:r>
            <a:r>
              <a:rPr dirty="0"/>
              <a:t>, </a:t>
            </a:r>
            <a:r>
              <a:rPr dirty="0" err="1"/>
              <a:t>보안·접근</a:t>
            </a:r>
            <a:r>
              <a:rPr dirty="0"/>
              <a:t> </a:t>
            </a:r>
            <a:r>
              <a:rPr dirty="0" err="1"/>
              <a:t>권한까지</a:t>
            </a:r>
            <a:r>
              <a:rPr dirty="0"/>
              <a:t> </a:t>
            </a:r>
            <a:r>
              <a:rPr dirty="0" err="1"/>
              <a:t>포함합니다</a:t>
            </a:r>
            <a:r>
              <a:rPr dirty="0"/>
              <a:t>. </a:t>
            </a:r>
            <a:r>
              <a:rPr dirty="0" err="1"/>
              <a:t>DB당</a:t>
            </a:r>
            <a:r>
              <a:rPr dirty="0"/>
              <a:t> 1개만 </a:t>
            </a:r>
            <a:r>
              <a:rPr dirty="0" err="1"/>
              <a:t>존재합니다</a:t>
            </a:r>
            <a:r>
              <a:rPr dirty="0"/>
              <a:t>.</a:t>
            </a:r>
          </a:p>
          <a:p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단계는</a:t>
            </a:r>
            <a:r>
              <a:rPr dirty="0"/>
              <a:t> </a:t>
            </a:r>
            <a:r>
              <a:rPr dirty="0" err="1"/>
              <a:t>물리적인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장치의</a:t>
            </a:r>
            <a:r>
              <a:rPr dirty="0"/>
              <a:t> </a:t>
            </a:r>
            <a:r>
              <a:rPr dirty="0" err="1"/>
              <a:t>관점입니다</a:t>
            </a:r>
            <a:r>
              <a:rPr dirty="0"/>
              <a:t>.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레코드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, </a:t>
            </a:r>
            <a:r>
              <a:rPr dirty="0" err="1"/>
              <a:t>필드</a:t>
            </a:r>
            <a:r>
              <a:rPr dirty="0"/>
              <a:t> </a:t>
            </a:r>
            <a:r>
              <a:rPr dirty="0" err="1"/>
              <a:t>크기</a:t>
            </a:r>
            <a:r>
              <a:rPr dirty="0"/>
              <a:t>, </a:t>
            </a:r>
            <a:r>
              <a:rPr dirty="0" err="1"/>
              <a:t>레코드</a:t>
            </a:r>
            <a:r>
              <a:rPr dirty="0"/>
              <a:t> </a:t>
            </a:r>
            <a:r>
              <a:rPr dirty="0" err="1"/>
              <a:t>접근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 등 </a:t>
            </a:r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방법을</a:t>
            </a:r>
            <a:r>
              <a:rPr dirty="0"/>
              <a:t> </a:t>
            </a:r>
            <a:r>
              <a:rPr dirty="0" err="1"/>
              <a:t>정의합니다</a:t>
            </a:r>
            <a:r>
              <a:rPr dirty="0"/>
              <a:t>. </a:t>
            </a:r>
            <a:r>
              <a:rPr dirty="0" err="1"/>
              <a:t>DB당</a:t>
            </a:r>
            <a:r>
              <a:rPr dirty="0"/>
              <a:t> 1개만 </a:t>
            </a:r>
            <a:r>
              <a:rPr dirty="0" err="1"/>
              <a:t>존재합니다</a:t>
            </a:r>
            <a:r>
              <a:rPr dirty="0"/>
              <a:t>.</a:t>
            </a:r>
          </a:p>
          <a:p>
            <a:r>
              <a:rPr dirty="0"/>
              <a:t>세 </a:t>
            </a:r>
            <a:r>
              <a:rPr dirty="0" err="1"/>
              <a:t>단계를</a:t>
            </a:r>
            <a:r>
              <a:rPr dirty="0"/>
              <a:t> </a:t>
            </a:r>
            <a:r>
              <a:rPr dirty="0" err="1"/>
              <a:t>기억하세요</a:t>
            </a:r>
            <a:r>
              <a:rPr dirty="0"/>
              <a:t>.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단계는</a:t>
            </a:r>
            <a:r>
              <a:rPr dirty="0"/>
              <a:t> "각 </a:t>
            </a:r>
            <a:r>
              <a:rPr dirty="0" err="1"/>
              <a:t>사용자에게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부분만</a:t>
            </a:r>
            <a:r>
              <a:rPr dirty="0"/>
              <a:t>",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단계는</a:t>
            </a:r>
            <a:r>
              <a:rPr dirty="0"/>
              <a:t> "</a:t>
            </a:r>
            <a:r>
              <a:rPr dirty="0" err="1"/>
              <a:t>조직</a:t>
            </a:r>
            <a:r>
              <a:rPr dirty="0"/>
              <a:t> </a:t>
            </a:r>
            <a:r>
              <a:rPr dirty="0" err="1"/>
              <a:t>전체의</a:t>
            </a:r>
            <a:r>
              <a:rPr dirty="0"/>
              <a:t> </a:t>
            </a:r>
            <a:r>
              <a:rPr dirty="0" err="1"/>
              <a:t>논리적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",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단계는</a:t>
            </a:r>
            <a:r>
              <a:rPr dirty="0"/>
              <a:t> "</a:t>
            </a:r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슬라이드에</a:t>
            </a:r>
            <a:r>
              <a:rPr dirty="0"/>
              <a:t> </a:t>
            </a:r>
            <a:r>
              <a:rPr dirty="0" err="1"/>
              <a:t>교재의</a:t>
            </a:r>
            <a:r>
              <a:rPr dirty="0"/>
              <a:t> 3단계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예시</a:t>
            </a:r>
            <a:r>
              <a:rPr dirty="0"/>
              <a:t> </a:t>
            </a:r>
            <a:r>
              <a:rPr dirty="0" err="1"/>
              <a:t>그림이</a:t>
            </a:r>
            <a:r>
              <a:rPr dirty="0"/>
              <a:t> </a:t>
            </a:r>
            <a:r>
              <a:rPr dirty="0" err="1"/>
              <a:t>나와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이 </a:t>
            </a:r>
            <a:r>
              <a:rPr dirty="0" err="1"/>
              <a:t>그림을</a:t>
            </a:r>
            <a:r>
              <a:rPr dirty="0"/>
              <a:t> </a:t>
            </a:r>
            <a:r>
              <a:rPr dirty="0" err="1"/>
              <a:t>위에서</a:t>
            </a:r>
            <a:r>
              <a:rPr dirty="0"/>
              <a:t> </a:t>
            </a:r>
            <a:r>
              <a:rPr dirty="0" err="1"/>
              <a:t>아래로</a:t>
            </a:r>
            <a:r>
              <a:rPr dirty="0"/>
              <a:t> </a:t>
            </a:r>
            <a:r>
              <a:rPr dirty="0" err="1"/>
              <a:t>같이</a:t>
            </a:r>
            <a:r>
              <a:rPr dirty="0"/>
              <a:t> </a:t>
            </a:r>
            <a:r>
              <a:rPr dirty="0" err="1"/>
              <a:t>읽어보겠습니다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맨 </a:t>
            </a:r>
            <a:r>
              <a:rPr dirty="0" err="1"/>
              <a:t>위의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단계를</a:t>
            </a:r>
            <a:r>
              <a:rPr dirty="0"/>
              <a:t> </a:t>
            </a:r>
            <a:r>
              <a:rPr dirty="0" err="1"/>
              <a:t>보세요</a:t>
            </a:r>
            <a:r>
              <a:rPr dirty="0"/>
              <a:t>. 두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왼쪽의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분석팀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스키마에는</a:t>
            </a:r>
            <a:r>
              <a:rPr dirty="0"/>
              <a:t> </a:t>
            </a:r>
            <a:r>
              <a:rPr dirty="0" err="1"/>
              <a:t>성별</a:t>
            </a:r>
            <a:r>
              <a:rPr dirty="0"/>
              <a:t> CHAR(2), </a:t>
            </a:r>
            <a:r>
              <a:rPr dirty="0" err="1"/>
              <a:t>나이</a:t>
            </a:r>
            <a:r>
              <a:rPr dirty="0"/>
              <a:t> INT, </a:t>
            </a:r>
            <a:r>
              <a:rPr dirty="0" err="1"/>
              <a:t>직업</a:t>
            </a:r>
            <a:r>
              <a:rPr dirty="0"/>
              <a:t> CHAR(10)만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분석에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속성만</a:t>
            </a:r>
            <a:r>
              <a:rPr dirty="0"/>
              <a:t> </a:t>
            </a:r>
            <a:r>
              <a:rPr dirty="0" err="1"/>
              <a:t>포함한</a:t>
            </a:r>
            <a:r>
              <a:rPr dirty="0"/>
              <a:t> </a:t>
            </a:r>
            <a:r>
              <a:rPr dirty="0" err="1"/>
              <a:t>거죠</a:t>
            </a:r>
            <a:r>
              <a:rPr dirty="0"/>
              <a:t>. </a:t>
            </a:r>
            <a:r>
              <a:rPr dirty="0" err="1"/>
              <a:t>오른쪽의</a:t>
            </a:r>
            <a:r>
              <a:rPr dirty="0"/>
              <a:t>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배송팀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스키마에는</a:t>
            </a:r>
            <a:r>
              <a:rPr dirty="0"/>
              <a:t> </a:t>
            </a:r>
            <a:r>
              <a:rPr dirty="0" err="1"/>
              <a:t>고객번호</a:t>
            </a:r>
            <a:r>
              <a:rPr dirty="0"/>
              <a:t> INT, </a:t>
            </a:r>
            <a:r>
              <a:rPr dirty="0" err="1"/>
              <a:t>고객이름</a:t>
            </a:r>
            <a:r>
              <a:rPr dirty="0"/>
              <a:t> CHAR(10), </a:t>
            </a:r>
            <a:r>
              <a:rPr dirty="0" err="1"/>
              <a:t>주소</a:t>
            </a:r>
            <a:r>
              <a:rPr dirty="0"/>
              <a:t> CHAR(20), </a:t>
            </a:r>
            <a:r>
              <a:rPr dirty="0" err="1"/>
              <a:t>연락처</a:t>
            </a:r>
            <a:r>
              <a:rPr dirty="0"/>
              <a:t> CHAR(20)이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배송에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속성이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거예요</a:t>
            </a:r>
            <a:r>
              <a:rPr dirty="0"/>
              <a:t>.</a:t>
            </a:r>
          </a:p>
          <a:p>
            <a:r>
              <a:rPr dirty="0" err="1"/>
              <a:t>가운데의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단계를</a:t>
            </a:r>
            <a:r>
              <a:rPr dirty="0"/>
              <a:t> </a:t>
            </a:r>
            <a:r>
              <a:rPr dirty="0" err="1"/>
              <a:t>보세요</a:t>
            </a:r>
            <a:r>
              <a:rPr dirty="0"/>
              <a:t>.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스키마에는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 INT, </a:t>
            </a:r>
            <a:r>
              <a:rPr dirty="0" err="1"/>
              <a:t>이름</a:t>
            </a:r>
            <a:r>
              <a:rPr dirty="0"/>
              <a:t> CHAR(10), </a:t>
            </a:r>
            <a:r>
              <a:rPr dirty="0" err="1"/>
              <a:t>성별</a:t>
            </a:r>
            <a:r>
              <a:rPr dirty="0"/>
              <a:t> CHAR(2), </a:t>
            </a:r>
            <a:r>
              <a:rPr dirty="0" err="1"/>
              <a:t>나이</a:t>
            </a:r>
            <a:r>
              <a:rPr dirty="0"/>
              <a:t> INT, </a:t>
            </a:r>
            <a:r>
              <a:rPr dirty="0" err="1"/>
              <a:t>직업</a:t>
            </a:r>
            <a:r>
              <a:rPr dirty="0"/>
              <a:t> CHAR(10), </a:t>
            </a:r>
            <a:r>
              <a:rPr dirty="0" err="1"/>
              <a:t>주소</a:t>
            </a:r>
            <a:r>
              <a:rPr dirty="0"/>
              <a:t> CHAR(20), </a:t>
            </a:r>
            <a:r>
              <a:rPr dirty="0" err="1"/>
              <a:t>연락처</a:t>
            </a:r>
            <a:r>
              <a:rPr dirty="0"/>
              <a:t> CHAR(20), </a:t>
            </a:r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일곱</a:t>
            </a:r>
            <a:r>
              <a:rPr dirty="0"/>
              <a:t> </a:t>
            </a:r>
            <a:r>
              <a:rPr dirty="0" err="1"/>
              <a:t>개의</a:t>
            </a:r>
            <a:r>
              <a:rPr dirty="0"/>
              <a:t> </a:t>
            </a:r>
            <a:r>
              <a:rPr dirty="0" err="1"/>
              <a:t>속성이</a:t>
            </a:r>
            <a:r>
              <a:rPr dirty="0"/>
              <a:t>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포함되어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통합한</a:t>
            </a:r>
            <a:r>
              <a:rPr dirty="0"/>
              <a:t> </a:t>
            </a:r>
            <a:r>
              <a:rPr dirty="0" err="1"/>
              <a:t>것이죠</a:t>
            </a:r>
            <a:r>
              <a:rPr dirty="0"/>
              <a:t>. </a:t>
            </a:r>
            <a:r>
              <a:rPr dirty="0" err="1"/>
              <a:t>그림에서</a:t>
            </a:r>
            <a:r>
              <a:rPr dirty="0"/>
              <a:t> </a:t>
            </a:r>
            <a:r>
              <a:rPr dirty="0" err="1"/>
              <a:t>파란</a:t>
            </a:r>
            <a:r>
              <a:rPr dirty="0"/>
              <a:t> </a:t>
            </a:r>
            <a:r>
              <a:rPr dirty="0" err="1"/>
              <a:t>선이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스키마의</a:t>
            </a:r>
            <a:r>
              <a:rPr dirty="0"/>
              <a:t> 각 </a:t>
            </a:r>
            <a:r>
              <a:rPr dirty="0" err="1"/>
              <a:t>속성이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스키마의</a:t>
            </a:r>
            <a:r>
              <a:rPr dirty="0"/>
              <a:t> </a:t>
            </a:r>
            <a:r>
              <a:rPr dirty="0" err="1"/>
              <a:t>어디에</a:t>
            </a:r>
            <a:r>
              <a:rPr dirty="0"/>
              <a:t> </a:t>
            </a:r>
            <a:r>
              <a:rPr dirty="0" err="1"/>
              <a:t>대응되는지를</a:t>
            </a:r>
            <a:r>
              <a:rPr dirty="0"/>
              <a:t> </a:t>
            </a:r>
            <a:r>
              <a:rPr dirty="0" err="1"/>
              <a:t>보여주고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사상</a:t>
            </a:r>
            <a:r>
              <a:rPr dirty="0"/>
              <a:t>, </a:t>
            </a:r>
            <a:r>
              <a:rPr dirty="0" err="1"/>
              <a:t>매핑입니다</a:t>
            </a:r>
            <a:r>
              <a:rPr dirty="0"/>
              <a:t>.</a:t>
            </a:r>
          </a:p>
          <a:p>
            <a:r>
              <a:rPr dirty="0"/>
              <a:t>맨 </a:t>
            </a:r>
            <a:r>
              <a:rPr dirty="0" err="1"/>
              <a:t>아래의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단계를</a:t>
            </a:r>
            <a:r>
              <a:rPr dirty="0"/>
              <a:t> </a:t>
            </a:r>
            <a:r>
              <a:rPr dirty="0" err="1"/>
              <a:t>보세요</a:t>
            </a:r>
            <a:r>
              <a:rPr dirty="0"/>
              <a:t>.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스키마가</a:t>
            </a:r>
            <a:r>
              <a:rPr dirty="0"/>
              <a:t> </a:t>
            </a:r>
            <a:r>
              <a:rPr dirty="0" err="1"/>
              <a:t>표로</a:t>
            </a:r>
            <a:r>
              <a:rPr dirty="0"/>
              <a:t> </a:t>
            </a:r>
            <a:r>
              <a:rPr dirty="0" err="1"/>
              <a:t>나와</a:t>
            </a:r>
            <a:r>
              <a:rPr dirty="0"/>
              <a:t> </a:t>
            </a:r>
            <a:r>
              <a:rPr dirty="0" err="1"/>
              <a:t>있는데</a:t>
            </a:r>
            <a:r>
              <a:rPr dirty="0"/>
              <a:t>, 각 </a:t>
            </a:r>
            <a:r>
              <a:rPr dirty="0" err="1"/>
              <a:t>필드의</a:t>
            </a:r>
            <a:r>
              <a:rPr dirty="0"/>
              <a:t> </a:t>
            </a:r>
            <a:r>
              <a:rPr dirty="0" err="1"/>
              <a:t>이름</a:t>
            </a:r>
            <a:r>
              <a:rPr dirty="0"/>
              <a:t>, </a:t>
            </a:r>
            <a:r>
              <a:rPr dirty="0" err="1"/>
              <a:t>크기</a:t>
            </a:r>
            <a:r>
              <a:rPr dirty="0"/>
              <a:t>, OFFSET, </a:t>
            </a:r>
            <a:r>
              <a:rPr dirty="0" err="1"/>
              <a:t>인덱스</a:t>
            </a:r>
            <a:r>
              <a:rPr dirty="0"/>
              <a:t> </a:t>
            </a:r>
            <a:r>
              <a:rPr dirty="0" err="1"/>
              <a:t>유무가</a:t>
            </a:r>
            <a:r>
              <a:rPr dirty="0"/>
              <a:t> </a:t>
            </a:r>
            <a:r>
              <a:rPr dirty="0" err="1"/>
              <a:t>정의되어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번호는</a:t>
            </a:r>
            <a:r>
              <a:rPr dirty="0"/>
              <a:t> 4바이트이고 </a:t>
            </a:r>
            <a:r>
              <a:rPr dirty="0" err="1"/>
              <a:t>OFFSET이</a:t>
            </a:r>
            <a:r>
              <a:rPr dirty="0"/>
              <a:t> 0이며 </a:t>
            </a:r>
            <a:r>
              <a:rPr dirty="0" err="1"/>
              <a:t>인덱스가</a:t>
            </a:r>
            <a:r>
              <a:rPr dirty="0"/>
              <a:t> </a:t>
            </a:r>
            <a:r>
              <a:rPr dirty="0" err="1"/>
              <a:t>존재합니다</a:t>
            </a:r>
            <a:r>
              <a:rPr dirty="0"/>
              <a:t>. </a:t>
            </a:r>
            <a:r>
              <a:rPr dirty="0" err="1"/>
              <a:t>이름은</a:t>
            </a:r>
            <a:r>
              <a:rPr dirty="0"/>
              <a:t> 10바이트, OFFSET 4. </a:t>
            </a:r>
            <a:r>
              <a:rPr dirty="0" err="1"/>
              <a:t>성별은</a:t>
            </a:r>
            <a:r>
              <a:rPr dirty="0"/>
              <a:t> 2바이트, OFFSET 14. </a:t>
            </a:r>
            <a:r>
              <a:rPr dirty="0" err="1"/>
              <a:t>나이는</a:t>
            </a:r>
            <a:r>
              <a:rPr dirty="0"/>
              <a:t> 4바이트, OFFSET 16. </a:t>
            </a:r>
            <a:r>
              <a:rPr dirty="0" err="1"/>
              <a:t>직업은</a:t>
            </a:r>
            <a:r>
              <a:rPr dirty="0"/>
              <a:t> 10바이트, OFFSET 20. </a:t>
            </a:r>
            <a:r>
              <a:rPr dirty="0" err="1"/>
              <a:t>주소는</a:t>
            </a:r>
            <a:r>
              <a:rPr dirty="0"/>
              <a:t> 20바이트, OFFSET 30. </a:t>
            </a:r>
            <a:r>
              <a:rPr dirty="0" err="1"/>
              <a:t>연락처는</a:t>
            </a:r>
            <a:r>
              <a:rPr dirty="0"/>
              <a:t> 20바이트, OFFSET 50이고 </a:t>
            </a:r>
            <a:r>
              <a:rPr dirty="0" err="1"/>
              <a:t>인덱스가</a:t>
            </a:r>
            <a:r>
              <a:rPr dirty="0"/>
              <a:t> </a:t>
            </a:r>
            <a:r>
              <a:rPr dirty="0" err="1"/>
              <a:t>존재합니다</a:t>
            </a:r>
            <a:r>
              <a:rPr dirty="0"/>
              <a:t>.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레코드</a:t>
            </a:r>
            <a:r>
              <a:rPr dirty="0"/>
              <a:t> </a:t>
            </a:r>
            <a:r>
              <a:rPr dirty="0" err="1"/>
              <a:t>길이는</a:t>
            </a:r>
            <a:r>
              <a:rPr dirty="0"/>
              <a:t> 70바이트입니다.</a:t>
            </a:r>
          </a:p>
          <a:p>
            <a:r>
              <a:rPr dirty="0"/>
              <a:t>이 </a:t>
            </a:r>
            <a:r>
              <a:rPr dirty="0" err="1"/>
              <a:t>그림</a:t>
            </a:r>
            <a:r>
              <a:rPr dirty="0"/>
              <a:t> </a:t>
            </a:r>
            <a:r>
              <a:rPr dirty="0" err="1"/>
              <a:t>하나에</a:t>
            </a:r>
            <a:r>
              <a:rPr dirty="0"/>
              <a:t> 3단계 </a:t>
            </a:r>
            <a:r>
              <a:rPr dirty="0" err="1"/>
              <a:t>구조의</a:t>
            </a:r>
            <a:r>
              <a:rPr dirty="0"/>
              <a:t> </a:t>
            </a:r>
            <a:r>
              <a:rPr dirty="0" err="1"/>
              <a:t>핵심이</a:t>
            </a:r>
            <a:r>
              <a:rPr dirty="0"/>
              <a:t>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담겨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관점에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다르게</a:t>
            </a:r>
            <a:r>
              <a:rPr dirty="0"/>
              <a:t> </a:t>
            </a:r>
            <a:r>
              <a:rPr dirty="0" err="1"/>
              <a:t>표현한다는</a:t>
            </a:r>
            <a:r>
              <a:rPr dirty="0"/>
              <a:t> 것,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부분만</a:t>
            </a:r>
            <a:r>
              <a:rPr dirty="0"/>
              <a:t>,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전체를</a:t>
            </a:r>
            <a:r>
              <a:rPr dirty="0"/>
              <a:t>,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방법을</a:t>
            </a:r>
            <a:r>
              <a:rPr dirty="0"/>
              <a:t> </a:t>
            </a:r>
            <a:r>
              <a:rPr dirty="0" err="1"/>
              <a:t>정의한다는</a:t>
            </a:r>
            <a:r>
              <a:rPr dirty="0"/>
              <a:t> 것. </a:t>
            </a:r>
            <a:r>
              <a:rPr dirty="0" err="1"/>
              <a:t>시험에서</a:t>
            </a:r>
            <a:r>
              <a:rPr dirty="0"/>
              <a:t> 이 </a:t>
            </a:r>
            <a:r>
              <a:rPr dirty="0" err="1"/>
              <a:t>그림을</a:t>
            </a:r>
            <a:r>
              <a:rPr dirty="0"/>
              <a:t> </a:t>
            </a:r>
            <a:r>
              <a:rPr dirty="0" err="1"/>
              <a:t>그리면서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수 </a:t>
            </a:r>
            <a:r>
              <a:rPr dirty="0" err="1"/>
              <a:t>있으면</a:t>
            </a:r>
            <a:r>
              <a:rPr dirty="0"/>
              <a:t> </a:t>
            </a:r>
            <a:r>
              <a:rPr dirty="0" err="1"/>
              <a:t>만점입니다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91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이번에는</a:t>
            </a:r>
            <a:r>
              <a:rPr dirty="0"/>
              <a:t> </a:t>
            </a:r>
            <a:r>
              <a:rPr dirty="0" err="1"/>
              <a:t>쇼핑몰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데이터베이스로</a:t>
            </a:r>
            <a:r>
              <a:rPr dirty="0"/>
              <a:t> </a:t>
            </a:r>
            <a:r>
              <a:rPr dirty="0" err="1"/>
              <a:t>한번</a:t>
            </a:r>
            <a:r>
              <a:rPr dirty="0"/>
              <a:t> 더 </a:t>
            </a:r>
            <a:r>
              <a:rPr dirty="0" err="1"/>
              <a:t>정리해봅시다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단계에서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분석팀은</a:t>
            </a:r>
            <a:r>
              <a:rPr dirty="0"/>
              <a:t> </a:t>
            </a:r>
            <a:r>
              <a:rPr dirty="0" err="1"/>
              <a:t>고객번호</a:t>
            </a:r>
            <a:r>
              <a:rPr dirty="0"/>
              <a:t>, </a:t>
            </a:r>
            <a:r>
              <a:rPr dirty="0" err="1"/>
              <a:t>이름</a:t>
            </a:r>
            <a:r>
              <a:rPr dirty="0"/>
              <a:t>, </a:t>
            </a:r>
            <a:r>
              <a:rPr dirty="0" err="1"/>
              <a:t>등급을</a:t>
            </a:r>
            <a:r>
              <a:rPr dirty="0"/>
              <a:t> </a:t>
            </a:r>
            <a:r>
              <a:rPr dirty="0" err="1"/>
              <a:t>봅니다</a:t>
            </a:r>
            <a:r>
              <a:rPr dirty="0"/>
              <a:t>. </a:t>
            </a:r>
            <a:r>
              <a:rPr dirty="0" err="1"/>
              <a:t>배송팀은</a:t>
            </a:r>
            <a:r>
              <a:rPr dirty="0"/>
              <a:t> </a:t>
            </a:r>
            <a:r>
              <a:rPr dirty="0" err="1"/>
              <a:t>고객번호</a:t>
            </a:r>
            <a:r>
              <a:rPr dirty="0"/>
              <a:t>, </a:t>
            </a:r>
            <a:r>
              <a:rPr dirty="0" err="1"/>
              <a:t>이름</a:t>
            </a:r>
            <a:r>
              <a:rPr dirty="0"/>
              <a:t>, </a:t>
            </a:r>
            <a:r>
              <a:rPr dirty="0" err="1"/>
              <a:t>주소</a:t>
            </a:r>
            <a:r>
              <a:rPr dirty="0"/>
              <a:t>, </a:t>
            </a:r>
            <a:r>
              <a:rPr dirty="0" err="1"/>
              <a:t>연락처를</a:t>
            </a:r>
            <a:r>
              <a:rPr dirty="0"/>
              <a:t> </a:t>
            </a:r>
            <a:r>
              <a:rPr dirty="0" err="1"/>
              <a:t>봅니다</a:t>
            </a:r>
            <a:r>
              <a:rPr dirty="0"/>
              <a:t>. 각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필요로</a:t>
            </a:r>
            <a:r>
              <a:rPr dirty="0"/>
              <a:t> </a:t>
            </a:r>
            <a:r>
              <a:rPr dirty="0" err="1"/>
              <a:t>하는</a:t>
            </a:r>
            <a:r>
              <a:rPr dirty="0"/>
              <a:t> </a:t>
            </a:r>
            <a:r>
              <a:rPr dirty="0" err="1"/>
              <a:t>데이터만</a:t>
            </a:r>
            <a:r>
              <a:rPr dirty="0"/>
              <a:t> </a:t>
            </a:r>
            <a:r>
              <a:rPr dirty="0" err="1"/>
              <a:t>포함하는</a:t>
            </a:r>
            <a:r>
              <a:rPr dirty="0"/>
              <a:t> </a:t>
            </a:r>
            <a:r>
              <a:rPr dirty="0" err="1"/>
              <a:t>별도의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스키마를</a:t>
            </a:r>
            <a:r>
              <a:rPr dirty="0"/>
              <a:t> </a:t>
            </a:r>
            <a:r>
              <a:rPr dirty="0" err="1"/>
              <a:t>보유합니다</a:t>
            </a:r>
            <a:r>
              <a:rPr dirty="0"/>
              <a:t>.</a:t>
            </a:r>
          </a:p>
          <a:p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단계에서는</a:t>
            </a:r>
            <a:r>
              <a:rPr dirty="0"/>
              <a:t> </a:t>
            </a:r>
            <a:r>
              <a:rPr dirty="0" err="1"/>
              <a:t>고객번호</a:t>
            </a:r>
            <a:r>
              <a:rPr dirty="0"/>
              <a:t>, </a:t>
            </a:r>
            <a:r>
              <a:rPr dirty="0" err="1"/>
              <a:t>이름</a:t>
            </a:r>
            <a:r>
              <a:rPr dirty="0"/>
              <a:t>, </a:t>
            </a:r>
            <a:r>
              <a:rPr dirty="0" err="1"/>
              <a:t>주소</a:t>
            </a:r>
            <a:r>
              <a:rPr dirty="0"/>
              <a:t>, </a:t>
            </a:r>
            <a:r>
              <a:rPr dirty="0" err="1"/>
              <a:t>연락처</a:t>
            </a:r>
            <a:r>
              <a:rPr dirty="0"/>
              <a:t>, </a:t>
            </a:r>
            <a:r>
              <a:rPr dirty="0" err="1"/>
              <a:t>등급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개의</a:t>
            </a:r>
            <a:r>
              <a:rPr dirty="0"/>
              <a:t> </a:t>
            </a:r>
            <a:r>
              <a:rPr dirty="0" err="1"/>
              <a:t>속성이</a:t>
            </a:r>
            <a:r>
              <a:rPr dirty="0"/>
              <a:t>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포함된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통합된</a:t>
            </a:r>
            <a:r>
              <a:rPr dirty="0"/>
              <a:t> </a:t>
            </a:r>
            <a:r>
              <a:rPr dirty="0" err="1"/>
              <a:t>구조가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스키마입니다</a:t>
            </a:r>
            <a:r>
              <a:rPr dirty="0"/>
              <a:t>.</a:t>
            </a:r>
          </a:p>
          <a:p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단계에서는</a:t>
            </a:r>
            <a:r>
              <a:rPr dirty="0"/>
              <a:t> </a:t>
            </a:r>
            <a:r>
              <a:rPr dirty="0" err="1"/>
              <a:t>customer라는</a:t>
            </a:r>
            <a:r>
              <a:rPr dirty="0"/>
              <a:t> </a:t>
            </a:r>
            <a:r>
              <a:rPr dirty="0" err="1"/>
              <a:t>레코드의</a:t>
            </a:r>
            <a:r>
              <a:rPr dirty="0"/>
              <a:t> </a:t>
            </a:r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구조가</a:t>
            </a:r>
            <a:r>
              <a:rPr dirty="0"/>
              <a:t> </a:t>
            </a:r>
            <a:r>
              <a:rPr dirty="0" err="1"/>
              <a:t>정의됩니다</a:t>
            </a:r>
            <a:r>
              <a:rPr dirty="0"/>
              <a:t>. 각 </a:t>
            </a:r>
            <a:r>
              <a:rPr dirty="0" err="1"/>
              <a:t>필드의</a:t>
            </a:r>
            <a:r>
              <a:rPr dirty="0"/>
              <a:t> </a:t>
            </a:r>
            <a:r>
              <a:rPr dirty="0" err="1"/>
              <a:t>크기와</a:t>
            </a:r>
            <a:r>
              <a:rPr dirty="0"/>
              <a:t> </a:t>
            </a:r>
            <a:r>
              <a:rPr dirty="0" err="1"/>
              <a:t>인덱스가</a:t>
            </a:r>
            <a:r>
              <a:rPr dirty="0"/>
              <a:t> </a:t>
            </a:r>
            <a:r>
              <a:rPr dirty="0" err="1"/>
              <a:t>명시되어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총 83바이트에 </a:t>
            </a:r>
            <a:r>
              <a:rPr dirty="0" err="1"/>
              <a:t>인덱스</a:t>
            </a:r>
            <a:r>
              <a:rPr dirty="0"/>
              <a:t> 2개입니다.</a:t>
            </a:r>
          </a:p>
          <a:p>
            <a:r>
              <a:rPr dirty="0"/>
              <a:t>앞 </a:t>
            </a:r>
            <a:r>
              <a:rPr dirty="0" err="1"/>
              <a:t>슬라이드의</a:t>
            </a:r>
            <a:r>
              <a:rPr dirty="0"/>
              <a:t> </a:t>
            </a:r>
            <a:r>
              <a:rPr dirty="0" err="1"/>
              <a:t>교재</a:t>
            </a:r>
            <a:r>
              <a:rPr dirty="0"/>
              <a:t> </a:t>
            </a:r>
            <a:r>
              <a:rPr dirty="0" err="1"/>
              <a:t>그림과</a:t>
            </a:r>
            <a:r>
              <a:rPr dirty="0"/>
              <a:t> 이 </a:t>
            </a:r>
            <a:r>
              <a:rPr dirty="0" err="1"/>
              <a:t>예시를</a:t>
            </a:r>
            <a:r>
              <a:rPr dirty="0"/>
              <a:t> </a:t>
            </a:r>
            <a:r>
              <a:rPr dirty="0" err="1"/>
              <a:t>비교하면서</a:t>
            </a:r>
            <a:r>
              <a:rPr dirty="0"/>
              <a:t> </a:t>
            </a:r>
            <a:r>
              <a:rPr dirty="0" err="1"/>
              <a:t>이해하면</a:t>
            </a:r>
            <a:r>
              <a:rPr dirty="0"/>
              <a:t> 3단계 </a:t>
            </a:r>
            <a:r>
              <a:rPr dirty="0" err="1"/>
              <a:t>구조가</a:t>
            </a:r>
            <a:r>
              <a:rPr dirty="0"/>
              <a:t> </a:t>
            </a:r>
            <a:r>
              <a:rPr dirty="0" err="1"/>
              <a:t>확실하게</a:t>
            </a:r>
            <a:r>
              <a:rPr dirty="0"/>
              <a:t> </a:t>
            </a:r>
            <a:r>
              <a:rPr dirty="0" err="1"/>
              <a:t>잡힐</a:t>
            </a:r>
            <a:r>
              <a:rPr dirty="0"/>
              <a:t> </a:t>
            </a:r>
            <a:r>
              <a:rPr dirty="0" err="1"/>
              <a:t>겁니다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이제</a:t>
            </a:r>
            <a:r>
              <a:rPr dirty="0"/>
              <a:t> 3단계 </a:t>
            </a:r>
            <a:r>
              <a:rPr dirty="0" err="1"/>
              <a:t>구조에서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개념인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독립성을</a:t>
            </a:r>
            <a:r>
              <a:rPr dirty="0"/>
              <a:t> </a:t>
            </a:r>
            <a:r>
              <a:rPr dirty="0" err="1"/>
              <a:t>배우겠습니다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독립성이란</a:t>
            </a:r>
            <a:r>
              <a:rPr dirty="0"/>
              <a:t>, </a:t>
            </a:r>
            <a:r>
              <a:rPr dirty="0" err="1"/>
              <a:t>하위</a:t>
            </a:r>
            <a:r>
              <a:rPr dirty="0"/>
              <a:t> </a:t>
            </a:r>
            <a:r>
              <a:rPr dirty="0" err="1"/>
              <a:t>스키마를</a:t>
            </a:r>
            <a:r>
              <a:rPr dirty="0"/>
              <a:t> </a:t>
            </a:r>
            <a:r>
              <a:rPr dirty="0" err="1"/>
              <a:t>변경하더라도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</a:t>
            </a:r>
            <a:r>
              <a:rPr dirty="0" err="1"/>
              <a:t>스키마가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받지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특성입니다</a:t>
            </a:r>
            <a:r>
              <a:rPr dirty="0"/>
              <a:t>. 2장에서 </a:t>
            </a:r>
            <a:r>
              <a:rPr dirty="0" err="1"/>
              <a:t>배운</a:t>
            </a:r>
            <a:r>
              <a:rPr dirty="0"/>
              <a:t> "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종속성"의</a:t>
            </a:r>
            <a:r>
              <a:rPr dirty="0"/>
              <a:t> </a:t>
            </a:r>
            <a:r>
              <a:rPr dirty="0" err="1"/>
              <a:t>정반대</a:t>
            </a:r>
            <a:r>
              <a:rPr dirty="0"/>
              <a:t> </a:t>
            </a:r>
            <a:r>
              <a:rPr dirty="0" err="1"/>
              <a:t>개념이죠</a:t>
            </a:r>
            <a:r>
              <a:rPr dirty="0"/>
              <a:t>.</a:t>
            </a:r>
          </a:p>
          <a:p>
            <a:r>
              <a:rPr dirty="0" err="1"/>
              <a:t>논리적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독립성은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단계와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사이의</a:t>
            </a:r>
            <a:r>
              <a:rPr dirty="0"/>
              <a:t> </a:t>
            </a:r>
            <a:r>
              <a:rPr dirty="0" err="1"/>
              <a:t>독립성입니다</a:t>
            </a:r>
            <a:r>
              <a:rPr dirty="0"/>
              <a:t>.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스키마가</a:t>
            </a:r>
            <a:r>
              <a:rPr dirty="0"/>
              <a:t> </a:t>
            </a:r>
            <a:r>
              <a:rPr dirty="0" err="1"/>
              <a:t>변경되어도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받지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/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사상만</a:t>
            </a:r>
            <a:r>
              <a:rPr dirty="0"/>
              <a:t> </a:t>
            </a:r>
            <a:r>
              <a:rPr dirty="0" err="1"/>
              <a:t>수정하면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예를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'</a:t>
            </a:r>
            <a:r>
              <a:rPr dirty="0" err="1"/>
              <a:t>전화번호'를</a:t>
            </a:r>
            <a:r>
              <a:rPr dirty="0"/>
              <a:t> '</a:t>
            </a:r>
            <a:r>
              <a:rPr dirty="0" err="1"/>
              <a:t>연락처'로</a:t>
            </a:r>
            <a:r>
              <a:rPr dirty="0"/>
              <a:t> </a:t>
            </a:r>
            <a:r>
              <a:rPr dirty="0" err="1"/>
              <a:t>변경해도</a:t>
            </a:r>
            <a:r>
              <a:rPr dirty="0"/>
              <a:t>,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스키마와</a:t>
            </a:r>
            <a:r>
              <a:rPr dirty="0"/>
              <a:t> </a:t>
            </a:r>
            <a:r>
              <a:rPr dirty="0" err="1"/>
              <a:t>사상만</a:t>
            </a:r>
            <a:r>
              <a:rPr dirty="0"/>
              <a:t> </a:t>
            </a:r>
            <a:r>
              <a:rPr dirty="0" err="1"/>
              <a:t>수정하면</a:t>
            </a:r>
            <a:r>
              <a:rPr dirty="0"/>
              <a:t> </a:t>
            </a:r>
            <a:r>
              <a:rPr dirty="0" err="1"/>
              <a:t>끝입니다</a:t>
            </a:r>
            <a:r>
              <a:rPr dirty="0"/>
              <a:t>.</a:t>
            </a:r>
          </a:p>
          <a:p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독립성은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단계와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사이의</a:t>
            </a:r>
            <a:r>
              <a:rPr dirty="0"/>
              <a:t> </a:t>
            </a:r>
            <a:r>
              <a:rPr dirty="0" err="1"/>
              <a:t>독립성입니다</a:t>
            </a:r>
            <a:r>
              <a:rPr dirty="0"/>
              <a:t>.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스키마가</a:t>
            </a:r>
            <a:r>
              <a:rPr dirty="0"/>
              <a:t> </a:t>
            </a:r>
            <a:r>
              <a:rPr dirty="0" err="1"/>
              <a:t>변경되어도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받지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/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사상만</a:t>
            </a:r>
            <a:r>
              <a:rPr dirty="0"/>
              <a:t> </a:t>
            </a:r>
            <a:r>
              <a:rPr dirty="0" err="1"/>
              <a:t>수정하면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순서나</a:t>
            </a:r>
            <a:r>
              <a:rPr dirty="0"/>
              <a:t> </a:t>
            </a:r>
            <a:r>
              <a:rPr dirty="0" err="1"/>
              <a:t>인덱스가</a:t>
            </a:r>
            <a:r>
              <a:rPr dirty="0"/>
              <a:t> </a:t>
            </a:r>
            <a:r>
              <a:rPr dirty="0" err="1"/>
              <a:t>변경되어도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그대로입니다</a:t>
            </a:r>
            <a:r>
              <a:rPr dirty="0"/>
              <a:t>.</a:t>
            </a:r>
          </a:p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키워드는</a:t>
            </a:r>
            <a:r>
              <a:rPr dirty="0"/>
              <a:t> "</a:t>
            </a:r>
            <a:r>
              <a:rPr dirty="0" err="1"/>
              <a:t>사상</a:t>
            </a:r>
            <a:r>
              <a:rPr dirty="0"/>
              <a:t>", </a:t>
            </a:r>
            <a:r>
              <a:rPr dirty="0" err="1"/>
              <a:t>mapping입니다</a:t>
            </a:r>
            <a:r>
              <a:rPr dirty="0"/>
              <a:t>. </a:t>
            </a:r>
            <a:r>
              <a:rPr dirty="0" err="1"/>
              <a:t>스키마를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게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사상만</a:t>
            </a:r>
            <a:r>
              <a:rPr dirty="0"/>
              <a:t> </a:t>
            </a:r>
            <a:r>
              <a:rPr dirty="0" err="1"/>
              <a:t>바꾸면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독립성이</a:t>
            </a:r>
            <a:r>
              <a:rPr dirty="0"/>
              <a:t> </a:t>
            </a:r>
            <a:r>
              <a:rPr dirty="0" err="1"/>
              <a:t>논리적</a:t>
            </a:r>
            <a:r>
              <a:rPr dirty="0"/>
              <a:t> </a:t>
            </a:r>
            <a:r>
              <a:rPr dirty="0" err="1"/>
              <a:t>독립성보다</a:t>
            </a:r>
            <a:r>
              <a:rPr dirty="0"/>
              <a:t> </a:t>
            </a:r>
            <a:r>
              <a:rPr dirty="0" err="1"/>
              <a:t>구현이</a:t>
            </a:r>
            <a:r>
              <a:rPr dirty="0"/>
              <a:t> </a:t>
            </a:r>
            <a:r>
              <a:rPr dirty="0" err="1"/>
              <a:t>쉽습니다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사전과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디렉토리를</a:t>
            </a:r>
            <a:r>
              <a:rPr dirty="0"/>
              <a:t> </a:t>
            </a:r>
            <a:r>
              <a:rPr dirty="0" err="1"/>
              <a:t>배우겠습니다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사전은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카탈로그라고도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DB에</a:t>
            </a:r>
            <a:r>
              <a:rPr dirty="0"/>
              <a:t> </a:t>
            </a:r>
            <a:r>
              <a:rPr dirty="0" err="1"/>
              <a:t>저장되는</a:t>
            </a:r>
            <a:r>
              <a:rPr dirty="0"/>
              <a:t> </a:t>
            </a:r>
            <a:r>
              <a:rPr dirty="0" err="1"/>
              <a:t>데이터에</a:t>
            </a:r>
            <a:r>
              <a:rPr dirty="0"/>
              <a:t> </a:t>
            </a:r>
            <a:r>
              <a:rPr dirty="0" err="1"/>
              <a:t>관한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, 즉 </a:t>
            </a:r>
            <a:r>
              <a:rPr dirty="0" err="1"/>
              <a:t>메타데이터를</a:t>
            </a:r>
            <a:r>
              <a:rPr dirty="0"/>
              <a:t> </a:t>
            </a:r>
            <a:r>
              <a:rPr dirty="0" err="1"/>
              <a:t>유지하는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데이터베이스입니다</a:t>
            </a:r>
            <a:r>
              <a:rPr dirty="0"/>
              <a:t>. </a:t>
            </a:r>
            <a:r>
              <a:rPr dirty="0" err="1"/>
              <a:t>스키마</a:t>
            </a:r>
            <a:r>
              <a:rPr dirty="0"/>
              <a:t>, </a:t>
            </a:r>
            <a:r>
              <a:rPr dirty="0" err="1"/>
              <a:t>사상</a:t>
            </a:r>
            <a:r>
              <a:rPr dirty="0"/>
              <a:t>, </a:t>
            </a:r>
            <a:r>
              <a:rPr dirty="0" err="1"/>
              <a:t>제약조건</a:t>
            </a:r>
            <a:r>
              <a:rPr dirty="0"/>
              <a:t> </a:t>
            </a:r>
            <a:r>
              <a:rPr dirty="0" err="1"/>
              <a:t>등이</a:t>
            </a:r>
            <a:r>
              <a:rPr dirty="0"/>
              <a:t> </a:t>
            </a:r>
            <a:r>
              <a:rPr dirty="0" err="1"/>
              <a:t>저장됩니다</a:t>
            </a:r>
            <a:r>
              <a:rPr dirty="0"/>
              <a:t>. </a:t>
            </a:r>
            <a:r>
              <a:rPr dirty="0" err="1"/>
              <a:t>DBMS가</a:t>
            </a:r>
            <a:r>
              <a:rPr dirty="0"/>
              <a:t> </a:t>
            </a:r>
            <a:r>
              <a:rPr dirty="0" err="1"/>
              <a:t>스스로</a:t>
            </a:r>
            <a:r>
              <a:rPr dirty="0"/>
              <a:t> </a:t>
            </a:r>
            <a:r>
              <a:rPr dirty="0" err="1"/>
              <a:t>생성하고</a:t>
            </a:r>
            <a:r>
              <a:rPr dirty="0"/>
              <a:t> </a:t>
            </a:r>
            <a:r>
              <a:rPr dirty="0" err="1"/>
              <a:t>유지하며</a:t>
            </a:r>
            <a:r>
              <a:rPr dirty="0"/>
              <a:t>,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사용자도</a:t>
            </a:r>
            <a:r>
              <a:rPr dirty="0"/>
              <a:t> </a:t>
            </a:r>
            <a:r>
              <a:rPr dirty="0" err="1"/>
              <a:t>접근</a:t>
            </a:r>
            <a:r>
              <a:rPr dirty="0"/>
              <a:t> </a:t>
            </a:r>
            <a:r>
              <a:rPr dirty="0" err="1"/>
              <a:t>가능하지만</a:t>
            </a:r>
            <a:r>
              <a:rPr dirty="0"/>
              <a:t> </a:t>
            </a:r>
            <a:r>
              <a:rPr dirty="0" err="1"/>
              <a:t>검색만</a:t>
            </a:r>
            <a:r>
              <a:rPr dirty="0"/>
              <a:t> </a:t>
            </a:r>
            <a:r>
              <a:rPr dirty="0" err="1"/>
              <a:t>가능합니다</a:t>
            </a:r>
            <a:r>
              <a:rPr dirty="0"/>
              <a:t>.</a:t>
            </a:r>
          </a:p>
          <a:p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디렉토리는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사전의</a:t>
            </a:r>
            <a:r>
              <a:rPr dirty="0"/>
              <a:t> </a:t>
            </a:r>
            <a:r>
              <a:rPr dirty="0" err="1"/>
              <a:t>데이터에</a:t>
            </a:r>
            <a:r>
              <a:rPr dirty="0"/>
              <a:t> </a:t>
            </a:r>
            <a:r>
              <a:rPr dirty="0" err="1"/>
              <a:t>접근하는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관리합니다</a:t>
            </a:r>
            <a:r>
              <a:rPr dirty="0"/>
              <a:t>. </a:t>
            </a:r>
            <a:r>
              <a:rPr dirty="0" err="1"/>
              <a:t>시스템만</a:t>
            </a:r>
            <a:r>
              <a:rPr dirty="0"/>
              <a:t> </a:t>
            </a:r>
            <a:r>
              <a:rPr dirty="0" err="1"/>
              <a:t>접근</a:t>
            </a:r>
            <a:r>
              <a:rPr dirty="0"/>
              <a:t> </a:t>
            </a:r>
            <a:r>
              <a:rPr dirty="0" err="1"/>
              <a:t>가능하고</a:t>
            </a:r>
            <a:r>
              <a:rPr dirty="0"/>
              <a:t> </a:t>
            </a:r>
            <a:r>
              <a:rPr dirty="0" err="1"/>
              <a:t>사용자는</a:t>
            </a:r>
            <a:r>
              <a:rPr dirty="0"/>
              <a:t> </a:t>
            </a:r>
            <a:r>
              <a:rPr dirty="0" err="1"/>
              <a:t>접근할</a:t>
            </a:r>
            <a:r>
              <a:rPr dirty="0"/>
              <a:t> 수 </a:t>
            </a:r>
            <a:r>
              <a:rPr dirty="0" err="1"/>
              <a:t>없습니다</a:t>
            </a:r>
            <a:r>
              <a:rPr dirty="0"/>
              <a:t>.</a:t>
            </a:r>
          </a:p>
          <a:p>
            <a:r>
              <a:rPr dirty="0"/>
              <a:t>이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기억하세요</a:t>
            </a:r>
            <a:r>
              <a:rPr dirty="0"/>
              <a:t>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사전은</a:t>
            </a:r>
            <a:r>
              <a:rPr dirty="0"/>
              <a:t> 사용자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디렉토리는</a:t>
            </a:r>
            <a:r>
              <a:rPr dirty="0"/>
              <a:t> </a:t>
            </a:r>
            <a:r>
              <a:rPr dirty="0" err="1"/>
              <a:t>시스템만</a:t>
            </a:r>
            <a:r>
              <a:rPr dirty="0"/>
              <a:t> </a:t>
            </a:r>
            <a:r>
              <a:rPr dirty="0" err="1"/>
              <a:t>접근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.</a:t>
            </a:r>
          </a:p>
          <a:p>
            <a:r>
              <a:rPr dirty="0" err="1"/>
              <a:t>하단에</a:t>
            </a:r>
            <a:r>
              <a:rPr dirty="0"/>
              <a:t> 사용자 </a:t>
            </a:r>
            <a:r>
              <a:rPr dirty="0" err="1"/>
              <a:t>DB와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DB의</a:t>
            </a:r>
            <a:r>
              <a:rPr dirty="0"/>
              <a:t> </a:t>
            </a:r>
            <a:r>
              <a:rPr dirty="0" err="1"/>
              <a:t>구분이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사용자 </a:t>
            </a:r>
            <a:r>
              <a:rPr dirty="0" err="1"/>
              <a:t>DB는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,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DB는</a:t>
            </a:r>
            <a:r>
              <a:rPr dirty="0"/>
              <a:t> </a:t>
            </a:r>
            <a:r>
              <a:rPr dirty="0" err="1"/>
              <a:t>메타데이터가</a:t>
            </a:r>
            <a:r>
              <a:rPr dirty="0"/>
              <a:t> </a:t>
            </a:r>
            <a:r>
              <a:rPr dirty="0" err="1"/>
              <a:t>저장됩니다</a:t>
            </a:r>
            <a:r>
              <a:rPr dirty="0"/>
              <a:t>.</a:t>
            </a:r>
          </a:p>
          <a:p>
            <a:r>
              <a:rPr dirty="0" err="1"/>
              <a:t>여기까지가</a:t>
            </a:r>
            <a:r>
              <a:rPr dirty="0"/>
              <a:t> 1교시입니다.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있으신</a:t>
            </a:r>
            <a:r>
              <a:rPr dirty="0"/>
              <a:t> 분? </a:t>
            </a:r>
            <a:r>
              <a:rPr dirty="0" err="1"/>
              <a:t>없으시면</a:t>
            </a:r>
            <a:r>
              <a:rPr dirty="0"/>
              <a:t> 10분 </a:t>
            </a:r>
            <a:r>
              <a:rPr dirty="0" err="1"/>
              <a:t>쉬겠습니다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번째 섹션, 데이터베이스 사용자입니다.</a:t>
            </a:r>
          </a:p>
          <a:p>
            <a:endParaRPr/>
          </a:p>
          <a:p>
            <a:r>
              <a:t>역할에 따라 DBA, 최종 사용자, 응용 프로그래머 세 가지로 나뉘고, 각 유형이 사용하는 데이터 언어도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사용자는</a:t>
            </a:r>
            <a:r>
              <a:rPr dirty="0"/>
              <a:t> 세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유형이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첫 </a:t>
            </a:r>
            <a:r>
              <a:rPr dirty="0" err="1"/>
              <a:t>번째</a:t>
            </a:r>
            <a:r>
              <a:rPr dirty="0"/>
              <a:t>, </a:t>
            </a:r>
            <a:r>
              <a:rPr dirty="0" err="1"/>
              <a:t>DBA입니다</a:t>
            </a:r>
            <a:r>
              <a:rPr dirty="0"/>
              <a:t>. DB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및 </a:t>
            </a:r>
            <a:r>
              <a:rPr dirty="0" err="1"/>
              <a:t>관리를</a:t>
            </a:r>
            <a:r>
              <a:rPr dirty="0"/>
              <a:t> </a:t>
            </a:r>
            <a:r>
              <a:rPr dirty="0" err="1"/>
              <a:t>총괄합니다</a:t>
            </a:r>
            <a:r>
              <a:rPr dirty="0"/>
              <a:t>. </a:t>
            </a:r>
            <a:r>
              <a:rPr dirty="0" err="1"/>
              <a:t>주로</a:t>
            </a:r>
            <a:r>
              <a:rPr dirty="0"/>
              <a:t> </a:t>
            </a:r>
            <a:r>
              <a:rPr dirty="0" err="1"/>
              <a:t>DDL과</a:t>
            </a:r>
            <a:r>
              <a:rPr dirty="0"/>
              <a:t> </a:t>
            </a:r>
            <a:r>
              <a:rPr dirty="0" err="1"/>
              <a:t>DCL을</a:t>
            </a:r>
            <a:r>
              <a:rPr dirty="0"/>
              <a:t> </a:t>
            </a:r>
            <a:r>
              <a:rPr dirty="0" err="1"/>
              <a:t>이용합니다</a:t>
            </a:r>
            <a:r>
              <a:rPr dirty="0"/>
              <a:t>.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, </a:t>
            </a:r>
            <a:r>
              <a:rPr dirty="0" err="1"/>
              <a:t>보안·백업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, </a:t>
            </a:r>
            <a:r>
              <a:rPr dirty="0" err="1"/>
              <a:t>무결성</a:t>
            </a:r>
            <a:r>
              <a:rPr dirty="0"/>
              <a:t> </a:t>
            </a:r>
            <a:r>
              <a:rPr dirty="0" err="1"/>
              <a:t>제약조건</a:t>
            </a:r>
            <a:r>
              <a:rPr dirty="0"/>
              <a:t> </a:t>
            </a:r>
            <a:r>
              <a:rPr dirty="0" err="1"/>
              <a:t>정의가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업무입니다</a:t>
            </a:r>
            <a:r>
              <a:rPr dirty="0"/>
              <a:t>.</a:t>
            </a:r>
          </a:p>
          <a:p>
            <a:r>
              <a:rPr dirty="0"/>
              <a:t>두 </a:t>
            </a:r>
            <a:r>
              <a:rPr dirty="0" err="1"/>
              <a:t>번째</a:t>
            </a:r>
            <a:r>
              <a:rPr dirty="0"/>
              <a:t>,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사용자입니다</a:t>
            </a:r>
            <a:r>
              <a:rPr dirty="0"/>
              <a:t>. </a:t>
            </a:r>
            <a:r>
              <a:rPr dirty="0" err="1"/>
              <a:t>DB에</a:t>
            </a:r>
            <a:r>
              <a:rPr dirty="0"/>
              <a:t> </a:t>
            </a:r>
            <a:r>
              <a:rPr dirty="0" err="1"/>
              <a:t>접근하여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조작합니다</a:t>
            </a:r>
            <a:r>
              <a:rPr dirty="0"/>
              <a:t>. </a:t>
            </a:r>
            <a:r>
              <a:rPr dirty="0" err="1"/>
              <a:t>주로</a:t>
            </a:r>
            <a:r>
              <a:rPr dirty="0"/>
              <a:t> </a:t>
            </a:r>
            <a:r>
              <a:rPr dirty="0" err="1"/>
              <a:t>DML을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 </a:t>
            </a:r>
            <a:r>
              <a:rPr dirty="0" err="1"/>
              <a:t>SQL을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쓰거나</a:t>
            </a:r>
            <a:r>
              <a:rPr dirty="0"/>
              <a:t> </a:t>
            </a:r>
            <a:r>
              <a:rPr dirty="0" err="1"/>
              <a:t>GUI를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 </a:t>
            </a:r>
            <a:r>
              <a:rPr dirty="0" err="1"/>
              <a:t>권한은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</a:t>
            </a:r>
          </a:p>
          <a:p>
            <a:r>
              <a:rPr dirty="0"/>
              <a:t>세 </a:t>
            </a:r>
            <a:r>
              <a:rPr dirty="0" err="1"/>
              <a:t>번째</a:t>
            </a:r>
            <a:r>
              <a:rPr dirty="0"/>
              <a:t>,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프로그래머입니다</a:t>
            </a:r>
            <a:r>
              <a:rPr dirty="0"/>
              <a:t>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언어를</a:t>
            </a:r>
            <a:r>
              <a:rPr dirty="0"/>
              <a:t> </a:t>
            </a:r>
            <a:r>
              <a:rPr dirty="0" err="1"/>
              <a:t>이용하여</a:t>
            </a:r>
            <a:r>
              <a:rPr dirty="0"/>
              <a:t>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프로그램을</a:t>
            </a:r>
            <a:r>
              <a:rPr dirty="0"/>
              <a:t> </a:t>
            </a:r>
            <a:r>
              <a:rPr dirty="0" err="1"/>
              <a:t>작성합니다</a:t>
            </a:r>
            <a:r>
              <a:rPr dirty="0"/>
              <a:t>. </a:t>
            </a:r>
            <a:r>
              <a:rPr dirty="0" err="1"/>
              <a:t>SQL을</a:t>
            </a:r>
            <a:r>
              <a:rPr dirty="0"/>
              <a:t> </a:t>
            </a:r>
            <a:r>
              <a:rPr dirty="0" err="1"/>
              <a:t>프로그래밍</a:t>
            </a:r>
            <a:r>
              <a:rPr dirty="0"/>
              <a:t> </a:t>
            </a:r>
            <a:r>
              <a:rPr dirty="0" err="1"/>
              <a:t>언어에</a:t>
            </a:r>
            <a:r>
              <a:rPr dirty="0"/>
              <a:t> </a:t>
            </a:r>
            <a:r>
              <a:rPr dirty="0" err="1"/>
              <a:t>삽입하여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 SELECT, INSERT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DML을</a:t>
            </a:r>
            <a:r>
              <a:rPr dirty="0"/>
              <a:t> </a:t>
            </a:r>
            <a:r>
              <a:rPr dirty="0" err="1"/>
              <a:t>주로</a:t>
            </a:r>
            <a:r>
              <a:rPr dirty="0"/>
              <a:t> </a:t>
            </a:r>
            <a:r>
              <a:rPr dirty="0" err="1"/>
              <a:t>쓰고</a:t>
            </a:r>
            <a:r>
              <a:rPr dirty="0"/>
              <a:t>, CREATE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DDL은</a:t>
            </a:r>
            <a:r>
              <a:rPr dirty="0"/>
              <a:t> </a:t>
            </a:r>
            <a:r>
              <a:rPr dirty="0" err="1"/>
              <a:t>사용하지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구분점은</a:t>
            </a:r>
            <a:r>
              <a:rPr dirty="0"/>
              <a:t> "</a:t>
            </a:r>
            <a:r>
              <a:rPr dirty="0" err="1"/>
              <a:t>사용하는</a:t>
            </a:r>
            <a:r>
              <a:rPr dirty="0"/>
              <a:t> </a:t>
            </a:r>
            <a:r>
              <a:rPr dirty="0" err="1"/>
              <a:t>언어"입니다</a:t>
            </a:r>
            <a:r>
              <a:rPr dirty="0"/>
              <a:t>. </a:t>
            </a:r>
            <a:r>
              <a:rPr dirty="0" err="1"/>
              <a:t>DBA는</a:t>
            </a:r>
            <a:r>
              <a:rPr dirty="0"/>
              <a:t> DDL+DCL,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사용자와</a:t>
            </a:r>
            <a:r>
              <a:rPr dirty="0"/>
              <a:t>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프로그래머는</a:t>
            </a:r>
            <a:r>
              <a:rPr dirty="0"/>
              <a:t> DML.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사용자와</a:t>
            </a:r>
            <a:r>
              <a:rPr dirty="0"/>
              <a:t> </a:t>
            </a:r>
            <a:r>
              <a:rPr dirty="0" err="1"/>
              <a:t>프로그래머의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SQL을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쓰느냐</a:t>
            </a:r>
            <a:r>
              <a:rPr dirty="0"/>
              <a:t>, </a:t>
            </a:r>
            <a:r>
              <a:rPr dirty="0" err="1"/>
              <a:t>프로그래밍</a:t>
            </a:r>
            <a:r>
              <a:rPr dirty="0"/>
              <a:t> </a:t>
            </a:r>
            <a:r>
              <a:rPr dirty="0" err="1"/>
              <a:t>언어에</a:t>
            </a:r>
            <a:r>
              <a:rPr dirty="0"/>
              <a:t> </a:t>
            </a:r>
            <a:r>
              <a:rPr dirty="0" err="1"/>
              <a:t>삽입하여</a:t>
            </a:r>
            <a:r>
              <a:rPr dirty="0"/>
              <a:t> </a:t>
            </a:r>
            <a:r>
              <a:rPr dirty="0" err="1"/>
              <a:t>쓰느냐입니다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DBA의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업무</a:t>
            </a:r>
            <a:r>
              <a:rPr dirty="0"/>
              <a:t> </a:t>
            </a:r>
            <a:r>
              <a:rPr dirty="0" err="1"/>
              <a:t>여덟</a:t>
            </a:r>
            <a:r>
              <a:rPr dirty="0"/>
              <a:t> </a:t>
            </a:r>
            <a:r>
              <a:rPr dirty="0" err="1"/>
              <a:t>가지입니다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1번, DB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</a:t>
            </a:r>
            <a:r>
              <a:rPr dirty="0" err="1"/>
              <a:t>선정</a:t>
            </a:r>
            <a:r>
              <a:rPr dirty="0"/>
              <a:t>. </a:t>
            </a:r>
            <a:r>
              <a:rPr dirty="0" err="1"/>
              <a:t>저장할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타입</a:t>
            </a:r>
            <a:r>
              <a:rPr dirty="0"/>
              <a:t>, </a:t>
            </a:r>
            <a:r>
              <a:rPr dirty="0" err="1"/>
              <a:t>구조</a:t>
            </a:r>
            <a:r>
              <a:rPr dirty="0"/>
              <a:t>, </a:t>
            </a:r>
            <a:r>
              <a:rPr dirty="0" err="1"/>
              <a:t>제약조건을</a:t>
            </a:r>
            <a:r>
              <a:rPr dirty="0"/>
              <a:t> </a:t>
            </a:r>
            <a:r>
              <a:rPr dirty="0" err="1"/>
              <a:t>결정합니다</a:t>
            </a:r>
            <a:r>
              <a:rPr dirty="0"/>
              <a:t>.</a:t>
            </a:r>
          </a:p>
          <a:p>
            <a:r>
              <a:rPr dirty="0"/>
              <a:t>2번,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. </a:t>
            </a:r>
            <a:r>
              <a:rPr dirty="0" err="1"/>
              <a:t>개념</a:t>
            </a:r>
            <a:r>
              <a:rPr dirty="0"/>
              <a:t>/</a:t>
            </a:r>
            <a:r>
              <a:rPr dirty="0" err="1"/>
              <a:t>외부</a:t>
            </a:r>
            <a:r>
              <a:rPr dirty="0"/>
              <a:t>/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스키마를</a:t>
            </a:r>
            <a:r>
              <a:rPr dirty="0"/>
              <a:t> </a:t>
            </a:r>
            <a:r>
              <a:rPr dirty="0" err="1"/>
              <a:t>설계합니다</a:t>
            </a:r>
            <a:r>
              <a:rPr dirty="0"/>
              <a:t>.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단계에서</a:t>
            </a:r>
            <a:r>
              <a:rPr dirty="0"/>
              <a:t> </a:t>
            </a:r>
            <a:r>
              <a:rPr dirty="0" err="1"/>
              <a:t>이루어지는</a:t>
            </a:r>
            <a:r>
              <a:rPr dirty="0"/>
              <a:t> </a:t>
            </a:r>
            <a:r>
              <a:rPr dirty="0" err="1"/>
              <a:t>작업이죠</a:t>
            </a:r>
            <a:r>
              <a:rPr dirty="0"/>
              <a:t>.</a:t>
            </a:r>
          </a:p>
          <a:p>
            <a:r>
              <a:rPr dirty="0"/>
              <a:t>3번, </a:t>
            </a:r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.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, </a:t>
            </a:r>
            <a:r>
              <a:rPr dirty="0" err="1"/>
              <a:t>접근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, </a:t>
            </a:r>
            <a:r>
              <a:rPr dirty="0" err="1"/>
              <a:t>인덱스를</a:t>
            </a:r>
            <a:r>
              <a:rPr dirty="0"/>
              <a:t> </a:t>
            </a:r>
            <a:r>
              <a:rPr dirty="0" err="1"/>
              <a:t>설계합니다</a:t>
            </a:r>
            <a:r>
              <a:rPr dirty="0"/>
              <a:t>.</a:t>
            </a:r>
          </a:p>
          <a:p>
            <a:r>
              <a:rPr dirty="0"/>
              <a:t>4번, </a:t>
            </a:r>
            <a:r>
              <a:rPr dirty="0" err="1"/>
              <a:t>무결성</a:t>
            </a:r>
            <a:r>
              <a:rPr dirty="0"/>
              <a:t> </a:t>
            </a:r>
            <a:r>
              <a:rPr dirty="0" err="1"/>
              <a:t>제약조건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. "</a:t>
            </a:r>
            <a:r>
              <a:rPr dirty="0" err="1"/>
              <a:t>학년은</a:t>
            </a:r>
            <a:r>
              <a:rPr dirty="0"/>
              <a:t> 1에서 4 </a:t>
            </a:r>
            <a:r>
              <a:rPr dirty="0" err="1"/>
              <a:t>사이</a:t>
            </a:r>
            <a:r>
              <a:rPr dirty="0"/>
              <a:t>", "</a:t>
            </a:r>
            <a:r>
              <a:rPr dirty="0" err="1"/>
              <a:t>학번</a:t>
            </a:r>
            <a:r>
              <a:rPr dirty="0"/>
              <a:t>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불가</a:t>
            </a:r>
            <a:r>
              <a:rPr dirty="0"/>
              <a:t>"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규칙을</a:t>
            </a:r>
            <a:r>
              <a:rPr dirty="0"/>
              <a:t> </a:t>
            </a:r>
            <a:r>
              <a:rPr dirty="0" err="1"/>
              <a:t>설정합니다</a:t>
            </a:r>
            <a:r>
              <a:rPr dirty="0"/>
              <a:t>.</a:t>
            </a:r>
          </a:p>
          <a:p>
            <a:r>
              <a:rPr dirty="0"/>
              <a:t>5번, </a:t>
            </a:r>
            <a:r>
              <a:rPr dirty="0" err="1"/>
              <a:t>보안·접근</a:t>
            </a:r>
            <a:r>
              <a:rPr dirty="0"/>
              <a:t> </a:t>
            </a:r>
            <a:r>
              <a:rPr dirty="0" err="1"/>
              <a:t>권한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. </a:t>
            </a:r>
            <a:r>
              <a:rPr dirty="0" err="1"/>
              <a:t>사용자별</a:t>
            </a:r>
            <a:r>
              <a:rPr dirty="0"/>
              <a:t> </a:t>
            </a:r>
            <a:r>
              <a:rPr dirty="0" err="1"/>
              <a:t>접근</a:t>
            </a:r>
            <a:r>
              <a:rPr dirty="0"/>
              <a:t> </a:t>
            </a:r>
            <a:r>
              <a:rPr dirty="0" err="1"/>
              <a:t>권한을</a:t>
            </a:r>
            <a:r>
              <a:rPr dirty="0"/>
              <a:t> </a:t>
            </a:r>
            <a:r>
              <a:rPr dirty="0" err="1"/>
              <a:t>수립합니다</a:t>
            </a:r>
            <a:r>
              <a:rPr dirty="0"/>
              <a:t>.</a:t>
            </a:r>
          </a:p>
          <a:p>
            <a:r>
              <a:rPr dirty="0"/>
              <a:t>6번, </a:t>
            </a:r>
            <a:r>
              <a:rPr dirty="0" err="1"/>
              <a:t>백업·회복</a:t>
            </a:r>
            <a:r>
              <a:rPr dirty="0"/>
              <a:t> </a:t>
            </a:r>
            <a:r>
              <a:rPr dirty="0" err="1"/>
              <a:t>기법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. </a:t>
            </a:r>
            <a:r>
              <a:rPr dirty="0" err="1"/>
              <a:t>장애에</a:t>
            </a:r>
            <a:r>
              <a:rPr dirty="0"/>
              <a:t> </a:t>
            </a:r>
            <a:r>
              <a:rPr dirty="0" err="1"/>
              <a:t>대비한</a:t>
            </a:r>
            <a:r>
              <a:rPr dirty="0"/>
              <a:t> </a:t>
            </a:r>
            <a:r>
              <a:rPr dirty="0" err="1"/>
              <a:t>백업</a:t>
            </a:r>
            <a:r>
              <a:rPr dirty="0"/>
              <a:t> </a:t>
            </a:r>
            <a:r>
              <a:rPr dirty="0" err="1"/>
              <a:t>정책과</a:t>
            </a:r>
            <a:r>
              <a:rPr dirty="0"/>
              <a:t> </a:t>
            </a:r>
            <a:r>
              <a:rPr dirty="0" err="1"/>
              <a:t>복구</a:t>
            </a:r>
            <a:r>
              <a:rPr dirty="0"/>
              <a:t> </a:t>
            </a:r>
            <a:r>
              <a:rPr dirty="0" err="1"/>
              <a:t>매뉴얼을</a:t>
            </a:r>
            <a:r>
              <a:rPr dirty="0"/>
              <a:t> </a:t>
            </a:r>
            <a:r>
              <a:rPr dirty="0" err="1"/>
              <a:t>작성합니다</a:t>
            </a:r>
            <a:r>
              <a:rPr dirty="0"/>
              <a:t>.</a:t>
            </a:r>
          </a:p>
          <a:p>
            <a:r>
              <a:rPr dirty="0"/>
              <a:t>7번, </a:t>
            </a:r>
            <a:r>
              <a:rPr dirty="0" err="1"/>
              <a:t>시스템</a:t>
            </a:r>
            <a:r>
              <a:rPr dirty="0"/>
              <a:t> DB </a:t>
            </a:r>
            <a:r>
              <a:rPr dirty="0" err="1"/>
              <a:t>관리</a:t>
            </a:r>
            <a:r>
              <a:rPr dirty="0"/>
              <a:t> 및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감시</a:t>
            </a:r>
            <a:r>
              <a:rPr dirty="0"/>
              <a:t>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사전을</a:t>
            </a:r>
            <a:r>
              <a:rPr dirty="0"/>
              <a:t> </a:t>
            </a:r>
            <a:r>
              <a:rPr dirty="0" err="1"/>
              <a:t>관리하고</a:t>
            </a:r>
            <a:r>
              <a:rPr dirty="0"/>
              <a:t> </a:t>
            </a:r>
            <a:r>
              <a:rPr dirty="0" err="1"/>
              <a:t>병목을</a:t>
            </a:r>
            <a:r>
              <a:rPr dirty="0"/>
              <a:t> </a:t>
            </a:r>
            <a:r>
              <a:rPr dirty="0" err="1"/>
              <a:t>분석합니다</a:t>
            </a:r>
            <a:r>
              <a:rPr dirty="0"/>
              <a:t>.</a:t>
            </a:r>
          </a:p>
          <a:p>
            <a:r>
              <a:rPr dirty="0"/>
              <a:t>8번, DB </a:t>
            </a:r>
            <a:r>
              <a:rPr dirty="0" err="1"/>
              <a:t>재구성</a:t>
            </a:r>
            <a:r>
              <a:rPr dirty="0"/>
              <a:t>. </a:t>
            </a:r>
            <a:r>
              <a:rPr dirty="0" err="1"/>
              <a:t>요구사항이나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시 </a:t>
            </a:r>
            <a:r>
              <a:rPr dirty="0" err="1"/>
              <a:t>스키마를</a:t>
            </a:r>
            <a:r>
              <a:rPr dirty="0"/>
              <a:t> </a:t>
            </a:r>
            <a:r>
              <a:rPr dirty="0" err="1"/>
              <a:t>수정합니다</a:t>
            </a:r>
            <a:r>
              <a:rPr dirty="0"/>
              <a:t>.</a:t>
            </a:r>
          </a:p>
          <a:p>
            <a:r>
              <a:rPr dirty="0" err="1"/>
              <a:t>시험에서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이상</a:t>
            </a:r>
            <a:r>
              <a:rPr dirty="0"/>
              <a:t> 쓸 수 </a:t>
            </a:r>
            <a:r>
              <a:rPr dirty="0" err="1"/>
              <a:t>있도록</a:t>
            </a:r>
            <a:r>
              <a:rPr dirty="0"/>
              <a:t> </a:t>
            </a:r>
            <a:r>
              <a:rPr dirty="0" err="1"/>
              <a:t>준비해두세요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네 번째 섹션, 데이터 언어입니다.</a:t>
            </a:r>
          </a:p>
          <a:p>
            <a:endParaRPr/>
          </a:p>
          <a:p>
            <a:r>
              <a:t>2장에서 간단히 소개한 DDL, DML, DCL을 좀 더 깊이 다루고, 절차적 DML과 비절차적 DML의 차이를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언어는</a:t>
            </a:r>
            <a:r>
              <a:rPr dirty="0"/>
              <a:t> </a:t>
            </a:r>
            <a:r>
              <a:rPr dirty="0" err="1"/>
              <a:t>사용자와</a:t>
            </a:r>
            <a:r>
              <a:rPr dirty="0"/>
              <a:t> DBMS </a:t>
            </a:r>
            <a:r>
              <a:rPr dirty="0" err="1"/>
              <a:t>간의</a:t>
            </a:r>
            <a:r>
              <a:rPr dirty="0"/>
              <a:t> </a:t>
            </a:r>
            <a:r>
              <a:rPr dirty="0" err="1"/>
              <a:t>통신</a:t>
            </a:r>
            <a:r>
              <a:rPr dirty="0"/>
              <a:t> </a:t>
            </a:r>
            <a:r>
              <a:rPr dirty="0" err="1"/>
              <a:t>수단이며</a:t>
            </a:r>
            <a:r>
              <a:rPr dirty="0"/>
              <a:t>, </a:t>
            </a:r>
            <a:r>
              <a:rPr dirty="0" err="1"/>
              <a:t>정의어</a:t>
            </a:r>
            <a:r>
              <a:rPr dirty="0"/>
              <a:t>, </a:t>
            </a:r>
            <a:r>
              <a:rPr dirty="0" err="1"/>
              <a:t>조작어</a:t>
            </a:r>
            <a:r>
              <a:rPr dirty="0"/>
              <a:t>, </a:t>
            </a:r>
            <a:r>
              <a:rPr dirty="0" err="1"/>
              <a:t>제어어로</a:t>
            </a:r>
            <a:r>
              <a:rPr dirty="0"/>
              <a:t> </a:t>
            </a:r>
            <a:r>
              <a:rPr dirty="0" err="1"/>
              <a:t>구분됩니다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DDL,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정의어는</a:t>
            </a:r>
            <a:r>
              <a:rPr dirty="0"/>
              <a:t> </a:t>
            </a:r>
            <a:r>
              <a:rPr dirty="0" err="1"/>
              <a:t>스키마를</a:t>
            </a:r>
            <a:r>
              <a:rPr dirty="0"/>
              <a:t> </a:t>
            </a:r>
            <a:r>
              <a:rPr dirty="0" err="1"/>
              <a:t>정의·수정·삭제하는</a:t>
            </a:r>
            <a:r>
              <a:rPr dirty="0"/>
              <a:t> </a:t>
            </a:r>
            <a:r>
              <a:rPr dirty="0" err="1"/>
              <a:t>언어입니다</a:t>
            </a:r>
            <a:r>
              <a:rPr dirty="0"/>
              <a:t>. CREATE, ALTER, </a:t>
            </a:r>
            <a:r>
              <a:rPr dirty="0" err="1"/>
              <a:t>DROP이</a:t>
            </a:r>
            <a:r>
              <a:rPr dirty="0"/>
              <a:t>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명령어이고</a:t>
            </a:r>
            <a:r>
              <a:rPr dirty="0"/>
              <a:t>, 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내용은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사전에</a:t>
            </a:r>
            <a:r>
              <a:rPr dirty="0"/>
              <a:t> </a:t>
            </a:r>
            <a:r>
              <a:rPr dirty="0" err="1"/>
              <a:t>반영됩니다</a:t>
            </a:r>
            <a:r>
              <a:rPr dirty="0"/>
              <a:t>.</a:t>
            </a:r>
          </a:p>
          <a:p>
            <a:r>
              <a:rPr dirty="0"/>
              <a:t>DML,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조작어는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삽입·삭제·수정·검색을</a:t>
            </a:r>
            <a:r>
              <a:rPr dirty="0"/>
              <a:t>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언어입니다</a:t>
            </a:r>
            <a:r>
              <a:rPr dirty="0"/>
              <a:t>. SELECT, INSERT, UPDATE, </a:t>
            </a:r>
            <a:r>
              <a:rPr dirty="0" err="1"/>
              <a:t>DELETE가</a:t>
            </a:r>
            <a:r>
              <a:rPr dirty="0"/>
              <a:t>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명령어입니다</a:t>
            </a:r>
            <a:r>
              <a:rPr dirty="0"/>
              <a:t>. </a:t>
            </a:r>
            <a:r>
              <a:rPr dirty="0" err="1"/>
              <a:t>절차적</a:t>
            </a:r>
            <a:r>
              <a:rPr dirty="0"/>
              <a:t> </a:t>
            </a:r>
            <a:r>
              <a:rPr dirty="0" err="1"/>
              <a:t>DML과</a:t>
            </a:r>
            <a:r>
              <a:rPr dirty="0"/>
              <a:t> </a:t>
            </a:r>
            <a:r>
              <a:rPr dirty="0" err="1"/>
              <a:t>비절차적</a:t>
            </a:r>
            <a:r>
              <a:rPr dirty="0"/>
              <a:t> </a:t>
            </a:r>
            <a:r>
              <a:rPr dirty="0" err="1"/>
              <a:t>DML이</a:t>
            </a:r>
            <a:r>
              <a:rPr dirty="0"/>
              <a:t> </a:t>
            </a:r>
            <a:r>
              <a:rPr dirty="0" err="1"/>
              <a:t>있으며</a:t>
            </a:r>
            <a:r>
              <a:rPr dirty="0"/>
              <a:t>, </a:t>
            </a:r>
            <a:r>
              <a:rPr dirty="0" err="1"/>
              <a:t>SQL이</a:t>
            </a:r>
            <a:r>
              <a:rPr dirty="0"/>
              <a:t> </a:t>
            </a:r>
            <a:r>
              <a:rPr dirty="0" err="1"/>
              <a:t>비절차적</a:t>
            </a:r>
            <a:r>
              <a:rPr dirty="0"/>
              <a:t> </a:t>
            </a:r>
            <a:r>
              <a:rPr dirty="0" err="1"/>
              <a:t>DML의</a:t>
            </a:r>
            <a:r>
              <a:rPr dirty="0"/>
              <a:t> </a:t>
            </a:r>
            <a:r>
              <a:rPr dirty="0" err="1"/>
              <a:t>대표입니다</a:t>
            </a:r>
            <a:r>
              <a:rPr dirty="0"/>
              <a:t>.</a:t>
            </a:r>
          </a:p>
          <a:p>
            <a:r>
              <a:rPr dirty="0"/>
              <a:t>DCL,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제어어는</a:t>
            </a:r>
            <a:r>
              <a:rPr dirty="0"/>
              <a:t> </a:t>
            </a:r>
            <a:r>
              <a:rPr dirty="0" err="1"/>
              <a:t>무결성</a:t>
            </a:r>
            <a:r>
              <a:rPr dirty="0"/>
              <a:t> </a:t>
            </a:r>
            <a:r>
              <a:rPr dirty="0" err="1"/>
              <a:t>유지·보안·회복·동시성</a:t>
            </a:r>
            <a:r>
              <a:rPr dirty="0"/>
              <a:t> </a:t>
            </a:r>
            <a:r>
              <a:rPr dirty="0" err="1"/>
              <a:t>제어를</a:t>
            </a:r>
            <a:r>
              <a:rPr dirty="0"/>
              <a:t>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언어입니다</a:t>
            </a:r>
            <a:r>
              <a:rPr dirty="0"/>
              <a:t>. GRANT, REVOKE, COMMIT, </a:t>
            </a:r>
            <a:r>
              <a:rPr dirty="0" err="1"/>
              <a:t>ROLLBACK이</a:t>
            </a:r>
            <a:r>
              <a:rPr dirty="0"/>
              <a:t>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명령어입니다</a:t>
            </a:r>
            <a:r>
              <a:rPr dirty="0"/>
              <a:t>.</a:t>
            </a:r>
          </a:p>
          <a:p>
            <a:r>
              <a:rPr dirty="0" err="1"/>
              <a:t>DDL은</a:t>
            </a:r>
            <a:r>
              <a:rPr dirty="0"/>
              <a:t> </a:t>
            </a:r>
            <a:r>
              <a:rPr dirty="0" err="1"/>
              <a:t>그릇을</a:t>
            </a:r>
            <a:r>
              <a:rPr dirty="0"/>
              <a:t> </a:t>
            </a:r>
            <a:r>
              <a:rPr dirty="0" err="1"/>
              <a:t>만드는</a:t>
            </a:r>
            <a:r>
              <a:rPr dirty="0"/>
              <a:t> </a:t>
            </a:r>
            <a:r>
              <a:rPr dirty="0" err="1"/>
              <a:t>언어</a:t>
            </a:r>
            <a:r>
              <a:rPr dirty="0"/>
              <a:t>, </a:t>
            </a:r>
            <a:r>
              <a:rPr dirty="0" err="1"/>
              <a:t>DML은</a:t>
            </a:r>
            <a:r>
              <a:rPr dirty="0"/>
              <a:t> </a:t>
            </a:r>
            <a:r>
              <a:rPr dirty="0" err="1"/>
              <a:t>그릇에</a:t>
            </a:r>
            <a:r>
              <a:rPr dirty="0"/>
              <a:t> </a:t>
            </a:r>
            <a:r>
              <a:rPr dirty="0" err="1"/>
              <a:t>음식을</a:t>
            </a:r>
            <a:r>
              <a:rPr dirty="0"/>
              <a:t> </a:t>
            </a:r>
            <a:r>
              <a:rPr dirty="0" err="1"/>
              <a:t>넣고</a:t>
            </a:r>
            <a:r>
              <a:rPr dirty="0"/>
              <a:t> </a:t>
            </a:r>
            <a:r>
              <a:rPr dirty="0" err="1"/>
              <a:t>빼는</a:t>
            </a:r>
            <a:r>
              <a:rPr dirty="0"/>
              <a:t> </a:t>
            </a:r>
            <a:r>
              <a:rPr dirty="0" err="1"/>
              <a:t>언어</a:t>
            </a:r>
            <a:r>
              <a:rPr dirty="0"/>
              <a:t>, </a:t>
            </a:r>
            <a:r>
              <a:rPr dirty="0" err="1"/>
              <a:t>DCL은</a:t>
            </a:r>
            <a:r>
              <a:rPr dirty="0"/>
              <a:t> </a:t>
            </a:r>
            <a:r>
              <a:rPr dirty="0" err="1"/>
              <a:t>안전하게</a:t>
            </a:r>
            <a:r>
              <a:rPr dirty="0"/>
              <a:t> </a:t>
            </a:r>
            <a:r>
              <a:rPr dirty="0" err="1"/>
              <a:t>지키는</a:t>
            </a:r>
            <a:r>
              <a:rPr dirty="0"/>
              <a:t> </a:t>
            </a:r>
            <a:r>
              <a:rPr dirty="0" err="1"/>
              <a:t>언어</a:t>
            </a:r>
            <a:r>
              <a:rPr dirty="0"/>
              <a:t>. DDL + DML + DCL = </a:t>
            </a:r>
            <a:r>
              <a:rPr dirty="0" err="1"/>
              <a:t>SQL입니다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DML에는</a:t>
            </a:r>
            <a:r>
              <a:rPr dirty="0"/>
              <a:t> </a:t>
            </a:r>
            <a:r>
              <a:rPr dirty="0" err="1"/>
              <a:t>절차적</a:t>
            </a:r>
            <a:r>
              <a:rPr dirty="0"/>
              <a:t> </a:t>
            </a:r>
            <a:r>
              <a:rPr dirty="0" err="1"/>
              <a:t>DML과</a:t>
            </a:r>
            <a:r>
              <a:rPr dirty="0"/>
              <a:t> </a:t>
            </a:r>
            <a:r>
              <a:rPr dirty="0" err="1"/>
              <a:t>비절차적</a:t>
            </a:r>
            <a:r>
              <a:rPr dirty="0"/>
              <a:t> DML 두 </a:t>
            </a:r>
            <a:r>
              <a:rPr dirty="0" err="1"/>
              <a:t>가지가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절차적</a:t>
            </a:r>
            <a:r>
              <a:rPr dirty="0"/>
              <a:t> </a:t>
            </a:r>
            <a:r>
              <a:rPr dirty="0" err="1"/>
              <a:t>DML은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원하고</a:t>
            </a:r>
            <a:r>
              <a:rPr dirty="0"/>
              <a:t>,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처리해야</a:t>
            </a:r>
            <a:r>
              <a:rPr dirty="0"/>
              <a:t> </a:t>
            </a:r>
            <a:r>
              <a:rPr dirty="0" err="1"/>
              <a:t>하는지를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기술합니다</a:t>
            </a:r>
            <a:r>
              <a:rPr dirty="0"/>
              <a:t>. SQL </a:t>
            </a:r>
            <a:r>
              <a:rPr dirty="0" err="1"/>
              <a:t>문을</a:t>
            </a:r>
            <a:r>
              <a:rPr dirty="0"/>
              <a:t> </a:t>
            </a:r>
            <a:r>
              <a:rPr dirty="0" err="1"/>
              <a:t>프로그래밍</a:t>
            </a:r>
            <a:r>
              <a:rPr dirty="0"/>
              <a:t> </a:t>
            </a:r>
            <a:r>
              <a:rPr dirty="0" err="1"/>
              <a:t>언어에</a:t>
            </a:r>
            <a:r>
              <a:rPr dirty="0"/>
              <a:t> </a:t>
            </a:r>
            <a:r>
              <a:rPr dirty="0" err="1"/>
              <a:t>삽입하여</a:t>
            </a:r>
            <a:r>
              <a:rPr dirty="0"/>
              <a:t> </a:t>
            </a:r>
            <a:r>
              <a:rPr dirty="0" err="1"/>
              <a:t>사용하는</a:t>
            </a:r>
            <a:r>
              <a:rPr dirty="0"/>
              <a:t> Embedded </a:t>
            </a:r>
            <a:r>
              <a:rPr dirty="0" err="1"/>
              <a:t>SQL이</a:t>
            </a:r>
            <a:r>
              <a:rPr dirty="0"/>
              <a:t> </a:t>
            </a:r>
            <a:r>
              <a:rPr dirty="0" err="1"/>
              <a:t>대표적입니다</a:t>
            </a:r>
            <a:r>
              <a:rPr dirty="0"/>
              <a:t>. </a:t>
            </a:r>
            <a:r>
              <a:rPr dirty="0" err="1"/>
              <a:t>주로</a:t>
            </a:r>
            <a:r>
              <a:rPr dirty="0"/>
              <a:t>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프로그래머가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</a:t>
            </a:r>
          </a:p>
          <a:p>
            <a:r>
              <a:rPr dirty="0" err="1"/>
              <a:t>비절차적</a:t>
            </a:r>
            <a:r>
              <a:rPr dirty="0"/>
              <a:t> </a:t>
            </a:r>
            <a:r>
              <a:rPr dirty="0" err="1"/>
              <a:t>DML은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원하는지만</a:t>
            </a:r>
            <a:r>
              <a:rPr dirty="0"/>
              <a:t> </a:t>
            </a:r>
            <a:r>
              <a:rPr dirty="0" err="1"/>
              <a:t>기술하면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방법은</a:t>
            </a:r>
            <a:r>
              <a:rPr dirty="0"/>
              <a:t> </a:t>
            </a:r>
            <a:r>
              <a:rPr dirty="0" err="1"/>
              <a:t>DBMS가</a:t>
            </a:r>
            <a:r>
              <a:rPr dirty="0"/>
              <a:t> </a:t>
            </a:r>
            <a:r>
              <a:rPr dirty="0" err="1"/>
              <a:t>결정합니다</a:t>
            </a:r>
            <a:r>
              <a:rPr dirty="0"/>
              <a:t>. </a:t>
            </a:r>
            <a:r>
              <a:rPr dirty="0" err="1"/>
              <a:t>SQL이</a:t>
            </a:r>
            <a:r>
              <a:rPr dirty="0"/>
              <a:t> </a:t>
            </a:r>
            <a:r>
              <a:rPr dirty="0" err="1"/>
              <a:t>대표적인</a:t>
            </a:r>
            <a:r>
              <a:rPr dirty="0"/>
              <a:t> </a:t>
            </a:r>
            <a:r>
              <a:rPr dirty="0" err="1"/>
              <a:t>비절차적</a:t>
            </a:r>
            <a:r>
              <a:rPr dirty="0"/>
              <a:t> </a:t>
            </a:r>
            <a:r>
              <a:rPr dirty="0" err="1"/>
              <a:t>DML입니다</a:t>
            </a:r>
            <a:r>
              <a:rPr dirty="0"/>
              <a:t>. SELECT </a:t>
            </a:r>
            <a:r>
              <a:rPr dirty="0" err="1"/>
              <a:t>이름</a:t>
            </a:r>
            <a:r>
              <a:rPr dirty="0"/>
              <a:t> FROM </a:t>
            </a:r>
            <a:r>
              <a:rPr dirty="0" err="1"/>
              <a:t>고객</a:t>
            </a:r>
            <a:r>
              <a:rPr dirty="0"/>
              <a:t> WHERE </a:t>
            </a:r>
            <a:r>
              <a:rPr dirty="0" err="1"/>
              <a:t>등급</a:t>
            </a:r>
            <a:r>
              <a:rPr dirty="0"/>
              <a:t>='VIP', 이 한 </a:t>
            </a:r>
            <a:r>
              <a:rPr dirty="0" err="1"/>
              <a:t>줄이면</a:t>
            </a:r>
            <a:r>
              <a:rPr dirty="0"/>
              <a:t> </a:t>
            </a:r>
            <a:r>
              <a:rPr dirty="0" err="1"/>
              <a:t>끝이에요</a:t>
            </a:r>
            <a:r>
              <a:rPr dirty="0"/>
              <a:t>.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사용자도</a:t>
            </a:r>
            <a:r>
              <a:rPr dirty="0"/>
              <a:t> </a:t>
            </a:r>
            <a:r>
              <a:rPr dirty="0" err="1"/>
              <a:t>사용할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/>
              <a:t>한 줄 </a:t>
            </a:r>
            <a:r>
              <a:rPr dirty="0" err="1"/>
              <a:t>요약</a:t>
            </a:r>
            <a:r>
              <a:rPr dirty="0"/>
              <a:t>: </a:t>
            </a:r>
            <a:r>
              <a:rPr dirty="0" err="1"/>
              <a:t>절차적은</a:t>
            </a:r>
            <a:r>
              <a:rPr dirty="0"/>
              <a:t> </a:t>
            </a:r>
            <a:r>
              <a:rPr dirty="0" err="1"/>
              <a:t>How+What</a:t>
            </a:r>
            <a:r>
              <a:rPr dirty="0"/>
              <a:t>, </a:t>
            </a:r>
            <a:r>
              <a:rPr dirty="0" err="1"/>
              <a:t>비절차적은</a:t>
            </a:r>
            <a:r>
              <a:rPr dirty="0"/>
              <a:t> </a:t>
            </a:r>
            <a:r>
              <a:rPr dirty="0" err="1"/>
              <a:t>What만</a:t>
            </a:r>
            <a:r>
              <a:rPr dirty="0"/>
              <a:t>.</a:t>
            </a:r>
          </a:p>
          <a:p>
            <a:r>
              <a:rPr dirty="0" err="1"/>
              <a:t>여기까지가</a:t>
            </a:r>
            <a:r>
              <a:rPr dirty="0"/>
              <a:t> 2교시입니다.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있으신</a:t>
            </a:r>
            <a:r>
              <a:rPr dirty="0"/>
              <a:t> 분? </a:t>
            </a:r>
            <a:r>
              <a:rPr dirty="0" err="1"/>
              <a:t>없으시면</a:t>
            </a:r>
            <a:r>
              <a:rPr dirty="0"/>
              <a:t> 10분 </a:t>
            </a:r>
            <a:r>
              <a:rPr dirty="0" err="1"/>
              <a:t>쉬겠습니다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3교시입니다. 마지막 섹션, DBMS의 구성입니다.</a:t>
            </a:r>
          </a:p>
          <a:p>
            <a:endParaRPr/>
          </a:p>
          <a:p>
            <a:r>
              <a:t>DBMS 소프트웨어의 내부 구조를 살펴봅니다. 사용자의 요청이 어떤 과정을 거쳐 처리되는지를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슬라이드에 교재의 DBMS 구성 그림이 나와 있습니다. 이 그림이 매우 중요하니까 같이 하나하나 읽어보겠습니다.</a:t>
            </a:r>
          </a:p>
          <a:p>
            <a:r>
              <a:rPr lang="ko-KR" altLang="en-US" sz="1200" dirty="0"/>
              <a:t>맨 위에 세 가지 사용자 유형이 있습니다. 왼쪽의 데이터베이스 관리자는 데이터 정의어, 즉 DDL을 사용합니다. 가운데의 최종 사용자는 데이터 조작어, 즉 DML을 사용합니다. 오른쪽의 응용 프로그래머는 응용 프로그램을 통해 접근합니다.</a:t>
            </a:r>
          </a:p>
          <a:p>
            <a:r>
              <a:rPr lang="ko-KR" altLang="en-US" sz="1200" dirty="0"/>
              <a:t>점선 박스가 질의 처리기 영역입니다. DDL 컴파일러는 관리자의 DDL 명령을 처리합니다. DML 컴파일러는 최종 사용자의 DML 명령을 처리합니다. DML 프리 컴파일러는 응용 프로그램에서 SQL 부분을 추출하여 DML 컴파일러에게 전달합니다.</a:t>
            </a:r>
          </a:p>
          <a:p>
            <a:r>
              <a:rPr lang="ko-KR" altLang="en-US" sz="1200" dirty="0"/>
              <a:t>DML 컴파일러 아래에 런타임 데이터베이스 처리기가 있습니다. 실제로 DB에 접근하여 명령을 실행하는 모듈입니다. 옆에 트랜잭션 관리자가 있어서 접근 권한, 무결성, 회복, 동시성을 관리합니다.</a:t>
            </a:r>
          </a:p>
          <a:p>
            <a:r>
              <a:rPr lang="ko-KR" altLang="en-US" sz="1200" dirty="0"/>
              <a:t>그 아래에 저장 데이터 관리자가 있고, 맨 아래에 데이터 사전과 데이터베이스 두 개의 원통형 아이콘이 있습니다.</a:t>
            </a:r>
          </a:p>
          <a:p>
            <a:r>
              <a:rPr lang="ko-KR" altLang="en-US" sz="1200" dirty="0"/>
              <a:t>사용자 요청 처리 흐름은 사용자가 SQL을 입력하면, 질의 처리기가 해석하고, 런타임 처리기가 실행하고, 저장 데이터 관리자가 디스크에서 데이터를 읽어와서 결과를 반환합니다.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이제</a:t>
            </a:r>
            <a:r>
              <a:rPr dirty="0"/>
              <a:t> </a:t>
            </a:r>
            <a:r>
              <a:rPr dirty="0" err="1"/>
              <a:t>방금</a:t>
            </a:r>
            <a:r>
              <a:rPr dirty="0"/>
              <a:t> 본 </a:t>
            </a:r>
            <a:r>
              <a:rPr dirty="0" err="1"/>
              <a:t>교재</a:t>
            </a:r>
            <a:r>
              <a:rPr dirty="0"/>
              <a:t> </a:t>
            </a:r>
            <a:r>
              <a:rPr dirty="0" err="1"/>
              <a:t>그림을</a:t>
            </a:r>
            <a:r>
              <a:rPr dirty="0"/>
              <a:t> 좀 더 </a:t>
            </a:r>
            <a:r>
              <a:rPr dirty="0" err="1"/>
              <a:t>체계적으로</a:t>
            </a:r>
            <a:r>
              <a:rPr dirty="0"/>
              <a:t> </a:t>
            </a:r>
            <a:r>
              <a:rPr dirty="0" err="1"/>
              <a:t>정리한</a:t>
            </a:r>
            <a:r>
              <a:rPr dirty="0"/>
              <a:t> </a:t>
            </a:r>
            <a:r>
              <a:rPr dirty="0" err="1"/>
              <a:t>슬라이드입니다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DBMS는</a:t>
            </a:r>
            <a:r>
              <a:rPr dirty="0"/>
              <a:t> </a:t>
            </a:r>
            <a:r>
              <a:rPr dirty="0" err="1"/>
              <a:t>질의</a:t>
            </a:r>
            <a:r>
              <a:rPr dirty="0"/>
              <a:t> </a:t>
            </a:r>
            <a:r>
              <a:rPr dirty="0" err="1"/>
              <a:t>처리기와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, 이 두 </a:t>
            </a:r>
            <a:r>
              <a:rPr dirty="0" err="1"/>
              <a:t>가지로</a:t>
            </a:r>
            <a:r>
              <a:rPr dirty="0"/>
              <a:t> </a:t>
            </a:r>
            <a:r>
              <a:rPr dirty="0" err="1"/>
              <a:t>구성됩니다</a:t>
            </a:r>
            <a:r>
              <a:rPr dirty="0"/>
              <a:t>.</a:t>
            </a:r>
          </a:p>
          <a:p>
            <a:r>
              <a:rPr dirty="0" err="1"/>
              <a:t>질의</a:t>
            </a:r>
            <a:r>
              <a:rPr dirty="0"/>
              <a:t> </a:t>
            </a:r>
            <a:r>
              <a:rPr dirty="0" err="1"/>
              <a:t>처리기에는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DDL </a:t>
            </a:r>
            <a:r>
              <a:rPr dirty="0" err="1"/>
              <a:t>컴파일러</a:t>
            </a:r>
            <a:r>
              <a:rPr dirty="0"/>
              <a:t>, DML </a:t>
            </a:r>
            <a:r>
              <a:rPr dirty="0" err="1"/>
              <a:t>프리컴파일러</a:t>
            </a:r>
            <a:r>
              <a:rPr dirty="0"/>
              <a:t>, DML </a:t>
            </a:r>
            <a:r>
              <a:rPr dirty="0" err="1"/>
              <a:t>컴파일러</a:t>
            </a:r>
            <a:r>
              <a:rPr dirty="0"/>
              <a:t>, </a:t>
            </a:r>
            <a:r>
              <a:rPr dirty="0" err="1"/>
              <a:t>런타임</a:t>
            </a:r>
            <a:r>
              <a:rPr dirty="0"/>
              <a:t> DB </a:t>
            </a:r>
            <a:r>
              <a:rPr dirty="0" err="1"/>
              <a:t>처리기</a:t>
            </a:r>
            <a:r>
              <a:rPr dirty="0"/>
              <a:t>, </a:t>
            </a:r>
            <a:r>
              <a:rPr dirty="0" err="1"/>
              <a:t>트랜잭션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. </a:t>
            </a:r>
            <a:r>
              <a:rPr dirty="0" err="1"/>
              <a:t>각각의</a:t>
            </a:r>
            <a:r>
              <a:rPr dirty="0"/>
              <a:t> </a:t>
            </a:r>
            <a:r>
              <a:rPr dirty="0" err="1"/>
              <a:t>역할은</a:t>
            </a:r>
            <a:r>
              <a:rPr dirty="0"/>
              <a:t> </a:t>
            </a:r>
            <a:r>
              <a:rPr dirty="0" err="1"/>
              <a:t>슬라이드에</a:t>
            </a:r>
            <a:r>
              <a:rPr dirty="0"/>
              <a:t> </a:t>
            </a:r>
            <a:r>
              <a:rPr dirty="0" err="1"/>
              <a:t>정리되어</a:t>
            </a:r>
            <a:r>
              <a:rPr dirty="0"/>
              <a:t> </a:t>
            </a:r>
            <a:r>
              <a:rPr dirty="0" err="1"/>
              <a:t>있으니</a:t>
            </a:r>
            <a:r>
              <a:rPr dirty="0"/>
              <a:t> </a:t>
            </a:r>
            <a:r>
              <a:rPr dirty="0" err="1"/>
              <a:t>확인해주세요</a:t>
            </a:r>
            <a:r>
              <a:rPr dirty="0"/>
              <a:t>.</a:t>
            </a:r>
          </a:p>
          <a:p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관리자는</a:t>
            </a:r>
            <a:r>
              <a:rPr dirty="0"/>
              <a:t> </a:t>
            </a:r>
            <a:r>
              <a:rPr dirty="0" err="1"/>
              <a:t>디스크에</a:t>
            </a:r>
            <a:r>
              <a:rPr dirty="0"/>
              <a:t> </a:t>
            </a:r>
            <a:r>
              <a:rPr dirty="0" err="1"/>
              <a:t>저장된</a:t>
            </a:r>
            <a:r>
              <a:rPr dirty="0"/>
              <a:t> </a:t>
            </a:r>
            <a:r>
              <a:rPr dirty="0" err="1"/>
              <a:t>DB와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사전을</a:t>
            </a:r>
            <a:r>
              <a:rPr dirty="0"/>
              <a:t> </a:t>
            </a:r>
            <a:r>
              <a:rPr dirty="0" err="1"/>
              <a:t>관리하고</a:t>
            </a:r>
            <a:r>
              <a:rPr dirty="0"/>
              <a:t>, </a:t>
            </a:r>
            <a:r>
              <a:rPr dirty="0" err="1"/>
              <a:t>DB에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접근을</a:t>
            </a:r>
            <a:r>
              <a:rPr dirty="0"/>
              <a:t> </a:t>
            </a:r>
            <a:r>
              <a:rPr dirty="0" err="1"/>
              <a:t>담당하는</a:t>
            </a:r>
            <a:r>
              <a:rPr dirty="0"/>
              <a:t> </a:t>
            </a:r>
            <a:r>
              <a:rPr dirty="0" err="1"/>
              <a:t>운영체제</a:t>
            </a:r>
            <a:r>
              <a:rPr dirty="0"/>
              <a:t> </a:t>
            </a:r>
            <a:r>
              <a:rPr dirty="0" err="1"/>
              <a:t>모듈입니다</a:t>
            </a:r>
            <a:r>
              <a:rPr dirty="0"/>
              <a:t>.</a:t>
            </a:r>
          </a:p>
          <a:p>
            <a:r>
              <a:rPr dirty="0" err="1"/>
              <a:t>시험에서</a:t>
            </a:r>
            <a:r>
              <a:rPr dirty="0"/>
              <a:t> "</a:t>
            </a:r>
            <a:r>
              <a:rPr dirty="0" err="1"/>
              <a:t>DBMS의</a:t>
            </a:r>
            <a:r>
              <a:rPr dirty="0"/>
              <a:t> </a:t>
            </a:r>
            <a:r>
              <a:rPr dirty="0" err="1"/>
              <a:t>구성을</a:t>
            </a:r>
            <a:r>
              <a:rPr dirty="0"/>
              <a:t> </a:t>
            </a:r>
            <a:r>
              <a:rPr dirty="0" err="1"/>
              <a:t>설명하시오"라는</a:t>
            </a:r>
            <a:r>
              <a:rPr dirty="0"/>
              <a:t> </a:t>
            </a:r>
            <a:r>
              <a:rPr dirty="0" err="1"/>
              <a:t>문제가</a:t>
            </a:r>
            <a:r>
              <a:rPr dirty="0"/>
              <a:t> </a:t>
            </a:r>
            <a:r>
              <a:rPr dirty="0" err="1"/>
              <a:t>나오면</a:t>
            </a:r>
            <a:r>
              <a:rPr dirty="0"/>
              <a:t>, </a:t>
            </a:r>
            <a:r>
              <a:rPr dirty="0" err="1"/>
              <a:t>질의</a:t>
            </a:r>
            <a:r>
              <a:rPr dirty="0"/>
              <a:t> </a:t>
            </a:r>
            <a:r>
              <a:rPr dirty="0" err="1"/>
              <a:t>처리기와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관리자를</a:t>
            </a:r>
            <a:r>
              <a:rPr dirty="0"/>
              <a:t> </a:t>
            </a:r>
            <a:r>
              <a:rPr dirty="0" err="1"/>
              <a:t>쓰고</a:t>
            </a:r>
            <a:r>
              <a:rPr dirty="0"/>
              <a:t>, </a:t>
            </a:r>
            <a:r>
              <a:rPr dirty="0" err="1"/>
              <a:t>질의</a:t>
            </a:r>
            <a:r>
              <a:rPr dirty="0"/>
              <a:t> </a:t>
            </a:r>
            <a:r>
              <a:rPr dirty="0" err="1"/>
              <a:t>처리기의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요소를</a:t>
            </a:r>
            <a:r>
              <a:rPr dirty="0"/>
              <a:t> </a:t>
            </a:r>
            <a:r>
              <a:rPr dirty="0" err="1"/>
              <a:t>나열하면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슬라이드에 3장 전체 내용을 하나의 그림으로 정리한 마인드맵이 나와 있습니다.</a:t>
            </a:r>
          </a:p>
          <a:p>
            <a:r>
              <a:rPr lang="ko-KR" altLang="en-US" sz="1200" dirty="0"/>
              <a:t>위쪽에 사용자(관리자, 최종 사용자, 프로그래머)와 데이터 언어(정의어, 조작어, 제어어)가 있습니다. 데이터 조작어 옆에 7장의 SQL이라고 표시되어 있는데, 7장에서 SQL을 본격적으로 배웁니다.</a:t>
            </a:r>
          </a:p>
          <a:p>
            <a:r>
              <a:rPr lang="ko-KR" altLang="en-US" sz="1200" dirty="0"/>
              <a:t>가운데에 데이터베이스 시스템이 있고, 아래로 두 갈래입니다. 왼쪽은 데이터베이스로, 1장의 기본 개념에 오늘 배운 3단계 구조가 추가됩니다. 오른쪽은 DBMS로, 2장의 기본 개념에 오늘 배운 질의 처리기와 저장 데이터 관리자가 추가됩니다.</a:t>
            </a:r>
          </a:p>
          <a:p>
            <a:r>
              <a:rPr lang="ko-KR" altLang="en-US" sz="1200" dirty="0"/>
              <a:t>이 그림이 1장부터 3장까지의 전체 관계를 보여줍니다. 전체 그림이 머릿속에 그려지시죠?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자, </a:t>
            </a:r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수업의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</a:t>
            </a:r>
            <a:r>
              <a:rPr dirty="0" err="1"/>
              <a:t>정리하겠습니다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섹션</a:t>
            </a:r>
            <a:r>
              <a:rPr dirty="0"/>
              <a:t> 1.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시스템은</a:t>
            </a:r>
            <a:r>
              <a:rPr dirty="0"/>
              <a:t> DB, DBMS, 사용자,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프로그램</a:t>
            </a:r>
            <a:r>
              <a:rPr dirty="0"/>
              <a:t>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</a:t>
            </a:r>
            <a:r>
              <a:rPr dirty="0"/>
              <a:t>, </a:t>
            </a:r>
            <a:r>
              <a:rPr dirty="0" err="1"/>
              <a:t>컴퓨터를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포함하는</a:t>
            </a:r>
            <a:r>
              <a:rPr dirty="0"/>
              <a:t> </a:t>
            </a:r>
            <a:r>
              <a:rPr dirty="0" err="1"/>
              <a:t>시스템입니다</a:t>
            </a:r>
            <a:r>
              <a:rPr dirty="0"/>
              <a:t>.</a:t>
            </a:r>
          </a:p>
          <a:p>
            <a:r>
              <a:rPr dirty="0" err="1"/>
              <a:t>섹션</a:t>
            </a:r>
            <a:r>
              <a:rPr dirty="0"/>
              <a:t> 2.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구조의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, </a:t>
            </a:r>
            <a:r>
              <a:rPr dirty="0" err="1"/>
              <a:t>인스턴스는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값. 3단계 </a:t>
            </a:r>
            <a:r>
              <a:rPr dirty="0" err="1"/>
              <a:t>구조는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, </a:t>
            </a:r>
            <a:r>
              <a:rPr dirty="0" err="1"/>
              <a:t>개념</a:t>
            </a:r>
            <a:r>
              <a:rPr dirty="0"/>
              <a:t>, </a:t>
            </a:r>
            <a:r>
              <a:rPr dirty="0" err="1"/>
              <a:t>내부</a:t>
            </a:r>
            <a:r>
              <a:rPr dirty="0"/>
              <a:t>.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개, </a:t>
            </a:r>
            <a:r>
              <a:rPr dirty="0" err="1"/>
              <a:t>개념과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스키마는</a:t>
            </a:r>
            <a:r>
              <a:rPr dirty="0"/>
              <a:t> </a:t>
            </a:r>
            <a:r>
              <a:rPr dirty="0" err="1"/>
              <a:t>각각</a:t>
            </a:r>
            <a:r>
              <a:rPr dirty="0"/>
              <a:t> 1개.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독립성은</a:t>
            </a:r>
            <a:r>
              <a:rPr dirty="0"/>
              <a:t> </a:t>
            </a:r>
            <a:r>
              <a:rPr dirty="0" err="1"/>
              <a:t>논리적과</a:t>
            </a:r>
            <a:r>
              <a:rPr dirty="0"/>
              <a:t> </a:t>
            </a:r>
            <a:r>
              <a:rPr dirty="0" err="1"/>
              <a:t>물리적</a:t>
            </a:r>
            <a:r>
              <a:rPr dirty="0"/>
              <a:t> 두 </a:t>
            </a:r>
            <a:r>
              <a:rPr dirty="0" err="1"/>
              <a:t>가지</a:t>
            </a:r>
            <a:r>
              <a:rPr dirty="0"/>
              <a:t>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사전은</a:t>
            </a:r>
            <a:r>
              <a:rPr dirty="0"/>
              <a:t> </a:t>
            </a:r>
            <a:r>
              <a:rPr dirty="0" err="1"/>
              <a:t>메타데이터를</a:t>
            </a:r>
            <a:r>
              <a:rPr dirty="0"/>
              <a:t> </a:t>
            </a:r>
            <a:r>
              <a:rPr dirty="0" err="1"/>
              <a:t>저장하는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DB.</a:t>
            </a:r>
          </a:p>
          <a:p>
            <a:r>
              <a:rPr dirty="0" err="1"/>
              <a:t>섹션</a:t>
            </a:r>
            <a:r>
              <a:rPr dirty="0"/>
              <a:t> 3. </a:t>
            </a:r>
            <a:r>
              <a:rPr dirty="0" err="1"/>
              <a:t>DBA는</a:t>
            </a:r>
            <a:r>
              <a:rPr dirty="0"/>
              <a:t> DDL+DCL,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사용자와</a:t>
            </a:r>
            <a:r>
              <a:rPr dirty="0"/>
              <a:t> </a:t>
            </a:r>
            <a:r>
              <a:rPr dirty="0" err="1"/>
              <a:t>응용</a:t>
            </a:r>
            <a:r>
              <a:rPr dirty="0"/>
              <a:t> </a:t>
            </a:r>
            <a:r>
              <a:rPr dirty="0" err="1"/>
              <a:t>프로그래머는</a:t>
            </a:r>
            <a:r>
              <a:rPr dirty="0"/>
              <a:t> DML.</a:t>
            </a:r>
          </a:p>
          <a:p>
            <a:r>
              <a:rPr dirty="0" err="1"/>
              <a:t>섹션</a:t>
            </a:r>
            <a:r>
              <a:rPr dirty="0"/>
              <a:t> 4. DDL+DML+DCL=SQL. </a:t>
            </a:r>
            <a:r>
              <a:rPr dirty="0" err="1"/>
              <a:t>DML은</a:t>
            </a:r>
            <a:r>
              <a:rPr dirty="0"/>
              <a:t> </a:t>
            </a:r>
            <a:r>
              <a:rPr dirty="0" err="1"/>
              <a:t>절차적과</a:t>
            </a:r>
            <a:r>
              <a:rPr dirty="0"/>
              <a:t> </a:t>
            </a:r>
            <a:r>
              <a:rPr dirty="0" err="1"/>
              <a:t>비절차적으로</a:t>
            </a:r>
            <a:r>
              <a:rPr dirty="0"/>
              <a:t> </a:t>
            </a:r>
            <a:r>
              <a:rPr dirty="0" err="1"/>
              <a:t>나뉘며</a:t>
            </a:r>
            <a:r>
              <a:rPr dirty="0"/>
              <a:t>, </a:t>
            </a:r>
            <a:r>
              <a:rPr dirty="0" err="1"/>
              <a:t>SQL이</a:t>
            </a:r>
            <a:r>
              <a:rPr dirty="0"/>
              <a:t> </a:t>
            </a:r>
            <a:r>
              <a:rPr dirty="0" err="1"/>
              <a:t>비절차적의</a:t>
            </a:r>
            <a:r>
              <a:rPr dirty="0"/>
              <a:t> </a:t>
            </a:r>
            <a:r>
              <a:rPr dirty="0" err="1"/>
              <a:t>대표</a:t>
            </a:r>
            <a:r>
              <a:rPr dirty="0"/>
              <a:t>.</a:t>
            </a:r>
          </a:p>
          <a:p>
            <a:r>
              <a:rPr dirty="0" err="1"/>
              <a:t>섹션</a:t>
            </a:r>
            <a:r>
              <a:rPr dirty="0"/>
              <a:t> 5. DBMS = </a:t>
            </a:r>
            <a:r>
              <a:rPr dirty="0" err="1"/>
              <a:t>질의</a:t>
            </a:r>
            <a:r>
              <a:rPr dirty="0"/>
              <a:t> </a:t>
            </a:r>
            <a:r>
              <a:rPr dirty="0" err="1"/>
              <a:t>처리기</a:t>
            </a:r>
            <a:r>
              <a:rPr dirty="0"/>
              <a:t> +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.</a:t>
            </a:r>
          </a:p>
          <a:p>
            <a:r>
              <a:rPr dirty="0" err="1"/>
              <a:t>시험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체크리스트입니다</a:t>
            </a:r>
            <a:r>
              <a:rPr dirty="0"/>
              <a:t>. </a:t>
            </a:r>
            <a:r>
              <a:rPr dirty="0" err="1"/>
              <a:t>스키마와</a:t>
            </a:r>
            <a:r>
              <a:rPr dirty="0"/>
              <a:t> </a:t>
            </a:r>
            <a:r>
              <a:rPr dirty="0" err="1"/>
              <a:t>인스턴스의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수 </a:t>
            </a:r>
            <a:r>
              <a:rPr dirty="0" err="1"/>
              <a:t>있는가</a:t>
            </a:r>
            <a:r>
              <a:rPr dirty="0"/>
              <a:t>? 3단계 </a:t>
            </a:r>
            <a:r>
              <a:rPr dirty="0" err="1"/>
              <a:t>구조의</a:t>
            </a:r>
            <a:r>
              <a:rPr dirty="0"/>
              <a:t> 각 </a:t>
            </a:r>
            <a:r>
              <a:rPr dirty="0" err="1"/>
              <a:t>단계를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수 </a:t>
            </a:r>
            <a:r>
              <a:rPr dirty="0" err="1"/>
              <a:t>있는가</a:t>
            </a:r>
            <a:r>
              <a:rPr dirty="0"/>
              <a:t>?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개수를</a:t>
            </a:r>
            <a:r>
              <a:rPr dirty="0"/>
              <a:t> </a:t>
            </a:r>
            <a:r>
              <a:rPr dirty="0" err="1"/>
              <a:t>정확히</a:t>
            </a:r>
            <a:r>
              <a:rPr dirty="0"/>
              <a:t> </a:t>
            </a:r>
            <a:r>
              <a:rPr dirty="0" err="1"/>
              <a:t>아는가</a:t>
            </a:r>
            <a:r>
              <a:rPr dirty="0"/>
              <a:t>? </a:t>
            </a:r>
            <a:r>
              <a:rPr dirty="0" err="1"/>
              <a:t>논리적·물리적</a:t>
            </a:r>
            <a:r>
              <a:rPr dirty="0"/>
              <a:t> </a:t>
            </a:r>
            <a:r>
              <a:rPr dirty="0" err="1"/>
              <a:t>독립성을</a:t>
            </a:r>
            <a:r>
              <a:rPr dirty="0"/>
              <a:t> </a:t>
            </a:r>
            <a:r>
              <a:rPr dirty="0" err="1"/>
              <a:t>구분할</a:t>
            </a:r>
            <a:r>
              <a:rPr dirty="0"/>
              <a:t> 수 </a:t>
            </a:r>
            <a:r>
              <a:rPr dirty="0" err="1"/>
              <a:t>있는가</a:t>
            </a:r>
            <a:r>
              <a:rPr dirty="0"/>
              <a:t>?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사전과</a:t>
            </a:r>
            <a:r>
              <a:rPr dirty="0"/>
              <a:t> </a:t>
            </a:r>
            <a:r>
              <a:rPr dirty="0" err="1"/>
              <a:t>디렉토리의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아는가</a:t>
            </a:r>
            <a:r>
              <a:rPr dirty="0"/>
              <a:t>? 사용자 세 </a:t>
            </a:r>
            <a:r>
              <a:rPr dirty="0" err="1"/>
              <a:t>유형과</a:t>
            </a:r>
            <a:r>
              <a:rPr dirty="0"/>
              <a:t> </a:t>
            </a:r>
            <a:r>
              <a:rPr dirty="0" err="1"/>
              <a:t>각각의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언어를</a:t>
            </a:r>
            <a:r>
              <a:rPr dirty="0"/>
              <a:t> </a:t>
            </a:r>
            <a:r>
              <a:rPr dirty="0" err="1"/>
              <a:t>아는가</a:t>
            </a:r>
            <a:r>
              <a:rPr dirty="0"/>
              <a:t>? DDL, DML, </a:t>
            </a:r>
            <a:r>
              <a:rPr dirty="0" err="1"/>
              <a:t>DCL의</a:t>
            </a:r>
            <a:r>
              <a:rPr dirty="0"/>
              <a:t> </a:t>
            </a:r>
            <a:r>
              <a:rPr dirty="0" err="1"/>
              <a:t>역할과</a:t>
            </a:r>
            <a:r>
              <a:rPr dirty="0"/>
              <a:t> </a:t>
            </a:r>
            <a:r>
              <a:rPr dirty="0" err="1"/>
              <a:t>명령어를</a:t>
            </a:r>
            <a:r>
              <a:rPr dirty="0"/>
              <a:t> </a:t>
            </a:r>
            <a:r>
              <a:rPr dirty="0" err="1"/>
              <a:t>아는가</a:t>
            </a:r>
            <a:r>
              <a:rPr dirty="0"/>
              <a:t>? </a:t>
            </a:r>
            <a:r>
              <a:rPr dirty="0" err="1"/>
              <a:t>절차적·비절차적</a:t>
            </a:r>
            <a:r>
              <a:rPr dirty="0"/>
              <a:t> </a:t>
            </a:r>
            <a:r>
              <a:rPr dirty="0" err="1"/>
              <a:t>DML의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수 </a:t>
            </a:r>
            <a:r>
              <a:rPr dirty="0" err="1"/>
              <a:t>있는가</a:t>
            </a:r>
            <a:r>
              <a:rPr dirty="0"/>
              <a:t>? </a:t>
            </a:r>
            <a:r>
              <a:rPr dirty="0" err="1"/>
              <a:t>DBMS의</a:t>
            </a:r>
            <a:r>
              <a:rPr dirty="0"/>
              <a:t> 두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요소를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수 </a:t>
            </a:r>
            <a:r>
              <a:rPr dirty="0" err="1"/>
              <a:t>있는가</a:t>
            </a:r>
            <a:r>
              <a:rPr dirty="0"/>
              <a:t>?</a:t>
            </a:r>
          </a:p>
          <a:p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시간에는</a:t>
            </a:r>
            <a:r>
              <a:rPr dirty="0"/>
              <a:t> 3장 </a:t>
            </a:r>
            <a:r>
              <a:rPr dirty="0" err="1"/>
              <a:t>연습문제</a:t>
            </a:r>
            <a:r>
              <a:rPr dirty="0"/>
              <a:t> </a:t>
            </a:r>
            <a:r>
              <a:rPr dirty="0" err="1"/>
              <a:t>풀이를</a:t>
            </a:r>
            <a:r>
              <a:rPr dirty="0"/>
              <a:t> </a:t>
            </a:r>
            <a:r>
              <a:rPr dirty="0" err="1"/>
              <a:t>하겠습니다</a:t>
            </a:r>
            <a:r>
              <a:rPr dirty="0"/>
              <a:t>. </a:t>
            </a:r>
            <a:r>
              <a:rPr dirty="0" err="1"/>
              <a:t>오늘</a:t>
            </a:r>
            <a:r>
              <a:rPr dirty="0"/>
              <a:t> 3시간 </a:t>
            </a:r>
            <a:r>
              <a:rPr dirty="0" err="1"/>
              <a:t>동안</a:t>
            </a:r>
            <a:r>
              <a:rPr dirty="0"/>
              <a:t> </a:t>
            </a:r>
            <a:r>
              <a:rPr dirty="0" err="1"/>
              <a:t>수고</a:t>
            </a:r>
            <a:r>
              <a:rPr dirty="0"/>
              <a:t> </a:t>
            </a:r>
            <a:r>
              <a:rPr dirty="0" err="1"/>
              <a:t>많으셨습니다</a:t>
            </a:r>
            <a:r>
              <a:rPr dirty="0"/>
              <a:t>. </a:t>
            </a:r>
            <a:r>
              <a:rPr dirty="0" err="1"/>
              <a:t>감사합니다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88636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 시스템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대전대학교 컴퓨터공학과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1188720" cy="1188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3200400"/>
            <a:ext cx="1097280" cy="109728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3566160"/>
            <a:ext cx="548640" cy="54864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시스템의 정의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시스템의 구성 요소와 개념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0604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060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715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데이터베이스의 구조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스키마, 3단계 구조, 데이터 독립성, 데이터 사전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0332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0332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813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사용자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178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DBA, 최종 사용자, 응용 프로그래머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0876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5087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언어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DCL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0604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060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77840" y="2715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DBMS의 구성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784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 처리기, 데이터 저장 관리자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 시스템의 정의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Database System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 시스템이란?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7863840" cy="118872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05156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데이터베이스 시스템 (DB System)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데이터베이스에 데이터를 저장하고, 이를 관리하여 조직에 필요한 정보를 생성해주는 시스템. 데이터베이스, DBMS, 데이터 언어, 사용자, 컴퓨터를 모두 포함하는 개념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시스템의 구성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92608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9"/>
          <p:cNvSpPr/>
          <p:nvPr/>
        </p:nvSpPr>
        <p:spPr>
          <a:xfrm>
            <a:off x="1234440" y="3108960"/>
            <a:ext cx="594360" cy="59436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32278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(DB)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통합·저장된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468880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2743200" y="292608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0" y="292608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5"/>
          <p:cNvSpPr/>
          <p:nvPr/>
        </p:nvSpPr>
        <p:spPr>
          <a:xfrm>
            <a:off x="3337560" y="3108960"/>
            <a:ext cx="594360" cy="59436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2783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83464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83464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관리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0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4846320" y="292608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2926080"/>
            <a:ext cx="18288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1"/>
          <p:cNvSpPr/>
          <p:nvPr/>
        </p:nvSpPr>
        <p:spPr>
          <a:xfrm>
            <a:off x="5440680" y="3108960"/>
            <a:ext cx="594360" cy="59436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322783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3776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93776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DBA, 최종 사용자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프로그래머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675120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6949440" y="292608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949440" y="292608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27"/>
          <p:cNvSpPr/>
          <p:nvPr/>
        </p:nvSpPr>
        <p:spPr>
          <a:xfrm>
            <a:off x="7543800" y="3108960"/>
            <a:ext cx="594360" cy="59436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2672" y="3227832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4088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응용 프로그램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704088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 접근하는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데이터베이스의 구조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Schema, 3-Level Structure, Data Independence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스키마와 인스턴스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" cy="22860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스키마 (Schema)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데이터베이스에 저장되는 데이터 구조와 제약조건을 정의한 것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32004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속성명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데이터 타입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고객번호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이름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CHAR(20)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NULL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연락처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CHAR(13)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754880" y="100584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00584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430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인스턴스 (Instance)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2920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정의된 스키마에 따라 데이터베이스에 실제로 저장된 값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286000"/>
          <a:ext cx="32004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고객번호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연락처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홍길동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010-1234-5678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김영희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010-9876-5432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이철수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010-5555-7777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640080" y="3520440"/>
            <a:ext cx="7863840" cy="4800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576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34290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핵심 차이:  </a:t>
            </a:r>
            <a:r>
              <a:rPr lang="en-US" sz="1200" dirty="0">
                <a:solidFill>
                  <a:srgbClr val="E2E8F0"/>
                </a:solidFill>
              </a:rPr>
              <a:t>스키마는 자주 변경되지 않지만, 인스턴스는 삽입·삭제·수정으로 계속 변화합니다.</a:t>
            </a:r>
            <a:endParaRPr lang="en-US" sz="12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0CEE6D6-ABE0-F698-AF82-B9CC5B44D4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540" y="4091940"/>
            <a:ext cx="3550920" cy="899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3단계 데이터베이스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표준화 기관 ANSI/SPARC에서 제안 — 하나의 DB를 관점에 따라 세 단계로 나눔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760720" y="1371600"/>
            <a:ext cx="2743200" cy="3383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5"/>
          <p:cNvSpPr/>
          <p:nvPr/>
        </p:nvSpPr>
        <p:spPr>
          <a:xfrm>
            <a:off x="61264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추상화 수준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1264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높음 (사용자 친화적)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309360" y="228600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28"/>
          <p:cNvSpPr/>
          <p:nvPr/>
        </p:nvSpPr>
        <p:spPr>
          <a:xfrm>
            <a:off x="65836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스키마 (여러 개 가능)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58368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스키마 (1개)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58368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스키마 (1개)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1264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낮음 (기계 친화적)</a:t>
            </a:r>
            <a:endParaRPr lang="en-US" sz="11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B7596B9-62D6-20AE-5E88-709032AA17F8}"/>
              </a:ext>
            </a:extLst>
          </p:cNvPr>
          <p:cNvGrpSpPr/>
          <p:nvPr/>
        </p:nvGrpSpPr>
        <p:grpSpPr>
          <a:xfrm>
            <a:off x="640113" y="1276803"/>
            <a:ext cx="4866167" cy="3664314"/>
            <a:chOff x="1026184" y="1083853"/>
            <a:chExt cx="7136741" cy="5374098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20767BF3-3CED-72B9-EB6B-437F20CF36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064"/>
            <a:stretch/>
          </p:blipFill>
          <p:spPr>
            <a:xfrm>
              <a:off x="1026184" y="1083853"/>
              <a:ext cx="7136741" cy="5374098"/>
            </a:xfrm>
            <a:prstGeom prst="rect">
              <a:avLst/>
            </a:prstGeom>
          </p:spPr>
        </p:pic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9E393FE-C3C1-1C12-2F5C-7F777EDD14EA}"/>
                </a:ext>
              </a:extLst>
            </p:cNvPr>
            <p:cNvSpPr/>
            <p:nvPr/>
          </p:nvSpPr>
          <p:spPr>
            <a:xfrm>
              <a:off x="3571875" y="2257425"/>
              <a:ext cx="274320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9EDF551-DD5C-268D-3743-7C9A8CB31739}"/>
                </a:ext>
              </a:extLst>
            </p:cNvPr>
            <p:cNvSpPr/>
            <p:nvPr/>
          </p:nvSpPr>
          <p:spPr>
            <a:xfrm>
              <a:off x="3571875" y="3789952"/>
              <a:ext cx="274320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3단계 구조 — 각 단계 상세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05840"/>
            <a:ext cx="256032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234440"/>
            <a:ext cx="731520" cy="73152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3716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단계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97280" y="2743200"/>
            <a:ext cx="16459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8346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개별 사용자(응용 프로그램) 관점에서 DB를 이해하고 표현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외부 스키마: 사용자에게 필요한 데이터만 정의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각 사용자가 생각하는 DB의 모습이 다름 (외부 스키마가 다름)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여러 개의 외부 스키마가 존재 가능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0" y="100584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0" y="100584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3"/>
          <p:cNvSpPr/>
          <p:nvPr/>
        </p:nvSpPr>
        <p:spPr>
          <a:xfrm>
            <a:off x="4343400" y="1234440"/>
            <a:ext cx="731520" cy="7315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37160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118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단계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118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931920" y="2743200"/>
            <a:ext cx="16459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7"/>
          <p:cNvSpPr/>
          <p:nvPr/>
        </p:nvSpPr>
        <p:spPr>
          <a:xfrm>
            <a:off x="3611880" y="28346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조직 전체(관리자) 관점에서 DB를 이해하고 표현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개념 스키마: 모든 사용자의 데이터를 통합 정의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종류, 데이터 간 관계, 제약조건, 보안·접근 권한 포함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데이터베이스당 1개만 존재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309360" y="100584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09360" y="1005840"/>
            <a:ext cx="25603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0"/>
          <p:cNvSpPr/>
          <p:nvPr/>
        </p:nvSpPr>
        <p:spPr>
          <a:xfrm>
            <a:off x="7178040" y="1234440"/>
            <a:ext cx="731520" cy="73152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37160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465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단계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4652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766560" y="2743200"/>
            <a:ext cx="16459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4"/>
          <p:cNvSpPr/>
          <p:nvPr/>
        </p:nvSpPr>
        <p:spPr>
          <a:xfrm>
            <a:off x="6446520" y="28346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물리적인 저장 장치의 관점에서 DB를 표현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내부 스키마: 물리적 저장 방법을 정의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레코드 구조, 필드 크기, 레코드 접근 경로 등 정의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데이터베이스당 1개만 존재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9AF1DD5-B1F1-5D40-E8FD-61A7064416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60"/>
          <a:stretch/>
        </p:blipFill>
        <p:spPr>
          <a:xfrm>
            <a:off x="1722119" y="135138"/>
            <a:ext cx="5699762" cy="496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6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3단계 구조 예시 — 쇼핑몰 고객 DB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단계 (사용자별 뷰)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3474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2588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891B2"/>
                </a:solidFill>
              </a:rPr>
              <a:t>고객 분석팀: </a:t>
            </a:r>
            <a:r>
              <a:rPr lang="en-US" sz="1000" dirty="0">
                <a:solidFill>
                  <a:srgbClr val="334155"/>
                </a:solidFill>
              </a:rPr>
              <a:t>고객번호, 이름, 등급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891B2"/>
                </a:solidFill>
              </a:rPr>
              <a:t>상품 배송팀: </a:t>
            </a:r>
            <a:r>
              <a:rPr lang="en-US" sz="1000" dirty="0">
                <a:solidFill>
                  <a:srgbClr val="334155"/>
                </a:solidFill>
              </a:rPr>
              <a:t>고객번호, 이름, 주소, 연락처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71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각 팀이 필요로 하는 데이터만 포함하는 별도의 외부 스키마 보유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외부 스키마는 여러 개 존재 가능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단계 (전체 논리적 구조)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7863840" cy="228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고객번호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주소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연락처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등급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008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모든 사용자의 데이터를 종합하여 구성. DB당 1개만 존재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단계 (물리적 저장 구조)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931920"/>
            <a:ext cx="786384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393192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 RECORD  customer {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cust_no   INT(10)     INDEX  cust_idx;
  name      CHAR(20);   addr  CHAR(30);
  phone     CHAR(13)    INDEX  phone_idx;
  grade     CHAR(10);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총 83바이트, 인덱스 2개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독립성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스키마를 변경하더라도 상위 스키마가 영향을 받지 않는 것 = 데이터 독립성 (Data Independency)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74904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7452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논리적 데이터 독립성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2468880"/>
            <a:ext cx="338328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인터페이스 (외부 ↔ 개념)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스키마가 변경되어도 외부 스키마는 영향을 받지 않음. 관련 외부/개념 사상만 수정하면 됨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05840" y="356616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개념 스키마에서 '전화번호'를 '연락처'로 변경해도, 외부 스키마와 사상(매핑)만 수정하면 됨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874520"/>
            <a:ext cx="374904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874520"/>
            <a:ext cx="3749040" cy="6400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5740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92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물리적 데이터 독립성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937760" y="2468880"/>
            <a:ext cx="3383280" cy="365760"/>
          </a:xfrm>
          <a:prstGeom prst="roundRect">
            <a:avLst>
              <a:gd name="adj" fmla="val 12500"/>
            </a:avLst>
          </a:prstGeom>
          <a:solidFill>
            <a:srgbClr val="8B5CF6">
              <a:alpha val="1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인터페이스 (개념 ↔ 내부)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93776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스키마가 변경되어도 개념 스키마는 영향을 받지 않음. 관련 개념/내부 사상만 수정하면 됨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120640" y="356616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1"/>
          <p:cNvSpPr/>
          <p:nvPr/>
        </p:nvSpPr>
        <p:spPr>
          <a:xfrm>
            <a:off x="493776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내부 스키마의 저장 순서나 인덱스가 변경되어도, 개념 스키마와 사상(매핑)만 수정하면 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사전과 데이터 디렉토리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" cy="32004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사전 (Data Dictionary)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173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시스템 카탈로그 (System Catalog)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DB에 저장되는 데이터에 관한 정보(메타데이터)를 유지하는 시스템 DB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스키마, 사상(매핑), 다양한 제약조건 등 저장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시스템 데이터베이스에 저장됨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DBMS가 스스로 생성하고 유지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일반 사용자도 접근 가능하나 검색만 가능 (수정 불가)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100584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005840"/>
            <a:ext cx="73152" cy="32004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430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디렉토리 (Data Directory)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0292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사전의 데이터에 접근하는 위치 정보 관리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시스템 DB 안에 존재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시스템만 접근 가능 (사용자 접근 불가)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029200" y="3108960"/>
            <a:ext cx="3200400" cy="73152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212080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사전 → 사용자 검색 가능 ✓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디렉토리 → 시스템만 접근 ✗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2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사용자 DB: </a:t>
            </a:r>
            <a:r>
              <a:rPr lang="en-US" sz="1100" dirty="0">
                <a:solidFill>
                  <a:srgbClr val="E2E8F0"/>
                </a:solidFill>
              </a:rPr>
              <a:t>사용자가 실제로 이용하는 데이터 저장  |  </a:t>
            </a:r>
            <a:r>
              <a:rPr lang="en-US" sz="1100" b="1" dirty="0">
                <a:solidFill>
                  <a:srgbClr val="F59E0B"/>
                </a:solidFill>
              </a:rPr>
              <a:t>시스템 DB: </a:t>
            </a:r>
            <a:r>
              <a:rPr lang="en-US" sz="1100" dirty="0">
                <a:solidFill>
                  <a:srgbClr val="E2E8F0"/>
                </a:solidFill>
              </a:rPr>
              <a:t>데이터 사전·디렉토리 등 메타데이터 저장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 사용자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— DBA, End User, Application Programmer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 사용자 유형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25603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960120"/>
            <a:ext cx="256032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188720"/>
            <a:ext cx="777240" cy="77724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135331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관리자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(DBA)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269748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8346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시스템의 운영 및 관리 총괄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스키마 정의, 보안·백업 관리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주로 DDL과 DCL을 이용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무결성 제약조건 정의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4720" y="960120"/>
            <a:ext cx="25603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96012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2"/>
          <p:cNvSpPr/>
          <p:nvPr/>
        </p:nvSpPr>
        <p:spPr>
          <a:xfrm>
            <a:off x="4343400" y="1188720"/>
            <a:ext cx="777240" cy="77724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35331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사용자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(End User)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840480" y="269748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0" y="28346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주로 DML(SQL) 사용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직접 사용 or GUI 활용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DB에 접근하여 데이터 조작(삽입·삭제·수정·검색)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스키마 정의 권한 없음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309360" y="960120"/>
            <a:ext cx="25603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9360" y="960120"/>
            <a:ext cx="25603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18"/>
          <p:cNvSpPr/>
          <p:nvPr/>
        </p:nvSpPr>
        <p:spPr>
          <a:xfrm>
            <a:off x="7178040" y="1188720"/>
            <a:ext cx="777240" cy="7772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1353312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4652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응용 프로그래머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(App Programmer)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675120" y="269748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1"/>
          <p:cNvSpPr/>
          <p:nvPr/>
        </p:nvSpPr>
        <p:spPr>
          <a:xfrm>
            <a:off x="6492240" y="28346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언어를 이용하여 응용 프로그램 작성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SQL을 프로그램에 삽입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SELECT/INSERT 등 DML 사용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등 DDL은 사용하지 않음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DBA의 주요 업무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96012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1430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구성 요소 선정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25880" y="1344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 저장할 데이터의 타입, 구조, 제약조건을 결정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1430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스키마 정의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40680" y="1344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개념/외부/내부 스키마 정의 및 설계 (개발 초기 단계)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192024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192024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물리적 저장 구조 결정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2588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저장 구조와 접근 방법 결정, 인덱스 설계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2024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2103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무결성 제약조건 정의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4068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유지를 위한 제약조건 정의 및 규칙 설정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288036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288036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30632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2588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보안·접근 권한 정책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325880" y="3264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및 접근 권한 정책 결정, 사용자별 권한 수립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288036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88036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Shape 36"/>
          <p:cNvSpPr/>
          <p:nvPr/>
        </p:nvSpPr>
        <p:spPr>
          <a:xfrm>
            <a:off x="4937760" y="30632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백업·회복 기법 정의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40680" y="3264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 및 회복 기법 정의, 복구 매뉴얼 작성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384048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384048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Shape 42"/>
          <p:cNvSpPr/>
          <p:nvPr/>
        </p:nvSpPr>
        <p:spPr>
          <a:xfrm>
            <a:off x="822960" y="40233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3258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DB 관리 및 성능 감시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325880" y="4224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DB(데이터 사전) 관리, 병목 분석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54880" y="384048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84048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0" name="Shape 48"/>
          <p:cNvSpPr/>
          <p:nvPr/>
        </p:nvSpPr>
        <p:spPr>
          <a:xfrm>
            <a:off x="4937760" y="40233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406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재구성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440680" y="4224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요구사항이나 환경 변경 시 DB 구조(스키마) 수정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언어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Language — DDL, DML, DCL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언어 — DBMS와의 통신 수단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언어 = 사용자와 DBMS 간의 통신 수단 (정의어·조작어·제어어로 구분)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45920"/>
            <a:ext cx="73152" cy="9601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정의어 (DDL)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463040" y="224028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1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5448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/ ALTER / DROP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0" y="1737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스키마를 정의·수정·삭제하기 위한 언어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내용은 데이터 사전에 반영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278892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2788920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803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6304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조작어 (DML)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46304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463040" y="338328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12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155448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/ INSERT / UPDATE / DELETE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0" y="2880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데이터베이스에서 데이터의 삽입·삭제·수정·검색을 처리하는 언어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절차적 DML / 비절차적 DML (예: SQL)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0080" y="393192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0080" y="3931920"/>
            <a:ext cx="73152" cy="9601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233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6304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제어어 (DCL)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46304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1463040" y="452628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155448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/ REVOKE / COMMIT / ROLLBACK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572000" y="4023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유지·보안·회복·동시성 제어 등을 처리하는 언어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내부적으로 필요한 규칙이나 기법을 정의하여 문제없이 공유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DML: 절차적 vs 비절차적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3749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96012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절차적 DML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DML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874520"/>
            <a:ext cx="32004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데이터를 원하고, 어떻게 처리해야 하는지를 기술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33832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SQL문을 프로그래밍 언어에 삽입하여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방식으로 사용 (Embedded SQL)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338328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주로 응용 프로그래머가 사용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3749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3749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비절차적 DML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Nonprocedural (Declarative) DML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874520"/>
            <a:ext cx="32004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데이터를 원하는지만 기술 (처리 방법은 DBMS가 결정)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743200"/>
            <a:ext cx="33832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(Structured Query Language)이 대표적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이름 FROM 고객 WHERE 등급='VIP'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3840480"/>
            <a:ext cx="3383280" cy="365760"/>
          </a:xfrm>
          <a:prstGeom prst="roundRect">
            <a:avLst>
              <a:gd name="adj" fmla="val 1250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사용자도 사용 가능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구성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Components — Query Processor &amp; Stored Data Manager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3C541EC-D120-456A-BCCC-2137B33A1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14"/>
          <a:stretch/>
        </p:blipFill>
        <p:spPr>
          <a:xfrm>
            <a:off x="1447799" y="125549"/>
            <a:ext cx="6248402" cy="4892402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5B6E1D7-169F-59D4-7F9F-522E1F16C7E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  <p:extLst>
      <p:ext uri="{BB962C8B-B14F-4D97-AF65-F5344CB8AC3E}">
        <p14:creationId xmlns:p14="http://schemas.microsoft.com/office/powerpoint/2010/main" val="4060098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논리적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= 질의 처리기 (Query Processor) + 데이터 저장 관리자 (Stored Data Manager) — DB 관리와 사용자의 데이터 처리 요구를 수행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45920"/>
            <a:ext cx="5029200" cy="6400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 처리기 (Query Processor)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데이터 처리 요구를 해석하여 처리하는 역할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14400" y="256032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8016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컴파일러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92608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DDL로 작성된 스키마 정의를 해석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4400" y="299923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80160" y="29535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 프리컴파일러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926080" y="2953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프로그램 속 DML을 추출 → DML 컴파일러 전달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14400" y="3438144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28016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 컴파일러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26080" y="33924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데이터 처리를 런타임 처리기가 이해하도록 해석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14400" y="3877056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3877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280160" y="38313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런타임 DB 처리기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926080" y="38313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 접근하여 데이터 처리 요구를 실제 실행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14400" y="431596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7"/>
          <p:cNvSpPr/>
          <p:nvPr/>
        </p:nvSpPr>
        <p:spPr>
          <a:xfrm>
            <a:off x="91440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280160" y="4270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트랜잭션 관리자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926080" y="4270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권한·무결성·회복·병행 수행 관리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943600" y="16459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943600" y="164592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2"/>
          <p:cNvSpPr/>
          <p:nvPr/>
        </p:nvSpPr>
        <p:spPr>
          <a:xfrm>
            <a:off x="6812280" y="1920240"/>
            <a:ext cx="777240" cy="77724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057400"/>
            <a:ext cx="457200" cy="4572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126480" y="2834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126480" y="3337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 Manager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400800" y="3657600"/>
            <a:ext cx="16459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6"/>
          <p:cNvSpPr/>
          <p:nvPr/>
        </p:nvSpPr>
        <p:spPr>
          <a:xfrm>
            <a:off x="612648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디스크에 저장된 DB와 데이터 사전을 관리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사전 관리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DB에 대한 실제 접근을 담당하는 OS 모듈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A9E43FB-DD48-721D-A29F-5619CCA36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10" y="104579"/>
            <a:ext cx="7974330" cy="498006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72B6925-8274-E37C-A3BE-FD4E3C179A90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  <p:extLst>
      <p:ext uri="{BB962C8B-B14F-4D97-AF65-F5344CB8AC3E}">
        <p14:creationId xmlns:p14="http://schemas.microsoft.com/office/powerpoint/2010/main" val="87787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840480" y="320040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  |  대전대학교 컴퓨터공학과</a:t>
            </a:r>
            <a:endParaRPr lang="en-US" sz="1300" dirty="0"/>
          </a:p>
          <a:p>
            <a:pPr marL="0" indent="0" algn="ctr">
              <a:buNone/>
            </a:pPr>
            <a:endParaRPr lang="en-US" sz="1100" dirty="0">
              <a:solidFill>
                <a:srgbClr val="0891B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johnsdpark@gmail.com  |  융합과학관 24221호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731520" cy="7315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955280" y="731520"/>
            <a:ext cx="914400" cy="914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4435</Words>
  <Application>Microsoft Office PowerPoint</Application>
  <PresentationFormat>화면 슬라이드 쇼(16:9)</PresentationFormat>
  <Paragraphs>430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3장. 데이터베이스 시스템</dc:title>
  <dc:subject>PptxGenJS Presentation</dc:subject>
  <dc:creator>박상돈</dc:creator>
  <cp:lastModifiedBy>상돈 박</cp:lastModifiedBy>
  <cp:revision>13</cp:revision>
  <dcterms:created xsi:type="dcterms:W3CDTF">2026-02-26T13:41:20Z</dcterms:created>
  <dcterms:modified xsi:type="dcterms:W3CDTF">2026-03-16T11:04:54Z</dcterms:modified>
</cp:coreProperties>
</file>