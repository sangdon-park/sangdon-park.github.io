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7" r:id="rId23"/>
    <p:sldId id="288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9" r:id="rId33"/>
    <p:sldId id="290" r:id="rId34"/>
    <p:sldId id="285" r:id="rId35"/>
    <p:sldId id="286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8" r:id="rId61"/>
    <p:sldId id="315" r:id="rId62"/>
    <p:sldId id="316" r:id="rId63"/>
    <p:sldId id="319" r:id="rId64"/>
    <p:sldId id="320" r:id="rId65"/>
    <p:sldId id="317" r:id="rId6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907" autoAdjust="0"/>
  </p:normalViewPr>
  <p:slideViewPr>
    <p:cSldViewPr snapToGrid="0" snapToObjects="1">
      <p:cViewPr>
        <p:scale>
          <a:sx n="150" d="100"/>
          <a:sy n="150" d="100"/>
        </p:scale>
        <p:origin x="209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819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37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0142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5642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89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9123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0555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2319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emf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9.emf"/><Relationship Id="rId12" Type="http://schemas.openxmlformats.org/officeDocument/2006/relationships/image" Target="../media/image22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11" Type="http://schemas.openxmlformats.org/officeDocument/2006/relationships/image" Target="../media/image21.emf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5.png"/><Relationship Id="rId14" Type="http://schemas.openxmlformats.org/officeDocument/2006/relationships/image" Target="../media/image23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9144000" cy="20345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연습문제 해답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— Exercises &amp; Solutions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대전대학교 컴퓨터공학과  |  박상돈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30문제  ·  객관식 + 서술형 + OX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A와 B가 합병 가능한지 여부를 판단하는 기준이 아닌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릴레이션의 인스턴스가 동일해야 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릴레이션의 차수가 동일해야 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릴레이션의 대응하는 속성의 이름은 달라도 상관없다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릴레이션의 대응하는 속성의 도메인은 동일해야 한다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A와 B가 합병 가능한지 여부를 판단하는 기준이 아닌 것은?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릴레이션의 인스턴스가 동일해야 한다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1234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릴레이션의 차수가 동일해야 한다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릴레이션의 대응하는 속성의 이름은 달라도 상관없다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릴레이션의 대응하는 속성의 도메인은 동일해야 한다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합병 가능 조건: ①차수 동일 ②대응 속성의 도메인 동일.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 이름은 달라도 되며, 인스턴스(투플 값)는 합병 가능 판단 기준이 아닙니다.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대수와 관계 해석에 대한 설명으로 옳지 않은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대수와 관계 해석은 데이터를 처리하는 기능과 표현력에서 동등한 능력이 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대수는 절차 언어이고, 관계 해석은 비절차 언어다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대수는 수학의 프레디킷 해석에 기반을 두고 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해석은 투플 관계 해석과 도메인 관계 해석으로 분류된다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대수와 관계 해석에 대한 설명으로 옳지 않은 것은?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대수와 관계 해석은 데이터를 처리하는 기능과 표현력에서 동등한 능력이 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대수는 절차 언어이고, 관계 해석은 비절차 언어다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대수는 수학의 프레디킷 해석에 기반을 두고 있다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해석은 투플 관계 해석과 도메인 관계 해석으로 분류된다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대수는 집합론과 관계 연산에 기반한 절차 언어입니다.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수학의 프레디킷 해석에 기반을 둔 것은 관계 해석입니다.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 연산자 중 일반 집합 연산자에 속하지 않는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∪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 연산자 중 일반 집합 연산자에 속하지 않는 것은?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1234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∪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÷(디비전)는 순수 관계 연산자에 속합니다.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집합 연산자: 합집합(∪), 교집합(∩), 차집합(−), 카티션 프로덕트(×)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 연산자 중 종류가 다른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(프로젝트)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⋈ (조인)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(카티션 프로덕트)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(셀렉트)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 연산자 중 종류가 다른 것은?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(프로젝트)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⋈ (조인)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(카티션 프로덕트)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(셀렉트)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×(카티션 프로덕트)는 일반 집합 연산자이고,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π(프로젝트), ⋈(조인), σ(셀렉트)는 순수 관계 연산자입니다.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릴레이션에서 조건을 만족하는 투플들을 반환하는 관계 대수 연산자는?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(셀렉트)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(프로젝트)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⋈ (조인)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(디비전)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릴레이션에서 조건을 만족하는 투플들을 반환하는 관계 대수 연산자는?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(셀렉트)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1234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(프로젝트)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⋈ (조인)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(디비전)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σ(셀렉트)는 릴레이션에서 주어진 조건을 만족하는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투플들을 선택하여 반환하는 연산입니다.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릴레이션에서 제시된 특정 속성들의 값으로만 구성된 투플을 반환하는 관계 대수 연산은?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릴레이션에서 제시된 특정 속성들의 값으로만 구성된 투플을 반환하는 관계 대수 연산은?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16916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프로젝트(π) 연산은 릴레이션에서 지정된 속성들의 값만으로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구성된 투플들을 반환합니다. 중복 투플은 제거됩니다.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R의 각 투플과 릴레이션 S의 각 투플을 모두 연결하여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만들어진 새로운 투플을 반환하는 관계 대수 연산자는?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∪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R의 각 투플과 릴레이션 S의 각 투플을 모두 연결하여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∪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26060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카티션 프로덕트(×)는 두 릴레이션의 모든 투플 조합을 생성합니다.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차수 = R차수 + S차수, 카디널리티 = R카디널리티 × S카디널리티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속성을 이용해 릴레이션 R과 S의 투플들을 연결하여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만들어진 새로운 투플들을 반환하는 관계 대수 연산은?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속성을 이용해 릴레이션 R과 S의 투플들을 연결하여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조인(⋈) 연산은 공통 속성을 기준으로 두 릴레이션의 투플을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연결합니다. 세타/동등/자연/외부 조인 등의 종류가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중 교환적 특징을 가지지 않는 연산자는?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∪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중 교환적 특징을 가지지 않는 연산자는?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∪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차집합(−)은 교환법칙이 성립하지 않습니다.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R−S ≠ S−R (결과가 다릅니다)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합집합, 교집합, 카티션 프로덕트는 교환법칙이 성립합니다.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대수에 대한 설명으로 옳은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처리를 원하는 데이터가 무엇인지만 기술하는 비절차 언어다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투플 관계 해석과 도메인 관계 해석이 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결과를 얻기 위해 릴레이션을 처리하는 연산자들의 집합으로,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피연산자와 결과가 모두 릴레이션이다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대수는 수학의 프레디킷 해석에 기반을 두고 있다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대수에 대한 설명으로 옳은 것은?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처리를 원하는 데이터가 무엇인지만 기술하는 비절차 언어다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투플 관계 해석과 도메인 관계 해석이 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결과를 얻기 위해 릴레이션을 처리하는 연산자들의 집합으로,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대수는 수학의 프레디킷 해석에 기반을 두고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대수는 절차 언어이며, 피연산자와 결과가 모두 릴레이션인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폐쇄 특성을 가집니다.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①은 관계 해석, ②④는 관계 해석에 대한 설명입니다.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합병 가능한 두 릴레이션 R과 S가 있을 때,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R−S 연산의 결과 릴레이션에 대한 설명으로 옳은 것을 모두 고르시오.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7452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결과 릴레이션의 차수는 릴레이션 R의 차수와 같다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18745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50008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결과 릴레이션의 차수는 릴레이션 S의 차수와 같다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23500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2549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결과 릴레이션의 차수는 R차수에서 S차수를 뺀 것과 같다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28254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00984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결과 릴레이션의 카디널리티는 R의 카디널리티와 같거나 적다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330098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77647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76472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결과 릴레이션의 카디널리티는 R카디널리티에서 S카디널리티를 뺀 것과 같다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37764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98219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합병 가능한 두 릴레이션 R과 S가 있을 때,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402336"/>
          </a:xfrm>
          <a:prstGeom prst="rect">
            <a:avLst/>
          </a:prstGeom>
          <a:solidFill>
            <a:srgbClr val="F0FDF4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8872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결과 릴레이션의 차수는 릴레이션 R의 차수와 같다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1887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0" y="11887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664208"/>
            <a:ext cx="8229600" cy="402336"/>
          </a:xfrm>
          <a:prstGeom prst="rect">
            <a:avLst/>
          </a:prstGeom>
          <a:solidFill>
            <a:srgbClr val="F0FDF4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642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결과 릴레이션의 차수는 릴레이션 S의 차수와 같다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0" y="1664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1664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139696"/>
            <a:ext cx="8229600" cy="402336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13969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결과 릴레이션의 차수는 R차수에서 S차수를 뺀 것과 같다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21396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21396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615184"/>
            <a:ext cx="8229600" cy="402336"/>
          </a:xfrm>
          <a:prstGeom prst="rect">
            <a:avLst/>
          </a:prstGeom>
          <a:solidFill>
            <a:srgbClr val="F0FDF4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1518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결과 릴레이션의 카디널리티는 R의 카디널리티와 같거나 적다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261518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0" y="261518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090672"/>
            <a:ext cx="8229600" cy="402336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09067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결과 릴레이션의 카디널리티는 R카디널리티에서 S카디널리티를 뺀 것과 같다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3840" y="30906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0" y="30906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82296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7216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41148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합병 가능 → 차수 동일, 따라서 결과 차수 = R차수 = S차수.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카디널리티는 R에만 있는 투플 수이므로 R 이하입니다.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97365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R의 차수가 5이고, 카디널리티가 8,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S의 차수가 3, 카디널리티가 6일 때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릴레이션을 카티션 프로덕트한 결과 릴레이션의 차수와 카디널리티는?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8, 14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8, 48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15, 14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15, 48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R의 차수가 5이고, 카디널리티가 8,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8, 14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8, 48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16916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15, 14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15, 48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카티션 프로덕트 결과: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차수 = 5 + 3 = 8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카디널리티 = 8 × 6 = 48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관계 대수 표현의 의미는?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π제목, 평점(σ상영시간≥150 ∧ 감독이름='봉준호'(영화))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상영시간이 150분 이상이거나 감독이름이 봉준호인 영화의 제목과 평점을 생성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상영시간이 150분 이상이고 감독이름이 봉준호인 영화의 제목과 평점을 생성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상영시간이 150분 이상이거나 감독이름이 봉준호인 영화의 제목과 평점을 검색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상영시간이 150분 이상이고 감독이름이 봉준호인 영화의 제목과 평점을 검색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관계 대수 표현의 의미는?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상영시간이 150분 이상이거나 감독이름이 봉준호인 영화의 제목과 평점을 생성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상영시간이 150분 이상이고 감독이름이 봉준호인 영화의 제목과 평점을 생성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상영시간이 150분 이상이거나 감독이름이 봉준호인 영화의 제목과 평점을 검색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상영시간이 150분 이상이고 감독이름이 봉준호인 영화의 제목과 평점을 검색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26060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∧는 AND 조건, σ는 셀렉트(검색), π는 프로젝트(속성 선택).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두 조건을 모두 만족하는 영화의 제목과 평점을 검색합니다.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 조인 연산을 수행할 때 상대 릴레이션에 조인 속성 값이 같은 투플이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존재하지 않아 조인 연산에서 제외되었던 모든 투플을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릴레이션에 포함시키는 조인 연산은?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조인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세타 조인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조인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세미 조인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 조인 연산을 수행할 때 상대 릴레이션에 조인 속성 값이 같은 투플이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조인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세타 조인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조인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세미 조인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조인(outer join)은 자연 조인 시 제외된 투플도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결과에 포함시키고, 대응 값이 없는 속성에는 NULL을 채웁니다.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왼쪽/오른쪽/완전 외부 조인이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대수의 조인 연산에서 중복된 속성이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번만 결과 릴레이션에 나타나는 것을 무엇이라 하는가?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세타 조인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동등 조인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 조인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조인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대수의 조인 연산에서 중복된 속성이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세타 조인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동등 조인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 조인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조인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 조인(natural join)은 동등 조인 결과에서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중복된 공통 속성을 하나만 남기고 제거한 결과를 반환합니다.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대수에 대한 설명으로 적합한 것을 모두 고르시오.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7452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원하는 데이터를 얻기 위한 처리 과정을 순서대로 기술하는 절차 언어다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18745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50008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일반 집합 연산자와 순수 관계 연산자가 있다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23500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2549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피연산자와 결과가 모두 릴레이션이다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28254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00984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수학의 프레디킷 해석에 기반을 두고 있다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330098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77647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76472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수행해야 하는 연산의 순서를 명확히 제시해야 한다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37764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23668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대수에 대한 설명으로 적합한 것을 모두 고르시오.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402336"/>
          </a:xfrm>
          <a:prstGeom prst="rect">
            <a:avLst/>
          </a:prstGeom>
          <a:solidFill>
            <a:srgbClr val="F0FDF4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88720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원하는 데이터를 얻기 위한 처리 과정을 순서대로 기술하는 절차 언어다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1887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0" y="11887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664208"/>
            <a:ext cx="8229600" cy="402336"/>
          </a:xfrm>
          <a:prstGeom prst="rect">
            <a:avLst/>
          </a:prstGeom>
          <a:solidFill>
            <a:srgbClr val="F0FDF4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6642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일반 집합 연산자와 순수 관계 연산자가 있다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0" y="1664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1664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139696"/>
            <a:ext cx="8229600" cy="402336"/>
          </a:xfrm>
          <a:prstGeom prst="rect">
            <a:avLst/>
          </a:prstGeom>
          <a:solidFill>
            <a:srgbClr val="F0FDF4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13969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피연산자와 결과가 모두 릴레이션이다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21396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21396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615184"/>
            <a:ext cx="8229600" cy="402336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1518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수학의 프레디킷 해석에 기반을 두고 있다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0" y="261518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0" y="261518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090672"/>
            <a:ext cx="8229600" cy="402336"/>
          </a:xfrm>
          <a:prstGeom prst="rect">
            <a:avLst/>
          </a:prstGeom>
          <a:solidFill>
            <a:srgbClr val="F0FDF4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090672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수행해야 하는 연산의 순서를 명확히 제시해야 한다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3840" y="30906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0" y="30906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82296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7216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41148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(D)는 관계 해석에 대한 설명입니다.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대수는 절차 언어로 연산 순서를 명시하며,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집합 연산자와 순수 관계 연산자를 사용합니다.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405484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해석에 대한 설명으로 옳은 것은?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02996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02996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65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결과를 얻기 위해 처리 과정을 순서대로 기술하는 절차 언어다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53288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53288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수학의 프레디킷 해석에 기반을 두고 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03580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03580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97180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해석으로 표현한 질의는 관계 대수로 표현할 수는 없다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538728"/>
            <a:ext cx="301752" cy="301752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538728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집합 연산자와 순수 관계 연산자로 분류된다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해석에 대한 설명으로 옳은 것은?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938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293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 결과를 얻기 위해 처리 과정을 순서대로 기술하는 절차 언어다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402336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75107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751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6916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수학의 프레디킷 해석에 기반을 두고 있다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16916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1488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2082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2082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1488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해석으로 표현한 질의는 관계 대수로 표현할 수는 없다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2665476"/>
            <a:ext cx="292608" cy="29260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6654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6060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집합 연산자와 순수 관계 연산자로 분류된다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6440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6576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해석은 수학의 프레디킷 해석(predicate calculus)에 기반한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비절차 언어로, 원하는 데이터가 무엇인지만 기술합니다.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관계 대수와 관계 해석은 동등한 표현력을 가집니다.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850392"/>
            <a:ext cx="7680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대수의 폐쇄 특성을 설명하시오.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대수의 폐쇄 특성을 설명하시오.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5272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45920"/>
            <a:ext cx="79552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대수의 연산 대상도 릴레이션이고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연산의 결과도 릴레이션이 된다는 것을 의미합니다.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관계 대수 연산의 결과를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관계 대수 연산의 입력으로 사용할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850392"/>
            <a:ext cx="7680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설명을 읽고 빈칸을 적절히 채우시오.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"관계 대수나 관계 해석으로 기술할 수 있는 모든 데이터 처리 요구를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 제안된 데이터 언어가 기술할 수 있다면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언어를 (          )하다고 말할 수 있다."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설명을 읽고 빈칸을 적절히 채우시오.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5272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45920"/>
            <a:ext cx="79552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관계적으로 완전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관계적으로 완전하다는 것은 관계 대수나 관계 해석과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동등한 표현력을 가진다는 의미입니다.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SQL은 관계적으로 완전한 데이터 언어입니다.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850392"/>
            <a:ext cx="7680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동등 조인과 자연 조인의 차이를 설명하시오.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동등 조인과 자연 조인의 차이를 설명하시오.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5272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45920"/>
            <a:ext cx="79552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동등 조인(equi join):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속성의 값이 같은 투플을 연결하며,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결과에 공통 속성이 중복되어 나타남.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 조인(natural join):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동등 조인 결과에서 중복된 공통 속성을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제거한 결과를 반환함.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동등 조인 결과에서 중복 속성을 제거하면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 조인의 결과가 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850392"/>
            <a:ext cx="7680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다음이 설명하고 있는 관계 대수 연산자의 기호는 무엇인가?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"두 릴레이션 R, S에 대해 릴레이션 R의 모든 조건을 만족하는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투플들을 릴레이션 S에서 분리해서 프로젝트하는 연산"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다음이 설명하고 있는 관계 대수 연산자의 기호는 무엇인가?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5272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45920"/>
            <a:ext cx="79552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÷ (디비전)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디비전 연산은 릴레이션 S의 모든 투플과 관련이 있는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R의 투플을 찾아 S에 없는 속성 값만 반환합니다.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'모든 과목을 수강하는 학생' 검색에 활용됩니다.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850392"/>
            <a:ext cx="7680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다음이 설명하고 있는 관계 대수 연산자의 기호는 무엇인가?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"두 릴레이션 R, S에 대해 릴레이션 R에는 존재하지만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S에는 존재하지 않는 투플을 추출하는 연산"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다음이 설명하고 있는 관계 대수 연산자의 기호는 무엇인가?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5272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45920"/>
            <a:ext cx="79552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− (차집합, Difference)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R−S는 R에만 존재하는 투플을 반환합니다.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교환법칙이 성립하지 않으므로 R−S ≠ S−R 입니다.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합병 가능한 두 릴레이션에만 적용 가능합니다.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850392"/>
            <a:ext cx="7680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R의 차수가 3이고, 릴레이션 S의 차수가 4이다.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릴레이션은 한 개의 속성을 공통으로 가지고 있을 때,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각 물음에 답하시오.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동등 조인 결과의 차수는?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자연 조인 결과의 차수는?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세미 조인(R⋉S) 결과의 차수는?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완전 외부 조인 결과의 차수는?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 R의 차수가 3이고, 릴레이션 S의 차수가 4이다.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5272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45920"/>
            <a:ext cx="79552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동등 조인 → 차수: 7개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R차수(3) + S차수(4) = 7 (공통 속성 중복 포함)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자연 조인 → 차수: 6개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3 + 4 − 1(공통 속성 중복 제거) = 6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세미 조인(R⋉S) → 차수: 3개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R의 차수와 동일 (R의 속성만 반환)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완전 외부 조인 → 차수: 6개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자연 조인과 동일한 스키마 (6개)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777240"/>
            <a:ext cx="7680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두 릴레이션 R과 S를 보고 각 물음에 답하시오.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228600" indent="-228600">
              <a:lnSpc>
                <a:spcPct val="120000"/>
              </a:lnSpc>
              <a:buAutoNum type="arabicParenBoth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R∪S  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연산을 수행한 결과 릴레이션을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R∩S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연산을 수행한 결과 릴레이션을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R−S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연산을 수행한 결과 릴레이션을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S−R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연산을 수행한 결과 릴레이션을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D1EDB18-F454-61AB-742B-3C9DA2678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98457"/>
            <a:ext cx="5781368" cy="188779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두 릴레이션 R과 S를 보고 각 물음에 답하시오.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402" y="1135305"/>
            <a:ext cx="8229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6128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3574761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buAutoNum type="arabicParenBoth"/>
            </a:pP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R∪S  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연산을 수행한 결과 릴레이션을 </a:t>
            </a:r>
            <a:r>
              <a:rPr lang="ko-KR" alt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작성하시오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R∩S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연산을 수행한 결과 릴레이션을 </a:t>
            </a:r>
            <a:r>
              <a:rPr lang="ko-KR" alt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작성하시오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 </a:t>
            </a: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89BDCB4-DAA4-8FC2-1B2A-410DD8364544}"/>
              </a:ext>
            </a:extLst>
          </p:cNvPr>
          <p:cNvSpPr/>
          <p:nvPr/>
        </p:nvSpPr>
        <p:spPr>
          <a:xfrm>
            <a:off x="4591465" y="1554480"/>
            <a:ext cx="3574761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R−S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연산을 수행한 결과 릴레이션을 </a:t>
            </a:r>
            <a:r>
              <a:rPr lang="ko-KR" alt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작성하시오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>
              <a:lnSpc>
                <a:spcPct val="120000"/>
              </a:lnSpc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S−R</a:t>
            </a: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연산을 수행한 결과 릴레이션을 </a:t>
            </a:r>
            <a:r>
              <a:rPr lang="ko-KR" alt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작성하시오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5000"/>
              </a:lnSpc>
              <a:buAutoNum type="arabicParenBoth"/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endParaRPr lang="en-US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endParaRPr lang="en-US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endParaRPr lang="en-US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endParaRPr lang="en-US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endParaRPr lang="en-US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endParaRPr lang="en-US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endParaRPr lang="en-US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endParaRPr lang="en-US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endParaRPr lang="en-US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(4)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A1DBFB8-C22A-3D08-2E69-C44D514A2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95" y="1713891"/>
            <a:ext cx="2443559" cy="187339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5D44255-94FC-2A65-8707-104F82088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95" y="3821545"/>
            <a:ext cx="2366605" cy="86721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EED2125-6DFB-6C04-6C3A-67626416F2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060" y="1769154"/>
            <a:ext cx="2871019" cy="107171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383CDC9-F40D-532C-F3B8-8251790FB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841" y="3391553"/>
            <a:ext cx="2910348" cy="100289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777240"/>
            <a:ext cx="7680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세 릴레이션 R, S, T를 보고 각 물음에 답하시오.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228600" indent="-228600">
              <a:lnSpc>
                <a:spcPct val="120000"/>
              </a:lnSpc>
              <a:buAutoNum type="arabicParenBoth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÷ S </a:t>
            </a:r>
            <a:r>
              <a:rPr lang="ko-KR" altLang="ko-KR" sz="1200" kern="12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연산을 수행한 결과 릴레이션을 </a:t>
            </a:r>
            <a:r>
              <a:rPr lang="ko-KR" altLang="ko-KR" sz="1200" kern="1200" dirty="0" err="1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작성하시오</a:t>
            </a:r>
            <a:r>
              <a:rPr lang="en-US" altLang="ko-KR" sz="1200" kern="12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÷ T</a:t>
            </a:r>
            <a:r>
              <a:rPr lang="ko-KR" altLang="ko-KR" sz="1200" kern="12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연산을 수행한 결과 릴레이션을 </a:t>
            </a:r>
            <a:r>
              <a:rPr lang="ko-KR" altLang="ko-KR" sz="1200" kern="1200" dirty="0" err="1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작성하시오</a:t>
            </a:r>
            <a:r>
              <a:rPr lang="en-US" altLang="ko-KR" sz="1200" kern="12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11BE54A-AA7F-3778-DC2F-A98545A56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80934"/>
            <a:ext cx="6135329" cy="214343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세 릴레이션 R, S, T를 보고 각 물음에 답하시오.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6128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7955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buAutoNum type="arabicParenBoth"/>
            </a:pP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÷ S </a:t>
            </a:r>
            <a:r>
              <a:rPr lang="ko-KR" altLang="ko-KR" sz="1100" kern="12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연산을 수행한 결과 릴레이션을 </a:t>
            </a:r>
            <a:r>
              <a:rPr lang="ko-KR" altLang="ko-KR" sz="1100" kern="1200" dirty="0" err="1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작성하시오</a:t>
            </a:r>
            <a:r>
              <a:rPr lang="en-US" altLang="ko-KR" sz="1100" kern="12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altLang="ko-KR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÷ T</a:t>
            </a:r>
            <a:r>
              <a:rPr lang="ko-KR" altLang="ko-KR" sz="1100" kern="12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연산을 수행한 결과 릴레이션을 </a:t>
            </a:r>
            <a:r>
              <a:rPr lang="ko-KR" altLang="ko-KR" sz="1100" kern="1200" dirty="0" err="1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작성하시오</a:t>
            </a:r>
            <a:r>
              <a:rPr lang="en-US" altLang="ko-KR" sz="1100" kern="12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11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8877DA6-10BB-45E9-C147-2E7EB2767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82" y="1856206"/>
            <a:ext cx="1022555" cy="101272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3FDBEE6-1864-56EE-1F91-C1A0DE652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82" y="3470934"/>
            <a:ext cx="1966452" cy="102255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777240"/>
            <a:ext cx="7680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두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R, S 에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대해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 × S 연산을 수행한 결과 릴레이션을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작성하시오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83F6E6E-A11C-2BF2-4E73-8A6B18B1C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173480"/>
            <a:ext cx="3893574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두 </a:t>
            </a:r>
            <a:r>
              <a:rPr lang="en-US" altLang="ko-K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R, S 에 </a:t>
            </a:r>
            <a:r>
              <a:rPr lang="en-US" altLang="ko-K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대해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 × S </a:t>
            </a:r>
            <a:r>
              <a:rPr lang="en-US" altLang="ko-K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연산을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수행한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릴레이션을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작성하시오</a:t>
            </a:r>
            <a:r>
              <a:rPr lang="en-US" altLang="ko-K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altLang="ko-KR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6128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7955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D16B42A-A826-D88F-B917-238C9433E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18" y="1625764"/>
            <a:ext cx="3500284" cy="214343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777240"/>
            <a:ext cx="7680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두 릴레이션 R(A,B), S(B,C)를 보고 각 물음에 답하시오.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59EEE4F-93C3-D450-77AB-A758DD641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75" y="1000432"/>
            <a:ext cx="3932903" cy="1514168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0BE05D04-2938-D23E-6A6D-98E4FDB3DA94}"/>
              </a:ext>
            </a:extLst>
          </p:cNvPr>
          <p:cNvGrpSpPr/>
          <p:nvPr/>
        </p:nvGrpSpPr>
        <p:grpSpPr>
          <a:xfrm>
            <a:off x="928232" y="2700355"/>
            <a:ext cx="5062993" cy="1485619"/>
            <a:chOff x="928232" y="2700355"/>
            <a:chExt cx="7306695" cy="2143982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9B3AEA4-A6FC-6C76-2028-ADB96B7BA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8232" y="3399267"/>
              <a:ext cx="6373114" cy="304843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719ADCE3-4ABB-3904-DD52-4FCF46549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8232" y="2700355"/>
              <a:ext cx="6820852" cy="257211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F578BFD4-56D0-451A-649F-C03971A91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8232" y="3050300"/>
              <a:ext cx="6420746" cy="257211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51C53309-EAEC-678E-D9FE-CE0D6B71F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8232" y="3737933"/>
              <a:ext cx="7039957" cy="342948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A58C188B-63EC-2DCB-D3BB-EEBB5A2CA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18182"/>
            <a:stretch/>
          </p:blipFill>
          <p:spPr>
            <a:xfrm>
              <a:off x="928232" y="4114751"/>
              <a:ext cx="7306695" cy="342949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1D3B88F6-E7FE-BB30-EF19-CABA6EF5F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7758" y="4501389"/>
              <a:ext cx="7030431" cy="3429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두 릴레이션 R(A,B), S(B,C)를 보고 각 물음에 답하시오.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2549" y="754380"/>
            <a:ext cx="8229600" cy="40462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1012" y="75438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77266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165860"/>
            <a:ext cx="7955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8C217A9-FA08-8FEF-3E91-1E9042CFAA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1471"/>
          <a:stretch/>
        </p:blipFill>
        <p:spPr>
          <a:xfrm>
            <a:off x="589294" y="3400648"/>
            <a:ext cx="1445091" cy="17940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EA53833-D733-56C6-24B3-5393CEC5AC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7048"/>
          <a:stretch/>
        </p:blipFill>
        <p:spPr>
          <a:xfrm>
            <a:off x="589293" y="1226968"/>
            <a:ext cx="1724187" cy="15137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690C971-6EE8-828E-24AF-B8DEC64E63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9937"/>
          <a:stretch/>
        </p:blipFill>
        <p:spPr>
          <a:xfrm>
            <a:off x="589294" y="2293640"/>
            <a:ext cx="1513853" cy="15137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70091F0-4012-6686-E86C-53162EEBD9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15" y="1404144"/>
            <a:ext cx="2542697" cy="71336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FB20E70-5380-827A-FEA4-8DF45CE377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215" y="2495429"/>
            <a:ext cx="1942160" cy="74973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E7D3353-D292-D51A-6084-408FE96C7E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378" y="3636073"/>
            <a:ext cx="1328050" cy="72176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AD514C4-77CF-49E1-8BBA-696EE79C763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55038" b="-5581"/>
          <a:stretch/>
        </p:blipFill>
        <p:spPr>
          <a:xfrm>
            <a:off x="4323669" y="1226968"/>
            <a:ext cx="1862820" cy="21309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A7A36A4-2652-309B-8A33-5E86EDB365E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54792" b="7052"/>
          <a:stretch/>
        </p:blipFill>
        <p:spPr>
          <a:xfrm>
            <a:off x="4330270" y="3448096"/>
            <a:ext cx="1870506" cy="18759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4D197195-3A18-BA60-B5A7-4F1F927B95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5590" y="1477799"/>
            <a:ext cx="1782433" cy="85131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A3E9723C-6A88-C674-8ECC-5B110C1622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0794" y="2543029"/>
            <a:ext cx="1787229" cy="86733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C1E3D75-B276-2E38-F9B9-9CDB7258CEB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8182" r="53357" b="-12388"/>
          <a:stretch/>
        </p:blipFill>
        <p:spPr>
          <a:xfrm>
            <a:off x="4323669" y="2293640"/>
            <a:ext cx="2005694" cy="23239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9AD9E042-33AB-1927-C004-559E6215645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3497" y="3647652"/>
            <a:ext cx="1804526" cy="104610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777240"/>
            <a:ext cx="7680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두 릴레이션 R(A,B,C), S(B,C,D)를 보고 각 물음에 답하시오.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99461A1-7C4F-3AF1-BF53-E9D054D45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37" y="1007745"/>
            <a:ext cx="3857625" cy="17811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E43D466-9619-E492-E2FF-040B9E752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737" y="2895582"/>
            <a:ext cx="3724795" cy="24768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860C0C4-963D-8D74-49F4-D8890A8E1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737" y="3235244"/>
            <a:ext cx="3953427" cy="25721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BD1E268-9FF9-D481-BE56-27EA19C21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737" y="3584432"/>
            <a:ext cx="4039164" cy="24768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BAA41F0-47D9-3667-6DA8-EE24099EE8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737" y="3938779"/>
            <a:ext cx="4410691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두 릴레이션 R(A,B,C), S(B,C,D)를 보고 각 물음에 답하시오.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6128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7955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3848798-DE07-7BC6-F401-088D51BDB663}"/>
              </a:ext>
            </a:extLst>
          </p:cNvPr>
          <p:cNvGrpSpPr/>
          <p:nvPr/>
        </p:nvGrpSpPr>
        <p:grpSpPr>
          <a:xfrm>
            <a:off x="580644" y="1531700"/>
            <a:ext cx="8092440" cy="2738549"/>
            <a:chOff x="594360" y="1513411"/>
            <a:chExt cx="9036862" cy="3058149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12EAD5F-3A89-4A5C-E06D-BC8AB7CB6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60" y="1513411"/>
              <a:ext cx="4344006" cy="1590897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7EF9A1D-9B81-1621-24CE-5A5BC5448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858" y="3287692"/>
              <a:ext cx="3982006" cy="295316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3841F77-3F82-B1C5-B243-30650DE15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8690" y="3657032"/>
              <a:ext cx="2105319" cy="914528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660CA27E-208F-774F-0574-74C8B4CBE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68056" y="1664728"/>
              <a:ext cx="4763166" cy="22482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777240"/>
            <a:ext cx="7680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세 개의 릴레이션 스키마를 보고 각 물음에 답하시오.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학생(학번, 이름, 학년) / 과목(과목번호, 과목이름) / 수강(학번, 과목번호, 중간성적, 기말성적,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학점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228600" indent="-228600">
              <a:lnSpc>
                <a:spcPct val="120000"/>
              </a:lnSpc>
              <a:buAutoNum type="arabicParenBoth"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과목의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이름을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질의문을 관계 대수로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1학년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학생의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학번과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이름을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질의문을 관계 대수로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중간성적≥80이고 기말성적≥70인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학생의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학번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과목번호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학점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질의문을 관계 대수로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과목을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수강하고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학생의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학번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질의문을 관계 대수로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 3번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과목에서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A0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학점을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받은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학생의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이름과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학년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 질의문을 관계 대수로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2AF931B-0B62-7430-62ED-B917FB7E1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150" y="960120"/>
            <a:ext cx="76581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세 개의 릴레이션 스키마를 보고 각 물음에 답하시오.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6128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85660A5-0407-EE0D-5788-1BC7845E7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5773166" cy="337775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29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세 개의 릴레이션 스키마를 보고 각 물음에 답하시오.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6128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40BE65-9620-A9B1-F594-5449A58BF6A0}"/>
              </a:ext>
            </a:extLst>
          </p:cNvPr>
          <p:cNvGrpSpPr/>
          <p:nvPr/>
        </p:nvGrpSpPr>
        <p:grpSpPr>
          <a:xfrm>
            <a:off x="532991" y="1481329"/>
            <a:ext cx="5423310" cy="3326088"/>
            <a:chOff x="532990" y="1481328"/>
            <a:chExt cx="6677957" cy="4095557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53C31EA-D92F-DA0D-5480-CFC483896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2990" y="1481328"/>
              <a:ext cx="5868219" cy="295316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CDC4F59-0DBE-E316-7048-ED07D30C0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990" y="1794932"/>
              <a:ext cx="6677957" cy="37819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26654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62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04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777240"/>
            <a:ext cx="7680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네 개의 릴레이션 스키마를 보고 각 물음에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답하시오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228600" indent="-228600">
              <a:lnSpc>
                <a:spcPct val="120000"/>
              </a:lnSpc>
              <a:buAutoNum type="arabicParenBoth"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5% 미만인 판매자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번호와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검색하는 질의문을 관계 대수로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lnSpc>
                <a:spcPct val="120000"/>
              </a:lnSpc>
              <a:buAutoNum type="arabicParenBoth"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C001고객이 주문한 P003제품의 판매자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이름과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수수료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검색하는 질의문을 관계 대수로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A005판매자에게 주문하지 않은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검색하는 질의문을 관계 대수로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대구 거주 모든 고객으로부터 주문 받은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번호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검색하는 질의문을 관계 대수로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 주문된 적 있는 제품의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제품명과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검색하는 질의문을 관계 대수로 </a:t>
            </a:r>
            <a:r>
              <a:rPr lang="ko-KR" alt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표현하시오</a:t>
            </a:r>
            <a:r>
              <a:rPr lang="en-US" altLang="ko-KR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C09B551-F915-CA23-4BB4-DAAB3AC7C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10412"/>
            <a:ext cx="6442710" cy="1327887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네 개의 릴레이션 스키마를 보고 각 물음에 답하시오.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6128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7955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8DA2401-2981-9747-47A1-25FE58B52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59991"/>
            <a:ext cx="7125694" cy="291505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네 개의 릴레이션 스키마를 보고 각 물음에 답하시오.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6128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7955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AB97DD0-CD90-BBD3-236C-65A72E80B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54480"/>
            <a:ext cx="6601746" cy="159089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A325AE3-7FA9-8650-BD9D-B0E04688D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45377"/>
            <a:ext cx="4001058" cy="24768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F08FA48-1C97-79B1-1B3D-86F4186C1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92" y="3554735"/>
            <a:ext cx="7278116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4820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문제 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91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해설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/ 62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네 개의 릴레이션 스키마를 보고 각 물음에 답하시오.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161288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해답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554480"/>
            <a:ext cx="7955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FD60529-8013-6F45-D324-F706345DF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54480"/>
            <a:ext cx="6477904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286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94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수고하셨습니다!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 관계 대수 — 연습문제 해답 (전 30문제)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대전대학교 컴퓨터공학과  ·  박상돈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3323</Words>
  <Application>Microsoft Office PowerPoint</Application>
  <PresentationFormat>화면 슬라이드 쇼(16:9)</PresentationFormat>
  <Paragraphs>900</Paragraphs>
  <Slides>65</Slides>
  <Notes>65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69" baseType="lpstr"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6장 관계 대수 — 연습문제 해답</dc:title>
  <dc:subject>PptxGenJS Presentation</dc:subject>
  <dc:creator>박상돈</dc:creator>
  <cp:lastModifiedBy>상돈 박</cp:lastModifiedBy>
  <cp:revision>39</cp:revision>
  <dcterms:created xsi:type="dcterms:W3CDTF">2026-04-06T12:51:49Z</dcterms:created>
  <dcterms:modified xsi:type="dcterms:W3CDTF">2026-04-11T08:17:42Z</dcterms:modified>
</cp:coreProperties>
</file>