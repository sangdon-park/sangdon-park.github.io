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200" d="100"/>
          <a:sy n="200" d="100"/>
        </p:scale>
        <p:origin x="654" y="3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488192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emf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emf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emf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emf"/><Relationship Id="rId13" Type="http://schemas.openxmlformats.org/officeDocument/2006/relationships/image" Target="../media/image16.png"/><Relationship Id="rId3" Type="http://schemas.openxmlformats.org/officeDocument/2006/relationships/image" Target="../media/image12.png"/><Relationship Id="rId7" Type="http://schemas.openxmlformats.org/officeDocument/2006/relationships/image" Target="../media/image19.emf"/><Relationship Id="rId12" Type="http://schemas.openxmlformats.org/officeDocument/2006/relationships/image" Target="../media/image22.emf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emf"/><Relationship Id="rId11" Type="http://schemas.openxmlformats.org/officeDocument/2006/relationships/image" Target="../media/image21.emf"/><Relationship Id="rId5" Type="http://schemas.openxmlformats.org/officeDocument/2006/relationships/image" Target="../media/image14.png"/><Relationship Id="rId10" Type="http://schemas.openxmlformats.org/officeDocument/2006/relationships/image" Target="../media/image17.png"/><Relationship Id="rId4" Type="http://schemas.openxmlformats.org/officeDocument/2006/relationships/image" Target="../media/image13.png"/><Relationship Id="rId9" Type="http://schemas.openxmlformats.org/officeDocument/2006/relationships/image" Target="../media/image15.png"/><Relationship Id="rId14" Type="http://schemas.openxmlformats.org/officeDocument/2006/relationships/image" Target="../media/image23.emf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108960"/>
            <a:ext cx="9144000" cy="20345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06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대수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19659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연습문제 해답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31520" y="25146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Algebra — Exercises &amp; Solutions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33832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대전대학교 컴퓨터공학과  |  박상돈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84048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총 30문제  ·  객관식 + 서술형 + OX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62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 A와 B가 합병 가능한지 여부를 판단하는 기준이 아닌 것은?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202996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202996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60120" y="1965960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릴레이션의 인스턴스가 동일해야 한다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253288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253288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2468880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릴레이션의 차수가 동일해야 한다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97180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303580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303580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2971800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릴레이션의 대응하는 속성의 이름은 달라도 상관없다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353872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353872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60120" y="3474720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릴레이션의 대응하는 속성의 도메인은 동일해야 한다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62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 A와 B가 합병 가능한지 여부를 판단하는 기준이 아닌 것은?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402336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1293876"/>
            <a:ext cx="292608" cy="29260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12938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2344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릴레이션의 인스턴스가 동일해야 한다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0" y="123444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16916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0352" y="1751076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5" name="Text 13"/>
          <p:cNvSpPr/>
          <p:nvPr/>
        </p:nvSpPr>
        <p:spPr>
          <a:xfrm>
            <a:off x="530352" y="17510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14400" y="16916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릴레이션의 차수가 동일해야 한다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1488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0352" y="2208276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9" name="Text 17"/>
          <p:cNvSpPr/>
          <p:nvPr/>
        </p:nvSpPr>
        <p:spPr>
          <a:xfrm>
            <a:off x="530352" y="22082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14400" y="21488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릴레이션의 대응하는 속성의 이름은 달라도 상관없다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26060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2665476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3" name="Text 21"/>
          <p:cNvSpPr/>
          <p:nvPr/>
        </p:nvSpPr>
        <p:spPr>
          <a:xfrm>
            <a:off x="530352" y="26654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6060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릴레이션의 대응하는 속성의 도메인은 동일해야 한다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246120"/>
            <a:ext cx="822960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246120"/>
            <a:ext cx="82296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264408"/>
            <a:ext cx="18288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94360" y="3657600"/>
            <a:ext cx="7955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합병 가능 조건: ①차수 동일 ②대응 속성의 도메인 동일.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속성 이름은 달라도 되며, 인스턴스(투플 값)는 합병 가능 판단 기준이 아닙니다.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62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대수와 관계 해석에 대한 설명으로 옳지 않은 것은?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202996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202996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60120" y="1965960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대수와 관계 해석은 데이터를 처리하는 기능과 표현력에서 동등한 능력이 있다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253288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253288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2468880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대수는 절차 언어이고, 관계 해석은 비절차 언어다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97180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303580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303580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2971800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대수는 수학의 프레디킷 해석에 기반을 두고 있다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353872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353872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60120" y="3474720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해석은 투플 관계 해석과 도메인 관계 해석으로 분류된다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62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대수와 관계 해석에 대한 설명으로 옳지 않은 것은?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1293876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12938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2344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대수와 관계 해석은 데이터를 처리하는 기능과 표현력에서 동등한 능력이 있다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6916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1751076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17510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16916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대수는 절차 언어이고, 관계 해석은 비절차 언어다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148840"/>
            <a:ext cx="8229600" cy="402336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2208276"/>
            <a:ext cx="292608" cy="29260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22082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4400" y="21488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대수는 수학의 프레디킷 해석에 기반을 두고 있다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046720" y="214884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57200" y="26060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2665476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3" name="Text 21"/>
          <p:cNvSpPr/>
          <p:nvPr/>
        </p:nvSpPr>
        <p:spPr>
          <a:xfrm>
            <a:off x="530352" y="26654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6060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해석은 투플 관계 해석과 도메인 관계 해석으로 분류된다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246120"/>
            <a:ext cx="822960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246120"/>
            <a:ext cx="82296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264408"/>
            <a:ext cx="18288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94360" y="3657600"/>
            <a:ext cx="7955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대수는 집합론과 관계 연산에 기반한 절차 언어입니다.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수학의 프레디킷 해석에 기반을 둔 것은 관계 해석입니다.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62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대수 연산자 중 일반 집합 연산자에 속하지 않는 것은?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202996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202996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60120" y="1965960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÷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253288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253288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2468880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97180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303580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303580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2971800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∪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353872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353872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60120" y="3474720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62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대수 연산자 중 일반 집합 연산자에 속하지 않는 것은?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402336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1293876"/>
            <a:ext cx="292608" cy="29260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12938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2344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÷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0" y="123444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16916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0352" y="1751076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5" name="Text 13"/>
          <p:cNvSpPr/>
          <p:nvPr/>
        </p:nvSpPr>
        <p:spPr>
          <a:xfrm>
            <a:off x="530352" y="17510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14400" y="16916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1488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0352" y="2208276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9" name="Text 17"/>
          <p:cNvSpPr/>
          <p:nvPr/>
        </p:nvSpPr>
        <p:spPr>
          <a:xfrm>
            <a:off x="530352" y="22082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14400" y="21488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∪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26060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2665476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3" name="Text 21"/>
          <p:cNvSpPr/>
          <p:nvPr/>
        </p:nvSpPr>
        <p:spPr>
          <a:xfrm>
            <a:off x="530352" y="26654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6060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246120"/>
            <a:ext cx="822960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246120"/>
            <a:ext cx="82296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264408"/>
            <a:ext cx="18288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94360" y="3657600"/>
            <a:ext cx="7955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÷(디비전)는 순수 관계 연산자에 속합니다.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일반 집합 연산자: 합집합(∪), 교집합(∩), 차집합(−), 카티션 프로덕트(×)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62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대수 연산자 중 종류가 다른 것은?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202996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202996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60120" y="1965960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 (프로젝트)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253288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253288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2468880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⋈ (조인)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97180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303580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303580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2971800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(카티션 프로덕트)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353872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353872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60120" y="3474720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(셀렉트)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62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대수 연산자 중 종류가 다른 것은?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1293876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12938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2344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 (프로젝트)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6916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1751076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17510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16916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⋈ (조인)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148840"/>
            <a:ext cx="8229600" cy="402336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2208276"/>
            <a:ext cx="292608" cy="29260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22082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4400" y="21488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(카티션 프로덕트)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046720" y="214884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57200" y="26060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2665476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3" name="Text 21"/>
          <p:cNvSpPr/>
          <p:nvPr/>
        </p:nvSpPr>
        <p:spPr>
          <a:xfrm>
            <a:off x="530352" y="26654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6060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(셀렉트)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246120"/>
            <a:ext cx="822960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246120"/>
            <a:ext cx="82296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264408"/>
            <a:ext cx="18288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94360" y="3657600"/>
            <a:ext cx="7955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×(카티션 프로덕트)는 일반 집합 연산자이고,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π(프로젝트), ⋈(조인), σ(셀렉트)는 순수 관계 연산자입니다.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62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릴레이션에서 조건을 만족하는 투플들을 반환하는 관계 대수 연산자는?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202996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202996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60120" y="1965960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(셀렉트)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253288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253288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2468880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 (프로젝트)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97180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303580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303580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2971800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⋈ (조인)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353872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353872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60120" y="3474720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÷ (디비전)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62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릴레이션에서 조건을 만족하는 투플들을 반환하는 관계 대수 연산자는?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402336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1293876"/>
            <a:ext cx="292608" cy="29260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12938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2344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(셀렉트)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0" y="123444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16916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0352" y="1751076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5" name="Text 13"/>
          <p:cNvSpPr/>
          <p:nvPr/>
        </p:nvSpPr>
        <p:spPr>
          <a:xfrm>
            <a:off x="530352" y="17510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14400" y="16916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 (프로젝트)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1488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0352" y="2208276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9" name="Text 17"/>
          <p:cNvSpPr/>
          <p:nvPr/>
        </p:nvSpPr>
        <p:spPr>
          <a:xfrm>
            <a:off x="530352" y="22082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14400" y="21488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⋈ (조인)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26060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2665476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3" name="Text 21"/>
          <p:cNvSpPr/>
          <p:nvPr/>
        </p:nvSpPr>
        <p:spPr>
          <a:xfrm>
            <a:off x="530352" y="26654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6060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÷ (디비전)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246120"/>
            <a:ext cx="822960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246120"/>
            <a:ext cx="82296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264408"/>
            <a:ext cx="18288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94360" y="3657600"/>
            <a:ext cx="7955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σ(셀렉트)는 릴레이션에서 주어진 조건을 만족하는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투플들을 선택하여 반환하는 연산입니다.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62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릴레이션에서 제시된 특정 속성들의 값으로만 구성된 투플을 반환하는 관계 대수 연산은?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202996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202996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60120" y="1965960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253288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253288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2468880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97180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303580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303580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2971800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353872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353872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60120" y="3474720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62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릴레이션에서 제시된 특정 속성들의 값으로만 구성된 투플을 반환하는 관계 대수 연산은?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1293876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12938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2344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691640"/>
            <a:ext cx="8229600" cy="402336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1751076"/>
            <a:ext cx="292608" cy="29260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17510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16916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046720" y="169164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57200" y="21488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0352" y="2208276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9" name="Text 17"/>
          <p:cNvSpPr/>
          <p:nvPr/>
        </p:nvSpPr>
        <p:spPr>
          <a:xfrm>
            <a:off x="530352" y="22082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14400" y="21488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26060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2665476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3" name="Text 21"/>
          <p:cNvSpPr/>
          <p:nvPr/>
        </p:nvSpPr>
        <p:spPr>
          <a:xfrm>
            <a:off x="530352" y="26654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6060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246120"/>
            <a:ext cx="822960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246120"/>
            <a:ext cx="82296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264408"/>
            <a:ext cx="18288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94360" y="3657600"/>
            <a:ext cx="7955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프로젝트(π) 연산은 릴레이션에서 지정된 속성들의 값만으로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구성된 투플들을 반환합니다. 중복 투플은 제거됩니다.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62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 R의 각 투플과 릴레이션 S의 각 투플을 모두 연결하여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만들어진 새로운 투플을 반환하는 관계 대수 연산자는?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202996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202996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60120" y="1965960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∩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253288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253288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2468880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∪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97180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303580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303580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2971800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353872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353872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60120" y="3474720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62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 R의 각 투플과 릴레이션 S의 각 투플을 모두 연결하여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1293876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12938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2344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∩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6916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1751076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17510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16916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∪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1488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2208276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22082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4400" y="21488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2606040"/>
            <a:ext cx="8229600" cy="402336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2665476"/>
            <a:ext cx="292608" cy="29260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26654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4400" y="26060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046720" y="260604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57200" y="3246120"/>
            <a:ext cx="822960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246120"/>
            <a:ext cx="82296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264408"/>
            <a:ext cx="18288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94360" y="3657600"/>
            <a:ext cx="7955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카티션 프로덕트(×)는 두 릴레이션의 모든 투플 조합을 생성합니다.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 차수 = R차수 + S차수, 카디널리티 = R카디널리티 × S카디널리티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62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공통 속성을 이용해 릴레이션 R과 S의 투플들을 연결하여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만들어진 새로운 투플들을 반환하는 관계 대수 연산은?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202996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202996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60120" y="1965960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253288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253288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2468880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97180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303580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303580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2971800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353872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353872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60120" y="3474720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62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공통 속성을 이용해 릴레이션 R과 S의 투플들을 연결하여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1293876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12938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2344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6916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1751076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17510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16916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148840"/>
            <a:ext cx="8229600" cy="402336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2208276"/>
            <a:ext cx="292608" cy="29260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22082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4400" y="21488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046720" y="214884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57200" y="26060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2665476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3" name="Text 21"/>
          <p:cNvSpPr/>
          <p:nvPr/>
        </p:nvSpPr>
        <p:spPr>
          <a:xfrm>
            <a:off x="530352" y="26654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6060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246120"/>
            <a:ext cx="822960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246120"/>
            <a:ext cx="82296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264408"/>
            <a:ext cx="18288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94360" y="3657600"/>
            <a:ext cx="7955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조인(⋈) 연산은 공통 속성을 기준으로 두 릴레이션의 투플을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연결합니다. 세타/동등/자연/외부 조인 등의 종류가 있습니다.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9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62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중 교환적 특징을 가지지 않는 연산자는?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202996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202996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60120" y="1965960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∪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253288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253288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2468880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∩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97180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303580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303580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2971800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353872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353872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60120" y="3474720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9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62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중 교환적 특징을 가지지 않는 연산자는?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1293876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12938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2344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∪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6916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1751076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17510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16916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∩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148840"/>
            <a:ext cx="8229600" cy="402336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2208276"/>
            <a:ext cx="292608" cy="29260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22082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4400" y="21488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046720" y="214884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57200" y="26060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2665476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3" name="Text 21"/>
          <p:cNvSpPr/>
          <p:nvPr/>
        </p:nvSpPr>
        <p:spPr>
          <a:xfrm>
            <a:off x="530352" y="26654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6060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246120"/>
            <a:ext cx="822960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246120"/>
            <a:ext cx="82296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264408"/>
            <a:ext cx="18288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94360" y="3657600"/>
            <a:ext cx="7955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차집합(−)은 교환법칙이 성립하지 않습니다.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R−S ≠ S−R (결과가 다릅니다)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합집합, 교집합, 카티션 프로덕트는 교환법칙이 성립합니다.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62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대수에 대한 설명으로 옳은 것은?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202996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202996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60120" y="1965960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처리를 원하는 데이터가 무엇인지만 기술하는 비절차 언어다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253288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253288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2468880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투플 관계 해석과 도메인 관계 해석이 있다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97180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303580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303580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2971800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원하는 결과를 얻기 위해 릴레이션을 처리하는 연산자들의 집합으로,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피연산자와 결과가 모두 릴레이션이다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353872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353872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60120" y="3474720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대수는 수학의 프레디킷 해석에 기반을 두고 있다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62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대수에 대한 설명으로 옳은 것은?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1293876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12938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2344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처리를 원하는 데이터가 무엇인지만 기술하는 비절차 언어다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6916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1751076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17510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16916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투플 관계 해석과 도메인 관계 해석이 있다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148840"/>
            <a:ext cx="8229600" cy="402336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2208276"/>
            <a:ext cx="292608" cy="29260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22082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4400" y="21488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원하는 결과를 얻기 위해 릴레이션을 처리하는 연산자들의 집합으로,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046720" y="214884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57200" y="26060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2665476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3" name="Text 21"/>
          <p:cNvSpPr/>
          <p:nvPr/>
        </p:nvSpPr>
        <p:spPr>
          <a:xfrm>
            <a:off x="530352" y="26654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6060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대수는 수학의 프레디킷 해석에 기반을 두고 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246120"/>
            <a:ext cx="822960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246120"/>
            <a:ext cx="82296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264408"/>
            <a:ext cx="18288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94360" y="3657600"/>
            <a:ext cx="7955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대수는 절차 언어이며, 피연산자와 결과가 모두 릴레이션인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폐쇄 특성을 가집니다.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①은 관계 해석, ②④는 관계 해석에 대한 설명입니다.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62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 R의 차수가 5이고, 카디널리티가 8,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 S의 차수가 3, 카디널리티가 6일 때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릴레이션을 카티션 프로덕트한 결과 릴레이션의 차수와 카디널리티는?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202996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202996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60120" y="1965960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8, 14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253288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253288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2468880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8, 48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97180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303580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303580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2971800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15, 14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353872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353872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60120" y="3474720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15, 48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62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 R의 차수가 5이고, 카디널리티가 8,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1293876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12938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2344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8, 14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691640"/>
            <a:ext cx="8229600" cy="402336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1751076"/>
            <a:ext cx="292608" cy="29260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17510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16916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8, 48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046720" y="169164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57200" y="21488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0352" y="2208276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9" name="Text 17"/>
          <p:cNvSpPr/>
          <p:nvPr/>
        </p:nvSpPr>
        <p:spPr>
          <a:xfrm>
            <a:off x="530352" y="22082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14400" y="21488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15, 14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26060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2665476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3" name="Text 21"/>
          <p:cNvSpPr/>
          <p:nvPr/>
        </p:nvSpPr>
        <p:spPr>
          <a:xfrm>
            <a:off x="530352" y="26654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6060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15, 48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246120"/>
            <a:ext cx="822960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246120"/>
            <a:ext cx="82296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264408"/>
            <a:ext cx="18288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94360" y="3657600"/>
            <a:ext cx="7955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카티션 프로덕트 결과: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차수 = 5 + 3 = 8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카디널리티 = 8 × 6 = 48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62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관계 대수 표현의 의미는?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π제목, 평점(σ상영시간≥150 ∧ 감독이름='봉준호'(영화))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202996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202996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60120" y="1965960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상영시간이 150분 이상이거나 감독이름이 봉준호인 영화의 제목과 평점을 생성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253288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253288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2468880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상영시간이 150분 이상이고 감독이름이 봉준호인 영화의 제목과 평점을 생성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97180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303580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303580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2971800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상영시간이 150분 이상이거나 감독이름이 봉준호인 영화의 제목과 평점을 검색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353872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353872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60120" y="3474720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상영시간이 150분 이상이고 감독이름이 봉준호인 영화의 제목과 평점을 검색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62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관계 대수 표현의 의미는?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1293876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12938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2344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상영시간이 150분 이상이거나 감독이름이 봉준호인 영화의 제목과 평점을 생성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6916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1751076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17510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16916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상영시간이 150분 이상이고 감독이름이 봉준호인 영화의 제목과 평점을 생성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1488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2208276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22082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4400" y="21488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상영시간이 150분 이상이거나 감독이름이 봉준호인 영화의 제목과 평점을 검색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2606040"/>
            <a:ext cx="8229600" cy="402336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2665476"/>
            <a:ext cx="292608" cy="29260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26654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4400" y="26060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상영시간이 150분 이상이고 감독이름이 봉준호인 영화의 제목과 평점을 검색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046720" y="260604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57200" y="3246120"/>
            <a:ext cx="822960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246120"/>
            <a:ext cx="82296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264408"/>
            <a:ext cx="18288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94360" y="3657600"/>
            <a:ext cx="7955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∧는 AND 조건, σ는 셀렉트(검색), π는 프로젝트(속성 선택).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따라서 두 조건을 모두 만족하는 영화의 제목과 평점을 검색합니다.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62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자연 조인 연산을 수행할 때 상대 릴레이션에 조인 속성 값이 같은 투플이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존재하지 않아 조인 연산에서 제외되었던 모든 투플을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 릴레이션에 포함시키는 조인 연산은?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202996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202996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60120" y="1965960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동일 조인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253288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253288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2468880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세타 조인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97180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303580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303580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2971800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외부 조인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353872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353872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60120" y="3474720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세미 조인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62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자연 조인 연산을 수행할 때 상대 릴레이션에 조인 속성 값이 같은 투플이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1293876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12938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2344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동일 조인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6916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1751076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17510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16916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세타 조인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148840"/>
            <a:ext cx="8229600" cy="402336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2208276"/>
            <a:ext cx="292608" cy="29260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22082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4400" y="21488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외부 조인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046720" y="214884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57200" y="26060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2665476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3" name="Text 21"/>
          <p:cNvSpPr/>
          <p:nvPr/>
        </p:nvSpPr>
        <p:spPr>
          <a:xfrm>
            <a:off x="530352" y="26654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6060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세미 조인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246120"/>
            <a:ext cx="822960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246120"/>
            <a:ext cx="82296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264408"/>
            <a:ext cx="18288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94360" y="3657600"/>
            <a:ext cx="7955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외부 조인(outer join)은 자연 조인 시 제외된 투플도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결과에 포함시키고, 대응 값이 없는 속성에는 NULL을 채웁니다.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왼쪽/오른쪽/완전 외부 조인이 있습니다.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/ 62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대수의 조인 연산에서 중복된 속성이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번만 결과 릴레이션에 나타나는 것을 무엇이라 하는가?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202996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202996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60120" y="1965960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세타 조인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253288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253288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2468880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동등 조인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97180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303580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303580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2971800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자연 조인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353872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353872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60120" y="3474720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외부 조인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/ 62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대수의 조인 연산에서 중복된 속성이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1293876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12938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2344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세타 조인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6916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1751076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17510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16916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동등 조인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148840"/>
            <a:ext cx="8229600" cy="402336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2208276"/>
            <a:ext cx="292608" cy="29260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22082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4400" y="21488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자연 조인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046720" y="214884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57200" y="26060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2665476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3" name="Text 21"/>
          <p:cNvSpPr/>
          <p:nvPr/>
        </p:nvSpPr>
        <p:spPr>
          <a:xfrm>
            <a:off x="530352" y="26654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6060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외부 조인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246120"/>
            <a:ext cx="822960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246120"/>
            <a:ext cx="82296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264408"/>
            <a:ext cx="18288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94360" y="3657600"/>
            <a:ext cx="7955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자연 조인(natural join)은 동등 조인 결과에서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중복된 공통 속성을 하나만 남기고 제거한 결과를 반환합니다.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/ 62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해석에 대한 설명으로 옳은 것은?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202996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202996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60120" y="1965960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원하는 결과를 얻기 위해 처리 과정을 순서대로 기술하는 절차 언어다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253288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253288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2468880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수학의 프레디킷 해석에 기반을 두고 있다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97180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303580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303580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2971800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해석으로 표현한 질의는 관계 대수로 표현할 수는 없다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353872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353872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60120" y="3474720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일반 집합 연산자와 순수 관계 연산자로 분류된다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/ 62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해석에 대한 설명으로 옳은 것은?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1293876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12938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2344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원하는 결과를 얻기 위해 처리 과정을 순서대로 기술하는 절차 언어다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691640"/>
            <a:ext cx="8229600" cy="402336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1751076"/>
            <a:ext cx="292608" cy="29260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17510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16916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수학의 프레디킷 해석에 기반을 두고 있다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046720" y="169164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57200" y="21488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0352" y="2208276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9" name="Text 17"/>
          <p:cNvSpPr/>
          <p:nvPr/>
        </p:nvSpPr>
        <p:spPr>
          <a:xfrm>
            <a:off x="530352" y="22082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14400" y="21488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해석으로 표현한 질의는 관계 대수로 표현할 수는 없다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26060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2665476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3" name="Text 21"/>
          <p:cNvSpPr/>
          <p:nvPr/>
        </p:nvSpPr>
        <p:spPr>
          <a:xfrm>
            <a:off x="530352" y="26654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6060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일반 집합 연산자와 순수 관계 연산자로 분류된다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246120"/>
            <a:ext cx="822960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246120"/>
            <a:ext cx="82296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264408"/>
            <a:ext cx="18288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94360" y="3657600"/>
            <a:ext cx="7955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해석은 수학의 프레디킷 해석(predicate calculus)에 기반한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비절차 언어로, 원하는 데이터가 무엇인지만 기술합니다.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관계 대수와 관계 해석은 동등한 표현력을 가집니다.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/ 62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합병 가능한 두 릴레이션 R과 S가 있을 때,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R−S 연산의 결과 릴레이션에 대한 설명으로 옳은 것을 모두 고르시오.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74520"/>
            <a:ext cx="82296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874520"/>
            <a:ext cx="7498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 결과 릴레이션의 차수는 릴레이션 R의 차수와 같다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0" y="1874520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350008"/>
            <a:ext cx="82296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350008"/>
            <a:ext cx="7498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 결과 릴레이션의 차수는 릴레이션 S의 차수와 같다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229600" y="235000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2825496"/>
            <a:ext cx="82296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2825496"/>
            <a:ext cx="7498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 결과 릴레이션의 차수는 R차수에서 S차수를 뺀 것과 같다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29600" y="2825496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300984"/>
            <a:ext cx="82296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3300984"/>
            <a:ext cx="7498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(D)  결과 릴레이션의 카디널리티는 R의 카디널리티와 같거나 적다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29600" y="3300984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3776472"/>
            <a:ext cx="82296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3776472"/>
            <a:ext cx="7498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(E)  결과 릴레이션의 카디널리티는 R카디널리티에서 S카디널리티를 뺀 것과 같다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229600" y="3776472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/ 62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합병 가능한 두 릴레이션 R과 S가 있을 때,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8229600" cy="402336"/>
          </a:xfrm>
          <a:prstGeom prst="rect">
            <a:avLst/>
          </a:prstGeom>
          <a:solidFill>
            <a:srgbClr val="F0FDF4"/>
          </a:solidFill>
          <a:ln w="15240">
            <a:solidFill>
              <a:srgbClr val="22C5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188720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 결과 릴레이션의 차수는 릴레이션 R의 차수와 같다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863840" y="1188720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229600" y="1188720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1664208"/>
            <a:ext cx="8229600" cy="402336"/>
          </a:xfrm>
          <a:prstGeom prst="rect">
            <a:avLst/>
          </a:prstGeom>
          <a:solidFill>
            <a:srgbClr val="F0FDF4"/>
          </a:solidFill>
          <a:ln w="1524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1664208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 결과 릴레이션의 차수는 릴레이션 S의 차수와 같다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863840" y="166420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229600" y="166420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2139696"/>
            <a:ext cx="8229600" cy="402336"/>
          </a:xfrm>
          <a:prstGeom prst="rect">
            <a:avLst/>
          </a:prstGeom>
          <a:solidFill>
            <a:srgbClr val="FEE2E2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2139696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 결과 릴레이션의 차수는 R차수에서 S차수를 뺀 것과 같다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863840" y="2139696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229600" y="2139696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2615184"/>
            <a:ext cx="8229600" cy="402336"/>
          </a:xfrm>
          <a:prstGeom prst="rect">
            <a:avLst/>
          </a:prstGeom>
          <a:solidFill>
            <a:srgbClr val="F0FDF4"/>
          </a:solidFill>
          <a:ln w="15240">
            <a:solidFill>
              <a:srgbClr val="22C55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2615184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(D)  결과 릴레이션의 카디널리티는 R의 카디널리티와 같거나 적다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863840" y="2615184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229600" y="2615184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7200" y="3090672"/>
            <a:ext cx="8229600" cy="402336"/>
          </a:xfrm>
          <a:prstGeom prst="rect">
            <a:avLst/>
          </a:prstGeom>
          <a:solidFill>
            <a:srgbClr val="FEE2E2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" y="3090672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(E)  결과 릴레이션의 카디널리티는 R카디널리티에서 S카디널리티를 뺀 것과 같다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863840" y="3090672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229600" y="3090672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57200" y="3703320"/>
            <a:ext cx="8229600" cy="114300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200" y="3703320"/>
            <a:ext cx="82296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0" name="Text 28"/>
          <p:cNvSpPr/>
          <p:nvPr/>
        </p:nvSpPr>
        <p:spPr>
          <a:xfrm>
            <a:off x="594360" y="3721608"/>
            <a:ext cx="18288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해설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94360" y="4114800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합병 가능 → 차수 동일, 따라서 결과 차수 = R차수 = S차수.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카디널리티는 R에만 있는 투플 수이므로 R 이하입니다.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/ 62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대수에 대한 설명으로 적합한 것을 모두 고르시오.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74520"/>
            <a:ext cx="82296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874520"/>
            <a:ext cx="7498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 원하는 데이터를 얻기 위한 처리 과정을 순서대로 기술하는 절차 언어다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0" y="1874520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350008"/>
            <a:ext cx="82296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350008"/>
            <a:ext cx="7498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 일반 집합 연산자와 순수 관계 연산자가 있다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229600" y="235000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2825496"/>
            <a:ext cx="82296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2825496"/>
            <a:ext cx="7498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 피연산자와 결과가 모두 릴레이션이다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29600" y="2825496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300984"/>
            <a:ext cx="82296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3300984"/>
            <a:ext cx="7498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(D)  수학의 프레디킷 해석에 기반을 두고 있다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29600" y="3300984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3776472"/>
            <a:ext cx="82296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3776472"/>
            <a:ext cx="7498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(E)  수행해야 하는 연산의 순서를 명확히 제시해야 한다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229600" y="3776472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/ 62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대수에 대한 설명으로 적합한 것을 모두 고르시오.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8229600" cy="402336"/>
          </a:xfrm>
          <a:prstGeom prst="rect">
            <a:avLst/>
          </a:prstGeom>
          <a:solidFill>
            <a:srgbClr val="F0FDF4"/>
          </a:solidFill>
          <a:ln w="15240">
            <a:solidFill>
              <a:srgbClr val="22C5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188720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 원하는 데이터를 얻기 위한 처리 과정을 순서대로 기술하는 절차 언어다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863840" y="1188720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229600" y="1188720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1664208"/>
            <a:ext cx="8229600" cy="402336"/>
          </a:xfrm>
          <a:prstGeom prst="rect">
            <a:avLst/>
          </a:prstGeom>
          <a:solidFill>
            <a:srgbClr val="F0FDF4"/>
          </a:solidFill>
          <a:ln w="1524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1664208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 일반 집합 연산자와 순수 관계 연산자가 있다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863840" y="166420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229600" y="166420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2139696"/>
            <a:ext cx="8229600" cy="402336"/>
          </a:xfrm>
          <a:prstGeom prst="rect">
            <a:avLst/>
          </a:prstGeom>
          <a:solidFill>
            <a:srgbClr val="F0FDF4"/>
          </a:solidFill>
          <a:ln w="15240">
            <a:solidFill>
              <a:srgbClr val="22C5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2139696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 피연산자와 결과가 모두 릴레이션이다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863840" y="2139696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229600" y="2139696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2615184"/>
            <a:ext cx="8229600" cy="402336"/>
          </a:xfrm>
          <a:prstGeom prst="rect">
            <a:avLst/>
          </a:prstGeom>
          <a:solidFill>
            <a:srgbClr val="FEE2E2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2615184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(D)  수학의 프레디킷 해석에 기반을 두고 있다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863840" y="2615184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229600" y="2615184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7200" y="3090672"/>
            <a:ext cx="8229600" cy="402336"/>
          </a:xfrm>
          <a:prstGeom prst="rect">
            <a:avLst/>
          </a:prstGeom>
          <a:solidFill>
            <a:srgbClr val="F0FDF4"/>
          </a:solidFill>
          <a:ln w="15240">
            <a:solidFill>
              <a:srgbClr val="22C55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" y="3090672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(E)  수행해야 하는 연산의 순서를 명확히 제시해야 한다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863840" y="3090672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229600" y="3090672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57200" y="3703320"/>
            <a:ext cx="8229600" cy="114300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200" y="3703320"/>
            <a:ext cx="82296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0" name="Text 28"/>
          <p:cNvSpPr/>
          <p:nvPr/>
        </p:nvSpPr>
        <p:spPr>
          <a:xfrm>
            <a:off x="594360" y="3721608"/>
            <a:ext cx="18288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해설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94360" y="4114800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(D)는 관계 해석에 대한 설명입니다.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대수는 절차 언어로 연산 순서를 명시하며,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일반 집합 연산자와 순수 관계 연산자를 사용합니다.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/ 62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868680"/>
            <a:ext cx="411480" cy="4114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868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850392"/>
            <a:ext cx="76809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대수의 폐쇄 특성을 설명하시오.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/ 62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대수의 폐쇄 특성을 설명하시오.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1252728"/>
            <a:ext cx="18288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해답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1645920"/>
            <a:ext cx="795528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대수의 연산 대상도 릴레이션이고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연산의 결과도 릴레이션이 된다는 것을 의미합니다.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따라서 관계 대수 연산의 결과를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다른 관계 대수 연산의 입력으로 사용할 수 있습니다.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19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/ 62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868680"/>
            <a:ext cx="411480" cy="4114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868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850392"/>
            <a:ext cx="76809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설명을 읽고 빈칸을 적절히 채우시오.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"관계 대수나 관계 해석으로 기술할 수 있는 모든 데이터 처리 요구를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새로 제안된 데이터 언어가 기술할 수 있다면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 언어를 (          )하다고 말할 수 있다."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19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/ 62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설명을 읽고 빈칸을 적절히 채우시오.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1252728"/>
            <a:ext cx="18288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해답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1645920"/>
            <a:ext cx="795528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정답: 관계적으로 완전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관계적으로 완전하다는 것은 관계 대수나 관계 해석과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동등한 표현력을 가진다는 의미입니다.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SQL은 관계적으로 완전한 데이터 언어입니다.</a:t>
            </a:r>
            <a:endParaRPr lang="en-US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/ 62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868680"/>
            <a:ext cx="411480" cy="4114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868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850392"/>
            <a:ext cx="76809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동등 조인과 자연 조인의 차이를 설명하시오.</a:t>
            </a:r>
            <a:endParaRPr lang="en-US" sz="13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/ 62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동등 조인과 자연 조인의 차이를 설명하시오.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1252728"/>
            <a:ext cx="18288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해답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1645920"/>
            <a:ext cx="795528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동등 조인(equi join):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공통 속성의 값이 같은 투플을 연결하며,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결과에 공통 속성이 중복되어 나타남.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자연 조인(natural join):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동등 조인 결과에서 중복된 공통 속성을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제거한 결과를 반환함.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따라서 동등 조인 결과에서 중복 속성을 제거하면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자연 조인의 결과가 됩니다.</a:t>
            </a:r>
            <a:endParaRPr lang="en-US" sz="1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/ 62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868680"/>
            <a:ext cx="411480" cy="4114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868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850392"/>
            <a:ext cx="76809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다음이 설명하고 있는 관계 대수 연산자의 기호는 무엇인가?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"두 릴레이션 R, S에 대해 릴레이션 R의 모든 조건을 만족하는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투플들을 릴레이션 S에서 분리해서 프로젝트하는 연산"</a:t>
            </a:r>
            <a:endParaRPr lang="en-US" sz="13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/ 62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다음이 설명하고 있는 관계 대수 연산자의 기호는 무엇인가?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1252728"/>
            <a:ext cx="18288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해답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1645920"/>
            <a:ext cx="795528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정답: ÷ (디비전)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디비전 연산은 릴레이션 S의 모든 투플과 관련이 있는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R의 투플을 찾아 S에 없는 속성 값만 반환합니다.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예: '모든 과목을 수강하는 학생' 검색에 활용됩니다.</a:t>
            </a:r>
            <a:endParaRPr lang="en-US" sz="11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/ 62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868680"/>
            <a:ext cx="411480" cy="4114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868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850392"/>
            <a:ext cx="76809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다음이 설명하고 있는 관계 대수 연산자의 기호는 무엇인가?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"두 릴레이션 R, S에 대해 릴레이션 R에는 존재하지만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 S에는 존재하지 않는 투플을 추출하는 연산"</a:t>
            </a:r>
            <a:endParaRPr lang="en-US" sz="13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/ 62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다음이 설명하고 있는 관계 대수 연산자의 기호는 무엇인가?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1252728"/>
            <a:ext cx="18288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해답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1645920"/>
            <a:ext cx="795528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정답: − (차집합, Difference)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R−S는 R에만 존재하는 투플을 반환합니다.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교환법칙이 성립하지 않으므로 R−S ≠ S−R 입니다.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합병 가능한 두 릴레이션에만 적용 가능합니다.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/ 62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868680"/>
            <a:ext cx="411480" cy="4114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868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850392"/>
            <a:ext cx="76809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 R의 차수가 3이고, 릴레이션 S의 차수가 4이다.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릴레이션은 한 개의 속성을 공통으로 가지고 있을 때,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각 물음에 답하시오.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동등 조인 결과의 차수는?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(2) 자연 조인 결과의 차수는?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(3) 세미 조인(R⋉S) 결과의 차수는?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(4) 완전 외부 조인 결과의 차수는?</a:t>
            </a:r>
            <a:endParaRPr lang="en-US" sz="13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/ 62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 R의 차수가 3이고, 릴레이션 S의 차수가 4이다.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1252728"/>
            <a:ext cx="18288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해답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1645920"/>
            <a:ext cx="795528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동등 조인 → 차수: 7개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R차수(3) + S차수(4) = 7 (공통 속성 중복 포함)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(2) 자연 조인 → 차수: 6개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3 + 4 − 1(공통 속성 중복 제거) = 6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(3) 세미 조인(R⋉S) → 차수: 3개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R의 차수와 동일 (R의 속성만 반환)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(4) 완전 외부 조인 → 차수: 6개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자연 조인과 동일한 스키마 (6개)</a:t>
            </a:r>
            <a:endParaRPr lang="en-US" sz="11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/ 62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804672"/>
            <a:ext cx="411480" cy="4114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8046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777240"/>
            <a:ext cx="76809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두 릴레이션 R과 S를 보고 각 물음에 답하시오.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228600" indent="-228600">
              <a:lnSpc>
                <a:spcPct val="120000"/>
              </a:lnSpc>
              <a:buAutoNum type="arabicParenBoth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R∪S  </a:t>
            </a:r>
            <a:r>
              <a:rPr lang="ko-KR" alt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연산을 수행한 결과 릴레이션을 </a:t>
            </a:r>
            <a:r>
              <a:rPr lang="ko-KR" alt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작성하시오</a:t>
            </a:r>
            <a:r>
              <a:rPr lang="en-US" altLang="ko-KR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</a:p>
          <a:p>
            <a:pPr marL="228600" indent="-228600">
              <a:lnSpc>
                <a:spcPct val="120000"/>
              </a:lnSpc>
              <a:buAutoNum type="arabicParenBoth"/>
            </a:pPr>
            <a:endPara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lnSpc>
                <a:spcPct val="120000"/>
              </a:lnSpc>
              <a:buAutoNum type="arabicParenBoth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R∩S</a:t>
            </a:r>
            <a:r>
              <a:rPr lang="ko-KR" alt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연산을 수행한 결과 릴레이션을 </a:t>
            </a:r>
            <a:r>
              <a:rPr lang="ko-KR" alt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작성하시오</a:t>
            </a:r>
            <a:r>
              <a:rPr lang="en-US" altLang="ko-KR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</a:p>
          <a:p>
            <a:pPr marL="228600" indent="-228600">
              <a:lnSpc>
                <a:spcPct val="120000"/>
              </a:lnSpc>
              <a:buAutoNum type="arabicParenBoth"/>
            </a:pPr>
            <a:endPara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lnSpc>
                <a:spcPct val="120000"/>
              </a:lnSpc>
              <a:buAutoNum type="arabicParenBoth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R−S</a:t>
            </a:r>
            <a:r>
              <a:rPr lang="ko-KR" alt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연산을 수행한 결과 릴레이션을 </a:t>
            </a:r>
            <a:r>
              <a:rPr lang="ko-KR" alt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작성하시오</a:t>
            </a:r>
            <a:r>
              <a:rPr lang="en-US" altLang="ko-KR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</a:p>
          <a:p>
            <a:pPr marL="228600" indent="-228600">
              <a:lnSpc>
                <a:spcPct val="120000"/>
              </a:lnSpc>
              <a:buAutoNum type="arabicParenBoth"/>
            </a:pPr>
            <a:endPara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lnSpc>
                <a:spcPct val="120000"/>
              </a:lnSpc>
              <a:buAutoNum type="arabicParenBoth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S−R</a:t>
            </a:r>
            <a:r>
              <a:rPr lang="ko-KR" alt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연산을 수행한 결과 릴레이션을 </a:t>
            </a:r>
            <a:r>
              <a:rPr lang="ko-KR" alt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작성하시오</a:t>
            </a:r>
            <a:r>
              <a:rPr lang="en-US" altLang="ko-KR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endParaRPr lang="en-US" sz="12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D1EDB18-F454-61AB-742B-3C9DA2678D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098457"/>
            <a:ext cx="5781368" cy="1887794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 / 62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두 릴레이션 R과 S를 보고 각 물음에 답하시오.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2402" y="1135305"/>
            <a:ext cx="8229600" cy="374904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1161288"/>
            <a:ext cx="18288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해답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1554480"/>
            <a:ext cx="3574761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20000"/>
              </a:lnSpc>
              <a:buAutoNum type="arabicParenBoth"/>
            </a:pPr>
            <a:r>
              <a:rPr lang="en-US" altLang="ko-KR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R∪S  </a:t>
            </a:r>
            <a:r>
              <a:rPr lang="ko-KR" alt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연산을 수행한 결과 릴레이션을 </a:t>
            </a:r>
            <a:r>
              <a:rPr lang="ko-KR" alt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작성하시오</a:t>
            </a:r>
            <a:r>
              <a:rPr lang="en-US" altLang="ko-KR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</a:p>
          <a:p>
            <a:pPr marL="228600" indent="-228600">
              <a:lnSpc>
                <a:spcPct val="120000"/>
              </a:lnSpc>
              <a:buAutoNum type="arabicParenBoth"/>
            </a:pPr>
            <a:endParaRPr lang="en-US" altLang="ko-KR" sz="11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lnSpc>
                <a:spcPct val="125000"/>
              </a:lnSpc>
              <a:buAutoNum type="arabicParenBoth"/>
            </a:pPr>
            <a:endParaRPr lang="en-US" sz="11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lnSpc>
                <a:spcPct val="125000"/>
              </a:lnSpc>
              <a:buAutoNum type="arabicParenBoth"/>
            </a:pPr>
            <a:endParaRPr lang="en-US" sz="11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lnSpc>
                <a:spcPct val="125000"/>
              </a:lnSpc>
              <a:buAutoNum type="arabicParenBoth"/>
            </a:pPr>
            <a:endParaRPr lang="en-US" sz="11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lnSpc>
                <a:spcPct val="125000"/>
              </a:lnSpc>
              <a:buAutoNum type="arabicParenBoth"/>
            </a:pPr>
            <a:endParaRPr lang="en-US" sz="11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lnSpc>
                <a:spcPct val="125000"/>
              </a:lnSpc>
              <a:buAutoNum type="arabicParenBoth"/>
            </a:pPr>
            <a:endParaRPr lang="en-US" sz="11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lnSpc>
                <a:spcPct val="125000"/>
              </a:lnSpc>
              <a:buAutoNum type="arabicParenBoth"/>
            </a:pPr>
            <a:endParaRPr lang="en-US" sz="11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lnSpc>
                <a:spcPct val="125000"/>
              </a:lnSpc>
              <a:buAutoNum type="arabicParenBoth"/>
            </a:pPr>
            <a:endParaRPr lang="en-US" sz="11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lnSpc>
                <a:spcPct val="125000"/>
              </a:lnSpc>
              <a:buAutoNum type="arabicParenBoth"/>
            </a:pPr>
            <a:endParaRPr lang="en-US" sz="11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lnSpc>
                <a:spcPct val="120000"/>
              </a:lnSpc>
              <a:buAutoNum type="arabicParenBoth"/>
            </a:pPr>
            <a:r>
              <a:rPr lang="en-US" altLang="ko-KR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R∩S</a:t>
            </a:r>
            <a:r>
              <a:rPr lang="ko-KR" alt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연산을 수행한 결과 릴레이션을 </a:t>
            </a:r>
            <a:r>
              <a:rPr lang="ko-KR" alt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작성하시오</a:t>
            </a:r>
            <a:r>
              <a:rPr lang="en-US" altLang="ko-KR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 </a:t>
            </a:r>
          </a:p>
          <a:p>
            <a:pPr marL="228600" indent="-228600">
              <a:lnSpc>
                <a:spcPct val="125000"/>
              </a:lnSpc>
              <a:buAutoNum type="arabicParenBoth"/>
            </a:pPr>
            <a:endParaRPr lang="en-US" sz="1100" dirty="0">
              <a:solidFill>
                <a:srgbClr val="1E293B"/>
              </a:solidFill>
              <a:latin typeface="Calibri" pitchFamily="34" charset="0"/>
              <a:cs typeface="Calibri" pitchFamily="34" charset="-120"/>
            </a:endParaRPr>
          </a:p>
          <a:p>
            <a:pPr marL="228600" indent="-228600">
              <a:lnSpc>
                <a:spcPct val="125000"/>
              </a:lnSpc>
              <a:buAutoNum type="arabicParenBoth"/>
            </a:pPr>
            <a:endParaRPr lang="en-US" sz="1100" dirty="0">
              <a:solidFill>
                <a:srgbClr val="1E293B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C89BDCB4-DAA4-8FC2-1B2A-410DD8364544}"/>
              </a:ext>
            </a:extLst>
          </p:cNvPr>
          <p:cNvSpPr/>
          <p:nvPr/>
        </p:nvSpPr>
        <p:spPr>
          <a:xfrm>
            <a:off x="4591465" y="1554480"/>
            <a:ext cx="3574761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</a:pPr>
            <a:r>
              <a:rPr lang="en-US" altLang="ko-KR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(3) R−S</a:t>
            </a:r>
            <a:r>
              <a:rPr lang="ko-KR" alt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연산을 수행한 결과 릴레이션을 </a:t>
            </a:r>
            <a:r>
              <a:rPr lang="ko-KR" alt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작성하시오</a:t>
            </a:r>
            <a:r>
              <a:rPr lang="en-US" altLang="ko-KR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</a:p>
          <a:p>
            <a:pPr>
              <a:lnSpc>
                <a:spcPct val="120000"/>
              </a:lnSpc>
            </a:pPr>
            <a:endParaRPr lang="en-US" altLang="ko-KR" sz="11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lnSpc>
                <a:spcPct val="120000"/>
              </a:lnSpc>
            </a:pPr>
            <a:endParaRPr lang="en-US" altLang="ko-KR" sz="11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lnSpc>
                <a:spcPct val="120000"/>
              </a:lnSpc>
            </a:pPr>
            <a:endParaRPr lang="en-US" altLang="ko-KR" sz="11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lnSpc>
                <a:spcPct val="120000"/>
              </a:lnSpc>
            </a:pPr>
            <a:endParaRPr lang="en-US" altLang="ko-KR" sz="11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lnSpc>
                <a:spcPct val="120000"/>
              </a:lnSpc>
            </a:pPr>
            <a:endParaRPr lang="en-US" altLang="ko-KR" sz="11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lnSpc>
                <a:spcPct val="120000"/>
              </a:lnSpc>
            </a:pPr>
            <a:endParaRPr lang="en-US" altLang="ko-KR" sz="11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lnSpc>
                <a:spcPct val="120000"/>
              </a:lnSpc>
              <a:buAutoNum type="arabicParenBoth"/>
            </a:pPr>
            <a:endParaRPr lang="en-US" altLang="ko-KR" sz="11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lnSpc>
                <a:spcPct val="120000"/>
              </a:lnSpc>
            </a:pPr>
            <a:r>
              <a:rPr lang="en-US" altLang="ko-KR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(4) S−R</a:t>
            </a:r>
            <a:r>
              <a:rPr lang="ko-KR" alt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연산을 수행한 결과 릴레이션을 </a:t>
            </a:r>
            <a:r>
              <a:rPr lang="ko-KR" alt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작성하시오</a:t>
            </a:r>
            <a:r>
              <a:rPr lang="en-US" altLang="ko-KR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</a:p>
          <a:p>
            <a:pPr marL="228600" indent="-228600">
              <a:lnSpc>
                <a:spcPct val="125000"/>
              </a:lnSpc>
              <a:buAutoNum type="arabicParenBoth"/>
            </a:pPr>
            <a:endParaRPr lang="en-US" altLang="ko-KR" sz="11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lnSpc>
                <a:spcPct val="125000"/>
              </a:lnSpc>
              <a:buAutoNum type="arabicParenBoth"/>
            </a:pPr>
            <a:endParaRPr lang="en-US" altLang="ko-KR" sz="11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lnSpc>
                <a:spcPct val="125000"/>
              </a:lnSpc>
              <a:buAutoNum type="arabicParenBoth"/>
            </a:pPr>
            <a:endParaRPr lang="en-US" altLang="ko-KR" sz="11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lnSpc>
                <a:spcPct val="125000"/>
              </a:lnSpc>
              <a:buAutoNum type="arabicParenBoth"/>
            </a:pPr>
            <a:endParaRPr lang="en-US" altLang="ko-KR" sz="11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lnSpc>
                <a:spcPct val="125000"/>
              </a:lnSpc>
            </a:pPr>
            <a:endParaRPr lang="en-US" sz="1100" dirty="0">
              <a:solidFill>
                <a:srgbClr val="1E293B"/>
              </a:solidFill>
              <a:latin typeface="Calibri" pitchFamily="34" charset="0"/>
              <a:cs typeface="Calibri" pitchFamily="34" charset="-120"/>
            </a:endParaRPr>
          </a:p>
          <a:p>
            <a:pPr>
              <a:lnSpc>
                <a:spcPct val="125000"/>
              </a:lnSpc>
            </a:pPr>
            <a:endParaRPr lang="en-US" sz="1100" dirty="0">
              <a:solidFill>
                <a:srgbClr val="1E293B"/>
              </a:solidFill>
              <a:latin typeface="Calibri" pitchFamily="34" charset="0"/>
              <a:cs typeface="Calibri" pitchFamily="34" charset="-120"/>
            </a:endParaRPr>
          </a:p>
          <a:p>
            <a:pPr>
              <a:lnSpc>
                <a:spcPct val="125000"/>
              </a:lnSpc>
            </a:pPr>
            <a:endParaRPr lang="en-US" sz="1100" dirty="0">
              <a:solidFill>
                <a:srgbClr val="1E293B"/>
              </a:solidFill>
              <a:latin typeface="Calibri" pitchFamily="34" charset="0"/>
              <a:cs typeface="Calibri" pitchFamily="34" charset="-120"/>
            </a:endParaRPr>
          </a:p>
          <a:p>
            <a:pPr>
              <a:lnSpc>
                <a:spcPct val="125000"/>
              </a:lnSpc>
            </a:pPr>
            <a:endParaRPr lang="en-US" sz="1100" dirty="0">
              <a:solidFill>
                <a:srgbClr val="1E293B"/>
              </a:solidFill>
              <a:latin typeface="Calibri" pitchFamily="34" charset="0"/>
              <a:cs typeface="Calibri" pitchFamily="34" charset="-120"/>
            </a:endParaRPr>
          </a:p>
          <a:p>
            <a:pPr>
              <a:lnSpc>
                <a:spcPct val="125000"/>
              </a:lnSpc>
            </a:pPr>
            <a:endParaRPr lang="en-US" sz="1100" dirty="0">
              <a:solidFill>
                <a:srgbClr val="1E293B"/>
              </a:solidFill>
              <a:latin typeface="Calibri" pitchFamily="34" charset="0"/>
              <a:cs typeface="Calibri" pitchFamily="34" charset="-120"/>
            </a:endParaRPr>
          </a:p>
          <a:p>
            <a:pPr>
              <a:lnSpc>
                <a:spcPct val="125000"/>
              </a:lnSpc>
            </a:pPr>
            <a:endParaRPr lang="en-US" sz="1100" dirty="0">
              <a:solidFill>
                <a:srgbClr val="1E293B"/>
              </a:solidFill>
              <a:latin typeface="Calibri" pitchFamily="34" charset="0"/>
              <a:cs typeface="Calibri" pitchFamily="34" charset="-120"/>
            </a:endParaRPr>
          </a:p>
          <a:p>
            <a:pPr>
              <a:lnSpc>
                <a:spcPct val="125000"/>
              </a:lnSpc>
            </a:pPr>
            <a:endParaRPr lang="en-US" sz="1100" dirty="0">
              <a:solidFill>
                <a:srgbClr val="1E293B"/>
              </a:solidFill>
              <a:latin typeface="Calibri" pitchFamily="34" charset="0"/>
              <a:cs typeface="Calibri" pitchFamily="34" charset="-120"/>
            </a:endParaRPr>
          </a:p>
          <a:p>
            <a:pPr>
              <a:lnSpc>
                <a:spcPct val="125000"/>
              </a:lnSpc>
            </a:pPr>
            <a:endParaRPr lang="en-US" sz="1100" dirty="0">
              <a:solidFill>
                <a:srgbClr val="1E293B"/>
              </a:solidFill>
              <a:latin typeface="Calibri" pitchFamily="34" charset="0"/>
              <a:cs typeface="Calibri" pitchFamily="34" charset="-120"/>
            </a:endParaRPr>
          </a:p>
          <a:p>
            <a:pPr>
              <a:lnSpc>
                <a:spcPct val="125000"/>
              </a:lnSpc>
            </a:pPr>
            <a:endParaRPr lang="en-US" sz="1100" dirty="0">
              <a:solidFill>
                <a:srgbClr val="1E293B"/>
              </a:solidFill>
              <a:latin typeface="Calibri" pitchFamily="34" charset="0"/>
              <a:cs typeface="Calibri" pitchFamily="34" charset="-120"/>
            </a:endParaRPr>
          </a:p>
          <a:p>
            <a:pPr>
              <a:lnSpc>
                <a:spcPct val="125000"/>
              </a:lnSpc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(4)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5A1DBFB8-C22A-3D08-2E69-C44D514A21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795" y="1713891"/>
            <a:ext cx="2443559" cy="1873395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05D44255-94FC-2A65-8707-104F820887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795" y="3821545"/>
            <a:ext cx="2366605" cy="86721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3EED2125-6DFB-6C04-6C3A-67626416F2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7060" y="1769154"/>
            <a:ext cx="2871019" cy="1071716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E383CDC9-F40D-532C-F3B8-8251790FBCF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0841" y="3391553"/>
            <a:ext cx="2910348" cy="100289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/ 62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804672"/>
            <a:ext cx="411480" cy="4114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8046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777240"/>
            <a:ext cx="76809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세 릴레이션 R, S, T를 보고 각 물음에 답하시오.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228600" indent="-228600">
              <a:lnSpc>
                <a:spcPct val="120000"/>
              </a:lnSpc>
              <a:buAutoNum type="arabicParenBoth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÷ S </a:t>
            </a:r>
            <a:r>
              <a:rPr lang="ko-KR" altLang="ko-KR" sz="1200" kern="1200" dirty="0">
                <a:solidFill>
                  <a:srgbClr val="1E293B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연산을 수행한 결과 릴레이션을 </a:t>
            </a:r>
            <a:r>
              <a:rPr lang="ko-KR" altLang="ko-KR" sz="1200" kern="1200" dirty="0" err="1">
                <a:solidFill>
                  <a:srgbClr val="1E293B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작성하시오</a:t>
            </a:r>
            <a:r>
              <a:rPr lang="en-US" altLang="ko-KR" sz="1200" kern="1200" dirty="0">
                <a:solidFill>
                  <a:srgbClr val="1E293B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228600" indent="-228600">
              <a:lnSpc>
                <a:spcPct val="120000"/>
              </a:lnSpc>
              <a:buAutoNum type="arabicParenBoth"/>
            </a:pPr>
            <a:endPara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lnSpc>
                <a:spcPct val="120000"/>
              </a:lnSpc>
              <a:buAutoNum type="arabicParenBoth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÷ T</a:t>
            </a:r>
            <a:r>
              <a:rPr lang="ko-KR" altLang="ko-KR" sz="1200" kern="1200" dirty="0">
                <a:solidFill>
                  <a:srgbClr val="1E293B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연산을 수행한 결과 릴레이션을 </a:t>
            </a:r>
            <a:r>
              <a:rPr lang="ko-KR" altLang="ko-KR" sz="1200" kern="1200" dirty="0" err="1">
                <a:solidFill>
                  <a:srgbClr val="1E293B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작성하시오</a:t>
            </a:r>
            <a:r>
              <a:rPr lang="en-US" altLang="ko-KR" sz="1200" kern="1200" dirty="0">
                <a:solidFill>
                  <a:srgbClr val="1E293B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 </a:t>
            </a:r>
            <a:endParaRPr lang="en-US" sz="12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11BE54A-AA7F-3778-DC2F-A98545A565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080934"/>
            <a:ext cx="6135329" cy="2143432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/ 62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세 릴레이션 R, S, T를 보고 각 물음에 답하시오.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143000"/>
            <a:ext cx="8229600" cy="374904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1161288"/>
            <a:ext cx="18288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해답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1554480"/>
            <a:ext cx="795528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20000"/>
              </a:lnSpc>
              <a:buAutoNum type="arabicParenBoth"/>
            </a:pPr>
            <a:r>
              <a:rPr lang="en-US" altLang="ko-KR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÷ S </a:t>
            </a:r>
            <a:r>
              <a:rPr lang="ko-KR" altLang="ko-KR" sz="1100" kern="1200" dirty="0">
                <a:solidFill>
                  <a:srgbClr val="1E293B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연산을 수행한 결과 릴레이션을 </a:t>
            </a:r>
            <a:r>
              <a:rPr lang="ko-KR" altLang="ko-KR" sz="1100" kern="1200" dirty="0" err="1">
                <a:solidFill>
                  <a:srgbClr val="1E293B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작성하시오</a:t>
            </a:r>
            <a:r>
              <a:rPr lang="en-US" altLang="ko-KR" sz="1100" kern="1200" dirty="0">
                <a:solidFill>
                  <a:srgbClr val="1E293B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en-US" altLang="ko-KR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228600" indent="-228600">
              <a:lnSpc>
                <a:spcPct val="120000"/>
              </a:lnSpc>
              <a:buAutoNum type="arabicParenBoth"/>
            </a:pPr>
            <a:endParaRPr lang="en-US" altLang="ko-KR" sz="11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lnSpc>
                <a:spcPct val="120000"/>
              </a:lnSpc>
              <a:buAutoNum type="arabicParenBoth"/>
            </a:pPr>
            <a:endParaRPr lang="en-US" altLang="ko-KR" sz="11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lnSpc>
                <a:spcPct val="120000"/>
              </a:lnSpc>
              <a:buAutoNum type="arabicParenBoth"/>
            </a:pPr>
            <a:endParaRPr lang="en-US" altLang="ko-KR" sz="11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lnSpc>
                <a:spcPct val="120000"/>
              </a:lnSpc>
              <a:buAutoNum type="arabicParenBoth"/>
            </a:pPr>
            <a:endParaRPr lang="en-US" altLang="ko-KR" sz="11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lnSpc>
                <a:spcPct val="120000"/>
              </a:lnSpc>
              <a:buAutoNum type="arabicParenBoth"/>
            </a:pPr>
            <a:endParaRPr lang="en-US" altLang="ko-KR" sz="11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lnSpc>
                <a:spcPct val="120000"/>
              </a:lnSpc>
              <a:buAutoNum type="arabicParenBoth"/>
            </a:pPr>
            <a:endParaRPr lang="en-US" altLang="ko-KR" sz="11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lnSpc>
                <a:spcPct val="120000"/>
              </a:lnSpc>
              <a:buAutoNum type="arabicParenBoth"/>
            </a:pPr>
            <a:endParaRPr lang="en-US" altLang="ko-KR" sz="11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lnSpc>
                <a:spcPct val="120000"/>
              </a:lnSpc>
              <a:buAutoNum type="arabicParenBoth"/>
            </a:pPr>
            <a:r>
              <a:rPr lang="en-US" altLang="ko-KR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÷ T</a:t>
            </a:r>
            <a:r>
              <a:rPr lang="ko-KR" altLang="ko-KR" sz="1100" kern="1200" dirty="0">
                <a:solidFill>
                  <a:srgbClr val="1E293B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연산을 수행한 결과 릴레이션을 </a:t>
            </a:r>
            <a:r>
              <a:rPr lang="ko-KR" altLang="ko-KR" sz="1100" kern="1200" dirty="0" err="1">
                <a:solidFill>
                  <a:srgbClr val="1E293B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작성하시오</a:t>
            </a:r>
            <a:r>
              <a:rPr lang="en-US" altLang="ko-KR" sz="1100" kern="1200" dirty="0">
                <a:solidFill>
                  <a:srgbClr val="1E293B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 </a:t>
            </a:r>
            <a:endParaRPr lang="en-US" sz="11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8877DA6-10BB-45E9-C147-2E7EB27675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882" y="1856206"/>
            <a:ext cx="1022555" cy="1012723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33FDBEE6-1864-56EE-1F91-C1A0DE6525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882" y="3470934"/>
            <a:ext cx="1966452" cy="1022555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/ 62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804672"/>
            <a:ext cx="411480" cy="4114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8046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777240"/>
            <a:ext cx="76809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두 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R, S 에 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대해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 × S 연산을 수행한 결과 릴레이션을 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작성하시오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83F6E6E-A11C-2BF2-4E73-8A6B18B1CD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173480"/>
            <a:ext cx="3893574" cy="1524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/ 62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altLang="ko-KR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</a:t>
            </a:r>
            <a:r>
              <a:rPr lang="en-US" altLang="ko-KR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두 </a:t>
            </a:r>
            <a:r>
              <a:rPr lang="en-US" altLang="ko-KR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</a:t>
            </a:r>
            <a:r>
              <a:rPr lang="en-US" altLang="ko-KR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R, S 에 </a:t>
            </a:r>
            <a:r>
              <a:rPr lang="en-US" altLang="ko-KR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대해</a:t>
            </a:r>
            <a:r>
              <a:rPr lang="en-US" altLang="ko-KR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 × S </a:t>
            </a:r>
            <a:r>
              <a:rPr lang="en-US" altLang="ko-KR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연산을</a:t>
            </a:r>
            <a:r>
              <a:rPr lang="en-US" altLang="ko-KR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수행한</a:t>
            </a:r>
            <a:r>
              <a:rPr lang="en-US" altLang="ko-KR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</a:t>
            </a:r>
            <a:r>
              <a:rPr lang="en-US" altLang="ko-KR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릴레이션을</a:t>
            </a:r>
            <a:r>
              <a:rPr lang="en-US" altLang="ko-KR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작성하시오</a:t>
            </a:r>
            <a:r>
              <a:rPr lang="en-US" altLang="ko-KR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altLang="ko-KR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143000"/>
            <a:ext cx="8229600" cy="374904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1161288"/>
            <a:ext cx="18288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해답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1554480"/>
            <a:ext cx="795528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FD16B42A-A826-D88F-B917-238C9433EC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018" y="1625764"/>
            <a:ext cx="3500284" cy="2143432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/ 62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804672"/>
            <a:ext cx="411480" cy="4114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8046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777240"/>
            <a:ext cx="76809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두 릴레이션 R(A,B), S(B,C)를 보고 각 물음에 답하시오.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159EEE4F-93C3-D450-77AB-A758DD6414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275" y="1000432"/>
            <a:ext cx="3932903" cy="1514168"/>
          </a:xfrm>
          <a:prstGeom prst="rect">
            <a:avLst/>
          </a:prstGeom>
        </p:spPr>
      </p:pic>
      <p:grpSp>
        <p:nvGrpSpPr>
          <p:cNvPr id="32" name="그룹 31">
            <a:extLst>
              <a:ext uri="{FF2B5EF4-FFF2-40B4-BE49-F238E27FC236}">
                <a16:creationId xmlns:a16="http://schemas.microsoft.com/office/drawing/2014/main" id="{0BE05D04-2938-D23E-6A6D-98E4FDB3DA94}"/>
              </a:ext>
            </a:extLst>
          </p:cNvPr>
          <p:cNvGrpSpPr/>
          <p:nvPr/>
        </p:nvGrpSpPr>
        <p:grpSpPr>
          <a:xfrm>
            <a:off x="928232" y="2700355"/>
            <a:ext cx="5062993" cy="1485619"/>
            <a:chOff x="928232" y="2700355"/>
            <a:chExt cx="7306695" cy="2143982"/>
          </a:xfrm>
        </p:grpSpPr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E9B3AEA4-A6FC-6C76-2028-ADB96B7BA63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28232" y="3399267"/>
              <a:ext cx="6373114" cy="304843"/>
            </a:xfrm>
            <a:prstGeom prst="rect">
              <a:avLst/>
            </a:prstGeom>
          </p:spPr>
        </p:pic>
        <p:pic>
          <p:nvPicPr>
            <p:cNvPr id="23" name="그림 22">
              <a:extLst>
                <a:ext uri="{FF2B5EF4-FFF2-40B4-BE49-F238E27FC236}">
                  <a16:creationId xmlns:a16="http://schemas.microsoft.com/office/drawing/2014/main" id="{719ADCE3-4ABB-3904-DD52-4FCF46549B4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28232" y="2700355"/>
              <a:ext cx="6820852" cy="257211"/>
            </a:xfrm>
            <a:prstGeom prst="rect">
              <a:avLst/>
            </a:prstGeom>
          </p:spPr>
        </p:pic>
        <p:pic>
          <p:nvPicPr>
            <p:cNvPr id="25" name="그림 24">
              <a:extLst>
                <a:ext uri="{FF2B5EF4-FFF2-40B4-BE49-F238E27FC236}">
                  <a16:creationId xmlns:a16="http://schemas.microsoft.com/office/drawing/2014/main" id="{F578BFD4-56D0-451A-649F-C03971A91BD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28232" y="3050300"/>
              <a:ext cx="6420746" cy="257211"/>
            </a:xfrm>
            <a:prstGeom prst="rect">
              <a:avLst/>
            </a:prstGeom>
          </p:spPr>
        </p:pic>
        <p:pic>
          <p:nvPicPr>
            <p:cNvPr id="27" name="그림 26">
              <a:extLst>
                <a:ext uri="{FF2B5EF4-FFF2-40B4-BE49-F238E27FC236}">
                  <a16:creationId xmlns:a16="http://schemas.microsoft.com/office/drawing/2014/main" id="{51C53309-EAEC-678E-D9FE-CE0D6B71F4D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28232" y="3737933"/>
              <a:ext cx="7039957" cy="342948"/>
            </a:xfrm>
            <a:prstGeom prst="rect">
              <a:avLst/>
            </a:prstGeom>
          </p:spPr>
        </p:pic>
        <p:pic>
          <p:nvPicPr>
            <p:cNvPr id="29" name="그림 28">
              <a:extLst>
                <a:ext uri="{FF2B5EF4-FFF2-40B4-BE49-F238E27FC236}">
                  <a16:creationId xmlns:a16="http://schemas.microsoft.com/office/drawing/2014/main" id="{A58C188B-63EC-2DCB-D3BB-EEBB5A2CA2B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t="18182"/>
            <a:stretch/>
          </p:blipFill>
          <p:spPr>
            <a:xfrm>
              <a:off x="928232" y="4114751"/>
              <a:ext cx="7306695" cy="342949"/>
            </a:xfrm>
            <a:prstGeom prst="rect">
              <a:avLst/>
            </a:prstGeom>
          </p:spPr>
        </p:pic>
        <p:pic>
          <p:nvPicPr>
            <p:cNvPr id="31" name="그림 30">
              <a:extLst>
                <a:ext uri="{FF2B5EF4-FFF2-40B4-BE49-F238E27FC236}">
                  <a16:creationId xmlns:a16="http://schemas.microsoft.com/office/drawing/2014/main" id="{1D3B88F6-E7FE-BB30-EF19-CABA6EF5F1F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37758" y="4501389"/>
              <a:ext cx="7030431" cy="342948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/ 62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두 릴레이션 R(A,B), S(B,C)를 보고 각 물음에 답하시오.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82549" y="754380"/>
            <a:ext cx="8229600" cy="404622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1012" y="754380"/>
            <a:ext cx="8229600" cy="32004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 8"/>
          <p:cNvSpPr/>
          <p:nvPr/>
        </p:nvSpPr>
        <p:spPr>
          <a:xfrm>
            <a:off x="594360" y="772668"/>
            <a:ext cx="18288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해답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1165860"/>
            <a:ext cx="795528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F8C217A9-FA08-8FEF-3E91-1E9042CFAA8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1471"/>
          <a:stretch/>
        </p:blipFill>
        <p:spPr>
          <a:xfrm>
            <a:off x="589294" y="3400648"/>
            <a:ext cx="1445091" cy="179404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3EA53833-D733-56C6-24B3-5393CEC5AC4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7048"/>
          <a:stretch/>
        </p:blipFill>
        <p:spPr>
          <a:xfrm>
            <a:off x="589293" y="1226968"/>
            <a:ext cx="1724187" cy="15137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7690C971-6EE8-828E-24AF-B8DEC64E63E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59937"/>
          <a:stretch/>
        </p:blipFill>
        <p:spPr>
          <a:xfrm>
            <a:off x="589294" y="2293640"/>
            <a:ext cx="1513853" cy="151372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C70091F0-4012-6686-E86C-53162EEBD96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215" y="1404144"/>
            <a:ext cx="2542697" cy="713368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7FB20E70-5380-827A-FEA4-8DF45CE3771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7215" y="2495429"/>
            <a:ext cx="1942160" cy="749731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EE7D3353-D292-D51A-6084-408FE96C7E2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4378" y="3636073"/>
            <a:ext cx="1328050" cy="721766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CAD514C4-77CF-49E1-8BBA-696EE79C7632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r="55038" b="-5581"/>
          <a:stretch/>
        </p:blipFill>
        <p:spPr>
          <a:xfrm>
            <a:off x="4323669" y="1226968"/>
            <a:ext cx="1862820" cy="213095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AA7A36A4-2652-309B-8A33-5E86EDB365ED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r="54792" b="7052"/>
          <a:stretch/>
        </p:blipFill>
        <p:spPr>
          <a:xfrm>
            <a:off x="4330270" y="3448096"/>
            <a:ext cx="1870506" cy="187597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4D197195-3A18-BA60-B5A7-4F1F927B95C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35590" y="1477799"/>
            <a:ext cx="1782433" cy="851311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A3E9723C-6A88-C674-8ECC-5B110C16223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30794" y="2543029"/>
            <a:ext cx="1787229" cy="867332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0C1E3D75-B276-2E38-F9B9-9CDB7258CEB3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t="18182" r="53357" b="-12388"/>
          <a:stretch/>
        </p:blipFill>
        <p:spPr>
          <a:xfrm>
            <a:off x="4323669" y="2293640"/>
            <a:ext cx="2005694" cy="232390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9AD9E042-33AB-1927-C004-559E6215645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13497" y="3647652"/>
            <a:ext cx="1804526" cy="1046102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/ 62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804672"/>
            <a:ext cx="411480" cy="4114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8046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777240"/>
            <a:ext cx="76809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두 릴레이션 R(A,B,C), S(B,C,D)를 보고 각 물음에 답하시오.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{(a1,b1,c1),(a2,b2,c2),(a3,b3,c3),(a4,b4,c4)}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= {(b1,c1,d1),(b3,c2,d2),(b3,c3,d3),(b5,c5,d5)}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σB='b3'(S)  (2) πB,C(R⋈NS)  (3) πA,B(σC='c3'(R))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(4) R 완전외부조인 S 결과 투플 수</a:t>
            </a:r>
            <a:endParaRPr lang="en-US" sz="12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 / 62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두 릴레이션 R(A,B,C), S(B,C,D)를 보고 각 물음에 답하시오.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143000"/>
            <a:ext cx="8229600" cy="374904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1161288"/>
            <a:ext cx="18288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해답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1554480"/>
            <a:ext cx="795528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σB='b3'(S) = {(b3,c2,d2), (b3,c3,d3)}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(2) πB,C(R⋈NS):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R⋈NS = {(a1,b1,c1,d1), (a3,b3,c3,d3)}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πB,C = {(b1,c1), (b3,c3)}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(3) πA,B(σC='c3'(R)):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σC='c3'(R) = {(a3,b3,c3)}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πA,B = {(a3,b3)}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(4) 완전 외부 조인 결과 투플 수: 4개</a:t>
            </a:r>
            <a:endParaRPr lang="en-US" sz="11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29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 / 62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804672"/>
            <a:ext cx="411480" cy="4114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8046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777240"/>
            <a:ext cx="76809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세 개의 릴레이션 스키마를 보고 각 물음에 답하시오.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학생(학번, 이름, 학년) / 과목(과목번호, 과목이름) / 수강(학번, 과목번호, 중간성적, 기말성적, 학점)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모든 과목의 이름을 검색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(2) 1학년 학생의 학번과 이름을 검색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(3) 중간성적≥80이고 기말성적≥70인 학생의 학번, 과목번호, 학점 검색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(4) 모든 과목을 수강하고 있는 학생의 학번 검색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(5) 3번 과목에서 A0 학점을 받은 학생의 이름과 학년 검색</a:t>
            </a:r>
            <a:endParaRPr lang="en-US" sz="12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29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 / 62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세 개의 릴레이션 스키마를 보고 각 물음에 답하시오.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143000"/>
            <a:ext cx="8229600" cy="374904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1161288"/>
            <a:ext cx="18288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해답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1554480"/>
            <a:ext cx="795528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π과목이름(과목)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(2) π학번,이름(σ학년=1(학생))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(3) π학번,과목번호,학점(σ중간성적≥80∧기말성적≥70(수강))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(4) π학번,과목번호(수강) ÷ π과목번호(과목)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(5) π이름,학년(σ과목번호=3∧학점='A0'(학생 ⋈ 수강))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또는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π이름,학년(학생 ⋈ (σ과목번호=3∧학점='A0'(수강)))</a:t>
            </a:r>
            <a:endParaRPr lang="en-US" sz="11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/ 62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804672"/>
            <a:ext cx="411480" cy="4114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8046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777240"/>
            <a:ext cx="76809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네 개의 릴레이션 스키마를 보고 각 물음에 답하시오.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고객(고객번호, 이름, 거주도시, 할인율)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판매자(판매자번호, 이름, 수수료) / 제품(제품번호, 제품명, 재고량, 가격)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주문(주문번호, 고객번호, 제품번호, 판매자번호, 주문수량)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수수료 5% 미만인 판매자 번호와 이름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(2) C001고객이 주문한 P003제품의 판매자 이름과 수수료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(3) A005판매자에게 주문하지 않은 고객 이름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(4) 대구 거주 모든 고객으로부터 주문 받은 판매자 번호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(5) 주문된 적 있는 제품의 제품명과 가격</a:t>
            </a:r>
            <a:endParaRPr lang="en-US" sz="12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 / 62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네 개의 릴레이션 스키마를 보고 각 물음에 답하시오.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143000"/>
            <a:ext cx="8229600" cy="374904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1161288"/>
            <a:ext cx="18288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해답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1554480"/>
            <a:ext cx="795528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π판매자번호,이름(σ수수료&lt;5(판매자))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(2) π이름,수수료(σ고객번호='C001'∧제품번호='P003'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(판매자 ⋈ 주문))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(3) π이름(고객) − π이름(σ판매자번호='A005'(주문 ⋈ 고객))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(4) π판매자번호,고객번호(주문)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÷ π고객번호(σ거주도시='대구'(고객))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(5) π제품명,가격(제품 ⋉ 주문)</a:t>
            </a:r>
            <a:endParaRPr lang="en-US" sz="11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03120"/>
            <a:ext cx="9144000" cy="1463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21945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수고하셨습니다!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0" y="29718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6장 관계 대수 — 연습문제 해답 (전 30문제)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0" y="40233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대전대학교 컴퓨터공학과  ·  박상돈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3666</Words>
  <Application>Microsoft Office PowerPoint</Application>
  <PresentationFormat>화면 슬라이드 쇼(16:9)</PresentationFormat>
  <Paragraphs>897</Paragraphs>
  <Slides>62</Slides>
  <Notes>62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62</vt:i4>
      </vt:variant>
    </vt:vector>
  </HeadingPairs>
  <TitlesOfParts>
    <vt:vector size="66" baseType="lpstr">
      <vt:lpstr>Arial</vt:lpstr>
      <vt:lpstr>Calibri</vt:lpstr>
      <vt:lpstr>Georgia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6장 관계 대수 — 연습문제 해답</dc:title>
  <dc:subject>PptxGenJS Presentation</dc:subject>
  <dc:creator>박상돈</dc:creator>
  <cp:lastModifiedBy>상돈 박</cp:lastModifiedBy>
  <cp:revision>22</cp:revision>
  <dcterms:created xsi:type="dcterms:W3CDTF">2026-04-06T12:51:49Z</dcterms:created>
  <dcterms:modified xsi:type="dcterms:W3CDTF">2026-04-06T13:12:17Z</dcterms:modified>
</cp:coreProperties>
</file>