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3" r:id="rId27"/>
    <p:sldId id="284" r:id="rId28"/>
    <p:sldId id="285" r:id="rId29"/>
    <p:sldId id="281" r:id="rId30"/>
    <p:sldId id="282" r:id="rId3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7402" autoAdjust="0"/>
  </p:normalViewPr>
  <p:slideViewPr>
    <p:cSldViewPr snapToGrid="0" snapToObjects="1">
      <p:cViewPr>
        <p:scale>
          <a:sx n="200" d="100"/>
          <a:sy n="200" d="100"/>
        </p:scale>
        <p:origin x="552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5711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안녕하세요, 여러분. 박상돈입니다.</a:t>
            </a:r>
          </a:p>
          <a:p>
            <a:endParaRPr/>
          </a:p>
          <a:p>
            <a:r>
              <a:t>오늘은 4장, 데이터 모델링입니다. 영어로 Data Modeling.</a:t>
            </a:r>
          </a:p>
          <a:p>
            <a:endParaRPr/>
          </a:p>
          <a:p>
            <a:r>
              <a:t>3장까지 우리가 뭘 배웠는지 간단히 되짚어 보겠습니다. 1장에서 데이터베이스의 기본 개념, 2장에서 DBMS의 정의와 장단점, 3장에서 데이터베이스 시스템의 전체 구조를 배웠습니다.</a:t>
            </a:r>
          </a:p>
          <a:p>
            <a:endParaRPr/>
          </a:p>
          <a:p>
            <a:r>
              <a:t>그런데 한 가지 빠진 게 있습니다. "어떻게 만드는가"는 아직 안 배웠어요. 그 방법을 배우는 것이 바로 데이터 모델링입니다.</a:t>
            </a:r>
          </a:p>
          <a:p>
            <a:endParaRPr/>
          </a:p>
          <a:p>
            <a:r>
              <a:t>특히 ER 모델은 실무에서도 매일 사용하고 취업 면접에서도 자주 나옵니다.</a:t>
            </a:r>
          </a:p>
          <a:p>
            <a:endParaRPr/>
          </a:p>
          <a:p>
            <a:r>
              <a:t>오늘 수업은 3시간입니다. 1교시에 섹션 1과 섹션 2 전반부, 2교시에 섹션 2 후반부, 3교시에 섹션 3과 전체 요약을 하겠습니다.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오늘 목차입니다. 섹션 1: 데이터 모델링의 개념. 섹션 2: 개체-관계 모델(핵심, 70%+). 섹션 3: 논리적 데이터 모델(관계형/계층형/네트워크 각각 상세).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첫 번째 섹션, 데이터 모델링의 개념입니다. 짧지만 4장 전체의 로드맵을 제시하는 중요한 섹션입니다.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데이터 모델링의 정의입니다. 현실 세계의 데이터를 DB로 옮기는 과정. 건축가의 설계도에 비유. 세 가지 이유: 구조 정의, 요구사항 반영, 소통 도구.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2단계 모델링. 개념적 모델링(ER 모델)과 논리적 모델링(관계 데이터 모델). 전체를 추상화(Abstraction)라고 합니다. 시험 포인트: 개념적=ER 모델, 논리적=관계 데이터 모델.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데이터 모델 구성: 데이터 구조 + 연산 + 제약조건. 암기법 "구연제". 섹션 1 끝. 이제 ER 모델을 배우러 갑니다.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두 번째 섹션, 개체-관계 모델. 4장에서 가장 핵심이고 시험 출제 비중 최고. 집중해주세요.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ER 모델: Peter Chen(1976) 제안. 3요소: 개체(사각형)+속성(타원)+관계(마름모). ERD로 시각화. 암기법 "개속관", "사타마".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개체란 현실에서 구별되는 모든 것. 사람/사물/개념/사건. 개체 타입=스키마, 개체 인스턴스=실제 값. ERD: 사각형. 식별 팁: 명사를 찾으세요.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속성: 개체의 고유 특성. 다섯 가지 분류(단일/다중, 단순/복합, 유도, key, null). 각 ERD 표현이 다릅니다. 이 표를 반드시 외우세요.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단일 값 vs 다중 값. 단일 값: 하나만(이름). 다중 값: 여러 개(연락처), 이중 타원. 슬라이드에 교재 그림. 실무에서 별도 테이블로 분리(1NF).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단순/복합/유도 속성. 단순: 분해 불가. 복합: 분해 가능(주소→시,구,동). 유도: 계산으로 유도(판매가격), 점선 타원. 슬라이드에 교재 그림. null≠공백≠0. key=밑줄.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관계: 개체 간 의미 있는 연관성. 마름모. "고객은 책을 구매한다." 동사를 찾으세요. 관계에도 속성 가능(구매일, 수량).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매핑 카디널리티: 1:1(드묾)/1:n(가장 많음)/n:m. 질문법: A하나→B몇개? B하나→A몇개? 합치면 카디널리티.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1:1 관계. 교재 그림. 남편↔아내. 가장 드문 관계. 다른 예: 국가↔수도. 테이블 변환: 한쪽에 FK.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1:n 관계. 교재 그림. 부서→사원. 가장 일반적. 테이블 변환: n쪽에 1쪽의 PK를 FK로.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n:m 관계. 교재 그림. 고객↔책. 테이블 변환 시 연결 테이블 필요. 10분 휴식 후 2교시.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2교시. 참여 특성. 교재 그림. 필수적(이중선): 모든 인스턴스 참여. 선택적(단선): 일부만.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강한/약한 개체. 교재 그림. 강한: 독립(사각형). 약한: 종속(이중 사각형+이중 마름모). 약한 개체는 강한 개체의 키를 포함.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ERD 기호 종합표. 8가지 전부 외우세요. 실수 주의: 키 밑줄 잊기, 다중 값 일반 타원, 관계 속성 무시.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서점 ERD 예제. 교재 그림. 고객/책/출판사 + 구매(n:m)/출판(1:n). ERD 직접 그리기가 최종 목표.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ERD 작성 6단계. 1)개체식별(명사) 2)속성정의 3)키결정 4)관계파악(동사) 5)카디널리티 6)완성. 섹션 2 끝. 10분 쉬고 3교시.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세 번째 섹션, 논리적 데이터 모델. ERD를 DB 저장 형태로 바꾸는 모델. 관계형/계층형/네트워크 비교.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논리적 모델 개념. 관계형(테이블, 가장 많이 사용), 계층형(트리, n:m 불가), 네트워크(그래프, 복잡). 이제 각각 한 장씩 더 보겠습니다.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3가지 비교표. 핵심 차이: n:m 지원 여부. 관계 모델만 가능. SQL로 쉽게 조작. 이제 각 모델을 한 장씩.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관계 데이터 모델 상세입니다. 1970년 에드거 코드 제안. 2차원 테이블(릴레이션). 다섯 가지 특징: 행/열 테이블, SQL로 조작, n:m 연결 테이블로 가능, 데이터 독립성 높음, Oracle/MySQL/PostgreSQL 등 거의 모든 DBMS가 사용. 5장에서 릴레이션/키/무결성 제약조건 학습.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계층 데이터 모델 상세입니다. 트리 형태. 부모-자식 1:n만 허용. n:m 직접 표현 불가(가장 큰 한계). 두 개체 사이 관계 하나만. 데이터 조작 어려움. IBM IMS(1960년대). n:m 불가+조작 어려움+비유연 → 관계 모델에 대체.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네트워크 데이터 모델 상세입니다. 그래프 형태. 계층보다 유연하나 역시 n:m 직접 표현 불가. 관계 여러 개 정의 가능(이름 구별). 구조 복잡+조작 어려움. IDMS. 구조 복잡성 문제로 관계 모델에 대체. 세 가지 모델 모두 살펴봤습니다. 관계형이 표준.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4장 전체 정리. 1)모델링=현실→DB, 개념적(ER)+논리적(관계). 2)ER 3요소=개속관, 사타마. 3)속성 분류 5가지. 4)관계 1:1/1:n/n:m, 참여, 종속. 5)논리적 모델: 관계형 표준. 다음 시간 연습문제.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시험 체크리스트. 2단계 모델링? ER 3요소? 속성 분류? 카디널리티? 참여? 강한/약한? ERD 그리기? 논리적 모델 비교? 모두 예면 완벽. 감사합니다.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457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kern="0" spc="4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H A P T E R   04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00584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모델링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Modeling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3108960"/>
            <a:ext cx="2286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3832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박상돈 조교수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대전대학교 컴퓨터공학과</a:t>
            </a:r>
            <a:endParaRPr lang="en-US" sz="16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914400"/>
            <a:ext cx="1371600" cy="13716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589520" y="3474720"/>
            <a:ext cx="1645920" cy="1645920"/>
          </a:xfrm>
          <a:prstGeom prst="line">
            <a:avLst/>
          </a:prstGeom>
          <a:solidFill>
            <a:srgbClr val="0891B2">
              <a:alpha val="3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74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4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O N T E N T 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5943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목차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37490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417320"/>
            <a:ext cx="54864" cy="10058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55448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600200" y="15544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모델링의 개념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00200" y="19659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2단계 모델링, 데이터 모델 구성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2606040"/>
            <a:ext cx="37490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2606040"/>
            <a:ext cx="54864" cy="10058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74320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600200" y="27432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개체-관계 모델 (ER Model)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00200" y="31546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개체, 속성, 관계, ERD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1417320"/>
            <a:ext cx="37490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417320"/>
            <a:ext cx="54864" cy="10058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155448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532120" y="15544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논리적 데이터 모델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532120" y="19659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관계형, 계층형, 네트워크 모델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7315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64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1097280" cy="365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모델링의 개념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31520" y="3474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Modeling Concepts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모델링이란?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804672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005840"/>
            <a:ext cx="804672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1005840"/>
            <a:ext cx="54864" cy="10058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10972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모델링 (Data Modeling)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31520" y="1463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현실 세계에 존재하는 데이터를 컴퓨터 세계의 데이터베이스로 옮기는 과정.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데이터베이스 설계의 핵심 과정.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2286000"/>
            <a:ext cx="256032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85800" y="2377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 정의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85800" y="27889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효율적 저장/검색을 위해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구조를 명확히 정의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383280" y="2286000"/>
            <a:ext cx="256032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3520440" y="2377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 반영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520440" y="27889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요구사항을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체계적으로 DB에 반영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217920" y="2286000"/>
            <a:ext cx="256032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355080" y="2377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소통 도구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355080" y="27889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개발자와 사용자 간의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공통 언어 역할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2" name="Text 19"/>
          <p:cNvSpPr/>
          <p:nvPr/>
        </p:nvSpPr>
        <p:spPr>
          <a:xfrm>
            <a:off x="822960" y="38404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비유: 건축가의 설계도 = 데이터 모델링 / 건물 = DB / 자재·기술 = DBMS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2단계 데이터 모델링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804672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097280"/>
            <a:ext cx="2560320" cy="1097280"/>
          </a:xfrm>
          <a:prstGeom prst="rect">
            <a:avLst/>
          </a:prstGeom>
          <a:solidFill>
            <a:srgbClr val="F8FAFC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1097280"/>
            <a:ext cx="2560320" cy="5486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12801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현실 세계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06324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3474720" y="1097280"/>
            <a:ext cx="2560320" cy="1097280"/>
          </a:xfrm>
          <a:prstGeom prst="rect">
            <a:avLst/>
          </a:prstGeom>
          <a:solidFill>
            <a:srgbClr val="E0F7F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74720" y="1097280"/>
            <a:ext cx="256032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1"/>
          <p:cNvSpPr/>
          <p:nvPr/>
        </p:nvSpPr>
        <p:spPr>
          <a:xfrm>
            <a:off x="3474720" y="12801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세계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598932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3"/>
          <p:cNvSpPr/>
          <p:nvPr/>
        </p:nvSpPr>
        <p:spPr>
          <a:xfrm>
            <a:off x="6400800" y="1097280"/>
            <a:ext cx="2560320" cy="1097280"/>
          </a:xfrm>
          <a:prstGeom prst="rect">
            <a:avLst/>
          </a:prstGeom>
          <a:solidFill>
            <a:srgbClr val="DBEAFE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400800" y="1097280"/>
            <a:ext cx="2560320" cy="54864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0" y="12801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컴퓨터 세계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37160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개념적 데이터 모델링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29768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논리적 데이터 모델링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48640" y="2834640"/>
            <a:ext cx="384048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48640" y="2834640"/>
            <a:ext cx="54864" cy="10058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3" name="Text 20"/>
          <p:cNvSpPr/>
          <p:nvPr/>
        </p:nvSpPr>
        <p:spPr>
          <a:xfrm>
            <a:off x="731520" y="29260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개념적 모델링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731520" y="32918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현실 세계 → 개념 세계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도구: ER 모델 (개체-관계 모델)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754880" y="2834640"/>
            <a:ext cx="384048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754880" y="2834640"/>
            <a:ext cx="54864" cy="10058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7" name="Text 24"/>
          <p:cNvSpPr/>
          <p:nvPr/>
        </p:nvSpPr>
        <p:spPr>
          <a:xfrm>
            <a:off x="4937760" y="29260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논리적 모델링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4937760" y="32918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개념 세계 → 컴퓨터 세계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도구: 관계 데이터 모델 (테이블)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548640" y="4114800"/>
            <a:ext cx="8046720" cy="41148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30" name="Text 27"/>
          <p:cNvSpPr/>
          <p:nvPr/>
        </p:nvSpPr>
        <p:spPr>
          <a:xfrm>
            <a:off x="822960" y="41148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전체 과정을 추상화(Abstraction)라고 합니다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모델의 구성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804672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005840"/>
            <a:ext cx="8046720" cy="5029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100584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모델의 구성  =  데이터 구조 (Structure)  +  연산 (Operation)  +  제약조건 (Constraint)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1737360"/>
            <a:ext cx="256032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48640" y="1737360"/>
            <a:ext cx="256032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181051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구조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0080" y="217627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데이터가 어떤 형태로 저장되는지 정의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474720" y="1737360"/>
            <a:ext cx="256032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474720" y="1737360"/>
            <a:ext cx="256032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3"/>
          <p:cNvSpPr/>
          <p:nvPr/>
        </p:nvSpPr>
        <p:spPr>
          <a:xfrm>
            <a:off x="3566160" y="181051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연산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566160" y="217627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데이터를 어떻게 조작하는지 (삽입, 삭제, 수정, 검색)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400800" y="1737360"/>
            <a:ext cx="256032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400800" y="1737360"/>
            <a:ext cx="256032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0" name="Text 17"/>
          <p:cNvSpPr/>
          <p:nvPr/>
        </p:nvSpPr>
        <p:spPr>
          <a:xfrm>
            <a:off x="6492240" y="181051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제약조건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492240" y="217627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데이터가 만족해야 하는 조건과 규칙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7315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64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1097280" cy="365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개체-관계 모델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31520" y="3474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Entity-Relationship Model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개체-관계 모델 (E-R Model) 개요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804672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960120"/>
            <a:ext cx="804672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960120"/>
            <a:ext cx="54864" cy="9144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0515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개체-관계 모델 (Entity-Relationship Model)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14173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Chen(1976)이 제안. 현실 세계를 개체 간의 관계로 표현. ER 다이어그램(ERD)으로 시각화.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103120"/>
            <a:ext cx="25603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103120"/>
            <a:ext cx="256032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286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개체 (Entity)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2697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사각형 □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" y="31089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현실의 구별되는 대상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83280" y="2103120"/>
            <a:ext cx="25603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383280" y="2103120"/>
            <a:ext cx="25603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3520440" y="2286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속성 (Attribute)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520440" y="2697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타원 ○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520440" y="31089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개체의 고유 특성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2103120"/>
            <a:ext cx="25603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7920" y="2103120"/>
            <a:ext cx="256032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3" name="Text 21"/>
          <p:cNvSpPr/>
          <p:nvPr/>
        </p:nvSpPr>
        <p:spPr>
          <a:xfrm>
            <a:off x="6355080" y="2286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B5C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관계 (Relationship)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55080" y="2697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마름모 ◇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55080" y="31089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개체 간 연관성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4160520"/>
            <a:ext cx="8046720" cy="4114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416052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모델 3요소 = 개체 + 속성 + 관계  →  ERD로 시각화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개체 (Entity)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804672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960120"/>
            <a:ext cx="804672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960120"/>
            <a:ext cx="54864" cy="9144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0515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개체 (Entity)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14173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현실 세계에서 구별되는 모든 것. 저장할 가치가 있는 데이터를 가진 사람·사물·개념·사건.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103120"/>
            <a:ext cx="192024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21488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248716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고객, 학생, 교수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651760" y="2103120"/>
            <a:ext cx="192024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743200" y="21488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사물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43200" y="248716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상품, 책, 건물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103120"/>
            <a:ext cx="192024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46320" y="21488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248716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과목, 부서, 프로젝트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58000" y="2103120"/>
            <a:ext cx="192024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949440" y="21488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사건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49440" y="248716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주문, 수강신청, 예약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3200400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77240" y="3200400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개체 타입 = 구조 정의(스키마)  |  개체 인스턴스 = 실제 저장된 값  |  ERD: 사각형(□)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속성 (Attribute)의 분류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804672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960120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960120"/>
            <a:ext cx="54864" cy="7315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0515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속성 (Attribute)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1417320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개체의 고유한 특성. 의미 있는 데이터의 가장 작은 논리적 단위. ERD: 타원(○).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5918354"/>
              </p:ext>
            </p:extLst>
          </p:nvPr>
        </p:nvGraphicFramePr>
        <p:xfrm>
          <a:off x="1097280" y="1874973"/>
          <a:ext cx="6949440" cy="2532888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분류 기준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종류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설명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ERD 표현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예시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값의 개수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단일 값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값을 하나만 가짐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일반 타원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이름, 나이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다중 값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여러 값 가능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이중 타원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연락처, 이메일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의미 분해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단순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더 분해 불가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일반 타원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적립금, 가격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복합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하위 속성으로 분해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가지형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주소, 생년월일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유도 여부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유도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계산으로 유도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점선 타원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판매가격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식별 기능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인스턴스 식별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밑줄 타원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고객아이디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 허용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값 미정 허용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등급(미정 시)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단일 값 속성 vs 다중 값 속성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804672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960120"/>
            <a:ext cx="384048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960120"/>
            <a:ext cx="54864" cy="1828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0515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단일 값 속성 (Single-Valued)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141732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값을 하나만 가질 수 있는 속성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예) 이름, 나이, 학번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ERD: 일반 타원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960120"/>
            <a:ext cx="384048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960120"/>
            <a:ext cx="54864" cy="1828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0515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다중 값 속성 (Multi-Valued)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37760" y="141732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값을 여러 개 가질 수 있는 속성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예) 연락처, 이메일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ERD: 이중 타원 ◎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017520"/>
            <a:ext cx="8046720" cy="457200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01752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실무: 다중 값 속성은 관계형 DB에서 별도 테이블로 분리 (1NF 정규화)</a:t>
            </a:r>
            <a:endParaRPr lang="en-US" sz="1300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895C125C-9293-93DC-FC12-910E3521155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9" t="2759" r="20290" b="23655"/>
          <a:stretch/>
        </p:blipFill>
        <p:spPr>
          <a:xfrm>
            <a:off x="2737616" y="3534156"/>
            <a:ext cx="3668767" cy="148061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단순/복합 속성 · 유도 속성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804672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960120"/>
            <a:ext cx="384048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960120"/>
            <a:ext cx="54864" cy="13716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0515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단순 vs 복합 속성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141732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단순: 더 분해 불가 (예: 적립금)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복합: 하위 속성으로 분해 가능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예) 주소→시,구,동 / 생년월일→년,월,일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960120"/>
            <a:ext cx="384048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960120"/>
            <a:ext cx="54864" cy="13716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0515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유도 속성 (Derived)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37760" y="141732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다른 속성에서 계산으로 유도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별도 저장하지 않음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예) 판매가격 = 정가 × (100-할인율)/100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ERD: 점선 타원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2560320"/>
            <a:ext cx="804672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2560320"/>
            <a:ext cx="54864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6517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null 속성 · key 속성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31520" y="30175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null: 아직 결정되지 않았거나 모르는 값 (≠ 공백, ≠ 0)  |  key: 인스턴스를 유일하게 식별하는 속성 (ERD: 밑줄)</a:t>
            </a:r>
            <a:endParaRPr lang="en-US" sz="1200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C3B58405-C664-E0D3-3443-EF81D7D947B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722"/>
          <a:stretch/>
        </p:blipFill>
        <p:spPr>
          <a:xfrm>
            <a:off x="2647759" y="3517211"/>
            <a:ext cx="3848482" cy="152893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관계 (Relationship)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804672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96012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960120"/>
            <a:ext cx="54864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0515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관계 (Relationship)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14173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개체와 개체가 맺고 있는 의미 있는 연관성. 개체 집합들 사이의 매핑(mapping). ERD: 마름모(◇).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011680"/>
            <a:ext cx="80467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371600" y="2514600"/>
            <a:ext cx="1463040" cy="5486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25146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840480" y="2468880"/>
            <a:ext cx="1463040" cy="640080"/>
          </a:xfrm>
          <a:prstGeom prst="rect">
            <a:avLst/>
          </a:prstGeom>
          <a:solidFill>
            <a:srgbClr val="EDE9FE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0" y="24688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B5C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09360" y="2514600"/>
            <a:ext cx="1463040" cy="5486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25146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834640" y="2788920"/>
            <a:ext cx="100584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0" y="2788920"/>
            <a:ext cx="100584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관계의 유형 — 매핑 카디널리티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804672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960120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960120"/>
            <a:ext cx="54864" cy="7315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0515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매핑 카디널리티 (Mapping Cardinality)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1417320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개체 인스턴스가 상대 개체 집합의 인스턴스 몇 개와 대응되는지를 나타냄.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1920240"/>
            <a:ext cx="25603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1920240"/>
            <a:ext cx="256032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0574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1:1 관계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2377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일대일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27432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양쪽 모두 하나씩 대응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예) 남편 ↔ 아내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83280" y="1920240"/>
            <a:ext cx="25603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383280" y="1920240"/>
            <a:ext cx="25603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3474720" y="20574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1:n 관계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474720" y="2377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일대다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74720" y="27432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쪽이 여러 개와 대응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예) 부서 → 사원들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1920240"/>
            <a:ext cx="25603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7920" y="1920240"/>
            <a:ext cx="256032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20574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B5C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n:m 관계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09360" y="2377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다대다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09360" y="27432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양쪽 모두 여러 개와 대응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예) 학생 ↔ 과목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3977640"/>
            <a:ext cx="8046720" cy="4114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397764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중요한 세 가지: 1:1 (드묾) / 1:n (가장 많음) / n:m (많음)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일대일 (1:1) 관계 예시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804672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005839"/>
            <a:ext cx="8046720" cy="3823335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1097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예시: 남편 ↔ 아내 (결혼)</a:t>
            </a:r>
            <a:endParaRPr lang="en-US" sz="1300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036D0062-9DB0-D339-9905-D730825BC0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5593" y="1417320"/>
            <a:ext cx="5218493" cy="323938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일대다 (1:n) 관계 예시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804672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005840"/>
            <a:ext cx="8046720" cy="38328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1097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예시: 부서 → 사원 (소속)</a:t>
            </a:r>
            <a:endParaRPr lang="en-US" sz="1300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6EFD5C23-DB37-9D9D-A505-1015E2F1D8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4995" y="1417320"/>
            <a:ext cx="5119689" cy="313581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다대다 (n:m) 관계 예시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804672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005840"/>
            <a:ext cx="804672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1097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예시: 고객 ↔ 책 (구매)</a:t>
            </a:r>
            <a:endParaRPr lang="en-US" sz="1300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348A3C37-B160-66A2-8760-3BEB5BE658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6313" y="1463040"/>
            <a:ext cx="5291374" cy="309739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관계의 참여 특성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804672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96012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960120"/>
            <a:ext cx="54864" cy="1645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0515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필수적 참여 (전체 참여)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141732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개체 인스턴스가 관계에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반드시 참여해야 함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ERD: 이중선(═══)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예) 모든 고객은 반드시 구매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96012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960120"/>
            <a:ext cx="54864" cy="1645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0515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선택적 참여 (부분 참여)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37760" y="141732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일부 인스턴스만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관계에 참여해도 됨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ERD: 일반 단선(───)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예) 모든 책이 구매될 필요 없음</a:t>
            </a:r>
            <a:endParaRPr lang="en-US" sz="120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DAB2160D-0A68-6BF4-9C57-4D5CFD8FFDC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454" b="40640"/>
          <a:stretch/>
        </p:blipFill>
        <p:spPr>
          <a:xfrm>
            <a:off x="1320587" y="3279317"/>
            <a:ext cx="6228506" cy="81262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관계의 종속성 — 강한 개체와 약한 개체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804672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960120"/>
            <a:ext cx="384048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960120"/>
            <a:ext cx="54864" cy="1188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0515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강한 개체 (Strong Entity)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141732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독립적으로 존재 가능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ERD: 일반 사각형 □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예) 직원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960120"/>
            <a:ext cx="384048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960120"/>
            <a:ext cx="54864" cy="1188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0515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약한 개체 (Weak Entity)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37760" y="141732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다른 개체에 종속적 (강한 개체 없이 존재 불가)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ERD: 이중 사각형 ▢ + 이중 마름모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예) 부양가족 (직원에 종속)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2377440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77240" y="2377440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강한 개체 ↔ 약한 개체: 일반적으로 1:n 관계. 약한 개체는 강한 개체의 키를 포함하여 자신의 키를 구성.</a:t>
            </a:r>
            <a:endParaRPr lang="en-US" sz="1200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1ADE580E-02EF-2891-9829-8F6B729E803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454" b="40640"/>
          <a:stretch/>
        </p:blipFill>
        <p:spPr>
          <a:xfrm>
            <a:off x="1320587" y="3279317"/>
            <a:ext cx="6228506" cy="81262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ERD 기호 — 종합 정리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804672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324612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기호 이름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ERD 표현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의미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개체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사각형 □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현실의 구별되는 대상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속성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타원 ○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개체의 고유 특성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관계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마름모 ◇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개체 간 연관성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키 속성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밑줄 타원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인스턴스를 유일하게 식별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다중 값 속성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이중 타원 ◎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여러 값 가능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유도 속성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점선 타원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다른 속성에서 계산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약한 개체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이중 사각형 ▢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다른 개체에 종속적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필수적 참여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이중선 ═══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모든 인스턴스가 반드시 참여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ERD 종합 예제 — 서점 데이터베이스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804672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005840"/>
            <a:ext cx="8046720" cy="39048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E42E7963-30F6-B0C4-21FD-BC9DE53F965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07"/>
          <a:stretch/>
        </p:blipFill>
        <p:spPr>
          <a:xfrm>
            <a:off x="2215215" y="1238880"/>
            <a:ext cx="5852460" cy="3447552"/>
          </a:xfrm>
          <a:prstGeom prst="rect">
            <a:avLst/>
          </a:prstGeom>
        </p:spPr>
      </p:pic>
      <p:sp>
        <p:nvSpPr>
          <p:cNvPr id="26" name="내용 개체 틀 2">
            <a:extLst>
              <a:ext uri="{FF2B5EF4-FFF2-40B4-BE49-F238E27FC236}">
                <a16:creationId xmlns:a16="http://schemas.microsoft.com/office/drawing/2014/main" id="{F4CAD1EF-552D-7503-7FE2-537A33196765}"/>
              </a:ext>
            </a:extLst>
          </p:cNvPr>
          <p:cNvSpPr txBox="1">
            <a:spLocks/>
          </p:cNvSpPr>
          <p:nvPr/>
        </p:nvSpPr>
        <p:spPr>
          <a:xfrm>
            <a:off x="621863" y="3220742"/>
            <a:ext cx="4219574" cy="1460499"/>
          </a:xfrm>
          <a:noFill/>
          <a:ln w="3175">
            <a:solidFill>
              <a:schemeClr val="tx1"/>
            </a:solidFill>
          </a:ln>
        </p:spPr>
        <p:txBody>
          <a:bodyPr lIns="144000"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975" indent="-180975"/>
            <a:r>
              <a:rPr lang="ko-KR" altLang="en-US" sz="1800" dirty="0">
                <a:latin typeface="+mn-ea"/>
              </a:rPr>
              <a:t>사각형 </a:t>
            </a:r>
            <a:r>
              <a:rPr lang="en-US" altLang="ko-KR" sz="1800" dirty="0">
                <a:latin typeface="+mn-ea"/>
              </a:rPr>
              <a:t>: </a:t>
            </a:r>
            <a:r>
              <a:rPr lang="ko-KR" altLang="en-US" sz="1800" dirty="0">
                <a:latin typeface="+mn-ea"/>
              </a:rPr>
              <a:t>개체</a:t>
            </a:r>
            <a:endParaRPr lang="en-US" altLang="ko-KR" sz="1800" dirty="0">
              <a:latin typeface="+mn-ea"/>
            </a:endParaRPr>
          </a:p>
          <a:p>
            <a:pPr marL="180975" indent="-180975"/>
            <a:r>
              <a:rPr lang="ko-KR" altLang="en-US" sz="1800" dirty="0">
                <a:latin typeface="+mn-ea"/>
              </a:rPr>
              <a:t>타원 </a:t>
            </a:r>
            <a:r>
              <a:rPr lang="en-US" altLang="ko-KR" sz="1800" dirty="0">
                <a:latin typeface="+mn-ea"/>
              </a:rPr>
              <a:t>: </a:t>
            </a:r>
            <a:r>
              <a:rPr lang="ko-KR" altLang="en-US" sz="1800" dirty="0">
                <a:latin typeface="+mn-ea"/>
              </a:rPr>
              <a:t>속성 </a:t>
            </a:r>
            <a:r>
              <a:rPr lang="en-US" altLang="ko-KR" sz="1800" dirty="0">
                <a:latin typeface="+mn-ea"/>
              </a:rPr>
              <a:t>(</a:t>
            </a:r>
            <a:r>
              <a:rPr lang="ko-KR" altLang="en-US" sz="1800" dirty="0">
                <a:latin typeface="+mn-ea"/>
              </a:rPr>
              <a:t>밑줄 속성은 키를 표현</a:t>
            </a:r>
            <a:r>
              <a:rPr lang="en-US" altLang="ko-KR" sz="1800" dirty="0">
                <a:latin typeface="+mn-ea"/>
              </a:rPr>
              <a:t>)</a:t>
            </a:r>
          </a:p>
          <a:p>
            <a:pPr marL="180975" indent="-180975"/>
            <a:r>
              <a:rPr lang="ko-KR" altLang="en-US" sz="1800" dirty="0">
                <a:latin typeface="+mn-ea"/>
              </a:rPr>
              <a:t>마름모 </a:t>
            </a:r>
            <a:r>
              <a:rPr lang="en-US" altLang="ko-KR" sz="1800" dirty="0">
                <a:latin typeface="+mn-ea"/>
              </a:rPr>
              <a:t>: </a:t>
            </a:r>
            <a:r>
              <a:rPr lang="ko-KR" altLang="en-US" sz="1800" dirty="0">
                <a:latin typeface="+mn-ea"/>
              </a:rPr>
              <a:t>관계</a:t>
            </a:r>
            <a:endParaRPr lang="en-US" altLang="ko-KR" sz="1800" dirty="0">
              <a:latin typeface="+mn-ea"/>
            </a:endParaRPr>
          </a:p>
          <a:p>
            <a:pPr marL="180975" indent="-180975"/>
            <a:r>
              <a:rPr lang="ko-KR" altLang="en-US" sz="1800" dirty="0">
                <a:latin typeface="+mn-ea"/>
              </a:rPr>
              <a:t>레이블 </a:t>
            </a:r>
            <a:r>
              <a:rPr lang="en-US" altLang="ko-KR" sz="1800" dirty="0">
                <a:latin typeface="+mn-ea"/>
              </a:rPr>
              <a:t>: 1:1, 1:n, m:n</a:t>
            </a:r>
            <a:r>
              <a:rPr lang="ko-KR" altLang="en-US" sz="1800" dirty="0">
                <a:latin typeface="+mn-ea"/>
              </a:rPr>
              <a:t> 관계</a:t>
            </a:r>
            <a:endParaRPr lang="en-US" altLang="ko-KR" sz="1800" dirty="0">
              <a:latin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ERD 작성 단계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804672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005840"/>
            <a:ext cx="39319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005840"/>
            <a:ext cx="54864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1188720"/>
            <a:ext cx="457200" cy="457200"/>
          </a:xfrm>
          <a:prstGeom prst="line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10515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개체 식별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25880" y="14173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요구사항에서 명사를 찾아 개체 후보 도출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011680"/>
            <a:ext cx="39319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2011680"/>
            <a:ext cx="54864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2194560"/>
            <a:ext cx="457200" cy="457200"/>
          </a:xfrm>
          <a:prstGeom prst="line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25880" y="2057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속성 정의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25880" y="24231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개체의 특성(속성)을 결정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017520"/>
            <a:ext cx="39319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301752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3200400"/>
            <a:ext cx="457200" cy="457200"/>
          </a:xfrm>
          <a:prstGeom prst="line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25880" y="3063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 속성 결정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25880" y="34290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인스턴스를 유일하게 식별하는 속성 선택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1005840"/>
            <a:ext cx="39319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1005840"/>
            <a:ext cx="54864" cy="8229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7" name="Shape 25"/>
          <p:cNvSpPr/>
          <p:nvPr/>
        </p:nvSpPr>
        <p:spPr>
          <a:xfrm>
            <a:off x="4937760" y="1188720"/>
            <a:ext cx="457200" cy="457200"/>
          </a:xfrm>
          <a:prstGeom prst="line">
            <a:avLst/>
          </a:prstGeom>
          <a:solidFill>
            <a:srgbClr val="8B5CF6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532120" y="10515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관계 파악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532120" y="14173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개체 간 연관성(동사)을 찾아 관계 도출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2011680"/>
            <a:ext cx="39319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2011680"/>
            <a:ext cx="54864" cy="8229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3" name="Shape 31"/>
          <p:cNvSpPr/>
          <p:nvPr/>
        </p:nvSpPr>
        <p:spPr>
          <a:xfrm>
            <a:off x="4937760" y="2194560"/>
            <a:ext cx="457200" cy="457200"/>
          </a:xfrm>
          <a:prstGeom prst="line">
            <a:avLst/>
          </a:prstGeom>
          <a:solidFill>
            <a:srgbClr val="8B5CF6"/>
          </a:solidFill>
          <a:ln/>
        </p:spPr>
      </p:sp>
      <p:sp>
        <p:nvSpPr>
          <p:cNvPr id="34" name="Text 32"/>
          <p:cNvSpPr/>
          <p:nvPr/>
        </p:nvSpPr>
        <p:spPr>
          <a:xfrm>
            <a:off x="493776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532120" y="2057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카디널리티 결정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532120" y="24231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 / 1:n / n:m 관계 유형 판별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54880" y="3017520"/>
            <a:ext cx="39319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54880" y="3017520"/>
            <a:ext cx="54864" cy="8229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9" name="Shape 37"/>
          <p:cNvSpPr/>
          <p:nvPr/>
        </p:nvSpPr>
        <p:spPr>
          <a:xfrm>
            <a:off x="4937760" y="3200400"/>
            <a:ext cx="457200" cy="457200"/>
          </a:xfrm>
          <a:prstGeom prst="line">
            <a:avLst/>
          </a:prstGeom>
          <a:solidFill>
            <a:srgbClr val="1A2744"/>
          </a:solidFill>
          <a:ln/>
        </p:spPr>
      </p:sp>
      <p:sp>
        <p:nvSpPr>
          <p:cNvPr id="40" name="Text 38"/>
          <p:cNvSpPr/>
          <p:nvPr/>
        </p:nvSpPr>
        <p:spPr>
          <a:xfrm>
            <a:off x="493776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532120" y="3063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ERD 완성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532120" y="34290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기호를 사용하여 다이어그램 그리기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48640" y="4114800"/>
            <a:ext cx="8046720" cy="411480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44" name="Text 42"/>
          <p:cNvSpPr/>
          <p:nvPr/>
        </p:nvSpPr>
        <p:spPr>
          <a:xfrm>
            <a:off x="822960" y="41148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팁: 개체=명사(고객,상품) / 관계=동사(구매하다,수강하다)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7315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64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1097280" cy="365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논리적 데이터 모델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31520" y="3474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Logical Data Models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논리적 데이터 모델의 개념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804672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960120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960120"/>
            <a:ext cx="54864" cy="7315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0515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논리적 데이터 모델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1417320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ERD(개념적 구조)를 DB에 저장할 형태로 표현한 논리적 구조 = 데이터베이스 스키마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1920240"/>
            <a:ext cx="256032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1920240"/>
            <a:ext cx="256032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057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관계 데이터 모델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24231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278892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2차원 테이블 형태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Oracle, MySQL, PostgreSQL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많이 사용됨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83280" y="1920240"/>
            <a:ext cx="256032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383280" y="1920240"/>
            <a:ext cx="25603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3474720" y="2057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계층 데이터 모델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74720" y="24231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Hierarchical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0" y="278892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트리(Tree) 형태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부모-자식 관계 (1:n만)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n:m 표현 불가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1920240"/>
            <a:ext cx="256032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7920" y="1920240"/>
            <a:ext cx="256032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2057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B5C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네트워크 데이터 모델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09360" y="24231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09360" y="278892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그래프(Graph) 형태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 관계만 허용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구조가 복잡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4251960"/>
            <a:ext cx="8046720" cy="3657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425196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대부분의 DBMS는 관계 데이터 모델 사용 → 5장에서 본격 학습!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논리적 데이터 모델 — 3가지 비교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804672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288036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관계 데이터 모델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계층 데이터 모델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네트워크 데이터 모델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2차원 테이블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트리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그래프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1:1 / 1:n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n:m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(가능)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(불가)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(직접 불가)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유연성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매우 높음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낮음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보통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데이터 조작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(쉬움)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어려움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어려움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현재 사용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대부분의 DBMS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거의 사용 안 함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거의 사용 안 함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대표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Oracle, MySQL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2744"/>
                </a:solidFill>
                <a:latin typeface="맑은 고딕"/>
              </a:defRPr>
            </a:pPr>
            <a:r>
              <a:t>관계 데이터 모델 (Relational Data Model)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80467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05840"/>
            <a:ext cx="80467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005840"/>
            <a:ext cx="54864" cy="10972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051560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744"/>
                </a:solidFill>
                <a:latin typeface="맑은 고딕"/>
              </a:defRPr>
            </a:pPr>
            <a:r>
              <a:t>관계 데이터 모델 (Relational Data Model)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417320"/>
            <a:ext cx="7589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Calibri"/>
              </a:defRPr>
            </a:pPr>
            <a:r>
              <a:t>가장 많이 사용되는 논리적 데이터 모델. 데이터베이스의 논리적 구조를 2차원 테이블 형태로 표현.</a:t>
            </a:r>
            <a:br/>
            <a:r>
              <a:t>1970년 에드거 코드(E.F. Codd)가 제안. 5장에서 본격 학습.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331720"/>
            <a:ext cx="80467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2331720"/>
            <a:ext cx="7589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Calibri"/>
              </a:defRPr>
            </a:pPr>
            <a:r>
              <a:t>•  데이터를 행(row)과 열(column)로 구성된 테이블로 표현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715768"/>
            <a:ext cx="8046720" cy="34747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2715768"/>
            <a:ext cx="7589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Calibri"/>
              </a:defRPr>
            </a:pPr>
            <a:r>
              <a:t>•  SQL(Structured Query Language)로 데이터 조작 — 배우기 쉽고 직관적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099815"/>
            <a:ext cx="80467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3099815"/>
            <a:ext cx="7589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Calibri"/>
              </a:defRPr>
            </a:pPr>
            <a:r>
              <a:t>•  n:m 관계도 연결 테이블을 통해 표현 가능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483863"/>
            <a:ext cx="8046720" cy="34747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3483863"/>
            <a:ext cx="7589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Calibri"/>
              </a:defRPr>
            </a:pPr>
            <a:r>
              <a:t>•  데이터 독립성이 높아 구조 변경에 유연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867911"/>
            <a:ext cx="80467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3867911"/>
            <a:ext cx="7589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Calibri"/>
              </a:defRPr>
            </a:pPr>
            <a:r>
              <a:t>•  대표 DBMS: Oracle, MySQL, PostgreSQL, SQL Server, MariaDB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297680"/>
            <a:ext cx="8046720" cy="457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429768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현재 시장의 거의 모든 DBMS가 관계 데이터 모델 기반 → 5장에서 릴레이션, 키, 무결성 제약조건 학습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2744"/>
                </a:solidFill>
                <a:latin typeface="맑은 고딕"/>
              </a:defRPr>
            </a:pPr>
            <a:r>
              <a:t>계층 데이터 모델 (Hierarchical Data Model)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80467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05840"/>
            <a:ext cx="5156835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005840"/>
            <a:ext cx="54864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051560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744"/>
                </a:solidFill>
                <a:latin typeface="맑은 고딕"/>
              </a:defRPr>
            </a:pPr>
            <a:r>
              <a:t>계층 데이터 모델 (Hierarchical Data Model)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417320"/>
            <a:ext cx="7589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Calibri"/>
              </a:defRPr>
            </a:pPr>
            <a:r>
              <a:t>데이터베이스의 논리적 구조를 트리(Tree) 형태로 표현.</a:t>
            </a:r>
            <a:br/>
            <a:r>
              <a:t>루트(root) 역할을 하는 개체가 있으며, 사이클(cycle)이 존재하지 않음.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331720"/>
            <a:ext cx="5156835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2331720"/>
            <a:ext cx="49282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Calibri"/>
              </a:defRPr>
            </a:pPr>
            <a:r>
              <a:t>•  부모-자식 관계(상하 관계)로 구성 — 1:n 관계(1:1 포함)만 허용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715768"/>
            <a:ext cx="5156835" cy="34747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2715768"/>
            <a:ext cx="7589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4444"/>
                </a:solidFill>
                <a:latin typeface="Calibri"/>
              </a:defRPr>
            </a:pPr>
            <a:r>
              <a:t>•  n:m 관계는 직접 표현 불가 (가장 큰 한계)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099815"/>
            <a:ext cx="5156835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3099815"/>
            <a:ext cx="49282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Calibri"/>
              </a:defRPr>
            </a:pPr>
            <a:r>
              <a:t>•  두 개체 사이에는 하나의 관계만 정의할 수 있음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483863"/>
            <a:ext cx="5156835" cy="34747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3483863"/>
            <a:ext cx="7589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Calibri"/>
              </a:defRPr>
            </a:pPr>
            <a:r>
              <a:t>•  데이터 삽입·삭제·수정·검색이 쉽지 않음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867911"/>
            <a:ext cx="5156835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3867911"/>
            <a:ext cx="49282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Calibri"/>
              </a:defRPr>
            </a:pPr>
            <a:r>
              <a:t>•  대표 DBMS: IBM IMS (1960년대) — 현재 거의 사용되지 않음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297680"/>
            <a:ext cx="8046720" cy="4572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429768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4155"/>
                </a:solidFill>
                <a:latin typeface="Calibri"/>
              </a:defRPr>
            </a:pPr>
            <a:r>
              <a:t>쇠퇴 원인: n:m 표현 불가 + 데이터 조작 어려움 + 구조 변경 비유연 → 관계 모델에 대체됨</a:t>
            </a: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0312F6A6-B912-29B5-48E2-6328B9E6080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038" b="20551"/>
          <a:stretch/>
        </p:blipFill>
        <p:spPr>
          <a:xfrm>
            <a:off x="6368335" y="2684850"/>
            <a:ext cx="2265183" cy="1379657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09C9BF7E-5736-85CF-325D-88F20B87E67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140" b="10997"/>
          <a:stretch/>
        </p:blipFill>
        <p:spPr>
          <a:xfrm>
            <a:off x="6064560" y="1085469"/>
            <a:ext cx="867731" cy="1961768"/>
          </a:xfrm>
          <a:prstGeom prst="rect">
            <a:avLst/>
          </a:prstGeom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85B97437-4282-8445-9D5E-8D611918DAAD}"/>
              </a:ext>
            </a:extLst>
          </p:cNvPr>
          <p:cNvSpPr/>
          <p:nvPr/>
        </p:nvSpPr>
        <p:spPr>
          <a:xfrm>
            <a:off x="6966631" y="2015237"/>
            <a:ext cx="167545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dirty="0"/>
              <a:t>계층 데이터 모델 예제</a:t>
            </a:r>
            <a:endParaRPr lang="en-US" altLang="ko-KR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2744"/>
                </a:solidFill>
                <a:latin typeface="맑은 고딕"/>
              </a:defRPr>
            </a:pPr>
            <a:r>
              <a:t>네트워크 데이터 모델 (Network Data Model)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80467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27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1" y="1005840"/>
            <a:ext cx="497586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005840"/>
            <a:ext cx="45719" cy="10972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1" y="1051560"/>
            <a:ext cx="46931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744"/>
                </a:solidFill>
                <a:latin typeface="맑은 고딕"/>
              </a:defRPr>
            </a:pPr>
            <a:r>
              <a:t>네트워크 데이터 모델 (Network Data Model)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1" y="1417320"/>
            <a:ext cx="46931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Calibri"/>
              </a:defRPr>
            </a:pPr>
            <a:r>
              <a:t>데이터베이스의 논리적 구조를 네트워크(그래프) 형태로 표현.</a:t>
            </a:r>
            <a:br/>
            <a:r>
              <a:t>개체 간에 일대다(1:n) 관계만 허용 (owner : member).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1" y="2331720"/>
            <a:ext cx="49758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1" y="2331720"/>
            <a:ext cx="46931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Calibri"/>
              </a:defRPr>
            </a:pPr>
            <a:r>
              <a:t>•  그래프(Graph) 형태 — 계층 모델보다 유연한 구조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1" y="2715768"/>
            <a:ext cx="4975860" cy="34747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1" y="2715768"/>
            <a:ext cx="46931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4444"/>
                </a:solidFill>
                <a:latin typeface="Calibri"/>
              </a:defRPr>
            </a:pPr>
            <a:r>
              <a:t>•  n:m 관계를 직접 표현할 수 없음 (1:n으로 분해해야 함)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1" y="3099815"/>
            <a:ext cx="49758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1" y="3099815"/>
            <a:ext cx="46931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Calibri"/>
              </a:defRPr>
            </a:pPr>
            <a:r>
              <a:t>•  두 개체 간의 관계를 여러 개 정의할 수 있으며, 이름으로 구별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1" y="3483863"/>
            <a:ext cx="4975860" cy="34747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1" y="3483863"/>
            <a:ext cx="46931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Calibri"/>
              </a:defRPr>
            </a:pPr>
            <a:r>
              <a:t>•  구조가 복잡하며, 데이터 삽입·삭제·수정·검색이 쉽지 않음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1" y="3867911"/>
            <a:ext cx="49758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1" y="3867911"/>
            <a:ext cx="46931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Calibri"/>
              </a:defRPr>
            </a:pPr>
            <a:r>
              <a:t>•  대표 DBMS: IDMS — 현재 거의 사용되지 않음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297680"/>
            <a:ext cx="6482716" cy="4572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4297680"/>
            <a:ext cx="579929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4155"/>
                </a:solidFill>
                <a:latin typeface="Calibri"/>
              </a:defRPr>
            </a:pPr>
            <a:r>
              <a:rPr dirty="0" err="1"/>
              <a:t>계층</a:t>
            </a:r>
            <a:r>
              <a:rPr dirty="0"/>
              <a:t> </a:t>
            </a:r>
            <a:r>
              <a:rPr dirty="0" err="1"/>
              <a:t>모델의</a:t>
            </a:r>
            <a:r>
              <a:rPr dirty="0"/>
              <a:t> </a:t>
            </a:r>
            <a:r>
              <a:rPr dirty="0" err="1"/>
              <a:t>단점을</a:t>
            </a:r>
            <a:r>
              <a:rPr dirty="0"/>
              <a:t> </a:t>
            </a:r>
            <a:r>
              <a:rPr dirty="0" err="1"/>
              <a:t>일부</a:t>
            </a:r>
            <a:r>
              <a:rPr dirty="0"/>
              <a:t> </a:t>
            </a:r>
            <a:r>
              <a:rPr dirty="0" err="1"/>
              <a:t>보완했지만</a:t>
            </a:r>
            <a:r>
              <a:rPr dirty="0"/>
              <a:t>, </a:t>
            </a:r>
            <a:r>
              <a:rPr dirty="0" err="1"/>
              <a:t>구조</a:t>
            </a:r>
            <a:r>
              <a:rPr dirty="0"/>
              <a:t> </a:t>
            </a:r>
            <a:r>
              <a:rPr dirty="0" err="1"/>
              <a:t>복잡성</a:t>
            </a:r>
            <a:r>
              <a:rPr dirty="0"/>
              <a:t> </a:t>
            </a:r>
            <a:r>
              <a:rPr dirty="0" err="1"/>
              <a:t>문제로</a:t>
            </a:r>
            <a:r>
              <a:rPr dirty="0"/>
              <a:t> </a:t>
            </a:r>
            <a:r>
              <a:rPr dirty="0" err="1"/>
              <a:t>관계</a:t>
            </a:r>
            <a:r>
              <a:rPr dirty="0"/>
              <a:t> </a:t>
            </a:r>
            <a:r>
              <a:rPr dirty="0" err="1"/>
              <a:t>모델에</a:t>
            </a:r>
            <a:r>
              <a:rPr dirty="0"/>
              <a:t> </a:t>
            </a:r>
            <a:r>
              <a:rPr dirty="0" err="1"/>
              <a:t>대체됨</a:t>
            </a:r>
            <a:endParaRPr dirty="0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DEF65EFE-D032-272D-5057-CACD56BDEB7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103" b="19095"/>
          <a:stretch/>
        </p:blipFill>
        <p:spPr>
          <a:xfrm>
            <a:off x="5753101" y="958404"/>
            <a:ext cx="2890599" cy="1689865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C17F366B-37CD-9280-59D4-D2D4260B741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099" b="16254"/>
          <a:stretch/>
        </p:blipFill>
        <p:spPr>
          <a:xfrm>
            <a:off x="5753101" y="2730567"/>
            <a:ext cx="2890599" cy="1484816"/>
          </a:xfrm>
          <a:prstGeom prst="rect">
            <a:avLst/>
          </a:prstGeom>
        </p:spPr>
      </p:pic>
      <p:sp>
        <p:nvSpPr>
          <p:cNvPr id="27" name="직사각형 26">
            <a:extLst>
              <a:ext uri="{FF2B5EF4-FFF2-40B4-BE49-F238E27FC236}">
                <a16:creationId xmlns:a16="http://schemas.microsoft.com/office/drawing/2014/main" id="{E02E446D-F4AB-A1F7-D215-91D23FAFF04C}"/>
              </a:ext>
            </a:extLst>
          </p:cNvPr>
          <p:cNvSpPr/>
          <p:nvPr/>
        </p:nvSpPr>
        <p:spPr>
          <a:xfrm>
            <a:off x="5938739" y="3099815"/>
            <a:ext cx="198323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dirty="0"/>
              <a:t>네트워크 데이터 모델 예제</a:t>
            </a:r>
            <a:endParaRPr lang="en-US" altLang="ko-KR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4장 전체 요약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804672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005840"/>
            <a:ext cx="804672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005840"/>
            <a:ext cx="54864" cy="50292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97280"/>
            <a:ext cx="29260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88720" y="1005840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모델링 = 현실 세계 → DB로 옮기는 과정 (개념적 + 논리적 모델링)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1645920"/>
            <a:ext cx="804672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48640" y="1645920"/>
            <a:ext cx="54864" cy="50292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37360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88720" y="1645920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모델 3요소: 개체(□) + 속성(○) + 관계(◇) → ERD로 시각화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2286000"/>
            <a:ext cx="804672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48640" y="2286000"/>
            <a:ext cx="54864" cy="50292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37744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88720" y="2286000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속성 분류: 단일/다중값, 단순/복합, 유도, null, key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2926080"/>
            <a:ext cx="804672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48640" y="2926080"/>
            <a:ext cx="54864" cy="502920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017520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88720" y="2926080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관계 유형: 1:1, 1:n, n:m / 참여: 필수/선택 / 종속: 강한/약한 개체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548640" y="3566160"/>
            <a:ext cx="804672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548640" y="3566160"/>
            <a:ext cx="54864" cy="502920"/>
          </a:xfrm>
          <a:prstGeom prst="rect">
            <a:avLst/>
          </a:prstGeom>
          <a:solidFill>
            <a:srgbClr val="1A2744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657600"/>
            <a:ext cx="292608" cy="29260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188720" y="3566160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논리적 모델: 관계형(테이블) &gt; 계층형(트리) &gt; 네트워크(그래프)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548640" y="4297680"/>
            <a:ext cx="8046720" cy="4114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8" name="Text 21"/>
          <p:cNvSpPr/>
          <p:nvPr/>
        </p:nvSpPr>
        <p:spPr>
          <a:xfrm>
            <a:off x="822960" y="42976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시간: 4장 연습문제 풀이. ER 모델과 ERD를 복습하고 오세요!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731520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8288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감사합니다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914400" y="2834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3200400" y="3566160"/>
            <a:ext cx="27432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3749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박상돈 조교수  |  대전대학교 컴퓨터공학과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315200" y="731520"/>
            <a:ext cx="2011680" cy="2011680"/>
          </a:xfrm>
          <a:prstGeom prst="line">
            <a:avLst/>
          </a:prstGeom>
          <a:solidFill>
            <a:srgbClr val="0891B2">
              <a:alpha val="25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2998</Words>
  <Application>Microsoft Office PowerPoint</Application>
  <PresentationFormat>화면 슬라이드 쇼(16:9)</PresentationFormat>
  <Paragraphs>413</Paragraphs>
  <Slides>30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5" baseType="lpstr">
      <vt:lpstr>Arial</vt:lpstr>
      <vt:lpstr>Arial Black</vt:lpstr>
      <vt:lpstr>Calibri</vt:lpstr>
      <vt:lpstr>맑은 고딕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4장 데이터 모델링</dc:title>
  <dc:subject>PptxGenJS Presentation</dc:subject>
  <dc:creator>박상돈</dc:creator>
  <cp:lastModifiedBy>상돈 박</cp:lastModifiedBy>
  <cp:revision>16</cp:revision>
  <dcterms:created xsi:type="dcterms:W3CDTF">2026-03-23T08:36:33Z</dcterms:created>
  <dcterms:modified xsi:type="dcterms:W3CDTF">2026-03-23T10:25:56Z</dcterms:modified>
</cp:coreProperties>
</file>