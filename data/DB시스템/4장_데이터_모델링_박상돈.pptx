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  /><Relationship Id="rId2" Type="http://schemas.openxmlformats.org/package/2006/relationships/metadata/thumbnail" Target="docProps/thumbnail.jpeg"  /><Relationship Id="rId3" Type="http://schemas.openxmlformats.org/package/2006/relationships/metadata/core-properties" Target="docProps/core.xml"  /><Relationship Id="rId4" Type="http://schemas.openxmlformats.org/officeDocument/2006/relationships/extended-properties" Target="docProps/app.xml"  /><Relationship Id="rId5" Type="http://schemas.openxmlformats.org/officeDocument/2006/relationships/custom-properties" Target="docProps/custom.xml"  /></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3" r:id="rId28"/>
    <p:sldId id="284" r:id="rId29"/>
    <p:sldId id="285" r:id="rId30"/>
    <p:sldId id="281" r:id="rId31"/>
    <p:sldId id="282"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showPr showNarration="1">
    <p:present/>
    <p:sldAll/>
    <p:penClr>
      <a:prstClr val="red"/>
    </p:penClr>
    <p:extLst>
      <p:ext uri="{2FDB2607-1784-4EEB-B798-7EB5836EED8A}">
        <p14:showMediaCtrls xmlns:p14="http://schemas.microsoft.com/office/powerpoint/2010/main" val="1"/>
      </p:ext>
    </p:extLst>
  </p:showPr>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p:restoredLeft sz="20000" autoAdjust="0"/>
    <p:restoredTop sz="53406" autoAdjust="0"/>
  </p:normalViewPr>
  <p:slideViewPr>
    <p:cSldViewPr snapToGrid="0" snapToObjects="1">
      <p:cViewPr varScale="1">
        <p:scale>
          <a:sx n="100" d="100"/>
          <a:sy n="100" d="100"/>
        </p:scale>
        <p:origin x="552" y="342"/>
      </p:cViewPr>
      <p:guideLst>
        <p:guide orient="horz" pos="1619"/>
        <p:guide pos="287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 Type="http://schemas.openxmlformats.org/officeDocument/2006/relationships/notesMaster" Target="notesMasters/notesMaster1.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slide" Target="slides/slide27.xml"  /><Relationship Id="rId3" Type="http://schemas.openxmlformats.org/officeDocument/2006/relationships/slide" Target="slides/slide1.xml"  /><Relationship Id="rId30" Type="http://schemas.openxmlformats.org/officeDocument/2006/relationships/slide" Target="slides/slide28.xml"  /><Relationship Id="rId31" Type="http://schemas.openxmlformats.org/officeDocument/2006/relationships/slide" Target="slides/slide29.xml"  /><Relationship Id="rId32" Type="http://schemas.openxmlformats.org/officeDocument/2006/relationships/slide" Target="slides/slide30.xml"  /><Relationship Id="rId33" Type="http://schemas.openxmlformats.org/officeDocument/2006/relationships/presProps" Target="presProps.xml"  /><Relationship Id="rId34" Type="http://schemas.openxmlformats.org/officeDocument/2006/relationships/viewProps" Target="viewProps.xml"  /><Relationship Id="rId35" Type="http://schemas.openxmlformats.org/officeDocument/2006/relationships/theme" Target="theme/theme1.xml"  /><Relationship Id="rId36" Type="http://schemas.openxmlformats.org/officeDocument/2006/relationships/tableStyles" Target="tableStyles.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5711263"/>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안녕하세요, 여러분. 박상돈입니다.</a:t>
            </a:r>
          </a:p>
          <a:p xmlns:a="http://schemas.openxmlformats.org/drawingml/2006/main">
            <a:r>
              <a:t/>
            </a:r>
          </a:p>
          <a:p xmlns:a="http://schemas.openxmlformats.org/drawingml/2006/main">
            <a:r>
              <a:t>오늘은 4장, 데이터 모델링입니다. 영어로 Data Modeling이라고 합니다.</a:t>
            </a:r>
          </a:p>
          <a:p xmlns:a="http://schemas.openxmlformats.org/drawingml/2006/main">
            <a:r>
              <a:t/>
            </a:r>
          </a:p>
          <a:p xmlns:a="http://schemas.openxmlformats.org/drawingml/2006/main">
            <a:r>
              <a:t>시작하기 전에, 3장까지 배운 내용을 간단히 복습해보겠습니다. 1장에서 뭘 배웠죠? 데이터와 정보의 차이, 데이터베이스의 정의, 네 가지 특성 — 공유, 통합, 저장, 운영. "공통저운" 기억나시죠? 2장에서는 DBMS를 배웠습니다. 파일 시스템의 네 가지 문제점 — 중복성, 종속성, 동시 공유 부족, 개발 난이도. 그리고 DBMS의 3대 기능 — DDL, DML, DCL. 3장에서는 데이터베이스 시스템의 전체 구조를 배웠습니다. 스키마와 인스턴스의 차이, ANSI/SPARC 3단계 구조 — 외부, 개념, 내부 스키마. 그리고 데이터 독립성 — 논리적 독립성과 물리적 독립성. 여기까지가 지금까지 배운 내용입니다.</a:t>
            </a:r>
          </a:p>
          <a:p xmlns:a="http://schemas.openxmlformats.org/drawingml/2006/main">
            <a:r>
              <a:t/>
            </a:r>
          </a:p>
          <a:p xmlns:a="http://schemas.openxmlformats.org/drawingml/2006/main">
            <a:r>
              <a:t>그런데 여러분, 한 가지 생각해보세요. 우리가 지금까지 배운 것은 전부 "데이터베이스가 뭐고, 어떤 구조로 되어 있고, 어떤 특징이 있는가"에 대한 이론이었어요. 말하자면 "데이터베이스란 이런 것이다"라는 설명이었지, "데이터베이스를 어떻게 만드는가"는 아직 안 배웠습니다.</a:t>
            </a:r>
          </a:p>
          <a:p xmlns:a="http://schemas.openxmlformats.org/drawingml/2006/main">
            <a:r>
              <a:t/>
            </a:r>
          </a:p>
          <a:p xmlns:a="http://schemas.openxmlformats.org/drawingml/2006/main">
            <a:r>
              <a:t>예를 들어볼게요. 여러분이 이제 졸업 프로젝트로 쇼핑몰을 만든다고 해봅시다. 고객 정보, 상품 정보, 주문 정보를 저장해야 하잖아요. 그런데 어떻게 시작하죠? 그냥 막 테이블을 만들면 될까요? 고객 테이블에 뭘 넣어야 하지? 주문 테이블은? 고객과 상품의 관계는 어떻게 표현하지?</a:t>
            </a:r>
          </a:p>
          <a:p xmlns:a="http://schemas.openxmlformats.org/drawingml/2006/main">
            <a:r>
              <a:t/>
            </a:r>
          </a:p>
          <a:p xmlns:a="http://schemas.openxmlformats.org/drawingml/2006/main">
            <a:r>
              <a:t>이런 질문에 답하는 것이 바로 오늘 배울 데이터 모델링입니다. 현실 세계에 있는 데이터를 어떻게 정리하고 구조화해서 데이터베이스로 옮길 수 있는지, 그 방법론을 배우는 거예요. 데이터 모델링은 데이터베이스 설계의 핵심 과정이고, 이게 잘못되면 나중에 아무리 고쳐도 소용이 없습니다. 건물의 기초공사가 잘못되면 건물 전체를 다시 지어야 하는 것과 같아요.</a:t>
            </a:r>
          </a:p>
          <a:p xmlns:a="http://schemas.openxmlformats.org/drawingml/2006/main">
            <a:r>
              <a:t/>
            </a:r>
          </a:p>
          <a:p xmlns:a="http://schemas.openxmlformats.org/drawingml/2006/main">
            <a:r>
              <a:t>특히 이번 장에서 배우는 ER 모델, 개체-관계 모델은 1976년에 만들어진 이후 거의 50년 동안 데이터베이스 설계의 표준으로 사용되고 있습니다. 실무에서 프로젝트를 시작하면 가장 먼저 하는 일이 ERD를 그리는 것이에요. 취업 면접에서도 "이 시나리오를 보고 ERD를 그려보세요"라는 문제가 정말 자주 나옵니다. 제가 실무에서 일할 때도, 게임 서버의 데이터베이스를 설계할 때 ERD부터 그렸거든요. 캐릭터 정보, 아이템 정보, 인벤토리, 길드... 이런 것들의 관계를 먼저 정리해야 개발을 시작할 수 있었습니다.</a:t>
            </a:r>
          </a:p>
          <a:p xmlns:a="http://schemas.openxmlformats.org/drawingml/2006/main">
            <a:r>
              <a:t/>
            </a:r>
          </a:p>
          <a:p xmlns:a="http://schemas.openxmlformats.org/drawingml/2006/main">
            <a:r>
              <a:t>오늘 수업은 총 5시간입니다. 크게 세 섹션으로 나누고, 중간중간 쉬는 시간을 가지겠습니다.</a:t>
            </a:r>
          </a:p>
          <a:p xmlns:a="http://schemas.openxmlformats.org/drawingml/2006/main">
            <a:r>
              <a:t/>
            </a:r>
          </a:p>
          <a:p xmlns:a="http://schemas.openxmlformats.org/drawingml/2006/main">
            <a:r>
              <a:t>1교시와 2교시에 섹션 1 "데이터 모델링의 개념"과 섹션 2의 전반부 "개체와 속성"을 다룹니다.</a:t>
            </a:r>
          </a:p>
          <a:p xmlns:a="http://schemas.openxmlformats.org/drawingml/2006/main">
            <a:r>
              <a:t>3교시에 섹션 2의 후반부 "관계"를 다룹니다.</a:t>
            </a:r>
          </a:p>
          <a:p xmlns:a="http://schemas.openxmlformats.org/drawingml/2006/main">
            <a:r>
              <a:t>4교시에 섹션 2의 나머지 "참여 특성, 약한 개체, ERD 기호, ERD 작성 단계"를 다룹니다.</a:t>
            </a:r>
          </a:p>
          <a:p xmlns:a="http://schemas.openxmlformats.org/drawingml/2006/main">
            <a:r>
              <a:t>5교시에 섹션 3 "논리적 데이터 모델"과 전체 요약을 하겠습니다.</a:t>
            </a:r>
          </a:p>
          <a:p xmlns:a="http://schemas.openxmlformats.org/drawingml/2006/main">
            <a:r>
              <a:t/>
            </a:r>
          </a:p>
          <a:p xmlns:a="http://schemas.openxmlformats.org/drawingml/2006/main">
            <a:r>
              <a:t>자, 그럼 시작합시다.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오늘 수업의 목차입니다. 세 개의 섹션으로 구성되어 있습니다.</a:t>
            </a:r>
          </a:p>
          <a:p xmlns:a="http://schemas.openxmlformats.org/drawingml/2006/main">
            <a:r>
              <a:t/>
            </a:r>
          </a:p>
          <a:p xmlns:a="http://schemas.openxmlformats.org/drawingml/2006/main">
            <a:r>
              <a:t>섹션 1은 "데이터 모델링의 개념"입니다. 데이터 모델링이 뭔지, 왜 하는 건지, 어떤 단계로 진행되는지, 데이터 모델이라는 것은 어떤 요소로 구성되는지를 배웁니다. 분량은 짧지만 4장 전체의 큰 그림을 잡아주는 아주 중요한 섹션입니다. 여기서 이해가 안 되면 뒤에서 ER 모델을 배울 때 "이걸 왜 하는 거지?"라는 의문이 계속 생기거든요.</a:t>
            </a:r>
          </a:p>
          <a:p xmlns:a="http://schemas.openxmlformats.org/drawingml/2006/main">
            <a:r>
              <a:t/>
            </a:r>
          </a:p>
          <a:p xmlns:a="http://schemas.openxmlformats.org/drawingml/2006/main">
            <a:r>
              <a:t>섹션 2는 "개체-관계 모델"입니다. 오늘 수업의 핵심이자 하이라이트입니다. 개체가 뭔지, 속성이 뭔지, 관계가 뭔지를 하나하나 깊이 파고듭니다. 속성만 해도 분류가 다섯 가지나 되고, 관계도 매핑 카디널리티, 참여 특성, 종속성 같은 세부 개념이 있습니다. ERD 기호를 전부 배우고, 실제로 ERD를 그리는 단계까지 다룹니다. 전체 수업 시간의 60% 이상이 이 섹션에 집중됩니다.</a:t>
            </a:r>
          </a:p>
          <a:p xmlns:a="http://schemas.openxmlformats.org/drawingml/2006/main">
            <a:r>
              <a:t/>
            </a:r>
          </a:p>
          <a:p xmlns:a="http://schemas.openxmlformats.org/drawingml/2006/main">
            <a:r>
              <a:t>섹션 3은 "논리적 데이터 모델"입니다. ER 모델로 만든 개념적 설계를 실제 데이터베이스에 저장하는 구조로 바꾸는 과정에서 사용하는 도구들을 배웁니다. 관계형, 계층형, 네트워크 모델 세 가지를 각각 자세히 살펴보고 왜 관계형 모델이 현재 표준이 되었는지를 이해합니다.</a:t>
            </a:r>
          </a:p>
          <a:p xmlns:a="http://schemas.openxmlformats.org/drawingml/2006/main">
            <a:r>
              <a:t/>
            </a:r>
          </a:p>
          <a:p xmlns:a="http://schemas.openxmlformats.org/drawingml/2006/main">
            <a:r>
              <a:t>전체의 약 60~70%가 섹션 2에 집중되어 있으니까, 섹션 2에서 특히 집중해주시고, 이해가 안 되는 부분이 있으면 바로바로 질문해주세요. 질문은 언제든 환영합니다.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자, 첫 번째 섹션, 데이터 모델링의 개념입니다. 영어로 Data Modeling Concepts.</a:t>
            </a:r>
          </a:p>
          <a:p xmlns:a="http://schemas.openxmlformats.org/drawingml/2006/main">
            <a:r>
              <a:t/>
            </a:r>
          </a:p>
          <a:p xmlns:a="http://schemas.openxmlformats.org/drawingml/2006/main">
            <a:r>
              <a:t>이 섹션에서는 세 가지를 배웁니다. 첫째, 데이터 모델링이 무엇인가. 둘째, 데이터 모델링은 어떤 단계로 진행되는가 — 2단계 데이터 모델링. 셋째, 데이터 모델이라는 것은 어떤 요소로 구성되는가.</a:t>
            </a:r>
          </a:p>
          <a:p xmlns:a="http://schemas.openxmlformats.org/drawingml/2006/main">
            <a:r>
              <a:t/>
            </a:r>
          </a:p>
          <a:p xmlns:a="http://schemas.openxmlformats.org/drawingml/2006/main">
            <a:r>
              <a:t>짧은 섹션이지만, 이 세 가지를 확실히 이해하고 넘어가야 합니다. 왜냐하면 이 세 가지가 4장 전체의 뼈대이기 때문이에요. 이 뼈대를 잡아놓으면 뒤에서 배울 ER 모델, 속성 분류, 관계 유형 같은 세부 내용들이 "아, 이게 여기에 해당하는 거구나" 하고 자연스럽게 자리를 잡습니다.</a:t>
            </a:r>
          </a:p>
          <a:p xmlns:a="http://schemas.openxmlformats.org/drawingml/2006/main">
            <a:r>
              <a:t/>
            </a:r>
          </a:p>
          <a:p xmlns:a="http://schemas.openxmlformats.org/drawingml/2006/main">
            <a:r>
              <a:t>그럼 바로 들어가보겠습니다.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데이터 모델링의 정의를 보겠습니다.</a:t>
            </a:r>
          </a:p>
          <a:p xmlns:a="http://schemas.openxmlformats.org/drawingml/2006/main">
            <a:r>
              <a:t/>
            </a:r>
          </a:p>
          <a:p xmlns:a="http://schemas.openxmlformats.org/drawingml/2006/main">
            <a:r>
              <a:t>슬라이드 상단에 정의가 나와 있습니다. 데이터 모델링이란, 현실 세계에 존재하는 데이터를 컴퓨터 세계의 데이터베이스로 옮기는 과정입니다. 데이터베이스 설계의 핵심 과정이죠.</a:t>
            </a:r>
          </a:p>
          <a:p xmlns:a="http://schemas.openxmlformats.org/drawingml/2006/main">
            <a:r>
              <a:t/>
            </a:r>
          </a:p>
          <a:p xmlns:a="http://schemas.openxmlformats.org/drawingml/2006/main">
            <a:r>
              <a:t>이 정의를 비유로 쉽게 설명해볼게요. 건축에 비유하면 아주 명확합니다.</a:t>
            </a:r>
          </a:p>
          <a:p xmlns:a="http://schemas.openxmlformats.org/drawingml/2006/main">
            <a:r>
              <a:t/>
            </a:r>
          </a:p>
          <a:p xmlns:a="http://schemas.openxmlformats.org/drawingml/2006/main">
            <a:r>
              <a:t>여러분이 집을 짓고 싶다고 합시다. 가장 먼저 뭘 해야 하죠? 설계도를 그려야 합니다. "방은 몇 개로 할까, 화장실은 어디에 두지, 주방은 얼마나 넓게 할까" — 이런 것들을 설계도에 먼저 그려야 해요. 설계도 없이 벽돌부터 쌓으면 어떻게 될까요? 방 크기가 안 맞고, 화장실 배관이 엉뚱한 데로 가고, 나중에 고치려면 벽을 다 부수고 다시 해야 합니다.</a:t>
            </a:r>
          </a:p>
          <a:p xmlns:a="http://schemas.openxmlformats.org/drawingml/2006/main">
            <a:r>
              <a:t/>
            </a:r>
          </a:p>
          <a:p xmlns:a="http://schemas.openxmlformats.org/drawingml/2006/main">
            <a:r>
              <a:t>데이터베이스도 똑같습니다. 쇼핑몰을 만든다고 치면, "고객 정보에는 뭘 저장하지? 상품 정보에는? 고객과 상품의 관계는 어떻게 되지?" — 이런 것들을 먼저 설계해야 해요. 이 설계 과정이 데이터 모델링이고, 설계 결과물이 ER 다이어그램입니다.</a:t>
            </a:r>
          </a:p>
          <a:p xmlns:a="http://schemas.openxmlformats.org/drawingml/2006/main">
            <a:r>
              <a:t/>
            </a:r>
          </a:p>
          <a:p xmlns:a="http://schemas.openxmlformats.org/drawingml/2006/main">
            <a:r>
              <a:t>설계 없이 바로 CREATE TABLE부터 치면 어떻게 될까요? 나중에 "아, 이 데이터는 여기 넣으면 안 되는 건데..." 하면서 테이블 구조를 뜯어고쳐야 합니다. 데이터가 이미 쌓여 있으면 이게 정말 고통스러워요. 실무에서 이런 일이 실제로 자주 일어납니다.</a:t>
            </a:r>
          </a:p>
          <a:p xmlns:a="http://schemas.openxmlformats.org/drawingml/2006/main">
            <a:r>
              <a:t/>
            </a:r>
          </a:p>
          <a:p xmlns:a="http://schemas.openxmlformats.org/drawingml/2006/main">
            <a:r>
              <a:t>슬라이드 중간에 데이터 모델링이 왜 중요한지 세 가지 이유를 카드로 정리해놨습니다.</a:t>
            </a:r>
          </a:p>
          <a:p xmlns:a="http://schemas.openxmlformats.org/drawingml/2006/main">
            <a:r>
              <a:t/>
            </a:r>
          </a:p>
          <a:p xmlns:a="http://schemas.openxmlformats.org/drawingml/2006/main">
            <a:r>
              <a:t>첫째, 구조 정의입니다. 데이터의 구조를 명확하게 정의해야 효율적으로 저장하고 검색할 수 있습니다. 예를 들어 고객의 연락처를 이름과 같은 칸에 넣을 건지, 별도 칸으로 분리할 건지를 미리 정해야 해요. 이런 구조를 잘 잡아놓으면 나중에 "010-1234로 시작하는 고객 찾아줘" 같은 검색이 쉬워집니다.</a:t>
            </a:r>
          </a:p>
          <a:p xmlns:a="http://schemas.openxmlformats.org/drawingml/2006/main">
            <a:r>
              <a:t/>
            </a:r>
          </a:p>
          <a:p xmlns:a="http://schemas.openxmlformats.org/drawingml/2006/main">
            <a:r>
              <a:t>둘째, 요구사항 반영입니다. 사용자가 원하는 것을 빠짐없이 DB에 반영할 수 있습니다. 쇼핑몰 기획자가 "고객 등급별로 할인율을 다르게 하고 싶어요"라고 하면, 고객 테이블에 등급 필드가 있어야 하잖아요. 모델링 단계에서 이런 요구사항을 정리하지 않으면, 개발이 끝난 뒤에 "아, 등급 필드를 안 만들었네" 하면서 대공사가 시작됩니다.</a:t>
            </a:r>
          </a:p>
          <a:p xmlns:a="http://schemas.openxmlformats.org/drawingml/2006/main">
            <a:r>
              <a:t/>
            </a:r>
          </a:p>
          <a:p xmlns:a="http://schemas.openxmlformats.org/drawingml/2006/main">
            <a:r>
              <a:t>셋째, 소통 도구입니다. ER 다이어그램은 개발자, 기획자, 사용자가 모두 이해할 수 있는 공통 언어입니다. 기획자에게 SQL 코드를 보여줘봐야 이해를 못 해요. 하지만 ERD를 보여주면 "아, 고객이 여기 있고, 주문이 여기 있고, 이렇게 연결되는 거구나" 하고 직관적으로 이해합니다. 프로젝트에서 팀원 간의 소통 오류를 줄이는 데 ERD가 정말 큰 역할을 합니다.</a:t>
            </a:r>
          </a:p>
          <a:p xmlns:a="http://schemas.openxmlformats.org/drawingml/2006/main">
            <a:r>
              <a:t/>
            </a:r>
          </a:p>
          <a:p xmlns:a="http://schemas.openxmlformats.org/drawingml/2006/main">
            <a:r>
              <a:t>하단에 비유가 정리되어 있습니다. 건축가의 설계도 = 데이터 모델링. 건물 = 데이터베이스. 자재와 기술 = DBMS. 이 비유를 시험 때 써먹을 수 있으니 기억해두세요. "데이터 모델링을 비유로 설명하시오"라는 문제가 나올 수도 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데이터 모델링은 크게 두 단계로 나뉩니다. 이것이 아주 중요합니다. 시험에 거의 반드시 나온다고 보시면 됩니다.</a:t>
            </a:r>
          </a:p>
          <a:p xmlns:a="http://schemas.openxmlformats.org/drawingml/2006/main">
            <a:r>
              <a:t/>
            </a:r>
          </a:p>
          <a:p xmlns:a="http://schemas.openxmlformats.org/drawingml/2006/main">
            <a:r>
              <a:t>슬라이드 상단에 현실 세계, 개념 세계, 컴퓨터 세계가 세 개의 카드로 나와 있고, 그 사이에 화살표가 있습니다.</a:t>
            </a:r>
          </a:p>
          <a:p xmlns:a="http://schemas.openxmlformats.org/drawingml/2006/main">
            <a:r>
              <a:t/>
            </a:r>
          </a:p>
          <a:p xmlns:a="http://schemas.openxmlformats.org/drawingml/2006/main">
            <a:r>
              <a:t>먼저 왼쪽, 현실 세계입니다. 우리가 사는 세상이에요. 여기에는 고객, 상품, 주문, 직원, 부서... 이런 것들이 존재합니다. 하지만 현실 세계는 너무 복잡해요. 고객 한 명을 봐도 키, 몸무게, 좋아하는 음식, 어제 뭘 먹었는지... 정보가 무한대입니다. 이것들을 전부 DB에 저장할 수는 없잖아요. 필요한 것만 골라내야 합니다.</a:t>
            </a:r>
          </a:p>
          <a:p xmlns:a="http://schemas.openxmlformats.org/drawingml/2006/main">
            <a:r>
              <a:t/>
            </a:r>
          </a:p>
          <a:p xmlns:a="http://schemas.openxmlformats.org/drawingml/2006/main">
            <a:r>
              <a:t>첫 번째 화살표가 개념적 데이터 모델링입니다. 현실 세계의 중요 데이터를 추출하여 개념 세계로 옮기는 작업이에요. "우리 쇼핑몰에서 고객에 대해 뭘 저장해야 하지? 고객아이디, 이름, 연락처, 등급 정도면 되겠다. 상품은? 상품번호, 상품명, 가격, 재고량. 고객과 상품의 관계는? 고객이 상품을 '주문'한다." 이런 식으로 현실에서 필요한 것만 골라내서 정리하는 겁니다.</a:t>
            </a:r>
          </a:p>
          <a:p xmlns:a="http://schemas.openxmlformats.org/drawingml/2006/main">
            <a:r>
              <a:t/>
            </a:r>
          </a:p>
          <a:p xmlns:a="http://schemas.openxmlformats.org/drawingml/2006/main">
            <a:r>
              <a:t>이 과정에서 사용하는 도구가 바로 ER 모델입니다. ER 모델을 사용해서 개체, 속성, 관계를 정리하고, 그 결과를 ER 다이어그램으로 그립니다. 이것이 개념적 데이터 모델링의 결과물이에요.</a:t>
            </a:r>
          </a:p>
          <a:p xmlns:a="http://schemas.openxmlformats.org/drawingml/2006/main">
            <a:r>
              <a:t/>
            </a:r>
          </a:p>
          <a:p xmlns:a="http://schemas.openxmlformats.org/drawingml/2006/main">
            <a:r>
              <a:t>구체적인 예를 들어볼게요. 대학교 수강신청 시스템을 만든다고 합시다. 현실 세계에는 학생, 교수, 과목, 강의실, 시간표 등이 있습니다. 개념적 모델링 단계에서 이렇게 정리합니다: "학생 개체가 있다. 학번, 이름, 학과를 가진다. 과목 개체가 있다. 과목코드, 과목명, 학점을 가진다. 학생과 과목 사이에 '수강'이라는 관계가 있고, 이 관계에서 성적이 기록된다." 이것이 개념적 모델링입니다.</a:t>
            </a:r>
          </a:p>
          <a:p xmlns:a="http://schemas.openxmlformats.org/drawingml/2006/main">
            <a:r>
              <a:t/>
            </a:r>
          </a:p>
          <a:p xmlns:a="http://schemas.openxmlformats.org/drawingml/2006/main">
            <a:r>
              <a:t>두 번째 화살표가 논리적 데이터 모델링입니다. 개념 세계의 데이터를 데이터베이스에 저장하는 구조로 변환하는 작업입니다. 아까 개념적 모델링에서 정리한 "학생, 과목, 수강"을 실제 테이블 구조로 바꾸는 거예요.</a:t>
            </a:r>
          </a:p>
          <a:p xmlns:a="http://schemas.openxmlformats.org/drawingml/2006/main">
            <a:r>
              <a:t/>
            </a:r>
          </a:p>
          <a:p xmlns:a="http://schemas.openxmlformats.org/drawingml/2006/main">
            <a:r>
              <a:t>학생 테이블: 학번(PK), 이름, 학과</a:t>
            </a:r>
          </a:p>
          <a:p xmlns:a="http://schemas.openxmlformats.org/drawingml/2006/main">
            <a:r>
              <a:t>과목 테이블: 과목코드(PK), 과목명, 학점</a:t>
            </a:r>
          </a:p>
          <a:p xmlns:a="http://schemas.openxmlformats.org/drawingml/2006/main">
            <a:r>
              <a:t>수강 테이블: 학번(FK), 과목코드(FK), 성적</a:t>
            </a:r>
          </a:p>
          <a:p xmlns:a="http://schemas.openxmlformats.org/drawingml/2006/main">
            <a:r>
              <a:t/>
            </a:r>
          </a:p>
          <a:p xmlns:a="http://schemas.openxmlformats.org/drawingml/2006/main">
            <a:r>
              <a:t>이렇게 테이블과 컬럼, 키를 정의하는 것이 논리적 모델링입니다. 이 과정에서 사용하는 도구가 관계 데이터 모델입니다.</a:t>
            </a:r>
          </a:p>
          <a:p xmlns:a="http://schemas.openxmlformats.org/drawingml/2006/main">
            <a:r>
              <a:t/>
            </a:r>
          </a:p>
          <a:p xmlns:a="http://schemas.openxmlformats.org/drawingml/2006/main">
            <a:r>
              <a:t>이 전체 과정을 추상화, 영어로 Abstraction이라고 합니다. 복잡한 현실을 단순화하여 핵심만 뽑아내는 과정이에요. 학생의 키, 몸무게, 취미 같은 건 수강신청 시스템에 필요 없으니 버리고, 학번, 이름, 학과만 남기는 것. 이것이 추상화입니다.</a:t>
            </a:r>
          </a:p>
          <a:p xmlns:a="http://schemas.openxmlformats.org/drawingml/2006/main">
            <a:r>
              <a:t/>
            </a:r>
          </a:p>
          <a:p xmlns:a="http://schemas.openxmlformats.org/drawingml/2006/main">
            <a:r>
              <a:t>시험에서 "2단계 데이터 모델링을 설명하시오"라는 문제가 나오면 이렇게 쓰면 됩니다: "1단계 개념적 데이터 모델링은 현실 세계의 중요 데이터를 추출하여 개념 세계로 옮기는 작업이며, ER 모델을 사용한다. 2단계 논리적 데이터 모델링은 개념 세계의 데이터를 데이터베이스에 저장하는 구조로 변환하는 작업이며, 관계 데이터 모델을 사용한다."</a:t>
            </a:r>
          </a:p>
          <a:p xmlns:a="http://schemas.openxmlformats.org/drawingml/2006/main">
            <a:r>
              <a:t/>
            </a:r>
          </a:p>
          <a:p xmlns:a="http://schemas.openxmlformats.org/drawingml/2006/main">
            <a:r>
              <a:t>핵심을 다시 한번 강조합니다. 개념적 모델링 → 도구: ER 모델. 논리적 모델링 → 도구: 관계 데이터 모델. 이것만 외우세요.</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이제 데이터 모델이라는 용어를 정리하겠습니다. 데이터 모델은 데이터 모델링의 도구입니다.</a:t>
            </a:r>
          </a:p>
          <a:p xmlns:a="http://schemas.openxmlformats.org/drawingml/2006/main">
            <a:r>
              <a:t/>
            </a:r>
          </a:p>
          <a:p xmlns:a="http://schemas.openxmlformats.org/drawingml/2006/main">
            <a:r>
              <a:t>슬라이드 상단에 공식처럼 써놨습니다. 데이터 모델의 구성 = 데이터 구조 + 연산 + 제약조건.</a:t>
            </a:r>
          </a:p>
          <a:p xmlns:a="http://schemas.openxmlformats.org/drawingml/2006/main">
            <a:r>
              <a:t/>
            </a:r>
          </a:p>
          <a:p xmlns:a="http://schemas.openxmlformats.org/drawingml/2006/main">
            <a:r>
              <a:t>하나씩 설명하겠습니다.</a:t>
            </a:r>
          </a:p>
          <a:p xmlns:a="http://schemas.openxmlformats.org/drawingml/2006/main">
            <a:r>
              <a:t/>
            </a:r>
          </a:p>
          <a:p xmlns:a="http://schemas.openxmlformats.org/drawingml/2006/main">
            <a:r>
              <a:t>첫째, 데이터 구조입니다. 데이터가 어떤 형태로 저장되는지를 정의합니다. 이것이 데이터 모델에서 가장 핵심적인 부분이에요. 데이터를 테이블 형태로 저장할 건지, 트리 형태로 저장할 건지, 그래프 형태로 저장할 건지를 결정합니다. 관계 데이터 모델은 테이블, 계층 데이터 모델은 트리, 네트워크 데이터 모델은 그래프입니다. 이건 섹션 3에서 자세히 다룰 거예요.</a:t>
            </a:r>
          </a:p>
          <a:p xmlns:a="http://schemas.openxmlformats.org/drawingml/2006/main">
            <a:r>
              <a:t/>
            </a:r>
          </a:p>
          <a:p xmlns:a="http://schemas.openxmlformats.org/drawingml/2006/main">
            <a:r>
              <a:t>비유하면, 도서관에서 책을 어떻게 정리할지를 정하는 것과 같습니다. 주제별로 정리할 건지, 저자별로 정리할 건지, 출판년도별로 정리할 건지. 이 "정리 방식"이 데이터 구조입니다.</a:t>
            </a:r>
          </a:p>
          <a:p xmlns:a="http://schemas.openxmlformats.org/drawingml/2006/main">
            <a:r>
              <a:t/>
            </a:r>
          </a:p>
          <a:p xmlns:a="http://schemas.openxmlformats.org/drawingml/2006/main">
            <a:r>
              <a:t>둘째, 연산입니다. 데이터를 어떻게 조작하는지를 정의합니다. 삽입(INSERT), 삭제(DELETE), 수정(UPDATE), 검색(SELECT) 같은 것들이죠. 관계 데이터 모델에서는 이 연산을 SQL이라는 언어로 수행합니다. "SELECT * FROM 학생 WHERE 학과='컴퓨터공학과'" — 이런 식으로요. SQL은 7장에서 본격적으로 배울 겁니다.</a:t>
            </a:r>
          </a:p>
          <a:p xmlns:a="http://schemas.openxmlformats.org/drawingml/2006/main">
            <a:r>
              <a:t/>
            </a:r>
          </a:p>
          <a:p xmlns:a="http://schemas.openxmlformats.org/drawingml/2006/main">
            <a:r>
              <a:t>비유하면, 도서관에서 책을 어떻게 빌리고, 반납하고, 검색하는지를 정하는 것과 같습니다.</a:t>
            </a:r>
          </a:p>
          <a:p xmlns:a="http://schemas.openxmlformats.org/drawingml/2006/main">
            <a:r>
              <a:t/>
            </a:r>
          </a:p>
          <a:p xmlns:a="http://schemas.openxmlformats.org/drawingml/2006/main">
            <a:r>
              <a:t>셋째, 제약조건입니다. 데이터가 만족해야 하는 조건과 규칙을 정의합니다. 예를 들어 "학번은 중복될 수 없다" — 이것은 유일성 제약조건입니다. "학점은 1 이상 4 이하여야 한다" — 이것은 도메인 제약조건입니다. "수강 테이블의 학번은 반드시 학생 테이블에 존재해야 한다" — 이것은 참조 무결성 제약조건입니다.</a:t>
            </a:r>
          </a:p>
          <a:p xmlns:a="http://schemas.openxmlformats.org/drawingml/2006/main">
            <a:r>
              <a:t/>
            </a:r>
          </a:p>
          <a:p xmlns:a="http://schemas.openxmlformats.org/drawingml/2006/main">
            <a:r>
              <a:t>비유하면, 도서관의 규칙입니다. "한 사람이 동시에 빌릴 수 있는 책은 최대 5권", "연체하면 대출 정지" 같은 것들이죠.</a:t>
            </a:r>
          </a:p>
          <a:p xmlns:a="http://schemas.openxmlformats.org/drawingml/2006/main">
            <a:r>
              <a:t/>
            </a:r>
          </a:p>
          <a:p xmlns:a="http://schemas.openxmlformats.org/drawingml/2006/main">
            <a:r>
              <a:t>암기법을 알려드리겠습니다. "구연제." 데이터 구조의 '구', 연산의 '연', 제약조건의 '제'. 구연제. "데이터 모델의 구성 요소는?" — "구연제!" 이렇게 외우세요. 시험에서 "데이터 모델의 세 가지 구성 요소를 쓰시오"라는 문제가 나올 수 있습니다.</a:t>
            </a:r>
          </a:p>
          <a:p xmlns:a="http://schemas.openxmlformats.org/drawingml/2006/main">
            <a:r>
              <a:t/>
            </a:r>
          </a:p>
          <a:p xmlns:a="http://schemas.openxmlformats.org/drawingml/2006/main">
            <a:r>
              <a:t>자, 여기까지가 섹션 1입니다. 정리해볼까요?</a:t>
            </a:r>
          </a:p>
          <a:p xmlns:a="http://schemas.openxmlformats.org/drawingml/2006/main">
            <a:r>
              <a:t/>
            </a:r>
          </a:p>
          <a:p xmlns:a="http://schemas.openxmlformats.org/drawingml/2006/main">
            <a:r>
              <a:t>하나, 데이터 모델링은 현실 세계의 데이터를 DB로 옮기는 과정이다.</a:t>
            </a:r>
          </a:p>
          <a:p xmlns:a="http://schemas.openxmlformats.org/drawingml/2006/main">
            <a:r>
              <a:t>둘, 2단계로 진행된다. 개념적 모델링(ER 모델) → 논리적 모델링(관계 데이터 모델).</a:t>
            </a:r>
          </a:p>
          <a:p xmlns:a="http://schemas.openxmlformats.org/drawingml/2006/main">
            <a:r>
              <a:t>셋, 데이터 모델 = 구조 + 연산 + 제약조건(구연제).</a:t>
            </a:r>
          </a:p>
          <a:p xmlns:a="http://schemas.openxmlformats.org/drawingml/2006/main">
            <a:r>
              <a:t/>
            </a:r>
          </a:p>
          <a:p xmlns:a="http://schemas.openxmlformats.org/drawingml/2006/main">
            <a:r>
              <a:t>이 세 가지만 기억하면 섹션 1은 완벽합니다. 내용이 어렵지 않죠? 하지만 이 기초가 튼튼해야 뒤의 내용이 쉽게 이해됩니다.</a:t>
            </a:r>
          </a:p>
          <a:p xmlns:a="http://schemas.openxmlformats.org/drawingml/2006/main">
            <a:r>
              <a:t/>
            </a:r>
          </a:p>
          <a:p xmlns:a="http://schemas.openxmlformats.org/drawingml/2006/main">
            <a:r>
              <a:t>잠깐 쉬었다가 섹션 2로 넘어가겠습니다. 5분 스트레칭 하세요.</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좋습니다. 두 번째 섹션, 개체-관계 모델입니다. 영어로 Entity-Relationship Model, 줄여서 ER 모델.</a:t>
            </a:r>
          </a:p>
          <a:p xmlns:a="http://schemas.openxmlformats.org/drawingml/2006/main">
            <a:r>
              <a:t/>
            </a:r>
          </a:p>
          <a:p xmlns:a="http://schemas.openxmlformats.org/drawingml/2006/main">
            <a:r>
              <a:t>여러분, 이 섹션이 오늘 수업의 진짜 본론입니다. 4장 시험 문제의 70% 이상이 이 섹션에서 나온다고 보시면 됩니다. ERD 기호를 물어보는 문제, 속성 분류를 물어보는 문제, 카디널리티를 판별하는 문제, 그리고 가장 어려운 문제가 "다음 시나리오를 보고 ERD를 그리시오" — 이 모든 것이 섹션 2에서 나옵니다.</a:t>
            </a:r>
          </a:p>
          <a:p xmlns:a="http://schemas.openxmlformats.org/drawingml/2006/main">
            <a:r>
              <a:t/>
            </a:r>
          </a:p>
          <a:p xmlns:a="http://schemas.openxmlformats.org/drawingml/2006/main">
            <a:r>
              <a:t>이 섹션에서 배울 내용을 미리 로드맵으로 보여드리면:</a:t>
            </a:r>
          </a:p>
          <a:p xmlns:a="http://schemas.openxmlformats.org/drawingml/2006/main">
            <a:r>
              <a:t/>
            </a:r>
          </a:p>
          <a:p xmlns:a="http://schemas.openxmlformats.org/drawingml/2006/main">
            <a:r>
              <a:t>먼저 ER 모델의 전체 개요를 봅니다. 그 다음 세 가지 구성 요소를 하나씩 깊이 파고듭니다. 첫째 개체, 둘째 속성(분류가 다양해서 슬라이드가 여러 장), 셋째 관계(카디널리티, 참여 특성, 종속성까지). 그리고 ERD 기호를 종합 정리하고, ERD 작성 단계를 배우고, 실제 예제를 봅니다.</a:t>
            </a:r>
          </a:p>
          <a:p xmlns:a="http://schemas.openxmlformats.org/drawingml/2006/main">
            <a:r>
              <a:t/>
            </a:r>
          </a:p>
          <a:p xmlns:a="http://schemas.openxmlformats.org/drawingml/2006/main">
            <a:r>
              <a:t>분량이 많으니까 중간에 쉬는 시간을 충분히 가지겠습니다. 집중해서 들어주세요.</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개체-관계 모델, 줄여서 ER 모델의 전체 개요입니다.</a:t>
            </a:r>
          </a:p>
          <a:p xmlns:a="http://schemas.openxmlformats.org/drawingml/2006/main">
            <a:r>
              <a:t/>
            </a:r>
          </a:p>
          <a:p xmlns:a="http://schemas.openxmlformats.org/drawingml/2006/main">
            <a:r>
              <a:t>ER 모델은 1976년에 Peter Chen이라는 MIT 교수가 제안했습니다. "The Entity-Relationship Model — Toward a Unified View of Data"라는 논문인데, 데이터베이스 역사에서 가장 중요한 논문 중 하나입니다. 거의 50년 전에 나온 모델인데 아직도 전 세계 모든 데이터베이스 교과서에 나오고, 실무에서도 매일 사용됩니다. 그만큼 잘 설계된 모델이라는 뜻이에요.</a:t>
            </a:r>
          </a:p>
          <a:p xmlns:a="http://schemas.openxmlformats.org/drawingml/2006/main">
            <a:r>
              <a:t/>
            </a:r>
          </a:p>
          <a:p xmlns:a="http://schemas.openxmlformats.org/drawingml/2006/main">
            <a:r>
              <a:t>ER 모델의 핵심 아이디어는 간단합니다. "현실 세계를 개체(Entity)와 관계(Relationship)로 파악하자." 현실에는 사람, 물건, 개념 같은 것들이 있고, 이것들 사이에 어떤 연관성이 있습니다. 이걸 체계적으로 정리하자는 거예요.</a:t>
            </a:r>
          </a:p>
          <a:p xmlns:a="http://schemas.openxmlformats.org/drawingml/2006/main">
            <a:r>
              <a:t/>
            </a:r>
          </a:p>
          <a:p xmlns:a="http://schemas.openxmlformats.org/drawingml/2006/main">
            <a:r>
              <a:t>ER 모델은 딱 세 가지 요소로 구성됩니다. 슬라이드에 세 개의 카드가 있죠.</a:t>
            </a:r>
          </a:p>
          <a:p xmlns:a="http://schemas.openxmlformats.org/drawingml/2006/main">
            <a:r>
              <a:t/>
            </a:r>
          </a:p>
          <a:p xmlns:a="http://schemas.openxmlformats.org/drawingml/2006/main">
            <a:r>
              <a:t>첫 번째, 개체(Entity). 현실 세계에서 구별되는 대상입니다. 고객, 학생, 상품, 과목 같은 것들이에요. ER 다이어그램, 줄여서 ERD에서 사각형(□)으로 표현합니다.</a:t>
            </a:r>
          </a:p>
          <a:p xmlns:a="http://schemas.openxmlformats.org/drawingml/2006/main">
            <a:r>
              <a:t/>
            </a:r>
          </a:p>
          <a:p xmlns:a="http://schemas.openxmlformats.org/drawingml/2006/main">
            <a:r>
              <a:t>두 번째, 속성(Attribute). 개체가 가지고 있는 고유한 특성입니다. 고객의 이름, 나이, 등급 같은 것들이에요. ERD에서 타원(○)으로 표현합니다.</a:t>
            </a:r>
          </a:p>
          <a:p xmlns:a="http://schemas.openxmlformats.org/drawingml/2006/main">
            <a:r>
              <a:t/>
            </a:r>
          </a:p>
          <a:p xmlns:a="http://schemas.openxmlformats.org/drawingml/2006/main">
            <a:r>
              <a:t>세 번째, 관계(Relationship). 개체와 개체 사이의 연관성입니다. "고객이 상품을 구매한다"에서 '구매'가 관계예요. ERD에서 마름모(◇)로 표현합니다.</a:t>
            </a:r>
          </a:p>
          <a:p xmlns:a="http://schemas.openxmlformats.org/drawingml/2006/main">
            <a:r>
              <a:t/>
            </a:r>
          </a:p>
          <a:p xmlns:a="http://schemas.openxmlformats.org/drawingml/2006/main">
            <a:r>
              <a:t>이 세 가지가 전부입니다. 복잡하지 않아요. 하지만 각각을 깊이 들어가면 세부 개념이 상당히 있습니다.</a:t>
            </a:r>
          </a:p>
          <a:p xmlns:a="http://schemas.openxmlformats.org/drawingml/2006/main">
            <a:r>
              <a:t/>
            </a:r>
          </a:p>
          <a:p xmlns:a="http://schemas.openxmlformats.org/drawingml/2006/main">
            <a:r>
              <a:t>암기법을 두 개 알려드릴게요. 시험장에서 바로 써먹을 수 있습니다.</a:t>
            </a:r>
          </a:p>
          <a:p xmlns:a="http://schemas.openxmlformats.org/drawingml/2006/main">
            <a:r>
              <a:t/>
            </a:r>
          </a:p>
          <a:p xmlns:a="http://schemas.openxmlformats.org/drawingml/2006/main">
            <a:r>
              <a:t>첫째, ER 모델의 3요소는 "개속관". 개체의 '개', 속성의 '속', 관계의 '관'. 개속관.</a:t>
            </a:r>
          </a:p>
          <a:p xmlns:a="http://schemas.openxmlformats.org/drawingml/2006/main">
            <a:r>
              <a:t>둘째, ERD 기호는 "사타마". 사각형의 '사', 타원의 '타', 마름모의 '마'. 사타마.</a:t>
            </a:r>
          </a:p>
          <a:p xmlns:a="http://schemas.openxmlformats.org/drawingml/2006/main">
            <a:r>
              <a:t/>
            </a:r>
          </a:p>
          <a:p xmlns:a="http://schemas.openxmlformats.org/drawingml/2006/main">
            <a:r>
              <a:t>"ER 모델의 구성 요소를 쓰고 ERD에서의 표현을 설명하시오" — 이 문제에 "개속관, 사타마"로 답할 수 있습니다. 개체=사각형, 속성=타원, 관계=마름모.</a:t>
            </a:r>
          </a:p>
          <a:p xmlns:a="http://schemas.openxmlformats.org/drawingml/2006/main">
            <a:r>
              <a:t/>
            </a:r>
          </a:p>
          <a:p xmlns:a="http://schemas.openxmlformats.org/drawingml/2006/main">
            <a:r>
              <a:t>그리고 ER 모델을 그림으로 표현한 결과물이 ER 다이어그램, 줄여서 ERD입니다. 실무에서 "ERD 그려와"라고 하면 바로 이것을 의미합니다. ERDCloud, draw.io 같은 온라인 도구로 그릴 수도 있고, 손으로 그릴 수도 있어요.</a:t>
            </a:r>
          </a:p>
          <a:p xmlns:a="http://schemas.openxmlformats.org/drawingml/2006/main">
            <a:r>
              <a:t/>
            </a:r>
          </a:p>
          <a:p xmlns:a="http://schemas.openxmlformats.org/drawingml/2006/main">
            <a:r>
              <a:t>자, 이제 세 가지 구성 요소를 하나씩 자세히 보겠습니다. 먼저 개체부터 시작합니다.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ER 모델의 첫 번째 구성 요소, 개체를 자세히 배우겠습니다.</a:t>
            </a:r>
          </a:p>
          <a:p xmlns:a="http://schemas.openxmlformats.org/drawingml/2006/main">
            <a:r>
              <a:t/>
            </a:r>
          </a:p>
          <a:p xmlns:a="http://schemas.openxmlformats.org/drawingml/2006/main">
            <a:r>
              <a:t>개체(Entity)란 무엇인가? 정의를 읽어보면: "현실 세계에서 조직을 운영하는 데 필요한 사람이나 사물과 같이 구별되는 모든 것." 좀 추상적이죠? 더 쉽게 말하면, "저장할 가치가 있는 중요 데이터를 가지고 있는 사람, 사물, 개념, 사건 등"입니다.</a:t>
            </a:r>
          </a:p>
          <a:p xmlns:a="http://schemas.openxmlformats.org/drawingml/2006/main">
            <a:r>
              <a:t/>
            </a:r>
          </a:p>
          <a:p xmlns:a="http://schemas.openxmlformats.org/drawingml/2006/main">
            <a:r>
              <a:t>핵심 키워드는 "구별되는"과 "저장할 가치가 있는"입니다. 세상에 존재하는 모든 것이 개체가 되는 건 아니에요. 데이터베이스에 저장할 필요가 있는 것만 개체가 됩니다.</a:t>
            </a:r>
          </a:p>
          <a:p xmlns:a="http://schemas.openxmlformats.org/drawingml/2006/main">
            <a:r>
              <a:t/>
            </a:r>
          </a:p>
          <a:p xmlns:a="http://schemas.openxmlformats.org/drawingml/2006/main">
            <a:r>
              <a:t>슬라이드에 네 가지 범주로 예시를 정리해놨습니다. 하나씩 봅시다.</a:t>
            </a:r>
          </a:p>
          <a:p xmlns:a="http://schemas.openxmlformats.org/drawingml/2006/main">
            <a:r>
              <a:t/>
            </a:r>
          </a:p>
          <a:p xmlns:a="http://schemas.openxmlformats.org/drawingml/2006/main">
            <a:r>
              <a:t>첫째, 사람. 고객, 학생, 교수, 직원, 환자, 의사 같은 것들입니다. 가장 직관적인 개체 유형이에요.</a:t>
            </a:r>
          </a:p>
          <a:p xmlns:a="http://schemas.openxmlformats.org/drawingml/2006/main">
            <a:r>
              <a:t/>
            </a:r>
          </a:p>
          <a:p xmlns:a="http://schemas.openxmlformats.org/drawingml/2006/main">
            <a:r>
              <a:t>둘째, 사물. 상품, 책, 자동차, 건물, 장비 같은 물리적 객체입니다.</a:t>
            </a:r>
          </a:p>
          <a:p xmlns:a="http://schemas.openxmlformats.org/drawingml/2006/main">
            <a:r>
              <a:t/>
            </a:r>
          </a:p>
          <a:p xmlns:a="http://schemas.openxmlformats.org/drawingml/2006/main">
            <a:r>
              <a:t>셋째, 개념. 이게 좀 헷갈릴 수 있는데, 물리적으로 존재하지 않는 추상적인 것도 개체가 될 수 있습니다. 과목, 부서, 프로젝트, 계좌 같은 것들이에요. "과목"이라는 게 실제로 손에 잡히진 않지만, 수강신청 시스템에서는 과목이 핵심 개체입니다.</a:t>
            </a:r>
          </a:p>
          <a:p xmlns:a="http://schemas.openxmlformats.org/drawingml/2006/main">
            <a:r>
              <a:t/>
            </a:r>
          </a:p>
          <a:p xmlns:a="http://schemas.openxmlformats.org/drawingml/2006/main">
            <a:r>
              <a:t>넷째, 사건. 주문, 수강신청, 예약, 결제, 배송 같은 행위나 이벤트입니다. "주문"이라는 행위 자체가 개체가 되는 거예요. 주문번호, 주문일, 배송상태 같은 속성을 가지니까요.</a:t>
            </a:r>
          </a:p>
          <a:p xmlns:a="http://schemas.openxmlformats.org/drawingml/2006/main">
            <a:r>
              <a:t/>
            </a:r>
          </a:p>
          <a:p xmlns:a="http://schemas.openxmlformats.org/drawingml/2006/main">
            <a:r>
              <a:t>여러분의 일상에서 예를 들어볼까요? 이 대학교에서 개체를 찾아보면: 학생, 교수, 직원(사람), 강의실, 건물(사물), 과목, 학과, 학기(개념), 수강신청, 성적평가(사건). 이렇게 됩니다.</a:t>
            </a:r>
          </a:p>
          <a:p xmlns:a="http://schemas.openxmlformats.org/drawingml/2006/main">
            <a:r>
              <a:t/>
            </a:r>
          </a:p>
          <a:p xmlns:a="http://schemas.openxmlformats.org/drawingml/2006/main">
            <a:r>
              <a:t>하단에 아주 중요한 내용이 있습니다. 개체 타입과 개체 인스턴스의 구분입니다. 이것은 3장에서 배운 스키마와 인스턴스의 개념이 그대로 적용됩니다.</a:t>
            </a:r>
          </a:p>
          <a:p xmlns:a="http://schemas.openxmlformats.org/drawingml/2006/main">
            <a:r>
              <a:t/>
            </a:r>
          </a:p>
          <a:p xmlns:a="http://schemas.openxmlformats.org/drawingml/2006/main">
            <a:r>
              <a:t>개체 타입은 구조의 정의, 즉 스키마입니다. "고객은 고객아이디, 이름, 나이, 등급, 직업, 적립금으로 구성된다" — 이것이 고객 개체 타입입니다. 프로그래밍으로 비유하면 클래스(class)에 해당해요.</a:t>
            </a:r>
          </a:p>
          <a:p xmlns:a="http://schemas.openxmlformats.org/drawingml/2006/main">
            <a:r>
              <a:t/>
            </a:r>
          </a:p>
          <a:p xmlns:a="http://schemas.openxmlformats.org/drawingml/2006/main">
            <a:r>
              <a:t>개체 인스턴스는 실제로 저장된 값입니다. "apple, 홍길동, 20, gold, 학생, 1000" — 이것이 하나의 고객 개체 인스턴스입니다. "banana, 김영희, 25, vip, 회사원, 2500" — 이것이 또 다른 인스턴스죠. 프로그래밍으로 비유하면 객체(object)에 해당합니다.</a:t>
            </a:r>
          </a:p>
          <a:p xmlns:a="http://schemas.openxmlformats.org/drawingml/2006/main">
            <a:r>
              <a:t/>
            </a:r>
          </a:p>
          <a:p xmlns:a="http://schemas.openxmlformats.org/drawingml/2006/main">
            <a:r>
              <a:t>개체 타입은 한번 정의하면 자주 바뀌지 않지만, 개체 인스턴스는 계속 추가, 수정, 삭제됩니다. 새 고객이 가입하면 인스턴스가 추가되고, 고객이 탈퇴하면 삭제되죠.</a:t>
            </a:r>
          </a:p>
          <a:p xmlns:a="http://schemas.openxmlformats.org/drawingml/2006/main">
            <a:r>
              <a:t/>
            </a:r>
          </a:p>
          <a:p xmlns:a="http://schemas.openxmlformats.org/drawingml/2006/main">
            <a:r>
              <a:t>ERD에서 개체는 사각형으로 표현합니다. 사각형 안에 개체의 이름을 적습니다. 아주 간단하죠.</a:t>
            </a:r>
          </a:p>
          <a:p xmlns:a="http://schemas.openxmlformats.org/drawingml/2006/main">
            <a:r>
              <a:t/>
            </a:r>
          </a:p>
          <a:p xmlns:a="http://schemas.openxmlformats.org/drawingml/2006/main">
            <a:r>
              <a:t>개체를 식별하는 실전 팁을 알려드리겠습니다. 나중에 ERD를 직접 그릴 때 유용합니다.</a:t>
            </a:r>
          </a:p>
          <a:p xmlns:a="http://schemas.openxmlformats.org/drawingml/2006/main">
            <a:r>
              <a:t/>
            </a:r>
          </a:p>
          <a:p xmlns:a="http://schemas.openxmlformats.org/drawingml/2006/main">
            <a:r>
              <a:t>요구사항 문서에서 명사를 찾으세요. "고객이 상품을 주문한다"에서 '고객', '상품', '주문' — 이 명사들이 개체 후보입니다.</a:t>
            </a:r>
          </a:p>
          <a:p xmlns:a="http://schemas.openxmlformats.org/drawingml/2006/main">
            <a:r>
              <a:t/>
            </a:r>
          </a:p>
          <a:p xmlns:a="http://schemas.openxmlformats.org/drawingml/2006/main">
            <a:r>
              <a:t>하지만 모든 명사가 개체가 되는 것은 아닙니다. 개체가 되려면 세 가지 조건을 만족해야 합니다:</a:t>
            </a:r>
          </a:p>
          <a:p xmlns:a="http://schemas.openxmlformats.org/drawingml/2006/main">
            <a:r>
              <a:t>1. 독립적으로 존재할 수 있어야 합니다.</a:t>
            </a:r>
          </a:p>
          <a:p xmlns:a="http://schemas.openxmlformats.org/drawingml/2006/main">
            <a:r>
              <a:t>2. 여러 속성(특성)을 가져야 합니다.</a:t>
            </a:r>
          </a:p>
          <a:p xmlns:a="http://schemas.openxmlformats.org/drawingml/2006/main">
            <a:r>
              <a:t>3. 여러 인스턴스가 존재해야 합니다.</a:t>
            </a:r>
          </a:p>
          <a:p xmlns:a="http://schemas.openxmlformats.org/drawingml/2006/main">
            <a:r>
              <a:t/>
            </a:r>
          </a:p>
          <a:p xmlns:a="http://schemas.openxmlformats.org/drawingml/2006/main">
            <a:r>
              <a:t>예를 들어 "색상"은 명사이지만 개체가 아닙니다. 색상은 상품의 한 특성, 즉 속성이에요. "등급"도 마찬가지. 고객의 한 특성이니 속성이지 개체가 아닙니다. "성별"은 어떨까요? 남, 여 두 가지 값뿐이고 속성이 따로 없으니 개체보다는 속성으로 처리하는 게 맞습니다.</a:t>
            </a:r>
          </a:p>
          <a:p xmlns:a="http://schemas.openxmlformats.org/drawingml/2006/main">
            <a:r>
              <a:t/>
            </a:r>
          </a:p>
          <a:p xmlns:a="http://schemas.openxmlformats.org/drawingml/2006/main">
            <a:r>
              <a:t>반면 "부서"는 명사이면서 개체입니다. 부서번호, 부서명, 위치 같은 여러 속성을 가지고, 개발부, 기획부, 영업부 같은 여러 인스턴스가 있으니까요.</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ER 모델의 두 번째 구성 요소, 속성입니다. 속성은 분류가 다양해서 슬라이드를 여러 장에 걸쳐 설명합니다.</a:t>
            </a:r>
          </a:p>
          <a:p xmlns:a="http://schemas.openxmlformats.org/drawingml/2006/main">
            <a:r>
              <a:t/>
            </a:r>
          </a:p>
          <a:p xmlns:a="http://schemas.openxmlformats.org/drawingml/2006/main">
            <a:r>
              <a:t>속성(Attribute)이란, 개체가 가지고 있는 고유한 특성으로, 의미 있는 데이터의 가장 작은 논리적 단위입니다. "가장 작은 논리적 단위"라는 말은, 더 이상 분해하면 의미가 없는 최소 단위라는 뜻이에요. 예를 들어 '이름'은 속성입니다. '이름'을 더 쪼개면 '이', '름' — 의미가 없죠. 그래서 이름은 최소 논리적 단위인 속성입니다. (물론 성과 이름으로 분리하는 경우도 있는데, 이건 복합 속성에서 다룹니다.)</a:t>
            </a:r>
          </a:p>
          <a:p xmlns:a="http://schemas.openxmlformats.org/drawingml/2006/main">
            <a:r>
              <a:t/>
            </a:r>
          </a:p>
          <a:p xmlns:a="http://schemas.openxmlformats.org/drawingml/2006/main">
            <a:r>
              <a:t>ERD에서 속성은 타원(○)으로 표현하고, 해당 개체에 선으로 연결합니다.</a:t>
            </a:r>
          </a:p>
          <a:p xmlns:a="http://schemas.openxmlformats.org/drawingml/2006/main">
            <a:r>
              <a:t/>
            </a:r>
          </a:p>
          <a:p xmlns:a="http://schemas.openxmlformats.org/drawingml/2006/main">
            <a:r>
              <a:t>이제 이 표가 정말 중요합니다. 속성의 분류표인데, 다섯 가지 기준으로 일곱 가지 종류가 있습니다. 하나씩 보겠습니다.</a:t>
            </a:r>
          </a:p>
          <a:p xmlns:a="http://schemas.openxmlformats.org/drawingml/2006/main">
            <a:r>
              <a:t/>
            </a:r>
          </a:p>
          <a:p xmlns:a="http://schemas.openxmlformats.org/drawingml/2006/main">
            <a:r>
              <a:t>첫째 기준: 값의 개수. 단일 값 속성은 값을 하나만 가집니다. 이름, 나이처럼요. 다중 값 속성은 여러 값을 가질 수 있습니다. 연락처가 대표적이에요. 한 사람이 폰 번호, 집 전화, 회사 전화를 가질 수 있으니까요. ERD에서 이중 타원(◎)으로 표현합니다.</a:t>
            </a:r>
          </a:p>
          <a:p xmlns:a="http://schemas.openxmlformats.org/drawingml/2006/main">
            <a:r>
              <a:t/>
            </a:r>
          </a:p>
          <a:p xmlns:a="http://schemas.openxmlformats.org/drawingml/2006/main">
            <a:r>
              <a:t>둘째 기준: 의미 분해 가능성. 단순 속성은 더 분해할 수 없습니다. 적립금, 가격, 학번 같은 거요. 복합 속성은 하위 속성으로 분해할 수 있습니다. 주소를 시, 구, 동으로, 생년월일을 년, 월, 일로 분해할 수 있죠. ERD에서 가지형으로 표현합니다.</a:t>
            </a:r>
          </a:p>
          <a:p xmlns:a="http://schemas.openxmlformats.org/drawingml/2006/main">
            <a:r>
              <a:t/>
            </a:r>
          </a:p>
          <a:p xmlns:a="http://schemas.openxmlformats.org/drawingml/2006/main">
            <a:r>
              <a:t>셋째 기준: 유도 여부. 유도 속성은 다른 속성 값에서 계산으로 얻을 수 있어 별도 저장하지 않습니다. 판매가격 = 정가 × (100-할인율)/100. ERD에서 점선 타원으로 표현합니다.</a:t>
            </a:r>
          </a:p>
          <a:p xmlns:a="http://schemas.openxmlformats.org/drawingml/2006/main">
            <a:r>
              <a:t/>
            </a:r>
          </a:p>
          <a:p xmlns:a="http://schemas.openxmlformats.org/drawingml/2006/main">
            <a:r>
              <a:t>넷째 기준: 식별 기능. key 속성은 개체 인스턴스를 유일하게 식별합니다. 고객아이디, 학번, 주민등록번호. ERD에서 밑줄 타원으로 표현합니다.</a:t>
            </a:r>
          </a:p>
          <a:p xmlns:a="http://schemas.openxmlformats.org/drawingml/2006/main">
            <a:r>
              <a:t/>
            </a:r>
          </a:p>
          <a:p xmlns:a="http://schemas.openxmlformats.org/drawingml/2006/main">
            <a:r>
              <a:t>다섯째 기준: null 허용. null 속성은 아직 결정되지 않은 값을 허용합니다. null은 공백도 아니고 0도 아닙니다.</a:t>
            </a:r>
          </a:p>
          <a:p xmlns:a="http://schemas.openxmlformats.org/drawingml/2006/main">
            <a:r>
              <a:t/>
            </a:r>
          </a:p>
          <a:p xmlns:a="http://schemas.openxmlformats.org/drawingml/2006/main">
            <a:r>
              <a:t>이 표를 통째로 외우세요. 시험에서 "속성의 분류를 설명하고 각각의 ERD 표현을 쓰시오"라는 문제가 나올 수 있습니다. 이제 각 분류를 더 자세히 살펴보겠습니다.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첫 번째 분류, 단일 값 속성과 다중 값 속성입니다. 슬라이드 하단에 교재의 그림이 있으니 함께 참고하세요.</a:t>
            </a:r>
          </a:p>
          <a:p xmlns:a="http://schemas.openxmlformats.org/drawingml/2006/main">
            <a:r>
              <a:t/>
            </a:r>
          </a:p>
          <a:p xmlns:a="http://schemas.openxmlformats.org/drawingml/2006/main">
            <a:r>
              <a:t>왼쪽, 단일 값 속성(Single-Valued Attribute). 값을 하나만 가질 수 있는 속성입니다. 예를 들어볼게요.</a:t>
            </a:r>
          </a:p>
          <a:p xmlns:a="http://schemas.openxmlformats.org/drawingml/2006/main">
            <a:r>
              <a:t/>
            </a:r>
          </a:p>
          <a:p xmlns:a="http://schemas.openxmlformats.org/drawingml/2006/main">
            <a:r>
              <a:t>고객의 이름 — 홍길동. 하나죠.</a:t>
            </a:r>
          </a:p>
          <a:p xmlns:a="http://schemas.openxmlformats.org/drawingml/2006/main">
            <a:r>
              <a:t>고객의 나이 — 20살. 하나.</a:t>
            </a:r>
          </a:p>
          <a:p xmlns:a="http://schemas.openxmlformats.org/drawingml/2006/main">
            <a:r>
              <a:t>학생의 학번 — 20210001. 하나.</a:t>
            </a:r>
          </a:p>
          <a:p xmlns:a="http://schemas.openxmlformats.org/drawingml/2006/main">
            <a:r>
              <a:t>책의 ISBN — 978-89-12345-67-8. 하나.</a:t>
            </a:r>
          </a:p>
          <a:p xmlns:a="http://schemas.openxmlformats.org/drawingml/2006/main">
            <a:r>
              <a:t/>
            </a:r>
          </a:p>
          <a:p xmlns:a="http://schemas.openxmlformats.org/drawingml/2006/main">
            <a:r>
              <a:t>이렇게 하나의 값만 가지는 속성이 단일 값 속성입니다. 대부분의 속성이 단일 값입니다. ERD에서 일반 타원으로 표현하면 됩니다.</a:t>
            </a:r>
          </a:p>
          <a:p xmlns:a="http://schemas.openxmlformats.org/drawingml/2006/main">
            <a:r>
              <a:t/>
            </a:r>
          </a:p>
          <a:p xmlns:a="http://schemas.openxmlformats.org/drawingml/2006/main">
            <a:r>
              <a:t>오른쪽, 다중 값 속성(Multi-Valued Attribute). 값을 여러 개 가질 수 있는 속성입니다.</a:t>
            </a:r>
          </a:p>
          <a:p xmlns:a="http://schemas.openxmlformats.org/drawingml/2006/main">
            <a:r>
              <a:t/>
            </a:r>
          </a:p>
          <a:p xmlns:a="http://schemas.openxmlformats.org/drawingml/2006/main">
            <a:r>
              <a:t>고객의 연락처 — 010-1234-5678, 02-123-4567, 031-456-7890. 여러 개.</a:t>
            </a:r>
          </a:p>
          <a:p xmlns:a="http://schemas.openxmlformats.org/drawingml/2006/main">
            <a:r>
              <a:t>고객의 이메일 — hong@gmail.com, hong@naver.com. 여러 개.</a:t>
            </a:r>
          </a:p>
          <a:p xmlns:a="http://schemas.openxmlformats.org/drawingml/2006/main">
            <a:r>
              <a:t>학생의 취미 — 축구, 게임, 독서. 여러 개.</a:t>
            </a:r>
          </a:p>
          <a:p xmlns:a="http://schemas.openxmlformats.org/drawingml/2006/main">
            <a:r>
              <a:t>저자의 저서 — 데이터베이스 개론, SQL 실습, ... 여러 개.</a:t>
            </a:r>
          </a:p>
          <a:p xmlns:a="http://schemas.openxmlformats.org/drawingml/2006/main">
            <a:r>
              <a:t/>
            </a:r>
          </a:p>
          <a:p xmlns:a="http://schemas.openxmlformats.org/drawingml/2006/main">
            <a:r>
              <a:t>ERD에서 다중 값 속성은 이중 타원으로 표현합니다. 타원 안에 타원이 하나 더 있는 형태예요. 교재 그림에서 이중 타원의 모양을 확인하세요.</a:t>
            </a:r>
          </a:p>
          <a:p xmlns:a="http://schemas.openxmlformats.org/drawingml/2006/main">
            <a:r>
              <a:t/>
            </a:r>
          </a:p>
          <a:p xmlns:a="http://schemas.openxmlformats.org/drawingml/2006/main">
            <a:r>
              <a:t>하단에 실무 팁이 있습니다. 다중 값 속성은 관계형 DB에서 별도 테이블로 분리하는 것이 일반적입니다. 왜 그럴까요?</a:t>
            </a:r>
          </a:p>
          <a:p xmlns:a="http://schemas.openxmlformats.org/drawingml/2006/main">
            <a:r>
              <a:t/>
            </a:r>
          </a:p>
          <a:p xmlns:a="http://schemas.openxmlformats.org/drawingml/2006/main">
            <a:r>
              <a:t>한 셀에 "010-1234-5678, 02-123-4567"처럼 여러 값을 콤마로 구분해서 넣으면 어떤 문제가 생길까요? 첫째, 특정 번호로 검색하기가 매우 어렵습니다. "010-1234로 시작하는 연락처를 가진 고객을 찾아라"라고 하면 LIKE 검색을 써야 하는데, 성능이 떨어지고 정확도도 낮아요. 둘째, 연락처를 하나만 수정하거나 삭제하려면 문자열을 파싱해야 합니다. 셋째, 연락처가 최대 몇 개까지 될지 알 수 없어요.</a:t>
            </a:r>
          </a:p>
          <a:p xmlns:a="http://schemas.openxmlformats.org/drawingml/2006/main">
            <a:r>
              <a:t/>
            </a:r>
          </a:p>
          <a:p xmlns:a="http://schemas.openxmlformats.org/drawingml/2006/main">
            <a:r>
              <a:t>그래서 연락처를 별도 테이블로 분리합니다. 고객(고객ID, 이름, ...) + 연락처(고객ID FK, 연락처). 이렇게 하면 깔끔하게 관리할 수 있습니다. 이것을 제1정규형(1NF) 정규화라고 하는데, 9장에서 자세히 배울 겁니다.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이번에는 단순 속성과 복합 속성, 유도 속성, null 속성, key 속성을 한 슬라이드에서 보겠습니다. 슬라이드에 교재 그림도 있으니 참고하세요.</a:t>
            </a:r>
          </a:p>
          <a:p xmlns:a="http://schemas.openxmlformats.org/drawingml/2006/main">
            <a:r>
              <a:t/>
            </a:r>
          </a:p>
          <a:p xmlns:a="http://schemas.openxmlformats.org/drawingml/2006/main">
            <a:r>
              <a:t>왼쪽 상단, 단순 속성과 복합 속성입니다.</a:t>
            </a:r>
          </a:p>
          <a:p xmlns:a="http://schemas.openxmlformats.org/drawingml/2006/main">
            <a:r>
              <a:t/>
            </a:r>
          </a:p>
          <a:p xmlns:a="http://schemas.openxmlformats.org/drawingml/2006/main">
            <a:r>
              <a:t>단순 속성(Simple Attribute)은 의미를 더 이상 분해할 수 없는 속성입니다. 적립금을 분해하면? 1000원의 '1000'과 '원'? 의미 없습니다. 가격, 학번, ISBN도 마찬가지. 이런 것들이 단순 속성입니다.</a:t>
            </a:r>
          </a:p>
          <a:p xmlns:a="http://schemas.openxmlformats.org/drawingml/2006/main">
            <a:r>
              <a:t/>
            </a:r>
          </a:p>
          <a:p xmlns:a="http://schemas.openxmlformats.org/drawingml/2006/main">
            <a:r>
              <a:t>복합 속성(Composite Attribute)은 의미를 더 작은 단위로 분해할 수 있는 속성입니다.</a:t>
            </a:r>
          </a:p>
          <a:p xmlns:a="http://schemas.openxmlformats.org/drawingml/2006/main">
            <a:r>
              <a:t/>
            </a:r>
          </a:p>
          <a:p xmlns:a="http://schemas.openxmlformats.org/drawingml/2006/main">
            <a:r>
              <a:t>주소를 생각해보세요. "대전광역시 유성구 죽동로 96번길"이라는 주소는 시(대전광역시), 구(유성구), 도로(죽동로 96번길)으로 분해할 수 있습니다. 만약 "유성구에 사는 고객 목록"을 검색하고 싶다면, 주소가 통째로 저장되어 있으면 검색이 어렵지만, 시/구/동으로 분리되어 있으면 쉽겠죠.</a:t>
            </a:r>
          </a:p>
          <a:p xmlns:a="http://schemas.openxmlformats.org/drawingml/2006/main">
            <a:r>
              <a:t/>
            </a:r>
          </a:p>
          <a:p xmlns:a="http://schemas.openxmlformats.org/drawingml/2006/main">
            <a:r>
              <a:t>생년월일도 복합 속성입니다. 1999년 3월 15일 → 년(1999), 월(3), 일(15). "3월에 생일인 고객에게 쿠폰을 보내고 싶다"면 월 필드만 검색하면 됩니다.</a:t>
            </a:r>
          </a:p>
          <a:p xmlns:a="http://schemas.openxmlformats.org/drawingml/2006/main">
            <a:r>
              <a:t/>
            </a:r>
          </a:p>
          <a:p xmlns:a="http://schemas.openxmlformats.org/drawingml/2006/main">
            <a:r>
              <a:t>ERD에서 복합 속성은 상위 속성 타원에서 하위 속성 타원으로 가지가 뻗어나가는 형태로 표현합니다. 교재 그림을 보시면 생년월일 타원에서 년, 월, 일 타원이 나오고 있죠.</a:t>
            </a:r>
          </a:p>
          <a:p xmlns:a="http://schemas.openxmlformats.org/drawingml/2006/main">
            <a:r>
              <a:t/>
            </a:r>
          </a:p>
          <a:p xmlns:a="http://schemas.openxmlformats.org/drawingml/2006/main">
            <a:r>
              <a:t>오른쪽 상단, 유도 속성(Derived Attribute)입니다.</a:t>
            </a:r>
          </a:p>
          <a:p xmlns:a="http://schemas.openxmlformats.org/drawingml/2006/main">
            <a:r>
              <a:t/>
            </a:r>
          </a:p>
          <a:p xmlns:a="http://schemas.openxmlformats.org/drawingml/2006/main">
            <a:r>
              <a:t>유도 속성은 기존 속성 값에서 계산으로 유도되어, 별도로 저장하지 않는 속성입니다. ERD에서 점선 타원으로 표현합니다.</a:t>
            </a:r>
          </a:p>
          <a:p xmlns:a="http://schemas.openxmlformats.org/drawingml/2006/main">
            <a:r>
              <a:t/>
            </a:r>
          </a:p>
          <a:p xmlns:a="http://schemas.openxmlformats.org/drawingml/2006/main">
            <a:r>
              <a:t>예를 들어 온라인 서점에서: 정가가 20,000원이고 할인율이 10%면, 판매가격 = 20,000 × (100-10)/100 = 18,000원. 이 18,000원은 정가와 할인율에서 계산할 수 있으니 별도로 저장할 필요가 없어요.</a:t>
            </a:r>
          </a:p>
          <a:p xmlns:a="http://schemas.openxmlformats.org/drawingml/2006/main">
            <a:r>
              <a:t/>
            </a:r>
          </a:p>
          <a:p xmlns:a="http://schemas.openxmlformats.org/drawingml/2006/main">
            <a:r>
              <a:t>또 다른 예: 고객의 나이. 생년월일이 저장되어 있으면 나이는 "현재날짜 - 생년월일"로 계산할 수 있습니다. 매일 나이가 바뀌는데 그걸 매일 업데이트하기보다는 계산하는 게 효율적이죠.</a:t>
            </a:r>
          </a:p>
          <a:p xmlns:a="http://schemas.openxmlformats.org/drawingml/2006/main">
            <a:r>
              <a:t/>
            </a:r>
          </a:p>
          <a:p xmlns:a="http://schemas.openxmlformats.org/drawingml/2006/main">
            <a:r>
              <a:t>유도 속성을 왜 저장하지 않는가? 두 가지 이유입니다. 첫째, 저장 공간 절약. 둘째, 데이터 일관성 유지. 정가를 25,000원으로 바꿨는데 판매가격을 안 바꾸면? 데이터 불일치가 발생합니다. 계산으로 유도하면 이런 문제가 없어요.</a:t>
            </a:r>
          </a:p>
          <a:p xmlns:a="http://schemas.openxmlformats.org/drawingml/2006/main">
            <a:r>
              <a:t/>
            </a:r>
          </a:p>
          <a:p xmlns:a="http://schemas.openxmlformats.org/drawingml/2006/main">
            <a:r>
              <a:t>하단에 null 속성과 key 속성이 있습니다.</a:t>
            </a:r>
          </a:p>
          <a:p xmlns:a="http://schemas.openxmlformats.org/drawingml/2006/main">
            <a:r>
              <a:t/>
            </a:r>
          </a:p>
          <a:p xmlns:a="http://schemas.openxmlformats.org/drawingml/2006/main">
            <a:r>
              <a:t>null 속성은 아주 중요한 개념입니다. null은 "아직 결정되지 않았거나 모르는 값"입니다. 공백(space) 문자와는 완전히 다르고, 숫자 0과도 다릅니다. 이것을 반드시 구분하세요.</a:t>
            </a:r>
          </a:p>
          <a:p xmlns:a="http://schemas.openxmlformats.org/drawingml/2006/main">
            <a:r>
              <a:t/>
            </a:r>
          </a:p>
          <a:p xmlns:a="http://schemas.openxmlformats.org/drawingml/2006/main">
            <a:r>
              <a:t>예를 들어 고객의 등급이 null이라는 것은 "등급이 아직 정해지지 않았다"는 뜻입니다. 신규 가입한 고객의 등급은 아직 없잖아요. 구매 이력이 쌓여야 등급이 정해지니까. 이럴 때 null이 됩니다. "등급이 gold가 아니다", "등급이 0이다"와는 다른 의미예요. null은 나중에 SQL에서도 아주 중요하게 다루어지니 지금 확실히 이해하세요.</a:t>
            </a:r>
          </a:p>
          <a:p xmlns:a="http://schemas.openxmlformats.org/drawingml/2006/main">
            <a:r>
              <a:t/>
            </a:r>
          </a:p>
          <a:p xmlns:a="http://schemas.openxmlformats.org/drawingml/2006/main">
            <a:r>
              <a:t>key 속성은 모든 개체 인스턴스를 유일하게 식별하는 속성입니다. 고객아이디 'apple', 'banana', 'cherry' — 이 값들은 모두 다릅니다. 같은 고객아이디를 가진 고객은 존재하지 않아요. 이렇게 유일하게 식별할 수 있는 속성이 key 속성입니다.</a:t>
            </a:r>
          </a:p>
          <a:p xmlns:a="http://schemas.openxmlformats.org/drawingml/2006/main">
            <a:r>
              <a:t/>
            </a:r>
          </a:p>
          <a:p xmlns:a="http://schemas.openxmlformats.org/drawingml/2006/main">
            <a:r>
              <a:t>ERD에서 key 속성은 밑줄로 표현합니다. 타원 안의 속성 이름에 밑줄을 긋는 거예요. 3장에서 배운 기본키(Primary Key) 개념과 연결됩니다.</a:t>
            </a:r>
          </a:p>
          <a:p xmlns:a="http://schemas.openxmlformats.org/drawingml/2006/main">
            <a:r>
              <a:t/>
            </a:r>
          </a:p>
          <a:p xmlns:a="http://schemas.openxmlformats.org/drawingml/2006/main">
            <a:r>
              <a:t>참고로, 하나의 속성으로 식별이 안 될 때는 두 개 이상의 속성을 조합해서 키를 만들 수도 있습니다. 이것을 복합 키(Composite Key)라고 합니다. 나중에 n:m 관계를 테이블로 변환할 때 자주 등장합니다.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ER 모델의 세 번째 구성 요소, 관계를 배우겠습니다. 관계 파트가 내용이 많아서 여러 슬라이드에 걸쳐 설명합니다.</a:t>
            </a:r>
          </a:p>
          <a:p xmlns:a="http://schemas.openxmlformats.org/drawingml/2006/main">
            <a:r>
              <a:t/>
            </a:r>
          </a:p>
          <a:p xmlns:a="http://schemas.openxmlformats.org/drawingml/2006/main">
            <a:r>
              <a:t>관계(Relationship)란, 개체와 개체가 맺고 있는 의미 있는 연관성입니다. 개체 집합들 사이의 대응 관계, 즉 매핑(mapping)을 의미합니다. ERD에서 관계는 마름모(◇)로 표현합니다.</a:t>
            </a:r>
          </a:p>
          <a:p xmlns:a="http://schemas.openxmlformats.org/drawingml/2006/main">
            <a:r>
              <a:t/>
            </a:r>
          </a:p>
          <a:p xmlns:a="http://schemas.openxmlformats.org/drawingml/2006/main">
            <a:r>
              <a:t>슬라이드에 예시가 나와 있습니다. 왼쪽에 "고객" 개체(사각형), 오른쪽에 "책" 개체(사각형), 가운데에 "구매"라는 관계(마름모)가 있습니다.</a:t>
            </a:r>
          </a:p>
          <a:p xmlns:a="http://schemas.openxmlformats.org/drawingml/2006/main">
            <a:r>
              <a:t/>
            </a:r>
          </a:p>
          <a:p xmlns:a="http://schemas.openxmlformats.org/drawingml/2006/main">
            <a:r>
              <a:t>이걸 문장으로 읽으면 "고객은 책을 구매한다"입니다. 여기서 고객과 책이 개체이고, 구매가 관계예요.</a:t>
            </a:r>
          </a:p>
          <a:p xmlns:a="http://schemas.openxmlformats.org/drawingml/2006/main">
            <a:r>
              <a:t/>
            </a:r>
          </a:p>
          <a:p xmlns:a="http://schemas.openxmlformats.org/drawingml/2006/main">
            <a:r>
              <a:t>관계를 식별하는 팁을 알려드리겠습니다. 아주 실용적이에요.</a:t>
            </a:r>
          </a:p>
          <a:p xmlns:a="http://schemas.openxmlformats.org/drawingml/2006/main">
            <a:r>
              <a:t/>
            </a:r>
          </a:p>
          <a:p xmlns:a="http://schemas.openxmlformats.org/drawingml/2006/main">
            <a:r>
              <a:t>요구사항에서 동사를 찾으세요. "고객이 상품을 주문한다" — '주문한다'가 관계. "학생이 과목을 수강한다" — '수강한다'가 관계. "교수가 과목을 담당한다" — '담당한다'가 관계. "사원이 부서에 소속된다" — '소속된다'가 관계.</a:t>
            </a:r>
          </a:p>
          <a:p xmlns:a="http://schemas.openxmlformats.org/drawingml/2006/main">
            <a:r>
              <a:t/>
            </a:r>
          </a:p>
          <a:p xmlns:a="http://schemas.openxmlformats.org/drawingml/2006/main">
            <a:r>
              <a:t>즉, 명사는 개체 후보, 동사는 관계 후보입니다. 이 원칙만 기억하면 ERD 작성의 첫 단계를 쉽게 시작할 수 있습니다.</a:t>
            </a:r>
          </a:p>
          <a:p xmlns:a="http://schemas.openxmlformats.org/drawingml/2006/main">
            <a:r>
              <a:t/>
            </a:r>
          </a:p>
          <a:p xmlns:a="http://schemas.openxmlformats.org/drawingml/2006/main">
            <a:r>
              <a:t>여기서 한 가지 더 알아야 할 것이 있습니다. 관계에도 속성이 있을 수 있습니다. "고객이 책을 구매한다"에서 구매일, 구매수량은 어디에 속할까요? 고객의 속성도 아니고, 책의 속성도 아니에요. "구매"라는 행위 자체의 속성입니다. 구매일은 특정 고객이 특정 책을 구매한 그 시점에만 의미가 있거든요. 이런 것이 관계의 속성입니다. ERD에서 관계 마름모에 타원을 연결하여 표현합니다.</a:t>
            </a:r>
          </a:p>
          <a:p xmlns:a="http://schemas.openxmlformats.org/drawingml/2006/main">
            <a:r>
              <a:t/>
            </a:r>
          </a:p>
          <a:p xmlns:a="http://schemas.openxmlformats.org/drawingml/2006/main">
            <a:r>
              <a:t>또 다른 예: 학생이 과목을 수강할 때 성적이 기록됩니다. 성적은 학생의 속성도 아니고 과목의 속성도 아닙니다. 특정 학생이 특정 과목을 수강한 결과이니까, "수강" 관계의 속성이에요.</a:t>
            </a:r>
          </a:p>
          <a:p xmlns:a="http://schemas.openxmlformats.org/drawingml/2006/main">
            <a:r>
              <a:t/>
            </a:r>
          </a:p>
          <a:p xmlns:a="http://schemas.openxmlformats.org/drawingml/2006/main">
            <a:r>
              <a:t>이 개념이 나중에 n:m 관계를 테이블로 변환할 때 아주 중요하게 쓰입니다. 연결 테이블에 들어가는 것이 바로 이 관계의 속성이거든요.</a:t>
            </a:r>
          </a:p>
          <a:p xmlns:a="http://schemas.openxmlformats.org/drawingml/2006/main">
            <a:r>
              <a:t/>
            </a:r>
          </a:p>
          <a:p xmlns:a="http://schemas.openxmlformats.org/drawingml/2006/main">
            <a:r>
              <a:t>이제 관계의 세부 특성들을 하나씩 배우겠습니다. 먼저 가장 중요한 매핑 카디널리티부터.</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관계의 유형은 매핑 카디널리티(Mapping Cardinality)에 의해 분류됩니다. 이 부분이 관계에서 가장 핵심입니다. 시험에 거의 반드시 나옵니다.</a:t>
            </a:r>
          </a:p>
          <a:p xmlns:a="http://schemas.openxmlformats.org/drawingml/2006/main">
            <a:r>
              <a:t/>
            </a:r>
          </a:p>
          <a:p xmlns:a="http://schemas.openxmlformats.org/drawingml/2006/main">
            <a:r>
              <a:t>매핑 카디널리티란 뭐냐? 정의를 보면 "관계를 맺는 두 개체 집합에서, 각 개체 인스턴스가 연관성을 맺고 있는 상대 개체 집합의 인스턴스 개수"입니다. 좀 길고 어렵게 느껴지죠? 쉽게 말하면 이겁니다: "A 하나가 B 몇 개와 연결되는가?"</a:t>
            </a:r>
          </a:p>
          <a:p xmlns:a="http://schemas.openxmlformats.org/drawingml/2006/main">
            <a:r>
              <a:t/>
            </a:r>
          </a:p>
          <a:p xmlns:a="http://schemas.openxmlformats.org/drawingml/2006/main">
            <a:r>
              <a:t>세 가지 유형이 있습니다. 하나씩 자세히 볼 건데, 먼저 전체를 훑어보겠습니다.</a:t>
            </a:r>
          </a:p>
          <a:p xmlns:a="http://schemas.openxmlformats.org/drawingml/2006/main">
            <a:r>
              <a:t/>
            </a:r>
          </a:p>
          <a:p xmlns:a="http://schemas.openxmlformats.org/drawingml/2006/main">
            <a:r>
              <a:t>첫째, 일대일(1:1) 관계. 양쪽 모두 하나씩만 대응됩니다. A 하나 → B 하나. B 하나 → A 하나. 예: 남편과 아내의 결혼 관계. 현실에서 가장 드문 관계입니다.</a:t>
            </a:r>
          </a:p>
          <a:p xmlns:a="http://schemas.openxmlformats.org/drawingml/2006/main">
            <a:r>
              <a:t/>
            </a:r>
          </a:p>
          <a:p xmlns:a="http://schemas.openxmlformats.org/drawingml/2006/main">
            <a:r>
              <a:t>둘째, 일대다(1:n) 관계. 한 쪽의 하나가 상대의 여러 개와 대응됩니다. A 하나 → B 여러 개. B 하나 → A 하나. 예: 부서와 사원의 소속 관계. 현실에서 가장 흔한 관계입니다. 실무에서 만나는 관계의 대부분이 이겁니다.</a:t>
            </a:r>
          </a:p>
          <a:p xmlns:a="http://schemas.openxmlformats.org/drawingml/2006/main">
            <a:r>
              <a:t/>
            </a:r>
          </a:p>
          <a:p xmlns:a="http://schemas.openxmlformats.org/drawingml/2006/main">
            <a:r>
              <a:t>셋째, 다대다(n:m) 관계. 양쪽 모두 여러 개와 대응됩니다. A 하나 → B 여러 개. B 하나 → A 여러 개. 예: 학생과 과목의 수강 관계. 꽤 흔한 관계이지만, 테이블로 변환할 때 가장 복잡합니다.</a:t>
            </a:r>
          </a:p>
          <a:p xmlns:a="http://schemas.openxmlformats.org/drawingml/2006/main">
            <a:r>
              <a:t/>
            </a:r>
          </a:p>
          <a:p xmlns:a="http://schemas.openxmlformats.org/drawingml/2006/main">
            <a:r>
              <a:t>이 세 가지를 판별하는 아주 실용적인 방법이 있습니다. 질문법이에요. 두 가지 질문만 하면 됩니다.</a:t>
            </a:r>
          </a:p>
          <a:p xmlns:a="http://schemas.openxmlformats.org/drawingml/2006/main">
            <a:r>
              <a:t/>
            </a:r>
          </a:p>
          <a:p xmlns:a="http://schemas.openxmlformats.org/drawingml/2006/main">
            <a:r>
              <a:t>질문 1: "A 하나가 B 몇 개와 연결되나?" → 답이 '하나'면 1, '여러 개'면 n</a:t>
            </a:r>
          </a:p>
          <a:p xmlns:a="http://schemas.openxmlformats.org/drawingml/2006/main">
            <a:r>
              <a:t>질문 2: "B 하나가 A 몇 개와 연결되나?" → 답이 '하나'면 1, '여러 개'면 m</a:t>
            </a:r>
          </a:p>
          <a:p xmlns:a="http://schemas.openxmlformats.org/drawingml/2006/main">
            <a:r>
              <a:t/>
            </a:r>
          </a:p>
          <a:p xmlns:a="http://schemas.openxmlformats.org/drawingml/2006/main">
            <a:r>
              <a:t>두 답을 합치면 카디널리티가 나옵니다.</a:t>
            </a:r>
          </a:p>
          <a:p xmlns:a="http://schemas.openxmlformats.org/drawingml/2006/main">
            <a:r>
              <a:t/>
            </a:r>
          </a:p>
          <a:p xmlns:a="http://schemas.openxmlformats.org/drawingml/2006/main">
            <a:r>
              <a:t>연습해봅시다!</a:t>
            </a:r>
          </a:p>
          <a:p xmlns:a="http://schemas.openxmlformats.org/drawingml/2006/main">
            <a:r>
              <a:t/>
            </a:r>
          </a:p>
          <a:p xmlns:a="http://schemas.openxmlformats.org/drawingml/2006/main">
            <a:r>
              <a:t>예제 1: 학생과 과목의 수강 관계.</a:t>
            </a:r>
          </a:p>
          <a:p xmlns:a="http://schemas.openxmlformats.org/drawingml/2006/main">
            <a:r>
              <a:t>Q1: "학생 한 명이 과목 몇 개를 수강하나?" → 여러 개 (n)</a:t>
            </a:r>
          </a:p>
          <a:p xmlns:a="http://schemas.openxmlformats.org/drawingml/2006/main">
            <a:r>
              <a:t>Q2: "과목 하나를 학생 몇 명이 수강하나?" → 여러 명 (m)</a:t>
            </a:r>
          </a:p>
          <a:p xmlns:a="http://schemas.openxmlformats.org/drawingml/2006/main">
            <a:r>
              <a:t>결과: n:m. 다대다 관계!</a:t>
            </a:r>
          </a:p>
          <a:p xmlns:a="http://schemas.openxmlformats.org/drawingml/2006/main">
            <a:r>
              <a:t/>
            </a:r>
          </a:p>
          <a:p xmlns:a="http://schemas.openxmlformats.org/drawingml/2006/main">
            <a:r>
              <a:t>예제 2: 부서와 사원의 소속 관계.</a:t>
            </a:r>
          </a:p>
          <a:p xmlns:a="http://schemas.openxmlformats.org/drawingml/2006/main">
            <a:r>
              <a:t>Q1: "부서 하나에 사원이 몇 명 소속되나?" → 여러 명 (n)</a:t>
            </a:r>
          </a:p>
          <a:p xmlns:a="http://schemas.openxmlformats.org/drawingml/2006/main">
            <a:r>
              <a:t>Q2: "사원 한 명이 부서 몇 개에 소속되나?" → 하나 (1)</a:t>
            </a:r>
          </a:p>
          <a:p xmlns:a="http://schemas.openxmlformats.org/drawingml/2006/main">
            <a:r>
              <a:t>결과: 1:n. 일대다 관계!</a:t>
            </a:r>
          </a:p>
          <a:p xmlns:a="http://schemas.openxmlformats.org/drawingml/2006/main">
            <a:r>
              <a:t/>
            </a:r>
          </a:p>
          <a:p xmlns:a="http://schemas.openxmlformats.org/drawingml/2006/main">
            <a:r>
              <a:t>예제 3: 교수와 과목의 담당 관계.</a:t>
            </a:r>
          </a:p>
          <a:p xmlns:a="http://schemas.openxmlformats.org/drawingml/2006/main">
            <a:r>
              <a:t>Q1: "교수 한 명이 과목 몇 개를 담당하나?" → 여러 개 (n)</a:t>
            </a:r>
          </a:p>
          <a:p xmlns:a="http://schemas.openxmlformats.org/drawingml/2006/main">
            <a:r>
              <a:t>Q2: "과목 하나를 교수 몇 명이 담당하나?" → 한 명 (1) (한 과목은 한 교수만 담당한다고 가정)</a:t>
            </a:r>
          </a:p>
          <a:p xmlns:a="http://schemas.openxmlformats.org/drawingml/2006/main">
            <a:r>
              <a:t>결과: 1:n. 일대다 관계!</a:t>
            </a:r>
          </a:p>
          <a:p xmlns:a="http://schemas.openxmlformats.org/drawingml/2006/main">
            <a:r>
              <a:t/>
            </a:r>
          </a:p>
          <a:p xmlns:a="http://schemas.openxmlformats.org/drawingml/2006/main">
            <a:r>
              <a:t>예제 4: 남편과 아내의 결혼 관계.</a:t>
            </a:r>
          </a:p>
          <a:p xmlns:a="http://schemas.openxmlformats.org/drawingml/2006/main">
            <a:r>
              <a:t>Q1: "남편 한 명이 아내 몇 명과 결혼하나?" → 한 명 (1)</a:t>
            </a:r>
          </a:p>
          <a:p xmlns:a="http://schemas.openxmlformats.org/drawingml/2006/main">
            <a:r>
              <a:t>Q2: "아내 한 명이 남편 몇 명과 결혼하나?" → 한 명 (1)</a:t>
            </a:r>
          </a:p>
          <a:p xmlns:a="http://schemas.openxmlformats.org/drawingml/2006/main">
            <a:r>
              <a:t>결과: 1:1. 일대일 관계!</a:t>
            </a:r>
          </a:p>
          <a:p xmlns:a="http://schemas.openxmlformats.org/drawingml/2006/main">
            <a:r>
              <a:t/>
            </a:r>
          </a:p>
          <a:p xmlns:a="http://schemas.openxmlformats.org/drawingml/2006/main">
            <a:r>
              <a:t>이 질문법을 꼭 연습하세요. 시험에서 시나리오를 주고 카디널리티를 판별하라는 문제가 자주 나옵니다. 이제 각 관계 유형을 슬라이드 하나씩 더 자세히 보겠습니다.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일대일(1:1) 관계를 예시로 자세히 보겠습니다. 슬라이드에 교재의 1:1 관계 그림이 나와 있습니다.</a:t>
            </a:r>
          </a:p>
          <a:p xmlns:a="http://schemas.openxmlformats.org/drawingml/2006/main">
            <a:r>
              <a:t/>
            </a:r>
          </a:p>
          <a:p xmlns:a="http://schemas.openxmlformats.org/drawingml/2006/main">
            <a:r>
              <a:t>남편 개체와 아내 개체가 있고, 가운데 '결혼'이라는 관계가 있습니다.</a:t>
            </a:r>
          </a:p>
          <a:p xmlns:a="http://schemas.openxmlformats.org/drawingml/2006/main">
            <a:r>
              <a:t/>
            </a:r>
          </a:p>
          <a:p xmlns:a="http://schemas.openxmlformats.org/drawingml/2006/main">
            <a:r>
              <a:t>남편 인스턴스가 세 개 있어요. 남편1, 남편2, 남편3. 아내 인스턴스도 세 개. 아내1, 아내2, 아내3. 그림을 보면 남편1은 아내1과만 연결되어 있고, 남편2는 아내2와만, 남편3은 아내3과만 연결되어 있습니다. 교차하는 선이 없어요.</a:t>
            </a:r>
          </a:p>
          <a:p xmlns:a="http://schemas.openxmlformats.org/drawingml/2006/main">
            <a:r>
              <a:t/>
            </a:r>
          </a:p>
          <a:p xmlns:a="http://schemas.openxmlformats.org/drawingml/2006/main">
            <a:r>
              <a:t>이것이 1:1 관계입니다. 각 인스턴스가 상대 인스턴스 딱 하나와만 대응됩니다. 남편 한 명은 아내 한 명과만 결혼하고, 아내 한 명도 남편 한 명과만 결혼합니다.</a:t>
            </a:r>
          </a:p>
          <a:p xmlns:a="http://schemas.openxmlformats.org/drawingml/2006/main">
            <a:r>
              <a:t/>
            </a:r>
          </a:p>
          <a:p xmlns:a="http://schemas.openxmlformats.org/drawingml/2006/main">
            <a:r>
              <a:t>1:1 관계의 다른 예를 생각해볼까요?</a:t>
            </a:r>
          </a:p>
          <a:p xmlns:a="http://schemas.openxmlformats.org/drawingml/2006/main">
            <a:r>
              <a:t/>
            </a:r>
          </a:p>
          <a:p xmlns:a="http://schemas.openxmlformats.org/drawingml/2006/main">
            <a:r>
              <a:t>국가와 수도: 한 국가에는 수도가 하나. 한 수도는 한 국가에만 속함. 대한민국-서울, 일본-도쿄, 미국-워싱턴DC.</a:t>
            </a:r>
          </a:p>
          <a:p xmlns:a="http://schemas.openxmlformats.org/drawingml/2006/main">
            <a:r>
              <a:t/>
            </a:r>
          </a:p>
          <a:p xmlns:a="http://schemas.openxmlformats.org/drawingml/2006/main">
            <a:r>
              <a:t>사원과 사원증: 한 사원은 사원증 하나를 가짐. 한 사원증은 한 사원의 것.</a:t>
            </a:r>
          </a:p>
          <a:p xmlns:a="http://schemas.openxmlformats.org/drawingml/2006/main">
            <a:r>
              <a:t/>
            </a:r>
          </a:p>
          <a:p xmlns:a="http://schemas.openxmlformats.org/drawingml/2006/main">
            <a:r>
              <a:t>주민등록번호와 사람: 한 사람은 주민번호 하나. 한 주민번호는 한 사람의 것. (쌍둥이도 주민번호는 다릅니다.)</a:t>
            </a:r>
          </a:p>
          <a:p xmlns:a="http://schemas.openxmlformats.org/drawingml/2006/main">
            <a:r>
              <a:t/>
            </a:r>
          </a:p>
          <a:p xmlns:a="http://schemas.openxmlformats.org/drawingml/2006/main">
            <a:r>
              <a:t>1:1 관계는 현실에서 가장 드문 관계 유형입니다. 왜냐하면 대부분의 경우 "하나가 여러 개와 연결되는" 상황이 더 일반적이기 때문이에요. 1:1이라고 생각했는데 자세히 보면 1:n인 경우가 많습니다. 예를 들어 "사원과 컴퓨터"를 1:1로 생각할 수 있지만, 실제로는 한 사원이 데스크톱과 노트북 두 대를 사용할 수도 있으니 1:n이 될 수 있어요.</a:t>
            </a:r>
          </a:p>
          <a:p xmlns:a="http://schemas.openxmlformats.org/drawingml/2006/main">
            <a:r>
              <a:t/>
            </a:r>
          </a:p>
          <a:p xmlns:a="http://schemas.openxmlformats.org/drawingml/2006/main">
            <a:r>
              <a:t>나중에 1:1 관계를 테이블로 변환할 때는 어느 한쪽 테이블에 상대방의 기본키(PK)를 외래키(FK)로 추가하면 됩니다. 남편 테이블에 아내ID를 FK로 넣든, 아내 테이블에 남편ID를 FK로 넣든 둘 다 가능해요. 어느 쪽에 넣을지는 참여 특성(필수적/선택적)에 따라 결정합니다. 전체 참여 쪽에 FK를 넣는 것이 일반적입니다.</a:t>
            </a:r>
          </a:p>
          <a:p xmlns:a="http://schemas.openxmlformats.org/drawingml/2006/main">
            <a:r>
              <a:t/>
            </a:r>
          </a:p>
          <a:p xmlns:a="http://schemas.openxmlformats.org/drawingml/2006/main">
            <a:r>
              <a:t>잠깐 쉬어가겠습니다. 지금까지 개체, 속성, 관계의 기초, 그리고 1:1 관계까지 배웠습니다. 10분 쉬고 돌아와서 1:n, n:m, 참여 특성 등을 이어가겠습니다.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일대다(1:n) 관계입니다. 이것이 가장 일반적이고 가장 중요한 관계 유형입니다. 실무에서 만나는 관계의 대부분이 1:n입니다. 슬라이드에 교재의 1:n 관계 그림이 있습니다.</a:t>
            </a:r>
          </a:p>
          <a:p xmlns:a="http://schemas.openxmlformats.org/drawingml/2006/main">
            <a:r>
              <a:t/>
            </a:r>
          </a:p>
          <a:p xmlns:a="http://schemas.openxmlformats.org/drawingml/2006/main">
            <a:r>
              <a:t>부서 개체와 사원 개체 사이에 '소속'이라는 관계가 있습니다.</a:t>
            </a:r>
          </a:p>
          <a:p xmlns:a="http://schemas.openxmlformats.org/drawingml/2006/main">
            <a:r>
              <a:t/>
            </a:r>
          </a:p>
          <a:p xmlns:a="http://schemas.openxmlformats.org/drawingml/2006/main">
            <a:r>
              <a:t>그림을 보시면 부서 인스턴스가 두 개 — 개발부, 기획부. 사원 인스턴스가 다섯 개 — 사원A, B, C, D, E. 개발부에서 사원A, B, C 세 명에게 선이 가고 있고, 기획부에서 사원D, E 두 명에게 선이 가고 있습니다.</a:t>
            </a:r>
          </a:p>
          <a:p xmlns:a="http://schemas.openxmlformats.org/drawingml/2006/main">
            <a:r>
              <a:t/>
            </a:r>
          </a:p>
          <a:p xmlns:a="http://schemas.openxmlformats.org/drawingml/2006/main">
            <a:r>
              <a:t>즉, 부서 하나에 사원이 여러 명 소속됩니다. 하지만 사원 한 명은 부서 하나에만 소속됩니다. 사원A가 개발부와 기획부에 동시에 소속되는 경우는 없어요. 이것이 1:n 관계의 핵심입니다.</a:t>
            </a:r>
          </a:p>
          <a:p xmlns:a="http://schemas.openxmlformats.org/drawingml/2006/main">
            <a:r>
              <a:t/>
            </a:r>
          </a:p>
          <a:p xmlns:a="http://schemas.openxmlformats.org/drawingml/2006/main">
            <a:r>
              <a:t>1:n 관계의 다른 예를 많이 들어볼게요. 시험에서 "1:n 관계의 예를 세 가지 이상 쓰시오"라는 문제가 나올 수 있으니까요.</a:t>
            </a:r>
          </a:p>
          <a:p xmlns:a="http://schemas.openxmlformats.org/drawingml/2006/main">
            <a:r>
              <a:t/>
            </a:r>
          </a:p>
          <a:p xmlns:a="http://schemas.openxmlformats.org/drawingml/2006/main">
            <a:r>
              <a:t>교수와 과목: 한 교수가 여러 과목을 담당하지만, 한 과목은 한 교수만 담당한다. (단, 팀티칭이 아닌 경우)</a:t>
            </a:r>
          </a:p>
          <a:p xmlns:a="http://schemas.openxmlformats.org/drawingml/2006/main">
            <a:r>
              <a:t>고객과 주문: 한 고객이 여러 건의 주문을 하지만, 한 주문은 한 고객의 것이다.</a:t>
            </a:r>
          </a:p>
          <a:p xmlns:a="http://schemas.openxmlformats.org/drawingml/2006/main">
            <a:r>
              <a:t>출판사와 책: 한 출판사가 여러 책을 출판하지만, 한 책은 한 출판사에서만 나온다.</a:t>
            </a:r>
          </a:p>
          <a:p xmlns:a="http://schemas.openxmlformats.org/drawingml/2006/main">
            <a:r>
              <a:t>학과와 학생: 한 학과에 여러 학생이 있지만, 한 학생은 한 학과에만 속한다. (복수전공은 별도 관계)</a:t>
            </a:r>
          </a:p>
          <a:p xmlns:a="http://schemas.openxmlformats.org/drawingml/2006/main">
            <a:r>
              <a:t>어머니와 자녀: 한 어머니가 여러 자녀를 가질 수 있지만, 한 자녀의 어머니는 한 명이다.</a:t>
            </a:r>
          </a:p>
          <a:p xmlns:a="http://schemas.openxmlformats.org/drawingml/2006/main">
            <a:r>
              <a:t>카테고리와 상품: 한 카테고리에 여러 상품이 있지만, 한 상품은 한 카테고리에만 속한다.</a:t>
            </a:r>
          </a:p>
          <a:p xmlns:a="http://schemas.openxmlformats.org/drawingml/2006/main">
            <a:r>
              <a:t/>
            </a:r>
          </a:p>
          <a:p xmlns:a="http://schemas.openxmlformats.org/drawingml/2006/main">
            <a:r>
              <a:t>보시면 패턴이 보이죠? "하나에 여러 개가 속한다"는 구조입니다. 현실에서 이런 구조가 매우 많기 때문에 1:n이 가장 흔한 관계 유형인 겁니다.</a:t>
            </a:r>
          </a:p>
          <a:p xmlns:a="http://schemas.openxmlformats.org/drawingml/2006/main">
            <a:r>
              <a:t/>
            </a:r>
          </a:p>
          <a:p xmlns:a="http://schemas.openxmlformats.org/drawingml/2006/main">
            <a:r>
              <a:t>나중에 1:n 관계를 테이블로 변환할 때는 n쪽 테이블에 1쪽의 기본키를 외래키로 추가합니다. 사원 테이블에 부서번호를 FK로 넣는 거예요.</a:t>
            </a:r>
          </a:p>
          <a:p xmlns:a="http://schemas.openxmlformats.org/drawingml/2006/main">
            <a:r>
              <a:t/>
            </a:r>
          </a:p>
          <a:p xmlns:a="http://schemas.openxmlformats.org/drawingml/2006/main">
            <a:r>
              <a:t>사원(사원번호 PK, 이름, 급여, 부서번호 FK)</a:t>
            </a:r>
          </a:p>
          <a:p xmlns:a="http://schemas.openxmlformats.org/drawingml/2006/main">
            <a:r>
              <a:t/>
            </a:r>
          </a:p>
          <a:p xmlns:a="http://schemas.openxmlformats.org/drawingml/2006/main">
            <a:r>
              <a:t>사원A의 부서번호가 D01(개발부), 사원B도 D01, 사원D는 D02(기획부). 이런 식으로요. 이렇게 하면 "개발부에 속한 사원을 찾아라"라는 쿼리를 SELECT * FROM 사원 WHERE 부서번호='D01'으로 쉽게 실행할 수 있습니다.</a:t>
            </a:r>
          </a:p>
          <a:p xmlns:a="http://schemas.openxmlformats.org/drawingml/2006/main">
            <a:r>
              <a:t/>
            </a:r>
          </a:p>
          <a:p xmlns:a="http://schemas.openxmlformats.org/drawingml/2006/main">
            <a:r>
              <a:t>왜 1쪽(부서)에 FK를 넣지 않느냐? 부서 테이블에 사원번호를 넣으면 한 부서에 사원이 여러 명이니까 사원번호를 여러 개 넣어야 합니다. 이러면 다중 값이 되어서 1NF를 위반하게 돼요. 그래서 n쪽에 넣는 겁니다.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다대다(n:m) 관계입니다. 슬라이드에 교재의 n:m 관계 그림이 있습니다.</a:t>
            </a:r>
          </a:p>
          <a:p xmlns:a="http://schemas.openxmlformats.org/drawingml/2006/main">
            <a:r>
              <a:t/>
            </a:r>
          </a:p>
          <a:p xmlns:a="http://schemas.openxmlformats.org/drawingml/2006/main">
            <a:r>
              <a:t>고객 개체와 책 개체 사이에 '구매'라는 관계가 있습니다.</a:t>
            </a:r>
          </a:p>
          <a:p xmlns:a="http://schemas.openxmlformats.org/drawingml/2006/main">
            <a:r>
              <a:t/>
            </a:r>
          </a:p>
          <a:p xmlns:a="http://schemas.openxmlformats.org/drawingml/2006/main">
            <a:r>
              <a:t>그림을 보시면 고객 인스턴스와 책 인스턴스 사이에 선이 복잡하게 교차합니다. 고객1이 책1, 책2와 연결되어 있고, 고객2도 책1, 책3과 연결되어 있어요. 한 고객이 여러 책을 구매하고, 한 책도 여러 고객에게 구매됩니다.</a:t>
            </a:r>
          </a:p>
          <a:p xmlns:a="http://schemas.openxmlformats.org/drawingml/2006/main">
            <a:r>
              <a:t/>
            </a:r>
          </a:p>
          <a:p xmlns:a="http://schemas.openxmlformats.org/drawingml/2006/main">
            <a:r>
              <a:t>n:m 관계의 다른 예를 들어볼게요.</a:t>
            </a:r>
          </a:p>
          <a:p xmlns:a="http://schemas.openxmlformats.org/drawingml/2006/main">
            <a:r>
              <a:t/>
            </a:r>
          </a:p>
          <a:p xmlns:a="http://schemas.openxmlformats.org/drawingml/2006/main">
            <a:r>
              <a:t>학생과 과목(수강): 한 학생이 이번 학기에 데이터베이스, 알고리즘, 운영체제 세 과목을 수강합니다. 반대로 데이터베이스 과목을 홍길동, 김영희, 이철수 세 학생이 수강합니다. n:m.</a:t>
            </a:r>
          </a:p>
          <a:p xmlns:a="http://schemas.openxmlformats.org/drawingml/2006/main">
            <a:r>
              <a:t/>
            </a:r>
          </a:p>
          <a:p xmlns:a="http://schemas.openxmlformats.org/drawingml/2006/main">
            <a:r>
              <a:t>배우와 영화(출연): 배우 송강호가 여러 영화에 출연하고, 영화 '기생충'에도 여러 배우가 출연합니다. n:m.</a:t>
            </a:r>
          </a:p>
          <a:p xmlns:a="http://schemas.openxmlformats.org/drawingml/2006/main">
            <a:r>
              <a:t/>
            </a:r>
          </a:p>
          <a:p xmlns:a="http://schemas.openxmlformats.org/drawingml/2006/main">
            <a:r>
              <a:t>저자와 책(집필): 한 저자가 여러 책을 쓸 수 있고, 한 책도 여러 저자가 공동 집필할 수 있습니다. n:m.</a:t>
            </a:r>
          </a:p>
          <a:p xmlns:a="http://schemas.openxmlformats.org/drawingml/2006/main">
            <a:r>
              <a:t/>
            </a:r>
          </a:p>
          <a:p xmlns:a="http://schemas.openxmlformats.org/drawingml/2006/main">
            <a:r>
              <a:t>태그와 게시물(태깅): 한 게시물에 여러 태그가 붙을 수 있고, 한 태그도 여러 게시물에 사용됩니다. n:m.</a:t>
            </a:r>
          </a:p>
          <a:p xmlns:a="http://schemas.openxmlformats.org/drawingml/2006/main">
            <a:r>
              <a:t/>
            </a:r>
          </a:p>
          <a:p xmlns:a="http://schemas.openxmlformats.org/drawingml/2006/main">
            <a:r>
              <a:t>n:m 관계에서 가장 중요한 점: 테이블 변환 시 별도의 연결 테이블(Junction Table)이 필요합니다. 왜요?</a:t>
            </a:r>
          </a:p>
          <a:p xmlns:a="http://schemas.openxmlformats.org/drawingml/2006/main">
            <a:r>
              <a:t/>
            </a:r>
          </a:p>
          <a:p xmlns:a="http://schemas.openxmlformats.org/drawingml/2006/main">
            <a:r>
              <a:t>학생 테이블에 과목코드를 넣으면 어떻게 될까요? 홍길동이 세 과목을 수강하면 과목코드를 세 개 넣어야 하는데, 한 셀에 못 넣으니 행을 세 개로 늘려야 합니다. 그러면 홍길동의 이름, 학과 같은 다른 정보가 세 번 중복됩니다. 반대로 과목 테이블에 학번을 넣어도 같은 문제가 생기고요.</a:t>
            </a:r>
          </a:p>
          <a:p xmlns:a="http://schemas.openxmlformats.org/drawingml/2006/main">
            <a:r>
              <a:t/>
            </a:r>
          </a:p>
          <a:p xmlns:a="http://schemas.openxmlformats.org/drawingml/2006/main">
            <a:r>
              <a:t>그래서 별도의 수강 테이블을 만듭니다:</a:t>
            </a:r>
          </a:p>
          <a:p xmlns:a="http://schemas.openxmlformats.org/drawingml/2006/main">
            <a:r>
              <a:t>수강(학번 FK, 과목코드 FK, 성적)</a:t>
            </a:r>
          </a:p>
          <a:p xmlns:a="http://schemas.openxmlformats.org/drawingml/2006/main">
            <a:r>
              <a:t>(학번 + 과목코드)가 복합 기본키가 됩니다.</a:t>
            </a:r>
          </a:p>
          <a:p xmlns:a="http://schemas.openxmlformats.org/drawingml/2006/main">
            <a:r>
              <a:t/>
            </a:r>
          </a:p>
          <a:p xmlns:a="http://schemas.openxmlformats.org/drawingml/2006/main">
            <a:r>
              <a:t>데이터 예시:</a:t>
            </a:r>
          </a:p>
          <a:p xmlns:a="http://schemas.openxmlformats.org/drawingml/2006/main">
            <a:r>
              <a:t>S001, CS101, A+</a:t>
            </a:r>
          </a:p>
          <a:p xmlns:a="http://schemas.openxmlformats.org/drawingml/2006/main">
            <a:r>
              <a:t>S001, CS102, B</a:t>
            </a:r>
          </a:p>
          <a:p xmlns:a="http://schemas.openxmlformats.org/drawingml/2006/main">
            <a:r>
              <a:t>S002, CS101, A</a:t>
            </a:r>
          </a:p>
          <a:p xmlns:a="http://schemas.openxmlformats.org/drawingml/2006/main">
            <a:r>
              <a:t>S003, CS102, B+</a:t>
            </a:r>
          </a:p>
          <a:p xmlns:a="http://schemas.openxmlformats.org/drawingml/2006/main">
            <a:r>
              <a:t/>
            </a:r>
          </a:p>
          <a:p xmlns:a="http://schemas.openxmlformats.org/drawingml/2006/main">
            <a:r>
              <a:t>이렇게 하면 중복 없이 깔끔하게 관리할 수 있습니다. 그리고 성적 같은 관계의 속성도 이 테이블에 넣으면 됩니다.</a:t>
            </a:r>
          </a:p>
          <a:p xmlns:a="http://schemas.openxmlformats.org/drawingml/2006/main">
            <a:r>
              <a:t/>
            </a:r>
          </a:p>
          <a:p xmlns:a="http://schemas.openxmlformats.org/drawingml/2006/main">
            <a:r>
              <a:t>자, 여기서 쉬어가겠습니다. 지금까지 개체, 속성(5가지 분류), 관계(1:1, 1:n, n:m)를 배웠습니다. 10분 휴식 후에 참여 특성, 약한 개체, ERD 기호 정리, ERD 작성 단계를 다루겠습니다.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자, 이제 관계의 참여 특성을 배울 건데요. 이 부분이 처음에 좀 헷갈립니다. 특히 "이중선"이라는 표현이 나중에 배울 "약한 개체의 이중 사각형", "이중 마름모"와 뒤섞여서 혼란을 일으키거든요. 그래서 아주 천천히, 확실하게 설명하겠습니다.</a:t>
            </a:r>
          </a:p>
          <a:p xmlns:a="http://schemas.openxmlformats.org/drawingml/2006/main">
            <a:r>
              <a:t/>
            </a:r>
          </a:p>
          <a:p xmlns:a="http://schemas.openxmlformats.org/drawingml/2006/main">
            <a:r>
              <a:t>슬라이드를 보세요. 교재 그림도 함께 봅니다.</a:t>
            </a:r>
          </a:p>
          <a:p xmlns:a="http://schemas.openxmlformats.org/drawingml/2006/main">
            <a:r>
              <a:t/>
            </a:r>
          </a:p>
          <a:p xmlns:a="http://schemas.openxmlformats.org/drawingml/2006/main">
            <a:r>
              <a:t>먼저 질문 하나. 여러분이 쇼핑몰을 운영한다고 합시다. 고객과 상품 사이에 "구매"라는 관계가 있어요. 그러면 질문: "모든 고객이 반드시 상품을 하나 이상 구매해야 하나요?" 생각해보세요.</a:t>
            </a:r>
          </a:p>
          <a:p xmlns:a="http://schemas.openxmlformats.org/drawingml/2006/main">
            <a:r>
              <a:t/>
            </a:r>
          </a:p>
          <a:p xmlns:a="http://schemas.openxmlformats.org/drawingml/2006/main">
            <a:r>
              <a:t>회원가입만 하고 한 번도 구매를 안 한 고객이 있을 수 있잖아요? 그러면 "아니오, 모든 고객이 반드시 구매할 필요는 없다"가 답입니다.</a:t>
            </a:r>
          </a:p>
          <a:p xmlns:a="http://schemas.openxmlformats.org/drawingml/2006/main">
            <a:r>
              <a:t/>
            </a:r>
          </a:p>
          <a:p xmlns:a="http://schemas.openxmlformats.org/drawingml/2006/main">
            <a:r>
              <a:t>다른 질문: "모든 상품이 반드시 한 번 이상 구매되어야 하나요?" 진열만 되어 있고 아직 아무도 안 산 상품이 있을 수 있죠? 역시 "아니오".</a:t>
            </a:r>
          </a:p>
          <a:p xmlns:a="http://schemas.openxmlformats.org/drawingml/2006/main">
            <a:r>
              <a:t/>
            </a:r>
          </a:p>
          <a:p xmlns:a="http://schemas.openxmlformats.org/drawingml/2006/main">
            <a:r>
              <a:t>이런 질문에 대한 답이 바로 참여 특성입니다. 정리하면:</a:t>
            </a:r>
          </a:p>
          <a:p xmlns:a="http://schemas.openxmlformats.org/drawingml/2006/main">
            <a:r>
              <a:t/>
            </a:r>
          </a:p>
          <a:p xmlns:a="http://schemas.openxmlformats.org/drawingml/2006/main">
            <a:r>
              <a:t>참여 특성이란, "어떤 개체의 모든 인스턴스가 관계에 반드시 참여해야 하는가, 아니면 일부만 참여해도 되는가?"를 나타내는 것입니다.</a:t>
            </a:r>
          </a:p>
          <a:p xmlns:a="http://schemas.openxmlformats.org/drawingml/2006/main">
            <a:r>
              <a:t/>
            </a:r>
          </a:p>
          <a:p xmlns:a="http://schemas.openxmlformats.org/drawingml/2006/main">
            <a:r>
              <a:t>두 가지 종류가 있습니다.</a:t>
            </a:r>
          </a:p>
          <a:p xmlns:a="http://schemas.openxmlformats.org/drawingml/2006/main">
            <a:r>
              <a:t/>
            </a:r>
          </a:p>
          <a:p xmlns:a="http://schemas.openxmlformats.org/drawingml/2006/main">
            <a:r>
              <a:t>━━━ 필수적 참여 (전체 참여, Total Participation) ━━━</a:t>
            </a:r>
          </a:p>
          <a:p xmlns:a="http://schemas.openxmlformats.org/drawingml/2006/main">
            <a:r>
              <a:t/>
            </a:r>
          </a:p>
          <a:p xmlns:a="http://schemas.openxmlformats.org/drawingml/2006/main">
            <a:r>
              <a:t>"모든 인스턴스가 반드시 관계에 참여해야 한다."</a:t>
            </a:r>
          </a:p>
          <a:p xmlns:a="http://schemas.openxmlformats.org/drawingml/2006/main">
            <a:r>
              <a:t/>
            </a:r>
          </a:p>
          <a:p xmlns:a="http://schemas.openxmlformats.org/drawingml/2006/main">
            <a:r>
              <a:t>ERD 표현: 이중선(═══). 개체에서 관계로 가는 연결선을 두 줄로 그립니다. 굵은 선이 아니라 "두 줄"입니다.</a:t>
            </a:r>
          </a:p>
          <a:p xmlns:a="http://schemas.openxmlformats.org/drawingml/2006/main">
            <a:r>
              <a:t/>
            </a:r>
          </a:p>
          <a:p xmlns:a="http://schemas.openxmlformats.org/drawingml/2006/main">
            <a:r>
              <a:t>예시를 아주 많이 들어볼게요. 이게 핵심입니다.</a:t>
            </a:r>
          </a:p>
          <a:p xmlns:a="http://schemas.openxmlformats.org/drawingml/2006/main">
            <a:r>
              <a:t/>
            </a:r>
          </a:p>
          <a:p xmlns:a="http://schemas.openxmlformats.org/drawingml/2006/main">
            <a:r>
              <a:t>예시 1: 사원과 부서의 "소속" 관계.</a:t>
            </a:r>
          </a:p>
          <a:p xmlns:a="http://schemas.openxmlformats.org/drawingml/2006/main">
            <a:r>
              <a:t>"모든 사원은 반드시 어떤 부서에 소속되어야 한다." 무소속 사원은 존재할 수 없다. → 사원 쪽은 필수적 참여 → 사원과 소속 관계 사이의 선을 이중선(═══)으로 그린다.</a:t>
            </a:r>
          </a:p>
          <a:p xmlns:a="http://schemas.openxmlformats.org/drawingml/2006/main">
            <a:r>
              <a:t/>
            </a:r>
          </a:p>
          <a:p xmlns:a="http://schemas.openxmlformats.org/drawingml/2006/main">
            <a:r>
              <a:t>예시 2: 주문과 고객의 관계.</a:t>
            </a:r>
          </a:p>
          <a:p xmlns:a="http://schemas.openxmlformats.org/drawingml/2006/main">
            <a:r>
              <a:t>"모든 주문에는 반드시 주문한 고객이 있어야 한다." 고객 없는 주문은 말이 안 되죠? → 주문 쪽은 필수적 참여 → 이중선.</a:t>
            </a:r>
          </a:p>
          <a:p xmlns:a="http://schemas.openxmlformats.org/drawingml/2006/main">
            <a:r>
              <a:t/>
            </a:r>
          </a:p>
          <a:p xmlns:a="http://schemas.openxmlformats.org/drawingml/2006/main">
            <a:r>
              <a:t>예시 3: 수강신청과 학생.</a:t>
            </a:r>
          </a:p>
          <a:p xmlns:a="http://schemas.openxmlformats.org/drawingml/2006/main">
            <a:r>
              <a:t>"모든 수강신청 레코드에는 반드시 학생이 있어야 한다." 학생 없는 수강신청은 존재 불가. → 수강 쪽에서 학생으로 이중선.</a:t>
            </a:r>
          </a:p>
          <a:p xmlns:a="http://schemas.openxmlformats.org/drawingml/2006/main">
            <a:r>
              <a:t/>
            </a:r>
          </a:p>
          <a:p xmlns:a="http://schemas.openxmlformats.org/drawingml/2006/main">
            <a:r>
              <a:t>━━━ 선택적 참여 (부분 참여, Partial Participation) ━━━</a:t>
            </a:r>
          </a:p>
          <a:p xmlns:a="http://schemas.openxmlformats.org/drawingml/2006/main">
            <a:r>
              <a:t/>
            </a:r>
          </a:p>
          <a:p xmlns:a="http://schemas.openxmlformats.org/drawingml/2006/main">
            <a:r>
              <a:t>"인스턴스 중 일부만 관계에 참여해도 된다."</a:t>
            </a:r>
          </a:p>
          <a:p xmlns:a="http://schemas.openxmlformats.org/drawingml/2006/main">
            <a:r>
              <a:t/>
            </a:r>
          </a:p>
          <a:p xmlns:a="http://schemas.openxmlformats.org/drawingml/2006/main">
            <a:r>
              <a:t>ERD 표현: 일반 단선(───). 그냥 보통의 선.</a:t>
            </a:r>
          </a:p>
          <a:p xmlns:a="http://schemas.openxmlformats.org/drawingml/2006/main">
            <a:r>
              <a:t/>
            </a:r>
          </a:p>
          <a:p xmlns:a="http://schemas.openxmlformats.org/drawingml/2006/main">
            <a:r>
              <a:t>예시 1: 고객과 주문의 관계에서 고객 쪽.</a:t>
            </a:r>
          </a:p>
          <a:p xmlns:a="http://schemas.openxmlformats.org/drawingml/2006/main">
            <a:r>
              <a:t>"모든 고객이 반드시 주문을 해야 하는가?" 아니요. 가입만 하고 아직 주문 안 한 고객이 있을 수 있다. → 고객 쪽은 선택적 참여 → 단선.</a:t>
            </a:r>
          </a:p>
          <a:p xmlns:a="http://schemas.openxmlformats.org/drawingml/2006/main">
            <a:r>
              <a:t/>
            </a:r>
          </a:p>
          <a:p xmlns:a="http://schemas.openxmlformats.org/drawingml/2006/main">
            <a:r>
              <a:t>예시 2: 부서와 사원의 "소속" 관계에서 부서 쪽.</a:t>
            </a:r>
          </a:p>
          <a:p xmlns:a="http://schemas.openxmlformats.org/drawingml/2006/main">
            <a:r>
              <a:t>"모든 부서에 반드시 사원이 한 명 이상 있어야 하는가?" 새로 만든 부서에 아직 사원이 배치되지 않았을 수 있다. → 부서 쪽은 선택적 참여 → 단선.</a:t>
            </a:r>
          </a:p>
          <a:p xmlns:a="http://schemas.openxmlformats.org/drawingml/2006/main">
            <a:r>
              <a:t/>
            </a:r>
          </a:p>
          <a:p xmlns:a="http://schemas.openxmlformats.org/drawingml/2006/main">
            <a:r>
              <a:t>예시 3: 책과 구매의 관계에서 책 쪽.</a:t>
            </a:r>
          </a:p>
          <a:p xmlns:a="http://schemas.openxmlformats.org/drawingml/2006/main">
            <a:r>
              <a:t>"모든 책이 반드시 구매되어야 하는가?" 아니요. 진열만 되어 있는 책 있음. → 책 쪽은 선택적 참여 → 단선.</a:t>
            </a:r>
          </a:p>
          <a:p xmlns:a="http://schemas.openxmlformats.org/drawingml/2006/main">
            <a:r>
              <a:t/>
            </a:r>
          </a:p>
          <a:p xmlns:a="http://schemas.openxmlformats.org/drawingml/2006/main">
            <a:r>
              <a:t>━━━ 핵심 포인트 ━━━</a:t>
            </a:r>
          </a:p>
          <a:p xmlns:a="http://schemas.openxmlformats.org/drawingml/2006/main">
            <a:r>
              <a:t/>
            </a:r>
          </a:p>
          <a:p xmlns:a="http://schemas.openxmlformats.org/drawingml/2006/main">
            <a:r>
              <a:t>하나의 관계에서 양쪽 개체의 참여 특성이 다를 수 있습니다. 이것이 중요합니다.</a:t>
            </a:r>
          </a:p>
          <a:p xmlns:a="http://schemas.openxmlformats.org/drawingml/2006/main">
            <a:r>
              <a:t/>
            </a:r>
          </a:p>
          <a:p xmlns:a="http://schemas.openxmlformats.org/drawingml/2006/main">
            <a:r>
              <a:t>예를 들어 사원-부서 "소속" 관계:</a:t>
            </a:r>
          </a:p>
          <a:p xmlns:a="http://schemas.openxmlformats.org/drawingml/2006/main">
            <a:r>
              <a:t>- 사원 쪽: 필수적 참여 (이중선). 모든 사원은 반드시 어떤 부서에 소속.</a:t>
            </a:r>
          </a:p>
          <a:p xmlns:a="http://schemas.openxmlformats.org/drawingml/2006/main">
            <a:r>
              <a:t>- 부서 쪽: 선택적 참여 (단선). 빈 부서가 있을 수 있음.</a:t>
            </a:r>
          </a:p>
          <a:p xmlns:a="http://schemas.openxmlformats.org/drawingml/2006/main">
            <a:r>
              <a:t/>
            </a:r>
          </a:p>
          <a:p xmlns:a="http://schemas.openxmlformats.org/drawingml/2006/main">
            <a:r>
              <a:t>고객-주문 관계:</a:t>
            </a:r>
          </a:p>
          <a:p xmlns:a="http://schemas.openxmlformats.org/drawingml/2006/main">
            <a:r>
              <a:t>- 주문 쪽: 필수적 참여 (이중선). 모든 주문에는 반드시 고객이 있음.</a:t>
            </a:r>
          </a:p>
          <a:p xmlns:a="http://schemas.openxmlformats.org/drawingml/2006/main">
            <a:r>
              <a:t>- 고객 쪽: 선택적 참여 (단선). 주문 안 한 고객도 있을 수 있음.</a:t>
            </a:r>
          </a:p>
          <a:p xmlns:a="http://schemas.openxmlformats.org/drawingml/2006/main">
            <a:r>
              <a:t/>
            </a:r>
          </a:p>
          <a:p xmlns:a="http://schemas.openxmlformats.org/drawingml/2006/main">
            <a:r>
              <a:t>━━━ 헷갈리지 않는 판별법 ━━━</a:t>
            </a:r>
          </a:p>
          <a:p xmlns:a="http://schemas.openxmlformats.org/drawingml/2006/main">
            <a:r>
              <a:t/>
            </a:r>
          </a:p>
          <a:p xmlns:a="http://schemas.openxmlformats.org/drawingml/2006/main">
            <a:r>
              <a:t>판별할 때 이 질문을 하세요: "이 개체의 인스턴스 중에, 이 관계에 참여하지 않는 놈이 존재할 수 있는가?"</a:t>
            </a:r>
          </a:p>
          <a:p xmlns:a="http://schemas.openxmlformats.org/drawingml/2006/main">
            <a:r>
              <a:t/>
            </a:r>
          </a:p>
          <a:p xmlns:a="http://schemas.openxmlformats.org/drawingml/2006/main">
            <a:r>
              <a:t>- "존재할 수 있다" → 선택적 참여 → 단선(───)</a:t>
            </a:r>
          </a:p>
          <a:p xmlns:a="http://schemas.openxmlformats.org/drawingml/2006/main">
            <a:r>
              <a:t>- "절대 존재할 수 없다" → 필수적 참여 → 이중선(═══)</a:t>
            </a:r>
          </a:p>
          <a:p xmlns:a="http://schemas.openxmlformats.org/drawingml/2006/main">
            <a:r>
              <a:t/>
            </a:r>
          </a:p>
          <a:p xmlns:a="http://schemas.openxmlformats.org/drawingml/2006/main">
            <a:r>
              <a:t>아까 예시로 다시 해봅시다.</a:t>
            </a:r>
          </a:p>
          <a:p xmlns:a="http://schemas.openxmlformats.org/drawingml/2006/main">
            <a:r>
              <a:t>"사원 중에 아무 부서에도 소속 안 된 사원이 존재할 수 있나?" → 없다 → 필수적 → 이중선.</a:t>
            </a:r>
          </a:p>
          <a:p xmlns:a="http://schemas.openxmlformats.org/drawingml/2006/main">
            <a:r>
              <a:t>"부서 중에 사원이 한 명도 없는 부서가 존재할 수 있나?" → 있다 → 선택적 → 단선.</a:t>
            </a:r>
          </a:p>
          <a:p xmlns:a="http://schemas.openxmlformats.org/drawingml/2006/main">
            <a:r>
              <a:t/>
            </a:r>
          </a:p>
          <a:p xmlns:a="http://schemas.openxmlformats.org/drawingml/2006/main">
            <a:r>
              <a:t>━━━ 주의: 이중선 vs 이중 사각형 vs 이중 마름모 ━━━</a:t>
            </a:r>
          </a:p>
          <a:p xmlns:a="http://schemas.openxmlformats.org/drawingml/2006/main">
            <a:r>
              <a:t/>
            </a:r>
          </a:p>
          <a:p xmlns:a="http://schemas.openxmlformats.org/drawingml/2006/main">
            <a:r>
              <a:t>여기서 매우 중요한 구분을 해야 합니다. ERD에서 "이중"이라는 표현이 세 곳에서 나옵니다:</a:t>
            </a:r>
          </a:p>
          <a:p xmlns:a="http://schemas.openxmlformats.org/drawingml/2006/main">
            <a:r>
              <a:t/>
            </a:r>
          </a:p>
          <a:p xmlns:a="http://schemas.openxmlformats.org/drawingml/2006/main">
            <a:r>
              <a:t>1) 이중선(═══): 필수적 참여. 개체와 관계를 잇는 "선"이 두 줄.</a:t>
            </a:r>
          </a:p>
          <a:p xmlns:a="http://schemas.openxmlformats.org/drawingml/2006/main">
            <a:r>
              <a:t>2) 이중 사각형(▢): 약한 개체. 개체의 "사각형" 테두리가 두 겹.</a:t>
            </a:r>
          </a:p>
          <a:p xmlns:a="http://schemas.openxmlformats.org/drawingml/2006/main">
            <a:r>
              <a:t>3) 이중 마름모: 약한 개체와 강한 개체의 관계. "마름모" 테두리가 두 겹.</a:t>
            </a:r>
          </a:p>
          <a:p xmlns:a="http://schemas.openxmlformats.org/drawingml/2006/main">
            <a:r>
              <a:t/>
            </a:r>
          </a:p>
          <a:p xmlns:a="http://schemas.openxmlformats.org/drawingml/2006/main">
            <a:r>
              <a:t>이 세 가지는 완전히 다른 의미입니다! 이름만 비슷해서 헷갈리는 거예요.</a:t>
            </a:r>
          </a:p>
          <a:p xmlns:a="http://schemas.openxmlformats.org/drawingml/2006/main">
            <a:r>
              <a:t/>
            </a:r>
          </a:p>
          <a:p xmlns:a="http://schemas.openxmlformats.org/drawingml/2006/main">
            <a:r>
              <a:t>이중선 = "모든 인스턴스가 반드시 참여" (참여 특성)</a:t>
            </a:r>
          </a:p>
          <a:p xmlns:a="http://schemas.openxmlformats.org/drawingml/2006/main">
            <a:r>
              <a:t>이중 사각형 = "이 개체는 혼자 존재 못 함" (약한 개체)</a:t>
            </a:r>
          </a:p>
          <a:p xmlns:a="http://schemas.openxmlformats.org/drawingml/2006/main">
            <a:r>
              <a:t>이중 마름모 = "이 관계는 약한 개체와 강한 개체를 연결" (약한 관계)</a:t>
            </a:r>
          </a:p>
          <a:p xmlns:a="http://schemas.openxmlformats.org/drawingml/2006/main">
            <a:r>
              <a:t/>
            </a:r>
          </a:p>
          <a:p xmlns:a="http://schemas.openxmlformats.org/drawingml/2006/main">
            <a:r>
              <a:t>다음 슬라이드에서 약한 개체를 자세히 배우면서 이 구분을 더 확실히 하겠습니다.</a:t>
            </a:r>
          </a:p>
          <a:p xmlns:a="http://schemas.openxmlformats.org/drawingml/2006/main">
            <a:r>
              <a:t/>
            </a:r>
          </a:p>
          <a:p xmlns:a="http://schemas.openxmlformats.org/drawingml/2006/main">
            <a:r>
              <a:t>시험 답안 예시: "필수적 참여는 모든 개체 인스턴스가 관계에 반드시 참여하는 것으로 ERD에서 이중선으로 표현한다. 선택적 참여는 일부 인스턴스만 참여해도 되는 것으로 일반 단선으로 표현한다. 예를 들어 사원-부서 소속 관계에서 사원은 필수적 참여(이중선), 부서는 선택적 참여(단선)이다." </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자, 이제 강한 개체와 약한 개체입니다. 이 부분도 처음에 꽤 헷갈립니다. 하나하나 천천히 갈게요. 슬라이드에 교재 그림이 두 개 있으니 같이 봐주세요.</a:t>
            </a:r>
          </a:p>
          <a:p xmlns:a="http://schemas.openxmlformats.org/drawingml/2006/main">
            <a:r>
              <a:t/>
            </a:r>
          </a:p>
          <a:p xmlns:a="http://schemas.openxmlformats.org/drawingml/2006/main">
            <a:r>
              <a:t>먼저 상황을 하나 만들어봅시다. 여러분이 회사의 인사 시스템을 만든다고 해요. 직원 정보를 저장해야 합니다. 그런데 회사에서 직원의 부양가족 정보도 관리하고 싶다고 합니다. 건강보험이나 연말정산 때 필요하거든요.</a:t>
            </a:r>
          </a:p>
          <a:p xmlns:a="http://schemas.openxmlformats.org/drawingml/2006/main">
            <a:r>
              <a:t/>
            </a:r>
          </a:p>
          <a:p xmlns:a="http://schemas.openxmlformats.org/drawingml/2006/main">
            <a:r>
              <a:t>직원 테이블: 직원번호(PK), 이름, 부서, 급여</a:t>
            </a:r>
          </a:p>
          <a:p xmlns:a="http://schemas.openxmlformats.org/drawingml/2006/main">
            <a:r>
              <a:t>부양가족 테이블: ???</a:t>
            </a:r>
          </a:p>
          <a:p xmlns:a="http://schemas.openxmlformats.org/drawingml/2006/main">
            <a:r>
              <a:t/>
            </a:r>
          </a:p>
          <a:p xmlns:a="http://schemas.openxmlformats.org/drawingml/2006/main">
            <a:r>
              <a:t>여기서 질문. 부양가족 테이블의 기본키(PK)를 뭘로 하죠? 부양가족이름? 안 됩니다. "민수"라는 이름의 부양가족이 홍길동의 아들일 수도 있고, 김영희의 아들일 수도 있잖아요. 이름만으로는 유일하게 식별이 안 돼요.</a:t>
            </a:r>
          </a:p>
          <a:p xmlns:a="http://schemas.openxmlformats.org/drawingml/2006/main">
            <a:r>
              <a:t/>
            </a:r>
          </a:p>
          <a:p xmlns:a="http://schemas.openxmlformats.org/drawingml/2006/main">
            <a:r>
              <a:t>그래서 부양가족을 식별하려면 반드시 "어떤 직원의" 부양가족인지를 알아야 합니다. (직원번호 + 부양가족이름)을 합쳐야 PK가 됩니다. 부양가족은 직원 없이는 식별조차 할 수 없는 거예요.</a:t>
            </a:r>
          </a:p>
          <a:p xmlns:a="http://schemas.openxmlformats.org/drawingml/2006/main">
            <a:r>
              <a:t/>
            </a:r>
          </a:p>
          <a:p xmlns:a="http://schemas.openxmlformats.org/drawingml/2006/main">
            <a:r>
              <a:t>그리고 한 가지 더. 직원 홍길동이 퇴사하면, "홍길동의 부양가족" 데이터는 어떻게 되나요? 의미가 없어지죠. 홍길동의 아들 민수, 딸 수진 — 이 데이터는 홍길동이 없으면 존재 이유가 없습니다. 그래서 직원이 삭제되면 부양가족도 함께 삭제됩니다.</a:t>
            </a:r>
          </a:p>
          <a:p xmlns:a="http://schemas.openxmlformats.org/drawingml/2006/main">
            <a:r>
              <a:t/>
            </a:r>
          </a:p>
          <a:p xmlns:a="http://schemas.openxmlformats.org/drawingml/2006/main">
            <a:r>
              <a:t>이것이 바로 강한 개체(직원)와 약한 개체(부양가족)의 관계입니다.</a:t>
            </a:r>
          </a:p>
          <a:p xmlns:a="http://schemas.openxmlformats.org/drawingml/2006/main">
            <a:r>
              <a:t/>
            </a:r>
          </a:p>
          <a:p xmlns:a="http://schemas.openxmlformats.org/drawingml/2006/main">
            <a:r>
              <a:t>━━━ 강한 개체 (Strong Entity) ━━━</a:t>
            </a:r>
          </a:p>
          <a:p xmlns:a="http://schemas.openxmlformats.org/drawingml/2006/main">
            <a:r>
              <a:t/>
            </a:r>
          </a:p>
          <a:p xmlns:a="http://schemas.openxmlformats.org/drawingml/2006/main">
            <a:r>
              <a:t>정의: 독립적으로 존재할 수 있는 개체. 다른 개체가 없어도 혼자서 의미가 있음.</a:t>
            </a:r>
          </a:p>
          <a:p xmlns:a="http://schemas.openxmlformats.org/drawingml/2006/main">
            <a:r>
              <a:t/>
            </a:r>
          </a:p>
          <a:p xmlns:a="http://schemas.openxmlformats.org/drawingml/2006/main">
            <a:r>
              <a:t>ERD 표현: 일반 사각형(□). 우리가 지금까지 배운 대부분의 개체가 강한 개체입니다.</a:t>
            </a:r>
          </a:p>
          <a:p xmlns:a="http://schemas.openxmlformats.org/drawingml/2006/main">
            <a:r>
              <a:t/>
            </a:r>
          </a:p>
          <a:p xmlns:a="http://schemas.openxmlformats.org/drawingml/2006/main">
            <a:r>
              <a:t>예시: 직원, 고객, 학생, 상품, 부서, 과목 — 이런 것들은 전부 강한 개체입니다. 직원은 부양가족이 없어도 독립적으로 존재합니다. 고객은 주문이 없어도 존재합니다. 학생은 수강신청을 안 해도 존재합니다.</a:t>
            </a:r>
          </a:p>
          <a:p xmlns:a="http://schemas.openxmlformats.org/drawingml/2006/main">
            <a:r>
              <a:t/>
            </a:r>
          </a:p>
          <a:p xmlns:a="http://schemas.openxmlformats.org/drawingml/2006/main">
            <a:r>
              <a:t>핵심 특징: 자기 자신의 속성만으로 유일하게 식별 가능. 직원번호 하나면 직원을 식별할 수 있음. 다른 개체의 키가 필요 없음.</a:t>
            </a:r>
          </a:p>
          <a:p xmlns:a="http://schemas.openxmlformats.org/drawingml/2006/main">
            <a:r>
              <a:t/>
            </a:r>
          </a:p>
          <a:p xmlns:a="http://schemas.openxmlformats.org/drawingml/2006/main">
            <a:r>
              <a:t>━━━ 약한 개체 (Weak Entity) ━━━</a:t>
            </a:r>
          </a:p>
          <a:p xmlns:a="http://schemas.openxmlformats.org/drawingml/2006/main">
            <a:r>
              <a:t/>
            </a:r>
          </a:p>
          <a:p xmlns:a="http://schemas.openxmlformats.org/drawingml/2006/main">
            <a:r>
              <a:t>정의: 다른 개체(강한 개체)의 존재에 의존하는 개체. 강한 개체 없이는 존재할 수 없고, 식별할 수도 없음.</a:t>
            </a:r>
          </a:p>
          <a:p xmlns:a="http://schemas.openxmlformats.org/drawingml/2006/main">
            <a:r>
              <a:t/>
            </a:r>
          </a:p>
          <a:p xmlns:a="http://schemas.openxmlformats.org/drawingml/2006/main">
            <a:r>
              <a:t>ERD 표현: 이중 사각형(▢▢). 사각형 테두리를 두 겹으로 그립니다. 그리고 약한 개체와 강한 개체를 연결하는 관계는 이중 마름모(◇◇)로 표현합니다.</a:t>
            </a:r>
          </a:p>
          <a:p xmlns:a="http://schemas.openxmlformats.org/drawingml/2006/main">
            <a:r>
              <a:t/>
            </a:r>
          </a:p>
          <a:p xmlns:a="http://schemas.openxmlformats.org/drawingml/2006/main">
            <a:r>
              <a:t>예시 1: 부양가족 (← 직원에 종속)</a:t>
            </a:r>
          </a:p>
          <a:p xmlns:a="http://schemas.openxmlformats.org/drawingml/2006/main">
            <a:r>
              <a:t>- 직원 없이 부양가족만 존재? 불가능.</a:t>
            </a:r>
          </a:p>
          <a:p xmlns:a="http://schemas.openxmlformats.org/drawingml/2006/main">
            <a:r>
              <a:t>- "민수"만으로 식별? 불가능. "직원번호 E001 + 민수"로 식별해야 함.</a:t>
            </a:r>
          </a:p>
          <a:p xmlns:a="http://schemas.openxmlformats.org/drawingml/2006/main">
            <a:r>
              <a:t>- 직원이 삭제되면? 부양가족도 함께 삭제.</a:t>
            </a:r>
          </a:p>
          <a:p xmlns:a="http://schemas.openxmlformats.org/drawingml/2006/main">
            <a:r>
              <a:t/>
            </a:r>
          </a:p>
          <a:p xmlns:a="http://schemas.openxmlformats.org/drawingml/2006/main">
            <a:r>
              <a:t>예시 2: 주문항목/주문상세 (← 주문에 종속)</a:t>
            </a:r>
          </a:p>
          <a:p xmlns:a="http://schemas.openxmlformats.org/drawingml/2006/main">
            <a:r>
              <a:t>- "주문번호 1001의 세 번째 상품" — 주문 1001이 없으면 이 데이터는 무의미.</a:t>
            </a:r>
          </a:p>
          <a:p xmlns:a="http://schemas.openxmlformats.org/drawingml/2006/main">
            <a:r>
              <a:t>- 주문항목 식별: (주문번호 + 항목순번) → 주문번호가 반드시 필요.</a:t>
            </a:r>
          </a:p>
          <a:p xmlns:a="http://schemas.openxmlformats.org/drawingml/2006/main">
            <a:r>
              <a:t>- 주문이 취소되면? 주문항목도 전부 삭제.</a:t>
            </a:r>
          </a:p>
          <a:p xmlns:a="http://schemas.openxmlformats.org/drawingml/2006/main">
            <a:r>
              <a:t/>
            </a:r>
          </a:p>
          <a:p xmlns:a="http://schemas.openxmlformats.org/drawingml/2006/main">
            <a:r>
              <a:t>예시 3: 건물의 방 (← 건물에 종속)</a:t>
            </a:r>
          </a:p>
          <a:p xmlns:a="http://schemas.openxmlformats.org/drawingml/2006/main">
            <a:r>
              <a:t>- "301호"라는 방은 어떤 건물의 301호인지를 알아야 식별 가능.</a:t>
            </a:r>
          </a:p>
          <a:p xmlns:a="http://schemas.openxmlformats.org/drawingml/2006/main">
            <a:r>
              <a:t>- (건물번호 + 방번호)가 PK.</a:t>
            </a:r>
          </a:p>
          <a:p xmlns:a="http://schemas.openxmlformats.org/drawingml/2006/main">
            <a:r>
              <a:t>- 건물이 철거되면 방도 사라짐.</a:t>
            </a:r>
          </a:p>
          <a:p xmlns:a="http://schemas.openxmlformats.org/drawingml/2006/main">
            <a:r>
              <a:t/>
            </a:r>
          </a:p>
          <a:p xmlns:a="http://schemas.openxmlformats.org/drawingml/2006/main">
            <a:r>
              <a:t>예시 4: 게시글의 댓글 (← 게시글에 종속)</a:t>
            </a:r>
          </a:p>
          <a:p xmlns:a="http://schemas.openxmlformats.org/drawingml/2006/main">
            <a:r>
              <a:t>- 댓글은 게시글이 있어야 존재. 게시글이 삭제되면 댓글도 삭제.</a:t>
            </a:r>
          </a:p>
          <a:p xmlns:a="http://schemas.openxmlformats.org/drawingml/2006/main">
            <a:r>
              <a:t>- (게시글번호 + 댓글순번)으로 식별.</a:t>
            </a:r>
          </a:p>
          <a:p xmlns:a="http://schemas.openxmlformats.org/drawingml/2006/main">
            <a:r>
              <a:t/>
            </a:r>
          </a:p>
          <a:p xmlns:a="http://schemas.openxmlformats.org/drawingml/2006/main">
            <a:r>
              <a:t>━━━ 핵심 특성 정리 ━━━</a:t>
            </a:r>
          </a:p>
          <a:p xmlns:a="http://schemas.openxmlformats.org/drawingml/2006/main">
            <a:r>
              <a:t/>
            </a:r>
          </a:p>
          <a:p xmlns:a="http://schemas.openxmlformats.org/drawingml/2006/main">
            <a:r>
              <a:t>1) 강한 개체와 약한 개체는 일반적으로 1:n 관계.</a:t>
            </a:r>
          </a:p>
          <a:p xmlns:a="http://schemas.openxmlformats.org/drawingml/2006/main">
            <a:r>
              <a:t>   - 직원 1명 → 부양가족 여러 명</a:t>
            </a:r>
          </a:p>
          <a:p xmlns:a="http://schemas.openxmlformats.org/drawingml/2006/main">
            <a:r>
              <a:t>   - 주문 1건 → 주문항목 여러 개</a:t>
            </a:r>
          </a:p>
          <a:p xmlns:a="http://schemas.openxmlformats.org/drawingml/2006/main">
            <a:r>
              <a:t>   - 건물 1개 → 방 여러 개</a:t>
            </a:r>
          </a:p>
          <a:p xmlns:a="http://schemas.openxmlformats.org/drawingml/2006/main">
            <a:r>
              <a:t/>
            </a:r>
          </a:p>
          <a:p xmlns:a="http://schemas.openxmlformats.org/drawingml/2006/main">
            <a:r>
              <a:t>2) 약한 개체는 강한 개체의 키를 포함하여 자신의 키를 구성.</a:t>
            </a:r>
          </a:p>
          <a:p xmlns:a="http://schemas.openxmlformats.org/drawingml/2006/main">
            <a:r>
              <a:t>   - 부양가족 PK = (직원번호 + 부양가족이름)</a:t>
            </a:r>
          </a:p>
          <a:p xmlns:a="http://schemas.openxmlformats.org/drawingml/2006/main">
            <a:r>
              <a:t>   - 주문항목 PK = (주문번호 + 항목순번)</a:t>
            </a:r>
          </a:p>
          <a:p xmlns:a="http://schemas.openxmlformats.org/drawingml/2006/main">
            <a:r>
              <a:t>   이것을 "부분 키(Partial Key)" 또는 "판별자(Discriminator)"라고도 합니다. 약한 개체가 가진 자기만의 키(부양가족이름, 항목순번)는 강한 개체의 키와 합쳐져야만 완전한 키가 됩니다.</a:t>
            </a:r>
          </a:p>
          <a:p xmlns:a="http://schemas.openxmlformats.org/drawingml/2006/main">
            <a:r>
              <a:t/>
            </a:r>
          </a:p>
          <a:p xmlns:a="http://schemas.openxmlformats.org/drawingml/2006/main">
            <a:r>
              <a:t>3) 실무에서 약한 개체 → CASCADE DELETE.</a:t>
            </a:r>
          </a:p>
          <a:p xmlns:a="http://schemas.openxmlformats.org/drawingml/2006/main">
            <a:r>
              <a:t>   SQL에서 FOREIGN KEY ... ON DELETE CASCADE로 구현. 부모(강한 개체) 삭제 시 자식(약한 개체)도 자동 삭제.</a:t>
            </a:r>
          </a:p>
          <a:p xmlns:a="http://schemas.openxmlformats.org/drawingml/2006/main">
            <a:r>
              <a:t/>
            </a:r>
          </a:p>
          <a:p xmlns:a="http://schemas.openxmlformats.org/drawingml/2006/main">
            <a:r>
              <a:t>━━━ 이중 사각형 vs 이중선 vs 이중 마름모 — 최종 구분 ━━━</a:t>
            </a:r>
          </a:p>
          <a:p xmlns:a="http://schemas.openxmlformats.org/drawingml/2006/main">
            <a:r>
              <a:t/>
            </a:r>
          </a:p>
          <a:p xmlns:a="http://schemas.openxmlformats.org/drawingml/2006/main">
            <a:r>
              <a:t>이제 아까 예고한 구분을 확실히 합시다. ERD에서 "이중"이 세 번 나옵니다:</a:t>
            </a:r>
          </a:p>
          <a:p xmlns:a="http://schemas.openxmlformats.org/drawingml/2006/main">
            <a:r>
              <a:t/>
            </a:r>
          </a:p>
          <a:p xmlns:a="http://schemas.openxmlformats.org/drawingml/2006/main">
            <a:r>
              <a:t>① 이중선(═══) = 필수적 참여</a:t>
            </a:r>
          </a:p>
          <a:p xmlns:a="http://schemas.openxmlformats.org/drawingml/2006/main">
            <a:r>
              <a:t>   - 의미: "모든 인스턴스가 반드시 이 관계에 참여해야 한다"</a:t>
            </a:r>
          </a:p>
          <a:p xmlns:a="http://schemas.openxmlformats.org/drawingml/2006/main">
            <a:r>
              <a:t>   - 위치: 개체와 관계를 잇는 "선(line)"에 적용</a:t>
            </a:r>
          </a:p>
          <a:p xmlns:a="http://schemas.openxmlformats.org/drawingml/2006/main">
            <a:r>
              <a:t>   - 예: 사원 ═══ 소속(관계) ─── 부서</a:t>
            </a:r>
          </a:p>
          <a:p xmlns:a="http://schemas.openxmlformats.org/drawingml/2006/main">
            <a:r>
              <a:t>     → 모든 사원은 반드시 부서에 소속 / 빈 부서는 있을 수 있음</a:t>
            </a:r>
          </a:p>
          <a:p xmlns:a="http://schemas.openxmlformats.org/drawingml/2006/main">
            <a:r>
              <a:t/>
            </a:r>
          </a:p>
          <a:p xmlns:a="http://schemas.openxmlformats.org/drawingml/2006/main">
            <a:r>
              <a:t>② 이중 사각형(▢▢) = 약한 개체</a:t>
            </a:r>
          </a:p>
          <a:p xmlns:a="http://schemas.openxmlformats.org/drawingml/2006/main">
            <a:r>
              <a:t>   - 의미: "이 개체는 다른 개체 없이 혼자 존재할 수 없다"</a:t>
            </a:r>
          </a:p>
          <a:p xmlns:a="http://schemas.openxmlformats.org/drawingml/2006/main">
            <a:r>
              <a:t>   - 위치: 개체의 "사각형 테두리"에 적용</a:t>
            </a:r>
          </a:p>
          <a:p xmlns:a="http://schemas.openxmlformats.org/drawingml/2006/main">
            <a:r>
              <a:t>   - 예: ▢▢부양가족▢▢ → 직원 없이 존재 불가</a:t>
            </a:r>
          </a:p>
          <a:p xmlns:a="http://schemas.openxmlformats.org/drawingml/2006/main">
            <a:r>
              <a:t/>
            </a:r>
          </a:p>
          <a:p xmlns:a="http://schemas.openxmlformats.org/drawingml/2006/main">
            <a:r>
              <a:t>③ 이중 마름모(◇◇) = 약한 개체의 관계 (식별 관계)</a:t>
            </a:r>
          </a:p>
          <a:p xmlns:a="http://schemas.openxmlformats.org/drawingml/2006/main">
            <a:r>
              <a:t>   - 의미: "이 관계가 약한 개체와 강한 개체를 연결한다"</a:t>
            </a:r>
          </a:p>
          <a:p xmlns:a="http://schemas.openxmlformats.org/drawingml/2006/main">
            <a:r>
              <a:t>   - 위치: 관계의 "마름모 테두리"에 적용</a:t>
            </a:r>
          </a:p>
          <a:p xmlns:a="http://schemas.openxmlformats.org/drawingml/2006/main">
            <a:r>
              <a:t>   - 예: 직원 ══ ◇◇부양◇◇ ── ▢▢부양가족▢▢</a:t>
            </a:r>
          </a:p>
          <a:p xmlns:a="http://schemas.openxmlformats.org/drawingml/2006/main">
            <a:r>
              <a:t/>
            </a:r>
          </a:p>
          <a:p xmlns:a="http://schemas.openxmlformats.org/drawingml/2006/main">
            <a:r>
              <a:t>정리하면:</a:t>
            </a:r>
          </a:p>
          <a:p xmlns:a="http://schemas.openxmlformats.org/drawingml/2006/main">
            <a:r>
              <a:t>- 이중선: 참여 특성 (무조건 참여해야 하느냐의 문제)</a:t>
            </a:r>
          </a:p>
          <a:p xmlns:a="http://schemas.openxmlformats.org/drawingml/2006/main">
            <a:r>
              <a:t>- 이중 사각형: 존재 종속성 (혼자 존재할 수 있느냐의 문제)</a:t>
            </a:r>
          </a:p>
          <a:p xmlns:a="http://schemas.openxmlformats.org/drawingml/2006/main">
            <a:r>
              <a:t>- 이중 마름모: 약한 개체를 연결하는 관계의 표시</a:t>
            </a:r>
          </a:p>
          <a:p xmlns:a="http://schemas.openxmlformats.org/drawingml/2006/main">
            <a:r>
              <a:t/>
            </a:r>
          </a:p>
          <a:p xmlns:a="http://schemas.openxmlformats.org/drawingml/2006/main">
            <a:r>
              <a:t>이 세 가지는 서로 다른 개념입니다! 하나도 같은 게 아니에요!</a:t>
            </a:r>
          </a:p>
          <a:p xmlns:a="http://schemas.openxmlformats.org/drawingml/2006/main">
            <a:r>
              <a:t/>
            </a:r>
          </a:p>
          <a:p xmlns:a="http://schemas.openxmlformats.org/drawingml/2006/main">
            <a:r>
              <a:t>━━━ 자주 나오는 혼동 ━━━</a:t>
            </a:r>
          </a:p>
          <a:p xmlns:a="http://schemas.openxmlformats.org/drawingml/2006/main">
            <a:r>
              <a:t/>
            </a:r>
          </a:p>
          <a:p xmlns:a="http://schemas.openxmlformats.org/drawingml/2006/main">
            <a:r>
              <a:t>혼동 1: "약한 개체의 관계에 이중선도 쓰나요?"</a:t>
            </a:r>
          </a:p>
          <a:p xmlns:a="http://schemas.openxmlformats.org/drawingml/2006/main">
            <a:r>
              <a:t>→ 네, 같이 쓸 수 있습니다. 약한 개체는 강한 개체와의 관계에 반드시 참여해야 하니까(부양가족은 반드시 직원에 소속되어야 하니까) 이중선도 함께 나타날 수 있어요. 즉 약한 개체 쪽에서 이중 마름모로 가는 선이 이중선인 경우가 많습니다.</a:t>
            </a:r>
          </a:p>
          <a:p xmlns:a="http://schemas.openxmlformats.org/drawingml/2006/main">
            <a:r>
              <a:t/>
            </a:r>
          </a:p>
          <a:p xmlns:a="http://schemas.openxmlformats.org/drawingml/2006/main">
            <a:r>
              <a:t>혼동 2: "이중 타원도 있잖아요?"</a:t>
            </a:r>
          </a:p>
          <a:p xmlns:a="http://schemas.openxmlformats.org/drawingml/2006/main">
            <a:r>
              <a:t>→ 맞습니다. 이중 타원(◎)은 다중 값 속성이에요. 이것은 참여 특성이나 약한 개체와는 전혀 관계없습니다. "값을 여러 개 가질 수 있는 속성"의 표현일 뿐.</a:t>
            </a:r>
          </a:p>
          <a:p xmlns:a="http://schemas.openxmlformats.org/drawingml/2006/main">
            <a:r>
              <a:t/>
            </a:r>
          </a:p>
          <a:p xmlns:a="http://schemas.openxmlformats.org/drawingml/2006/main">
            <a:r>
              <a:t>정리: ERD에서 "이중"이 나오는 곳 네 군데:</a:t>
            </a:r>
          </a:p>
          <a:p xmlns:a="http://schemas.openxmlformats.org/drawingml/2006/main">
            <a:r>
              <a:t>- 이중선(═══) → 필수적 참여</a:t>
            </a:r>
          </a:p>
          <a:p xmlns:a="http://schemas.openxmlformats.org/drawingml/2006/main">
            <a:r>
              <a:t>- 이중 사각형(▢▢) → 약한 개체</a:t>
            </a:r>
          </a:p>
          <a:p xmlns:a="http://schemas.openxmlformats.org/drawingml/2006/main">
            <a:r>
              <a:t>- 이중 마름모(◇◇) → 약한 개체의 관계</a:t>
            </a:r>
          </a:p>
          <a:p xmlns:a="http://schemas.openxmlformats.org/drawingml/2006/main">
            <a:r>
              <a:t>- 이중 타원(◎) → 다중 값 속성</a:t>
            </a:r>
          </a:p>
          <a:p xmlns:a="http://schemas.openxmlformats.org/drawingml/2006/main">
            <a:r>
              <a:t/>
            </a:r>
          </a:p>
          <a:p xmlns:a="http://schemas.openxmlformats.org/drawingml/2006/main">
            <a:r>
              <a:t>시험 답안 예시: "강한 개체는 독립적으로 존재 가능한 개체로 일반 사각형으로 표현한다. 약한 개체는 다른 개체에 종속적인 개체로 이중 사각형으로 표현하고, 관계는 이중 마름모로 표현한다. 약한 개체는 강한 개체의 키를 포함하여 자신의 키를 구성하며, 일반적으로 1:n 관계를 가진다. 예를 들어 직원(강한 개체)과 부양가족(약한 개체)의 관계에서 부양가족의 PK는 (직원번호+부양가족이름)이다." </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ERD의 모든 기호를 한 표에 정리했습니다. 이 표가 4장 시험의 가장 기본이 되는 표입니다. 시험지 받으면 가장 먼저 이 표를 여백에 적어두세요.</a:t>
            </a:r>
          </a:p>
          <a:p xmlns:a="http://schemas.openxmlformats.org/drawingml/2006/main">
            <a:r>
              <a:t/>
            </a:r>
          </a:p>
          <a:p xmlns:a="http://schemas.openxmlformats.org/drawingml/2006/main">
            <a:r>
              <a:t>여덟 가지를 하나씩 최종 점검합시다.</a:t>
            </a:r>
          </a:p>
          <a:p xmlns:a="http://schemas.openxmlformats.org/drawingml/2006/main">
            <a:r>
              <a:t/>
            </a:r>
          </a:p>
          <a:p xmlns:a="http://schemas.openxmlformats.org/drawingml/2006/main">
            <a:r>
              <a:t>1. 개체 → 사각형(□). 가장 기본. 현실의 구별되는 대상.</a:t>
            </a:r>
          </a:p>
          <a:p xmlns:a="http://schemas.openxmlformats.org/drawingml/2006/main">
            <a:r>
              <a:t>2. 속성 → 타원(○). 개체의 고유 특성. 선으로 개체에 연결.</a:t>
            </a:r>
          </a:p>
          <a:p xmlns:a="http://schemas.openxmlformats.org/drawingml/2006/main">
            <a:r>
              <a:t>3. 관계 → 마름모(◇). 개체 간 연관성. 개체 사이에 위치.</a:t>
            </a:r>
          </a:p>
          <a:p xmlns:a="http://schemas.openxmlformats.org/drawingml/2006/main">
            <a:r>
              <a:t>4. 키 속성 → 밑줄 타원. 인스턴스를 유일하게 식별. 밑줄을 꼭 그어야 해요.</a:t>
            </a:r>
          </a:p>
          <a:p xmlns:a="http://schemas.openxmlformats.org/drawingml/2006/main">
            <a:r>
              <a:t>5. 다중 값 속성 → 이중 타원(◎). 값을 여러 개 가짐. 타원 두 겹.</a:t>
            </a:r>
          </a:p>
          <a:p xmlns:a="http://schemas.openxmlformats.org/drawingml/2006/main">
            <a:r>
              <a:t>6. 유도 속성 → 점선 타원. 다른 속성에서 계산으로 유도. 저장 안 함.</a:t>
            </a:r>
          </a:p>
          <a:p xmlns:a="http://schemas.openxmlformats.org/drawingml/2006/main">
            <a:r>
              <a:t>7. 약한 개체 → 이중 사각형(▢). 다른 개체에 종속. 관계는 이중 마름모.</a:t>
            </a:r>
          </a:p>
          <a:p xmlns:a="http://schemas.openxmlformats.org/drawingml/2006/main">
            <a:r>
              <a:t>8. 필수적 참여 → 이중선(═══). 모든 인스턴스가 반드시 참여.</a:t>
            </a:r>
          </a:p>
          <a:p xmlns:a="http://schemas.openxmlformats.org/drawingml/2006/main">
            <a:r>
              <a:t/>
            </a:r>
          </a:p>
          <a:p xmlns:a="http://schemas.openxmlformats.org/drawingml/2006/main">
            <a:r>
              <a:t>ERD를 그릴 때 흔히 하는 실수 세 가지를 알려드립니다.</a:t>
            </a:r>
          </a:p>
          <a:p xmlns:a="http://schemas.openxmlformats.org/drawingml/2006/main">
            <a:r>
              <a:t/>
            </a:r>
          </a:p>
          <a:p xmlns:a="http://schemas.openxmlformats.org/drawingml/2006/main">
            <a:r>
              <a:t>실수 1: 키 속성에 밑줄을 안 긋는 것. 키 속성인데 일반 속성처럼 밑줄 없이 그리면 감점됩니다.</a:t>
            </a:r>
          </a:p>
          <a:p xmlns:a="http://schemas.openxmlformats.org/drawingml/2006/main">
            <a:r>
              <a:t>실수 2: 다중 값 속성을 일반 타원으로 그리는 것. 연락처가 다중 값인데 일반 타원으로 그리면 틀린 거예요.</a:t>
            </a:r>
          </a:p>
          <a:p xmlns:a="http://schemas.openxmlformats.org/drawingml/2006/main">
            <a:r>
              <a:t>실수 3: 관계의 속성을 무시하는 것. 수강 관계의 성적, 구매 관계의 구매일 같은 것을 빠뜨리는 경우가 많습니다.</a:t>
            </a:r>
          </a:p>
          <a:p xmlns:a="http://schemas.openxmlformats.org/drawingml/2006/main">
            <a:r>
              <a:t/>
            </a:r>
          </a:p>
          <a:p xmlns:a="http://schemas.openxmlformats.org/drawingml/2006/main">
            <a:r>
              <a:t>이 표를 외우는 팁: 기본 3개(사각형, 타원, 마름모)는 "사타마"로 외우고, 나머지 5개는 "변형"으로 기억하세요. 밑줄, 이중, 점선, 이중 사각형, 이중선 — 전부 기본 형태에서 뭔가를 추가한 변형입니다.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서점 데이터베이스의 종합 ERD 예제입니다. 슬라이드에 교재의 ERD 구성 예제 그림이 있습니다. 지금까지 배운 모든 것이 이 한 장에 종합되어 있어요.</a:t>
            </a:r>
          </a:p>
          <a:p xmlns:a="http://schemas.openxmlformats.org/drawingml/2006/main">
            <a:r>
              <a:t/>
            </a:r>
          </a:p>
          <a:p xmlns:a="http://schemas.openxmlformats.org/drawingml/2006/main">
            <a:r>
              <a:t>그림을 자세히 봅시다.</a:t>
            </a:r>
          </a:p>
          <a:p xmlns:a="http://schemas.openxmlformats.org/drawingml/2006/main">
            <a:r>
              <a:t/>
            </a:r>
          </a:p>
          <a:p xmlns:a="http://schemas.openxmlformats.org/drawingml/2006/main">
            <a:r>
              <a:t>개체가 세 개 있습니다. 고객, 책, 출판사. 모두 사각형으로 표현되어 있죠.</a:t>
            </a:r>
          </a:p>
          <a:p xmlns:a="http://schemas.openxmlformats.org/drawingml/2006/main">
            <a:r>
              <a:t/>
            </a:r>
          </a:p>
          <a:p xmlns:a="http://schemas.openxmlformats.org/drawingml/2006/main">
            <a:r>
              <a:t>각 개체에 속성(타원)들이 연결되어 있습니다. 고객에는 고객아이디(밑줄 — 키 속성), 이름, 주소, 연락처(이중 타원 — 다중 값 속성), 적립금 등이 있습니다. 책에는 도서번호(밑줄 — 키), 도서명, 가격, ISBN 등이 있고요. 출판사에는 출판사번호(밑줄 — 키), 출판사이름, 주소 등이 있습니다.</a:t>
            </a:r>
          </a:p>
          <a:p xmlns:a="http://schemas.openxmlformats.org/drawingml/2006/main">
            <a:r>
              <a:t/>
            </a:r>
          </a:p>
          <a:p xmlns:a="http://schemas.openxmlformats.org/drawingml/2006/main">
            <a:r>
              <a:t>관계가 두 개 있습니다. 고객과 책 사이에 "구매" 관계(마름모)가 있고, n:m 레이블이 붙어 있습니다. 한 고객이 여러 책을 구매하고, 한 책도 여러 고객에게 구매되니까요. 출판사와 책 사이에 "출판" 관계가 있고, 1:n 레이블이 붙어 있습니다. 출판사 쪽이 1, 책 쪽이 n.</a:t>
            </a:r>
          </a:p>
          <a:p xmlns:a="http://schemas.openxmlformats.org/drawingml/2006/main">
            <a:r>
              <a:t/>
            </a:r>
          </a:p>
          <a:p xmlns:a="http://schemas.openxmlformats.org/drawingml/2006/main">
            <a:r>
              <a:t>하단에 범례가 있습니다. 사각형=개체, 타원=속성(밑줄=키), 마름모=관계, 레이블=카디널리티.</a:t>
            </a:r>
          </a:p>
          <a:p xmlns:a="http://schemas.openxmlformats.org/drawingml/2006/main">
            <a:r>
              <a:t/>
            </a:r>
          </a:p>
          <a:p xmlns:a="http://schemas.openxmlformats.org/drawingml/2006/main">
            <a:r>
              <a:t>이 ERD를 실제 데이터로 상상해봅시다. 고객 "홍길동"이 "데이터베이스 개론"과 "알고리즘 입문" 두 권을 구매했습니다. 고객 "김영희"도 "데이터베이스 개론"을 구매했고요. "데이터베이스 개론"은 "한빛미디어"에서, "알고리즘 입문"도 "한빛미디어"에서 출판했습니다. 이 모든 정보가 ERD에 담겨 있는 겁니다.</a:t>
            </a:r>
          </a:p>
          <a:p xmlns:a="http://schemas.openxmlformats.org/drawingml/2006/main">
            <a:r>
              <a:t/>
            </a:r>
          </a:p>
          <a:p xmlns:a="http://schemas.openxmlformats.org/drawingml/2006/main">
            <a:r>
              <a:t>이런 ERD를 직접 그릴 수 있는 능력이 이번 장의 최종 목표입니다. 시험에서 "다음 시나리오를 보고 ERD를 그리시오"라는 문제가 나올 때, 바로 이런 그림을 그려야 합니다.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ERD를 작성하는 단계를 정리합니다. 여섯 단계입니다. 시험에서 ERD를 그리라는 문제가 나오면 이 순서대로 하면 됩니다.</a:t>
            </a:r>
          </a:p>
          <a:p xmlns:a="http://schemas.openxmlformats.org/drawingml/2006/main">
            <a:r>
              <a:t/>
            </a:r>
          </a:p>
          <a:p xmlns:a="http://schemas.openxmlformats.org/drawingml/2006/main">
            <a:r>
              <a:t>1단계: 개체 식별. 요구사항에서 명사를 찾아 개체 후보를 도출합니다.</a:t>
            </a:r>
          </a:p>
          <a:p xmlns:a="http://schemas.openxmlformats.org/drawingml/2006/main">
            <a:r>
              <a:t/>
            </a:r>
          </a:p>
          <a:p xmlns:a="http://schemas.openxmlformats.org/drawingml/2006/main">
            <a:r>
              <a:t>예를 들어 "고객이 상품을 주문하고, 각 주문에 여러 상품이 포함된다"라는 요구사항이 있으면, 고객, 상품, 주문 — 이 세 명사가 개체 후보입니다. 하지만 "가격", "수량" 같은 명사는 속성 후보이지 개체 후보가 아니에요.</a:t>
            </a:r>
          </a:p>
          <a:p xmlns:a="http://schemas.openxmlformats.org/drawingml/2006/main">
            <a:r>
              <a:t/>
            </a:r>
          </a:p>
          <a:p xmlns:a="http://schemas.openxmlformats.org/drawingml/2006/main">
            <a:r>
              <a:t>개체 후보를 걸러내는 질문: "이것이 독립적으로 존재하는가? 여러 속성을 가지는가? 여러 인스턴스가 있는가?" 세 가지에 다 Yes면 개체입니다.</a:t>
            </a:r>
          </a:p>
          <a:p xmlns:a="http://schemas.openxmlformats.org/drawingml/2006/main">
            <a:r>
              <a:t/>
            </a:r>
          </a:p>
          <a:p xmlns:a="http://schemas.openxmlformats.org/drawingml/2006/main">
            <a:r>
              <a:t>2단계: 속성 정의. 각 개체가 어떤 특성을 가지는지 결정합니다.</a:t>
            </a:r>
          </a:p>
          <a:p xmlns:a="http://schemas.openxmlformats.org/drawingml/2006/main">
            <a:r>
              <a:t/>
            </a:r>
          </a:p>
          <a:p xmlns:a="http://schemas.openxmlformats.org/drawingml/2006/main">
            <a:r>
              <a:t>고객: 고객아이디, 이름, 연락처, 주소, 등급</a:t>
            </a:r>
          </a:p>
          <a:p xmlns:a="http://schemas.openxmlformats.org/drawingml/2006/main">
            <a:r>
              <a:t>상품: 상품번호, 상품명, 가격, 재고량, 카테고리</a:t>
            </a:r>
          </a:p>
          <a:p xmlns:a="http://schemas.openxmlformats.org/drawingml/2006/main">
            <a:r>
              <a:t>주문: 주문번호, 주문일, 배송상태, 배송지 주소</a:t>
            </a:r>
          </a:p>
          <a:p xmlns:a="http://schemas.openxmlformats.org/drawingml/2006/main">
            <a:r>
              <a:t/>
            </a:r>
          </a:p>
          <a:p xmlns:a="http://schemas.openxmlformats.org/drawingml/2006/main">
            <a:r>
              <a:t>3단계: 키 속성 결정. 각 개체의 인스턴스를 유일하게 식별할 수 있는 속성을 선택합니다.</a:t>
            </a:r>
          </a:p>
          <a:p xmlns:a="http://schemas.openxmlformats.org/drawingml/2006/main">
            <a:r>
              <a:t/>
            </a:r>
          </a:p>
          <a:p xmlns:a="http://schemas.openxmlformats.org/drawingml/2006/main">
            <a:r>
              <a:t>고객 → 고객아이디 (PK). 상품 → 상품번호 (PK). 주문 → 주문번호 (PK).</a:t>
            </a:r>
          </a:p>
          <a:p xmlns:a="http://schemas.openxmlformats.org/drawingml/2006/main">
            <a:r>
              <a:t/>
            </a:r>
          </a:p>
          <a:p xmlns:a="http://schemas.openxmlformats.org/drawingml/2006/main">
            <a:r>
              <a:t>4단계: 관계 파악. 요구사항에서 동사를 찾아 관계 후보를 도출합니다.</a:t>
            </a:r>
          </a:p>
          <a:p xmlns:a="http://schemas.openxmlformats.org/drawingml/2006/main">
            <a:r>
              <a:t/>
            </a:r>
          </a:p>
          <a:p xmlns:a="http://schemas.openxmlformats.org/drawingml/2006/main">
            <a:r>
              <a:t>"고객이 상품을 주문한다" → "주문한다"가 관계 후보. 하지만 여기서 잘 보면 주문 자체가 개체이기도 합니다. 그러면 "고객이 주문을 한다" (고객-주문 관계)와 "주문에 상품이 포함된다" (주문-상품 관계)로 분리할 수 있어요.</a:t>
            </a:r>
          </a:p>
          <a:p xmlns:a="http://schemas.openxmlformats.org/drawingml/2006/main">
            <a:r>
              <a:t/>
            </a:r>
          </a:p>
          <a:p xmlns:a="http://schemas.openxmlformats.org/drawingml/2006/main">
            <a:r>
              <a:t>5단계: 매핑 카디널리티 결정. 아까 배운 질문법을 사용합니다.</a:t>
            </a:r>
          </a:p>
          <a:p xmlns:a="http://schemas.openxmlformats.org/drawingml/2006/main">
            <a:r>
              <a:t/>
            </a:r>
          </a:p>
          <a:p xmlns:a="http://schemas.openxmlformats.org/drawingml/2006/main">
            <a:r>
              <a:t>고객-주문: "고객 한 명이 주문 몇 건?" → 여러 건(n). "주문 한 건의 고객?" → 한 명(1). → 1:n.</a:t>
            </a:r>
          </a:p>
          <a:p xmlns:a="http://schemas.openxmlformats.org/drawingml/2006/main">
            <a:r>
              <a:t>주문-상품: "주문 한 건에 상품 몇 개?" → 여러 개(m). "상품 하나가 주문 몇 건에?" → 여러 건(n). → n:m.</a:t>
            </a:r>
          </a:p>
          <a:p xmlns:a="http://schemas.openxmlformats.org/drawingml/2006/main">
            <a:r>
              <a:t/>
            </a:r>
          </a:p>
          <a:p xmlns:a="http://schemas.openxmlformats.org/drawingml/2006/main">
            <a:r>
              <a:t>6단계: ERD 완성. 기호를 사용하여 다이어그램을 그립니다. 개체는 사각형, 속성은 타원(키는 밑줄), 관계는 마름모, 카디널리티를 레이블로 표시.</a:t>
            </a:r>
          </a:p>
          <a:p xmlns:a="http://schemas.openxmlformats.org/drawingml/2006/main">
            <a:r>
              <a:t/>
            </a:r>
          </a:p>
          <a:p xmlns:a="http://schemas.openxmlformats.org/drawingml/2006/main">
            <a:r>
              <a:t>하단의 팁: 개체=명사, 관계=동사. 이 원칙을 꼭 기억하세요.</a:t>
            </a:r>
          </a:p>
          <a:p xmlns:a="http://schemas.openxmlformats.org/drawingml/2006/main">
            <a:r>
              <a:t/>
            </a:r>
          </a:p>
          <a:p xmlns:a="http://schemas.openxmlformats.org/drawingml/2006/main">
            <a:r>
              <a:t>연습을 해보는 것이 가장 좋습니다. 학교 도서관 시스템, 카페 주문 시스템, 넷플릭스 같은 스트리밍 서비스 등 여러분이 잘 아는 시스템의 ERD를 그려보세요.</a:t>
            </a:r>
          </a:p>
          <a:p xmlns:a="http://schemas.openxmlformats.org/drawingml/2006/main">
            <a:r>
              <a:t/>
            </a:r>
          </a:p>
          <a:p xmlns:a="http://schemas.openxmlformats.org/drawingml/2006/main">
            <a:r>
              <a:t>자, 섹션 2는 여기까지입니다. 정말 많은 내용을 배웠죠. 10분 쉬고 마지막 5교시, 섹션 3을 다루겠습니다.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세 번째 섹션, 논리적 데이터 모델입니다.</a:t>
            </a:r>
          </a:p>
          <a:p xmlns:a="http://schemas.openxmlformats.org/drawingml/2006/main">
            <a:r>
              <a:t/>
            </a:r>
          </a:p>
          <a:p xmlns:a="http://schemas.openxmlformats.org/drawingml/2006/main">
            <a:r>
              <a:t>지금까지 ER 모델로 개념적 모델링을 하는 방법을 배웠습니다. 개체, 속성, 관계를 정리하고 ERD를 그릴 수 있게 되었죠. 이것이 2단계 데이터 모델링의 1단계, 개념적 모델링이었습니다.</a:t>
            </a:r>
          </a:p>
          <a:p xmlns:a="http://schemas.openxmlformats.org/drawingml/2006/main">
            <a:r>
              <a:t/>
            </a:r>
          </a:p>
          <a:p xmlns:a="http://schemas.openxmlformats.org/drawingml/2006/main">
            <a:r>
              <a:t>그런데 ERD는 사람이 이해하기 쉬운 형태이지, 컴퓨터가 바로 사용할 수 있는 형태는 아닙니다. ERD를 보고 바로 SQL을 작성할 수는 없어요. ERD를 테이블 구조로 변환해야 합니다.</a:t>
            </a:r>
          </a:p>
          <a:p xmlns:a="http://schemas.openxmlformats.org/drawingml/2006/main">
            <a:r>
              <a:t/>
            </a:r>
          </a:p>
          <a:p xmlns:a="http://schemas.openxmlformats.org/drawingml/2006/main">
            <a:r>
              <a:t>이 변환 과정이 2단계, 논리적 모델링이고, 여기서 사용하는 도구가 논리적 데이터 모델입니다. 이 섹션에서는 역사적으로 존재했던 세 가지 논리적 데이터 모델을 각각 살펴보고 비교합니다. 관계형, 계층형, 네트워크 모델입니다.</a:t>
            </a:r>
          </a:p>
          <a:p xmlns:a="http://schemas.openxmlformats.org/drawingml/2006/main">
            <a:r>
              <a:t/>
            </a:r>
          </a:p>
          <a:p xmlns:a="http://schemas.openxmlformats.org/drawingml/2006/main">
            <a:r>
              <a:t>결론부터 말하면, 현재 표준은 관계형 모델입니다. 나머지 두 모델은 역사적 의의가 있을 뿐, 현재는 거의 사용되지 않습니다. 하지만 왜 관계형이 승리했는지를 이해하려면 나머지 두 모델의 한계를 알아야 해요. 그래서 세 가지를 다 배우는 겁니다.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논리적 데이터 모델의 개념과 세 가지 종류를 개괄적으로 봅니다.</a:t>
            </a:r>
          </a:p>
          <a:p xmlns:a="http://schemas.openxmlformats.org/drawingml/2006/main">
            <a:r>
              <a:t/>
            </a:r>
          </a:p>
          <a:p xmlns:a="http://schemas.openxmlformats.org/drawingml/2006/main">
            <a:r>
              <a:t>논리적 데이터 모델은 ERD로 표현된 개념적 구조를 데이터베이스에 저장할 형태로 표현한 논리적 구조입니다. 3장에서 배운 용어로 말하면, 데이터베이스 스키마에 해당합니다.</a:t>
            </a:r>
          </a:p>
          <a:p xmlns:a="http://schemas.openxmlformats.org/drawingml/2006/main">
            <a:r>
              <a:t/>
            </a:r>
          </a:p>
          <a:p xmlns:a="http://schemas.openxmlformats.org/drawingml/2006/main">
            <a:r>
              <a:t>세 가지 카드를 보시면:</a:t>
            </a:r>
          </a:p>
          <a:p xmlns:a="http://schemas.openxmlformats.org/drawingml/2006/main">
            <a:r>
              <a:t/>
            </a:r>
          </a:p>
          <a:p xmlns:a="http://schemas.openxmlformats.org/drawingml/2006/main">
            <a:r>
              <a:t>첫째, 관계 데이터 모델(Relational Model). 데이터를 2차원 테이블 형태로 표현합니다. 행(row)과 열(column)으로 구성된 테이블이 기본 단위예요. Oracle, MySQL, PostgreSQL 등 현재 시장의 거의 모든 DBMS가 이 모델을 사용합니다. 5장에서 본격적으로 배울 겁니다.</a:t>
            </a:r>
          </a:p>
          <a:p xmlns:a="http://schemas.openxmlformats.org/drawingml/2006/main">
            <a:r>
              <a:t/>
            </a:r>
          </a:p>
          <a:p xmlns:a="http://schemas.openxmlformats.org/drawingml/2006/main">
            <a:r>
              <a:t>둘째, 계층 데이터 모델(Hierarchical Model). 데이터를 트리(Tree) 형태로 표현합니다. 부모-자식 관계로 구성되고, 1:n 관계만 허용됩니다. n:m 관계를 직접 표현할 수 없다는 치명적인 한계가 있습니다.</a:t>
            </a:r>
          </a:p>
          <a:p xmlns:a="http://schemas.openxmlformats.org/drawingml/2006/main">
            <a:r>
              <a:t/>
            </a:r>
          </a:p>
          <a:p xmlns:a="http://schemas.openxmlformats.org/drawingml/2006/main">
            <a:r>
              <a:t>셋째, 네트워크 데이터 모델(Network Model). 데이터를 그래프(Graph) 형태로 표현합니다. 계층 모델보다 유연하지만, 역시 1:n 관계만 허용되고 구조가 복잡합니다.</a:t>
            </a:r>
          </a:p>
          <a:p xmlns:a="http://schemas.openxmlformats.org/drawingml/2006/main">
            <a:r>
              <a:t/>
            </a:r>
          </a:p>
          <a:p xmlns:a="http://schemas.openxmlformats.org/drawingml/2006/main">
            <a:r>
              <a:t>하단에 핵심 메시지: "현재 대부분의 DBMS는 관계 데이터 모델 사용 → 5장에서 본격 학습!"</a:t>
            </a:r>
          </a:p>
          <a:p xmlns:a="http://schemas.openxmlformats.org/drawingml/2006/main">
            <a:r>
              <a:t/>
            </a:r>
          </a:p>
          <a:p xmlns:a="http://schemas.openxmlformats.org/drawingml/2006/main">
            <a:r>
              <a:t>이제 각 모델을 한 장씩 더 자세히 보겠습니다. 먼저 비교표를 보고, 그 다음에 각각을 상세하게.</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세 가지 논리적 데이터 모델을 비교한 핵심 표입니다. 시험에서 "세 가지 논리적 데이터 모델을 비교하시오"라는 문제가 나오면 이 표의 내용을 쓰면 됩니다.</a:t>
            </a:r>
          </a:p>
          <a:p xmlns:a="http://schemas.openxmlformats.org/drawingml/2006/main">
            <a:r>
              <a:t/>
            </a:r>
          </a:p>
          <a:p xmlns:a="http://schemas.openxmlformats.org/drawingml/2006/main">
            <a:r>
              <a:t>표를 행별로 살펴봅시다.</a:t>
            </a:r>
          </a:p>
          <a:p xmlns:a="http://schemas.openxmlformats.org/drawingml/2006/main">
            <a:r>
              <a:t/>
            </a:r>
          </a:p>
          <a:p xmlns:a="http://schemas.openxmlformats.org/drawingml/2006/main">
            <a:r>
              <a:t>구조: 관계 모델은 2차원 테이블, 계층 모델은 트리, 네트워크 모델은 그래프. 이것이 가장 기본적인 차이입니다.</a:t>
            </a:r>
          </a:p>
          <a:p xmlns:a="http://schemas.openxmlformats.org/drawingml/2006/main">
            <a:r>
              <a:t/>
            </a:r>
          </a:p>
          <a:p xmlns:a="http://schemas.openxmlformats.org/drawingml/2006/main">
            <a:r>
              <a:t>1:1 / 1:n 지원: 세 모델 모두 지원합니다. 여기서는 차이가 없어요.</a:t>
            </a:r>
          </a:p>
          <a:p xmlns:a="http://schemas.openxmlformats.org/drawingml/2006/main">
            <a:r>
              <a:t/>
            </a:r>
          </a:p>
          <a:p xmlns:a="http://schemas.openxmlformats.org/drawingml/2006/main">
            <a:r>
              <a:t>n:m 지원: 여기서 결정적 차이가 납니다. 관계 모델만 O(가능), 나머지 두 모델은 X(불가)입니다. 관계 모델은 연결 테이블을 통해 n:m을 표현할 수 있지만, 계층 모델과 네트워크 모델은 n:m을 직접 표현할 수 없어요. 이것이 관계 모델이 승리한 가장 큰 이유 중 하나입니다. 아까 우리가 배운 학생-과목 수강 관계 같은 n:m 관계는 현실에서 매우 흔한데, 이걸 표현 못 하면 쓸모가 크게 줄어들겠죠.</a:t>
            </a:r>
          </a:p>
          <a:p xmlns:a="http://schemas.openxmlformats.org/drawingml/2006/main">
            <a:r>
              <a:t/>
            </a:r>
          </a:p>
          <a:p xmlns:a="http://schemas.openxmlformats.org/drawingml/2006/main">
            <a:r>
              <a:t>유연성: 관계 모델이 "매우 높음", 계층은 "낮음", 네트워크는 "보통". 관계 모델은 테이블 구조를 변경해도 다른 테이블에 영향을 주지 않습니다. 3장에서 배운 데이터 독립성이 여기서 실현되는 거예요.</a:t>
            </a:r>
          </a:p>
          <a:p xmlns:a="http://schemas.openxmlformats.org/drawingml/2006/main">
            <a:r>
              <a:t/>
            </a:r>
          </a:p>
          <a:p xmlns:a="http://schemas.openxmlformats.org/drawingml/2006/main">
            <a:r>
              <a:t>데이터 조작: 관계 모델은 SQL(쉬움), 나머지는 "어려움". SQL은 SELECT, INSERT, UPDATE, DELETE 네 명령어만 알면 기본적인 조작이 가능합니다. 직관적이고 배우기 쉬워요. 반면 계층/네트워크 모델은 포인터를 따라가면서 데이터를 탐색해야 하는데, 이게 정말 복잡합니다.</a:t>
            </a:r>
          </a:p>
          <a:p xmlns:a="http://schemas.openxmlformats.org/drawingml/2006/main">
            <a:r>
              <a:t/>
            </a:r>
          </a:p>
          <a:p xmlns:a="http://schemas.openxmlformats.org/drawingml/2006/main">
            <a:r>
              <a:t>현재 사용: 관계 모델은 "대부분의 DBMS", 나머지는 "거의 사용 안 함". Oracle, MySQL, PostgreSQL, SQL Server, MariaDB, SQLite... 현재 여러분이 접하는 거의 모든 DB가 관계 모델 기반입니다.</a:t>
            </a:r>
          </a:p>
          <a:p xmlns:a="http://schemas.openxmlformats.org/drawingml/2006/main">
            <a:r>
              <a:t/>
            </a:r>
          </a:p>
          <a:p xmlns:a="http://schemas.openxmlformats.org/drawingml/2006/main">
            <a:r>
              <a:t>대표 DBMS: 관계는 Oracle, MySQL. 계층은 IMS(IBM, 1960년대). 네트워크는 IDMS. IMS와 IDMS는 이제 레거시 시스템에서만 가끔 볼 수 있습니다.</a:t>
            </a:r>
          </a:p>
          <a:p xmlns:a="http://schemas.openxmlformats.org/drawingml/2006/main">
            <a:r>
              <a:t/>
            </a:r>
          </a:p>
          <a:p xmlns:a="http://schemas.openxmlformats.org/drawingml/2006/main">
            <a:r>
              <a:t>이제 각 모델을 한 장씩 더 상세히 보겠습니다.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관계 데이터 모델을 상세히 보겠습니다. 현재 표준이 되는 모델이니 가장 중요합니다.</a:t>
            </a:r>
          </a:p>
          <a:p xmlns:a="http://schemas.openxmlformats.org/drawingml/2006/main">
            <a:r>
              <a:t/>
            </a:r>
          </a:p>
          <a:p xmlns:a="http://schemas.openxmlformats.org/drawingml/2006/main">
            <a:r>
              <a:t>관계 데이터 모델(Relational Data Model)은 1970년에 IBM 연구소의 에드거 코드(Edgar F. Codd)가 "A Relational Model of Data for Large Shared Data Banks"라는 논문에서 제안했습니다. 데이터베이스 역사에서 가장 혁명적인 논문이에요. 이 논문 하나가 전체 산업의 방향을 바꿨습니다.</a:t>
            </a:r>
          </a:p>
          <a:p xmlns:a="http://schemas.openxmlformats.org/drawingml/2006/main">
            <a:r>
              <a:t/>
            </a:r>
          </a:p>
          <a:p xmlns:a="http://schemas.openxmlformats.org/drawingml/2006/main">
            <a:r>
              <a:t>핵심 아이디어: 데이터를 2차원 테이블 형태로 표현하자. 행(row)과 열(column)으로 구성된 테이블이 기본 단위입니다. 이 테이블을 전문 용어로 "릴레이션(Relation)"이라고 합니다. 5장에서 자세히 배울 거예요.</a:t>
            </a:r>
          </a:p>
          <a:p xmlns:a="http://schemas.openxmlformats.org/drawingml/2006/main">
            <a:r>
              <a:t/>
            </a:r>
          </a:p>
          <a:p xmlns:a="http://schemas.openxmlformats.org/drawingml/2006/main">
            <a:r>
              <a:t>슬라이드에 다섯 가지 핵심 특징이 나열되어 있습니다.</a:t>
            </a:r>
          </a:p>
          <a:p xmlns:a="http://schemas.openxmlformats.org/drawingml/2006/main">
            <a:r>
              <a:t/>
            </a:r>
          </a:p>
          <a:p xmlns:a="http://schemas.openxmlformats.org/drawingml/2006/main">
            <a:r>
              <a:t>첫째, 데이터를 행과 열로 구성된 테이블로 표현합니다. 엑셀 스프레드시트를 생각하시면 돼요. 직관적이고 이해하기 쉽습니다. 비전공자에게도 "이 데이터는 이 테이블에 있어요"라고 설명하면 바로 이해합니다.</a:t>
            </a:r>
          </a:p>
          <a:p xmlns:a="http://schemas.openxmlformats.org/drawingml/2006/main">
            <a:r>
              <a:t/>
            </a:r>
          </a:p>
          <a:p xmlns:a="http://schemas.openxmlformats.org/drawingml/2006/main">
            <a:r>
              <a:t>둘째, SQL(Structured Query Language)로 데이터를 조작합니다. "데이터베이스시스템" 과목의 7장에서 배울 내용인데, SELECT, INSERT, UPDATE, DELETE 네 가지 명령어가 기본입니다. "SELECT * FROM 학생 WHERE 학과='컴퓨터공학과'" — 이렇게 영어 문장처럼 읽히는 직관적인 언어예요.</a:t>
            </a:r>
          </a:p>
          <a:p xmlns:a="http://schemas.openxmlformats.org/drawingml/2006/main">
            <a:r>
              <a:t/>
            </a:r>
          </a:p>
          <a:p xmlns:a="http://schemas.openxmlformats.org/drawingml/2006/main">
            <a:r>
              <a:t>셋째, n:m 관계도 연결 테이블을 통해 표현할 수 있습니다. 아까 배운 수강 테이블(학번FK, 과목코드FK, 성적)이 바로 연결 테이블이에요. 계층/네트워크 모델에서는 이게 안 되기 때문에 관계 모델이 결정적으로 우세합니다.</a:t>
            </a:r>
          </a:p>
          <a:p xmlns:a="http://schemas.openxmlformats.org/drawingml/2006/main">
            <a:r>
              <a:t/>
            </a:r>
          </a:p>
          <a:p xmlns:a="http://schemas.openxmlformats.org/drawingml/2006/main">
            <a:r>
              <a:t>넷째, 데이터 독립성이 높아 구조 변경에 유연합니다. 학생 테이블에 "이메일" 컬럼을 추가해도 과목 테이블이나 수강 테이블에는 아무 영향이 없어요. 이것이 3장에서 배운 논리적 데이터 독립성의 실현입니다.</a:t>
            </a:r>
          </a:p>
          <a:p xmlns:a="http://schemas.openxmlformats.org/drawingml/2006/main">
            <a:r>
              <a:t/>
            </a:r>
          </a:p>
          <a:p xmlns:a="http://schemas.openxmlformats.org/drawingml/2006/main">
            <a:r>
              <a:t>다섯째, 대표 DBMS로 Oracle, MySQL, PostgreSQL, SQL Server, MariaDB 등이 있습니다. 현재 DB 시장의 95% 이상을 차지합니다.</a:t>
            </a:r>
          </a:p>
          <a:p xmlns:a="http://schemas.openxmlformats.org/drawingml/2006/main">
            <a:r>
              <a:t/>
            </a:r>
          </a:p>
          <a:p xmlns:a="http://schemas.openxmlformats.org/drawingml/2006/main">
            <a:r>
              <a:t>하단의 핵심 메시지: 5장에서 릴레이션, 키, 무결성 제약조건을 본격적으로 배우게 됩니다. 오늘은 "관계 모델이 뭔지, 왜 좋은지"를 이해하는 것이 목표입니다.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계층 데이터 모델 상세입니다. 현재는 거의 사용되지 않지만, 시험에 나올 수 있고, 왜 관계 모델이 승리했는지를 이해하기 위해 알아야 합니다.</a:t>
            </a:r>
          </a:p>
          <a:p xmlns:a="http://schemas.openxmlformats.org/drawingml/2006/main">
            <a:r>
              <a:t/>
            </a:r>
          </a:p>
          <a:p xmlns:a="http://schemas.openxmlformats.org/drawingml/2006/main">
            <a:r>
              <a:t>계층 데이터 모델(Hierarchical Data Model)은 데이터를 트리(Tree) 형태로 표현합니다. 컴퓨터의 폴더 구조를 생각하시면 됩니다. C드라이브 아래에 Users 폴더가 있고, 그 아래에 Documents, Downloads 폴더가 있고... 이런 계층 구조요.</a:t>
            </a:r>
          </a:p>
          <a:p xmlns:a="http://schemas.openxmlformats.org/drawingml/2006/main">
            <a:r>
              <a:t/>
            </a:r>
          </a:p>
          <a:p xmlns:a="http://schemas.openxmlformats.org/drawingml/2006/main">
            <a:r>
              <a:t>가장 위에 루트(Root) 노드가 있고, 아래로 부모-자식 관계로 뻗어 나갑니다. 사이클(Cycle)이 없습니다. 즉, 한번 내려간 건 다시 올라올 수 없어요.</a:t>
            </a:r>
          </a:p>
          <a:p xmlns:a="http://schemas.openxmlformats.org/drawingml/2006/main">
            <a:r>
              <a:t/>
            </a:r>
          </a:p>
          <a:p xmlns:a="http://schemas.openxmlformats.org/drawingml/2006/main">
            <a:r>
              <a:t>다섯 가지 핵심 특징을 하나씩 봅시다.</a:t>
            </a:r>
          </a:p>
          <a:p xmlns:a="http://schemas.openxmlformats.org/drawingml/2006/main">
            <a:r>
              <a:t/>
            </a:r>
          </a:p>
          <a:p xmlns:a="http://schemas.openxmlformats.org/drawingml/2006/main">
            <a:r>
              <a:t>첫째, 부모-자식 관계(상하 관계)로 구성됩니다. 1:n 관계(1:1 포함)만 허용됩니다. 부모 하나에 자식 여러 개. 회사 조직도를 생각하면 됩니다. 대표이사 → 본부장들 → 팀장들 → 팀원들.</a:t>
            </a:r>
          </a:p>
          <a:p xmlns:a="http://schemas.openxmlformats.org/drawingml/2006/main">
            <a:r>
              <a:t/>
            </a:r>
          </a:p>
          <a:p xmlns:a="http://schemas.openxmlformats.org/drawingml/2006/main">
            <a:r>
              <a:t>둘째, 그리고 이것이 가장 큰 한계인데, n:m 관계를 직접 표현할 수 없습니다. 학생-과목 수강 관계를 생각해보세요. 한 학생이 여러 과목을 수강하고, 한 과목도 여러 학생이 수강합니다. 트리 구조에서 이걸 어떻게 표현하죠? 학생 아래에 과목을 넣으면 같은 과목이 여러 학생 아래에 중복됩니다. 과목 아래에 학생을 넣어도 마찬가지. 데이터 중복이 심하게 발생해요.</a:t>
            </a:r>
          </a:p>
          <a:p xmlns:a="http://schemas.openxmlformats.org/drawingml/2006/main">
            <a:r>
              <a:t/>
            </a:r>
          </a:p>
          <a:p xmlns:a="http://schemas.openxmlformats.org/drawingml/2006/main">
            <a:r>
              <a:t>셋째, 두 개체 사이에는 하나의 관계만 정의할 수 있습니다. 예를 들어 직원과 프로젝트 사이에 "참여"와 "관리"라는 두 가지 관계가 있을 수 있는데, 트리 구조에서는 하나만 표현할 수 있어요.</a:t>
            </a:r>
          </a:p>
          <a:p xmlns:a="http://schemas.openxmlformats.org/drawingml/2006/main">
            <a:r>
              <a:t/>
            </a:r>
          </a:p>
          <a:p xmlns:a="http://schemas.openxmlformats.org/drawingml/2006/main">
            <a:r>
              <a:t>넷째, 데이터 삽입·삭제·수정·검색이 쉽지 않습니다. SQL 같은 편리한 언어가 없고, 포인터를 따라가면서 트리를 위아래로 탐색해야 합니다. 프로그래밍이 매우 복잡합니다.</a:t>
            </a:r>
          </a:p>
          <a:p xmlns:a="http://schemas.openxmlformats.org/drawingml/2006/main">
            <a:r>
              <a:t/>
            </a:r>
          </a:p>
          <a:p xmlns:a="http://schemas.openxmlformats.org/drawingml/2006/main">
            <a:r>
              <a:t>다섯째, 대표적으로 IBM의 IMS(Information Management System)가 있습니다. 1966년에 아폴로 우주 프로젝트를 위해 개발된 건데, 1960~70년대에는 주류 DBMS였어요. 현재는 일부 은행, 항공사 같은 레거시 시스템에서만 볼 수 있습니다.</a:t>
            </a:r>
          </a:p>
          <a:p xmlns:a="http://schemas.openxmlformats.org/drawingml/2006/main">
            <a:r>
              <a:t/>
            </a:r>
          </a:p>
          <a:p xmlns:a="http://schemas.openxmlformats.org/drawingml/2006/main">
            <a:r>
              <a:t>하단 정리: n:m 표현 불가 + 데이터 조작 어려움 + 구조 변경 비유연. 이 세 가지 치명적 단점 때문에 1980년대부터 관계 모델에 빠르게 대체되었습니다.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마지막으로 네트워크 데이터 모델 상세입니다.</a:t>
            </a:r>
          </a:p>
          <a:p xmlns:a="http://schemas.openxmlformats.org/drawingml/2006/main">
            <a:r>
              <a:t/>
            </a:r>
          </a:p>
          <a:p xmlns:a="http://schemas.openxmlformats.org/drawingml/2006/main">
            <a:r>
              <a:t>네트워크 데이터 모델(Network Data Model)은 데이터를 네트워크, 즉 그래프(Graph) 형태로 표현합니다. 계층 모델의 "트리 구조" 한계를 극복하기 위해 나온 모델이에요. CODASYL(Conference on Data Systems Languages)이라는 표준 위원회에서 1960년대 후반에 제안했습니다.</a:t>
            </a:r>
          </a:p>
          <a:p xmlns:a="http://schemas.openxmlformats.org/drawingml/2006/main">
            <a:r>
              <a:t/>
            </a:r>
          </a:p>
          <a:p xmlns:a="http://schemas.openxmlformats.org/drawingml/2006/main">
            <a:r>
              <a:t>핵심 차이: 계층 모델에서는 자식이 부모를 하나만 가질 수 있었지만, 네트워크 모델에서는 자식이 여러 부모를 가질 수 있습니다. 이 점에서 계층 모델보다 유연합니다.</a:t>
            </a:r>
          </a:p>
          <a:p xmlns:a="http://schemas.openxmlformats.org/drawingml/2006/main">
            <a:r>
              <a:t/>
            </a:r>
          </a:p>
          <a:p xmlns:a="http://schemas.openxmlformats.org/drawingml/2006/main">
            <a:r>
              <a:t>다섯 가지 핵심 특징을 봅시다.</a:t>
            </a:r>
          </a:p>
          <a:p xmlns:a="http://schemas.openxmlformats.org/drawingml/2006/main">
            <a:r>
              <a:t/>
            </a:r>
          </a:p>
          <a:p xmlns:a="http://schemas.openxmlformats.org/drawingml/2006/main">
            <a:r>
              <a:t>첫째, 그래프 형태로 계층 모델보다 유연한 구조입니다. 노드(개체)와 간선(관계)으로 구성됩니다. 한 노드가 여러 부모 노드와 연결될 수 있어요.</a:t>
            </a:r>
          </a:p>
          <a:p xmlns:a="http://schemas.openxmlformats.org/drawingml/2006/main">
            <a:r>
              <a:t/>
            </a:r>
          </a:p>
          <a:p xmlns:a="http://schemas.openxmlformats.org/drawingml/2006/main">
            <a:r>
              <a:t>둘째, 하지만 역시 n:m 관계를 직접 표현할 수 없습니다. 개체 간에 1:n 관계(owner-member 관계)만 허용됩니다. n:m을 표현하려면 중간에 연결 레코드를 만들어서 1:n으로 분해해야 합니다. 근본적인 한계는 계층 모델과 같아요.</a:t>
            </a:r>
          </a:p>
          <a:p xmlns:a="http://schemas.openxmlformats.org/drawingml/2006/main">
            <a:r>
              <a:t/>
            </a:r>
          </a:p>
          <a:p xmlns:a="http://schemas.openxmlformats.org/drawingml/2006/main">
            <a:r>
              <a:t>셋째, 계층 모델과 달리, 두 개체 간의 관계를 여러 개 정의할 수 있습니다. 직원-프로젝트 사이에 "참여"와 "관리" 두 관계를 이름으로 구별하여 정의할 수 있어요. 이 점에서는 계층 모델보다 진보했습니다.</a:t>
            </a:r>
          </a:p>
          <a:p xmlns:a="http://schemas.openxmlformats.org/drawingml/2006/main">
            <a:r>
              <a:t/>
            </a:r>
          </a:p>
          <a:p xmlns:a="http://schemas.openxmlformats.org/drawingml/2006/main">
            <a:r>
              <a:t>넷째, 그래프 구조이다 보니 전체적으로 구조가 복잡합니다. 데이터를 탐색할 때 그래프의 간선을 따라가야 하는데, 경로가 다양하다 보니 프로그래밍이 어렵습니다. SQL 같은 선언적 언어가 없고, 절차적으로 하나하나 탐색해야 해요.</a:t>
            </a:r>
          </a:p>
          <a:p xmlns:a="http://schemas.openxmlformats.org/drawingml/2006/main">
            <a:r>
              <a:t/>
            </a:r>
          </a:p>
          <a:p xmlns:a="http://schemas.openxmlformats.org/drawingml/2006/main">
            <a:r>
              <a:t>다섯째, 대표적으로 IDMS(Integrated Database Management System)가 있습니다. CA(Computer Associates)에서 개발했는데, 역시 현재는 레거시 시스템에서만 가끔 볼 수 있습니다.</a:t>
            </a:r>
          </a:p>
          <a:p xmlns:a="http://schemas.openxmlformats.org/drawingml/2006/main">
            <a:r>
              <a:t/>
            </a:r>
          </a:p>
          <a:p xmlns:a="http://schemas.openxmlformats.org/drawingml/2006/main">
            <a:r>
              <a:t>하단 정리: 계층 모델의 단점을 일부 보완했지만, 구조 복잡성이라는 근본적 문제를 해결하지 못했습니다. 결국 1980년대에 관계 모델이 SQL이라는 강력한 표준 언어와 함께 등장하면서, 계층/네트워크 모델 모두 빠르게 대체되었습니다.</a:t>
            </a:r>
          </a:p>
          <a:p xmlns:a="http://schemas.openxmlformats.org/drawingml/2006/main">
            <a:r>
              <a:t/>
            </a:r>
          </a:p>
          <a:p xmlns:a="http://schemas.openxmlformats.org/drawingml/2006/main">
            <a:r>
              <a:t>자, 이로써 세 가지 논리적 데이터 모델을 모두 살펴봤습니다. 결론: 관계 데이터 모델이 현재 표준. 계층과 네트워크는 역사적 의의만 있다. 5장부터 관계 데이터 모델을 본격적으로 배운다.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4장 전체를 정리하겠습니다. 다섯 가지 핵심 포인트입니다. 각각 한 줄로 정리합니다.</a:t>
            </a:r>
          </a:p>
          <a:p xmlns:a="http://schemas.openxmlformats.org/drawingml/2006/main">
            <a:r>
              <a:t/>
            </a:r>
          </a:p>
          <a:p xmlns:a="http://schemas.openxmlformats.org/drawingml/2006/main">
            <a:r>
              <a:t>첫째, 데이터 모델링은 현실 세계의 데이터를 DB로 옮기는 과정이다. 개념적 모델링(도구: ER 모델)과 논리적 모델링(도구: 관계 데이터 모델) 2단계로 진행된다.</a:t>
            </a:r>
          </a:p>
          <a:p xmlns:a="http://schemas.openxmlformats.org/drawingml/2006/main">
            <a:r>
              <a:t/>
            </a:r>
          </a:p>
          <a:p xmlns:a="http://schemas.openxmlformats.org/drawingml/2006/main">
            <a:r>
              <a:t>둘째, ER 모델의 3요소: 개체(사각형) + 속성(타원) + 관계(마름모). 암기법 "개속관", "사타마".</a:t>
            </a:r>
          </a:p>
          <a:p xmlns:a="http://schemas.openxmlformats.org/drawingml/2006/main">
            <a:r>
              <a:t/>
            </a:r>
          </a:p>
          <a:p xmlns:a="http://schemas.openxmlformats.org/drawingml/2006/main">
            <a:r>
              <a:t>셋째, 속성은 다양하게 분류된다. 단일 값/다중 값(이중 타원), 단순/복합(가지형), 유도(점선 타원), null, key(밑줄). 이 분류와 ERD 표현을 반드시 외우세요.</a:t>
            </a:r>
          </a:p>
          <a:p xmlns:a="http://schemas.openxmlformats.org/drawingml/2006/main">
            <a:r>
              <a:t/>
            </a:r>
          </a:p>
          <a:p xmlns:a="http://schemas.openxmlformats.org/drawingml/2006/main">
            <a:r>
              <a:t>넷째, 관계의 유형: 1:1(드묾), 1:n(가장 많음), n:m(연결 테이블 필요). 참여 특성: 필수적(이중선)/선택적(단선). 종속성: 강한 개체(사각형)/약한 개체(이중 사각형+이중 마름모).</a:t>
            </a:r>
          </a:p>
          <a:p xmlns:a="http://schemas.openxmlformats.org/drawingml/2006/main">
            <a:r>
              <a:t/>
            </a:r>
          </a:p>
          <a:p xmlns:a="http://schemas.openxmlformats.org/drawingml/2006/main">
            <a:r>
              <a:t>다섯째, 논리적 데이터 모델: 관계형(테이블, SQL, n:m 가능), 계층형(트리, n:m 불가), 네트워크(그래프, 구조 복잡). 현재 관계형이 표준.</a:t>
            </a:r>
          </a:p>
          <a:p xmlns:a="http://schemas.openxmlformats.org/drawingml/2006/main">
            <a:r>
              <a:t/>
            </a:r>
          </a:p>
          <a:p xmlns:a="http://schemas.openxmlformats.org/drawingml/2006/main">
            <a:r>
              <a:t>다음 시간에는 4장 연습문제 풀이를 하겠습니다. 오늘 배운 ER 모델과 ERD를 반드시 복습하고 오세요. 특히 ERD를 직접 그리는 연습을 해오시면 좋겠습니다. 학교 수강신청 시스템, 도서관 대출 시스템, 음식 배달 앱 등 여러분이 잘 아는 시스템 하나를 골라서 개체, 속성, 관계를 식별해보고 ERD를 그려보세요.</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xmlns:a="http://schemas.openxmlformats.org/drawingml/2006/main">
            <a:r>
              <a:t>시험 대비 체크리스트를 정리해드리겠습니다. 하나씩 읽어볼게요. 각 항목에 "예"라고 답할 수 있는지 스스로 점검해보세요.</a:t>
            </a:r>
          </a:p>
          <a:p xmlns:a="http://schemas.openxmlformats.org/drawingml/2006/main">
            <a:r>
              <a:t/>
            </a:r>
          </a:p>
          <a:p xmlns:a="http://schemas.openxmlformats.org/drawingml/2006/main">
            <a:r>
              <a:t>데이터 모델링의 정의와 2단계를 설명할 수 있는가? 개념적 모델링은 ER 모델, 논리적 모델링은 관계 데이터 모델. 이 짝을 외워야 합니다.</a:t>
            </a:r>
          </a:p>
          <a:p xmlns:a="http://schemas.openxmlformats.org/drawingml/2006/main">
            <a:r>
              <a:t/>
            </a:r>
          </a:p>
          <a:p xmlns:a="http://schemas.openxmlformats.org/drawingml/2006/main">
            <a:r>
              <a:t>데이터 모델의 구성 요소 세 가지를 쓸 수 있는가? 구조, 연산, 제약조건. 암기법 "구연제".</a:t>
            </a:r>
          </a:p>
          <a:p xmlns:a="http://schemas.openxmlformats.org/drawingml/2006/main">
            <a:r>
              <a:t/>
            </a:r>
          </a:p>
          <a:p xmlns:a="http://schemas.openxmlformats.org/drawingml/2006/main">
            <a:r>
              <a:t>ER 모델의 3요소와 ERD 기호를 아는가? 개체는 사각형, 속성은 타원, 관계는 마름모. 암기법 "개속관", "사타마".</a:t>
            </a:r>
          </a:p>
          <a:p xmlns:a="http://schemas.openxmlformats.org/drawingml/2006/main">
            <a:r>
              <a:t/>
            </a:r>
          </a:p>
          <a:p xmlns:a="http://schemas.openxmlformats.org/drawingml/2006/main">
            <a:r>
              <a:t>속성 분류를 각각 설명하고 ERD 표현을 그릴 수 있는가? 단일 값/다중 값(이중 타원), 단순/복합(가지형), 유도(점선 타원), null, key(밑줄). 이 일곱 가지를 구분할 수 있어야 합니다.</a:t>
            </a:r>
          </a:p>
          <a:p xmlns:a="http://schemas.openxmlformats.org/drawingml/2006/main">
            <a:r>
              <a:t/>
            </a:r>
          </a:p>
          <a:p xmlns:a="http://schemas.openxmlformats.org/drawingml/2006/main">
            <a:r>
              <a:t>매핑 카디널리티 3유형을 구분할 수 있는가? 1:1(일대일), 1:n(일대다), n:m(다대다). 질문법으로 판별할 수 있는가? "A 하나→B 몇 개?" + "B 하나→A 몇 개?"</a:t>
            </a:r>
          </a:p>
          <a:p xmlns:a="http://schemas.openxmlformats.org/drawingml/2006/main">
            <a:r>
              <a:t/>
            </a:r>
          </a:p>
          <a:p xmlns:a="http://schemas.openxmlformats.org/drawingml/2006/main">
            <a:r>
              <a:t>필수적 참여와 선택적 참여의 차이를 설명하고 ERD 표현을 알고 있는가? 필수=이중선, 선택=단선.</a:t>
            </a:r>
          </a:p>
          <a:p xmlns:a="http://schemas.openxmlformats.org/drawingml/2006/main">
            <a:r>
              <a:t/>
            </a:r>
          </a:p>
          <a:p xmlns:a="http://schemas.openxmlformats.org/drawingml/2006/main">
            <a:r>
              <a:t>강한 개체와 약한 개체를 설명할 수 있는가? 약한 개체=이중 사각형, 약한 개체와의 관계=이중 마름모.</a:t>
            </a:r>
          </a:p>
          <a:p xmlns:a="http://schemas.openxmlformats.org/drawingml/2006/main">
            <a:r>
              <a:t/>
            </a:r>
          </a:p>
          <a:p xmlns:a="http://schemas.openxmlformats.org/drawingml/2006/main">
            <a:r>
              <a:t>주어진 시나리오에서 개체, 속성, 관계를 식별하여 ERD를 직접 그릴 수 있는가? 이것이 가장 어렵고 가장 중요한 능력입니다. 명사→개체, 동사→관계, 질문법→카디널리티.</a:t>
            </a:r>
          </a:p>
          <a:p xmlns:a="http://schemas.openxmlformats.org/drawingml/2006/main">
            <a:r>
              <a:t/>
            </a:r>
          </a:p>
          <a:p xmlns:a="http://schemas.openxmlformats.org/drawingml/2006/main">
            <a:r>
              <a:t>세 가지 논리적 데이터 모델을 비교할 수 있는가? 관계형(테이블, SQL, n:m 가능), 계층형(트리, n:m 불가), 네트워크(그래프, 복잡). 핵심 차이는 n:m 지원 여부.</a:t>
            </a:r>
          </a:p>
          <a:p xmlns:a="http://schemas.openxmlformats.org/drawingml/2006/main">
            <a:r>
              <a:t/>
            </a:r>
          </a:p>
          <a:p xmlns:a="http://schemas.openxmlformats.org/drawingml/2006/main">
            <a:r>
              <a:t>이 체크리스트에 모두 "예"라고 답할 수 있으면 4장은 완벽하게 마스터한 겁니다.</a:t>
            </a:r>
          </a:p>
          <a:p xmlns:a="http://schemas.openxmlformats.org/drawingml/2006/main">
            <a:r>
              <a:t/>
            </a:r>
          </a:p>
          <a:p xmlns:a="http://schemas.openxmlformats.org/drawingml/2006/main">
            <a:r>
              <a:t>오늘 5시간 동안 정말 수고 많으셨습니다. 내용이 많았지만 핵심은 ER 모델과 ERD입니다. 복습할 때 ERD 기호 표와 속성 분류표를 먼저 외우고, 그 다음에 예제 ERD를 직접 그려보는 순서로 하시면 효율적입니다.</a:t>
            </a:r>
          </a:p>
          <a:p xmlns:a="http://schemas.openxmlformats.org/drawingml/2006/main">
            <a:r>
              <a:t/>
            </a:r>
          </a:p>
          <a:p xmlns:a="http://schemas.openxmlformats.org/drawingml/2006/main">
            <a:r>
              <a:t>질문 있으신 분은 앞으로 오시면 답해드리겠습니다. 감사합니다.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Relationship Id="rId1" Type="http://schemas.openxmlformats.org/officeDocument/2006/relationships/notesSlide" Target="../notesSlides/notesSlide10.xml"  /><Relationship Id="rId2" Type="http://schemas.openxmlformats.org/officeDocument/2006/relationships/slideLayout" Target="../slideLayouts/slideLayout1.xml"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1.xml"  /><Relationship Id="rId3" Type="http://schemas.openxmlformats.org/officeDocument/2006/relationships/image" Target="../media/image2.jpeg"  /></Relationships>
</file>

<file path=ppt/slides/_rels/slide12.xml.rels><?xml version="1.0" encoding="UTF-8" standalone="yes" ?><Relationships xmlns="http://schemas.openxmlformats.org/package/2006/relationships"><Relationship Id="rId1" Type="http://schemas.openxmlformats.org/officeDocument/2006/relationships/notesSlide" Target="../notesSlides/notesSlide12.xml"  /><Relationship Id="rId2" Type="http://schemas.openxmlformats.org/officeDocument/2006/relationships/slideLayout" Target="../slideLayouts/slideLayout1.xml"  /><Relationship Id="rId3" Type="http://schemas.openxmlformats.org/officeDocument/2006/relationships/image" Target="../media/image3.jpeg"  /><Relationship Id="rId4" Type="http://schemas.openxmlformats.org/officeDocument/2006/relationships/image" Target="../media/image4.jpeg"  /></Relationships>
</file>

<file path=ppt/slides/_rels/slide13.xml.rels><?xml version="1.0" encoding="UTF-8" standalone="yes" ?><Relationships xmlns="http://schemas.openxmlformats.org/package/2006/relationships"><Relationship Id="rId1" Type="http://schemas.openxmlformats.org/officeDocument/2006/relationships/notesSlide" Target="../notesSlides/notesSlide13.xml"  /><Relationship Id="rId2" Type="http://schemas.openxmlformats.org/officeDocument/2006/relationships/slideLayout" Target="../slideLayouts/slideLayout1.xml"  /><Relationship Id="rId3" Type="http://schemas.openxmlformats.org/officeDocument/2006/relationships/image" Target="../media/image5.jpeg"  /></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5.xml"  /><Relationship Id="rId3" Type="http://schemas.openxmlformats.org/officeDocument/2006/relationships/image" Target="../media/image6.jpeg"  /></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6.xml"  /><Relationship Id="rId3" Type="http://schemas.openxmlformats.org/officeDocument/2006/relationships/image" Target="../media/image7.jpeg"  /></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7.xml"  /><Relationship Id="rId3" Type="http://schemas.openxmlformats.org/officeDocument/2006/relationships/image" Target="../media/image8.jpeg"  /></Relationships>
</file>

<file path=ppt/slides/_rels/slide18.xml.rels><?xml version="1.0" encoding="UTF-8" standalone="yes" ?><Relationships xmlns="http://schemas.openxmlformats.org/package/2006/relationships"><Relationship Id="rId1" Type="http://schemas.openxmlformats.org/officeDocument/2006/relationships/notesSlide" Target="../notesSlides/notesSlide18.xml"  /><Relationship Id="rId2" Type="http://schemas.openxmlformats.org/officeDocument/2006/relationships/slideLayout" Target="../slideLayouts/slideLayout1.xml"  /><Relationship Id="rId3" Type="http://schemas.openxmlformats.org/officeDocument/2006/relationships/image" Target="../media/image9.jpeg"  /><Relationship Id="rId4" Type="http://schemas.openxmlformats.org/officeDocument/2006/relationships/image" Target="../media/image10.jpeg"  /></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9.xml"  /><Relationship Id="rId2" Type="http://schemas.openxmlformats.org/officeDocument/2006/relationships/slideLayout" Target="../slideLayouts/slideLayout1.xml"  /><Relationship Id="rId3" Type="http://schemas.openxmlformats.org/officeDocument/2006/relationships/image" Target="../media/image9.jpeg"  /><Relationship Id="rId4" Type="http://schemas.openxmlformats.org/officeDocument/2006/relationships/image" Target="../media/image10.jpeg"  /></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0.xml"  /></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1.xml"  /><Relationship Id="rId3" Type="http://schemas.openxmlformats.org/officeDocument/2006/relationships/image" Target="../media/image11.jpeg"  /></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29.xml"  /><Relationship Id="rId3" Type="http://schemas.openxmlformats.org/officeDocument/2006/relationships/image" Target="../media/image12.png"  /></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30.xml"  /><Relationship Id="rId3"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0"/>
            <a:ext cx="54864" cy="5143500"/>
          </a:xfrm>
          <a:prstGeom prst="rect">
            <a:avLst/>
          </a:prstGeom>
          <a:solidFill>
            <a:srgbClr val="0891B2"/>
          </a:solidFill>
          <a:ln/>
        </p:spPr>
      </p:sp>
      <p:sp>
        <p:nvSpPr>
          <p:cNvPr id="5" name="Text 3"/>
          <p:cNvSpPr/>
          <p:nvPr/>
        </p:nvSpPr>
        <p:spPr>
          <a:xfrm>
            <a:off x="731520" y="457200"/>
            <a:ext cx="5486400" cy="457200"/>
          </a:xfrm>
          <a:prstGeom prst="rect">
            <a:avLst/>
          </a:prstGeom>
          <a:noFill/>
          <a:ln/>
        </p:spPr>
        <p:txBody>
          <a:bodyPr wrap="square" rtlCol="0" anchor="ctr"/>
          <a:lstStyle/>
          <a:p>
            <a:pPr marL="0" indent="0">
              <a:buNone/>
            </a:pPr>
            <a:r>
              <a:rPr lang="en-US" sz="1400" kern="0" spc="400" dirty="0">
                <a:solidFill>
                  <a:srgbClr val="22D3EE"/>
                </a:solidFill>
                <a:latin typeface="Arial" pitchFamily="34" charset="0"/>
                <a:ea typeface="Arial" pitchFamily="34" charset="-122"/>
                <a:cs typeface="Arial" pitchFamily="34" charset="-120"/>
              </a:rPr>
              <a:t>C H A P T E R   04</a:t>
            </a:r>
            <a:endParaRPr lang="en-US" sz="1400" dirty="0"/>
          </a:p>
        </p:txBody>
      </p:sp>
      <p:sp>
        <p:nvSpPr>
          <p:cNvPr id="6" name="Text 4"/>
          <p:cNvSpPr/>
          <p:nvPr/>
        </p:nvSpPr>
        <p:spPr>
          <a:xfrm>
            <a:off x="731520" y="1005840"/>
            <a:ext cx="6400800" cy="1371600"/>
          </a:xfrm>
          <a:prstGeom prst="rect">
            <a:avLst/>
          </a:prstGeom>
          <a:noFill/>
          <a:ln/>
        </p:spPr>
        <p:txBody>
          <a:bodyPr wrap="square" lIns="0" tIns="0" rIns="0" bIns="0" rtlCol="0" anchor="ctr"/>
          <a:lstStyle/>
          <a:p>
            <a:pPr marL="0" indent="0">
              <a:buNone/>
            </a:pPr>
            <a:r>
              <a:rPr lang="en-US" sz="4800" b="1" dirty="0">
                <a:solidFill>
                  <a:srgbClr val="FFFFFF"/>
                </a:solidFill>
                <a:latin typeface="맑은 고딕" pitchFamily="34" charset="0"/>
                <a:ea typeface="맑은 고딕" pitchFamily="34" charset="-122"/>
                <a:cs typeface="맑은 고딕" pitchFamily="34" charset="-120"/>
              </a:rPr>
              <a:t>데이터 모델링</a:t>
            </a:r>
            <a:endParaRPr lang="en-US" sz="4800" dirty="0"/>
          </a:p>
        </p:txBody>
      </p:sp>
      <p:sp>
        <p:nvSpPr>
          <p:cNvPr id="7" name="Text 5"/>
          <p:cNvSpPr/>
          <p:nvPr/>
        </p:nvSpPr>
        <p:spPr>
          <a:xfrm>
            <a:off x="731520" y="2468880"/>
            <a:ext cx="5486400" cy="457200"/>
          </a:xfrm>
          <a:prstGeom prst="rect">
            <a:avLst/>
          </a:prstGeom>
          <a:noFill/>
          <a:ln/>
        </p:spPr>
        <p:txBody>
          <a:bodyPr wrap="square" rtlCol="0" anchor="ctr"/>
          <a:lstStyle/>
          <a:p>
            <a:pPr marL="0" indent="0">
              <a:buNone/>
            </a:pPr>
            <a:r>
              <a:rPr lang="en-US" sz="1600" i="1" dirty="0">
                <a:solidFill>
                  <a:srgbClr val="94A3B8"/>
                </a:solidFill>
                <a:latin typeface="Arial" pitchFamily="34" charset="0"/>
                <a:ea typeface="Arial" pitchFamily="34" charset="-122"/>
                <a:cs typeface="Arial" pitchFamily="34" charset="-120"/>
              </a:rPr>
              <a:t>Data Modeling</a:t>
            </a:r>
            <a:endParaRPr lang="en-US" sz="1600" dirty="0"/>
          </a:p>
        </p:txBody>
      </p:sp>
      <p:sp>
        <p:nvSpPr>
          <p:cNvPr id="8" name="Shape 6"/>
          <p:cNvSpPr/>
          <p:nvPr/>
        </p:nvSpPr>
        <p:spPr>
          <a:xfrm>
            <a:off x="731520" y="3108960"/>
            <a:ext cx="2286000" cy="36576"/>
          </a:xfrm>
          <a:prstGeom prst="rect">
            <a:avLst/>
          </a:prstGeom>
          <a:solidFill>
            <a:srgbClr val="0891B2"/>
          </a:solidFill>
          <a:ln/>
        </p:spPr>
      </p:sp>
      <p:sp>
        <p:nvSpPr>
          <p:cNvPr id="9" name="Text 7"/>
          <p:cNvSpPr/>
          <p:nvPr/>
        </p:nvSpPr>
        <p:spPr>
          <a:xfrm>
            <a:off x="731520" y="3383280"/>
            <a:ext cx="4572000" cy="822960"/>
          </a:xfrm>
          <a:prstGeom prst="rect">
            <a:avLst/>
          </a:prstGeom>
          <a:noFill/>
          <a:ln/>
        </p:spPr>
        <p:txBody>
          <a:bodyPr wrap="square" rtlCol="0" anchor="ctr"/>
          <a:lstStyle/>
          <a:p>
            <a:pPr marL="0" indent="0">
              <a:buNone/>
            </a:pPr>
            <a:r>
              <a:rPr lang="en-US" sz="1600" b="1" dirty="0">
                <a:solidFill>
                  <a:srgbClr val="FFFFFF"/>
                </a:solidFill>
                <a:latin typeface="맑은 고딕" pitchFamily="34" charset="0"/>
                <a:ea typeface="맑은 고딕" pitchFamily="34" charset="-122"/>
                <a:cs typeface="맑은 고딕" pitchFamily="34" charset="-120"/>
              </a:rPr>
              <a:t>박상돈 조교수</a:t>
            </a:r>
            <a:endParaRPr lang="en-US" sz="1600" dirty="0"/>
          </a:p>
          <a:p>
            <a:pPr marL="0" indent="0">
              <a:buNone/>
            </a:pPr>
            <a:r>
              <a:rPr lang="en-US" sz="1200" dirty="0">
                <a:solidFill>
                  <a:srgbClr val="94A3B8"/>
                </a:solidFill>
                <a:latin typeface="Calibri" pitchFamily="34" charset="0"/>
                <a:ea typeface="Calibri" pitchFamily="34" charset="-122"/>
                <a:cs typeface="Calibri" pitchFamily="34" charset="-120"/>
              </a:rPr>
              <a:t>대전대학교 컴퓨터공학과</a:t>
            </a:r>
            <a:endParaRPr lang="en-US" sz="1600" dirty="0"/>
          </a:p>
        </p:txBody>
      </p:sp>
      <p:pic>
        <p:nvPicPr>
          <p:cNvPr id="10" name="Image 0" descr="preencoded.png"/>
          <p:cNvPicPr>
            <a:picLocks noChangeAspect="1"/>
          </p:cNvPicPr>
          <p:nvPr/>
        </p:nvPicPr>
        <p:blipFill>
          <a:blip r:embed="rId3"/>
          <a:stretch>
            <a:fillRect/>
          </a:stretch>
        </p:blipFill>
        <p:spPr>
          <a:xfrm>
            <a:off x="7132320" y="914400"/>
            <a:ext cx="1371600" cy="1371600"/>
          </a:xfrm>
          <a:prstGeom prst="rect">
            <a:avLst/>
          </a:prstGeom>
        </p:spPr>
      </p:pic>
      <p:sp>
        <p:nvSpPr>
          <p:cNvPr id="11" name="Shape 8"/>
          <p:cNvSpPr/>
          <p:nvPr/>
        </p:nvSpPr>
        <p:spPr>
          <a:xfrm>
            <a:off x="7589520" y="3474720"/>
            <a:ext cx="1645920" cy="1645920"/>
          </a:xfrm>
          <a:prstGeom prst="line">
            <a:avLst/>
          </a:prstGeom>
          <a:solidFill>
            <a:srgbClr val="0891B2">
              <a:alpha val="3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274320"/>
            <a:ext cx="4572000" cy="365760"/>
          </a:xfrm>
          <a:prstGeom prst="rect">
            <a:avLst/>
          </a:prstGeom>
          <a:noFill/>
          <a:ln/>
        </p:spPr>
        <p:txBody>
          <a:bodyPr wrap="square" rtlCol="0" anchor="ctr"/>
          <a:lstStyle/>
          <a:p>
            <a:pPr marL="0" indent="0">
              <a:buNone/>
            </a:pPr>
            <a:r>
              <a:rPr lang="en-US" sz="1200" kern="0" spc="400" dirty="0">
                <a:solidFill>
                  <a:srgbClr val="0891B2"/>
                </a:solidFill>
                <a:latin typeface="Arial" pitchFamily="34" charset="0"/>
                <a:ea typeface="Arial" pitchFamily="34" charset="-122"/>
                <a:cs typeface="Arial" pitchFamily="34" charset="-120"/>
              </a:rPr>
              <a:t>C O N T E N T S</a:t>
            </a:r>
            <a:endParaRPr lang="en-US" sz="1200" dirty="0"/>
          </a:p>
        </p:txBody>
      </p:sp>
      <p:sp>
        <p:nvSpPr>
          <p:cNvPr id="5" name="Text 3"/>
          <p:cNvSpPr/>
          <p:nvPr/>
        </p:nvSpPr>
        <p:spPr>
          <a:xfrm>
            <a:off x="731520" y="594360"/>
            <a:ext cx="2743200" cy="640080"/>
          </a:xfrm>
          <a:prstGeom prst="rect">
            <a:avLst/>
          </a:prstGeom>
          <a:noFill/>
          <a:ln/>
        </p:spPr>
        <p:txBody>
          <a:bodyPr wrap="square" lIns="0" tIns="0" rIns="0" bIns="0" rtlCol="0" anchor="ctr"/>
          <a:lstStyle/>
          <a:p>
            <a:pPr marL="0" indent="0">
              <a:buNone/>
            </a:pPr>
            <a:r>
              <a:rPr lang="en-US" sz="3600" b="1" dirty="0">
                <a:solidFill>
                  <a:srgbClr val="1A2744"/>
                </a:solidFill>
                <a:latin typeface="맑은 고딕" pitchFamily="34" charset="0"/>
                <a:ea typeface="맑은 고딕" pitchFamily="34" charset="-122"/>
                <a:cs typeface="맑은 고딕" pitchFamily="34" charset="-120"/>
              </a:rPr>
              <a:t>목차</a:t>
            </a:r>
            <a:endParaRPr lang="en-US" sz="3600" dirty="0"/>
          </a:p>
        </p:txBody>
      </p:sp>
      <p:sp>
        <p:nvSpPr>
          <p:cNvPr id="6" name="Shape 4"/>
          <p:cNvSpPr/>
          <p:nvPr/>
        </p:nvSpPr>
        <p:spPr>
          <a:xfrm>
            <a:off x="731520" y="1417320"/>
            <a:ext cx="3749040" cy="1005840"/>
          </a:xfrm>
          <a:prstGeom prst="rect">
            <a:avLst/>
          </a:prstGeom>
          <a:solidFill>
            <a:srgbClr val="FFFFFF"/>
          </a:solidFill>
          <a:ln/>
          <a:effectLst>
            <a:outerShdw blurRad="76200" dist="25400" dir="8100000" algn="bl" rotWithShape="0">
              <a:srgbClr val="000000">
                <a:alpha val="12000"/>
              </a:srgbClr>
            </a:outerShdw>
          </a:effectLst>
        </p:spPr>
      </p:sp>
      <p:sp>
        <p:nvSpPr>
          <p:cNvPr id="7" name="Shape 5"/>
          <p:cNvSpPr/>
          <p:nvPr/>
        </p:nvSpPr>
        <p:spPr>
          <a:xfrm>
            <a:off x="731520" y="1417320"/>
            <a:ext cx="54864" cy="1005840"/>
          </a:xfrm>
          <a:prstGeom prst="rect">
            <a:avLst/>
          </a:prstGeom>
          <a:solidFill>
            <a:srgbClr val="0891B2"/>
          </a:solidFill>
          <a:ln/>
        </p:spPr>
      </p:sp>
      <p:sp>
        <p:nvSpPr>
          <p:cNvPr id="8" name="Text 6"/>
          <p:cNvSpPr/>
          <p:nvPr/>
        </p:nvSpPr>
        <p:spPr>
          <a:xfrm>
            <a:off x="914400" y="1554480"/>
            <a:ext cx="640080" cy="731520"/>
          </a:xfrm>
          <a:prstGeom prst="rect">
            <a:avLst/>
          </a:prstGeom>
          <a:noFill/>
          <a:ln/>
        </p:spPr>
        <p:txBody>
          <a:bodyPr wrap="square" rtlCol="0" anchor="ctr"/>
          <a:lstStyle/>
          <a:p>
            <a:pPr marL="0" indent="0">
              <a:buNone/>
            </a:pPr>
            <a:r>
              <a:rPr lang="en-US" sz="2800" b="1" dirty="0">
                <a:solidFill>
                  <a:srgbClr val="0891B2"/>
                </a:solidFill>
                <a:latin typeface="Arial Black" pitchFamily="34" charset="0"/>
                <a:ea typeface="Arial Black" pitchFamily="34" charset="-122"/>
                <a:cs typeface="Arial Black" pitchFamily="34" charset="-120"/>
              </a:rPr>
              <a:t>01</a:t>
            </a:r>
            <a:endParaRPr lang="en-US" sz="2800" dirty="0"/>
          </a:p>
        </p:txBody>
      </p:sp>
      <p:sp>
        <p:nvSpPr>
          <p:cNvPr id="9" name="Text 7"/>
          <p:cNvSpPr/>
          <p:nvPr/>
        </p:nvSpPr>
        <p:spPr>
          <a:xfrm>
            <a:off x="1600200" y="1554480"/>
            <a:ext cx="2651760" cy="411480"/>
          </a:xfrm>
          <a:prstGeom prst="rect">
            <a:avLst/>
          </a:prstGeom>
          <a:noFill/>
          <a:ln/>
        </p:spPr>
        <p:txBody>
          <a:bodyPr wrap="square" rtlCol="0" anchor="ctr"/>
          <a:lstStyle/>
          <a:p>
            <a:pPr marL="0" indent="0">
              <a:buNone/>
            </a:pPr>
            <a:r>
              <a:rPr lang="en-US" sz="1400" b="1" dirty="0">
                <a:solidFill>
                  <a:srgbClr val="1A2744"/>
                </a:solidFill>
                <a:latin typeface="맑은 고딕" pitchFamily="34" charset="0"/>
                <a:ea typeface="맑은 고딕" pitchFamily="34" charset="-122"/>
                <a:cs typeface="맑은 고딕" pitchFamily="34" charset="-120"/>
              </a:rPr>
              <a:t>데이터 모델링의 개념</a:t>
            </a:r>
            <a:endParaRPr lang="en-US" sz="1400" dirty="0"/>
          </a:p>
        </p:txBody>
      </p:sp>
      <p:sp>
        <p:nvSpPr>
          <p:cNvPr id="10" name="Text 8"/>
          <p:cNvSpPr/>
          <p:nvPr/>
        </p:nvSpPr>
        <p:spPr>
          <a:xfrm>
            <a:off x="1600200" y="1965960"/>
            <a:ext cx="2651760" cy="36576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2단계 모델링, 데이터 모델 구성</a:t>
            </a:r>
            <a:endParaRPr lang="en-US" sz="1000" dirty="0"/>
          </a:p>
        </p:txBody>
      </p:sp>
      <p:sp>
        <p:nvSpPr>
          <p:cNvPr id="11" name="Shape 9"/>
          <p:cNvSpPr/>
          <p:nvPr/>
        </p:nvSpPr>
        <p:spPr>
          <a:xfrm>
            <a:off x="731520" y="2606040"/>
            <a:ext cx="3749040" cy="100584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731520" y="2606040"/>
            <a:ext cx="54864" cy="1005840"/>
          </a:xfrm>
          <a:prstGeom prst="rect">
            <a:avLst/>
          </a:prstGeom>
          <a:solidFill>
            <a:srgbClr val="0891B2"/>
          </a:solidFill>
          <a:ln/>
        </p:spPr>
      </p:sp>
      <p:sp>
        <p:nvSpPr>
          <p:cNvPr id="13" name="Text 11"/>
          <p:cNvSpPr/>
          <p:nvPr/>
        </p:nvSpPr>
        <p:spPr>
          <a:xfrm>
            <a:off x="914400" y="2743200"/>
            <a:ext cx="640080" cy="731520"/>
          </a:xfrm>
          <a:prstGeom prst="rect">
            <a:avLst/>
          </a:prstGeom>
          <a:noFill/>
          <a:ln/>
        </p:spPr>
        <p:txBody>
          <a:bodyPr wrap="square" rtlCol="0" anchor="ctr"/>
          <a:lstStyle/>
          <a:p>
            <a:pPr marL="0" indent="0">
              <a:buNone/>
            </a:pPr>
            <a:r>
              <a:rPr lang="en-US" sz="2800" b="1" dirty="0">
                <a:solidFill>
                  <a:srgbClr val="0891B2"/>
                </a:solidFill>
                <a:latin typeface="Arial Black" pitchFamily="34" charset="0"/>
                <a:ea typeface="Arial Black" pitchFamily="34" charset="-122"/>
                <a:cs typeface="Arial Black" pitchFamily="34" charset="-120"/>
              </a:rPr>
              <a:t>02</a:t>
            </a:r>
            <a:endParaRPr lang="en-US" sz="2800" dirty="0"/>
          </a:p>
        </p:txBody>
      </p:sp>
      <p:sp>
        <p:nvSpPr>
          <p:cNvPr id="14" name="Text 12"/>
          <p:cNvSpPr/>
          <p:nvPr/>
        </p:nvSpPr>
        <p:spPr>
          <a:xfrm>
            <a:off x="1600200" y="2743200"/>
            <a:ext cx="2651760" cy="411480"/>
          </a:xfrm>
          <a:prstGeom prst="rect">
            <a:avLst/>
          </a:prstGeom>
          <a:noFill/>
          <a:ln/>
        </p:spPr>
        <p:txBody>
          <a:bodyPr wrap="square" rtlCol="0" anchor="ctr"/>
          <a:lstStyle/>
          <a:p>
            <a:pPr marL="0" indent="0">
              <a:buNone/>
            </a:pPr>
            <a:r>
              <a:rPr lang="en-US" sz="1400" b="1" dirty="0">
                <a:solidFill>
                  <a:srgbClr val="1A2744"/>
                </a:solidFill>
                <a:latin typeface="맑은 고딕" pitchFamily="34" charset="0"/>
                <a:ea typeface="맑은 고딕" pitchFamily="34" charset="-122"/>
                <a:cs typeface="맑은 고딕" pitchFamily="34" charset="-120"/>
              </a:rPr>
              <a:t>개체-관계 모델 (ER Model)</a:t>
            </a:r>
            <a:endParaRPr lang="en-US" sz="1400" dirty="0"/>
          </a:p>
        </p:txBody>
      </p:sp>
      <p:sp>
        <p:nvSpPr>
          <p:cNvPr id="15" name="Text 13"/>
          <p:cNvSpPr/>
          <p:nvPr/>
        </p:nvSpPr>
        <p:spPr>
          <a:xfrm>
            <a:off x="1600200" y="3154680"/>
            <a:ext cx="2651760" cy="36576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개체, 속성, 관계, ERD</a:t>
            </a:r>
            <a:endParaRPr lang="en-US" sz="1000" dirty="0"/>
          </a:p>
        </p:txBody>
      </p:sp>
      <p:sp>
        <p:nvSpPr>
          <p:cNvPr id="16" name="Shape 14"/>
          <p:cNvSpPr/>
          <p:nvPr/>
        </p:nvSpPr>
        <p:spPr>
          <a:xfrm>
            <a:off x="4663440" y="1417320"/>
            <a:ext cx="3749040" cy="1005840"/>
          </a:xfrm>
          <a:prstGeom prst="rect">
            <a:avLst/>
          </a:prstGeom>
          <a:solidFill>
            <a:srgbClr val="FFFFFF"/>
          </a:solidFill>
          <a:ln/>
          <a:effectLst>
            <a:outerShdw blurRad="76200" dist="25400" dir="8100000" algn="bl" rotWithShape="0">
              <a:srgbClr val="000000">
                <a:alpha val="12000"/>
              </a:srgbClr>
            </a:outerShdw>
          </a:effectLst>
        </p:spPr>
      </p:sp>
      <p:sp>
        <p:nvSpPr>
          <p:cNvPr id="17" name="Shape 15"/>
          <p:cNvSpPr/>
          <p:nvPr/>
        </p:nvSpPr>
        <p:spPr>
          <a:xfrm>
            <a:off x="4663440" y="1417320"/>
            <a:ext cx="54864" cy="1005840"/>
          </a:xfrm>
          <a:prstGeom prst="rect">
            <a:avLst/>
          </a:prstGeom>
          <a:solidFill>
            <a:srgbClr val="0891B2"/>
          </a:solidFill>
          <a:ln/>
        </p:spPr>
      </p:sp>
      <p:sp>
        <p:nvSpPr>
          <p:cNvPr id="18" name="Text 16"/>
          <p:cNvSpPr/>
          <p:nvPr/>
        </p:nvSpPr>
        <p:spPr>
          <a:xfrm>
            <a:off x="4846320" y="1554480"/>
            <a:ext cx="640080" cy="731520"/>
          </a:xfrm>
          <a:prstGeom prst="rect">
            <a:avLst/>
          </a:prstGeom>
          <a:noFill/>
          <a:ln/>
        </p:spPr>
        <p:txBody>
          <a:bodyPr wrap="square" rtlCol="0" anchor="ctr"/>
          <a:lstStyle/>
          <a:p>
            <a:pPr marL="0" indent="0">
              <a:buNone/>
            </a:pPr>
            <a:r>
              <a:rPr lang="en-US" sz="2800" b="1" dirty="0">
                <a:solidFill>
                  <a:srgbClr val="0891B2"/>
                </a:solidFill>
                <a:latin typeface="Arial Black" pitchFamily="34" charset="0"/>
                <a:ea typeface="Arial Black" pitchFamily="34" charset="-122"/>
                <a:cs typeface="Arial Black" pitchFamily="34" charset="-120"/>
              </a:rPr>
              <a:t>03</a:t>
            </a:r>
            <a:endParaRPr lang="en-US" sz="2800" dirty="0"/>
          </a:p>
        </p:txBody>
      </p:sp>
      <p:sp>
        <p:nvSpPr>
          <p:cNvPr id="19" name="Text 17"/>
          <p:cNvSpPr/>
          <p:nvPr/>
        </p:nvSpPr>
        <p:spPr>
          <a:xfrm>
            <a:off x="5532120" y="1554480"/>
            <a:ext cx="2651760" cy="411480"/>
          </a:xfrm>
          <a:prstGeom prst="rect">
            <a:avLst/>
          </a:prstGeom>
          <a:noFill/>
          <a:ln/>
        </p:spPr>
        <p:txBody>
          <a:bodyPr wrap="square" rtlCol="0" anchor="ctr"/>
          <a:lstStyle/>
          <a:p>
            <a:pPr marL="0" indent="0">
              <a:buNone/>
            </a:pPr>
            <a:r>
              <a:rPr lang="en-US" sz="1400" b="1" dirty="0">
                <a:solidFill>
                  <a:srgbClr val="1A2744"/>
                </a:solidFill>
                <a:latin typeface="맑은 고딕" pitchFamily="34" charset="0"/>
                <a:ea typeface="맑은 고딕" pitchFamily="34" charset="-122"/>
                <a:cs typeface="맑은 고딕" pitchFamily="34" charset="-120"/>
              </a:rPr>
              <a:t>논리적 데이터 모델</a:t>
            </a:r>
            <a:endParaRPr lang="en-US" sz="1400" dirty="0"/>
          </a:p>
        </p:txBody>
      </p:sp>
      <p:sp>
        <p:nvSpPr>
          <p:cNvPr id="20" name="Text 18"/>
          <p:cNvSpPr/>
          <p:nvPr/>
        </p:nvSpPr>
        <p:spPr>
          <a:xfrm>
            <a:off x="5532120" y="1965960"/>
            <a:ext cx="2651760" cy="36576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관계형, 계층형, 네트워크 모델</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731520"/>
            <a:ext cx="1828800" cy="1097280"/>
          </a:xfrm>
          <a:prstGeom prst="rect">
            <a:avLst/>
          </a:prstGeom>
          <a:noFill/>
          <a:ln/>
        </p:spPr>
        <p:txBody>
          <a:bodyPr wrap="square" lIns="0" tIns="0" rIns="0" bIns="0" rtlCol="0" anchor="ctr"/>
          <a:lstStyle/>
          <a:p>
            <a:pPr marL="0" indent="0">
              <a:buNone/>
            </a:pPr>
            <a:r>
              <a:rPr lang="en-US" sz="6400" dirty="0">
                <a:solidFill>
                  <a:srgbClr val="0891B2"/>
                </a:solidFill>
                <a:latin typeface="Arial" pitchFamily="34" charset="0"/>
                <a:ea typeface="Arial" pitchFamily="34" charset="-122"/>
                <a:cs typeface="Arial" pitchFamily="34" charset="-120"/>
              </a:rPr>
              <a:t>01</a:t>
            </a:r>
            <a:endParaRPr lang="en-US" sz="6400" dirty="0"/>
          </a:p>
        </p:txBody>
      </p:sp>
      <p:sp>
        <p:nvSpPr>
          <p:cNvPr id="5" name="Shape 3"/>
          <p:cNvSpPr/>
          <p:nvPr/>
        </p:nvSpPr>
        <p:spPr>
          <a:xfrm>
            <a:off x="731520" y="1828800"/>
            <a:ext cx="1097280" cy="36576"/>
          </a:xfrm>
          <a:prstGeom prst="rect">
            <a:avLst/>
          </a:prstGeom>
          <a:solidFill>
            <a:srgbClr val="22D3EE"/>
          </a:solidFill>
          <a:ln/>
        </p:spPr>
      </p:sp>
      <p:sp>
        <p:nvSpPr>
          <p:cNvPr id="6" name="Text 4"/>
          <p:cNvSpPr/>
          <p:nvPr/>
        </p:nvSpPr>
        <p:spPr>
          <a:xfrm>
            <a:off x="731520" y="2377440"/>
            <a:ext cx="7315200" cy="1097280"/>
          </a:xfrm>
          <a:prstGeom prst="rect">
            <a:avLst/>
          </a:prstGeom>
          <a:noFill/>
          <a:ln/>
        </p:spPr>
        <p:txBody>
          <a:bodyPr wrap="square" lIns="0" tIns="0" rIns="0" bIns="0" rtlCol="0" anchor="ctr"/>
          <a:lstStyle/>
          <a:p>
            <a:pPr marL="0" indent="0">
              <a:buNone/>
            </a:pPr>
            <a:r>
              <a:rPr lang="en-US" sz="3800" b="1" dirty="0">
                <a:solidFill>
                  <a:srgbClr val="FFFFFF"/>
                </a:solidFill>
                <a:latin typeface="맑은 고딕" pitchFamily="34" charset="0"/>
                <a:ea typeface="맑은 고딕" pitchFamily="34" charset="-122"/>
                <a:cs typeface="맑은 고딕" pitchFamily="34" charset="-120"/>
              </a:rPr>
              <a:t>데이터 모델링의 개념</a:t>
            </a:r>
            <a:endParaRPr lang="en-US" sz="3800" dirty="0"/>
          </a:p>
        </p:txBody>
      </p:sp>
      <p:sp>
        <p:nvSpPr>
          <p:cNvPr id="7" name="Text 5"/>
          <p:cNvSpPr/>
          <p:nvPr/>
        </p:nvSpPr>
        <p:spPr>
          <a:xfrm>
            <a:off x="731520" y="3474720"/>
            <a:ext cx="7315200" cy="457200"/>
          </a:xfrm>
          <a:prstGeom prst="rect">
            <a:avLst/>
          </a:prstGeom>
          <a:noFill/>
          <a:ln/>
        </p:spPr>
        <p:txBody>
          <a:bodyPr wrap="square" rtlCol="0" anchor="ctr"/>
          <a:lstStyle/>
          <a:p>
            <a:pPr marL="0" indent="0">
              <a:buNone/>
            </a:pPr>
            <a:r>
              <a:rPr lang="en-US" sz="1400" i="1" dirty="0">
                <a:solidFill>
                  <a:srgbClr val="94A3B8"/>
                </a:solidFill>
                <a:latin typeface="Arial" pitchFamily="34" charset="0"/>
                <a:ea typeface="Arial" pitchFamily="34" charset="-122"/>
                <a:cs typeface="Arial" pitchFamily="34" charset="-120"/>
              </a:rPr>
              <a:t>Data Modeling Concepts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데이터 모델링이란?</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548640" y="1005840"/>
            <a:ext cx="8046720" cy="1005840"/>
          </a:xfrm>
          <a:prstGeom prst="rect">
            <a:avLst/>
          </a:prstGeom>
          <a:solidFill>
            <a:srgbClr val="FFFFFF"/>
          </a:solidFill>
          <a:ln/>
          <a:effectLst>
            <a:outerShdw blurRad="76200" dist="25400" dir="8100000" algn="bl" rotWithShape="0">
              <a:srgbClr val="000000">
                <a:alpha val="12000"/>
              </a:srgbClr>
            </a:outerShdw>
          </a:effectLst>
        </p:spPr>
      </p:sp>
      <p:sp>
        <p:nvSpPr>
          <p:cNvPr id="9" name="Shape 6"/>
          <p:cNvSpPr/>
          <p:nvPr/>
        </p:nvSpPr>
        <p:spPr>
          <a:xfrm>
            <a:off x="548640" y="1005840"/>
            <a:ext cx="54864" cy="1005840"/>
          </a:xfrm>
          <a:prstGeom prst="rect">
            <a:avLst/>
          </a:prstGeom>
          <a:solidFill>
            <a:srgbClr val="0891B2"/>
          </a:solidFill>
          <a:ln/>
        </p:spPr>
      </p:sp>
      <p:sp>
        <p:nvSpPr>
          <p:cNvPr id="10" name="Text 7"/>
          <p:cNvSpPr/>
          <p:nvPr/>
        </p:nvSpPr>
        <p:spPr>
          <a:xfrm>
            <a:off x="731520" y="109728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데이터 모델링 (Data Modeling)</a:t>
            </a:r>
            <a:endParaRPr lang="en-US" sz="1500" dirty="0"/>
          </a:p>
        </p:txBody>
      </p:sp>
      <p:sp>
        <p:nvSpPr>
          <p:cNvPr id="11" name="Text 8"/>
          <p:cNvSpPr/>
          <p:nvPr/>
        </p:nvSpPr>
        <p:spPr>
          <a:xfrm>
            <a:off x="731520" y="1463040"/>
            <a:ext cx="7680960" cy="45720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현실 세계에 존재하는 데이터를 컴퓨터 세계의 데이터베이스로 옮기는 과정.</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데이터베이스 설계의 핵심 과정.</a:t>
            </a:r>
            <a:endParaRPr lang="en-US" sz="1200" dirty="0"/>
          </a:p>
        </p:txBody>
      </p:sp>
      <p:sp>
        <p:nvSpPr>
          <p:cNvPr id="12" name="Shape 9"/>
          <p:cNvSpPr/>
          <p:nvPr/>
        </p:nvSpPr>
        <p:spPr>
          <a:xfrm>
            <a:off x="548640" y="2286000"/>
            <a:ext cx="2560320" cy="1280160"/>
          </a:xfrm>
          <a:prstGeom prst="rect">
            <a:avLst/>
          </a:prstGeom>
          <a:solidFill>
            <a:srgbClr val="FFFFFF"/>
          </a:solidFill>
          <a:ln/>
          <a:effectLst>
            <a:outerShdw blurRad="76200" dist="25400" dir="8100000" algn="bl" rotWithShape="0">
              <a:srgbClr val="000000">
                <a:alpha val="12000"/>
              </a:srgbClr>
            </a:outerShdw>
          </a:effectLst>
        </p:spPr>
      </p:sp>
      <p:sp>
        <p:nvSpPr>
          <p:cNvPr id="13" name="Text 10"/>
          <p:cNvSpPr/>
          <p:nvPr/>
        </p:nvSpPr>
        <p:spPr>
          <a:xfrm>
            <a:off x="685800" y="2377440"/>
            <a:ext cx="228600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구조 정의</a:t>
            </a:r>
            <a:endParaRPr lang="en-US" sz="1300" dirty="0"/>
          </a:p>
        </p:txBody>
      </p:sp>
      <p:sp>
        <p:nvSpPr>
          <p:cNvPr id="14" name="Text 11"/>
          <p:cNvSpPr/>
          <p:nvPr/>
        </p:nvSpPr>
        <p:spPr>
          <a:xfrm>
            <a:off x="685800" y="2788920"/>
            <a:ext cx="2286000" cy="640080"/>
          </a:xfrm>
          <a:prstGeom prst="rect">
            <a:avLst/>
          </a:prstGeom>
          <a:noFill/>
          <a:ln/>
        </p:spPr>
        <p:txBody>
          <a:bodyPr wrap="square" rtlCol="0" anchor="ctr"/>
          <a:lstStyle/>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효율적 저장/검색을 위해</a:t>
            </a:r>
            <a:endParaRPr lang="en-US" sz="1100" dirty="0"/>
          </a:p>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데이터 구조를 명확히 정의</a:t>
            </a:r>
            <a:endParaRPr lang="en-US" sz="1100" dirty="0"/>
          </a:p>
        </p:txBody>
      </p:sp>
      <p:sp>
        <p:nvSpPr>
          <p:cNvPr id="15" name="Shape 12"/>
          <p:cNvSpPr/>
          <p:nvPr/>
        </p:nvSpPr>
        <p:spPr>
          <a:xfrm>
            <a:off x="3383280" y="2286000"/>
            <a:ext cx="2560320" cy="1280160"/>
          </a:xfrm>
          <a:prstGeom prst="rect">
            <a:avLst/>
          </a:prstGeom>
          <a:solidFill>
            <a:srgbClr val="FFFFFF"/>
          </a:solidFill>
          <a:ln/>
          <a:effectLst>
            <a:outerShdw blurRad="76200" dist="25400" dir="8100000" algn="bl" rotWithShape="0">
              <a:srgbClr val="000000">
                <a:alpha val="12000"/>
              </a:srgbClr>
            </a:outerShdw>
          </a:effectLst>
        </p:spPr>
      </p:sp>
      <p:sp>
        <p:nvSpPr>
          <p:cNvPr id="16" name="Text 13"/>
          <p:cNvSpPr/>
          <p:nvPr/>
        </p:nvSpPr>
        <p:spPr>
          <a:xfrm>
            <a:off x="3520440" y="2377440"/>
            <a:ext cx="228600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요구사항 반영</a:t>
            </a:r>
            <a:endParaRPr lang="en-US" sz="1300" dirty="0"/>
          </a:p>
        </p:txBody>
      </p:sp>
      <p:sp>
        <p:nvSpPr>
          <p:cNvPr id="17" name="Text 14"/>
          <p:cNvSpPr/>
          <p:nvPr/>
        </p:nvSpPr>
        <p:spPr>
          <a:xfrm>
            <a:off x="3520440" y="2788920"/>
            <a:ext cx="2286000" cy="640080"/>
          </a:xfrm>
          <a:prstGeom prst="rect">
            <a:avLst/>
          </a:prstGeom>
          <a:noFill/>
          <a:ln/>
        </p:spPr>
        <p:txBody>
          <a:bodyPr wrap="square" rtlCol="0" anchor="ctr"/>
          <a:lstStyle/>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사용자 요구사항을</a:t>
            </a:r>
            <a:endParaRPr lang="en-US" sz="1100" dirty="0"/>
          </a:p>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체계적으로 DB에 반영</a:t>
            </a:r>
            <a:endParaRPr lang="en-US" sz="1100" dirty="0"/>
          </a:p>
        </p:txBody>
      </p:sp>
      <p:sp>
        <p:nvSpPr>
          <p:cNvPr id="18" name="Shape 15"/>
          <p:cNvSpPr/>
          <p:nvPr/>
        </p:nvSpPr>
        <p:spPr>
          <a:xfrm>
            <a:off x="6217920" y="2286000"/>
            <a:ext cx="2560320" cy="1280160"/>
          </a:xfrm>
          <a:prstGeom prst="rect">
            <a:avLst/>
          </a:prstGeom>
          <a:solidFill>
            <a:srgbClr val="FFFFFF"/>
          </a:solidFill>
          <a:ln/>
          <a:effectLst>
            <a:outerShdw blurRad="76200" dist="25400" dir="8100000" algn="bl" rotWithShape="0">
              <a:srgbClr val="000000">
                <a:alpha val="12000"/>
              </a:srgbClr>
            </a:outerShdw>
          </a:effectLst>
        </p:spPr>
      </p:sp>
      <p:sp>
        <p:nvSpPr>
          <p:cNvPr id="19" name="Text 16"/>
          <p:cNvSpPr/>
          <p:nvPr/>
        </p:nvSpPr>
        <p:spPr>
          <a:xfrm>
            <a:off x="6355080" y="2377440"/>
            <a:ext cx="228600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소통 도구</a:t>
            </a:r>
            <a:endParaRPr lang="en-US" sz="1300" dirty="0"/>
          </a:p>
        </p:txBody>
      </p:sp>
      <p:sp>
        <p:nvSpPr>
          <p:cNvPr id="20" name="Text 17"/>
          <p:cNvSpPr/>
          <p:nvPr/>
        </p:nvSpPr>
        <p:spPr>
          <a:xfrm>
            <a:off x="6355080" y="2788920"/>
            <a:ext cx="2286000" cy="640080"/>
          </a:xfrm>
          <a:prstGeom prst="rect">
            <a:avLst/>
          </a:prstGeom>
          <a:noFill/>
          <a:ln/>
        </p:spPr>
        <p:txBody>
          <a:bodyPr wrap="square" rtlCol="0" anchor="ctr"/>
          <a:lstStyle/>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개발자와 사용자 간의</a:t>
            </a:r>
            <a:endParaRPr lang="en-US" sz="1100" dirty="0"/>
          </a:p>
          <a:p>
            <a:pPr marL="0" indent="0">
              <a:lnSpc>
                <a:spcPct val="130000"/>
              </a:lnSpc>
              <a:buNone/>
            </a:pPr>
            <a:r>
              <a:rPr lang="en-US" sz="1100" dirty="0">
                <a:solidFill>
                  <a:srgbClr val="334155"/>
                </a:solidFill>
                <a:latin typeface="Calibri" pitchFamily="34" charset="0"/>
                <a:ea typeface="Calibri" pitchFamily="34" charset="-122"/>
                <a:cs typeface="Calibri" pitchFamily="34" charset="-120"/>
              </a:rPr>
              <a:t>공통 언어 역할</a:t>
            </a:r>
            <a:endParaRPr lang="en-US" sz="1100" dirty="0"/>
          </a:p>
        </p:txBody>
      </p:sp>
      <p:sp>
        <p:nvSpPr>
          <p:cNvPr id="21" name="Shape 18"/>
          <p:cNvSpPr/>
          <p:nvPr/>
        </p:nvSpPr>
        <p:spPr>
          <a:xfrm>
            <a:off x="548640" y="3840480"/>
            <a:ext cx="8046720" cy="457200"/>
          </a:xfrm>
          <a:prstGeom prst="rect">
            <a:avLst/>
          </a:prstGeom>
          <a:solidFill>
            <a:srgbClr val="1A2744"/>
          </a:solidFill>
          <a:ln/>
        </p:spPr>
      </p:sp>
      <p:sp>
        <p:nvSpPr>
          <p:cNvPr id="22" name="Text 19"/>
          <p:cNvSpPr/>
          <p:nvPr/>
        </p:nvSpPr>
        <p:spPr>
          <a:xfrm>
            <a:off x="822960" y="3840480"/>
            <a:ext cx="7498080" cy="45720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비유: 건축가의 설계도 = 데이터 모델링 / 건물 = DB / 자재·기술 = DBMS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2단계 데이터 모델링</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8" name="Shape 5"/>
          <p:cNvSpPr/>
          <p:nvPr/>
        </p:nvSpPr>
        <p:spPr>
          <a:xfrm>
            <a:off x="548640" y="1097280"/>
            <a:ext cx="2560320" cy="1097280"/>
          </a:xfrm>
          <a:prstGeom prst="rect">
            <a:avLst/>
          </a:prstGeom>
          <a:solidFill>
            <a:srgbClr val="F8FAFC"/>
          </a:solidFill>
          <a:ln/>
          <a:effectLst>
            <a:outerShdw blurRad="76200" dist="25400" dir="8100000" algn="bl" rotWithShape="0">
              <a:srgbClr val="000000">
                <a:alpha val="12000"/>
              </a:srgbClr>
            </a:outerShdw>
          </a:effectLst>
        </p:spPr>
      </p:sp>
      <p:sp>
        <p:nvSpPr>
          <p:cNvPr id="9" name="Shape 6"/>
          <p:cNvSpPr/>
          <p:nvPr/>
        </p:nvSpPr>
        <p:spPr>
          <a:xfrm>
            <a:off x="548640" y="1097280"/>
            <a:ext cx="2560320" cy="54864"/>
          </a:xfrm>
          <a:prstGeom prst="rect">
            <a:avLst/>
          </a:prstGeom>
          <a:solidFill>
            <a:srgbClr val="334155"/>
          </a:solidFill>
          <a:ln/>
        </p:spPr>
      </p:sp>
      <p:sp>
        <p:nvSpPr>
          <p:cNvPr id="10" name="Text 7"/>
          <p:cNvSpPr/>
          <p:nvPr/>
        </p:nvSpPr>
        <p:spPr>
          <a:xfrm>
            <a:off x="548640" y="1280160"/>
            <a:ext cx="2560320" cy="731520"/>
          </a:xfrm>
          <a:prstGeom prst="rect">
            <a:avLst/>
          </a:prstGeom>
          <a:noFill/>
          <a:ln/>
        </p:spPr>
        <p:txBody>
          <a:bodyPr wrap="square" rtlCol="0" anchor="ctr"/>
          <a:lstStyle/>
          <a:p>
            <a:pPr marL="0" indent="0" algn="ctr">
              <a:buNone/>
            </a:pPr>
            <a:r>
              <a:rPr lang="en-US" sz="1500" b="1" dirty="0">
                <a:solidFill>
                  <a:srgbClr val="334155"/>
                </a:solidFill>
                <a:latin typeface="맑은 고딕" pitchFamily="34" charset="0"/>
                <a:ea typeface="맑은 고딕" pitchFamily="34" charset="-122"/>
                <a:cs typeface="맑은 고딕" pitchFamily="34" charset="-120"/>
              </a:rPr>
              <a:t>현실 세계</a:t>
            </a:r>
            <a:endParaRPr lang="en-US" sz="1500" dirty="0"/>
          </a:p>
        </p:txBody>
      </p:sp>
      <p:sp>
        <p:nvSpPr>
          <p:cNvPr id="11" name="Text 8"/>
          <p:cNvSpPr/>
          <p:nvPr/>
        </p:nvSpPr>
        <p:spPr>
          <a:xfrm>
            <a:off x="3063240" y="1371600"/>
            <a:ext cx="457200" cy="457200"/>
          </a:xfrm>
          <a:prstGeom prst="rect">
            <a:avLst/>
          </a:prstGeom>
          <a:noFill/>
          <a:ln/>
        </p:spPr>
        <p:txBody>
          <a:bodyPr wrap="square" rtlCol="0" anchor="ctr"/>
          <a:lstStyle/>
          <a:p>
            <a:pPr marL="0" indent="0" algn="ctr">
              <a:buNone/>
            </a:pPr>
            <a:r>
              <a:rPr lang="en-US" sz="2400" b="1" dirty="0">
                <a:solidFill>
                  <a:srgbClr val="0891B2"/>
                </a:solidFill>
                <a:latin typeface="Calibri" pitchFamily="34" charset="0"/>
                <a:ea typeface="Calibri" pitchFamily="34" charset="-122"/>
                <a:cs typeface="Calibri" pitchFamily="34" charset="-120"/>
              </a:rPr>
              <a:t>→</a:t>
            </a:r>
            <a:endParaRPr lang="en-US" sz="2400" dirty="0"/>
          </a:p>
        </p:txBody>
      </p:sp>
      <p:sp>
        <p:nvSpPr>
          <p:cNvPr id="12" name="Shape 9"/>
          <p:cNvSpPr/>
          <p:nvPr/>
        </p:nvSpPr>
        <p:spPr>
          <a:xfrm>
            <a:off x="3474720" y="1097280"/>
            <a:ext cx="2560320" cy="1097280"/>
          </a:xfrm>
          <a:prstGeom prst="rect">
            <a:avLst/>
          </a:prstGeom>
          <a:solidFill>
            <a:srgbClr val="E0F7FA"/>
          </a:solidFill>
          <a:ln/>
          <a:effectLst>
            <a:outerShdw blurRad="76200" dist="25400" dir="8100000" algn="bl" rotWithShape="0">
              <a:srgbClr val="000000">
                <a:alpha val="12000"/>
              </a:srgbClr>
            </a:outerShdw>
          </a:effectLst>
        </p:spPr>
      </p:sp>
      <p:sp>
        <p:nvSpPr>
          <p:cNvPr id="13" name="Shape 10"/>
          <p:cNvSpPr/>
          <p:nvPr/>
        </p:nvSpPr>
        <p:spPr>
          <a:xfrm>
            <a:off x="3474720" y="1097280"/>
            <a:ext cx="2560320" cy="54864"/>
          </a:xfrm>
          <a:prstGeom prst="rect">
            <a:avLst/>
          </a:prstGeom>
          <a:solidFill>
            <a:srgbClr val="0891B2"/>
          </a:solidFill>
          <a:ln/>
        </p:spPr>
      </p:sp>
      <p:sp>
        <p:nvSpPr>
          <p:cNvPr id="14" name="Text 11"/>
          <p:cNvSpPr/>
          <p:nvPr/>
        </p:nvSpPr>
        <p:spPr>
          <a:xfrm>
            <a:off x="3474720" y="1280160"/>
            <a:ext cx="2560320" cy="731520"/>
          </a:xfrm>
          <a:prstGeom prst="rect">
            <a:avLst/>
          </a:prstGeom>
          <a:noFill/>
          <a:ln/>
        </p:spPr>
        <p:txBody>
          <a:bodyPr wrap="square" rtlCol="0" anchor="ctr"/>
          <a:lstStyle/>
          <a:p>
            <a:pPr marL="0" indent="0" algn="ctr">
              <a:buNone/>
            </a:pPr>
            <a:r>
              <a:rPr lang="en-US" sz="1500" b="1" dirty="0">
                <a:solidFill>
                  <a:srgbClr val="0891B2"/>
                </a:solidFill>
                <a:latin typeface="맑은 고딕" pitchFamily="34" charset="0"/>
                <a:ea typeface="맑은 고딕" pitchFamily="34" charset="-122"/>
                <a:cs typeface="맑은 고딕" pitchFamily="34" charset="-120"/>
              </a:rPr>
              <a:t>개념 세계</a:t>
            </a:r>
            <a:endParaRPr lang="en-US" sz="1500" dirty="0"/>
          </a:p>
        </p:txBody>
      </p:sp>
      <p:sp>
        <p:nvSpPr>
          <p:cNvPr id="15" name="Text 12"/>
          <p:cNvSpPr/>
          <p:nvPr/>
        </p:nvSpPr>
        <p:spPr>
          <a:xfrm>
            <a:off x="5989320" y="1371600"/>
            <a:ext cx="457200" cy="457200"/>
          </a:xfrm>
          <a:prstGeom prst="rect">
            <a:avLst/>
          </a:prstGeom>
          <a:noFill/>
          <a:ln/>
        </p:spPr>
        <p:txBody>
          <a:bodyPr wrap="square" rtlCol="0" anchor="ctr"/>
          <a:lstStyle/>
          <a:p>
            <a:pPr marL="0" indent="0" algn="ctr">
              <a:buNone/>
            </a:pPr>
            <a:r>
              <a:rPr lang="en-US" sz="2400" b="1" dirty="0">
                <a:solidFill>
                  <a:srgbClr val="0891B2"/>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6400800" y="1097280"/>
            <a:ext cx="2560320" cy="1097280"/>
          </a:xfrm>
          <a:prstGeom prst="rect">
            <a:avLst/>
          </a:prstGeom>
          <a:solidFill>
            <a:srgbClr val="DBEAFE"/>
          </a:solidFill>
          <a:ln/>
          <a:effectLst>
            <a:outerShdw blurRad="76200" dist="25400" dir="8100000" algn="bl" rotWithShape="0">
              <a:srgbClr val="000000">
                <a:alpha val="12000"/>
              </a:srgbClr>
            </a:outerShdw>
          </a:effectLst>
        </p:spPr>
      </p:sp>
      <p:sp>
        <p:nvSpPr>
          <p:cNvPr id="17" name="Shape 14"/>
          <p:cNvSpPr/>
          <p:nvPr/>
        </p:nvSpPr>
        <p:spPr>
          <a:xfrm>
            <a:off x="6400800" y="1097280"/>
            <a:ext cx="2560320" cy="54864"/>
          </a:xfrm>
          <a:prstGeom prst="rect">
            <a:avLst/>
          </a:prstGeom>
          <a:solidFill>
            <a:srgbClr val="1A2744"/>
          </a:solidFill>
          <a:ln/>
        </p:spPr>
      </p:sp>
      <p:sp>
        <p:nvSpPr>
          <p:cNvPr id="18" name="Text 15"/>
          <p:cNvSpPr/>
          <p:nvPr/>
        </p:nvSpPr>
        <p:spPr>
          <a:xfrm>
            <a:off x="6400800" y="1280160"/>
            <a:ext cx="2560320" cy="731520"/>
          </a:xfrm>
          <a:prstGeom prst="rect">
            <a:avLst/>
          </a:prstGeom>
          <a:noFill/>
          <a:ln/>
        </p:spPr>
        <p:txBody>
          <a:bodyPr wrap="square" rtlCol="0" anchor="ctr"/>
          <a:lstStyle/>
          <a:p>
            <a:pPr marL="0" indent="0" algn="ctr">
              <a:buNone/>
            </a:pPr>
            <a:r>
              <a:rPr lang="en-US" sz="1500" b="1" dirty="0">
                <a:solidFill>
                  <a:srgbClr val="1A2744"/>
                </a:solidFill>
                <a:latin typeface="맑은 고딕" pitchFamily="34" charset="0"/>
                <a:ea typeface="맑은 고딕" pitchFamily="34" charset="-122"/>
                <a:cs typeface="맑은 고딕" pitchFamily="34" charset="-120"/>
              </a:rPr>
              <a:t>컴퓨터 세계</a:t>
            </a:r>
            <a:endParaRPr lang="en-US" sz="1500" dirty="0"/>
          </a:p>
        </p:txBody>
      </p:sp>
      <p:sp>
        <p:nvSpPr>
          <p:cNvPr id="19" name="Text 16"/>
          <p:cNvSpPr/>
          <p:nvPr/>
        </p:nvSpPr>
        <p:spPr>
          <a:xfrm>
            <a:off x="1371600" y="2377440"/>
            <a:ext cx="3200400" cy="320040"/>
          </a:xfrm>
          <a:prstGeom prst="rect">
            <a:avLst/>
          </a:prstGeom>
          <a:noFill/>
          <a:ln/>
        </p:spPr>
        <p:txBody>
          <a:bodyPr wrap="square"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개념적 데이터 모델링</a:t>
            </a:r>
            <a:endParaRPr lang="en-US" sz="1100" dirty="0"/>
          </a:p>
        </p:txBody>
      </p:sp>
      <p:sp>
        <p:nvSpPr>
          <p:cNvPr id="20" name="Text 17"/>
          <p:cNvSpPr/>
          <p:nvPr/>
        </p:nvSpPr>
        <p:spPr>
          <a:xfrm>
            <a:off x="4297680" y="2377440"/>
            <a:ext cx="3200400" cy="320040"/>
          </a:xfrm>
          <a:prstGeom prst="rect">
            <a:avLst/>
          </a:prstGeom>
          <a:noFill/>
          <a:ln/>
        </p:spPr>
        <p:txBody>
          <a:bodyPr wrap="square" rtlCol="0" anchor="ctr"/>
          <a:lstStyle/>
          <a:p>
            <a:pPr marL="0" indent="0" algn="ctr">
              <a:buNone/>
            </a:pPr>
            <a:r>
              <a:rPr lang="en-US" sz="1100" b="1" dirty="0">
                <a:solidFill>
                  <a:srgbClr val="1A2744"/>
                </a:solidFill>
                <a:latin typeface="Calibri" pitchFamily="34" charset="0"/>
                <a:ea typeface="Calibri" pitchFamily="34" charset="-122"/>
                <a:cs typeface="Calibri" pitchFamily="34" charset="-120"/>
              </a:rPr>
              <a:t>논리적 데이터 모델링</a:t>
            </a:r>
            <a:endParaRPr lang="en-US" sz="1100" dirty="0"/>
          </a:p>
        </p:txBody>
      </p:sp>
      <p:sp>
        <p:nvSpPr>
          <p:cNvPr id="21" name="Shape 18"/>
          <p:cNvSpPr/>
          <p:nvPr/>
        </p:nvSpPr>
        <p:spPr>
          <a:xfrm>
            <a:off x="548640" y="2834640"/>
            <a:ext cx="3840480" cy="1005840"/>
          </a:xfrm>
          <a:prstGeom prst="rect">
            <a:avLst/>
          </a:prstGeom>
          <a:solidFill>
            <a:srgbClr val="FFFFFF"/>
          </a:solidFill>
          <a:ln/>
          <a:effectLst>
            <a:outerShdw blurRad="76200" dist="25400" dir="8100000" algn="bl" rotWithShape="0">
              <a:srgbClr val="000000">
                <a:alpha val="12000"/>
              </a:srgbClr>
            </a:outerShdw>
          </a:effectLst>
        </p:spPr>
      </p:sp>
      <p:sp>
        <p:nvSpPr>
          <p:cNvPr id="22" name="Shape 19"/>
          <p:cNvSpPr/>
          <p:nvPr/>
        </p:nvSpPr>
        <p:spPr>
          <a:xfrm>
            <a:off x="548640" y="2834640"/>
            <a:ext cx="54864" cy="1005840"/>
          </a:xfrm>
          <a:prstGeom prst="rect">
            <a:avLst/>
          </a:prstGeom>
          <a:solidFill>
            <a:srgbClr val="0891B2"/>
          </a:solidFill>
          <a:ln/>
        </p:spPr>
      </p:sp>
      <p:sp>
        <p:nvSpPr>
          <p:cNvPr id="23" name="Text 20"/>
          <p:cNvSpPr/>
          <p:nvPr/>
        </p:nvSpPr>
        <p:spPr>
          <a:xfrm>
            <a:off x="731520" y="292608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개념적 모델링</a:t>
            </a:r>
            <a:endParaRPr lang="en-US" sz="1500" dirty="0"/>
          </a:p>
        </p:txBody>
      </p:sp>
      <p:sp>
        <p:nvSpPr>
          <p:cNvPr id="24" name="Text 21"/>
          <p:cNvSpPr/>
          <p:nvPr/>
        </p:nvSpPr>
        <p:spPr>
          <a:xfrm>
            <a:off x="731520" y="3291840"/>
            <a:ext cx="3474720" cy="45720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현실 세계 → 개념 세계</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도구: ER 모델 (개체-관계 모델)</a:t>
            </a:r>
            <a:endParaRPr lang="en-US" sz="1200" dirty="0"/>
          </a:p>
        </p:txBody>
      </p:sp>
      <p:sp>
        <p:nvSpPr>
          <p:cNvPr id="25" name="Shape 22"/>
          <p:cNvSpPr/>
          <p:nvPr/>
        </p:nvSpPr>
        <p:spPr>
          <a:xfrm>
            <a:off x="4754880" y="2834640"/>
            <a:ext cx="3840480" cy="1005840"/>
          </a:xfrm>
          <a:prstGeom prst="rect">
            <a:avLst/>
          </a:prstGeom>
          <a:solidFill>
            <a:srgbClr val="FFFFFF"/>
          </a:solidFill>
          <a:ln/>
          <a:effectLst>
            <a:outerShdw blurRad="76200" dist="25400" dir="8100000" algn="bl" rotWithShape="0">
              <a:srgbClr val="000000">
                <a:alpha val="12000"/>
              </a:srgbClr>
            </a:outerShdw>
          </a:effectLst>
        </p:spPr>
      </p:sp>
      <p:sp>
        <p:nvSpPr>
          <p:cNvPr id="26" name="Shape 23"/>
          <p:cNvSpPr/>
          <p:nvPr/>
        </p:nvSpPr>
        <p:spPr>
          <a:xfrm>
            <a:off x="4754880" y="2834640"/>
            <a:ext cx="54864" cy="1005840"/>
          </a:xfrm>
          <a:prstGeom prst="rect">
            <a:avLst/>
          </a:prstGeom>
          <a:solidFill>
            <a:srgbClr val="1A2744"/>
          </a:solidFill>
          <a:ln/>
        </p:spPr>
      </p:sp>
      <p:sp>
        <p:nvSpPr>
          <p:cNvPr id="27" name="Text 24"/>
          <p:cNvSpPr/>
          <p:nvPr/>
        </p:nvSpPr>
        <p:spPr>
          <a:xfrm>
            <a:off x="4937760" y="292608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논리적 모델링</a:t>
            </a:r>
            <a:endParaRPr lang="en-US" sz="1500" dirty="0"/>
          </a:p>
        </p:txBody>
      </p:sp>
      <p:sp>
        <p:nvSpPr>
          <p:cNvPr id="28" name="Text 25"/>
          <p:cNvSpPr/>
          <p:nvPr/>
        </p:nvSpPr>
        <p:spPr>
          <a:xfrm>
            <a:off x="4937760" y="3291840"/>
            <a:ext cx="3474720" cy="45720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개념 세계 → 컴퓨터 세계</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도구: 관계 데이터 모델 (테이블)</a:t>
            </a:r>
            <a:endParaRPr lang="en-US" sz="1200" dirty="0"/>
          </a:p>
        </p:txBody>
      </p:sp>
      <p:sp>
        <p:nvSpPr>
          <p:cNvPr id="29" name="Shape 26"/>
          <p:cNvSpPr/>
          <p:nvPr/>
        </p:nvSpPr>
        <p:spPr>
          <a:xfrm>
            <a:off x="548640" y="4114800"/>
            <a:ext cx="8046720" cy="411480"/>
          </a:xfrm>
          <a:prstGeom prst="rect">
            <a:avLst/>
          </a:prstGeom>
          <a:solidFill>
            <a:srgbClr val="FEF3C7"/>
          </a:solidFill>
          <a:ln/>
        </p:spPr>
      </p:sp>
      <p:sp>
        <p:nvSpPr>
          <p:cNvPr id="30" name="Text 27"/>
          <p:cNvSpPr/>
          <p:nvPr/>
        </p:nvSpPr>
        <p:spPr>
          <a:xfrm>
            <a:off x="822960" y="4114800"/>
            <a:ext cx="7498080" cy="411480"/>
          </a:xfrm>
          <a:prstGeom prst="rect">
            <a:avLst/>
          </a:prstGeom>
          <a:noFill/>
          <a:ln/>
        </p:spPr>
        <p:txBody>
          <a:bodyPr wrap="square" rtlCol="0" anchor="ctr"/>
          <a:lstStyle/>
          <a:p>
            <a:pPr marL="0" indent="0">
              <a:buNone/>
            </a:pPr>
            <a:r>
              <a:rPr lang="en-US" sz="1300" b="1" dirty="0">
                <a:solidFill>
                  <a:srgbClr val="334155"/>
                </a:solidFill>
                <a:latin typeface="Calibri" pitchFamily="34" charset="0"/>
                <a:ea typeface="Calibri" pitchFamily="34" charset="-122"/>
                <a:cs typeface="Calibri" pitchFamily="34" charset="-120"/>
              </a:rPr>
              <a:t>이 전체 과정을 추상화(Abstraction)라고 합니다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데이터 모델의 구성</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
        <p:nvSpPr>
          <p:cNvPr id="8" name="Shape 5"/>
          <p:cNvSpPr/>
          <p:nvPr/>
        </p:nvSpPr>
        <p:spPr>
          <a:xfrm>
            <a:off x="548640" y="1005840"/>
            <a:ext cx="8046720" cy="502920"/>
          </a:xfrm>
          <a:prstGeom prst="rect">
            <a:avLst/>
          </a:prstGeom>
          <a:solidFill>
            <a:srgbClr val="1A2744"/>
          </a:solidFill>
          <a:ln/>
        </p:spPr>
      </p:sp>
      <p:sp>
        <p:nvSpPr>
          <p:cNvPr id="9" name="Text 6"/>
          <p:cNvSpPr/>
          <p:nvPr/>
        </p:nvSpPr>
        <p:spPr>
          <a:xfrm>
            <a:off x="822960" y="1005840"/>
            <a:ext cx="7498080" cy="5029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데이터 모델의 구성  =  데이터 구조 (Structure)  +  연산 (Operation)  +  제약조건 (Constraint)</a:t>
            </a:r>
            <a:endParaRPr lang="en-US" sz="1300" dirty="0"/>
          </a:p>
        </p:txBody>
      </p:sp>
      <p:sp>
        <p:nvSpPr>
          <p:cNvPr id="10" name="Shape 7"/>
          <p:cNvSpPr/>
          <p:nvPr/>
        </p:nvSpPr>
        <p:spPr>
          <a:xfrm>
            <a:off x="548640" y="1737360"/>
            <a:ext cx="2560320" cy="1005840"/>
          </a:xfrm>
          <a:prstGeom prst="rect">
            <a:avLst/>
          </a:prstGeom>
          <a:solidFill>
            <a:srgbClr val="FFFFFF"/>
          </a:solidFill>
          <a:ln/>
          <a:effectLst>
            <a:outerShdw blurRad="76200" dist="25400" dir="8100000" algn="bl" rotWithShape="0">
              <a:srgbClr val="000000">
                <a:alpha val="12000"/>
              </a:srgbClr>
            </a:outerShdw>
          </a:effectLst>
        </p:spPr>
      </p:sp>
      <p:sp>
        <p:nvSpPr>
          <p:cNvPr id="11" name="Shape 8"/>
          <p:cNvSpPr/>
          <p:nvPr/>
        </p:nvSpPr>
        <p:spPr>
          <a:xfrm>
            <a:off x="548640" y="1737360"/>
            <a:ext cx="2560320" cy="45720"/>
          </a:xfrm>
          <a:prstGeom prst="rect">
            <a:avLst/>
          </a:prstGeom>
          <a:solidFill>
            <a:srgbClr val="0891B2"/>
          </a:solidFill>
          <a:ln/>
        </p:spPr>
      </p:sp>
      <p:sp>
        <p:nvSpPr>
          <p:cNvPr id="12" name="Text 9"/>
          <p:cNvSpPr/>
          <p:nvPr/>
        </p:nvSpPr>
        <p:spPr>
          <a:xfrm>
            <a:off x="640080" y="1810512"/>
            <a:ext cx="2377440" cy="320040"/>
          </a:xfrm>
          <a:prstGeom prst="rect">
            <a:avLst/>
          </a:prstGeom>
          <a:noFill/>
          <a:ln/>
        </p:spPr>
        <p:txBody>
          <a:bodyPr wrap="square" rtlCol="0" anchor="ctr"/>
          <a:lstStyle/>
          <a:p>
            <a:pPr marL="0" indent="0">
              <a:buNone/>
            </a:pPr>
            <a:r>
              <a:rPr lang="en-US" sz="1300" b="1" dirty="0">
                <a:solidFill>
                  <a:srgbClr val="0891B2"/>
                </a:solidFill>
                <a:latin typeface="맑은 고딕" pitchFamily="34" charset="0"/>
                <a:ea typeface="맑은 고딕" pitchFamily="34" charset="-122"/>
                <a:cs typeface="맑은 고딕" pitchFamily="34" charset="-120"/>
              </a:rPr>
              <a:t>데이터 구조</a:t>
            </a:r>
            <a:endParaRPr lang="en-US" sz="1300" dirty="0"/>
          </a:p>
        </p:txBody>
      </p:sp>
      <p:sp>
        <p:nvSpPr>
          <p:cNvPr id="13" name="Text 10"/>
          <p:cNvSpPr/>
          <p:nvPr/>
        </p:nvSpPr>
        <p:spPr>
          <a:xfrm>
            <a:off x="640080" y="2176272"/>
            <a:ext cx="2377440" cy="502920"/>
          </a:xfrm>
          <a:prstGeom prst="rect">
            <a:avLst/>
          </a:prstGeom>
          <a:noFill/>
          <a:ln/>
        </p:spPr>
        <p:txBody>
          <a:bodyPr wrap="square" rtlCol="0" anchor="ctr"/>
          <a:lstStyle/>
          <a:p>
            <a:pPr marL="0" indent="0">
              <a:lnSpc>
                <a:spcPct val="130000"/>
              </a:lnSpc>
              <a:buNone/>
            </a:pPr>
            <a:r>
              <a:rPr lang="en-US" sz="1000" dirty="0">
                <a:solidFill>
                  <a:srgbClr val="334155"/>
                </a:solidFill>
                <a:latin typeface="Calibri" pitchFamily="34" charset="0"/>
                <a:ea typeface="Calibri" pitchFamily="34" charset="-122"/>
                <a:cs typeface="Calibri" pitchFamily="34" charset="-120"/>
              </a:rPr>
              <a:t>데이터가 어떤 형태로 저장되는지 정의</a:t>
            </a:r>
            <a:endParaRPr lang="en-US" sz="1000" dirty="0"/>
          </a:p>
        </p:txBody>
      </p:sp>
      <p:sp>
        <p:nvSpPr>
          <p:cNvPr id="14" name="Shape 11"/>
          <p:cNvSpPr/>
          <p:nvPr/>
        </p:nvSpPr>
        <p:spPr>
          <a:xfrm>
            <a:off x="3474720" y="1737360"/>
            <a:ext cx="2560320" cy="1005840"/>
          </a:xfrm>
          <a:prstGeom prst="rect">
            <a:avLst/>
          </a:prstGeom>
          <a:solidFill>
            <a:srgbClr val="FFFFFF"/>
          </a:solidFill>
          <a:ln/>
          <a:effectLst>
            <a:outerShdw blurRad="76200" dist="25400" dir="8100000" algn="bl" rotWithShape="0">
              <a:srgbClr val="000000">
                <a:alpha val="12000"/>
              </a:srgbClr>
            </a:outerShdw>
          </a:effectLst>
        </p:spPr>
      </p:sp>
      <p:sp>
        <p:nvSpPr>
          <p:cNvPr id="15" name="Shape 12"/>
          <p:cNvSpPr/>
          <p:nvPr/>
        </p:nvSpPr>
        <p:spPr>
          <a:xfrm>
            <a:off x="3474720" y="1737360"/>
            <a:ext cx="2560320" cy="45720"/>
          </a:xfrm>
          <a:prstGeom prst="rect">
            <a:avLst/>
          </a:prstGeom>
          <a:solidFill>
            <a:srgbClr val="F59E0B"/>
          </a:solidFill>
          <a:ln/>
        </p:spPr>
      </p:sp>
      <p:sp>
        <p:nvSpPr>
          <p:cNvPr id="16" name="Text 13"/>
          <p:cNvSpPr/>
          <p:nvPr/>
        </p:nvSpPr>
        <p:spPr>
          <a:xfrm>
            <a:off x="3566160" y="1810512"/>
            <a:ext cx="2377440" cy="320040"/>
          </a:xfrm>
          <a:prstGeom prst="rect">
            <a:avLst/>
          </a:prstGeom>
          <a:noFill/>
          <a:ln/>
        </p:spPr>
        <p:txBody>
          <a:bodyPr wrap="square" rtlCol="0" anchor="ctr"/>
          <a:lstStyle/>
          <a:p>
            <a:pPr marL="0" indent="0">
              <a:buNone/>
            </a:pPr>
            <a:r>
              <a:rPr lang="en-US" sz="1300" b="1" dirty="0">
                <a:solidFill>
                  <a:srgbClr val="F59E0B"/>
                </a:solidFill>
                <a:latin typeface="맑은 고딕" pitchFamily="34" charset="0"/>
                <a:ea typeface="맑은 고딕" pitchFamily="34" charset="-122"/>
                <a:cs typeface="맑은 고딕" pitchFamily="34" charset="-120"/>
              </a:rPr>
              <a:t>연산</a:t>
            </a:r>
            <a:endParaRPr lang="en-US" sz="1300" dirty="0"/>
          </a:p>
        </p:txBody>
      </p:sp>
      <p:sp>
        <p:nvSpPr>
          <p:cNvPr id="17" name="Text 14"/>
          <p:cNvSpPr/>
          <p:nvPr/>
        </p:nvSpPr>
        <p:spPr>
          <a:xfrm>
            <a:off x="3566160" y="2176272"/>
            <a:ext cx="2377440" cy="502920"/>
          </a:xfrm>
          <a:prstGeom prst="rect">
            <a:avLst/>
          </a:prstGeom>
          <a:noFill/>
          <a:ln/>
        </p:spPr>
        <p:txBody>
          <a:bodyPr wrap="square" rtlCol="0" anchor="ctr"/>
          <a:lstStyle/>
          <a:p>
            <a:pPr marL="0" indent="0">
              <a:lnSpc>
                <a:spcPct val="130000"/>
              </a:lnSpc>
              <a:buNone/>
            </a:pPr>
            <a:r>
              <a:rPr lang="en-US" sz="1000" dirty="0">
                <a:solidFill>
                  <a:srgbClr val="334155"/>
                </a:solidFill>
                <a:latin typeface="Calibri" pitchFamily="34" charset="0"/>
                <a:ea typeface="Calibri" pitchFamily="34" charset="-122"/>
                <a:cs typeface="Calibri" pitchFamily="34" charset="-120"/>
              </a:rPr>
              <a:t>데이터를 어떻게 조작하는지 (삽입, 삭제, 수정, 검색)</a:t>
            </a:r>
            <a:endParaRPr lang="en-US" sz="1000" dirty="0"/>
          </a:p>
        </p:txBody>
      </p:sp>
      <p:sp>
        <p:nvSpPr>
          <p:cNvPr id="18" name="Shape 15"/>
          <p:cNvSpPr/>
          <p:nvPr/>
        </p:nvSpPr>
        <p:spPr>
          <a:xfrm>
            <a:off x="6400800" y="1737360"/>
            <a:ext cx="2560320" cy="1005840"/>
          </a:xfrm>
          <a:prstGeom prst="rect">
            <a:avLst/>
          </a:prstGeom>
          <a:solidFill>
            <a:srgbClr val="FFFFFF"/>
          </a:solidFill>
          <a:ln/>
          <a:effectLst>
            <a:outerShdw blurRad="76200" dist="25400" dir="8100000" algn="bl" rotWithShape="0">
              <a:srgbClr val="000000">
                <a:alpha val="12000"/>
              </a:srgbClr>
            </a:outerShdw>
          </a:effectLst>
        </p:spPr>
      </p:sp>
      <p:sp>
        <p:nvSpPr>
          <p:cNvPr id="19" name="Shape 16"/>
          <p:cNvSpPr/>
          <p:nvPr/>
        </p:nvSpPr>
        <p:spPr>
          <a:xfrm>
            <a:off x="6400800" y="1737360"/>
            <a:ext cx="2560320" cy="45720"/>
          </a:xfrm>
          <a:prstGeom prst="rect">
            <a:avLst/>
          </a:prstGeom>
          <a:solidFill>
            <a:srgbClr val="8B5CF6"/>
          </a:solidFill>
          <a:ln/>
        </p:spPr>
      </p:sp>
      <p:sp>
        <p:nvSpPr>
          <p:cNvPr id="20" name="Text 17"/>
          <p:cNvSpPr/>
          <p:nvPr/>
        </p:nvSpPr>
        <p:spPr>
          <a:xfrm>
            <a:off x="6492240" y="1810512"/>
            <a:ext cx="2377440" cy="320040"/>
          </a:xfrm>
          <a:prstGeom prst="rect">
            <a:avLst/>
          </a:prstGeom>
          <a:noFill/>
          <a:ln/>
        </p:spPr>
        <p:txBody>
          <a:bodyPr wrap="square" rtlCol="0" anchor="ctr"/>
          <a:lstStyle/>
          <a:p>
            <a:pPr marL="0" indent="0">
              <a:buNone/>
            </a:pPr>
            <a:r>
              <a:rPr lang="en-US" sz="1300" b="1" dirty="0">
                <a:solidFill>
                  <a:srgbClr val="8B5CF6"/>
                </a:solidFill>
                <a:latin typeface="맑은 고딕" pitchFamily="34" charset="0"/>
                <a:ea typeface="맑은 고딕" pitchFamily="34" charset="-122"/>
                <a:cs typeface="맑은 고딕" pitchFamily="34" charset="-120"/>
              </a:rPr>
              <a:t>제약조건</a:t>
            </a:r>
            <a:endParaRPr lang="en-US" sz="1300" dirty="0"/>
          </a:p>
        </p:txBody>
      </p:sp>
      <p:sp>
        <p:nvSpPr>
          <p:cNvPr id="21" name="Text 18"/>
          <p:cNvSpPr/>
          <p:nvPr/>
        </p:nvSpPr>
        <p:spPr>
          <a:xfrm>
            <a:off x="6492240" y="2176272"/>
            <a:ext cx="2377440" cy="502920"/>
          </a:xfrm>
          <a:prstGeom prst="rect">
            <a:avLst/>
          </a:prstGeom>
          <a:noFill/>
          <a:ln/>
        </p:spPr>
        <p:txBody>
          <a:bodyPr wrap="square" rtlCol="0" anchor="ctr"/>
          <a:lstStyle/>
          <a:p>
            <a:pPr marL="0" indent="0">
              <a:lnSpc>
                <a:spcPct val="130000"/>
              </a:lnSpc>
              <a:buNone/>
            </a:pPr>
            <a:r>
              <a:rPr lang="en-US" sz="1000" dirty="0">
                <a:solidFill>
                  <a:srgbClr val="334155"/>
                </a:solidFill>
                <a:latin typeface="Calibri" pitchFamily="34" charset="0"/>
                <a:ea typeface="Calibri" pitchFamily="34" charset="-122"/>
                <a:cs typeface="Calibri" pitchFamily="34" charset="-120"/>
              </a:rPr>
              <a:t>데이터가 만족해야 하는 조건과 규칙</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731520"/>
            <a:ext cx="1828800" cy="1097280"/>
          </a:xfrm>
          <a:prstGeom prst="rect">
            <a:avLst/>
          </a:prstGeom>
          <a:noFill/>
          <a:ln/>
        </p:spPr>
        <p:txBody>
          <a:bodyPr wrap="square" lIns="0" tIns="0" rIns="0" bIns="0" rtlCol="0" anchor="ctr"/>
          <a:lstStyle/>
          <a:p>
            <a:pPr marL="0" indent="0">
              <a:buNone/>
            </a:pPr>
            <a:r>
              <a:rPr lang="en-US" sz="6400" dirty="0">
                <a:solidFill>
                  <a:srgbClr val="0891B2"/>
                </a:solidFill>
                <a:latin typeface="Arial" pitchFamily="34" charset="0"/>
                <a:ea typeface="Arial" pitchFamily="34" charset="-122"/>
                <a:cs typeface="Arial" pitchFamily="34" charset="-120"/>
              </a:rPr>
              <a:t>02</a:t>
            </a:r>
            <a:endParaRPr lang="en-US" sz="6400" dirty="0"/>
          </a:p>
        </p:txBody>
      </p:sp>
      <p:sp>
        <p:nvSpPr>
          <p:cNvPr id="5" name="Shape 3"/>
          <p:cNvSpPr/>
          <p:nvPr/>
        </p:nvSpPr>
        <p:spPr>
          <a:xfrm>
            <a:off x="731520" y="1828800"/>
            <a:ext cx="1097280" cy="36576"/>
          </a:xfrm>
          <a:prstGeom prst="rect">
            <a:avLst/>
          </a:prstGeom>
          <a:solidFill>
            <a:srgbClr val="22D3EE"/>
          </a:solidFill>
          <a:ln/>
        </p:spPr>
      </p:sp>
      <p:sp>
        <p:nvSpPr>
          <p:cNvPr id="6" name="Text 4"/>
          <p:cNvSpPr/>
          <p:nvPr/>
        </p:nvSpPr>
        <p:spPr>
          <a:xfrm>
            <a:off x="731520" y="2377440"/>
            <a:ext cx="7315200" cy="1097280"/>
          </a:xfrm>
          <a:prstGeom prst="rect">
            <a:avLst/>
          </a:prstGeom>
          <a:noFill/>
          <a:ln/>
        </p:spPr>
        <p:txBody>
          <a:bodyPr wrap="square" lIns="0" tIns="0" rIns="0" bIns="0" rtlCol="0" anchor="ctr"/>
          <a:lstStyle/>
          <a:p>
            <a:pPr marL="0" indent="0">
              <a:buNone/>
            </a:pPr>
            <a:r>
              <a:rPr lang="en-US" sz="3800" b="1" dirty="0">
                <a:solidFill>
                  <a:srgbClr val="FFFFFF"/>
                </a:solidFill>
                <a:latin typeface="맑은 고딕" pitchFamily="34" charset="0"/>
                <a:ea typeface="맑은 고딕" pitchFamily="34" charset="-122"/>
                <a:cs typeface="맑은 고딕" pitchFamily="34" charset="-120"/>
              </a:rPr>
              <a:t>개체-관계 모델</a:t>
            </a:r>
            <a:endParaRPr lang="en-US" sz="3800" dirty="0"/>
          </a:p>
        </p:txBody>
      </p:sp>
      <p:sp>
        <p:nvSpPr>
          <p:cNvPr id="7" name="Text 5"/>
          <p:cNvSpPr/>
          <p:nvPr/>
        </p:nvSpPr>
        <p:spPr>
          <a:xfrm>
            <a:off x="731520" y="3474720"/>
            <a:ext cx="7315200" cy="457200"/>
          </a:xfrm>
          <a:prstGeom prst="rect">
            <a:avLst/>
          </a:prstGeom>
          <a:noFill/>
          <a:ln/>
        </p:spPr>
        <p:txBody>
          <a:bodyPr wrap="square" rtlCol="0" anchor="ctr"/>
          <a:lstStyle/>
          <a:p>
            <a:pPr marL="0" indent="0">
              <a:buNone/>
            </a:pPr>
            <a:r>
              <a:rPr lang="en-US" sz="1400" i="1" dirty="0">
                <a:solidFill>
                  <a:srgbClr val="94A3B8"/>
                </a:solidFill>
                <a:latin typeface="Arial" pitchFamily="34" charset="0"/>
                <a:ea typeface="Arial" pitchFamily="34" charset="-122"/>
                <a:cs typeface="Arial" pitchFamily="34" charset="-120"/>
              </a:rPr>
              <a:t>Entity-Relationship Model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개체-관계 모델 (E-R Model) 개요</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7" name="Shape 5"/>
          <p:cNvSpPr/>
          <p:nvPr/>
        </p:nvSpPr>
        <p:spPr>
          <a:xfrm>
            <a:off x="548640" y="960120"/>
            <a:ext cx="8046720" cy="91440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91440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개체-관계 모델 (Entity-Relationship Model)</a:t>
            </a:r>
            <a:endParaRPr lang="en-US" sz="1500" dirty="0"/>
          </a:p>
        </p:txBody>
      </p:sp>
      <p:sp>
        <p:nvSpPr>
          <p:cNvPr id="10" name="Text 8"/>
          <p:cNvSpPr/>
          <p:nvPr/>
        </p:nvSpPr>
        <p:spPr>
          <a:xfrm>
            <a:off x="731520" y="1417320"/>
            <a:ext cx="7680960" cy="3657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Peter Chen(1976)이 제안. 현실 세계를 개체 간의 관계로 표현. ER 다이어그램(ERD)으로 시각화.</a:t>
            </a:r>
            <a:endParaRPr lang="en-US" sz="1200" dirty="0"/>
          </a:p>
        </p:txBody>
      </p:sp>
      <p:sp>
        <p:nvSpPr>
          <p:cNvPr id="11" name="Shape 9"/>
          <p:cNvSpPr/>
          <p:nvPr/>
        </p:nvSpPr>
        <p:spPr>
          <a:xfrm>
            <a:off x="548640" y="210312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548640" y="2103120"/>
            <a:ext cx="2560320" cy="54864"/>
          </a:xfrm>
          <a:prstGeom prst="rect">
            <a:avLst/>
          </a:prstGeom>
          <a:solidFill>
            <a:srgbClr val="0891B2"/>
          </a:solidFill>
          <a:ln/>
        </p:spPr>
      </p:sp>
      <p:sp>
        <p:nvSpPr>
          <p:cNvPr id="13" name="Text 11"/>
          <p:cNvSpPr/>
          <p:nvPr/>
        </p:nvSpPr>
        <p:spPr>
          <a:xfrm>
            <a:off x="685800" y="2286000"/>
            <a:ext cx="2286000" cy="365760"/>
          </a:xfrm>
          <a:prstGeom prst="rect">
            <a:avLst/>
          </a:prstGeom>
          <a:noFill/>
          <a:ln/>
        </p:spPr>
        <p:txBody>
          <a:bodyPr wrap="square" rtlCol="0" anchor="ctr"/>
          <a:lstStyle/>
          <a:p>
            <a:pPr marL="0" indent="0" algn="ctr">
              <a:buNone/>
            </a:pPr>
            <a:r>
              <a:rPr lang="en-US" sz="1400" b="1" dirty="0">
                <a:solidFill>
                  <a:srgbClr val="0891B2"/>
                </a:solidFill>
                <a:latin typeface="맑은 고딕" pitchFamily="34" charset="0"/>
                <a:ea typeface="맑은 고딕" pitchFamily="34" charset="-122"/>
                <a:cs typeface="맑은 고딕" pitchFamily="34" charset="-120"/>
              </a:rPr>
              <a:t>개체 (Entity)</a:t>
            </a:r>
            <a:endParaRPr lang="en-US" sz="1400" dirty="0"/>
          </a:p>
        </p:txBody>
      </p:sp>
      <p:sp>
        <p:nvSpPr>
          <p:cNvPr id="14" name="Text 12"/>
          <p:cNvSpPr/>
          <p:nvPr/>
        </p:nvSpPr>
        <p:spPr>
          <a:xfrm>
            <a:off x="685800" y="2697480"/>
            <a:ext cx="2286000" cy="32004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사각형 □</a:t>
            </a:r>
            <a:endParaRPr lang="en-US" sz="1200" dirty="0"/>
          </a:p>
        </p:txBody>
      </p:sp>
      <p:sp>
        <p:nvSpPr>
          <p:cNvPr id="15" name="Text 13"/>
          <p:cNvSpPr/>
          <p:nvPr/>
        </p:nvSpPr>
        <p:spPr>
          <a:xfrm>
            <a:off x="685800" y="3108960"/>
            <a:ext cx="2286000" cy="6400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현실의 구별되는 대상</a:t>
            </a:r>
            <a:endParaRPr lang="en-US" sz="1100" dirty="0"/>
          </a:p>
        </p:txBody>
      </p:sp>
      <p:sp>
        <p:nvSpPr>
          <p:cNvPr id="16" name="Shape 14"/>
          <p:cNvSpPr/>
          <p:nvPr/>
        </p:nvSpPr>
        <p:spPr>
          <a:xfrm>
            <a:off x="3383280" y="210312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17" name="Shape 15"/>
          <p:cNvSpPr/>
          <p:nvPr/>
        </p:nvSpPr>
        <p:spPr>
          <a:xfrm>
            <a:off x="3383280" y="2103120"/>
            <a:ext cx="2560320" cy="54864"/>
          </a:xfrm>
          <a:prstGeom prst="rect">
            <a:avLst/>
          </a:prstGeom>
          <a:solidFill>
            <a:srgbClr val="F59E0B"/>
          </a:solidFill>
          <a:ln/>
        </p:spPr>
      </p:sp>
      <p:sp>
        <p:nvSpPr>
          <p:cNvPr id="18" name="Text 16"/>
          <p:cNvSpPr/>
          <p:nvPr/>
        </p:nvSpPr>
        <p:spPr>
          <a:xfrm>
            <a:off x="3520440" y="2286000"/>
            <a:ext cx="2286000" cy="365760"/>
          </a:xfrm>
          <a:prstGeom prst="rect">
            <a:avLst/>
          </a:prstGeom>
          <a:noFill/>
          <a:ln/>
        </p:spPr>
        <p:txBody>
          <a:bodyPr wrap="square" rtlCol="0" anchor="ctr"/>
          <a:lstStyle/>
          <a:p>
            <a:pPr marL="0" indent="0" algn="ctr">
              <a:buNone/>
            </a:pPr>
            <a:r>
              <a:rPr lang="en-US" sz="1400" b="1" dirty="0">
                <a:solidFill>
                  <a:srgbClr val="F59E0B"/>
                </a:solidFill>
                <a:latin typeface="맑은 고딕" pitchFamily="34" charset="0"/>
                <a:ea typeface="맑은 고딕" pitchFamily="34" charset="-122"/>
                <a:cs typeface="맑은 고딕" pitchFamily="34" charset="-120"/>
              </a:rPr>
              <a:t>속성 (Attribute)</a:t>
            </a:r>
            <a:endParaRPr lang="en-US" sz="1400" dirty="0"/>
          </a:p>
        </p:txBody>
      </p:sp>
      <p:sp>
        <p:nvSpPr>
          <p:cNvPr id="19" name="Text 17"/>
          <p:cNvSpPr/>
          <p:nvPr/>
        </p:nvSpPr>
        <p:spPr>
          <a:xfrm>
            <a:off x="3520440" y="2697480"/>
            <a:ext cx="2286000" cy="32004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타원 ○</a:t>
            </a:r>
            <a:endParaRPr lang="en-US" sz="1200" dirty="0"/>
          </a:p>
        </p:txBody>
      </p:sp>
      <p:sp>
        <p:nvSpPr>
          <p:cNvPr id="20" name="Text 18"/>
          <p:cNvSpPr/>
          <p:nvPr/>
        </p:nvSpPr>
        <p:spPr>
          <a:xfrm>
            <a:off x="3520440" y="3108960"/>
            <a:ext cx="2286000" cy="6400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개체의 고유 특성</a:t>
            </a:r>
            <a:endParaRPr lang="en-US" sz="1100" dirty="0"/>
          </a:p>
        </p:txBody>
      </p:sp>
      <p:sp>
        <p:nvSpPr>
          <p:cNvPr id="21" name="Shape 19"/>
          <p:cNvSpPr/>
          <p:nvPr/>
        </p:nvSpPr>
        <p:spPr>
          <a:xfrm>
            <a:off x="6217920" y="210312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22" name="Shape 20"/>
          <p:cNvSpPr/>
          <p:nvPr/>
        </p:nvSpPr>
        <p:spPr>
          <a:xfrm>
            <a:off x="6217920" y="2103120"/>
            <a:ext cx="2560320" cy="54864"/>
          </a:xfrm>
          <a:prstGeom prst="rect">
            <a:avLst/>
          </a:prstGeom>
          <a:solidFill>
            <a:srgbClr val="8B5CF6"/>
          </a:solidFill>
          <a:ln/>
        </p:spPr>
      </p:sp>
      <p:sp>
        <p:nvSpPr>
          <p:cNvPr id="23" name="Text 21"/>
          <p:cNvSpPr/>
          <p:nvPr/>
        </p:nvSpPr>
        <p:spPr>
          <a:xfrm>
            <a:off x="6355080" y="2286000"/>
            <a:ext cx="2286000" cy="365760"/>
          </a:xfrm>
          <a:prstGeom prst="rect">
            <a:avLst/>
          </a:prstGeom>
          <a:noFill/>
          <a:ln/>
        </p:spPr>
        <p:txBody>
          <a:bodyPr wrap="square" rtlCol="0" anchor="ctr"/>
          <a:lstStyle/>
          <a:p>
            <a:pPr marL="0" indent="0" algn="ctr">
              <a:buNone/>
            </a:pPr>
            <a:r>
              <a:rPr lang="en-US" sz="1400" b="1" dirty="0">
                <a:solidFill>
                  <a:srgbClr val="8B5CF6"/>
                </a:solidFill>
                <a:latin typeface="맑은 고딕" pitchFamily="34" charset="0"/>
                <a:ea typeface="맑은 고딕" pitchFamily="34" charset="-122"/>
                <a:cs typeface="맑은 고딕" pitchFamily="34" charset="-120"/>
              </a:rPr>
              <a:t>관계 (Relationship)</a:t>
            </a:r>
            <a:endParaRPr lang="en-US" sz="1400" dirty="0"/>
          </a:p>
        </p:txBody>
      </p:sp>
      <p:sp>
        <p:nvSpPr>
          <p:cNvPr id="24" name="Text 22"/>
          <p:cNvSpPr/>
          <p:nvPr/>
        </p:nvSpPr>
        <p:spPr>
          <a:xfrm>
            <a:off x="6355080" y="2697480"/>
            <a:ext cx="2286000" cy="32004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마름모 ◇</a:t>
            </a:r>
            <a:endParaRPr lang="en-US" sz="1200" dirty="0"/>
          </a:p>
        </p:txBody>
      </p:sp>
      <p:sp>
        <p:nvSpPr>
          <p:cNvPr id="25" name="Text 23"/>
          <p:cNvSpPr/>
          <p:nvPr/>
        </p:nvSpPr>
        <p:spPr>
          <a:xfrm>
            <a:off x="6355080" y="3108960"/>
            <a:ext cx="2286000" cy="6400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개체 간 연관성</a:t>
            </a:r>
            <a:endParaRPr lang="en-US" sz="1100" dirty="0"/>
          </a:p>
        </p:txBody>
      </p:sp>
      <p:sp>
        <p:nvSpPr>
          <p:cNvPr id="26" name="Shape 24"/>
          <p:cNvSpPr/>
          <p:nvPr/>
        </p:nvSpPr>
        <p:spPr>
          <a:xfrm>
            <a:off x="548640" y="4160520"/>
            <a:ext cx="8046720" cy="411480"/>
          </a:xfrm>
          <a:prstGeom prst="rect">
            <a:avLst/>
          </a:prstGeom>
          <a:solidFill>
            <a:srgbClr val="1A2744"/>
          </a:solidFill>
          <a:ln/>
        </p:spPr>
      </p:sp>
      <p:sp>
        <p:nvSpPr>
          <p:cNvPr id="27" name="Text 25"/>
          <p:cNvSpPr/>
          <p:nvPr/>
        </p:nvSpPr>
        <p:spPr>
          <a:xfrm>
            <a:off x="822960" y="4160520"/>
            <a:ext cx="749808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ER 모델 3요소 = 개체 + 속성 + 관계  →  ERD로 시각화</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개체 (Entity)</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
        <p:nvSpPr>
          <p:cNvPr id="7" name="Shape 5"/>
          <p:cNvSpPr/>
          <p:nvPr/>
        </p:nvSpPr>
        <p:spPr>
          <a:xfrm>
            <a:off x="548640" y="960120"/>
            <a:ext cx="8046720" cy="91440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91440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개체 (Entity)</a:t>
            </a:r>
            <a:endParaRPr lang="en-US" sz="1500" dirty="0"/>
          </a:p>
        </p:txBody>
      </p:sp>
      <p:sp>
        <p:nvSpPr>
          <p:cNvPr id="10" name="Text 8"/>
          <p:cNvSpPr/>
          <p:nvPr/>
        </p:nvSpPr>
        <p:spPr>
          <a:xfrm>
            <a:off x="731520" y="1417320"/>
            <a:ext cx="7680960" cy="3657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현실 세계에서 구별되는 모든 것. 저장할 가치가 있는 데이터를 가진 사람·사물·개념·사건.</a:t>
            </a:r>
            <a:endParaRPr lang="en-US" sz="1200" dirty="0"/>
          </a:p>
        </p:txBody>
      </p:sp>
      <p:sp>
        <p:nvSpPr>
          <p:cNvPr id="11" name="Shape 9"/>
          <p:cNvSpPr/>
          <p:nvPr/>
        </p:nvSpPr>
        <p:spPr>
          <a:xfrm>
            <a:off x="548640" y="2103120"/>
            <a:ext cx="1920240" cy="822960"/>
          </a:xfrm>
          <a:prstGeom prst="rect">
            <a:avLst/>
          </a:prstGeom>
          <a:solidFill>
            <a:srgbClr val="FFFFFF"/>
          </a:solidFill>
          <a:ln/>
          <a:effectLst>
            <a:outerShdw blurRad="76200" dist="25400" dir="8100000" algn="bl" rotWithShape="0">
              <a:srgbClr val="000000">
                <a:alpha val="12000"/>
              </a:srgbClr>
            </a:outerShdw>
          </a:effectLst>
        </p:spPr>
      </p:sp>
      <p:sp>
        <p:nvSpPr>
          <p:cNvPr id="12" name="Text 10"/>
          <p:cNvSpPr/>
          <p:nvPr/>
        </p:nvSpPr>
        <p:spPr>
          <a:xfrm>
            <a:off x="640080" y="2148840"/>
            <a:ext cx="173736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사람</a:t>
            </a:r>
            <a:endParaRPr lang="en-US" sz="1300" dirty="0"/>
          </a:p>
        </p:txBody>
      </p:sp>
      <p:sp>
        <p:nvSpPr>
          <p:cNvPr id="13" name="Text 11"/>
          <p:cNvSpPr/>
          <p:nvPr/>
        </p:nvSpPr>
        <p:spPr>
          <a:xfrm>
            <a:off x="640080" y="2487168"/>
            <a:ext cx="1737360" cy="36576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고객, 학생, 교수</a:t>
            </a:r>
            <a:endParaRPr lang="en-US" sz="1000" dirty="0"/>
          </a:p>
        </p:txBody>
      </p:sp>
      <p:sp>
        <p:nvSpPr>
          <p:cNvPr id="14" name="Shape 12"/>
          <p:cNvSpPr/>
          <p:nvPr/>
        </p:nvSpPr>
        <p:spPr>
          <a:xfrm>
            <a:off x="2651760" y="2103120"/>
            <a:ext cx="1920240" cy="822960"/>
          </a:xfrm>
          <a:prstGeom prst="rect">
            <a:avLst/>
          </a:prstGeom>
          <a:solidFill>
            <a:srgbClr val="FFFFFF"/>
          </a:solidFill>
          <a:ln/>
          <a:effectLst>
            <a:outerShdw blurRad="76200" dist="25400" dir="8100000" algn="bl" rotWithShape="0">
              <a:srgbClr val="000000">
                <a:alpha val="12000"/>
              </a:srgbClr>
            </a:outerShdw>
          </a:effectLst>
        </p:spPr>
      </p:sp>
      <p:sp>
        <p:nvSpPr>
          <p:cNvPr id="15" name="Text 13"/>
          <p:cNvSpPr/>
          <p:nvPr/>
        </p:nvSpPr>
        <p:spPr>
          <a:xfrm>
            <a:off x="2743200" y="2148840"/>
            <a:ext cx="173736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사물</a:t>
            </a:r>
            <a:endParaRPr lang="en-US" sz="1300" dirty="0"/>
          </a:p>
        </p:txBody>
      </p:sp>
      <p:sp>
        <p:nvSpPr>
          <p:cNvPr id="16" name="Text 14"/>
          <p:cNvSpPr/>
          <p:nvPr/>
        </p:nvSpPr>
        <p:spPr>
          <a:xfrm>
            <a:off x="2743200" y="2487168"/>
            <a:ext cx="1737360" cy="36576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상품, 책, 건물</a:t>
            </a:r>
            <a:endParaRPr lang="en-US" sz="1000" dirty="0"/>
          </a:p>
        </p:txBody>
      </p:sp>
      <p:sp>
        <p:nvSpPr>
          <p:cNvPr id="17" name="Shape 15"/>
          <p:cNvSpPr/>
          <p:nvPr/>
        </p:nvSpPr>
        <p:spPr>
          <a:xfrm>
            <a:off x="4754880" y="2103120"/>
            <a:ext cx="1920240" cy="822960"/>
          </a:xfrm>
          <a:prstGeom prst="rect">
            <a:avLst/>
          </a:prstGeom>
          <a:solidFill>
            <a:srgbClr val="FFFFFF"/>
          </a:solidFill>
          <a:ln/>
          <a:effectLst>
            <a:outerShdw blurRad="76200" dist="25400" dir="8100000" algn="bl" rotWithShape="0">
              <a:srgbClr val="000000">
                <a:alpha val="12000"/>
              </a:srgbClr>
            </a:outerShdw>
          </a:effectLst>
        </p:spPr>
      </p:sp>
      <p:sp>
        <p:nvSpPr>
          <p:cNvPr id="18" name="Text 16"/>
          <p:cNvSpPr/>
          <p:nvPr/>
        </p:nvSpPr>
        <p:spPr>
          <a:xfrm>
            <a:off x="4846320" y="2148840"/>
            <a:ext cx="173736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개념</a:t>
            </a:r>
            <a:endParaRPr lang="en-US" sz="1300" dirty="0"/>
          </a:p>
        </p:txBody>
      </p:sp>
      <p:sp>
        <p:nvSpPr>
          <p:cNvPr id="19" name="Text 17"/>
          <p:cNvSpPr/>
          <p:nvPr/>
        </p:nvSpPr>
        <p:spPr>
          <a:xfrm>
            <a:off x="4846320" y="2487168"/>
            <a:ext cx="1737360" cy="36576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과목, 부서, 프로젝트</a:t>
            </a:r>
            <a:endParaRPr lang="en-US" sz="1000" dirty="0"/>
          </a:p>
        </p:txBody>
      </p:sp>
      <p:sp>
        <p:nvSpPr>
          <p:cNvPr id="20" name="Shape 18"/>
          <p:cNvSpPr/>
          <p:nvPr/>
        </p:nvSpPr>
        <p:spPr>
          <a:xfrm>
            <a:off x="6858000" y="2103120"/>
            <a:ext cx="1920240" cy="822960"/>
          </a:xfrm>
          <a:prstGeom prst="rect">
            <a:avLst/>
          </a:prstGeom>
          <a:solidFill>
            <a:srgbClr val="FFFFFF"/>
          </a:solidFill>
          <a:ln/>
          <a:effectLst>
            <a:outerShdw blurRad="76200" dist="25400" dir="8100000" algn="bl" rotWithShape="0">
              <a:srgbClr val="000000">
                <a:alpha val="12000"/>
              </a:srgbClr>
            </a:outerShdw>
          </a:effectLst>
        </p:spPr>
      </p:sp>
      <p:sp>
        <p:nvSpPr>
          <p:cNvPr id="21" name="Text 19"/>
          <p:cNvSpPr/>
          <p:nvPr/>
        </p:nvSpPr>
        <p:spPr>
          <a:xfrm>
            <a:off x="6949440" y="2148840"/>
            <a:ext cx="173736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사건</a:t>
            </a:r>
            <a:endParaRPr lang="en-US" sz="1300" dirty="0"/>
          </a:p>
        </p:txBody>
      </p:sp>
      <p:sp>
        <p:nvSpPr>
          <p:cNvPr id="22" name="Text 20"/>
          <p:cNvSpPr/>
          <p:nvPr/>
        </p:nvSpPr>
        <p:spPr>
          <a:xfrm>
            <a:off x="6949440" y="2487168"/>
            <a:ext cx="1737360" cy="36576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주문, 수강신청, 예약</a:t>
            </a:r>
            <a:endParaRPr lang="en-US" sz="1000" dirty="0"/>
          </a:p>
        </p:txBody>
      </p:sp>
      <p:sp>
        <p:nvSpPr>
          <p:cNvPr id="23" name="Shape 21"/>
          <p:cNvSpPr/>
          <p:nvPr/>
        </p:nvSpPr>
        <p:spPr>
          <a:xfrm>
            <a:off x="548640" y="3200400"/>
            <a:ext cx="8046720" cy="640080"/>
          </a:xfrm>
          <a:prstGeom prst="rect">
            <a:avLst/>
          </a:prstGeom>
          <a:solidFill>
            <a:srgbClr val="FFFFFF"/>
          </a:solidFill>
          <a:ln/>
          <a:effectLst>
            <a:outerShdw blurRad="76200" dist="25400" dir="8100000" algn="bl" rotWithShape="0">
              <a:srgbClr val="000000">
                <a:alpha val="12000"/>
              </a:srgbClr>
            </a:outerShdw>
          </a:effectLst>
        </p:spPr>
      </p:sp>
      <p:sp>
        <p:nvSpPr>
          <p:cNvPr id="24" name="Text 22"/>
          <p:cNvSpPr/>
          <p:nvPr/>
        </p:nvSpPr>
        <p:spPr>
          <a:xfrm>
            <a:off x="777240" y="3200400"/>
            <a:ext cx="7589520" cy="64008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개체 타입 = 구조 정의(스키마)  |  개체 인스턴스 = 실제 저장된 값  |  ERD: 사각형(□)</a:t>
            </a:r>
            <a:endParaRPr lang="en-US" sz="1200" dirty="0"/>
          </a:p>
        </p:txBody>
      </p:sp>
    </p:spTree>
  </p:cSld>
  <p:clrMapOvr>
    <a:masterClrMapping/>
  </p:clrMapOvr>
</p:sld>
</file>

<file path=ppt/slides/slide1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0">
    <p:bg>
      <p:bgPr shadeToTitle="0">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속성 (Attribute)의 분류</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7" name="Shape 5"/>
          <p:cNvSpPr/>
          <p:nvPr/>
        </p:nvSpPr>
        <p:spPr>
          <a:xfrm>
            <a:off x="548640" y="960120"/>
            <a:ext cx="8046720" cy="7315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73152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속성 (Attribute)</a:t>
            </a:r>
            <a:endParaRPr lang="en-US" sz="1500" dirty="0"/>
          </a:p>
        </p:txBody>
      </p:sp>
      <p:sp>
        <p:nvSpPr>
          <p:cNvPr id="10" name="Text 8"/>
          <p:cNvSpPr/>
          <p:nvPr/>
        </p:nvSpPr>
        <p:spPr>
          <a:xfrm>
            <a:off x="731520" y="1417320"/>
            <a:ext cx="7680960" cy="1828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개체의 고유한 특성. 의미 있는 데이터의 가장 작은 논리적 단위. ERD: 타원(○).</a:t>
            </a:r>
            <a:endParaRPr lang="en-US" sz="1200" dirty="0"/>
          </a:p>
        </p:txBody>
      </p:sp>
      <p:graphicFrame>
        <p:nvGraphicFramePr>
          <p:cNvPr id="11" name="Table 0"/>
          <p:cNvGraphicFramePr>
            <a:graphicFrameLocks noGrp="1"/>
          </p:cNvGraphicFramePr>
          <p:nvPr/>
        </p:nvGraphicFramePr>
        <p:xfrm>
          <a:off x="1215288" y="1986534"/>
          <a:ext cx="6949440" cy="2532888"/>
        </p:xfrm>
        <a:graphic>
          <a:graphicData uri="http://schemas.openxmlformats.org/drawingml/2006/table">
            <a:tbl>
              <a:tblGrid>
                <a:gridCol w="1097280"/>
                <a:gridCol w="822960"/>
                <a:gridCol w="2011680"/>
                <a:gridCol w="1188720"/>
                <a:gridCol w="1828800"/>
              </a:tblGrid>
              <a:tr h="292608">
                <a:tc>
                  <a:txBody>
                    <a:bodyPr vert="horz" lIns="91440" tIns="45720" rIns="91440" bIns="45720" anchor="t" anchorCtr="0"/>
                    <a:lstStyle/>
                    <a:p>
                      <a:pPr marL="0" lvl="0" indent="0" algn="ctr">
                        <a:buNone/>
                        <a:defRPr/>
                      </a:pPr>
                      <a:r>
                        <a:rPr lang="en-US" sz="1000" b="1">
                          <a:solidFill>
                            <a:srgbClr val="ffffff"/>
                          </a:solidFill>
                          <a:latin typeface="맑은 고딕"/>
                          <a:ea typeface="맑은 고딕"/>
                          <a:cs typeface="맑은 고딕"/>
                        </a:rPr>
                        <a:t>분류 기준</a:t>
                      </a:r>
                      <a:endParaRPr lang="en-US" sz="1000">
                        <a:latin typeface="맑은 고딕"/>
                        <a:ea typeface="맑은 고딕"/>
                        <a:cs typeface="맑은 고딕"/>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solidFill>
                      <a:srgbClr val="0891b2"/>
                    </a:solidFill>
                  </a:tcPr>
                </a:tc>
                <a:tc>
                  <a:txBody>
                    <a:bodyPr vert="horz" lIns="91440" tIns="45720" rIns="91440" bIns="45720" anchor="t" anchorCtr="0"/>
                    <a:lstStyle/>
                    <a:p>
                      <a:pPr marL="0" lvl="0" indent="0" algn="ctr">
                        <a:buNone/>
                        <a:defRPr/>
                      </a:pPr>
                      <a:r>
                        <a:rPr lang="en-US" sz="1000" b="1">
                          <a:solidFill>
                            <a:srgbClr val="ffffff"/>
                          </a:solidFill>
                          <a:latin typeface="맑은 고딕"/>
                          <a:ea typeface="맑은 고딕"/>
                          <a:cs typeface="맑은 고딕"/>
                        </a:rPr>
                        <a:t>종류</a:t>
                      </a:r>
                      <a:endParaRPr lang="en-US" sz="1000">
                        <a:latin typeface="맑은 고딕"/>
                        <a:ea typeface="맑은 고딕"/>
                        <a:cs typeface="맑은 고딕"/>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solidFill>
                      <a:srgbClr val="0891b2"/>
                    </a:solidFill>
                  </a:tcPr>
                </a:tc>
                <a:tc>
                  <a:txBody>
                    <a:bodyPr vert="horz" lIns="91440" tIns="45720" rIns="91440" bIns="45720" anchor="t" anchorCtr="0"/>
                    <a:lstStyle/>
                    <a:p>
                      <a:pPr marL="0" lvl="0" indent="0" algn="ctr">
                        <a:buNone/>
                        <a:defRPr/>
                      </a:pPr>
                      <a:r>
                        <a:rPr lang="en-US" sz="1000" b="1">
                          <a:solidFill>
                            <a:srgbClr val="ffffff"/>
                          </a:solidFill>
                          <a:latin typeface="맑은 고딕"/>
                          <a:ea typeface="맑은 고딕"/>
                          <a:cs typeface="맑은 고딕"/>
                        </a:rPr>
                        <a:t>설명</a:t>
                      </a:r>
                      <a:endParaRPr lang="en-US" sz="1000">
                        <a:latin typeface="맑은 고딕"/>
                        <a:ea typeface="맑은 고딕"/>
                        <a:cs typeface="맑은 고딕"/>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solidFill>
                      <a:srgbClr val="0891b2"/>
                    </a:solidFill>
                  </a:tcPr>
                </a:tc>
                <a:tc>
                  <a:txBody>
                    <a:bodyPr vert="horz" lIns="91440" tIns="45720" rIns="91440" bIns="45720" anchor="t" anchorCtr="0"/>
                    <a:lstStyle/>
                    <a:p>
                      <a:pPr marL="0" lvl="0" indent="0" algn="ctr">
                        <a:buNone/>
                        <a:defRPr/>
                      </a:pPr>
                      <a:r>
                        <a:rPr lang="en-US" sz="1000" b="1">
                          <a:solidFill>
                            <a:srgbClr val="ffffff"/>
                          </a:solidFill>
                          <a:latin typeface="맑은 고딕"/>
                          <a:ea typeface="맑은 고딕"/>
                          <a:cs typeface="맑은 고딕"/>
                        </a:rPr>
                        <a:t>ERD 표현</a:t>
                      </a:r>
                      <a:endParaRPr lang="en-US" sz="1000">
                        <a:latin typeface="맑은 고딕"/>
                        <a:ea typeface="맑은 고딕"/>
                        <a:cs typeface="맑은 고딕"/>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solidFill>
                      <a:srgbClr val="0891b2"/>
                    </a:solidFill>
                  </a:tcPr>
                </a:tc>
                <a:tc>
                  <a:txBody>
                    <a:bodyPr vert="horz" lIns="91440" tIns="45720" rIns="91440" bIns="45720" anchor="t" anchorCtr="0"/>
                    <a:lstStyle/>
                    <a:p>
                      <a:pPr marL="0" lvl="0" indent="0" algn="ctr">
                        <a:buNone/>
                        <a:defRPr/>
                      </a:pPr>
                      <a:r>
                        <a:rPr lang="en-US" sz="1000" b="1">
                          <a:solidFill>
                            <a:srgbClr val="ffffff"/>
                          </a:solidFill>
                          <a:latin typeface="맑은 고딕"/>
                          <a:ea typeface="맑은 고딕"/>
                          <a:cs typeface="맑은 고딕"/>
                        </a:rPr>
                        <a:t>예시</a:t>
                      </a:r>
                      <a:endParaRPr lang="en-US" sz="1000">
                        <a:latin typeface="맑은 고딕"/>
                        <a:ea typeface="맑은 고딕"/>
                        <a:cs typeface="맑은 고딕"/>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solidFill>
                      <a:srgbClr val="0891b2"/>
                    </a:solidFill>
                  </a:tcPr>
                </a:tc>
              </a:tr>
              <a:tr h="320040">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값의 개수</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단일 값</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값을 하나만 가짐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일반 타원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이름, 나이</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다중 값</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여러 값 가능</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이중 타원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연락처, 이메일</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의미 분해</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단순</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더 분해 불가</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일반 타원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적립금, 가격</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복합</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하위 속성으로 분해</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가지형</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주소, 생년월일</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유도 여부</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유도</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계산으로 유도</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점선 타원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판매가격</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식별 기능</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key</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인스턴스 식별</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밑줄 타원</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고객아이디</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r h="320040">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null 허용</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null</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값 미정 허용</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c>
                  <a:txBody>
                    <a:bodyPr vert="horz" lIns="91440" tIns="45720" rIns="91440" bIns="45720" anchor="t" anchorCtr="0"/>
                    <a:lstStyle/>
                    <a:p>
                      <a:pPr marL="0" lvl="0" indent="0" algn="ctr">
                        <a:buNone/>
                        <a:defRPr/>
                      </a:pPr>
                      <a:r>
                        <a:rPr lang="en-US" sz="900">
                          <a:solidFill>
                            <a:srgbClr val="334155"/>
                          </a:solidFill>
                          <a:latin typeface="Calibri"/>
                          <a:ea typeface="Calibri"/>
                          <a:cs typeface="Calibri"/>
                        </a:rPr>
                        <a:t>등급(미정 시)</a:t>
                      </a:r>
                      <a:endParaRPr lang="en-US" sz="900">
                        <a:latin typeface="Calibri"/>
                        <a:ea typeface="Calibri"/>
                        <a:cs typeface="Calibri"/>
                      </a:endParaRPr>
                    </a:p>
                  </a:txBody>
                  <a:tcPr marL="91440" marR="91440">
                    <a:lnL w="6350" cap="flat" cmpd="sng" algn="ctr">
                      <a:solidFill>
                        <a:srgbClr val="e2e8f0"/>
                      </a:solidFill>
                      <a:prstDash val="solid"/>
                      <a:round/>
                      <a:headEnd w="med" len="med"/>
                      <a:tailEnd w="med" len="med"/>
                    </a:lnL>
                    <a:lnR w="6350" cap="flat" cmpd="sng" algn="ctr">
                      <a:solidFill>
                        <a:srgbClr val="e2e8f0"/>
                      </a:solidFill>
                      <a:prstDash val="solid"/>
                      <a:round/>
                      <a:headEnd w="med" len="med"/>
                      <a:tailEnd w="med" len="med"/>
                    </a:lnR>
                    <a:lnT w="6350" cap="flat" cmpd="sng" algn="ctr">
                      <a:solidFill>
                        <a:srgbClr val="e2e8f0"/>
                      </a:solidFill>
                      <a:prstDash val="solid"/>
                      <a:round/>
                      <a:headEnd w="med" len="med"/>
                      <a:tailEnd w="med" len="med"/>
                    </a:lnT>
                    <a:lnB w="6350" cap="flat" cmpd="sng" algn="ctr">
                      <a:solidFill>
                        <a:srgbClr val="e2e8f0"/>
                      </a:solidFill>
                      <a:prstDash val="solid"/>
                      <a:round/>
                      <a:headEnd w="med" len="med"/>
                      <a:tailEnd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단일 값 속성 vs 다중 값 속성</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7" name="Shape 5"/>
          <p:cNvSpPr/>
          <p:nvPr/>
        </p:nvSpPr>
        <p:spPr>
          <a:xfrm>
            <a:off x="548640" y="960120"/>
            <a:ext cx="3840480" cy="182880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1828800"/>
          </a:xfrm>
          <a:prstGeom prst="rect">
            <a:avLst/>
          </a:prstGeom>
          <a:solidFill>
            <a:srgbClr val="0891B2"/>
          </a:solidFill>
          <a:ln/>
        </p:spPr>
      </p:sp>
      <p:sp>
        <p:nvSpPr>
          <p:cNvPr id="9" name="Text 7"/>
          <p:cNvSpPr/>
          <p:nvPr/>
        </p:nvSpPr>
        <p:spPr>
          <a:xfrm>
            <a:off x="73152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단일 값 속성 (Single-Valued)</a:t>
            </a:r>
            <a:endParaRPr lang="en-US" sz="1500" dirty="0"/>
          </a:p>
        </p:txBody>
      </p:sp>
      <p:sp>
        <p:nvSpPr>
          <p:cNvPr id="10" name="Text 8"/>
          <p:cNvSpPr/>
          <p:nvPr/>
        </p:nvSpPr>
        <p:spPr>
          <a:xfrm>
            <a:off x="731520" y="1417320"/>
            <a:ext cx="3474720" cy="12801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값을 하나만 가질 수 있는 속성</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이름, 나이, 학번</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일반 타원</a:t>
            </a:r>
            <a:endParaRPr lang="en-US" sz="1200" dirty="0"/>
          </a:p>
        </p:txBody>
      </p:sp>
      <p:sp>
        <p:nvSpPr>
          <p:cNvPr id="11" name="Shape 9"/>
          <p:cNvSpPr/>
          <p:nvPr/>
        </p:nvSpPr>
        <p:spPr>
          <a:xfrm>
            <a:off x="4754880" y="960120"/>
            <a:ext cx="3840480" cy="182880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4754880" y="960120"/>
            <a:ext cx="54864" cy="1828800"/>
          </a:xfrm>
          <a:prstGeom prst="rect">
            <a:avLst/>
          </a:prstGeom>
          <a:solidFill>
            <a:srgbClr val="F59E0B"/>
          </a:solidFill>
          <a:ln/>
        </p:spPr>
      </p:sp>
      <p:sp>
        <p:nvSpPr>
          <p:cNvPr id="13" name="Text 11"/>
          <p:cNvSpPr/>
          <p:nvPr/>
        </p:nvSpPr>
        <p:spPr>
          <a:xfrm>
            <a:off x="493776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다중 값 속성 (Multi-Valued)</a:t>
            </a:r>
            <a:endParaRPr lang="en-US" sz="1500" dirty="0"/>
          </a:p>
        </p:txBody>
      </p:sp>
      <p:sp>
        <p:nvSpPr>
          <p:cNvPr id="14" name="Text 12"/>
          <p:cNvSpPr/>
          <p:nvPr/>
        </p:nvSpPr>
        <p:spPr>
          <a:xfrm>
            <a:off x="4937760" y="1417320"/>
            <a:ext cx="3474720" cy="12801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값을 여러 개 가질 수 있는 속성</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연락처, 이메일</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이중 타원 ◎</a:t>
            </a:r>
            <a:endParaRPr lang="en-US" sz="1200" dirty="0"/>
          </a:p>
        </p:txBody>
      </p:sp>
      <p:sp>
        <p:nvSpPr>
          <p:cNvPr id="15" name="Shape 13"/>
          <p:cNvSpPr/>
          <p:nvPr/>
        </p:nvSpPr>
        <p:spPr>
          <a:xfrm>
            <a:off x="548640" y="3017520"/>
            <a:ext cx="8046720" cy="457200"/>
          </a:xfrm>
          <a:prstGeom prst="rect">
            <a:avLst/>
          </a:prstGeom>
          <a:solidFill>
            <a:srgbClr val="E0F7FA"/>
          </a:solidFill>
          <a:ln/>
        </p:spPr>
      </p:sp>
      <p:sp>
        <p:nvSpPr>
          <p:cNvPr id="16" name="Text 14"/>
          <p:cNvSpPr/>
          <p:nvPr/>
        </p:nvSpPr>
        <p:spPr>
          <a:xfrm>
            <a:off x="822960" y="3017520"/>
            <a:ext cx="7498080" cy="457200"/>
          </a:xfrm>
          <a:prstGeom prst="rect">
            <a:avLst/>
          </a:prstGeom>
          <a:noFill/>
          <a:ln/>
        </p:spPr>
        <p:txBody>
          <a:bodyPr wrap="square" rtlCol="0" anchor="ctr"/>
          <a:lstStyle/>
          <a:p>
            <a:pPr marL="0" indent="0">
              <a:buNone/>
            </a:pPr>
            <a:r>
              <a:rPr lang="en-US" sz="1300" b="1" dirty="0">
                <a:solidFill>
                  <a:srgbClr val="334155"/>
                </a:solidFill>
                <a:latin typeface="Calibri" pitchFamily="34" charset="0"/>
                <a:ea typeface="Calibri" pitchFamily="34" charset="-122"/>
                <a:cs typeface="Calibri" pitchFamily="34" charset="-120"/>
              </a:rPr>
              <a:t>실무: 다중 값 속성은 관계형 DB에서 별도 테이블로 분리 (1NF 정규화)</a:t>
            </a:r>
            <a:endParaRPr lang="en-US" sz="1300" dirty="0"/>
          </a:p>
        </p:txBody>
      </p:sp>
      <p:pic>
        <p:nvPicPr>
          <p:cNvPr id="17" name="그림 16">
            <a:extLst>
              <a:ext uri="{FF2B5EF4-FFF2-40B4-BE49-F238E27FC236}">
                <a16:creationId xmlns:a16="http://schemas.microsoft.com/office/drawing/2014/main" id="{895C125C-9293-93DC-FC12-910E35211559}"/>
              </a:ext>
            </a:extLst>
          </p:cNvPr>
          <p:cNvPicPr>
            <a:picLocks noChangeAspect="1"/>
          </p:cNvPicPr>
          <p:nvPr/>
        </p:nvPicPr>
        <p:blipFill rotWithShape="1">
          <a:blip r:embed="rId3">
            <a:extLst>
              <a:ext uri="{28A0092B-C50C-407E-A947-70E740481C1C}">
                <a14:useLocalDpi xmlns:a14="http://schemas.microsoft.com/office/drawing/2010/main" val="0"/>
              </a:ext>
            </a:extLst>
          </a:blip>
          <a:srcRect l="1749" t="2759" r="20290" b="23655"/>
          <a:stretch/>
        </p:blipFill>
        <p:spPr>
          <a:xfrm>
            <a:off x="2737616" y="3534156"/>
            <a:ext cx="3668767" cy="1480611"/>
          </a:xfrm>
          <a:prstGeom prst="rect">
            <a:avLst/>
          </a:prstGeom>
        </p:spPr>
      </p:pic>
    </p:spTree>
  </p:cSld>
  <p:clrMapOvr>
    <a:masterClrMapping/>
  </p:clrMapOvr>
</p:sld>
</file>

<file path=ppt/slides/slide1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2">
    <p:bg>
      <p:bgPr shadeToTitle="0">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단순/복합 속성 · 유도 속성</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
        <p:nvSpPr>
          <p:cNvPr id="7" name="Shape 5"/>
          <p:cNvSpPr/>
          <p:nvPr/>
        </p:nvSpPr>
        <p:spPr>
          <a:xfrm>
            <a:off x="548640" y="960120"/>
            <a:ext cx="3840480" cy="137160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1371600"/>
          </a:xfrm>
          <a:prstGeom prst="rect">
            <a:avLst/>
          </a:prstGeom>
          <a:solidFill>
            <a:srgbClr val="0891B2"/>
          </a:solidFill>
          <a:ln/>
        </p:spPr>
      </p:sp>
      <p:sp>
        <p:nvSpPr>
          <p:cNvPr id="9" name="Text 7"/>
          <p:cNvSpPr/>
          <p:nvPr/>
        </p:nvSpPr>
        <p:spPr>
          <a:xfrm>
            <a:off x="73152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단순 vs 복합 속성</a:t>
            </a:r>
            <a:endParaRPr lang="en-US" sz="1500" dirty="0"/>
          </a:p>
        </p:txBody>
      </p:sp>
      <p:sp>
        <p:nvSpPr>
          <p:cNvPr id="10" name="Text 8"/>
          <p:cNvSpPr/>
          <p:nvPr/>
        </p:nvSpPr>
        <p:spPr>
          <a:xfrm>
            <a:off x="731520" y="1417320"/>
            <a:ext cx="3474720" cy="8229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단순: 더 분해 불가 (예: 적립금)</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복합: 하위 속성으로 분해 가능</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  예) 주소→시,구,동 / 생년월일→년,월,일</a:t>
            </a:r>
            <a:endParaRPr lang="en-US" sz="1200" dirty="0"/>
          </a:p>
        </p:txBody>
      </p:sp>
      <p:sp>
        <p:nvSpPr>
          <p:cNvPr id="11" name="Shape 9"/>
          <p:cNvSpPr/>
          <p:nvPr/>
        </p:nvSpPr>
        <p:spPr>
          <a:xfrm>
            <a:off x="4754880" y="960120"/>
            <a:ext cx="3840480" cy="137160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4754880" y="960120"/>
            <a:ext cx="54864" cy="1371600"/>
          </a:xfrm>
          <a:prstGeom prst="rect">
            <a:avLst/>
          </a:prstGeom>
          <a:solidFill>
            <a:srgbClr val="8B5CF6"/>
          </a:solidFill>
          <a:ln/>
        </p:spPr>
      </p:sp>
      <p:sp>
        <p:nvSpPr>
          <p:cNvPr id="13" name="Text 11"/>
          <p:cNvSpPr/>
          <p:nvPr/>
        </p:nvSpPr>
        <p:spPr>
          <a:xfrm>
            <a:off x="493776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유도 속성 (Derived)</a:t>
            </a:r>
            <a:endParaRPr lang="en-US" sz="1500" dirty="0"/>
          </a:p>
        </p:txBody>
      </p:sp>
      <p:sp>
        <p:nvSpPr>
          <p:cNvPr id="14" name="Text 12"/>
          <p:cNvSpPr/>
          <p:nvPr/>
        </p:nvSpPr>
        <p:spPr>
          <a:xfrm>
            <a:off x="4937760" y="1417320"/>
            <a:ext cx="3474720" cy="8229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다른 속성에서 계산으로 유도</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별도 저장하지 않음</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판매가격 = 정가 × (100-할인율)/100</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점선 타원</a:t>
            </a:r>
            <a:endParaRPr lang="en-US" sz="1200" dirty="0"/>
          </a:p>
        </p:txBody>
      </p:sp>
      <p:sp>
        <p:nvSpPr>
          <p:cNvPr id="15" name="Shape 13"/>
          <p:cNvSpPr/>
          <p:nvPr/>
        </p:nvSpPr>
        <p:spPr>
          <a:xfrm>
            <a:off x="548640" y="2560320"/>
            <a:ext cx="8046720" cy="914400"/>
          </a:xfrm>
          <a:prstGeom prst="rect">
            <a:avLst/>
          </a:prstGeom>
          <a:solidFill>
            <a:srgbClr val="FFFFFF"/>
          </a:solidFill>
          <a:ln/>
          <a:effectLst>
            <a:outerShdw blurRad="76200" dist="25400" dir="8100000" algn="bl" rotWithShape="0">
              <a:srgbClr val="000000">
                <a:alpha val="12000"/>
              </a:srgbClr>
            </a:outerShdw>
          </a:effectLst>
        </p:spPr>
      </p:sp>
      <p:sp>
        <p:nvSpPr>
          <p:cNvPr id="16" name="Shape 14"/>
          <p:cNvSpPr/>
          <p:nvPr/>
        </p:nvSpPr>
        <p:spPr>
          <a:xfrm>
            <a:off x="548640" y="2560320"/>
            <a:ext cx="54864" cy="914400"/>
          </a:xfrm>
          <a:prstGeom prst="rect">
            <a:avLst/>
          </a:prstGeom>
          <a:solidFill>
            <a:srgbClr val="F59E0B"/>
          </a:solidFill>
          <a:ln/>
        </p:spPr>
      </p:sp>
      <p:sp>
        <p:nvSpPr>
          <p:cNvPr id="17" name="Text 15"/>
          <p:cNvSpPr/>
          <p:nvPr/>
        </p:nvSpPr>
        <p:spPr>
          <a:xfrm>
            <a:off x="731520" y="26517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null 속성 · key 속성</a:t>
            </a:r>
            <a:endParaRPr lang="en-US" sz="1500" dirty="0"/>
          </a:p>
        </p:txBody>
      </p:sp>
      <p:sp>
        <p:nvSpPr>
          <p:cNvPr id="18" name="Text 16"/>
          <p:cNvSpPr/>
          <p:nvPr/>
        </p:nvSpPr>
        <p:spPr>
          <a:xfrm>
            <a:off x="731520" y="3017520"/>
            <a:ext cx="7680960" cy="36576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null: 아직 결정되지 않았거나 모르는 값 (≠ 공백, ≠ 0)  |  key: 인스턴스를 유일하게 식별하는 속성 (ERD: 밑줄)</a:t>
            </a:r>
            <a:endParaRPr lang="en-US" sz="1200" dirty="0"/>
          </a:p>
        </p:txBody>
      </p:sp>
      <p:pic>
        <p:nvPicPr>
          <p:cNvPr id="19" name="그림 18"/>
          <p:cNvPicPr>
            <a:picLocks noChangeAspect="1"/>
          </p:cNvPicPr>
          <p:nvPr/>
        </p:nvPicPr>
        <p:blipFill rotWithShape="1">
          <a:blip r:embed="rId3"/>
          <a:srcRect b="22722"/>
          <a:stretch>
            <a:fillRect/>
          </a:stretch>
        </p:blipFill>
        <p:spPr>
          <a:xfrm>
            <a:off x="1543532" y="3471491"/>
            <a:ext cx="3848482" cy="1528933"/>
          </a:xfrm>
          <a:prstGeom prst="rect">
            <a:avLst/>
          </a:prstGeom>
        </p:spPr>
      </p:pic>
      <p:pic>
        <p:nvPicPr>
          <p:cNvPr id="20" name="그림 19"/>
          <p:cNvPicPr>
            <a:picLocks noChangeAspect="1"/>
          </p:cNvPicPr>
          <p:nvPr/>
        </p:nvPicPr>
        <p:blipFill rotWithShape="1">
          <a:blip r:embed="rId4"/>
          <a:srcRect r="40563" b="19844"/>
          <a:stretch>
            <a:fillRect/>
          </a:stretch>
        </p:blipFill>
        <p:spPr>
          <a:xfrm>
            <a:off x="5467451" y="3518916"/>
            <a:ext cx="2660840" cy="1434083"/>
          </a:xfrm>
          <a:prstGeom prst="rect">
            <a:avLst/>
          </a:prstGeom>
        </p:spPr>
      </p:pic>
    </p:spTree>
  </p:cSld>
  <p:clrMapOvr>
    <a:masterClrMapping/>
  </p:clrMapOvr>
</p:sld>
</file>

<file path=ppt/slides/slide13.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3">
    <p:bg>
      <p:bgPr shadeToTitle="0">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관계 (Relationship)</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7" name="Shape 5"/>
          <p:cNvSpPr/>
          <p:nvPr/>
        </p:nvSpPr>
        <p:spPr>
          <a:xfrm>
            <a:off x="548640" y="960120"/>
            <a:ext cx="8046720" cy="82296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82296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관계 (Relationship)</a:t>
            </a:r>
            <a:endParaRPr lang="en-US" sz="1500" dirty="0"/>
          </a:p>
        </p:txBody>
      </p:sp>
      <p:sp>
        <p:nvSpPr>
          <p:cNvPr id="10" name="Text 8"/>
          <p:cNvSpPr/>
          <p:nvPr/>
        </p:nvSpPr>
        <p:spPr>
          <a:xfrm>
            <a:off x="731520" y="1417320"/>
            <a:ext cx="7680960" cy="27432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개체와 개체가 맺고 있는 의미 있는 연관성. 개체 집합들 사이의 매핑(mapping). ERD: 마름모(◇).</a:t>
            </a:r>
            <a:endParaRPr lang="en-US" sz="1200" dirty="0"/>
          </a:p>
        </p:txBody>
      </p:sp>
      <p:sp>
        <p:nvSpPr>
          <p:cNvPr id="11" name="Shape 9"/>
          <p:cNvSpPr/>
          <p:nvPr/>
        </p:nvSpPr>
        <p:spPr>
          <a:xfrm>
            <a:off x="548640" y="2011680"/>
            <a:ext cx="8046720" cy="2421406"/>
          </a:xfrm>
          <a:prstGeom prst="rect">
            <a:avLst/>
          </a:prstGeom>
          <a:solidFill>
            <a:srgbClr val="ffffff"/>
          </a:solidFill>
          <a:ln/>
          <a:effectLst>
            <a:outerShdw blurRad="76200" dist="25400" dir="8100000" algn="bl" rotWithShape="0">
              <a:srgbClr val="000000">
                <a:alpha val="12000"/>
              </a:srgbClr>
            </a:outerShdw>
          </a:effectLst>
        </p:spPr>
      </p:sp>
      <p:pic>
        <p:nvPicPr>
          <p:cNvPr id="20" name="그림 19"/>
          <p:cNvPicPr>
            <a:picLocks noChangeAspect="1"/>
          </p:cNvPicPr>
          <p:nvPr/>
        </p:nvPicPr>
        <p:blipFill rotWithShape="1">
          <a:blip r:embed="rId3"/>
          <a:srcRect b="20945"/>
          <a:stretch>
            <a:fillRect/>
          </a:stretch>
        </p:blipFill>
        <p:spPr>
          <a:xfrm>
            <a:off x="1469936" y="2272284"/>
            <a:ext cx="6204127" cy="196859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관계의 유형 — 매핑 카디널리티</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
        <p:nvSpPr>
          <p:cNvPr id="7" name="Shape 5"/>
          <p:cNvSpPr/>
          <p:nvPr/>
        </p:nvSpPr>
        <p:spPr>
          <a:xfrm>
            <a:off x="548640" y="960120"/>
            <a:ext cx="8046720" cy="7315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73152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매핑 카디널리티 (Mapping Cardinality)</a:t>
            </a:r>
            <a:endParaRPr lang="en-US" sz="1500" dirty="0"/>
          </a:p>
        </p:txBody>
      </p:sp>
      <p:sp>
        <p:nvSpPr>
          <p:cNvPr id="10" name="Text 8"/>
          <p:cNvSpPr/>
          <p:nvPr/>
        </p:nvSpPr>
        <p:spPr>
          <a:xfrm>
            <a:off x="731520" y="1417320"/>
            <a:ext cx="7680960" cy="1828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각 개체 인스턴스가 상대 개체 집합의 인스턴스 몇 개와 대응되는지를 나타냄.</a:t>
            </a:r>
            <a:endParaRPr lang="en-US" sz="1200" dirty="0"/>
          </a:p>
        </p:txBody>
      </p:sp>
      <p:sp>
        <p:nvSpPr>
          <p:cNvPr id="11" name="Shape 9"/>
          <p:cNvSpPr/>
          <p:nvPr/>
        </p:nvSpPr>
        <p:spPr>
          <a:xfrm>
            <a:off x="548640" y="192024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548640" y="1920240"/>
            <a:ext cx="2560320" cy="54864"/>
          </a:xfrm>
          <a:prstGeom prst="rect">
            <a:avLst/>
          </a:prstGeom>
          <a:solidFill>
            <a:srgbClr val="0891B2"/>
          </a:solidFill>
          <a:ln/>
        </p:spPr>
      </p:sp>
      <p:sp>
        <p:nvSpPr>
          <p:cNvPr id="13" name="Text 11"/>
          <p:cNvSpPr/>
          <p:nvPr/>
        </p:nvSpPr>
        <p:spPr>
          <a:xfrm>
            <a:off x="640080" y="2057400"/>
            <a:ext cx="2377440" cy="320040"/>
          </a:xfrm>
          <a:prstGeom prst="rect">
            <a:avLst/>
          </a:prstGeom>
          <a:noFill/>
          <a:ln/>
        </p:spPr>
        <p:txBody>
          <a:bodyPr wrap="square" rtlCol="0" anchor="ctr"/>
          <a:lstStyle/>
          <a:p>
            <a:pPr marL="0" indent="0" algn="ctr">
              <a:buNone/>
            </a:pPr>
            <a:r>
              <a:rPr lang="en-US" sz="1400" b="1" dirty="0">
                <a:solidFill>
                  <a:srgbClr val="0891B2"/>
                </a:solidFill>
                <a:latin typeface="맑은 고딕" pitchFamily="34" charset="0"/>
                <a:ea typeface="맑은 고딕" pitchFamily="34" charset="-122"/>
                <a:cs typeface="맑은 고딕" pitchFamily="34" charset="-120"/>
              </a:rPr>
              <a:t>1:1 관계</a:t>
            </a:r>
            <a:endParaRPr lang="en-US" sz="1400" dirty="0"/>
          </a:p>
        </p:txBody>
      </p:sp>
      <p:sp>
        <p:nvSpPr>
          <p:cNvPr id="14" name="Text 12"/>
          <p:cNvSpPr/>
          <p:nvPr/>
        </p:nvSpPr>
        <p:spPr>
          <a:xfrm>
            <a:off x="640080" y="2377440"/>
            <a:ext cx="2377440" cy="274320"/>
          </a:xfrm>
          <a:prstGeom prst="rect">
            <a:avLst/>
          </a:prstGeom>
          <a:noFill/>
          <a:ln/>
        </p:spPr>
        <p:txBody>
          <a:bodyPr wrap="square" rtlCol="0" anchor="ctr"/>
          <a:lstStyle/>
          <a:p>
            <a:pPr marL="0" indent="0" algn="ctr">
              <a:buNone/>
            </a:pPr>
            <a:r>
              <a:rPr lang="en-US" sz="1100" i="1" dirty="0">
                <a:solidFill>
                  <a:srgbClr val="64748B"/>
                </a:solidFill>
                <a:latin typeface="Arial" pitchFamily="34" charset="0"/>
                <a:ea typeface="Arial" pitchFamily="34" charset="-122"/>
                <a:cs typeface="Arial" pitchFamily="34" charset="-120"/>
              </a:rPr>
              <a:t>일대일</a:t>
            </a:r>
            <a:endParaRPr lang="en-US" sz="1100" dirty="0"/>
          </a:p>
        </p:txBody>
      </p:sp>
      <p:sp>
        <p:nvSpPr>
          <p:cNvPr id="15" name="Text 13"/>
          <p:cNvSpPr/>
          <p:nvPr/>
        </p:nvSpPr>
        <p:spPr>
          <a:xfrm>
            <a:off x="640080" y="2743200"/>
            <a:ext cx="2377440" cy="82296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양쪽 모두 하나씩 대응</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예) 남편 ↔ 아내</a:t>
            </a:r>
            <a:endParaRPr lang="en-US" sz="1100" dirty="0"/>
          </a:p>
        </p:txBody>
      </p:sp>
      <p:sp>
        <p:nvSpPr>
          <p:cNvPr id="16" name="Shape 14"/>
          <p:cNvSpPr/>
          <p:nvPr/>
        </p:nvSpPr>
        <p:spPr>
          <a:xfrm>
            <a:off x="3383280" y="192024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17" name="Shape 15"/>
          <p:cNvSpPr/>
          <p:nvPr/>
        </p:nvSpPr>
        <p:spPr>
          <a:xfrm>
            <a:off x="3383280" y="1920240"/>
            <a:ext cx="2560320" cy="54864"/>
          </a:xfrm>
          <a:prstGeom prst="rect">
            <a:avLst/>
          </a:prstGeom>
          <a:solidFill>
            <a:srgbClr val="F59E0B"/>
          </a:solidFill>
          <a:ln/>
        </p:spPr>
      </p:sp>
      <p:sp>
        <p:nvSpPr>
          <p:cNvPr id="18" name="Text 16"/>
          <p:cNvSpPr/>
          <p:nvPr/>
        </p:nvSpPr>
        <p:spPr>
          <a:xfrm>
            <a:off x="3474720" y="2057400"/>
            <a:ext cx="2377440" cy="320040"/>
          </a:xfrm>
          <a:prstGeom prst="rect">
            <a:avLst/>
          </a:prstGeom>
          <a:noFill/>
          <a:ln/>
        </p:spPr>
        <p:txBody>
          <a:bodyPr wrap="square" rtlCol="0" anchor="ctr"/>
          <a:lstStyle/>
          <a:p>
            <a:pPr marL="0" indent="0" algn="ctr">
              <a:buNone/>
            </a:pPr>
            <a:r>
              <a:rPr lang="en-US" sz="1400" b="1" dirty="0">
                <a:solidFill>
                  <a:srgbClr val="F59E0B"/>
                </a:solidFill>
                <a:latin typeface="맑은 고딕" pitchFamily="34" charset="0"/>
                <a:ea typeface="맑은 고딕" pitchFamily="34" charset="-122"/>
                <a:cs typeface="맑은 고딕" pitchFamily="34" charset="-120"/>
              </a:rPr>
              <a:t>1:n 관계</a:t>
            </a:r>
            <a:endParaRPr lang="en-US" sz="1400" dirty="0"/>
          </a:p>
        </p:txBody>
      </p:sp>
      <p:sp>
        <p:nvSpPr>
          <p:cNvPr id="19" name="Text 17"/>
          <p:cNvSpPr/>
          <p:nvPr/>
        </p:nvSpPr>
        <p:spPr>
          <a:xfrm>
            <a:off x="3474720" y="2377440"/>
            <a:ext cx="2377440" cy="274320"/>
          </a:xfrm>
          <a:prstGeom prst="rect">
            <a:avLst/>
          </a:prstGeom>
          <a:noFill/>
          <a:ln/>
        </p:spPr>
        <p:txBody>
          <a:bodyPr wrap="square" rtlCol="0" anchor="ctr"/>
          <a:lstStyle/>
          <a:p>
            <a:pPr marL="0" indent="0" algn="ctr">
              <a:buNone/>
            </a:pPr>
            <a:r>
              <a:rPr lang="en-US" sz="1100" i="1" dirty="0">
                <a:solidFill>
                  <a:srgbClr val="64748B"/>
                </a:solidFill>
                <a:latin typeface="Arial" pitchFamily="34" charset="0"/>
                <a:ea typeface="Arial" pitchFamily="34" charset="-122"/>
                <a:cs typeface="Arial" pitchFamily="34" charset="-120"/>
              </a:rPr>
              <a:t>일대다</a:t>
            </a:r>
            <a:endParaRPr lang="en-US" sz="1100" dirty="0"/>
          </a:p>
        </p:txBody>
      </p:sp>
      <p:sp>
        <p:nvSpPr>
          <p:cNvPr id="20" name="Text 18"/>
          <p:cNvSpPr/>
          <p:nvPr/>
        </p:nvSpPr>
        <p:spPr>
          <a:xfrm>
            <a:off x="3474720" y="2743200"/>
            <a:ext cx="2377440" cy="82296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한 쪽이 여러 개와 대응</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예) 부서 → 사원들</a:t>
            </a:r>
            <a:endParaRPr lang="en-US" sz="1100" dirty="0"/>
          </a:p>
        </p:txBody>
      </p:sp>
      <p:sp>
        <p:nvSpPr>
          <p:cNvPr id="21" name="Shape 19"/>
          <p:cNvSpPr/>
          <p:nvPr/>
        </p:nvSpPr>
        <p:spPr>
          <a:xfrm>
            <a:off x="6217920" y="1920240"/>
            <a:ext cx="2560320" cy="1828800"/>
          </a:xfrm>
          <a:prstGeom prst="rect">
            <a:avLst/>
          </a:prstGeom>
          <a:solidFill>
            <a:srgbClr val="FFFFFF"/>
          </a:solidFill>
          <a:ln/>
          <a:effectLst>
            <a:outerShdw blurRad="76200" dist="25400" dir="8100000" algn="bl" rotWithShape="0">
              <a:srgbClr val="000000">
                <a:alpha val="12000"/>
              </a:srgbClr>
            </a:outerShdw>
          </a:effectLst>
        </p:spPr>
      </p:sp>
      <p:sp>
        <p:nvSpPr>
          <p:cNvPr id="22" name="Shape 20"/>
          <p:cNvSpPr/>
          <p:nvPr/>
        </p:nvSpPr>
        <p:spPr>
          <a:xfrm>
            <a:off x="6217920" y="1920240"/>
            <a:ext cx="2560320" cy="54864"/>
          </a:xfrm>
          <a:prstGeom prst="rect">
            <a:avLst/>
          </a:prstGeom>
          <a:solidFill>
            <a:srgbClr val="8B5CF6"/>
          </a:solidFill>
          <a:ln/>
        </p:spPr>
      </p:sp>
      <p:sp>
        <p:nvSpPr>
          <p:cNvPr id="23" name="Text 21"/>
          <p:cNvSpPr/>
          <p:nvPr/>
        </p:nvSpPr>
        <p:spPr>
          <a:xfrm>
            <a:off x="6309360" y="2057400"/>
            <a:ext cx="2377440" cy="320040"/>
          </a:xfrm>
          <a:prstGeom prst="rect">
            <a:avLst/>
          </a:prstGeom>
          <a:noFill/>
          <a:ln/>
        </p:spPr>
        <p:txBody>
          <a:bodyPr wrap="square" rtlCol="0" anchor="ctr"/>
          <a:lstStyle/>
          <a:p>
            <a:pPr marL="0" indent="0" algn="ctr">
              <a:buNone/>
            </a:pPr>
            <a:r>
              <a:rPr lang="en-US" sz="1400" b="1" dirty="0">
                <a:solidFill>
                  <a:srgbClr val="8B5CF6"/>
                </a:solidFill>
                <a:latin typeface="맑은 고딕" pitchFamily="34" charset="0"/>
                <a:ea typeface="맑은 고딕" pitchFamily="34" charset="-122"/>
                <a:cs typeface="맑은 고딕" pitchFamily="34" charset="-120"/>
              </a:rPr>
              <a:t>n:m 관계</a:t>
            </a:r>
            <a:endParaRPr lang="en-US" sz="1400" dirty="0"/>
          </a:p>
        </p:txBody>
      </p:sp>
      <p:sp>
        <p:nvSpPr>
          <p:cNvPr id="24" name="Text 22"/>
          <p:cNvSpPr/>
          <p:nvPr/>
        </p:nvSpPr>
        <p:spPr>
          <a:xfrm>
            <a:off x="6309360" y="2377440"/>
            <a:ext cx="2377440" cy="274320"/>
          </a:xfrm>
          <a:prstGeom prst="rect">
            <a:avLst/>
          </a:prstGeom>
          <a:noFill/>
          <a:ln/>
        </p:spPr>
        <p:txBody>
          <a:bodyPr wrap="square" rtlCol="0" anchor="ctr"/>
          <a:lstStyle/>
          <a:p>
            <a:pPr marL="0" indent="0" algn="ctr">
              <a:buNone/>
            </a:pPr>
            <a:r>
              <a:rPr lang="en-US" sz="1100" i="1" dirty="0">
                <a:solidFill>
                  <a:srgbClr val="64748B"/>
                </a:solidFill>
                <a:latin typeface="Arial" pitchFamily="34" charset="0"/>
                <a:ea typeface="Arial" pitchFamily="34" charset="-122"/>
                <a:cs typeface="Arial" pitchFamily="34" charset="-120"/>
              </a:rPr>
              <a:t>다대다</a:t>
            </a:r>
            <a:endParaRPr lang="en-US" sz="1100" dirty="0"/>
          </a:p>
        </p:txBody>
      </p:sp>
      <p:sp>
        <p:nvSpPr>
          <p:cNvPr id="25" name="Text 23"/>
          <p:cNvSpPr/>
          <p:nvPr/>
        </p:nvSpPr>
        <p:spPr>
          <a:xfrm>
            <a:off x="6309360" y="2743200"/>
            <a:ext cx="2377440" cy="82296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양쪽 모두 여러 개와 대응</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예) 학생 ↔ 과목</a:t>
            </a:r>
            <a:endParaRPr lang="en-US" sz="1100" dirty="0"/>
          </a:p>
        </p:txBody>
      </p:sp>
      <p:sp>
        <p:nvSpPr>
          <p:cNvPr id="26" name="Shape 24"/>
          <p:cNvSpPr/>
          <p:nvPr/>
        </p:nvSpPr>
        <p:spPr>
          <a:xfrm>
            <a:off x="548640" y="3977640"/>
            <a:ext cx="8046720" cy="411480"/>
          </a:xfrm>
          <a:prstGeom prst="rect">
            <a:avLst/>
          </a:prstGeom>
          <a:solidFill>
            <a:srgbClr val="1A2744"/>
          </a:solidFill>
          <a:ln/>
        </p:spPr>
      </p:sp>
      <p:sp>
        <p:nvSpPr>
          <p:cNvPr id="27" name="Text 25"/>
          <p:cNvSpPr/>
          <p:nvPr/>
        </p:nvSpPr>
        <p:spPr>
          <a:xfrm>
            <a:off x="822960" y="3977640"/>
            <a:ext cx="749808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가장 중요한 세 가지: 1:1 (드묾) / 1:n (가장 많음) / n:m (많음)</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일대일 (1:1) 관계 예시</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
        <p:nvSpPr>
          <p:cNvPr id="7" name="Shape 5"/>
          <p:cNvSpPr/>
          <p:nvPr/>
        </p:nvSpPr>
        <p:spPr>
          <a:xfrm>
            <a:off x="548640" y="1005839"/>
            <a:ext cx="8046720" cy="3823335"/>
          </a:xfrm>
          <a:prstGeom prst="rect">
            <a:avLst/>
          </a:prstGeom>
          <a:solidFill>
            <a:srgbClr val="FFFFFF"/>
          </a:solidFill>
          <a:ln/>
          <a:effectLst>
            <a:outerShdw blurRad="76200" dist="25400" dir="8100000" algn="bl" rotWithShape="0">
              <a:srgbClr val="000000">
                <a:alpha val="12000"/>
              </a:srgbClr>
            </a:outerShdw>
          </a:effectLst>
        </p:spPr>
      </p:sp>
      <p:sp>
        <p:nvSpPr>
          <p:cNvPr id="8" name="Text 6"/>
          <p:cNvSpPr/>
          <p:nvPr/>
        </p:nvSpPr>
        <p:spPr>
          <a:xfrm>
            <a:off x="731520" y="1097280"/>
            <a:ext cx="457200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예시: 남편 ↔ 아내 (결혼)</a:t>
            </a:r>
            <a:endParaRPr lang="en-US" sz="1300" dirty="0"/>
          </a:p>
        </p:txBody>
      </p:sp>
      <p:pic>
        <p:nvPicPr>
          <p:cNvPr id="20" name="그림 19">
            <a:extLst>
              <a:ext uri="{FF2B5EF4-FFF2-40B4-BE49-F238E27FC236}">
                <a16:creationId xmlns:a16="http://schemas.microsoft.com/office/drawing/2014/main" id="{036D0062-9DB0-D339-9905-D730825BC0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5593" y="1417320"/>
            <a:ext cx="5218493" cy="323938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일대다 (1:n) 관계 예시</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
        <p:nvSpPr>
          <p:cNvPr id="7" name="Shape 5"/>
          <p:cNvSpPr/>
          <p:nvPr/>
        </p:nvSpPr>
        <p:spPr>
          <a:xfrm>
            <a:off x="548640" y="1005840"/>
            <a:ext cx="8046720" cy="3832860"/>
          </a:xfrm>
          <a:prstGeom prst="rect">
            <a:avLst/>
          </a:prstGeom>
          <a:solidFill>
            <a:srgbClr val="FFFFFF"/>
          </a:solidFill>
          <a:ln/>
          <a:effectLst>
            <a:outerShdw blurRad="76200" dist="25400" dir="8100000" algn="bl" rotWithShape="0">
              <a:srgbClr val="000000">
                <a:alpha val="12000"/>
              </a:srgbClr>
            </a:outerShdw>
          </a:effectLst>
        </p:spPr>
      </p:sp>
      <p:sp>
        <p:nvSpPr>
          <p:cNvPr id="8" name="Text 6"/>
          <p:cNvSpPr/>
          <p:nvPr/>
        </p:nvSpPr>
        <p:spPr>
          <a:xfrm>
            <a:off x="731520" y="1097280"/>
            <a:ext cx="457200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예시: 부서 → 사원 (소속)</a:t>
            </a:r>
            <a:endParaRPr lang="en-US" sz="1300" dirty="0"/>
          </a:p>
        </p:txBody>
      </p:sp>
      <p:pic>
        <p:nvPicPr>
          <p:cNvPr id="20" name="그림 19">
            <a:extLst>
              <a:ext uri="{FF2B5EF4-FFF2-40B4-BE49-F238E27FC236}">
                <a16:creationId xmlns:a16="http://schemas.microsoft.com/office/drawing/2014/main" id="{6EFD5C23-DB37-9D9D-A505-1015E2F1D8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5" y="1417320"/>
            <a:ext cx="5119689" cy="313581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다대다 (n:m) 관계 예시</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
        <p:nvSpPr>
          <p:cNvPr id="7" name="Shape 5"/>
          <p:cNvSpPr/>
          <p:nvPr/>
        </p:nvSpPr>
        <p:spPr>
          <a:xfrm>
            <a:off x="548640" y="1005840"/>
            <a:ext cx="8046720" cy="3749040"/>
          </a:xfrm>
          <a:prstGeom prst="rect">
            <a:avLst/>
          </a:prstGeom>
          <a:solidFill>
            <a:srgbClr val="FFFFFF"/>
          </a:solidFill>
          <a:ln/>
          <a:effectLst>
            <a:outerShdw blurRad="76200" dist="25400" dir="8100000" algn="bl" rotWithShape="0">
              <a:srgbClr val="000000">
                <a:alpha val="12000"/>
              </a:srgbClr>
            </a:outerShdw>
          </a:effectLst>
        </p:spPr>
      </p:sp>
      <p:sp>
        <p:nvSpPr>
          <p:cNvPr id="8" name="Text 6"/>
          <p:cNvSpPr/>
          <p:nvPr/>
        </p:nvSpPr>
        <p:spPr>
          <a:xfrm>
            <a:off x="731520" y="1097280"/>
            <a:ext cx="4572000" cy="32004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예시: 고객 ↔ 책 (구매)</a:t>
            </a:r>
            <a:endParaRPr lang="en-US" sz="1300" dirty="0"/>
          </a:p>
        </p:txBody>
      </p:sp>
      <p:pic>
        <p:nvPicPr>
          <p:cNvPr id="20" name="그림 19">
            <a:extLst>
              <a:ext uri="{FF2B5EF4-FFF2-40B4-BE49-F238E27FC236}">
                <a16:creationId xmlns:a16="http://schemas.microsoft.com/office/drawing/2014/main" id="{348A3C37-B160-66A2-8760-3BEB5BE658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26313" y="1463040"/>
            <a:ext cx="5291374" cy="3097390"/>
          </a:xfrm>
          <a:prstGeom prst="rect">
            <a:avLst/>
          </a:prstGeom>
        </p:spPr>
      </p:pic>
    </p:spTree>
  </p:cSld>
  <p:clrMapOvr>
    <a:masterClrMapping/>
  </p:clrMapOvr>
</p:sld>
</file>

<file path=ppt/slides/slide18.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8">
    <p:bg>
      <p:bgPr shadeToTitle="0">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관계의 참여 특성</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7" name="Shape 5"/>
          <p:cNvSpPr/>
          <p:nvPr/>
        </p:nvSpPr>
        <p:spPr>
          <a:xfrm>
            <a:off x="548640" y="960120"/>
            <a:ext cx="3840480" cy="16459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1645920"/>
          </a:xfrm>
          <a:prstGeom prst="rect">
            <a:avLst/>
          </a:prstGeom>
          <a:solidFill>
            <a:srgbClr val="0891B2"/>
          </a:solidFill>
          <a:ln/>
        </p:spPr>
      </p:sp>
      <p:sp>
        <p:nvSpPr>
          <p:cNvPr id="9" name="Text 7"/>
          <p:cNvSpPr/>
          <p:nvPr/>
        </p:nvSpPr>
        <p:spPr>
          <a:xfrm>
            <a:off x="73152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필수적 참여 (전체 참여)</a:t>
            </a:r>
            <a:endParaRPr lang="en-US" sz="1500" dirty="0"/>
          </a:p>
        </p:txBody>
      </p:sp>
      <p:sp>
        <p:nvSpPr>
          <p:cNvPr id="10" name="Text 8"/>
          <p:cNvSpPr/>
          <p:nvPr/>
        </p:nvSpPr>
        <p:spPr>
          <a:xfrm>
            <a:off x="731520" y="1417320"/>
            <a:ext cx="3474720" cy="10972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모든 개체 인스턴스가 관계에</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반드시 참여해야 함</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이중선(═══)</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모든 고객은 반드시 구매</a:t>
            </a:r>
            <a:endParaRPr lang="en-US" sz="1200" dirty="0"/>
          </a:p>
        </p:txBody>
      </p:sp>
      <p:sp>
        <p:nvSpPr>
          <p:cNvPr id="11" name="Shape 9"/>
          <p:cNvSpPr/>
          <p:nvPr/>
        </p:nvSpPr>
        <p:spPr>
          <a:xfrm>
            <a:off x="4754880" y="960120"/>
            <a:ext cx="3840480" cy="164592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4754880" y="960120"/>
            <a:ext cx="54864" cy="1645920"/>
          </a:xfrm>
          <a:prstGeom prst="rect">
            <a:avLst/>
          </a:prstGeom>
          <a:solidFill>
            <a:srgbClr val="F59E0B"/>
          </a:solidFill>
          <a:ln/>
        </p:spPr>
      </p:sp>
      <p:sp>
        <p:nvSpPr>
          <p:cNvPr id="13" name="Text 11"/>
          <p:cNvSpPr/>
          <p:nvPr/>
        </p:nvSpPr>
        <p:spPr>
          <a:xfrm>
            <a:off x="493776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선택적 참여 (부분 참여)</a:t>
            </a:r>
            <a:endParaRPr lang="en-US" sz="1500" dirty="0"/>
          </a:p>
        </p:txBody>
      </p:sp>
      <p:sp>
        <p:nvSpPr>
          <p:cNvPr id="14" name="Text 12"/>
          <p:cNvSpPr/>
          <p:nvPr/>
        </p:nvSpPr>
        <p:spPr>
          <a:xfrm>
            <a:off x="4937760" y="1417320"/>
            <a:ext cx="3474720" cy="10972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일부 인스턴스만</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관계에 참여해도 됨</a:t>
            </a:r>
            <a:endParaRPr lang="en-US" sz="1200" dirty="0"/>
          </a:p>
          <a:p>
            <a:pPr marL="0" indent="0">
              <a:lnSpc>
                <a:spcPct val="130000"/>
              </a:lnSpc>
              <a:buNone/>
            </a:pP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일반 단선(───)</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모든 책이 구매될 필요 없음</a:t>
            </a:r>
            <a:endParaRPr lang="en-US" sz="1200" dirty="0"/>
          </a:p>
        </p:txBody>
      </p:sp>
      <p:pic>
        <p:nvPicPr>
          <p:cNvPr id="15" name="그림 14"/>
          <p:cNvPicPr>
            <a:picLocks noChangeAspect="1"/>
          </p:cNvPicPr>
          <p:nvPr/>
        </p:nvPicPr>
        <p:blipFill rotWithShape="1">
          <a:blip r:embed="rId3"/>
          <a:srcRect r="12454" b="40640"/>
          <a:stretch>
            <a:fillRect/>
          </a:stretch>
        </p:blipFill>
        <p:spPr>
          <a:xfrm>
            <a:off x="1320587" y="3810357"/>
            <a:ext cx="6228506" cy="812623"/>
          </a:xfrm>
          <a:prstGeom prst="rect">
            <a:avLst/>
          </a:prstGeom>
        </p:spPr>
      </p:pic>
      <p:pic>
        <p:nvPicPr>
          <p:cNvPr id="16" name="그림 15"/>
          <p:cNvPicPr>
            <a:picLocks noChangeAspect="1"/>
          </p:cNvPicPr>
          <p:nvPr/>
        </p:nvPicPr>
        <p:blipFill rotWithShape="1">
          <a:blip r:embed="rId4"/>
          <a:srcRect r="24153" b="42791"/>
          <a:stretch>
            <a:fillRect/>
          </a:stretch>
        </p:blipFill>
        <p:spPr>
          <a:xfrm>
            <a:off x="1320586" y="2870803"/>
            <a:ext cx="6228506" cy="764350"/>
          </a:xfrm>
          <a:prstGeom prst="rect">
            <a:avLst/>
          </a:prstGeom>
        </p:spPr>
      </p:pic>
    </p:spTree>
  </p:cSld>
  <p:clrMapOvr>
    <a:masterClrMapping/>
  </p:clrMapOvr>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name="Slide 19">
    <p:bg>
      <p:bgPr shadeToTitle="0">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관계의 종속성 — 강한 개체와 약한 개체</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
        <p:nvSpPr>
          <p:cNvPr id="7" name="Shape 5"/>
          <p:cNvSpPr/>
          <p:nvPr/>
        </p:nvSpPr>
        <p:spPr>
          <a:xfrm>
            <a:off x="548640" y="960120"/>
            <a:ext cx="3840480" cy="11887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1188720"/>
          </a:xfrm>
          <a:prstGeom prst="rect">
            <a:avLst/>
          </a:prstGeom>
          <a:solidFill>
            <a:srgbClr val="0891B2"/>
          </a:solidFill>
          <a:ln/>
        </p:spPr>
      </p:sp>
      <p:sp>
        <p:nvSpPr>
          <p:cNvPr id="9" name="Text 7"/>
          <p:cNvSpPr/>
          <p:nvPr/>
        </p:nvSpPr>
        <p:spPr>
          <a:xfrm>
            <a:off x="73152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강한 개체 (Strong Entity)</a:t>
            </a:r>
            <a:endParaRPr lang="en-US" sz="1500" dirty="0"/>
          </a:p>
        </p:txBody>
      </p:sp>
      <p:sp>
        <p:nvSpPr>
          <p:cNvPr id="10" name="Text 8"/>
          <p:cNvSpPr/>
          <p:nvPr/>
        </p:nvSpPr>
        <p:spPr>
          <a:xfrm>
            <a:off x="731520" y="1417320"/>
            <a:ext cx="3474720" cy="6400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독립적으로 존재 가능</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일반 사각형 □</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직원</a:t>
            </a:r>
            <a:endParaRPr lang="en-US" sz="1200" dirty="0"/>
          </a:p>
        </p:txBody>
      </p:sp>
      <p:sp>
        <p:nvSpPr>
          <p:cNvPr id="11" name="Shape 9"/>
          <p:cNvSpPr/>
          <p:nvPr/>
        </p:nvSpPr>
        <p:spPr>
          <a:xfrm>
            <a:off x="4754880" y="960120"/>
            <a:ext cx="3840480" cy="118872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4754880" y="960120"/>
            <a:ext cx="54864" cy="1188720"/>
          </a:xfrm>
          <a:prstGeom prst="rect">
            <a:avLst/>
          </a:prstGeom>
          <a:solidFill>
            <a:srgbClr val="EF4444"/>
          </a:solidFill>
          <a:ln/>
        </p:spPr>
      </p:sp>
      <p:sp>
        <p:nvSpPr>
          <p:cNvPr id="13" name="Text 11"/>
          <p:cNvSpPr/>
          <p:nvPr/>
        </p:nvSpPr>
        <p:spPr>
          <a:xfrm>
            <a:off x="4937760" y="1051560"/>
            <a:ext cx="347472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약한 개체 (Weak Entity)</a:t>
            </a:r>
            <a:endParaRPr lang="en-US" sz="1500" dirty="0"/>
          </a:p>
        </p:txBody>
      </p:sp>
      <p:sp>
        <p:nvSpPr>
          <p:cNvPr id="14" name="Text 12"/>
          <p:cNvSpPr/>
          <p:nvPr/>
        </p:nvSpPr>
        <p:spPr>
          <a:xfrm>
            <a:off x="4937760" y="1417320"/>
            <a:ext cx="3474720" cy="6400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다른 개체에 종속적 (강한 개체 없이 존재 불가)</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 이중 사각형 ▢ + 이중 마름모</a:t>
            </a:r>
            <a:endParaRPr lang="en-US" sz="1200" dirty="0"/>
          </a:p>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예) 부양가족 (직원에 종속)</a:t>
            </a:r>
            <a:endParaRPr lang="en-US" sz="1200" dirty="0"/>
          </a:p>
        </p:txBody>
      </p:sp>
      <p:sp>
        <p:nvSpPr>
          <p:cNvPr id="15" name="Shape 13"/>
          <p:cNvSpPr/>
          <p:nvPr/>
        </p:nvSpPr>
        <p:spPr>
          <a:xfrm>
            <a:off x="548640" y="2377440"/>
            <a:ext cx="8046720" cy="640080"/>
          </a:xfrm>
          <a:prstGeom prst="rect">
            <a:avLst/>
          </a:prstGeom>
          <a:solidFill>
            <a:srgbClr val="FFFFFF"/>
          </a:solidFill>
          <a:ln/>
          <a:effectLst>
            <a:outerShdw blurRad="76200" dist="25400" dir="8100000" algn="bl" rotWithShape="0">
              <a:srgbClr val="000000">
                <a:alpha val="12000"/>
              </a:srgbClr>
            </a:outerShdw>
          </a:effectLst>
        </p:spPr>
      </p:sp>
      <p:sp>
        <p:nvSpPr>
          <p:cNvPr id="16" name="Text 14"/>
          <p:cNvSpPr/>
          <p:nvPr/>
        </p:nvSpPr>
        <p:spPr>
          <a:xfrm>
            <a:off x="777240" y="2377440"/>
            <a:ext cx="7589520" cy="64008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강한 개체 ↔ 약한 개체: 일반적으로 1:n 관계. 약한 개체는 강한 개체의 키를 포함하여 자신의 키를 구성.</a:t>
            </a:r>
            <a:endParaRPr lang="en-US" sz="1200" dirty="0"/>
          </a:p>
        </p:txBody>
      </p:sp>
      <p:pic>
        <p:nvPicPr>
          <p:cNvPr id="19" name="그림 18"/>
          <p:cNvPicPr>
            <a:picLocks noChangeAspect="1"/>
          </p:cNvPicPr>
          <p:nvPr/>
        </p:nvPicPr>
        <p:blipFill rotWithShape="1">
          <a:blip r:embed="rId3"/>
          <a:srcRect r="12454" b="40640"/>
          <a:stretch>
            <a:fillRect/>
          </a:stretch>
        </p:blipFill>
        <p:spPr>
          <a:xfrm>
            <a:off x="1320587" y="4116543"/>
            <a:ext cx="6228506" cy="812623"/>
          </a:xfrm>
          <a:prstGeom prst="rect">
            <a:avLst/>
          </a:prstGeom>
        </p:spPr>
      </p:pic>
      <p:pic>
        <p:nvPicPr>
          <p:cNvPr id="20" name="그림 19"/>
          <p:cNvPicPr>
            <a:picLocks noChangeAspect="1"/>
          </p:cNvPicPr>
          <p:nvPr/>
        </p:nvPicPr>
        <p:blipFill rotWithShape="1">
          <a:blip r:embed="rId4"/>
          <a:srcRect r="24153" b="42791"/>
          <a:stretch>
            <a:fillRect/>
          </a:stretch>
        </p:blipFill>
        <p:spPr>
          <a:xfrm>
            <a:off x="1320586" y="3176989"/>
            <a:ext cx="6228506" cy="7643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ERD 기호 — 종합 정리</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3246120"/>
        </p:xfrm>
        <a:graphic>
          <a:graphicData uri="http://schemas.openxmlformats.org/drawingml/2006/table">
            <a:tbl>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20040">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기호 이름</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ERD 표현</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의미</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extLst>
                  <a:ext uri="{0D108BD9-81ED-4DB2-BD59-A6C34878D82A}">
                    <a16:rowId xmlns:a16="http://schemas.microsoft.com/office/drawing/2014/main" val="10000"/>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개체</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사각형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현실의 구별되는 대상</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속성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타원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개체의 고유 특성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관계</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마름모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개체 간 연관성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키 속성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밑줄 타원</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인스턴스를 유일하게 식별</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다중 값 속성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이중 타원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여러 값 가능</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유도 속성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점선 타원</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다른 속성에서 계산</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약한 개체</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이중 사각형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다른 개체에 종속적</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필수적 참여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이중선 ═══</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모든 인스턴스가 반드시 참여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ERD 종합 예제 — 서점 데이터베이스</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7" name="Shape 5"/>
          <p:cNvSpPr/>
          <p:nvPr/>
        </p:nvSpPr>
        <p:spPr>
          <a:xfrm>
            <a:off x="548640" y="1005840"/>
            <a:ext cx="8046720" cy="3904868"/>
          </a:xfrm>
          <a:prstGeom prst="rect">
            <a:avLst/>
          </a:prstGeom>
          <a:solidFill>
            <a:srgbClr val="FFFFFF"/>
          </a:solidFill>
          <a:ln/>
          <a:effectLst>
            <a:outerShdw blurRad="76200" dist="25400" dir="8100000" algn="bl" rotWithShape="0">
              <a:srgbClr val="000000">
                <a:alpha val="12000"/>
              </a:srgbClr>
            </a:outerShdw>
          </a:effectLst>
        </p:spPr>
      </p:sp>
      <p:pic>
        <p:nvPicPr>
          <p:cNvPr id="25" name="그림 24">
            <a:extLst>
              <a:ext uri="{FF2B5EF4-FFF2-40B4-BE49-F238E27FC236}">
                <a16:creationId xmlns:a16="http://schemas.microsoft.com/office/drawing/2014/main" id="{E42E7963-30F6-B0C4-21FD-BC9DE53F965E}"/>
              </a:ext>
            </a:extLst>
          </p:cNvPr>
          <p:cNvPicPr>
            <a:picLocks noChangeAspect="1"/>
          </p:cNvPicPr>
          <p:nvPr/>
        </p:nvPicPr>
        <p:blipFill rotWithShape="1">
          <a:blip r:embed="rId3">
            <a:extLst>
              <a:ext uri="{28A0092B-C50C-407E-A947-70E740481C1C}">
                <a14:useLocalDpi xmlns:a14="http://schemas.microsoft.com/office/drawing/2010/main" val="0"/>
              </a:ext>
            </a:extLst>
          </a:blip>
          <a:srcRect b="5207"/>
          <a:stretch/>
        </p:blipFill>
        <p:spPr>
          <a:xfrm>
            <a:off x="2215215" y="1238880"/>
            <a:ext cx="5852460" cy="3447552"/>
          </a:xfrm>
          <a:prstGeom prst="rect">
            <a:avLst/>
          </a:prstGeom>
        </p:spPr>
      </p:pic>
      <p:sp>
        <p:nvSpPr>
          <p:cNvPr id="26" name="내용 개체 틀 2">
            <a:extLst>
              <a:ext uri="{FF2B5EF4-FFF2-40B4-BE49-F238E27FC236}">
                <a16:creationId xmlns:a16="http://schemas.microsoft.com/office/drawing/2014/main" id="{F4CAD1EF-552D-7503-7FE2-537A33196765}"/>
              </a:ext>
            </a:extLst>
          </p:cNvPr>
          <p:cNvSpPr txBox="1">
            <a:spLocks/>
          </p:cNvSpPr>
          <p:nvPr/>
        </p:nvSpPr>
        <p:spPr>
          <a:xfrm>
            <a:off x="621863" y="3220742"/>
            <a:ext cx="4219574" cy="1460499"/>
          </a:xfrm>
          <a:noFill/>
          <a:ln w="3175">
            <a:solidFill>
              <a:schemeClr val="tx1"/>
            </a:solidFill>
          </a:ln>
        </p:spPr>
        <p:txBody>
          <a:bodyPr lIns="144000" anchor="ctr"/>
          <a:lst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a:lstStyle>
          <a:p>
            <a:pPr marL="180975" indent="-180975"/>
            <a:r>
              <a:rPr lang="ko-KR" altLang="en-US" sz="1800" dirty="0">
                <a:latin typeface="+mn-ea"/>
              </a:rPr>
              <a:t>사각형 </a:t>
            </a:r>
            <a:r>
              <a:rPr lang="en-US" altLang="ko-KR" sz="1800" dirty="0">
                <a:latin typeface="+mn-ea"/>
              </a:rPr>
              <a:t>: </a:t>
            </a:r>
            <a:r>
              <a:rPr lang="ko-KR" altLang="en-US" sz="1800" dirty="0">
                <a:latin typeface="+mn-ea"/>
              </a:rPr>
              <a:t>개체</a:t>
            </a:r>
            <a:endParaRPr lang="en-US" altLang="ko-KR" sz="1800" dirty="0">
              <a:latin typeface="+mn-ea"/>
            </a:endParaRPr>
          </a:p>
          <a:p>
            <a:pPr marL="180975" indent="-180975"/>
            <a:r>
              <a:rPr lang="ko-KR" altLang="en-US" sz="1800" dirty="0">
                <a:latin typeface="+mn-ea"/>
              </a:rPr>
              <a:t>타원 </a:t>
            </a:r>
            <a:r>
              <a:rPr lang="en-US" altLang="ko-KR" sz="1800" dirty="0">
                <a:latin typeface="+mn-ea"/>
              </a:rPr>
              <a:t>: </a:t>
            </a:r>
            <a:r>
              <a:rPr lang="ko-KR" altLang="en-US" sz="1800" dirty="0">
                <a:latin typeface="+mn-ea"/>
              </a:rPr>
              <a:t>속성 </a:t>
            </a:r>
            <a:r>
              <a:rPr lang="en-US" altLang="ko-KR" sz="1800" dirty="0">
                <a:latin typeface="+mn-ea"/>
              </a:rPr>
              <a:t>(</a:t>
            </a:r>
            <a:r>
              <a:rPr lang="ko-KR" altLang="en-US" sz="1800" dirty="0">
                <a:latin typeface="+mn-ea"/>
              </a:rPr>
              <a:t>밑줄 속성은 키를 표현</a:t>
            </a:r>
            <a:r>
              <a:rPr lang="en-US" altLang="ko-KR" sz="1800" dirty="0">
                <a:latin typeface="+mn-ea"/>
              </a:rPr>
              <a:t>)</a:t>
            </a:r>
          </a:p>
          <a:p>
            <a:pPr marL="180975" indent="-180975"/>
            <a:r>
              <a:rPr lang="ko-KR" altLang="en-US" sz="1800" dirty="0">
                <a:latin typeface="+mn-ea"/>
              </a:rPr>
              <a:t>마름모 </a:t>
            </a:r>
            <a:r>
              <a:rPr lang="en-US" altLang="ko-KR" sz="1800" dirty="0">
                <a:latin typeface="+mn-ea"/>
              </a:rPr>
              <a:t>: </a:t>
            </a:r>
            <a:r>
              <a:rPr lang="ko-KR" altLang="en-US" sz="1800" dirty="0">
                <a:latin typeface="+mn-ea"/>
              </a:rPr>
              <a:t>관계</a:t>
            </a:r>
            <a:endParaRPr lang="en-US" altLang="ko-KR" sz="1800" dirty="0">
              <a:latin typeface="+mn-ea"/>
            </a:endParaRPr>
          </a:p>
          <a:p>
            <a:pPr marL="180975" indent="-180975"/>
            <a:r>
              <a:rPr lang="ko-KR" altLang="en-US" sz="1800" dirty="0">
                <a:latin typeface="+mn-ea"/>
              </a:rPr>
              <a:t>레이블 </a:t>
            </a:r>
            <a:r>
              <a:rPr lang="en-US" altLang="ko-KR" sz="1800" dirty="0">
                <a:latin typeface="+mn-ea"/>
              </a:rPr>
              <a:t>: 1:1, 1:n, m:n</a:t>
            </a:r>
            <a:r>
              <a:rPr lang="ko-KR" altLang="en-US" sz="1800" dirty="0">
                <a:latin typeface="+mn-ea"/>
              </a:rPr>
              <a:t> 관계</a:t>
            </a:r>
            <a:endParaRPr lang="en-US" altLang="ko-KR" sz="1800" dirty="0">
              <a:latin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ERD 작성 단계</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7" name="Shape 5"/>
          <p:cNvSpPr/>
          <p:nvPr/>
        </p:nvSpPr>
        <p:spPr>
          <a:xfrm>
            <a:off x="548640" y="100584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1005840"/>
            <a:ext cx="54864" cy="822960"/>
          </a:xfrm>
          <a:prstGeom prst="rect">
            <a:avLst/>
          </a:prstGeom>
          <a:solidFill>
            <a:srgbClr val="0891B2"/>
          </a:solidFill>
          <a:ln/>
        </p:spPr>
      </p:sp>
      <p:sp>
        <p:nvSpPr>
          <p:cNvPr id="9" name="Shape 7"/>
          <p:cNvSpPr/>
          <p:nvPr/>
        </p:nvSpPr>
        <p:spPr>
          <a:xfrm>
            <a:off x="731520" y="1188720"/>
            <a:ext cx="457200" cy="457200"/>
          </a:xfrm>
          <a:prstGeom prst="line">
            <a:avLst/>
          </a:prstGeom>
          <a:solidFill>
            <a:srgbClr val="0891B2"/>
          </a:solidFill>
          <a:ln/>
        </p:spPr>
      </p:sp>
      <p:sp>
        <p:nvSpPr>
          <p:cNvPr id="10" name="Text 8"/>
          <p:cNvSpPr/>
          <p:nvPr/>
        </p:nvSpPr>
        <p:spPr>
          <a:xfrm>
            <a:off x="731520" y="118872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1</a:t>
            </a:r>
            <a:endParaRPr lang="en-US" sz="1600" dirty="0"/>
          </a:p>
        </p:txBody>
      </p:sp>
      <p:sp>
        <p:nvSpPr>
          <p:cNvPr id="11" name="Text 9"/>
          <p:cNvSpPr/>
          <p:nvPr/>
        </p:nvSpPr>
        <p:spPr>
          <a:xfrm>
            <a:off x="1325880" y="105156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개체 식별</a:t>
            </a:r>
            <a:endParaRPr lang="en-US" sz="1300" dirty="0"/>
          </a:p>
        </p:txBody>
      </p:sp>
      <p:sp>
        <p:nvSpPr>
          <p:cNvPr id="12" name="Text 10"/>
          <p:cNvSpPr/>
          <p:nvPr/>
        </p:nvSpPr>
        <p:spPr>
          <a:xfrm>
            <a:off x="1325880" y="141732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요구사항에서 명사를 찾아 개체 후보 도출</a:t>
            </a:r>
            <a:endParaRPr lang="en-US" sz="1000" dirty="0"/>
          </a:p>
        </p:txBody>
      </p:sp>
      <p:sp>
        <p:nvSpPr>
          <p:cNvPr id="13" name="Shape 11"/>
          <p:cNvSpPr/>
          <p:nvPr/>
        </p:nvSpPr>
        <p:spPr>
          <a:xfrm>
            <a:off x="548640" y="201168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14" name="Shape 12"/>
          <p:cNvSpPr/>
          <p:nvPr/>
        </p:nvSpPr>
        <p:spPr>
          <a:xfrm>
            <a:off x="548640" y="2011680"/>
            <a:ext cx="54864" cy="822960"/>
          </a:xfrm>
          <a:prstGeom prst="rect">
            <a:avLst/>
          </a:prstGeom>
          <a:solidFill>
            <a:srgbClr val="0891B2"/>
          </a:solidFill>
          <a:ln/>
        </p:spPr>
      </p:sp>
      <p:sp>
        <p:nvSpPr>
          <p:cNvPr id="15" name="Shape 13"/>
          <p:cNvSpPr/>
          <p:nvPr/>
        </p:nvSpPr>
        <p:spPr>
          <a:xfrm>
            <a:off x="731520" y="2194560"/>
            <a:ext cx="457200" cy="457200"/>
          </a:xfrm>
          <a:prstGeom prst="line">
            <a:avLst/>
          </a:prstGeom>
          <a:solidFill>
            <a:srgbClr val="0891B2"/>
          </a:solidFill>
          <a:ln/>
        </p:spPr>
      </p:sp>
      <p:sp>
        <p:nvSpPr>
          <p:cNvPr id="16" name="Text 14"/>
          <p:cNvSpPr/>
          <p:nvPr/>
        </p:nvSpPr>
        <p:spPr>
          <a:xfrm>
            <a:off x="731520" y="219456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2</a:t>
            </a:r>
            <a:endParaRPr lang="en-US" sz="1600" dirty="0"/>
          </a:p>
        </p:txBody>
      </p:sp>
      <p:sp>
        <p:nvSpPr>
          <p:cNvPr id="17" name="Text 15"/>
          <p:cNvSpPr/>
          <p:nvPr/>
        </p:nvSpPr>
        <p:spPr>
          <a:xfrm>
            <a:off x="1325880" y="205740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속성 정의</a:t>
            </a:r>
            <a:endParaRPr lang="en-US" sz="1300" dirty="0"/>
          </a:p>
        </p:txBody>
      </p:sp>
      <p:sp>
        <p:nvSpPr>
          <p:cNvPr id="18" name="Text 16"/>
          <p:cNvSpPr/>
          <p:nvPr/>
        </p:nvSpPr>
        <p:spPr>
          <a:xfrm>
            <a:off x="1325880" y="242316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각 개체의 특성(속성)을 결정</a:t>
            </a:r>
            <a:endParaRPr lang="en-US" sz="1000" dirty="0"/>
          </a:p>
        </p:txBody>
      </p:sp>
      <p:sp>
        <p:nvSpPr>
          <p:cNvPr id="19" name="Shape 17"/>
          <p:cNvSpPr/>
          <p:nvPr/>
        </p:nvSpPr>
        <p:spPr>
          <a:xfrm>
            <a:off x="548640" y="301752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20" name="Shape 18"/>
          <p:cNvSpPr/>
          <p:nvPr/>
        </p:nvSpPr>
        <p:spPr>
          <a:xfrm>
            <a:off x="548640" y="3017520"/>
            <a:ext cx="54864" cy="822960"/>
          </a:xfrm>
          <a:prstGeom prst="rect">
            <a:avLst/>
          </a:prstGeom>
          <a:solidFill>
            <a:srgbClr val="F59E0B"/>
          </a:solidFill>
          <a:ln/>
        </p:spPr>
      </p:sp>
      <p:sp>
        <p:nvSpPr>
          <p:cNvPr id="21" name="Shape 19"/>
          <p:cNvSpPr/>
          <p:nvPr/>
        </p:nvSpPr>
        <p:spPr>
          <a:xfrm>
            <a:off x="731520" y="3200400"/>
            <a:ext cx="457200" cy="457200"/>
          </a:xfrm>
          <a:prstGeom prst="line">
            <a:avLst/>
          </a:prstGeom>
          <a:solidFill>
            <a:srgbClr val="F59E0B"/>
          </a:solidFill>
          <a:ln/>
        </p:spPr>
      </p:sp>
      <p:sp>
        <p:nvSpPr>
          <p:cNvPr id="22" name="Text 20"/>
          <p:cNvSpPr/>
          <p:nvPr/>
        </p:nvSpPr>
        <p:spPr>
          <a:xfrm>
            <a:off x="731520" y="320040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3</a:t>
            </a:r>
            <a:endParaRPr lang="en-US" sz="1600" dirty="0"/>
          </a:p>
        </p:txBody>
      </p:sp>
      <p:sp>
        <p:nvSpPr>
          <p:cNvPr id="23" name="Text 21"/>
          <p:cNvSpPr/>
          <p:nvPr/>
        </p:nvSpPr>
        <p:spPr>
          <a:xfrm>
            <a:off x="1325880" y="306324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키 속성 결정</a:t>
            </a:r>
            <a:endParaRPr lang="en-US" sz="1300" dirty="0"/>
          </a:p>
        </p:txBody>
      </p:sp>
      <p:sp>
        <p:nvSpPr>
          <p:cNvPr id="24" name="Text 22"/>
          <p:cNvSpPr/>
          <p:nvPr/>
        </p:nvSpPr>
        <p:spPr>
          <a:xfrm>
            <a:off x="1325880" y="342900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인스턴스를 유일하게 식별하는 속성 선택</a:t>
            </a:r>
            <a:endParaRPr lang="en-US" sz="1000" dirty="0"/>
          </a:p>
        </p:txBody>
      </p:sp>
      <p:sp>
        <p:nvSpPr>
          <p:cNvPr id="25" name="Shape 23"/>
          <p:cNvSpPr/>
          <p:nvPr/>
        </p:nvSpPr>
        <p:spPr>
          <a:xfrm>
            <a:off x="4754880" y="100584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26" name="Shape 24"/>
          <p:cNvSpPr/>
          <p:nvPr/>
        </p:nvSpPr>
        <p:spPr>
          <a:xfrm>
            <a:off x="4754880" y="1005840"/>
            <a:ext cx="54864" cy="822960"/>
          </a:xfrm>
          <a:prstGeom prst="rect">
            <a:avLst/>
          </a:prstGeom>
          <a:solidFill>
            <a:srgbClr val="8B5CF6"/>
          </a:solidFill>
          <a:ln/>
        </p:spPr>
      </p:sp>
      <p:sp>
        <p:nvSpPr>
          <p:cNvPr id="27" name="Shape 25"/>
          <p:cNvSpPr/>
          <p:nvPr/>
        </p:nvSpPr>
        <p:spPr>
          <a:xfrm>
            <a:off x="4937760" y="1188720"/>
            <a:ext cx="457200" cy="457200"/>
          </a:xfrm>
          <a:prstGeom prst="line">
            <a:avLst/>
          </a:prstGeom>
          <a:solidFill>
            <a:srgbClr val="8B5CF6"/>
          </a:solidFill>
          <a:ln/>
        </p:spPr>
      </p:sp>
      <p:sp>
        <p:nvSpPr>
          <p:cNvPr id="28" name="Text 26"/>
          <p:cNvSpPr/>
          <p:nvPr/>
        </p:nvSpPr>
        <p:spPr>
          <a:xfrm>
            <a:off x="4937760" y="118872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4</a:t>
            </a:r>
            <a:endParaRPr lang="en-US" sz="1600" dirty="0"/>
          </a:p>
        </p:txBody>
      </p:sp>
      <p:sp>
        <p:nvSpPr>
          <p:cNvPr id="29" name="Text 27"/>
          <p:cNvSpPr/>
          <p:nvPr/>
        </p:nvSpPr>
        <p:spPr>
          <a:xfrm>
            <a:off x="5532120" y="105156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관계 파악</a:t>
            </a:r>
            <a:endParaRPr lang="en-US" sz="1300" dirty="0"/>
          </a:p>
        </p:txBody>
      </p:sp>
      <p:sp>
        <p:nvSpPr>
          <p:cNvPr id="30" name="Text 28"/>
          <p:cNvSpPr/>
          <p:nvPr/>
        </p:nvSpPr>
        <p:spPr>
          <a:xfrm>
            <a:off x="5532120" y="141732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개체 간 연관성(동사)을 찾아 관계 도출</a:t>
            </a:r>
            <a:endParaRPr lang="en-US" sz="1000" dirty="0"/>
          </a:p>
        </p:txBody>
      </p:sp>
      <p:sp>
        <p:nvSpPr>
          <p:cNvPr id="31" name="Shape 29"/>
          <p:cNvSpPr/>
          <p:nvPr/>
        </p:nvSpPr>
        <p:spPr>
          <a:xfrm>
            <a:off x="4754880" y="201168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32" name="Shape 30"/>
          <p:cNvSpPr/>
          <p:nvPr/>
        </p:nvSpPr>
        <p:spPr>
          <a:xfrm>
            <a:off x="4754880" y="2011680"/>
            <a:ext cx="54864" cy="822960"/>
          </a:xfrm>
          <a:prstGeom prst="rect">
            <a:avLst/>
          </a:prstGeom>
          <a:solidFill>
            <a:srgbClr val="8B5CF6"/>
          </a:solidFill>
          <a:ln/>
        </p:spPr>
      </p:sp>
      <p:sp>
        <p:nvSpPr>
          <p:cNvPr id="33" name="Shape 31"/>
          <p:cNvSpPr/>
          <p:nvPr/>
        </p:nvSpPr>
        <p:spPr>
          <a:xfrm>
            <a:off x="4937760" y="2194560"/>
            <a:ext cx="457200" cy="457200"/>
          </a:xfrm>
          <a:prstGeom prst="line">
            <a:avLst/>
          </a:prstGeom>
          <a:solidFill>
            <a:srgbClr val="8B5CF6"/>
          </a:solidFill>
          <a:ln/>
        </p:spPr>
      </p:sp>
      <p:sp>
        <p:nvSpPr>
          <p:cNvPr id="34" name="Text 32"/>
          <p:cNvSpPr/>
          <p:nvPr/>
        </p:nvSpPr>
        <p:spPr>
          <a:xfrm>
            <a:off x="4937760" y="219456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5</a:t>
            </a:r>
            <a:endParaRPr lang="en-US" sz="1600" dirty="0"/>
          </a:p>
        </p:txBody>
      </p:sp>
      <p:sp>
        <p:nvSpPr>
          <p:cNvPr id="35" name="Text 33"/>
          <p:cNvSpPr/>
          <p:nvPr/>
        </p:nvSpPr>
        <p:spPr>
          <a:xfrm>
            <a:off x="5532120" y="205740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카디널리티 결정</a:t>
            </a:r>
            <a:endParaRPr lang="en-US" sz="1300" dirty="0"/>
          </a:p>
        </p:txBody>
      </p:sp>
      <p:sp>
        <p:nvSpPr>
          <p:cNvPr id="36" name="Text 34"/>
          <p:cNvSpPr/>
          <p:nvPr/>
        </p:nvSpPr>
        <p:spPr>
          <a:xfrm>
            <a:off x="5532120" y="242316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1:1 / 1:n / n:m 관계 유형 판별</a:t>
            </a:r>
            <a:endParaRPr lang="en-US" sz="1000" dirty="0"/>
          </a:p>
        </p:txBody>
      </p:sp>
      <p:sp>
        <p:nvSpPr>
          <p:cNvPr id="37" name="Shape 35"/>
          <p:cNvSpPr/>
          <p:nvPr/>
        </p:nvSpPr>
        <p:spPr>
          <a:xfrm>
            <a:off x="4754880" y="3017520"/>
            <a:ext cx="3931920" cy="822960"/>
          </a:xfrm>
          <a:prstGeom prst="rect">
            <a:avLst/>
          </a:prstGeom>
          <a:solidFill>
            <a:srgbClr val="FFFFFF"/>
          </a:solidFill>
          <a:ln/>
          <a:effectLst>
            <a:outerShdw blurRad="76200" dist="25400" dir="8100000" algn="bl" rotWithShape="0">
              <a:srgbClr val="000000">
                <a:alpha val="12000"/>
              </a:srgbClr>
            </a:outerShdw>
          </a:effectLst>
        </p:spPr>
      </p:sp>
      <p:sp>
        <p:nvSpPr>
          <p:cNvPr id="38" name="Shape 36"/>
          <p:cNvSpPr/>
          <p:nvPr/>
        </p:nvSpPr>
        <p:spPr>
          <a:xfrm>
            <a:off x="4754880" y="3017520"/>
            <a:ext cx="54864" cy="822960"/>
          </a:xfrm>
          <a:prstGeom prst="rect">
            <a:avLst/>
          </a:prstGeom>
          <a:solidFill>
            <a:srgbClr val="1A2744"/>
          </a:solidFill>
          <a:ln/>
        </p:spPr>
      </p:sp>
      <p:sp>
        <p:nvSpPr>
          <p:cNvPr id="39" name="Shape 37"/>
          <p:cNvSpPr/>
          <p:nvPr/>
        </p:nvSpPr>
        <p:spPr>
          <a:xfrm>
            <a:off x="4937760" y="3200400"/>
            <a:ext cx="457200" cy="457200"/>
          </a:xfrm>
          <a:prstGeom prst="line">
            <a:avLst/>
          </a:prstGeom>
          <a:solidFill>
            <a:srgbClr val="1A2744"/>
          </a:solidFill>
          <a:ln/>
        </p:spPr>
      </p:sp>
      <p:sp>
        <p:nvSpPr>
          <p:cNvPr id="40" name="Text 38"/>
          <p:cNvSpPr/>
          <p:nvPr/>
        </p:nvSpPr>
        <p:spPr>
          <a:xfrm>
            <a:off x="4937760" y="3200400"/>
            <a:ext cx="457200" cy="457200"/>
          </a:xfrm>
          <a:prstGeom prst="rect">
            <a:avLst/>
          </a:prstGeom>
          <a:noFill/>
          <a:ln/>
        </p:spPr>
        <p:txBody>
          <a:bodyPr wrap="square" rtlCol="0" anchor="ctr"/>
          <a:lstStyle/>
          <a:p>
            <a:pPr marL="0" indent="0" algn="ctr">
              <a:buNone/>
            </a:pPr>
            <a:r>
              <a:rPr lang="en-US" sz="1600" b="1" dirty="0">
                <a:solidFill>
                  <a:srgbClr val="FFFFFF"/>
                </a:solidFill>
                <a:latin typeface="Arial Black" pitchFamily="34" charset="0"/>
                <a:ea typeface="Arial Black" pitchFamily="34" charset="-122"/>
                <a:cs typeface="Arial Black" pitchFamily="34" charset="-120"/>
              </a:rPr>
              <a:t>6</a:t>
            </a:r>
            <a:endParaRPr lang="en-US" sz="1600" dirty="0"/>
          </a:p>
        </p:txBody>
      </p:sp>
      <p:sp>
        <p:nvSpPr>
          <p:cNvPr id="41" name="Text 39"/>
          <p:cNvSpPr/>
          <p:nvPr/>
        </p:nvSpPr>
        <p:spPr>
          <a:xfrm>
            <a:off x="5532120" y="3063240"/>
            <a:ext cx="2926080" cy="365760"/>
          </a:xfrm>
          <a:prstGeom prst="rect">
            <a:avLst/>
          </a:prstGeom>
          <a:noFill/>
          <a:ln/>
        </p:spPr>
        <p:txBody>
          <a:bodyPr wrap="square" rtlCol="0" anchor="ctr"/>
          <a:lstStyle/>
          <a:p>
            <a:pPr marL="0" indent="0">
              <a:buNone/>
            </a:pPr>
            <a:r>
              <a:rPr lang="en-US" sz="1300" b="1" dirty="0">
                <a:solidFill>
                  <a:srgbClr val="1A2744"/>
                </a:solidFill>
                <a:latin typeface="맑은 고딕" pitchFamily="34" charset="0"/>
                <a:ea typeface="맑은 고딕" pitchFamily="34" charset="-122"/>
                <a:cs typeface="맑은 고딕" pitchFamily="34" charset="-120"/>
              </a:rPr>
              <a:t>ERD 완성</a:t>
            </a:r>
            <a:endParaRPr lang="en-US" sz="1300" dirty="0"/>
          </a:p>
        </p:txBody>
      </p:sp>
      <p:sp>
        <p:nvSpPr>
          <p:cNvPr id="42" name="Text 40"/>
          <p:cNvSpPr/>
          <p:nvPr/>
        </p:nvSpPr>
        <p:spPr>
          <a:xfrm>
            <a:off x="5532120" y="3429000"/>
            <a:ext cx="2926080" cy="320040"/>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기호를 사용하여 다이어그램 그리기</a:t>
            </a:r>
            <a:endParaRPr lang="en-US" sz="1000" dirty="0"/>
          </a:p>
        </p:txBody>
      </p:sp>
      <p:sp>
        <p:nvSpPr>
          <p:cNvPr id="43" name="Shape 41"/>
          <p:cNvSpPr/>
          <p:nvPr/>
        </p:nvSpPr>
        <p:spPr>
          <a:xfrm>
            <a:off x="548640" y="4114800"/>
            <a:ext cx="8046720" cy="411480"/>
          </a:xfrm>
          <a:prstGeom prst="rect">
            <a:avLst/>
          </a:prstGeom>
          <a:solidFill>
            <a:srgbClr val="E0F7FA"/>
          </a:solidFill>
          <a:ln/>
        </p:spPr>
      </p:sp>
      <p:sp>
        <p:nvSpPr>
          <p:cNvPr id="44" name="Text 42"/>
          <p:cNvSpPr/>
          <p:nvPr/>
        </p:nvSpPr>
        <p:spPr>
          <a:xfrm>
            <a:off x="822960" y="4114800"/>
            <a:ext cx="7498080" cy="411480"/>
          </a:xfrm>
          <a:prstGeom prst="rect">
            <a:avLst/>
          </a:prstGeom>
          <a:noFill/>
          <a:ln/>
        </p:spPr>
        <p:txBody>
          <a:bodyPr wrap="square" rtlCol="0" anchor="ctr"/>
          <a:lstStyle/>
          <a:p>
            <a:pPr marL="0" indent="0">
              <a:buNone/>
            </a:pPr>
            <a:r>
              <a:rPr lang="en-US" sz="1300" b="1" dirty="0">
                <a:solidFill>
                  <a:srgbClr val="334155"/>
                </a:solidFill>
                <a:latin typeface="Calibri" pitchFamily="34" charset="0"/>
                <a:ea typeface="Calibri" pitchFamily="34" charset="-122"/>
                <a:cs typeface="Calibri" pitchFamily="34" charset="-120"/>
              </a:rPr>
              <a:t>팁: 개체=명사(고객,상품) / 관계=동사(구매하다,수강하다)</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731520"/>
            <a:ext cx="1828800" cy="1097280"/>
          </a:xfrm>
          <a:prstGeom prst="rect">
            <a:avLst/>
          </a:prstGeom>
          <a:noFill/>
          <a:ln/>
        </p:spPr>
        <p:txBody>
          <a:bodyPr wrap="square" lIns="0" tIns="0" rIns="0" bIns="0" rtlCol="0" anchor="ctr"/>
          <a:lstStyle/>
          <a:p>
            <a:pPr marL="0" indent="0">
              <a:buNone/>
            </a:pPr>
            <a:r>
              <a:rPr lang="en-US" sz="6400" dirty="0">
                <a:solidFill>
                  <a:srgbClr val="0891B2"/>
                </a:solidFill>
                <a:latin typeface="Arial" pitchFamily="34" charset="0"/>
                <a:ea typeface="Arial" pitchFamily="34" charset="-122"/>
                <a:cs typeface="Arial" pitchFamily="34" charset="-120"/>
              </a:rPr>
              <a:t>03</a:t>
            </a:r>
            <a:endParaRPr lang="en-US" sz="6400" dirty="0"/>
          </a:p>
        </p:txBody>
      </p:sp>
      <p:sp>
        <p:nvSpPr>
          <p:cNvPr id="5" name="Shape 3"/>
          <p:cNvSpPr/>
          <p:nvPr/>
        </p:nvSpPr>
        <p:spPr>
          <a:xfrm>
            <a:off x="731520" y="1828800"/>
            <a:ext cx="1097280" cy="36576"/>
          </a:xfrm>
          <a:prstGeom prst="rect">
            <a:avLst/>
          </a:prstGeom>
          <a:solidFill>
            <a:srgbClr val="22D3EE"/>
          </a:solidFill>
          <a:ln/>
        </p:spPr>
      </p:sp>
      <p:sp>
        <p:nvSpPr>
          <p:cNvPr id="6" name="Text 4"/>
          <p:cNvSpPr/>
          <p:nvPr/>
        </p:nvSpPr>
        <p:spPr>
          <a:xfrm>
            <a:off x="731520" y="2377440"/>
            <a:ext cx="7315200" cy="1097280"/>
          </a:xfrm>
          <a:prstGeom prst="rect">
            <a:avLst/>
          </a:prstGeom>
          <a:noFill/>
          <a:ln/>
        </p:spPr>
        <p:txBody>
          <a:bodyPr wrap="square" lIns="0" tIns="0" rIns="0" bIns="0" rtlCol="0" anchor="ctr"/>
          <a:lstStyle/>
          <a:p>
            <a:pPr marL="0" indent="0">
              <a:buNone/>
            </a:pPr>
            <a:r>
              <a:rPr lang="en-US" sz="3800" b="1" dirty="0">
                <a:solidFill>
                  <a:srgbClr val="FFFFFF"/>
                </a:solidFill>
                <a:latin typeface="맑은 고딕" pitchFamily="34" charset="0"/>
                <a:ea typeface="맑은 고딕" pitchFamily="34" charset="-122"/>
                <a:cs typeface="맑은 고딕" pitchFamily="34" charset="-120"/>
              </a:rPr>
              <a:t>논리적 데이터 모델</a:t>
            </a:r>
            <a:endParaRPr lang="en-US" sz="3800" dirty="0"/>
          </a:p>
        </p:txBody>
      </p:sp>
      <p:sp>
        <p:nvSpPr>
          <p:cNvPr id="7" name="Text 5"/>
          <p:cNvSpPr/>
          <p:nvPr/>
        </p:nvSpPr>
        <p:spPr>
          <a:xfrm>
            <a:off x="731520" y="3474720"/>
            <a:ext cx="7315200" cy="457200"/>
          </a:xfrm>
          <a:prstGeom prst="rect">
            <a:avLst/>
          </a:prstGeom>
          <a:noFill/>
          <a:ln/>
        </p:spPr>
        <p:txBody>
          <a:bodyPr wrap="square" rtlCol="0" anchor="ctr"/>
          <a:lstStyle/>
          <a:p>
            <a:pPr marL="0" indent="0">
              <a:buNone/>
            </a:pPr>
            <a:r>
              <a:rPr lang="en-US" sz="1400" i="1" dirty="0">
                <a:solidFill>
                  <a:srgbClr val="94A3B8"/>
                </a:solidFill>
                <a:latin typeface="Arial" pitchFamily="34" charset="0"/>
                <a:ea typeface="Arial" pitchFamily="34" charset="-122"/>
                <a:cs typeface="Arial" pitchFamily="34" charset="-120"/>
              </a:rPr>
              <a:t>Logical Data Models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논리적 데이터 모델의 개념</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22</a:t>
            </a:r>
            <a:endParaRPr lang="en-US" sz="1000" dirty="0"/>
          </a:p>
        </p:txBody>
      </p:sp>
      <p:sp>
        <p:nvSpPr>
          <p:cNvPr id="7" name="Shape 5"/>
          <p:cNvSpPr/>
          <p:nvPr/>
        </p:nvSpPr>
        <p:spPr>
          <a:xfrm>
            <a:off x="548640" y="960120"/>
            <a:ext cx="8046720" cy="7315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960120"/>
            <a:ext cx="54864" cy="731520"/>
          </a:xfrm>
          <a:prstGeom prst="rect">
            <a:avLst/>
          </a:prstGeom>
          <a:solidFill>
            <a:srgbClr val="0891B2"/>
          </a:solidFill>
          <a:ln/>
        </p:spPr>
      </p:sp>
      <p:sp>
        <p:nvSpPr>
          <p:cNvPr id="9" name="Text 7"/>
          <p:cNvSpPr/>
          <p:nvPr/>
        </p:nvSpPr>
        <p:spPr>
          <a:xfrm>
            <a:off x="731520" y="1051560"/>
            <a:ext cx="7680960" cy="365760"/>
          </a:xfrm>
          <a:prstGeom prst="rect">
            <a:avLst/>
          </a:prstGeom>
          <a:noFill/>
          <a:ln/>
        </p:spPr>
        <p:txBody>
          <a:bodyPr wrap="square" rtlCol="0" anchor="ctr"/>
          <a:lstStyle/>
          <a:p>
            <a:pPr marL="0" indent="0">
              <a:buNone/>
            </a:pPr>
            <a:r>
              <a:rPr lang="en-US" sz="1500" b="1" dirty="0">
                <a:solidFill>
                  <a:srgbClr val="1A2744"/>
                </a:solidFill>
                <a:latin typeface="맑은 고딕" pitchFamily="34" charset="0"/>
                <a:ea typeface="맑은 고딕" pitchFamily="34" charset="-122"/>
                <a:cs typeface="맑은 고딕" pitchFamily="34" charset="-120"/>
              </a:rPr>
              <a:t>논리적 데이터 모델</a:t>
            </a:r>
            <a:endParaRPr lang="en-US" sz="1500" dirty="0"/>
          </a:p>
        </p:txBody>
      </p:sp>
      <p:sp>
        <p:nvSpPr>
          <p:cNvPr id="10" name="Text 8"/>
          <p:cNvSpPr/>
          <p:nvPr/>
        </p:nvSpPr>
        <p:spPr>
          <a:xfrm>
            <a:off x="731520" y="1417320"/>
            <a:ext cx="7680960" cy="182880"/>
          </a:xfrm>
          <a:prstGeom prst="rect">
            <a:avLst/>
          </a:prstGeom>
          <a:noFill/>
          <a:ln/>
        </p:spPr>
        <p:txBody>
          <a:bodyPr wrap="square"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ERD(개념적 구조)를 DB에 저장할 형태로 표현한 논리적 구조 = 데이터베이스 스키마</a:t>
            </a:r>
            <a:endParaRPr lang="en-US" sz="1200" dirty="0"/>
          </a:p>
        </p:txBody>
      </p:sp>
      <p:sp>
        <p:nvSpPr>
          <p:cNvPr id="11" name="Shape 9"/>
          <p:cNvSpPr/>
          <p:nvPr/>
        </p:nvSpPr>
        <p:spPr>
          <a:xfrm>
            <a:off x="548640" y="1920240"/>
            <a:ext cx="2560320" cy="2103120"/>
          </a:xfrm>
          <a:prstGeom prst="rect">
            <a:avLst/>
          </a:prstGeom>
          <a:solidFill>
            <a:srgbClr val="FFFFFF"/>
          </a:solidFill>
          <a:ln/>
          <a:effectLst>
            <a:outerShdw blurRad="76200" dist="25400" dir="8100000" algn="bl" rotWithShape="0">
              <a:srgbClr val="000000">
                <a:alpha val="12000"/>
              </a:srgbClr>
            </a:outerShdw>
          </a:effectLst>
        </p:spPr>
      </p:sp>
      <p:sp>
        <p:nvSpPr>
          <p:cNvPr id="12" name="Shape 10"/>
          <p:cNvSpPr/>
          <p:nvPr/>
        </p:nvSpPr>
        <p:spPr>
          <a:xfrm>
            <a:off x="548640" y="1920240"/>
            <a:ext cx="2560320" cy="54864"/>
          </a:xfrm>
          <a:prstGeom prst="rect">
            <a:avLst/>
          </a:prstGeom>
          <a:solidFill>
            <a:srgbClr val="0891B2"/>
          </a:solidFill>
          <a:ln/>
        </p:spPr>
      </p:sp>
      <p:sp>
        <p:nvSpPr>
          <p:cNvPr id="13" name="Text 11"/>
          <p:cNvSpPr/>
          <p:nvPr/>
        </p:nvSpPr>
        <p:spPr>
          <a:xfrm>
            <a:off x="640080" y="2057400"/>
            <a:ext cx="2377440" cy="365760"/>
          </a:xfrm>
          <a:prstGeom prst="rect">
            <a:avLst/>
          </a:prstGeom>
          <a:noFill/>
          <a:ln/>
        </p:spPr>
        <p:txBody>
          <a:bodyPr wrap="square" rtlCol="0" anchor="ctr"/>
          <a:lstStyle/>
          <a:p>
            <a:pPr marL="0" indent="0" algn="ctr">
              <a:buNone/>
            </a:pPr>
            <a:r>
              <a:rPr lang="en-US" sz="1300" b="1" dirty="0">
                <a:solidFill>
                  <a:srgbClr val="0891B2"/>
                </a:solidFill>
                <a:latin typeface="맑은 고딕" pitchFamily="34" charset="0"/>
                <a:ea typeface="맑은 고딕" pitchFamily="34" charset="-122"/>
                <a:cs typeface="맑은 고딕" pitchFamily="34" charset="-120"/>
              </a:rPr>
              <a:t>관계 데이터 모델</a:t>
            </a:r>
            <a:endParaRPr lang="en-US" sz="1300" dirty="0"/>
          </a:p>
        </p:txBody>
      </p:sp>
      <p:sp>
        <p:nvSpPr>
          <p:cNvPr id="14" name="Text 12"/>
          <p:cNvSpPr/>
          <p:nvPr/>
        </p:nvSpPr>
        <p:spPr>
          <a:xfrm>
            <a:off x="640080" y="2423160"/>
            <a:ext cx="2377440" cy="274320"/>
          </a:xfrm>
          <a:prstGeom prst="rect">
            <a:avLst/>
          </a:prstGeom>
          <a:noFill/>
          <a:ln/>
        </p:spPr>
        <p:txBody>
          <a:bodyPr wrap="square" rtlCol="0" anchor="ctr"/>
          <a:lstStyle/>
          <a:p>
            <a:pPr marL="0" indent="0" algn="ctr">
              <a:buNone/>
            </a:pPr>
            <a:r>
              <a:rPr lang="en-US" sz="1000" i="1" dirty="0">
                <a:solidFill>
                  <a:srgbClr val="64748B"/>
                </a:solidFill>
                <a:latin typeface="Arial" pitchFamily="34" charset="0"/>
                <a:ea typeface="Arial" pitchFamily="34" charset="-122"/>
                <a:cs typeface="Arial" pitchFamily="34" charset="-120"/>
              </a:rPr>
              <a:t>Relational</a:t>
            </a:r>
            <a:endParaRPr lang="en-US" sz="1000" dirty="0"/>
          </a:p>
        </p:txBody>
      </p:sp>
      <p:sp>
        <p:nvSpPr>
          <p:cNvPr id="15" name="Text 13"/>
          <p:cNvSpPr/>
          <p:nvPr/>
        </p:nvSpPr>
        <p:spPr>
          <a:xfrm>
            <a:off x="640080" y="2788920"/>
            <a:ext cx="2377440" cy="10972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2차원 테이블 형태</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Oracle, MySQL, PostgreSQL</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가장 많이 사용됨</a:t>
            </a:r>
            <a:endParaRPr lang="en-US" sz="1100" dirty="0"/>
          </a:p>
        </p:txBody>
      </p:sp>
      <p:sp>
        <p:nvSpPr>
          <p:cNvPr id="16" name="Shape 14"/>
          <p:cNvSpPr/>
          <p:nvPr/>
        </p:nvSpPr>
        <p:spPr>
          <a:xfrm>
            <a:off x="3383280" y="1920240"/>
            <a:ext cx="2560320" cy="2103120"/>
          </a:xfrm>
          <a:prstGeom prst="rect">
            <a:avLst/>
          </a:prstGeom>
          <a:solidFill>
            <a:srgbClr val="FFFFFF"/>
          </a:solidFill>
          <a:ln/>
          <a:effectLst>
            <a:outerShdw blurRad="76200" dist="25400" dir="8100000" algn="bl" rotWithShape="0">
              <a:srgbClr val="000000">
                <a:alpha val="12000"/>
              </a:srgbClr>
            </a:outerShdw>
          </a:effectLst>
        </p:spPr>
      </p:sp>
      <p:sp>
        <p:nvSpPr>
          <p:cNvPr id="17" name="Shape 15"/>
          <p:cNvSpPr/>
          <p:nvPr/>
        </p:nvSpPr>
        <p:spPr>
          <a:xfrm>
            <a:off x="3383280" y="1920240"/>
            <a:ext cx="2560320" cy="54864"/>
          </a:xfrm>
          <a:prstGeom prst="rect">
            <a:avLst/>
          </a:prstGeom>
          <a:solidFill>
            <a:srgbClr val="F59E0B"/>
          </a:solidFill>
          <a:ln/>
        </p:spPr>
      </p:sp>
      <p:sp>
        <p:nvSpPr>
          <p:cNvPr id="18" name="Text 16"/>
          <p:cNvSpPr/>
          <p:nvPr/>
        </p:nvSpPr>
        <p:spPr>
          <a:xfrm>
            <a:off x="3474720" y="2057400"/>
            <a:ext cx="2377440" cy="365760"/>
          </a:xfrm>
          <a:prstGeom prst="rect">
            <a:avLst/>
          </a:prstGeom>
          <a:noFill/>
          <a:ln/>
        </p:spPr>
        <p:txBody>
          <a:bodyPr wrap="square" rtlCol="0" anchor="ctr"/>
          <a:lstStyle/>
          <a:p>
            <a:pPr marL="0" indent="0" algn="ctr">
              <a:buNone/>
            </a:pPr>
            <a:r>
              <a:rPr lang="en-US" sz="1300" b="1" dirty="0">
                <a:solidFill>
                  <a:srgbClr val="F59E0B"/>
                </a:solidFill>
                <a:latin typeface="맑은 고딕" pitchFamily="34" charset="0"/>
                <a:ea typeface="맑은 고딕" pitchFamily="34" charset="-122"/>
                <a:cs typeface="맑은 고딕" pitchFamily="34" charset="-120"/>
              </a:rPr>
              <a:t>계층 데이터 모델</a:t>
            </a:r>
            <a:endParaRPr lang="en-US" sz="1300" dirty="0"/>
          </a:p>
        </p:txBody>
      </p:sp>
      <p:sp>
        <p:nvSpPr>
          <p:cNvPr id="19" name="Text 17"/>
          <p:cNvSpPr/>
          <p:nvPr/>
        </p:nvSpPr>
        <p:spPr>
          <a:xfrm>
            <a:off x="3474720" y="2423160"/>
            <a:ext cx="2377440" cy="274320"/>
          </a:xfrm>
          <a:prstGeom prst="rect">
            <a:avLst/>
          </a:prstGeom>
          <a:noFill/>
          <a:ln/>
        </p:spPr>
        <p:txBody>
          <a:bodyPr wrap="square" rtlCol="0" anchor="ctr"/>
          <a:lstStyle/>
          <a:p>
            <a:pPr marL="0" indent="0" algn="ctr">
              <a:buNone/>
            </a:pPr>
            <a:r>
              <a:rPr lang="en-US" sz="1000" i="1" dirty="0">
                <a:solidFill>
                  <a:srgbClr val="64748B"/>
                </a:solidFill>
                <a:latin typeface="Arial" pitchFamily="34" charset="0"/>
                <a:ea typeface="Arial" pitchFamily="34" charset="-122"/>
                <a:cs typeface="Arial" pitchFamily="34" charset="-120"/>
              </a:rPr>
              <a:t>Hierarchical</a:t>
            </a:r>
            <a:endParaRPr lang="en-US" sz="1000" dirty="0"/>
          </a:p>
        </p:txBody>
      </p:sp>
      <p:sp>
        <p:nvSpPr>
          <p:cNvPr id="20" name="Text 18"/>
          <p:cNvSpPr/>
          <p:nvPr/>
        </p:nvSpPr>
        <p:spPr>
          <a:xfrm>
            <a:off x="3474720" y="2788920"/>
            <a:ext cx="2377440" cy="10972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트리(Tree) 형태</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부모-자식 관계 (1:n만)</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n:m 표현 불가</a:t>
            </a:r>
            <a:endParaRPr lang="en-US" sz="1100" dirty="0"/>
          </a:p>
        </p:txBody>
      </p:sp>
      <p:sp>
        <p:nvSpPr>
          <p:cNvPr id="21" name="Shape 19"/>
          <p:cNvSpPr/>
          <p:nvPr/>
        </p:nvSpPr>
        <p:spPr>
          <a:xfrm>
            <a:off x="6217920" y="1920240"/>
            <a:ext cx="2560320" cy="2103120"/>
          </a:xfrm>
          <a:prstGeom prst="rect">
            <a:avLst/>
          </a:prstGeom>
          <a:solidFill>
            <a:srgbClr val="FFFFFF"/>
          </a:solidFill>
          <a:ln/>
          <a:effectLst>
            <a:outerShdw blurRad="76200" dist="25400" dir="8100000" algn="bl" rotWithShape="0">
              <a:srgbClr val="000000">
                <a:alpha val="12000"/>
              </a:srgbClr>
            </a:outerShdw>
          </a:effectLst>
        </p:spPr>
      </p:sp>
      <p:sp>
        <p:nvSpPr>
          <p:cNvPr id="22" name="Shape 20"/>
          <p:cNvSpPr/>
          <p:nvPr/>
        </p:nvSpPr>
        <p:spPr>
          <a:xfrm>
            <a:off x="6217920" y="1920240"/>
            <a:ext cx="2560320" cy="54864"/>
          </a:xfrm>
          <a:prstGeom prst="rect">
            <a:avLst/>
          </a:prstGeom>
          <a:solidFill>
            <a:srgbClr val="8B5CF6"/>
          </a:solidFill>
          <a:ln/>
        </p:spPr>
      </p:sp>
      <p:sp>
        <p:nvSpPr>
          <p:cNvPr id="23" name="Text 21"/>
          <p:cNvSpPr/>
          <p:nvPr/>
        </p:nvSpPr>
        <p:spPr>
          <a:xfrm>
            <a:off x="6309360" y="2057400"/>
            <a:ext cx="2377440" cy="365760"/>
          </a:xfrm>
          <a:prstGeom prst="rect">
            <a:avLst/>
          </a:prstGeom>
          <a:noFill/>
          <a:ln/>
        </p:spPr>
        <p:txBody>
          <a:bodyPr wrap="square" rtlCol="0" anchor="ctr"/>
          <a:lstStyle/>
          <a:p>
            <a:pPr marL="0" indent="0" algn="ctr">
              <a:buNone/>
            </a:pPr>
            <a:r>
              <a:rPr lang="en-US" sz="1300" b="1" dirty="0">
                <a:solidFill>
                  <a:srgbClr val="8B5CF6"/>
                </a:solidFill>
                <a:latin typeface="맑은 고딕" pitchFamily="34" charset="0"/>
                <a:ea typeface="맑은 고딕" pitchFamily="34" charset="-122"/>
                <a:cs typeface="맑은 고딕" pitchFamily="34" charset="-120"/>
              </a:rPr>
              <a:t>네트워크 데이터 모델</a:t>
            </a:r>
            <a:endParaRPr lang="en-US" sz="1300" dirty="0"/>
          </a:p>
        </p:txBody>
      </p:sp>
      <p:sp>
        <p:nvSpPr>
          <p:cNvPr id="24" name="Text 22"/>
          <p:cNvSpPr/>
          <p:nvPr/>
        </p:nvSpPr>
        <p:spPr>
          <a:xfrm>
            <a:off x="6309360" y="2423160"/>
            <a:ext cx="2377440" cy="274320"/>
          </a:xfrm>
          <a:prstGeom prst="rect">
            <a:avLst/>
          </a:prstGeom>
          <a:noFill/>
          <a:ln/>
        </p:spPr>
        <p:txBody>
          <a:bodyPr wrap="square" rtlCol="0" anchor="ctr"/>
          <a:lstStyle/>
          <a:p>
            <a:pPr marL="0" indent="0" algn="ctr">
              <a:buNone/>
            </a:pPr>
            <a:r>
              <a:rPr lang="en-US" sz="1000" i="1" dirty="0">
                <a:solidFill>
                  <a:srgbClr val="64748B"/>
                </a:solidFill>
                <a:latin typeface="Arial" pitchFamily="34" charset="0"/>
                <a:ea typeface="Arial" pitchFamily="34" charset="-122"/>
                <a:cs typeface="Arial" pitchFamily="34" charset="-120"/>
              </a:rPr>
              <a:t>Network</a:t>
            </a:r>
            <a:endParaRPr lang="en-US" sz="1000" dirty="0"/>
          </a:p>
        </p:txBody>
      </p:sp>
      <p:sp>
        <p:nvSpPr>
          <p:cNvPr id="25" name="Text 23"/>
          <p:cNvSpPr/>
          <p:nvPr/>
        </p:nvSpPr>
        <p:spPr>
          <a:xfrm>
            <a:off x="6309360" y="2788920"/>
            <a:ext cx="2377440" cy="1097280"/>
          </a:xfrm>
          <a:prstGeom prst="rect">
            <a:avLst/>
          </a:prstGeom>
          <a:noFill/>
          <a:ln/>
        </p:spPr>
        <p:txBody>
          <a:bodyPr wrap="square" rtlCol="0" anchor="ctr"/>
          <a:lstStyle/>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그래프(Graph) 형태</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1:n 관계만 허용</a:t>
            </a:r>
            <a:endParaRPr lang="en-US" sz="1100" dirty="0"/>
          </a:p>
          <a:p>
            <a:pPr marL="0" indent="0" algn="ctr">
              <a:lnSpc>
                <a:spcPct val="130000"/>
              </a:lnSpc>
              <a:buNone/>
            </a:pPr>
            <a:r>
              <a:rPr lang="en-US" sz="1100" dirty="0">
                <a:solidFill>
                  <a:srgbClr val="334155"/>
                </a:solidFill>
                <a:latin typeface="Calibri" pitchFamily="34" charset="0"/>
                <a:ea typeface="Calibri" pitchFamily="34" charset="-122"/>
                <a:cs typeface="Calibri" pitchFamily="34" charset="-120"/>
              </a:rPr>
              <a:t>구조가 복잡</a:t>
            </a:r>
            <a:endParaRPr lang="en-US" sz="1100" dirty="0"/>
          </a:p>
        </p:txBody>
      </p:sp>
      <p:sp>
        <p:nvSpPr>
          <p:cNvPr id="26" name="Shape 24"/>
          <p:cNvSpPr/>
          <p:nvPr/>
        </p:nvSpPr>
        <p:spPr>
          <a:xfrm>
            <a:off x="548640" y="4251960"/>
            <a:ext cx="8046720" cy="365760"/>
          </a:xfrm>
          <a:prstGeom prst="rect">
            <a:avLst/>
          </a:prstGeom>
          <a:solidFill>
            <a:srgbClr val="1A2744"/>
          </a:solidFill>
          <a:ln/>
        </p:spPr>
      </p:sp>
      <p:sp>
        <p:nvSpPr>
          <p:cNvPr id="27" name="Text 25"/>
          <p:cNvSpPr/>
          <p:nvPr/>
        </p:nvSpPr>
        <p:spPr>
          <a:xfrm>
            <a:off x="822960" y="4251960"/>
            <a:ext cx="749808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현재 대부분의 DBMS는 관계 데이터 모델 사용 → 5장에서 본격 학습!</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논리적 데이터 모델 — 3가지 비교</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23</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2880360"/>
        </p:xfrm>
        <a:graphic>
          <a:graphicData uri="http://schemas.openxmlformats.org/drawingml/2006/table">
            <a:tbl>
              <a:tblPr/>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20040">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구분</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관계 데이터 모델</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계층 데이터 모델</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1000" b="1" dirty="0">
                          <a:solidFill>
                            <a:srgbClr val="FFFFFF"/>
                          </a:solidFill>
                          <a:latin typeface="맑은 고딕" pitchFamily="34" charset="0"/>
                          <a:ea typeface="맑은 고딕" pitchFamily="34" charset="-122"/>
                          <a:cs typeface="맑은 고딕" pitchFamily="34" charset="-120"/>
                        </a:rPr>
                        <a:t>네트워크 데이터 모델</a:t>
                      </a:r>
                      <a:endParaRPr lang="en-US" sz="1000" dirty="0">
                        <a:latin typeface="맑은 고딕" charset="0"/>
                        <a:ea typeface="맑은 고딕" charset="0"/>
                        <a:cs typeface="맑은 고딕"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extLst>
                  <a:ext uri="{0D108BD9-81ED-4DB2-BD59-A6C34878D82A}">
                    <a16:rowId xmlns:a16="http://schemas.microsoft.com/office/drawing/2014/main" val="10000"/>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구조</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2차원 테이블</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트리</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그래프</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1:1 / 1:n</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O</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n:m</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O (가능)</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X (불가)</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X (직접 불가)</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유연성</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매우 높음</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낮음</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보통</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데이터 조작</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SQL (쉬움)</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어려움</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어려움</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현재 사용</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대부분의 DBMS</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거의 사용 안 함</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거의 사용 안 함</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000" b="1" dirty="0">
                          <a:solidFill>
                            <a:srgbClr val="1A2744"/>
                          </a:solidFill>
                          <a:latin typeface="Calibri" pitchFamily="34" charset="0"/>
                          <a:ea typeface="Calibri" pitchFamily="34" charset="-122"/>
                          <a:cs typeface="Calibri" pitchFamily="34" charset="-120"/>
                        </a:rPr>
                        <a:t>대표</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Oracle, MySQL</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IMS</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000" dirty="0">
                          <a:solidFill>
                            <a:srgbClr val="334155"/>
                          </a:solidFill>
                          <a:latin typeface="Calibri" pitchFamily="34" charset="0"/>
                          <a:ea typeface="Calibri" pitchFamily="34" charset="-122"/>
                          <a:cs typeface="Calibri" pitchFamily="34" charset="-120"/>
                        </a:rPr>
                        <a:t>IDMS</a:t>
                      </a:r>
                      <a:endParaRPr lang="en-US" sz="10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88636"/>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7772400" cy="640080"/>
          </a:xfrm>
          <a:prstGeom prst="rect">
            <a:avLst/>
          </a:prstGeom>
          <a:noFill/>
        </p:spPr>
        <p:txBody>
          <a:bodyPr wrap="square">
            <a:spAutoFit/>
          </a:bodyPr>
          <a:lstStyle/>
          <a:p>
            <a:pPr algn="l">
              <a:defRPr sz="2400" b="1">
                <a:solidFill>
                  <a:srgbClr val="1A2744"/>
                </a:solidFill>
                <a:latin typeface="맑은 고딕"/>
              </a:defRPr>
            </a:pPr>
            <a:r>
              <a:t>관계 데이터 모델 (Relational Data Model)</a:t>
            </a:r>
          </a:p>
        </p:txBody>
      </p:sp>
      <p:sp>
        <p:nvSpPr>
          <p:cNvPr id="5" name="Rectangle 4"/>
          <p:cNvSpPr/>
          <p:nvPr/>
        </p:nvSpPr>
        <p:spPr>
          <a:xfrm>
            <a:off x="548640" y="822960"/>
            <a:ext cx="804672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4754880"/>
            <a:ext cx="548640" cy="274320"/>
          </a:xfrm>
          <a:prstGeom prst="rect">
            <a:avLst/>
          </a:prstGeom>
          <a:noFill/>
        </p:spPr>
        <p:txBody>
          <a:bodyPr wrap="square">
            <a:spAutoFit/>
          </a:bodyPr>
          <a:lstStyle/>
          <a:p>
            <a:pPr algn="r">
              <a:defRPr sz="1000" b="0">
                <a:solidFill>
                  <a:srgbClr val="64748B"/>
                </a:solidFill>
                <a:latin typeface="Calibri"/>
              </a:defRPr>
            </a:pPr>
            <a:r>
              <a:t>25</a:t>
            </a:r>
          </a:p>
        </p:txBody>
      </p:sp>
      <p:sp>
        <p:nvSpPr>
          <p:cNvPr id="7" name="Rectangle 6"/>
          <p:cNvSpPr/>
          <p:nvPr/>
        </p:nvSpPr>
        <p:spPr>
          <a:xfrm>
            <a:off x="548640" y="1005840"/>
            <a:ext cx="804672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005840"/>
            <a:ext cx="54864" cy="109728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051560"/>
            <a:ext cx="7589520" cy="365760"/>
          </a:xfrm>
          <a:prstGeom prst="rect">
            <a:avLst/>
          </a:prstGeom>
          <a:noFill/>
        </p:spPr>
        <p:txBody>
          <a:bodyPr wrap="square">
            <a:spAutoFit/>
          </a:bodyPr>
          <a:lstStyle/>
          <a:p>
            <a:pPr algn="l">
              <a:defRPr sz="1600" b="1">
                <a:solidFill>
                  <a:srgbClr val="1A2744"/>
                </a:solidFill>
                <a:latin typeface="맑은 고딕"/>
              </a:defRPr>
            </a:pPr>
            <a:r>
              <a:t>관계 데이터 모델 (Relational Data Model)</a:t>
            </a:r>
          </a:p>
        </p:txBody>
      </p:sp>
      <p:sp>
        <p:nvSpPr>
          <p:cNvPr id="10" name="TextBox 9"/>
          <p:cNvSpPr txBox="1"/>
          <p:nvPr/>
        </p:nvSpPr>
        <p:spPr>
          <a:xfrm>
            <a:off x="777240" y="1417320"/>
            <a:ext cx="7589520" cy="594360"/>
          </a:xfrm>
          <a:prstGeom prst="rect">
            <a:avLst/>
          </a:prstGeom>
          <a:noFill/>
        </p:spPr>
        <p:txBody>
          <a:bodyPr wrap="square">
            <a:spAutoFit/>
          </a:bodyPr>
          <a:lstStyle/>
          <a:p>
            <a:pPr algn="l">
              <a:defRPr sz="1200" b="0">
                <a:solidFill>
                  <a:srgbClr val="334155"/>
                </a:solidFill>
                <a:latin typeface="Calibri"/>
              </a:defRPr>
            </a:pPr>
            <a:r>
              <a:t>가장 많이 사용되는 논리적 데이터 모델. 데이터베이스의 논리적 구조를 2차원 테이블 형태로 표현.</a:t>
            </a:r>
            <a:br/>
            <a:r>
              <a:t>1970년 에드거 코드(E.F. Codd)가 제안. 5장에서 본격 학습.</a:t>
            </a:r>
          </a:p>
        </p:txBody>
      </p:sp>
      <p:sp>
        <p:nvSpPr>
          <p:cNvPr id="11" name="Rectangle 10"/>
          <p:cNvSpPr/>
          <p:nvPr/>
        </p:nvSpPr>
        <p:spPr>
          <a:xfrm>
            <a:off x="548640" y="2331720"/>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31720"/>
            <a:ext cx="7589520" cy="347472"/>
          </a:xfrm>
          <a:prstGeom prst="rect">
            <a:avLst/>
          </a:prstGeom>
          <a:noFill/>
        </p:spPr>
        <p:txBody>
          <a:bodyPr wrap="square">
            <a:spAutoFit/>
          </a:bodyPr>
          <a:lstStyle/>
          <a:p>
            <a:pPr algn="l">
              <a:defRPr sz="1200" b="0">
                <a:solidFill>
                  <a:srgbClr val="334155"/>
                </a:solidFill>
                <a:latin typeface="Calibri"/>
              </a:defRPr>
            </a:pPr>
            <a:r>
              <a:t>•  데이터를 행(row)과 열(column)로 구성된 테이블로 표현</a:t>
            </a:r>
          </a:p>
        </p:txBody>
      </p:sp>
      <p:sp>
        <p:nvSpPr>
          <p:cNvPr id="13" name="Rectangle 12"/>
          <p:cNvSpPr/>
          <p:nvPr/>
        </p:nvSpPr>
        <p:spPr>
          <a:xfrm>
            <a:off x="548640" y="2715768"/>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15768"/>
            <a:ext cx="7589520" cy="347472"/>
          </a:xfrm>
          <a:prstGeom prst="rect">
            <a:avLst/>
          </a:prstGeom>
          <a:noFill/>
        </p:spPr>
        <p:txBody>
          <a:bodyPr wrap="square">
            <a:spAutoFit/>
          </a:bodyPr>
          <a:lstStyle/>
          <a:p>
            <a:pPr algn="l">
              <a:defRPr sz="1200" b="0">
                <a:solidFill>
                  <a:srgbClr val="334155"/>
                </a:solidFill>
                <a:latin typeface="Calibri"/>
              </a:defRPr>
            </a:pPr>
            <a:r>
              <a:t>•  SQL(Structured Query Language)로 데이터 조작 — 배우기 쉽고 직관적</a:t>
            </a:r>
          </a:p>
        </p:txBody>
      </p:sp>
      <p:sp>
        <p:nvSpPr>
          <p:cNvPr id="15" name="Rectangle 14"/>
          <p:cNvSpPr/>
          <p:nvPr/>
        </p:nvSpPr>
        <p:spPr>
          <a:xfrm>
            <a:off x="548640" y="3099815"/>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99815"/>
            <a:ext cx="7589520" cy="347472"/>
          </a:xfrm>
          <a:prstGeom prst="rect">
            <a:avLst/>
          </a:prstGeom>
          <a:noFill/>
        </p:spPr>
        <p:txBody>
          <a:bodyPr wrap="square">
            <a:spAutoFit/>
          </a:bodyPr>
          <a:lstStyle/>
          <a:p>
            <a:pPr algn="l">
              <a:defRPr sz="1200" b="0">
                <a:solidFill>
                  <a:srgbClr val="334155"/>
                </a:solidFill>
                <a:latin typeface="Calibri"/>
              </a:defRPr>
            </a:pPr>
            <a:r>
              <a:t>•  n:m 관계도 연결 테이블을 통해 표현 가능</a:t>
            </a:r>
          </a:p>
        </p:txBody>
      </p:sp>
      <p:sp>
        <p:nvSpPr>
          <p:cNvPr id="17" name="Rectangle 16"/>
          <p:cNvSpPr/>
          <p:nvPr/>
        </p:nvSpPr>
        <p:spPr>
          <a:xfrm>
            <a:off x="548640" y="3483863"/>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83863"/>
            <a:ext cx="7589520" cy="347472"/>
          </a:xfrm>
          <a:prstGeom prst="rect">
            <a:avLst/>
          </a:prstGeom>
          <a:noFill/>
        </p:spPr>
        <p:txBody>
          <a:bodyPr wrap="square">
            <a:spAutoFit/>
          </a:bodyPr>
          <a:lstStyle/>
          <a:p>
            <a:pPr algn="l">
              <a:defRPr sz="1200" b="0">
                <a:solidFill>
                  <a:srgbClr val="334155"/>
                </a:solidFill>
                <a:latin typeface="Calibri"/>
              </a:defRPr>
            </a:pPr>
            <a:r>
              <a:t>•  데이터 독립성이 높아 구조 변경에 유연</a:t>
            </a:r>
          </a:p>
        </p:txBody>
      </p:sp>
      <p:sp>
        <p:nvSpPr>
          <p:cNvPr id="19" name="Rectangle 18"/>
          <p:cNvSpPr/>
          <p:nvPr/>
        </p:nvSpPr>
        <p:spPr>
          <a:xfrm>
            <a:off x="548640" y="3867911"/>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867911"/>
            <a:ext cx="7589520" cy="347472"/>
          </a:xfrm>
          <a:prstGeom prst="rect">
            <a:avLst/>
          </a:prstGeom>
          <a:noFill/>
        </p:spPr>
        <p:txBody>
          <a:bodyPr wrap="square">
            <a:spAutoFit/>
          </a:bodyPr>
          <a:lstStyle/>
          <a:p>
            <a:pPr algn="l">
              <a:defRPr sz="1200" b="0">
                <a:solidFill>
                  <a:srgbClr val="334155"/>
                </a:solidFill>
                <a:latin typeface="Calibri"/>
              </a:defRPr>
            </a:pPr>
            <a:r>
              <a:t>•  대표 DBMS: Oracle, MySQL, PostgreSQL, SQL Server, MariaDB</a:t>
            </a:r>
          </a:p>
        </p:txBody>
      </p:sp>
      <p:sp>
        <p:nvSpPr>
          <p:cNvPr id="21" name="Rectangle 20"/>
          <p:cNvSpPr/>
          <p:nvPr/>
        </p:nvSpPr>
        <p:spPr>
          <a:xfrm>
            <a:off x="548640" y="4297680"/>
            <a:ext cx="8046720" cy="457200"/>
          </a:xfrm>
          <a:prstGeom prst="rect">
            <a:avLst/>
          </a:prstGeom>
          <a:solidFill>
            <a:srgbClr val="1A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97680"/>
            <a:ext cx="7498079" cy="457200"/>
          </a:xfrm>
          <a:prstGeom prst="rect">
            <a:avLst/>
          </a:prstGeom>
          <a:noFill/>
        </p:spPr>
        <p:txBody>
          <a:bodyPr wrap="square">
            <a:spAutoFit/>
          </a:bodyPr>
          <a:lstStyle/>
          <a:p>
            <a:pPr algn="l">
              <a:defRPr sz="1300" b="1">
                <a:solidFill>
                  <a:srgbClr val="FFFFFF"/>
                </a:solidFill>
                <a:latin typeface="Calibri"/>
              </a:defRPr>
            </a:pPr>
            <a:r>
              <a:t>현재 시장의 거의 모든 DBMS가 관계 데이터 모델 기반 → 5장에서 릴레이션, 키, 무결성 제약조건 학습</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88636"/>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7772400" cy="640080"/>
          </a:xfrm>
          <a:prstGeom prst="rect">
            <a:avLst/>
          </a:prstGeom>
          <a:noFill/>
        </p:spPr>
        <p:txBody>
          <a:bodyPr wrap="square">
            <a:spAutoFit/>
          </a:bodyPr>
          <a:lstStyle/>
          <a:p>
            <a:pPr algn="l">
              <a:defRPr sz="2400" b="1">
                <a:solidFill>
                  <a:srgbClr val="1A2744"/>
                </a:solidFill>
                <a:latin typeface="맑은 고딕"/>
              </a:defRPr>
            </a:pPr>
            <a:r>
              <a:t>계층 데이터 모델 (Hierarchical Data Model)</a:t>
            </a:r>
          </a:p>
        </p:txBody>
      </p:sp>
      <p:sp>
        <p:nvSpPr>
          <p:cNvPr id="5" name="Rectangle 4"/>
          <p:cNvSpPr/>
          <p:nvPr/>
        </p:nvSpPr>
        <p:spPr>
          <a:xfrm>
            <a:off x="548640" y="822960"/>
            <a:ext cx="804672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4754880"/>
            <a:ext cx="548640" cy="274320"/>
          </a:xfrm>
          <a:prstGeom prst="rect">
            <a:avLst/>
          </a:prstGeom>
          <a:noFill/>
        </p:spPr>
        <p:txBody>
          <a:bodyPr wrap="square">
            <a:spAutoFit/>
          </a:bodyPr>
          <a:lstStyle/>
          <a:p>
            <a:pPr algn="r">
              <a:defRPr sz="1000" b="0">
                <a:solidFill>
                  <a:srgbClr val="64748B"/>
                </a:solidFill>
                <a:latin typeface="Calibri"/>
              </a:defRPr>
            </a:pPr>
            <a:r>
              <a:t>26</a:t>
            </a:r>
          </a:p>
        </p:txBody>
      </p:sp>
      <p:sp>
        <p:nvSpPr>
          <p:cNvPr id="7" name="Rectangle 6"/>
          <p:cNvSpPr/>
          <p:nvPr/>
        </p:nvSpPr>
        <p:spPr>
          <a:xfrm>
            <a:off x="548640" y="1005840"/>
            <a:ext cx="804672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005840"/>
            <a:ext cx="54864" cy="10972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051560"/>
            <a:ext cx="7589520" cy="365760"/>
          </a:xfrm>
          <a:prstGeom prst="rect">
            <a:avLst/>
          </a:prstGeom>
          <a:noFill/>
        </p:spPr>
        <p:txBody>
          <a:bodyPr wrap="square">
            <a:spAutoFit/>
          </a:bodyPr>
          <a:lstStyle/>
          <a:p>
            <a:pPr algn="l">
              <a:defRPr sz="1600" b="1">
                <a:solidFill>
                  <a:srgbClr val="1A2744"/>
                </a:solidFill>
                <a:latin typeface="맑은 고딕"/>
              </a:defRPr>
            </a:pPr>
            <a:r>
              <a:t>계층 데이터 모델 (Hierarchical Data Model)</a:t>
            </a:r>
          </a:p>
        </p:txBody>
      </p:sp>
      <p:sp>
        <p:nvSpPr>
          <p:cNvPr id="10" name="TextBox 9"/>
          <p:cNvSpPr txBox="1"/>
          <p:nvPr/>
        </p:nvSpPr>
        <p:spPr>
          <a:xfrm>
            <a:off x="777240" y="1417320"/>
            <a:ext cx="7589520" cy="594360"/>
          </a:xfrm>
          <a:prstGeom prst="rect">
            <a:avLst/>
          </a:prstGeom>
          <a:noFill/>
        </p:spPr>
        <p:txBody>
          <a:bodyPr wrap="square">
            <a:spAutoFit/>
          </a:bodyPr>
          <a:lstStyle/>
          <a:p>
            <a:pPr algn="l">
              <a:defRPr sz="1200" b="0">
                <a:solidFill>
                  <a:srgbClr val="334155"/>
                </a:solidFill>
                <a:latin typeface="Calibri"/>
              </a:defRPr>
            </a:pPr>
            <a:r>
              <a:t>데이터베이스의 논리적 구조를 트리(Tree) 형태로 표현.</a:t>
            </a:r>
            <a:br/>
            <a:r>
              <a:t>루트(root) 역할을 하는 개체가 있으며, 사이클(cycle)이 존재하지 않음.</a:t>
            </a:r>
          </a:p>
        </p:txBody>
      </p:sp>
      <p:sp>
        <p:nvSpPr>
          <p:cNvPr id="11" name="Rectangle 10"/>
          <p:cNvSpPr/>
          <p:nvPr/>
        </p:nvSpPr>
        <p:spPr>
          <a:xfrm>
            <a:off x="548640" y="2331720"/>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31720"/>
            <a:ext cx="7589520" cy="347472"/>
          </a:xfrm>
          <a:prstGeom prst="rect">
            <a:avLst/>
          </a:prstGeom>
          <a:noFill/>
        </p:spPr>
        <p:txBody>
          <a:bodyPr wrap="square">
            <a:spAutoFit/>
          </a:bodyPr>
          <a:lstStyle/>
          <a:p>
            <a:pPr algn="l">
              <a:defRPr sz="1200" b="0">
                <a:solidFill>
                  <a:srgbClr val="334155"/>
                </a:solidFill>
                <a:latin typeface="Calibri"/>
              </a:defRPr>
            </a:pPr>
            <a:r>
              <a:t>•  부모-자식 관계(상하 관계)로 구성 — 1:n 관계(1:1 포함)만 허용</a:t>
            </a:r>
          </a:p>
        </p:txBody>
      </p:sp>
      <p:sp>
        <p:nvSpPr>
          <p:cNvPr id="13" name="Rectangle 12"/>
          <p:cNvSpPr/>
          <p:nvPr/>
        </p:nvSpPr>
        <p:spPr>
          <a:xfrm>
            <a:off x="548640" y="2715768"/>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15768"/>
            <a:ext cx="7589520" cy="347472"/>
          </a:xfrm>
          <a:prstGeom prst="rect">
            <a:avLst/>
          </a:prstGeom>
          <a:noFill/>
        </p:spPr>
        <p:txBody>
          <a:bodyPr wrap="square">
            <a:spAutoFit/>
          </a:bodyPr>
          <a:lstStyle/>
          <a:p>
            <a:pPr algn="l">
              <a:defRPr sz="1200" b="0">
                <a:solidFill>
                  <a:srgbClr val="EF4444"/>
                </a:solidFill>
                <a:latin typeface="Calibri"/>
              </a:defRPr>
            </a:pPr>
            <a:r>
              <a:t>•  n:m 관계는 직접 표현 불가 (가장 큰 한계)</a:t>
            </a:r>
          </a:p>
        </p:txBody>
      </p:sp>
      <p:sp>
        <p:nvSpPr>
          <p:cNvPr id="15" name="Rectangle 14"/>
          <p:cNvSpPr/>
          <p:nvPr/>
        </p:nvSpPr>
        <p:spPr>
          <a:xfrm>
            <a:off x="548640" y="3099815"/>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99815"/>
            <a:ext cx="7589520" cy="347472"/>
          </a:xfrm>
          <a:prstGeom prst="rect">
            <a:avLst/>
          </a:prstGeom>
          <a:noFill/>
        </p:spPr>
        <p:txBody>
          <a:bodyPr wrap="square">
            <a:spAutoFit/>
          </a:bodyPr>
          <a:lstStyle/>
          <a:p>
            <a:pPr algn="l">
              <a:defRPr sz="1200" b="0">
                <a:solidFill>
                  <a:srgbClr val="334155"/>
                </a:solidFill>
                <a:latin typeface="Calibri"/>
              </a:defRPr>
            </a:pPr>
            <a:r>
              <a:t>•  두 개체 사이에는 하나의 관계만 정의할 수 있음</a:t>
            </a:r>
          </a:p>
        </p:txBody>
      </p:sp>
      <p:sp>
        <p:nvSpPr>
          <p:cNvPr id="17" name="Rectangle 16"/>
          <p:cNvSpPr/>
          <p:nvPr/>
        </p:nvSpPr>
        <p:spPr>
          <a:xfrm>
            <a:off x="548640" y="3483863"/>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83863"/>
            <a:ext cx="7589520" cy="347472"/>
          </a:xfrm>
          <a:prstGeom prst="rect">
            <a:avLst/>
          </a:prstGeom>
          <a:noFill/>
        </p:spPr>
        <p:txBody>
          <a:bodyPr wrap="square">
            <a:spAutoFit/>
          </a:bodyPr>
          <a:lstStyle/>
          <a:p>
            <a:pPr algn="l">
              <a:defRPr sz="1200" b="0">
                <a:solidFill>
                  <a:srgbClr val="334155"/>
                </a:solidFill>
                <a:latin typeface="Calibri"/>
              </a:defRPr>
            </a:pPr>
            <a:r>
              <a:t>•  데이터 삽입·삭제·수정·검색이 쉽지 않음</a:t>
            </a:r>
          </a:p>
        </p:txBody>
      </p:sp>
      <p:sp>
        <p:nvSpPr>
          <p:cNvPr id="19" name="Rectangle 18"/>
          <p:cNvSpPr/>
          <p:nvPr/>
        </p:nvSpPr>
        <p:spPr>
          <a:xfrm>
            <a:off x="548640" y="3867911"/>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867911"/>
            <a:ext cx="7589520" cy="347472"/>
          </a:xfrm>
          <a:prstGeom prst="rect">
            <a:avLst/>
          </a:prstGeom>
          <a:noFill/>
        </p:spPr>
        <p:txBody>
          <a:bodyPr wrap="square">
            <a:spAutoFit/>
          </a:bodyPr>
          <a:lstStyle/>
          <a:p>
            <a:pPr algn="l">
              <a:defRPr sz="1200" b="0">
                <a:solidFill>
                  <a:srgbClr val="334155"/>
                </a:solidFill>
                <a:latin typeface="Calibri"/>
              </a:defRPr>
            </a:pPr>
            <a:r>
              <a:t>•  대표 DBMS: IBM IMS (1960년대) — 현재 거의 사용되지 않음</a:t>
            </a:r>
          </a:p>
        </p:txBody>
      </p:sp>
      <p:sp>
        <p:nvSpPr>
          <p:cNvPr id="21" name="Rectangle 20"/>
          <p:cNvSpPr/>
          <p:nvPr/>
        </p:nvSpPr>
        <p:spPr>
          <a:xfrm>
            <a:off x="548640" y="4297680"/>
            <a:ext cx="8046720" cy="4572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97680"/>
            <a:ext cx="7498079" cy="457200"/>
          </a:xfrm>
          <a:prstGeom prst="rect">
            <a:avLst/>
          </a:prstGeom>
          <a:noFill/>
        </p:spPr>
        <p:txBody>
          <a:bodyPr wrap="square">
            <a:spAutoFit/>
          </a:bodyPr>
          <a:lstStyle/>
          <a:p>
            <a:pPr algn="l">
              <a:defRPr sz="1300" b="1">
                <a:solidFill>
                  <a:srgbClr val="334155"/>
                </a:solidFill>
                <a:latin typeface="Calibri"/>
              </a:defRPr>
            </a:pPr>
            <a:r>
              <a:t>쇠퇴 원인: n:m 표현 불가 + 데이터 조작 어려움 + 구조 변경 비유연 → 관계 모델에 대체됨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88636"/>
            <a:ext cx="914400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
            <a:ext cx="7772400" cy="640080"/>
          </a:xfrm>
          <a:prstGeom prst="rect">
            <a:avLst/>
          </a:prstGeom>
          <a:noFill/>
        </p:spPr>
        <p:txBody>
          <a:bodyPr wrap="square">
            <a:spAutoFit/>
          </a:bodyPr>
          <a:lstStyle/>
          <a:p>
            <a:pPr algn="l">
              <a:defRPr sz="2400" b="1">
                <a:solidFill>
                  <a:srgbClr val="1A2744"/>
                </a:solidFill>
                <a:latin typeface="맑은 고딕"/>
              </a:defRPr>
            </a:pPr>
            <a:r>
              <a:t>네트워크 데이터 모델 (Network Data Model)</a:t>
            </a:r>
          </a:p>
        </p:txBody>
      </p:sp>
      <p:sp>
        <p:nvSpPr>
          <p:cNvPr id="5" name="Rectangle 4"/>
          <p:cNvSpPr/>
          <p:nvPr/>
        </p:nvSpPr>
        <p:spPr>
          <a:xfrm>
            <a:off x="548640" y="822960"/>
            <a:ext cx="804672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4754880"/>
            <a:ext cx="548640" cy="274320"/>
          </a:xfrm>
          <a:prstGeom prst="rect">
            <a:avLst/>
          </a:prstGeom>
          <a:noFill/>
        </p:spPr>
        <p:txBody>
          <a:bodyPr wrap="square">
            <a:spAutoFit/>
          </a:bodyPr>
          <a:lstStyle/>
          <a:p>
            <a:pPr algn="r">
              <a:defRPr sz="1000" b="0">
                <a:solidFill>
                  <a:srgbClr val="64748B"/>
                </a:solidFill>
                <a:latin typeface="Calibri"/>
              </a:defRPr>
            </a:pPr>
            <a:r>
              <a:t>27</a:t>
            </a:r>
          </a:p>
        </p:txBody>
      </p:sp>
      <p:sp>
        <p:nvSpPr>
          <p:cNvPr id="7" name="Rectangle 6"/>
          <p:cNvSpPr/>
          <p:nvPr/>
        </p:nvSpPr>
        <p:spPr>
          <a:xfrm>
            <a:off x="548640" y="1005840"/>
            <a:ext cx="8046720" cy="1097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005840"/>
            <a:ext cx="54864" cy="109728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051560"/>
            <a:ext cx="7589520" cy="365760"/>
          </a:xfrm>
          <a:prstGeom prst="rect">
            <a:avLst/>
          </a:prstGeom>
          <a:noFill/>
        </p:spPr>
        <p:txBody>
          <a:bodyPr wrap="square">
            <a:spAutoFit/>
          </a:bodyPr>
          <a:lstStyle/>
          <a:p>
            <a:pPr algn="l">
              <a:defRPr sz="1600" b="1">
                <a:solidFill>
                  <a:srgbClr val="1A2744"/>
                </a:solidFill>
                <a:latin typeface="맑은 고딕"/>
              </a:defRPr>
            </a:pPr>
            <a:r>
              <a:t>네트워크 데이터 모델 (Network Data Model)</a:t>
            </a:r>
          </a:p>
        </p:txBody>
      </p:sp>
      <p:sp>
        <p:nvSpPr>
          <p:cNvPr id="10" name="TextBox 9"/>
          <p:cNvSpPr txBox="1"/>
          <p:nvPr/>
        </p:nvSpPr>
        <p:spPr>
          <a:xfrm>
            <a:off x="777240" y="1417320"/>
            <a:ext cx="7589520" cy="594360"/>
          </a:xfrm>
          <a:prstGeom prst="rect">
            <a:avLst/>
          </a:prstGeom>
          <a:noFill/>
        </p:spPr>
        <p:txBody>
          <a:bodyPr wrap="square">
            <a:spAutoFit/>
          </a:bodyPr>
          <a:lstStyle/>
          <a:p>
            <a:pPr algn="l">
              <a:defRPr sz="1200" b="0">
                <a:solidFill>
                  <a:srgbClr val="334155"/>
                </a:solidFill>
                <a:latin typeface="Calibri"/>
              </a:defRPr>
            </a:pPr>
            <a:r>
              <a:t>데이터베이스의 논리적 구조를 네트워크(그래프) 형태로 표현.</a:t>
            </a:r>
            <a:br/>
            <a:r>
              <a:t>개체 간에 일대다(1:n) 관계만 허용 (owner : member).</a:t>
            </a:r>
          </a:p>
        </p:txBody>
      </p:sp>
      <p:sp>
        <p:nvSpPr>
          <p:cNvPr id="11" name="Rectangle 10"/>
          <p:cNvSpPr/>
          <p:nvPr/>
        </p:nvSpPr>
        <p:spPr>
          <a:xfrm>
            <a:off x="548640" y="2331720"/>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331720"/>
            <a:ext cx="7589520" cy="347472"/>
          </a:xfrm>
          <a:prstGeom prst="rect">
            <a:avLst/>
          </a:prstGeom>
          <a:noFill/>
        </p:spPr>
        <p:txBody>
          <a:bodyPr wrap="square">
            <a:spAutoFit/>
          </a:bodyPr>
          <a:lstStyle/>
          <a:p>
            <a:pPr algn="l">
              <a:defRPr sz="1200" b="0">
                <a:solidFill>
                  <a:srgbClr val="334155"/>
                </a:solidFill>
                <a:latin typeface="Calibri"/>
              </a:defRPr>
            </a:pPr>
            <a:r>
              <a:t>•  그래프(Graph) 형태 — 계층 모델보다 유연한 구조</a:t>
            </a:r>
          </a:p>
        </p:txBody>
      </p:sp>
      <p:sp>
        <p:nvSpPr>
          <p:cNvPr id="13" name="Rectangle 12"/>
          <p:cNvSpPr/>
          <p:nvPr/>
        </p:nvSpPr>
        <p:spPr>
          <a:xfrm>
            <a:off x="548640" y="2715768"/>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715768"/>
            <a:ext cx="7589520" cy="347472"/>
          </a:xfrm>
          <a:prstGeom prst="rect">
            <a:avLst/>
          </a:prstGeom>
          <a:noFill/>
        </p:spPr>
        <p:txBody>
          <a:bodyPr wrap="square">
            <a:spAutoFit/>
          </a:bodyPr>
          <a:lstStyle/>
          <a:p>
            <a:pPr algn="l">
              <a:defRPr sz="1200" b="0">
                <a:solidFill>
                  <a:srgbClr val="EF4444"/>
                </a:solidFill>
                <a:latin typeface="Calibri"/>
              </a:defRPr>
            </a:pPr>
            <a:r>
              <a:t>•  n:m 관계를 직접 표현할 수 없음 (1:n으로 분해해야 함)</a:t>
            </a:r>
          </a:p>
        </p:txBody>
      </p:sp>
      <p:sp>
        <p:nvSpPr>
          <p:cNvPr id="15" name="Rectangle 14"/>
          <p:cNvSpPr/>
          <p:nvPr/>
        </p:nvSpPr>
        <p:spPr>
          <a:xfrm>
            <a:off x="548640" y="3099815"/>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099815"/>
            <a:ext cx="7589520" cy="347472"/>
          </a:xfrm>
          <a:prstGeom prst="rect">
            <a:avLst/>
          </a:prstGeom>
          <a:noFill/>
        </p:spPr>
        <p:txBody>
          <a:bodyPr wrap="square">
            <a:spAutoFit/>
          </a:bodyPr>
          <a:lstStyle/>
          <a:p>
            <a:pPr algn="l">
              <a:defRPr sz="1200" b="0">
                <a:solidFill>
                  <a:srgbClr val="334155"/>
                </a:solidFill>
                <a:latin typeface="Calibri"/>
              </a:defRPr>
            </a:pPr>
            <a:r>
              <a:t>•  두 개체 간의 관계를 여러 개 정의할 수 있으며, 이름으로 구별</a:t>
            </a:r>
          </a:p>
        </p:txBody>
      </p:sp>
      <p:sp>
        <p:nvSpPr>
          <p:cNvPr id="17" name="Rectangle 16"/>
          <p:cNvSpPr/>
          <p:nvPr/>
        </p:nvSpPr>
        <p:spPr>
          <a:xfrm>
            <a:off x="548640" y="3483863"/>
            <a:ext cx="8046720" cy="34747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83863"/>
            <a:ext cx="7589520" cy="347472"/>
          </a:xfrm>
          <a:prstGeom prst="rect">
            <a:avLst/>
          </a:prstGeom>
          <a:noFill/>
        </p:spPr>
        <p:txBody>
          <a:bodyPr wrap="square">
            <a:spAutoFit/>
          </a:bodyPr>
          <a:lstStyle/>
          <a:p>
            <a:pPr algn="l">
              <a:defRPr sz="1200" b="0">
                <a:solidFill>
                  <a:srgbClr val="334155"/>
                </a:solidFill>
                <a:latin typeface="Calibri"/>
              </a:defRPr>
            </a:pPr>
            <a:r>
              <a:t>•  구조가 복잡하며, 데이터 삽입·삭제·수정·검색이 쉽지 않음</a:t>
            </a:r>
          </a:p>
        </p:txBody>
      </p:sp>
      <p:sp>
        <p:nvSpPr>
          <p:cNvPr id="19" name="Rectangle 18"/>
          <p:cNvSpPr/>
          <p:nvPr/>
        </p:nvSpPr>
        <p:spPr>
          <a:xfrm>
            <a:off x="548640" y="3867911"/>
            <a:ext cx="8046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867911"/>
            <a:ext cx="7589520" cy="347472"/>
          </a:xfrm>
          <a:prstGeom prst="rect">
            <a:avLst/>
          </a:prstGeom>
          <a:noFill/>
        </p:spPr>
        <p:txBody>
          <a:bodyPr wrap="square">
            <a:spAutoFit/>
          </a:bodyPr>
          <a:lstStyle/>
          <a:p>
            <a:pPr algn="l">
              <a:defRPr sz="1200" b="0">
                <a:solidFill>
                  <a:srgbClr val="334155"/>
                </a:solidFill>
                <a:latin typeface="Calibri"/>
              </a:defRPr>
            </a:pPr>
            <a:r>
              <a:t>•  대표 DBMS: IDMS — 현재 거의 사용되지 않음</a:t>
            </a:r>
          </a:p>
        </p:txBody>
      </p:sp>
      <p:sp>
        <p:nvSpPr>
          <p:cNvPr id="21" name="Rectangle 20"/>
          <p:cNvSpPr/>
          <p:nvPr/>
        </p:nvSpPr>
        <p:spPr>
          <a:xfrm>
            <a:off x="548640" y="4297680"/>
            <a:ext cx="8046720" cy="457200"/>
          </a:xfrm>
          <a:prstGeom prst="rect">
            <a:avLst/>
          </a:prstGeom>
          <a:solidFill>
            <a:srgbClr val="EDE9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97680"/>
            <a:ext cx="7498079" cy="457200"/>
          </a:xfrm>
          <a:prstGeom prst="rect">
            <a:avLst/>
          </a:prstGeom>
          <a:noFill/>
        </p:spPr>
        <p:txBody>
          <a:bodyPr wrap="square">
            <a:spAutoFit/>
          </a:bodyPr>
          <a:lstStyle/>
          <a:p>
            <a:pPr algn="l">
              <a:defRPr sz="1300" b="1">
                <a:solidFill>
                  <a:srgbClr val="334155"/>
                </a:solidFill>
                <a:latin typeface="Calibri"/>
              </a:defRPr>
            </a:pPr>
            <a:r>
              <a:t>계층 모델의 단점을 일부 보완했지만, 구조 복잡성 문제로 관계 모델에 대체됨</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548640" y="182880"/>
            <a:ext cx="7772400" cy="640080"/>
          </a:xfrm>
          <a:prstGeom prst="rect">
            <a:avLst/>
          </a:prstGeom>
          <a:noFill/>
          <a:ln/>
        </p:spPr>
        <p:txBody>
          <a:bodyPr wrap="square" lIns="0" tIns="0" rIns="0" bIns="0" rtlCol="0" anchor="ctr"/>
          <a:lstStyle/>
          <a:p>
            <a:pPr marL="0" indent="0">
              <a:buNone/>
            </a:pPr>
            <a:r>
              <a:rPr lang="en-US" sz="2400" b="1" dirty="0">
                <a:solidFill>
                  <a:srgbClr val="1A2744"/>
                </a:solidFill>
                <a:latin typeface="맑은 고딕" pitchFamily="34" charset="0"/>
                <a:ea typeface="맑은 고딕" pitchFamily="34" charset="-122"/>
                <a:cs typeface="맑은 고딕" pitchFamily="34" charset="-120"/>
              </a:rPr>
              <a:t>4장 전체 요약</a:t>
            </a:r>
            <a:endParaRPr lang="en-US" sz="2400" dirty="0"/>
          </a:p>
        </p:txBody>
      </p:sp>
      <p:sp>
        <p:nvSpPr>
          <p:cNvPr id="5" name="Shape 3"/>
          <p:cNvSpPr/>
          <p:nvPr/>
        </p:nvSpPr>
        <p:spPr>
          <a:xfrm>
            <a:off x="548640" y="822960"/>
            <a:ext cx="8046720" cy="13716"/>
          </a:xfrm>
          <a:prstGeom prst="rect">
            <a:avLst/>
          </a:prstGeom>
          <a:solidFill>
            <a:srgbClr val="E2E8F0"/>
          </a:solidFill>
          <a:ln/>
        </p:spPr>
      </p:sp>
      <p:sp>
        <p:nvSpPr>
          <p:cNvPr id="6" name="Text 4"/>
          <p:cNvSpPr/>
          <p:nvPr/>
        </p:nvSpPr>
        <p:spPr>
          <a:xfrm>
            <a:off x="8412480" y="475488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24</a:t>
            </a:r>
            <a:endParaRPr lang="en-US" sz="1000" dirty="0"/>
          </a:p>
        </p:txBody>
      </p:sp>
      <p:sp>
        <p:nvSpPr>
          <p:cNvPr id="7" name="Shape 5"/>
          <p:cNvSpPr/>
          <p:nvPr/>
        </p:nvSpPr>
        <p:spPr>
          <a:xfrm>
            <a:off x="548640" y="1005840"/>
            <a:ext cx="8046720" cy="502920"/>
          </a:xfrm>
          <a:prstGeom prst="rect">
            <a:avLst/>
          </a:prstGeom>
          <a:solidFill>
            <a:srgbClr val="FFFFFF"/>
          </a:solidFill>
          <a:ln/>
          <a:effectLst>
            <a:outerShdw blurRad="76200" dist="25400" dir="8100000" algn="bl" rotWithShape="0">
              <a:srgbClr val="000000">
                <a:alpha val="12000"/>
              </a:srgbClr>
            </a:outerShdw>
          </a:effectLst>
        </p:spPr>
      </p:sp>
      <p:sp>
        <p:nvSpPr>
          <p:cNvPr id="8" name="Shape 6"/>
          <p:cNvSpPr/>
          <p:nvPr/>
        </p:nvSpPr>
        <p:spPr>
          <a:xfrm>
            <a:off x="548640" y="1005840"/>
            <a:ext cx="54864" cy="502920"/>
          </a:xfrm>
          <a:prstGeom prst="rect">
            <a:avLst/>
          </a:prstGeom>
          <a:solidFill>
            <a:srgbClr val="0891B2"/>
          </a:solidFill>
          <a:ln/>
        </p:spPr>
      </p:sp>
      <p:pic>
        <p:nvPicPr>
          <p:cNvPr id="9" name="Image 0" descr="preencoded.png"/>
          <p:cNvPicPr>
            <a:picLocks noChangeAspect="1"/>
          </p:cNvPicPr>
          <p:nvPr/>
        </p:nvPicPr>
        <p:blipFill>
          <a:blip r:embed="rId3"/>
          <a:stretch>
            <a:fillRect/>
          </a:stretch>
        </p:blipFill>
        <p:spPr>
          <a:xfrm>
            <a:off x="731520" y="1097280"/>
            <a:ext cx="292608" cy="292608"/>
          </a:xfrm>
          <a:prstGeom prst="rect">
            <a:avLst/>
          </a:prstGeom>
        </p:spPr>
      </p:pic>
      <p:sp>
        <p:nvSpPr>
          <p:cNvPr id="10" name="Text 7"/>
          <p:cNvSpPr/>
          <p:nvPr/>
        </p:nvSpPr>
        <p:spPr>
          <a:xfrm>
            <a:off x="1188720" y="1005840"/>
            <a:ext cx="7223760" cy="50292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데이터 모델링 = 현실 세계 → DB로 옮기는 과정 (개념적 + 논리적 모델링)</a:t>
            </a:r>
            <a:endParaRPr lang="en-US" sz="1200" dirty="0"/>
          </a:p>
        </p:txBody>
      </p:sp>
      <p:sp>
        <p:nvSpPr>
          <p:cNvPr id="11" name="Shape 8"/>
          <p:cNvSpPr/>
          <p:nvPr/>
        </p:nvSpPr>
        <p:spPr>
          <a:xfrm>
            <a:off x="548640" y="1645920"/>
            <a:ext cx="8046720" cy="502920"/>
          </a:xfrm>
          <a:prstGeom prst="rect">
            <a:avLst/>
          </a:prstGeom>
          <a:solidFill>
            <a:srgbClr val="FFFFFF"/>
          </a:solidFill>
          <a:ln/>
          <a:effectLst>
            <a:outerShdw blurRad="76200" dist="25400" dir="8100000" algn="bl" rotWithShape="0">
              <a:srgbClr val="000000">
                <a:alpha val="12000"/>
              </a:srgbClr>
            </a:outerShdw>
          </a:effectLst>
        </p:spPr>
      </p:sp>
      <p:sp>
        <p:nvSpPr>
          <p:cNvPr id="12" name="Shape 9"/>
          <p:cNvSpPr/>
          <p:nvPr/>
        </p:nvSpPr>
        <p:spPr>
          <a:xfrm>
            <a:off x="548640" y="1645920"/>
            <a:ext cx="54864" cy="502920"/>
          </a:xfrm>
          <a:prstGeom prst="rect">
            <a:avLst/>
          </a:prstGeom>
          <a:solidFill>
            <a:srgbClr val="0891B2"/>
          </a:solidFill>
          <a:ln/>
        </p:spPr>
      </p:sp>
      <p:pic>
        <p:nvPicPr>
          <p:cNvPr id="13" name="Image 1" descr="preencoded.png"/>
          <p:cNvPicPr>
            <a:picLocks noChangeAspect="1"/>
          </p:cNvPicPr>
          <p:nvPr/>
        </p:nvPicPr>
        <p:blipFill>
          <a:blip r:embed="rId3"/>
          <a:stretch>
            <a:fillRect/>
          </a:stretch>
        </p:blipFill>
        <p:spPr>
          <a:xfrm>
            <a:off x="731520" y="1737360"/>
            <a:ext cx="292608" cy="292608"/>
          </a:xfrm>
          <a:prstGeom prst="rect">
            <a:avLst/>
          </a:prstGeom>
        </p:spPr>
      </p:pic>
      <p:sp>
        <p:nvSpPr>
          <p:cNvPr id="14" name="Text 10"/>
          <p:cNvSpPr/>
          <p:nvPr/>
        </p:nvSpPr>
        <p:spPr>
          <a:xfrm>
            <a:off x="1188720" y="1645920"/>
            <a:ext cx="7223760" cy="50292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ER 모델 3요소: 개체(□) + 속성(○) + 관계(◇) → ERD로 시각화</a:t>
            </a:r>
            <a:endParaRPr lang="en-US" sz="1200" dirty="0"/>
          </a:p>
        </p:txBody>
      </p:sp>
      <p:sp>
        <p:nvSpPr>
          <p:cNvPr id="15" name="Shape 11"/>
          <p:cNvSpPr/>
          <p:nvPr/>
        </p:nvSpPr>
        <p:spPr>
          <a:xfrm>
            <a:off x="548640" y="2286000"/>
            <a:ext cx="8046720" cy="502920"/>
          </a:xfrm>
          <a:prstGeom prst="rect">
            <a:avLst/>
          </a:prstGeom>
          <a:solidFill>
            <a:srgbClr val="FFFFFF"/>
          </a:solidFill>
          <a:ln/>
          <a:effectLst>
            <a:outerShdw blurRad="76200" dist="25400" dir="8100000" algn="bl" rotWithShape="0">
              <a:srgbClr val="000000">
                <a:alpha val="12000"/>
              </a:srgbClr>
            </a:outerShdw>
          </a:effectLst>
        </p:spPr>
      </p:sp>
      <p:sp>
        <p:nvSpPr>
          <p:cNvPr id="16" name="Shape 12"/>
          <p:cNvSpPr/>
          <p:nvPr/>
        </p:nvSpPr>
        <p:spPr>
          <a:xfrm>
            <a:off x="548640" y="2286000"/>
            <a:ext cx="54864" cy="502920"/>
          </a:xfrm>
          <a:prstGeom prst="rect">
            <a:avLst/>
          </a:prstGeom>
          <a:solidFill>
            <a:srgbClr val="F59E0B"/>
          </a:solidFill>
          <a:ln/>
        </p:spPr>
      </p:sp>
      <p:pic>
        <p:nvPicPr>
          <p:cNvPr id="17" name="Image 2" descr="preencoded.png"/>
          <p:cNvPicPr>
            <a:picLocks noChangeAspect="1"/>
          </p:cNvPicPr>
          <p:nvPr/>
        </p:nvPicPr>
        <p:blipFill>
          <a:blip r:embed="rId3"/>
          <a:stretch>
            <a:fillRect/>
          </a:stretch>
        </p:blipFill>
        <p:spPr>
          <a:xfrm>
            <a:off x="731520" y="2377440"/>
            <a:ext cx="292608" cy="292608"/>
          </a:xfrm>
          <a:prstGeom prst="rect">
            <a:avLst/>
          </a:prstGeom>
        </p:spPr>
      </p:pic>
      <p:sp>
        <p:nvSpPr>
          <p:cNvPr id="18" name="Text 13"/>
          <p:cNvSpPr/>
          <p:nvPr/>
        </p:nvSpPr>
        <p:spPr>
          <a:xfrm>
            <a:off x="1188720" y="2286000"/>
            <a:ext cx="7223760" cy="50292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속성 분류: 단일/다중값, 단순/복합, 유도, null, key</a:t>
            </a:r>
            <a:endParaRPr lang="en-US" sz="1200" dirty="0"/>
          </a:p>
        </p:txBody>
      </p:sp>
      <p:sp>
        <p:nvSpPr>
          <p:cNvPr id="19" name="Shape 14"/>
          <p:cNvSpPr/>
          <p:nvPr/>
        </p:nvSpPr>
        <p:spPr>
          <a:xfrm>
            <a:off x="548640" y="2926080"/>
            <a:ext cx="8046720" cy="502920"/>
          </a:xfrm>
          <a:prstGeom prst="rect">
            <a:avLst/>
          </a:prstGeom>
          <a:solidFill>
            <a:srgbClr val="FFFFFF"/>
          </a:solidFill>
          <a:ln/>
          <a:effectLst>
            <a:outerShdw blurRad="76200" dist="25400" dir="8100000" algn="bl" rotWithShape="0">
              <a:srgbClr val="000000">
                <a:alpha val="12000"/>
              </a:srgbClr>
            </a:outerShdw>
          </a:effectLst>
        </p:spPr>
      </p:sp>
      <p:sp>
        <p:nvSpPr>
          <p:cNvPr id="20" name="Shape 15"/>
          <p:cNvSpPr/>
          <p:nvPr/>
        </p:nvSpPr>
        <p:spPr>
          <a:xfrm>
            <a:off x="548640" y="2926080"/>
            <a:ext cx="54864" cy="502920"/>
          </a:xfrm>
          <a:prstGeom prst="rect">
            <a:avLst/>
          </a:prstGeom>
          <a:solidFill>
            <a:srgbClr val="8B5CF6"/>
          </a:solidFill>
          <a:ln/>
        </p:spPr>
      </p:sp>
      <p:pic>
        <p:nvPicPr>
          <p:cNvPr id="21" name="Image 3" descr="preencoded.png"/>
          <p:cNvPicPr>
            <a:picLocks noChangeAspect="1"/>
          </p:cNvPicPr>
          <p:nvPr/>
        </p:nvPicPr>
        <p:blipFill>
          <a:blip r:embed="rId3"/>
          <a:stretch>
            <a:fillRect/>
          </a:stretch>
        </p:blipFill>
        <p:spPr>
          <a:xfrm>
            <a:off x="731520" y="3017520"/>
            <a:ext cx="292608" cy="292608"/>
          </a:xfrm>
          <a:prstGeom prst="rect">
            <a:avLst/>
          </a:prstGeom>
        </p:spPr>
      </p:pic>
      <p:sp>
        <p:nvSpPr>
          <p:cNvPr id="22" name="Text 16"/>
          <p:cNvSpPr/>
          <p:nvPr/>
        </p:nvSpPr>
        <p:spPr>
          <a:xfrm>
            <a:off x="1188720" y="2926080"/>
            <a:ext cx="7223760" cy="50292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관계 유형: 1:1, 1:n, n:m / 참여: 필수/선택 / 종속: 강한/약한 개체</a:t>
            </a:r>
            <a:endParaRPr lang="en-US" sz="1200" dirty="0"/>
          </a:p>
        </p:txBody>
      </p:sp>
      <p:sp>
        <p:nvSpPr>
          <p:cNvPr id="23" name="Shape 17"/>
          <p:cNvSpPr/>
          <p:nvPr/>
        </p:nvSpPr>
        <p:spPr>
          <a:xfrm>
            <a:off x="548640" y="3566160"/>
            <a:ext cx="8046720" cy="502920"/>
          </a:xfrm>
          <a:prstGeom prst="rect">
            <a:avLst/>
          </a:prstGeom>
          <a:solidFill>
            <a:srgbClr val="FFFFFF"/>
          </a:solidFill>
          <a:ln/>
          <a:effectLst>
            <a:outerShdw blurRad="76200" dist="25400" dir="8100000" algn="bl" rotWithShape="0">
              <a:srgbClr val="000000">
                <a:alpha val="12000"/>
              </a:srgbClr>
            </a:outerShdw>
          </a:effectLst>
        </p:spPr>
      </p:sp>
      <p:sp>
        <p:nvSpPr>
          <p:cNvPr id="24" name="Shape 18"/>
          <p:cNvSpPr/>
          <p:nvPr/>
        </p:nvSpPr>
        <p:spPr>
          <a:xfrm>
            <a:off x="548640" y="3566160"/>
            <a:ext cx="54864" cy="502920"/>
          </a:xfrm>
          <a:prstGeom prst="rect">
            <a:avLst/>
          </a:prstGeom>
          <a:solidFill>
            <a:srgbClr val="1A2744"/>
          </a:solidFill>
          <a:ln/>
        </p:spPr>
      </p:sp>
      <p:pic>
        <p:nvPicPr>
          <p:cNvPr id="25" name="Image 4" descr="preencoded.png"/>
          <p:cNvPicPr>
            <a:picLocks noChangeAspect="1"/>
          </p:cNvPicPr>
          <p:nvPr/>
        </p:nvPicPr>
        <p:blipFill>
          <a:blip r:embed="rId3"/>
          <a:stretch>
            <a:fillRect/>
          </a:stretch>
        </p:blipFill>
        <p:spPr>
          <a:xfrm>
            <a:off x="731520" y="3657600"/>
            <a:ext cx="292608" cy="292608"/>
          </a:xfrm>
          <a:prstGeom prst="rect">
            <a:avLst/>
          </a:prstGeom>
        </p:spPr>
      </p:pic>
      <p:sp>
        <p:nvSpPr>
          <p:cNvPr id="26" name="Text 19"/>
          <p:cNvSpPr/>
          <p:nvPr/>
        </p:nvSpPr>
        <p:spPr>
          <a:xfrm>
            <a:off x="1188720" y="3566160"/>
            <a:ext cx="7223760" cy="502920"/>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논리적 모델: 관계형(테이블) &gt; 계층형(트리) &gt; 네트워크(그래프)</a:t>
            </a:r>
            <a:endParaRPr lang="en-US" sz="1200" dirty="0"/>
          </a:p>
        </p:txBody>
      </p:sp>
      <p:sp>
        <p:nvSpPr>
          <p:cNvPr id="27" name="Shape 20"/>
          <p:cNvSpPr/>
          <p:nvPr/>
        </p:nvSpPr>
        <p:spPr>
          <a:xfrm>
            <a:off x="548640" y="4297680"/>
            <a:ext cx="8046720" cy="411480"/>
          </a:xfrm>
          <a:prstGeom prst="rect">
            <a:avLst/>
          </a:prstGeom>
          <a:solidFill>
            <a:srgbClr val="1A2744"/>
          </a:solidFill>
          <a:ln/>
        </p:spPr>
      </p:sp>
      <p:sp>
        <p:nvSpPr>
          <p:cNvPr id="28" name="Text 21"/>
          <p:cNvSpPr/>
          <p:nvPr/>
        </p:nvSpPr>
        <p:spPr>
          <a:xfrm>
            <a:off x="822960" y="4297680"/>
            <a:ext cx="7498080" cy="41148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다음 시간: 4장 연습문제 풀이. ER 모델과 ERD를 복습하고 오세요!</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Shape 2"/>
          <p:cNvSpPr/>
          <p:nvPr/>
        </p:nvSpPr>
        <p:spPr>
          <a:xfrm>
            <a:off x="0" y="0"/>
            <a:ext cx="54864" cy="5143500"/>
          </a:xfrm>
          <a:prstGeom prst="rect">
            <a:avLst/>
          </a:prstGeom>
          <a:solidFill>
            <a:srgbClr val="0891B2"/>
          </a:solidFill>
          <a:ln/>
        </p:spPr>
      </p:sp>
      <p:pic>
        <p:nvPicPr>
          <p:cNvPr id="5" name="Image 0" descr="preencoded.png"/>
          <p:cNvPicPr>
            <a:picLocks noChangeAspect="1"/>
          </p:cNvPicPr>
          <p:nvPr/>
        </p:nvPicPr>
        <p:blipFill>
          <a:blip r:embed="rId3"/>
          <a:stretch>
            <a:fillRect/>
          </a:stretch>
        </p:blipFill>
        <p:spPr>
          <a:xfrm>
            <a:off x="4023360" y="731520"/>
            <a:ext cx="1097280" cy="1097280"/>
          </a:xfrm>
          <a:prstGeom prst="rect">
            <a:avLst/>
          </a:prstGeom>
        </p:spPr>
      </p:pic>
      <p:sp>
        <p:nvSpPr>
          <p:cNvPr id="6" name="Text 3"/>
          <p:cNvSpPr/>
          <p:nvPr/>
        </p:nvSpPr>
        <p:spPr>
          <a:xfrm>
            <a:off x="914400" y="1828800"/>
            <a:ext cx="7315200" cy="1097280"/>
          </a:xfrm>
          <a:prstGeom prst="rect">
            <a:avLst/>
          </a:prstGeom>
          <a:noFill/>
          <a:ln/>
        </p:spPr>
        <p:txBody>
          <a:bodyPr wrap="square" rtlCol="0" anchor="ctr"/>
          <a:lstStyle/>
          <a:p>
            <a:pPr marL="0" indent="0" algn="ctr">
              <a:buNone/>
            </a:pPr>
            <a:r>
              <a:rPr lang="en-US" sz="5200" b="1" dirty="0">
                <a:solidFill>
                  <a:srgbClr val="FFFFFF"/>
                </a:solidFill>
                <a:latin typeface="맑은 고딕" pitchFamily="34" charset="0"/>
                <a:ea typeface="맑은 고딕" pitchFamily="34" charset="-122"/>
                <a:cs typeface="맑은 고딕" pitchFamily="34" charset="-120"/>
              </a:rPr>
              <a:t>감사합니다</a:t>
            </a:r>
            <a:endParaRPr lang="en-US" sz="5200" dirty="0"/>
          </a:p>
        </p:txBody>
      </p:sp>
      <p:sp>
        <p:nvSpPr>
          <p:cNvPr id="7" name="Text 4"/>
          <p:cNvSpPr/>
          <p:nvPr/>
        </p:nvSpPr>
        <p:spPr>
          <a:xfrm>
            <a:off x="914400" y="2834640"/>
            <a:ext cx="7315200" cy="548640"/>
          </a:xfrm>
          <a:prstGeom prst="rect">
            <a:avLst/>
          </a:prstGeom>
          <a:noFill/>
          <a:ln/>
        </p:spPr>
        <p:txBody>
          <a:bodyPr wrap="square" rtlCol="0" anchor="ctr"/>
          <a:lstStyle/>
          <a:p>
            <a:pPr marL="0" indent="0" algn="ctr">
              <a:buNone/>
            </a:pPr>
            <a:r>
              <a:rPr lang="en-US" sz="2000" i="1" dirty="0">
                <a:solidFill>
                  <a:srgbClr val="94A3B8"/>
                </a:solidFill>
                <a:latin typeface="Arial" pitchFamily="34" charset="0"/>
                <a:ea typeface="Arial" pitchFamily="34" charset="-122"/>
                <a:cs typeface="Arial" pitchFamily="34" charset="-120"/>
              </a:rPr>
              <a:t>Thank You</a:t>
            </a:r>
            <a:endParaRPr lang="en-US" sz="2000" dirty="0"/>
          </a:p>
        </p:txBody>
      </p:sp>
      <p:sp>
        <p:nvSpPr>
          <p:cNvPr id="8" name="Shape 5"/>
          <p:cNvSpPr/>
          <p:nvPr/>
        </p:nvSpPr>
        <p:spPr>
          <a:xfrm>
            <a:off x="3200400" y="3566160"/>
            <a:ext cx="2743200" cy="36576"/>
          </a:xfrm>
          <a:prstGeom prst="rect">
            <a:avLst/>
          </a:prstGeom>
          <a:solidFill>
            <a:srgbClr val="0891B2"/>
          </a:solidFill>
          <a:ln/>
        </p:spPr>
      </p:sp>
      <p:sp>
        <p:nvSpPr>
          <p:cNvPr id="9" name="Text 6"/>
          <p:cNvSpPr/>
          <p:nvPr/>
        </p:nvSpPr>
        <p:spPr>
          <a:xfrm>
            <a:off x="914400" y="3749040"/>
            <a:ext cx="7315200" cy="365760"/>
          </a:xfrm>
          <a:prstGeom prst="rect">
            <a:avLst/>
          </a:prstGeom>
          <a:noFill/>
          <a:ln/>
        </p:spPr>
        <p:txBody>
          <a:bodyPr wrap="square" rtlCol="0" anchor="ctr"/>
          <a:lstStyle/>
          <a:p>
            <a:pPr marL="0" indent="0" algn="ctr">
              <a:buNone/>
            </a:pPr>
            <a:r>
              <a:rPr lang="en-US" sz="1300" dirty="0">
                <a:solidFill>
                  <a:srgbClr val="94A3B8"/>
                </a:solidFill>
                <a:latin typeface="Calibri" pitchFamily="34" charset="0"/>
                <a:ea typeface="Calibri" pitchFamily="34" charset="-122"/>
                <a:cs typeface="Calibri" pitchFamily="34" charset="-120"/>
              </a:rPr>
              <a:t>박상돈 조교수  |  대전대학교 컴퓨터공학과</a:t>
            </a:r>
            <a:endParaRPr lang="en-US" sz="1300" dirty="0"/>
          </a:p>
        </p:txBody>
      </p:sp>
      <p:sp>
        <p:nvSpPr>
          <p:cNvPr id="10" name="Shape 7"/>
          <p:cNvSpPr/>
          <p:nvPr/>
        </p:nvSpPr>
        <p:spPr>
          <a:xfrm>
            <a:off x="7315200" y="731520"/>
            <a:ext cx="2011680" cy="2011680"/>
          </a:xfrm>
          <a:prstGeom prst="line">
            <a:avLst/>
          </a:prstGeom>
          <a:solidFill>
            <a:srgbClr val="0891B2">
              <a:alpha val="25000"/>
            </a:srgbClr>
          </a:solidFill>
          <a:ln/>
        </p:spPr>
      </p:sp>
    </p:spTree>
  </p:cSld>
  <p:clrMapOvr>
    <a:masterClrMapping/>
  </p:clrMapOvr>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7092</ep:Words>
  <ep:PresentationFormat>화면 슬라이드 쇼(16:9)</ep:PresentationFormat>
  <ep:Paragraphs>719</ep:Paragraphs>
  <ep:Slides>30</ep:Slides>
  <ep:Notes>27</ep:Notes>
  <ep:TotalTime>0</ep:TotalTime>
  <ep:HiddenSlides>0</ep:HiddenSlides>
  <ep:MMClips>0</ep:MMClips>
  <ep:HeadingPairs>
    <vt:vector size="4" baseType="variant">
      <vt:variant>
        <vt:lpstr>테마</vt:lpstr>
      </vt:variant>
      <vt:variant>
        <vt:i4>1</vt:i4>
      </vt:variant>
      <vt:variant>
        <vt:lpstr>슬라이드 제목</vt:lpstr>
      </vt:variant>
      <vt:variant>
        <vt:i4>30</vt:i4>
      </vt:variant>
    </vt:vector>
  </ep:HeadingPairs>
  <ep:TitlesOfParts>
    <vt:vector size="31" baseType="lpstr">
      <vt:lpstr>Office Theme</vt:lpstr>
      <vt:lpstr>PowerPoint 프레젠테이션</vt:lpstr>
      <vt:lpstr>PowerPoint 프레젠테이션</vt:lpstr>
      <vt:lpstr>PowerPoint 프레젠테이션</vt:lpstr>
      <vt:lpstr>PowerPoint 프레젠테이션</vt:lpstr>
      <vt:lpstr>PowerPoint 프레젠테이션</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lpstr>슬라이드 23</vt:lpstr>
      <vt:lpstr>슬라이드 24</vt:lpstr>
      <vt:lpstr>슬라이드 25</vt:lpstr>
      <vt:lpstr>슬라이드 26</vt:lpstr>
      <vt:lpstr>슬라이드 27</vt:lpstr>
      <vt:lpstr>슬라이드 28</vt:lpstr>
      <vt:lpstr>슬라이드 29</vt:lpstr>
      <vt:lpstr>슬라이드 30</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2026-03-23T08:36:33.000</dcterms:created>
  <dc:creator>박상돈</dc:creator>
  <cp:lastModifiedBy>Sangdon</cp:lastModifiedBy>
  <dcterms:modified xsi:type="dcterms:W3CDTF">2026-03-23T12:25:43.418</dcterms:modified>
  <cp:revision>11</cp:revision>
  <dc:subject>PptxGenJS Presentation</dc:subject>
  <dc:title>4장 데이터 모델링</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