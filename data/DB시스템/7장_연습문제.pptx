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66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072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4315968"/>
            <a:ext cx="457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FA7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9328" y="4480560"/>
            <a:ext cx="292608" cy="2926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4114800"/>
            <a:ext cx="146304" cy="146304"/>
          </a:xfrm>
          <a:prstGeom prst="rect">
            <a:avLst/>
          </a:prstGeom>
          <a:solidFill>
            <a:srgbClr val="3FA7C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80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07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17373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연습문제 풀이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841248" y="2743200"/>
            <a:ext cx="210312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2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→ 정답  형식  ·  객관식 22문항 + SQL 작성 8문항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4015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E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개론  ·  IT CookBook</a:t>
            </a:r>
            <a:endParaRPr lang="en-US" sz="12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371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7장 한눈에 보기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— 데이터 정의·조작·제어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66928" y="1417320"/>
            <a:ext cx="259994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417320"/>
            <a:ext cx="2599944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1618488"/>
            <a:ext cx="2197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DDL · 정의어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8096" y="1965960"/>
            <a:ext cx="219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Definition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68096" y="2313432"/>
            <a:ext cx="2197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8096" y="3200400"/>
            <a:ext cx="2197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스키마(구조)를 정의·변경·삭제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49752" y="1417320"/>
            <a:ext cx="259994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49752" y="1417320"/>
            <a:ext cx="2599944" cy="8229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6" name="Text 14"/>
          <p:cNvSpPr/>
          <p:nvPr/>
        </p:nvSpPr>
        <p:spPr>
          <a:xfrm>
            <a:off x="3550920" y="1618488"/>
            <a:ext cx="2197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DML · 조작어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50920" y="1965960"/>
            <a:ext cx="219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Manipulation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50920" y="2313432"/>
            <a:ext cx="2197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INSERT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 DELETE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50920" y="3200400"/>
            <a:ext cx="2197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검색·삽입·수정·삭제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32576" y="1417320"/>
            <a:ext cx="259994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32576" y="1417320"/>
            <a:ext cx="2599944" cy="82296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22" name="Text 20"/>
          <p:cNvSpPr/>
          <p:nvPr/>
        </p:nvSpPr>
        <p:spPr>
          <a:xfrm>
            <a:off x="6333744" y="1618488"/>
            <a:ext cx="2197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DCL · 제어어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33744" y="1965960"/>
            <a:ext cx="219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5C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Control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33744" y="2313432"/>
            <a:ext cx="2197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 REVOKE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 ROLLBACK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33744" y="3200400"/>
            <a:ext cx="2197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부여·취소, 트랜잭션 제어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913632"/>
            <a:ext cx="8165592" cy="749808"/>
          </a:xfrm>
          <a:prstGeom prst="roundRect">
            <a:avLst>
              <a:gd name="adj" fmla="val 8537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3913632"/>
            <a:ext cx="7763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핵심 절  </a:t>
            </a: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· GROUP BY · HAVING · ORDER BY · JOIN · 서브쿼리 · LIKE · IS NULL · 집계함수(COUNT·SUM·AVG·MIN·MAX)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4315968"/>
            <a:ext cx="457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FA7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9328" y="4480560"/>
            <a:ext cx="292608" cy="2926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4114800"/>
            <a:ext cx="146304" cy="146304"/>
          </a:xfrm>
          <a:prstGeom prst="rect">
            <a:avLst/>
          </a:prstGeom>
          <a:solidFill>
            <a:srgbClr val="3FA7C9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298448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8" name="Shape 6"/>
          <p:cNvSpPr/>
          <p:nvPr/>
        </p:nvSpPr>
        <p:spPr>
          <a:xfrm>
            <a:off x="3154680" y="1627632"/>
            <a:ext cx="27432" cy="1325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419856" y="1783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438144" y="25786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Choice  ·  Q1–Q22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371600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SQL 분류/정의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DDL과 DML 구분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명령어 중 성격이 다른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ALTER     ② DROP     ③ CREATE     ④ INSERT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테이블 생성 후 누락된 주소 속성을 추가하는 명령어는?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CREATE     ② ALTER     ③ ADD     ④ MODIFY    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SQL 분류/정의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DDL과 DML 구분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명령어 중 성격이 다른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ALTER     ② DROP     ③ CREATE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INSERT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2578608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57860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④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2542032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ALTER·DROP·CREATE는 DDL, INSERT는 DML이다.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테이블 생성 후 누락된 주소 속성을 추가하는 명령어는?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CREATE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ALTER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ADD     ④ MODIFY     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4352544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52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②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92224" y="4315968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ALTER TABLE … ADD 로 속성을 추가한다.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테이블 정의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제약조건 키워드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테이블을 참조 제약과 함께 제거할 때 빈칸은?  (DROP TABLE 학생 ___ ;)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ALL     ② CASCADE     ③ RESTRICT     ④ DELETE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속성의 값 범위·제약조건을 지정해 무결성을 유지하는 키워드는?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PRIMARY KEY     ② DEFAULT     ③ NOT NULL     ④ CHECK    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테이블 정의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제약조건 키워드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테이블을 참조 제약과 함께 제거할 때 빈칸은?  (DROP TABLE 학생 ___ ;)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ALL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CASCADE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RESTRICT     ④ DELETE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2578608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57860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②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2542032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CASCADE는 참조하는 제약·객체까지 함께 제거한다.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속성의 값 범위·제약조건을 지정해 무결성을 유지하는 키워드는?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PRIMARY KEY     ② DEFAULT     ③ NOT NULL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CHECK     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4352544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52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④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92224" y="4315968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 (조건) 으로 허용 값의 범위를 제한한다.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키워드/함수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외래키와 집계함수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외래키를 지정하여 참조 무결성과 관련되는 키워드는?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PRIMARY KEY     ② DEFAULT     ③ NOT NULL     ④ FOREIGN KEY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데이터 타입에도 사용할 수 있는 집계함수는?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AVG     ② COUNT     ③ SUM     ④ STDDEV    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키워드/함수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외래키와 집계함수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외래키를 지정하여 참조 무결성과 관련되는 키워드는?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PRIMARY KEY     ② DEFAULT     ③ NOT NULL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FOREIGN KEY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2578608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57860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④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2542032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FOREIGN KEY … REFERENCES 로 외래키를 정의한다.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데이터 타입에도 사용할 수 있는 집계함수는?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AVG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COUNT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SUM     ④ STDDEV     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4352544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52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②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92224" y="4315968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AVG·SUM·STDDEV는 숫자형만, COUNT는 모든 타입에 사용 가능.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검색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LIKE 패턴과 HAVING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고객아이디 LIKE '_T%' 의 의미는?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T로 시작     ② T로 끝남     ③ T를 포함     ④ 두 번째 문자가 T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HAVING 키워드를 함께 사용할 수 있는 절은?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LIKE 절     ② WHERE 절     ③ GROUP BY 절     ④ ORDER BY 절    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검색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LIKE 패턴과 HAVING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고객아이디 LIKE '_T%' 의 의미는?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T로 시작     ② T로 끝남     ③ T를 포함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두 번째 문자가 T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2578608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57860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④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2542032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 는 임의의 한 문자, % 는 0개 이상 → 두 번째 글자가 T.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HAVING 키워드를 함께 사용할 수 있는 절은?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LIKE 절     ② WHERE 절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GROUP BY 절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ORDER BY 절     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4352544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52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③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92224" y="4315968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HAVING은 GROUP BY로 묶은 그룹에 조건을 건다.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검색/삭제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NULL 비교와 DELETE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주소가 널이 아닌 고객을 검색하는 WHERE 조건은?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주소 != NULL     ② 주소 &lt;&gt; NULL     ③ 주소 IS NOT NULL     ④ NOT(주소=NULL)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DELETE 명령문에 대한 설명으로 옳지 않은 것은?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투플 삭제에 사용     ② WHERE 없으면 DROP TABLE과 동일     ③ DML에 해당     ④ DELETE FROM 테이블 [WHERE 조건] 형식    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검색/삭제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NULL 비교와 DELETE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주소가 널이 아닌 고객을 검색하는 WHERE 조건은?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주소 != NULL     ② 주소 &lt;&gt; NULL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주소 IS NOT NULL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NOT(주소=NULL)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2578608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57860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③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2542032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NULL 비교는 =/!= 가 아니라 IS (NOT) NULL 로 한다.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DELETE 명령문에 대한 설명으로 옳지 않은 것은?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투플 삭제에 사용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WHERE 없으면 DROP TABLE과 동일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DML에 해당     ④ DELETE FROM 테이블 [WHERE 조건] 형식     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4352544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52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②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92224" y="4315968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DELETE는 행만 지우고 테이블 구조는 남으므로 DROP TABLE과 다르다.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삽입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올바른 INSERT 문 고르기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8165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제품(제품코드, 제품명, 가격, 제조일자) 테이블에 (100, '깨끗세제', 5000) 을 삽입하는 옳은 SQL은?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1901952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901952"/>
            <a:ext cx="688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INSERT 제품 INTO VALUES (100, '깨끗세제', 5000);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468880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468880"/>
            <a:ext cx="688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INSERT FROM 제품 VALUES (100, '깨끗세제', 5000);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035808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035808"/>
            <a:ext cx="688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INSERT INTO 제품(제품코드, 제품명, 가격) VALUES (100, '깨끗세제', 5000);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602736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602736"/>
            <a:ext cx="688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INSERT TO 제품(제품코드, 제품명, 가격) VALUES (100, '깨끗세제', 5000);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삽입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올바른 INSERT 문 고르기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8165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제품(제품코드, 제품명, 가격, 제조일자) 테이블에 (100, '깨끗세제', 5000) 을 삽입하는 옳은 SQL은?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1901952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901952"/>
            <a:ext cx="688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INSERT 제품 INTO VALUES (100, '깨끗세제', 5000);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468880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468880"/>
            <a:ext cx="688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INSERT FROM 제품 VALUES (100, '깨끗세제', 5000);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035808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1A2744"/>
          </a:solidFill>
          <a:ln w="1651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035808"/>
            <a:ext cx="688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INSERT INTO 제품(제품코드, 제품명, 가격) VALUES (100, '깨끗세제', 5000);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0" y="31272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602736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602736"/>
            <a:ext cx="688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INSERT TO 제품(제품코드, 제품명, 가격) VALUES (100, '깨끗세제', 5000);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4224528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형식:  INSERT INTO 테이블(열 목록) VALUES (값 목록);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수정/조인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UPDATE 절과 INNER JOIN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UPDATE 학생 Ⓐ 점수=점수+5 Ⓑ 성명='홍길동';  에서 Ⓐ, Ⓑ는?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조인을 'FROM 학생 Ⓐ 학과 Ⓑ …' 형태로 바꿀 때 Ⓐ, Ⓑ는?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수정/조인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UPDATE 절과 INNER JOIN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UPDATE 학생 Ⓐ 점수=점수+5 Ⓑ 성명='홍길동';  에서 Ⓐ, Ⓑ는?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" y="2578608"/>
            <a:ext cx="2217420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578608"/>
            <a:ext cx="22174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Ⓐ SET · Ⓑ WHERE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150108" y="2542032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UPDATE 테이블 SET 열=값 WHERE 조건 — 값은 SET, 대상 행은 WHERE.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조인을 'FROM 학생 Ⓐ 학과 Ⓑ …' 형태로 바꿀 때 Ⓐ, Ⓑ는?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" y="4352544"/>
            <a:ext cx="271119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352544"/>
            <a:ext cx="27111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Ⓐ INNER JOIN · Ⓑ 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43884" y="4315968"/>
            <a:ext cx="4869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WHERE의 조인 조건을 INNER JOIN … ON 으로 옮긴 동일 질의.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중첩 질의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부속 질의(subquery) 결과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〈사원 테이블〉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1664208"/>
            <a:ext cx="914400" cy="310896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664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사원번호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81328" y="1664208"/>
            <a:ext cx="960120" cy="310896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81328" y="166420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41448" y="1664208"/>
            <a:ext cx="1051560" cy="310896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41448" y="16642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소속부서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1975104"/>
            <a:ext cx="914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1975104"/>
            <a:ext cx="841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81328" y="1975104"/>
            <a:ext cx="9601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17904" y="1975104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김미순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41448" y="1975104"/>
            <a:ext cx="10515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78024" y="1975104"/>
            <a:ext cx="978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총무과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276856"/>
            <a:ext cx="91440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" y="2276856"/>
            <a:ext cx="841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81328" y="2276856"/>
            <a:ext cx="96012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17904" y="2276856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박이준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41448" y="2276856"/>
            <a:ext cx="105156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78024" y="2276856"/>
            <a:ext cx="978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자재과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2578608"/>
            <a:ext cx="914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" y="2578608"/>
            <a:ext cx="841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81328" y="2578608"/>
            <a:ext cx="9601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17904" y="2578608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이형주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441448" y="2578608"/>
            <a:ext cx="10515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78024" y="2578608"/>
            <a:ext cx="978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자재과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" y="2880360"/>
            <a:ext cx="91440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" y="2880360"/>
            <a:ext cx="841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481328" y="2880360"/>
            <a:ext cx="96012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17904" y="2880360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오형우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441448" y="2880360"/>
            <a:ext cx="105156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78024" y="2880360"/>
            <a:ext cx="978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총무과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0" y="1463040"/>
            <a:ext cx="4160520" cy="137160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18304" y="15361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54880" y="1773936"/>
            <a:ext cx="37947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성명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사원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소속부서 =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소속부서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사원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성명=</a:t>
            </a:r>
            <a:r>
              <a:rPr lang="en-US" sz="110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'오형우'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0" y="3063240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0632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이 SQL의 결과 테이블 모습은?  보기 ①~④ 중 고르시오.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중첩 질의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부속 질의(subquery) 결과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〈사원 테이블〉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1664208"/>
            <a:ext cx="914400" cy="310896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664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사원번호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81328" y="1664208"/>
            <a:ext cx="960120" cy="310896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81328" y="166420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41448" y="1664208"/>
            <a:ext cx="1051560" cy="310896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41448" y="16642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소속부서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1975104"/>
            <a:ext cx="914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1975104"/>
            <a:ext cx="841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81328" y="1975104"/>
            <a:ext cx="9601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17904" y="1975104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김미순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41448" y="1975104"/>
            <a:ext cx="10515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78024" y="1975104"/>
            <a:ext cx="978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총무과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276856"/>
            <a:ext cx="91440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" y="2276856"/>
            <a:ext cx="841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81328" y="2276856"/>
            <a:ext cx="96012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17904" y="2276856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박이준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41448" y="2276856"/>
            <a:ext cx="105156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78024" y="2276856"/>
            <a:ext cx="978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자재과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2578608"/>
            <a:ext cx="914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" y="2578608"/>
            <a:ext cx="841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81328" y="2578608"/>
            <a:ext cx="9601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17904" y="2578608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이형주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441448" y="2578608"/>
            <a:ext cx="10515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78024" y="2578608"/>
            <a:ext cx="978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자재과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" y="2880360"/>
            <a:ext cx="91440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" y="2880360"/>
            <a:ext cx="841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481328" y="2880360"/>
            <a:ext cx="96012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17904" y="2880360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오형우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441448" y="2880360"/>
            <a:ext cx="105156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78024" y="2880360"/>
            <a:ext cx="978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총무과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0" y="1463040"/>
            <a:ext cx="4160520" cy="137160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18304" y="15361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54880" y="1773936"/>
            <a:ext cx="37947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성명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사원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소속부서 =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소속부서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사원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성명=</a:t>
            </a:r>
            <a:r>
              <a:rPr lang="en-US" sz="110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'오형우'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0" y="3035808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E8A838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320040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3200400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①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754880" y="358444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부속 질의가 '오형우'의 소속부서 = 총무과 를 먼저 구한 뒤, 총무과 사원의 성명을 검색한다.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54880" y="407822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→ </a:t>
            </a: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김미순, 오형우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중첩/외래키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 EXISTS와 FK 옵션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 EXISTS (SELECT * FROM 가입 WHERE 학생.학번=가입.학번) 의 결과는?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모든 동아리 가입 학생     ② 어떤 동아리도 가입 안 한 학생     ③ 없는 동아리에 가입한 학생     ④ 아무 동아리나 가입한 학생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FOREIGN KEY 정의 시 ON DELETE/UPDATE 옵션으로 선택할 수 없는 것은?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NO ACTION     ② CHECK     ③ CASCADE     ④ SET NULL    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중첩/외래키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 EXISTS와 FK 옵션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 EXISTS (SELECT * FROM 가입 WHERE 학생.학번=가입.학번) 의 결과는?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모든 동아리 가입 학생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어떤 동아리도 가입 안 한 학생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없는 동아리에 가입한 학생     ④ 아무 동아리나 가입한 학생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2578608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57860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②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2542032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가입에 대응 투플이 '없는' 학생 → 어떤 동아리에도 가입하지 않은 학생.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FOREIGN KEY 정의 시 ON DELETE/UPDATE 옵션으로 선택할 수 없는 것은?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NO ACTION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CHECK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CASCADE     ④ SET NULL     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4352544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52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②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92224" y="4315968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옵션은 NO ACTION·CASCADE·SET NULL·SET DEFAULT — CHECK는 옵션이 아니다.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 삭제와 뷰의 특성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 V1로 정의한 V2가 있을 때 V1을 CASCADE로 삭제하면?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V1만 삭제     ② V2만 삭제     ③ V1·V2 모두 삭제     ④ 둘 다 삭제 안 됨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뷰에 대한 설명으로 옳지 않은 것은?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물리적 저장 없는 가상 테이블     ② 삽입·삭제·수정이 항상 허용되진 않음     ③ 검색은 기본 테이블과 약간 차이     ④ ALTER로 정의 변경 불가    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 삭제와 뷰의 특성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 V1로 정의한 V2가 있을 때 V1을 CASCADE로 삭제하면?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V1만 삭제     ② V2만 삭제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V1·V2 모두 삭제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둘 다 삭제 안 됨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2578608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57860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③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2542032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CASCADE 삭제는 그 뷰에 의존하는 뷰(V2)까지 연쇄 삭제한다.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뷰에 대한 설명으로 옳지 않은 것은?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물리적 저장 없는 가상 테이블     ② 삽입·삭제·수정이 항상 허용되진 않음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검색은 기본 테이블과 약간 차이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ALTER로 정의 변경 불가     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4352544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52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③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92224" y="4315968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뷰의 검색(SELECT)은 기본 테이블과 동일하므로 ③이 틀림.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뷰의 독립성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371600"/>
            <a:ext cx="816559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99616"/>
            <a:ext cx="64008" cy="28072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517904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뷰에 대한 설명으로 옳지 않은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75104"/>
            <a:ext cx="77083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데이터 보안 제공     ② 검색은 SELECT 사용     ③ WITH CHECK OPTION으로 제약     ④ 물리적 독립성 제공     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뷰의 독립성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371600"/>
            <a:ext cx="816559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99616"/>
            <a:ext cx="64008" cy="28072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517904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뷰에 대한 설명으로 옳지 않은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75104"/>
            <a:ext cx="77083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데이터 보안 제공     ② 검색은 SELECT 사용     ③ WITH CHECK OPTION으로 제약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물리적 독립성 제공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402336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023360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④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3986784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뷰는 '논리적' 데이터 독립성을 제공하므로 ④가 틀림.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명령어 분류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20. DDL과 DML 분류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41732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SQL 명령어를 DDL과 DML로 분류하시오.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1874520"/>
            <a:ext cx="8165592" cy="640080"/>
          </a:xfrm>
          <a:prstGeom prst="roundRect">
            <a:avLst>
              <a:gd name="adj" fmla="val 10000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87452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CREATE     ② SELECT     ③ DROP     ④ ALTER     ⑤ DELETE     ⑥ INSERT     ⑦ UPDATE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297180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정의어(DDL)와 조작어(DML)로 나누어 보세요.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명령어 분류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20. DDL과 DML 분류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41732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SQL 명령어를 DDL과 DML로 분류하시오.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1874520"/>
            <a:ext cx="8165592" cy="640080"/>
          </a:xfrm>
          <a:prstGeom prst="roundRect">
            <a:avLst>
              <a:gd name="adj" fmla="val 10000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87452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CREATE     ② SELECT     ③ DROP     ④ ALTER     ⑤ DELETE     ⑥ INSERT     ⑦ UPDATE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2880360"/>
            <a:ext cx="816559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397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880360"/>
            <a:ext cx="7726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DDL  </a:t>
            </a: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CREATE · ③ DROP · ④ ALTER</a:t>
            </a: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(스키마 정의·변경·삭제)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3703320"/>
            <a:ext cx="816559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397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703320"/>
            <a:ext cx="7726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4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DML  </a:t>
            </a: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SELECT · ⑤ DELETE · ⑥ INSERT · ⑦ UPDATE</a:t>
            </a: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(데이터 조작)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21. 뷰에 대한 옳은 설명 모두 고르기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" y="135331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(A)  </a:t>
            </a:r>
            <a:r>
              <a:rPr lang="en-US" sz="12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뷰는 물리적으로 저장 장치에 저장된다.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176479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(B)  </a:t>
            </a:r>
            <a:r>
              <a:rPr lang="en-US" sz="12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삽입·수정·삭제 연산이 항상 허용되는 것은 아니다.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13232" y="217627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(C)  </a:t>
            </a:r>
            <a:r>
              <a:rPr lang="en-US" sz="12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 문을 이용해 생성할 수 있다.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" y="258775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(D)  </a:t>
            </a:r>
            <a:r>
              <a:rPr lang="en-US" sz="12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ALTER 문을 이용해 변경할 수 있다.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3232" y="299923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(E)  </a:t>
            </a:r>
            <a:r>
              <a:rPr lang="en-US" sz="12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DROP 문을 이용해 삭제할 수 있다.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" y="341071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(F)  </a:t>
            </a:r>
            <a:r>
              <a:rPr lang="en-US" sz="12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테이블이 제거되어도 뷰는 자동 삭제되지 않는다.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" y="382219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(G)  </a:t>
            </a:r>
            <a:r>
              <a:rPr lang="en-US" sz="12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뷰를 기반으로 새로운 뷰를 만들 수 있다.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21. 뷰에 대한 옳은 설명 모두 고르기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" y="135331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(A)  </a:t>
            </a: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뷰는 물리적으로 저장 장치에 저장된다.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1764792"/>
            <a:ext cx="8165592" cy="384048"/>
          </a:xfrm>
          <a:prstGeom prst="roundRect">
            <a:avLst>
              <a:gd name="adj" fmla="val 11905"/>
            </a:avLst>
          </a:prstGeom>
          <a:solidFill>
            <a:srgbClr val="FBF1DC"/>
          </a:solidFill>
          <a:ln w="1016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76479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84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(B)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삽입·수정·삭제 연산이 항상 허용되는 것은 아니다.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2176272"/>
            <a:ext cx="8165592" cy="384048"/>
          </a:xfrm>
          <a:prstGeom prst="roundRect">
            <a:avLst>
              <a:gd name="adj" fmla="val 11905"/>
            </a:avLst>
          </a:prstGeom>
          <a:solidFill>
            <a:srgbClr val="FBF1DC"/>
          </a:solidFill>
          <a:ln w="10160">
            <a:solidFill>
              <a:srgbClr val="E8A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17627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84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(C)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 문을 이용해 생성할 수 있다.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" y="258775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(D)  </a:t>
            </a: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ALTER 문을 이용해 변경할 수 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2999232"/>
            <a:ext cx="8165592" cy="384048"/>
          </a:xfrm>
          <a:prstGeom prst="roundRect">
            <a:avLst>
              <a:gd name="adj" fmla="val 11905"/>
            </a:avLst>
          </a:prstGeom>
          <a:solidFill>
            <a:srgbClr val="FBF1DC"/>
          </a:solidFill>
          <a:ln w="1016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99923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84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(E)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DROP 문을 이용해 삭제할 수 있다.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3232" y="341071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(F)  </a:t>
            </a: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테이블이 제거되어도 뷰는 자동 삭제되지 않는다.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8165592" cy="384048"/>
          </a:xfrm>
          <a:prstGeom prst="roundRect">
            <a:avLst>
              <a:gd name="adj" fmla="val 11905"/>
            </a:avLst>
          </a:prstGeom>
          <a:solidFill>
            <a:srgbClr val="FBF1DC"/>
          </a:solidFill>
          <a:ln w="1016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82219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84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(G)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뷰를 기반으로 새로운 뷰를 만들 수 있다.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4306824"/>
            <a:ext cx="2217420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4306824"/>
            <a:ext cx="22174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(B)(C)(E)(G)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930652" y="4270248"/>
            <a:ext cx="58018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CREATE로 생성·DROP로 삭제, 삽입/수정/삭제에 제약, 뷰 기반 뷰 생성 가능. (A·D·F는 부적합)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삽입 SQL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삽입 SQL의 특성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371600"/>
            <a:ext cx="816559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99616"/>
            <a:ext cx="64008" cy="28072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517904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삽입 SQL(embedded SQL)에 대한 설명으로 옳지 않은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75104"/>
            <a:ext cx="77083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프로그램 안에 삽입하는 SQL     ② 명령문 위치 어디든 삽입 가능     ③ 호스트 변수는 속성과 이름이 달라야 함     ④ 변수와 속성의 타입이 일치해야 함     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삽입 SQL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삽입 SQL의 특성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371600"/>
            <a:ext cx="816559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99616"/>
            <a:ext cx="64008" cy="28072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517904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삽입 SQL(embedded SQL)에 대한 설명으로 옳지 않은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75104"/>
            <a:ext cx="77083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프로그램 안에 삽입하는 SQL     ② 명령문 위치 어디든 삽입 가능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호스트 변수는 속성과 이름이 달라야 함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변수와 속성의 타입이 일치해야 함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402336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023360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③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3986784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호스트 변수는 이름이 같아도 되며 콜론(:)으로 구별 → ③이 틀림.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4315968"/>
            <a:ext cx="457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FA7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9328" y="4480560"/>
            <a:ext cx="292608" cy="2926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4114800"/>
            <a:ext cx="146304" cy="146304"/>
          </a:xfrm>
          <a:prstGeom prst="rect">
            <a:avLst/>
          </a:prstGeom>
          <a:solidFill>
            <a:srgbClr val="3FA7C9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298448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8" name="Shape 6"/>
          <p:cNvSpPr/>
          <p:nvPr/>
        </p:nvSpPr>
        <p:spPr>
          <a:xfrm>
            <a:off x="3154680" y="1627632"/>
            <a:ext cx="27432" cy="13258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3419856" y="1783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단답·SQL 작성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438144" y="25786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 Answer &amp; SQL Writing  ·  Q23–Q30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371600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단답·서술 · 23~24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 CHECK OPTION &amp; 관계대수 → SQL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600200"/>
            <a:ext cx="8165592" cy="160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4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 </a:t>
            </a:r>
            <a:r>
              <a:rPr lang="en-US" sz="13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 생성 시 WITH CHECK OPTION의 의미를 설명하시오.</a:t>
            </a:r>
            <a:endParaRPr lang="en-US" sz="1300" dirty="0"/>
          </a:p>
          <a:p>
            <a:pPr marL="0" indent="0">
              <a:lnSpc>
                <a:spcPct val="24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 </a:t>
            </a:r>
            <a:r>
              <a:rPr lang="en-US" sz="13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관계대수  π(도서명, 가격)( σ(출판사='한빛' ∧ 재고량 ≥ 50)(도서) ) 를 SQL로 작성하시오.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단답·서술 · 23~24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 CHECK OPTION &amp; 관계대수 → SQL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 </a:t>
            </a: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 CHECK OPTION 의 의미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1737360"/>
            <a:ext cx="8165592" cy="822960"/>
          </a:xfrm>
          <a:prstGeom prst="roundRect">
            <a:avLst>
              <a:gd name="adj" fmla="val 7778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92224"/>
            <a:ext cx="7836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뷰에 대한 삽입·수정 연산이 실행될 때, 뷰의 정의 조건을 위반하면 그 연산을 거부하도록 지시한다.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283464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 </a:t>
            </a: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관계대수 → SQL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246120"/>
            <a:ext cx="8165592" cy="1280160"/>
          </a:xfrm>
          <a:prstGeom prst="roundRect">
            <a:avLst>
              <a:gd name="adj" fmla="val 4286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" y="33192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9808" y="3557016"/>
            <a:ext cx="77998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도서명, 가격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도서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출판사=</a:t>
            </a:r>
            <a:r>
              <a:rPr lang="en-US" sz="120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'한빛'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재고량&gt;=50;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단답 · 25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SELECT 실행 결과의 투플 수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417320"/>
            <a:ext cx="8165592" cy="548640"/>
          </a:xfrm>
          <a:prstGeom prst="roundRect">
            <a:avLst>
              <a:gd name="adj" fmla="val 11667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72184"/>
            <a:ext cx="7836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테이블 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대한식품 50개 · 민국푸드 30개 · 한빛제과 50개   (전체 130행)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2084832"/>
            <a:ext cx="8165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각 SQL의 결과 투플 수는?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252374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24128" y="2468880"/>
            <a:ext cx="5897880" cy="566928"/>
          </a:xfrm>
          <a:prstGeom prst="roundRect">
            <a:avLst>
              <a:gd name="adj" fmla="val 9677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2505456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제조업체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제품;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59168" y="2468880"/>
            <a:ext cx="1216152" cy="566928"/>
          </a:xfrm>
          <a:prstGeom prst="roundRect">
            <a:avLst>
              <a:gd name="adj" fmla="val 12903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9168" y="2468880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325526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24128" y="3200400"/>
            <a:ext cx="5897880" cy="566928"/>
          </a:xfrm>
          <a:prstGeom prst="roundRect">
            <a:avLst>
              <a:gd name="adj" fmla="val 9677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3236976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제조업체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제품;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59168" y="3200400"/>
            <a:ext cx="1216152" cy="566928"/>
          </a:xfrm>
          <a:prstGeom prst="roundRect">
            <a:avLst>
              <a:gd name="adj" fmla="val 12903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9168" y="3200400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6928" y="398678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24128" y="3931920"/>
            <a:ext cx="5897880" cy="566928"/>
          </a:xfrm>
          <a:prstGeom prst="roundRect">
            <a:avLst>
              <a:gd name="adj" fmla="val 9677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3968496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제품명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제조업체=</a:t>
            </a:r>
            <a:r>
              <a:rPr lang="en-US" sz="115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'대한식품'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059168" y="3931920"/>
            <a:ext cx="1216152" cy="566928"/>
          </a:xfrm>
          <a:prstGeom prst="roundRect">
            <a:avLst>
              <a:gd name="adj" fmla="val 12903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9168" y="3931920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단답 · 25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SELECT 실행 결과의 투플 수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417320"/>
            <a:ext cx="8165592" cy="548640"/>
          </a:xfrm>
          <a:prstGeom prst="roundRect">
            <a:avLst>
              <a:gd name="adj" fmla="val 11667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72184"/>
            <a:ext cx="7836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테이블 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대한식품 50개 · 민국푸드 30개 · 한빛제과 50개   (전체 130행)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2084832"/>
            <a:ext cx="8165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각 SQL의 결과 투플 수는?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252374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24128" y="2468880"/>
            <a:ext cx="5897880" cy="566928"/>
          </a:xfrm>
          <a:prstGeom prst="roundRect">
            <a:avLst>
              <a:gd name="adj" fmla="val 9677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2505456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제조업체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제품;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59168" y="2468880"/>
            <a:ext cx="1216152" cy="566928"/>
          </a:xfrm>
          <a:prstGeom prst="roundRect">
            <a:avLst>
              <a:gd name="adj" fmla="val 12903"/>
            </a:avLst>
          </a:prstGeom>
          <a:solidFill>
            <a:srgbClr val="E8A838"/>
          </a:solidFill>
          <a:ln w="12700">
            <a:solidFill>
              <a:srgbClr val="C7D6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9168" y="2468880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325526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24128" y="3200400"/>
            <a:ext cx="5897880" cy="566928"/>
          </a:xfrm>
          <a:prstGeom prst="roundRect">
            <a:avLst>
              <a:gd name="adj" fmla="val 9677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3236976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제조업체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제품;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59168" y="3200400"/>
            <a:ext cx="1216152" cy="566928"/>
          </a:xfrm>
          <a:prstGeom prst="roundRect">
            <a:avLst>
              <a:gd name="adj" fmla="val 12903"/>
            </a:avLst>
          </a:prstGeom>
          <a:solidFill>
            <a:srgbClr val="E8A838"/>
          </a:solidFill>
          <a:ln w="12700">
            <a:solidFill>
              <a:srgbClr val="C7D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9168" y="3200400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6928" y="398678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24128" y="3931920"/>
            <a:ext cx="5897880" cy="566928"/>
          </a:xfrm>
          <a:prstGeom prst="roundRect">
            <a:avLst>
              <a:gd name="adj" fmla="val 9677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3968496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제품명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제조업체=</a:t>
            </a:r>
            <a:r>
              <a:rPr lang="en-US" sz="115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'대한식품'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059168" y="3931920"/>
            <a:ext cx="1216152" cy="566928"/>
          </a:xfrm>
          <a:prstGeom prst="roundRect">
            <a:avLst>
              <a:gd name="adj" fmla="val 12903"/>
            </a:avLst>
          </a:prstGeom>
          <a:solidFill>
            <a:srgbClr val="E8A838"/>
          </a:solidFill>
          <a:ln w="12700">
            <a:solidFill>
              <a:srgbClr val="C7D6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9168" y="3931920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66928" y="4572000"/>
            <a:ext cx="8165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DISTINCT는 중복을 제거하므로 제조업체 종류 수(3)만 반환한다.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26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생성과 카디널리티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371600"/>
            <a:ext cx="8165592" cy="1600200"/>
          </a:xfrm>
          <a:prstGeom prst="roundRect">
            <a:avLst>
              <a:gd name="adj" fmla="val 3429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14447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1682496"/>
            <a:ext cx="779983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부서 ( 부서코드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부서명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(10) );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사원 ( 사원번호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소속부서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(10),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(소속부서)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부서(부서코드)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CASCADE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);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부서 → (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개발부), (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홍보부)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사원 → (100,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(200,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(300,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3200400"/>
            <a:ext cx="816559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 </a:t>
            </a: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INSERT 직후 부서·사원 테이블의 카디널리티는 각각?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 </a:t>
            </a: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DELETE FROM 부서 WHERE 부서코드='P2'; 실행 후 두 테이블의 카디널리티는?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26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생성과 카디널리티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463040"/>
            <a:ext cx="816559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6384" y="1609344"/>
            <a:ext cx="7708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생성·삽입 직후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6384" y="202996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테이블 = </a:t>
            </a:r>
            <a:r>
              <a:rPr lang="en-US" sz="14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r>
              <a:rPr lang="en-US" sz="14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사원 테이블 = </a:t>
            </a:r>
            <a:r>
              <a:rPr lang="en-US" sz="14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(INSERT한 행 수 그대로)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880360"/>
            <a:ext cx="816559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3970">
            <a:solidFill>
              <a:srgbClr val="E8A838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6384" y="3035808"/>
            <a:ext cx="7708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DELETE FROM 부서 WHERE 부서코드='P2';  실행 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" y="3456432"/>
            <a:ext cx="7708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테이블 = </a:t>
            </a:r>
            <a:r>
              <a:rPr lang="en-US" sz="1400" b="1" dirty="0">
                <a:solidFill>
                  <a:srgbClr val="D64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r>
              <a:rPr lang="en-US" sz="14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사원 테이블 = </a:t>
            </a:r>
            <a:r>
              <a:rPr lang="en-US" sz="1400" b="1" dirty="0">
                <a:solidFill>
                  <a:srgbClr val="D64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" y="3895344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DELETE CASCADE → 홍보부(P2)를 지우면 P2 소속 사원(200·300)도 함께 삭제된다.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27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테이블 — 문제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〈학생 테이블〉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1600200"/>
            <a:ext cx="566928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6002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33856" y="1600200"/>
            <a:ext cx="713232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856" y="160020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47088" y="1600200"/>
            <a:ext cx="54864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47088" y="16002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95728" y="1600200"/>
            <a:ext cx="155448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95728" y="1600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1892808"/>
            <a:ext cx="5669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189280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33856" y="1892808"/>
            <a:ext cx="7132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0432" y="1892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이진아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47088" y="1892808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83664" y="189280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95728" y="1892808"/>
            <a:ext cx="1554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32304" y="189280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컴퓨터공학과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2167128"/>
            <a:ext cx="566928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216712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133856" y="2167128"/>
            <a:ext cx="713232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0432" y="2167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양기섭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47088" y="2167128"/>
            <a:ext cx="54864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83664" y="216712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95728" y="2167128"/>
            <a:ext cx="155448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32304" y="21671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컴퓨터공학과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2441448"/>
            <a:ext cx="5669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" y="244144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33856" y="2441448"/>
            <a:ext cx="7132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70432" y="24414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박수정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47088" y="2441448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83664" y="24414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395728" y="2441448"/>
            <a:ext cx="1554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32304" y="244144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호텔관광경영학과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" y="2715768"/>
            <a:ext cx="566928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3504" y="271576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133856" y="2715768"/>
            <a:ext cx="713232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70432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홍민호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847088" y="2715768"/>
            <a:ext cx="54864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83664" y="27157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395728" y="2715768"/>
            <a:ext cx="155448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32304" y="27157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호텔관광경영학과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66928" y="2990088"/>
            <a:ext cx="5669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3504" y="299008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105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133856" y="2990088"/>
            <a:ext cx="7132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70432" y="2990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오연주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847088" y="2990088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83664" y="29900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395728" y="2990088"/>
            <a:ext cx="1554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32304" y="29900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호텔관광경영학과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66928" y="3264408"/>
            <a:ext cx="566928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3504" y="326440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106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133856" y="3264408"/>
            <a:ext cx="713232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70432" y="3264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김우리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847088" y="3264408"/>
            <a:ext cx="54864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83664" y="326440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2.5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395728" y="3264408"/>
            <a:ext cx="155448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32304" y="326440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건축학과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66928" y="3538728"/>
            <a:ext cx="5669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3504" y="353872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107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133856" y="3538728"/>
            <a:ext cx="7132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70432" y="35387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조유근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847088" y="3538728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883664" y="353872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4.3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395728" y="3538728"/>
            <a:ext cx="1554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432304" y="35387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건축학과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297680" y="1371600"/>
            <a:ext cx="4434840" cy="275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 </a:t>
            </a: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학과별 학생 수가 2명을 초과하는 학과와 그 인원은?</a:t>
            </a:r>
            <a:endParaRPr lang="en-US" sz="11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 </a:t>
            </a: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20자 가변 문자열 '연락처' 속성을 추가하시오.</a:t>
            </a:r>
            <a:endParaRPr lang="en-US" sz="11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(3)  </a:t>
            </a: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 BY 학과 DESC, 학점 ASC 시 가장 먼저 출력되는 학생은?</a:t>
            </a:r>
            <a:endParaRPr lang="en-US" sz="11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(4)  </a:t>
            </a: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김우리와 같은 학과 학생들의 평균 학점('평균 학점')은?</a:t>
            </a:r>
            <a:endParaRPr lang="en-US" sz="11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(5)  </a:t>
            </a: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학번 105 학생의 학점을 4.5, 학과를 전자과로 변경하시오.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27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테이블 — 정답 (1)~(3)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GROUP BY 학과 HAVING count(*) &gt;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1691640"/>
            <a:ext cx="237744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691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44368" y="1691640"/>
            <a:ext cx="91440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4368" y="1691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1984248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198424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호텔관광경영학과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44368" y="1984248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80944" y="198424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3명인 호텔관광경영학과만 조건(&gt;2)을 만족.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566928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연락처 속성 추가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2990088"/>
            <a:ext cx="8165592" cy="548640"/>
          </a:xfrm>
          <a:prstGeom prst="roundRect">
            <a:avLst>
              <a:gd name="adj" fmla="val 10000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3118104"/>
            <a:ext cx="7799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학생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연락처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(20);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3675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(3) ORDER BY 학과 DESC, 학점 ASC — 첫 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3968496"/>
            <a:ext cx="816559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397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968496"/>
            <a:ext cx="7891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홍민호  </a:t>
            </a:r>
            <a:r>
              <a:rPr lang="en-US" sz="10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(학과 내림차순 → 호텔관광경영학과 먼저, 그 중 학점 오름차순 최저 2.8)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27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테이블 — 정답 (4)~(5)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8165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(4) 김우리와 같은 학과 학생들의 평균 학점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1682496"/>
            <a:ext cx="8165592" cy="1234440"/>
          </a:xfrm>
          <a:prstGeom prst="roundRect">
            <a:avLst>
              <a:gd name="adj" fmla="val 4444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" y="17556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1993392"/>
            <a:ext cx="779983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(학점)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"평균 학점"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학생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학과 = (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학과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학생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이름=</a:t>
            </a:r>
            <a:r>
              <a:rPr lang="en-US" sz="120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'김우리'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108960"/>
            <a:ext cx="8165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(5) 학번 105 학생의 학점·학과 변경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419856"/>
            <a:ext cx="8165592" cy="1005840"/>
          </a:xfrm>
          <a:prstGeom prst="roundRect">
            <a:avLst>
              <a:gd name="adj" fmla="val 5455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" y="34930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49808" y="3730752"/>
            <a:ext cx="7799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학생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학점=4.5, 학과=</a:t>
            </a:r>
            <a:r>
              <a:rPr lang="en-US" sz="120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'전자과'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학번=105;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28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환자·의사 테이블 — 문제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298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〈환자〉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1536192"/>
            <a:ext cx="749808" cy="256032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536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환자번호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16736" y="1536192"/>
            <a:ext cx="786384" cy="256032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6736" y="153619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환자이름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03120" y="1536192"/>
            <a:ext cx="457200" cy="256032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15361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0" y="1536192"/>
            <a:ext cx="786384" cy="256032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153619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담당의사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" y="1792224"/>
            <a:ext cx="74980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1792224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P001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316736" y="1792224"/>
            <a:ext cx="78638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53312" y="179222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오우진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03120" y="1792224"/>
            <a:ext cx="4572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39696" y="17922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0" y="1792224"/>
            <a:ext cx="78638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96896" y="179222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D002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2029968"/>
            <a:ext cx="749808" cy="237744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2029968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P002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316736" y="2029968"/>
            <a:ext cx="786384" cy="237744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53312" y="20299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채광주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03120" y="2029968"/>
            <a:ext cx="457200" cy="237744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39696" y="202996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0" y="2029968"/>
            <a:ext cx="786384" cy="237744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96896" y="20299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D001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2267712"/>
            <a:ext cx="74980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" y="2267712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P003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316736" y="2267712"/>
            <a:ext cx="78638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53312" y="226771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김용욱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103120" y="2267712"/>
            <a:ext cx="4572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39696" y="226771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0" y="2267712"/>
            <a:ext cx="78638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96896" y="226771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D003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63440" y="1298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〈의사〉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63440" y="1536192"/>
            <a:ext cx="749808" cy="256032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1536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의사번호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13248" y="1536192"/>
            <a:ext cx="749808" cy="256032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13248" y="1536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의사이름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63056" y="1536192"/>
            <a:ext cx="822960" cy="256032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63056" y="15361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86016" y="1536192"/>
            <a:ext cx="786384" cy="256032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86016" y="153619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근무연수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1792224"/>
            <a:ext cx="74980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00016" y="1792224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D001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413248" y="1792224"/>
            <a:ext cx="74980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49824" y="1792224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정지영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63056" y="1792224"/>
            <a:ext cx="822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9632" y="179222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986016" y="1792224"/>
            <a:ext cx="78638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22592" y="179222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663440" y="2029968"/>
            <a:ext cx="749808" cy="237744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00016" y="2029968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D002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413248" y="2029968"/>
            <a:ext cx="749808" cy="237744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49824" y="2029968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김선주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63056" y="2029968"/>
            <a:ext cx="822960" cy="237744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99632" y="202996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피부과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986016" y="2029968"/>
            <a:ext cx="786384" cy="237744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22592" y="20299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63440" y="2267712"/>
            <a:ext cx="74980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00016" y="2267712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D003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413248" y="2267712"/>
            <a:ext cx="74980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49824" y="2267712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정성호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163056" y="2267712"/>
            <a:ext cx="822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99632" y="226771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정형외과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986016" y="2267712"/>
            <a:ext cx="78638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022592" y="226771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66928" y="2542032"/>
            <a:ext cx="8165592" cy="156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 </a:t>
            </a: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 테이블 생성 — 환자이름 NOT NULL, 담당의사는 의사(의사번호) 참조 FK.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 </a:t>
            </a: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 테이블 생성 — 소속 기본값 '내과', 근무연수 1~40 CHECK.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(3)  </a:t>
            </a: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D001 의사가 담당하고 나이 30세 이상인 환자의 번호·이름.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(4)  </a:t>
            </a: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소속별 의사 수와 평균 근무연수.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(5)  </a:t>
            </a: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김용욱 환자를 담당하는 의사의 이름·소속·근무연수.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28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환자·의사 — 정답 (1)~(2) 생성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환자 테이블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1664208"/>
            <a:ext cx="4160520" cy="2468880"/>
          </a:xfrm>
          <a:prstGeom prst="roundRect">
            <a:avLst>
              <a:gd name="adj" fmla="val 2222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" y="1792224"/>
            <a:ext cx="379476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환자 (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환자번호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(4)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환자이름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(10)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나이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담당의사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(4),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(환자번호),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(담당의사)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의사(의사번호)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의사 테이블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664208"/>
            <a:ext cx="4160520" cy="2468880"/>
          </a:xfrm>
          <a:prstGeom prst="roundRect">
            <a:avLst>
              <a:gd name="adj" fmla="val 2222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792224"/>
            <a:ext cx="379476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의사 (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의사번호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(4)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의사이름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(10),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소속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(20)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'내과'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근무연수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(의사번호),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(근무연수&gt;=1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근무연수&lt;=40)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28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환자·의사 — 정답 (3)~(5) 검색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53312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(3) D001 담당 &amp; 나이 ≥ 30 환자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1627632"/>
            <a:ext cx="8165592" cy="841248"/>
          </a:xfrm>
          <a:prstGeom prst="roundRect">
            <a:avLst>
              <a:gd name="adj" fmla="val 6522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" y="1755648"/>
            <a:ext cx="7799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환자번호, 환자이름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환자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담당의사=</a:t>
            </a:r>
            <a:r>
              <a:rPr lang="en-US" sz="115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'D001'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나이&gt;=30;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2578608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(4) 소속별 의사 수·평균 근무연수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8165592" cy="841248"/>
          </a:xfrm>
          <a:prstGeom prst="roundRect">
            <a:avLst>
              <a:gd name="adj" fmla="val 6522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2980944"/>
            <a:ext cx="7799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소속,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"의사 수"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(근무연수)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"평균 근무연수"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의사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소속;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3803904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(5) 김용욱 담당 의사의 이름·소속·근무연수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078224"/>
            <a:ext cx="8165592" cy="603504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20624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9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의사.의사이름, 의사.소속, 의사.근무연수 </a:t>
            </a:r>
            <a:r>
              <a:rPr lang="en-US" sz="9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9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의사, 환자 </a:t>
            </a:r>
            <a:r>
              <a:rPr lang="en-US" sz="9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9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환자.환자이름=</a:t>
            </a:r>
            <a:r>
              <a:rPr lang="en-US" sz="95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'김용욱'</a:t>
            </a:r>
            <a:r>
              <a:rPr lang="en-US" sz="9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9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의사.의사번호=환자.담당의사;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29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학생·과목·수강 — 문제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335024"/>
            <a:ext cx="8165592" cy="1060704"/>
          </a:xfrm>
          <a:prstGeom prst="roundRect">
            <a:avLst>
              <a:gd name="adj" fmla="val 6034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173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664208"/>
            <a:ext cx="7836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학생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(학번, 이름, 학년)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과목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(과목번호, 과목이름)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수강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(학번, 과목번호, 중간성적, 기말성적, 학점)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542032"/>
            <a:ext cx="816559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과목번호 'A%' &amp; 기말성적 ≥ 80 학생의 이름·중간성적 (이름 ASC, 중간성적 DESC).</a:t>
            </a:r>
            <a:endParaRPr lang="en-US" sz="11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 이상 수강한 과목별 학생수·기말성적 평균 ('학생수' / '성적평균').</a:t>
            </a:r>
            <a:endParaRPr lang="en-US" sz="11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(3) 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개설된 과목의 수 (중복 제외).</a:t>
            </a:r>
            <a:endParaRPr lang="en-US" sz="11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(4) 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A003을 수강하지 않는 학생의 이름·학년  —  NOT IN.</a:t>
            </a:r>
            <a:endParaRPr lang="en-US" sz="11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(5) 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조건  —  NOT EXISTS.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29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학생·과목·수강 — 정답 (1)~(2)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53312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조인 + 정렬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1627632"/>
            <a:ext cx="8165592" cy="137160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" y="1755648"/>
            <a:ext cx="779983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학생.이름, 수강.중간성적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수강, 학생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수강.과목번호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'A%'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수강.기말성적&gt;=80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학생.학번=수강.학번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학생.이름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수강.중간성적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3127248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그룹별 집계 + HAVING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401568"/>
            <a:ext cx="8165592" cy="1005840"/>
          </a:xfrm>
          <a:prstGeom prst="roundRect">
            <a:avLst>
              <a:gd name="adj" fmla="val 5455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3529584"/>
            <a:ext cx="77998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과목번호,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학생수,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(기말성적)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성적평균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수강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과목번호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(*)&gt;=3;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29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학생·과목·수강 — 정답 (3)~(5)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53312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(3) 개설 과목 수 (DISTINCT)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1627632"/>
            <a:ext cx="8165592" cy="502920"/>
          </a:xfrm>
          <a:prstGeom prst="roundRect">
            <a:avLst>
              <a:gd name="adj" fmla="val 10909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" y="1755648"/>
            <a:ext cx="77998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과목번호)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수강;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2249424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(4) A003 미수강 — NOT IN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523744"/>
            <a:ext cx="8165592" cy="841248"/>
          </a:xfrm>
          <a:prstGeom prst="roundRect">
            <a:avLst>
              <a:gd name="adj" fmla="val 6522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2651760"/>
            <a:ext cx="7799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이름, 학년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학생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학번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학번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수강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과목번호=</a:t>
            </a:r>
            <a:r>
              <a:rPr lang="en-US" sz="110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'A003'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4747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(5) A003 미수강 — NOT EXISTS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749040"/>
            <a:ext cx="8165592" cy="868680"/>
          </a:xfrm>
          <a:prstGeom prst="roundRect">
            <a:avLst>
              <a:gd name="adj" fmla="val 6316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3877056"/>
            <a:ext cx="77998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이름, 학년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학생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수강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과목번호=</a:t>
            </a:r>
            <a:r>
              <a:rPr lang="en-US" sz="105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'A003'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학생.학번=수강.학번);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30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고객·판매자·제품·주문 — 문제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298448"/>
          </a:xfrm>
          <a:prstGeom prst="roundRect">
            <a:avLst>
              <a:gd name="adj" fmla="val 5385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80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627632"/>
            <a:ext cx="7836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고객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(고객번호, 고객이름, 거주도시, 할인율)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판매자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(판매자번호, 판매자이름, 수수료, 판매지역)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제품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(제품번호, 제품명, 재고량, 가격)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주문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(주문번호, 고객번호, 제품번호, 판매자번호, 주문수량)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715768"/>
            <a:ext cx="8165592" cy="189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 </a:t>
            </a: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(C005, 채희성, 대구, 할인율 미정) 삽입.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 </a:t>
            </a: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방지호 고객의 주문수량을 20% 증가.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(3)  </a:t>
            </a: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재고량 50 미만 제품 삭제.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(4)  </a:t>
            </a: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가격이 최저가인 제품명 (중복 없이).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(5)  </a:t>
            </a: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제품명에 '부'가 포함된 제품을 주문한 고객의 이름.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(6)  </a:t>
            </a: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주문수량 합계 300 이상 고객별 주문횟수·주문수량 합계.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(7)  </a:t>
            </a: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지역 모든 판매자보다 수수료가 비싼 판매자의 이름·수수료·판매지역.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30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(1)~(3)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고객 삽입 (할인율 NULL)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1645920"/>
            <a:ext cx="8165592" cy="457200"/>
          </a:xfrm>
          <a:prstGeom prst="roundRect">
            <a:avLst>
              <a:gd name="adj" fmla="val 12000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" y="1773936"/>
            <a:ext cx="7799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고객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5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'C005'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'채희성'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'대구'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212848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방지호 주문수량 20% 증가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487168"/>
            <a:ext cx="8165592" cy="841248"/>
          </a:xfrm>
          <a:prstGeom prst="roundRect">
            <a:avLst>
              <a:gd name="adj" fmla="val 6522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2615184"/>
            <a:ext cx="7799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주문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주문수량=주문수량*1.2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고객번호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고객번호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고객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고객이름=</a:t>
            </a:r>
            <a:r>
              <a:rPr lang="en-US" sz="110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'방지호'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438144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(3) 재고량 50 미만 제품 삭제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712464"/>
            <a:ext cx="8165592" cy="548640"/>
          </a:xfrm>
          <a:prstGeom prst="roundRect">
            <a:avLst>
              <a:gd name="adj" fmla="val 10000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3840480"/>
            <a:ext cx="7799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재고량&lt;50;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30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(4)~(5)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(4) 최저가 제품명 (중복 없이)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1664208"/>
            <a:ext cx="8165592" cy="1188720"/>
          </a:xfrm>
          <a:prstGeom prst="roundRect">
            <a:avLst>
              <a:gd name="adj" fmla="val 4615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" y="17373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1975104"/>
            <a:ext cx="77998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제품명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가격 = (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(가격)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제품);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035808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(5) 제품명에 '부' 포함 제품을 주문한 고객 이름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328416"/>
            <a:ext cx="8165592" cy="109728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" y="34015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49808" y="3639312"/>
            <a:ext cx="77998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고객.고객이름</a:t>
            </a:r>
            <a:endParaRPr lang="en-US" sz="11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고객, 제품, 주문</a:t>
            </a:r>
            <a:endParaRPr lang="en-US" sz="11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제품.제품명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'%부%'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고객.고객번호=주문.고객번호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제품.제품번호=주문.제품번호;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30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(6)~(7)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(6) 주문수량 합계 ≥ 300 고객별 주문횟수·합계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1664208"/>
            <a:ext cx="8165592" cy="1188720"/>
          </a:xfrm>
          <a:prstGeom prst="roundRect">
            <a:avLst>
              <a:gd name="adj" fmla="val 4615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" y="17373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1975104"/>
            <a:ext cx="77998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고객번호,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주문횟수,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(주문수량)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주문수량합계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주문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고객번호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(주문수량)&gt;=300;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035808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(7) 서울 판매자 전원보다 수수료 큰 판매자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328416"/>
            <a:ext cx="8165592" cy="109728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" y="34015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49808" y="3639312"/>
            <a:ext cx="77998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판매자이름, 수수료, 판매지역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판매자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수수료 &gt;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수수료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판매자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판매지역=</a:t>
            </a:r>
            <a:r>
              <a:rPr lang="en-US" sz="120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'서울'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WRAP-UP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7장 SQL 핵심 정리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66928" y="1417320"/>
            <a:ext cx="259994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417320"/>
            <a:ext cx="2599944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618488"/>
            <a:ext cx="2234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 · 제약 (DDL)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2039112"/>
            <a:ext cx="2234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CREATE / ALTER / DROP
· PRIMARY KEY · FOREIGN KEY
· CHECK · DEFAULT · NOT NULL
· ON DELETE CASCADE
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49752" y="1417320"/>
            <a:ext cx="259994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49752" y="1417320"/>
            <a:ext cx="2599944" cy="8229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4" name="Text 12"/>
          <p:cNvSpPr/>
          <p:nvPr/>
        </p:nvSpPr>
        <p:spPr>
          <a:xfrm>
            <a:off x="3532632" y="1618488"/>
            <a:ext cx="2234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· 조작 (DML)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32632" y="2039112"/>
            <a:ext cx="2234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SELECT 4절: WHERE·GROUP BY·HAVING·ORDER BY
· JOIN(INNER/OUTER) · 부속질의
· IN · EXISTS · ALL · LIKE
· 집계: COUNT·SUM·AVG·MIN·MAX
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32576" y="1417320"/>
            <a:ext cx="259994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32576" y="1417320"/>
            <a:ext cx="2599944" cy="82296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8" name="Text 16"/>
          <p:cNvSpPr/>
          <p:nvPr/>
        </p:nvSpPr>
        <p:spPr>
          <a:xfrm>
            <a:off x="6315456" y="1618488"/>
            <a:ext cx="2234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 · 권한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15456" y="2039112"/>
            <a:ext cx="2234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CREATE / DROP VIEW
· WITH CHECK OPTION
· 논리적 독립성 · 보안 제공
· GRANT · REVOKE (DCL)
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950208"/>
            <a:ext cx="8165592" cy="713232"/>
          </a:xfrm>
          <a:prstGeom prst="roundRect">
            <a:avLst>
              <a:gd name="adj" fmla="val 8974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950208"/>
            <a:ext cx="7763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요약  </a:t>
            </a: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구조는 DDL, 데이터는 DML, 권한·트랜잭션은 DCL — NULL 비교는 IS NULL, 그룹 조건은 HAVING을 잊지 말 것.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4315968"/>
            <a:ext cx="457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FA7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9328" y="4480560"/>
            <a:ext cx="292608" cy="2926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4114800"/>
            <a:ext cx="146304" cy="146304"/>
          </a:xfrm>
          <a:prstGeom prst="rect">
            <a:avLst/>
          </a:prstGeom>
          <a:solidFill>
            <a:srgbClr val="3FA7C9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0116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수고하셨습니다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of Chapter 7 — SQL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41248" y="3566160"/>
            <a:ext cx="2103120" cy="2560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E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개론  ·  7장 SQL 연습문제 (문제 → 정답)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05740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4288</Words>
  <Application>Microsoft Office PowerPoint</Application>
  <PresentationFormat>화면 슬라이드 쇼(16:9)</PresentationFormat>
  <Paragraphs>706</Paragraphs>
  <Slides>53</Slides>
  <Notes>53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58" baseType="lpstr">
      <vt:lpstr>맑은 고딕</vt:lpstr>
      <vt:lpstr>Arial</vt:lpstr>
      <vt:lpstr>Consolas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Sangdon</cp:lastModifiedBy>
  <cp:revision>3</cp:revision>
  <dcterms:created xsi:type="dcterms:W3CDTF">2026-05-30T07:03:22Z</dcterms:created>
  <dcterms:modified xsi:type="dcterms:W3CDTF">2026-06-01T13:01:59Z</dcterms:modified>
</cp:coreProperties>
</file>