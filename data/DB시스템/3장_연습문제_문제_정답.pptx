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문제입니다. 스키마에 대한 설명으로 거리가 먼 것을 고르는 문제예요.
정답은 1번, "데이터베이스를 운용하는 소프트웨어다"입니다.
스키마는 데이터베이스에 저장되는 데이터의 구조와 제약조건을 정의한 것입니다. 소프트웨어가 아니에요. 데이터베이스를 운용하는 소프트웨어는 DBMS입니다. 스키마와 DBMS를 혼동하지 마세요.
나머지 보기를 보면, 스키마는 데이터 사전에 저장되고, 메타 데이터라고도 하며, 데이터 구조와 제약조건에 대한 정의입니다. 모두 맞는 설명이에요.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문제입니다. 설명을 읽고 어떤 스키마인지 찾는 문제예요.
정답은 3번, 내부 스키마입니다.
키워드를 보세요. "물리적 저장 장치의 관점", "레코드의 구조", "물리적 순서", "인덱스를 이용한 접근 경로". 전부 물리적인 것들이죠. 물리적인 저장 방법을 다루는 스키마는 내부 스키마입니다.
3단계 구조를 정리하면, 외부 스키마는 사용자 관점, 개념 스키마는 조직 전체 관점, 내부 스키마는 물리적 저장 장치 관점입니다. 이 세 가지의 "관점"이 핵심이에요.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문제입니다. 역시 스키마 종류를 묻는 문제예요.
정답은 1번, 외부 스키마입니다.
두 가지 핵심 키워드가 있습니다. 첫째 "사용자 관점", 둘째 "여러 개가 존재할 수 있다". 이 두 가지를 동시에 만족하는 것은 외부 스키마뿐입니다. 개념 스키마는 하나만 존재하고, 내부 스키마도 하나만 존재합니다. 외부 스키마만 사용자마다 다르게 여러 개 존재할 수 있어요. 서브 스키마라고도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문제입니다. 개념 스키마에 대한 설명으로 옳은 것을 모두 고르는 문제예요. 꼼꼼히 봐야 합니다.
정답은 2번, 5번, 6번입니다.
하나씩 보겠습니다. 1번 "사용자 관점"은 외부 스키마입니다. 2번 "조직 전체의 관점"은 개념 스키마 맞습니다. 3번 "저장 장치 관점"은 내부 스키마입니다. 4번 "여러 개 존재"는 외부 스키마의 특징이에요. 5번 "관계와 제약조건 정의"는 개념 스키마 맞습니다. 6번 "접근 권한, 보안 정책"도 개념 스키마가 담당합니다. 7번 "물리적 저장 방법"은 내부 스키마이고, 8번 "서브 스키마"는 외부 스키마의 다른 이름입니다.
시험에서 이런 복수 정답 문제가 나오면, 각 보기가 외부/개념/내부 중 어디에 해당하는지 하나씩 판별하세요.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 문제입니다. 사상을 명세하는 것이 DBMS의 어떤 기능인지 묻고 있어요.
정답은 2번, 정의 기능입니다.
"사상 기능"이라는 독립적인 기능은 없습니다. 사상의 명세는 정의 기능에 포함되어 있어요. DBMS의 3대 기능을 다시 정리하면, 정의 기능은 스키마를 정의하고 스키마 간의 사상을 명세하는 것, 조작 기능은 데이터를 삽입·삭제·수정·검색하는 것, 제어 기능은 무결성, 보안, 동시성을 유지하는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6번 문제입니다. 논리적 데이터 독립성을 설명한 것을 찾는 문제예요. 많이 헷갈리는 문제입니다.
정답은 3번입니다. "개별 사용자의 데이터 관점을 변경하지 않고 전체 데이터베이스의 논리적 구조를 변경할 수 있다."
논리적 독립성의 핵심은 "개념 스키마가 변해도 외부 스키마는 영향받지 않는다"는 것입니다. 3번이 바로 이 말을 하고 있어요. 전체 논리적 구조가 개념 스키마이고, 개별 사용자의 데이터 관점이 외부 스키마입니다.
1번, 2번, 4번은 모두 물리적 독립성에 대한 설명입니다. "물리적 구조 변경"이 키워드로 나오면 물리적 독립성이에요.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 문제입니다. 물리적 데이터 독립성의 정의를 고르는 문제예요.
정답은 4번입니다. "기존 응용 프로그램에 영향을 주지 않고 데이터베이스의 물리적 구조를 변경할 수 있는 것."
물리적 독립성은 내부 스키마가 변해도 개념 스키마가 영향받지 않는 것입니다. 결과적으로 외부 스키마도 영향받지 않으니까 응용 프로그램도 수정할 필요가 없어요. 1번과 2번은 독립성이 아니라 종속성이고, 3번은 "변경할 수 없는 것"이니까 반대입니다.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 문제입니다. 데이터 사전에 대해 옳지 않은 것을 찾는 문제예요.
정답은 4번입니다. "일반 사용자는 내용을 검색할 수 없다"는 틀린 설명이에요.
데이터 사전은 시스템 데이터베이스, 시스템 카탈로그라고도 하는데, 일반 사용자도 검색은 할 수 있습니다. 다만 직접 추가하거나 수정할 수 없을 뿐이에요. 3번 "수정 불가"는 맞는 설명이고, 4번 "검색 불가"는 틀린 설명입니다. 이 차이를 구분하세요.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 문제입니다. 8번과 비슷한데 이번엔 옳은 것을 고르는 문제예요.
정답은 4번입니다. "메타 데이터를 가지고 있는 시스템 데이터베이스로 시스템 카탈로그라고도 한다."
1번이 왜 틀리냐면, 데이터 사전은 DBA가 아니라 DBMS가 자동으로 생성하고 유지합니다. 2번은 DBMS에 의해 내용이 추가·수정됩니다. 사용자가 직접 못 할 뿐이에요. 3번은 아까 8번에서 본 것처럼 일반 사용자도 검색은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 문제입니다. DBA의 업무가 아닌 것을 고르는 문제예요.
정답은 3번, "응용 프로그램의 개발"입니다.
응용 프로그램을 개발하는 것은 응용 프로그래머의 업무이지 DBA의 업무가 아닙니다. DBA는 스키마 정의, 보안 정책, 제약조건 정의, 백업/회복, 성능 감시 같은 데이터베이스 관리 업무를 담당합니다. 데이터베이스 사용자를 구분할 때 DBA, 응용 프로그래머, 일반 사용자로 나누는데, 각자의 역할이 다르다는 점을 기억하세요.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 문제입니다. 데이터 언어의 종류를 묻는 문제예요.
정답은 2번, 데이터 조작어 DML입니다.
"삽입·삭제·수정·검색"이라는 키워드가 나오면 바로 DML입니다. DDL은 스키마의 정의·변경·삭제이고, DCL은 무결성·보안·동시성 제어이고, DRL이라는 것은 존재하지 않습니다. SQL에서 DML에 해당하는 명령어는 SELECT, INSERT, UPDATE, DELETE입니다.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 문제입니다. DCL의 기능이 아닌 것을 고르는 문제예요.
정답은 4번, "스키마 정의"입니다.
스키마 정의는 DDL의 기능이에요. DCL의 기능은 무결성 유지, 회복, 동시 공유 제어, 접근 제어, 권한 부여 등입니다. DDL과 DCL을 혼동하지 않도록 주의하세요. DDL은 "구조"에 대한 것이고, DCL은 "제어"에 대한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13번 문제입니다. 스키마를 정의·변경·삭제하는 데이터 언어를 묻고 있어요.
정답은 1번, 데이터 정의어입니다.
"스키마"와 "정의"라는 키워드가 나오면 DDL입니다. SQL에서 DDL에 해당하는 명령어는 CREATE(생성), ALTER(변경), DROP(삭제)입니다. 7장에서 본격적으로 배울 내용이에요.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14번 문제입니다. 보안, 무결성, 회복과 관련된 데이터 언어를 묻고 있어요.
정답은 3번, 데이터 제어어 DCL입니다.
"보안", "무결성", "회복" 이 세 가지 키워드가 나오면 DCL입니다. SQL에서 GRANT(권한 부여), REVOKE(권한 취소)가 DCL에 해당합니다. 데이터 언어 세 가지를 정리하면, DDL은 구조 관련, DML은 데이터 조작 관련, DCL은 안전·보안 관련입니다.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15번 문제입니다. DBMS 역할에 대해 옳지 않은 것을 찾는 문제예요.
정답은 2번입니다. "데이터 조작어로 스키마 구조를 기술하여 데이터 사전에 저장한다"가 틀렸어요.
스키마 구조를 기술하는 것은 데이터 조작어(DML)가 아니라 데이터 정의어(DDL)입니다. DDL 컴파일러가 DDL로 작성된 스키마 정의를 해석하여 데이터 사전에 저장하는 거예요. DML과 DDL을 바꿔놓은 함정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16번 문제입니다. DBMS 내부 구성 요소들의 역할을 짝짓는 문제예요. 좀 어렵습니다.
정답은 3번입니다.
하나씩 보겠습니다. ㉠ "스키마 정의를 해석하고 데이터 사전에 저장"하는 것은 DDL 컴파일러입니다. ㉡ "저장 데이터 관리자를 통해 실제로 처리 요구를 실행"하는 것은 런타임 데이터베이스 처리기입니다. ㉢ "응용 프로그램에 삽입된 DML을 추출"하는 것은 DML 프리 컴파일러입니다. ㉣ "접근 권한, 무결성 제약조건 검사"는 트랜잭션 관리자의 역할입니다.
이 네 가지 구성 요소의 역할을 잘 구분해두세요.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17번 서술형 문제입니다.
정답은 Ⓐ가 스키마, Ⓑ가 인스턴스입니다.
스키마와 인스턴스의 관계를 정확히 이해하는 것이 중요합니다. 스키마는 "틀"이고, 인스턴스는 그 틀에 실제로 채워진 "값"입니다. 비유하면 스키마는 엑셀의 헤더 행이고, 인스턴스는 그 아래에 입력된 데이터 행들입니다. 스키마는 잘 변하지 않지만 인스턴스는 계속 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18번 서술형 문제입니다.
정답은 "개념/내부 사상"입니다. 저장 인터페이스라고도 해요.
3단계 구조에는 두 가지 사상이 있습니다. 외부/개념 사상은 외부 스키마와 개념 스키마의 대응 관계이고, 개념/내부 사상은 개념 스키마와 내부 스키마의 대응 관계입니다. 이 문제에서는 "개념 스키마와 내부 스키마"라고 했으므로 개념/내부 사상입니다.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19번 서술형 문제입니다.
Ⓐ는 "데이터 독립성", Ⓑ는 "논리적 데이터 독립성"입니다.
데이터 독립성은 하위 스키마가 변해도 상위 스키마가 영향받지 않는 특성입니다. 두 종류가 있어요. 논리적 독립성은 개념 스키마가 변해도 외부 스키마가 영향받지 않는 것이고, 물리적 독립성은 내부 스키마가 변해도 개념 스키마가 영향받지 않는 것입니다. 외부/개념 사상과 개념/내부 사상이 이 독립성을 실현해줍니다.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20번 서술형 문제입니다.
Ⓐ는 "데이터 사전", Ⓑ는 "데이터 디렉토리"입니다.
데이터 사전과 데이터 디렉토리를 구분하는 것이 포인트예요. 데이터 사전은 스키마, 매핑, 제약조건 같은 메타 데이터를 저장하는 곳입니다. 데이터 디렉토리는 데이터 사전에 있는 정보에 실제로 접근하기 위한 위치 정보를 관리하는 곳이에요. 쉽게 말하면 데이터 사전이 "전화번호부"라면, 데이터 디렉토리는 그 전화번호부가 "어느 서랍에 있는지"를 알려주는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21번 서술형 문제입니다.
Ⓐ는 "질의 처리기", Ⓑ는 "저장 데이터 관리자"입니다.
DBMS의 내부 구조를 크게 두 부분으로 나눌 수 있어요. 질의 처리기는 사용자의 데이터 처리 요구를 해석하고 처리하는 역할을 합니다. DDL 컴파일러, DML 컴파일러, 런타임 DB 처리기 등이 여기에 포함됩니다. 저장 데이터 관리자는 디스크에 실제로 저장된 데이터베이스와 데이터 사전에 접근하는 역할을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22번 서술형 문제입니다. 정보처리기사 실기에도 나온 문제예요.
모범답안은 "스키마는 데이터베이스에 저장되는 데이터 구조와 제약조건을 정의한 것이다"입니다.
시험에서 이 문제가 나오면 "데이터 구조"와 "제약조건"이라는 두 가지 키워드를 반드시 포함해서 쓰세요. 추가로 "메타 데이터라고도 한다"까지 쓰면 더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23번 서술형 문제입니다.
모범답안은 "데이터베이스에 데이터를 저장하고, 저장된 데이터를 관리하여 조직에 필요한 정보를 생성해주는 시스템"입니다.
데이터베이스 시스템은 단순히 데이터베이스만을 의미하는 것이 아닙니다. 데이터베이스, 사용자, DBMS, 데이터 언어, 컴퓨터까지 모두 포함하는 전체 시스템을 의미합니다. 24번 문제에서 이 구성 요소를 더 자세히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24번 서술형 문제입니다. DB 시스템의 구성 요소 5가지를 써야 해요.
정답은 데이터베이스, 사용자, DBMS, 데이터 언어, 컴퓨터입니다.
하나씩 설명하면, 데이터베이스는 데이터의 집합이고, 사용자는 데이터베이스를 이용하는 모든 사람이고, DBMS는 데이터베이스를 관리하는 소프트웨어이고, 데이터 언어는 사용자와 DBMS 사이의 통신 수단이고, 컴퓨터는 이 모든 것을 설치하고 운영하는 하드웨어입니다. 시험에서 5가지를 빠짐없이 쓸 수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25번 서술형 문제입니다. 3장에서 가장 중요한 서술형 문제예요.
데이터 독립성은 "하위 스키마를 변경해도 상위 스키마가 영향을 받지 않는 특성"입니다. 3단계 구조에서는 "스키마 사이의 사상(매핑) 정보"를 이용해서 실현합니다.
구체적으로, 논리적 독립성은 개념 스키마가 변해도 외부/개념 사상 정보만 수정하면 외부 스키마는 변경할 필요가 없습니다. 물리적 독립성은 내부 스키마가 변해도 개념/내부 사상 정보만 수정하면 개념 스키마는 영향받지 않습니다.
시험에서 이 문제가 나오면 "사상"이라는 키워드를 반드시 포함시키세요.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26번 서술형 문제입니다. DBA의 주요 업무를 나열하는 문제예요.
교재에 나온 주요 업무를 정리하면, 데이터베이스 스키마 정의, 물리적 저장 구조와 접근 방법 결정, 무결성 유지를 위한 제약조건 정의, 보안 및 접근 권한 정책 결정, 백업 및 회복 기법 정의, 시스템 성능 감시 및 분석, 데이터베이스 재구성 등입니다.
시험에서는 이 중 4~5가지만 쓰면 충분합니다. 핵심은 "스키마 정의, 보안, 제약조건, 백업/회복, 성능 감시"입니다.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27번 서술형 문제입니다. 데이터 언어 세 가지를 분류하고 설명하는 문제예요.
첫째, 데이터 정의어 DDL은 스키마를 정의하거나 수정 또는 삭제하기 위해 사용합니다. CREATE, ALTER, DROP이 해당됩니다.
둘째, 데이터 조작어 DML은 데이터의 삽입, 삭제, 수정, 검색 처리를 요구하기 위해 사용합니다. SELECT, INSERT, UPDATE, DELETE가 해당됩니다.
셋째, 데이터 제어어 DCL은 동시 공유가 가능하면서도 무결성과 일관성을 유지하기 위해 사용합니다. GRANT, REVOKE 등이 해당됩니다.
이 세 가지는 7장 SQL을 배울 때 다시 나오니까 확실히 외워두세요. 이것으로 3장 연습문제 풀이를 마치겠습니다.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0"/>
            <a:ext cx="54864" cy="5143500"/>
          </a:xfrm>
          <a:prstGeom prst="rect">
            <a:avLst/>
          </a:prstGeom>
          <a:solidFill>
            <a:srgbClr val="0891B2"/>
          </a:solidFill>
          <a:ln/>
        </p:spPr>
      </p:sp>
      <p:sp>
        <p:nvSpPr>
          <p:cNvPr id="5" name="Text 3"/>
          <p:cNvSpPr/>
          <p:nvPr/>
        </p:nvSpPr>
        <p:spPr>
          <a:xfrm>
            <a:off x="731520" y="457200"/>
            <a:ext cx="5486400" cy="457200"/>
          </a:xfrm>
          <a:prstGeom prst="rect">
            <a:avLst/>
          </a:prstGeom>
          <a:noFill/>
          <a:ln/>
        </p:spPr>
        <p:txBody>
          <a:bodyPr wrap="square" rtlCol="0" anchor="ctr"/>
          <a:lstStyle/>
          <a:p>
            <a:pPr indent="0" marL="0">
              <a:buNone/>
            </a:pPr>
            <a:r>
              <a:rPr lang="en-US" sz="1400" spc="400" kern="0" dirty="0">
                <a:solidFill>
                  <a:srgbClr val="22D3EE"/>
                </a:solidFill>
                <a:latin typeface="Arial" pitchFamily="34" charset="0"/>
                <a:ea typeface="Arial" pitchFamily="34" charset="-122"/>
                <a:cs typeface="Arial" pitchFamily="34" charset="-120"/>
              </a:rPr>
              <a:t>C H A P T E R   03</a:t>
            </a:r>
            <a:endParaRPr lang="en-US" sz="1400" dirty="0"/>
          </a:p>
        </p:txBody>
      </p:sp>
      <p:sp>
        <p:nvSpPr>
          <p:cNvPr id="6" name="Text 4"/>
          <p:cNvSpPr/>
          <p:nvPr/>
        </p:nvSpPr>
        <p:spPr>
          <a:xfrm>
            <a:off x="731520" y="1005840"/>
            <a:ext cx="7315200" cy="1097280"/>
          </a:xfrm>
          <a:prstGeom prst="rect">
            <a:avLst/>
          </a:prstGeom>
          <a:noFill/>
          <a:ln/>
        </p:spPr>
        <p:txBody>
          <a:bodyPr wrap="square" rtlCol="0" anchor="ctr"/>
          <a:lstStyle/>
          <a:p>
            <a:pPr indent="0" marL="0">
              <a:buNone/>
            </a:pPr>
            <a:r>
              <a:rPr lang="en-US" sz="4400" b="1" dirty="0">
                <a:solidFill>
                  <a:srgbClr val="FFFFFF"/>
                </a:solidFill>
                <a:latin typeface="맑은 고딕" pitchFamily="34" charset="0"/>
                <a:ea typeface="맑은 고딕" pitchFamily="34" charset="-122"/>
                <a:cs typeface="맑은 고딕" pitchFamily="34" charset="-120"/>
              </a:rPr>
              <a:t>데이터베이스 시스템</a:t>
            </a:r>
            <a:endParaRPr lang="en-US" sz="4400" dirty="0"/>
          </a:p>
        </p:txBody>
      </p:sp>
      <p:sp>
        <p:nvSpPr>
          <p:cNvPr id="7" name="Text 5"/>
          <p:cNvSpPr/>
          <p:nvPr/>
        </p:nvSpPr>
        <p:spPr>
          <a:xfrm>
            <a:off x="731520" y="2194560"/>
            <a:ext cx="5486400" cy="457200"/>
          </a:xfrm>
          <a:prstGeom prst="rect">
            <a:avLst/>
          </a:prstGeom>
          <a:noFill/>
          <a:ln/>
        </p:spPr>
        <p:txBody>
          <a:bodyPr wrap="square" rtlCol="0" anchor="ctr"/>
          <a:lstStyle/>
          <a:p>
            <a:pPr indent="0" marL="0">
              <a:buNone/>
            </a:pPr>
            <a:r>
              <a:rPr lang="en-US" sz="1800" dirty="0">
                <a:solidFill>
                  <a:srgbClr val="22D3EE"/>
                </a:solidFill>
                <a:latin typeface="맑은 고딕" pitchFamily="34" charset="0"/>
                <a:ea typeface="맑은 고딕" pitchFamily="34" charset="-122"/>
                <a:cs typeface="맑은 고딕" pitchFamily="34" charset="-120"/>
              </a:rPr>
              <a:t>연습문제 &amp; 정답/해설</a:t>
            </a:r>
            <a:endParaRPr lang="en-US" sz="1800" dirty="0"/>
          </a:p>
        </p:txBody>
      </p:sp>
      <p:sp>
        <p:nvSpPr>
          <p:cNvPr id="8" name="Shape 6"/>
          <p:cNvSpPr/>
          <p:nvPr/>
        </p:nvSpPr>
        <p:spPr>
          <a:xfrm>
            <a:off x="731520" y="2926080"/>
            <a:ext cx="2286000" cy="36576"/>
          </a:xfrm>
          <a:prstGeom prst="rect">
            <a:avLst/>
          </a:prstGeom>
          <a:solidFill>
            <a:srgbClr val="0891B2"/>
          </a:solidFill>
          <a:ln/>
        </p:spPr>
      </p:sp>
      <p:sp>
        <p:nvSpPr>
          <p:cNvPr id="9" name="Text 7"/>
          <p:cNvSpPr/>
          <p:nvPr/>
        </p:nvSpPr>
        <p:spPr>
          <a:xfrm>
            <a:off x="731520" y="3200400"/>
            <a:ext cx="4572000" cy="822960"/>
          </a:xfrm>
          <a:prstGeom prst="rect">
            <a:avLst/>
          </a:prstGeom>
          <a:noFill/>
          <a:ln/>
        </p:spPr>
        <p:txBody>
          <a:bodyPr wrap="square" rtlCol="0" anchor="ctr"/>
          <a:lstStyle/>
          <a:p>
            <a:pPr indent="0" marL="0">
              <a:buNone/>
            </a:pPr>
            <a:r>
              <a:rPr lang="en-US" sz="1600" b="1" dirty="0">
                <a:solidFill>
                  <a:srgbClr val="FFFFFF"/>
                </a:solidFill>
                <a:latin typeface="맑은 고딕" pitchFamily="34" charset="0"/>
                <a:ea typeface="맑은 고딕" pitchFamily="34" charset="-122"/>
                <a:cs typeface="맑은 고딕" pitchFamily="34" charset="-120"/>
              </a:rPr>
              <a:t>박상돈 조교수</a:t>
            </a:r>
            <a:endParaRPr lang="en-US" sz="1600" dirty="0"/>
          </a:p>
          <a:p>
            <a:pPr indent="0" marL="0">
              <a:buNone/>
            </a:pPr>
            <a:r>
              <a:rPr lang="en-US" sz="1200" dirty="0">
                <a:solidFill>
                  <a:srgbClr val="94A3B8"/>
                </a:solidFill>
                <a:latin typeface="Calibri" pitchFamily="34" charset="0"/>
                <a:ea typeface="Calibri" pitchFamily="34" charset="-122"/>
                <a:cs typeface="Calibri" pitchFamily="34" charset="-120"/>
              </a:rPr>
              <a:t>대전대학교 컴퓨터공학과</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스키마에 대한 설명으로 거리가 먼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데이터베이스를 운용하는 소프트웨어다.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데이터 사전(data dictionary)에 저장된다.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메타 데이터(meta data)라고도 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데이터베이스에 저장되는 데이터 구조와 제약조건에 대한 정의다.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 / 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스키마에 대한 설명으로 거리가 먼 것은?</a:t>
            </a:r>
            <a:endParaRPr lang="en-US" sz="1200" dirty="0"/>
          </a:p>
        </p:txBody>
      </p:sp>
      <p:sp>
        <p:nvSpPr>
          <p:cNvPr id="8" name="Shape 6"/>
          <p:cNvSpPr/>
          <p:nvPr/>
        </p:nvSpPr>
        <p:spPr>
          <a:xfrm>
            <a:off x="502920" y="1069848"/>
            <a:ext cx="8138160" cy="256032"/>
          </a:xfrm>
          <a:prstGeom prst="rect">
            <a:avLst/>
          </a:prstGeom>
          <a:solidFill>
            <a:srgbClr val="FEE2E2"/>
          </a:solidFill>
          <a:ln/>
        </p:spPr>
      </p:sp>
      <p:sp>
        <p:nvSpPr>
          <p:cNvPr id="9" name="Text 7"/>
          <p:cNvSpPr/>
          <p:nvPr/>
        </p:nvSpPr>
        <p:spPr>
          <a:xfrm>
            <a:off x="640080" y="1069848"/>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① 데이터베이스를 운용하는 소프트웨어다.</a:t>
            </a:r>
            <a:endParaRPr lang="en-US" sz="1100" dirty="0"/>
          </a:p>
        </p:txBody>
      </p:sp>
      <p:sp>
        <p:nvSpPr>
          <p:cNvPr id="10" name="Text 8"/>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데이터 사전(data dictionary)에 저장된다.</a:t>
            </a:r>
            <a:endParaRPr lang="en-US" sz="1100" dirty="0"/>
          </a:p>
        </p:txBody>
      </p:sp>
      <p:sp>
        <p:nvSpPr>
          <p:cNvPr id="11" name="Text 9"/>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메타 데이터(meta data)라고도 한다.</a:t>
            </a:r>
            <a:endParaRPr lang="en-US" sz="1100" dirty="0"/>
          </a:p>
        </p:txBody>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데이터베이스에 저장되는 데이터 구조와 제약조건에 대한 정의다.</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스키마는 데이터 구조와 제약조건을 정의한 것이지, 소프트웨어가 아닙니다. 소프트웨어는 DBMS입니다.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 / 27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3단계 데이터베이스 구조에서 다음 설명과 관련 있는 스키마는?</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"데이터베이스를 물리적 저장 장치의 관점에서 이해한 구조다. 레코드의 구조, 필드 크기, 레코드의 물리적 순서, 인덱스를 이용한 접근 경로 등 실제 저장 방법을 정의한다."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외부 스키마  ② 개념 스키마  ③ 내부 스키마  ④ 슈퍼 스키마</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 / 27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3단계 데이터베이스 구조에서 다음 설명과 관련 있는 스키마는?</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"데이터베이스를 물리적 저장 장치의 관점에서 이해한 구조다. 레코드의 구조, 필드 크기, 레코드의 물리적 순서, 인덱스를 이용한 접근 경로 등 실제 저장 방법을 정의한다."</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외부 스키마  ② 개념 스키마  ③ 내부 스키마  ④ 슈퍼 스키마</a:t>
            </a:r>
            <a:endParaRPr lang="en-US" sz="1100" dirty="0"/>
          </a:p>
        </p:txBody>
      </p:sp>
      <p:sp>
        <p:nvSpPr>
          <p:cNvPr id="10" name="Shape 8"/>
          <p:cNvSpPr/>
          <p:nvPr/>
        </p:nvSpPr>
        <p:spPr>
          <a:xfrm>
            <a:off x="548640" y="1655064"/>
            <a:ext cx="8046720" cy="10973"/>
          </a:xfrm>
          <a:prstGeom prst="rect">
            <a:avLst/>
          </a:prstGeom>
          <a:solidFill>
            <a:srgbClr val="E2E8F0"/>
          </a:solidFill>
          <a:ln/>
        </p:spPr>
      </p:sp>
      <p:sp>
        <p:nvSpPr>
          <p:cNvPr id="11" name="Shape 9"/>
          <p:cNvSpPr/>
          <p:nvPr/>
        </p:nvSpPr>
        <p:spPr>
          <a:xfrm>
            <a:off x="548640" y="1764792"/>
            <a:ext cx="8046720" cy="2944368"/>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2" name="Shape 10"/>
          <p:cNvSpPr/>
          <p:nvPr/>
        </p:nvSpPr>
        <p:spPr>
          <a:xfrm>
            <a:off x="548640" y="1764792"/>
            <a:ext cx="54864" cy="2944368"/>
          </a:xfrm>
          <a:prstGeom prst="rect">
            <a:avLst/>
          </a:prstGeom>
          <a:solidFill>
            <a:srgbClr val="0891B2"/>
          </a:solidFill>
          <a:ln/>
        </p:spPr>
      </p:sp>
      <p:sp>
        <p:nvSpPr>
          <p:cNvPr id="13" name="Text 11"/>
          <p:cNvSpPr/>
          <p:nvPr/>
        </p:nvSpPr>
        <p:spPr>
          <a:xfrm>
            <a:off x="777240" y="1810512"/>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4" name="Text 12"/>
          <p:cNvSpPr/>
          <p:nvPr/>
        </p:nvSpPr>
        <p:spPr>
          <a:xfrm>
            <a:off x="777240" y="2039112"/>
            <a:ext cx="7589520" cy="2578608"/>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물리적 저장 장치의 관점, 레코드 구조, 물리적 순서, 접근 경로 → 내부 스키마의 특징입니다.</a:t>
            </a:r>
            <a:endParaRPr lang="en-US" sz="1200" dirty="0"/>
          </a:p>
        </p:txBody>
      </p:sp>
      <p:sp>
        <p:nvSpPr>
          <p:cNvPr id="15" name="Text 13"/>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 / 27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3</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3단계 데이터베이스 구조에서 다음 설명과 관련 있는 스키마는?</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"데이터베이스를 사용자 관점에서 이해한 구조다. 각 사용자에게 필요한 데이터베이스의 구조를 정의하여 하나의 데이터베이스에 여러 개가 존재할 수 있다."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외부 스키마  ② 개념 스키마  ③ 내부 스키마  ④ 슈퍼 스키마</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3 / 27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3</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3단계 데이터베이스 구조에서 다음 설명과 관련 있는 스키마는?</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"데이터베이스를 사용자 관점에서 이해한 구조다. 각 사용자에게 필요한 데이터베이스의 구조를 정의하여 하나의 데이터베이스에 여러 개가 존재할 수 있다."</a:t>
            </a:r>
            <a:endParaRPr lang="en-US" sz="1100" dirty="0"/>
          </a:p>
        </p:txBody>
      </p:sp>
      <p:sp>
        <p:nvSpPr>
          <p:cNvPr id="9" name="Shape 7"/>
          <p:cNvSpPr/>
          <p:nvPr/>
        </p:nvSpPr>
        <p:spPr>
          <a:xfrm>
            <a:off x="502920" y="1325880"/>
            <a:ext cx="8138160" cy="256032"/>
          </a:xfrm>
          <a:prstGeom prst="rect">
            <a:avLst/>
          </a:prstGeom>
          <a:solidFill>
            <a:srgbClr val="FEE2E2"/>
          </a:solidFill>
          <a:ln/>
        </p:spPr>
      </p:sp>
      <p:sp>
        <p:nvSpPr>
          <p:cNvPr id="10" name="Text 8"/>
          <p:cNvSpPr/>
          <p:nvPr/>
        </p:nvSpPr>
        <p:spPr>
          <a:xfrm>
            <a:off x="640080" y="1325880"/>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① 외부 스키마  ② 개념 스키마  ③ 내부 스키마  ④ 슈퍼 스키마</a:t>
            </a:r>
            <a:endParaRPr lang="en-US" sz="1100" dirty="0"/>
          </a:p>
        </p:txBody>
      </p:sp>
      <p:sp>
        <p:nvSpPr>
          <p:cNvPr id="11" name="Shape 9"/>
          <p:cNvSpPr/>
          <p:nvPr/>
        </p:nvSpPr>
        <p:spPr>
          <a:xfrm>
            <a:off x="548640" y="1655064"/>
            <a:ext cx="8046720" cy="10973"/>
          </a:xfrm>
          <a:prstGeom prst="rect">
            <a:avLst/>
          </a:prstGeom>
          <a:solidFill>
            <a:srgbClr val="E2E8F0"/>
          </a:solidFill>
          <a:ln/>
        </p:spPr>
      </p:sp>
      <p:sp>
        <p:nvSpPr>
          <p:cNvPr id="12" name="Shape 10"/>
          <p:cNvSpPr/>
          <p:nvPr/>
        </p:nvSpPr>
        <p:spPr>
          <a:xfrm>
            <a:off x="548640" y="1764792"/>
            <a:ext cx="8046720" cy="2944368"/>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764792"/>
            <a:ext cx="54864" cy="2944368"/>
          </a:xfrm>
          <a:prstGeom prst="rect">
            <a:avLst/>
          </a:prstGeom>
          <a:solidFill>
            <a:srgbClr val="0891B2"/>
          </a:solidFill>
          <a:ln/>
        </p:spPr>
      </p:sp>
      <p:sp>
        <p:nvSpPr>
          <p:cNvPr id="14" name="Text 12"/>
          <p:cNvSpPr/>
          <p:nvPr/>
        </p:nvSpPr>
        <p:spPr>
          <a:xfrm>
            <a:off x="777240" y="1810512"/>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5" name="Text 13"/>
          <p:cNvSpPr/>
          <p:nvPr/>
        </p:nvSpPr>
        <p:spPr>
          <a:xfrm>
            <a:off x="777240" y="2039112"/>
            <a:ext cx="7589520" cy="2578608"/>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사용자 관점 + 여러 개 존재 가능 → 외부 스키마(서브 스키마)입니다.</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3 / 27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4</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64008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개념 스키마(conceptual schema)에 대한 설명으로 옳은 것을 모두 고르시오.</a:t>
            </a:r>
            <a:endParaRPr lang="en-US" sz="1500" dirty="0"/>
          </a:p>
        </p:txBody>
      </p:sp>
      <p:sp>
        <p:nvSpPr>
          <p:cNvPr id="9" name="Shape 7"/>
          <p:cNvSpPr/>
          <p:nvPr/>
        </p:nvSpPr>
        <p:spPr>
          <a:xfrm>
            <a:off x="548640" y="1645920"/>
            <a:ext cx="8046720" cy="30175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783080"/>
            <a:ext cx="7498080" cy="274320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사용자 관점에서 본 데이터베이스의 구조다.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조직 전체의 관점에서 본 데이터베이스의 구조다.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저장 장치의 관점에서 본 데이터베이스의 구조다.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여러 개가 존재할 수 있다.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⑤ 데이터들 간의 관계와 제약조건을 정의한다.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⑥ 접근 권한, 보안 정책을 정의한다.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⑦ 데이터를 물리적으로 저장하는 방법을 정의한다.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⑧ 서브 스키마(sub schema)라고도 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4 / 27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4</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개념 스키마(conceptual schema)에 대한 설명으로 옳은 것을 모두 고르시오.</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사용자 관점에서 본 데이터베이스의 구조다.</a:t>
            </a:r>
            <a:endParaRPr lang="en-US" sz="1100" dirty="0"/>
          </a:p>
        </p:txBody>
      </p:sp>
      <p:sp>
        <p:nvSpPr>
          <p:cNvPr id="9" name="Shape 7"/>
          <p:cNvSpPr/>
          <p:nvPr/>
        </p:nvSpPr>
        <p:spPr>
          <a:xfrm>
            <a:off x="502920" y="1325880"/>
            <a:ext cx="8138160" cy="256032"/>
          </a:xfrm>
          <a:prstGeom prst="rect">
            <a:avLst/>
          </a:prstGeom>
          <a:solidFill>
            <a:srgbClr val="FEE2E2"/>
          </a:solidFill>
          <a:ln/>
        </p:spPr>
      </p:sp>
      <p:sp>
        <p:nvSpPr>
          <p:cNvPr id="10" name="Text 8"/>
          <p:cNvSpPr/>
          <p:nvPr/>
        </p:nvSpPr>
        <p:spPr>
          <a:xfrm>
            <a:off x="640080" y="1325880"/>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② 조직 전체의 관점에서 본 데이터베이스의 구조다.</a:t>
            </a:r>
            <a:endParaRPr lang="en-US" sz="1100" dirty="0"/>
          </a:p>
        </p:txBody>
      </p:sp>
      <p:sp>
        <p:nvSpPr>
          <p:cNvPr id="11" name="Text 9"/>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저장 장치의 관점에서 본 데이터베이스의 구조다.</a:t>
            </a:r>
            <a:endParaRPr lang="en-US" sz="1100" dirty="0"/>
          </a:p>
        </p:txBody>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여러 개가 존재할 수 있다.</a:t>
            </a:r>
            <a:endParaRPr lang="en-US" sz="1100" dirty="0"/>
          </a:p>
        </p:txBody>
      </p:sp>
      <p:sp>
        <p:nvSpPr>
          <p:cNvPr id="13" name="Shape 11"/>
          <p:cNvSpPr/>
          <p:nvPr/>
        </p:nvSpPr>
        <p:spPr>
          <a:xfrm>
            <a:off x="502920" y="2093976"/>
            <a:ext cx="8138160" cy="256032"/>
          </a:xfrm>
          <a:prstGeom prst="rect">
            <a:avLst/>
          </a:prstGeom>
          <a:solidFill>
            <a:srgbClr val="FEE2E2"/>
          </a:solidFill>
          <a:ln/>
        </p:spPr>
      </p:sp>
      <p:sp>
        <p:nvSpPr>
          <p:cNvPr id="14" name="Text 12"/>
          <p:cNvSpPr/>
          <p:nvPr/>
        </p:nvSpPr>
        <p:spPr>
          <a:xfrm>
            <a:off x="640080" y="2093976"/>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⑤ 데이터들 간의 관계와 제약조건을 정의한다.</a:t>
            </a:r>
            <a:endParaRPr lang="en-US" sz="1100" dirty="0"/>
          </a:p>
        </p:txBody>
      </p:sp>
      <p:sp>
        <p:nvSpPr>
          <p:cNvPr id="15" name="Shape 13"/>
          <p:cNvSpPr/>
          <p:nvPr/>
        </p:nvSpPr>
        <p:spPr>
          <a:xfrm>
            <a:off x="502920" y="2350008"/>
            <a:ext cx="8138160" cy="256032"/>
          </a:xfrm>
          <a:prstGeom prst="rect">
            <a:avLst/>
          </a:prstGeom>
          <a:solidFill>
            <a:srgbClr val="FEE2E2"/>
          </a:solidFill>
          <a:ln/>
        </p:spPr>
      </p:sp>
      <p:sp>
        <p:nvSpPr>
          <p:cNvPr id="16" name="Text 14"/>
          <p:cNvSpPr/>
          <p:nvPr/>
        </p:nvSpPr>
        <p:spPr>
          <a:xfrm>
            <a:off x="640080" y="2350008"/>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⑥ 접근 권한, 보안 정책을 정의한다.</a:t>
            </a:r>
            <a:endParaRPr lang="en-US" sz="1100" dirty="0"/>
          </a:p>
        </p:txBody>
      </p:sp>
      <p:sp>
        <p:nvSpPr>
          <p:cNvPr id="17" name="Text 15"/>
          <p:cNvSpPr/>
          <p:nvPr/>
        </p:nvSpPr>
        <p:spPr>
          <a:xfrm>
            <a:off x="640080" y="260604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⑦ 데이터를 물리적으로 저장하는 방법을 정의한다.</a:t>
            </a:r>
            <a:endParaRPr lang="en-US" sz="1100" dirty="0"/>
          </a:p>
        </p:txBody>
      </p:sp>
      <p:sp>
        <p:nvSpPr>
          <p:cNvPr id="18" name="Text 16"/>
          <p:cNvSpPr/>
          <p:nvPr/>
        </p:nvSpPr>
        <p:spPr>
          <a:xfrm>
            <a:off x="640080" y="286207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⑧ 서브 스키마(sub schema)라고도 한다.</a:t>
            </a:r>
            <a:endParaRPr lang="en-US" sz="1100" dirty="0"/>
          </a:p>
        </p:txBody>
      </p:sp>
      <p:sp>
        <p:nvSpPr>
          <p:cNvPr id="19" name="Shape 17"/>
          <p:cNvSpPr/>
          <p:nvPr/>
        </p:nvSpPr>
        <p:spPr>
          <a:xfrm>
            <a:off x="548640" y="3191256"/>
            <a:ext cx="8046720" cy="10973"/>
          </a:xfrm>
          <a:prstGeom prst="rect">
            <a:avLst/>
          </a:prstGeom>
          <a:solidFill>
            <a:srgbClr val="E2E8F0"/>
          </a:solidFill>
          <a:ln/>
        </p:spPr>
      </p:sp>
      <p:sp>
        <p:nvSpPr>
          <p:cNvPr id="20" name="Shape 18"/>
          <p:cNvSpPr/>
          <p:nvPr/>
        </p:nvSpPr>
        <p:spPr>
          <a:xfrm>
            <a:off x="548640" y="3300984"/>
            <a:ext cx="8046720" cy="1408176"/>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21" name="Shape 19"/>
          <p:cNvSpPr/>
          <p:nvPr/>
        </p:nvSpPr>
        <p:spPr>
          <a:xfrm>
            <a:off x="548640" y="3300984"/>
            <a:ext cx="54864" cy="1408176"/>
          </a:xfrm>
          <a:prstGeom prst="rect">
            <a:avLst/>
          </a:prstGeom>
          <a:solidFill>
            <a:srgbClr val="0891B2"/>
          </a:solidFill>
          <a:ln/>
        </p:spPr>
      </p:sp>
      <p:sp>
        <p:nvSpPr>
          <p:cNvPr id="22" name="Text 20"/>
          <p:cNvSpPr/>
          <p:nvPr/>
        </p:nvSpPr>
        <p:spPr>
          <a:xfrm>
            <a:off x="777240" y="3346704"/>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23" name="Text 21"/>
          <p:cNvSpPr/>
          <p:nvPr/>
        </p:nvSpPr>
        <p:spPr>
          <a:xfrm>
            <a:off x="777240" y="3575304"/>
            <a:ext cx="7589520" cy="1042416"/>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개념 스키마는 조직 전체 관점(②), 관계/제약조건 정의(⑤), 접근 권한/보안 정의(⑥). ①④⑧은 외부 스키마, ③⑦은 내부 스키마.</a:t>
            </a:r>
            <a:endParaRPr lang="en-US" sz="1200" dirty="0"/>
          </a:p>
        </p:txBody>
      </p:sp>
      <p:sp>
        <p:nvSpPr>
          <p:cNvPr id="24" name="Text 2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4 / 27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5</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96012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DBMS의 필수 기능 중에서 논리적 구조와 물리적 구조 사이의 변환이 가능하도록 사상(Mapping)을 명세하여 하나의 물리적 구조로 여러 사용자가 요구하는 구조를 지원하게 하는 것은?</a:t>
            </a:r>
            <a:endParaRPr lang="en-US" sz="1500" dirty="0"/>
          </a:p>
        </p:txBody>
      </p:sp>
      <p:sp>
        <p:nvSpPr>
          <p:cNvPr id="9" name="Shape 7"/>
          <p:cNvSpPr/>
          <p:nvPr/>
        </p:nvSpPr>
        <p:spPr>
          <a:xfrm>
            <a:off x="548640" y="1965960"/>
            <a:ext cx="8046720" cy="26974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2103120"/>
            <a:ext cx="7498080" cy="242316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사상 기능  ② 정의 기능  ③ 조작 기능  ④ 제어 기능</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5 / 27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5</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512064"/>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DBMS의 필수 기능 중에서 논리적 구조와 물리적 구조 사이의 변환이 가능하도록 사상(Mapping)을 명세하여 하나의 물리적 구조로 여러 사용자가 요구하는 구조를 지원하게 하는 것은?</a:t>
            </a:r>
            <a:endParaRPr lang="en-US" sz="1200" dirty="0"/>
          </a:p>
        </p:txBody>
      </p:sp>
      <p:sp>
        <p:nvSpPr>
          <p:cNvPr id="8" name="Text 6"/>
          <p:cNvSpPr/>
          <p:nvPr/>
        </p:nvSpPr>
        <p:spPr>
          <a:xfrm>
            <a:off x="640080" y="121615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사상 기능  ② 정의 기능  ③ 조작 기능  ④ 제어 기능</a:t>
            </a:r>
            <a:endParaRPr lang="en-US" sz="1100" dirty="0"/>
          </a:p>
        </p:txBody>
      </p:sp>
      <p:sp>
        <p:nvSpPr>
          <p:cNvPr id="9" name="Shape 7"/>
          <p:cNvSpPr/>
          <p:nvPr/>
        </p:nvSpPr>
        <p:spPr>
          <a:xfrm>
            <a:off x="548640" y="1545336"/>
            <a:ext cx="8046720" cy="10973"/>
          </a:xfrm>
          <a:prstGeom prst="rect">
            <a:avLst/>
          </a:prstGeom>
          <a:solidFill>
            <a:srgbClr val="E2E8F0"/>
          </a:solidFill>
          <a:ln/>
        </p:spPr>
      </p:sp>
      <p:sp>
        <p:nvSpPr>
          <p:cNvPr id="10" name="Shape 8"/>
          <p:cNvSpPr/>
          <p:nvPr/>
        </p:nvSpPr>
        <p:spPr>
          <a:xfrm>
            <a:off x="548640" y="1655064"/>
            <a:ext cx="8046720" cy="3054096"/>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1" name="Shape 9"/>
          <p:cNvSpPr/>
          <p:nvPr/>
        </p:nvSpPr>
        <p:spPr>
          <a:xfrm>
            <a:off x="548640" y="1655064"/>
            <a:ext cx="54864" cy="3054096"/>
          </a:xfrm>
          <a:prstGeom prst="rect">
            <a:avLst/>
          </a:prstGeom>
          <a:solidFill>
            <a:srgbClr val="0891B2"/>
          </a:solidFill>
          <a:ln/>
        </p:spPr>
      </p:sp>
      <p:sp>
        <p:nvSpPr>
          <p:cNvPr id="12" name="Text 10"/>
          <p:cNvSpPr/>
          <p:nvPr/>
        </p:nvSpPr>
        <p:spPr>
          <a:xfrm>
            <a:off x="777240" y="1700784"/>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3" name="Text 11"/>
          <p:cNvSpPr/>
          <p:nvPr/>
        </p:nvSpPr>
        <p:spPr>
          <a:xfrm>
            <a:off x="777240" y="1929384"/>
            <a:ext cx="7589520" cy="2688336"/>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 정의와 스키마 간 사상(매핑) 명세는 DBMS의 정의 기능에 포함됩니다.</a:t>
            </a:r>
            <a:endParaRPr lang="en-US" sz="12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5 / 27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6</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논리적 데이터의 독립성을 설명한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개별 사용자에 영향 없이 물리적 구조를 변경할 수 있다.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물리적 파일 구조를 변경해도 개념 스키마는 영향받지 않는다.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개별 사용자의 데이터 관점을 변경하지 않고 전체 논리적 구조를 변경할 수 있다.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논리적 구조를 변경하지 않고 물리적 구조를 변경할 수 있다.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6 / 27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6</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논리적 데이터의 독립성을 설명한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개별 사용자에 영향 없이 물리적 구조를 변경할 수 있다.</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물리적 파일 구조를 변경해도 개념 스키마는 영향받지 않는다.</a:t>
            </a:r>
            <a:endParaRPr lang="en-US" sz="1100" dirty="0"/>
          </a:p>
        </p:txBody>
      </p:sp>
      <p:sp>
        <p:nvSpPr>
          <p:cNvPr id="10" name="Shape 8"/>
          <p:cNvSpPr/>
          <p:nvPr/>
        </p:nvSpPr>
        <p:spPr>
          <a:xfrm>
            <a:off x="502920" y="1581912"/>
            <a:ext cx="8138160" cy="256032"/>
          </a:xfrm>
          <a:prstGeom prst="rect">
            <a:avLst/>
          </a:prstGeom>
          <a:solidFill>
            <a:srgbClr val="FEE2E2"/>
          </a:solidFill>
          <a:ln/>
        </p:spPr>
      </p:sp>
      <p:sp>
        <p:nvSpPr>
          <p:cNvPr id="11" name="Text 9"/>
          <p:cNvSpPr/>
          <p:nvPr/>
        </p:nvSpPr>
        <p:spPr>
          <a:xfrm>
            <a:off x="640080" y="1581912"/>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③ 개별 사용자의 데이터 관점을 변경하지 않고 전체 논리적 구조를 변경할 수 있다.</a:t>
            </a:r>
            <a:endParaRPr lang="en-US" sz="1100" dirty="0"/>
          </a:p>
        </p:txBody>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논리적 구조를 변경하지 않고 물리적 구조를 변경할 수 있다.</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논리적 독립성 = 개념 스키마 변경 → 외부 스키마 영향 없음. ③이 정확한 설명. ①②④는 물리적 독립성.</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6 / 27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7</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물리적 데이터 독립성에 대한 설명으로 가장 적합한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응용 프로그램 변경 → 물리적 구조도 변경</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물리적 구조 변경 → 논리적 구조도 자동 변경</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응용 프로그램에 영향 없이 물리적 구조를 변경할 수 없는 것</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응용 프로그램에 영향 없이 물리적 구조를 변경할 수 있는 것</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7 / 27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7</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물리적 데이터 독립성에 대한 설명으로 가장 적합한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응용 프로그램 변경 → 물리적 구조도 변경</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물리적 구조 변경 → 논리적 구조도 자동 변경</a:t>
            </a:r>
            <a:endParaRPr lang="en-US" sz="1100" dirty="0"/>
          </a:p>
        </p:txBody>
      </p:sp>
      <p:sp>
        <p:nvSpPr>
          <p:cNvPr id="10" name="Text 8"/>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응용 프로그램에 영향 없이 물리적 구조를 변경할 수 없는 것</a:t>
            </a:r>
            <a:endParaRPr lang="en-US" sz="1100" dirty="0"/>
          </a:p>
        </p:txBody>
      </p:sp>
      <p:sp>
        <p:nvSpPr>
          <p:cNvPr id="11" name="Shape 9"/>
          <p:cNvSpPr/>
          <p:nvPr/>
        </p:nvSpPr>
        <p:spPr>
          <a:xfrm>
            <a:off x="502920" y="1837944"/>
            <a:ext cx="8138160" cy="256032"/>
          </a:xfrm>
          <a:prstGeom prst="rect">
            <a:avLst/>
          </a:prstGeom>
          <a:solidFill>
            <a:srgbClr val="FEE2E2"/>
          </a:solidFill>
          <a:ln/>
        </p:spPr>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④ 응용 프로그램에 영향 없이 물리적 구조를 변경할 수 있는 것</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물리적 독립성 = 내부 스키마 변경 → 개념/외부 스키마 영향 없음.</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7 / 27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8</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 사전에 대한 설명으로 옳지 않은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저장된 데이터를 메타 데이터라고도 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시스템이 필요로 하는 스키마 및 객체 정보를 저장한다.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사용자가 내용을 직접 추가하거나 수정할 수 없다.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시스템 데이터베이스이므로 일반 사용자는 내용을 검색할 수 없다.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8 / 27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8</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 사전에 대한 설명으로 옳지 않은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저장된 데이터를 메타 데이터라고도 한다.</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시스템이 필요로 하는 스키마 및 객체 정보를 저장한다.</a:t>
            </a:r>
            <a:endParaRPr lang="en-US" sz="1100" dirty="0"/>
          </a:p>
        </p:txBody>
      </p:sp>
      <p:sp>
        <p:nvSpPr>
          <p:cNvPr id="10" name="Text 8"/>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사용자가 내용을 직접 추가하거나 수정할 수 없다.</a:t>
            </a:r>
            <a:endParaRPr lang="en-US" sz="1100" dirty="0"/>
          </a:p>
        </p:txBody>
      </p:sp>
      <p:sp>
        <p:nvSpPr>
          <p:cNvPr id="11" name="Shape 9"/>
          <p:cNvSpPr/>
          <p:nvPr/>
        </p:nvSpPr>
        <p:spPr>
          <a:xfrm>
            <a:off x="502920" y="1837944"/>
            <a:ext cx="8138160" cy="256032"/>
          </a:xfrm>
          <a:prstGeom prst="rect">
            <a:avLst/>
          </a:prstGeom>
          <a:solidFill>
            <a:srgbClr val="FEE2E2"/>
          </a:solidFill>
          <a:ln/>
        </p:spPr>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④ 시스템 데이터베이스이므로 일반 사용자는 내용을 검색할 수 없다.</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데이터 사전은 일반 사용자도 검색은 가능합니다. 다만 직접 수정은 불가합니다.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8 / 27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9</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 사전에 대한 설명으로 옳은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데이터베이스 관리자가 생성하고 유지한다.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내용은 새로 추가하거나 수정할 수 없다.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일반 사용자는 검색할 수 없다.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메타 데이터를 가지고 있는 시스템 데이터베이스로 시스템 카탈로그라고도 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9 / 27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9</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 사전에 대한 설명으로 옳은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데이터베이스 관리자가 생성하고 유지한다.</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내용은 새로 추가하거나 수정할 수 없다.</a:t>
            </a:r>
            <a:endParaRPr lang="en-US" sz="1100" dirty="0"/>
          </a:p>
        </p:txBody>
      </p:sp>
      <p:sp>
        <p:nvSpPr>
          <p:cNvPr id="10" name="Text 8"/>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일반 사용자는 검색할 수 없다.</a:t>
            </a:r>
            <a:endParaRPr lang="en-US" sz="1100" dirty="0"/>
          </a:p>
        </p:txBody>
      </p:sp>
      <p:sp>
        <p:nvSpPr>
          <p:cNvPr id="11" name="Shape 9"/>
          <p:cNvSpPr/>
          <p:nvPr/>
        </p:nvSpPr>
        <p:spPr>
          <a:xfrm>
            <a:off x="502920" y="1837944"/>
            <a:ext cx="8138160" cy="256032"/>
          </a:xfrm>
          <a:prstGeom prst="rect">
            <a:avLst/>
          </a:prstGeom>
          <a:solidFill>
            <a:srgbClr val="FEE2E2"/>
          </a:solidFill>
          <a:ln/>
        </p:spPr>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④ 메타 데이터를 가지고 있는 시스템 데이터베이스로 시스템 카탈로그라고도 한다.</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데이터 사전 = 시스템 카탈로그 = 메타 데이터를 저장하는 시스템 데이터베이스.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9 / 27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10</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 관리자의 주요 업무와 거리가 먼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데이터베이스 스키마 정의</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보안 및 접근 권한 정책 결정</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응용 프로그램의 개발</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무결성 유지를 위한 제약조건 정의</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10 / 27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10</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 관리자의 주요 업무와 거리가 먼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데이터베이스 스키마 정의</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보안 및 접근 권한 정책 결정</a:t>
            </a:r>
            <a:endParaRPr lang="en-US" sz="1100" dirty="0"/>
          </a:p>
        </p:txBody>
      </p:sp>
      <p:sp>
        <p:nvSpPr>
          <p:cNvPr id="10" name="Shape 8"/>
          <p:cNvSpPr/>
          <p:nvPr/>
        </p:nvSpPr>
        <p:spPr>
          <a:xfrm>
            <a:off x="502920" y="1581912"/>
            <a:ext cx="8138160" cy="256032"/>
          </a:xfrm>
          <a:prstGeom prst="rect">
            <a:avLst/>
          </a:prstGeom>
          <a:solidFill>
            <a:srgbClr val="FEE2E2"/>
          </a:solidFill>
          <a:ln/>
        </p:spPr>
      </p:sp>
      <p:sp>
        <p:nvSpPr>
          <p:cNvPr id="11" name="Text 9"/>
          <p:cNvSpPr/>
          <p:nvPr/>
        </p:nvSpPr>
        <p:spPr>
          <a:xfrm>
            <a:off x="640080" y="1581912"/>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③ 응용 프로그램의 개발</a:t>
            </a:r>
            <a:endParaRPr lang="en-US" sz="1100" dirty="0"/>
          </a:p>
        </p:txBody>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무결성 유지를 위한 제약조건 정의</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응용 프로그램 개발은 응용 프로그래머의 업무입니다.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10 / 27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11</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64008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사용자가 데이터의 삽입·삭제·수정·검색 등의 처리를 DBMS에 요구하기 위해 사용하는 데이터 언어는?</a:t>
            </a:r>
            <a:endParaRPr lang="en-US" sz="1500" dirty="0"/>
          </a:p>
        </p:txBody>
      </p:sp>
      <p:sp>
        <p:nvSpPr>
          <p:cNvPr id="9" name="Shape 7"/>
          <p:cNvSpPr/>
          <p:nvPr/>
        </p:nvSpPr>
        <p:spPr>
          <a:xfrm>
            <a:off x="548640" y="1645920"/>
            <a:ext cx="8046720" cy="301752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783080"/>
            <a:ext cx="7498080" cy="274320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 정의어(DDL)  ② 데이터 조작어(DML)</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데이터 제어어(DCL)  ④ 데이터 요청어(DRL)</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11 / 27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11</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512064"/>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사용자가 데이터의 삽입·삭제·수정·검색 등의 처리를 DBMS에 요구하기 위해 사용하는 데이터 언어는?</a:t>
            </a:r>
            <a:endParaRPr lang="en-US" sz="1200" dirty="0"/>
          </a:p>
        </p:txBody>
      </p:sp>
      <p:sp>
        <p:nvSpPr>
          <p:cNvPr id="8" name="Text 6"/>
          <p:cNvSpPr/>
          <p:nvPr/>
        </p:nvSpPr>
        <p:spPr>
          <a:xfrm>
            <a:off x="640080" y="121615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데이터 정의어(DDL)  ② 데이터 조작어(DML)</a:t>
            </a:r>
            <a:endParaRPr lang="en-US" sz="1100" dirty="0"/>
          </a:p>
        </p:txBody>
      </p:sp>
      <p:sp>
        <p:nvSpPr>
          <p:cNvPr id="9" name="Text 7"/>
          <p:cNvSpPr/>
          <p:nvPr/>
        </p:nvSpPr>
        <p:spPr>
          <a:xfrm>
            <a:off x="640080" y="147218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데이터 제어어(DCL)  ④ 데이터 요청어(DRL)</a:t>
            </a:r>
            <a:endParaRPr lang="en-US" sz="1100" dirty="0"/>
          </a:p>
        </p:txBody>
      </p:sp>
      <p:sp>
        <p:nvSpPr>
          <p:cNvPr id="10" name="Shape 8"/>
          <p:cNvSpPr/>
          <p:nvPr/>
        </p:nvSpPr>
        <p:spPr>
          <a:xfrm>
            <a:off x="548640" y="1801368"/>
            <a:ext cx="8046720" cy="10973"/>
          </a:xfrm>
          <a:prstGeom prst="rect">
            <a:avLst/>
          </a:prstGeom>
          <a:solidFill>
            <a:srgbClr val="E2E8F0"/>
          </a:solidFill>
          <a:ln/>
        </p:spPr>
      </p:sp>
      <p:sp>
        <p:nvSpPr>
          <p:cNvPr id="11" name="Shape 9"/>
          <p:cNvSpPr/>
          <p:nvPr/>
        </p:nvSpPr>
        <p:spPr>
          <a:xfrm>
            <a:off x="548640" y="1911096"/>
            <a:ext cx="8046720" cy="279806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2" name="Shape 10"/>
          <p:cNvSpPr/>
          <p:nvPr/>
        </p:nvSpPr>
        <p:spPr>
          <a:xfrm>
            <a:off x="548640" y="1911096"/>
            <a:ext cx="54864" cy="2798064"/>
          </a:xfrm>
          <a:prstGeom prst="rect">
            <a:avLst/>
          </a:prstGeom>
          <a:solidFill>
            <a:srgbClr val="0891B2"/>
          </a:solidFill>
          <a:ln/>
        </p:spPr>
      </p:sp>
      <p:sp>
        <p:nvSpPr>
          <p:cNvPr id="13" name="Text 11"/>
          <p:cNvSpPr/>
          <p:nvPr/>
        </p:nvSpPr>
        <p:spPr>
          <a:xfrm>
            <a:off x="777240" y="195681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4" name="Text 12"/>
          <p:cNvSpPr/>
          <p:nvPr/>
        </p:nvSpPr>
        <p:spPr>
          <a:xfrm>
            <a:off x="777240" y="2185416"/>
            <a:ext cx="7589520" cy="243230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삽입·삭제·수정·검색 = 데이터 조작 → DML(Data Manipulation Language).</a:t>
            </a:r>
            <a:endParaRPr lang="en-US" sz="1200" dirty="0"/>
          </a:p>
        </p:txBody>
      </p:sp>
      <p:sp>
        <p:nvSpPr>
          <p:cNvPr id="15" name="Text 13"/>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11 / 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12</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 제어어(DCL)의 기능으로 거리가 먼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무결성 유지</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회복 및 동시 공유 제어</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접근 제어 및 권한 부여</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스키마 정의</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12 / 27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12</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 제어어(DCL)의 기능으로 거리가 먼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무결성 유지</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회복 및 동시 공유 제어</a:t>
            </a:r>
            <a:endParaRPr lang="en-US" sz="1100" dirty="0"/>
          </a:p>
        </p:txBody>
      </p:sp>
      <p:sp>
        <p:nvSpPr>
          <p:cNvPr id="10" name="Text 8"/>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접근 제어 및 권한 부여</a:t>
            </a:r>
            <a:endParaRPr lang="en-US" sz="1100" dirty="0"/>
          </a:p>
        </p:txBody>
      </p:sp>
      <p:sp>
        <p:nvSpPr>
          <p:cNvPr id="11" name="Shape 9"/>
          <p:cNvSpPr/>
          <p:nvPr/>
        </p:nvSpPr>
        <p:spPr>
          <a:xfrm>
            <a:off x="502920" y="1837944"/>
            <a:ext cx="8138160" cy="256032"/>
          </a:xfrm>
          <a:prstGeom prst="rect">
            <a:avLst/>
          </a:prstGeom>
          <a:solidFill>
            <a:srgbClr val="FEE2E2"/>
          </a:solidFill>
          <a:ln/>
        </p:spPr>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④ 스키마 정의</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 정의는 DDL(데이터 정의어)의 기능입니다.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12 / 27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13</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데이터베이스의 스키마를 정의·변경·삭제할 수 있는 데이터 언어는?</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 정의어  ② 데이터 조작어  ③ 데이터 제어어  ④ 데이터 관리어</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13 / 27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13</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데이터베이스의 스키마를 정의·변경·삭제할 수 있는 데이터 언어는?</a:t>
            </a:r>
            <a:endParaRPr lang="en-US" sz="1200" dirty="0"/>
          </a:p>
        </p:txBody>
      </p:sp>
      <p:sp>
        <p:nvSpPr>
          <p:cNvPr id="8" name="Shape 6"/>
          <p:cNvSpPr/>
          <p:nvPr/>
        </p:nvSpPr>
        <p:spPr>
          <a:xfrm>
            <a:off x="502920" y="1069848"/>
            <a:ext cx="8138160" cy="256032"/>
          </a:xfrm>
          <a:prstGeom prst="rect">
            <a:avLst/>
          </a:prstGeom>
          <a:solidFill>
            <a:srgbClr val="FEE2E2"/>
          </a:solidFill>
          <a:ln/>
        </p:spPr>
      </p:sp>
      <p:sp>
        <p:nvSpPr>
          <p:cNvPr id="9" name="Text 7"/>
          <p:cNvSpPr/>
          <p:nvPr/>
        </p:nvSpPr>
        <p:spPr>
          <a:xfrm>
            <a:off x="640080" y="1069848"/>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① 데이터 정의어  ② 데이터 조작어  ③ 데이터 제어어  ④ 데이터 관리어</a:t>
            </a:r>
            <a:endParaRPr lang="en-US" sz="1100" dirty="0"/>
          </a:p>
        </p:txBody>
      </p:sp>
      <p:sp>
        <p:nvSpPr>
          <p:cNvPr id="10" name="Shape 8"/>
          <p:cNvSpPr/>
          <p:nvPr/>
        </p:nvSpPr>
        <p:spPr>
          <a:xfrm>
            <a:off x="548640" y="1399032"/>
            <a:ext cx="8046720" cy="10973"/>
          </a:xfrm>
          <a:prstGeom prst="rect">
            <a:avLst/>
          </a:prstGeom>
          <a:solidFill>
            <a:srgbClr val="E2E8F0"/>
          </a:solidFill>
          <a:ln/>
        </p:spPr>
      </p:sp>
      <p:sp>
        <p:nvSpPr>
          <p:cNvPr id="11" name="Shape 9"/>
          <p:cNvSpPr/>
          <p:nvPr/>
        </p:nvSpPr>
        <p:spPr>
          <a:xfrm>
            <a:off x="548640" y="1508760"/>
            <a:ext cx="8046720" cy="320040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2" name="Shape 10"/>
          <p:cNvSpPr/>
          <p:nvPr/>
        </p:nvSpPr>
        <p:spPr>
          <a:xfrm>
            <a:off x="548640" y="1508760"/>
            <a:ext cx="54864" cy="3200400"/>
          </a:xfrm>
          <a:prstGeom prst="rect">
            <a:avLst/>
          </a:prstGeom>
          <a:solidFill>
            <a:srgbClr val="0891B2"/>
          </a:solidFill>
          <a:ln/>
        </p:spPr>
      </p:sp>
      <p:sp>
        <p:nvSpPr>
          <p:cNvPr id="13" name="Text 11"/>
          <p:cNvSpPr/>
          <p:nvPr/>
        </p:nvSpPr>
        <p:spPr>
          <a:xfrm>
            <a:off x="777240" y="1554480"/>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4" name="Text 12"/>
          <p:cNvSpPr/>
          <p:nvPr/>
        </p:nvSpPr>
        <p:spPr>
          <a:xfrm>
            <a:off x="777240" y="1783080"/>
            <a:ext cx="7589520" cy="2834640"/>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스키마를 정의/변경/삭제 → DDL(Data Definition Language). CREATE, ALTER, DROP.</a:t>
            </a:r>
            <a:endParaRPr lang="en-US" sz="1200" dirty="0"/>
          </a:p>
        </p:txBody>
      </p:sp>
      <p:sp>
        <p:nvSpPr>
          <p:cNvPr id="15" name="Text 13"/>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13 / 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14</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데이터의 보안, 무결성, 회복과 밀접한 관련이 있는 관계 데이터 언어는?</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데이터 정의어  ② 데이터 조작어  ③ 데이터 제어어  ④ 데이터 관리어</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14 / 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14</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데이터의 보안, 무결성, 회복과 밀접한 관련이 있는 관계 데이터 언어는?</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데이터 정의어  ② 데이터 조작어  ③ 데이터 제어어  ④ 데이터 관리어</a:t>
            </a:r>
            <a:endParaRPr lang="en-US" sz="1100" dirty="0"/>
          </a:p>
        </p:txBody>
      </p:sp>
      <p:sp>
        <p:nvSpPr>
          <p:cNvPr id="9" name="Shape 7"/>
          <p:cNvSpPr/>
          <p:nvPr/>
        </p:nvSpPr>
        <p:spPr>
          <a:xfrm>
            <a:off x="548640" y="1399032"/>
            <a:ext cx="8046720" cy="10973"/>
          </a:xfrm>
          <a:prstGeom prst="rect">
            <a:avLst/>
          </a:prstGeom>
          <a:solidFill>
            <a:srgbClr val="E2E8F0"/>
          </a:solidFill>
          <a:ln/>
        </p:spPr>
      </p:sp>
      <p:sp>
        <p:nvSpPr>
          <p:cNvPr id="10" name="Shape 8"/>
          <p:cNvSpPr/>
          <p:nvPr/>
        </p:nvSpPr>
        <p:spPr>
          <a:xfrm>
            <a:off x="548640" y="1508760"/>
            <a:ext cx="8046720" cy="3200400"/>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1" name="Shape 9"/>
          <p:cNvSpPr/>
          <p:nvPr/>
        </p:nvSpPr>
        <p:spPr>
          <a:xfrm>
            <a:off x="548640" y="1508760"/>
            <a:ext cx="54864" cy="3200400"/>
          </a:xfrm>
          <a:prstGeom prst="rect">
            <a:avLst/>
          </a:prstGeom>
          <a:solidFill>
            <a:srgbClr val="0891B2"/>
          </a:solidFill>
          <a:ln/>
        </p:spPr>
      </p:sp>
      <p:sp>
        <p:nvSpPr>
          <p:cNvPr id="12" name="Text 10"/>
          <p:cNvSpPr/>
          <p:nvPr/>
        </p:nvSpPr>
        <p:spPr>
          <a:xfrm>
            <a:off x="777240" y="1554480"/>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3" name="Text 11"/>
          <p:cNvSpPr/>
          <p:nvPr/>
        </p:nvSpPr>
        <p:spPr>
          <a:xfrm>
            <a:off x="777240" y="1783080"/>
            <a:ext cx="7589520" cy="2834640"/>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보안, 무결성, 회복 → DCL(Data Control Language). GRANT, REVOKE 등.</a:t>
            </a:r>
            <a:endParaRPr lang="en-US" sz="1200" dirty="0"/>
          </a:p>
        </p:txBody>
      </p:sp>
      <p:sp>
        <p:nvSpPr>
          <p:cNvPr id="14" name="Text 12"/>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14 / 27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15</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DBMS의 역할에 대한 설명으로 옳지 않은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트랜잭션 관리자는 무결성, 접근 권한, 병행 제어, 회복 작업을 수행한다.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데이터 조작어로 스키마 구조를 기술하여 데이터 사전에 저장한다.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저장 데이터 관리자는 디스크의 사용자 DB와 데이터 사전 접근을 책임진다.</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DML 컴파일러는 데이터 조작어를 분석하여 런타임 DB 처리기가 이해할 수 있도록 해석한다.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15 / 27</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15</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DBMS의 역할에 대한 설명으로 옳지 않은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트랜잭션 관리자는 무결성, 접근 권한, 병행 제어, 회복 작업을 수행한다.</a:t>
            </a:r>
            <a:endParaRPr lang="en-US" sz="1100" dirty="0"/>
          </a:p>
        </p:txBody>
      </p:sp>
      <p:sp>
        <p:nvSpPr>
          <p:cNvPr id="9" name="Shape 7"/>
          <p:cNvSpPr/>
          <p:nvPr/>
        </p:nvSpPr>
        <p:spPr>
          <a:xfrm>
            <a:off x="502920" y="1325880"/>
            <a:ext cx="8138160" cy="256032"/>
          </a:xfrm>
          <a:prstGeom prst="rect">
            <a:avLst/>
          </a:prstGeom>
          <a:solidFill>
            <a:srgbClr val="FEE2E2"/>
          </a:solidFill>
          <a:ln/>
        </p:spPr>
      </p:sp>
      <p:sp>
        <p:nvSpPr>
          <p:cNvPr id="10" name="Text 8"/>
          <p:cNvSpPr/>
          <p:nvPr/>
        </p:nvSpPr>
        <p:spPr>
          <a:xfrm>
            <a:off x="640080" y="1325880"/>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② 데이터 조작어로 스키마 구조를 기술하여 데이터 사전에 저장한다.</a:t>
            </a:r>
            <a:endParaRPr lang="en-US" sz="1100" dirty="0"/>
          </a:p>
        </p:txBody>
      </p:sp>
      <p:sp>
        <p:nvSpPr>
          <p:cNvPr id="11" name="Text 9"/>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③ 저장 데이터 관리자는 디스크의 사용자 DB와 데이터 사전 접근을 책임진다.</a:t>
            </a:r>
            <a:endParaRPr lang="en-US" sz="1100" dirty="0"/>
          </a:p>
        </p:txBody>
      </p:sp>
      <p:sp>
        <p:nvSpPr>
          <p:cNvPr id="12" name="Text 10"/>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DML 컴파일러는 데이터 조작어를 분석하여 런타임 DB 처리기가 이해할 수 있도록 해석한다.</a:t>
            </a:r>
            <a:endParaRPr lang="en-US" sz="1100" dirty="0"/>
          </a:p>
        </p:txBody>
      </p:sp>
      <p:sp>
        <p:nvSpPr>
          <p:cNvPr id="13" name="Shape 11"/>
          <p:cNvSpPr/>
          <p:nvPr/>
        </p:nvSpPr>
        <p:spPr>
          <a:xfrm>
            <a:off x="548640" y="2167128"/>
            <a:ext cx="8046720" cy="10973"/>
          </a:xfrm>
          <a:prstGeom prst="rect">
            <a:avLst/>
          </a:prstGeom>
          <a:solidFill>
            <a:srgbClr val="E2E8F0"/>
          </a:solidFill>
          <a:ln/>
        </p:spPr>
      </p:sp>
      <p:sp>
        <p:nvSpPr>
          <p:cNvPr id="14" name="Shape 12"/>
          <p:cNvSpPr/>
          <p:nvPr/>
        </p:nvSpPr>
        <p:spPr>
          <a:xfrm>
            <a:off x="548640" y="2276856"/>
            <a:ext cx="8046720" cy="24323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5" name="Shape 13"/>
          <p:cNvSpPr/>
          <p:nvPr/>
        </p:nvSpPr>
        <p:spPr>
          <a:xfrm>
            <a:off x="548640" y="2276856"/>
            <a:ext cx="54864" cy="2432304"/>
          </a:xfrm>
          <a:prstGeom prst="rect">
            <a:avLst/>
          </a:prstGeom>
          <a:solidFill>
            <a:srgbClr val="0891B2"/>
          </a:solidFill>
          <a:ln/>
        </p:spPr>
      </p:sp>
      <p:sp>
        <p:nvSpPr>
          <p:cNvPr id="16" name="Text 14"/>
          <p:cNvSpPr/>
          <p:nvPr/>
        </p:nvSpPr>
        <p:spPr>
          <a:xfrm>
            <a:off x="777240" y="2322576"/>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17" name="Text 15"/>
          <p:cNvSpPr/>
          <p:nvPr/>
        </p:nvSpPr>
        <p:spPr>
          <a:xfrm>
            <a:off x="777240" y="2551176"/>
            <a:ext cx="7589520" cy="206654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 구조를 기술하는 것은 DDL(데이터 정의어)이지 DML이 아닙니다.</a:t>
            </a:r>
            <a:endParaRPr lang="en-US" sz="1200" dirty="0"/>
          </a:p>
        </p:txBody>
      </p:sp>
      <p:sp>
        <p:nvSpPr>
          <p:cNvPr id="18" name="Text 16"/>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15 / 27</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16</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객관식</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DBMS 주요 구성 요소. ㉠~㉣에 들어갈 요소가 바르게 짝지어진 것은?</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스키마 정의를 해석하고 데이터 사전에 저장</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저장 데이터 관리자를 통해 DB에 접근하여 처리 요구를 실행</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응용 프로그램에 삽입된 DML을 추출</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DB 접근 시 접근 권한, 무결성 제약조건 등을 검사</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① DDL컴파일러/DML프리컴파일러/트랜잭션관리자/런타임DB처리기</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② 저장데이터관리자/DML프리컴파일러/DDL컴파일러/런타임DB처리기</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③ DDL컴파일러/런타임DB처리기/DML프리컴파일러/트랜잭션관리자</a:t>
            </a:r>
            <a:endParaRPr lang="en-US" sz="1300" dirty="0"/>
          </a:p>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④ 저장데이터관리자/런타임DB처리기/DDL컴파일러/트랜잭션관리자</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16 / 27</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16</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DBMS 주요 구성 요소. ㉠~㉣에 들어갈 요소가 바르게 짝지어진 것은?</a:t>
            </a:r>
            <a:endParaRPr lang="en-US" sz="1200" dirty="0"/>
          </a:p>
        </p:txBody>
      </p:sp>
      <p:sp>
        <p:nvSpPr>
          <p:cNvPr id="8" name="Text 6"/>
          <p:cNvSpPr/>
          <p:nvPr/>
        </p:nvSpPr>
        <p:spPr>
          <a:xfrm>
            <a:off x="640080" y="106984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(㉠)는 스키마 정의를 해석하고 데이터 사전에 저장</a:t>
            </a:r>
            <a:endParaRPr lang="en-US" sz="1100" dirty="0"/>
          </a:p>
        </p:txBody>
      </p:sp>
      <p:sp>
        <p:nvSpPr>
          <p:cNvPr id="9" name="Text 7"/>
          <p:cNvSpPr/>
          <p:nvPr/>
        </p:nvSpPr>
        <p:spPr>
          <a:xfrm>
            <a:off x="640080" y="1325880"/>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(㉡)는 저장 데이터 관리자를 통해 DB에 접근하여 처리 요구를 실행</a:t>
            </a:r>
            <a:endParaRPr lang="en-US" sz="1100" dirty="0"/>
          </a:p>
        </p:txBody>
      </p:sp>
      <p:sp>
        <p:nvSpPr>
          <p:cNvPr id="10" name="Text 8"/>
          <p:cNvSpPr/>
          <p:nvPr/>
        </p:nvSpPr>
        <p:spPr>
          <a:xfrm>
            <a:off x="640080" y="158191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(㉢)는 응용 프로그램에 삽입된 DML을 추출</a:t>
            </a:r>
            <a:endParaRPr lang="en-US" sz="1100" dirty="0"/>
          </a:p>
        </p:txBody>
      </p:sp>
      <p:sp>
        <p:nvSpPr>
          <p:cNvPr id="11" name="Text 9"/>
          <p:cNvSpPr/>
          <p:nvPr/>
        </p:nvSpPr>
        <p:spPr>
          <a:xfrm>
            <a:off x="640080" y="1837944"/>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(㉣)는 DB 접근 시 접근 권한, 무결성 제약조건 등을 검사</a:t>
            </a:r>
            <a:endParaRPr lang="en-US" sz="1100" dirty="0"/>
          </a:p>
        </p:txBody>
      </p:sp>
      <p:sp>
        <p:nvSpPr>
          <p:cNvPr id="12" name="Text 10"/>
          <p:cNvSpPr/>
          <p:nvPr/>
        </p:nvSpPr>
        <p:spPr>
          <a:xfrm>
            <a:off x="640080" y="2093976"/>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① DDL컴파일러/DML프리컴파일러/트랜잭션관리자/런타임DB처리기</a:t>
            </a:r>
            <a:endParaRPr lang="en-US" sz="1100" dirty="0"/>
          </a:p>
        </p:txBody>
      </p:sp>
      <p:sp>
        <p:nvSpPr>
          <p:cNvPr id="13" name="Text 11"/>
          <p:cNvSpPr/>
          <p:nvPr/>
        </p:nvSpPr>
        <p:spPr>
          <a:xfrm>
            <a:off x="640080" y="2350008"/>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② 저장데이터관리자/DML프리컴파일러/DDL컴파일러/런타임DB처리기</a:t>
            </a:r>
            <a:endParaRPr lang="en-US" sz="1100" dirty="0"/>
          </a:p>
        </p:txBody>
      </p:sp>
      <p:sp>
        <p:nvSpPr>
          <p:cNvPr id="14" name="Shape 12"/>
          <p:cNvSpPr/>
          <p:nvPr/>
        </p:nvSpPr>
        <p:spPr>
          <a:xfrm>
            <a:off x="502920" y="2606040"/>
            <a:ext cx="8138160" cy="256032"/>
          </a:xfrm>
          <a:prstGeom prst="rect">
            <a:avLst/>
          </a:prstGeom>
          <a:solidFill>
            <a:srgbClr val="FEE2E2"/>
          </a:solidFill>
          <a:ln/>
        </p:spPr>
      </p:sp>
      <p:sp>
        <p:nvSpPr>
          <p:cNvPr id="15" name="Text 13"/>
          <p:cNvSpPr/>
          <p:nvPr/>
        </p:nvSpPr>
        <p:spPr>
          <a:xfrm>
            <a:off x="640080" y="2606040"/>
            <a:ext cx="7863840" cy="25603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③ DDL컴파일러/런타임DB처리기/DML프리컴파일러/트랜잭션관리자</a:t>
            </a:r>
            <a:endParaRPr lang="en-US" sz="1100" dirty="0"/>
          </a:p>
        </p:txBody>
      </p:sp>
      <p:sp>
        <p:nvSpPr>
          <p:cNvPr id="16" name="Text 14"/>
          <p:cNvSpPr/>
          <p:nvPr/>
        </p:nvSpPr>
        <p:spPr>
          <a:xfrm>
            <a:off x="640080" y="2862072"/>
            <a:ext cx="7863840" cy="256032"/>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④ 저장데이터관리자/런타임DB처리기/DDL컴파일러/트랜잭션관리자</a:t>
            </a:r>
            <a:endParaRPr lang="en-US" sz="1100" dirty="0"/>
          </a:p>
        </p:txBody>
      </p:sp>
      <p:sp>
        <p:nvSpPr>
          <p:cNvPr id="17" name="Shape 15"/>
          <p:cNvSpPr/>
          <p:nvPr/>
        </p:nvSpPr>
        <p:spPr>
          <a:xfrm>
            <a:off x="548640" y="3191256"/>
            <a:ext cx="8046720" cy="10973"/>
          </a:xfrm>
          <a:prstGeom prst="rect">
            <a:avLst/>
          </a:prstGeom>
          <a:solidFill>
            <a:srgbClr val="E2E8F0"/>
          </a:solidFill>
          <a:ln/>
        </p:spPr>
      </p:sp>
      <p:sp>
        <p:nvSpPr>
          <p:cNvPr id="18" name="Shape 16"/>
          <p:cNvSpPr/>
          <p:nvPr/>
        </p:nvSpPr>
        <p:spPr>
          <a:xfrm>
            <a:off x="548640" y="3300984"/>
            <a:ext cx="8046720" cy="1408176"/>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9" name="Shape 17"/>
          <p:cNvSpPr/>
          <p:nvPr/>
        </p:nvSpPr>
        <p:spPr>
          <a:xfrm>
            <a:off x="548640" y="3300984"/>
            <a:ext cx="54864" cy="1408176"/>
          </a:xfrm>
          <a:prstGeom prst="rect">
            <a:avLst/>
          </a:prstGeom>
          <a:solidFill>
            <a:srgbClr val="0891B2"/>
          </a:solidFill>
          <a:ln/>
        </p:spPr>
      </p:sp>
      <p:sp>
        <p:nvSpPr>
          <p:cNvPr id="20" name="Text 18"/>
          <p:cNvSpPr/>
          <p:nvPr/>
        </p:nvSpPr>
        <p:spPr>
          <a:xfrm>
            <a:off x="777240" y="3346704"/>
            <a:ext cx="914400" cy="228600"/>
          </a:xfrm>
          <a:prstGeom prst="rect">
            <a:avLst/>
          </a:prstGeom>
          <a:noFill/>
          <a:ln/>
        </p:spPr>
        <p:txBody>
          <a:bodyPr wrap="square" rtlCol="0" anchor="ctr"/>
          <a:lstStyle/>
          <a:p>
            <a:pPr indent="0" marL="0">
              <a:buNone/>
            </a:pPr>
            <a:r>
              <a:rPr lang="en-US" sz="1100" b="1" dirty="0">
                <a:solidFill>
                  <a:srgbClr val="0891B2"/>
                </a:solidFill>
                <a:latin typeface="맑은 고딕" pitchFamily="34" charset="0"/>
                <a:ea typeface="맑은 고딕" pitchFamily="34" charset="-122"/>
                <a:cs typeface="맑은 고딕" pitchFamily="34" charset="-120"/>
              </a:rPr>
              <a:t>해설</a:t>
            </a:r>
            <a:endParaRPr lang="en-US" sz="1100" dirty="0"/>
          </a:p>
        </p:txBody>
      </p:sp>
      <p:sp>
        <p:nvSpPr>
          <p:cNvPr id="21" name="Text 19"/>
          <p:cNvSpPr/>
          <p:nvPr/>
        </p:nvSpPr>
        <p:spPr>
          <a:xfrm>
            <a:off x="777240" y="3575304"/>
            <a:ext cx="7589520" cy="1042416"/>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㉠DDL컴파일러 / ㉡런타임DB처리기 / ㉢DML프리컴파일러 / ㉣트랜잭션관리자.</a:t>
            </a:r>
            <a:endParaRPr lang="en-US" sz="1200" dirty="0"/>
          </a:p>
        </p:txBody>
      </p:sp>
      <p:sp>
        <p:nvSpPr>
          <p:cNvPr id="22" name="Text 20"/>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16 / 27</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17</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다음 설명에서 Ⓐ와 Ⓑ가 각각 무엇인지 답하시오.</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데이터베이스에 저장되는 데이터 구조와 제약조건을 정의한 것이다. 그리고 (Ⓐ)에 따라 데이터베이스에 실제로 저장된 값을 (Ⓑ)라고 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17 / 27</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17</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다음 설명에서 Ⓐ와 Ⓑ가 각각 무엇인지 답하시오.</a:t>
            </a:r>
            <a:endParaRPr lang="en-US" sz="1200" dirty="0"/>
          </a:p>
        </p:txBody>
      </p:sp>
      <p:sp>
        <p:nvSpPr>
          <p:cNvPr id="8" name="Text 6"/>
          <p:cNvSpPr/>
          <p:nvPr/>
        </p:nvSpPr>
        <p:spPr>
          <a:xfrm>
            <a:off x="640080" y="1069848"/>
            <a:ext cx="7863840" cy="594360"/>
          </a:xfrm>
          <a:prstGeom prst="rect">
            <a:avLst/>
          </a:prstGeom>
          <a:noFill/>
          <a:ln/>
        </p:spPr>
        <p:txBody>
          <a:bodyPr wrap="square" rtlCol="0" anchor="t"/>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"(Ⓐ)는 데이터베이스에 저장되는 데이터 구조와 제약조건을 정의한 것이다. 그리고 (Ⓐ)에 따라 데이터베이스에 실제로 저장된 값을 (Ⓑ)라고 한다."</a:t>
            </a:r>
            <a:endParaRPr lang="en-US" sz="1000" dirty="0"/>
          </a:p>
        </p:txBody>
      </p:sp>
      <p:sp>
        <p:nvSpPr>
          <p:cNvPr id="9" name="Shape 7"/>
          <p:cNvSpPr/>
          <p:nvPr/>
        </p:nvSpPr>
        <p:spPr>
          <a:xfrm>
            <a:off x="548640" y="1737360"/>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10" name="Shape 8"/>
          <p:cNvSpPr/>
          <p:nvPr/>
        </p:nvSpPr>
        <p:spPr>
          <a:xfrm>
            <a:off x="548640" y="1737360"/>
            <a:ext cx="54864" cy="640080"/>
          </a:xfrm>
          <a:prstGeom prst="rect">
            <a:avLst/>
          </a:prstGeom>
          <a:solidFill>
            <a:srgbClr val="10B981"/>
          </a:solidFill>
          <a:ln/>
        </p:spPr>
      </p:sp>
      <p:sp>
        <p:nvSpPr>
          <p:cNvPr id="11" name="Text 9"/>
          <p:cNvSpPr/>
          <p:nvPr/>
        </p:nvSpPr>
        <p:spPr>
          <a:xfrm>
            <a:off x="777240" y="1764792"/>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2" name="Text 10"/>
          <p:cNvSpPr/>
          <p:nvPr/>
        </p:nvSpPr>
        <p:spPr>
          <a:xfrm>
            <a:off x="777240" y="1965960"/>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 스키마, Ⓑ: 인스턴스</a:t>
            </a:r>
            <a:endParaRPr lang="en-US" sz="1200" dirty="0"/>
          </a:p>
        </p:txBody>
      </p:sp>
      <p:sp>
        <p:nvSpPr>
          <p:cNvPr id="13" name="Shape 11"/>
          <p:cNvSpPr/>
          <p:nvPr/>
        </p:nvSpPr>
        <p:spPr>
          <a:xfrm>
            <a:off x="548640" y="2487168"/>
            <a:ext cx="8046720" cy="2221992"/>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548640" y="2487168"/>
            <a:ext cx="54864" cy="2221992"/>
          </a:xfrm>
          <a:prstGeom prst="rect">
            <a:avLst/>
          </a:prstGeom>
          <a:solidFill>
            <a:srgbClr val="0891B2"/>
          </a:solidFill>
          <a:ln/>
        </p:spPr>
      </p:sp>
      <p:sp>
        <p:nvSpPr>
          <p:cNvPr id="15" name="Text 13"/>
          <p:cNvSpPr/>
          <p:nvPr/>
        </p:nvSpPr>
        <p:spPr>
          <a:xfrm>
            <a:off x="777240" y="2532888"/>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6" name="Text 14"/>
          <p:cNvSpPr/>
          <p:nvPr/>
        </p:nvSpPr>
        <p:spPr>
          <a:xfrm>
            <a:off x="777240" y="2743200"/>
            <a:ext cx="7589520" cy="1901952"/>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스키마 = 구조와 제약조건 정의 / 인스턴스 = 실제 저장된 값.</a:t>
            </a:r>
            <a:endParaRPr lang="en-US" sz="12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17 / 27</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18</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다음 설명에서 Ⓐ가 무엇인지 답하시오.</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"3단계 데이터베이스 구조에서 (Ⓐ)는 개념 스키마와 내부 스키마의 대응 관계를 정의한 것으로, 저장 인터페이스라고도 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18 / 27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18</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다음 설명에서 Ⓐ가 무엇인지 답하시오.</a:t>
            </a:r>
            <a:endParaRPr lang="en-US" sz="1200" dirty="0"/>
          </a:p>
        </p:txBody>
      </p:sp>
      <p:sp>
        <p:nvSpPr>
          <p:cNvPr id="8" name="Text 6"/>
          <p:cNvSpPr/>
          <p:nvPr/>
        </p:nvSpPr>
        <p:spPr>
          <a:xfrm>
            <a:off x="640080" y="1069848"/>
            <a:ext cx="7863840" cy="594360"/>
          </a:xfrm>
          <a:prstGeom prst="rect">
            <a:avLst/>
          </a:prstGeom>
          <a:noFill/>
          <a:ln/>
        </p:spPr>
        <p:txBody>
          <a:bodyPr wrap="square" rtlCol="0" anchor="t"/>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"3단계 데이터베이스 구조에서 (Ⓐ)는 개념 스키마와 내부 스키마의 대응 관계를 정의한 것으로, 저장 인터페이스라고도 한다."</a:t>
            </a:r>
            <a:endParaRPr lang="en-US" sz="1000" dirty="0"/>
          </a:p>
        </p:txBody>
      </p:sp>
      <p:sp>
        <p:nvSpPr>
          <p:cNvPr id="9" name="Shape 7"/>
          <p:cNvSpPr/>
          <p:nvPr/>
        </p:nvSpPr>
        <p:spPr>
          <a:xfrm>
            <a:off x="548640" y="1737360"/>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10" name="Shape 8"/>
          <p:cNvSpPr/>
          <p:nvPr/>
        </p:nvSpPr>
        <p:spPr>
          <a:xfrm>
            <a:off x="548640" y="1737360"/>
            <a:ext cx="54864" cy="640080"/>
          </a:xfrm>
          <a:prstGeom prst="rect">
            <a:avLst/>
          </a:prstGeom>
          <a:solidFill>
            <a:srgbClr val="10B981"/>
          </a:solidFill>
          <a:ln/>
        </p:spPr>
      </p:sp>
      <p:sp>
        <p:nvSpPr>
          <p:cNvPr id="11" name="Text 9"/>
          <p:cNvSpPr/>
          <p:nvPr/>
        </p:nvSpPr>
        <p:spPr>
          <a:xfrm>
            <a:off x="777240" y="1764792"/>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2" name="Text 10"/>
          <p:cNvSpPr/>
          <p:nvPr/>
        </p:nvSpPr>
        <p:spPr>
          <a:xfrm>
            <a:off x="777240" y="1965960"/>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개념/내부 사상</a:t>
            </a:r>
            <a:endParaRPr lang="en-US" sz="1200" dirty="0"/>
          </a:p>
        </p:txBody>
      </p:sp>
      <p:sp>
        <p:nvSpPr>
          <p:cNvPr id="13" name="Shape 11"/>
          <p:cNvSpPr/>
          <p:nvPr/>
        </p:nvSpPr>
        <p:spPr>
          <a:xfrm>
            <a:off x="548640" y="2487168"/>
            <a:ext cx="8046720" cy="2221992"/>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548640" y="2487168"/>
            <a:ext cx="54864" cy="2221992"/>
          </a:xfrm>
          <a:prstGeom prst="rect">
            <a:avLst/>
          </a:prstGeom>
          <a:solidFill>
            <a:srgbClr val="0891B2"/>
          </a:solidFill>
          <a:ln/>
        </p:spPr>
      </p:sp>
      <p:sp>
        <p:nvSpPr>
          <p:cNvPr id="15" name="Text 13"/>
          <p:cNvSpPr/>
          <p:nvPr/>
        </p:nvSpPr>
        <p:spPr>
          <a:xfrm>
            <a:off x="777240" y="2532888"/>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6" name="Text 14"/>
          <p:cNvSpPr/>
          <p:nvPr/>
        </p:nvSpPr>
        <p:spPr>
          <a:xfrm>
            <a:off x="777240" y="2743200"/>
            <a:ext cx="7589520" cy="1901952"/>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개념 스키마 ↔ 내부 스키마의 대응 관계 = 개념/내부 사상.</a:t>
            </a:r>
            <a:endParaRPr lang="en-US" sz="12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18 / 27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19</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하위 스키마를 변경하더라도 상위 스키마가 영향을 받지 않는 특성이다. 개념 스키마가 변경되더라도 외부 스키마가 영향을 받지 않는 것을 (Ⓑ)라고 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19 / 27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19</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200" dirty="0"/>
          </a:p>
        </p:txBody>
      </p:sp>
      <p:sp>
        <p:nvSpPr>
          <p:cNvPr id="8" name="Text 6"/>
          <p:cNvSpPr/>
          <p:nvPr/>
        </p:nvSpPr>
        <p:spPr>
          <a:xfrm>
            <a:off x="640080" y="1069848"/>
            <a:ext cx="7863840" cy="594360"/>
          </a:xfrm>
          <a:prstGeom prst="rect">
            <a:avLst/>
          </a:prstGeom>
          <a:noFill/>
          <a:ln/>
        </p:spPr>
        <p:txBody>
          <a:bodyPr wrap="square" rtlCol="0" anchor="t"/>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"(Ⓐ)는 하위 스키마를 변경하더라도 상위 스키마가 영향을 받지 않는 특성이다. 개념 스키마가 변경되더라도 외부 스키마가 영향을 받지 않는 것을 (Ⓑ)라고 한다."</a:t>
            </a:r>
            <a:endParaRPr lang="en-US" sz="1000" dirty="0"/>
          </a:p>
        </p:txBody>
      </p:sp>
      <p:sp>
        <p:nvSpPr>
          <p:cNvPr id="9" name="Shape 7"/>
          <p:cNvSpPr/>
          <p:nvPr/>
        </p:nvSpPr>
        <p:spPr>
          <a:xfrm>
            <a:off x="548640" y="1737360"/>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10" name="Shape 8"/>
          <p:cNvSpPr/>
          <p:nvPr/>
        </p:nvSpPr>
        <p:spPr>
          <a:xfrm>
            <a:off x="548640" y="1737360"/>
            <a:ext cx="54864" cy="640080"/>
          </a:xfrm>
          <a:prstGeom prst="rect">
            <a:avLst/>
          </a:prstGeom>
          <a:solidFill>
            <a:srgbClr val="10B981"/>
          </a:solidFill>
          <a:ln/>
        </p:spPr>
      </p:sp>
      <p:sp>
        <p:nvSpPr>
          <p:cNvPr id="11" name="Text 9"/>
          <p:cNvSpPr/>
          <p:nvPr/>
        </p:nvSpPr>
        <p:spPr>
          <a:xfrm>
            <a:off x="777240" y="1764792"/>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2" name="Text 10"/>
          <p:cNvSpPr/>
          <p:nvPr/>
        </p:nvSpPr>
        <p:spPr>
          <a:xfrm>
            <a:off x="777240" y="1965960"/>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 데이터 독립성, Ⓑ: 논리적 데이터 독립성</a:t>
            </a:r>
            <a:endParaRPr lang="en-US" sz="1200" dirty="0"/>
          </a:p>
        </p:txBody>
      </p:sp>
      <p:sp>
        <p:nvSpPr>
          <p:cNvPr id="13" name="Shape 11"/>
          <p:cNvSpPr/>
          <p:nvPr/>
        </p:nvSpPr>
        <p:spPr>
          <a:xfrm>
            <a:off x="548640" y="2487168"/>
            <a:ext cx="8046720" cy="2221992"/>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548640" y="2487168"/>
            <a:ext cx="54864" cy="2221992"/>
          </a:xfrm>
          <a:prstGeom prst="rect">
            <a:avLst/>
          </a:prstGeom>
          <a:solidFill>
            <a:srgbClr val="0891B2"/>
          </a:solidFill>
          <a:ln/>
        </p:spPr>
      </p:sp>
      <p:sp>
        <p:nvSpPr>
          <p:cNvPr id="15" name="Text 13"/>
          <p:cNvSpPr/>
          <p:nvPr/>
        </p:nvSpPr>
        <p:spPr>
          <a:xfrm>
            <a:off x="777240" y="2532888"/>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6" name="Text 14"/>
          <p:cNvSpPr/>
          <p:nvPr/>
        </p:nvSpPr>
        <p:spPr>
          <a:xfrm>
            <a:off x="777240" y="2743200"/>
            <a:ext cx="7589520" cy="1901952"/>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데이터 독립성 = 하위 변경 → 상위 불변. 논리적 독립성 = 개념→외부 영향 없음.</a:t>
            </a:r>
            <a:endParaRPr lang="en-US" sz="12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19 / 27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20</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"(Ⓐ)는 데이터에 관한 정보를 저장하는 곳으로, 스키마, 매핑 정보, 제약조건 등을 저장한다. (Ⓐ)에 저장된 정보에 접근하는 데 필요한 위치 정보는 (Ⓑ)에서 관리한다."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20 / 27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20</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200" dirty="0"/>
          </a:p>
        </p:txBody>
      </p:sp>
      <p:sp>
        <p:nvSpPr>
          <p:cNvPr id="8" name="Text 6"/>
          <p:cNvSpPr/>
          <p:nvPr/>
        </p:nvSpPr>
        <p:spPr>
          <a:xfrm>
            <a:off x="640080" y="1069848"/>
            <a:ext cx="7863840" cy="594360"/>
          </a:xfrm>
          <a:prstGeom prst="rect">
            <a:avLst/>
          </a:prstGeom>
          <a:noFill/>
          <a:ln/>
        </p:spPr>
        <p:txBody>
          <a:bodyPr wrap="square" rtlCol="0" anchor="t"/>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"(Ⓐ)는 데이터에 관한 정보를 저장하는 곳으로, 스키마, 매핑 정보, 제약조건 등을 저장한다. (Ⓐ)에 저장된 정보에 접근하는 데 필요한 위치 정보는 (Ⓑ)에서 관리한다."</a:t>
            </a:r>
            <a:endParaRPr lang="en-US" sz="1000" dirty="0"/>
          </a:p>
        </p:txBody>
      </p:sp>
      <p:sp>
        <p:nvSpPr>
          <p:cNvPr id="9" name="Shape 7"/>
          <p:cNvSpPr/>
          <p:nvPr/>
        </p:nvSpPr>
        <p:spPr>
          <a:xfrm>
            <a:off x="548640" y="1737360"/>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10" name="Shape 8"/>
          <p:cNvSpPr/>
          <p:nvPr/>
        </p:nvSpPr>
        <p:spPr>
          <a:xfrm>
            <a:off x="548640" y="1737360"/>
            <a:ext cx="54864" cy="640080"/>
          </a:xfrm>
          <a:prstGeom prst="rect">
            <a:avLst/>
          </a:prstGeom>
          <a:solidFill>
            <a:srgbClr val="10B981"/>
          </a:solidFill>
          <a:ln/>
        </p:spPr>
      </p:sp>
      <p:sp>
        <p:nvSpPr>
          <p:cNvPr id="11" name="Text 9"/>
          <p:cNvSpPr/>
          <p:nvPr/>
        </p:nvSpPr>
        <p:spPr>
          <a:xfrm>
            <a:off x="777240" y="1764792"/>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2" name="Text 10"/>
          <p:cNvSpPr/>
          <p:nvPr/>
        </p:nvSpPr>
        <p:spPr>
          <a:xfrm>
            <a:off x="777240" y="1965960"/>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 데이터 사전, Ⓑ: 데이터 디렉토리</a:t>
            </a:r>
            <a:endParaRPr lang="en-US" sz="1200" dirty="0"/>
          </a:p>
        </p:txBody>
      </p:sp>
      <p:sp>
        <p:nvSpPr>
          <p:cNvPr id="13" name="Shape 11"/>
          <p:cNvSpPr/>
          <p:nvPr/>
        </p:nvSpPr>
        <p:spPr>
          <a:xfrm>
            <a:off x="548640" y="2487168"/>
            <a:ext cx="8046720" cy="2221992"/>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548640" y="2487168"/>
            <a:ext cx="54864" cy="2221992"/>
          </a:xfrm>
          <a:prstGeom prst="rect">
            <a:avLst/>
          </a:prstGeom>
          <a:solidFill>
            <a:srgbClr val="0891B2"/>
          </a:solidFill>
          <a:ln/>
        </p:spPr>
      </p:sp>
      <p:sp>
        <p:nvSpPr>
          <p:cNvPr id="15" name="Text 13"/>
          <p:cNvSpPr/>
          <p:nvPr/>
        </p:nvSpPr>
        <p:spPr>
          <a:xfrm>
            <a:off x="777240" y="2532888"/>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6" name="Text 14"/>
          <p:cNvSpPr/>
          <p:nvPr/>
        </p:nvSpPr>
        <p:spPr>
          <a:xfrm>
            <a:off x="777240" y="2743200"/>
            <a:ext cx="7589520" cy="1901952"/>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데이터 사전 = 메타 데이터 저장소 / 데이터 디렉토리 = 위치 정보 관리.</a:t>
            </a:r>
            <a:endParaRPr lang="en-US" sz="12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20 / 27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21</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500" dirty="0"/>
          </a:p>
        </p:txBody>
      </p:sp>
      <p:sp>
        <p:nvSpPr>
          <p:cNvPr id="9" name="Shape 7"/>
          <p:cNvSpPr/>
          <p:nvPr/>
        </p:nvSpPr>
        <p:spPr>
          <a:xfrm>
            <a:off x="548640" y="1554480"/>
            <a:ext cx="8046720" cy="310896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0" name="Text 8"/>
          <p:cNvSpPr/>
          <p:nvPr/>
        </p:nvSpPr>
        <p:spPr>
          <a:xfrm>
            <a:off x="822960" y="1691640"/>
            <a:ext cx="7498080" cy="2834640"/>
          </a:xfrm>
          <a:prstGeom prst="rect">
            <a:avLst/>
          </a:prstGeom>
          <a:noFill/>
          <a:ln/>
        </p:spPr>
        <p:txBody>
          <a:bodyPr wrap="square" rtlCol="0" anchor="t"/>
          <a:lstStyle/>
          <a:p>
            <a:pPr indent="0" marL="0">
              <a:lnSpc>
                <a:spcPct val="150000"/>
              </a:lnSpc>
              <a:buNone/>
            </a:pPr>
            <a:r>
              <a:rPr lang="en-US" sz="1300" dirty="0">
                <a:solidFill>
                  <a:srgbClr val="334155"/>
                </a:solidFill>
                <a:latin typeface="Calibri" pitchFamily="34" charset="0"/>
                <a:ea typeface="Calibri" pitchFamily="34" charset="-122"/>
                <a:cs typeface="Calibri" pitchFamily="34" charset="-120"/>
              </a:rPr>
              <a:t>"DBMS는 사용자의 처리 요구를 해석하여 처리하는 (Ⓐ)와, 디스크의 사용자 DB와 데이터 사전을 관리하고 접근하는 (Ⓑ)로 구성되어 있다."</a:t>
            </a:r>
            <a:endParaRPr lang="en-US" sz="1300" dirty="0"/>
          </a:p>
        </p:txBody>
      </p:sp>
      <p:sp>
        <p:nvSpPr>
          <p:cNvPr id="11" name="Text 9"/>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21 / 27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21</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다음 설명에서 Ⓐ와 Ⓑ를 답하시오.</a:t>
            </a:r>
            <a:endParaRPr lang="en-US" sz="1200" dirty="0"/>
          </a:p>
        </p:txBody>
      </p:sp>
      <p:sp>
        <p:nvSpPr>
          <p:cNvPr id="8" name="Text 6"/>
          <p:cNvSpPr/>
          <p:nvPr/>
        </p:nvSpPr>
        <p:spPr>
          <a:xfrm>
            <a:off x="640080" y="1069848"/>
            <a:ext cx="7863840" cy="594360"/>
          </a:xfrm>
          <a:prstGeom prst="rect">
            <a:avLst/>
          </a:prstGeom>
          <a:noFill/>
          <a:ln/>
        </p:spPr>
        <p:txBody>
          <a:bodyPr wrap="square" rtlCol="0" anchor="t"/>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"DBMS는 사용자의 처리 요구를 해석하여 처리하는 (Ⓐ)와, 디스크의 사용자 DB와 데이터 사전을 관리하고 접근하는 (Ⓑ)로 구성되어 있다."</a:t>
            </a:r>
            <a:endParaRPr lang="en-US" sz="1000" dirty="0"/>
          </a:p>
        </p:txBody>
      </p:sp>
      <p:sp>
        <p:nvSpPr>
          <p:cNvPr id="9" name="Shape 7"/>
          <p:cNvSpPr/>
          <p:nvPr/>
        </p:nvSpPr>
        <p:spPr>
          <a:xfrm>
            <a:off x="548640" y="1737360"/>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10" name="Shape 8"/>
          <p:cNvSpPr/>
          <p:nvPr/>
        </p:nvSpPr>
        <p:spPr>
          <a:xfrm>
            <a:off x="548640" y="1737360"/>
            <a:ext cx="54864" cy="640080"/>
          </a:xfrm>
          <a:prstGeom prst="rect">
            <a:avLst/>
          </a:prstGeom>
          <a:solidFill>
            <a:srgbClr val="10B981"/>
          </a:solidFill>
          <a:ln/>
        </p:spPr>
      </p:sp>
      <p:sp>
        <p:nvSpPr>
          <p:cNvPr id="11" name="Text 9"/>
          <p:cNvSpPr/>
          <p:nvPr/>
        </p:nvSpPr>
        <p:spPr>
          <a:xfrm>
            <a:off x="777240" y="1764792"/>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2" name="Text 10"/>
          <p:cNvSpPr/>
          <p:nvPr/>
        </p:nvSpPr>
        <p:spPr>
          <a:xfrm>
            <a:off x="777240" y="1965960"/>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 질의 처리기, Ⓑ: 저장 데이터 관리자</a:t>
            </a:r>
            <a:endParaRPr lang="en-US" sz="1200" dirty="0"/>
          </a:p>
        </p:txBody>
      </p:sp>
      <p:sp>
        <p:nvSpPr>
          <p:cNvPr id="13" name="Shape 11"/>
          <p:cNvSpPr/>
          <p:nvPr/>
        </p:nvSpPr>
        <p:spPr>
          <a:xfrm>
            <a:off x="548640" y="2487168"/>
            <a:ext cx="8046720" cy="2221992"/>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4" name="Shape 12"/>
          <p:cNvSpPr/>
          <p:nvPr/>
        </p:nvSpPr>
        <p:spPr>
          <a:xfrm>
            <a:off x="548640" y="2487168"/>
            <a:ext cx="54864" cy="2221992"/>
          </a:xfrm>
          <a:prstGeom prst="rect">
            <a:avLst/>
          </a:prstGeom>
          <a:solidFill>
            <a:srgbClr val="0891B2"/>
          </a:solidFill>
          <a:ln/>
        </p:spPr>
      </p:sp>
      <p:sp>
        <p:nvSpPr>
          <p:cNvPr id="15" name="Text 13"/>
          <p:cNvSpPr/>
          <p:nvPr/>
        </p:nvSpPr>
        <p:spPr>
          <a:xfrm>
            <a:off x="777240" y="2532888"/>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6" name="Text 14"/>
          <p:cNvSpPr/>
          <p:nvPr/>
        </p:nvSpPr>
        <p:spPr>
          <a:xfrm>
            <a:off x="777240" y="2743200"/>
            <a:ext cx="7589520" cy="1901952"/>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DBMS = 질의 처리기(DDL/DML 컴파일러 등) + 저장 데이터 관리자(디스크 접근).</a:t>
            </a:r>
            <a:endParaRPr lang="en-US" sz="1200" dirty="0"/>
          </a:p>
        </p:txBody>
      </p:sp>
      <p:sp>
        <p:nvSpPr>
          <p:cNvPr id="17" name="Text 15"/>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21 / 27</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22</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데이터베이스의 스키마(Schema)에 대해 간략히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22 / 27</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22</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데이터베이스의 스키마(Schema)에 대해 간략히 설명하시오.</a:t>
            </a:r>
            <a:endParaRPr lang="en-US" sz="1200" dirty="0"/>
          </a:p>
        </p:txBody>
      </p:sp>
      <p:sp>
        <p:nvSpPr>
          <p:cNvPr id="8" name="Shape 6"/>
          <p:cNvSpPr/>
          <p:nvPr/>
        </p:nvSpPr>
        <p:spPr>
          <a:xfrm>
            <a:off x="548640" y="1069848"/>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64008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스키마는 데이터베이스에 저장되는 데이터 구조와 제약조건을 정의한 것이다.</a:t>
            </a:r>
            <a:endParaRPr lang="en-US" sz="1200" dirty="0"/>
          </a:p>
        </p:txBody>
      </p:sp>
      <p:sp>
        <p:nvSpPr>
          <p:cNvPr id="12" name="Shape 10"/>
          <p:cNvSpPr/>
          <p:nvPr/>
        </p:nvSpPr>
        <p:spPr>
          <a:xfrm>
            <a:off x="548640" y="1819656"/>
            <a:ext cx="8046720" cy="28895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819656"/>
            <a:ext cx="54864" cy="2889504"/>
          </a:xfrm>
          <a:prstGeom prst="rect">
            <a:avLst/>
          </a:prstGeom>
          <a:solidFill>
            <a:srgbClr val="0891B2"/>
          </a:solidFill>
          <a:ln/>
        </p:spPr>
      </p:sp>
      <p:sp>
        <p:nvSpPr>
          <p:cNvPr id="14" name="Text 12"/>
          <p:cNvSpPr/>
          <p:nvPr/>
        </p:nvSpPr>
        <p:spPr>
          <a:xfrm>
            <a:off x="777240" y="186537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075688"/>
            <a:ext cx="7589520" cy="256946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메타 데이터라고도 하며, 데이터 사전에 저장됨.</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22 / 27</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23</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 시스템이 무엇인지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23 / 27</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23</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 시스템이 무엇인지 설명하시오.</a:t>
            </a:r>
            <a:endParaRPr lang="en-US" sz="1200" dirty="0"/>
          </a:p>
        </p:txBody>
      </p:sp>
      <p:sp>
        <p:nvSpPr>
          <p:cNvPr id="8" name="Shape 6"/>
          <p:cNvSpPr/>
          <p:nvPr/>
        </p:nvSpPr>
        <p:spPr>
          <a:xfrm>
            <a:off x="548640" y="1069848"/>
            <a:ext cx="8046720" cy="73152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73152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45720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데이터베이스에 데이터를 저장하고, 저장된 데이터를 관리하여 조직에 필요한 정보를 생성해주는 시스템이다.</a:t>
            </a:r>
            <a:endParaRPr lang="en-US" sz="1200" dirty="0"/>
          </a:p>
        </p:txBody>
      </p:sp>
      <p:sp>
        <p:nvSpPr>
          <p:cNvPr id="12" name="Shape 10"/>
          <p:cNvSpPr/>
          <p:nvPr/>
        </p:nvSpPr>
        <p:spPr>
          <a:xfrm>
            <a:off x="548640" y="1911096"/>
            <a:ext cx="8046720" cy="279806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911096"/>
            <a:ext cx="54864" cy="2798064"/>
          </a:xfrm>
          <a:prstGeom prst="rect">
            <a:avLst/>
          </a:prstGeom>
          <a:solidFill>
            <a:srgbClr val="0891B2"/>
          </a:solidFill>
          <a:ln/>
        </p:spPr>
      </p:sp>
      <p:sp>
        <p:nvSpPr>
          <p:cNvPr id="14" name="Text 12"/>
          <p:cNvSpPr/>
          <p:nvPr/>
        </p:nvSpPr>
        <p:spPr>
          <a:xfrm>
            <a:off x="777240" y="195681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167128"/>
            <a:ext cx="7589520" cy="247802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구성 요소: 데이터베이스 + 사용자 + DBMS + 데이터 언어 + 컴퓨터.</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23 / 27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24</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 시스템의 주요 구성 요소 5가지를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24 / 27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24</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 시스템의 주요 구성 요소 5가지를 설명하시오.</a:t>
            </a:r>
            <a:endParaRPr lang="en-US" sz="1200" dirty="0"/>
          </a:p>
        </p:txBody>
      </p:sp>
      <p:sp>
        <p:nvSpPr>
          <p:cNvPr id="8" name="Shape 6"/>
          <p:cNvSpPr/>
          <p:nvPr/>
        </p:nvSpPr>
        <p:spPr>
          <a:xfrm>
            <a:off x="548640" y="1069848"/>
            <a:ext cx="8046720" cy="64008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64008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36576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① 데이터베이스  ② 사용자  ③ DBMS  ④ 데이터 언어  ⑤ 컴퓨터</a:t>
            </a:r>
            <a:endParaRPr lang="en-US" sz="1200" dirty="0"/>
          </a:p>
        </p:txBody>
      </p:sp>
      <p:sp>
        <p:nvSpPr>
          <p:cNvPr id="12" name="Shape 10"/>
          <p:cNvSpPr/>
          <p:nvPr/>
        </p:nvSpPr>
        <p:spPr>
          <a:xfrm>
            <a:off x="548640" y="1819656"/>
            <a:ext cx="8046720" cy="288950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819656"/>
            <a:ext cx="54864" cy="2889504"/>
          </a:xfrm>
          <a:prstGeom prst="rect">
            <a:avLst/>
          </a:prstGeom>
          <a:solidFill>
            <a:srgbClr val="0891B2"/>
          </a:solidFill>
          <a:ln/>
        </p:spPr>
      </p:sp>
      <p:sp>
        <p:nvSpPr>
          <p:cNvPr id="14" name="Text 12"/>
          <p:cNvSpPr/>
          <p:nvPr/>
        </p:nvSpPr>
        <p:spPr>
          <a:xfrm>
            <a:off x="777240" y="186537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075688"/>
            <a:ext cx="7589520" cy="256946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데이터 집합(DB), 이용자(사용자), 관리SW(DBMS), 통신수단(데이터 언어), HW(컴퓨터).</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24 / 27</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25</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64008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 독립성의 의미를 설명하고, 3단계 DB 구조에서 데이터 독립성을 실현하는 방법을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25 / 27</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25</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 독립성의 의미를 설명하고, 3단계 DB 구조에서 데이터 독립성을 실현하는 방법을 설명하시오.</a:t>
            </a:r>
            <a:endParaRPr lang="en-US" sz="1200" dirty="0"/>
          </a:p>
        </p:txBody>
      </p:sp>
      <p:sp>
        <p:nvSpPr>
          <p:cNvPr id="8" name="Shape 6"/>
          <p:cNvSpPr/>
          <p:nvPr/>
        </p:nvSpPr>
        <p:spPr>
          <a:xfrm>
            <a:off x="548640" y="1069848"/>
            <a:ext cx="8046720" cy="73152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73152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45720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하위 스키마를 변경해도 상위 스키마가 영향받지 않는 특성. 스키마 사이의 사상(매핑) 정보를 이용해 실현한다.</a:t>
            </a:r>
            <a:endParaRPr lang="en-US" sz="1200" dirty="0"/>
          </a:p>
        </p:txBody>
      </p:sp>
      <p:sp>
        <p:nvSpPr>
          <p:cNvPr id="12" name="Shape 10"/>
          <p:cNvSpPr/>
          <p:nvPr/>
        </p:nvSpPr>
        <p:spPr>
          <a:xfrm>
            <a:off x="548640" y="1911096"/>
            <a:ext cx="8046720" cy="279806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911096"/>
            <a:ext cx="54864" cy="2798064"/>
          </a:xfrm>
          <a:prstGeom prst="rect">
            <a:avLst/>
          </a:prstGeom>
          <a:solidFill>
            <a:srgbClr val="0891B2"/>
          </a:solidFill>
          <a:ln/>
        </p:spPr>
      </p:sp>
      <p:sp>
        <p:nvSpPr>
          <p:cNvPr id="14" name="Text 12"/>
          <p:cNvSpPr/>
          <p:nvPr/>
        </p:nvSpPr>
        <p:spPr>
          <a:xfrm>
            <a:off x="777240" y="195681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167128"/>
            <a:ext cx="7589520" cy="247802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논리적 독립성: 외부/개념 사상으로 실현.</a:t>
            </a:r>
            <a:endParaRPr lang="en-US" sz="1200" dirty="0"/>
          </a:p>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물리적 독립성: 개념/내부 사상으로 실현.</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25 / 27</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26</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데이터베이스 관리자가 담당하는 주요 업무를 간단히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26 / 27</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26</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데이터베이스 관리자가 담당하는 주요 업무를 간단히 설명하시오.</a:t>
            </a:r>
            <a:endParaRPr lang="en-US" sz="1200" dirty="0"/>
          </a:p>
        </p:txBody>
      </p:sp>
      <p:sp>
        <p:nvSpPr>
          <p:cNvPr id="8" name="Shape 6"/>
          <p:cNvSpPr/>
          <p:nvPr/>
        </p:nvSpPr>
        <p:spPr>
          <a:xfrm>
            <a:off x="548640" y="1069848"/>
            <a:ext cx="8046720" cy="73152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73152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45720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스키마 정의, 물리적 저장 구조 결정, 제약조건 정의, 보안/접근 권한 정책, 백업/회복, 시스템 성능 감시, DB 재구성 등</a:t>
            </a:r>
            <a:endParaRPr lang="en-US" sz="1200" dirty="0"/>
          </a:p>
        </p:txBody>
      </p:sp>
      <p:sp>
        <p:nvSpPr>
          <p:cNvPr id="12" name="Shape 10"/>
          <p:cNvSpPr/>
          <p:nvPr/>
        </p:nvSpPr>
        <p:spPr>
          <a:xfrm>
            <a:off x="548640" y="1911096"/>
            <a:ext cx="8046720" cy="279806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911096"/>
            <a:ext cx="54864" cy="2798064"/>
          </a:xfrm>
          <a:prstGeom prst="rect">
            <a:avLst/>
          </a:prstGeom>
          <a:solidFill>
            <a:srgbClr val="0891B2"/>
          </a:solidFill>
          <a:ln/>
        </p:spPr>
      </p:sp>
      <p:sp>
        <p:nvSpPr>
          <p:cNvPr id="14" name="Text 12"/>
          <p:cNvSpPr/>
          <p:nvPr/>
        </p:nvSpPr>
        <p:spPr>
          <a:xfrm>
            <a:off x="777240" y="195681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167128"/>
            <a:ext cx="7589520" cy="247802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DBA는 DB 설계부터 운영, 보안, 성능 관리까지 전반적인 책임을 집니다.</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26 / 27</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94360"/>
          </a:xfrm>
          <a:prstGeom prst="rect">
            <a:avLst/>
          </a:prstGeom>
          <a:solidFill>
            <a:srgbClr val="1A2744"/>
          </a:solidFill>
          <a:ln/>
        </p:spPr>
      </p:sp>
      <p:sp>
        <p:nvSpPr>
          <p:cNvPr id="5" name="Text 3"/>
          <p:cNvSpPr/>
          <p:nvPr/>
        </p:nvSpPr>
        <p:spPr>
          <a:xfrm>
            <a:off x="548640" y="54864"/>
            <a:ext cx="1828800" cy="594360"/>
          </a:xfrm>
          <a:prstGeom prst="rect">
            <a:avLst/>
          </a:prstGeom>
          <a:noFill/>
          <a:ln/>
        </p:spPr>
        <p:txBody>
          <a:bodyPr wrap="square" rtlCol="0" anchor="ctr"/>
          <a:lstStyle/>
          <a:p>
            <a:pPr indent="0" marL="0">
              <a:buNone/>
            </a:pPr>
            <a:r>
              <a:rPr lang="en-US" sz="2000" b="1" dirty="0">
                <a:solidFill>
                  <a:srgbClr val="FFFFFF"/>
                </a:solidFill>
                <a:latin typeface="맑은 고딕" pitchFamily="34" charset="0"/>
                <a:ea typeface="맑은 고딕" pitchFamily="34" charset="-122"/>
                <a:cs typeface="맑은 고딕" pitchFamily="34" charset="-120"/>
              </a:rPr>
              <a:t>문제 27</a:t>
            </a:r>
            <a:endParaRPr lang="en-US" sz="2000" dirty="0"/>
          </a:p>
        </p:txBody>
      </p:sp>
      <p:sp>
        <p:nvSpPr>
          <p:cNvPr id="6" name="Text 4"/>
          <p:cNvSpPr/>
          <p:nvPr/>
        </p:nvSpPr>
        <p:spPr>
          <a:xfrm>
            <a:off x="6858000" y="54864"/>
            <a:ext cx="1828800" cy="594360"/>
          </a:xfrm>
          <a:prstGeom prst="rect">
            <a:avLst/>
          </a:prstGeom>
          <a:noFill/>
          <a:ln/>
        </p:spPr>
        <p:txBody>
          <a:bodyPr wrap="square" rtlCol="0" anchor="ctr"/>
          <a:lstStyle/>
          <a:p>
            <a:pPr algn="r" indent="0" marL="0">
              <a:buNone/>
            </a:pPr>
            <a:r>
              <a:rPr lang="en-US" sz="1400" dirty="0">
                <a:solidFill>
                  <a:srgbClr val="22D3EE"/>
                </a:solidFill>
                <a:latin typeface="Calibri" pitchFamily="34" charset="0"/>
                <a:ea typeface="Calibri" pitchFamily="34" charset="-122"/>
                <a:cs typeface="Calibri" pitchFamily="34" charset="-120"/>
              </a:rPr>
              <a:t>서술형</a:t>
            </a:r>
            <a:endParaRPr lang="en-US" sz="1400" dirty="0"/>
          </a:p>
        </p:txBody>
      </p:sp>
      <p:sp>
        <p:nvSpPr>
          <p:cNvPr id="7" name="Shape 5"/>
          <p:cNvSpPr/>
          <p:nvPr/>
        </p:nvSpPr>
        <p:spPr>
          <a:xfrm>
            <a:off x="457200" y="850392"/>
            <a:ext cx="8229600" cy="13716"/>
          </a:xfrm>
          <a:prstGeom prst="rect">
            <a:avLst/>
          </a:prstGeom>
          <a:solidFill>
            <a:srgbClr val="E2E8F0"/>
          </a:solidFill>
          <a:ln/>
        </p:spPr>
      </p:sp>
      <p:sp>
        <p:nvSpPr>
          <p:cNvPr id="8" name="Text 6"/>
          <p:cNvSpPr/>
          <p:nvPr/>
        </p:nvSpPr>
        <p:spPr>
          <a:xfrm>
            <a:off x="548640" y="914400"/>
            <a:ext cx="8046720" cy="548640"/>
          </a:xfrm>
          <a:prstGeom prst="rect">
            <a:avLst/>
          </a:prstGeom>
          <a:noFill/>
          <a:ln/>
        </p:spPr>
        <p:txBody>
          <a:bodyPr wrap="square" rtlCol="0" anchor="t"/>
          <a:lstStyle/>
          <a:p>
            <a:pPr indent="0" marL="0">
              <a:lnSpc>
                <a:spcPct val="140000"/>
              </a:lnSpc>
              <a:buNone/>
            </a:pPr>
            <a:r>
              <a:rPr lang="en-US" sz="1500" b="1" dirty="0">
                <a:solidFill>
                  <a:srgbClr val="1A2744"/>
                </a:solidFill>
                <a:latin typeface="맑은 고딕" pitchFamily="34" charset="0"/>
                <a:ea typeface="맑은 고딕" pitchFamily="34" charset="-122"/>
                <a:cs typeface="맑은 고딕" pitchFamily="34" charset="-120"/>
              </a:rPr>
              <a:t>데이터 언어를 사용 목적에 따라 세 가지 유형으로 분류하고, 각각을 설명하시오.</a:t>
            </a:r>
            <a:endParaRPr lang="en-US" sz="1500" dirty="0"/>
          </a:p>
        </p:txBody>
      </p:sp>
      <p:sp>
        <p:nvSpPr>
          <p:cNvPr id="9" name="Text 7"/>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문제 27 / 27</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Shape 2"/>
          <p:cNvSpPr/>
          <p:nvPr/>
        </p:nvSpPr>
        <p:spPr>
          <a:xfrm>
            <a:off x="0" y="54864"/>
            <a:ext cx="9144000" cy="502920"/>
          </a:xfrm>
          <a:prstGeom prst="rect">
            <a:avLst/>
          </a:prstGeom>
          <a:solidFill>
            <a:srgbClr val="065F46"/>
          </a:solidFill>
          <a:ln/>
        </p:spPr>
      </p:sp>
      <p:sp>
        <p:nvSpPr>
          <p:cNvPr id="5" name="Text 3"/>
          <p:cNvSpPr/>
          <p:nvPr/>
        </p:nvSpPr>
        <p:spPr>
          <a:xfrm>
            <a:off x="548640" y="54864"/>
            <a:ext cx="1828800" cy="502920"/>
          </a:xfrm>
          <a:prstGeom prst="rect">
            <a:avLst/>
          </a:prstGeom>
          <a:noFill/>
          <a:ln/>
        </p:spPr>
        <p:txBody>
          <a:bodyPr wrap="square" rtlCol="0" anchor="ctr"/>
          <a:lstStyle/>
          <a:p>
            <a:pPr indent="0" marL="0">
              <a:buNone/>
            </a:pPr>
            <a:r>
              <a:rPr lang="en-US" sz="1800" b="1" dirty="0">
                <a:solidFill>
                  <a:srgbClr val="FFFFFF"/>
                </a:solidFill>
                <a:latin typeface="맑은 고딕" pitchFamily="34" charset="0"/>
                <a:ea typeface="맑은 고딕" pitchFamily="34" charset="-122"/>
                <a:cs typeface="맑은 고딕" pitchFamily="34" charset="-120"/>
              </a:rPr>
              <a:t>정답 27</a:t>
            </a:r>
            <a:endParaRPr lang="en-US" sz="1800" dirty="0"/>
          </a:p>
        </p:txBody>
      </p:sp>
      <p:sp>
        <p:nvSpPr>
          <p:cNvPr id="6" name="Text 4"/>
          <p:cNvSpPr/>
          <p:nvPr/>
        </p:nvSpPr>
        <p:spPr>
          <a:xfrm>
            <a:off x="6400800" y="54864"/>
            <a:ext cx="2286000" cy="502920"/>
          </a:xfrm>
          <a:prstGeom prst="rect">
            <a:avLst/>
          </a:prstGeom>
          <a:noFill/>
          <a:ln/>
        </p:spPr>
        <p:txBody>
          <a:bodyPr wrap="square" rtlCol="0" anchor="ctr"/>
          <a:lstStyle/>
          <a:p>
            <a:pPr algn="r" indent="0" marL="0">
              <a:buNone/>
            </a:pPr>
            <a:r>
              <a:rPr lang="en-US" sz="1300" dirty="0">
                <a:solidFill>
                  <a:srgbClr val="D1FAE5"/>
                </a:solidFill>
                <a:latin typeface="Calibri" pitchFamily="34" charset="0"/>
                <a:ea typeface="Calibri" pitchFamily="34" charset="-122"/>
                <a:cs typeface="Calibri" pitchFamily="34" charset="-120"/>
              </a:rPr>
              <a:t>정답 &amp; 해설</a:t>
            </a:r>
            <a:endParaRPr lang="en-US" sz="1300" dirty="0"/>
          </a:p>
        </p:txBody>
      </p:sp>
      <p:sp>
        <p:nvSpPr>
          <p:cNvPr id="7" name="Text 5"/>
          <p:cNvSpPr/>
          <p:nvPr/>
        </p:nvSpPr>
        <p:spPr>
          <a:xfrm>
            <a:off x="548640" y="658368"/>
            <a:ext cx="8046720" cy="365760"/>
          </a:xfrm>
          <a:prstGeom prst="rect">
            <a:avLst/>
          </a:prstGeom>
          <a:noFill/>
          <a:ln/>
        </p:spPr>
        <p:txBody>
          <a:bodyPr wrap="square" rtlCol="0" anchor="t"/>
          <a:lstStyle/>
          <a:p>
            <a:pPr indent="0" marL="0">
              <a:lnSpc>
                <a:spcPct val="130000"/>
              </a:lnSpc>
              <a:buNone/>
            </a:pPr>
            <a:r>
              <a:rPr lang="en-US" sz="1200" b="1" dirty="0">
                <a:solidFill>
                  <a:srgbClr val="1A2744"/>
                </a:solidFill>
                <a:latin typeface="맑은 고딕" pitchFamily="34" charset="0"/>
                <a:ea typeface="맑은 고딕" pitchFamily="34" charset="-122"/>
                <a:cs typeface="맑은 고딕" pitchFamily="34" charset="-120"/>
              </a:rPr>
              <a:t>데이터 언어를 사용 목적에 따라 세 가지 유형으로 분류하고, 각각을 설명하시오.</a:t>
            </a:r>
            <a:endParaRPr lang="en-US" sz="1200" dirty="0"/>
          </a:p>
        </p:txBody>
      </p:sp>
      <p:sp>
        <p:nvSpPr>
          <p:cNvPr id="8" name="Shape 6"/>
          <p:cNvSpPr/>
          <p:nvPr/>
        </p:nvSpPr>
        <p:spPr>
          <a:xfrm>
            <a:off x="548640" y="1069848"/>
            <a:ext cx="8046720" cy="731520"/>
          </a:xfrm>
          <a:prstGeom prst="rect">
            <a:avLst/>
          </a:prstGeom>
          <a:solidFill>
            <a:srgbClr val="D1FAE5"/>
          </a:solidFill>
          <a:ln/>
          <a:effectLst>
            <a:outerShdw sx="100000" sy="100000" kx="0" ky="0" algn="bl" rotWithShape="0" blurRad="50800" dist="12700" dir="8100000">
              <a:srgbClr val="000000">
                <a:alpha val="6000"/>
              </a:srgbClr>
            </a:outerShdw>
          </a:effectLst>
        </p:spPr>
      </p:sp>
      <p:sp>
        <p:nvSpPr>
          <p:cNvPr id="9" name="Shape 7"/>
          <p:cNvSpPr/>
          <p:nvPr/>
        </p:nvSpPr>
        <p:spPr>
          <a:xfrm>
            <a:off x="548640" y="1069848"/>
            <a:ext cx="54864" cy="731520"/>
          </a:xfrm>
          <a:prstGeom prst="rect">
            <a:avLst/>
          </a:prstGeom>
          <a:solidFill>
            <a:srgbClr val="10B981"/>
          </a:solidFill>
          <a:ln/>
        </p:spPr>
      </p:sp>
      <p:sp>
        <p:nvSpPr>
          <p:cNvPr id="10" name="Text 8"/>
          <p:cNvSpPr/>
          <p:nvPr/>
        </p:nvSpPr>
        <p:spPr>
          <a:xfrm>
            <a:off x="777240" y="1097280"/>
            <a:ext cx="914400" cy="201168"/>
          </a:xfrm>
          <a:prstGeom prst="rect">
            <a:avLst/>
          </a:prstGeom>
          <a:noFill/>
          <a:ln/>
        </p:spPr>
        <p:txBody>
          <a:bodyPr wrap="square" rtlCol="0" anchor="ctr"/>
          <a:lstStyle/>
          <a:p>
            <a:pPr indent="0" marL="0">
              <a:buNone/>
            </a:pPr>
            <a:r>
              <a:rPr lang="en-US" sz="1000" b="1" dirty="0">
                <a:solidFill>
                  <a:srgbClr val="10B981"/>
                </a:solidFill>
                <a:latin typeface="맑은 고딕" pitchFamily="34" charset="0"/>
                <a:ea typeface="맑은 고딕" pitchFamily="34" charset="-122"/>
                <a:cs typeface="맑은 고딕" pitchFamily="34" charset="-120"/>
              </a:rPr>
              <a:t>정답</a:t>
            </a:r>
            <a:endParaRPr lang="en-US" sz="1000" dirty="0"/>
          </a:p>
        </p:txBody>
      </p:sp>
      <p:sp>
        <p:nvSpPr>
          <p:cNvPr id="11" name="Text 9"/>
          <p:cNvSpPr/>
          <p:nvPr/>
        </p:nvSpPr>
        <p:spPr>
          <a:xfrm>
            <a:off x="777240" y="1298448"/>
            <a:ext cx="7589520" cy="457200"/>
          </a:xfrm>
          <a:prstGeom prst="rect">
            <a:avLst/>
          </a:prstGeom>
          <a:noFill/>
          <a:ln/>
        </p:spPr>
        <p:txBody>
          <a:bodyPr wrap="square" rtlCol="0" anchor="t"/>
          <a:lstStyle/>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DDL(정의어): 스키마 정의/수정/삭제</a:t>
            </a:r>
            <a:endParaRPr lang="en-US" sz="1200" dirty="0"/>
          </a:p>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DML(조작어): 삽입/삭제/수정/검색</a:t>
            </a:r>
            <a:endParaRPr lang="en-US" sz="1200" dirty="0"/>
          </a:p>
          <a:p>
            <a:pPr indent="0" marL="0">
              <a:lnSpc>
                <a:spcPct val="130000"/>
              </a:lnSpc>
              <a:buNone/>
            </a:pPr>
            <a:r>
              <a:rPr lang="en-US" sz="1200" b="1" dirty="0">
                <a:solidFill>
                  <a:srgbClr val="EF4444"/>
                </a:solidFill>
                <a:latin typeface="맑은 고딕" pitchFamily="34" charset="0"/>
                <a:ea typeface="맑은 고딕" pitchFamily="34" charset="-122"/>
                <a:cs typeface="맑은 고딕" pitchFamily="34" charset="-120"/>
              </a:rPr>
              <a:t>DCL(제어어): 무결성/동시성/보안 제어</a:t>
            </a:r>
            <a:endParaRPr lang="en-US" sz="1200" dirty="0"/>
          </a:p>
        </p:txBody>
      </p:sp>
      <p:sp>
        <p:nvSpPr>
          <p:cNvPr id="12" name="Shape 10"/>
          <p:cNvSpPr/>
          <p:nvPr/>
        </p:nvSpPr>
        <p:spPr>
          <a:xfrm>
            <a:off x="548640" y="1911096"/>
            <a:ext cx="8046720" cy="2798064"/>
          </a:xfrm>
          <a:prstGeom prst="rect">
            <a:avLst/>
          </a:prstGeom>
          <a:solidFill>
            <a:srgbClr val="FFFFFF"/>
          </a:solidFill>
          <a:ln/>
          <a:effectLst>
            <a:outerShdw sx="100000" sy="100000" kx="0" ky="0" algn="bl" rotWithShape="0" blurRad="50800" dist="12700" dir="8100000">
              <a:srgbClr val="000000">
                <a:alpha val="6000"/>
              </a:srgbClr>
            </a:outerShdw>
          </a:effectLst>
        </p:spPr>
      </p:sp>
      <p:sp>
        <p:nvSpPr>
          <p:cNvPr id="13" name="Shape 11"/>
          <p:cNvSpPr/>
          <p:nvPr/>
        </p:nvSpPr>
        <p:spPr>
          <a:xfrm>
            <a:off x="548640" y="1911096"/>
            <a:ext cx="54864" cy="2798064"/>
          </a:xfrm>
          <a:prstGeom prst="rect">
            <a:avLst/>
          </a:prstGeom>
          <a:solidFill>
            <a:srgbClr val="0891B2"/>
          </a:solidFill>
          <a:ln/>
        </p:spPr>
      </p:sp>
      <p:sp>
        <p:nvSpPr>
          <p:cNvPr id="14" name="Text 12"/>
          <p:cNvSpPr/>
          <p:nvPr/>
        </p:nvSpPr>
        <p:spPr>
          <a:xfrm>
            <a:off x="777240" y="1956816"/>
            <a:ext cx="914400" cy="201168"/>
          </a:xfrm>
          <a:prstGeom prst="rect">
            <a:avLst/>
          </a:prstGeom>
          <a:noFill/>
          <a:ln/>
        </p:spPr>
        <p:txBody>
          <a:bodyPr wrap="square" rtlCol="0" anchor="ctr"/>
          <a:lstStyle/>
          <a:p>
            <a:pPr indent="0" marL="0">
              <a:buNone/>
            </a:pPr>
            <a:r>
              <a:rPr lang="en-US" sz="1000" b="1" dirty="0">
                <a:solidFill>
                  <a:srgbClr val="0891B2"/>
                </a:solidFill>
                <a:latin typeface="맑은 고딕" pitchFamily="34" charset="0"/>
                <a:ea typeface="맑은 고딕" pitchFamily="34" charset="-122"/>
                <a:cs typeface="맑은 고딕" pitchFamily="34" charset="-120"/>
              </a:rPr>
              <a:t>해설</a:t>
            </a:r>
            <a:endParaRPr lang="en-US" sz="1000" dirty="0"/>
          </a:p>
        </p:txBody>
      </p:sp>
      <p:sp>
        <p:nvSpPr>
          <p:cNvPr id="15" name="Text 13"/>
          <p:cNvSpPr/>
          <p:nvPr/>
        </p:nvSpPr>
        <p:spPr>
          <a:xfrm>
            <a:off x="777240" y="2167128"/>
            <a:ext cx="7589520" cy="2478024"/>
          </a:xfrm>
          <a:prstGeom prst="rect">
            <a:avLst/>
          </a:prstGeom>
          <a:noFill/>
          <a:ln/>
        </p:spPr>
        <p:txBody>
          <a:bodyPr wrap="square" rtlCol="0" anchor="t"/>
          <a:lstStyle/>
          <a:p>
            <a:pPr indent="0" marL="0">
              <a:lnSpc>
                <a:spcPct val="140000"/>
              </a:lnSpc>
              <a:buNone/>
            </a:pPr>
            <a:r>
              <a:rPr lang="en-US" sz="1200" dirty="0">
                <a:solidFill>
                  <a:srgbClr val="334155"/>
                </a:solidFill>
                <a:latin typeface="Calibri" pitchFamily="34" charset="0"/>
                <a:ea typeface="Calibri" pitchFamily="34" charset="-122"/>
                <a:cs typeface="Calibri" pitchFamily="34" charset="-120"/>
              </a:rPr>
              <a:t>DDL = CREATE, ALTER, DROP / DML = SELECT, INSERT, UPDATE, DELETE / DCL = GRANT, REVOKE</a:t>
            </a:r>
            <a:endParaRPr lang="en-US" sz="1200" dirty="0"/>
          </a:p>
        </p:txBody>
      </p:sp>
      <p:sp>
        <p:nvSpPr>
          <p:cNvPr id="16" name="Text 14"/>
          <p:cNvSpPr/>
          <p:nvPr/>
        </p:nvSpPr>
        <p:spPr>
          <a:xfrm>
            <a:off x="548640" y="4800600"/>
            <a:ext cx="804672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3장 연습문제  |  정답 27 / 27</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088636"/>
            <a:ext cx="9144000" cy="54864"/>
          </a:xfrm>
          <a:prstGeom prst="rect">
            <a:avLst/>
          </a:prstGeom>
          <a:solidFill>
            <a:srgbClr val="0891B2"/>
          </a:solidFill>
          <a:ln/>
        </p:spPr>
      </p:sp>
      <p:sp>
        <p:nvSpPr>
          <p:cNvPr id="4" name="Text 2"/>
          <p:cNvSpPr/>
          <p:nvPr/>
        </p:nvSpPr>
        <p:spPr>
          <a:xfrm>
            <a:off x="914400" y="1645920"/>
            <a:ext cx="7315200" cy="1097280"/>
          </a:xfrm>
          <a:prstGeom prst="rect">
            <a:avLst/>
          </a:prstGeom>
          <a:noFill/>
          <a:ln/>
        </p:spPr>
        <p:txBody>
          <a:bodyPr wrap="square" rtlCol="0" anchor="ctr"/>
          <a:lstStyle/>
          <a:p>
            <a:pPr algn="ctr" indent="0" marL="0">
              <a:buNone/>
            </a:pPr>
            <a:r>
              <a:rPr lang="en-US" sz="4800" b="1" dirty="0">
                <a:solidFill>
                  <a:srgbClr val="FFFFFF"/>
                </a:solidFill>
                <a:latin typeface="맑은 고딕" pitchFamily="34" charset="0"/>
                <a:ea typeface="맑은 고딕" pitchFamily="34" charset="-122"/>
                <a:cs typeface="맑은 고딕" pitchFamily="34" charset="-120"/>
              </a:rPr>
              <a:t>수고하셨습니다!</a:t>
            </a:r>
            <a:endParaRPr lang="en-US" sz="4800" dirty="0"/>
          </a:p>
        </p:txBody>
      </p:sp>
      <p:sp>
        <p:nvSpPr>
          <p:cNvPr id="5" name="Text 3"/>
          <p:cNvSpPr/>
          <p:nvPr/>
        </p:nvSpPr>
        <p:spPr>
          <a:xfrm>
            <a:off x="914400" y="2743200"/>
            <a:ext cx="7315200" cy="457200"/>
          </a:xfrm>
          <a:prstGeom prst="rect">
            <a:avLst/>
          </a:prstGeom>
          <a:noFill/>
          <a:ln/>
        </p:spPr>
        <p:txBody>
          <a:bodyPr wrap="square" rtlCol="0" anchor="ctr"/>
          <a:lstStyle/>
          <a:p>
            <a:pPr algn="ctr" indent="0" marL="0">
              <a:buNone/>
            </a:pPr>
            <a:r>
              <a:rPr lang="en-US" sz="1800" i="1" dirty="0">
                <a:solidFill>
                  <a:srgbClr val="94A3B8"/>
                </a:solidFill>
                <a:latin typeface="Calibri" pitchFamily="34" charset="0"/>
                <a:ea typeface="Calibri" pitchFamily="34" charset="-122"/>
                <a:cs typeface="Calibri" pitchFamily="34" charset="-120"/>
              </a:rPr>
              <a:t>3장 연습문제 풀이 완료</a:t>
            </a:r>
            <a:endParaRPr lang="en-US" sz="1800" dirty="0"/>
          </a:p>
        </p:txBody>
      </p:sp>
      <p:sp>
        <p:nvSpPr>
          <p:cNvPr id="6" name="Shape 4"/>
          <p:cNvSpPr/>
          <p:nvPr/>
        </p:nvSpPr>
        <p:spPr>
          <a:xfrm>
            <a:off x="3200400" y="3383280"/>
            <a:ext cx="2743200" cy="36576"/>
          </a:xfrm>
          <a:prstGeom prst="rect">
            <a:avLst/>
          </a:prstGeom>
          <a:solidFill>
            <a:srgbClr val="0891B2"/>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3장 연습문제 — 문제 &amp; 정답</dc:title>
  <dc:subject>PptxGenJS Presentation</dc:subject>
  <dc:creator>박상돈</dc:creator>
  <cp:lastModifiedBy>박상돈</cp:lastModifiedBy>
  <cp:revision>1</cp:revision>
  <dcterms:created xsi:type="dcterms:W3CDTF">2026-03-24T03:43:37Z</dcterms:created>
  <dcterms:modified xsi:type="dcterms:W3CDTF">2026-03-24T03:43:37Z</dcterms:modified>
</cp:coreProperties>
</file>