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Oracle</c:v>
                  </c:pt>
                  <c:pt idx="1">
                    <c:v>MySQL</c:v>
                  </c:pt>
                  <c:pt idx="2">
                    <c:v>MS SQL
Server</c:v>
                  </c:pt>
                  <c:pt idx="3">
                    <c:v>PostgreSQL</c:v>
                  </c:pt>
                  <c:pt idx="4">
                    <c:v>MongoDB</c:v>
                  </c:pt>
                  <c:pt idx="5">
                    <c:v>Redis</c:v>
                  </c:pt>
                  <c:pt idx="6">
                    <c:v>Cassandra</c:v>
                  </c:pt>
                  <c:pt idx="7">
                    <c:v>MariaDB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1250</c:v>
                </c:pt>
                <c:pt idx="1">
                  <c:v>1150</c:v>
                </c:pt>
                <c:pt idx="2">
                  <c:v>900</c:v>
                </c:pt>
                <c:pt idx="3">
                  <c:v>850</c:v>
                </c:pt>
                <c:pt idx="4">
                  <c:v>450</c:v>
                </c:pt>
                <c:pt idx="5">
                  <c:v>180</c:v>
                </c:pt>
                <c:pt idx="6">
                  <c:v>120</c:v>
                </c:pt>
                <c:pt idx="7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5088636"/>
            <a:ext cx="9034272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데이터베이스 관리 시스템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 (DBMS)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박상돈 조교수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대전대학교 컴퓨터공학과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1188720" cy="1188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3200400"/>
            <a:ext cx="1097280" cy="109728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0" y="3474720"/>
            <a:ext cx="548640" cy="54864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등장 배경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938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시스템의 문제점과 데이터 관리의 한계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23160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2316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2496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정의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2807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DBMS의 개념, 역할, 주요 기능 (정의·조작·제어)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91840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9184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장·단점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36758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독립성, 동시 공유, 무결성, 비용 문제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160520"/>
            <a:ext cx="73152" cy="7132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6052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28800" y="4233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발전 과정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4544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1세대(네트워크·계층) → 2세대(관계) → 3세대(객체) → 4세대(NoSQL·NewSQL)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2장. 데이터베이스 관리 시스템  |  박상돈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등장 배경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Why File Systems Were Not Enough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파일 시스템(File System)의 데이터 관리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05156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과거에 데이터를 관리하기 위해 사용하던 소프트웨어. 각 응용 프로그램이 독립적인 데이터 파일을 별도로 유지·관리하는 방식.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103120"/>
            <a:ext cx="20116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관리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24028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1520" y="2880360"/>
            <a:ext cx="20116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관리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017520"/>
            <a:ext cx="320040" cy="3200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1520" y="3657600"/>
            <a:ext cx="201168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관리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프로그램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794760"/>
            <a:ext cx="320040" cy="3200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474720" y="2103120"/>
            <a:ext cx="25603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2402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31920" y="2103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파일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(고객ID, 이름, 연락처)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474720" y="2880360"/>
            <a:ext cx="25603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301752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93192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파일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(주문ID, 고객ID, 이름)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3474720" y="3657600"/>
            <a:ext cx="25603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79476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93192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파일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(배송ID, 고객ID, 이름, 주소)</a:t>
            </a:r>
            <a:endParaRPr lang="en-US" sz="950" dirty="0"/>
          </a:p>
        </p:txBody>
      </p:sp>
      <p:sp>
        <p:nvSpPr>
          <p:cNvPr id="28" name="Shape 19"/>
          <p:cNvSpPr/>
          <p:nvPr/>
        </p:nvSpPr>
        <p:spPr>
          <a:xfrm>
            <a:off x="6492240" y="2103120"/>
            <a:ext cx="201168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6492240" y="210312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28600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4088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문제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6629400" y="26517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이름이 3개 파일에 중복 저장됨!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한 곳만 수정하면 불일치 발생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저장 공간 낭비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데이터 일관성 훼손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파일 시스템의 4가지 주요 문제점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16916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중복성 (Redundancy)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데이터가 여러 파일에 중복 저장되어 데이터 일관성(Consistency)과 무결성(Integrity) 유지가 어려움. 한 파일만 수정하면 다른 파일과 불일치 발생.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73152" cy="169164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종속성 (Dependency)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프로그램이 데이터 파일의 구조에 종속됨. DB 구조가 변경되면 모든 관련 응용 프로그램을 함께 수정해야 하는 부담 발생.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297180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971800"/>
            <a:ext cx="73152" cy="169164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089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공유·보안·회복 부족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68680" y="3520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다수의 프로그램이 동시에 데이터를 공유하기 어려움. 보안 기능이 제한적이고, 장애 발생 시 데이터 복구(Recovery) 기능이 부족함.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971800"/>
            <a:ext cx="37490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971800"/>
            <a:ext cx="73152" cy="1691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응용 프로그램 개발 난이도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83480" y="3520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요구(읽기/삽입/삭제 등)에 맞는 프로그램을 매번 새로 개발해야 함. 유지보수 비용 증가 및 개발 생산성 저하.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정의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Database Management System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DBMS란 무엇인가?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</a:rPr>
              <a:t>DBMS (Database Management System)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조직에 필요한 데이터를 통합 저장하고, 이에 대한 관리를 집중적으로 담당하는 소프트웨어 시스템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40280"/>
            <a:ext cx="3749040" cy="6400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파일 시스템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28803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각 프로그램이 별도 데이터 파일 관리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중복 및 불일치 발생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 구조 변경 시 프로그램 수정 필요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동시 접근·보안·회복 기능 부족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프로그램과 데이터가 종속적 관계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3246120"/>
            <a:ext cx="457200" cy="457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54880" y="2240280"/>
            <a:ext cx="3749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2240280"/>
            <a:ext cx="3749040" cy="6400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231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DBMS 도입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029200" y="28803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데이터를 통합 저장·관리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중복 최소화 및 일관성 보장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DBMS가 접근을 중재 → 데이터 독립성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동시 공유, 보안, 회복 기능 제공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연산이 용이해짐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 기반 데이터 관리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18288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097280"/>
            <a:ext cx="18288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1828800" cy="5029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160020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60020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160020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1874520"/>
            <a:ext cx="18288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 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1874520"/>
            <a:ext cx="18288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1874520"/>
            <a:ext cx="1828800" cy="5029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프로그램 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237744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37744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69480" y="2377440"/>
            <a:ext cx="0" cy="36576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2743200"/>
            <a:ext cx="6949440" cy="7772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07792"/>
            <a:ext cx="411480" cy="411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828800" y="2743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(데이터베이스 관리 시스템)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8288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정의 · 조작 · 제어  |  동시성 제어 · 보안 · 회복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389120" y="3520440"/>
            <a:ext cx="0" cy="3200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86000" y="3840480"/>
            <a:ext cx="4206240" cy="914400"/>
          </a:xfrm>
          <a:prstGeom prst="rect">
            <a:avLst/>
          </a:prstGeom>
          <a:solidFill>
            <a:srgbClr val="1A2744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23360"/>
            <a:ext cx="457200" cy="4572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200400" y="3931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통합 데이터베이스 (Integrated DB)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데이터 중복 최소화 · 공유 · 영구 저장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7132320" y="1097280"/>
            <a:ext cx="16459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7132320" y="1097280"/>
            <a:ext cx="1645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0"/>
          <p:cNvSpPr/>
          <p:nvPr/>
        </p:nvSpPr>
        <p:spPr>
          <a:xfrm>
            <a:off x="722376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포인트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7223760" y="1600200"/>
            <a:ext cx="1371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DBMS가 응용 프로그램과 DB 사이를 중재하여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독립성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확보합니다.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구조가 바뀌어도 응용 프로그램은 수정하지 않아도 됩니다.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3대 주요 기능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256032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280160"/>
            <a:ext cx="777240" cy="77724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44475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정의 기능 (Definition)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 구조를 생성·수정·삭제하는 기능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05840" y="301752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154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데이터의 형식, 구조, 제약 조건 등을 명세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테이블, 뷰, 인덱스 등의 스키마 정의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DDL(Data Definition Language) 사용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예: CREATE TABLE, ALTER TABLE, DROP TABLE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0" y="105156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3400" y="1280160"/>
            <a:ext cx="777240" cy="77724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1444752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1188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조작 기능 (Manipulation)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61188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삽입·삭제·수정·검색하는 기능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840480" y="301752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7"/>
          <p:cNvSpPr/>
          <p:nvPr/>
        </p:nvSpPr>
        <p:spPr>
          <a:xfrm>
            <a:off x="3657600" y="3154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사용자와 DB 간의 인터페이스 수단 제공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연산을 체계적으로 수행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DML(Data Manipulation Language) 사용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예: SELECT, INSERT, UPDATE, DELETE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309360" y="1051560"/>
            <a:ext cx="25603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09360" y="1051560"/>
            <a:ext cx="25603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0"/>
          <p:cNvSpPr/>
          <p:nvPr/>
        </p:nvSpPr>
        <p:spPr>
          <a:xfrm>
            <a:off x="7178040" y="1280160"/>
            <a:ext cx="777240" cy="77724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1444752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465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기능 (Control)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465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정확성·안전성을 유지하는 기능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675120" y="301752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4"/>
          <p:cNvSpPr/>
          <p:nvPr/>
        </p:nvSpPr>
        <p:spPr>
          <a:xfrm>
            <a:off x="6492240" y="3154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동시성 제어 (Concurrency Control)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접근 권한 관리 및 보안 (Security)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무결성 제약 조건 검사 (Integrity)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장애 시 데이터 회복 (Recovery)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장·단점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 of DBMS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장점 (1/2)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중복 통제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6002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통합 관리하여 중복을 최소화하고 데이터 일관성(Consistency)을 유지합니다. 저장 공간 절약 효과도 있습니다.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독립성 확보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83480" y="16002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DBMS가 응용 프로그램 대신 DB에 접근하므로, DB 구조가 변경되어도 응용 프로그램을 수정할 필요가 없습니다.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292608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92608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632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동시 공유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68680" y="3474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사용자·프로그램이 동시에 같은 데이터를 공유할 수 있습니다. 동시성 제어를 통해 데이터 충돌을 방지합니다.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92608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무결성 유지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83480" y="34747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연산 시 유효성을 자동 검사하여 무결성 제약 조건을 만족하는 데이터만 DB에 저장됩니다.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장점 (2/2)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표준화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15544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접근 방식, 형식 및 구조를 조직 전체에 걸쳐 통일할 수 있습니다. 부서 간 데이터 교환이 원활해집니다.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37744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37744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 시 회복 가능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54480" y="2880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로그(Log)를 기반으로 장애 발생 이전 상태로 복구하는 기능을 제공합니다. UNDO/REDO 연산을 통한 회복이 가능합니다.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703320"/>
            <a:ext cx="73152" cy="11430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응용 프로그램 개발 비용 절감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54480" y="42062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 대비 유지보수 비용이 크게 절감됩니다. 데이터 접근 로직을 DBMS가 담당하므로 개발자는 비즈니스 로직에 집중할 수 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단점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73152" cy="11430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높은 비용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15544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소프트웨어를 별도 구매·설치해야 하며, 하드웨어 및 전문 인력 비용도 발생합니다. 다만, MySQL, PostgreSQL 등 오픈소스 DBMS의 활용으로 비용을 절감할 수 있습니다.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37744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377440"/>
            <a:ext cx="73152" cy="11430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146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백업과 회복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54480" y="2880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발생에 대비하여 주기적으로 DB를 백업해야 합니다. 장애 유형에 따라 회복 절차가 다르고 복잡하며, 전문적인 관리 지식이 필요합니다.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3703320"/>
            <a:ext cx="78638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703320"/>
            <a:ext cx="73152" cy="11430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0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 집중 관리의 취약점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554480" y="42062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데이터가 하나의 DBMS에 집중되므로, DBMS에 장애가 발생하면 전체 시스템의 가용성(Availability)과 신뢰성(Reliability)에 치명적인 영향을 미칩니다.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DBMS의 발전 과정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Database Management Systems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DBMS 발전 과정 타임라인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78638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468880"/>
            <a:ext cx="320040" cy="3200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051560"/>
            <a:ext cx="1783080" cy="12344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0972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1세대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네트워크·계층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DBMS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4688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2880360" y="1051560"/>
            <a:ext cx="1783080" cy="1234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0972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2세대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관계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DBMS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32120" y="246888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051560"/>
            <a:ext cx="1783080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0972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3세대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객체지향·객체관계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DBMS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24688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95160" y="1051560"/>
            <a:ext cx="1783080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0972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4세대+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NoSQL·NewSQL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DBMS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834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2010s~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63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4747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 방향: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구조 → 단순한 테이블 → 객체 지원 → 비정형 데이터 대응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1세대: 데이터 간 관계를 네트워크/트리 구조로 표현 → 복잡하고 구조 변경 어려움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2세대: 테이블(관계) 기반으로 단순화 → SQL 표준 도입으로 범용적 사용 가능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3세대: 객체지향 프로그래밍과 결합 → 복잡한 데이터 타입 지원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4세대+: 빅데이터·SNS 시대 → 비정형 데이터 처리와 수평 확장성(Scale-Out) 강조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1세대: 네트워크·계층 DBMS (1960s)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749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네트워크 DBMS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03120" y="1828800"/>
            <a:ext cx="54864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210312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188720" y="2468880"/>
            <a:ext cx="548640" cy="45720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17520" y="2468880"/>
            <a:ext cx="548640" cy="45720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5" name="Text 12"/>
          <p:cNvSpPr/>
          <p:nvPr/>
        </p:nvSpPr>
        <p:spPr>
          <a:xfrm>
            <a:off x="3017520" y="2468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03120" y="3108960"/>
            <a:ext cx="548640" cy="45720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7" name="Text 14"/>
          <p:cNvSpPr/>
          <p:nvPr/>
        </p:nvSpPr>
        <p:spPr>
          <a:xfrm>
            <a:off x="210312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377440" y="2286000"/>
            <a:ext cx="-64008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377440" y="2286000"/>
            <a:ext cx="64008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463040" y="2926080"/>
            <a:ext cx="64008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1840" y="2926080"/>
            <a:ext cx="-64008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간선(Edge)으로 데이터 관계 표현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다대다(M:N) 관계 표현 가능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구조가 복잡하고 변경이 어려움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1960년 초반, IDS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1051560"/>
            <a:ext cx="37490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1051560"/>
            <a:ext cx="3749040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3212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DBMS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217920" y="1828800"/>
            <a:ext cx="54864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621792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394960" y="2514600"/>
            <a:ext cx="548640" cy="45720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0" name="Text 26"/>
          <p:cNvSpPr/>
          <p:nvPr/>
        </p:nvSpPr>
        <p:spPr>
          <a:xfrm>
            <a:off x="539496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040880" y="2514600"/>
            <a:ext cx="548640" cy="45720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2" name="Text 28"/>
          <p:cNvSpPr/>
          <p:nvPr/>
        </p:nvSpPr>
        <p:spPr>
          <a:xfrm>
            <a:off x="70408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029200" y="3200400"/>
            <a:ext cx="502920" cy="41148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4" name="Text 30"/>
          <p:cNvSpPr/>
          <p:nvPr/>
        </p:nvSpPr>
        <p:spPr>
          <a:xfrm>
            <a:off x="5029200" y="3200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C1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5760720" y="3200400"/>
            <a:ext cx="502920" cy="41148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6" name="Text 32"/>
          <p:cNvSpPr/>
          <p:nvPr/>
        </p:nvSpPr>
        <p:spPr>
          <a:xfrm>
            <a:off x="5760720" y="3200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C2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6492240" y="2286000"/>
            <a:ext cx="-73152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492240" y="2286000"/>
            <a:ext cx="73152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69280" y="2971800"/>
            <a:ext cx="-32004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669280" y="2971800"/>
            <a:ext cx="32004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02920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트리(Tree) 구조로 부모-자식 관계 표현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1:N 관계만 표현 가능 (M:N 불가)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구조 변경이 어려움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1960년 후반, IMS (IBM)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2세대: 관계 DBMS — RDBMS (1980s)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관계 데이터 모델(Relational Data Model)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을 기반으로 데이터베이스를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테이블(Table) 형태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로 구성하는 DBMS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학생 테이블 (관계형 표현)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188720"/>
                <a:gridCol w="731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학번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학과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학년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20210001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김철수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컴퓨터공학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20210002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이영희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전자공학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577840" y="2011680"/>
            <a:ext cx="292608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011680"/>
            <a:ext cx="29260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특징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60720" y="24688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단순한 테이블 구조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표준 언어 사용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독립성 우수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ACID 트랜잭션 지원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가장 널리 사용되는 모델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제품: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MySQL, PostgreSQL,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Server, MariaDB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566160"/>
            <a:ext cx="45720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6118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(Structured Query Language)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관계형 DB의 표준 언어로, 데이터 정의(DDL), 조작(DML), 제어(DCL) 기능을 모두 제공합니다. 1970년 E.F. Codd가 관계형 모델을 제안하고, 1980년대에 상용화되면서 DB의 주류가 되었습니다.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3세대: 객체지향·객체관계 DBMS (1990s)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749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51560"/>
            <a:ext cx="3749040" cy="6400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객체지향 DBMS (OODBMS)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73736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객체지향 프로그래밍(OOP)의 개념을 데이터베이스에 적용한 모델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데이터를 객체(Object)로 저장·관리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상속, 캡슐화, 다형성 등 OOP 특성 지원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멀티미디어, CAD 등 복잡한 데이터에 적합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관계형 모델 대비 복잡도가 높음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시기: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1980년 후반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O2, ONTOS, GemStone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7490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051560"/>
            <a:ext cx="3749040" cy="64008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객체관계 DBMS (ORDBMS)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0" y="173736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OODBMS + RDBMS를 통합한 하이브리드 모델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관계형 DB의 테이블 구조 유지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객체지향의 사용자 정의 타입 지원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개발자가 데이터 형식·방법을 자유롭게 정의하여 DBMS에 통합 가능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SQL을 확장하여 객체 기능 지원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시기: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1990년 후반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Oracle,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4세대+: NoSQL DBMS (2010s~)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</a:rPr>
              <a:t>등장 배경: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SNS의 폭발적 성장으로 사진, 동영상, 검색 로그 등 대량의 비정형 데이터가 생산됨 → RDBMS만으로는 비효율적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786384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57400"/>
            <a:ext cx="73152" cy="27889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NoSQL (Not Only SQL) DBMS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 데이터 처리에 특화된 DBMS — 고정된 스키마 없이 유연한 데이터 모델 제공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3108960"/>
            <a:ext cx="173736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Key-Value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Redis, DynamoDB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834640" y="3108960"/>
            <a:ext cx="173736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283464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MongoDB, CouchDB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54880" y="3108960"/>
            <a:ext cx="1737360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Column-Family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Cassandra, HBase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3108960"/>
            <a:ext cx="173736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6675120" y="3154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Graph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Neo4j, ArangoDB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4069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 확장(Scale-Out) 용이 · 유연한 스키마 · 대용량 데이터 처리에 최적화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트랜잭션 완전 지원이 어려움 · 정형 데이터 기반 DBMS와의 통합 문제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4세대+: NewSQL DBMS (2011~)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</a:rPr>
              <a:t>NewSQL: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RDBMS의 ACID 보장 + NoSQL의 수평 확장성·유연성을 결합한 차세대 DBMS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10312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RDBMS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NoSQL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NewSQL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데이터 모델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테이블 (관계형)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다양 (KV, Doc 등)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테이블 (관계형)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스키마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고정 스키마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유연한 스키마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고정 스키마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ACID 트랜잭션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완전 지원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부분 지원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완전 지원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확장성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수직 확장 (Scale-Up)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수평 확장 (Scale-Out)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수평 확장 (Scale-Out)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SQL 지원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표준 SQL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자체 API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표준 SQL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대표 제품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Oracle, MySQL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MongoDB, Redis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Spanner, VoltDB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NewSQL의 대표적인 제품으로는 Google Spanner, VoltDB, NuoDB, CockroachDB, TiDB 등이 있으며, 클라우드 네이티브 환경에서 주목받고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DBMS 인기도 (DB-Engines Ranking)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db-engines.com/en/ranking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3716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37160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35040" y="137160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0" y="1828800"/>
            <a:ext cx="2103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DBMS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1위 Oracle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2위 MS SQL Server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무료/오픈소스 DBMS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1위 MySQL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2위 PostgreSQL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DBMS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1위 MongoDB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2위 Redis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요약 (Wrap-Up)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786384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00584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05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등장 배경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37160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시스템의 데이터 중복성, 종속성, 동시 공유 부족, 보안·회복 기능 부재 등의 한계를 극복하기 위해 DBMS가 등장하였습니다.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1993392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1993392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9933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0391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정의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359152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DBMS는 조직의 데이터를 통합 저장·관리하는 소프트웨어로, 정의(DDL)·조작(DML)·제어(DCL) 기능을 제공하며 데이터 독립성을 확보합니다.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80944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980944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0266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장·단점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3346704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중복 통제, 독립성, 동시 공유, 무결성, 표준화, 회복, 비용 절감. 단점: 높은 초기 비용, 복잡한 백업/회복, 중앙 집중 취약점.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968496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968496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968496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54480" y="40142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DBMS의 발전 과정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4334256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1세대(네트워크·계층) → 2세대(관계형, SQL) → 3세대(객체지향·객체관계) → 4세대+(NoSQL·NewSQL)로 발전하였습니다.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840480" y="329184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박상돈 조교수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대전대학교 컴퓨터공학과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840480"/>
            <a:ext cx="731520" cy="73152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955280" y="731520"/>
            <a:ext cx="914400" cy="914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2장. 데이터베이스 관리 시스템</dc:title>
  <dc:subject>PptxGenJS Presentation</dc:subject>
  <dc:creator>박상돈</dc:creator>
  <cp:lastModifiedBy>박상돈</cp:lastModifiedBy>
  <cp:revision>1</cp:revision>
  <dcterms:created xsi:type="dcterms:W3CDTF">2026-02-26T04:40:25Z</dcterms:created>
  <dcterms:modified xsi:type="dcterms:W3CDTF">2026-02-26T04:40:25Z</dcterms:modified>
</cp:coreProperties>
</file>