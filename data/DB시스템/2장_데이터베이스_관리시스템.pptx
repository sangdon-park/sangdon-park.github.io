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1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1007" autoAdjust="0"/>
  </p:normalViewPr>
  <p:slideViewPr>
    <p:cSldViewPr snapToGrid="0" snapToObjects="1">
      <p:cViewPr varScale="1">
        <p:scale>
          <a:sx n="79" d="100"/>
          <a:sy n="79" d="100"/>
        </p:scale>
        <p:origin x="114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Oracle</c:v>
                </c:pt>
                <c:pt idx="1">
                  <c:v>MySQL</c:v>
                </c:pt>
                <c:pt idx="2">
                  <c:v>MS SQL
Server</c:v>
                </c:pt>
                <c:pt idx="3">
                  <c:v>PostgreSQL</c:v>
                </c:pt>
                <c:pt idx="4">
                  <c:v>MongoDB</c:v>
                </c:pt>
                <c:pt idx="5">
                  <c:v>Redis</c:v>
                </c:pt>
                <c:pt idx="6">
                  <c:v>Cassandra</c:v>
                </c:pt>
                <c:pt idx="7">
                  <c:v>MariaDB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1250</c:v>
                </c:pt>
                <c:pt idx="1">
                  <c:v>1150</c:v>
                </c:pt>
                <c:pt idx="2">
                  <c:v>900</c:v>
                </c:pt>
                <c:pt idx="3">
                  <c:v>850</c:v>
                </c:pt>
                <c:pt idx="4">
                  <c:v>450</c:v>
                </c:pt>
                <c:pt idx="5">
                  <c:v>180</c:v>
                </c:pt>
                <c:pt idx="6">
                  <c:v>120</c:v>
                </c:pt>
                <c:pt idx="7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6D-468A-9AEA-474B08EB7D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ko-K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1586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박상돈입니다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지난 시간에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 연습문제 풀이를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했었죠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25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문항을 전부 같이 풀어봤습니다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데이터와 정보의 차이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데이터베이스의 정의 네 가지 키워드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공통저운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데이터베이스의 네 가지 특성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실계동내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분류에서 정형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반정형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비정형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범주형의 명목형과 순서형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수치형의 이산형과 연속형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 기억나시죠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장으로 넘어갑니다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오늘의 주제는 데이터베이스 관리 시스템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Database Management System,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줄여서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장에서 우리가 데이터베이스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배웠습니다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 수업에서 제가 한 가지 중요한 구분을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강조했었습니다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다르다는 거요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데이터가 저장된 곳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창고이고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그 창고를 관리하는 소프트웨어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창고 관리인이라고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비유했었죠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뭐냐는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퀴즈도 냈었는데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정답이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오늘은 바로 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대해 본격적으로 배웁니다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왜 등장하게 되었는지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정확히 뭘 하는 소프트웨어인지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단점은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년대부터 현재까지 어떻게 발전해왔는지를 다룹니다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장보다 실용적인 내용이 많습니다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여러분이 나중에 개발자로 취업하면 매일 마주하게 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Oracle, MySQL, PostgreSQL, MongoDB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시스템들이 전부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이것들의 역사와 특성을 오늘 배우게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면접에서도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차이가 뭐냐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질문이 단골로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 수업 잘 들으시면 이런 질문에 바로 답할 수 있게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 수업은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크게 세 파트로 나눌 건데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교시에 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 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다루고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 쉬고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교시에 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다루고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 쉬고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교시에 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다루겠습니다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그러면 먼저 오늘의 로드맵을 확인하고 시작합시다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 수업의 목차입니다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개의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구성되어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등장 배경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갑자기 하늘에서 뚝 떨어진 게 아닙니다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이전에는 파일 시스템이라는 방식으로 데이터를 관리했는데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파일 시스템에 심각한 문제들이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문제점이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뭐였는지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 그 문제들이 한계에 부딪혔는지를 살펴봅니다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배경을 이해해야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왜 필요한지가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명확해집니다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정의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정확히 무엇인지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역할을 하는지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기능 세 가지가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뭔지를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배웁니다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조작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 이 세 가지 기능이 시험에서 매우 자주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장단점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도입하면 어떤 점이 좋아지고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반면에 어떤 점이 단점인지를 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 일곱 가지와 단점 세 가지를 하나하나 살펴보겠습니다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발전 과정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1960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 네트워크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시작해서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1980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 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DBMS, 1990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 객체지향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객체관계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이후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까지의 발전 역사를 다룹니다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세대의 특징과 대표 제품을 배우게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섹션의 내용이 유기적으로 연결되어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 이런 문제가 있었다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배우고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해결책이 나왔다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배우고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해결한 것과 여전히 남아있는 한계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배우고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한계를 극복하기 위해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어떻게 진화해왔는가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배웁니다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하나의 스토리라인으로 이어지는 거예요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흐름을 머릿속에 그리면서 들으시면 훨씬 이해가 잘 될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 섹션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등장 배경입니다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부제가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 파일 시스템으로는 부족했는가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이해하려면 먼저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없던 시절을 이해해야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등장하기 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그러니까 대략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이전에는 어떻게 데이터를 관리했을까요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그때는 파일 시스템이라는 방식을 사용했습니다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문제가 있었는지를 이해하면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왜 혁신적인 해결책이었는지가 자연스럽게 이해됩니다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마치 스마트폰의 위대함을 이해하려면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폴더폰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시절을 알아야 하는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것처럼요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시스템이란 무엇인가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File System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과거에 데이터를 관리하기 위해 사용하던 소프트웨어입니다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특징은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응용 프로그램이 독립적인 데이터 파일을 별도로 유지하고 관리하는 방식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무슨 말인지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구체적인 예시로 설명하겠습니다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여러분이 온라인 쇼핑몰을 운영한다고 합시다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쇼핑몰에는 여러 가지 업무가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관리 업무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관리 업무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관리 업무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업무마다 별도의 프로그램이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프로그램이 자기만의 데이터 파일을 따로 가지고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슬라이드를 보시면 구조가 나와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위쪽에 세 개의 프로그램이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아래쪽에 세 개의 파일이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관리 프로그램은 고객 파일을 가지고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파일에는 고객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연락처가 저장되어 있어요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관리 프로그램은 주문 파일을 가지고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파일에는 주문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이름이 저장되어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관리 프로그램은 배송 파일을 가지고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파일에는 배송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주소가 저장되어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여기서 문제가 보이시나요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잘 보세요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이름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데이터가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어디어디에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있죠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파일에도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파일에도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파일에도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데이터가 세 군데에 중복으로 저장되어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문제냐고요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아주 심각한 문제가 생깁니다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김철수라는 고객이 결혼을 해서 이름을 바꿨다고 합시다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법적으로 성이 바뀌어서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되었어요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이때 고객 관리 부서 담당자가 고객 파일에서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바꿨습니다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주문 관리 부서에서는 이 사실을 몰라서 주문 파일에는 여전히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남아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관리 부서에서도 마찬가지로 배송 파일에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그대로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이러면 어떻게 될까요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파일에는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파일에는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파일에는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사람인데 이름이 다릅니다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바로 데이터 불일치입니다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기사가 배송 파일을 보고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한테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전화하려는데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파일에는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사람이 없습니다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박철수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바뀌었으니까요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혼란이 생기겠죠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심각한 경우도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은행에서 고객의 계좌 잔액 데이터가 세 군데에 중복 저장되어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곳만 업데이트되고 나머지 두 곳은 안 되면 어떻게 될까요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돈이 있는데 없다고 나오거나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없는데 있다고 나오는 대참사가 벌어질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저장 공간 낭비도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데이터를 세 군데에 저장하면 디스크 용량을 세 배로 쓰는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거잖아요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적을 때는 큰 문제가 아니지만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 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천만 명이 되면 저장 공간 낭비가 상당합니다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슬라이드 하단에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문제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표시된 부분이 바로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이름이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파일에 중복 저장됨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곳만 수정하면 불일치 발생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 공간 낭비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일관성 훼손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이것이 파일 시스템의 가장 근본적인 문제입니다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그림을 잘 기억해두세요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시험에서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시스템의 구조를 설명하고 문제점을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서술하시오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문제가 나올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프로그램이 독립적인 파일을 따로 관리하기 때문에 데이터가 중복 저장되고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불일치가 발생한다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것이 핵심입니다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시스템의 문제점을 좀 더 체계적으로 정리하겠습니다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크게 네 가지 문제점이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네 가지는 시험에서 단골로 나오는 내용이니까 확실하게 이해하고 가야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 문제점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중복성입니다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Redundancy.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방금 쇼핑몰 예시에서 자세히 설명한 바로 그 문제입니다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데이터가 여러 파일에 중복으로 저장되어서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일관성과 무결성을 유지하기 어려운 문제입니다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여기서 두 가지 용어를 짚어야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일관성과 무결성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일관성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Consistency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데이터는 어디서 보든 같은 값이어야 한다는 것입니다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파일에서 김철수의 전화번호가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010-1234-5678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파일에서도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파일에서도 똑같이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010-1234-5678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이어야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하나라도 다르면 일관성이 깨진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무결성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Integrity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정확하고 유효한 상태를 유지해야 한다는 것입니다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나이에 마이너스 값이 들어가면 안 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학점에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보다 낮은 값이 들어가면 안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규칙을 무결성 제약 조건이라고 하는데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이걸 자동으로 검사해주는 기능이 없습니다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프로그래머가 일일이 코드를 짜서 확인해야 했어요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중복으로 인한 불일치는 단순히 불편한 정도가 아니라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심각한 업무 오류를 일으킬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병원에서 환자의 알레르기 정보가 시스템마다 다르게 기록되어 있다면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생명이 위험할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은행에서 계좌 잔액이 시스템마다 다르다면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금융 사고가 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이 문제는 절대 가볍게 볼 게 아닙니다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문제점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종속성입니다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Dependency.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응용 프로그램이 데이터 파일의 구조에 종속된다는 뜻입니다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무슨 말이냐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구체적인 상황으로 설명하겠습니다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파일의 구조가 처음에는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연락처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세 개의 필드로 되어 있었다고 합시다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관리 프로그램은 이 구조에 맞춰서 작성되어 있어요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파일에서 첫 번째 필드를 읽으면 고객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필드를 읽으면 이름이고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 필드를 읽으면 연락처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식으로 프로그램 코드가 짜여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어느 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파일에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이메일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필드를 추가해야 하는 상황이 생겼습니다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구조가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이메일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연락처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바뀝니다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이메일이 이름과 연락처 사이에 끼어들었어요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되면 어떻게 될까요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기존의 고객 관리 프로그램은 세 번째 필드가 연락처라고 알고 있었는데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세 번째 필드가 이메일로 바뀌었습니다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프로그램이 세 번째 필드를 읽으면 연락처가 아니라 이메일이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프로그램이 오작동하는 거죠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고치려면 어떻게 해야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하냐면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파일을 사용하는 모든 프로그램의 소스 코드를 열어서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구조가 바뀐 부분에 맞게 전부 수정해야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관리 프로그램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관리 프로그램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관리 프로그램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파일을 참조하는 모든 프로그램을 다 고쳐야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하나의 구조를 바꿨을 뿐인데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관련된 프로그램 세 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열 개를 전부 수정해야 하는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엄청난 유지보수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비용이에요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다 수정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100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다 수정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현실에서 대기업의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레거시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시스템에는 이런 파일 기반 프로그램이 수천 개가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하나만 바꾸면 수천 개를 수정해야 하니까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아무것도 안 바꾸는 상황이 되는 거죠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프로그램이 데이터 구조에 종속되어 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뜻이고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종속성 문제입니다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반대로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이 문제가 해결됩니다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중간에서 중재를 해주기 때문에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구조가 바뀌어도 프로그램은 수정하지 않아도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데이터 독립성이라고 하는데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잠시 후 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자세히 다루겠습니다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종속성과 데이터 독립성은 정반대 개념입니다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시스템은 종속성이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독립성을 확보합니다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대비를 확실히 기억해두세요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시험에서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비교하여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설명하시오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문제가 나오면 바로 이 포인트를 써야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 문제점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 기능의 부족입니다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여러 프로그램이 동시에 같은 파일을 사용하기가 매우 어려웠습니다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관리 프로그램이 고객 파일을 열어서 수정하고 있는 동안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관리 프로그램도 같은 고객 파일을 열어서 읽으려고 하면 충돌이 발생합니다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프로그램이 파일을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잠가놓으면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다른 프로그램은 기다려야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사용자가 동시에 데이터를 사용하는 환경에서는 이게 큰 문제가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보안 기능도 부족했습니다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보안이라고 해봐야 파일 단위의 읽기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쓰기 권한 정도밖에 설정할 수 없었습니다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파일에서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급여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필드만 특정 사용자에게 숨기고 싶다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같은 세밀한 접근 제어는 불가능했어요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전체를 보여주든 아예 안 보여주든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 중 하나밖에 선택지가 없었습니다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 기능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Recovery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기능도 부족했습니다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시스템에 장애가 발생해서 파일이 손상되면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복구할 방법이 마땅히 없었습니다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백업이라는 개념 자체는 있었지만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장애 발생 직전의 상태로 정확하게 되돌리는 정교한 회복 기능은 파일 시스템에 존재하지 않았습니다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번째 문제점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응용 프로그램 개발 난이도 증가입니다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데이터를 읽고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쓰고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삽입하고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삭제하는 모든 로직을 프로그래머가 직접 코드로 짜야 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파일에서 서울에 사는 고객만 찾아줘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간단한 요구 사항도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프로그래머가 파일을 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줄씩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읽으면서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필드가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인지 하나하나 비교하는 코드를 처음부터 작성해야 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환경에서는요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SELECT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주소 이퀄 서울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한 줄이면 끝입니다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줄로 해결되는 일을 파일 시스템에서는 수십 줄의 코드로 직접 구현해야 했던 거예요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새로운 요구 사항이 생길 때마다 프로그램을 새로 개발해야 하니 개발 비용이 계속 올라가고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유지보수도 점점 어려워졌습니다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이유로 파일 시스템은 점점 한계에 부딪히게 되었고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문제를 근본적으로 해결하기 위해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등장한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시스템의 네 가지 문제점을 다시 정리하겠습니다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중복성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데이터가 여러 파일에 중복 저장되어 불일치가 발생한다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종속성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구조가 바뀌면 관련 프로그램을 전부 수정해야 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 기능 부족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사용자의 동시 접근이 어렵고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세밀한 보안 설정과 장애 복구가 안 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넷째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응용 프로그램 개발 난이도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처리 로직을 매번 새로 개발해야 하므로 비용이 높다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네 가지를 한 줄로 기억하려면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중종동개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외울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중복성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종속성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 부족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 난이도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중종동개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시험에서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시스템의 문제점을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설명하시오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문제가 나오면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네 가지를 쓰고 각각 한두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줄씩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설명하면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 있으신 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계신가요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없으시면 다음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넘어갑니다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섹션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정의입니다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시스템이 중복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종속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 비용 이렇게 네 가지 문제를 가지고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문제를 해결하기 위해 등장한 것이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정확히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뭐고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문제들을 어떻게 해결하는지 살펴봅시다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정의부터 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DBMS, Database Management System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조직에 필요한 데이터를 통합 저장하고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이에 대한 관리를 집중적으로 담당하는 소프트웨어 시스템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정의에서 핵심 키워드가 세 개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통합 저장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관리를 집중적으로 담당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소프트웨어 시스템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통합 저장이라는 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시스템처럼 각 프로그램이 따로따로 파일을 관리하는 게 아니라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데이터를 하나의 통합된 데이터베이스에 모아서 저장한다는 뜻입니다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장에서 배운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통합 데이터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개념이 여기서 다시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관리를 집중적으로 담당한다는 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데이터에 대한 모든 접근과 관리를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혼자 도맡아 한다는 뜻입니다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응용 프로그램이 데이터를 직접 건드리는 게 아니라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반드시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통해서만 데이터에 접근할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일종의 중재자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문지기 역할을 하는 거예요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소프트웨어 시스템이라는 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하드웨어가 아니라 소프트웨어라는 뜻입니다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컴퓨터에 설치하는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프로그램이에요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Oracle, MySQL, PostgreSQL, MongoDB,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것들이 전부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소프트웨어입니다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슬라이드의 왼쪽과 오른쪽에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"Before"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"After"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나란히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 시절과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도입 후를 비교한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 시절에는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어떠했느냐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프로그램이 별도의 데이터 파일을 관리했습니다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중복되고 불일치가 발생했습니다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 구조가 변경되면 프로그램도 수정해야 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접근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 기능이 부족했습니다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프로그램과 데이터가 종속적 관계였습니다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도입한 후에는 어떻게 바뀌었느냐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통합 저장하고 관리합니다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중복이 최소화되고 일관성이 보장됩니다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접근을 중재하므로 데이터 독립성이 확보됩니다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 기능이 제공됩니다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CRUD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연산이 훨씬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용이해집니다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시스템의 네 가지 문제점이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도입으로 어떻게 해결되었는지를 하나하나 대응시켜보면 이렇습니다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중복성 문제는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통합 저장으로 해결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한 곳에 모아서 관리하니까 중복이 최소화됩니다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종속성 문제는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독립성으로 해결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중간에서 중재하니까 데이터 구조가 바뀌어도 프로그램은 안 바꿔도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 문제는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내장 기능으로 해결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동시성 제어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접근 권한 관리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장애 회복 기능을 기본으로 제공합니다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 난이도 문제는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표준 언어로 해결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복잡한 코드를 직접 짜지 않아도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몇 줄로 데이터 처리가 가능합니다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대응 관계가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 전체의 핵심 구조입니다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관계를 이해하고 있으면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장의 모든 내용이 논리적으로 연결됩니다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구조를 좀 더 명확하게 그림으로 이해해봅시다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슬라이드를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위에서 아래로 네 개의 계층이 쌓여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맨 위에 사용자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사용자가 여러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명이에요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아래에 응용 프로그램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A, B, 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사용자가 사용하는 프로그램입니다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관리 프로그램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관리 프로그램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관리 프로그램이 될 수 있겠죠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아래에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가운데에 딱 하나만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응용 프로그램은 반드시 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통해서만 데이터에 접근할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직접 데이터베이스에 접근하는 것은 허용되지 않습니다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맨 아래에 통합 데이터베이스가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데이터가 이 한 곳에 통합되어 저장되어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시스템과 비교하면 구조적 차이가 확연합니다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각 프로그램이 각자의 파일에 직접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접근했잖아요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프로그램과 파일이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1:1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직접 연결되어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구조에서는 모든 프로그램과 데이터 사이에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중재자가 끼어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프로그램이 데이터를 원하면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데이터를 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요청하고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데이터베이스에서 찾아서 프로그램에게 전달해주는 방식입니다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구조에서 가장 중요한 포인트가 바로 데이터 독립성입니다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슬라이드 하단에도 강조되어 있는데요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응용 프로그램과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사이를 중재하여 데이터 독립성을 확보합니다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구조가 바뀌어도 응용 프로그램은 수정하지 않아도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독립성이라는 개념을 좀 더 풀어서 설명하겠습니다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독립성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Data Independence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데이터베이스의 구조가 변경되더라도 응용 프로그램에 영향을 주지 않는다는 것을 의미합니다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비유를 하나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해볼게요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여러분이 음식을 주문할 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식당 주방의 구조가 바뀌었다고 해서 메뉴판이 바뀌거나 주문 방식이 바뀌지는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않잖아요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주방에서 가스레인지를 인덕션으로 바꾸든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냉장고 위치를 옮기든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손님인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여러분한테는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아무 영향이 없습니다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여전히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메뉴판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짜장면 하나요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왜냐하면 중간에 주방장이라는 중재자가 있어서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주방 내부의 변화를 손님으로부터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숨겨주기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때문입니다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 마찬가지입니다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주방장 역할을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 내부의 구조가 바뀌어도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응용 프로그램은 여전히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학생 테이블에서 컴퓨터공학과 학생 찾아줘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같은 방식으로 요청하면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테이블 내부에 열이 추가되든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인덱스가 바뀌든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알아서 처리해줍니다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데이터 독립성은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가장 중요한 장점 중 하나이고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시험에서도 매우 중요한 개념입니다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장에서 데이터베이스의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 구조를 배울 때 이 개념이 더 구체화됩니다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구체적으로 어떤 기능을 수행하는지 살펴보겠습니다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 주요 기능은 정의 기능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조작 기능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세 가지는 시험에서 빈도가 매우 높은 내용이니까 확실하게 이해하고 가세요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정의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Definition.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데이터베이스의 구조를 생성하고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수정하고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삭제하는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뭘 하는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거냐면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저장하기 전에 먼저 그릇을 만드는 거예요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담을 테이블이라는 그릇을 만들어야 데이터를 넣을 수 있잖아요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그릇을 만드는 행위가 정의입니다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구체적으로는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데이터의 형식이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구조가 어떻게 되어있는지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제약 조건이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뭔지를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명세합니다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테이블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인덱스 같은 스키마를 정의합니다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이때 사용하는 언어가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DDL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약자로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정의 언어라는 뜻입니다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대표적인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명령어로는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CREATE TABLE, ALTER TABLE, DROP TABLE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학생 테이블을 만들고 싶으면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CREATE TABLE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괄호 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VARCHAR(20),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VARCHAR(30),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괄호 닫고 세미콜론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명령어를 쓰면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이름의 테이블이 생성되고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안에 학번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학년이라는 네 개의 열이 정의됩니다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이것이 정의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테이블을 수정하고 싶으면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 TABLE,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삭제하고 싶으면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DROP TABLE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사용합니다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명령어들은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주차에서 자세히 다루겠습니다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조작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Manipulation.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삽입하고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삭제하고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수정하고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검색하는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정의 기능으로 테이블이라는 그릇을 만들었으면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그 안에 데이터를 넣고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꺼내고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바꾸고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지우는 작업을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해야겠죠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이것이 조작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장에서 배운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CRUD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다시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Create,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삽입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검색 조회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Update,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Delete,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삭제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CRUD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연산을 체계적으로 수행하는 것이 조작 기능의 핵심입니다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이때 사용하는 언어가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Manipulation Language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약자로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조작 언어라는 뜻입니다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대표적인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명령어는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SELECT, INSERT, UPDATE, DELETE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CRUD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대응 관계를 배울 때 나왔던 것과 정확히 같습니다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Create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INSERT, Read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SELECT, Update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UPDATE, Delete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DELETE. DML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바로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CRUD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실행하는 도구인 거예요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명령어들은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주차에서 실습까지 하면서 깊이 다룰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데이터의 정확성과 안전성을 유지하는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좀 복잡한데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크게 네 가지 세부 기능이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동시성 제어입니다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Concurrency Control.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사용자가 동시에 같은 데이터에 접근할 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꼬이지 않도록 관리하는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장에서 수강 신청 예시를 들었었죠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잔여 석이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석인데 두 명이 동시에 신청하면 한 명만 성공해야 한다는 그 이야기요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보장해주는 기능이 동시성 제어입니다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접근 권한 관리 및 보안입니다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누가 어떤 데이터에 접근할 수 있는지를 세밀하게 제어하는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사용자는 학생 테이블의 이름과 학과만 볼 수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성적은 볼 수 없다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같은 세밀한 권한 설정이 가능합니다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불가능했던 거죠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무결성 제약 조건 검사입니다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Integrity.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규칙에 맞는지 자동으로 검사하는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학년은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사이여야 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학번은 중복될 수 없다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학과는 반드시 존재하는 학과여야 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규칙을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자동으로 검사해서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규칙에 맞지 않는 데이터는 아예 입력을 거부합니다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넷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장애 시 데이터 회복입니다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Recovery.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시스템에 장애가 발생했을 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장애 전의 정상 상태로 복구하는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 로그를 기반으로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UNDO, REDO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연산을 수행합니다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내용은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주차에서 자세히 배웁니다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세 가지 기능을 다시 정리하겠습니다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정의 기능은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사용하여 데이터베이스의 구조를 만들고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바꾸고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삭제하는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그릇을 만드는 단계입니다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조작 기능은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사용하여 데이터를 삽입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검색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삭제하는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그릇에 음식을 넣고 빼는 단계입니다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 기능은 데이터의 정확성과 안전성을 유지하는 기능입니다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동시성 제어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무결성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그릇과 음식을 안전하게 지키는 단계입니다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시험에서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 기능을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설명하시오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문제가 나오면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조작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 이 세 가지를 쓰고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각각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DDL, DML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 연결해서 설명하면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"DDL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정의 기능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조작 기능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대응을 꼭 기억하세요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추가로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DCL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용어도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알아두세요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DCL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Control Language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약자로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제어 언어입니다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 기능에서 사용하는 언어인데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대표적으로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REVOKE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GRANT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권한을 부여하는 명령어이고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REVOKE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권한을 회수하는 명령어입니다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DDL, DML, DCL,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세 가지를 합쳐서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부릅니다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이 세 종류의 명령어를 모두 포함하는 통합 언어입니다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여기까지가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교시 내용입니다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등장 배경인 파일 시스템의 문제점 네 가지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중복성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종속성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 부족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 난이도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정의와 구조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독립성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 기능인 정의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조작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내용을 다뤘습니다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혹시 질문 있으신 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계신가요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없으시면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 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교시를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 섹션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장점과 단점입니다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만능 해결사인 것 같지만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에도 단점은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단점이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뭔지를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균형 있게 알아야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장점은 총 일곱 가지입니다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이번 슬라이드에서 처음 네 가지를 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 장점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중복 통제입니다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통합 관리하여 중복을 최소화하고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일관성을 유지합니다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 공간도 절약됩니다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아까 파일 시스템에서 고객 이름이 세 개 파일에 중복 저장되어 불일치가 발생했던 거 기억나시죠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고객 이름을 고객 테이블 한 곳에만 저장합니다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테이블이나 배송 테이블에서 고객 이름이 필요하면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테이블을 참조하는 방식으로 가져옵니다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관계형 데이터베이스에서는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하는데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나중에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주차에서 배울 내용입니다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중요한 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한 곳에만 저장되니까 수정할 때도 한 군데만 바꾸면 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불일치가 발생할 여지가 없다는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아까 김철수가 박철수로 이름을 바꾸면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테이블에서 한 번만 수정하면 끝입니다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테이블이든 배송 테이블이든 고객 테이블을 참조하고 있으니까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자동으로 최신 이름이 반영됩니다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군데를 일일이 바꿀 필요가 없어요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장점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독립성 확보입니다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교시에서 자세히 다뤘죠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응용 프로그램과 데이터베이스 사이에서 중재자 역할을 하기 때문에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 구조가 변경되어도 응용 프로그램을 수정할 필요가 없습니다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고객 파일에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이메일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필드 하나 추가하면 관련 프로그램 전부를 수정해야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했잖아요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 TABLE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이메일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VARCHAR(50),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한 줄로 테이블에 열을 추가하면 끝입니다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 응용 프로그램은 아무것도 안 바꿔도 정상 작동합니다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데이터 독립성의 위력입니다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 장점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동시 공유입니다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사용자와 프로그램이 동시에 같은 데이터를 공유할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동시성 제어를 통해 데이터 충돌을 방지합니다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수강 신청 기간에 수백 명의 학생이 동시에 같은 강좌에 접근합니다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시스템이었으면 하나의 프로그램이 파일을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잠가놓으면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나머지는 대기해야 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동시성 제어 메커니즘이 있어서 여러 학생이 동시에 접근하되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데이터의 정합성은 유지됩니다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좀 더 구체적으로 말하면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락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Lock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메커니즘을 사용합니다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데이터를 수정하는 동안에는 그 데이터에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락을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걸어서 다른 사용자가 동시에 수정하지 못하게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읽기만 하는 경우에는 여러 사용자가 동시에 접근할 수 있도록 허용합니다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세밀한 제어가 가능한 거예요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번째 장점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무결성 유지입니다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연산 시 유효성을 자동으로 검사하여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무결성 제약 조건을 만족하는 데이터만 데이터베이스에 저장됩니다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무결성 제약 조건이란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뭐냐면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데이터가 반드시 지켜야 하는 규칙입니다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이런 것들이죠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학번은 중복될 수 없다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유일성 제약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키 제약이라고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학년은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이하의 정수여야 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도메인 제약이라고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수강 테이블에 있는 학번은 반드시 학생 테이블에 존재하는 학번이어야 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참조 무결성 제약이라고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데이터가 입력되거나 수정될 때 이런 규칙들을 자동으로 검사합니다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만약 이미 존재하는 학번으로 새 학생을 등록하려고 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학번은 이미 사용 중입니다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에러를 내고 입력을 거부합니다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학년에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넣으려고 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역시 거부됩니다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이런 검사를 프로그래머가 일일이 코드로 작성해야 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검사 코드에 버그가 있으면 잘못된 데이터가 그대로 저장되었습니다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이런 검사가 시스템 수준에서 자동으로 이루어지니까 훨씬 안전합니다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나머지 세 가지 장점을 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다섯 번째 장점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표준화입니다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데이터에 접근하는 방식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형식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구조를 조직 전체에 걸쳐 통일할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부서 간 데이터 교환이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원활해집니다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무슨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뜻이냐면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 시절에는 부서마다 데이터를 저장하는 형식이 달랐을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영업부에서는 고객 이름을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순서로 저장하고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마케팅부에서는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 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순서로 저장하고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인사부에서는 영문으로 저장하고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이러면 부서 간에 데이터를 교환할 때 형식을 변환하는 작업이 필요해서 매우 번거롭습니다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사용하면 조직 전체의 데이터 표준을 정할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이름은 한글로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성 이름 순서로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자로 저장한다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표준을 정하고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부서가 이 표준에 따라 하나의 통합 데이터베이스를 사용하면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형식 차이로 인한 문제가 사라집니다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여섯 번째 장점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장애 시 회복 가능입니다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 로그를 기반으로 장애 발생 이전 상태로 복구하는 기능을 제공합니다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로그란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데이터베이스에서 수행된 모든 연산을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기록해놓은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일지입니다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마치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블랙박스처럼요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은행에서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계좌에서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계좌로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 원을 이체하는 도중에 시스템이 멈추면 어떻게 될까요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A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계좌에서는 돈이 빠져나갔는데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계좌에는 돈이 안 들어간 상태일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로그를 확인해서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이체 작업을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취소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UNDO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계좌에서 빠져나간 돈을 다시 돌려놓는 거죠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작업은 완료되었는데 디스크에 기록하기 전에 장애가 발생한 경우에는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REDO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수행합니다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로그를 보고 작업을 다시 수행해서 디스크에 기록하는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UNDO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REDO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주차에서 자세히 다룰 내용이니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장애 복구 기능을 제공한다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것만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알아두세요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일곱 번째 장점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응용 프로그램 개발 비용 절감입니다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 대비 유지보수 비용이 크게 절감됩니다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접근 로직을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담당하므로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개발자는 비즈니스 로직에 집중할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비즈니스 로직이란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업무 규칙을 구현하는 코드를 말합니다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쇼핑몰에서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"VIP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10%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규칙을 구현하는 건 비즈니스 로직입니다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개발자가 데이터 접근 코드와 비즈니스 로직 코드를 둘 다 직접 작성해야 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파일을 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줄씩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읽고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등급 필드를 확인하고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VIP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이면 할인 적용하고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다시 파일에 쓰고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식으로요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환경에서는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등급 이퀄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VIP,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한 줄로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VIP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고객을 찾을 수 있으니까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찾은 고객에게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10%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할인 적용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비즈니스 로직에만 집중하면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어떻게 찾을지는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알아서 처리해주니까요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 일곱 가지를 다시 빠르게 정리합니다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중복 통제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독립성 확보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동시 공유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넷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무결성 유지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다섯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표준화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여섯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장애 시 회복 가능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응용 프로그램 개발 비용 절감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한 번에 외우기가 좀 힘들 수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키워드만 뽑으면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중독동무표회개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중복 통제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독립성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무결성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표준화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 비용 절감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중독동무표회개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좀 어색하긴 한데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중독된 동무가 표 뒤에서 회개한다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정도로 이미지를 만들면 기억에 남을 수도 있겠습니다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각자 외우기 편한 방식으로 외우시면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시험에서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장점을 다섯 가지 이상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서술하시오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문제가 나올 수 있으니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최소 다섯 가지는 확실하게 쓸 수 있도록 준비해두세요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장점만 있으면 좋겠지만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에도 단점이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크게 세 가지입니다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 단점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높은 비용입니다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소프트웨어를 구매하고 설치하는 데 비용이 듭니다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Oracle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상용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라이선스 비용이 수천만 원에서 수억 원에 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돌리려면 고성능 서버 하드웨어가 필요하고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전문적으로 관리하는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DBA, Database Administrator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전문 인력도 필요합니다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인력 비용도 상당합니다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좀 시대가 바뀌고 있는 부분인데요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MySQL, PostgreSQL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오픈소스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발전하면서 소프트웨어 구매 비용은 많이 줄어들었습니다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무료로 사용할 수 있거든요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대기업뿐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아니라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스타트업에서도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부담 없이 사용할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하드웨어 비용과 관리 인력 비용은 여전히 존재합니다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실제로 기업에서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쓸지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쓸지를 결정할 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비용 대비 성능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 지원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안정성 등을 종합적으로 고려합니다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대규모 금융 시스템이나 통신 시스템처럼 초고성능과 안정성이 필수적인 환경에서는 여전히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유료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많이 사용하고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스타트업이나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중소기업에서는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오픈소스를 선호하는 경향이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단점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복잡한 백업과 회복입니다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장애 시 회복 기능을 제공하긴 하지만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백업과 회복 과정 자체가 꽤 복잡합니다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장애에 대비하여 주기적으로 데이터베이스를 백업해야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매일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매시간 백업을 뜬다든가 하는 정책을 세워야 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장애 유형에 따라 회복 절차가 다릅니다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하드웨어 장애인지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소프트웨어 장애인지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사용자의 실수인지에 따라 회복 방법이 달라지고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정확하게 수행하려면 전문적인 지식이 필요합니다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백업 없이 장애가 발생하면 데이터를 영구적으로 잃을 수도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실제로 기업에서 백업을 소홀히 했다가 데이터를 잃어버린 사례가 종종 뉴스에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DBA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중요한 업무 중 하나가 체계적인 백업 정책을 수립하고 관리하는 것입니다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 단점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중앙 집중 관리의 취약점입니다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장점이기도 하면서 동시에 단점이 되는 아이러니한 부분입니다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데이터가 하나의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집중되어 있다는 것은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장애가 발생하면 전체 시스템이 마비될 수 있다는 뜻이기도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계란을 한 바구니에 담은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셈이에요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시스템에서는 고객 파일에 문제가 생겨도 주문 파일과 배송 파일은 정상 작동했습니다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각각 독립적이니까요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자체가 다운되면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고객 관리도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주문 관리도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배송 관리도 전부 다 멈춥니다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프로그램이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통해서만 데이터에 접근할 수 있으니까요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기술 용어로 단일 장애 지점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 Point of Failure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하나의 지점에 장애가 생기면 전체가 영향을 받는 구조입니다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실제 기업 환경에서는 이 문제를 해결하기 위해 이중화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Replication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기술을 사용합니다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두 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대 복제해서 운영하는 거죠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하나가 죽어도 나머지가 대신 작동하도록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이중화를 하면 또 비용이 올라가겠죠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첫 번째 단점인 비용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문제와도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연결됩니다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단점 세 가지를 정리하면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높은 비용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복잡한 백업과 회복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중앙 집중 관리의 취약점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세 가지입니다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시험에서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단점을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설명하시오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문제가 나오면 이 세 가지를 쓰면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여기서 한 가지 중요한 시험 팁을 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장단점을 비교하여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설명하시오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문제가 나올 수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이때는 장점과 단점을 나열만 하지 말고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서로 대비되는 것을 연결해서 쓰면 좋은 답안이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장점 중 하나는 데이터를 중앙에서 통합 관리하여 중복을 최소화하고 일관성을 유지하는 것이다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그러나 반대로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중앙 집중 구조가 단점이 되기도 한다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장애가 발생하면 전체 시스템이 영향을 받는 단일 장애 지점 문제가 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."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장점과 단점이 동전의 양면이라는 것을 보여주면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학생은 깊이 있게 이해하고 있구나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인상을 줄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여기까지 질문 있으신 분 계시면 말씀해주세요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없으시면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 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교시를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교시입니다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 섹션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발전 과정입니다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섹션은 역사를 배우는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년대에 처음 등장해서 현재까지 약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 동안 어떻게 진화해왔는가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개의 세대로 나누어서 살펴봅니다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세대가 왜 등장했는지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이전 세대의 어떤 한계를 극복하기 위해 나왔는지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제품은 무엇인지를 배웁니다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내용은 시험에서도 나오지만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그보다 더 중요한 건 실무적 관점입니다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면접에서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차이가 뭐냐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?", 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등장했냐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?", "NewSQL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뭐냐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질문이 나올 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역사적 맥락을 알고 있으면 훨씬 깊이 있는 답변을 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슬라이드를 보시면 네 개의 세대가 타임라인으로 나와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왼쪽부터 가겠습니다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1960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네트워크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계층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1980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1990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객체지향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객체관계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2010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이후에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전체적인 발전 방향을 한 문장으로 요약하면 이렇습니다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복잡한 구조에서 단순한 테이블로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단순한 테이블에서 객체 지원으로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객체 지원에서 비정형 데이터 대응으로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시대의 요구에 맞게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계속 진화해온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세대의 핵심을 아주 간단하게 미리 요약하면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데이터 간의 관계를 네트워크나 트리 구조로 표현했는데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구조가 복잡하고 변경이 어려웠습니다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테이블 기반으로 구조를 단순화하고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표준 언어를 도입하면서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주류가 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객체지향 프로그래밍 개념을 데이터베이스에 결합하여 복잡한 데이터 타입을 지원하려 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빅데이터와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시대에 비정형 데이터를 처리하기 위해 등장했습니다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지금부터 각 세대를 하나씩 자세히 살펴보겠습니다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태동기입니다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1960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년대에 최초의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들이 등장합니다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가지 유형이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네트워크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계층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네트워크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슬라이드 왼쪽에 그래프 모양의 그림이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노드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A, B, C, 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이들 사이에 간선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선으로 연결되어 있죠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이게 네트워크 구조입니다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네트워크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데이터 간의 관계를 간선으로 표현합니다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구조의 장점은 다대다 관계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M:N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관계를 표현할 수 있다는 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하나의 학생이 여러 과목을 수강하고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하나의 과목에 여러 학생이 수강하는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복잡한 관계도 표현할 수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그러나 구조가 매우 복잡하고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구조를 변경하는 것이 극도로 어려웠습니다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새로운 데이터 유형을 추가하거나 관계를 바꾸려면 전체 구조를 재설계해야 했어요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네트워크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대표적인 제품으로는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 초반에 나온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다음으로 계층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슬라이드 오른쪽에 트리 모양의 그림이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맨 위에 루트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아래에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P1, P2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P1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C1, C2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있는 구조입니다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자식 관계로 이루어진 트리 구조입니다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데이터를 이 트리 구조로 표현합니다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부모 노드 하나에 여러 자식 노드가 연결되는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1:N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관계를 표현할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대학교라는 루트 아래에 컴퓨터공학과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전자공학과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경영학과 같은 학과들이 자식으로 연결되고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학과 아래에 소속 학생들이 또 자식으로 연결되는 구조입니다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문제가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트리 구조에서는 하나의 자식 노드는 반드시 하나의 부모 노드만 가질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M:N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다대다 관계를 표현할 수 없습니다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학생이 여러 과목을 수강하고 과목에도 여러 학생이 있는 관계를 트리로 표현하기가 매우 까다롭습니다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대표적인 제품으로는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IBM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 후반에 만든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놀랍게도 아직도 일부 대형 은행이나 항공사에서 사용되고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50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년이 넘은 시스템이 아직 쓰이고 있는 거예요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그만큼 전환 비용이 크고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안정적으로 작동하고 있기 때문입니다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세대의 공통적인 한계를 정리하면 이렇습니다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구조가 복잡해서 일반 사용자가 사용하기 어려웠습니다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 변경이 매우 어려워서 유연성이 떨어졌습니다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표준화된 질의 언어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것이 없었습니다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마다 자체 언어를 사용했기 때문에 호환성이 없었어요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한계를 극복하기 위해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세대가 등장합니다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RDBMS, Relational Database Management System.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지금까지 우리가 이야기해왔고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현재까지도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주류인 바로 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관계 데이터 모델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Relational Data Model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기반으로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테이블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형태로 구성합니다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행과 열로 이루어진 깔끔한 표 구조입니다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장에서 정형 데이터를 배울 때 봤던 그 표 형태의 데이터가 바로 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테이블입니다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슬라이드에 예시 테이블이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학생 테이블이고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열은 학번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학년으로 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 행은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20210001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김철수 컴퓨터공학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행은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20210002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이영희 전자공학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단순하고 직관적인 구조입니다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역사를 잠깐 짚어보겠습니다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1970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년에 영국의 수학자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에드거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Edgar F. Codd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IBM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근무하면서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 Relational Model of Data for Large Shared Data Banks"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논문을 발표합니다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논문에서 데이터를 수학적 관계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Relation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표현하자는 아이디어를 제안했습니다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이것이 관계 데이터 모델의 시작입니다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코드의 아이디어가 처음에는 학계에서만 주목받았는데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1980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년대에 들어서면서 상용 제품으로 구현되기 시작합니다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IBM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DB2, Oracle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 Database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등이 이 시기에 나왔습니다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1980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중반에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국제 표준으로 채택되면서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본격적으로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주류가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핵심 특징을 다섯 가지로 정리하겠습니다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단순한 테이블 구조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세대의 복잡한 네트워크나 트리 구조 대신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누구나 이해하기 쉬운 행과 열의 표 형태입니다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표준 언어를 사용합니다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SQL, Structured Query Language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관계형 데이터베이스의 표준 언어입니다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정의인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DDL,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조작인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DML,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제어인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DCL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기능을 모두 제공합니다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세대에서는 각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마다 다른 언어를 사용해서 호환성이 없었는데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표준으로 채택되면서 어떤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에서든 같은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데이터를 다룰 수 있게 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엄청난 혁신이었습니다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독립성이 우수합니다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세대에서는 데이터 구조를 바꾸면 프로그램도 바꿔야 했지만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구조 변경의 영향이 최소화됩니다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넷째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ACID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트랜잭션을 지원합니다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ACID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원자성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일관성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격리성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지속성의 약자인데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나중에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주차에서 자세히 배웁니다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처리의 안정성과 정확성을 보장하는 메커니즘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이라고만 이해하시면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다섯째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현재까지 가장 널리 사용되는 모델입니다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 세계 대부분의 기업에서 핵심 업무 시스템에 관계형 데이터베이스를 사용하고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대표적인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제품으로는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Oracle, MySQL, PostgreSQL, MS SQL Server, MariaDB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세계 시장 점유율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위의 상용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대기업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금융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공공기관에서 많이 사용합니다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안정성과 성능이 뛰어나지만 비용이 매우 높습니다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세계에서 가장 많이 사용되는 오픈소스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사가 소유하고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웹 서비스에서 엄청나게 많이 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페이스북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트위터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유튜브 같은 대형 서비스들이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사용하거나 사용했습니다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가장 진보적인 오픈소스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평가받고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기능이 매우 풍부하고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최근에 인기가 급상승하고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SQL Server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마이크로소프트가 만든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윈도우 환경에서 많이 사용됩니다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MariaDB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포크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분기된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원래 창시자가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인수에 반발해서 별도로 만든 것입니다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한국에서도 많이 사용됩니다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중에서 여러분이 이 수업에서 실습할 때 사용하게 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MariaDB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될 가능성이 높습니다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무료이고 설치가 간편하니까요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지금까지 약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절대적 주류였고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앞으로도 상당 기간 그 위치를 유지할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수업에서 배우는 대부분의 내용이 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기반으로 하고 있다는 점도 기억해두세요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객체지향 프로그래밍의 열풍과 함께 등장합니다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1980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후반부터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1990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년대에 걸쳐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C++, Java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객체지향 프로그래밍 언어가 크게 유행했습니다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객체지향의 핵심 개념인 상속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캡슐화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다형성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같은 것들이 프로그래밍의 패러다임을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바꿔놓았죠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프로그래밍 언어는 객체지향으로 바뀌었는데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데이터베이스는 여전히 테이블 기반의 관계형 모델이었습니다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프로그래밍에서는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객체에 이름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성적뿐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아니라 수강 신청이나 성적 계산 같은 동작까지 포함시킬 수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관계형 데이터베이스에서는 그런 게 안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테이블은 그냥 데이터만 저장할 수 있으니까요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차이를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임피던스 불일치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Impedance Mismatch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프로그래밍 언어의 객체 모델과 데이터베이스의 관계 모델이 서로 맞지 않는 문제입니다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문제를 해결하기 위해 두 가지 시도가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객체지향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OODBMS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Object-Oriented DBMS.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아예 관계형 모델을 버리고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객체로 저장하고 관리하자는 시도였습니다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상속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캡슐화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다형성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같은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OOP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특성을 데이터베이스에서 직접 지원합니다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멀티미디어 데이터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CAD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도면 같은 복잡한 데이터를 다루는 데 적합했습니다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제품으로는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O2, ONTOS,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GemStone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것들이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OODBMS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널리 보급되지 못했습니다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왜냐하면 관계형 모델보다 복잡하고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처럼 표준화된 질의 언어가 없었고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무엇보다 이미 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대한 기업의 투자가 너무 커서 전환하기 어려웠기 때문입니다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 시스템을 전부 바꿔야 하니까 비용이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엄청났거든요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등장한 것이 두 번째 시도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객체관계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Object-Relational DBMS.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이건 기존의 관계형 모델을 유지하면서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거기에 객체지향 기능을 추가하자는 절충적 접근입니다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테이블 구조는 그대로 쓰되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사용자가 새로운 데이터 타입을 정의할 수 있게 해주고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확장하여 객체 기능을 지원합니다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그대로 사용할 수 있기 때문에 전환 비용이 낮았고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관계형의 장점과 객체지향의 장점을 동시에 가질 수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대표적인 제품으로는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가장 인기 있는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 두 개가 사실 객체관계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공식적으로 자기 스스로를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세계에서 가장 진보적인 오픈소스 관계형 데이터베이스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소개하는데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실제로는 객체관계 기능까지 지원합니다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세대의 핵심을 정리하면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OODBMS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혁신적이었지만 시장에서 크게 성공하지 못했고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관계형의 장점을 유지하면서 객체지향 기능을 추가하는 방식으로 현재까지 이어지고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현실에서는 급진적 혁신보다 점진적 개선이 더 잘 받아들여진 사례라고 할 수 있겠습니다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여기서부터 여러분의 시대에 해당하는 이야기입니다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등장 배경부터 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2000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중후반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 세계적으로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폭발적으로 성장합니다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페이스북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트위터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인스타그램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유튜브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서비스들에서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매일 엄청난 양의 데이터가 생산됩니다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동영상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검색 로그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좋아요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댓글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해시태그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장에서 비정형 데이터가 전체의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퍼센트 이상이라고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했었죠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비정형 데이터의 양이 기하급수적으로 증가한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기존의 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이런 대규모 비정형 데이터를 처리하는 데 한계가 있었다는 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고정된 스키마를 가진 정형 데이터를 다루는 데 최적화되어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깔끔한 표 형태의 데이터는 아주 잘 처리하지만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사진 수억 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동영상 수백만 시간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자유 형태의 텍스트 수십억 건을 처리하기에는 성능과 확장성에 한계가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등장한 것이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Only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약자입니다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만이 전부가 아니다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넘어서자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의미입니다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비정형 데이터 처리에 특화된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고정된 스키마 없이 유연한 데이터 모델을 제공합니다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에는 네 가지 유형이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Key-Value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가장 단순한 형태로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키 하나에 값 하나가 대응되는 구조입니다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사전에서 단어를 찾으면 뜻이 나오는 것처럼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키를 주면 값을 돌려주는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방식이에요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구조가 단순하기 때문에 속도가 매우 빠릅니다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제품으로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 DynamoDB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Redis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인메모리 데이터베이스로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캐시 용도로 엄청나게 많이 사용됩니다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여러분이 웹 개발을 하면 거의 확실히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접하게 될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Document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데이터를 문서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JSON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형태의 문서로 저장합니다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장에서 배운 반정형 데이터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JSON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기억나시죠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바로 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데이터베이스에 저장하고 검색할 수 있게 해주는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문서가 서로 다른 구조를 가질 수 있어서 스키마가 매우 유연합니다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제품으로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MongoDB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MongoDB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중에서 가장 인기 있는 제품이고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스타트업에서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특히 많이 사용됩니다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Column-Family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관계형의 행 기반 저장과 달리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열 기반으로 데이터를 저장합니다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대량의 데이터를 빠르게 읽고 쓰는 데 최적화되어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제품으로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Apache Cassandra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HBase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넷플릭스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스포티파이 같은 대규모 서비스에서 사용됩니다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번째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Graph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간의 관계를 그래프로 표현합니다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소셜 네트워크에서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친구이고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 친구이니까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친구로 추천하자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같은 관계 기반 분석에 매우 강력합니다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제품으로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Neo4j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공통적인 특징을 정리하면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수평 확장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영어로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Scale-Out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용이합니다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서버 한 대의 성능을 올리는 수직 확장인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Scale-Up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 달리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서버 여러 대를 병렬로 추가하여 처리 능력을 늘리는 방식입니다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유연한 스키마를 가지고 있어서 데이터 구조를 자유롭게 변경할 수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대용량 데이터 처리에 최적화되어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한계도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가장 큰 한계는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트랜잭션을 완전히 지원하기 어렵다는 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은행 이체 도중에 장애가 나도 돈이 사라지지 않는다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것을 보장해주는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확실하게 지원되지만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이 보장이 완벽하지 않습니다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금융 거래 같은 미션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크리티컬한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업무에서는 여전히 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사용하는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정형 데이터 처리에서도 관계형에 비해 불리한 점이 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와의 통합이 까다로운 문제도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핵심을 한 줄로 요약하면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잘 못하는 것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잘하기 위해 등장했지만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대가로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잘하는 것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일부를 포기한 것입니다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그러면 관계형의 장점과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장점을 둘 다 가질 수는 없을까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질문에서 출발한 것이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 보장 능력과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수평 확장성 및 유연성을 결합한 차세대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세계의 장점을 동시에 가지려는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야심찬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시도입니다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가지 유형을 비교해보겠습니다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모델은 테이블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관계형입니다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스키마는 고정 스키마입니다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테이블을 만들 때 구조를 미리 정의해야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ACID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트랜잭션을 완전히 지원합니다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확장 방식은 수직 확장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Scale-Up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서버 한 대의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CPU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더 좋은 걸로 바꾸고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메모리를 더 꽂고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식으로 한 대의 성능을 높이는 방식입니다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표준으로 사용합니다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제품은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Oracle, 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모델이 다양합니다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Key-Value, Document, Column-Family, Graph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 여러 가지가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스키마는 유연합니다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고정된 구조 없이 자유롭게 데이터를 넣을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ACID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트랜잭션은 부분적으로만 지원합니다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완전한 보장이 어렵습니다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확장 방식은 수평 확장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Scale-Out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서버 여러 대를 추가하여 분산 처리하는 방식입니다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대신 각 제품 자체의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 쿼리 언어를 사용합니다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제품은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MongoDB, Redis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모델은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같은 테이블 기반입니다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스키마도 고정 스키마입니다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ACID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트랜잭션을 완전히 지원합니다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여기서 차별점이 나옵니다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확장 방식이 수평 확장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Scale-Out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처럼 테이블과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사용하면서도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처럼 서버를 여러 대 추가해서 성능을 높일 수 있다는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표준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사용하고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제품으로는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Google Spanner,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VoltDB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CockroachDB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TiDB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이걸 정리하면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안정성과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좋은데 확장성이 부족하고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확장성과 유연성은 좋은데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보장이 부족합니다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이 두 가지를 모두 만족시키려는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안정성 더하기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확장성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마리 토끼를 잡겠다는 거예요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Google Spanner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구글이 만든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데이터베이스인데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 세계에 분산된 데이터센터에서 수평 확장되면서도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트랜잭션을 보장합니다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구글의 많은 서비스가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Spanner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위에서 돌아가고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특히 클라우드 네이티브 환경에서 주목받고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AWS, Google Cloud, Azure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클라우드 환경에서는 서버를 필요에 따라 자유롭게 추가하고 제거할 수 있으니까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수평 확장이 가능한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매우 적합한 거죠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세 가지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RDBMS, NoSQL, 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차이와 각각의 장단점은 면접에서 자주 나오는 질문입니다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차이를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설명하시오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질문은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기업 면접의 단골 질문 중 하나입니다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고정 스키마에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보장하고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사용하지만 수직 확장이고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유연한 스키마에 수평 확장이지만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ACID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보장이 부분적이고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이 두 가지의 장점을 결합했다는 것입니다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 현재 시점에서 어떤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인기 있는지 살펴보겠습니다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DB-Engines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사이트에서 전 세계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인기도를 랭킹으로 발표하고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사이트 주소는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db-engines.com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슬래시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슬래시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ranking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나중에 한번 직접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들어가보시면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재미있을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Oracle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위이고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SQL Server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Oracle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오랫동안 부동의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위를 유지하고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대기업과 금융기관에서 압도적인 점유율을 가지고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무료 오픈소스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위이고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오랫동안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위였고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PostgreSQL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최근 몇 년간 급격히 성장하면서 격차를 좁히고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일부 랭킹에서는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추월한 경우도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 DBMS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MongoDB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위이고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MongoDB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모델의 대표 주자이고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Redis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Key-Value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모델의 대표 주자입니다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여러분이 취업 준비를 할 때 이 인기도를 참고하시면 좋습니다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가장 수요가 많은 기술 스택을 익히는 게 취업에 유리하니까요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PostgreSQL, 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MongoDB,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캐시 용도로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정도를 알고 있으면 대부분의 웹 개발 포지션에서 통합니다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 수업의 전체 내용을 정리하겠습니다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등장 배경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시스템에는 네 가지 심각한 문제가 있었습니다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중복성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데이터가 여러 파일에 중복 저장되어 불일치가 발생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종속성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구조가 바뀌면 관련 프로그램을 전부 수정해야 함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 기능의 부족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응용 프로그램 개발 난이도의 증가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문제를 근본적으로 해결하기 위해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등장했습니다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정의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조직의 데이터를 통합 저장하고 관리하는 소프트웨어입니다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구조는 사용자와 응용 프로그램이 반드시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통해서만 데이터베이스에 접근하는 것이고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통해 데이터 독립성이 확보됩니다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 기능은 정의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조작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정의 기능은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데이터베이스 구조를 생성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삭제하고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조작 기능은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데이터를 삽입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검색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삭제하고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 기능은 동시성 제어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무결성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회복을 담당합니다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장단점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장점은 일곱 가지로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중복 통제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독립성 확보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동시 공유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무결성 유지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표준화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장애 시 회복 가능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응용 프로그램 개발 비용 절감입니다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단점은 세 가지로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높은 비용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복잡한 백업과 회복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중앙 집중 관리의 취약점입니다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섹션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발전 과정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1960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년대의 네트워크와 계층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복잡한 구조가 한계였습니다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1980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년대의 관계형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테이블 기반의 단순한 구조와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표준 도입으로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주류가 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1990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년대의 객체지향 및 객체관계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OOP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개념을 데이터베이스에 결합하려 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세대는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년대 이후의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빅데이터 시대의 비정형 데이터 처리와 수평 확장성을 위해 등장했습니다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시험 대비 핵심 체크리스트를 정리해드리겠습니다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시스템의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가지 문제점을 쓸 수 있는가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중복성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종속성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동시 공유 부족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개발 난이도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정의를 한 문장으로 쓸 수 있는가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독립성이 무엇인지 설명할 수 있는가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 기능과 각각에 대응하는 언어를 쓸 수 있는가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정의는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DDL,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조작은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DML,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제어는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DCL.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장점 일곱 가지와 단점 세 가지를 나열할 수 있는가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세대별 발전 과정을 설명할 수 있는가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차이를 설명할 수 있는가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체크리스트를 기준으로 복습하시면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항목에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답할 수 있으면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장은 완벽하게 마스터한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 시간에는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 연습문제 풀이를 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 배운 내용을 문제를 통해 확인하는 시간이니까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 수업 내용을 한번 쭉 복습하고 오시면 좋겠습니다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파일 시스템의 문제점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 기능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RDBMS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NoSQL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비교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세 가지가 중점적으로 나올 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동안 수고 많으셨습니다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질문 있으신 분은 앞으로 오시면 답해드리겠습니다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88636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관리 시스템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Management System (DBMS)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2286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918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</a:t>
            </a:r>
            <a:endParaRPr lang="en-US" sz="18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1188720" cy="11887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0" y="3200400"/>
            <a:ext cx="1097280" cy="109728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0" y="3474720"/>
            <a:ext cx="548640" cy="5486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78638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73152" cy="7132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6276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등장 배경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828800" y="1938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시스템의 문제점과 데이터 관리의 한계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78638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23160"/>
            <a:ext cx="73152" cy="7132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42316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828800" y="2496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정의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8072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DBMS의 개념, 역할, 주요 기능 (정의·조작·제어)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291840"/>
            <a:ext cx="78638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291840"/>
            <a:ext cx="73152" cy="7132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29184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82880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장·단점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288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독립성, 동시 공유, 무결성, 비용 문제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160520"/>
            <a:ext cx="78638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4160520"/>
            <a:ext cx="73152" cy="7132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1605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828800" y="4233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발전 과정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4544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1세대(네트워크·계층) → 2세대(관계) → 3세대(객체) → 4세대(NoSQL·NewSQL)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47548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2장. 데이터베이스 관리 시스템  |  박상돈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등장 배경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Why File Systems Were Not Enough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파일 시스템(File System)의 데이터 관리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3152" cy="7772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887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0515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시스템: 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과거에 데이터를 관리하기 위해 사용하던 소프트웨어. 각 응용 프로그램이 독립적인 데이터 파일을 별도로 유지·관리하는 방식.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103120"/>
            <a:ext cx="2011680" cy="6400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2103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관리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프로그램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2240280"/>
            <a:ext cx="320040" cy="3200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31520" y="2880360"/>
            <a:ext cx="2011680" cy="6400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0"/>
          <p:cNvSpPr/>
          <p:nvPr/>
        </p:nvSpPr>
        <p:spPr>
          <a:xfrm>
            <a:off x="731520" y="2880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주문 관리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프로그램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3017520"/>
            <a:ext cx="320040" cy="3200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731520" y="3657600"/>
            <a:ext cx="2011680" cy="6400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2"/>
          <p:cNvSpPr/>
          <p:nvPr/>
        </p:nvSpPr>
        <p:spPr>
          <a:xfrm>
            <a:off x="731520" y="3657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배송 관리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프로그램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3794760"/>
            <a:ext cx="320040" cy="3200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474720" y="2103120"/>
            <a:ext cx="2560320" cy="640080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22402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931920" y="2103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파일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(고객ID, 이름, 연락처)</a:t>
            </a:r>
            <a:endParaRPr lang="en-US" sz="950" dirty="0"/>
          </a:p>
        </p:txBody>
      </p:sp>
      <p:sp>
        <p:nvSpPr>
          <p:cNvPr id="22" name="Shape 15"/>
          <p:cNvSpPr/>
          <p:nvPr/>
        </p:nvSpPr>
        <p:spPr>
          <a:xfrm>
            <a:off x="3474720" y="2880360"/>
            <a:ext cx="2560320" cy="640080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931920" y="2880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주문 파일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(주문ID, 고객ID, 이름)</a:t>
            </a:r>
            <a:endParaRPr lang="en-US" sz="950" dirty="0"/>
          </a:p>
        </p:txBody>
      </p:sp>
      <p:sp>
        <p:nvSpPr>
          <p:cNvPr id="25" name="Shape 17"/>
          <p:cNvSpPr/>
          <p:nvPr/>
        </p:nvSpPr>
        <p:spPr>
          <a:xfrm>
            <a:off x="3474720" y="3657600"/>
            <a:ext cx="2560320" cy="640080"/>
          </a:xfrm>
          <a:prstGeom prst="rect">
            <a:avLst/>
          </a:prstGeom>
          <a:solidFill>
            <a:srgbClr val="F59E0B">
              <a:alpha val="15000"/>
            </a:srgbClr>
          </a:solidFill>
          <a:ln/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794760"/>
            <a:ext cx="274320" cy="27432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931920" y="3657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배송 파일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(배송ID, 고객ID, 이름, 주소)</a:t>
            </a:r>
            <a:endParaRPr lang="en-US" sz="950" dirty="0"/>
          </a:p>
        </p:txBody>
      </p:sp>
      <p:sp>
        <p:nvSpPr>
          <p:cNvPr id="28" name="Shape 19"/>
          <p:cNvSpPr/>
          <p:nvPr/>
        </p:nvSpPr>
        <p:spPr>
          <a:xfrm>
            <a:off x="6492240" y="2103120"/>
            <a:ext cx="2011680" cy="2331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0"/>
          <p:cNvSpPr/>
          <p:nvPr/>
        </p:nvSpPr>
        <p:spPr>
          <a:xfrm>
            <a:off x="6492240" y="2103120"/>
            <a:ext cx="2011680" cy="54864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2286000"/>
            <a:ext cx="274320" cy="27432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040880" y="22402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문제</a:t>
            </a:r>
            <a:endParaRPr lang="en-US" sz="1200" dirty="0"/>
          </a:p>
        </p:txBody>
      </p:sp>
      <p:sp>
        <p:nvSpPr>
          <p:cNvPr id="32" name="Text 22"/>
          <p:cNvSpPr/>
          <p:nvPr/>
        </p:nvSpPr>
        <p:spPr>
          <a:xfrm>
            <a:off x="6629400" y="26517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이름이 3개 파일에 중복 저장됨!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한 곳만 수정하면 불일치 발생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저장 공간 낭비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데이터 일관성 훼손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파일 시스템의 4가지 주요 문제점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3152" cy="169164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887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중복성 (Redundancy)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16002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데이터가 여러 파일에 중복 저장되어 데이터 일관성(Consistency)과 무결성(Integrity) 유지가 어려움. 한 파일만 수정하면 다른 파일과 불일치 발생.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548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51560"/>
            <a:ext cx="73152" cy="169164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1887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종속성 (Dependency)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983480" y="16002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프로그램이 데이터 파일의 구조에 종속됨. DB 구조가 변경되면 모든 관련 응용 프로그램을 함께 수정해야 하는 부담 발생.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971800"/>
            <a:ext cx="73152" cy="169164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1089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063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 공유·보안·회복 부족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68680" y="35204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다수의 프로그램이 동시에 데이터를 공유하기 어려움. 보안 기능이 제한적이고, 장애 발생 시 데이터 복구(Recovery) 기능이 부족함.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4880" y="2971800"/>
            <a:ext cx="73152" cy="16916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1089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94960" y="3063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응용 프로그램 개발 난이도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983480" y="35204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요구(읽기/삽입/삭제 등)에 맞는 프로그램을 매번 새로 개발해야 함. 유지보수 비용 증가 및 개발 생산성 저하.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정의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Database Management System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DBMS란 무엇인가?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9144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0515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</a:rPr>
              <a:t>DBMS (Database Management System)
</a:t>
            </a:r>
            <a:r>
              <a:rPr lang="en-US" sz="1300" dirty="0">
                <a:solidFill>
                  <a:srgbClr val="FFFFFF"/>
                </a:solidFill>
              </a:rPr>
              <a:t>조직에 필요한 데이터를 통합 저장하고, 이에 대한 관리를 집중적으로 담당하는 소프트웨어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3749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240280"/>
            <a:ext cx="3749040" cy="64008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2316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파일 시스템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" y="288036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각 프로그램이 별도 데이터 파일 관리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중복 및 불일치 발생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 구조 변경 시 프로그램 수정 필요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동시 접근·보안·회복 기능 부족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프로그램과 데이터가 종속적 관계</a:t>
            </a:r>
            <a:endParaRPr lang="en-US" sz="11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3246120"/>
            <a:ext cx="457200" cy="457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754880" y="2240280"/>
            <a:ext cx="3749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754880" y="2240280"/>
            <a:ext cx="3749040" cy="64008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4231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DBMS 도입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029200" y="288036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데이터를 통합 저장·관리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중복 최소화 및 일관성 보장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DBMS가 접근을 중재 → 데이터 독립성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동시 공유, 보안, 회복 기능 제공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CRUD 연산이 용이해짐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 기반 데이터 관리 구조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71830" y="1097280"/>
            <a:ext cx="182880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671830" y="1097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06370" y="1097280"/>
            <a:ext cx="182880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9" name="Text 7"/>
          <p:cNvSpPr/>
          <p:nvPr/>
        </p:nvSpPr>
        <p:spPr>
          <a:xfrm>
            <a:off x="2706370" y="1097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71390" y="1097280"/>
            <a:ext cx="182880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1" name="Text 9"/>
          <p:cNvSpPr/>
          <p:nvPr/>
        </p:nvSpPr>
        <p:spPr>
          <a:xfrm>
            <a:off x="4771390" y="1097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563370" y="1600200"/>
            <a:ext cx="0" cy="27432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7910" y="1600200"/>
            <a:ext cx="0" cy="27432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2930" y="1600200"/>
            <a:ext cx="0" cy="27432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1830" y="1874520"/>
            <a:ext cx="1828800" cy="5029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67183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 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06370" y="1874520"/>
            <a:ext cx="1828800" cy="5029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" name="Text 16"/>
          <p:cNvSpPr/>
          <p:nvPr/>
        </p:nvSpPr>
        <p:spPr>
          <a:xfrm>
            <a:off x="270637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 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390" y="1874520"/>
            <a:ext cx="1828800" cy="5029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39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 C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63370" y="2377440"/>
            <a:ext cx="0" cy="36576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97910" y="2377440"/>
            <a:ext cx="0" cy="36576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2930" y="2377440"/>
            <a:ext cx="0" cy="36576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1830" y="2743200"/>
            <a:ext cx="5928360" cy="7772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907792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600200" y="274320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(데이터베이스 관리 시스템)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1600200" y="3154680"/>
            <a:ext cx="487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2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정의 · 조작 · 제어  |  동시성 제어 · 보안 · 회복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754120" y="3520440"/>
            <a:ext cx="0" cy="32004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142999" y="3840480"/>
            <a:ext cx="5105397" cy="91440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4023360"/>
            <a:ext cx="457200" cy="4572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2057400" y="3931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통합 데이터베이스 (Integrated DB)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데이터 중복 최소화 · 공유 · 영구 저장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7009763" y="1097280"/>
            <a:ext cx="164592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7009763" y="1097280"/>
            <a:ext cx="16459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4" name="Text 30"/>
          <p:cNvSpPr/>
          <p:nvPr/>
        </p:nvSpPr>
        <p:spPr>
          <a:xfrm>
            <a:off x="7101203" y="1234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포인트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7101203" y="1600200"/>
            <a:ext cx="1371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DBMS가 응용 프로그램과 DB 사이를 중재하여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독립성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확보합니다.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구조가 바뀌어도 응용 프로그램은 수정하지 않아도 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3대 주요 기능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560320" cy="3794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56032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1280160"/>
            <a:ext cx="777240" cy="7772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444752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정의 기능 (Definition)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구조를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생성·수정·삭제하는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기능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05840" y="301752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1546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형식, 구조, 제약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등 명세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테이블, 뷰, 인덱스 등의 스키마 정의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DDL(Data Definition Language) 사용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예: CREATE TABLE, ALTER TABLE, </a:t>
            </a:r>
            <a:b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DROP TABLE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474720" y="1051560"/>
            <a:ext cx="2560320" cy="3794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74720" y="105156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Shape 13"/>
          <p:cNvSpPr/>
          <p:nvPr/>
        </p:nvSpPr>
        <p:spPr>
          <a:xfrm>
            <a:off x="4343400" y="1280160"/>
            <a:ext cx="777240" cy="777240"/>
          </a:xfrm>
          <a:prstGeom prst="ellipse">
            <a:avLst/>
          </a:prstGeom>
          <a:solidFill>
            <a:srgbClr val="F59E0B">
              <a:alpha val="10000"/>
            </a:srgbClr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444752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1188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조작 기능 (Manipulation)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361188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삽입·삭제·수정·검색하는 기능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840480" y="301752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7"/>
          <p:cNvSpPr/>
          <p:nvPr/>
        </p:nvSpPr>
        <p:spPr>
          <a:xfrm>
            <a:off x="3657600" y="31546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간의 인터페이스 수단 제공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CRUD 연산을 체계적으로 수행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DML(Data Manipulation Language) 사용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예: SELECT, INSERT, UPDATE, DELETE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309360" y="1051560"/>
            <a:ext cx="2560320" cy="3794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09360" y="1051560"/>
            <a:ext cx="256032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Shape 20"/>
          <p:cNvSpPr/>
          <p:nvPr/>
        </p:nvSpPr>
        <p:spPr>
          <a:xfrm>
            <a:off x="7178040" y="1280160"/>
            <a:ext cx="777240" cy="77724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444752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4652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기능 (Control)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6446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데이터의 정확성·안전성을 유지하는 기능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675120" y="301752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4"/>
          <p:cNvSpPr/>
          <p:nvPr/>
        </p:nvSpPr>
        <p:spPr>
          <a:xfrm>
            <a:off x="6492240" y="31546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동시성 제어 (Concurrency Control)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접근 권한 관리 및 보안 (Security)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무결성 제약 조건 검사 (Integrity)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장애 시 데이터 회복 (Recovery)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장·단점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and Disadvantages of DBMS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장점 (1/2)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887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중복 통제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16002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통합 관리하여 중복을 최소화하고 데이터 일관성(Consistency)을 유지합니다. 저장 공간 절약 효과도 있습니다.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54880" y="105156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5156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1887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독립성 확보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983480" y="16002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DBMS가 응용 프로그램 대신 DB에 접근하므로, DB 구조가 변경되어도 응용 프로그램을 수정할 필요가 없습니다.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292608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92608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0632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017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동시 공유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68680" y="347472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사용자·프로그램이 동시에 같은 데이터를 공유할 수 있습니다. 동시성 제어를 통해 데이터 충돌을 방지합니다.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754880" y="292608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4880" y="292608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0632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94960" y="3017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무결성 유지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983480" y="347472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연산 시 유효성을 자동 검사하여 무결성 제약 조건을 만족하는 데이터만 DB에 저장됩니다.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장점 (2/2)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3152" cy="11430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1887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표준화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54480" y="15544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접근 방식, 형식 및 구조를 조직 전체에 걸쳐 통일할 수 있습니다. 부서 간 데이터 교환이 원활해집니다.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2377440"/>
            <a:ext cx="78638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" y="2377440"/>
            <a:ext cx="73152" cy="11430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5146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5448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시 회복 가능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554480" y="28803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트랜잭션 로그(Log)를 기반으로 장애 발생 이전 상태로 복구하는 기능을 제공합니다. UNDO/REDO 연산을 통한 회복이 가능합니다.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3703320"/>
            <a:ext cx="78638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3703320"/>
            <a:ext cx="73152" cy="11430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84048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응용 프로그램 개발 비용 절감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554480" y="42062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 대비 유지보수 비용이 크게 절감됩니다. 데이터 접근 로직을 DBMS가 담당하므로 개발자는 비즈니스 로직에 집중할 수 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단점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3152" cy="114300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1887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높은 비용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54480" y="15544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소프트웨어를 별도 구매·설치해야 하며, 하드웨어 및 전문 인력 비용도 발생합니다. 다만, MySQL, PostgreSQL 등 오픈소스 DBMS의 활용으로 비용을 절감할 수 있습니다.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2377440"/>
            <a:ext cx="78638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" y="2377440"/>
            <a:ext cx="73152" cy="114300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5146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5448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복잡한 백업과 회복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554480" y="28803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발생에 대비하여 주기적으로 DB를 백업해야 합니다. 장애 유형에 따라 회복 절차가 다르고 복잡하며, 전문적인 관리 지식이 필요합니다.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3703320"/>
            <a:ext cx="78638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3703320"/>
            <a:ext cx="73152" cy="114300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84048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중앙 집중 관리의 취약점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554480" y="42062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데이터가 하나의 DBMS에 집중되므로, DBMS에 장애가 발생하면 전체 시스템의 가용성(Availability)과 신뢰성(Reliability)에 치명적인 영향을 미칩니다.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DBMS의 발전 과정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of Database Management Systems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DBMS 발전 과정 타임라인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786384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Shape 5"/>
          <p:cNvSpPr/>
          <p:nvPr/>
        </p:nvSpPr>
        <p:spPr>
          <a:xfrm>
            <a:off x="1417320" y="2468880"/>
            <a:ext cx="320040" cy="32004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051560"/>
            <a:ext cx="1783080" cy="12344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09728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1세대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네트워크·계층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DBMS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1960s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0" y="2468880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2" name="Shape 10"/>
          <p:cNvSpPr/>
          <p:nvPr/>
        </p:nvSpPr>
        <p:spPr>
          <a:xfrm>
            <a:off x="2880360" y="1051560"/>
            <a:ext cx="1783080" cy="1234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2880360" y="109728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2세대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관계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DBMS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0360" y="2834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1980s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32120" y="2468880"/>
            <a:ext cx="320040" cy="3200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37760" y="1051560"/>
            <a:ext cx="1783080" cy="1234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109728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3세대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객체지향·객체관계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DBMS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2834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589520" y="246888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6995160" y="1051560"/>
            <a:ext cx="1783080" cy="1234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995160" y="109728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4세대+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NoSQL·NewSQL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</a:rPr>
              <a:t>DBMS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95160" y="2834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2010s~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347472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발전 방향: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구조 → 단순한 테이블 → 객체 지원 → 비정형 데이터 대응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1세대: 데이터 간 관계를 네트워크/트리 구조로 표현 → 복잡하고 구조 변경 어려움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2세대: 테이블(관계) 기반으로 단순화 → SQL 표준 도입으로 범용적 사용 가능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3세대: 객체지향 프로그래밍과 결합 → 복잡한 데이터 타입 지원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4세대+: 빅데이터·SNS 시대 → 비정형 데이터 처리와 수평 확장성(Scale-Out) 강조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1세대: 네트워크·계층 DBMS (1960s)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374904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DBMS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103120" y="1828800"/>
            <a:ext cx="54864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8"/>
          <p:cNvSpPr/>
          <p:nvPr/>
        </p:nvSpPr>
        <p:spPr>
          <a:xfrm>
            <a:off x="210312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188720" y="2468880"/>
            <a:ext cx="548640" cy="4572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13" name="Text 10"/>
          <p:cNvSpPr/>
          <p:nvPr/>
        </p:nvSpPr>
        <p:spPr>
          <a:xfrm>
            <a:off x="1188720" y="2468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B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017520" y="2468880"/>
            <a:ext cx="548640" cy="4572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15" name="Text 12"/>
          <p:cNvSpPr/>
          <p:nvPr/>
        </p:nvSpPr>
        <p:spPr>
          <a:xfrm>
            <a:off x="3017520" y="2468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103120" y="3108960"/>
            <a:ext cx="548640" cy="4572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17" name="Text 14"/>
          <p:cNvSpPr/>
          <p:nvPr/>
        </p:nvSpPr>
        <p:spPr>
          <a:xfrm>
            <a:off x="2103120" y="3108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377440" y="2286000"/>
            <a:ext cx="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377440" y="2286000"/>
            <a:ext cx="64008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463040" y="2926080"/>
            <a:ext cx="64008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291840" y="2926080"/>
            <a:ext cx="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4400" y="3703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간선(Edge)으로 데이터 관계 표현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다대다(M:N) 관계 표현 가능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구조가 복잡하고 변경이 어려움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1960년 초반, IDS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754880" y="1051560"/>
            <a:ext cx="374904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754880" y="1051560"/>
            <a:ext cx="3749040" cy="64008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280160"/>
            <a:ext cx="365760" cy="36576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53212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 DBMS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6217920" y="1828800"/>
            <a:ext cx="54864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4"/>
          <p:cNvSpPr/>
          <p:nvPr/>
        </p:nvSpPr>
        <p:spPr>
          <a:xfrm>
            <a:off x="621792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R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5394960" y="2514600"/>
            <a:ext cx="548640" cy="4572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30" name="Text 26"/>
          <p:cNvSpPr/>
          <p:nvPr/>
        </p:nvSpPr>
        <p:spPr>
          <a:xfrm>
            <a:off x="5394960" y="2514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P1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040880" y="2514600"/>
            <a:ext cx="548640" cy="457200"/>
          </a:xfrm>
          <a:prstGeom prst="ellipse">
            <a:avLst/>
          </a:prstGeom>
          <a:solidFill>
            <a:srgbClr val="1A2744"/>
          </a:solidFill>
          <a:ln/>
        </p:spPr>
      </p:sp>
      <p:sp>
        <p:nvSpPr>
          <p:cNvPr id="32" name="Text 28"/>
          <p:cNvSpPr/>
          <p:nvPr/>
        </p:nvSpPr>
        <p:spPr>
          <a:xfrm>
            <a:off x="7040880" y="2514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P2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5029200" y="3200400"/>
            <a:ext cx="502920" cy="411480"/>
          </a:xfrm>
          <a:prstGeom prst="ellipse">
            <a:avLst/>
          </a:prstGeom>
          <a:solidFill>
            <a:srgbClr val="334155"/>
          </a:solidFill>
          <a:ln/>
        </p:spPr>
      </p:sp>
      <p:sp>
        <p:nvSpPr>
          <p:cNvPr id="34" name="Text 30"/>
          <p:cNvSpPr/>
          <p:nvPr/>
        </p:nvSpPr>
        <p:spPr>
          <a:xfrm>
            <a:off x="5029200" y="32004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C1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5760720" y="3200400"/>
            <a:ext cx="502920" cy="411480"/>
          </a:xfrm>
          <a:prstGeom prst="ellipse">
            <a:avLst/>
          </a:prstGeom>
          <a:solidFill>
            <a:srgbClr val="334155"/>
          </a:solidFill>
          <a:ln/>
        </p:spPr>
      </p:sp>
      <p:sp>
        <p:nvSpPr>
          <p:cNvPr id="36" name="Text 32"/>
          <p:cNvSpPr/>
          <p:nvPr/>
        </p:nvSpPr>
        <p:spPr>
          <a:xfrm>
            <a:off x="5760720" y="32004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C2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6492240" y="228600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492240" y="2286000"/>
            <a:ext cx="73152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69280" y="297180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669280" y="2971800"/>
            <a:ext cx="32004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029200" y="3703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트리(Tree) 구조로 부모-자식 관계 표현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1:N 관계만 표현 가능 (M:N 불가)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구조 변경이 어려움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1960년 후반, IMS (IBM)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2세대: 관계 DBMS — RDBMS (1980s)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0515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</a:rPr>
              <a:t>관계 데이터 모델(Relational Data Model)</a:t>
            </a:r>
            <a:r>
              <a:rPr lang="en-US" sz="1400" dirty="0">
                <a:solidFill>
                  <a:srgbClr val="FFFFFF"/>
                </a:solidFill>
              </a:rPr>
              <a:t>을 기반으로 데이터베이스를 </a:t>
            </a:r>
            <a:r>
              <a:rPr lang="en-US" sz="1400" b="1" dirty="0">
                <a:solidFill>
                  <a:srgbClr val="F59E0B"/>
                </a:solidFill>
              </a:rPr>
              <a:t>테이블(Table) 형태</a:t>
            </a:r>
            <a:r>
              <a:rPr lang="en-US" sz="1400" dirty="0">
                <a:solidFill>
                  <a:srgbClr val="FFFFFF"/>
                </a:solidFill>
              </a:rPr>
              <a:t>로 구성하는 DBMS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예시: 학생 테이블 (관계형 표현)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4023360" cy="7467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학번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이름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학과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학년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20210001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김철수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컴퓨터공학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20210002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이영희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전자공학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577840" y="2011680"/>
            <a:ext cx="29260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77840" y="2011680"/>
            <a:ext cx="292608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9"/>
          <p:cNvSpPr/>
          <p:nvPr/>
        </p:nvSpPr>
        <p:spPr>
          <a:xfrm>
            <a:off x="576072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특징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760720" y="2468880"/>
            <a:ext cx="2560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단순한 테이블 구조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표준 언어 사용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독립성 우수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ACID 트랜잭션 지원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가장 널리 사용되는 모델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대표 제품: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Oracle, MySQL, PostgreSQL,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Server, MariaDB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3566160"/>
            <a:ext cx="45720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22960" y="361188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(Structured Query Language)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관계형 DB의 표준 언어로, 데이터 정의(DDL), 조작(DML), 제어(DCL) 기능을 모두 제공합니다. 1970년 E.F. Codd가 관계형 모델을 제안하고, 1980년대에 상용화되면서 DB의 주류가 되었습니다.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3세대: 객체지향·객체관계 DBMS (1990s)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374904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3749040" cy="64008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객체지향 DBMS (OODBMS)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173736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프로그래밍(OOP)의 개념을 데이터베이스에 적용한 모델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데이터를 객체(Object)로 저장·관리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상속, 캡슐화, 다형성 등 OOP 특성 지원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멀티미디어, CAD 등 복잡한 데이터에 적합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관계형 모델 대비 복잡도가 높음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시기: 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1980년 후반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제품: 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O2, ONTOS, GemStone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54880" y="1051560"/>
            <a:ext cx="374904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2801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3212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객체관계 DBMS (ORDBMS)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29200" y="173736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OODBMS + RDBMS를 통합한 하이브리드 모델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관계형 DB의 테이블 구조 유지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객체지향의 사용자 정의 타입 지원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개발자가 데이터 형식·방법을 자유롭게 정의하여 DBMS에 통합 가능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SQL을 확장하여 객체 기능 지원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시기: 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1990년 후반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제품: 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Oracle, PostgreSQL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4세대+: NoSQL DBMS (2010s~)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0515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</a:rPr>
              <a:t>등장 배경: </a:t>
            </a:r>
            <a:r>
              <a:rPr lang="en-US" sz="1200" dirty="0">
                <a:solidFill>
                  <a:srgbClr val="FFFFFF"/>
                </a:solidFill>
              </a:rPr>
              <a:t>SNS의 폭발적 성장으로 사진, 동영상, 검색 로그 등 대량의 비정형 데이터가 생산됨 → RDBMS만으로는 비효율적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057400"/>
            <a:ext cx="7863840" cy="2788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057400"/>
            <a:ext cx="73152" cy="278892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45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1732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NoSQL (Not Only SQL) DBMS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14400" y="2606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비정형 데이터 처리에 특화된 DBMS — 고정된 스키마 없이 유연한 데이터 모델 제공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14400" y="3108960"/>
            <a:ext cx="1737360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Key-Value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</a:rPr>
              <a:t>Redis, DynamoDB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834640" y="3108960"/>
            <a:ext cx="1737360" cy="7772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283464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Document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</a:rPr>
              <a:t>MongoDB, CouchDB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754880" y="3108960"/>
            <a:ext cx="1737360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75488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Column-Family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</a:rPr>
              <a:t>Cassandra, HBase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675120" y="3108960"/>
            <a:ext cx="1737360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7"/>
          <p:cNvSpPr/>
          <p:nvPr/>
        </p:nvSpPr>
        <p:spPr>
          <a:xfrm>
            <a:off x="667512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Graph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</a:rPr>
              <a:t>Neo4j, ArangoDB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14400" y="4069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특징: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수평 확장(Scale-Out) 용이 · 유연한 스키마 · 대용량 데이터 처리에 최적화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한계: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트랜잭션 완전 지원이 어려움 · 정형 데이터 기반 DBMS와의 통합 문제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4세대+: NewSQL DBMS (2011~)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0515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</a:rPr>
              <a:t>NewSQL: </a:t>
            </a:r>
            <a:r>
              <a:rPr lang="en-US" sz="1400" dirty="0">
                <a:solidFill>
                  <a:srgbClr val="FFFFFF"/>
                </a:solidFill>
              </a:rPr>
              <a:t>RDBMS의 ACID 보장 + NoSQL의 수평 확장성·유연성을 결합한 차세대 DBMS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57400"/>
          <a:ext cx="7863840" cy="1722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RDBMS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NoSQL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NewSQL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데이터 모델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테이블 (관계형)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다양 (KV, Doc 등)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테이블 (관계형)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스키마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고정 스키마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유연한 스키마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고정 스키마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ACID 트랜잭션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완전 지원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부분 지원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완전 지원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확장성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수직 확장 (Scale-Up)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수평 확장 (Scale-Out)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수평 확장 (Scale-Out)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SQL 지원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표준 SQL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자체 API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표준 SQL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대표 제품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Oracle, MySQL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MongoDB, Redis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Spanner, VoltDB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34340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343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NewSQL의 대표적인 제품으로는 Google Spanner, VoltDB, NuoDB, CockroachDB, TiDB 등이 있으며, 클라우드 네이티브 환경에서 주목받고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현재 DBMS 인기도 (DB-Engines Ranking)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db-engines.com/en/ranking</a:t>
            </a:r>
            <a:endParaRPr lang="en-US" sz="10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137160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035040" y="1371600"/>
            <a:ext cx="24688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035040" y="1371600"/>
            <a:ext cx="24688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17920" y="1828800"/>
            <a:ext cx="2103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유료 DBMS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1위 Oracle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2위 MS SQL Server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무료/오픈소스 DBMS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1위 MySQL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2위 PostgreSQL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DBMS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1위 MongoDB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2위 Redis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요약 (Wrap-Up)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058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54480" y="10515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등장 배경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54480" y="13716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시스템의 데이터 중복성, 종속성, 동시 공유 부족, 보안·회복 기능 부재 등의 한계를 극복하기 위해 DBMS가 등장하였습니다.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1993392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1993392"/>
            <a:ext cx="73152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199339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54480" y="20391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정의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554480" y="235915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DBMS는 조직의 데이터를 통합 저장·관리하는 소프트웨어로, 정의(DDL)·조작(DML)·제어(DCL) 기능을 제공하며 데이터 독립성을 확보합니다.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980944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2980944"/>
            <a:ext cx="73152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980944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54480" y="302666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장·단점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54480" y="3346704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장점: 중복 통제, 독립성, 동시 공유, 무결성, 표준화, 회복, 비용 절감. 단점: 높은 초기 비용, 복잡한 백업/회복, 중앙 집중 취약점.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968496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3968496"/>
            <a:ext cx="73152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396849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554480" y="401421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DBMS의 발전 과정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54480" y="4334256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1세대(네트워크·계층) → 2세대(관계형, SQL) → 3세대(객체지향·객체관계) → 4세대+(NoSQL·NewSQL)로 발전하였습니다.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9144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840480" y="3291840"/>
            <a:ext cx="146304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566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박상돈 조교수</a:t>
            </a:r>
            <a:endParaRPr lang="en-US" sz="1600" dirty="0"/>
          </a:p>
          <a:p>
            <a:pPr marL="0" indent="0" algn="ctr">
              <a:buNone/>
            </a:pPr>
            <a:endParaRPr lang="en-US" sz="1200" dirty="0">
              <a:solidFill>
                <a:srgbClr val="94A3B8"/>
              </a:solidFill>
            </a:endParaRPr>
          </a:p>
          <a:p>
            <a:pPr marL="0" indent="0" algn="ctr">
              <a:buNone/>
            </a:pPr>
            <a:r>
              <a:rPr lang="en-US" sz="1200" dirty="0" err="1">
                <a:solidFill>
                  <a:srgbClr val="94A3B8"/>
                </a:solidFill>
              </a:rPr>
              <a:t>대전대학교</a:t>
            </a:r>
            <a:r>
              <a:rPr lang="en-US" sz="1200" dirty="0">
                <a:solidFill>
                  <a:srgbClr val="94A3B8"/>
                </a:solidFill>
              </a:rPr>
              <a:t> 컴퓨터공학과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731520" cy="7315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7955280" y="731520"/>
            <a:ext cx="914400" cy="91440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10826</Words>
  <Application>Microsoft Office PowerPoint</Application>
  <PresentationFormat>화면 슬라이드 쇼(16:9)</PresentationFormat>
  <Paragraphs>606</Paragraphs>
  <Slides>23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맑은 고딕</vt:lpstr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2장. 데이터베이스 관리 시스템</dc:title>
  <dc:subject>PptxGenJS Presentation</dc:subject>
  <dc:creator>박상돈</dc:creator>
  <cp:lastModifiedBy>USER</cp:lastModifiedBy>
  <cp:revision>33</cp:revision>
  <dcterms:created xsi:type="dcterms:W3CDTF">2026-02-26T04:40:25Z</dcterms:created>
  <dcterms:modified xsi:type="dcterms:W3CDTF">2026-03-02T04:41:20Z</dcterms:modified>
</cp:coreProperties>
</file>