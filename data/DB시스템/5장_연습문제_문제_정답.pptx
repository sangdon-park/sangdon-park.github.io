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slide" Target="slides/slide36.xml"  /><Relationship Id="rId39" Type="http://schemas.openxmlformats.org/officeDocument/2006/relationships/slide" Target="slides/slide37.xml"  /><Relationship Id="rId4" Type="http://schemas.openxmlformats.org/officeDocument/2006/relationships/slide" Target="slides/slide2.xml"  /><Relationship Id="rId40" Type="http://schemas.openxmlformats.org/officeDocument/2006/relationships/slide" Target="slides/slide38.xml"  /><Relationship Id="rId41" Type="http://schemas.openxmlformats.org/officeDocument/2006/relationships/slide" Target="slides/slide39.xml"  /><Relationship Id="rId42" Type="http://schemas.openxmlformats.org/officeDocument/2006/relationships/slide" Target="slides/slide40.xml"  /><Relationship Id="rId43" Type="http://schemas.openxmlformats.org/officeDocument/2006/relationships/slide" Target="slides/slide41.xml"  /><Relationship Id="rId44" Type="http://schemas.openxmlformats.org/officeDocument/2006/relationships/slide" Target="slides/slide42.xml"  /><Relationship Id="rId45" Type="http://schemas.openxmlformats.org/officeDocument/2006/relationships/slide" Target="slides/slide43.xml"  /><Relationship Id="rId46" Type="http://schemas.openxmlformats.org/officeDocument/2006/relationships/slide" Target="slides/slide44.xml"  /><Relationship Id="rId47" Type="http://schemas.openxmlformats.org/officeDocument/2006/relationships/slide" Target="slides/slide45.xml"  /><Relationship Id="rId48" Type="http://schemas.openxmlformats.org/officeDocument/2006/relationships/slide" Target="slides/slide46.xml"  /><Relationship Id="rId49" Type="http://schemas.openxmlformats.org/officeDocument/2006/relationships/slide" Target="slides/slide47.xml"  /><Relationship Id="rId5" Type="http://schemas.openxmlformats.org/officeDocument/2006/relationships/slide" Target="slides/slide3.xml"  /><Relationship Id="rId50" Type="http://schemas.openxmlformats.org/officeDocument/2006/relationships/slide" Target="slides/slide48.xml"  /><Relationship Id="rId51" Type="http://schemas.openxmlformats.org/officeDocument/2006/relationships/slide" Target="slides/slide49.xml"  /><Relationship Id="rId52" Type="http://schemas.openxmlformats.org/officeDocument/2006/relationships/slide" Target="slides/slide50.xml"  /><Relationship Id="rId53" Type="http://schemas.openxmlformats.org/officeDocument/2006/relationships/slide" Target="slides/slide51.xml"  /><Relationship Id="rId54" Type="http://schemas.openxmlformats.org/officeDocument/2006/relationships/slide" Target="slides/slide52.xml"  /><Relationship Id="rId55" Type="http://schemas.openxmlformats.org/officeDocument/2006/relationships/slide" Target="slides/slide53.xml"  /><Relationship Id="rId56" Type="http://schemas.openxmlformats.org/officeDocument/2006/relationships/slide" Target="slides/slide54.xml"  /><Relationship Id="rId57" Type="http://schemas.openxmlformats.org/officeDocument/2006/relationships/slide" Target="slides/slide55.xml"  /><Relationship Id="rId58" Type="http://schemas.openxmlformats.org/officeDocument/2006/relationships/slide" Target="slides/slide56.xml"  /><Relationship Id="rId59" Type="http://schemas.openxmlformats.org/officeDocument/2006/relationships/slide" Target="slides/slide57.xml"  /><Relationship Id="rId6" Type="http://schemas.openxmlformats.org/officeDocument/2006/relationships/slide" Target="slides/slide4.xml"  /><Relationship Id="rId60" Type="http://schemas.openxmlformats.org/officeDocument/2006/relationships/slide" Target="slides/slide58.xml"  /><Relationship Id="rId61" Type="http://schemas.openxmlformats.org/officeDocument/2006/relationships/presProps" Target="presProps.xml"  /><Relationship Id="rId62" Type="http://schemas.openxmlformats.org/officeDocument/2006/relationships/viewProps" Target="viewProps.xml"  /><Relationship Id="rId63" Type="http://schemas.openxmlformats.org/officeDocument/2006/relationships/theme" Target="theme/theme1.xml"  /><Relationship Id="rId64" Type="http://schemas.openxmlformats.org/officeDocument/2006/relationships/tableStyles" Target="tableStyles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3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4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5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6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7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8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9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0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2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3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4.xml"  /></Relationships>
</file>

<file path=ppt/notesSlides/_rels/notesSlide3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5.xml"  /></Relationships>
</file>

<file path=ppt/notesSlides/_rels/notesSlide3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6.xml"  /></Relationships>
</file>

<file path=ppt/notesSlides/_rels/notesSlide3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7.xml"  /></Relationships>
</file>

<file path=ppt/notesSlides/_rels/notesSlide3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8.xml"  /></Relationships>
</file>

<file path=ppt/notesSlides/_rels/notesSlide3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9.xml"  /></Relationships>
</file>

<file path=ppt/notesSlides/_rels/notesSlide4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0.xml"  /></Relationships>
</file>

<file path=ppt/notesSlides/_rels/notesSlide4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1.xml"  /></Relationships>
</file>

<file path=ppt/notesSlides/_rels/notesSlide4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2.xml"  /></Relationships>
</file>

<file path=ppt/notesSlides/_rels/notesSlide4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3.xml"  /></Relationships>
</file>

<file path=ppt/notesSlides/_rels/notesSlide4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4.xml"  /></Relationships>
</file>

<file path=ppt/notesSlides/_rels/notesSlide4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5.xml"  /></Relationships>
</file>

<file path=ppt/notesSlides/_rels/notesSlide4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6.xml"  /></Relationships>
</file>

<file path=ppt/notesSlides/_rels/notesSlide4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7.xml"  /></Relationships>
</file>

<file path=ppt/notesSlides/_rels/notesSlide4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8.xml"  /></Relationships>
</file>

<file path=ppt/notesSlides/_rels/notesSlide4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9.xml"  /></Relationships>
</file>

<file path=ppt/notesSlides/_rels/notesSlide5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0.xml"  /></Relationships>
</file>

<file path=ppt/notesSlides/_rels/notesSlide5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1.xml"  /></Relationships>
</file>

<file path=ppt/notesSlides/_rels/notesSlide5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2.xml"  /></Relationships>
</file>

<file path=ppt/notesSlides/_rels/notesSlide5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3.xml"  /></Relationships>
</file>

<file path=ppt/notesSlides/_rels/notesSlide5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4.xml"  /></Relationships>
</file>

<file path=ppt/notesSlides/_rels/notesSlide5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5.xml"  /></Relationships>
</file>

<file path=ppt/notesSlides/_rels/notesSlide5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6.xml"  /></Relationships>
</file>

<file path=ppt/notesSlides/_rels/notesSlide5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7.xml"  /></Relationships>
</file>

<file path=ppt/notesSlides/_rels/notesSlide5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8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jpe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jpe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9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0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1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jpe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5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6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7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8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9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0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.jpe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2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jpeg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4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5.xml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6.xml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7.xml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.jpeg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9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0.xml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1.xml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7.jpeg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3.xml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4.xml"  /></Relationships>
</file>

<file path=ppt/slides/_rels/slide4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8.jpeg"  /></Relationships>
</file>

<file path=ppt/slides/_rels/slide4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6.xml"  /></Relationships>
</file>

<file path=ppt/slides/_rels/slide47.xml.rels><?xml version="1.0" encoding="UTF-8" standalone="yes" ?><Relationships xmlns="http://schemas.openxmlformats.org/package/2006/relationships"><Relationship Id="rId1" Type="http://schemas.openxmlformats.org/officeDocument/2006/relationships/image" Target="../media/image9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47.xml"  /></Relationships>
</file>

<file path=ppt/slides/_rels/slide4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8.xml"  /></Relationships>
</file>

<file path=ppt/slides/_rels/slide4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9.xml"  /></Relationships>
</file>

<file path=ppt/slides/_rels/slide5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0.xml"  /></Relationships>
</file>

<file path=ppt/slides/_rels/slide5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1.xml"  /></Relationships>
</file>

<file path=ppt/slides/_rels/slide5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2.xml"  /></Relationships>
</file>

<file path=ppt/slides/_rels/slide5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3.xml"  /></Relationships>
</file>

<file path=ppt/slides/_rels/slide5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4.xml"  /></Relationships>
</file>

<file path=ppt/slides/_rels/slide5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5.xml"  /></Relationships>
</file>

<file path=ppt/slides/_rels/slide5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6.xml"  /></Relationships>
</file>

<file path=ppt/slides/_rels/slide57.xml.rels><?xml version="1.0" encoding="UTF-8" standalone="yes" ?><Relationships xmlns="http://schemas.openxmlformats.org/package/2006/relationships"><Relationship Id="rId1" Type="http://schemas.openxmlformats.org/officeDocument/2006/relationships/image" Target="../media/image10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57.xml"  /></Relationships>
</file>

<file path=ppt/slides/_rels/slide5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8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9144000" cy="20345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관계 데이터 모델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연습문제 해답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 — Exercises &amp; Solutions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|  박상돈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28문제  ·  객관식 + 서술형 + OX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개체에 관한 데이터를 릴레이션이라 불리는 테이블 형태로 저장하고,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릴레이션들 사이의 관계는 기본키와 이를 참조하는 외래키로 표현하는 논리적 데이터 모델은?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데이터 모델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데이터 모델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데이터 모델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개체에 관한 데이터를 릴레이션이라 불리는 테이블 형태로 저장하고,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데이터 모델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데이터 모델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데이터 모델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모델은 데이터를 2차원 테이블(릴레이션) 형태로 저장하고,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기본키와 외래키를 이용하여 릴레이션 간의 관계를 표현하는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논리적 데이터 모델입니다.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모델은 트리 구조, 네트워크 모델은 그래프 구조,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모델은 객체와 상속을 이용합니다.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릴레이션 스키마와 릴레이션 인스턴스로 구성된다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릴레이션의 논리적 구조이다 (= 릴레이션 내포)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투플들의 집합이다 (= 릴레이션 외연)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동적이고, 릴레이션 인스턴스는 정적인 특징을 가진다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릴레이션 스키마와 릴레이션 인스턴스로 구성된다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릴레이션의 논리적 구조이다 (= 릴레이션 내포)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투플들의 집합이다 (= 릴레이션 외연)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동적이고, 릴레이션 인스턴스는 정적인 특징을 가진다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정적(구조는 잘 안 바뀜)이고,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동적(투플이 수시로 변함)입니다.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보기 ④는 이 관계를 반대로 서술한 틀린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 중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릴레이션에는 동일한 투플이 존재할 수 없다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투플 사이의 순서는 무의미하다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속성 사이의 순서는 무의미하다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속성 값은 논리적으로 분해 가능한 복합값이어야 한다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 중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릴레이션에는 동일한 투플이 존재할 수 없다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투플 사이의 순서는 무의미하다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속성 사이의 순서는 무의미하다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속성 값은 논리적으로 분해 가능한 복합값이어야 한다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속성 값은 원자 값(atomic value)이어야 합니다.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즉, 더 이상 분해할 수 없는 하나의 값이어야 하며,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복합값(다중 값)이면 안 됩니다. → 속성의 원자성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①투플의 유일성 ②투플의 무순서 ③속성의 무순서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관련 용어에 대한 설명으로 옳지 않은 것은?</a:t>
            </a:r>
            <a:endParaRPr lang="en-US" sz="1400" dirty="0"/>
          </a:p>
        </p:txBody>
      </p:sp>
      <p:pic>
        <p:nvPicPr>
          <p:cNvPr id="8" name="Image 0" descr="/home/claude/ch5imgs/fig5_1_customer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55963" y="731520"/>
            <a:ext cx="3813717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260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29900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29900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29260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릴레이션에서 열을 의미한다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4290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4930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4930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34290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투플은 릴레이션에서 행을 의미한다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9319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39959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3995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39319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릴레이션에서 전체 속성의 개수를 의미한다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443484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49884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4988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443484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카디널리티는 릴레이션에서 전체 투플의 개수를 의미한다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관련 용어에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릴레이션에서 열을 의미한다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투플은 릴레이션에서 행을 의미한다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릴레이션에서 전체 속성의 개수를 의미한다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카디널리티는 릴레이션에서 전체 투플의 개수를 의미한다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도메인(domain)은 하나의 속성이 가질 수 있는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값의 집합입니다.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속성의 개수는 '차수(degree)'라고 합니다.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나이 속성의 도메인: 0~150 사이의 정수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등급 속성의 도메인: {gold, silver, bronze, vip}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데이터 모델 관련 용어 중 행은 (Ⓐ), 열은 (Ⓑ),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그리고 (Ⓒ)는 릴레이션이라 부른다." 에서 Ⓐ, Ⓑ, Ⓒ는?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Ⓑ-테이블, Ⓒ-속성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Ⓐ-테이블, Ⓑ-속성, Ⓒ-투플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Ⓑ-속성, Ⓒ-테이블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Ⓐ-속성, Ⓑ-투플, Ⓒ-테이블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데이터 모델 관련 용어 중 행은 (Ⓐ), 열은 (Ⓑ),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Ⓑ-테이블, Ⓒ-속성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Ⓐ-테이블, Ⓑ-속성, Ⓒ-투플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Ⓑ-속성, Ⓒ-테이블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Ⓐ-속성, Ⓑ-투플, Ⓒ-테이블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모델의 용어 대응: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행(row) = 투플(tuple) = 레코드(record)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열(column) = 속성(attribute) = 필드(field)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테이블(table) = 릴레이션(relation)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릴레이션을 구성하는 모든 속성의 개수를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릴레이션을 구성하는 모든 속성의 개수를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차수(degree)는 릴레이션의 속성(열) 수를 의미합니다.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차수는 정적인 특성을 가집니다. (잘 변하지 않음)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카디널리티(cardinality)는 투플(행)의 수이며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동적인 특성을 가집니다.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속성에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행에 해당한다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릴레이션의 모든 속성은 서로 다른 이름으로 구별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파일 관점에서 데이터 필드(field)에 해당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릴레이션을 구성하는 모든 속성의 개수를 차수라고 한다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속성에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행에 해당한다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릴레이션의 모든 속성은 서로 다른 이름으로 구별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파일 관점에서 데이터 필드(field)에 해당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릴레이션을 구성하는 모든 속성의 개수를 차수라고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속성(attribute)은 릴레이션에서 열(column)에 해당합니다.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행(row)에 해당하는 것은 투플(tuple)입니다.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②③④는 모두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릴레이션에 존재하는 모든 투플의 개수를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릴레이션에 존재하는 모든 투플의 개수를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카디널리티(cardinality)는 릴레이션의 투플(행) 수입니다.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동적인 특성 — 투플의 삽입/삭제에 따라 수시로 변합니다.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차수(degree)는 속성(열) 수이며 정적인 특성.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8">
    <p:bg>
      <p:bgPr shadeToTitle="0"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199" y="777240"/>
            <a:ext cx="5837663" cy="1371600"/>
          </a:xfrm>
          <a:prstGeom prst="rect">
            <a:avLst/>
          </a:prstGeom>
          <a:noFill/>
          <a:ln/>
        </p:spPr>
        <p:txBody>
          <a:bodyPr wrap="square" anchor="t"/>
          <a:lstStyle/>
          <a:p>
            <a:pPr marL="0" lvl="0" indent="0">
              <a:lnSpc>
                <a:spcPct val="130000"/>
              </a:lnSpc>
              <a:buNone/>
              <a:defRPr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관계 데이터 모델로 표현된 다음 데이터에 대한 설명으로 옳은 것은?</a:t>
            </a:r>
            <a:endParaRPr lang="en-US" sz="1400"/>
          </a:p>
        </p:txBody>
      </p:sp>
      <p:pic>
        <p:nvPicPr>
          <p:cNvPr id="8" name="Image 0" descr="/home/claude/ch5imgs/fig5_1_customer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351792" y="1098070"/>
            <a:ext cx="3790485" cy="18272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9923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306324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306324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①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960120" y="299923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3개, 속성 3개, 투플 5개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57200" y="350215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56616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56616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②</a:t>
            </a:r>
            <a:endParaRPr lang="en-US" sz="1100"/>
          </a:p>
        </p:txBody>
      </p:sp>
      <p:sp>
        <p:nvSpPr>
          <p:cNvPr id="16" name="Text 13"/>
          <p:cNvSpPr/>
          <p:nvPr/>
        </p:nvSpPr>
        <p:spPr>
          <a:xfrm>
            <a:off x="960120" y="350215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3개, 속성 5개, 투플 3개</a:t>
            </a:r>
            <a:endParaRPr lang="en-US" sz="1300"/>
          </a:p>
        </p:txBody>
      </p:sp>
      <p:sp>
        <p:nvSpPr>
          <p:cNvPr id="17" name="Shape 14"/>
          <p:cNvSpPr/>
          <p:nvPr/>
        </p:nvSpPr>
        <p:spPr>
          <a:xfrm>
            <a:off x="457200" y="400507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406908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406908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③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960120" y="400507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1개, 속성 5개, 투플 3개</a:t>
            </a:r>
            <a:endParaRPr lang="en-US" sz="1300"/>
          </a:p>
        </p:txBody>
      </p:sp>
      <p:sp>
        <p:nvSpPr>
          <p:cNvPr id="21" name="Shape 18"/>
          <p:cNvSpPr/>
          <p:nvPr/>
        </p:nvSpPr>
        <p:spPr>
          <a:xfrm>
            <a:off x="457200" y="450799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57200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57200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④</a:t>
            </a:r>
            <a:endParaRPr lang="en-US" sz="1100"/>
          </a:p>
        </p:txBody>
      </p:sp>
      <p:sp>
        <p:nvSpPr>
          <p:cNvPr id="24" name="Text 21"/>
          <p:cNvSpPr/>
          <p:nvPr/>
        </p:nvSpPr>
        <p:spPr>
          <a:xfrm>
            <a:off x="960120" y="450799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1개, 속성 3개, 투플 5개</a:t>
            </a:r>
            <a:endParaRPr lang="en-US" sz="13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모델로 표현된 다음 데이터에 대한 설명으로 옳은 것은?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3개, 속성 3개, 투플 5개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3개, 속성 5개, 투플 3개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1개, 속성 5개, 투플 3개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1개, 속성 3개, 투플 5개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테이블 = 릴레이션 1개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열(고객ID, 고객이름, 나이) 3개 = 속성 3개 (차수=3)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 5개 = 투플 5개 (카디널리티=5)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릴레이션의 스키마가 속성 5개, 후보키 3개를 가지고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스키마에 대응하는 릴레이션 인스턴스가 10개의 투플을 갖는다면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릴레이션의 카디널리티는?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릴레이션의 스키마가 속성 5개, 후보키 3개를 가지고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10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 = 릴레이션에 존재하는 전체 투플의 개수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속성의 개수(5개) → 차수(degree)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후보키의 개수(3개) → 카디널리티와 무관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투플의 개수(10개) → 카디널리티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카디널리티는 10입니다.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널(NULL) 값에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모르는 값이다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적합한 값이 없다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 0이나 공백 문자와 같은 의미로 해석해야 한다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기본키로 선택된 속성은 널 값을 가질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널(NULL) 값에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모르는 값이다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적합한 값이 없다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 0이나 공백 문자와 같은 의미로 해석해야 한다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기본키로 선택된 속성은 널 값을 가질 수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NULL은 숫자 0이나 공백 문자('')와 완전히 다른 개념입니다.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= '값을 아직 모르거나 해당되는 값이 없음'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'0이라는 구체적인 값이 있음'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'' = '빈 문자열이라는 구체적인 값이 있음'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①②④는 모두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4">
    <p:bg>
      <p:bgPr shadeToTitle="0"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 내 속성 또는 속성들의 집합으로 구성되고,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투플에 대해 유일성은 만족시키지만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최소성은 만족시키지 못하는 키는?</a:t>
            </a:r>
            <a:endParaRPr lang="en-US" sz="1400" dirty="0"/>
          </a:p>
        </p:txBody>
      </p:sp>
      <p:pic>
        <p:nvPicPr>
          <p:cNvPr id="8" name="Image 0" descr="/home/claude/ch5imgs/fig5_8_key_relation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202043" y="841247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260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29900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29900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29260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4290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4930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4930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34290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9319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39959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3995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39319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443484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49884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4988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443484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대체키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 내 속성 또는 속성들의 집합으로 구성되고,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대체키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슈퍼키(Super Key): 유일성만 만족 (최소성 불요)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후보키(Candidate Key): 유일성 + 최소성 모두 만족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유일성 O, 최소성 X → 슈퍼키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"투플을 유일하게 구별하며 검색·정렬에 주로 사용하는 키는 (Ⓐ)이고,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릴레이션들 사이의 관계를 표현하는 키는 (Ⓑ)이다." Ⓐ, Ⓑ는?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Ⓑ-외래키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Ⓑ-외래키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Ⓑ-슈퍼키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Ⓑ-슈퍼키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"투플을 유일하게 구별하며 검색·정렬에 주로 사용하는 키는 (Ⓐ)이고,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Ⓑ-외래키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Ⓑ-외래키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Ⓑ-슈퍼키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Ⓑ-슈퍼키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기본키(Primary Key)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후보키 중 대표로 선택, 투플을 유일하게 구별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검색·정렬에 주로 사용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외래키(Foreign Key)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다른 릴레이션의 기본키를 참조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릴레이션 간의 관계를 표현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 참조 무결성 표현에 사용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최소성을 모두 만족해야 한다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릴레이션은 반드시 하나 이상의 후보키를 갖는다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투플을 유일하게 구별해주는 속성 또는 속성들의 집합이다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 참조 무결성 표현에 사용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최소성을 모두 만족해야 한다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릴레이션은 반드시 하나 이상의 후보키를 갖는다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투플을 유일하게 구별해주는 속성 또는 속성들의 집합이다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무결성을 표현하는 것은 '외래키(Foreign Key)'입니다.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릴레이션 내부에서 투플을 식별하는 역할.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②③④는 모두 후보키에 대한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제약조건에 대한 설명으로 적합한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내 투플들이 각 속성의 도메인 값만 가져야 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참조할 수 없는 외래키 값을 가질 수 없다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값은 참조되는 릴레이션의 기본키 값과 동일해야 한다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기본키를 구성하는 모든 속성은 널 값을 가질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1">
    <p:bg>
      <p:bgPr shadeToTitle="0"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제약조건에 대한 설명으로 적합한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내 투플들이 각 속성의 도메인 값만 가져야 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참조할 수 없는 외래키 값을 가질 수 없다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값은 참조되는 릴레이션의 기본키 값과 동일해야 한다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50292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기본키를 구성하는 모든 속성은 널 값을 가질 수 없다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5029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50292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 (Entity Integrity Constraint):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기본키를 구성하는 모든 속성은 NULL 값을 가질 수 없다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①은 도메인 무결성 제약조건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②③은 참조 무결성 제약조건에 해당합니다.</a:t>
            </a:r>
            <a:endParaRPr lang="en-US" sz="1100" dirty="0"/>
          </a:p>
        </p:txBody>
      </p:sp>
      <p:pic>
        <p:nvPicPr>
          <p:cNvPr id="29" name="Image 0" descr="/home/claude/ch5imgs/fig5_14_entity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2135830"/>
            <a:ext cx="3200400" cy="158049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외래키와 관련이 있는 무결성 제약조건은?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3">
    <p:bg>
      <p:bgPr shadeToTitle="0"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외래키와 관련이 있는 무결성 제약조건은?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50292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5029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50292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(Referential Integrity Constraint):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외래키가 참조할 수 없는(존재하지 않는) 값을 가질 수 없다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외래키 값은 참조되는 릴레이션의 기본키에 존재 or NULL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제약조건은 기본키와 관련됩니다.</a:t>
            </a:r>
            <a:endParaRPr lang="en-US" sz="1100" dirty="0"/>
          </a:p>
        </p:txBody>
      </p:sp>
      <p:pic>
        <p:nvPicPr>
          <p:cNvPr id="29" name="Image 0" descr="/home/claude/ch5imgs/fig5_15_ref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731598"/>
            <a:ext cx="3200400" cy="238896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A의 기본키 속성 값을 변경하려면 이를 참조하는 릴레이션 B의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속성 값도 변경해야 하는데, 이와 관련 있는 무결성 제약조건은?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A의 기본키 속성 값을 변경하려면 이를 참조하는 릴레이션 B의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제약조건은 외래키가 참조하는 기본키 값이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변경·삭제될 때 참조 관계의 일관성을 유지하도록 보장.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값이 바뀌면 이를 참조하는 외래키도 함께 처리해야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무결성이 유지됩니다. (연쇄 수정/삭제 또는 거부)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하나의 속성이 가질 수 있는 모든 값들의 집합을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하나의 속성이 가질 수 있는 모든 값들의 집합을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도메인(Domain)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속성이 가질 수 있는 모든 값의 집합으로,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값의 적합성을 판단하는 기준이 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'나이' 속성의 도메인: 0~150 사이의 정수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'등급' 속성의 도메인: {gold, silver, bronze, vip}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'고객아이디' 속성의 도메인: CHAR(20)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8">
    <p:bg>
      <p:bgPr shadeToTitle="0"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각 문장을 읽고 맞으면 O, 틀리면 X를 표시하시오.</a:t>
            </a:r>
            <a:endParaRPr lang="en-US" sz="1400" dirty="0"/>
          </a:p>
        </p:txBody>
      </p:sp>
      <p:pic>
        <p:nvPicPr>
          <p:cNvPr id="8" name="Image 0" descr="/home/claude/ch5imgs/fig5_8_key_relation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645919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50876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슈퍼키는 후보키이기도 하다.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3911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039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기본키는 후보키이기도 하다.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569464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2569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기본키로 외래키를 사용할 수 있다.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99816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0998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외래키는 널 값이 허용되지 않는다.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630168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외래키의 속성 개수와 참조 기본키의 속성 개수는 같아야 한다.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각 문장을 읽고 맞으면 O, 틀리면 X를 표시하시오.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슈퍼키는 후보키이기도 하다.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 ⊃ 후보키 (역은 성립 안 함)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기본키는 후보키이기도 하다.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기본키는 후보키 중에서 선택한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기본키로 외래키를 사용할 수 있다.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외래키가 기본키를 겸할 수 있음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외래키는 널 값이 허용되지 않는다.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외래키는 NULL 가능 (기본키만 NULL 불가)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외래키의 속성 개수와 참조 기본키의 속성 개수는 같아야 한다.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도메인도 같아야 함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특성으로 적합한 것을 모두 고르시오.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08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하나의 릴레이션에 있는 모든 투플은 서로 다른 값을 가진다.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3911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하나의 릴레이션에서 투플 사이의 순서는 없다.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552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56946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694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모든 속성은 서로 다른 이름으로 구별된다.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552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099816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09981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하나의 릴레이션에서 속성의 순서는 중요한 의미를 지닌다.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30168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63016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모든 속성의 값은 더는 분해할 수 없는 원자 값만 허용.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특성으로 적합한 것을 모두 고르시오.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하나의 릴레이션에 있는 모든 투플은 서로 다른 값을 가진다.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투플의 유일성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하나의 릴레이션에서 투플 사이의 순서는 없다.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투플의 무순서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모든 속성은 서로 다른 이름으로 구별된다.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이름의 유일성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하나의 릴레이션에서 속성의 순서는 중요한 의미를 지닌다.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속성의 무순서 (순서 무의미)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모든 속성의 값은 더는 분해할 수 없는 원자 값만 허용.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속성의 원자성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2">
    <p:bg>
      <p:bgPr shadeToTitle="0"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대한 설명으로 적합한 것을 모두 고르시오.</a:t>
            </a:r>
            <a:endParaRPr lang="en-US" sz="1400" dirty="0"/>
          </a:p>
        </p:txBody>
      </p:sp>
      <p:pic>
        <p:nvPicPr>
          <p:cNvPr id="8" name="Image 0" descr="/home/claude/ch5imgs/fig5_12_selfref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508760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50876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기본키로 선택되지 못한 후보키들이다.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3911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039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외래키를 가진 릴레이션을 참조하는 릴레이션이라 한다.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569464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2569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릴레이션 R1의 속성이 다른 릴레이션 R2의 기본키이다.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99816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0998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외래키 릴레이션과 기본키 릴레이션은 반드시 달라야 한다.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630168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외래키와 대응 기본키는 도메인이 같아야 한다.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대한 설명으로 적합한 것을 모두 고르시오.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기본키로 선택되지 못한 후보키들이다.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대체키의 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외래키를 가진 릴레이션을 참조하는 릴레이션이라 한다.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'참조되는'이 아니라 '참조하는' 릴레이션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릴레이션 R1의 속성이 다른 릴레이션 R2의 기본키이다.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외래키의 정의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외래키 릴레이션과 기본키 릴레이션은 반드시 달라야 한다.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자기 참조 가능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외래키와 대응 기본키는 도메인이 같아야 한다.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일치 필수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모델의 무결성 제약조건에 대한 설명을 읽고 Ⓐ, Ⓑ를 채우시오.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"기본키를 구성하는 모든 속성은 널 값을 가질 수 없다 → (Ⓐ)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외래키는 참조할 수 없는 값을 가질 수 없다 → (Ⓑ)"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5">
    <p:bg>
      <p:bgPr shadeToTitle="0"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관계 데이터 모델의 무결성 제약조건에 대한 설명을 읽고 Ⓐ, Ⓑ를 채우시오.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Ⓐ: 개체 무결성 제약조건 (Entity Integrity Constraint)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Ⓑ: 참조 무결성 제약조건 (Referential Integrity Constraint)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개체 무결성: 기본키를 구성하는 모든 속성 → NULL 불가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(기본키가 NULL이면 투플을 식별할 수 없으므로)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참조 무결성: 외래키 값 → 참조되는 기본키에 존재하거나 NULL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(존재하지 않는 값을 참조하면 데이터 모순 발생)</a:t>
            </a:r>
            <a:endParaRPr lang="en-US" sz="1150" dirty="0"/>
          </a:p>
        </p:txBody>
      </p:sp>
      <p:pic>
        <p:nvPicPr>
          <p:cNvPr id="12" name="Image 0" descr="/home/claude/ch5imgs/fig5_14_entity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917452"/>
            <a:ext cx="3200400" cy="201725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키에 대한 설명을 읽고 Ⓐ, Ⓑ, Ⓒ를 채우시오.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"(Ⓐ)는 유일성을 만족하는 속성 또는 속성들의 집합이다.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(Ⓑ)를 모두 만족하는 키이다.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 중 기본키로 선택되지 못한 키를 (Ⓒ)라 한다."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키에 대한 설명을 읽고 Ⓐ, Ⓑ, Ⓒ를 채우시오.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Ⓐ: 슈퍼키 (Super Key)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유일성만 만족하면 되는 가장 넓은 범위의 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Ⓑ: 최소성 (Minimality)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불필요한 속성 없이 꼭 필요한 최소한의 속성만으로 구성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Ⓒ: 대체키 (Alternate Key)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후보키 중 기본키로 선택되지 못한 나머지 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 관계: 슈퍼키 ⊃ 후보키 ⊃ 기본키 | 대체키</a:t>
            </a:r>
            <a:endParaRPr lang="en-US" sz="1150" dirty="0"/>
          </a:p>
        </p:txBody>
      </p:sp>
      <p:pic>
        <p:nvPicPr>
          <p:cNvPr id="12" name="Image 0" descr="/home/claude/ch5imgs/fig5_8_key_relation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234440"/>
            <a:ext cx="32004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사원 릴레이션에 대해 물음에 답하시오.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사원(사원번호, 사원이름, 나이, 주소, 직급)에 3개 투플이 있을 때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차수는?  (2) 카디널리티는?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사원이름이 기본키로 부적합한 이유는?  (4) 기본키로 적합한 속성은?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사원 릴레이션에 대해 물음에 답하시오.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차수(degree): 5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속성이 5개 (사원번호, 사원이름, 나이, 주소, 직급)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카디널리티(cardinality): 3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투플이 3개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사원이름이 기본키로 부적합한 이유: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동명이인이 존재할 수 있어 유일성을 보장하지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기본키로 적합한 속성: 사원번호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각 사원마다 고유하게 부여되어 유일성과 최소성을 모두 만족.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환자(환자번호, 환자이름, 나이, 담당의사)와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의사(의사번호, 의사이름, 소속) 릴레이션이 있을 때: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외래키를 포함한 릴레이션과 외래키는?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참조 무결성 제약조건의 영향을 받는 연산을 모두 고르시오.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환자(환자번호, 환자이름, 나이, 담당의사)와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외래키를 포함한 릴레이션: 환자 릴레이션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외래키: 담당의사 (의사 릴레이션의 기본키 '의사번호'를 참조)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참조 무결성 영향 연산: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환자 릴레이션에 새로운 투플 삽입 → 외래키 값 검증 필요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환자 릴레이션에서 담당의사 값 변경 → 외래키 값 검증 필요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의사 릴레이션에서 의사번호 값 변경 → 참조 중인 값 변경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의사 릴레이션에서 기존 투플 삭제 → 참조 중인 투플 삭제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만족 여부를 검사할 필요가 있는 항목에 ○표를 하시오.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(외래키에 의해 참조되는 기본키 / 외래키 각각에 대해 Insert, Delete, Update)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만족 여부를 검사할 필요가 있는 항목에 ○표를 하시오.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  Insert     Delete     Update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의해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참조되는 기본키                       ○             ○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                ○                              ○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기본키의 Delete/Update: 참조 관계가 깨질 수 있어 검사 필요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외래키의 Insert/Update: 존재하지 않는 값을 참조할 수 있어 검사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외래키의 Delete: 참조를 제거하는 것 → 검사 불필요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기본키의 Insert: 참조 대상이 추가됨 → 검사 불필요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B, C 속성으로 구성된 릴레이션에서 A 속성의 도메인은 2개 값,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속성의 도메인은 3개 값, C 속성의 도메인은 4개 값을 갖는다면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릴레이션에 삽입될 수 있는 투플의 최대 개수는?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B, C 속성으로 구성된 릴레이션에서 A 속성의 도메인은 2개 값,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24개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계산: 2 × 3 × 4 = 24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릴레이션에는 동일한 투플이 존재할 수 없으므로(투플의 유일성),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가능한 투플의 최대 개수는 각 속성의 도메인 크기를 모두 곱한 값.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A가 취할 수 있는 값 2개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B가 취할 수 있는 값 3개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C가 취할 수 있는 값 4개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총 24가지 서로 다른 조합이 가능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학생(학번, 이름, 학과), 교수(교수ID, 이름, 학과),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지도(지도교수ID, 참여학생, 내용), 멘토링(멘토, 멘티, 내용)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외래키로 선언할 수 있는 속성을 모두 나열하시오.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학생(학번, 이름, 학과), 교수(교수ID, 이름, 학과),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외래키로 선언할 수 있는 속성 (총 4개):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지도.지도교수ID → 교수 릴레이션의 교수ID를 참조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지도.참여학생 → 학생 릴레이션의 학번을 참조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멘토링.멘토 → 학생 릴레이션의 학번을 참조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멘토링.멘티 → 학생 릴레이션의 학번을 참조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지도교수ID와 참여학생은 각각 교수, 학생 릴레이션을 참조하며,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멘토와 멘티는 모두 학생 릴레이션의 학번을 참조합니다.</a:t>
            </a:r>
            <a:endParaRPr lang="en-US" sz="1150" dirty="0"/>
          </a:p>
        </p:txBody>
      </p:sp>
      <p:pic>
        <p:nvPicPr>
          <p:cNvPr id="12" name="Image 0" descr="/home/claude/ch5imgs/fig5_9_schema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234440"/>
            <a:ext cx="32004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645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965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수고하셨습니다!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관계 데이터 모델 — 연습문제 해답 (전 28문제)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·  박상돈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0</ep:Words>
  <ep:PresentationFormat>On-screen Show (16:9)</ep:PresentationFormat>
  <ep:Paragraphs>0</ep:Paragraphs>
  <ep:Slides>58</ep:Slides>
  <ep:Notes>58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ep:HeadingPairs>
  <ep:TitlesOfParts>
    <vt:vector size="59" baseType="lpstr">
      <vt:lpstr>Office Theme</vt:lpstr>
      <vt:lpstr>Slide 56</vt:lpstr>
      <vt:lpstr>Slide 57</vt:lpstr>
      <vt:lpstr>Slide 58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2026-03-29T11:53:06.000</dcterms:created>
  <dc:creator>박상돈</dc:creator>
  <cp:lastModifiedBy>Sayberry</cp:lastModifiedBy>
  <dcterms:modified xsi:type="dcterms:W3CDTF">2026-03-29T13:21:41.659</dcterms:modified>
  <cp:revision>9</cp:revision>
  <dc:subject>PptxGenJS Presentation</dc:subject>
  <dc:title>5장 관계 데이터 모델 — 연습문제 해답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