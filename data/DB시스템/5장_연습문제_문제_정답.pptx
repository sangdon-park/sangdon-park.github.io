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017" autoAdjust="0"/>
  </p:normalViewPr>
  <p:slideViewPr>
    <p:cSldViewPr snapToGrid="0" snapToObjects="1">
      <p:cViewPr varScale="1">
        <p:scale>
          <a:sx n="184" d="100"/>
          <a:sy n="184" d="100"/>
        </p:scale>
        <p:origin x="1134" y="16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9144000" cy="20345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관계 데이터 모델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연습문제 해답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Model — Exercises &amp; Solutions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대전대학교 컴퓨터공학과  |  박상돈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28문제  ·  객관식 + 서술형 + OX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중 개체에 관한 데이터를 릴레이션이라 불리는 테이블 형태로 저장하고,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릴레이션들 사이의 관계는 기본키와 이를 참조하는 외래키로 표현하는 논리적 데이터 모델은?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 데이터 모델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데이터 모델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데이터 모델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객체지향 데이터 모델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중 개체에 관한 데이터를 릴레이션이라 불리는 테이블 형태로 저장하고, 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893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89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 데이터 모델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465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데이터 모델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3704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3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데이터 모델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21488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09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0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객체지향 데이터 모델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데이터 모델은 데이터를 2차원 테이블(릴레이션) 형태로 저장하고,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기본키와 외래키를 이용하여 릴레이션 간의 관계를 표현하는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논리적 데이터 모델입니다.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 모델은 트리 구조, 네트워크 모델은 그래프 구조,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객체지향 모델은 객체와 상속을 이용합니다.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릴레이션에 대한 설명으로 옳지 않은 것은?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릴레이션은 릴레이션 스키마와 릴레이션 인스턴스로 구성된다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스키마는 릴레이션의 논리적 구조이다 (= 릴레이션 내포)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인스턴스는 투플들의 집합이다 (= 릴레이션 외연)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스키마는 동적이고, 릴레이션 인스턴스는 정적인 특징을 가진다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릴레이션에 대한 설명으로 옳지 않은 것은?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893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89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릴레이션은 릴레이션 스키마와 릴레이션 인스턴스로 구성된다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465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스키마는 릴레이션의 논리적 구조이다 (= 릴레이션 내포)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37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3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인스턴스는 투플들의 집합이다 (= 릴레이션 외연)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660904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660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스키마는 동적이고, 릴레이션 인스턴스는 정적인 특징을 가진다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0" y="26060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스키마는 정적(구조는 잘 안 바뀜)이고,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인스턴스는 동적(투플이 수시로 변함)입니다.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보기 ④는 이 관계를 반대로 서술한 틀린 설명입니다.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릴레이션에 대한 설명 중 옳지 않은 것은?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릴레이션에는 동일한 투플이 존재할 수 없다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릴레이션에서 투플 사이의 순서는 무의미하다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릴레이션에서 속성 사이의 순서는 무의미하다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속성 값은 논리적으로 분해 가능한 복합값이어야 한다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릴레이션에 대한 설명 중 옳지 않은 것은?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893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89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릴레이션에는 동일한 투플이 존재할 수 없다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465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릴레이션에서 투플 사이의 순서는 무의미하다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37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3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릴레이션에서 속성 사이의 순서는 무의미하다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660904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660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속성 값은 논리적으로 분해 가능한 복합값이어야 한다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0" y="26060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릴레이션의 속성 값은 원자 값(atomic value)이어야 합니다.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즉, 더 이상 분해할 수 없는 하나의 값이어야 하며,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복합값(다중 값)이면 안 됩니다. → 속성의 원자성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①투플의 유일성 ②투플의 무순서 ③속성의 무순서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관련 용어에 대한 설명으로 옳지 않은 것은?</a:t>
            </a:r>
            <a:endParaRPr lang="en-US" sz="1400" dirty="0"/>
          </a:p>
        </p:txBody>
      </p:sp>
      <p:pic>
        <p:nvPicPr>
          <p:cNvPr id="8" name="Image 0" descr="/home/claude/ch5imgs/fig5_1_customer.jpeg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055963" y="731520"/>
            <a:ext cx="3813717" cy="2011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29260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0352" y="29900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1" name="Text 8"/>
          <p:cNvSpPr/>
          <p:nvPr/>
        </p:nvSpPr>
        <p:spPr>
          <a:xfrm>
            <a:off x="530352" y="29900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0120" y="292608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속성은 릴레이션에서 열을 의미한다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4290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0352" y="34930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530352" y="349300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0120" y="342900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투플은 릴레이션에서 행을 의미한다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9319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" y="39959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530352" y="39959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60120" y="393192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도메인은 릴레이션에서 전체 속성의 개수를 의미한다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443484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0352" y="449884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0"/>
          <p:cNvSpPr/>
          <p:nvPr/>
        </p:nvSpPr>
        <p:spPr>
          <a:xfrm>
            <a:off x="530352" y="449884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60120" y="443484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카디널리티는 릴레이션에서 전체 투플의 개수를 의미한다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관련 용어에 대한 설명으로 옳지 않은 것은?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893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89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속성은 릴레이션에서 열을 의미한다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465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투플은 릴레이션에서 행을 의미한다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3704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3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도메인은 릴레이션에서 전체 속성의 개수를 의미한다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21488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09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0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카디널리티는 릴레이션에서 전체 투플의 개수를 의미한다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도메인(domain)은 하나의 속성이 가질 수 있는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값의 집합입니다.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속성의 개수는 '차수(degree)'라고 합니다.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나이 속성의 도메인: 0~150 사이의 정수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등급 속성의 도메인: {gold, silver, bronze, vip}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"관계 데이터 모델 관련 용어 중 행은 (Ⓐ), 열은 (Ⓑ),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그리고 (Ⓒ)는 릴레이션이라 부른다." 에서 Ⓐ, Ⓑ, Ⓒ는?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Ⓐ-투플, Ⓑ-테이블, Ⓒ-속성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Ⓐ-테이블, Ⓑ-속성, Ⓒ-투플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Ⓐ-투플, Ⓑ-속성, Ⓒ-테이블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Ⓐ-속성, Ⓑ-투플, Ⓒ-테이블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"관계 데이터 모델 관련 용어 중 행은 (Ⓐ), 열은 (Ⓑ), 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893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89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Ⓐ-투플, Ⓑ-테이블, Ⓒ-속성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465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Ⓐ-테이블, Ⓑ-속성, Ⓒ-투플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3704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3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Ⓐ-투플, Ⓑ-속성, Ⓒ-테이블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21488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09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0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Ⓐ-속성, Ⓑ-투플, Ⓒ-테이블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데이터 모델의 용어 대응: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행(row) = 투플(tuple) = 레코드(record)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열(column) = 속성(attribute) = 필드(field)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테이블(table) = 릴레이션(relation)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데이터 모델에서 릴레이션을 구성하는 모든 속성의 개수를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무엇이라 하는가?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도메인(domain)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인스턴스(instance)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차수(degree)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카디널리티(cardinality)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데이터 모델에서 릴레이션을 구성하는 모든 속성의 개수를 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893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89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도메인(domain)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465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인스턴스(instance)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3704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3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차수(degree)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21488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09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0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카디널리티(cardinality)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차수(degree)는 릴레이션의 속성(열) 수를 의미합니다.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차수는 정적인 특성을 가집니다. (잘 변하지 않음)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카디널리티(cardinality)는 투플(행)의 수이며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동적인 특성을 가집니다.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릴레이션에서 속성에 대한 설명으로 옳지 않은 것은?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릴레이션에서 행에 해당한다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릴레이션의 모든 속성은 서로 다른 이름으로 구별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속성은 파일 관점에서 데이터 필드(field)에 해당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릴레이션을 구성하는 모든 속성의 개수를 차수라고 한다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릴레이션에서 속성에 대한 설명으로 옳지 않은 것은?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89304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89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릴레이션에서 행에 해당한다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12344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7465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릴레이션의 모든 속성은 서로 다른 이름으로 구별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2037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203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속성은 파일 관점에서 데이터 필드(field)에 해당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09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0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릴레이션을 구성하는 모든 속성의 개수를 차수라고 한다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속성(attribute)은 릴레이션에서 열(column)에 해당합니다.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행(row)에 해당하는 것은 투플(tuple)입니다.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②③④는 모두 올바른 설명입니다.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데이터 모델에서 릴레이션에 존재하는 모든 투플의 개수를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무엇이라 하는가?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도메인(domain)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인스턴스(instance)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차수(degree)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카디널리티(cardinality)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데이터 모델에서 릴레이션에 존재하는 모든 투플의 개수를 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893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89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도메인(domain)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465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인스턴스(instance)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37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3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차수(degree)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660904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660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카디널리티(cardinality)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0" y="26060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카디널리티(cardinality)는 릴레이션의 투플(행) 수입니다.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동적인 특성 — 투플의 삽입/삭제에 따라 수시로 변합니다.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차수(degree)는 속성(열) 수이며 정적인 특성.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199" y="777240"/>
            <a:ext cx="5837663" cy="1371600"/>
          </a:xfrm>
          <a:prstGeom prst="rect">
            <a:avLst/>
          </a:prstGeom>
          <a:noFill/>
          <a:ln/>
        </p:spPr>
        <p:txBody>
          <a:bodyPr wrap="square" anchor="t"/>
          <a:lstStyle/>
          <a:p>
            <a:pPr marL="0" lvl="0" indent="0">
              <a:lnSpc>
                <a:spcPct val="130000"/>
              </a:lnSpc>
              <a:buNone/>
              <a:defRPr/>
            </a:pPr>
            <a:r>
              <a:rPr lang="en-US"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관계 데이터 모델로 표현된 다음 데이터에 대한 설명으로 옳은 것은?</a:t>
            </a:r>
            <a:endParaRPr lang="en-US" sz="1400"/>
          </a:p>
        </p:txBody>
      </p:sp>
      <p:sp>
        <p:nvSpPr>
          <p:cNvPr id="9" name="Shape 6"/>
          <p:cNvSpPr/>
          <p:nvPr/>
        </p:nvSpPr>
        <p:spPr>
          <a:xfrm>
            <a:off x="457200" y="2999232"/>
            <a:ext cx="7811429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0352" y="3063240"/>
            <a:ext cx="286419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1" name="Text 8"/>
          <p:cNvSpPr/>
          <p:nvPr/>
        </p:nvSpPr>
        <p:spPr>
          <a:xfrm>
            <a:off x="530352" y="3063240"/>
            <a:ext cx="286419" cy="30175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①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960120" y="2999232"/>
            <a:ext cx="7203874" cy="42976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릴레이션 3개, 속성 3개, 투플 5개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457200" y="3502152"/>
            <a:ext cx="7811429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0352" y="3566160"/>
            <a:ext cx="286419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530352" y="3566160"/>
            <a:ext cx="286419" cy="30175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②</a:t>
            </a:r>
            <a:endParaRPr lang="en-US" sz="1100"/>
          </a:p>
        </p:txBody>
      </p:sp>
      <p:sp>
        <p:nvSpPr>
          <p:cNvPr id="16" name="Text 13"/>
          <p:cNvSpPr/>
          <p:nvPr/>
        </p:nvSpPr>
        <p:spPr>
          <a:xfrm>
            <a:off x="960120" y="3502152"/>
            <a:ext cx="7203874" cy="42976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릴레이션 3개, 속성 5개, 투플 3개</a:t>
            </a:r>
            <a:endParaRPr lang="en-US" sz="1300"/>
          </a:p>
        </p:txBody>
      </p:sp>
      <p:sp>
        <p:nvSpPr>
          <p:cNvPr id="17" name="Shape 14"/>
          <p:cNvSpPr/>
          <p:nvPr/>
        </p:nvSpPr>
        <p:spPr>
          <a:xfrm>
            <a:off x="457200" y="4005072"/>
            <a:ext cx="7811429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" y="4069080"/>
            <a:ext cx="286419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530352" y="4069080"/>
            <a:ext cx="286419" cy="30175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③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960120" y="4005072"/>
            <a:ext cx="7203874" cy="42976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릴레이션 1개, 속성 5개, 투플 3개</a:t>
            </a:r>
            <a:endParaRPr lang="en-US" sz="1300"/>
          </a:p>
        </p:txBody>
      </p:sp>
      <p:sp>
        <p:nvSpPr>
          <p:cNvPr id="21" name="Shape 18"/>
          <p:cNvSpPr/>
          <p:nvPr/>
        </p:nvSpPr>
        <p:spPr>
          <a:xfrm>
            <a:off x="457200" y="4507992"/>
            <a:ext cx="7811429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0352" y="4572000"/>
            <a:ext cx="286419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0"/>
          <p:cNvSpPr/>
          <p:nvPr/>
        </p:nvSpPr>
        <p:spPr>
          <a:xfrm>
            <a:off x="530352" y="4572000"/>
            <a:ext cx="286419" cy="30175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④</a:t>
            </a:r>
            <a:endParaRPr lang="en-US" sz="1100"/>
          </a:p>
        </p:txBody>
      </p:sp>
      <p:sp>
        <p:nvSpPr>
          <p:cNvPr id="24" name="Text 21"/>
          <p:cNvSpPr/>
          <p:nvPr/>
        </p:nvSpPr>
        <p:spPr>
          <a:xfrm>
            <a:off x="960120" y="4507992"/>
            <a:ext cx="7203874" cy="42976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릴레이션 1개, 속성 3개, 투플 5개</a:t>
            </a:r>
            <a:endParaRPr lang="en-US" sz="130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141A9EA-AB0E-B659-3DBC-BE4B33C6D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569" y="1117522"/>
            <a:ext cx="3448317" cy="18085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데이터 모델로 표현된 다음 데이터에 대한 설명으로 옳은 것은? 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318135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893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89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3개, 속성 3개, 투플 5개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3318135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465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3개, 속성 5개, 투플 3개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3318135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37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3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1개, 속성 5개, 투플 3개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3318135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660904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660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1개, 속성 3개, 투플 5개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8135" y="26060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테이블 = 릴레이션 1개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열(고객ID, 고객이름, 나이) 3개 = 속성 3개 (차수=3)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5개 = 투플 5개 (카디널리티=5)</a:t>
            </a:r>
            <a:endParaRPr lang="en-US" sz="11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9D1C855B-9C3F-C426-0492-3D56C6EEB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535" y="1243584"/>
            <a:ext cx="3345535" cy="175465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914400"/>
            <a:ext cx="347472" cy="347472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914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868680"/>
            <a:ext cx="7406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릴레이션의 스키마가 속성 5개, 후보키 3개를 가지고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스키마에 대응하는 릴레이션 인스턴스가 10개의 투플을 갖는다면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릴레이션의 카디널리티는?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릴레이션의 스키마가 속성 5개, 후보키 3개를 가지고 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527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73736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10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카디널리티(cardinality) = 릴레이션에 존재하는 전체 투플의 개수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속성의 개수(5개) → 차수(degree)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후보키의 개수(3개) → 카디널리티와 무관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투플의 개수(10개) → 카디널리티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카디널리티는 10입니다.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널(NULL) 값에 대한 설명으로 옳지 않은 것은?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모르는 값이다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적합한 값이 없다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0이나 공백 문자와 같은 의미로 해석해야 한다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기본키로 선택된 속성은 널 값을 가질 수 없다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널(NULL) 값에 대한 설명으로 옳지 않은 것은?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893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89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모르는 값이다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465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적합한 값이 없다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3704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3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0이나 공백 문자와 같은 의미로 해석해야 한다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21488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09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0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기본키로 선택된 속성은 널 값을 가질 수 없다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NULL은 숫자 0이나 공백 문자('')와 완전히 다른 개념입니다.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= '값을 아직 모르거나 해당되는 값이 없음'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'0이라는 구체적인 값이 있음'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'' = '빈 문자열이라는 구체적인 값이 있음'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①②④는 모두 올바른 설명입니다.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릴레이션 내 속성 또는 속성들의 집합으로 구성되고,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투플에 대해 유일성은 만족시키지만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최소성은 만족시키지 못하는 키는?</a:t>
            </a:r>
            <a:endParaRPr lang="en-US" sz="1400" dirty="0"/>
          </a:p>
        </p:txBody>
      </p:sp>
      <p:pic>
        <p:nvPicPr>
          <p:cNvPr id="8" name="Image 0" descr="/home/claude/ch5imgs/fig5_8_key_relation.jpeg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202043" y="841247"/>
            <a:ext cx="3200400" cy="2011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29260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0352" y="29900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1" name="Text 8"/>
          <p:cNvSpPr/>
          <p:nvPr/>
        </p:nvSpPr>
        <p:spPr>
          <a:xfrm>
            <a:off x="530352" y="29900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0120" y="292608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외래키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4290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0352" y="34930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530352" y="349300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0120" y="342900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슈퍼키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9319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" y="39959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530352" y="39959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60120" y="393192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후보키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443484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0352" y="449884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0"/>
          <p:cNvSpPr/>
          <p:nvPr/>
        </p:nvSpPr>
        <p:spPr>
          <a:xfrm>
            <a:off x="530352" y="449884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60120" y="443484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대체키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릴레이션 내 속성 또는 속성들의 집합으로 구성되고, 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893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89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외래키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46504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슈퍼키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16916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2037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203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09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0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슈퍼키(Super Key): 유일성만 만족 (최소성 불요)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후보키(Candidate Key): 유일성 + 최소성 모두 만족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유일성 O, 최소성 X → 슈퍼키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"투플을 유일하게 구별하며 검색·정렬에 주로 사용하는 키는 (Ⓐ)이고,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릴레이션들 사이의 관계를 표현하는 키는 (Ⓑ)이다." Ⓐ, Ⓑ는?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Ⓐ-후보키, Ⓑ-외래키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Ⓐ-기본키, Ⓑ-외래키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Ⓐ-후보키, Ⓑ-슈퍼키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Ⓐ-기본키, Ⓑ-슈퍼키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"투플을 유일하게 구별하며 검색·정렬에 주로 사용하는 키는 (Ⓐ)이고, 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893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89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Ⓐ-후보키, Ⓑ-외래키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46504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Ⓐ-기본키, Ⓑ-외래키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16916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2037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203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Ⓐ-후보키, Ⓑ-슈퍼키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09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0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Ⓐ-기본키, Ⓑ-슈퍼키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기본키(Primary Key)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후보키 중 대표로 선택, 투플을 유일하게 구별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검색·정렬에 주로 사용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외래키(Foreign Key)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다른 릴레이션의 기본키를 참조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릴레이션 간의 관계를 표현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후보키에 대한 설명으로 옳지 않은 것은?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릴레이션의 기본키와 대응되어 참조 무결성 표현에 사용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후보키는 유일성과 최소성을 모두 만족해야 한다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릴레이션은 반드시 하나 이상의 후보키를 갖는다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투플을 유일하게 구별해주는 속성 또는 속성들의 집합이다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후보키에 대한 설명으로 옳지 않은 것은?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89304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89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릴레이션의 기본키와 대응되어 참조 무결성 표현에 사용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12344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7465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후보키는 유일성과 최소성을 모두 만족해야 한다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2037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203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릴레이션은 반드시 하나 이상의 후보키를 갖는다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09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0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투플을 유일하게 구별해주는 속성 또는 속성들의 집합이다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릴레이션의 기본키와 대응되어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 무결성을 표현하는 것은 '외래키(Foreign Key)'입니다.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후보키는 릴레이션 내부에서 투플을 식별하는 역할.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②③④는 모두 후보키에 대한 올바른 설명입니다.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 무결성 제약조건에 대한 설명으로 적합한 것은?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내 투플들이 각 속성의 도메인 값만 가져야 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릴레이션은 참조할 수 없는 외래키 값을 가질 수 없다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외래키 값은 참조되는 릴레이션의 기본키 값과 동일해야 한다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기본키를 구성하는 모든 속성은 널 값을 가질 수 없다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 무결성 제약조건에 대한 설명으로 적합한 것은?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029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893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89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내 투플들이 각 속성의 도메인 값만 가져야 한다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5029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465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릴레이션은 참조할 수 없는 외래키 값을 가질 수 없다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5029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37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3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외래키 값은 참조되는 릴레이션의 기본키 값과 동일해야 한다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50292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660904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660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260604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기본키를 구성하는 모든 속성은 널 값을 가질 수 없다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6060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5029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50292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 무결성 제약조건 (Entity Integrity Constraint):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기본키를 구성하는 모든 속성은 NULL 값을 가질 수 없다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①은 도메인 무결성 제약조건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②③은 참조 무결성 제약조건에 해당합니다.</a:t>
            </a:r>
            <a:endParaRPr lang="en-US" sz="1100" dirty="0"/>
          </a:p>
        </p:txBody>
      </p:sp>
      <p:pic>
        <p:nvPicPr>
          <p:cNvPr id="29" name="Image 0" descr="/home/claude/ch5imgs/fig5_14_entity.jpeg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669280" y="2311978"/>
            <a:ext cx="3200400" cy="122820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외래키와 관련이 있는 무결성 제약조건은?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무결성 제약조건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 무결성 제약조건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 무결성 제약조건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기본키 무결성 제약조건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외래키와 관련이 있는 무결성 제약조건은?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029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893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89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무결성 제약조건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5029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465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 무결성 제약조건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50292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3704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3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 무결성 제약조건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1488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5029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09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0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기본키 무결성 제약조건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5029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50292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 무결성 제약조건 (Referential Integrity Constraint):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외래키가 참조할 수 없는(존재하지 않는) 값을 가질 수 없다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외래키 값은 참조되는 릴레이션의 기본키에 존재 or NULL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 무결성 제약조건은 기본키와 관련됩니다.</a:t>
            </a:r>
            <a:endParaRPr lang="en-US" sz="1100" dirty="0"/>
          </a:p>
        </p:txBody>
      </p:sp>
      <p:pic>
        <p:nvPicPr>
          <p:cNvPr id="29" name="Image 0" descr="/home/claude/ch5imgs/fig5_15_ref.jpeg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669280" y="1731598"/>
            <a:ext cx="3200400" cy="238896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A의 기본키 속성 값을 변경하려면 이를 참조하는 릴레이션 B의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외래키 속성 값도 변경해야 하는데, 이와 관련 있는 무결성 제약조건은?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무결성 제약조건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 무결성 제약조건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 무결성 제약조건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기본키 무결성 제약조건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A의 기본키 속성 값을 변경하려면 이를 참조하는 릴레이션 B의 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893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89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무결성 제약조건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465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 무결성 제약조건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3704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3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 무결성 제약조건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21488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090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0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기본키 무결성 제약조건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 무결성 제약조건은 외래키가 참조하는 기본키 값이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변경·삭제될 때 참조 관계의 일관성을 유지하도록 보장.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기본키 값이 바뀌면 이를 참조하는 외래키도 함께 처리해야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 무결성이 유지됩니다. (연쇄 수정/삭제 또는 거부)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58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914400"/>
            <a:ext cx="347472" cy="347472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914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868680"/>
            <a:ext cx="7406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데이터 모델에서 하나의 속성이 가질 수 있는 모든 값들의 집합을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무엇이라 하는가?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데이터 모델에서 하나의 속성이 가질 수 있는 모든 값들의 집합을 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527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73736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도메인(Domain)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도메인은 속성이 가질 수 있는 모든 값의 집합으로,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 값의 적합성을 판단하는 기준이 됩니다.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'나이' 속성의 도메인: 0~150 사이의 정수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'등급' 속성의 도메인: {gold, silver, bronze, vip}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'고객아이디' 속성의 도메인: CHAR(20)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각 문장을 읽고 맞으면 O, 틀리면 X를 표시하시오.</a:t>
            </a:r>
            <a:endParaRPr lang="en-US" sz="1400" dirty="0"/>
          </a:p>
        </p:txBody>
      </p:sp>
      <p:pic>
        <p:nvPicPr>
          <p:cNvPr id="8" name="Image 0" descr="/home/claude/ch5imgs/fig5_8_key_relation.jpeg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669280" y="1645919"/>
            <a:ext cx="3200400" cy="2011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508760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508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슈퍼키는 후보키이기도 하다.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5488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039112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0391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기본키는 후보키이기도 하다.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54880" y="20391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2569464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256946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기본키로 외래키를 사용할 수 있다.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4880" y="25694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099816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09981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외래키는 널 값이 허용되지 않는다.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54880" y="30998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3630168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36301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 외래키의 속성 개수와 참조 기본키의 속성 개수는 같아야 한다.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54880" y="36301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각 문장을 읽고 맞으면 O, 틀리면 X를 표시하시오.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슈퍼키는 후보키이기도 하다.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3258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6184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슈퍼키 ⊃ 후보키 (역은 성립 안 함)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13258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984248"/>
            <a:ext cx="822960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98424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기본키는 후보키이기도 하다.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8424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227685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기본키는 후보키 중에서 선택한 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198424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642616"/>
            <a:ext cx="822960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64261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기본키로 외래키를 사용할 수 있다.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64261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29352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외래키가 기본키를 겸할 수 있음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264261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300984"/>
            <a:ext cx="82296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30098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외래키는 널 값이 허용되지 않는다.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3300984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35935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외래키는 NULL 가능 (기본키만 NULL 불가)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330098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959352"/>
            <a:ext cx="822960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9593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 외래키의 속성 개수와 참조 기본키의 속성 개수는 같아야 한다.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395935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" y="4251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도메인도 같아야 함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39593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릴레이션의 특성으로 적합한 것을 모두 고르시오.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하나의 릴레이션에 있는 모든 투플은 서로 다른 값을 가진다.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3911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하나의 릴레이션에서 투플 사이의 순서는 없다.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55280" y="20391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569464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6946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모든 속성은 서로 다른 이름으로 구별된다.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0" y="25694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099816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09981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하나의 릴레이션에서 속성의 순서는 중요한 의미를 지닌다.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5280" y="30998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630168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6301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모든 속성의 값은 더는 분해할 수 없는 원자 값만 허용.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36301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릴레이션의 특성으로 적합한 것을 모두 고르시오.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하나의 릴레이션에 있는 모든 투플은 서로 다른 값을 가진다.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3258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6184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투플의 유일성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13258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984248"/>
            <a:ext cx="822960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98424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하나의 릴레이션에서 투플 사이의 순서는 없다.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8424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227685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투플의 무순서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198424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642616"/>
            <a:ext cx="822960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64261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모든 속성은 서로 다른 이름으로 구별된다.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64261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29352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 이름의 유일성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264261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300984"/>
            <a:ext cx="82296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30098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하나의 릴레이션에서 속성의 순서는 중요한 의미를 지닌다.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3300984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35935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속성의 무순서 (순서 무의미)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330098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959352"/>
            <a:ext cx="822960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9593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모든 속성의 값은 더는 분해할 수 없는 원자 값만 허용.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395935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" y="4251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속성의 원자성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39593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외래키에 대한 설명으로 적합한 것을 모두 고르시오.</a:t>
            </a:r>
            <a:endParaRPr lang="en-US" sz="1400" dirty="0"/>
          </a:p>
        </p:txBody>
      </p:sp>
      <p:pic>
        <p:nvPicPr>
          <p:cNvPr id="8" name="Image 0" descr="/home/claude/ch5imgs/fig5_12_selfref.jpeg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669280" y="1508760"/>
            <a:ext cx="3200400" cy="2011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508760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508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기본키로 선택되지 못한 후보키들이다.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5488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039112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0391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외래키를 가진 릴레이션을 참조하는 릴레이션이라 한다.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54880" y="20391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2569464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256946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릴레이션 R1의 속성이 다른 릴레이션 R2의 기본키이다.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4880" y="25694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099816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09981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외래키 릴레이션과 기본키 릴레이션은 반드시 달라야 한다.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54880" y="30998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3630168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36301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(F) 외래키와 대응 기본키는 도메인이 같아야 한다.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54880" y="36301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외래키에 대한 설명으로 적합한 것을 모두 고르시오.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기본키로 선택되지 못한 후보키들이다.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3258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6184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대체키의 설명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13258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984248"/>
            <a:ext cx="82296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98424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외래키를 가진 릴레이션을 참조하는 릴레이션이라 한다.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8424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227685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'참조되는'이 아니라 '참조하는' 릴레이션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198424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642616"/>
            <a:ext cx="822960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64261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릴레이션 R1의 속성이 다른 릴레이션 R2의 기본키이다.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64261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29352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외래키의 정의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264261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300984"/>
            <a:ext cx="82296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30098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외래키 릴레이션과 기본키 릴레이션은 반드시 달라야 한다.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3300984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35935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참조 가능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330098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959352"/>
            <a:ext cx="822960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9593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(F) 외래키와 대응 기본키는 도메인이 같아야 한다.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395935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" y="4251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일치 필수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39593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58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914400"/>
            <a:ext cx="347472" cy="347472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914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868680"/>
            <a:ext cx="7406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데이터 모델의 무결성 제약조건에 대한 설명을 읽고 Ⓐ, Ⓑ를 채우시오.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"기본키를 구성하는 모든 속성은 널 값을 가질 수 없다 → (Ⓐ)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외래키는 참조할 수 없는 값을 가질 수 없다 → (Ⓑ)"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관계 데이터 모델의 무결성 제약조건에 대한 설명을 읽고 Ⓐ, Ⓑ를 채우시오.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029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50292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527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73736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Ⓐ: 개체 무결성 제약조건 (Entity Integrity Constraint)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Ⓑ: 참조 무결성 제약조건 (Referential Integrity Constraint)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개체 무결성: 기본키를 구성하는 모든 속성 → NULL 불가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(기본키가 NULL이면 투플을 식별할 수 없으므로)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참조 무결성: 외래키 값 → 참조되는 기본키에 존재하거나 NULL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(존재하지 않는 값을 참조하면 데이터 모순 발생)</a:t>
            </a:r>
            <a:endParaRPr lang="en-US" sz="1150" dirty="0"/>
          </a:p>
        </p:txBody>
      </p:sp>
      <p:pic>
        <p:nvPicPr>
          <p:cNvPr id="12" name="Image 0" descr="/home/claude/ch5imgs/fig5_14_entity.jpeg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669280" y="1917452"/>
            <a:ext cx="3200400" cy="201725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914400"/>
            <a:ext cx="347472" cy="347472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914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868680"/>
            <a:ext cx="7406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키에 대한 설명을 읽고 Ⓐ, Ⓑ, Ⓒ를 채우시오.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"(Ⓐ)는 유일성을 만족하는 속성 또는 속성들의 집합이다.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후보키는 유일성과 (Ⓑ)를 모두 만족하는 키이다.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후보키 중 기본키로 선택되지 못한 키를 (Ⓒ)라 한다."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키에 대한 설명을 읽고 Ⓐ, Ⓑ, Ⓒ를 채우시오. 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029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50292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527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73736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Ⓐ: 슈퍼키 (Super Key)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유일성만 만족하면 되는 가장 넓은 범위의 키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Ⓑ: 최소성 (Minimality)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불필요한 속성 없이 꼭 필요한 최소한의 속성만으로 구성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Ⓒ: 대체키 (Alternate Key)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후보키 중 기본키로 선택되지 못한 나머지 키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포함 관계: 슈퍼키 ⊃ 후보키 ⊃ 기본키 | 대체키</a:t>
            </a:r>
            <a:endParaRPr lang="en-US" sz="1150" dirty="0"/>
          </a:p>
        </p:txBody>
      </p:sp>
      <p:pic>
        <p:nvPicPr>
          <p:cNvPr id="12" name="Image 0" descr="/home/claude/ch5imgs/fig5_8_key_relation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0" y="1555845"/>
            <a:ext cx="3200400" cy="274047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914400"/>
            <a:ext cx="347472" cy="347472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914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868680"/>
            <a:ext cx="7406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사원 릴레이션에 대해 물음에 답하시오.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사원(사원번호, 사원이름, 나이, 주소, 직급)에 3개 투플이 있을 때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차수는?  (2) 카디널리티는?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사원이름이 기본키로 부적합한 이유는?  (4) 기본키로 적합한 속성은?</a:t>
            </a:r>
            <a:endParaRPr lang="en-US" sz="1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19DA41A-1405-099F-4A5D-BA436120B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785" y="2606040"/>
            <a:ext cx="5086066" cy="134747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사원 릴레이션에 대해 물음에 답하시오. 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527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73736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차수(degree): 5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속성이 5개 (사원번호, 사원이름, 나이, 주소, 직급)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카디널리티(cardinality): 3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투플이 3개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사원이름이 기본키로 부적합한 이유: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동명이인이 존재할 수 있어 유일성을 보장하지 못합니다.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기본키로 적합한 속성: 사원번호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각 사원마다 고유하게 부여되어 유일성과 최소성을 모두 만족.</a:t>
            </a:r>
            <a:endParaRPr lang="en-US" sz="115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0C1D41F-D53A-36E5-C627-5AFC319DD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422" y="1978869"/>
            <a:ext cx="4293012" cy="113736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914400"/>
            <a:ext cx="347472" cy="347472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914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868680"/>
            <a:ext cx="7406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환자(환자번호, 환자이름, 나이, 담당의사)와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의사(의사번호, 의사이름, 소속)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릴레이션이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있을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때: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외래키를 포함한 릴레이션과 외래키는?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참조 무결성 제약조건의 영향을 받는 연산을 모두 고르시오.</a:t>
            </a:r>
            <a:endParaRPr lang="en-US" sz="1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20F9D8E-BB9A-B4DE-C353-C6D62793F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365" y="1201003"/>
            <a:ext cx="3930555" cy="93100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62F90F2-3D70-8189-4CA4-172276BC3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315" y="2370637"/>
            <a:ext cx="7354570" cy="195443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환자(환자번호, 환자이름, 나이, 담당의사)와 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527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73736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외래키를 포함한 릴레이션: 환자 릴레이션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외래키: 담당의사 (의사 릴레이션의 기본키 '의사번호'를 참조)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참조 무결성 영향 연산: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환자 릴레이션에 새로운 투플 삽입 → 외래키 값 검증 필요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환자 릴레이션에서 담당의사 값 변경 → 외래키 값 검증 필요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의사 릴레이션에서 의사번호 값 변경 → 참조 중인 값 변경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의사 릴레이션에서 기존 투플 삭제 → 참조 중인 투플 삭제</a:t>
            </a:r>
            <a:endParaRPr lang="en-US" sz="115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B31BBA1-2FBA-B0D2-45EC-0975BA6CE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05" y="2430455"/>
            <a:ext cx="7184708" cy="190929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1D8ABEE-6C38-C862-BB3D-D9D0F1E31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996" y="3156462"/>
            <a:ext cx="2372056" cy="562053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58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87377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914400"/>
            <a:ext cx="347472" cy="347472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914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868680"/>
            <a:ext cx="7406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 무결성 제약조건 만족 여부를 검사할 필요가 있는 항목에 ○표를 하시오.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(외래키에 의해 참조되는 기본키 / 외래키 각각에 대해 Insert, Delete, Update)</a:t>
            </a:r>
            <a:endParaRPr lang="en-US" sz="1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1477AE7-A0BA-063C-A07B-30A0106BC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59" y="1818832"/>
            <a:ext cx="5765341" cy="112915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149CAE2-E474-2391-F707-12114C47A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264" y="2571750"/>
            <a:ext cx="533472" cy="33216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E71EFA0-90ED-DA9B-03D5-61DF34633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252" y="2217329"/>
            <a:ext cx="533472" cy="33216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E37C0C2-48F6-515F-3F0E-115B6664B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196" y="2199237"/>
            <a:ext cx="533472" cy="33216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B98A9A7-9F8C-9460-8041-F67E4465F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900" y="2579642"/>
            <a:ext cx="533472" cy="33216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 무결성 제약조건 만족 여부를 검사할 필요가 있는 항목에 ○표를 하시오. 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527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73736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Insert     Delete     Update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외래키에 의해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참조되는 기본키                       ○             ○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외래키                 ○                              ○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기본키의 Delete/Update: 참조 관계가 깨질 수 있어 검사 필요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외래키의 Insert/Update: 존재하지 않는 값을 참조할 수 있어 검사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외래키의 Delete: 참조를 제거하는 것 → 검사 불필요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기본키의 Insert: 참조 대상이 추가됨 → 검사 불필요</a:t>
            </a:r>
            <a:endParaRPr lang="en-US" sz="115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89ECA3A-FAC5-41E6-3C52-A16AC1976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18832"/>
            <a:ext cx="5765341" cy="112915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58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914400"/>
            <a:ext cx="347472" cy="347472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914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868680"/>
            <a:ext cx="7406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C 속성으로 구성된 릴레이션에서 A 속성의 도메인은 2개 값,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속성의 도메인은 3개 값, C 속성의 도메인은 4개 값을 갖는다면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릴레이션에 삽입될 수 있는 투플의 최대 개수는?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C 속성으로 구성된 릴레이션에서 A 속성의 도메인은 2개 값, 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527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73736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24개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계산: 2 × 3 × 4 = 24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릴레이션에는 동일한 투플이 존재할 수 없으므로(투플의 유일성),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가능한 투플의 최대 개수는 각 속성의 도메인 크기를 모두 곱한 값.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A가 취할 수 있는 값 2개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B가 취할 수 있는 값 3개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C가 취할 수 있는 값 4개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총 24가지 서로 다른 조합이 가능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58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914400"/>
            <a:ext cx="347472" cy="347472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914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868680"/>
            <a:ext cx="7406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학생(학번, 이름, 학과), 교수(교수ID, 이름, 학과),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지도(지도교수ID, 참여학생, 내용), 멘토링(멘토, 멘티, 내용)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릴레이션에서 외래키로 선언할 수 있는 속성을 모두 나열하시오.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학생(학번, 이름, 학과), 교수(교수ID, 이름, 학과), 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029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50292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527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73736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외래키로 선언할 수 있는 속성 (총 4개):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지도.지도교수ID → 교수 릴레이션의 교수ID를 참조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지도.참여학생 → 학생 릴레이션의 학번을 참조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멘토링.멘토 → 학생 릴레이션의 학번을 참조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멘토링.멘티 → 학생 릴레이션의 학번을 참조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지도교수ID와 참여학생은 각각 교수, 학생 릴레이션을 참조하며,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멘토와 멘티는 모두 학생 릴레이션의 학번을 참조합니다.</a:t>
            </a:r>
            <a:endParaRPr lang="en-US" sz="1150" dirty="0"/>
          </a:p>
        </p:txBody>
      </p:sp>
      <p:pic>
        <p:nvPicPr>
          <p:cNvPr id="12" name="Image 0" descr="/home/claude/ch5imgs/fig5_9_schema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0" y="2081213"/>
            <a:ext cx="3200400" cy="168973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645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65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수고하셨습니다!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5장 관계 데이터 모델 — 연습문제 해답 (전 28문제)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대전대학교 컴퓨터공학과  ·  박상돈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3882</Words>
  <Application>Microsoft Office PowerPoint</Application>
  <PresentationFormat>화면 슬라이드 쇼(16:9)</PresentationFormat>
  <Paragraphs>882</Paragraphs>
  <Slides>58</Slides>
  <Notes>58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2" baseType="lpstr"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5장 관계 데이터 모델 — 연습문제 해답</dc:title>
  <dc:subject>PptxGenJS Presentation</dc:subject>
  <dc:creator>박상돈</dc:creator>
  <cp:lastModifiedBy>상돈 박</cp:lastModifiedBy>
  <cp:revision>22</cp:revision>
  <dcterms:created xsi:type="dcterms:W3CDTF">2026-03-29T11:53:06Z</dcterms:created>
  <dcterms:modified xsi:type="dcterms:W3CDTF">2026-04-06T14:14:21Z</dcterms:modified>
  <cp:version/>
</cp:coreProperties>
</file>