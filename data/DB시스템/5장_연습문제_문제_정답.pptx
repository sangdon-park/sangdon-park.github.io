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6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8290" autoAdjust="0"/>
  </p:normalViewPr>
  <p:slideViewPr>
    <p:cSldViewPr snapToGrid="0" snapToObjects="1">
      <p:cViewPr varScale="1">
        <p:scale>
          <a:sx n="165" d="100"/>
          <a:sy n="165" d="100"/>
        </p:scale>
        <p:origin x="1674" y="138"/>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lvl="0"/>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lvl="0"/>
            <a:fld id="{5282F153-3F37-0F45-9E97-73ACFA13230C}" type="datetime1">
              <a:rPr lang="en-US"/>
              <a:t>4/7/2026</a:t>
            </a:fld>
            <a:endParaRPr lang="en-US"/>
          </a:p>
        </p:txBody>
      </p:sp>
      <p:sp>
        <p:nvSpPr>
          <p:cNvPr id="4" name="Slide Image Placeholder 3"/>
          <p:cNvSpPr>
            <a:spLocks noGrp="1" noRot="1" noChangeAspect="1" noTextEdi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lvl="0"/>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lvl="0"/>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안녕하세요, 여러분. 오늘은 5장 '관계 데이터 모델' 연습문제를 함께 풀어보겠습니다.</a:t>
            </a:r>
            <a:br/>
            <a:br/>
            <a:r>
              <a:t>총 28문제로 구성되어 있고요, 객관식, 서술형, OX 문제가 골고루 섞여 있습니다.</a:t>
            </a:r>
            <a:br/>
            <a:br/>
            <a:r>
              <a:t>진행 방식은 이렇습니다. 먼저 문제 슬라이드를 보면서 스스로 답을 생각해 볼 시간을 드릴 거예요. 그 다음에 정답 해설 슬라이드로 넘어가서 왜 그게 정답인지, 다른 보기는 왜 틀렸는지 하나하나 같이 살펴보겠습니다.</a:t>
            </a:r>
            <a:br/>
            <a:br/>
            <a:r>
              <a:t>관계 데이터 모델은 데이터베이스 과목 전체의 뼈대가 되는 부분이에요. 이 장의 개념을 제대로 이해하지 못하면 6장 관계 대수나 SQL, 정규화까지 전부 흔들립니다. 그래서 오늘 연습문제를 풀면서 개념을 확실히 잡아가시길 바랍니다.</a:t>
            </a:r>
            <a:br/>
            <a:br/>
            <a:r>
              <a:t>자, 그러면 첫 번째 문제부터 시작해 볼까요?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자, 첫 번째 문제입니다. 논리적 데이터 모델의 종류를 묻는 문제예요.</a:t>
            </a:r>
            <a:br/>
            <a:br/>
            <a:r>
              <a:t>문제를 같이 읽어볼게요. "개체에 관한 데이터를 릴레이션이라 불리는 테이블 형태로 저장하고, 릴레이션들 사이의 관계는 기본키와 이를 참조하는 외래키로 표현하는 논리적 데이터 모델은?" 이라고 묻고 있습니다.</a:t>
            </a:r>
            <a:br/>
            <a:br/>
            <a:r>
              <a:t>문제에서 핵심 키워드 세 가지를 뽑아보면요: '릴레이션', '테이블 형태', '기본키와 외래키'. 이 세 가지가 어떤 모델을 가리키는지가 포인트입니다.</a:t>
            </a:r>
            <a:br/>
            <a:br/>
            <a:r>
              <a:t>보기를 하나씩 살펴볼게요.</a:t>
            </a:r>
            <a:br/>
            <a:br/>
            <a:r>
              <a:t>① 계층 데이터 모델 — 이건 트리, 즉 나무 구조를 사용하는 모델입니다. 부모 노드 하나에 자식 노드 여러 개가 매달리는 형태예요. 대표적인 게 IBM의 IMS라는 시스템인데, 1960년대에 아폴로 우주 프로젝트의 부품 데이터를 관리하기 위해 만들어졌어요. 부모-자식 관계가 1:N으로 고정되어 있어서, M:N 관계를 표현하기가 굉장히 어렵습니다. 데이터를 '릴레이션'이라고 부르지도 않고요.</a:t>
            </a:r>
            <a:br/>
            <a:br/>
            <a:r>
              <a:t>② 네트워크 데이터 모델 — 이건 그래프 구조입니다. CODASYL이라는 단체가 제안했어요. 계층 모델의 한계를 극복하려고 노드 간에 다대다(M:N) 관계를 허용하는데, 그 대가로 구조가 아주 복잡해졌습니다. 포인터로 레코드를 연결하는 방식이라, 테이블 형태가 아니에요.</a:t>
            </a:r>
            <a:br/>
            <a:br/>
            <a:r>
              <a:t>③ 관계 데이터 모델 — 여기서 '관계'는 영어로 relation, 즉 릴레이션입니다. 테이블 형태로 데이터를 저장하고, 기본키와 외래키로 테이블 간 관계를 표현해요. 문제에서 설명하는 것과 정확히 일치하죠?</a:t>
            </a:r>
            <a:br/>
            <a:br/>
            <a:r>
              <a:t>④ 객체지향 데이터 모델 — 이건 C++이나 Java 같은 OOP(객체지향 프로그래밍)의 개념을 데이터베이스에 적용한 모델입니다. 객체(object), 클래스, 상속, 캡슐화 같은 개념을 사용하는데, 릴레이션이나 테이블 형태와는 거리가 멀어요. 학술적으로는 연구되었지만 실무에서 주류가 되지는 못했습니다.</a:t>
            </a:r>
            <a:br/>
            <a:br/>
            <a:r>
              <a:t>자, 답을 생각해 보셨나요? 키워드 '릴레이션', '테이블', '기본키-외래키'가 전부 가리키는 모델은 하나뿐이에요. 다음 슬라이드에서 정답을 확인해 봅시다.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③번, 관계 데이터 모델입니다.</a:t>
            </a:r>
            <a:br/>
            <a:br/>
            <a:r>
              <a:t>이 문제는 관계 데이터 모델의 정의 자체를 묻는 아주 기본적인 문제예요. 하지만 기본이라고 가볍게 보면 안 됩니다. 시험에서 정의를 정확하게 아느냐 모르느냐로 갈리는 문제가 자주 출제되거든요.</a:t>
            </a:r>
            <a:br/>
            <a:br/>
            <a:r>
              <a:t>관계 데이터 모델의 역사를 잠깐 짚어볼게요. 1970년에 에드거 커드(Edgar F. Codd)라는 영국 출신의 수학자이자 컴퓨터 과학자가 'A Relational Model of Data for Large Shared Data Banks'라는 논문을 발표합니다. 이 논문의 핵심 아이디어가 뭐냐면, "모든 데이터를 수학적 관계(relation), 즉 2차원 테이블로 표현하자"는 거예요. 기존의 계층 모델이나 네트워크 모델이 포인터나 물리적 구조에 의존했던 것에 비해, 순수하게 논리적인 구조만으로 데이터를 표현할 수 있게 된 겁니다. 이게 혁명적이었어요.</a:t>
            </a:r>
            <a:br/>
            <a:br/>
            <a:r>
              <a:t>관계 데이터 모델의 핵심 세 가지를 정리하면:</a:t>
            </a:r>
            <a:br/>
            <a:r>
              <a:t>첫째, 데이터를 2차원 테이블(릴레이션) 형태로 저장합니다.</a:t>
            </a:r>
            <a:br/>
            <a:r>
              <a:t>둘째, 테이블 내의 각 행(투플)을 유일하게 식별하기 위해 기본키(Primary Key)를 사용합니다.</a:t>
            </a:r>
            <a:br/>
            <a:r>
              <a:t>셋째, 테이블 간의 관계를 표현하기 위해 외래키(Foreign Key)를 사용합니다. 외래키는 다른 테이블의 기본키를 참조하는 속성이에요.</a:t>
            </a:r>
            <a:br/>
            <a:br/>
            <a:r>
              <a:t>왜 다른 보기는 틀렸는지 다시 한번 정리해 드리면:</a:t>
            </a:r>
            <a:br/>
            <a:r>
              <a:t>계층 모델은 트리 구조라 1:N 관계만 표현 가능하고, 데이터 중복이 많이 발생합니다.</a:t>
            </a:r>
            <a:br/>
            <a:r>
              <a:t>네트워크 모델은 그래프 구조라 M:N 관계도 표현할 수 있지만, 프로그래머가 물리적 구조를 직접 신경 써야 해서 유지보수가 힘들었어요.</a:t>
            </a:r>
            <a:br/>
            <a:r>
              <a:t>객체지향 모델은 복잡한 데이터 타입을 다루기에는 좋지만, 수학적 기반이 약해서 질의 최적화가 어렵습니다.</a:t>
            </a:r>
            <a:br/>
            <a:br/>
            <a:r>
              <a:t>현재 전 세계에서 가장 많이 쓰이는 DBMS들 — Oracle, MySQL, PostgreSQL, SQL Server, SQLite — 이 전부 관계 데이터 모델 기반이에요. 우리가 이 과목에서 배우는 SQL도 관계 데이터 모델 위에서 동작하는 언어입니다. 그만큼 이 모델이 중요하다는 뜻이죠.</a:t>
            </a:r>
            <a:br/>
            <a:br/>
            <a:r>
              <a:t>시험에서도 "관계 데이터 모델의 특징은?" "관계 데이터 모델을 제안한 사람은?" 같은 문제가 자주 나오니까, 커드(Codd), 1970년, 릴레이션(2차원 테이블), 기본키와 외래키 — 이 네 가지 키워드를 꼭 기억해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문제입니다. 릴레이션에 대한 설명 중 옳지 않은 것을 찾는 문제예요. '옳지 않은 것'을 고르라는 거니까, 네 보기 중 세 개는 맞고 하나만 틀립니다.</a:t>
            </a:r>
            <a:br/>
            <a:br/>
            <a:r>
              <a:t>보기를 하나씩 꼼꼼히 읽어볼게요.</a:t>
            </a:r>
            <a:br/>
            <a:br/>
            <a:r>
              <a:t>① "릴레이션은 릴레이션 스키마와 릴레이션 인스턴스로 구성된다" — 릴레이션이라는 개념을 크게 두 부분으로 나눌 수 있다는 뜻이에요. 스키마는 테이블의 구조, 즉 '틀'이고, 인스턴스는 그 틀 안에 채워진 실제 데이터입니다. 비유하자면, 스키마는 엑셀 시트의 헤더 행이고, 인스턴스는 그 아래로 쭉 채워진 데이터 행들이에요.</a:t>
            </a:r>
            <a:br/>
            <a:br/>
            <a:r>
              <a:t>② "릴레이션 스키마는 릴레이션의 논리적 구조이다 (= 릴레이션 내포)" — 스키마를 릴레이션 내포(intension)라고도 부릅니다. 릴레이션의 이름, 속성들의 이름, 각 속성의 도메인 등 구조적인 정보를 담고 있어요. 예를 들어, 학생(학번, 이름, 학과) 이렇게 적으면 이게 스키마입니다.</a:t>
            </a:r>
            <a:br/>
            <a:br/>
            <a:r>
              <a:t>③ "릴레이션 인스턴스는 투플들의 집합이다 (= 릴레이션 외연)" — 인스턴스를 릴레이션 외연(extension)이라고도 합니다. 어느 시점에 테이블에 실제로 저장되어 있는 데이터 행(투플)들의 집합이에요. 시간이 지나면서 데이터가 삽입되고 삭제되니까, 인스턴스는 계속 변합니다.</a:t>
            </a:r>
            <a:br/>
            <a:br/>
            <a:r>
              <a:t>④ "릴레이션 스키마는 동적이고, 릴레이션 인스턴스는 정적인 특징을 가진다" — 어? 이거 뭔가 반대인 것 같지 않나요? 스키마가 동적이라는 건 테이블의 구조, 그러니까 컬럼을 매일매일 추가하거나 삭제한다는 뜻이에요. 근데 실제로 그런가요? 학생 테이블에 '학번, 이름, 학과'라는 컬럼을 오늘은 쓰다가 내일은 '학번'을 빼고 '혈액형'을 넣고, 모레는 또 바꾸고... 이러진 않잖아요? 반대로 인스턴스가 정적이라는 건 데이터가 변하지 않는다는 뜻인데, 학생이 입학하면 데이터를 추가하고, 졸업하면 삭제하고, 학과를 바꾸면 수정하잖아요?</a:t>
            </a:r>
            <a:br/>
            <a:br/>
            <a:r>
              <a:t>뭔가 서로 뒤바뀐 느낌이 확 오시죠? 어떤 보기가 틀렸을까요? 다음 슬라이드에서 확인해 봅시다.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④번입니다. 스키마와 인스턴스의 특성이 정반대로 뒤바뀌어 있었어요.</a:t>
            </a:r>
            <a:br/>
            <a:br/>
            <a:r>
              <a:t>올바르게 고치면 이렇습니다:</a:t>
            </a:r>
            <a:br/>
            <a:r>
              <a:t>"릴레이션 스키마는 정적이고, 릴레이션 인스턴스는 동적인 특징을 가진다."</a:t>
            </a:r>
            <a:br/>
            <a:br/>
            <a:r>
              <a:t>이게 왜 그런지 좀 더 깊이 설명해 드릴게요.</a:t>
            </a:r>
            <a:br/>
            <a:br/>
            <a:r>
              <a:t>릴레이션 스키마(= 릴레이션 내포, intension)는 정적(static)인 특성을 가집니다.</a:t>
            </a:r>
            <a:br/>
            <a:r>
              <a:t>스키마는 테이블의 구조를 정의한 것이에요. 릴레이션의 이름이 뭔지, 속성(컬럼)이 몇 개인지, 각 속성의 이름과 도메인은 뭔지를 기술합니다. 예를 들어, "학생(학번 INT, 이름 VARCHAR(20), 학과 VARCHAR(30))" 이게 스키마예요. 이 구조는 한번 정의하면 잘 바뀌지 않습니다. 물론 ALTER TABLE 같은 DDL 명령어로 컬럼을 추가하거나 삭제할 수는 있지만, 그건 아주 드문 일이에요. 보통 시스템 설계 단계에서 구조를 확정하면 운영 중에는 거의 변경하지 않습니다. 그래서 '정적'이라고 합니다.</a:t>
            </a:r>
            <a:br/>
            <a:br/>
            <a:r>
              <a:t>릴레이션 인스턴스(= 릴레이션 외연, extension)는 동적(dynamic)인 특성을 가집니다.</a:t>
            </a:r>
            <a:br/>
            <a:r>
              <a:t>인스턴스는 어느 특정 시점에 릴레이션에 들어있는 투플(행)들의 집합이에요. 학생이 입학하면 INSERT로 새 투플을 추가하고, 졸업하면 DELETE로 삭제하고, 전과하면 UPDATE로 학과 값을 바꾸잖아요? 이런 DML 연산이 수시로 일어나기 때문에 인스턴스는 끊임없이 변합니다. 그래서 '동적'이에요.</a:t>
            </a:r>
            <a:br/>
            <a:br/>
            <a:r>
              <a:t>비유를 하나 더 들어드릴게요. 스키마는 건물의 설계도면이고, 인스턴스는 그 건물 안에 사는 사람들이라고 생각해 보세요. 설계도면은 한번 확정되면 잘 안 바꾸죠? 하지만 건물 안의 입주자는 이사 오고, 이사 가고, 계속 바뀝니다. 그 느낌이에요.</a:t>
            </a:r>
            <a:br/>
            <a:br/>
            <a:r>
              <a:t>이 문제의 핵심은 딱 하나입니다: 스키마 = 정적, 인스턴스 = 동적. 이 관계만 정확히 기억하면 어떤 형태로 출제되든 풀 수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문제입니다. 역시 '옳지 않은 것'을 찾는 문제예요.</a:t>
            </a:r>
            <a:br/>
            <a:br/>
            <a:r>
              <a:t>릴레이션에는 네 가지 중요한 특성이 있는데, 이 문제에서 보기 하나가 그 특성을 잘못 설명하고 있습니다. 어떤 게 틀렸는지 찾아보세요.</a:t>
            </a:r>
            <a:br/>
            <a:br/>
            <a:r>
              <a:t>①번 — "하나의 릴레이션에는 동일한 투플이 존재할 수 없다." 이건 '투플의 유일성'이라는 특성이에요. 릴레이션은 수학적으로 집합(set)입니다. 집합은 원래 중복 원소를 허용하지 않죠? {1, 2, 3}은 집합이지만 {1, 2, 2, 3}은 엄밀히 말하면 집합이 아니에요. 마찬가지로 릴레이션에도 똑같은 투플이 두 개 이상 존재할 수 없습니다.</a:t>
            </a:r>
            <a:br/>
            <a:br/>
            <a:r>
              <a:t>②번 — "하나의 릴레이션에서 투플 사이의 순서는 무의미하다." '투플의 무순서' 특성입니다. 집합 {1, 2, 3}과 {3, 1, 2}는 같은 집합이죠? 마찬가지로 릴레이션에서 첫 번째 행, 두 번째 행이라는 개념 자체가 없어요. 행의 순서를 바꿔도 같은 릴레이션입니다. 실제 DBMS에서 SELECT * FROM 학생; 을 실행하면 행이 특정 순서로 나오긴 하는데, 그건 DBMS가 내부적으로 물리적 저장 순서대로 보여주는 것일 뿐이고, 논리적으로는 순서가 없습니다.</a:t>
            </a:r>
            <a:br/>
            <a:br/>
            <a:r>
              <a:t>③번 — "하나의 릴레이션에서 속성 사이의 순서는 무의미하다." '속성의 무순서' 특성이에요. 학생(학번, 이름, 학과)나 학생(이름, 학과, 학번)이나 논리적으로는 같은 릴레이션입니다. 열의 위치가 바뀌어도 데이터의 의미는 달라지지 않아요.</a:t>
            </a:r>
            <a:br/>
            <a:br/>
            <a:r>
              <a:t>④번 — "모든 속성 값은 논리적으로 분해 가능한 복합값이어야 한다." 잠깐, '분해 가능한 복합값'이라고요? 릴레이션의 속성 값은 원자 값(atomic value), 즉 '더 이상 분해할 수 없는 값'이어야 하는데, 이 보기는 정반대로 '분해 가능한 복합값'이라고 말하고 있네요. 뭔가 이상하죠?</a:t>
            </a:r>
            <a:br/>
            <a:br/>
            <a:r>
              <a:t>어떤 게 틀렸을까요? 한번 생각해 보시고, 다음 슬라이드에서 확인합시다.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④번입니다.</a:t>
            </a:r>
            <a:br/>
            <a:br/>
            <a:r>
              <a:t>릴레이션의 모든 속성 값은 원자 값(atomic value)이어야 합니다. 원자 값이란 더 이상 논리적으로 분해할 수 없는, 하나의 단일 값이라는 뜻이에요. 보기 ④는 "분해 가능한 복합값"이라고 했으므로 정반대의 설명입니다.</a:t>
            </a:r>
            <a:br/>
            <a:br/>
            <a:r>
              <a:t>'속성의 원자성'이 왜 중요한지 구체적인 예를 들어 설명해 드릴게요.</a:t>
            </a:r>
            <a:br/>
            <a:br/>
            <a:r>
              <a:t>예를 들어, 어떤 사람의 연락처를 저장한다고 해 봅시다. 만약 '전화번호'라는 속성에 "010-1234-5678, 02-555-6789" 이렇게 두 개의 전화번호를 콤마로 이어 붙여서 한 칸에 넣으면, 이건 원자 값이 아니에요. 두 개의 값이 하나의 칸에 들어가 있으니까, 이걸 '다중값(multi-valued)'이라고 합니다. 릴레이션에서는 이렇게 하면 안 됩니다.</a:t>
            </a:r>
            <a:br/>
            <a:br/>
            <a:r>
              <a:t>또 다른 예로, '주소'라는 속성에 "서울특별시 강남구 역삼동 123-45" 이렇게 넣었다고 해 봅시다. 이걸 시/구/동/번지로 나눌 수 있다면, 이건 '복합값(composite value)'이에요. 만약 시/구/동/번지를 따로 검색할 필요가 있다면, 속성을 '시', '구', '동', '번지'로 쪼개야 합니다.</a:t>
            </a:r>
            <a:br/>
            <a:br/>
            <a:r>
              <a:t>그럼 올바르게 하려면 어떻게 해야 할까요? 전화번호가 여러 개라면 별도의 '전화번호' 릴레이션을 만들어서 행을 분리하면 됩니다. 주소가 복합값이라면 속성을 쪼개면 되고요. 이것이 나중에 배울 제1정규형(1NF, First Normal Form)의 핵심 조건입니다: "릴레이션의 모든 속성 값은 원자 값이어야 한다."</a:t>
            </a:r>
            <a:br/>
            <a:br/>
            <a:r>
              <a:t>릴레이션의 4가지 특성을 다시 정리하면:</a:t>
            </a:r>
            <a:br/>
            <a:r>
              <a:t>1. 투플의 유일성 — 동일한 투플 존재 불가 (집합의 성질)</a:t>
            </a:r>
            <a:br/>
            <a:r>
              <a:t>2. 투플의 무순서 — 행에는 순서가 없음 (집합의 성질)</a:t>
            </a:r>
            <a:br/>
            <a:r>
              <a:t>3. 속성의 무순서 — 열에도 순서가 없음</a:t>
            </a:r>
            <a:br/>
            <a:r>
              <a:t>4. 속성의 원자성 — 모든 값은 더 이상 쪼갤 수 없는 단일 값</a:t>
            </a:r>
            <a:br/>
            <a:br/>
            <a:r>
              <a:t>이 네 가지는 시험에 거의 매번 출제됩니다. 문제 형태가 "다음 중 릴레이션의 특성으로 옳은/옳지 않은 것은?" 이런 식으로 나오는데, 네 가지를 확실히 외워두면 어떤 형태든 바로 풀 수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네 번째 문제입니다. 슬라이드에 고객 릴레이션 예시 테이블이 보이시죠? 그 테이블을 참고하면서 릴레이션 관련 용어의 의미를 묻는 문제예요.</a:t>
            </a:r>
            <a:br/>
            <a:br/>
            <a:r>
              <a:t>보기를 하나씩 볼게요.</a:t>
            </a:r>
            <a:br/>
            <a:br/>
            <a:r>
              <a:t>① "속성은 릴레이션에서 열을 의미한다" — 속성(attribute)은 테이블의 열(column)에 해당합니다. 고객 테이블에서 '고객아이디', '고객이름', '나이', '등급', '직업' 같은 것들이 각각 하나의 속성이에요. 테이블에서 세로 방향으로 쭉 내려가는 한 줄이 하나의 속성이죠. 이건 맞는 설명입니다.</a:t>
            </a:r>
            <a:br/>
            <a:br/>
            <a:r>
              <a:t>② "투플은 릴레이션에서 행을 의미한다" — 투플(tuple)은 테이블의 행(row)에 해당합니다. 예를 들어, ('apple', '정소화', 20, 'gold', '학생') 이렇게 가로로 한 줄이 하나의 투플이에요. 이것도 맞는 설명이죠.</a:t>
            </a:r>
            <a:br/>
            <a:br/>
            <a:r>
              <a:t>③ "도메인은 릴레이션에서 전체 속성의 개수를 의미한다" — 음, 도메인이 속성의 개수라고요? 잠깐만요. 전체 속성의 개수를 나타내는 용어는 따로 있지 않았나요? 이게 도메인이 맞는 건지 한번 생각해 보세요. 도메인(domain)이라는 단어의 원래 뜻은 '영역', '범위'인데, 속성의 '개수'와는 좀 거리가 있어 보여요.</a:t>
            </a:r>
            <a:br/>
            <a:br/>
            <a:r>
              <a:t>④ "카디널리티는 릴레이션에서 전체 투플의 개수를 의미한다" — 카디널리티(cardinality)는 수학에서 집합의 원소 개수를 뜻하는 용어예요. 릴레이션에서는 투플의 수를 의미합니다. 이건 맞는 설명입니다.</a:t>
            </a:r>
            <a:br/>
            <a:br/>
            <a:r>
              <a:t>어떤 보기가 수상한지 감이 오시죠? 다음 슬라이드에서 확인해 봅시다.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③번입니다.</a:t>
            </a:r>
            <a:br/>
            <a:br/>
            <a:r>
              <a:t>도메인(domain)은 전체 속성의 개수를 의미하는 게 아닙니다! 전체 속성의 개수를 나타내는 용어는 '차수(degree)'예요.</a:t>
            </a:r>
            <a:br/>
            <a:br/>
            <a:r>
              <a:t>그러면 도메인(domain)은 뭘까요? 도메인은 하나의 속성이 가질 수 있는 모든 값들의 집합입니다. 쉽게 말해, "이 칸에 어떤 값들이 들어갈 수 있느냐"의 범위예요.</a:t>
            </a:r>
            <a:br/>
            <a:br/>
            <a:r>
              <a:t>구체적인 예를 들어 설명해 드릴게요.</a:t>
            </a:r>
            <a:br/>
            <a:br/>
            <a:r>
              <a:t>슬라이드의 고객 릴레이션을 보면:</a:t>
            </a:r>
            <a:br/>
            <a:r>
              <a:t>- '나이' 속성의 도메인: 0부터 150까지의 정수. 사람의 나이에 -5나 999가 들어가면 안 되겠죠? 그래서 "0~150 사이의 정수"라는 범위를 정해놓는 겁니다. 이게 나이 속성의 도메인이에요.</a:t>
            </a:r>
            <a:br/>
            <a:r>
              <a:t>- '등급' 속성의 도메인: {gold, silver, bronze, vip}. 이 네 가지 값 중 하나만 들어갈 수 있어요. '다이아몬드'라는 값은 이 도메인에 없으니까 넣을 수 없습니다.</a:t>
            </a:r>
            <a:br/>
            <a:r>
              <a:t>- '직업' 속성의 도메인: 직업명을 나타내는 문자열의 집합. 예를 들어 {학생, 회사원, 공무원, 자영업, ...} 같은 거죠.</a:t>
            </a:r>
            <a:br/>
            <a:br/>
            <a:r>
              <a:t>도메인은 왜 중요할까요? 나중에 배울 '도메인 무결성 제약조건'에서, "속성 값은 반드시 해당 속성의 도메인에 속하는 값이어야 한다"고 규정합니다. 즉, 도메인은 잘못된 데이터가 들어가는 것을 방지하는 일종의 방어막 역할을 해요.</a:t>
            </a:r>
            <a:br/>
            <a:br/>
            <a:r>
              <a:t>헷갈리기 쉬운 용어들을 한번에 정리하면:</a:t>
            </a:r>
            <a:br/>
            <a:r>
              <a:t>- 속성(attribute): 릴레이션의 열(column)</a:t>
            </a:r>
            <a:br/>
            <a:r>
              <a:t>- 투플(tuple): 릴레이션의 행(row)</a:t>
            </a:r>
            <a:br/>
            <a:r>
              <a:t>- 도메인(domain): 하나의 속성이 가질 수 있는 모든 값의 집합</a:t>
            </a:r>
            <a:br/>
            <a:r>
              <a:t>- 차수(degree): 전체 속성(열)의 개수 → 정적</a:t>
            </a:r>
            <a:br/>
            <a:r>
              <a:t>- 카디널리티(cardinality): 전체 투플(행)의 개수 → 동적</a:t>
            </a:r>
            <a:br/>
            <a:br/>
            <a:r>
              <a:t>특히 '도메인'과 '차수'를 혼동하는 실수가 정말 많으니까, 이 두 용어의 차이를 확실히 구분해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문제입니다. 관계 데이터 모델의 용어를 빈칸에 채우는 문제예요.</a:t>
            </a:r>
            <a:br/>
            <a:br/>
            <a:r>
              <a:t>"관계 데이터 모델 관련 용어 중 행은 (Ⓐ), 열은 (Ⓑ), 그리고 (Ⓒ)는 릴레이션이라 부른다."</a:t>
            </a:r>
            <a:br/>
            <a:br/>
            <a:r>
              <a:t>이건 용어 대응 관계를 정확히 알고 있느냐를 묻는 문제입니다.</a:t>
            </a:r>
            <a:br/>
            <a:br/>
            <a:r>
              <a:t>관계 데이터 모델에서는 우리가 일상적으로 쓰는 '테이블, 행, 열'이라는 용어 대신 고유한 전문 용어를 사용해요. 행을 뭐라고 부르는지, 열을 뭐라고 부르는지, 테이블을 뭐라고 부르는지 묻고 있는 거예요.</a:t>
            </a:r>
            <a:br/>
            <a:br/>
            <a:r>
              <a:t>혹시 행이 투플인지 속성인지 헷갈리시는 분 계신가요? 팁을 하나 드릴게요. 투플(tuple)은 원래 수학에서 순서쌍을 의미하는 용어예요. (1, "홍길동", 25) 이런 게 하나의 3-투플(3-tuple)이죠. 이건 값 여러 개를 나란히 늘어놓은 것이니까, 테이블에서 가로 방향, 즉 행(row)에 해당합니다.</a:t>
            </a:r>
            <a:br/>
            <a:br/>
            <a:r>
              <a:t>속성(attribute)은 "어떤 특성을 나타내는 항목"이라는 뜻이에요. '이름', '나이', '학과' 같은 게 개체의 속성이잖아요? 이런 항목들은 테이블의 세로 방향, 즉 열(column)에 해당합니다.</a:t>
            </a:r>
            <a:br/>
            <a:br/>
            <a:r>
              <a:t>보기를 보고 답을 골라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③번입니다. Ⓐ-투플, Ⓑ-속성, Ⓒ-테이블.</a:t>
            </a:r>
            <a:br/>
            <a:br/>
            <a:r>
              <a:t>즉, 행=투플, 열=속성, 테이블=릴레이션입니다.</a:t>
            </a:r>
            <a:br/>
            <a:br/>
            <a:r>
              <a:t>이 용어 대응 관계는 데이터베이스 과목에서 가장 자주 출제되는 내용 중 하나예요. 세 가지 용어 체계를 한번에 정리해 드릴게요.</a:t>
            </a:r>
            <a:br/>
            <a:br/>
            <a:r>
              <a:t>첫째, 관계 데이터 모델의 공식 용어: 릴레이션(relation), 투플(tuple), 속성(attribute)</a:t>
            </a:r>
            <a:br/>
            <a:r>
              <a:t>둘째, 파일 시스템에서 쓰는 용어: 파일(file), 레코드(record), 필드(field)</a:t>
            </a:r>
            <a:br/>
            <a:r>
              <a:t>셋째, 일반적인 테이블 용어: 테이블(table), 행(row), 열(column)</a:t>
            </a:r>
            <a:br/>
            <a:br/>
            <a:r>
              <a:t>이 세 줄이 각각 같은 대상을 다르게 부르는 거예요. 방향에 따라 정리하면:</a:t>
            </a:r>
            <a:br/>
            <a:r>
              <a:t>가로(한 줄의 데이터): 투플 = 레코드 = 행</a:t>
            </a:r>
            <a:br/>
            <a:r>
              <a:t>세로(하나의 항목): 속성 = 필드 = 열</a:t>
            </a:r>
            <a:br/>
            <a:r>
              <a:t>전체(하나의 테이블): 릴레이션 = 파일 = 테이블</a:t>
            </a:r>
            <a:br/>
            <a:br/>
            <a:r>
              <a:t>시험에서는 "레코드에 해당하는 관계 모델 용어는?" → 투플, "필드에 해당하는 것은?" → 속성, 이런 식으로 다양한 방향에서 물어봅니다. 또, "릴레이션 스키마 학생(학번, 이름, 학과)에서 투플은 무엇인가?"라고 물으면, (2024001, 홍길동, 컴퓨터공학)처럼 구체적인 데이터 한 행이 투플이라고 답하면 돼요.</a:t>
            </a:r>
            <a:br/>
            <a:br/>
            <a:r>
              <a:t>이 용어 대응표를 한번 정리해 두면, 이후에 나올 문제 여러 개를 바로바로 풀 수 있으니까, 지금 꼭 메모해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문제입니다. "릴레이션을 구성하는 모든 속성의 개수를 무엇이라 하는가?"라고 묻고 있어요.</a:t>
            </a:r>
            <a:br/>
            <a:br/>
            <a:r>
              <a:t>보기가 도메인, 인스턴스, 차수, 카디널리티 네 개입니다.</a:t>
            </a:r>
            <a:br/>
            <a:br/>
            <a:r>
              <a:t>방금 4번 문제에서 도메인과 차수의 차이를 배웠는데요, 여기서 다시 한번 확인하는 문제예요.</a:t>
            </a:r>
            <a:br/>
            <a:br/>
            <a:r>
              <a:t>'모든 속성의 개수' = '전체 열의 수'. 이걸 가리키는 용어는 보기 네 개 중에 하나입니다.</a:t>
            </a:r>
            <a:br/>
            <a:br/>
            <a:r>
              <a:t>하나씩 소거해 볼게요.</a:t>
            </a:r>
            <a:br/>
            <a:r>
              <a:t>- 도메인: 하나의 속성이 가질 수 있는 값의 집합 → 개수와 무관</a:t>
            </a:r>
            <a:br/>
            <a:r>
              <a:t>- 인스턴스: 특정 시점의 투플 집합 → 이것도 속성 개수와 무관</a:t>
            </a:r>
            <a:br/>
            <a:r>
              <a:t>- 차수: degree → 이건 유력한데...</a:t>
            </a:r>
            <a:br/>
            <a:r>
              <a:t>- 카디널리티: 투플의 수 → 이건 행의 수지 열의 수가 아니에요</a:t>
            </a:r>
            <a:br/>
            <a:br/>
            <a:r>
              <a:t>어떤 게 정답일까요? 한번 생각해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③번, 차수(degree)입니다.</a:t>
            </a:r>
            <a:br/>
            <a:br/>
            <a:r>
              <a:t>차수(degree)는 릴레이션을 구성하는 속성(열)의 수를 의미합니다. 그리고 아주 중요한 특성이 하나 있어요: 차수는 정적(static)인 특성을 가집니다.</a:t>
            </a:r>
            <a:br/>
            <a:br/>
            <a:r>
              <a:t>왜 정적이냐면, 테이블의 구조, 즉 어떤 컬럼이 있는지는 처음 설계할 때 정해지면 운영 중에 잘 바뀌지 않기 때문이에요. 학생(학번, 이름, 학과) 테이블의 차수는 3인데, 이 숫자가 매일 바뀌진 않죠? ALTER TABLE로 컬럼을 추가하거나 삭제하지 않는 한 차수는 고정됩니다.</a:t>
            </a:r>
            <a:br/>
            <a:br/>
            <a:r>
              <a:t>반면 카디널리티(cardinality)는 투플(행)의 수를 의미하고, 동적(dynamic)인 특성을 가져요. 학생이 입학하면 투플이 추가되고, 졸업하면 삭제되니까, 카디널리티는 수시로 변합니다.</a:t>
            </a:r>
            <a:br/>
            <a:br/>
            <a:r>
              <a:t>이 두 개를 짝으로 외우세요:</a:t>
            </a:r>
            <a:br/>
            <a:r>
              <a:t>차수(degree) = 열의 수 = 정적 → 잘 안 변함</a:t>
            </a:r>
            <a:br/>
            <a:r>
              <a:t>카디널리티(cardinality) = 행의 수 = 동적 → 수시로 변함</a:t>
            </a:r>
            <a:br/>
            <a:br/>
            <a:r>
              <a:t>참고로, 도메인은 '속성이 가질 수 있는 값의 집합'이고 (예: 나이의 도메인은 0~150), 인스턴스는 '특정 시점의 투플 집합' (예: 지금 이 순간 학생 테이블에 들어있는 모든 행)입니다. 네 가지 용어를 한번에 정리해 두면 이후 문제를 풀 때 큰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 문제, 속성에 대한 설명 중 옳지 않은 것을 찾는 문제입니다.</a:t>
            </a:r>
            <a:br/>
            <a:br/>
            <a:r>
              <a:t>보기를 하나씩 읽어볼게요.</a:t>
            </a:r>
            <a:br/>
            <a:br/>
            <a:r>
              <a:t>①번 — "릴레이션에서 행에 해당한다." 잠깐, 속성이 행이라고요? 아까 배운 용어 대응을 떠올려 보세요. 속성(attribute)은 열(column)에 해당하고, 행(row)에 해당하는 건 투플(tuple)이었죠? 이 보기가 좀 수상합니다.</a:t>
            </a:r>
            <a:br/>
            <a:br/>
            <a:r>
              <a:t>②번 — "하나의 릴레이션의 모든 속성은 서로 다른 이름으로 구별." 당연하죠. 같은 테이블에 '이름'이라는 컬럼이 두 개 있으면 혼란스러울 테니까요. SQL에서도 같은 테이블에 같은 이름의 컬럼을 만들 수 없습니다.</a:t>
            </a:r>
            <a:br/>
            <a:br/>
            <a:r>
              <a:t>③번 — "속성은 파일 관점에서 데이터 필드(field)에 해당." 맞습니다. 아까 정리한 용어 대응에서 속성(attribute) = 필드(field) = 열(column)이었죠.</a:t>
            </a:r>
            <a:br/>
            <a:br/>
            <a:r>
              <a:t>④번 — "릴레이션을 구성하는 모든 속성의 개수를 차수라고 한다." 맞아요. 방금 6번 문제에서 확인한 내용입니다. 차수(degree) = 속성의 수.</a:t>
            </a:r>
            <a:br/>
            <a:br/>
            <a:r>
              <a:t>①번이 명백히 틀리지 않나요? 속성은 열이지 행이 아닙니다. 답을 확인해 봅시다.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①번입니다.</a:t>
            </a:r>
            <a:br/>
            <a:br/>
            <a:r>
              <a:t>속성(attribute)은 릴레이션에서 열(column)에 해당하지, 행(row)이 아닙니다. 행에 해당하는 것은 투플(tuple)이에요.</a:t>
            </a:r>
            <a:br/>
            <a:br/>
            <a:r>
              <a:t>이 문제는 결국 용어 대응 관계를 정확히 아느냐를 다시 한번 확인하는 문제입니다.</a:t>
            </a:r>
            <a:br/>
            <a:br/>
            <a:r>
              <a:t>용어 대응을 반복해서 확인해 드릴게요:</a:t>
            </a:r>
            <a:br/>
            <a:r>
              <a:t>- 속성(attribute) = 필드(field) = 열(column) → 세로 방향</a:t>
            </a:r>
            <a:br/>
            <a:r>
              <a:t>- 투플(tuple) = 레코드(record) = 행(row) → 가로 방향</a:t>
            </a:r>
            <a:br/>
            <a:br/>
            <a:r>
              <a:t>보기 ①은 '속성 = 행'이라고 했으니 명백한 오류입니다.</a:t>
            </a:r>
            <a:br/>
            <a:br/>
            <a:r>
              <a:t>나머지 보기는 전부 올바른 설명이에요:</a:t>
            </a:r>
            <a:br/>
            <a:r>
              <a:t>②번: 속성 이름의 유일성 — 하나의 릴레이션에서 속성 이름은 중복될 수 없습니다.</a:t>
            </a:r>
            <a:br/>
            <a:r>
              <a:t>③번: 속성과 필드의 대응 — 속성은 파일 시스템의 필드에 해당합니다.</a:t>
            </a:r>
            <a:br/>
            <a:r>
              <a:t>④번: 차수의 정의 — 릴레이션의 모든 속성 개수가 차수(degree)입니다.</a:t>
            </a:r>
            <a:br/>
            <a:br/>
            <a:r>
              <a:t>이 유형의 문제는 하나의 용어를 다른 용어로 바꿔서 틀리게 만드는 패턴이 많아요. "속성은 행", "투플은 열", "릴레이션은 필드" 같은 식으로 슬쩍 바꿔놓으니까, 용어 대응을 확실히 외워두셔야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여덟 번째 문제입니다. "릴레이션에 존재하는 모든 투플의 개수를 무엇이라 하는가?"라고 묻고 있어요.</a:t>
            </a:r>
            <a:br/>
            <a:br/>
            <a:r>
              <a:t>6번 문제에서는 '속성의 개수' = 차수(degree)를 물어봤고, 이번에는 '투플의 개수'를 물어보고 있으니까 짝꿍 문제라고 할 수 있겠네요.</a:t>
            </a:r>
            <a:br/>
            <a:br/>
            <a:r>
              <a:t>보기가 6번 문제와 동일합니다: 도메인, 인스턴스, 차수, 카디널리티.</a:t>
            </a:r>
            <a:br/>
            <a:br/>
            <a:r>
              <a:t>속성의 개수 = 차수(degree)였으니, 투플의 개수는 남은 보기 중에 하나겠죠.</a:t>
            </a:r>
            <a:br/>
            <a:br/>
            <a:r>
              <a:t>도메인은 값의 집합이고, 인스턴스는 투플들의 집합이고, 차수는 속성의 수이고... 그러면 투플의 수는?</a:t>
            </a:r>
            <a:br/>
            <a:br/>
            <a:r>
              <a:t>답을 골라보세요.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④번, 카디널리티(cardinality)입니다.</a:t>
            </a:r>
            <a:br/>
            <a:br/>
            <a:r>
              <a:t>카디널리티(cardinality)는 릴레이션에 존재하는 투플(행)의 수를 의미합니다.</a:t>
            </a:r>
            <a:br/>
            <a:br/>
            <a:r>
              <a:t>카디널리티의 특성을 더 자세히 설명해 드릴게요.</a:t>
            </a:r>
            <a:br/>
            <a:br/>
            <a:r>
              <a:t>첫째, 카디널리티는 동적(dynamic)인 특성을 가집니다. 투플이 삽입되면 카디널리티가 증가하고, 삭제되면 감소합니다. INSERT INTO 학생 VALUES (...); 를 실행하면 카디널리티가 1 늘어나고, DELETE FROM 학생 WHERE ...; 를 실행하면 줄어들어요. 이렇게 DML 연산에 따라 수시로 변하니까 '동적'이라고 합니다.</a:t>
            </a:r>
            <a:br/>
            <a:br/>
            <a:r>
              <a:t>둘째, 카디널리티는 0일 수도 있습니다. 테이블을 만들어놓고 아직 데이터를 하나도 안 넣었으면, 투플이 0개이므로 카디널리티 = 0이에요. 차수(degree)는 0이 될 수 없지만 (속성이 하나도 없는 테이블은 의미가 없으니까), 카디널리티는 0이 가능합니다.</a:t>
            </a:r>
            <a:br/>
            <a:br/>
            <a:r>
              <a:t>다시 한번 비교 정리하면:</a:t>
            </a:r>
            <a:br/>
            <a:r>
              <a:t>차수(degree) = 속성(열)의 개수 → 정적, 잘 안 변함, 0 불가</a:t>
            </a:r>
            <a:br/>
            <a:r>
              <a:t>카디널리티(cardinality) = 투플(행)의 개수 → 동적, 수시로 변함, 0 가능</a:t>
            </a:r>
            <a:br/>
            <a:br/>
            <a:r>
              <a:t>참고로, 카디널리티라는 용어는 E-R 모델에서도 나오는데요, 거기서는 '관계의 대응 수'를 뜻해요. 예를 들어 1:1, 1:N, M:N 같은 것. 같은 단어지만 맥락에 따라 의미가 달라지니까 주의하세요. 릴레이션에서의 카디널리티 = 투플의 수, E-R 모델에서의 카디널리티 = 대응 수. 구분해서 기억해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아홉 번째 문제입니다. 슬라이드에 테이블 하나가 보이시죠? 이 테이블을 보고 릴레이션의 개수, 속성의 개수, 투플의 개수를 파악하는 문제예요.</a:t>
            </a:r>
            <a:br/>
            <a:br/>
            <a:r>
              <a:t>이 문제는 지금까지 배운 개념을 실제 테이블에 적용하는 연습이에요.</a:t>
            </a:r>
            <a:br/>
            <a:br/>
            <a:r>
              <a:t>테이블을 잘 관찰해 보세요.</a:t>
            </a:r>
            <a:br/>
            <a:r>
              <a:t>첫째, 테이블이 몇 개인가요? 화면에 테이블이 하나만 보이니까 릴레이션은 1개입니다.</a:t>
            </a:r>
            <a:br/>
            <a:r>
              <a:t>둘째, 열(세로)은 몇 개인가요? 헤더를 보면 고객ID, 고객이름, 나이 — 이렇게 3개 열이 있어요.</a:t>
            </a:r>
            <a:br/>
            <a:r>
              <a:t>셋째, 행(가로)은 몇 개인가요? 주의할 점! 헤더 행은 투플이 아닙니다. 헤더는 스키마의 일부이고, 실제 데이터가 들어있는 행만 투플로 카운트해요. 데이터 행을 세어보면 5개가 보이죠?</a:t>
            </a:r>
            <a:br/>
            <a:br/>
            <a:r>
              <a:t>이걸 릴레이션 용어로 바꾸면: 릴레이션 1개, 속성 3개(차수=3), 투플 5개(카디널리티=5).</a:t>
            </a:r>
            <a:br/>
            <a:br/>
            <a:r>
              <a:t>보기에서 이 조합을 찾아보세요.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④번입니다. 릴레이션 1개, 속성 3개, 투플 5개.</a:t>
            </a:r>
            <a:br/>
            <a:br/>
            <a:r>
              <a:t>슬라이드의 테이블을 분석한 결과를 정리하면:</a:t>
            </a:r>
            <a:br/>
            <a:r>
              <a:t>- 테이블이 1개이므로 릴레이션은 1개</a:t>
            </a:r>
            <a:br/>
            <a:r>
              <a:t>- 열이 고객ID, 고객이름, 나이 3개이므로 속성은 3개 (차수 = 3)</a:t>
            </a:r>
            <a:br/>
            <a:r>
              <a:t>- 데이터 행이 5개이므로 투플은 5개 (카디널리티 = 5)</a:t>
            </a:r>
            <a:br/>
            <a:br/>
            <a:r>
              <a:t>여기서 흔히 빠지는 함정 두 가지를 알려드릴게요.</a:t>
            </a:r>
            <a:br/>
            <a:br/>
            <a:r>
              <a:t>첫 번째 함정: "릴레이션 3개"라는 보기에 속지 마세요. 열이 3개라서 '3'이라는 숫자가 보이니까 "릴레이션 3개"라고 착각할 수 있는데, 릴레이션의 개수는 테이블의 개수입니다. 열의 개수가 아니에요. 테이블이 1개면 릴레이션도 1개예요.</a:t>
            </a:r>
            <a:br/>
            <a:br/>
            <a:r>
              <a:t>두 번째 함정: 헤더 행을 투플로 세지 마세요. 테이블의 맨 윗줄에 있는 고객ID, 고객이름, 나이는 속성 이름이지 데이터가 아닙니다. 이건 스키마에 해당하는 부분이에요. 투플은 실제 데이터가 들어있는 행만 세야 합니다.</a:t>
            </a:r>
            <a:br/>
            <a:br/>
            <a:r>
              <a:t>이런 문제는 시험에서 테이블 그림을 주고 "다음 릴레이션에 대한 설명으로 옳은 것은?"이라고 자주 물어봐요. 테이블 → 릴레이션 개수, 열 → 속성(차수), 행(헤더 제외) → 투플(카디널리티)로 대응시키면 바로 풀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열 번째 문제, 서술형 문제입니다.</a:t>
            </a:r>
            <a:br/>
            <a:br/>
            <a:r>
              <a:t>문제를 읽어볼게요. "한 릴레이션의 스키마가 속성 5개, 후보키 3개를 가지고, 그 스키마에 대응하는 릴레이션 인스턴스가 10개의 투플을 갖는다면 그 릴레이션의 카디널리티는?"</a:t>
            </a:r>
            <a:br/>
            <a:br/>
            <a:r>
              <a:t>이 문제에서 주어진 정보가 세 가지예요:</a:t>
            </a:r>
            <a:br/>
            <a:r>
              <a:t>첫째, 속성 5개 — 이건 뭘 의미하죠? 속성의 개수는 차수(degree)이니까, 차수 = 5입니다. 카디널리티와는 관련이 없어요.</a:t>
            </a:r>
            <a:br/>
            <a:r>
              <a:t>둘째, 후보키 3개 — 이건 키의 구조에 관한 정보예요. 투플을 유일하게 식별할 수 있는 최소한의 속성 조합이 3가지 있다는 뜻이죠. 이것도 카디널리티와는 직접적인 관련이 없습니다.</a:t>
            </a:r>
            <a:br/>
            <a:r>
              <a:t>셋째, 투플 10개 — 카디널리티의 정의가 뭐였죠? 릴레이션에 존재하는 전체 투플의 개수입니다.</a:t>
            </a:r>
            <a:br/>
            <a:br/>
            <a:r>
              <a:t>그러면 카디널리티는 얼마일까요? 답을 적어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10입니다.</a:t>
            </a:r>
            <a:br/>
            <a:br/>
            <a:r>
              <a:t>카디널리티(cardinality) = 릴레이션에 존재하는 전체 투플의 개수. 문제에서 투플이 10개라고 했으니까, 카디널리티는 그냥 10이에요.</a:t>
            </a:r>
            <a:br/>
            <a:br/>
            <a:r>
              <a:t>이 문제의 진짜 의도는 '낚시'를 얼마나 잘 피하느냐입니다. 속성 5개, 후보키 3개라는 정보를 줘서 "뭔가 이 숫자들을 더하거나 곱하거나 해서 계산해야 하나?" 하는 생각이 들게 만들어요. 하지만 카디널리티는 단순히 투플의 수입니다. 다른 정보와 아무런 계산 관계가 없어요.</a:t>
            </a:r>
            <a:br/>
            <a:br/>
            <a:r>
              <a:t>각 정보가 뭘 의미하는지 정확히 구분할 수 있어야 합니다:</a:t>
            </a:r>
            <a:br/>
            <a:r>
              <a:t>- 속성의 개수 = 5개 → 이건 차수(degree)에 해당. 카디널리티와 무관.</a:t>
            </a:r>
            <a:br/>
            <a:r>
              <a:t>- 후보키의 개수 = 3개 → 이건 키 구조에 대한 정보. 카디널리티와 무관.</a:t>
            </a:r>
            <a:br/>
            <a:r>
              <a:t>- 투플의 개수 = 10개 → 바로 이게 카디널리티!</a:t>
            </a:r>
            <a:br/>
            <a:br/>
            <a:r>
              <a:t>만약 "이 릴레이션의 차수는?"이라고 물었으면 답은 5고, "카디널리티는?"이라고 물었으니 답은 10입니다.</a:t>
            </a:r>
            <a:br/>
            <a:br/>
            <a:r>
              <a:t>서술형 문제에서는 이렇게 여러 가지 정보를 한꺼번에 주고 그중에서 관련 있는 것만 골라쓰도록 하는 패턴이 자주 나옵니다. 용어의 정의를 정확히 알고 있어야 낚이지 않아요.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열한 번째 문제입니다. NULL(널) 값에 대한 문제예요.</a:t>
            </a:r>
            <a:br/>
            <a:br/>
            <a:r>
              <a:t>NULL은 데이터베이스에서 아주 특별하고 중요한 개념입니다. 프로그래밍을 좀 해 보신 분들은 Java의 null이나 Python의 None을 떠올리실 수도 있는데, 개념적으로 비슷한 면이 있어요.</a:t>
            </a:r>
            <a:br/>
            <a:br/>
            <a:r>
              <a:t>보기를 읽어볼게요.</a:t>
            </a:r>
            <a:br/>
            <a:br/>
            <a:r>
              <a:t>① "아직 모르는 값이다" — NULL의 첫 번째 의미예요. 예를 들어, 어떤 학생의 전화번호를 아직 입력받지 못해서 '모르는 상태'라면 NULL이 들어갑니다. 이걸 영어로는 'unknown value'라고 해요.</a:t>
            </a:r>
            <a:br/>
            <a:br/>
            <a:r>
              <a:t>② "적합한 값이 없다" — NULL의 두 번째 의미입니다. 예를 들어, 미혼인 사람의 '배우자 이름' 속성에는 적합한 값 자체가 없잖아요? 결혼을 안 했으니까. 이런 경우에도 NULL을 씁니다. 이걸 'not applicable'이라고 해요.</a:t>
            </a:r>
            <a:br/>
            <a:br/>
            <a:r>
              <a:t>③ "숫자 0이나 공백 문자와 같은 의미로 해석해야 한다" — 음... NULL이 0이나 공백이랑 같다고요? 시험 점수가 0점인 것과 시험을 안 본 것은 완전히 다른 상황 아닌가요?</a:t>
            </a:r>
            <a:br/>
            <a:br/>
            <a:r>
              <a:t>④ "기본키로 선택된 속성은 널 값을 가질 수 없다" — 이건 개체 무결성 제약조건의 내용이에요. 기본키가 NULL이면 투플을 식별할 수 없으니까, 기본키에는 NULL이 허용되지 않습니다.</a:t>
            </a:r>
            <a:br/>
            <a:br/>
            <a:r>
              <a:t>③번이 수상하지 않나요? 과연 NULL = 0일까요? 다음 슬라이드에서 확인합시다.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③번입니다.</a:t>
            </a:r>
            <a:br/>
            <a:br/>
            <a:r>
              <a:t>NULL은 숫자 0이나 공백 문자(' ')와 완전히 다른 개념입니다! 이건 데이터베이스에서 정말 정말 중요한 개념이에요. 많은 초보자가 혼동하는 부분이기도 하고요.</a:t>
            </a:r>
            <a:br/>
            <a:br/>
            <a:r>
              <a:t>실생활 비유로 세 가지를 비교해 드릴게요.</a:t>
            </a:r>
            <a:br/>
            <a:br/>
            <a:r>
              <a:t>상황: 어떤 학생의 시험 점수를 기록하는 칸이 있다고 합시다.</a:t>
            </a:r>
            <a:br/>
            <a:br/>
            <a:r>
              <a:t>첫째, 시험 점수가 0점: "이 학생은 시험을 봤는데 하나도 못 맞아서 0점을 받았다." 이건 '값이 있는' 상태예요. 그 값이 0이라는 구체적인 숫자인 거죠. 데이터베이스에는 정수 0이 저장됩니다.</a:t>
            </a:r>
            <a:br/>
            <a:br/>
            <a:r>
              <a:t>둘째, 시험 점수가 NULL: "이 학생은 시험을 아직 안 봤거나, 봤는데 점수를 아직 입력하지 못했거나, 아무튼 점수를 모른다." 이건 '값 자체가 없는' 상태예요. 0점이 아니라, 점수라는 정보 자체가 존재하지 않는 겁니다.</a:t>
            </a:r>
            <a:br/>
            <a:br/>
            <a:r>
              <a:t>셋째, 시험 점수가 빈 문자열 '': "점수 칸에 빈 문자열이 들어가 있다." 이건 빈 문자열이라는 '구체적인 값이 있는' 상태예요. 숫자 필드에서는 잘 안 쓰지만, 문자열 필드에서는 빈 문자열('')과 NULL이 다릅니다.</a:t>
            </a:r>
            <a:br/>
            <a:br/>
            <a:r>
              <a:t>SQL에서 NULL이 특별 취급되는 구체적인 사례를 알려드릴게요.</a:t>
            </a:r>
            <a:br/>
            <a:br/>
            <a:r>
              <a:t>첫째, 비교 연산: WHERE 점수 = NULL 이렇게 쓰면 안 됩니다. NULL은 '모르는 값'이니까 무엇과도 같다/다르다를 판단할 수 없어요. 그래서 WHERE 점수 IS NULL 이라고 IS NULL 키워드를 써야 합니다.</a:t>
            </a:r>
            <a:br/>
            <a:br/>
            <a:r>
              <a:t>둘째, 산술 연산: 5 + NULL = NULL, 100 * NULL = NULL. 모르는 값에 뭘 더하거나 곱해도 결과는 '모름'이에요.</a:t>
            </a:r>
            <a:br/>
            <a:br/>
            <a:r>
              <a:t>셋째, 논리 연산: NULL AND TRUE = UNKNOWN. SQL에서는 TRUE, FALSE 외에 UNKNOWN이라는 세 번째 논리값이 존재하는데, 이게 NULL 때문에 생긴 거예요. 이걸 '3-valued logic(3값 논리)'라고 합니다.</a:t>
            </a:r>
            <a:br/>
            <a:br/>
            <a:r>
              <a:t>①②④는 모두 올바른 설명입니다. NULL은 아직 모르는 값이거나 적합한 값이 없을 때 사용하며, 기본키에는 NULL이 들어갈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열두 번째 문제입니다. 키(Key)의 종류를 구분하는 문제인데요, 슬라이드에 키들의 관계를 보여주는 그림이 있으니 참고해 보세요.</a:t>
            </a:r>
            <a:br/>
            <a:br/>
            <a:r>
              <a:t>문제를 읽어볼게요. "하나의 릴레이션 내 속성 또는 속성들의 집합으로 구성되고, 모든 투플에 대해 유일성은 만족시키지만 최소성은 만족시키지 못하는 키는?"</a:t>
            </a:r>
            <a:br/>
            <a:br/>
            <a:r>
              <a:t>여기서 핵심 용어 두 가지를 명확히 이해해야 합니다.</a:t>
            </a:r>
            <a:br/>
            <a:br/>
            <a:r>
              <a:t>유일성(uniqueness): 해당 키의 값으로 릴레이션 내의 투플을 유일하게 식별할 수 있는 성질이에요. 쉽게 말하면, 그 키 값이 같은 투플이 두 개 이상 존재하지 않는다는 뜻입니다. 예를 들어, 학번이 같은 학생이 두 명이면 안 되잖아요? 학번은 유일성을 만족하는 속성이에요.</a:t>
            </a:r>
            <a:br/>
            <a:br/>
            <a:r>
              <a:t>최소성(minimality): 키를 구성하는 속성의 집합에서 어느 하나라도 빠지면 유일하게 식별할 수 없는 성질이에요. 즉, 불필요한 속성 없이 꼭 필요한 최소한의 속성만으로 구성되어야 한다는 뜻입니다. 예를 들어, {학번}만으로도 학생을 식별할 수 있는데 굳이 {학번, 이름}을 키로 쓰면? '이름'이 불필요하게 포함된 거니까 최소성을 만족하지 못해요.</a:t>
            </a:r>
            <a:br/>
            <a:br/>
            <a:r>
              <a:t>자, 문제로 돌아오면: 유일성 O, 최소성 X인 키. 즉, 투플을 식별할 수는 있지만 속성이 필요 이상으로 많이 포함된 키. 이런 키를 뭐라고 부를까요?</a:t>
            </a:r>
            <a:br/>
            <a:br/>
            <a:r>
              <a:t>보기에서 찾아보세요.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②번, 슈퍼키(Super Key)입니다.</a:t>
            </a:r>
            <a:br/>
            <a:br/>
            <a:r>
              <a:t>슈퍼키는 유일성만 만족하면 되고, 최소성은 요구하지 않는 키예요. 그래서 속성을 필요 이상으로 많이 포함하고 있어도 괜찮습니다.</a:t>
            </a:r>
            <a:br/>
            <a:br/>
            <a:r>
              <a:t>키의 종류를 포함 관계와 함께 구체적인 예를 들어 정리해 볼게요.</a:t>
            </a:r>
            <a:br/>
            <a:br/>
            <a:r>
              <a:t>학생 릴레이션: 학생(학번, 이름, 나이, 학과)에서 학번은 각 학생마다 고유하다고 가정합시다.</a:t>
            </a:r>
            <a:br/>
            <a:br/>
            <a:r>
              <a:t>슈퍼키의 예:</a:t>
            </a:r>
            <a:br/>
            <a:r>
              <a:t>- {학번} → 학번만으로 학생을 식별 가능 → 유일성 O</a:t>
            </a:r>
            <a:br/>
            <a:r>
              <a:t>- {학번, 이름} → 학번이 포함되어 있으므로 당연히 식별 가능 → 유일성 O, 하지만 '이름'이 불필요 → 최소성 X</a:t>
            </a:r>
            <a:br/>
            <a:r>
              <a:t>- {학번, 이름, 나이} → 역시 학번이 있으니 식별 가능 → 유일성 O, '이름'과 '나이'가 불필요 → 최소성 X</a:t>
            </a:r>
            <a:br/>
            <a:r>
              <a:t>- {학번, 이름, 나이, 학과} → 모든 속성 조합 → 유일성 O, 최소성 X</a:t>
            </a:r>
            <a:br/>
            <a:br/>
            <a:r>
              <a:t>위의 네 가지가 전부 슈퍼키예요. 학번이 포함되어 있기만 하면 뭘 더 붙여도 유일성은 유지되니까요.</a:t>
            </a:r>
            <a:br/>
            <a:br/>
            <a:r>
              <a:t>후보키(Candidate Key)의 예:</a:t>
            </a:r>
            <a:br/>
            <a:r>
              <a:t>- {학번} → 유일성 O, 최소성 O (학번 하나만으로 식별 가능하고, 더 줄일 수 없음)</a:t>
            </a:r>
            <a:br/>
            <a:r>
              <a:t>- 만약 주민등록번호도 고유하다면, {주민등록번호}도 후보키</a:t>
            </a:r>
            <a:br/>
            <a:br/>
            <a:r>
              <a:t>후보키는 슈퍼키 중에서 최소성까지 만족하는 것만 뽑은 거예요.</a:t>
            </a:r>
            <a:br/>
            <a:br/>
            <a:r>
              <a:t>기본키(Primary Key): 후보키 중에서 대표로 딱 하나를 선택한 것. 예) 학번을 기본키로 선택</a:t>
            </a:r>
            <a:br/>
            <a:r>
              <a:t>대체키(Alternate Key): 후보키 중 기본키가 되지 못한 나머지. 예) 주민등록번호</a:t>
            </a:r>
            <a:br/>
            <a:br/>
            <a:r>
              <a:t>포함 관계를 도식화하면: 슈퍼키 ⊇ 후보키 ⊇ 기본키. 즉, 모든 후보키는 슈퍼키이지만, 모든 슈퍼키가 후보키인 건 아닙니다. 후보키는 슈퍼키 중에서 '불필요한 속성을 걷어낸' 것이니까요.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열세 번째 문제, 빈칸 채우기입니다.</a:t>
            </a:r>
            <a:br/>
            <a:br/>
            <a:r>
              <a:t>"투플을 유일하게 구별하며 검색·정렬에 주로 사용하는 키는 (Ⓐ)이고, 릴레이션들 사이의 관계를 표현하는 키는 (Ⓑ)이다."</a:t>
            </a:r>
            <a:br/>
            <a:br/>
            <a:r>
              <a:t>Ⓐ부터 생각해 볼게요. "투플을 유일하게 구별"한다고 했으니, 유일성을 만족하는 키겠죠? 그러면 슈퍼키, 후보키, 기본키 전부 해당될 수 있어요. 하지만 추가 조건이 있습니다: "검색·정렬에 주로 사용하는 키". 이 부분이 핵심이에요. 후보키가 여러 개 있을 수 있지만, 그중에서 검색과 정렬의 기준으로 '주로' 사용하는 것은 대표로 선정된 키 하나입니다.</a:t>
            </a:r>
            <a:br/>
            <a:br/>
            <a:r>
              <a:t>Ⓑ를 생각해 볼게요. "릴레이션들 사이의 관계를 표현"한다고 했으니, 두 개 이상의 릴레이션을 연결하는 역할을 하는 키예요. 어떤 릴레이션의 속성이 다른 릴레이션의 기본키를 가리키면서 두 테이블 사이의 관계를 만들어주는 키... 뭘까요?</a:t>
            </a:r>
            <a:br/>
            <a:br/>
            <a:r>
              <a:t>보기를 보고 Ⓐ와 Ⓑ를 맞춰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②번입니다. Ⓐ-기본키(Primary Key), Ⓑ-외래키(Foreign Key).</a:t>
            </a:r>
            <a:br/>
            <a:br/>
            <a:r>
              <a:t>Ⓐ가 왜 기본키인지 설명해 드릴게요. 후보키도 투플을 유일하게 구별하긴 합니다. 하지만 후보키가 여러 개 있을 때, 그중에서 검색과 정렬에 '주로' 사용하도록 대표로 선택한 키가 기본키예요. 예를 들어 학생 테이블에 학번과 주민등록번호 둘 다 후보키라면, 보통 학번을 기본키로 지정합니다. 왜냐하면 학번이 더 짧고 관리하기 편하니까요. 그러면 학생 데이터를 검색할 때 "SELECT * FROM 학생 WHERE 학번 = '2024001'" 이렇게 학번으로 찾고, 정렬할 때도 학번 순으로 정렬하죠. 주민등록번호는 대체키가 됩니다.</a:t>
            </a:r>
            <a:br/>
            <a:br/>
            <a:r>
              <a:t>기본키의 중요한 특성 두 가지:</a:t>
            </a:r>
            <a:br/>
            <a:r>
              <a:t>첫째, NULL 불가 — 기본키에는 NULL이 들어갈 수 없습니다 (개체 무결성).</a:t>
            </a:r>
            <a:br/>
            <a:r>
              <a:t>둘째, 중복 불가 — 같은 기본키 값을 가진 투플이 두 개 이상 존재할 수 없습니다 (유일성).</a:t>
            </a:r>
            <a:br/>
            <a:br/>
            <a:r>
              <a:t>Ⓑ가 왜 외래키인지 설명해 드릴게요. 외래키(Foreign Key)는 한 릴레이션의 속성이 다른 릴레이션의 기본키를 참조하는 것이에요. 예를 들어, 수강(학번, 과목코드, 성적) 릴레이션에서 '학번'은 학생 릴레이션의 기본키 '학번'을 참조하는 외래키입니다. 이렇게 외래키를 통해 "수강 릴레이션의 이 투플은 학생 릴레이션의 저 투플과 관련이 있다"는 관계를 표현할 수 있어요.</a:t>
            </a:r>
            <a:br/>
            <a:br/>
            <a:r>
              <a:t>외래키가 없었다면 릴레이션들은 각각 독립적으로 존재할 뿐, 서로 연결될 방법이 없습니다. 외래키 덕분에 관계형 데이터베이스에서 여러 테이블을 JOIN해서 의미있는 데이터를 뽑아낼 수 있는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열네 번째 문제입니다. 후보키에 대한 설명 중 옳지 않은 것을 찾아야 해요.</a:t>
            </a:r>
            <a:br/>
            <a:br/>
            <a:r>
              <a:t>보기를 하나씩 살펴볼게요.</a:t>
            </a:r>
            <a:br/>
            <a:br/>
            <a:r>
              <a:t>①번 — "다른 릴레이션의 기본키와 대응되어 참조 무결성 표현에 사용." 잠깐, 다른 릴레이션의 기본키와 대응된다고요? 그리고 참조 무결성 표현에 사용된다고요? 후보키가 그런 역할을 하나요? 후보키는 릴레이션 '내부'에서 투플을 식별하는 키인데, 다른 릴레이션과의 관계를 표현하는 건 좀 다른 얘기 같은데요.</a:t>
            </a:r>
            <a:br/>
            <a:br/>
            <a:r>
              <a:t>②번 — "후보키는 유일성과 최소성을 모두 만족해야 한다." 네, 이건 후보키의 정의 그 자체입니다. 유일성(투플을 유일하게 식별) + 최소성(불필요한 속성 없음) = 후보키.</a:t>
            </a:r>
            <a:br/>
            <a:br/>
            <a:r>
              <a:t>③번 — "모든 릴레이션은 반드시 하나 이상의 후보키를 갖는다." 맞아요. 극단적으로 따져봐도, 릴레이션의 모든 속성을 다 합친 집합은 투플의 유일성 특성 때문에 반드시 유일하게 식별 가능하니까, 최소한 하나의 후보키는 항상 존재합니다.</a:t>
            </a:r>
            <a:br/>
            <a:br/>
            <a:r>
              <a:t>④번 — "투플을 유일하게 구별해주는 속성 또는 속성들의 집합이다." 맞습니다. 후보키의 역할이에요.</a:t>
            </a:r>
            <a:br/>
            <a:br/>
            <a:r>
              <a:t>①번이 뭔가 후보키가 아닌 다른 키의 설명 같지 않나요? 다음 슬라이드에서 확인합시다.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①번입니다.</a:t>
            </a:r>
            <a:br/>
            <a:br/>
            <a:r>
              <a:t>"다른 릴레이션의 기본키와 대응되어 참조 무결성을 표현하는 것"은 후보키가 아니라 외래키(Foreign Key)의 설명입니다.</a:t>
            </a:r>
            <a:br/>
            <a:br/>
            <a:r>
              <a:t>후보키와 외래키의 역할 차이를 명확히 구분해 드릴게요.</a:t>
            </a:r>
            <a:br/>
            <a:br/>
            <a:r>
              <a:t>후보키(Candidate Key)는 릴레이션 '내부'에서 투플을 식별하는 역할을 합니다. "이 릴레이션 안에서 각 투플을 서로 구별해주는 최소한의 속성 조합이 뭐냐?" 이게 후보키예요. 후보키는 자기 릴레이션 안에서만 의미가 있고, 다른 릴레이션과의 관계와는 무관합니다.</a:t>
            </a:r>
            <a:br/>
            <a:br/>
            <a:r>
              <a:t>외래키(Foreign Key)는 릴레이션 '외부'의 다른 릴레이션과의 관계를 표현하는 역할을 합니다. "이 릴레이션의 이 속성은 저 릴레이션의 기본키를 가리키고 있다"는 걸 나타내요. 외래키가 있어야 릴레이션 사이의 참조 관계가 생기고, 그 참조 관계의 무결성을 보장하는 게 참조 무결성 제약조건입니다.</a:t>
            </a:r>
            <a:br/>
            <a:br/>
            <a:r>
              <a:t>비유하자면:</a:t>
            </a:r>
            <a:br/>
            <a:r>
              <a:t>후보키 = "나를 식별해 주는 키" → 주민등록번호처럼 나 자신을 구별하는 역할</a:t>
            </a:r>
            <a:br/>
            <a:r>
              <a:t>외래키 = "남의 집 주소를 적어둔 키" → 내 속성 중에 다른 테이블의 기본키 값을 적어놓은 것</a:t>
            </a:r>
            <a:br/>
            <a:br/>
            <a:r>
              <a:t>②③④는 전부 후보키에 대한 올바른 설명입니다:</a:t>
            </a:r>
            <a:br/>
            <a:r>
              <a:t>② 유일성 + 최소성 = 후보키의 정의</a:t>
            </a:r>
            <a:br/>
            <a:r>
              <a:t>③ 모든 릴레이션은 최소한 하나의 후보키를 가짐</a:t>
            </a:r>
            <a:br/>
            <a:r>
              <a:t>④ 투플을 유일하게 구별하는 속성 집합 = 후보키의 역할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열다섯 번째 문제입니다. 무결성 제약조건에 대한 문제예요. "개체 무결성 제약조건에 대한 설명으로 적합한 것은?"을 고르라고 합니다.</a:t>
            </a:r>
            <a:br/>
            <a:br/>
            <a:r>
              <a:t>관계 데이터 모델에는 세 가지 주요 무결성 제약조건이 있어요:</a:t>
            </a:r>
            <a:br/>
            <a:r>
              <a:t>첫째, 도메인 무결성 제약조건 — 속성 값이 해당 도메인에 속하는 값이어야 한다</a:t>
            </a:r>
            <a:br/>
            <a:r>
              <a:t>둘째, 개체 무결성 제약조건 — 기본키와 관련된 제약</a:t>
            </a:r>
            <a:br/>
            <a:r>
              <a:t>셋째, 참조 무결성 제약조건 — 외래키와 관련된 제약</a:t>
            </a:r>
            <a:br/>
            <a:br/>
            <a:r>
              <a:t>문제에서 묻는 건 '개체 무결성'이니까, 기본키와 관련된 설명을 찾아야 합니다.</a:t>
            </a:r>
            <a:br/>
            <a:br/>
            <a:r>
              <a:t>보기를 보면:</a:t>
            </a:r>
            <a:br/>
            <a:r>
              <a:t>① "릴레이션 내 투플들이 각 속성의 도메인 값만 가져야 한다" → 이건 '도메인' 값, '도메인'이라는 키워드가 보이죠? 도메인 무결성 같아요.</a:t>
            </a:r>
            <a:br/>
            <a:r>
              <a:t>② "릴레이션은 참조할 수 없는 외래키 값을 가질 수 없다" → '외래키', '참조'라는 키워드. 참조 무결성 느낌.</a:t>
            </a:r>
            <a:br/>
            <a:r>
              <a:t>③ "외래키 값은 참조되는 릴레이션의 기본키 값과 동일해야 한다" → 역시 '외래키', '참조'가 나오네요. 참조 무결성.</a:t>
            </a:r>
            <a:br/>
            <a:r>
              <a:t>④ "기본키를 구성하는 모든 속성은 널 값을 가질 수 없다" → '기본키', '널 값'이라는 키워드. 기본키와 관련된 제약. 이게 개체 무결성?</a:t>
            </a:r>
            <a:br/>
            <a:br/>
            <a:r>
              <a:t>어떤 보기가 개체 무결성일까요? 각 보기의 키워드를 잘 매칭시켜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④번입니다. "기본키를 구성하는 모든 속성은 널 값을 가질 수 없다."</a:t>
            </a:r>
            <a:br/>
            <a:br/>
            <a:r>
              <a:t>개체 무결성 제약조건(Entity Integrity Constraint)의 핵심은 딱 하나입니다: "기본키에 NULL 없다!"</a:t>
            </a:r>
            <a:br/>
            <a:br/>
            <a:r>
              <a:t>왜 기본키에 NULL이 들어가면 안 될까요? 이유를 논리적으로 설명해 드릴게요.</a:t>
            </a:r>
            <a:br/>
            <a:br/>
            <a:r>
              <a:t>기본키의 역할은 릴레이션 내의 투플을 유일하게 식별하는 것이에요. 그런데 기본키가 NULL이면 그 투플을 식별할 방법이 없습니다. 예를 들어, 학생 테이블에서 기본키가 학번인데 어떤 학생의 학번이 NULL이라면? "학번이 NULL인 학생의 성적을 조회해 줘"라고 했을 때, NULL은 '알 수 없는 값'이니까 어떤 학생을 가리키는지 알 수가 없어요. 더 심각한 건, 학번이 NULL인 학생이 여러 명이면 그들을 서로 구별할 수도 없습니다. NULL = NULL이 참인지 거짓인지조차 판단할 수 없거든요 (SQL에서 NULL = NULL은 UNKNOWN입니다).</a:t>
            </a:r>
            <a:br/>
            <a:br/>
            <a:r>
              <a:t>주의할 점: "기본키를 구성하는 '모든' 속성"이라고 했어요. 기본키가 여러 속성으로 구성된 복합 기본키인 경우, 그 속성들 중 어느 하나라도 NULL이면 안 됩니다. 예를 들어, 수강(학번, 과목코드) 릴레이션에서 기본키가 {학번, 과목코드}라면, 학번도 NULL이면 안 되고 과목코드도 NULL이면 안 돼요.</a:t>
            </a:r>
            <a:br/>
            <a:br/>
            <a:r>
              <a:t>나머지 보기는 각각 다른 무결성에 해당합니다:</a:t>
            </a:r>
            <a:br/>
            <a:r>
              <a:t>① "속성이 도메인 값만 가져야 한다" → 도메인 무결성 제약조건</a:t>
            </a:r>
            <a:br/>
            <a:r>
              <a:t>② "참조할 수 없는 외래키 값 불가" → 참조 무결성 제약조건</a:t>
            </a:r>
            <a:br/>
            <a:r>
              <a:t>③ "외래키 값 = 참조되는 기본키 값" → 참조 무결성 제약조건</a:t>
            </a:r>
            <a:br/>
            <a:br/>
            <a:r>
              <a:t>무결성 3총사를 외우는 팁: '도-개-참'으로 외우세요.</a:t>
            </a:r>
            <a:br/>
            <a:r>
              <a:t>도메인 무결성: 값의 범위(도메인) 체크</a:t>
            </a:r>
            <a:br/>
            <a:r>
              <a:t>개체 무결성: 기본키 NULL 금지</a:t>
            </a:r>
            <a:br/>
            <a:r>
              <a:t>참조 무결성: 외래키가 유효한 값만 참조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열여섯 번째 문제입니다. "외래키와 관련이 있는 무결성 제약조건은?"을 물어보고 있어요.</a:t>
            </a:r>
            <a:br/>
            <a:br/>
            <a:r>
              <a:t>앞 문제에서 무결성 3총사를 배웠으니까, 이건 바로 연결되는 문제입니다.</a:t>
            </a:r>
            <a:br/>
            <a:br/>
            <a:r>
              <a:t>도메인 무결성 → 속성 값의 범위</a:t>
            </a:r>
            <a:br/>
            <a:r>
              <a:t>개체 무결성 → 기본키</a:t>
            </a:r>
            <a:br/>
            <a:r>
              <a:t>참조 무결성 → 외래키</a:t>
            </a:r>
            <a:br/>
            <a:br/>
            <a:r>
              <a:t>외래키와 관련된 무결성은? 이름에서부터 힌트가 나오죠. '참조'라는 말이 외래키의 역할 자체를 나타내고 있으니까요. 외래키는 다른 릴레이션의 기본키를 '참조'하는 속성이에요.</a:t>
            </a:r>
            <a:br/>
            <a:br/>
            <a:r>
              <a:t>보기에서 골라 보세요.</a:t>
            </a:r>
            <a:br/>
            <a:br/>
            <a:r>
              <a:t>참고로, ④번의 '기본키 무결성 제약조건'이라는 것은 공식적인 용어가 아닙니다. 이건 함정 보기예요. 기본키와 관련된 제약조건의 정식 이름은 '개체 무결성 제약조건'입니다.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③번, 참조 무결성 제약조건(Referential Integrity Constraint)입니다.</a:t>
            </a:r>
            <a:br/>
            <a:br/>
            <a:r>
              <a:t>참조 무결성 제약조건의 핵심을 한 문장으로 요약하면: "외래키가 참조할 수 없는(존재하지 않는) 값을 가질 수 없다."</a:t>
            </a:r>
            <a:br/>
            <a:br/>
            <a:r>
              <a:t>이게 무슨 뜻인지 구체적인 예를 들어 설명해 드릴게요.</a:t>
            </a:r>
            <a:br/>
            <a:br/>
            <a:r>
              <a:t>학생(학번, 이름, 학과)과 수강(학번, 과목코드, 성적)이라는 두 릴레이션이 있다고 합시다. 수강 릴레이션의 '학번'은 학생 릴레이션의 기본키 '학번'을 참조하는 외래키예요.</a:t>
            </a:r>
            <a:br/>
            <a:br/>
            <a:r>
              <a:t>참조 무결성이 보장하는 것: 수강 릴레이션에 학번 '2024001'이라는 값이 있으면, 학생 릴레이션에 반드시 학번 '2024001'인 학생이 존재해야 합니다. 만약 학생 테이블에 없는 학번 '9999999'를 수강 테이블에 넣으려고 하면? DBMS가 "그런 학번의 학생은 없어요!"라고 거부합니다.</a:t>
            </a:r>
            <a:br/>
            <a:br/>
            <a:r>
              <a:t>하지만 외래키에 NULL은 허용됩니다. 예를 들어, 환자 테이블에 '담당의사' 외래키가 있는데, 아직 담당 의사가 배정되지 않은 환자라면 담당의사 칸을 NULL로 둘 수 있어요. "참조할 대상이 아직 정해지지 않았다"는 뜻이지, "존재하지 않는 의사를 가리킨다"는 뜻이 아니니까요.</a:t>
            </a:r>
            <a:br/>
            <a:br/>
            <a:r>
              <a:t>정리하면:</a:t>
            </a:r>
            <a:br/>
            <a:r>
              <a:t>- 외래키 값이 NULL → 허용 (아직 미정)</a:t>
            </a:r>
            <a:br/>
            <a:r>
              <a:t>- 외래키 값이 참조되는 릴레이션의 기본키에 존재하는 값 → 허용</a:t>
            </a:r>
            <a:br/>
            <a:r>
              <a:t>- 외래키 값이 참조되는 릴레이션의 기본키에 존재하지 않는 값 → 거부!</a:t>
            </a:r>
            <a:br/>
            <a:br/>
            <a:r>
              <a:t>④번의 '기본키 무결성 제약조건'은 공식 용어가 아닙니다. 기본키와 관련된 제약조건은 '개체 무결성 제약조건'이라고 불러요. 시험에서 이런 가짜 용어를 함정으로 섞어놓는 경우가 있으니 주의하세요.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열일곱 번째 문제입니다. "릴레이션 A의 기본키 속성 값을 변경하려면 이를 참조하는 릴레이션 B의 외래키 속성 값도 변경해야 하는데, 이와 관련 있는 무결성 제약조건은?"</a:t>
            </a:r>
            <a:br/>
            <a:br/>
            <a:r>
              <a:t>이 문제의 상황을 구체적으로 그려볼게요.</a:t>
            </a:r>
            <a:br/>
            <a:br/>
            <a:r>
              <a:t>의사(의사번호, 이름, 전공) — 여기서 의사번호가 기본키</a:t>
            </a:r>
            <a:br/>
            <a:r>
              <a:t>환자(환자번호, 이름, 담당의사) — 여기서 담당의사가 의사 테이블의 의사번호를 참조하는 외래키</a:t>
            </a:r>
            <a:br/>
            <a:br/>
            <a:r>
              <a:t>만약 의사 테이블에서 의사번호 'D001'을 'D999'로 바꾸면 어떻게 될까요? 환자 테이블에서 담당의사가 'D001'인 환자들은 갑자기 "존재하지 않는 의사를 참조"하는 상태가 돼 버려요. 그래서 의사 테이블의 기본키를 바꾸면, 환자 테이블의 외래키도 같이 바꿔줘야 합니다.</a:t>
            </a:r>
            <a:br/>
            <a:br/>
            <a:r>
              <a:t>이렇게 "기본키를 참조하는 외래키"가 관련되어 있는 상황, 두 릴레이션 사이의 참조 관계가 깨지지 않도록 보장해야 하는 상황은 어떤 무결성 제약조건과 관련이 있을까요?</a:t>
            </a:r>
            <a:br/>
            <a:br/>
            <a:r>
              <a:t>핵심 키워드: '기본키를 참조하는 외래키', '참조 관계 유지'. 이걸 보면 바로 떠오르는 무결성이 있어야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③번, 참조 무결성 제약조건입니다.</a:t>
            </a:r>
            <a:br/>
            <a:br/>
            <a:r>
              <a:t>참조 무결성 제약조건은 단순히 "존재하지 않는 값을 참조하지 마라"는 것뿐만 아니라, 참조 관계가 있는 데이터가 변경되거나 삭제될 때도 그 관계의 일관성을 유지하도록 보장합니다.</a:t>
            </a:r>
            <a:br/>
            <a:br/>
            <a:r>
              <a:t>기본키 값이 변경되거나 삭제될 때 DBMS가 처리할 수 있는 방법이 네 가지 있어요. 이건 나중에 SQL에서 FOREIGN KEY를 정의할 때 ON UPDATE와 ON DELETE 옵션으로 지정합니다.</a:t>
            </a:r>
            <a:br/>
            <a:br/>
            <a:r>
              <a:t>첫째, CASCADE (연쇄): 기본키 값이 변경되면 이를 참조하는 모든 외래키 값도 자동으로 같이 변경합니다. 기본키가 삭제되면 참조하는 투플도 같이 삭제돼요. 예를 들어, 의사번호를 'D001'에서 'D999'로 바꾸면, 담당의사가 'D001'인 환자들의 담당의사도 자동으로 'D999'로 바뀝니다.</a:t>
            </a:r>
            <a:br/>
            <a:br/>
            <a:r>
              <a:t>둘째, RESTRICT 또는 NO ACTION (거부): 이 값을 참조하는 외래키가 하나라도 있으면, 아예 변경이나 삭제를 거부합니다. "이 의사를 담당하는 환자가 있으니까 변경/삭제 못 합니다!" 하고 에러를 발생시키는 거예요.</a:t>
            </a:r>
            <a:br/>
            <a:br/>
            <a:r>
              <a:t>셋째, SET NULL: 기본키 값이 변경되거나 삭제되면, 이를 참조하는 외래키 값을 NULL로 바꿉니다. "담당의사가 사라졌으니까 일단 미정(NULL)으로 해둘게요." 하는 거죠.</a:t>
            </a:r>
            <a:br/>
            <a:br/>
            <a:r>
              <a:t>넷째, SET DEFAULT: 외래키 값을 사전에 정해둔 기본값으로 변경합니다.</a:t>
            </a:r>
            <a:br/>
            <a:br/>
            <a:r>
              <a:t>이 네 가지 옵션은 나중에 SQL CREATE TABLE 문에서 이렇게 씁니다:</a:t>
            </a:r>
            <a:br/>
            <a:r>
              <a:t>FOREIGN KEY (담당의사) REFERENCES 의사(의사번호) ON UPDATE CASCADE ON DELETE SET NULL</a:t>
            </a:r>
            <a:br/>
            <a:r>
              <a:t>이런 식으로요. 지금은 이름과 동작만 기억해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열여덟 번째 문제, 서술형입니다.</a:t>
            </a:r>
            <a:br/>
            <a:br/>
            <a:r>
              <a:t>"관계 데이터 모델에서 하나의 속성이 가질 수 있는 모든 값들의 집합을 무엇이라 하는가?"</a:t>
            </a:r>
            <a:br/>
            <a:br/>
            <a:r>
              <a:t>이건 4번 문제에서 이미 나왔던 개념이에요. 그때 ③번 보기에서 "도메인은 전체 속성의 개수"라는 잘못된 설명이 있었죠? 도메인의 정확한 정의는 속성 개수가 아니라 '속성이 가질 수 있는 값의 집합'이었습니다.</a:t>
            </a:r>
            <a:br/>
            <a:br/>
            <a:r>
              <a:t>'나이' 속성이라면 0에서 150 사이의 정수, '등급' 속성이라면 {gold, silver, bronze, vip}, '성별' 속성이라면 {남, 여} 또는 {M, F} — 이렇게 해당 속성에 허용되는 모든 값의 범위를 지칭하는 용어를 적으면 됩니다.</a:t>
            </a:r>
            <a:br/>
            <a:br/>
            <a:r>
              <a:t>답을 적어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도메인(Domain)입니다.</a:t>
            </a:r>
            <a:br/>
            <a:br/>
            <a:r>
              <a:t>도메인은 속성이 가질 수 있는 모든 값의 집합이에요. 쉽게 말하면, "이 칸에 어떤 종류의 값이 들어갈 수 있느냐"를 정의한 것입니다.</a:t>
            </a:r>
            <a:br/>
            <a:br/>
            <a:r>
              <a:t>구체적인 예를 충분히 들어드릴게요.</a:t>
            </a:r>
            <a:br/>
            <a:br/>
            <a:r>
              <a:t>- '고객아이디' 속성의 도메인: 20자 이내의 문자열. SQL로 표현하면 CHAR(20) 또는 VARCHAR(20)이에요. 예를 들어 'apple', 'banana', 'cherry' 같은 문자열이 이 도메인에 속하겠죠.</a:t>
            </a:r>
            <a:br/>
            <a:br/>
            <a:r>
              <a:t>- '나이' 속성의 도메인: 0에서 150 사이의 정수. 사람의 나이에 -10이나 999는 들어갈 수 없으니까, 이런 범위를 도메인으로 정합니다. SQL에서는 CHECK 제약조건으로 "CHECK (나이 &gt;= 0 AND 나이 &lt;= 150)" 이렇게 지정할 수 있어요.</a:t>
            </a:r>
            <a:br/>
            <a:br/>
            <a:r>
              <a:t>- '성별' 속성의 도메인: {M, F} 또는 {남, 여}. 이 두 값 중 하나만 들어갈 수 있어요. SQL로는 "CHECK (성별 IN ('M', 'F'))"로 지정합니다.</a:t>
            </a:r>
            <a:br/>
            <a:br/>
            <a:r>
              <a:t>- '등급' 속성의 도메인: {gold, silver, bronze, vip}. 이 네 가지 값만 허용됩니다.</a:t>
            </a:r>
            <a:br/>
            <a:br/>
            <a:r>
              <a:t>- '이메일' 속성의 도메인: 이메일 형식을 만족하는 문자열. xxx@xxx.xxx 같은 패턴이어야 해요.</a:t>
            </a:r>
            <a:br/>
            <a:br/>
            <a:r>
              <a:t>도메인은 왜 중요할까요? 도메인 무결성 제약조건이라는 것이 있는데, 이건 "속성 값은 반드시 해당 속성의 도메인에 속하는 값이어야 한다"는 규칙이에요. 도메인 밖의 값이 들어오면 DBMS가 거부합니다. 이렇게 도메인은 잘못된 데이터가 데이터베이스에 들어가는 것을 1차적으로 방지하는 방어막 역할을 합니다.</a:t>
            </a:r>
            <a:br/>
            <a:br/>
            <a:r>
              <a:t>또한, 나중에 외래키를 배울 때 "외래키와 참조되는 기본키의 도메인은 같아야 한다"는 조건이 나오는데, 여기서의 도메인도 바로 이 개념이에요. 학번이 정수 타입이면 그걸 참조하는 외래키도 정수 타입이어야 한다는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열아홉 번째 문제입니다. OX 문제가 5개 나와 있어요. 각 문장이 맞으면 O, 틀리면 X를 표시하는 문제입니다. 슬라이드에 키 관계도도 있으니 참고하시고요.</a:t>
            </a:r>
            <a:br/>
            <a:br/>
            <a:r>
              <a:t>하나씩 읽어볼게요.</a:t>
            </a:r>
            <a:br/>
            <a:br/>
            <a:r>
              <a:t>(1) "슈퍼키는 후보키이기도 하다." — 모든 슈퍼키가 후보키라는 뜻인데, 슈퍼키가 후보키보다 넓은 개념이었죠? 슈퍼키 중에서 최소성까지 만족하는 것만 후보키인데, 모든 슈퍼키가 다 최소성을 만족할까요?</a:t>
            </a:r>
            <a:br/>
            <a:br/>
            <a:r>
              <a:t>(2) "기본키는 후보키이기도 하다." — 기본키는 후보키 중에서 하나를 골라서 지정하는 건데, 그러면 기본키는 후보키이기도 한 걸까요?</a:t>
            </a:r>
            <a:br/>
            <a:br/>
            <a:r>
              <a:t>(3) "기본키로 외래키를 사용할 수 있다." — 외래키가 동시에 기본키 역할을 겸할 수 있는 건지... 이건 좀 생각을 해봐야 해요.</a:t>
            </a:r>
            <a:br/>
            <a:br/>
            <a:r>
              <a:t>(4) "외래키는 널 값이 허용되지 않는다." — NULL이 허용 안 되는 건 기본키 아니었나요? 외래키도 NULL이 안 된다고?</a:t>
            </a:r>
            <a:br/>
            <a:br/>
            <a:r>
              <a:t>(5) "외래키의 속성 개수와 참조 기본키의 속성 개수는 같아야 한다." — 외래키가 여러 속성으로 구성될 수 있는데, 그때 참조하는 기본키의 속성 개수와 같아야 한다는 뜻인 것 같은데...</a:t>
            </a:r>
            <a:br/>
            <a:br/>
            <a:r>
              <a:t>각각 O인지 X인지 판단해 보세요. 쉽지 않은 문제도 섞여 있으니까 꼼꼼히 생각해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하나씩 확인해 봅시다. 이 문제는 내용이 알차서 좀 길게 설명하겠습니다.</a:t>
            </a:r>
            <a:br/>
            <a:br/>
            <a:r>
              <a:t>(1) X입니다. "슈퍼키는 후보키이기도 하다" — 이건 틀려요. 정확히는 반대입니다. "모든 후보키는 슈퍼키이다"가 맞지만, "모든 슈퍼키가 후보키이다"는 아닙니다.</a:t>
            </a:r>
            <a:br/>
            <a:br/>
            <a:r>
              <a:t>왜냐하면 슈퍼키는 유일성만 만족하면 되지만, 후보키는 유일성과 최소성을 모두 만족해야 하니까요. 예를 들어 {학번, 이름}은 슈퍼키이지만 후보키는 아닙니다. 학번만으로도 식별이 되니까 '이름'이 불필요하게 끼어있거든요. 최소성을 만족 못 하므로 후보키가 아니에요. 집합 포함 관계로 보면: 슈퍼키 ⊃ 후보키. 슈퍼키가 더 큰 집합이니까, 슈퍼키라고 해서 반드시 후보키인 건 아닙니다.</a:t>
            </a:r>
            <a:br/>
            <a:br/>
            <a:r>
              <a:t>(2) O입니다. "기본키는 후보키이기도 하다" — 맞아요. 기본키는 후보키 중에서 대표로 선택된 것이니까, 당연히 기본키는 후보키의 일종입니다. 후보키의 조건(유일성 + 최소성)을 모두 만족하면서, 추가로 '대표'로 지정된 거예요. 포함 관계: 후보키 ⊇ 기본키.</a:t>
            </a:r>
            <a:br/>
            <a:br/>
            <a:r>
              <a:t>(3) O입니다. "기본키로 외래키를 사용할 수 있다" — 이건 헷갈릴 수 있는데, 가능합니다. 하나의 속성이 자기 릴레이션에서는 기본키 역할을 하면서 동시에 다른 릴레이션의 기본키를 참조하는 외래키 역할을 할 수 있어요. 구체적인 예를 들면, 학생(학번, 이름, 학과)과 대학원생(학번, 지도교수, 연구실) 릴레이션이 있다고 합시다. 대학원생의 '학번'은 이 릴레이션의 기본키이면서 동시에 학생 릴레이션의 학번을 참조하는 외래키가 됩니다. "대학원생은 반드시 학생이어야 한다"는 관계를 표현하는 거죠. 이런 패턴을 '식별 관계(identifying relationship)'라고도 해요.</a:t>
            </a:r>
            <a:br/>
            <a:br/>
            <a:r>
              <a:t>(4) X입니다. "외래키는 널 값이 허용되지 않는다" — 틀려요! NULL이 허용되지 않는 것은 기본키입니다 (개체 무결성). 외래키는 NULL이 가능해요. 외래키가 NULL이라는 것은 "이 투플은 아직 참조할 대상이 정해지지 않았다"는 의미입니다. 예를 들어, 환자 테이블에서 담당의사(외래키)가 NULL이면 "아직 담당 의사가 배정되지 않았다"는 뜻이에요. 이건 "존재하지 않는 의사를 가리킨다"는 것과 완전히 다릅니다. 존재하지 않는 값을 참조하면 참조 무결성 위반이지만, NULL은 '미정'이니까 참조 무결성을 위반하지 않아요.</a:t>
            </a:r>
            <a:br/>
            <a:br/>
            <a:r>
              <a:t>(5) O입니다. "외래키의 속성 개수와 참조 기본키의 속성 개수는 같아야 한다" — 맞습니다. 이건 아주 중요한 조건인데, 충분히 설명이 필요한 부분이에요.</a:t>
            </a:r>
            <a:br/>
            <a:br/>
            <a:r>
              <a:t>기본키가 하나의 속성으로 구성되어 있으면 (단일 기본키) 외래키도 속성 1개로 참조합니다. 여기까진 당연하죠. 그런데 기본키가 여러 속성으로 구성된 복합 기본키(composite primary key)인 경우가 문제예요.</a:t>
            </a:r>
            <a:br/>
            <a:br/>
            <a:r>
              <a:t>구체적인 예를 들어볼게요. 수강(학번, 과목코드, 성적) 릴레이션에서 기본키가 {학번, 과목코드} 이렇게 두 개의 속성으로 구성된 복합 기본키라고 합시다. 이걸 참조하는 외래키도 반드시 두 개의 속성으로 구성되어야 해요. 예를 들어, 성적이의(학번, 과목코드, 이의사유) 릴레이션에서 {학번, 과목코드}가 수강 릴레이션의 {학번, 과목코드}를 참조하는 외래키가 되는 거예요. 속성 1개만으로는 수강 릴레이션의 기본키를 특정할 수 없으니까요.</a:t>
            </a:r>
            <a:br/>
            <a:br/>
            <a:r>
              <a:t>여기서 핵심은 '왜' 속성 개수가 같아야 하느냐인데요, 외래키는 참조되는 릴레이션에서 특정 투플을 정확히 식별해야 합니다. 기본키가 2개 속성으로 투플을 식별하는데 외래키가 1개 속성만 가지면, 어떤 투플을 가리키는지 특정할 수 없잖아요? 그래서 반드시 속성 개수가 같아야 합니다.</a:t>
            </a:r>
            <a:br/>
            <a:br/>
            <a:r>
              <a:t>그리고 속성 개수만 같으면 되는 게 아니라, 각 대응되는 속성의 도메인(데이터 타입)도 같아야 합니다. 학번이 정수형이면 외래키 쪽의 학번도 정수형이어야 하고, 과목코드가 문자열이면 외래키 쪽의 과목코드도 문자열이어야 해요. 도메인이 다르면 값을 비교할 수 없으니까 참조 관계가 성립하지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스무 번째 문제입니다. 릴레이션의 특성으로 적합한 것을 '모두' 고르는 문제예요. 5개 보기 중에서 적합한 것을 전부 찾아야 합니다.</a:t>
            </a:r>
            <a:br/>
            <a:br/>
            <a:r>
              <a:t>3번 문제에서 다룬 릴레이션의 4대 특성을 기억하시나요?</a:t>
            </a:r>
            <a:br/>
            <a:r>
              <a:t>1. 투플의 유일성 — 동일한 투플 존재 불가</a:t>
            </a:r>
            <a:br/>
            <a:r>
              <a:t>2. 투플의 무순서 — 행의 순서가 없음</a:t>
            </a:r>
            <a:br/>
            <a:r>
              <a:t>3. 속성의 무순서 — 열의 순서가 없음</a:t>
            </a:r>
            <a:br/>
            <a:r>
              <a:t>4. 속성의 원자성 — 모든 값은 원자 값</a:t>
            </a:r>
            <a:br/>
            <a:br/>
            <a:r>
              <a:t>이 네 가지를 머릿속에 놓고 각 보기를 판단해 보세요.</a:t>
            </a:r>
            <a:br/>
            <a:br/>
            <a:r>
              <a:t>(A) "모든 투플은 서로 다른 값을 가진다" → 투플의 유일성에 해당하는 것 같죠?</a:t>
            </a:r>
            <a:br/>
            <a:r>
              <a:t>(B) "투플 사이의 순서는 없다" → 투플의 무순서?</a:t>
            </a:r>
            <a:br/>
            <a:r>
              <a:t>(C) "모든 속성은 서로 다른 이름으로 구별된다" → 이건 속성 이름의 유일성인데, 4대 특성에 포함되나요?</a:t>
            </a:r>
            <a:br/>
            <a:r>
              <a:t>(D) "속성의 순서는 중요한 의미를 지닌다" → 속성의 무순서가 맞다면, 순서가 중요하다는 건 틀린 얘기?</a:t>
            </a:r>
            <a:br/>
            <a:r>
              <a:t>(E) "모든 속성의 값은 더는 분해할 수 없는 원자 값만 허용" → 속성의 원자성?</a:t>
            </a:r>
            <a:br/>
            <a:br/>
            <a:r>
              <a:t>어떤 것들이 맞는 설명인지 골라보세요.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A, B, C, E — 네 가지가 적합하고, D만 부적합합니다.</a:t>
            </a:r>
            <a:br/>
            <a:br/>
            <a:r>
              <a:t>하나씩 자세히 확인해 볼게요.</a:t>
            </a:r>
            <a:br/>
            <a:br/>
            <a:r>
              <a:t>(A) O — 투플의 유일성. 릴레이션은 수학적 집합이라서 동일한 투플이 존재할 수 없습니다. 만약 학번이 '2024001'이고 이름이 '홍길동'이고 학과가 '컴공'인 투플이 이미 있는데, 완전히 똑같은 투플을 하나 더 넣으려고 하면 거부됩니다. 이건 기본키 제약과는 별개로 릴레이션 자체의 속성이에요.</a:t>
            </a:r>
            <a:br/>
            <a:br/>
            <a:r>
              <a:t>(B) O — 투플의 무순서. 릴레이션에서 행에는 순서가 없습니다. "첫 번째 행", "마지막 행"이라는 개념이 없어요. 실제 DBMS에서 SELECT 결과가 특정 순서로 나오긴 하지만, 그건 물리적 저장 순서일 뿐 논리적 의미는 없습니다. 특정 순서로 보고 싶으면 ORDER BY를 명시적으로 써야 해요.</a:t>
            </a:r>
            <a:br/>
            <a:br/>
            <a:r>
              <a:t>(C) O — 속성 이름의 유일성. 같은 릴레이션 안에서 두 개의 속성이 같은 이름을 가질 수 없습니다. '이름'이라는 열이 두 개 있으면 "이름 열의 값을 가져와"라고 했을 때 어느 열인지 구분할 수 없잖아요? 그래서 속성 이름은 반드시 유일해야 합니다.</a:t>
            </a:r>
            <a:br/>
            <a:br/>
            <a:r>
              <a:t>(D) X — 속성의 무순서. 릴레이션에서 속성(열)에도 순서가 없어요. 학생(학번, 이름, 학과)나 학생(이름, 학과, 학번)이나 논리적으로 동일한 릴레이션입니다. 보기에서는 "중요한 의미를 지닌다"고 했는데, 이건 틀린 설명이에요. SQL에서 SELECT * 를 하면 열이 특정 순서로 나오긴 하지만, 그건 테이블 생성 시 적은 순서일 뿐, 논리적으로 열의 순서는 의미가 없습니다.</a:t>
            </a:r>
            <a:br/>
            <a:br/>
            <a:r>
              <a:t>(E) O — 속성의 원자성. 모든 속성 값은 더 이상 분해할 수 없는 원자 값이어야 합니다. 하나의 칸에 여러 값을 넣거나(다중값), 쪼갤 수 있는 복합값을 넣으면 안 돼요. 이건 제1정규형(1NF)의 기반이 되는 조건입니다.</a:t>
            </a:r>
            <a:br/>
            <a:br/>
            <a:r>
              <a:t>릴레이션의 특성은 거의 매 시험마다 출제됩니다. 네 가지 키워드를 확실히 정리해 두세요: 투플 유일성, 투플 무순서, 속성 무순서, 속성 원자성. 그리고 속성 이름의 유일성도 함께 기억해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스물한 번째 문제입니다. 외래키에 대한 설명으로 적합한 것을 '모두' 고르는 문제예요.</a:t>
            </a:r>
            <a:br/>
            <a:br/>
            <a:r>
              <a:t>슬라이드에 자기 참조(self-referencing) 릴레이션 예시 그림이 있는데요, 이건 보기 (D)와 관련이 있으니까 잘 봐주세요.</a:t>
            </a:r>
            <a:br/>
            <a:br/>
            <a:r>
              <a:t>보기가 5개입니다:</a:t>
            </a:r>
            <a:br/>
            <a:r>
              <a:t>(A) 기본키로 선택되지 못한 후보키들이다.</a:t>
            </a:r>
            <a:br/>
            <a:r>
              <a:t>(B) 외래키를 가진 릴레이션을 참조하는 릴레이션이라 한다.</a:t>
            </a:r>
            <a:br/>
            <a:r>
              <a:t>(C) 릴레이션 R1의 속성이 다른 릴레이션 R2의 기본키이다.</a:t>
            </a:r>
            <a:br/>
            <a:r>
              <a:t>(D) 외래키 릴레이션과 기본키 릴레이션은 반드시 달라야 한다.</a:t>
            </a:r>
            <a:br/>
            <a:r>
              <a:t>(F) 외래키와 대응 기본키는 도메인이 같아야 한다.</a:t>
            </a:r>
            <a:br/>
            <a:br/>
            <a:r>
              <a:t>외래키의 정확한 정의와 특성을 기억하면서 각 보기를 판단해 보세요. 특히 (A)는 다른 키와 혼동하기 쉬운 보기이고, (B)는 '참조하는'과 '참조되는'의 방향이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C와 F만 적합합니다. 나머지는 전부 부적합이에요.</a:t>
            </a:r>
            <a:br/>
            <a:br/>
            <a:r>
              <a:t>하나씩 자세히 설명해 드릴게요.</a:t>
            </a:r>
            <a:br/>
            <a:br/>
            <a:r>
              <a:t>(A) X — "기본키로 선택되지 못한 후보키들이다." 이건 외래키가 아니라 대체키(Alternate Key)의 설명이에요. 대체키는 후보키 중에서 기본키로 선택되지 못한 나머지를 뜻합니다. 외래키와는 전혀 다른 개념이에요. 외래키는 '다른 릴레이션의 기본키를 참조하는 속성'이지, '기본키가 되지 못한 후보키'가 아닙니다.</a:t>
            </a:r>
            <a:br/>
            <a:br/>
            <a:r>
              <a:t>(B) X — "외래키를 가진 릴레이션을 참조하는 릴레이션이라 한다." 방향이 반대예요! 외래키를 가진 릴레이션은 '참조하는(referencing) 릴레이션'입니다. '참조되는(referenced) 릴레이션'이 아니에요. 용어를 정리하면:</a:t>
            </a:r>
            <a:br/>
            <a:r>
              <a:t>외래키를 가지고 있는 쪽 = 참조하는 릴레이션 (자식 테이블)</a:t>
            </a:r>
            <a:br/>
            <a:r>
              <a:t>기본키를 가지고 있는 쪽 (참조 당하는 쪽) = 참조되는 릴레이션 (부모 테이블)</a:t>
            </a:r>
            <a:br/>
            <a:r>
              <a:t>이 방향을 헷갈리면 많은 문제에서 실수하게 되니까 확실히 구분해 두세요.</a:t>
            </a:r>
            <a:br/>
            <a:br/>
            <a:r>
              <a:t>(C) O — "릴레이션 R1의 속성이 다른 릴레이션 R2의 기본키이다." 이건 외래키의 정의 그 자체입니다. R1 릴레이션에 있는 어떤 속성이 R2 릴레이션의 기본키를 참조하면, 그 속성을 R1의 외래키라고 합니다.</a:t>
            </a:r>
            <a:br/>
            <a:br/>
            <a:r>
              <a:t>(D) X — "외래키 릴레이션과 기본키 릴레이션은 반드시 달라야 한다." 틀려요! 같은 릴레이션일 수 있습니다. 이걸 자기 참조(self-referencing)라고 해요. 슬라이드의 그림이 바로 이 예시인데요, 구체적으로 설명하면: 사원(사원번호, 이름, 상사번호) 릴레이션에서 '상사번호'는 같은 사원 릴레이션의 '사원번호'(기본키)를 참조하는 외래키예요. 상사도 사원이니까, 같은 테이블 안에서 참조가 일어나는 거죠. 이렇게 외래키와 기본키가 같은 릴레이션에 존재할 수 있습니다.</a:t>
            </a:r>
            <a:br/>
            <a:br/>
            <a:r>
              <a:t>(F) O — "외래키와 대응 기본키는 도메인이 같아야 한다." 맞습니다. 외래키가 참조하는 기본키와 데이터 타입(도메인)이 같아야 해요. 학번이 INT(정수)이면 그걸 참조하는 외래키도 INT여야 합니다. 학번이 INT인데 외래키가 VARCHAR(문자열)이면 값을 비교할 수 없으니까 참조 관계가 성립하지 않아요.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스물두 번째 문제, 빈칸 채우기입니다.</a:t>
            </a:r>
            <a:br/>
            <a:br/>
            <a:r>
              <a:t>"기본키를 구성하는 모든 속성은 널 값을 가질 수 없다 → (Ⓐ)</a:t>
            </a:r>
            <a:br/>
            <a:r>
              <a:t>외래키는 참조할 수 없는 값을 가질 수 없다 → (Ⓑ)"</a:t>
            </a:r>
            <a:br/>
            <a:br/>
            <a:r>
              <a:t>15번과 16번 문제에서 배운 내용을 그대로 적용하면 됩니다.</a:t>
            </a:r>
            <a:br/>
            <a:br/>
            <a:r>
              <a:t>첫 번째 문장을 보면, "기본키"와 "널 값을 가질 수 없다"라는 키워드가 보이죠? 기본키와 관련된 무결성 제약조건은 뭐였나요?</a:t>
            </a:r>
            <a:br/>
            <a:br/>
            <a:r>
              <a:t>두 번째 문장을 보면, "외래키"와 "참조할 수 없는 값을 가질 수 없다"라는 키워드가 있어요. 외래키와 관련된 무결성 제약조건은 뭐였죠?</a:t>
            </a:r>
            <a:br/>
            <a:br/>
            <a:r>
              <a:t>답을 적어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 개체 무결성 제약조건(Entity Integrity Constraint), Ⓑ: 참조 무결성 제약조건(Referential Integrity Constraint)입니다.</a:t>
            </a:r>
            <a:br/>
            <a:br/>
            <a:r>
              <a:t>이 두 가지를 포함해서, 관계 데이터 모델의 3대 무결성 제약조건을 최종 정리해 드릴게요.</a:t>
            </a:r>
            <a:br/>
            <a:br/>
            <a:r>
              <a:t>첫째, 개체 무결성 제약조건 (Entity Integrity Constraint):</a:t>
            </a:r>
            <a:br/>
            <a:r>
              <a:t>내용: 기본키를 구성하는 모든 속성은 NULL 값을 가질 수 없다.</a:t>
            </a:r>
            <a:br/>
            <a:r>
              <a:t>이유: 기본키가 NULL이면 투플을 식별할 수 없습니다. NULL은 비교 연산 자체가 불가능하니까(NULL = NULL은 UNKNOWN), 기본키에 NULL이 허용되면 어떤 투플인지 특정할 방법이 없어요.</a:t>
            </a:r>
            <a:br/>
            <a:r>
              <a:t>적용 대상: 기본키 속성. 복합 기본키인 경우 모든 구성 속성에 적용.</a:t>
            </a:r>
            <a:br/>
            <a:br/>
            <a:r>
              <a:t>둘째, 참조 무결성 제약조건 (Referential Integrity Constraint):</a:t>
            </a:r>
            <a:br/>
            <a:r>
              <a:t>내용: 외래키 값은 참조되는 릴레이션의 기본키에 존재하는 값이거나, NULL이어야 한다.</a:t>
            </a:r>
            <a:br/>
            <a:r>
              <a:t>이유: 존재하지 않는 값을 참조하면 데이터에 모순이 발생합니다. "학번 9999999인 학생이 수강 중"이라는 데이터가 있는데 학생 테이블에 그런 학생이 없으면 모순이죠.</a:t>
            </a:r>
            <a:br/>
            <a:r>
              <a:t>적용 대상: 외래키 속성.</a:t>
            </a:r>
            <a:br/>
            <a:br/>
            <a:r>
              <a:t>셋째, 도메인 무결성 제약조건 (Domain Integrity Constraint):</a:t>
            </a:r>
            <a:br/>
            <a:r>
              <a:t>내용: 속성 값은 해당 속성의 도메인에 속하는 값이어야 한다.</a:t>
            </a:r>
            <a:br/>
            <a:r>
              <a:t>이유: 나이에 음수가 들어가거나, 성별에 '가나다'가 들어가면 데이터의 의미가 없어집니다.</a:t>
            </a:r>
            <a:br/>
            <a:r>
              <a:t>적용 대상: 모든 속성.</a:t>
            </a:r>
            <a:br/>
            <a:br/>
            <a:r>
              <a:t>이 세 가지를 '도-개-참'으로 외우세요. 시험에서 거의 반드시 출제되는 핵심 내용입니다. "개체 무결성의 정의를 서술하시오", "참조 무결성을 위반하는 사례를 제시하시오" 같은 서술형으로도 나올 수 있으니, 정의뿐만 아니라 '왜 그런지(이유)'까지 함께 기억해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스물세 번째 문제입니다. 키에 대한 설명에서 빈칸을 채우는 문제예요.</a:t>
            </a:r>
            <a:br/>
            <a:br/>
            <a:r>
              <a:t>"(Ⓐ)는 유일성을 만족하는 속성 또는 속성들의 집합이다."</a:t>
            </a:r>
            <a:br/>
            <a:r>
              <a:t>유일성만 만족? 최소성은 안 따진다? 유일성만 만족하면 되는 가장 넓은 범위의 키는 뭘까요?</a:t>
            </a:r>
            <a:br/>
            <a:br/>
            <a:r>
              <a:t>"후보키는 유일성과 (Ⓑ)를 모두 만족하는 키이다."</a:t>
            </a:r>
            <a:br/>
            <a:r>
              <a:t>후보키의 정의에서 유일성 외에 필요한 두 번째 조건은 뭐였죠? 불필요한 속성 없이 최소한의 속성만으로 구성되어야 한다는 그 성질.</a:t>
            </a:r>
            <a:br/>
            <a:br/>
            <a:r>
              <a:t>"후보키 중 기본키로 선택되지 못한 키를 (Ⓒ)라 한다."</a:t>
            </a:r>
            <a:br/>
            <a:r>
              <a:t>후보키가 여러 개인데 그중 하나만 기본키로 뽑히면, 나머지 후보키들을 뭐라고 불렀죠?</a:t>
            </a:r>
            <a:br/>
            <a:br/>
            <a:r>
              <a:t>12번 문제에서 배운 키의 계층 구조를 떠올려보면 쉽게 풀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 슈퍼키(Super Key), Ⓑ: 최소성(Minimality), Ⓒ: 대체키(Alternate Key)입니다.</a:t>
            </a:r>
            <a:br/>
            <a:br/>
            <a:r>
              <a:t>키의 체계를 최종적으로 정리해 볼게요. 이건 5장에서 가장 중요한 내용 중 하나입니다.</a:t>
            </a:r>
            <a:br/>
            <a:br/>
            <a:r>
              <a:t>슈퍼키 (Super Key): 유일성만 만족하면 되는, 가장 범위가 넓은 키.</a:t>
            </a:r>
            <a:br/>
            <a:r>
              <a:t>예를 들어, 학생(학번, 이름, 나이, 학과) 릴레이션에서 학번이 고유하다면:</a:t>
            </a:r>
            <a:br/>
            <a:r>
              <a:t>{학번}, {학번, 이름}, {학번, 나이}, {학번, 이름, 나이}, {학번, 이름, 나이, 학과} — 이 다섯 가지가 전부 슈퍼키예요. 학번만 포함되어 있으면 뭘 더 붙여도 유일하게 식별할 수 있으니까요.</a:t>
            </a:r>
            <a:br/>
            <a:br/>
            <a:r>
              <a:t>후보키 (Candidate Key): 유일성 + 최소성을 모두 만족하는 키.</a:t>
            </a:r>
            <a:br/>
            <a:r>
              <a:t>위 예시에서 {학번}은 후보키입니다. 더 줄일 수 없으니까 최소성도 만족해요. 하지만 {학번, 이름}은 '이름'을 빼도 식별 가능하므로 최소성 불만족, 슈퍼키O 후보키X.</a:t>
            </a:r>
            <a:br/>
            <a:r>
              <a:t>만약 주민등록번호도 고유하다면 {주민등록번호}도 후보키가 됩니다. 이때 후보키는 2개.</a:t>
            </a:r>
            <a:br/>
            <a:br/>
            <a:r>
              <a:t>기본키 (Primary Key): 후보키 중에서 대표로 선택된 하나.</a:t>
            </a:r>
            <a:br/>
            <a:r>
              <a:t>학번을 기본키로 선택하면, 이 키가 테이블의 대표 식별자가 됩니다.</a:t>
            </a:r>
            <a:br/>
            <a:br/>
            <a:r>
              <a:t>대체키 (Alternate Key): 후보키 중 기본키로 선택되지 못한 나머지.</a:t>
            </a:r>
            <a:br/>
            <a:r>
              <a:t>학번이 기본키가 되면, 주민등록번호는 대체키가 됩니다. "다음 후보"라는 의미에서 대체키라고 불러요.</a:t>
            </a:r>
            <a:br/>
            <a:br/>
            <a:r>
              <a:t>외래키 (Foreign Key): 다른 릴레이션의 기본키를 참조하는 속성. 위의 네 가지 키와는 성격이 다릅니다. 위 네 가지는 릴레이션 내부 식별에 관한 키이고, 외래키는 릴레이션 간 연결에 관한 키예요.</a:t>
            </a:r>
            <a:br/>
            <a:br/>
            <a:r>
              <a:t>포함 관계를 그림으로 머릿속에 그려보세요:</a:t>
            </a:r>
            <a:br/>
            <a:r>
              <a:t>[슈퍼키] ⊃ [후보키] ⊃ [기본키 | 대체키]</a:t>
            </a:r>
            <a:br/>
            <a:r>
              <a:t>가장 바깥에 슈퍼키, 그 안에 후보키, 후보키 안에서 하나가 기본키로 뽑히고 나머지가 대체키.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스물네 번째 문제입니다. 서술형 문제 4개가 한꺼번에 나와 있어요.</a:t>
            </a:r>
            <a:br/>
            <a:br/>
            <a:r>
              <a:t>사원(사원번호, 사원이름, 나이, 주소, 직급) 릴레이션에 3개의 투플이 있을 때:</a:t>
            </a:r>
            <a:br/>
            <a:br/>
            <a:r>
              <a:t>(1) 차수는? → 차수(degree)의 정의를 기억하면 바로 답할 수 있어요. 속성이 몇 개인지 세면 됩니다.</a:t>
            </a:r>
            <a:br/>
            <a:br/>
            <a:r>
              <a:t>(2) 카디널리티는? → 카디널리티(cardinality)의 정의를 적용하면 됩니다. 투플이 몇 개인지.</a:t>
            </a:r>
            <a:br/>
            <a:br/>
            <a:r>
              <a:t>(3) 사원이름이 기본키로 부적합한 이유는? → 기본키의 조건을 생각해 보세요. 기본키는 유일성과 최소성을 만족해야 하는데, '사원이름'은 이 중 어떤 조건을 만족하지 못할까요? 실생활에서 같은 이름의 사람이 있을 수 있는지 생각해 보세요.</a:t>
            </a:r>
            <a:br/>
            <a:br/>
            <a:r>
              <a:t>(4) 기본키로 적합한 속성은? → 다섯 개의 속성 중에서 모든 투플을 유일하게 식별할 수 있는 속성은 어떤 걸까요? 나이가 같은 사원이 있을 수 있나요? 주소가 같을 수 있나요? 직급이 같을 수 있나요?</a:t>
            </a:r>
            <a:br/>
            <a:br/>
            <a:r>
              <a:t>슬라이드의 표를 보면서 답을 생각해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확인해 봅시다.</a:t>
            </a:r>
            <a:br/>
            <a:br/>
            <a:r>
              <a:t>(1) 차수(degree): 5</a:t>
            </a:r>
            <a:br/>
            <a:r>
              <a:t>속성이 사원번호, 사원이름, 나이, 주소, 직급으로 총 5개이니까 차수는 5입니다. 차수는 열(속성)의 개수예요.</a:t>
            </a:r>
            <a:br/>
            <a:br/>
            <a:r>
              <a:t>(2) 카디널리티(cardinality): 3</a:t>
            </a:r>
            <a:br/>
            <a:r>
              <a:t>문제에서 "3개의 투플이 있다"고 했으니까 카디널리티는 3입니다. 카디널리티는 행(투플)의 개수예요.</a:t>
            </a:r>
            <a:br/>
            <a:br/>
            <a:r>
              <a:t>(3) 사원이름이 기본키로 부적합한 이유:</a:t>
            </a:r>
            <a:br/>
            <a:r>
              <a:t>동명이인이 존재할 수 있기 때문에 유일성을 보장하지 못합니다. 현재 3개의 투플에서는 이름이 다 다를 수 있지만, 미래에 같은 이름의 사원이 입사할 수 있잖아요? 기본키는 현재뿐만 아니라 미래의 모든 투플에 대해서도 유일성이 보장되어야 합니다. '김민수'라는 이름의 사원이 두 명이 되면 이름만으로는 누가 누군지 구분할 수 없게 돼요. 따라서 사원이름은 기본키로 부적합합니다.</a:t>
            </a:r>
            <a:br/>
            <a:br/>
            <a:r>
              <a:t>서술형 답안 작성 팁: "동명이인이 존재할 수 있어 유일성을 보장할 수 없다"는 핵심 문장을 반드시 포함시키세요.</a:t>
            </a:r>
            <a:br/>
            <a:br/>
            <a:r>
              <a:t>(4) 기본키로 적합한 속성: 사원번호</a:t>
            </a:r>
            <a:br/>
            <a:r>
              <a:t>사원번호는 각 사원에게 고유하게 부여되는 번호이므로, 어떤 사원이 입사하더라도 절대 중복되지 않습니다. 유일성과 최소성을 모두 만족하므로 기본키로 가장 적합해요.</a:t>
            </a:r>
            <a:br/>
            <a:br/>
            <a:r>
              <a:t>나머지 속성들이 기본키로 부적합한 이유:</a:t>
            </a:r>
            <a:br/>
            <a:r>
              <a:t>- 나이: 같은 나이의 사원이 여러 명 있을 수 있음 → 유일성 X</a:t>
            </a:r>
            <a:br/>
            <a:r>
              <a:t>- 주소: 같은 아파트에 사는 사원이 있을 수 있음 → 유일성 X</a:t>
            </a:r>
            <a:br/>
            <a:r>
              <a:t>- 직급: '대리'나 '과장'이 여러 명 있을 수 있음 → 유일성 X</a:t>
            </a:r>
            <a:br/>
            <a:br/>
            <a:r>
              <a:t>결국 인위적으로 부여한 고유 번호(사원번호, 학번, 고객ID 등)가 기본키로 가장 적합합니다. 실무에서도 대부분 이런 식으로 기본키를 설계해요.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스물다섯 번째 문제입니다. 두 릴레이션 사이의 외래키 관계를 파악하고, 참조 무결성 제약조건의 영향을 받는 연산을 찾는 문제예요.</a:t>
            </a:r>
            <a:br/>
            <a:br/>
            <a:r>
              <a:t>환자(환자번호, 환자이름, 나이, 담당의사)</a:t>
            </a:r>
            <a:br/>
            <a:r>
              <a:t>의사(의사번호, 의사이름, 소속)</a:t>
            </a:r>
            <a:br/>
            <a:br/>
            <a:r>
              <a:t>두 릴레이션을 보면, 환자 릴레이션에 '담당의사'라는 속성이 있어요. 이 속성의 이름을 보면, 의사 릴레이션의 의사번호를 참조할 것 같죠? 환자의 담당 의사가 어떤 의사인지를 나타내는 속성이니까, 의사 릴레이션의 기본키인 '의사번호'를 참조하는 외래키입니다.</a:t>
            </a:r>
            <a:br/>
            <a:br/>
            <a:r>
              <a:t>이 구조에서:</a:t>
            </a:r>
            <a:br/>
            <a:r>
              <a:t>참조하는 릴레이션 = 환자 (외래키를 가진 쪽, 자식)</a:t>
            </a:r>
            <a:br/>
            <a:r>
              <a:t>참조되는 릴레이션 = 의사 (기본키를 가진 쪽, 부모)</a:t>
            </a:r>
            <a:br/>
            <a:br/>
            <a:r>
              <a:t>이제 질문으로 돌아가면:</a:t>
            </a:r>
            <a:br/>
            <a:r>
              <a:t>(1) 외래키를 포함한 릴레이션과 외래키는 무엇인가?</a:t>
            </a:r>
            <a:br/>
            <a:r>
              <a:t>(2) 참조 무결성의 영향을 받는 연산은 무엇인가?</a:t>
            </a:r>
            <a:br/>
            <a:br/>
            <a:r>
              <a:t>특히 (2)번은 두 릴레이션 각각에 대해 삽입(INSERT), 삭제(DELETE), 수정(UPDATE) 중 어떤 것이 참조 무결성 검사가 필요한지 생각해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확인해 봅시다.</a:t>
            </a:r>
            <a:br/>
            <a:br/>
            <a:r>
              <a:t>(1) 외래키를 포함한 릴레이션: 환자 릴레이션</a:t>
            </a:r>
            <a:br/>
            <a:r>
              <a:t>외래키: 담당의사 (의사 릴레이션의 기본키 '의사번호'를 참조)</a:t>
            </a:r>
            <a:br/>
            <a:br/>
            <a:r>
              <a:t>(2) 참조 무결성의 영향을 받는 연산을 두 릴레이션 각각에 대해 분석합니다.</a:t>
            </a:r>
            <a:br/>
            <a:br/>
            <a:r>
              <a:t>환자 릴레이션(외래키를 가진, 참조하는 릴레이션)에 대해:</a:t>
            </a:r>
            <a:br/>
            <a:br/>
            <a:r>
              <a:t>첫째, 환자 삽입(INSERT): 새 환자를 추가할 때, 담당의사에 넣으려는 값이 의사 테이블에 실제로 존재하는 의사번호인지 확인해야 합니다. 존재하지 않는 의사번호를 넣으면 참조 무결성 위반이에요. → 검사 필요</a:t>
            </a:r>
            <a:br/>
            <a:br/>
            <a:r>
              <a:t>둘째, 환자의 담당의사 수정(UPDATE): 담당의사를 다른 값으로 바꿀 때, 바꾸려는 의사번호가 의사 테이블에 존재하는지 확인해야 합니다. → 검사 필요</a:t>
            </a:r>
            <a:br/>
            <a:br/>
            <a:r>
              <a:t>셋째, 환자 삭제(DELETE): 환자를 삭제하는 건 참조를 '하는' 쪽이 없어지는 것이라, 참조 관계를 깨뜨리지 않습니다. → 검사 불필요</a:t>
            </a:r>
            <a:br/>
            <a:br/>
            <a:r>
              <a:t>의사 릴레이션(기본키를 가진, 참조되는 릴레이션)에 대해:</a:t>
            </a:r>
            <a:br/>
            <a:br/>
            <a:r>
              <a:t>첫째, 의사의 의사번호 수정(UPDATE): 이 의사번호를 담당의사로 참조하는 환자가 있을 수 있어요. 의사번호가 바뀌면 환자 쪽에서 '존재하지 않는 값'을 참조하게 됩니다. → 검사 필요</a:t>
            </a:r>
            <a:br/>
            <a:br/>
            <a:r>
              <a:t>둘째, 의사 삭제(DELETE): 이 의사를 담당의사로 참조하는 환자가 있을 수 있어요. 의사가 삭제되면 환자 쪽에서 '존재하지 않는 의사'를 참조하게 됩니다. → 검사 필요</a:t>
            </a:r>
            <a:br/>
            <a:br/>
            <a:r>
              <a:t>셋째, 의사 삽입(INSERT): 새로운 의사가 추가되는 것은 참조 대상이 늘어나는 것일 뿐, 기존 참조 관계에 영향을 주지 않습니다. → 검사 불필요</a:t>
            </a:r>
            <a:br/>
            <a:br/>
            <a:r>
              <a:t>요약하면, 참조 무결성 검사가 필요한 연산은: 외래키 쪽의 INSERT·UPDATE, 기본키 쪽의 DELETE·UPDATE — 이 네 가지입니다.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스물여섯 번째 문제입니다. 참조 무결성 검사가 필요한 항목에 ○표를 하는 표 형태의 문제예요.</a:t>
            </a:r>
            <a:br/>
            <a:br/>
            <a:r>
              <a:t>표의 구조를 설명하면:</a:t>
            </a:r>
            <a:br/>
            <a:r>
              <a:t>행이 두 줄: '외래키에 의해 참조되는 기본키'와 '외래키'</a:t>
            </a:r>
            <a:br/>
            <a:r>
              <a:t>열이 세 줄: Insert, Delete, Update</a:t>
            </a:r>
            <a:br/>
            <a:br/>
            <a:r>
              <a:t>총 6칸 중에서 참조 무결성 검사가 필요한 칸에 ○를 해야 합니다.</a:t>
            </a:r>
            <a:br/>
            <a:br/>
            <a:r>
              <a:t>앞 문제에서 배운 내용을 그대로 적용하면 돼요. 각 칸에 대해 "이 연산을 수행했을 때 참조 관계가 깨질 가능성이 있는가?"를 생각해 보세요.</a:t>
            </a:r>
            <a:br/>
            <a:br/>
            <a:r>
              <a:t>예를 들어, 기본키에 Insert(새 값 추가)를 하면 참조 관계가 깨질까요? 새로운 참조 대상이 생기는 것이니 깨질 이유가 없죠.</a:t>
            </a:r>
            <a:br/>
            <a:r>
              <a:t>외래키에 Delete(참조하는 쪽 삭제)를 하면? 참조를 하는 쪽이 없어지는 것이니 깨질 이유가 없어요.</a:t>
            </a:r>
            <a:br/>
            <a:br/>
            <a:r>
              <a:t>이런 식으로 6칸을 하나씩 판단해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a:t>
            </a:r>
            <a:br/>
            <a:r>
              <a:t>기본키(참조되는 쪽): Insert X, Delete ○, Update ○</a:t>
            </a:r>
            <a:br/>
            <a:r>
              <a:t>외래키(참조하는 쪽): Insert ○, Delete X, Update ○</a:t>
            </a:r>
            <a:br/>
            <a:br/>
            <a:r>
              <a:t>각 칸의 이유를 하나씩 설명할게요.</a:t>
            </a:r>
            <a:br/>
            <a:br/>
            <a:r>
              <a:t>기본키의 Insert (검사 불필요):</a:t>
            </a:r>
            <a:br/>
            <a:r>
              <a:t>참조되는 릴레이션에 새로운 기본키 값이 추가되는 건 단순히 참조 대상이 하나 더 생기는 것입니다. 기존의 외래키들이 참조하고 있는 값에는 영향이 없어요. 예를 들어, 의사 테이블에 새 의사가 등록되는 건 아무 문제가 없죠.</a:t>
            </a:r>
            <a:br/>
            <a:br/>
            <a:r>
              <a:t>기본키의 Delete (검사 필요):</a:t>
            </a:r>
            <a:br/>
            <a:r>
              <a:t>참조되는 기본키 값을 삭제하면, 그 값을 외래키로 참조하고 있는 투플들이 갑자기 '존재하지 않는 값'을 가리키게 됩니다. 의사를 삭제하면 그 의사를 담당의사로 지정한 환자들이 문제가 되니까요.</a:t>
            </a:r>
            <a:br/>
            <a:br/>
            <a:r>
              <a:t>기본키의 Update (검사 필요):</a:t>
            </a:r>
            <a:br/>
            <a:r>
              <a:t>기본키 값을 다른 값으로 변경하면, 변경 전 값을 참조하던 외래키들이 '이제는 존재하지 않는 값'을 가리키게 됩니다. 의사번호를 바꾸면, 이전 번호로 참조하던 환자들이 미아가 되는 거예요.</a:t>
            </a:r>
            <a:br/>
            <a:br/>
            <a:r>
              <a:t>외래키의 Insert (검사 필요):</a:t>
            </a:r>
            <a:br/>
            <a:r>
              <a:t>새로운 외래키 값을 삽입할 때, 그 값이 참조되는 릴레이션의 기본키에 실제로 존재하는지 확인해야 합니다. 없는 의사번호를 담당의사로 지정하면 안 되니까요.</a:t>
            </a:r>
            <a:br/>
            <a:br/>
            <a:r>
              <a:t>외래키의 Delete (검사 불필요):</a:t>
            </a:r>
            <a:br/>
            <a:r>
              <a:t>외래키를 포함한 투플을 삭제하는 건 '참조를 하는 쪽'이 사라지는 것입니다. 참조되는 쪽(기본키)에는 아무 영향이 없어요. 환자가 퇴원해서 환자 기록을 삭제해도 의사 테이블에는 영향이 없죠.</a:t>
            </a:r>
            <a:br/>
            <a:br/>
            <a:r>
              <a:t>외래키의 Update (검사 필요):</a:t>
            </a:r>
            <a:br/>
            <a:r>
              <a:t>외래키 값을 다른 값으로 변경할 때, 변경하려는 새 값이 참조되는 릴레이션의 기본키에 존재하는지 확인해야 합니다. 담당의사를 바꾸려면, 바꿀 의사가 의사 테이블에 있어야 하니까요.</a:t>
            </a:r>
            <a:br/>
            <a:br/>
            <a:r>
              <a:t>이 표는 시험에 정말 자주 나옵니다! 외우는 팁을 알려드릴게요:</a:t>
            </a:r>
            <a:br/>
            <a:r>
              <a:t>"참조되는 쪽(기본키)은 나가는 게 위험하고(Delete, Update), 참조하는 쪽(외래키)은 들어오는 게 위험하다(Insert, Update)."</a:t>
            </a:r>
            <a:br/>
            <a:r>
              <a:t>Update는 양쪽 다 검사가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스물일곱 번째 문제, 서술형입니다.</a:t>
            </a:r>
            <a:br/>
            <a:br/>
            <a:r>
              <a:t>"A, B, C 속성으로 구성된 릴레이션에서 A 속성의 도메인은 2개 값, B 속성의 도메인은 3개 값, C 속성의 도메인은 4개 값을 갖는다면 이 릴레이션에 삽입될 수 있는 투플의 최대 개수는?"</a:t>
            </a:r>
            <a:br/>
            <a:br/>
            <a:r>
              <a:t>힌트는 릴레이션의 특성 중 '투플의 유일성'이에요. 릴레이션에는 동일한 투플이 존재할 수 없으니까, 서로 다른 투플의 최대 수 = 가능한 모든 조합의 수가 됩니다.</a:t>
            </a:r>
            <a:br/>
            <a:br/>
            <a:r>
              <a:t>각 속성이 취할 수 있는 값의 개수가 주어져 있으니까, 모든 조합의 수를 구하면 됩니다. 고등학교 수학에서 배운 '곱의 법칙(Rule of Product)'을 생각해 보세요. 첫 번째 선택이 a가지, 두 번째 선택이 b가지, 세 번째 선택이 c가지일 때 전체 경우의 수는?</a:t>
            </a:r>
            <a:br/>
            <a:br/>
            <a:r>
              <a:t>답을 계산해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24개입니다. 계산: 2 × 3 × 4 = 24.</a:t>
            </a:r>
            <a:br/>
            <a:br/>
            <a:r>
              <a:t>왜 곱셈을 하는지 원리를 설명해 드릴게요.</a:t>
            </a:r>
            <a:br/>
            <a:br/>
            <a:r>
              <a:t>각 투플은 A, B, C 세 속성의 값으로 구성됩니다.</a:t>
            </a:r>
            <a:br/>
            <a:r>
              <a:t>- A가 취할 수 있는 값: 2개. 예를 들어 {0, 1}이라고 합시다.</a:t>
            </a:r>
            <a:br/>
            <a:r>
              <a:t>- B가 취할 수 있는 값: 3개. 예를 들어 {a, b, c}라고 합시다.</a:t>
            </a:r>
            <a:br/>
            <a:r>
              <a:t>- C가 취할 수 있는 값: 4개. 예를 들어 {W, X, Y, Z}라고 합시다.</a:t>
            </a:r>
            <a:br/>
            <a:br/>
            <a:r>
              <a:t>가능한 모든 조합을 나열하면:</a:t>
            </a:r>
            <a:br/>
            <a:r>
              <a:t>A=0일 때: (0,a,W), (0,a,X), (0,a,Y), (0,a,Z), (0,b,W), (0,b,X), ... → 1 × 3 × 4 = 12가지</a:t>
            </a:r>
            <a:br/>
            <a:r>
              <a:t>A=1일 때: (1,a,W), (1,a,X), (1,a,Y), (1,a,Z), (1,b,W), (1,b,X), ... → 1 × 3 × 4 = 12가지</a:t>
            </a:r>
            <a:br/>
            <a:r>
              <a:t>합계: 12 + 12 = 24가지</a:t>
            </a:r>
            <a:br/>
            <a:br/>
            <a:r>
              <a:t>이걸 수학적으로 표현하면, 릴레이션의 최대 카디널리티 = 각 속성의 도메인 크기의 곱입니다. 수학에서는 이걸 카르테시안 곱(Cartesian product)의 크기라고 해요.</a:t>
            </a:r>
            <a:br/>
            <a:br/>
            <a:r>
              <a:t>릴레이션에는 동일한 투플이 존재할 수 없으므로(투플의 유일성), 모든 가능한 조합을 다 넣으면 더 이상 넣을 수 없습니다. 따라서 최대 투플 수는 24개예요.</a:t>
            </a:r>
            <a:br/>
            <a:br/>
            <a:r>
              <a:t>만약 24개를 전부 넣으면 어떻게 될까요? 가능한 모든 조합이 전부 존재하니까, 어떤 새로운 투플을 넣으려 해도 반드시 기존 투플과 중복되어 삽입이 거부됩니다. 그래서 최대 24개가 한계인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스물여덟 번째 문제입니다!</a:t>
            </a:r>
            <a:br/>
            <a:br/>
            <a:r>
              <a:t>학생(학번, 이름, 학과), 교수(교수ID, 이름, 학과), 지도(지도교수ID, 참여학생, 내용), 멘토링(멘토, 멘티, 내용)</a:t>
            </a:r>
            <a:br/>
            <a:br/>
            <a:r>
              <a:t>이 네 개의 릴레이션이 있을 때, 외래키로 선언할 수 있는 속성을 모두 나열하라는 문제예요.</a:t>
            </a:r>
            <a:br/>
            <a:br/>
            <a:r>
              <a:t>풀이 전략을 알려드릴게요.</a:t>
            </a:r>
            <a:br/>
            <a:r>
              <a:t>첫째, 각 릴레이션의 기본키를 파악합니다. 보통 첫 번째 속성이 기본키인 경우가 많아요.</a:t>
            </a:r>
            <a:br/>
            <a:r>
              <a:t>  학생의 기본키: 학번</a:t>
            </a:r>
            <a:br/>
            <a:r>
              <a:t>  교수의 기본키: 교수ID</a:t>
            </a:r>
            <a:br/>
            <a:r>
              <a:t>  지도의 기본키: {지도교수ID, 참여학생} (복합)</a:t>
            </a:r>
            <a:br/>
            <a:r>
              <a:t>  멘토링의 기본키: {멘토, 멘티} (복합)</a:t>
            </a:r>
            <a:br/>
            <a:br/>
            <a:r>
              <a:t>둘째, 각 릴레이션의 속성 이름을 보면서, "이 속성이 다른 릴레이션의 기본키를 참조할 수 있는가?"를 판단합니다. 속성 이름이 힌트를 줘요. '지도교수ID'는 교수의 교수ID를 참조할 것 같고, '참여학생'은 학생의 학번을 참조할 것 같죠?</a:t>
            </a:r>
            <a:br/>
            <a:br/>
            <a:r>
              <a:t>한번 직접 찾아보세요.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총 4개입니다.</a:t>
            </a:r>
            <a:br/>
            <a:br/>
            <a:r>
              <a:t>1. 지도.지도교수ID → 교수 릴레이션의 교수ID를 참조</a:t>
            </a:r>
            <a:br/>
            <a:r>
              <a:t>이 속성은 "지도를 담당하는 교수가 누구인지"를 나타내요. 교수 릴레이션의 기본키인 교수ID 값을 가져야 합니다. 따라서 교수 릴레이션의 교수ID를 참조하는 외래키입니다.</a:t>
            </a:r>
            <a:br/>
            <a:br/>
            <a:r>
              <a:t>2. 지도.참여학생 → 학생 릴레이션의 학번을 참조</a:t>
            </a:r>
            <a:br/>
            <a:r>
              <a:t>이 속성은 "지도에 참여하는 학생이 누구인지"를 나타내요. 학생 릴레이션의 기본키인 학번 값을 가져야 합니다. 따라서 학생 릴레이션의 학번을 참조하는 외래키입니다.</a:t>
            </a:r>
            <a:br/>
            <a:br/>
            <a:r>
              <a:t>3. 멘토링.멘토 → 학생 릴레이션의 학번을 참조</a:t>
            </a:r>
            <a:br/>
            <a:r>
              <a:t>멘토 역할을 하는 '학생'이 누구인지를 나타내는 속성이에요. 멘토도 학생이니까, 학생 릴레이션의 학번을 참조합니다.</a:t>
            </a:r>
            <a:br/>
            <a:br/>
            <a:r>
              <a:t>4. 멘토링.멘티 → 학생 릴레이션의 학번을 참조</a:t>
            </a:r>
            <a:br/>
            <a:r>
              <a:t>멘티 역할을 하는 '학생'이 누구인지를 나타내는 속성이에요. 멘티도 학생이니까, 역시 학생 릴레이션의 학번을 참조합니다.</a:t>
            </a:r>
            <a:br/>
            <a:br/>
            <a:r>
              <a:t>여기서 주목할 포인트 세 가지:</a:t>
            </a:r>
            <a:br/>
            <a:br/>
            <a:r>
              <a:t>첫째, 멘토링 릴레이션에서 멘토와 멘티가 둘 다 같은 학생 릴레이션의 학번을 참조합니다. 하나의 릴레이션에 같은 릴레이션을 참조하는 외래키가 여러 개 존재할 수 있어요. SQL에서도 이렇게 정의 가능합니다:</a:t>
            </a:r>
            <a:br/>
            <a:r>
              <a:t>FOREIGN KEY (멘토) REFERENCES 학생(학번),</a:t>
            </a:r>
            <a:br/>
            <a:r>
              <a:t>FOREIGN KEY (멘티) REFERENCES 학생(학번)</a:t>
            </a:r>
            <a:br/>
            <a:br/>
            <a:r>
              <a:t>둘째, 학생 릴레이션의 '학과'와 교수 릴레이션의 '학과'는 이름은 같지만 이 문제에서는 외래키로 볼 수 없어요. 왜냐하면 별도의 '학과' 릴레이션이 제시되지 않았기 때문이에요. 만약 학과(학과코드, 학과명, 위치)라는 릴레이션이 따로 있었다면, 학생.학과와 교수.학과가 학과 릴레이션의 학과코드를 참조하는 외래키가 될 수도 있었겠죠. 하지만 이 문제에서는 학과 릴레이션이 없으니 외래키가 아닙니다.</a:t>
            </a:r>
            <a:br/>
            <a:br/>
            <a:r>
              <a:t>셋째, 지도 릴레이션에서 지도교수ID와 참여학생이 각각 서로 다른 릴레이션을 참조합니다. 지도교수ID는 교수를, 참여학생은 학생을 참조하죠. 이렇게 하나의 릴레이션이 여러 릴레이션을 동시에 참조할 수 있습니다. 지도 릴레이션은 사실상 교수-학생 간의 M:N 관계를 표현하는 관계 릴레이션이에요.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수고하셨습니다! 5장 관계 데이터 모델 연습문제 28문제를 전부 풀어보았습니다.</a:t>
            </a:r>
            <a:br/>
            <a:br/>
            <a:r>
              <a:t>마지막으로 5장 전체 핵심 내용을 최종 정리해 드릴게요. 시험 직전에 이것만 다시 보셔도 됩니다.</a:t>
            </a:r>
            <a:br/>
            <a:br/>
            <a:r>
              <a:t>1. 릴레이션 = 2차원 테이블</a:t>
            </a:r>
            <a:br/>
            <a:r>
              <a:t>   투플(tuple) = 행(row) = 레코드(record)</a:t>
            </a:r>
            <a:br/>
            <a:r>
              <a:t>   속성(attribute) = 열(column) = 필드(field)</a:t>
            </a:r>
            <a:br/>
            <a:r>
              <a:t>   도메인(domain) = 속성이 가질 수 있는 값의 집합</a:t>
            </a:r>
            <a:br/>
            <a:r>
              <a:t>   차수(degree) = 속성의 수 (정적)</a:t>
            </a:r>
            <a:br/>
            <a:r>
              <a:t>   카디널리티(cardinality) = 투플의 수 (동적)</a:t>
            </a:r>
            <a:br/>
            <a:br/>
            <a:r>
              <a:t>2. 릴레이션 4대 특성</a:t>
            </a:r>
            <a:br/>
            <a:r>
              <a:t>   투플의 유일성 — 중복 투플 없음</a:t>
            </a:r>
            <a:br/>
            <a:r>
              <a:t>   투플의 무순서 — 행 순서 의미 없음</a:t>
            </a:r>
            <a:br/>
            <a:r>
              <a:t>   속성의 무순서 — 열 순서 의미 없음</a:t>
            </a:r>
            <a:br/>
            <a:r>
              <a:t>   속성의 원자성 — 모든 값은 원자 값 (제1정규형의 기반)</a:t>
            </a:r>
            <a:br/>
            <a:br/>
            <a:r>
              <a:t>3. 키의 체계</a:t>
            </a:r>
            <a:br/>
            <a:r>
              <a:t>   슈퍼키(유일성만) ⊃ 후보키(유일성+최소성) ⊃ 기본키(대표 선택) | 대체키(나머지)</a:t>
            </a:r>
            <a:br/>
            <a:r>
              <a:t>   외래키 = 다른 릴레이션의 기본키를 참조하는 속성 (자기 참조 가능)</a:t>
            </a:r>
            <a:br/>
            <a:br/>
            <a:r>
              <a:t>4. NULL ≠ 0 ≠ 공백</a:t>
            </a:r>
            <a:br/>
            <a:r>
              <a:t>   NULL은 '아직 모르는 값' 또는 '해당 없음'</a:t>
            </a:r>
            <a:br/>
            <a:br/>
            <a:r>
              <a:t>5. 무결성 3총사 (도-개-참)</a:t>
            </a:r>
            <a:br/>
            <a:r>
              <a:t>   도메인 무결성: 속성 값은 도메인에 속해야 함</a:t>
            </a:r>
            <a:br/>
            <a:r>
              <a:t>   개체 무결성: 기본키 NULL 금지</a:t>
            </a:r>
            <a:br/>
            <a:r>
              <a:t>   참조 무결성: 외래키는 참조할 수 없는 값 불가, NULL은 허용</a:t>
            </a:r>
            <a:br/>
            <a:br/>
            <a:r>
              <a:t>6. 참조 무결성 검사 표</a:t>
            </a:r>
            <a:br/>
            <a:r>
              <a:t>   기본키(참조되는 쪽): Delete ○, Update ○, Insert X</a:t>
            </a:r>
            <a:br/>
            <a:r>
              <a:t>   외래키(참조하는 쪽): Insert ○, Update ○, Delete X</a:t>
            </a:r>
            <a:br/>
            <a:br/>
            <a:r>
              <a:t>다음 시간에는 관계 데이터 연산에 대해 배울 예정이니, 오늘 배운 용어와 개념을 꼭 복습해 오세요. 특히 키의 종류와 무결성 제약조건은 6장 이후에도 계속 사용되니까, 확실히 다져두시길 바랍니다.</a:t>
            </a:r>
            <a:br/>
            <a:br/>
            <a:r>
              <a:t>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5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5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3108960"/>
            <a:ext cx="9144000" cy="2034540"/>
          </a:xfrm>
          <a:prstGeom prst="rect">
            <a:avLst/>
          </a:prstGeom>
          <a:solidFill>
            <a:srgbClr val="1C7293"/>
          </a:solidFill>
          <a:ln/>
        </p:spPr>
      </p:sp>
      <p:sp>
        <p:nvSpPr>
          <p:cNvPr id="3" name="Text 1"/>
          <p:cNvSpPr/>
          <p:nvPr/>
        </p:nvSpPr>
        <p:spPr>
          <a:xfrm>
            <a:off x="731520" y="731520"/>
            <a:ext cx="7680960" cy="457200"/>
          </a:xfrm>
          <a:prstGeom prst="rect">
            <a:avLst/>
          </a:prstGeom>
          <a:noFill/>
          <a:ln/>
        </p:spPr>
        <p:txBody>
          <a:bodyPr wrap="square" rtlCol="0" anchor="ctr"/>
          <a:lstStyle/>
          <a:p>
            <a:pPr marL="0" indent="0">
              <a:buNone/>
            </a:pPr>
            <a:r>
              <a:rPr lang="en-US" sz="1400" b="1" kern="0" spc="400" dirty="0">
                <a:solidFill>
                  <a:srgbClr val="E8A838"/>
                </a:solidFill>
                <a:latin typeface="Calibri" pitchFamily="34" charset="0"/>
                <a:ea typeface="Calibri" pitchFamily="34" charset="-122"/>
                <a:cs typeface="Calibri" pitchFamily="34" charset="-120"/>
              </a:rPr>
              <a:t>CHAPTER 05</a:t>
            </a:r>
            <a:endParaRPr lang="en-US" sz="1400" dirty="0"/>
          </a:p>
        </p:txBody>
      </p:sp>
      <p:sp>
        <p:nvSpPr>
          <p:cNvPr id="4" name="Text 2"/>
          <p:cNvSpPr/>
          <p:nvPr/>
        </p:nvSpPr>
        <p:spPr>
          <a:xfrm>
            <a:off x="731520" y="1280160"/>
            <a:ext cx="7680960" cy="640080"/>
          </a:xfrm>
          <a:prstGeom prst="rect">
            <a:avLst/>
          </a:prstGeom>
          <a:noFill/>
          <a:ln/>
        </p:spPr>
        <p:txBody>
          <a:bodyPr wrap="square"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관계 데이터 모델</a:t>
            </a:r>
            <a:endParaRPr lang="en-US" sz="3600" dirty="0"/>
          </a:p>
        </p:txBody>
      </p:sp>
      <p:sp>
        <p:nvSpPr>
          <p:cNvPr id="5" name="Text 3"/>
          <p:cNvSpPr/>
          <p:nvPr/>
        </p:nvSpPr>
        <p:spPr>
          <a:xfrm>
            <a:off x="731520" y="1965960"/>
            <a:ext cx="7680960" cy="502920"/>
          </a:xfrm>
          <a:prstGeom prst="rect">
            <a:avLst/>
          </a:prstGeom>
          <a:noFill/>
          <a:ln/>
        </p:spPr>
        <p:txBody>
          <a:bodyPr wrap="square" rtlCol="0" anchor="ctr"/>
          <a:lstStyle/>
          <a:p>
            <a:pPr marL="0" indent="0">
              <a:buNone/>
            </a:pPr>
            <a:r>
              <a:rPr lang="en-US" sz="2200" dirty="0">
                <a:solidFill>
                  <a:srgbClr val="94A3B8"/>
                </a:solidFill>
                <a:latin typeface="Georgia" pitchFamily="34" charset="0"/>
                <a:ea typeface="Georgia" pitchFamily="34" charset="-122"/>
                <a:cs typeface="Georgia" pitchFamily="34" charset="-120"/>
              </a:rPr>
              <a:t>연습문제 해답</a:t>
            </a:r>
            <a:endParaRPr lang="en-US" sz="2200" dirty="0"/>
          </a:p>
        </p:txBody>
      </p:sp>
      <p:sp>
        <p:nvSpPr>
          <p:cNvPr id="6" name="Text 4"/>
          <p:cNvSpPr/>
          <p:nvPr/>
        </p:nvSpPr>
        <p:spPr>
          <a:xfrm>
            <a:off x="731520" y="2514600"/>
            <a:ext cx="7680960" cy="365760"/>
          </a:xfrm>
          <a:prstGeom prst="rect">
            <a:avLst/>
          </a:prstGeom>
          <a:noFill/>
          <a:ln/>
        </p:spPr>
        <p:txBody>
          <a:bodyPr wrap="square"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Relational Data Model — Exercises &amp; Solutions</a:t>
            </a:r>
            <a:endParaRPr lang="en-US" sz="1200" dirty="0"/>
          </a:p>
        </p:txBody>
      </p:sp>
      <p:sp>
        <p:nvSpPr>
          <p:cNvPr id="7" name="Text 5"/>
          <p:cNvSpPr/>
          <p:nvPr/>
        </p:nvSpPr>
        <p:spPr>
          <a:xfrm>
            <a:off x="731520" y="3383280"/>
            <a:ext cx="7680960" cy="36576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대전대학교 컴퓨터공학과  |  박상돈</a:t>
            </a:r>
            <a:endParaRPr lang="en-US" sz="1400" dirty="0"/>
          </a:p>
        </p:txBody>
      </p:sp>
      <p:sp>
        <p:nvSpPr>
          <p:cNvPr id="8" name="Text 6"/>
          <p:cNvSpPr/>
          <p:nvPr/>
        </p:nvSpPr>
        <p:spPr>
          <a:xfrm>
            <a:off x="731520" y="3840480"/>
            <a:ext cx="7680960" cy="320040"/>
          </a:xfrm>
          <a:prstGeom prst="rect">
            <a:avLst/>
          </a:prstGeom>
          <a:noFill/>
          <a:ln/>
        </p:spPr>
        <p:txBody>
          <a:bodyPr wrap="square" rtlCol="0" anchor="ctr"/>
          <a:lstStyle/>
          <a:p>
            <a:pPr marL="0" indent="0">
              <a:buNone/>
            </a:pPr>
            <a:r>
              <a:rPr lang="en-US" sz="1200" dirty="0">
                <a:solidFill>
                  <a:srgbClr val="B0D0E8"/>
                </a:solidFill>
                <a:latin typeface="Calibri" pitchFamily="34" charset="0"/>
                <a:ea typeface="Calibri" pitchFamily="34" charset="-122"/>
                <a:cs typeface="Calibri" pitchFamily="34" charset="-120"/>
              </a:rPr>
              <a:t>총 28문제  ·  객관식 + 서술형 + OX</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다음 중 개체에 관한 데이터를 릴레이션이라 불리는 테이블 형태로 저장하고,</a:t>
            </a:r>
            <a:endParaRPr lang="en-US" sz="1400" dirty="0"/>
          </a:p>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릴레이션들 사이의 관계는 기본키와 이를 참조하는 외래키로 표현하는 논리적 데이터 모델은?</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계층 데이터 모델</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네트워크 데이터 모델</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관계 데이터 모델</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객체지향 데이터 모델</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다음 중 개체에 관한 데이터를 릴레이션이라 불리는 테이블 형태로 저장하고, ...</a:t>
            </a:r>
            <a:endParaRPr lang="en-US" sz="1100" dirty="0"/>
          </a:p>
        </p:txBody>
      </p:sp>
      <p:sp>
        <p:nvSpPr>
          <p:cNvPr id="8" name="Shape 6"/>
          <p:cNvSpPr/>
          <p:nvPr/>
        </p:nvSpPr>
        <p:spPr>
          <a:xfrm>
            <a:off x="457200" y="1234440"/>
            <a:ext cx="82296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계층 데이터 모델</a:t>
            </a:r>
            <a:endParaRPr lang="en-US" sz="1200" dirty="0"/>
          </a:p>
        </p:txBody>
      </p:sp>
      <p:sp>
        <p:nvSpPr>
          <p:cNvPr id="12" name="Shape 10"/>
          <p:cNvSpPr/>
          <p:nvPr/>
        </p:nvSpPr>
        <p:spPr>
          <a:xfrm>
            <a:off x="457200" y="1691640"/>
            <a:ext cx="8229600"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네트워크 데이터 모델</a:t>
            </a:r>
            <a:endParaRPr lang="en-US" sz="1200" dirty="0"/>
          </a:p>
        </p:txBody>
      </p:sp>
      <p:sp>
        <p:nvSpPr>
          <p:cNvPr id="16" name="Shape 14"/>
          <p:cNvSpPr/>
          <p:nvPr/>
        </p:nvSpPr>
        <p:spPr>
          <a:xfrm>
            <a:off x="457200" y="2148840"/>
            <a:ext cx="8229600" cy="402336"/>
          </a:xfrm>
          <a:prstGeom prst="rect">
            <a:avLst/>
          </a:prstGeom>
          <a:solidFill>
            <a:srgbClr val="EFF6FF"/>
          </a:solidFill>
          <a:ln w="19050">
            <a:solidFill>
              <a:srgbClr val="3B82F6"/>
            </a:solidFill>
            <a:prstDash val="solid"/>
          </a:ln>
        </p:spPr>
      </p:sp>
      <p:sp>
        <p:nvSpPr>
          <p:cNvPr id="17" name="Shape 15"/>
          <p:cNvSpPr/>
          <p:nvPr/>
        </p:nvSpPr>
        <p:spPr>
          <a:xfrm>
            <a:off x="530352" y="2203704"/>
            <a:ext cx="292608" cy="292608"/>
          </a:xfrm>
          <a:prstGeom prst="ellipse">
            <a:avLst/>
          </a:prstGeom>
          <a:solidFill>
            <a:srgbClr val="3B82F6"/>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관계 데이터 모델</a:t>
            </a:r>
            <a:endParaRPr lang="en-US" sz="1200" dirty="0"/>
          </a:p>
        </p:txBody>
      </p:sp>
      <p:sp>
        <p:nvSpPr>
          <p:cNvPr id="20" name="Text 18"/>
          <p:cNvSpPr/>
          <p:nvPr/>
        </p:nvSpPr>
        <p:spPr>
          <a:xfrm>
            <a:off x="8046720" y="21488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457200" y="2606040"/>
            <a:ext cx="8229600" cy="402336"/>
          </a:xfrm>
          <a:prstGeom prst="rect">
            <a:avLst/>
          </a:prstGeom>
          <a:solidFill>
            <a:srgbClr val="FFFFFF"/>
          </a:solidFill>
          <a:ln w="9525">
            <a:solidFill>
              <a:srgbClr val="CBD5E1"/>
            </a:solidFill>
            <a:prstDash val="solid"/>
          </a:ln>
        </p:spPr>
      </p:sp>
      <p:sp>
        <p:nvSpPr>
          <p:cNvPr id="22" name="Shape 20"/>
          <p:cNvSpPr/>
          <p:nvPr/>
        </p:nvSpPr>
        <p:spPr>
          <a:xfrm>
            <a:off x="530352" y="2660904"/>
            <a:ext cx="292608" cy="292608"/>
          </a:xfrm>
          <a:prstGeom prst="ellipse">
            <a:avLst/>
          </a:prstGeom>
          <a:solidFill>
            <a:srgbClr val="E2E8F0"/>
          </a:solidFill>
          <a:ln/>
        </p:spPr>
      </p:sp>
      <p:sp>
        <p:nvSpPr>
          <p:cNvPr id="23" name="Text 21"/>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2"/>
          <p:cNvSpPr/>
          <p:nvPr/>
        </p:nvSpPr>
        <p:spPr>
          <a:xfrm>
            <a:off x="914400" y="26060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객체지향 데이터 모델</a:t>
            </a:r>
            <a:endParaRPr lang="en-US" sz="12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관계 데이터 모델은 데이터를 2차원 테이블(릴레이션) 형태로 저장하고,</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기본키와 외래키를 이용하여 릴레이션 간의 관계를 표현하는</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논리적 데이터 모델입니다.</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계층 모델은 트리 구조, 네트워크 모델은 그래프 구조,</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객체지향 모델은 객체와 상속을 이용합니다.</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릴레이션에 대한 설명으로 옳지 않은 것은?</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릴레이션은 릴레이션 스키마와 릴레이션 인스턴스로 구성된다</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릴레이션 스키마는 릴레이션의 논리적 구조이다 (= 릴레이션 내포)</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릴레이션 인스턴스는 투플들의 집합이다 (= 릴레이션 외연)</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릴레이션 스키마는 동적이고, 릴레이션 인스턴스는 정적인 특징을 가진다</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릴레이션에 대한 설명으로 옳지 않은 것은?</a:t>
            </a:r>
            <a:endParaRPr lang="en-US" sz="1100" dirty="0"/>
          </a:p>
        </p:txBody>
      </p:sp>
      <p:sp>
        <p:nvSpPr>
          <p:cNvPr id="8" name="Shape 6"/>
          <p:cNvSpPr/>
          <p:nvPr/>
        </p:nvSpPr>
        <p:spPr>
          <a:xfrm>
            <a:off x="457200" y="1234440"/>
            <a:ext cx="82296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릴레이션은 릴레이션 스키마와 릴레이션 인스턴스로 구성된다</a:t>
            </a:r>
            <a:endParaRPr lang="en-US" sz="1200" dirty="0"/>
          </a:p>
        </p:txBody>
      </p:sp>
      <p:sp>
        <p:nvSpPr>
          <p:cNvPr id="12" name="Shape 10"/>
          <p:cNvSpPr/>
          <p:nvPr/>
        </p:nvSpPr>
        <p:spPr>
          <a:xfrm>
            <a:off x="457200" y="1691640"/>
            <a:ext cx="8229600"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릴레이션 스키마는 릴레이션의 논리적 구조이다 (= 릴레이션 내포)</a:t>
            </a:r>
            <a:endParaRPr lang="en-US" sz="1200" dirty="0"/>
          </a:p>
        </p:txBody>
      </p:sp>
      <p:sp>
        <p:nvSpPr>
          <p:cNvPr id="16" name="Shape 14"/>
          <p:cNvSpPr/>
          <p:nvPr/>
        </p:nvSpPr>
        <p:spPr>
          <a:xfrm>
            <a:off x="457200" y="2148840"/>
            <a:ext cx="8229600" cy="402336"/>
          </a:xfrm>
          <a:prstGeom prst="rect">
            <a:avLst/>
          </a:prstGeom>
          <a:solidFill>
            <a:srgbClr val="FFFFFF"/>
          </a:solidFill>
          <a:ln w="9525">
            <a:solidFill>
              <a:srgbClr val="CBD5E1"/>
            </a:solidFill>
            <a:prstDash val="solid"/>
          </a:ln>
        </p:spPr>
      </p:sp>
      <p:sp>
        <p:nvSpPr>
          <p:cNvPr id="17" name="Shape 15"/>
          <p:cNvSpPr/>
          <p:nvPr/>
        </p:nvSpPr>
        <p:spPr>
          <a:xfrm>
            <a:off x="530352" y="2203704"/>
            <a:ext cx="292608" cy="292608"/>
          </a:xfrm>
          <a:prstGeom prst="ellipse">
            <a:avLst/>
          </a:prstGeom>
          <a:solidFill>
            <a:srgbClr val="E2E8F0"/>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릴레이션 인스턴스는 투플들의 집합이다 (= 릴레이션 외연)</a:t>
            </a:r>
            <a:endParaRPr lang="en-US" sz="1200" dirty="0"/>
          </a:p>
        </p:txBody>
      </p:sp>
      <p:sp>
        <p:nvSpPr>
          <p:cNvPr id="20" name="Shape 18"/>
          <p:cNvSpPr/>
          <p:nvPr/>
        </p:nvSpPr>
        <p:spPr>
          <a:xfrm>
            <a:off x="457200" y="2606040"/>
            <a:ext cx="8229600" cy="402336"/>
          </a:xfrm>
          <a:prstGeom prst="rect">
            <a:avLst/>
          </a:prstGeom>
          <a:solidFill>
            <a:srgbClr val="EFF6FF"/>
          </a:solidFill>
          <a:ln w="19050">
            <a:solidFill>
              <a:srgbClr val="3B82F6"/>
            </a:solidFill>
            <a:prstDash val="solid"/>
          </a:ln>
        </p:spPr>
      </p:sp>
      <p:sp>
        <p:nvSpPr>
          <p:cNvPr id="21" name="Shape 19"/>
          <p:cNvSpPr/>
          <p:nvPr/>
        </p:nvSpPr>
        <p:spPr>
          <a:xfrm>
            <a:off x="530352" y="2660904"/>
            <a:ext cx="292608" cy="292608"/>
          </a:xfrm>
          <a:prstGeom prst="ellipse">
            <a:avLst/>
          </a:prstGeom>
          <a:solidFill>
            <a:srgbClr val="3B82F6"/>
          </a:solidFill>
          <a:ln/>
        </p:spPr>
      </p:sp>
      <p:sp>
        <p:nvSpPr>
          <p:cNvPr id="22" name="Text 20"/>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14400" y="26060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릴레이션 스키마는 동적이고, 릴레이션 인스턴스는 정적인 특징을 가진다</a:t>
            </a:r>
            <a:endParaRPr lang="en-US" sz="1200" dirty="0"/>
          </a:p>
        </p:txBody>
      </p:sp>
      <p:sp>
        <p:nvSpPr>
          <p:cNvPr id="24" name="Text 22"/>
          <p:cNvSpPr/>
          <p:nvPr/>
        </p:nvSpPr>
        <p:spPr>
          <a:xfrm>
            <a:off x="8046720" y="26060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릴레이션 스키마는 정적(구조는 잘 안 바뀜)이고,</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릴레이션 인스턴스는 동적(투플이 수시로 변함)입니다.</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보기 ④는 이 관계를 반대로 서술한 틀린 설명입니다.</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3</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릴레이션에 대한 설명 중 옳지 않은 것은?</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하나의 릴레이션에는 동일한 투플이 존재할 수 없다</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하나의 릴레이션에서 투플 사이의 순서는 무의미하다</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하나의 릴레이션에서 속성 사이의 순서는 무의미하다</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모든 속성 값은 논리적으로 분해 가능한 복합값이어야 한다</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3</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릴레이션에 대한 설명 중 옳지 않은 것은?</a:t>
            </a:r>
            <a:endParaRPr lang="en-US" sz="1100" dirty="0"/>
          </a:p>
        </p:txBody>
      </p:sp>
      <p:sp>
        <p:nvSpPr>
          <p:cNvPr id="8" name="Shape 6"/>
          <p:cNvSpPr/>
          <p:nvPr/>
        </p:nvSpPr>
        <p:spPr>
          <a:xfrm>
            <a:off x="457200" y="1234440"/>
            <a:ext cx="82296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하나의 릴레이션에는 동일한 투플이 존재할 수 없다</a:t>
            </a:r>
            <a:endParaRPr lang="en-US" sz="1200" dirty="0"/>
          </a:p>
        </p:txBody>
      </p:sp>
      <p:sp>
        <p:nvSpPr>
          <p:cNvPr id="12" name="Shape 10"/>
          <p:cNvSpPr/>
          <p:nvPr/>
        </p:nvSpPr>
        <p:spPr>
          <a:xfrm>
            <a:off x="457200" y="1691640"/>
            <a:ext cx="8229600"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하나의 릴레이션에서 투플 사이의 순서는 무의미하다</a:t>
            </a:r>
            <a:endParaRPr lang="en-US" sz="1200" dirty="0"/>
          </a:p>
        </p:txBody>
      </p:sp>
      <p:sp>
        <p:nvSpPr>
          <p:cNvPr id="16" name="Shape 14"/>
          <p:cNvSpPr/>
          <p:nvPr/>
        </p:nvSpPr>
        <p:spPr>
          <a:xfrm>
            <a:off x="457200" y="2148840"/>
            <a:ext cx="8229600" cy="402336"/>
          </a:xfrm>
          <a:prstGeom prst="rect">
            <a:avLst/>
          </a:prstGeom>
          <a:solidFill>
            <a:srgbClr val="FFFFFF"/>
          </a:solidFill>
          <a:ln w="9525">
            <a:solidFill>
              <a:srgbClr val="CBD5E1"/>
            </a:solidFill>
            <a:prstDash val="solid"/>
          </a:ln>
        </p:spPr>
      </p:sp>
      <p:sp>
        <p:nvSpPr>
          <p:cNvPr id="17" name="Shape 15"/>
          <p:cNvSpPr/>
          <p:nvPr/>
        </p:nvSpPr>
        <p:spPr>
          <a:xfrm>
            <a:off x="530352" y="2203704"/>
            <a:ext cx="292608" cy="292608"/>
          </a:xfrm>
          <a:prstGeom prst="ellipse">
            <a:avLst/>
          </a:prstGeom>
          <a:solidFill>
            <a:srgbClr val="E2E8F0"/>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하나의 릴레이션에서 속성 사이의 순서는 무의미하다</a:t>
            </a:r>
            <a:endParaRPr lang="en-US" sz="1200" dirty="0"/>
          </a:p>
        </p:txBody>
      </p:sp>
      <p:sp>
        <p:nvSpPr>
          <p:cNvPr id="20" name="Shape 18"/>
          <p:cNvSpPr/>
          <p:nvPr/>
        </p:nvSpPr>
        <p:spPr>
          <a:xfrm>
            <a:off x="457200" y="2606040"/>
            <a:ext cx="8229600" cy="402336"/>
          </a:xfrm>
          <a:prstGeom prst="rect">
            <a:avLst/>
          </a:prstGeom>
          <a:solidFill>
            <a:srgbClr val="EFF6FF"/>
          </a:solidFill>
          <a:ln w="19050">
            <a:solidFill>
              <a:srgbClr val="3B82F6"/>
            </a:solidFill>
            <a:prstDash val="solid"/>
          </a:ln>
        </p:spPr>
      </p:sp>
      <p:sp>
        <p:nvSpPr>
          <p:cNvPr id="21" name="Shape 19"/>
          <p:cNvSpPr/>
          <p:nvPr/>
        </p:nvSpPr>
        <p:spPr>
          <a:xfrm>
            <a:off x="530352" y="2660904"/>
            <a:ext cx="292608" cy="292608"/>
          </a:xfrm>
          <a:prstGeom prst="ellipse">
            <a:avLst/>
          </a:prstGeom>
          <a:solidFill>
            <a:srgbClr val="3B82F6"/>
          </a:solidFill>
          <a:ln/>
        </p:spPr>
      </p:sp>
      <p:sp>
        <p:nvSpPr>
          <p:cNvPr id="22" name="Text 20"/>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14400" y="26060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모든 속성 값은 논리적으로 분해 가능한 복합값이어야 한다</a:t>
            </a:r>
            <a:endParaRPr lang="en-US" sz="1200" dirty="0"/>
          </a:p>
        </p:txBody>
      </p:sp>
      <p:sp>
        <p:nvSpPr>
          <p:cNvPr id="24" name="Text 22"/>
          <p:cNvSpPr/>
          <p:nvPr/>
        </p:nvSpPr>
        <p:spPr>
          <a:xfrm>
            <a:off x="8046720" y="26060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릴레이션의 속성 값은 원자 값(atomic value)이어야 합니다.</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즉, 더 이상 분해할 수 없는 하나의 값이어야 하며,</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복합값(다중 값)이면 안 됩니다. → 속성의 원자성</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①투플의 유일성 ②투플의 무순서 ③속성의 무순서</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4</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58</a:t>
            </a:r>
            <a:endParaRPr lang="en-US" sz="900" dirty="0"/>
          </a:p>
        </p:txBody>
      </p:sp>
      <p:sp>
        <p:nvSpPr>
          <p:cNvPr id="7" name="Text 5"/>
          <p:cNvSpPr/>
          <p:nvPr/>
        </p:nvSpPr>
        <p:spPr>
          <a:xfrm>
            <a:off x="457200" y="777240"/>
            <a:ext cx="5029200" cy="137160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릴레이션 관련 용어에 대한 설명으로 옳지 않은 것은?</a:t>
            </a:r>
            <a:endParaRPr lang="en-US" sz="1400" dirty="0"/>
          </a:p>
        </p:txBody>
      </p:sp>
      <p:pic>
        <p:nvPicPr>
          <p:cNvPr id="8" name="Image 0" descr="/home/claude/ch5imgs/fig5_1_customer.jpeg"/>
          <p:cNvPicPr>
            <a:picLocks noChangeAspect="1"/>
          </p:cNvPicPr>
          <p:nvPr/>
        </p:nvPicPr>
        <p:blipFill rotWithShape="1">
          <a:blip r:embed="rId3"/>
          <a:srcRect/>
          <a:stretch>
            <a:fillRect/>
          </a:stretch>
        </p:blipFill>
        <p:spPr>
          <a:xfrm>
            <a:off x="5055963" y="731520"/>
            <a:ext cx="3813717" cy="2011680"/>
          </a:xfrm>
          <a:prstGeom prst="rect">
            <a:avLst/>
          </a:prstGeom>
        </p:spPr>
      </p:pic>
      <p:sp>
        <p:nvSpPr>
          <p:cNvPr id="9" name="Shape 6"/>
          <p:cNvSpPr/>
          <p:nvPr/>
        </p:nvSpPr>
        <p:spPr>
          <a:xfrm>
            <a:off x="457200" y="2926080"/>
            <a:ext cx="8229600" cy="429768"/>
          </a:xfrm>
          <a:prstGeom prst="rect">
            <a:avLst/>
          </a:prstGeom>
          <a:solidFill>
            <a:srgbClr val="FFFFFF"/>
          </a:solidFill>
          <a:ln w="12700">
            <a:solidFill>
              <a:srgbClr val="CBD5E1"/>
            </a:solidFill>
            <a:prstDash val="solid"/>
          </a:ln>
        </p:spPr>
      </p:sp>
      <p:sp>
        <p:nvSpPr>
          <p:cNvPr id="10" name="Shape 7"/>
          <p:cNvSpPr/>
          <p:nvPr/>
        </p:nvSpPr>
        <p:spPr>
          <a:xfrm>
            <a:off x="530352" y="2990088"/>
            <a:ext cx="301752" cy="301752"/>
          </a:xfrm>
          <a:prstGeom prst="ellipse">
            <a:avLst/>
          </a:prstGeom>
          <a:solidFill>
            <a:srgbClr val="E2E8F0"/>
          </a:solidFill>
          <a:ln/>
        </p:spPr>
      </p:sp>
      <p:sp>
        <p:nvSpPr>
          <p:cNvPr id="11" name="Text 8"/>
          <p:cNvSpPr/>
          <p:nvPr/>
        </p:nvSpPr>
        <p:spPr>
          <a:xfrm>
            <a:off x="530352" y="29900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2" name="Text 9"/>
          <p:cNvSpPr/>
          <p:nvPr/>
        </p:nvSpPr>
        <p:spPr>
          <a:xfrm>
            <a:off x="960120" y="29260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속성은 릴레이션에서 열을 의미한다</a:t>
            </a:r>
            <a:endParaRPr lang="en-US" sz="1300" dirty="0"/>
          </a:p>
        </p:txBody>
      </p:sp>
      <p:sp>
        <p:nvSpPr>
          <p:cNvPr id="13" name="Shape 10"/>
          <p:cNvSpPr/>
          <p:nvPr/>
        </p:nvSpPr>
        <p:spPr>
          <a:xfrm>
            <a:off x="457200" y="3429000"/>
            <a:ext cx="8229600" cy="429768"/>
          </a:xfrm>
          <a:prstGeom prst="rect">
            <a:avLst/>
          </a:prstGeom>
          <a:solidFill>
            <a:srgbClr val="FFFFFF"/>
          </a:solidFill>
          <a:ln w="12700">
            <a:solidFill>
              <a:srgbClr val="CBD5E1"/>
            </a:solidFill>
            <a:prstDash val="solid"/>
          </a:ln>
        </p:spPr>
      </p:sp>
      <p:sp>
        <p:nvSpPr>
          <p:cNvPr id="14" name="Shape 11"/>
          <p:cNvSpPr/>
          <p:nvPr/>
        </p:nvSpPr>
        <p:spPr>
          <a:xfrm>
            <a:off x="530352" y="3493008"/>
            <a:ext cx="301752" cy="301752"/>
          </a:xfrm>
          <a:prstGeom prst="ellipse">
            <a:avLst/>
          </a:prstGeom>
          <a:solidFill>
            <a:srgbClr val="E2E8F0"/>
          </a:solidFill>
          <a:ln/>
        </p:spPr>
      </p:sp>
      <p:sp>
        <p:nvSpPr>
          <p:cNvPr id="15" name="Text 12"/>
          <p:cNvSpPr/>
          <p:nvPr/>
        </p:nvSpPr>
        <p:spPr>
          <a:xfrm>
            <a:off x="530352" y="34930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6" name="Text 13"/>
          <p:cNvSpPr/>
          <p:nvPr/>
        </p:nvSpPr>
        <p:spPr>
          <a:xfrm>
            <a:off x="960120" y="34290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투플은 릴레이션에서 행을 의미한다</a:t>
            </a:r>
            <a:endParaRPr lang="en-US" sz="1300" dirty="0"/>
          </a:p>
        </p:txBody>
      </p:sp>
      <p:sp>
        <p:nvSpPr>
          <p:cNvPr id="17" name="Shape 14"/>
          <p:cNvSpPr/>
          <p:nvPr/>
        </p:nvSpPr>
        <p:spPr>
          <a:xfrm>
            <a:off x="457200" y="3931920"/>
            <a:ext cx="8229600" cy="429768"/>
          </a:xfrm>
          <a:prstGeom prst="rect">
            <a:avLst/>
          </a:prstGeom>
          <a:solidFill>
            <a:srgbClr val="FFFFFF"/>
          </a:solidFill>
          <a:ln w="12700">
            <a:solidFill>
              <a:srgbClr val="CBD5E1"/>
            </a:solidFill>
            <a:prstDash val="solid"/>
          </a:ln>
        </p:spPr>
      </p:sp>
      <p:sp>
        <p:nvSpPr>
          <p:cNvPr id="18" name="Shape 15"/>
          <p:cNvSpPr/>
          <p:nvPr/>
        </p:nvSpPr>
        <p:spPr>
          <a:xfrm>
            <a:off x="530352" y="3995928"/>
            <a:ext cx="301752" cy="301752"/>
          </a:xfrm>
          <a:prstGeom prst="ellipse">
            <a:avLst/>
          </a:prstGeom>
          <a:solidFill>
            <a:srgbClr val="E2E8F0"/>
          </a:solidFill>
          <a:ln/>
        </p:spPr>
      </p:sp>
      <p:sp>
        <p:nvSpPr>
          <p:cNvPr id="19" name="Text 16"/>
          <p:cNvSpPr/>
          <p:nvPr/>
        </p:nvSpPr>
        <p:spPr>
          <a:xfrm>
            <a:off x="530352" y="39959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20" name="Text 17"/>
          <p:cNvSpPr/>
          <p:nvPr/>
        </p:nvSpPr>
        <p:spPr>
          <a:xfrm>
            <a:off x="960120" y="39319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도메인은 릴레이션에서 전체 속성의 개수를 의미한다</a:t>
            </a:r>
            <a:endParaRPr lang="en-US" sz="1300" dirty="0"/>
          </a:p>
        </p:txBody>
      </p:sp>
      <p:sp>
        <p:nvSpPr>
          <p:cNvPr id="21" name="Shape 18"/>
          <p:cNvSpPr/>
          <p:nvPr/>
        </p:nvSpPr>
        <p:spPr>
          <a:xfrm>
            <a:off x="457200" y="4434840"/>
            <a:ext cx="8229600" cy="429768"/>
          </a:xfrm>
          <a:prstGeom prst="rect">
            <a:avLst/>
          </a:prstGeom>
          <a:solidFill>
            <a:srgbClr val="FFFFFF"/>
          </a:solidFill>
          <a:ln w="12700">
            <a:solidFill>
              <a:srgbClr val="CBD5E1"/>
            </a:solidFill>
            <a:prstDash val="solid"/>
          </a:ln>
        </p:spPr>
      </p:sp>
      <p:sp>
        <p:nvSpPr>
          <p:cNvPr id="22" name="Shape 19"/>
          <p:cNvSpPr/>
          <p:nvPr/>
        </p:nvSpPr>
        <p:spPr>
          <a:xfrm>
            <a:off x="530352" y="4498848"/>
            <a:ext cx="301752" cy="301752"/>
          </a:xfrm>
          <a:prstGeom prst="ellipse">
            <a:avLst/>
          </a:prstGeom>
          <a:solidFill>
            <a:srgbClr val="E2E8F0"/>
          </a:solidFill>
          <a:ln/>
        </p:spPr>
      </p:sp>
      <p:sp>
        <p:nvSpPr>
          <p:cNvPr id="23" name="Text 20"/>
          <p:cNvSpPr/>
          <p:nvPr/>
        </p:nvSpPr>
        <p:spPr>
          <a:xfrm>
            <a:off x="530352" y="449884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1"/>
          <p:cNvSpPr/>
          <p:nvPr/>
        </p:nvSpPr>
        <p:spPr>
          <a:xfrm>
            <a:off x="960120" y="443484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카디널리티는 릴레이션에서 전체 투플의 개수를 의미한다</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4</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릴레이션 관련 용어에 대한 설명으로 옳지 않은 것은?</a:t>
            </a:r>
            <a:endParaRPr lang="en-US" sz="1100" dirty="0"/>
          </a:p>
        </p:txBody>
      </p:sp>
      <p:sp>
        <p:nvSpPr>
          <p:cNvPr id="8" name="Shape 6"/>
          <p:cNvSpPr/>
          <p:nvPr/>
        </p:nvSpPr>
        <p:spPr>
          <a:xfrm>
            <a:off x="457200" y="1234440"/>
            <a:ext cx="82296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속성은 릴레이션에서 열을 의미한다</a:t>
            </a:r>
            <a:endParaRPr lang="en-US" sz="1200" dirty="0"/>
          </a:p>
        </p:txBody>
      </p:sp>
      <p:sp>
        <p:nvSpPr>
          <p:cNvPr id="12" name="Shape 10"/>
          <p:cNvSpPr/>
          <p:nvPr/>
        </p:nvSpPr>
        <p:spPr>
          <a:xfrm>
            <a:off x="457200" y="1691640"/>
            <a:ext cx="8229600"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투플은 릴레이션에서 행을 의미한다</a:t>
            </a:r>
            <a:endParaRPr lang="en-US" sz="1200" dirty="0"/>
          </a:p>
        </p:txBody>
      </p:sp>
      <p:sp>
        <p:nvSpPr>
          <p:cNvPr id="16" name="Shape 14"/>
          <p:cNvSpPr/>
          <p:nvPr/>
        </p:nvSpPr>
        <p:spPr>
          <a:xfrm>
            <a:off x="457200" y="2148840"/>
            <a:ext cx="8229600" cy="402336"/>
          </a:xfrm>
          <a:prstGeom prst="rect">
            <a:avLst/>
          </a:prstGeom>
          <a:solidFill>
            <a:srgbClr val="EFF6FF"/>
          </a:solidFill>
          <a:ln w="19050">
            <a:solidFill>
              <a:srgbClr val="3B82F6"/>
            </a:solidFill>
            <a:prstDash val="solid"/>
          </a:ln>
        </p:spPr>
      </p:sp>
      <p:sp>
        <p:nvSpPr>
          <p:cNvPr id="17" name="Shape 15"/>
          <p:cNvSpPr/>
          <p:nvPr/>
        </p:nvSpPr>
        <p:spPr>
          <a:xfrm>
            <a:off x="530352" y="2203704"/>
            <a:ext cx="292608" cy="292608"/>
          </a:xfrm>
          <a:prstGeom prst="ellipse">
            <a:avLst/>
          </a:prstGeom>
          <a:solidFill>
            <a:srgbClr val="3B82F6"/>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도메인은 릴레이션에서 전체 속성의 개수를 의미한다</a:t>
            </a:r>
            <a:endParaRPr lang="en-US" sz="1200" dirty="0"/>
          </a:p>
        </p:txBody>
      </p:sp>
      <p:sp>
        <p:nvSpPr>
          <p:cNvPr id="20" name="Text 18"/>
          <p:cNvSpPr/>
          <p:nvPr/>
        </p:nvSpPr>
        <p:spPr>
          <a:xfrm>
            <a:off x="8046720" y="21488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457200" y="2606040"/>
            <a:ext cx="8229600" cy="402336"/>
          </a:xfrm>
          <a:prstGeom prst="rect">
            <a:avLst/>
          </a:prstGeom>
          <a:solidFill>
            <a:srgbClr val="FFFFFF"/>
          </a:solidFill>
          <a:ln w="9525">
            <a:solidFill>
              <a:srgbClr val="CBD5E1"/>
            </a:solidFill>
            <a:prstDash val="solid"/>
          </a:ln>
        </p:spPr>
      </p:sp>
      <p:sp>
        <p:nvSpPr>
          <p:cNvPr id="22" name="Shape 20"/>
          <p:cNvSpPr/>
          <p:nvPr/>
        </p:nvSpPr>
        <p:spPr>
          <a:xfrm>
            <a:off x="530352" y="2660904"/>
            <a:ext cx="292608" cy="292608"/>
          </a:xfrm>
          <a:prstGeom prst="ellipse">
            <a:avLst/>
          </a:prstGeom>
          <a:solidFill>
            <a:srgbClr val="E2E8F0"/>
          </a:solidFill>
          <a:ln/>
        </p:spPr>
      </p:sp>
      <p:sp>
        <p:nvSpPr>
          <p:cNvPr id="23" name="Text 21"/>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2"/>
          <p:cNvSpPr/>
          <p:nvPr/>
        </p:nvSpPr>
        <p:spPr>
          <a:xfrm>
            <a:off x="914400" y="26060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카디널리티는 릴레이션에서 전체 투플의 개수를 의미한다</a:t>
            </a:r>
            <a:endParaRPr lang="en-US" sz="12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도메인(domain)은 하나의 속성이 가질 수 있는</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모든 값의 집합입니다.</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전체 속성의 개수는 '차수(degree)'라고 </a:t>
            </a:r>
            <a:r>
              <a:rPr lang="en-US" sz="1100" dirty="0" err="1">
                <a:solidFill>
                  <a:srgbClr val="1E293B"/>
                </a:solidFill>
                <a:latin typeface="Calibri" pitchFamily="34" charset="0"/>
                <a:ea typeface="Calibri" pitchFamily="34" charset="-122"/>
                <a:cs typeface="Calibri" pitchFamily="34" charset="-120"/>
              </a:rPr>
              <a:t>합니다</a:t>
            </a:r>
            <a:r>
              <a:rPr lang="en-US" sz="1100" dirty="0">
                <a:solidFill>
                  <a:srgbClr val="1E293B"/>
                </a:solidFill>
                <a:latin typeface="Calibri" pitchFamily="34" charset="0"/>
                <a:ea typeface="Calibri" pitchFamily="34" charset="-122"/>
                <a:cs typeface="Calibri" pitchFamily="34" charset="-120"/>
              </a:rPr>
              <a:t>.</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예) 나이 속성의 도메인: 0~150 사이의 정수</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예) 등급 속성의 도메인: {gold, silver, bronze, vip}</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5</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"관계 데이터 모델 관련 용어 중 행은 (Ⓐ), 열은 (Ⓑ),</a:t>
            </a:r>
            <a:endParaRPr lang="en-US" sz="1400" dirty="0"/>
          </a:p>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그리고 (Ⓒ)는 릴레이션이라 부른다." 에서 Ⓐ, Ⓑ, Ⓒ는?</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Ⓐ-투플, Ⓑ-테이블, Ⓒ-속성</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Ⓐ-테이블, Ⓑ-속성, Ⓒ-투플</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Ⓐ-투플, Ⓑ-속성, Ⓒ-테이블</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Ⓐ-속성, Ⓑ-투플, Ⓒ-테이블</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5</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"관계 데이터 모델 관련 용어 중 행은 (Ⓐ), 열은 (Ⓑ), ...</a:t>
            </a:r>
            <a:endParaRPr lang="en-US" sz="1100" dirty="0"/>
          </a:p>
        </p:txBody>
      </p:sp>
      <p:sp>
        <p:nvSpPr>
          <p:cNvPr id="8" name="Shape 6"/>
          <p:cNvSpPr/>
          <p:nvPr/>
        </p:nvSpPr>
        <p:spPr>
          <a:xfrm>
            <a:off x="457200" y="1234440"/>
            <a:ext cx="82296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Ⓐ-투플, Ⓑ-테이블, Ⓒ-속성</a:t>
            </a:r>
            <a:endParaRPr lang="en-US" sz="1200" dirty="0"/>
          </a:p>
        </p:txBody>
      </p:sp>
      <p:sp>
        <p:nvSpPr>
          <p:cNvPr id="12" name="Shape 10"/>
          <p:cNvSpPr/>
          <p:nvPr/>
        </p:nvSpPr>
        <p:spPr>
          <a:xfrm>
            <a:off x="457200" y="1691640"/>
            <a:ext cx="8229600"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Ⓐ-테이블, Ⓑ-속성, Ⓒ-투플</a:t>
            </a:r>
            <a:endParaRPr lang="en-US" sz="1200" dirty="0"/>
          </a:p>
        </p:txBody>
      </p:sp>
      <p:sp>
        <p:nvSpPr>
          <p:cNvPr id="16" name="Shape 14"/>
          <p:cNvSpPr/>
          <p:nvPr/>
        </p:nvSpPr>
        <p:spPr>
          <a:xfrm>
            <a:off x="457200" y="2148840"/>
            <a:ext cx="8229600" cy="402336"/>
          </a:xfrm>
          <a:prstGeom prst="rect">
            <a:avLst/>
          </a:prstGeom>
          <a:solidFill>
            <a:srgbClr val="EFF6FF"/>
          </a:solidFill>
          <a:ln w="19050">
            <a:solidFill>
              <a:srgbClr val="3B82F6"/>
            </a:solidFill>
            <a:prstDash val="solid"/>
          </a:ln>
        </p:spPr>
      </p:sp>
      <p:sp>
        <p:nvSpPr>
          <p:cNvPr id="17" name="Shape 15"/>
          <p:cNvSpPr/>
          <p:nvPr/>
        </p:nvSpPr>
        <p:spPr>
          <a:xfrm>
            <a:off x="530352" y="2203704"/>
            <a:ext cx="292608" cy="292608"/>
          </a:xfrm>
          <a:prstGeom prst="ellipse">
            <a:avLst/>
          </a:prstGeom>
          <a:solidFill>
            <a:srgbClr val="3B82F6"/>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Ⓐ-투플, Ⓑ-속성, Ⓒ-테이블</a:t>
            </a:r>
            <a:endParaRPr lang="en-US" sz="1200" dirty="0"/>
          </a:p>
        </p:txBody>
      </p:sp>
      <p:sp>
        <p:nvSpPr>
          <p:cNvPr id="20" name="Text 18"/>
          <p:cNvSpPr/>
          <p:nvPr/>
        </p:nvSpPr>
        <p:spPr>
          <a:xfrm>
            <a:off x="8046720" y="21488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457200" y="2606040"/>
            <a:ext cx="8229600" cy="402336"/>
          </a:xfrm>
          <a:prstGeom prst="rect">
            <a:avLst/>
          </a:prstGeom>
          <a:solidFill>
            <a:srgbClr val="FFFFFF"/>
          </a:solidFill>
          <a:ln w="9525">
            <a:solidFill>
              <a:srgbClr val="CBD5E1"/>
            </a:solidFill>
            <a:prstDash val="solid"/>
          </a:ln>
        </p:spPr>
      </p:sp>
      <p:sp>
        <p:nvSpPr>
          <p:cNvPr id="22" name="Shape 20"/>
          <p:cNvSpPr/>
          <p:nvPr/>
        </p:nvSpPr>
        <p:spPr>
          <a:xfrm>
            <a:off x="530352" y="2660904"/>
            <a:ext cx="292608" cy="292608"/>
          </a:xfrm>
          <a:prstGeom prst="ellipse">
            <a:avLst/>
          </a:prstGeom>
          <a:solidFill>
            <a:srgbClr val="E2E8F0"/>
          </a:solidFill>
          <a:ln/>
        </p:spPr>
      </p:sp>
      <p:sp>
        <p:nvSpPr>
          <p:cNvPr id="23" name="Text 21"/>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2"/>
          <p:cNvSpPr/>
          <p:nvPr/>
        </p:nvSpPr>
        <p:spPr>
          <a:xfrm>
            <a:off x="914400" y="26060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Ⓐ-속성, Ⓑ-투플, Ⓒ-테이블</a:t>
            </a:r>
            <a:endParaRPr lang="en-US" sz="12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관계 데이터 모델의 용어 대응:</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행(row) = 투플(tuple) = 레코드(record)</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열(column) = 속성(attribute) = 필드(field)</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테이블(table) = 릴레이션(relation)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6</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12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관계 데이터 모델에서 릴레이션을 구성하는 모든 속성의 개수를</a:t>
            </a:r>
            <a:endParaRPr lang="en-US" sz="1400" dirty="0"/>
          </a:p>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무엇이라 하는가?</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도메인(domain)</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인스턴스(instance)</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차수(degree)</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카디널리티(cardinality)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6</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관계 데이터 모델에서 릴레이션을 구성하는 모든 속성의 개수를 ...</a:t>
            </a:r>
            <a:endParaRPr lang="en-US" sz="1100" dirty="0"/>
          </a:p>
        </p:txBody>
      </p:sp>
      <p:sp>
        <p:nvSpPr>
          <p:cNvPr id="8" name="Shape 6"/>
          <p:cNvSpPr/>
          <p:nvPr/>
        </p:nvSpPr>
        <p:spPr>
          <a:xfrm>
            <a:off x="457200" y="1234440"/>
            <a:ext cx="82296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도메인(domain)</a:t>
            </a:r>
            <a:endParaRPr lang="en-US" sz="1200" dirty="0"/>
          </a:p>
        </p:txBody>
      </p:sp>
      <p:sp>
        <p:nvSpPr>
          <p:cNvPr id="12" name="Shape 10"/>
          <p:cNvSpPr/>
          <p:nvPr/>
        </p:nvSpPr>
        <p:spPr>
          <a:xfrm>
            <a:off x="457200" y="1691640"/>
            <a:ext cx="8229600"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인스턴스(instance)</a:t>
            </a:r>
            <a:endParaRPr lang="en-US" sz="1200" dirty="0"/>
          </a:p>
        </p:txBody>
      </p:sp>
      <p:sp>
        <p:nvSpPr>
          <p:cNvPr id="16" name="Shape 14"/>
          <p:cNvSpPr/>
          <p:nvPr/>
        </p:nvSpPr>
        <p:spPr>
          <a:xfrm>
            <a:off x="457200" y="2148840"/>
            <a:ext cx="8229600" cy="402336"/>
          </a:xfrm>
          <a:prstGeom prst="rect">
            <a:avLst/>
          </a:prstGeom>
          <a:solidFill>
            <a:srgbClr val="EFF6FF"/>
          </a:solidFill>
          <a:ln w="19050">
            <a:solidFill>
              <a:srgbClr val="3B82F6"/>
            </a:solidFill>
            <a:prstDash val="solid"/>
          </a:ln>
        </p:spPr>
      </p:sp>
      <p:sp>
        <p:nvSpPr>
          <p:cNvPr id="17" name="Shape 15"/>
          <p:cNvSpPr/>
          <p:nvPr/>
        </p:nvSpPr>
        <p:spPr>
          <a:xfrm>
            <a:off x="530352" y="2203704"/>
            <a:ext cx="292608" cy="292608"/>
          </a:xfrm>
          <a:prstGeom prst="ellipse">
            <a:avLst/>
          </a:prstGeom>
          <a:solidFill>
            <a:srgbClr val="3B82F6"/>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차수(degree)</a:t>
            </a:r>
            <a:endParaRPr lang="en-US" sz="1200" dirty="0"/>
          </a:p>
        </p:txBody>
      </p:sp>
      <p:sp>
        <p:nvSpPr>
          <p:cNvPr id="20" name="Text 18"/>
          <p:cNvSpPr/>
          <p:nvPr/>
        </p:nvSpPr>
        <p:spPr>
          <a:xfrm>
            <a:off x="8046720" y="21488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457200" y="2606040"/>
            <a:ext cx="8229600" cy="402336"/>
          </a:xfrm>
          <a:prstGeom prst="rect">
            <a:avLst/>
          </a:prstGeom>
          <a:solidFill>
            <a:srgbClr val="FFFFFF"/>
          </a:solidFill>
          <a:ln w="9525">
            <a:solidFill>
              <a:srgbClr val="CBD5E1"/>
            </a:solidFill>
            <a:prstDash val="solid"/>
          </a:ln>
        </p:spPr>
      </p:sp>
      <p:sp>
        <p:nvSpPr>
          <p:cNvPr id="22" name="Shape 20"/>
          <p:cNvSpPr/>
          <p:nvPr/>
        </p:nvSpPr>
        <p:spPr>
          <a:xfrm>
            <a:off x="530352" y="2660904"/>
            <a:ext cx="292608" cy="292608"/>
          </a:xfrm>
          <a:prstGeom prst="ellipse">
            <a:avLst/>
          </a:prstGeom>
          <a:solidFill>
            <a:srgbClr val="E2E8F0"/>
          </a:solidFill>
          <a:ln/>
        </p:spPr>
      </p:sp>
      <p:sp>
        <p:nvSpPr>
          <p:cNvPr id="23" name="Text 21"/>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2"/>
          <p:cNvSpPr/>
          <p:nvPr/>
        </p:nvSpPr>
        <p:spPr>
          <a:xfrm>
            <a:off x="914400" y="26060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카디널리티(cardinality)</a:t>
            </a:r>
            <a:endParaRPr lang="en-US" sz="12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차수(degree)는 릴레이션의 속성(열) 수를 의미합니다.</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차수는 정적인 특성을 가집니다. (잘 변하지 않음)</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카디널리티(cardinality)는 투플(행)의 수이며</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동적인 특성을 가집니다.</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7</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14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릴레이션에서 속성에 대한 설명으로 옳지 않은 것은?</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릴레이션에서 행에 해당한다</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하나의 릴레이션의 모든 속성은 서로 다른 이름으로 구별</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속성은 파일 관점에서 데이터 필드(field)에 해당</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릴레이션을 구성하는 모든 속성의 개수를 차수라고 한다</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7</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15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릴레이션에서 속성에 대한 설명으로 옳지 않은 것은?</a:t>
            </a:r>
            <a:endParaRPr lang="en-US" sz="1100" dirty="0"/>
          </a:p>
        </p:txBody>
      </p:sp>
      <p:sp>
        <p:nvSpPr>
          <p:cNvPr id="8" name="Shape 6"/>
          <p:cNvSpPr/>
          <p:nvPr/>
        </p:nvSpPr>
        <p:spPr>
          <a:xfrm>
            <a:off x="457200" y="1234440"/>
            <a:ext cx="8229600" cy="402336"/>
          </a:xfrm>
          <a:prstGeom prst="rect">
            <a:avLst/>
          </a:prstGeom>
          <a:solidFill>
            <a:srgbClr val="EFF6FF"/>
          </a:solidFill>
          <a:ln w="19050">
            <a:solidFill>
              <a:srgbClr val="3B82F6"/>
            </a:solidFill>
            <a:prstDash val="solid"/>
          </a:ln>
        </p:spPr>
      </p:sp>
      <p:sp>
        <p:nvSpPr>
          <p:cNvPr id="9" name="Shape 7"/>
          <p:cNvSpPr/>
          <p:nvPr/>
        </p:nvSpPr>
        <p:spPr>
          <a:xfrm>
            <a:off x="530352" y="1289304"/>
            <a:ext cx="292608" cy="292608"/>
          </a:xfrm>
          <a:prstGeom prst="ellipse">
            <a:avLst/>
          </a:prstGeom>
          <a:solidFill>
            <a:srgbClr val="3B82F6"/>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릴레이션에서 행에 해당한다</a:t>
            </a:r>
            <a:endParaRPr lang="en-US" sz="1200" dirty="0"/>
          </a:p>
        </p:txBody>
      </p:sp>
      <p:sp>
        <p:nvSpPr>
          <p:cNvPr id="12" name="Text 10"/>
          <p:cNvSpPr/>
          <p:nvPr/>
        </p:nvSpPr>
        <p:spPr>
          <a:xfrm>
            <a:off x="8046720" y="12344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457200" y="1691640"/>
            <a:ext cx="8229600" cy="402336"/>
          </a:xfrm>
          <a:prstGeom prst="rect">
            <a:avLst/>
          </a:prstGeom>
          <a:solidFill>
            <a:srgbClr val="FFFFFF"/>
          </a:solidFill>
          <a:ln w="9525">
            <a:solidFill>
              <a:srgbClr val="CBD5E1"/>
            </a:solidFill>
            <a:prstDash val="solid"/>
          </a:ln>
        </p:spPr>
      </p:sp>
      <p:sp>
        <p:nvSpPr>
          <p:cNvPr id="14" name="Shape 12"/>
          <p:cNvSpPr/>
          <p:nvPr/>
        </p:nvSpPr>
        <p:spPr>
          <a:xfrm>
            <a:off x="530352" y="1746504"/>
            <a:ext cx="292608" cy="292608"/>
          </a:xfrm>
          <a:prstGeom prst="ellipse">
            <a:avLst/>
          </a:prstGeom>
          <a:solidFill>
            <a:srgbClr val="E2E8F0"/>
          </a:solidFill>
          <a:ln/>
        </p:spPr>
      </p:sp>
      <p:sp>
        <p:nvSpPr>
          <p:cNvPr id="15" name="Text 13"/>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6" name="Text 14"/>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하나의 릴레이션의 모든 속성은 서로 다른 이름으로 구별</a:t>
            </a:r>
            <a:endParaRPr lang="en-US" sz="1200" dirty="0"/>
          </a:p>
        </p:txBody>
      </p:sp>
      <p:sp>
        <p:nvSpPr>
          <p:cNvPr id="17" name="Shape 15"/>
          <p:cNvSpPr/>
          <p:nvPr/>
        </p:nvSpPr>
        <p:spPr>
          <a:xfrm>
            <a:off x="457200" y="2148840"/>
            <a:ext cx="8229600" cy="402336"/>
          </a:xfrm>
          <a:prstGeom prst="rect">
            <a:avLst/>
          </a:prstGeom>
          <a:solidFill>
            <a:srgbClr val="FFFFFF"/>
          </a:solidFill>
          <a:ln w="9525">
            <a:solidFill>
              <a:srgbClr val="CBD5E1"/>
            </a:solidFill>
            <a:prstDash val="solid"/>
          </a:ln>
        </p:spPr>
      </p:sp>
      <p:sp>
        <p:nvSpPr>
          <p:cNvPr id="18" name="Shape 16"/>
          <p:cNvSpPr/>
          <p:nvPr/>
        </p:nvSpPr>
        <p:spPr>
          <a:xfrm>
            <a:off x="530352" y="2203704"/>
            <a:ext cx="292608" cy="292608"/>
          </a:xfrm>
          <a:prstGeom prst="ellipse">
            <a:avLst/>
          </a:prstGeom>
          <a:solidFill>
            <a:srgbClr val="E2E8F0"/>
          </a:solidFill>
          <a:ln/>
        </p:spPr>
      </p:sp>
      <p:sp>
        <p:nvSpPr>
          <p:cNvPr id="19" name="Text 17"/>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20" name="Text 18"/>
          <p:cNvSpPr/>
          <p:nvPr/>
        </p:nvSpPr>
        <p:spPr>
          <a:xfrm>
            <a:off x="914400" y="21488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속성은 파일 관점에서 데이터 필드(field)에 해당</a:t>
            </a:r>
            <a:endParaRPr lang="en-US" sz="1200" dirty="0"/>
          </a:p>
        </p:txBody>
      </p:sp>
      <p:sp>
        <p:nvSpPr>
          <p:cNvPr id="21" name="Shape 19"/>
          <p:cNvSpPr/>
          <p:nvPr/>
        </p:nvSpPr>
        <p:spPr>
          <a:xfrm>
            <a:off x="457200" y="2606040"/>
            <a:ext cx="8229600" cy="402336"/>
          </a:xfrm>
          <a:prstGeom prst="rect">
            <a:avLst/>
          </a:prstGeom>
          <a:solidFill>
            <a:srgbClr val="FFFFFF"/>
          </a:solidFill>
          <a:ln w="9525">
            <a:solidFill>
              <a:srgbClr val="CBD5E1"/>
            </a:solidFill>
            <a:prstDash val="solid"/>
          </a:ln>
        </p:spPr>
      </p:sp>
      <p:sp>
        <p:nvSpPr>
          <p:cNvPr id="22" name="Shape 20"/>
          <p:cNvSpPr/>
          <p:nvPr/>
        </p:nvSpPr>
        <p:spPr>
          <a:xfrm>
            <a:off x="530352" y="2660904"/>
            <a:ext cx="292608" cy="292608"/>
          </a:xfrm>
          <a:prstGeom prst="ellipse">
            <a:avLst/>
          </a:prstGeom>
          <a:solidFill>
            <a:srgbClr val="E2E8F0"/>
          </a:solidFill>
          <a:ln/>
        </p:spPr>
      </p:sp>
      <p:sp>
        <p:nvSpPr>
          <p:cNvPr id="23" name="Text 21"/>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2"/>
          <p:cNvSpPr/>
          <p:nvPr/>
        </p:nvSpPr>
        <p:spPr>
          <a:xfrm>
            <a:off x="914400" y="26060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릴레이션을 구성하는 모든 속성의 개수를 차수라고 한다</a:t>
            </a:r>
            <a:endParaRPr lang="en-US" sz="12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속성(attribute)은 릴레이션에서 열(column)에 해당합니다.</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행(row)에 해당하는 것은 투플(tuple)입니다.</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②③④는 모두 올바른 설명입니다.</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8</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16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관계 데이터 모델에서 릴레이션에 존재하는 모든 투플의 개수를</a:t>
            </a:r>
            <a:endParaRPr lang="en-US" sz="1400" dirty="0"/>
          </a:p>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무엇이라 하는가?</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도메인(domain)</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인스턴스(instance)</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차수(degree)</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카디널리티(cardinality)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8</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17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관계 데이터 모델에서 릴레이션에 존재하는 모든 투플의 개수를 ...</a:t>
            </a:r>
            <a:endParaRPr lang="en-US" sz="1100" dirty="0"/>
          </a:p>
        </p:txBody>
      </p:sp>
      <p:sp>
        <p:nvSpPr>
          <p:cNvPr id="8" name="Shape 6"/>
          <p:cNvSpPr/>
          <p:nvPr/>
        </p:nvSpPr>
        <p:spPr>
          <a:xfrm>
            <a:off x="457200" y="1234440"/>
            <a:ext cx="82296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도메인(domain)</a:t>
            </a:r>
            <a:endParaRPr lang="en-US" sz="1200" dirty="0"/>
          </a:p>
        </p:txBody>
      </p:sp>
      <p:sp>
        <p:nvSpPr>
          <p:cNvPr id="12" name="Shape 10"/>
          <p:cNvSpPr/>
          <p:nvPr/>
        </p:nvSpPr>
        <p:spPr>
          <a:xfrm>
            <a:off x="457200" y="1691640"/>
            <a:ext cx="8229600"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인스턴스(instance)</a:t>
            </a:r>
            <a:endParaRPr lang="en-US" sz="1200" dirty="0"/>
          </a:p>
        </p:txBody>
      </p:sp>
      <p:sp>
        <p:nvSpPr>
          <p:cNvPr id="16" name="Shape 14"/>
          <p:cNvSpPr/>
          <p:nvPr/>
        </p:nvSpPr>
        <p:spPr>
          <a:xfrm>
            <a:off x="457200" y="2148840"/>
            <a:ext cx="8229600" cy="402336"/>
          </a:xfrm>
          <a:prstGeom prst="rect">
            <a:avLst/>
          </a:prstGeom>
          <a:solidFill>
            <a:srgbClr val="FFFFFF"/>
          </a:solidFill>
          <a:ln w="9525">
            <a:solidFill>
              <a:srgbClr val="CBD5E1"/>
            </a:solidFill>
            <a:prstDash val="solid"/>
          </a:ln>
        </p:spPr>
      </p:sp>
      <p:sp>
        <p:nvSpPr>
          <p:cNvPr id="17" name="Shape 15"/>
          <p:cNvSpPr/>
          <p:nvPr/>
        </p:nvSpPr>
        <p:spPr>
          <a:xfrm>
            <a:off x="530352" y="2203704"/>
            <a:ext cx="292608" cy="292608"/>
          </a:xfrm>
          <a:prstGeom prst="ellipse">
            <a:avLst/>
          </a:prstGeom>
          <a:solidFill>
            <a:srgbClr val="E2E8F0"/>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차수(degree)</a:t>
            </a:r>
            <a:endParaRPr lang="en-US" sz="1200" dirty="0"/>
          </a:p>
        </p:txBody>
      </p:sp>
      <p:sp>
        <p:nvSpPr>
          <p:cNvPr id="20" name="Shape 18"/>
          <p:cNvSpPr/>
          <p:nvPr/>
        </p:nvSpPr>
        <p:spPr>
          <a:xfrm>
            <a:off x="457200" y="2606040"/>
            <a:ext cx="8229600" cy="402336"/>
          </a:xfrm>
          <a:prstGeom prst="rect">
            <a:avLst/>
          </a:prstGeom>
          <a:solidFill>
            <a:srgbClr val="EFF6FF"/>
          </a:solidFill>
          <a:ln w="19050">
            <a:solidFill>
              <a:srgbClr val="3B82F6"/>
            </a:solidFill>
            <a:prstDash val="solid"/>
          </a:ln>
        </p:spPr>
      </p:sp>
      <p:sp>
        <p:nvSpPr>
          <p:cNvPr id="21" name="Shape 19"/>
          <p:cNvSpPr/>
          <p:nvPr/>
        </p:nvSpPr>
        <p:spPr>
          <a:xfrm>
            <a:off x="530352" y="2660904"/>
            <a:ext cx="292608" cy="292608"/>
          </a:xfrm>
          <a:prstGeom prst="ellipse">
            <a:avLst/>
          </a:prstGeom>
          <a:solidFill>
            <a:srgbClr val="3B82F6"/>
          </a:solidFill>
          <a:ln/>
        </p:spPr>
      </p:sp>
      <p:sp>
        <p:nvSpPr>
          <p:cNvPr id="22" name="Text 20"/>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14400" y="26060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카디널리티(cardinality)</a:t>
            </a:r>
            <a:endParaRPr lang="en-US" sz="1200" dirty="0"/>
          </a:p>
        </p:txBody>
      </p:sp>
      <p:sp>
        <p:nvSpPr>
          <p:cNvPr id="24" name="Text 22"/>
          <p:cNvSpPr/>
          <p:nvPr/>
        </p:nvSpPr>
        <p:spPr>
          <a:xfrm>
            <a:off x="8046720" y="26060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카디널리티(cardinality)는 릴레이션의 투플(행) 수입니다.</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동적인 특성 — 투플의 삽입/삭제에 따라 수시로 변합니다.</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차수(degree)는 속성(열) 수이며 정적인 특성.</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9</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18 / 58</a:t>
            </a:r>
            <a:endParaRPr lang="en-US" sz="900" dirty="0"/>
          </a:p>
        </p:txBody>
      </p:sp>
      <p:sp>
        <p:nvSpPr>
          <p:cNvPr id="7" name="Text 5"/>
          <p:cNvSpPr/>
          <p:nvPr/>
        </p:nvSpPr>
        <p:spPr>
          <a:xfrm>
            <a:off x="457199" y="777240"/>
            <a:ext cx="5837663" cy="1371600"/>
          </a:xfrm>
          <a:prstGeom prst="rect">
            <a:avLst/>
          </a:prstGeom>
          <a:noFill/>
          <a:ln/>
        </p:spPr>
        <p:txBody>
          <a:bodyPr wrap="square" anchor="t"/>
          <a:lstStyle/>
          <a:p>
            <a:pPr marL="0" lvl="0" indent="0">
              <a:lnSpc>
                <a:spcPct val="130000"/>
              </a:lnSpc>
              <a:buNone/>
              <a:defRPr/>
            </a:pPr>
            <a:r>
              <a:rPr lang="en-US" sz="1400">
                <a:solidFill>
                  <a:srgbClr val="1E293B"/>
                </a:solidFill>
                <a:latin typeface="Calibri"/>
                <a:ea typeface="Calibri"/>
                <a:cs typeface="Calibri"/>
              </a:rPr>
              <a:t>관계 데이터 모델로 표현된 다음 데이터에 대한 설명으로 옳은 것은?</a:t>
            </a:r>
            <a:endParaRPr lang="en-US" sz="1400"/>
          </a:p>
        </p:txBody>
      </p:sp>
      <p:sp>
        <p:nvSpPr>
          <p:cNvPr id="9" name="Shape 6"/>
          <p:cNvSpPr/>
          <p:nvPr/>
        </p:nvSpPr>
        <p:spPr>
          <a:xfrm>
            <a:off x="457200" y="2999232"/>
            <a:ext cx="7811429" cy="429768"/>
          </a:xfrm>
          <a:prstGeom prst="rect">
            <a:avLst/>
          </a:prstGeom>
          <a:solidFill>
            <a:srgbClr val="FFFFFF"/>
          </a:solidFill>
          <a:ln w="12700">
            <a:solidFill>
              <a:srgbClr val="CBD5E1"/>
            </a:solidFill>
            <a:prstDash val="solid"/>
          </a:ln>
        </p:spPr>
      </p:sp>
      <p:sp>
        <p:nvSpPr>
          <p:cNvPr id="10" name="Shape 7"/>
          <p:cNvSpPr/>
          <p:nvPr/>
        </p:nvSpPr>
        <p:spPr>
          <a:xfrm>
            <a:off x="530352" y="3063240"/>
            <a:ext cx="286419" cy="301752"/>
          </a:xfrm>
          <a:prstGeom prst="ellipse">
            <a:avLst/>
          </a:prstGeom>
          <a:solidFill>
            <a:srgbClr val="E2E8F0"/>
          </a:solidFill>
          <a:ln/>
        </p:spPr>
      </p:sp>
      <p:sp>
        <p:nvSpPr>
          <p:cNvPr id="11" name="Text 8"/>
          <p:cNvSpPr/>
          <p:nvPr/>
        </p:nvSpPr>
        <p:spPr>
          <a:xfrm>
            <a:off x="530352" y="3063240"/>
            <a:ext cx="286419" cy="301752"/>
          </a:xfrm>
          <a:prstGeom prst="rect">
            <a:avLst/>
          </a:prstGeom>
          <a:noFill/>
          <a:ln/>
        </p:spPr>
        <p:txBody>
          <a:bodyPr wrap="square" anchor="ctr"/>
          <a:lstStyle/>
          <a:p>
            <a:pPr marL="0" lvl="0" indent="0" algn="ctr">
              <a:buNone/>
              <a:defRPr/>
            </a:pPr>
            <a:r>
              <a:rPr lang="en-US" sz="1100">
                <a:solidFill>
                  <a:srgbClr val="64748B"/>
                </a:solidFill>
                <a:latin typeface="Calibri"/>
                <a:ea typeface="Calibri"/>
                <a:cs typeface="Calibri"/>
              </a:rPr>
              <a:t>①</a:t>
            </a:r>
            <a:endParaRPr lang="en-US" sz="1100"/>
          </a:p>
        </p:txBody>
      </p:sp>
      <p:sp>
        <p:nvSpPr>
          <p:cNvPr id="12" name="Text 9"/>
          <p:cNvSpPr/>
          <p:nvPr/>
        </p:nvSpPr>
        <p:spPr>
          <a:xfrm>
            <a:off x="960120" y="2999232"/>
            <a:ext cx="7203874" cy="429768"/>
          </a:xfrm>
          <a:prstGeom prst="rect">
            <a:avLst/>
          </a:prstGeom>
          <a:noFill/>
          <a:ln/>
        </p:spPr>
        <p:txBody>
          <a:bodyPr wrap="square" anchor="ctr"/>
          <a:lstStyle/>
          <a:p>
            <a:pPr marL="0" lvl="0" indent="0">
              <a:buNone/>
              <a:defRPr/>
            </a:pPr>
            <a:r>
              <a:rPr lang="en-US" sz="1300">
                <a:solidFill>
                  <a:srgbClr val="1E293B"/>
                </a:solidFill>
                <a:latin typeface="Calibri"/>
                <a:ea typeface="Calibri"/>
                <a:cs typeface="Calibri"/>
              </a:rPr>
              <a:t>릴레이션 3개, 속성 3개, 투플 5개</a:t>
            </a:r>
            <a:endParaRPr lang="en-US" sz="1300"/>
          </a:p>
        </p:txBody>
      </p:sp>
      <p:sp>
        <p:nvSpPr>
          <p:cNvPr id="13" name="Shape 10"/>
          <p:cNvSpPr/>
          <p:nvPr/>
        </p:nvSpPr>
        <p:spPr>
          <a:xfrm>
            <a:off x="457200" y="3502152"/>
            <a:ext cx="7811429" cy="429768"/>
          </a:xfrm>
          <a:prstGeom prst="rect">
            <a:avLst/>
          </a:prstGeom>
          <a:solidFill>
            <a:srgbClr val="FFFFFF"/>
          </a:solidFill>
          <a:ln w="12700">
            <a:solidFill>
              <a:srgbClr val="CBD5E1"/>
            </a:solidFill>
            <a:prstDash val="solid"/>
          </a:ln>
        </p:spPr>
      </p:sp>
      <p:sp>
        <p:nvSpPr>
          <p:cNvPr id="14" name="Shape 11"/>
          <p:cNvSpPr/>
          <p:nvPr/>
        </p:nvSpPr>
        <p:spPr>
          <a:xfrm>
            <a:off x="530352" y="3566160"/>
            <a:ext cx="286419" cy="301752"/>
          </a:xfrm>
          <a:prstGeom prst="ellipse">
            <a:avLst/>
          </a:prstGeom>
          <a:solidFill>
            <a:srgbClr val="E2E8F0"/>
          </a:solidFill>
          <a:ln/>
        </p:spPr>
      </p:sp>
      <p:sp>
        <p:nvSpPr>
          <p:cNvPr id="15" name="Text 12"/>
          <p:cNvSpPr/>
          <p:nvPr/>
        </p:nvSpPr>
        <p:spPr>
          <a:xfrm>
            <a:off x="530352" y="3566160"/>
            <a:ext cx="286419" cy="301752"/>
          </a:xfrm>
          <a:prstGeom prst="rect">
            <a:avLst/>
          </a:prstGeom>
          <a:noFill/>
          <a:ln/>
        </p:spPr>
        <p:txBody>
          <a:bodyPr wrap="square" anchor="ctr"/>
          <a:lstStyle/>
          <a:p>
            <a:pPr marL="0" lvl="0" indent="0" algn="ctr">
              <a:buNone/>
              <a:defRPr/>
            </a:pPr>
            <a:r>
              <a:rPr lang="en-US" sz="1100">
                <a:solidFill>
                  <a:srgbClr val="64748B"/>
                </a:solidFill>
                <a:latin typeface="Calibri"/>
                <a:ea typeface="Calibri"/>
                <a:cs typeface="Calibri"/>
              </a:rPr>
              <a:t>②</a:t>
            </a:r>
            <a:endParaRPr lang="en-US" sz="1100"/>
          </a:p>
        </p:txBody>
      </p:sp>
      <p:sp>
        <p:nvSpPr>
          <p:cNvPr id="16" name="Text 13"/>
          <p:cNvSpPr/>
          <p:nvPr/>
        </p:nvSpPr>
        <p:spPr>
          <a:xfrm>
            <a:off x="960120" y="3502152"/>
            <a:ext cx="7203874" cy="429768"/>
          </a:xfrm>
          <a:prstGeom prst="rect">
            <a:avLst/>
          </a:prstGeom>
          <a:noFill/>
          <a:ln/>
        </p:spPr>
        <p:txBody>
          <a:bodyPr wrap="square" anchor="ctr"/>
          <a:lstStyle/>
          <a:p>
            <a:pPr marL="0" lvl="0" indent="0">
              <a:buNone/>
              <a:defRPr/>
            </a:pPr>
            <a:r>
              <a:rPr lang="en-US" sz="1300">
                <a:solidFill>
                  <a:srgbClr val="1E293B"/>
                </a:solidFill>
                <a:latin typeface="Calibri"/>
                <a:ea typeface="Calibri"/>
                <a:cs typeface="Calibri"/>
              </a:rPr>
              <a:t>릴레이션 3개, 속성 5개, 투플 3개</a:t>
            </a:r>
            <a:endParaRPr lang="en-US" sz="1300"/>
          </a:p>
        </p:txBody>
      </p:sp>
      <p:sp>
        <p:nvSpPr>
          <p:cNvPr id="17" name="Shape 14"/>
          <p:cNvSpPr/>
          <p:nvPr/>
        </p:nvSpPr>
        <p:spPr>
          <a:xfrm>
            <a:off x="457200" y="4005072"/>
            <a:ext cx="7811429" cy="429768"/>
          </a:xfrm>
          <a:prstGeom prst="rect">
            <a:avLst/>
          </a:prstGeom>
          <a:solidFill>
            <a:srgbClr val="FFFFFF"/>
          </a:solidFill>
          <a:ln w="12700">
            <a:solidFill>
              <a:srgbClr val="CBD5E1"/>
            </a:solidFill>
            <a:prstDash val="solid"/>
          </a:ln>
        </p:spPr>
      </p:sp>
      <p:sp>
        <p:nvSpPr>
          <p:cNvPr id="18" name="Shape 15"/>
          <p:cNvSpPr/>
          <p:nvPr/>
        </p:nvSpPr>
        <p:spPr>
          <a:xfrm>
            <a:off x="530352" y="4069080"/>
            <a:ext cx="286419" cy="301752"/>
          </a:xfrm>
          <a:prstGeom prst="ellipse">
            <a:avLst/>
          </a:prstGeom>
          <a:solidFill>
            <a:srgbClr val="E2E8F0"/>
          </a:solidFill>
          <a:ln/>
        </p:spPr>
      </p:sp>
      <p:sp>
        <p:nvSpPr>
          <p:cNvPr id="19" name="Text 16"/>
          <p:cNvSpPr/>
          <p:nvPr/>
        </p:nvSpPr>
        <p:spPr>
          <a:xfrm>
            <a:off x="530352" y="4069080"/>
            <a:ext cx="286419" cy="301752"/>
          </a:xfrm>
          <a:prstGeom prst="rect">
            <a:avLst/>
          </a:prstGeom>
          <a:noFill/>
          <a:ln/>
        </p:spPr>
        <p:txBody>
          <a:bodyPr wrap="square" anchor="ctr"/>
          <a:lstStyle/>
          <a:p>
            <a:pPr marL="0" lvl="0" indent="0" algn="ctr">
              <a:buNone/>
              <a:defRPr/>
            </a:pPr>
            <a:r>
              <a:rPr lang="en-US" sz="1100">
                <a:solidFill>
                  <a:srgbClr val="64748B"/>
                </a:solidFill>
                <a:latin typeface="Calibri"/>
                <a:ea typeface="Calibri"/>
                <a:cs typeface="Calibri"/>
              </a:rPr>
              <a:t>③</a:t>
            </a:r>
            <a:endParaRPr lang="en-US" sz="1100"/>
          </a:p>
        </p:txBody>
      </p:sp>
      <p:sp>
        <p:nvSpPr>
          <p:cNvPr id="20" name="Text 17"/>
          <p:cNvSpPr/>
          <p:nvPr/>
        </p:nvSpPr>
        <p:spPr>
          <a:xfrm>
            <a:off x="960120" y="4005072"/>
            <a:ext cx="7203874" cy="429768"/>
          </a:xfrm>
          <a:prstGeom prst="rect">
            <a:avLst/>
          </a:prstGeom>
          <a:noFill/>
          <a:ln/>
        </p:spPr>
        <p:txBody>
          <a:bodyPr wrap="square" anchor="ctr"/>
          <a:lstStyle/>
          <a:p>
            <a:pPr marL="0" lvl="0" indent="0">
              <a:buNone/>
              <a:defRPr/>
            </a:pPr>
            <a:r>
              <a:rPr lang="en-US" sz="1300">
                <a:solidFill>
                  <a:srgbClr val="1E293B"/>
                </a:solidFill>
                <a:latin typeface="Calibri"/>
                <a:ea typeface="Calibri"/>
                <a:cs typeface="Calibri"/>
              </a:rPr>
              <a:t>릴레이션 1개, 속성 5개, 투플 3개</a:t>
            </a:r>
            <a:endParaRPr lang="en-US" sz="1300"/>
          </a:p>
        </p:txBody>
      </p:sp>
      <p:sp>
        <p:nvSpPr>
          <p:cNvPr id="21" name="Shape 18"/>
          <p:cNvSpPr/>
          <p:nvPr/>
        </p:nvSpPr>
        <p:spPr>
          <a:xfrm>
            <a:off x="457200" y="4507992"/>
            <a:ext cx="7811429" cy="429768"/>
          </a:xfrm>
          <a:prstGeom prst="rect">
            <a:avLst/>
          </a:prstGeom>
          <a:solidFill>
            <a:srgbClr val="FFFFFF"/>
          </a:solidFill>
          <a:ln w="12700">
            <a:solidFill>
              <a:srgbClr val="CBD5E1"/>
            </a:solidFill>
            <a:prstDash val="solid"/>
          </a:ln>
        </p:spPr>
      </p:sp>
      <p:sp>
        <p:nvSpPr>
          <p:cNvPr id="22" name="Shape 19"/>
          <p:cNvSpPr/>
          <p:nvPr/>
        </p:nvSpPr>
        <p:spPr>
          <a:xfrm>
            <a:off x="530352" y="4572000"/>
            <a:ext cx="286419" cy="301752"/>
          </a:xfrm>
          <a:prstGeom prst="ellipse">
            <a:avLst/>
          </a:prstGeom>
          <a:solidFill>
            <a:srgbClr val="E2E8F0"/>
          </a:solidFill>
          <a:ln/>
        </p:spPr>
      </p:sp>
      <p:sp>
        <p:nvSpPr>
          <p:cNvPr id="23" name="Text 20"/>
          <p:cNvSpPr/>
          <p:nvPr/>
        </p:nvSpPr>
        <p:spPr>
          <a:xfrm>
            <a:off x="530352" y="4572000"/>
            <a:ext cx="286419" cy="301752"/>
          </a:xfrm>
          <a:prstGeom prst="rect">
            <a:avLst/>
          </a:prstGeom>
          <a:noFill/>
          <a:ln/>
        </p:spPr>
        <p:txBody>
          <a:bodyPr wrap="square" anchor="ctr"/>
          <a:lstStyle/>
          <a:p>
            <a:pPr marL="0" lvl="0" indent="0" algn="ctr">
              <a:buNone/>
              <a:defRPr/>
            </a:pPr>
            <a:r>
              <a:rPr lang="en-US" sz="1100">
                <a:solidFill>
                  <a:srgbClr val="64748B"/>
                </a:solidFill>
                <a:latin typeface="Calibri"/>
                <a:ea typeface="Calibri"/>
                <a:cs typeface="Calibri"/>
              </a:rPr>
              <a:t>④</a:t>
            </a:r>
            <a:endParaRPr lang="en-US" sz="1100"/>
          </a:p>
        </p:txBody>
      </p:sp>
      <p:sp>
        <p:nvSpPr>
          <p:cNvPr id="24" name="Text 21"/>
          <p:cNvSpPr/>
          <p:nvPr/>
        </p:nvSpPr>
        <p:spPr>
          <a:xfrm>
            <a:off x="960120" y="4507992"/>
            <a:ext cx="7203874" cy="429768"/>
          </a:xfrm>
          <a:prstGeom prst="rect">
            <a:avLst/>
          </a:prstGeom>
          <a:noFill/>
          <a:ln/>
        </p:spPr>
        <p:txBody>
          <a:bodyPr wrap="square" anchor="ctr"/>
          <a:lstStyle/>
          <a:p>
            <a:pPr marL="0" lvl="0" indent="0">
              <a:buNone/>
              <a:defRPr/>
            </a:pPr>
            <a:r>
              <a:rPr lang="en-US" sz="1300">
                <a:solidFill>
                  <a:srgbClr val="1E293B"/>
                </a:solidFill>
                <a:latin typeface="Calibri"/>
                <a:ea typeface="Calibri"/>
                <a:cs typeface="Calibri"/>
              </a:rPr>
              <a:t>릴레이션 1개, 속성 3개, 투플 5개</a:t>
            </a:r>
            <a:endParaRPr lang="en-US" sz="1300"/>
          </a:p>
        </p:txBody>
      </p:sp>
      <p:pic>
        <p:nvPicPr>
          <p:cNvPr id="26" name="그림 25">
            <a:extLst>
              <a:ext uri="{FF2B5EF4-FFF2-40B4-BE49-F238E27FC236}">
                <a16:creationId xmlns:a16="http://schemas.microsoft.com/office/drawing/2014/main" id="{7141A9EA-AB0E-B659-3DBC-BE4B33C6D84C}"/>
              </a:ext>
            </a:extLst>
          </p:cNvPr>
          <p:cNvPicPr>
            <a:picLocks noChangeAspect="1"/>
          </p:cNvPicPr>
          <p:nvPr/>
        </p:nvPicPr>
        <p:blipFill>
          <a:blip r:embed="rId3"/>
          <a:stretch>
            <a:fillRect/>
          </a:stretch>
        </p:blipFill>
        <p:spPr>
          <a:xfrm>
            <a:off x="1880569" y="1117522"/>
            <a:ext cx="3448317" cy="180855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9</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19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관계 데이터 모델로 표현된 다음 데이터에 대한 설명으로 옳은 것은? ...</a:t>
            </a:r>
            <a:endParaRPr lang="en-US" sz="1100" dirty="0"/>
          </a:p>
        </p:txBody>
      </p:sp>
      <p:sp>
        <p:nvSpPr>
          <p:cNvPr id="8" name="Shape 6"/>
          <p:cNvSpPr/>
          <p:nvPr/>
        </p:nvSpPr>
        <p:spPr>
          <a:xfrm>
            <a:off x="457200" y="1234440"/>
            <a:ext cx="3318135"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릴레이션 3개, 속성 3개, 투플 5개</a:t>
            </a:r>
            <a:endParaRPr lang="en-US" sz="1200" dirty="0"/>
          </a:p>
        </p:txBody>
      </p:sp>
      <p:sp>
        <p:nvSpPr>
          <p:cNvPr id="12" name="Shape 10"/>
          <p:cNvSpPr/>
          <p:nvPr/>
        </p:nvSpPr>
        <p:spPr>
          <a:xfrm>
            <a:off x="457200" y="1691640"/>
            <a:ext cx="3318135"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릴레이션 3개, 속성 5개, 투플 3개</a:t>
            </a:r>
            <a:endParaRPr lang="en-US" sz="1200" dirty="0"/>
          </a:p>
        </p:txBody>
      </p:sp>
      <p:sp>
        <p:nvSpPr>
          <p:cNvPr id="16" name="Shape 14"/>
          <p:cNvSpPr/>
          <p:nvPr/>
        </p:nvSpPr>
        <p:spPr>
          <a:xfrm>
            <a:off x="457200" y="2148840"/>
            <a:ext cx="3318135" cy="402336"/>
          </a:xfrm>
          <a:prstGeom prst="rect">
            <a:avLst/>
          </a:prstGeom>
          <a:solidFill>
            <a:srgbClr val="FFFFFF"/>
          </a:solidFill>
          <a:ln w="9525">
            <a:solidFill>
              <a:srgbClr val="CBD5E1"/>
            </a:solidFill>
            <a:prstDash val="solid"/>
          </a:ln>
        </p:spPr>
      </p:sp>
      <p:sp>
        <p:nvSpPr>
          <p:cNvPr id="17" name="Shape 15"/>
          <p:cNvSpPr/>
          <p:nvPr/>
        </p:nvSpPr>
        <p:spPr>
          <a:xfrm>
            <a:off x="530352" y="2203704"/>
            <a:ext cx="292608" cy="292608"/>
          </a:xfrm>
          <a:prstGeom prst="ellipse">
            <a:avLst/>
          </a:prstGeom>
          <a:solidFill>
            <a:srgbClr val="E2E8F0"/>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릴레이션 1개, 속성 5개, 투플 3개</a:t>
            </a:r>
            <a:endParaRPr lang="en-US" sz="1200" dirty="0"/>
          </a:p>
        </p:txBody>
      </p:sp>
      <p:sp>
        <p:nvSpPr>
          <p:cNvPr id="20" name="Shape 18"/>
          <p:cNvSpPr/>
          <p:nvPr/>
        </p:nvSpPr>
        <p:spPr>
          <a:xfrm>
            <a:off x="457200" y="2606040"/>
            <a:ext cx="3318135" cy="402336"/>
          </a:xfrm>
          <a:prstGeom prst="rect">
            <a:avLst/>
          </a:prstGeom>
          <a:solidFill>
            <a:srgbClr val="EFF6FF"/>
          </a:solidFill>
          <a:ln w="19050">
            <a:solidFill>
              <a:srgbClr val="3B82F6"/>
            </a:solidFill>
            <a:prstDash val="solid"/>
          </a:ln>
        </p:spPr>
      </p:sp>
      <p:sp>
        <p:nvSpPr>
          <p:cNvPr id="21" name="Shape 19"/>
          <p:cNvSpPr/>
          <p:nvPr/>
        </p:nvSpPr>
        <p:spPr>
          <a:xfrm>
            <a:off x="530352" y="2660904"/>
            <a:ext cx="292608" cy="292608"/>
          </a:xfrm>
          <a:prstGeom prst="ellipse">
            <a:avLst/>
          </a:prstGeom>
          <a:solidFill>
            <a:srgbClr val="3B82F6"/>
          </a:solidFill>
          <a:ln/>
        </p:spPr>
      </p:sp>
      <p:sp>
        <p:nvSpPr>
          <p:cNvPr id="22" name="Text 20"/>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14400" y="26060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릴레이션 1개, 속성 3개, 투플 5개</a:t>
            </a:r>
            <a:endParaRPr lang="en-US" sz="1200" dirty="0"/>
          </a:p>
        </p:txBody>
      </p:sp>
      <p:sp>
        <p:nvSpPr>
          <p:cNvPr id="24" name="Text 22"/>
          <p:cNvSpPr/>
          <p:nvPr/>
        </p:nvSpPr>
        <p:spPr>
          <a:xfrm>
            <a:off x="3318135" y="26060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하나의 테이블 = 릴레이션 1개</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열(고객ID, 고객이름, 나이) 3개 = 속성 3개 (차수=3)</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행 5개 = 투플 5개 (카디널리티=5)</a:t>
            </a:r>
            <a:endParaRPr lang="en-US" sz="1100" dirty="0"/>
          </a:p>
        </p:txBody>
      </p:sp>
      <p:pic>
        <p:nvPicPr>
          <p:cNvPr id="30" name="그림 29">
            <a:extLst>
              <a:ext uri="{FF2B5EF4-FFF2-40B4-BE49-F238E27FC236}">
                <a16:creationId xmlns:a16="http://schemas.microsoft.com/office/drawing/2014/main" id="{9D1C855B-9C3F-C426-0492-3D56C6EEB3CA}"/>
              </a:ext>
            </a:extLst>
          </p:cNvPr>
          <p:cNvPicPr>
            <a:picLocks noChangeAspect="1"/>
          </p:cNvPicPr>
          <p:nvPr/>
        </p:nvPicPr>
        <p:blipFill>
          <a:blip r:embed="rId3"/>
          <a:stretch>
            <a:fillRect/>
          </a:stretch>
        </p:blipFill>
        <p:spPr>
          <a:xfrm>
            <a:off x="4232535" y="1243584"/>
            <a:ext cx="3345535" cy="175465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10</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20 / 58</a:t>
            </a:r>
            <a:endParaRPr lang="en-US" sz="900" dirty="0"/>
          </a:p>
        </p:txBody>
      </p:sp>
      <p:sp>
        <p:nvSpPr>
          <p:cNvPr id="7" name="Shape 5"/>
          <p:cNvSpPr/>
          <p:nvPr/>
        </p:nvSpPr>
        <p:spPr>
          <a:xfrm>
            <a:off x="457200" y="777240"/>
            <a:ext cx="8229600" cy="3657600"/>
          </a:xfrm>
          <a:prstGeom prst="rect">
            <a:avLst/>
          </a:prstGeom>
          <a:solidFill>
            <a:srgbClr val="FFFFFF"/>
          </a:solidFill>
          <a:ln w="12700">
            <a:solidFill>
              <a:srgbClr val="CBD5E1"/>
            </a:solidFill>
            <a:prstDash val="solid"/>
          </a:ln>
        </p:spPr>
      </p:sp>
      <p:sp>
        <p:nvSpPr>
          <p:cNvPr id="8" name="Shape 6"/>
          <p:cNvSpPr/>
          <p:nvPr/>
        </p:nvSpPr>
        <p:spPr>
          <a:xfrm>
            <a:off x="594360" y="914400"/>
            <a:ext cx="347472" cy="347472"/>
          </a:xfrm>
          <a:prstGeom prst="ellipse">
            <a:avLst/>
          </a:prstGeom>
          <a:solidFill>
            <a:srgbClr val="2C5F8A"/>
          </a:solidFill>
          <a:ln/>
        </p:spPr>
      </p:sp>
      <p:sp>
        <p:nvSpPr>
          <p:cNvPr id="9" name="Text 7"/>
          <p:cNvSpPr/>
          <p:nvPr/>
        </p:nvSpPr>
        <p:spPr>
          <a:xfrm>
            <a:off x="594360" y="914400"/>
            <a:ext cx="347472" cy="34747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Q</a:t>
            </a:r>
            <a:endParaRPr lang="en-US" sz="1500" dirty="0"/>
          </a:p>
        </p:txBody>
      </p:sp>
      <p:sp>
        <p:nvSpPr>
          <p:cNvPr id="10" name="Text 8"/>
          <p:cNvSpPr/>
          <p:nvPr/>
        </p:nvSpPr>
        <p:spPr>
          <a:xfrm>
            <a:off x="1097280" y="868680"/>
            <a:ext cx="7406640" cy="3474720"/>
          </a:xfrm>
          <a:prstGeom prst="rect">
            <a:avLst/>
          </a:prstGeom>
          <a:noFill/>
          <a:ln/>
        </p:spPr>
        <p:txBody>
          <a:bodyPr wrap="square" rtlCol="0" anchor="t"/>
          <a:lstStyle/>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한 릴레이션의 스키마가 속성 5개, 후보키 3개를 가지고</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그 스키마에 대응하는 릴레이션 인스턴스가 10개의 투플을 갖는다면</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그 릴레이션의 카디널리티는?</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10</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21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한 릴레이션의 스키마가 속성 5개, 후보키 3개를 가지고 ...</a:t>
            </a:r>
            <a:endParaRPr lang="en-US" sz="1100" dirty="0"/>
          </a:p>
        </p:txBody>
      </p:sp>
      <p:sp>
        <p:nvSpPr>
          <p:cNvPr id="8" name="Shape 6"/>
          <p:cNvSpPr/>
          <p:nvPr/>
        </p:nvSpPr>
        <p:spPr>
          <a:xfrm>
            <a:off x="457200" y="1234440"/>
            <a:ext cx="8229600" cy="3657600"/>
          </a:xfrm>
          <a:prstGeom prst="rect">
            <a:avLst/>
          </a:prstGeom>
          <a:solidFill>
            <a:srgbClr val="FFFFFF"/>
          </a:solidFill>
          <a:ln w="19050">
            <a:solidFill>
              <a:srgbClr val="1C7293"/>
            </a:solidFill>
            <a:prstDash val="solid"/>
          </a:ln>
        </p:spPr>
      </p:sp>
      <p:sp>
        <p:nvSpPr>
          <p:cNvPr id="9" name="Shape 7"/>
          <p:cNvSpPr/>
          <p:nvPr/>
        </p:nvSpPr>
        <p:spPr>
          <a:xfrm>
            <a:off x="457200" y="1234440"/>
            <a:ext cx="8229600" cy="365760"/>
          </a:xfrm>
          <a:prstGeom prst="rect">
            <a:avLst/>
          </a:prstGeom>
          <a:solidFill>
            <a:srgbClr val="1C7293"/>
          </a:solidFill>
          <a:ln/>
        </p:spPr>
      </p:sp>
      <p:sp>
        <p:nvSpPr>
          <p:cNvPr id="10" name="Text 8"/>
          <p:cNvSpPr/>
          <p:nvPr/>
        </p:nvSpPr>
        <p:spPr>
          <a:xfrm>
            <a:off x="640080" y="1252728"/>
            <a:ext cx="1828800" cy="329184"/>
          </a:xfrm>
          <a:prstGeom prst="rect">
            <a:avLst/>
          </a:prstGeom>
          <a:noFill/>
          <a:ln/>
        </p:spPr>
        <p:txBody>
          <a:bodyPr wrap="square"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해답</a:t>
            </a:r>
            <a:endParaRPr lang="en-US" sz="1300" dirty="0"/>
          </a:p>
        </p:txBody>
      </p:sp>
      <p:sp>
        <p:nvSpPr>
          <p:cNvPr id="11" name="Text 9"/>
          <p:cNvSpPr/>
          <p:nvPr/>
        </p:nvSpPr>
        <p:spPr>
          <a:xfrm>
            <a:off x="640080" y="1737360"/>
            <a:ext cx="7863840" cy="3017520"/>
          </a:xfrm>
          <a:prstGeom prst="rect">
            <a:avLst/>
          </a:prstGeom>
          <a:noFill/>
          <a:ln/>
        </p:spPr>
        <p:txBody>
          <a:bodyPr wrap="square" rtlCol="0" anchor="t"/>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정답: 10</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카디널리티(cardinality) = 릴레이션에 존재하는 전체 투플의 개수</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속성의 개수(5개) → 차수(degree)</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후보키의 개수(3개) → 카디널리티와 무관</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투플의 개수(10개) → 카디널리티</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따라서 카디널리티는 10입니다.</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11</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22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널(NULL) 값에 대한 설명으로 옳지 않은 것은?</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아직 모르는 값이다</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적합한 값이 없다</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숫자 0이나 공백 문자와 같은 의미로 해석해야 한다</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기본키로 선택된 속성은 널 값을 가질 수 없다</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11</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23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널(NULL) 값에 대한 설명으로 옳지 않은 것은?</a:t>
            </a:r>
            <a:endParaRPr lang="en-US" sz="1100" dirty="0"/>
          </a:p>
        </p:txBody>
      </p:sp>
      <p:sp>
        <p:nvSpPr>
          <p:cNvPr id="8" name="Shape 6"/>
          <p:cNvSpPr/>
          <p:nvPr/>
        </p:nvSpPr>
        <p:spPr>
          <a:xfrm>
            <a:off x="457200" y="1234440"/>
            <a:ext cx="82296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아직 모르는 값이다</a:t>
            </a:r>
            <a:endParaRPr lang="en-US" sz="1200" dirty="0"/>
          </a:p>
        </p:txBody>
      </p:sp>
      <p:sp>
        <p:nvSpPr>
          <p:cNvPr id="12" name="Shape 10"/>
          <p:cNvSpPr/>
          <p:nvPr/>
        </p:nvSpPr>
        <p:spPr>
          <a:xfrm>
            <a:off x="457200" y="1691640"/>
            <a:ext cx="8229600"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적합한 값이 없다</a:t>
            </a:r>
            <a:endParaRPr lang="en-US" sz="1200" dirty="0"/>
          </a:p>
        </p:txBody>
      </p:sp>
      <p:sp>
        <p:nvSpPr>
          <p:cNvPr id="16" name="Shape 14"/>
          <p:cNvSpPr/>
          <p:nvPr/>
        </p:nvSpPr>
        <p:spPr>
          <a:xfrm>
            <a:off x="457200" y="2148840"/>
            <a:ext cx="8229600" cy="402336"/>
          </a:xfrm>
          <a:prstGeom prst="rect">
            <a:avLst/>
          </a:prstGeom>
          <a:solidFill>
            <a:srgbClr val="EFF6FF"/>
          </a:solidFill>
          <a:ln w="19050">
            <a:solidFill>
              <a:srgbClr val="3B82F6"/>
            </a:solidFill>
            <a:prstDash val="solid"/>
          </a:ln>
        </p:spPr>
      </p:sp>
      <p:sp>
        <p:nvSpPr>
          <p:cNvPr id="17" name="Shape 15"/>
          <p:cNvSpPr/>
          <p:nvPr/>
        </p:nvSpPr>
        <p:spPr>
          <a:xfrm>
            <a:off x="530352" y="2203704"/>
            <a:ext cx="292608" cy="292608"/>
          </a:xfrm>
          <a:prstGeom prst="ellipse">
            <a:avLst/>
          </a:prstGeom>
          <a:solidFill>
            <a:srgbClr val="3B82F6"/>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숫자 0이나 공백 문자와 같은 의미로 해석해야 한다</a:t>
            </a:r>
            <a:endParaRPr lang="en-US" sz="1200" dirty="0"/>
          </a:p>
        </p:txBody>
      </p:sp>
      <p:sp>
        <p:nvSpPr>
          <p:cNvPr id="20" name="Text 18"/>
          <p:cNvSpPr/>
          <p:nvPr/>
        </p:nvSpPr>
        <p:spPr>
          <a:xfrm>
            <a:off x="8046720" y="21488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457200" y="2606040"/>
            <a:ext cx="8229600" cy="402336"/>
          </a:xfrm>
          <a:prstGeom prst="rect">
            <a:avLst/>
          </a:prstGeom>
          <a:solidFill>
            <a:srgbClr val="FFFFFF"/>
          </a:solidFill>
          <a:ln w="9525">
            <a:solidFill>
              <a:srgbClr val="CBD5E1"/>
            </a:solidFill>
            <a:prstDash val="solid"/>
          </a:ln>
        </p:spPr>
      </p:sp>
      <p:sp>
        <p:nvSpPr>
          <p:cNvPr id="22" name="Shape 20"/>
          <p:cNvSpPr/>
          <p:nvPr/>
        </p:nvSpPr>
        <p:spPr>
          <a:xfrm>
            <a:off x="530352" y="2660904"/>
            <a:ext cx="292608" cy="292608"/>
          </a:xfrm>
          <a:prstGeom prst="ellipse">
            <a:avLst/>
          </a:prstGeom>
          <a:solidFill>
            <a:srgbClr val="E2E8F0"/>
          </a:solidFill>
          <a:ln/>
        </p:spPr>
      </p:sp>
      <p:sp>
        <p:nvSpPr>
          <p:cNvPr id="23" name="Text 21"/>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2"/>
          <p:cNvSpPr/>
          <p:nvPr/>
        </p:nvSpPr>
        <p:spPr>
          <a:xfrm>
            <a:off x="914400" y="26060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기본키로 선택된 속성은 널 값을 가질 수 없다</a:t>
            </a:r>
            <a:endParaRPr lang="en-US" sz="12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NULL은 숫자 0이나 공백 문자('')와 완전히 다른 </a:t>
            </a:r>
            <a:r>
              <a:rPr lang="en-US" sz="1100" dirty="0" err="1">
                <a:solidFill>
                  <a:srgbClr val="1E293B"/>
                </a:solidFill>
                <a:latin typeface="Calibri" pitchFamily="34" charset="0"/>
                <a:ea typeface="Calibri" pitchFamily="34" charset="-122"/>
                <a:cs typeface="Calibri" pitchFamily="34" charset="-120"/>
              </a:rPr>
              <a:t>개념입니다</a:t>
            </a:r>
            <a:r>
              <a:rPr lang="en-US" sz="1100" dirty="0">
                <a:solidFill>
                  <a:srgbClr val="1E293B"/>
                </a:solidFill>
                <a:latin typeface="Calibri" pitchFamily="34" charset="0"/>
                <a:ea typeface="Calibri" pitchFamily="34" charset="-122"/>
                <a:cs typeface="Calibri" pitchFamily="34" charset="-120"/>
              </a:rPr>
              <a:t>.</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NULL = '값을 아직 모르거나 해당되는 값이 없음'</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0 = '0이라는 구체적인 값이 있음'</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 = '빈 문자열이라는 구체적인 값이 </a:t>
            </a:r>
            <a:r>
              <a:rPr lang="en-US" sz="1100" dirty="0" err="1">
                <a:solidFill>
                  <a:srgbClr val="1E293B"/>
                </a:solidFill>
                <a:latin typeface="Calibri" pitchFamily="34" charset="0"/>
                <a:ea typeface="Calibri" pitchFamily="34" charset="-122"/>
                <a:cs typeface="Calibri" pitchFamily="34" charset="-120"/>
              </a:rPr>
              <a:t>있음</a:t>
            </a:r>
            <a:r>
              <a:rPr lang="en-US" sz="1100" dirty="0">
                <a:solidFill>
                  <a:srgbClr val="1E293B"/>
                </a:solidFill>
                <a:latin typeface="Calibri" pitchFamily="34" charset="0"/>
                <a:ea typeface="Calibri" pitchFamily="34" charset="-122"/>
                <a:cs typeface="Calibri" pitchFamily="34" charset="-120"/>
              </a:rPr>
              <a:t>'</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①②④는 모두 올바른 설명입니다.</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12</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24 / 58</a:t>
            </a:r>
            <a:endParaRPr lang="en-US" sz="900" dirty="0"/>
          </a:p>
        </p:txBody>
      </p:sp>
      <p:sp>
        <p:nvSpPr>
          <p:cNvPr id="7" name="Text 5"/>
          <p:cNvSpPr/>
          <p:nvPr/>
        </p:nvSpPr>
        <p:spPr>
          <a:xfrm>
            <a:off x="457200" y="777240"/>
            <a:ext cx="5029200" cy="137160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하나의 릴레이션 내 속성 또는 속성들의 집합으로 구성되고,</a:t>
            </a:r>
            <a:endParaRPr lang="en-US" sz="1400" dirty="0"/>
          </a:p>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모든 투플에 대해 유일성은 만족시키지만</a:t>
            </a:r>
            <a:endParaRPr lang="en-US" sz="1400" dirty="0"/>
          </a:p>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최소성은 만족시키지 못하는 키는?</a:t>
            </a:r>
            <a:endParaRPr lang="en-US" sz="1400" dirty="0"/>
          </a:p>
        </p:txBody>
      </p:sp>
      <p:pic>
        <p:nvPicPr>
          <p:cNvPr id="8" name="Image 0" descr="/home/claude/ch5imgs/fig5_8_key_relation.jpeg"/>
          <p:cNvPicPr>
            <a:picLocks noChangeAspect="1"/>
          </p:cNvPicPr>
          <p:nvPr/>
        </p:nvPicPr>
        <p:blipFill rotWithShape="1">
          <a:blip r:embed="rId3"/>
          <a:srcRect/>
          <a:stretch>
            <a:fillRect/>
          </a:stretch>
        </p:blipFill>
        <p:spPr>
          <a:xfrm>
            <a:off x="5202043" y="841247"/>
            <a:ext cx="3200400" cy="2011680"/>
          </a:xfrm>
          <a:prstGeom prst="rect">
            <a:avLst/>
          </a:prstGeom>
        </p:spPr>
      </p:pic>
      <p:sp>
        <p:nvSpPr>
          <p:cNvPr id="9" name="Shape 6"/>
          <p:cNvSpPr/>
          <p:nvPr/>
        </p:nvSpPr>
        <p:spPr>
          <a:xfrm>
            <a:off x="457200" y="2926080"/>
            <a:ext cx="8229600" cy="429768"/>
          </a:xfrm>
          <a:prstGeom prst="rect">
            <a:avLst/>
          </a:prstGeom>
          <a:solidFill>
            <a:srgbClr val="FFFFFF"/>
          </a:solidFill>
          <a:ln w="12700">
            <a:solidFill>
              <a:srgbClr val="CBD5E1"/>
            </a:solidFill>
            <a:prstDash val="solid"/>
          </a:ln>
        </p:spPr>
      </p:sp>
      <p:sp>
        <p:nvSpPr>
          <p:cNvPr id="10" name="Shape 7"/>
          <p:cNvSpPr/>
          <p:nvPr/>
        </p:nvSpPr>
        <p:spPr>
          <a:xfrm>
            <a:off x="530352" y="2990088"/>
            <a:ext cx="301752" cy="301752"/>
          </a:xfrm>
          <a:prstGeom prst="ellipse">
            <a:avLst/>
          </a:prstGeom>
          <a:solidFill>
            <a:srgbClr val="E2E8F0"/>
          </a:solidFill>
          <a:ln/>
        </p:spPr>
      </p:sp>
      <p:sp>
        <p:nvSpPr>
          <p:cNvPr id="11" name="Text 8"/>
          <p:cNvSpPr/>
          <p:nvPr/>
        </p:nvSpPr>
        <p:spPr>
          <a:xfrm>
            <a:off x="530352" y="29900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2" name="Text 9"/>
          <p:cNvSpPr/>
          <p:nvPr/>
        </p:nvSpPr>
        <p:spPr>
          <a:xfrm>
            <a:off x="960120" y="29260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외래키</a:t>
            </a:r>
            <a:endParaRPr lang="en-US" sz="1300" dirty="0"/>
          </a:p>
        </p:txBody>
      </p:sp>
      <p:sp>
        <p:nvSpPr>
          <p:cNvPr id="13" name="Shape 10"/>
          <p:cNvSpPr/>
          <p:nvPr/>
        </p:nvSpPr>
        <p:spPr>
          <a:xfrm>
            <a:off x="457200" y="3429000"/>
            <a:ext cx="8229600" cy="429768"/>
          </a:xfrm>
          <a:prstGeom prst="rect">
            <a:avLst/>
          </a:prstGeom>
          <a:solidFill>
            <a:srgbClr val="FFFFFF"/>
          </a:solidFill>
          <a:ln w="12700">
            <a:solidFill>
              <a:srgbClr val="CBD5E1"/>
            </a:solidFill>
            <a:prstDash val="solid"/>
          </a:ln>
        </p:spPr>
      </p:sp>
      <p:sp>
        <p:nvSpPr>
          <p:cNvPr id="14" name="Shape 11"/>
          <p:cNvSpPr/>
          <p:nvPr/>
        </p:nvSpPr>
        <p:spPr>
          <a:xfrm>
            <a:off x="530352" y="3493008"/>
            <a:ext cx="301752" cy="301752"/>
          </a:xfrm>
          <a:prstGeom prst="ellipse">
            <a:avLst/>
          </a:prstGeom>
          <a:solidFill>
            <a:srgbClr val="E2E8F0"/>
          </a:solidFill>
          <a:ln/>
        </p:spPr>
      </p:sp>
      <p:sp>
        <p:nvSpPr>
          <p:cNvPr id="15" name="Text 12"/>
          <p:cNvSpPr/>
          <p:nvPr/>
        </p:nvSpPr>
        <p:spPr>
          <a:xfrm>
            <a:off x="530352" y="34930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6" name="Text 13"/>
          <p:cNvSpPr/>
          <p:nvPr/>
        </p:nvSpPr>
        <p:spPr>
          <a:xfrm>
            <a:off x="960120" y="34290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슈퍼키</a:t>
            </a:r>
            <a:endParaRPr lang="en-US" sz="1300" dirty="0"/>
          </a:p>
        </p:txBody>
      </p:sp>
      <p:sp>
        <p:nvSpPr>
          <p:cNvPr id="17" name="Shape 14"/>
          <p:cNvSpPr/>
          <p:nvPr/>
        </p:nvSpPr>
        <p:spPr>
          <a:xfrm>
            <a:off x="457200" y="3931920"/>
            <a:ext cx="8229600" cy="429768"/>
          </a:xfrm>
          <a:prstGeom prst="rect">
            <a:avLst/>
          </a:prstGeom>
          <a:solidFill>
            <a:srgbClr val="FFFFFF"/>
          </a:solidFill>
          <a:ln w="12700">
            <a:solidFill>
              <a:srgbClr val="CBD5E1"/>
            </a:solidFill>
            <a:prstDash val="solid"/>
          </a:ln>
        </p:spPr>
      </p:sp>
      <p:sp>
        <p:nvSpPr>
          <p:cNvPr id="18" name="Shape 15"/>
          <p:cNvSpPr/>
          <p:nvPr/>
        </p:nvSpPr>
        <p:spPr>
          <a:xfrm>
            <a:off x="530352" y="3995928"/>
            <a:ext cx="301752" cy="301752"/>
          </a:xfrm>
          <a:prstGeom prst="ellipse">
            <a:avLst/>
          </a:prstGeom>
          <a:solidFill>
            <a:srgbClr val="E2E8F0"/>
          </a:solidFill>
          <a:ln/>
        </p:spPr>
      </p:sp>
      <p:sp>
        <p:nvSpPr>
          <p:cNvPr id="19" name="Text 16"/>
          <p:cNvSpPr/>
          <p:nvPr/>
        </p:nvSpPr>
        <p:spPr>
          <a:xfrm>
            <a:off x="530352" y="39959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20" name="Text 17"/>
          <p:cNvSpPr/>
          <p:nvPr/>
        </p:nvSpPr>
        <p:spPr>
          <a:xfrm>
            <a:off x="960120" y="39319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후보키</a:t>
            </a:r>
            <a:endParaRPr lang="en-US" sz="1300" dirty="0"/>
          </a:p>
        </p:txBody>
      </p:sp>
      <p:sp>
        <p:nvSpPr>
          <p:cNvPr id="21" name="Shape 18"/>
          <p:cNvSpPr/>
          <p:nvPr/>
        </p:nvSpPr>
        <p:spPr>
          <a:xfrm>
            <a:off x="457200" y="4434840"/>
            <a:ext cx="8229600" cy="429768"/>
          </a:xfrm>
          <a:prstGeom prst="rect">
            <a:avLst/>
          </a:prstGeom>
          <a:solidFill>
            <a:srgbClr val="FFFFFF"/>
          </a:solidFill>
          <a:ln w="12700">
            <a:solidFill>
              <a:srgbClr val="CBD5E1"/>
            </a:solidFill>
            <a:prstDash val="solid"/>
          </a:ln>
        </p:spPr>
      </p:sp>
      <p:sp>
        <p:nvSpPr>
          <p:cNvPr id="22" name="Shape 19"/>
          <p:cNvSpPr/>
          <p:nvPr/>
        </p:nvSpPr>
        <p:spPr>
          <a:xfrm>
            <a:off x="530352" y="4498848"/>
            <a:ext cx="301752" cy="301752"/>
          </a:xfrm>
          <a:prstGeom prst="ellipse">
            <a:avLst/>
          </a:prstGeom>
          <a:solidFill>
            <a:srgbClr val="E2E8F0"/>
          </a:solidFill>
          <a:ln/>
        </p:spPr>
      </p:sp>
      <p:sp>
        <p:nvSpPr>
          <p:cNvPr id="23" name="Text 20"/>
          <p:cNvSpPr/>
          <p:nvPr/>
        </p:nvSpPr>
        <p:spPr>
          <a:xfrm>
            <a:off x="530352" y="449884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1"/>
          <p:cNvSpPr/>
          <p:nvPr/>
        </p:nvSpPr>
        <p:spPr>
          <a:xfrm>
            <a:off x="960120" y="443484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대체키</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12</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25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하나의 릴레이션 내 속성 또는 속성들의 집합으로 구성되고, ...</a:t>
            </a:r>
            <a:endParaRPr lang="en-US" sz="1100" dirty="0"/>
          </a:p>
        </p:txBody>
      </p:sp>
      <p:sp>
        <p:nvSpPr>
          <p:cNvPr id="8" name="Shape 6"/>
          <p:cNvSpPr/>
          <p:nvPr/>
        </p:nvSpPr>
        <p:spPr>
          <a:xfrm>
            <a:off x="457200" y="1234440"/>
            <a:ext cx="82296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외래키</a:t>
            </a:r>
            <a:endParaRPr lang="en-US" sz="1200" dirty="0"/>
          </a:p>
        </p:txBody>
      </p:sp>
      <p:sp>
        <p:nvSpPr>
          <p:cNvPr id="12" name="Shape 10"/>
          <p:cNvSpPr/>
          <p:nvPr/>
        </p:nvSpPr>
        <p:spPr>
          <a:xfrm>
            <a:off x="457200" y="1691640"/>
            <a:ext cx="8229600" cy="402336"/>
          </a:xfrm>
          <a:prstGeom prst="rect">
            <a:avLst/>
          </a:prstGeom>
          <a:solidFill>
            <a:srgbClr val="EFF6FF"/>
          </a:solidFill>
          <a:ln w="19050">
            <a:solidFill>
              <a:srgbClr val="3B82F6"/>
            </a:solidFill>
            <a:prstDash val="solid"/>
          </a:ln>
        </p:spPr>
      </p:sp>
      <p:sp>
        <p:nvSpPr>
          <p:cNvPr id="13" name="Shape 11"/>
          <p:cNvSpPr/>
          <p:nvPr/>
        </p:nvSpPr>
        <p:spPr>
          <a:xfrm>
            <a:off x="530352" y="1746504"/>
            <a:ext cx="292608" cy="292608"/>
          </a:xfrm>
          <a:prstGeom prst="ellipse">
            <a:avLst/>
          </a:prstGeom>
          <a:solidFill>
            <a:srgbClr val="3B82F6"/>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슈퍼키</a:t>
            </a:r>
            <a:endParaRPr lang="en-US" sz="1200" dirty="0"/>
          </a:p>
        </p:txBody>
      </p:sp>
      <p:sp>
        <p:nvSpPr>
          <p:cNvPr id="16" name="Text 14"/>
          <p:cNvSpPr/>
          <p:nvPr/>
        </p:nvSpPr>
        <p:spPr>
          <a:xfrm>
            <a:off x="8046720" y="16916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457200" y="2148840"/>
            <a:ext cx="8229600" cy="402336"/>
          </a:xfrm>
          <a:prstGeom prst="rect">
            <a:avLst/>
          </a:prstGeom>
          <a:solidFill>
            <a:srgbClr val="FFFFFF"/>
          </a:solidFill>
          <a:ln w="9525">
            <a:solidFill>
              <a:srgbClr val="CBD5E1"/>
            </a:solidFill>
            <a:prstDash val="solid"/>
          </a:ln>
        </p:spPr>
      </p:sp>
      <p:sp>
        <p:nvSpPr>
          <p:cNvPr id="18" name="Shape 16"/>
          <p:cNvSpPr/>
          <p:nvPr/>
        </p:nvSpPr>
        <p:spPr>
          <a:xfrm>
            <a:off x="530352" y="2203704"/>
            <a:ext cx="292608" cy="292608"/>
          </a:xfrm>
          <a:prstGeom prst="ellipse">
            <a:avLst/>
          </a:prstGeom>
          <a:solidFill>
            <a:srgbClr val="E2E8F0"/>
          </a:solidFill>
          <a:ln/>
        </p:spPr>
      </p:sp>
      <p:sp>
        <p:nvSpPr>
          <p:cNvPr id="19" name="Text 17"/>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20" name="Text 18"/>
          <p:cNvSpPr/>
          <p:nvPr/>
        </p:nvSpPr>
        <p:spPr>
          <a:xfrm>
            <a:off x="914400" y="21488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후보키</a:t>
            </a:r>
            <a:endParaRPr lang="en-US" sz="1200" dirty="0"/>
          </a:p>
        </p:txBody>
      </p:sp>
      <p:sp>
        <p:nvSpPr>
          <p:cNvPr id="21" name="Shape 19"/>
          <p:cNvSpPr/>
          <p:nvPr/>
        </p:nvSpPr>
        <p:spPr>
          <a:xfrm>
            <a:off x="457200" y="2606040"/>
            <a:ext cx="8229600" cy="402336"/>
          </a:xfrm>
          <a:prstGeom prst="rect">
            <a:avLst/>
          </a:prstGeom>
          <a:solidFill>
            <a:srgbClr val="FFFFFF"/>
          </a:solidFill>
          <a:ln w="9525">
            <a:solidFill>
              <a:srgbClr val="CBD5E1"/>
            </a:solidFill>
            <a:prstDash val="solid"/>
          </a:ln>
        </p:spPr>
      </p:sp>
      <p:sp>
        <p:nvSpPr>
          <p:cNvPr id="22" name="Shape 20"/>
          <p:cNvSpPr/>
          <p:nvPr/>
        </p:nvSpPr>
        <p:spPr>
          <a:xfrm>
            <a:off x="530352" y="2660904"/>
            <a:ext cx="292608" cy="292608"/>
          </a:xfrm>
          <a:prstGeom prst="ellipse">
            <a:avLst/>
          </a:prstGeom>
          <a:solidFill>
            <a:srgbClr val="E2E8F0"/>
          </a:solidFill>
          <a:ln/>
        </p:spPr>
      </p:sp>
      <p:sp>
        <p:nvSpPr>
          <p:cNvPr id="23" name="Text 21"/>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2"/>
          <p:cNvSpPr/>
          <p:nvPr/>
        </p:nvSpPr>
        <p:spPr>
          <a:xfrm>
            <a:off x="914400" y="26060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대체키</a:t>
            </a:r>
            <a:endParaRPr lang="en-US" sz="12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슈퍼키(Super Key): 유일성만 만족 (최소성 불요)</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후보키(Candidate Key): 유일성 + 최소성 모두 만족</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유일성 O, 최소성 X → 슈퍼키</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13</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26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"투플을 유일하게 구별하며 검색·정렬에 주로 사용하는 키는 (Ⓐ)이고,</a:t>
            </a:r>
            <a:endParaRPr lang="en-US" sz="1400" dirty="0"/>
          </a:p>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릴레이션들 사이의 관계를 표현하는 키는 (Ⓑ)이다." Ⓐ, Ⓑ는?</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Ⓐ-후보키, Ⓑ-외래키</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Ⓐ-기본키, Ⓑ-외래키</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Ⓐ-후보키, Ⓑ-슈퍼키</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Ⓐ-기본키, Ⓑ-슈퍼키</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13</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27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"투플을 유일하게 구별하며 검색·정렬에 주로 사용하는 키는 (Ⓐ)이고, ...</a:t>
            </a:r>
            <a:endParaRPr lang="en-US" sz="1100" dirty="0"/>
          </a:p>
        </p:txBody>
      </p:sp>
      <p:sp>
        <p:nvSpPr>
          <p:cNvPr id="8" name="Shape 6"/>
          <p:cNvSpPr/>
          <p:nvPr/>
        </p:nvSpPr>
        <p:spPr>
          <a:xfrm>
            <a:off x="457200" y="1234440"/>
            <a:ext cx="82296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Ⓐ-후보키, Ⓑ-외래키</a:t>
            </a:r>
            <a:endParaRPr lang="en-US" sz="1200" dirty="0"/>
          </a:p>
        </p:txBody>
      </p:sp>
      <p:sp>
        <p:nvSpPr>
          <p:cNvPr id="12" name="Shape 10"/>
          <p:cNvSpPr/>
          <p:nvPr/>
        </p:nvSpPr>
        <p:spPr>
          <a:xfrm>
            <a:off x="457200" y="1691640"/>
            <a:ext cx="8229600" cy="402336"/>
          </a:xfrm>
          <a:prstGeom prst="rect">
            <a:avLst/>
          </a:prstGeom>
          <a:solidFill>
            <a:srgbClr val="EFF6FF"/>
          </a:solidFill>
          <a:ln w="19050">
            <a:solidFill>
              <a:srgbClr val="3B82F6"/>
            </a:solidFill>
            <a:prstDash val="solid"/>
          </a:ln>
        </p:spPr>
      </p:sp>
      <p:sp>
        <p:nvSpPr>
          <p:cNvPr id="13" name="Shape 11"/>
          <p:cNvSpPr/>
          <p:nvPr/>
        </p:nvSpPr>
        <p:spPr>
          <a:xfrm>
            <a:off x="530352" y="1746504"/>
            <a:ext cx="292608" cy="292608"/>
          </a:xfrm>
          <a:prstGeom prst="ellipse">
            <a:avLst/>
          </a:prstGeom>
          <a:solidFill>
            <a:srgbClr val="3B82F6"/>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Ⓐ-기본키, Ⓑ-외래키</a:t>
            </a:r>
            <a:endParaRPr lang="en-US" sz="1200" dirty="0"/>
          </a:p>
        </p:txBody>
      </p:sp>
      <p:sp>
        <p:nvSpPr>
          <p:cNvPr id="16" name="Text 14"/>
          <p:cNvSpPr/>
          <p:nvPr/>
        </p:nvSpPr>
        <p:spPr>
          <a:xfrm>
            <a:off x="8046720" y="16916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457200" y="2148840"/>
            <a:ext cx="8229600" cy="402336"/>
          </a:xfrm>
          <a:prstGeom prst="rect">
            <a:avLst/>
          </a:prstGeom>
          <a:solidFill>
            <a:srgbClr val="FFFFFF"/>
          </a:solidFill>
          <a:ln w="9525">
            <a:solidFill>
              <a:srgbClr val="CBD5E1"/>
            </a:solidFill>
            <a:prstDash val="solid"/>
          </a:ln>
        </p:spPr>
      </p:sp>
      <p:sp>
        <p:nvSpPr>
          <p:cNvPr id="18" name="Shape 16"/>
          <p:cNvSpPr/>
          <p:nvPr/>
        </p:nvSpPr>
        <p:spPr>
          <a:xfrm>
            <a:off x="530352" y="2203704"/>
            <a:ext cx="292608" cy="292608"/>
          </a:xfrm>
          <a:prstGeom prst="ellipse">
            <a:avLst/>
          </a:prstGeom>
          <a:solidFill>
            <a:srgbClr val="E2E8F0"/>
          </a:solidFill>
          <a:ln/>
        </p:spPr>
      </p:sp>
      <p:sp>
        <p:nvSpPr>
          <p:cNvPr id="19" name="Text 17"/>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20" name="Text 18"/>
          <p:cNvSpPr/>
          <p:nvPr/>
        </p:nvSpPr>
        <p:spPr>
          <a:xfrm>
            <a:off x="914400" y="21488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Ⓐ-후보키, Ⓑ-슈퍼키</a:t>
            </a:r>
            <a:endParaRPr lang="en-US" sz="1200" dirty="0"/>
          </a:p>
        </p:txBody>
      </p:sp>
      <p:sp>
        <p:nvSpPr>
          <p:cNvPr id="21" name="Shape 19"/>
          <p:cNvSpPr/>
          <p:nvPr/>
        </p:nvSpPr>
        <p:spPr>
          <a:xfrm>
            <a:off x="457200" y="2606040"/>
            <a:ext cx="8229600" cy="402336"/>
          </a:xfrm>
          <a:prstGeom prst="rect">
            <a:avLst/>
          </a:prstGeom>
          <a:solidFill>
            <a:srgbClr val="FFFFFF"/>
          </a:solidFill>
          <a:ln w="9525">
            <a:solidFill>
              <a:srgbClr val="CBD5E1"/>
            </a:solidFill>
            <a:prstDash val="solid"/>
          </a:ln>
        </p:spPr>
      </p:sp>
      <p:sp>
        <p:nvSpPr>
          <p:cNvPr id="22" name="Shape 20"/>
          <p:cNvSpPr/>
          <p:nvPr/>
        </p:nvSpPr>
        <p:spPr>
          <a:xfrm>
            <a:off x="530352" y="2660904"/>
            <a:ext cx="292608" cy="292608"/>
          </a:xfrm>
          <a:prstGeom prst="ellipse">
            <a:avLst/>
          </a:prstGeom>
          <a:solidFill>
            <a:srgbClr val="E2E8F0"/>
          </a:solidFill>
          <a:ln/>
        </p:spPr>
      </p:sp>
      <p:sp>
        <p:nvSpPr>
          <p:cNvPr id="23" name="Text 21"/>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2"/>
          <p:cNvSpPr/>
          <p:nvPr/>
        </p:nvSpPr>
        <p:spPr>
          <a:xfrm>
            <a:off x="914400" y="26060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Ⓐ-기본키, Ⓑ-슈퍼키</a:t>
            </a:r>
            <a:endParaRPr lang="en-US" sz="1200" dirty="0"/>
          </a:p>
        </p:txBody>
      </p:sp>
      <p:sp>
        <p:nvSpPr>
          <p:cNvPr id="25" name="Shape 23"/>
          <p:cNvSpPr/>
          <p:nvPr/>
        </p:nvSpPr>
        <p:spPr>
          <a:xfrm>
            <a:off x="457200" y="315468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56616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기본키(Primary Key)</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 후보키 중 대표로 선택, 투플을 유일하게 구별</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 검색·정렬에 </a:t>
            </a:r>
            <a:r>
              <a:rPr lang="en-US" sz="1100" dirty="0" err="1">
                <a:solidFill>
                  <a:srgbClr val="1E293B"/>
                </a:solidFill>
                <a:latin typeface="Calibri" pitchFamily="34" charset="0"/>
                <a:ea typeface="Calibri" pitchFamily="34" charset="-122"/>
                <a:cs typeface="Calibri" pitchFamily="34" charset="-120"/>
              </a:rPr>
              <a:t>주로</a:t>
            </a:r>
            <a:r>
              <a:rPr lang="en-US" sz="1100" dirty="0">
                <a:solidFill>
                  <a:srgbClr val="1E293B"/>
                </a:solidFill>
                <a:latin typeface="Calibri" pitchFamily="34" charset="0"/>
                <a:ea typeface="Calibri" pitchFamily="34" charset="-122"/>
                <a:cs typeface="Calibri" pitchFamily="34" charset="-120"/>
              </a:rPr>
              <a:t> </a:t>
            </a:r>
            <a:r>
              <a:rPr lang="en-US" sz="1100" dirty="0" err="1">
                <a:solidFill>
                  <a:srgbClr val="1E293B"/>
                </a:solidFill>
                <a:latin typeface="Calibri" pitchFamily="34" charset="0"/>
                <a:ea typeface="Calibri" pitchFamily="34" charset="-122"/>
                <a:cs typeface="Calibri" pitchFamily="34" charset="-120"/>
              </a:rPr>
              <a:t>사용</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외래키(Foreign Key)</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 다른 릴레이션의 기본키를 참조</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 릴레이션 간의 관계를 표현</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14</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28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후보키에 대한 설명으로 옳지 않은 것은?</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다른 릴레이션의 기본키와 대응되어 참조 무결성 표현에 사용</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후보키는 유일성과 최소성을 모두 만족해야 한다</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모든 릴레이션은 반드시 하나 이상의 후보키를 갖는다</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투플을 유일하게 구별해주는 속성 또는 속성들의 집합이다</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14</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29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후보키에 대한 설명으로 옳지 않은 것은?</a:t>
            </a:r>
            <a:endParaRPr lang="en-US" sz="1100" dirty="0"/>
          </a:p>
        </p:txBody>
      </p:sp>
      <p:sp>
        <p:nvSpPr>
          <p:cNvPr id="8" name="Shape 6"/>
          <p:cNvSpPr/>
          <p:nvPr/>
        </p:nvSpPr>
        <p:spPr>
          <a:xfrm>
            <a:off x="457200" y="1234440"/>
            <a:ext cx="8229600" cy="402336"/>
          </a:xfrm>
          <a:prstGeom prst="rect">
            <a:avLst/>
          </a:prstGeom>
          <a:solidFill>
            <a:srgbClr val="EFF6FF"/>
          </a:solidFill>
          <a:ln w="19050">
            <a:solidFill>
              <a:srgbClr val="3B82F6"/>
            </a:solidFill>
            <a:prstDash val="solid"/>
          </a:ln>
        </p:spPr>
      </p:sp>
      <p:sp>
        <p:nvSpPr>
          <p:cNvPr id="9" name="Shape 7"/>
          <p:cNvSpPr/>
          <p:nvPr/>
        </p:nvSpPr>
        <p:spPr>
          <a:xfrm>
            <a:off x="530352" y="1289304"/>
            <a:ext cx="292608" cy="292608"/>
          </a:xfrm>
          <a:prstGeom prst="ellipse">
            <a:avLst/>
          </a:prstGeom>
          <a:solidFill>
            <a:srgbClr val="3B82F6"/>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다른 릴레이션의 기본키와 대응되어 참조 무결성 표현에 사용</a:t>
            </a:r>
            <a:endParaRPr lang="en-US" sz="1200" dirty="0"/>
          </a:p>
        </p:txBody>
      </p:sp>
      <p:sp>
        <p:nvSpPr>
          <p:cNvPr id="12" name="Text 10"/>
          <p:cNvSpPr/>
          <p:nvPr/>
        </p:nvSpPr>
        <p:spPr>
          <a:xfrm>
            <a:off x="8046720" y="12344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457200" y="1691640"/>
            <a:ext cx="8229600" cy="402336"/>
          </a:xfrm>
          <a:prstGeom prst="rect">
            <a:avLst/>
          </a:prstGeom>
          <a:solidFill>
            <a:srgbClr val="FFFFFF"/>
          </a:solidFill>
          <a:ln w="9525">
            <a:solidFill>
              <a:srgbClr val="CBD5E1"/>
            </a:solidFill>
            <a:prstDash val="solid"/>
          </a:ln>
        </p:spPr>
      </p:sp>
      <p:sp>
        <p:nvSpPr>
          <p:cNvPr id="14" name="Shape 12"/>
          <p:cNvSpPr/>
          <p:nvPr/>
        </p:nvSpPr>
        <p:spPr>
          <a:xfrm>
            <a:off x="530352" y="1746504"/>
            <a:ext cx="292608" cy="292608"/>
          </a:xfrm>
          <a:prstGeom prst="ellipse">
            <a:avLst/>
          </a:prstGeom>
          <a:solidFill>
            <a:srgbClr val="E2E8F0"/>
          </a:solidFill>
          <a:ln/>
        </p:spPr>
      </p:sp>
      <p:sp>
        <p:nvSpPr>
          <p:cNvPr id="15" name="Text 13"/>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6" name="Text 14"/>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후보키는 유일성과 최소성을 모두 만족해야 한다</a:t>
            </a:r>
            <a:endParaRPr lang="en-US" sz="1200" dirty="0"/>
          </a:p>
        </p:txBody>
      </p:sp>
      <p:sp>
        <p:nvSpPr>
          <p:cNvPr id="17" name="Shape 15"/>
          <p:cNvSpPr/>
          <p:nvPr/>
        </p:nvSpPr>
        <p:spPr>
          <a:xfrm>
            <a:off x="457200" y="2148840"/>
            <a:ext cx="8229600" cy="402336"/>
          </a:xfrm>
          <a:prstGeom prst="rect">
            <a:avLst/>
          </a:prstGeom>
          <a:solidFill>
            <a:srgbClr val="FFFFFF"/>
          </a:solidFill>
          <a:ln w="9525">
            <a:solidFill>
              <a:srgbClr val="CBD5E1"/>
            </a:solidFill>
            <a:prstDash val="solid"/>
          </a:ln>
        </p:spPr>
      </p:sp>
      <p:sp>
        <p:nvSpPr>
          <p:cNvPr id="18" name="Shape 16"/>
          <p:cNvSpPr/>
          <p:nvPr/>
        </p:nvSpPr>
        <p:spPr>
          <a:xfrm>
            <a:off x="530352" y="2203704"/>
            <a:ext cx="292608" cy="292608"/>
          </a:xfrm>
          <a:prstGeom prst="ellipse">
            <a:avLst/>
          </a:prstGeom>
          <a:solidFill>
            <a:srgbClr val="E2E8F0"/>
          </a:solidFill>
          <a:ln/>
        </p:spPr>
      </p:sp>
      <p:sp>
        <p:nvSpPr>
          <p:cNvPr id="19" name="Text 17"/>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20" name="Text 18"/>
          <p:cNvSpPr/>
          <p:nvPr/>
        </p:nvSpPr>
        <p:spPr>
          <a:xfrm>
            <a:off x="914400" y="21488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모든 릴레이션은 반드시 하나 이상의 후보키를 갖는다</a:t>
            </a:r>
            <a:endParaRPr lang="en-US" sz="1200" dirty="0"/>
          </a:p>
        </p:txBody>
      </p:sp>
      <p:sp>
        <p:nvSpPr>
          <p:cNvPr id="21" name="Shape 19"/>
          <p:cNvSpPr/>
          <p:nvPr/>
        </p:nvSpPr>
        <p:spPr>
          <a:xfrm>
            <a:off x="457200" y="2606040"/>
            <a:ext cx="8229600" cy="402336"/>
          </a:xfrm>
          <a:prstGeom prst="rect">
            <a:avLst/>
          </a:prstGeom>
          <a:solidFill>
            <a:srgbClr val="FFFFFF"/>
          </a:solidFill>
          <a:ln w="9525">
            <a:solidFill>
              <a:srgbClr val="CBD5E1"/>
            </a:solidFill>
            <a:prstDash val="solid"/>
          </a:ln>
        </p:spPr>
      </p:sp>
      <p:sp>
        <p:nvSpPr>
          <p:cNvPr id="22" name="Shape 20"/>
          <p:cNvSpPr/>
          <p:nvPr/>
        </p:nvSpPr>
        <p:spPr>
          <a:xfrm>
            <a:off x="530352" y="2660904"/>
            <a:ext cx="292608" cy="292608"/>
          </a:xfrm>
          <a:prstGeom prst="ellipse">
            <a:avLst/>
          </a:prstGeom>
          <a:solidFill>
            <a:srgbClr val="E2E8F0"/>
          </a:solidFill>
          <a:ln/>
        </p:spPr>
      </p:sp>
      <p:sp>
        <p:nvSpPr>
          <p:cNvPr id="23" name="Text 21"/>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2"/>
          <p:cNvSpPr/>
          <p:nvPr/>
        </p:nvSpPr>
        <p:spPr>
          <a:xfrm>
            <a:off x="914400" y="26060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투플을 유일하게 구별해주는 속성 또는 속성들의 집합이다</a:t>
            </a:r>
            <a:endParaRPr lang="en-US" sz="12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다른 릴레이션의 기본키와 대응되어</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참조 무결성을 표현하는 것은 '외래키(Foreign Key)'입니다.</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후보키는 릴레이션 내부에서 투플을 식별하는 역할.</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②③④는 모두 후보키에 대한 올바른 설명입니다.</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15</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30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개체 무결성 제약조건에 대한 설명으로 적합한 것은?</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릴레이션 내 투플들이 각 속성의 도메인 값만 가져야 한다</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릴레이션은 참조할 수 없는 외래키 값을 가질 수 없다</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외래키 값은 참조되는 릴레이션의 기본키 값과 동일해야 한다</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기본키를 구성하는 모든 속성은 널 값을 가질 수 없다</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15</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31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개체 무결성 제약조건에 대한 설명으로 적합한 것은?</a:t>
            </a:r>
            <a:endParaRPr lang="en-US" sz="1100" dirty="0"/>
          </a:p>
        </p:txBody>
      </p:sp>
      <p:sp>
        <p:nvSpPr>
          <p:cNvPr id="8" name="Shape 6"/>
          <p:cNvSpPr/>
          <p:nvPr/>
        </p:nvSpPr>
        <p:spPr>
          <a:xfrm>
            <a:off x="457200" y="1234440"/>
            <a:ext cx="50292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40233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릴레이션 내 투플들이 각 속성의 도메인 값만 가져야 한다</a:t>
            </a:r>
            <a:endParaRPr lang="en-US" sz="1200" dirty="0"/>
          </a:p>
        </p:txBody>
      </p:sp>
      <p:sp>
        <p:nvSpPr>
          <p:cNvPr id="12" name="Shape 10"/>
          <p:cNvSpPr/>
          <p:nvPr/>
        </p:nvSpPr>
        <p:spPr>
          <a:xfrm>
            <a:off x="457200" y="1691640"/>
            <a:ext cx="5029200"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40233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릴레이션은 참조할 수 없는 외래키 값을 가질 수 없다</a:t>
            </a:r>
            <a:endParaRPr lang="en-US" sz="1200" dirty="0"/>
          </a:p>
        </p:txBody>
      </p:sp>
      <p:sp>
        <p:nvSpPr>
          <p:cNvPr id="16" name="Shape 14"/>
          <p:cNvSpPr/>
          <p:nvPr/>
        </p:nvSpPr>
        <p:spPr>
          <a:xfrm>
            <a:off x="457200" y="2148840"/>
            <a:ext cx="5029200" cy="402336"/>
          </a:xfrm>
          <a:prstGeom prst="rect">
            <a:avLst/>
          </a:prstGeom>
          <a:solidFill>
            <a:srgbClr val="FFFFFF"/>
          </a:solidFill>
          <a:ln w="9525">
            <a:solidFill>
              <a:srgbClr val="CBD5E1"/>
            </a:solidFill>
            <a:prstDash val="solid"/>
          </a:ln>
        </p:spPr>
      </p:sp>
      <p:sp>
        <p:nvSpPr>
          <p:cNvPr id="17" name="Shape 15"/>
          <p:cNvSpPr/>
          <p:nvPr/>
        </p:nvSpPr>
        <p:spPr>
          <a:xfrm>
            <a:off x="530352" y="2203704"/>
            <a:ext cx="292608" cy="292608"/>
          </a:xfrm>
          <a:prstGeom prst="ellipse">
            <a:avLst/>
          </a:prstGeom>
          <a:solidFill>
            <a:srgbClr val="E2E8F0"/>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40233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외래키 값은 참조되는 릴레이션의 기본키 값과 동일해야 한다</a:t>
            </a:r>
            <a:endParaRPr lang="en-US" sz="1200" dirty="0"/>
          </a:p>
        </p:txBody>
      </p:sp>
      <p:sp>
        <p:nvSpPr>
          <p:cNvPr id="20" name="Shape 18"/>
          <p:cNvSpPr/>
          <p:nvPr/>
        </p:nvSpPr>
        <p:spPr>
          <a:xfrm>
            <a:off x="457200" y="2606040"/>
            <a:ext cx="5029200" cy="402336"/>
          </a:xfrm>
          <a:prstGeom prst="rect">
            <a:avLst/>
          </a:prstGeom>
          <a:solidFill>
            <a:srgbClr val="EFF6FF"/>
          </a:solidFill>
          <a:ln w="19050">
            <a:solidFill>
              <a:srgbClr val="3B82F6"/>
            </a:solidFill>
            <a:prstDash val="solid"/>
          </a:ln>
        </p:spPr>
      </p:sp>
      <p:sp>
        <p:nvSpPr>
          <p:cNvPr id="21" name="Shape 19"/>
          <p:cNvSpPr/>
          <p:nvPr/>
        </p:nvSpPr>
        <p:spPr>
          <a:xfrm>
            <a:off x="530352" y="2660904"/>
            <a:ext cx="292608" cy="292608"/>
          </a:xfrm>
          <a:prstGeom prst="ellipse">
            <a:avLst/>
          </a:prstGeom>
          <a:solidFill>
            <a:srgbClr val="3B82F6"/>
          </a:solidFill>
          <a:ln/>
        </p:spPr>
      </p:sp>
      <p:sp>
        <p:nvSpPr>
          <p:cNvPr id="22" name="Text 20"/>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14400" y="2606040"/>
            <a:ext cx="40233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기본키를 구성하는 모든 속성은 널 값을 가질 수 없다</a:t>
            </a:r>
            <a:endParaRPr lang="en-US" sz="1200" dirty="0"/>
          </a:p>
        </p:txBody>
      </p:sp>
      <p:sp>
        <p:nvSpPr>
          <p:cNvPr id="24" name="Text 22"/>
          <p:cNvSpPr/>
          <p:nvPr/>
        </p:nvSpPr>
        <p:spPr>
          <a:xfrm>
            <a:off x="4846320" y="26060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457200" y="3246120"/>
            <a:ext cx="50292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50292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47548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개체 무결성 제약조건 (Entity Integrity Constraint):</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 기본키를 구성하는 모든 속성은 NULL 값을 가질 수 없다</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①은 도메인 무결성 제약조건</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②③은 참조 무결성 제약조건에 해당합니다.</a:t>
            </a:r>
            <a:endParaRPr lang="en-US" sz="1100" dirty="0"/>
          </a:p>
        </p:txBody>
      </p:sp>
      <p:pic>
        <p:nvPicPr>
          <p:cNvPr id="29" name="Image 0" descr="/home/claude/ch5imgs/fig5_14_entity.jpeg"/>
          <p:cNvPicPr>
            <a:picLocks noChangeAspect="1"/>
          </p:cNvPicPr>
          <p:nvPr/>
        </p:nvPicPr>
        <p:blipFill rotWithShape="1">
          <a:blip r:embed="rId3"/>
          <a:srcRect/>
          <a:stretch>
            <a:fillRect/>
          </a:stretch>
        </p:blipFill>
        <p:spPr>
          <a:xfrm>
            <a:off x="5669280" y="2135830"/>
            <a:ext cx="3200400" cy="158049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16</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32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외래키와 관련이 있는 무결성 제약조건은?</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도메인 무결성 제약조건</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개체 무결성 제약조건</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참조 무결성 제약조건</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기본키 무결성 제약조건</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16</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33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외래키와 관련이 있는 무결성 제약조건은?</a:t>
            </a:r>
            <a:endParaRPr lang="en-US" sz="1100" dirty="0"/>
          </a:p>
        </p:txBody>
      </p:sp>
      <p:sp>
        <p:nvSpPr>
          <p:cNvPr id="8" name="Shape 6"/>
          <p:cNvSpPr/>
          <p:nvPr/>
        </p:nvSpPr>
        <p:spPr>
          <a:xfrm>
            <a:off x="457200" y="1234440"/>
            <a:ext cx="50292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40233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도메인 무결성 제약조건</a:t>
            </a:r>
            <a:endParaRPr lang="en-US" sz="1200" dirty="0"/>
          </a:p>
        </p:txBody>
      </p:sp>
      <p:sp>
        <p:nvSpPr>
          <p:cNvPr id="12" name="Shape 10"/>
          <p:cNvSpPr/>
          <p:nvPr/>
        </p:nvSpPr>
        <p:spPr>
          <a:xfrm>
            <a:off x="457200" y="1691640"/>
            <a:ext cx="5029200"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40233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개체 무결성 제약조건</a:t>
            </a:r>
            <a:endParaRPr lang="en-US" sz="1200" dirty="0"/>
          </a:p>
        </p:txBody>
      </p:sp>
      <p:sp>
        <p:nvSpPr>
          <p:cNvPr id="16" name="Shape 14"/>
          <p:cNvSpPr/>
          <p:nvPr/>
        </p:nvSpPr>
        <p:spPr>
          <a:xfrm>
            <a:off x="457200" y="2148840"/>
            <a:ext cx="5029200" cy="402336"/>
          </a:xfrm>
          <a:prstGeom prst="rect">
            <a:avLst/>
          </a:prstGeom>
          <a:solidFill>
            <a:srgbClr val="EFF6FF"/>
          </a:solidFill>
          <a:ln w="19050">
            <a:solidFill>
              <a:srgbClr val="3B82F6"/>
            </a:solidFill>
            <a:prstDash val="solid"/>
          </a:ln>
        </p:spPr>
      </p:sp>
      <p:sp>
        <p:nvSpPr>
          <p:cNvPr id="17" name="Shape 15"/>
          <p:cNvSpPr/>
          <p:nvPr/>
        </p:nvSpPr>
        <p:spPr>
          <a:xfrm>
            <a:off x="530352" y="2203704"/>
            <a:ext cx="292608" cy="292608"/>
          </a:xfrm>
          <a:prstGeom prst="ellipse">
            <a:avLst/>
          </a:prstGeom>
          <a:solidFill>
            <a:srgbClr val="3B82F6"/>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40233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참조 무결성 제약조건</a:t>
            </a:r>
            <a:endParaRPr lang="en-US" sz="1200" dirty="0"/>
          </a:p>
        </p:txBody>
      </p:sp>
      <p:sp>
        <p:nvSpPr>
          <p:cNvPr id="20" name="Text 18"/>
          <p:cNvSpPr/>
          <p:nvPr/>
        </p:nvSpPr>
        <p:spPr>
          <a:xfrm>
            <a:off x="4846320" y="21488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457200" y="2606040"/>
            <a:ext cx="5029200" cy="402336"/>
          </a:xfrm>
          <a:prstGeom prst="rect">
            <a:avLst/>
          </a:prstGeom>
          <a:solidFill>
            <a:srgbClr val="FFFFFF"/>
          </a:solidFill>
          <a:ln w="9525">
            <a:solidFill>
              <a:srgbClr val="CBD5E1"/>
            </a:solidFill>
            <a:prstDash val="solid"/>
          </a:ln>
        </p:spPr>
      </p:sp>
      <p:sp>
        <p:nvSpPr>
          <p:cNvPr id="22" name="Shape 20"/>
          <p:cNvSpPr/>
          <p:nvPr/>
        </p:nvSpPr>
        <p:spPr>
          <a:xfrm>
            <a:off x="530352" y="2660904"/>
            <a:ext cx="292608" cy="292608"/>
          </a:xfrm>
          <a:prstGeom prst="ellipse">
            <a:avLst/>
          </a:prstGeom>
          <a:solidFill>
            <a:srgbClr val="E2E8F0"/>
          </a:solidFill>
          <a:ln/>
        </p:spPr>
      </p:sp>
      <p:sp>
        <p:nvSpPr>
          <p:cNvPr id="23" name="Text 21"/>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2"/>
          <p:cNvSpPr/>
          <p:nvPr/>
        </p:nvSpPr>
        <p:spPr>
          <a:xfrm>
            <a:off x="914400" y="2606040"/>
            <a:ext cx="40233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기본키 무결성 제약조건</a:t>
            </a:r>
            <a:endParaRPr lang="en-US" sz="1200" dirty="0"/>
          </a:p>
        </p:txBody>
      </p:sp>
      <p:sp>
        <p:nvSpPr>
          <p:cNvPr id="25" name="Shape 23"/>
          <p:cNvSpPr/>
          <p:nvPr/>
        </p:nvSpPr>
        <p:spPr>
          <a:xfrm>
            <a:off x="457200" y="3246120"/>
            <a:ext cx="50292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50292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47548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참조 무결성 제약조건 (Referential Integrity Constraint):</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 외래키가 참조할 수 없는(존재하지 않는) 값을 가질 수 없다</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 외래키 값은 참조되는 릴레이션의 기본키에 존재 or NULL</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개체 무결성 제약조건은 기본키와 관련됩니다.</a:t>
            </a:r>
            <a:endParaRPr lang="en-US" sz="1100" dirty="0"/>
          </a:p>
        </p:txBody>
      </p:sp>
      <p:pic>
        <p:nvPicPr>
          <p:cNvPr id="29" name="Image 0" descr="/home/claude/ch5imgs/fig5_15_ref.jpeg"/>
          <p:cNvPicPr>
            <a:picLocks noChangeAspect="1"/>
          </p:cNvPicPr>
          <p:nvPr/>
        </p:nvPicPr>
        <p:blipFill rotWithShape="1">
          <a:blip r:embed="rId3"/>
          <a:srcRect/>
          <a:stretch>
            <a:fillRect/>
          </a:stretch>
        </p:blipFill>
        <p:spPr>
          <a:xfrm>
            <a:off x="5669280" y="1731598"/>
            <a:ext cx="3200400" cy="238896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17</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34 / 58</a:t>
            </a:r>
            <a:endParaRPr lang="en-US" sz="900" dirty="0"/>
          </a:p>
        </p:txBody>
      </p:sp>
      <p:sp>
        <p:nvSpPr>
          <p:cNvPr id="7" name="Text 5"/>
          <p:cNvSpPr/>
          <p:nvPr/>
        </p:nvSpPr>
        <p:spPr>
          <a:xfrm>
            <a:off x="457200" y="777240"/>
            <a:ext cx="8229600" cy="100584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릴레이션 A의 기본키 속성 값을 변경하려면 이를 참조하는 릴레이션 B의</a:t>
            </a:r>
            <a:endParaRPr lang="en-US" sz="1400" dirty="0"/>
          </a:p>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외래키 속성 값도 변경해야 하는데, 이와 관련 있는 무결성 제약조건은?</a:t>
            </a:r>
            <a:endParaRPr lang="en-US" sz="1400" dirty="0"/>
          </a:p>
        </p:txBody>
      </p:sp>
      <p:sp>
        <p:nvSpPr>
          <p:cNvPr id="8" name="Shape 6"/>
          <p:cNvSpPr/>
          <p:nvPr/>
        </p:nvSpPr>
        <p:spPr>
          <a:xfrm>
            <a:off x="457200" y="1965960"/>
            <a:ext cx="8229600" cy="429768"/>
          </a:xfrm>
          <a:prstGeom prst="rect">
            <a:avLst/>
          </a:prstGeom>
          <a:solidFill>
            <a:srgbClr val="FFFFFF"/>
          </a:solidFill>
          <a:ln w="12700">
            <a:solidFill>
              <a:srgbClr val="CBD5E1"/>
            </a:solidFill>
            <a:prstDash val="solid"/>
          </a:ln>
        </p:spPr>
      </p:sp>
      <p:sp>
        <p:nvSpPr>
          <p:cNvPr id="9" name="Shape 7"/>
          <p:cNvSpPr/>
          <p:nvPr/>
        </p:nvSpPr>
        <p:spPr>
          <a:xfrm>
            <a:off x="530352" y="2029968"/>
            <a:ext cx="301752" cy="301752"/>
          </a:xfrm>
          <a:prstGeom prst="ellipse">
            <a:avLst/>
          </a:prstGeom>
          <a:solidFill>
            <a:srgbClr val="E2E8F0"/>
          </a:solidFill>
          <a:ln/>
        </p:spPr>
      </p:sp>
      <p:sp>
        <p:nvSpPr>
          <p:cNvPr id="10" name="Text 8"/>
          <p:cNvSpPr/>
          <p:nvPr/>
        </p:nvSpPr>
        <p:spPr>
          <a:xfrm>
            <a:off x="530352" y="202996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60120" y="196596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도메인 무결성 제약조건</a:t>
            </a:r>
            <a:endParaRPr lang="en-US" sz="1300" dirty="0"/>
          </a:p>
        </p:txBody>
      </p:sp>
      <p:sp>
        <p:nvSpPr>
          <p:cNvPr id="12" name="Shape 10"/>
          <p:cNvSpPr/>
          <p:nvPr/>
        </p:nvSpPr>
        <p:spPr>
          <a:xfrm>
            <a:off x="457200" y="2468880"/>
            <a:ext cx="8229600" cy="429768"/>
          </a:xfrm>
          <a:prstGeom prst="rect">
            <a:avLst/>
          </a:prstGeom>
          <a:solidFill>
            <a:srgbClr val="FFFFFF"/>
          </a:solidFill>
          <a:ln w="12700">
            <a:solidFill>
              <a:srgbClr val="CBD5E1"/>
            </a:solidFill>
            <a:prstDash val="solid"/>
          </a:ln>
        </p:spPr>
      </p:sp>
      <p:sp>
        <p:nvSpPr>
          <p:cNvPr id="13" name="Shape 11"/>
          <p:cNvSpPr/>
          <p:nvPr/>
        </p:nvSpPr>
        <p:spPr>
          <a:xfrm>
            <a:off x="530352" y="2532888"/>
            <a:ext cx="301752" cy="301752"/>
          </a:xfrm>
          <a:prstGeom prst="ellipse">
            <a:avLst/>
          </a:prstGeom>
          <a:solidFill>
            <a:srgbClr val="E2E8F0"/>
          </a:solidFill>
          <a:ln/>
        </p:spPr>
      </p:sp>
      <p:sp>
        <p:nvSpPr>
          <p:cNvPr id="14" name="Text 12"/>
          <p:cNvSpPr/>
          <p:nvPr/>
        </p:nvSpPr>
        <p:spPr>
          <a:xfrm>
            <a:off x="530352" y="253288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60120" y="246888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개체 무결성 제약조건</a:t>
            </a:r>
            <a:endParaRPr lang="en-US" sz="1300" dirty="0"/>
          </a:p>
        </p:txBody>
      </p:sp>
      <p:sp>
        <p:nvSpPr>
          <p:cNvPr id="16" name="Shape 14"/>
          <p:cNvSpPr/>
          <p:nvPr/>
        </p:nvSpPr>
        <p:spPr>
          <a:xfrm>
            <a:off x="457200" y="2971800"/>
            <a:ext cx="8229600" cy="429768"/>
          </a:xfrm>
          <a:prstGeom prst="rect">
            <a:avLst/>
          </a:prstGeom>
          <a:solidFill>
            <a:srgbClr val="FFFFFF"/>
          </a:solidFill>
          <a:ln w="12700">
            <a:solidFill>
              <a:srgbClr val="CBD5E1"/>
            </a:solidFill>
            <a:prstDash val="solid"/>
          </a:ln>
        </p:spPr>
      </p:sp>
      <p:sp>
        <p:nvSpPr>
          <p:cNvPr id="17" name="Shape 15"/>
          <p:cNvSpPr/>
          <p:nvPr/>
        </p:nvSpPr>
        <p:spPr>
          <a:xfrm>
            <a:off x="530352" y="3035808"/>
            <a:ext cx="301752" cy="301752"/>
          </a:xfrm>
          <a:prstGeom prst="ellipse">
            <a:avLst/>
          </a:prstGeom>
          <a:solidFill>
            <a:srgbClr val="E2E8F0"/>
          </a:solidFill>
          <a:ln/>
        </p:spPr>
      </p:sp>
      <p:sp>
        <p:nvSpPr>
          <p:cNvPr id="18" name="Text 16"/>
          <p:cNvSpPr/>
          <p:nvPr/>
        </p:nvSpPr>
        <p:spPr>
          <a:xfrm>
            <a:off x="530352" y="303580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60120" y="297180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참조 무결성 제약조건</a:t>
            </a:r>
            <a:endParaRPr lang="en-US" sz="1300" dirty="0"/>
          </a:p>
        </p:txBody>
      </p:sp>
      <p:sp>
        <p:nvSpPr>
          <p:cNvPr id="20" name="Shape 18"/>
          <p:cNvSpPr/>
          <p:nvPr/>
        </p:nvSpPr>
        <p:spPr>
          <a:xfrm>
            <a:off x="457200" y="3474720"/>
            <a:ext cx="8229600" cy="429768"/>
          </a:xfrm>
          <a:prstGeom prst="rect">
            <a:avLst/>
          </a:prstGeom>
          <a:solidFill>
            <a:srgbClr val="FFFFFF"/>
          </a:solidFill>
          <a:ln w="12700">
            <a:solidFill>
              <a:srgbClr val="CBD5E1"/>
            </a:solidFill>
            <a:prstDash val="solid"/>
          </a:ln>
        </p:spPr>
      </p:sp>
      <p:sp>
        <p:nvSpPr>
          <p:cNvPr id="21" name="Shape 19"/>
          <p:cNvSpPr/>
          <p:nvPr/>
        </p:nvSpPr>
        <p:spPr>
          <a:xfrm>
            <a:off x="530352" y="3538728"/>
            <a:ext cx="301752" cy="301752"/>
          </a:xfrm>
          <a:prstGeom prst="ellipse">
            <a:avLst/>
          </a:prstGeom>
          <a:solidFill>
            <a:srgbClr val="E2E8F0"/>
          </a:solidFill>
          <a:ln/>
        </p:spPr>
      </p:sp>
      <p:sp>
        <p:nvSpPr>
          <p:cNvPr id="22" name="Text 20"/>
          <p:cNvSpPr/>
          <p:nvPr/>
        </p:nvSpPr>
        <p:spPr>
          <a:xfrm>
            <a:off x="530352" y="3538728"/>
            <a:ext cx="301752" cy="301752"/>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3" name="Text 21"/>
          <p:cNvSpPr/>
          <p:nvPr/>
        </p:nvSpPr>
        <p:spPr>
          <a:xfrm>
            <a:off x="960120" y="3474720"/>
            <a:ext cx="7589520" cy="429768"/>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기본키 무결성 제약조건</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17</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35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릴레이션 A의 기본키 속성 값을 변경하려면 이를 참조하는 릴레이션 B의 ...</a:t>
            </a:r>
            <a:endParaRPr lang="en-US" sz="1100" dirty="0"/>
          </a:p>
        </p:txBody>
      </p:sp>
      <p:sp>
        <p:nvSpPr>
          <p:cNvPr id="8" name="Shape 6"/>
          <p:cNvSpPr/>
          <p:nvPr/>
        </p:nvSpPr>
        <p:spPr>
          <a:xfrm>
            <a:off x="457200" y="1234440"/>
            <a:ext cx="8229600" cy="402336"/>
          </a:xfrm>
          <a:prstGeom prst="rect">
            <a:avLst/>
          </a:prstGeom>
          <a:solidFill>
            <a:srgbClr val="FFFFFF"/>
          </a:solidFill>
          <a:ln w="9525">
            <a:solidFill>
              <a:srgbClr val="CBD5E1"/>
            </a:solidFill>
            <a:prstDash val="solid"/>
          </a:ln>
        </p:spPr>
      </p:sp>
      <p:sp>
        <p:nvSpPr>
          <p:cNvPr id="9" name="Shape 7"/>
          <p:cNvSpPr/>
          <p:nvPr/>
        </p:nvSpPr>
        <p:spPr>
          <a:xfrm>
            <a:off x="530352" y="1289304"/>
            <a:ext cx="292608" cy="292608"/>
          </a:xfrm>
          <a:prstGeom prst="ellipse">
            <a:avLst/>
          </a:prstGeom>
          <a:solidFill>
            <a:srgbClr val="E2E8F0"/>
          </a:solidFill>
          <a:ln/>
        </p:spPr>
      </p:sp>
      <p:sp>
        <p:nvSpPr>
          <p:cNvPr id="10" name="Text 8"/>
          <p:cNvSpPr/>
          <p:nvPr/>
        </p:nvSpPr>
        <p:spPr>
          <a:xfrm>
            <a:off x="530352" y="12893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①</a:t>
            </a:r>
            <a:endParaRPr lang="en-US" sz="1100" dirty="0"/>
          </a:p>
        </p:txBody>
      </p:sp>
      <p:sp>
        <p:nvSpPr>
          <p:cNvPr id="11" name="Text 9"/>
          <p:cNvSpPr/>
          <p:nvPr/>
        </p:nvSpPr>
        <p:spPr>
          <a:xfrm>
            <a:off x="914400" y="12344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도메인 무결성 제약조건</a:t>
            </a:r>
            <a:endParaRPr lang="en-US" sz="1200" dirty="0"/>
          </a:p>
        </p:txBody>
      </p:sp>
      <p:sp>
        <p:nvSpPr>
          <p:cNvPr id="12" name="Shape 10"/>
          <p:cNvSpPr/>
          <p:nvPr/>
        </p:nvSpPr>
        <p:spPr>
          <a:xfrm>
            <a:off x="457200" y="1691640"/>
            <a:ext cx="8229600" cy="402336"/>
          </a:xfrm>
          <a:prstGeom prst="rect">
            <a:avLst/>
          </a:prstGeom>
          <a:solidFill>
            <a:srgbClr val="FFFFFF"/>
          </a:solidFill>
          <a:ln w="9525">
            <a:solidFill>
              <a:srgbClr val="CBD5E1"/>
            </a:solidFill>
            <a:prstDash val="solid"/>
          </a:ln>
        </p:spPr>
      </p:sp>
      <p:sp>
        <p:nvSpPr>
          <p:cNvPr id="13" name="Shape 11"/>
          <p:cNvSpPr/>
          <p:nvPr/>
        </p:nvSpPr>
        <p:spPr>
          <a:xfrm>
            <a:off x="530352" y="1746504"/>
            <a:ext cx="292608" cy="292608"/>
          </a:xfrm>
          <a:prstGeom prst="ellipse">
            <a:avLst/>
          </a:prstGeom>
          <a:solidFill>
            <a:srgbClr val="E2E8F0"/>
          </a:solidFill>
          <a:ln/>
        </p:spPr>
      </p:sp>
      <p:sp>
        <p:nvSpPr>
          <p:cNvPr id="14" name="Text 12"/>
          <p:cNvSpPr/>
          <p:nvPr/>
        </p:nvSpPr>
        <p:spPr>
          <a:xfrm>
            <a:off x="530352" y="17465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②</a:t>
            </a:r>
            <a:endParaRPr lang="en-US" sz="1100" dirty="0"/>
          </a:p>
        </p:txBody>
      </p:sp>
      <p:sp>
        <p:nvSpPr>
          <p:cNvPr id="15" name="Text 13"/>
          <p:cNvSpPr/>
          <p:nvPr/>
        </p:nvSpPr>
        <p:spPr>
          <a:xfrm>
            <a:off x="914400" y="16916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개체 무결성 제약조건</a:t>
            </a:r>
            <a:endParaRPr lang="en-US" sz="1200" dirty="0"/>
          </a:p>
        </p:txBody>
      </p:sp>
      <p:sp>
        <p:nvSpPr>
          <p:cNvPr id="16" name="Shape 14"/>
          <p:cNvSpPr/>
          <p:nvPr/>
        </p:nvSpPr>
        <p:spPr>
          <a:xfrm>
            <a:off x="457200" y="2148840"/>
            <a:ext cx="8229600" cy="402336"/>
          </a:xfrm>
          <a:prstGeom prst="rect">
            <a:avLst/>
          </a:prstGeom>
          <a:solidFill>
            <a:srgbClr val="EFF6FF"/>
          </a:solidFill>
          <a:ln w="19050">
            <a:solidFill>
              <a:srgbClr val="3B82F6"/>
            </a:solidFill>
            <a:prstDash val="solid"/>
          </a:ln>
        </p:spPr>
      </p:sp>
      <p:sp>
        <p:nvSpPr>
          <p:cNvPr id="17" name="Shape 15"/>
          <p:cNvSpPr/>
          <p:nvPr/>
        </p:nvSpPr>
        <p:spPr>
          <a:xfrm>
            <a:off x="530352" y="2203704"/>
            <a:ext cx="292608" cy="292608"/>
          </a:xfrm>
          <a:prstGeom prst="ellipse">
            <a:avLst/>
          </a:prstGeom>
          <a:solidFill>
            <a:srgbClr val="3B82F6"/>
          </a:solidFill>
          <a:ln/>
        </p:spPr>
      </p:sp>
      <p:sp>
        <p:nvSpPr>
          <p:cNvPr id="18" name="Text 16"/>
          <p:cNvSpPr/>
          <p:nvPr/>
        </p:nvSpPr>
        <p:spPr>
          <a:xfrm>
            <a:off x="530352" y="2203704"/>
            <a:ext cx="292608" cy="29260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③</a:t>
            </a:r>
            <a:endParaRPr lang="en-US" sz="1100" dirty="0"/>
          </a:p>
        </p:txBody>
      </p:sp>
      <p:sp>
        <p:nvSpPr>
          <p:cNvPr id="19" name="Text 17"/>
          <p:cNvSpPr/>
          <p:nvPr/>
        </p:nvSpPr>
        <p:spPr>
          <a:xfrm>
            <a:off x="914400" y="2148840"/>
            <a:ext cx="7223760" cy="402336"/>
          </a:xfrm>
          <a:prstGeom prst="rect">
            <a:avLst/>
          </a:prstGeom>
          <a:noFill/>
          <a:ln/>
        </p:spPr>
        <p:txBody>
          <a:bodyPr wrap="square" rtlCol="0" anchor="ctr"/>
          <a:lstStyle/>
          <a:p>
            <a:pPr marL="0" indent="0">
              <a:buNone/>
            </a:pPr>
            <a:r>
              <a:rPr lang="en-US" sz="1200" b="1" dirty="0">
                <a:solidFill>
                  <a:srgbClr val="1D4ED8"/>
                </a:solidFill>
                <a:latin typeface="Calibri" pitchFamily="34" charset="0"/>
                <a:ea typeface="Calibri" pitchFamily="34" charset="-122"/>
                <a:cs typeface="Calibri" pitchFamily="34" charset="-120"/>
              </a:rPr>
              <a:t>참조 무결성 제약조건</a:t>
            </a:r>
            <a:endParaRPr lang="en-US" sz="1200" dirty="0"/>
          </a:p>
        </p:txBody>
      </p:sp>
      <p:sp>
        <p:nvSpPr>
          <p:cNvPr id="20" name="Text 18"/>
          <p:cNvSpPr/>
          <p:nvPr/>
        </p:nvSpPr>
        <p:spPr>
          <a:xfrm>
            <a:off x="8046720" y="2148840"/>
            <a:ext cx="457200" cy="402336"/>
          </a:xfrm>
          <a:prstGeom prst="rect">
            <a:avLst/>
          </a:prstGeom>
          <a:noFill/>
          <a:ln/>
        </p:spPr>
        <p:txBody>
          <a:bodyPr wrap="square" rtlCol="0" anchor="ctr"/>
          <a:lstStyle/>
          <a:p>
            <a:pPr marL="0" indent="0" algn="ctr">
              <a:buNone/>
            </a:pPr>
            <a:r>
              <a:rPr lang="en-US" sz="1600" b="1" dirty="0">
                <a:solidFill>
                  <a:srgbClr val="16A34A"/>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457200" y="2606040"/>
            <a:ext cx="8229600" cy="402336"/>
          </a:xfrm>
          <a:prstGeom prst="rect">
            <a:avLst/>
          </a:prstGeom>
          <a:solidFill>
            <a:srgbClr val="FFFFFF"/>
          </a:solidFill>
          <a:ln w="9525">
            <a:solidFill>
              <a:srgbClr val="CBD5E1"/>
            </a:solidFill>
            <a:prstDash val="solid"/>
          </a:ln>
        </p:spPr>
      </p:sp>
      <p:sp>
        <p:nvSpPr>
          <p:cNvPr id="22" name="Shape 20"/>
          <p:cNvSpPr/>
          <p:nvPr/>
        </p:nvSpPr>
        <p:spPr>
          <a:xfrm>
            <a:off x="530352" y="2660904"/>
            <a:ext cx="292608" cy="292608"/>
          </a:xfrm>
          <a:prstGeom prst="ellipse">
            <a:avLst/>
          </a:prstGeom>
          <a:solidFill>
            <a:srgbClr val="E2E8F0"/>
          </a:solidFill>
          <a:ln/>
        </p:spPr>
      </p:sp>
      <p:sp>
        <p:nvSpPr>
          <p:cNvPr id="23" name="Text 21"/>
          <p:cNvSpPr/>
          <p:nvPr/>
        </p:nvSpPr>
        <p:spPr>
          <a:xfrm>
            <a:off x="530352" y="2660904"/>
            <a:ext cx="292608" cy="292608"/>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④</a:t>
            </a:r>
            <a:endParaRPr lang="en-US" sz="1100" dirty="0"/>
          </a:p>
        </p:txBody>
      </p:sp>
      <p:sp>
        <p:nvSpPr>
          <p:cNvPr id="24" name="Text 22"/>
          <p:cNvSpPr/>
          <p:nvPr/>
        </p:nvSpPr>
        <p:spPr>
          <a:xfrm>
            <a:off x="914400" y="2606040"/>
            <a:ext cx="7223760" cy="402336"/>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기본키 무결성 제약조건</a:t>
            </a:r>
            <a:endParaRPr lang="en-US" sz="1200" dirty="0"/>
          </a:p>
        </p:txBody>
      </p:sp>
      <p:sp>
        <p:nvSpPr>
          <p:cNvPr id="25" name="Shape 23"/>
          <p:cNvSpPr/>
          <p:nvPr/>
        </p:nvSpPr>
        <p:spPr>
          <a:xfrm>
            <a:off x="457200" y="3246120"/>
            <a:ext cx="8229600" cy="1691640"/>
          </a:xfrm>
          <a:prstGeom prst="rect">
            <a:avLst/>
          </a:prstGeom>
          <a:solidFill>
            <a:srgbClr val="FFFFFF"/>
          </a:solidFill>
          <a:ln w="19050">
            <a:solidFill>
              <a:srgbClr val="1C7293"/>
            </a:solidFill>
            <a:prstDash val="solid"/>
          </a:ln>
        </p:spPr>
      </p:sp>
      <p:sp>
        <p:nvSpPr>
          <p:cNvPr id="26" name="Shape 24"/>
          <p:cNvSpPr/>
          <p:nvPr/>
        </p:nvSpPr>
        <p:spPr>
          <a:xfrm>
            <a:off x="457200" y="3246120"/>
            <a:ext cx="8229600" cy="320040"/>
          </a:xfrm>
          <a:prstGeom prst="rect">
            <a:avLst/>
          </a:prstGeom>
          <a:solidFill>
            <a:srgbClr val="1C7293"/>
          </a:solidFill>
          <a:ln/>
        </p:spPr>
      </p:sp>
      <p:sp>
        <p:nvSpPr>
          <p:cNvPr id="27" name="Text 25"/>
          <p:cNvSpPr/>
          <p:nvPr/>
        </p:nvSpPr>
        <p:spPr>
          <a:xfrm>
            <a:off x="594360" y="3264408"/>
            <a:ext cx="1828800" cy="283464"/>
          </a:xfrm>
          <a:prstGeom prst="rect">
            <a:avLst/>
          </a:prstGeom>
          <a:noFill/>
          <a:ln/>
        </p:spPr>
        <p:txBody>
          <a:bodyPr wrap="square" rtlCol="0" anchor="ctr"/>
          <a:lstStyle/>
          <a:p>
            <a:pPr marL="0" indent="0">
              <a:buNone/>
            </a:pPr>
            <a:r>
              <a:rPr lang="en-US" sz="1200" b="1" dirty="0">
                <a:solidFill>
                  <a:srgbClr val="FFFFFF"/>
                </a:solidFill>
                <a:latin typeface="Georgia" pitchFamily="34" charset="0"/>
                <a:ea typeface="Georgia" pitchFamily="34" charset="-122"/>
                <a:cs typeface="Georgia" pitchFamily="34" charset="-120"/>
              </a:rPr>
              <a:t>해설</a:t>
            </a:r>
            <a:endParaRPr lang="en-US" sz="1200" dirty="0"/>
          </a:p>
        </p:txBody>
      </p:sp>
      <p:sp>
        <p:nvSpPr>
          <p:cNvPr id="28" name="Text 26"/>
          <p:cNvSpPr/>
          <p:nvPr/>
        </p:nvSpPr>
        <p:spPr>
          <a:xfrm>
            <a:off x="594360" y="3657600"/>
            <a:ext cx="7955280" cy="1188720"/>
          </a:xfrm>
          <a:prstGeom prst="rect">
            <a:avLst/>
          </a:prstGeom>
          <a:noFill/>
          <a:ln/>
        </p:spPr>
        <p:txBody>
          <a:bodyPr wrap="square" rtlCol="0" anchor="t"/>
          <a:lstStyle/>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참조 무결성 제약조건은 외래키가 참조하는 기본키 값이</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변경·삭제될 때 참조 관계의 일관성을 유지하도록 보장.</a:t>
            </a:r>
            <a:endParaRPr lang="en-US" sz="1100" dirty="0"/>
          </a:p>
          <a:p>
            <a:pPr marL="0" indent="0">
              <a:lnSpc>
                <a:spcPct val="125000"/>
              </a:lnSpc>
              <a:buNone/>
            </a:pP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기본키 값이 바뀌면 이를 참조하는 외래키도 함께 처리해야</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참조 무결성이 유지됩니다. (연쇄 수정/삭제 또는 거부)</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18</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36 / 58</a:t>
            </a:r>
            <a:endParaRPr lang="en-US" sz="900" dirty="0"/>
          </a:p>
        </p:txBody>
      </p:sp>
      <p:sp>
        <p:nvSpPr>
          <p:cNvPr id="7" name="Shape 5"/>
          <p:cNvSpPr/>
          <p:nvPr/>
        </p:nvSpPr>
        <p:spPr>
          <a:xfrm>
            <a:off x="457200" y="777240"/>
            <a:ext cx="8229600" cy="3657600"/>
          </a:xfrm>
          <a:prstGeom prst="rect">
            <a:avLst/>
          </a:prstGeom>
          <a:solidFill>
            <a:srgbClr val="FFFFFF"/>
          </a:solidFill>
          <a:ln w="12700">
            <a:solidFill>
              <a:srgbClr val="CBD5E1"/>
            </a:solidFill>
            <a:prstDash val="solid"/>
          </a:ln>
        </p:spPr>
      </p:sp>
      <p:sp>
        <p:nvSpPr>
          <p:cNvPr id="8" name="Shape 6"/>
          <p:cNvSpPr/>
          <p:nvPr/>
        </p:nvSpPr>
        <p:spPr>
          <a:xfrm>
            <a:off x="594360" y="914400"/>
            <a:ext cx="347472" cy="347472"/>
          </a:xfrm>
          <a:prstGeom prst="ellipse">
            <a:avLst/>
          </a:prstGeom>
          <a:solidFill>
            <a:srgbClr val="2C5F8A"/>
          </a:solidFill>
          <a:ln/>
        </p:spPr>
      </p:sp>
      <p:sp>
        <p:nvSpPr>
          <p:cNvPr id="9" name="Text 7"/>
          <p:cNvSpPr/>
          <p:nvPr/>
        </p:nvSpPr>
        <p:spPr>
          <a:xfrm>
            <a:off x="594360" y="914400"/>
            <a:ext cx="347472" cy="34747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Q</a:t>
            </a:r>
            <a:endParaRPr lang="en-US" sz="1500" dirty="0"/>
          </a:p>
        </p:txBody>
      </p:sp>
      <p:sp>
        <p:nvSpPr>
          <p:cNvPr id="10" name="Text 8"/>
          <p:cNvSpPr/>
          <p:nvPr/>
        </p:nvSpPr>
        <p:spPr>
          <a:xfrm>
            <a:off x="1097280" y="868680"/>
            <a:ext cx="7406640" cy="3474720"/>
          </a:xfrm>
          <a:prstGeom prst="rect">
            <a:avLst/>
          </a:prstGeom>
          <a:noFill/>
          <a:ln/>
        </p:spPr>
        <p:txBody>
          <a:bodyPr wrap="square" rtlCol="0" anchor="t"/>
          <a:lstStyle/>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관계 데이터 모델에서 하나의 속성이 가질 수 있는 모든 값들의 집합을</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무엇이라 하는가?</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18</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37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관계 데이터 모델에서 하나의 속성이 가질 수 있는 모든 값들의 집합을 ...</a:t>
            </a:r>
            <a:endParaRPr lang="en-US" sz="1100" dirty="0"/>
          </a:p>
        </p:txBody>
      </p:sp>
      <p:sp>
        <p:nvSpPr>
          <p:cNvPr id="8" name="Shape 6"/>
          <p:cNvSpPr/>
          <p:nvPr/>
        </p:nvSpPr>
        <p:spPr>
          <a:xfrm>
            <a:off x="457200" y="1234440"/>
            <a:ext cx="8229600" cy="3657600"/>
          </a:xfrm>
          <a:prstGeom prst="rect">
            <a:avLst/>
          </a:prstGeom>
          <a:solidFill>
            <a:srgbClr val="FFFFFF"/>
          </a:solidFill>
          <a:ln w="19050">
            <a:solidFill>
              <a:srgbClr val="1C7293"/>
            </a:solidFill>
            <a:prstDash val="solid"/>
          </a:ln>
        </p:spPr>
      </p:sp>
      <p:sp>
        <p:nvSpPr>
          <p:cNvPr id="9" name="Shape 7"/>
          <p:cNvSpPr/>
          <p:nvPr/>
        </p:nvSpPr>
        <p:spPr>
          <a:xfrm>
            <a:off x="457200" y="1234440"/>
            <a:ext cx="8229600" cy="365760"/>
          </a:xfrm>
          <a:prstGeom prst="rect">
            <a:avLst/>
          </a:prstGeom>
          <a:solidFill>
            <a:srgbClr val="1C7293"/>
          </a:solidFill>
          <a:ln/>
        </p:spPr>
      </p:sp>
      <p:sp>
        <p:nvSpPr>
          <p:cNvPr id="10" name="Text 8"/>
          <p:cNvSpPr/>
          <p:nvPr/>
        </p:nvSpPr>
        <p:spPr>
          <a:xfrm>
            <a:off x="640080" y="1252728"/>
            <a:ext cx="1828800" cy="329184"/>
          </a:xfrm>
          <a:prstGeom prst="rect">
            <a:avLst/>
          </a:prstGeom>
          <a:noFill/>
          <a:ln/>
        </p:spPr>
        <p:txBody>
          <a:bodyPr wrap="square"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해답</a:t>
            </a:r>
            <a:endParaRPr lang="en-US" sz="1300" dirty="0"/>
          </a:p>
        </p:txBody>
      </p:sp>
      <p:sp>
        <p:nvSpPr>
          <p:cNvPr id="11" name="Text 9"/>
          <p:cNvSpPr/>
          <p:nvPr/>
        </p:nvSpPr>
        <p:spPr>
          <a:xfrm>
            <a:off x="640080" y="1737360"/>
            <a:ext cx="7863840" cy="3017520"/>
          </a:xfrm>
          <a:prstGeom prst="rect">
            <a:avLst/>
          </a:prstGeom>
          <a:noFill/>
          <a:ln/>
        </p:spPr>
        <p:txBody>
          <a:bodyPr wrap="square" rtlCol="0" anchor="t"/>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정답: 도메인(Domain)</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도메인은 속성이 가질 수 있는 모든 값의 집합으로,</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속성 값의 적합성을 판단하는 기준이 됩니다.</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예) '나이' 속성의 도메인: 0~150 사이의 정수</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예) '등급' 속성의 도메인: {gold, silver, bronze, vip}</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예) '고객아이디' 속성의 도메인: CHAR(20)</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19</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38 / 58</a:t>
            </a:r>
            <a:endParaRPr lang="en-US" sz="900" dirty="0"/>
          </a:p>
        </p:txBody>
      </p:sp>
      <p:sp>
        <p:nvSpPr>
          <p:cNvPr id="7" name="Text 5"/>
          <p:cNvSpPr/>
          <p:nvPr/>
        </p:nvSpPr>
        <p:spPr>
          <a:xfrm>
            <a:off x="457200" y="777240"/>
            <a:ext cx="5029200" cy="64008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다음 각 문장을 읽고 맞으면 O, 틀리면 X를 표시하시오.</a:t>
            </a:r>
            <a:endParaRPr lang="en-US" sz="1400" dirty="0"/>
          </a:p>
        </p:txBody>
      </p:sp>
      <p:pic>
        <p:nvPicPr>
          <p:cNvPr id="8" name="Image 0" descr="/home/claude/ch5imgs/fig5_8_key_relation.jpeg"/>
          <p:cNvPicPr>
            <a:picLocks noChangeAspect="1"/>
          </p:cNvPicPr>
          <p:nvPr/>
        </p:nvPicPr>
        <p:blipFill rotWithShape="1">
          <a:blip r:embed="rId3"/>
          <a:srcRect/>
          <a:stretch>
            <a:fillRect/>
          </a:stretch>
        </p:blipFill>
        <p:spPr>
          <a:xfrm>
            <a:off x="5669280" y="1645919"/>
            <a:ext cx="3200400" cy="2011680"/>
          </a:xfrm>
          <a:prstGeom prst="rect">
            <a:avLst/>
          </a:prstGeom>
        </p:spPr>
      </p:pic>
      <p:sp>
        <p:nvSpPr>
          <p:cNvPr id="9" name="Shape 6"/>
          <p:cNvSpPr/>
          <p:nvPr/>
        </p:nvSpPr>
        <p:spPr>
          <a:xfrm>
            <a:off x="457200" y="1508760"/>
            <a:ext cx="5029200" cy="457200"/>
          </a:xfrm>
          <a:prstGeom prst="rect">
            <a:avLst/>
          </a:prstGeom>
          <a:solidFill>
            <a:srgbClr val="FFFFFF"/>
          </a:solidFill>
          <a:ln w="12700">
            <a:solidFill>
              <a:srgbClr val="CBD5E1"/>
            </a:solidFill>
            <a:prstDash val="solid"/>
          </a:ln>
        </p:spPr>
      </p:sp>
      <p:sp>
        <p:nvSpPr>
          <p:cNvPr id="10" name="Text 7"/>
          <p:cNvSpPr/>
          <p:nvPr/>
        </p:nvSpPr>
        <p:spPr>
          <a:xfrm>
            <a:off x="640080" y="1508760"/>
            <a:ext cx="41148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(1) 슈퍼키는 후보키이기도 하다.</a:t>
            </a:r>
            <a:endParaRPr lang="en-US" sz="1200" dirty="0"/>
          </a:p>
        </p:txBody>
      </p:sp>
      <p:sp>
        <p:nvSpPr>
          <p:cNvPr id="11" name="Text 8"/>
          <p:cNvSpPr/>
          <p:nvPr/>
        </p:nvSpPr>
        <p:spPr>
          <a:xfrm>
            <a:off x="4754880" y="1508760"/>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12" name="Shape 9"/>
          <p:cNvSpPr/>
          <p:nvPr/>
        </p:nvSpPr>
        <p:spPr>
          <a:xfrm>
            <a:off x="457200" y="2039112"/>
            <a:ext cx="5029200" cy="457200"/>
          </a:xfrm>
          <a:prstGeom prst="rect">
            <a:avLst/>
          </a:prstGeom>
          <a:solidFill>
            <a:srgbClr val="FFFFFF"/>
          </a:solidFill>
          <a:ln w="12700">
            <a:solidFill>
              <a:srgbClr val="CBD5E1"/>
            </a:solidFill>
            <a:prstDash val="solid"/>
          </a:ln>
        </p:spPr>
      </p:sp>
      <p:sp>
        <p:nvSpPr>
          <p:cNvPr id="13" name="Text 10"/>
          <p:cNvSpPr/>
          <p:nvPr/>
        </p:nvSpPr>
        <p:spPr>
          <a:xfrm>
            <a:off x="640080" y="2039112"/>
            <a:ext cx="41148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(2) 기본키는 후보키이기도 하다.</a:t>
            </a:r>
            <a:endParaRPr lang="en-US" sz="1200" dirty="0"/>
          </a:p>
        </p:txBody>
      </p:sp>
      <p:sp>
        <p:nvSpPr>
          <p:cNvPr id="14" name="Text 11"/>
          <p:cNvSpPr/>
          <p:nvPr/>
        </p:nvSpPr>
        <p:spPr>
          <a:xfrm>
            <a:off x="4754880" y="2039112"/>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15" name="Shape 12"/>
          <p:cNvSpPr/>
          <p:nvPr/>
        </p:nvSpPr>
        <p:spPr>
          <a:xfrm>
            <a:off x="457200" y="2569464"/>
            <a:ext cx="5029200" cy="457200"/>
          </a:xfrm>
          <a:prstGeom prst="rect">
            <a:avLst/>
          </a:prstGeom>
          <a:solidFill>
            <a:srgbClr val="FFFFFF"/>
          </a:solidFill>
          <a:ln w="12700">
            <a:solidFill>
              <a:srgbClr val="CBD5E1"/>
            </a:solidFill>
            <a:prstDash val="solid"/>
          </a:ln>
        </p:spPr>
      </p:sp>
      <p:sp>
        <p:nvSpPr>
          <p:cNvPr id="16" name="Text 13"/>
          <p:cNvSpPr/>
          <p:nvPr/>
        </p:nvSpPr>
        <p:spPr>
          <a:xfrm>
            <a:off x="640080" y="2569464"/>
            <a:ext cx="41148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(3) 기본키로 외래키를 사용할 수 있다.</a:t>
            </a:r>
            <a:endParaRPr lang="en-US" sz="1200" dirty="0"/>
          </a:p>
        </p:txBody>
      </p:sp>
      <p:sp>
        <p:nvSpPr>
          <p:cNvPr id="17" name="Text 14"/>
          <p:cNvSpPr/>
          <p:nvPr/>
        </p:nvSpPr>
        <p:spPr>
          <a:xfrm>
            <a:off x="4754880" y="2569464"/>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18" name="Shape 15"/>
          <p:cNvSpPr/>
          <p:nvPr/>
        </p:nvSpPr>
        <p:spPr>
          <a:xfrm>
            <a:off x="457200" y="3099816"/>
            <a:ext cx="5029200" cy="457200"/>
          </a:xfrm>
          <a:prstGeom prst="rect">
            <a:avLst/>
          </a:prstGeom>
          <a:solidFill>
            <a:srgbClr val="FFFFFF"/>
          </a:solidFill>
          <a:ln w="12700">
            <a:solidFill>
              <a:srgbClr val="CBD5E1"/>
            </a:solidFill>
            <a:prstDash val="solid"/>
          </a:ln>
        </p:spPr>
      </p:sp>
      <p:sp>
        <p:nvSpPr>
          <p:cNvPr id="19" name="Text 16"/>
          <p:cNvSpPr/>
          <p:nvPr/>
        </p:nvSpPr>
        <p:spPr>
          <a:xfrm>
            <a:off x="640080" y="3099816"/>
            <a:ext cx="41148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(4) 외래키는 널 값이 허용되지 않는다.</a:t>
            </a:r>
            <a:endParaRPr lang="en-US" sz="1200" dirty="0"/>
          </a:p>
        </p:txBody>
      </p:sp>
      <p:sp>
        <p:nvSpPr>
          <p:cNvPr id="20" name="Text 17"/>
          <p:cNvSpPr/>
          <p:nvPr/>
        </p:nvSpPr>
        <p:spPr>
          <a:xfrm>
            <a:off x="4754880" y="3099816"/>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21" name="Shape 18"/>
          <p:cNvSpPr/>
          <p:nvPr/>
        </p:nvSpPr>
        <p:spPr>
          <a:xfrm>
            <a:off x="457200" y="3630168"/>
            <a:ext cx="5029200" cy="457200"/>
          </a:xfrm>
          <a:prstGeom prst="rect">
            <a:avLst/>
          </a:prstGeom>
          <a:solidFill>
            <a:srgbClr val="FFFFFF"/>
          </a:solidFill>
          <a:ln w="12700">
            <a:solidFill>
              <a:srgbClr val="CBD5E1"/>
            </a:solidFill>
            <a:prstDash val="solid"/>
          </a:ln>
        </p:spPr>
      </p:sp>
      <p:sp>
        <p:nvSpPr>
          <p:cNvPr id="22" name="Text 19"/>
          <p:cNvSpPr/>
          <p:nvPr/>
        </p:nvSpPr>
        <p:spPr>
          <a:xfrm>
            <a:off x="640080" y="3630168"/>
            <a:ext cx="41148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(5) 외래키의 속성 개수와 참조 기본키의 속성 개수는 같아야 한다.</a:t>
            </a:r>
            <a:endParaRPr lang="en-US" sz="1200" dirty="0"/>
          </a:p>
        </p:txBody>
      </p:sp>
      <p:sp>
        <p:nvSpPr>
          <p:cNvPr id="23" name="Text 20"/>
          <p:cNvSpPr/>
          <p:nvPr/>
        </p:nvSpPr>
        <p:spPr>
          <a:xfrm>
            <a:off x="4754880" y="3630168"/>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19</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39 / 58</a:t>
            </a:r>
            <a:endParaRPr lang="en-US" sz="900" dirty="0"/>
          </a:p>
        </p:txBody>
      </p:sp>
      <p:sp>
        <p:nvSpPr>
          <p:cNvPr id="7" name="Text 5"/>
          <p:cNvSpPr/>
          <p:nvPr/>
        </p:nvSpPr>
        <p:spPr>
          <a:xfrm>
            <a:off x="457200" y="713232"/>
            <a:ext cx="8229600" cy="457200"/>
          </a:xfrm>
          <a:prstGeom prst="rect">
            <a:avLst/>
          </a:prstGeom>
          <a:noFill/>
          <a:ln/>
        </p:spPr>
        <p:txBody>
          <a:bodyPr wrap="square"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다음 각 문장을 읽고 맞으면 O, 틀리면 X를 표시하시오.</a:t>
            </a:r>
            <a:endParaRPr lang="en-US" sz="1200" dirty="0"/>
          </a:p>
        </p:txBody>
      </p:sp>
      <p:sp>
        <p:nvSpPr>
          <p:cNvPr id="8" name="Shape 6"/>
          <p:cNvSpPr/>
          <p:nvPr/>
        </p:nvSpPr>
        <p:spPr>
          <a:xfrm>
            <a:off x="457200" y="1325880"/>
            <a:ext cx="8229600" cy="594360"/>
          </a:xfrm>
          <a:prstGeom prst="rect">
            <a:avLst/>
          </a:prstGeom>
          <a:solidFill>
            <a:srgbClr val="FEF2F2"/>
          </a:solidFill>
          <a:ln w="12700">
            <a:solidFill>
              <a:srgbClr val="EF4444"/>
            </a:solidFill>
            <a:prstDash val="solid"/>
          </a:ln>
        </p:spPr>
      </p:sp>
      <p:sp>
        <p:nvSpPr>
          <p:cNvPr id="9" name="Text 7"/>
          <p:cNvSpPr/>
          <p:nvPr/>
        </p:nvSpPr>
        <p:spPr>
          <a:xfrm>
            <a:off x="640080" y="1325880"/>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(1) 슈퍼키는 후보키이기도 하다.</a:t>
            </a:r>
            <a:endParaRPr lang="en-US" sz="1200" dirty="0"/>
          </a:p>
        </p:txBody>
      </p:sp>
      <p:sp>
        <p:nvSpPr>
          <p:cNvPr id="10" name="Text 8"/>
          <p:cNvSpPr/>
          <p:nvPr/>
        </p:nvSpPr>
        <p:spPr>
          <a:xfrm>
            <a:off x="6217920" y="1325880"/>
            <a:ext cx="548640" cy="594360"/>
          </a:xfrm>
          <a:prstGeom prst="rect">
            <a:avLst/>
          </a:prstGeom>
          <a:noFill/>
          <a:ln/>
        </p:spPr>
        <p:txBody>
          <a:bodyPr wrap="square" rtlCol="0" anchor="ctr"/>
          <a:lstStyle/>
          <a:p>
            <a:pPr marL="0" indent="0" algn="ctr">
              <a:buNone/>
            </a:pPr>
            <a:r>
              <a:rPr lang="en-US" sz="1600" b="1" dirty="0">
                <a:solidFill>
                  <a:srgbClr val="DC2626"/>
                </a:solidFill>
                <a:latin typeface="Georgia" pitchFamily="34" charset="0"/>
                <a:ea typeface="Georgia" pitchFamily="34" charset="-122"/>
                <a:cs typeface="Georgia" pitchFamily="34" charset="-120"/>
              </a:rPr>
              <a:t>X</a:t>
            </a:r>
            <a:endParaRPr lang="en-US" sz="1600" dirty="0"/>
          </a:p>
        </p:txBody>
      </p:sp>
      <p:sp>
        <p:nvSpPr>
          <p:cNvPr id="11" name="Text 9"/>
          <p:cNvSpPr/>
          <p:nvPr/>
        </p:nvSpPr>
        <p:spPr>
          <a:xfrm>
            <a:off x="822960" y="1618488"/>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슈퍼키 ⊃ 후보키 (역은 성립 안 함)</a:t>
            </a:r>
            <a:endParaRPr lang="en-US" sz="1000" dirty="0"/>
          </a:p>
        </p:txBody>
      </p:sp>
      <p:sp>
        <p:nvSpPr>
          <p:cNvPr id="12" name="Text 10"/>
          <p:cNvSpPr/>
          <p:nvPr/>
        </p:nvSpPr>
        <p:spPr>
          <a:xfrm>
            <a:off x="6858000" y="1325880"/>
            <a:ext cx="457200" cy="594360"/>
          </a:xfrm>
          <a:prstGeom prst="rect">
            <a:avLst/>
          </a:prstGeom>
          <a:noFill/>
          <a:ln/>
        </p:spPr>
        <p:txBody>
          <a:bodyPr wrap="square" rtlCol="0" anchor="ctr"/>
          <a:lstStyle/>
          <a:p>
            <a:pPr marL="0" indent="0" algn="ctr">
              <a:buNone/>
            </a:pPr>
            <a:r>
              <a:rPr lang="en-US" sz="1400" b="1" dirty="0">
                <a:solidFill>
                  <a:srgbClr val="DC2626"/>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457200" y="1984248"/>
            <a:ext cx="8229600" cy="594360"/>
          </a:xfrm>
          <a:prstGeom prst="rect">
            <a:avLst/>
          </a:prstGeom>
          <a:solidFill>
            <a:srgbClr val="F0FDF4"/>
          </a:solidFill>
          <a:ln w="12700">
            <a:solidFill>
              <a:srgbClr val="22C55E"/>
            </a:solidFill>
            <a:prstDash val="solid"/>
          </a:ln>
        </p:spPr>
      </p:sp>
      <p:sp>
        <p:nvSpPr>
          <p:cNvPr id="14" name="Text 12"/>
          <p:cNvSpPr/>
          <p:nvPr/>
        </p:nvSpPr>
        <p:spPr>
          <a:xfrm>
            <a:off x="640080" y="1984248"/>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(2) 기본키는 후보키이기도 하다.</a:t>
            </a:r>
            <a:endParaRPr lang="en-US" sz="1200" dirty="0"/>
          </a:p>
        </p:txBody>
      </p:sp>
      <p:sp>
        <p:nvSpPr>
          <p:cNvPr id="15" name="Text 13"/>
          <p:cNvSpPr/>
          <p:nvPr/>
        </p:nvSpPr>
        <p:spPr>
          <a:xfrm>
            <a:off x="6217920" y="1984248"/>
            <a:ext cx="548640" cy="594360"/>
          </a:xfrm>
          <a:prstGeom prst="rect">
            <a:avLst/>
          </a:prstGeom>
          <a:noFill/>
          <a:ln/>
        </p:spPr>
        <p:txBody>
          <a:bodyPr wrap="square" rtlCol="0" anchor="ctr"/>
          <a:lstStyle/>
          <a:p>
            <a:pPr marL="0" indent="0" algn="ctr">
              <a:buNone/>
            </a:pPr>
            <a:r>
              <a:rPr lang="en-US" sz="1600" b="1" dirty="0">
                <a:solidFill>
                  <a:srgbClr val="16A34A"/>
                </a:solidFill>
                <a:latin typeface="Georgia" pitchFamily="34" charset="0"/>
                <a:ea typeface="Georgia" pitchFamily="34" charset="-122"/>
                <a:cs typeface="Georgia" pitchFamily="34" charset="-120"/>
              </a:rPr>
              <a:t>O</a:t>
            </a:r>
            <a:endParaRPr lang="en-US" sz="1600" dirty="0"/>
          </a:p>
        </p:txBody>
      </p:sp>
      <p:sp>
        <p:nvSpPr>
          <p:cNvPr id="16" name="Text 14"/>
          <p:cNvSpPr/>
          <p:nvPr/>
        </p:nvSpPr>
        <p:spPr>
          <a:xfrm>
            <a:off x="822960" y="2276856"/>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기본키는 후보키 중에서 선택한 것</a:t>
            </a:r>
            <a:endParaRPr lang="en-US" sz="1000" dirty="0"/>
          </a:p>
        </p:txBody>
      </p:sp>
      <p:sp>
        <p:nvSpPr>
          <p:cNvPr id="17" name="Text 15"/>
          <p:cNvSpPr/>
          <p:nvPr/>
        </p:nvSpPr>
        <p:spPr>
          <a:xfrm>
            <a:off x="6858000" y="1984248"/>
            <a:ext cx="457200" cy="594360"/>
          </a:xfrm>
          <a:prstGeom prst="rect">
            <a:avLst/>
          </a:prstGeom>
          <a:noFill/>
          <a:ln/>
        </p:spPr>
        <p:txBody>
          <a:bodyPr wrap="square" rtlCol="0" anchor="ctr"/>
          <a:lstStyle/>
          <a:p>
            <a:pPr marL="0" indent="0" algn="ctr">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457200" y="2642616"/>
            <a:ext cx="8229600" cy="594360"/>
          </a:xfrm>
          <a:prstGeom prst="rect">
            <a:avLst/>
          </a:prstGeom>
          <a:solidFill>
            <a:srgbClr val="F0FDF4"/>
          </a:solidFill>
          <a:ln w="12700">
            <a:solidFill>
              <a:srgbClr val="22C55E"/>
            </a:solidFill>
            <a:prstDash val="solid"/>
          </a:ln>
        </p:spPr>
      </p:sp>
      <p:sp>
        <p:nvSpPr>
          <p:cNvPr id="19" name="Text 17"/>
          <p:cNvSpPr/>
          <p:nvPr/>
        </p:nvSpPr>
        <p:spPr>
          <a:xfrm>
            <a:off x="640080" y="2642616"/>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(3) 기본키로 외래키를 사용할 수 있다.</a:t>
            </a:r>
            <a:endParaRPr lang="en-US" sz="1200" dirty="0"/>
          </a:p>
        </p:txBody>
      </p:sp>
      <p:sp>
        <p:nvSpPr>
          <p:cNvPr id="20" name="Text 18"/>
          <p:cNvSpPr/>
          <p:nvPr/>
        </p:nvSpPr>
        <p:spPr>
          <a:xfrm>
            <a:off x="6217920" y="2642616"/>
            <a:ext cx="548640" cy="594360"/>
          </a:xfrm>
          <a:prstGeom prst="rect">
            <a:avLst/>
          </a:prstGeom>
          <a:noFill/>
          <a:ln/>
        </p:spPr>
        <p:txBody>
          <a:bodyPr wrap="square" rtlCol="0" anchor="ctr"/>
          <a:lstStyle/>
          <a:p>
            <a:pPr marL="0" indent="0" algn="ctr">
              <a:buNone/>
            </a:pPr>
            <a:r>
              <a:rPr lang="en-US" sz="1600" b="1" dirty="0">
                <a:solidFill>
                  <a:srgbClr val="16A34A"/>
                </a:solidFill>
                <a:latin typeface="Georgia" pitchFamily="34" charset="0"/>
                <a:ea typeface="Georgia" pitchFamily="34" charset="-122"/>
                <a:cs typeface="Georgia" pitchFamily="34" charset="-120"/>
              </a:rPr>
              <a:t>O</a:t>
            </a:r>
            <a:endParaRPr lang="en-US" sz="1600" dirty="0"/>
          </a:p>
        </p:txBody>
      </p:sp>
      <p:sp>
        <p:nvSpPr>
          <p:cNvPr id="21" name="Text 19"/>
          <p:cNvSpPr/>
          <p:nvPr/>
        </p:nvSpPr>
        <p:spPr>
          <a:xfrm>
            <a:off x="822960" y="2935224"/>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외래키가 기본키를 겸할 수 있음</a:t>
            </a:r>
            <a:endParaRPr lang="en-US" sz="1000" dirty="0"/>
          </a:p>
        </p:txBody>
      </p:sp>
      <p:sp>
        <p:nvSpPr>
          <p:cNvPr id="22" name="Text 20"/>
          <p:cNvSpPr/>
          <p:nvPr/>
        </p:nvSpPr>
        <p:spPr>
          <a:xfrm>
            <a:off x="6858000" y="2642616"/>
            <a:ext cx="457200" cy="594360"/>
          </a:xfrm>
          <a:prstGeom prst="rect">
            <a:avLst/>
          </a:prstGeom>
          <a:noFill/>
          <a:ln/>
        </p:spPr>
        <p:txBody>
          <a:bodyPr wrap="square" rtlCol="0" anchor="ctr"/>
          <a:lstStyle/>
          <a:p>
            <a:pPr marL="0" indent="0" algn="ctr">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57200" y="3300984"/>
            <a:ext cx="8229600" cy="594360"/>
          </a:xfrm>
          <a:prstGeom prst="rect">
            <a:avLst/>
          </a:prstGeom>
          <a:solidFill>
            <a:srgbClr val="FEF2F2"/>
          </a:solidFill>
          <a:ln w="12700">
            <a:solidFill>
              <a:srgbClr val="EF4444"/>
            </a:solidFill>
            <a:prstDash val="solid"/>
          </a:ln>
        </p:spPr>
      </p:sp>
      <p:sp>
        <p:nvSpPr>
          <p:cNvPr id="24" name="Text 22"/>
          <p:cNvSpPr/>
          <p:nvPr/>
        </p:nvSpPr>
        <p:spPr>
          <a:xfrm>
            <a:off x="640080" y="3300984"/>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(4) 외래키는 널 값이 허용되지 않는다.</a:t>
            </a:r>
            <a:endParaRPr lang="en-US" sz="1200" dirty="0"/>
          </a:p>
        </p:txBody>
      </p:sp>
      <p:sp>
        <p:nvSpPr>
          <p:cNvPr id="25" name="Text 23"/>
          <p:cNvSpPr/>
          <p:nvPr/>
        </p:nvSpPr>
        <p:spPr>
          <a:xfrm>
            <a:off x="6217920" y="3300984"/>
            <a:ext cx="548640" cy="594360"/>
          </a:xfrm>
          <a:prstGeom prst="rect">
            <a:avLst/>
          </a:prstGeom>
          <a:noFill/>
          <a:ln/>
        </p:spPr>
        <p:txBody>
          <a:bodyPr wrap="square" rtlCol="0" anchor="ctr"/>
          <a:lstStyle/>
          <a:p>
            <a:pPr marL="0" indent="0" algn="ctr">
              <a:buNone/>
            </a:pPr>
            <a:r>
              <a:rPr lang="en-US" sz="1600" b="1" dirty="0">
                <a:solidFill>
                  <a:srgbClr val="DC2626"/>
                </a:solidFill>
                <a:latin typeface="Georgia" pitchFamily="34" charset="0"/>
                <a:ea typeface="Georgia" pitchFamily="34" charset="-122"/>
                <a:cs typeface="Georgia" pitchFamily="34" charset="-120"/>
              </a:rPr>
              <a:t>X</a:t>
            </a:r>
            <a:endParaRPr lang="en-US" sz="1600" dirty="0"/>
          </a:p>
        </p:txBody>
      </p:sp>
      <p:sp>
        <p:nvSpPr>
          <p:cNvPr id="26" name="Text 24"/>
          <p:cNvSpPr/>
          <p:nvPr/>
        </p:nvSpPr>
        <p:spPr>
          <a:xfrm>
            <a:off x="822960" y="3593592"/>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외래키는 NULL 가능 (기본키만 NULL 불가)</a:t>
            </a:r>
            <a:endParaRPr lang="en-US" sz="1000" dirty="0"/>
          </a:p>
        </p:txBody>
      </p:sp>
      <p:sp>
        <p:nvSpPr>
          <p:cNvPr id="27" name="Text 25"/>
          <p:cNvSpPr/>
          <p:nvPr/>
        </p:nvSpPr>
        <p:spPr>
          <a:xfrm>
            <a:off x="6858000" y="3300984"/>
            <a:ext cx="457200" cy="594360"/>
          </a:xfrm>
          <a:prstGeom prst="rect">
            <a:avLst/>
          </a:prstGeom>
          <a:noFill/>
          <a:ln/>
        </p:spPr>
        <p:txBody>
          <a:bodyPr wrap="square" rtlCol="0" anchor="ctr"/>
          <a:lstStyle/>
          <a:p>
            <a:pPr marL="0" indent="0" algn="ctr">
              <a:buNone/>
            </a:pPr>
            <a:r>
              <a:rPr lang="en-US" sz="1400" b="1" dirty="0">
                <a:solidFill>
                  <a:srgbClr val="DC2626"/>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457200" y="3959352"/>
            <a:ext cx="8229600" cy="594360"/>
          </a:xfrm>
          <a:prstGeom prst="rect">
            <a:avLst/>
          </a:prstGeom>
          <a:solidFill>
            <a:srgbClr val="F0FDF4"/>
          </a:solidFill>
          <a:ln w="12700">
            <a:solidFill>
              <a:srgbClr val="22C55E"/>
            </a:solidFill>
            <a:prstDash val="solid"/>
          </a:ln>
        </p:spPr>
      </p:sp>
      <p:sp>
        <p:nvSpPr>
          <p:cNvPr id="29" name="Text 27"/>
          <p:cNvSpPr/>
          <p:nvPr/>
        </p:nvSpPr>
        <p:spPr>
          <a:xfrm>
            <a:off x="640080" y="3959352"/>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(5) 외래키의 속성 개수와 참조 기본키의 속성 개수는 같아야 한다.</a:t>
            </a:r>
            <a:endParaRPr lang="en-US" sz="1200" dirty="0"/>
          </a:p>
        </p:txBody>
      </p:sp>
      <p:sp>
        <p:nvSpPr>
          <p:cNvPr id="30" name="Text 28"/>
          <p:cNvSpPr/>
          <p:nvPr/>
        </p:nvSpPr>
        <p:spPr>
          <a:xfrm>
            <a:off x="6217920" y="3959352"/>
            <a:ext cx="548640" cy="594360"/>
          </a:xfrm>
          <a:prstGeom prst="rect">
            <a:avLst/>
          </a:prstGeom>
          <a:noFill/>
          <a:ln/>
        </p:spPr>
        <p:txBody>
          <a:bodyPr wrap="square" rtlCol="0" anchor="ctr"/>
          <a:lstStyle/>
          <a:p>
            <a:pPr marL="0" indent="0" algn="ctr">
              <a:buNone/>
            </a:pPr>
            <a:r>
              <a:rPr lang="en-US" sz="1600" b="1" dirty="0">
                <a:solidFill>
                  <a:srgbClr val="16A34A"/>
                </a:solidFill>
                <a:latin typeface="Georgia" pitchFamily="34" charset="0"/>
                <a:ea typeface="Georgia" pitchFamily="34" charset="-122"/>
                <a:cs typeface="Georgia" pitchFamily="34" charset="-120"/>
              </a:rPr>
              <a:t>O</a:t>
            </a:r>
            <a:endParaRPr lang="en-US" sz="1600" dirty="0"/>
          </a:p>
        </p:txBody>
      </p:sp>
      <p:sp>
        <p:nvSpPr>
          <p:cNvPr id="31" name="Text 29"/>
          <p:cNvSpPr/>
          <p:nvPr/>
        </p:nvSpPr>
        <p:spPr>
          <a:xfrm>
            <a:off x="822960" y="4251960"/>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도메인도 같아야 함</a:t>
            </a:r>
            <a:endParaRPr lang="en-US" sz="1000" dirty="0"/>
          </a:p>
        </p:txBody>
      </p:sp>
      <p:sp>
        <p:nvSpPr>
          <p:cNvPr id="32" name="Text 30"/>
          <p:cNvSpPr/>
          <p:nvPr/>
        </p:nvSpPr>
        <p:spPr>
          <a:xfrm>
            <a:off x="6858000" y="3959352"/>
            <a:ext cx="457200" cy="594360"/>
          </a:xfrm>
          <a:prstGeom prst="rect">
            <a:avLst/>
          </a:prstGeom>
          <a:noFill/>
          <a:ln/>
        </p:spPr>
        <p:txBody>
          <a:bodyPr wrap="square" rtlCol="0" anchor="ctr"/>
          <a:lstStyle/>
          <a:p>
            <a:pPr marL="0" indent="0" algn="ctr">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20</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40 / 58</a:t>
            </a:r>
            <a:endParaRPr lang="en-US" sz="900" dirty="0"/>
          </a:p>
        </p:txBody>
      </p:sp>
      <p:sp>
        <p:nvSpPr>
          <p:cNvPr id="7" name="Text 5"/>
          <p:cNvSpPr/>
          <p:nvPr/>
        </p:nvSpPr>
        <p:spPr>
          <a:xfrm>
            <a:off x="457200" y="777240"/>
            <a:ext cx="8229600" cy="64008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릴레이션의 특성으로 적합한 것을 모두 고르시오.</a:t>
            </a:r>
            <a:endParaRPr lang="en-US" sz="1400" dirty="0"/>
          </a:p>
        </p:txBody>
      </p:sp>
      <p:sp>
        <p:nvSpPr>
          <p:cNvPr id="8" name="Shape 6"/>
          <p:cNvSpPr/>
          <p:nvPr/>
        </p:nvSpPr>
        <p:spPr>
          <a:xfrm>
            <a:off x="457200" y="1508760"/>
            <a:ext cx="8229600" cy="457200"/>
          </a:xfrm>
          <a:prstGeom prst="rect">
            <a:avLst/>
          </a:prstGeom>
          <a:solidFill>
            <a:srgbClr val="FFFFFF"/>
          </a:solidFill>
          <a:ln w="12700">
            <a:solidFill>
              <a:srgbClr val="CBD5E1"/>
            </a:solidFill>
            <a:prstDash val="solid"/>
          </a:ln>
        </p:spPr>
      </p:sp>
      <p:sp>
        <p:nvSpPr>
          <p:cNvPr id="9" name="Text 7"/>
          <p:cNvSpPr/>
          <p:nvPr/>
        </p:nvSpPr>
        <p:spPr>
          <a:xfrm>
            <a:off x="640080" y="1508760"/>
            <a:ext cx="73152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(A) 하나의 릴레이션에 있는 모든 투플은 서로 다른 값을 가진다.</a:t>
            </a:r>
            <a:endParaRPr lang="en-US" sz="1200" dirty="0"/>
          </a:p>
        </p:txBody>
      </p:sp>
      <p:sp>
        <p:nvSpPr>
          <p:cNvPr id="10" name="Text 8"/>
          <p:cNvSpPr/>
          <p:nvPr/>
        </p:nvSpPr>
        <p:spPr>
          <a:xfrm>
            <a:off x="7955280" y="1508760"/>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11" name="Shape 9"/>
          <p:cNvSpPr/>
          <p:nvPr/>
        </p:nvSpPr>
        <p:spPr>
          <a:xfrm>
            <a:off x="457200" y="2039112"/>
            <a:ext cx="8229600" cy="457200"/>
          </a:xfrm>
          <a:prstGeom prst="rect">
            <a:avLst/>
          </a:prstGeom>
          <a:solidFill>
            <a:srgbClr val="FFFFFF"/>
          </a:solidFill>
          <a:ln w="12700">
            <a:solidFill>
              <a:srgbClr val="CBD5E1"/>
            </a:solidFill>
            <a:prstDash val="solid"/>
          </a:ln>
        </p:spPr>
      </p:sp>
      <p:sp>
        <p:nvSpPr>
          <p:cNvPr id="12" name="Text 10"/>
          <p:cNvSpPr/>
          <p:nvPr/>
        </p:nvSpPr>
        <p:spPr>
          <a:xfrm>
            <a:off x="640080" y="2039112"/>
            <a:ext cx="73152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(B) 하나의 릴레이션에서 투플 사이의 순서는 없다.</a:t>
            </a:r>
            <a:endParaRPr lang="en-US" sz="1200" dirty="0"/>
          </a:p>
        </p:txBody>
      </p:sp>
      <p:sp>
        <p:nvSpPr>
          <p:cNvPr id="13" name="Text 11"/>
          <p:cNvSpPr/>
          <p:nvPr/>
        </p:nvSpPr>
        <p:spPr>
          <a:xfrm>
            <a:off x="7955280" y="2039112"/>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14" name="Shape 12"/>
          <p:cNvSpPr/>
          <p:nvPr/>
        </p:nvSpPr>
        <p:spPr>
          <a:xfrm>
            <a:off x="457200" y="2569464"/>
            <a:ext cx="8229600" cy="457200"/>
          </a:xfrm>
          <a:prstGeom prst="rect">
            <a:avLst/>
          </a:prstGeom>
          <a:solidFill>
            <a:srgbClr val="FFFFFF"/>
          </a:solidFill>
          <a:ln w="12700">
            <a:solidFill>
              <a:srgbClr val="CBD5E1"/>
            </a:solidFill>
            <a:prstDash val="solid"/>
          </a:ln>
        </p:spPr>
      </p:sp>
      <p:sp>
        <p:nvSpPr>
          <p:cNvPr id="15" name="Text 13"/>
          <p:cNvSpPr/>
          <p:nvPr/>
        </p:nvSpPr>
        <p:spPr>
          <a:xfrm>
            <a:off x="640080" y="2569464"/>
            <a:ext cx="73152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(C) 모든 속성은 서로 다른 이름으로 구별된다.</a:t>
            </a:r>
            <a:endParaRPr lang="en-US" sz="1200" dirty="0"/>
          </a:p>
        </p:txBody>
      </p:sp>
      <p:sp>
        <p:nvSpPr>
          <p:cNvPr id="16" name="Text 14"/>
          <p:cNvSpPr/>
          <p:nvPr/>
        </p:nvSpPr>
        <p:spPr>
          <a:xfrm>
            <a:off x="7955280" y="2569464"/>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17" name="Shape 15"/>
          <p:cNvSpPr/>
          <p:nvPr/>
        </p:nvSpPr>
        <p:spPr>
          <a:xfrm>
            <a:off x="457200" y="3099816"/>
            <a:ext cx="8229600" cy="457200"/>
          </a:xfrm>
          <a:prstGeom prst="rect">
            <a:avLst/>
          </a:prstGeom>
          <a:solidFill>
            <a:srgbClr val="FFFFFF"/>
          </a:solidFill>
          <a:ln w="12700">
            <a:solidFill>
              <a:srgbClr val="CBD5E1"/>
            </a:solidFill>
            <a:prstDash val="solid"/>
          </a:ln>
        </p:spPr>
      </p:sp>
      <p:sp>
        <p:nvSpPr>
          <p:cNvPr id="18" name="Text 16"/>
          <p:cNvSpPr/>
          <p:nvPr/>
        </p:nvSpPr>
        <p:spPr>
          <a:xfrm>
            <a:off x="640080" y="3099816"/>
            <a:ext cx="73152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(D) 하나의 릴레이션에서 속성의 순서는 중요한 의미를 지닌다.</a:t>
            </a:r>
            <a:endParaRPr lang="en-US" sz="1200" dirty="0"/>
          </a:p>
        </p:txBody>
      </p:sp>
      <p:sp>
        <p:nvSpPr>
          <p:cNvPr id="19" name="Text 17"/>
          <p:cNvSpPr/>
          <p:nvPr/>
        </p:nvSpPr>
        <p:spPr>
          <a:xfrm>
            <a:off x="7955280" y="3099816"/>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20" name="Shape 18"/>
          <p:cNvSpPr/>
          <p:nvPr/>
        </p:nvSpPr>
        <p:spPr>
          <a:xfrm>
            <a:off x="457200" y="3630168"/>
            <a:ext cx="8229600" cy="457200"/>
          </a:xfrm>
          <a:prstGeom prst="rect">
            <a:avLst/>
          </a:prstGeom>
          <a:solidFill>
            <a:srgbClr val="FFFFFF"/>
          </a:solidFill>
          <a:ln w="12700">
            <a:solidFill>
              <a:srgbClr val="CBD5E1"/>
            </a:solidFill>
            <a:prstDash val="solid"/>
          </a:ln>
        </p:spPr>
      </p:sp>
      <p:sp>
        <p:nvSpPr>
          <p:cNvPr id="21" name="Text 19"/>
          <p:cNvSpPr/>
          <p:nvPr/>
        </p:nvSpPr>
        <p:spPr>
          <a:xfrm>
            <a:off x="640080" y="3630168"/>
            <a:ext cx="73152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(E) 모든 속성의 값은 더는 분해할 수 없는 원자 값만 허용.</a:t>
            </a:r>
            <a:endParaRPr lang="en-US" sz="1200" dirty="0"/>
          </a:p>
        </p:txBody>
      </p:sp>
      <p:sp>
        <p:nvSpPr>
          <p:cNvPr id="22" name="Text 20"/>
          <p:cNvSpPr/>
          <p:nvPr/>
        </p:nvSpPr>
        <p:spPr>
          <a:xfrm>
            <a:off x="7955280" y="3630168"/>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20</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41 / 58</a:t>
            </a:r>
            <a:endParaRPr lang="en-US" sz="900" dirty="0"/>
          </a:p>
        </p:txBody>
      </p:sp>
      <p:sp>
        <p:nvSpPr>
          <p:cNvPr id="7" name="Text 5"/>
          <p:cNvSpPr/>
          <p:nvPr/>
        </p:nvSpPr>
        <p:spPr>
          <a:xfrm>
            <a:off x="457200" y="713232"/>
            <a:ext cx="8229600" cy="457200"/>
          </a:xfrm>
          <a:prstGeom prst="rect">
            <a:avLst/>
          </a:prstGeom>
          <a:noFill/>
          <a:ln/>
        </p:spPr>
        <p:txBody>
          <a:bodyPr wrap="square"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릴레이션의 특성으로 적합한 것을 모두 고르시오.</a:t>
            </a:r>
            <a:endParaRPr lang="en-US" sz="1200" dirty="0"/>
          </a:p>
        </p:txBody>
      </p:sp>
      <p:sp>
        <p:nvSpPr>
          <p:cNvPr id="8" name="Shape 6"/>
          <p:cNvSpPr/>
          <p:nvPr/>
        </p:nvSpPr>
        <p:spPr>
          <a:xfrm>
            <a:off x="457200" y="1325880"/>
            <a:ext cx="8229600" cy="594360"/>
          </a:xfrm>
          <a:prstGeom prst="rect">
            <a:avLst/>
          </a:prstGeom>
          <a:solidFill>
            <a:srgbClr val="F0FDF4"/>
          </a:solidFill>
          <a:ln w="12700">
            <a:solidFill>
              <a:srgbClr val="22C55E"/>
            </a:solidFill>
            <a:prstDash val="solid"/>
          </a:ln>
        </p:spPr>
      </p:sp>
      <p:sp>
        <p:nvSpPr>
          <p:cNvPr id="9" name="Text 7"/>
          <p:cNvSpPr/>
          <p:nvPr/>
        </p:nvSpPr>
        <p:spPr>
          <a:xfrm>
            <a:off x="640080" y="1325880"/>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(A) 하나의 릴레이션에 있는 모든 투플은 서로 다른 값을 가진다.</a:t>
            </a:r>
            <a:endParaRPr lang="en-US" sz="1200" dirty="0"/>
          </a:p>
        </p:txBody>
      </p:sp>
      <p:sp>
        <p:nvSpPr>
          <p:cNvPr id="10" name="Text 8"/>
          <p:cNvSpPr/>
          <p:nvPr/>
        </p:nvSpPr>
        <p:spPr>
          <a:xfrm>
            <a:off x="6217920" y="1325880"/>
            <a:ext cx="548640" cy="594360"/>
          </a:xfrm>
          <a:prstGeom prst="rect">
            <a:avLst/>
          </a:prstGeom>
          <a:noFill/>
          <a:ln/>
        </p:spPr>
        <p:txBody>
          <a:bodyPr wrap="square" rtlCol="0" anchor="ctr"/>
          <a:lstStyle/>
          <a:p>
            <a:pPr marL="0" indent="0" algn="ctr">
              <a:buNone/>
            </a:pPr>
            <a:r>
              <a:rPr lang="en-US" sz="1600" b="1" dirty="0">
                <a:solidFill>
                  <a:srgbClr val="16A34A"/>
                </a:solidFill>
                <a:latin typeface="Georgia" pitchFamily="34" charset="0"/>
                <a:ea typeface="Georgia" pitchFamily="34" charset="-122"/>
                <a:cs typeface="Georgia" pitchFamily="34" charset="-120"/>
              </a:rPr>
              <a:t>O</a:t>
            </a:r>
            <a:endParaRPr lang="en-US" sz="1600" dirty="0"/>
          </a:p>
        </p:txBody>
      </p:sp>
      <p:sp>
        <p:nvSpPr>
          <p:cNvPr id="11" name="Text 9"/>
          <p:cNvSpPr/>
          <p:nvPr/>
        </p:nvSpPr>
        <p:spPr>
          <a:xfrm>
            <a:off x="822960" y="1618488"/>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투플의 유일성</a:t>
            </a:r>
            <a:endParaRPr lang="en-US" sz="1000" dirty="0"/>
          </a:p>
        </p:txBody>
      </p:sp>
      <p:sp>
        <p:nvSpPr>
          <p:cNvPr id="12" name="Text 10"/>
          <p:cNvSpPr/>
          <p:nvPr/>
        </p:nvSpPr>
        <p:spPr>
          <a:xfrm>
            <a:off x="6858000" y="1325880"/>
            <a:ext cx="457200" cy="594360"/>
          </a:xfrm>
          <a:prstGeom prst="rect">
            <a:avLst/>
          </a:prstGeom>
          <a:noFill/>
          <a:ln/>
        </p:spPr>
        <p:txBody>
          <a:bodyPr wrap="square" rtlCol="0" anchor="ctr"/>
          <a:lstStyle/>
          <a:p>
            <a:pPr marL="0" indent="0" algn="ctr">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457200" y="1984248"/>
            <a:ext cx="8229600" cy="594360"/>
          </a:xfrm>
          <a:prstGeom prst="rect">
            <a:avLst/>
          </a:prstGeom>
          <a:solidFill>
            <a:srgbClr val="F0FDF4"/>
          </a:solidFill>
          <a:ln w="12700">
            <a:solidFill>
              <a:srgbClr val="22C55E"/>
            </a:solidFill>
            <a:prstDash val="solid"/>
          </a:ln>
        </p:spPr>
      </p:sp>
      <p:sp>
        <p:nvSpPr>
          <p:cNvPr id="14" name="Text 12"/>
          <p:cNvSpPr/>
          <p:nvPr/>
        </p:nvSpPr>
        <p:spPr>
          <a:xfrm>
            <a:off x="640080" y="1984248"/>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(B) 하나의 릴레이션에서 투플 사이의 순서는 없다.</a:t>
            </a:r>
            <a:endParaRPr lang="en-US" sz="1200" dirty="0"/>
          </a:p>
        </p:txBody>
      </p:sp>
      <p:sp>
        <p:nvSpPr>
          <p:cNvPr id="15" name="Text 13"/>
          <p:cNvSpPr/>
          <p:nvPr/>
        </p:nvSpPr>
        <p:spPr>
          <a:xfrm>
            <a:off x="6217920" y="1984248"/>
            <a:ext cx="548640" cy="594360"/>
          </a:xfrm>
          <a:prstGeom prst="rect">
            <a:avLst/>
          </a:prstGeom>
          <a:noFill/>
          <a:ln/>
        </p:spPr>
        <p:txBody>
          <a:bodyPr wrap="square" rtlCol="0" anchor="ctr"/>
          <a:lstStyle/>
          <a:p>
            <a:pPr marL="0" indent="0" algn="ctr">
              <a:buNone/>
            </a:pPr>
            <a:r>
              <a:rPr lang="en-US" sz="1600" b="1" dirty="0">
                <a:solidFill>
                  <a:srgbClr val="16A34A"/>
                </a:solidFill>
                <a:latin typeface="Georgia" pitchFamily="34" charset="0"/>
                <a:ea typeface="Georgia" pitchFamily="34" charset="-122"/>
                <a:cs typeface="Georgia" pitchFamily="34" charset="-120"/>
              </a:rPr>
              <a:t>O</a:t>
            </a:r>
            <a:endParaRPr lang="en-US" sz="1600" dirty="0"/>
          </a:p>
        </p:txBody>
      </p:sp>
      <p:sp>
        <p:nvSpPr>
          <p:cNvPr id="16" name="Text 14"/>
          <p:cNvSpPr/>
          <p:nvPr/>
        </p:nvSpPr>
        <p:spPr>
          <a:xfrm>
            <a:off x="822960" y="2276856"/>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투플의 무순서</a:t>
            </a:r>
            <a:endParaRPr lang="en-US" sz="1000" dirty="0"/>
          </a:p>
        </p:txBody>
      </p:sp>
      <p:sp>
        <p:nvSpPr>
          <p:cNvPr id="17" name="Text 15"/>
          <p:cNvSpPr/>
          <p:nvPr/>
        </p:nvSpPr>
        <p:spPr>
          <a:xfrm>
            <a:off x="6858000" y="1984248"/>
            <a:ext cx="457200" cy="594360"/>
          </a:xfrm>
          <a:prstGeom prst="rect">
            <a:avLst/>
          </a:prstGeom>
          <a:noFill/>
          <a:ln/>
        </p:spPr>
        <p:txBody>
          <a:bodyPr wrap="square" rtlCol="0" anchor="ctr"/>
          <a:lstStyle/>
          <a:p>
            <a:pPr marL="0" indent="0" algn="ctr">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457200" y="2642616"/>
            <a:ext cx="8229600" cy="594360"/>
          </a:xfrm>
          <a:prstGeom prst="rect">
            <a:avLst/>
          </a:prstGeom>
          <a:solidFill>
            <a:srgbClr val="F0FDF4"/>
          </a:solidFill>
          <a:ln w="12700">
            <a:solidFill>
              <a:srgbClr val="22C55E"/>
            </a:solidFill>
            <a:prstDash val="solid"/>
          </a:ln>
        </p:spPr>
      </p:sp>
      <p:sp>
        <p:nvSpPr>
          <p:cNvPr id="19" name="Text 17"/>
          <p:cNvSpPr/>
          <p:nvPr/>
        </p:nvSpPr>
        <p:spPr>
          <a:xfrm>
            <a:off x="640080" y="2642616"/>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(C) 모든 속성은 서로 다른 이름으로 구별된다.</a:t>
            </a:r>
            <a:endParaRPr lang="en-US" sz="1200" dirty="0"/>
          </a:p>
        </p:txBody>
      </p:sp>
      <p:sp>
        <p:nvSpPr>
          <p:cNvPr id="20" name="Text 18"/>
          <p:cNvSpPr/>
          <p:nvPr/>
        </p:nvSpPr>
        <p:spPr>
          <a:xfrm>
            <a:off x="6217920" y="2642616"/>
            <a:ext cx="548640" cy="594360"/>
          </a:xfrm>
          <a:prstGeom prst="rect">
            <a:avLst/>
          </a:prstGeom>
          <a:noFill/>
          <a:ln/>
        </p:spPr>
        <p:txBody>
          <a:bodyPr wrap="square" rtlCol="0" anchor="ctr"/>
          <a:lstStyle/>
          <a:p>
            <a:pPr marL="0" indent="0" algn="ctr">
              <a:buNone/>
            </a:pPr>
            <a:r>
              <a:rPr lang="en-US" sz="1600" b="1" dirty="0">
                <a:solidFill>
                  <a:srgbClr val="16A34A"/>
                </a:solidFill>
                <a:latin typeface="Georgia" pitchFamily="34" charset="0"/>
                <a:ea typeface="Georgia" pitchFamily="34" charset="-122"/>
                <a:cs typeface="Georgia" pitchFamily="34" charset="-120"/>
              </a:rPr>
              <a:t>O</a:t>
            </a:r>
            <a:endParaRPr lang="en-US" sz="1600" dirty="0"/>
          </a:p>
        </p:txBody>
      </p:sp>
      <p:sp>
        <p:nvSpPr>
          <p:cNvPr id="21" name="Text 19"/>
          <p:cNvSpPr/>
          <p:nvPr/>
        </p:nvSpPr>
        <p:spPr>
          <a:xfrm>
            <a:off x="822960" y="2935224"/>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속성 이름의 유일성</a:t>
            </a:r>
            <a:endParaRPr lang="en-US" sz="1000" dirty="0"/>
          </a:p>
        </p:txBody>
      </p:sp>
      <p:sp>
        <p:nvSpPr>
          <p:cNvPr id="22" name="Text 20"/>
          <p:cNvSpPr/>
          <p:nvPr/>
        </p:nvSpPr>
        <p:spPr>
          <a:xfrm>
            <a:off x="6858000" y="2642616"/>
            <a:ext cx="457200" cy="594360"/>
          </a:xfrm>
          <a:prstGeom prst="rect">
            <a:avLst/>
          </a:prstGeom>
          <a:noFill/>
          <a:ln/>
        </p:spPr>
        <p:txBody>
          <a:bodyPr wrap="square" rtlCol="0" anchor="ctr"/>
          <a:lstStyle/>
          <a:p>
            <a:pPr marL="0" indent="0" algn="ctr">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57200" y="3300984"/>
            <a:ext cx="8229600" cy="594360"/>
          </a:xfrm>
          <a:prstGeom prst="rect">
            <a:avLst/>
          </a:prstGeom>
          <a:solidFill>
            <a:srgbClr val="FEF2F2"/>
          </a:solidFill>
          <a:ln w="12700">
            <a:solidFill>
              <a:srgbClr val="EF4444"/>
            </a:solidFill>
            <a:prstDash val="solid"/>
          </a:ln>
        </p:spPr>
      </p:sp>
      <p:sp>
        <p:nvSpPr>
          <p:cNvPr id="24" name="Text 22"/>
          <p:cNvSpPr/>
          <p:nvPr/>
        </p:nvSpPr>
        <p:spPr>
          <a:xfrm>
            <a:off x="640080" y="3300984"/>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(D) 하나의 릴레이션에서 속성의 순서는 중요한 의미를 지닌다.</a:t>
            </a:r>
            <a:endParaRPr lang="en-US" sz="1200" dirty="0"/>
          </a:p>
        </p:txBody>
      </p:sp>
      <p:sp>
        <p:nvSpPr>
          <p:cNvPr id="25" name="Text 23"/>
          <p:cNvSpPr/>
          <p:nvPr/>
        </p:nvSpPr>
        <p:spPr>
          <a:xfrm>
            <a:off x="6217920" y="3300984"/>
            <a:ext cx="548640" cy="594360"/>
          </a:xfrm>
          <a:prstGeom prst="rect">
            <a:avLst/>
          </a:prstGeom>
          <a:noFill/>
          <a:ln/>
        </p:spPr>
        <p:txBody>
          <a:bodyPr wrap="square" rtlCol="0" anchor="ctr"/>
          <a:lstStyle/>
          <a:p>
            <a:pPr marL="0" indent="0" algn="ctr">
              <a:buNone/>
            </a:pPr>
            <a:r>
              <a:rPr lang="en-US" sz="1600" b="1" dirty="0">
                <a:solidFill>
                  <a:srgbClr val="DC2626"/>
                </a:solidFill>
                <a:latin typeface="Georgia" pitchFamily="34" charset="0"/>
                <a:ea typeface="Georgia" pitchFamily="34" charset="-122"/>
                <a:cs typeface="Georgia" pitchFamily="34" charset="-120"/>
              </a:rPr>
              <a:t>X</a:t>
            </a:r>
            <a:endParaRPr lang="en-US" sz="1600" dirty="0"/>
          </a:p>
        </p:txBody>
      </p:sp>
      <p:sp>
        <p:nvSpPr>
          <p:cNvPr id="26" name="Text 24"/>
          <p:cNvSpPr/>
          <p:nvPr/>
        </p:nvSpPr>
        <p:spPr>
          <a:xfrm>
            <a:off x="822960" y="3593592"/>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속성의 무순서 (순서 무의미)</a:t>
            </a:r>
            <a:endParaRPr lang="en-US" sz="1000" dirty="0"/>
          </a:p>
        </p:txBody>
      </p:sp>
      <p:sp>
        <p:nvSpPr>
          <p:cNvPr id="27" name="Text 25"/>
          <p:cNvSpPr/>
          <p:nvPr/>
        </p:nvSpPr>
        <p:spPr>
          <a:xfrm>
            <a:off x="6858000" y="3300984"/>
            <a:ext cx="457200" cy="594360"/>
          </a:xfrm>
          <a:prstGeom prst="rect">
            <a:avLst/>
          </a:prstGeom>
          <a:noFill/>
          <a:ln/>
        </p:spPr>
        <p:txBody>
          <a:bodyPr wrap="square" rtlCol="0" anchor="ctr"/>
          <a:lstStyle/>
          <a:p>
            <a:pPr marL="0" indent="0" algn="ctr">
              <a:buNone/>
            </a:pPr>
            <a:r>
              <a:rPr lang="en-US" sz="1400" b="1" dirty="0">
                <a:solidFill>
                  <a:srgbClr val="DC2626"/>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457200" y="3959352"/>
            <a:ext cx="8229600" cy="594360"/>
          </a:xfrm>
          <a:prstGeom prst="rect">
            <a:avLst/>
          </a:prstGeom>
          <a:solidFill>
            <a:srgbClr val="F0FDF4"/>
          </a:solidFill>
          <a:ln w="12700">
            <a:solidFill>
              <a:srgbClr val="22C55E"/>
            </a:solidFill>
            <a:prstDash val="solid"/>
          </a:ln>
        </p:spPr>
      </p:sp>
      <p:sp>
        <p:nvSpPr>
          <p:cNvPr id="29" name="Text 27"/>
          <p:cNvSpPr/>
          <p:nvPr/>
        </p:nvSpPr>
        <p:spPr>
          <a:xfrm>
            <a:off x="640080" y="3959352"/>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(E) 모든 속성의 값은 더는 분해할 수 없는 원자 값만 허용.</a:t>
            </a:r>
            <a:endParaRPr lang="en-US" sz="1200" dirty="0"/>
          </a:p>
        </p:txBody>
      </p:sp>
      <p:sp>
        <p:nvSpPr>
          <p:cNvPr id="30" name="Text 28"/>
          <p:cNvSpPr/>
          <p:nvPr/>
        </p:nvSpPr>
        <p:spPr>
          <a:xfrm>
            <a:off x="6217920" y="3959352"/>
            <a:ext cx="548640" cy="594360"/>
          </a:xfrm>
          <a:prstGeom prst="rect">
            <a:avLst/>
          </a:prstGeom>
          <a:noFill/>
          <a:ln/>
        </p:spPr>
        <p:txBody>
          <a:bodyPr wrap="square" rtlCol="0" anchor="ctr"/>
          <a:lstStyle/>
          <a:p>
            <a:pPr marL="0" indent="0" algn="ctr">
              <a:buNone/>
            </a:pPr>
            <a:r>
              <a:rPr lang="en-US" sz="1600" b="1" dirty="0">
                <a:solidFill>
                  <a:srgbClr val="16A34A"/>
                </a:solidFill>
                <a:latin typeface="Georgia" pitchFamily="34" charset="0"/>
                <a:ea typeface="Georgia" pitchFamily="34" charset="-122"/>
                <a:cs typeface="Georgia" pitchFamily="34" charset="-120"/>
              </a:rPr>
              <a:t>O</a:t>
            </a:r>
            <a:endParaRPr lang="en-US" sz="1600" dirty="0"/>
          </a:p>
        </p:txBody>
      </p:sp>
      <p:sp>
        <p:nvSpPr>
          <p:cNvPr id="31" name="Text 29"/>
          <p:cNvSpPr/>
          <p:nvPr/>
        </p:nvSpPr>
        <p:spPr>
          <a:xfrm>
            <a:off x="822960" y="4251960"/>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속성의 원자성</a:t>
            </a:r>
            <a:endParaRPr lang="en-US" sz="1000" dirty="0"/>
          </a:p>
        </p:txBody>
      </p:sp>
      <p:sp>
        <p:nvSpPr>
          <p:cNvPr id="32" name="Text 30"/>
          <p:cNvSpPr/>
          <p:nvPr/>
        </p:nvSpPr>
        <p:spPr>
          <a:xfrm>
            <a:off x="6858000" y="3959352"/>
            <a:ext cx="457200" cy="594360"/>
          </a:xfrm>
          <a:prstGeom prst="rect">
            <a:avLst/>
          </a:prstGeom>
          <a:noFill/>
          <a:ln/>
        </p:spPr>
        <p:txBody>
          <a:bodyPr wrap="square" rtlCol="0" anchor="ctr"/>
          <a:lstStyle/>
          <a:p>
            <a:pPr marL="0" indent="0" algn="ctr">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21</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42 / 58</a:t>
            </a:r>
            <a:endParaRPr lang="en-US" sz="900" dirty="0"/>
          </a:p>
        </p:txBody>
      </p:sp>
      <p:sp>
        <p:nvSpPr>
          <p:cNvPr id="7" name="Text 5"/>
          <p:cNvSpPr/>
          <p:nvPr/>
        </p:nvSpPr>
        <p:spPr>
          <a:xfrm>
            <a:off x="457200" y="777240"/>
            <a:ext cx="5029200" cy="640080"/>
          </a:xfrm>
          <a:prstGeom prst="rect">
            <a:avLst/>
          </a:prstGeom>
          <a:noFill/>
          <a:ln/>
        </p:spPr>
        <p:txBody>
          <a:bodyPr wrap="square" rtlCol="0" anchor="t"/>
          <a:lstStyle/>
          <a:p>
            <a:pPr marL="0" indent="0">
              <a:lnSpc>
                <a:spcPct val="130000"/>
              </a:lnSpc>
              <a:buNone/>
            </a:pPr>
            <a:r>
              <a:rPr lang="en-US" sz="1400" dirty="0">
                <a:solidFill>
                  <a:srgbClr val="1E293B"/>
                </a:solidFill>
                <a:latin typeface="Calibri" pitchFamily="34" charset="0"/>
                <a:ea typeface="Calibri" pitchFamily="34" charset="-122"/>
                <a:cs typeface="Calibri" pitchFamily="34" charset="-120"/>
              </a:rPr>
              <a:t>외래키에 대한 설명으로 적합한 것을 모두 고르시오.</a:t>
            </a:r>
            <a:endParaRPr lang="en-US" sz="1400" dirty="0"/>
          </a:p>
        </p:txBody>
      </p:sp>
      <p:pic>
        <p:nvPicPr>
          <p:cNvPr id="8" name="Image 0" descr="/home/claude/ch5imgs/fig5_12_selfref.jpeg"/>
          <p:cNvPicPr>
            <a:picLocks noChangeAspect="1"/>
          </p:cNvPicPr>
          <p:nvPr/>
        </p:nvPicPr>
        <p:blipFill rotWithShape="1">
          <a:blip r:embed="rId3"/>
          <a:srcRect/>
          <a:stretch>
            <a:fillRect/>
          </a:stretch>
        </p:blipFill>
        <p:spPr>
          <a:xfrm>
            <a:off x="5669280" y="1508760"/>
            <a:ext cx="3200400" cy="2011680"/>
          </a:xfrm>
          <a:prstGeom prst="rect">
            <a:avLst/>
          </a:prstGeom>
        </p:spPr>
      </p:pic>
      <p:sp>
        <p:nvSpPr>
          <p:cNvPr id="9" name="Shape 6"/>
          <p:cNvSpPr/>
          <p:nvPr/>
        </p:nvSpPr>
        <p:spPr>
          <a:xfrm>
            <a:off x="457200" y="1508760"/>
            <a:ext cx="5029200" cy="457200"/>
          </a:xfrm>
          <a:prstGeom prst="rect">
            <a:avLst/>
          </a:prstGeom>
          <a:solidFill>
            <a:srgbClr val="FFFFFF"/>
          </a:solidFill>
          <a:ln w="12700">
            <a:solidFill>
              <a:srgbClr val="CBD5E1"/>
            </a:solidFill>
            <a:prstDash val="solid"/>
          </a:ln>
        </p:spPr>
      </p:sp>
      <p:sp>
        <p:nvSpPr>
          <p:cNvPr id="10" name="Text 7"/>
          <p:cNvSpPr/>
          <p:nvPr/>
        </p:nvSpPr>
        <p:spPr>
          <a:xfrm>
            <a:off x="640080" y="1508760"/>
            <a:ext cx="41148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(A) 기본키로 선택되지 못한 후보키들이다.</a:t>
            </a:r>
            <a:endParaRPr lang="en-US" sz="1200" dirty="0"/>
          </a:p>
        </p:txBody>
      </p:sp>
      <p:sp>
        <p:nvSpPr>
          <p:cNvPr id="11" name="Text 8"/>
          <p:cNvSpPr/>
          <p:nvPr/>
        </p:nvSpPr>
        <p:spPr>
          <a:xfrm>
            <a:off x="4754880" y="1508760"/>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12" name="Shape 9"/>
          <p:cNvSpPr/>
          <p:nvPr/>
        </p:nvSpPr>
        <p:spPr>
          <a:xfrm>
            <a:off x="457200" y="2039112"/>
            <a:ext cx="5029200" cy="457200"/>
          </a:xfrm>
          <a:prstGeom prst="rect">
            <a:avLst/>
          </a:prstGeom>
          <a:solidFill>
            <a:srgbClr val="FFFFFF"/>
          </a:solidFill>
          <a:ln w="12700">
            <a:solidFill>
              <a:srgbClr val="CBD5E1"/>
            </a:solidFill>
            <a:prstDash val="solid"/>
          </a:ln>
        </p:spPr>
      </p:sp>
      <p:sp>
        <p:nvSpPr>
          <p:cNvPr id="13" name="Text 10"/>
          <p:cNvSpPr/>
          <p:nvPr/>
        </p:nvSpPr>
        <p:spPr>
          <a:xfrm>
            <a:off x="640080" y="2039112"/>
            <a:ext cx="41148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(B) 외래키를 가진 </a:t>
            </a:r>
            <a:r>
              <a:rPr lang="en-US" sz="1200" dirty="0" err="1">
                <a:solidFill>
                  <a:srgbClr val="1E293B"/>
                </a:solidFill>
                <a:latin typeface="Calibri" pitchFamily="34" charset="0"/>
                <a:ea typeface="Calibri" pitchFamily="34" charset="-122"/>
                <a:cs typeface="Calibri" pitchFamily="34" charset="-120"/>
              </a:rPr>
              <a:t>릴레이션을</a:t>
            </a:r>
            <a:r>
              <a:rPr lang="en-US" sz="1200" dirty="0">
                <a:solidFill>
                  <a:srgbClr val="1E293B"/>
                </a:solidFill>
                <a:latin typeface="Calibri" pitchFamily="34" charset="0"/>
                <a:ea typeface="Calibri" pitchFamily="34" charset="-122"/>
                <a:cs typeface="Calibri" pitchFamily="34" charset="-120"/>
              </a:rPr>
              <a:t> </a:t>
            </a:r>
            <a:r>
              <a:rPr lang="en-US" sz="1200" dirty="0" err="1">
                <a:solidFill>
                  <a:srgbClr val="1E293B"/>
                </a:solidFill>
                <a:latin typeface="Calibri" pitchFamily="34" charset="0"/>
                <a:ea typeface="Calibri" pitchFamily="34" charset="-122"/>
                <a:cs typeface="Calibri" pitchFamily="34" charset="-120"/>
              </a:rPr>
              <a:t>참조</a:t>
            </a:r>
            <a:r>
              <a:rPr lang="ko-KR" altLang="en-US" sz="1200" dirty="0">
                <a:solidFill>
                  <a:srgbClr val="1E293B"/>
                </a:solidFill>
                <a:latin typeface="Calibri" pitchFamily="34" charset="0"/>
                <a:ea typeface="Calibri" pitchFamily="34" charset="-122"/>
                <a:cs typeface="Calibri" pitchFamily="34" charset="-120"/>
              </a:rPr>
              <a:t>되</a:t>
            </a:r>
            <a:r>
              <a:rPr lang="en-US" sz="1200" dirty="0">
                <a:solidFill>
                  <a:srgbClr val="1E293B"/>
                </a:solidFill>
                <a:latin typeface="Calibri" pitchFamily="34" charset="0"/>
                <a:ea typeface="Calibri" pitchFamily="34" charset="-122"/>
                <a:cs typeface="Calibri" pitchFamily="34" charset="-120"/>
              </a:rPr>
              <a:t>는 릴레이션이라 한다.</a:t>
            </a:r>
            <a:endParaRPr lang="en-US" sz="1200" dirty="0"/>
          </a:p>
        </p:txBody>
      </p:sp>
      <p:sp>
        <p:nvSpPr>
          <p:cNvPr id="14" name="Text 11"/>
          <p:cNvSpPr/>
          <p:nvPr/>
        </p:nvSpPr>
        <p:spPr>
          <a:xfrm>
            <a:off x="4754880" y="2039112"/>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15" name="Shape 12"/>
          <p:cNvSpPr/>
          <p:nvPr/>
        </p:nvSpPr>
        <p:spPr>
          <a:xfrm>
            <a:off x="457200" y="2569464"/>
            <a:ext cx="5029200" cy="457200"/>
          </a:xfrm>
          <a:prstGeom prst="rect">
            <a:avLst/>
          </a:prstGeom>
          <a:solidFill>
            <a:srgbClr val="FFFFFF"/>
          </a:solidFill>
          <a:ln w="12700">
            <a:solidFill>
              <a:srgbClr val="CBD5E1"/>
            </a:solidFill>
            <a:prstDash val="solid"/>
          </a:ln>
        </p:spPr>
      </p:sp>
      <p:sp>
        <p:nvSpPr>
          <p:cNvPr id="16" name="Text 13"/>
          <p:cNvSpPr/>
          <p:nvPr/>
        </p:nvSpPr>
        <p:spPr>
          <a:xfrm>
            <a:off x="640080" y="2569464"/>
            <a:ext cx="41148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(C) 릴레이션 R1의 속성이 다른 릴레이션 R2의 기본키이다.</a:t>
            </a:r>
            <a:endParaRPr lang="en-US" sz="1200" dirty="0"/>
          </a:p>
        </p:txBody>
      </p:sp>
      <p:sp>
        <p:nvSpPr>
          <p:cNvPr id="17" name="Text 14"/>
          <p:cNvSpPr/>
          <p:nvPr/>
        </p:nvSpPr>
        <p:spPr>
          <a:xfrm>
            <a:off x="4754880" y="2569464"/>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18" name="Shape 15"/>
          <p:cNvSpPr/>
          <p:nvPr/>
        </p:nvSpPr>
        <p:spPr>
          <a:xfrm>
            <a:off x="457200" y="3099816"/>
            <a:ext cx="5029200" cy="457200"/>
          </a:xfrm>
          <a:prstGeom prst="rect">
            <a:avLst/>
          </a:prstGeom>
          <a:solidFill>
            <a:srgbClr val="FFFFFF"/>
          </a:solidFill>
          <a:ln w="12700">
            <a:solidFill>
              <a:srgbClr val="CBD5E1"/>
            </a:solidFill>
            <a:prstDash val="solid"/>
          </a:ln>
        </p:spPr>
      </p:sp>
      <p:sp>
        <p:nvSpPr>
          <p:cNvPr id="19" name="Text 16"/>
          <p:cNvSpPr/>
          <p:nvPr/>
        </p:nvSpPr>
        <p:spPr>
          <a:xfrm>
            <a:off x="640080" y="3099816"/>
            <a:ext cx="41148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(D) 외래키 릴레이션과 기본키 릴레이션은 반드시 달라야 한다.</a:t>
            </a:r>
            <a:endParaRPr lang="en-US" sz="1200" dirty="0"/>
          </a:p>
        </p:txBody>
      </p:sp>
      <p:sp>
        <p:nvSpPr>
          <p:cNvPr id="20" name="Text 17"/>
          <p:cNvSpPr/>
          <p:nvPr/>
        </p:nvSpPr>
        <p:spPr>
          <a:xfrm>
            <a:off x="4754880" y="3099816"/>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21" name="Shape 18"/>
          <p:cNvSpPr/>
          <p:nvPr/>
        </p:nvSpPr>
        <p:spPr>
          <a:xfrm>
            <a:off x="457200" y="4160520"/>
            <a:ext cx="5029200" cy="457200"/>
          </a:xfrm>
          <a:prstGeom prst="rect">
            <a:avLst/>
          </a:prstGeom>
          <a:solidFill>
            <a:srgbClr val="FFFFFF"/>
          </a:solidFill>
          <a:ln w="12700">
            <a:solidFill>
              <a:srgbClr val="CBD5E1"/>
            </a:solidFill>
            <a:prstDash val="solid"/>
          </a:ln>
        </p:spPr>
      </p:sp>
      <p:sp>
        <p:nvSpPr>
          <p:cNvPr id="22" name="Text 19"/>
          <p:cNvSpPr/>
          <p:nvPr/>
        </p:nvSpPr>
        <p:spPr>
          <a:xfrm>
            <a:off x="640080" y="4160520"/>
            <a:ext cx="41148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(F) 외래키와 대응 기본키는 도메인이 같아야 한다.</a:t>
            </a:r>
            <a:endParaRPr lang="en-US" sz="1200" dirty="0"/>
          </a:p>
        </p:txBody>
      </p:sp>
      <p:sp>
        <p:nvSpPr>
          <p:cNvPr id="23" name="Text 20"/>
          <p:cNvSpPr/>
          <p:nvPr/>
        </p:nvSpPr>
        <p:spPr>
          <a:xfrm>
            <a:off x="4754880" y="4160520"/>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
        <p:nvSpPr>
          <p:cNvPr id="24" name="Shape 18">
            <a:extLst>
              <a:ext uri="{FF2B5EF4-FFF2-40B4-BE49-F238E27FC236}">
                <a16:creationId xmlns:a16="http://schemas.microsoft.com/office/drawing/2014/main" id="{F0EE14EC-4EA7-0A3F-BD11-DE971E3389EC}"/>
              </a:ext>
            </a:extLst>
          </p:cNvPr>
          <p:cNvSpPr/>
          <p:nvPr/>
        </p:nvSpPr>
        <p:spPr>
          <a:xfrm>
            <a:off x="457200" y="3630168"/>
            <a:ext cx="5029200" cy="457200"/>
          </a:xfrm>
          <a:prstGeom prst="rect">
            <a:avLst/>
          </a:prstGeom>
          <a:solidFill>
            <a:srgbClr val="FFFFFF"/>
          </a:solidFill>
          <a:ln w="12700">
            <a:solidFill>
              <a:srgbClr val="CBD5E1"/>
            </a:solidFill>
            <a:prstDash val="solid"/>
          </a:ln>
        </p:spPr>
      </p:sp>
      <p:sp>
        <p:nvSpPr>
          <p:cNvPr id="25" name="Text 19">
            <a:extLst>
              <a:ext uri="{FF2B5EF4-FFF2-40B4-BE49-F238E27FC236}">
                <a16:creationId xmlns:a16="http://schemas.microsoft.com/office/drawing/2014/main" id="{CB80088A-FE28-F8A3-2781-5484614DBE1F}"/>
              </a:ext>
            </a:extLst>
          </p:cNvPr>
          <p:cNvSpPr/>
          <p:nvPr/>
        </p:nvSpPr>
        <p:spPr>
          <a:xfrm>
            <a:off x="640080" y="3630168"/>
            <a:ext cx="4114800" cy="457200"/>
          </a:xfrm>
          <a:prstGeom prst="rect">
            <a:avLst/>
          </a:prstGeom>
          <a:noFill/>
          <a:ln/>
        </p:spPr>
        <p:txBody>
          <a:bodyPr wrap="square" rtlCol="0" anchor="ctr"/>
          <a:lstStyle/>
          <a:p>
            <a:pPr marL="0" indent="0">
              <a:buNone/>
            </a:pPr>
            <a:r>
              <a:rPr lang="en-US" sz="1200" dirty="0">
                <a:solidFill>
                  <a:srgbClr val="1E293B"/>
                </a:solidFill>
                <a:latin typeface="Calibri" pitchFamily="34" charset="0"/>
                <a:ea typeface="Calibri" pitchFamily="34" charset="-122"/>
                <a:cs typeface="Calibri" pitchFamily="34" charset="-120"/>
              </a:rPr>
              <a:t>(E) 외래키와 대응 </a:t>
            </a:r>
            <a:r>
              <a:rPr lang="en-US" sz="1200" dirty="0" err="1">
                <a:solidFill>
                  <a:srgbClr val="1E293B"/>
                </a:solidFill>
                <a:latin typeface="Calibri" pitchFamily="34" charset="0"/>
                <a:ea typeface="Calibri" pitchFamily="34" charset="-122"/>
                <a:cs typeface="Calibri" pitchFamily="34" charset="-120"/>
              </a:rPr>
              <a:t>기본키는</a:t>
            </a:r>
            <a:r>
              <a:rPr lang="en-US" sz="1200" dirty="0">
                <a:solidFill>
                  <a:srgbClr val="1E293B"/>
                </a:solidFill>
                <a:latin typeface="Calibri" pitchFamily="34" charset="0"/>
                <a:ea typeface="Calibri" pitchFamily="34" charset="-122"/>
                <a:cs typeface="Calibri" pitchFamily="34" charset="-120"/>
              </a:rPr>
              <a:t> </a:t>
            </a:r>
            <a:r>
              <a:rPr lang="ko-KR" altLang="en-US" sz="1200" dirty="0">
                <a:solidFill>
                  <a:srgbClr val="1E293B"/>
                </a:solidFill>
                <a:latin typeface="Calibri" pitchFamily="34" charset="0"/>
                <a:ea typeface="Calibri" pitchFamily="34" charset="-122"/>
                <a:cs typeface="Calibri" pitchFamily="34" charset="-120"/>
              </a:rPr>
              <a:t>이름</a:t>
            </a:r>
            <a:r>
              <a:rPr lang="en-US" sz="1200" dirty="0">
                <a:solidFill>
                  <a:srgbClr val="1E293B"/>
                </a:solidFill>
                <a:latin typeface="Calibri" pitchFamily="34" charset="0"/>
                <a:ea typeface="Calibri" pitchFamily="34" charset="-122"/>
                <a:cs typeface="Calibri" pitchFamily="34" charset="-120"/>
              </a:rPr>
              <a:t>이 같아야 한다.</a:t>
            </a:r>
            <a:endParaRPr lang="en-US" sz="1200" dirty="0"/>
          </a:p>
        </p:txBody>
      </p:sp>
      <p:sp>
        <p:nvSpPr>
          <p:cNvPr id="26" name="Text 20">
            <a:extLst>
              <a:ext uri="{FF2B5EF4-FFF2-40B4-BE49-F238E27FC236}">
                <a16:creationId xmlns:a16="http://schemas.microsoft.com/office/drawing/2014/main" id="{ACB7AB9D-9C04-4291-E96F-44C66C78E810}"/>
              </a:ext>
            </a:extLst>
          </p:cNvPr>
          <p:cNvSpPr/>
          <p:nvPr/>
        </p:nvSpPr>
        <p:spPr>
          <a:xfrm>
            <a:off x="4754880" y="3630168"/>
            <a:ext cx="548640" cy="457200"/>
          </a:xfrm>
          <a:prstGeom prst="rect">
            <a:avLst/>
          </a:prstGeom>
          <a:noFill/>
          <a:ln/>
        </p:spPr>
        <p:txBody>
          <a:bodyPr wrap="square" rtlCol="0" anchor="ctr"/>
          <a:lstStyle/>
          <a:p>
            <a:pPr marL="0" indent="0" algn="ctr">
              <a:buNone/>
            </a:pPr>
            <a:r>
              <a:rPr lang="en-US" sz="1400" b="1" dirty="0">
                <a:solidFill>
                  <a:srgbClr val="64748B"/>
                </a:solidFill>
                <a:latin typeface="Georgia" pitchFamily="34" charset="0"/>
                <a:ea typeface="Georgia" pitchFamily="34" charset="-122"/>
                <a:cs typeface="Georgia" pitchFamily="34" charset="-120"/>
              </a:rPr>
              <a:t>?</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7ED"/>
        </a:solidFill>
        <a:effectLst/>
      </p:bgPr>
    </p:bg>
    <p:spTree>
      <p:nvGrpSpPr>
        <p:cNvPr id="1" name=""/>
        <p:cNvGrpSpPr/>
        <p:nvPr/>
      </p:nvGrpSpPr>
      <p:grpSpPr>
        <a:xfrm>
          <a:off x="0" y="0"/>
          <a:ext cx="0" cy="0"/>
          <a:chOff x="0" y="0"/>
          <a:chExt cx="0" cy="0"/>
        </a:xfrm>
      </p:grpSpPr>
      <p:sp>
        <p:nvSpPr>
          <p:cNvPr id="38" name="Shape 21">
            <a:extLst>
              <a:ext uri="{FF2B5EF4-FFF2-40B4-BE49-F238E27FC236}">
                <a16:creationId xmlns:a16="http://schemas.microsoft.com/office/drawing/2014/main" id="{683D83A1-0F42-0D96-6871-9D4277766192}"/>
              </a:ext>
            </a:extLst>
          </p:cNvPr>
          <p:cNvSpPr/>
          <p:nvPr/>
        </p:nvSpPr>
        <p:spPr>
          <a:xfrm>
            <a:off x="457200" y="3502152"/>
            <a:ext cx="8229600" cy="594360"/>
          </a:xfrm>
          <a:prstGeom prst="rect">
            <a:avLst/>
          </a:prstGeom>
          <a:solidFill>
            <a:srgbClr val="FEF2F2"/>
          </a:solidFill>
          <a:ln w="12700">
            <a:solidFill>
              <a:srgbClr val="EF4444"/>
            </a:solidFill>
            <a:prstDash val="solid"/>
          </a:ln>
        </p:spPr>
      </p:sp>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21</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43 / 58</a:t>
            </a:r>
            <a:endParaRPr lang="en-US" sz="900" dirty="0"/>
          </a:p>
        </p:txBody>
      </p:sp>
      <p:sp>
        <p:nvSpPr>
          <p:cNvPr id="7" name="Text 5"/>
          <p:cNvSpPr/>
          <p:nvPr/>
        </p:nvSpPr>
        <p:spPr>
          <a:xfrm>
            <a:off x="457200" y="713232"/>
            <a:ext cx="8229600" cy="457200"/>
          </a:xfrm>
          <a:prstGeom prst="rect">
            <a:avLst/>
          </a:prstGeom>
          <a:noFill/>
          <a:ln/>
        </p:spPr>
        <p:txBody>
          <a:bodyPr wrap="square"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외래키에 대한 설명으로 적합한 것을 모두 고르시오.</a:t>
            </a:r>
            <a:endParaRPr lang="en-US" sz="1200" dirty="0"/>
          </a:p>
        </p:txBody>
      </p:sp>
      <p:sp>
        <p:nvSpPr>
          <p:cNvPr id="8" name="Shape 6"/>
          <p:cNvSpPr/>
          <p:nvPr/>
        </p:nvSpPr>
        <p:spPr>
          <a:xfrm>
            <a:off x="457200" y="868680"/>
            <a:ext cx="8229600" cy="594360"/>
          </a:xfrm>
          <a:prstGeom prst="rect">
            <a:avLst/>
          </a:prstGeom>
          <a:solidFill>
            <a:srgbClr val="FEF2F2"/>
          </a:solidFill>
          <a:ln w="12700">
            <a:solidFill>
              <a:srgbClr val="EF4444"/>
            </a:solidFill>
            <a:prstDash val="solid"/>
          </a:ln>
        </p:spPr>
      </p:sp>
      <p:sp>
        <p:nvSpPr>
          <p:cNvPr id="9" name="Text 7"/>
          <p:cNvSpPr/>
          <p:nvPr/>
        </p:nvSpPr>
        <p:spPr>
          <a:xfrm>
            <a:off x="640080" y="868680"/>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(A) 기본키로 선택되지 못한 후보키들이다.</a:t>
            </a:r>
            <a:endParaRPr lang="en-US" sz="1200" dirty="0"/>
          </a:p>
        </p:txBody>
      </p:sp>
      <p:sp>
        <p:nvSpPr>
          <p:cNvPr id="10" name="Text 8"/>
          <p:cNvSpPr/>
          <p:nvPr/>
        </p:nvSpPr>
        <p:spPr>
          <a:xfrm>
            <a:off x="6217920" y="868680"/>
            <a:ext cx="548640" cy="594360"/>
          </a:xfrm>
          <a:prstGeom prst="rect">
            <a:avLst/>
          </a:prstGeom>
          <a:noFill/>
          <a:ln/>
        </p:spPr>
        <p:txBody>
          <a:bodyPr wrap="square" rtlCol="0" anchor="ctr"/>
          <a:lstStyle/>
          <a:p>
            <a:pPr marL="0" indent="0" algn="ctr">
              <a:buNone/>
            </a:pPr>
            <a:r>
              <a:rPr lang="en-US" sz="1600" b="1" dirty="0">
                <a:solidFill>
                  <a:srgbClr val="DC2626"/>
                </a:solidFill>
                <a:latin typeface="Georgia" pitchFamily="34" charset="0"/>
                <a:ea typeface="Georgia" pitchFamily="34" charset="-122"/>
                <a:cs typeface="Georgia" pitchFamily="34" charset="-120"/>
              </a:rPr>
              <a:t>X</a:t>
            </a:r>
            <a:endParaRPr lang="en-US" sz="1600" dirty="0"/>
          </a:p>
        </p:txBody>
      </p:sp>
      <p:sp>
        <p:nvSpPr>
          <p:cNvPr id="11" name="Text 9"/>
          <p:cNvSpPr/>
          <p:nvPr/>
        </p:nvSpPr>
        <p:spPr>
          <a:xfrm>
            <a:off x="822960" y="1161288"/>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 대체키의 설명</a:t>
            </a:r>
            <a:endParaRPr lang="en-US" sz="1000" dirty="0"/>
          </a:p>
        </p:txBody>
      </p:sp>
      <p:sp>
        <p:nvSpPr>
          <p:cNvPr id="12" name="Text 10"/>
          <p:cNvSpPr/>
          <p:nvPr/>
        </p:nvSpPr>
        <p:spPr>
          <a:xfrm>
            <a:off x="6858000" y="868680"/>
            <a:ext cx="457200" cy="594360"/>
          </a:xfrm>
          <a:prstGeom prst="rect">
            <a:avLst/>
          </a:prstGeom>
          <a:noFill/>
          <a:ln/>
        </p:spPr>
        <p:txBody>
          <a:bodyPr wrap="square" rtlCol="0" anchor="ctr"/>
          <a:lstStyle/>
          <a:p>
            <a:pPr marL="0" indent="0" algn="ctr">
              <a:buNone/>
            </a:pPr>
            <a:r>
              <a:rPr lang="en-US" sz="1400" b="1" dirty="0">
                <a:solidFill>
                  <a:srgbClr val="DC2626"/>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457200" y="1527048"/>
            <a:ext cx="8229600" cy="594360"/>
          </a:xfrm>
          <a:prstGeom prst="rect">
            <a:avLst/>
          </a:prstGeom>
          <a:solidFill>
            <a:srgbClr val="FEF2F2"/>
          </a:solidFill>
          <a:ln w="12700">
            <a:solidFill>
              <a:srgbClr val="EF4444"/>
            </a:solidFill>
            <a:prstDash val="solid"/>
          </a:ln>
        </p:spPr>
      </p:sp>
      <p:sp>
        <p:nvSpPr>
          <p:cNvPr id="14" name="Text 12"/>
          <p:cNvSpPr/>
          <p:nvPr/>
        </p:nvSpPr>
        <p:spPr>
          <a:xfrm>
            <a:off x="640080" y="1527048"/>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(B) 외래키를 가진 </a:t>
            </a:r>
            <a:r>
              <a:rPr lang="en-US" sz="1200" dirty="0" err="1">
                <a:solidFill>
                  <a:srgbClr val="1E293B"/>
                </a:solidFill>
                <a:latin typeface="Calibri" pitchFamily="34" charset="0"/>
                <a:ea typeface="Calibri" pitchFamily="34" charset="-122"/>
                <a:cs typeface="Calibri" pitchFamily="34" charset="-120"/>
              </a:rPr>
              <a:t>릴레이션을</a:t>
            </a:r>
            <a:r>
              <a:rPr lang="en-US" sz="1200" dirty="0">
                <a:solidFill>
                  <a:srgbClr val="1E293B"/>
                </a:solidFill>
                <a:latin typeface="Calibri" pitchFamily="34" charset="0"/>
                <a:ea typeface="Calibri" pitchFamily="34" charset="-122"/>
                <a:cs typeface="Calibri" pitchFamily="34" charset="-120"/>
              </a:rPr>
              <a:t> </a:t>
            </a:r>
            <a:r>
              <a:rPr lang="en-US" sz="1200" dirty="0" err="1">
                <a:solidFill>
                  <a:srgbClr val="1E293B"/>
                </a:solidFill>
                <a:latin typeface="Calibri" pitchFamily="34" charset="0"/>
                <a:ea typeface="Calibri" pitchFamily="34" charset="-122"/>
                <a:cs typeface="Calibri" pitchFamily="34" charset="-120"/>
              </a:rPr>
              <a:t>참조</a:t>
            </a:r>
            <a:r>
              <a:rPr lang="ko-KR" altLang="en-US" sz="1200" dirty="0">
                <a:solidFill>
                  <a:srgbClr val="1E293B"/>
                </a:solidFill>
                <a:latin typeface="Calibri" pitchFamily="34" charset="0"/>
                <a:ea typeface="Calibri" pitchFamily="34" charset="-122"/>
                <a:cs typeface="Calibri" pitchFamily="34" charset="-120"/>
              </a:rPr>
              <a:t>되</a:t>
            </a:r>
            <a:r>
              <a:rPr lang="en-US" sz="1200" dirty="0">
                <a:solidFill>
                  <a:srgbClr val="1E293B"/>
                </a:solidFill>
                <a:latin typeface="Calibri" pitchFamily="34" charset="0"/>
                <a:ea typeface="Calibri" pitchFamily="34" charset="-122"/>
                <a:cs typeface="Calibri" pitchFamily="34" charset="-120"/>
              </a:rPr>
              <a:t>는 릴레이션이라 한다.</a:t>
            </a:r>
            <a:endParaRPr lang="en-US" sz="1200" dirty="0"/>
          </a:p>
        </p:txBody>
      </p:sp>
      <p:sp>
        <p:nvSpPr>
          <p:cNvPr id="15" name="Text 13"/>
          <p:cNvSpPr/>
          <p:nvPr/>
        </p:nvSpPr>
        <p:spPr>
          <a:xfrm>
            <a:off x="6217920" y="1527048"/>
            <a:ext cx="548640" cy="594360"/>
          </a:xfrm>
          <a:prstGeom prst="rect">
            <a:avLst/>
          </a:prstGeom>
          <a:noFill/>
          <a:ln/>
        </p:spPr>
        <p:txBody>
          <a:bodyPr wrap="square" rtlCol="0" anchor="ctr"/>
          <a:lstStyle/>
          <a:p>
            <a:pPr marL="0" indent="0" algn="ctr">
              <a:buNone/>
            </a:pPr>
            <a:r>
              <a:rPr lang="en-US" sz="1600" b="1" dirty="0">
                <a:solidFill>
                  <a:srgbClr val="DC2626"/>
                </a:solidFill>
                <a:latin typeface="Georgia" pitchFamily="34" charset="0"/>
                <a:ea typeface="Georgia" pitchFamily="34" charset="-122"/>
                <a:cs typeface="Georgia" pitchFamily="34" charset="-120"/>
              </a:rPr>
              <a:t>X</a:t>
            </a:r>
            <a:endParaRPr lang="en-US" sz="1600" dirty="0"/>
          </a:p>
        </p:txBody>
      </p:sp>
      <p:sp>
        <p:nvSpPr>
          <p:cNvPr id="16" name="Text 14"/>
          <p:cNvSpPr/>
          <p:nvPr/>
        </p:nvSpPr>
        <p:spPr>
          <a:xfrm>
            <a:off x="822960" y="1819656"/>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 '참조되는'이 아니라 '참조하는' 릴레이션</a:t>
            </a:r>
            <a:endParaRPr lang="en-US" sz="1000" dirty="0"/>
          </a:p>
        </p:txBody>
      </p:sp>
      <p:sp>
        <p:nvSpPr>
          <p:cNvPr id="17" name="Text 15"/>
          <p:cNvSpPr/>
          <p:nvPr/>
        </p:nvSpPr>
        <p:spPr>
          <a:xfrm>
            <a:off x="6858000" y="1527048"/>
            <a:ext cx="457200" cy="594360"/>
          </a:xfrm>
          <a:prstGeom prst="rect">
            <a:avLst/>
          </a:prstGeom>
          <a:noFill/>
          <a:ln/>
        </p:spPr>
        <p:txBody>
          <a:bodyPr wrap="square" rtlCol="0" anchor="ctr"/>
          <a:lstStyle/>
          <a:p>
            <a:pPr marL="0" indent="0" algn="ctr">
              <a:buNone/>
            </a:pPr>
            <a:r>
              <a:rPr lang="en-US" sz="1400" b="1" dirty="0">
                <a:solidFill>
                  <a:srgbClr val="DC2626"/>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457200" y="2185416"/>
            <a:ext cx="8229600" cy="594360"/>
          </a:xfrm>
          <a:prstGeom prst="rect">
            <a:avLst/>
          </a:prstGeom>
          <a:solidFill>
            <a:srgbClr val="F0FDF4"/>
          </a:solidFill>
          <a:ln w="12700">
            <a:solidFill>
              <a:srgbClr val="22C55E"/>
            </a:solidFill>
            <a:prstDash val="solid"/>
          </a:ln>
        </p:spPr>
      </p:sp>
      <p:sp>
        <p:nvSpPr>
          <p:cNvPr id="19" name="Text 17"/>
          <p:cNvSpPr/>
          <p:nvPr/>
        </p:nvSpPr>
        <p:spPr>
          <a:xfrm>
            <a:off x="640080" y="2185416"/>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(C) 릴레이션 R1의 속성이 다른 릴레이션 R2의 기본키이다.</a:t>
            </a:r>
            <a:endParaRPr lang="en-US" sz="1200" dirty="0"/>
          </a:p>
        </p:txBody>
      </p:sp>
      <p:sp>
        <p:nvSpPr>
          <p:cNvPr id="20" name="Text 18"/>
          <p:cNvSpPr/>
          <p:nvPr/>
        </p:nvSpPr>
        <p:spPr>
          <a:xfrm>
            <a:off x="6217920" y="2185416"/>
            <a:ext cx="548640" cy="594360"/>
          </a:xfrm>
          <a:prstGeom prst="rect">
            <a:avLst/>
          </a:prstGeom>
          <a:noFill/>
          <a:ln/>
        </p:spPr>
        <p:txBody>
          <a:bodyPr wrap="square" rtlCol="0" anchor="ctr"/>
          <a:lstStyle/>
          <a:p>
            <a:pPr marL="0" indent="0" algn="ctr">
              <a:buNone/>
            </a:pPr>
            <a:r>
              <a:rPr lang="en-US" sz="1600" b="1" dirty="0">
                <a:solidFill>
                  <a:srgbClr val="16A34A"/>
                </a:solidFill>
                <a:latin typeface="Georgia" pitchFamily="34" charset="0"/>
                <a:ea typeface="Georgia" pitchFamily="34" charset="-122"/>
                <a:cs typeface="Georgia" pitchFamily="34" charset="-120"/>
              </a:rPr>
              <a:t>O</a:t>
            </a:r>
            <a:endParaRPr lang="en-US" sz="1600" dirty="0"/>
          </a:p>
        </p:txBody>
      </p:sp>
      <p:sp>
        <p:nvSpPr>
          <p:cNvPr id="21" name="Text 19"/>
          <p:cNvSpPr/>
          <p:nvPr/>
        </p:nvSpPr>
        <p:spPr>
          <a:xfrm>
            <a:off x="822960" y="2478024"/>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외래키의 정의</a:t>
            </a:r>
            <a:endParaRPr lang="en-US" sz="1000" dirty="0"/>
          </a:p>
        </p:txBody>
      </p:sp>
      <p:sp>
        <p:nvSpPr>
          <p:cNvPr id="22" name="Text 20"/>
          <p:cNvSpPr/>
          <p:nvPr/>
        </p:nvSpPr>
        <p:spPr>
          <a:xfrm>
            <a:off x="6858000" y="2185416"/>
            <a:ext cx="457200" cy="594360"/>
          </a:xfrm>
          <a:prstGeom prst="rect">
            <a:avLst/>
          </a:prstGeom>
          <a:noFill/>
          <a:ln/>
        </p:spPr>
        <p:txBody>
          <a:bodyPr wrap="square" rtlCol="0" anchor="ctr"/>
          <a:lstStyle/>
          <a:p>
            <a:pPr marL="0" indent="0" algn="ctr">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57200" y="2843784"/>
            <a:ext cx="8229600" cy="594360"/>
          </a:xfrm>
          <a:prstGeom prst="rect">
            <a:avLst/>
          </a:prstGeom>
          <a:solidFill>
            <a:srgbClr val="FEF2F2"/>
          </a:solidFill>
          <a:ln w="12700">
            <a:solidFill>
              <a:srgbClr val="EF4444"/>
            </a:solidFill>
            <a:prstDash val="solid"/>
          </a:ln>
        </p:spPr>
      </p:sp>
      <p:sp>
        <p:nvSpPr>
          <p:cNvPr id="24" name="Text 22"/>
          <p:cNvSpPr/>
          <p:nvPr/>
        </p:nvSpPr>
        <p:spPr>
          <a:xfrm>
            <a:off x="640080" y="2843784"/>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(D) 외래키 릴레이션과 기본키 릴레이션은 반드시 달라야 한다.</a:t>
            </a:r>
            <a:endParaRPr lang="en-US" sz="1200" dirty="0"/>
          </a:p>
        </p:txBody>
      </p:sp>
      <p:sp>
        <p:nvSpPr>
          <p:cNvPr id="25" name="Text 23"/>
          <p:cNvSpPr/>
          <p:nvPr/>
        </p:nvSpPr>
        <p:spPr>
          <a:xfrm>
            <a:off x="6217920" y="2843784"/>
            <a:ext cx="548640" cy="594360"/>
          </a:xfrm>
          <a:prstGeom prst="rect">
            <a:avLst/>
          </a:prstGeom>
          <a:noFill/>
          <a:ln/>
        </p:spPr>
        <p:txBody>
          <a:bodyPr wrap="square" rtlCol="0" anchor="ctr"/>
          <a:lstStyle/>
          <a:p>
            <a:pPr marL="0" indent="0" algn="ctr">
              <a:buNone/>
            </a:pPr>
            <a:r>
              <a:rPr lang="en-US" sz="1600" b="1" dirty="0">
                <a:solidFill>
                  <a:srgbClr val="DC2626"/>
                </a:solidFill>
                <a:latin typeface="Georgia" pitchFamily="34" charset="0"/>
                <a:ea typeface="Georgia" pitchFamily="34" charset="-122"/>
                <a:cs typeface="Georgia" pitchFamily="34" charset="-120"/>
              </a:rPr>
              <a:t>X</a:t>
            </a:r>
            <a:endParaRPr lang="en-US" sz="1600" dirty="0"/>
          </a:p>
        </p:txBody>
      </p:sp>
      <p:sp>
        <p:nvSpPr>
          <p:cNvPr id="26" name="Text 24"/>
          <p:cNvSpPr/>
          <p:nvPr/>
        </p:nvSpPr>
        <p:spPr>
          <a:xfrm>
            <a:off x="822960" y="3136392"/>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자기 참조 가능</a:t>
            </a:r>
            <a:endParaRPr lang="en-US" sz="1000" dirty="0"/>
          </a:p>
        </p:txBody>
      </p:sp>
      <p:sp>
        <p:nvSpPr>
          <p:cNvPr id="27" name="Text 25"/>
          <p:cNvSpPr/>
          <p:nvPr/>
        </p:nvSpPr>
        <p:spPr>
          <a:xfrm>
            <a:off x="6858000" y="2843784"/>
            <a:ext cx="457200" cy="594360"/>
          </a:xfrm>
          <a:prstGeom prst="rect">
            <a:avLst/>
          </a:prstGeom>
          <a:noFill/>
          <a:ln/>
        </p:spPr>
        <p:txBody>
          <a:bodyPr wrap="square" rtlCol="0" anchor="ctr"/>
          <a:lstStyle/>
          <a:p>
            <a:pPr marL="0" indent="0" algn="ctr">
              <a:buNone/>
            </a:pPr>
            <a:r>
              <a:rPr lang="en-US" sz="1400" b="1" dirty="0">
                <a:solidFill>
                  <a:srgbClr val="DC2626"/>
                </a:solidFill>
                <a:latin typeface="Calibri" pitchFamily="34" charset="0"/>
                <a:ea typeface="Calibri" pitchFamily="34" charset="-122"/>
                <a:cs typeface="Calibri" pitchFamily="34" charset="-120"/>
              </a:rPr>
              <a:t>✗</a:t>
            </a:r>
            <a:endParaRPr lang="en-US" sz="1400" dirty="0"/>
          </a:p>
        </p:txBody>
      </p:sp>
      <p:sp>
        <p:nvSpPr>
          <p:cNvPr id="29" name="Text 27"/>
          <p:cNvSpPr/>
          <p:nvPr/>
        </p:nvSpPr>
        <p:spPr>
          <a:xfrm>
            <a:off x="640080" y="3502152"/>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(F) 외래키와 대응 </a:t>
            </a:r>
            <a:r>
              <a:rPr lang="en-US" sz="1200" dirty="0" err="1">
                <a:solidFill>
                  <a:srgbClr val="1E293B"/>
                </a:solidFill>
                <a:latin typeface="Calibri" pitchFamily="34" charset="0"/>
                <a:ea typeface="Calibri" pitchFamily="34" charset="-122"/>
                <a:cs typeface="Calibri" pitchFamily="34" charset="-120"/>
              </a:rPr>
              <a:t>기본키는</a:t>
            </a:r>
            <a:r>
              <a:rPr lang="en-US" sz="1200" dirty="0">
                <a:solidFill>
                  <a:srgbClr val="1E293B"/>
                </a:solidFill>
                <a:latin typeface="Calibri" pitchFamily="34" charset="0"/>
                <a:ea typeface="Calibri" pitchFamily="34" charset="-122"/>
                <a:cs typeface="Calibri" pitchFamily="34" charset="-120"/>
              </a:rPr>
              <a:t> </a:t>
            </a:r>
            <a:r>
              <a:rPr lang="ko-KR" altLang="en-US" sz="1200" dirty="0">
                <a:solidFill>
                  <a:srgbClr val="1E293B"/>
                </a:solidFill>
                <a:latin typeface="Calibri" pitchFamily="34" charset="0"/>
                <a:ea typeface="Calibri" pitchFamily="34" charset="-122"/>
                <a:cs typeface="Calibri" pitchFamily="34" charset="-120"/>
              </a:rPr>
              <a:t>이름</a:t>
            </a:r>
            <a:r>
              <a:rPr lang="en-US" sz="1200" dirty="0">
                <a:solidFill>
                  <a:srgbClr val="1E293B"/>
                </a:solidFill>
                <a:latin typeface="Calibri" pitchFamily="34" charset="0"/>
                <a:ea typeface="Calibri" pitchFamily="34" charset="-122"/>
                <a:cs typeface="Calibri" pitchFamily="34" charset="-120"/>
              </a:rPr>
              <a:t>이 같아야 한다.</a:t>
            </a:r>
            <a:endParaRPr lang="en-US" sz="1200" dirty="0"/>
          </a:p>
        </p:txBody>
      </p:sp>
      <p:sp>
        <p:nvSpPr>
          <p:cNvPr id="30" name="Text 28"/>
          <p:cNvSpPr/>
          <p:nvPr/>
        </p:nvSpPr>
        <p:spPr>
          <a:xfrm>
            <a:off x="6217920" y="3502152"/>
            <a:ext cx="548640" cy="594360"/>
          </a:xfrm>
          <a:prstGeom prst="rect">
            <a:avLst/>
          </a:prstGeom>
          <a:noFill/>
          <a:ln/>
        </p:spPr>
        <p:txBody>
          <a:bodyPr wrap="square" rtlCol="0" anchor="ctr"/>
          <a:lstStyle/>
          <a:p>
            <a:pPr marL="0" indent="0" algn="ctr">
              <a:buNone/>
            </a:pPr>
            <a:r>
              <a:rPr lang="en-US" altLang="ko-KR" sz="1600" b="1" dirty="0">
                <a:solidFill>
                  <a:srgbClr val="DC2626"/>
                </a:solidFill>
                <a:latin typeface="Georgia" pitchFamily="34" charset="0"/>
                <a:ea typeface="Georgia" pitchFamily="34" charset="-122"/>
                <a:cs typeface="Georgia" pitchFamily="34" charset="-120"/>
              </a:rPr>
              <a:t>X</a:t>
            </a:r>
            <a:endParaRPr lang="en-US" altLang="ko-KR" sz="1600" dirty="0"/>
          </a:p>
        </p:txBody>
      </p:sp>
      <p:sp>
        <p:nvSpPr>
          <p:cNvPr id="31" name="Text 29"/>
          <p:cNvSpPr/>
          <p:nvPr/>
        </p:nvSpPr>
        <p:spPr>
          <a:xfrm>
            <a:off x="822960" y="3794760"/>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도메인 일치 필수</a:t>
            </a:r>
            <a:endParaRPr lang="en-US" sz="1000" dirty="0"/>
          </a:p>
        </p:txBody>
      </p:sp>
      <p:sp>
        <p:nvSpPr>
          <p:cNvPr id="32" name="Text 30"/>
          <p:cNvSpPr/>
          <p:nvPr/>
        </p:nvSpPr>
        <p:spPr>
          <a:xfrm>
            <a:off x="6858000" y="3502152"/>
            <a:ext cx="457200" cy="594360"/>
          </a:xfrm>
          <a:prstGeom prst="rect">
            <a:avLst/>
          </a:prstGeom>
          <a:noFill/>
          <a:ln/>
        </p:spPr>
        <p:txBody>
          <a:bodyPr wrap="square" rtlCol="0" anchor="ctr"/>
          <a:lstStyle/>
          <a:p>
            <a:pPr marL="0" indent="0" algn="ctr">
              <a:buNone/>
            </a:pPr>
            <a:r>
              <a:rPr lang="en-US" altLang="ko-KR" sz="1400" b="1" dirty="0">
                <a:solidFill>
                  <a:srgbClr val="DC2626"/>
                </a:solidFill>
                <a:latin typeface="Calibri" pitchFamily="34" charset="0"/>
                <a:ea typeface="Calibri" pitchFamily="34" charset="-122"/>
                <a:cs typeface="Calibri" pitchFamily="34" charset="-120"/>
              </a:rPr>
              <a:t>✗</a:t>
            </a:r>
            <a:endParaRPr lang="en-US" altLang="ko-KR" sz="1400" dirty="0"/>
          </a:p>
        </p:txBody>
      </p:sp>
      <p:sp>
        <p:nvSpPr>
          <p:cNvPr id="33" name="Shape 26">
            <a:extLst>
              <a:ext uri="{FF2B5EF4-FFF2-40B4-BE49-F238E27FC236}">
                <a16:creationId xmlns:a16="http://schemas.microsoft.com/office/drawing/2014/main" id="{977F9BC3-709A-F00B-95B5-B90FEED6FC28}"/>
              </a:ext>
            </a:extLst>
          </p:cNvPr>
          <p:cNvSpPr/>
          <p:nvPr/>
        </p:nvSpPr>
        <p:spPr>
          <a:xfrm>
            <a:off x="457200" y="4160520"/>
            <a:ext cx="8229600" cy="594360"/>
          </a:xfrm>
          <a:prstGeom prst="rect">
            <a:avLst/>
          </a:prstGeom>
          <a:solidFill>
            <a:srgbClr val="F0FDF4"/>
          </a:solidFill>
          <a:ln w="12700">
            <a:solidFill>
              <a:srgbClr val="22C55E"/>
            </a:solidFill>
            <a:prstDash val="solid"/>
          </a:ln>
        </p:spPr>
      </p:sp>
      <p:sp>
        <p:nvSpPr>
          <p:cNvPr id="34" name="Text 27">
            <a:extLst>
              <a:ext uri="{FF2B5EF4-FFF2-40B4-BE49-F238E27FC236}">
                <a16:creationId xmlns:a16="http://schemas.microsoft.com/office/drawing/2014/main" id="{3314B496-DEDA-C86A-5244-72588704ED5E}"/>
              </a:ext>
            </a:extLst>
          </p:cNvPr>
          <p:cNvSpPr/>
          <p:nvPr/>
        </p:nvSpPr>
        <p:spPr>
          <a:xfrm>
            <a:off x="640080" y="4160520"/>
            <a:ext cx="5303520" cy="320040"/>
          </a:xfrm>
          <a:prstGeom prst="rect">
            <a:avLst/>
          </a:prstGeom>
          <a:noFill/>
          <a:ln/>
        </p:spPr>
        <p:txBody>
          <a:bodyPr wrap="square" rtlCol="0" anchor="b"/>
          <a:lstStyle/>
          <a:p>
            <a:pPr marL="0" indent="0">
              <a:buNone/>
            </a:pPr>
            <a:r>
              <a:rPr lang="en-US" sz="1200" dirty="0">
                <a:solidFill>
                  <a:srgbClr val="1E293B"/>
                </a:solidFill>
                <a:latin typeface="Calibri" pitchFamily="34" charset="0"/>
                <a:ea typeface="Calibri" pitchFamily="34" charset="-122"/>
                <a:cs typeface="Calibri" pitchFamily="34" charset="-120"/>
              </a:rPr>
              <a:t>(F) 외래키와 대응 기본키는 도메인이 같아야 한다.</a:t>
            </a:r>
            <a:endParaRPr lang="en-US" sz="1200" dirty="0"/>
          </a:p>
        </p:txBody>
      </p:sp>
      <p:sp>
        <p:nvSpPr>
          <p:cNvPr id="35" name="Text 28">
            <a:extLst>
              <a:ext uri="{FF2B5EF4-FFF2-40B4-BE49-F238E27FC236}">
                <a16:creationId xmlns:a16="http://schemas.microsoft.com/office/drawing/2014/main" id="{ADEAC5C7-6079-5FB4-75C9-2EF73B127FD0}"/>
              </a:ext>
            </a:extLst>
          </p:cNvPr>
          <p:cNvSpPr/>
          <p:nvPr/>
        </p:nvSpPr>
        <p:spPr>
          <a:xfrm>
            <a:off x="6217920" y="4160520"/>
            <a:ext cx="548640" cy="594360"/>
          </a:xfrm>
          <a:prstGeom prst="rect">
            <a:avLst/>
          </a:prstGeom>
          <a:noFill/>
          <a:ln/>
        </p:spPr>
        <p:txBody>
          <a:bodyPr wrap="square" rtlCol="0" anchor="ctr"/>
          <a:lstStyle/>
          <a:p>
            <a:pPr marL="0" indent="0" algn="ctr">
              <a:buNone/>
            </a:pPr>
            <a:r>
              <a:rPr lang="en-US" sz="1600" b="1" dirty="0">
                <a:solidFill>
                  <a:srgbClr val="16A34A"/>
                </a:solidFill>
                <a:latin typeface="Georgia" pitchFamily="34" charset="0"/>
                <a:ea typeface="Georgia" pitchFamily="34" charset="-122"/>
                <a:cs typeface="Georgia" pitchFamily="34" charset="-120"/>
              </a:rPr>
              <a:t>O</a:t>
            </a:r>
            <a:endParaRPr lang="en-US" sz="1600" dirty="0"/>
          </a:p>
        </p:txBody>
      </p:sp>
      <p:sp>
        <p:nvSpPr>
          <p:cNvPr id="36" name="Text 29">
            <a:extLst>
              <a:ext uri="{FF2B5EF4-FFF2-40B4-BE49-F238E27FC236}">
                <a16:creationId xmlns:a16="http://schemas.microsoft.com/office/drawing/2014/main" id="{76A16EC1-2C16-2EF8-B310-BEF096B4B724}"/>
              </a:ext>
            </a:extLst>
          </p:cNvPr>
          <p:cNvSpPr/>
          <p:nvPr/>
        </p:nvSpPr>
        <p:spPr>
          <a:xfrm>
            <a:off x="822960" y="4453128"/>
            <a:ext cx="5120640" cy="274320"/>
          </a:xfrm>
          <a:prstGeom prst="rect">
            <a:avLst/>
          </a:prstGeom>
          <a:noFill/>
          <a:ln/>
        </p:spPr>
        <p:txBody>
          <a:bodyPr wrap="square" rtlCol="0" anchor="t"/>
          <a:lstStyle/>
          <a:p>
            <a:pPr marL="0" indent="0">
              <a:buNone/>
            </a:pPr>
            <a:r>
              <a:rPr lang="en-US" sz="1000" i="1" dirty="0">
                <a:solidFill>
                  <a:srgbClr val="64748B"/>
                </a:solidFill>
                <a:latin typeface="Calibri" pitchFamily="34" charset="0"/>
                <a:ea typeface="Calibri" pitchFamily="34" charset="-122"/>
                <a:cs typeface="Calibri" pitchFamily="34" charset="-120"/>
              </a:rPr>
              <a:t>도메인 일치 필수</a:t>
            </a:r>
            <a:endParaRPr lang="en-US" sz="1000" dirty="0"/>
          </a:p>
        </p:txBody>
      </p:sp>
      <p:sp>
        <p:nvSpPr>
          <p:cNvPr id="37" name="Text 30">
            <a:extLst>
              <a:ext uri="{FF2B5EF4-FFF2-40B4-BE49-F238E27FC236}">
                <a16:creationId xmlns:a16="http://schemas.microsoft.com/office/drawing/2014/main" id="{6A0B254E-61C7-D23E-27C7-66B1928DAB86}"/>
              </a:ext>
            </a:extLst>
          </p:cNvPr>
          <p:cNvSpPr/>
          <p:nvPr/>
        </p:nvSpPr>
        <p:spPr>
          <a:xfrm>
            <a:off x="6858000" y="4160520"/>
            <a:ext cx="457200" cy="594360"/>
          </a:xfrm>
          <a:prstGeom prst="rect">
            <a:avLst/>
          </a:prstGeom>
          <a:noFill/>
          <a:ln/>
        </p:spPr>
        <p:txBody>
          <a:bodyPr wrap="square" rtlCol="0" anchor="ctr"/>
          <a:lstStyle/>
          <a:p>
            <a:pPr marL="0" indent="0" algn="ctr">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22</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44 / 58</a:t>
            </a:r>
            <a:endParaRPr lang="en-US" sz="900" dirty="0"/>
          </a:p>
        </p:txBody>
      </p:sp>
      <p:sp>
        <p:nvSpPr>
          <p:cNvPr id="7" name="Shape 5"/>
          <p:cNvSpPr/>
          <p:nvPr/>
        </p:nvSpPr>
        <p:spPr>
          <a:xfrm>
            <a:off x="457200" y="777240"/>
            <a:ext cx="8229600" cy="3657600"/>
          </a:xfrm>
          <a:prstGeom prst="rect">
            <a:avLst/>
          </a:prstGeom>
          <a:solidFill>
            <a:srgbClr val="FFFFFF"/>
          </a:solidFill>
          <a:ln w="12700">
            <a:solidFill>
              <a:srgbClr val="CBD5E1"/>
            </a:solidFill>
            <a:prstDash val="solid"/>
          </a:ln>
        </p:spPr>
      </p:sp>
      <p:sp>
        <p:nvSpPr>
          <p:cNvPr id="8" name="Shape 6"/>
          <p:cNvSpPr/>
          <p:nvPr/>
        </p:nvSpPr>
        <p:spPr>
          <a:xfrm>
            <a:off x="594360" y="914400"/>
            <a:ext cx="347472" cy="347472"/>
          </a:xfrm>
          <a:prstGeom prst="ellipse">
            <a:avLst/>
          </a:prstGeom>
          <a:solidFill>
            <a:srgbClr val="2C5F8A"/>
          </a:solidFill>
          <a:ln/>
        </p:spPr>
      </p:sp>
      <p:sp>
        <p:nvSpPr>
          <p:cNvPr id="9" name="Text 7"/>
          <p:cNvSpPr/>
          <p:nvPr/>
        </p:nvSpPr>
        <p:spPr>
          <a:xfrm>
            <a:off x="594360" y="914400"/>
            <a:ext cx="347472" cy="34747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Q</a:t>
            </a:r>
            <a:endParaRPr lang="en-US" sz="1500" dirty="0"/>
          </a:p>
        </p:txBody>
      </p:sp>
      <p:sp>
        <p:nvSpPr>
          <p:cNvPr id="10" name="Text 8"/>
          <p:cNvSpPr/>
          <p:nvPr/>
        </p:nvSpPr>
        <p:spPr>
          <a:xfrm>
            <a:off x="1097280" y="868680"/>
            <a:ext cx="7406640" cy="3474720"/>
          </a:xfrm>
          <a:prstGeom prst="rect">
            <a:avLst/>
          </a:prstGeom>
          <a:noFill/>
          <a:ln/>
        </p:spPr>
        <p:txBody>
          <a:bodyPr wrap="square" rtlCol="0" anchor="t"/>
          <a:lstStyle/>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관계 데이터 모델의 무결성 제약조건에 대한 설명을 읽고 Ⓐ, Ⓑ를 채우시오.</a:t>
            </a:r>
            <a:endParaRPr lang="en-US" sz="1400" dirty="0"/>
          </a:p>
          <a:p>
            <a:pPr marL="0" indent="0">
              <a:lnSpc>
                <a:spcPct val="135000"/>
              </a:lnSpc>
              <a:buNone/>
            </a:pP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"기본키를 구성하는 모든 속성은 널 값을 가질 수 없다 → (Ⓐ)</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외래키는 참조할 수 없는 값을 가질 수 없다 → (Ⓑ)"</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22</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45 / 58</a:t>
            </a:r>
            <a:endParaRPr lang="en-US" sz="900" dirty="0"/>
          </a:p>
        </p:txBody>
      </p:sp>
      <p:sp>
        <p:nvSpPr>
          <p:cNvPr id="7" name="Text 5"/>
          <p:cNvSpPr/>
          <p:nvPr/>
        </p:nvSpPr>
        <p:spPr>
          <a:xfrm>
            <a:off x="457200" y="713232"/>
            <a:ext cx="8229600" cy="411480"/>
          </a:xfrm>
          <a:prstGeom prst="rect">
            <a:avLst/>
          </a:prstGeom>
          <a:noFill/>
          <a:ln/>
        </p:spPr>
        <p:txBody>
          <a:bodyPr wrap="square" anchor="ctr"/>
          <a:lstStyle/>
          <a:p>
            <a:pPr marL="0" lvl="0" indent="0">
              <a:buNone/>
              <a:defRPr/>
            </a:pPr>
            <a:r>
              <a:rPr lang="en-US" sz="1100" i="1">
                <a:solidFill>
                  <a:srgbClr val="64748B"/>
                </a:solidFill>
                <a:latin typeface="Calibri"/>
                <a:ea typeface="Calibri"/>
                <a:cs typeface="Calibri"/>
              </a:rPr>
              <a:t>관계 데이터 모델의 무결성 제약조건에 대한 설명을 읽고 Ⓐ, Ⓑ를 채우시오.</a:t>
            </a:r>
            <a:endParaRPr lang="en-US" sz="1100"/>
          </a:p>
        </p:txBody>
      </p:sp>
      <p:sp>
        <p:nvSpPr>
          <p:cNvPr id="8" name="Shape 6"/>
          <p:cNvSpPr/>
          <p:nvPr/>
        </p:nvSpPr>
        <p:spPr>
          <a:xfrm>
            <a:off x="457200" y="1234440"/>
            <a:ext cx="5029200" cy="3657600"/>
          </a:xfrm>
          <a:prstGeom prst="rect">
            <a:avLst/>
          </a:prstGeom>
          <a:solidFill>
            <a:srgbClr val="FFFFFF"/>
          </a:solidFill>
          <a:ln w="19050">
            <a:solidFill>
              <a:srgbClr val="1C7293"/>
            </a:solidFill>
            <a:prstDash val="solid"/>
          </a:ln>
        </p:spPr>
      </p:sp>
      <p:sp>
        <p:nvSpPr>
          <p:cNvPr id="9" name="Shape 7"/>
          <p:cNvSpPr/>
          <p:nvPr/>
        </p:nvSpPr>
        <p:spPr>
          <a:xfrm>
            <a:off x="457200" y="1234440"/>
            <a:ext cx="5029200" cy="365760"/>
          </a:xfrm>
          <a:prstGeom prst="rect">
            <a:avLst/>
          </a:prstGeom>
          <a:solidFill>
            <a:srgbClr val="1C7293"/>
          </a:solidFill>
          <a:ln/>
        </p:spPr>
      </p:sp>
      <p:sp>
        <p:nvSpPr>
          <p:cNvPr id="10" name="Text 8"/>
          <p:cNvSpPr/>
          <p:nvPr/>
        </p:nvSpPr>
        <p:spPr>
          <a:xfrm>
            <a:off x="640080" y="1252728"/>
            <a:ext cx="1828800" cy="329184"/>
          </a:xfrm>
          <a:prstGeom prst="rect">
            <a:avLst/>
          </a:prstGeom>
          <a:noFill/>
          <a:ln/>
        </p:spPr>
        <p:txBody>
          <a:bodyPr wrap="square"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해답</a:t>
            </a:r>
            <a:endParaRPr lang="en-US" sz="1300" dirty="0"/>
          </a:p>
        </p:txBody>
      </p:sp>
      <p:sp>
        <p:nvSpPr>
          <p:cNvPr id="11" name="Text 9"/>
          <p:cNvSpPr/>
          <p:nvPr/>
        </p:nvSpPr>
        <p:spPr>
          <a:xfrm>
            <a:off x="640080" y="1737360"/>
            <a:ext cx="4663440" cy="3017520"/>
          </a:xfrm>
          <a:prstGeom prst="rect">
            <a:avLst/>
          </a:prstGeom>
          <a:noFill/>
          <a:ln/>
        </p:spPr>
        <p:txBody>
          <a:bodyPr wrap="square" rtlCol="0" anchor="t"/>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개체 무결성 제약조건 (Entity Integrity Constraint)</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참조 무결성 제약조건 (Referential Integrity Constraint)</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개체 무결성: 기본키를 구성하는 모든 속성 → NULL 불가</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(기본키가 NULL이면 투플을 식별할 수 없으므로)</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참조 무결성: 외래키 값 → 참조되는 기본키에 존재하거나 NULL</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(존재하지 않는 값을 참조하면 데이터 모순 발생)</a:t>
            </a:r>
            <a:endParaRPr lang="en-US" sz="1150" dirty="0"/>
          </a:p>
        </p:txBody>
      </p:sp>
      <p:pic>
        <p:nvPicPr>
          <p:cNvPr id="12" name="Image 0" descr="/home/claude/ch5imgs/fig5_14_entity.jpeg"/>
          <p:cNvPicPr>
            <a:picLocks noChangeAspect="1"/>
          </p:cNvPicPr>
          <p:nvPr/>
        </p:nvPicPr>
        <p:blipFill rotWithShape="1">
          <a:blip r:embed="rId3"/>
          <a:srcRect/>
          <a:stretch>
            <a:fillRect/>
          </a:stretch>
        </p:blipFill>
        <p:spPr>
          <a:xfrm>
            <a:off x="5669280" y="1917452"/>
            <a:ext cx="3200400" cy="2017255"/>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23</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46 / 58</a:t>
            </a:r>
            <a:endParaRPr lang="en-US" sz="900" dirty="0"/>
          </a:p>
        </p:txBody>
      </p:sp>
      <p:sp>
        <p:nvSpPr>
          <p:cNvPr id="7" name="Shape 5"/>
          <p:cNvSpPr/>
          <p:nvPr/>
        </p:nvSpPr>
        <p:spPr>
          <a:xfrm>
            <a:off x="457200" y="777240"/>
            <a:ext cx="8229600" cy="3657600"/>
          </a:xfrm>
          <a:prstGeom prst="rect">
            <a:avLst/>
          </a:prstGeom>
          <a:solidFill>
            <a:srgbClr val="FFFFFF"/>
          </a:solidFill>
          <a:ln w="12700">
            <a:solidFill>
              <a:srgbClr val="CBD5E1"/>
            </a:solidFill>
            <a:prstDash val="solid"/>
          </a:ln>
        </p:spPr>
      </p:sp>
      <p:sp>
        <p:nvSpPr>
          <p:cNvPr id="8" name="Shape 6"/>
          <p:cNvSpPr/>
          <p:nvPr/>
        </p:nvSpPr>
        <p:spPr>
          <a:xfrm>
            <a:off x="594360" y="914400"/>
            <a:ext cx="347472" cy="347472"/>
          </a:xfrm>
          <a:prstGeom prst="ellipse">
            <a:avLst/>
          </a:prstGeom>
          <a:solidFill>
            <a:srgbClr val="2C5F8A"/>
          </a:solidFill>
          <a:ln/>
        </p:spPr>
      </p:sp>
      <p:sp>
        <p:nvSpPr>
          <p:cNvPr id="9" name="Text 7"/>
          <p:cNvSpPr/>
          <p:nvPr/>
        </p:nvSpPr>
        <p:spPr>
          <a:xfrm>
            <a:off x="594360" y="914400"/>
            <a:ext cx="347472" cy="34747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Q</a:t>
            </a:r>
            <a:endParaRPr lang="en-US" sz="1500" dirty="0"/>
          </a:p>
        </p:txBody>
      </p:sp>
      <p:sp>
        <p:nvSpPr>
          <p:cNvPr id="10" name="Text 8"/>
          <p:cNvSpPr/>
          <p:nvPr/>
        </p:nvSpPr>
        <p:spPr>
          <a:xfrm>
            <a:off x="1097280" y="868680"/>
            <a:ext cx="7406640" cy="3474720"/>
          </a:xfrm>
          <a:prstGeom prst="rect">
            <a:avLst/>
          </a:prstGeom>
          <a:noFill/>
          <a:ln/>
        </p:spPr>
        <p:txBody>
          <a:bodyPr wrap="square" rtlCol="0" anchor="t"/>
          <a:lstStyle/>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키에 대한 설명을 읽고 Ⓐ, Ⓑ, Ⓒ를 채우시오.</a:t>
            </a:r>
            <a:endParaRPr lang="en-US" sz="1400" dirty="0"/>
          </a:p>
          <a:p>
            <a:pPr marL="0" indent="0">
              <a:lnSpc>
                <a:spcPct val="135000"/>
              </a:lnSpc>
              <a:buNone/>
            </a:pP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"(Ⓐ)는 유일성을 만족하는 속성 또는 속성들의 집합이다.</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후보키는 유일성과 (Ⓑ)를 모두 만족하는 키이다.</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후보키 중 기본키로 선택되지 못한 키를 (Ⓒ)라 한다."</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23</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47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키에 대한 설명을 읽고 Ⓐ, Ⓑ, Ⓒ를 채우시오. ...</a:t>
            </a:r>
            <a:endParaRPr lang="en-US" sz="1100" dirty="0"/>
          </a:p>
        </p:txBody>
      </p:sp>
      <p:sp>
        <p:nvSpPr>
          <p:cNvPr id="8" name="Shape 6"/>
          <p:cNvSpPr/>
          <p:nvPr/>
        </p:nvSpPr>
        <p:spPr>
          <a:xfrm>
            <a:off x="457200" y="1234440"/>
            <a:ext cx="5029200" cy="3657600"/>
          </a:xfrm>
          <a:prstGeom prst="rect">
            <a:avLst/>
          </a:prstGeom>
          <a:solidFill>
            <a:srgbClr val="FFFFFF"/>
          </a:solidFill>
          <a:ln w="19050">
            <a:solidFill>
              <a:srgbClr val="1C7293"/>
            </a:solidFill>
            <a:prstDash val="solid"/>
          </a:ln>
        </p:spPr>
      </p:sp>
      <p:sp>
        <p:nvSpPr>
          <p:cNvPr id="9" name="Shape 7"/>
          <p:cNvSpPr/>
          <p:nvPr/>
        </p:nvSpPr>
        <p:spPr>
          <a:xfrm>
            <a:off x="457200" y="1234440"/>
            <a:ext cx="5029200" cy="365760"/>
          </a:xfrm>
          <a:prstGeom prst="rect">
            <a:avLst/>
          </a:prstGeom>
          <a:solidFill>
            <a:srgbClr val="1C7293"/>
          </a:solidFill>
          <a:ln/>
        </p:spPr>
      </p:sp>
      <p:sp>
        <p:nvSpPr>
          <p:cNvPr id="10" name="Text 8"/>
          <p:cNvSpPr/>
          <p:nvPr/>
        </p:nvSpPr>
        <p:spPr>
          <a:xfrm>
            <a:off x="640080" y="1252728"/>
            <a:ext cx="1828800" cy="329184"/>
          </a:xfrm>
          <a:prstGeom prst="rect">
            <a:avLst/>
          </a:prstGeom>
          <a:noFill/>
          <a:ln/>
        </p:spPr>
        <p:txBody>
          <a:bodyPr wrap="square"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해답</a:t>
            </a:r>
            <a:endParaRPr lang="en-US" sz="1300" dirty="0"/>
          </a:p>
        </p:txBody>
      </p:sp>
      <p:sp>
        <p:nvSpPr>
          <p:cNvPr id="11" name="Text 9"/>
          <p:cNvSpPr/>
          <p:nvPr/>
        </p:nvSpPr>
        <p:spPr>
          <a:xfrm>
            <a:off x="640080" y="1737360"/>
            <a:ext cx="4663440" cy="3017520"/>
          </a:xfrm>
          <a:prstGeom prst="rect">
            <a:avLst/>
          </a:prstGeom>
          <a:noFill/>
          <a:ln/>
        </p:spPr>
        <p:txBody>
          <a:bodyPr wrap="square" rtlCol="0" anchor="t"/>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슈퍼키 (Super Key)</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유일성만 만족하면 되는 가장 넓은 범위의 키</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최소성 (Minimality)</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불필요한 속성 없이 꼭 필요한 최소한의 속성만으로 구성</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대체키 (Alternate Key)</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후보키 중 기본키로 선택되지 못한 나머지 키</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포함 관계: 슈퍼키 ⊃ 후보키 ⊃ 기본키 | 대체키</a:t>
            </a:r>
            <a:endParaRPr lang="en-US" sz="1150" dirty="0"/>
          </a:p>
        </p:txBody>
      </p:sp>
      <p:pic>
        <p:nvPicPr>
          <p:cNvPr id="12" name="Image 0" descr="/home/claude/ch5imgs/fig5_8_key_relation.jpeg"/>
          <p:cNvPicPr>
            <a:picLocks noChangeAspect="1"/>
          </p:cNvPicPr>
          <p:nvPr/>
        </p:nvPicPr>
        <p:blipFill>
          <a:blip r:embed="rId3"/>
          <a:srcRect/>
          <a:stretch/>
        </p:blipFill>
        <p:spPr>
          <a:xfrm>
            <a:off x="5669280" y="1555845"/>
            <a:ext cx="3200400" cy="274047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24</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48 / 58</a:t>
            </a:r>
            <a:endParaRPr lang="en-US" sz="900" dirty="0"/>
          </a:p>
        </p:txBody>
      </p:sp>
      <p:sp>
        <p:nvSpPr>
          <p:cNvPr id="7" name="Shape 5"/>
          <p:cNvSpPr/>
          <p:nvPr/>
        </p:nvSpPr>
        <p:spPr>
          <a:xfrm>
            <a:off x="457200" y="777240"/>
            <a:ext cx="8229600" cy="3657600"/>
          </a:xfrm>
          <a:prstGeom prst="rect">
            <a:avLst/>
          </a:prstGeom>
          <a:solidFill>
            <a:srgbClr val="FFFFFF"/>
          </a:solidFill>
          <a:ln w="12700">
            <a:solidFill>
              <a:srgbClr val="CBD5E1"/>
            </a:solidFill>
            <a:prstDash val="solid"/>
          </a:ln>
        </p:spPr>
      </p:sp>
      <p:sp>
        <p:nvSpPr>
          <p:cNvPr id="8" name="Shape 6"/>
          <p:cNvSpPr/>
          <p:nvPr/>
        </p:nvSpPr>
        <p:spPr>
          <a:xfrm>
            <a:off x="594360" y="914400"/>
            <a:ext cx="347472" cy="347472"/>
          </a:xfrm>
          <a:prstGeom prst="ellipse">
            <a:avLst/>
          </a:prstGeom>
          <a:solidFill>
            <a:srgbClr val="2C5F8A"/>
          </a:solidFill>
          <a:ln/>
        </p:spPr>
      </p:sp>
      <p:sp>
        <p:nvSpPr>
          <p:cNvPr id="9" name="Text 7"/>
          <p:cNvSpPr/>
          <p:nvPr/>
        </p:nvSpPr>
        <p:spPr>
          <a:xfrm>
            <a:off x="594360" y="914400"/>
            <a:ext cx="347472" cy="34747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Q</a:t>
            </a:r>
            <a:endParaRPr lang="en-US" sz="1500" dirty="0"/>
          </a:p>
        </p:txBody>
      </p:sp>
      <p:sp>
        <p:nvSpPr>
          <p:cNvPr id="10" name="Text 8"/>
          <p:cNvSpPr/>
          <p:nvPr/>
        </p:nvSpPr>
        <p:spPr>
          <a:xfrm>
            <a:off x="1097280" y="868680"/>
            <a:ext cx="7406640" cy="3474720"/>
          </a:xfrm>
          <a:prstGeom prst="rect">
            <a:avLst/>
          </a:prstGeom>
          <a:noFill/>
          <a:ln/>
        </p:spPr>
        <p:txBody>
          <a:bodyPr wrap="square" rtlCol="0" anchor="t"/>
          <a:lstStyle/>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다음 사원 릴레이션에 대해 물음에 답하시오.</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사원(사원번호, 사원이름, 나이, 주소, 직급)에 3개 투플이 있을 때</a:t>
            </a:r>
            <a:endParaRPr lang="en-US" sz="1400" dirty="0"/>
          </a:p>
          <a:p>
            <a:pPr marL="0" indent="0">
              <a:lnSpc>
                <a:spcPct val="135000"/>
              </a:lnSpc>
              <a:buNone/>
            </a:pP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(1) 차수는?  (2) 카디널리티는?</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(3) 사원이름이 기본키로 부적합한 이유는?  (4) 기본키로 적합한 속성은?</a:t>
            </a:r>
            <a:endParaRPr lang="en-US" sz="1400" dirty="0"/>
          </a:p>
        </p:txBody>
      </p:sp>
      <p:pic>
        <p:nvPicPr>
          <p:cNvPr id="12" name="그림 11">
            <a:extLst>
              <a:ext uri="{FF2B5EF4-FFF2-40B4-BE49-F238E27FC236}">
                <a16:creationId xmlns:a16="http://schemas.microsoft.com/office/drawing/2014/main" id="{919DA41A-1405-099F-4A5D-BA436120BE86}"/>
              </a:ext>
            </a:extLst>
          </p:cNvPr>
          <p:cNvPicPr>
            <a:picLocks noChangeAspect="1"/>
          </p:cNvPicPr>
          <p:nvPr/>
        </p:nvPicPr>
        <p:blipFill>
          <a:blip r:embed="rId3"/>
          <a:stretch>
            <a:fillRect/>
          </a:stretch>
        </p:blipFill>
        <p:spPr>
          <a:xfrm>
            <a:off x="1919785" y="2606040"/>
            <a:ext cx="5086066" cy="1347478"/>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24</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49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다음 사원 릴레이션에 대해 물음에 답하시오. ...</a:t>
            </a:r>
            <a:endParaRPr lang="en-US" sz="1100" dirty="0"/>
          </a:p>
        </p:txBody>
      </p:sp>
      <p:sp>
        <p:nvSpPr>
          <p:cNvPr id="8" name="Shape 6"/>
          <p:cNvSpPr/>
          <p:nvPr/>
        </p:nvSpPr>
        <p:spPr>
          <a:xfrm>
            <a:off x="457200" y="1234440"/>
            <a:ext cx="8229600" cy="3657600"/>
          </a:xfrm>
          <a:prstGeom prst="rect">
            <a:avLst/>
          </a:prstGeom>
          <a:solidFill>
            <a:srgbClr val="FFFFFF"/>
          </a:solidFill>
          <a:ln w="19050">
            <a:solidFill>
              <a:srgbClr val="1C7293"/>
            </a:solidFill>
            <a:prstDash val="solid"/>
          </a:ln>
        </p:spPr>
      </p:sp>
      <p:sp>
        <p:nvSpPr>
          <p:cNvPr id="9" name="Shape 7"/>
          <p:cNvSpPr/>
          <p:nvPr/>
        </p:nvSpPr>
        <p:spPr>
          <a:xfrm>
            <a:off x="457200" y="1234440"/>
            <a:ext cx="8229600" cy="365760"/>
          </a:xfrm>
          <a:prstGeom prst="rect">
            <a:avLst/>
          </a:prstGeom>
          <a:solidFill>
            <a:srgbClr val="1C7293"/>
          </a:solidFill>
          <a:ln/>
        </p:spPr>
      </p:sp>
      <p:sp>
        <p:nvSpPr>
          <p:cNvPr id="10" name="Text 8"/>
          <p:cNvSpPr/>
          <p:nvPr/>
        </p:nvSpPr>
        <p:spPr>
          <a:xfrm>
            <a:off x="640080" y="1252728"/>
            <a:ext cx="1828800" cy="329184"/>
          </a:xfrm>
          <a:prstGeom prst="rect">
            <a:avLst/>
          </a:prstGeom>
          <a:noFill/>
          <a:ln/>
        </p:spPr>
        <p:txBody>
          <a:bodyPr wrap="square"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해답</a:t>
            </a:r>
            <a:endParaRPr lang="en-US" sz="1300" dirty="0"/>
          </a:p>
        </p:txBody>
      </p:sp>
      <p:sp>
        <p:nvSpPr>
          <p:cNvPr id="11" name="Text 9"/>
          <p:cNvSpPr/>
          <p:nvPr/>
        </p:nvSpPr>
        <p:spPr>
          <a:xfrm>
            <a:off x="640080" y="1737360"/>
            <a:ext cx="7863840" cy="3017520"/>
          </a:xfrm>
          <a:prstGeom prst="rect">
            <a:avLst/>
          </a:prstGeom>
          <a:noFill/>
          <a:ln/>
        </p:spPr>
        <p:txBody>
          <a:bodyPr wrap="square" rtlCol="0" anchor="t"/>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(1) 차수(degree): 5</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 속성이 5개 (사원번호, 사원이름, 나이, 주소, 직급)</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(2) 카디널리티(cardinality): 3</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 투플이 3개</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(3) 사원이름이 기본키로 부적합한 이유:</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동명이인이 존재할 수 있어 유일성을 보장하지 못합니다.</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(4) 기본키로 적합한 속성: 사원번호</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각 사원마다 고유하게 부여되어 유일성과 최소성을 모두 만족.</a:t>
            </a:r>
            <a:endParaRPr lang="en-US" sz="1150" dirty="0"/>
          </a:p>
        </p:txBody>
      </p:sp>
      <p:pic>
        <p:nvPicPr>
          <p:cNvPr id="13" name="그림 12">
            <a:extLst>
              <a:ext uri="{FF2B5EF4-FFF2-40B4-BE49-F238E27FC236}">
                <a16:creationId xmlns:a16="http://schemas.microsoft.com/office/drawing/2014/main" id="{80C1D41F-D53A-36E5-C627-5AFC319DDCCD}"/>
              </a:ext>
            </a:extLst>
          </p:cNvPr>
          <p:cNvPicPr>
            <a:picLocks noChangeAspect="1"/>
          </p:cNvPicPr>
          <p:nvPr/>
        </p:nvPicPr>
        <p:blipFill>
          <a:blip r:embed="rId3"/>
          <a:stretch>
            <a:fillRect/>
          </a:stretch>
        </p:blipFill>
        <p:spPr>
          <a:xfrm>
            <a:off x="4315422" y="1978869"/>
            <a:ext cx="4293012" cy="113736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25</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50 / 58</a:t>
            </a:r>
            <a:endParaRPr lang="en-US" sz="900" dirty="0"/>
          </a:p>
        </p:txBody>
      </p:sp>
      <p:sp>
        <p:nvSpPr>
          <p:cNvPr id="7" name="Shape 5"/>
          <p:cNvSpPr/>
          <p:nvPr/>
        </p:nvSpPr>
        <p:spPr>
          <a:xfrm>
            <a:off x="457200" y="777240"/>
            <a:ext cx="8229600" cy="3657600"/>
          </a:xfrm>
          <a:prstGeom prst="rect">
            <a:avLst/>
          </a:prstGeom>
          <a:solidFill>
            <a:srgbClr val="FFFFFF"/>
          </a:solidFill>
          <a:ln w="12700">
            <a:solidFill>
              <a:srgbClr val="CBD5E1"/>
            </a:solidFill>
            <a:prstDash val="solid"/>
          </a:ln>
        </p:spPr>
      </p:sp>
      <p:sp>
        <p:nvSpPr>
          <p:cNvPr id="8" name="Shape 6"/>
          <p:cNvSpPr/>
          <p:nvPr/>
        </p:nvSpPr>
        <p:spPr>
          <a:xfrm>
            <a:off x="594360" y="914400"/>
            <a:ext cx="347472" cy="347472"/>
          </a:xfrm>
          <a:prstGeom prst="ellipse">
            <a:avLst/>
          </a:prstGeom>
          <a:solidFill>
            <a:srgbClr val="2C5F8A"/>
          </a:solidFill>
          <a:ln/>
        </p:spPr>
      </p:sp>
      <p:sp>
        <p:nvSpPr>
          <p:cNvPr id="9" name="Text 7"/>
          <p:cNvSpPr/>
          <p:nvPr/>
        </p:nvSpPr>
        <p:spPr>
          <a:xfrm>
            <a:off x="594360" y="914400"/>
            <a:ext cx="347472" cy="34747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Q</a:t>
            </a:r>
            <a:endParaRPr lang="en-US" sz="1500" dirty="0"/>
          </a:p>
        </p:txBody>
      </p:sp>
      <p:sp>
        <p:nvSpPr>
          <p:cNvPr id="10" name="Text 8"/>
          <p:cNvSpPr/>
          <p:nvPr/>
        </p:nvSpPr>
        <p:spPr>
          <a:xfrm>
            <a:off x="1097280" y="868680"/>
            <a:ext cx="7406640" cy="3474720"/>
          </a:xfrm>
          <a:prstGeom prst="rect">
            <a:avLst/>
          </a:prstGeom>
          <a:noFill/>
          <a:ln/>
        </p:spPr>
        <p:txBody>
          <a:bodyPr wrap="square" rtlCol="0" anchor="t"/>
          <a:lstStyle/>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환자(환자번호, 환자이름, 나이, 담당의사)와</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의사(의사번호, 의사이름, 소속) </a:t>
            </a:r>
            <a:r>
              <a:rPr lang="en-US" sz="1400" dirty="0" err="1">
                <a:solidFill>
                  <a:srgbClr val="1E293B"/>
                </a:solidFill>
                <a:latin typeface="Calibri" pitchFamily="34" charset="0"/>
                <a:ea typeface="Calibri" pitchFamily="34" charset="-122"/>
                <a:cs typeface="Calibri" pitchFamily="34" charset="-120"/>
              </a:rPr>
              <a:t>릴레이션이</a:t>
            </a:r>
            <a:r>
              <a:rPr lang="en-US" sz="1400" dirty="0">
                <a:solidFill>
                  <a:srgbClr val="1E293B"/>
                </a:solidFill>
                <a:latin typeface="Calibri" pitchFamily="34" charset="0"/>
                <a:ea typeface="Calibri" pitchFamily="34" charset="-122"/>
                <a:cs typeface="Calibri" pitchFamily="34" charset="-120"/>
              </a:rPr>
              <a:t> </a:t>
            </a:r>
            <a:br>
              <a:rPr lang="en-US" sz="1400" dirty="0">
                <a:solidFill>
                  <a:srgbClr val="1E293B"/>
                </a:solidFill>
                <a:latin typeface="Calibri" pitchFamily="34" charset="0"/>
                <a:ea typeface="Calibri" pitchFamily="34" charset="-122"/>
                <a:cs typeface="Calibri" pitchFamily="34" charset="-120"/>
              </a:rPr>
            </a:br>
            <a:r>
              <a:rPr lang="en-US" sz="1400" dirty="0" err="1">
                <a:solidFill>
                  <a:srgbClr val="1E293B"/>
                </a:solidFill>
                <a:latin typeface="Calibri" pitchFamily="34" charset="0"/>
                <a:ea typeface="Calibri" pitchFamily="34" charset="-122"/>
                <a:cs typeface="Calibri" pitchFamily="34" charset="-120"/>
              </a:rPr>
              <a:t>있을</a:t>
            </a:r>
            <a:r>
              <a:rPr lang="en-US" sz="1400" dirty="0">
                <a:solidFill>
                  <a:srgbClr val="1E293B"/>
                </a:solidFill>
                <a:latin typeface="Calibri" pitchFamily="34" charset="0"/>
                <a:ea typeface="Calibri" pitchFamily="34" charset="-122"/>
                <a:cs typeface="Calibri" pitchFamily="34" charset="-120"/>
              </a:rPr>
              <a:t> 때:</a:t>
            </a:r>
            <a:endParaRPr lang="en-US" sz="1400" dirty="0"/>
          </a:p>
          <a:p>
            <a:pPr marL="0" indent="0">
              <a:lnSpc>
                <a:spcPct val="135000"/>
              </a:lnSpc>
              <a:buNone/>
            </a:pP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(1) 외래키를 포함한 릴레이션과 외래키는?</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(2) 참조 무결성 제약조건의 영향을 받는 연산을 모두 고르시오.</a:t>
            </a:r>
            <a:endParaRPr lang="en-US" sz="1400" dirty="0"/>
          </a:p>
        </p:txBody>
      </p:sp>
      <p:pic>
        <p:nvPicPr>
          <p:cNvPr id="12" name="그림 11">
            <a:extLst>
              <a:ext uri="{FF2B5EF4-FFF2-40B4-BE49-F238E27FC236}">
                <a16:creationId xmlns:a16="http://schemas.microsoft.com/office/drawing/2014/main" id="{E20F9D8E-BB9A-B4DE-C353-C6D62793F5C8}"/>
              </a:ext>
            </a:extLst>
          </p:cNvPr>
          <p:cNvPicPr>
            <a:picLocks noChangeAspect="1"/>
          </p:cNvPicPr>
          <p:nvPr/>
        </p:nvPicPr>
        <p:blipFill>
          <a:blip r:embed="rId3"/>
          <a:stretch>
            <a:fillRect/>
          </a:stretch>
        </p:blipFill>
        <p:spPr>
          <a:xfrm>
            <a:off x="4573365" y="1201003"/>
            <a:ext cx="3930555" cy="931005"/>
          </a:xfrm>
          <a:prstGeom prst="rect">
            <a:avLst/>
          </a:prstGeom>
        </p:spPr>
      </p:pic>
      <p:pic>
        <p:nvPicPr>
          <p:cNvPr id="16" name="그림 15">
            <a:extLst>
              <a:ext uri="{FF2B5EF4-FFF2-40B4-BE49-F238E27FC236}">
                <a16:creationId xmlns:a16="http://schemas.microsoft.com/office/drawing/2014/main" id="{F62F90F2-3D70-8189-4CA4-172276BC3EB0}"/>
              </a:ext>
            </a:extLst>
          </p:cNvPr>
          <p:cNvPicPr>
            <a:picLocks noChangeAspect="1"/>
          </p:cNvPicPr>
          <p:nvPr/>
        </p:nvPicPr>
        <p:blipFill>
          <a:blip r:embed="rId4"/>
          <a:stretch>
            <a:fillRect/>
          </a:stretch>
        </p:blipFill>
        <p:spPr>
          <a:xfrm>
            <a:off x="1123315" y="2370637"/>
            <a:ext cx="7354570" cy="195443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25</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51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환자(환자번호, 환자이름, 나이, 담당의사)와 ...</a:t>
            </a:r>
            <a:endParaRPr lang="en-US" sz="1100" dirty="0"/>
          </a:p>
        </p:txBody>
      </p:sp>
      <p:sp>
        <p:nvSpPr>
          <p:cNvPr id="8" name="Shape 6"/>
          <p:cNvSpPr/>
          <p:nvPr/>
        </p:nvSpPr>
        <p:spPr>
          <a:xfrm>
            <a:off x="457200" y="1234440"/>
            <a:ext cx="8229600" cy="3657600"/>
          </a:xfrm>
          <a:prstGeom prst="rect">
            <a:avLst/>
          </a:prstGeom>
          <a:solidFill>
            <a:srgbClr val="FFFFFF"/>
          </a:solidFill>
          <a:ln w="19050">
            <a:solidFill>
              <a:srgbClr val="1C7293"/>
            </a:solidFill>
            <a:prstDash val="solid"/>
          </a:ln>
        </p:spPr>
      </p:sp>
      <p:sp>
        <p:nvSpPr>
          <p:cNvPr id="9" name="Shape 7"/>
          <p:cNvSpPr/>
          <p:nvPr/>
        </p:nvSpPr>
        <p:spPr>
          <a:xfrm>
            <a:off x="457200" y="1234440"/>
            <a:ext cx="8229600" cy="365760"/>
          </a:xfrm>
          <a:prstGeom prst="rect">
            <a:avLst/>
          </a:prstGeom>
          <a:solidFill>
            <a:srgbClr val="1C7293"/>
          </a:solidFill>
          <a:ln/>
        </p:spPr>
      </p:sp>
      <p:sp>
        <p:nvSpPr>
          <p:cNvPr id="10" name="Text 8"/>
          <p:cNvSpPr/>
          <p:nvPr/>
        </p:nvSpPr>
        <p:spPr>
          <a:xfrm>
            <a:off x="640080" y="1252728"/>
            <a:ext cx="1828800" cy="329184"/>
          </a:xfrm>
          <a:prstGeom prst="rect">
            <a:avLst/>
          </a:prstGeom>
          <a:noFill/>
          <a:ln/>
        </p:spPr>
        <p:txBody>
          <a:bodyPr wrap="square"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해답</a:t>
            </a:r>
            <a:endParaRPr lang="en-US" sz="1300" dirty="0"/>
          </a:p>
        </p:txBody>
      </p:sp>
      <p:sp>
        <p:nvSpPr>
          <p:cNvPr id="11" name="Text 9"/>
          <p:cNvSpPr/>
          <p:nvPr/>
        </p:nvSpPr>
        <p:spPr>
          <a:xfrm>
            <a:off x="640080" y="1737360"/>
            <a:ext cx="7863840" cy="3017520"/>
          </a:xfrm>
          <a:prstGeom prst="rect">
            <a:avLst/>
          </a:prstGeom>
          <a:noFill/>
          <a:ln/>
        </p:spPr>
        <p:txBody>
          <a:bodyPr wrap="square" rtlCol="0" anchor="t"/>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(1) 외래키를 포함한 릴레이션: 환자 릴레이션</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외래키: 담당의사 (의사 릴레이션의 기본키 '의사번호'를 참조)</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(2) 참조 무결성 영향 연산:</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 환자 릴레이션에 새로운 투플 삽입 → 외래키 값 검증 필요</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 환자 릴레이션에서 담당의사 값 변경 → 외래키 값 검증 필요</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 의사 릴레이션에서 의사번호 값 변경 → 참조 중인 값 변경</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 의사 릴레이션에서 기존 투플 삭제 → 참조 중인 투플 삭제</a:t>
            </a:r>
            <a:endParaRPr lang="en-US" sz="1150" dirty="0"/>
          </a:p>
        </p:txBody>
      </p:sp>
      <p:pic>
        <p:nvPicPr>
          <p:cNvPr id="13" name="그림 12">
            <a:extLst>
              <a:ext uri="{FF2B5EF4-FFF2-40B4-BE49-F238E27FC236}">
                <a16:creationId xmlns:a16="http://schemas.microsoft.com/office/drawing/2014/main" id="{BB31BBA1-2FBA-B0D2-45EC-0975BA6CEF24}"/>
              </a:ext>
            </a:extLst>
          </p:cNvPr>
          <p:cNvPicPr>
            <a:picLocks noChangeAspect="1"/>
          </p:cNvPicPr>
          <p:nvPr/>
        </p:nvPicPr>
        <p:blipFill>
          <a:blip r:embed="rId3"/>
          <a:stretch>
            <a:fillRect/>
          </a:stretch>
        </p:blipFill>
        <p:spPr>
          <a:xfrm>
            <a:off x="687705" y="2430455"/>
            <a:ext cx="7184708" cy="1909293"/>
          </a:xfrm>
          <a:prstGeom prst="rect">
            <a:avLst/>
          </a:prstGeom>
        </p:spPr>
      </p:pic>
      <p:pic>
        <p:nvPicPr>
          <p:cNvPr id="15" name="그림 14">
            <a:extLst>
              <a:ext uri="{FF2B5EF4-FFF2-40B4-BE49-F238E27FC236}">
                <a16:creationId xmlns:a16="http://schemas.microsoft.com/office/drawing/2014/main" id="{11D8ABEE-6C38-C862-BB3D-D9D0F1E3154D}"/>
              </a:ext>
            </a:extLst>
          </p:cNvPr>
          <p:cNvPicPr>
            <a:picLocks noChangeAspect="1"/>
          </p:cNvPicPr>
          <p:nvPr/>
        </p:nvPicPr>
        <p:blipFill>
          <a:blip r:embed="rId4"/>
          <a:stretch>
            <a:fillRect/>
          </a:stretch>
        </p:blipFill>
        <p:spPr>
          <a:xfrm>
            <a:off x="5082996" y="3156462"/>
            <a:ext cx="2372056" cy="562053"/>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26</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52 / 58</a:t>
            </a:r>
            <a:endParaRPr lang="en-US" sz="900" dirty="0"/>
          </a:p>
        </p:txBody>
      </p:sp>
      <p:sp>
        <p:nvSpPr>
          <p:cNvPr id="7" name="Shape 5"/>
          <p:cNvSpPr/>
          <p:nvPr/>
        </p:nvSpPr>
        <p:spPr>
          <a:xfrm>
            <a:off x="457200" y="787377"/>
            <a:ext cx="8229600" cy="3657600"/>
          </a:xfrm>
          <a:prstGeom prst="rect">
            <a:avLst/>
          </a:prstGeom>
          <a:solidFill>
            <a:srgbClr val="FFFFFF"/>
          </a:solidFill>
          <a:ln w="12700">
            <a:solidFill>
              <a:srgbClr val="CBD5E1"/>
            </a:solidFill>
            <a:prstDash val="solid"/>
          </a:ln>
        </p:spPr>
      </p:sp>
      <p:sp>
        <p:nvSpPr>
          <p:cNvPr id="8" name="Shape 6"/>
          <p:cNvSpPr/>
          <p:nvPr/>
        </p:nvSpPr>
        <p:spPr>
          <a:xfrm>
            <a:off x="594360" y="914400"/>
            <a:ext cx="347472" cy="347472"/>
          </a:xfrm>
          <a:prstGeom prst="ellipse">
            <a:avLst/>
          </a:prstGeom>
          <a:solidFill>
            <a:srgbClr val="2C5F8A"/>
          </a:solidFill>
          <a:ln/>
        </p:spPr>
      </p:sp>
      <p:sp>
        <p:nvSpPr>
          <p:cNvPr id="9" name="Text 7"/>
          <p:cNvSpPr/>
          <p:nvPr/>
        </p:nvSpPr>
        <p:spPr>
          <a:xfrm>
            <a:off x="594360" y="914400"/>
            <a:ext cx="347472" cy="34747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Q</a:t>
            </a:r>
            <a:endParaRPr lang="en-US" sz="1500" dirty="0"/>
          </a:p>
        </p:txBody>
      </p:sp>
      <p:sp>
        <p:nvSpPr>
          <p:cNvPr id="10" name="Text 8"/>
          <p:cNvSpPr/>
          <p:nvPr/>
        </p:nvSpPr>
        <p:spPr>
          <a:xfrm>
            <a:off x="1097280" y="868680"/>
            <a:ext cx="7406640" cy="3474720"/>
          </a:xfrm>
          <a:prstGeom prst="rect">
            <a:avLst/>
          </a:prstGeom>
          <a:noFill/>
          <a:ln/>
        </p:spPr>
        <p:txBody>
          <a:bodyPr wrap="square" rtlCol="0" anchor="t"/>
          <a:lstStyle/>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참조 무결성 제약조건 만족 여부를 검사할 필요가 있는 항목에 ○표를 하시오.</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(외래키에 의해 참조되는 기본키 / 외래키 각각에 대해 Insert, Delete, Update)</a:t>
            </a:r>
            <a:endParaRPr lang="en-US" sz="1400" dirty="0"/>
          </a:p>
        </p:txBody>
      </p:sp>
      <p:pic>
        <p:nvPicPr>
          <p:cNvPr id="12" name="그림 11">
            <a:extLst>
              <a:ext uri="{FF2B5EF4-FFF2-40B4-BE49-F238E27FC236}">
                <a16:creationId xmlns:a16="http://schemas.microsoft.com/office/drawing/2014/main" id="{91477AE7-A0BA-063C-A07B-30A0106BCBFE}"/>
              </a:ext>
            </a:extLst>
          </p:cNvPr>
          <p:cNvPicPr>
            <a:picLocks noChangeAspect="1"/>
          </p:cNvPicPr>
          <p:nvPr/>
        </p:nvPicPr>
        <p:blipFill>
          <a:blip r:embed="rId3"/>
          <a:stretch>
            <a:fillRect/>
          </a:stretch>
        </p:blipFill>
        <p:spPr>
          <a:xfrm>
            <a:off x="1280159" y="1818832"/>
            <a:ext cx="5765341" cy="1129156"/>
          </a:xfrm>
          <a:prstGeom prst="rect">
            <a:avLst/>
          </a:prstGeom>
        </p:spPr>
      </p:pic>
      <p:pic>
        <p:nvPicPr>
          <p:cNvPr id="16" name="그림 15">
            <a:extLst>
              <a:ext uri="{FF2B5EF4-FFF2-40B4-BE49-F238E27FC236}">
                <a16:creationId xmlns:a16="http://schemas.microsoft.com/office/drawing/2014/main" id="{7149CAE2-E474-2391-F707-12114C47A446}"/>
              </a:ext>
            </a:extLst>
          </p:cNvPr>
          <p:cNvPicPr>
            <a:picLocks noChangeAspect="1"/>
          </p:cNvPicPr>
          <p:nvPr/>
        </p:nvPicPr>
        <p:blipFill>
          <a:blip r:embed="rId4"/>
          <a:stretch>
            <a:fillRect/>
          </a:stretch>
        </p:blipFill>
        <p:spPr>
          <a:xfrm>
            <a:off x="4305264" y="2571750"/>
            <a:ext cx="533472" cy="332162"/>
          </a:xfrm>
          <a:prstGeom prst="rect">
            <a:avLst/>
          </a:prstGeom>
        </p:spPr>
      </p:pic>
      <p:pic>
        <p:nvPicPr>
          <p:cNvPr id="17" name="그림 16">
            <a:extLst>
              <a:ext uri="{FF2B5EF4-FFF2-40B4-BE49-F238E27FC236}">
                <a16:creationId xmlns:a16="http://schemas.microsoft.com/office/drawing/2014/main" id="{FE71EFA0-90ED-DA9B-03D5-61DF346335DD}"/>
              </a:ext>
            </a:extLst>
          </p:cNvPr>
          <p:cNvPicPr>
            <a:picLocks noChangeAspect="1"/>
          </p:cNvPicPr>
          <p:nvPr/>
        </p:nvPicPr>
        <p:blipFill>
          <a:blip r:embed="rId4"/>
          <a:stretch>
            <a:fillRect/>
          </a:stretch>
        </p:blipFill>
        <p:spPr>
          <a:xfrm>
            <a:off x="5348252" y="2217329"/>
            <a:ext cx="533472" cy="332162"/>
          </a:xfrm>
          <a:prstGeom prst="rect">
            <a:avLst/>
          </a:prstGeom>
        </p:spPr>
      </p:pic>
      <p:pic>
        <p:nvPicPr>
          <p:cNvPr id="18" name="그림 17">
            <a:extLst>
              <a:ext uri="{FF2B5EF4-FFF2-40B4-BE49-F238E27FC236}">
                <a16:creationId xmlns:a16="http://schemas.microsoft.com/office/drawing/2014/main" id="{1E37C0C2-48F6-515F-3F0E-115B6664BE61}"/>
              </a:ext>
            </a:extLst>
          </p:cNvPr>
          <p:cNvPicPr>
            <a:picLocks noChangeAspect="1"/>
          </p:cNvPicPr>
          <p:nvPr/>
        </p:nvPicPr>
        <p:blipFill>
          <a:blip r:embed="rId4"/>
          <a:stretch>
            <a:fillRect/>
          </a:stretch>
        </p:blipFill>
        <p:spPr>
          <a:xfrm>
            <a:off x="6229196" y="2199237"/>
            <a:ext cx="533472" cy="332162"/>
          </a:xfrm>
          <a:prstGeom prst="rect">
            <a:avLst/>
          </a:prstGeom>
        </p:spPr>
      </p:pic>
      <p:pic>
        <p:nvPicPr>
          <p:cNvPr id="19" name="그림 18">
            <a:extLst>
              <a:ext uri="{FF2B5EF4-FFF2-40B4-BE49-F238E27FC236}">
                <a16:creationId xmlns:a16="http://schemas.microsoft.com/office/drawing/2014/main" id="{FB98A9A7-9F8C-9460-8041-F67E4465F6A2}"/>
              </a:ext>
            </a:extLst>
          </p:cNvPr>
          <p:cNvPicPr>
            <a:picLocks noChangeAspect="1"/>
          </p:cNvPicPr>
          <p:nvPr/>
        </p:nvPicPr>
        <p:blipFill>
          <a:blip r:embed="rId4"/>
          <a:stretch>
            <a:fillRect/>
          </a:stretch>
        </p:blipFill>
        <p:spPr>
          <a:xfrm>
            <a:off x="6235900" y="2579642"/>
            <a:ext cx="533472" cy="332162"/>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26</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53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참조 무결성 제약조건 만족 여부를 검사할 필요가 있는 항목에 ○표를 하시오. ...</a:t>
            </a:r>
            <a:endParaRPr lang="en-US" sz="1100" dirty="0"/>
          </a:p>
        </p:txBody>
      </p:sp>
      <p:sp>
        <p:nvSpPr>
          <p:cNvPr id="8" name="Shape 6"/>
          <p:cNvSpPr/>
          <p:nvPr/>
        </p:nvSpPr>
        <p:spPr>
          <a:xfrm>
            <a:off x="457200" y="1234440"/>
            <a:ext cx="8229600" cy="3657600"/>
          </a:xfrm>
          <a:prstGeom prst="rect">
            <a:avLst/>
          </a:prstGeom>
          <a:solidFill>
            <a:srgbClr val="FFFFFF"/>
          </a:solidFill>
          <a:ln w="19050">
            <a:solidFill>
              <a:srgbClr val="1C7293"/>
            </a:solidFill>
            <a:prstDash val="solid"/>
          </a:ln>
        </p:spPr>
      </p:sp>
      <p:sp>
        <p:nvSpPr>
          <p:cNvPr id="9" name="Shape 7"/>
          <p:cNvSpPr/>
          <p:nvPr/>
        </p:nvSpPr>
        <p:spPr>
          <a:xfrm>
            <a:off x="457200" y="1234440"/>
            <a:ext cx="8229600" cy="365760"/>
          </a:xfrm>
          <a:prstGeom prst="rect">
            <a:avLst/>
          </a:prstGeom>
          <a:solidFill>
            <a:srgbClr val="1C7293"/>
          </a:solidFill>
          <a:ln/>
        </p:spPr>
      </p:sp>
      <p:sp>
        <p:nvSpPr>
          <p:cNvPr id="10" name="Text 8"/>
          <p:cNvSpPr/>
          <p:nvPr/>
        </p:nvSpPr>
        <p:spPr>
          <a:xfrm>
            <a:off x="640080" y="1252728"/>
            <a:ext cx="1828800" cy="329184"/>
          </a:xfrm>
          <a:prstGeom prst="rect">
            <a:avLst/>
          </a:prstGeom>
          <a:noFill/>
          <a:ln/>
        </p:spPr>
        <p:txBody>
          <a:bodyPr wrap="square"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해답</a:t>
            </a:r>
            <a:endParaRPr lang="en-US" sz="1300" dirty="0"/>
          </a:p>
        </p:txBody>
      </p:sp>
      <p:sp>
        <p:nvSpPr>
          <p:cNvPr id="11" name="Text 9"/>
          <p:cNvSpPr/>
          <p:nvPr/>
        </p:nvSpPr>
        <p:spPr>
          <a:xfrm>
            <a:off x="640080" y="1737360"/>
            <a:ext cx="7863840" cy="3017520"/>
          </a:xfrm>
          <a:prstGeom prst="rect">
            <a:avLst/>
          </a:prstGeom>
          <a:noFill/>
          <a:ln/>
        </p:spPr>
        <p:txBody>
          <a:bodyPr wrap="square" rtlCol="0" anchor="t"/>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Insert     Delete     Update</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외래키에 의해</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참조되는 기본키                       ○             ○</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외래키                 ○                              ○</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기본키의 Delete/Update: 참조 관계가 깨질 수 있어 검사 필요</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외래키의 Insert/Update: 존재하지 않는 값을 참조할 수 있어 검사</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외래키의 Delete: 참조를 제거하는 것 → 검사 불필요</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기본키의 Insert: 참조 대상이 추가됨 → 검사 불필요</a:t>
            </a:r>
            <a:endParaRPr lang="en-US" sz="1150" dirty="0"/>
          </a:p>
        </p:txBody>
      </p:sp>
      <p:pic>
        <p:nvPicPr>
          <p:cNvPr id="12" name="그림 11">
            <a:extLst>
              <a:ext uri="{FF2B5EF4-FFF2-40B4-BE49-F238E27FC236}">
                <a16:creationId xmlns:a16="http://schemas.microsoft.com/office/drawing/2014/main" id="{289ECA3A-FAC5-41E6-3C52-A16AC1976EBE}"/>
              </a:ext>
            </a:extLst>
          </p:cNvPr>
          <p:cNvPicPr>
            <a:picLocks noChangeAspect="1"/>
          </p:cNvPicPr>
          <p:nvPr/>
        </p:nvPicPr>
        <p:blipFill>
          <a:blip r:embed="rId3"/>
          <a:stretch>
            <a:fillRect/>
          </a:stretch>
        </p:blipFill>
        <p:spPr>
          <a:xfrm>
            <a:off x="640080" y="1818832"/>
            <a:ext cx="5765341" cy="1129156"/>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27</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54 / 58</a:t>
            </a:r>
            <a:endParaRPr lang="en-US" sz="900" dirty="0"/>
          </a:p>
        </p:txBody>
      </p:sp>
      <p:sp>
        <p:nvSpPr>
          <p:cNvPr id="7" name="Shape 5"/>
          <p:cNvSpPr/>
          <p:nvPr/>
        </p:nvSpPr>
        <p:spPr>
          <a:xfrm>
            <a:off x="457200" y="777240"/>
            <a:ext cx="8229600" cy="3657600"/>
          </a:xfrm>
          <a:prstGeom prst="rect">
            <a:avLst/>
          </a:prstGeom>
          <a:solidFill>
            <a:srgbClr val="FFFFFF"/>
          </a:solidFill>
          <a:ln w="12700">
            <a:solidFill>
              <a:srgbClr val="CBD5E1"/>
            </a:solidFill>
            <a:prstDash val="solid"/>
          </a:ln>
        </p:spPr>
      </p:sp>
      <p:sp>
        <p:nvSpPr>
          <p:cNvPr id="8" name="Shape 6"/>
          <p:cNvSpPr/>
          <p:nvPr/>
        </p:nvSpPr>
        <p:spPr>
          <a:xfrm>
            <a:off x="594360" y="914400"/>
            <a:ext cx="347472" cy="347472"/>
          </a:xfrm>
          <a:prstGeom prst="ellipse">
            <a:avLst/>
          </a:prstGeom>
          <a:solidFill>
            <a:srgbClr val="2C5F8A"/>
          </a:solidFill>
          <a:ln/>
        </p:spPr>
      </p:sp>
      <p:sp>
        <p:nvSpPr>
          <p:cNvPr id="9" name="Text 7"/>
          <p:cNvSpPr/>
          <p:nvPr/>
        </p:nvSpPr>
        <p:spPr>
          <a:xfrm>
            <a:off x="594360" y="914400"/>
            <a:ext cx="347472" cy="34747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Q</a:t>
            </a:r>
            <a:endParaRPr lang="en-US" sz="1500" dirty="0"/>
          </a:p>
        </p:txBody>
      </p:sp>
      <p:sp>
        <p:nvSpPr>
          <p:cNvPr id="10" name="Text 8"/>
          <p:cNvSpPr/>
          <p:nvPr/>
        </p:nvSpPr>
        <p:spPr>
          <a:xfrm>
            <a:off x="1097280" y="868680"/>
            <a:ext cx="7406640" cy="3474720"/>
          </a:xfrm>
          <a:prstGeom prst="rect">
            <a:avLst/>
          </a:prstGeom>
          <a:noFill/>
          <a:ln/>
        </p:spPr>
        <p:txBody>
          <a:bodyPr wrap="square" rtlCol="0" anchor="t"/>
          <a:lstStyle/>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A, B, C 속성으로 구성된 릴레이션에서 A 속성의 도메인은 2개 값,</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B 속성의 도메인은 3개 값, C 속성의 도메인은 4개 값을 갖는다면</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이 릴레이션에 삽입될 수 있는 투플의 최대 개수는?</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27</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55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A, B, C 속성으로 구성된 릴레이션에서 A 속성의 도메인은 2개 값, ...</a:t>
            </a:r>
            <a:endParaRPr lang="en-US" sz="1100" dirty="0"/>
          </a:p>
        </p:txBody>
      </p:sp>
      <p:sp>
        <p:nvSpPr>
          <p:cNvPr id="8" name="Shape 6"/>
          <p:cNvSpPr/>
          <p:nvPr/>
        </p:nvSpPr>
        <p:spPr>
          <a:xfrm>
            <a:off x="457200" y="1234440"/>
            <a:ext cx="8229600" cy="3657600"/>
          </a:xfrm>
          <a:prstGeom prst="rect">
            <a:avLst/>
          </a:prstGeom>
          <a:solidFill>
            <a:srgbClr val="FFFFFF"/>
          </a:solidFill>
          <a:ln w="19050">
            <a:solidFill>
              <a:srgbClr val="1C7293"/>
            </a:solidFill>
            <a:prstDash val="solid"/>
          </a:ln>
        </p:spPr>
      </p:sp>
      <p:sp>
        <p:nvSpPr>
          <p:cNvPr id="9" name="Shape 7"/>
          <p:cNvSpPr/>
          <p:nvPr/>
        </p:nvSpPr>
        <p:spPr>
          <a:xfrm>
            <a:off x="457200" y="1234440"/>
            <a:ext cx="8229600" cy="365760"/>
          </a:xfrm>
          <a:prstGeom prst="rect">
            <a:avLst/>
          </a:prstGeom>
          <a:solidFill>
            <a:srgbClr val="1C7293"/>
          </a:solidFill>
          <a:ln/>
        </p:spPr>
      </p:sp>
      <p:sp>
        <p:nvSpPr>
          <p:cNvPr id="10" name="Text 8"/>
          <p:cNvSpPr/>
          <p:nvPr/>
        </p:nvSpPr>
        <p:spPr>
          <a:xfrm>
            <a:off x="640080" y="1252728"/>
            <a:ext cx="1828800" cy="329184"/>
          </a:xfrm>
          <a:prstGeom prst="rect">
            <a:avLst/>
          </a:prstGeom>
          <a:noFill/>
          <a:ln/>
        </p:spPr>
        <p:txBody>
          <a:bodyPr wrap="square"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해답</a:t>
            </a:r>
            <a:endParaRPr lang="en-US" sz="1300" dirty="0"/>
          </a:p>
        </p:txBody>
      </p:sp>
      <p:sp>
        <p:nvSpPr>
          <p:cNvPr id="11" name="Text 9"/>
          <p:cNvSpPr/>
          <p:nvPr/>
        </p:nvSpPr>
        <p:spPr>
          <a:xfrm>
            <a:off x="640080" y="1737360"/>
            <a:ext cx="7863840" cy="3017520"/>
          </a:xfrm>
          <a:prstGeom prst="rect">
            <a:avLst/>
          </a:prstGeom>
          <a:noFill/>
          <a:ln/>
        </p:spPr>
        <p:txBody>
          <a:bodyPr wrap="square" rtlCol="0" anchor="t"/>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정답: 24개</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계산: 2 × 3 × 4 = 24</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릴레이션에는 동일한 투플이 존재할 수 없으므로(투플의 유일성),</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가능한 투플의 최대 개수는 각 속성의 도메인 크기를 모두 곱한 값.</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A가 취할 수 있는 값 2개</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B가 취할 수 있는 값 3개</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C가 취할 수 있는 값 4개</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총 24가지 서로 다른 조합이 가능</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C7293"/>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28</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dirty="0">
                <a:solidFill>
                  <a:srgbClr val="94A3B8"/>
                </a:solidFill>
                <a:latin typeface="Calibri" pitchFamily="34" charset="0"/>
                <a:ea typeface="Calibri" pitchFamily="34" charset="-122"/>
                <a:cs typeface="Calibri" pitchFamily="34" charset="-120"/>
              </a:rPr>
              <a:t>문제</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56 / 58</a:t>
            </a:r>
            <a:endParaRPr lang="en-US" sz="900" dirty="0"/>
          </a:p>
        </p:txBody>
      </p:sp>
      <p:sp>
        <p:nvSpPr>
          <p:cNvPr id="7" name="Shape 5"/>
          <p:cNvSpPr/>
          <p:nvPr/>
        </p:nvSpPr>
        <p:spPr>
          <a:xfrm>
            <a:off x="457200" y="777240"/>
            <a:ext cx="8229600" cy="3657600"/>
          </a:xfrm>
          <a:prstGeom prst="rect">
            <a:avLst/>
          </a:prstGeom>
          <a:solidFill>
            <a:srgbClr val="FFFFFF"/>
          </a:solidFill>
          <a:ln w="12700">
            <a:solidFill>
              <a:srgbClr val="CBD5E1"/>
            </a:solidFill>
            <a:prstDash val="solid"/>
          </a:ln>
        </p:spPr>
      </p:sp>
      <p:sp>
        <p:nvSpPr>
          <p:cNvPr id="8" name="Shape 6"/>
          <p:cNvSpPr/>
          <p:nvPr/>
        </p:nvSpPr>
        <p:spPr>
          <a:xfrm>
            <a:off x="594360" y="914400"/>
            <a:ext cx="347472" cy="347472"/>
          </a:xfrm>
          <a:prstGeom prst="ellipse">
            <a:avLst/>
          </a:prstGeom>
          <a:solidFill>
            <a:srgbClr val="2C5F8A"/>
          </a:solidFill>
          <a:ln/>
        </p:spPr>
      </p:sp>
      <p:sp>
        <p:nvSpPr>
          <p:cNvPr id="9" name="Text 7"/>
          <p:cNvSpPr/>
          <p:nvPr/>
        </p:nvSpPr>
        <p:spPr>
          <a:xfrm>
            <a:off x="594360" y="914400"/>
            <a:ext cx="347472" cy="34747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Q</a:t>
            </a:r>
            <a:endParaRPr lang="en-US" sz="1500" dirty="0"/>
          </a:p>
        </p:txBody>
      </p:sp>
      <p:sp>
        <p:nvSpPr>
          <p:cNvPr id="10" name="Text 8"/>
          <p:cNvSpPr/>
          <p:nvPr/>
        </p:nvSpPr>
        <p:spPr>
          <a:xfrm>
            <a:off x="1097280" y="868680"/>
            <a:ext cx="7406640" cy="3474720"/>
          </a:xfrm>
          <a:prstGeom prst="rect">
            <a:avLst/>
          </a:prstGeom>
          <a:noFill/>
          <a:ln/>
        </p:spPr>
        <p:txBody>
          <a:bodyPr wrap="square" rtlCol="0" anchor="t"/>
          <a:lstStyle/>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학생(학번, 이름, 학과), 교수(교수ID, 이름, 학과),</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지도(지도교수ID, 참여학생, 내용), 멘토링(멘토, 멘티, 내용)</a:t>
            </a:r>
            <a:endParaRPr lang="en-US" sz="1400" dirty="0"/>
          </a:p>
          <a:p>
            <a:pPr marL="0" indent="0">
              <a:lnSpc>
                <a:spcPct val="135000"/>
              </a:lnSpc>
              <a:buNone/>
            </a:pPr>
            <a:r>
              <a:rPr lang="en-US" sz="1400" dirty="0">
                <a:solidFill>
                  <a:srgbClr val="1E293B"/>
                </a:solidFill>
                <a:latin typeface="Calibri" pitchFamily="34" charset="0"/>
                <a:ea typeface="Calibri" pitchFamily="34" charset="-122"/>
                <a:cs typeface="Calibri" pitchFamily="34" charset="-120"/>
              </a:rPr>
              <a:t>릴레이션에서 외래키로 선언할 수 있는 속성을 모두 나열하시오.</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A838"/>
          </a:solidFill>
          <a:ln/>
        </p:spPr>
      </p:sp>
      <p:sp>
        <p:nvSpPr>
          <p:cNvPr id="3" name="Shape 1"/>
          <p:cNvSpPr/>
          <p:nvPr/>
        </p:nvSpPr>
        <p:spPr>
          <a:xfrm>
            <a:off x="109728" y="0"/>
            <a:ext cx="9034272" cy="594360"/>
          </a:xfrm>
          <a:prstGeom prst="rect">
            <a:avLst/>
          </a:prstGeom>
          <a:solidFill>
            <a:srgbClr val="1A2744"/>
          </a:solidFill>
          <a:ln/>
        </p:spPr>
      </p:sp>
      <p:sp>
        <p:nvSpPr>
          <p:cNvPr id="4" name="Text 2"/>
          <p:cNvSpPr/>
          <p:nvPr/>
        </p:nvSpPr>
        <p:spPr>
          <a:xfrm>
            <a:off x="365760" y="45720"/>
            <a:ext cx="1828800" cy="502920"/>
          </a:xfrm>
          <a:prstGeom prst="rect">
            <a:avLst/>
          </a:prstGeom>
          <a:noFill/>
          <a:ln/>
        </p:spPr>
        <p:txBody>
          <a:bodyPr wrap="square" rtlCol="0" anchor="ctr"/>
          <a:lstStyle/>
          <a:p>
            <a:pPr marL="0" indent="0">
              <a:buNone/>
            </a:pPr>
            <a:r>
              <a:rPr lang="en-US" sz="1800" b="1" dirty="0">
                <a:solidFill>
                  <a:srgbClr val="E8A838"/>
                </a:solidFill>
                <a:latin typeface="Georgia" pitchFamily="34" charset="0"/>
                <a:ea typeface="Georgia" pitchFamily="34" charset="-122"/>
                <a:cs typeface="Georgia" pitchFamily="34" charset="-120"/>
              </a:rPr>
              <a:t>문제 28</a:t>
            </a:r>
            <a:endParaRPr lang="en-US" sz="1800" dirty="0"/>
          </a:p>
        </p:txBody>
      </p:sp>
      <p:sp>
        <p:nvSpPr>
          <p:cNvPr id="5" name="Text 3"/>
          <p:cNvSpPr/>
          <p:nvPr/>
        </p:nvSpPr>
        <p:spPr>
          <a:xfrm>
            <a:off x="6858000" y="91440"/>
            <a:ext cx="2011680" cy="411480"/>
          </a:xfrm>
          <a:prstGeom prst="rect">
            <a:avLst/>
          </a:prstGeom>
          <a:noFill/>
          <a:ln/>
        </p:spPr>
        <p:txBody>
          <a:bodyPr wrap="square" rtlCol="0" anchor="ctr"/>
          <a:lstStyle/>
          <a:p>
            <a:pPr marL="0" indent="0" algn="r">
              <a:buNone/>
            </a:pPr>
            <a:r>
              <a:rPr lang="en-US" sz="1300" b="1" dirty="0">
                <a:solidFill>
                  <a:srgbClr val="6EE7B7"/>
                </a:solidFill>
                <a:latin typeface="Calibri" pitchFamily="34" charset="0"/>
                <a:ea typeface="Calibri" pitchFamily="34" charset="-122"/>
                <a:cs typeface="Calibri" pitchFamily="34" charset="-120"/>
              </a:rPr>
              <a:t>정답 해설</a:t>
            </a:r>
            <a:endParaRPr lang="en-US" sz="1300" dirty="0"/>
          </a:p>
        </p:txBody>
      </p:sp>
      <p:sp>
        <p:nvSpPr>
          <p:cNvPr id="6" name="Text 4"/>
          <p:cNvSpPr/>
          <p:nvPr/>
        </p:nvSpPr>
        <p:spPr>
          <a:xfrm>
            <a:off x="8229600" y="4800600"/>
            <a:ext cx="731520" cy="27432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57 / 58</a:t>
            </a:r>
            <a:endParaRPr lang="en-US" sz="900" dirty="0"/>
          </a:p>
        </p:txBody>
      </p:sp>
      <p:sp>
        <p:nvSpPr>
          <p:cNvPr id="7" name="Text 5"/>
          <p:cNvSpPr/>
          <p:nvPr/>
        </p:nvSpPr>
        <p:spPr>
          <a:xfrm>
            <a:off x="457200" y="713232"/>
            <a:ext cx="8229600" cy="411480"/>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학생(학번, 이름, 학과), 교수(교수ID, 이름, 학과), ...</a:t>
            </a:r>
            <a:endParaRPr lang="en-US" sz="1100" dirty="0"/>
          </a:p>
        </p:txBody>
      </p:sp>
      <p:sp>
        <p:nvSpPr>
          <p:cNvPr id="8" name="Shape 6"/>
          <p:cNvSpPr/>
          <p:nvPr/>
        </p:nvSpPr>
        <p:spPr>
          <a:xfrm>
            <a:off x="457200" y="1234440"/>
            <a:ext cx="5029200" cy="3657600"/>
          </a:xfrm>
          <a:prstGeom prst="rect">
            <a:avLst/>
          </a:prstGeom>
          <a:solidFill>
            <a:srgbClr val="FFFFFF"/>
          </a:solidFill>
          <a:ln w="19050">
            <a:solidFill>
              <a:srgbClr val="1C7293"/>
            </a:solidFill>
            <a:prstDash val="solid"/>
          </a:ln>
        </p:spPr>
      </p:sp>
      <p:sp>
        <p:nvSpPr>
          <p:cNvPr id="9" name="Shape 7"/>
          <p:cNvSpPr/>
          <p:nvPr/>
        </p:nvSpPr>
        <p:spPr>
          <a:xfrm>
            <a:off x="457200" y="1234440"/>
            <a:ext cx="5029200" cy="365760"/>
          </a:xfrm>
          <a:prstGeom prst="rect">
            <a:avLst/>
          </a:prstGeom>
          <a:solidFill>
            <a:srgbClr val="1C7293"/>
          </a:solidFill>
          <a:ln/>
        </p:spPr>
      </p:sp>
      <p:sp>
        <p:nvSpPr>
          <p:cNvPr id="10" name="Text 8"/>
          <p:cNvSpPr/>
          <p:nvPr/>
        </p:nvSpPr>
        <p:spPr>
          <a:xfrm>
            <a:off x="640080" y="1252728"/>
            <a:ext cx="1828800" cy="329184"/>
          </a:xfrm>
          <a:prstGeom prst="rect">
            <a:avLst/>
          </a:prstGeom>
          <a:noFill/>
          <a:ln/>
        </p:spPr>
        <p:txBody>
          <a:bodyPr wrap="square"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해답</a:t>
            </a:r>
            <a:endParaRPr lang="en-US" sz="1300" dirty="0"/>
          </a:p>
        </p:txBody>
      </p:sp>
      <p:sp>
        <p:nvSpPr>
          <p:cNvPr id="11" name="Text 9"/>
          <p:cNvSpPr/>
          <p:nvPr/>
        </p:nvSpPr>
        <p:spPr>
          <a:xfrm>
            <a:off x="640080" y="1737360"/>
            <a:ext cx="4663440" cy="3017520"/>
          </a:xfrm>
          <a:prstGeom prst="rect">
            <a:avLst/>
          </a:prstGeom>
          <a:noFill/>
          <a:ln/>
        </p:spPr>
        <p:txBody>
          <a:bodyPr wrap="square" rtlCol="0" anchor="t"/>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외래키로 선언할 수 있는 속성 (총 4개):</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지도.지도교수ID → 교수 릴레이션의 교수ID를 참조</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지도.참여학생 → 학생 릴레이션의 학번을 참조</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멘토링.멘토 → 학생 릴레이션의 학번을 참조</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 멘토링.멘티 → 학생 릴레이션의 학번을 참조</a:t>
            </a:r>
            <a:endParaRPr lang="en-US" sz="1150" dirty="0"/>
          </a:p>
          <a:p>
            <a:pPr marL="0" indent="0">
              <a:lnSpc>
                <a:spcPct val="130000"/>
              </a:lnSpc>
              <a:buNone/>
            </a:pP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지도교수ID와 참여학생은 각각 교수, 학생 릴레이션을 참조하며,</a:t>
            </a:r>
            <a:endParaRPr lang="en-US" sz="1150" dirty="0"/>
          </a:p>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멘토와 멘티는 모두 학생 릴레이션의 학번을 참조합니다.</a:t>
            </a:r>
            <a:endParaRPr lang="en-US" sz="1150" dirty="0"/>
          </a:p>
        </p:txBody>
      </p:sp>
      <p:pic>
        <p:nvPicPr>
          <p:cNvPr id="12" name="Image 0" descr="/home/claude/ch5imgs/fig5_9_schema.jpeg"/>
          <p:cNvPicPr>
            <a:picLocks noChangeAspect="1"/>
          </p:cNvPicPr>
          <p:nvPr/>
        </p:nvPicPr>
        <p:blipFill>
          <a:blip r:embed="rId3"/>
          <a:srcRect/>
          <a:stretch/>
        </p:blipFill>
        <p:spPr>
          <a:xfrm>
            <a:off x="5669280" y="2081213"/>
            <a:ext cx="3200400" cy="1689734"/>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1828800"/>
            <a:ext cx="9144000" cy="1645920"/>
          </a:xfrm>
          <a:prstGeom prst="rect">
            <a:avLst/>
          </a:prstGeom>
          <a:solidFill>
            <a:srgbClr val="1C7293"/>
          </a:solidFill>
          <a:ln/>
        </p:spPr>
      </p:sp>
      <p:sp>
        <p:nvSpPr>
          <p:cNvPr id="3" name="Text 1"/>
          <p:cNvSpPr/>
          <p:nvPr/>
        </p:nvSpPr>
        <p:spPr>
          <a:xfrm>
            <a:off x="914400" y="1965960"/>
            <a:ext cx="7315200" cy="640080"/>
          </a:xfrm>
          <a:prstGeom prst="rect">
            <a:avLst/>
          </a:prstGeom>
          <a:noFill/>
          <a:ln/>
        </p:spPr>
        <p:txBody>
          <a:bodyPr wrap="square" rtlCol="0" anchor="ctr"/>
          <a:lstStyle/>
          <a:p>
            <a:pPr marL="0" indent="0" algn="ctr">
              <a:buNone/>
            </a:pPr>
            <a:r>
              <a:rPr lang="en-US" sz="3200" b="1" dirty="0">
                <a:solidFill>
                  <a:srgbClr val="FFFFFF"/>
                </a:solidFill>
                <a:latin typeface="Georgia" pitchFamily="34" charset="0"/>
                <a:ea typeface="Georgia" pitchFamily="34" charset="-122"/>
                <a:cs typeface="Georgia" pitchFamily="34" charset="-120"/>
              </a:rPr>
              <a:t>수고하셨습니다!</a:t>
            </a:r>
            <a:endParaRPr lang="en-US" sz="3200" dirty="0"/>
          </a:p>
        </p:txBody>
      </p:sp>
      <p:sp>
        <p:nvSpPr>
          <p:cNvPr id="4" name="Text 2"/>
          <p:cNvSpPr/>
          <p:nvPr/>
        </p:nvSpPr>
        <p:spPr>
          <a:xfrm>
            <a:off x="914400" y="2651760"/>
            <a:ext cx="7315200" cy="457200"/>
          </a:xfrm>
          <a:prstGeom prst="rect">
            <a:avLst/>
          </a:prstGeom>
          <a:noFill/>
          <a:ln/>
        </p:spPr>
        <p:txBody>
          <a:bodyPr wrap="square" rtlCol="0" anchor="ctr"/>
          <a:lstStyle/>
          <a:p>
            <a:pPr marL="0" indent="0" algn="ctr">
              <a:buNone/>
            </a:pPr>
            <a:r>
              <a:rPr lang="en-US" sz="1400" dirty="0">
                <a:solidFill>
                  <a:srgbClr val="B0D0E8"/>
                </a:solidFill>
                <a:latin typeface="Calibri" pitchFamily="34" charset="0"/>
                <a:ea typeface="Calibri" pitchFamily="34" charset="-122"/>
                <a:cs typeface="Calibri" pitchFamily="34" charset="-120"/>
              </a:rPr>
              <a:t>5장 관계 데이터 모델 — 연습문제 해답 (전 28문제)</a:t>
            </a:r>
            <a:endParaRPr lang="en-US" sz="1400" dirty="0"/>
          </a:p>
        </p:txBody>
      </p:sp>
      <p:sp>
        <p:nvSpPr>
          <p:cNvPr id="5" name="Text 3"/>
          <p:cNvSpPr/>
          <p:nvPr/>
        </p:nvSpPr>
        <p:spPr>
          <a:xfrm>
            <a:off x="914400" y="4114800"/>
            <a:ext cx="7315200" cy="365760"/>
          </a:xfrm>
          <a:prstGeom prst="rect">
            <a:avLst/>
          </a:prstGeom>
          <a:noFill/>
          <a:ln/>
        </p:spPr>
        <p:txBody>
          <a:bodyPr wrap="square" rtlCol="0" anchor="ctr"/>
          <a:lstStyle/>
          <a:p>
            <a:pPr marL="0" indent="0" algn="ctr">
              <a:buNone/>
            </a:pPr>
            <a:r>
              <a:rPr lang="en-US" sz="1300" dirty="0">
                <a:solidFill>
                  <a:srgbClr val="64748B"/>
                </a:solidFill>
                <a:latin typeface="Calibri" pitchFamily="34" charset="0"/>
                <a:ea typeface="Calibri" pitchFamily="34" charset="-122"/>
                <a:cs typeface="Calibri" pitchFamily="34" charset="-120"/>
              </a:rPr>
              <a:t>대전대학교 컴퓨터공학과  ·  박상돈</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TotalTime>
  <Words>17871</Words>
  <Application>Microsoft Office PowerPoint</Application>
  <PresentationFormat>화면 슬라이드 쇼(16:9)</PresentationFormat>
  <Paragraphs>942</Paragraphs>
  <Slides>58</Slides>
  <Notes>58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58</vt:i4>
      </vt:variant>
    </vt:vector>
  </HeadingPairs>
  <TitlesOfParts>
    <vt:vector size="62" baseType="lpstr">
      <vt:lpstr>Arial</vt:lpstr>
      <vt:lpstr>Calibri</vt:lpstr>
      <vt:lpstr>Georgia</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5장 관계 데이터 모델 — 연습문제 해답</dc:title>
  <dc:subject>PptxGenJS Presentation</dc:subject>
  <dc:creator>박상돈</dc:creator>
  <cp:lastModifiedBy>상돈 박</cp:lastModifiedBy>
  <cp:revision>31</cp:revision>
  <dcterms:created xsi:type="dcterms:W3CDTF">2026-03-29T11:53:06Z</dcterms:created>
  <dcterms:modified xsi:type="dcterms:W3CDTF">2026-04-07T03:27:30Z</dcterms:modified>
  <cp:version/>
</cp:coreProperties>
</file>