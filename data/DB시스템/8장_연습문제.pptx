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8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 연습문제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21031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2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정답  형식  ·  설계 5단계 + E-R → 릴레이션 변환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IT CookBook</a:t>
            </a:r>
            <a:endParaRPr lang="en-US" sz="12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8장 한눈에 보기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 5단계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89788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7C93A6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9788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61972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53996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53996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(E-R)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26180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18204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3FA7C9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18204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(릴레이션)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90388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82412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8A838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82412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설계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54596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6620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2E9E5B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46620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(DDL·SQL)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DBMS 독립적  ←  개념적 설계까지   /   논리적 설계부터  →  목표 DBMS 종속적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246120"/>
            <a:ext cx="8165592" cy="1371600"/>
          </a:xfrm>
          <a:prstGeom prst="roundRect">
            <a:avLst>
              <a:gd name="adj" fmla="val 533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346704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→ 릴레이션 변환 규칙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3694176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1:1 / 1:N 관계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한쪽(N측) 릴레이션에 외래키(FK) 추가
</a:t>
            </a: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N:M 관계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양쪽 기본키를 가진 별도 릴레이션 생성
</a:t>
            </a: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다중값 속성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별도 릴레이션으로 분리       </a:t>
            </a: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약한 개체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소유(강한) 개체의 기본키를 포함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Stages  ·  Q1–Q13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데이터베이스 설계 5단계 순서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 데이터베이스를 설계하기 위한 5단계다. 순서대로 나열하시오.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5780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
</a:t>
            </a: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08276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8276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
</a:t>
            </a: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90772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0772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
</a:t>
            </a: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3268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3268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
</a:t>
            </a: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조건 분석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55764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5764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
</a:t>
            </a: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38328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(순서를 생각해 보세요)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데이터베이스 설계 5단계 순서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 데이터베이스를 설계하기 위한 5단계다. 순서대로 나열하시오.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7C93A6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
요구 조건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9397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7228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7228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
개념적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989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1820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FA7C9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820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
논리적 설계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6412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6412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
물리적 설계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3173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1004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1004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
구현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78124" y="3383280"/>
            <a:ext cx="4192524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278124" y="3383280"/>
            <a:ext cx="41925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(D) - (C) - (B) - (E) - (A)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고려사항과 물리적 설계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데이터베이스를 설계할 때 고려할 사항으로 적합하지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무결성     ② 데이터 일관성     ③ 데이터 보안성     ④ 데이터 종속성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'저장 레코드·인덱스 구조·접근 경로'를 설계하는 단계는?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논리적 설계     ② 요구 조건 분석     ③ 물리적 설계     ④ 개념적 설계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고려사항과 물리적 설계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데이터베이스를 설계할 때 고려할 사항으로 적합하지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무결성     ② 데이터 일관성     ③ 데이터 보안성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데이터 종속성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무결성·일관성·보안성은 설계 목표지만, '종속성 유지'는 적합하지 않다.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'저장 레코드·인덱스 구조·접근 경로'를 설계하는 단계는?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논리적 설계     ② 요구 조건 분석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물리적 설계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개념적 설계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구조·인덱스·접근 경로 결정은 물리적 설계의 작업이다.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단계-결과 연결 / 설계 설명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단계와 결과를 잘못 연결한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개념적 — DBMS 독립적 개념 스키마     ② 논리적 — DBMS 독립적 논리 스키마     ③ 물리적 — DBMS에 적합한 물리 스키마     ④ 구현 — SQL 실행으로 DB 생성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설계에 대한 설명으로 옳지 않은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요구사항분석 — 요구 수집·분석     ② 개념적 — DBMS에 적합한 개념 구조     ③ 논리적 — 목표 DBMS가 처리할 스키마     ④ 물리적 — 인덱스·저장구조·접근경로 결정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단계-결과 연결 / 설계 설명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단계와 결과를 잘못 연결한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개념적 — DBMS 독립적 개념 스키마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논리적 — DBMS 독립적 논리 스키마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물리적 — DBMS에 적합한 물리 스키마     ④ 구현 — SQL 실행으로 DB 생성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설계는 목표 DBMS에 '종속적'인 논리 스키마를 만든다 → ②가 틀림.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설계에 대한 설명으로 옳지 않은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요구사항분석 — 요구 수집·분석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개념적 — DBMS에 적합한 개념 구조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논리적 — 목표 DBMS가 처리할 스키마     ④ 물리적 — 인덱스·저장구조·접근경로 결정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설계는 DBMS에 '독립적'인 개념 구조다 → ②가 틀림.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/ E-R 변환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단계에 대한 설명으로 틀린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결과물로 E-R 다이어그램 생성     ② DBMS 독립적 개념 스키마 설계     ③ 하드웨어 고려 인덱스·내부 저장구조 설계     ④ 논리적 설계의 앞 단계에서 수행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E-R을 관계 모델로 변환할 때 독립적인 릴레이션으로 표현해야만 하는 것끼리 모은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R1, R2     ② A, B, C     ③ R1, B, R2     ④ A, B, C, R2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/ E-R 변환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단계에 대한 설명으로 틀린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결과물로 E-R 다이어그램 생성     ② DBMS 독립적 개념 스키마 설계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하드웨어 고려 인덱스·내부 저장구조 설계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논리적 설계의 앞 단계에서 수행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인덱스·내부 저장구조는 '물리적' 설계의 작업 → ③이 틀림.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E-R을 관계 모델로 변환할 때 독립적인 릴레이션으로 표현해야만 하는 것끼리 모은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R1, R2     ② A, B, C     ③ R1, B, R2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A, B, C, R2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엔터티 A·B·C는 항상 릴레이션; n:m 관계 R2도 별도 릴레이션; 1:n 관계 R1은 외래키로 흡수.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E-R → 릴레이션 스키마 (PK·FK)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1463040"/>
            <a:ext cx="118872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280" y="1664208"/>
            <a:ext cx="118872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286000" y="1664208"/>
            <a:ext cx="19659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3687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251960" y="1664208"/>
            <a:ext cx="201168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0718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6263640" y="1463040"/>
            <a:ext cx="137160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64208"/>
            <a:ext cx="137160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1664208"/>
            <a:ext cx="109728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148840" y="2377440"/>
            <a:ext cx="1234440" cy="54864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377440"/>
            <a:ext cx="105156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5606" y="2603297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V="1">
            <a:off x="4434840" y="2377440"/>
            <a:ext cx="100584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694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5440680" y="1664208"/>
            <a:ext cx="82296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43484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94760" y="1408176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140817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1461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1461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1461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1461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260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28216" y="2249424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28216" y="224942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834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66060" y="2871216"/>
            <a:ext cx="96012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66060" y="28712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과목번호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02936" y="2871216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02936" y="287121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과목명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6928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학생( 학번(PK), 이름, 교번(FK) 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00016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교수( 교번(PK), 이름, 과목번호(FK) 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6928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과목( 과목번호(PK), 과목명, 학번(FK) 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00016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수강( 학번(PK·FK), 과목번호(PK·FK) 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E-R → 릴레이션 스키마 (PK·FK)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1463040"/>
            <a:ext cx="118872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280" y="1664208"/>
            <a:ext cx="118872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286000" y="1664208"/>
            <a:ext cx="19659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3687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251960" y="1664208"/>
            <a:ext cx="201168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0718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6263640" y="1463040"/>
            <a:ext cx="137160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64208"/>
            <a:ext cx="137160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1664208"/>
            <a:ext cx="109728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148840" y="2377440"/>
            <a:ext cx="1234440" cy="54864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377440"/>
            <a:ext cx="105156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5606" y="2603297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V="1">
            <a:off x="4434840" y="2377440"/>
            <a:ext cx="100584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694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5440680" y="1664208"/>
            <a:ext cx="82296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43484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94760" y="1408176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140817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1461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1461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1461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1461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260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28216" y="2249424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28216" y="224942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834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66060" y="2871216"/>
            <a:ext cx="96012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66060" y="28712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과목번호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02936" y="2871216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02936" y="287121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과목명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6928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1A2744"/>
          </a:solidFill>
          <a:ln w="16510">
            <a:solidFill>
              <a:srgbClr val="E8A8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학생( 학번(PK), 이름, 교번(FK) 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041648" y="35570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00016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교수( 교번(PK), 이름, 과목번호(FK) 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66928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과목( 과목번호(PK), 과목명, 학번(FK) 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00016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수강( 학번(PK·FK), 과목번호(PK·FK) 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66928" y="468172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관계가 n:1 이므로 1쪽(교수)의 키 '교번'이 n쪽(학생)에 FK로 들어간다.</a:t>
            </a:r>
            <a:endParaRPr lang="en-US" sz="1030" dirty="0"/>
          </a:p>
        </p:txBody>
      </p:sp>
      <p:sp>
        <p:nvSpPr>
          <p:cNvPr id="65" name="Text 6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요구사항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8165592" cy="786384"/>
          </a:xfrm>
          <a:prstGeom prst="roundRect">
            <a:avLst>
              <a:gd name="adj" fmla="val 814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80744"/>
            <a:ext cx="7836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교수 : 학생 = 1:N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(교수가 1·2학년 학생을 진로 지도)
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멘토 : 멘티 = 1:N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(2학년 멘토가 1학년 멘티에게 조언)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요구사항을 릴레이션 스키마로 설계했을 때 가장 적절한 것은?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54203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42032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학생(학번, 이름, 멘토, 멘토링내용)  ·  교수(교수ID, 이름, 지도학생학번, 지도내용)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072384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72384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학생(학번, 이름, 멘티, 멘토링내용)  ·  교수(교수ID, 이름, 지도학생학번, 지도내용)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02736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학생(학번, 이름, 지도교수ID, 지도내용, 멘토, 멘토링내용)  ·  교수(교수ID, 이름)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13308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33088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학생(학번, 이름, 지도교수ID, 지도내용, 멘티, 멘토링내용)  ·  교수(교수ID, 이름)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요구사항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8165592" cy="786384"/>
          </a:xfrm>
          <a:prstGeom prst="roundRect">
            <a:avLst>
              <a:gd name="adj" fmla="val 814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80744"/>
            <a:ext cx="7836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교수 : 학생 = 1:N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(교수가 1·2학년 학생을 진로 지도)
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멘토 : 멘티 = 1:N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(2학년 멘토가 1학년 멘티에게 조언)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요구사항을 릴레이션 스키마로 설계했을 때 가장 적절한 것은?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54203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42032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학생(학번, 이름, 멘토, 멘토링내용)  ·  교수(교수ID, 이름, 지도학생학번, 지도내용)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072384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72384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학생(학번, 이름, 멘티, 멘토링내용)  ·  교수(교수ID, 이름, 지도학생학번, 지도내용)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1A2744"/>
          </a:solidFill>
          <a:ln w="1651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02736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학생(학번, 이름, 지도교수ID, 지도내용, 멘토, 멘토링내용)  ·  교수(교수ID, 이름)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0" y="36941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13308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33088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학생(학번, 이름, 지도교수ID, 지도내용, 멘티, 멘토링내용)  ·  교수(교수ID, 이름)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68172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관계 모두 1:N이고 N쪽이 학생 → 지도교수ID·멘토가 학생에 FK로 들어가고 교수는 최소 속성만 갖는다.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관계 분석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'관리' 관계의 대응 수(부서·직원)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〈직원 릴레이션〉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부서번호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188366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88366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4416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074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박영수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215798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15798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4416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074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김창식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0428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4086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243230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43230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4416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8074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428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4086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270662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70662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4416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074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4086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298094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29809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4416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8074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0428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4086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〈부서 릴레이션〉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188366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188366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23560" y="188366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0136" y="1883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2157984"/>
            <a:ext cx="8686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215798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23560" y="2157984"/>
            <a:ext cx="14630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0136" y="21579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243230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24323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23560" y="243230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0136" y="24323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영업부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54880" y="26151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직원.부서번호는 부서.번호를 참조하는 외래키다. '관리' 관계에 대해 옳은 것은?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8368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→ 부서, 1:N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8368" y="3694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 관계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58368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→ 직원, 1:N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58368" y="4462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관계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관계 분석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'관리' 관계의 대응 수(부서·직원)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〈직원 릴레이션〉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부서번호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188366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88366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4416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074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박영수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215798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15798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4416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074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김창식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0428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4086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243230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43230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4416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8074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428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4086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270662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70662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4416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074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4086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298094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29809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4416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8074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0428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4086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〈부서 릴레이션〉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188366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188366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23560" y="188366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0136" y="1883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2157984"/>
            <a:ext cx="8686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215798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23560" y="2157984"/>
            <a:ext cx="14630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0136" y="21579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243230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24323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23560" y="243230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0136" y="24323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영업부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54880" y="26151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직원.부서번호는 부서.번호를 참조하는 외래키다. '관리' 관계에 대해 옳은 것은?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8368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→ 부서, 1:N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8368" y="3694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 관계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58368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→ 직원, 1:N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58368" y="4462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관계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754880" y="334670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70" name="Text 68"/>
          <p:cNvSpPr/>
          <p:nvPr/>
        </p:nvSpPr>
        <p:spPr>
          <a:xfrm>
            <a:off x="4754880" y="334670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4754880" y="376732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부서에 여러 직원이 속하므로 부서 : 직원 = 1 : N (한 직원은 한 부서에만 소속).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단답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설계와 구현 단계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명세서를 E-R처럼 DBMS 독립적·고차원적 기법으로 표현하는 단계는?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DDL로 스키마를 작성하고 목표 DBMS에서 실행하여 데이터베이스를 생성하는 단계는?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단답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설계와 구현 단계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명세서를 E-R처럼 DBMS 독립적·고차원적 기법으로 표현하는 단계는?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257860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78608"/>
            <a:ext cx="1476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단계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09444" y="2542032"/>
            <a:ext cx="6103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요구사항을 DBMS 독립적인 개념 구조(E-R)로 표현하는 단계다.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DDL로 스키마를 작성하고 목표 DBMS에서 실행하여 데이터베이스를 생성하는 단계는?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4352544"/>
            <a:ext cx="98298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352544"/>
            <a:ext cx="982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단계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15668" y="4315968"/>
            <a:ext cx="6597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 스키마 작성 + 목표 DBMS 실행으로 실제 DB를 생성하는 단계다.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구축 과정의 빈 단계 채우기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6304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사항 분석 → Ⓐ → Ⓑ → Ⓒ → 구현.  Ⓐ, Ⓑ, Ⓒ에 들어갈 단계는?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7C93A6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9397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7228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7D6E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27228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
</a:t>
            </a:r>
            <a:r>
              <a:rPr lang="en-US" sz="18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989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1820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7D6E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91820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
</a:t>
            </a:r>
            <a:r>
              <a:rPr lang="en-US" sz="18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6412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7D6E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56412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Ⓒ
</a:t>
            </a:r>
            <a:r>
              <a:rPr lang="en-US" sz="18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3173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1004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1004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구축 과정의 빈 단계 채우기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6304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사항 분석 → Ⓐ → Ⓑ → Ⓒ → 구현.  Ⓐ, Ⓑ, Ⓒ에 들어갈 단계는?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7C93A6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9397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7228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7228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
개념적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989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1820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FA7C9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820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
논리적 설계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6412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6412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Ⓒ
물리적 설계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3173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1004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/>
          <a:effectLst>
            <a:outerShdw blurRad="762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1004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58084" y="3520440"/>
            <a:ext cx="406908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2958084" y="35204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개념적 설계 · Ⓑ 논리적 설계 · Ⓒ 물리적 설계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→ 릴레이션 변환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E-R to Relation Schema  ·  Q14–Q19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1874520"/>
            <a:ext cx="123444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51560" y="2240280"/>
            <a:ext cx="123444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286000" y="2240280"/>
            <a:ext cx="17373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7675" y="1929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023360" y="2240280"/>
            <a:ext cx="0" cy="123444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023360" y="2240280"/>
            <a:ext cx="21031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5154" y="1929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6126480" y="1874520"/>
            <a:ext cx="155448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240280"/>
            <a:ext cx="155448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" y="2423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423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43300" y="1965960"/>
            <a:ext cx="960120" cy="548640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3300" y="1965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02736" y="3291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291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6033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0336" y="2423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2423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41605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(1:1)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8165592" cy="1325880"/>
          </a:xfrm>
          <a:prstGeom prst="roundRect">
            <a:avLst>
              <a:gd name="adj" fmla="val 4828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78364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(A1, A2, B1, RA)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(B1, B2)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108960"/>
            <a:ext cx="8165592" cy="1325880"/>
          </a:xfrm>
          <a:prstGeom prst="roundRect">
            <a:avLst>
              <a:gd name="adj" fmla="val 482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63824"/>
            <a:ext cx="78364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관계 변환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개체 중 한쪽(E1)에 상대 개체의 기본키(B1)를 외래키로 넣고, 관계의 속성(RA)도 함께 포함한다. 반대쪽(E2)은 자신의 속성만 갖는다.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flipV="1">
            <a:off x="2103120" y="2057400"/>
            <a:ext cx="23774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3629" y="17647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4480560" y="2057400"/>
            <a:ext cx="23774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1459" y="17647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1234440" y="2057400"/>
            <a:ext cx="86868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057400"/>
            <a:ext cx="13716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057400"/>
            <a:ext cx="118872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057400"/>
            <a:ext cx="0" cy="11887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806440" y="2057400"/>
            <a:ext cx="105156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057400"/>
            <a:ext cx="4572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057400"/>
            <a:ext cx="109728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184708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1847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00500" y="1783080"/>
            <a:ext cx="960120" cy="548640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0500" y="17830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1847088"/>
            <a:ext cx="100584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470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0175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고객번호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19656" y="30175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19656" y="30175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88920" y="2971800"/>
            <a:ext cx="1005840" cy="45720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30175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59936" y="30632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9936" y="30632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대여일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03520" y="3017520"/>
            <a:ext cx="100584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자동차번호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83096" y="30175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30175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모델명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34656" y="30175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4656" y="30175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대여비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6928" y="411480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  (전화번호는 다중 값 속성)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(N:M · 다중값)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8165592" cy="1783080"/>
          </a:xfrm>
          <a:prstGeom prst="roundRect">
            <a:avLst>
              <a:gd name="adj" fmla="val 359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996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764792"/>
            <a:ext cx="78364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이름)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자동차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(자동차번호, 모델명, 대여비)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대여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자동차번호, 대여일)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고객-전화번호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전화번호)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8165592" cy="1051560"/>
          </a:xfrm>
          <a:prstGeom prst="roundRect">
            <a:avLst>
              <a:gd name="adj" fmla="val 608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83864"/>
            <a:ext cx="78364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 관계(대여)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양쪽 기본키를 가진 별도 릴레이션.   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다중값 속성(전화번호)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개체의 키와 함께 별도 릴레이션으로 분리.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flipV="1">
            <a:off x="2011680" y="1481328"/>
            <a:ext cx="242316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4253" y="160714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481328"/>
            <a:ext cx="242316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9395" y="160714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3383280" y="1481328"/>
            <a:ext cx="1051560" cy="76809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434840" y="1481328"/>
            <a:ext cx="0" cy="76809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481328"/>
            <a:ext cx="1051560" cy="76809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2331720"/>
            <a:ext cx="987552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331720"/>
            <a:ext cx="137160" cy="9601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31543" y="278069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6858000" y="2331720"/>
            <a:ext cx="0" cy="9601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78069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2148840" y="3291840"/>
            <a:ext cx="228600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52344" y="30083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4434840" y="3291840"/>
            <a:ext cx="24231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3036" y="30083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1325880" y="3291840"/>
            <a:ext cx="82296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48840" y="3291840"/>
            <a:ext cx="13716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3291840"/>
            <a:ext cx="105156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434840" y="3291840"/>
            <a:ext cx="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760720" y="3291840"/>
            <a:ext cx="109728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858000" y="3291840"/>
            <a:ext cx="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3291840"/>
            <a:ext cx="1024128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1298448"/>
            <a:ext cx="822960" cy="365760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1298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591056" y="209397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91056" y="20939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37376" y="209397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20939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44368" y="2093976"/>
            <a:ext cx="877824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44368" y="209397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부서번호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041648" y="2093976"/>
            <a:ext cx="786384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41648" y="209397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06340" y="2093976"/>
            <a:ext cx="96012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06340" y="20939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부서장이름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89788" y="2176272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9788" y="21762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투입시간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682496" y="3108960"/>
            <a:ext cx="932688" cy="365760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82496" y="31089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014216" y="305409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14216" y="30540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46520" y="3108960"/>
            <a:ext cx="822960" cy="365760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8680" y="4069080"/>
            <a:ext cx="91440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4069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프로젝트번호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828800" y="4069080"/>
            <a:ext cx="91440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4069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843784" y="4069080"/>
            <a:ext cx="713232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40690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00500" y="4050792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00500" y="40507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수행시간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326380" y="4069080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638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423660" y="4069080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2366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사원이름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498080" y="4069080"/>
            <a:ext cx="7680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406908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급여액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6928" y="4681728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(N:M ×2 · 1:N)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2148840"/>
          </a:xfrm>
          <a:prstGeom prst="roundRect">
            <a:avLst>
              <a:gd name="adj" fmla="val 2979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53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783640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(부서번호, 부서명, 부서장이름)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(프로젝트번호, 프로젝트명, 기간)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사원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(사원번호, 사원이름, 급여액, 부서번호)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(부서번호, 프로젝트번호, 투입시간)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참여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(프로젝트번호, 사원번호, 수행시간)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703320"/>
            <a:ext cx="8165592" cy="868680"/>
          </a:xfrm>
          <a:prstGeom prst="roundRect">
            <a:avLst>
              <a:gd name="adj" fmla="val 736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58184"/>
            <a:ext cx="7836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N:M(관리·참여)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각각 양쪽 기본키를 가진 별도 릴레이션.   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1:N(소속)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N측 사원에 부서번호 FK.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flipV="1">
            <a:off x="3931920" y="1481328"/>
            <a:ext cx="64008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1104" y="17602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97480" y="2331720"/>
            <a:ext cx="12344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481328"/>
            <a:ext cx="59436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481328"/>
            <a:ext cx="160020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331720"/>
            <a:ext cx="640080" cy="97840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26746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2221992" y="3200400"/>
            <a:ext cx="19202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221992" y="3419856"/>
            <a:ext cx="19202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520440" y="3310128"/>
            <a:ext cx="105156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310128"/>
            <a:ext cx="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310128"/>
            <a:ext cx="105156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1243584"/>
            <a:ext cx="1115568" cy="475488"/>
          </a:xfrm>
          <a:prstGeom prst="rect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59936" y="1289304"/>
            <a:ext cx="1024128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9936" y="1289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부양가족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56432" y="2039112"/>
            <a:ext cx="950976" cy="585216"/>
          </a:xfrm>
          <a:prstGeom prst="diamond">
            <a:avLst/>
          </a:prstGeom>
          <a:ln w="15240">
            <a:solidFill>
              <a:srgbClr val="E8A8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11296" y="209397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20939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76856" y="2148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76856" y="2148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등록일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45736" y="2148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2148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51576" y="2148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2148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60520" y="3118104"/>
            <a:ext cx="82296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1181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362456" y="3072384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62456" y="30723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81528" y="4041648"/>
            <a:ext cx="877824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81528" y="404164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51376" y="4041648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51376" y="404164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66360" y="4041648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4041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담당업무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9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상사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22192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42032" y="3438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부하직원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22192" y="34381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4681728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  (부양가족: 약한 개체 / 관리: 자기참조)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(약한 개체 · 자기참조)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8165592" cy="1371600"/>
          </a:xfrm>
          <a:prstGeom prst="roundRect">
            <a:avLst>
              <a:gd name="adj" fmla="val 466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78364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부양가족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(사원번호, 이름, 관계, 등록일)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사원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(사원번호, 이름, 관리자)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108960"/>
            <a:ext cx="8165592" cy="1325880"/>
          </a:xfrm>
          <a:prstGeom prst="roundRect">
            <a:avLst>
              <a:gd name="adj" fmla="val 482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63824"/>
            <a:ext cx="78364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개체(부양가족)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소유 개체(사원)의 기본키 '사원번호'를 포함해 키를 구성.
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자기참조 관계(관리)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사원 릴레이션에 상사를 가리키는 '관리자' 외래키를 추가한다.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한빛 은행 — 요구사항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1691640"/>
          </a:xfrm>
          <a:prstGeom prst="roundRect">
            <a:avLst>
              <a:gd name="adj" fmla="val 3784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26464"/>
            <a:ext cx="783640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고객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관리: 고객번호, 고객이름, 주소, 직업, 나이를 저장
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계좌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관리: 계좌번호, 유형, 잔액을 저장
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소유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관계: 고객 한 명이 여러 계좌를 소유할 수 있다
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제약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하나는 한 명의 고객만 소유할 수 있다  →  고객 : 계좌 = 1 : 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383280"/>
            <a:ext cx="8165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요구사항을 분석해 E-R 다이어그램을 작성하시오.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작성한 E-R 다이어그램을 릴레이션 스키마로 변환하시오.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한빛 은행 — E-R &amp;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71600" y="1371600"/>
            <a:ext cx="1828800" cy="86868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810512"/>
            <a:ext cx="1828800" cy="4297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71600" y="2240280"/>
            <a:ext cx="1828800" cy="9144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371600" y="2240280"/>
            <a:ext cx="1828800" cy="4480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371600" y="2240280"/>
            <a:ext cx="1828800" cy="8869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200400" y="2240280"/>
            <a:ext cx="182880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1947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5029200" y="2240280"/>
            <a:ext cx="17373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9864" y="1947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6766560" y="1737360"/>
            <a:ext cx="1143000" cy="5029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240280"/>
            <a:ext cx="114300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240280"/>
            <a:ext cx="1143000" cy="5029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49140" y="1965960"/>
            <a:ext cx="960120" cy="548640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9140" y="1965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11887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고객번호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4400" y="1627632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고객이름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0976" y="2066544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206654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50976" y="2505456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250545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50976" y="2944368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294436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52360" y="155448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계좌번호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88936" y="205740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88936" y="2057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88936" y="25603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8936" y="25603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3611880"/>
            <a:ext cx="8165592" cy="1051560"/>
          </a:xfrm>
          <a:prstGeom prst="roundRect">
            <a:avLst>
              <a:gd name="adj" fmla="val 608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6941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3959352"/>
            <a:ext cx="7836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고객이름, 주소, 직업, 나이)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(계좌번호, 유형, 잔액, 고객번호)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한빛 항공사 — 요구사항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가입: 회원아이디, 비밀번호, 성명, 신용카드 정보 입력  (신용카드는 여러 개 — 신용카드번호, 유효기간)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비행기: 비행기번호, 출발날짜, 출발시간을 저장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좌석: 좌석번호, 등급을 저장  (좌석은 비행기가 없으면 의미 없음 → 약한 개체)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예약: 회원 한 명은 좌석 하나만, 한 좌석은 회원 한 명만  →  회원 : 좌석 = 1 : 1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존재: 한 비행기에 여러 좌석, 한 좌석은 한 비행기에만  →  비행기 : 좌석 = 1 : 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4343400"/>
            <a:ext cx="8165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E-R 다이어그램 작성    (2) 릴레이션 스키마로 변환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E-R 다이어그램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148840" cy="5943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371600"/>
            <a:ext cx="1234440" cy="5943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371600"/>
            <a:ext cx="320040" cy="5943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303520" y="1389888"/>
            <a:ext cx="731520" cy="57607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035040" y="1188720"/>
            <a:ext cx="114300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89888"/>
            <a:ext cx="1143000" cy="2743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303520" y="1965960"/>
            <a:ext cx="0" cy="8229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22311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5303520" y="2788920"/>
            <a:ext cx="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30678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011680" y="3639312"/>
            <a:ext cx="16459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33558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3657600" y="3639312"/>
            <a:ext cx="16459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33558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1280160" y="3639312"/>
            <a:ext cx="73152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3639312"/>
            <a:ext cx="27432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3639312"/>
            <a:ext cx="1234440" cy="8229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846320" y="3639312"/>
            <a:ext cx="45720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639312"/>
            <a:ext cx="64008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1773936"/>
            <a:ext cx="82296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773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551176"/>
            <a:ext cx="914400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511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예약하다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64608" y="3401568"/>
            <a:ext cx="877824" cy="475488"/>
          </a:xfrm>
          <a:prstGeom prst="rect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0328" y="3447288"/>
            <a:ext cx="786384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44728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45536" y="3346704"/>
            <a:ext cx="1024128" cy="585216"/>
          </a:xfrm>
          <a:prstGeom prst="diamond">
            <a:avLst/>
          </a:prstGeom>
          <a:ln w="15240">
            <a:solidFill>
              <a:srgbClr val="E8A8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401568"/>
            <a:ext cx="914400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401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존재하다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591056" y="3447288"/>
            <a:ext cx="841248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91056" y="344728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97480" y="11887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회원아이디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48456" y="11887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48456" y="11887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62856" y="11887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62856" y="11887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성명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54980" y="1161288"/>
            <a:ext cx="960120" cy="45720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00700" y="120700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00700" y="1207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신용카드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75120" y="1005840"/>
            <a:ext cx="100584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1005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신용카드번호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743700" y="148132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3700" y="14813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유효기간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00100" y="4315968"/>
            <a:ext cx="96012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0100" y="43159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비행기번호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851660" y="431596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51660" y="43159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출발날짜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811780" y="4279392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11780" y="4279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출발시간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411980" y="431596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11980" y="43159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좌석번호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522976" y="4315968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22976" y="431596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63040"/>
            <a:ext cx="8165592" cy="1874520"/>
          </a:xfrm>
          <a:prstGeom prst="roundRect">
            <a:avLst>
              <a:gd name="adj" fmla="val 341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453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810512"/>
            <a:ext cx="7836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비행기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(비행기번호, 출발시간, 출발날짜)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좌석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(좌석번호, 등급, 비행기번호)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회원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(회원아이디, 비밀번호, 성명, 좌석번호, 비행기번호)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회원신용카드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(회원아이디, 신용카드번호, 유효기간)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566160"/>
            <a:ext cx="8165592" cy="914400"/>
          </a:xfrm>
          <a:prstGeom prst="roundRect">
            <a:avLst>
              <a:gd name="adj" fmla="val 700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21024"/>
            <a:ext cx="7836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개체(좌석)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비행기번호 포함.  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1:1(예약)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회원에 좌석키 FK.  </a:t>
            </a: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다중값 복합(신용카드)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별도 릴레이션.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8장 데이터베이스 설계 핵심 정리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417320"/>
            <a:ext cx="259994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5단계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9808" y="2020824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요구사항 분석
· 개념적 설계 (E-R)
· 논리적 설계 (릴레이션)
· 물리적 설계
· 구현 (DDL·SQL)
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349752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9752" y="1417320"/>
            <a:ext cx="2599944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532632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구성요소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32632" y="2020824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개체 = 사각형 □
· 관계 = 마름모 ◇
· 속성 = 타원 ○ (키는 밑줄)
· 약한 개체 = 이중 사각형
· 다중값 = 이중 타원
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32576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2576" y="1417320"/>
            <a:ext cx="2599944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8" name="Text 16"/>
          <p:cNvSpPr/>
          <p:nvPr/>
        </p:nvSpPr>
        <p:spPr>
          <a:xfrm>
            <a:off x="6315456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규칙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15456" y="2020824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1:1 · 1:N → FK 추가
· N:M → 별도 릴레이션
· 다중값 속성 → 별도 릴레이션
· 약한 개체 → 소유 개체 키 포함
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950208"/>
            <a:ext cx="7763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→ E-R(개념) → 릴레이션(논리) → 물리 → 구현.  관계의 차수(1:1/1:N/N:M)가 외래키 위치와 별도 릴레이션 여부를 결정한다.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Chapter 8 — Database Design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2103120" cy="2560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8장 데이터베이스 설계 연습문제 (문제 → 정답)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574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2868</Words>
  <Application>Microsoft Office PowerPoint</Application>
  <PresentationFormat>화면 슬라이드 쇼(16:9)</PresentationFormat>
  <Paragraphs>554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맑은 고딕</vt:lpstr>
      <vt:lpstr>Arial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Sangdon</cp:lastModifiedBy>
  <cp:revision>3</cp:revision>
  <dcterms:created xsi:type="dcterms:W3CDTF">2026-05-30T14:00:40Z</dcterms:created>
  <dcterms:modified xsi:type="dcterms:W3CDTF">2026-06-01T13:02:38Z</dcterms:modified>
</cp:coreProperties>
</file>