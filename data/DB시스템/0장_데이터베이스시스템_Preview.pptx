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906" autoAdjust="0"/>
  </p:normalViewPr>
  <p:slideViewPr>
    <p:cSldViewPr snapToGrid="0" snapToObjects="1">
      <p:cViewPr varScale="1">
        <p:scale>
          <a:sx n="105" d="100"/>
          <a:sy n="105" d="100"/>
        </p:scale>
        <p:origin x="17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평가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74D-4E4F-B49C-0437776F75B4}"/>
              </c:ext>
            </c:extLst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74D-4E4F-B49C-0437776F75B4}"/>
              </c:ext>
            </c:extLst>
          </c:dPt>
          <c:dPt>
            <c:idx val="2"/>
            <c:bubble3D val="0"/>
            <c:spPr>
              <a:solidFill>
                <a:srgbClr val="8B5C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74D-4E4F-B49C-0437776F75B4}"/>
              </c:ext>
            </c:extLst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74D-4E4F-B49C-0437776F75B4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74D-4E4F-B49C-0437776F75B4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74D-4E4F-B49C-0437776F75B4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74D-4E4F-B49C-0437776F75B4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74D-4E4F-B49C-0437776F75B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퀴즈 및 과제</c:v>
                </c:pt>
                <c:pt idx="1">
                  <c:v>중간고사</c:v>
                </c:pt>
                <c:pt idx="2">
                  <c:v>기말고사</c:v>
                </c:pt>
                <c:pt idx="3">
                  <c:v>출석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74D-4E4F-B49C-0437776F75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11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PREVIEW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데이터베이스시스템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Systems — Course Introduction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</a:t>
            </a:r>
            <a:endParaRPr lang="en-US" sz="1800" dirty="0"/>
          </a:p>
          <a:p>
            <a:pPr marL="0" indent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2025학년도 1학기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1188720" cy="11887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3566160"/>
            <a:ext cx="548640" cy="5486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학습의 필요성과 교과 목표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778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수업 내용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778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전반부(1~7주) · 후반부(9~15주) 커리큘럼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교재 및 참고 자료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주교재, 보조 자료, 온라인 리소스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778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진행 방법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강의, 질의응답, 실습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기준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63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퀴즈·과제, 중간고사, 기말고사, 출석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548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778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 사항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5778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연락처, Office Hour, 상담 안내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목표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Objectives &amp; Why Study Databases?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데이터베이스를 배워야 하는가?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1556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이해의 기초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정형·반정형·비정형 등 다양한 종류의 데이터를 체계적으로 이해하고 분류하는 능력을 갖추게 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548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05840"/>
            <a:ext cx="73152" cy="11430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11556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개발의 출발점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소프트웨어 시스템(웹, 앱, 게임)은 데이터 저장·관리가 필수입니다. DB 설계는 개발의 첫 단계입니다.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331720"/>
            <a:ext cx="73152" cy="114300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44144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AI/빅데이터의 기반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686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인공지능·머신러닝 시스템은 대량의 데이터를 전제로 합니다. DB는 AI 파이프라인의 핵심 인프라입니다.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548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331720"/>
            <a:ext cx="73152" cy="11430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244144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관리의 중요성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9834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신뢰성·일관성 유지, 보안·개인정보 보호, 성능 최적화, 비즈니스 연속성 확보가 가능해집니다.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400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0080" y="3657600"/>
            <a:ext cx="73152" cy="114300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767328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분석·인텔리전스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686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축적된 데이터에서 의미 있는 패턴을 발견하고, 데이터 기반 의사결정(Data-Driven Decision)을 지원합니다.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7548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754880" y="365760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767328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949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업무·취업 경쟁력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49834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지식은 백엔드 개발, 데이터 엔지니어링, DBA 등 IT 직군에서 필수 역량으로 요구됩니다.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교과목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37160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801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데이터베이스시스템 (Database Systems)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데이터베이스의 기초 이론 및 필요성, 데이터 모델링 방법, 데이터베이스 언어(SQL) 사용법,</a:t>
            </a: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 설계 및 관리 방법에 대하여 체계적으로 학습합니다.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926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 형태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3716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 3시간/주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548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292608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학년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64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컴퓨터공학과</a:t>
            </a: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3학년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400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선수 과목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3716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 기초 (권장)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7548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39776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학기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2026학년도 1학기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수업 내용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Curriculum &amp; Weekly Schedule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전반부 커리큘럼 (1주 ~ 중간고사)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0891B2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이론 → 데이터 모델링 → 관계 데이터 모델 → 관계 데이터 연산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377467"/>
              </p:ext>
            </p:extLst>
          </p:nvPr>
        </p:nvGraphicFramePr>
        <p:xfrm>
          <a:off x="640080" y="1463040"/>
          <a:ext cx="7863840" cy="2913888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강의 소개 &amp; Preview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교과 안내, DB의 중요성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1장. 데이터베이스 기본 개념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데이터·정보, DB 정의·특징, 데이터 분류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2장. 데이터베이스 관리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DBMS 등장 배경, 정의, 장·단점, 발전 과정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3장. 데이터베이스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 시스템 구성, 3단계 스키마 구조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5주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4장. 데이터 모델링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ER 모델, 개체, 속성, 관계, ER 다이어그램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6주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5장. 관계 데이터 모델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릴레이션, 키, 무결성 제약 조건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6장. 관계 데이터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관계 대수, 셀렉트·프로젝트·조인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495800"/>
            <a:ext cx="7863840" cy="335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8주차  —  중간고사 (Midterm Exam)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후반부 커리큘럼 (중간고사 이후 ~ 기말고사)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F59E0B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실습 → DB 설계 → 정규화 → 트랜잭션 → 보안 → 빅데이터 응용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392026"/>
              </p:ext>
            </p:extLst>
          </p:nvPr>
        </p:nvGraphicFramePr>
        <p:xfrm>
          <a:off x="640080" y="1463040"/>
          <a:ext cx="7863840" cy="283464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9주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(1)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DDL, 테이블 생성·수정·삭제, 데이터 타입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10주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(2)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DML, SELECT·INSERT·UPDATE·DELETE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8장. 데이터베이스 설계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설계 단계, ER→관계 모델 변환, 정규화 개요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9장. 정규화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함수 종속, 1NF~BCNF, 이상 현상 해결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10장. 회복과 병행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트랜잭션, ACID, 로그 기반 회복, 동시성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11~12장. 보안·응용 기술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권한 관리, 빅데이터, 데이터 과학 개론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6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15주차  —  기말고사 (Final Exam)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&amp; Reference Materials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57607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344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주교재 (Main Textbook)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169164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CookBook, 데이터베이스 개론 (3판)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저자: 김연희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출판사: 한빛아카데미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데이터베이스의 기초부터 설계, SQL,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정규화까지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체계적으로 다루는 교재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교재를 구매하지 않더라도 이해하고 학습할 수 있도록 강의 자료를 제공합니다.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보조 자료 및 온라인 리소스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3703320"/>
            <a:ext cx="25146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슬라이드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2296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매주 수업 전 LMS에 업로드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42900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429000" y="3703320"/>
            <a:ext cx="25146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8862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977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실습 자료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361188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MySQL/PostgreSQL 실습 환경 안내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17920" y="3703320"/>
            <a:ext cx="251460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388620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66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참고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SQL, DB-Engines.com</a:t>
            </a:r>
            <a:endParaRPr lang="en-US" sz="1000" dirty="0"/>
          </a:p>
        </p:txBody>
      </p:sp>
      <p:pic>
        <p:nvPicPr>
          <p:cNvPr id="1026" name="Picture 2" descr="IT CookBook, 데이터베이스 개론(3판)">
            <a:extLst>
              <a:ext uri="{FF2B5EF4-FFF2-40B4-BE49-F238E27FC236}">
                <a16:creationId xmlns:a16="http://schemas.microsoft.com/office/drawing/2014/main" id="{5342D419-2AF3-45B2-A4F0-A1B0A896D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122" y="1024128"/>
            <a:ext cx="1831238" cy="228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Methods &amp; Class Policy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280160"/>
            <a:ext cx="777240" cy="7772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44475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0584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매주 3시간 이론 중심 강의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강의 중 간단한 질문을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확인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핵심 개념 → 예시 → 정리 순서로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슬라이드 자료는 사전에 LMS 업로드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7472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105156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2"/>
          <p:cNvSpPr/>
          <p:nvPr/>
        </p:nvSpPr>
        <p:spPr>
          <a:xfrm>
            <a:off x="4343400" y="1280160"/>
            <a:ext cx="777240" cy="777240"/>
          </a:xfrm>
          <a:prstGeom prst="ellipse">
            <a:avLst/>
          </a:prstGeom>
          <a:solidFill>
            <a:srgbClr val="F59E0B">
              <a:alpha val="10000"/>
            </a:srgbClr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44475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118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자료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384048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교재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학습 가능한 자료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각 장의 핵심 내용을 정리한 슬라이드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실습 예제 코드 별도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보충 설명 자료 수시 업로드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30936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09360" y="1051560"/>
            <a:ext cx="25603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18"/>
          <p:cNvSpPr/>
          <p:nvPr/>
        </p:nvSpPr>
        <p:spPr>
          <a:xfrm>
            <a:off x="7178040" y="1280160"/>
            <a:ext cx="777240" cy="777240"/>
          </a:xfrm>
          <a:prstGeom prst="ellipse">
            <a:avLst/>
          </a:prstGeom>
          <a:solidFill>
            <a:srgbClr val="10B981">
              <a:alpha val="10000"/>
            </a:srgbClr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444752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4652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질의응답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667512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1"/>
          <p:cNvSpPr/>
          <p:nvPr/>
        </p:nvSpPr>
        <p:spPr>
          <a:xfrm>
            <a:off x="649224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자유로운 질문 환영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후 질문은 Office Hour 활용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24시간 내 답변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어려운 내용은 보충 설명 제공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Policy &amp; 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051560"/>
          <a:ext cx="34747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4206240" y="105156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206240" y="1051560"/>
            <a:ext cx="64008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6"/>
          <p:cNvSpPr/>
          <p:nvPr/>
        </p:nvSpPr>
        <p:spPr>
          <a:xfrm>
            <a:off x="4389120" y="109728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퀴즈 및 과제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주기적인 퀴즈와 개인 과제를 통해 학습 내용의 이해도를 평가합니다. 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06240" y="201168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06240" y="2011680"/>
            <a:ext cx="64008" cy="777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4389120" y="205740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0292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중간고사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3484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1장~6장 범위 (데이터베이스 기초, DBMS, 데이터 모델링, 관계 모델, 관계 연산). 필기시험으로 진행.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206240" y="297180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206240" y="2971800"/>
            <a:ext cx="64008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301752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기말고사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434840" y="3337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7장~12장 범위 (SQL, DB 설계, 정규화, 트랜잭션, 보안, 응용 기술). 필기시험으로 진행.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206240" y="393192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206240" y="3931920"/>
            <a:ext cx="64008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4389120" y="397764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02920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출석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43484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성실한 수업 참여를 평가합니다. 지각 3회 = 결석 1회로 처리됩니다. 전체 수업의 1/3 이상 결석 시 F 처리.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문의 사항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Information &amp; Office Hours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연락처 및 Office Hour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8638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371600"/>
            <a:ext cx="1097280" cy="109728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554480"/>
            <a:ext cx="731520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3774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744"/>
                </a:solidFill>
              </a:rPr>
              <a:t>박상돈 조교수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대전대학교 컴퓨터공학과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9748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연구실: </a:t>
            </a:r>
            <a:r>
              <a:rPr lang="en-US" sz="1000" dirty="0">
                <a:solidFill>
                  <a:srgbClr val="334155"/>
                </a:solidFill>
              </a:rPr>
              <a:t>융합과학관 2층 24221호</a:t>
            </a:r>
            <a:endParaRPr lang="en-US" sz="10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14884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206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내선: </a:t>
            </a:r>
            <a:r>
              <a:rPr lang="en-US" sz="1000" dirty="0">
                <a:solidFill>
                  <a:srgbClr val="334155"/>
                </a:solidFill>
              </a:rPr>
              <a:t>2561</a:t>
            </a:r>
            <a:endParaRPr lang="en-US" sz="1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7900" y="214884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779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이메일: </a:t>
            </a:r>
            <a:r>
              <a:rPr lang="en-US" altLang="ko-KR" sz="1000" dirty="0">
                <a:solidFill>
                  <a:srgbClr val="334155"/>
                </a:solidFill>
              </a:rPr>
              <a:t>sangdon.park@dju.kr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400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0080" y="3154680"/>
            <a:ext cx="73152" cy="16916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29184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173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Hour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749040"/>
          <a:ext cx="3200400" cy="73152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요일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월 / 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11:00 ~ 12:00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수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14:00 ~ 15:00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Shape 14"/>
          <p:cNvSpPr/>
          <p:nvPr/>
        </p:nvSpPr>
        <p:spPr>
          <a:xfrm>
            <a:off x="47548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4754880" y="3154680"/>
            <a:ext cx="73152" cy="16916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291840"/>
            <a:ext cx="365760" cy="36576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5321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상담 안내</a:t>
            </a:r>
            <a:endParaRPr lang="en-US" sz="1600" dirty="0"/>
          </a:p>
        </p:txBody>
      </p:sp>
      <p:sp>
        <p:nvSpPr>
          <p:cNvPr id="26" name="Text 17"/>
          <p:cNvSpPr/>
          <p:nvPr/>
        </p:nvSpPr>
        <p:spPr>
          <a:xfrm>
            <a:off x="5029200" y="3749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Office Hour 방문 시 사전 예약 권장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[DB수업] 제목 표기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내용 외 진로·학업 상담도 가능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이해 안 되는 부분은 즉시 질문!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소극적인 질문도 환영합니다 :)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 수업을 통해 얻게 되는 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37160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설계 능력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 세계의 데이터를 분석하고 ER 다이어그램을 통해 체계적으로 데이터베이스를 설계할 수 있습니다.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1"/>
          <p:cNvSpPr/>
          <p:nvPr/>
        </p:nvSpPr>
        <p:spPr>
          <a:xfrm>
            <a:off x="61722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377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활용 능력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9377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SQL을 활용하여 데이터 정의·조작·제어를 수행하고, 실무에서 바로 사용할 수 있는 쿼리 작성 능력을 갖추게 됩니다.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400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0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6"/>
          <p:cNvSpPr/>
          <p:nvPr/>
        </p:nvSpPr>
        <p:spPr>
          <a:xfrm>
            <a:off x="20574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329184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29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관리 지식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229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트랜잭션, 동시성 제어, 회복, 보안 등 DBMS의 핵심 관리 메커니즘을 이해하게 됩니다.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7548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7548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Shape 21"/>
          <p:cNvSpPr/>
          <p:nvPr/>
        </p:nvSpPr>
        <p:spPr>
          <a:xfrm>
            <a:off x="61722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918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377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사고력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49377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구조적으로 바라보는 관점을 습득하고, 데이터 기반 의사결정의 토대를 마련합니다.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73152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r>
              <a:rPr lang="en-US" altLang="ko-KR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Started!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840480" y="310896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  <a:p>
            <a:pPr marL="0" indent="0" algn="ctr">
              <a:buNone/>
            </a:pPr>
            <a:endParaRPr lang="en-US" sz="1100" dirty="0">
              <a:solidFill>
                <a:srgbClr val="0891B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sangdon.park@dju.kr|  융합과학관 24221호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1114</Words>
  <Application>Microsoft Office PowerPoint</Application>
  <PresentationFormat>화면 슬라이드 쇼(16:9)</PresentationFormat>
  <Paragraphs>229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Malgun Gothic</vt:lpstr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0장. 데이터베이스시스템 Preview</dc:title>
  <dc:subject>PptxGenJS Presentation</dc:subject>
  <dc:creator>박상돈</dc:creator>
  <cp:lastModifiedBy>USER</cp:lastModifiedBy>
  <cp:revision>15</cp:revision>
  <dcterms:created xsi:type="dcterms:W3CDTF">2026-02-26T04:48:55Z</dcterms:created>
  <dcterms:modified xsi:type="dcterms:W3CDTF">2026-03-01T14:15:27Z</dcterms:modified>
</cp:coreProperties>
</file>