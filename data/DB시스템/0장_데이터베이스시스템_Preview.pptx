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69906" autoAdjust="0"/>
  </p:normalViewPr>
  <p:slideViewPr>
    <p:cSldViewPr snapToGrid="0" snapToObjects="1">
      <p:cViewPr varScale="1">
        <p:scale>
          <a:sx n="105" d="100"/>
          <a:sy n="105" d="100"/>
        </p:scale>
        <p:origin x="17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311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0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5088636"/>
            <a:ext cx="9034272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731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PREVIEW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데이터베이스시스템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— Course Introduction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3017520"/>
            <a:ext cx="2286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9184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박상돈 조교수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대전대학교 컴퓨터공학과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2025학년도 1학기</a:t>
            </a:r>
            <a:endParaRPr lang="en-US" sz="18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188720"/>
            <a:ext cx="1188720" cy="11887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772400" y="3200400"/>
            <a:ext cx="1097280" cy="1097280"/>
          </a:xfrm>
          <a:prstGeom prst="ellipse">
            <a:avLst/>
          </a:prstGeom>
          <a:solidFill>
            <a:srgbClr val="0891B2">
              <a:alpha val="2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6858000" y="3566160"/>
            <a:ext cx="548640" cy="548640"/>
          </a:xfrm>
          <a:prstGeom prst="ellipse">
            <a:avLst/>
          </a:prstGeom>
          <a:solidFill>
            <a:srgbClr val="0891B2">
              <a:alpha val="1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목차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7490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08760"/>
            <a:ext cx="73152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08760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16184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 목표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19842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데이터베이스 학습의 필요성과 교과 목표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508760"/>
            <a:ext cx="37490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508760"/>
            <a:ext cx="73152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508760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577840" y="16184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수업 내용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577840" y="19842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전반부(1~7주) · 후반부(9~15주) 커리큘럼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2606040"/>
            <a:ext cx="37490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2606040"/>
            <a:ext cx="73152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606040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63040" y="27157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교재 및 참고 자료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30815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주교재, 보조 자료, 온라인 리소스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606040"/>
            <a:ext cx="37490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606040"/>
            <a:ext cx="73152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606040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77840" y="27157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 진행 방법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577840" y="30815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이론 강의, 질의응답, 실습 안내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3703320"/>
            <a:ext cx="37490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" y="3703320"/>
            <a:ext cx="73152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3703320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463040" y="38130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 기준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463040" y="41788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퀴즈·과제, 중간고사, 기말고사, 출석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3703320"/>
            <a:ext cx="37490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703320"/>
            <a:ext cx="73152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3703320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577840" y="38130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문의 사항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577840" y="41788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연락처, Office Hour, 상담 안내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13716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수업 목표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Objectives &amp; Why Study Databases?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왜 데이터베이스를 배워야 하는가?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78638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005840"/>
            <a:ext cx="37490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005840"/>
            <a:ext cx="73152" cy="11430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115568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0789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이해의 기초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14630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정형·반정형·비정형 등 다양한 종류의 데이터를 체계적으로 이해하고 분류하는 능력을 갖추게 됩니다.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54880" y="1005840"/>
            <a:ext cx="37490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005840"/>
            <a:ext cx="73152" cy="114300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115568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94960" y="10789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개발의 출발점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983480" y="14630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소프트웨어 시스템(웹, 앱, 게임)은 데이터 저장·관리가 필수입니다. DB 설계는 개발의 첫 단계입니다.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40080" y="2331720"/>
            <a:ext cx="37490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331720"/>
            <a:ext cx="73152" cy="114300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2441448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80160" y="24048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AI/빅데이터의 기반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68680" y="27889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인공지능·머신러닝 시스템은 대량의 데이터를 전제로 합니다. DB는 AI 파이프라인의 핵심 인프라입니다.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754880" y="2331720"/>
            <a:ext cx="37490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754880" y="2331720"/>
            <a:ext cx="73152" cy="114300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2441448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94960" y="24048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관리의 중요성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983480" y="27889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신뢰성·일관성 유지, 보안·개인정보 보호, 성능 최적화, 비즈니스 연속성 확보가 가능해집니다.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640080" y="3657600"/>
            <a:ext cx="37490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640080" y="3657600"/>
            <a:ext cx="73152" cy="1143000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3767328"/>
            <a:ext cx="320040" cy="32004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280160" y="37307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분석·인텔리전스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868680" y="41148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축적된 데이터에서 의미 있는 패턴을 발견하고, 데이터 기반 의사결정(Data-Driven Decision)을 지원합니다.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4754880" y="3657600"/>
            <a:ext cx="37490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754880" y="3657600"/>
            <a:ext cx="73152" cy="11430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3480" y="3767328"/>
            <a:ext cx="320040" cy="32004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394960" y="37307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업무·취업 경쟁력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4983480" y="41148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지식은 백엔드 개발, 데이터 엔지니어링, DBA 등 IT 직군에서 필수 역량으로 요구됩니다.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교과목 개요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78638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051560"/>
            <a:ext cx="7863840" cy="1371600"/>
          </a:xfrm>
          <a:prstGeom prst="rect">
            <a:avLst/>
          </a:prstGeom>
          <a:solidFill>
            <a:srgbClr val="1A2744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28016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114300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데이터베이스시스템 (Database Systems)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데이터베이스의 기초 이론 및 필요성, 데이터 모델링 방법, 데이터베이스 언어(SQL) 사용법,</a:t>
            </a:r>
            <a:endParaRPr lang="en-US" sz="20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데이터베이스 설계 및 관리 방법에 대하여 체계적으로 학습합니다.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40080" y="2697480"/>
            <a:ext cx="374904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9260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2788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형태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1371600" y="3108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이론 강의 3시간/주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754880" y="2697480"/>
            <a:ext cx="374904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292608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86400" y="2788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 학년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5486400" y="3108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컴퓨터공학과</a:t>
            </a: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3학년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40080" y="3749040"/>
            <a:ext cx="374904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397764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71600" y="3840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선수 과목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1371600" y="4160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프로그래밍 기초 (권장)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4754880" y="3749040"/>
            <a:ext cx="374904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0" y="3977640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486400" y="3840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학기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5486400" y="4160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2026학년도 1학기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13716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주요 수업 내용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Curriculum &amp; Weekly Schedule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전반부 커리큘럼 (1주 ~ 중간고사)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78638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7863840" cy="365760"/>
          </a:xfrm>
          <a:prstGeom prst="rect">
            <a:avLst/>
          </a:prstGeom>
          <a:solidFill>
            <a:srgbClr val="0891B2">
              <a:alpha val="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기초 이론 → 데이터 모델링 → 관계 데이터 모델 → 관계 데이터 연산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9377467"/>
              </p:ext>
            </p:extLst>
          </p:nvPr>
        </p:nvGraphicFramePr>
        <p:xfrm>
          <a:off x="640080" y="1463040"/>
          <a:ext cx="7863840" cy="2913888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주차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주제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주요 내용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1주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</a:rPr>
                        <a:t>강의 소개 &amp; Preview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교과 안내, DB의 중요성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2주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</a:rPr>
                        <a:t>1장. 데이터베이스 기본 개념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데이터·정보, DB 정의·특징, 데이터 분류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3주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</a:rPr>
                        <a:t>2장. 데이터베이스 관리 시스템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DBMS 등장 배경, 정의, 장·단점, 발전 과정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4주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</a:rPr>
                        <a:t>3장. 데이터베이스 시스템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DB 시스템 구성, 3단계 스키마 구조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5주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</a:rPr>
                        <a:t>4장. 데이터 모델링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ER 모델, 개체, 속성, 관계, ER 다이어그램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6주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</a:rPr>
                        <a:t>5장. 관계 데이터 모델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릴레이션, 키, 무결성 제약 조건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7주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</a:rPr>
                        <a:t>6장. 관계 데이터 연산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관계 대수, 셀렉트·프로젝트·조인 연산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4495800"/>
            <a:ext cx="7863840" cy="335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4434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8주차  —  중간고사 (Midterm Exam)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후반부 커리큘럼 (중간고사 이후 ~ 기말고사)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78638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7863840" cy="365760"/>
          </a:xfrm>
          <a:prstGeom prst="rect">
            <a:avLst/>
          </a:prstGeom>
          <a:solidFill>
            <a:srgbClr val="F59E0B">
              <a:alpha val="1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실습 → DB 설계 → 정규화 → 트랜잭션 → 보안 → 빅데이터 응용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0392026"/>
              </p:ext>
            </p:extLst>
          </p:nvPr>
        </p:nvGraphicFramePr>
        <p:xfrm>
          <a:off x="640080" y="1463040"/>
          <a:ext cx="7863840" cy="283464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주차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주제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주요 내용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9주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</a:rPr>
                        <a:t>7장. 데이터베이스 언어 SQL (1)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DDL, 테이블 생성·수정·삭제, 데이터 타입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10주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</a:rPr>
                        <a:t>7장. 데이터베이스 언어 SQL (2)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DML, SELECT·INSERT·UPDATE·DELETE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11주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</a:rPr>
                        <a:t>8장. 데이터베이스 설계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설계 단계, ER→관계 모델 변환, 정규화 개요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12주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</a:rPr>
                        <a:t>9장. 정규화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함수 종속, 1NF~BCNF, 이상 현상 해결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13주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</a:rPr>
                        <a:t>10장. 회복과 병행 제어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트랜잭션, ACID, 로그 기반 회복, 동시성 제어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14주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</a:rPr>
                        <a:t>11~12장. 보안·응용 기술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권한 관리, 빅데이터, 데이터 과학 개론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6"/>
          <p:cNvSpPr/>
          <p:nvPr/>
        </p:nvSpPr>
        <p:spPr>
          <a:xfrm>
            <a:off x="640080" y="4434840"/>
            <a:ext cx="786384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4434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15주차  —  기말고사 (Final Exam)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13716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교재 및 참고 자료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 &amp; Reference Materials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교재 및 참고 자료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78638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051560"/>
            <a:ext cx="57607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051560"/>
            <a:ext cx="73152" cy="20116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23444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188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주교재 (Main Textbook)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05840" y="1691640"/>
            <a:ext cx="7132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CookBook, 데이터베이스 개론 (3판)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저자: 김연희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출판사: 한빛아카데미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데이터베이스의 기초부터 설계, SQL, </a:t>
            </a:r>
            <a:r>
              <a:rPr lang="en-US" sz="11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정규화까지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체계적으로 다루는 교재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교재를 구매하지 않더라도 이해하고 학습할 수 있도록 강의 자료를 제공합니다.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40080" y="3246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보조 자료 및 온라인 리소스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3703320"/>
            <a:ext cx="2514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0080" y="3703320"/>
            <a:ext cx="251460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88620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8872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강의 슬라이드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22960" y="4251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매주 수업 전 LMS에 업로드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429000" y="3703320"/>
            <a:ext cx="2514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429000" y="3703320"/>
            <a:ext cx="251460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388620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97764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실습 자료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3611880" y="4251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MySQL/PostgreSQL 실습 환경 안내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217920" y="3703320"/>
            <a:ext cx="2514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217920" y="3703320"/>
            <a:ext cx="2514600" cy="54864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886200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76656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온라인 참고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6400800" y="4251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W3Schools SQL, DB-Engines.com</a:t>
            </a:r>
            <a:endParaRPr lang="en-US" sz="1000" dirty="0"/>
          </a:p>
        </p:txBody>
      </p:sp>
      <p:pic>
        <p:nvPicPr>
          <p:cNvPr id="1026" name="Picture 2" descr="IT CookBook, 데이터베이스 개론(3판)">
            <a:extLst>
              <a:ext uri="{FF2B5EF4-FFF2-40B4-BE49-F238E27FC236}">
                <a16:creationId xmlns:a16="http://schemas.microsoft.com/office/drawing/2014/main" id="{5342D419-2AF3-45B2-A4F0-A1B0A896D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4122" y="1024128"/>
            <a:ext cx="1831238" cy="2289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13716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수업 진행 방법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Methods &amp; Class Policy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수업 진행 방법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78638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051560"/>
            <a:ext cx="2560320" cy="362102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051560"/>
            <a:ext cx="2560320" cy="640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Shape 6"/>
          <p:cNvSpPr/>
          <p:nvPr/>
        </p:nvSpPr>
        <p:spPr>
          <a:xfrm>
            <a:off x="1508760" y="1280160"/>
            <a:ext cx="777240" cy="777240"/>
          </a:xfrm>
          <a:prstGeom prst="ellipse">
            <a:avLst/>
          </a:prstGeom>
          <a:solidFill>
            <a:srgbClr val="0891B2">
              <a:alpha val="10000"/>
            </a:srgbClr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3352" y="1444752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이론 강의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005840" y="2651760"/>
            <a:ext cx="18288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278892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매주 3시간 이론 중심 강의 진행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강의 중 간단한 질문을 </a:t>
            </a:r>
            <a:r>
              <a:rPr lang="en-US" sz="10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통해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이해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확인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핵심 개념 → 예시 → 정리 순서로 진행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슬라이드 자료는 사전에 LMS 업로드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474720" y="1051560"/>
            <a:ext cx="2560320" cy="362102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74720" y="1051560"/>
            <a:ext cx="256032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Shape 12"/>
          <p:cNvSpPr/>
          <p:nvPr/>
        </p:nvSpPr>
        <p:spPr>
          <a:xfrm>
            <a:off x="4343400" y="1280160"/>
            <a:ext cx="777240" cy="777240"/>
          </a:xfrm>
          <a:prstGeom prst="ellipse">
            <a:avLst/>
          </a:prstGeom>
          <a:solidFill>
            <a:srgbClr val="F59E0B">
              <a:alpha val="10000"/>
            </a:srgbClr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7992" y="1444752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61188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강의 자료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3840480" y="2651760"/>
            <a:ext cx="18288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Text 15"/>
          <p:cNvSpPr/>
          <p:nvPr/>
        </p:nvSpPr>
        <p:spPr>
          <a:xfrm>
            <a:off x="3657600" y="278892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교재 </a:t>
            </a:r>
            <a:r>
              <a:rPr lang="en-US" sz="10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구매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없이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학습 가능한 자료 제공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각 장의 핵심 내용을 정리한 슬라이드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SQL 실습 예제 코드 별도 제공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보충 설명 자료 수시 업로드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309360" y="1051560"/>
            <a:ext cx="2560320" cy="362102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309360" y="1051560"/>
            <a:ext cx="256032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Shape 18"/>
          <p:cNvSpPr/>
          <p:nvPr/>
        </p:nvSpPr>
        <p:spPr>
          <a:xfrm>
            <a:off x="7178040" y="1280160"/>
            <a:ext cx="777240" cy="777240"/>
          </a:xfrm>
          <a:prstGeom prst="ellipse">
            <a:avLst/>
          </a:prstGeom>
          <a:solidFill>
            <a:srgbClr val="10B981">
              <a:alpha val="10000"/>
            </a:srgbClr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2632" y="1444752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44652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질의응답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6675120" y="2651760"/>
            <a:ext cx="18288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1"/>
          <p:cNvSpPr/>
          <p:nvPr/>
        </p:nvSpPr>
        <p:spPr>
          <a:xfrm>
            <a:off x="6492240" y="278892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수업 중 자유로운 질문 환영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수업 후 질문은 Office Hour 활용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이메일 질문 시 24시간 내 답변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어려운 내용은 보충 설명 제공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13716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평가 기준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Policy &amp; Assessment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평가 기준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78638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31520" y="1051560"/>
            <a:ext cx="6592824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31520" y="1051560"/>
            <a:ext cx="64008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109728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10%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554480" y="1097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퀴즈 및 과제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60120" y="1417320"/>
            <a:ext cx="6080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주기적인 퀴즈와 개인 과제를 통해 학습 내용의 이해도를 평가합니다. 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731520" y="2011680"/>
            <a:ext cx="6592824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31520" y="2011680"/>
            <a:ext cx="64008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20574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554480" y="2057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중간고사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60120" y="2377440"/>
            <a:ext cx="6080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1장~6장 범위 (데이터베이스 기초, DBMS, 데이터 모델링, 관계 모델, 관계 연산). 필기시험으로 진행.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31520" y="2971800"/>
            <a:ext cx="6592824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31520" y="2971800"/>
            <a:ext cx="64008" cy="7772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6"/>
          <p:cNvSpPr/>
          <p:nvPr/>
        </p:nvSpPr>
        <p:spPr>
          <a:xfrm>
            <a:off x="914400" y="301752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554480" y="3017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기말고사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60120" y="3337560"/>
            <a:ext cx="6080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7장~12장 범위 (SQL, DB 설계, 정규화, 트랜잭션, 보안, 응용 기술). 필기시험으로 진행.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31520" y="3931920"/>
            <a:ext cx="6592824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31520" y="3931920"/>
            <a:ext cx="64008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1"/>
          <p:cNvSpPr/>
          <p:nvPr/>
        </p:nvSpPr>
        <p:spPr>
          <a:xfrm>
            <a:off x="914400" y="397764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554480" y="3977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출석</a:t>
            </a: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및 핵심역량평가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960120" y="4297680"/>
            <a:ext cx="6080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ko-KR" alt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지각 </a:t>
            </a:r>
            <a:r>
              <a:rPr lang="en-US" altLang="ko-KR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ko-KR" alt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 </a:t>
            </a:r>
            <a:r>
              <a:rPr lang="en-US" altLang="ko-KR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</a:t>
            </a:r>
            <a:r>
              <a:rPr lang="ko-KR" alt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결석 </a:t>
            </a:r>
            <a:r>
              <a:rPr lang="en-US" altLang="ko-KR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ko-KR" alt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</a:t>
            </a:r>
            <a:r>
              <a:rPr lang="en-US" altLang="ko-KR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결석 </a:t>
            </a:r>
            <a:r>
              <a:rPr lang="en-US" altLang="ko-KR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ko-KR" alt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회까지는 </a:t>
            </a:r>
            <a:r>
              <a:rPr lang="en-US" altLang="ko-KR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ko-KR" alt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 만점</a:t>
            </a:r>
            <a:r>
              <a:rPr lang="en-US" altLang="ko-KR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결석 </a:t>
            </a:r>
            <a:r>
              <a:rPr lang="en-US" altLang="ko-KR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ko-KR" alt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회부터 결석 </a:t>
            </a:r>
            <a:r>
              <a:rPr lang="en-US" altLang="ko-KR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ko-KR" alt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회마다 </a:t>
            </a:r>
            <a:r>
              <a:rPr lang="en-US" altLang="ko-KR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ko-KR" altLang="en-US" sz="9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점씩</a:t>
            </a:r>
            <a:r>
              <a:rPr lang="ko-KR" alt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차감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13716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문의 사항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Information &amp; Office Hours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연락처 및 Office Hour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78638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051560"/>
            <a:ext cx="78638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051560"/>
            <a:ext cx="7863840" cy="640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371600"/>
            <a:ext cx="1097280" cy="1097280"/>
          </a:xfrm>
          <a:prstGeom prst="ellipse">
            <a:avLst/>
          </a:prstGeom>
          <a:solidFill>
            <a:srgbClr val="0891B2">
              <a:alpha val="10000"/>
            </a:srgbClr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554480"/>
            <a:ext cx="731520" cy="7315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37744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744"/>
                </a:solidFill>
              </a:rPr>
              <a:t>박상돈 조교수</a:t>
            </a:r>
            <a:endParaRPr lang="en-US" sz="20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대전대학교 컴퓨터공학과</a:t>
            </a:r>
            <a:endParaRPr lang="en-US" sz="20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214884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97480" y="2103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</a:rPr>
              <a:t>연구실: </a:t>
            </a:r>
            <a:r>
              <a:rPr lang="en-US" sz="1000" dirty="0">
                <a:solidFill>
                  <a:srgbClr val="334155"/>
                </a:solidFill>
              </a:rPr>
              <a:t>융합과학관 2층 24221호</a:t>
            </a:r>
            <a:endParaRPr lang="en-US" sz="10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214884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20640" y="2103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</a:rPr>
              <a:t>내선: </a:t>
            </a:r>
            <a:r>
              <a:rPr lang="en-US" sz="1000" dirty="0">
                <a:solidFill>
                  <a:srgbClr val="334155"/>
                </a:solidFill>
              </a:rPr>
              <a:t>2561</a:t>
            </a:r>
            <a:endParaRPr lang="en-US" sz="10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7900" y="2148840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377940" y="2103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</a:rPr>
              <a:t>이메일: </a:t>
            </a:r>
            <a:r>
              <a:rPr lang="en-US" altLang="ko-KR" sz="1000" dirty="0">
                <a:solidFill>
                  <a:srgbClr val="334155"/>
                </a:solidFill>
              </a:rPr>
              <a:t>sangdon.park@dju.kr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640080" y="3154680"/>
            <a:ext cx="37490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640080" y="3154680"/>
            <a:ext cx="73152" cy="16916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3291840"/>
            <a:ext cx="365760" cy="3657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417320" y="3246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Hour</a:t>
            </a:r>
            <a:endParaRPr lang="en-US" sz="1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8181471"/>
              </p:ext>
            </p:extLst>
          </p:nvPr>
        </p:nvGraphicFramePr>
        <p:xfrm>
          <a:off x="914400" y="3749040"/>
          <a:ext cx="3200400" cy="73152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요일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시간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월 / 화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11:00 ~ 12:00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00" b="1" dirty="0"/>
                        <a:t>목</a:t>
                      </a:r>
                      <a:endParaRPr lang="en-US" sz="1000" b="1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12:00 ~ 13:00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Shape 14"/>
          <p:cNvSpPr/>
          <p:nvPr/>
        </p:nvSpPr>
        <p:spPr>
          <a:xfrm>
            <a:off x="4754880" y="3154680"/>
            <a:ext cx="37490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4754880" y="3154680"/>
            <a:ext cx="73152" cy="169164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3291840"/>
            <a:ext cx="365760" cy="36576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532120" y="3246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상담 안내</a:t>
            </a:r>
            <a:endParaRPr lang="en-US" sz="1600" dirty="0"/>
          </a:p>
        </p:txBody>
      </p:sp>
      <p:sp>
        <p:nvSpPr>
          <p:cNvPr id="26" name="Text 17"/>
          <p:cNvSpPr/>
          <p:nvPr/>
        </p:nvSpPr>
        <p:spPr>
          <a:xfrm>
            <a:off x="5029200" y="37490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Office Hour 방문 시 사전 예약 권장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이메일 질문 시 [DB수업] 제목 표기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수업 내용 외 진로·학업 상담도 가능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수업 중 이해 안 되는 부분은 즉시 질문!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소극적인 질문도 환영합니다 :)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이 수업을 통해 얻게 되는 것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78638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051560"/>
            <a:ext cx="37490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051560"/>
            <a:ext cx="3749040" cy="640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Shape 6"/>
          <p:cNvSpPr/>
          <p:nvPr/>
        </p:nvSpPr>
        <p:spPr>
          <a:xfrm>
            <a:off x="2057400" y="1234440"/>
            <a:ext cx="685800" cy="685800"/>
          </a:xfrm>
          <a:prstGeom prst="ellipse">
            <a:avLst/>
          </a:prstGeom>
          <a:solidFill>
            <a:srgbClr val="0891B2">
              <a:alpha val="10000"/>
            </a:srgbClr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137160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1965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설계 능력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22402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현실 세계의 데이터를 분석하고 ER 다이어그램을 통해 체계적으로 데이터베이스를 설계할 수 있습니다.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54880" y="1051560"/>
            <a:ext cx="37490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1051560"/>
            <a:ext cx="3749040" cy="640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Shape 11"/>
          <p:cNvSpPr/>
          <p:nvPr/>
        </p:nvSpPr>
        <p:spPr>
          <a:xfrm>
            <a:off x="6172200" y="1234440"/>
            <a:ext cx="685800" cy="685800"/>
          </a:xfrm>
          <a:prstGeom prst="ellipse">
            <a:avLst/>
          </a:prstGeom>
          <a:solidFill>
            <a:srgbClr val="0891B2">
              <a:alpha val="10000"/>
            </a:srgbClr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37160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937760" y="1965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활용 능력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937760" y="22402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SQL을 활용하여 데이터 정의·조작·제어를 수행하고, 실무에서 바로 사용할 수 있는 쿼리 작성 능력을 갖추게 됩니다.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40080" y="2971800"/>
            <a:ext cx="37490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0080" y="2971800"/>
            <a:ext cx="3749040" cy="640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Shape 16"/>
          <p:cNvSpPr/>
          <p:nvPr/>
        </p:nvSpPr>
        <p:spPr>
          <a:xfrm>
            <a:off x="2057400" y="3154680"/>
            <a:ext cx="685800" cy="685800"/>
          </a:xfrm>
          <a:prstGeom prst="ellipse">
            <a:avLst/>
          </a:prstGeom>
          <a:solidFill>
            <a:srgbClr val="0891B2">
              <a:alpha val="10000"/>
            </a:srgbClr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4560" y="3291840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22960" y="3886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관리 지식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822960" y="41605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트랜잭션, 동시성 제어, 회복, 보안 등 DBMS의 핵심 관리 메커니즘을 이해하게 됩니다.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4754880" y="2971800"/>
            <a:ext cx="37490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754880" y="2971800"/>
            <a:ext cx="3749040" cy="640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Shape 21"/>
          <p:cNvSpPr/>
          <p:nvPr/>
        </p:nvSpPr>
        <p:spPr>
          <a:xfrm>
            <a:off x="6172200" y="3154680"/>
            <a:ext cx="685800" cy="685800"/>
          </a:xfrm>
          <a:prstGeom prst="ellipse">
            <a:avLst/>
          </a:prstGeom>
          <a:solidFill>
            <a:srgbClr val="0891B2">
              <a:alpha val="10000"/>
            </a:srgbClr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291840"/>
            <a:ext cx="411480" cy="41148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937760" y="3886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사고력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4937760" y="41605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데이터를 구조적으로 바라보는 관점을 습득하고, 데이터 기반 의사결정의 토대를 마련합니다.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73152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6459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감사합니다</a:t>
            </a:r>
            <a:r>
              <a:rPr lang="en-US" altLang="ko-KR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Get Started!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3840480" y="3108960"/>
            <a:ext cx="146304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33832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박상돈 조교수  |  대전대학교 컴퓨터공학과</a:t>
            </a:r>
            <a:endParaRPr lang="en-US" sz="1300" dirty="0"/>
          </a:p>
          <a:p>
            <a:pPr marL="0" indent="0" algn="ctr">
              <a:buNone/>
            </a:pPr>
            <a:endParaRPr lang="en-US" sz="1100" dirty="0">
              <a:solidFill>
                <a:srgbClr val="0891B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sangdon.park@dju.kr|  융합과학관 24221호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840480"/>
            <a:ext cx="731520" cy="731520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7955280" y="731520"/>
            <a:ext cx="914400" cy="914400"/>
          </a:xfrm>
          <a:prstGeom prst="ellipse">
            <a:avLst/>
          </a:prstGeom>
          <a:solidFill>
            <a:srgbClr val="0891B2">
              <a:alpha val="12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1113</Words>
  <Application>Microsoft Office PowerPoint</Application>
  <PresentationFormat>화면 슬라이드 쇼(16:9)</PresentationFormat>
  <Paragraphs>225</Paragraphs>
  <Slides>18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3" baseType="lpstr">
      <vt:lpstr>맑은 고딕</vt:lpstr>
      <vt:lpstr>Arial</vt:lpstr>
      <vt:lpstr>Arial Black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0장. 데이터베이스시스템 Preview</dc:title>
  <dc:subject>PptxGenJS Presentation</dc:subject>
  <dc:creator>박상돈</dc:creator>
  <cp:lastModifiedBy>USER</cp:lastModifiedBy>
  <cp:revision>18</cp:revision>
  <dcterms:created xsi:type="dcterms:W3CDTF">2026-02-26T04:48:55Z</dcterms:created>
  <dcterms:modified xsi:type="dcterms:W3CDTF">2026-03-02T11:31:20Z</dcterms:modified>
</cp:coreProperties>
</file>