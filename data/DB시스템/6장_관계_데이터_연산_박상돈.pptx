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11"/>
    <p:restoredTop sz="68670"/>
  </p:normalViewPr>
  <p:slideViewPr>
    <p:cSldViewPr snapToGrid="0" snapToObjects="1">
      <p:cViewPr>
        <p:scale>
          <a:sx n="130" d="100"/>
          <a:sy n="13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3" Type="http://schemas.openxmlformats.org/officeDocument/2006/relationships/slide" Target="slides/slide41.xml"  /><Relationship Id="rId44" Type="http://schemas.openxmlformats.org/officeDocument/2006/relationships/slide" Target="slides/slide42.xml"  /><Relationship Id="rId45" Type="http://schemas.openxmlformats.org/officeDocument/2006/relationships/slide" Target="slides/slide43.xml"  /><Relationship Id="rId46" Type="http://schemas.openxmlformats.org/officeDocument/2006/relationships/slide" Target="slides/slide44.xml"  /><Relationship Id="rId47" Type="http://schemas.openxmlformats.org/officeDocument/2006/relationships/presProps" Target="presProps.xml"  /><Relationship Id="rId48" Type="http://schemas.openxmlformats.org/officeDocument/2006/relationships/viewProps" Target="viewProps.xml"  /><Relationship Id="rId49" Type="http://schemas.openxmlformats.org/officeDocument/2006/relationships/theme" Target="theme/theme1.xml"  /><Relationship Id="rId5" Type="http://schemas.openxmlformats.org/officeDocument/2006/relationships/slide" Target="slides/slide3.xml"  /><Relationship Id="rId50" Type="http://schemas.openxmlformats.org/officeDocument/2006/relationships/tableStyles" Target="tableStyles.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데이터베이스 여섯 번째 챕터, 관계 데이터 연산에 대해 배우겠습니다.
지난 시간에 관계 데이터 모델의 구조랑 제약조건을 배웠잖아요. 릴레이션이 뭔지, 키가 뭔지, 무결성 제약조건이 뭔지. 그건 데이터를 어떻게 저장하느냐의 문제였어요.
그런데 데이터를 저장만 하면 아무 소용이 없겠죠? '골드 등급인 고객이 누구야?', '이 고객이 뭘 주문했어?' 이런 질문에 답할 수 있어야 데이터베이스가 의미가 있는 거예요. 이렇게 저장된 데이터에서 원하는 정보를 꺼내는 방법, 그게 바로 오늘 배울 '연산'입니다.
오늘 배우는 내용이 나중에 SQL을 배울 때 직접적으로 연결돼요. SELECT, WHERE, JOIN 같은 SQL 명령어가 전부 오늘 배우는 관계 대수 연산자에 기반을 두고 있거든요. 그래서 오늘 내용을 잘 이해해두면 SQL이 훨씬 쉬워집니다.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장은 두 파트입니다.
첫 번째 파트는 관계 데이터 연산의 개념이에요. 분량이 짧아요. 데이터 모델의 세 가지 구성 요소 중에서 연산이 어디에 해당하는지, 그리고 연산을 기술하는 방법이 관계 대수랑 관계 해석 두 가지가 있다는 걸 배웁니다.
두 번째 파트가 이번 장의 핵심이에요. 관계 대수. 여기서 8개의 연산자를 하나하나 다 배우게 됩니다. 일반 집합 연산자로 합집합, 교집합, 차집합, 카티션 프로덕트 네 개. 순수 관계 연산자로 셀렉트, 프로젝트, 조인, 디비전 네 개. 총 8개예요.
시험에서는 셀렉트랑 프로젝트를 구분하는 문제, 조인의 결과를 구하는 문제, 관계 대수로 질의를 표현하는 문제가 많이 나옵니다. 연산자 기호도 외워야 해요. 시그마(σ)가 셀렉트인지 프로젝트인지 헷갈리면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첫 번째 파트인 관계 데이터 연산의 개념부터 시작하겠습니다.
이 파트는 짧지만, 데이터 모델의 전체 구조에서 오늘 배우는 '연산'이 어디에 위치하는지를 이해하는 데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데이터 모델은 세 가지로 구성된다고 했죠. 데이터 구조, 연산, 제약조건.
비유를 하자면, 데이터 구조는 '창고의 선반 배치'예요. 어떤 물건을 어디에 어떻게 정리해놓을 건지. Chapter 5에서 릴레이션이라는 2차원 테이블 구조를 배웠죠.
제약조건은 '창고 사용 규칙'이에요. 라벨 없는 물건은 넣지 마라, 없는 선반을 가리키지 마라. 개체 무결성이랑 참조 무결성을 배웠죠.
그러면 연산은 뭘까요? 연산은 '창고에서 물건을 꺼내는 방법'이에요. '빨간색 물건만 골라줘', '3번 선반에 있는 것만 보여줘', '1번 창고랑 2번 창고의 물건을 합쳐줘' 이런 요청을 처리하는 거예요.
오늘은 바로 이 세 번째 요소, 연산을 배우는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데이터 모델의 세 가지 구성 요소를 보여줍니다.
가운데에 '데이터 모델'이 있고, 세 갈래로 나뉘어요. 왼쪽 아래에 '데이터 구조', 위에 '연산', 오른쪽 아래에 '제약조건'.
데이터 구조는 Chapter 5에서 배웠고, 제약조건도 Chapter 5에서 배웠어요. 오늘은 위쪽에 빨간 상자로 강조된 '연산' 부분을 다루는 거예요. 이 세 개가 합쳐져야 비로소 완전한 데이터 모델이 됩니다.
쉽게 정리하면, 구조는 '데이터를 어떻게 저장하느냐', 제약조건은 '어떤 데이터는 안 되느냐', 연산은 '저장된 데이터를 어떻게 꺼내느냐'예요.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 데이터 연산이 뭔지 좀 더 구체적으로 볼게요.
관계 데이터 연산은 원하는 결과를 얻기 위해 릴레이션에 필요한 처리를 수행하는 거예요. 예를 들어 '고객 테이블에서 등급이 gold인 사람만 골라줘'라든가 '고객 테이블이랑 주문 테이블을 합쳐서 누가 뭘 주문했는지 보여줘' 같은 작업이에요.
이런 연산을 기술하는 방법이 두 가지 있습니다.
첫째, 관계 대수. 이건 How 방식이에요. 절차적이라고도 해요. '어떻게' 데이터를 처리할 건지 순서대로 지시합니다. 비유하면 요리 레시피 같은 거예요. '먼저 양파를 썰고, 그다음 팬에 기름을 두르고, 그다음 양파를 볶아라.' 이렇게 단계별로 알려주는 거죠.
둘째, 관계 해석. 이건 What 방식이에요. 비절차적이라고도 해요. '무엇을' 원하는지만 말합니다. 레스토랑에서 주문하는 것과 같아요. '양파볶음 하나 주세요.' 어떻게 만드는지는 내가 알 바 아니고, 결과물만 원하는 거죠.
실제 SQL은 이 두 가지가 섞여있는데, 이론적 기반은 관계 대수 쪽이에요. 오늘은 관계 대수를 집중적으로 배울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두 번째 파트, 관계 대수로 넘어갑니다.
여기서부터가 오늘의 본게임이에요. 8개의 연산자를 하나하나 배울 건데, 각 연산자가 어떻게 동작하는지 예제를 통해서 확실히 이해하고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 대수가 뭔지 정확히 짚고 넘어갈게요.
관계 대수는 절차 언어예요. 원하는 결과를 얻기 위해 '이 릴레이션에서 먼저 이 조건으로 고르고, 그다음 저 릴레이션이랑 합치고, 거기서 이 속성만 뽑아라' 이런 식으로 처리 순서를 하나하나 지정하는 언어입니다.
연산자는 총 8개예요. 일반 집합 연산자 4개, 순수 관계 연산자 4개.
일반 집합 연산자는 수학 시간에 배운 집합 연산을 릴레이션에 적용한 거예요. 합집합, 교집합, 차집합 이런 거 수학에서 배웠잖아요. 그걸 테이블에 적용하는 거예요.
순수 관계 연산자는 관계 데이터 모델에서만 쓰이는 고유한 연산이에요. 셀렉트, 프로젝트, 조인, 디비전. 이것들은 수학의 집합론에는 없고, 데이터베이스를 위해 새로 만든 연산이에요.
그리고 아주 중요한 특성이 하나 있어요. 폐쇄 특성이라고 하는 건데요. 연산에 넣는 것도 릴레이션이고 나오는 것도 릴레이션이에요. 이게 왜 중요하냐면, 연산 결과에 또 다른 연산을 적용할 수 있다는 뜻이거든요.
예를 들어 셀렉트로 gold 등급 고객만 골라낸 결과가 릴레이션이니까, 거기에 프로젝트를 적용해서 이름만 뽑아낼 수 있어요. 이렇게 연산을 체인처럼 연결할 수 있는 게 폐쇄 특성 덕분이에요.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8개 연산자의 전체 구조를 보여주는 아주 중요한 그림이에요.
왼쪽에 '관계 대수 연산자'가 있고 두 갈래로 나뉩니다.
위쪽이 일반 집합 연산자 네 개예요. 합집합, 기호는 U자 모양의 ∪. 교집합, 기호는 뒤집힌 U 모양의 ∩. 차집합, 기호는 마이너스 −. 카티션 프로덕트, 기호는 곱하기 ×.
아래쪽이 순수 관계 연산자 네 개인데, 빨간 상자로 강조되어 있어요. 셀렉트, 기호는 그리스 문자 시그마 σ. 프로젝트, 기호는 파이 π. 조인, 기호는 나비넥타이 모양 ⋈. 디비전, 기호는 나누기 ÷.
이 기호들을 꼭 외워두세요. 시험에서 '다음 기호의 연산은?' 이런 문제가 나옵니다. 특히 σ(셀렉트)랑 π(프로젝트)를 헷갈리면 안 돼요. σ는 조건으로 행을 고르는 거, π는 원하는 열을 고르는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일반 집합 연산자 네 개부터 봅시다.
이름에서 알 수 있듯이, 수학에서 배운 집합 연산을 릴레이션에 적용한 거예요. 릴레이션도 투플의 집합이니까 집합 연산을 할 수 있는 거죠.
합집합은 R이랑 S에 속하는 모든 투플을 합치는 거, 교집합은 R이랑 S 양쪽에 다 있는 투플만 고르는 거, 차집합은 R에는 있는데 S에는 없는 투플을 고르는 거, 카티션 프로덕트는 R의 각 투플과 S의 각 투플을 전부 조합하는 거예요.
여기서 중요한 건, 합집합·교집합·차집합은 두 릴레이션이 '합병 가능'해야 한다는 조건이 있다는 거예요. 카티션 프로덕트는 그런 조건이 없고요. 합병 가능이 뭔지는 잠시 후에 자세히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일반 집합 연산자 네 가지의 기호, 수학적 표현, 의미를 한눈에 정리한 표예요.
합집합은 ∪, 교집합은 ∩, 차집합은 −, 카티션 프로덕트는 × 기호를 써요. 수학의 집합 기호랑 똑같죠? 그래서 일반 집합 연산자라고 부르는 거예요.
표를 자세히 보면 각 연산자의 의미가 적혀있어요. 합집합은 'R 또는 S에 속하는 모든 투플', 교집합은 'R과 S 모두에 속하는 투플', 차집합은 'R에는 속하지만 S에는 안 속하는 투플', 카티션 프로덕트는 'R과 S의 모든 투플을 조합한 것'.
특히 합집합, 교집합, 차집합 세 개는 합병 가능이라는 전제 조건이 필요하다는 걸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 집합 연산자의 중요한 특성을 정리해드릴게요.
일단 네 연산자 모두 피연산자가 2개 필요합니다. 릴레이션 R이랑 S, 두 개를 가지고 연산하는 거예요. 혼자서는 안 돼요.
그리고 합집합, 교집합, 차집합 세 개는 두 릴레이션이 합병 가능해야 해요. 합병 가능 조건은 두 가지입니다.
첫째, 두 릴레이션의 차수가 같아야 해요. 차수가 뭐였죠? 열의 개수. R이 열이 3개면 S도 열이 3개여야 해요. R은 이름, 나이, 등급 세 열인데 S는 이름, 나이 두 열이면 합병이 안 됩니다. 구조가 다른 표를 합치거나 빼는 건 의미가 없으니까요.
둘째, 서로 대응되는 속성의 도메인이 같아야 해요. R의 첫 번째 열이 정수(나이)이고 S의 첫 번째 열도 정수(나이)여야 해요. R의 첫 번째 열이 정수인데 S의 첫 번째 열이 문자열이면 합병이 안 돼요. 사과랑 오렌지를 비교할 수 없는 것처럼, 타입이 다른 속성끼리는 비교 자체가 무의미하거든요.
비유하면, 두 학교의 학생 명부를 합치려면 열 구조가 같아야 해요. A학교 명부가 '학번, 이름, 학과'이고 B학교 명부가 '학번, 이름, 학과'이면 합칠 수 있어요. 하지만 B학교 명부가 '이름, 나이'이면 구조가 달라서 합칠 수 없겠죠.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합병 가능한 경우와 불가능한 경우를 구체적으로 비교해서 보여줍니다.
위쪽은 합병 불가능 예제예요. 두 릴레이션의 차수는 같은데, 세 번째 속성의 도메인이 달라요. 한쪽은 정수형이고 다른 쪽은 문자열형이에요. 차수만 같으면 되는 게 아니라 각 열의 타입까지 맞아야 합니다.
아래쪽은 합병 가능 예제예요. 두 릴레이션의 차수도 같고, 각 열의 도메인도 전부 일치해요. 이 경우에만 합집합, 교집합, 차집합 연산을 수행할 수 있습니다.
참고로 속성의 이름은 달라도 돼요. 중요한 건 이름이 아니라 차수(열 개수)와 도메인(각 열의 데이터 타입)이에요.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연산자, 합집합을 자세히 볼게요.
합집합 R∪S는 R에 있는 투플이랑 S에 있는 투플을 전부 모아서 하나의 릴레이션으로 만드는 거예요. 중복되는 투플은 한 번만 나타납니다. 왜냐면 릴레이션은 집합이고, 집합에는 같은 원소가 두 개 있을 수 없으니까요.
비유하자면, A 학교의 학생 명부랑 B 학교의 학생 명부를 합치는 거예요. 두 학교에 다 등록된 학생이 있으면 합친 명부에는 한 번만 나와요.
결과 릴레이션의 차수는 원래 R, S의 차수와 같아요. 열 구조는 안 바뀌니까요. 합치는 건 행이지 열이 아니에요.
결과의 카디널리티는 R의 카디널리티 + S의 카디널리티보다 같거나 작아요. 왜 작을 수 있느냐면 중복이 제거되니까요. R에 3개, S에 3개 투플이 있는데 그 중 하나가 양쪽에 다 있으면, 3 + 3 = 6이 아니라 5가 되는 거예요.
합집합은 교환법칙이 성립해요. R∪S나 S∪R이나 결과가 같아요. 어느 쪽을 먼저 합치든 상관없다는 거죠. 결합법칙도 성립합니다.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합집합의 구체적인 예제입니다. 숫자로 하나씩 확인해볼게요.
R에는 세 개의 투플이 있어요. (100, 정소화), (200, 김선우), (300, 고명석).
S에도 세 개의 투플이 있어요. (100, 정소화), (101, 채광주), (102, 김수진).
둘을 합치면? R의 투플 3개랑 S의 투플 3개를 전부 모으는데, (100, 정소화)는 양쪽에 다 있으니까 한 번만 포함시켜요.
결과 R∪S에는 다섯 개의 투플이 남습니다. (100, 정소화), (200, 김선우), (300, 고명석), (101, 채광주), (102, 김수진).
여기서 카디널리티를 확인해보면, R은 3, S는 3, 결과는 5예요. 3 + 3 = 6인데 5인 이유가, 중복 투플 하나가 제거됐기 때문이에요. 시험에서 '합집합 결과의 카디널리티는?'이라고 물으면 그냥 더하면 안 되고 중복을 빼야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연산자, 교집합이에요.
교집합 R∩S는 R에도 있고 S에도 있는 투플, 즉 양쪽에 공통으로 존재하는 투플만 골라서 결과를 만드는 거예요.
비유하면, A 학교 학생 명부랑 B 학교 학생 명부에서 두 학교에 다 등록된 학생만 찾는 거예요. 복수 전공이나 편입 같은 경우에 양쪽에 다 이름이 있을 수 있잖아요.
결과의 차수는 R, S와 같고, 카디널리티는 R이나 S의 카디널리티보다 작거나 같아요. 공통 부분만 남기니까 당연히 전체보다 작겠죠. 공통 투플이 하나도 없으면 결과가 빈 릴레이션이 될 수도 있어요.
교집합도 교환법칙이랑 결합법칙이 성립합니다. R∩S = S∩R이에요.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교집합 예제입니다.
R에 (100, 정소화), (200, 김선우), (300, 고명석) 세 개, S에 (100, 정소화), (101, 채광주), (102, 김수진) 세 개가 있어요.
양쪽에 모두 존재하는 투플은 (100, 정소화) 딱 하나예요. 200, 300은 R에만 있고, 101, 102는 S에만 있으니까요.
그래서 R∩S의 결과는 (100, 정소화) 하나의 투플만 남습니다. 카디널리티가 1이에요.
참고로, 만약 R과 S에 공통 투플이 하나도 없으면 결과는 투플이 0개인 빈 릴레이션이 됩니다. 빈 릴레이션도 릴레이션이에요. 투플이 없을 뿐 스키마(열 구조)는 그대로 유지됩니다.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차집합이에요.
차집합 R−S는 R에는 있는데 S에는 없는 투플로 결과를 만드는 거예요.
비유하면, A 학교 학생 중에서 B 학교에는 등록 안 된 학생만 찾는 거예요. A학교만의 순수한 학생인 거죠.
여기서 정말 중요한 점이 있어요. 차집합은 순서가 중요합니다! R−S랑 S−R은 결과가 완전히 달라요.
R−S는 'R에만 있는 투플'이고, S−R은 'S에만 있는 투플'이거든요. 합집합이랑 교집합은 순서를 바꿔도 결과가 같았지만, 차집합은 달라요. 그래서 교환법칙이 성립하지 않습니다.
시험에서 '차집합은 교환법칙이 성립한다, 맞는가 틀린가?'라고 물으면 틀린 거예요. 결합법칙도 성립하지 않습니다.
결과의 카디널리티는 R의 카디널리티와 같거나 작아요. R에서 빼기만 하니까 R보다 커질 수는 없겠죠.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그림에서 R−S와 S−R의 차이를 확인해보세요. 이게 차집합에서 교환법칙이 안 되는 이유를 보여줍니다.
R에 (100, 정소화), (200, 김선우), (300, 고명석), S에 (100, 정소화), (101, 채광주), (102, 김수진)이 있어요.
R−S를 구하면, R에 있는 투플 중에서 S에도 있는 건 빼야 해요. (100, 정소화)는 S에도 있으니까 빠지고, (200, 김선우)와 (300, 고명석)만 남아요. 결과는 2개 투플.
반대로 S−R을 구하면, S에 있는 투플 중에서 R에도 있는 건 빼야 해요. (100, 정소화)는 R에도 있으니까 빠지고, (101, 채광주)와 (102, 김수진)이 남아요. 결과는 2개 투플이지만 내용이 다르죠.
R−S = {(200, 김선우), (300, 고명석)} 이고 S−R = {(101, 채광주), (102, 김수진)} 이에요. 완전히 다른 결과가 나오죠? 이게 교환법칙이 안 되는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카티션 프로덕트예요. 이건 앞의 세 연산자랑 좀 성격이 달라요.
카티션 프로덕트 R×S는 R의 각 투플과 S의 각 투플을 모든 가능한 조합으로 연결해서 새로운 투플을 만드는 거예요.
쉽게 설명하면, R의 첫 번째 투플에 S의 첫 번째 투플을 붙이고, R의 첫 번째 투플에 S의 두 번째 투플을 붙이고, R의 첫 번째 투플에 S의 세 번째 투플을 붙이고... 이걸 R의 모든 투플에 대해 반복하는 거예요.
비유하면, 상의 3벌이랑 하의 4벌이 있으면 가능한 코디 조합이 3×4=12가지잖아요. 모든 상의에 모든 하의를 하나씩 매칭시키는 거랑 같은 원리예요.
앞의 세 연산자랑 다른 점 두 가지가 있어요.
첫째, 합병 가능 조건이 필요 없어요. 구조가 다른 릴레이션이어도 카티션 프로덕트를 할 수 있어요. 오히려 보통 구조가 다른 릴레이션끼리 하거든요.
둘째, 결과의 차수가 달라져요. 합집합, 교집합, 차집합은 결과 차수가 원래랑 같았는데, 카티션 프로덕트는 결과 차수가 R의 차수 + S의 차수예요. 양쪽 열을 옆으로 붙이니까요.
결과의 카디널리티는 R의 카디널리티 × S의 카디널리티예요. R이 3개, S가 4개면 결과는 12개. 곱셈이에요.
카티션 프로덕트만 단독으로 쓰면 의미 없는 조합이 너무 많이 생겨요. 하지만 뒤에서 배울 셀렉트 연산이랑 결합하면, 의미 있는 조합만 골라내는 '조인'이라는 강력한 연산이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그림을 보면 카티션 프로덕트가 어떻게 동작하는지 확실히 보여요.
R에 투플이 3개 있고, S에도 투플이 3개 있어요. 카티션 프로덕트를 하면 R의 각 투플이 S의 모든 투플과 하나씩 연결돼요.
R의 첫 번째 투플이 S의 세 투플과 각각 연결되면 3개, R의 두 번째 투플도 마찬가지로 3개, R의 세 번째 투플도 3개. 총 3×3 = 9개의 투플이 결과에 나와요.
결과 테이블의 열을 보면, R의 속성들이랑 S의 속성들이 옆으로 나란히 붙어있어요. R이 2열, S가 2열이면 결과는 4열. 차수가 2 + 2 = 4가 된 거예요.
이 9개 조합 중에서 의미 있는 것만 골라내면 그게 조인이 됩니다. 뒤에서 자세히 배울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순수 관계 연산자로 넘어갑니다. 여기서부터가 진짜 핵심이에요.
순수 관계 연산자는 관계 데이터 모델에서만 사용하는 고유한 연산이에요. 수학의 집합론에서 빌려온 게 아니라, 데이터베이스를 위해 새로 만든 연산이에요.
네 가지가 있는데요.
셀렉트(σ)는 조건에 맞는 투플을 골라내는 거예요. 행을 필터링하는 거죠. SQL의 WHERE절이에요.
프로젝트(π)는 원하는 속성만 뽑아내는 거예요. 열을 선택하는 거죠. SQL의 SELECT절에 나열하는 컬럼 이름이에요.
조인(⋈)은 두 릴레이션을 공통 속성으로 연결하는 거예요. SQL의 JOIN이에요.
디비전(÷)은 '모든' 값과 관련된 투플을 찾는 거예요. '모든 과목을 수강한 학생' 같은 질의에 쓰여요.
이 중에서 셀렉트, 프로젝트, 조인 이 세 개가 실무에서 가장 많이 쓰이고 시험에도 가장 많이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순수 관계 연산자 네 가지의 기호, 표현, 의미를 정리한 표예요.
셀렉트는 기호 σ, 시그마. 조건을 아래 첨자로 쓰고 괄호 안에 릴레이션을 넣어요.
프로젝트는 기호 π, 파이. 뽑고 싶은 속성 이름을 아래 첨자로 쓰고 괄호 안에 릴레이션을 넣어요.
조인은 기호 ⋈, 나비넥타이 모양. 두 릴레이션 사이에 이 기호를 놓아요.
디비전은 기호 ÷, 나누기 기호. R÷S 형태로 써요.
시험에서 이 기호를 주고 '이 연산의 이름은?' 하거나, 이름을 주고 '기호를 쓰시오' 하는 문제가 나올 수 있어요. σ는 셀렉트, π는 프로젝트. 이 두 개를 절대 헷갈리지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셀렉트 연산을 자세히 볼게요.
셀렉트는 릴레이션에서 주어진 조건을 만족하는 투플만 골라내는 연산이에요. 기호는 그리스 문자 시그마 σ를 쓰고, 아래 첨자에 조건을 적어요.
쉽게 말하면 행을 필터링하는 거예요. 엑셀에서 데이터 필터 걸어서 특정 조건에 맞는 행만 보이게 하는 거랑 똑같아요. SQL로 치면 WHERE절이에요. SELECT * FROM 고객 WHERE 등급 = 'gold' 이런 거요.
셀렉트의 특징을 정리하면, 결과의 차수는 원래 릴레이션과 같아요. 열은 안 건드리고 행만 줄이는 거니까요. 가로 방향으로 자르는 거라고 생각하면 돼요.
그리고 셀렉트는 교환법칙이 성립해요. 조건 A를 먼저 적용하고 조건 B를 적용하나, 조건 B를 먼저 적용하고 조건 A를 적용하나 결과는 같아요. 엑셀에서 등급 필터를 먼저 걸고 적립금 필터를 걸든, 반대로 하든 결과가 같은 것처럼요.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셀렉트의 가장 기본적인 예제예요.
고객 릴레이션에서 '등급이 gold인 투플을 검색하라'는 거예요.
수식으로 쓰면 σ등급='gold'(고객)이에요. 또는 SQL 비슷하게 '고객 where 등급 = gold'라고도 쓸 수 있어요.
원래 고객 릴레이션에는 투플이 4개 있어요. apple은 gold, banana는 vip, carrot은 gold, orange는 silver.
등급이 gold인 투플만 골라내면? apple이랑 carrot 두 개만 남아요. banana는 vip니까 탈락, orange는 silver니까 탈락.
결과 릴레이션을 보면, 열은 원래랑 똑같이 고객아이디, 고객이름, 나이, 등급, 직업, 적립금 여섯 개예요. 행만 4개에서 2개로 줄었어요. 이게 셀렉트의 핵심이에요. 열은 그대로, 행만 걸러내는 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조건을 여러 개 AND로 결합한 셀렉트 예제예요.
이번에는 '등급이 gold이고 적립금이 2000 이상'인 투플을 검색하는 거예요. 두 조건을 동시에 만족해야 해요.
apple은 등급이 gold인데 적립금이 1000이에요. 2000보다 작으니까 탈락이에요. carrot은 등급이 gold이고 적립금이 4500이에요. 2000 이상이니까 두 조건 다 만족, 결과에 포함.
결과에는 carrot 하나만 남아요.
여기서 셀렉트의 교환법칙을 확인할 수 있어요. '등급 = gold' 조건을 먼저 적용해서 apple, carrot만 남긴 다음에 '적립금 ≥ 2000' 조건을 적용하든, 반대로 '적립금 ≥ 2000'을 먼저 적용해서 banana, carrot만 남긴 다음에 '등급 = gold'를 적용하든 최종 결과는 carrot 하나로 같아요.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프로젝트 연산이에요.
프로젝트는 릴레이션에서 원하는 속성, 즉 열만 골라내는 연산이에요. 기호는 그리스 문자 파이 π를 쓰고, 아래 첨자에 뽑고 싶은 속성 이름을 적어요.
셀렉트가 행을 고르는 거였다면 프로젝트는 열을 고르는 거예요. 셀렉트는 가로로 자르기, 프로젝트는 세로로 자르기라고 생각하면 쉬워요.
SQL로 치면 SELECT절에 나열하는 컬럼 이름이에요. SELECT 고객이름, 등급, 적립금 FROM 고객 이런 거요. 전체 열 중에서 보고 싶은 열만 고르는 거예요.
프로젝트에서 정말 중요한 특징이 하나 있어요. 결과에서 동일한 투플이 생기면 중복을 제거합니다. 릴레이션은 집합이니까 똑같은 행이 두 개 있으면 안 되거든요. 이 부분이 시험에 자주 나와요.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프로젝트의 기본 예제예요.
고객 릴레이션에서 고객이름, 등급, 적립금 세 속성만 뽑아내는 거예요.
수식으로는 π고객이름,등급,적립금(고객)이에요.
원래 6개 속성이었는데 3개만 남았어요. 고객아이디, 나이, 직업은 제거됐어요. 투플 수는 그대로 4개예요.
이 경우에는 중복 투플이 생기지 않았어요. 4개 투플의 (이름, 등급, 적립금) 조합이 전부 다르니까요. 하지만 다음 예제에서는 중복이 생기는 걸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프로젝트의 중복 제거를 보여주는 아주 중요한 예제예요.
이번에는 고객 릴레이션에서 등급 속성만 프로젝트해요. π등급(고객).
원래 4개 투플의 등급 값은 gold, vip, gold, silver예요. 여기서 gold가 두 번 나오죠? apple이랑 carrot이 둘 다 gold니까요.
그런데 프로젝트 결과에서는 중복이 제거돼요. 릴레이션은 집합이니까 같은 원소가 두 개 있으면 안 돼요. 그래서 결과는 gold, vip, silver 세 개만 남아요. 원래 4개 투플에서 3개로 줄어든 거예요.
이게 프로젝트의 핵심 특징이에요. 셀렉트는 중복 제거 같은 걸 안 해요. 원래 릴레이션에 중복 투플이 없으니까요. 하지만 프로젝트는 일부 열만 뽑다 보면 원래 다르던 투플이 같아질 수 있어요. 그때 중복을 제거하는 거예요.
시험에서 '프로젝트 결과의 카디널리티는?' 하고 물으면 중복 제거까지 고려해서 답해야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조인 연산이에요. 관계 대수에서 가장 중요하고 가장 많이 쓰이는 연산이에요.
조인은 두 릴레이션을 공통 속성을 기준으로 연결하는 연산이에요. 기호는 나비넥타이 모양 ⋈을 씁니다.
왜 조인이 중요하냐면, 관계 데이터 모델에서는 데이터를 여러 릴레이션에 나눠서 저장하잖아요. 고객 정보는 고객 테이블에, 주문 정보는 주문 테이블에. 그런데 '이 고객이 뭘 주문했지?'라는 질문에 답하려면 두 테이블을 합쳐야 해요. 이때 쓰는 게 조인이에요.
SQL에서 JOIN절에 해당하고, 실무에서 SQL 쿼리의 거의 90%에 JOIN이 들어간다고 해도 과언이 아니에요.
조인에는 여러 종류가 있어요.
세타 조인은 일반적인 비교 조건으로 연결하는 거예요. 등호, 부등호 다 쓸 수 있어요.
동등 조인은 등호 조건으로 연결하는 거예요. 가장 일반적인 경우예요.
자연 조인은 같은 이름의 속성을 자동으로 찾아서 연결하고, 중복 속성까지 제거해주는 거예요. 가장 깔끔한 형태의 조인이에요.
개념적으로 조인은 카티션 프로덕트를 한 다음에 셀렉트로 의미 있는 조합만 골라내는 거랑 같아요. 하지만 실제로는 카티션 프로덕트를 먼저 다 하면 결과가 너무 커지니까, 조인 연산자를 쓰면 효율적으로 처리할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조인의 실제 예제예요. 하나하나 따라가 볼게요.
왼쪽에 고객 릴레이션이 있어요. 고객아이디, 고객이름, 나이, 등급 네 속성에 투플 4개. apple, banana, carrot, orange.
아래에 주문 릴레이션이 있어요. 주문번호, 고객아이디, 주문제품, 수량 네 속성에 투플 3개. 1001번은 apple이 주문, 1002번은 carrot, 1003번은 banana.
이 두 릴레이션을 고객아이디 기준으로 조인하면, 고객의 고객아이디와 주문의 고객아이디가 같은 투플끼리 연결해요.
apple은 1001번 주문과 매칭, banana는 1003번과 매칭, carrot은 1002번과 매칭. orange는 주문이 없으니까 매칭 안 돼서 결과에 안 나와요.
결과를 보면 양쪽 릴레이션의 속성이 다 합쳐져 있어요. '고객.고객아이디', '주문.고객아이디' 이렇게 소속을 표시하는 이유는, 같은 이름의 속성이 양쪽에 다 있으니까 구분하기 위해서예요.
orange 고객이 결과에 없다는 것도 중요해요. 매칭 안 되는 투플은 자연 조인 결과에 포함 안 됩니다. 만약 orange도 포함시키고 싶으면 나중에 배울 외부 조인을 써야 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자연 조인의 예제예요.
자연 조인은 같은 이름의 속성, 여기서는 고객아이디를 자동으로 찾아서 연결하고, 중복되는 고객아이디 열을 하나로 합쳐요.
앞의 일반 조인 결과에서는 '고객.고객아이디'와 '주문.고객아이디' 두 열이 다 있었는데, 자연 조인에서는 이걸 하나로 합쳐서 그냥 '고객아이디' 하나만 남겨요. 그래서 결과가 더 깔끔합니다.
실무에서는 자연 조인을 가장 많이 쓰고, SQL의 NATURAL JOIN이나 INNER JOIN ... ON 구문이 이것에 해당해요.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셀렉트, 프로젝트, 조인을 실제로 조합해서 질의를 표현하는 연습을 해볼 거예요.
관계 대수의 진짜 힘은 여러 연산자를 조합할 때 나옵니다. 폐쇄 특성 덕분에 한 연산의 결과에 다른 연산을 적용할 수 있으니까, 복잡한 질문도 단계별로 쪼개서 답할 수 있어요.
예를 들어 'gold 등급 고객이 주문한 제품의 이름을 알고 싶다'면, 먼저 고객 테이블에서 gold만 셀렉트하고, 그걸 주문 테이블이랑 조인하고, 거기서 주문제품만 프로젝트하면 돼요. 이렇게 단계별로 처리하는 거예요.
다음 몇 장의 슬라이드에서 구체적인 예제를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질의 예제에서 사용하는 고객 릴레이션과 주문 릴레이션의 데이터예요.
고객 릴레이션에 apple, banana, carrot, orange 네 명이 있고, 주문 릴레이션에 1001, 1002, 1003 세 건의 주문이 있어요.
이 두 테이블을 가지고 다양한 질의를 관계 대수로 표현하는 연습을 할 거예요. 각 연습에서 셀렉트, 프로젝트, 조인이 어떻게 조합되는지 주목하세요.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관계 대수 질의 표현의 첫 번째 예제예요.
셀렉트, 프로젝트, 조인을 단계적으로 적용해서 원하는 결과를 도출하는 과정이 나와 있어요.
핵심은 각 단계의 결과가 릴레이션이라는 거예요. 그래서 그 결과에 또 다른 연산을 적용할 수 있어요. 이게 폐쇄 특성의 위력이에요.
이 과정을 SQL로 바꾸면 하나의 SELECT 쿼리로 표현할 수 있어요. 관계 대수가 SQL의 이론적 기반이라는 게 이런 뜻이에요.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두 번째 질의 예제예요.
같은 질문이라도 연산을 적용하는 순서를 바꿀 수 있어요. 예를 들어 조인을 먼저 하고 셀렉트를 하거나, 셀렉트를 먼저 하고 조인을 할 수 있어요.
결과는 같지만, 중간 과정에서 다루는 데이터의 양이 달라질 수 있어요. 셀렉트를 먼저 해서 투플 수를 줄여놓으면 조인할 때 처리할 양이 적어지니까 더 효율적이에요.
이런 최적화를 데이터베이스 시스템이 자동으로 해주는데, 이걸 '쿼리 최적화'라고 해요. 나중에 고급 과정에서 배우게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세 번째 질의 예제예요.
이처럼 같은 질문이라도 관계 대수로 표현하는 방법이 여러 가지일 수 있어요. 어떤 순서로 연산을 적용하느냐에 따라 식이 달라져요.
시험에서는 주어진 질문을 관계 대수식으로 표현하라는 문제가 나올 수 있어요. 이때 여러 가지 답이 가능하지만, 보통 가장 직관적인 순서로 쓰면 돼요. 먼저 필요한 테이블을 조인하고, 조건으로 셀렉트하고, 원하는 속성만 프로젝트하는 순서가 가장 자연스러워요.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디비전 연산이에요.
디비전 R÷S는 좀 특수한 연산인데요, S에 있는 모든 값과 관련된 R의 투플을 찾는 거예요.
이게 뭔 소리냐면, 예를 들어볼게요. '수강' 릴레이션에 학생이 어떤 과목을 수강하는지 기록되어 있고, '필수과목' 릴레이션에 반드시 들어야 하는 과목 3개가 있다고 해요. '모든 필수과목을 다 수강한 학생은 누구야?'라는 질문에 답하려면 디비전을 써요.
수강 ÷ 필수과목 = 필수과목의 모든 과목과 연결된 수강 기록이 있는 학생들.
다른 예로, '모든 부품을 공급하는 업체', '모든 지점에서 판매된 제품' 같은 질의에 쓸 수 있어요.
디비전은 '전부', '모든'이라는 키워드가 붙는 질의에 사용됩니다. 사용 빈도는 다른 연산자에 비해 낮지만, 이런 유형의 질의를 다른 연산자로 표현하려면 아주 복잡해지기 때문에 디비전이라는 별도 연산자가 있는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세미 조인이에요. 이건 확장된 관계 대수 연산자예요.
세미 조인은 한마디로 말하면 '자연 조인을 한 다음에 한쪽 릴레이션의 속성만 남기는 것'이에요.
예를 들어 고객이랑 주문을 자연 조인하면 양쪽 속성이 다 합쳐지잖아요. 근데 나는 고객 정보만 보고 싶다면? 조인 결과에서 고객 속성만 프로젝트하면 되잖아요. 이 과정을 한 번에 해주는 게 세미 조인이에요.
세미 조인의 결과는 '주문이 하나라도 있는 고객의 정보'만 나와요. 주문이 없는 orange 같은 고객은 빠지고, 주문이 있는 apple, banana, carrot의 고객 정보만 나오는 거예요.
이게 왜 필요하냐면, 주로 분산 데이터베이스에서 써요. 고객 테이블이 서울 서버에 있고 주문 테이블이 부산 서버에 있으면, 전체 조인을 하려면 데이터를 네트워크로 전송해야 하잖아요. 세미 조인을 먼저 해서 필요한 투플만 골라내면 전송할 데이터양이 줄어들어서 효율적이에요.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세미 조인의 예제예요.
위쪽에 자연 조인 결과가 있고, 그 아래에 세미 조인 결과가 있어요.
자연 조인은 양쪽 릴레이션의 속성이 다 합쳐진 넓은 테이블이에요. 세미 조인은 거기서 한쪽 릴레이션의 속성만 남긴 좁은 테이블이에요.
결과적으로 '상대 릴레이션과 매칭되는 투플만 남긴, 원래 릴레이션의 부분집합'이라고 이해하면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조인이에요. 이것도 확장된 관계 대수 연산자예요.
앞에서 자연 조인을 배웠을 때, orange 고객은 주문이 없어서 결과에 안 나왔죠? 매칭 안 되는 투플은 버려지는 거예요.
그런데 때로는 매칭 안 되는 투플도 보고 싶을 때가 있어요. '주문이 없는 고객도 포함해서 보여줘'라든가 '어떤 고객의 주문인지 모르는 주문도 포함해서 보여줘' 같은 경우요.
외부 조인은 자연 조인에서 제외되는 투플도 결과에 포함시키는 조인이에요. 매칭 안 되는 부분은 널로 채워요.
세 종류가 있어요.
왼쪽 외부 조인, LEFT JOIN은 왼쪽 릴레이션의 모든 투플을 결과에 포함시켜요. 왼쪽이 고객이면, 주문이 없는 orange도 결과에 나오는데 주문 관련 속성은 전부 널이에요.
오른쪽 외부 조인, RIGHT JOIN은 반대로 오른쪽 릴레이션의 모든 투플을 포함시켜요.
완전 외부 조인, FULL OUTER JOIN은 양쪽 다 포함시켜요.
SQL에서 LEFT JOIN, RIGHT JOIN, FULL OUTER JOIN이 바로 이거예요. 실무에서 LEFT JOIN을 정말 많이 쓰거든요. 'A 테이블 기준으로 B가 있으면 붙이고 없으면 NULL로 보여줘'라는 의미니까요.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세 가지 외부 조인의 결과를 비교해서 보여줍니다.
왼쪽 외부 조인 결과를 보면, 고객의 모든 투플이 다 나와 있어요. orange도 있는데, 주문번호랑 주문제품이 NULL로 채워져 있죠. 주문이 없는 고객이지만 왼쪽 릴레이션이니까 포함된 거예요.
오른쪽 외부 조인 결과에는 주문의 모든 투플이 다 나와요. 만약 고객 릴레이션에 없는 고객아이디의 주문이 있으면 고객 쪽 속성이 NULL로 채워져요.
완전 외부 조인은 양쪽 다예요. orange도 나오고, 매칭 안 되는 주문도 나와요. 가장 데이터가 많은 결과가 나옵니다.
SQL에서 LEFT JOIN 쓸 때 결과에 NULL이 보이는 이유가 바로 이 외부 조인 때문이에요. NULL이 보이면 '아, 오른쪽 테이블에 매칭되는 데이터가 없구나'라고 해석하면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장에서 배운 내용을 정리할게요.
관계 데이터 연산은 릴레이션에서 원하는 데이터를 꺼내는 방법이에요. 관계 대수랑 관계 해석 두 가지 방식이 있고, 오늘은 관계 대수를 집중적으로 배웠습니다.
관계 대수의 8개 연산자를 한 번 더 정리하면요.
일반 집합 연산자 4개. 합집합 ∪은 양쪽 다 모으기, 교집합 ∩은 공통만 골라내기, 차집합 −는 한쪽에만 있는 거 찾기인데 순서 중요하고 교환법칙 안 됨, 카티션 프로덕트 ×는 모든 조합 만들기.
순수 관계 연산자 4개. 셀렉트 σ는 조건으로 행 고르기, 프로젝트 π는 원하는 열 고르기인데 중복 제거 주의, 조인 ⋈은 테이블끼리 연결하기, 디비전 ÷는 '전부'에 해당하는 거 찾기.
확장 연산자로 세미 조인이랑 외부 조인도 배웠어요.
시험 나올 포인트를 말씀드리면요. 첫째, 셀렉트(σ, 행 필터)와 프로젝트(π, 열 선택) 구분. 둘째, 차집합은 교환법칙 안 됨. 셋째, 프로젝트 결과에서 중복 제거. 넷째, 관계 대수식으로 질의 표현하기. 이 네 가지가 빈출이니까 꼭 정리해두세요.
이상으로 Chapter 6 관계 데이터 연산 수업을 마치겠습니다. 수고하셨습니다.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마인드맵은 이번 장의 전체 구조를 한눈에 보여줍니다.
가운데에 관계 대수가 있고, 절차적 언어라고 적혀있어요. 위로는 일반 집합 연산자 네 개, 아래로는 순수 관계 연산자 네 개가 뻗어나가고 있어요. 그리고 맨 아래에 관계 해석이 비절차적 언어로 나와있고요.
시험 전에 이 그림을 보면서 각 연산자의 기호와 의미를 떠올려보세요. 8개 연산자의 기호를 다 적을 수 있으면 이번 장은 완벽히 이해한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slideLayout" Target="../slideLayouts/slideLayout1.xml"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image" Target="../media/image2.png"  /><Relationship Id="rId2" Type="http://schemas.openxmlformats.org/officeDocument/2006/relationships/slideLayout" Target="../slideLayouts/slideLayout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image" Target="../media/image3.jpeg"  /><Relationship Id="rId2" Type="http://schemas.openxmlformats.org/officeDocument/2006/relationships/slideLayout" Target="../slideLayouts/slideLayout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image" Target="../media/image4.png"  /><Relationship Id="rId2" Type="http://schemas.openxmlformats.org/officeDocument/2006/relationships/slideLayout" Target="../slideLayouts/slideLayout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image" Target="../media/image5.jpeg"  /><Relationship Id="rId2" Type="http://schemas.openxmlformats.org/officeDocument/2006/relationships/slideLayout" Target="../slideLayouts/slideLayout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image" Target="../media/image6.jpeg"  /><Relationship Id="rId2" Type="http://schemas.openxmlformats.org/officeDocument/2006/relationships/slideLayout" Target="../slideLayouts/slideLayout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image" Target="../media/image7.jpeg"  /><Relationship Id="rId2" Type="http://schemas.openxmlformats.org/officeDocument/2006/relationships/slideLayout" Target="../slideLayouts/slideLayout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Relationship Id="rId1" Type="http://schemas.openxmlformats.org/officeDocument/2006/relationships/image" Target="../media/image8.jpeg"  /><Relationship Id="rId2" Type="http://schemas.openxmlformats.org/officeDocument/2006/relationships/slideLayout" Target="../slideLayouts/slideLayout1.xml"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image" Target="../media/image9.jpeg"  /><Relationship Id="rId2" Type="http://schemas.openxmlformats.org/officeDocument/2006/relationships/slideLayout" Target="../slideLayouts/slideLayout1.xml"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9.xml"  /><Relationship Id="rId2" Type="http://schemas.openxmlformats.org/officeDocument/2006/relationships/slideLayout" Target="../slideLayouts/slideLayout1.xml"  /><Relationship Id="rId3" Type="http://schemas.openxmlformats.org/officeDocument/2006/relationships/image" Target="../media/image10.jpe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Relationship Id="rId1" Type="http://schemas.openxmlformats.org/officeDocument/2006/relationships/image" Target="../media/image11.jpeg"  /><Relationship Id="rId2" Type="http://schemas.openxmlformats.org/officeDocument/2006/relationships/slideLayout" Target="../slideLayouts/slideLayout1.xml"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Relationship Id="rId1" Type="http://schemas.openxmlformats.org/officeDocument/2006/relationships/image" Target="../media/image12.png"  /><Relationship Id="rId2" Type="http://schemas.openxmlformats.org/officeDocument/2006/relationships/image" Target="../media/image13.png"  /><Relationship Id="rId3" Type="http://schemas.openxmlformats.org/officeDocument/2006/relationships/image" Target="../media/image14.png"  /><Relationship Id="rId4" Type="http://schemas.openxmlformats.org/officeDocument/2006/relationships/image" Target="../media/image15.png"  /><Relationship Id="rId5" Type="http://schemas.openxmlformats.org/officeDocument/2006/relationships/slideLayout" Target="../slideLayouts/slideLayout1.xml"  /><Relationship Id="rId6" Type="http://schemas.openxmlformats.org/officeDocument/2006/relationships/notesSlide" Target="../notesSlides/notesSlide22.xml"  /></Relationships>
</file>

<file path=ppt/slides/_rels/slide23.xml.rels><?xml version="1.0" encoding="UTF-8" standalone="yes" ?><Relationships xmlns="http://schemas.openxmlformats.org/package/2006/relationships"><Relationship Id="rId1" Type="http://schemas.openxmlformats.org/officeDocument/2006/relationships/notesSlide" Target="../notesSlides/notesSlide23.xml"  /><Relationship Id="rId2" Type="http://schemas.openxmlformats.org/officeDocument/2006/relationships/slideLayout" Target="../slideLayouts/slideLayout1.xml"  /><Relationship Id="rId3" Type="http://schemas.openxmlformats.org/officeDocument/2006/relationships/image" Target="../media/image16.jpe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Relationship Id="rId1" Type="http://schemas.openxmlformats.org/officeDocument/2006/relationships/image" Target="../media/image17.jpeg"  /><Relationship Id="rId2" Type="http://schemas.openxmlformats.org/officeDocument/2006/relationships/slideLayout" Target="../slideLayouts/slideLayout1.xml"  /><Relationship Id="rId3" Type="http://schemas.openxmlformats.org/officeDocument/2006/relationships/notesSlide" Target="../notesSlides/notesSlide25.xml"  /></Relationships>
</file>

<file path=ppt/slides/_rels/slide26.xml.rels><?xml version="1.0" encoding="UTF-8" standalone="yes" ?><Relationships xmlns="http://schemas.openxmlformats.org/package/2006/relationships"><Relationship Id="rId1" Type="http://schemas.openxmlformats.org/officeDocument/2006/relationships/image" Target="../media/image18.jpeg"  /><Relationship Id="rId2" Type="http://schemas.openxmlformats.org/officeDocument/2006/relationships/slideLayout" Target="../slideLayouts/slideLayout1.xml"  /><Relationship Id="rId3" Type="http://schemas.openxmlformats.org/officeDocument/2006/relationships/notesSlide" Target="../notesSlides/notesSlide26.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Relationship Id="rId1" Type="http://schemas.openxmlformats.org/officeDocument/2006/relationships/image" Target="../media/image19.jpeg"  /><Relationship Id="rId2" Type="http://schemas.openxmlformats.org/officeDocument/2006/relationships/slideLayout" Target="../slideLayouts/slideLayout1.xml"  /><Relationship Id="rId3" Type="http://schemas.openxmlformats.org/officeDocument/2006/relationships/notesSlide" Target="../notesSlides/notesSlide28.xml"  /></Relationships>
</file>

<file path=ppt/slides/_rels/slide29.xml.rels><?xml version="1.0" encoding="UTF-8" standalone="yes" ?><Relationships xmlns="http://schemas.openxmlformats.org/package/2006/relationships"><Relationship Id="rId1" Type="http://schemas.openxmlformats.org/officeDocument/2006/relationships/image" Target="../media/image20.jpeg"  /><Relationship Id="rId2" Type="http://schemas.openxmlformats.org/officeDocument/2006/relationships/slideLayout" Target="../slideLayouts/slideLayout1.xml"  /><Relationship Id="rId3" Type="http://schemas.openxmlformats.org/officeDocument/2006/relationships/notesSlide" Target="../notesSlides/notesSlide29.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Relationship Id="rId1" Type="http://schemas.openxmlformats.org/officeDocument/2006/relationships/image" Target="../media/image21.jpeg"  /><Relationship Id="rId2" Type="http://schemas.openxmlformats.org/officeDocument/2006/relationships/slideLayout" Target="../slideLayouts/slideLayout1.xml"  /><Relationship Id="rId3" Type="http://schemas.openxmlformats.org/officeDocument/2006/relationships/notesSlide" Target="../notesSlides/notesSlide31.xml"  /></Relationships>
</file>

<file path=ppt/slides/_rels/slide32.xml.rels><?xml version="1.0" encoding="UTF-8" standalone="yes" ?><Relationships xmlns="http://schemas.openxmlformats.org/package/2006/relationships"><Relationship Id="rId1" Type="http://schemas.openxmlformats.org/officeDocument/2006/relationships/image" Target="../media/image22.jpeg"  /><Relationship Id="rId2" Type="http://schemas.openxmlformats.org/officeDocument/2006/relationships/slideLayout" Target="../slideLayouts/slideLayout1.xml"  /><Relationship Id="rId3" Type="http://schemas.openxmlformats.org/officeDocument/2006/relationships/notesSlide" Target="../notesSlides/notesSlide3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Relationship Id="rId1" Type="http://schemas.openxmlformats.org/officeDocument/2006/relationships/image" Target="../media/image23.jpeg"  /><Relationship Id="rId2" Type="http://schemas.openxmlformats.org/officeDocument/2006/relationships/slideLayout" Target="../slideLayouts/slideLayout1.xml"  /><Relationship Id="rId3" Type="http://schemas.openxmlformats.org/officeDocument/2006/relationships/notesSlide" Target="../notesSlides/notesSlide34.xml"  /></Relationships>
</file>

<file path=ppt/slides/_rels/slide35.xml.rels><?xml version="1.0" encoding="UTF-8" standalone="yes" ?><Relationships xmlns="http://schemas.openxmlformats.org/package/2006/relationships"><Relationship Id="rId1" Type="http://schemas.openxmlformats.org/officeDocument/2006/relationships/image" Target="../media/image24.jpeg"  /><Relationship Id="rId2" Type="http://schemas.openxmlformats.org/officeDocument/2006/relationships/slideLayout" Target="../slideLayouts/slideLayout1.xml"  /><Relationship Id="rId3" Type="http://schemas.openxmlformats.org/officeDocument/2006/relationships/notesSlide" Target="../notesSlides/notesSlide35.xml"  /></Relationships>
</file>

<file path=ppt/slides/_rels/slide36.xml.rels><?xml version="1.0" encoding="UTF-8" standalone="yes" ?><Relationships xmlns="http://schemas.openxmlformats.org/package/2006/relationships"><Relationship Id="rId1" Type="http://schemas.openxmlformats.org/officeDocument/2006/relationships/image" Target="../media/image25.jpeg"  /><Relationship Id="rId2" Type="http://schemas.openxmlformats.org/officeDocument/2006/relationships/slideLayout" Target="../slideLayouts/slideLayout1.xml"  /><Relationship Id="rId3" Type="http://schemas.openxmlformats.org/officeDocument/2006/relationships/notesSlide" Target="../notesSlides/notesSlide36.xml"  /></Relationships>
</file>

<file path=ppt/slides/_rels/slide37.xml.rels><?xml version="1.0" encoding="UTF-8" standalone="yes" ?><Relationships xmlns="http://schemas.openxmlformats.org/package/2006/relationships"><Relationship Id="rId1" Type="http://schemas.openxmlformats.org/officeDocument/2006/relationships/image" Target="../media/image26.jpeg"  /><Relationship Id="rId2" Type="http://schemas.openxmlformats.org/officeDocument/2006/relationships/slideLayout" Target="../slideLayouts/slideLayout1.xml"  /><Relationship Id="rId3" Type="http://schemas.openxmlformats.org/officeDocument/2006/relationships/notesSlide" Target="../notesSlides/notesSlide37.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Relationship Id="rId1" Type="http://schemas.openxmlformats.org/officeDocument/2006/relationships/image" Target="../media/image27.jpeg"  /><Relationship Id="rId2" Type="http://schemas.openxmlformats.org/officeDocument/2006/relationships/slideLayout" Target="../slideLayouts/slideLayout1.xml"  /><Relationship Id="rId3" Type="http://schemas.openxmlformats.org/officeDocument/2006/relationships/notesSlide" Target="../notesSlides/notesSlide40.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Relationship Id="rId1" Type="http://schemas.openxmlformats.org/officeDocument/2006/relationships/notesSlide" Target="../notesSlides/notesSlide42.xml"  /><Relationship Id="rId2" Type="http://schemas.openxmlformats.org/officeDocument/2006/relationships/slideLayout" Target="../slideLayouts/slideLayout1.xml"  /><Relationship Id="rId3" Type="http://schemas.openxmlformats.org/officeDocument/2006/relationships/image" Target="../media/image28.jpe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Relationship Id="rId1" Type="http://schemas.openxmlformats.org/officeDocument/2006/relationships/image" Target="../media/image29.jpeg"  /><Relationship Id="rId2" Type="http://schemas.openxmlformats.org/officeDocument/2006/relationships/slideLayout" Target="../slideLayouts/slideLayout1.xml"  /><Relationship Id="rId3" Type="http://schemas.openxmlformats.org/officeDocument/2006/relationships/notesSlide" Target="../notesSlides/notesSlide44.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3" name="Shape 0"/>
          <p:cNvSpPr/>
          <p:nvPr/>
        </p:nvSpPr>
        <p:spPr>
          <a:xfrm>
            <a:off x="0" y="0"/>
            <a:ext cx="3200400" cy="5143500"/>
          </a:xfrm>
          <a:prstGeom prst="rect">
            <a:avLst/>
          </a:prstGeom>
          <a:solidFill>
            <a:srgbClr val="1B4965"/>
          </a:solidFill>
          <a:ln/>
        </p:spPr>
      </p:sp>
      <p:sp>
        <p:nvSpPr>
          <p:cNvPr id="4" name="Shape 1"/>
          <p:cNvSpPr/>
          <p:nvPr/>
        </p:nvSpPr>
        <p:spPr>
          <a:xfrm>
            <a:off x="3200400" y="0"/>
            <a:ext cx="73152" cy="5143500"/>
          </a:xfrm>
          <a:prstGeom prst="rect">
            <a:avLst/>
          </a:prstGeom>
          <a:solidFill>
            <a:srgbClr val="62B6CB"/>
          </a:solidFill>
          <a:ln/>
        </p:spPr>
      </p:sp>
      <p:sp>
        <p:nvSpPr>
          <p:cNvPr id="5" name="Shape 2"/>
          <p:cNvSpPr/>
          <p:nvPr/>
        </p:nvSpPr>
        <p:spPr>
          <a:xfrm>
            <a:off x="1097280" y="1097280"/>
            <a:ext cx="1005840" cy="1005840"/>
          </a:xfrm>
          <a:prstGeom prst="ellipse">
            <a:avLst/>
          </a:prstGeom>
          <a:solidFill>
            <a:srgbClr val="247B7B"/>
          </a:solidFill>
          <a:ln/>
        </p:spPr>
      </p:sp>
      <p:pic>
        <p:nvPicPr>
          <p:cNvPr id="6" name="Image 0" descr="preencoded.png">    </p:cNvPr>
          <p:cNvPicPr>
            <a:picLocks noChangeAspect="1"/>
          </p:cNvPicPr>
          <p:nvPr/>
        </p:nvPicPr>
        <p:blipFill>
          <a:blip r:embed="rId1"/>
          <a:stretch>
            <a:fillRect/>
          </a:stretch>
        </p:blipFill>
        <p:spPr>
          <a:xfrm>
            <a:off x="1318565" y="1318565"/>
            <a:ext cx="563270" cy="563270"/>
          </a:xfrm>
          <a:prstGeom prst="rect">
            <a:avLst/>
          </a:prstGeom>
        </p:spPr>
      </p:pic>
      <p:sp>
        <p:nvSpPr>
          <p:cNvPr id="7" name="Text 3"/>
          <p:cNvSpPr/>
          <p:nvPr/>
        </p:nvSpPr>
        <p:spPr>
          <a:xfrm>
            <a:off x="457200" y="2468880"/>
            <a:ext cx="2286000" cy="320040"/>
          </a:xfrm>
          <a:prstGeom prst="rect">
            <a:avLst/>
          </a:prstGeom>
          <a:noFill/>
          <a:ln/>
        </p:spPr>
        <p:txBody>
          <a:bodyPr wrap="square" lIns="0" tIns="0" rIns="0" bIns="0" rtlCol="0" anchor="ctr"/>
          <a:lstStyle/>
          <a:p>
            <a:pPr indent="0" marL="0">
              <a:buNone/>
            </a:pPr>
            <a:r>
              <a:rPr lang="en-US" sz="1400" spc="400" kern="0" dirty="0">
                <a:solidFill>
                  <a:srgbClr val="BEE9E8"/>
                </a:solidFill>
                <a:latin typeface="Calibri" pitchFamily="34" charset="0"/>
                <a:ea typeface="Calibri" pitchFamily="34" charset="-122"/>
                <a:cs typeface="Calibri" pitchFamily="34" charset="-120"/>
              </a:rPr>
              <a:t>DATABASE</a:t>
            </a:r>
            <a:endParaRPr lang="en-US" sz="1400" dirty="0"/>
          </a:p>
        </p:txBody>
      </p:sp>
      <p:sp>
        <p:nvSpPr>
          <p:cNvPr id="8" name="Text 4"/>
          <p:cNvSpPr/>
          <p:nvPr/>
        </p:nvSpPr>
        <p:spPr>
          <a:xfrm>
            <a:off x="457200" y="2834640"/>
            <a:ext cx="2286000" cy="41148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Chapter 06</a:t>
            </a:r>
            <a:endParaRPr lang="en-US" sz="2200" dirty="0"/>
          </a:p>
        </p:txBody>
      </p:sp>
      <p:sp>
        <p:nvSpPr>
          <p:cNvPr id="9" name="Text 5"/>
          <p:cNvSpPr/>
          <p:nvPr/>
        </p:nvSpPr>
        <p:spPr>
          <a:xfrm>
            <a:off x="3840480" y="1280160"/>
            <a:ext cx="4846320" cy="109728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관계 데이터 연산</a:t>
            </a:r>
            <a:endParaRPr lang="en-US" sz="4000" dirty="0"/>
          </a:p>
        </p:txBody>
      </p:sp>
      <p:sp>
        <p:nvSpPr>
          <p:cNvPr id="10" name="Text 6"/>
          <p:cNvSpPr/>
          <p:nvPr/>
        </p:nvSpPr>
        <p:spPr>
          <a:xfrm>
            <a:off x="3840480" y="2377440"/>
            <a:ext cx="4846320" cy="365760"/>
          </a:xfrm>
          <a:prstGeom prst="rect">
            <a:avLst/>
          </a:prstGeom>
          <a:noFill/>
          <a:ln/>
        </p:spPr>
        <p:txBody>
          <a:bodyPr wrap="square" lIns="0" tIns="0" rIns="0" bIns="0" rtlCol="0" anchor="ctr"/>
          <a:lstStyle/>
          <a:p>
            <a:pPr indent="0" marL="0">
              <a:buNone/>
            </a:pPr>
            <a:r>
              <a:rPr lang="en-US" sz="1600" dirty="0">
                <a:solidFill>
                  <a:srgbClr val="62B6CB"/>
                </a:solidFill>
                <a:latin typeface="Calibri" pitchFamily="34" charset="0"/>
                <a:ea typeface="Calibri" pitchFamily="34" charset="-122"/>
                <a:cs typeface="Calibri" pitchFamily="34" charset="-120"/>
              </a:rPr>
              <a:t>Relational Data Operation</a:t>
            </a:r>
            <a:endParaRPr lang="en-US" sz="1600" dirty="0"/>
          </a:p>
        </p:txBody>
      </p:sp>
      <p:sp>
        <p:nvSpPr>
          <p:cNvPr id="11" name="Text 7"/>
          <p:cNvSpPr/>
          <p:nvPr/>
        </p:nvSpPr>
        <p:spPr>
          <a:xfrm>
            <a:off x="3840480" y="3749040"/>
            <a:ext cx="4572000" cy="274320"/>
          </a:xfrm>
          <a:prstGeom prst="rect">
            <a:avLst/>
          </a:prstGeom>
          <a:noFill/>
          <a:ln/>
        </p:spPr>
        <p:txBody>
          <a:bodyPr wrap="square" lIns="0" tIns="0" rIns="0" bIns="0" rtlCol="0" anchor="ctr"/>
          <a:lstStyle/>
          <a:p>
            <a:pPr indent="0" marL="0">
              <a:buNone/>
            </a:pPr>
            <a:r>
              <a:rPr lang="en-US" sz="1200" dirty="0">
                <a:solidFill>
                  <a:srgbClr val="7A8FA0"/>
                </a:solidFill>
                <a:latin typeface="Calibri" pitchFamily="34" charset="0"/>
                <a:ea typeface="Calibri" pitchFamily="34" charset="-122"/>
                <a:cs typeface="Calibri" pitchFamily="34" charset="-120"/>
              </a:rPr>
              <a:t>대전대학교 컴퓨터공학과</a:t>
            </a:r>
            <a:endParaRPr lang="en-US" sz="1200" dirty="0"/>
          </a:p>
        </p:txBody>
      </p:sp>
      <p:sp>
        <p:nvSpPr>
          <p:cNvPr id="12" name="Text 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1 / 44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Database · Chapter 06</a:t>
            </a:r>
            <a:endParaRPr lang="en-US" sz="1000" dirty="0"/>
          </a:p>
        </p:txBody>
      </p:sp>
      <p:sp>
        <p:nvSpPr>
          <p:cNvPr id="5" name="Text 2"/>
          <p:cNvSpPr/>
          <p:nvPr/>
        </p:nvSpPr>
        <p:spPr>
          <a:xfrm>
            <a:off x="548640" y="640080"/>
            <a:ext cx="3657600" cy="548640"/>
          </a:xfrm>
          <a:prstGeom prst="rect">
            <a:avLst/>
          </a:prstGeom>
          <a:noFill/>
          <a:ln/>
        </p:spPr>
        <p:txBody>
          <a:bodyPr wrap="square" lIns="0" tIns="0" rIns="0" bIns="0" rtlCol="0" anchor="ctr"/>
          <a:lstStyle/>
          <a:p>
            <a:pPr indent="0" marL="0">
              <a:buNone/>
            </a:pPr>
            <a:r>
              <a:rPr lang="en-US" sz="3200" b="1" spc="300" kern="0" dirty="0">
                <a:solidFill>
                  <a:srgbClr val="1A1A2E"/>
                </a:solidFill>
                <a:latin typeface="Trebuchet MS" pitchFamily="34" charset="0"/>
                <a:ea typeface="Trebuchet MS" pitchFamily="34" charset="-122"/>
                <a:cs typeface="Trebuchet MS" pitchFamily="34" charset="-120"/>
              </a:rPr>
              <a:t>CONTENTS</a:t>
            </a:r>
            <a:endParaRPr lang="en-US" sz="3200" dirty="0"/>
          </a:p>
        </p:txBody>
      </p:sp>
      <p:sp>
        <p:nvSpPr>
          <p:cNvPr id="6" name="Shape 3"/>
          <p:cNvSpPr/>
          <p:nvPr/>
        </p:nvSpPr>
        <p:spPr>
          <a:xfrm>
            <a:off x="548640" y="1554480"/>
            <a:ext cx="3749040" cy="2286000"/>
          </a:xfrm>
          <a:prstGeom prst="rect">
            <a:avLst/>
          </a:prstGeom>
          <a:solidFill>
            <a:srgbClr val="FFFFFF"/>
          </a:solidFill>
          <a:ln/>
          <a:effectLst>
            <a:outerShdw sx="100000" sy="100000" kx="0" ky="0" algn="bl" rotWithShape="0" blurRad="101600" dist="38100" dir="8100000">
              <a:srgbClr val="000000">
                <a:alpha val="8000"/>
              </a:srgbClr>
            </a:outerShdw>
          </a:effectLst>
        </p:spPr>
      </p:sp>
      <p:sp>
        <p:nvSpPr>
          <p:cNvPr id="7" name="Shape 4"/>
          <p:cNvSpPr/>
          <p:nvPr/>
        </p:nvSpPr>
        <p:spPr>
          <a:xfrm>
            <a:off x="548640" y="1554480"/>
            <a:ext cx="3749040" cy="64008"/>
          </a:xfrm>
          <a:prstGeom prst="rect">
            <a:avLst/>
          </a:prstGeom>
          <a:solidFill>
            <a:srgbClr val="1B4965"/>
          </a:solidFill>
          <a:ln/>
        </p:spPr>
      </p:sp>
      <p:sp>
        <p:nvSpPr>
          <p:cNvPr id="8" name="Text 5"/>
          <p:cNvSpPr/>
          <p:nvPr/>
        </p:nvSpPr>
        <p:spPr>
          <a:xfrm>
            <a:off x="914400" y="1828800"/>
            <a:ext cx="731520" cy="548640"/>
          </a:xfrm>
          <a:prstGeom prst="rect">
            <a:avLst/>
          </a:prstGeom>
          <a:noFill/>
          <a:ln/>
        </p:spPr>
        <p:txBody>
          <a:bodyPr wrap="square" lIns="0" tIns="0" rIns="0" bIns="0" rtlCol="0" anchor="ctr"/>
          <a:lstStyle/>
          <a:p>
            <a:pPr indent="0" marL="0">
              <a:buNone/>
            </a:pPr>
            <a:r>
              <a:rPr lang="en-US" sz="3000" b="1" dirty="0">
                <a:solidFill>
                  <a:srgbClr val="62B6CB"/>
                </a:solidFill>
                <a:latin typeface="Trebuchet MS" pitchFamily="34" charset="0"/>
                <a:ea typeface="Trebuchet MS" pitchFamily="34" charset="-122"/>
                <a:cs typeface="Trebuchet MS" pitchFamily="34" charset="-120"/>
              </a:rPr>
              <a:t>01</a:t>
            </a:r>
            <a:endParaRPr lang="en-US" sz="3000" dirty="0"/>
          </a:p>
        </p:txBody>
      </p:sp>
      <p:sp>
        <p:nvSpPr>
          <p:cNvPr id="9" name="Text 6"/>
          <p:cNvSpPr/>
          <p:nvPr/>
        </p:nvSpPr>
        <p:spPr>
          <a:xfrm>
            <a:off x="914400" y="2377440"/>
            <a:ext cx="3017520" cy="365760"/>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관계 데이터 연산의 개념</a:t>
            </a:r>
            <a:endParaRPr lang="en-US" sz="1700" dirty="0"/>
          </a:p>
        </p:txBody>
      </p:sp>
      <p:sp>
        <p:nvSpPr>
          <p:cNvPr id="10" name="Text 7"/>
          <p:cNvSpPr/>
          <p:nvPr/>
        </p:nvSpPr>
        <p:spPr>
          <a:xfrm>
            <a:off x="914400" y="2834640"/>
            <a:ext cx="3017520" cy="7315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데이터 모델의 구성 요소와</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관계 대수 vs 관계 해석</a:t>
            </a:r>
            <a:endParaRPr lang="en-US" sz="1200" dirty="0"/>
          </a:p>
        </p:txBody>
      </p:sp>
      <p:sp>
        <p:nvSpPr>
          <p:cNvPr id="11" name="Shape 8"/>
          <p:cNvSpPr/>
          <p:nvPr/>
        </p:nvSpPr>
        <p:spPr>
          <a:xfrm>
            <a:off x="4846320" y="1554480"/>
            <a:ext cx="3749040" cy="2286000"/>
          </a:xfrm>
          <a:prstGeom prst="rect">
            <a:avLst/>
          </a:prstGeom>
          <a:solidFill>
            <a:srgbClr val="FFFFFF"/>
          </a:solidFill>
          <a:ln/>
          <a:effectLst>
            <a:outerShdw sx="100000" sy="100000" kx="0" ky="0" algn="bl" rotWithShape="0" blurRad="101600" dist="38100" dir="8100000">
              <a:srgbClr val="000000">
                <a:alpha val="8000"/>
              </a:srgbClr>
            </a:outerShdw>
          </a:effectLst>
        </p:spPr>
      </p:sp>
      <p:sp>
        <p:nvSpPr>
          <p:cNvPr id="12" name="Shape 9"/>
          <p:cNvSpPr/>
          <p:nvPr/>
        </p:nvSpPr>
        <p:spPr>
          <a:xfrm>
            <a:off x="4846320" y="1554480"/>
            <a:ext cx="3749040" cy="64008"/>
          </a:xfrm>
          <a:prstGeom prst="rect">
            <a:avLst/>
          </a:prstGeom>
          <a:solidFill>
            <a:srgbClr val="247B7B"/>
          </a:solidFill>
          <a:ln/>
        </p:spPr>
      </p:sp>
      <p:sp>
        <p:nvSpPr>
          <p:cNvPr id="13" name="Text 10"/>
          <p:cNvSpPr/>
          <p:nvPr/>
        </p:nvSpPr>
        <p:spPr>
          <a:xfrm>
            <a:off x="5212080" y="1828800"/>
            <a:ext cx="731520" cy="548640"/>
          </a:xfrm>
          <a:prstGeom prst="rect">
            <a:avLst/>
          </a:prstGeom>
          <a:noFill/>
          <a:ln/>
        </p:spPr>
        <p:txBody>
          <a:bodyPr wrap="square" lIns="0" tIns="0" rIns="0" bIns="0" rtlCol="0" anchor="ctr"/>
          <a:lstStyle/>
          <a:p>
            <a:pPr indent="0" marL="0">
              <a:buNone/>
            </a:pPr>
            <a:r>
              <a:rPr lang="en-US" sz="3000" b="1" dirty="0">
                <a:solidFill>
                  <a:srgbClr val="62B6CB"/>
                </a:solidFill>
                <a:latin typeface="Trebuchet MS" pitchFamily="34" charset="0"/>
                <a:ea typeface="Trebuchet MS" pitchFamily="34" charset="-122"/>
                <a:cs typeface="Trebuchet MS" pitchFamily="34" charset="-120"/>
              </a:rPr>
              <a:t>02</a:t>
            </a:r>
            <a:endParaRPr lang="en-US" sz="3000" dirty="0"/>
          </a:p>
        </p:txBody>
      </p:sp>
      <p:sp>
        <p:nvSpPr>
          <p:cNvPr id="14" name="Text 11"/>
          <p:cNvSpPr/>
          <p:nvPr/>
        </p:nvSpPr>
        <p:spPr>
          <a:xfrm>
            <a:off x="5212080" y="2377440"/>
            <a:ext cx="3017520" cy="365760"/>
          </a:xfrm>
          <a:prstGeom prst="rect">
            <a:avLst/>
          </a:prstGeom>
          <a:noFill/>
          <a:ln/>
        </p:spPr>
        <p:txBody>
          <a:bodyPr wrap="square" lIns="0" tIns="0" rIns="0" bIns="0" rtlCol="0" anchor="ctr"/>
          <a:lstStyle/>
          <a:p>
            <a:pPr indent="0" marL="0">
              <a:buNone/>
            </a:pPr>
            <a:r>
              <a:rPr lang="en-US" sz="1700" b="1" dirty="0">
                <a:solidFill>
                  <a:srgbClr val="1A1A2E"/>
                </a:solidFill>
                <a:latin typeface="Trebuchet MS" pitchFamily="34" charset="0"/>
                <a:ea typeface="Trebuchet MS" pitchFamily="34" charset="-122"/>
                <a:cs typeface="Trebuchet MS" pitchFamily="34" charset="-120"/>
              </a:rPr>
              <a:t>관계 대수</a:t>
            </a:r>
            <a:endParaRPr lang="en-US" sz="1700" dirty="0"/>
          </a:p>
        </p:txBody>
      </p:sp>
      <p:sp>
        <p:nvSpPr>
          <p:cNvPr id="15" name="Text 12"/>
          <p:cNvSpPr/>
          <p:nvPr/>
        </p:nvSpPr>
        <p:spPr>
          <a:xfrm>
            <a:off x="5212080" y="2834640"/>
            <a:ext cx="3017520" cy="7315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8개 연산자: 일반 집합 연산자 +</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순수 관계 연산자</a:t>
            </a:r>
            <a:endParaRPr lang="en-US" sz="1200" dirty="0"/>
          </a:p>
        </p:txBody>
      </p:sp>
      <p:sp>
        <p:nvSpPr>
          <p:cNvPr id="16"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 / 44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965"/>
        </a:solidFill>
      </p:bgPr>
    </p:bg>
    <p:spTree>
      <p:nvGrpSpPr>
        <p:cNvPr id="1" name=""/>
        <p:cNvGrpSpPr/>
        <p:nvPr/>
      </p:nvGrpSpPr>
      <p:grpSpPr>
        <a:xfrm>
          <a:off x="0" y="0"/>
          <a:ext cx="0" cy="0"/>
          <a:chOff x="0" y="0"/>
          <a:chExt cx="0" cy="0"/>
        </a:xfrm>
      </p:grpSpPr>
      <p:sp>
        <p:nvSpPr>
          <p:cNvPr id="3" name="Text 0"/>
          <p:cNvSpPr/>
          <p:nvPr/>
        </p:nvSpPr>
        <p:spPr>
          <a:xfrm>
            <a:off x="731520" y="1371600"/>
            <a:ext cx="4572000" cy="365760"/>
          </a:xfrm>
          <a:prstGeom prst="rect">
            <a:avLst/>
          </a:prstGeom>
          <a:noFill/>
          <a:ln/>
        </p:spPr>
        <p:txBody>
          <a:bodyPr wrap="square" lIns="0" tIns="0" rIns="0" bIns="0" rtlCol="0" anchor="ctr"/>
          <a:lstStyle/>
          <a:p>
            <a:pPr indent="0" marL="0">
              <a:buNone/>
            </a:pPr>
            <a:r>
              <a:rPr lang="en-US" sz="1400" spc="500" kern="0" dirty="0">
                <a:solidFill>
                  <a:srgbClr val="62B6CB"/>
                </a:solidFill>
                <a:latin typeface="Calibri" pitchFamily="34" charset="0"/>
                <a:ea typeface="Calibri" pitchFamily="34" charset="-122"/>
                <a:cs typeface="Calibri" pitchFamily="34" charset="-120"/>
              </a:rPr>
              <a:t>SECTION 01</a:t>
            </a:r>
            <a:endParaRPr lang="en-US" sz="1400" dirty="0"/>
          </a:p>
        </p:txBody>
      </p:sp>
      <p:sp>
        <p:nvSpPr>
          <p:cNvPr id="4" name="Text 1"/>
          <p:cNvSpPr/>
          <p:nvPr/>
        </p:nvSpPr>
        <p:spPr>
          <a:xfrm>
            <a:off x="731520" y="1828800"/>
            <a:ext cx="54864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관계 데이터 연산의</a:t>
            </a:r>
            <a:endParaRPr lang="en-US" sz="3800" dirty="0"/>
          </a:p>
          <a:p>
            <a:pPr indent="0" marL="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개념</a:t>
            </a:r>
            <a:endParaRPr lang="en-US" sz="3800" dirty="0"/>
          </a:p>
        </p:txBody>
      </p:sp>
      <p:sp>
        <p:nvSpPr>
          <p:cNvPr id="5" name="Shape 2"/>
          <p:cNvSpPr/>
          <p:nvPr/>
        </p:nvSpPr>
        <p:spPr>
          <a:xfrm>
            <a:off x="7132320" y="1645920"/>
            <a:ext cx="1645920" cy="1645920"/>
          </a:xfrm>
          <a:prstGeom prst="ellipse">
            <a:avLst/>
          </a:prstGeom>
          <a:solidFill>
            <a:srgbClr val="247B7B"/>
          </a:solidFill>
          <a:ln/>
        </p:spPr>
      </p:sp>
      <p:pic>
        <p:nvPicPr>
          <p:cNvPr id="6" name="Image 0" descr="preencoded.png">    </p:cNvPr>
          <p:cNvPicPr>
            <a:picLocks noChangeAspect="1"/>
          </p:cNvPicPr>
          <p:nvPr/>
        </p:nvPicPr>
        <p:blipFill>
          <a:blip r:embed="rId1"/>
          <a:stretch>
            <a:fillRect/>
          </a:stretch>
        </p:blipFill>
        <p:spPr>
          <a:xfrm>
            <a:off x="7494422" y="2008022"/>
            <a:ext cx="921715" cy="921715"/>
          </a:xfrm>
          <a:prstGeom prst="rect">
            <a:avLst/>
          </a:prstGeom>
        </p:spPr>
      </p:pic>
      <p:sp>
        <p:nvSpPr>
          <p:cNvPr id="7" name="Shape 3"/>
          <p:cNvSpPr/>
          <p:nvPr/>
        </p:nvSpPr>
        <p:spPr>
          <a:xfrm>
            <a:off x="0" y="4892040"/>
            <a:ext cx="9144000" cy="73152"/>
          </a:xfrm>
          <a:prstGeom prst="rect">
            <a:avLst/>
          </a:prstGeom>
          <a:solidFill>
            <a:srgbClr val="62B6CB"/>
          </a:solidFill>
          <a:ln/>
        </p:spPr>
      </p:sp>
      <p:sp>
        <p:nvSpPr>
          <p:cNvPr id="8"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3 / 44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연산의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데이터 모델의 구성 요소</a:t>
            </a:r>
            <a:endParaRPr lang="en-US" sz="2600" dirty="0"/>
          </a:p>
        </p:txBody>
      </p:sp>
      <p:sp>
        <p:nvSpPr>
          <p:cNvPr id="6" name="Shape 3"/>
          <p:cNvSpPr/>
          <p:nvPr/>
        </p:nvSpPr>
        <p:spPr>
          <a:xfrm>
            <a:off x="548640" y="1188720"/>
            <a:ext cx="8046720" cy="731520"/>
          </a:xfrm>
          <a:prstGeom prst="rect">
            <a:avLst/>
          </a:prstGeom>
          <a:solidFill>
            <a:srgbClr val="1B4965"/>
          </a:solidFill>
          <a:ln/>
        </p:spPr>
      </p:sp>
      <p:sp>
        <p:nvSpPr>
          <p:cNvPr id="7" name="Text 4"/>
          <p:cNvSpPr/>
          <p:nvPr/>
        </p:nvSpPr>
        <p:spPr>
          <a:xfrm>
            <a:off x="914400" y="1280160"/>
            <a:ext cx="7315200" cy="54864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데이터 모델 = 데이터 구조 + 연산 + 제약조건</a:t>
            </a:r>
            <a:endParaRPr lang="en-US" sz="1800" dirty="0"/>
          </a:p>
        </p:txBody>
      </p:sp>
      <p:sp>
        <p:nvSpPr>
          <p:cNvPr id="8" name="Shape 5"/>
          <p:cNvSpPr/>
          <p:nvPr/>
        </p:nvSpPr>
        <p:spPr>
          <a:xfrm>
            <a:off x="548640" y="228600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286000"/>
            <a:ext cx="64008" cy="777240"/>
          </a:xfrm>
          <a:prstGeom prst="rect">
            <a:avLst/>
          </a:prstGeom>
          <a:solidFill>
            <a:srgbClr val="5A6C7D"/>
          </a:solidFill>
          <a:ln/>
        </p:spPr>
      </p:sp>
      <p:sp>
        <p:nvSpPr>
          <p:cNvPr id="10" name="Text 7"/>
          <p:cNvSpPr/>
          <p:nvPr/>
        </p:nvSpPr>
        <p:spPr>
          <a:xfrm>
            <a:off x="914400" y="2331720"/>
            <a:ext cx="2743200" cy="320040"/>
          </a:xfrm>
          <a:prstGeom prst="rect">
            <a:avLst/>
          </a:prstGeom>
          <a:noFill/>
          <a:ln/>
        </p:spPr>
        <p:txBody>
          <a:bodyPr wrap="square" lIns="0" tIns="0" rIns="0" bIns="0" rtlCol="0" anchor="ctr"/>
          <a:lstStyle/>
          <a:p>
            <a:pPr indent="0" marL="0">
              <a:buNone/>
            </a:pPr>
            <a:r>
              <a:rPr lang="en-US" sz="1600" b="1" dirty="0">
                <a:solidFill>
                  <a:srgbClr val="5A6C7D"/>
                </a:solidFill>
                <a:latin typeface="Trebuchet MS" pitchFamily="34" charset="0"/>
                <a:ea typeface="Trebuchet MS" pitchFamily="34" charset="-122"/>
                <a:cs typeface="Trebuchet MS" pitchFamily="34" charset="-120"/>
              </a:rPr>
              <a:t>데이터 구조</a:t>
            </a:r>
            <a:endParaRPr lang="en-US" sz="1600" dirty="0"/>
          </a:p>
        </p:txBody>
      </p:sp>
      <p:sp>
        <p:nvSpPr>
          <p:cNvPr id="11" name="Text 8"/>
          <p:cNvSpPr/>
          <p:nvPr/>
        </p:nvSpPr>
        <p:spPr>
          <a:xfrm>
            <a:off x="914400" y="2651760"/>
            <a:ext cx="6858000" cy="3200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 (Chapter 5에서 학습)</a:t>
            </a:r>
            <a:endParaRPr lang="en-US" sz="1300" dirty="0"/>
          </a:p>
        </p:txBody>
      </p:sp>
      <p:sp>
        <p:nvSpPr>
          <p:cNvPr id="12" name="Shape 9"/>
          <p:cNvSpPr/>
          <p:nvPr/>
        </p:nvSpPr>
        <p:spPr>
          <a:xfrm>
            <a:off x="548640" y="320040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3200400"/>
            <a:ext cx="64008" cy="777240"/>
          </a:xfrm>
          <a:prstGeom prst="rect">
            <a:avLst/>
          </a:prstGeom>
          <a:solidFill>
            <a:srgbClr val="1B4965"/>
          </a:solidFill>
          <a:ln/>
        </p:spPr>
      </p:sp>
      <p:sp>
        <p:nvSpPr>
          <p:cNvPr id="14" name="Text 11"/>
          <p:cNvSpPr/>
          <p:nvPr/>
        </p:nvSpPr>
        <p:spPr>
          <a:xfrm>
            <a:off x="914400" y="3246120"/>
            <a:ext cx="2743200" cy="32004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연산</a:t>
            </a:r>
            <a:endParaRPr lang="en-US" sz="1600" dirty="0"/>
          </a:p>
        </p:txBody>
      </p:sp>
      <p:sp>
        <p:nvSpPr>
          <p:cNvPr id="15" name="Text 12"/>
          <p:cNvSpPr/>
          <p:nvPr/>
        </p:nvSpPr>
        <p:spPr>
          <a:xfrm>
            <a:off x="914400" y="3566160"/>
            <a:ext cx="6858000" cy="3200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릴레이션에서 원하는 데이터를 추출·가공 (이번 장)</a:t>
            </a:r>
            <a:endParaRPr lang="en-US" sz="1300" dirty="0"/>
          </a:p>
        </p:txBody>
      </p:sp>
      <p:sp>
        <p:nvSpPr>
          <p:cNvPr id="16" name="Shape 13"/>
          <p:cNvSpPr/>
          <p:nvPr/>
        </p:nvSpPr>
        <p:spPr>
          <a:xfrm>
            <a:off x="548640" y="4114800"/>
            <a:ext cx="8046720" cy="7772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4114800"/>
            <a:ext cx="64008" cy="777240"/>
          </a:xfrm>
          <a:prstGeom prst="rect">
            <a:avLst/>
          </a:prstGeom>
          <a:solidFill>
            <a:srgbClr val="5A6C7D"/>
          </a:solidFill>
          <a:ln/>
        </p:spPr>
      </p:sp>
      <p:sp>
        <p:nvSpPr>
          <p:cNvPr id="18" name="Text 15"/>
          <p:cNvSpPr/>
          <p:nvPr/>
        </p:nvSpPr>
        <p:spPr>
          <a:xfrm>
            <a:off x="914400" y="4160520"/>
            <a:ext cx="2743200" cy="320040"/>
          </a:xfrm>
          <a:prstGeom prst="rect">
            <a:avLst/>
          </a:prstGeom>
          <a:noFill/>
          <a:ln/>
        </p:spPr>
        <p:txBody>
          <a:bodyPr wrap="square" lIns="0" tIns="0" rIns="0" bIns="0" rtlCol="0" anchor="ctr"/>
          <a:lstStyle/>
          <a:p>
            <a:pPr indent="0" marL="0">
              <a:buNone/>
            </a:pPr>
            <a:r>
              <a:rPr lang="en-US" sz="1600" b="1" dirty="0">
                <a:solidFill>
                  <a:srgbClr val="5A6C7D"/>
                </a:solidFill>
                <a:latin typeface="Trebuchet MS" pitchFamily="34" charset="0"/>
                <a:ea typeface="Trebuchet MS" pitchFamily="34" charset="-122"/>
                <a:cs typeface="Trebuchet MS" pitchFamily="34" charset="-120"/>
              </a:rPr>
              <a:t>제약조건</a:t>
            </a:r>
            <a:endParaRPr lang="en-US" sz="1600" dirty="0"/>
          </a:p>
        </p:txBody>
      </p:sp>
      <p:sp>
        <p:nvSpPr>
          <p:cNvPr id="19" name="Text 16"/>
          <p:cNvSpPr/>
          <p:nvPr/>
        </p:nvSpPr>
        <p:spPr>
          <a:xfrm>
            <a:off x="914400" y="4480560"/>
            <a:ext cx="6858000" cy="3200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무결성 제약조건 (Chapter 5에서 학습)</a:t>
            </a:r>
            <a:endParaRPr lang="en-US" sz="13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 / 44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데이터 모델의 구성 요소 다이어그램</a:t>
            </a:r>
            <a:endParaRPr lang="en-US" sz="1400" dirty="0"/>
          </a:p>
        </p:txBody>
      </p:sp>
      <p:sp>
        <p:nvSpPr>
          <p:cNvPr id="6" name="Shape 3"/>
          <p:cNvSpPr/>
          <p:nvPr/>
        </p:nvSpPr>
        <p:spPr>
          <a:xfrm>
            <a:off x="1959785" y="731520"/>
            <a:ext cx="5224430"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1.jpg">    </p:cNvPr>
          <p:cNvPicPr>
            <a:picLocks noChangeAspect="1"/>
          </p:cNvPicPr>
          <p:nvPr/>
        </p:nvPicPr>
        <p:blipFill>
          <a:blip r:embed="rId1"/>
          <a:stretch>
            <a:fillRect/>
          </a:stretch>
        </p:blipFill>
        <p:spPr>
          <a:xfrm>
            <a:off x="2096945" y="822960"/>
            <a:ext cx="4950110"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데이터 모델을 구성하는 세 요소: 데이터 구조, 연산, 제약조건.</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이번 장에서는 '연산(operation)' 부분을 다룹니다.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5 / 44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1. 관계 데이터 연산의 개념</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관계 데이터 연산</a:t>
            </a:r>
            <a:endParaRPr lang="en-US" sz="2600" dirty="0"/>
          </a:p>
        </p:txBody>
      </p:sp>
      <p:sp>
        <p:nvSpPr>
          <p:cNvPr id="6" name="Shape 3"/>
          <p:cNvSpPr/>
          <p:nvPr/>
        </p:nvSpPr>
        <p:spPr>
          <a:xfrm>
            <a:off x="548640" y="1188720"/>
            <a:ext cx="8046720" cy="914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64008" cy="914400"/>
          </a:xfrm>
          <a:prstGeom prst="rect">
            <a:avLst/>
          </a:prstGeom>
          <a:solidFill>
            <a:srgbClr val="62B6CB"/>
          </a:solidFill>
          <a:ln/>
        </p:spPr>
      </p:sp>
      <p:sp>
        <p:nvSpPr>
          <p:cNvPr id="8" name="Text 5"/>
          <p:cNvSpPr/>
          <p:nvPr/>
        </p:nvSpPr>
        <p:spPr>
          <a:xfrm>
            <a:off x="914400" y="1280160"/>
            <a:ext cx="7315200" cy="73152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원하는 결과를 얻기 위해 릴레이션에 필요한 처리를 수행하는 것</a:t>
            </a:r>
            <a:endParaRPr lang="en-US" sz="1400" dirty="0"/>
          </a:p>
        </p:txBody>
      </p:sp>
      <p:sp>
        <p:nvSpPr>
          <p:cNvPr id="9" name="Shape 6"/>
          <p:cNvSpPr/>
          <p:nvPr/>
        </p:nvSpPr>
        <p:spPr>
          <a:xfrm>
            <a:off x="548640" y="2468880"/>
            <a:ext cx="3749040" cy="22860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0" name="Shape 7"/>
          <p:cNvSpPr/>
          <p:nvPr/>
        </p:nvSpPr>
        <p:spPr>
          <a:xfrm>
            <a:off x="548640" y="2468880"/>
            <a:ext cx="3749040" cy="502920"/>
          </a:xfrm>
          <a:prstGeom prst="rect">
            <a:avLst/>
          </a:prstGeom>
          <a:solidFill>
            <a:srgbClr val="1B4965"/>
          </a:solidFill>
          <a:ln/>
        </p:spPr>
      </p:sp>
      <p:sp>
        <p:nvSpPr>
          <p:cNvPr id="11" name="Text 8"/>
          <p:cNvSpPr/>
          <p:nvPr/>
        </p:nvSpPr>
        <p:spPr>
          <a:xfrm>
            <a:off x="822960" y="251460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관계 대수 (How)</a:t>
            </a:r>
            <a:endParaRPr lang="en-US" sz="1600" dirty="0"/>
          </a:p>
        </p:txBody>
      </p:sp>
      <p:sp>
        <p:nvSpPr>
          <p:cNvPr id="12" name="Text 9"/>
          <p:cNvSpPr/>
          <p:nvPr/>
        </p:nvSpPr>
        <p:spPr>
          <a:xfrm>
            <a:off x="822960" y="3154680"/>
            <a:ext cx="3200400" cy="137160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절차적 방식</a:t>
            </a:r>
            <a:endParaRPr lang="en-US" sz="1300" dirty="0"/>
          </a:p>
          <a:p>
            <a:pPr indent="0" marL="0">
              <a:buNone/>
            </a:pP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데이터의 처리 과정을</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순서대로 기술</a:t>
            </a:r>
            <a:endParaRPr lang="en-US" sz="1300" dirty="0"/>
          </a:p>
        </p:txBody>
      </p:sp>
      <p:sp>
        <p:nvSpPr>
          <p:cNvPr id="13" name="Shape 10"/>
          <p:cNvSpPr/>
          <p:nvPr/>
        </p:nvSpPr>
        <p:spPr>
          <a:xfrm>
            <a:off x="4846320" y="2468880"/>
            <a:ext cx="3749040" cy="22860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4" name="Shape 11"/>
          <p:cNvSpPr/>
          <p:nvPr/>
        </p:nvSpPr>
        <p:spPr>
          <a:xfrm>
            <a:off x="4846320" y="2468880"/>
            <a:ext cx="3749040" cy="502920"/>
          </a:xfrm>
          <a:prstGeom prst="rect">
            <a:avLst/>
          </a:prstGeom>
          <a:solidFill>
            <a:srgbClr val="247B7B"/>
          </a:solidFill>
          <a:ln/>
        </p:spPr>
      </p:sp>
      <p:sp>
        <p:nvSpPr>
          <p:cNvPr id="15" name="Text 12"/>
          <p:cNvSpPr/>
          <p:nvPr/>
        </p:nvSpPr>
        <p:spPr>
          <a:xfrm>
            <a:off x="5120640" y="251460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관계 해석 (What)</a:t>
            </a:r>
            <a:endParaRPr lang="en-US" sz="1600" dirty="0"/>
          </a:p>
        </p:txBody>
      </p:sp>
      <p:sp>
        <p:nvSpPr>
          <p:cNvPr id="16" name="Text 13"/>
          <p:cNvSpPr/>
          <p:nvPr/>
        </p:nvSpPr>
        <p:spPr>
          <a:xfrm>
            <a:off x="5120640" y="3154680"/>
            <a:ext cx="3200400" cy="137160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비절차적 방식</a:t>
            </a:r>
            <a:endParaRPr lang="en-US" sz="1300" dirty="0"/>
          </a:p>
          <a:p>
            <a:pPr indent="0" marL="0">
              <a:buNone/>
            </a:pP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원하는 데이터가 무엇인지만 기술</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(처리 과정은 기술하지 않음)</a:t>
            </a:r>
            <a:endParaRPr lang="en-US" sz="1300" dirty="0"/>
          </a:p>
        </p:txBody>
      </p:sp>
      <p:sp>
        <p:nvSpPr>
          <p:cNvPr id="17" name="Text 1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6 / 44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965"/>
        </a:solidFill>
      </p:bgPr>
    </p:bg>
    <p:spTree>
      <p:nvGrpSpPr>
        <p:cNvPr id="1" name=""/>
        <p:cNvGrpSpPr/>
        <p:nvPr/>
      </p:nvGrpSpPr>
      <p:grpSpPr>
        <a:xfrm>
          <a:off x="0" y="0"/>
          <a:ext cx="0" cy="0"/>
          <a:chOff x="0" y="0"/>
          <a:chExt cx="0" cy="0"/>
        </a:xfrm>
      </p:grpSpPr>
      <p:sp>
        <p:nvSpPr>
          <p:cNvPr id="3" name="Text 0"/>
          <p:cNvSpPr/>
          <p:nvPr/>
        </p:nvSpPr>
        <p:spPr>
          <a:xfrm>
            <a:off x="731520" y="1371600"/>
            <a:ext cx="4572000" cy="365760"/>
          </a:xfrm>
          <a:prstGeom prst="rect">
            <a:avLst/>
          </a:prstGeom>
          <a:noFill/>
          <a:ln/>
        </p:spPr>
        <p:txBody>
          <a:bodyPr wrap="square" lIns="0" tIns="0" rIns="0" bIns="0" rtlCol="0" anchor="ctr"/>
          <a:lstStyle/>
          <a:p>
            <a:pPr indent="0" marL="0">
              <a:buNone/>
            </a:pPr>
            <a:r>
              <a:rPr lang="en-US" sz="1400" spc="500" kern="0" dirty="0">
                <a:solidFill>
                  <a:srgbClr val="62B6CB"/>
                </a:solidFill>
                <a:latin typeface="Calibri" pitchFamily="34" charset="0"/>
                <a:ea typeface="Calibri" pitchFamily="34" charset="-122"/>
                <a:cs typeface="Calibri" pitchFamily="34" charset="-120"/>
              </a:rPr>
              <a:t>SECTION 02</a:t>
            </a:r>
            <a:endParaRPr lang="en-US" sz="1400" dirty="0"/>
          </a:p>
        </p:txBody>
      </p:sp>
      <p:sp>
        <p:nvSpPr>
          <p:cNvPr id="4" name="Text 1"/>
          <p:cNvSpPr/>
          <p:nvPr/>
        </p:nvSpPr>
        <p:spPr>
          <a:xfrm>
            <a:off x="731520" y="1828800"/>
            <a:ext cx="5486400" cy="1097280"/>
          </a:xfrm>
          <a:prstGeom prst="rect">
            <a:avLst/>
          </a:prstGeom>
          <a:noFill/>
          <a:ln/>
        </p:spPr>
        <p:txBody>
          <a:bodyPr wrap="square" lIns="0" tIns="0" rIns="0" bIns="0" rtlCol="0" anchor="ctr"/>
          <a:lstStyle/>
          <a:p>
            <a:pPr indent="0" marL="0">
              <a:buNone/>
            </a:pPr>
            <a:r>
              <a:rPr lang="en-US" sz="4200" b="1" dirty="0">
                <a:solidFill>
                  <a:srgbClr val="FFFFFF"/>
                </a:solidFill>
                <a:latin typeface="Trebuchet MS" pitchFamily="34" charset="0"/>
                <a:ea typeface="Trebuchet MS" pitchFamily="34" charset="-122"/>
                <a:cs typeface="Trebuchet MS" pitchFamily="34" charset="-120"/>
              </a:rPr>
              <a:t>관계 대수</a:t>
            </a:r>
            <a:endParaRPr lang="en-US" sz="4200" dirty="0"/>
          </a:p>
        </p:txBody>
      </p:sp>
      <p:sp>
        <p:nvSpPr>
          <p:cNvPr id="5" name="Text 2"/>
          <p:cNvSpPr/>
          <p:nvPr/>
        </p:nvSpPr>
        <p:spPr>
          <a:xfrm>
            <a:off x="731520" y="2926080"/>
            <a:ext cx="5486400" cy="457200"/>
          </a:xfrm>
          <a:prstGeom prst="rect">
            <a:avLst/>
          </a:prstGeom>
          <a:noFill/>
          <a:ln/>
        </p:spPr>
        <p:txBody>
          <a:bodyPr wrap="square" lIns="0" tIns="0" rIns="0" bIns="0" rtlCol="0" anchor="ctr"/>
          <a:lstStyle/>
          <a:p>
            <a:pPr indent="0" marL="0">
              <a:buNone/>
            </a:pPr>
            <a:r>
              <a:rPr lang="en-US" sz="1800" dirty="0">
                <a:solidFill>
                  <a:srgbClr val="62B6CB"/>
                </a:solidFill>
                <a:latin typeface="Calibri" pitchFamily="34" charset="0"/>
                <a:ea typeface="Calibri" pitchFamily="34" charset="-122"/>
                <a:cs typeface="Calibri" pitchFamily="34" charset="-120"/>
              </a:rPr>
              <a:t>Relational Algebra</a:t>
            </a:r>
            <a:endParaRPr lang="en-US" sz="1800" dirty="0"/>
          </a:p>
        </p:txBody>
      </p:sp>
      <p:sp>
        <p:nvSpPr>
          <p:cNvPr id="6" name="Shape 3"/>
          <p:cNvSpPr/>
          <p:nvPr/>
        </p:nvSpPr>
        <p:spPr>
          <a:xfrm>
            <a:off x="7132320" y="1645920"/>
            <a:ext cx="1645920" cy="1645920"/>
          </a:xfrm>
          <a:prstGeom prst="ellipse">
            <a:avLst/>
          </a:prstGeom>
          <a:solidFill>
            <a:srgbClr val="247B7B"/>
          </a:solidFill>
          <a:ln/>
        </p:spPr>
      </p:sp>
      <p:pic>
        <p:nvPicPr>
          <p:cNvPr id="7" name="Image 0" descr="preencoded.png">    </p:cNvPr>
          <p:cNvPicPr>
            <a:picLocks noChangeAspect="1"/>
          </p:cNvPicPr>
          <p:nvPr/>
        </p:nvPicPr>
        <p:blipFill>
          <a:blip r:embed="rId1"/>
          <a:stretch>
            <a:fillRect/>
          </a:stretch>
        </p:blipFill>
        <p:spPr>
          <a:xfrm>
            <a:off x="7494422" y="2008022"/>
            <a:ext cx="921715" cy="921715"/>
          </a:xfrm>
          <a:prstGeom prst="rect">
            <a:avLst/>
          </a:prstGeom>
        </p:spPr>
      </p:pic>
      <p:sp>
        <p:nvSpPr>
          <p:cNvPr id="8" name="Shape 4"/>
          <p:cNvSpPr/>
          <p:nvPr/>
        </p:nvSpPr>
        <p:spPr>
          <a:xfrm>
            <a:off x="0" y="4892040"/>
            <a:ext cx="9144000" cy="73152"/>
          </a:xfrm>
          <a:prstGeom prst="rect">
            <a:avLst/>
          </a:prstGeom>
          <a:solidFill>
            <a:srgbClr val="62B6CB"/>
          </a:solidFill>
          <a:ln/>
        </p:spPr>
      </p:sp>
      <p:sp>
        <p:nvSpPr>
          <p:cNvPr id="9" name="Text 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7 / 44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관계 대수의 개념</a:t>
            </a:r>
            <a:endParaRPr lang="en-US" sz="2600" dirty="0"/>
          </a:p>
        </p:txBody>
      </p:sp>
      <p:sp>
        <p:nvSpPr>
          <p:cNvPr id="6" name="Shape 3"/>
          <p:cNvSpPr/>
          <p:nvPr/>
        </p:nvSpPr>
        <p:spPr>
          <a:xfrm>
            <a:off x="548640" y="1188720"/>
            <a:ext cx="8046720" cy="731520"/>
          </a:xfrm>
          <a:prstGeom prst="rect">
            <a:avLst/>
          </a:prstGeom>
          <a:solidFill>
            <a:srgbClr val="1B4965"/>
          </a:solidFill>
          <a:ln/>
        </p:spPr>
      </p:sp>
      <p:sp>
        <p:nvSpPr>
          <p:cNvPr id="7" name="Text 4"/>
          <p:cNvSpPr/>
          <p:nvPr/>
        </p:nvSpPr>
        <p:spPr>
          <a:xfrm>
            <a:off x="914400" y="128016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절차 언어 — 처리 과정을 순서대로 기술하여 원하는 결과를 도출</a:t>
            </a:r>
            <a:endParaRPr lang="en-US" sz="1400" dirty="0"/>
          </a:p>
        </p:txBody>
      </p:sp>
      <p:sp>
        <p:nvSpPr>
          <p:cNvPr id="8" name="Shape 5"/>
          <p:cNvSpPr/>
          <p:nvPr/>
        </p:nvSpPr>
        <p:spPr>
          <a:xfrm>
            <a:off x="548640" y="2286000"/>
            <a:ext cx="8046720" cy="914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286000"/>
            <a:ext cx="64008" cy="914400"/>
          </a:xfrm>
          <a:prstGeom prst="rect">
            <a:avLst/>
          </a:prstGeom>
          <a:solidFill>
            <a:srgbClr val="62B6CB"/>
          </a:solidFill>
          <a:ln/>
        </p:spPr>
      </p:sp>
      <p:sp>
        <p:nvSpPr>
          <p:cNvPr id="10" name="Text 7"/>
          <p:cNvSpPr/>
          <p:nvPr/>
        </p:nvSpPr>
        <p:spPr>
          <a:xfrm>
            <a:off x="914400" y="2377440"/>
            <a:ext cx="7315200" cy="32004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8개 연산자</a:t>
            </a:r>
            <a:endParaRPr lang="en-US" sz="1600" dirty="0"/>
          </a:p>
        </p:txBody>
      </p:sp>
      <p:sp>
        <p:nvSpPr>
          <p:cNvPr id="11" name="Text 8"/>
          <p:cNvSpPr/>
          <p:nvPr/>
        </p:nvSpPr>
        <p:spPr>
          <a:xfrm>
            <a:off x="914400" y="2743200"/>
            <a:ext cx="7315200" cy="3200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일반 집합 연산자 4개 + 순수 관계 연산자 4개</a:t>
            </a:r>
            <a:endParaRPr lang="en-US" sz="1300" dirty="0"/>
          </a:p>
        </p:txBody>
      </p:sp>
      <p:sp>
        <p:nvSpPr>
          <p:cNvPr id="12" name="Shape 9"/>
          <p:cNvSpPr/>
          <p:nvPr/>
        </p:nvSpPr>
        <p:spPr>
          <a:xfrm>
            <a:off x="548640" y="3383280"/>
            <a:ext cx="8046720" cy="914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3383280"/>
            <a:ext cx="64008" cy="914400"/>
          </a:xfrm>
          <a:prstGeom prst="rect">
            <a:avLst/>
          </a:prstGeom>
          <a:solidFill>
            <a:srgbClr val="62B6CB"/>
          </a:solidFill>
          <a:ln/>
        </p:spPr>
      </p:sp>
      <p:sp>
        <p:nvSpPr>
          <p:cNvPr id="14" name="Text 11"/>
          <p:cNvSpPr/>
          <p:nvPr/>
        </p:nvSpPr>
        <p:spPr>
          <a:xfrm>
            <a:off x="914400" y="3474720"/>
            <a:ext cx="7315200" cy="32004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폐쇄 특성 (Closure Property)</a:t>
            </a:r>
            <a:endParaRPr lang="en-US" sz="1600" dirty="0"/>
          </a:p>
        </p:txBody>
      </p:sp>
      <p:sp>
        <p:nvSpPr>
          <p:cNvPr id="15" name="Text 12"/>
          <p:cNvSpPr/>
          <p:nvPr/>
        </p:nvSpPr>
        <p:spPr>
          <a:xfrm>
            <a:off x="914400" y="3840480"/>
            <a:ext cx="7315200" cy="32004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피연산자도 릴레이션, 결과도 릴레이션 → 연산의 연쇄 적용 가능</a:t>
            </a:r>
            <a:endParaRPr lang="en-US" sz="1300" dirty="0"/>
          </a:p>
        </p:txBody>
      </p:sp>
      <p:sp>
        <p:nvSpPr>
          <p:cNvPr id="16"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8 / 44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관계 대수 연산자 (8개)</a:t>
            </a:r>
            <a:endParaRPr lang="en-US" sz="1400" dirty="0"/>
          </a:p>
        </p:txBody>
      </p:sp>
      <p:sp>
        <p:nvSpPr>
          <p:cNvPr id="6" name="Shape 3"/>
          <p:cNvSpPr/>
          <p:nvPr/>
        </p:nvSpPr>
        <p:spPr>
          <a:xfrm>
            <a:off x="2449012" y="731520"/>
            <a:ext cx="4245976"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2.jpg">    </p:cNvPr>
          <p:cNvPicPr>
            <a:picLocks noChangeAspect="1"/>
          </p:cNvPicPr>
          <p:nvPr/>
        </p:nvPicPr>
        <p:blipFill>
          <a:blip r:embed="rId1"/>
          <a:stretch>
            <a:fillRect/>
          </a:stretch>
        </p:blipFill>
        <p:spPr>
          <a:xfrm>
            <a:off x="2586172" y="822960"/>
            <a:ext cx="3971656"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관계 대수 연산자는 일반 집합 연산자(합집합∪, 교집합∩, 차집합−, 카티션 프로덕트×)와</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순수 관계 연산자(셀렉트σ, 프로젝트π, 조인⋈, 디비전÷)로 나뉩니다.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9 / 44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일반 집합 연산자</a:t>
            </a:r>
            <a:endParaRPr lang="en-US" sz="2600" dirty="0"/>
          </a:p>
        </p:txBody>
      </p:sp>
      <p:sp>
        <p:nvSpPr>
          <p:cNvPr id="6" name="Shape 3"/>
          <p:cNvSpPr/>
          <p:nvPr/>
        </p:nvSpPr>
        <p:spPr>
          <a:xfrm>
            <a:off x="548640" y="109728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097280"/>
            <a:ext cx="64008" cy="822960"/>
          </a:xfrm>
          <a:prstGeom prst="rect">
            <a:avLst/>
          </a:prstGeom>
          <a:solidFill>
            <a:srgbClr val="1B4965"/>
          </a:solidFill>
          <a:ln/>
        </p:spPr>
      </p:sp>
      <p:sp>
        <p:nvSpPr>
          <p:cNvPr id="8" name="Text 5"/>
          <p:cNvSpPr/>
          <p:nvPr/>
        </p:nvSpPr>
        <p:spPr>
          <a:xfrm>
            <a:off x="914400" y="1143000"/>
            <a:ext cx="7315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합집합 (Union) ∪</a:t>
            </a:r>
            <a:endParaRPr lang="en-US" sz="1500" dirty="0"/>
          </a:p>
        </p:txBody>
      </p:sp>
      <p:sp>
        <p:nvSpPr>
          <p:cNvPr id="9" name="Text 6"/>
          <p:cNvSpPr/>
          <p:nvPr/>
        </p:nvSpPr>
        <p:spPr>
          <a:xfrm>
            <a:off x="914400" y="1508760"/>
            <a:ext cx="73152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R과 S에 속하는 모든 투플</a:t>
            </a:r>
            <a:endParaRPr lang="en-US" sz="1200" dirty="0"/>
          </a:p>
        </p:txBody>
      </p:sp>
      <p:sp>
        <p:nvSpPr>
          <p:cNvPr id="10" name="Shape 7"/>
          <p:cNvSpPr/>
          <p:nvPr/>
        </p:nvSpPr>
        <p:spPr>
          <a:xfrm>
            <a:off x="548640" y="205740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548640" y="2057400"/>
            <a:ext cx="64008" cy="822960"/>
          </a:xfrm>
          <a:prstGeom prst="rect">
            <a:avLst/>
          </a:prstGeom>
          <a:solidFill>
            <a:srgbClr val="1B4965"/>
          </a:solidFill>
          <a:ln/>
        </p:spPr>
      </p:sp>
      <p:sp>
        <p:nvSpPr>
          <p:cNvPr id="12" name="Text 9"/>
          <p:cNvSpPr/>
          <p:nvPr/>
        </p:nvSpPr>
        <p:spPr>
          <a:xfrm>
            <a:off x="914400" y="2103120"/>
            <a:ext cx="7315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교집합 (Intersection) ∩</a:t>
            </a:r>
            <a:endParaRPr lang="en-US" sz="1500" dirty="0"/>
          </a:p>
        </p:txBody>
      </p:sp>
      <p:sp>
        <p:nvSpPr>
          <p:cNvPr id="13" name="Text 10"/>
          <p:cNvSpPr/>
          <p:nvPr/>
        </p:nvSpPr>
        <p:spPr>
          <a:xfrm>
            <a:off x="914400" y="2468880"/>
            <a:ext cx="73152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R과 S에 공통으로 속하는 투플</a:t>
            </a:r>
            <a:endParaRPr lang="en-US" sz="1200" dirty="0"/>
          </a:p>
        </p:txBody>
      </p:sp>
      <p:sp>
        <p:nvSpPr>
          <p:cNvPr id="14" name="Shape 11"/>
          <p:cNvSpPr/>
          <p:nvPr/>
        </p:nvSpPr>
        <p:spPr>
          <a:xfrm>
            <a:off x="548640" y="301752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5" name="Shape 12"/>
          <p:cNvSpPr/>
          <p:nvPr/>
        </p:nvSpPr>
        <p:spPr>
          <a:xfrm>
            <a:off x="548640" y="3017520"/>
            <a:ext cx="64008" cy="822960"/>
          </a:xfrm>
          <a:prstGeom prst="rect">
            <a:avLst/>
          </a:prstGeom>
          <a:solidFill>
            <a:srgbClr val="1B4965"/>
          </a:solidFill>
          <a:ln/>
        </p:spPr>
      </p:sp>
      <p:sp>
        <p:nvSpPr>
          <p:cNvPr id="16" name="Text 13"/>
          <p:cNvSpPr/>
          <p:nvPr/>
        </p:nvSpPr>
        <p:spPr>
          <a:xfrm>
            <a:off x="914400" y="3063240"/>
            <a:ext cx="7315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차집합 (Difference) −</a:t>
            </a:r>
            <a:endParaRPr lang="en-US" sz="1500" dirty="0"/>
          </a:p>
        </p:txBody>
      </p:sp>
      <p:sp>
        <p:nvSpPr>
          <p:cNvPr id="17" name="Text 14"/>
          <p:cNvSpPr/>
          <p:nvPr/>
        </p:nvSpPr>
        <p:spPr>
          <a:xfrm>
            <a:off x="914400" y="3429000"/>
            <a:ext cx="73152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R에는 있고 S에는 없는 투플</a:t>
            </a:r>
            <a:endParaRPr lang="en-US" sz="1200" dirty="0"/>
          </a:p>
        </p:txBody>
      </p:sp>
      <p:sp>
        <p:nvSpPr>
          <p:cNvPr id="18" name="Shape 15"/>
          <p:cNvSpPr/>
          <p:nvPr/>
        </p:nvSpPr>
        <p:spPr>
          <a:xfrm>
            <a:off x="548640" y="397764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9" name="Shape 16"/>
          <p:cNvSpPr/>
          <p:nvPr/>
        </p:nvSpPr>
        <p:spPr>
          <a:xfrm>
            <a:off x="548640" y="3977640"/>
            <a:ext cx="64008" cy="822960"/>
          </a:xfrm>
          <a:prstGeom prst="rect">
            <a:avLst/>
          </a:prstGeom>
          <a:solidFill>
            <a:srgbClr val="1B4965"/>
          </a:solidFill>
          <a:ln/>
        </p:spPr>
      </p:sp>
      <p:sp>
        <p:nvSpPr>
          <p:cNvPr id="20" name="Text 17"/>
          <p:cNvSpPr/>
          <p:nvPr/>
        </p:nvSpPr>
        <p:spPr>
          <a:xfrm>
            <a:off x="914400" y="4023360"/>
            <a:ext cx="7315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카티션 프로덕트 (Cartesian Product) ×</a:t>
            </a:r>
            <a:endParaRPr lang="en-US" sz="1500" dirty="0"/>
          </a:p>
        </p:txBody>
      </p:sp>
      <p:sp>
        <p:nvSpPr>
          <p:cNvPr id="21" name="Text 18"/>
          <p:cNvSpPr/>
          <p:nvPr/>
        </p:nvSpPr>
        <p:spPr>
          <a:xfrm>
            <a:off x="914400" y="4389120"/>
            <a:ext cx="73152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R의 각 투플과 S의 각 투플의 모든 조합</a:t>
            </a:r>
            <a:endParaRPr lang="en-US" sz="1200" dirty="0"/>
          </a:p>
        </p:txBody>
      </p:sp>
      <p:sp>
        <p:nvSpPr>
          <p:cNvPr id="22" name="Text 1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10 / 44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일반 집합 연산자 — 기호, 표현, 의미</a:t>
            </a:r>
            <a:endParaRPr lang="en-US" sz="1400" dirty="0"/>
          </a:p>
        </p:txBody>
      </p:sp>
      <p:sp>
        <p:nvSpPr>
          <p:cNvPr id="6" name="Shape 3"/>
          <p:cNvSpPr/>
          <p:nvPr/>
        </p:nvSpPr>
        <p:spPr>
          <a:xfrm>
            <a:off x="685800" y="731520"/>
            <a:ext cx="7772400" cy="261090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3.jpg">    </p:cNvPr>
          <p:cNvPicPr>
            <a:picLocks noChangeAspect="1"/>
          </p:cNvPicPr>
          <p:nvPr/>
        </p:nvPicPr>
        <p:blipFill>
          <a:blip r:embed="rId1"/>
          <a:stretch>
            <a:fillRect/>
          </a:stretch>
        </p:blipFill>
        <p:spPr>
          <a:xfrm>
            <a:off x="822960" y="822960"/>
            <a:ext cx="7498080" cy="2428020"/>
          </a:xfrm>
          <a:prstGeom prst="rect">
            <a:avLst/>
          </a:prstGeom>
        </p:spPr>
      </p:pic>
      <p:sp>
        <p:nvSpPr>
          <p:cNvPr id="8" name="Shape 4"/>
          <p:cNvSpPr/>
          <p:nvPr/>
        </p:nvSpPr>
        <p:spPr>
          <a:xfrm>
            <a:off x="548640" y="3479580"/>
            <a:ext cx="8046720" cy="125244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479580"/>
            <a:ext cx="64008" cy="1252440"/>
          </a:xfrm>
          <a:prstGeom prst="rect">
            <a:avLst/>
          </a:prstGeom>
          <a:solidFill>
            <a:srgbClr val="62B6CB"/>
          </a:solidFill>
          <a:ln/>
        </p:spPr>
      </p:sp>
      <p:sp>
        <p:nvSpPr>
          <p:cNvPr id="10" name="Text 6"/>
          <p:cNvSpPr/>
          <p:nvPr/>
        </p:nvSpPr>
        <p:spPr>
          <a:xfrm>
            <a:off x="914400" y="3571020"/>
            <a:ext cx="7406640" cy="111528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합집합(∪), 교집합(∩), 차집합(−), 카티션 프로덕트(×)의 기호와 의미를 정리한 표입니다.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합집합, 교집합, 차집합은 '합병 가능' 조건이 필요합니다.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11 / 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일반 집합 연산자의 특성</a:t>
            </a:r>
            <a:endParaRPr lang="en-US" sz="2600" dirty="0"/>
          </a:p>
        </p:txBody>
      </p:sp>
      <p:sp>
        <p:nvSpPr>
          <p:cNvPr id="6" name="Shape 3"/>
          <p:cNvSpPr/>
          <p:nvPr/>
        </p:nvSpPr>
        <p:spPr>
          <a:xfrm>
            <a:off x="548640" y="1188720"/>
            <a:ext cx="8046720" cy="640080"/>
          </a:xfrm>
          <a:prstGeom prst="rect">
            <a:avLst/>
          </a:prstGeom>
          <a:solidFill>
            <a:srgbClr val="0D1B2A"/>
          </a:solidFill>
          <a:ln/>
        </p:spPr>
      </p:sp>
      <p:sp>
        <p:nvSpPr>
          <p:cNvPr id="7" name="Text 4"/>
          <p:cNvSpPr/>
          <p:nvPr/>
        </p:nvSpPr>
        <p:spPr>
          <a:xfrm>
            <a:off x="914400" y="1234440"/>
            <a:ext cx="749808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합집합, 교집합, 차집합은 두 릴레이션이 합병 가능해야 함</a:t>
            </a:r>
            <a:endParaRPr lang="en-US" sz="1400" dirty="0"/>
          </a:p>
        </p:txBody>
      </p:sp>
      <p:sp>
        <p:nvSpPr>
          <p:cNvPr id="8" name="Shape 5"/>
          <p:cNvSpPr/>
          <p:nvPr/>
        </p:nvSpPr>
        <p:spPr>
          <a:xfrm>
            <a:off x="548640" y="2103120"/>
            <a:ext cx="3749040" cy="22860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103120"/>
            <a:ext cx="3749040" cy="54864"/>
          </a:xfrm>
          <a:prstGeom prst="rect">
            <a:avLst/>
          </a:prstGeom>
          <a:solidFill>
            <a:srgbClr val="2D936C"/>
          </a:solidFill>
          <a:ln/>
        </p:spPr>
      </p:sp>
      <p:sp>
        <p:nvSpPr>
          <p:cNvPr id="10" name="Text 7"/>
          <p:cNvSpPr/>
          <p:nvPr/>
        </p:nvSpPr>
        <p:spPr>
          <a:xfrm>
            <a:off x="822960" y="2286000"/>
            <a:ext cx="3200400" cy="320040"/>
          </a:xfrm>
          <a:prstGeom prst="rect">
            <a:avLst/>
          </a:prstGeom>
          <a:noFill/>
          <a:ln/>
        </p:spPr>
        <p:txBody>
          <a:bodyPr wrap="square" lIns="0" tIns="0" rIns="0" bIns="0" rtlCol="0" anchor="ctr"/>
          <a:lstStyle/>
          <a:p>
            <a:pPr indent="0" marL="0">
              <a:buNone/>
            </a:pPr>
            <a:r>
              <a:rPr lang="en-US" sz="1600" b="1" dirty="0">
                <a:solidFill>
                  <a:srgbClr val="2D936C"/>
                </a:solidFill>
                <a:latin typeface="Trebuchet MS" pitchFamily="34" charset="0"/>
                <a:ea typeface="Trebuchet MS" pitchFamily="34" charset="-122"/>
                <a:cs typeface="Trebuchet MS" pitchFamily="34" charset="-120"/>
              </a:rPr>
              <a:t>조건 1</a:t>
            </a:r>
            <a:endParaRPr lang="en-US" sz="1600" dirty="0"/>
          </a:p>
        </p:txBody>
      </p:sp>
      <p:sp>
        <p:nvSpPr>
          <p:cNvPr id="11" name="Text 8"/>
          <p:cNvSpPr/>
          <p:nvPr/>
        </p:nvSpPr>
        <p:spPr>
          <a:xfrm>
            <a:off x="822960" y="2697480"/>
            <a:ext cx="3200400" cy="1371600"/>
          </a:xfrm>
          <a:prstGeom prst="rect">
            <a:avLst/>
          </a:prstGeom>
          <a:noFill/>
          <a:ln/>
        </p:spPr>
        <p:txBody>
          <a:bodyPr wrap="square" lIns="0" tIns="0" rIns="0" bIns="0" rtlCol="0" anchor="ctr"/>
          <a:lstStyle/>
          <a:p>
            <a:pPr indent="0" marL="0">
              <a:buNone/>
            </a:pPr>
            <a:r>
              <a:rPr lang="en-US" sz="1400" dirty="0">
                <a:solidFill>
                  <a:srgbClr val="5A6C7D"/>
                </a:solidFill>
                <a:latin typeface="Calibri" pitchFamily="34" charset="0"/>
                <a:ea typeface="Calibri" pitchFamily="34" charset="-122"/>
                <a:cs typeface="Calibri" pitchFamily="34" charset="-120"/>
              </a:rPr>
              <a:t>두 릴레이션의 차수</a:t>
            </a:r>
            <a:endParaRPr lang="en-US" sz="1400" dirty="0"/>
          </a:p>
          <a:p>
            <a:pPr indent="0" marL="0">
              <a:buNone/>
            </a:pPr>
            <a:r>
              <a:rPr lang="en-US" sz="1400" dirty="0">
                <a:solidFill>
                  <a:srgbClr val="5A6C7D"/>
                </a:solidFill>
                <a:latin typeface="Calibri" pitchFamily="34" charset="0"/>
                <a:ea typeface="Calibri" pitchFamily="34" charset="-122"/>
                <a:cs typeface="Calibri" pitchFamily="34" charset="-120"/>
              </a:rPr>
              <a:t>(속성의 전체 개수)가</a:t>
            </a:r>
            <a:endParaRPr lang="en-US" sz="1400" dirty="0"/>
          </a:p>
          <a:p>
            <a:pPr indent="0" marL="0">
              <a:buNone/>
            </a:pPr>
            <a:r>
              <a:rPr lang="en-US" sz="1400" dirty="0">
                <a:solidFill>
                  <a:srgbClr val="5A6C7D"/>
                </a:solidFill>
                <a:latin typeface="Calibri" pitchFamily="34" charset="0"/>
                <a:ea typeface="Calibri" pitchFamily="34" charset="-122"/>
                <a:cs typeface="Calibri" pitchFamily="34" charset="-120"/>
              </a:rPr>
              <a:t>같아야 함</a:t>
            </a:r>
            <a:endParaRPr lang="en-US" sz="1400" dirty="0"/>
          </a:p>
        </p:txBody>
      </p:sp>
      <p:sp>
        <p:nvSpPr>
          <p:cNvPr id="12" name="Shape 9"/>
          <p:cNvSpPr/>
          <p:nvPr/>
        </p:nvSpPr>
        <p:spPr>
          <a:xfrm>
            <a:off x="4846320" y="2103120"/>
            <a:ext cx="3749040" cy="22860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4846320" y="2103120"/>
            <a:ext cx="3749040" cy="54864"/>
          </a:xfrm>
          <a:prstGeom prst="rect">
            <a:avLst/>
          </a:prstGeom>
          <a:solidFill>
            <a:srgbClr val="62B6CB"/>
          </a:solidFill>
          <a:ln/>
        </p:spPr>
      </p:sp>
      <p:sp>
        <p:nvSpPr>
          <p:cNvPr id="14" name="Text 11"/>
          <p:cNvSpPr/>
          <p:nvPr/>
        </p:nvSpPr>
        <p:spPr>
          <a:xfrm>
            <a:off x="5120640" y="2286000"/>
            <a:ext cx="3200400" cy="320040"/>
          </a:xfrm>
          <a:prstGeom prst="rect">
            <a:avLst/>
          </a:prstGeom>
          <a:noFill/>
          <a:ln/>
        </p:spPr>
        <p:txBody>
          <a:bodyPr wrap="square" lIns="0" tIns="0" rIns="0" bIns="0" rtlCol="0" anchor="ctr"/>
          <a:lstStyle/>
          <a:p>
            <a:pPr indent="0" marL="0">
              <a:buNone/>
            </a:pPr>
            <a:r>
              <a:rPr lang="en-US" sz="1600" b="1" dirty="0">
                <a:solidFill>
                  <a:srgbClr val="1B4965"/>
                </a:solidFill>
                <a:latin typeface="Trebuchet MS" pitchFamily="34" charset="0"/>
                <a:ea typeface="Trebuchet MS" pitchFamily="34" charset="-122"/>
                <a:cs typeface="Trebuchet MS" pitchFamily="34" charset="-120"/>
              </a:rPr>
              <a:t>조건 2</a:t>
            </a:r>
            <a:endParaRPr lang="en-US" sz="1600" dirty="0"/>
          </a:p>
        </p:txBody>
      </p:sp>
      <p:sp>
        <p:nvSpPr>
          <p:cNvPr id="15" name="Text 12"/>
          <p:cNvSpPr/>
          <p:nvPr/>
        </p:nvSpPr>
        <p:spPr>
          <a:xfrm>
            <a:off x="5120640" y="2697480"/>
            <a:ext cx="3200400" cy="1371600"/>
          </a:xfrm>
          <a:prstGeom prst="rect">
            <a:avLst/>
          </a:prstGeom>
          <a:noFill/>
          <a:ln/>
        </p:spPr>
        <p:txBody>
          <a:bodyPr wrap="square" lIns="0" tIns="0" rIns="0" bIns="0" rtlCol="0" anchor="ctr"/>
          <a:lstStyle/>
          <a:p>
            <a:pPr indent="0" marL="0">
              <a:buNone/>
            </a:pPr>
            <a:r>
              <a:rPr lang="en-US" sz="1400" dirty="0">
                <a:solidFill>
                  <a:srgbClr val="5A6C7D"/>
                </a:solidFill>
                <a:latin typeface="Calibri" pitchFamily="34" charset="0"/>
                <a:ea typeface="Calibri" pitchFamily="34" charset="-122"/>
                <a:cs typeface="Calibri" pitchFamily="34" charset="-120"/>
              </a:rPr>
              <a:t>대응되는 속성의</a:t>
            </a:r>
            <a:endParaRPr lang="en-US" sz="1400" dirty="0"/>
          </a:p>
          <a:p>
            <a:pPr indent="0" marL="0">
              <a:buNone/>
            </a:pPr>
            <a:r>
              <a:rPr lang="en-US" sz="1400" dirty="0">
                <a:solidFill>
                  <a:srgbClr val="5A6C7D"/>
                </a:solidFill>
                <a:latin typeface="Calibri" pitchFamily="34" charset="0"/>
                <a:ea typeface="Calibri" pitchFamily="34" charset="-122"/>
                <a:cs typeface="Calibri" pitchFamily="34" charset="-120"/>
              </a:rPr>
              <a:t>도메인이</a:t>
            </a:r>
            <a:endParaRPr lang="en-US" sz="1400" dirty="0"/>
          </a:p>
          <a:p>
            <a:pPr indent="0" marL="0">
              <a:buNone/>
            </a:pPr>
            <a:r>
              <a:rPr lang="en-US" sz="1400" dirty="0">
                <a:solidFill>
                  <a:srgbClr val="5A6C7D"/>
                </a:solidFill>
                <a:latin typeface="Calibri" pitchFamily="34" charset="0"/>
                <a:ea typeface="Calibri" pitchFamily="34" charset="-122"/>
                <a:cs typeface="Calibri" pitchFamily="34" charset="-120"/>
              </a:rPr>
              <a:t>같아야 함</a:t>
            </a:r>
            <a:endParaRPr lang="en-US" sz="1400" dirty="0"/>
          </a:p>
        </p:txBody>
      </p:sp>
      <p:sp>
        <p:nvSpPr>
          <p:cNvPr id="16" name="Text 13"/>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12 / 44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합병 불가능 vs 합병 가능 예제</a:t>
            </a:r>
            <a:endParaRPr lang="en-US" sz="1400" dirty="0"/>
          </a:p>
        </p:txBody>
      </p:sp>
      <p:sp>
        <p:nvSpPr>
          <p:cNvPr id="6" name="Shape 3"/>
          <p:cNvSpPr/>
          <p:nvPr/>
        </p:nvSpPr>
        <p:spPr>
          <a:xfrm>
            <a:off x="685800" y="731520"/>
            <a:ext cx="7772400" cy="2441965"/>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5.jpg">    </p:cNvPr>
          <p:cNvPicPr>
            <a:picLocks noChangeAspect="1"/>
          </p:cNvPicPr>
          <p:nvPr/>
        </p:nvPicPr>
        <p:blipFill>
          <a:blip r:embed="rId1"/>
          <a:stretch>
            <a:fillRect/>
          </a:stretch>
        </p:blipFill>
        <p:spPr>
          <a:xfrm>
            <a:off x="822960" y="822960"/>
            <a:ext cx="7498080" cy="2259085"/>
          </a:xfrm>
          <a:prstGeom prst="rect">
            <a:avLst/>
          </a:prstGeom>
        </p:spPr>
      </p:pic>
      <p:sp>
        <p:nvSpPr>
          <p:cNvPr id="8" name="Shape 4"/>
          <p:cNvSpPr/>
          <p:nvPr/>
        </p:nvSpPr>
        <p:spPr>
          <a:xfrm>
            <a:off x="548640" y="3310645"/>
            <a:ext cx="8046720" cy="1421375"/>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310645"/>
            <a:ext cx="64008" cy="1421375"/>
          </a:xfrm>
          <a:prstGeom prst="rect">
            <a:avLst/>
          </a:prstGeom>
          <a:solidFill>
            <a:srgbClr val="62B6CB"/>
          </a:solidFill>
          <a:ln/>
        </p:spPr>
      </p:sp>
      <p:sp>
        <p:nvSpPr>
          <p:cNvPr id="10" name="Text 6"/>
          <p:cNvSpPr/>
          <p:nvPr/>
        </p:nvSpPr>
        <p:spPr>
          <a:xfrm>
            <a:off x="914400" y="3402085"/>
            <a:ext cx="7406640" cy="1284215"/>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위: 차수는 같지만 속성의 도메인이 달라 합병 불가능</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아래: 차수가 같고 속성 도메인도 같아 합병 가능</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13 / 44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합집합 (Union) R∪S</a:t>
            </a:r>
            <a:endParaRPr lang="en-US" sz="2600" dirty="0"/>
          </a:p>
        </p:txBody>
      </p:sp>
      <p:sp>
        <p:nvSpPr>
          <p:cNvPr id="6" name="Shape 3"/>
          <p:cNvSpPr/>
          <p:nvPr/>
        </p:nvSpPr>
        <p:spPr>
          <a:xfrm>
            <a:off x="548640" y="1188720"/>
            <a:ext cx="8046720" cy="640080"/>
          </a:xfrm>
          <a:prstGeom prst="rect">
            <a:avLst/>
          </a:prstGeom>
          <a:solidFill>
            <a:srgbClr val="1B4965"/>
          </a:solidFill>
          <a:ln/>
        </p:spPr>
      </p:sp>
      <p:sp>
        <p:nvSpPr>
          <p:cNvPr id="7" name="Text 4"/>
          <p:cNvSpPr/>
          <p:nvPr/>
        </p:nvSpPr>
        <p:spPr>
          <a:xfrm>
            <a:off x="914400" y="123444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R과 S에 속하는 모든 투플로 결과 릴레이션 구성 (중복 제거)</a:t>
            </a:r>
            <a:endParaRPr lang="en-US" sz="1400" dirty="0"/>
          </a:p>
        </p:txBody>
      </p:sp>
      <p:sp>
        <p:nvSpPr>
          <p:cNvPr id="8" name="Shape 5"/>
          <p:cNvSpPr/>
          <p:nvPr/>
        </p:nvSpPr>
        <p:spPr>
          <a:xfrm>
            <a:off x="548640" y="210312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103120"/>
            <a:ext cx="64008" cy="731520"/>
          </a:xfrm>
          <a:prstGeom prst="rect">
            <a:avLst/>
          </a:prstGeom>
          <a:solidFill>
            <a:srgbClr val="62B6CB"/>
          </a:solidFill>
          <a:ln/>
        </p:spPr>
      </p:sp>
      <p:sp>
        <p:nvSpPr>
          <p:cNvPr id="10" name="Text 7"/>
          <p:cNvSpPr/>
          <p:nvPr/>
        </p:nvSpPr>
        <p:spPr>
          <a:xfrm>
            <a:off x="914400" y="214884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차수</a:t>
            </a:r>
            <a:endParaRPr lang="en-US" sz="1400" dirty="0"/>
          </a:p>
        </p:txBody>
      </p:sp>
      <p:sp>
        <p:nvSpPr>
          <p:cNvPr id="11" name="Text 8"/>
          <p:cNvSpPr/>
          <p:nvPr/>
        </p:nvSpPr>
        <p:spPr>
          <a:xfrm>
            <a:off x="914400" y="245059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 S의 차수와 같음</a:t>
            </a:r>
            <a:endParaRPr lang="en-US" sz="1200" dirty="0"/>
          </a:p>
        </p:txBody>
      </p:sp>
      <p:sp>
        <p:nvSpPr>
          <p:cNvPr id="12" name="Shape 9"/>
          <p:cNvSpPr/>
          <p:nvPr/>
        </p:nvSpPr>
        <p:spPr>
          <a:xfrm>
            <a:off x="548640" y="297180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2971800"/>
            <a:ext cx="64008" cy="731520"/>
          </a:xfrm>
          <a:prstGeom prst="rect">
            <a:avLst/>
          </a:prstGeom>
          <a:solidFill>
            <a:srgbClr val="62B6CB"/>
          </a:solidFill>
          <a:ln/>
        </p:spPr>
      </p:sp>
      <p:sp>
        <p:nvSpPr>
          <p:cNvPr id="14" name="Text 11"/>
          <p:cNvSpPr/>
          <p:nvPr/>
        </p:nvSpPr>
        <p:spPr>
          <a:xfrm>
            <a:off x="914400" y="301752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카디널리티</a:t>
            </a:r>
            <a:endParaRPr lang="en-US" sz="1400" dirty="0"/>
          </a:p>
        </p:txBody>
      </p:sp>
      <p:sp>
        <p:nvSpPr>
          <p:cNvPr id="15" name="Text 12"/>
          <p:cNvSpPr/>
          <p:nvPr/>
        </p:nvSpPr>
        <p:spPr>
          <a:xfrm>
            <a:off x="914400" y="331927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 + S의 카디널리티와 같거나 작음 (중복 제거)</a:t>
            </a:r>
            <a:endParaRPr lang="en-US" sz="1200" dirty="0"/>
          </a:p>
        </p:txBody>
      </p:sp>
      <p:sp>
        <p:nvSpPr>
          <p:cNvPr id="16" name="Shape 13"/>
          <p:cNvSpPr/>
          <p:nvPr/>
        </p:nvSpPr>
        <p:spPr>
          <a:xfrm>
            <a:off x="548640" y="384048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3840480"/>
            <a:ext cx="64008" cy="731520"/>
          </a:xfrm>
          <a:prstGeom prst="rect">
            <a:avLst/>
          </a:prstGeom>
          <a:solidFill>
            <a:srgbClr val="62B6CB"/>
          </a:solidFill>
          <a:ln/>
        </p:spPr>
      </p:sp>
      <p:sp>
        <p:nvSpPr>
          <p:cNvPr id="18" name="Text 15"/>
          <p:cNvSpPr/>
          <p:nvPr/>
        </p:nvSpPr>
        <p:spPr>
          <a:xfrm>
            <a:off x="914400" y="388620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교환/결합법칙</a:t>
            </a:r>
            <a:endParaRPr lang="en-US" sz="1400" dirty="0"/>
          </a:p>
        </p:txBody>
      </p:sp>
      <p:sp>
        <p:nvSpPr>
          <p:cNvPr id="19" name="Text 16"/>
          <p:cNvSpPr/>
          <p:nvPr/>
        </p:nvSpPr>
        <p:spPr>
          <a:xfrm>
            <a:off x="914400" y="418795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R∪S = S∪R (교환) / (R∪S)∪T = R∪(S∪T) (결합)</a:t>
            </a:r>
            <a:endParaRPr lang="en-US" sz="12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14 / 44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릴레이션 R과 S의 합집합 예제</a:t>
            </a:r>
            <a:endParaRPr lang="en-US" sz="1400" dirty="0"/>
          </a:p>
        </p:txBody>
      </p:sp>
      <p:sp>
        <p:nvSpPr>
          <p:cNvPr id="6" name="Shape 3"/>
          <p:cNvSpPr/>
          <p:nvPr/>
        </p:nvSpPr>
        <p:spPr>
          <a:xfrm>
            <a:off x="2571951" y="731520"/>
            <a:ext cx="4000098"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7.jpg">    </p:cNvPr>
          <p:cNvPicPr>
            <a:picLocks noChangeAspect="1"/>
          </p:cNvPicPr>
          <p:nvPr/>
        </p:nvPicPr>
        <p:blipFill>
          <a:blip r:embed="rId1"/>
          <a:stretch>
            <a:fillRect/>
          </a:stretch>
        </p:blipFill>
        <p:spPr>
          <a:xfrm>
            <a:off x="2709111" y="822960"/>
            <a:ext cx="3725778"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R에 3개, S에 3개 투플이 있고, (100,정소화)가 양쪽에 공통입니다.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R∪S 결과는 중복이 제거되어 5개 투플이 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15 / 44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교집합 (Intersection) R∩S</a:t>
            </a:r>
            <a:endParaRPr lang="en-US" sz="2600" dirty="0"/>
          </a:p>
        </p:txBody>
      </p:sp>
      <p:sp>
        <p:nvSpPr>
          <p:cNvPr id="6" name="Shape 3"/>
          <p:cNvSpPr/>
          <p:nvPr/>
        </p:nvSpPr>
        <p:spPr>
          <a:xfrm>
            <a:off x="548640" y="1188720"/>
            <a:ext cx="8046720" cy="640080"/>
          </a:xfrm>
          <a:prstGeom prst="rect">
            <a:avLst/>
          </a:prstGeom>
          <a:solidFill>
            <a:srgbClr val="1B4965"/>
          </a:solidFill>
          <a:ln/>
        </p:spPr>
      </p:sp>
      <p:sp>
        <p:nvSpPr>
          <p:cNvPr id="7" name="Text 4"/>
          <p:cNvSpPr/>
          <p:nvPr/>
        </p:nvSpPr>
        <p:spPr>
          <a:xfrm>
            <a:off x="914400" y="123444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R과 S에 공통으로 속하는 투플로 결과 릴레이션 구성</a:t>
            </a:r>
            <a:endParaRPr lang="en-US" sz="1400" dirty="0"/>
          </a:p>
        </p:txBody>
      </p:sp>
      <p:sp>
        <p:nvSpPr>
          <p:cNvPr id="8" name="Shape 5"/>
          <p:cNvSpPr/>
          <p:nvPr/>
        </p:nvSpPr>
        <p:spPr>
          <a:xfrm>
            <a:off x="548640" y="210312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103120"/>
            <a:ext cx="64008" cy="731520"/>
          </a:xfrm>
          <a:prstGeom prst="rect">
            <a:avLst/>
          </a:prstGeom>
          <a:solidFill>
            <a:srgbClr val="62B6CB"/>
          </a:solidFill>
          <a:ln/>
        </p:spPr>
      </p:sp>
      <p:sp>
        <p:nvSpPr>
          <p:cNvPr id="10" name="Text 7"/>
          <p:cNvSpPr/>
          <p:nvPr/>
        </p:nvSpPr>
        <p:spPr>
          <a:xfrm>
            <a:off x="914400" y="214884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차수</a:t>
            </a:r>
            <a:endParaRPr lang="en-US" sz="1400" dirty="0"/>
          </a:p>
        </p:txBody>
      </p:sp>
      <p:sp>
        <p:nvSpPr>
          <p:cNvPr id="11" name="Text 8"/>
          <p:cNvSpPr/>
          <p:nvPr/>
        </p:nvSpPr>
        <p:spPr>
          <a:xfrm>
            <a:off x="914400" y="245059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 S의 차수와 같음</a:t>
            </a:r>
            <a:endParaRPr lang="en-US" sz="1200" dirty="0"/>
          </a:p>
        </p:txBody>
      </p:sp>
      <p:sp>
        <p:nvSpPr>
          <p:cNvPr id="12" name="Shape 9"/>
          <p:cNvSpPr/>
          <p:nvPr/>
        </p:nvSpPr>
        <p:spPr>
          <a:xfrm>
            <a:off x="548640" y="297180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2971800"/>
            <a:ext cx="64008" cy="731520"/>
          </a:xfrm>
          <a:prstGeom prst="rect">
            <a:avLst/>
          </a:prstGeom>
          <a:solidFill>
            <a:srgbClr val="62B6CB"/>
          </a:solidFill>
          <a:ln/>
        </p:spPr>
      </p:sp>
      <p:sp>
        <p:nvSpPr>
          <p:cNvPr id="14" name="Text 11"/>
          <p:cNvSpPr/>
          <p:nvPr/>
        </p:nvSpPr>
        <p:spPr>
          <a:xfrm>
            <a:off x="914400" y="301752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카디널리티</a:t>
            </a:r>
            <a:endParaRPr lang="en-US" sz="1400" dirty="0"/>
          </a:p>
        </p:txBody>
      </p:sp>
      <p:sp>
        <p:nvSpPr>
          <p:cNvPr id="15" name="Text 12"/>
          <p:cNvSpPr/>
          <p:nvPr/>
        </p:nvSpPr>
        <p:spPr>
          <a:xfrm>
            <a:off x="914400" y="331927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 또는 S의 카디널리티보다 작거나 같음</a:t>
            </a:r>
            <a:endParaRPr lang="en-US" sz="1200" dirty="0"/>
          </a:p>
        </p:txBody>
      </p:sp>
      <p:sp>
        <p:nvSpPr>
          <p:cNvPr id="16" name="Shape 13"/>
          <p:cNvSpPr/>
          <p:nvPr/>
        </p:nvSpPr>
        <p:spPr>
          <a:xfrm>
            <a:off x="548640" y="384048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3840480"/>
            <a:ext cx="64008" cy="731520"/>
          </a:xfrm>
          <a:prstGeom prst="rect">
            <a:avLst/>
          </a:prstGeom>
          <a:solidFill>
            <a:srgbClr val="62B6CB"/>
          </a:solidFill>
          <a:ln/>
        </p:spPr>
      </p:sp>
      <p:sp>
        <p:nvSpPr>
          <p:cNvPr id="18" name="Text 15"/>
          <p:cNvSpPr/>
          <p:nvPr/>
        </p:nvSpPr>
        <p:spPr>
          <a:xfrm>
            <a:off x="914400" y="388620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교환/결합법칙</a:t>
            </a:r>
            <a:endParaRPr lang="en-US" sz="1400" dirty="0"/>
          </a:p>
        </p:txBody>
      </p:sp>
      <p:sp>
        <p:nvSpPr>
          <p:cNvPr id="19" name="Text 16"/>
          <p:cNvSpPr/>
          <p:nvPr/>
        </p:nvSpPr>
        <p:spPr>
          <a:xfrm>
            <a:off x="914400" y="418795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R∩S = S∩R (교환) / (R∩S)∩T = R∩(S∩T) (결합)</a:t>
            </a:r>
            <a:endParaRPr lang="en-US" sz="12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16 / 44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릴레이션 R과 S의 교집합 예제</a:t>
            </a:r>
            <a:endParaRPr lang="en-US" sz="1400" dirty="0"/>
          </a:p>
        </p:txBody>
      </p:sp>
      <p:sp>
        <p:nvSpPr>
          <p:cNvPr id="6" name="Shape 3"/>
          <p:cNvSpPr/>
          <p:nvPr/>
        </p:nvSpPr>
        <p:spPr>
          <a:xfrm>
            <a:off x="1880562" y="731520"/>
            <a:ext cx="5382875"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8.jpg">    </p:cNvPr>
          <p:cNvPicPr>
            <a:picLocks noChangeAspect="1"/>
          </p:cNvPicPr>
          <p:nvPr/>
        </p:nvPicPr>
        <p:blipFill>
          <a:blip r:embed="rId1"/>
          <a:stretch>
            <a:fillRect/>
          </a:stretch>
        </p:blipFill>
        <p:spPr>
          <a:xfrm>
            <a:off x="2017722" y="822960"/>
            <a:ext cx="5108555"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R과 S 양쪽에 모두 존재하는 (100,정소화) 하나만 결과에 남습니다.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17 / 44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차집합 (Difference) R−S</a:t>
            </a:r>
            <a:endParaRPr lang="en-US" sz="2600" dirty="0"/>
          </a:p>
        </p:txBody>
      </p:sp>
      <p:sp>
        <p:nvSpPr>
          <p:cNvPr id="6" name="Shape 3"/>
          <p:cNvSpPr/>
          <p:nvPr/>
        </p:nvSpPr>
        <p:spPr>
          <a:xfrm>
            <a:off x="548640" y="1188720"/>
            <a:ext cx="8046720" cy="640080"/>
          </a:xfrm>
          <a:prstGeom prst="rect">
            <a:avLst/>
          </a:prstGeom>
          <a:solidFill>
            <a:srgbClr val="1B4965"/>
          </a:solidFill>
          <a:ln/>
        </p:spPr>
      </p:sp>
      <p:sp>
        <p:nvSpPr>
          <p:cNvPr id="7" name="Text 4"/>
          <p:cNvSpPr/>
          <p:nvPr/>
        </p:nvSpPr>
        <p:spPr>
          <a:xfrm>
            <a:off x="914400" y="123444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R에는 존재하지만 S에는 존재하지 않는 투플로 결과 구성</a:t>
            </a:r>
            <a:endParaRPr lang="en-US" sz="1400" dirty="0"/>
          </a:p>
        </p:txBody>
      </p:sp>
      <p:sp>
        <p:nvSpPr>
          <p:cNvPr id="8" name="Shape 5"/>
          <p:cNvSpPr/>
          <p:nvPr/>
        </p:nvSpPr>
        <p:spPr>
          <a:xfrm>
            <a:off x="548640" y="2103120"/>
            <a:ext cx="8046720" cy="731520"/>
          </a:xfrm>
          <a:prstGeom prst="rect">
            <a:avLst/>
          </a:prstGeom>
          <a:solidFill>
            <a:srgbClr val="FFF5F2"/>
          </a:solidFill>
          <a:ln w="12700">
            <a:solidFill>
              <a:srgbClr val="E07A5F"/>
            </a:solidFill>
            <a:prstDash val="solid"/>
          </a:ln>
        </p:spPr>
      </p:sp>
      <p:sp>
        <p:nvSpPr>
          <p:cNvPr id="9" name="Text 6"/>
          <p:cNvSpPr/>
          <p:nvPr/>
        </p:nvSpPr>
        <p:spPr>
          <a:xfrm>
            <a:off x="914400" y="2194560"/>
            <a:ext cx="7315200" cy="548640"/>
          </a:xfrm>
          <a:prstGeom prst="rect">
            <a:avLst/>
          </a:prstGeom>
          <a:noFill/>
          <a:ln/>
        </p:spPr>
        <p:txBody>
          <a:bodyPr wrap="square" lIns="0" tIns="0" rIns="0" bIns="0" rtlCol="0" anchor="ctr"/>
          <a:lstStyle/>
          <a:p>
            <a:pPr indent="0" marL="0">
              <a:buNone/>
            </a:pPr>
            <a:r>
              <a:rPr lang="en-US" sz="1400" b="1" dirty="0">
                <a:solidFill>
                  <a:srgbClr val="E07A5F"/>
                </a:solidFill>
                <a:latin typeface="Calibri" pitchFamily="34" charset="0"/>
                <a:ea typeface="Calibri" pitchFamily="34" charset="-122"/>
                <a:cs typeface="Calibri" pitchFamily="34" charset="-120"/>
              </a:rPr>
              <a:t>주의: R−S ≠ S−R  →  교환법칙 성립하지 않음!</a:t>
            </a:r>
            <a:endParaRPr lang="en-US" sz="1400" dirty="0"/>
          </a:p>
        </p:txBody>
      </p:sp>
      <p:sp>
        <p:nvSpPr>
          <p:cNvPr id="10" name="Shape 7"/>
          <p:cNvSpPr/>
          <p:nvPr/>
        </p:nvSpPr>
        <p:spPr>
          <a:xfrm>
            <a:off x="548640" y="310896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1" name="Shape 8"/>
          <p:cNvSpPr/>
          <p:nvPr/>
        </p:nvSpPr>
        <p:spPr>
          <a:xfrm>
            <a:off x="548640" y="3108960"/>
            <a:ext cx="64008" cy="731520"/>
          </a:xfrm>
          <a:prstGeom prst="rect">
            <a:avLst/>
          </a:prstGeom>
          <a:solidFill>
            <a:srgbClr val="62B6CB"/>
          </a:solidFill>
          <a:ln/>
        </p:spPr>
      </p:sp>
      <p:sp>
        <p:nvSpPr>
          <p:cNvPr id="12" name="Text 9"/>
          <p:cNvSpPr/>
          <p:nvPr/>
        </p:nvSpPr>
        <p:spPr>
          <a:xfrm>
            <a:off x="914400" y="315468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카디널리티</a:t>
            </a:r>
            <a:endParaRPr lang="en-US" sz="1400" dirty="0"/>
          </a:p>
        </p:txBody>
      </p:sp>
      <p:sp>
        <p:nvSpPr>
          <p:cNvPr id="13" name="Text 10"/>
          <p:cNvSpPr/>
          <p:nvPr/>
        </p:nvSpPr>
        <p:spPr>
          <a:xfrm>
            <a:off x="914400" y="345643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R의 카디널리티와 같거나 작음</a:t>
            </a:r>
            <a:endParaRPr lang="en-US" sz="1200" dirty="0"/>
          </a:p>
        </p:txBody>
      </p:sp>
      <p:sp>
        <p:nvSpPr>
          <p:cNvPr id="14" name="Text 1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18 / 44</a:t>
            </a:r>
            <a:endParaRPr lang="en-US" sz="900" dirty="0"/>
          </a:p>
        </p:txBody>
      </p:sp>
    </p:spTree>
  </p:cSld>
  <p:clrMapOvr>
    <a:masterClrMapping/>
  </p:clrMapOvr>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9">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릴레이션 R과 S의 차집합 예제 (R−S와 S−R)</a:t>
            </a:r>
            <a:endParaRPr lang="en-US" sz="1400" dirty="0"/>
          </a:p>
        </p:txBody>
      </p:sp>
      <p:sp>
        <p:nvSpPr>
          <p:cNvPr id="6" name="Shape 3"/>
          <p:cNvSpPr/>
          <p:nvPr/>
        </p:nvSpPr>
        <p:spPr>
          <a:xfrm>
            <a:off x="2225215" y="731520"/>
            <a:ext cx="4693570"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19.jpg">    </p:cNvPr>
          <p:cNvPicPr>
            <a:picLocks noChangeAspect="1"/>
          </p:cNvPicPr>
          <p:nvPr/>
        </p:nvPicPr>
        <p:blipFill>
          <a:blip r:embed="rId3"/>
          <a:stretch>
            <a:fillRect/>
          </a:stretch>
        </p:blipFill>
        <p:spPr>
          <a:xfrm>
            <a:off x="2362375" y="822960"/>
            <a:ext cx="4419250" cy="3108960"/>
          </a:xfrm>
          <a:prstGeom prst="rect">
            <a:avLst/>
          </a:prstGeom>
        </p:spPr>
      </p:pic>
      <p:sp>
        <p:nvSpPr>
          <p:cNvPr id="8" name="Shape 4"/>
          <p:cNvSpPr/>
          <p:nvPr/>
        </p:nvSpPr>
        <p:spPr>
          <a:xfrm>
            <a:off x="548640" y="4160520"/>
            <a:ext cx="8046720" cy="731520"/>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4160520"/>
            <a:ext cx="64008" cy="73152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R−S: R에만 있는 (200,김선우),(300,고명석) → 2개</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S−R: S에만 있는 (101,채광주),(102,김수진) → 2개</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순서에 따라 결과가 다릅니다.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19 / 44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카티션 프로덕트 R×S</a:t>
            </a:r>
            <a:endParaRPr lang="en-US" sz="2600" dirty="0"/>
          </a:p>
        </p:txBody>
      </p:sp>
      <p:sp>
        <p:nvSpPr>
          <p:cNvPr id="6" name="Shape 3"/>
          <p:cNvSpPr/>
          <p:nvPr/>
        </p:nvSpPr>
        <p:spPr>
          <a:xfrm>
            <a:off x="548640" y="1188720"/>
            <a:ext cx="8046720" cy="640080"/>
          </a:xfrm>
          <a:prstGeom prst="rect">
            <a:avLst/>
          </a:prstGeom>
          <a:solidFill>
            <a:srgbClr val="1B4965"/>
          </a:solidFill>
          <a:ln/>
        </p:spPr>
      </p:sp>
      <p:sp>
        <p:nvSpPr>
          <p:cNvPr id="7" name="Text 4"/>
          <p:cNvSpPr/>
          <p:nvPr/>
        </p:nvSpPr>
        <p:spPr>
          <a:xfrm>
            <a:off x="914400" y="1234440"/>
            <a:ext cx="73152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R의 각 투플과 S의 각 투플을 모두 연결하여 새 투플 생성</a:t>
            </a:r>
            <a:endParaRPr lang="en-US" sz="1400" dirty="0"/>
          </a:p>
        </p:txBody>
      </p:sp>
      <p:sp>
        <p:nvSpPr>
          <p:cNvPr id="8" name="Shape 5"/>
          <p:cNvSpPr/>
          <p:nvPr/>
        </p:nvSpPr>
        <p:spPr>
          <a:xfrm>
            <a:off x="548640" y="210312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103120"/>
            <a:ext cx="64008" cy="731520"/>
          </a:xfrm>
          <a:prstGeom prst="rect">
            <a:avLst/>
          </a:prstGeom>
          <a:solidFill>
            <a:srgbClr val="62B6CB"/>
          </a:solidFill>
          <a:ln/>
        </p:spPr>
      </p:sp>
      <p:sp>
        <p:nvSpPr>
          <p:cNvPr id="10" name="Text 7"/>
          <p:cNvSpPr/>
          <p:nvPr/>
        </p:nvSpPr>
        <p:spPr>
          <a:xfrm>
            <a:off x="914400" y="214884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합병 가능 불필요</a:t>
            </a:r>
            <a:endParaRPr lang="en-US" sz="1400" dirty="0"/>
          </a:p>
        </p:txBody>
      </p:sp>
      <p:sp>
        <p:nvSpPr>
          <p:cNvPr id="11" name="Text 8"/>
          <p:cNvSpPr/>
          <p:nvPr/>
        </p:nvSpPr>
        <p:spPr>
          <a:xfrm>
            <a:off x="914400" y="245059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서로 다른 구조의 릴레이션도 가능</a:t>
            </a:r>
            <a:endParaRPr lang="en-US" sz="1200" dirty="0"/>
          </a:p>
        </p:txBody>
      </p:sp>
      <p:sp>
        <p:nvSpPr>
          <p:cNvPr id="12" name="Shape 9"/>
          <p:cNvSpPr/>
          <p:nvPr/>
        </p:nvSpPr>
        <p:spPr>
          <a:xfrm>
            <a:off x="548640" y="297180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2971800"/>
            <a:ext cx="64008" cy="731520"/>
          </a:xfrm>
          <a:prstGeom prst="rect">
            <a:avLst/>
          </a:prstGeom>
          <a:solidFill>
            <a:srgbClr val="62B6CB"/>
          </a:solidFill>
          <a:ln/>
        </p:spPr>
      </p:sp>
      <p:sp>
        <p:nvSpPr>
          <p:cNvPr id="14" name="Text 11"/>
          <p:cNvSpPr/>
          <p:nvPr/>
        </p:nvSpPr>
        <p:spPr>
          <a:xfrm>
            <a:off x="914400" y="301752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차수</a:t>
            </a:r>
            <a:endParaRPr lang="en-US" sz="1400" dirty="0"/>
          </a:p>
        </p:txBody>
      </p:sp>
      <p:sp>
        <p:nvSpPr>
          <p:cNvPr id="15" name="Text 12"/>
          <p:cNvSpPr/>
          <p:nvPr/>
        </p:nvSpPr>
        <p:spPr>
          <a:xfrm>
            <a:off x="914400" y="331927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R의 차수 + S의 차수</a:t>
            </a:r>
            <a:endParaRPr lang="en-US" sz="1200" dirty="0"/>
          </a:p>
        </p:txBody>
      </p:sp>
      <p:sp>
        <p:nvSpPr>
          <p:cNvPr id="16" name="Shape 13"/>
          <p:cNvSpPr/>
          <p:nvPr/>
        </p:nvSpPr>
        <p:spPr>
          <a:xfrm>
            <a:off x="548640" y="3840480"/>
            <a:ext cx="8046720" cy="73152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3840480"/>
            <a:ext cx="64008" cy="731520"/>
          </a:xfrm>
          <a:prstGeom prst="rect">
            <a:avLst/>
          </a:prstGeom>
          <a:solidFill>
            <a:srgbClr val="62B6CB"/>
          </a:solidFill>
          <a:ln/>
        </p:spPr>
      </p:sp>
      <p:sp>
        <p:nvSpPr>
          <p:cNvPr id="18" name="Text 15"/>
          <p:cNvSpPr/>
          <p:nvPr/>
        </p:nvSpPr>
        <p:spPr>
          <a:xfrm>
            <a:off x="914400" y="3886200"/>
            <a:ext cx="27432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결과 카디널리티</a:t>
            </a:r>
            <a:endParaRPr lang="en-US" sz="1400" dirty="0"/>
          </a:p>
        </p:txBody>
      </p:sp>
      <p:sp>
        <p:nvSpPr>
          <p:cNvPr id="19" name="Text 16"/>
          <p:cNvSpPr/>
          <p:nvPr/>
        </p:nvSpPr>
        <p:spPr>
          <a:xfrm>
            <a:off x="914400" y="418795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R의 카디널리티 × S의 카디널리티</a:t>
            </a:r>
            <a:endParaRPr lang="en-US" sz="12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20 / 44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릴레이션 R과 S의 카티션 프로덕트 예제</a:t>
            </a:r>
            <a:endParaRPr lang="en-US" sz="1400" dirty="0"/>
          </a:p>
        </p:txBody>
      </p:sp>
      <p:sp>
        <p:nvSpPr>
          <p:cNvPr id="6" name="Shape 3"/>
          <p:cNvSpPr/>
          <p:nvPr/>
        </p:nvSpPr>
        <p:spPr>
          <a:xfrm>
            <a:off x="3073064" y="731520"/>
            <a:ext cx="2997872"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20.jpg">    </p:cNvPr>
          <p:cNvPicPr>
            <a:picLocks noChangeAspect="1"/>
          </p:cNvPicPr>
          <p:nvPr/>
        </p:nvPicPr>
        <p:blipFill>
          <a:blip r:embed="rId1"/>
          <a:stretch>
            <a:fillRect/>
          </a:stretch>
        </p:blipFill>
        <p:spPr>
          <a:xfrm>
            <a:off x="3210224" y="822960"/>
            <a:ext cx="2723552"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R의 각 투플이 S의 모든 투플과 조합됩니다.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R 3개 × S 3개 = 결과 9개 투플. 차수는 R+S의 합.</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21 / 44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순수 관계 연산자</a:t>
            </a:r>
            <a:endParaRPr lang="en-US" sz="2600" dirty="0"/>
          </a:p>
        </p:txBody>
      </p:sp>
      <p:sp>
        <p:nvSpPr>
          <p:cNvPr id="6" name="Shape 3"/>
          <p:cNvSpPr/>
          <p:nvPr/>
        </p:nvSpPr>
        <p:spPr>
          <a:xfrm>
            <a:off x="548640" y="109728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preencoded.png">    </p:cNvPr>
          <p:cNvPicPr>
            <a:picLocks noChangeAspect="1"/>
          </p:cNvPicPr>
          <p:nvPr/>
        </p:nvPicPr>
        <p:blipFill>
          <a:blip r:embed="rId1"/>
          <a:stretch>
            <a:fillRect/>
          </a:stretch>
        </p:blipFill>
        <p:spPr>
          <a:xfrm>
            <a:off x="822960" y="1261872"/>
            <a:ext cx="457200" cy="457200"/>
          </a:xfrm>
          <a:prstGeom prst="rect">
            <a:avLst/>
          </a:prstGeom>
        </p:spPr>
      </p:pic>
      <p:sp>
        <p:nvSpPr>
          <p:cNvPr id="8" name="Text 4"/>
          <p:cNvSpPr/>
          <p:nvPr/>
        </p:nvSpPr>
        <p:spPr>
          <a:xfrm>
            <a:off x="1463040" y="1143000"/>
            <a:ext cx="36576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셀렉트 (Select) σ</a:t>
            </a:r>
            <a:endParaRPr lang="en-US" sz="1500" dirty="0"/>
          </a:p>
        </p:txBody>
      </p:sp>
      <p:sp>
        <p:nvSpPr>
          <p:cNvPr id="9" name="Text 5"/>
          <p:cNvSpPr/>
          <p:nvPr/>
        </p:nvSpPr>
        <p:spPr>
          <a:xfrm>
            <a:off x="1463040" y="150876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조건을 만족하는 투플을 골라냄 (행 필터링)</a:t>
            </a:r>
            <a:endParaRPr lang="en-US" sz="1200" dirty="0"/>
          </a:p>
        </p:txBody>
      </p:sp>
      <p:sp>
        <p:nvSpPr>
          <p:cNvPr id="10" name="Shape 6"/>
          <p:cNvSpPr/>
          <p:nvPr/>
        </p:nvSpPr>
        <p:spPr>
          <a:xfrm>
            <a:off x="548640" y="205740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822960" y="2221992"/>
            <a:ext cx="457200" cy="457200"/>
          </a:xfrm>
          <a:prstGeom prst="rect">
            <a:avLst/>
          </a:prstGeom>
        </p:spPr>
      </p:pic>
      <p:sp>
        <p:nvSpPr>
          <p:cNvPr id="12" name="Text 7"/>
          <p:cNvSpPr/>
          <p:nvPr/>
        </p:nvSpPr>
        <p:spPr>
          <a:xfrm>
            <a:off x="1463040" y="2103120"/>
            <a:ext cx="36576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프로젝트 (Project) π</a:t>
            </a:r>
            <a:endParaRPr lang="en-US" sz="1500" dirty="0"/>
          </a:p>
        </p:txBody>
      </p:sp>
      <p:sp>
        <p:nvSpPr>
          <p:cNvPr id="13" name="Text 8"/>
          <p:cNvSpPr/>
          <p:nvPr/>
        </p:nvSpPr>
        <p:spPr>
          <a:xfrm>
            <a:off x="1463040" y="246888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원하는 속성만 뽑아냄 (열 선택)</a:t>
            </a:r>
            <a:endParaRPr lang="en-US" sz="1200" dirty="0"/>
          </a:p>
        </p:txBody>
      </p:sp>
      <p:sp>
        <p:nvSpPr>
          <p:cNvPr id="14" name="Shape 9"/>
          <p:cNvSpPr/>
          <p:nvPr/>
        </p:nvSpPr>
        <p:spPr>
          <a:xfrm>
            <a:off x="548640" y="301752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822960" y="3182112"/>
            <a:ext cx="457200" cy="457200"/>
          </a:xfrm>
          <a:prstGeom prst="rect">
            <a:avLst/>
          </a:prstGeom>
        </p:spPr>
      </p:pic>
      <p:sp>
        <p:nvSpPr>
          <p:cNvPr id="16" name="Text 10"/>
          <p:cNvSpPr/>
          <p:nvPr/>
        </p:nvSpPr>
        <p:spPr>
          <a:xfrm>
            <a:off x="1463040" y="3063240"/>
            <a:ext cx="36576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조인 (Join) ⋈</a:t>
            </a:r>
            <a:endParaRPr lang="en-US" sz="1500" dirty="0"/>
          </a:p>
        </p:txBody>
      </p:sp>
      <p:sp>
        <p:nvSpPr>
          <p:cNvPr id="17" name="Text 11"/>
          <p:cNvSpPr/>
          <p:nvPr/>
        </p:nvSpPr>
        <p:spPr>
          <a:xfrm>
            <a:off x="1463040" y="342900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두 릴레이션을 공통 속성으로 연결</a:t>
            </a:r>
            <a:endParaRPr lang="en-US" sz="1200" dirty="0"/>
          </a:p>
        </p:txBody>
      </p:sp>
      <p:sp>
        <p:nvSpPr>
          <p:cNvPr id="18" name="Shape 12"/>
          <p:cNvSpPr/>
          <p:nvPr/>
        </p:nvSpPr>
        <p:spPr>
          <a:xfrm>
            <a:off x="548640" y="397764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19" name="Image 3" descr="preencoded.png">    </p:cNvPr>
          <p:cNvPicPr>
            <a:picLocks noChangeAspect="1"/>
          </p:cNvPicPr>
          <p:nvPr/>
        </p:nvPicPr>
        <p:blipFill>
          <a:blip r:embed="rId4"/>
          <a:stretch>
            <a:fillRect/>
          </a:stretch>
        </p:blipFill>
        <p:spPr>
          <a:xfrm>
            <a:off x="822960" y="4142232"/>
            <a:ext cx="457200" cy="457200"/>
          </a:xfrm>
          <a:prstGeom prst="rect">
            <a:avLst/>
          </a:prstGeom>
        </p:spPr>
      </p:pic>
      <p:sp>
        <p:nvSpPr>
          <p:cNvPr id="20" name="Text 13"/>
          <p:cNvSpPr/>
          <p:nvPr/>
        </p:nvSpPr>
        <p:spPr>
          <a:xfrm>
            <a:off x="1463040" y="4023360"/>
            <a:ext cx="36576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디비전 (Division) ÷</a:t>
            </a:r>
            <a:endParaRPr lang="en-US" sz="1500" dirty="0"/>
          </a:p>
        </p:txBody>
      </p:sp>
      <p:sp>
        <p:nvSpPr>
          <p:cNvPr id="21" name="Text 14"/>
          <p:cNvSpPr/>
          <p:nvPr/>
        </p:nvSpPr>
        <p:spPr>
          <a:xfrm>
            <a:off x="1463040" y="4389120"/>
            <a:ext cx="6858000" cy="32004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S의 모든 값과 관련된 R의 투플을 찾음</a:t>
            </a:r>
            <a:endParaRPr lang="en-US" sz="1200" dirty="0"/>
          </a:p>
        </p:txBody>
      </p:sp>
      <p:sp>
        <p:nvSpPr>
          <p:cNvPr id="22" name="Text 1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22 / 44</a:t>
            </a:r>
            <a:endParaRPr lang="en-US" sz="900" dirty="0"/>
          </a:p>
        </p:txBody>
      </p:sp>
    </p:spTree>
  </p:cSld>
  <p:clrMapOvr>
    <a:masterClrMapping/>
  </p:clrMapOvr>
</p:sld>
</file>

<file path=ppt/slides/slide2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3">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순수 관계 연산자 — 기호, 표현, 의미</a:t>
            </a:r>
            <a:endParaRPr lang="en-US" sz="1400" dirty="0"/>
          </a:p>
        </p:txBody>
      </p:sp>
      <p:sp>
        <p:nvSpPr>
          <p:cNvPr id="6" name="Shape 3"/>
          <p:cNvSpPr/>
          <p:nvPr/>
        </p:nvSpPr>
        <p:spPr>
          <a:xfrm>
            <a:off x="685800" y="731520"/>
            <a:ext cx="7772400" cy="2497376"/>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21.jpg">    </p:cNvPr>
          <p:cNvPicPr>
            <a:picLocks noChangeAspect="1"/>
          </p:cNvPicPr>
          <p:nvPr/>
        </p:nvPicPr>
        <p:blipFill>
          <a:blip r:embed="rId3"/>
          <a:stretch>
            <a:fillRect/>
          </a:stretch>
        </p:blipFill>
        <p:spPr>
          <a:xfrm>
            <a:off x="822960" y="822960"/>
            <a:ext cx="7498080" cy="2314496"/>
          </a:xfrm>
          <a:prstGeom prst="rect">
            <a:avLst/>
          </a:prstGeom>
        </p:spPr>
      </p:pic>
      <p:sp>
        <p:nvSpPr>
          <p:cNvPr id="8" name="Shape 4"/>
          <p:cNvSpPr/>
          <p:nvPr/>
        </p:nvSpPr>
        <p:spPr>
          <a:xfrm>
            <a:off x="548640" y="3366056"/>
            <a:ext cx="8046720" cy="705842"/>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3366056"/>
            <a:ext cx="64008" cy="705842"/>
          </a:xfrm>
          <a:prstGeom prst="rect">
            <a:avLst/>
          </a:prstGeom>
          <a:solidFill>
            <a:srgbClr val="62b6cb"/>
          </a:solidFill>
          <a:ln/>
        </p:spPr>
      </p:sp>
      <p:sp>
        <p:nvSpPr>
          <p:cNvPr id="10" name="Text 6"/>
          <p:cNvSpPr/>
          <p:nvPr/>
        </p:nvSpPr>
        <p:spPr>
          <a:xfrm>
            <a:off x="914400" y="3457496"/>
            <a:ext cx="7406640" cy="1228804"/>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셀렉트(σ), 프로젝트(π), 조인(⋈), 디비전(÷)의 기호와 의미를 정리한 표입니다.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23 / 44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셀렉트 (Select) σ</a:t>
            </a:r>
            <a:endParaRPr lang="en-US" sz="2600" dirty="0"/>
          </a:p>
        </p:txBody>
      </p:sp>
      <p:sp>
        <p:nvSpPr>
          <p:cNvPr id="6" name="Shape 3"/>
          <p:cNvSpPr/>
          <p:nvPr/>
        </p:nvSpPr>
        <p:spPr>
          <a:xfrm>
            <a:off x="548640" y="1188720"/>
            <a:ext cx="8046720" cy="914400"/>
          </a:xfrm>
          <a:prstGeom prst="rect">
            <a:avLst/>
          </a:prstGeom>
          <a:solidFill>
            <a:srgbClr val="1B4965"/>
          </a:solidFill>
          <a:ln/>
        </p:spPr>
      </p:sp>
      <p:sp>
        <p:nvSpPr>
          <p:cNvPr id="7" name="Text 4"/>
          <p:cNvSpPr/>
          <p:nvPr/>
        </p:nvSpPr>
        <p:spPr>
          <a:xfrm>
            <a:off x="914400" y="1234440"/>
            <a:ext cx="73152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릴레이션에서 조건을 만족하는 투플만 선택</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행(row)을 필터링하는 연산 · SQL의 WHERE절에 해당</a:t>
            </a:r>
            <a:endParaRPr lang="en-US" sz="1400" dirty="0"/>
          </a:p>
        </p:txBody>
      </p:sp>
      <p:sp>
        <p:nvSpPr>
          <p:cNvPr id="8" name="Text 5"/>
          <p:cNvSpPr/>
          <p:nvPr/>
        </p:nvSpPr>
        <p:spPr>
          <a:xfrm>
            <a:off x="548640" y="2468880"/>
            <a:ext cx="7315200" cy="457200"/>
          </a:xfrm>
          <a:prstGeom prst="rect">
            <a:avLst/>
          </a:prstGeom>
          <a:noFill/>
          <a:ln/>
        </p:spPr>
        <p:txBody>
          <a:bodyPr wrap="square" lIns="0" tIns="0" rIns="0" bIns="0" rtlCol="0" anchor="ctr"/>
          <a:lstStyle/>
          <a:p>
            <a:pPr indent="0" marL="0">
              <a:buNone/>
            </a:pPr>
            <a:r>
              <a:rPr lang="en-US" sz="1800" b="1" dirty="0">
                <a:solidFill>
                  <a:srgbClr val="1B4965"/>
                </a:solidFill>
                <a:latin typeface="Trebuchet MS" pitchFamily="34" charset="0"/>
                <a:ea typeface="Trebuchet MS" pitchFamily="34" charset="-122"/>
                <a:cs typeface="Trebuchet MS" pitchFamily="34" charset="-120"/>
              </a:rPr>
              <a:t>표기: σ</a:t>
            </a:r>
            <a:pPr indent="0" marL="0">
              <a:buNone/>
            </a:pPr>
            <a:r>
              <a:rPr lang="en-US" sz="1800" i="1" dirty="0">
                <a:solidFill>
                  <a:srgbClr val="62B6CB"/>
                </a:solidFill>
                <a:latin typeface="Trebuchet MS" pitchFamily="34" charset="0"/>
                <a:ea typeface="Trebuchet MS" pitchFamily="34" charset="-122"/>
                <a:cs typeface="Trebuchet MS" pitchFamily="34" charset="-120"/>
              </a:rPr>
              <a:t>조건</a:t>
            </a:r>
            <a:pPr indent="0" marL="0">
              <a:buNone/>
            </a:pPr>
            <a:r>
              <a:rPr lang="en-US" sz="1800" dirty="0">
                <a:solidFill>
                  <a:srgbClr val="1A1A2E"/>
                </a:solidFill>
                <a:latin typeface="Trebuchet MS" pitchFamily="34" charset="0"/>
                <a:ea typeface="Trebuchet MS" pitchFamily="34" charset="-122"/>
                <a:cs typeface="Trebuchet MS" pitchFamily="34" charset="-120"/>
              </a:rPr>
              <a:t>(릴레이션)</a:t>
            </a:r>
            <a:endParaRPr lang="en-US" sz="1800" dirty="0"/>
          </a:p>
        </p:txBody>
      </p:sp>
      <p:sp>
        <p:nvSpPr>
          <p:cNvPr id="9" name="Text 6"/>
          <p:cNvSpPr/>
          <p:nvPr/>
        </p:nvSpPr>
        <p:spPr>
          <a:xfrm>
            <a:off x="548640" y="3200400"/>
            <a:ext cx="8046720" cy="137160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결과 릴레이션의 차수는 원래와 같고, 카디널리티만 줄어듦</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교환법칙 성립: 조건을 적용하는 순서를 바꿔도 결과 동일</a:t>
            </a:r>
            <a:endParaRPr lang="en-US" sz="1300" dirty="0"/>
          </a:p>
        </p:txBody>
      </p:sp>
      <p:sp>
        <p:nvSpPr>
          <p:cNvPr id="10"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24 / 44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셀렉트 예제: 등급이 gold인 투플 검색</a:t>
            </a:r>
            <a:endParaRPr lang="en-US" sz="1400" dirty="0"/>
          </a:p>
        </p:txBody>
      </p:sp>
      <p:sp>
        <p:nvSpPr>
          <p:cNvPr id="6" name="Shape 3"/>
          <p:cNvSpPr/>
          <p:nvPr/>
        </p:nvSpPr>
        <p:spPr>
          <a:xfrm>
            <a:off x="685800" y="731520"/>
            <a:ext cx="7772400" cy="2824048"/>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23.jpg">    </p:cNvPr>
          <p:cNvPicPr>
            <a:picLocks noChangeAspect="1"/>
          </p:cNvPicPr>
          <p:nvPr/>
        </p:nvPicPr>
        <p:blipFill>
          <a:blip r:embed="rId1"/>
          <a:stretch>
            <a:fillRect/>
          </a:stretch>
        </p:blipFill>
        <p:spPr>
          <a:xfrm>
            <a:off x="822960" y="822960"/>
            <a:ext cx="7498080" cy="2641168"/>
          </a:xfrm>
          <a:prstGeom prst="rect">
            <a:avLst/>
          </a:prstGeom>
        </p:spPr>
      </p:pic>
      <p:sp>
        <p:nvSpPr>
          <p:cNvPr id="8" name="Shape 4"/>
          <p:cNvSpPr/>
          <p:nvPr/>
        </p:nvSpPr>
        <p:spPr>
          <a:xfrm>
            <a:off x="548640" y="3692728"/>
            <a:ext cx="8046720" cy="1039292"/>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692728"/>
            <a:ext cx="64008" cy="1039292"/>
          </a:xfrm>
          <a:prstGeom prst="rect">
            <a:avLst/>
          </a:prstGeom>
          <a:solidFill>
            <a:srgbClr val="62B6CB"/>
          </a:solidFill>
          <a:ln/>
        </p:spPr>
      </p:sp>
      <p:sp>
        <p:nvSpPr>
          <p:cNvPr id="10" name="Text 6"/>
          <p:cNvSpPr/>
          <p:nvPr/>
        </p:nvSpPr>
        <p:spPr>
          <a:xfrm>
            <a:off x="914400" y="3784168"/>
            <a:ext cx="7406640" cy="902132"/>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σ등급='gold'(고객) → 등급이 gold인 apple과 carrot만 결과에 남습니다.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열(속성)은 그대로, 행(투플)만 줄어드는 것이 셀렉트의 핵심입니다.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25 / 44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셀렉트 예제: AND 조건 결합</a:t>
            </a:r>
            <a:endParaRPr lang="en-US" sz="1400" dirty="0"/>
          </a:p>
        </p:txBody>
      </p:sp>
      <p:sp>
        <p:nvSpPr>
          <p:cNvPr id="6" name="Shape 3"/>
          <p:cNvSpPr/>
          <p:nvPr/>
        </p:nvSpPr>
        <p:spPr>
          <a:xfrm>
            <a:off x="685800" y="731520"/>
            <a:ext cx="7772400" cy="2524917"/>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25.jpg">    </p:cNvPr>
          <p:cNvPicPr>
            <a:picLocks noChangeAspect="1"/>
          </p:cNvPicPr>
          <p:nvPr/>
        </p:nvPicPr>
        <p:blipFill>
          <a:blip r:embed="rId1"/>
          <a:stretch>
            <a:fillRect/>
          </a:stretch>
        </p:blipFill>
        <p:spPr>
          <a:xfrm>
            <a:off x="822960" y="822960"/>
            <a:ext cx="7498080" cy="2342037"/>
          </a:xfrm>
          <a:prstGeom prst="rect">
            <a:avLst/>
          </a:prstGeom>
        </p:spPr>
      </p:pic>
      <p:sp>
        <p:nvSpPr>
          <p:cNvPr id="8" name="Shape 4"/>
          <p:cNvSpPr/>
          <p:nvPr/>
        </p:nvSpPr>
        <p:spPr>
          <a:xfrm>
            <a:off x="548640" y="3393597"/>
            <a:ext cx="8046720" cy="1338423"/>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393597"/>
            <a:ext cx="64008" cy="1338423"/>
          </a:xfrm>
          <a:prstGeom prst="rect">
            <a:avLst/>
          </a:prstGeom>
          <a:solidFill>
            <a:srgbClr val="62B6CB"/>
          </a:solidFill>
          <a:ln/>
        </p:spPr>
      </p:sp>
      <p:sp>
        <p:nvSpPr>
          <p:cNvPr id="10" name="Text 6"/>
          <p:cNvSpPr/>
          <p:nvPr/>
        </p:nvSpPr>
        <p:spPr>
          <a:xfrm>
            <a:off x="914400" y="3485037"/>
            <a:ext cx="7406640" cy="1201263"/>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등급='gold' AND 적립금≥2000 → 두 조건을 동시에 만족하는 carrot만 결과에 포함.</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셀렉트는 교환법칙이 성립합니다.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26 / 44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프로젝트 (Project) π</a:t>
            </a:r>
            <a:endParaRPr lang="en-US" sz="2600" dirty="0"/>
          </a:p>
        </p:txBody>
      </p:sp>
      <p:sp>
        <p:nvSpPr>
          <p:cNvPr id="6" name="Shape 3"/>
          <p:cNvSpPr/>
          <p:nvPr/>
        </p:nvSpPr>
        <p:spPr>
          <a:xfrm>
            <a:off x="548640" y="1188720"/>
            <a:ext cx="8046720" cy="914400"/>
          </a:xfrm>
          <a:prstGeom prst="rect">
            <a:avLst/>
          </a:prstGeom>
          <a:solidFill>
            <a:srgbClr val="1B4965"/>
          </a:solidFill>
          <a:ln/>
        </p:spPr>
      </p:sp>
      <p:sp>
        <p:nvSpPr>
          <p:cNvPr id="7" name="Text 4"/>
          <p:cNvSpPr/>
          <p:nvPr/>
        </p:nvSpPr>
        <p:spPr>
          <a:xfrm>
            <a:off x="914400" y="1234440"/>
            <a:ext cx="73152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릴레이션에서 원하는 속성만 선택</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열(column)을 고르는 연산 · SQL의 SELECT절에 해당</a:t>
            </a:r>
            <a:endParaRPr lang="en-US" sz="1400" dirty="0"/>
          </a:p>
        </p:txBody>
      </p:sp>
      <p:sp>
        <p:nvSpPr>
          <p:cNvPr id="8" name="Text 5"/>
          <p:cNvSpPr/>
          <p:nvPr/>
        </p:nvSpPr>
        <p:spPr>
          <a:xfrm>
            <a:off x="548640" y="2468880"/>
            <a:ext cx="7315200" cy="457200"/>
          </a:xfrm>
          <a:prstGeom prst="rect">
            <a:avLst/>
          </a:prstGeom>
          <a:noFill/>
          <a:ln/>
        </p:spPr>
        <p:txBody>
          <a:bodyPr wrap="square" lIns="0" tIns="0" rIns="0" bIns="0" rtlCol="0" anchor="ctr"/>
          <a:lstStyle/>
          <a:p>
            <a:pPr indent="0" marL="0">
              <a:buNone/>
            </a:pPr>
            <a:r>
              <a:rPr lang="en-US" sz="1800" b="1" dirty="0">
                <a:solidFill>
                  <a:srgbClr val="1B4965"/>
                </a:solidFill>
                <a:latin typeface="Trebuchet MS" pitchFamily="34" charset="0"/>
                <a:ea typeface="Trebuchet MS" pitchFamily="34" charset="-122"/>
                <a:cs typeface="Trebuchet MS" pitchFamily="34" charset="-120"/>
              </a:rPr>
              <a:t>표기: π</a:t>
            </a:r>
            <a:pPr indent="0" marL="0">
              <a:buNone/>
            </a:pPr>
            <a:r>
              <a:rPr lang="en-US" sz="1800" i="1" dirty="0">
                <a:solidFill>
                  <a:srgbClr val="62B6CB"/>
                </a:solidFill>
                <a:latin typeface="Trebuchet MS" pitchFamily="34" charset="0"/>
                <a:ea typeface="Trebuchet MS" pitchFamily="34" charset="-122"/>
                <a:cs typeface="Trebuchet MS" pitchFamily="34" charset="-120"/>
              </a:rPr>
              <a:t>속성리스트</a:t>
            </a:r>
            <a:pPr indent="0" marL="0">
              <a:buNone/>
            </a:pPr>
            <a:r>
              <a:rPr lang="en-US" sz="1800" dirty="0">
                <a:solidFill>
                  <a:srgbClr val="1A1A2E"/>
                </a:solidFill>
                <a:latin typeface="Trebuchet MS" pitchFamily="34" charset="0"/>
                <a:ea typeface="Trebuchet MS" pitchFamily="34" charset="-122"/>
                <a:cs typeface="Trebuchet MS" pitchFamily="34" charset="-120"/>
              </a:rPr>
              <a:t>(릴레이션)</a:t>
            </a:r>
            <a:endParaRPr lang="en-US" sz="1800" dirty="0"/>
          </a:p>
        </p:txBody>
      </p:sp>
      <p:sp>
        <p:nvSpPr>
          <p:cNvPr id="9" name="Shape 6"/>
          <p:cNvSpPr/>
          <p:nvPr/>
        </p:nvSpPr>
        <p:spPr>
          <a:xfrm>
            <a:off x="548640" y="3200400"/>
            <a:ext cx="8046720" cy="640080"/>
          </a:xfrm>
          <a:prstGeom prst="rect">
            <a:avLst/>
          </a:prstGeom>
          <a:solidFill>
            <a:srgbClr val="FFF5F2"/>
          </a:solidFill>
          <a:ln w="12700">
            <a:solidFill>
              <a:srgbClr val="E07A5F"/>
            </a:solidFill>
            <a:prstDash val="solid"/>
          </a:ln>
        </p:spPr>
      </p:sp>
      <p:sp>
        <p:nvSpPr>
          <p:cNvPr id="10" name="Text 7"/>
          <p:cNvSpPr/>
          <p:nvPr/>
        </p:nvSpPr>
        <p:spPr>
          <a:xfrm>
            <a:off x="914400" y="3246120"/>
            <a:ext cx="7315200" cy="502920"/>
          </a:xfrm>
          <a:prstGeom prst="rect">
            <a:avLst/>
          </a:prstGeom>
          <a:noFill/>
          <a:ln/>
        </p:spPr>
        <p:txBody>
          <a:bodyPr wrap="square" lIns="0" tIns="0" rIns="0" bIns="0" rtlCol="0" anchor="ctr"/>
          <a:lstStyle/>
          <a:p>
            <a:pPr indent="0" marL="0">
              <a:buNone/>
            </a:pPr>
            <a:r>
              <a:rPr lang="en-US" sz="1300" dirty="0">
                <a:solidFill>
                  <a:srgbClr val="E07A5F"/>
                </a:solidFill>
                <a:latin typeface="Calibri" pitchFamily="34" charset="0"/>
                <a:ea typeface="Calibri" pitchFamily="34" charset="-122"/>
                <a:cs typeface="Calibri" pitchFamily="34" charset="-120"/>
              </a:rPr>
              <a:t>중요: 결과에서 동일한 투플은 중복 제거됨 (릴레이션 = 집합)</a:t>
            </a:r>
            <a:endParaRPr lang="en-US" sz="1300" dirty="0"/>
          </a:p>
        </p:txBody>
      </p:sp>
      <p:sp>
        <p:nvSpPr>
          <p:cNvPr id="11" name="Text 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27 / 44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프로젝트 예제: 고객이름, 등급, 적립금 검색</a:t>
            </a:r>
            <a:endParaRPr lang="en-US" sz="1400" dirty="0"/>
          </a:p>
        </p:txBody>
      </p:sp>
      <p:sp>
        <p:nvSpPr>
          <p:cNvPr id="6" name="Shape 3"/>
          <p:cNvSpPr/>
          <p:nvPr/>
        </p:nvSpPr>
        <p:spPr>
          <a:xfrm>
            <a:off x="875675" y="731520"/>
            <a:ext cx="7392649"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29.jpg">    </p:cNvPr>
          <p:cNvPicPr>
            <a:picLocks noChangeAspect="1"/>
          </p:cNvPicPr>
          <p:nvPr/>
        </p:nvPicPr>
        <p:blipFill>
          <a:blip r:embed="rId1"/>
          <a:stretch>
            <a:fillRect/>
          </a:stretch>
        </p:blipFill>
        <p:spPr>
          <a:xfrm>
            <a:off x="1012835" y="822960"/>
            <a:ext cx="7118329"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π고객이름,등급,적립금(고객) → 6개 속성에서 3개만 남습니다.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투플 수는 그대로 유지됩니다.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28 / 44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프로젝트 예제: 등급 속성만 검색 (중복 제거)</a:t>
            </a:r>
            <a:endParaRPr lang="en-US" sz="1400" dirty="0"/>
          </a:p>
        </p:txBody>
      </p:sp>
      <p:sp>
        <p:nvSpPr>
          <p:cNvPr id="6" name="Shape 3"/>
          <p:cNvSpPr/>
          <p:nvPr/>
        </p:nvSpPr>
        <p:spPr>
          <a:xfrm>
            <a:off x="685800" y="731520"/>
            <a:ext cx="7772400" cy="3108742"/>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0.jpg">    </p:cNvPr>
          <p:cNvPicPr>
            <a:picLocks noChangeAspect="1"/>
          </p:cNvPicPr>
          <p:nvPr/>
        </p:nvPicPr>
        <p:blipFill>
          <a:blip r:embed="rId1"/>
          <a:stretch>
            <a:fillRect/>
          </a:stretch>
        </p:blipFill>
        <p:spPr>
          <a:xfrm>
            <a:off x="822960" y="822960"/>
            <a:ext cx="7498080" cy="2925862"/>
          </a:xfrm>
          <a:prstGeom prst="rect">
            <a:avLst/>
          </a:prstGeom>
        </p:spPr>
      </p:pic>
      <p:sp>
        <p:nvSpPr>
          <p:cNvPr id="8" name="Shape 4"/>
          <p:cNvSpPr/>
          <p:nvPr/>
        </p:nvSpPr>
        <p:spPr>
          <a:xfrm>
            <a:off x="548640" y="3977422"/>
            <a:ext cx="8046720" cy="754598"/>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977422"/>
            <a:ext cx="64008" cy="754598"/>
          </a:xfrm>
          <a:prstGeom prst="rect">
            <a:avLst/>
          </a:prstGeom>
          <a:solidFill>
            <a:srgbClr val="62B6CB"/>
          </a:solidFill>
          <a:ln/>
        </p:spPr>
      </p:sp>
      <p:sp>
        <p:nvSpPr>
          <p:cNvPr id="10" name="Text 6"/>
          <p:cNvSpPr/>
          <p:nvPr/>
        </p:nvSpPr>
        <p:spPr>
          <a:xfrm>
            <a:off x="914400" y="4068862"/>
            <a:ext cx="7406640" cy="617438"/>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π등급(고객) → gold, vip, gold, silver에서 중복 gold가 제거되어</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결과는 gold, vip, silver 3개만 남습니다.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29 / 44</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조인 (Join) ⋈</a:t>
            </a:r>
            <a:endParaRPr lang="en-US" sz="2600" dirty="0"/>
          </a:p>
        </p:txBody>
      </p:sp>
      <p:sp>
        <p:nvSpPr>
          <p:cNvPr id="6" name="Shape 3"/>
          <p:cNvSpPr/>
          <p:nvPr/>
        </p:nvSpPr>
        <p:spPr>
          <a:xfrm>
            <a:off x="548640" y="1188720"/>
            <a:ext cx="8046720" cy="914400"/>
          </a:xfrm>
          <a:prstGeom prst="rect">
            <a:avLst/>
          </a:prstGeom>
          <a:solidFill>
            <a:srgbClr val="1B4965"/>
          </a:solidFill>
          <a:ln/>
        </p:spPr>
      </p:sp>
      <p:sp>
        <p:nvSpPr>
          <p:cNvPr id="7" name="Text 4"/>
          <p:cNvSpPr/>
          <p:nvPr/>
        </p:nvSpPr>
        <p:spPr>
          <a:xfrm>
            <a:off x="914400" y="1234440"/>
            <a:ext cx="73152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두 릴레이션을 공통 속성을 기준으로 연결</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가장 강력하고 자주 사용되는 연산 · SQL의 JOIN에 해당</a:t>
            </a:r>
            <a:endParaRPr lang="en-US" sz="1400" dirty="0"/>
          </a:p>
        </p:txBody>
      </p:sp>
      <p:sp>
        <p:nvSpPr>
          <p:cNvPr id="8" name="Shape 5"/>
          <p:cNvSpPr/>
          <p:nvPr/>
        </p:nvSpPr>
        <p:spPr>
          <a:xfrm>
            <a:off x="548640" y="2468880"/>
            <a:ext cx="8046720" cy="6858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468880"/>
            <a:ext cx="64008" cy="685800"/>
          </a:xfrm>
          <a:prstGeom prst="rect">
            <a:avLst/>
          </a:prstGeom>
          <a:solidFill>
            <a:srgbClr val="62B6CB"/>
          </a:solidFill>
          <a:ln/>
        </p:spPr>
      </p:sp>
      <p:sp>
        <p:nvSpPr>
          <p:cNvPr id="10" name="Text 7"/>
          <p:cNvSpPr/>
          <p:nvPr/>
        </p:nvSpPr>
        <p:spPr>
          <a:xfrm>
            <a:off x="914400" y="2496312"/>
            <a:ext cx="36576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세타 조인 (Theta Join)</a:t>
            </a:r>
            <a:endParaRPr lang="en-US" sz="1400" dirty="0"/>
          </a:p>
        </p:txBody>
      </p:sp>
      <p:sp>
        <p:nvSpPr>
          <p:cNvPr id="11" name="Text 8"/>
          <p:cNvSpPr/>
          <p:nvPr/>
        </p:nvSpPr>
        <p:spPr>
          <a:xfrm>
            <a:off x="914400" y="281635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일반적인 비교 조건(=, &lt;, &gt; 등)으로 연결</a:t>
            </a:r>
            <a:endParaRPr lang="en-US" sz="1200" dirty="0"/>
          </a:p>
        </p:txBody>
      </p:sp>
      <p:sp>
        <p:nvSpPr>
          <p:cNvPr id="12" name="Shape 9"/>
          <p:cNvSpPr/>
          <p:nvPr/>
        </p:nvSpPr>
        <p:spPr>
          <a:xfrm>
            <a:off x="548640" y="3291840"/>
            <a:ext cx="8046720" cy="6858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3291840"/>
            <a:ext cx="64008" cy="685800"/>
          </a:xfrm>
          <a:prstGeom prst="rect">
            <a:avLst/>
          </a:prstGeom>
          <a:solidFill>
            <a:srgbClr val="62B6CB"/>
          </a:solidFill>
          <a:ln/>
        </p:spPr>
      </p:sp>
      <p:sp>
        <p:nvSpPr>
          <p:cNvPr id="14" name="Text 11"/>
          <p:cNvSpPr/>
          <p:nvPr/>
        </p:nvSpPr>
        <p:spPr>
          <a:xfrm>
            <a:off x="914400" y="3319272"/>
            <a:ext cx="36576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동등 조인 (Equi Join)</a:t>
            </a:r>
            <a:endParaRPr lang="en-US" sz="1400" dirty="0"/>
          </a:p>
        </p:txBody>
      </p:sp>
      <p:sp>
        <p:nvSpPr>
          <p:cNvPr id="15" name="Text 12"/>
          <p:cNvSpPr/>
          <p:nvPr/>
        </p:nvSpPr>
        <p:spPr>
          <a:xfrm>
            <a:off x="914400" y="363931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 조건으로 연결 (가장 일반적)</a:t>
            </a:r>
            <a:endParaRPr lang="en-US" sz="1200" dirty="0"/>
          </a:p>
        </p:txBody>
      </p:sp>
      <p:sp>
        <p:nvSpPr>
          <p:cNvPr id="16" name="Shape 13"/>
          <p:cNvSpPr/>
          <p:nvPr/>
        </p:nvSpPr>
        <p:spPr>
          <a:xfrm>
            <a:off x="548640" y="4114800"/>
            <a:ext cx="8046720" cy="6858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4114800"/>
            <a:ext cx="64008" cy="685800"/>
          </a:xfrm>
          <a:prstGeom prst="rect">
            <a:avLst/>
          </a:prstGeom>
          <a:solidFill>
            <a:srgbClr val="62B6CB"/>
          </a:solidFill>
          <a:ln/>
        </p:spPr>
      </p:sp>
      <p:sp>
        <p:nvSpPr>
          <p:cNvPr id="18" name="Text 15"/>
          <p:cNvSpPr/>
          <p:nvPr/>
        </p:nvSpPr>
        <p:spPr>
          <a:xfrm>
            <a:off x="914400" y="4142232"/>
            <a:ext cx="3657600" cy="27432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자연 조인 (Natural Join)</a:t>
            </a:r>
            <a:endParaRPr lang="en-US" sz="1400" dirty="0"/>
          </a:p>
        </p:txBody>
      </p:sp>
      <p:sp>
        <p:nvSpPr>
          <p:cNvPr id="19" name="Text 16"/>
          <p:cNvSpPr/>
          <p:nvPr/>
        </p:nvSpPr>
        <p:spPr>
          <a:xfrm>
            <a:off x="914400" y="4462272"/>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같은 이름의 속성을 자동 연결 + 중복 속성 제거</a:t>
            </a:r>
            <a:endParaRPr lang="en-US" sz="12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30 / 44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조인 예제: 고객 ⋈ 주문</a:t>
            </a:r>
            <a:endParaRPr lang="en-US" sz="1400" dirty="0"/>
          </a:p>
        </p:txBody>
      </p:sp>
      <p:sp>
        <p:nvSpPr>
          <p:cNvPr id="6" name="Shape 3"/>
          <p:cNvSpPr/>
          <p:nvPr/>
        </p:nvSpPr>
        <p:spPr>
          <a:xfrm>
            <a:off x="2793886" y="731520"/>
            <a:ext cx="3556229"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1.jpg">    </p:cNvPr>
          <p:cNvPicPr>
            <a:picLocks noChangeAspect="1"/>
          </p:cNvPicPr>
          <p:nvPr/>
        </p:nvPicPr>
        <p:blipFill>
          <a:blip r:embed="rId1"/>
          <a:stretch>
            <a:fillRect/>
          </a:stretch>
        </p:blipFill>
        <p:spPr>
          <a:xfrm>
            <a:off x="2931046" y="822960"/>
            <a:ext cx="3281909"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고객 릴레이션과 주문 릴레이션을 고객아이디 기준으로 조인합니다.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매칭되는 투플끼리 연결되어 양쪽 속성이 합쳐진 결과가 나옵니다.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31 / 44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자연 조인 예제</a:t>
            </a:r>
            <a:endParaRPr lang="en-US" sz="1400" dirty="0"/>
          </a:p>
        </p:txBody>
      </p:sp>
      <p:sp>
        <p:nvSpPr>
          <p:cNvPr id="6" name="Shape 3"/>
          <p:cNvSpPr/>
          <p:nvPr/>
        </p:nvSpPr>
        <p:spPr>
          <a:xfrm>
            <a:off x="1695708" y="731520"/>
            <a:ext cx="5752584"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2.jpg">    </p:cNvPr>
          <p:cNvPicPr>
            <a:picLocks noChangeAspect="1"/>
          </p:cNvPicPr>
          <p:nvPr/>
        </p:nvPicPr>
        <p:blipFill>
          <a:blip r:embed="rId1"/>
          <a:stretch>
            <a:fillRect/>
          </a:stretch>
        </p:blipFill>
        <p:spPr>
          <a:xfrm>
            <a:off x="1832868" y="822960"/>
            <a:ext cx="5478264"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자연 조인은 같은 이름의 속성을 자동으로 연결하고</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중복 속성을 제거하여 더 깔끔한 결과를 만듭니다.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32 / 44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관계 대수를 이용한 질의 표현</a:t>
            </a:r>
            <a:endParaRPr lang="en-US" sz="2600" dirty="0"/>
          </a:p>
        </p:txBody>
      </p:sp>
      <p:sp>
        <p:nvSpPr>
          <p:cNvPr id="6" name="Shape 3"/>
          <p:cNvSpPr/>
          <p:nvPr/>
        </p:nvSpPr>
        <p:spPr>
          <a:xfrm>
            <a:off x="548640" y="1188720"/>
            <a:ext cx="8046720" cy="109728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64008" cy="1097280"/>
          </a:xfrm>
          <a:prstGeom prst="rect">
            <a:avLst/>
          </a:prstGeom>
          <a:solidFill>
            <a:srgbClr val="1B4965"/>
          </a:solidFill>
          <a:ln/>
        </p:spPr>
      </p:sp>
      <p:sp>
        <p:nvSpPr>
          <p:cNvPr id="8" name="Text 5"/>
          <p:cNvSpPr/>
          <p:nvPr/>
        </p:nvSpPr>
        <p:spPr>
          <a:xfrm>
            <a:off x="914400" y="1280160"/>
            <a:ext cx="7315200" cy="91440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셀렉트, 프로젝트, 조인을 조합하여 다양한 질의를 표현할 수 있습니다.</a:t>
            </a:r>
            <a:endParaRPr lang="en-US" sz="1400" dirty="0"/>
          </a:p>
          <a:p>
            <a:pPr indent="0" marL="0">
              <a:buNone/>
            </a:pPr>
            <a:endParaRPr lang="en-US" sz="1400" dirty="0"/>
          </a:p>
          <a:p>
            <a:pPr indent="0" marL="0">
              <a:buNone/>
            </a:pPr>
            <a:r>
              <a:rPr lang="en-US" sz="1400" dirty="0">
                <a:solidFill>
                  <a:srgbClr val="5A6C7D"/>
                </a:solidFill>
                <a:latin typeface="Calibri" pitchFamily="34" charset="0"/>
                <a:ea typeface="Calibri" pitchFamily="34" charset="-122"/>
                <a:cs typeface="Calibri" pitchFamily="34" charset="-120"/>
              </a:rPr>
              <a:t>폐쇄 특성 덕분에 연산 결과에 또 연산을 적용할 수 있어요.</a:t>
            </a:r>
            <a:endParaRPr lang="en-US" sz="1400" dirty="0"/>
          </a:p>
        </p:txBody>
      </p:sp>
      <p:sp>
        <p:nvSpPr>
          <p:cNvPr id="9" name="Text 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33 / 44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질의 예제에서 사용하는 릴레이션 데이터</a:t>
            </a:r>
            <a:endParaRPr lang="en-US" sz="1400" dirty="0"/>
          </a:p>
        </p:txBody>
      </p:sp>
      <p:sp>
        <p:nvSpPr>
          <p:cNvPr id="6" name="Shape 3"/>
          <p:cNvSpPr/>
          <p:nvPr/>
        </p:nvSpPr>
        <p:spPr>
          <a:xfrm>
            <a:off x="3058079" y="731520"/>
            <a:ext cx="3027842"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4.jpg">    </p:cNvPr>
          <p:cNvPicPr>
            <a:picLocks noChangeAspect="1"/>
          </p:cNvPicPr>
          <p:nvPr/>
        </p:nvPicPr>
        <p:blipFill>
          <a:blip r:embed="rId1"/>
          <a:stretch>
            <a:fillRect/>
          </a:stretch>
        </p:blipFill>
        <p:spPr>
          <a:xfrm>
            <a:off x="3195239" y="822960"/>
            <a:ext cx="2753522"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고객 릴레이션 4명, 주문 릴레이션 3건의 데이터입니다.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이 두 테이블을 가지고 여러 가지 질의를 표현해봅니다.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34 / 44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관계 대수 질의 예제 (1)</a:t>
            </a:r>
            <a:endParaRPr lang="en-US" sz="1400" dirty="0"/>
          </a:p>
        </p:txBody>
      </p:sp>
      <p:sp>
        <p:nvSpPr>
          <p:cNvPr id="6" name="Shape 3"/>
          <p:cNvSpPr/>
          <p:nvPr/>
        </p:nvSpPr>
        <p:spPr>
          <a:xfrm>
            <a:off x="685800" y="731520"/>
            <a:ext cx="7772400" cy="2771238"/>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5.jpg">    </p:cNvPr>
          <p:cNvPicPr>
            <a:picLocks noChangeAspect="1"/>
          </p:cNvPicPr>
          <p:nvPr/>
        </p:nvPicPr>
        <p:blipFill>
          <a:blip r:embed="rId1"/>
          <a:stretch>
            <a:fillRect/>
          </a:stretch>
        </p:blipFill>
        <p:spPr>
          <a:xfrm>
            <a:off x="822960" y="822960"/>
            <a:ext cx="7498080" cy="2588358"/>
          </a:xfrm>
          <a:prstGeom prst="rect">
            <a:avLst/>
          </a:prstGeom>
        </p:spPr>
      </p:pic>
      <p:sp>
        <p:nvSpPr>
          <p:cNvPr id="8" name="Shape 4"/>
          <p:cNvSpPr/>
          <p:nvPr/>
        </p:nvSpPr>
        <p:spPr>
          <a:xfrm>
            <a:off x="548640" y="3639918"/>
            <a:ext cx="8046720" cy="1092102"/>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639918"/>
            <a:ext cx="64008" cy="1092102"/>
          </a:xfrm>
          <a:prstGeom prst="rect">
            <a:avLst/>
          </a:prstGeom>
          <a:solidFill>
            <a:srgbClr val="62B6CB"/>
          </a:solidFill>
          <a:ln/>
        </p:spPr>
      </p:sp>
      <p:sp>
        <p:nvSpPr>
          <p:cNvPr id="10" name="Text 6"/>
          <p:cNvSpPr/>
          <p:nvPr/>
        </p:nvSpPr>
        <p:spPr>
          <a:xfrm>
            <a:off x="914400" y="3731358"/>
            <a:ext cx="7406640" cy="954942"/>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셀렉트, 프로젝트, 조인을 단계적으로 적용하여 원하는 결과를 도출합니다.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폐쇄 특성 덕분에 연산을 연쇄 적용할 수 있습니다.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35 / 44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관계 대수 질의 예제 (2)</a:t>
            </a:r>
            <a:endParaRPr lang="en-US" sz="1400" dirty="0"/>
          </a:p>
        </p:txBody>
      </p:sp>
      <p:sp>
        <p:nvSpPr>
          <p:cNvPr id="6" name="Shape 3"/>
          <p:cNvSpPr/>
          <p:nvPr/>
        </p:nvSpPr>
        <p:spPr>
          <a:xfrm>
            <a:off x="685800" y="731520"/>
            <a:ext cx="7772400" cy="2452329"/>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6.jpg">    </p:cNvPr>
          <p:cNvPicPr>
            <a:picLocks noChangeAspect="1"/>
          </p:cNvPicPr>
          <p:nvPr/>
        </p:nvPicPr>
        <p:blipFill>
          <a:blip r:embed="rId1"/>
          <a:stretch>
            <a:fillRect/>
          </a:stretch>
        </p:blipFill>
        <p:spPr>
          <a:xfrm>
            <a:off x="822960" y="822960"/>
            <a:ext cx="7498080" cy="2269449"/>
          </a:xfrm>
          <a:prstGeom prst="rect">
            <a:avLst/>
          </a:prstGeom>
        </p:spPr>
      </p:pic>
      <p:sp>
        <p:nvSpPr>
          <p:cNvPr id="8" name="Shape 4"/>
          <p:cNvSpPr/>
          <p:nvPr/>
        </p:nvSpPr>
        <p:spPr>
          <a:xfrm>
            <a:off x="548640" y="3321009"/>
            <a:ext cx="8046720" cy="1411011"/>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321009"/>
            <a:ext cx="64008" cy="1411011"/>
          </a:xfrm>
          <a:prstGeom prst="rect">
            <a:avLst/>
          </a:prstGeom>
          <a:solidFill>
            <a:srgbClr val="62B6CB"/>
          </a:solidFill>
          <a:ln/>
        </p:spPr>
      </p:sp>
      <p:sp>
        <p:nvSpPr>
          <p:cNvPr id="10" name="Text 6"/>
          <p:cNvSpPr/>
          <p:nvPr/>
        </p:nvSpPr>
        <p:spPr>
          <a:xfrm>
            <a:off x="914400" y="3412449"/>
            <a:ext cx="7406640" cy="1273851"/>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다른 방식으로 같은 결과를 얻을 수도 있습니다.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연산 순서에 따라 중간 결과의 크기가 달라질 수 있습니다.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36 / 44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관계 대수 질의 예제 (3)</a:t>
            </a:r>
            <a:endParaRPr lang="en-US" sz="1400" dirty="0"/>
          </a:p>
        </p:txBody>
      </p:sp>
      <p:sp>
        <p:nvSpPr>
          <p:cNvPr id="6" name="Shape 3"/>
          <p:cNvSpPr/>
          <p:nvPr/>
        </p:nvSpPr>
        <p:spPr>
          <a:xfrm>
            <a:off x="685800" y="731520"/>
            <a:ext cx="7772400" cy="2823573"/>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7.jpg">    </p:cNvPr>
          <p:cNvPicPr>
            <a:picLocks noChangeAspect="1"/>
          </p:cNvPicPr>
          <p:nvPr/>
        </p:nvPicPr>
        <p:blipFill>
          <a:blip r:embed="rId1"/>
          <a:stretch>
            <a:fillRect/>
          </a:stretch>
        </p:blipFill>
        <p:spPr>
          <a:xfrm>
            <a:off x="822960" y="822960"/>
            <a:ext cx="7498080" cy="2640693"/>
          </a:xfrm>
          <a:prstGeom prst="rect">
            <a:avLst/>
          </a:prstGeom>
        </p:spPr>
      </p:pic>
      <p:sp>
        <p:nvSpPr>
          <p:cNvPr id="8" name="Shape 4"/>
          <p:cNvSpPr/>
          <p:nvPr/>
        </p:nvSpPr>
        <p:spPr>
          <a:xfrm>
            <a:off x="548640" y="3692253"/>
            <a:ext cx="8046720" cy="1039767"/>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3692253"/>
            <a:ext cx="64008" cy="1039767"/>
          </a:xfrm>
          <a:prstGeom prst="rect">
            <a:avLst/>
          </a:prstGeom>
          <a:solidFill>
            <a:srgbClr val="62B6CB"/>
          </a:solidFill>
          <a:ln/>
        </p:spPr>
      </p:sp>
      <p:sp>
        <p:nvSpPr>
          <p:cNvPr id="10" name="Text 6"/>
          <p:cNvSpPr/>
          <p:nvPr/>
        </p:nvSpPr>
        <p:spPr>
          <a:xfrm>
            <a:off x="914400" y="3783693"/>
            <a:ext cx="7406640" cy="902607"/>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같은 질문이라도 관계 대수 표현 방법이 여러 가지일 수 있습니다.</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이것이 나중에 '쿼리 최적화'의 출발점이 됩니다.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37 / 44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디비전 (Division) R÷S</a:t>
            </a:r>
            <a:endParaRPr lang="en-US" sz="2600" dirty="0"/>
          </a:p>
        </p:txBody>
      </p:sp>
      <p:sp>
        <p:nvSpPr>
          <p:cNvPr id="6" name="Shape 3"/>
          <p:cNvSpPr/>
          <p:nvPr/>
        </p:nvSpPr>
        <p:spPr>
          <a:xfrm>
            <a:off x="548640" y="1188720"/>
            <a:ext cx="8046720" cy="914400"/>
          </a:xfrm>
          <a:prstGeom prst="rect">
            <a:avLst/>
          </a:prstGeom>
          <a:solidFill>
            <a:srgbClr val="1B4965"/>
          </a:solidFill>
          <a:ln/>
        </p:spPr>
      </p:sp>
      <p:sp>
        <p:nvSpPr>
          <p:cNvPr id="7" name="Text 4"/>
          <p:cNvSpPr/>
          <p:nvPr/>
        </p:nvSpPr>
        <p:spPr>
          <a:xfrm>
            <a:off x="914400" y="1234440"/>
            <a:ext cx="73152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S의 모든 투플과 관련 있는 R의 투플을 찾는 연산</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'전부', '모든' 조건이 붙는 질의에 사용</a:t>
            </a:r>
            <a:endParaRPr lang="en-US" sz="1400" dirty="0"/>
          </a:p>
        </p:txBody>
      </p:sp>
      <p:sp>
        <p:nvSpPr>
          <p:cNvPr id="8" name="Text 5"/>
          <p:cNvSpPr/>
          <p:nvPr/>
        </p:nvSpPr>
        <p:spPr>
          <a:xfrm>
            <a:off x="548640" y="2468880"/>
            <a:ext cx="8046720" cy="1371600"/>
          </a:xfrm>
          <a:prstGeom prst="rect">
            <a:avLst/>
          </a:prstGeom>
          <a:noFill/>
          <a:ln/>
        </p:spPr>
        <p:txBody>
          <a:bodyPr wrap="square" lIns="0" tIns="0" rIns="0" bIns="0" rtlCol="0" anchor="ctr"/>
          <a:lstStyle/>
          <a:p>
            <a:pPr indent="0" marL="0">
              <a:buNone/>
            </a:pPr>
            <a:r>
              <a:rPr lang="en-US" sz="1300" dirty="0">
                <a:solidFill>
                  <a:srgbClr val="5A6C7D"/>
                </a:solidFill>
                <a:latin typeface="Calibri" pitchFamily="34" charset="0"/>
                <a:ea typeface="Calibri" pitchFamily="34" charset="-122"/>
                <a:cs typeface="Calibri" pitchFamily="34" charset="-120"/>
              </a:rPr>
              <a:t>예시: '모든 과목을 수강한 학생', '모든 부품을 공급하는 업체'</a:t>
            </a:r>
            <a:endParaRPr lang="en-US" sz="1300" dirty="0"/>
          </a:p>
          <a:p>
            <a:pPr indent="0" marL="0">
              <a:buNone/>
            </a:pPr>
            <a:r>
              <a:rPr lang="en-US" sz="1300" dirty="0">
                <a:solidFill>
                  <a:srgbClr val="5A6C7D"/>
                </a:solidFill>
                <a:latin typeface="Calibri" pitchFamily="34" charset="0"/>
                <a:ea typeface="Calibri" pitchFamily="34" charset="-122"/>
                <a:cs typeface="Calibri" pitchFamily="34" charset="-120"/>
              </a:rPr>
              <a:t>디비전은 사용 빈도는 낮지만, 특정 유형의 질의에 유용합니다.</a:t>
            </a:r>
            <a:endParaRPr lang="en-US" sz="1300" dirty="0"/>
          </a:p>
        </p:txBody>
      </p:sp>
      <p:sp>
        <p:nvSpPr>
          <p:cNvPr id="9" name="Text 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38 / 44</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세미 조인 (Semi Join)</a:t>
            </a:r>
            <a:endParaRPr lang="en-US" sz="2600" dirty="0"/>
          </a:p>
        </p:txBody>
      </p:sp>
      <p:sp>
        <p:nvSpPr>
          <p:cNvPr id="6" name="Shape 3"/>
          <p:cNvSpPr/>
          <p:nvPr/>
        </p:nvSpPr>
        <p:spPr>
          <a:xfrm>
            <a:off x="548640" y="1188720"/>
            <a:ext cx="8046720" cy="9144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7" name="Shape 4"/>
          <p:cNvSpPr/>
          <p:nvPr/>
        </p:nvSpPr>
        <p:spPr>
          <a:xfrm>
            <a:off x="548640" y="1188720"/>
            <a:ext cx="64008" cy="914400"/>
          </a:xfrm>
          <a:prstGeom prst="rect">
            <a:avLst/>
          </a:prstGeom>
          <a:solidFill>
            <a:srgbClr val="1B4965"/>
          </a:solidFill>
          <a:ln/>
        </p:spPr>
      </p:sp>
      <p:sp>
        <p:nvSpPr>
          <p:cNvPr id="8" name="Text 5"/>
          <p:cNvSpPr/>
          <p:nvPr/>
        </p:nvSpPr>
        <p:spPr>
          <a:xfrm>
            <a:off x="914400" y="1280160"/>
            <a:ext cx="7315200" cy="82296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자연 조인 후 한쪽 릴레이션의 속성만 남기는 연산</a:t>
            </a:r>
            <a:endParaRPr lang="en-US" sz="1400" dirty="0"/>
          </a:p>
          <a:p>
            <a:pPr indent="0" marL="0">
              <a:buNone/>
            </a:pPr>
            <a:r>
              <a:rPr lang="en-US" sz="1400" dirty="0">
                <a:solidFill>
                  <a:srgbClr val="1A1A2E"/>
                </a:solidFill>
                <a:latin typeface="Calibri" pitchFamily="34" charset="0"/>
                <a:ea typeface="Calibri" pitchFamily="34" charset="-122"/>
                <a:cs typeface="Calibri" pitchFamily="34" charset="-120"/>
              </a:rPr>
              <a:t>분산 데이터베이스에서 전송 데이터양을 줄이기 위해 사용</a:t>
            </a:r>
            <a:endParaRPr lang="en-US" sz="1400" dirty="0"/>
          </a:p>
        </p:txBody>
      </p:sp>
      <p:sp>
        <p:nvSpPr>
          <p:cNvPr id="9" name="Text 6"/>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39 / 44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세미 조인 예제</a:t>
            </a:r>
            <a:endParaRPr lang="en-US" sz="1400" dirty="0"/>
          </a:p>
        </p:txBody>
      </p:sp>
      <p:sp>
        <p:nvSpPr>
          <p:cNvPr id="6" name="Shape 3"/>
          <p:cNvSpPr/>
          <p:nvPr/>
        </p:nvSpPr>
        <p:spPr>
          <a:xfrm>
            <a:off x="1867087" y="731520"/>
            <a:ext cx="5409826"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39.jpg">    </p:cNvPr>
          <p:cNvPicPr>
            <a:picLocks noChangeAspect="1"/>
          </p:cNvPicPr>
          <p:nvPr/>
        </p:nvPicPr>
        <p:blipFill>
          <a:blip r:embed="rId1"/>
          <a:stretch>
            <a:fillRect/>
          </a:stretch>
        </p:blipFill>
        <p:spPr>
          <a:xfrm>
            <a:off x="2004247" y="822960"/>
            <a:ext cx="5135506" cy="3108960"/>
          </a:xfrm>
          <a:prstGeom prst="rect">
            <a:avLst/>
          </a:prstGeom>
        </p:spPr>
      </p:pic>
      <p:sp>
        <p:nvSpPr>
          <p:cNvPr id="8" name="Shape 4"/>
          <p:cNvSpPr/>
          <p:nvPr/>
        </p:nvSpPr>
        <p:spPr>
          <a:xfrm>
            <a:off x="548640" y="4160520"/>
            <a:ext cx="8046720" cy="57150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5"/>
          <p:cNvSpPr/>
          <p:nvPr/>
        </p:nvSpPr>
        <p:spPr>
          <a:xfrm>
            <a:off x="548640" y="4160520"/>
            <a:ext cx="64008" cy="57150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자연 조인 결과에서 한쪽 릴레이션의 속성만 프로젝트한 것과</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같은 결과가 나옵니다.</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40 / 44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r>
              <a:rPr lang="en-US" sz="1000" i="1" dirty="0">
                <a:solidFill>
                  <a:srgbClr val="5A6C7D"/>
                </a:solidFill>
                <a:latin typeface="Calibri" pitchFamily="34" charset="0"/>
                <a:ea typeface="Calibri" pitchFamily="34" charset="-122"/>
                <a:cs typeface="Calibri" pitchFamily="34" charset="-120"/>
              </a:rPr>
              <a:t>2. 관계 대수</a:t>
            </a:r>
            <a:endParaRPr lang="en-US" sz="1000" dirty="0"/>
          </a:p>
        </p:txBody>
      </p:sp>
      <p:sp>
        <p:nvSpPr>
          <p:cNvPr id="5" name="Text 2"/>
          <p:cNvSpPr/>
          <p:nvPr/>
        </p:nvSpPr>
        <p:spPr>
          <a:xfrm>
            <a:off x="548640" y="502920"/>
            <a:ext cx="7315200" cy="457200"/>
          </a:xfrm>
          <a:prstGeom prst="rect">
            <a:avLst/>
          </a:prstGeom>
          <a:noFill/>
          <a:ln/>
        </p:spPr>
        <p:txBody>
          <a:bodyPr wrap="square" lIns="0" tIns="0" rIns="0" bIns="0" rtlCol="0" anchor="ctr"/>
          <a:lstStyle/>
          <a:p>
            <a:pPr indent="0" marL="0">
              <a:buNone/>
            </a:pPr>
            <a:r>
              <a:rPr lang="en-US" sz="2600" b="1" dirty="0">
                <a:solidFill>
                  <a:srgbClr val="1A1A2E"/>
                </a:solidFill>
                <a:latin typeface="Trebuchet MS" pitchFamily="34" charset="0"/>
                <a:ea typeface="Trebuchet MS" pitchFamily="34" charset="-122"/>
                <a:cs typeface="Trebuchet MS" pitchFamily="34" charset="-120"/>
              </a:rPr>
              <a:t>외부 조인 (Outer Join)</a:t>
            </a:r>
            <a:endParaRPr lang="en-US" sz="2600" dirty="0"/>
          </a:p>
        </p:txBody>
      </p:sp>
      <p:sp>
        <p:nvSpPr>
          <p:cNvPr id="6" name="Shape 3"/>
          <p:cNvSpPr/>
          <p:nvPr/>
        </p:nvSpPr>
        <p:spPr>
          <a:xfrm>
            <a:off x="548640" y="1097280"/>
            <a:ext cx="8046720" cy="640080"/>
          </a:xfrm>
          <a:prstGeom prst="rect">
            <a:avLst/>
          </a:prstGeom>
          <a:solidFill>
            <a:srgbClr val="1B4965"/>
          </a:solidFill>
          <a:ln/>
        </p:spPr>
      </p:sp>
      <p:sp>
        <p:nvSpPr>
          <p:cNvPr id="7" name="Text 4"/>
          <p:cNvSpPr/>
          <p:nvPr/>
        </p:nvSpPr>
        <p:spPr>
          <a:xfrm>
            <a:off x="914400" y="1143000"/>
            <a:ext cx="731520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자연 조인에서 제외되는 투플도 결과에 포함 (매칭 안 되는 부분은 NULL)</a:t>
            </a:r>
            <a:endParaRPr lang="en-US" sz="1300" dirty="0"/>
          </a:p>
        </p:txBody>
      </p:sp>
      <p:sp>
        <p:nvSpPr>
          <p:cNvPr id="8" name="Shape 5"/>
          <p:cNvSpPr/>
          <p:nvPr/>
        </p:nvSpPr>
        <p:spPr>
          <a:xfrm>
            <a:off x="548640" y="201168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9" name="Shape 6"/>
          <p:cNvSpPr/>
          <p:nvPr/>
        </p:nvSpPr>
        <p:spPr>
          <a:xfrm>
            <a:off x="548640" y="2011680"/>
            <a:ext cx="64008" cy="822960"/>
          </a:xfrm>
          <a:prstGeom prst="rect">
            <a:avLst/>
          </a:prstGeom>
          <a:solidFill>
            <a:srgbClr val="1B4965"/>
          </a:solidFill>
          <a:ln/>
        </p:spPr>
      </p:sp>
      <p:sp>
        <p:nvSpPr>
          <p:cNvPr id="10" name="Text 7"/>
          <p:cNvSpPr/>
          <p:nvPr/>
        </p:nvSpPr>
        <p:spPr>
          <a:xfrm>
            <a:off x="914400" y="2057400"/>
            <a:ext cx="36576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왼쪽 외부 조인 (LEFT)</a:t>
            </a:r>
            <a:endParaRPr lang="en-US" sz="1500" dirty="0"/>
          </a:p>
        </p:txBody>
      </p:sp>
      <p:sp>
        <p:nvSpPr>
          <p:cNvPr id="11" name="Text 8"/>
          <p:cNvSpPr/>
          <p:nvPr/>
        </p:nvSpPr>
        <p:spPr>
          <a:xfrm>
            <a:off x="914400" y="2423160"/>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왼쪽 릴레이션의 모든 투플을 결과에 포함</a:t>
            </a:r>
            <a:endParaRPr lang="en-US" sz="1200" dirty="0"/>
          </a:p>
        </p:txBody>
      </p:sp>
      <p:sp>
        <p:nvSpPr>
          <p:cNvPr id="12" name="Shape 9"/>
          <p:cNvSpPr/>
          <p:nvPr/>
        </p:nvSpPr>
        <p:spPr>
          <a:xfrm>
            <a:off x="548640" y="297180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3" name="Shape 10"/>
          <p:cNvSpPr/>
          <p:nvPr/>
        </p:nvSpPr>
        <p:spPr>
          <a:xfrm>
            <a:off x="548640" y="2971800"/>
            <a:ext cx="64008" cy="822960"/>
          </a:xfrm>
          <a:prstGeom prst="rect">
            <a:avLst/>
          </a:prstGeom>
          <a:solidFill>
            <a:srgbClr val="247B7B"/>
          </a:solidFill>
          <a:ln/>
        </p:spPr>
      </p:sp>
      <p:sp>
        <p:nvSpPr>
          <p:cNvPr id="14" name="Text 11"/>
          <p:cNvSpPr/>
          <p:nvPr/>
        </p:nvSpPr>
        <p:spPr>
          <a:xfrm>
            <a:off x="914400" y="3017520"/>
            <a:ext cx="3657600" cy="320040"/>
          </a:xfrm>
          <a:prstGeom prst="rect">
            <a:avLst/>
          </a:prstGeom>
          <a:noFill/>
          <a:ln/>
        </p:spPr>
        <p:txBody>
          <a:bodyPr wrap="square" lIns="0" tIns="0" rIns="0" bIns="0" rtlCol="0" anchor="ctr"/>
          <a:lstStyle/>
          <a:p>
            <a:pPr indent="0" marL="0">
              <a:buNone/>
            </a:pPr>
            <a:r>
              <a:rPr lang="en-US" sz="1500" b="1" dirty="0">
                <a:solidFill>
                  <a:srgbClr val="247B7B"/>
                </a:solidFill>
                <a:latin typeface="Trebuchet MS" pitchFamily="34" charset="0"/>
                <a:ea typeface="Trebuchet MS" pitchFamily="34" charset="-122"/>
                <a:cs typeface="Trebuchet MS" pitchFamily="34" charset="-120"/>
              </a:rPr>
              <a:t>오른쪽 외부 조인 (RIGHT)</a:t>
            </a:r>
            <a:endParaRPr lang="en-US" sz="1500" dirty="0"/>
          </a:p>
        </p:txBody>
      </p:sp>
      <p:sp>
        <p:nvSpPr>
          <p:cNvPr id="15" name="Text 12"/>
          <p:cNvSpPr/>
          <p:nvPr/>
        </p:nvSpPr>
        <p:spPr>
          <a:xfrm>
            <a:off x="914400" y="3383280"/>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오른쪽 릴레이션의 모든 투플을 결과에 포함</a:t>
            </a:r>
            <a:endParaRPr lang="en-US" sz="1200" dirty="0"/>
          </a:p>
        </p:txBody>
      </p:sp>
      <p:sp>
        <p:nvSpPr>
          <p:cNvPr id="16" name="Shape 13"/>
          <p:cNvSpPr/>
          <p:nvPr/>
        </p:nvSpPr>
        <p:spPr>
          <a:xfrm>
            <a:off x="548640" y="3931920"/>
            <a:ext cx="8046720" cy="822960"/>
          </a:xfrm>
          <a:prstGeom prst="rect">
            <a:avLst/>
          </a:prstGeom>
          <a:solidFill>
            <a:srgbClr val="FFFFFF"/>
          </a:solidFill>
          <a:ln/>
          <a:effectLst>
            <a:outerShdw sx="100000" sy="100000" kx="0" ky="0" algn="bl" rotWithShape="0" blurRad="63500" dist="25400" dir="8100000">
              <a:srgbClr val="000000">
                <a:alpha val="6000"/>
              </a:srgbClr>
            </a:outerShdw>
          </a:effectLst>
        </p:spPr>
      </p:sp>
      <p:sp>
        <p:nvSpPr>
          <p:cNvPr id="17" name="Shape 14"/>
          <p:cNvSpPr/>
          <p:nvPr/>
        </p:nvSpPr>
        <p:spPr>
          <a:xfrm>
            <a:off x="548640" y="3931920"/>
            <a:ext cx="64008" cy="822960"/>
          </a:xfrm>
          <a:prstGeom prst="rect">
            <a:avLst/>
          </a:prstGeom>
          <a:solidFill>
            <a:srgbClr val="E07A5F"/>
          </a:solidFill>
          <a:ln/>
        </p:spPr>
      </p:sp>
      <p:sp>
        <p:nvSpPr>
          <p:cNvPr id="18" name="Text 15"/>
          <p:cNvSpPr/>
          <p:nvPr/>
        </p:nvSpPr>
        <p:spPr>
          <a:xfrm>
            <a:off x="914400" y="3977640"/>
            <a:ext cx="3657600" cy="320040"/>
          </a:xfrm>
          <a:prstGeom prst="rect">
            <a:avLst/>
          </a:prstGeom>
          <a:noFill/>
          <a:ln/>
        </p:spPr>
        <p:txBody>
          <a:bodyPr wrap="square" lIns="0" tIns="0" rIns="0" bIns="0" rtlCol="0" anchor="ctr"/>
          <a:lstStyle/>
          <a:p>
            <a:pPr indent="0" marL="0">
              <a:buNone/>
            </a:pPr>
            <a:r>
              <a:rPr lang="en-US" sz="1500" b="1" dirty="0">
                <a:solidFill>
                  <a:srgbClr val="E07A5F"/>
                </a:solidFill>
                <a:latin typeface="Trebuchet MS" pitchFamily="34" charset="0"/>
                <a:ea typeface="Trebuchet MS" pitchFamily="34" charset="-122"/>
                <a:cs typeface="Trebuchet MS" pitchFamily="34" charset="-120"/>
              </a:rPr>
              <a:t>완전 외부 조인 (FULL)</a:t>
            </a:r>
            <a:endParaRPr lang="en-US" sz="1500" dirty="0"/>
          </a:p>
        </p:txBody>
      </p:sp>
      <p:sp>
        <p:nvSpPr>
          <p:cNvPr id="19" name="Text 16"/>
          <p:cNvSpPr/>
          <p:nvPr/>
        </p:nvSpPr>
        <p:spPr>
          <a:xfrm>
            <a:off x="914400" y="4343400"/>
            <a:ext cx="7315200" cy="274320"/>
          </a:xfrm>
          <a:prstGeom prst="rect">
            <a:avLst/>
          </a:prstGeom>
          <a:noFill/>
          <a:ln/>
        </p:spPr>
        <p:txBody>
          <a:bodyPr wrap="square" lIns="0" tIns="0" rIns="0" bIns="0" rtlCol="0" anchor="ctr"/>
          <a:lstStyle/>
          <a:p>
            <a:pPr indent="0" marL="0">
              <a:buNone/>
            </a:pPr>
            <a:r>
              <a:rPr lang="en-US" sz="1200" dirty="0">
                <a:solidFill>
                  <a:srgbClr val="5A6C7D"/>
                </a:solidFill>
                <a:latin typeface="Calibri" pitchFamily="34" charset="0"/>
                <a:ea typeface="Calibri" pitchFamily="34" charset="-122"/>
                <a:cs typeface="Calibri" pitchFamily="34" charset="-120"/>
              </a:rPr>
              <a:t>양쪽 릴레이션의 모든 투플을 결과에 포함</a:t>
            </a:r>
            <a:endParaRPr lang="en-US" sz="1200" dirty="0"/>
          </a:p>
        </p:txBody>
      </p:sp>
      <p:sp>
        <p:nvSpPr>
          <p:cNvPr id="20"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41 / 44</a:t>
            </a:r>
            <a:endParaRPr lang="en-US" sz="900" dirty="0"/>
          </a:p>
        </p:txBody>
      </p:sp>
    </p:spTree>
  </p:cSld>
  <p:clrMapOvr>
    <a:masterClrMapping/>
  </p:clrMapOvr>
</p:sld>
</file>

<file path=ppt/slides/slide4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2">
    <p:bg>
      <p:bgPr shadeToTitle="0">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외부 조인 예제: LEFT / RIGHT / FULL</a:t>
            </a:r>
            <a:endParaRPr lang="en-US" sz="1400" dirty="0"/>
          </a:p>
        </p:txBody>
      </p:sp>
      <p:sp>
        <p:nvSpPr>
          <p:cNvPr id="6" name="Shape 3"/>
          <p:cNvSpPr/>
          <p:nvPr/>
        </p:nvSpPr>
        <p:spPr>
          <a:xfrm>
            <a:off x="2765317" y="731520"/>
            <a:ext cx="3613365" cy="329184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41.jpg">    </p:cNvPr>
          <p:cNvPicPr>
            <a:picLocks noChangeAspect="1"/>
          </p:cNvPicPr>
          <p:nvPr/>
        </p:nvPicPr>
        <p:blipFill>
          <a:blip r:embed="rId3"/>
          <a:stretch>
            <a:fillRect/>
          </a:stretch>
        </p:blipFill>
        <p:spPr>
          <a:xfrm>
            <a:off x="2902477" y="822960"/>
            <a:ext cx="3339045" cy="3108960"/>
          </a:xfrm>
          <a:prstGeom prst="rect">
            <a:avLst/>
          </a:prstGeom>
        </p:spPr>
      </p:pic>
      <p:sp>
        <p:nvSpPr>
          <p:cNvPr id="8" name="Shape 4"/>
          <p:cNvSpPr/>
          <p:nvPr/>
        </p:nvSpPr>
        <p:spPr>
          <a:xfrm>
            <a:off x="548640" y="4160520"/>
            <a:ext cx="8046720" cy="731520"/>
          </a:xfrm>
          <a:prstGeom prst="rect">
            <a:avLst/>
          </a:prstGeom>
          <a:solidFill>
            <a:srgbClr val="ffffff"/>
          </a:solidFill>
          <a:ln/>
          <a:effectLst>
            <a:outerShdw blurRad="63500" dist="25400" dir="8100000" algn="bl" rotWithShape="0">
              <a:srgbClr val="000000">
                <a:alpha val="6000"/>
              </a:srgbClr>
            </a:outerShdw>
          </a:effectLst>
        </p:spPr>
      </p:sp>
      <p:sp>
        <p:nvSpPr>
          <p:cNvPr id="9" name="Shape 5"/>
          <p:cNvSpPr/>
          <p:nvPr/>
        </p:nvSpPr>
        <p:spPr>
          <a:xfrm>
            <a:off x="548640" y="4160520"/>
            <a:ext cx="64008" cy="731520"/>
          </a:xfrm>
          <a:prstGeom prst="rect">
            <a:avLst/>
          </a:prstGeom>
          <a:solidFill>
            <a:srgbClr val="62b6cb"/>
          </a:solidFill>
          <a:ln/>
        </p:spPr>
      </p:sp>
      <p:sp>
        <p:nvSpPr>
          <p:cNvPr id="10" name="Text 6"/>
          <p:cNvSpPr/>
          <p:nvPr/>
        </p:nvSpPr>
        <p:spPr>
          <a:xfrm>
            <a:off x="914400" y="4251960"/>
            <a:ext cx="7406640" cy="434340"/>
          </a:xfrm>
          <a:prstGeom prst="rect">
            <a:avLst/>
          </a:prstGeom>
          <a:noFill/>
          <a:ln/>
        </p:spPr>
        <p:txBody>
          <a:bodyPr wrap="square" lIns="0" tIns="0" rIns="0" bIns="0" rtlCol="0" anchor="t"/>
          <a:lstStyle/>
          <a:p>
            <a:pPr indent="0" marL="0">
              <a:buNone/>
            </a:pPr>
            <a:r>
              <a:rPr lang="en-US" sz="1200" dirty="0">
                <a:solidFill>
                  <a:srgbClr val="5A6C7D"/>
                </a:solidFill>
                <a:latin typeface="Calibri" pitchFamily="34" charset="0"/>
                <a:ea typeface="Calibri" pitchFamily="34" charset="-122"/>
                <a:cs typeface="Calibri" pitchFamily="34" charset="-120"/>
              </a:rPr>
              <a:t>왼쪽 외부 조인: 왼쪽의 모든 투플 포함 (매칭 안 되면 NULL)</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오른쪽 외부 조인: 오른쪽의 모든 투플 포함</a:t>
            </a:r>
            <a:endParaRPr lang="en-US" sz="1200" dirty="0"/>
          </a:p>
          <a:p>
            <a:pPr indent="0" marL="0">
              <a:buNone/>
            </a:pPr>
            <a:r>
              <a:rPr lang="en-US" sz="1200" dirty="0">
                <a:solidFill>
                  <a:srgbClr val="5A6C7D"/>
                </a:solidFill>
                <a:latin typeface="Calibri" pitchFamily="34" charset="0"/>
                <a:ea typeface="Calibri" pitchFamily="34" charset="-122"/>
                <a:cs typeface="Calibri" pitchFamily="34" charset="-120"/>
              </a:rPr>
              <a:t>완전 외부 조인: 양쪽 모두 포함</a:t>
            </a:r>
            <a:endParaRPr lang="en-US" sz="1200" dirty="0"/>
          </a:p>
        </p:txBody>
      </p:sp>
      <p:sp>
        <p:nvSpPr>
          <p:cNvPr id="11" name="Text 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42 / 44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365760"/>
            <a:ext cx="27432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요약</a:t>
            </a:r>
            <a:endParaRPr lang="en-US" sz="3200" dirty="0"/>
          </a:p>
        </p:txBody>
      </p:sp>
      <p:sp>
        <p:nvSpPr>
          <p:cNvPr id="5" name="Shape 2"/>
          <p:cNvSpPr/>
          <p:nvPr/>
        </p:nvSpPr>
        <p:spPr>
          <a:xfrm>
            <a:off x="548640" y="1097280"/>
            <a:ext cx="8046720" cy="777240"/>
          </a:xfrm>
          <a:prstGeom prst="rect">
            <a:avLst/>
          </a:prstGeom>
          <a:solidFill>
            <a:srgbClr val="1A2F45"/>
          </a:solidFill>
          <a:ln/>
        </p:spPr>
      </p:sp>
      <p:sp>
        <p:nvSpPr>
          <p:cNvPr id="6" name="Shape 3"/>
          <p:cNvSpPr/>
          <p:nvPr/>
        </p:nvSpPr>
        <p:spPr>
          <a:xfrm>
            <a:off x="548640" y="1097280"/>
            <a:ext cx="64008" cy="777240"/>
          </a:xfrm>
          <a:prstGeom prst="rect">
            <a:avLst/>
          </a:prstGeom>
          <a:solidFill>
            <a:srgbClr val="1B4965"/>
          </a:solidFill>
          <a:ln/>
        </p:spPr>
      </p:sp>
      <p:sp>
        <p:nvSpPr>
          <p:cNvPr id="7" name="Text 4"/>
          <p:cNvSpPr/>
          <p:nvPr/>
        </p:nvSpPr>
        <p:spPr>
          <a:xfrm>
            <a:off x="914400" y="1143000"/>
            <a:ext cx="2743200" cy="320040"/>
          </a:xfrm>
          <a:prstGeom prst="rect">
            <a:avLst/>
          </a:prstGeom>
          <a:noFill/>
          <a:ln/>
        </p:spPr>
        <p:txBody>
          <a:bodyPr wrap="square" lIns="0" tIns="0" rIns="0" bIns="0" rtlCol="0" anchor="ctr"/>
          <a:lstStyle/>
          <a:p>
            <a:pPr indent="0" marL="0">
              <a:buNone/>
            </a:pPr>
            <a:r>
              <a:rPr lang="en-US" sz="1500" b="1" dirty="0">
                <a:solidFill>
                  <a:srgbClr val="1B4965"/>
                </a:solidFill>
                <a:latin typeface="Trebuchet MS" pitchFamily="34" charset="0"/>
                <a:ea typeface="Trebuchet MS" pitchFamily="34" charset="-122"/>
                <a:cs typeface="Trebuchet MS" pitchFamily="34" charset="-120"/>
              </a:rPr>
              <a:t>관계 데이터 연산</a:t>
            </a:r>
            <a:endParaRPr lang="en-US" sz="1500" dirty="0"/>
          </a:p>
        </p:txBody>
      </p:sp>
      <p:sp>
        <p:nvSpPr>
          <p:cNvPr id="8" name="Text 5"/>
          <p:cNvSpPr/>
          <p:nvPr/>
        </p:nvSpPr>
        <p:spPr>
          <a:xfrm>
            <a:off x="914400" y="146304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릴레이션에서 원하는 데이터를 추출·가공하는 방법</a:t>
            </a:r>
            <a:endParaRPr lang="en-US" sz="1200" dirty="0"/>
          </a:p>
        </p:txBody>
      </p:sp>
      <p:sp>
        <p:nvSpPr>
          <p:cNvPr id="9" name="Shape 6"/>
          <p:cNvSpPr/>
          <p:nvPr/>
        </p:nvSpPr>
        <p:spPr>
          <a:xfrm>
            <a:off x="548640" y="2057400"/>
            <a:ext cx="8046720" cy="777240"/>
          </a:xfrm>
          <a:prstGeom prst="rect">
            <a:avLst/>
          </a:prstGeom>
          <a:solidFill>
            <a:srgbClr val="1A2F45"/>
          </a:solidFill>
          <a:ln/>
        </p:spPr>
      </p:sp>
      <p:sp>
        <p:nvSpPr>
          <p:cNvPr id="10" name="Shape 7"/>
          <p:cNvSpPr/>
          <p:nvPr/>
        </p:nvSpPr>
        <p:spPr>
          <a:xfrm>
            <a:off x="548640" y="2057400"/>
            <a:ext cx="64008" cy="777240"/>
          </a:xfrm>
          <a:prstGeom prst="rect">
            <a:avLst/>
          </a:prstGeom>
          <a:solidFill>
            <a:srgbClr val="247B7B"/>
          </a:solidFill>
          <a:ln/>
        </p:spPr>
      </p:sp>
      <p:sp>
        <p:nvSpPr>
          <p:cNvPr id="11" name="Text 8"/>
          <p:cNvSpPr/>
          <p:nvPr/>
        </p:nvSpPr>
        <p:spPr>
          <a:xfrm>
            <a:off x="914400" y="2103120"/>
            <a:ext cx="2743200" cy="320040"/>
          </a:xfrm>
          <a:prstGeom prst="rect">
            <a:avLst/>
          </a:prstGeom>
          <a:noFill/>
          <a:ln/>
        </p:spPr>
        <p:txBody>
          <a:bodyPr wrap="square" lIns="0" tIns="0" rIns="0" bIns="0" rtlCol="0" anchor="ctr"/>
          <a:lstStyle/>
          <a:p>
            <a:pPr indent="0" marL="0">
              <a:buNone/>
            </a:pPr>
            <a:r>
              <a:rPr lang="en-US" sz="1500" b="1" dirty="0">
                <a:solidFill>
                  <a:srgbClr val="247B7B"/>
                </a:solidFill>
                <a:latin typeface="Trebuchet MS" pitchFamily="34" charset="0"/>
                <a:ea typeface="Trebuchet MS" pitchFamily="34" charset="-122"/>
                <a:cs typeface="Trebuchet MS" pitchFamily="34" charset="-120"/>
              </a:rPr>
              <a:t>일반 집합 연산자</a:t>
            </a:r>
            <a:endParaRPr lang="en-US" sz="1500" dirty="0"/>
          </a:p>
        </p:txBody>
      </p:sp>
      <p:sp>
        <p:nvSpPr>
          <p:cNvPr id="12" name="Text 9"/>
          <p:cNvSpPr/>
          <p:nvPr/>
        </p:nvSpPr>
        <p:spPr>
          <a:xfrm>
            <a:off x="914400" y="242316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합집합(∪), 교집합(∩), 차집합(−), 카티션 프로덕트(×)</a:t>
            </a:r>
            <a:endParaRPr lang="en-US" sz="1200" dirty="0"/>
          </a:p>
        </p:txBody>
      </p:sp>
      <p:sp>
        <p:nvSpPr>
          <p:cNvPr id="13" name="Shape 10"/>
          <p:cNvSpPr/>
          <p:nvPr/>
        </p:nvSpPr>
        <p:spPr>
          <a:xfrm>
            <a:off x="548640" y="3017520"/>
            <a:ext cx="8046720" cy="777240"/>
          </a:xfrm>
          <a:prstGeom prst="rect">
            <a:avLst/>
          </a:prstGeom>
          <a:solidFill>
            <a:srgbClr val="1A2F45"/>
          </a:solidFill>
          <a:ln/>
        </p:spPr>
      </p:sp>
      <p:sp>
        <p:nvSpPr>
          <p:cNvPr id="14" name="Shape 11"/>
          <p:cNvSpPr/>
          <p:nvPr/>
        </p:nvSpPr>
        <p:spPr>
          <a:xfrm>
            <a:off x="548640" y="3017520"/>
            <a:ext cx="64008" cy="777240"/>
          </a:xfrm>
          <a:prstGeom prst="rect">
            <a:avLst/>
          </a:prstGeom>
          <a:solidFill>
            <a:srgbClr val="62B6CB"/>
          </a:solidFill>
          <a:ln/>
        </p:spPr>
      </p:sp>
      <p:sp>
        <p:nvSpPr>
          <p:cNvPr id="15" name="Text 12"/>
          <p:cNvSpPr/>
          <p:nvPr/>
        </p:nvSpPr>
        <p:spPr>
          <a:xfrm>
            <a:off x="914400" y="3063240"/>
            <a:ext cx="2743200" cy="320040"/>
          </a:xfrm>
          <a:prstGeom prst="rect">
            <a:avLst/>
          </a:prstGeom>
          <a:noFill/>
          <a:ln/>
        </p:spPr>
        <p:txBody>
          <a:bodyPr wrap="square" lIns="0" tIns="0" rIns="0" bIns="0" rtlCol="0" anchor="ctr"/>
          <a:lstStyle/>
          <a:p>
            <a:pPr indent="0" marL="0">
              <a:buNone/>
            </a:pPr>
            <a:r>
              <a:rPr lang="en-US" sz="1500" b="1" dirty="0">
                <a:solidFill>
                  <a:srgbClr val="62B6CB"/>
                </a:solidFill>
                <a:latin typeface="Trebuchet MS" pitchFamily="34" charset="0"/>
                <a:ea typeface="Trebuchet MS" pitchFamily="34" charset="-122"/>
                <a:cs typeface="Trebuchet MS" pitchFamily="34" charset="-120"/>
              </a:rPr>
              <a:t>순수 관계 연산자</a:t>
            </a:r>
            <a:endParaRPr lang="en-US" sz="1500" dirty="0"/>
          </a:p>
        </p:txBody>
      </p:sp>
      <p:sp>
        <p:nvSpPr>
          <p:cNvPr id="16" name="Text 13"/>
          <p:cNvSpPr/>
          <p:nvPr/>
        </p:nvSpPr>
        <p:spPr>
          <a:xfrm>
            <a:off x="914400" y="338328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셀렉트(σ), 프로젝트(π), 조인(⋈), 디비전(÷)</a:t>
            </a:r>
            <a:endParaRPr lang="en-US" sz="1200" dirty="0"/>
          </a:p>
        </p:txBody>
      </p:sp>
      <p:sp>
        <p:nvSpPr>
          <p:cNvPr id="17" name="Shape 14"/>
          <p:cNvSpPr/>
          <p:nvPr/>
        </p:nvSpPr>
        <p:spPr>
          <a:xfrm>
            <a:off x="548640" y="3977640"/>
            <a:ext cx="8046720" cy="777240"/>
          </a:xfrm>
          <a:prstGeom prst="rect">
            <a:avLst/>
          </a:prstGeom>
          <a:solidFill>
            <a:srgbClr val="1A2F45"/>
          </a:solidFill>
          <a:ln/>
        </p:spPr>
      </p:sp>
      <p:sp>
        <p:nvSpPr>
          <p:cNvPr id="18" name="Shape 15"/>
          <p:cNvSpPr/>
          <p:nvPr/>
        </p:nvSpPr>
        <p:spPr>
          <a:xfrm>
            <a:off x="548640" y="3977640"/>
            <a:ext cx="64008" cy="777240"/>
          </a:xfrm>
          <a:prstGeom prst="rect">
            <a:avLst/>
          </a:prstGeom>
          <a:solidFill>
            <a:srgbClr val="E07A5F"/>
          </a:solidFill>
          <a:ln/>
        </p:spPr>
      </p:sp>
      <p:sp>
        <p:nvSpPr>
          <p:cNvPr id="19" name="Text 16"/>
          <p:cNvSpPr/>
          <p:nvPr/>
        </p:nvSpPr>
        <p:spPr>
          <a:xfrm>
            <a:off x="914400" y="4023360"/>
            <a:ext cx="2743200" cy="320040"/>
          </a:xfrm>
          <a:prstGeom prst="rect">
            <a:avLst/>
          </a:prstGeom>
          <a:noFill/>
          <a:ln/>
        </p:spPr>
        <p:txBody>
          <a:bodyPr wrap="square" lIns="0" tIns="0" rIns="0" bIns="0" rtlCol="0" anchor="ctr"/>
          <a:lstStyle/>
          <a:p>
            <a:pPr indent="0" marL="0">
              <a:buNone/>
            </a:pPr>
            <a:r>
              <a:rPr lang="en-US" sz="1500" b="1" dirty="0">
                <a:solidFill>
                  <a:srgbClr val="E07A5F"/>
                </a:solidFill>
                <a:latin typeface="Trebuchet MS" pitchFamily="34" charset="0"/>
                <a:ea typeface="Trebuchet MS" pitchFamily="34" charset="-122"/>
                <a:cs typeface="Trebuchet MS" pitchFamily="34" charset="-120"/>
              </a:rPr>
              <a:t>확장 연산자</a:t>
            </a:r>
            <a:endParaRPr lang="en-US" sz="1500" dirty="0"/>
          </a:p>
        </p:txBody>
      </p:sp>
      <p:sp>
        <p:nvSpPr>
          <p:cNvPr id="20" name="Text 17"/>
          <p:cNvSpPr/>
          <p:nvPr/>
        </p:nvSpPr>
        <p:spPr>
          <a:xfrm>
            <a:off x="914400" y="4343400"/>
            <a:ext cx="7315200" cy="320040"/>
          </a:xfrm>
          <a:prstGeom prst="rect">
            <a:avLst/>
          </a:prstGeom>
          <a:noFill/>
          <a:ln/>
        </p:spPr>
        <p:txBody>
          <a:bodyPr wrap="square" lIns="0" tIns="0" rIns="0" bIns="0" rtlCol="0" anchor="ctr"/>
          <a:lstStyle/>
          <a:p>
            <a:pPr indent="0" marL="0">
              <a:buNone/>
            </a:pPr>
            <a:r>
              <a:rPr lang="en-US" sz="1200" dirty="0">
                <a:solidFill>
                  <a:srgbClr val="B0BEC5"/>
                </a:solidFill>
                <a:latin typeface="Calibri" pitchFamily="34" charset="0"/>
                <a:ea typeface="Calibri" pitchFamily="34" charset="-122"/>
                <a:cs typeface="Calibri" pitchFamily="34" charset="-120"/>
              </a:rPr>
              <a:t>세미 조인, 외부 조인 (LEFT/RIGHT/FULL)</a:t>
            </a:r>
            <a:endParaRPr lang="en-US" sz="1200" dirty="0"/>
          </a:p>
        </p:txBody>
      </p:sp>
      <p:sp>
        <p:nvSpPr>
          <p:cNvPr id="21" name="Text 1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7A8FA0"/>
                </a:solidFill>
                <a:latin typeface="Calibri" pitchFamily="34" charset="0"/>
                <a:ea typeface="Calibri" pitchFamily="34" charset="-122"/>
                <a:cs typeface="Calibri" pitchFamily="34" charset="-120"/>
              </a:rPr>
              <a:t>43 / 44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7F4"/>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62B6CB"/>
          </a:solidFill>
          <a:ln/>
        </p:spPr>
      </p:sp>
      <p:sp>
        <p:nvSpPr>
          <p:cNvPr id="4" name="Text 1"/>
          <p:cNvSpPr/>
          <p:nvPr/>
        </p:nvSpPr>
        <p:spPr>
          <a:xfrm>
            <a:off x="548640" y="137160"/>
            <a:ext cx="5486400" cy="274320"/>
          </a:xfrm>
          <a:prstGeom prst="rect">
            <a:avLst/>
          </a:prstGeom>
          <a:noFill/>
          <a:ln/>
        </p:spPr>
        <p:txBody>
          <a:bodyPr wrap="square" lIns="0" tIns="0" rIns="0" bIns="0" rtlCol="0" anchor="ctr"/>
          <a:lstStyle/>
          <a:p>
            <a:pPr indent="0" marL="0">
              <a:buNone/>
            </a:pPr>
            <a:endParaRPr lang="en-US" sz="1000" dirty="0"/>
          </a:p>
        </p:txBody>
      </p:sp>
      <p:sp>
        <p:nvSpPr>
          <p:cNvPr id="5" name="Text 2"/>
          <p:cNvSpPr/>
          <p:nvPr/>
        </p:nvSpPr>
        <p:spPr>
          <a:xfrm>
            <a:off x="548640" y="320040"/>
            <a:ext cx="8046720" cy="365760"/>
          </a:xfrm>
          <a:prstGeom prst="rect">
            <a:avLst/>
          </a:prstGeom>
          <a:noFill/>
          <a:ln/>
        </p:spPr>
        <p:txBody>
          <a:bodyPr wrap="square" lIns="0" tIns="0" rIns="0" bIns="0" rtlCol="0" anchor="ctr"/>
          <a:lstStyle/>
          <a:p>
            <a:pPr indent="0" marL="0">
              <a:buNone/>
            </a:pPr>
            <a:r>
              <a:rPr lang="en-US" sz="1400" b="1" dirty="0">
                <a:solidFill>
                  <a:srgbClr val="1B4965"/>
                </a:solidFill>
                <a:latin typeface="Trebuchet MS" pitchFamily="34" charset="0"/>
                <a:ea typeface="Trebuchet MS" pitchFamily="34" charset="-122"/>
                <a:cs typeface="Trebuchet MS" pitchFamily="34" charset="-120"/>
              </a:rPr>
              <a:t>요약 — 관계 대수 전체 구조</a:t>
            </a:r>
            <a:endParaRPr lang="en-US" sz="1400" dirty="0"/>
          </a:p>
        </p:txBody>
      </p:sp>
      <p:sp>
        <p:nvSpPr>
          <p:cNvPr id="6" name="Shape 3"/>
          <p:cNvSpPr/>
          <p:nvPr/>
        </p:nvSpPr>
        <p:spPr>
          <a:xfrm>
            <a:off x="1885156" y="731520"/>
            <a:ext cx="5373688" cy="4023360"/>
          </a:xfrm>
          <a:prstGeom prst="rect">
            <a:avLst/>
          </a:prstGeom>
          <a:solidFill>
            <a:srgbClr val="FFFFFF"/>
          </a:solidFill>
          <a:ln/>
          <a:effectLst>
            <a:outerShdw sx="100000" sy="100000" kx="0" ky="0" algn="bl" rotWithShape="0" blurRad="63500" dist="25400" dir="8100000">
              <a:srgbClr val="000000">
                <a:alpha val="6000"/>
              </a:srgbClr>
            </a:outerShdw>
          </a:effectLst>
        </p:spPr>
      </p:sp>
      <p:pic>
        <p:nvPicPr>
          <p:cNvPr id="7" name="Image 0" descr="/home/claude/ch6_imgs/image45.jpg">    </p:cNvPr>
          <p:cNvPicPr>
            <a:picLocks noChangeAspect="1"/>
          </p:cNvPicPr>
          <p:nvPr/>
        </p:nvPicPr>
        <p:blipFill>
          <a:blip r:embed="rId1"/>
          <a:stretch>
            <a:fillRect/>
          </a:stretch>
        </p:blipFill>
        <p:spPr>
          <a:xfrm>
            <a:off x="2022316" y="822960"/>
            <a:ext cx="5099368" cy="3840480"/>
          </a:xfrm>
          <a:prstGeom prst="rect">
            <a:avLst/>
          </a:prstGeom>
        </p:spPr>
      </p:pic>
      <p:sp>
        <p:nvSpPr>
          <p:cNvPr id="8" name="Text 4"/>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5A6C7D"/>
                </a:solidFill>
                <a:latin typeface="Calibri" pitchFamily="34" charset="0"/>
                <a:ea typeface="Calibri" pitchFamily="34" charset="-122"/>
                <a:cs typeface="Calibri" pitchFamily="34" charset="-120"/>
              </a:rPr>
              <a:t>44 / 44</a:t>
            </a:r>
            <a:endParaRPr lang="en-US" sz="9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1246</ep:Words>
  <ep:PresentationFormat>On-screen Show (16:9)</ep:PresentationFormat>
  <ep:Paragraphs>300</ep:Paragraphs>
  <ep:Slides>44</ep:Slides>
  <ep:Notes>44</ep:Notes>
  <ep:TotalTime>0</ep:TotalTime>
  <ep:HiddenSlides>0</ep:HiddenSlides>
  <ep:MMClips>0</ep:MMClips>
  <ep:HeadingPairs>
    <vt:vector size="4" baseType="variant">
      <vt:variant>
        <vt:lpstr>테마</vt:lpstr>
      </vt:variant>
      <vt:variant>
        <vt:i4>1</vt:i4>
      </vt:variant>
      <vt:variant>
        <vt:lpstr>슬라이드 제목</vt:lpstr>
      </vt:variant>
      <vt:variant>
        <vt:i4>44</vt:i4>
      </vt:variant>
    </vt:vector>
  </ep:HeadingPairs>
  <ep:TitlesOfParts>
    <vt:vector size="45"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lpstr>슬라이드 30</vt:lpstr>
      <vt:lpstr>슬라이드 31</vt:lpstr>
      <vt:lpstr>슬라이드 32</vt:lpstr>
      <vt:lpstr>슬라이드 33</vt:lpstr>
      <vt:lpstr>슬라이드 34</vt:lpstr>
      <vt:lpstr>슬라이드 35</vt:lpstr>
      <vt:lpstr>슬라이드 36</vt:lpstr>
      <vt:lpstr>슬라이드 37</vt:lpstr>
      <vt:lpstr>슬라이드 38</vt:lpstr>
      <vt:lpstr>슬라이드 39</vt:lpstr>
      <vt:lpstr>슬라이드 40</vt:lpstr>
      <vt:lpstr>슬라이드 41</vt:lpstr>
      <vt:lpstr>슬라이드 42</vt:lpstr>
      <vt:lpstr>슬라이드 43</vt:lpstr>
      <vt:lpstr>슬라이드 44</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2026-03-28T13:21:26.000</dcterms:created>
  <dc:creator>대전대학교 컴퓨터공학과</dc:creator>
  <cp:lastModifiedBy>Sayberry</cp:lastModifiedBy>
  <dcterms:modified xsi:type="dcterms:W3CDTF">2026-03-28T13:24:47.866</dcterms:modified>
  <cp:revision>4</cp:revision>
  <dc:subject>PptxGenJS Presentation</dc:subject>
  <dc:title>Chapter 06 - 관계 데이터 연산</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