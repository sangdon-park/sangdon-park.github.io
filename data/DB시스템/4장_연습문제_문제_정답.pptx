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87129"/>
  </p:normalViewPr>
  <p:slideViewPr>
    <p:cSldViewPr snapToGrid="0" snapToObjects="1">
      <p:cViewPr>
        <p:scale>
          <a:sx n="170" d="100"/>
          <a:sy n="17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slide" Target="slides/slide49.xml"  /><Relationship Id="rId52" Type="http://schemas.openxmlformats.org/officeDocument/2006/relationships/slide" Target="slides/slide50.xml"  /><Relationship Id="rId53" Type="http://schemas.openxmlformats.org/officeDocument/2006/relationships/slide" Target="slides/slide51.xml"  /><Relationship Id="rId54" Type="http://schemas.openxmlformats.org/officeDocument/2006/relationships/slide" Target="slides/slide52.xml"  /><Relationship Id="rId55" Type="http://schemas.openxmlformats.org/officeDocument/2006/relationships/slide" Target="slides/slide53.xml"  /><Relationship Id="rId56" Type="http://schemas.openxmlformats.org/officeDocument/2006/relationships/slide" Target="slides/slide54.xml"  /><Relationship Id="rId57" Type="http://schemas.openxmlformats.org/officeDocument/2006/relationships/slide" Target="slides/slide55.xml"  /><Relationship Id="rId58" Type="http://schemas.openxmlformats.org/officeDocument/2006/relationships/slide" Target="slides/slide56.xml"  /><Relationship Id="rId59" Type="http://schemas.openxmlformats.org/officeDocument/2006/relationships/slide" Target="slides/slide57.xml"  /><Relationship Id="rId6" Type="http://schemas.openxmlformats.org/officeDocument/2006/relationships/slide" Target="slides/slide4.xml"  /><Relationship Id="rId60" Type="http://schemas.openxmlformats.org/officeDocument/2006/relationships/slide" Target="slides/slide58.xml"  /><Relationship Id="rId61" Type="http://schemas.openxmlformats.org/officeDocument/2006/relationships/slide" Target="slides/slide59.xml"  /><Relationship Id="rId62" Type="http://schemas.openxmlformats.org/officeDocument/2006/relationships/slide" Target="slides/slide60.xml"  /><Relationship Id="rId63" Type="http://schemas.openxmlformats.org/officeDocument/2006/relationships/slide" Target="slides/slide61.xml"  /><Relationship Id="rId64" Type="http://schemas.openxmlformats.org/officeDocument/2006/relationships/slide" Target="slides/slide62.xml"  /><Relationship Id="rId65" Type="http://schemas.openxmlformats.org/officeDocument/2006/relationships/slide" Target="slides/slide63.xml"  /><Relationship Id="rId66" Type="http://schemas.openxmlformats.org/officeDocument/2006/relationships/slide" Target="slides/slide64.xml"  /><Relationship Id="rId67" Type="http://schemas.openxmlformats.org/officeDocument/2006/relationships/slide" Target="slides/slide65.xml"  /><Relationship Id="rId68" Type="http://schemas.openxmlformats.org/officeDocument/2006/relationships/slide" Target="slides/slide66.xml"  /><Relationship Id="rId69" Type="http://schemas.openxmlformats.org/officeDocument/2006/relationships/slide" Target="slides/slide67.xml"  /><Relationship Id="rId7" Type="http://schemas.openxmlformats.org/officeDocument/2006/relationships/slide" Target="slides/slide5.xml"  /><Relationship Id="rId70" Type="http://schemas.openxmlformats.org/officeDocument/2006/relationships/slide" Target="slides/slide68.xml"  /><Relationship Id="rId71" Type="http://schemas.openxmlformats.org/officeDocument/2006/relationships/slide" Target="slides/slide69.xml"  /><Relationship Id="rId72" Type="http://schemas.openxmlformats.org/officeDocument/2006/relationships/slide" Target="slides/slide70.xml"  /><Relationship Id="rId73" Type="http://schemas.openxmlformats.org/officeDocument/2006/relationships/slide" Target="slides/slide71.xml"  /><Relationship Id="rId74" Type="http://schemas.openxmlformats.org/officeDocument/2006/relationships/slide" Target="slides/slide72.xml"  /><Relationship Id="rId75" Type="http://schemas.openxmlformats.org/officeDocument/2006/relationships/slide" Target="slides/slide73.xml"  /><Relationship Id="rId76" Type="http://schemas.openxmlformats.org/officeDocument/2006/relationships/presProps" Target="presProps.xml"  /><Relationship Id="rId77" Type="http://schemas.openxmlformats.org/officeDocument/2006/relationships/viewProps" Target="viewProps.xml"  /><Relationship Id="rId78" Type="http://schemas.openxmlformats.org/officeDocument/2006/relationships/theme" Target="theme/theme1.xml"  /><Relationship Id="rId79" Type="http://schemas.openxmlformats.org/officeDocument/2006/relationships/tableStyles" Target="tableStyles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2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3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4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5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6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7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8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9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0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2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3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4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5.xml"  /></Relationships>
</file>

<file path=ppt/notesSlides/_rels/notesSlide3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6.xml"  /></Relationships>
</file>

<file path=ppt/notesSlides/_rels/notesSlide3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7.xml"  /></Relationships>
</file>

<file path=ppt/notesSlides/_rels/notesSlide3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8.xml"  /></Relationships>
</file>

<file path=ppt/notesSlides/_rels/notesSlide3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9.xml"  /></Relationships>
</file>

<file path=ppt/notesSlides/_rels/notesSlide4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0.xml"  /></Relationships>
</file>

<file path=ppt/notesSlides/_rels/notesSlide4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1.xml"  /></Relationships>
</file>

<file path=ppt/notesSlides/_rels/notesSlide4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2.xml"  /></Relationships>
</file>

<file path=ppt/notesSlides/_rels/notesSlide4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3.xml"  /></Relationships>
</file>

<file path=ppt/notesSlides/_rels/notesSlide4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4.xml"  /></Relationships>
</file>

<file path=ppt/notesSlides/_rels/notesSlide4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5.xml"  /></Relationships>
</file>

<file path=ppt/notesSlides/_rels/notesSlide4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6.xml"  /></Relationships>
</file>

<file path=ppt/notesSlides/_rels/notesSlide4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7.xml"  /></Relationships>
</file>

<file path=ppt/notesSlides/_rels/notesSlide4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8.xml"  /></Relationships>
</file>

<file path=ppt/notesSlides/_rels/notesSlide4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9.xml"  /></Relationships>
</file>

<file path=ppt/notesSlides/_rels/notesSlide5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0.xml"  /></Relationships>
</file>

<file path=ppt/notesSlides/_rels/notesSlide5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1.xml"  /></Relationships>
</file>

<file path=ppt/notesSlides/_rels/notesSlide5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2.xml"  /></Relationships>
</file>

<file path=ppt/notesSlides/_rels/notesSlide5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3.xml"  /></Relationships>
</file>

<file path=ppt/notesSlides/_rels/notesSlide5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4.xml"  /></Relationships>
</file>

<file path=ppt/notesSlides/_rels/notesSlide5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5.xml"  /></Relationships>
</file>

<file path=ppt/notesSlides/_rels/notesSlide5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6.xml"  /></Relationships>
</file>

<file path=ppt/notesSlides/_rels/notesSlide5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7.xml"  /></Relationships>
</file>

<file path=ppt/notesSlides/_rels/notesSlide5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8.xml"  /></Relationships>
</file>

<file path=ppt/notesSlides/_rels/notesSlide5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9.xml"  /></Relationships>
</file>

<file path=ppt/notesSlides/_rels/notesSlide6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0.xml"  /></Relationships>
</file>

<file path=ppt/notesSlides/_rels/notesSlide6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1.xml"  /></Relationships>
</file>

<file path=ppt/notesSlides/_rels/notesSlide6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2.xml"  /></Relationships>
</file>

<file path=ppt/notesSlides/_rels/notesSlide6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3.xml"  /></Relationships>
</file>

<file path=ppt/notesSlides/_rels/notesSlide6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4.xml"  /></Relationships>
</file>

<file path=ppt/notesSlides/_rels/notesSlide6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5.xml"  /></Relationships>
</file>

<file path=ppt/notesSlides/_rels/notesSlide6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6.xml"  /></Relationships>
</file>

<file path=ppt/notesSlides/_rels/notesSlide6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7.xml"  /></Relationships>
</file>

<file path=ppt/notesSlides/_rels/notesSlide6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8.xml"  /></Relationships>
</file>

<file path=ppt/notesSlides/_rels/notesSlide6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9.xml"  /></Relationships>
</file>

<file path=ppt/notesSlides/_rels/notesSlide7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0.xml"  /></Relationships>
</file>

<file path=ppt/notesSlides/_rels/notesSlide7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1.xml"  /></Relationships>
</file>

<file path=ppt/notesSlides/_rels/notesSlide7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2.xml"  /></Relationships>
</file>

<file path=ppt/notesSlides/_rels/notesSlide7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1번 문제입니다. 데이터 모델의 개념을 묻고 있어요.
정답은 2번입니다. 데이터 모델은 현실 세계의 데이터 구조를 컴퓨터 세계의 데이터 구조로 기술하는 도구입니다.
핵심은 방향이에요. 현실 세계에서 컴퓨터 세계로 가는 것이지, 그 반대가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2번 문제입니다. 데이터 모델의 구성 요소를 묻고 있어요.
정답은 4번, 관계(relationship)입니다.
데이터 모델은 데이터 구조, 연산, 제약조건의 3가지로 구성됩니다. 관계는 개체-관계 모델의 요소이지 데이터 모델 자체의 구성 요소는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 문제입니다.
정답은 2번, 연산(operation)입니다.
연산은 데이터 구조에 따라 실제로 표현된 값들을 처리하는 작업을 의미합니다. 예를 들어 삽입, 삭제, 수정, 검색 등이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4번 문제입니다.
정답은 3번, 제약조건입니다.
데이터 모델의 구성 요소 세 가지를 순서대로 나열하면 데이터 구조, 연산, 제약조건입니다. 문장에서 이미 데이터 구조와 연산이 언급되었으므로 나머지는 제약조건이에요.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5번 문제입니다.
정답은 1번입니다.
데이터 모델이 가장 상위 개념이고, 모델에 따라 스키마가 정의되며, 스키마에 따라 인스턴스가 만들어집니다.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6번 문제입니다.
정답은 2번입니다.
개체-관계 모델은 개념적 데이터 모델입니다. 특정 DBMS에 종속되지 않고 독립적으로 현실 세계를 표현할 수 있어요. DBMS의 종류에 영향을 받는 것은 논리적 데이터 모델입니다.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7번 문제입니다.
정답은 3번입니다.
관계는 개체들 사이의 연관성을 의미합니다. 속성들 사이의 연관성이 아니에요. 이 부분을 혼동하지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8번 문제입니다.
정답은 4번입니다.
개체는 여러 개의 속성을 가질 수 있어요. 예를 들어 '학생' 개체는 학번, 이름, 학과 등 여러 속성을 가지죠.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9번 문제입니다.
정답은 2번, 속성입니다.
속성은 개체를 구성하는 가장 작은 단위예요. 파일 시스템 관점에서 보면 필드에 해당합니다.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10번 문제입니다.
정답은 2번, 개체 인스턴스입니다.
개체 타입은 구조(틀)이고, 개체 인스턴스는 그 틀에 실제 값이 들어간 것이에요.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11번 문제입니다.
정답은 2번, 1:n 관계입니다.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12번 문제입니다.
정답은 3번, n:m 관계입니다.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13번 문제입니다.
타원은 속성, 마름모는 관계, 사각형은 개체, 선은 개체와 속성/관계를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14번 문제입니다.
정답은 2번입니다.
속성은 삼각형이 아니라 타원으로 표현해요. E-R 다이어그램에서 삼각형은 기본 기호가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15번 문제입니다.
정답은 3번, 이중 타원입니다.
다중 값 속성은 하나의 개체가 여러 값을 가질 수 있는 속성이에요. 예를 들어 전화번호가 여러 개일 수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16번 문제입니다.
정답은 1번입니다.
개체는 사각형, 관계는 마름모로 표현해야 합니다. 나머지 보기들은 기호를 잘못 사용하고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17번 문제입니다.
정답은 3번입니다.
1:n 관계에서 n쪽인 환자는 1쪽인 의사 한 명에게만 관계를 맺을 수 있어요. 여러 의사에게 진료받으려면 n:m 관계여야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18번 문제입니다.
정답은 4번입니다.
부양가족은 약한 개체(이중 사각형)이므로 반드시 직원이 있어야만 존재할 수 있습니다. 직원 없는 부양가족은 불가능해요.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19번 문제입니다.
정답은 1번입니다.
개체-관계 모델은 개념적 데이터 모델이에요. 논리적 데이터 모델은 계층, 네트워크, 관계 데이터 모델입니다.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20번 문제입니다.
정답은 3번입니다.
논리적 데이터 모델은 DBMS에 맞는 논리적 구조를 표현합니다.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26번 서술형 문제입니다.
정답은 데이터 모델입니다.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27번 문제입니다. 정답은 Peter Chen입니다.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28번 문제입니다.
Ⓐ는 개체, Ⓑ는 속성, Ⓒ는 개체 타입입니다.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29번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30번 문제입니다. 정답은 개체-관계 다이어그램(E-R 다이어그램)입니다.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31번 문제입니다. E-R 다이어그램을 보고 각 요소를 찾는 문제예요.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32번 문제입니다.
약한 개체는 학부모, 강한 개체는 학생입니다.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33번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34번 문제입니다.
개념적 모델링과 논리적 모델링 두 단계로 나뉩니다.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35번 문제입니다.
n:m 관계로 E-R 다이어그램을 그리면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36번 문제입니다.
1:1 관계의 E-R 다이어그램입니다.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0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1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3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4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5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8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9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8.xml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9.xml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0.xml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1.xml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2.xml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3.xml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4.xml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5.xml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6.xml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7.xml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8.xml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9.xml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0.xml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1.xml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2.xml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3.xml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4.xml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5.xml"  /></Relationships>
</file>

<file path=ppt/slides/_rels/slide5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6.xml"  /></Relationships>
</file>

<file path=ppt/slides/_rels/slide5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7.xml"  /></Relationships>
</file>

<file path=ppt/slides/_rels/slide5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8.xml"  /></Relationships>
</file>

<file path=ppt/slides/_rels/slide5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9.xml"  /></Relationships>
</file>

<file path=ppt/slides/_rels/slide6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0.xml"  /></Relationships>
</file>

<file path=ppt/slides/_rels/slide6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1.xml"  /><Relationship Id="rId2" Type="http://schemas.openxmlformats.org/officeDocument/2006/relationships/slideLayout" Target="../slideLayouts/slideLayout1.xml"  /></Relationships>
</file>

<file path=ppt/slides/_rels/slide6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.png"  /></Relationships>
</file>

<file path=ppt/slides/_rels/slide6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.png"  /></Relationships>
</file>

<file path=ppt/slides/_rels/slide6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/Relationships>
</file>

<file path=ppt/slides/_rels/slide6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2.png"  /></Relationships>
</file>

<file path=ppt/slides/_rels/slide6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6.xml"  /></Relationships>
</file>

<file path=ppt/slides/_rels/slide6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7.xml"  /></Relationships>
</file>

<file path=ppt/slides/_rels/slide6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8.xml"  /></Relationships>
</file>

<file path=ppt/slides/_rels/slide6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9.xml"  /></Relationships>
</file>

<file path=ppt/slides/_rels/slide7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0.xml"  /><Relationship Id="rId2" Type="http://schemas.openxmlformats.org/officeDocument/2006/relationships/slideLayout" Target="../slideLayouts/slideLayout1.xml"  /></Relationships>
</file>

<file path=ppt/slides/_rels/slide7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3.png"  /></Relationships>
</file>

<file path=ppt/slides/_rels/slide7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2.xml"  /><Relationship Id="rId2" Type="http://schemas.openxmlformats.org/officeDocument/2006/relationships/slideLayout" Target="../slideLayouts/slideLayout1.xml"  /></Relationships>
</file>

<file path=ppt/slides/_rels/slide7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4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3A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H A P T E R   0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연습문제  &amp;  정답 / 해설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286000" cy="0"/>
          </a:xfrm>
          <a:prstGeom prst="line">
            <a:avLst/>
          </a:prstGeom>
          <a:noFill/>
          <a:ln w="25400">
            <a:solidFill>
              <a:srgbClr val="3AC5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74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박상돈 조교수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대전대학교 컴퓨터공학과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모델의 개념으로 가장 적절한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컴퓨터 세계의 데이터 구조를 현실 세계의 데이터 구조로 기술하는 도구다.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현실 세계의 데이터 구조를 컴퓨터 세계의 데이터 구조로 기술하는 도구다.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가상 세계의 데이터 구조를 현실 세계의 데이터 구조로 기술하는 도구다.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현실 세계의 특정한 한 부분을 표현한 것이다.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 / 36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모델의 개념으로 가장 적절한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컴퓨터 세계의 데이터 구조를 현실 세계의 데이터 구조로 기술하는 도구다.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현실 세계의 데이터 구조를 컴퓨터 세계의 데이터 구조로 기술하는 도구다.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가상 세계의 데이터 구조를 현실 세계의 데이터 구조로 기술하는 도구다.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현실 세계의 특정한 한 부분을 표현한 것이다.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모델은 현실 세계의 데이터를 컴퓨터 세계의 데이터베이스로 표현하기 위한 도구입니다. 방향이 '현실→컴퓨터'입니다.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1 / 36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모델의 구성 요소로 거리가 먼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구조 (data structure)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연산 (operation)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제약조건 (constraint)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관계 (relationship)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 / 36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모델의 구성 요소로 거리가 먼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구조 (data structure)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연산 (operation)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제약조건 (constraint)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관계 (relationship)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모델의 3가지 구성 요소: 데이터 구조, 연산, 제약조건입니다. '관계'는 구성 요소가 아닙니다.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 / 36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모델의 구성 요소 중 데이터 구조에 따라 실제로 표현된 값들을 처리하는 작업을 의미하는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구조 (data structure)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연산 (operation)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제약조건 (constraint)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관계 (relationship)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3 / 36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모델의 구성 요소 중 데이터 구조에 따라 실제로 표현된 값들을 처리하는 작업을 의미하는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구조 (data structure)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연산 (operation)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제약조건 (constraint)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관계 (relationship)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구조에 따라 값들을 처리하는 '작업'은 연산(operation)입니다. 삽입·삭제·수정·검색 등이 해당됩니다.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3 / 36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모델에 대한 다음 설명 중 빈칸에 적합한 것은?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"데이터 모델은 논리적인 데이터 구조, 데이터 구조에서 처리 가능한 연산, 데이터 구조와 연산에 대한 (    )을 구성 요소로 포함하고 있다."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468880"/>
            <a:ext cx="7498080" cy="164592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① 데이터 구조 (data structure)</a:t>
            </a:r>
            <a:endParaRPr 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연산 (operation)</a:t>
            </a:r>
            <a:endParaRPr 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제약조건 (constraint)</a:t>
            </a:r>
            <a:endParaRPr 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④ 관계 (relationship)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4 / 36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모델에 대한 다음 설명 중 빈칸에 적합한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 구조 (data structure)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연산 (operation)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제약조건 (constraint)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관계 (relationship)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모델의 3가지 구성 요소: 데이터 구조, 연산, 제약조건. 빈칸에는 '제약조건'이 들어갑니다.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4 / 36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모델, 스키마, 인스턴스 간의 관계를 그림으로 표현한다면 다음 중 적합한 것은?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5 / 36</a:t>
            </a:r>
            <a:endParaRPr lang="en-US" sz="10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0183" y="1516088"/>
            <a:ext cx="7703634" cy="212061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720183" y="3317336"/>
            <a:ext cx="249746" cy="319367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①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247109" y="3317336"/>
            <a:ext cx="249746" cy="319367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②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320198" y="3317336"/>
            <a:ext cx="249746" cy="319367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③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085124" y="3317336"/>
            <a:ext cx="249746" cy="319367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④</a:t>
            </a:r>
            <a:endParaRPr lang="ko-KR" altLang="en-US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모델, 스키마, 인스턴스 간의 관계를 그림으로 표현한다면 다음 중 적합한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60627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52067"/>
            <a:ext cx="8229600" cy="12091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252067"/>
            <a:ext cx="54864" cy="12091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43507"/>
            <a:ext cx="7680960" cy="146304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b7f5f"/>
                </a:solidFill>
                <a:latin typeface="맑은 고딕"/>
                <a:ea typeface="맑은 고딕"/>
                <a:cs typeface="맑은 고딕"/>
              </a:rPr>
              <a:t>해설</a:t>
            </a:r>
            <a:endParaRPr lang="en-US" sz="1400" b="1">
              <a:solidFill>
                <a:srgbClr val="1b7f5f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 모델에 따라 스키마가 정의되고, 스키마에 따라 인스턴스(실제 데이터)가 저장됩니다. 계층적 관계: 모델 → 스키마 → 인스턴스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5 / 36</a:t>
            </a:r>
            <a:endParaRPr lang="en-US" sz="10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08048" y="1207583"/>
            <a:ext cx="6430537" cy="177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모델에 대한 설명으로 옳지 않은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개체, 속성, 개체 간의 관계를 이용해 현실 세계를 개념적 구조로 표현한 방법이다.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사용하는 DBMS의 종류에 영향을 받는다.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1976년 Peter Chen이 제안하였다.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E-R 다이어그램을 통해 시각적으로 표현한다.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6 / 36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모델에 대한 설명으로 옳지 않은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개체, 속성, 개체 간의 관계를 이용해 현실 세계를 개념적 구조로 표현한 방법이다.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사용하는 DBMS의 종류에 영향을 받는다.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1976년 Peter Chen이 제안하였다.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E-R 다이어그램을 통해 시각적으로 표현한다.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모델은 개념적 데이터 모델로 DBMS에 독립적입니다. DBMS의 종류에 영향을 받지 않아요.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6 / 36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모델에 대한 설명으로 옳지 않은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개체는 현실 세계에서 개념적 또는 물리적으로 존재하는 구별 가능한 모든 것을 의미한다.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속성은 개체가 가지고 있는 고유의 특성이다.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관계는 속성들에 대한 연관성을 의미한다.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일대일(1:1), 일대다(1:n), 다대다(n:m) 관계를 모두 표현할 수 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7 / 36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모델에 대한 설명으로 옳지 않은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개체는 현실 세계에서 개념적 또는 물리적으로 존재하는 구별 가능한 모든 것을 의미한다.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속성은 개체가 가지고 있는 고유의 특성이다.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관계는 속성들에 대한 연관성을 의미한다.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일대일(1:1), 일대다(1:n), 다대다(n:m) 관계를 모두 표현할 수 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관계(relationship)는 '개체들 간의' 연관성이지, '속성들 간의' 연관성이 아닙니다.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7 / 36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중 개체에 대한 설명으로 옳지 않은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개체는 데이터베이스에 저장할 만한 중요한 데이터를 가지고 있는 현실 세계의 모든 대상을 의미한다.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개념적으로만 존재하는 대상도 개체가 될 수 있다.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개체는 다른 개체와 의미 있는 관계를 맺을 수 있다.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개체에는 단 하나의 속성만이 허용된다.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8 / 36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중 개체에 대한 설명으로 옳지 않은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개체는 데이터베이스에 저장할 만한 중요한 데이터를 가지고 있는 현실 세계의 모든 대상을 의미한다.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개념적으로만 존재하는 대상도 개체가 될 수 있다.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개체는 다른 개체와 의미 있는 관계를 맺을 수 있다.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개체에는 단 하나의 속성만이 허용된다.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개체는 여러 개의 속성을 가질 수 있습니다. 단 하나의 속성만 허용되는 것이 아닙니다.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8 / 36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데이터의 가장 작은 논리적 단위로서, 파일 구조에서 필드에 해당하는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속성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관계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인스턴스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9 / 36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데이터의 가장 작은 논리적 단위로서, 파일 구조에서 필드에 해당하는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속성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관계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인스턴스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속성(attribute)은 데이터의 가장 작은 논리적 단위이고, 파일 구조에서는 필드(field)에 해당합니다.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9 / 36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개체를 구성하고 있는 속성들이 실제로 값을 가지면서 실체화된 개체를 무엇이라 하는가?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 타입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개체 인스턴스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개체 집합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개체 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10 / 36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개체를 구성하고 있는 속성들이 실제로 값을 가지면서 실체화된 개체를 무엇이라 하는가?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 타입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개체 인스턴스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개체 집합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개체 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 타입의 속성들이 실제 값을 가져 실체화된 것이 개체 인스턴스입니다. 개체 인스턴스의 집합이 개체 집합입니다.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10 / 36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 집합 A의 각 인스턴스가 B의 인스턴스 여러 개와 관계를 맺을 수 있지만, B의 각 인스턴스는 A의 인스턴스 하나와만 관계를 맺을 수 있는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1:1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1:n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n:m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1:0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11 / 36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A의 각 인스턴스가 B의 여러 개와 관계, B의 각 인스턴스는 A의 하나와만 관계를 맺는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1:1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1:n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n:m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1:0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하나 → B 여러 개, B 하나 → A 하나 = 1:n (일대다) 관계입니다.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11 / 36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 집합 A의 각 인스턴스가 B의 인스턴스 여러 개와 관계를 맺을 수 있고, B의 각 인스턴스도 A의 인스턴스 여러 개와 관계를 맺을 수 있는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1:1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1:n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n:m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1:0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12 / 36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A도 여러 개, B도 여러 개와 관계를 맺을 수 있는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1:1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1:n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n:m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1:0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양쪽 모두 여러 개와 관계를 맺을 수 있으면 n:m (다대다) 관계입니다.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12 / 36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6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다이어그램의 구성 요소와 의미를 올바르게 연결하시오.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13 / 36</a:t>
            </a:r>
            <a:endParaRPr lang="en-US" sz="10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14156" y="1604210"/>
            <a:ext cx="1540841" cy="27939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38688" y="1746504"/>
            <a:ext cx="1152224" cy="2733776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7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lang="ko-KR" altLang="en-US" sz="17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개체</a:t>
            </a:r>
            <a:endParaRPr lang="ko-KR" altLang="en-US" sz="17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endParaRPr lang="ko-KR" altLang="en-US" sz="17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7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lang="ko-KR" altLang="en-US" sz="17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속성</a:t>
            </a:r>
            <a:endParaRPr lang="ko-KR" altLang="en-US" sz="17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endParaRPr lang="ko-KR" altLang="en-US" sz="17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7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lang="ko-KR" altLang="en-US" sz="17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관계</a:t>
            </a:r>
            <a:endParaRPr lang="ko-KR" altLang="en-US" sz="17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endParaRPr lang="ko-KR" altLang="en-US" sz="17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7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lang="ko-KR" altLang="en-US" sz="17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연결</a:t>
            </a:r>
            <a:endParaRPr lang="ko-KR" altLang="en-US" sz="17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7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E-R 다이어그램의 구성 요소와 의미를 올바르게 연결하시오.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57200" y="3642669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34110"/>
            <a:ext cx="8229600" cy="9478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734109"/>
            <a:ext cx="54864" cy="947887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25549"/>
            <a:ext cx="7680960" cy="856448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b7f5f"/>
                </a:solidFill>
                <a:latin typeface="맑은 고딕"/>
                <a:ea typeface="맑은 고딕"/>
                <a:cs typeface="맑은 고딕"/>
              </a:rPr>
              <a:t>해설</a:t>
            </a:r>
            <a:endParaRPr lang="en-US" sz="1400" b="1">
              <a:solidFill>
                <a:srgbClr val="1b7f5f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타원 → 속성, 마름모 → 관계, 사각형 → 개체, 선 → 연결. E-R 다이어그램의 기본 기호를 정확히 기</a:t>
            </a:r>
            <a:r>
              <a:rPr lang="ko-KR" alt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억</a:t>
            </a:r>
            <a:endParaRPr lang="ko-KR" alt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13 / 36</a:t>
            </a:r>
            <a:endParaRPr lang="en-US" sz="1000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93840" y="1096347"/>
            <a:ext cx="1348784" cy="244573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253940" y="1165859"/>
            <a:ext cx="961724" cy="2514599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lang="ko-KR" alt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개체</a:t>
            </a:r>
            <a:endParaRPr lang="ko-KR" alt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endParaRPr lang="ko-KR" alt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lang="ko-KR" alt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속성</a:t>
            </a:r>
            <a:endParaRPr lang="ko-KR" alt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endParaRPr lang="ko-KR" alt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lang="ko-KR" alt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관계</a:t>
            </a:r>
            <a:endParaRPr lang="ko-KR" alt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endParaRPr lang="ko-KR" alt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lang="ko-KR" alt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연결</a:t>
            </a:r>
            <a:endParaRPr lang="ko-KR" alt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6" name="선 15"/>
          <p:cNvCxnSpPr/>
          <p:nvPr/>
        </p:nvCxnSpPr>
        <p:spPr>
          <a:xfrm>
            <a:off x="2499561" y="1406692"/>
            <a:ext cx="862263" cy="541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선 16"/>
          <p:cNvCxnSpPr/>
          <p:nvPr/>
        </p:nvCxnSpPr>
        <p:spPr>
          <a:xfrm>
            <a:off x="2448928" y="2072939"/>
            <a:ext cx="922421" cy="498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선 17"/>
          <p:cNvCxnSpPr/>
          <p:nvPr/>
        </p:nvCxnSpPr>
        <p:spPr>
          <a:xfrm rot="5400000" flipH="1" flipV="1">
            <a:off x="2236319" y="1608171"/>
            <a:ext cx="1388746" cy="862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선 18"/>
          <p:cNvCxnSpPr/>
          <p:nvPr/>
        </p:nvCxnSpPr>
        <p:spPr>
          <a:xfrm flipV="1">
            <a:off x="2449429" y="3228880"/>
            <a:ext cx="912394" cy="105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다이어그램에서 사용되는 기호와 그 의미의 연결이 잘못된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사각형 – 개체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 – 속성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마름모 – 관계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선 – 개체와 속성을 연결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14 / 36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다이어그램에서 사용되는 기호와 그 의미의 연결이 잘못된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사각형 – 개체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 – 속성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마름모 – 관계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선 – 개체와 속성을 연결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속성은 '타원'으로 표현합니다. '삼각형'은 E-R 다이어그램의 기본 기호가 아닙니다.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14 / 36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0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다이어그램에서 다중 값 속성을 표현하기 위해 사용하는 기호는?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15 / 36</a:t>
            </a:r>
            <a:endParaRPr lang="en-US" sz="10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0731" y="1555402"/>
            <a:ext cx="6817897" cy="1222680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660731" y="2148840"/>
            <a:ext cx="344996" cy="319367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①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436863" y="2148840"/>
            <a:ext cx="344996" cy="319367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②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994481" y="2148840"/>
            <a:ext cx="344996" cy="319367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③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647348" y="2148840"/>
            <a:ext cx="344996" cy="319367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④</a:t>
            </a:r>
            <a:endParaRPr lang="ko-KR" altLang="en-US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1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다이어그램에서 다중 값 속성을 표현하기 위해 사용하는 기호는?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값 속성(multi-valued attribute)은 이중 타원으로 표현합니다. 밑줄 타원은 키 속성, 점선 타원은 유도 속성입니다.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15 / 36</a:t>
            </a:r>
            <a:endParaRPr lang="en-US" sz="10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7778" y="1225102"/>
            <a:ext cx="6732670" cy="12073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2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관객과 영화 개체 간의 예매 관계를 E-R 다이어그램으로 옳게 표현한 것은?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16 / 36</a:t>
            </a:r>
            <a:endParaRPr lang="en-US" sz="10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96928" y="1416242"/>
            <a:ext cx="3963114" cy="2516755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894848" y="1541044"/>
            <a:ext cx="472942" cy="2219426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000"/>
              <a:t>①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②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③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④</a:t>
            </a:r>
            <a:endParaRPr lang="ko-KR" altLang="en-US" sz="2000"/>
          </a:p>
        </p:txBody>
      </p:sp>
    </p:spTree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3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관객과 영화 개체 간의 예매 관계를 E-R 다이어그램으로 옳게 표현한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39753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731193"/>
            <a:ext cx="8229600" cy="10694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731193"/>
            <a:ext cx="54864" cy="106940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76913"/>
            <a:ext cx="7680960" cy="146304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b7f5f"/>
                </a:solidFill>
                <a:latin typeface="맑은 고딕"/>
                <a:ea typeface="맑은 고딕"/>
                <a:cs typeface="맑은 고딕"/>
              </a:rPr>
              <a:t>해설</a:t>
            </a:r>
            <a:endParaRPr lang="en-US" sz="1400" b="1">
              <a:solidFill>
                <a:srgbClr val="1b7f5f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개체는 사각형, 관계는 마름모, 연결은 선으로 표현합니다. ①번이 표준 E-R 다이어그램 기호를 올바르게 사용하고 있습니다.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16 / 36</a:t>
            </a:r>
            <a:endParaRPr lang="en-US" sz="10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96928" y="1031557"/>
            <a:ext cx="3963114" cy="2516755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894848" y="1156359"/>
            <a:ext cx="472942" cy="2223111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000">
                <a:solidFill>
                  <a:srgbClr val="ff0000"/>
                </a:solidFill>
              </a:rPr>
              <a:t>①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②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③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/>
              <a:t>④</a:t>
            </a:r>
            <a:endParaRPr lang="ko-KR" altLang="en-US" sz="2000"/>
          </a:p>
        </p:txBody>
      </p:sp>
    </p:spTree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4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309811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병원에서 의사와 환자의 관계를 표현한 E-R 다이어그램이다. 이에 대한 설명으로 옳지 않은 것은?</a:t>
            </a:r>
            <a:endParaRPr lang="en-US" sz="1500" b="1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457200" y="2706624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843784"/>
            <a:ext cx="7498080" cy="164592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① 의사 개체와 환자 개체는 일대다 관계다.</a:t>
            </a:r>
            <a:endParaRPr 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의사 한 명이 여러 명의 환자를 진료할 수 있다.</a:t>
            </a:r>
            <a:endParaRPr 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환자 한 명이 여러 명의 의사에게 진료를 받을 수 있다.</a:t>
            </a:r>
            <a:endParaRPr 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④ 의사는 반드시 환자를 진료해야 한다.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17 / 36</a:t>
            </a:r>
            <a:endParaRPr lang="en-US" sz="10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87065" y="1517431"/>
            <a:ext cx="6963277" cy="100631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5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의사-환자 E-R 다이어그램에서 옳지 않은 설명은?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1884"/>
            <a:ext cx="7863840" cy="128016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① 의사 개체와 환자 개체는 일대다 관계다.</a:t>
            </a:r>
            <a:endParaRPr lang="en-US" sz="1300">
              <a:solidFill>
                <a:srgbClr val="888888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② 의사 한 명이 여러 명의 환자를 진료할 수 있다.</a:t>
            </a:r>
            <a:endParaRPr lang="en-US" sz="1300">
              <a:solidFill>
                <a:srgbClr val="888888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400"/>
              </a:spcAft>
              <a:buNone/>
              <a:defRPr/>
            </a:pPr>
            <a:r>
              <a:rPr lang="en-US" sz="1300" b="1">
                <a:solidFill>
                  <a:srgbClr val="cc0000"/>
                </a:solidFill>
                <a:highlight>
                  <a:srgbClr val="ffd6d6"/>
                </a:highlight>
                <a:latin typeface="맑은 고딕"/>
                <a:ea typeface="맑은 고딕"/>
                <a:cs typeface="맑은 고딕"/>
              </a:rPr>
              <a:t>③ 환자 한 명이 여러 명의 의사에게 진료를 받을 수 있다.</a:t>
            </a:r>
            <a:endParaRPr lang="en-US" sz="1300" b="1">
              <a:solidFill>
                <a:srgbClr val="cc0000"/>
              </a:solidFill>
              <a:highlight>
                <a:srgbClr val="ffd6d6"/>
              </a:highlight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④ 의사는 반드시 환자를 진료해야 한다.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8229600" cy="11446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566160"/>
            <a:ext cx="54864" cy="11446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7680960" cy="146304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b7f5f"/>
                </a:solidFill>
                <a:latin typeface="맑은 고딕"/>
                <a:ea typeface="맑은 고딕"/>
                <a:cs typeface="맑은 고딕"/>
              </a:rPr>
              <a:t>해설</a:t>
            </a:r>
            <a:endParaRPr lang="en-US" sz="1400" b="1">
              <a:solidFill>
                <a:srgbClr val="1b7f5f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의사:환자 = 1:n이므로 환자 한 명은 의사 한 명에게만 진료를 받습니다. 여러 의사에게 진료받는 것은 n:m 관계일 때 가능합니다.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17 / 36</a:t>
            </a:r>
            <a:endParaRPr lang="en-US" sz="10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2203" y="1138526"/>
            <a:ext cx="6696796" cy="96780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6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3464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971800"/>
            <a:ext cx="7498080" cy="164592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① 직원 개체와 부양가족 개체는 일대다 관계다.</a:t>
            </a:r>
            <a:endParaRPr 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② 부양가족 개체는 독자적으로 존재할 수 없고 직원 개체에 종속되어 있다.</a:t>
            </a:r>
            <a:endParaRPr 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③ 한 명의 직원이 여러 부양가족을 부양할 수 있고, 부양가족이 없는 직원도 있을 수 있다.</a:t>
            </a:r>
            <a:endParaRPr lang="en-US" sz="14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④ 부양가족은 한 명의 직원이 부양하거나, 부양하는 직원이 없을 수도 있다.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18 / 36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회사에서 직원과 부양가족의 관계를 표현한 E-R 다이어그램이다. 설명으로 옳지 않은 것은?</a:t>
            </a:r>
            <a:endParaRPr lang="en-US" sz="1500" b="1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50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74658" y="1546758"/>
            <a:ext cx="5594682" cy="97337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7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직원-부양가족 E-R 다이어그램에서 옳지 않은 설명은?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74307"/>
            <a:ext cx="7863840" cy="128016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① 직원 개체와 부양가족 개체는 일대다 관계다.</a:t>
            </a:r>
            <a:endParaRPr lang="en-US" sz="1300">
              <a:solidFill>
                <a:srgbClr val="888888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② 부양가족 개체는 독자적으로 존재할 수 없고 직원 개체에 종속되어 있다.</a:t>
            </a:r>
            <a:endParaRPr lang="en-US" sz="1300">
              <a:solidFill>
                <a:srgbClr val="888888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③ 한 명의 직원이 여러 부양가족을 부양할 수 있고, 부양가족이 없는 직원도 있을 수 있다.</a:t>
            </a:r>
            <a:endParaRPr lang="en-US" sz="1300">
              <a:solidFill>
                <a:srgbClr val="888888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spcAft>
                <a:spcPts val="400"/>
              </a:spcAft>
              <a:buNone/>
              <a:defRPr/>
            </a:pPr>
            <a:r>
              <a:rPr lang="en-US" sz="1300" b="1">
                <a:solidFill>
                  <a:srgbClr val="cc0000"/>
                </a:solidFill>
                <a:highlight>
                  <a:srgbClr val="ffd6d6"/>
                </a:highlight>
                <a:latin typeface="맑은 고딕"/>
                <a:ea typeface="맑은 고딕"/>
                <a:cs typeface="맑은 고딕"/>
              </a:rPr>
              <a:t>④ 부양가족은 한 명의 직원이 부양하거나, 부양하는 직원이 없을 수도 있다.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57200" y="3433291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24731"/>
            <a:ext cx="8229600" cy="11295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524731"/>
            <a:ext cx="54864" cy="11295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16171"/>
            <a:ext cx="7680960" cy="980372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b7f5f"/>
                </a:solidFill>
                <a:latin typeface="맑은 고딕"/>
                <a:ea typeface="맑은 고딕"/>
                <a:cs typeface="맑은 고딕"/>
              </a:rPr>
              <a:t>해설</a:t>
            </a:r>
            <a:endParaRPr lang="en-US" sz="1400" b="1">
              <a:solidFill>
                <a:srgbClr val="1b7f5f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부양가족은 약한 개체이므로 반드시 강한 개체(직원)가 존재해야 합니다. 부양하는 직원이 없는 부양가족은 존재할 수 없습니다.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100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4장 연습문제  |  정답 18 / 36</a:t>
            </a:r>
            <a:endParaRPr lang="en-US" sz="100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74658" y="1130667"/>
            <a:ext cx="5594682" cy="97337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19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데이터 모델에 해당하지 않는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개체-관계 데이터 모델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계층 데이터 모델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네트워크 데이터 모델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관계 데이터 모델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19 / 36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19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데이터 모델에 해당하지 않는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개체-관계 데이터 모델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계층 데이터 모델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네트워크 데이터 모델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관계 데이터 모델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모델(E-R 모델)은 개념적 데이터 모델입니다. 계층, 네트워크, 관계 모델이 논리적 데이터 모델에 해당합니다.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19 / 36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데이터 모델에 대한 설명으로 적합한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사용하는 DBMS의 종류에 영향을 받지 않는다.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대표적인 논리적 데이터 모델은 개체-관계 모델이다.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데이터베이스의 논리적 구조를 표현한다.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현실 세계를 사람이 이해할 수 있도록 개념적으로 표현한다.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20 / 36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데이터 모델에 대한 설명으로 적합한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사용하는 DBMS의 종류에 영향을 받지 않는다.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대표적인 논리적 데이터 모델은 개체-관계 모델이다.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데이터베이스의 논리적 구조를 표현한다.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현실 세계를 사람이 이해할 수 있도록 개념적으로 표현한다.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데이터 모델은 DBMS에 종속적이며 데이터베이스의 논리적 구조를 표현합니다. ①④는 개념적 모델, ②는 틀린 설명입니다.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20 / 36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데이터 모델은 데이터베이스의 논리적 구조가 어떤 형태인가?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트리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그래프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테이블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리스트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21 / 36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데이터 모델의 논리적 구조 형태는?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트리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그래프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테이블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리스트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데이터 모델은 트리(tree) 형태로 데이터베이스의 논리적 구조를 표현합니다.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21 / 36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데이터 모델에 대한 설명으로 옳지 않은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데이터베이스의 논리적 구조를 트리 형태로 표현한다.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부모 개체와 자식 개체는 일대일의 관계다.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다대다의 관계를 직접 표현할 수 없다.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사이클이 존재하지 않는다.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22 / 36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데이터 모델에 대한 설명으로 옳지 않은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트리 형태로 표현한다.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부모-자식은 일대일 관계다.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다대다 관계를 직접 표현할 수 없다.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사이클이 존재하지 않는다.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데이터 모델에서 부모-자식은 1:n(일대다) 관계입니다. 일대일이 아닙니다.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22 / 36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데이터 모델은 데이터베이스의 논리적 구조가 어떤 형태인가?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트리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그래프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테이블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리스트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23 / 36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데이터 모델의 논리적 구조 형태는?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트리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그래프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테이블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리스트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데이터 모델은 그래프(graph) 형태로 논리적 구조를 표현합니다.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23 / 36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데이터 모델에 대한 설명으로 옳지 않은 것은?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데이터베이스의 논리적 구조를 그래프 형태로 표현한다.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일대일, 일대다, 다대다의 관계를 모두 직접 표현할 수 있다.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오너 개체와 멤버 개체가 존재한다.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개체 간의 관계를 여러 개 정의할 수 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24 / 36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데이터 모델에 대한 설명으로 옳지 않은 것은?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그래프 형태로 표현한다.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1:1, 1:n, n:m 모두 직접 표현 가능하다.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오너-멤버 개체가 존재한다.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관계를 여러 개 정의할 수 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데이터 모델에서도 다대다(n:m) 관계는 직접 표현할 수 없습니다. 두 개의 1:n 관계로 분해해야 합니다.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24 / 36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데이터 모델과 네트워크 데이터 모델의 가장 큰 차이는 무엇인가?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개체를 표현하는 방법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속성을 표현하는 방법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관계를 표현하는 방법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데이터를 저장하는 방법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25 / 36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데이터 모델과 네트워크 데이터 모델의 가장 큰 차이는?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개체를 표현하는 방법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속성을 표현하는 방법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highlight>
                  <a:srgbClr val="FFD6D6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관계를 표현하는 방법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데이터를 저장하는 방법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차이는 관계의 표현 방법입니다. 계층은 트리(1:n만), 네트워크는 그래프(1:1, 1:n 등 다양) 형태입니다.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25 / 36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 세계에 존재하는 데이터를 컴퓨터 세계의 데이터베이스로 변환하는 데이터 모델링의 결과물을 표현하는 도구를 무엇이라 하는가?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26 / 36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모델링의 결과물을 표현하는 도구를 무엇이라 하는가?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모델링은 현실 세계에 존재하는 데이터를 컴퓨터 세계의 데이터베이스로 옮기는 변환 과정을 의미합니다. 데이터 모델은 데이터 모델링의 결과물을 표현하는 도구입니다.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26 / 36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모델을 제안한 사람은 누구인가?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27 / 36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모델을 제안한 사람은?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Peter Chen (피터 첸)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1976년에 개체-관계 모델(E-R 모델)을 제안하였습니다.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27 / 36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설명에서 Ⓐ, Ⓑ, Ⓒ의 빈칸을 적절히 채우시오.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(Ⓐ)는 현실 세계에서 어떤 조직을 운영하는 데 꼭 필요한 사람, 사물과 같이 구별되는 모든 것을 의미한다. 그리고 (Ⓐ)가 가지고 있는 고유의 특성을 (Ⓑ)라 하고, (Ⓐ)를 고유의 이름과 (Ⓑ)를 가지고 정의한 것을 (Ⓒ)라고 한다.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28 / 36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Ⓐ, Ⓑ, Ⓒ의 빈칸을 채우시오.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: 개체 (Entity)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 : 속성 (Attribute)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Ⓒ : 개체 타입 (Entity Type)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개체는 구별 가능한 현실 세계의 대상, 속성은 개체의 고유 특성, 개체 타입은 이름과 속성으로 정의한 것입니다.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28 / 36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29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속성은 다양한 기준으로 분류할 수 있다. 각 설명이 의미하는 속성이 무엇인지 알맞게 고르시오.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단일 값 속성  ② 다중 값 속성  ③ 단순 속성  ④ 복합 속성  ⑤ 유도 속성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여러 개의 더 작은 의미로 분해가 가능한 속성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다른 속성의 값으로부터 새롭게 유도되어 결정되는 속성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E-R 다이어그램에서 이중 타원으로 표현되는 속성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의미를 더는 분해할 수 없는 속성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29 / 36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29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 분류 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④ 복합 속성 - 여러 개의 작은 의미로 분해 가능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⑤ 유도 속성 - 다른 속성으로부터 유도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② 다중 값 속성 - 이중 타원으로 표현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③ 단순 속성 - 더 이상 분해 불가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29 / 36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30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모델을 이용해 현실 세계를 개념적으로 모델링하여 개체, 속성, 개체 간의 관계를 그림으로 표현한 것을 무엇이라 하는가?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30 / 36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1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30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개체, 속성, 관계를 그림으로 표현한 것은?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다이어그램 (E-R 다이어그램)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다이어그램은 개체-관계 모델을 시각적으로 표현한 것으로, 개체는 사각형, 속성은 타원, 관계는 마름모, 연결은 선으로 나타냅니다.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30 / 36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2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31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다음 E-R 다이어그램을 보고 각 </a:t>
            </a:r>
            <a:r>
              <a:rPr lang="ko-KR" altLang="en-US"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번호에서 묻는 것이 무엇인지 나열하시오</a:t>
            </a:r>
            <a:r>
              <a:rPr lang="en-US"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lang="en-US" sz="1500" b="1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br>
              <a:rPr lang="ko-KR" altLang="en-US"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</a:br>
            <a:r>
              <a:rPr lang="en-US"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(1) 개체  (2) 단순 속성  (3) 복합 속성  (4) 다중 값 속성  (5) 키 속성  (6) 관계</a:t>
            </a:r>
            <a:endParaRPr lang="en-US" sz="1500" b="1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31 / 36</a:t>
            </a:r>
            <a:endParaRPr lang="en-US" sz="10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9100" y="1996440"/>
            <a:ext cx="83058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3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31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 다이어그램 분석 (사원-소속-부서)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63916"/>
            <a:ext cx="8229600" cy="18909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863916"/>
            <a:ext cx="54864" cy="1890963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41921"/>
            <a:ext cx="7680960" cy="1736688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b7f5f"/>
                </a:solidFill>
                <a:latin typeface="맑은 고딕"/>
                <a:ea typeface="맑은 고딕"/>
                <a:cs typeface="맑은 고딕"/>
              </a:rPr>
              <a:t>정답</a:t>
            </a:r>
            <a:endParaRPr lang="en-US" sz="1400" b="1">
              <a:solidFill>
                <a:srgbClr val="1b7f5f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(1) 개체: 사원, 부서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(2) 단순 속성: 이름, 발령일자, 부서명, 위치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(3) 복합 속성: 주소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(4) 다중 값 속성: 자격증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(5) 키 속성: 사원번호, 부서명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(6) 관계: 소속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31 / 36</a:t>
            </a:r>
            <a:endParaRPr lang="en-US" sz="10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02175" y="1054548"/>
            <a:ext cx="5739650" cy="168503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4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32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다음 E-R 다이어그램을 보고 각 물음에 답하시오.</a:t>
            </a:r>
            <a:endParaRPr lang="en-US" sz="1500" b="1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500" b="1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(1) 다른 개체의 존재 여부에 의존적인 개체와 이름</a:t>
            </a:r>
            <a:endParaRPr lang="en-US" sz="1500" b="1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500" b="1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5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(2) 다른 개체의 존재 여부를 결정하는 개체와 이름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32 / 36</a:t>
            </a:r>
            <a:endParaRPr lang="en-US" sz="10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88469" y="2818459"/>
            <a:ext cx="7367062" cy="99171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5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32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학생-보호-학부모 E-R 다이어그램 분석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95550"/>
            <a:ext cx="8229600" cy="17310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495550"/>
            <a:ext cx="54864" cy="173108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86989"/>
            <a:ext cx="7680960" cy="1548204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b7f5f"/>
                </a:solidFill>
                <a:latin typeface="맑은 고딕"/>
                <a:ea typeface="맑은 고딕"/>
                <a:cs typeface="맑은 고딕"/>
              </a:rPr>
              <a:t>정답</a:t>
            </a:r>
            <a:endParaRPr lang="en-US" sz="1400" b="1">
              <a:solidFill>
                <a:srgbClr val="1b7f5f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(1) 약한 개체: 학부모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  - 다른 개체(학생)의 존재 여부에 의존적인 개체입니다.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(2) 강한 개체: 학생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  - 다른 개체(학부모)의 존재 여부를 결정하는 개체입니다.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32 / 36</a:t>
            </a:r>
            <a:endParaRPr lang="en-US" sz="10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95500" y="1554480"/>
            <a:ext cx="495300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33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모델링과 데이터 모델이 무엇인지 설명하시오.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33 / 36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33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모델링과 데이터 모델이 무엇인지 설명하시오.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모델링은 현실 세계에 존재하는 데이터를 컴퓨터 세계의 데이터베이스로 옮기는 변환 과정을 의미합니다.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모델은 데이터 모델링의 결과물을 표현하는 도구를 의미합니다.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33 / 36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34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 과정을 두 단계로 나누어 설명하시오.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34 / 36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34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 과정을 두 단계로 나누어 설명하시오.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2743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7F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개념적 모델링: 현실 세계의 중요한 데이터를 추출하여 개념 세계로 옮기는 작업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논리적 모델링: 개념 세계의 데이터를 어떤 구조로 데이터베이스에 저장할 것인지를 미리 결정하고 그에 따른 구조로 표현하는 작업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34 / 36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0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35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개체와 이벤트 개체 간의 참여 관계가 있고, 고객 한 명이 여러 이벤트에 참여할 수 있으며, 이벤트 하나에 여러 고객이 참여할 수 있다고 할 때 이 내용을 E-R 다이어그램으로 표현하시오.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35 / 36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1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35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고객-이벤트 E-R 다이어그램을 그리시오.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70773"/>
            <a:ext cx="8229600" cy="15419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270773"/>
            <a:ext cx="54864" cy="1541929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62213"/>
            <a:ext cx="7680960" cy="1392666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b7f5f"/>
                </a:solidFill>
                <a:latin typeface="맑은 고딕"/>
                <a:ea typeface="맑은 고딕"/>
                <a:cs typeface="맑은 고딕"/>
              </a:rPr>
              <a:t>정답</a:t>
            </a:r>
            <a:endParaRPr lang="en-US" sz="1400" b="1">
              <a:solidFill>
                <a:srgbClr val="1b7f5f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고객(n) ─ 참여 ─ (m)이벤트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고객과 이벤트는 n:m(다대다) 관계입니다.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고객은 사각형, 이벤트는 사각형, 참여는 마름모로 표현하고 선으로 연결합니다.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35 / 36</a:t>
            </a:r>
            <a:endParaRPr lang="en-US" sz="10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3412" y="1680479"/>
            <a:ext cx="7877174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2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AC5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36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AC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내용을 읽고 E-R 다이어그램으로 표현하시오.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428750"/>
            <a:ext cx="8229600" cy="228600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96390"/>
            <a:ext cx="7680960" cy="210312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학생 개체와 학생증 개체는 발급 관계가 있다.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학생 개체는 학번과 이름 속성을 가지고 있다. 이 중에서 학번이 키 속성이다.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학생증 개체는 키 속성인 발급번호 속성만 가지고 있다.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발급 관계는 발급날짜 속성을 가지고 있다.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• 학생 한 명은 한 개의 학생증만 발급받을 수 있고, 학생증도 한 명의 학생에게만 발급될 수 있다.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문제 36 / 36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3">
    <p:bg>
      <p:bgPr shadeToTitle="0">
        <a:solidFill>
          <a:srgbClr val="e4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7F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36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&amp; 해설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학생-학생증 발급 E-R 다이어그램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022450"/>
            <a:ext cx="8229600" cy="17324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022450"/>
            <a:ext cx="54864" cy="1732429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13890"/>
            <a:ext cx="7680960" cy="1510328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1b7f5f"/>
                </a:solidFill>
                <a:latin typeface="맑은 고딕"/>
                <a:ea typeface="맑은 고딕"/>
                <a:cs typeface="맑은 고딕"/>
              </a:rPr>
              <a:t>정답</a:t>
            </a:r>
            <a:endParaRPr lang="en-US" sz="1400" b="1">
              <a:solidFill>
                <a:srgbClr val="1b7f5f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학생(1) ─ 발급 ─ (1)학생증  → 1:1 관계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endParaRPr lang="en-US" sz="1400"/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학생: 학번(키), 이름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학생증: 발급번호(키)</a:t>
            </a:r>
            <a:endParaRPr lang="en-US" sz="1300">
              <a:solidFill>
                <a:srgbClr val="222222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30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발급 관계: 발급날짜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502920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연습문제  |  정답 36 / 36</a:t>
            </a:r>
            <a:endParaRPr lang="en-US" sz="10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76229" y="1194783"/>
            <a:ext cx="6191541" cy="15997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2972</ep:Words>
  <ep:PresentationFormat>On-screen Show (16:9)</ep:PresentationFormat>
  <ep:Paragraphs>663</ep:Paragraphs>
  <ep:Slides>73</ep:Slides>
  <ep:Notes>73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73</vt:i4>
      </vt:variant>
    </vt:vector>
  </ep:HeadingPairs>
  <ep:TitlesOfParts>
    <vt:vector size="7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2026-03-28T08:09:37.000</dcterms:created>
  <dc:creator>박상돈</dc:creator>
  <cp:lastModifiedBy>Sayberry</cp:lastModifiedBy>
  <dcterms:modified xsi:type="dcterms:W3CDTF">2026-03-28T12:21:13.431</dcterms:modified>
  <cp:revision>36</cp:revision>
  <dc:subject>PptxGenJS Presentation</dc:subject>
  <dc:title>4장 데이터 모델링 연습문제 &amp; 정답/해설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