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83" r:id="rId23"/>
    <p:sldId id="284" r:id="rId22"/>
    <p:sldId id="273" r:id="rId19"/>
    <p:sldId id="274" r:id="rId20"/>
    <p:sldId id="275" r:id="rId21"/>
    <p:sldId id="285" r:id="rId18"/>
    <p:sldId id="286" r:id="rId34"/>
    <p:sldId id="288" r:id="rId36"/>
    <p:sldId id="289" r:id="rId37"/>
    <p:sldId id="287" r:id="rId35"/>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22.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18.xml"/><Relationship Id="rId23" Type="http://schemas.openxmlformats.org/officeDocument/2006/relationships/slide" Target="slides/slide17.xml"/><Relationship Id="rId24" Type="http://schemas.openxmlformats.org/officeDocument/2006/relationships/slide" Target="slides/slide27.xml"/><Relationship Id="rId25" Type="http://schemas.openxmlformats.org/officeDocument/2006/relationships/slide" Target="slides/slide28.xml"/><Relationship Id="rId26" Type="http://schemas.openxmlformats.org/officeDocument/2006/relationships/slide" Target="slides/slide29.xml"/><Relationship Id="rId27" Type="http://schemas.openxmlformats.org/officeDocument/2006/relationships/slide" Target="slides/slide30.xml"/><Relationship Id="rId28" Type="http://schemas.openxmlformats.org/officeDocument/2006/relationships/slide" Target="slides/slide31.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23.xml"/><Relationship Id="rId35" Type="http://schemas.openxmlformats.org/officeDocument/2006/relationships/slide" Target="slides/slide26.xml"/><Relationship Id="rId36" Type="http://schemas.openxmlformats.org/officeDocument/2006/relationships/slide" Target="slides/slide24.xml"/><Relationship Id="rId37"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(학생들이 자리 잡는 동안 이 화면을 띄워 두고 정시에 시작합니다. 시작 전에 "구글 계정 준비된 사람 손" 한 번 확인.)</a:t>
            </a:r>
          </a:p>
          <a:p/>
          <a:p>
            <a:r>
              <a:rPr lang="ko-KR"/>
              <a:t>2강 시작하겠습니다. 지난주에 노트북에 작업대를 만들었죠. Python, VS Code, Git, GitHub까지. 오늘은 그 작업대 위에 드디어 AI를 얹습니다.</a:t>
            </a:r>
          </a:p>
          <a:p/>
          <a:p>
            <a:r>
              <a:rPr lang="ko-KR"/>
              <a:t>오늘은 두 가지를 합니다. 앞부분에서는 소프트웨어를 만드는 '순서와 방식', 즉 개발 프로세스 모델을 다룹니다. 폭포수, 반복적 모델, 애자일, 이름은 들어 봤을 텐데, 오늘은 각 방식이 어떤 상황에 맞는지 스스로 판단할 수 있는 수준까지 갑니다. 우리 팀 프로젝트를 어떤 방식으로 굴릴지도 오늘 정해집니다.</a:t>
            </a:r>
          </a:p>
          <a:p/>
          <a:p>
            <a:r>
              <a:rPr lang="ko-KR"/>
              <a:t>뒷부분은 실습입니다. Gemini API 키를 발급받고(API 키가 뭔지는 그때 다시 설명합니다) 그 키를 환경변수라는 안전한 곳에 넣고, VS Code에 Cline이라는 AI 에이전트를 붙여서 첫 지시까지 내려 봅니다. 수업 끝날 때쯤이면 여러분이 한국어로 "이런 파일 만들어 줘"라고 치면 AI가 실제로 파일을 만들어 주는 걸 보게 됩니다.</a:t>
            </a:r>
          </a:p>
          <a:p/>
          <a:p>
            <a:r>
              <a:rPr lang="ko-KR"/>
              <a:t>구글 계정 다들 준비되셨죠? 없는 사람은 지금 바로 gmail.com에서 하나 만드세요, 5분이면 됩니다. 그럼 시작합니다.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지난 시간을 세 줄로 요약하면 왼쪽과 같습니다. 첫째, 소프트웨어공학은 '만드는 과정'의 학문이고, 큰 사고는 늘 과정에서 왔습니다. Therac-25, Ariane 5, Knight Capital 기억나죠. 둘째, 구현이 자동화될수록 정의·설계·검증·책임이라는 사람의 몫이 커집니다. 셋째, 여러분 노트북에는 이제 작업대가 준비됐습니다.</a:t>
            </a:r>
          </a:p>
          <a:p/>
          <a:p>
            <a:r>
              <a:rPr lang="ko-KR"/>
              <a:t>오늘 흐름은 세 부분입니다. 1부에서 프로세스 모델 세 가지를 비교하고, 2부에서 팀 프로젝트 내내 쓸 애자일 용어를 정리하고, 3부 실습에서 AI를 연결합니다.</a:t>
            </a:r>
          </a:p>
          <a:p/>
          <a:p>
            <a:r>
              <a:rPr lang="ko-KR"/>
              <a:t>이번 주 성취 기준은 세 가지입니다. 첫째, 폭포수·반복·애자일 모델의 특징과 장단점을 비교해서 설명할 수 있다. 둘째, 어떤 프로젝트 상황이 주어졌을 때 맞는 방식을 고르고 그 이유를 말할 수 있다. 이게 시험에 나오는 형태입니다. 셋째, API 키를 발급받아 안전하게 설정하고 AI 도구를 연결해서 동작을 확인할 수 있다. 오늘도 마지막 항목은 전원 완료가 목표입니다.</a:t>
            </a:r>
          </a:p>
          <a:p/>
          <a:p>
            <a:r>
              <a:rPr lang="ko-KR"/>
              <a:t>(지난주 hello-sw 저장소 주소 제출 안 한 사람이 있으면 여기서 한 번 더 안내합니다.)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1부, 개발 프로세스 모델입니다. 프로세스 모델이라는 말이 거창하게 들리는데, 그냥 "어떤 순서로, 어떤 방식으로 만들 것인가"에 대한 틀입니다.</a:t>
            </a:r>
          </a:p>
          <a:p/>
          <a:p>
            <a:r>
              <a:rPr lang="ko-KR"/>
              <a:t>지난주에 과정이 무너지면 사고가 난다고 했죠. 그럼 그 과정을 어떻게 짤 것인가, 그게 오늘 1부 주제입니다. 역사적으로 답이 세 번 크게 바뀌었고, 그 세 답을 하나씩 봅니다.</a:t>
            </a:r>
          </a:p>
          <a:p/>
          <a:p>
            <a:r>
              <a:rPr lang="ko-KR"/>
              <a:t>(약 25분 예상.)</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프로세스 모델의 정의는 간단합니다. 소프트웨어를 만드는 활동들(요구를 정리하고, 설계하고, 코드를 만들고, 테스트하고) 그 활동들의 순서와 방식을 정해 둔 틀, 그리고 그것에 대한 팀의 합의입니다. 무엇을 먼저 하고, 언제 확인하고, 요구가 바뀌면 어떻게 대응할지에 대한 약속이라고 보면 됩니다.</a:t>
            </a:r>
          </a:p>
          <a:p/>
          <a:p>
            <a:r>
              <a:rPr lang="ko-KR"/>
              <a:t>왜 필요한지는 집 짓기로 생각하면 쉽습니다. 왼쪽 카드, 설계도 없이 벽부터 올리면 다 짓고 나서야 "현관이 없네요"를 발견합니다. 순서가 틀리면 그 대가는 나중에, 훨씬 비싸게 치릅니다. 벽을 허물어야 하니까요. 오른쪽 카드, 네 명이 각자 자기 순서대로 지으면 지붕 팀은 기둥이 없어서 기다리고, 기둥 팀은 지붕 팀이 자리를 차지해서 충돌합니다. 그래서 순서는 개인의 취향이 아니라 팀 전체의 합의여야 합니다.</a:t>
            </a:r>
          </a:p>
          <a:p/>
          <a:p>
            <a:r>
              <a:rPr lang="ko-KR"/>
              <a:t>소프트웨어 역사에서 이 '순서'에 대한 답이 크게 세 번 바뀌었습니다. 폭포수, 반복적 모델, 애자일 순서로 하나씩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첫 번째, 폭포수 모델입니다. 가장 오래되고 가장 직관적인 방식이죠. 화면의 계단을 보세요. 요구분석에서 무엇을 만들지 완전히 확정하고, 설계에서 구조와 화면을 다 정하고, 구현해서 코드로 만들고, 테스트로 요구대로인지 검증하고, 유지보수로 넘어갑니다.</a:t>
            </a:r>
          </a:p>
          <a:p/>
          <a:p>
            <a:r>
              <a:rPr lang="ko-KR"/>
              <a:t>핵심 성질은 두 가지입니다. 첫째, 각 단계를 '완전히' 끝낸 다음에야 다음 단계로 갑니다. 요구분석이 끝나야 설계를 시작하는 식이죠. 둘째, 단계 사이는 문서로 인수인계합니다. 요구분석의 결과물인 '요구사항 명세서'가 설계의 입력이 되고, 설계서가 구현의 입력이 되는 식입니다.</a:t>
            </a:r>
          </a:p>
          <a:p/>
          <a:p>
            <a:r>
              <a:rPr lang="ko-KR"/>
              <a:t>이름이 왜 폭포수냐면, 물이 아래로만 흐르고 거슬러 오르지 않듯이, 앞 단계로 되돌아가는 것을 전제하지 않기 때문입니다. 이 성질이 장점이자 동시에 치명적인 단점이 되는데, 다음 장에서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폭포수의 빛과 그림자입니다.</a:t>
            </a:r>
          </a:p>
          <a:p/>
          <a:p>
            <a:r>
              <a:rPr lang="ko-KR"/>
              <a:t>왼쪽, 장점은 명확함입니다. 단계와 산출물이 뚜렷하니 "지금 우리는 설계 단계, 다음 주엔 구현 시작"처럼 계획과 일정을 세우기 쉽고, 역할 분담도 쉽습니다. 문서가 다 남으니 사람이 바뀌어도 인수인계가 되고, 외부에서 제대로 만들었는지 검사하는 '감리'에도 강합니다. 그래서 요구가 처음부터 확정되는 프로젝트, 예를 들어 규제가 강한 안전 필수 시스템(항공기, 의료기기, 원전)에서는 지금도 씁니다.</a:t>
            </a:r>
          </a:p>
          <a:p/>
          <a:p>
            <a:r>
              <a:rPr lang="ko-KR"/>
              <a:t>오른쪽, 문제는 피드백이 늦다는 겁니다. 고객이 동작하는 소프트웨어를 처음 보는 게 맨 마지막 단계예요. 6개월 만들었는데 그때 "이게 아니에요"라는 말이 나오면 재앙입니다. 그리고 중간에 요구가 바뀌면 요구분석부터 다시 열어야 하니 변경 비용이 폭탄이 됩니다.</a:t>
            </a:r>
          </a:p>
          <a:p/>
          <a:p>
            <a:r>
              <a:rPr lang="ko-KR"/>
              <a:t>결국 폭포수의 숨은 전제는 "처음에 요구를 완벽히 알 수 있다"인데, 현실에서 그런 프로젝트는 생각보다 드뭅니다. 여러분도 앱을 쓰다 보면 "이런 기능도 있었으면" 하고 나중에 생각나죠. 그 전제를 버린 것이 다음 모델입니다.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두 번째, 반복적 모델입니다. 발상의 전환은 간단합니다. 한 번에 전부 만들지 말고, 계획 → 개발 → 확인 → 피드백의 작은 바퀴를 여러 번 굴리자. 위쪽 그림처럼요. 이러면 '확인'이 프로젝트 끝이 아니라 매 바퀴마다 오니까, "이게 아니에요"를 훨씬 일찍, 아직 고칠 수 있을 때 듣게 됩니다.</a:t>
            </a:r>
          </a:p>
          <a:p/>
          <a:p>
            <a:r>
              <a:rPr lang="ko-KR"/>
              <a:t>여기서 용어 두 개를 구분해 두면 좋습니다. 아래 두 카드입니다.</a:t>
            </a:r>
          </a:p>
          <a:p/>
          <a:p>
            <a:r>
              <a:rPr lang="ko-KR"/>
              <a:t>증분(Incremental)은 피자를 한 조각씩 완성해서 내놓는 방식입니다. 로그인 기능을 완성해서 내놓고, 다음에 검색 기능을 더하고, 다음에 댓글 기능을 더하고. 매번 '완성된 일부'가 나옵니다.</a:t>
            </a:r>
          </a:p>
          <a:p/>
          <a:p>
            <a:r>
              <a:rPr lang="ko-KR"/>
              <a:t>반복(Iterative)은 그림 그리는 방식입니다. 전체 스케치를 먼저 그리고, 밑색을 칠하고, 세부를 묘사하고. 매번 '전체의 더 나은 버전'이 나옵니다. 처음엔 엉성해도 전체 모양은 있죠.</a:t>
            </a:r>
          </a:p>
          <a:p/>
          <a:p>
            <a:r>
              <a:rPr lang="ko-KR"/>
              <a:t>실무에서는 거의 항상 둘을 섞습니다. 그리고 이 반복 철학을 극단까지 밀고 가서 '문화'로 만든 것이 세 번째, 애자일입니다.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세 번째, 애자일입니다. 2001년, 무거운 문서와 계획 중심 개발에 지친 개발자 열일곱 명이 미국 유타주 스노버드라는 스키 리조트에 모여서 네 줄짜리 가치 선언을 발표했습니다. 그게 '애자일 선언'입니다. 애자일은 '민첩한'이라는 뜻의 영어 단어입니다.</a:t>
            </a:r>
          </a:p>
          <a:p/>
          <a:p>
            <a:r>
              <a:rPr lang="ko-KR"/>
              <a:t>네 줄을 읽어 보겠습니다. 프로세스와 도구보다 개인과 상호작용을. 포괄적인 문서보다 작동하는 소프트웨어를. 계약 협상보다 고객과의 협력을. 계획을 따르기보다 변화에 대응하기를.</a:t>
            </a:r>
          </a:p>
          <a:p/>
          <a:p>
            <a:r>
              <a:rPr lang="ko-KR"/>
              <a:t>여기서 시험에도 나오고 실무에서도 오해가 많은 포인트 하나. 이 선언은 오른쪽을 버리라는 게 아닙니다. 원문에 분명히 "오른쪽 항목에도 가치가 있지만, 왼쪽 항목을 더 높게 친다"라고 적혀 있습니다. 문서 쓰지 말자, 계획 세우지 말자가 아니라, 둘이 충돌할 때 무엇을 우선할지에 대한 '가치 순서'의 선언입니다. "애자일이니까 문서 안 써요"라고 말하는 사람은 애자일을 잘못 이해한 겁니다.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세 모델을 네 가지 기준으로 비교합니다. 표를 가로로 읽어 보세요.</a:t>
            </a:r>
          </a:p>
          <a:p/>
          <a:p>
            <a:r>
              <a:rPr lang="ko-KR"/>
              <a:t>피드백 시점, 폭포수는 맨 끝, 전체가 완성된 후. 반복적은 매 회차 끝. 애자일은 매일, 그리고 매 스프린트마다입니다. 스프린트는 2부에서 설명합니다.</a:t>
            </a:r>
          </a:p>
          <a:p/>
          <a:p>
            <a:r>
              <a:rPr lang="ko-KR"/>
              <a:t>변경 대응, 폭포수는 비용이 매우 크고, 반복적은 다음 회차에 반영하고, 애자일은 아예 변경을 환영한다고 선언합니다. 백로그라는 목록에 넣어서 받아들이죠.</a:t>
            </a:r>
          </a:p>
          <a:p/>
          <a:p>
            <a:r>
              <a:rPr lang="ko-KR"/>
              <a:t>산출 문서, 폭포수는 단계마다 상세 문서, 반복적은 회차별 핵심 문서, 애자일은 필요한 만큼만.</a:t>
            </a:r>
          </a:p>
          <a:p/>
          <a:p>
            <a:r>
              <a:rPr lang="ko-KR"/>
              <a:t>잘 맞는 상황, 폭포수는 요구가 확정되고 규제와 안전이 중요한 곳, 반복적은 규모가 크면서 요구가 일부 유동적인 곳, 애자일은 요구가 불확실하고 빨리 내놓고 배워야 하는 곳입니다.</a:t>
            </a:r>
          </a:p>
          <a:p/>
          <a:p>
            <a:r>
              <a:rPr lang="ko-KR"/>
              <a:t>표를 외우려고 하지 말고 한 문장만 가져가세요. 정답 모델은 없고, 상황이 모델을 고른다. 그 감각을 다음 장에서 연습해 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연습 삼아 세 상황에 모델을 골라 봅시다. (각 사례마다 학생들에게 먼저 답을 물어본 뒤 공개합니다. 손 들게 하거나 옆 사람과 10초 상의.)</a:t>
            </a:r>
          </a:p>
          <a:p/>
          <a:p>
            <a:r>
              <a:rPr lang="ko-KR"/>
              <a:t>첫 번째, 병원 의료기기 제어 소프트웨어. 어떤 모델일까요? 폭포수 계열입니다. 요구가 규격 문서로 확정되고, 인허가를 받으려면 단계별 문서와 검증 기록이 필수입니다. 여기서는 변경의 유연함보다 확실성이 우선이죠. 지난주 Therac-25가 바로 이 영역의 실패 사례였습니다.</a:t>
            </a:r>
          </a:p>
          <a:p/>
          <a:p>
            <a:r>
              <a:rPr lang="ko-KR"/>
              <a:t>두 번째, 스타트업 신규 서비스. 애자일입니다. 무엇이 먹힐지 아무도 모르니, 작게 내놓고 사용자 반응으로 배우는 속도가 생명입니다. 6개월 뒤에 완성품을 내놓으면 그사이 세상이 바뀌어 있습니다.</a:t>
            </a:r>
          </a:p>
          <a:p/>
          <a:p>
            <a:r>
              <a:rPr lang="ko-KR"/>
              <a:t>세 번째, 우리 팀 프로젝트는? 애자일에 AI 반복을 더한 방식으로 갑니다. 작게 만들고 자주 확인하는 애자일 위에, AI로 구현 속도를 붙이는 거죠. 그 구체적인 방법이 2부 내용입니다.</a:t>
            </a:r>
          </a:p>
          <a:p/>
          <a:p>
            <a:r>
              <a:rPr lang="ko-KR"/>
              <a:t>(시험 팁: "어떤 모델을 쓰겠는가"만 쓰면 반만 맞은 겁니다. 반드시 "왜냐하면 요구가 확정/불확실하고, 변경이 적을/많을 것이므로"라는 상황 근거를 붙여야 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2부는 짧습니다. 애자일을 실제로 굴리는 대표적인 방법이 '스크럼'이라는 틀인데, 우리 팀 프로젝트에서 그대로 쓸 용어 네 개만 정확히 챙겨 가면 됩니다. 스프린트, 데일리 스크럼, 백로그, 회고. 5주차에 팀이 꾸려지면 이 용어들이 바로 팀의 공용어가 됩니다.</a:t>
            </a:r>
          </a:p>
          <a:p/>
          <a:p>
            <a:r>
              <a:rPr lang="ko-KR"/>
              <a:t>(약 12분 예상.)</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스크럼의 흐름을 한 줄로 보겠습니다. 위쪽 다섯 칸을 왼쪽부터 따라가세요.</a:t>
            </a:r>
          </a:p>
          <a:p/>
          <a:p>
            <a:r>
              <a:rPr lang="ko-KR"/>
              <a:t>먼저 제품 백로그. 만들고 싶은 모든 것의 우선순위 목록입니다. 위에 있을수록 중요한 것. 다음, 스프린트 계획에서 그중 이번 주기에 할 만큼만 골라 확정합니다. 그리고 스프린트(1주에서 4주짜리 고정된 개발 주기) 동안, 매일 15분씩 데일리 스크럼으로 상황을 맞춥니다. 스프린트가 끝나면 반드시 '동작하는 증분'이 나와야 합니다. 문서나 반쪽짜리가 아니라 실제로 돌아가는 결과물이요. 마지막으로 리뷰와 회고에서 결과물과 일하는 방식 자체를 돌아보고, 다시 다음 스프린트로 갑니다. 이 바퀴를 프로젝트가 끝날 때까지 반복합니다.</a:t>
            </a:r>
          </a:p>
          <a:p/>
          <a:p>
            <a:r>
              <a:rPr lang="ko-KR"/>
              <a:t>아래 박스, 이 틀이 강한 이유는 구조에 있습니다. 매 주기 끝에 동작하는 것이 나오고 매일 확인이 있으니, 문제가 숨어서 자랄 틈이 없습니다. 폭포수의 최대 약점이었던 "맨 끝의 충격"이 구조적으로 사라지는 겁니다.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용어 네 개를 정확히 잡고 갑니다. 네 카드입니다.</a:t>
            </a:r>
          </a:p>
          <a:p/>
          <a:p>
            <a:r>
              <a:rPr lang="ko-KR"/>
              <a:t>스프린트. 짧고 '고정된' 개발 주기입니다. '고정'이 핵심이에요. 일이 안 끝났다고 기간을 늘리는 게 아니라, 못 끝낸 일을 다음 스프린트로 넘깁니다. 우리 팀 프로젝트는 1주 스프린트로 갑니다. 매주 수업이 곧 스프린트 경계가 되는 거죠.</a:t>
            </a:r>
          </a:p>
          <a:p/>
          <a:p>
            <a:r>
              <a:rPr lang="ko-KR"/>
              <a:t>데일리 스크럼. 매일 15분, 서서 하는 확인입니다. 세 가지만 말합니다. 어제 한 것, 오늘 할 것, 막힌 것. 여기서 문제를 해결하려 들면 회의가 한 시간이 됩니다. 해결은 따로 하고, 이 자리는 문제를 '드러내는' 자리입니다. 우리 팀은 매일은 어려우니 단톡방에 이 세 줄을 올리는 방식으로 대체할 겁니다.</a:t>
            </a:r>
          </a:p>
          <a:p/>
          <a:p>
            <a:r>
              <a:rPr lang="ko-KR"/>
              <a:t>백로그. 할 일의 우선순위 목록인데, 애자일이 "변화를 환영"할 수 있는 실제 장치입니다. 새 요구가 와도 패닉하지 않고 백로그에 넣고 순서를 매기면 되니까요.</a:t>
            </a:r>
          </a:p>
          <a:p/>
          <a:p>
            <a:r>
              <a:rPr lang="ko-KR"/>
              <a:t>회고. 스프린트 끝에 결과물이 아니라 '일하는 방식'을 돌아보는 시간입니다. 좋았던 것, 아쉬웠던 것, 다음에 바꿀 것 딱 하나. 하나만 정해도 성공입니다.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이제 오늘의 두 흐름을 연결하겠습니다. AI가 등장하면서 프로세스에 무슨 일이 생겼을까요.</a:t>
            </a:r>
          </a:p>
          <a:p/>
          <a:p>
            <a:r>
              <a:rPr lang="ko-KR"/>
              <a:t>구현이 며칠에서 몇 분으로 줄었습니다. 그러면 병목이 이동합니다. '만드는 것'이 아니라 '확인하는 것'이 병목이 돼요. 그리고 개발자의 하루는 화면의 네 박자 반복이 됩니다. ① 지시, 무엇을 만들지 말로 정확히. ② 생성, AI가 몇 분 안에 초안을 구현. ③ 확인, 실행해 보고, 코드를 읽고, 기준과 비교. ④ 수정 지시, 차이를 말로 정리해 다시 요청. 스프린트 개념을 극단적으로 압축한 '초소형 스프린트'가 수 분 단위로 도는 겁니다.</a:t>
            </a:r>
          </a:p>
          <a:p/>
          <a:p>
            <a:r>
              <a:rPr lang="ko-KR"/>
              <a:t>여기서 중요한 결론 하나, 아래 박스입니다. 바퀴가 빨라질수록 프로세스는 덜 중요해지는 게 아니라 더 중요해집니다. 방향이 틀리면 더 빨리 엉뚱한 곳에 도착하니까요. 무엇을 만들지, '됐다'의 기준이 뭔지가 흐리면 AI는 그 흐린 것을 몇 분 만에 잔뜩 만들어 줍니다.</a:t>
            </a:r>
          </a:p>
          <a:p/>
          <a:p>
            <a:r>
              <a:rPr lang="ko-KR"/>
              <a:t>말로만 하면 감이 안 오죠. 지금부터 이 바퀴를 직접 한 바퀴 돌려 봅니다. 실습 갑시다. 노트북 여세요.</a:t>
            </a:r>
          </a:p>
          <a:p/>
          <a:p>
            <a:r>
              <a:rPr lang="ko-KR"/>
              <a:t>(5분 휴식 후 3부 시작. 쉬는 동안 구글 계정 로그인을 미리 해 두게 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3부, 실습입니다. 오늘의 목표는 하나입니다. 여러분 각자의 VS Code에서 AI에게 지시를 내리고 결과를 받아 보는 것까지입니다.</a:t>
            </a:r>
          </a:p>
          <a:p/>
          <a:p>
            <a:r>
              <a:rPr lang="ko-KR"/>
              <a:t>순서는 네 단계입니다. 키 발급, 환경변수 설정, Cline 연결, 첫 지시. 지난주처럼 단계마다 슬라이드에 실제 화면과 확인 지점을 넣어 뒀습니다. 다만 오늘은 로그인해야만 보이는 화면이 두 개 있어서(AI Studio의 키 페이지와 Cline 설정 화면) 그 둘은 캡처 대신 '화면 구성도'로 그려 뒀습니다. 여러분 실제 화면과 버튼 이름은 같으니 그대로 따라 하면 됩니다.</a:t>
            </a:r>
          </a:p>
          <a:p/>
          <a:p>
            <a:r>
              <a:rPr lang="ko-KR"/>
              <a:t>확인 안 되면 바로 손 드세요. 구글 계정 로그인부터 미리 해 두시고요.</a:t>
            </a:r>
          </a:p>
          <a:p/>
          <a:p>
            <a:r>
              <a:rPr lang="ko-KR"/>
              <a:t>(약 75~85분 예상. 키 발급 단계에서 병목이 생기니 옆 사람 돕기를 적극 유도합니다.)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일 시작 전에 지도를 먼저 봅니다. 오늘 만들 환경은 네 조각입니다. 왼쪽부터 화살표를 따라가세요.</a:t>
            </a:r>
          </a:p>
          <a:p/>
          <a:p>
            <a:r>
              <a:rPr lang="ko-KR"/>
              <a:t>Google AI Studio는 키를 발급하는 곳입니다. 웹사이트예요. 거기서 받은 API 키를 환경변수라는 안전한 보관소에 넣습니다. VS Code 안의 Cline은 여러분 지시를 받아 실제 파일을 만들고 고치는 에이전트인데, 이 Cline이 그 키를 들고 Gemini API에 요청을 보내서 코드를 받아 옵니다. Gemini API가 실제로 코드를 생성하는 AI 엔진입니다.</a:t>
            </a:r>
          </a:p>
          <a:p/>
          <a:p>
            <a:r>
              <a:rPr lang="ko-KR"/>
              <a:t>API 키가 뭐냐면, API는 프로그램끼리 대화하는 통로이고, 키는 그 통로를 쓸 때 "너 누구야"를 확인하는 열쇠입니다. 놀이공원 자유이용권 팔찌 같은 거예요. 팔찌를 보여 주면 놀이기구를 태워 주고, 누가 얼마나 탔는지 팔찌 번호로 셉니다. 이 열쇠 하나가 네 조각을 전부 잇습니다.</a:t>
            </a:r>
          </a:p>
          <a:p/>
          <a:p>
            <a:r>
              <a:rPr lang="ko-KR"/>
              <a:t>아래 박스처럼, 오늘 실습은 이 그림의 화살표를 왼쪽부터 하나씩 잇는 과정입니다. 발급, 등록, 연결, 그리고 첫 요청까지.</a:t>
            </a:r>
          </a:p>
          <a:p/>
          <a:p>
            <a:r>
              <a:rPr lang="ko-KR"/>
              <a:t>한 가지 더. 맨 오른쪽 엔진 칸에 Gemini 말고 Z.ai라는 이름이 같이 적혀 있죠. 기본은 여러분 각자의 Gemini 키이고, 수업 시간에는 제가 나눠 주는 공용 Z.ai 키를 엔진으로 씁니다. GLM-5.3이라는 모델인데 flash-lite보다 똑똑하고 한도도 넉넉합니다. 대신 반 전체가 같이 쓰는 키라 지켜야 할 규칙이 있고, 연결 방법은 24, 25쪽에서 따로 다룹니다. 오늘은 두 엔진을 모두 Cline에 등록해 두고, 설정의 드롭다운 하나로 바꿔 가며 쓰게 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첫 단계, 키 발급입니다. 두 장에 걸쳐서 갑니다. 이번 장은 AI Studio에 들어가서 로그인하는 것까지.</a:t>
            </a:r>
          </a:p>
          <a:p/>
          <a:p>
            <a:r>
              <a:rPr lang="ko-KR"/>
              <a:t>①번. 브라우저 주소창에 aistudio.google.com 을 입력합니다. 왼쪽 화면이 첫 화면입니다. "Build with Google AI Studio"라고 크게 써 있고, 오른쪽 위에 "Get started" 버튼이 있습니다. 슬라이드 빨간 네모 ①번입니다. 그걸 누르면 구글 로그인 화면으로 넘어갑니다.</a:t>
            </a:r>
          </a:p>
          <a:p/>
          <a:p>
            <a:r>
              <a:rPr lang="ko-KR"/>
              <a:t>②번, 오른쪽 화면입니다. 낯익은 구글 로그인 창이죠. 이메일 칸에 구글 계정을 넣고 '다음', 비밀번호 넣고 '다음'. 개인 Gmail 계정을 권합니다. 학교 계정으로 하면 학교 관리자 설정 때문에 AI Studio가 막혀 있는 경우가 있습니다. 오른쪽 아래 분홍 박스처럼 "이 앱은 국가/기관에서 사용할 수 없습니다" 같은 메시지가 뜨면 그 경우이니 개인 계정으로 다시 로그인하세요. 처음 들어가면 이용약관 동의 화면이 나오는데, 읽고 동의하면 됩니다.</a:t>
            </a:r>
          </a:p>
          <a:p/>
          <a:p>
            <a:r>
              <a:rPr lang="ko-KR"/>
              <a:t>③번. 로그인이 끝나면 AI Studio 안으로 들어옵니다. 여기서 키를 만드는 페이지로 가야 하는데, 두 가지 방법이 있습니다. 왼쪽 메뉴에서 열쇠 아이콘 'Get API key'를 누르거나, 더 확실하게는 주소창에 aistudio.google.com/api-keys 라고 직접 치는 겁니다. 화면 배치가 자주 바뀌니 주소로 가는 걸 권합니다. 그 페이지가 다음 장의 화면입니다.</a:t>
            </a:r>
          </a:p>
          <a:p/>
          <a:p>
            <a:r>
              <a:rPr lang="ko-KR"/>
              <a:t>(로그인·약관 동의에 2~3분. 2단계 인증 문자를 기다리는 학생이 있으니 여유를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API 키를 만드는 페이지입니다. 왼쪽 그림은 실제 캡처가 아니라 화면 구성도입니다. 이 페이지는 로그인한 사람에게만 보여서 캡처를 넣을 수가 없었어요. 대신 버튼 이름과 위치를 실제와 같게 그려 뒀으니, 여러분 화면과 맞춰 보면서 따라 하면 됩니다.</a:t>
            </a:r>
          </a:p>
          <a:p/>
          <a:p>
            <a:r>
              <a:rPr lang="ko-KR"/>
              <a:t>①번. 페이지 오른쪽 위에 "+ Create API key" 버튼이 있습니다. 누르세요. 참고로 요즘은 처음 들어가면 구글이 키를 하나 자동으로 만들어 두는 경우도 있습니다. 목록에 이미 AIza로 시작하는 키가 있으면 그걸 써도 됩니다.</a:t>
            </a:r>
          </a:p>
          <a:p/>
          <a:p>
            <a:r>
              <a:rPr lang="ko-KR"/>
              <a:t>②번. 작은 창이 뜨면서 프로젝트를 고르라고 합니다. '프로젝트'는 구글이 키를 묶어 관리하는 단위인데, 지금은 신경 안 써도 됩니다. 목록에 나오는 것(보통 하나뿐입니다)을 고르세요. 아무것도 없으면 'Create project'로 하나 만들면 됩니다. 이름은 아무거나.</a:t>
            </a:r>
          </a:p>
          <a:p/>
          <a:p>
            <a:r>
              <a:rPr lang="ko-KR"/>
              <a:t>③번. "Create API key in existing project" 같은 버튼을 누르면 몇 초 뒤 키가 만들어집니다. AIza로 시작하는 39자짜리 긴 문자열입니다. 그게 여러분의 키입니다.</a:t>
            </a:r>
          </a:p>
          <a:p/>
          <a:p>
            <a:r>
              <a:rPr lang="ko-KR"/>
              <a:t>④번. 키 옆의 복사 아이콘을 누르면 복사됩니다. 일단 메모장을 열어서 붙여 두세요. 단! 다음 장을 보기 전까지는 이 키를 절대 아무 데도 올리지 않습니다. 카톡에도, 코드에도, 인터넷에도.</a:t>
            </a:r>
          </a:p>
          <a:p/>
          <a:p>
            <a:r>
              <a:rPr lang="ko-KR"/>
              <a:t>아래 박스, 비용 얘기를 미리 하면, 오늘 실습 정도는 무료 등급으로 됩니다. 다만 무료 등급은 한도가 있습니다. 제가 직접 재 보니 flash-lite는 분당 15회에 하루 500회, flash는 분당 5회에 하루 20회입니다. 하루 한도는 미국 태평양 시간 자정에 초기화되는데, 한국 시간으로는 오후 4시쯤(겨울에는 5시)입니다. 그래서 가끔 "잠깐 기다리라"는 메시지가 나오는데, 그건 요금이 아니라 속도 제한입니다. 결제 정보를 넣지 않는 한 돈이 나갈 일은 없습니다. 신용카드 안 넣습니다.</a:t>
            </a:r>
          </a:p>
          <a:p/>
          <a:p>
            <a:r>
              <a:rPr lang="ko-KR"/>
              <a:t>(전원 키 복사까지 확인. 화면이 슬라이드와 다르다는 학생이 있으면 "Create API key"라는 글자를 찾으라고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오늘 실습에서 제일 중요한 슬라이드입니다. API 키는 비밀번호입니다. 비밀번호를 포스트잇에 써서 모니터에 붙이지 않듯이, 키도 다루는 규칙이 있습니다.</a:t>
            </a:r>
          </a:p>
          <a:p/>
          <a:p>
            <a:r>
              <a:rPr lang="ko-KR"/>
              <a:t>첫째, 코드에 직접 붙여넣지 않습니다. 소스 코드에 api_key = "AIza..." 라고 박는 순간, 그 파일이 가는 모든 곳에 비밀번호가 따라갑니다. 친구에게 파일을 보내도, GitHub에 올려도, 과제로 제출해도 키가 같이 갑니다.</a:t>
            </a:r>
          </a:p>
          <a:p/>
          <a:p>
            <a:r>
              <a:rPr lang="ko-KR"/>
              <a:t>둘째, 특히 GitHub에 올리면 몇 분 안에 봇이 수집해 갑니다. 공개 저장소를 24시간 훑으면서 AIza로 시작하는 문자열을 찾는 자동 프로그램들이 실제로 있습니다. 유출된 키로 남이 요청을 보내면 한도 소진이나 과금 피해는 고스란히 본인 몫입니다. 실제로 매 학기 어디선가 한 명은 겪는 사고입니다.</a:t>
            </a:r>
          </a:p>
          <a:p/>
          <a:p>
            <a:r>
              <a:rPr lang="ko-KR"/>
              <a:t>셋째, 유출이 의심되면 고민하지 말고 즉시 폐기하고 재발급하세요. AI Studio 키 페이지에서 그 키를 Delete 하고 새로 만들면 됩니다. 키는 공짜로 얼마든지 다시 만들 수 있으니 아까워하지 마세요.</a:t>
            </a:r>
          </a:p>
          <a:p/>
          <a:p>
            <a:r>
              <a:rPr lang="ko-KR"/>
              <a:t>그래서 키는 코드 밖에 보관합니다. 그 표준적인 방법이 '환경변수'입니다. 아래 박스입니다. 내 컴퓨터의 설정에 이름표(우리는 GEMINI_API_KEY라는 이름)를 붙여 보관하고, 프로그램은 그 이름으로 꺼내 쓰는 거죠. 코드에는 키가 없으니 저장소에 올려도 안전합니다. 지금 운영체제별로 설정해 보겠습니다. 윈도우는 다음 장, 맥은 그다음 장입니다.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윈도우 사용자부터 갑니다. VS Code 안의 터미널(Ctrl+`)을 열고, 왼쪽 검은 박스의 첫 줄을 칩니다. setx 한 칸 띄고 GEMINI_API_KEY 한 칸 띄고 따옴표 안에 본인 키를 붙여 넣습니다. setx는 "환경변수를 영구히 저장하라"는 윈도우 명령입니다. Enter를 치면 "성공: 지정한 값을 저장했습니다"라는 메시지가 나옵니다. 그러면 등록된 겁니다.</a:t>
            </a:r>
          </a:p>
          <a:p/>
          <a:p>
            <a:r>
              <a:rPr lang="ko-KR"/>
              <a:t>여기서 매 학기 가장 많이 나오는 실수, 오른쪽 위 박스입니다. setx는 지금 열려 있는 터미널에는 적용되지 않습니다. 이미 켜져 있는 창은 옛날 설정을 기억하고 있어요. 그래서 반드시 터미널을 닫고 새로 열어서 확인해야 합니다. VS Code 터미널 오른쪽 위 휴지통 아이콘으로 닫고 다시 Ctrl+`.</a:t>
            </a:r>
          </a:p>
          <a:p/>
          <a:p>
            <a:r>
              <a:rPr lang="ko-KR"/>
              <a:t>새 터미널에서 확인 명령입니다. 터미널이 CMD 종류면 echo 퍼센트 GEMINI_API_KEY 퍼센트, PowerShell 종류면 echo 달러 env 콜론 GEMINI_API_KEY 입니다. 어느 쪽인지 모르겠으면 둘 다 쳐 보세요. 하나는 먹습니다. 본인 키 AIza…가 그대로 출력되면 통과입니다. 이름이 그대로 출력되거나 빈 줄이 나오면 새 터미널이 아니거나 오타입니다.</a:t>
            </a:r>
          </a:p>
          <a:p/>
          <a:p>
            <a:r>
              <a:rPr lang="ko-KR"/>
              <a:t>명령어가 불편하면 GUI로도 됩니다. 오른쪽 아래 박스. Windows 설정 → 시스템 → 정보 → 고급 시스템 설정 → 환경 변수 → '사용자 변수'에서 새로 만들기 → 변수 이름 GEMINI_API_KEY, 변수 값에 키. 효과는 동일합니다.</a:t>
            </a:r>
          </a:p>
          <a:p/>
          <a:p>
            <a:r>
              <a:rPr lang="ko-KR"/>
              <a:t>맥 사용자는 다음 장을 보세요. 윈도우 분들은 확인 끝나면 잠시 옆 사람을 도와주시면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맥 사용자입니다. 맥의 기본 셸인 zsh는 터미널이 켜질 때마다 홈 폴더의 .zshrc라는 설정 파일을 읽습니다. 오른쪽 위 박스가 그 설명입니다. 거기에 export 한 줄을 추가하면 매번 자동으로 키가 준비됩니다.</a:t>
            </a:r>
          </a:p>
          <a:p/>
          <a:p>
            <a:r>
              <a:rPr lang="ko-KR"/>
              <a:t>화면의 첫 명령을 그대로 치면 되는데, echo 작은따옴표 export GEMINI_API_KEY 등호 큰따옴표 키 큰따옴표 작은따옴표, 꺾쇠 두 개, 물결 슬래시 .zshrc. 이 명령은 ".zshrc 파일 끝에 이 한 줄을 추가하라"는 뜻입니다.</a:t>
            </a:r>
          </a:p>
          <a:p/>
          <a:p>
            <a:r>
              <a:rPr lang="ko-KR"/>
              <a:t>주의할 점 하나, 오른쪽 아래 박스. 꺾쇠가 두 개인 걸 꼭 확인하세요. 두 개는 파일 끝에 '추가', 한 개는 통째로 '덮어쓰기'입니다. 한 개로 잘못 쓰면 기존 설정이 다 날아갑니다.</a:t>
            </a:r>
          </a:p>
          <a:p/>
          <a:p>
            <a:r>
              <a:rPr lang="ko-KR"/>
              <a:t>추가한 다음 source 물결 슬래시 .zshrc로 설정을 다시 읽고, echo 달러 GEMINI_API_KEY로 확인합니다. 키가 출력되면 통과. 새 터미널 창을 열어서 확인해도 됩니다.</a:t>
            </a:r>
          </a:p>
          <a:p/>
          <a:p>
            <a:r>
              <a:rPr lang="ko-KR"/>
              <a:t>윈도우, 맥 모두 확인되셨죠? 좋습니다. 이제 열쇠도 있고 보관소에도 넣었으니, 이 열쇠를 쓸 에이전트를 연결합니다.</a:t>
            </a:r>
          </a:p>
          <a:p/>
          <a:p>
            <a:r>
              <a:rPr lang="ko-KR"/>
              <a:t>(여기까지 전원 확인 후 다음으로. 5분 정도 소요.)</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Cline을 연결합니다. 두 장입니다. 이번 장은 설치.</a:t>
            </a:r>
          </a:p>
          <a:p/>
          <a:p>
            <a:r>
              <a:rPr lang="ko-KR"/>
              <a:t>①번. 지난주에 확장을 설치했던 그 메뉴입니다. VS Code 왼쪽 세로 막대의 확장 아이콘, 또는 Ctrl+Shift+X. 검색창에 Cline이라고 치세요. 왼쪽 화면처럼 결과가 나오는데, 비슷한 이름이 많습니다. Cline Chinese, Cline Pro, Cline Nightly. 제작자가 'Cline'이고 이름 옆에 파란 체크가 있고 설치 수가 500만이 넘는 맨 위 항목이 정답입니다. 아래 작은 화면은 같은 확장을 마켓플레이스 웹사이트에서 본 모습인데, 참고만 하세요.</a:t>
            </a:r>
          </a:p>
          <a:p/>
          <a:p>
            <a:r>
              <a:rPr lang="ko-KR"/>
              <a:t>②번. Install을 누르면 잠시 후 왼쪽 세로 막대에 로봇 모양 아이콘이 하나 생깁니다. 그게 Cline입니다. 누르면 오른쪽 또는 사이드바에 Cline 패널이 열립니다.</a:t>
            </a:r>
          </a:p>
          <a:p/>
          <a:p>
            <a:r>
              <a:rPr lang="ko-KR"/>
              <a:t>③번, 여기가 헷갈리는 지점입니다. 처음 열면 Cline 계정을 만들어서 시작하라는 큰 버튼이 나옵니다. 그건 Cline 회사의 유료 서비스로 가는 길이라 우리는 안 씁니다. 그 아래에 'Use your own API key'(내 키를 쓰겠다)라는 글자를 찾아서 누르세요. 만약 그런 글자가 안 보이면 패널 오른쪽 위의 톱니바퀴 아이콘, 설정으로 들어가면 같은 화면이 나옵니다. Cline은 업데이트가 잦아서 첫 화면 모양이 조금씩 바뀝니다. 핵심은 "설정에서 내 키를 넣는다"입니다.</a:t>
            </a:r>
          </a:p>
          <a:p/>
          <a:p>
            <a:r>
              <a:rPr lang="ko-KR"/>
              <a:t>아래 박스, Cline이 뭐였는지 다시. VS Code 안에서 "이 파일 만들어 줘"라고 말하면 실제로 파일을 만들고 고쳐 주는 코딩 에이전트입니다. 그런데 Cline 자체에는 두뇌, 즉 AI 모델이 없습니다. 그래서 다음 장에서 Gemini API 키를 꽂아 줘야 움직입니다.</a:t>
            </a:r>
          </a:p>
          <a:p/>
          <a:p>
            <a:r>
              <a:rPr lang="ko-KR"/>
              <a:t>(설치 1분. 로봇 아이콘이 안 보이면 VS Code를 재시작하게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이제 Cline에 Gemini를 연결합니다. 왼쪽 그림은 Cline 설정 화면의 구성도입니다. 실제 화면은 확장을 설치한 VS Code 안에서만 보여서 캡처 대신 그렸고, 항목 이름은 Cline 공식 문서 그대로입니다.</a:t>
            </a:r>
          </a:p>
          <a:p/>
          <a:p>
            <a:r>
              <a:rPr lang="ko-KR"/>
              <a:t>①번. Cline 패널 오른쪽 위 톱니바퀴 ⚙를 누르면 설정 화면이 열립니다.</a:t>
            </a:r>
          </a:p>
          <a:p/>
          <a:p>
            <a:r>
              <a:rPr lang="ko-KR"/>
              <a:t>②번. 'API Provider'(어느 회사 AI를 쓸 거냐) 드롭다운을 누르면 목록이 깁니다. Anthropic, OpenAI, OpenRouter, Google Gemini… 그중 'Google Gemini'를 고르세요. 'Vertex AI'라고 붙은 건 다른 겁니다.</a:t>
            </a:r>
          </a:p>
          <a:p/>
          <a:p>
            <a:r>
              <a:rPr lang="ko-KR"/>
              <a:t>③번. 'Gemini API Key' 칸에 아까 복사한 키를 붙여넣습니다. 환경변수에 넣어 둔 그 키 그대로입니다. 여기서 제일 흔한 실수가 복사할 때 앞뒤에 공백이나 줄바꿈이 딸려 오는 겁니다. 붙여넣고 나서 맨 앞과 맨 뒤를 한번 보세요.</a:t>
            </a:r>
          </a:p>
          <a:p/>
          <a:p>
            <a:r>
              <a:rPr lang="ko-KR"/>
              <a:t>④번. 'Model' 드롭다운에서 모델을 고릅니다. 수업 기본은 gemini-3.5-flash-lite 입니다. 이름에 flash-lite가 들어간 것을 찾으세요. 무료 등급에서 분당 15회, 하루 500회까지 요청할 수 있어 Cline이 끊기지 않고 돌아갑니다. Cline은 한 번 시키면 속으로 요청을 여러 번 보내는데, 오늘처럼 작은 프로그램 몇 개 만드는 정도면 많아야 백 번 남짓이라 500회면 충분합니다. gemini-3.7-flash 같은 flash 모델은 더 똑똑하지만 무료 등급에선 분당 5회, 하루 20회라 Cline으로 몇 번 시키기도 전에 바닥나고 '잠깐 기다리는 중'을 자주 띄웁니다. 오늘 실습 크기에는 flash-lite로 충분합니다. 이름 뒤 숫자는 시점에 따라 바뀔 수 있으니 'flash-lite'라는 글자를 기준으로 고르면 됩니다.</a:t>
            </a:r>
          </a:p>
          <a:p/>
          <a:p>
            <a:r>
              <a:rPr lang="ko-KR"/>
              <a:t>⑤번. Done을 눌러 저장하고, 채팅창에 "안녕"이라고 한번 보내 보세요. 아래 작은 그림이 채팅 입력창입니다. 응답이 돌아오면 연결 성공입니다. 응답이 안 오거나 키 오류가 뜨는 분은 손 들어 주세요. 대부분 키 복사 과정에서 앞뒤 공백이 들어간 경우입니다.</a:t>
            </a:r>
          </a:p>
          <a:p/>
          <a:p>
            <a:r>
              <a:rPr lang="ko-KR"/>
              <a:t>(전원 '안녕' 응답 확인. 이 단계가 오늘의 고비이니 시간을 충분히 줍니다.)</a:t>
            </a:r>
          </a:p>
          <a:p/>
          <a:p>
            <a:r>
              <a:rPr lang="ko-KR"/>
              <a:t>여기까지가 내 Gemini 키 연결입니다. 다음 두 장에서는 두 번째 엔진, 수업 공용 Z.ai 키를 같은 설정 화면에서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드디어 첫 지시입니다. 화면 위쪽 파란 글자를 Cline 채팅창에 그대로 입력하세요. "temp.py 파일을 만들어 줘. 섭씨 온도를 화씨로 바꾸는 함수 c_to_f를 작성하고, 25도를 변환한 결과를 출력해." 한국어로 그냥 치면 됩니다.</a:t>
            </a:r>
          </a:p>
          <a:p/>
          <a:p>
            <a:r>
              <a:rPr lang="ko-KR"/>
              <a:t>왜 이렇게 시시할 만큼 작게 시키느냐, 왼쪽 카드입니다. 결과를 눈으로 전부 확인할 수 있는 크기이기 때문입니다. AI에게 처음부터 큰 걸 시키는 게 초보의 1번 실수입니다. "쇼핑몰 만들어 줘"라고 하면 파일 30개가 쏟아지는데, 그걸 확인할 수가 없어요. 확인 못 할 크기의 결과물은 받아도 쓸 수가 없습니다. "확인 가능한 크기로 시킨다"는 이번 학기 내내 지킬 원칙이고, 7주차에 본격적으로 다룹니다.</a:t>
            </a:r>
          </a:p>
          <a:p/>
          <a:p>
            <a:r>
              <a:rPr lang="ko-KR"/>
              <a:t>가운데 카드, 이 짧은 지시문에도 세 가지가 들어 있습니다. 만들 파일 이름 temp.py, 만들 것 함수 c_to_f, 그리고 확인 방법 25도 변환 출력. 좋은 지시의 최소 골격입니다. 이 셋 중 하나라도 빠지면 AI는 자기 마음대로 채웁니다.</a:t>
            </a:r>
          </a:p>
          <a:p/>
          <a:p>
            <a:r>
              <a:rPr lang="ko-KR"/>
              <a:t>오른쪽 카드는 실제 Cline 화면입니다. Cline은 파일을 만들거나 명령을 실행하기 전에 "이렇게 하겠다"고 내용을 보여 주고 승인을 기다립니다. 그림은 명령 실행 전 승인 화면인데, 파일을 만들 때도 같은 식으로 "temp.py를 이렇게 만들겠다"며 내용을 보여 줍니다. 무조건 승인 누르지 말고, 뭘 만들려는지 읽고 승인하는 습관을 오늘 첫 지시부터 들이세요. 승인 버튼은 Save, Approve, Run Command 처럼 상황에 따라 이름이 다릅니다.</a:t>
            </a:r>
          </a:p>
          <a:p/>
          <a:p>
            <a:r>
              <a:rPr lang="ko-KR"/>
              <a:t>아래 초록 박스가 통과 기준입니다. Cline이 temp.py 내용을 보여 주면 읽고 승인, 왼쪽 탐색기에 temp.py 파일이 생기면 성공. 결과는 다음 장에서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생성됐다고 끝이 아닙니다. 바퀴를 끝까지 돌립니다. 오른쪽 세 단계입니다.</a:t>
            </a:r>
          </a:p>
          <a:p/>
          <a:p>
            <a:r>
              <a:rPr lang="ko-KR"/>
              <a:t>첫째, 실행합니다. VS Code 터미널에서 python temp.py. 77.0이 나오는지 확인하세요. 섭씨 25도면 화씨 77도가 맞습니다. 왼쪽 검은 박스가 AI가 만들었을 법한 코드 예시인데, 여러분 것은 조금 다를 수 있습니다. 같은 지시를 해도 AI는 매번 조금씩 다르게 만듭니다. 그 이유는 다음 주에 배웁니다.</a:t>
            </a:r>
          </a:p>
          <a:p/>
          <a:p>
            <a:r>
              <a:rPr lang="ko-KR"/>
              <a:t>둘째, 코드를 엽니다. 탐색기에서 temp.py를 클릭하면 열립니다. 짧은 함수일 텐데, 한 줄 한 줄 무슨 일을 하는지 옆 사람에게 설명할 수 있는지 스스로 점검하세요. def c_to_f(c)는 "c를 받는 함수를 정의한다", return c * 9 / 5 + 32는 "섭씨를 화씨로 바꾸는 공식", print(c_to_f(25))는 "25를 넣어서 결과를 화면에 찍는다". 1강에서 정한 규칙 2번, 설명하지 못하면 내 것이 아니다. 오늘부터 적용입니다.</a:t>
            </a:r>
          </a:p>
          <a:p/>
          <a:p>
            <a:r>
              <a:rPr lang="ko-KR"/>
              <a:t>셋째, 결과가 기대와 다르면 그 차이를 말로 정리해서 다시 지시합니다. 예를 들어 77.00000001처럼 소수점이 길게 나오면 "소수점 한 자리로 반올림해 줘"라고 채팅창에 이어서 치면 Cline이 파일을 고칩니다. 그것도 승인하고, 다시 실행해서 확인.</a:t>
            </a:r>
          </a:p>
          <a:p/>
          <a:p>
            <a:r>
              <a:rPr lang="ko-KR"/>
              <a:t>그리고 눈치채셨나요. 지시, 생성, 확인, 수정 지시, 2부에서 그림으로 봤던 초소형 스프린트를 방금 여러분이 실제로 한 바퀴 돌린 겁니다. 앞으로 한 학기 동안 이 바퀴를 수백 번 돌리게 됩니다.</a:t>
            </a:r>
          </a:p>
          <a:p/>
          <a:p>
            <a:r>
              <a:rPr lang="ko-KR"/>
              <a:t>(시간이 남으면 "함수에 설명 주석을 달아 줘" 같은 두 번째 수정 지시를 해 보게 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안 될 때 점검 네 가지입니다.</a:t>
            </a:r>
          </a:p>
          <a:p/>
          <a:p>
            <a:r>
              <a:rPr lang="ko-KR"/>
              <a:t>첫째, 키 오류. 401이나 'invalid API key' 같은 글자가 뜨면 십중팔구 복사 문제입니다. 앞뒤에 공백이나 줄바꿈이 섞였거나, 따옴표까지 복사한 경우죠. AI Studio에서 키를 다시 깨끗하게 복사해서 Cline 설정의 Gemini API Key 칸에 다시 붙이세요. 환경변수 쪽을 고쳤다면 새 터미널을 열고 VS Code도 재시작해야 반영됩니다.</a:t>
            </a:r>
          </a:p>
          <a:p/>
          <a:p>
            <a:r>
              <a:rPr lang="ko-KR"/>
              <a:t>둘째, 429. 숫자 429나 'quota', 'rate limit'이라는 글자가 보이면 한도 초과인데, 겁먹지 마세요. 요금 문제가 아니라 무료 등급의 분당 속도 제한입니다. 한도는 학생 각자의 구글 계정 단위라 옆 사람과 나눠 쓰는 건 아니지만, Cline이 요청을 연달아 보내니 flash 모델(분당 5회)에서는 잘 납니다. Cline이 알아서 몇십 초 기다렸다 다시 시도하니 그대로 두면 되고, 계속 뜨면 설정에서 Model을 gemini-3.5-flash-lite(분당 15회, 하루 500회)로 바꾸세요. 하루 한도까지 다 쓴 경우에는 풀릴 때까지 기다려야 합니다. 하루 한도는 미국 태평양 시간 자정에 초기화되는데, 한국 시간으로 오후 4시쯤(겨울에는 5시)입니다. flash 모델은 하루 20회뿐이라 Cline으로 몇 번만 시켜도 바닥나니, 수업 기본을 flash-lite로 정한 것도 그 때문입니다. 큰 작업을 시키지 말라는 것도 같은 이유입니다. 덧붙이면, 요청 하나에 넣을 수 있는 글의 양도 분당 25만 토큰(책 서너 권 분량)까지로 묶여 있어서, 큰 작업을 한 번에 통째로 밀어 넣는 것도 안 됩니다. Cline은 단계마다 요청을 하나씩 보내기 때문에 큰 작업일수록 오히려 500회가 더 빨리 없어집니다.</a:t>
            </a:r>
          </a:p>
          <a:p/>
          <a:p>
            <a:r>
              <a:rPr lang="ko-KR"/>
              <a:t>셋째, 응답이 아예 없거나 계속 빙글빙글 돌면 네트워크 쪽입니다. 교내 와이파이에서 특정 사이트가 막히는 경우가 가끔 있으니 휴대폰 핫스팟으로 바꿔 보거나, Cline 확장이나 VS Code를 재시작해 보세요.</a:t>
            </a:r>
          </a:p>
          <a:p/>
          <a:p>
            <a:r>
              <a:rPr lang="ko-KR"/>
              <a:t>넷째, 그래도 안 되면 옆 사람 설정 화면과 나란히 놓고 비교하고, 손 드세요. 이때 오류 메시지를 지우지 말고 그대로 보여 주는 게 해결이 제일 빠릅니다. 오류 메시지는 컴퓨터가 주는 힌트입니다.</a:t>
            </a:r>
          </a:p>
          <a:p/>
          <a:p>
            <a:r>
              <a:rPr lang="ko-KR"/>
              <a:t>맨 아래 상자는 비상구입니다. Gemini 한도가 다 차서 Cline이 멈추면, 수업 시간에는 API Provider를 OpenAI Compatible(공용 Z.ai 키)로 바꾸면 되고, 집에서는 ChatGPT 무료 계정으로 GPT-5.6 Luna에 물어보고 코드를 복사해 VS Code에 붙여넣으면 실습을 이어 갈 수 있습니다. ChatGPT 무료 계정은 글로 묻고 답하는 건 사실상 한도 없이 되고(남용 방지용 제한만 있습니다), 파일 올리기나 이미지 만들기 같은 기능에만 제한이 있습니다. 다만 이건 Cline처럼 파일을 대신 만들어 주는 게 아니라 답을 읽고 내가 붙여넣는 방식이라, 1강에서 했던 '물어보기'와 같은 방식입니다. Gemini 하루 한도는 한국 시간 오후 4시쯤(겨울에는 5시)에 다시 풀리니, 그 뒤에는 Cline으로 돌아오면 됩니다.</a:t>
            </a:r>
          </a:p>
          <a:p/>
          <a:p>
            <a:r>
              <a:rPr lang="ko-KR"/>
              <a:t>공용 Z.ai 키를 쓰는 중이라면 한 가지만 더. 429와 함께 1302, 'Rate limit reached for requests'가 보이면 우리 반 여러 명이 동시에 눌러서 줄을 선 것입니다. 한도가 바닥난 게 아니라 순서 대기라서, Cline이 알아서 몇 초 뒤 다시 시도하고 그냥 두면 풀립니다. 5시간치 양을 다 쓴 경우(드물지만 큰 작업이 몰리면 납니다)에는 API Provider를 Google Gemini로 되돌려 내 키로 계속하세요.</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체크리스트 다섯 개입니다. 위에서부터. AI Studio에서 내 API 키를 발급받았다. 환경변수 GEMINI_API_KEY를 등록했다. 새 터미널에서 echo로 키가 출력되는 것을 확인했다. Cline에 Gemini(내 키)와 Z.ai(수업 공용 키)를 둘 다 연결해 채팅 응답을 받았다. 지시로 temp.py가 생성되고 실행하면 77.0이 나온다.</a:t>
            </a:r>
          </a:p>
          <a:p/>
          <a:p>
            <a:r>
              <a:rPr lang="ko-KR"/>
              <a:t>오늘 출석 인증은 지난주와 이어집니다. temp.py를 지난주에 만든 hello-sw 저장소에 push하고, 저장소 주소를 LMS 2주차 게시판에 올리세요. 방법은 지난주 그대로입니다. temp.py를 hello-sw 폴더 안에 두고(Cline이 만든 위치가 hello-sw 폴더가 아니면 파일을 그 폴더로 옮기세요) 터미널에서 git add temp.py, git commit -m "add temp.py", git push. 세 명령 기억나죠. 고르고, 기록하고, 올린다.</a:t>
            </a:r>
          </a:p>
          <a:p/>
          <a:p>
            <a:r>
              <a:rPr lang="ko-KR"/>
              <a:t>그리고 여기서 오늘 배운 게 바로 연결됩니다. temp.py를 GitHub에 올려도 되는 이유가 뭘까요? (학생 답을 기다립니다.) 코드 안에 키가 없기 때문입니다. 환경변수에 넣어 둔 덕분에 코드는 공개해도 안전한 겁니다. 만약 코드에 키를 직접 박았다면 지금 push하는 순간 사고가 났을 거예요. 오늘 보안 슬라이드가 괜히 있었던 게 아닙니다.</a:t>
            </a:r>
          </a:p>
          <a:p/>
          <a:p>
            <a:r>
              <a:rPr lang="ko-KR"/>
              <a:t>다섯 개 중 하나라도 안 되는 분은 지금 해결하고 가세요. 다음 주 실습은 오늘 연결한 환경 위에서 바로 시작합니다.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오늘을 세 문장으로 정리합니다.</a:t>
            </a:r>
          </a:p>
          <a:p/>
          <a:p>
            <a:r>
              <a:rPr lang="ko-KR"/>
              <a:t>첫째, 정답 프로세스 모델은 없습니다. 요구가 얼마나 확실한지, 변경이 얼마나 올지, 그 '상황'이 폭포수, 반복, 애자일 중에서 고릅니다. 시험에서 모델을 고르라는 문제가 나오면 반드시 상황 근거를 함께 쓰셔야 합니다.</a:t>
            </a:r>
          </a:p>
          <a:p/>
          <a:p>
            <a:r>
              <a:rPr lang="ko-KR"/>
              <a:t>둘째, 애자일의 본질은 짧은 고정 주기와 잦은 확인의 문화입니다. 그리고 AI는 그 주기를 분 단위의 지시 → 생성 → 확인 → 수정 루프로 압축했습니다. 여러분이 오늘 직접 한 바퀴 돌려 봤죠.</a:t>
            </a:r>
          </a:p>
          <a:p/>
          <a:p>
            <a:r>
              <a:rPr lang="ko-KR"/>
              <a:t>셋째, 오늘의 진짜 결과물은 temp.py가 아니라 두 가지 습관입니다. 키는 환경변수에, 지시는 확인 가능한 크기로. 이 둘만 몸에 붙어도 오늘 수업은 성공입니다.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다음 주 예고입니다. 3주차는 드디어 이 수업의 핵심 기술, 지시문 작성으로 들어갑니다.</a:t>
            </a:r>
          </a:p>
          <a:p/>
          <a:p>
            <a:r>
              <a:rPr lang="ko-KR"/>
              <a:t>먼저 생성형 AI가 어떻게 동작하는지 원리를 봅니다. 오늘 temp.py가 옆 사람 것과 조금 달랐죠. 왜 같은 지시에도 매번 다른 답이 나오는지, 왜 AI가 가끔 그럴듯한 거짓말을 하는지, 원리를 알아야 도구를 부릴 수 있으니까요. 그다음 지시문의 구조를 배웁니다. 역할, 맥락, 요구, 형식. 같은 기능도 지시문에 따라 결과가 얼마나 달라지는지 직접 비교 실험을 할 겁니다.</a:t>
            </a:r>
          </a:p>
          <a:p/>
          <a:p>
            <a:r>
              <a:rPr lang="ko-KR"/>
              <a:t>그리고 첫 과제가 3주차에 나갑니다. 오른쪽 박스입니다. 같은 기능을 세 가지 다른 지시문으로 요청하고 결과를 비교 분석하는 과제입니다. 오늘 연결한 환경 그대로 쓰니까, 오늘 뭔가 찜찜하게 끝난 분은 이번 주 안에 꼭 정리해 두세요. 슬라이드에 화면과 순서가 다 있으니 집에서 다시 따라 할 수 있습니다.</a:t>
            </a:r>
          </a:p>
          <a:p/>
          <a:p>
            <a:r>
              <a:rPr lang="ko-KR"/>
              <a:t>temp.py push하고 저장소 주소 제출하는 것 잊지 마시고, 오늘도 수고 많으셨습니다.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이번 장과 다음 장은 두 번째 엔진 이야기입니다. 방금까지는 여러분 각자의 Gemini 키를 Cline에 꽂았죠. 그건 여러분 것이고 집에서도 쓸 수 있습니다. 그런데 무료 등급이라 하루 500회, 분당 15회라는 한도가 있고, 모델도 가벼운 flash-lite입니다. 수업 시간에 스무 명이 같이 돌리다 보면 답답할 때가 있어서, 수업용으로 엔진 하나를 더 준비했습니다.</a:t>
            </a:r>
          </a:p>
          <a:p/>
          <a:p>
            <a:r>
              <a:rPr lang="ko-KR"/>
              <a:t>왼쪽 상자를 보세요. Z.ai는 중국의 Zhipu라는 회사가 만든 생성형 AI 'GLM' 시리즈를 서비스하는 곳입니다. 최신 코딩용 모델이 GLM-5.3이고, 코딩 도구 전용 구독 상품이 GLM Coding Plan입니다. 제가 그 구독(Max 플랜)을 해 두었고, 그 API 키를 수업 시간에 따로 알려 드립니다. Cline 입장에서 Z.ai는 'OpenAI 호환' 서버라서, 주소와 키, 모델 이름 세 가지만 적어 주면 됩니다. 다음 장에서 한 칸씩 채웁니다. 아래 그림은 Z.ai 공식 문서의 Cline 설정 안내 화면인데, 우리가 다음 장에서 채울 칸이 그대로 나와 있습니다. 문서 예시에는 glm-5.2라고 적혀 있지만 지금은 5.2로 요청해도 5.3으로 연결되니, 우리는 처음부터 glm-5.3이라고 씁니다.</a:t>
            </a:r>
          </a:p>
          <a:p/>
          <a:p>
            <a:r>
              <a:rPr lang="ko-KR"/>
              <a:t>오른쪽, 규칙 세 가지는 꼭 지켜 주세요. 첫째, 공용 키는 수업용입니다. 채팅방, 깃허브, 블로그 어디에도 올리지 않습니다. 아까 키는 비밀번호라고 했죠. 이건 제 계정의 비밀번호나 마찬가지라, 밖으로 새면 학기 내내 쓸 한도가 남이 쓰는 데 나가고 계정이 막힐 수도 있습니다. 학기가 끝나면 이 키는 폐기합니다. 둘째, 한도는 반 전체가 나눠 씁니다. 이 플랜은 5시간 단위로 쓸 수 있는 양이 정해져 있는데, 스무 명이 나눠 써도 한 사람당 지시 백 번은 넘게 돌아가는 양입니다. 다만 한 사람이 '쇼핑몰을 통째로 만들어 줘' 같은 큰 작업을 돌리면 그 양을 혼자 잡아먹어서 모두가 느려집니다. 지시는 작게. Gemini 때와 같은 규칙입니다. 셋째, '잠깐 기다리는 중'이나 1302라는 숫자가 보이면, 동시에 여러 명이 요청을 보내서 줄을 선 겁니다. 제가 재 봤더니 한 번에 받아 주는 요청 수가 열 개 남짓이라(주말 수업 시간에는 조금 더 여유), 스무 명이 동시에 누르면 몇 명은 몇 초 기다립니다. Cline이 알아서 다시 시도하니 그냥 두면 되고, 계속 막히면 설정에서 API Provider를 Google Gemini로 되돌려 내 키로 계속하면 됩니다.</a:t>
            </a:r>
          </a:p>
          <a:p/>
          <a:p>
            <a:r>
              <a:rPr lang="ko-KR"/>
              <a:t>맨 아래, 언제 어느 엔진을 쓰느냐. 수업 시간에는 공용 Z.ai, 집에서 과제 할 때는 내 Gemini 키. 둘 다 Cline에 등록해 두면 설정의 API Provider 드롭다운 하나만 바꾸면 되고, 키는 Cline이 각각 기억하고 있어서 다시 붙여 넣을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이제 실제로 채웁니다. 왼쪽 그림이 Cline 설정 화면의 구성도이고, 오른쪽 다섯 단계 순서대로 갑니다. 실제 화면은 확장을 설치한 여러분 VS Code 안에서만 보여서 구성도로 그렸고, 항목 이름은 Cline 공식 문서와 Z.ai 공식 문서에 나온 그대로입니다.</a:t>
            </a:r>
          </a:p>
          <a:p/>
          <a:p>
            <a:r>
              <a:rPr lang="ko-KR"/>
              <a:t>①번. Cline 패널 오른쪽 위 톱니바퀴를 누릅니다. 아까 Gemini 설정할 때 들어갔던 그 화면입니다.</a:t>
            </a:r>
          </a:p>
          <a:p/>
          <a:p>
            <a:r>
              <a:rPr lang="ko-KR"/>
              <a:t>②번. API Provider 드롭다운을 'OpenAI Compatible'로 바꿉니다. 'OpenAI'가 아니라 뒤에 'Compatible', 호환이 붙은 것입니다. 이름에 OpenAI가 들어가서 헷갈리는데, 이건 'OpenAI 방식으로 말하는 서버라면 무엇이든'이라는 뜻이고, 우리는 그 자리에 Z.ai 주소를 넣을 겁니다. 목록에 'Z AI'라는 제공자도 따로 보이는데 그건 고르지 마세요. 그 제공자는 Z.ai의 일반 과금 주소로 요청을 보내서 우리 구독 키로는 '1113 Insufficient balance' 오류가 나고, 모델 목록도 glm-5.2까지만 있어서 5.3을 고를 수 없습니다. 제가 직접 확인한 내용입니다.</a:t>
            </a:r>
          </a:p>
          <a:p/>
          <a:p>
            <a:r>
              <a:rPr lang="ko-KR"/>
              <a:t>③번. Base URL 칸에 https://api.z.ai/api/coding/paas/v4 를 넣습니다. 한 글자라도 틀리면 연결이 안 되니 직접 치지 말고 제가 올려 드린 글에서 복사해 붙이세요. 끝에 슬래시를 더 붙이거나 앞뒤에 공백이 들어가지 않게 주의.</a:t>
            </a:r>
          </a:p>
          <a:p/>
          <a:p>
            <a:r>
              <a:rPr lang="ko-KR"/>
              <a:t>④번. API Key 칸에 수업 공용 키를 붙여넣습니다. 키는 수업 시간에 따로 알려 드립니다. Gemini 키와 마찬가지로 앞뒤 공백이나 줄바꿈이 섞이지 않게.</a:t>
            </a:r>
          </a:p>
          <a:p/>
          <a:p>
            <a:r>
              <a:rPr lang="ko-KR"/>
              <a:t>⑤번. Model 칸은 목록에서 고르는 게 아니라 직접 쳐 넣습니다. glm-5.3 이라고 소문자로 정확히. 그리고 바로 아래 Model Configuration을 펼쳐서 'Supports Images' 체크를 끕니다. 이 모델은 글만 받는 모델이라 이미지 지원을 켜 두면 Cline이 엉뚱한 요청을 보낼 수 있어서, Z.ai 공식 문서가 끄라고 안내하는 항목입니다. 다 됐으면 Done, 그리고 채팅창에 '안녕'을 보내 봅니다. 응답이 오면 연결 성공입니다. Gemini 때처럼요.</a:t>
            </a:r>
          </a:p>
          <a:p/>
          <a:p>
            <a:r>
              <a:rPr lang="ko-KR"/>
              <a:t>아래 상자는 안 될 때입니다. 'Rate limit reached'나 1302가 보이면 동시에 여러 명이 눌러서 줄을 선 것이니 기다리면 됩니다. Cline이 알아서 재시도합니다. 401이나 'Invalid API key' 같은 키 오류면 키를 다시 복사해 붙이고, Base URL도 다시 확인하세요. 그래도 계속 막히면 API Provider를 Google Gemini로 되돌리면 아까 넣어 둔 내 키가 그대로 있어서 바로 계속할 수 있습니다. 두 엔진을 다 갖춘 사람이 오늘 체크리스트를 통과하는 겁니다.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0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20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20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20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20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20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20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2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2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2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2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2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2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216.xml"/><Relationship Id="rId9"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1.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2.png"/><Relationship Id="rId6" Type="http://schemas.openxmlformats.org/officeDocument/2006/relationships/notesSlide" Target="../notesSlides/notesSlide2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1.png"/><Relationship Id="rId3" Type="http://schemas.openxmlformats.org/officeDocument/2006/relationships/image" Target="../media/image3.png"/><Relationship Id="rId4" Type="http://schemas.openxmlformats.org/officeDocument/2006/relationships/image" Target="../media/image-12-2.png"/><Relationship Id="rId5" Type="http://schemas.openxmlformats.org/officeDocument/2006/relationships/notesSlide" Target="../notesSlides/notesSlide218.xml"/></Relationships>
</file>

<file path=ppt/slides/_rels/slide19.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219.xml"/></Relationships>
</file>

<file path=ppt/slides/_rels/slide20.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220.xml"/></Relationships>
</file>

<file path=ppt/slides/_rels/slide21.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1.png"/><Relationship Id="rId3" Type="http://schemas.openxmlformats.org/officeDocument/2006/relationships/image" Target="../media/image4.png"/><Relationship Id="rId5" Type="http://schemas.openxmlformats.org/officeDocument/2006/relationships/image" Target="../media/image-12-2.png"/><Relationship Id="rId6" Type="http://schemas.openxmlformats.org/officeDocument/2006/relationships/notesSlide" Target="../notesSlides/notesSlide222.xml"/><Relationship Id="rId7"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1.png"/><Relationship Id="rId3" Type="http://schemas.openxmlformats.org/officeDocument/2006/relationships/image" Target="../media/image6.png"/><Relationship Id="rId4" Type="http://schemas.openxmlformats.org/officeDocument/2006/relationships/notesSlide" Target="../notesSlides/notesSlide2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1.png"/><Relationship Id="rId3" Type="http://schemas.openxmlformats.org/officeDocument/2006/relationships/image" Target="../media/image10.png"/><Relationship Id="rId4" Type="http://schemas.openxmlformats.org/officeDocument/2006/relationships/image" Target="../media/image-16-6.png"/><Relationship Id="rId5" Type="http://schemas.openxmlformats.org/officeDocument/2006/relationships/image" Target="../media/image-13-2.png"/><Relationship Id="rId6" Type="http://schemas.openxmlformats.org/officeDocument/2006/relationships/image" Target="../media/image9.png"/><Relationship Id="rId7" Type="http://schemas.openxmlformats.org/officeDocument/2006/relationships/image" Target="../media/image-12-2.png"/><Relationship Id="rId8" Type="http://schemas.openxmlformats.org/officeDocument/2006/relationships/notesSlide" Target="../notesSlides/notesSlide2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1.png"/><Relationship Id="rId3" Type="http://schemas.openxmlformats.org/officeDocument/2006/relationships/image" Target="../media/image-6-2.png"/><Relationship Id="rId4" Type="http://schemas.openxmlformats.org/officeDocument/2006/relationships/notesSlide" Target="../notesSlides/notesSlide2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1.png"/><Relationship Id="rId3" Type="http://schemas.openxmlformats.org/officeDocument/2006/relationships/image" Target="../media/image-13-3.png"/><Relationship Id="rId4" Type="http://schemas.openxmlformats.org/officeDocument/2006/relationships/image" Target="../media/image7.png"/><Relationship Id="rId5" Type="http://schemas.openxmlformats.org/officeDocument/2006/relationships/image" Target="../media/image-13-4.png"/><Relationship Id="rId6" Type="http://schemas.openxmlformats.org/officeDocument/2006/relationships/image" Target="../media/image8.png"/><Relationship Id="rId7" Type="http://schemas.openxmlformats.org/officeDocument/2006/relationships/image" Target="../media/image-6-2.png"/><Relationship Id="rId8" Type="http://schemas.openxmlformats.org/officeDocument/2006/relationships/notesSlide" Target="../notesSlides/notesSlide224.xml"/></Relationships>
</file>

<file path=ppt/slides/_rels/slide27.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25.xml"/></Relationships>
</file>

<file path=ppt/slides/_rels/slide28.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26.xml"/><Relationship Id="rId8" Type="http://schemas.openxmlformats.org/officeDocument/2006/relationships/image" Target="../media/image-12-2.png"/></Relationships>
</file>

<file path=ppt/slides/_rels/slide29.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2.png"/><Relationship Id="rId4" Type="http://schemas.openxmlformats.org/officeDocument/2006/relationships/image" Target="../media/image-25-2.png"/><Relationship Id="rId5" Type="http://schemas.openxmlformats.org/officeDocument/2006/relationships/image" Target="../media/image-25-2.png"/><Relationship Id="rId6" Type="http://schemas.openxmlformats.org/officeDocument/2006/relationships/image" Target="../media/image-25-2.png"/><Relationship Id="rId7" Type="http://schemas.openxmlformats.org/officeDocument/2006/relationships/slideLayout" Target="../slideLayouts/slideLayout1.xml"/><Relationship Id="rId8" Type="http://schemas.openxmlformats.org/officeDocument/2006/relationships/notesSlide" Target="../notesSlides/notesSlide227.xml"/></Relationships>
</file>

<file path=ppt/slides/_rels/slide30.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28.xml"/></Relationships>
</file>

<file path=ppt/slides/_rels/slide31.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778240" y="-2377440"/>
            <a:ext cx="6583680" cy="6583680"/>
          </a:xfrm>
          <a:prstGeom prst="ellipse">
            <a:avLst/>
          </a:prstGeom>
          <a:solidFill>
            <a:srgbClr val="201E4C"/>
          </a:solidFill>
          <a:ln/>
        </p:spPr>
        <p:txBody>
          <a:bodyPr/>
          <a:p/>
        </p:txBody>
      </p:sp>
      <p:sp>
        <p:nvSpPr>
          <p:cNvPr id="3" name="Shape 1"/>
          <p:cNvSpPr/>
          <p:nvPr/>
        </p:nvSpPr>
        <p:spPr>
          <a:xfrm>
            <a:off x="-1920240" y="4206240"/>
            <a:ext cx="4937760" cy="4937760"/>
          </a:xfrm>
          <a:prstGeom prst="ellipse">
            <a:avLst/>
          </a:prstGeom>
          <a:solidFill>
            <a:srgbClr val="2A2860"/>
          </a:solidFill>
          <a:ln/>
        </p:spPr>
        <p:txBody>
          <a:bodyPr/>
          <a:p/>
        </p:txBody>
      </p:sp>
      <p:sp>
        <p:nvSpPr>
          <p:cNvPr id="4" name="Shape 2"/>
          <p:cNvSpPr/>
          <p:nvPr/>
        </p:nvSpPr>
        <p:spPr>
          <a:xfrm>
            <a:off x="10149840" y="4937760"/>
            <a:ext cx="2377440" cy="2377440"/>
          </a:xfrm>
          <a:prstGeom prst="ellipse">
            <a:avLst/>
          </a:prstGeom>
          <a:solidFill>
            <a:srgbClr val="17163A"/>
          </a:solidFill>
          <a:ln w="19050">
            <a:solidFill>
              <a:srgbClr val="7C3AED"/>
            </a:solidFill>
            <a:prstDash val="solid"/>
          </a:ln>
        </p:spPr>
        <p:txBody>
          <a:bodyPr/>
          <a:p/>
        </p:txBody>
      </p:sp>
      <p:sp>
        <p:nvSpPr>
          <p:cNvPr id="5" name="Text 3"/>
          <p:cNvSpPr/>
          <p:nvPr/>
        </p:nvSpPr>
        <p:spPr>
          <a:xfrm>
            <a:off x="658368" y="1417320"/>
            <a:ext cx="8229600" cy="292608"/>
          </a:xfrm>
          <a:prstGeom prst="rect">
            <a:avLst/>
          </a:prstGeom>
          <a:noFill/>
          <a:ln/>
        </p:spPr>
        <p:txBody>
          <a:bodyPr wrap="square" lIns="0" tIns="0" rIns="0" bIns="0" rtlCol="0" anchor="ctr"/>
          <a:lstStyle/>
          <a:p>
            <a:pPr indent="0" marL="0">
              <a:buNone/>
            </a:pPr>
            <a:r>
              <a:rPr lang="en-US" sz="1300" b="1" spc="200" kern="0" dirty="0">
                <a:solidFill>
                  <a:srgbClr val="B79CF7"/>
                </a:solidFill>
                <a:latin typeface="Malgun Gothic" pitchFamily="34" charset="0"/>
                <a:ea typeface="Malgun Gothic" pitchFamily="34" charset="-122"/>
                <a:cs typeface="Malgun Gothic" pitchFamily="34" charset="-120"/>
              </a:rPr>
              <a:t>생성형 AI 소프트웨어공학  ·  2026학년도 2학기  ·  2강</a:t>
            </a:r>
            <a:endParaRPr lang="en-US" sz="1300" dirty="0"/>
          </a:p>
        </p:txBody>
      </p:sp>
      <p:sp>
        <p:nvSpPr>
          <p:cNvPr id="6" name="Text 4"/>
          <p:cNvSpPr/>
          <p:nvPr/>
        </p:nvSpPr>
        <p:spPr>
          <a:xfrm>
            <a:off x="658368" y="1874520"/>
            <a:ext cx="9326880" cy="2103120"/>
          </a:xfrm>
          <a:prstGeom prst="rect">
            <a:avLst/>
          </a:prstGeom>
          <a:noFill/>
          <a:ln/>
        </p:spPr>
        <p:txBody>
          <a:bodyPr wrap="square" lIns="0" tIns="0" rIns="0" bIns="0" rtlCol="0" anchor="t"/>
          <a:lstStyle/>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소프트웨어 개발</a:t>
            </a:r>
            <a:endParaRPr lang="en-US" sz="4600" dirty="0"/>
          </a:p>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프로세스 모델</a:t>
            </a:r>
            <a:endParaRPr lang="en-US" sz="4600" dirty="0"/>
          </a:p>
        </p:txBody>
      </p:sp>
      <p:sp>
        <p:nvSpPr>
          <p:cNvPr id="7" name="Text 5"/>
          <p:cNvSpPr/>
          <p:nvPr/>
        </p:nvSpPr>
        <p:spPr>
          <a:xfrm>
            <a:off x="658368" y="4160520"/>
            <a:ext cx="9144000" cy="548640"/>
          </a:xfrm>
          <a:prstGeom prst="rect">
            <a:avLst/>
          </a:prstGeom>
          <a:noFill/>
          <a:ln/>
        </p:spPr>
        <p:txBody>
          <a:bodyPr wrap="square" lIns="0" tIns="0" rIns="0" bIns="0" rtlCol="0" anchor="ctr"/>
          <a:lstStyle/>
          <a:p>
            <a:pPr indent="0" marL="0">
              <a:buNone/>
            </a:pPr>
            <a:r>
              <a:rPr lang="en-US" sz="1500" dirty="0">
                <a:solidFill>
                  <a:srgbClr val="E7E6FB"/>
                </a:solidFill>
                <a:latin typeface="Malgun Gothic" pitchFamily="34" charset="0"/>
                <a:ea typeface="Malgun Gothic" pitchFamily="34" charset="-122"/>
                <a:cs typeface="Malgun Gothic" pitchFamily="34" charset="-120"/>
              </a:rPr>
              <a:t>그리고 AI 도구 환경 구축: Gemini API 키 발급 · 환경변수 설정 · VS Code에 Cline 연결</a:t>
            </a:r>
            <a:endParaRPr lang="en-US" sz="1500" dirty="0"/>
          </a:p>
        </p:txBody>
      </p:sp>
      <p:sp>
        <p:nvSpPr>
          <p:cNvPr id="8" name="Text 6"/>
          <p:cNvSpPr/>
          <p:nvPr/>
        </p:nvSpPr>
        <p:spPr>
          <a:xfrm>
            <a:off x="658368" y="5989320"/>
            <a:ext cx="7315200" cy="365760"/>
          </a:xfrm>
          <a:prstGeom prst="rect">
            <a:avLst/>
          </a:prstGeom>
          <a:noFill/>
          <a:ln/>
        </p:spPr>
        <p:txBody>
          <a:bodyPr wrap="square" lIns="0" tIns="0" rIns="0" bIns="0" rtlCol="0" anchor="ctr"/>
          <a:lstStyle/>
          <a:p>
            <a:pPr indent="0" marL="0">
              <a:buNone/>
            </a:pPr>
            <a:r>
              <a:rPr lang="en-US" sz="1300" dirty="0">
                <a:solidFill>
                  <a:srgbClr val="9E9CCF"/>
                </a:solidFill>
                <a:latin typeface="Malgun Gothic" pitchFamily="34" charset="0"/>
                <a:ea typeface="Malgun Gothic" pitchFamily="34" charset="-122"/>
                <a:cs typeface="Malgun Gothic" pitchFamily="34" charset="-120"/>
              </a:rPr>
              <a:t>대전대학교 컴퓨터공학과  ·  박상돈</a:t>
            </a:r>
            <a:endParaRPr lang="en-US" sz="1300" dirty="0"/>
          </a:p>
        </p:txBody>
      </p:sp>
      <p:sp>
        <p:nvSpPr>
          <p:cNvPr id="9" name="Shape 7"/>
          <p:cNvSpPr/>
          <p:nvPr/>
        </p:nvSpPr>
        <p:spPr>
          <a:xfrm>
            <a:off x="9829800" y="1234440"/>
            <a:ext cx="1417320" cy="1417320"/>
          </a:xfrm>
          <a:prstGeom prst="ellipse">
            <a:avLst/>
          </a:prstGeom>
          <a:solidFill>
            <a:srgbClr val="7C3AED"/>
          </a:solidFill>
          <a:ln/>
        </p:spPr>
        <p:txBody>
          <a:bodyPr/>
          <a:p/>
        </p:txBody>
      </p:sp>
      <p:pic>
        <p:nvPicPr>
          <p:cNvPr id="10" name="Image 0" descr="/home/claude/icons/route_white.png">    </p:cNvPr>
          <p:cNvPicPr>
            <a:picLocks noChangeAspect="1"/>
          </p:cNvPicPr>
          <p:nvPr/>
        </p:nvPicPr>
        <p:blipFill>
          <a:blip r:embed="rId1"/>
          <a:stretch>
            <a:fillRect/>
          </a:stretch>
        </p:blipFill>
        <p:spPr>
          <a:xfrm>
            <a:off x="10184130" y="1588770"/>
            <a:ext cx="708660" cy="7086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057400" cy="384048"/>
          </a:xfrm>
          <a:prstGeom prst="roundRect">
            <a:avLst>
              <a:gd name="adj" fmla="val 50000"/>
            </a:avLst>
          </a:prstGeom>
          <a:solidFill>
            <a:srgbClr val="EDECFB"/>
          </a:solidFill>
          <a:ln/>
        </p:spPr>
        <p:txBody>
          <a:bodyPr/>
          <a:p/>
        </p:txBody>
      </p:sp>
      <p:pic>
        <p:nvPicPr>
          <p:cNvPr id="3" name="Image 0" descr="/home/claude/icons/compas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67335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2강 · 수업 안내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지난 시간, 그리고 오늘</a:t>
            </a:r>
            <a:endParaRPr lang="en-US" sz="2600" dirty="0"/>
          </a:p>
        </p:txBody>
      </p:sp>
      <p:sp>
        <p:nvSpPr>
          <p:cNvPr id="6" name="Shape 3"/>
          <p:cNvSpPr/>
          <p:nvPr/>
        </p:nvSpPr>
        <p:spPr>
          <a:xfrm>
            <a:off x="658368" y="1783080"/>
            <a:ext cx="4892040" cy="3977640"/>
          </a:xfrm>
          <a:prstGeom prst="roundRect">
            <a:avLst>
              <a:gd name="adj" fmla="val 2299"/>
            </a:avLst>
          </a:prstGeom>
          <a:solidFill>
            <a:srgbClr val="F5F4FC"/>
          </a:solidFill>
          <a:ln/>
        </p:spPr>
        <p:txBody>
          <a:bodyPr/>
          <a:p/>
        </p:txBody>
      </p:sp>
      <p:sp>
        <p:nvSpPr>
          <p:cNvPr id="7" name="Text 4"/>
          <p:cNvSpPr/>
          <p:nvPr/>
        </p:nvSpPr>
        <p:spPr>
          <a:xfrm>
            <a:off x="932688" y="1993392"/>
            <a:ext cx="4206240" cy="310896"/>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지난 시간 요약</a:t>
            </a:r>
            <a:endParaRPr lang="en-US" sz="1350" dirty="0"/>
          </a:p>
        </p:txBody>
      </p:sp>
      <p:sp>
        <p:nvSpPr>
          <p:cNvPr id="8" name="Text 5"/>
          <p:cNvSpPr/>
          <p:nvPr/>
        </p:nvSpPr>
        <p:spPr>
          <a:xfrm>
            <a:off x="932688" y="2395728"/>
            <a:ext cx="4370832" cy="3108960"/>
          </a:xfrm>
          <a:prstGeom prst="rect">
            <a:avLst/>
          </a:prstGeom>
          <a:noFill/>
          <a:ln/>
        </p:spPr>
        <p:txBody>
          <a:bodyPr wrap="square" lIns="0" tIns="0" rIns="0" bIns="0" rtlCol="0" anchor="t"/>
          <a:lstStyle/>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소프트웨어공학은 '만드는 과정'의 학문이고, 큰 사고는 늘 과정에서 왔습니다.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구현이 자동화될수록 정의 · 설계 · 검증 · 책임이라는 사람의 몫이 커집니다.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그리고 여러분 노트북에는 이제 Python · VS Code · Git · GitHub 작업대가 있습니다. 오늘 그 위에 AI를 얹습니다.</a:t>
            </a:r>
            <a:endParaRPr lang="en-US" sz="1200" dirty="0"/>
          </a:p>
        </p:txBody>
      </p:sp>
      <p:sp>
        <p:nvSpPr>
          <p:cNvPr id="9" name="Shape 6"/>
          <p:cNvSpPr/>
          <p:nvPr/>
        </p:nvSpPr>
        <p:spPr>
          <a:xfrm>
            <a:off x="5897880" y="1783080"/>
            <a:ext cx="5632704" cy="1170432"/>
          </a:xfrm>
          <a:prstGeom prst="roundRect">
            <a:avLst>
              <a:gd name="adj" fmla="val 781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0" name="Shape 7"/>
          <p:cNvSpPr/>
          <p:nvPr/>
        </p:nvSpPr>
        <p:spPr>
          <a:xfrm>
            <a:off x="6117336" y="2121408"/>
            <a:ext cx="493776" cy="493776"/>
          </a:xfrm>
          <a:prstGeom prst="ellipse">
            <a:avLst/>
          </a:prstGeom>
          <a:solidFill>
            <a:srgbClr val="7C3AED"/>
          </a:solidFill>
          <a:ln/>
        </p:spPr>
        <p:txBody>
          <a:bodyPr/>
          <a:p/>
        </p:txBody>
      </p:sp>
      <p:sp>
        <p:nvSpPr>
          <p:cNvPr id="11" name="Text 8"/>
          <p:cNvSpPr/>
          <p:nvPr/>
        </p:nvSpPr>
        <p:spPr>
          <a:xfrm>
            <a:off x="6117336" y="212140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12" name="Text 9"/>
          <p:cNvSpPr/>
          <p:nvPr/>
        </p:nvSpPr>
        <p:spPr>
          <a:xfrm>
            <a:off x="6830568" y="1947672"/>
            <a:ext cx="4480560" cy="329184"/>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개발 프로세스 모델</a:t>
            </a:r>
            <a:endParaRPr lang="en-US" sz="1400" dirty="0"/>
          </a:p>
        </p:txBody>
      </p:sp>
      <p:sp>
        <p:nvSpPr>
          <p:cNvPr id="13" name="Text 10"/>
          <p:cNvSpPr/>
          <p:nvPr/>
        </p:nvSpPr>
        <p:spPr>
          <a:xfrm>
            <a:off x="6830568" y="2295144"/>
            <a:ext cx="4480560" cy="548640"/>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폭포수 · 반복적 · 애자일. 순서가 결과를 바꿉니다.</a:t>
            </a:r>
            <a:endParaRPr lang="en-US" sz="1100" dirty="0"/>
          </a:p>
        </p:txBody>
      </p:sp>
      <p:sp>
        <p:nvSpPr>
          <p:cNvPr id="14" name="Shape 11"/>
          <p:cNvSpPr/>
          <p:nvPr/>
        </p:nvSpPr>
        <p:spPr>
          <a:xfrm>
            <a:off x="5897880" y="3136392"/>
            <a:ext cx="5632704" cy="1170432"/>
          </a:xfrm>
          <a:prstGeom prst="roundRect">
            <a:avLst>
              <a:gd name="adj" fmla="val 781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5" name="Shape 12"/>
          <p:cNvSpPr/>
          <p:nvPr/>
        </p:nvSpPr>
        <p:spPr>
          <a:xfrm>
            <a:off x="6117336" y="3474720"/>
            <a:ext cx="493776" cy="493776"/>
          </a:xfrm>
          <a:prstGeom prst="ellipse">
            <a:avLst/>
          </a:prstGeom>
          <a:solidFill>
            <a:srgbClr val="38BDF8"/>
          </a:solidFill>
          <a:ln/>
        </p:spPr>
        <p:txBody>
          <a:bodyPr/>
          <a:p/>
        </p:txBody>
      </p:sp>
      <p:sp>
        <p:nvSpPr>
          <p:cNvPr id="16" name="Text 13"/>
          <p:cNvSpPr/>
          <p:nvPr/>
        </p:nvSpPr>
        <p:spPr>
          <a:xfrm>
            <a:off x="6117336" y="347472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7" name="Text 14"/>
          <p:cNvSpPr/>
          <p:nvPr/>
        </p:nvSpPr>
        <p:spPr>
          <a:xfrm>
            <a:off x="6830568" y="3300984"/>
            <a:ext cx="4480560" cy="329184"/>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애자일 실무 용어</a:t>
            </a:r>
            <a:endParaRPr lang="en-US" sz="1400" dirty="0"/>
          </a:p>
        </p:txBody>
      </p:sp>
      <p:sp>
        <p:nvSpPr>
          <p:cNvPr id="18" name="Text 15"/>
          <p:cNvSpPr/>
          <p:nvPr/>
        </p:nvSpPr>
        <p:spPr>
          <a:xfrm>
            <a:off x="6830568" y="3648456"/>
            <a:ext cx="4480560" cy="548640"/>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스프린트 · 데일리 스크럼 · 백로그. 팀 프로젝트의 공용어.</a:t>
            </a:r>
            <a:endParaRPr lang="en-US" sz="1100" dirty="0"/>
          </a:p>
        </p:txBody>
      </p:sp>
      <p:sp>
        <p:nvSpPr>
          <p:cNvPr id="19" name="Shape 16"/>
          <p:cNvSpPr/>
          <p:nvPr/>
        </p:nvSpPr>
        <p:spPr>
          <a:xfrm>
            <a:off x="5897880" y="4489704"/>
            <a:ext cx="5632704" cy="1170432"/>
          </a:xfrm>
          <a:prstGeom prst="roundRect">
            <a:avLst>
              <a:gd name="adj" fmla="val 781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0" name="Shape 17"/>
          <p:cNvSpPr/>
          <p:nvPr/>
        </p:nvSpPr>
        <p:spPr>
          <a:xfrm>
            <a:off x="6117336" y="4828032"/>
            <a:ext cx="493776" cy="493776"/>
          </a:xfrm>
          <a:prstGeom prst="ellipse">
            <a:avLst/>
          </a:prstGeom>
          <a:solidFill>
            <a:srgbClr val="14B8A6"/>
          </a:solidFill>
          <a:ln/>
        </p:spPr>
        <p:txBody>
          <a:bodyPr/>
          <a:p/>
        </p:txBody>
      </p:sp>
      <p:sp>
        <p:nvSpPr>
          <p:cNvPr id="21" name="Text 18"/>
          <p:cNvSpPr/>
          <p:nvPr/>
        </p:nvSpPr>
        <p:spPr>
          <a:xfrm>
            <a:off x="6117336" y="482803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22" name="Text 19"/>
          <p:cNvSpPr/>
          <p:nvPr/>
        </p:nvSpPr>
        <p:spPr>
          <a:xfrm>
            <a:off x="6830568" y="4654296"/>
            <a:ext cx="4480560" cy="329184"/>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AI 도구 환경 구축 (실습)</a:t>
            </a:r>
            <a:endParaRPr lang="en-US" sz="1400" dirty="0"/>
          </a:p>
        </p:txBody>
      </p:sp>
      <p:sp>
        <p:nvSpPr>
          <p:cNvPr id="23" name="Text 20"/>
          <p:cNvSpPr/>
          <p:nvPr/>
        </p:nvSpPr>
        <p:spPr>
          <a:xfrm>
            <a:off x="6830568" y="5001768"/>
            <a:ext cx="4480560" cy="548640"/>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API 키 발급 → 환경변수 → Cline 연결 → 첫 지시.</a:t>
            </a:r>
            <a:endParaRPr lang="en-US" sz="1100" dirty="0"/>
          </a:p>
        </p:txBody>
      </p:sp>
      <p:sp>
        <p:nvSpPr>
          <p:cNvPr id="24" name="Text 21"/>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txBody>
          <a:bodyPr/>
          <a:p/>
        </p:txBody>
      </p:sp>
      <p:sp>
        <p:nvSpPr>
          <p:cNvPr id="3" name="Shape 1"/>
          <p:cNvSpPr/>
          <p:nvPr/>
        </p:nvSpPr>
        <p:spPr>
          <a:xfrm>
            <a:off x="-1737360" y="4480560"/>
            <a:ext cx="4297680" cy="4297680"/>
          </a:xfrm>
          <a:prstGeom prst="ellipse">
            <a:avLst/>
          </a:prstGeom>
          <a:solidFill>
            <a:srgbClr val="2A2860"/>
          </a:solidFill>
          <a:ln/>
        </p:spPr>
        <p:txBody>
          <a:bodyPr/>
          <a:p/>
        </p:txBody>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01</a:t>
            </a:r>
            <a:endParaRPr lang="en-US" sz="12000" dirty="0"/>
          </a:p>
        </p:txBody>
      </p:sp>
      <p:sp>
        <p:nvSpPr>
          <p:cNvPr id="5" name="Shape 3"/>
          <p:cNvSpPr/>
          <p:nvPr/>
        </p:nvSpPr>
        <p:spPr>
          <a:xfrm>
            <a:off x="658368" y="2103120"/>
            <a:ext cx="1691640" cy="457200"/>
          </a:xfrm>
          <a:prstGeom prst="roundRect">
            <a:avLst>
              <a:gd name="adj" fmla="val 50000"/>
            </a:avLst>
          </a:prstGeom>
          <a:solidFill>
            <a:srgbClr val="7C3AED"/>
          </a:solidFill>
          <a:ln/>
        </p:spPr>
        <p:txBody>
          <a:bodyPr/>
          <a:p/>
        </p:txBody>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1</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개발 프로세스 모델</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같은 것을 만들어도 '순서'가 다르면 결과가 다릅니다. 세 가지 대표 모델을 비교합니다.</a:t>
            </a:r>
            <a:endParaRPr lang="en-US" sz="1400" dirty="0"/>
          </a:p>
        </p:txBody>
      </p:sp>
      <p:sp>
        <p:nvSpPr>
          <p:cNvPr id="9" name="Shape 7"/>
          <p:cNvSpPr/>
          <p:nvPr/>
        </p:nvSpPr>
        <p:spPr>
          <a:xfrm>
            <a:off x="9738360" y="4343400"/>
            <a:ext cx="1325880" cy="1325880"/>
          </a:xfrm>
          <a:prstGeom prst="ellipse">
            <a:avLst/>
          </a:prstGeom>
          <a:solidFill>
            <a:srgbClr val="7C3AED"/>
          </a:solidFill>
          <a:ln/>
        </p:spPr>
        <p:txBody>
          <a:bodyPr/>
          <a:p/>
        </p:txBody>
      </p:sp>
      <p:pic>
        <p:nvPicPr>
          <p:cNvPr id="10" name="Image 0" descr="/home/claude/icons/route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프로세스 모델이란</a:t>
            </a:r>
            <a:endParaRPr lang="en-US" sz="2600" dirty="0"/>
          </a:p>
        </p:txBody>
      </p:sp>
      <p:sp>
        <p:nvSpPr>
          <p:cNvPr id="6" name="Shape 3"/>
          <p:cNvSpPr/>
          <p:nvPr/>
        </p:nvSpPr>
        <p:spPr>
          <a:xfrm>
            <a:off x="658368" y="1783080"/>
            <a:ext cx="10872216" cy="1417320"/>
          </a:xfrm>
          <a:prstGeom prst="roundRect">
            <a:avLst>
              <a:gd name="adj" fmla="val 6452"/>
            </a:avLst>
          </a:prstGeom>
          <a:solidFill>
            <a:srgbClr val="F5F4FC"/>
          </a:solidFill>
          <a:ln/>
        </p:spPr>
        <p:txBody>
          <a:bodyPr/>
          <a:p/>
        </p:txBody>
      </p:sp>
      <p:sp>
        <p:nvSpPr>
          <p:cNvPr id="7" name="Text 4"/>
          <p:cNvSpPr/>
          <p:nvPr/>
        </p:nvSpPr>
        <p:spPr>
          <a:xfrm>
            <a:off x="1024128" y="1920240"/>
            <a:ext cx="10140696" cy="1143000"/>
          </a:xfrm>
          <a:prstGeom prst="rect">
            <a:avLst/>
          </a:prstGeom>
          <a:noFill/>
          <a:ln/>
        </p:spPr>
        <p:txBody>
          <a:bodyPr wrap="square" lIns="0" tIns="0" rIns="0" bIns="0" rtlCol="0" anchor="ctr"/>
          <a:lstStyle/>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소프트웨어를 만드는 </a:t>
            </a:r>
            <a:pPr indent="0" marL="0">
              <a:lnSpc>
                <a:spcPts val="2500"/>
              </a:lnSpc>
              <a:buNone/>
            </a:pPr>
            <a:r>
              <a:rPr lang="en-US" sz="1550" b="1" dirty="0">
                <a:solidFill>
                  <a:srgbClr val="1E1B3A"/>
                </a:solidFill>
                <a:latin typeface="Malgun Gothic" pitchFamily="34" charset="0"/>
                <a:ea typeface="Malgun Gothic" pitchFamily="34" charset="-122"/>
                <a:cs typeface="Malgun Gothic" pitchFamily="34" charset="-120"/>
              </a:rPr>
              <a:t>활동들의 순서와 방식</a:t>
            </a:r>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을 정해 둔 틀입니다. 무엇을 먼저 하고, 언제 확인하고,</a:t>
            </a:r>
            <a:endParaRPr lang="en-US" sz="1550" dirty="0"/>
          </a:p>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어떻게 변경에 대응할지에 대한 </a:t>
            </a:r>
            <a:endParaRPr lang="en-US" sz="1550" dirty="0"/>
          </a:p>
          <a:p>
            <a:pPr indent="0" marL="0">
              <a:lnSpc>
                <a:spcPts val="2500"/>
              </a:lnSpc>
              <a:buNone/>
            </a:pPr>
            <a:r>
              <a:rPr lang="en-US" sz="1550" b="1" dirty="0">
                <a:solidFill>
                  <a:srgbClr val="1E1B3A"/>
                </a:solidFill>
                <a:latin typeface="Malgun Gothic" pitchFamily="34" charset="0"/>
                <a:ea typeface="Malgun Gothic" pitchFamily="34" charset="-122"/>
                <a:cs typeface="Malgun Gothic" pitchFamily="34" charset="-120"/>
              </a:rPr>
              <a:t>팀의 합의</a:t>
            </a:r>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입니다.</a:t>
            </a:r>
            <a:endParaRPr lang="en-US" sz="1550" dirty="0"/>
          </a:p>
        </p:txBody>
      </p:sp>
      <p:sp>
        <p:nvSpPr>
          <p:cNvPr id="8" name="Text 5"/>
          <p:cNvSpPr/>
          <p:nvPr/>
        </p:nvSpPr>
        <p:spPr>
          <a:xfrm>
            <a:off x="658368" y="3474720"/>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6B7185"/>
                </a:solidFill>
                <a:latin typeface="Malgun Gothic" pitchFamily="34" charset="0"/>
                <a:ea typeface="Malgun Gothic" pitchFamily="34" charset="-122"/>
                <a:cs typeface="Malgun Gothic" pitchFamily="34" charset="-120"/>
              </a:rPr>
              <a:t>집 짓기로 비유하면 이렇습니다.</a:t>
            </a:r>
            <a:endParaRPr lang="en-US" sz="1250" dirty="0"/>
          </a:p>
        </p:txBody>
      </p:sp>
      <p:sp>
        <p:nvSpPr>
          <p:cNvPr id="9" name="Shape 6"/>
          <p:cNvSpPr/>
          <p:nvPr/>
        </p:nvSpPr>
        <p:spPr>
          <a:xfrm>
            <a:off x="658368" y="38862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0" name="Shape 7"/>
          <p:cNvSpPr/>
          <p:nvPr/>
        </p:nvSpPr>
        <p:spPr>
          <a:xfrm>
            <a:off x="896112" y="4123944"/>
            <a:ext cx="512064" cy="512064"/>
          </a:xfrm>
          <a:prstGeom prst="ellipse">
            <a:avLst/>
          </a:prstGeom>
          <a:solidFill>
            <a:srgbClr val="FB7185"/>
          </a:solidFill>
          <a:ln/>
        </p:spPr>
        <p:txBody>
          <a:bodyPr/>
          <a:p/>
        </p:txBody>
      </p:sp>
      <p:pic>
        <p:nvPicPr>
          <p:cNvPr id="11" name="Image 1" descr="/home/claude/icons/warn_white.png">    </p:cNvPr>
          <p:cNvPicPr>
            <a:picLocks noChangeAspect="1"/>
          </p:cNvPicPr>
          <p:nvPr/>
        </p:nvPicPr>
        <p:blipFill>
          <a:blip r:embed="rId2"/>
          <a:stretch>
            <a:fillRect/>
          </a:stretch>
        </p:blipFill>
        <p:spPr>
          <a:xfrm>
            <a:off x="1024128" y="4251960"/>
            <a:ext cx="256032" cy="256032"/>
          </a:xfrm>
          <a:prstGeom prst="rect">
            <a:avLst/>
          </a:prstGeom>
        </p:spPr>
      </p:pic>
      <p:sp>
        <p:nvSpPr>
          <p:cNvPr id="12" name="Text 8"/>
          <p:cNvSpPr/>
          <p:nvPr/>
        </p:nvSpPr>
        <p:spPr>
          <a:xfrm>
            <a:off x="896112" y="47640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설계도 없이 벽부터 올리면</a:t>
            </a:r>
            <a:endParaRPr lang="en-US" sz="1350" dirty="0"/>
          </a:p>
        </p:txBody>
      </p:sp>
      <p:sp>
        <p:nvSpPr>
          <p:cNvPr id="13" name="Text 9"/>
          <p:cNvSpPr/>
          <p:nvPr/>
        </p:nvSpPr>
        <p:spPr>
          <a:xfrm>
            <a:off x="896112" y="5056632"/>
            <a:ext cx="4850892" cy="50292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다 짓고 나서 "현관이 없네요"를 발견합니다. 순서가 틀리면 뒤에서 비용을 치릅니다.</a:t>
            </a:r>
            <a:endParaRPr lang="en-US" sz="1150" dirty="0"/>
          </a:p>
        </p:txBody>
      </p:sp>
      <p:sp>
        <p:nvSpPr>
          <p:cNvPr id="14" name="Shape 10"/>
          <p:cNvSpPr/>
          <p:nvPr/>
        </p:nvSpPr>
        <p:spPr>
          <a:xfrm>
            <a:off x="6222492" y="38862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5" name="Shape 11"/>
          <p:cNvSpPr/>
          <p:nvPr/>
        </p:nvSpPr>
        <p:spPr>
          <a:xfrm>
            <a:off x="6460236" y="4123944"/>
            <a:ext cx="512064" cy="512064"/>
          </a:xfrm>
          <a:prstGeom prst="ellipse">
            <a:avLst/>
          </a:prstGeom>
          <a:solidFill>
            <a:srgbClr val="F59E0B"/>
          </a:solidFill>
          <a:ln/>
        </p:spPr>
        <p:txBody>
          <a:bodyPr/>
          <a:p/>
        </p:txBody>
      </p:sp>
      <p:pic>
        <p:nvPicPr>
          <p:cNvPr id="16" name="Image 2" descr="/home/claude/icons/users_white.png">    </p:cNvPr>
          <p:cNvPicPr>
            <a:picLocks noChangeAspect="1"/>
          </p:cNvPicPr>
          <p:nvPr/>
        </p:nvPicPr>
        <p:blipFill>
          <a:blip r:embed="rId3"/>
          <a:stretch>
            <a:fillRect/>
          </a:stretch>
        </p:blipFill>
        <p:spPr>
          <a:xfrm>
            <a:off x="6588252" y="4251960"/>
            <a:ext cx="256032" cy="256032"/>
          </a:xfrm>
          <a:prstGeom prst="rect">
            <a:avLst/>
          </a:prstGeom>
        </p:spPr>
      </p:pic>
      <p:sp>
        <p:nvSpPr>
          <p:cNvPr id="17" name="Text 12"/>
          <p:cNvSpPr/>
          <p:nvPr/>
        </p:nvSpPr>
        <p:spPr>
          <a:xfrm>
            <a:off x="6460236" y="47640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네 명이 각자 순서로 지으면</a:t>
            </a:r>
            <a:endParaRPr lang="en-US" sz="1350" dirty="0"/>
          </a:p>
        </p:txBody>
      </p:sp>
      <p:sp>
        <p:nvSpPr>
          <p:cNvPr id="18" name="Text 13"/>
          <p:cNvSpPr/>
          <p:nvPr/>
        </p:nvSpPr>
        <p:spPr>
          <a:xfrm>
            <a:off x="6460236" y="5056632"/>
            <a:ext cx="4850892" cy="50292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지붕 팀과 기둥 팀이 서로를 기다리다 충돌합니다. 순서는 팀 전체의 합의여야 합니다.</a:t>
            </a:r>
            <a:endParaRPr lang="en-US" sz="1150" dirty="0"/>
          </a:p>
        </p:txBody>
      </p:sp>
      <p:sp>
        <p:nvSpPr>
          <p:cNvPr id="19" name="Text 14"/>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폭포수(Waterfall) 모델: 한 방향으로 흐른다</a:t>
            </a:r>
            <a:endParaRPr lang="en-US" sz="2600" dirty="0"/>
          </a:p>
        </p:txBody>
      </p:sp>
      <p:sp>
        <p:nvSpPr>
          <p:cNvPr id="6" name="Shape 3"/>
          <p:cNvSpPr/>
          <p:nvPr/>
        </p:nvSpPr>
        <p:spPr>
          <a:xfrm>
            <a:off x="777240" y="1783080"/>
            <a:ext cx="1938528" cy="841248"/>
          </a:xfrm>
          <a:prstGeom prst="roundRect">
            <a:avLst>
              <a:gd name="adj" fmla="val 1087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Text 4"/>
          <p:cNvSpPr/>
          <p:nvPr/>
        </p:nvSpPr>
        <p:spPr>
          <a:xfrm>
            <a:off x="941832" y="1874520"/>
            <a:ext cx="164592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요구분석</a:t>
            </a:r>
            <a:endParaRPr lang="en-US" sz="1300" dirty="0"/>
          </a:p>
        </p:txBody>
      </p:sp>
      <p:sp>
        <p:nvSpPr>
          <p:cNvPr id="8" name="Text 5"/>
          <p:cNvSpPr/>
          <p:nvPr/>
        </p:nvSpPr>
        <p:spPr>
          <a:xfrm>
            <a:off x="941832" y="2185416"/>
            <a:ext cx="1645920" cy="329184"/>
          </a:xfrm>
          <a:prstGeom prst="rect">
            <a:avLst/>
          </a:prstGeom>
          <a:noFill/>
          <a:ln/>
        </p:spPr>
        <p:txBody>
          <a:bodyPr wrap="square" lIns="0" tIns="0" rIns="0" bIns="0" rtlCol="0" anchor="ctr"/>
          <a:lstStyle/>
          <a:p>
            <a:pPr indent="0" marL="0">
              <a:buNone/>
            </a:pPr>
            <a:r>
              <a:rPr lang="en-US" sz="1000" dirty="0">
                <a:solidFill>
                  <a:srgbClr val="6B7185"/>
                </a:solidFill>
                <a:latin typeface="Malgun Gothic" pitchFamily="34" charset="0"/>
                <a:ea typeface="Malgun Gothic" pitchFamily="34" charset="-122"/>
                <a:cs typeface="Malgun Gothic" pitchFamily="34" charset="-120"/>
              </a:rPr>
              <a:t>무엇을 만들지 확정</a:t>
            </a:r>
            <a:endParaRPr lang="en-US" sz="1000" dirty="0"/>
          </a:p>
        </p:txBody>
      </p:sp>
      <p:sp>
        <p:nvSpPr>
          <p:cNvPr id="9" name="Shape 6"/>
          <p:cNvSpPr/>
          <p:nvPr/>
        </p:nvSpPr>
        <p:spPr>
          <a:xfrm>
            <a:off x="2715768" y="2203704"/>
            <a:ext cx="164592" cy="594360"/>
          </a:xfrm>
          <a:prstGeom prst="line">
            <a:avLst/>
          </a:prstGeom>
          <a:noFill/>
          <a:ln w="25400">
            <a:solidFill>
              <a:srgbClr val="7C3AED"/>
            </a:solidFill>
            <a:prstDash val="solid"/>
            <a:tailEnd type="triangle"/>
          </a:ln>
        </p:spPr>
        <p:txBody>
          <a:bodyPr/>
          <a:p/>
        </p:txBody>
      </p:sp>
      <p:sp>
        <p:nvSpPr>
          <p:cNvPr id="10" name="Shape 7"/>
          <p:cNvSpPr/>
          <p:nvPr/>
        </p:nvSpPr>
        <p:spPr>
          <a:xfrm>
            <a:off x="2880360" y="2459736"/>
            <a:ext cx="1938528" cy="841248"/>
          </a:xfrm>
          <a:prstGeom prst="roundRect">
            <a:avLst>
              <a:gd name="adj" fmla="val 1087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1" name="Text 8"/>
          <p:cNvSpPr/>
          <p:nvPr/>
        </p:nvSpPr>
        <p:spPr>
          <a:xfrm>
            <a:off x="3044952" y="2551176"/>
            <a:ext cx="164592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설계</a:t>
            </a:r>
            <a:endParaRPr lang="en-US" sz="1300" dirty="0"/>
          </a:p>
        </p:txBody>
      </p:sp>
      <p:sp>
        <p:nvSpPr>
          <p:cNvPr id="12" name="Text 9"/>
          <p:cNvSpPr/>
          <p:nvPr/>
        </p:nvSpPr>
        <p:spPr>
          <a:xfrm>
            <a:off x="3044952" y="2862072"/>
            <a:ext cx="1645920" cy="329184"/>
          </a:xfrm>
          <a:prstGeom prst="rect">
            <a:avLst/>
          </a:prstGeom>
          <a:noFill/>
          <a:ln/>
        </p:spPr>
        <p:txBody>
          <a:bodyPr wrap="square" lIns="0" tIns="0" rIns="0" bIns="0" rtlCol="0" anchor="ctr"/>
          <a:lstStyle/>
          <a:p>
            <a:pPr indent="0" marL="0">
              <a:buNone/>
            </a:pPr>
            <a:r>
              <a:rPr lang="en-US" sz="1000" dirty="0">
                <a:solidFill>
                  <a:srgbClr val="6B7185"/>
                </a:solidFill>
                <a:latin typeface="Malgun Gothic" pitchFamily="34" charset="0"/>
                <a:ea typeface="Malgun Gothic" pitchFamily="34" charset="-122"/>
                <a:cs typeface="Malgun Gothic" pitchFamily="34" charset="-120"/>
              </a:rPr>
              <a:t>구조와 화면을 결정</a:t>
            </a:r>
            <a:endParaRPr lang="en-US" sz="1000" dirty="0"/>
          </a:p>
        </p:txBody>
      </p:sp>
      <p:sp>
        <p:nvSpPr>
          <p:cNvPr id="13" name="Shape 10"/>
          <p:cNvSpPr/>
          <p:nvPr/>
        </p:nvSpPr>
        <p:spPr>
          <a:xfrm>
            <a:off x="4818888" y="2880360"/>
            <a:ext cx="164592" cy="594360"/>
          </a:xfrm>
          <a:prstGeom prst="line">
            <a:avLst/>
          </a:prstGeom>
          <a:noFill/>
          <a:ln w="25400">
            <a:solidFill>
              <a:srgbClr val="7C3AED"/>
            </a:solidFill>
            <a:prstDash val="solid"/>
            <a:tailEnd type="triangle"/>
          </a:ln>
        </p:spPr>
        <p:txBody>
          <a:bodyPr/>
          <a:p/>
        </p:txBody>
      </p:sp>
      <p:sp>
        <p:nvSpPr>
          <p:cNvPr id="14" name="Shape 11"/>
          <p:cNvSpPr/>
          <p:nvPr/>
        </p:nvSpPr>
        <p:spPr>
          <a:xfrm>
            <a:off x="4983480" y="3136392"/>
            <a:ext cx="1938528" cy="841248"/>
          </a:xfrm>
          <a:prstGeom prst="roundRect">
            <a:avLst>
              <a:gd name="adj" fmla="val 1087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5" name="Text 12"/>
          <p:cNvSpPr/>
          <p:nvPr/>
        </p:nvSpPr>
        <p:spPr>
          <a:xfrm>
            <a:off x="5148072" y="3227832"/>
            <a:ext cx="164592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구현</a:t>
            </a:r>
            <a:endParaRPr lang="en-US" sz="1300" dirty="0"/>
          </a:p>
        </p:txBody>
      </p:sp>
      <p:sp>
        <p:nvSpPr>
          <p:cNvPr id="16" name="Text 13"/>
          <p:cNvSpPr/>
          <p:nvPr/>
        </p:nvSpPr>
        <p:spPr>
          <a:xfrm>
            <a:off x="5148072" y="3538728"/>
            <a:ext cx="1645920" cy="329184"/>
          </a:xfrm>
          <a:prstGeom prst="rect">
            <a:avLst/>
          </a:prstGeom>
          <a:noFill/>
          <a:ln/>
        </p:spPr>
        <p:txBody>
          <a:bodyPr wrap="square" lIns="0" tIns="0" rIns="0" bIns="0" rtlCol="0" anchor="ctr"/>
          <a:lstStyle/>
          <a:p>
            <a:pPr indent="0" marL="0">
              <a:buNone/>
            </a:pPr>
            <a:r>
              <a:rPr lang="en-US" sz="1000" dirty="0">
                <a:solidFill>
                  <a:srgbClr val="6B7185"/>
                </a:solidFill>
                <a:latin typeface="Malgun Gothic" pitchFamily="34" charset="0"/>
                <a:ea typeface="Malgun Gothic" pitchFamily="34" charset="-122"/>
                <a:cs typeface="Malgun Gothic" pitchFamily="34" charset="-120"/>
              </a:rPr>
              <a:t>코드로 만든다</a:t>
            </a:r>
            <a:endParaRPr lang="en-US" sz="1000" dirty="0"/>
          </a:p>
        </p:txBody>
      </p:sp>
      <p:sp>
        <p:nvSpPr>
          <p:cNvPr id="17" name="Shape 14"/>
          <p:cNvSpPr/>
          <p:nvPr/>
        </p:nvSpPr>
        <p:spPr>
          <a:xfrm>
            <a:off x="6922008" y="3557016"/>
            <a:ext cx="164592" cy="594360"/>
          </a:xfrm>
          <a:prstGeom prst="line">
            <a:avLst/>
          </a:prstGeom>
          <a:noFill/>
          <a:ln w="25400">
            <a:solidFill>
              <a:srgbClr val="7C3AED"/>
            </a:solidFill>
            <a:prstDash val="solid"/>
            <a:tailEnd type="triangle"/>
          </a:ln>
        </p:spPr>
        <p:txBody>
          <a:bodyPr/>
          <a:p/>
        </p:txBody>
      </p:sp>
      <p:sp>
        <p:nvSpPr>
          <p:cNvPr id="18" name="Shape 15"/>
          <p:cNvSpPr/>
          <p:nvPr/>
        </p:nvSpPr>
        <p:spPr>
          <a:xfrm>
            <a:off x="7086600" y="3813048"/>
            <a:ext cx="1938528" cy="841248"/>
          </a:xfrm>
          <a:prstGeom prst="roundRect">
            <a:avLst>
              <a:gd name="adj" fmla="val 1087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9" name="Text 16"/>
          <p:cNvSpPr/>
          <p:nvPr/>
        </p:nvSpPr>
        <p:spPr>
          <a:xfrm>
            <a:off x="7251192" y="3904488"/>
            <a:ext cx="164592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테스트</a:t>
            </a:r>
            <a:endParaRPr lang="en-US" sz="1300" dirty="0"/>
          </a:p>
        </p:txBody>
      </p:sp>
      <p:sp>
        <p:nvSpPr>
          <p:cNvPr id="20" name="Text 17"/>
          <p:cNvSpPr/>
          <p:nvPr/>
        </p:nvSpPr>
        <p:spPr>
          <a:xfrm>
            <a:off x="7251192" y="4215384"/>
            <a:ext cx="1645920" cy="329184"/>
          </a:xfrm>
          <a:prstGeom prst="rect">
            <a:avLst/>
          </a:prstGeom>
          <a:noFill/>
          <a:ln/>
        </p:spPr>
        <p:txBody>
          <a:bodyPr wrap="square" lIns="0" tIns="0" rIns="0" bIns="0" rtlCol="0" anchor="ctr"/>
          <a:lstStyle/>
          <a:p>
            <a:pPr indent="0" marL="0">
              <a:buNone/>
            </a:pPr>
            <a:r>
              <a:rPr lang="en-US" sz="1000" dirty="0">
                <a:solidFill>
                  <a:srgbClr val="6B7185"/>
                </a:solidFill>
                <a:latin typeface="Malgun Gothic" pitchFamily="34" charset="0"/>
                <a:ea typeface="Malgun Gothic" pitchFamily="34" charset="-122"/>
                <a:cs typeface="Malgun Gothic" pitchFamily="34" charset="-120"/>
              </a:rPr>
              <a:t>요구대로인지 검증</a:t>
            </a:r>
            <a:endParaRPr lang="en-US" sz="1000" dirty="0"/>
          </a:p>
        </p:txBody>
      </p:sp>
      <p:sp>
        <p:nvSpPr>
          <p:cNvPr id="21" name="Shape 18"/>
          <p:cNvSpPr/>
          <p:nvPr/>
        </p:nvSpPr>
        <p:spPr>
          <a:xfrm>
            <a:off x="9025128" y="4233672"/>
            <a:ext cx="164592" cy="594360"/>
          </a:xfrm>
          <a:prstGeom prst="line">
            <a:avLst/>
          </a:prstGeom>
          <a:noFill/>
          <a:ln w="25400">
            <a:solidFill>
              <a:srgbClr val="7C3AED"/>
            </a:solidFill>
            <a:prstDash val="solid"/>
            <a:tailEnd type="triangle"/>
          </a:ln>
        </p:spPr>
        <p:txBody>
          <a:bodyPr/>
          <a:p/>
        </p:txBody>
      </p:sp>
      <p:sp>
        <p:nvSpPr>
          <p:cNvPr id="22" name="Shape 19"/>
          <p:cNvSpPr/>
          <p:nvPr/>
        </p:nvSpPr>
        <p:spPr>
          <a:xfrm>
            <a:off x="9189720" y="4489704"/>
            <a:ext cx="1938528" cy="841248"/>
          </a:xfrm>
          <a:prstGeom prst="roundRect">
            <a:avLst>
              <a:gd name="adj" fmla="val 1087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3" name="Text 20"/>
          <p:cNvSpPr/>
          <p:nvPr/>
        </p:nvSpPr>
        <p:spPr>
          <a:xfrm>
            <a:off x="9354312" y="4581144"/>
            <a:ext cx="164592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유지보수</a:t>
            </a:r>
            <a:endParaRPr lang="en-US" sz="1300" dirty="0"/>
          </a:p>
        </p:txBody>
      </p:sp>
      <p:sp>
        <p:nvSpPr>
          <p:cNvPr id="24" name="Text 21"/>
          <p:cNvSpPr/>
          <p:nvPr/>
        </p:nvSpPr>
        <p:spPr>
          <a:xfrm>
            <a:off x="9354312" y="4892040"/>
            <a:ext cx="1645920" cy="329184"/>
          </a:xfrm>
          <a:prstGeom prst="rect">
            <a:avLst/>
          </a:prstGeom>
          <a:noFill/>
          <a:ln/>
        </p:spPr>
        <p:txBody>
          <a:bodyPr wrap="square" lIns="0" tIns="0" rIns="0" bIns="0" rtlCol="0" anchor="ctr"/>
          <a:lstStyle/>
          <a:p>
            <a:pPr indent="0" marL="0">
              <a:buNone/>
            </a:pPr>
            <a:r>
              <a:rPr lang="en-US" sz="1000" dirty="0">
                <a:solidFill>
                  <a:srgbClr val="6B7185"/>
                </a:solidFill>
                <a:latin typeface="Malgun Gothic" pitchFamily="34" charset="0"/>
                <a:ea typeface="Malgun Gothic" pitchFamily="34" charset="-122"/>
                <a:cs typeface="Malgun Gothic" pitchFamily="34" charset="-120"/>
              </a:rPr>
              <a:t>운영하며 고친다</a:t>
            </a:r>
            <a:endParaRPr lang="en-US" sz="1000" dirty="0"/>
          </a:p>
        </p:txBody>
      </p:sp>
      <p:sp>
        <p:nvSpPr>
          <p:cNvPr id="25" name="Shape 22"/>
          <p:cNvSpPr/>
          <p:nvPr/>
        </p:nvSpPr>
        <p:spPr>
          <a:xfrm>
            <a:off x="658368" y="5440680"/>
            <a:ext cx="10872216" cy="868680"/>
          </a:xfrm>
          <a:prstGeom prst="roundRect">
            <a:avLst>
              <a:gd name="adj" fmla="val 10526"/>
            </a:avLst>
          </a:prstGeom>
          <a:solidFill>
            <a:srgbClr val="F5F4FC"/>
          </a:solidFill>
          <a:ln/>
        </p:spPr>
        <p:txBody>
          <a:bodyPr/>
          <a:p/>
        </p:txBody>
      </p:sp>
      <p:sp>
        <p:nvSpPr>
          <p:cNvPr id="26" name="Shape 23"/>
          <p:cNvSpPr/>
          <p:nvPr/>
        </p:nvSpPr>
        <p:spPr>
          <a:xfrm>
            <a:off x="877824" y="5637276"/>
            <a:ext cx="475488" cy="475488"/>
          </a:xfrm>
          <a:prstGeom prst="ellipse">
            <a:avLst/>
          </a:prstGeom>
          <a:solidFill>
            <a:srgbClr val="7C3AED"/>
          </a:solidFill>
          <a:ln/>
        </p:spPr>
        <p:txBody>
          <a:bodyPr/>
          <a:p/>
        </p:txBody>
      </p:sp>
      <p:pic>
        <p:nvPicPr>
          <p:cNvPr id="27" name="Image 1" descr="/home/claude/icons/water_white.png">    </p:cNvPr>
          <p:cNvPicPr>
            <a:picLocks noChangeAspect="1"/>
          </p:cNvPicPr>
          <p:nvPr/>
        </p:nvPicPr>
        <p:blipFill>
          <a:blip r:embed="rId2"/>
          <a:stretch>
            <a:fillRect/>
          </a:stretch>
        </p:blipFill>
        <p:spPr>
          <a:xfrm>
            <a:off x="996696" y="5756148"/>
            <a:ext cx="237744" cy="237744"/>
          </a:xfrm>
          <a:prstGeom prst="rect">
            <a:avLst/>
          </a:prstGeom>
        </p:spPr>
      </p:pic>
      <p:sp>
        <p:nvSpPr>
          <p:cNvPr id="28" name="Text 24"/>
          <p:cNvSpPr/>
          <p:nvPr/>
        </p:nvSpPr>
        <p:spPr>
          <a:xfrm>
            <a:off x="1554480" y="553212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핵심 성질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각 단계를 완전히 끝내고 문서로 인수인계하며 다음 단계로 갑니다. 물이 아래로만 흐르듯, 되돌아가는 것을 전제하지 않습니다.</a:t>
            </a:r>
            <a:endParaRPr lang="en-US" sz="1300" dirty="0"/>
          </a:p>
        </p:txBody>
      </p:sp>
      <p:sp>
        <p:nvSpPr>
          <p:cNvPr id="29" name="Text 2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폭포수의 빛과 그림자</a:t>
            </a:r>
            <a:endParaRPr lang="en-US" sz="2600" dirty="0"/>
          </a:p>
        </p:txBody>
      </p:sp>
      <p:sp>
        <p:nvSpPr>
          <p:cNvPr id="6" name="Shape 3"/>
          <p:cNvSpPr/>
          <p:nvPr/>
        </p:nvSpPr>
        <p:spPr>
          <a:xfrm>
            <a:off x="658368" y="1783080"/>
            <a:ext cx="5303520" cy="3977640"/>
          </a:xfrm>
          <a:prstGeom prst="roundRect">
            <a:avLst>
              <a:gd name="adj" fmla="val 229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914400" y="2029968"/>
            <a:ext cx="475488" cy="475488"/>
          </a:xfrm>
          <a:prstGeom prst="ellipse">
            <a:avLst/>
          </a:prstGeom>
          <a:solidFill>
            <a:srgbClr val="10B981"/>
          </a:solidFill>
          <a:ln/>
        </p:spPr>
        <p:txBody>
          <a:bodyPr/>
          <a:p/>
        </p:txBody>
      </p:sp>
      <p:pic>
        <p:nvPicPr>
          <p:cNvPr id="8" name="Image 1" descr="/home/claude/icons/check_white.png">    </p:cNvPr>
          <p:cNvPicPr>
            <a:picLocks noChangeAspect="1"/>
          </p:cNvPicPr>
          <p:nvPr/>
        </p:nvPicPr>
        <p:blipFill>
          <a:blip r:embed="rId2"/>
          <a:stretch>
            <a:fillRect/>
          </a:stretch>
        </p:blipFill>
        <p:spPr>
          <a:xfrm>
            <a:off x="1033272" y="2148840"/>
            <a:ext cx="237744" cy="237744"/>
          </a:xfrm>
          <a:prstGeom prst="rect">
            <a:avLst/>
          </a:prstGeom>
        </p:spPr>
      </p:pic>
      <p:sp>
        <p:nvSpPr>
          <p:cNvPr id="9" name="Text 5"/>
          <p:cNvSpPr/>
          <p:nvPr/>
        </p:nvSpPr>
        <p:spPr>
          <a:xfrm>
            <a:off x="1554480" y="2084832"/>
            <a:ext cx="4114800" cy="329184"/>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장점: 명확함</a:t>
            </a:r>
            <a:endParaRPr lang="en-US" sz="1450" dirty="0"/>
          </a:p>
        </p:txBody>
      </p:sp>
      <p:sp>
        <p:nvSpPr>
          <p:cNvPr id="10" name="Text 6"/>
          <p:cNvSpPr/>
          <p:nvPr/>
        </p:nvSpPr>
        <p:spPr>
          <a:xfrm>
            <a:off x="950976" y="2651760"/>
            <a:ext cx="4754880" cy="2834640"/>
          </a:xfrm>
          <a:prstGeom prst="rect">
            <a:avLst/>
          </a:prstGeom>
          <a:noFill/>
          <a:ln/>
        </p:spPr>
        <p:txBody>
          <a:bodyPr wrap="square" lIns="0" tIns="0" rIns="0" bIns="0" rtlCol="0" anchor="t"/>
          <a:lstStyle/>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단계와 산출물이 뚜렷해 계획 · 일정 · 역할 분담이 쉽습니다.</a:t>
            </a:r>
            <a:endParaRPr lang="en-US" sz="1200" dirty="0"/>
          </a:p>
          <a:p>
            <a:pPr algn="l" indent="0" marL="0">
              <a:lnSpc>
                <a:spcPts val="1860"/>
              </a:lnSpc>
              <a:buNone/>
            </a:pPr>
            <a:endParaRPr lang="en-US" sz="1200" dirty="0"/>
          </a:p>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각 단계의 문서가 남아 인수인계와 감리에 강합니다.</a:t>
            </a:r>
            <a:endParaRPr lang="en-US" sz="1200" dirty="0"/>
          </a:p>
          <a:p>
            <a:pPr algn="l" indent="0" marL="0">
              <a:lnSpc>
                <a:spcPts val="1860"/>
              </a:lnSpc>
              <a:buNone/>
            </a:pPr>
            <a:endParaRPr lang="en-US" sz="1200" dirty="0"/>
          </a:p>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요구가 처음부터 확정될 수 있는 프로젝트에서는 여전히 유효합니다.</a:t>
            </a:r>
            <a:endParaRPr lang="en-US" sz="1200" dirty="0"/>
          </a:p>
        </p:txBody>
      </p:sp>
      <p:sp>
        <p:nvSpPr>
          <p:cNvPr id="11" name="Shape 7"/>
          <p:cNvSpPr/>
          <p:nvPr/>
        </p:nvSpPr>
        <p:spPr>
          <a:xfrm>
            <a:off x="6227064" y="1783080"/>
            <a:ext cx="5303520" cy="3977640"/>
          </a:xfrm>
          <a:prstGeom prst="roundRect">
            <a:avLst>
              <a:gd name="adj" fmla="val 229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Shape 8"/>
          <p:cNvSpPr/>
          <p:nvPr/>
        </p:nvSpPr>
        <p:spPr>
          <a:xfrm>
            <a:off x="6483096" y="2029968"/>
            <a:ext cx="475488" cy="475488"/>
          </a:xfrm>
          <a:prstGeom prst="ellipse">
            <a:avLst/>
          </a:prstGeom>
          <a:solidFill>
            <a:srgbClr val="FB7185"/>
          </a:solidFill>
          <a:ln/>
        </p:spPr>
        <p:txBody>
          <a:bodyPr/>
          <a:p/>
        </p:txBody>
      </p:sp>
      <p:pic>
        <p:nvPicPr>
          <p:cNvPr id="13" name="Image 2" descr="/home/claude/icons/warn_white.png">    </p:cNvPr>
          <p:cNvPicPr>
            <a:picLocks noChangeAspect="1"/>
          </p:cNvPicPr>
          <p:nvPr/>
        </p:nvPicPr>
        <p:blipFill>
          <a:blip r:embed="rId3"/>
          <a:stretch>
            <a:fillRect/>
          </a:stretch>
        </p:blipFill>
        <p:spPr>
          <a:xfrm>
            <a:off x="6601968" y="2148840"/>
            <a:ext cx="237744" cy="237744"/>
          </a:xfrm>
          <a:prstGeom prst="rect">
            <a:avLst/>
          </a:prstGeom>
        </p:spPr>
      </p:pic>
      <p:sp>
        <p:nvSpPr>
          <p:cNvPr id="14" name="Text 9"/>
          <p:cNvSpPr/>
          <p:nvPr/>
        </p:nvSpPr>
        <p:spPr>
          <a:xfrm>
            <a:off x="7123176" y="2084832"/>
            <a:ext cx="4114800" cy="329184"/>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한계: 피드백이 늦다</a:t>
            </a:r>
            <a:endParaRPr lang="en-US" sz="1450" dirty="0"/>
          </a:p>
        </p:txBody>
      </p:sp>
      <p:sp>
        <p:nvSpPr>
          <p:cNvPr id="15" name="Text 10"/>
          <p:cNvSpPr/>
          <p:nvPr/>
        </p:nvSpPr>
        <p:spPr>
          <a:xfrm>
            <a:off x="6519672" y="2651760"/>
            <a:ext cx="4754880" cy="2834640"/>
          </a:xfrm>
          <a:prstGeom prst="rect">
            <a:avLst/>
          </a:prstGeom>
          <a:noFill/>
          <a:ln/>
        </p:spPr>
        <p:txBody>
          <a:bodyPr wrap="square" lIns="0" tIns="0" rIns="0" bIns="0" rtlCol="0" anchor="t"/>
          <a:lstStyle/>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고객은 맨 끝에야 동작하는 것을 봅니다. "다 만들었는데, 이게 아니에요"가 최악의 시나리오.</a:t>
            </a:r>
            <a:endParaRPr lang="en-US" sz="1200" dirty="0"/>
          </a:p>
          <a:p>
            <a:pPr algn="l" indent="0" marL="0">
              <a:lnSpc>
                <a:spcPts val="1860"/>
              </a:lnSpc>
              <a:buNone/>
            </a:pPr>
            <a:endParaRPr lang="en-US" sz="1200" dirty="0"/>
          </a:p>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뒤늦게 발견된 요구 변경은 앞 단계 전부를 다시 여는 비용을 부릅니다.</a:t>
            </a:r>
            <a:endParaRPr lang="en-US" sz="1200" dirty="0"/>
          </a:p>
          <a:p>
            <a:pPr algn="l" indent="0" marL="0">
              <a:lnSpc>
                <a:spcPts val="1860"/>
              </a:lnSpc>
              <a:buNone/>
            </a:pPr>
            <a:endParaRPr lang="en-US" sz="1200" dirty="0"/>
          </a:p>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처음에 요구를 완벽히 아는 프로젝트는 생각보다 드뭅니다.</a:t>
            </a:r>
            <a:endParaRPr lang="en-US" sz="1200" dirty="0"/>
          </a:p>
        </p:txBody>
      </p:sp>
      <p:sp>
        <p:nvSpPr>
          <p:cNvPr id="16" name="Text 11"/>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반복적(Iterative) 모델: 작은 바퀴를 여러 번</a:t>
            </a:r>
            <a:endParaRPr lang="en-US" sz="2600" dirty="0"/>
          </a:p>
        </p:txBody>
      </p:sp>
      <p:sp>
        <p:nvSpPr>
          <p:cNvPr id="6" name="Shape 3"/>
          <p:cNvSpPr/>
          <p:nvPr/>
        </p:nvSpPr>
        <p:spPr>
          <a:xfrm>
            <a:off x="749808" y="1874520"/>
            <a:ext cx="1225296" cy="658368"/>
          </a:xfrm>
          <a:prstGeom prst="roundRect">
            <a:avLst>
              <a:gd name="adj" fmla="val 1388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Text 4"/>
          <p:cNvSpPr/>
          <p:nvPr/>
        </p:nvSpPr>
        <p:spPr>
          <a:xfrm>
            <a:off x="749808" y="1874520"/>
            <a:ext cx="1225296" cy="65836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계획</a:t>
            </a:r>
            <a:endParaRPr lang="en-US" sz="1250" dirty="0"/>
          </a:p>
        </p:txBody>
      </p:sp>
      <p:sp>
        <p:nvSpPr>
          <p:cNvPr id="8" name="Shape 5"/>
          <p:cNvSpPr/>
          <p:nvPr/>
        </p:nvSpPr>
        <p:spPr>
          <a:xfrm>
            <a:off x="2011680" y="2103120"/>
            <a:ext cx="182880" cy="201168"/>
          </a:xfrm>
          <a:prstGeom prst="rightArrow">
            <a:avLst/>
          </a:prstGeom>
          <a:solidFill>
            <a:srgbClr val="7C3AED"/>
          </a:solidFill>
          <a:ln/>
        </p:spPr>
        <p:txBody>
          <a:bodyPr/>
          <a:p/>
        </p:txBody>
      </p:sp>
      <p:sp>
        <p:nvSpPr>
          <p:cNvPr id="9" name="Shape 6"/>
          <p:cNvSpPr/>
          <p:nvPr/>
        </p:nvSpPr>
        <p:spPr>
          <a:xfrm>
            <a:off x="2231136" y="1874520"/>
            <a:ext cx="1225296" cy="658368"/>
          </a:xfrm>
          <a:prstGeom prst="roundRect">
            <a:avLst>
              <a:gd name="adj" fmla="val 1388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0" name="Text 7"/>
          <p:cNvSpPr/>
          <p:nvPr/>
        </p:nvSpPr>
        <p:spPr>
          <a:xfrm>
            <a:off x="2231136" y="1874520"/>
            <a:ext cx="1225296" cy="65836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개발</a:t>
            </a:r>
            <a:endParaRPr lang="en-US" sz="1250" dirty="0"/>
          </a:p>
        </p:txBody>
      </p:sp>
      <p:sp>
        <p:nvSpPr>
          <p:cNvPr id="11" name="Shape 8"/>
          <p:cNvSpPr/>
          <p:nvPr/>
        </p:nvSpPr>
        <p:spPr>
          <a:xfrm>
            <a:off x="3493008" y="2103120"/>
            <a:ext cx="182880" cy="201168"/>
          </a:xfrm>
          <a:prstGeom prst="rightArrow">
            <a:avLst/>
          </a:prstGeom>
          <a:solidFill>
            <a:srgbClr val="7C3AED"/>
          </a:solidFill>
          <a:ln/>
        </p:spPr>
        <p:txBody>
          <a:bodyPr/>
          <a:p/>
        </p:txBody>
      </p:sp>
      <p:sp>
        <p:nvSpPr>
          <p:cNvPr id="12" name="Shape 9"/>
          <p:cNvSpPr/>
          <p:nvPr/>
        </p:nvSpPr>
        <p:spPr>
          <a:xfrm>
            <a:off x="3712464" y="1874520"/>
            <a:ext cx="1225296" cy="658368"/>
          </a:xfrm>
          <a:prstGeom prst="roundRect">
            <a:avLst>
              <a:gd name="adj" fmla="val 1388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3" name="Text 10"/>
          <p:cNvSpPr/>
          <p:nvPr/>
        </p:nvSpPr>
        <p:spPr>
          <a:xfrm>
            <a:off x="3712464" y="1874520"/>
            <a:ext cx="1225296" cy="65836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확인</a:t>
            </a:r>
            <a:endParaRPr lang="en-US" sz="1250" dirty="0"/>
          </a:p>
        </p:txBody>
      </p:sp>
      <p:sp>
        <p:nvSpPr>
          <p:cNvPr id="14" name="Shape 11"/>
          <p:cNvSpPr/>
          <p:nvPr/>
        </p:nvSpPr>
        <p:spPr>
          <a:xfrm>
            <a:off x="4974336" y="2103120"/>
            <a:ext cx="182880" cy="201168"/>
          </a:xfrm>
          <a:prstGeom prst="rightArrow">
            <a:avLst/>
          </a:prstGeom>
          <a:solidFill>
            <a:srgbClr val="7C3AED"/>
          </a:solidFill>
          <a:ln/>
        </p:spPr>
        <p:txBody>
          <a:bodyPr/>
          <a:p/>
        </p:txBody>
      </p:sp>
      <p:sp>
        <p:nvSpPr>
          <p:cNvPr id="15" name="Shape 12"/>
          <p:cNvSpPr/>
          <p:nvPr/>
        </p:nvSpPr>
        <p:spPr>
          <a:xfrm>
            <a:off x="5193792" y="1874520"/>
            <a:ext cx="1225296" cy="658368"/>
          </a:xfrm>
          <a:prstGeom prst="roundRect">
            <a:avLst>
              <a:gd name="adj" fmla="val 1388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6" name="Text 13"/>
          <p:cNvSpPr/>
          <p:nvPr/>
        </p:nvSpPr>
        <p:spPr>
          <a:xfrm>
            <a:off x="5193792" y="1874520"/>
            <a:ext cx="1225296" cy="65836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피드백</a:t>
            </a:r>
            <a:endParaRPr lang="en-US" sz="1250" dirty="0"/>
          </a:p>
        </p:txBody>
      </p:sp>
      <p:sp>
        <p:nvSpPr>
          <p:cNvPr id="17" name="Shape 14"/>
          <p:cNvSpPr/>
          <p:nvPr/>
        </p:nvSpPr>
        <p:spPr>
          <a:xfrm>
            <a:off x="1069848" y="2761488"/>
            <a:ext cx="4892040" cy="219456"/>
          </a:xfrm>
          <a:prstGeom prst="leftArrow">
            <a:avLst/>
          </a:prstGeom>
          <a:solidFill>
            <a:srgbClr val="E7E6FB"/>
          </a:solidFill>
          <a:ln/>
        </p:spPr>
        <p:txBody>
          <a:bodyPr/>
          <a:p/>
        </p:txBody>
      </p:sp>
      <p:sp>
        <p:nvSpPr>
          <p:cNvPr id="18" name="Text 15"/>
          <p:cNvSpPr/>
          <p:nvPr/>
        </p:nvSpPr>
        <p:spPr>
          <a:xfrm>
            <a:off x="1069848" y="3017520"/>
            <a:ext cx="4892040" cy="274320"/>
          </a:xfrm>
          <a:prstGeom prst="rect">
            <a:avLst/>
          </a:prstGeom>
          <a:noFill/>
          <a:ln/>
        </p:spPr>
        <p:txBody>
          <a:bodyPr wrap="square" lIns="0" tIns="0" rIns="0" bIns="0" rtlCol="0" anchor="ctr"/>
          <a:lstStyle/>
          <a:p>
            <a:pPr algn="ctr" indent="0" marL="0">
              <a:buNone/>
            </a:pPr>
            <a:r>
              <a:rPr lang="en-US" sz="1050" dirty="0">
                <a:solidFill>
                  <a:srgbClr val="6B7185"/>
                </a:solidFill>
                <a:latin typeface="Malgun Gothic" pitchFamily="34" charset="0"/>
                <a:ea typeface="Malgun Gothic" pitchFamily="34" charset="-122"/>
                <a:cs typeface="Malgun Gothic" pitchFamily="34" charset="-120"/>
              </a:rPr>
              <a:t>× N번 반복하며 점점 완성으로</a:t>
            </a:r>
            <a:endParaRPr lang="en-US" sz="1050" dirty="0"/>
          </a:p>
        </p:txBody>
      </p:sp>
      <p:sp>
        <p:nvSpPr>
          <p:cNvPr id="19" name="Text 16"/>
          <p:cNvSpPr/>
          <p:nvPr/>
        </p:nvSpPr>
        <p:spPr>
          <a:xfrm>
            <a:off x="6675120" y="1847088"/>
            <a:ext cx="4846320" cy="155448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한 번에 전부를 만드는 대신, 계획 → 개발 → 확인 → 피드백의 작은 바퀴를 여러 번 굴려 완성에 다가갑니다. 확인이 매 바퀴마다 있으니 "이게 아니에요"를 일찍 듣습니다.</a:t>
            </a:r>
            <a:endParaRPr lang="en-US" sz="1250" dirty="0"/>
          </a:p>
        </p:txBody>
      </p:sp>
      <p:sp>
        <p:nvSpPr>
          <p:cNvPr id="20" name="Shape 17"/>
          <p:cNvSpPr/>
          <p:nvPr/>
        </p:nvSpPr>
        <p:spPr>
          <a:xfrm>
            <a:off x="658368" y="3703320"/>
            <a:ext cx="5308092" cy="1965960"/>
          </a:xfrm>
          <a:prstGeom prst="roundRect">
            <a:avLst>
              <a:gd name="adj" fmla="val 4651"/>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1" name="Shape 18"/>
          <p:cNvSpPr/>
          <p:nvPr/>
        </p:nvSpPr>
        <p:spPr>
          <a:xfrm>
            <a:off x="896112" y="3941064"/>
            <a:ext cx="512064" cy="512064"/>
          </a:xfrm>
          <a:prstGeom prst="ellipse">
            <a:avLst/>
          </a:prstGeom>
          <a:solidFill>
            <a:srgbClr val="38BDF8"/>
          </a:solidFill>
          <a:ln/>
        </p:spPr>
        <p:txBody>
          <a:bodyPr/>
          <a:p/>
        </p:txBody>
      </p:sp>
      <p:pic>
        <p:nvPicPr>
          <p:cNvPr id="22" name="Image 1" descr="/home/claude/icons/layers_white.png">    </p:cNvPr>
          <p:cNvPicPr>
            <a:picLocks noChangeAspect="1"/>
          </p:cNvPicPr>
          <p:nvPr/>
        </p:nvPicPr>
        <p:blipFill>
          <a:blip r:embed="rId2"/>
          <a:stretch>
            <a:fillRect/>
          </a:stretch>
        </p:blipFill>
        <p:spPr>
          <a:xfrm>
            <a:off x="1024128" y="4069080"/>
            <a:ext cx="256032" cy="256032"/>
          </a:xfrm>
          <a:prstGeom prst="rect">
            <a:avLst/>
          </a:prstGeom>
        </p:spPr>
      </p:pic>
      <p:sp>
        <p:nvSpPr>
          <p:cNvPr id="23" name="Text 19"/>
          <p:cNvSpPr/>
          <p:nvPr/>
        </p:nvSpPr>
        <p:spPr>
          <a:xfrm>
            <a:off x="896112" y="4581144"/>
            <a:ext cx="4850892"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증분(Incremental): 조각씩 완성</a:t>
            </a:r>
            <a:endParaRPr lang="en-US" sz="1250" dirty="0"/>
          </a:p>
        </p:txBody>
      </p:sp>
      <p:sp>
        <p:nvSpPr>
          <p:cNvPr id="24" name="Text 20"/>
          <p:cNvSpPr/>
          <p:nvPr/>
        </p:nvSpPr>
        <p:spPr>
          <a:xfrm>
            <a:off x="896112" y="4873752"/>
            <a:ext cx="4850892" cy="68580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피자를 한 조각씩 완성해 내놓는 방식. 기능 1을 끝내 배포하고, 기능 2를 더하고… 매 회차 '완성된 일부'가 나옵니다.</a:t>
            </a:r>
            <a:endParaRPr lang="en-US" sz="1100" dirty="0"/>
          </a:p>
        </p:txBody>
      </p:sp>
      <p:sp>
        <p:nvSpPr>
          <p:cNvPr id="25" name="Shape 21"/>
          <p:cNvSpPr/>
          <p:nvPr/>
        </p:nvSpPr>
        <p:spPr>
          <a:xfrm>
            <a:off x="6222492" y="3703320"/>
            <a:ext cx="5308092" cy="1965960"/>
          </a:xfrm>
          <a:prstGeom prst="roundRect">
            <a:avLst>
              <a:gd name="adj" fmla="val 4651"/>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6" name="Shape 22"/>
          <p:cNvSpPr/>
          <p:nvPr/>
        </p:nvSpPr>
        <p:spPr>
          <a:xfrm>
            <a:off x="6460236" y="3941064"/>
            <a:ext cx="512064" cy="512064"/>
          </a:xfrm>
          <a:prstGeom prst="ellipse">
            <a:avLst/>
          </a:prstGeom>
          <a:solidFill>
            <a:srgbClr val="7C3AED"/>
          </a:solidFill>
          <a:ln/>
        </p:spPr>
        <p:txBody>
          <a:bodyPr/>
          <a:p/>
        </p:txBody>
      </p:sp>
      <p:pic>
        <p:nvPicPr>
          <p:cNvPr id="27" name="Image 2" descr="/home/claude/icons/sync_white.png">    </p:cNvPr>
          <p:cNvPicPr>
            <a:picLocks noChangeAspect="1"/>
          </p:cNvPicPr>
          <p:nvPr/>
        </p:nvPicPr>
        <p:blipFill>
          <a:blip r:embed="rId3"/>
          <a:stretch>
            <a:fillRect/>
          </a:stretch>
        </p:blipFill>
        <p:spPr>
          <a:xfrm>
            <a:off x="6588252" y="4069080"/>
            <a:ext cx="256032" cy="256032"/>
          </a:xfrm>
          <a:prstGeom prst="rect">
            <a:avLst/>
          </a:prstGeom>
        </p:spPr>
      </p:pic>
      <p:sp>
        <p:nvSpPr>
          <p:cNvPr id="28" name="Text 23"/>
          <p:cNvSpPr/>
          <p:nvPr/>
        </p:nvSpPr>
        <p:spPr>
          <a:xfrm>
            <a:off x="6460236" y="4581144"/>
            <a:ext cx="4850892"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반복(Iterative): 전체를 다듬기</a:t>
            </a:r>
            <a:endParaRPr lang="en-US" sz="1250" dirty="0"/>
          </a:p>
        </p:txBody>
      </p:sp>
      <p:sp>
        <p:nvSpPr>
          <p:cNvPr id="29" name="Text 24"/>
          <p:cNvSpPr/>
          <p:nvPr/>
        </p:nvSpPr>
        <p:spPr>
          <a:xfrm>
            <a:off x="6460236" y="4873752"/>
            <a:ext cx="4850892" cy="68580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그림을 스케치 → 밑색 → 세부 묘사로 완성하는 방식. 매 회차 '전체의 더 나은 버전'이 나옵니다. 실제로는 둘을 섞어 씁니다.</a:t>
            </a:r>
            <a:endParaRPr lang="en-US" sz="1100" dirty="0"/>
          </a:p>
        </p:txBody>
      </p:sp>
      <p:sp>
        <p:nvSpPr>
          <p:cNvPr id="30" name="Text 2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애자일: 2001년, 열일곱 명의 선언</a:t>
            </a:r>
            <a:endParaRPr lang="en-US" sz="2600" dirty="0"/>
          </a:p>
        </p:txBody>
      </p:sp>
      <p:sp>
        <p:nvSpPr>
          <p:cNvPr id="6" name="Text 3"/>
          <p:cNvSpPr/>
          <p:nvPr/>
        </p:nvSpPr>
        <p:spPr>
          <a:xfrm>
            <a:off x="658368" y="1609344"/>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무거운 문서와 계획 중심 개발에 지친 개발자 17명이 모여 네 줄의 가치 선언을 발표했습니다.</a:t>
            </a:r>
            <a:endParaRPr lang="en-US" sz="1250" dirty="0"/>
          </a:p>
        </p:txBody>
      </p:sp>
      <p:sp>
        <p:nvSpPr>
          <p:cNvPr id="7" name="Shape 4"/>
          <p:cNvSpPr/>
          <p:nvPr/>
        </p:nvSpPr>
        <p:spPr>
          <a:xfrm>
            <a:off x="658368" y="2148840"/>
            <a:ext cx="10872216" cy="676656"/>
          </a:xfrm>
          <a:prstGeom prst="roundRect">
            <a:avLst>
              <a:gd name="adj" fmla="val 13514"/>
            </a:avLst>
          </a:prstGeom>
          <a:solidFill>
            <a:srgbClr val="FFFFFF"/>
          </a:solidFill>
          <a:ln w="9525">
            <a:solidFill>
              <a:srgbClr val="E5E5F0"/>
            </a:solidFill>
            <a:prstDash val="solid"/>
          </a:ln>
        </p:spPr>
        <p:txBody>
          <a:bodyPr/>
          <a:p/>
        </p:txBody>
      </p:sp>
      <p:sp>
        <p:nvSpPr>
          <p:cNvPr id="8" name="Text 5"/>
          <p:cNvSpPr/>
          <p:nvPr/>
        </p:nvSpPr>
        <p:spPr>
          <a:xfrm>
            <a:off x="1024128" y="2148840"/>
            <a:ext cx="4480560" cy="676656"/>
          </a:xfrm>
          <a:prstGeom prst="rect">
            <a:avLst/>
          </a:prstGeom>
          <a:noFill/>
          <a:ln/>
        </p:spPr>
        <p:txBody>
          <a:bodyPr wrap="square" lIns="0" tIns="0" rIns="0" bIns="0" rtlCol="0" anchor="ctr"/>
          <a:lstStyle/>
          <a:p>
            <a:pPr indent="0" marL="0">
              <a:buNone/>
            </a:pPr>
            <a:r>
              <a:rPr lang="en-US" sz="1500" b="1" dirty="0">
                <a:solidFill>
                  <a:srgbClr val="4338CA"/>
                </a:solidFill>
                <a:latin typeface="Malgun Gothic" pitchFamily="34" charset="0"/>
                <a:ea typeface="Malgun Gothic" pitchFamily="34" charset="-122"/>
                <a:cs typeface="Malgun Gothic" pitchFamily="34" charset="-120"/>
              </a:rPr>
              <a:t>개인과 상호작용</a:t>
            </a:r>
            <a:endParaRPr lang="en-US" sz="1500" dirty="0"/>
          </a:p>
        </p:txBody>
      </p:sp>
      <p:sp>
        <p:nvSpPr>
          <p:cNvPr id="9" name="Shape 6"/>
          <p:cNvSpPr/>
          <p:nvPr/>
        </p:nvSpPr>
        <p:spPr>
          <a:xfrm>
            <a:off x="5806440" y="2304288"/>
            <a:ext cx="365760" cy="365760"/>
          </a:xfrm>
          <a:prstGeom prst="ellipse">
            <a:avLst/>
          </a:prstGeom>
          <a:solidFill>
            <a:srgbClr val="7C3AED"/>
          </a:solidFill>
          <a:ln/>
        </p:spPr>
        <p:txBody>
          <a:bodyPr/>
          <a:p/>
        </p:txBody>
      </p:sp>
      <p:sp>
        <p:nvSpPr>
          <p:cNvPr id="10" name="Text 7"/>
          <p:cNvSpPr/>
          <p:nvPr/>
        </p:nvSpPr>
        <p:spPr>
          <a:xfrm>
            <a:off x="5806440" y="22860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&gt;</a:t>
            </a:r>
            <a:endParaRPr lang="en-US" sz="1500" dirty="0"/>
          </a:p>
        </p:txBody>
      </p:sp>
      <p:sp>
        <p:nvSpPr>
          <p:cNvPr id="11" name="Text 8"/>
          <p:cNvSpPr/>
          <p:nvPr/>
        </p:nvSpPr>
        <p:spPr>
          <a:xfrm>
            <a:off x="6446520" y="2148840"/>
            <a:ext cx="4754880" cy="676656"/>
          </a:xfrm>
          <a:prstGeom prst="rect">
            <a:avLst/>
          </a:prstGeom>
          <a:noFill/>
          <a:ln/>
        </p:spPr>
        <p:txBody>
          <a:bodyPr wrap="square" lIns="0" tIns="0" rIns="0" bIns="0" rtlCol="0" anchor="ctr"/>
          <a:lstStyle/>
          <a:p>
            <a:pPr indent="0" marL="0">
              <a:buNone/>
            </a:pPr>
            <a:r>
              <a:rPr lang="en-US" sz="1350" dirty="0">
                <a:solidFill>
                  <a:srgbClr val="6B7185"/>
                </a:solidFill>
                <a:latin typeface="Malgun Gothic" pitchFamily="34" charset="0"/>
                <a:ea typeface="Malgun Gothic" pitchFamily="34" charset="-122"/>
                <a:cs typeface="Malgun Gothic" pitchFamily="34" charset="-120"/>
              </a:rPr>
              <a:t>프로세스와 도구</a:t>
            </a:r>
            <a:endParaRPr lang="en-US" sz="1350" dirty="0"/>
          </a:p>
        </p:txBody>
      </p:sp>
      <p:sp>
        <p:nvSpPr>
          <p:cNvPr id="12" name="Shape 9"/>
          <p:cNvSpPr/>
          <p:nvPr/>
        </p:nvSpPr>
        <p:spPr>
          <a:xfrm>
            <a:off x="658368" y="2990088"/>
            <a:ext cx="10872216" cy="676656"/>
          </a:xfrm>
          <a:prstGeom prst="roundRect">
            <a:avLst>
              <a:gd name="adj" fmla="val 13514"/>
            </a:avLst>
          </a:prstGeom>
          <a:solidFill>
            <a:srgbClr val="F5F4FC"/>
          </a:solidFill>
          <a:ln w="9525">
            <a:solidFill>
              <a:srgbClr val="E5E5F0"/>
            </a:solidFill>
            <a:prstDash val="solid"/>
          </a:ln>
        </p:spPr>
        <p:txBody>
          <a:bodyPr/>
          <a:p/>
        </p:txBody>
      </p:sp>
      <p:sp>
        <p:nvSpPr>
          <p:cNvPr id="13" name="Text 10"/>
          <p:cNvSpPr/>
          <p:nvPr/>
        </p:nvSpPr>
        <p:spPr>
          <a:xfrm>
            <a:off x="1024128" y="2990088"/>
            <a:ext cx="4480560" cy="676656"/>
          </a:xfrm>
          <a:prstGeom prst="rect">
            <a:avLst/>
          </a:prstGeom>
          <a:noFill/>
          <a:ln/>
        </p:spPr>
        <p:txBody>
          <a:bodyPr wrap="square" lIns="0" tIns="0" rIns="0" bIns="0" rtlCol="0" anchor="ctr"/>
          <a:lstStyle/>
          <a:p>
            <a:pPr indent="0" marL="0">
              <a:buNone/>
            </a:pPr>
            <a:r>
              <a:rPr lang="en-US" sz="1500" b="1" dirty="0">
                <a:solidFill>
                  <a:srgbClr val="4338CA"/>
                </a:solidFill>
                <a:latin typeface="Malgun Gothic" pitchFamily="34" charset="0"/>
                <a:ea typeface="Malgun Gothic" pitchFamily="34" charset="-122"/>
                <a:cs typeface="Malgun Gothic" pitchFamily="34" charset="-120"/>
              </a:rPr>
              <a:t>작동하는 소프트웨어</a:t>
            </a:r>
            <a:endParaRPr lang="en-US" sz="1500" dirty="0"/>
          </a:p>
        </p:txBody>
      </p:sp>
      <p:sp>
        <p:nvSpPr>
          <p:cNvPr id="14" name="Shape 11"/>
          <p:cNvSpPr/>
          <p:nvPr/>
        </p:nvSpPr>
        <p:spPr>
          <a:xfrm>
            <a:off x="5806440" y="3145536"/>
            <a:ext cx="365760" cy="365760"/>
          </a:xfrm>
          <a:prstGeom prst="ellipse">
            <a:avLst/>
          </a:prstGeom>
          <a:solidFill>
            <a:srgbClr val="7C3AED"/>
          </a:solidFill>
          <a:ln/>
        </p:spPr>
        <p:txBody>
          <a:bodyPr/>
          <a:p/>
        </p:txBody>
      </p:sp>
      <p:sp>
        <p:nvSpPr>
          <p:cNvPr id="15" name="Text 12"/>
          <p:cNvSpPr/>
          <p:nvPr/>
        </p:nvSpPr>
        <p:spPr>
          <a:xfrm>
            <a:off x="5806440" y="31272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&gt;</a:t>
            </a:r>
            <a:endParaRPr lang="en-US" sz="1500" dirty="0"/>
          </a:p>
        </p:txBody>
      </p:sp>
      <p:sp>
        <p:nvSpPr>
          <p:cNvPr id="16" name="Text 13"/>
          <p:cNvSpPr/>
          <p:nvPr/>
        </p:nvSpPr>
        <p:spPr>
          <a:xfrm>
            <a:off x="6446520" y="2990088"/>
            <a:ext cx="4754880" cy="676656"/>
          </a:xfrm>
          <a:prstGeom prst="rect">
            <a:avLst/>
          </a:prstGeom>
          <a:noFill/>
          <a:ln/>
        </p:spPr>
        <p:txBody>
          <a:bodyPr wrap="square" lIns="0" tIns="0" rIns="0" bIns="0" rtlCol="0" anchor="ctr"/>
          <a:lstStyle/>
          <a:p>
            <a:pPr indent="0" marL="0">
              <a:buNone/>
            </a:pPr>
            <a:r>
              <a:rPr lang="en-US" sz="1350" dirty="0">
                <a:solidFill>
                  <a:srgbClr val="6B7185"/>
                </a:solidFill>
                <a:latin typeface="Malgun Gothic" pitchFamily="34" charset="0"/>
                <a:ea typeface="Malgun Gothic" pitchFamily="34" charset="-122"/>
                <a:cs typeface="Malgun Gothic" pitchFamily="34" charset="-120"/>
              </a:rPr>
              <a:t>포괄적인 문서</a:t>
            </a:r>
            <a:endParaRPr lang="en-US" sz="1350" dirty="0"/>
          </a:p>
        </p:txBody>
      </p:sp>
      <p:sp>
        <p:nvSpPr>
          <p:cNvPr id="17" name="Shape 14"/>
          <p:cNvSpPr/>
          <p:nvPr/>
        </p:nvSpPr>
        <p:spPr>
          <a:xfrm>
            <a:off x="658368" y="3831336"/>
            <a:ext cx="10872216" cy="676656"/>
          </a:xfrm>
          <a:prstGeom prst="roundRect">
            <a:avLst>
              <a:gd name="adj" fmla="val 13514"/>
            </a:avLst>
          </a:prstGeom>
          <a:solidFill>
            <a:srgbClr val="FFFFFF"/>
          </a:solidFill>
          <a:ln w="9525">
            <a:solidFill>
              <a:srgbClr val="E5E5F0"/>
            </a:solidFill>
            <a:prstDash val="solid"/>
          </a:ln>
        </p:spPr>
        <p:txBody>
          <a:bodyPr/>
          <a:p/>
        </p:txBody>
      </p:sp>
      <p:sp>
        <p:nvSpPr>
          <p:cNvPr id="18" name="Text 15"/>
          <p:cNvSpPr/>
          <p:nvPr/>
        </p:nvSpPr>
        <p:spPr>
          <a:xfrm>
            <a:off x="1024128" y="3831336"/>
            <a:ext cx="4480560" cy="676656"/>
          </a:xfrm>
          <a:prstGeom prst="rect">
            <a:avLst/>
          </a:prstGeom>
          <a:noFill/>
          <a:ln/>
        </p:spPr>
        <p:txBody>
          <a:bodyPr wrap="square" lIns="0" tIns="0" rIns="0" bIns="0" rtlCol="0" anchor="ctr"/>
          <a:lstStyle/>
          <a:p>
            <a:pPr indent="0" marL="0">
              <a:buNone/>
            </a:pPr>
            <a:r>
              <a:rPr lang="en-US" sz="1500" b="1" dirty="0">
                <a:solidFill>
                  <a:srgbClr val="4338CA"/>
                </a:solidFill>
                <a:latin typeface="Malgun Gothic" pitchFamily="34" charset="0"/>
                <a:ea typeface="Malgun Gothic" pitchFamily="34" charset="-122"/>
                <a:cs typeface="Malgun Gothic" pitchFamily="34" charset="-120"/>
              </a:rPr>
              <a:t>고객과의 협력</a:t>
            </a:r>
            <a:endParaRPr lang="en-US" sz="1500" dirty="0"/>
          </a:p>
        </p:txBody>
      </p:sp>
      <p:sp>
        <p:nvSpPr>
          <p:cNvPr id="19" name="Shape 16"/>
          <p:cNvSpPr/>
          <p:nvPr/>
        </p:nvSpPr>
        <p:spPr>
          <a:xfrm>
            <a:off x="5806440" y="3986784"/>
            <a:ext cx="365760" cy="365760"/>
          </a:xfrm>
          <a:prstGeom prst="ellipse">
            <a:avLst/>
          </a:prstGeom>
          <a:solidFill>
            <a:srgbClr val="7C3AED"/>
          </a:solidFill>
          <a:ln/>
        </p:spPr>
        <p:txBody>
          <a:bodyPr/>
          <a:p/>
        </p:txBody>
      </p:sp>
      <p:sp>
        <p:nvSpPr>
          <p:cNvPr id="20" name="Text 17"/>
          <p:cNvSpPr/>
          <p:nvPr/>
        </p:nvSpPr>
        <p:spPr>
          <a:xfrm>
            <a:off x="5806440" y="396849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&gt;</a:t>
            </a:r>
            <a:endParaRPr lang="en-US" sz="1500" dirty="0"/>
          </a:p>
        </p:txBody>
      </p:sp>
      <p:sp>
        <p:nvSpPr>
          <p:cNvPr id="21" name="Text 18"/>
          <p:cNvSpPr/>
          <p:nvPr/>
        </p:nvSpPr>
        <p:spPr>
          <a:xfrm>
            <a:off x="6446520" y="3831336"/>
            <a:ext cx="4754880" cy="676656"/>
          </a:xfrm>
          <a:prstGeom prst="rect">
            <a:avLst/>
          </a:prstGeom>
          <a:noFill/>
          <a:ln/>
        </p:spPr>
        <p:txBody>
          <a:bodyPr wrap="square" lIns="0" tIns="0" rIns="0" bIns="0" rtlCol="0" anchor="ctr"/>
          <a:lstStyle/>
          <a:p>
            <a:pPr indent="0" marL="0">
              <a:buNone/>
            </a:pPr>
            <a:r>
              <a:rPr lang="en-US" sz="1350" dirty="0">
                <a:solidFill>
                  <a:srgbClr val="6B7185"/>
                </a:solidFill>
                <a:latin typeface="Malgun Gothic" pitchFamily="34" charset="0"/>
                <a:ea typeface="Malgun Gothic" pitchFamily="34" charset="-122"/>
                <a:cs typeface="Malgun Gothic" pitchFamily="34" charset="-120"/>
              </a:rPr>
              <a:t>계약 협상</a:t>
            </a:r>
            <a:endParaRPr lang="en-US" sz="1350" dirty="0"/>
          </a:p>
        </p:txBody>
      </p:sp>
      <p:sp>
        <p:nvSpPr>
          <p:cNvPr id="22" name="Shape 19"/>
          <p:cNvSpPr/>
          <p:nvPr/>
        </p:nvSpPr>
        <p:spPr>
          <a:xfrm>
            <a:off x="658368" y="4672584"/>
            <a:ext cx="10872216" cy="676656"/>
          </a:xfrm>
          <a:prstGeom prst="roundRect">
            <a:avLst>
              <a:gd name="adj" fmla="val 13514"/>
            </a:avLst>
          </a:prstGeom>
          <a:solidFill>
            <a:srgbClr val="F5F4FC"/>
          </a:solidFill>
          <a:ln w="9525">
            <a:solidFill>
              <a:srgbClr val="E5E5F0"/>
            </a:solidFill>
            <a:prstDash val="solid"/>
          </a:ln>
        </p:spPr>
        <p:txBody>
          <a:bodyPr/>
          <a:p/>
        </p:txBody>
      </p:sp>
      <p:sp>
        <p:nvSpPr>
          <p:cNvPr id="23" name="Text 20"/>
          <p:cNvSpPr/>
          <p:nvPr/>
        </p:nvSpPr>
        <p:spPr>
          <a:xfrm>
            <a:off x="1024128" y="4672584"/>
            <a:ext cx="4480560" cy="676656"/>
          </a:xfrm>
          <a:prstGeom prst="rect">
            <a:avLst/>
          </a:prstGeom>
          <a:noFill/>
          <a:ln/>
        </p:spPr>
        <p:txBody>
          <a:bodyPr wrap="square" lIns="0" tIns="0" rIns="0" bIns="0" rtlCol="0" anchor="ctr"/>
          <a:lstStyle/>
          <a:p>
            <a:pPr indent="0" marL="0">
              <a:buNone/>
            </a:pPr>
            <a:r>
              <a:rPr lang="en-US" sz="1500" b="1" dirty="0">
                <a:solidFill>
                  <a:srgbClr val="4338CA"/>
                </a:solidFill>
                <a:latin typeface="Malgun Gothic" pitchFamily="34" charset="0"/>
                <a:ea typeface="Malgun Gothic" pitchFamily="34" charset="-122"/>
                <a:cs typeface="Malgun Gothic" pitchFamily="34" charset="-120"/>
              </a:rPr>
              <a:t>변화에 대응하기</a:t>
            </a:r>
            <a:endParaRPr lang="en-US" sz="1500" dirty="0"/>
          </a:p>
        </p:txBody>
      </p:sp>
      <p:sp>
        <p:nvSpPr>
          <p:cNvPr id="24" name="Shape 21"/>
          <p:cNvSpPr/>
          <p:nvPr/>
        </p:nvSpPr>
        <p:spPr>
          <a:xfrm>
            <a:off x="5806440" y="4828032"/>
            <a:ext cx="365760" cy="365760"/>
          </a:xfrm>
          <a:prstGeom prst="ellipse">
            <a:avLst/>
          </a:prstGeom>
          <a:solidFill>
            <a:srgbClr val="7C3AED"/>
          </a:solidFill>
          <a:ln/>
        </p:spPr>
        <p:txBody>
          <a:bodyPr/>
          <a:p/>
        </p:txBody>
      </p:sp>
      <p:sp>
        <p:nvSpPr>
          <p:cNvPr id="25" name="Text 22"/>
          <p:cNvSpPr/>
          <p:nvPr/>
        </p:nvSpPr>
        <p:spPr>
          <a:xfrm>
            <a:off x="5806440" y="48097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&gt;</a:t>
            </a:r>
            <a:endParaRPr lang="en-US" sz="1500" dirty="0"/>
          </a:p>
        </p:txBody>
      </p:sp>
      <p:sp>
        <p:nvSpPr>
          <p:cNvPr id="26" name="Text 23"/>
          <p:cNvSpPr/>
          <p:nvPr/>
        </p:nvSpPr>
        <p:spPr>
          <a:xfrm>
            <a:off x="6446520" y="4672584"/>
            <a:ext cx="4754880" cy="676656"/>
          </a:xfrm>
          <a:prstGeom prst="rect">
            <a:avLst/>
          </a:prstGeom>
          <a:noFill/>
          <a:ln/>
        </p:spPr>
        <p:txBody>
          <a:bodyPr wrap="square" lIns="0" tIns="0" rIns="0" bIns="0" rtlCol="0" anchor="ctr"/>
          <a:lstStyle/>
          <a:p>
            <a:pPr indent="0" marL="0">
              <a:buNone/>
            </a:pPr>
            <a:r>
              <a:rPr lang="en-US" sz="1350" dirty="0">
                <a:solidFill>
                  <a:srgbClr val="6B7185"/>
                </a:solidFill>
                <a:latin typeface="Malgun Gothic" pitchFamily="34" charset="0"/>
                <a:ea typeface="Malgun Gothic" pitchFamily="34" charset="-122"/>
                <a:cs typeface="Malgun Gothic" pitchFamily="34" charset="-120"/>
              </a:rPr>
              <a:t>계획을 따르기</a:t>
            </a:r>
            <a:endParaRPr lang="en-US" sz="1350" dirty="0"/>
          </a:p>
        </p:txBody>
      </p:sp>
      <p:sp>
        <p:nvSpPr>
          <p:cNvPr id="27" name="Text 24"/>
          <p:cNvSpPr/>
          <p:nvPr/>
        </p:nvSpPr>
        <p:spPr>
          <a:xfrm>
            <a:off x="658368" y="5669280"/>
            <a:ext cx="10872216" cy="914400"/>
          </a:xfrm>
          <a:prstGeom prst="rect">
            <a:avLst/>
          </a:prstGeom>
          <a:noFill/>
          <a:ln/>
        </p:spPr>
        <p:txBody>
          <a:bodyPr wrap="square" lIns="0" tIns="0" rIns="0" bIns="0" rtlCol="0" anchor="t"/>
          <a:lstStyle/>
          <a:p>
            <a:pPr algn="l" indent="0" marL="0">
              <a:lnSpc>
                <a:spcPts val="1824"/>
              </a:lnSpc>
              <a:buNone/>
            </a:pPr>
            <a:r>
              <a:rPr lang="en-US" sz="1200" i="1" dirty="0">
                <a:solidFill>
                  <a:srgbClr val="6B7185"/>
                </a:solidFill>
                <a:latin typeface="Malgun Gothic" pitchFamily="34" charset="0"/>
                <a:ea typeface="Malgun Gothic" pitchFamily="34" charset="-122"/>
                <a:cs typeface="Malgun Gothic" pitchFamily="34" charset="-120"/>
              </a:rPr>
              <a:t>오른쪽에도 가치가 있다, 다만 왼쪽을 '더' 높게 친다는 선언입니다. 문서를 버리자는 뜻이 아닙니다.</a:t>
            </a:r>
            <a:endParaRPr lang="en-US" sz="1200" dirty="0"/>
          </a:p>
        </p:txBody>
      </p:sp>
      <p:sp>
        <p:nvSpPr>
          <p:cNvPr id="28" name="Text 2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세 모델 한눈에 비교</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10872216" cy="914400"/>
        </p:xfrm>
        <a:graphic>
          <a:graphicData uri="http://schemas.openxmlformats.org/drawingml/2006/table">
            <a:tbl>
              <a:tblPr/>
              <a:tblGrid>
                <a:gridCol w="1691640"/>
                <a:gridCol w="2926080"/>
                <a:gridCol w="2926080"/>
                <a:gridCol w="3328416"/>
              </a:tblGrid>
              <a:tr h="475488">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구분</a:t>
                      </a:r>
                      <a:endParaRPr lang="en-US" sz="12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폭포수</a:t>
                      </a:r>
                      <a:endParaRPr lang="en-US" sz="12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반복적</a:t>
                      </a:r>
                      <a:endParaRPr lang="en-US" sz="12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애자일</a:t>
                      </a:r>
                      <a:endParaRPr lang="en-US" sz="12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r>
              <a:tr h="621792">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피드백 시점</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맨 끝 (전체 완성 후)</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매 회차 끝</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매일 · 매 스프린트</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621792">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변경 대응</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비용이 매우 크다</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다음 회차에 반영</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환영 (백로그로 수용)</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621792">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산출 문서</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단계마다 상세 문서</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회차별 핵심 문서</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필요한 만큼만</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78638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잘 맞는 상황</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요구 확정 · 규제 · 안전 필수</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규모가 크고 요구가 일부 유동적</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요구가 불확실 · 빠른 출시와 학습</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bl>
          </a:graphicData>
        </a:graphic>
      </p:graphicFrame>
      <p:sp>
        <p:nvSpPr>
          <p:cNvPr id="7" name="Text 3"/>
          <p:cNvSpPr/>
          <p:nvPr/>
        </p:nvSpPr>
        <p:spPr>
          <a:xfrm>
            <a:off x="658368" y="5349240"/>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정답 모델은 없습니다. 상황이 모델을 고릅니다. 다음 장에서 상황별로 골라 봅시다.</a:t>
            </a:r>
            <a:endParaRPr lang="en-US" sz="1250" dirty="0"/>
          </a:p>
        </p:txBody>
      </p:sp>
      <p:sp>
        <p:nvSpPr>
          <p:cNvPr id="8" name="Text 4"/>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상황이 모델을 고른다: 세 가지 사례</a:t>
            </a:r>
            <a:endParaRPr lang="en-US" sz="2600" dirty="0"/>
          </a:p>
        </p:txBody>
      </p:sp>
      <p:sp>
        <p:nvSpPr>
          <p:cNvPr id="6" name="Shape 3"/>
          <p:cNvSpPr/>
          <p:nvPr/>
        </p:nvSpPr>
        <p:spPr>
          <a:xfrm>
            <a:off x="658368" y="1783080"/>
            <a:ext cx="10872216" cy="1188720"/>
          </a:xfrm>
          <a:prstGeom prst="roundRect">
            <a:avLst>
              <a:gd name="adj" fmla="val 7692"/>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96112" y="2130552"/>
            <a:ext cx="493776" cy="493776"/>
          </a:xfrm>
          <a:prstGeom prst="ellipse">
            <a:avLst/>
          </a:prstGeom>
          <a:solidFill>
            <a:srgbClr val="FB7185"/>
          </a:solidFill>
          <a:ln/>
        </p:spPr>
        <p:txBody>
          <a:bodyPr/>
          <a:p/>
        </p:txBody>
      </p:sp>
      <p:pic>
        <p:nvPicPr>
          <p:cNvPr id="8" name="Image 1" descr="/home/claude/icons/shield_white.png">    </p:cNvPr>
          <p:cNvPicPr>
            <a:picLocks noChangeAspect="1"/>
          </p:cNvPicPr>
          <p:nvPr/>
        </p:nvPicPr>
        <p:blipFill>
          <a:blip r:embed="rId2"/>
          <a:stretch>
            <a:fillRect/>
          </a:stretch>
        </p:blipFill>
        <p:spPr>
          <a:xfrm>
            <a:off x="1019556" y="2253996"/>
            <a:ext cx="246888" cy="246888"/>
          </a:xfrm>
          <a:prstGeom prst="rect">
            <a:avLst/>
          </a:prstGeom>
        </p:spPr>
      </p:pic>
      <p:sp>
        <p:nvSpPr>
          <p:cNvPr id="9" name="Text 5"/>
          <p:cNvSpPr/>
          <p:nvPr/>
        </p:nvSpPr>
        <p:spPr>
          <a:xfrm>
            <a:off x="1609344" y="1929384"/>
            <a:ext cx="4206240" cy="36576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병원 의료기기 제어 SW</a:t>
            </a:r>
            <a:endParaRPr lang="en-US" sz="1350" dirty="0"/>
          </a:p>
        </p:txBody>
      </p:sp>
      <p:sp>
        <p:nvSpPr>
          <p:cNvPr id="10" name="Shape 6"/>
          <p:cNvSpPr/>
          <p:nvPr/>
        </p:nvSpPr>
        <p:spPr>
          <a:xfrm>
            <a:off x="1609344" y="2350008"/>
            <a:ext cx="1828800" cy="384048"/>
          </a:xfrm>
          <a:prstGeom prst="roundRect">
            <a:avLst>
              <a:gd name="adj" fmla="val 50000"/>
            </a:avLst>
          </a:prstGeom>
          <a:solidFill>
            <a:srgbClr val="EDECFB"/>
          </a:solidFill>
          <a:ln/>
        </p:spPr>
        <p:txBody>
          <a:bodyPr/>
          <a:p/>
        </p:txBody>
      </p:sp>
      <p:sp>
        <p:nvSpPr>
          <p:cNvPr id="11" name="Text 7"/>
          <p:cNvSpPr/>
          <p:nvPr/>
        </p:nvSpPr>
        <p:spPr>
          <a:xfrm>
            <a:off x="1609344" y="2350008"/>
            <a:ext cx="1828800" cy="384048"/>
          </a:xfrm>
          <a:prstGeom prst="rect">
            <a:avLst/>
          </a:prstGeom>
          <a:noFill/>
          <a:ln/>
        </p:spPr>
        <p:txBody>
          <a:bodyPr wrap="square" lIns="0" tIns="0" rIns="0" bIns="0" rtlCol="0" anchor="ctr"/>
          <a:lstStyle/>
          <a:p>
            <a:pPr algn="ctr" indent="0" marL="0">
              <a:buNone/>
            </a:pPr>
            <a:r>
              <a:rPr lang="en-US" sz="1150" b="1" dirty="0">
                <a:solidFill>
                  <a:srgbClr val="4338CA"/>
                </a:solidFill>
                <a:latin typeface="Malgun Gothic" pitchFamily="34" charset="0"/>
                <a:ea typeface="Malgun Gothic" pitchFamily="34" charset="-122"/>
                <a:cs typeface="Malgun Gothic" pitchFamily="34" charset="-120"/>
              </a:rPr>
              <a:t>폭포수 계열</a:t>
            </a:r>
            <a:endParaRPr lang="en-US" sz="1150" dirty="0"/>
          </a:p>
        </p:txBody>
      </p:sp>
      <p:sp>
        <p:nvSpPr>
          <p:cNvPr id="12" name="Text 8"/>
          <p:cNvSpPr/>
          <p:nvPr/>
        </p:nvSpPr>
        <p:spPr>
          <a:xfrm>
            <a:off x="6053328" y="1911096"/>
            <a:ext cx="5202936" cy="960120"/>
          </a:xfrm>
          <a:prstGeom prst="rect">
            <a:avLst/>
          </a:prstGeom>
          <a:noFill/>
          <a:ln/>
        </p:spPr>
        <p:txBody>
          <a:bodyPr wrap="square" lIns="0" tIns="0" rIns="0" bIns="0" rtlCol="0" anchor="ctr"/>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요구가 규격으로 확정되고, 인허가 문서와 단계별 검증이 필수. 변경보다 확실성이 우선입니다.</a:t>
            </a:r>
            <a:endParaRPr lang="en-US" sz="1150" dirty="0"/>
          </a:p>
        </p:txBody>
      </p:sp>
      <p:sp>
        <p:nvSpPr>
          <p:cNvPr id="13" name="Shape 9"/>
          <p:cNvSpPr/>
          <p:nvPr/>
        </p:nvSpPr>
        <p:spPr>
          <a:xfrm>
            <a:off x="658368" y="3154680"/>
            <a:ext cx="10872216" cy="1188720"/>
          </a:xfrm>
          <a:prstGeom prst="roundRect">
            <a:avLst>
              <a:gd name="adj" fmla="val 7692"/>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4" name="Shape 10"/>
          <p:cNvSpPr/>
          <p:nvPr/>
        </p:nvSpPr>
        <p:spPr>
          <a:xfrm>
            <a:off x="896112" y="3502152"/>
            <a:ext cx="493776" cy="493776"/>
          </a:xfrm>
          <a:prstGeom prst="ellipse">
            <a:avLst/>
          </a:prstGeom>
          <a:solidFill>
            <a:srgbClr val="38BDF8"/>
          </a:solidFill>
          <a:ln/>
        </p:spPr>
        <p:txBody>
          <a:bodyPr/>
          <a:p/>
        </p:txBody>
      </p:sp>
      <p:pic>
        <p:nvPicPr>
          <p:cNvPr id="15" name="Image 2" descr="/home/claude/icons/rocket_white.png">    </p:cNvPr>
          <p:cNvPicPr>
            <a:picLocks noChangeAspect="1"/>
          </p:cNvPicPr>
          <p:nvPr/>
        </p:nvPicPr>
        <p:blipFill>
          <a:blip r:embed="rId3"/>
          <a:stretch>
            <a:fillRect/>
          </a:stretch>
        </p:blipFill>
        <p:spPr>
          <a:xfrm>
            <a:off x="1019556" y="3625596"/>
            <a:ext cx="246888" cy="246888"/>
          </a:xfrm>
          <a:prstGeom prst="rect">
            <a:avLst/>
          </a:prstGeom>
        </p:spPr>
      </p:pic>
      <p:sp>
        <p:nvSpPr>
          <p:cNvPr id="16" name="Text 11"/>
          <p:cNvSpPr/>
          <p:nvPr/>
        </p:nvSpPr>
        <p:spPr>
          <a:xfrm>
            <a:off x="1609344" y="3300984"/>
            <a:ext cx="4206240" cy="36576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스타트업의 신규 서비스</a:t>
            </a:r>
            <a:endParaRPr lang="en-US" sz="1350" dirty="0"/>
          </a:p>
        </p:txBody>
      </p:sp>
      <p:sp>
        <p:nvSpPr>
          <p:cNvPr id="17" name="Shape 12"/>
          <p:cNvSpPr/>
          <p:nvPr/>
        </p:nvSpPr>
        <p:spPr>
          <a:xfrm>
            <a:off x="1609344" y="3721608"/>
            <a:ext cx="1828800" cy="384048"/>
          </a:xfrm>
          <a:prstGeom prst="roundRect">
            <a:avLst>
              <a:gd name="adj" fmla="val 50000"/>
            </a:avLst>
          </a:prstGeom>
          <a:solidFill>
            <a:srgbClr val="EDECFB"/>
          </a:solidFill>
          <a:ln/>
        </p:spPr>
        <p:txBody>
          <a:bodyPr/>
          <a:p/>
        </p:txBody>
      </p:sp>
      <p:sp>
        <p:nvSpPr>
          <p:cNvPr id="18" name="Text 13"/>
          <p:cNvSpPr/>
          <p:nvPr/>
        </p:nvSpPr>
        <p:spPr>
          <a:xfrm>
            <a:off x="1609344" y="3721608"/>
            <a:ext cx="1828800" cy="384048"/>
          </a:xfrm>
          <a:prstGeom prst="rect">
            <a:avLst/>
          </a:prstGeom>
          <a:noFill/>
          <a:ln/>
        </p:spPr>
        <p:txBody>
          <a:bodyPr wrap="square" lIns="0" tIns="0" rIns="0" bIns="0" rtlCol="0" anchor="ctr"/>
          <a:lstStyle/>
          <a:p>
            <a:pPr algn="ctr" indent="0" marL="0">
              <a:buNone/>
            </a:pPr>
            <a:r>
              <a:rPr lang="en-US" sz="1150" b="1" dirty="0">
                <a:solidFill>
                  <a:srgbClr val="4338CA"/>
                </a:solidFill>
                <a:latin typeface="Malgun Gothic" pitchFamily="34" charset="0"/>
                <a:ea typeface="Malgun Gothic" pitchFamily="34" charset="-122"/>
                <a:cs typeface="Malgun Gothic" pitchFamily="34" charset="-120"/>
              </a:rPr>
              <a:t>애자일</a:t>
            </a:r>
            <a:endParaRPr lang="en-US" sz="1150" dirty="0"/>
          </a:p>
        </p:txBody>
      </p:sp>
      <p:sp>
        <p:nvSpPr>
          <p:cNvPr id="19" name="Text 14"/>
          <p:cNvSpPr/>
          <p:nvPr/>
        </p:nvSpPr>
        <p:spPr>
          <a:xfrm>
            <a:off x="6053328" y="3282696"/>
            <a:ext cx="5202936" cy="960120"/>
          </a:xfrm>
          <a:prstGeom prst="rect">
            <a:avLst/>
          </a:prstGeom>
          <a:noFill/>
          <a:ln/>
        </p:spPr>
        <p:txBody>
          <a:bodyPr wrap="square" lIns="0" tIns="0" rIns="0" bIns="0" rtlCol="0" anchor="ctr"/>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무엇이 먹힐지 아무도 모릅니다. 작게 내놓고 사용자 반응으로 배우는 속도가 생명입니다.</a:t>
            </a:r>
            <a:endParaRPr lang="en-US" sz="1150" dirty="0"/>
          </a:p>
        </p:txBody>
      </p:sp>
      <p:sp>
        <p:nvSpPr>
          <p:cNvPr id="20" name="Shape 15"/>
          <p:cNvSpPr/>
          <p:nvPr/>
        </p:nvSpPr>
        <p:spPr>
          <a:xfrm>
            <a:off x="658368" y="4526280"/>
            <a:ext cx="10872216" cy="1188720"/>
          </a:xfrm>
          <a:prstGeom prst="roundRect">
            <a:avLst>
              <a:gd name="adj" fmla="val 7692"/>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1" name="Shape 16"/>
          <p:cNvSpPr/>
          <p:nvPr/>
        </p:nvSpPr>
        <p:spPr>
          <a:xfrm>
            <a:off x="896112" y="4873752"/>
            <a:ext cx="493776" cy="493776"/>
          </a:xfrm>
          <a:prstGeom prst="ellipse">
            <a:avLst/>
          </a:prstGeom>
          <a:solidFill>
            <a:srgbClr val="10B981"/>
          </a:solidFill>
          <a:ln/>
        </p:spPr>
        <p:txBody>
          <a:bodyPr/>
          <a:p/>
        </p:txBody>
      </p:sp>
      <p:pic>
        <p:nvPicPr>
          <p:cNvPr id="22" name="Image 3" descr="/home/claude/icons/users_white.png">    </p:cNvPr>
          <p:cNvPicPr>
            <a:picLocks noChangeAspect="1"/>
          </p:cNvPicPr>
          <p:nvPr/>
        </p:nvPicPr>
        <p:blipFill>
          <a:blip r:embed="rId4"/>
          <a:stretch>
            <a:fillRect/>
          </a:stretch>
        </p:blipFill>
        <p:spPr>
          <a:xfrm>
            <a:off x="1019556" y="4997196"/>
            <a:ext cx="246888" cy="246888"/>
          </a:xfrm>
          <a:prstGeom prst="rect">
            <a:avLst/>
          </a:prstGeom>
        </p:spPr>
      </p:pic>
      <p:sp>
        <p:nvSpPr>
          <p:cNvPr id="23" name="Text 17"/>
          <p:cNvSpPr/>
          <p:nvPr/>
        </p:nvSpPr>
        <p:spPr>
          <a:xfrm>
            <a:off x="1609344" y="4672584"/>
            <a:ext cx="4206240" cy="36576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우리 팀 프로젝트</a:t>
            </a:r>
            <a:endParaRPr lang="en-US" sz="1350" dirty="0"/>
          </a:p>
        </p:txBody>
      </p:sp>
      <p:sp>
        <p:nvSpPr>
          <p:cNvPr id="24" name="Shape 18"/>
          <p:cNvSpPr/>
          <p:nvPr/>
        </p:nvSpPr>
        <p:spPr>
          <a:xfrm>
            <a:off x="1609344" y="5093208"/>
            <a:ext cx="1828800" cy="384048"/>
          </a:xfrm>
          <a:prstGeom prst="roundRect">
            <a:avLst>
              <a:gd name="adj" fmla="val 50000"/>
            </a:avLst>
          </a:prstGeom>
          <a:solidFill>
            <a:srgbClr val="EDECFB"/>
          </a:solidFill>
          <a:ln/>
        </p:spPr>
        <p:txBody>
          <a:bodyPr/>
          <a:p/>
        </p:txBody>
      </p:sp>
      <p:sp>
        <p:nvSpPr>
          <p:cNvPr id="25" name="Text 19"/>
          <p:cNvSpPr/>
          <p:nvPr/>
        </p:nvSpPr>
        <p:spPr>
          <a:xfrm>
            <a:off x="1609344" y="5093208"/>
            <a:ext cx="1828800" cy="384048"/>
          </a:xfrm>
          <a:prstGeom prst="rect">
            <a:avLst/>
          </a:prstGeom>
          <a:noFill/>
          <a:ln/>
        </p:spPr>
        <p:txBody>
          <a:bodyPr wrap="square" lIns="0" tIns="0" rIns="0" bIns="0" rtlCol="0" anchor="ctr"/>
          <a:lstStyle/>
          <a:p>
            <a:pPr algn="ctr" indent="0" marL="0">
              <a:buNone/>
            </a:pPr>
            <a:r>
              <a:rPr lang="en-US" sz="1150" b="1" dirty="0">
                <a:solidFill>
                  <a:srgbClr val="4338CA"/>
                </a:solidFill>
                <a:latin typeface="Malgun Gothic" pitchFamily="34" charset="0"/>
                <a:ea typeface="Malgun Gothic" pitchFamily="34" charset="-122"/>
                <a:cs typeface="Malgun Gothic" pitchFamily="34" charset="-120"/>
              </a:rPr>
              <a:t>애자일 + AI 반복</a:t>
            </a:r>
            <a:endParaRPr lang="en-US" sz="1150" dirty="0"/>
          </a:p>
        </p:txBody>
      </p:sp>
      <p:sp>
        <p:nvSpPr>
          <p:cNvPr id="26" name="Text 20"/>
          <p:cNvSpPr/>
          <p:nvPr/>
        </p:nvSpPr>
        <p:spPr>
          <a:xfrm>
            <a:off x="6053328" y="4654296"/>
            <a:ext cx="5202936" cy="960120"/>
          </a:xfrm>
          <a:prstGeom prst="rect">
            <a:avLst/>
          </a:prstGeom>
          <a:noFill/>
          <a:ln/>
        </p:spPr>
        <p:txBody>
          <a:bodyPr wrap="square" lIns="0" tIns="0" rIns="0" bIns="0" rtlCol="0" anchor="ctr"/>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작게 만들고 자주 확인. 여기에 AI로 구현 속도까지 붙입니다. 자세한 방식은 2부에서.</a:t>
            </a:r>
            <a:endParaRPr lang="en-US" sz="1150" dirty="0"/>
          </a:p>
        </p:txBody>
      </p:sp>
      <p:sp>
        <p:nvSpPr>
          <p:cNvPr id="27" name="Text 21"/>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txBody>
          <a:bodyPr/>
          <a:p/>
        </p:txBody>
      </p:sp>
      <p:sp>
        <p:nvSpPr>
          <p:cNvPr id="3" name="Shape 1"/>
          <p:cNvSpPr/>
          <p:nvPr/>
        </p:nvSpPr>
        <p:spPr>
          <a:xfrm>
            <a:off x="-1737360" y="4480560"/>
            <a:ext cx="4297680" cy="4297680"/>
          </a:xfrm>
          <a:prstGeom prst="ellipse">
            <a:avLst/>
          </a:prstGeom>
          <a:solidFill>
            <a:srgbClr val="2A2860"/>
          </a:solidFill>
          <a:ln/>
        </p:spPr>
        <p:txBody>
          <a:bodyPr/>
          <a:p/>
        </p:txBody>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02</a:t>
            </a:r>
            <a:endParaRPr lang="en-US" sz="12000" dirty="0"/>
          </a:p>
        </p:txBody>
      </p:sp>
      <p:sp>
        <p:nvSpPr>
          <p:cNvPr id="5" name="Shape 3"/>
          <p:cNvSpPr/>
          <p:nvPr/>
        </p:nvSpPr>
        <p:spPr>
          <a:xfrm>
            <a:off x="658368" y="2103120"/>
            <a:ext cx="1691640" cy="457200"/>
          </a:xfrm>
          <a:prstGeom prst="roundRect">
            <a:avLst>
              <a:gd name="adj" fmla="val 50000"/>
            </a:avLst>
          </a:prstGeom>
          <a:solidFill>
            <a:srgbClr val="38BDF8"/>
          </a:solidFill>
          <a:ln/>
        </p:spPr>
        <p:txBody>
          <a:bodyPr/>
          <a:p/>
        </p:txBody>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2</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애자일 실무 용어</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스프린트 · 데일리 스크럼 · 백로그. 팀 프로젝트에서 그대로 쓸 최소한의 공용어를 정리합니다.</a:t>
            </a:r>
            <a:endParaRPr lang="en-US" sz="1400" dirty="0"/>
          </a:p>
        </p:txBody>
      </p:sp>
      <p:sp>
        <p:nvSpPr>
          <p:cNvPr id="9" name="Shape 7"/>
          <p:cNvSpPr/>
          <p:nvPr/>
        </p:nvSpPr>
        <p:spPr>
          <a:xfrm>
            <a:off x="9738360" y="4343400"/>
            <a:ext cx="1325880" cy="1325880"/>
          </a:xfrm>
          <a:prstGeom prst="ellipse">
            <a:avLst/>
          </a:prstGeom>
          <a:solidFill>
            <a:srgbClr val="38BDF8"/>
          </a:solidFill>
          <a:ln/>
        </p:spPr>
        <p:txBody>
          <a:bodyPr/>
          <a:p/>
        </p:txBody>
      </p:sp>
      <p:pic>
        <p:nvPicPr>
          <p:cNvPr id="10" name="Image 0" descr="/home/claude/icons/users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user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애자일 실무 용어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스크럼(Scrum) 한눈에</a:t>
            </a:r>
            <a:endParaRPr lang="en-US" sz="2600" dirty="0"/>
          </a:p>
        </p:txBody>
      </p:sp>
      <p:sp>
        <p:nvSpPr>
          <p:cNvPr id="6" name="Text 3"/>
          <p:cNvSpPr/>
          <p:nvPr/>
        </p:nvSpPr>
        <p:spPr>
          <a:xfrm>
            <a:off x="658368" y="1609344"/>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애자일 가치를 실행하는 가장 널리 쓰이는 틀. 흐름은 이 한 줄입니다.</a:t>
            </a:r>
            <a:endParaRPr lang="en-US" sz="1250" dirty="0"/>
          </a:p>
        </p:txBody>
      </p:sp>
      <p:sp>
        <p:nvSpPr>
          <p:cNvPr id="7" name="Shape 4"/>
          <p:cNvSpPr/>
          <p:nvPr/>
        </p:nvSpPr>
        <p:spPr>
          <a:xfrm>
            <a:off x="658368" y="2240280"/>
            <a:ext cx="1874520" cy="1325880"/>
          </a:xfrm>
          <a:prstGeom prst="roundRect">
            <a:avLst>
              <a:gd name="adj" fmla="val 68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8" name="Text 5"/>
          <p:cNvSpPr/>
          <p:nvPr/>
        </p:nvSpPr>
        <p:spPr>
          <a:xfrm>
            <a:off x="768096" y="2395728"/>
            <a:ext cx="1655064" cy="310896"/>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제품 백로그</a:t>
            </a:r>
            <a:endParaRPr lang="en-US" sz="1250" dirty="0"/>
          </a:p>
        </p:txBody>
      </p:sp>
      <p:sp>
        <p:nvSpPr>
          <p:cNvPr id="9" name="Text 6"/>
          <p:cNvSpPr/>
          <p:nvPr/>
        </p:nvSpPr>
        <p:spPr>
          <a:xfrm>
            <a:off x="768096" y="2743200"/>
            <a:ext cx="1655064" cy="731520"/>
          </a:xfrm>
          <a:prstGeom prst="rect">
            <a:avLst/>
          </a:prstGeom>
          <a:noFill/>
          <a:ln/>
        </p:spPr>
        <p:txBody>
          <a:bodyPr wrap="square" lIns="0" tIns="0" rIns="0" bIns="0" rtlCol="0" anchor="t"/>
          <a:lstStyle/>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할 일 전체의</a:t>
            </a:r>
            <a:endParaRPr lang="en-US" sz="1000" dirty="0"/>
          </a:p>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우선순위 목록</a:t>
            </a:r>
            <a:endParaRPr lang="en-US" sz="1000" dirty="0"/>
          </a:p>
        </p:txBody>
      </p:sp>
      <p:sp>
        <p:nvSpPr>
          <p:cNvPr id="10" name="Shape 7"/>
          <p:cNvSpPr/>
          <p:nvPr/>
        </p:nvSpPr>
        <p:spPr>
          <a:xfrm>
            <a:off x="2574036" y="2798064"/>
            <a:ext cx="219456" cy="201168"/>
          </a:xfrm>
          <a:prstGeom prst="rightArrow">
            <a:avLst/>
          </a:prstGeom>
          <a:solidFill>
            <a:srgbClr val="38BDF8"/>
          </a:solidFill>
          <a:ln/>
        </p:spPr>
        <p:txBody>
          <a:bodyPr/>
          <a:p/>
        </p:txBody>
      </p:sp>
      <p:sp>
        <p:nvSpPr>
          <p:cNvPr id="11" name="Shape 8"/>
          <p:cNvSpPr/>
          <p:nvPr/>
        </p:nvSpPr>
        <p:spPr>
          <a:xfrm>
            <a:off x="2834640" y="2240280"/>
            <a:ext cx="1874520" cy="1325880"/>
          </a:xfrm>
          <a:prstGeom prst="roundRect">
            <a:avLst>
              <a:gd name="adj" fmla="val 68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Text 9"/>
          <p:cNvSpPr/>
          <p:nvPr/>
        </p:nvSpPr>
        <p:spPr>
          <a:xfrm>
            <a:off x="2944368" y="2395728"/>
            <a:ext cx="1655064" cy="310896"/>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스프린트 계획</a:t>
            </a:r>
            <a:endParaRPr lang="en-US" sz="1250" dirty="0"/>
          </a:p>
        </p:txBody>
      </p:sp>
      <p:sp>
        <p:nvSpPr>
          <p:cNvPr id="13" name="Text 10"/>
          <p:cNvSpPr/>
          <p:nvPr/>
        </p:nvSpPr>
        <p:spPr>
          <a:xfrm>
            <a:off x="2944368" y="2743200"/>
            <a:ext cx="1655064" cy="731520"/>
          </a:xfrm>
          <a:prstGeom prst="rect">
            <a:avLst/>
          </a:prstGeom>
          <a:noFill/>
          <a:ln/>
        </p:spPr>
        <p:txBody>
          <a:bodyPr wrap="square" lIns="0" tIns="0" rIns="0" bIns="0" rtlCol="0" anchor="t"/>
          <a:lstStyle/>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이번 주기에 할</a:t>
            </a:r>
            <a:endParaRPr lang="en-US" sz="1000" dirty="0"/>
          </a:p>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일을 골라 확정</a:t>
            </a:r>
            <a:endParaRPr lang="en-US" sz="1000" dirty="0"/>
          </a:p>
        </p:txBody>
      </p:sp>
      <p:sp>
        <p:nvSpPr>
          <p:cNvPr id="14" name="Shape 11"/>
          <p:cNvSpPr/>
          <p:nvPr/>
        </p:nvSpPr>
        <p:spPr>
          <a:xfrm>
            <a:off x="4750308" y="2798064"/>
            <a:ext cx="219456" cy="201168"/>
          </a:xfrm>
          <a:prstGeom prst="rightArrow">
            <a:avLst/>
          </a:prstGeom>
          <a:solidFill>
            <a:srgbClr val="38BDF8"/>
          </a:solidFill>
          <a:ln/>
        </p:spPr>
        <p:txBody>
          <a:bodyPr/>
          <a:p/>
        </p:txBody>
      </p:sp>
      <p:sp>
        <p:nvSpPr>
          <p:cNvPr id="15" name="Shape 12"/>
          <p:cNvSpPr/>
          <p:nvPr/>
        </p:nvSpPr>
        <p:spPr>
          <a:xfrm>
            <a:off x="5010912" y="2240280"/>
            <a:ext cx="2331720" cy="1325880"/>
          </a:xfrm>
          <a:prstGeom prst="roundRect">
            <a:avLst>
              <a:gd name="adj" fmla="val 6897"/>
            </a:avLst>
          </a:prstGeom>
          <a:solidFill>
            <a:srgbClr val="EEF0FF"/>
          </a:solidFill>
          <a:ln/>
          <a:effectLst>
            <a:outerShdw sx="100000" sy="100000" kx="0" ky="0" algn="bl" rotWithShape="0" blurRad="152400" dist="25400" dir="5400000">
              <a:srgbClr val="1F1D48">
                <a:alpha val="16000"/>
              </a:srgbClr>
            </a:outerShdw>
          </a:effectLst>
        </p:spPr>
        <p:txBody>
          <a:bodyPr/>
          <a:p/>
        </p:txBody>
      </p:sp>
      <p:sp>
        <p:nvSpPr>
          <p:cNvPr id="16" name="Text 13"/>
          <p:cNvSpPr/>
          <p:nvPr/>
        </p:nvSpPr>
        <p:spPr>
          <a:xfrm>
            <a:off x="5120640" y="2395728"/>
            <a:ext cx="2112264" cy="310896"/>
          </a:xfrm>
          <a:prstGeom prst="rect">
            <a:avLst/>
          </a:prstGeom>
          <a:noFill/>
          <a:ln/>
        </p:spPr>
        <p:txBody>
          <a:bodyPr wrap="square" lIns="0" tIns="0" rIns="0" bIns="0" rtlCol="0" anchor="ctr"/>
          <a:lstStyle/>
          <a:p>
            <a:pPr algn="ctr" indent="0" marL="0">
              <a:buNone/>
            </a:pPr>
            <a:r>
              <a:rPr lang="en-US" sz="1250" b="1" dirty="0">
                <a:solidFill>
                  <a:srgbClr val="4338CA"/>
                </a:solidFill>
                <a:latin typeface="Malgun Gothic" pitchFamily="34" charset="0"/>
                <a:ea typeface="Malgun Gothic" pitchFamily="34" charset="-122"/>
                <a:cs typeface="Malgun Gothic" pitchFamily="34" charset="-120"/>
              </a:rPr>
              <a:t>스프린트 (1–4주)</a:t>
            </a:r>
            <a:endParaRPr lang="en-US" sz="1250" dirty="0"/>
          </a:p>
        </p:txBody>
      </p:sp>
      <p:sp>
        <p:nvSpPr>
          <p:cNvPr id="17" name="Text 14"/>
          <p:cNvSpPr/>
          <p:nvPr/>
        </p:nvSpPr>
        <p:spPr>
          <a:xfrm>
            <a:off x="5120640" y="2743200"/>
            <a:ext cx="2112264" cy="731520"/>
          </a:xfrm>
          <a:prstGeom prst="rect">
            <a:avLst/>
          </a:prstGeom>
          <a:noFill/>
          <a:ln/>
        </p:spPr>
        <p:txBody>
          <a:bodyPr wrap="square" lIns="0" tIns="0" rIns="0" bIns="0" rtlCol="0" anchor="t"/>
          <a:lstStyle/>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매일 15분</a:t>
            </a:r>
            <a:endParaRPr lang="en-US" sz="1000" dirty="0"/>
          </a:p>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데일리 스크럼</a:t>
            </a:r>
            <a:endParaRPr lang="en-US" sz="1000" dirty="0"/>
          </a:p>
        </p:txBody>
      </p:sp>
      <p:sp>
        <p:nvSpPr>
          <p:cNvPr id="18" name="Shape 15"/>
          <p:cNvSpPr/>
          <p:nvPr/>
        </p:nvSpPr>
        <p:spPr>
          <a:xfrm>
            <a:off x="7383780" y="2798064"/>
            <a:ext cx="219456" cy="201168"/>
          </a:xfrm>
          <a:prstGeom prst="rightArrow">
            <a:avLst/>
          </a:prstGeom>
          <a:solidFill>
            <a:srgbClr val="38BDF8"/>
          </a:solidFill>
          <a:ln/>
        </p:spPr>
        <p:txBody>
          <a:bodyPr/>
          <a:p/>
        </p:txBody>
      </p:sp>
      <p:sp>
        <p:nvSpPr>
          <p:cNvPr id="19" name="Shape 16"/>
          <p:cNvSpPr/>
          <p:nvPr/>
        </p:nvSpPr>
        <p:spPr>
          <a:xfrm>
            <a:off x="7644384" y="2240280"/>
            <a:ext cx="1874520" cy="1325880"/>
          </a:xfrm>
          <a:prstGeom prst="roundRect">
            <a:avLst>
              <a:gd name="adj" fmla="val 68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0" name="Text 17"/>
          <p:cNvSpPr/>
          <p:nvPr/>
        </p:nvSpPr>
        <p:spPr>
          <a:xfrm>
            <a:off x="7754112" y="2395728"/>
            <a:ext cx="1655064" cy="310896"/>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동작하는 증분</a:t>
            </a:r>
            <a:endParaRPr lang="en-US" sz="1250" dirty="0"/>
          </a:p>
        </p:txBody>
      </p:sp>
      <p:sp>
        <p:nvSpPr>
          <p:cNvPr id="21" name="Text 18"/>
          <p:cNvSpPr/>
          <p:nvPr/>
        </p:nvSpPr>
        <p:spPr>
          <a:xfrm>
            <a:off x="7754112" y="2743200"/>
            <a:ext cx="1655064" cy="731520"/>
          </a:xfrm>
          <a:prstGeom prst="rect">
            <a:avLst/>
          </a:prstGeom>
          <a:noFill/>
          <a:ln/>
        </p:spPr>
        <p:txBody>
          <a:bodyPr wrap="square" lIns="0" tIns="0" rIns="0" bIns="0" rtlCol="0" anchor="t"/>
          <a:lstStyle/>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실제로 돌아가는</a:t>
            </a:r>
            <a:endParaRPr lang="en-US" sz="1000" dirty="0"/>
          </a:p>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결과물 한 덩이</a:t>
            </a:r>
            <a:endParaRPr lang="en-US" sz="1000" dirty="0"/>
          </a:p>
        </p:txBody>
      </p:sp>
      <p:sp>
        <p:nvSpPr>
          <p:cNvPr id="22" name="Shape 19"/>
          <p:cNvSpPr/>
          <p:nvPr/>
        </p:nvSpPr>
        <p:spPr>
          <a:xfrm>
            <a:off x="9560052" y="2798064"/>
            <a:ext cx="219456" cy="201168"/>
          </a:xfrm>
          <a:prstGeom prst="rightArrow">
            <a:avLst/>
          </a:prstGeom>
          <a:solidFill>
            <a:srgbClr val="38BDF8"/>
          </a:solidFill>
          <a:ln/>
        </p:spPr>
        <p:txBody>
          <a:bodyPr/>
          <a:p/>
        </p:txBody>
      </p:sp>
      <p:sp>
        <p:nvSpPr>
          <p:cNvPr id="23" name="Shape 20"/>
          <p:cNvSpPr/>
          <p:nvPr/>
        </p:nvSpPr>
        <p:spPr>
          <a:xfrm>
            <a:off x="9820656" y="2240280"/>
            <a:ext cx="1874520" cy="1325880"/>
          </a:xfrm>
          <a:prstGeom prst="roundRect">
            <a:avLst>
              <a:gd name="adj" fmla="val 68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4" name="Text 21"/>
          <p:cNvSpPr/>
          <p:nvPr/>
        </p:nvSpPr>
        <p:spPr>
          <a:xfrm>
            <a:off x="9930384" y="2395728"/>
            <a:ext cx="1655064" cy="310896"/>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리뷰 · 회고</a:t>
            </a:r>
            <a:endParaRPr lang="en-US" sz="1250" dirty="0"/>
          </a:p>
        </p:txBody>
      </p:sp>
      <p:sp>
        <p:nvSpPr>
          <p:cNvPr id="25" name="Text 22"/>
          <p:cNvSpPr/>
          <p:nvPr/>
        </p:nvSpPr>
        <p:spPr>
          <a:xfrm>
            <a:off x="9930384" y="2743200"/>
            <a:ext cx="1655064" cy="731520"/>
          </a:xfrm>
          <a:prstGeom prst="rect">
            <a:avLst/>
          </a:prstGeom>
          <a:noFill/>
          <a:ln/>
        </p:spPr>
        <p:txBody>
          <a:bodyPr wrap="square" lIns="0" tIns="0" rIns="0" bIns="0" rtlCol="0" anchor="t"/>
          <a:lstStyle/>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결과와 과정을</a:t>
            </a:r>
            <a:endParaRPr lang="en-US" sz="1000" dirty="0"/>
          </a:p>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돌아보고 개선</a:t>
            </a:r>
            <a:endParaRPr lang="en-US" sz="1000" dirty="0"/>
          </a:p>
        </p:txBody>
      </p:sp>
      <p:sp>
        <p:nvSpPr>
          <p:cNvPr id="26" name="Shape 23"/>
          <p:cNvSpPr/>
          <p:nvPr/>
        </p:nvSpPr>
        <p:spPr>
          <a:xfrm>
            <a:off x="1938528" y="3977640"/>
            <a:ext cx="8138160" cy="237744"/>
          </a:xfrm>
          <a:prstGeom prst="leftArrow">
            <a:avLst/>
          </a:prstGeom>
          <a:solidFill>
            <a:srgbClr val="E7E6FB"/>
          </a:solidFill>
          <a:ln/>
        </p:spPr>
        <p:txBody>
          <a:bodyPr/>
          <a:p/>
        </p:txBody>
      </p:sp>
      <p:sp>
        <p:nvSpPr>
          <p:cNvPr id="27" name="Text 24"/>
          <p:cNvSpPr/>
          <p:nvPr/>
        </p:nvSpPr>
        <p:spPr>
          <a:xfrm>
            <a:off x="1938528" y="4279392"/>
            <a:ext cx="8138160" cy="274320"/>
          </a:xfrm>
          <a:prstGeom prst="rect">
            <a:avLst/>
          </a:prstGeom>
          <a:noFill/>
          <a:ln/>
        </p:spPr>
        <p:txBody>
          <a:bodyPr wrap="square" lIns="0" tIns="0" rIns="0" bIns="0" rtlCol="0" anchor="ctr"/>
          <a:lstStyle/>
          <a:p>
            <a:pPr algn="ctr" indent="0" marL="0">
              <a:buNone/>
            </a:pPr>
            <a:r>
              <a:rPr lang="en-US" sz="1050" dirty="0">
                <a:solidFill>
                  <a:srgbClr val="6B7185"/>
                </a:solidFill>
                <a:latin typeface="Malgun Gothic" pitchFamily="34" charset="0"/>
                <a:ea typeface="Malgun Gothic" pitchFamily="34" charset="-122"/>
                <a:cs typeface="Malgun Gothic" pitchFamily="34" charset="-120"/>
              </a:rPr>
              <a:t>다음 스프린트로. 이 바퀴를 프로젝트가 끝날 때까지 반복</a:t>
            </a:r>
            <a:endParaRPr lang="en-US" sz="1050" dirty="0"/>
          </a:p>
        </p:txBody>
      </p:sp>
      <p:sp>
        <p:nvSpPr>
          <p:cNvPr id="28" name="Shape 25"/>
          <p:cNvSpPr/>
          <p:nvPr/>
        </p:nvSpPr>
        <p:spPr>
          <a:xfrm>
            <a:off x="658368" y="4892040"/>
            <a:ext cx="10872216" cy="868680"/>
          </a:xfrm>
          <a:prstGeom prst="roundRect">
            <a:avLst>
              <a:gd name="adj" fmla="val 10526"/>
            </a:avLst>
          </a:prstGeom>
          <a:solidFill>
            <a:srgbClr val="F5F4FC"/>
          </a:solidFill>
          <a:ln/>
        </p:spPr>
        <p:txBody>
          <a:bodyPr/>
          <a:p/>
        </p:txBody>
      </p:sp>
      <p:sp>
        <p:nvSpPr>
          <p:cNvPr id="29" name="Shape 26"/>
          <p:cNvSpPr/>
          <p:nvPr/>
        </p:nvSpPr>
        <p:spPr>
          <a:xfrm>
            <a:off x="877824" y="5088636"/>
            <a:ext cx="475488" cy="475488"/>
          </a:xfrm>
          <a:prstGeom prst="ellipse">
            <a:avLst/>
          </a:prstGeom>
          <a:solidFill>
            <a:srgbClr val="38BDF8"/>
          </a:solidFill>
          <a:ln/>
        </p:spPr>
        <p:txBody>
          <a:bodyPr/>
          <a:p/>
        </p:txBody>
      </p:sp>
      <p:pic>
        <p:nvPicPr>
          <p:cNvPr id="30" name="Image 1" descr="/home/claude/icons/bulb_white.png">    </p:cNvPr>
          <p:cNvPicPr>
            <a:picLocks noChangeAspect="1"/>
          </p:cNvPicPr>
          <p:nvPr/>
        </p:nvPicPr>
        <p:blipFill>
          <a:blip r:embed="rId2"/>
          <a:stretch>
            <a:fillRect/>
          </a:stretch>
        </p:blipFill>
        <p:spPr>
          <a:xfrm>
            <a:off x="996696" y="5207508"/>
            <a:ext cx="237744" cy="237744"/>
          </a:xfrm>
          <a:prstGeom prst="rect">
            <a:avLst/>
          </a:prstGeom>
        </p:spPr>
      </p:pic>
      <p:sp>
        <p:nvSpPr>
          <p:cNvPr id="31" name="Text 27"/>
          <p:cNvSpPr/>
          <p:nvPr/>
        </p:nvSpPr>
        <p:spPr>
          <a:xfrm>
            <a:off x="1554480" y="498348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왜 이 틀이 강한가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매 스프린트 끝에 '동작하는 것'이 나오고, 매일 15분의 확인이 있으니 문제가 커지기 전에 드러납니다. 폭포수의 "맨 끝의 충격"이 구조적으로 사라집니다.</a:t>
            </a:r>
            <a:endParaRPr lang="en-US" sz="1300" dirty="0"/>
          </a:p>
        </p:txBody>
      </p:sp>
      <p:sp>
        <p:nvSpPr>
          <p:cNvPr id="32" name="Text 2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user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애자일 실무 용어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팀 프로젝트 공용어 네 가지</a:t>
            </a:r>
            <a:endParaRPr lang="en-US" sz="2600" dirty="0"/>
          </a:p>
        </p:txBody>
      </p:sp>
      <p:sp>
        <p:nvSpPr>
          <p:cNvPr id="6" name="Shape 3"/>
          <p:cNvSpPr/>
          <p:nvPr/>
        </p:nvSpPr>
        <p:spPr>
          <a:xfrm>
            <a:off x="658368" y="182880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96112" y="2066544"/>
            <a:ext cx="512064" cy="512064"/>
          </a:xfrm>
          <a:prstGeom prst="ellipse">
            <a:avLst/>
          </a:prstGeom>
          <a:solidFill>
            <a:srgbClr val="38BDF8"/>
          </a:solidFill>
          <a:ln/>
        </p:spPr>
        <p:txBody>
          <a:bodyPr/>
          <a:p/>
        </p:txBody>
      </p:sp>
      <p:pic>
        <p:nvPicPr>
          <p:cNvPr id="8" name="Image 1" descr="/home/claude/icons/clock_white.png">    </p:cNvPr>
          <p:cNvPicPr>
            <a:picLocks noChangeAspect="1"/>
          </p:cNvPicPr>
          <p:nvPr/>
        </p:nvPicPr>
        <p:blipFill>
          <a:blip r:embed="rId2"/>
          <a:stretch>
            <a:fillRect/>
          </a:stretch>
        </p:blipFill>
        <p:spPr>
          <a:xfrm>
            <a:off x="1024128" y="2194560"/>
            <a:ext cx="256032" cy="256032"/>
          </a:xfrm>
          <a:prstGeom prst="rect">
            <a:avLst/>
          </a:prstGeom>
        </p:spPr>
      </p:pic>
      <p:sp>
        <p:nvSpPr>
          <p:cNvPr id="9" name="Text 5"/>
          <p:cNvSpPr/>
          <p:nvPr/>
        </p:nvSpPr>
        <p:spPr>
          <a:xfrm>
            <a:off x="896112" y="270662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스프린트</a:t>
            </a:r>
            <a:endParaRPr lang="en-US" sz="1400" dirty="0"/>
          </a:p>
        </p:txBody>
      </p:sp>
      <p:sp>
        <p:nvSpPr>
          <p:cNvPr id="10" name="Text 6"/>
          <p:cNvSpPr/>
          <p:nvPr/>
        </p:nvSpPr>
        <p:spPr>
          <a:xfrm>
            <a:off x="896112" y="299923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짧고 '고정된' 개발 주기(1–4주). 기간을 늘리지 않고, 못 끝낸 일은 다음 스프린트로 넘깁니다. 우리 프로젝트는 1주 스프린트로 갑니다.</a:t>
            </a:r>
            <a:endParaRPr lang="en-US" sz="1100" dirty="0"/>
          </a:p>
        </p:txBody>
      </p:sp>
      <p:sp>
        <p:nvSpPr>
          <p:cNvPr id="11" name="Shape 7"/>
          <p:cNvSpPr/>
          <p:nvPr/>
        </p:nvSpPr>
        <p:spPr>
          <a:xfrm>
            <a:off x="6222492" y="182880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Shape 8"/>
          <p:cNvSpPr/>
          <p:nvPr/>
        </p:nvSpPr>
        <p:spPr>
          <a:xfrm>
            <a:off x="6460236" y="2066544"/>
            <a:ext cx="512064" cy="512064"/>
          </a:xfrm>
          <a:prstGeom prst="ellipse">
            <a:avLst/>
          </a:prstGeom>
          <a:solidFill>
            <a:srgbClr val="4F46E5"/>
          </a:solidFill>
          <a:ln/>
        </p:spPr>
        <p:txBody>
          <a:bodyPr/>
          <a:p/>
        </p:txBody>
      </p:sp>
      <p:pic>
        <p:nvPicPr>
          <p:cNvPr id="13" name="Image 2" descr="/home/claude/icons/comments_white.png">    </p:cNvPr>
          <p:cNvPicPr>
            <a:picLocks noChangeAspect="1"/>
          </p:cNvPicPr>
          <p:nvPr/>
        </p:nvPicPr>
        <p:blipFill>
          <a:blip r:embed="rId3"/>
          <a:stretch>
            <a:fillRect/>
          </a:stretch>
        </p:blipFill>
        <p:spPr>
          <a:xfrm>
            <a:off x="6588252" y="2194560"/>
            <a:ext cx="256032" cy="256032"/>
          </a:xfrm>
          <a:prstGeom prst="rect">
            <a:avLst/>
          </a:prstGeom>
        </p:spPr>
      </p:pic>
      <p:sp>
        <p:nvSpPr>
          <p:cNvPr id="14" name="Text 9"/>
          <p:cNvSpPr/>
          <p:nvPr/>
        </p:nvSpPr>
        <p:spPr>
          <a:xfrm>
            <a:off x="6460236" y="270662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데일리 스크럼</a:t>
            </a:r>
            <a:endParaRPr lang="en-US" sz="1400" dirty="0"/>
          </a:p>
        </p:txBody>
      </p:sp>
      <p:sp>
        <p:nvSpPr>
          <p:cNvPr id="15" name="Text 10"/>
          <p:cNvSpPr/>
          <p:nvPr/>
        </p:nvSpPr>
        <p:spPr>
          <a:xfrm>
            <a:off x="6460236" y="299923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매일 15분, 서서 하는 확인. 어제 한 것 · 오늘 할 것 · 막힌 것 세 가지만 말합니다. 문제 해결 회의가 아니라 '드러내는' 자리입니다.</a:t>
            </a:r>
            <a:endParaRPr lang="en-US" sz="1100" dirty="0"/>
          </a:p>
        </p:txBody>
      </p:sp>
      <p:sp>
        <p:nvSpPr>
          <p:cNvPr id="16" name="Shape 11"/>
          <p:cNvSpPr/>
          <p:nvPr/>
        </p:nvSpPr>
        <p:spPr>
          <a:xfrm>
            <a:off x="658368" y="397764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7" name="Shape 12"/>
          <p:cNvSpPr/>
          <p:nvPr/>
        </p:nvSpPr>
        <p:spPr>
          <a:xfrm>
            <a:off x="896112" y="4215384"/>
            <a:ext cx="512064" cy="512064"/>
          </a:xfrm>
          <a:prstGeom prst="ellipse">
            <a:avLst/>
          </a:prstGeom>
          <a:solidFill>
            <a:srgbClr val="7C3AED"/>
          </a:solidFill>
          <a:ln/>
        </p:spPr>
        <p:txBody>
          <a:bodyPr/>
          <a:p/>
        </p:txBody>
      </p:sp>
      <p:pic>
        <p:nvPicPr>
          <p:cNvPr id="18" name="Image 3" descr="/home/claude/icons/listol_white.png">    </p:cNvPr>
          <p:cNvPicPr>
            <a:picLocks noChangeAspect="1"/>
          </p:cNvPicPr>
          <p:nvPr/>
        </p:nvPicPr>
        <p:blipFill>
          <a:blip r:embed="rId4"/>
          <a:stretch>
            <a:fillRect/>
          </a:stretch>
        </p:blipFill>
        <p:spPr>
          <a:xfrm>
            <a:off x="1024128" y="4343400"/>
            <a:ext cx="256032" cy="256032"/>
          </a:xfrm>
          <a:prstGeom prst="rect">
            <a:avLst/>
          </a:prstGeom>
        </p:spPr>
      </p:pic>
      <p:sp>
        <p:nvSpPr>
          <p:cNvPr id="19" name="Text 13"/>
          <p:cNvSpPr/>
          <p:nvPr/>
        </p:nvSpPr>
        <p:spPr>
          <a:xfrm>
            <a:off x="896112" y="485546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백로그</a:t>
            </a:r>
            <a:endParaRPr lang="en-US" sz="1400" dirty="0"/>
          </a:p>
        </p:txBody>
      </p:sp>
      <p:sp>
        <p:nvSpPr>
          <p:cNvPr id="20" name="Text 14"/>
          <p:cNvSpPr/>
          <p:nvPr/>
        </p:nvSpPr>
        <p:spPr>
          <a:xfrm>
            <a:off x="896112" y="514807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할 일의 우선순위 목록. 새 요구와 변경은 전부 여기로 들어와 순서를 받습니다. "변화를 환영"하는 실제 장치입니다.</a:t>
            </a:r>
            <a:endParaRPr lang="en-US" sz="1100" dirty="0"/>
          </a:p>
        </p:txBody>
      </p:sp>
      <p:sp>
        <p:nvSpPr>
          <p:cNvPr id="21" name="Shape 15"/>
          <p:cNvSpPr/>
          <p:nvPr/>
        </p:nvSpPr>
        <p:spPr>
          <a:xfrm>
            <a:off x="6222492" y="397764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2" name="Shape 16"/>
          <p:cNvSpPr/>
          <p:nvPr/>
        </p:nvSpPr>
        <p:spPr>
          <a:xfrm>
            <a:off x="6460236" y="4215384"/>
            <a:ext cx="512064" cy="512064"/>
          </a:xfrm>
          <a:prstGeom prst="ellipse">
            <a:avLst/>
          </a:prstGeom>
          <a:solidFill>
            <a:srgbClr val="10B981"/>
          </a:solidFill>
          <a:ln/>
        </p:spPr>
        <p:txBody>
          <a:bodyPr/>
          <a:p/>
        </p:txBody>
      </p:sp>
      <p:pic>
        <p:nvPicPr>
          <p:cNvPr id="23" name="Image 4" descr="/home/claude/icons/history_white.png">    </p:cNvPr>
          <p:cNvPicPr>
            <a:picLocks noChangeAspect="1"/>
          </p:cNvPicPr>
          <p:nvPr/>
        </p:nvPicPr>
        <p:blipFill>
          <a:blip r:embed="rId5"/>
          <a:stretch>
            <a:fillRect/>
          </a:stretch>
        </p:blipFill>
        <p:spPr>
          <a:xfrm>
            <a:off x="6588252" y="4343400"/>
            <a:ext cx="256032" cy="256032"/>
          </a:xfrm>
          <a:prstGeom prst="rect">
            <a:avLst/>
          </a:prstGeom>
        </p:spPr>
      </p:pic>
      <p:sp>
        <p:nvSpPr>
          <p:cNvPr id="24" name="Text 17"/>
          <p:cNvSpPr/>
          <p:nvPr/>
        </p:nvSpPr>
        <p:spPr>
          <a:xfrm>
            <a:off x="6460236" y="485546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회고</a:t>
            </a:r>
            <a:endParaRPr lang="en-US" sz="1400" dirty="0"/>
          </a:p>
        </p:txBody>
      </p:sp>
      <p:sp>
        <p:nvSpPr>
          <p:cNvPr id="25" name="Text 18"/>
          <p:cNvSpPr/>
          <p:nvPr/>
        </p:nvSpPr>
        <p:spPr>
          <a:xfrm>
            <a:off x="6460236" y="514807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스프린트 끝에 결과물이 아니라 '일하는 방식'을 돌아봅니다. 좋았던 것 · 아쉬웠던 것 · 다음에 바꿀 것 하나.</a:t>
            </a:r>
            <a:endParaRPr lang="en-US" sz="1100" dirty="0"/>
          </a:p>
        </p:txBody>
      </p:sp>
      <p:sp>
        <p:nvSpPr>
          <p:cNvPr id="26"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user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애자일 실무 용어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AI 시대의 개발 주기: 스프린트가 분 단위로</a:t>
            </a:r>
            <a:endParaRPr lang="en-US" sz="2600" dirty="0"/>
          </a:p>
        </p:txBody>
      </p:sp>
      <p:sp>
        <p:nvSpPr>
          <p:cNvPr id="6" name="Text 3"/>
          <p:cNvSpPr/>
          <p:nvPr/>
        </p:nvSpPr>
        <p:spPr>
          <a:xfrm>
            <a:off x="658368" y="1645920"/>
            <a:ext cx="10872216" cy="6858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구현이 몇 분으로 줄어들면, 병목은 '만들기'에서 '확인하기'로 이동합니다. 그리고 우리의 하루는 이 초소형 스프린트의 반복이 됩니다.</a:t>
            </a:r>
            <a:endParaRPr lang="en-US" sz="1250" dirty="0"/>
          </a:p>
        </p:txBody>
      </p:sp>
      <p:sp>
        <p:nvSpPr>
          <p:cNvPr id="7" name="Shape 4"/>
          <p:cNvSpPr/>
          <p:nvPr/>
        </p:nvSpPr>
        <p:spPr>
          <a:xfrm>
            <a:off x="978408" y="2514600"/>
            <a:ext cx="2240280" cy="1371600"/>
          </a:xfrm>
          <a:prstGeom prst="roundRect">
            <a:avLst>
              <a:gd name="adj" fmla="val 666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8" name="Shape 5"/>
          <p:cNvSpPr/>
          <p:nvPr/>
        </p:nvSpPr>
        <p:spPr>
          <a:xfrm>
            <a:off x="1874520" y="2651760"/>
            <a:ext cx="438912" cy="438912"/>
          </a:xfrm>
          <a:prstGeom prst="ellipse">
            <a:avLst/>
          </a:prstGeom>
          <a:solidFill>
            <a:srgbClr val="4F46E5"/>
          </a:solidFill>
          <a:ln/>
        </p:spPr>
        <p:txBody>
          <a:bodyPr/>
          <a:p/>
        </p:txBody>
      </p:sp>
      <p:sp>
        <p:nvSpPr>
          <p:cNvPr id="9" name="Text 6"/>
          <p:cNvSpPr/>
          <p:nvPr/>
        </p:nvSpPr>
        <p:spPr>
          <a:xfrm>
            <a:off x="1874520" y="2651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10" name="Text 7"/>
          <p:cNvSpPr/>
          <p:nvPr/>
        </p:nvSpPr>
        <p:spPr>
          <a:xfrm>
            <a:off x="1088136" y="3145536"/>
            <a:ext cx="2020824" cy="292608"/>
          </a:xfrm>
          <a:prstGeom prst="rect">
            <a:avLst/>
          </a:prstGeom>
          <a:noFill/>
          <a:ln/>
        </p:spPr>
        <p:txBody>
          <a:bodyPr wrap="square" lIns="0" tIns="0" rIns="0" bIns="0" rtlCol="0" anchor="ctr"/>
          <a:lstStyle/>
          <a:p>
            <a:pPr algn="ctr" indent="0" marL="0">
              <a:buNone/>
            </a:pPr>
            <a:r>
              <a:rPr lang="en-US" sz="1300" b="1" dirty="0">
                <a:solidFill>
                  <a:srgbClr val="1E1B3A"/>
                </a:solidFill>
                <a:latin typeface="Malgun Gothic" pitchFamily="34" charset="0"/>
                <a:ea typeface="Malgun Gothic" pitchFamily="34" charset="-122"/>
                <a:cs typeface="Malgun Gothic" pitchFamily="34" charset="-120"/>
              </a:rPr>
              <a:t>지시</a:t>
            </a:r>
            <a:endParaRPr lang="en-US" sz="1300" dirty="0"/>
          </a:p>
        </p:txBody>
      </p:sp>
      <p:sp>
        <p:nvSpPr>
          <p:cNvPr id="11" name="Text 8"/>
          <p:cNvSpPr/>
          <p:nvPr/>
        </p:nvSpPr>
        <p:spPr>
          <a:xfrm>
            <a:off x="1088136" y="3438144"/>
            <a:ext cx="2020824" cy="411480"/>
          </a:xfrm>
          <a:prstGeom prst="rect">
            <a:avLst/>
          </a:prstGeom>
          <a:noFill/>
          <a:ln/>
        </p:spPr>
        <p:txBody>
          <a:bodyPr wrap="square" lIns="0" tIns="0" rIns="0" bIns="0" rtlCol="0" anchor="t"/>
          <a:lstStyle/>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무엇을 만들지</a:t>
            </a:r>
            <a:endParaRPr lang="en-US" sz="950" dirty="0"/>
          </a:p>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말로 정확히</a:t>
            </a:r>
            <a:endParaRPr lang="en-US" sz="950" dirty="0"/>
          </a:p>
        </p:txBody>
      </p:sp>
      <p:sp>
        <p:nvSpPr>
          <p:cNvPr id="12" name="Shape 9"/>
          <p:cNvSpPr/>
          <p:nvPr/>
        </p:nvSpPr>
        <p:spPr>
          <a:xfrm>
            <a:off x="3282696" y="3108960"/>
            <a:ext cx="274320" cy="219456"/>
          </a:xfrm>
          <a:prstGeom prst="rightArrow">
            <a:avLst/>
          </a:prstGeom>
          <a:solidFill>
            <a:srgbClr val="38BDF8"/>
          </a:solidFill>
          <a:ln/>
        </p:spPr>
        <p:txBody>
          <a:bodyPr/>
          <a:p/>
        </p:txBody>
      </p:sp>
      <p:sp>
        <p:nvSpPr>
          <p:cNvPr id="13" name="Shape 10"/>
          <p:cNvSpPr/>
          <p:nvPr/>
        </p:nvSpPr>
        <p:spPr>
          <a:xfrm>
            <a:off x="3675888" y="2514600"/>
            <a:ext cx="2240280" cy="1371600"/>
          </a:xfrm>
          <a:prstGeom prst="roundRect">
            <a:avLst>
              <a:gd name="adj" fmla="val 666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4" name="Shape 11"/>
          <p:cNvSpPr/>
          <p:nvPr/>
        </p:nvSpPr>
        <p:spPr>
          <a:xfrm>
            <a:off x="4572000" y="2651760"/>
            <a:ext cx="438912" cy="438912"/>
          </a:xfrm>
          <a:prstGeom prst="ellipse">
            <a:avLst/>
          </a:prstGeom>
          <a:solidFill>
            <a:srgbClr val="7C3AED"/>
          </a:solidFill>
          <a:ln/>
        </p:spPr>
        <p:txBody>
          <a:bodyPr/>
          <a:p/>
        </p:txBody>
      </p:sp>
      <p:sp>
        <p:nvSpPr>
          <p:cNvPr id="15" name="Text 12"/>
          <p:cNvSpPr/>
          <p:nvPr/>
        </p:nvSpPr>
        <p:spPr>
          <a:xfrm>
            <a:off x="4572000" y="2651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16" name="Text 13"/>
          <p:cNvSpPr/>
          <p:nvPr/>
        </p:nvSpPr>
        <p:spPr>
          <a:xfrm>
            <a:off x="3785616" y="3145536"/>
            <a:ext cx="2020824" cy="292608"/>
          </a:xfrm>
          <a:prstGeom prst="rect">
            <a:avLst/>
          </a:prstGeom>
          <a:noFill/>
          <a:ln/>
        </p:spPr>
        <p:txBody>
          <a:bodyPr wrap="square" lIns="0" tIns="0" rIns="0" bIns="0" rtlCol="0" anchor="ctr"/>
          <a:lstStyle/>
          <a:p>
            <a:pPr algn="ctr" indent="0" marL="0">
              <a:buNone/>
            </a:pPr>
            <a:r>
              <a:rPr lang="en-US" sz="1300" b="1" dirty="0">
                <a:solidFill>
                  <a:srgbClr val="1E1B3A"/>
                </a:solidFill>
                <a:latin typeface="Malgun Gothic" pitchFamily="34" charset="0"/>
                <a:ea typeface="Malgun Gothic" pitchFamily="34" charset="-122"/>
                <a:cs typeface="Malgun Gothic" pitchFamily="34" charset="-120"/>
              </a:rPr>
              <a:t>생성</a:t>
            </a:r>
            <a:endParaRPr lang="en-US" sz="1300" dirty="0"/>
          </a:p>
        </p:txBody>
      </p:sp>
      <p:sp>
        <p:nvSpPr>
          <p:cNvPr id="17" name="Text 14"/>
          <p:cNvSpPr/>
          <p:nvPr/>
        </p:nvSpPr>
        <p:spPr>
          <a:xfrm>
            <a:off x="3785616" y="3438144"/>
            <a:ext cx="2020824" cy="411480"/>
          </a:xfrm>
          <a:prstGeom prst="rect">
            <a:avLst/>
          </a:prstGeom>
          <a:noFill/>
          <a:ln/>
        </p:spPr>
        <p:txBody>
          <a:bodyPr wrap="square" lIns="0" tIns="0" rIns="0" bIns="0" rtlCol="0" anchor="t"/>
          <a:lstStyle/>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AI가 몇 분 안에</a:t>
            </a:r>
            <a:endParaRPr lang="en-US" sz="950" dirty="0"/>
          </a:p>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초안을 구현</a:t>
            </a:r>
            <a:endParaRPr lang="en-US" sz="950" dirty="0"/>
          </a:p>
        </p:txBody>
      </p:sp>
      <p:sp>
        <p:nvSpPr>
          <p:cNvPr id="18" name="Shape 15"/>
          <p:cNvSpPr/>
          <p:nvPr/>
        </p:nvSpPr>
        <p:spPr>
          <a:xfrm>
            <a:off x="5980176" y="3108960"/>
            <a:ext cx="274320" cy="219456"/>
          </a:xfrm>
          <a:prstGeom prst="rightArrow">
            <a:avLst/>
          </a:prstGeom>
          <a:solidFill>
            <a:srgbClr val="38BDF8"/>
          </a:solidFill>
          <a:ln/>
        </p:spPr>
        <p:txBody>
          <a:bodyPr/>
          <a:p/>
        </p:txBody>
      </p:sp>
      <p:sp>
        <p:nvSpPr>
          <p:cNvPr id="19" name="Shape 16"/>
          <p:cNvSpPr/>
          <p:nvPr/>
        </p:nvSpPr>
        <p:spPr>
          <a:xfrm>
            <a:off x="6373368" y="2514600"/>
            <a:ext cx="2240280" cy="1371600"/>
          </a:xfrm>
          <a:prstGeom prst="roundRect">
            <a:avLst>
              <a:gd name="adj" fmla="val 666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0" name="Shape 17"/>
          <p:cNvSpPr/>
          <p:nvPr/>
        </p:nvSpPr>
        <p:spPr>
          <a:xfrm>
            <a:off x="7269480" y="2651760"/>
            <a:ext cx="438912" cy="438912"/>
          </a:xfrm>
          <a:prstGeom prst="ellipse">
            <a:avLst/>
          </a:prstGeom>
          <a:solidFill>
            <a:srgbClr val="F59E0B"/>
          </a:solidFill>
          <a:ln/>
        </p:spPr>
        <p:txBody>
          <a:bodyPr/>
          <a:p/>
        </p:txBody>
      </p:sp>
      <p:sp>
        <p:nvSpPr>
          <p:cNvPr id="21" name="Text 18"/>
          <p:cNvSpPr/>
          <p:nvPr/>
        </p:nvSpPr>
        <p:spPr>
          <a:xfrm>
            <a:off x="7269480" y="2651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3</a:t>
            </a:r>
            <a:endParaRPr lang="en-US" sz="1500" dirty="0"/>
          </a:p>
        </p:txBody>
      </p:sp>
      <p:sp>
        <p:nvSpPr>
          <p:cNvPr id="22" name="Text 19"/>
          <p:cNvSpPr/>
          <p:nvPr/>
        </p:nvSpPr>
        <p:spPr>
          <a:xfrm>
            <a:off x="6483096" y="3145536"/>
            <a:ext cx="2020824" cy="292608"/>
          </a:xfrm>
          <a:prstGeom prst="rect">
            <a:avLst/>
          </a:prstGeom>
          <a:noFill/>
          <a:ln/>
        </p:spPr>
        <p:txBody>
          <a:bodyPr wrap="square" lIns="0" tIns="0" rIns="0" bIns="0" rtlCol="0" anchor="ctr"/>
          <a:lstStyle/>
          <a:p>
            <a:pPr algn="ctr" indent="0" marL="0">
              <a:buNone/>
            </a:pPr>
            <a:r>
              <a:rPr lang="en-US" sz="1300" b="1" dirty="0">
                <a:solidFill>
                  <a:srgbClr val="1E1B3A"/>
                </a:solidFill>
                <a:latin typeface="Malgun Gothic" pitchFamily="34" charset="0"/>
                <a:ea typeface="Malgun Gothic" pitchFamily="34" charset="-122"/>
                <a:cs typeface="Malgun Gothic" pitchFamily="34" charset="-120"/>
              </a:rPr>
              <a:t>확인</a:t>
            </a:r>
            <a:endParaRPr lang="en-US" sz="1300" dirty="0"/>
          </a:p>
        </p:txBody>
      </p:sp>
      <p:sp>
        <p:nvSpPr>
          <p:cNvPr id="23" name="Text 20"/>
          <p:cNvSpPr/>
          <p:nvPr/>
        </p:nvSpPr>
        <p:spPr>
          <a:xfrm>
            <a:off x="6483096" y="3438144"/>
            <a:ext cx="2020824" cy="411480"/>
          </a:xfrm>
          <a:prstGeom prst="rect">
            <a:avLst/>
          </a:prstGeom>
          <a:noFill/>
          <a:ln/>
        </p:spPr>
        <p:txBody>
          <a:bodyPr wrap="square" lIns="0" tIns="0" rIns="0" bIns="0" rtlCol="0" anchor="t"/>
          <a:lstStyle/>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실행 · 코드 읽기</a:t>
            </a:r>
            <a:endParaRPr lang="en-US" sz="950" dirty="0"/>
          </a:p>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기준과 비교</a:t>
            </a:r>
            <a:endParaRPr lang="en-US" sz="950" dirty="0"/>
          </a:p>
        </p:txBody>
      </p:sp>
      <p:sp>
        <p:nvSpPr>
          <p:cNvPr id="24" name="Shape 21"/>
          <p:cNvSpPr/>
          <p:nvPr/>
        </p:nvSpPr>
        <p:spPr>
          <a:xfrm>
            <a:off x="8677656" y="3108960"/>
            <a:ext cx="274320" cy="219456"/>
          </a:xfrm>
          <a:prstGeom prst="rightArrow">
            <a:avLst/>
          </a:prstGeom>
          <a:solidFill>
            <a:srgbClr val="38BDF8"/>
          </a:solidFill>
          <a:ln/>
        </p:spPr>
        <p:txBody>
          <a:bodyPr/>
          <a:p/>
        </p:txBody>
      </p:sp>
      <p:sp>
        <p:nvSpPr>
          <p:cNvPr id="25" name="Shape 22"/>
          <p:cNvSpPr/>
          <p:nvPr/>
        </p:nvSpPr>
        <p:spPr>
          <a:xfrm>
            <a:off x="9070848" y="2514600"/>
            <a:ext cx="2240280" cy="1371600"/>
          </a:xfrm>
          <a:prstGeom prst="roundRect">
            <a:avLst>
              <a:gd name="adj" fmla="val 666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6" name="Shape 23"/>
          <p:cNvSpPr/>
          <p:nvPr/>
        </p:nvSpPr>
        <p:spPr>
          <a:xfrm>
            <a:off x="9966960" y="2651760"/>
            <a:ext cx="438912" cy="438912"/>
          </a:xfrm>
          <a:prstGeom prst="ellipse">
            <a:avLst/>
          </a:prstGeom>
          <a:solidFill>
            <a:srgbClr val="10B981"/>
          </a:solidFill>
          <a:ln/>
        </p:spPr>
        <p:txBody>
          <a:bodyPr/>
          <a:p/>
        </p:txBody>
      </p:sp>
      <p:sp>
        <p:nvSpPr>
          <p:cNvPr id="27" name="Text 24"/>
          <p:cNvSpPr/>
          <p:nvPr/>
        </p:nvSpPr>
        <p:spPr>
          <a:xfrm>
            <a:off x="9966960" y="2651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4</a:t>
            </a:r>
            <a:endParaRPr lang="en-US" sz="1500" dirty="0"/>
          </a:p>
        </p:txBody>
      </p:sp>
      <p:sp>
        <p:nvSpPr>
          <p:cNvPr id="28" name="Text 25"/>
          <p:cNvSpPr/>
          <p:nvPr/>
        </p:nvSpPr>
        <p:spPr>
          <a:xfrm>
            <a:off x="9180576" y="3145536"/>
            <a:ext cx="2020824" cy="292608"/>
          </a:xfrm>
          <a:prstGeom prst="rect">
            <a:avLst/>
          </a:prstGeom>
          <a:noFill/>
          <a:ln/>
        </p:spPr>
        <p:txBody>
          <a:bodyPr wrap="square" lIns="0" tIns="0" rIns="0" bIns="0" rtlCol="0" anchor="ctr"/>
          <a:lstStyle/>
          <a:p>
            <a:pPr algn="ctr" indent="0" marL="0">
              <a:buNone/>
            </a:pPr>
            <a:r>
              <a:rPr lang="en-US" sz="1300" b="1" dirty="0">
                <a:solidFill>
                  <a:srgbClr val="1E1B3A"/>
                </a:solidFill>
                <a:latin typeface="Malgun Gothic" pitchFamily="34" charset="0"/>
                <a:ea typeface="Malgun Gothic" pitchFamily="34" charset="-122"/>
                <a:cs typeface="Malgun Gothic" pitchFamily="34" charset="-120"/>
              </a:rPr>
              <a:t>수정 지시</a:t>
            </a:r>
            <a:endParaRPr lang="en-US" sz="1300" dirty="0"/>
          </a:p>
        </p:txBody>
      </p:sp>
      <p:sp>
        <p:nvSpPr>
          <p:cNvPr id="29" name="Text 26"/>
          <p:cNvSpPr/>
          <p:nvPr/>
        </p:nvSpPr>
        <p:spPr>
          <a:xfrm>
            <a:off x="9180576" y="3438144"/>
            <a:ext cx="2020824" cy="411480"/>
          </a:xfrm>
          <a:prstGeom prst="rect">
            <a:avLst/>
          </a:prstGeom>
          <a:noFill/>
          <a:ln/>
        </p:spPr>
        <p:txBody>
          <a:bodyPr wrap="square" lIns="0" tIns="0" rIns="0" bIns="0" rtlCol="0" anchor="t"/>
          <a:lstStyle/>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차이를 말로</a:t>
            </a:r>
            <a:endParaRPr lang="en-US" sz="950" dirty="0"/>
          </a:p>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다시 요청</a:t>
            </a:r>
            <a:endParaRPr lang="en-US" sz="950" dirty="0"/>
          </a:p>
        </p:txBody>
      </p:sp>
      <p:sp>
        <p:nvSpPr>
          <p:cNvPr id="30" name="Shape 27"/>
          <p:cNvSpPr/>
          <p:nvPr/>
        </p:nvSpPr>
        <p:spPr>
          <a:xfrm>
            <a:off x="2075688" y="4160520"/>
            <a:ext cx="8046720" cy="237744"/>
          </a:xfrm>
          <a:prstGeom prst="leftArrow">
            <a:avLst/>
          </a:prstGeom>
          <a:solidFill>
            <a:srgbClr val="E7E6FB"/>
          </a:solidFill>
          <a:ln/>
        </p:spPr>
        <p:txBody>
          <a:bodyPr/>
          <a:p/>
        </p:txBody>
      </p:sp>
      <p:sp>
        <p:nvSpPr>
          <p:cNvPr id="31" name="Text 28"/>
          <p:cNvSpPr/>
          <p:nvPr/>
        </p:nvSpPr>
        <p:spPr>
          <a:xfrm>
            <a:off x="2075688" y="4462272"/>
            <a:ext cx="8046720" cy="274320"/>
          </a:xfrm>
          <a:prstGeom prst="rect">
            <a:avLst/>
          </a:prstGeom>
          <a:noFill/>
          <a:ln/>
        </p:spPr>
        <p:txBody>
          <a:bodyPr wrap="square" lIns="0" tIns="0" rIns="0" bIns="0" rtlCol="0" anchor="ctr"/>
          <a:lstStyle/>
          <a:p>
            <a:pPr algn="ctr" indent="0" marL="0">
              <a:buNone/>
            </a:pPr>
            <a:r>
              <a:rPr lang="en-US" sz="1050" dirty="0">
                <a:solidFill>
                  <a:srgbClr val="6B7185"/>
                </a:solidFill>
                <a:latin typeface="Malgun Gothic" pitchFamily="34" charset="0"/>
                <a:ea typeface="Malgun Gothic" pitchFamily="34" charset="-122"/>
                <a:cs typeface="Malgun Gothic" pitchFamily="34" charset="-120"/>
              </a:rPr>
              <a:t>통과 기준을 만족할 때까지 수 분 단위로 반복</a:t>
            </a:r>
            <a:endParaRPr lang="en-US" sz="1050" dirty="0"/>
          </a:p>
        </p:txBody>
      </p:sp>
      <p:sp>
        <p:nvSpPr>
          <p:cNvPr id="32" name="Shape 29"/>
          <p:cNvSpPr/>
          <p:nvPr/>
        </p:nvSpPr>
        <p:spPr>
          <a:xfrm>
            <a:off x="658368" y="5074920"/>
            <a:ext cx="10872216" cy="868680"/>
          </a:xfrm>
          <a:prstGeom prst="roundRect">
            <a:avLst>
              <a:gd name="adj" fmla="val 10526"/>
            </a:avLst>
          </a:prstGeom>
          <a:solidFill>
            <a:srgbClr val="EEF0FF"/>
          </a:solidFill>
          <a:ln/>
        </p:spPr>
        <p:txBody>
          <a:bodyPr/>
          <a:p/>
        </p:txBody>
      </p:sp>
      <p:sp>
        <p:nvSpPr>
          <p:cNvPr id="33" name="Shape 30"/>
          <p:cNvSpPr/>
          <p:nvPr/>
        </p:nvSpPr>
        <p:spPr>
          <a:xfrm>
            <a:off x="877824" y="5271516"/>
            <a:ext cx="475488" cy="475488"/>
          </a:xfrm>
          <a:prstGeom prst="ellipse">
            <a:avLst/>
          </a:prstGeom>
          <a:solidFill>
            <a:srgbClr val="14B8A6"/>
          </a:solidFill>
          <a:ln/>
        </p:spPr>
        <p:txBody>
          <a:bodyPr/>
          <a:p/>
        </p:txBody>
      </p:sp>
      <p:pic>
        <p:nvPicPr>
          <p:cNvPr id="34" name="Image 1" descr="/home/claude/icons/bolt_white.png">    </p:cNvPr>
          <p:cNvPicPr>
            <a:picLocks noChangeAspect="1"/>
          </p:cNvPicPr>
          <p:nvPr/>
        </p:nvPicPr>
        <p:blipFill>
          <a:blip r:embed="rId2"/>
          <a:stretch>
            <a:fillRect/>
          </a:stretch>
        </p:blipFill>
        <p:spPr>
          <a:xfrm>
            <a:off x="996696" y="5390388"/>
            <a:ext cx="237744" cy="237744"/>
          </a:xfrm>
          <a:prstGeom prst="rect">
            <a:avLst/>
          </a:prstGeom>
        </p:spPr>
      </p:pic>
      <p:sp>
        <p:nvSpPr>
          <p:cNvPr id="35" name="Text 31"/>
          <p:cNvSpPr/>
          <p:nvPr/>
        </p:nvSpPr>
        <p:spPr>
          <a:xfrm>
            <a:off x="1554480" y="516636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그래서 프로세스는 덜이 아니라 '더' 중요해집니다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바퀴가 빨라질수록 방향(요구·기준)이 틀리면 더 빨리 엉뚱한 곳에 도착합니다. 오늘 실습에서 이 바퀴를 처음으로 한 바퀴 돌려 봅니다.</a:t>
            </a:r>
            <a:endParaRPr lang="en-US" sz="1300" dirty="0"/>
          </a:p>
        </p:txBody>
      </p:sp>
      <p:sp>
        <p:nvSpPr>
          <p:cNvPr id="36" name="Text 32"/>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txBody>
          <a:bodyPr/>
          <a:p/>
        </p:txBody>
      </p:sp>
      <p:sp>
        <p:nvSpPr>
          <p:cNvPr id="3" name="Shape 1"/>
          <p:cNvSpPr/>
          <p:nvPr/>
        </p:nvSpPr>
        <p:spPr>
          <a:xfrm>
            <a:off x="-1737360" y="4480560"/>
            <a:ext cx="4297680" cy="4297680"/>
          </a:xfrm>
          <a:prstGeom prst="ellipse">
            <a:avLst/>
          </a:prstGeom>
          <a:solidFill>
            <a:srgbClr val="2A2860"/>
          </a:solidFill>
          <a:ln/>
        </p:spPr>
        <p:txBody>
          <a:bodyPr/>
          <a:p/>
        </p:txBody>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03</a:t>
            </a:r>
            <a:endParaRPr lang="en-US" sz="12000" dirty="0"/>
          </a:p>
        </p:txBody>
      </p:sp>
      <p:sp>
        <p:nvSpPr>
          <p:cNvPr id="5" name="Shape 3"/>
          <p:cNvSpPr/>
          <p:nvPr/>
        </p:nvSpPr>
        <p:spPr>
          <a:xfrm>
            <a:off x="658368" y="2103120"/>
            <a:ext cx="1691640" cy="457200"/>
          </a:xfrm>
          <a:prstGeom prst="roundRect">
            <a:avLst>
              <a:gd name="adj" fmla="val 50000"/>
            </a:avLst>
          </a:prstGeom>
          <a:solidFill>
            <a:srgbClr val="14B8A6"/>
          </a:solidFill>
          <a:ln/>
        </p:spPr>
        <p:txBody>
          <a:bodyPr/>
          <a:p/>
        </p:txBody>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3</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AI 도구 환경 구축</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내 VS Code에 Gemini를 연결하고, 첫 지시를 내립니다. 키 발급부터 결과 확인까지.</a:t>
            </a:r>
            <a:endParaRPr lang="en-US" sz="1400" dirty="0"/>
          </a:p>
        </p:txBody>
      </p:sp>
      <p:sp>
        <p:nvSpPr>
          <p:cNvPr id="9" name="Shape 7"/>
          <p:cNvSpPr/>
          <p:nvPr/>
        </p:nvSpPr>
        <p:spPr>
          <a:xfrm>
            <a:off x="9738360" y="4343400"/>
            <a:ext cx="1325880" cy="1325880"/>
          </a:xfrm>
          <a:prstGeom prst="ellipse">
            <a:avLst/>
          </a:prstGeom>
          <a:solidFill>
            <a:srgbClr val="14B8A6"/>
          </a:solidFill>
          <a:ln/>
        </p:spPr>
        <p:txBody>
          <a:bodyPr/>
          <a:p/>
        </p:txBody>
      </p:sp>
      <p:pic>
        <p:nvPicPr>
          <p:cNvPr id="10" name="Image 0" descr="/home/claude/icons/bolt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txBody>
          <a:bodyPr/>
          <a:p/>
        </p:txBody>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 만들 환경: 연결 구조 먼저</a:t>
            </a:r>
            <a:endParaRPr lang="en-US" sz="2600" dirty="0"/>
          </a:p>
        </p:txBody>
      </p:sp>
      <p:sp>
        <p:nvSpPr>
          <p:cNvPr id="6" name="Shape 3"/>
          <p:cNvSpPr/>
          <p:nvPr/>
        </p:nvSpPr>
        <p:spPr>
          <a:xfrm>
            <a:off x="658368" y="2148840"/>
            <a:ext cx="237744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1591056" y="2331720"/>
            <a:ext cx="512064" cy="512064"/>
          </a:xfrm>
          <a:prstGeom prst="ellipse">
            <a:avLst/>
          </a:prstGeom>
          <a:solidFill>
            <a:srgbClr val="4F46E5"/>
          </a:solidFill>
          <a:ln/>
        </p:spPr>
        <p:txBody>
          <a:bodyPr/>
          <a:p/>
        </p:txBody>
      </p:sp>
      <p:pic>
        <p:nvPicPr>
          <p:cNvPr id="8" name="Image 1" descr="/home/claude/icons/robot_white.png">    </p:cNvPr>
          <p:cNvPicPr>
            <a:picLocks noChangeAspect="1"/>
          </p:cNvPicPr>
          <p:nvPr/>
        </p:nvPicPr>
        <p:blipFill>
          <a:blip r:embed="rId2"/>
          <a:stretch>
            <a:fillRect/>
          </a:stretch>
        </p:blipFill>
        <p:spPr>
          <a:xfrm>
            <a:off x="1719072" y="2459736"/>
            <a:ext cx="256032" cy="256032"/>
          </a:xfrm>
          <a:prstGeom prst="rect">
            <a:avLst/>
          </a:prstGeom>
        </p:spPr>
      </p:pic>
      <p:sp>
        <p:nvSpPr>
          <p:cNvPr id="9" name="Text 5"/>
          <p:cNvSpPr/>
          <p:nvPr/>
        </p:nvSpPr>
        <p:spPr>
          <a:xfrm>
            <a:off x="749808" y="2944368"/>
            <a:ext cx="2194560" cy="29260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Google AI Studio</a:t>
            </a:r>
            <a:endParaRPr lang="en-US" sz="1250" dirty="0"/>
          </a:p>
        </p:txBody>
      </p:sp>
      <p:sp>
        <p:nvSpPr>
          <p:cNvPr id="10" name="Text 6"/>
          <p:cNvSpPr/>
          <p:nvPr/>
        </p:nvSpPr>
        <p:spPr>
          <a:xfrm>
            <a:off x="749808" y="3255264"/>
            <a:ext cx="2194560" cy="512064"/>
          </a:xfrm>
          <a:prstGeom prst="rect">
            <a:avLst/>
          </a:prstGeom>
          <a:noFill/>
          <a:ln/>
        </p:spPr>
        <p:txBody>
          <a:bodyPr wrap="square" lIns="0" tIns="0" rIns="0" bIns="0" rtlCol="0" anchor="t"/>
          <a:lstStyle/>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키를 발급하는 곳</a:t>
            </a:r>
            <a:endParaRPr lang="en-US" sz="950" dirty="0"/>
          </a:p>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aistudio.google.com</a:t>
            </a:r>
            <a:endParaRPr lang="en-US" sz="950" dirty="0"/>
          </a:p>
        </p:txBody>
      </p:sp>
      <p:sp>
        <p:nvSpPr>
          <p:cNvPr id="11" name="Shape 7"/>
          <p:cNvSpPr/>
          <p:nvPr/>
        </p:nvSpPr>
        <p:spPr>
          <a:xfrm>
            <a:off x="3081528" y="2862072"/>
            <a:ext cx="274320" cy="219456"/>
          </a:xfrm>
          <a:prstGeom prst="rightArrow">
            <a:avLst/>
          </a:prstGeom>
          <a:solidFill>
            <a:srgbClr val="14B8A6"/>
          </a:solidFill>
          <a:ln/>
        </p:spPr>
        <p:txBody>
          <a:bodyPr/>
          <a:p/>
        </p:txBody>
      </p:sp>
      <p:sp>
        <p:nvSpPr>
          <p:cNvPr id="12" name="Shape 8"/>
          <p:cNvSpPr/>
          <p:nvPr/>
        </p:nvSpPr>
        <p:spPr>
          <a:xfrm>
            <a:off x="3401568" y="2148840"/>
            <a:ext cx="237744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3" name="Shape 9"/>
          <p:cNvSpPr/>
          <p:nvPr/>
        </p:nvSpPr>
        <p:spPr>
          <a:xfrm>
            <a:off x="4334256" y="2331720"/>
            <a:ext cx="512064" cy="512064"/>
          </a:xfrm>
          <a:prstGeom prst="ellipse">
            <a:avLst/>
          </a:prstGeom>
          <a:solidFill>
            <a:srgbClr val="F59E0B"/>
          </a:solidFill>
          <a:ln/>
        </p:spPr>
        <p:txBody>
          <a:bodyPr/>
          <a:p/>
        </p:txBody>
      </p:sp>
      <p:pic>
        <p:nvPicPr>
          <p:cNvPr id="14" name="Image 2" descr="/home/claude/icons/lock_white.png">    </p:cNvPr>
          <p:cNvPicPr>
            <a:picLocks noChangeAspect="1"/>
          </p:cNvPicPr>
          <p:nvPr/>
        </p:nvPicPr>
        <p:blipFill>
          <a:blip r:embed="rId3"/>
          <a:stretch>
            <a:fillRect/>
          </a:stretch>
        </p:blipFill>
        <p:spPr>
          <a:xfrm>
            <a:off x="4462272" y="2459736"/>
            <a:ext cx="256032" cy="256032"/>
          </a:xfrm>
          <a:prstGeom prst="rect">
            <a:avLst/>
          </a:prstGeom>
        </p:spPr>
      </p:pic>
      <p:sp>
        <p:nvSpPr>
          <p:cNvPr id="15" name="Text 10"/>
          <p:cNvSpPr/>
          <p:nvPr/>
        </p:nvSpPr>
        <p:spPr>
          <a:xfrm>
            <a:off x="3493008" y="2944368"/>
            <a:ext cx="2194560" cy="29260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환경변수</a:t>
            </a:r>
            <a:endParaRPr lang="en-US" sz="1250" dirty="0"/>
          </a:p>
        </p:txBody>
      </p:sp>
      <p:sp>
        <p:nvSpPr>
          <p:cNvPr id="16" name="Text 11"/>
          <p:cNvSpPr/>
          <p:nvPr/>
        </p:nvSpPr>
        <p:spPr>
          <a:xfrm>
            <a:off x="3493008" y="3255264"/>
            <a:ext cx="2194560" cy="512064"/>
          </a:xfrm>
          <a:prstGeom prst="rect">
            <a:avLst/>
          </a:prstGeom>
          <a:noFill/>
          <a:ln/>
        </p:spPr>
        <p:txBody>
          <a:bodyPr wrap="square" lIns="0" tIns="0" rIns="0" bIns="0" rtlCol="0" anchor="t"/>
          <a:lstStyle/>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GEMINI_API_KEY</a:t>
            </a:r>
            <a:endParaRPr lang="en-US" sz="950" dirty="0"/>
          </a:p>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키의 안전한 보관소</a:t>
            </a:r>
            <a:endParaRPr lang="en-US" sz="950" dirty="0"/>
          </a:p>
        </p:txBody>
      </p:sp>
      <p:sp>
        <p:nvSpPr>
          <p:cNvPr id="17" name="Shape 12"/>
          <p:cNvSpPr/>
          <p:nvPr/>
        </p:nvSpPr>
        <p:spPr>
          <a:xfrm>
            <a:off x="5824728" y="2862072"/>
            <a:ext cx="274320" cy="219456"/>
          </a:xfrm>
          <a:prstGeom prst="rightArrow">
            <a:avLst/>
          </a:prstGeom>
          <a:solidFill>
            <a:srgbClr val="14B8A6"/>
          </a:solidFill>
          <a:ln/>
        </p:spPr>
        <p:txBody>
          <a:bodyPr/>
          <a:p/>
        </p:txBody>
      </p:sp>
      <p:sp>
        <p:nvSpPr>
          <p:cNvPr id="18" name="Shape 13"/>
          <p:cNvSpPr/>
          <p:nvPr/>
        </p:nvSpPr>
        <p:spPr>
          <a:xfrm>
            <a:off x="6144768" y="2148840"/>
            <a:ext cx="237744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9" name="Shape 14"/>
          <p:cNvSpPr/>
          <p:nvPr/>
        </p:nvSpPr>
        <p:spPr>
          <a:xfrm>
            <a:off x="7077456" y="2331720"/>
            <a:ext cx="512064" cy="512064"/>
          </a:xfrm>
          <a:prstGeom prst="ellipse">
            <a:avLst/>
          </a:prstGeom>
          <a:solidFill>
            <a:srgbClr val="10B981"/>
          </a:solidFill>
          <a:ln/>
        </p:spPr>
        <p:txBody>
          <a:bodyPr/>
          <a:p/>
        </p:txBody>
      </p:sp>
      <p:pic>
        <p:nvPicPr>
          <p:cNvPr id="20" name="Image 3" descr="/home/claude/icons/code_white.png">    </p:cNvPr>
          <p:cNvPicPr>
            <a:picLocks noChangeAspect="1"/>
          </p:cNvPicPr>
          <p:nvPr/>
        </p:nvPicPr>
        <p:blipFill>
          <a:blip r:embed="rId4"/>
          <a:stretch>
            <a:fillRect/>
          </a:stretch>
        </p:blipFill>
        <p:spPr>
          <a:xfrm>
            <a:off x="7205472" y="2459736"/>
            <a:ext cx="256032" cy="256032"/>
          </a:xfrm>
          <a:prstGeom prst="rect">
            <a:avLst/>
          </a:prstGeom>
        </p:spPr>
      </p:pic>
      <p:sp>
        <p:nvSpPr>
          <p:cNvPr id="21" name="Text 15"/>
          <p:cNvSpPr/>
          <p:nvPr/>
        </p:nvSpPr>
        <p:spPr>
          <a:xfrm>
            <a:off x="6236208" y="2944368"/>
            <a:ext cx="2194560" cy="29260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VS Code + Cline</a:t>
            </a:r>
            <a:endParaRPr lang="en-US" sz="1250" dirty="0"/>
          </a:p>
        </p:txBody>
      </p:sp>
      <p:sp>
        <p:nvSpPr>
          <p:cNvPr id="22" name="Text 16"/>
          <p:cNvSpPr/>
          <p:nvPr/>
        </p:nvSpPr>
        <p:spPr>
          <a:xfrm>
            <a:off x="6236208" y="3255264"/>
            <a:ext cx="2194560" cy="512064"/>
          </a:xfrm>
          <a:prstGeom prst="rect">
            <a:avLst/>
          </a:prstGeom>
          <a:noFill/>
          <a:ln/>
        </p:spPr>
        <p:txBody>
          <a:bodyPr wrap="square" lIns="0" tIns="0" rIns="0" bIns="0" rtlCol="0" anchor="t"/>
          <a:lstStyle/>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지시를 받아 파일을</a:t>
            </a:r>
            <a:endParaRPr lang="en-US" sz="950" dirty="0"/>
          </a:p>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만들고 고치는 에이전트</a:t>
            </a:r>
            <a:endParaRPr lang="en-US" sz="950" dirty="0"/>
          </a:p>
        </p:txBody>
      </p:sp>
      <p:sp>
        <p:nvSpPr>
          <p:cNvPr id="23" name="Shape 17"/>
          <p:cNvSpPr/>
          <p:nvPr/>
        </p:nvSpPr>
        <p:spPr>
          <a:xfrm>
            <a:off x="8887968" y="2148840"/>
            <a:ext cx="237744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4" name="Shape 18"/>
          <p:cNvSpPr/>
          <p:nvPr/>
        </p:nvSpPr>
        <p:spPr>
          <a:xfrm>
            <a:off x="9820656" y="2331720"/>
            <a:ext cx="512064" cy="512064"/>
          </a:xfrm>
          <a:prstGeom prst="ellipse">
            <a:avLst/>
          </a:prstGeom>
          <a:solidFill>
            <a:srgbClr val="7C3AED"/>
          </a:solidFill>
          <a:ln/>
        </p:spPr>
        <p:txBody>
          <a:bodyPr/>
          <a:p/>
        </p:txBody>
      </p:sp>
      <p:pic>
        <p:nvPicPr>
          <p:cNvPr id="25" name="Image 4" descr="/home/claude/icons/bolt_white.png">    </p:cNvPr>
          <p:cNvPicPr>
            <a:picLocks noChangeAspect="1"/>
          </p:cNvPicPr>
          <p:nvPr/>
        </p:nvPicPr>
        <p:blipFill>
          <a:blip r:embed="rId5"/>
          <a:stretch>
            <a:fillRect/>
          </a:stretch>
        </p:blipFill>
        <p:spPr>
          <a:xfrm>
            <a:off x="9948672" y="2459736"/>
            <a:ext cx="256032" cy="256032"/>
          </a:xfrm>
          <a:prstGeom prst="rect">
            <a:avLst/>
          </a:prstGeom>
        </p:spPr>
      </p:pic>
      <p:sp>
        <p:nvSpPr>
          <p:cNvPr id="26" name="Text 19"/>
          <p:cNvSpPr/>
          <p:nvPr/>
        </p:nvSpPr>
        <p:spPr>
          <a:xfrm>
            <a:off x="8979408" y="2944368"/>
            <a:ext cx="2194560" cy="29260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AI 엔진</a:t>
            </a:r>
            <a:endParaRPr lang="en-US" sz="1250" dirty="0"/>
          </a:p>
        </p:txBody>
      </p:sp>
      <p:sp>
        <p:nvSpPr>
          <p:cNvPr id="27" name="Text 20"/>
          <p:cNvSpPr/>
          <p:nvPr/>
        </p:nvSpPr>
        <p:spPr>
          <a:xfrm>
            <a:off x="8979408" y="3255264"/>
            <a:ext cx="2194560" cy="512064"/>
          </a:xfrm>
          <a:prstGeom prst="rect">
            <a:avLst/>
          </a:prstGeom>
          <a:noFill/>
          <a:ln/>
        </p:spPr>
        <p:txBody>
          <a:bodyPr wrap="square" lIns="0" tIns="0" rIns="0" bIns="0" rtlCol="0" anchor="t"/>
          <a:lstStyle/>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Gemini API(내 키) 또는</a:t>
            </a:r>
            <a:endParaRPr lang="en-US" sz="950" dirty="0"/>
          </a:p>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Z.ai GLM-5.3(수업 공용 키)</a:t>
            </a:r>
            <a:endParaRPr lang="en-US" sz="950" dirty="0"/>
          </a:p>
        </p:txBody>
      </p:sp>
      <p:sp>
        <p:nvSpPr>
          <p:cNvPr id="28" name="Shape 21"/>
          <p:cNvSpPr/>
          <p:nvPr/>
        </p:nvSpPr>
        <p:spPr>
          <a:xfrm>
            <a:off x="8567928" y="2862072"/>
            <a:ext cx="274320" cy="219456"/>
          </a:xfrm>
          <a:prstGeom prst="leftRightArrow">
            <a:avLst/>
          </a:prstGeom>
          <a:solidFill>
            <a:srgbClr val="14B8A6"/>
          </a:solidFill>
          <a:ln/>
        </p:spPr>
        <p:txBody>
          <a:bodyPr/>
          <a:p/>
        </p:txBody>
      </p:sp>
      <p:sp>
        <p:nvSpPr>
          <p:cNvPr id="29" name="Text 22"/>
          <p:cNvSpPr/>
          <p:nvPr/>
        </p:nvSpPr>
        <p:spPr>
          <a:xfrm>
            <a:off x="2944368" y="3913632"/>
            <a:ext cx="822960" cy="237744"/>
          </a:xfrm>
          <a:prstGeom prst="rect">
            <a:avLst/>
          </a:prstGeom>
          <a:noFill/>
          <a:ln/>
        </p:spPr>
        <p:txBody>
          <a:bodyPr wrap="square" lIns="0" tIns="0" rIns="0" bIns="0" rtlCol="0" anchor="ctr"/>
          <a:lstStyle/>
          <a:p>
            <a:pPr algn="ctr" indent="0" marL="0">
              <a:buNone/>
            </a:pPr>
            <a:r>
              <a:rPr lang="en-US" sz="950" dirty="0">
                <a:solidFill>
                  <a:srgbClr val="6B7185"/>
                </a:solidFill>
                <a:latin typeface="Malgun Gothic" pitchFamily="34" charset="0"/>
                <a:ea typeface="Malgun Gothic" pitchFamily="34" charset="-122"/>
                <a:cs typeface="Malgun Gothic" pitchFamily="34" charset="-120"/>
              </a:rPr>
              <a:t>발급</a:t>
            </a:r>
            <a:endParaRPr lang="en-US" sz="950" dirty="0"/>
          </a:p>
        </p:txBody>
      </p:sp>
      <p:sp>
        <p:nvSpPr>
          <p:cNvPr id="30" name="Text 23"/>
          <p:cNvSpPr/>
          <p:nvPr/>
        </p:nvSpPr>
        <p:spPr>
          <a:xfrm>
            <a:off x="5687568" y="3913632"/>
            <a:ext cx="822960" cy="237744"/>
          </a:xfrm>
          <a:prstGeom prst="rect">
            <a:avLst/>
          </a:prstGeom>
          <a:noFill/>
          <a:ln/>
        </p:spPr>
        <p:txBody>
          <a:bodyPr wrap="square" lIns="0" tIns="0" rIns="0" bIns="0" rtlCol="0" anchor="ctr"/>
          <a:lstStyle/>
          <a:p>
            <a:pPr algn="ctr" indent="0" marL="0">
              <a:buNone/>
            </a:pPr>
            <a:r>
              <a:rPr lang="en-US" sz="950" dirty="0">
                <a:solidFill>
                  <a:srgbClr val="6B7185"/>
                </a:solidFill>
                <a:latin typeface="Malgun Gothic" pitchFamily="34" charset="0"/>
                <a:ea typeface="Malgun Gothic" pitchFamily="34" charset="-122"/>
                <a:cs typeface="Malgun Gothic" pitchFamily="34" charset="-120"/>
              </a:rPr>
              <a:t>등록</a:t>
            </a:r>
            <a:endParaRPr lang="en-US" sz="950" dirty="0"/>
          </a:p>
        </p:txBody>
      </p:sp>
      <p:sp>
        <p:nvSpPr>
          <p:cNvPr id="31" name="Text 24"/>
          <p:cNvSpPr/>
          <p:nvPr/>
        </p:nvSpPr>
        <p:spPr>
          <a:xfrm>
            <a:off x="8293608" y="3913632"/>
            <a:ext cx="822960" cy="237744"/>
          </a:xfrm>
          <a:prstGeom prst="rect">
            <a:avLst/>
          </a:prstGeom>
          <a:noFill/>
          <a:ln/>
        </p:spPr>
        <p:txBody>
          <a:bodyPr wrap="square" lIns="0" tIns="0" rIns="0" bIns="0" rtlCol="0" anchor="ctr"/>
          <a:lstStyle/>
          <a:p>
            <a:pPr algn="ctr" indent="0" marL="0">
              <a:buNone/>
            </a:pPr>
            <a:r>
              <a:rPr lang="en-US" sz="950" dirty="0">
                <a:solidFill>
                  <a:srgbClr val="6B7185"/>
                </a:solidFill>
                <a:latin typeface="Malgun Gothic" pitchFamily="34" charset="0"/>
                <a:ea typeface="Malgun Gothic" pitchFamily="34" charset="-122"/>
                <a:cs typeface="Malgun Gothic" pitchFamily="34" charset="-120"/>
              </a:rPr>
              <a:t>요청 · 응답</a:t>
            </a:r>
            <a:endParaRPr lang="en-US" sz="950" dirty="0"/>
          </a:p>
        </p:txBody>
      </p:sp>
      <p:sp>
        <p:nvSpPr>
          <p:cNvPr id="32" name="Shape 25"/>
          <p:cNvSpPr/>
          <p:nvPr/>
        </p:nvSpPr>
        <p:spPr>
          <a:xfrm>
            <a:off x="658368" y="4526280"/>
            <a:ext cx="10872216" cy="914400"/>
          </a:xfrm>
          <a:prstGeom prst="roundRect">
            <a:avLst>
              <a:gd name="adj" fmla="val 10000"/>
            </a:avLst>
          </a:prstGeom>
          <a:solidFill>
            <a:srgbClr val="F5F4FC"/>
          </a:solidFill>
          <a:ln/>
        </p:spPr>
        <p:txBody>
          <a:bodyPr/>
          <a:p/>
        </p:txBody>
      </p:sp>
      <p:sp>
        <p:nvSpPr>
          <p:cNvPr id="33" name="Shape 26"/>
          <p:cNvSpPr/>
          <p:nvPr/>
        </p:nvSpPr>
        <p:spPr>
          <a:xfrm>
            <a:off x="877824" y="4745736"/>
            <a:ext cx="475488" cy="475488"/>
          </a:xfrm>
          <a:prstGeom prst="ellipse">
            <a:avLst/>
          </a:prstGeom>
          <a:solidFill>
            <a:srgbClr val="4F46E5"/>
          </a:solidFill>
          <a:ln/>
        </p:spPr>
        <p:txBody>
          <a:bodyPr/>
          <a:p/>
        </p:txBody>
      </p:sp>
      <p:pic>
        <p:nvPicPr>
          <p:cNvPr id="34" name="Image 5" descr="/home/claude/icons/key_white.png">    </p:cNvPr>
          <p:cNvPicPr>
            <a:picLocks noChangeAspect="1"/>
          </p:cNvPicPr>
          <p:nvPr/>
        </p:nvPicPr>
        <p:blipFill>
          <a:blip r:embed="rId6"/>
          <a:stretch>
            <a:fillRect/>
          </a:stretch>
        </p:blipFill>
        <p:spPr>
          <a:xfrm>
            <a:off x="996696" y="4864608"/>
            <a:ext cx="237744" cy="237744"/>
          </a:xfrm>
          <a:prstGeom prst="rect">
            <a:avLst/>
          </a:prstGeom>
        </p:spPr>
      </p:pic>
      <p:sp>
        <p:nvSpPr>
          <p:cNvPr id="35" name="Text 27"/>
          <p:cNvSpPr/>
          <p:nvPr/>
        </p:nvSpPr>
        <p:spPr>
          <a:xfrm>
            <a:off x="1554480" y="4617720"/>
            <a:ext cx="9738360" cy="73152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API 키가 전부를 잇습니다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AI Studio에서 발급한 키를 환경변수에 넣어 두면, Cline이 그 키로 Gemini에 요청을 보내고 코드를 받아 옵니다. 오늘 실습은 이 화살표들을 왼쪽부터 하나씩 잇는 과정입니다.</a:t>
            </a:r>
            <a:endParaRPr lang="en-US" sz="1300" dirty="0"/>
          </a:p>
        </p:txBody>
      </p:sp>
      <p:sp>
        <p:nvSpPr>
          <p:cNvPr id="36" name="Text 2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16</a:t>
            </a:r>
            <a:endParaRPr lang="en-US" sz="950" dirty="0"/>
          </a:p>
        </p:txBody>
      </p:sp>
      <p:sp>
        <p:nvSpPr>
          <p:cNvPr id="37" name="Rounded Rectangle 36"/>
          <p:cNvSpPr/>
          <p:nvPr/>
        </p:nvSpPr>
        <p:spPr>
          <a:xfrm>
            <a:off x="658368" y="5532120"/>
            <a:ext cx="10872216" cy="731520"/>
          </a:xfrm>
          <a:prstGeom prst="roundRect">
            <a:avLst>
              <a:gd name="adj" fmla="val 15000"/>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877824" y="5660136"/>
            <a:ext cx="475488" cy="47548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xchange_white.png"/>
          <p:cNvPicPr>
            <a:picLocks noChangeAspect="1"/>
          </p:cNvPicPr>
          <p:nvPr/>
        </p:nvPicPr>
        <p:blipFill>
          <a:blip r:embed="rId9"/>
          <a:stretch>
            <a:fillRect/>
          </a:stretch>
        </p:blipFill>
        <p:spPr>
          <a:xfrm>
            <a:off x="996695" y="5779007"/>
            <a:ext cx="237744" cy="237744"/>
          </a:xfrm>
          <a:prstGeom prst="rect">
            <a:avLst/>
          </a:prstGeom>
        </p:spPr>
      </p:pic>
      <p:sp>
        <p:nvSpPr>
          <p:cNvPr id="40" name="TextBox 39"/>
          <p:cNvSpPr txBox="1"/>
          <p:nvPr/>
        </p:nvSpPr>
        <p:spPr>
          <a:xfrm>
            <a:off x="1554480" y="5605272"/>
            <a:ext cx="9756648" cy="585216"/>
          </a:xfrm>
          <a:prstGeom prst="rect">
            <a:avLst/>
          </a:prstGeom>
          <a:noFill/>
        </p:spPr>
        <p:txBody>
          <a:bodyPr wrap="square" lIns="0" rIns="0" tIns="0" bIns="0" anchor="ctr" rtlCol="0">
            <a:spAutoFit/>
          </a:bodyPr>
          <a:lstStyle/>
          <a:p>
            <a:pPr indent="0" marL="0" algn="l">
              <a:lnSpc>
                <a:spcPts val="1491"/>
              </a:lnSpc>
              <a:buNone/>
            </a:pPr>
            <a:r>
              <a:rPr lang="ko-KR" sz="1150" b="1">
                <a:solidFill>
                  <a:srgbClr val="1E1B3A"/>
                </a:solidFill>
                <a:latin typeface="Malgun Gothic" pitchFamily="34" charset="0"/>
                <a:ea typeface="Malgun Gothic" pitchFamily="34" charset="-122"/>
                <a:cs typeface="Malgun Gothic" pitchFamily="34" charset="-120"/>
              </a:rPr>
              <a:t>엔진은 두 개를 등록해 둡니다</a:t>
            </a:r>
          </a:p>
          <a:p>
            <a:pPr indent="0" marL="0" algn="l">
              <a:lnSpc>
                <a:spcPts val="1491"/>
              </a:lnSpc>
              <a:buNone/>
            </a:pPr>
            <a:r>
              <a:rPr lang="ko-KR" sz="1050" b="0">
                <a:solidFill>
                  <a:srgbClr val="3C3B57"/>
                </a:solidFill>
                <a:latin typeface="Malgun Gothic" pitchFamily="34" charset="0"/>
                <a:ea typeface="Malgun Gothic" pitchFamily="34" charset="-122"/>
                <a:cs typeface="Malgun Gothic" pitchFamily="34" charset="-120"/>
              </a:rPr>
              <a:t>기본은 내 Gemini 키(무료, 하루 500회). 수업 시간에는 교수님이 나눠 주는 공용 Z.ai 키(GLM-5.3, 더 똑똑하고 한도가 넉넉함)로 바꿔 씁니다. 연결 방법은 24~25쪽, 바꾸는 건 설정의 드롭다운 하나입니다.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907792"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523744"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AI 도구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① Gemini API 키 발급 (1) AI Studio 접속과 로그인</a:t>
            </a:r>
          </a:p>
        </p:txBody>
      </p:sp>
      <p:pic>
        <p:nvPicPr>
          <p:cNvPr id="6" name="Picture 5" descr="aistudio_home.png"/>
          <p:cNvPicPr>
            <a:picLocks noChangeAspect="1"/>
          </p:cNvPicPr>
          <p:nvPr/>
        </p:nvPicPr>
        <p:blipFill>
          <a:blip r:embed="rId3"/>
          <a:stretch>
            <a:fillRect/>
          </a:stretch>
        </p:blipFill>
        <p:spPr>
          <a:xfrm>
            <a:off x="658368" y="1691640"/>
            <a:ext cx="6766560" cy="2643187"/>
          </a:xfrm>
          <a:prstGeom prst="rect">
            <a:avLst/>
          </a:prstGeom>
        </p:spPr>
      </p:pic>
      <p:sp>
        <p:nvSpPr>
          <p:cNvPr id="7" name="TextBox 6"/>
          <p:cNvSpPr txBox="1"/>
          <p:nvPr/>
        </p:nvSpPr>
        <p:spPr>
          <a:xfrm>
            <a:off x="658368" y="4380547"/>
            <a:ext cx="676656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aistudio.google.com 첫 화면 (2026년 8월). 오른쪽 위 'Get started' 를 누르면 구글 로그인으로 넘어갑니다</a:t>
            </a:r>
          </a:p>
        </p:txBody>
      </p:sp>
      <p:pic>
        <p:nvPicPr>
          <p:cNvPr id="8" name="Picture 7" descr="google_signin.png"/>
          <p:cNvPicPr>
            <a:picLocks noChangeAspect="1"/>
          </p:cNvPicPr>
          <p:nvPr/>
        </p:nvPicPr>
        <p:blipFill>
          <a:blip r:embed="rId4"/>
          <a:stretch>
            <a:fillRect/>
          </a:stretch>
        </p:blipFill>
        <p:spPr>
          <a:xfrm>
            <a:off x="8001000" y="1691640"/>
            <a:ext cx="3200400" cy="3385038"/>
          </a:xfrm>
          <a:prstGeom prst="rect">
            <a:avLst/>
          </a:prstGeom>
        </p:spPr>
      </p:pic>
      <p:sp>
        <p:nvSpPr>
          <p:cNvPr id="9" name="TextBox 8"/>
          <p:cNvSpPr txBox="1"/>
          <p:nvPr/>
        </p:nvSpPr>
        <p:spPr>
          <a:xfrm>
            <a:off x="8001000" y="5122398"/>
            <a:ext cx="3291840" cy="27432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② 구글 계정 로그인 (개인 Gmail 권장)</a:t>
            </a:r>
          </a:p>
        </p:txBody>
      </p:sp>
      <p:sp>
        <p:nvSpPr>
          <p:cNvPr id="10" name="Oval 9"/>
          <p:cNvSpPr/>
          <p:nvPr/>
        </p:nvSpPr>
        <p:spPr>
          <a:xfrm>
            <a:off x="658368" y="472744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8368" y="47274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12" name="TextBox 11"/>
          <p:cNvSpPr txBox="1"/>
          <p:nvPr/>
        </p:nvSpPr>
        <p:spPr>
          <a:xfrm>
            <a:off x="1225295" y="4709160"/>
            <a:ext cx="2724912"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주소창에 aistudio.google.com</a:t>
            </a:r>
          </a:p>
        </p:txBody>
      </p:sp>
      <p:sp>
        <p:nvSpPr>
          <p:cNvPr id="13" name="TextBox 12"/>
          <p:cNvSpPr txBox="1"/>
          <p:nvPr/>
        </p:nvSpPr>
        <p:spPr>
          <a:xfrm>
            <a:off x="1225295" y="4983480"/>
            <a:ext cx="2724912" cy="4572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 오른쪽 위 Get started 클릭.</a:t>
            </a:r>
          </a:p>
        </p:txBody>
      </p:sp>
      <p:sp>
        <p:nvSpPr>
          <p:cNvPr id="14" name="Oval 13"/>
          <p:cNvSpPr/>
          <p:nvPr/>
        </p:nvSpPr>
        <p:spPr>
          <a:xfrm>
            <a:off x="4133087" y="472744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3087" y="47274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16" name="TextBox 15"/>
          <p:cNvSpPr txBox="1"/>
          <p:nvPr/>
        </p:nvSpPr>
        <p:spPr>
          <a:xfrm>
            <a:off x="4700016" y="4709160"/>
            <a:ext cx="2724912"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구글 계정으로 로그인</a:t>
            </a:r>
          </a:p>
        </p:txBody>
      </p:sp>
      <p:sp>
        <p:nvSpPr>
          <p:cNvPr id="17" name="TextBox 16"/>
          <p:cNvSpPr txBox="1"/>
          <p:nvPr/>
        </p:nvSpPr>
        <p:spPr>
          <a:xfrm>
            <a:off x="4700016" y="4983480"/>
            <a:ext cx="2724912" cy="6858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학교 계정이 막히면 개인 Gmail로. 처음이면 약관 동의 화면 → 동의.</a:t>
            </a:r>
          </a:p>
        </p:txBody>
      </p:sp>
      <p:sp>
        <p:nvSpPr>
          <p:cNvPr id="18" name="Oval 17"/>
          <p:cNvSpPr/>
          <p:nvPr/>
        </p:nvSpPr>
        <p:spPr>
          <a:xfrm>
            <a:off x="658368" y="5641848"/>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8368" y="56418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20" name="TextBox 19"/>
          <p:cNvSpPr txBox="1"/>
          <p:nvPr/>
        </p:nvSpPr>
        <p:spPr>
          <a:xfrm>
            <a:off x="1225295" y="5623560"/>
            <a:ext cx="6199632"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로그인 후 주소창에 aistudio.google.com/api-keys</a:t>
            </a:r>
          </a:p>
        </p:txBody>
      </p:sp>
      <p:sp>
        <p:nvSpPr>
          <p:cNvPr id="21" name="TextBox 20"/>
          <p:cNvSpPr txBox="1"/>
          <p:nvPr/>
        </p:nvSpPr>
        <p:spPr>
          <a:xfrm>
            <a:off x="1225295" y="5897880"/>
            <a:ext cx="6199632" cy="5029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왼쪽 메뉴의 'Get API key'(열쇠 아이콘)를 눌러도 같은 곳입니다. 여기가 키를 만드는 페이지입니다 (다음 장).</a:t>
            </a:r>
          </a:p>
        </p:txBody>
      </p:sp>
      <p:sp>
        <p:nvSpPr>
          <p:cNvPr id="22" name="Rounded Rectangle 21"/>
          <p:cNvSpPr/>
          <p:nvPr/>
        </p:nvSpPr>
        <p:spPr>
          <a:xfrm>
            <a:off x="8001000" y="5257800"/>
            <a:ext cx="3529584" cy="1051560"/>
          </a:xfrm>
          <a:prstGeom prst="roundRect">
            <a:avLst>
              <a:gd name="adj" fmla="val 8695"/>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220456" y="5545836"/>
            <a:ext cx="475488" cy="47548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image.png"/>
          <p:cNvPicPr>
            <a:picLocks noChangeAspect="1"/>
          </p:cNvPicPr>
          <p:nvPr/>
        </p:nvPicPr>
        <p:blipFill>
          <a:blip r:embed="rId5"/>
          <a:stretch>
            <a:fillRect/>
          </a:stretch>
        </p:blipFill>
        <p:spPr>
          <a:xfrm>
            <a:off x="8339328" y="5664707"/>
            <a:ext cx="237744" cy="237744"/>
          </a:xfrm>
          <a:prstGeom prst="rect">
            <a:avLst/>
          </a:prstGeom>
        </p:spPr>
      </p:pic>
      <p:sp>
        <p:nvSpPr>
          <p:cNvPr id="25" name="TextBox 24"/>
          <p:cNvSpPr txBox="1"/>
          <p:nvPr/>
        </p:nvSpPr>
        <p:spPr>
          <a:xfrm>
            <a:off x="8897112" y="5330952"/>
            <a:ext cx="2414015" cy="905255"/>
          </a:xfrm>
          <a:prstGeom prst="rect">
            <a:avLst/>
          </a:prstGeom>
          <a:noFill/>
        </p:spPr>
        <p:txBody>
          <a:bodyPr wrap="square" lIns="0" rIns="0" tIns="0" bIns="0" anchor="ctr" rtlCol="0">
            <a:spAutoFit/>
          </a:bodyPr>
          <a:lstStyle/>
          <a:p>
            <a:pPr indent="0" marL="0" algn="l">
              <a:lnSpc>
                <a:spcPts val="1420"/>
              </a:lnSpc>
              <a:buNone/>
            </a:pPr>
            <a:r>
              <a:rPr lang="ko-KR" sz="1000" b="0">
                <a:solidFill>
                  <a:srgbClr val="3C3B57"/>
                </a:solidFill>
                <a:latin typeface="Malgun Gothic" pitchFamily="34" charset="0"/>
                <a:ea typeface="Malgun Gothic" pitchFamily="34" charset="-122"/>
                <a:cs typeface="Malgun Gothic" pitchFamily="34" charset="-120"/>
              </a:rPr>
              <a:t>'이 앱은 국가/기관에서 사용할 수 없습니다' 류의 메시지가 뜨면 학교 계정입니다 → 개인 계정으로 다시 로그인.</a:t>
            </a:r>
          </a:p>
        </p:txBody>
      </p:sp>
      <p:sp>
        <p:nvSpPr>
          <p:cNvPr id="26"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907792"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523744"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AI 도구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① Gemini API 키 발급 (2) 키 만들고 복사하기</a:t>
            </a:r>
          </a:p>
        </p:txBody>
      </p:sp>
      <p:sp>
        <p:nvSpPr>
          <p:cNvPr id="6" name="Rounded Rectangle 5"/>
          <p:cNvSpPr/>
          <p:nvPr/>
        </p:nvSpPr>
        <p:spPr>
          <a:xfrm>
            <a:off x="658368" y="1691640"/>
            <a:ext cx="6766560" cy="3246120"/>
          </a:xfrm>
          <a:prstGeom prst="roundRect">
            <a:avLst>
              <a:gd name="adj" fmla="val 3380"/>
            </a:avLst>
          </a:prstGeom>
          <a:solidFill>
            <a:srgbClr val="FFFFFF"/>
          </a:solidFill>
          <a:ln w="9525">
            <a:solidFill>
              <a:srgbClr val="D6D5E8"/>
            </a:solid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58368" y="1691640"/>
            <a:ext cx="6766560" cy="384048"/>
          </a:xfrm>
          <a:prstGeom prst="roundRect">
            <a:avLst>
              <a:gd name="adj" fmla="val 28571"/>
            </a:avLst>
          </a:prstGeom>
          <a:solidFill>
            <a:srgbClr val="F1F0F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892808"/>
            <a:ext cx="6766560" cy="182880"/>
          </a:xfrm>
          <a:prstGeom prst="rect">
            <a:avLst/>
          </a:prstGeom>
          <a:solidFill>
            <a:srgbClr val="F1F0F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1828800"/>
            <a:ext cx="100584" cy="100584"/>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87552" y="1828800"/>
            <a:ext cx="100584" cy="100584"/>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0432" y="1828800"/>
            <a:ext cx="100584" cy="100584"/>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527048" y="1764792"/>
            <a:ext cx="5669280" cy="237744"/>
          </a:xfrm>
          <a:prstGeom prst="roundRect">
            <a:avLst>
              <a:gd name="adj" fmla="val 50000"/>
            </a:avLst>
          </a:prstGeom>
          <a:solidFill>
            <a:srgbClr val="FFFFFF"/>
          </a:solidFill>
          <a:ln w="9525">
            <a:solidFill>
              <a:srgbClr val="D6D5E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664208" y="1764792"/>
            <a:ext cx="5394960" cy="237744"/>
          </a:xfrm>
          <a:prstGeom prst="rect">
            <a:avLst/>
          </a:prstGeom>
          <a:noFill/>
        </p:spPr>
        <p:txBody>
          <a:bodyPr wrap="square" lIns="0" rIns="0" tIns="0" bIns="0" anchor="ctr" rtlCol="0">
            <a:spAutoFit/>
          </a:bodyPr>
          <a:lstStyle/>
          <a:p>
            <a:pPr indent="0" marL="0" algn="l">
              <a:buNone/>
            </a:pPr>
            <a:r>
              <a:rPr lang="ko-KR" sz="900" b="0">
                <a:solidFill>
                  <a:srgbClr val="6B7185"/>
                </a:solidFill>
                <a:latin typeface="Consolas" pitchFamily="34" charset="0"/>
                <a:ea typeface="Consolas" pitchFamily="34" charset="-122"/>
                <a:cs typeface="Consolas" pitchFamily="34" charset="-120"/>
              </a:rPr>
              <a:t>aistudio.google.com/api-keys</a:t>
            </a:r>
          </a:p>
        </p:txBody>
      </p:sp>
      <p:sp>
        <p:nvSpPr>
          <p:cNvPr id="14" name="TextBox 13"/>
          <p:cNvSpPr txBox="1"/>
          <p:nvPr/>
        </p:nvSpPr>
        <p:spPr>
          <a:xfrm>
            <a:off x="932688" y="2258568"/>
            <a:ext cx="2743200" cy="310896"/>
          </a:xfrm>
          <a:prstGeom prst="rect">
            <a:avLst/>
          </a:prstGeom>
          <a:noFill/>
        </p:spPr>
        <p:txBody>
          <a:bodyPr wrap="square" lIns="0" rIns="0" tIns="0" bIns="0" anchor="ctr" rtlCol="0">
            <a:spAutoFit/>
          </a:bodyPr>
          <a:lstStyle/>
          <a:p>
            <a:pPr indent="0" marL="0" algn="l">
              <a:buNone/>
            </a:pPr>
            <a:r>
              <a:rPr lang="ko-KR" sz="1500" b="1">
                <a:solidFill>
                  <a:srgbClr val="1E1B3A"/>
                </a:solidFill>
                <a:latin typeface="Malgun Gothic" pitchFamily="34" charset="0"/>
                <a:ea typeface="Malgun Gothic" pitchFamily="34" charset="-122"/>
                <a:cs typeface="Malgun Gothic" pitchFamily="34" charset="-120"/>
              </a:rPr>
              <a:t>API keys</a:t>
            </a:r>
          </a:p>
        </p:txBody>
      </p:sp>
      <p:sp>
        <p:nvSpPr>
          <p:cNvPr id="15" name="Rounded Rectangle 14"/>
          <p:cNvSpPr/>
          <p:nvPr/>
        </p:nvSpPr>
        <p:spPr>
          <a:xfrm>
            <a:off x="5458968" y="2240280"/>
            <a:ext cx="1691640" cy="347472"/>
          </a:xfrm>
          <a:prstGeom prst="roundRect">
            <a:avLst>
              <a:gd name="adj" fmla="val 21052"/>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58968" y="2240280"/>
            <a:ext cx="1691640" cy="347472"/>
          </a:xfrm>
          <a:prstGeom prst="rect">
            <a:avLst/>
          </a:prstGeom>
          <a:noFill/>
        </p:spPr>
        <p:txBody>
          <a:bodyPr wrap="square" lIns="0" rIns="0" tIns="0" bIns="0" anchor="ctr" rtlCol="0">
            <a:spAutoFit/>
          </a:bodyPr>
          <a:lstStyle/>
          <a:p>
            <a:pPr indent="0" marL="0" algn="ctr">
              <a:buNone/>
            </a:pPr>
            <a:r>
              <a:rPr lang="ko-KR" sz="1050" b="1">
                <a:solidFill>
                  <a:srgbClr val="FFFFFF"/>
                </a:solidFill>
                <a:latin typeface="Malgun Gothic" pitchFamily="34" charset="0"/>
                <a:ea typeface="Malgun Gothic" pitchFamily="34" charset="-122"/>
                <a:cs typeface="Malgun Gothic" pitchFamily="34" charset="-120"/>
              </a:rPr>
              <a:t>+  Create API key</a:t>
            </a:r>
          </a:p>
        </p:txBody>
      </p:sp>
      <p:sp>
        <p:nvSpPr>
          <p:cNvPr id="17" name="Oval 16"/>
          <p:cNvSpPr/>
          <p:nvPr/>
        </p:nvSpPr>
        <p:spPr>
          <a:xfrm>
            <a:off x="5184648" y="2221992"/>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84648" y="2221992"/>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1</a:t>
            </a:r>
          </a:p>
        </p:txBody>
      </p:sp>
      <p:sp>
        <p:nvSpPr>
          <p:cNvPr id="19" name="Rounded Rectangle 18"/>
          <p:cNvSpPr/>
          <p:nvPr/>
        </p:nvSpPr>
        <p:spPr>
          <a:xfrm>
            <a:off x="932688" y="2743200"/>
            <a:ext cx="6217920" cy="310896"/>
          </a:xfrm>
          <a:prstGeom prst="roundRect">
            <a:avLst>
              <a:gd name="adj" fmla="val 14705"/>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42416" y="2743200"/>
            <a:ext cx="1828800" cy="310896"/>
          </a:xfrm>
          <a:prstGeom prst="rect">
            <a:avLst/>
          </a:prstGeom>
          <a:noFill/>
        </p:spPr>
        <p:txBody>
          <a:bodyPr wrap="square" lIns="0" rIns="0" tIns="0" bIns="0" anchor="ctr" rtlCol="0">
            <a:spAutoFit/>
          </a:bodyPr>
          <a:lstStyle/>
          <a:p>
            <a:pPr indent="0" marL="0" algn="l">
              <a:buNone/>
            </a:pPr>
            <a:r>
              <a:rPr lang="ko-KR" sz="950" b="1">
                <a:solidFill>
                  <a:srgbClr val="6B7185"/>
                </a:solidFill>
                <a:latin typeface="Malgun Gothic" pitchFamily="34" charset="0"/>
                <a:ea typeface="Malgun Gothic" pitchFamily="34" charset="-122"/>
                <a:cs typeface="Malgun Gothic" pitchFamily="34" charset="-120"/>
              </a:rPr>
              <a:t>Project</a:t>
            </a:r>
          </a:p>
        </p:txBody>
      </p:sp>
      <p:sp>
        <p:nvSpPr>
          <p:cNvPr id="21" name="TextBox 20"/>
          <p:cNvSpPr txBox="1"/>
          <p:nvPr/>
        </p:nvSpPr>
        <p:spPr>
          <a:xfrm>
            <a:off x="2962656" y="2743200"/>
            <a:ext cx="2926080" cy="310896"/>
          </a:xfrm>
          <a:prstGeom prst="rect">
            <a:avLst/>
          </a:prstGeom>
          <a:noFill/>
        </p:spPr>
        <p:txBody>
          <a:bodyPr wrap="square" lIns="0" rIns="0" tIns="0" bIns="0" anchor="ctr" rtlCol="0">
            <a:spAutoFit/>
          </a:bodyPr>
          <a:lstStyle/>
          <a:p>
            <a:pPr indent="0" marL="0" algn="l">
              <a:buNone/>
            </a:pPr>
            <a:r>
              <a:rPr lang="ko-KR" sz="950" b="1">
                <a:solidFill>
                  <a:srgbClr val="6B7185"/>
                </a:solidFill>
                <a:latin typeface="Malgun Gothic" pitchFamily="34" charset="0"/>
                <a:ea typeface="Malgun Gothic" pitchFamily="34" charset="-122"/>
                <a:cs typeface="Malgun Gothic" pitchFamily="34" charset="-120"/>
              </a:rPr>
              <a:t>API key</a:t>
            </a:r>
          </a:p>
        </p:txBody>
      </p:sp>
      <p:sp>
        <p:nvSpPr>
          <p:cNvPr id="22" name="TextBox 21"/>
          <p:cNvSpPr txBox="1"/>
          <p:nvPr/>
        </p:nvSpPr>
        <p:spPr>
          <a:xfrm>
            <a:off x="5980176" y="2743200"/>
            <a:ext cx="1280160" cy="310896"/>
          </a:xfrm>
          <a:prstGeom prst="rect">
            <a:avLst/>
          </a:prstGeom>
          <a:noFill/>
        </p:spPr>
        <p:txBody>
          <a:bodyPr wrap="square" lIns="0" rIns="0" tIns="0" bIns="0" anchor="ctr" rtlCol="0">
            <a:spAutoFit/>
          </a:bodyPr>
          <a:lstStyle/>
          <a:p>
            <a:pPr indent="0" marL="0" algn="l">
              <a:buNone/>
            </a:pPr>
            <a:r>
              <a:rPr lang="ko-KR" sz="950" b="1">
                <a:solidFill>
                  <a:srgbClr val="6B7185"/>
                </a:solidFill>
                <a:latin typeface="Malgun Gothic" pitchFamily="34" charset="0"/>
                <a:ea typeface="Malgun Gothic" pitchFamily="34" charset="-122"/>
                <a:cs typeface="Malgun Gothic" pitchFamily="34" charset="-120"/>
              </a:rPr>
              <a:t>Created</a:t>
            </a:r>
          </a:p>
        </p:txBody>
      </p:sp>
      <p:sp>
        <p:nvSpPr>
          <p:cNvPr id="23" name="TextBox 22"/>
          <p:cNvSpPr txBox="1"/>
          <p:nvPr/>
        </p:nvSpPr>
        <p:spPr>
          <a:xfrm>
            <a:off x="1042415" y="3108960"/>
            <a:ext cx="1828800" cy="310896"/>
          </a:xfrm>
          <a:prstGeom prst="rect">
            <a:avLst/>
          </a:prstGeom>
          <a:noFill/>
        </p:spPr>
        <p:txBody>
          <a:bodyPr wrap="square" lIns="0" rIns="0" tIns="0" bIns="0" anchor="ctr" rtlCol="0">
            <a:spAutoFit/>
          </a:bodyPr>
          <a:lstStyle/>
          <a:p>
            <a:pPr indent="0" marL="0" algn="l">
              <a:buNone/>
            </a:pPr>
            <a:r>
              <a:rPr lang="ko-KR" sz="1000" b="0">
                <a:solidFill>
                  <a:srgbClr val="1E1B3A"/>
                </a:solidFill>
                <a:latin typeface="Malgun Gothic" pitchFamily="34" charset="0"/>
                <a:ea typeface="Malgun Gothic" pitchFamily="34" charset="-122"/>
                <a:cs typeface="Malgun Gothic" pitchFamily="34" charset="-120"/>
              </a:rPr>
              <a:t>Gemini API project</a:t>
            </a:r>
          </a:p>
        </p:txBody>
      </p:sp>
      <p:sp>
        <p:nvSpPr>
          <p:cNvPr id="24" name="TextBox 23"/>
          <p:cNvSpPr txBox="1"/>
          <p:nvPr/>
        </p:nvSpPr>
        <p:spPr>
          <a:xfrm>
            <a:off x="2962656" y="3108960"/>
            <a:ext cx="2743200" cy="310896"/>
          </a:xfrm>
          <a:prstGeom prst="rect">
            <a:avLst/>
          </a:prstGeom>
          <a:noFill/>
        </p:spPr>
        <p:txBody>
          <a:bodyPr wrap="square" lIns="0" rIns="0" tIns="0" bIns="0" anchor="ctr" rtlCol="0">
            <a:spAutoFit/>
          </a:bodyPr>
          <a:lstStyle/>
          <a:p>
            <a:pPr indent="0" marL="0" algn="l">
              <a:buNone/>
            </a:pPr>
            <a:r>
              <a:rPr lang="ko-KR" sz="1000" b="0">
                <a:solidFill>
                  <a:srgbClr val="1E1B3A"/>
                </a:solidFill>
                <a:latin typeface="Consolas" pitchFamily="34" charset="0"/>
                <a:ea typeface="Consolas" pitchFamily="34" charset="-122"/>
                <a:cs typeface="Consolas" pitchFamily="34" charset="-120"/>
              </a:rPr>
              <a:t>AIzaSy••••••••••••••••••••Q3</a:t>
            </a:r>
          </a:p>
        </p:txBody>
      </p:sp>
      <p:sp>
        <p:nvSpPr>
          <p:cNvPr id="25" name="Rounded Rectangle 24"/>
          <p:cNvSpPr/>
          <p:nvPr/>
        </p:nvSpPr>
        <p:spPr>
          <a:xfrm>
            <a:off x="5276088" y="3145536"/>
            <a:ext cx="310896" cy="237744"/>
          </a:xfrm>
          <a:prstGeom prst="roundRect">
            <a:avLst>
              <a:gd name="adj" fmla="val 1923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lipboard_white.png"/>
          <p:cNvPicPr>
            <a:picLocks noChangeAspect="1"/>
          </p:cNvPicPr>
          <p:nvPr/>
        </p:nvPicPr>
        <p:blipFill>
          <a:blip r:embed="rId3"/>
          <a:stretch>
            <a:fillRect/>
          </a:stretch>
        </p:blipFill>
        <p:spPr>
          <a:xfrm>
            <a:off x="5330952" y="3177540"/>
            <a:ext cx="182880" cy="182880"/>
          </a:xfrm>
          <a:prstGeom prst="rect">
            <a:avLst/>
          </a:prstGeom>
        </p:spPr>
      </p:pic>
      <p:sp>
        <p:nvSpPr>
          <p:cNvPr id="27" name="Oval 26"/>
          <p:cNvSpPr/>
          <p:nvPr/>
        </p:nvSpPr>
        <p:spPr>
          <a:xfrm>
            <a:off x="5641848" y="3127248"/>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641848" y="3127248"/>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4</a:t>
            </a:r>
          </a:p>
        </p:txBody>
      </p:sp>
      <p:sp>
        <p:nvSpPr>
          <p:cNvPr id="29" name="TextBox 28"/>
          <p:cNvSpPr txBox="1"/>
          <p:nvPr/>
        </p:nvSpPr>
        <p:spPr>
          <a:xfrm>
            <a:off x="5980176" y="3108960"/>
            <a:ext cx="1280160" cy="310896"/>
          </a:xfrm>
          <a:prstGeom prst="rect">
            <a:avLst/>
          </a:prstGeom>
          <a:noFill/>
        </p:spPr>
        <p:txBody>
          <a:bodyPr wrap="square" lIns="0" rIns="0" tIns="0" bIns="0" anchor="ctr" rtlCol="0">
            <a:spAutoFit/>
          </a:bodyPr>
          <a:lstStyle/>
          <a:p>
            <a:pPr indent="0" marL="0" algn="l">
              <a:buNone/>
            </a:pPr>
            <a:r>
              <a:rPr lang="ko-KR" sz="950" b="0">
                <a:solidFill>
                  <a:srgbClr val="6B7185"/>
                </a:solidFill>
                <a:latin typeface="Malgun Gothic" pitchFamily="34" charset="0"/>
                <a:ea typeface="Malgun Gothic" pitchFamily="34" charset="-122"/>
                <a:cs typeface="Malgun Gothic" pitchFamily="34" charset="-120"/>
              </a:rPr>
              <a:t>Aug 22, 2026</a:t>
            </a:r>
          </a:p>
        </p:txBody>
      </p:sp>
      <p:sp>
        <p:nvSpPr>
          <p:cNvPr id="30" name="TextBox 29"/>
          <p:cNvSpPr txBox="1"/>
          <p:nvPr/>
        </p:nvSpPr>
        <p:spPr>
          <a:xfrm>
            <a:off x="932688" y="3493008"/>
            <a:ext cx="6217920" cy="274320"/>
          </a:xfrm>
          <a:prstGeom prst="rect">
            <a:avLst/>
          </a:prstGeom>
          <a:noFill/>
        </p:spPr>
        <p:txBody>
          <a:bodyPr wrap="square" lIns="0" rIns="0" tIns="0" bIns="0" anchor="ctr" rtlCol="0">
            <a:spAutoFit/>
          </a:bodyPr>
          <a:lstStyle/>
          <a:p>
            <a:pPr indent="0" marL="0" algn="l">
              <a:buNone/>
            </a:pPr>
            <a:r>
              <a:rPr lang="ko-KR" sz="850" b="0" i="1">
                <a:solidFill>
                  <a:srgbClr val="6B7185"/>
                </a:solidFill>
                <a:latin typeface="Malgun Gothic" pitchFamily="34" charset="0"/>
                <a:ea typeface="Malgun Gothic" pitchFamily="34" charset="-122"/>
                <a:cs typeface="Malgun Gothic" pitchFamily="34" charset="-120"/>
              </a:rPr>
              <a:t>Keys are tied to a Google Cloud project. Free tier, no billing needed.</a:t>
            </a:r>
          </a:p>
        </p:txBody>
      </p:sp>
      <p:sp>
        <p:nvSpPr>
          <p:cNvPr id="31" name="Rounded Rectangle 30"/>
          <p:cNvSpPr/>
          <p:nvPr/>
        </p:nvSpPr>
        <p:spPr>
          <a:xfrm>
            <a:off x="3310128" y="3566160"/>
            <a:ext cx="3840480" cy="1234440"/>
          </a:xfrm>
          <a:prstGeom prst="roundRect">
            <a:avLst>
              <a:gd name="adj" fmla="val 7407"/>
            </a:avLst>
          </a:prstGeom>
          <a:solidFill>
            <a:srgbClr val="FFFFFF"/>
          </a:solidFill>
          <a:ln w="9525">
            <a:solidFill>
              <a:srgbClr val="D6D5E8"/>
            </a:solid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93008" y="3657600"/>
            <a:ext cx="3474720" cy="274320"/>
          </a:xfrm>
          <a:prstGeom prst="rect">
            <a:avLst/>
          </a:prstGeom>
          <a:noFill/>
        </p:spPr>
        <p:txBody>
          <a:bodyPr wrap="square" lIns="0" rIns="0" tIns="0" bIns="0" anchor="ctr" rtlCol="0">
            <a:spAutoFit/>
          </a:bodyPr>
          <a:lstStyle/>
          <a:p>
            <a:pPr indent="0" marL="0" algn="l">
              <a:buNone/>
            </a:pPr>
            <a:r>
              <a:rPr lang="ko-KR" sz="1100" b="1">
                <a:solidFill>
                  <a:srgbClr val="1E1B3A"/>
                </a:solidFill>
                <a:latin typeface="Malgun Gothic" pitchFamily="34" charset="0"/>
                <a:ea typeface="Malgun Gothic" pitchFamily="34" charset="-122"/>
                <a:cs typeface="Malgun Gothic" pitchFamily="34" charset="-120"/>
              </a:rPr>
              <a:t>Create API key</a:t>
            </a:r>
          </a:p>
        </p:txBody>
      </p:sp>
      <p:sp>
        <p:nvSpPr>
          <p:cNvPr id="33" name="Oval 32"/>
          <p:cNvSpPr/>
          <p:nvPr/>
        </p:nvSpPr>
        <p:spPr>
          <a:xfrm>
            <a:off x="3172968" y="3429000"/>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172968" y="3429000"/>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2</a:t>
            </a:r>
          </a:p>
        </p:txBody>
      </p:sp>
      <p:sp>
        <p:nvSpPr>
          <p:cNvPr id="35" name="Rounded Rectangle 34"/>
          <p:cNvSpPr/>
          <p:nvPr/>
        </p:nvSpPr>
        <p:spPr>
          <a:xfrm>
            <a:off x="3493008" y="3977639"/>
            <a:ext cx="3474720" cy="274320"/>
          </a:xfrm>
          <a:prstGeom prst="roundRect">
            <a:avLst>
              <a:gd name="adj" fmla="val 16666"/>
            </a:avLst>
          </a:prstGeom>
          <a:solidFill>
            <a:srgbClr val="FFFFFF"/>
          </a:solidFill>
          <a:ln w="9525">
            <a:solidFill>
              <a:srgbClr val="B9B7DE"/>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584448" y="3977639"/>
            <a:ext cx="3291840" cy="274320"/>
          </a:xfrm>
          <a:prstGeom prst="rect">
            <a:avLst/>
          </a:prstGeom>
          <a:noFill/>
        </p:spPr>
        <p:txBody>
          <a:bodyPr wrap="square" lIns="0" rIns="0" tIns="0" bIns="0" anchor="ctr" rtlCol="0">
            <a:spAutoFit/>
          </a:bodyPr>
          <a:lstStyle/>
          <a:p>
            <a:pPr indent="0" marL="0" algn="l">
              <a:buNone/>
            </a:pPr>
            <a:r>
              <a:rPr lang="ko-KR" sz="900" b="0">
                <a:solidFill>
                  <a:srgbClr val="6B7185"/>
                </a:solidFill>
                <a:latin typeface="Malgun Gothic" pitchFamily="34" charset="0"/>
                <a:ea typeface="Malgun Gothic" pitchFamily="34" charset="-122"/>
                <a:cs typeface="Malgun Gothic" pitchFamily="34" charset="-120"/>
              </a:rPr>
              <a:t>Search Google Cloud projects…   (처음이면 'Create project')</a:t>
            </a:r>
          </a:p>
        </p:txBody>
      </p:sp>
      <p:sp>
        <p:nvSpPr>
          <p:cNvPr id="37" name="Rounded Rectangle 36"/>
          <p:cNvSpPr/>
          <p:nvPr/>
        </p:nvSpPr>
        <p:spPr>
          <a:xfrm>
            <a:off x="4864608" y="4370832"/>
            <a:ext cx="2103120" cy="310896"/>
          </a:xfrm>
          <a:prstGeom prst="roundRect">
            <a:avLst>
              <a:gd name="adj" fmla="val 23529"/>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864608" y="4370832"/>
            <a:ext cx="2103120" cy="310896"/>
          </a:xfrm>
          <a:prstGeom prst="rect">
            <a:avLst/>
          </a:prstGeom>
          <a:noFill/>
        </p:spPr>
        <p:txBody>
          <a:bodyPr wrap="square" lIns="0" rIns="0" tIns="0" bIns="0" anchor="ctr" rtlCol="0">
            <a:spAutoFit/>
          </a:bodyPr>
          <a:lstStyle/>
          <a:p>
            <a:pPr indent="0" marL="0" algn="ctr">
              <a:buNone/>
            </a:pPr>
            <a:r>
              <a:rPr lang="ko-KR" sz="900" b="1">
                <a:solidFill>
                  <a:srgbClr val="FFFFFF"/>
                </a:solidFill>
                <a:latin typeface="Malgun Gothic" pitchFamily="34" charset="0"/>
                <a:ea typeface="Malgun Gothic" pitchFamily="34" charset="-122"/>
                <a:cs typeface="Malgun Gothic" pitchFamily="34" charset="-120"/>
              </a:rPr>
              <a:t>Create API key in existing project</a:t>
            </a:r>
          </a:p>
        </p:txBody>
      </p:sp>
      <p:sp>
        <p:nvSpPr>
          <p:cNvPr id="39" name="Oval 38"/>
          <p:cNvSpPr/>
          <p:nvPr/>
        </p:nvSpPr>
        <p:spPr>
          <a:xfrm>
            <a:off x="4590288" y="4352544"/>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590288" y="4352544"/>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3</a:t>
            </a:r>
          </a:p>
        </p:txBody>
      </p:sp>
      <p:sp>
        <p:nvSpPr>
          <p:cNvPr id="41" name="TextBox 40"/>
          <p:cNvSpPr txBox="1"/>
          <p:nvPr/>
        </p:nvSpPr>
        <p:spPr>
          <a:xfrm>
            <a:off x="658368" y="4992624"/>
            <a:ext cx="6766560" cy="41148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화면 구성 요약. 실제 API keys 페이지는 로그인 후에만 보여 캡처 대신 구성도로 그렸습니다. 버튼 이름·위치는 2026년 8월 기준이며 조금 바뀔 수 있습니다.</a:t>
            </a:r>
          </a:p>
        </p:txBody>
      </p:sp>
      <p:sp>
        <p:nvSpPr>
          <p:cNvPr id="42" name="Oval 41"/>
          <p:cNvSpPr/>
          <p:nvPr/>
        </p:nvSpPr>
        <p:spPr>
          <a:xfrm>
            <a:off x="7726679" y="170992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26679" y="17099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44" name="TextBox 43"/>
          <p:cNvSpPr txBox="1"/>
          <p:nvPr/>
        </p:nvSpPr>
        <p:spPr>
          <a:xfrm>
            <a:off x="8293607" y="169164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오른쪽 위 'Create API key'</a:t>
            </a:r>
          </a:p>
        </p:txBody>
      </p:sp>
      <p:sp>
        <p:nvSpPr>
          <p:cNvPr id="45" name="TextBox 44"/>
          <p:cNvSpPr txBox="1"/>
          <p:nvPr/>
        </p:nvSpPr>
        <p:spPr>
          <a:xfrm>
            <a:off x="8293607" y="1965960"/>
            <a:ext cx="3236976" cy="4572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이미 키가 있으면(자동 생성) 그걸 써도 됩니다.</a:t>
            </a:r>
          </a:p>
        </p:txBody>
      </p:sp>
      <p:sp>
        <p:nvSpPr>
          <p:cNvPr id="46" name="Oval 45"/>
          <p:cNvSpPr/>
          <p:nvPr/>
        </p:nvSpPr>
        <p:spPr>
          <a:xfrm>
            <a:off x="7726679" y="248716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726679" y="248716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48" name="TextBox 47"/>
          <p:cNvSpPr txBox="1"/>
          <p:nvPr/>
        </p:nvSpPr>
        <p:spPr>
          <a:xfrm>
            <a:off x="8293607" y="246888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프로젝트 고르기</a:t>
            </a:r>
          </a:p>
        </p:txBody>
      </p:sp>
      <p:sp>
        <p:nvSpPr>
          <p:cNvPr id="49" name="TextBox 48"/>
          <p:cNvSpPr txBox="1"/>
          <p:nvPr/>
        </p:nvSpPr>
        <p:spPr>
          <a:xfrm>
            <a:off x="8293607" y="2743200"/>
            <a:ext cx="3236976" cy="4572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목록에서 아무거나(보통 하나뿐) 선택. 없으면 'Create project'.</a:t>
            </a:r>
          </a:p>
        </p:txBody>
      </p:sp>
      <p:sp>
        <p:nvSpPr>
          <p:cNvPr id="50" name="Oval 49"/>
          <p:cNvSpPr/>
          <p:nvPr/>
        </p:nvSpPr>
        <p:spPr>
          <a:xfrm>
            <a:off x="7726679" y="3264408"/>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726679" y="326440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52" name="TextBox 51"/>
          <p:cNvSpPr txBox="1"/>
          <p:nvPr/>
        </p:nvSpPr>
        <p:spPr>
          <a:xfrm>
            <a:off x="8293607" y="324612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'Create API key …' 클릭</a:t>
            </a:r>
          </a:p>
        </p:txBody>
      </p:sp>
      <p:sp>
        <p:nvSpPr>
          <p:cNvPr id="53" name="TextBox 52"/>
          <p:cNvSpPr txBox="1"/>
          <p:nvPr/>
        </p:nvSpPr>
        <p:spPr>
          <a:xfrm>
            <a:off x="8293607" y="3520439"/>
            <a:ext cx="3236976" cy="4572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몇 초 뒤 AIza… 로 시작하는 39자 문자열이 나타납니다.</a:t>
            </a:r>
          </a:p>
        </p:txBody>
      </p:sp>
      <p:sp>
        <p:nvSpPr>
          <p:cNvPr id="54" name="Oval 53"/>
          <p:cNvSpPr/>
          <p:nvPr/>
        </p:nvSpPr>
        <p:spPr>
          <a:xfrm>
            <a:off x="7726679" y="4041648"/>
            <a:ext cx="384048" cy="38404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7726679" y="40416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4</a:t>
            </a:r>
          </a:p>
        </p:txBody>
      </p:sp>
      <p:sp>
        <p:nvSpPr>
          <p:cNvPr id="56" name="TextBox 55"/>
          <p:cNvSpPr txBox="1"/>
          <p:nvPr/>
        </p:nvSpPr>
        <p:spPr>
          <a:xfrm>
            <a:off x="8293607" y="402336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복사 아이콘으로 복사</a:t>
            </a:r>
          </a:p>
        </p:txBody>
      </p:sp>
      <p:sp>
        <p:nvSpPr>
          <p:cNvPr id="57" name="TextBox 56"/>
          <p:cNvSpPr txBox="1"/>
          <p:nvPr/>
        </p:nvSpPr>
        <p:spPr>
          <a:xfrm>
            <a:off x="8293607" y="4297680"/>
            <a:ext cx="3236976" cy="6858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메모장에 잠시 붙여 두세요. 단, 다음 장을 보기 전까지 절대 어디에도 올리지 않습니다.</a:t>
            </a:r>
          </a:p>
        </p:txBody>
      </p:sp>
      <p:sp>
        <p:nvSpPr>
          <p:cNvPr id="58" name="Rounded Rectangle 57"/>
          <p:cNvSpPr/>
          <p:nvPr/>
        </p:nvSpPr>
        <p:spPr>
          <a:xfrm>
            <a:off x="658368" y="5440680"/>
            <a:ext cx="10872216" cy="868680"/>
          </a:xfrm>
          <a:prstGeom prst="roundRect">
            <a:avLst>
              <a:gd name="adj" fmla="val 12631"/>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877824" y="5637276"/>
            <a:ext cx="475488" cy="47548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0" name="Picture 59" descr="image.png"/>
          <p:cNvPicPr>
            <a:picLocks noChangeAspect="1"/>
          </p:cNvPicPr>
          <p:nvPr/>
        </p:nvPicPr>
        <p:blipFill>
          <a:blip r:embed="rId4"/>
          <a:stretch>
            <a:fillRect/>
          </a:stretch>
        </p:blipFill>
        <p:spPr>
          <a:xfrm>
            <a:off x="996695" y="5756148"/>
            <a:ext cx="237744" cy="237744"/>
          </a:xfrm>
          <a:prstGeom prst="rect">
            <a:avLst/>
          </a:prstGeom>
        </p:spPr>
      </p:pic>
      <p:sp>
        <p:nvSpPr>
          <p:cNvPr id="61" name="TextBox 60"/>
          <p:cNvSpPr txBox="1"/>
          <p:nvPr/>
        </p:nvSpPr>
        <p:spPr>
          <a:xfrm>
            <a:off x="1554480" y="5513832"/>
            <a:ext cx="9756648" cy="722375"/>
          </a:xfrm>
          <a:prstGeom prst="rect">
            <a:avLst/>
          </a:prstGeom>
          <a:noFill/>
        </p:spPr>
        <p:txBody>
          <a:bodyPr wrap="square" lIns="0" rIns="0" tIns="0" bIns="0" anchor="ctr" rtlCol="0">
            <a:spAutoFit/>
          </a:bodyPr>
          <a:lstStyle/>
          <a:p>
            <a:pPr indent="0" marL="0" algn="l">
              <a:lnSpc>
                <a:spcPts val="1562"/>
              </a:lnSpc>
              <a:buNone/>
            </a:pPr>
            <a:r>
              <a:rPr lang="ko-KR" sz="1200" b="1">
                <a:solidFill>
                  <a:srgbClr val="1E1B3A"/>
                </a:solidFill>
                <a:latin typeface="Malgun Gothic" pitchFamily="34" charset="0"/>
                <a:ea typeface="Malgun Gothic" pitchFamily="34" charset="-122"/>
                <a:cs typeface="Malgun Gothic" pitchFamily="34" charset="-120"/>
              </a:rPr>
              <a:t>비용 걱정은 안 해도 됩니다</a:t>
            </a:r>
          </a:p>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오늘 실습 정도는 무료 등급으로 됩니다. 다만 한도(flash-lite 분당 15회·하루 500회, flash 분당 5회·하루 20회)가 있어 '잠깐 기다리라'는 메시지가 나올 수 있고, 큰 작업을 시키면 그날 한도가 바닥납니다. 결제 정보를 넣지 않는 한 요금은 나가지 않습니다.</a:t>
            </a:r>
          </a:p>
        </p:txBody>
      </p:sp>
      <p:sp>
        <p:nvSpPr>
          <p:cNvPr id="62"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txBody>
          <a:bodyPr/>
          <a:p/>
        </p:txBody>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API 키는 비밀번호입니다</a:t>
            </a:r>
            <a:endParaRPr lang="en-US" sz="2600" dirty="0"/>
          </a:p>
        </p:txBody>
      </p:sp>
      <p:sp>
        <p:nvSpPr>
          <p:cNvPr id="6" name="Shape 3"/>
          <p:cNvSpPr/>
          <p:nvPr/>
        </p:nvSpPr>
        <p:spPr>
          <a:xfrm>
            <a:off x="658368" y="1828800"/>
            <a:ext cx="457200" cy="457200"/>
          </a:xfrm>
          <a:prstGeom prst="ellipse">
            <a:avLst/>
          </a:prstGeom>
          <a:solidFill>
            <a:srgbClr val="FB7185"/>
          </a:solidFill>
          <a:ln/>
        </p:spPr>
        <p:txBody>
          <a:bodyPr/>
          <a:p/>
        </p:txBody>
      </p:sp>
      <p:pic>
        <p:nvPicPr>
          <p:cNvPr id="7" name="Image 1" descr="/home/claude/icons/times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코드에 직접 붙여넣지 않는다</a:t>
            </a:r>
            <a:endParaRPr lang="en-US" sz="1400" dirty="0"/>
          </a:p>
        </p:txBody>
      </p:sp>
      <p:sp>
        <p:nvSpPr>
          <p:cNvPr id="9" name="Text 5"/>
          <p:cNvSpPr/>
          <p:nvPr/>
        </p:nvSpPr>
        <p:spPr>
          <a:xfrm>
            <a:off x="1335024" y="2066544"/>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api_key = "AIza..." 처럼 소스 코드에 키를 박는 순간, 그 파일이 가는 모든 곳에 비밀번호가 따라갑니다.</a:t>
            </a:r>
            <a:endParaRPr lang="en-US" sz="1150" dirty="0"/>
          </a:p>
        </p:txBody>
      </p:sp>
      <p:sp>
        <p:nvSpPr>
          <p:cNvPr id="10" name="Shape 6"/>
          <p:cNvSpPr/>
          <p:nvPr/>
        </p:nvSpPr>
        <p:spPr>
          <a:xfrm>
            <a:off x="658368" y="2871216"/>
            <a:ext cx="457200" cy="457200"/>
          </a:xfrm>
          <a:prstGeom prst="ellipse">
            <a:avLst/>
          </a:prstGeom>
          <a:solidFill>
            <a:srgbClr val="F59E0B"/>
          </a:solidFill>
          <a:ln/>
        </p:spPr>
        <p:txBody>
          <a:bodyPr/>
          <a:p/>
        </p:txBody>
      </p:sp>
      <p:pic>
        <p:nvPicPr>
          <p:cNvPr id="11" name="Image 2" descr="/home/claude/icons/warn_white.png">    </p:cNvPr>
          <p:cNvPicPr>
            <a:picLocks noChangeAspect="1"/>
          </p:cNvPicPr>
          <p:nvPr/>
        </p:nvPicPr>
        <p:blipFill>
          <a:blip r:embed="rId3"/>
          <a:stretch>
            <a:fillRect/>
          </a:stretch>
        </p:blipFill>
        <p:spPr>
          <a:xfrm>
            <a:off x="772668" y="2985516"/>
            <a:ext cx="228600" cy="228600"/>
          </a:xfrm>
          <a:prstGeom prst="rect">
            <a:avLst/>
          </a:prstGeom>
        </p:spPr>
      </p:pic>
      <p:sp>
        <p:nvSpPr>
          <p:cNvPr id="12" name="Text 7"/>
          <p:cNvSpPr/>
          <p:nvPr/>
        </p:nvSpPr>
        <p:spPr>
          <a:xfrm>
            <a:off x="1335024" y="2834640"/>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GitHub에 올라간 키는 몇 분 안에 수집됩니다</a:t>
            </a:r>
            <a:endParaRPr lang="en-US" sz="1400" dirty="0"/>
          </a:p>
        </p:txBody>
      </p:sp>
      <p:sp>
        <p:nvSpPr>
          <p:cNvPr id="13" name="Text 8"/>
          <p:cNvSpPr/>
          <p:nvPr/>
        </p:nvSpPr>
        <p:spPr>
          <a:xfrm>
            <a:off x="1335024" y="3108960"/>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공개 저장소를 훑는 봇이 상시 돌고 있습니다. 유출된 키로 남이 요청을 보내면 한도 소진과 과금 피해는 내 몫입니다.</a:t>
            </a:r>
            <a:endParaRPr lang="en-US" sz="1150" dirty="0"/>
          </a:p>
        </p:txBody>
      </p:sp>
      <p:sp>
        <p:nvSpPr>
          <p:cNvPr id="14" name="Shape 9"/>
          <p:cNvSpPr/>
          <p:nvPr/>
        </p:nvSpPr>
        <p:spPr>
          <a:xfrm>
            <a:off x="658368" y="3913632"/>
            <a:ext cx="457200" cy="457200"/>
          </a:xfrm>
          <a:prstGeom prst="ellipse">
            <a:avLst/>
          </a:prstGeom>
          <a:solidFill>
            <a:srgbClr val="4F46E5"/>
          </a:solidFill>
          <a:ln/>
        </p:spPr>
        <p:txBody>
          <a:bodyPr/>
          <a:p/>
        </p:txBody>
      </p:sp>
      <p:pic>
        <p:nvPicPr>
          <p:cNvPr id="15" name="Image 3" descr="/home/claude/icons/sync_white.png">    </p:cNvPr>
          <p:cNvPicPr>
            <a:picLocks noChangeAspect="1"/>
          </p:cNvPicPr>
          <p:nvPr/>
        </p:nvPicPr>
        <p:blipFill>
          <a:blip r:embed="rId4"/>
          <a:stretch>
            <a:fillRect/>
          </a:stretch>
        </p:blipFill>
        <p:spPr>
          <a:xfrm>
            <a:off x="772668" y="4027932"/>
            <a:ext cx="228600" cy="228600"/>
          </a:xfrm>
          <a:prstGeom prst="rect">
            <a:avLst/>
          </a:prstGeom>
        </p:spPr>
      </p:pic>
      <p:sp>
        <p:nvSpPr>
          <p:cNvPr id="16" name="Text 10"/>
          <p:cNvSpPr/>
          <p:nvPr/>
        </p:nvSpPr>
        <p:spPr>
          <a:xfrm>
            <a:off x="1335024" y="3877056"/>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유출이 의심되면 즉시 폐기 · 재발급</a:t>
            </a:r>
            <a:endParaRPr lang="en-US" sz="1400" dirty="0"/>
          </a:p>
        </p:txBody>
      </p:sp>
      <p:sp>
        <p:nvSpPr>
          <p:cNvPr id="17" name="Text 11"/>
          <p:cNvSpPr/>
          <p:nvPr/>
        </p:nvSpPr>
        <p:spPr>
          <a:xfrm>
            <a:off x="1335024" y="4151376"/>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AI Studio에서 해당 키를 Delete 하고 새로 만들면 됩니다. 키는 얼마든지 다시 만들 수 있으니 아까워하지 마세요.</a:t>
            </a:r>
            <a:endParaRPr lang="en-US" sz="1150" dirty="0"/>
          </a:p>
        </p:txBody>
      </p:sp>
      <p:sp>
        <p:nvSpPr>
          <p:cNvPr id="18" name="Shape 12"/>
          <p:cNvSpPr/>
          <p:nvPr/>
        </p:nvSpPr>
        <p:spPr>
          <a:xfrm>
            <a:off x="658368" y="5120640"/>
            <a:ext cx="10872216" cy="868680"/>
          </a:xfrm>
          <a:prstGeom prst="roundRect">
            <a:avLst>
              <a:gd name="adj" fmla="val 10526"/>
            </a:avLst>
          </a:prstGeom>
          <a:solidFill>
            <a:srgbClr val="EEF0FF"/>
          </a:solidFill>
          <a:ln/>
        </p:spPr>
        <p:txBody>
          <a:bodyPr/>
          <a:p/>
        </p:txBody>
      </p:sp>
      <p:sp>
        <p:nvSpPr>
          <p:cNvPr id="19" name="Shape 13"/>
          <p:cNvSpPr/>
          <p:nvPr/>
        </p:nvSpPr>
        <p:spPr>
          <a:xfrm>
            <a:off x="877824" y="5317236"/>
            <a:ext cx="475488" cy="475488"/>
          </a:xfrm>
          <a:prstGeom prst="ellipse">
            <a:avLst/>
          </a:prstGeom>
          <a:solidFill>
            <a:srgbClr val="10B981"/>
          </a:solidFill>
          <a:ln/>
        </p:spPr>
        <p:txBody>
          <a:bodyPr/>
          <a:p/>
        </p:txBody>
      </p:sp>
      <p:pic>
        <p:nvPicPr>
          <p:cNvPr id="20" name="Image 4" descr="/home/claude/icons/lock_white.png">    </p:cNvPr>
          <p:cNvPicPr>
            <a:picLocks noChangeAspect="1"/>
          </p:cNvPicPr>
          <p:nvPr/>
        </p:nvPicPr>
        <p:blipFill>
          <a:blip r:embed="rId5"/>
          <a:stretch>
            <a:fillRect/>
          </a:stretch>
        </p:blipFill>
        <p:spPr>
          <a:xfrm>
            <a:off x="996696" y="5436108"/>
            <a:ext cx="237744" cy="237744"/>
          </a:xfrm>
          <a:prstGeom prst="rect">
            <a:avLst/>
          </a:prstGeom>
        </p:spPr>
      </p:pic>
      <p:sp>
        <p:nvSpPr>
          <p:cNvPr id="21" name="Text 14"/>
          <p:cNvSpPr/>
          <p:nvPr/>
        </p:nvSpPr>
        <p:spPr>
          <a:xfrm>
            <a:off x="1554480" y="521208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그래서 쓰는 방법이 '환경변수'입니다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키를 코드 밖, 내 컴퓨터의 설정에 보관하고 프로그램이 이름으로 꺼내 쓰게 합니다. 코드에는 키가 없으니 저장소에 올려도 안전합니다. 지금 바로 설정해 봅시다.</a:t>
            </a:r>
            <a:endParaRPr lang="en-US" sz="130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txBody>
          <a:bodyPr/>
          <a:p/>
        </p:txBody>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② 환경변수 설정: Windows</a:t>
            </a:r>
            <a:endParaRPr lang="en-US" sz="2600" dirty="0"/>
          </a:p>
        </p:txBody>
      </p:sp>
      <p:sp>
        <p:nvSpPr>
          <p:cNvPr id="6" name="Shape 3"/>
          <p:cNvSpPr/>
          <p:nvPr/>
        </p:nvSpPr>
        <p:spPr>
          <a:xfrm>
            <a:off x="658368" y="1828800"/>
            <a:ext cx="6400800" cy="2834640"/>
          </a:xfrm>
          <a:prstGeom prst="roundRect">
            <a:avLst>
              <a:gd name="adj" fmla="val 3226"/>
            </a:avLst>
          </a:prstGeom>
          <a:solidFill>
            <a:srgbClr val="1D1C3D"/>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658368" y="1828800"/>
            <a:ext cx="6400800" cy="329184"/>
          </a:xfrm>
          <a:prstGeom prst="roundRect">
            <a:avLst>
              <a:gd name="adj" fmla="val 27778"/>
            </a:avLst>
          </a:prstGeom>
          <a:solidFill>
            <a:srgbClr val="2A2856"/>
          </a:solidFill>
          <a:ln/>
        </p:spPr>
        <p:txBody>
          <a:bodyPr/>
          <a:p/>
        </p:txBody>
      </p:sp>
      <p:sp>
        <p:nvSpPr>
          <p:cNvPr id="8" name="Shape 5"/>
          <p:cNvSpPr/>
          <p:nvPr/>
        </p:nvSpPr>
        <p:spPr>
          <a:xfrm>
            <a:off x="658368" y="2011680"/>
            <a:ext cx="6400800" cy="146304"/>
          </a:xfrm>
          <a:prstGeom prst="rect">
            <a:avLst/>
          </a:prstGeom>
          <a:solidFill>
            <a:srgbClr val="2A2856"/>
          </a:solidFill>
          <a:ln/>
        </p:spPr>
        <p:txBody>
          <a:bodyPr/>
          <a:p/>
        </p:txBody>
      </p:sp>
      <p:sp>
        <p:nvSpPr>
          <p:cNvPr id="9" name="Shape 6"/>
          <p:cNvSpPr/>
          <p:nvPr/>
        </p:nvSpPr>
        <p:spPr>
          <a:xfrm>
            <a:off x="804672" y="1943100"/>
            <a:ext cx="100584" cy="100584"/>
          </a:xfrm>
          <a:prstGeom prst="ellipse">
            <a:avLst/>
          </a:prstGeom>
          <a:solidFill>
            <a:srgbClr val="FF5F56"/>
          </a:solidFill>
          <a:ln/>
        </p:spPr>
        <p:txBody>
          <a:bodyPr/>
          <a:p/>
        </p:txBody>
      </p:sp>
      <p:sp>
        <p:nvSpPr>
          <p:cNvPr id="10" name="Shape 7"/>
          <p:cNvSpPr/>
          <p:nvPr/>
        </p:nvSpPr>
        <p:spPr>
          <a:xfrm>
            <a:off x="987552" y="1943100"/>
            <a:ext cx="100584" cy="100584"/>
          </a:xfrm>
          <a:prstGeom prst="ellipse">
            <a:avLst/>
          </a:prstGeom>
          <a:solidFill>
            <a:srgbClr val="FFBD2E"/>
          </a:solidFill>
          <a:ln/>
        </p:spPr>
        <p:txBody>
          <a:bodyPr/>
          <a:p/>
        </p:txBody>
      </p:sp>
      <p:sp>
        <p:nvSpPr>
          <p:cNvPr id="11" name="Shape 8"/>
          <p:cNvSpPr/>
          <p:nvPr/>
        </p:nvSpPr>
        <p:spPr>
          <a:xfrm>
            <a:off x="1170432" y="1943100"/>
            <a:ext cx="100584" cy="100584"/>
          </a:xfrm>
          <a:prstGeom prst="ellipse">
            <a:avLst/>
          </a:prstGeom>
          <a:solidFill>
            <a:srgbClr val="27C93F"/>
          </a:solidFill>
          <a:ln/>
        </p:spPr>
        <p:txBody>
          <a:bodyPr/>
          <a:p/>
        </p:txBody>
      </p:sp>
      <p:sp>
        <p:nvSpPr>
          <p:cNvPr id="12" name="Text 9"/>
          <p:cNvSpPr/>
          <p:nvPr/>
        </p:nvSpPr>
        <p:spPr>
          <a:xfrm>
            <a:off x="1481328" y="1828800"/>
            <a:ext cx="4754880"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PowerShell / CMD</a:t>
            </a:r>
            <a:endParaRPr lang="en-US" sz="1000" dirty="0"/>
          </a:p>
        </p:txBody>
      </p:sp>
      <p:sp>
        <p:nvSpPr>
          <p:cNvPr id="13" name="Text 10"/>
          <p:cNvSpPr/>
          <p:nvPr/>
        </p:nvSpPr>
        <p:spPr>
          <a:xfrm>
            <a:off x="877824" y="2249424"/>
            <a:ext cx="5980176" cy="2267712"/>
          </a:xfrm>
          <a:prstGeom prst="rect">
            <a:avLst/>
          </a:prstGeom>
          <a:noFill/>
          <a:ln/>
        </p:spPr>
        <p:txBody>
          <a:bodyPr wrap="square" lIns="0" tIns="0" rIns="0" bIns="0" rtlCol="0" anchor="t"/>
          <a:lstStyle/>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setx</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GEMINI_API_KEY</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9FE0A0"/>
                </a:solidFill>
                <a:latin typeface="Consolas" pitchFamily="34" charset="0"/>
                <a:ea typeface="Consolas" pitchFamily="34" charset="-122"/>
                <a:cs typeface="Consolas" pitchFamily="34" charset="-120"/>
              </a:rPr>
              <a:t>"AIza...본인키"</a:t>
            </a:r>
            <a:endParaRPr lang="en-US" sz="1200" dirty="0"/>
          </a:p>
          <a:p>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'성공' 메시지가 나오면 등록 완료</a:t>
            </a:r>
            <a:endParaRPr lang="en-US" sz="1200" dirty="0"/>
          </a:p>
          <a:p>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endParaRPr lang="en-US" sz="1200" dirty="0"/>
          </a:p>
          <a:p>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 반드시 '새' 터미널을 열고 확인</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echo</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GEMINI_API_KEY</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CMD</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echo</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env</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GEMINI_API_KEY</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PowerShell</a:t>
            </a:r>
            <a:endParaRPr lang="en-US" sz="1200" dirty="0"/>
          </a:p>
        </p:txBody>
      </p:sp>
      <p:sp>
        <p:nvSpPr>
          <p:cNvPr id="14" name="Shape 11"/>
          <p:cNvSpPr/>
          <p:nvPr/>
        </p:nvSpPr>
        <p:spPr>
          <a:xfrm>
            <a:off x="7360920" y="1920240"/>
            <a:ext cx="457200" cy="457200"/>
          </a:xfrm>
          <a:prstGeom prst="ellipse">
            <a:avLst/>
          </a:prstGeom>
          <a:solidFill>
            <a:srgbClr val="F59E0B"/>
          </a:solidFill>
          <a:ln/>
        </p:spPr>
        <p:txBody>
          <a:bodyPr/>
          <a:p/>
        </p:txBody>
      </p:sp>
      <p:pic>
        <p:nvPicPr>
          <p:cNvPr id="15" name="Image 1" descr="/home/claude/icons/warn_white.png">    </p:cNvPr>
          <p:cNvPicPr>
            <a:picLocks noChangeAspect="1"/>
          </p:cNvPicPr>
          <p:nvPr/>
        </p:nvPicPr>
        <p:blipFill>
          <a:blip r:embed="rId2"/>
          <a:stretch>
            <a:fillRect/>
          </a:stretch>
        </p:blipFill>
        <p:spPr>
          <a:xfrm>
            <a:off x="7475220" y="2034540"/>
            <a:ext cx="228600" cy="228600"/>
          </a:xfrm>
          <a:prstGeom prst="rect">
            <a:avLst/>
          </a:prstGeom>
        </p:spPr>
      </p:pic>
      <p:sp>
        <p:nvSpPr>
          <p:cNvPr id="16" name="Text 12"/>
          <p:cNvSpPr/>
          <p:nvPr/>
        </p:nvSpPr>
        <p:spPr>
          <a:xfrm>
            <a:off x="8037576" y="1883664"/>
            <a:ext cx="348386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가장 흔한 실수</a:t>
            </a:r>
            <a:endParaRPr lang="en-US" sz="1300" dirty="0"/>
          </a:p>
        </p:txBody>
      </p:sp>
      <p:sp>
        <p:nvSpPr>
          <p:cNvPr id="17" name="Text 13"/>
          <p:cNvSpPr/>
          <p:nvPr/>
        </p:nvSpPr>
        <p:spPr>
          <a:xfrm>
            <a:off x="8037576" y="2157984"/>
            <a:ext cx="3483864" cy="9966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setx는 이미 열려 있는 터미널에는 적용되지 않습니다. 꼭 새 창에서 확인하세요.</a:t>
            </a:r>
            <a:endParaRPr lang="en-US" sz="1100" dirty="0"/>
          </a:p>
        </p:txBody>
      </p:sp>
      <p:sp>
        <p:nvSpPr>
          <p:cNvPr id="18" name="Shape 14"/>
          <p:cNvSpPr/>
          <p:nvPr/>
        </p:nvSpPr>
        <p:spPr>
          <a:xfrm>
            <a:off x="7360920" y="3154680"/>
            <a:ext cx="457200" cy="457200"/>
          </a:xfrm>
          <a:prstGeom prst="ellipse">
            <a:avLst/>
          </a:prstGeom>
          <a:solidFill>
            <a:srgbClr val="4F46E5"/>
          </a:solidFill>
          <a:ln/>
        </p:spPr>
        <p:txBody>
          <a:bodyPr/>
          <a:p/>
        </p:txBody>
      </p:sp>
      <p:pic>
        <p:nvPicPr>
          <p:cNvPr id="19" name="Image 2" descr="/home/claude/icons/eye_white.png">    </p:cNvPr>
          <p:cNvPicPr>
            <a:picLocks noChangeAspect="1"/>
          </p:cNvPicPr>
          <p:nvPr/>
        </p:nvPicPr>
        <p:blipFill>
          <a:blip r:embed="rId3"/>
          <a:stretch>
            <a:fillRect/>
          </a:stretch>
        </p:blipFill>
        <p:spPr>
          <a:xfrm>
            <a:off x="7475220" y="3268980"/>
            <a:ext cx="228600" cy="228600"/>
          </a:xfrm>
          <a:prstGeom prst="rect">
            <a:avLst/>
          </a:prstGeom>
        </p:spPr>
      </p:pic>
      <p:sp>
        <p:nvSpPr>
          <p:cNvPr id="20" name="Text 15"/>
          <p:cNvSpPr/>
          <p:nvPr/>
        </p:nvSpPr>
        <p:spPr>
          <a:xfrm>
            <a:off x="8037576" y="3118104"/>
            <a:ext cx="348386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GUI로도 가능</a:t>
            </a:r>
            <a:endParaRPr lang="en-US" sz="1300" dirty="0"/>
          </a:p>
        </p:txBody>
      </p:sp>
      <p:sp>
        <p:nvSpPr>
          <p:cNvPr id="21" name="Text 16"/>
          <p:cNvSpPr/>
          <p:nvPr/>
        </p:nvSpPr>
        <p:spPr>
          <a:xfrm>
            <a:off x="8037576" y="3392424"/>
            <a:ext cx="3483864" cy="9966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설정 → 시스템 → 정보 → 고급 시스템 설정 → 환경 변수에서 같은 이름으로 추가해도 됩니다.</a:t>
            </a:r>
            <a:endParaRPr lang="en-US" sz="1100" dirty="0"/>
          </a:p>
        </p:txBody>
      </p:sp>
      <p:sp>
        <p:nvSpPr>
          <p:cNvPr id="22" name="Shape 17"/>
          <p:cNvSpPr/>
          <p:nvPr/>
        </p:nvSpPr>
        <p:spPr>
          <a:xfrm>
            <a:off x="658368" y="4983480"/>
            <a:ext cx="10872216" cy="777240"/>
          </a:xfrm>
          <a:prstGeom prst="roundRect">
            <a:avLst>
              <a:gd name="adj" fmla="val 11765"/>
            </a:avLst>
          </a:prstGeom>
          <a:solidFill>
            <a:srgbClr val="F5F4FC"/>
          </a:solidFill>
          <a:ln/>
        </p:spPr>
        <p:txBody>
          <a:bodyPr/>
          <a:p/>
        </p:txBody>
      </p:sp>
      <p:sp>
        <p:nvSpPr>
          <p:cNvPr id="23" name="Shape 18"/>
          <p:cNvSpPr/>
          <p:nvPr/>
        </p:nvSpPr>
        <p:spPr>
          <a:xfrm>
            <a:off x="877824" y="5134356"/>
            <a:ext cx="475488" cy="475488"/>
          </a:xfrm>
          <a:prstGeom prst="ellipse">
            <a:avLst/>
          </a:prstGeom>
          <a:solidFill>
            <a:srgbClr val="10B981"/>
          </a:solidFill>
          <a:ln/>
        </p:spPr>
        <p:txBody>
          <a:bodyPr/>
          <a:p/>
        </p:txBody>
      </p:sp>
      <p:pic>
        <p:nvPicPr>
          <p:cNvPr id="24" name="Image 3" descr="/home/claude/icons/check_white.png">    </p:cNvPr>
          <p:cNvPicPr>
            <a:picLocks noChangeAspect="1"/>
          </p:cNvPicPr>
          <p:nvPr/>
        </p:nvPicPr>
        <p:blipFill>
          <a:blip r:embed="rId4"/>
          <a:stretch>
            <a:fillRect/>
          </a:stretch>
        </p:blipFill>
        <p:spPr>
          <a:xfrm>
            <a:off x="996696" y="5253228"/>
            <a:ext cx="237744" cy="237744"/>
          </a:xfrm>
          <a:prstGeom prst="rect">
            <a:avLst/>
          </a:prstGeom>
        </p:spPr>
      </p:pic>
      <p:sp>
        <p:nvSpPr>
          <p:cNvPr id="25" name="Text 19"/>
          <p:cNvSpPr/>
          <p:nvPr/>
        </p:nvSpPr>
        <p:spPr>
          <a:xfrm>
            <a:off x="1554480" y="5074920"/>
            <a:ext cx="9738360" cy="594360"/>
          </a:xfrm>
          <a:prstGeom prst="rect">
            <a:avLst/>
          </a:prstGeom>
          <a:noFill/>
          <a:ln/>
        </p:spPr>
        <p:txBody>
          <a:bodyPr wrap="square" lIns="0" tIns="0" rIns="0" bIns="0" rtlCol="0" anchor="ctr"/>
          <a:lstStyle/>
          <a:p>
            <a:pPr indent="0" marL="0">
              <a:lnSpc>
                <a:spcPts val="1704"/>
              </a:lnSpc>
              <a:buNone/>
            </a:pPr>
            <a:r>
              <a:rPr lang="en-US" sz="1200" dirty="0">
                <a:solidFill>
                  <a:srgbClr val="3C3B57"/>
                </a:solidFill>
                <a:latin typeface="Malgun Gothic" pitchFamily="34" charset="0"/>
                <a:ea typeface="Malgun Gothic" pitchFamily="34" charset="-122"/>
                <a:cs typeface="Malgun Gothic" pitchFamily="34" charset="-120"/>
              </a:rPr>
              <a:t>새 터미널에서 echo 명령이 내 키를 그대로 출력하면 이 단계 통과입니다.</a:t>
            </a:r>
            <a:endParaRPr lang="en-US" sz="1200" dirty="0"/>
          </a:p>
        </p:txBody>
      </p:sp>
      <p:sp>
        <p:nvSpPr>
          <p:cNvPr id="26" name="Text 20"/>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txBody>
          <a:bodyPr/>
          <a:p/>
        </p:txBody>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② 환경변수 설정: macOS</a:t>
            </a:r>
            <a:endParaRPr lang="en-US" sz="2600" dirty="0"/>
          </a:p>
        </p:txBody>
      </p:sp>
      <p:sp>
        <p:nvSpPr>
          <p:cNvPr id="6" name="Shape 3"/>
          <p:cNvSpPr/>
          <p:nvPr/>
        </p:nvSpPr>
        <p:spPr>
          <a:xfrm>
            <a:off x="658368" y="1828800"/>
            <a:ext cx="6903720" cy="2834640"/>
          </a:xfrm>
          <a:prstGeom prst="roundRect">
            <a:avLst>
              <a:gd name="adj" fmla="val 3226"/>
            </a:avLst>
          </a:prstGeom>
          <a:solidFill>
            <a:srgbClr val="1D1C3D"/>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658368" y="1828800"/>
            <a:ext cx="6903720" cy="329184"/>
          </a:xfrm>
          <a:prstGeom prst="roundRect">
            <a:avLst>
              <a:gd name="adj" fmla="val 27778"/>
            </a:avLst>
          </a:prstGeom>
          <a:solidFill>
            <a:srgbClr val="2A2856"/>
          </a:solidFill>
          <a:ln/>
        </p:spPr>
        <p:txBody>
          <a:bodyPr/>
          <a:p/>
        </p:txBody>
      </p:sp>
      <p:sp>
        <p:nvSpPr>
          <p:cNvPr id="8" name="Shape 5"/>
          <p:cNvSpPr/>
          <p:nvPr/>
        </p:nvSpPr>
        <p:spPr>
          <a:xfrm>
            <a:off x="658368" y="2011680"/>
            <a:ext cx="6903720" cy="146304"/>
          </a:xfrm>
          <a:prstGeom prst="rect">
            <a:avLst/>
          </a:prstGeom>
          <a:solidFill>
            <a:srgbClr val="2A2856"/>
          </a:solidFill>
          <a:ln/>
        </p:spPr>
        <p:txBody>
          <a:bodyPr/>
          <a:p/>
        </p:txBody>
      </p:sp>
      <p:sp>
        <p:nvSpPr>
          <p:cNvPr id="9" name="Shape 6"/>
          <p:cNvSpPr/>
          <p:nvPr/>
        </p:nvSpPr>
        <p:spPr>
          <a:xfrm>
            <a:off x="804672" y="1943100"/>
            <a:ext cx="100584" cy="100584"/>
          </a:xfrm>
          <a:prstGeom prst="ellipse">
            <a:avLst/>
          </a:prstGeom>
          <a:solidFill>
            <a:srgbClr val="FF5F56"/>
          </a:solidFill>
          <a:ln/>
        </p:spPr>
        <p:txBody>
          <a:bodyPr/>
          <a:p/>
        </p:txBody>
      </p:sp>
      <p:sp>
        <p:nvSpPr>
          <p:cNvPr id="10" name="Shape 7"/>
          <p:cNvSpPr/>
          <p:nvPr/>
        </p:nvSpPr>
        <p:spPr>
          <a:xfrm>
            <a:off x="987552" y="1943100"/>
            <a:ext cx="100584" cy="100584"/>
          </a:xfrm>
          <a:prstGeom prst="ellipse">
            <a:avLst/>
          </a:prstGeom>
          <a:solidFill>
            <a:srgbClr val="FFBD2E"/>
          </a:solidFill>
          <a:ln/>
        </p:spPr>
        <p:txBody>
          <a:bodyPr/>
          <a:p/>
        </p:txBody>
      </p:sp>
      <p:sp>
        <p:nvSpPr>
          <p:cNvPr id="11" name="Shape 8"/>
          <p:cNvSpPr/>
          <p:nvPr/>
        </p:nvSpPr>
        <p:spPr>
          <a:xfrm>
            <a:off x="1170432" y="1943100"/>
            <a:ext cx="100584" cy="100584"/>
          </a:xfrm>
          <a:prstGeom prst="ellipse">
            <a:avLst/>
          </a:prstGeom>
          <a:solidFill>
            <a:srgbClr val="27C93F"/>
          </a:solidFill>
          <a:ln/>
        </p:spPr>
        <p:txBody>
          <a:bodyPr/>
          <a:p/>
        </p:txBody>
      </p:sp>
      <p:sp>
        <p:nvSpPr>
          <p:cNvPr id="12" name="Text 9"/>
          <p:cNvSpPr/>
          <p:nvPr/>
        </p:nvSpPr>
        <p:spPr>
          <a:xfrm>
            <a:off x="1481328" y="1828800"/>
            <a:ext cx="5257800"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터미널 (zsh)</a:t>
            </a:r>
            <a:endParaRPr lang="en-US" sz="1000" dirty="0"/>
          </a:p>
        </p:txBody>
      </p:sp>
      <p:sp>
        <p:nvSpPr>
          <p:cNvPr id="13" name="Text 10"/>
          <p:cNvSpPr/>
          <p:nvPr/>
        </p:nvSpPr>
        <p:spPr>
          <a:xfrm>
            <a:off x="877824" y="2249424"/>
            <a:ext cx="6483096" cy="2267712"/>
          </a:xfrm>
          <a:prstGeom prst="rect">
            <a:avLst/>
          </a:prstGeom>
          <a:noFill/>
          <a:ln/>
        </p:spPr>
        <p:txBody>
          <a:bodyPr wrap="square" lIns="0" tIns="0" rIns="0" bIns="0" rtlCol="0" anchor="t"/>
          <a:lstStyle/>
          <a:p>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셸 설정 파일에 한 줄 추가 (기본 셸 zsh 기준)</a:t>
            </a:r>
            <a:endParaRPr lang="en-US" sz="1150" dirty="0"/>
          </a:p>
          <a:p>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echo</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9FE0A0"/>
                </a:solidFill>
                <a:latin typeface="Consolas" pitchFamily="34" charset="0"/>
                <a:ea typeface="Consolas" pitchFamily="34" charset="-122"/>
                <a:cs typeface="Consolas" pitchFamily="34" charset="-120"/>
              </a:rPr>
              <a:t>'export GEMINI_API_KEY="AIza...본인키"'</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&gt;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&gt;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zshrc</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endParaRPr lang="en-US" sz="1150" dirty="0"/>
          </a:p>
          <a:p>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source</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zshrc</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설정을 다시 읽기</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endParaRPr lang="en-US" sz="1150" dirty="0"/>
          </a:p>
          <a:p>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echo</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GEMINI_API_KEY</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키가 출력되면 성공</a:t>
            </a:r>
            <a:endParaRPr lang="en-US" sz="1150" dirty="0"/>
          </a:p>
        </p:txBody>
      </p:sp>
      <p:sp>
        <p:nvSpPr>
          <p:cNvPr id="14" name="Shape 11"/>
          <p:cNvSpPr/>
          <p:nvPr/>
        </p:nvSpPr>
        <p:spPr>
          <a:xfrm>
            <a:off x="7863840" y="1920240"/>
            <a:ext cx="457200" cy="457200"/>
          </a:xfrm>
          <a:prstGeom prst="ellipse">
            <a:avLst/>
          </a:prstGeom>
          <a:solidFill>
            <a:srgbClr val="7C3AED"/>
          </a:solidFill>
          <a:ln/>
        </p:spPr>
        <p:txBody>
          <a:bodyPr/>
          <a:p/>
        </p:txBody>
      </p:sp>
      <p:pic>
        <p:nvPicPr>
          <p:cNvPr id="15" name="Image 1" descr="/home/claude/icons/folder_white.png">    </p:cNvPr>
          <p:cNvPicPr>
            <a:picLocks noChangeAspect="1"/>
          </p:cNvPicPr>
          <p:nvPr/>
        </p:nvPicPr>
        <p:blipFill>
          <a:blip r:embed="rId2"/>
          <a:stretch>
            <a:fillRect/>
          </a:stretch>
        </p:blipFill>
        <p:spPr>
          <a:xfrm>
            <a:off x="7978140" y="2034540"/>
            <a:ext cx="228600" cy="228600"/>
          </a:xfrm>
          <a:prstGeom prst="rect">
            <a:avLst/>
          </a:prstGeom>
        </p:spPr>
      </p:pic>
      <p:sp>
        <p:nvSpPr>
          <p:cNvPr id="16" name="Text 12"/>
          <p:cNvSpPr/>
          <p:nvPr/>
        </p:nvSpPr>
        <p:spPr>
          <a:xfrm>
            <a:off x="8540496" y="1883664"/>
            <a:ext cx="298094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~/.zshrc 란</a:t>
            </a:r>
            <a:endParaRPr lang="en-US" sz="1300" dirty="0"/>
          </a:p>
        </p:txBody>
      </p:sp>
      <p:sp>
        <p:nvSpPr>
          <p:cNvPr id="17" name="Text 13"/>
          <p:cNvSpPr/>
          <p:nvPr/>
        </p:nvSpPr>
        <p:spPr>
          <a:xfrm>
            <a:off x="8540496" y="2157984"/>
            <a:ext cx="2980944" cy="9966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터미널이 켜질 때마다 읽는 내 설정 파일. 여기 적으면 매번 자동 적용됩니다.</a:t>
            </a:r>
            <a:endParaRPr lang="en-US" sz="1100" dirty="0"/>
          </a:p>
        </p:txBody>
      </p:sp>
      <p:sp>
        <p:nvSpPr>
          <p:cNvPr id="18" name="Shape 14"/>
          <p:cNvSpPr/>
          <p:nvPr/>
        </p:nvSpPr>
        <p:spPr>
          <a:xfrm>
            <a:off x="7863840" y="3154680"/>
            <a:ext cx="457200" cy="457200"/>
          </a:xfrm>
          <a:prstGeom prst="ellipse">
            <a:avLst/>
          </a:prstGeom>
          <a:solidFill>
            <a:srgbClr val="F59E0B"/>
          </a:solidFill>
          <a:ln/>
        </p:spPr>
        <p:txBody>
          <a:bodyPr/>
          <a:p/>
        </p:txBody>
      </p:sp>
      <p:pic>
        <p:nvPicPr>
          <p:cNvPr id="19" name="Image 2" descr="/home/claude/icons/warn_white.png">    </p:cNvPr>
          <p:cNvPicPr>
            <a:picLocks noChangeAspect="1"/>
          </p:cNvPicPr>
          <p:nvPr/>
        </p:nvPicPr>
        <p:blipFill>
          <a:blip r:embed="rId3"/>
          <a:stretch>
            <a:fillRect/>
          </a:stretch>
        </p:blipFill>
        <p:spPr>
          <a:xfrm>
            <a:off x="7978140" y="3268980"/>
            <a:ext cx="228600" cy="228600"/>
          </a:xfrm>
          <a:prstGeom prst="rect">
            <a:avLst/>
          </a:prstGeom>
        </p:spPr>
      </p:pic>
      <p:sp>
        <p:nvSpPr>
          <p:cNvPr id="20" name="Text 15"/>
          <p:cNvSpPr/>
          <p:nvPr/>
        </p:nvSpPr>
        <p:spPr>
          <a:xfrm>
            <a:off x="8540496" y="3118104"/>
            <a:ext cx="298094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&gt;&gt; 를 &gt; 로 쓰지 않기</a:t>
            </a:r>
            <a:endParaRPr lang="en-US" sz="1300" dirty="0"/>
          </a:p>
        </p:txBody>
      </p:sp>
      <p:sp>
        <p:nvSpPr>
          <p:cNvPr id="21" name="Text 16"/>
          <p:cNvSpPr/>
          <p:nvPr/>
        </p:nvSpPr>
        <p:spPr>
          <a:xfrm>
            <a:off x="8540496" y="3392424"/>
            <a:ext cx="2980944" cy="9966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꺾쇠 두 개는 '추가', 한 개는 '덮어쓰기'. 한 개로 쓰면 기존 설정이 날아갑니다.</a:t>
            </a:r>
            <a:endParaRPr lang="en-US" sz="1100" dirty="0"/>
          </a:p>
        </p:txBody>
      </p:sp>
      <p:sp>
        <p:nvSpPr>
          <p:cNvPr id="22" name="Shape 17"/>
          <p:cNvSpPr/>
          <p:nvPr/>
        </p:nvSpPr>
        <p:spPr>
          <a:xfrm>
            <a:off x="658368" y="4983480"/>
            <a:ext cx="10872216" cy="777240"/>
          </a:xfrm>
          <a:prstGeom prst="roundRect">
            <a:avLst>
              <a:gd name="adj" fmla="val 11765"/>
            </a:avLst>
          </a:prstGeom>
          <a:solidFill>
            <a:srgbClr val="F5F4FC"/>
          </a:solidFill>
          <a:ln/>
        </p:spPr>
        <p:txBody>
          <a:bodyPr/>
          <a:p/>
        </p:txBody>
      </p:sp>
      <p:sp>
        <p:nvSpPr>
          <p:cNvPr id="23" name="Shape 18"/>
          <p:cNvSpPr/>
          <p:nvPr/>
        </p:nvSpPr>
        <p:spPr>
          <a:xfrm>
            <a:off x="877824" y="5134356"/>
            <a:ext cx="475488" cy="475488"/>
          </a:xfrm>
          <a:prstGeom prst="ellipse">
            <a:avLst/>
          </a:prstGeom>
          <a:solidFill>
            <a:srgbClr val="10B981"/>
          </a:solidFill>
          <a:ln/>
        </p:spPr>
        <p:txBody>
          <a:bodyPr/>
          <a:p/>
        </p:txBody>
      </p:sp>
      <p:pic>
        <p:nvPicPr>
          <p:cNvPr id="24" name="Image 3" descr="/home/claude/icons/check_white.png">    </p:cNvPr>
          <p:cNvPicPr>
            <a:picLocks noChangeAspect="1"/>
          </p:cNvPicPr>
          <p:nvPr/>
        </p:nvPicPr>
        <p:blipFill>
          <a:blip r:embed="rId4"/>
          <a:stretch>
            <a:fillRect/>
          </a:stretch>
        </p:blipFill>
        <p:spPr>
          <a:xfrm>
            <a:off x="996696" y="5253228"/>
            <a:ext cx="237744" cy="237744"/>
          </a:xfrm>
          <a:prstGeom prst="rect">
            <a:avLst/>
          </a:prstGeom>
        </p:spPr>
      </p:pic>
      <p:sp>
        <p:nvSpPr>
          <p:cNvPr id="25" name="Text 19"/>
          <p:cNvSpPr/>
          <p:nvPr/>
        </p:nvSpPr>
        <p:spPr>
          <a:xfrm>
            <a:off x="1554480" y="5074920"/>
            <a:ext cx="9738360" cy="594360"/>
          </a:xfrm>
          <a:prstGeom prst="rect">
            <a:avLst/>
          </a:prstGeom>
          <a:noFill/>
          <a:ln/>
        </p:spPr>
        <p:txBody>
          <a:bodyPr wrap="square" lIns="0" tIns="0" rIns="0" bIns="0" rtlCol="0" anchor="ctr"/>
          <a:lstStyle/>
          <a:p>
            <a:pPr indent="0" marL="0">
              <a:lnSpc>
                <a:spcPts val="1704"/>
              </a:lnSpc>
              <a:buNone/>
            </a:pPr>
            <a:r>
              <a:rPr lang="en-US" sz="1200" dirty="0">
                <a:solidFill>
                  <a:srgbClr val="3C3B57"/>
                </a:solidFill>
                <a:latin typeface="Malgun Gothic" pitchFamily="34" charset="0"/>
                <a:ea typeface="Malgun Gothic" pitchFamily="34" charset="-122"/>
                <a:cs typeface="Malgun Gothic" pitchFamily="34" charset="-120"/>
              </a:rPr>
              <a:t>echo $GEMINI_API_KEY 가 내 키를 출력하면 이 단계 통과. 이제 전원 Cline 연결로 갑니다.</a:t>
            </a:r>
            <a:endParaRPr lang="en-US" sz="1200" dirty="0"/>
          </a:p>
        </p:txBody>
      </p:sp>
      <p:sp>
        <p:nvSpPr>
          <p:cNvPr id="26" name="Text 20"/>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21</a:t>
            </a:r>
            <a:endParaRPr lang="en-US" sz="95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907792"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523744"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AI 도구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③ VS Code에 Cline 연결 (1) 확장 설치</a:t>
            </a:r>
          </a:p>
        </p:txBody>
      </p:sp>
      <p:pic>
        <p:nvPicPr>
          <p:cNvPr id="6" name="Picture 5" descr="vsc_ext_cline.png"/>
          <p:cNvPicPr>
            <a:picLocks noChangeAspect="1"/>
          </p:cNvPicPr>
          <p:nvPr/>
        </p:nvPicPr>
        <p:blipFill>
          <a:blip r:embed="rId3"/>
          <a:stretch>
            <a:fillRect/>
          </a:stretch>
        </p:blipFill>
        <p:spPr>
          <a:xfrm>
            <a:off x="658368" y="1691640"/>
            <a:ext cx="5120640" cy="2779776"/>
          </a:xfrm>
          <a:prstGeom prst="rect">
            <a:avLst/>
          </a:prstGeom>
        </p:spPr>
      </p:pic>
      <p:sp>
        <p:nvSpPr>
          <p:cNvPr id="7" name="TextBox 6"/>
          <p:cNvSpPr txBox="1"/>
          <p:nvPr/>
        </p:nvSpPr>
        <p:spPr>
          <a:xfrm>
            <a:off x="658368" y="4517136"/>
            <a:ext cx="512064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지난주와 같은 확장 메뉴. ① Cline 검색 → ② 맨 위 'Cline' (제작자 Cline ✓, 500만+ 설치) Install</a:t>
            </a:r>
          </a:p>
        </p:txBody>
      </p:sp>
      <p:pic>
        <p:nvPicPr>
          <p:cNvPr id="8" name="Picture 7" descr="cline_marketplace.png"/>
          <p:cNvPicPr>
            <a:picLocks noChangeAspect="1"/>
          </p:cNvPicPr>
          <p:nvPr/>
        </p:nvPicPr>
        <p:blipFill>
          <a:blip r:embed="rId7"/>
          <a:stretch>
            <a:fillRect/>
          </a:stretch>
        </p:blipFill>
        <p:spPr>
          <a:xfrm>
            <a:off x="658368" y="5029200"/>
            <a:ext cx="3657600" cy="1343025"/>
          </a:xfrm>
          <a:prstGeom prst="rect">
            <a:avLst/>
          </a:prstGeom>
        </p:spPr>
      </p:pic>
      <p:sp>
        <p:nvSpPr>
          <p:cNvPr id="9" name="TextBox 8"/>
          <p:cNvSpPr txBox="1"/>
          <p:nvPr/>
        </p:nvSpPr>
        <p:spPr>
          <a:xfrm>
            <a:off x="4407407" y="5074920"/>
            <a:ext cx="1554480" cy="914400"/>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같은 확장의 마켓플레이스 페이지 (marketplace.visualstudio.com)</a:t>
            </a:r>
          </a:p>
        </p:txBody>
      </p:sp>
      <p:sp>
        <p:nvSpPr>
          <p:cNvPr id="10" name="Oval 9"/>
          <p:cNvSpPr/>
          <p:nvPr/>
        </p:nvSpPr>
        <p:spPr>
          <a:xfrm>
            <a:off x="6144768" y="170992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144768" y="17099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12" name="TextBox 11"/>
          <p:cNvSpPr txBox="1"/>
          <p:nvPr/>
        </p:nvSpPr>
        <p:spPr>
          <a:xfrm>
            <a:off x="6711696" y="1691640"/>
            <a:ext cx="4818888"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확장 아이콘(Ctrl+Shift+X) → Cline 검색</a:t>
            </a:r>
          </a:p>
        </p:txBody>
      </p:sp>
      <p:sp>
        <p:nvSpPr>
          <p:cNvPr id="13" name="TextBox 12"/>
          <p:cNvSpPr txBox="1"/>
          <p:nvPr/>
        </p:nvSpPr>
        <p:spPr>
          <a:xfrm>
            <a:off x="6711696" y="1965960"/>
            <a:ext cx="4818888" cy="6858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비슷한 이름(Cline Chinese, Cline Pro…)이 많습니다. 제작자가 'Cline'이고 파란 체크가 있는 맨 위 항목이 정답.</a:t>
            </a:r>
          </a:p>
        </p:txBody>
      </p:sp>
      <p:sp>
        <p:nvSpPr>
          <p:cNvPr id="14" name="Oval 13"/>
          <p:cNvSpPr/>
          <p:nvPr/>
        </p:nvSpPr>
        <p:spPr>
          <a:xfrm>
            <a:off x="6144768" y="271576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44768" y="271576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16" name="TextBox 15"/>
          <p:cNvSpPr txBox="1"/>
          <p:nvPr/>
        </p:nvSpPr>
        <p:spPr>
          <a:xfrm>
            <a:off x="6711696" y="2697480"/>
            <a:ext cx="4818888"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Install → 왼쪽 세로 막대에 로봇 아이콘 생김</a:t>
            </a:r>
          </a:p>
        </p:txBody>
      </p:sp>
      <p:sp>
        <p:nvSpPr>
          <p:cNvPr id="17" name="TextBox 16"/>
          <p:cNvSpPr txBox="1"/>
          <p:nvPr/>
        </p:nvSpPr>
        <p:spPr>
          <a:xfrm>
            <a:off x="6711696" y="2971800"/>
            <a:ext cx="4818888" cy="5029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그 아이콘을 누르면 오른쪽(또는 사이드바)에 Cline 패널이 열립니다.</a:t>
            </a:r>
          </a:p>
        </p:txBody>
      </p:sp>
      <p:sp>
        <p:nvSpPr>
          <p:cNvPr id="18" name="Oval 17"/>
          <p:cNvSpPr/>
          <p:nvPr/>
        </p:nvSpPr>
        <p:spPr>
          <a:xfrm>
            <a:off x="6144768" y="3538728"/>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44768" y="35387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20" name="TextBox 19"/>
          <p:cNvSpPr txBox="1"/>
          <p:nvPr/>
        </p:nvSpPr>
        <p:spPr>
          <a:xfrm>
            <a:off x="6711696" y="3520440"/>
            <a:ext cx="4818888"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첫 화면: 계정 가입 말고 '내 키 사용'</a:t>
            </a:r>
          </a:p>
        </p:txBody>
      </p:sp>
      <p:sp>
        <p:nvSpPr>
          <p:cNvPr id="21" name="TextBox 20"/>
          <p:cNvSpPr txBox="1"/>
          <p:nvPr/>
        </p:nvSpPr>
        <p:spPr>
          <a:xfrm>
            <a:off x="6711696" y="3794760"/>
            <a:ext cx="4818888" cy="9601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처음 열면 Cline 계정으로 시작하라는 큰 버튼이 나옵니다. 우리는 그 아래 'Use your own API key' 를 누릅니다. 안 보이면 패널 오른쪽 위 톱니바퀴 ⚙(설정)로 들어가면 같은 화면입니다.</a:t>
            </a:r>
          </a:p>
        </p:txBody>
      </p:sp>
      <p:sp>
        <p:nvSpPr>
          <p:cNvPr id="22" name="Rounded Rectangle 21"/>
          <p:cNvSpPr/>
          <p:nvPr/>
        </p:nvSpPr>
        <p:spPr>
          <a:xfrm>
            <a:off x="6144768" y="4892040"/>
            <a:ext cx="5385816" cy="1371600"/>
          </a:xfrm>
          <a:prstGeom prst="roundRect">
            <a:avLst>
              <a:gd name="adj" fmla="val 8000"/>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64224" y="5340096"/>
            <a:ext cx="475488" cy="47548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image.png"/>
          <p:cNvPicPr>
            <a:picLocks noChangeAspect="1"/>
          </p:cNvPicPr>
          <p:nvPr/>
        </p:nvPicPr>
        <p:blipFill>
          <a:blip r:embed="rId5"/>
          <a:stretch>
            <a:fillRect/>
          </a:stretch>
        </p:blipFill>
        <p:spPr>
          <a:xfrm>
            <a:off x="6483096" y="5458968"/>
            <a:ext cx="237744" cy="237744"/>
          </a:xfrm>
          <a:prstGeom prst="rect">
            <a:avLst/>
          </a:prstGeom>
        </p:spPr>
      </p:pic>
      <p:sp>
        <p:nvSpPr>
          <p:cNvPr id="25" name="TextBox 24"/>
          <p:cNvSpPr txBox="1"/>
          <p:nvPr/>
        </p:nvSpPr>
        <p:spPr>
          <a:xfrm>
            <a:off x="7040880" y="4965192"/>
            <a:ext cx="4270248" cy="1225296"/>
          </a:xfrm>
          <a:prstGeom prst="rect">
            <a:avLst/>
          </a:prstGeom>
          <a:noFill/>
        </p:spPr>
        <p:txBody>
          <a:bodyPr wrap="square" lIns="0" rIns="0" tIns="0" bIns="0" anchor="ctr" rtlCol="0">
            <a:spAutoFit/>
          </a:bodyPr>
          <a:lstStyle/>
          <a:p>
            <a:pPr indent="0" marL="0" algn="l">
              <a:lnSpc>
                <a:spcPts val="1491"/>
              </a:lnSpc>
              <a:buNone/>
            </a:pPr>
            <a:r>
              <a:rPr lang="ko-KR" sz="1150" b="1">
                <a:solidFill>
                  <a:srgbClr val="1E1B3A"/>
                </a:solidFill>
                <a:latin typeface="Malgun Gothic" pitchFamily="34" charset="0"/>
                <a:ea typeface="Malgun Gothic" pitchFamily="34" charset="-122"/>
                <a:cs typeface="Malgun Gothic" pitchFamily="34" charset="-120"/>
              </a:rPr>
              <a:t>Cline이 뭐였죠?</a:t>
            </a:r>
          </a:p>
          <a:p>
            <a:pPr indent="0" marL="0" algn="l">
              <a:lnSpc>
                <a:spcPts val="1491"/>
              </a:lnSpc>
              <a:buNone/>
            </a:pPr>
            <a:r>
              <a:rPr lang="ko-KR" sz="1050" b="0">
                <a:solidFill>
                  <a:srgbClr val="3C3B57"/>
                </a:solidFill>
                <a:latin typeface="Malgun Gothic" pitchFamily="34" charset="0"/>
                <a:ea typeface="Malgun Gothic" pitchFamily="34" charset="-122"/>
                <a:cs typeface="Malgun Gothic" pitchFamily="34" charset="-120"/>
              </a:rPr>
              <a:t>VS Code 안에서 '이 파일 만들어 줘, 저 기능 고쳐 줘' 라고 말하면 실제로 파일을 만들고 고쳐 주는 코딩 에이전트입니다. 두뇌(AI 모델)는 따로 없어서, 다음 장에서 Gemini API 키를 꽂아 줘야 움직입니다.</a:t>
            </a:r>
          </a:p>
        </p:txBody>
      </p:sp>
      <p:sp>
        <p:nvSpPr>
          <p:cNvPr id="26"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907792"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523744"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AI 도구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③ VS Code에 Cline 연결 (2) Google Gemini 설정</a:t>
            </a:r>
          </a:p>
        </p:txBody>
      </p:sp>
      <p:sp>
        <p:nvSpPr>
          <p:cNvPr id="6" name="Rounded Rectangle 5"/>
          <p:cNvSpPr/>
          <p:nvPr/>
        </p:nvSpPr>
        <p:spPr>
          <a:xfrm>
            <a:off x="658368" y="1691640"/>
            <a:ext cx="5852160" cy="3337560"/>
          </a:xfrm>
          <a:prstGeom prst="roundRect">
            <a:avLst>
              <a:gd name="adj" fmla="val 3287"/>
            </a:avLst>
          </a:prstGeom>
          <a:solidFill>
            <a:srgbClr val="1F1F1F"/>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2688" y="1856232"/>
            <a:ext cx="3200400" cy="310896"/>
          </a:xfrm>
          <a:prstGeom prst="rect">
            <a:avLst/>
          </a:prstGeom>
          <a:noFill/>
        </p:spPr>
        <p:txBody>
          <a:bodyPr wrap="square" lIns="0" rIns="0" tIns="0" bIns="0" anchor="ctr" rtlCol="0">
            <a:spAutoFit/>
          </a:bodyPr>
          <a:lstStyle/>
          <a:p>
            <a:pPr indent="0" marL="0" algn="l">
              <a:buNone/>
            </a:pPr>
            <a:r>
              <a:rPr lang="ko-KR" sz="1200" b="1">
                <a:solidFill>
                  <a:srgbClr val="F3F3F3"/>
                </a:solidFill>
                <a:latin typeface="Malgun Gothic" pitchFamily="34" charset="0"/>
                <a:ea typeface="Malgun Gothic" pitchFamily="34" charset="-122"/>
                <a:cs typeface="Malgun Gothic" pitchFamily="34" charset="-120"/>
              </a:rPr>
              <a:t>⚙  Settings  ›  API Configuration</a:t>
            </a:r>
          </a:p>
        </p:txBody>
      </p:sp>
      <p:sp>
        <p:nvSpPr>
          <p:cNvPr id="8" name="Oval 7"/>
          <p:cNvSpPr/>
          <p:nvPr/>
        </p:nvSpPr>
        <p:spPr>
          <a:xfrm>
            <a:off x="6007608" y="1874520"/>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07608" y="1874520"/>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1</a:t>
            </a:r>
          </a:p>
        </p:txBody>
      </p:sp>
      <p:sp>
        <p:nvSpPr>
          <p:cNvPr id="10" name="TextBox 9"/>
          <p:cNvSpPr txBox="1"/>
          <p:nvPr/>
        </p:nvSpPr>
        <p:spPr>
          <a:xfrm>
            <a:off x="932688" y="2331720"/>
            <a:ext cx="5303520" cy="219456"/>
          </a:xfrm>
          <a:prstGeom prst="rect">
            <a:avLst/>
          </a:prstGeom>
          <a:noFill/>
        </p:spPr>
        <p:txBody>
          <a:bodyPr wrap="square" lIns="0" rIns="0" tIns="0" bIns="0" anchor="ctr" rtlCol="0">
            <a:spAutoFit/>
          </a:bodyPr>
          <a:lstStyle/>
          <a:p>
            <a:pPr indent="0" marL="0" algn="l">
              <a:buNone/>
            </a:pPr>
            <a:r>
              <a:rPr lang="ko-KR" sz="950" b="1">
                <a:solidFill>
                  <a:srgbClr val="CCCCCC"/>
                </a:solidFill>
                <a:latin typeface="Malgun Gothic" pitchFamily="34" charset="0"/>
                <a:ea typeface="Malgun Gothic" pitchFamily="34" charset="-122"/>
                <a:cs typeface="Malgun Gothic" pitchFamily="34" charset="-120"/>
              </a:rPr>
              <a:t>API Provider</a:t>
            </a:r>
          </a:p>
        </p:txBody>
      </p:sp>
      <p:sp>
        <p:nvSpPr>
          <p:cNvPr id="11" name="Rounded Rectangle 10"/>
          <p:cNvSpPr/>
          <p:nvPr/>
        </p:nvSpPr>
        <p:spPr>
          <a:xfrm>
            <a:off x="932688" y="2578608"/>
            <a:ext cx="4846320" cy="329184"/>
          </a:xfrm>
          <a:prstGeom prst="roundRect">
            <a:avLst>
              <a:gd name="adj" fmla="val 13888"/>
            </a:avLst>
          </a:prstGeom>
          <a:solidFill>
            <a:srgbClr val="313131"/>
          </a:solidFill>
          <a:ln w="9525">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42415" y="2578608"/>
            <a:ext cx="4480560" cy="329184"/>
          </a:xfrm>
          <a:prstGeom prst="rect">
            <a:avLst/>
          </a:prstGeom>
          <a:noFill/>
        </p:spPr>
        <p:txBody>
          <a:bodyPr wrap="square" lIns="0" rIns="0" tIns="0" bIns="0" anchor="ctr" rtlCol="0">
            <a:spAutoFit/>
          </a:bodyPr>
          <a:lstStyle/>
          <a:p>
            <a:pPr indent="0" marL="0" algn="l">
              <a:buNone/>
            </a:pPr>
            <a:r>
              <a:rPr lang="ko-KR" sz="1050" b="0">
                <a:solidFill>
                  <a:srgbClr val="F3F3F3"/>
                </a:solidFill>
                <a:latin typeface="Malgun Gothic" pitchFamily="34" charset="0"/>
                <a:ea typeface="Malgun Gothic" pitchFamily="34" charset="-122"/>
                <a:cs typeface="Malgun Gothic" pitchFamily="34" charset="-120"/>
              </a:rPr>
              <a:t>Google Gemini</a:t>
            </a:r>
          </a:p>
        </p:txBody>
      </p:sp>
      <p:sp>
        <p:nvSpPr>
          <p:cNvPr id="13" name="TextBox 12"/>
          <p:cNvSpPr txBox="1"/>
          <p:nvPr/>
        </p:nvSpPr>
        <p:spPr>
          <a:xfrm>
            <a:off x="5458968" y="2578608"/>
            <a:ext cx="274320" cy="329184"/>
          </a:xfrm>
          <a:prstGeom prst="rect">
            <a:avLst/>
          </a:prstGeom>
          <a:noFill/>
        </p:spPr>
        <p:txBody>
          <a:bodyPr wrap="square" lIns="0" rIns="0" tIns="0" bIns="0" anchor="ctr" rtlCol="0">
            <a:spAutoFit/>
          </a:bodyPr>
          <a:lstStyle/>
          <a:p>
            <a:pPr indent="0" marL="0" algn="ctr">
              <a:buNone/>
            </a:pPr>
            <a:r>
              <a:rPr lang="ko-KR" sz="1200" b="0">
                <a:solidFill>
                  <a:srgbClr val="CCCCCC"/>
                </a:solidFill>
                <a:latin typeface="Malgun Gothic" pitchFamily="34" charset="0"/>
                <a:ea typeface="Malgun Gothic" pitchFamily="34" charset="-122"/>
                <a:cs typeface="Malgun Gothic" pitchFamily="34" charset="-120"/>
              </a:rPr>
              <a:t>⌄</a:t>
            </a:r>
          </a:p>
        </p:txBody>
      </p:sp>
      <p:sp>
        <p:nvSpPr>
          <p:cNvPr id="14" name="Oval 13"/>
          <p:cNvSpPr/>
          <p:nvPr/>
        </p:nvSpPr>
        <p:spPr>
          <a:xfrm>
            <a:off x="6007608" y="2606039"/>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07608" y="2606039"/>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2</a:t>
            </a:r>
          </a:p>
        </p:txBody>
      </p:sp>
      <p:sp>
        <p:nvSpPr>
          <p:cNvPr id="16" name="TextBox 15"/>
          <p:cNvSpPr txBox="1"/>
          <p:nvPr/>
        </p:nvSpPr>
        <p:spPr>
          <a:xfrm>
            <a:off x="932688" y="3063240"/>
            <a:ext cx="5303520" cy="219456"/>
          </a:xfrm>
          <a:prstGeom prst="rect">
            <a:avLst/>
          </a:prstGeom>
          <a:noFill/>
        </p:spPr>
        <p:txBody>
          <a:bodyPr wrap="square" lIns="0" rIns="0" tIns="0" bIns="0" anchor="ctr" rtlCol="0">
            <a:spAutoFit/>
          </a:bodyPr>
          <a:lstStyle/>
          <a:p>
            <a:pPr indent="0" marL="0" algn="l">
              <a:buNone/>
            </a:pPr>
            <a:r>
              <a:rPr lang="ko-KR" sz="950" b="1">
                <a:solidFill>
                  <a:srgbClr val="CCCCCC"/>
                </a:solidFill>
                <a:latin typeface="Malgun Gothic" pitchFamily="34" charset="0"/>
                <a:ea typeface="Malgun Gothic" pitchFamily="34" charset="-122"/>
                <a:cs typeface="Malgun Gothic" pitchFamily="34" charset="-120"/>
              </a:rPr>
              <a:t>Gemini API Key</a:t>
            </a:r>
          </a:p>
        </p:txBody>
      </p:sp>
      <p:sp>
        <p:nvSpPr>
          <p:cNvPr id="17" name="Rounded Rectangle 16"/>
          <p:cNvSpPr/>
          <p:nvPr/>
        </p:nvSpPr>
        <p:spPr>
          <a:xfrm>
            <a:off x="932688" y="3310128"/>
            <a:ext cx="4846320" cy="329184"/>
          </a:xfrm>
          <a:prstGeom prst="roundRect">
            <a:avLst>
              <a:gd name="adj" fmla="val 13888"/>
            </a:avLst>
          </a:prstGeom>
          <a:solidFill>
            <a:srgbClr val="313131"/>
          </a:solidFill>
          <a:ln w="9525">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42415" y="3310128"/>
            <a:ext cx="4480560" cy="329184"/>
          </a:xfrm>
          <a:prstGeom prst="rect">
            <a:avLst/>
          </a:prstGeom>
          <a:noFill/>
        </p:spPr>
        <p:txBody>
          <a:bodyPr wrap="square" lIns="0" rIns="0" tIns="0" bIns="0" anchor="ctr" rtlCol="0">
            <a:spAutoFit/>
          </a:bodyPr>
          <a:lstStyle/>
          <a:p>
            <a:pPr indent="0" marL="0" algn="l">
              <a:buNone/>
            </a:pPr>
            <a:r>
              <a:rPr lang="ko-KR" sz="1050" b="0">
                <a:solidFill>
                  <a:srgbClr val="F3F3F3"/>
                </a:solidFill>
                <a:latin typeface="Consolas" pitchFamily="34" charset="0"/>
                <a:ea typeface="Consolas" pitchFamily="34" charset="-122"/>
                <a:cs typeface="Consolas" pitchFamily="34" charset="-120"/>
              </a:rPr>
              <a:t>AIzaSy••••••••••••••••••••••</a:t>
            </a:r>
          </a:p>
        </p:txBody>
      </p:sp>
      <p:sp>
        <p:nvSpPr>
          <p:cNvPr id="19" name="Oval 18"/>
          <p:cNvSpPr/>
          <p:nvPr/>
        </p:nvSpPr>
        <p:spPr>
          <a:xfrm>
            <a:off x="6007608" y="3337560"/>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007608" y="3337560"/>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3</a:t>
            </a:r>
          </a:p>
        </p:txBody>
      </p:sp>
      <p:sp>
        <p:nvSpPr>
          <p:cNvPr id="21" name="TextBox 20"/>
          <p:cNvSpPr txBox="1"/>
          <p:nvPr/>
        </p:nvSpPr>
        <p:spPr>
          <a:xfrm>
            <a:off x="932688" y="3666744"/>
            <a:ext cx="5303520" cy="219456"/>
          </a:xfrm>
          <a:prstGeom prst="rect">
            <a:avLst/>
          </a:prstGeom>
          <a:noFill/>
        </p:spPr>
        <p:txBody>
          <a:bodyPr wrap="square" lIns="0" rIns="0" tIns="0" bIns="0" anchor="ctr" rtlCol="0">
            <a:spAutoFit/>
          </a:bodyPr>
          <a:lstStyle/>
          <a:p>
            <a:pPr indent="0" marL="0" algn="l">
              <a:buNone/>
            </a:pPr>
            <a:r>
              <a:rPr lang="ko-KR" sz="800" b="0" i="1">
                <a:solidFill>
                  <a:srgbClr val="9A9A9A"/>
                </a:solidFill>
                <a:latin typeface="Malgun Gothic" pitchFamily="34" charset="0"/>
                <a:ea typeface="Malgun Gothic" pitchFamily="34" charset="-122"/>
                <a:cs typeface="Malgun Gothic" pitchFamily="34" charset="-120"/>
              </a:rPr>
              <a:t>This key is stored locally and only used to make API requests from this extension.</a:t>
            </a:r>
          </a:p>
        </p:txBody>
      </p:sp>
      <p:sp>
        <p:nvSpPr>
          <p:cNvPr id="22" name="TextBox 21"/>
          <p:cNvSpPr txBox="1"/>
          <p:nvPr/>
        </p:nvSpPr>
        <p:spPr>
          <a:xfrm>
            <a:off x="932688" y="3931920"/>
            <a:ext cx="5303520" cy="219456"/>
          </a:xfrm>
          <a:prstGeom prst="rect">
            <a:avLst/>
          </a:prstGeom>
          <a:noFill/>
        </p:spPr>
        <p:txBody>
          <a:bodyPr wrap="square" lIns="0" rIns="0" tIns="0" bIns="0" anchor="ctr" rtlCol="0">
            <a:spAutoFit/>
          </a:bodyPr>
          <a:lstStyle/>
          <a:p>
            <a:pPr indent="0" marL="0" algn="l">
              <a:buNone/>
            </a:pPr>
            <a:r>
              <a:rPr lang="ko-KR" sz="950" b="1">
                <a:solidFill>
                  <a:srgbClr val="CCCCCC"/>
                </a:solidFill>
                <a:latin typeface="Malgun Gothic" pitchFamily="34" charset="0"/>
                <a:ea typeface="Malgun Gothic" pitchFamily="34" charset="-122"/>
                <a:cs typeface="Malgun Gothic" pitchFamily="34" charset="-120"/>
              </a:rPr>
              <a:t>Model</a:t>
            </a:r>
          </a:p>
        </p:txBody>
      </p:sp>
      <p:sp>
        <p:nvSpPr>
          <p:cNvPr id="23" name="Rounded Rectangle 22"/>
          <p:cNvSpPr/>
          <p:nvPr/>
        </p:nvSpPr>
        <p:spPr>
          <a:xfrm>
            <a:off x="932688" y="4178808"/>
            <a:ext cx="4846320" cy="329184"/>
          </a:xfrm>
          <a:prstGeom prst="roundRect">
            <a:avLst>
              <a:gd name="adj" fmla="val 13888"/>
            </a:avLst>
          </a:prstGeom>
          <a:solidFill>
            <a:srgbClr val="313131"/>
          </a:solidFill>
          <a:ln w="9525">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42415" y="4178808"/>
            <a:ext cx="4480560" cy="329184"/>
          </a:xfrm>
          <a:prstGeom prst="rect">
            <a:avLst/>
          </a:prstGeom>
          <a:noFill/>
        </p:spPr>
        <p:txBody>
          <a:bodyPr wrap="square" lIns="0" rIns="0" tIns="0" bIns="0" anchor="ctr" rtlCol="0">
            <a:spAutoFit/>
          </a:bodyPr>
          <a:lstStyle/>
          <a:p>
            <a:pPr indent="0" marL="0" algn="l">
              <a:buNone/>
            </a:pPr>
            <a:r>
              <a:rPr lang="ko-KR" sz="1050" b="0">
                <a:solidFill>
                  <a:srgbClr val="F3F3F3"/>
                </a:solidFill>
                <a:latin typeface="Malgun Gothic" pitchFamily="34" charset="0"/>
                <a:ea typeface="Malgun Gothic" pitchFamily="34" charset="-122"/>
                <a:cs typeface="Malgun Gothic" pitchFamily="34" charset="-120"/>
              </a:rPr>
              <a:t>gemini-3.5-flash-lite  (수업 기본)</a:t>
            </a:r>
          </a:p>
        </p:txBody>
      </p:sp>
      <p:sp>
        <p:nvSpPr>
          <p:cNvPr id="25" name="TextBox 24"/>
          <p:cNvSpPr txBox="1"/>
          <p:nvPr/>
        </p:nvSpPr>
        <p:spPr>
          <a:xfrm>
            <a:off x="5458968" y="4178808"/>
            <a:ext cx="274320" cy="329184"/>
          </a:xfrm>
          <a:prstGeom prst="rect">
            <a:avLst/>
          </a:prstGeom>
          <a:noFill/>
        </p:spPr>
        <p:txBody>
          <a:bodyPr wrap="square" lIns="0" rIns="0" tIns="0" bIns="0" anchor="ctr" rtlCol="0">
            <a:spAutoFit/>
          </a:bodyPr>
          <a:lstStyle/>
          <a:p>
            <a:pPr indent="0" marL="0" algn="ctr">
              <a:buNone/>
            </a:pPr>
            <a:r>
              <a:rPr lang="ko-KR" sz="1200" b="0">
                <a:solidFill>
                  <a:srgbClr val="CCCCCC"/>
                </a:solidFill>
                <a:latin typeface="Malgun Gothic" pitchFamily="34" charset="0"/>
                <a:ea typeface="Malgun Gothic" pitchFamily="34" charset="-122"/>
                <a:cs typeface="Malgun Gothic" pitchFamily="34" charset="-120"/>
              </a:rPr>
              <a:t>⌄</a:t>
            </a:r>
          </a:p>
        </p:txBody>
      </p:sp>
      <p:sp>
        <p:nvSpPr>
          <p:cNvPr id="26" name="Oval 25"/>
          <p:cNvSpPr/>
          <p:nvPr/>
        </p:nvSpPr>
        <p:spPr>
          <a:xfrm>
            <a:off x="6007608" y="4206240"/>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007608" y="4206240"/>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4</a:t>
            </a:r>
          </a:p>
        </p:txBody>
      </p:sp>
      <p:sp>
        <p:nvSpPr>
          <p:cNvPr id="28" name="Rounded Rectangle 27"/>
          <p:cNvSpPr/>
          <p:nvPr/>
        </p:nvSpPr>
        <p:spPr>
          <a:xfrm>
            <a:off x="5276088" y="4572000"/>
            <a:ext cx="960120" cy="292608"/>
          </a:xfrm>
          <a:prstGeom prst="roundRect">
            <a:avLst>
              <a:gd name="adj" fmla="val 25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276088" y="4572000"/>
            <a:ext cx="960120" cy="292608"/>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Done</a:t>
            </a:r>
          </a:p>
        </p:txBody>
      </p:sp>
      <p:sp>
        <p:nvSpPr>
          <p:cNvPr id="30" name="Oval 29"/>
          <p:cNvSpPr/>
          <p:nvPr/>
        </p:nvSpPr>
        <p:spPr>
          <a:xfrm>
            <a:off x="5001768" y="4553712"/>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001768" y="4553712"/>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5</a:t>
            </a:r>
          </a:p>
        </p:txBody>
      </p:sp>
      <p:sp>
        <p:nvSpPr>
          <p:cNvPr id="32" name="TextBox 31"/>
          <p:cNvSpPr txBox="1"/>
          <p:nvPr/>
        </p:nvSpPr>
        <p:spPr>
          <a:xfrm>
            <a:off x="658368" y="5084064"/>
            <a:ext cx="5852160" cy="41148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Cline 설정 패널 구성 요약 (실제 화면은 확장 설치 후 VS Code 안에서만 보임). 항목 이름은 Cline 공식 문서 기준: API Provider · Gemini API Key · Model</a:t>
            </a:r>
          </a:p>
        </p:txBody>
      </p:sp>
      <p:sp>
        <p:nvSpPr>
          <p:cNvPr id="33" name="Oval 32"/>
          <p:cNvSpPr/>
          <p:nvPr/>
        </p:nvSpPr>
        <p:spPr>
          <a:xfrm>
            <a:off x="6766560" y="170992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766560" y="17099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35" name="TextBox 34"/>
          <p:cNvSpPr txBox="1"/>
          <p:nvPr/>
        </p:nvSpPr>
        <p:spPr>
          <a:xfrm>
            <a:off x="7333488" y="1691640"/>
            <a:ext cx="419709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Cline 패널 오른쪽 위 톱니바퀴 ⚙</a:t>
            </a:r>
          </a:p>
        </p:txBody>
      </p:sp>
      <p:sp>
        <p:nvSpPr>
          <p:cNvPr id="36" name="TextBox 35"/>
          <p:cNvSpPr txBox="1"/>
          <p:nvPr/>
        </p:nvSpPr>
        <p:spPr>
          <a:xfrm>
            <a:off x="7333488" y="1965960"/>
            <a:ext cx="4197096" cy="36576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설정 화면이 열립니다.</a:t>
            </a:r>
          </a:p>
        </p:txBody>
      </p:sp>
      <p:sp>
        <p:nvSpPr>
          <p:cNvPr id="37" name="Oval 36"/>
          <p:cNvSpPr/>
          <p:nvPr/>
        </p:nvSpPr>
        <p:spPr>
          <a:xfrm>
            <a:off x="6766560" y="239572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766560" y="23957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39" name="TextBox 38"/>
          <p:cNvSpPr txBox="1"/>
          <p:nvPr/>
        </p:nvSpPr>
        <p:spPr>
          <a:xfrm>
            <a:off x="7333488" y="2377440"/>
            <a:ext cx="419709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API Provider → 'Google Gemini'</a:t>
            </a:r>
          </a:p>
        </p:txBody>
      </p:sp>
      <p:sp>
        <p:nvSpPr>
          <p:cNvPr id="40" name="TextBox 39"/>
          <p:cNvSpPr txBox="1"/>
          <p:nvPr/>
        </p:nvSpPr>
        <p:spPr>
          <a:xfrm>
            <a:off x="7333488" y="2651760"/>
            <a:ext cx="4197096" cy="54864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목록이 깁니다(Anthropic, OpenAI, OpenRouter…). Google Gemini를 고르세요. 'Vertex'가 붙은 건 아닙니다.</a:t>
            </a:r>
          </a:p>
        </p:txBody>
      </p:sp>
      <p:sp>
        <p:nvSpPr>
          <p:cNvPr id="41" name="Oval 40"/>
          <p:cNvSpPr/>
          <p:nvPr/>
        </p:nvSpPr>
        <p:spPr>
          <a:xfrm>
            <a:off x="6766560" y="3264408"/>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766560" y="326440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43" name="TextBox 42"/>
          <p:cNvSpPr txBox="1"/>
          <p:nvPr/>
        </p:nvSpPr>
        <p:spPr>
          <a:xfrm>
            <a:off x="7333488" y="3246120"/>
            <a:ext cx="419709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Gemini API Key 칸에 키 붙여넣기</a:t>
            </a:r>
          </a:p>
        </p:txBody>
      </p:sp>
      <p:sp>
        <p:nvSpPr>
          <p:cNvPr id="44" name="TextBox 43"/>
          <p:cNvSpPr txBox="1"/>
          <p:nvPr/>
        </p:nvSpPr>
        <p:spPr>
          <a:xfrm>
            <a:off x="7333488" y="3520439"/>
            <a:ext cx="4197096" cy="50292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아까 복사한 AIza… 그대로. 앞뒤 공백·줄바꿈이 섞이지 않게.</a:t>
            </a:r>
          </a:p>
        </p:txBody>
      </p:sp>
      <p:sp>
        <p:nvSpPr>
          <p:cNvPr id="45" name="Oval 44"/>
          <p:cNvSpPr/>
          <p:nvPr/>
        </p:nvSpPr>
        <p:spPr>
          <a:xfrm>
            <a:off x="6766560" y="4087368"/>
            <a:ext cx="384048" cy="38404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766560" y="408736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4</a:t>
            </a:r>
          </a:p>
        </p:txBody>
      </p:sp>
      <p:sp>
        <p:nvSpPr>
          <p:cNvPr id="47" name="TextBox 46"/>
          <p:cNvSpPr txBox="1"/>
          <p:nvPr/>
        </p:nvSpPr>
        <p:spPr>
          <a:xfrm>
            <a:off x="7333488" y="4069080"/>
            <a:ext cx="419709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Model → gemini-3.5-flash-lite</a:t>
            </a:r>
          </a:p>
        </p:txBody>
      </p:sp>
      <p:sp>
        <p:nvSpPr>
          <p:cNvPr id="48" name="TextBox 47"/>
          <p:cNvSpPr txBox="1"/>
          <p:nvPr/>
        </p:nvSpPr>
        <p:spPr>
          <a:xfrm>
            <a:off x="7333488" y="4343400"/>
            <a:ext cx="4197096" cy="50292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수업 기본은 flash-lite. 무료 등급에서 분당 15회, 하루 500회로 가장 여유롭습니다. flash는 분당 5회, 하루 20회라 금방 바닥납니다.</a:t>
            </a:r>
          </a:p>
        </p:txBody>
      </p:sp>
      <p:sp>
        <p:nvSpPr>
          <p:cNvPr id="49" name="Oval 48"/>
          <p:cNvSpPr/>
          <p:nvPr/>
        </p:nvSpPr>
        <p:spPr>
          <a:xfrm>
            <a:off x="6766560" y="4910327"/>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766560" y="4910327"/>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5</a:t>
            </a:r>
          </a:p>
        </p:txBody>
      </p:sp>
      <p:sp>
        <p:nvSpPr>
          <p:cNvPr id="51" name="TextBox 50"/>
          <p:cNvSpPr txBox="1"/>
          <p:nvPr/>
        </p:nvSpPr>
        <p:spPr>
          <a:xfrm>
            <a:off x="7333488" y="4892040"/>
            <a:ext cx="419709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Done → 채팅창에 '안녕' 보내 보기</a:t>
            </a:r>
          </a:p>
        </p:txBody>
      </p:sp>
      <p:sp>
        <p:nvSpPr>
          <p:cNvPr id="52" name="TextBox 51"/>
          <p:cNvSpPr txBox="1"/>
          <p:nvPr/>
        </p:nvSpPr>
        <p:spPr>
          <a:xfrm>
            <a:off x="7333488" y="5166359"/>
            <a:ext cx="4197096" cy="50292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응답이 오면 연결 성공. 키 오류(401)면 키를 다시 복사해 붙이세요.</a:t>
            </a:r>
          </a:p>
        </p:txBody>
      </p:sp>
      <p:pic>
        <p:nvPicPr>
          <p:cNvPr id="53" name="Picture 52" descr="cline_input.png"/>
          <p:cNvPicPr>
            <a:picLocks noChangeAspect="1"/>
          </p:cNvPicPr>
          <p:nvPr/>
        </p:nvPicPr>
        <p:blipFill>
          <a:blip r:embed="rId3"/>
          <a:stretch>
            <a:fillRect/>
          </a:stretch>
        </p:blipFill>
        <p:spPr>
          <a:xfrm>
            <a:off x="658368" y="5486400"/>
            <a:ext cx="1269402" cy="914400"/>
          </a:xfrm>
          <a:prstGeom prst="rect">
            <a:avLst/>
          </a:prstGeom>
        </p:spPr>
      </p:pic>
      <p:sp>
        <p:nvSpPr>
          <p:cNvPr id="54" name="TextBox 53"/>
          <p:cNvSpPr txBox="1"/>
          <p:nvPr/>
        </p:nvSpPr>
        <p:spPr>
          <a:xfrm>
            <a:off x="2064930" y="5532120"/>
            <a:ext cx="4572000" cy="8229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Cline 채팅 입력창 (출처: Cline README). 맨 아래 이 칸에 '안녕' 을 치고 Enter. 지시문도 여기에 씁니다.</a:t>
            </a:r>
          </a:p>
        </p:txBody>
      </p:sp>
      <p:sp>
        <p:nvSpPr>
          <p:cNvPr id="55"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907792"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523744"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AI 도구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③ VS Code에 Cline 연결 (3) 수업 공용 엔진 Z.ai GLM-5.3</a:t>
            </a:r>
          </a:p>
        </p:txBody>
      </p:sp>
      <p:sp>
        <p:nvSpPr>
          <p:cNvPr id="6" name="Rounded Rectangle 5"/>
          <p:cNvSpPr/>
          <p:nvPr/>
        </p:nvSpPr>
        <p:spPr>
          <a:xfrm>
            <a:off x="658368" y="1691640"/>
            <a:ext cx="5440680" cy="1828800"/>
          </a:xfrm>
          <a:prstGeom prst="roundRect">
            <a:avLst>
              <a:gd name="adj" fmla="val 6000"/>
            </a:avLst>
          </a:prstGeom>
          <a:solidFill>
            <a:srgbClr val="EEF0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2688" y="1911095"/>
            <a:ext cx="4892040" cy="292608"/>
          </a:xfrm>
          <a:prstGeom prst="rect">
            <a:avLst/>
          </a:prstGeom>
          <a:noFill/>
        </p:spPr>
        <p:txBody>
          <a:bodyPr wrap="square" lIns="0" rIns="0" tIns="0" bIns="0" anchor="ctr" rtlCol="0">
            <a:spAutoFit/>
          </a:bodyPr>
          <a:lstStyle/>
          <a:p>
            <a:pPr indent="0" marL="0" algn="l">
              <a:buNone/>
            </a:pPr>
            <a:r>
              <a:rPr lang="ko-KR" sz="1350" b="1">
                <a:solidFill>
                  <a:srgbClr val="4338CA"/>
                </a:solidFill>
                <a:latin typeface="Malgun Gothic" pitchFamily="34" charset="0"/>
                <a:ea typeface="Malgun Gothic" pitchFamily="34" charset="-122"/>
                <a:cs typeface="Malgun Gothic" pitchFamily="34" charset="-120"/>
              </a:rPr>
              <a:t>Z.ai GLM Coding Plan이 뭔가요</a:t>
            </a:r>
          </a:p>
        </p:txBody>
      </p:sp>
      <p:sp>
        <p:nvSpPr>
          <p:cNvPr id="8" name="TextBox 7"/>
          <p:cNvSpPr txBox="1"/>
          <p:nvPr/>
        </p:nvSpPr>
        <p:spPr>
          <a:xfrm>
            <a:off x="932688" y="2295144"/>
            <a:ext cx="4892040" cy="1005840"/>
          </a:xfrm>
          <a:prstGeom prst="rect">
            <a:avLst/>
          </a:prstGeom>
          <a:noFill/>
        </p:spPr>
        <p:txBody>
          <a:bodyPr wrap="square" lIns="0" rIns="0" tIns="0" bIns="0" anchor="t" rtlCol="0">
            <a:spAutoFit/>
          </a:bodyPr>
          <a:lstStyle/>
          <a:p>
            <a:pPr indent="0" marL="0" algn="l">
              <a:lnSpc>
                <a:spcPts val="1450"/>
              </a:lnSpc>
              <a:spcAft>
                <a:spcPts val="600"/>
              </a:spcAft>
              <a:buNone/>
            </a:pPr>
            <a:r>
              <a:rPr lang="ko-KR" sz="1050" b="0">
                <a:solidFill>
                  <a:srgbClr val="3C3B57"/>
                </a:solidFill>
                <a:latin typeface="Malgun Gothic" pitchFamily="34" charset="0"/>
                <a:ea typeface="Malgun Gothic" pitchFamily="34" charset="-122"/>
                <a:cs typeface="Malgun Gothic" pitchFamily="34" charset="-120"/>
              </a:rPr>
              <a:t>중국 Zhipu(智谱)의 생성형 AI 'GLM' 시리즈. 최신 코딩 모델이 GLM-5.3입니다.</a:t>
            </a:r>
          </a:p>
          <a:p>
            <a:pPr indent="0" marL="0" algn="l">
              <a:lnSpc>
                <a:spcPts val="1450"/>
              </a:lnSpc>
              <a:spcAft>
                <a:spcPts val="600"/>
              </a:spcAft>
              <a:buNone/>
            </a:pPr>
            <a:r>
              <a:rPr lang="ko-KR" sz="1050" b="0">
                <a:solidFill>
                  <a:srgbClr val="3C3B57"/>
                </a:solidFill>
                <a:latin typeface="Malgun Gothic" pitchFamily="34" charset="0"/>
                <a:ea typeface="Malgun Gothic" pitchFamily="34" charset="-122"/>
                <a:cs typeface="Malgun Gothic" pitchFamily="34" charset="-120"/>
              </a:rPr>
              <a:t>Cline·Claude Code 같은 코딩 도구 전용 구독(GLM Coding Plan). 교수님이 Max 플랜을 구독해 두었고, 그 API 키를 수업 시간에 알려 드립니다.</a:t>
            </a:r>
          </a:p>
          <a:p>
            <a:pPr indent="0" marL="0" algn="l">
              <a:lnSpc>
                <a:spcPts val="1450"/>
              </a:lnSpc>
              <a:spcAft>
                <a:spcPts val="600"/>
              </a:spcAft>
              <a:buNone/>
            </a:pPr>
            <a:r>
              <a:rPr lang="ko-KR" sz="1050" b="0">
                <a:solidFill>
                  <a:srgbClr val="3C3B57"/>
                </a:solidFill>
                <a:latin typeface="Malgun Gothic" pitchFamily="34" charset="0"/>
                <a:ea typeface="Malgun Gothic" pitchFamily="34" charset="-122"/>
                <a:cs typeface="Malgun Gothic" pitchFamily="34" charset="-120"/>
              </a:rPr>
              <a:t>Cline에서는 'OpenAI 호환' 서버로 잡힙니다. 주소·키·모델 이름 세 칸만 채우면 끝(다음 장).</a:t>
            </a:r>
          </a:p>
        </p:txBody>
      </p:sp>
      <p:pic>
        <p:nvPicPr>
          <p:cNvPr id="9" name="Picture 8" descr="zai_docs_cline.png"/>
          <p:cNvPicPr>
            <a:picLocks noChangeAspect="1"/>
          </p:cNvPicPr>
          <p:nvPr/>
        </p:nvPicPr>
        <p:blipFill>
          <a:blip r:embed="rId3"/>
          <a:stretch>
            <a:fillRect/>
          </a:stretch>
        </p:blipFill>
        <p:spPr>
          <a:xfrm>
            <a:off x="658368" y="3639312"/>
            <a:ext cx="3657600" cy="2024292"/>
          </a:xfrm>
          <a:prstGeom prst="rect">
            <a:avLst/>
          </a:prstGeom>
        </p:spPr>
      </p:pic>
      <p:sp>
        <p:nvSpPr>
          <p:cNvPr id="10" name="TextBox 9"/>
          <p:cNvSpPr txBox="1"/>
          <p:nvPr/>
        </p:nvSpPr>
        <p:spPr>
          <a:xfrm>
            <a:off x="4453128" y="3639312"/>
            <a:ext cx="1645920" cy="201168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Z.ai 공식 문서의 Cline 설정 안내 (docs.z.ai, 2026년 8월). 번호 ②~⑤는 다음 장의 단계. 문서 예시는 glm-5.2지만 수업은 glm-5.3 (5.2로 써도 5.3으로 연결됨).</a:t>
            </a:r>
          </a:p>
        </p:txBody>
      </p:sp>
      <p:sp>
        <p:nvSpPr>
          <p:cNvPr id="11" name="Oval 10"/>
          <p:cNvSpPr/>
          <p:nvPr/>
        </p:nvSpPr>
        <p:spPr>
          <a:xfrm>
            <a:off x="6400800" y="1728216"/>
            <a:ext cx="457200" cy="45720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png"/>
          <p:cNvPicPr>
            <a:picLocks noChangeAspect="1"/>
          </p:cNvPicPr>
          <p:nvPr/>
        </p:nvPicPr>
        <p:blipFill>
          <a:blip r:embed="rId4"/>
          <a:stretch>
            <a:fillRect/>
          </a:stretch>
        </p:blipFill>
        <p:spPr>
          <a:xfrm>
            <a:off x="6515100" y="1842516"/>
            <a:ext cx="228600" cy="228600"/>
          </a:xfrm>
          <a:prstGeom prst="rect">
            <a:avLst/>
          </a:prstGeom>
        </p:spPr>
      </p:pic>
      <p:sp>
        <p:nvSpPr>
          <p:cNvPr id="13" name="TextBox 12"/>
          <p:cNvSpPr txBox="1"/>
          <p:nvPr/>
        </p:nvSpPr>
        <p:spPr>
          <a:xfrm>
            <a:off x="7077456" y="1691640"/>
            <a:ext cx="4462272" cy="274320"/>
          </a:xfrm>
          <a:prstGeom prst="rect">
            <a:avLst/>
          </a:prstGeom>
          <a:noFill/>
        </p:spPr>
        <p:txBody>
          <a:bodyPr wrap="square" lIns="0" rIns="0" tIns="0" bIns="0" anchor="ctr" rtlCol="0">
            <a:spAutoFit/>
          </a:bodyPr>
          <a:lstStyle/>
          <a:p>
            <a:pPr indent="0" marL="0" algn="l">
              <a:buNone/>
            </a:pPr>
            <a:r>
              <a:rPr lang="ko-KR" sz="1350" b="1">
                <a:solidFill>
                  <a:srgbClr val="1E1B3A"/>
                </a:solidFill>
                <a:latin typeface="Malgun Gothic" pitchFamily="34" charset="0"/>
                <a:ea typeface="Malgun Gothic" pitchFamily="34" charset="-122"/>
                <a:cs typeface="Malgun Gothic" pitchFamily="34" charset="-120"/>
              </a:rPr>
              <a:t>공용 키는 수업용입니다</a:t>
            </a:r>
          </a:p>
        </p:txBody>
      </p:sp>
      <p:sp>
        <p:nvSpPr>
          <p:cNvPr id="14" name="TextBox 13"/>
          <p:cNvSpPr txBox="1"/>
          <p:nvPr/>
        </p:nvSpPr>
        <p:spPr>
          <a:xfrm>
            <a:off x="7077456" y="1965960"/>
            <a:ext cx="4462272" cy="868680"/>
          </a:xfrm>
          <a:prstGeom prst="rect">
            <a:avLst/>
          </a:prstGeom>
          <a:noFill/>
        </p:spPr>
        <p:txBody>
          <a:bodyPr wrap="square" lIns="0" rIns="0" tIns="0" bIns="0" anchor="t" rtlCol="0">
            <a:spAutoFit/>
          </a:bodyPr>
          <a:lstStyle/>
          <a:p>
            <a:pPr indent="0" marL="0" algn="l">
              <a:lnSpc>
                <a:spcPts val="1450"/>
              </a:lnSpc>
              <a:buNone/>
            </a:pPr>
            <a:r>
              <a:rPr lang="ko-KR" sz="1050" b="0">
                <a:solidFill>
                  <a:srgbClr val="3C3B57"/>
                </a:solidFill>
                <a:latin typeface="Malgun Gothic" pitchFamily="34" charset="0"/>
                <a:ea typeface="Malgun Gothic" pitchFamily="34" charset="-122"/>
                <a:cs typeface="Malgun Gothic" pitchFamily="34" charset="-120"/>
              </a:rPr>
              <a:t>채팅방·깃허브·블로그 어디에도 올리지 않습니다. 교수님 계정의 비밀번호와 같아서, 새면 반 전체 한도가 날아가고 계정이 막힐 수 있습니다. 학기가 끝나면 키는 폐기됩니다.</a:t>
            </a:r>
          </a:p>
        </p:txBody>
      </p:sp>
      <p:sp>
        <p:nvSpPr>
          <p:cNvPr id="15" name="Oval 14"/>
          <p:cNvSpPr/>
          <p:nvPr/>
        </p:nvSpPr>
        <p:spPr>
          <a:xfrm>
            <a:off x="6400800" y="2980944"/>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image.png"/>
          <p:cNvPicPr>
            <a:picLocks noChangeAspect="1"/>
          </p:cNvPicPr>
          <p:nvPr/>
        </p:nvPicPr>
        <p:blipFill>
          <a:blip r:embed="rId5"/>
          <a:stretch>
            <a:fillRect/>
          </a:stretch>
        </p:blipFill>
        <p:spPr>
          <a:xfrm>
            <a:off x="6515100" y="3095244"/>
            <a:ext cx="228600" cy="228600"/>
          </a:xfrm>
          <a:prstGeom prst="rect">
            <a:avLst/>
          </a:prstGeom>
        </p:spPr>
      </p:pic>
      <p:sp>
        <p:nvSpPr>
          <p:cNvPr id="17" name="TextBox 16"/>
          <p:cNvSpPr txBox="1"/>
          <p:nvPr/>
        </p:nvSpPr>
        <p:spPr>
          <a:xfrm>
            <a:off x="7077456" y="2944368"/>
            <a:ext cx="4462272" cy="274320"/>
          </a:xfrm>
          <a:prstGeom prst="rect">
            <a:avLst/>
          </a:prstGeom>
          <a:noFill/>
        </p:spPr>
        <p:txBody>
          <a:bodyPr wrap="square" lIns="0" rIns="0" tIns="0" bIns="0" anchor="ctr" rtlCol="0">
            <a:spAutoFit/>
          </a:bodyPr>
          <a:lstStyle/>
          <a:p>
            <a:pPr indent="0" marL="0" algn="l">
              <a:buNone/>
            </a:pPr>
            <a:r>
              <a:rPr lang="ko-KR" sz="1350" b="1">
                <a:solidFill>
                  <a:srgbClr val="1E1B3A"/>
                </a:solidFill>
                <a:latin typeface="Malgun Gothic" pitchFamily="34" charset="0"/>
                <a:ea typeface="Malgun Gothic" pitchFamily="34" charset="-122"/>
                <a:cs typeface="Malgun Gothic" pitchFamily="34" charset="-120"/>
              </a:rPr>
              <a:t>한도는 반 전체가 나눠 씁니다</a:t>
            </a:r>
          </a:p>
        </p:txBody>
      </p:sp>
      <p:sp>
        <p:nvSpPr>
          <p:cNvPr id="18" name="TextBox 17"/>
          <p:cNvSpPr txBox="1"/>
          <p:nvPr/>
        </p:nvSpPr>
        <p:spPr>
          <a:xfrm>
            <a:off x="7077456" y="3218688"/>
            <a:ext cx="4462272" cy="868680"/>
          </a:xfrm>
          <a:prstGeom prst="rect">
            <a:avLst/>
          </a:prstGeom>
          <a:noFill/>
        </p:spPr>
        <p:txBody>
          <a:bodyPr wrap="square" lIns="0" rIns="0" tIns="0" bIns="0" anchor="t" rtlCol="0">
            <a:spAutoFit/>
          </a:bodyPr>
          <a:lstStyle/>
          <a:p>
            <a:pPr indent="0" marL="0" algn="l">
              <a:lnSpc>
                <a:spcPts val="1450"/>
              </a:lnSpc>
              <a:buNone/>
            </a:pPr>
            <a:r>
              <a:rPr lang="ko-KR" sz="1050" b="0">
                <a:solidFill>
                  <a:srgbClr val="3C3B57"/>
                </a:solidFill>
                <a:latin typeface="Malgun Gothic" pitchFamily="34" charset="0"/>
                <a:ea typeface="Malgun Gothic" pitchFamily="34" charset="-122"/>
                <a:cs typeface="Malgun Gothic" pitchFamily="34" charset="-120"/>
              </a:rPr>
              <a:t>5시간 단위로 쓸 수 있는 양이 정해져 있고, 20명이 나눠 써도 1인당 지시 100번은 넘게 돌아갑니다. 단, 혼자 큰 작업을 돌리면 모두가 느려집니다. 지시는 작게.</a:t>
            </a:r>
          </a:p>
        </p:txBody>
      </p:sp>
      <p:sp>
        <p:nvSpPr>
          <p:cNvPr id="19" name="Oval 18"/>
          <p:cNvSpPr/>
          <p:nvPr/>
        </p:nvSpPr>
        <p:spPr>
          <a:xfrm>
            <a:off x="6400800" y="4233672"/>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xchange_white.png"/>
          <p:cNvPicPr>
            <a:picLocks noChangeAspect="1"/>
          </p:cNvPicPr>
          <p:nvPr/>
        </p:nvPicPr>
        <p:blipFill>
          <a:blip r:embed="rId6"/>
          <a:stretch>
            <a:fillRect/>
          </a:stretch>
        </p:blipFill>
        <p:spPr>
          <a:xfrm>
            <a:off x="6515100" y="4347972"/>
            <a:ext cx="228600" cy="228600"/>
          </a:xfrm>
          <a:prstGeom prst="rect">
            <a:avLst/>
          </a:prstGeom>
        </p:spPr>
      </p:pic>
      <p:sp>
        <p:nvSpPr>
          <p:cNvPr id="21" name="TextBox 20"/>
          <p:cNvSpPr txBox="1"/>
          <p:nvPr/>
        </p:nvSpPr>
        <p:spPr>
          <a:xfrm>
            <a:off x="7077456" y="4197096"/>
            <a:ext cx="4462272" cy="274320"/>
          </a:xfrm>
          <a:prstGeom prst="rect">
            <a:avLst/>
          </a:prstGeom>
          <a:noFill/>
        </p:spPr>
        <p:txBody>
          <a:bodyPr wrap="square" lIns="0" rIns="0" tIns="0" bIns="0" anchor="ctr" rtlCol="0">
            <a:spAutoFit/>
          </a:bodyPr>
          <a:lstStyle/>
          <a:p>
            <a:pPr indent="0" marL="0" algn="l">
              <a:buNone/>
            </a:pPr>
            <a:r>
              <a:rPr lang="ko-KR" sz="1350" b="1">
                <a:solidFill>
                  <a:srgbClr val="1E1B3A"/>
                </a:solidFill>
                <a:latin typeface="Malgun Gothic" pitchFamily="34" charset="0"/>
                <a:ea typeface="Malgun Gothic" pitchFamily="34" charset="-122"/>
                <a:cs typeface="Malgun Gothic" pitchFamily="34" charset="-120"/>
              </a:rPr>
              <a:t>'잠깐 기다리는 중'·1302가 뜨면</a:t>
            </a:r>
          </a:p>
        </p:txBody>
      </p:sp>
      <p:sp>
        <p:nvSpPr>
          <p:cNvPr id="22" name="TextBox 21"/>
          <p:cNvSpPr txBox="1"/>
          <p:nvPr/>
        </p:nvSpPr>
        <p:spPr>
          <a:xfrm>
            <a:off x="7077456" y="4471416"/>
            <a:ext cx="4462272" cy="868680"/>
          </a:xfrm>
          <a:prstGeom prst="rect">
            <a:avLst/>
          </a:prstGeom>
          <a:noFill/>
        </p:spPr>
        <p:txBody>
          <a:bodyPr wrap="square" lIns="0" rIns="0" tIns="0" bIns="0" anchor="t" rtlCol="0">
            <a:spAutoFit/>
          </a:bodyPr>
          <a:lstStyle/>
          <a:p>
            <a:pPr indent="0" marL="0" algn="l">
              <a:lnSpc>
                <a:spcPts val="1450"/>
              </a:lnSpc>
              <a:buNone/>
            </a:pPr>
            <a:r>
              <a:rPr lang="ko-KR" sz="1050" b="0">
                <a:solidFill>
                  <a:srgbClr val="3C3B57"/>
                </a:solidFill>
                <a:latin typeface="Malgun Gothic" pitchFamily="34" charset="0"/>
                <a:ea typeface="Malgun Gothic" pitchFamily="34" charset="-122"/>
                <a:cs typeface="Malgun Gothic" pitchFamily="34" charset="-120"/>
              </a:rPr>
              <a:t>동시에 여럿이 눌러 줄을 선 것입니다(한 번에 받는 요청 10개 남짓). Cline이 알아서 다시 시도하니 기다리면 되고, 계속 막히면 API Provider를 Google Gemini로 되돌려 내 키로 계속.</a:t>
            </a:r>
          </a:p>
        </p:txBody>
      </p:sp>
      <p:sp>
        <p:nvSpPr>
          <p:cNvPr id="23" name="Rounded Rectangle 22"/>
          <p:cNvSpPr/>
          <p:nvPr/>
        </p:nvSpPr>
        <p:spPr>
          <a:xfrm>
            <a:off x="658368" y="5742432"/>
            <a:ext cx="10872216" cy="658368"/>
          </a:xfrm>
          <a:prstGeom prst="roundRect">
            <a:avLst>
              <a:gd name="adj" fmla="val 13888"/>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77824" y="5833872"/>
            <a:ext cx="475488" cy="47548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image.png"/>
          <p:cNvPicPr>
            <a:picLocks noChangeAspect="1"/>
          </p:cNvPicPr>
          <p:nvPr/>
        </p:nvPicPr>
        <p:blipFill>
          <a:blip r:embed="rId7"/>
          <a:stretch>
            <a:fillRect/>
          </a:stretch>
        </p:blipFill>
        <p:spPr>
          <a:xfrm>
            <a:off x="996695" y="5952744"/>
            <a:ext cx="237744" cy="237744"/>
          </a:xfrm>
          <a:prstGeom prst="rect">
            <a:avLst/>
          </a:prstGeom>
        </p:spPr>
      </p:pic>
      <p:sp>
        <p:nvSpPr>
          <p:cNvPr id="26" name="TextBox 25"/>
          <p:cNvSpPr txBox="1"/>
          <p:nvPr/>
        </p:nvSpPr>
        <p:spPr>
          <a:xfrm>
            <a:off x="1554480" y="5815584"/>
            <a:ext cx="9756648" cy="512063"/>
          </a:xfrm>
          <a:prstGeom prst="rect">
            <a:avLst/>
          </a:prstGeom>
          <a:noFill/>
        </p:spPr>
        <p:txBody>
          <a:bodyPr wrap="square" lIns="0" rIns="0" tIns="0" bIns="0" anchor="ctr" rtlCol="0">
            <a:spAutoFit/>
          </a:bodyPr>
          <a:lstStyle/>
          <a:p>
            <a:pPr indent="0" marL="0" algn="l">
              <a:lnSpc>
                <a:spcPts val="1491"/>
              </a:lnSpc>
              <a:buNone/>
            </a:pPr>
            <a:r>
              <a:rPr lang="ko-KR" sz="1050" b="0">
                <a:solidFill>
                  <a:srgbClr val="3C3B57"/>
                </a:solidFill>
                <a:latin typeface="Malgun Gothic" pitchFamily="34" charset="0"/>
                <a:ea typeface="Malgun Gothic" pitchFamily="34" charset="-122"/>
                <a:cs typeface="Malgun Gothic" pitchFamily="34" charset="-120"/>
              </a:rPr>
              <a:t>언제 어느 엔진? 수업 시간 = 공용 Z.ai(glm-5.3), 집·과제 = 내 Gemini 키(무료, 하루 500회). 둘 다 등록해 두면 설정의 API Provider 드롭다운만 바꾸면 되고, 키는 Cline이 각각 기억합니다.</a:t>
            </a:r>
          </a:p>
        </p:txBody>
      </p:sp>
      <p:sp>
        <p:nvSpPr>
          <p:cNvPr id="27"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907792"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523744"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AI 도구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③ VS Code에 Cline 연결 (4) Z.ai 설정: 다섯 칸 채우기</a:t>
            </a:r>
          </a:p>
        </p:txBody>
      </p:sp>
      <p:sp>
        <p:nvSpPr>
          <p:cNvPr id="6" name="Rounded Rectangle 5"/>
          <p:cNvSpPr/>
          <p:nvPr/>
        </p:nvSpPr>
        <p:spPr>
          <a:xfrm>
            <a:off x="658368" y="1691640"/>
            <a:ext cx="5852160" cy="3931920"/>
          </a:xfrm>
          <a:prstGeom prst="roundRect">
            <a:avLst>
              <a:gd name="adj" fmla="val 2790"/>
            </a:avLst>
          </a:prstGeom>
          <a:solidFill>
            <a:srgbClr val="1F1F1F"/>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2688" y="1837944"/>
            <a:ext cx="3474720" cy="310896"/>
          </a:xfrm>
          <a:prstGeom prst="rect">
            <a:avLst/>
          </a:prstGeom>
          <a:noFill/>
        </p:spPr>
        <p:txBody>
          <a:bodyPr wrap="square" lIns="0" rIns="0" tIns="0" bIns="0" anchor="ctr" rtlCol="0">
            <a:spAutoFit/>
          </a:bodyPr>
          <a:lstStyle/>
          <a:p>
            <a:pPr indent="0" marL="0" algn="l">
              <a:buNone/>
            </a:pPr>
            <a:r>
              <a:rPr lang="ko-KR" sz="1200" b="1">
                <a:solidFill>
                  <a:srgbClr val="F3F3F3"/>
                </a:solidFill>
                <a:latin typeface="Malgun Gothic" pitchFamily="34" charset="0"/>
                <a:ea typeface="Malgun Gothic" pitchFamily="34" charset="-122"/>
                <a:cs typeface="Malgun Gothic" pitchFamily="34" charset="-120"/>
              </a:rPr>
              <a:t>⚙  Settings  ›  API Configuration</a:t>
            </a:r>
          </a:p>
        </p:txBody>
      </p:sp>
      <p:sp>
        <p:nvSpPr>
          <p:cNvPr id="8" name="Oval 7"/>
          <p:cNvSpPr/>
          <p:nvPr/>
        </p:nvSpPr>
        <p:spPr>
          <a:xfrm>
            <a:off x="6007608" y="1856232"/>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07608" y="1856232"/>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1</a:t>
            </a:r>
          </a:p>
        </p:txBody>
      </p:sp>
      <p:sp>
        <p:nvSpPr>
          <p:cNvPr id="10" name="TextBox 9"/>
          <p:cNvSpPr txBox="1"/>
          <p:nvPr/>
        </p:nvSpPr>
        <p:spPr>
          <a:xfrm>
            <a:off x="932688" y="2258568"/>
            <a:ext cx="5303520" cy="201168"/>
          </a:xfrm>
          <a:prstGeom prst="rect">
            <a:avLst/>
          </a:prstGeom>
          <a:noFill/>
        </p:spPr>
        <p:txBody>
          <a:bodyPr wrap="square" lIns="0" rIns="0" tIns="0" bIns="0" anchor="ctr" rtlCol="0">
            <a:spAutoFit/>
          </a:bodyPr>
          <a:lstStyle/>
          <a:p>
            <a:pPr indent="0" marL="0" algn="l">
              <a:buNone/>
            </a:pPr>
            <a:r>
              <a:rPr lang="ko-KR" sz="950" b="1">
                <a:solidFill>
                  <a:srgbClr val="CCCCCC"/>
                </a:solidFill>
                <a:latin typeface="Malgun Gothic" pitchFamily="34" charset="0"/>
                <a:ea typeface="Malgun Gothic" pitchFamily="34" charset="-122"/>
                <a:cs typeface="Malgun Gothic" pitchFamily="34" charset="-120"/>
              </a:rPr>
              <a:t>API Provider</a:t>
            </a:r>
          </a:p>
        </p:txBody>
      </p:sp>
      <p:sp>
        <p:nvSpPr>
          <p:cNvPr id="11" name="Rounded Rectangle 10"/>
          <p:cNvSpPr/>
          <p:nvPr/>
        </p:nvSpPr>
        <p:spPr>
          <a:xfrm>
            <a:off x="932688" y="2487168"/>
            <a:ext cx="4846320" cy="310896"/>
          </a:xfrm>
          <a:prstGeom prst="roundRect">
            <a:avLst>
              <a:gd name="adj" fmla="val 14705"/>
            </a:avLst>
          </a:prstGeom>
          <a:solidFill>
            <a:srgbClr val="313131"/>
          </a:solidFill>
          <a:ln w="9525">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42415" y="2487168"/>
            <a:ext cx="4480560" cy="310896"/>
          </a:xfrm>
          <a:prstGeom prst="rect">
            <a:avLst/>
          </a:prstGeom>
          <a:noFill/>
        </p:spPr>
        <p:txBody>
          <a:bodyPr wrap="square" lIns="0" rIns="0" tIns="0" bIns="0" anchor="ctr" rtlCol="0">
            <a:spAutoFit/>
          </a:bodyPr>
          <a:lstStyle/>
          <a:p>
            <a:pPr indent="0" marL="0" algn="l">
              <a:buNone/>
            </a:pPr>
            <a:r>
              <a:rPr lang="ko-KR" sz="1050" b="0">
                <a:solidFill>
                  <a:srgbClr val="F3F3F3"/>
                </a:solidFill>
                <a:latin typeface="Malgun Gothic" pitchFamily="34" charset="0"/>
                <a:ea typeface="Malgun Gothic" pitchFamily="34" charset="-122"/>
                <a:cs typeface="Malgun Gothic" pitchFamily="34" charset="-120"/>
              </a:rPr>
              <a:t>OpenAI Compatible</a:t>
            </a:r>
          </a:p>
        </p:txBody>
      </p:sp>
      <p:sp>
        <p:nvSpPr>
          <p:cNvPr id="13" name="TextBox 12"/>
          <p:cNvSpPr txBox="1"/>
          <p:nvPr/>
        </p:nvSpPr>
        <p:spPr>
          <a:xfrm>
            <a:off x="5458968" y="2487168"/>
            <a:ext cx="274320" cy="310896"/>
          </a:xfrm>
          <a:prstGeom prst="rect">
            <a:avLst/>
          </a:prstGeom>
          <a:noFill/>
        </p:spPr>
        <p:txBody>
          <a:bodyPr wrap="square" lIns="0" rIns="0" tIns="0" bIns="0" anchor="ctr" rtlCol="0">
            <a:spAutoFit/>
          </a:bodyPr>
          <a:lstStyle/>
          <a:p>
            <a:pPr indent="0" marL="0" algn="ctr">
              <a:buNone/>
            </a:pPr>
            <a:r>
              <a:rPr lang="ko-KR" sz="1200" b="0">
                <a:solidFill>
                  <a:srgbClr val="CCCCCC"/>
                </a:solidFill>
                <a:latin typeface="Malgun Gothic" pitchFamily="34" charset="0"/>
                <a:ea typeface="Malgun Gothic" pitchFamily="34" charset="-122"/>
                <a:cs typeface="Malgun Gothic" pitchFamily="34" charset="-120"/>
              </a:rPr>
              <a:t>⌄</a:t>
            </a:r>
          </a:p>
        </p:txBody>
      </p:sp>
      <p:sp>
        <p:nvSpPr>
          <p:cNvPr id="14" name="Oval 13"/>
          <p:cNvSpPr/>
          <p:nvPr/>
        </p:nvSpPr>
        <p:spPr>
          <a:xfrm>
            <a:off x="6007608" y="2505456"/>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07608" y="2505456"/>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2</a:t>
            </a:r>
          </a:p>
        </p:txBody>
      </p:sp>
      <p:sp>
        <p:nvSpPr>
          <p:cNvPr id="16" name="TextBox 15"/>
          <p:cNvSpPr txBox="1"/>
          <p:nvPr/>
        </p:nvSpPr>
        <p:spPr>
          <a:xfrm>
            <a:off x="932688" y="2916936"/>
            <a:ext cx="5303520" cy="201168"/>
          </a:xfrm>
          <a:prstGeom prst="rect">
            <a:avLst/>
          </a:prstGeom>
          <a:noFill/>
        </p:spPr>
        <p:txBody>
          <a:bodyPr wrap="square" lIns="0" rIns="0" tIns="0" bIns="0" anchor="ctr" rtlCol="0">
            <a:spAutoFit/>
          </a:bodyPr>
          <a:lstStyle/>
          <a:p>
            <a:pPr indent="0" marL="0" algn="l">
              <a:buNone/>
            </a:pPr>
            <a:r>
              <a:rPr lang="ko-KR" sz="950" b="1">
                <a:solidFill>
                  <a:srgbClr val="CCCCCC"/>
                </a:solidFill>
                <a:latin typeface="Malgun Gothic" pitchFamily="34" charset="0"/>
                <a:ea typeface="Malgun Gothic" pitchFamily="34" charset="-122"/>
                <a:cs typeface="Malgun Gothic" pitchFamily="34" charset="-120"/>
              </a:rPr>
              <a:t>Base URL</a:t>
            </a:r>
          </a:p>
        </p:txBody>
      </p:sp>
      <p:sp>
        <p:nvSpPr>
          <p:cNvPr id="17" name="Rounded Rectangle 16"/>
          <p:cNvSpPr/>
          <p:nvPr/>
        </p:nvSpPr>
        <p:spPr>
          <a:xfrm>
            <a:off x="932688" y="3145536"/>
            <a:ext cx="4846320" cy="310896"/>
          </a:xfrm>
          <a:prstGeom prst="roundRect">
            <a:avLst>
              <a:gd name="adj" fmla="val 14705"/>
            </a:avLst>
          </a:prstGeom>
          <a:solidFill>
            <a:srgbClr val="313131"/>
          </a:solidFill>
          <a:ln w="9525">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42415" y="3145536"/>
            <a:ext cx="4480560" cy="310896"/>
          </a:xfrm>
          <a:prstGeom prst="rect">
            <a:avLst/>
          </a:prstGeom>
          <a:noFill/>
        </p:spPr>
        <p:txBody>
          <a:bodyPr wrap="square" lIns="0" rIns="0" tIns="0" bIns="0" anchor="ctr" rtlCol="0">
            <a:spAutoFit/>
          </a:bodyPr>
          <a:lstStyle/>
          <a:p>
            <a:pPr indent="0" marL="0" algn="l">
              <a:buNone/>
            </a:pPr>
            <a:r>
              <a:rPr lang="ko-KR" sz="1050" b="0">
                <a:solidFill>
                  <a:srgbClr val="F3F3F3"/>
                </a:solidFill>
                <a:latin typeface="Consolas" pitchFamily="34" charset="0"/>
                <a:ea typeface="Consolas" pitchFamily="34" charset="-122"/>
                <a:cs typeface="Consolas" pitchFamily="34" charset="-120"/>
              </a:rPr>
              <a:t>https://api.z.ai/api/coding/paas/v4</a:t>
            </a:r>
          </a:p>
        </p:txBody>
      </p:sp>
      <p:sp>
        <p:nvSpPr>
          <p:cNvPr id="19" name="Oval 18"/>
          <p:cNvSpPr/>
          <p:nvPr/>
        </p:nvSpPr>
        <p:spPr>
          <a:xfrm>
            <a:off x="6007608" y="3163824"/>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007608" y="3163824"/>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3</a:t>
            </a:r>
          </a:p>
        </p:txBody>
      </p:sp>
      <p:sp>
        <p:nvSpPr>
          <p:cNvPr id="21" name="TextBox 20"/>
          <p:cNvSpPr txBox="1"/>
          <p:nvPr/>
        </p:nvSpPr>
        <p:spPr>
          <a:xfrm>
            <a:off x="932688" y="3575304"/>
            <a:ext cx="5303520" cy="201168"/>
          </a:xfrm>
          <a:prstGeom prst="rect">
            <a:avLst/>
          </a:prstGeom>
          <a:noFill/>
        </p:spPr>
        <p:txBody>
          <a:bodyPr wrap="square" lIns="0" rIns="0" tIns="0" bIns="0" anchor="ctr" rtlCol="0">
            <a:spAutoFit/>
          </a:bodyPr>
          <a:lstStyle/>
          <a:p>
            <a:pPr indent="0" marL="0" algn="l">
              <a:buNone/>
            </a:pPr>
            <a:r>
              <a:rPr lang="ko-KR" sz="950" b="1">
                <a:solidFill>
                  <a:srgbClr val="CCCCCC"/>
                </a:solidFill>
                <a:latin typeface="Malgun Gothic" pitchFamily="34" charset="0"/>
                <a:ea typeface="Malgun Gothic" pitchFamily="34" charset="-122"/>
                <a:cs typeface="Malgun Gothic" pitchFamily="34" charset="-120"/>
              </a:rPr>
              <a:t>API Key</a:t>
            </a:r>
          </a:p>
        </p:txBody>
      </p:sp>
      <p:sp>
        <p:nvSpPr>
          <p:cNvPr id="22" name="Rounded Rectangle 21"/>
          <p:cNvSpPr/>
          <p:nvPr/>
        </p:nvSpPr>
        <p:spPr>
          <a:xfrm>
            <a:off x="932688" y="3803904"/>
            <a:ext cx="4846320" cy="310896"/>
          </a:xfrm>
          <a:prstGeom prst="roundRect">
            <a:avLst>
              <a:gd name="adj" fmla="val 14705"/>
            </a:avLst>
          </a:prstGeom>
          <a:solidFill>
            <a:srgbClr val="313131"/>
          </a:solidFill>
          <a:ln w="9525">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42415" y="3803904"/>
            <a:ext cx="4480560" cy="310896"/>
          </a:xfrm>
          <a:prstGeom prst="rect">
            <a:avLst/>
          </a:prstGeom>
          <a:noFill/>
        </p:spPr>
        <p:txBody>
          <a:bodyPr wrap="square" lIns="0" rIns="0" tIns="0" bIns="0" anchor="ctr" rtlCol="0">
            <a:spAutoFit/>
          </a:bodyPr>
          <a:lstStyle/>
          <a:p>
            <a:pPr indent="0" marL="0" algn="l">
              <a:buNone/>
            </a:pPr>
            <a:r>
              <a:rPr lang="ko-KR" sz="1050" b="0">
                <a:solidFill>
                  <a:srgbClr val="F3F3F3"/>
                </a:solidFill>
                <a:latin typeface="Consolas" pitchFamily="34" charset="0"/>
                <a:ea typeface="Consolas" pitchFamily="34" charset="-122"/>
                <a:cs typeface="Consolas" pitchFamily="34" charset="-120"/>
              </a:rPr>
              <a:t>••••••••••••••••••••••••  (수업 공용 키)</a:t>
            </a:r>
          </a:p>
        </p:txBody>
      </p:sp>
      <p:sp>
        <p:nvSpPr>
          <p:cNvPr id="24" name="Oval 23"/>
          <p:cNvSpPr/>
          <p:nvPr/>
        </p:nvSpPr>
        <p:spPr>
          <a:xfrm>
            <a:off x="6007608" y="3822191"/>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007608" y="3822191"/>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4</a:t>
            </a:r>
          </a:p>
        </p:txBody>
      </p:sp>
      <p:sp>
        <p:nvSpPr>
          <p:cNvPr id="26" name="TextBox 25"/>
          <p:cNvSpPr txBox="1"/>
          <p:nvPr/>
        </p:nvSpPr>
        <p:spPr>
          <a:xfrm>
            <a:off x="932688" y="4233672"/>
            <a:ext cx="5303520" cy="201168"/>
          </a:xfrm>
          <a:prstGeom prst="rect">
            <a:avLst/>
          </a:prstGeom>
          <a:noFill/>
        </p:spPr>
        <p:txBody>
          <a:bodyPr wrap="square" lIns="0" rIns="0" tIns="0" bIns="0" anchor="ctr" rtlCol="0">
            <a:spAutoFit/>
          </a:bodyPr>
          <a:lstStyle/>
          <a:p>
            <a:pPr indent="0" marL="0" algn="l">
              <a:buNone/>
            </a:pPr>
            <a:r>
              <a:rPr lang="ko-KR" sz="950" b="1">
                <a:solidFill>
                  <a:srgbClr val="CCCCCC"/>
                </a:solidFill>
                <a:latin typeface="Malgun Gothic" pitchFamily="34" charset="0"/>
                <a:ea typeface="Malgun Gothic" pitchFamily="34" charset="-122"/>
                <a:cs typeface="Malgun Gothic" pitchFamily="34" charset="-120"/>
              </a:rPr>
              <a:t>Model</a:t>
            </a:r>
          </a:p>
        </p:txBody>
      </p:sp>
      <p:sp>
        <p:nvSpPr>
          <p:cNvPr id="27" name="Rounded Rectangle 26"/>
          <p:cNvSpPr/>
          <p:nvPr/>
        </p:nvSpPr>
        <p:spPr>
          <a:xfrm>
            <a:off x="932688" y="4462272"/>
            <a:ext cx="4846320" cy="310896"/>
          </a:xfrm>
          <a:prstGeom prst="roundRect">
            <a:avLst>
              <a:gd name="adj" fmla="val 14705"/>
            </a:avLst>
          </a:prstGeom>
          <a:solidFill>
            <a:srgbClr val="313131"/>
          </a:solidFill>
          <a:ln w="9525">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42415" y="4462272"/>
            <a:ext cx="4480560" cy="310896"/>
          </a:xfrm>
          <a:prstGeom prst="rect">
            <a:avLst/>
          </a:prstGeom>
          <a:noFill/>
        </p:spPr>
        <p:txBody>
          <a:bodyPr wrap="square" lIns="0" rIns="0" tIns="0" bIns="0" anchor="ctr" rtlCol="0">
            <a:spAutoFit/>
          </a:bodyPr>
          <a:lstStyle/>
          <a:p>
            <a:pPr indent="0" marL="0" algn="l">
              <a:buNone/>
            </a:pPr>
            <a:r>
              <a:rPr lang="ko-KR" sz="1050" b="0">
                <a:solidFill>
                  <a:srgbClr val="F3F3F3"/>
                </a:solidFill>
                <a:latin typeface="Consolas" pitchFamily="34" charset="0"/>
                <a:ea typeface="Consolas" pitchFamily="34" charset="-122"/>
                <a:cs typeface="Consolas" pitchFamily="34" charset="-120"/>
              </a:rPr>
              <a:t>glm-5.3</a:t>
            </a:r>
          </a:p>
        </p:txBody>
      </p:sp>
      <p:sp>
        <p:nvSpPr>
          <p:cNvPr id="29" name="Oval 28"/>
          <p:cNvSpPr/>
          <p:nvPr/>
        </p:nvSpPr>
        <p:spPr>
          <a:xfrm>
            <a:off x="6007608" y="4480560"/>
            <a:ext cx="274320" cy="27432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07608" y="4480560"/>
            <a:ext cx="274320" cy="274320"/>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5</a:t>
            </a:r>
          </a:p>
        </p:txBody>
      </p:sp>
      <p:sp>
        <p:nvSpPr>
          <p:cNvPr id="31" name="TextBox 30"/>
          <p:cNvSpPr txBox="1"/>
          <p:nvPr/>
        </p:nvSpPr>
        <p:spPr>
          <a:xfrm>
            <a:off x="932688" y="4910328"/>
            <a:ext cx="2011680" cy="201168"/>
          </a:xfrm>
          <a:prstGeom prst="rect">
            <a:avLst/>
          </a:prstGeom>
          <a:noFill/>
        </p:spPr>
        <p:txBody>
          <a:bodyPr wrap="square" lIns="0" rIns="0" tIns="0" bIns="0" anchor="ctr" rtlCol="0">
            <a:spAutoFit/>
          </a:bodyPr>
          <a:lstStyle/>
          <a:p>
            <a:pPr indent="0" marL="0" algn="l">
              <a:buNone/>
            </a:pPr>
            <a:r>
              <a:rPr lang="ko-KR" sz="950" b="1">
                <a:solidFill>
                  <a:srgbClr val="CCCCCC"/>
                </a:solidFill>
                <a:latin typeface="Malgun Gothic" pitchFamily="34" charset="0"/>
                <a:ea typeface="Malgun Gothic" pitchFamily="34" charset="-122"/>
                <a:cs typeface="Malgun Gothic" pitchFamily="34" charset="-120"/>
              </a:rPr>
              <a:t>Model Configuration  ▾</a:t>
            </a:r>
          </a:p>
        </p:txBody>
      </p:sp>
      <p:sp>
        <p:nvSpPr>
          <p:cNvPr id="32" name="Rounded Rectangle 31"/>
          <p:cNvSpPr/>
          <p:nvPr/>
        </p:nvSpPr>
        <p:spPr>
          <a:xfrm>
            <a:off x="969264" y="5166360"/>
            <a:ext cx="164592" cy="164592"/>
          </a:xfrm>
          <a:prstGeom prst="roundRect">
            <a:avLst>
              <a:gd name="adj" fmla="val 16666"/>
            </a:avLst>
          </a:prstGeom>
          <a:solidFill>
            <a:srgbClr val="313131"/>
          </a:solidFill>
          <a:ln w="9525">
            <a:solidFill>
              <a:srgbClr val="8A8A8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225295" y="5111496"/>
            <a:ext cx="3657600" cy="274320"/>
          </a:xfrm>
          <a:prstGeom prst="rect">
            <a:avLst/>
          </a:prstGeom>
          <a:noFill/>
        </p:spPr>
        <p:txBody>
          <a:bodyPr wrap="square" lIns="0" rIns="0" tIns="0" bIns="0" anchor="ctr" rtlCol="0">
            <a:spAutoFit/>
          </a:bodyPr>
          <a:lstStyle/>
          <a:p>
            <a:pPr indent="0" marL="0" algn="l">
              <a:buNone/>
            </a:pPr>
            <a:r>
              <a:rPr lang="ko-KR" sz="1000" b="0">
                <a:solidFill>
                  <a:srgbClr val="F3F3F3"/>
                </a:solidFill>
                <a:latin typeface="Malgun Gothic" pitchFamily="34" charset="0"/>
                <a:ea typeface="Malgun Gothic" pitchFamily="34" charset="-122"/>
                <a:cs typeface="Malgun Gothic" pitchFamily="34" charset="-120"/>
              </a:rPr>
              <a:t>Supports Images</a:t>
            </a:r>
            <a:r>
              <a:rPr lang="ko-KR" sz="950" b="0">
                <a:solidFill>
                  <a:srgbClr val="FDBA74"/>
                </a:solidFill>
                <a:latin typeface="Malgun Gothic" pitchFamily="34" charset="0"/>
                <a:ea typeface="Malgun Gothic" pitchFamily="34" charset="-122"/>
                <a:cs typeface="Malgun Gothic" pitchFamily="34" charset="-120"/>
              </a:rPr>
              <a:t>   ← 체크 해제(끄기)</a:t>
            </a:r>
          </a:p>
        </p:txBody>
      </p:sp>
      <p:sp>
        <p:nvSpPr>
          <p:cNvPr id="34" name="Rounded Rectangle 33"/>
          <p:cNvSpPr/>
          <p:nvPr/>
        </p:nvSpPr>
        <p:spPr>
          <a:xfrm>
            <a:off x="5276088" y="5202936"/>
            <a:ext cx="960120" cy="292608"/>
          </a:xfrm>
          <a:prstGeom prst="roundRect">
            <a:avLst>
              <a:gd name="adj" fmla="val 25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276088" y="5202936"/>
            <a:ext cx="960120" cy="292608"/>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Done</a:t>
            </a:r>
          </a:p>
        </p:txBody>
      </p:sp>
      <p:sp>
        <p:nvSpPr>
          <p:cNvPr id="36" name="TextBox 35"/>
          <p:cNvSpPr txBox="1"/>
          <p:nvPr/>
        </p:nvSpPr>
        <p:spPr>
          <a:xfrm>
            <a:off x="658368" y="5660136"/>
            <a:ext cx="5852160" cy="329184"/>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Cline 설정 패널 구성 요약(실제 화면은 확장 설치 후 VS Code 안에서만 보임). 항목 이름은 Cline 공식 문서(OpenAI Compatible 제공자)와 Z.ai 공식 문서 기준.</a:t>
            </a:r>
          </a:p>
        </p:txBody>
      </p:sp>
      <p:sp>
        <p:nvSpPr>
          <p:cNvPr id="37" name="Oval 36"/>
          <p:cNvSpPr/>
          <p:nvPr/>
        </p:nvSpPr>
        <p:spPr>
          <a:xfrm>
            <a:off x="6766560" y="170992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766560" y="17099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39" name="TextBox 38"/>
          <p:cNvSpPr txBox="1"/>
          <p:nvPr/>
        </p:nvSpPr>
        <p:spPr>
          <a:xfrm>
            <a:off x="7333488" y="1691640"/>
            <a:ext cx="419709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Cline 패널 오른쪽 위 톱니바퀴 ⚙</a:t>
            </a:r>
          </a:p>
        </p:txBody>
      </p:sp>
      <p:sp>
        <p:nvSpPr>
          <p:cNvPr id="40" name="TextBox 39"/>
          <p:cNvSpPr txBox="1"/>
          <p:nvPr/>
        </p:nvSpPr>
        <p:spPr>
          <a:xfrm>
            <a:off x="7333488" y="1965960"/>
            <a:ext cx="4197096" cy="36576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Gemini 때 들어갔던 그 설정 화면입니다.</a:t>
            </a:r>
          </a:p>
        </p:txBody>
      </p:sp>
      <p:sp>
        <p:nvSpPr>
          <p:cNvPr id="41" name="Oval 40"/>
          <p:cNvSpPr/>
          <p:nvPr/>
        </p:nvSpPr>
        <p:spPr>
          <a:xfrm>
            <a:off x="6766560" y="239572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766560" y="23957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43" name="TextBox 42"/>
          <p:cNvSpPr txBox="1"/>
          <p:nvPr/>
        </p:nvSpPr>
        <p:spPr>
          <a:xfrm>
            <a:off x="7333488" y="2377440"/>
            <a:ext cx="419709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API Provider → 'OpenAI Compatible'</a:t>
            </a:r>
          </a:p>
        </p:txBody>
      </p:sp>
      <p:sp>
        <p:nvSpPr>
          <p:cNvPr id="44" name="TextBox 43"/>
          <p:cNvSpPr txBox="1"/>
          <p:nvPr/>
        </p:nvSpPr>
        <p:spPr>
          <a:xfrm>
            <a:off x="7333488" y="2651760"/>
            <a:ext cx="4197096" cy="54864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'Z AI' 제공자는 고르지 마세요. 일반 과금 주소라 우리 키로는 1113 오류가 나고, 목록에 5.3도 없습니다.</a:t>
            </a:r>
          </a:p>
        </p:txBody>
      </p:sp>
      <p:sp>
        <p:nvSpPr>
          <p:cNvPr id="45" name="Oval 44"/>
          <p:cNvSpPr/>
          <p:nvPr/>
        </p:nvSpPr>
        <p:spPr>
          <a:xfrm>
            <a:off x="6766560" y="3264408"/>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766560" y="326440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47" name="TextBox 46"/>
          <p:cNvSpPr txBox="1"/>
          <p:nvPr/>
        </p:nvSpPr>
        <p:spPr>
          <a:xfrm>
            <a:off x="7333488" y="3246120"/>
            <a:ext cx="419709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Base URL → https://api.z.ai/api/coding/paas/v4</a:t>
            </a:r>
          </a:p>
        </p:txBody>
      </p:sp>
      <p:sp>
        <p:nvSpPr>
          <p:cNvPr id="48" name="TextBox 47"/>
          <p:cNvSpPr txBox="1"/>
          <p:nvPr/>
        </p:nvSpPr>
        <p:spPr>
          <a:xfrm>
            <a:off x="7333488" y="3520439"/>
            <a:ext cx="4197096" cy="50292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직접 치지 말고 복사해 붙이기. 끝에 슬래시나 공백이 붙지 않게.</a:t>
            </a:r>
          </a:p>
        </p:txBody>
      </p:sp>
      <p:sp>
        <p:nvSpPr>
          <p:cNvPr id="49" name="Oval 48"/>
          <p:cNvSpPr/>
          <p:nvPr/>
        </p:nvSpPr>
        <p:spPr>
          <a:xfrm>
            <a:off x="6766560" y="4087368"/>
            <a:ext cx="384048" cy="38404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766560" y="408736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4</a:t>
            </a:r>
          </a:p>
        </p:txBody>
      </p:sp>
      <p:sp>
        <p:nvSpPr>
          <p:cNvPr id="51" name="TextBox 50"/>
          <p:cNvSpPr txBox="1"/>
          <p:nvPr/>
        </p:nvSpPr>
        <p:spPr>
          <a:xfrm>
            <a:off x="7333488" y="4069080"/>
            <a:ext cx="419709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API Key → 수업 공용 키 붙여넣기</a:t>
            </a:r>
          </a:p>
        </p:txBody>
      </p:sp>
      <p:sp>
        <p:nvSpPr>
          <p:cNvPr id="52" name="TextBox 51"/>
          <p:cNvSpPr txBox="1"/>
          <p:nvPr/>
        </p:nvSpPr>
        <p:spPr>
          <a:xfrm>
            <a:off x="7333488" y="4343400"/>
            <a:ext cx="4197096" cy="50292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키는 수업 시간에 따로 알려 드립니다. 앞뒤 공백·줄바꿈 주의.</a:t>
            </a:r>
          </a:p>
        </p:txBody>
      </p:sp>
      <p:sp>
        <p:nvSpPr>
          <p:cNvPr id="53" name="Oval 52"/>
          <p:cNvSpPr/>
          <p:nvPr/>
        </p:nvSpPr>
        <p:spPr>
          <a:xfrm>
            <a:off x="6766560" y="4910327"/>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766560" y="4910327"/>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5</a:t>
            </a:r>
          </a:p>
        </p:txBody>
      </p:sp>
      <p:sp>
        <p:nvSpPr>
          <p:cNvPr id="55" name="TextBox 54"/>
          <p:cNvSpPr txBox="1"/>
          <p:nvPr/>
        </p:nvSpPr>
        <p:spPr>
          <a:xfrm>
            <a:off x="7333488" y="4892040"/>
            <a:ext cx="419709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Model → glm-5.3 직접 입력, Supports Images 끄기</a:t>
            </a:r>
          </a:p>
        </p:txBody>
      </p:sp>
      <p:sp>
        <p:nvSpPr>
          <p:cNvPr id="56" name="TextBox 55"/>
          <p:cNvSpPr txBox="1"/>
          <p:nvPr/>
        </p:nvSpPr>
        <p:spPr>
          <a:xfrm>
            <a:off x="7333488" y="5166359"/>
            <a:ext cx="4197096" cy="64008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소문자로 정확히. Model Configuration을 펼쳐 Supports Images 체크 해제 → Done → 채팅창에 '안녕'. 응답이 오면 성공.</a:t>
            </a:r>
          </a:p>
        </p:txBody>
      </p:sp>
      <p:sp>
        <p:nvSpPr>
          <p:cNvPr id="57" name="Rounded Rectangle 56"/>
          <p:cNvSpPr/>
          <p:nvPr/>
        </p:nvSpPr>
        <p:spPr>
          <a:xfrm>
            <a:off x="658368" y="5998464"/>
            <a:ext cx="10872216" cy="457200"/>
          </a:xfrm>
          <a:prstGeom prst="roundRect">
            <a:avLst>
              <a:gd name="adj" fmla="val 20000"/>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877824" y="5989320"/>
            <a:ext cx="475488" cy="47548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9" name="Picture 58" descr="image.png"/>
          <p:cNvPicPr>
            <a:picLocks noChangeAspect="1"/>
          </p:cNvPicPr>
          <p:nvPr/>
        </p:nvPicPr>
        <p:blipFill>
          <a:blip r:embed="rId3"/>
          <a:stretch>
            <a:fillRect/>
          </a:stretch>
        </p:blipFill>
        <p:spPr>
          <a:xfrm>
            <a:off x="996695" y="6108192"/>
            <a:ext cx="237744" cy="237744"/>
          </a:xfrm>
          <a:prstGeom prst="rect">
            <a:avLst/>
          </a:prstGeom>
        </p:spPr>
      </p:pic>
      <p:sp>
        <p:nvSpPr>
          <p:cNvPr id="60" name="TextBox 59"/>
          <p:cNvSpPr txBox="1"/>
          <p:nvPr/>
        </p:nvSpPr>
        <p:spPr>
          <a:xfrm>
            <a:off x="1554480" y="6071616"/>
            <a:ext cx="9756648" cy="310896"/>
          </a:xfrm>
          <a:prstGeom prst="rect">
            <a:avLst/>
          </a:prstGeom>
          <a:noFill/>
        </p:spPr>
        <p:txBody>
          <a:bodyPr wrap="square" lIns="0" rIns="0" tIns="0" bIns="0" anchor="ctr" rtlCol="0">
            <a:spAutoFit/>
          </a:bodyPr>
          <a:lstStyle/>
          <a:p>
            <a:pPr indent="0" marL="0" algn="l">
              <a:lnSpc>
                <a:spcPts val="1420"/>
              </a:lnSpc>
              <a:buNone/>
            </a:pPr>
            <a:r>
              <a:rPr lang="ko-KR" sz="1000" b="0">
                <a:solidFill>
                  <a:srgbClr val="3C3B57"/>
                </a:solidFill>
                <a:latin typeface="Malgun Gothic" pitchFamily="34" charset="0"/>
                <a:ea typeface="Malgun Gothic" pitchFamily="34" charset="-122"/>
                <a:cs typeface="Malgun Gothic" pitchFamily="34" charset="-120"/>
              </a:rPr>
              <a:t>안 될 때: 'Rate limit reached'·1302 = 동시 접속이 몰린 것 → Cline이 재시도, 기다리면 됨 | 401·'Invalid API key' = 키 또는 Base URL 다시 붙여넣기 | 계속 막히면 API Provider를 Google Gemini로 되돌리면 내 키로 바로 계속됩니다.</a:t>
            </a:r>
          </a:p>
        </p:txBody>
      </p:sp>
      <p:sp>
        <p:nvSpPr>
          <p:cNvPr id="61"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907792"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523744"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AI 도구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④ 첫 지시: 일부러 '작게' 시킵니다</a:t>
            </a:r>
          </a:p>
        </p:txBody>
      </p:sp>
      <p:sp>
        <p:nvSpPr>
          <p:cNvPr id="6" name="Rounded Rectangle 5"/>
          <p:cNvSpPr/>
          <p:nvPr/>
        </p:nvSpPr>
        <p:spPr>
          <a:xfrm>
            <a:off x="658368" y="1691640"/>
            <a:ext cx="10872216" cy="1417320"/>
          </a:xfrm>
          <a:prstGeom prst="roundRect">
            <a:avLst>
              <a:gd name="adj" fmla="val 7741"/>
            </a:avLst>
          </a:prstGeom>
          <a:solidFill>
            <a:srgbClr val="EEF0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14400" y="2148840"/>
            <a:ext cx="512064" cy="51206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mage.png"/>
          <p:cNvPicPr>
            <a:picLocks noChangeAspect="1"/>
          </p:cNvPicPr>
          <p:nvPr/>
        </p:nvPicPr>
        <p:blipFill>
          <a:blip r:embed="rId3"/>
          <a:stretch>
            <a:fillRect/>
          </a:stretch>
        </p:blipFill>
        <p:spPr>
          <a:xfrm>
            <a:off x="1042416" y="2276856"/>
            <a:ext cx="256032" cy="256032"/>
          </a:xfrm>
          <a:prstGeom prst="rect">
            <a:avLst/>
          </a:prstGeom>
        </p:spPr>
      </p:pic>
      <p:sp>
        <p:nvSpPr>
          <p:cNvPr id="9" name="TextBox 8"/>
          <p:cNvSpPr txBox="1"/>
          <p:nvPr/>
        </p:nvSpPr>
        <p:spPr>
          <a:xfrm>
            <a:off x="1618488" y="1810512"/>
            <a:ext cx="9592056" cy="310896"/>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Cline 채팅창에 보낼 지시문 (그대로 입력)</a:t>
            </a:r>
          </a:p>
        </p:txBody>
      </p:sp>
      <p:sp>
        <p:nvSpPr>
          <p:cNvPr id="10" name="TextBox 9"/>
          <p:cNvSpPr txBox="1"/>
          <p:nvPr/>
        </p:nvSpPr>
        <p:spPr>
          <a:xfrm>
            <a:off x="1618488" y="2157984"/>
            <a:ext cx="9592056" cy="822960"/>
          </a:xfrm>
          <a:prstGeom prst="rect">
            <a:avLst/>
          </a:prstGeom>
          <a:noFill/>
        </p:spPr>
        <p:txBody>
          <a:bodyPr wrap="square" lIns="0" rIns="0" tIns="0" bIns="0" anchor="t" rtlCol="0">
            <a:spAutoFit/>
          </a:bodyPr>
          <a:lstStyle/>
          <a:p>
            <a:pPr indent="0" marL="0" algn="l">
              <a:lnSpc>
                <a:spcPts val="2000"/>
              </a:lnSpc>
              <a:buNone/>
            </a:pPr>
            <a:r>
              <a:rPr lang="ko-KR" sz="1350" b="0">
                <a:solidFill>
                  <a:srgbClr val="4338CA"/>
                </a:solidFill>
                <a:latin typeface="Malgun Gothic" pitchFamily="34" charset="0"/>
                <a:ea typeface="Malgun Gothic" pitchFamily="34" charset="-122"/>
                <a:cs typeface="Malgun Gothic" pitchFamily="34" charset="-120"/>
              </a:rPr>
              <a:t>"temp.py 파일을 만들어 줘. 섭씨 온도를 화씨로 바꾸는 함수 c_to_f를 작성하고, 25도를 변환한 결과를 출력해."</a:t>
            </a:r>
          </a:p>
        </p:txBody>
      </p:sp>
      <p:sp>
        <p:nvSpPr>
          <p:cNvPr id="11" name="Rounded Rectangle 10"/>
          <p:cNvSpPr/>
          <p:nvPr/>
        </p:nvSpPr>
        <p:spPr>
          <a:xfrm>
            <a:off x="658368" y="3337560"/>
            <a:ext cx="3456432" cy="2377440"/>
          </a:xfrm>
          <a:prstGeom prst="roundRect">
            <a:avLst>
              <a:gd name="adj" fmla="val 3846"/>
            </a:avLst>
          </a:prstGeom>
          <a:solidFill>
            <a:srgbClr val="FFFFFF"/>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96112" y="3566160"/>
            <a:ext cx="512064" cy="51206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target_white.png"/>
          <p:cNvPicPr>
            <a:picLocks noChangeAspect="1"/>
          </p:cNvPicPr>
          <p:nvPr/>
        </p:nvPicPr>
        <p:blipFill>
          <a:blip r:embed="rId4"/>
          <a:stretch>
            <a:fillRect/>
          </a:stretch>
        </p:blipFill>
        <p:spPr>
          <a:xfrm>
            <a:off x="1024128" y="3694176"/>
            <a:ext cx="256032" cy="256032"/>
          </a:xfrm>
          <a:prstGeom prst="rect">
            <a:avLst/>
          </a:prstGeom>
        </p:spPr>
      </p:pic>
      <p:sp>
        <p:nvSpPr>
          <p:cNvPr id="14" name="TextBox 13"/>
          <p:cNvSpPr txBox="1"/>
          <p:nvPr/>
        </p:nvSpPr>
        <p:spPr>
          <a:xfrm>
            <a:off x="896112" y="4206240"/>
            <a:ext cx="2999232" cy="292608"/>
          </a:xfrm>
          <a:prstGeom prst="rect">
            <a:avLst/>
          </a:prstGeom>
          <a:noFill/>
        </p:spPr>
        <p:txBody>
          <a:bodyPr wrap="square" lIns="0" rIns="0" tIns="0" bIns="0" anchor="ctr" rtlCol="0">
            <a:spAutoFit/>
          </a:bodyPr>
          <a:lstStyle/>
          <a:p>
            <a:pPr indent="0" marL="0" algn="l">
              <a:buNone/>
            </a:pPr>
            <a:r>
              <a:rPr lang="ko-KR" sz="1250" b="1">
                <a:solidFill>
                  <a:srgbClr val="1E1B3A"/>
                </a:solidFill>
                <a:latin typeface="Malgun Gothic" pitchFamily="34" charset="0"/>
                <a:ea typeface="Malgun Gothic" pitchFamily="34" charset="-122"/>
                <a:cs typeface="Malgun Gothic" pitchFamily="34" charset="-120"/>
              </a:rPr>
              <a:t>왜 이렇게 '작게'?</a:t>
            </a:r>
          </a:p>
        </p:txBody>
      </p:sp>
      <p:sp>
        <p:nvSpPr>
          <p:cNvPr id="15" name="TextBox 14"/>
          <p:cNvSpPr txBox="1"/>
          <p:nvPr/>
        </p:nvSpPr>
        <p:spPr>
          <a:xfrm>
            <a:off x="896112" y="4526280"/>
            <a:ext cx="2999232" cy="868680"/>
          </a:xfrm>
          <a:prstGeom prst="rect">
            <a:avLst/>
          </a:prstGeom>
          <a:noFill/>
        </p:spPr>
        <p:txBody>
          <a:bodyPr wrap="square" lIns="0" rIns="0" tIns="0" bIns="0" anchor="t" rtlCol="0">
            <a:spAutoFit/>
          </a:bodyPr>
          <a:lstStyle/>
          <a:p>
            <a:pPr indent="0" marL="0" algn="l">
              <a:lnSpc>
                <a:spcPts val="1450"/>
              </a:lnSpc>
              <a:buNone/>
            </a:pPr>
            <a:r>
              <a:rPr lang="ko-KR" sz="1050" b="0">
                <a:solidFill>
                  <a:srgbClr val="3C3B57"/>
                </a:solidFill>
                <a:latin typeface="Malgun Gothic" pitchFamily="34" charset="0"/>
                <a:ea typeface="Malgun Gothic" pitchFamily="34" charset="-122"/>
                <a:cs typeface="Malgun Gothic" pitchFamily="34" charset="-120"/>
              </a:rPr>
              <a:t>결과를 눈으로 전부 확인할 수 있는 크기이기 때문입니다. 확인 못 할 크기로 시키는 것이 초보의 1번 실수입니다.</a:t>
            </a:r>
          </a:p>
        </p:txBody>
      </p:sp>
      <p:sp>
        <p:nvSpPr>
          <p:cNvPr id="16" name="Rounded Rectangle 15"/>
          <p:cNvSpPr/>
          <p:nvPr/>
        </p:nvSpPr>
        <p:spPr>
          <a:xfrm>
            <a:off x="4370831" y="3337560"/>
            <a:ext cx="3456432" cy="2377440"/>
          </a:xfrm>
          <a:prstGeom prst="roundRect">
            <a:avLst>
              <a:gd name="adj" fmla="val 3846"/>
            </a:avLst>
          </a:prstGeom>
          <a:solidFill>
            <a:srgbClr val="FFFFFF"/>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08575" y="3566160"/>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image.png"/>
          <p:cNvPicPr>
            <a:picLocks noChangeAspect="1"/>
          </p:cNvPicPr>
          <p:nvPr/>
        </p:nvPicPr>
        <p:blipFill>
          <a:blip r:embed="rId5"/>
          <a:stretch>
            <a:fillRect/>
          </a:stretch>
        </p:blipFill>
        <p:spPr>
          <a:xfrm>
            <a:off x="4736591" y="3694176"/>
            <a:ext cx="256032" cy="256032"/>
          </a:xfrm>
          <a:prstGeom prst="rect">
            <a:avLst/>
          </a:prstGeom>
        </p:spPr>
      </p:pic>
      <p:sp>
        <p:nvSpPr>
          <p:cNvPr id="19" name="TextBox 18"/>
          <p:cNvSpPr txBox="1"/>
          <p:nvPr/>
        </p:nvSpPr>
        <p:spPr>
          <a:xfrm>
            <a:off x="4608575" y="4206240"/>
            <a:ext cx="2999232" cy="292608"/>
          </a:xfrm>
          <a:prstGeom prst="rect">
            <a:avLst/>
          </a:prstGeom>
          <a:noFill/>
        </p:spPr>
        <p:txBody>
          <a:bodyPr wrap="square" lIns="0" rIns="0" tIns="0" bIns="0" anchor="ctr" rtlCol="0">
            <a:spAutoFit/>
          </a:bodyPr>
          <a:lstStyle/>
          <a:p>
            <a:pPr indent="0" marL="0" algn="l">
              <a:buNone/>
            </a:pPr>
            <a:r>
              <a:rPr lang="ko-KR" sz="1250" b="1">
                <a:solidFill>
                  <a:srgbClr val="1E1B3A"/>
                </a:solidFill>
                <a:latin typeface="Malgun Gothic" pitchFamily="34" charset="0"/>
                <a:ea typeface="Malgun Gothic" pitchFamily="34" charset="-122"/>
                <a:cs typeface="Malgun Gothic" pitchFamily="34" charset="-120"/>
              </a:rPr>
              <a:t>지시문에 들어간 세 가지</a:t>
            </a:r>
          </a:p>
        </p:txBody>
      </p:sp>
      <p:sp>
        <p:nvSpPr>
          <p:cNvPr id="20" name="TextBox 19"/>
          <p:cNvSpPr txBox="1"/>
          <p:nvPr/>
        </p:nvSpPr>
        <p:spPr>
          <a:xfrm>
            <a:off x="4608575" y="4526280"/>
            <a:ext cx="2999232" cy="868680"/>
          </a:xfrm>
          <a:prstGeom prst="rect">
            <a:avLst/>
          </a:prstGeom>
          <a:noFill/>
        </p:spPr>
        <p:txBody>
          <a:bodyPr wrap="square" lIns="0" rIns="0" tIns="0" bIns="0" anchor="t" rtlCol="0">
            <a:spAutoFit/>
          </a:bodyPr>
          <a:lstStyle/>
          <a:p>
            <a:pPr indent="0" marL="0" algn="l">
              <a:lnSpc>
                <a:spcPts val="1450"/>
              </a:lnSpc>
              <a:buNone/>
            </a:pPr>
            <a:r>
              <a:rPr lang="ko-KR" sz="1050" b="0">
                <a:solidFill>
                  <a:srgbClr val="3C3B57"/>
                </a:solidFill>
                <a:latin typeface="Malgun Gothic" pitchFamily="34" charset="0"/>
                <a:ea typeface="Malgun Gothic" pitchFamily="34" charset="-122"/>
                <a:cs typeface="Malgun Gothic" pitchFamily="34" charset="-120"/>
              </a:rPr>
              <a:t>만들 파일 이름(temp.py) · 만들 것(함수 c_to_f) · 확인 방법(25도 변환 출력). 좋은 지시의 최소 골격입니다.</a:t>
            </a:r>
          </a:p>
        </p:txBody>
      </p:sp>
      <p:sp>
        <p:nvSpPr>
          <p:cNvPr id="21" name="Rounded Rectangle 20"/>
          <p:cNvSpPr/>
          <p:nvPr/>
        </p:nvSpPr>
        <p:spPr>
          <a:xfrm>
            <a:off x="8083296" y="3337560"/>
            <a:ext cx="3456432" cy="2377440"/>
          </a:xfrm>
          <a:prstGeom prst="roundRect">
            <a:avLst>
              <a:gd name="adj" fmla="val 3846"/>
            </a:avLst>
          </a:prstGeom>
          <a:solidFill>
            <a:srgbClr val="FFFFFF"/>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ine_approve_cmd.png"/>
          <p:cNvPicPr>
            <a:picLocks noChangeAspect="1"/>
          </p:cNvPicPr>
          <p:nvPr/>
        </p:nvPicPr>
        <p:blipFill>
          <a:blip r:embed="rId6"/>
          <a:stretch>
            <a:fillRect/>
          </a:stretch>
        </p:blipFill>
        <p:spPr>
          <a:xfrm>
            <a:off x="8668512" y="3456432"/>
            <a:ext cx="2286000" cy="1880936"/>
          </a:xfrm>
          <a:prstGeom prst="rect">
            <a:avLst/>
          </a:prstGeom>
        </p:spPr>
      </p:pic>
      <p:sp>
        <p:nvSpPr>
          <p:cNvPr id="23" name="TextBox 22"/>
          <p:cNvSpPr txBox="1"/>
          <p:nvPr/>
        </p:nvSpPr>
        <p:spPr>
          <a:xfrm>
            <a:off x="8266175" y="5373944"/>
            <a:ext cx="3090672" cy="365760"/>
          </a:xfrm>
          <a:prstGeom prst="rect">
            <a:avLst/>
          </a:prstGeom>
          <a:noFill/>
        </p:spPr>
        <p:txBody>
          <a:bodyPr wrap="square" lIns="0" rIns="0" tIns="0" bIns="0" anchor="t" rtlCol="0">
            <a:spAutoFit/>
          </a:bodyPr>
          <a:lstStyle/>
          <a:p>
            <a:pPr indent="0" marL="0" algn="l">
              <a:lnSpc>
                <a:spcPts val="1200"/>
              </a:lnSpc>
              <a:buNone/>
            </a:pPr>
            <a:r>
              <a:rPr lang="ko-KR" sz="900" b="0">
                <a:solidFill>
                  <a:srgbClr val="6B7185"/>
                </a:solidFill>
                <a:latin typeface="Malgun Gothic" pitchFamily="34" charset="0"/>
                <a:ea typeface="Malgun Gothic" pitchFamily="34" charset="-122"/>
                <a:cs typeface="Malgun Gothic" pitchFamily="34" charset="-120"/>
              </a:rPr>
              <a:t>실행·수정 전에 이렇게 승인을 기다립니다. 내용을 읽고 승인하는 습관을 오늘부터 (출처: Cline README)</a:t>
            </a:r>
          </a:p>
        </p:txBody>
      </p:sp>
      <p:sp>
        <p:nvSpPr>
          <p:cNvPr id="24" name="Rounded Rectangle 23"/>
          <p:cNvSpPr/>
          <p:nvPr/>
        </p:nvSpPr>
        <p:spPr>
          <a:xfrm>
            <a:off x="658368" y="5852160"/>
            <a:ext cx="10872216" cy="548640"/>
          </a:xfrm>
          <a:prstGeom prst="roundRect">
            <a:avLst>
              <a:gd name="adj" fmla="val 16666"/>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77824" y="5888736"/>
            <a:ext cx="475488" cy="47548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image.png"/>
          <p:cNvPicPr>
            <a:picLocks noChangeAspect="1"/>
          </p:cNvPicPr>
          <p:nvPr/>
        </p:nvPicPr>
        <p:blipFill>
          <a:blip r:embed="rId7"/>
          <a:stretch>
            <a:fillRect/>
          </a:stretch>
        </p:blipFill>
        <p:spPr>
          <a:xfrm>
            <a:off x="996695" y="6007608"/>
            <a:ext cx="237744" cy="237744"/>
          </a:xfrm>
          <a:prstGeom prst="rect">
            <a:avLst/>
          </a:prstGeom>
        </p:spPr>
      </p:pic>
      <p:sp>
        <p:nvSpPr>
          <p:cNvPr id="27" name="TextBox 26"/>
          <p:cNvSpPr txBox="1"/>
          <p:nvPr/>
        </p:nvSpPr>
        <p:spPr>
          <a:xfrm>
            <a:off x="1554480" y="5925312"/>
            <a:ext cx="9756648" cy="402335"/>
          </a:xfrm>
          <a:prstGeom prst="rect">
            <a:avLst/>
          </a:prstGeom>
          <a:noFill/>
        </p:spPr>
        <p:txBody>
          <a:bodyPr wrap="square" lIns="0" rIns="0" tIns="0" bIns="0" anchor="ctr" rtlCol="0">
            <a:spAutoFit/>
          </a:bodyPr>
          <a:lstStyle/>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Cline이 'temp.py 를 만들겠다'며 내용을 보여 주면 → 읽고 승인(Save/Approve) → 파일이 생기면 성공. 다음 장에서 결과를 확인합니다.</a:t>
            </a:r>
          </a:p>
        </p:txBody>
      </p:sp>
      <p:sp>
        <p:nvSpPr>
          <p:cNvPr id="28"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txBody>
          <a:bodyPr/>
          <a:p/>
        </p:txBody>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⑤ 결과 확인: 바퀴를 끝까지 돌립니다</a:t>
            </a:r>
            <a:endParaRPr lang="en-US" sz="2600" dirty="0"/>
          </a:p>
        </p:txBody>
      </p:sp>
      <p:sp>
        <p:nvSpPr>
          <p:cNvPr id="6" name="Shape 3"/>
          <p:cNvSpPr/>
          <p:nvPr/>
        </p:nvSpPr>
        <p:spPr>
          <a:xfrm>
            <a:off x="658368" y="1828800"/>
            <a:ext cx="6126480" cy="3291840"/>
          </a:xfrm>
          <a:prstGeom prst="roundRect">
            <a:avLst>
              <a:gd name="adj" fmla="val 2778"/>
            </a:avLst>
          </a:prstGeom>
          <a:solidFill>
            <a:srgbClr val="1D1C3D"/>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658368" y="1828800"/>
            <a:ext cx="6126480" cy="329184"/>
          </a:xfrm>
          <a:prstGeom prst="roundRect">
            <a:avLst>
              <a:gd name="adj" fmla="val 27778"/>
            </a:avLst>
          </a:prstGeom>
          <a:solidFill>
            <a:srgbClr val="2A2856"/>
          </a:solidFill>
          <a:ln/>
        </p:spPr>
        <p:txBody>
          <a:bodyPr/>
          <a:p/>
        </p:txBody>
      </p:sp>
      <p:sp>
        <p:nvSpPr>
          <p:cNvPr id="8" name="Shape 5"/>
          <p:cNvSpPr/>
          <p:nvPr/>
        </p:nvSpPr>
        <p:spPr>
          <a:xfrm>
            <a:off x="658368" y="2011680"/>
            <a:ext cx="6126480" cy="146304"/>
          </a:xfrm>
          <a:prstGeom prst="rect">
            <a:avLst/>
          </a:prstGeom>
          <a:solidFill>
            <a:srgbClr val="2A2856"/>
          </a:solidFill>
          <a:ln/>
        </p:spPr>
        <p:txBody>
          <a:bodyPr/>
          <a:p/>
        </p:txBody>
      </p:sp>
      <p:sp>
        <p:nvSpPr>
          <p:cNvPr id="9" name="Shape 6"/>
          <p:cNvSpPr/>
          <p:nvPr/>
        </p:nvSpPr>
        <p:spPr>
          <a:xfrm>
            <a:off x="804672" y="1943100"/>
            <a:ext cx="100584" cy="100584"/>
          </a:xfrm>
          <a:prstGeom prst="ellipse">
            <a:avLst/>
          </a:prstGeom>
          <a:solidFill>
            <a:srgbClr val="FF5F56"/>
          </a:solidFill>
          <a:ln/>
        </p:spPr>
        <p:txBody>
          <a:bodyPr/>
          <a:p/>
        </p:txBody>
      </p:sp>
      <p:sp>
        <p:nvSpPr>
          <p:cNvPr id="10" name="Shape 7"/>
          <p:cNvSpPr/>
          <p:nvPr/>
        </p:nvSpPr>
        <p:spPr>
          <a:xfrm>
            <a:off x="987552" y="1943100"/>
            <a:ext cx="100584" cy="100584"/>
          </a:xfrm>
          <a:prstGeom prst="ellipse">
            <a:avLst/>
          </a:prstGeom>
          <a:solidFill>
            <a:srgbClr val="FFBD2E"/>
          </a:solidFill>
          <a:ln/>
        </p:spPr>
        <p:txBody>
          <a:bodyPr/>
          <a:p/>
        </p:txBody>
      </p:sp>
      <p:sp>
        <p:nvSpPr>
          <p:cNvPr id="11" name="Shape 8"/>
          <p:cNvSpPr/>
          <p:nvPr/>
        </p:nvSpPr>
        <p:spPr>
          <a:xfrm>
            <a:off x="1170432" y="1943100"/>
            <a:ext cx="100584" cy="100584"/>
          </a:xfrm>
          <a:prstGeom prst="ellipse">
            <a:avLst/>
          </a:prstGeom>
          <a:solidFill>
            <a:srgbClr val="27C93F"/>
          </a:solidFill>
          <a:ln/>
        </p:spPr>
        <p:txBody>
          <a:bodyPr/>
          <a:p/>
        </p:txBody>
      </p:sp>
      <p:sp>
        <p:nvSpPr>
          <p:cNvPr id="12" name="Text 9"/>
          <p:cNvSpPr/>
          <p:nvPr/>
        </p:nvSpPr>
        <p:spPr>
          <a:xfrm>
            <a:off x="1481328" y="1828800"/>
            <a:ext cx="4480560"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temp.py</a:t>
            </a:r>
            <a:endParaRPr lang="en-US" sz="1000" dirty="0"/>
          </a:p>
        </p:txBody>
      </p:sp>
      <p:sp>
        <p:nvSpPr>
          <p:cNvPr id="13" name="Text 10"/>
          <p:cNvSpPr/>
          <p:nvPr/>
        </p:nvSpPr>
        <p:spPr>
          <a:xfrm>
            <a:off x="877824" y="2249424"/>
            <a:ext cx="5705856" cy="2724912"/>
          </a:xfrm>
          <a:prstGeom prst="rect">
            <a:avLst/>
          </a:prstGeom>
          <a:noFill/>
          <a:ln/>
        </p:spPr>
        <p:txBody>
          <a:bodyPr wrap="square" lIns="0" tIns="0" rIns="0" bIns="0" rtlCol="0" anchor="t"/>
          <a:lstStyle/>
          <a:p>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AI가 만든 temp.py 예시 (여러분 것과 다를 수 있음)</a:t>
            </a:r>
            <a:endParaRPr lang="en-US" sz="1150" dirty="0"/>
          </a:p>
          <a:p>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def</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c_to_f</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c</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return</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c</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9</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5</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32</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endParaRPr lang="en-US" sz="1150" dirty="0"/>
          </a:p>
          <a:p>
            <a:pPr indent="0" marL="0">
              <a:lnSpc>
                <a:spcPts val="1748"/>
              </a:lnSpc>
              <a:buNone/>
            </a:pPr>
            <a:r>
              <a:rPr lang="en-US" sz="1150" dirty="0">
                <a:solidFill>
                  <a:srgbClr val="9CC4FF"/>
                </a:solidFill>
                <a:latin typeface="Consolas" pitchFamily="34" charset="0"/>
                <a:ea typeface="Consolas" pitchFamily="34" charset="-122"/>
                <a:cs typeface="Consolas" pitchFamily="34" charset="-120"/>
              </a:rPr>
              <a:t>print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c_to_f</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25</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endParaRPr lang="en-US" sz="1150" dirty="0"/>
          </a:p>
          <a:p>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터미널에서 실행</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python</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temp</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py</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 77.0</a:t>
            </a:r>
            <a:endParaRPr lang="en-US" sz="1150" dirty="0"/>
          </a:p>
        </p:txBody>
      </p:sp>
      <p:sp>
        <p:nvSpPr>
          <p:cNvPr id="14" name="Shape 11"/>
          <p:cNvSpPr/>
          <p:nvPr/>
        </p:nvSpPr>
        <p:spPr>
          <a:xfrm>
            <a:off x="7086600" y="1874520"/>
            <a:ext cx="457200" cy="457200"/>
          </a:xfrm>
          <a:prstGeom prst="ellipse">
            <a:avLst/>
          </a:prstGeom>
          <a:solidFill>
            <a:srgbClr val="10B981"/>
          </a:solidFill>
          <a:ln/>
        </p:spPr>
        <p:txBody>
          <a:bodyPr/>
          <a:p/>
        </p:txBody>
      </p:sp>
      <p:pic>
        <p:nvPicPr>
          <p:cNvPr id="15" name="Image 1" descr="/home/claude/icons/play_white.png">    </p:cNvPr>
          <p:cNvPicPr>
            <a:picLocks noChangeAspect="1"/>
          </p:cNvPicPr>
          <p:nvPr/>
        </p:nvPicPr>
        <p:blipFill>
          <a:blip r:embed="rId2"/>
          <a:stretch>
            <a:fillRect/>
          </a:stretch>
        </p:blipFill>
        <p:spPr>
          <a:xfrm>
            <a:off x="7200900" y="1988820"/>
            <a:ext cx="228600" cy="228600"/>
          </a:xfrm>
          <a:prstGeom prst="rect">
            <a:avLst/>
          </a:prstGeom>
        </p:spPr>
      </p:pic>
      <p:sp>
        <p:nvSpPr>
          <p:cNvPr id="16" name="Text 12"/>
          <p:cNvSpPr/>
          <p:nvPr/>
        </p:nvSpPr>
        <p:spPr>
          <a:xfrm>
            <a:off x="7763256" y="1837944"/>
            <a:ext cx="37581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1. 실행한다</a:t>
            </a:r>
            <a:endParaRPr lang="en-US" sz="1300" dirty="0"/>
          </a:p>
        </p:txBody>
      </p:sp>
      <p:sp>
        <p:nvSpPr>
          <p:cNvPr id="17" name="Text 13"/>
          <p:cNvSpPr/>
          <p:nvPr/>
        </p:nvSpPr>
        <p:spPr>
          <a:xfrm>
            <a:off x="7763256" y="2112264"/>
            <a:ext cx="3758184" cy="82296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python temp.py 로 77.0이 나오는지.</a:t>
            </a:r>
            <a:endParaRPr lang="en-US" sz="1080" dirty="0"/>
          </a:p>
        </p:txBody>
      </p:sp>
      <p:sp>
        <p:nvSpPr>
          <p:cNvPr id="18" name="Shape 14"/>
          <p:cNvSpPr/>
          <p:nvPr/>
        </p:nvSpPr>
        <p:spPr>
          <a:xfrm>
            <a:off x="7086600" y="2935224"/>
            <a:ext cx="457200" cy="457200"/>
          </a:xfrm>
          <a:prstGeom prst="ellipse">
            <a:avLst/>
          </a:prstGeom>
          <a:solidFill>
            <a:srgbClr val="4F46E5"/>
          </a:solidFill>
          <a:ln/>
        </p:spPr>
        <p:txBody>
          <a:bodyPr/>
          <a:p/>
        </p:txBody>
      </p:sp>
      <p:pic>
        <p:nvPicPr>
          <p:cNvPr id="19" name="Image 2" descr="/home/claude/icons/eye_white.png">    </p:cNvPr>
          <p:cNvPicPr>
            <a:picLocks noChangeAspect="1"/>
          </p:cNvPicPr>
          <p:nvPr/>
        </p:nvPicPr>
        <p:blipFill>
          <a:blip r:embed="rId3"/>
          <a:stretch>
            <a:fillRect/>
          </a:stretch>
        </p:blipFill>
        <p:spPr>
          <a:xfrm>
            <a:off x="7200900" y="3049524"/>
            <a:ext cx="228600" cy="228600"/>
          </a:xfrm>
          <a:prstGeom prst="rect">
            <a:avLst/>
          </a:prstGeom>
        </p:spPr>
      </p:pic>
      <p:sp>
        <p:nvSpPr>
          <p:cNvPr id="20" name="Text 15"/>
          <p:cNvSpPr/>
          <p:nvPr/>
        </p:nvSpPr>
        <p:spPr>
          <a:xfrm>
            <a:off x="7763256" y="2898648"/>
            <a:ext cx="37581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2. 코드를 읽는다</a:t>
            </a:r>
            <a:endParaRPr lang="en-US" sz="1300" dirty="0"/>
          </a:p>
        </p:txBody>
      </p:sp>
      <p:sp>
        <p:nvSpPr>
          <p:cNvPr id="21" name="Text 16"/>
          <p:cNvSpPr/>
          <p:nvPr/>
        </p:nvSpPr>
        <p:spPr>
          <a:xfrm>
            <a:off x="7763256" y="3172968"/>
            <a:ext cx="3758184" cy="82296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무슨 일을 하는지 설명할 수 있는가. 설명 못 하면 내 것이 아닙니다(1강 규칙 ②).</a:t>
            </a:r>
            <a:endParaRPr lang="en-US" sz="1080" dirty="0"/>
          </a:p>
        </p:txBody>
      </p:sp>
      <p:sp>
        <p:nvSpPr>
          <p:cNvPr id="22" name="Shape 17"/>
          <p:cNvSpPr/>
          <p:nvPr/>
        </p:nvSpPr>
        <p:spPr>
          <a:xfrm>
            <a:off x="7086600" y="3995928"/>
            <a:ext cx="457200" cy="457200"/>
          </a:xfrm>
          <a:prstGeom prst="ellipse">
            <a:avLst/>
          </a:prstGeom>
          <a:solidFill>
            <a:srgbClr val="F59E0B"/>
          </a:solidFill>
          <a:ln/>
        </p:spPr>
        <p:txBody>
          <a:bodyPr/>
          <a:p/>
        </p:txBody>
      </p:sp>
      <p:pic>
        <p:nvPicPr>
          <p:cNvPr id="23" name="Image 3" descr="/home/claude/icons/comments_white.png">    </p:cNvPr>
          <p:cNvPicPr>
            <a:picLocks noChangeAspect="1"/>
          </p:cNvPicPr>
          <p:nvPr/>
        </p:nvPicPr>
        <p:blipFill>
          <a:blip r:embed="rId4"/>
          <a:stretch>
            <a:fillRect/>
          </a:stretch>
        </p:blipFill>
        <p:spPr>
          <a:xfrm>
            <a:off x="7200900" y="4110228"/>
            <a:ext cx="228600" cy="228600"/>
          </a:xfrm>
          <a:prstGeom prst="rect">
            <a:avLst/>
          </a:prstGeom>
        </p:spPr>
      </p:pic>
      <p:sp>
        <p:nvSpPr>
          <p:cNvPr id="24" name="Text 18"/>
          <p:cNvSpPr/>
          <p:nvPr/>
        </p:nvSpPr>
        <p:spPr>
          <a:xfrm>
            <a:off x="7763256" y="3959352"/>
            <a:ext cx="37581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3. 다르면 말로 수정 지시</a:t>
            </a:r>
            <a:endParaRPr lang="en-US" sz="1300" dirty="0"/>
          </a:p>
        </p:txBody>
      </p:sp>
      <p:sp>
        <p:nvSpPr>
          <p:cNvPr id="25" name="Text 19"/>
          <p:cNvSpPr/>
          <p:nvPr/>
        </p:nvSpPr>
        <p:spPr>
          <a:xfrm>
            <a:off x="7763256" y="4233672"/>
            <a:ext cx="3758184" cy="82296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"소수점 한 자리로 반올림해 줘"처럼, 기대와 결과의 차이를 말로 정리해 다시 요청합니다.</a:t>
            </a:r>
            <a:endParaRPr lang="en-US" sz="1080" dirty="0"/>
          </a:p>
        </p:txBody>
      </p:sp>
      <p:sp>
        <p:nvSpPr>
          <p:cNvPr id="26" name="Shape 20"/>
          <p:cNvSpPr/>
          <p:nvPr/>
        </p:nvSpPr>
        <p:spPr>
          <a:xfrm>
            <a:off x="658368" y="5349240"/>
            <a:ext cx="10872216" cy="731520"/>
          </a:xfrm>
          <a:prstGeom prst="roundRect">
            <a:avLst>
              <a:gd name="adj" fmla="val 12500"/>
            </a:avLst>
          </a:prstGeom>
          <a:solidFill>
            <a:srgbClr val="F5F4FC"/>
          </a:solidFill>
          <a:ln/>
        </p:spPr>
        <p:txBody>
          <a:bodyPr/>
          <a:p/>
        </p:txBody>
      </p:sp>
      <p:sp>
        <p:nvSpPr>
          <p:cNvPr id="27" name="Shape 21"/>
          <p:cNvSpPr/>
          <p:nvPr/>
        </p:nvSpPr>
        <p:spPr>
          <a:xfrm>
            <a:off x="877824" y="5477256"/>
            <a:ext cx="475488" cy="475488"/>
          </a:xfrm>
          <a:prstGeom prst="ellipse">
            <a:avLst/>
          </a:prstGeom>
          <a:solidFill>
            <a:srgbClr val="14B8A6"/>
          </a:solidFill>
          <a:ln/>
        </p:spPr>
        <p:txBody>
          <a:bodyPr/>
          <a:p/>
        </p:txBody>
      </p:sp>
      <p:pic>
        <p:nvPicPr>
          <p:cNvPr id="28" name="Image 4" descr="/home/claude/icons/sync_white.png">    </p:cNvPr>
          <p:cNvPicPr>
            <a:picLocks noChangeAspect="1"/>
          </p:cNvPicPr>
          <p:nvPr/>
        </p:nvPicPr>
        <p:blipFill>
          <a:blip r:embed="rId5"/>
          <a:stretch>
            <a:fillRect/>
          </a:stretch>
        </p:blipFill>
        <p:spPr>
          <a:xfrm>
            <a:off x="996696" y="5596128"/>
            <a:ext cx="237744" cy="237744"/>
          </a:xfrm>
          <a:prstGeom prst="rect">
            <a:avLst/>
          </a:prstGeom>
        </p:spPr>
      </p:pic>
      <p:sp>
        <p:nvSpPr>
          <p:cNvPr id="29" name="Text 22"/>
          <p:cNvSpPr/>
          <p:nvPr/>
        </p:nvSpPr>
        <p:spPr>
          <a:xfrm>
            <a:off x="1554480" y="5440680"/>
            <a:ext cx="9738360" cy="548640"/>
          </a:xfrm>
          <a:prstGeom prst="rect">
            <a:avLst/>
          </a:prstGeom>
          <a:noFill/>
          <a:ln/>
        </p:spPr>
        <p:txBody>
          <a:bodyPr wrap="square" lIns="0" tIns="0" rIns="0" bIns="0" rtlCol="0" anchor="ctr"/>
          <a:lstStyle/>
          <a:p>
            <a:pPr indent="0" marL="0">
              <a:lnSpc>
                <a:spcPts val="1704"/>
              </a:lnSpc>
              <a:buNone/>
            </a:pPr>
            <a:r>
              <a:rPr lang="en-US" sz="1200" dirty="0">
                <a:solidFill>
                  <a:srgbClr val="3C3B57"/>
                </a:solidFill>
                <a:latin typeface="Malgun Gothic" pitchFamily="34" charset="0"/>
                <a:ea typeface="Malgun Gothic" pitchFamily="34" charset="-122"/>
                <a:cs typeface="Malgun Gothic" pitchFamily="34" charset="-120"/>
              </a:rPr>
              <a:t>지시 → 생성 → 확인 → 수정 지시. 2부에서 본 초소형 스프린트를 방금 여러분이 한 바퀴 돌렸습니다.</a:t>
            </a:r>
            <a:endParaRPr lang="en-US" sz="1200" dirty="0"/>
          </a:p>
        </p:txBody>
      </p:sp>
      <p:sp>
        <p:nvSpPr>
          <p:cNvPr id="30" name="Text 23"/>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txBody>
          <a:bodyPr/>
          <a:p/>
        </p:txBody>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잘 안 될 때: 네 가지 점검</a:t>
            </a:r>
            <a:endParaRPr lang="en-US" sz="2600" dirty="0"/>
          </a:p>
        </p:txBody>
      </p:sp>
      <p:sp>
        <p:nvSpPr>
          <p:cNvPr id="6" name="Shape 3"/>
          <p:cNvSpPr/>
          <p:nvPr/>
        </p:nvSpPr>
        <p:spPr>
          <a:xfrm>
            <a:off x="658368" y="18288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96112" y="2066544"/>
            <a:ext cx="512064" cy="512064"/>
          </a:xfrm>
          <a:prstGeom prst="ellipse">
            <a:avLst/>
          </a:prstGeom>
          <a:solidFill>
            <a:srgbClr val="FB7185"/>
          </a:solidFill>
          <a:ln/>
        </p:spPr>
        <p:txBody>
          <a:bodyPr/>
          <a:p/>
        </p:txBody>
      </p:sp>
      <p:pic>
        <p:nvPicPr>
          <p:cNvPr id="8" name="Image 1" descr="/home/claude/icons/key_white.png">    </p:cNvPr>
          <p:cNvPicPr>
            <a:picLocks noChangeAspect="1"/>
          </p:cNvPicPr>
          <p:nvPr/>
        </p:nvPicPr>
        <p:blipFill>
          <a:blip r:embed="rId2"/>
          <a:stretch>
            <a:fillRect/>
          </a:stretch>
        </p:blipFill>
        <p:spPr>
          <a:xfrm>
            <a:off x="1024128" y="2194560"/>
            <a:ext cx="256032" cy="256032"/>
          </a:xfrm>
          <a:prstGeom prst="rect">
            <a:avLst/>
          </a:prstGeom>
        </p:spPr>
      </p:pic>
      <p:sp>
        <p:nvSpPr>
          <p:cNvPr id="9" name="Text 5"/>
          <p:cNvSpPr/>
          <p:nvPr/>
        </p:nvSpPr>
        <p:spPr>
          <a:xfrm>
            <a:off x="896112" y="27066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키 오류 (401 · invalid)</a:t>
            </a:r>
            <a:endParaRPr lang="en-US" sz="1350" dirty="0"/>
          </a:p>
        </p:txBody>
      </p:sp>
      <p:sp>
        <p:nvSpPr>
          <p:cNvPr id="10" name="Text 6"/>
          <p:cNvSpPr/>
          <p:nvPr/>
        </p:nvSpPr>
        <p:spPr>
          <a:xfrm>
            <a:off x="896112" y="2999232"/>
            <a:ext cx="4850892" cy="5029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키를 다시 복사해 붙여넣기. 앞뒤 공백·줄바꿈이 섞였는지, 따옴표까지 복사했는지 확인. 환경변수를 고쳤다면 새 터미널과 VS Code 재시작.</a:t>
            </a:r>
            <a:endParaRPr lang="en-US" sz="1100" dirty="0"/>
          </a:p>
        </p:txBody>
      </p:sp>
      <p:sp>
        <p:nvSpPr>
          <p:cNvPr id="11" name="Shape 7"/>
          <p:cNvSpPr/>
          <p:nvPr/>
        </p:nvSpPr>
        <p:spPr>
          <a:xfrm>
            <a:off x="6222492" y="18288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Shape 8"/>
          <p:cNvSpPr/>
          <p:nvPr/>
        </p:nvSpPr>
        <p:spPr>
          <a:xfrm>
            <a:off x="6460236" y="2066544"/>
            <a:ext cx="512064" cy="512064"/>
          </a:xfrm>
          <a:prstGeom prst="ellipse">
            <a:avLst/>
          </a:prstGeom>
          <a:solidFill>
            <a:srgbClr val="F59E0B"/>
          </a:solidFill>
          <a:ln/>
        </p:spPr>
        <p:txBody>
          <a:bodyPr/>
          <a:p/>
        </p:txBody>
      </p:sp>
      <p:pic>
        <p:nvPicPr>
          <p:cNvPr id="13" name="Image 2" descr="/home/claude/icons/hourglass_white.png">    </p:cNvPr>
          <p:cNvPicPr>
            <a:picLocks noChangeAspect="1"/>
          </p:cNvPicPr>
          <p:nvPr/>
        </p:nvPicPr>
        <p:blipFill>
          <a:blip r:embed="rId3"/>
          <a:stretch>
            <a:fillRect/>
          </a:stretch>
        </p:blipFill>
        <p:spPr>
          <a:xfrm>
            <a:off x="6588252" y="2194560"/>
            <a:ext cx="256032" cy="256032"/>
          </a:xfrm>
          <a:prstGeom prst="rect">
            <a:avLst/>
          </a:prstGeom>
        </p:spPr>
      </p:pic>
      <p:sp>
        <p:nvSpPr>
          <p:cNvPr id="14" name="Text 9"/>
          <p:cNvSpPr/>
          <p:nvPr/>
        </p:nvSpPr>
        <p:spPr>
          <a:xfrm>
            <a:off x="6460236" y="27066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한도 초과 (429)</a:t>
            </a:r>
            <a:endParaRPr lang="en-US" sz="1350" dirty="0"/>
          </a:p>
        </p:txBody>
      </p:sp>
      <p:sp>
        <p:nvSpPr>
          <p:cNvPr id="15" name="Text 10"/>
          <p:cNvSpPr/>
          <p:nvPr/>
        </p:nvSpPr>
        <p:spPr>
          <a:xfrm>
            <a:off x="6460236" y="2999232"/>
            <a:ext cx="4850892" cy="5029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Gemini 무료 등급의 한도 초과입니다. 요금 문제가 아닙니다. 1분쯤 기다렸다 다시 시도하고, 계속 뜨면 Model을 gemini-3.5-flash-lite로 바꾸세요. 하루 한도(500회)를 다 썼다면 한국 시간 오후 4~5시에 풀립니다.</a:t>
            </a:r>
            <a:endParaRPr lang="en-US" sz="1100" dirty="0"/>
          </a:p>
        </p:txBody>
      </p:sp>
      <p:sp>
        <p:nvSpPr>
          <p:cNvPr id="16" name="Shape 11"/>
          <p:cNvSpPr/>
          <p:nvPr/>
        </p:nvSpPr>
        <p:spPr>
          <a:xfrm>
            <a:off x="658368" y="38862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7" name="Shape 12"/>
          <p:cNvSpPr/>
          <p:nvPr/>
        </p:nvSpPr>
        <p:spPr>
          <a:xfrm>
            <a:off x="896112" y="4123944"/>
            <a:ext cx="512064" cy="512064"/>
          </a:xfrm>
          <a:prstGeom prst="ellipse">
            <a:avLst/>
          </a:prstGeom>
          <a:solidFill>
            <a:srgbClr val="4F46E5"/>
          </a:solidFill>
          <a:ln/>
        </p:spPr>
        <p:txBody>
          <a:bodyPr/>
          <a:p/>
        </p:txBody>
      </p:sp>
      <p:pic>
        <p:nvPicPr>
          <p:cNvPr id="18" name="Image 3" descr="/home/claude/icons/sync_white.png">    </p:cNvPr>
          <p:cNvPicPr>
            <a:picLocks noChangeAspect="1"/>
          </p:cNvPicPr>
          <p:nvPr/>
        </p:nvPicPr>
        <p:blipFill>
          <a:blip r:embed="rId4"/>
          <a:stretch>
            <a:fillRect/>
          </a:stretch>
        </p:blipFill>
        <p:spPr>
          <a:xfrm>
            <a:off x="1024128" y="4251960"/>
            <a:ext cx="256032" cy="256032"/>
          </a:xfrm>
          <a:prstGeom prst="rect">
            <a:avLst/>
          </a:prstGeom>
        </p:spPr>
      </p:pic>
      <p:sp>
        <p:nvSpPr>
          <p:cNvPr id="19" name="Text 13"/>
          <p:cNvSpPr/>
          <p:nvPr/>
        </p:nvSpPr>
        <p:spPr>
          <a:xfrm>
            <a:off x="896112" y="47640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응답이 없음</a:t>
            </a:r>
            <a:endParaRPr lang="en-US" sz="1350" dirty="0"/>
          </a:p>
        </p:txBody>
      </p:sp>
      <p:sp>
        <p:nvSpPr>
          <p:cNvPr id="20" name="Text 14"/>
          <p:cNvSpPr/>
          <p:nvPr/>
        </p:nvSpPr>
        <p:spPr>
          <a:xfrm>
            <a:off x="896112" y="5056632"/>
            <a:ext cx="4850892" cy="5029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네트워크·방화벽 확인(교내 와이파이 이슈 가능), Cline 확장 재시작 또는 VS Code 재시작.</a:t>
            </a:r>
            <a:endParaRPr lang="en-US" sz="1100" dirty="0"/>
          </a:p>
        </p:txBody>
      </p:sp>
      <p:sp>
        <p:nvSpPr>
          <p:cNvPr id="21" name="Shape 15"/>
          <p:cNvSpPr/>
          <p:nvPr/>
        </p:nvSpPr>
        <p:spPr>
          <a:xfrm>
            <a:off x="6222492" y="38862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2" name="Shape 16"/>
          <p:cNvSpPr/>
          <p:nvPr/>
        </p:nvSpPr>
        <p:spPr>
          <a:xfrm>
            <a:off x="6460236" y="4123944"/>
            <a:ext cx="512064" cy="512064"/>
          </a:xfrm>
          <a:prstGeom prst="ellipse">
            <a:avLst/>
          </a:prstGeom>
          <a:solidFill>
            <a:srgbClr val="10B981"/>
          </a:solidFill>
          <a:ln/>
        </p:spPr>
        <p:txBody>
          <a:bodyPr/>
          <a:p/>
        </p:txBody>
      </p:sp>
      <p:pic>
        <p:nvPicPr>
          <p:cNvPr id="23" name="Image 4" descr="/home/claude/icons/question_white.png">    </p:cNvPr>
          <p:cNvPicPr>
            <a:picLocks noChangeAspect="1"/>
          </p:cNvPicPr>
          <p:nvPr/>
        </p:nvPicPr>
        <p:blipFill>
          <a:blip r:embed="rId5"/>
          <a:stretch>
            <a:fillRect/>
          </a:stretch>
        </p:blipFill>
        <p:spPr>
          <a:xfrm>
            <a:off x="6588252" y="4251960"/>
            <a:ext cx="256032" cy="256032"/>
          </a:xfrm>
          <a:prstGeom prst="rect">
            <a:avLst/>
          </a:prstGeom>
        </p:spPr>
      </p:pic>
      <p:sp>
        <p:nvSpPr>
          <p:cNvPr id="24" name="Text 17"/>
          <p:cNvSpPr/>
          <p:nvPr/>
        </p:nvSpPr>
        <p:spPr>
          <a:xfrm>
            <a:off x="6460236" y="47640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그래도 안 되면</a:t>
            </a:r>
            <a:endParaRPr lang="en-US" sz="1350" dirty="0"/>
          </a:p>
        </p:txBody>
      </p:sp>
      <p:sp>
        <p:nvSpPr>
          <p:cNvPr id="25" name="Text 18"/>
          <p:cNvSpPr/>
          <p:nvPr/>
        </p:nvSpPr>
        <p:spPr>
          <a:xfrm>
            <a:off x="6460236" y="5056632"/>
            <a:ext cx="4850892" cy="5029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옆 사람의 설정 화면과 비교하고, 손 드세요. 오류 메시지를 지우지 말고 그대로 보여 주는 것이 가장 빠릅니다.</a:t>
            </a:r>
            <a:endParaRPr lang="en-US" sz="1100" dirty="0"/>
          </a:p>
        </p:txBody>
      </p:sp>
      <p:sp>
        <p:nvSpPr>
          <p:cNvPr id="26"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28</a:t>
            </a:r>
            <a:endParaRPr lang="en-US" sz="950" dirty="0"/>
          </a:p>
        </p:txBody>
      </p:sp>
      <p:sp>
        <p:nvSpPr>
          <p:cNvPr id="27" name="Rounded Rectangle 26"/>
          <p:cNvSpPr/>
          <p:nvPr/>
        </p:nvSpPr>
        <p:spPr>
          <a:xfrm>
            <a:off x="658368" y="5815584"/>
            <a:ext cx="10872216" cy="566928"/>
          </a:xfrm>
          <a:prstGeom prst="roundRect">
            <a:avLst>
              <a:gd name="adj" fmla="val 16129"/>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77824" y="5861304"/>
            <a:ext cx="475488" cy="47548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image.png"/>
          <p:cNvPicPr>
            <a:picLocks noChangeAspect="1"/>
          </p:cNvPicPr>
          <p:nvPr/>
        </p:nvPicPr>
        <p:blipFill>
          <a:blip r:embed="rId8"/>
          <a:stretch>
            <a:fillRect/>
          </a:stretch>
        </p:blipFill>
        <p:spPr>
          <a:xfrm>
            <a:off x="996695" y="5980176"/>
            <a:ext cx="237744" cy="237744"/>
          </a:xfrm>
          <a:prstGeom prst="rect">
            <a:avLst/>
          </a:prstGeom>
        </p:spPr>
      </p:pic>
      <p:sp>
        <p:nvSpPr>
          <p:cNvPr id="30" name="TextBox 29"/>
          <p:cNvSpPr txBox="1"/>
          <p:nvPr/>
        </p:nvSpPr>
        <p:spPr>
          <a:xfrm>
            <a:off x="1554480" y="5888736"/>
            <a:ext cx="9756648" cy="420623"/>
          </a:xfrm>
          <a:prstGeom prst="rect">
            <a:avLst/>
          </a:prstGeom>
          <a:noFill/>
        </p:spPr>
        <p:txBody>
          <a:bodyPr wrap="square" lIns="0" rIns="0" tIns="0" bIns="0" anchor="ctr" rtlCol="0">
            <a:spAutoFit/>
          </a:bodyPr>
          <a:lstStyle/>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한도가 다 찼을 때: 수업 중엔 공용 Z.ai 키로 바꾸고, 집에선 ChatGPT 무료 계정(GPT-5.6 Luna)에 물어보고 코드를 붙여넣으세요. Gemini 하루 한도는 한국 시간 오후 4~5시에 다시 풀립니다.</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txBody>
          <a:bodyPr/>
          <a:p/>
        </p:txBody>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실습 체크리스트: 나가기 전에</a:t>
            </a:r>
            <a:endParaRPr lang="en-US" sz="2600" dirty="0"/>
          </a:p>
        </p:txBody>
      </p:sp>
      <p:sp>
        <p:nvSpPr>
          <p:cNvPr id="6" name="Shape 3"/>
          <p:cNvSpPr/>
          <p:nvPr/>
        </p:nvSpPr>
        <p:spPr>
          <a:xfrm>
            <a:off x="658368" y="1783080"/>
            <a:ext cx="10872216" cy="3977640"/>
          </a:xfrm>
          <a:prstGeom prst="roundRect">
            <a:avLst>
              <a:gd name="adj" fmla="val 229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1069848" y="2103120"/>
            <a:ext cx="384048" cy="384048"/>
          </a:xfrm>
          <a:prstGeom prst="ellipse">
            <a:avLst/>
          </a:prstGeom>
          <a:solidFill>
            <a:srgbClr val="10B981"/>
          </a:solidFill>
          <a:ln/>
        </p:spPr>
        <p:txBody>
          <a:bodyPr/>
          <a:p/>
        </p:txBody>
      </p:sp>
      <p:pic>
        <p:nvPicPr>
          <p:cNvPr id="8" name="Image 1" descr="/home/claude/icons/check_white.png">    </p:cNvPr>
          <p:cNvPicPr>
            <a:picLocks noChangeAspect="1"/>
          </p:cNvPicPr>
          <p:nvPr/>
        </p:nvPicPr>
        <p:blipFill>
          <a:blip r:embed="rId2"/>
          <a:stretch>
            <a:fillRect/>
          </a:stretch>
        </p:blipFill>
        <p:spPr>
          <a:xfrm>
            <a:off x="1165860" y="2199132"/>
            <a:ext cx="192024" cy="192024"/>
          </a:xfrm>
          <a:prstGeom prst="rect">
            <a:avLst/>
          </a:prstGeom>
        </p:spPr>
      </p:pic>
      <p:sp>
        <p:nvSpPr>
          <p:cNvPr id="9" name="Text 5"/>
          <p:cNvSpPr/>
          <p:nvPr/>
        </p:nvSpPr>
        <p:spPr>
          <a:xfrm>
            <a:off x="1636776" y="2075688"/>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AI Studio에서 내 API 키를 발급받았다.</a:t>
            </a:r>
            <a:endParaRPr lang="en-US" sz="1350" dirty="0"/>
          </a:p>
        </p:txBody>
      </p:sp>
      <p:sp>
        <p:nvSpPr>
          <p:cNvPr id="10" name="Shape 6"/>
          <p:cNvSpPr/>
          <p:nvPr/>
        </p:nvSpPr>
        <p:spPr>
          <a:xfrm>
            <a:off x="1069848" y="2798064"/>
            <a:ext cx="384048" cy="384048"/>
          </a:xfrm>
          <a:prstGeom prst="ellipse">
            <a:avLst/>
          </a:prstGeom>
          <a:solidFill>
            <a:srgbClr val="10B981"/>
          </a:solidFill>
          <a:ln/>
        </p:spPr>
        <p:txBody>
          <a:bodyPr/>
          <a:p/>
        </p:txBody>
      </p:sp>
      <p:pic>
        <p:nvPicPr>
          <p:cNvPr id="11" name="Image 2" descr="/home/claude/icons/check_white.png">    </p:cNvPr>
          <p:cNvPicPr>
            <a:picLocks noChangeAspect="1"/>
          </p:cNvPicPr>
          <p:nvPr/>
        </p:nvPicPr>
        <p:blipFill>
          <a:blip r:embed="rId3"/>
          <a:stretch>
            <a:fillRect/>
          </a:stretch>
        </p:blipFill>
        <p:spPr>
          <a:xfrm>
            <a:off x="1165860" y="2894076"/>
            <a:ext cx="192024" cy="192024"/>
          </a:xfrm>
          <a:prstGeom prst="rect">
            <a:avLst/>
          </a:prstGeom>
        </p:spPr>
      </p:pic>
      <p:sp>
        <p:nvSpPr>
          <p:cNvPr id="12" name="Text 7"/>
          <p:cNvSpPr/>
          <p:nvPr/>
        </p:nvSpPr>
        <p:spPr>
          <a:xfrm>
            <a:off x="1636776" y="2770632"/>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환경변수 GEMINI_API_KEY 를 등록했다.</a:t>
            </a:r>
            <a:endParaRPr lang="en-US" sz="1350" dirty="0"/>
          </a:p>
        </p:txBody>
      </p:sp>
      <p:sp>
        <p:nvSpPr>
          <p:cNvPr id="13" name="Shape 8"/>
          <p:cNvSpPr/>
          <p:nvPr/>
        </p:nvSpPr>
        <p:spPr>
          <a:xfrm>
            <a:off x="1069848" y="3493008"/>
            <a:ext cx="384048" cy="384048"/>
          </a:xfrm>
          <a:prstGeom prst="ellipse">
            <a:avLst/>
          </a:prstGeom>
          <a:solidFill>
            <a:srgbClr val="10B981"/>
          </a:solidFill>
          <a:ln/>
        </p:spPr>
        <p:txBody>
          <a:bodyPr/>
          <a:p/>
        </p:txBody>
      </p:sp>
      <p:pic>
        <p:nvPicPr>
          <p:cNvPr id="14" name="Image 3" descr="/home/claude/icons/check_white.png">    </p:cNvPr>
          <p:cNvPicPr>
            <a:picLocks noChangeAspect="1"/>
          </p:cNvPicPr>
          <p:nvPr/>
        </p:nvPicPr>
        <p:blipFill>
          <a:blip r:embed="rId4"/>
          <a:stretch>
            <a:fillRect/>
          </a:stretch>
        </p:blipFill>
        <p:spPr>
          <a:xfrm>
            <a:off x="1165860" y="3589020"/>
            <a:ext cx="192024" cy="192024"/>
          </a:xfrm>
          <a:prstGeom prst="rect">
            <a:avLst/>
          </a:prstGeom>
        </p:spPr>
      </p:pic>
      <p:sp>
        <p:nvSpPr>
          <p:cNvPr id="15" name="Text 9"/>
          <p:cNvSpPr/>
          <p:nvPr/>
        </p:nvSpPr>
        <p:spPr>
          <a:xfrm>
            <a:off x="1636776" y="3465576"/>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새 터미널에서 echo 로 키가 출력되는 것을 확인했다.</a:t>
            </a:r>
            <a:endParaRPr lang="en-US" sz="1350" dirty="0"/>
          </a:p>
        </p:txBody>
      </p:sp>
      <p:sp>
        <p:nvSpPr>
          <p:cNvPr id="16" name="Shape 10"/>
          <p:cNvSpPr/>
          <p:nvPr/>
        </p:nvSpPr>
        <p:spPr>
          <a:xfrm>
            <a:off x="1069848" y="4187952"/>
            <a:ext cx="384048" cy="384048"/>
          </a:xfrm>
          <a:prstGeom prst="ellipse">
            <a:avLst/>
          </a:prstGeom>
          <a:solidFill>
            <a:srgbClr val="10B981"/>
          </a:solidFill>
          <a:ln/>
        </p:spPr>
        <p:txBody>
          <a:bodyPr/>
          <a:p/>
        </p:txBody>
      </p:sp>
      <p:pic>
        <p:nvPicPr>
          <p:cNvPr id="17" name="Image 4" descr="/home/claude/icons/check_white.png">    </p:cNvPr>
          <p:cNvPicPr>
            <a:picLocks noChangeAspect="1"/>
          </p:cNvPicPr>
          <p:nvPr/>
        </p:nvPicPr>
        <p:blipFill>
          <a:blip r:embed="rId5"/>
          <a:stretch>
            <a:fillRect/>
          </a:stretch>
        </p:blipFill>
        <p:spPr>
          <a:xfrm>
            <a:off x="1165860" y="4283964"/>
            <a:ext cx="192024" cy="192024"/>
          </a:xfrm>
          <a:prstGeom prst="rect">
            <a:avLst/>
          </a:prstGeom>
        </p:spPr>
      </p:pic>
      <p:sp>
        <p:nvSpPr>
          <p:cNvPr id="18" name="Text 11"/>
          <p:cNvSpPr/>
          <p:nvPr/>
        </p:nvSpPr>
        <p:spPr>
          <a:xfrm>
            <a:off x="1636776" y="4160520"/>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Cline에 Gemini(내 키)와 Z.ai(수업 공용 키)를 둘 다 연결해 채팅 응답을 받았다.</a:t>
            </a:r>
            <a:endParaRPr lang="en-US" sz="1350" dirty="0"/>
          </a:p>
        </p:txBody>
      </p:sp>
      <p:sp>
        <p:nvSpPr>
          <p:cNvPr id="19" name="Shape 12"/>
          <p:cNvSpPr/>
          <p:nvPr/>
        </p:nvSpPr>
        <p:spPr>
          <a:xfrm>
            <a:off x="1069848" y="4882896"/>
            <a:ext cx="384048" cy="384048"/>
          </a:xfrm>
          <a:prstGeom prst="ellipse">
            <a:avLst/>
          </a:prstGeom>
          <a:solidFill>
            <a:srgbClr val="10B981"/>
          </a:solidFill>
          <a:ln/>
        </p:spPr>
        <p:txBody>
          <a:bodyPr/>
          <a:p/>
        </p:txBody>
      </p:sp>
      <p:pic>
        <p:nvPicPr>
          <p:cNvPr id="20" name="Image 5" descr="/home/claude/icons/check_white.png">    </p:cNvPr>
          <p:cNvPicPr>
            <a:picLocks noChangeAspect="1"/>
          </p:cNvPicPr>
          <p:nvPr/>
        </p:nvPicPr>
        <p:blipFill>
          <a:blip r:embed="rId6"/>
          <a:stretch>
            <a:fillRect/>
          </a:stretch>
        </p:blipFill>
        <p:spPr>
          <a:xfrm>
            <a:off x="1165860" y="4978908"/>
            <a:ext cx="192024" cy="192024"/>
          </a:xfrm>
          <a:prstGeom prst="rect">
            <a:avLst/>
          </a:prstGeom>
        </p:spPr>
      </p:pic>
      <p:sp>
        <p:nvSpPr>
          <p:cNvPr id="21" name="Text 13"/>
          <p:cNvSpPr/>
          <p:nvPr/>
        </p:nvSpPr>
        <p:spPr>
          <a:xfrm>
            <a:off x="1636776" y="4855464"/>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지시로 temp.py 가 생성되고, 실행하면 77.0 이 나온다.</a:t>
            </a:r>
            <a:endParaRPr lang="en-US" sz="1350" dirty="0"/>
          </a:p>
        </p:txBody>
      </p:sp>
      <p:sp>
        <p:nvSpPr>
          <p:cNvPr id="22" name="Text 14"/>
          <p:cNvSpPr/>
          <p:nvPr/>
        </p:nvSpPr>
        <p:spPr>
          <a:xfrm>
            <a:off x="658368" y="5943600"/>
            <a:ext cx="10872216" cy="914400"/>
          </a:xfrm>
          <a:prstGeom prst="rect">
            <a:avLst/>
          </a:prstGeom>
          <a:noFill/>
          <a:ln/>
        </p:spPr>
        <p:txBody>
          <a:bodyPr wrap="square" lIns="0" tIns="0" rIns="0" bIns="0" rtlCol="0" anchor="t"/>
          <a:lstStyle/>
          <a:p>
            <a:pPr algn="l" indent="0" marL="0">
              <a:lnSpc>
                <a:spcPts val="1824"/>
              </a:lnSpc>
              <a:buNone/>
            </a:pPr>
            <a:r>
              <a:rPr lang="en-US" sz="1200" dirty="0">
                <a:solidFill>
                  <a:srgbClr val="6B7185"/>
                </a:solidFill>
                <a:latin typeface="Malgun Gothic" pitchFamily="34" charset="0"/>
                <a:ea typeface="Malgun Gothic" pitchFamily="34" charset="-122"/>
                <a:cs typeface="Malgun Gothic" pitchFamily="34" charset="-120"/>
              </a:rPr>
              <a:t>오늘의 출석 인증: temp.py를 지난주 hello-sw 저장소에 push하고, 저장소 주소를 LMS 2주차 게시판에 제출하세요. (키는 코드에 없죠? 그래서 올려도 안전합니다.)</a:t>
            </a:r>
            <a:endParaRPr lang="en-US" sz="1200" dirty="0"/>
          </a:p>
        </p:txBody>
      </p:sp>
      <p:sp>
        <p:nvSpPr>
          <p:cNvPr id="23"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txBody>
          <a:bodyPr/>
          <a:p/>
        </p:txBody>
      </p:sp>
      <p:pic>
        <p:nvPicPr>
          <p:cNvPr id="3" name="Image 0" descr="/home/claude/icons/check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2강 · 정리</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오늘의 세 문장</a:t>
            </a:r>
            <a:endParaRPr lang="en-US" sz="2600" dirty="0"/>
          </a:p>
        </p:txBody>
      </p:sp>
      <p:sp>
        <p:nvSpPr>
          <p:cNvPr id="6" name="Shape 3"/>
          <p:cNvSpPr/>
          <p:nvPr/>
        </p:nvSpPr>
        <p:spPr>
          <a:xfrm>
            <a:off x="658368" y="192024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96112" y="2221992"/>
            <a:ext cx="493776" cy="493776"/>
          </a:xfrm>
          <a:prstGeom prst="ellipse">
            <a:avLst/>
          </a:prstGeom>
          <a:solidFill>
            <a:srgbClr val="7C3AED"/>
          </a:solidFill>
          <a:ln/>
        </p:spPr>
        <p:txBody>
          <a:bodyPr/>
          <a:p/>
        </p:txBody>
      </p:sp>
      <p:sp>
        <p:nvSpPr>
          <p:cNvPr id="8" name="Text 5"/>
          <p:cNvSpPr/>
          <p:nvPr/>
        </p:nvSpPr>
        <p:spPr>
          <a:xfrm>
            <a:off x="896112" y="22219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9" name="Text 6"/>
          <p:cNvSpPr/>
          <p:nvPr/>
        </p:nvSpPr>
        <p:spPr>
          <a:xfrm>
            <a:off x="1627632" y="204825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정답 프로세스 모델은 없습니다. 요구의 확실성과 변경 가능성이라는 '상황'이 폭포수 · 반복 · 애자일 중에서 고릅니다.</a:t>
            </a:r>
            <a:endParaRPr lang="en-US" sz="1350" dirty="0"/>
          </a:p>
        </p:txBody>
      </p:sp>
      <p:sp>
        <p:nvSpPr>
          <p:cNvPr id="10" name="Shape 7"/>
          <p:cNvSpPr/>
          <p:nvPr/>
        </p:nvSpPr>
        <p:spPr>
          <a:xfrm>
            <a:off x="658368" y="324612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1" name="Shape 8"/>
          <p:cNvSpPr/>
          <p:nvPr/>
        </p:nvSpPr>
        <p:spPr>
          <a:xfrm>
            <a:off x="896112" y="3547872"/>
            <a:ext cx="493776" cy="493776"/>
          </a:xfrm>
          <a:prstGeom prst="ellipse">
            <a:avLst/>
          </a:prstGeom>
          <a:solidFill>
            <a:srgbClr val="38BDF8"/>
          </a:solidFill>
          <a:ln/>
        </p:spPr>
        <p:txBody>
          <a:bodyPr/>
          <a:p/>
        </p:txBody>
      </p:sp>
      <p:sp>
        <p:nvSpPr>
          <p:cNvPr id="12" name="Text 9"/>
          <p:cNvSpPr/>
          <p:nvPr/>
        </p:nvSpPr>
        <p:spPr>
          <a:xfrm>
            <a:off x="896112" y="354787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3" name="Text 10"/>
          <p:cNvSpPr/>
          <p:nvPr/>
        </p:nvSpPr>
        <p:spPr>
          <a:xfrm>
            <a:off x="1627632" y="337413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애자일은 짧은 고정 주기와 잦은 확인의 문화입니다. AI는 그 주기를 분 단위 '지시 → 생성 → 확인 → 수정' 루프로 압축합니다.</a:t>
            </a:r>
            <a:endParaRPr lang="en-US" sz="1350" dirty="0"/>
          </a:p>
        </p:txBody>
      </p:sp>
      <p:sp>
        <p:nvSpPr>
          <p:cNvPr id="14" name="Shape 11"/>
          <p:cNvSpPr/>
          <p:nvPr/>
        </p:nvSpPr>
        <p:spPr>
          <a:xfrm>
            <a:off x="658368" y="457200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5" name="Shape 12"/>
          <p:cNvSpPr/>
          <p:nvPr/>
        </p:nvSpPr>
        <p:spPr>
          <a:xfrm>
            <a:off x="896112" y="4873752"/>
            <a:ext cx="493776" cy="493776"/>
          </a:xfrm>
          <a:prstGeom prst="ellipse">
            <a:avLst/>
          </a:prstGeom>
          <a:solidFill>
            <a:srgbClr val="14B8A6"/>
          </a:solidFill>
          <a:ln/>
        </p:spPr>
        <p:txBody>
          <a:bodyPr/>
          <a:p/>
        </p:txBody>
      </p:sp>
      <p:sp>
        <p:nvSpPr>
          <p:cNvPr id="16" name="Text 13"/>
          <p:cNvSpPr/>
          <p:nvPr/>
        </p:nvSpPr>
        <p:spPr>
          <a:xfrm>
            <a:off x="896112" y="487375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7" name="Text 14"/>
          <p:cNvSpPr/>
          <p:nvPr/>
        </p:nvSpPr>
        <p:spPr>
          <a:xfrm>
            <a:off x="1627632" y="470001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내 작업대에 AI가 연결되었습니다. 키는 환경변수에, 지시는 확인 가능한 크기로. 이 두 습관이 오늘의 진짜 결과물입니다.</a:t>
            </a:r>
            <a:endParaRPr lang="en-US" sz="1350" dirty="0"/>
          </a:p>
        </p:txBody>
      </p:sp>
      <p:sp>
        <p:nvSpPr>
          <p:cNvPr id="18"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txBody>
          <a:bodyPr/>
          <a:p/>
        </p:txBody>
      </p:sp>
      <p:pic>
        <p:nvPicPr>
          <p:cNvPr id="3" name="Image 0" descr="/home/claude/icons/chevro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예고 · 3강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다음 주: 생성형 AI의 이해와 지시문 작성 기초</a:t>
            </a:r>
            <a:endParaRPr lang="en-US" sz="2600" dirty="0"/>
          </a:p>
        </p:txBody>
      </p:sp>
      <p:sp>
        <p:nvSpPr>
          <p:cNvPr id="6" name="Shape 3"/>
          <p:cNvSpPr/>
          <p:nvPr/>
        </p:nvSpPr>
        <p:spPr>
          <a:xfrm>
            <a:off x="658368" y="1828800"/>
            <a:ext cx="457200" cy="457200"/>
          </a:xfrm>
          <a:prstGeom prst="ellipse">
            <a:avLst/>
          </a:prstGeom>
          <a:solidFill>
            <a:srgbClr val="4F46E5"/>
          </a:solidFill>
          <a:ln/>
        </p:spPr>
        <p:txBody>
          <a:bodyPr/>
          <a:p/>
        </p:txBody>
      </p:sp>
      <p:pic>
        <p:nvPicPr>
          <p:cNvPr id="7" name="Image 1" descr="/home/claude/icons/brain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생성형 AI는 어떻게 동작하는가</a:t>
            </a:r>
            <a:endParaRPr lang="en-US" sz="1400" dirty="0"/>
          </a:p>
        </p:txBody>
      </p:sp>
      <p:sp>
        <p:nvSpPr>
          <p:cNvPr id="9" name="Text 5"/>
          <p:cNvSpPr/>
          <p:nvPr/>
        </p:nvSpPr>
        <p:spPr>
          <a:xfrm>
            <a:off x="1335024" y="2066544"/>
            <a:ext cx="5084064" cy="905256"/>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왜 같은 지시에 다른 답이 나오는지, 왜 그럴듯한 거짓말을 하는지. 원리를 알아야 부릴 수 있습니다.</a:t>
            </a:r>
            <a:endParaRPr lang="en-US" sz="1150" dirty="0"/>
          </a:p>
        </p:txBody>
      </p:sp>
      <p:sp>
        <p:nvSpPr>
          <p:cNvPr id="10" name="Shape 6"/>
          <p:cNvSpPr/>
          <p:nvPr/>
        </p:nvSpPr>
        <p:spPr>
          <a:xfrm>
            <a:off x="658368" y="2971800"/>
            <a:ext cx="457200" cy="457200"/>
          </a:xfrm>
          <a:prstGeom prst="ellipse">
            <a:avLst/>
          </a:prstGeom>
          <a:solidFill>
            <a:srgbClr val="7C3AED"/>
          </a:solidFill>
          <a:ln/>
        </p:spPr>
        <p:txBody>
          <a:bodyPr/>
          <a:p/>
        </p:txBody>
      </p:sp>
      <p:pic>
        <p:nvPicPr>
          <p:cNvPr id="11" name="Image 2" descr="/home/claude/icons/pen_white.png">    </p:cNvPr>
          <p:cNvPicPr>
            <a:picLocks noChangeAspect="1"/>
          </p:cNvPicPr>
          <p:nvPr/>
        </p:nvPicPr>
        <p:blipFill>
          <a:blip r:embed="rId3"/>
          <a:stretch>
            <a:fillRect/>
          </a:stretch>
        </p:blipFill>
        <p:spPr>
          <a:xfrm>
            <a:off x="772668" y="3086100"/>
            <a:ext cx="228600" cy="228600"/>
          </a:xfrm>
          <a:prstGeom prst="rect">
            <a:avLst/>
          </a:prstGeom>
        </p:spPr>
      </p:pic>
      <p:sp>
        <p:nvSpPr>
          <p:cNvPr id="12" name="Text 7"/>
          <p:cNvSpPr/>
          <p:nvPr/>
        </p:nvSpPr>
        <p:spPr>
          <a:xfrm>
            <a:off x="1335024" y="2935224"/>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지시문 작성 기초</a:t>
            </a:r>
            <a:endParaRPr lang="en-US" sz="1400" dirty="0"/>
          </a:p>
        </p:txBody>
      </p:sp>
      <p:sp>
        <p:nvSpPr>
          <p:cNvPr id="13" name="Text 8"/>
          <p:cNvSpPr/>
          <p:nvPr/>
        </p:nvSpPr>
        <p:spPr>
          <a:xfrm>
            <a:off x="1335024" y="3209544"/>
            <a:ext cx="5084064" cy="905256"/>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역할 · 맥락 · 요구 · 형식. 결과 품질을 바꾸는 지시문의 구조를 배우고 직접 비교 실험합니다.</a:t>
            </a:r>
            <a:endParaRPr lang="en-US" sz="1150" dirty="0"/>
          </a:p>
        </p:txBody>
      </p:sp>
      <p:sp>
        <p:nvSpPr>
          <p:cNvPr id="14" name="Shape 9"/>
          <p:cNvSpPr/>
          <p:nvPr/>
        </p:nvSpPr>
        <p:spPr>
          <a:xfrm>
            <a:off x="6720840" y="1828800"/>
            <a:ext cx="4809744" cy="2423160"/>
          </a:xfrm>
          <a:prstGeom prst="roundRect">
            <a:avLst>
              <a:gd name="adj" fmla="val 3774"/>
            </a:avLst>
          </a:prstGeom>
          <a:solidFill>
            <a:srgbClr val="EEF0FF"/>
          </a:solidFill>
          <a:ln/>
        </p:spPr>
        <p:txBody>
          <a:bodyPr/>
          <a:p/>
        </p:txBody>
      </p:sp>
      <p:sp>
        <p:nvSpPr>
          <p:cNvPr id="15" name="Text 10"/>
          <p:cNvSpPr/>
          <p:nvPr/>
        </p:nvSpPr>
        <p:spPr>
          <a:xfrm>
            <a:off x="6995160" y="2048256"/>
            <a:ext cx="4206240" cy="292608"/>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예고: 과제 1</a:t>
            </a:r>
            <a:endParaRPr lang="en-US" sz="1350" dirty="0"/>
          </a:p>
        </p:txBody>
      </p:sp>
      <p:sp>
        <p:nvSpPr>
          <p:cNvPr id="16" name="Text 11"/>
          <p:cNvSpPr/>
          <p:nvPr/>
        </p:nvSpPr>
        <p:spPr>
          <a:xfrm>
            <a:off x="6995160" y="2432304"/>
            <a:ext cx="4297680" cy="1828800"/>
          </a:xfrm>
          <a:prstGeom prst="rect">
            <a:avLst/>
          </a:prstGeom>
          <a:noFill/>
          <a:ln/>
        </p:spPr>
        <p:txBody>
          <a:bodyPr wrap="square" lIns="0" tIns="0" rIns="0" bIns="0" rtlCol="0" anchor="t"/>
          <a:lstStyle/>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같은 기능을 서로 다른 지시문 세 가지로 요청하고 결과를 비교·분석하는 과제가 3주차에 공지됩니다.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오늘 연결한 환경을 그대로 사용하니, 환경이 불안한 분은 이번 주 안에 꼭 정리해 두세요.</a:t>
            </a:r>
            <a:endParaRPr lang="en-US" sz="1200" dirty="0"/>
          </a:p>
        </p:txBody>
      </p:sp>
      <p:sp>
        <p:nvSpPr>
          <p:cNvPr id="17" name="Text 12"/>
          <p:cNvSpPr/>
          <p:nvPr/>
        </p:nvSpPr>
        <p:spPr>
          <a:xfrm>
            <a:off x="658368" y="4846320"/>
            <a:ext cx="10872216" cy="914400"/>
          </a:xfrm>
          <a:prstGeom prst="rect">
            <a:avLst/>
          </a:prstGeom>
          <a:noFill/>
          <a:ln/>
        </p:spPr>
        <p:txBody>
          <a:bodyPr wrap="square" lIns="0" tIns="0" rIns="0" bIns="0" rtlCol="0" anchor="t"/>
          <a:lstStyle/>
          <a:p>
            <a:pPr algn="l" indent="0" marL="0">
              <a:lnSpc>
                <a:spcPts val="1976"/>
              </a:lnSpc>
              <a:buNone/>
            </a:pPr>
            <a:r>
              <a:rPr lang="en-US" sz="1300" dirty="0">
                <a:solidFill>
                  <a:srgbClr val="6B7185"/>
                </a:solidFill>
                <a:latin typeface="Malgun Gothic" pitchFamily="34" charset="0"/>
                <a:ea typeface="Malgun Gothic" pitchFamily="34" charset="-122"/>
                <a:cs typeface="Malgun Gothic" pitchFamily="34" charset="-120"/>
              </a:rPr>
              <a:t>temp.py push와 저장소 주소 제출 잊지 마시고, 수고하셨습니다!</a:t>
            </a:r>
            <a:endParaRPr lang="en-US" sz="1300" dirty="0"/>
          </a:p>
        </p:txBody>
      </p:sp>
      <p:sp>
        <p:nvSpPr>
          <p:cNvPr id="18" name="Text 13"/>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31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2026-08-04T08:21:01Z</dcterms:created>
  <dcterms:modified xsi:type="dcterms:W3CDTF">2026-08-04T08:21:01Z</dcterms:modified>
</cp:coreProperties>
</file>