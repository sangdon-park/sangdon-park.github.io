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2강 시작하겠습니다. 지난주에 노트북에 작업대를 만들었죠. 오늘은 두 가지를 합니다.
앞부분에서는 소프트웨어를 만드는 '순서와 방식', 즉 개발 프로세스 모델을 다룹니다. 폭포수, 반복적 모델, 애자일 — 이름은 들어 봤을 텐데, 오늘은 각 방식이 어떤 상황에 맞는지 판단할 수 있는 수준까지 갑니다. 우리 팀 프로젝트를 어떤 방식으로 굴릴지도 오늘 정해집니다.
뒷부분은 실습입니다. 드디어 지난주에 만든 작업대에 AI를 연결합니다. Gemini API 키를 발급받고, 환경변수로 안전하게 설정하고, VS Code에 Cline을 붙여서 첫 지시까지 내려 봅니다. 구글 계정 다들 준비되셨죠? 그럼 시작합니다.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지난 시간을 세 줄로 요약하면 왼쪽과 같습니다. 소프트웨어공학은 과정의 학문이고, AI 시대에 사람의 몫은 정의·설계·검증·책임이고, 여러분 노트북에는 작업대가 준비됐습니다.
오늘 흐름은 세 부분입니다. 1부에서 프로세스 모델 세 가지를 비교하고, 2부에서 팀 프로젝트 내내 쓸 애자일 용어를 정리하고, 3부 실습에서 AI를 연결합니다.
참고로 이번 주 성취 기준은 세 가지입니다. 모델들의 특징과 장단점을 비교해 설명할 수 있다, 프로젝트 상황에 맞는 방식을 고르고 이유를 말할 수 있다, 그리고 API 키를 발급받아 안전하게 설정하고 AI 도구를 연결해 동작을 확인할 수 있다. 오늘도 마지막 항목은 전원 완료가 목표입니다.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1부, 개발 프로세스 모델입니다. 프로세스 모델이라는 말이 거창하게 들리는데, 그냥 "어떤 순서로, 어떤 방식으로 만들 것인가"에 대한 틀입니다. 지난주에 과정이 무너지면 사고가 난다고 했죠. 그 과정을 어떻게 짤 것인가가 오늘 주제입니다.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프로세스 모델의 정의는 간단합니다. 소프트웨어를 만드는 활동들의 순서와 방식을 정해 둔 틀, 그리고 그것에 대한 팀의 합의입니다.
왜 필요한지는 집 짓기로 생각하면 쉽습니다. 설계도 없이 벽부터 올리면 다 짓고 나서 현관이 없다는 걸 발견합니다. 순서가 틀리면 그 대가는 나중에, 훨씬 비싸게 치릅니다. 그리고 네 명이 각자 자기 순서대로 지으면 서로 기다리고 충돌합니다. 순서는 개인의 취향이 아니라 팀의 합의여야 한다는 거죠.
소프트웨어 역사에서 이 '순서'에 대한 답이 크게 세 번 바뀌었습니다. 폭포수, 반복적 모델, 애자일 순서로 하나씩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폭포수 모델입니다. 가장 오래되고 가장 직관적인 방식이죠. 요구분석에서 무엇을 만들지 완전히 확정하고, 설계에서 구조를 다 정하고, 구현하고, 테스트하고, 유지보수로 넘어갑니다.
핵심 성질은 두 가지입니다. 첫째, 각 단계를 '완전히' 끝낸 다음에야 다음 단계로 갑니다. 둘째, 단계 사이는 문서로 인수인계합니다. 요구분석의 산출물인 요구사항 명세서가 설계의 입력이 되고, 설계서가 구현의 입력이 되는 식입니다.
이름이 왜 폭포수냐면, 물이 아래로만 흐르고 거슬러 오르지 않듯이, 되돌아가는 것을 전제하지 않기 때문입니다. 이 성질이 장점이자 동시에 치명적인 단점이 되는데, 다음 장에서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폭포수의 장점은 명확함입니다. 단계와 산출물이 뚜렷하니 일정 계획과 역할 분담이 쉽고, 문서가 다 남으니 인수인계와 감리에 강합니다. 그래서 요구가 처음부터 확정되는 프로젝트, 예를 들어 규제가 강한 안전 필수 시스템에서는 지금도 씁니다.
문제는 피드백이 늦다는 겁니다. 고객이 동작하는 소프트웨어를 처음 보는 게 맨 마지막 단계예요. 그때 "이게 아니에요"라는 말이 나오면 재앙입니다. 그리고 중간에 요구가 바뀌면 요구분석부터 다시 열어야 하니 변경 비용이 폭탄이 됩니다.
결국 폭포수의 숨은 전제는 "처음에 요구를 완벽히 알 수 있다"인데, 현실에서 그런 프로젝트는 드뭅니다. 그 전제를 버린 것이 다음 모델입니다.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반복적 모델입니다. 발상의 전환은 간단합니다. 한 번에 전부 만들지 말고, 계획-개발-확인-피드백의 작은 바퀴를 여러 번 굴리자. 이러면 '확인'이 프로젝트 끝이 아니라 매 바퀴마다 오니까, "이게 아니에요"를 훨씬 일찍, 아직 고칠 수 있을 때 듣게 됩니다.
여기서 용어 두 개를 구분해 두면 좋습니다. 증분은 피자를 한 조각씩 완성해서 내놓는 방식입니다. 로그인 기능을 완성해 배포하고, 다음에 검색 기능을 더하고. 매번 '완성된 일부'가 나옵니다. 반복은 그림 그리는 방식입니다. 스케치 전체를 그리고, 밑색을 칠하고, 세부를 묘사하고. 매번 '전체의 더 나은 버전'이 나옵니다.
실무에서는 거의 항상 둘을 섞습니다. 이 반복 철학을 극단까지 밀고 가서 문화로 만든 것이 애자일입니다.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애자일입니다. 2001년, 무거운 문서와 계획 중심 개발에 지친 개발자 열일곱 명이 미국 스노버드에 모여서 네 줄짜리 가치 선언을 발표했습니다. 그게 애자일 선언입니다.
네 줄을 읽어 보면 — 프로세스와 도구보다 개인과 상호작용을, 포괄적인 문서보다 작동하는 소프트웨어를, 계약 협상보다 고객과의 협력을, 계획을 따르기보다 변화에 대응하기를.
여기서 시험에도 나오고 실무에서도 오해가 많은 포인트 하나. 이 선언은 오른쪽을 버리라는 게 아닙니다. 원문에 분명히 "오른쪽 항목에도 가치가 있지만, 왼쪽 항목을 더 높게 친다"라고 적혀 있습니다. 문서 쓰지 말자, 계획 세우지 말자가 아니라, 둘이 충돌할 때 무엇을 우선할지에 대한 가치 순서의 선언입니다.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모델을 네 가지 기준으로 비교합니다.
피드백 시점 — 폭포수는 맨 끝, 반복적은 매 회차, 애자일은 매일 그리고 매 스프린트마다입니다. 변경 대응 — 폭포수는 비용이 폭탄이고, 반복적은 다음 회차에 반영하고, 애자일은 아예 변경을 환영한다고 선언합니다. 산출 문서 — 폭포수는 단계마다 상세하게, 애자일은 필요한 만큼만. 잘 맞는 상황 — 폭포수는 요구가 확정되고 규제가 강한 곳, 반복적은 규모가 크면서 요구가 일부 유동적인 곳, 애자일은 요구가 불확실하고 빨리 내놓고 배워야 하는 곳입니다.
표를 외우려고 하지 말고 한 문장만 가져가세요. 정답 모델은 없고, 상황이 모델을 고른다. 그 감각을 다음 장에서 연습해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연습 삼아 세 상황에 모델을 골라 봅시다. (각 사례마다 학생들에게 먼저 답을 물어본 뒤 공개한다.)
병원 의료기기 제어 소프트웨어. 어떤 모델일까요? — 폭포수 계열입니다. 요구가 규격 문서로 확정되고, 인허가에 단계별 문서와 검증이 필수입니다. 여기서는 변경의 유연함보다 확실성이 우선이죠. 지난주 Therac-25가 바로 이 영역의 실패 사례였습니다.
스타트업 신규 서비스. — 애자일입니다. 무엇이 먹힐지 아무도 모르니, 작게 내놓고 사용자 반응으로 배우는 속도가 생명입니다.
그럼 우리 팀 프로젝트는? — 애자일에 AI 반복을 더한 방식으로 갑니다. 작게 만들고 자주 확인하는 애자일 위에, AI로 구현 속도를 붙이는 거죠. 그 구체적인 방법이 2부 내용입니다.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2부는 짧습니다. 애자일을 실제로 굴리는 대표적인 방법이 스크럼이라는 프레임워크인데, 우리 팀 프로젝트에서 그대로 쓸 용어 네 개만 정확히 챙겨 가면 됩니다. 5주차에 팀이 꾸려지면 이 용어들이 바로 공용어가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스크럼의 흐름을 한 줄로 보겠습니다.
먼저 제품 백로그. 만들고 싶은 모든 것의 우선순위 목록입니다. 스프린트 계획에서 그중 이번 주기에 할 만큼만 골라 확정합니다. 그리고 스프린트 — 1주에서 4주짜리 고정된 개발 주기 동안, 매일 15분씩 데일리 스크럼으로 상황을 맞춥니다. 스프린트가 끝나면 반드시 '동작하는 증분'이 나와야 합니다. 문서나 반쪽짜리가 아니라 실제로 돌아가는 결과물이요. 마지막으로 리뷰와 회고에서 결과물과 일하는 방식 자체를 돌아보고, 다시 다음 스프린트로 갑니다.
이 틀이 강한 이유는 구조에 있습니다. 매 주기 끝에 동작하는 것이 나오고 매일 확인이 있으니, 문제가 숨어서 자랄 틈이 없습니다. 폭포수의 최대 약점이었던 "맨 끝의 충격"이 구조적으로 사라지는 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용어 네 개를 정확히 잡고 갑니다.
스프린트. 짧고 고정된 개발 주기입니다. '고정'이 핵심이에요. 일이 안 끝났다고 기간을 늘리는 게 아니라, 못 끝낸 일을 다음 스프린트로 넘깁니다. 우리 팀 프로젝트는 1주 스프린트로 갑니다. 매주 수업이 곧 스프린트 경계가 되는 거죠.
데일리 스크럼. 매일 15분, 세 가지만 말합니다. 어제 한 것, 오늘 할 것, 막힌 것. 여기서 문제를 해결하려 들면 회의가 한 시간이 됩니다. 해결은 따로 하고, 이 자리는 드러내는 자리입니다.
백로그. 할 일의 우선순위 목록인데, 애자일이 "변화를 환영"할 수 있는 실제 장치입니다. 새 요구가 와도 패닉하지 않고 백로그에 넣고 순서를 매기면 되니까요.
회고. 결과물이 아니라 일하는 방식을 돌아보는 시간입니다. 다음에 바꿀 것 딱 하나만 정해도 성공입니다.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오늘의 두 흐름을 연결하겠습니다. AI가 등장하면서 프로세스에 무슨 일이 생겼을까요.
구현이 며칠에서 몇 분으로 줄었습니다. 그러면 병목이 이동합니다. '만드는 것'이 아니라 '확인하는 것'이 병목이 돼요. 그리고 개발자의 하루는 이 네 박자의 반복이 됩니다. 지시하고, AI가 생성하고, 실행하고 읽어서 확인하고, 차이를 말로 정리해 수정 지시하고. 스프린트 개념을 극단적으로 압축한 초소형 스프린트가 수 분 단위로 도는 겁니다.
여기서 중요한 결론 하나. 바퀴가 빨라질수록 프로세스는 덜 중요해지는 게 아니라 더 중요해집니다. 방향이 틀리면 더 빨리 엉뚱한 곳에 도착하니까요. 무엇을 만들지, 됐다의 기준이 뭔지가 흐리면 AI는 그 흐린 것을 몇 분 만에 잔뜩 만들어 줍니다.
말로만 하면 감이 안 오죠. 지금부터 이 바퀴를 직접 한 바퀴 돌려 봅니다. 실습 갑시다.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3부, 실습입니다. 오늘의 목표는 하나 — 여러분 각자의 VS Code에서 AI에게 지시를 내리고 결과를 받아 보는 것까지입니다. 순서는 키 발급, 환경변수 설정, Cline 연결, 첫 지시. 이번에도 단계마다 확인 지점이 있으니, 확인 안 되면 바로 손 드세요. 구글 계정 로그인부터 미리 해 두시고요.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일 시작 전에 지도를 먼저 봅니다. 오늘 만들 환경은 네 조각입니다.
Google AI Studio는 키를 발급하는 곳입니다. 거기서 받은 API 키를 환경변수라는 안전한 보관소에 넣습니다. VS Code 안의 Cline은 여러분 지시를 받아 실제 파일을 만들고 고치는 에이전트인데, 이 Cline이 환경변수의 키를 들고 Gemini API에 요청을 보내서 코드를 받아 옵니다.
API 키가 뭐냐면, 서비스가 "너 누구야"를 확인하는 열쇠입니다. 이 열쇠 하나가 네 조각을 전부 잇습니다. 오늘 실습은 이 그림의 화살표를 왼쪽부터 하나씩 잇는 과정이라고 생각하면 됩니다. 발급, 등록, 연결, 그리고 첫 요청까지.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단계, 키 발급입니다. 브라우저에서 aistudio.google.com에 접속해서 구글 계정으로 로그인하세요. 학교 계정이 안 되면 개인 계정으로 하시면 됩니다.
화면에서 Get API key 메뉴를 찾아 들어가고, Create API key 버튼을 누르면 키가 만들어집니다. AIza로 시작하는 긴 문자열이 나올 텐데, 그게 여러분의 키입니다. 복사해서 잠시 메모장에 붙여 두세요.
비용 얘기를 미리 하면, 무료 등급으로 우리 수업 실습은 충분합니다. 분당 요청 수 제한이 있어서 가끔 잠깐 기다리라는 메시지가 나올 수 있는데, 그건 요금이 아니라 속도 제한입니다. 결제 정보를 넣지 않는 한 돈이 나갈 일은 없습니다.
자, 키 복사까지 다 되셨으면 — 그 키를 어디에 두면 안 되는지부터 이야기해야 합니다. 다음 장이 오늘 실습에서 제일 중요한 슬라이드입니다.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실습에서 제일 중요한 슬라이드입니다. API 키는 비밀번호입니다. 비밀번호를 포스트잇에 써서 모니터에 붙이지 않듯이, 키도 다루는 규칙이 있습니다.
첫째, 코드에 직접 붙여넣지 않습니다. 소스 코드에 키를 박으면, 그 파일이 가는 모든 곳에 비밀번호가 따라갑니다. 둘째, 특히 GitHub에 올리면 몇 분 안에 봇이 수집해 갑니다. 공개 저장소를 24시간 훑는 봇들이 실제로 있고, 유출된 키로 남이 요청을 보내면 한도 소진이나 과금 피해는 고스란히 본인 몫입니다. 실제로 매 학기 어디선가 한 명은 겪는 사고입니다. 셋째, 유출이 의심되면 고민하지 말고 즉시 폐기하고 재발급하세요. 키는 공짜로 다시 만들 수 있습니다.
그래서 키는 코드 밖에 보관합니다. 그 표준적인 방법이 환경변수입니다. 내 컴퓨터 설정에 이름표를 붙여 보관하고, 프로그램은 그 이름으로 꺼내 쓰는 거죠. 코드에는 키가 없으니 저장소에 올려도 안전합니다. 지금 운영체제별로 설정해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윈도우 사용자부터 갑니다. 터미널에서 setx GEMINI_API_KEY 한 칸 띄고 따옴표 안에 본인 키를 붙여 넣습니다. 성공 메시지가 나오면 등록된 겁니다.
여기서 매 학기 가장 많이 나오는 실수 — setx는 지금 열려 있는 터미널에는 적용되지 않습니다. 반드시 터미널을 닫고 새로 열어서 확인하세요. CMD면 echo 퍼센트 GEMINI_API_KEY 퍼센트, 파워셸이면 echo 달러 env 콜론 GEMINI_API_KEY입니다. 본인 키가 그대로 출력되면 통과입니다.
명령어가 불편하면 GUI로도 됩니다. 설정에서 고급 시스템 설정, 환경 변수 메뉴에 들어가 같은 이름으로 추가하면 효과는 동일합니다.
맥 사용자는 다음 장을 보세요. 윈도우 분들은 확인 끝나면 잠시 옆 사람을 도와주시면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맥 사용자입니다. 맥의 기본 셸인 zsh는 터미널이 켜질 때마다 홈 폴더의 .zshrc라는 설정 파일을 읽습니다. 거기에 export 한 줄을 추가하면 매번 자동으로 키가 준비됩니다.
화면의 echo 명령을 그대로 치면 되는데, 주의할 점 하나 — 꺾쇠가 두 개인 걸 꼭 확인하세요. 두 개는 파일 끝에 추가, 한 개는 통째로 덮어쓰기입니다. 한 개로 잘못 쓰면 기존 설정이 다 날아갑니다.
추가한 다음 source 물결 슬래시 .zshrc로 설정을 다시 읽고, echo 달러 GEMINI_API_KEY로 확인합니다. 키가 출력되면 통과.
윈도우, 맥 모두 확인되셨죠? 좋습니다. 이제 열쇠도 있고 보관소에도 넣었으니, 이 열쇠를 쓸 에이전트를 연결합니다.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Cline을 연결합니다. VS Code 확장 메뉴에서 Cline을 검색해 설치하면 왼쪽 사이드바에 Cline 아이콘이 생깁니다.
아이콘을 눌러 설정으로 들어가면 API Provider를 고르는 목록이 있는데, Google Gemini를 선택하세요. API 키 칸에는 아까 발급받은 키를 붙여 넣습니다. 환경변수에 넣어 둔 그 키 그대로입니다.
모델은 Gemini Flash 계열 최신 모델을 권장합니다. 빠르고 무료 한도가 넉넉해서 수업 실습에 딱 맞습니다. 더 큰 모델은 나중에 필요할 때 바꾸면 됩니다.
설정을 저장하고, 채팅창에 "안녕"이라고 한번 보내 보세요. 응답이 돌아오면 연결 성공입니다. 응답이 안 오거나 키 오류가 뜨는 분은 손 들어 주세요. 대부분 키 복사 과정에서 앞뒤 공백이 들어간 경우입니다.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드디어 첫 지시입니다. 화면의 지시문을 Cline 채팅창에 그대로 입력하세요. temp.py 파일을 만들어 줘, 섭씨를 화씨로 바꾸는 함수 c_to_f를 작성하고, 25도를 변환한 결과를 출력해.
왜 이렇게 시시할 만큼 작게 시키느냐. 결과를 눈으로 전부 확인할 수 있는 크기이기 때문입니다. AI에게 처음부터 큰 걸 시키는 게 초보의 1번 실수입니다. 확인 못 할 크기의 결과물은 받아도 쓸 수가 없어요. "확인 가능한 크기로 시킨다"는 이번 학기 내내 지킬 원칙이고, 7주차에 본격적으로 다룹니다.
그리고 이 짧은 지시문에도 세 가지가 들어 있습니다. 만들 파일 이름, 만들 것, 그리고 확인 방법. 좋은 지시의 최소 골격입니다.
Cline은 파일을 만들기 전에 변경 내용을 보여 주고 승인을 기다립니다. 무조건 승인 누르지 말고, 뭘 만들려는지 읽고 승인하는 습관을 오늘 첫 지시부터 들이세요.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생성됐다고 끝이 아닙니다. 바퀴를 끝까지 돌립니다.
첫째, 실행합니다. 터미널에서 python temp.py. 77.0이 나오는지 확인하세요. 25도면 화씨 77도가 맞습니다. 둘째, 코드를 엽니다. 화면 예시처럼 짧은 함수일 텐데, 한 줄 한 줄 무슨 일을 하는지 옆 사람에게 설명할 수 있는지 스스로 점검하세요. 1강에서 정한 규칙 2번, 설명하지 못하면 내 것이 아니다 — 오늘부터 적용입니다. 셋째, 결과가 기대와 다르면 그 차이를 말로 정리해서 다시 지시합니다. 예를 들어 소수점이 길게 나오면 "한 자리로 반올림해 줘"라고요.
그리고 눈치채셨나요. 지시, 생성, 확인, 수정 지시 — 2부에서 그림으로 봤던 초소형 스프린트를 방금 여러분이 실제로 한 바퀴 돌린 겁니다. 앞으로 한 학기 동안 이 바퀴를 수백 번 돌리게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 될 때 점검 네 가지입니다.
키 오류, 401이나 invalid key가 뜨면 십중팔구 복사 문제입니다. 앞뒤에 공백이나 줄바꿈이 섞였거나 따옴표까지 복사한 경우죠. 키를 다시 깨끗하게 복사해 붙이고, 환경변수를 고쳤다면 새 터미널을 열고 VS Code도 재시작하세요.
429는 한도 초과인데, 겁먹지 마세요. 요금 문제가 아니라 무료 등급의 분당 속도 제한입니다. 1분 기다렸다 다시 하면 됩니다.
응답이 아예 없으면 네트워크 쪽입니다. 교내 와이파이에서 가끔 있으니 핫스팟으로 바꿔 보거나, Cline 확장이나 VS Code를 재시작해 보세요.
그래도 안 되면 옆 사람 설정 화면과 나란히 놓고 비교하고, 손 드세요. 이때 오류 메시지를 지우지 말고 그대로 보여 주는 게 해결이 제일 빠릅니다.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체크리스트 다섯 개. 키 발급, 환경변수 등록, echo 확인, Cline 응답, 그리고 temp.py 실행 결과 77.0.
오늘 출석 인증은 지난주와 이어집니다. temp.py를 지난주에 만든 hello-sw 저장소에 push하고, 저장소 주소를 LMS 2주차 게시판에 올리세요. git add, commit, push — 지난주에 한 그대로입니다.
그리고 여기서 오늘 배운 게 바로 연결되죠. temp.py를 GitHub에 올려도 되는 이유가 뭘까요? 코드 안에 키가 없기 때문입니다. 환경변수에 넣어 둔 덕분에 코드는 공개해도 안전한 겁니다. 만약 코드에 키를 직접 박았다면 지금 push하는 순간 사고가 났을 거예요. 오늘 보안 슬라이드가 괜히 있었던 게 아닙니다.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오늘을 세 문장으로 정리합니다.
첫째, 정답 모델은 없습니다. 요구가 얼마나 확실한지, 변경이 얼마나 올지 — 상황이 폭포수, 반복, 애자일 중에서 고릅니다. 시험에서 모델을 고르라는 문제가 나오면 반드시 상황 근거를 함께 쓰셔야 합니다.
둘째, 애자일의 본질은 짧은 고정 주기와 잦은 확인입니다. 그리고 AI는 그 주기를 분 단위의 지시-생성-확인-수정 루프로 압축했습니다. 여러분이 오늘 직접 한 바퀴 돌려 봤죠.
셋째, 오늘의 진짜 결과물은 temp.py가 아니라 두 가지 습관입니다. 키는 환경변수에, 지시는 확인 가능한 크기로. 이 둘만 몸에 붙어도 오늘 수업은 성공입니다.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 주 예고입니다. 3주차는 드디어 이 수업의 핵심 기술, 지시문 작성으로 들어갑니다.
먼저 생성형 AI가 어떻게 동작하는지 원리를 봅니다. 왜 같은 지시에도 매번 다른 답이 나오는지, 왜 AI가 그럴듯한 거짓말을 하는지 — 원리를 알아야 도구를 부릴 수 있으니까요. 그다음 지시문의 구조를 배웁니다. 역할, 맥락, 요구, 형식. 같은 기능도 지시문에 따라 결과가 얼마나 달라지는지 직접 비교 실험을 할 겁니다.
그리고 첫 과제가 3주차에 나갑니다. 같은 기능을 세 가지 다른 지시문으로 요청하고 결과를 비교 분석하는 과제입니다. 오늘 연결한 환경 그대로 쓰니까, 오늘 뭔가 찜찜하게 끝난 분은 이번 주 안에 꼭 정리해 두세요.
temp.py push하고 저장소 주소 제출하는 것 잊지 마시고, 오늘도 수고 많으셨습니다.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1.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2.png"/><Relationship Id="rId4" Type="http://schemas.openxmlformats.org/officeDocument/2006/relationships/image" Target="../media/image-25-2.png"/><Relationship Id="rId5" Type="http://schemas.openxmlformats.org/officeDocument/2006/relationships/image" Target="../media/image-25-2.png"/><Relationship Id="rId6" Type="http://schemas.openxmlformats.org/officeDocument/2006/relationships/image" Target="../media/image-25-2.png"/><Relationship Id="rId7" Type="http://schemas.openxmlformats.org/officeDocument/2006/relationships/slideLayout" Target="../slideLayouts/slideLayout1.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1.xml"/><Relationship Id="rId5"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63A"/>
        </a:solidFill>
      </p:bgPr>
    </p:bg>
    <p:spTree>
      <p:nvGrpSpPr>
        <p:cNvPr id="1" name=""/>
        <p:cNvGrpSpPr/>
        <p:nvPr/>
      </p:nvGrpSpPr>
      <p:grpSpPr>
        <a:xfrm>
          <a:off x="0" y="0"/>
          <a:ext cx="0" cy="0"/>
          <a:chOff x="0" y="0"/>
          <a:chExt cx="0" cy="0"/>
        </a:xfrm>
      </p:grpSpPr>
      <p:sp>
        <p:nvSpPr>
          <p:cNvPr id="2" name="Shape 0"/>
          <p:cNvSpPr/>
          <p:nvPr/>
        </p:nvSpPr>
        <p:spPr>
          <a:xfrm>
            <a:off x="8778240" y="-2377440"/>
            <a:ext cx="6583680" cy="6583680"/>
          </a:xfrm>
          <a:prstGeom prst="ellipse">
            <a:avLst/>
          </a:prstGeom>
          <a:solidFill>
            <a:srgbClr val="201E4C"/>
          </a:solidFill>
          <a:ln/>
        </p:spPr>
      </p:sp>
      <p:sp>
        <p:nvSpPr>
          <p:cNvPr id="3" name="Shape 1"/>
          <p:cNvSpPr/>
          <p:nvPr/>
        </p:nvSpPr>
        <p:spPr>
          <a:xfrm>
            <a:off x="-1920240" y="4206240"/>
            <a:ext cx="4937760" cy="4937760"/>
          </a:xfrm>
          <a:prstGeom prst="ellipse">
            <a:avLst/>
          </a:prstGeom>
          <a:solidFill>
            <a:srgbClr val="2A2860"/>
          </a:solidFill>
          <a:ln/>
        </p:spPr>
      </p:sp>
      <p:sp>
        <p:nvSpPr>
          <p:cNvPr id="4" name="Shape 2"/>
          <p:cNvSpPr/>
          <p:nvPr/>
        </p:nvSpPr>
        <p:spPr>
          <a:xfrm>
            <a:off x="10149840" y="4937760"/>
            <a:ext cx="2377440" cy="2377440"/>
          </a:xfrm>
          <a:prstGeom prst="ellipse">
            <a:avLst/>
          </a:prstGeom>
          <a:solidFill>
            <a:srgbClr val="17163A"/>
          </a:solidFill>
          <a:ln w="19050">
            <a:solidFill>
              <a:srgbClr val="7C3AED"/>
            </a:solidFill>
            <a:prstDash val="solid"/>
          </a:ln>
        </p:spPr>
      </p:sp>
      <p:sp>
        <p:nvSpPr>
          <p:cNvPr id="5" name="Text 3"/>
          <p:cNvSpPr/>
          <p:nvPr/>
        </p:nvSpPr>
        <p:spPr>
          <a:xfrm>
            <a:off x="658368" y="1417320"/>
            <a:ext cx="8229600" cy="292608"/>
          </a:xfrm>
          <a:prstGeom prst="rect">
            <a:avLst/>
          </a:prstGeom>
          <a:noFill/>
          <a:ln/>
        </p:spPr>
        <p:txBody>
          <a:bodyPr wrap="square" lIns="0" tIns="0" rIns="0" bIns="0" rtlCol="0" anchor="ctr"/>
          <a:lstStyle/>
          <a:p>
            <a:pPr indent="0" marL="0">
              <a:buNone/>
            </a:pPr>
            <a:r>
              <a:rPr lang="en-US" sz="1300" b="1" spc="200" kern="0" dirty="0">
                <a:solidFill>
                  <a:srgbClr val="B79CF7"/>
                </a:solidFill>
                <a:latin typeface="Malgun Gothic" pitchFamily="34" charset="0"/>
                <a:ea typeface="Malgun Gothic" pitchFamily="34" charset="-122"/>
                <a:cs typeface="Malgun Gothic" pitchFamily="34" charset="-120"/>
              </a:rPr>
              <a:t>생성형 AI 소프트웨어공학  ·  2026학년도 2학기  ·  2강</a:t>
            </a:r>
            <a:endParaRPr lang="en-US" sz="1300" dirty="0"/>
          </a:p>
        </p:txBody>
      </p:sp>
      <p:sp>
        <p:nvSpPr>
          <p:cNvPr id="6" name="Text 4"/>
          <p:cNvSpPr/>
          <p:nvPr/>
        </p:nvSpPr>
        <p:spPr>
          <a:xfrm>
            <a:off x="658368" y="1874520"/>
            <a:ext cx="9326880" cy="2103120"/>
          </a:xfrm>
          <a:prstGeom prst="rect">
            <a:avLst/>
          </a:prstGeom>
          <a:noFill/>
          <a:ln/>
        </p:spPr>
        <p:txBody>
          <a:bodyPr wrap="square" lIns="0" tIns="0" rIns="0" bIns="0" rtlCol="0" anchor="t"/>
          <a:lstStyle/>
          <a:p>
            <a:pPr indent="0" marL="0">
              <a:lnSpc>
                <a:spcPts val="6000"/>
              </a:lnSpc>
              <a:buNone/>
            </a:pPr>
            <a:r>
              <a:rPr lang="en-US" sz="4600" b="1" dirty="0">
                <a:solidFill>
                  <a:srgbClr val="FFFFFF"/>
                </a:solidFill>
                <a:latin typeface="Malgun Gothic" pitchFamily="34" charset="0"/>
                <a:ea typeface="Malgun Gothic" pitchFamily="34" charset="-122"/>
                <a:cs typeface="Malgun Gothic" pitchFamily="34" charset="-120"/>
              </a:rPr>
              <a:t>소프트웨어 개발</a:t>
            </a:r>
            <a:endParaRPr lang="en-US" sz="4600" dirty="0"/>
          </a:p>
          <a:p>
            <a:pPr indent="0" marL="0">
              <a:lnSpc>
                <a:spcPts val="6000"/>
              </a:lnSpc>
              <a:buNone/>
            </a:pPr>
            <a:r>
              <a:rPr lang="en-US" sz="4600" b="1" dirty="0">
                <a:solidFill>
                  <a:srgbClr val="FFFFFF"/>
                </a:solidFill>
                <a:latin typeface="Malgun Gothic" pitchFamily="34" charset="0"/>
                <a:ea typeface="Malgun Gothic" pitchFamily="34" charset="-122"/>
                <a:cs typeface="Malgun Gothic" pitchFamily="34" charset="-120"/>
              </a:rPr>
              <a:t>프로세스 모델</a:t>
            </a:r>
            <a:endParaRPr lang="en-US" sz="4600" dirty="0"/>
          </a:p>
        </p:txBody>
      </p:sp>
      <p:sp>
        <p:nvSpPr>
          <p:cNvPr id="7" name="Text 5"/>
          <p:cNvSpPr/>
          <p:nvPr/>
        </p:nvSpPr>
        <p:spPr>
          <a:xfrm>
            <a:off x="658368" y="4160520"/>
            <a:ext cx="9144000" cy="548640"/>
          </a:xfrm>
          <a:prstGeom prst="rect">
            <a:avLst/>
          </a:prstGeom>
          <a:noFill/>
          <a:ln/>
        </p:spPr>
        <p:txBody>
          <a:bodyPr wrap="square" lIns="0" tIns="0" rIns="0" bIns="0" rtlCol="0" anchor="ctr"/>
          <a:lstStyle/>
          <a:p>
            <a:pPr indent="0" marL="0">
              <a:buNone/>
            </a:pPr>
            <a:r>
              <a:rPr lang="en-US" sz="1500" dirty="0">
                <a:solidFill>
                  <a:srgbClr val="E7E6FB"/>
                </a:solidFill>
                <a:latin typeface="Malgun Gothic" pitchFamily="34" charset="0"/>
                <a:ea typeface="Malgun Gothic" pitchFamily="34" charset="-122"/>
                <a:cs typeface="Malgun Gothic" pitchFamily="34" charset="-120"/>
              </a:rPr>
              <a:t>그리고 AI 도구 환경 구축 — Gemini API 키 발급 · 환경변수 설정 · VS Code에 Cline 연결</a:t>
            </a:r>
            <a:endParaRPr lang="en-US" sz="1500" dirty="0"/>
          </a:p>
        </p:txBody>
      </p:sp>
      <p:sp>
        <p:nvSpPr>
          <p:cNvPr id="8" name="Text 6"/>
          <p:cNvSpPr/>
          <p:nvPr/>
        </p:nvSpPr>
        <p:spPr>
          <a:xfrm>
            <a:off x="658368" y="5989320"/>
            <a:ext cx="7315200" cy="365760"/>
          </a:xfrm>
          <a:prstGeom prst="rect">
            <a:avLst/>
          </a:prstGeom>
          <a:noFill/>
          <a:ln/>
        </p:spPr>
        <p:txBody>
          <a:bodyPr wrap="square" lIns="0" tIns="0" rIns="0" bIns="0" rtlCol="0" anchor="ctr"/>
          <a:lstStyle/>
          <a:p>
            <a:pPr indent="0" marL="0">
              <a:buNone/>
            </a:pPr>
            <a:r>
              <a:rPr lang="en-US" sz="1300" dirty="0">
                <a:solidFill>
                  <a:srgbClr val="9E9CCF"/>
                </a:solidFill>
                <a:latin typeface="Malgun Gothic" pitchFamily="34" charset="0"/>
                <a:ea typeface="Malgun Gothic" pitchFamily="34" charset="-122"/>
                <a:cs typeface="Malgun Gothic" pitchFamily="34" charset="-120"/>
              </a:rPr>
              <a:t>대전대학교 컴퓨터공학과  ·  박상돈</a:t>
            </a:r>
            <a:endParaRPr lang="en-US" sz="1300" dirty="0"/>
          </a:p>
        </p:txBody>
      </p:sp>
      <p:sp>
        <p:nvSpPr>
          <p:cNvPr id="9" name="Shape 7"/>
          <p:cNvSpPr/>
          <p:nvPr/>
        </p:nvSpPr>
        <p:spPr>
          <a:xfrm>
            <a:off x="9829800" y="1234440"/>
            <a:ext cx="1417320" cy="1417320"/>
          </a:xfrm>
          <a:prstGeom prst="ellipse">
            <a:avLst/>
          </a:prstGeom>
          <a:solidFill>
            <a:srgbClr val="7C3AED"/>
          </a:solidFill>
          <a:ln/>
        </p:spPr>
      </p:sp>
      <p:pic>
        <p:nvPicPr>
          <p:cNvPr id="10" name="Image 0" descr="/home/claude/icons/route_white.png">    </p:cNvPr>
          <p:cNvPicPr>
            <a:picLocks noChangeAspect="1"/>
          </p:cNvPicPr>
          <p:nvPr/>
        </p:nvPicPr>
        <p:blipFill>
          <a:blip r:embed="rId1"/>
          <a:stretch>
            <a:fillRect/>
          </a:stretch>
        </p:blipFill>
        <p:spPr>
          <a:xfrm>
            <a:off x="10184130" y="1588770"/>
            <a:ext cx="708660" cy="7086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057400" cy="384048"/>
          </a:xfrm>
          <a:prstGeom prst="roundRect">
            <a:avLst>
              <a:gd name="adj" fmla="val 50000"/>
            </a:avLst>
          </a:prstGeom>
          <a:solidFill>
            <a:srgbClr val="EDECFB"/>
          </a:solidFill>
          <a:ln/>
        </p:spPr>
      </p:sp>
      <p:pic>
        <p:nvPicPr>
          <p:cNvPr id="3" name="Image 0" descr="/home/claude/icons/compass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1673352"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2강 · 수업 안내</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지난 시간, 그리고 오늘</a:t>
            </a:r>
            <a:endParaRPr lang="en-US" sz="2600" dirty="0"/>
          </a:p>
        </p:txBody>
      </p:sp>
      <p:sp>
        <p:nvSpPr>
          <p:cNvPr id="6" name="Shape 3"/>
          <p:cNvSpPr/>
          <p:nvPr/>
        </p:nvSpPr>
        <p:spPr>
          <a:xfrm>
            <a:off x="658368" y="1783080"/>
            <a:ext cx="4892040" cy="3977640"/>
          </a:xfrm>
          <a:prstGeom prst="roundRect">
            <a:avLst>
              <a:gd name="adj" fmla="val 2299"/>
            </a:avLst>
          </a:prstGeom>
          <a:solidFill>
            <a:srgbClr val="F5F4FC"/>
          </a:solidFill>
          <a:ln/>
        </p:spPr>
      </p:sp>
      <p:sp>
        <p:nvSpPr>
          <p:cNvPr id="7" name="Text 4"/>
          <p:cNvSpPr/>
          <p:nvPr/>
        </p:nvSpPr>
        <p:spPr>
          <a:xfrm>
            <a:off x="932688" y="1993392"/>
            <a:ext cx="4206240" cy="310896"/>
          </a:xfrm>
          <a:prstGeom prst="rect">
            <a:avLst/>
          </a:prstGeom>
          <a:noFill/>
          <a:ln/>
        </p:spPr>
        <p:txBody>
          <a:bodyPr wrap="square" lIns="0" tIns="0" rIns="0" bIns="0" rtlCol="0" anchor="ctr"/>
          <a:lstStyle/>
          <a:p>
            <a:pPr indent="0" marL="0">
              <a:buNone/>
            </a:pPr>
            <a:r>
              <a:rPr lang="en-US" sz="1350" b="1" dirty="0">
                <a:solidFill>
                  <a:srgbClr val="4338CA"/>
                </a:solidFill>
                <a:latin typeface="Malgun Gothic" pitchFamily="34" charset="0"/>
                <a:ea typeface="Malgun Gothic" pitchFamily="34" charset="-122"/>
                <a:cs typeface="Malgun Gothic" pitchFamily="34" charset="-120"/>
              </a:rPr>
              <a:t>지난 시간 요약</a:t>
            </a:r>
            <a:endParaRPr lang="en-US" sz="1350" dirty="0"/>
          </a:p>
        </p:txBody>
      </p:sp>
      <p:sp>
        <p:nvSpPr>
          <p:cNvPr id="8" name="Text 5"/>
          <p:cNvSpPr/>
          <p:nvPr/>
        </p:nvSpPr>
        <p:spPr>
          <a:xfrm>
            <a:off x="932688" y="2395728"/>
            <a:ext cx="4370832" cy="3108960"/>
          </a:xfrm>
          <a:prstGeom prst="rect">
            <a:avLst/>
          </a:prstGeom>
          <a:noFill/>
          <a:ln/>
        </p:spPr>
        <p:txBody>
          <a:bodyPr wrap="square" lIns="0" tIns="0" rIns="0" bIns="0" rtlCol="0" anchor="t"/>
          <a:lstStyle/>
          <a:p>
            <a:pPr algn="l" indent="0" marL="0">
              <a:lnSpc>
                <a:spcPts val="1800"/>
              </a:lnSpc>
              <a:buNone/>
            </a:pPr>
            <a:r>
              <a:rPr lang="en-US" sz="1200" dirty="0">
                <a:solidFill>
                  <a:srgbClr val="3C3B57"/>
                </a:solidFill>
                <a:latin typeface="Malgun Gothic" pitchFamily="34" charset="0"/>
                <a:ea typeface="Malgun Gothic" pitchFamily="34" charset="-122"/>
                <a:cs typeface="Malgun Gothic" pitchFamily="34" charset="-120"/>
              </a:rPr>
              <a:t>소프트웨어공학은 '만드는 과정'의 학문이고, 큰 사고는 늘 과정에서 왔습니다.</a:t>
            </a:r>
            <a:endParaRPr lang="en-US" sz="1200" dirty="0"/>
          </a:p>
          <a:p>
            <a:pPr algn="l" indent="0" marL="0">
              <a:lnSpc>
                <a:spcPts val="1800"/>
              </a:lnSpc>
              <a:buNone/>
            </a:pPr>
            <a:endParaRPr lang="en-US" sz="1200" dirty="0"/>
          </a:p>
          <a:p>
            <a:pPr algn="l" indent="0" marL="0">
              <a:lnSpc>
                <a:spcPts val="1800"/>
              </a:lnSpc>
              <a:buNone/>
            </a:pPr>
            <a:r>
              <a:rPr lang="en-US" sz="1200" dirty="0">
                <a:solidFill>
                  <a:srgbClr val="3C3B57"/>
                </a:solidFill>
                <a:latin typeface="Malgun Gothic" pitchFamily="34" charset="0"/>
                <a:ea typeface="Malgun Gothic" pitchFamily="34" charset="-122"/>
                <a:cs typeface="Malgun Gothic" pitchFamily="34" charset="-120"/>
              </a:rPr>
              <a:t>구현이 자동화될수록 정의 · 설계 · 검증 · 책임이라는 사람의 몫이 커집니다.</a:t>
            </a:r>
            <a:endParaRPr lang="en-US" sz="1200" dirty="0"/>
          </a:p>
          <a:p>
            <a:pPr algn="l" indent="0" marL="0">
              <a:lnSpc>
                <a:spcPts val="1800"/>
              </a:lnSpc>
              <a:buNone/>
            </a:pPr>
            <a:endParaRPr lang="en-US" sz="1200" dirty="0"/>
          </a:p>
          <a:p>
            <a:pPr algn="l" indent="0" marL="0">
              <a:lnSpc>
                <a:spcPts val="1800"/>
              </a:lnSpc>
              <a:buNone/>
            </a:pPr>
            <a:r>
              <a:rPr lang="en-US" sz="1200" dirty="0">
                <a:solidFill>
                  <a:srgbClr val="3C3B57"/>
                </a:solidFill>
                <a:latin typeface="Malgun Gothic" pitchFamily="34" charset="0"/>
                <a:ea typeface="Malgun Gothic" pitchFamily="34" charset="-122"/>
                <a:cs typeface="Malgun Gothic" pitchFamily="34" charset="-120"/>
              </a:rPr>
              <a:t>그리고 여러분 노트북에는 이제 Python · VS Code · Git · GitHub 작업대가 있습니다. 오늘 그 위에 AI를 얹습니다.</a:t>
            </a:r>
            <a:endParaRPr lang="en-US" sz="1200" dirty="0"/>
          </a:p>
        </p:txBody>
      </p:sp>
      <p:sp>
        <p:nvSpPr>
          <p:cNvPr id="9" name="Shape 6"/>
          <p:cNvSpPr/>
          <p:nvPr/>
        </p:nvSpPr>
        <p:spPr>
          <a:xfrm>
            <a:off x="5897880" y="1783080"/>
            <a:ext cx="5632704" cy="1170432"/>
          </a:xfrm>
          <a:prstGeom prst="roundRect">
            <a:avLst>
              <a:gd name="adj" fmla="val 7813"/>
            </a:avLst>
          </a:prstGeom>
          <a:solidFill>
            <a:srgbClr val="FFFFFF"/>
          </a:solidFill>
          <a:ln/>
          <a:effectLst>
            <a:outerShdw sx="100000" sy="100000" kx="0" ky="0" algn="bl" rotWithShape="0" blurRad="152400" dist="25400" dir="5400000">
              <a:srgbClr val="1F1D48">
                <a:alpha val="16000"/>
              </a:srgbClr>
            </a:outerShdw>
          </a:effectLst>
        </p:spPr>
      </p:sp>
      <p:sp>
        <p:nvSpPr>
          <p:cNvPr id="10" name="Shape 7"/>
          <p:cNvSpPr/>
          <p:nvPr/>
        </p:nvSpPr>
        <p:spPr>
          <a:xfrm>
            <a:off x="6117336" y="2121408"/>
            <a:ext cx="493776" cy="493776"/>
          </a:xfrm>
          <a:prstGeom prst="ellipse">
            <a:avLst/>
          </a:prstGeom>
          <a:solidFill>
            <a:srgbClr val="7C3AED"/>
          </a:solidFill>
          <a:ln/>
        </p:spPr>
      </p:sp>
      <p:sp>
        <p:nvSpPr>
          <p:cNvPr id="11" name="Text 8"/>
          <p:cNvSpPr/>
          <p:nvPr/>
        </p:nvSpPr>
        <p:spPr>
          <a:xfrm>
            <a:off x="6117336" y="2121408"/>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1</a:t>
            </a:r>
            <a:endParaRPr lang="en-US" sz="1800" dirty="0"/>
          </a:p>
        </p:txBody>
      </p:sp>
      <p:sp>
        <p:nvSpPr>
          <p:cNvPr id="12" name="Text 9"/>
          <p:cNvSpPr/>
          <p:nvPr/>
        </p:nvSpPr>
        <p:spPr>
          <a:xfrm>
            <a:off x="6830568" y="1947672"/>
            <a:ext cx="4480560" cy="329184"/>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개발 프로세스 모델</a:t>
            </a:r>
            <a:endParaRPr lang="en-US" sz="1400" dirty="0"/>
          </a:p>
        </p:txBody>
      </p:sp>
      <p:sp>
        <p:nvSpPr>
          <p:cNvPr id="13" name="Text 10"/>
          <p:cNvSpPr/>
          <p:nvPr/>
        </p:nvSpPr>
        <p:spPr>
          <a:xfrm>
            <a:off x="6830568" y="2295144"/>
            <a:ext cx="4480560" cy="548640"/>
          </a:xfrm>
          <a:prstGeom prst="rect">
            <a:avLst/>
          </a:prstGeom>
          <a:noFill/>
          <a:ln/>
        </p:spPr>
        <p:txBody>
          <a:bodyPr wrap="square" lIns="0" tIns="0" rIns="0" bIns="0" rtlCol="0" anchor="t"/>
          <a:lstStyle/>
          <a:p>
            <a:pPr indent="0" marL="0">
              <a:lnSpc>
                <a:spcPts val="1550"/>
              </a:lnSpc>
              <a:buNone/>
            </a:pPr>
            <a:r>
              <a:rPr lang="en-US" sz="1100" dirty="0">
                <a:solidFill>
                  <a:srgbClr val="3C3B57"/>
                </a:solidFill>
                <a:latin typeface="Malgun Gothic" pitchFamily="34" charset="0"/>
                <a:ea typeface="Malgun Gothic" pitchFamily="34" charset="-122"/>
                <a:cs typeface="Malgun Gothic" pitchFamily="34" charset="-120"/>
              </a:rPr>
              <a:t>폭포수 · 반복적 · 애자일 — 순서가 결과를 바꿉니다.</a:t>
            </a:r>
            <a:endParaRPr lang="en-US" sz="1100" dirty="0"/>
          </a:p>
        </p:txBody>
      </p:sp>
      <p:sp>
        <p:nvSpPr>
          <p:cNvPr id="14" name="Shape 11"/>
          <p:cNvSpPr/>
          <p:nvPr/>
        </p:nvSpPr>
        <p:spPr>
          <a:xfrm>
            <a:off x="5897880" y="3136392"/>
            <a:ext cx="5632704" cy="1170432"/>
          </a:xfrm>
          <a:prstGeom prst="roundRect">
            <a:avLst>
              <a:gd name="adj" fmla="val 7813"/>
            </a:avLst>
          </a:prstGeom>
          <a:solidFill>
            <a:srgbClr val="FFFFFF"/>
          </a:solidFill>
          <a:ln/>
          <a:effectLst>
            <a:outerShdw sx="100000" sy="100000" kx="0" ky="0" algn="bl" rotWithShape="0" blurRad="152400" dist="25400" dir="5400000">
              <a:srgbClr val="1F1D48">
                <a:alpha val="16000"/>
              </a:srgbClr>
            </a:outerShdw>
          </a:effectLst>
        </p:spPr>
      </p:sp>
      <p:sp>
        <p:nvSpPr>
          <p:cNvPr id="15" name="Shape 12"/>
          <p:cNvSpPr/>
          <p:nvPr/>
        </p:nvSpPr>
        <p:spPr>
          <a:xfrm>
            <a:off x="6117336" y="3474720"/>
            <a:ext cx="493776" cy="493776"/>
          </a:xfrm>
          <a:prstGeom prst="ellipse">
            <a:avLst/>
          </a:prstGeom>
          <a:solidFill>
            <a:srgbClr val="38BDF8"/>
          </a:solidFill>
          <a:ln/>
        </p:spPr>
      </p:sp>
      <p:sp>
        <p:nvSpPr>
          <p:cNvPr id="16" name="Text 13"/>
          <p:cNvSpPr/>
          <p:nvPr/>
        </p:nvSpPr>
        <p:spPr>
          <a:xfrm>
            <a:off x="6117336" y="347472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2</a:t>
            </a:r>
            <a:endParaRPr lang="en-US" sz="1800" dirty="0"/>
          </a:p>
        </p:txBody>
      </p:sp>
      <p:sp>
        <p:nvSpPr>
          <p:cNvPr id="17" name="Text 14"/>
          <p:cNvSpPr/>
          <p:nvPr/>
        </p:nvSpPr>
        <p:spPr>
          <a:xfrm>
            <a:off x="6830568" y="3300984"/>
            <a:ext cx="4480560" cy="329184"/>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애자일 실무 용어</a:t>
            </a:r>
            <a:endParaRPr lang="en-US" sz="1400" dirty="0"/>
          </a:p>
        </p:txBody>
      </p:sp>
      <p:sp>
        <p:nvSpPr>
          <p:cNvPr id="18" name="Text 15"/>
          <p:cNvSpPr/>
          <p:nvPr/>
        </p:nvSpPr>
        <p:spPr>
          <a:xfrm>
            <a:off x="6830568" y="3648456"/>
            <a:ext cx="4480560" cy="548640"/>
          </a:xfrm>
          <a:prstGeom prst="rect">
            <a:avLst/>
          </a:prstGeom>
          <a:noFill/>
          <a:ln/>
        </p:spPr>
        <p:txBody>
          <a:bodyPr wrap="square" lIns="0" tIns="0" rIns="0" bIns="0" rtlCol="0" anchor="t"/>
          <a:lstStyle/>
          <a:p>
            <a:pPr indent="0" marL="0">
              <a:lnSpc>
                <a:spcPts val="1550"/>
              </a:lnSpc>
              <a:buNone/>
            </a:pPr>
            <a:r>
              <a:rPr lang="en-US" sz="1100" dirty="0">
                <a:solidFill>
                  <a:srgbClr val="3C3B57"/>
                </a:solidFill>
                <a:latin typeface="Malgun Gothic" pitchFamily="34" charset="0"/>
                <a:ea typeface="Malgun Gothic" pitchFamily="34" charset="-122"/>
                <a:cs typeface="Malgun Gothic" pitchFamily="34" charset="-120"/>
              </a:rPr>
              <a:t>스프린트 · 데일리 스크럼 · 백로그 — 팀 프로젝트의 공용어.</a:t>
            </a:r>
            <a:endParaRPr lang="en-US" sz="1100" dirty="0"/>
          </a:p>
        </p:txBody>
      </p:sp>
      <p:sp>
        <p:nvSpPr>
          <p:cNvPr id="19" name="Shape 16"/>
          <p:cNvSpPr/>
          <p:nvPr/>
        </p:nvSpPr>
        <p:spPr>
          <a:xfrm>
            <a:off x="5897880" y="4489704"/>
            <a:ext cx="5632704" cy="1170432"/>
          </a:xfrm>
          <a:prstGeom prst="roundRect">
            <a:avLst>
              <a:gd name="adj" fmla="val 7813"/>
            </a:avLst>
          </a:prstGeom>
          <a:solidFill>
            <a:srgbClr val="FFFFFF"/>
          </a:solidFill>
          <a:ln/>
          <a:effectLst>
            <a:outerShdw sx="100000" sy="100000" kx="0" ky="0" algn="bl" rotWithShape="0" blurRad="152400" dist="25400" dir="5400000">
              <a:srgbClr val="1F1D48">
                <a:alpha val="16000"/>
              </a:srgbClr>
            </a:outerShdw>
          </a:effectLst>
        </p:spPr>
      </p:sp>
      <p:sp>
        <p:nvSpPr>
          <p:cNvPr id="20" name="Shape 17"/>
          <p:cNvSpPr/>
          <p:nvPr/>
        </p:nvSpPr>
        <p:spPr>
          <a:xfrm>
            <a:off x="6117336" y="4828032"/>
            <a:ext cx="493776" cy="493776"/>
          </a:xfrm>
          <a:prstGeom prst="ellipse">
            <a:avLst/>
          </a:prstGeom>
          <a:solidFill>
            <a:srgbClr val="14B8A6"/>
          </a:solidFill>
          <a:ln/>
        </p:spPr>
      </p:sp>
      <p:sp>
        <p:nvSpPr>
          <p:cNvPr id="21" name="Text 18"/>
          <p:cNvSpPr/>
          <p:nvPr/>
        </p:nvSpPr>
        <p:spPr>
          <a:xfrm>
            <a:off x="6117336" y="482803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3</a:t>
            </a:r>
            <a:endParaRPr lang="en-US" sz="1800" dirty="0"/>
          </a:p>
        </p:txBody>
      </p:sp>
      <p:sp>
        <p:nvSpPr>
          <p:cNvPr id="22" name="Text 19"/>
          <p:cNvSpPr/>
          <p:nvPr/>
        </p:nvSpPr>
        <p:spPr>
          <a:xfrm>
            <a:off x="6830568" y="4654296"/>
            <a:ext cx="4480560" cy="329184"/>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AI 도구 환경 구축 (실습)</a:t>
            </a:r>
            <a:endParaRPr lang="en-US" sz="1400" dirty="0"/>
          </a:p>
        </p:txBody>
      </p:sp>
      <p:sp>
        <p:nvSpPr>
          <p:cNvPr id="23" name="Text 20"/>
          <p:cNvSpPr/>
          <p:nvPr/>
        </p:nvSpPr>
        <p:spPr>
          <a:xfrm>
            <a:off x="6830568" y="5001768"/>
            <a:ext cx="4480560" cy="548640"/>
          </a:xfrm>
          <a:prstGeom prst="rect">
            <a:avLst/>
          </a:prstGeom>
          <a:noFill/>
          <a:ln/>
        </p:spPr>
        <p:txBody>
          <a:bodyPr wrap="square" lIns="0" tIns="0" rIns="0" bIns="0" rtlCol="0" anchor="t"/>
          <a:lstStyle/>
          <a:p>
            <a:pPr indent="0" marL="0">
              <a:lnSpc>
                <a:spcPts val="1550"/>
              </a:lnSpc>
              <a:buNone/>
            </a:pPr>
            <a:r>
              <a:rPr lang="en-US" sz="1100" dirty="0">
                <a:solidFill>
                  <a:srgbClr val="3C3B57"/>
                </a:solidFill>
                <a:latin typeface="Malgun Gothic" pitchFamily="34" charset="0"/>
                <a:ea typeface="Malgun Gothic" pitchFamily="34" charset="-122"/>
                <a:cs typeface="Malgun Gothic" pitchFamily="34" charset="-120"/>
              </a:rPr>
              <a:t>API 키 발급 → 환경변수 → Cline 연결 → 첫 지시.</a:t>
            </a:r>
            <a:endParaRPr lang="en-US" sz="1100" dirty="0"/>
          </a:p>
        </p:txBody>
      </p:sp>
      <p:sp>
        <p:nvSpPr>
          <p:cNvPr id="24" name="Text 21"/>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02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7163A"/>
        </a:solidFill>
      </p:bgPr>
    </p:bg>
    <p:spTree>
      <p:nvGrpSpPr>
        <p:cNvPr id="1" name=""/>
        <p:cNvGrpSpPr/>
        <p:nvPr/>
      </p:nvGrpSpPr>
      <p:grpSpPr>
        <a:xfrm>
          <a:off x="0" y="0"/>
          <a:ext cx="0" cy="0"/>
          <a:chOff x="0" y="0"/>
          <a:chExt cx="0" cy="0"/>
        </a:xfrm>
      </p:grpSpPr>
      <p:sp>
        <p:nvSpPr>
          <p:cNvPr id="2" name="Shape 0"/>
          <p:cNvSpPr/>
          <p:nvPr/>
        </p:nvSpPr>
        <p:spPr>
          <a:xfrm>
            <a:off x="8503920" y="-2103120"/>
            <a:ext cx="6035040" cy="6035040"/>
          </a:xfrm>
          <a:prstGeom prst="ellipse">
            <a:avLst/>
          </a:prstGeom>
          <a:solidFill>
            <a:srgbClr val="201E4C"/>
          </a:solidFill>
          <a:ln/>
        </p:spPr>
      </p:sp>
      <p:sp>
        <p:nvSpPr>
          <p:cNvPr id="3" name="Shape 1"/>
          <p:cNvSpPr/>
          <p:nvPr/>
        </p:nvSpPr>
        <p:spPr>
          <a:xfrm>
            <a:off x="-1737360" y="4480560"/>
            <a:ext cx="4297680" cy="4297680"/>
          </a:xfrm>
          <a:prstGeom prst="ellipse">
            <a:avLst/>
          </a:prstGeom>
          <a:solidFill>
            <a:srgbClr val="2A2860"/>
          </a:solidFill>
          <a:ln/>
        </p:spPr>
      </p:sp>
      <p:sp>
        <p:nvSpPr>
          <p:cNvPr id="4" name="Text 2"/>
          <p:cNvSpPr/>
          <p:nvPr/>
        </p:nvSpPr>
        <p:spPr>
          <a:xfrm>
            <a:off x="7863840" y="320040"/>
            <a:ext cx="3840480" cy="2103120"/>
          </a:xfrm>
          <a:prstGeom prst="rect">
            <a:avLst/>
          </a:prstGeom>
          <a:noFill/>
          <a:ln/>
        </p:spPr>
        <p:txBody>
          <a:bodyPr wrap="square" lIns="0" tIns="0" rIns="0" bIns="0" rtlCol="0" anchor="ctr"/>
          <a:lstStyle/>
          <a:p>
            <a:pPr algn="r" indent="0" marL="0">
              <a:buNone/>
            </a:pPr>
            <a:r>
              <a:rPr lang="en-US" sz="12000" b="1" dirty="0">
                <a:solidFill>
                  <a:srgbClr val="343070"/>
                </a:solidFill>
                <a:latin typeface="Malgun Gothic" pitchFamily="34" charset="0"/>
                <a:ea typeface="Malgun Gothic" pitchFamily="34" charset="-122"/>
                <a:cs typeface="Malgun Gothic" pitchFamily="34" charset="-120"/>
              </a:rPr>
              <a:t>01</a:t>
            </a:r>
            <a:endParaRPr lang="en-US" sz="12000" dirty="0"/>
          </a:p>
        </p:txBody>
      </p:sp>
      <p:sp>
        <p:nvSpPr>
          <p:cNvPr id="5" name="Shape 3"/>
          <p:cNvSpPr/>
          <p:nvPr/>
        </p:nvSpPr>
        <p:spPr>
          <a:xfrm>
            <a:off x="658368" y="2103120"/>
            <a:ext cx="1691640" cy="457200"/>
          </a:xfrm>
          <a:prstGeom prst="roundRect">
            <a:avLst>
              <a:gd name="adj" fmla="val 50000"/>
            </a:avLst>
          </a:prstGeom>
          <a:solidFill>
            <a:srgbClr val="7C3AED"/>
          </a:solidFill>
          <a:ln/>
        </p:spPr>
      </p:sp>
      <p:sp>
        <p:nvSpPr>
          <p:cNvPr id="6" name="Text 4"/>
          <p:cNvSpPr/>
          <p:nvPr/>
        </p:nvSpPr>
        <p:spPr>
          <a:xfrm>
            <a:off x="658368" y="2103120"/>
            <a:ext cx="1691640" cy="457200"/>
          </a:xfrm>
          <a:prstGeom prst="rect">
            <a:avLst/>
          </a:prstGeom>
          <a:noFill/>
          <a:ln/>
        </p:spPr>
        <p:txBody>
          <a:bodyPr wrap="square" lIns="0" tIns="0" rIns="0" bIns="0" rtlCol="0" anchor="ctr"/>
          <a:lstStyle/>
          <a:p>
            <a:pPr algn="ctr" indent="0" marL="0">
              <a:buNone/>
            </a:pPr>
            <a:r>
              <a:rPr lang="en-US" sz="1250" b="1" spc="200" kern="0" dirty="0">
                <a:solidFill>
                  <a:srgbClr val="FFFFFF"/>
                </a:solidFill>
                <a:latin typeface="Malgun Gothic" pitchFamily="34" charset="0"/>
                <a:ea typeface="Malgun Gothic" pitchFamily="34" charset="-122"/>
                <a:cs typeface="Malgun Gothic" pitchFamily="34" charset="-120"/>
              </a:rPr>
              <a:t>PART 1</a:t>
            </a:r>
            <a:endParaRPr lang="en-US" sz="1250" dirty="0"/>
          </a:p>
        </p:txBody>
      </p:sp>
      <p:sp>
        <p:nvSpPr>
          <p:cNvPr id="7" name="Text 5"/>
          <p:cNvSpPr/>
          <p:nvPr/>
        </p:nvSpPr>
        <p:spPr>
          <a:xfrm>
            <a:off x="658368" y="2743200"/>
            <a:ext cx="8961120" cy="1005840"/>
          </a:xfrm>
          <a:prstGeom prst="rect">
            <a:avLst/>
          </a:prstGeom>
          <a:noFill/>
          <a:ln/>
        </p:spPr>
        <p:txBody>
          <a:bodyPr wrap="square" lIns="0" tIns="0" rIns="0" bIns="0" rtlCol="0" anchor="t"/>
          <a:lstStyle/>
          <a:p>
            <a:pPr indent="0" marL="0">
              <a:lnSpc>
                <a:spcPts val="5000"/>
              </a:lnSpc>
              <a:buNone/>
            </a:pPr>
            <a:r>
              <a:rPr lang="en-US" sz="3800" b="1" dirty="0">
                <a:solidFill>
                  <a:srgbClr val="FFFFFF"/>
                </a:solidFill>
                <a:latin typeface="Malgun Gothic" pitchFamily="34" charset="0"/>
                <a:ea typeface="Malgun Gothic" pitchFamily="34" charset="-122"/>
                <a:cs typeface="Malgun Gothic" pitchFamily="34" charset="-120"/>
              </a:rPr>
              <a:t>개발 프로세스 모델</a:t>
            </a:r>
            <a:endParaRPr lang="en-US" sz="3800" dirty="0"/>
          </a:p>
        </p:txBody>
      </p:sp>
      <p:sp>
        <p:nvSpPr>
          <p:cNvPr id="8" name="Text 6"/>
          <p:cNvSpPr/>
          <p:nvPr/>
        </p:nvSpPr>
        <p:spPr>
          <a:xfrm>
            <a:off x="658368" y="3913632"/>
            <a:ext cx="9052560" cy="868680"/>
          </a:xfrm>
          <a:prstGeom prst="rect">
            <a:avLst/>
          </a:prstGeom>
          <a:noFill/>
          <a:ln/>
        </p:spPr>
        <p:txBody>
          <a:bodyPr wrap="square" lIns="0" tIns="0" rIns="0" bIns="0" rtlCol="0" anchor="t"/>
          <a:lstStyle/>
          <a:p>
            <a:pPr indent="0" marL="0">
              <a:lnSpc>
                <a:spcPts val="2200"/>
              </a:lnSpc>
              <a:buNone/>
            </a:pPr>
            <a:r>
              <a:rPr lang="en-US" sz="1400" dirty="0">
                <a:solidFill>
                  <a:srgbClr val="E7E6FB"/>
                </a:solidFill>
                <a:latin typeface="Malgun Gothic" pitchFamily="34" charset="0"/>
                <a:ea typeface="Malgun Gothic" pitchFamily="34" charset="-122"/>
                <a:cs typeface="Malgun Gothic" pitchFamily="34" charset="-120"/>
              </a:rPr>
              <a:t>같은 것을 만들어도 '순서'가 다르면 결과가 다릅니다 — 세 가지 대표 모델을 비교합니다.</a:t>
            </a:r>
            <a:endParaRPr lang="en-US" sz="1400" dirty="0"/>
          </a:p>
        </p:txBody>
      </p:sp>
      <p:sp>
        <p:nvSpPr>
          <p:cNvPr id="9" name="Shape 7"/>
          <p:cNvSpPr/>
          <p:nvPr/>
        </p:nvSpPr>
        <p:spPr>
          <a:xfrm>
            <a:off x="9738360" y="4343400"/>
            <a:ext cx="1325880" cy="1325880"/>
          </a:xfrm>
          <a:prstGeom prst="ellipse">
            <a:avLst/>
          </a:prstGeom>
          <a:solidFill>
            <a:srgbClr val="7C3AED"/>
          </a:solidFill>
          <a:ln/>
        </p:spPr>
      </p:sp>
      <p:pic>
        <p:nvPicPr>
          <p:cNvPr id="10" name="Image 0" descr="/home/claude/icons/route_white.png">    </p:cNvPr>
          <p:cNvPicPr>
            <a:picLocks noChangeAspect="1"/>
          </p:cNvPicPr>
          <p:nvPr/>
        </p:nvPicPr>
        <p:blipFill>
          <a:blip r:embed="rId1"/>
          <a:stretch>
            <a:fillRect/>
          </a:stretch>
        </p:blipFill>
        <p:spPr>
          <a:xfrm>
            <a:off x="10069830" y="4674870"/>
            <a:ext cx="662940" cy="662940"/>
          </a:xfrm>
          <a:prstGeom prst="rect">
            <a:avLst/>
          </a:prstGeom>
        </p:spPr>
      </p:pic>
      <p:sp>
        <p:nvSpPr>
          <p:cNvPr id="11" name="Text 8"/>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8A88C4"/>
                </a:solidFill>
                <a:latin typeface="Malgun Gothic" pitchFamily="34" charset="0"/>
                <a:ea typeface="Malgun Gothic" pitchFamily="34" charset="-122"/>
                <a:cs typeface="Malgun Gothic" pitchFamily="34" charset="-120"/>
              </a:rPr>
              <a:t>03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766060" cy="384048"/>
          </a:xfrm>
          <a:prstGeom prst="roundRect">
            <a:avLst>
              <a:gd name="adj" fmla="val 50000"/>
            </a:avLst>
          </a:prstGeom>
          <a:solidFill>
            <a:srgbClr val="EDECFB"/>
          </a:solidFill>
          <a:ln/>
        </p:spPr>
      </p:sp>
      <p:pic>
        <p:nvPicPr>
          <p:cNvPr id="3" name="Image 0" descr="/home/claude/icons/route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382012"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1부 · 개발 프로세스 모델</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프로세스 모델이란</a:t>
            </a:r>
            <a:endParaRPr lang="en-US" sz="2600" dirty="0"/>
          </a:p>
        </p:txBody>
      </p:sp>
      <p:sp>
        <p:nvSpPr>
          <p:cNvPr id="6" name="Shape 3"/>
          <p:cNvSpPr/>
          <p:nvPr/>
        </p:nvSpPr>
        <p:spPr>
          <a:xfrm>
            <a:off x="658368" y="1783080"/>
            <a:ext cx="10872216" cy="1417320"/>
          </a:xfrm>
          <a:prstGeom prst="roundRect">
            <a:avLst>
              <a:gd name="adj" fmla="val 6452"/>
            </a:avLst>
          </a:prstGeom>
          <a:solidFill>
            <a:srgbClr val="F5F4FC"/>
          </a:solidFill>
          <a:ln/>
        </p:spPr>
      </p:sp>
      <p:sp>
        <p:nvSpPr>
          <p:cNvPr id="7" name="Text 4"/>
          <p:cNvSpPr/>
          <p:nvPr/>
        </p:nvSpPr>
        <p:spPr>
          <a:xfrm>
            <a:off x="1024128" y="1920240"/>
            <a:ext cx="10140696" cy="1143000"/>
          </a:xfrm>
          <a:prstGeom prst="rect">
            <a:avLst/>
          </a:prstGeom>
          <a:noFill/>
          <a:ln/>
        </p:spPr>
        <p:txBody>
          <a:bodyPr wrap="square" lIns="0" tIns="0" rIns="0" bIns="0" rtlCol="0" anchor="ctr"/>
          <a:lstStyle/>
          <a:p>
            <a:pPr indent="0" marL="0">
              <a:lnSpc>
                <a:spcPts val="2500"/>
              </a:lnSpc>
              <a:buNone/>
            </a:pPr>
            <a:r>
              <a:rPr lang="en-US" sz="1550" dirty="0">
                <a:solidFill>
                  <a:srgbClr val="3C3B57"/>
                </a:solidFill>
                <a:latin typeface="Malgun Gothic" pitchFamily="34" charset="0"/>
                <a:ea typeface="Malgun Gothic" pitchFamily="34" charset="-122"/>
                <a:cs typeface="Malgun Gothic" pitchFamily="34" charset="-120"/>
              </a:rPr>
              <a:t>소프트웨어를 만드는 </a:t>
            </a:r>
            <a:pPr indent="0" marL="0">
              <a:lnSpc>
                <a:spcPts val="2500"/>
              </a:lnSpc>
              <a:buNone/>
            </a:pPr>
            <a:r>
              <a:rPr lang="en-US" sz="1550" b="1" dirty="0">
                <a:solidFill>
                  <a:srgbClr val="1E1B3A"/>
                </a:solidFill>
                <a:latin typeface="Malgun Gothic" pitchFamily="34" charset="0"/>
                <a:ea typeface="Malgun Gothic" pitchFamily="34" charset="-122"/>
                <a:cs typeface="Malgun Gothic" pitchFamily="34" charset="-120"/>
              </a:rPr>
              <a:t>활동들의 순서와 방식</a:t>
            </a:r>
            <a:pPr indent="0" marL="0">
              <a:lnSpc>
                <a:spcPts val="2500"/>
              </a:lnSpc>
              <a:buNone/>
            </a:pPr>
            <a:r>
              <a:rPr lang="en-US" sz="1550" dirty="0">
                <a:solidFill>
                  <a:srgbClr val="3C3B57"/>
                </a:solidFill>
                <a:latin typeface="Malgun Gothic" pitchFamily="34" charset="0"/>
                <a:ea typeface="Malgun Gothic" pitchFamily="34" charset="-122"/>
                <a:cs typeface="Malgun Gothic" pitchFamily="34" charset="-120"/>
              </a:rPr>
              <a:t>을 정해 둔 틀 — 무엇을 먼저 하고, 언제 확인하고,</a:t>
            </a:r>
            <a:endParaRPr lang="en-US" sz="1550" dirty="0"/>
          </a:p>
          <a:p>
            <a:pPr indent="0" marL="0">
              <a:lnSpc>
                <a:spcPts val="2500"/>
              </a:lnSpc>
              <a:buNone/>
            </a:pPr>
            <a:r>
              <a:rPr lang="en-US" sz="1550" dirty="0">
                <a:solidFill>
                  <a:srgbClr val="3C3B57"/>
                </a:solidFill>
                <a:latin typeface="Malgun Gothic" pitchFamily="34" charset="0"/>
                <a:ea typeface="Malgun Gothic" pitchFamily="34" charset="-122"/>
                <a:cs typeface="Malgun Gothic" pitchFamily="34" charset="-120"/>
              </a:rPr>
              <a:t>어떻게 변경에 대응할지에 대한 </a:t>
            </a:r>
            <a:endParaRPr lang="en-US" sz="1550" dirty="0"/>
          </a:p>
          <a:p>
            <a:pPr indent="0" marL="0">
              <a:lnSpc>
                <a:spcPts val="2500"/>
              </a:lnSpc>
              <a:buNone/>
            </a:pPr>
            <a:r>
              <a:rPr lang="en-US" sz="1550" b="1" dirty="0">
                <a:solidFill>
                  <a:srgbClr val="1E1B3A"/>
                </a:solidFill>
                <a:latin typeface="Malgun Gothic" pitchFamily="34" charset="0"/>
                <a:ea typeface="Malgun Gothic" pitchFamily="34" charset="-122"/>
                <a:cs typeface="Malgun Gothic" pitchFamily="34" charset="-120"/>
              </a:rPr>
              <a:t>팀의 합의</a:t>
            </a:r>
            <a:pPr indent="0" marL="0">
              <a:lnSpc>
                <a:spcPts val="2500"/>
              </a:lnSpc>
              <a:buNone/>
            </a:pPr>
            <a:r>
              <a:rPr lang="en-US" sz="1550" dirty="0">
                <a:solidFill>
                  <a:srgbClr val="3C3B57"/>
                </a:solidFill>
                <a:latin typeface="Malgun Gothic" pitchFamily="34" charset="0"/>
                <a:ea typeface="Malgun Gothic" pitchFamily="34" charset="-122"/>
                <a:cs typeface="Malgun Gothic" pitchFamily="34" charset="-120"/>
              </a:rPr>
              <a:t>입니다.</a:t>
            </a:r>
            <a:endParaRPr lang="en-US" sz="1550" dirty="0"/>
          </a:p>
        </p:txBody>
      </p:sp>
      <p:sp>
        <p:nvSpPr>
          <p:cNvPr id="8" name="Text 5"/>
          <p:cNvSpPr/>
          <p:nvPr/>
        </p:nvSpPr>
        <p:spPr>
          <a:xfrm>
            <a:off x="658368" y="3474720"/>
            <a:ext cx="10872216" cy="914400"/>
          </a:xfrm>
          <a:prstGeom prst="rect">
            <a:avLst/>
          </a:prstGeom>
          <a:noFill/>
          <a:ln/>
        </p:spPr>
        <p:txBody>
          <a:bodyPr wrap="square" lIns="0" tIns="0" rIns="0" bIns="0" rtlCol="0" anchor="t"/>
          <a:lstStyle/>
          <a:p>
            <a:pPr algn="l" indent="0" marL="0">
              <a:lnSpc>
                <a:spcPts val="1900"/>
              </a:lnSpc>
              <a:buNone/>
            </a:pPr>
            <a:r>
              <a:rPr lang="en-US" sz="1250" dirty="0">
                <a:solidFill>
                  <a:srgbClr val="6B7185"/>
                </a:solidFill>
                <a:latin typeface="Malgun Gothic" pitchFamily="34" charset="0"/>
                <a:ea typeface="Malgun Gothic" pitchFamily="34" charset="-122"/>
                <a:cs typeface="Malgun Gothic" pitchFamily="34" charset="-120"/>
              </a:rPr>
              <a:t>집 짓기로 비유하면 이렇습니다 —</a:t>
            </a:r>
            <a:endParaRPr lang="en-US" sz="1250" dirty="0"/>
          </a:p>
        </p:txBody>
      </p:sp>
      <p:sp>
        <p:nvSpPr>
          <p:cNvPr id="9" name="Shape 6"/>
          <p:cNvSpPr/>
          <p:nvPr/>
        </p:nvSpPr>
        <p:spPr>
          <a:xfrm>
            <a:off x="658368" y="3886200"/>
            <a:ext cx="5308092" cy="1783080"/>
          </a:xfrm>
          <a:prstGeom prst="roundRect">
            <a:avLst>
              <a:gd name="adj" fmla="val 5128"/>
            </a:avLst>
          </a:prstGeom>
          <a:solidFill>
            <a:srgbClr val="FFFFFF"/>
          </a:solidFill>
          <a:ln/>
          <a:effectLst>
            <a:outerShdw sx="100000" sy="100000" kx="0" ky="0" algn="bl" rotWithShape="0" blurRad="152400" dist="25400" dir="5400000">
              <a:srgbClr val="1F1D48">
                <a:alpha val="16000"/>
              </a:srgbClr>
            </a:outerShdw>
          </a:effectLst>
        </p:spPr>
      </p:sp>
      <p:sp>
        <p:nvSpPr>
          <p:cNvPr id="10" name="Shape 7"/>
          <p:cNvSpPr/>
          <p:nvPr/>
        </p:nvSpPr>
        <p:spPr>
          <a:xfrm>
            <a:off x="896112" y="4123944"/>
            <a:ext cx="512064" cy="512064"/>
          </a:xfrm>
          <a:prstGeom prst="ellipse">
            <a:avLst/>
          </a:prstGeom>
          <a:solidFill>
            <a:srgbClr val="FB7185"/>
          </a:solidFill>
          <a:ln/>
        </p:spPr>
      </p:sp>
      <p:pic>
        <p:nvPicPr>
          <p:cNvPr id="11" name="Image 1" descr="/home/claude/icons/warn_white.png">    </p:cNvPr>
          <p:cNvPicPr>
            <a:picLocks noChangeAspect="1"/>
          </p:cNvPicPr>
          <p:nvPr/>
        </p:nvPicPr>
        <p:blipFill>
          <a:blip r:embed="rId2"/>
          <a:stretch>
            <a:fillRect/>
          </a:stretch>
        </p:blipFill>
        <p:spPr>
          <a:xfrm>
            <a:off x="1024128" y="4251960"/>
            <a:ext cx="256032" cy="256032"/>
          </a:xfrm>
          <a:prstGeom prst="rect">
            <a:avLst/>
          </a:prstGeom>
        </p:spPr>
      </p:pic>
      <p:sp>
        <p:nvSpPr>
          <p:cNvPr id="12" name="Text 8"/>
          <p:cNvSpPr/>
          <p:nvPr/>
        </p:nvSpPr>
        <p:spPr>
          <a:xfrm>
            <a:off x="896112" y="4764024"/>
            <a:ext cx="4850892" cy="292608"/>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설계도 없이 벽부터 올리면</a:t>
            </a:r>
            <a:endParaRPr lang="en-US" sz="1350" dirty="0"/>
          </a:p>
        </p:txBody>
      </p:sp>
      <p:sp>
        <p:nvSpPr>
          <p:cNvPr id="13" name="Text 9"/>
          <p:cNvSpPr/>
          <p:nvPr/>
        </p:nvSpPr>
        <p:spPr>
          <a:xfrm>
            <a:off x="896112" y="5056632"/>
            <a:ext cx="4850892" cy="502920"/>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다 짓고 나서 "현관이 없네요"를 발견합니다. 순서가 틀리면 뒤에서 비용을 치릅니다.</a:t>
            </a:r>
            <a:endParaRPr lang="en-US" sz="1150" dirty="0"/>
          </a:p>
        </p:txBody>
      </p:sp>
      <p:sp>
        <p:nvSpPr>
          <p:cNvPr id="14" name="Shape 10"/>
          <p:cNvSpPr/>
          <p:nvPr/>
        </p:nvSpPr>
        <p:spPr>
          <a:xfrm>
            <a:off x="6222492" y="3886200"/>
            <a:ext cx="5308092" cy="1783080"/>
          </a:xfrm>
          <a:prstGeom prst="roundRect">
            <a:avLst>
              <a:gd name="adj" fmla="val 5128"/>
            </a:avLst>
          </a:prstGeom>
          <a:solidFill>
            <a:srgbClr val="FFFFFF"/>
          </a:solidFill>
          <a:ln/>
          <a:effectLst>
            <a:outerShdw sx="100000" sy="100000" kx="0" ky="0" algn="bl" rotWithShape="0" blurRad="152400" dist="25400" dir="5400000">
              <a:srgbClr val="1F1D48">
                <a:alpha val="16000"/>
              </a:srgbClr>
            </a:outerShdw>
          </a:effectLst>
        </p:spPr>
      </p:sp>
      <p:sp>
        <p:nvSpPr>
          <p:cNvPr id="15" name="Shape 11"/>
          <p:cNvSpPr/>
          <p:nvPr/>
        </p:nvSpPr>
        <p:spPr>
          <a:xfrm>
            <a:off x="6460236" y="4123944"/>
            <a:ext cx="512064" cy="512064"/>
          </a:xfrm>
          <a:prstGeom prst="ellipse">
            <a:avLst/>
          </a:prstGeom>
          <a:solidFill>
            <a:srgbClr val="F59E0B"/>
          </a:solidFill>
          <a:ln/>
        </p:spPr>
      </p:sp>
      <p:pic>
        <p:nvPicPr>
          <p:cNvPr id="16" name="Image 2" descr="/home/claude/icons/users_white.png">    </p:cNvPr>
          <p:cNvPicPr>
            <a:picLocks noChangeAspect="1"/>
          </p:cNvPicPr>
          <p:nvPr/>
        </p:nvPicPr>
        <p:blipFill>
          <a:blip r:embed="rId3"/>
          <a:stretch>
            <a:fillRect/>
          </a:stretch>
        </p:blipFill>
        <p:spPr>
          <a:xfrm>
            <a:off x="6588252" y="4251960"/>
            <a:ext cx="256032" cy="256032"/>
          </a:xfrm>
          <a:prstGeom prst="rect">
            <a:avLst/>
          </a:prstGeom>
        </p:spPr>
      </p:pic>
      <p:sp>
        <p:nvSpPr>
          <p:cNvPr id="17" name="Text 12"/>
          <p:cNvSpPr/>
          <p:nvPr/>
        </p:nvSpPr>
        <p:spPr>
          <a:xfrm>
            <a:off x="6460236" y="4764024"/>
            <a:ext cx="4850892" cy="292608"/>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네 명이 각자 순서로 지으면</a:t>
            </a:r>
            <a:endParaRPr lang="en-US" sz="1350" dirty="0"/>
          </a:p>
        </p:txBody>
      </p:sp>
      <p:sp>
        <p:nvSpPr>
          <p:cNvPr id="18" name="Text 13"/>
          <p:cNvSpPr/>
          <p:nvPr/>
        </p:nvSpPr>
        <p:spPr>
          <a:xfrm>
            <a:off x="6460236" y="5056632"/>
            <a:ext cx="4850892" cy="502920"/>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지붕 팀과 기둥 팀이 서로를 기다리다 충돌합니다. 순서는 팀 전체의 합의여야 합니다.</a:t>
            </a:r>
            <a:endParaRPr lang="en-US" sz="1150" dirty="0"/>
          </a:p>
        </p:txBody>
      </p:sp>
      <p:sp>
        <p:nvSpPr>
          <p:cNvPr id="19" name="Text 14"/>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04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766060" cy="384048"/>
          </a:xfrm>
          <a:prstGeom prst="roundRect">
            <a:avLst>
              <a:gd name="adj" fmla="val 50000"/>
            </a:avLst>
          </a:prstGeom>
          <a:solidFill>
            <a:srgbClr val="EDECFB"/>
          </a:solidFill>
          <a:ln/>
        </p:spPr>
      </p:sp>
      <p:pic>
        <p:nvPicPr>
          <p:cNvPr id="3" name="Image 0" descr="/home/claude/icons/route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382012"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1부 · 개발 프로세스 모델</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폭포수(Waterfall) 모델 — 한 방향으로 흐른다</a:t>
            </a:r>
            <a:endParaRPr lang="en-US" sz="2600" dirty="0"/>
          </a:p>
        </p:txBody>
      </p:sp>
      <p:sp>
        <p:nvSpPr>
          <p:cNvPr id="6" name="Shape 3"/>
          <p:cNvSpPr/>
          <p:nvPr/>
        </p:nvSpPr>
        <p:spPr>
          <a:xfrm>
            <a:off x="777240" y="1783080"/>
            <a:ext cx="1938528" cy="841248"/>
          </a:xfrm>
          <a:prstGeom prst="roundRect">
            <a:avLst>
              <a:gd name="adj" fmla="val 10870"/>
            </a:avLst>
          </a:prstGeom>
          <a:solidFill>
            <a:srgbClr val="FFFFFF"/>
          </a:solidFill>
          <a:ln/>
          <a:effectLst>
            <a:outerShdw sx="100000" sy="100000" kx="0" ky="0" algn="bl" rotWithShape="0" blurRad="152400" dist="25400" dir="5400000">
              <a:srgbClr val="1F1D48">
                <a:alpha val="16000"/>
              </a:srgbClr>
            </a:outerShdw>
          </a:effectLst>
        </p:spPr>
      </p:sp>
      <p:sp>
        <p:nvSpPr>
          <p:cNvPr id="7" name="Text 4"/>
          <p:cNvSpPr/>
          <p:nvPr/>
        </p:nvSpPr>
        <p:spPr>
          <a:xfrm>
            <a:off x="941832" y="1874520"/>
            <a:ext cx="1645920" cy="292608"/>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요구분석</a:t>
            </a:r>
            <a:endParaRPr lang="en-US" sz="1300" dirty="0"/>
          </a:p>
        </p:txBody>
      </p:sp>
      <p:sp>
        <p:nvSpPr>
          <p:cNvPr id="8" name="Text 5"/>
          <p:cNvSpPr/>
          <p:nvPr/>
        </p:nvSpPr>
        <p:spPr>
          <a:xfrm>
            <a:off x="941832" y="2185416"/>
            <a:ext cx="1645920" cy="329184"/>
          </a:xfrm>
          <a:prstGeom prst="rect">
            <a:avLst/>
          </a:prstGeom>
          <a:noFill/>
          <a:ln/>
        </p:spPr>
        <p:txBody>
          <a:bodyPr wrap="square" lIns="0" tIns="0" rIns="0" bIns="0" rtlCol="0" anchor="ctr"/>
          <a:lstStyle/>
          <a:p>
            <a:pPr indent="0" marL="0">
              <a:buNone/>
            </a:pPr>
            <a:r>
              <a:rPr lang="en-US" sz="1000" dirty="0">
                <a:solidFill>
                  <a:srgbClr val="6B7185"/>
                </a:solidFill>
                <a:latin typeface="Malgun Gothic" pitchFamily="34" charset="0"/>
                <a:ea typeface="Malgun Gothic" pitchFamily="34" charset="-122"/>
                <a:cs typeface="Malgun Gothic" pitchFamily="34" charset="-120"/>
              </a:rPr>
              <a:t>무엇을 만들지 확정</a:t>
            </a:r>
            <a:endParaRPr lang="en-US" sz="1000" dirty="0"/>
          </a:p>
        </p:txBody>
      </p:sp>
      <p:sp>
        <p:nvSpPr>
          <p:cNvPr id="9" name="Shape 6"/>
          <p:cNvSpPr/>
          <p:nvPr/>
        </p:nvSpPr>
        <p:spPr>
          <a:xfrm>
            <a:off x="2715768" y="2203704"/>
            <a:ext cx="164592" cy="594360"/>
          </a:xfrm>
          <a:prstGeom prst="line">
            <a:avLst/>
          </a:prstGeom>
          <a:noFill/>
          <a:ln w="25400">
            <a:solidFill>
              <a:srgbClr val="7C3AED"/>
            </a:solidFill>
            <a:prstDash val="solid"/>
            <a:tailEnd type="triangle"/>
          </a:ln>
        </p:spPr>
      </p:sp>
      <p:sp>
        <p:nvSpPr>
          <p:cNvPr id="10" name="Shape 7"/>
          <p:cNvSpPr/>
          <p:nvPr/>
        </p:nvSpPr>
        <p:spPr>
          <a:xfrm>
            <a:off x="2880360" y="2459736"/>
            <a:ext cx="1938528" cy="841248"/>
          </a:xfrm>
          <a:prstGeom prst="roundRect">
            <a:avLst>
              <a:gd name="adj" fmla="val 10870"/>
            </a:avLst>
          </a:prstGeom>
          <a:solidFill>
            <a:srgbClr val="FFFFFF"/>
          </a:solidFill>
          <a:ln/>
          <a:effectLst>
            <a:outerShdw sx="100000" sy="100000" kx="0" ky="0" algn="bl" rotWithShape="0" blurRad="152400" dist="25400" dir="5400000">
              <a:srgbClr val="1F1D48">
                <a:alpha val="16000"/>
              </a:srgbClr>
            </a:outerShdw>
          </a:effectLst>
        </p:spPr>
      </p:sp>
      <p:sp>
        <p:nvSpPr>
          <p:cNvPr id="11" name="Text 8"/>
          <p:cNvSpPr/>
          <p:nvPr/>
        </p:nvSpPr>
        <p:spPr>
          <a:xfrm>
            <a:off x="3044952" y="2551176"/>
            <a:ext cx="1645920" cy="292608"/>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설계</a:t>
            </a:r>
            <a:endParaRPr lang="en-US" sz="1300" dirty="0"/>
          </a:p>
        </p:txBody>
      </p:sp>
      <p:sp>
        <p:nvSpPr>
          <p:cNvPr id="12" name="Text 9"/>
          <p:cNvSpPr/>
          <p:nvPr/>
        </p:nvSpPr>
        <p:spPr>
          <a:xfrm>
            <a:off x="3044952" y="2862072"/>
            <a:ext cx="1645920" cy="329184"/>
          </a:xfrm>
          <a:prstGeom prst="rect">
            <a:avLst/>
          </a:prstGeom>
          <a:noFill/>
          <a:ln/>
        </p:spPr>
        <p:txBody>
          <a:bodyPr wrap="square" lIns="0" tIns="0" rIns="0" bIns="0" rtlCol="0" anchor="ctr"/>
          <a:lstStyle/>
          <a:p>
            <a:pPr indent="0" marL="0">
              <a:buNone/>
            </a:pPr>
            <a:r>
              <a:rPr lang="en-US" sz="1000" dirty="0">
                <a:solidFill>
                  <a:srgbClr val="6B7185"/>
                </a:solidFill>
                <a:latin typeface="Malgun Gothic" pitchFamily="34" charset="0"/>
                <a:ea typeface="Malgun Gothic" pitchFamily="34" charset="-122"/>
                <a:cs typeface="Malgun Gothic" pitchFamily="34" charset="-120"/>
              </a:rPr>
              <a:t>구조와 화면을 결정</a:t>
            </a:r>
            <a:endParaRPr lang="en-US" sz="1000" dirty="0"/>
          </a:p>
        </p:txBody>
      </p:sp>
      <p:sp>
        <p:nvSpPr>
          <p:cNvPr id="13" name="Shape 10"/>
          <p:cNvSpPr/>
          <p:nvPr/>
        </p:nvSpPr>
        <p:spPr>
          <a:xfrm>
            <a:off x="4818888" y="2880360"/>
            <a:ext cx="164592" cy="594360"/>
          </a:xfrm>
          <a:prstGeom prst="line">
            <a:avLst/>
          </a:prstGeom>
          <a:noFill/>
          <a:ln w="25400">
            <a:solidFill>
              <a:srgbClr val="7C3AED"/>
            </a:solidFill>
            <a:prstDash val="solid"/>
            <a:tailEnd type="triangle"/>
          </a:ln>
        </p:spPr>
      </p:sp>
      <p:sp>
        <p:nvSpPr>
          <p:cNvPr id="14" name="Shape 11"/>
          <p:cNvSpPr/>
          <p:nvPr/>
        </p:nvSpPr>
        <p:spPr>
          <a:xfrm>
            <a:off x="4983480" y="3136392"/>
            <a:ext cx="1938528" cy="841248"/>
          </a:xfrm>
          <a:prstGeom prst="roundRect">
            <a:avLst>
              <a:gd name="adj" fmla="val 10870"/>
            </a:avLst>
          </a:prstGeom>
          <a:solidFill>
            <a:srgbClr val="FFFFFF"/>
          </a:solidFill>
          <a:ln/>
          <a:effectLst>
            <a:outerShdw sx="100000" sy="100000" kx="0" ky="0" algn="bl" rotWithShape="0" blurRad="152400" dist="25400" dir="5400000">
              <a:srgbClr val="1F1D48">
                <a:alpha val="16000"/>
              </a:srgbClr>
            </a:outerShdw>
          </a:effectLst>
        </p:spPr>
      </p:sp>
      <p:sp>
        <p:nvSpPr>
          <p:cNvPr id="15" name="Text 12"/>
          <p:cNvSpPr/>
          <p:nvPr/>
        </p:nvSpPr>
        <p:spPr>
          <a:xfrm>
            <a:off x="5148072" y="3227832"/>
            <a:ext cx="1645920" cy="292608"/>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구현</a:t>
            </a:r>
            <a:endParaRPr lang="en-US" sz="1300" dirty="0"/>
          </a:p>
        </p:txBody>
      </p:sp>
      <p:sp>
        <p:nvSpPr>
          <p:cNvPr id="16" name="Text 13"/>
          <p:cNvSpPr/>
          <p:nvPr/>
        </p:nvSpPr>
        <p:spPr>
          <a:xfrm>
            <a:off x="5148072" y="3538728"/>
            <a:ext cx="1645920" cy="329184"/>
          </a:xfrm>
          <a:prstGeom prst="rect">
            <a:avLst/>
          </a:prstGeom>
          <a:noFill/>
          <a:ln/>
        </p:spPr>
        <p:txBody>
          <a:bodyPr wrap="square" lIns="0" tIns="0" rIns="0" bIns="0" rtlCol="0" anchor="ctr"/>
          <a:lstStyle/>
          <a:p>
            <a:pPr indent="0" marL="0">
              <a:buNone/>
            </a:pPr>
            <a:r>
              <a:rPr lang="en-US" sz="1000" dirty="0">
                <a:solidFill>
                  <a:srgbClr val="6B7185"/>
                </a:solidFill>
                <a:latin typeface="Malgun Gothic" pitchFamily="34" charset="0"/>
                <a:ea typeface="Malgun Gothic" pitchFamily="34" charset="-122"/>
                <a:cs typeface="Malgun Gothic" pitchFamily="34" charset="-120"/>
              </a:rPr>
              <a:t>코드로 만든다</a:t>
            </a:r>
            <a:endParaRPr lang="en-US" sz="1000" dirty="0"/>
          </a:p>
        </p:txBody>
      </p:sp>
      <p:sp>
        <p:nvSpPr>
          <p:cNvPr id="17" name="Shape 14"/>
          <p:cNvSpPr/>
          <p:nvPr/>
        </p:nvSpPr>
        <p:spPr>
          <a:xfrm>
            <a:off x="6922008" y="3557016"/>
            <a:ext cx="164592" cy="594360"/>
          </a:xfrm>
          <a:prstGeom prst="line">
            <a:avLst/>
          </a:prstGeom>
          <a:noFill/>
          <a:ln w="25400">
            <a:solidFill>
              <a:srgbClr val="7C3AED"/>
            </a:solidFill>
            <a:prstDash val="solid"/>
            <a:tailEnd type="triangle"/>
          </a:ln>
        </p:spPr>
      </p:sp>
      <p:sp>
        <p:nvSpPr>
          <p:cNvPr id="18" name="Shape 15"/>
          <p:cNvSpPr/>
          <p:nvPr/>
        </p:nvSpPr>
        <p:spPr>
          <a:xfrm>
            <a:off x="7086600" y="3813048"/>
            <a:ext cx="1938528" cy="841248"/>
          </a:xfrm>
          <a:prstGeom prst="roundRect">
            <a:avLst>
              <a:gd name="adj" fmla="val 10870"/>
            </a:avLst>
          </a:prstGeom>
          <a:solidFill>
            <a:srgbClr val="FFFFFF"/>
          </a:solidFill>
          <a:ln/>
          <a:effectLst>
            <a:outerShdw sx="100000" sy="100000" kx="0" ky="0" algn="bl" rotWithShape="0" blurRad="152400" dist="25400" dir="5400000">
              <a:srgbClr val="1F1D48">
                <a:alpha val="16000"/>
              </a:srgbClr>
            </a:outerShdw>
          </a:effectLst>
        </p:spPr>
      </p:sp>
      <p:sp>
        <p:nvSpPr>
          <p:cNvPr id="19" name="Text 16"/>
          <p:cNvSpPr/>
          <p:nvPr/>
        </p:nvSpPr>
        <p:spPr>
          <a:xfrm>
            <a:off x="7251192" y="3904488"/>
            <a:ext cx="1645920" cy="292608"/>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테스트</a:t>
            </a:r>
            <a:endParaRPr lang="en-US" sz="1300" dirty="0"/>
          </a:p>
        </p:txBody>
      </p:sp>
      <p:sp>
        <p:nvSpPr>
          <p:cNvPr id="20" name="Text 17"/>
          <p:cNvSpPr/>
          <p:nvPr/>
        </p:nvSpPr>
        <p:spPr>
          <a:xfrm>
            <a:off x="7251192" y="4215384"/>
            <a:ext cx="1645920" cy="329184"/>
          </a:xfrm>
          <a:prstGeom prst="rect">
            <a:avLst/>
          </a:prstGeom>
          <a:noFill/>
          <a:ln/>
        </p:spPr>
        <p:txBody>
          <a:bodyPr wrap="square" lIns="0" tIns="0" rIns="0" bIns="0" rtlCol="0" anchor="ctr"/>
          <a:lstStyle/>
          <a:p>
            <a:pPr indent="0" marL="0">
              <a:buNone/>
            </a:pPr>
            <a:r>
              <a:rPr lang="en-US" sz="1000" dirty="0">
                <a:solidFill>
                  <a:srgbClr val="6B7185"/>
                </a:solidFill>
                <a:latin typeface="Malgun Gothic" pitchFamily="34" charset="0"/>
                <a:ea typeface="Malgun Gothic" pitchFamily="34" charset="-122"/>
                <a:cs typeface="Malgun Gothic" pitchFamily="34" charset="-120"/>
              </a:rPr>
              <a:t>요구대로인지 검증</a:t>
            </a:r>
            <a:endParaRPr lang="en-US" sz="1000" dirty="0"/>
          </a:p>
        </p:txBody>
      </p:sp>
      <p:sp>
        <p:nvSpPr>
          <p:cNvPr id="21" name="Shape 18"/>
          <p:cNvSpPr/>
          <p:nvPr/>
        </p:nvSpPr>
        <p:spPr>
          <a:xfrm>
            <a:off x="9025128" y="4233672"/>
            <a:ext cx="164592" cy="594360"/>
          </a:xfrm>
          <a:prstGeom prst="line">
            <a:avLst/>
          </a:prstGeom>
          <a:noFill/>
          <a:ln w="25400">
            <a:solidFill>
              <a:srgbClr val="7C3AED"/>
            </a:solidFill>
            <a:prstDash val="solid"/>
            <a:tailEnd type="triangle"/>
          </a:ln>
        </p:spPr>
      </p:sp>
      <p:sp>
        <p:nvSpPr>
          <p:cNvPr id="22" name="Shape 19"/>
          <p:cNvSpPr/>
          <p:nvPr/>
        </p:nvSpPr>
        <p:spPr>
          <a:xfrm>
            <a:off x="9189720" y="4489704"/>
            <a:ext cx="1938528" cy="841248"/>
          </a:xfrm>
          <a:prstGeom prst="roundRect">
            <a:avLst>
              <a:gd name="adj" fmla="val 10870"/>
            </a:avLst>
          </a:prstGeom>
          <a:solidFill>
            <a:srgbClr val="FFFFFF"/>
          </a:solidFill>
          <a:ln/>
          <a:effectLst>
            <a:outerShdw sx="100000" sy="100000" kx="0" ky="0" algn="bl" rotWithShape="0" blurRad="152400" dist="25400" dir="5400000">
              <a:srgbClr val="1F1D48">
                <a:alpha val="16000"/>
              </a:srgbClr>
            </a:outerShdw>
          </a:effectLst>
        </p:spPr>
      </p:sp>
      <p:sp>
        <p:nvSpPr>
          <p:cNvPr id="23" name="Text 20"/>
          <p:cNvSpPr/>
          <p:nvPr/>
        </p:nvSpPr>
        <p:spPr>
          <a:xfrm>
            <a:off x="9354312" y="4581144"/>
            <a:ext cx="1645920" cy="292608"/>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유지보수</a:t>
            </a:r>
            <a:endParaRPr lang="en-US" sz="1300" dirty="0"/>
          </a:p>
        </p:txBody>
      </p:sp>
      <p:sp>
        <p:nvSpPr>
          <p:cNvPr id="24" name="Text 21"/>
          <p:cNvSpPr/>
          <p:nvPr/>
        </p:nvSpPr>
        <p:spPr>
          <a:xfrm>
            <a:off x="9354312" y="4892040"/>
            <a:ext cx="1645920" cy="329184"/>
          </a:xfrm>
          <a:prstGeom prst="rect">
            <a:avLst/>
          </a:prstGeom>
          <a:noFill/>
          <a:ln/>
        </p:spPr>
        <p:txBody>
          <a:bodyPr wrap="square" lIns="0" tIns="0" rIns="0" bIns="0" rtlCol="0" anchor="ctr"/>
          <a:lstStyle/>
          <a:p>
            <a:pPr indent="0" marL="0">
              <a:buNone/>
            </a:pPr>
            <a:r>
              <a:rPr lang="en-US" sz="1000" dirty="0">
                <a:solidFill>
                  <a:srgbClr val="6B7185"/>
                </a:solidFill>
                <a:latin typeface="Malgun Gothic" pitchFamily="34" charset="0"/>
                <a:ea typeface="Malgun Gothic" pitchFamily="34" charset="-122"/>
                <a:cs typeface="Malgun Gothic" pitchFamily="34" charset="-120"/>
              </a:rPr>
              <a:t>운영하며 고친다</a:t>
            </a:r>
            <a:endParaRPr lang="en-US" sz="1000" dirty="0"/>
          </a:p>
        </p:txBody>
      </p:sp>
      <p:sp>
        <p:nvSpPr>
          <p:cNvPr id="25" name="Shape 22"/>
          <p:cNvSpPr/>
          <p:nvPr/>
        </p:nvSpPr>
        <p:spPr>
          <a:xfrm>
            <a:off x="658368" y="5440680"/>
            <a:ext cx="10872216" cy="868680"/>
          </a:xfrm>
          <a:prstGeom prst="roundRect">
            <a:avLst>
              <a:gd name="adj" fmla="val 10526"/>
            </a:avLst>
          </a:prstGeom>
          <a:solidFill>
            <a:srgbClr val="F5F4FC"/>
          </a:solidFill>
          <a:ln/>
        </p:spPr>
      </p:sp>
      <p:sp>
        <p:nvSpPr>
          <p:cNvPr id="26" name="Shape 23"/>
          <p:cNvSpPr/>
          <p:nvPr/>
        </p:nvSpPr>
        <p:spPr>
          <a:xfrm>
            <a:off x="877824" y="5637276"/>
            <a:ext cx="475488" cy="475488"/>
          </a:xfrm>
          <a:prstGeom prst="ellipse">
            <a:avLst/>
          </a:prstGeom>
          <a:solidFill>
            <a:srgbClr val="7C3AED"/>
          </a:solidFill>
          <a:ln/>
        </p:spPr>
      </p:sp>
      <p:pic>
        <p:nvPicPr>
          <p:cNvPr id="27" name="Image 1" descr="/home/claude/icons/water_white.png">    </p:cNvPr>
          <p:cNvPicPr>
            <a:picLocks noChangeAspect="1"/>
          </p:cNvPicPr>
          <p:nvPr/>
        </p:nvPicPr>
        <p:blipFill>
          <a:blip r:embed="rId2"/>
          <a:stretch>
            <a:fillRect/>
          </a:stretch>
        </p:blipFill>
        <p:spPr>
          <a:xfrm>
            <a:off x="996696" y="5756148"/>
            <a:ext cx="237744" cy="237744"/>
          </a:xfrm>
          <a:prstGeom prst="rect">
            <a:avLst/>
          </a:prstGeom>
        </p:spPr>
      </p:pic>
      <p:sp>
        <p:nvSpPr>
          <p:cNvPr id="28" name="Text 24"/>
          <p:cNvSpPr/>
          <p:nvPr/>
        </p:nvSpPr>
        <p:spPr>
          <a:xfrm>
            <a:off x="1554480" y="5532120"/>
            <a:ext cx="9738360" cy="685800"/>
          </a:xfrm>
          <a:prstGeom prst="rect">
            <a:avLst/>
          </a:prstGeom>
          <a:noFill/>
          <a:ln/>
        </p:spPr>
        <p:txBody>
          <a:bodyPr wrap="square" lIns="0" tIns="0" rIns="0" bIns="0" rtlCol="0" anchor="ctr"/>
          <a:lstStyle/>
          <a:p>
            <a:pPr indent="0" marL="0">
              <a:lnSpc>
                <a:spcPts val="1633"/>
              </a:lnSpc>
              <a:buNone/>
            </a:pPr>
            <a:r>
              <a:rPr lang="en-US" sz="1300" b="1" dirty="0">
                <a:solidFill>
                  <a:srgbClr val="1E1B3A"/>
                </a:solidFill>
                <a:latin typeface="Malgun Gothic" pitchFamily="34" charset="0"/>
                <a:ea typeface="Malgun Gothic" pitchFamily="34" charset="-122"/>
                <a:cs typeface="Malgun Gothic" pitchFamily="34" charset="-120"/>
              </a:rPr>
              <a:t>핵심 성질
</a:t>
            </a:r>
            <a:pPr indent="0" marL="0">
              <a:lnSpc>
                <a:spcPts val="1633"/>
              </a:lnSpc>
              <a:buNone/>
            </a:pPr>
            <a:r>
              <a:rPr lang="en-US" sz="1150" dirty="0">
                <a:solidFill>
                  <a:srgbClr val="3C3B57"/>
                </a:solidFill>
                <a:latin typeface="Malgun Gothic" pitchFamily="34" charset="0"/>
                <a:ea typeface="Malgun Gothic" pitchFamily="34" charset="-122"/>
                <a:cs typeface="Malgun Gothic" pitchFamily="34" charset="-120"/>
              </a:rPr>
              <a:t>각 단계를 완전히 끝내고 문서로 인수인계하며 다음 단계로 — 물이 아래로만 흐르듯, 되돌아가는 것을 전제하지 않습니다.</a:t>
            </a:r>
            <a:endParaRPr lang="en-US" sz="1300" dirty="0"/>
          </a:p>
        </p:txBody>
      </p:sp>
      <p:sp>
        <p:nvSpPr>
          <p:cNvPr id="29" name="Text 25"/>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05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766060" cy="384048"/>
          </a:xfrm>
          <a:prstGeom prst="roundRect">
            <a:avLst>
              <a:gd name="adj" fmla="val 50000"/>
            </a:avLst>
          </a:prstGeom>
          <a:solidFill>
            <a:srgbClr val="EDECFB"/>
          </a:solidFill>
          <a:ln/>
        </p:spPr>
      </p:sp>
      <p:pic>
        <p:nvPicPr>
          <p:cNvPr id="3" name="Image 0" descr="/home/claude/icons/route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382012"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1부 · 개발 프로세스 모델</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폭포수의 빛과 그림자</a:t>
            </a:r>
            <a:endParaRPr lang="en-US" sz="2600" dirty="0"/>
          </a:p>
        </p:txBody>
      </p:sp>
      <p:sp>
        <p:nvSpPr>
          <p:cNvPr id="6" name="Shape 3"/>
          <p:cNvSpPr/>
          <p:nvPr/>
        </p:nvSpPr>
        <p:spPr>
          <a:xfrm>
            <a:off x="658368" y="1783080"/>
            <a:ext cx="5303520" cy="3977640"/>
          </a:xfrm>
          <a:prstGeom prst="roundRect">
            <a:avLst>
              <a:gd name="adj" fmla="val 2299"/>
            </a:avLst>
          </a:prstGeom>
          <a:solidFill>
            <a:srgbClr val="FFFFFF"/>
          </a:solidFill>
          <a:ln/>
          <a:effectLst>
            <a:outerShdw sx="100000" sy="100000" kx="0" ky="0" algn="bl" rotWithShape="0" blurRad="152400" dist="25400" dir="5400000">
              <a:srgbClr val="1F1D48">
                <a:alpha val="16000"/>
              </a:srgbClr>
            </a:outerShdw>
          </a:effectLst>
        </p:spPr>
      </p:sp>
      <p:sp>
        <p:nvSpPr>
          <p:cNvPr id="7" name="Shape 4"/>
          <p:cNvSpPr/>
          <p:nvPr/>
        </p:nvSpPr>
        <p:spPr>
          <a:xfrm>
            <a:off x="914400" y="2029968"/>
            <a:ext cx="475488" cy="475488"/>
          </a:xfrm>
          <a:prstGeom prst="ellipse">
            <a:avLst/>
          </a:prstGeom>
          <a:solidFill>
            <a:srgbClr val="10B981"/>
          </a:solidFill>
          <a:ln/>
        </p:spPr>
      </p:sp>
      <p:pic>
        <p:nvPicPr>
          <p:cNvPr id="8" name="Image 1" descr="/home/claude/icons/check_white.png">    </p:cNvPr>
          <p:cNvPicPr>
            <a:picLocks noChangeAspect="1"/>
          </p:cNvPicPr>
          <p:nvPr/>
        </p:nvPicPr>
        <p:blipFill>
          <a:blip r:embed="rId2"/>
          <a:stretch>
            <a:fillRect/>
          </a:stretch>
        </p:blipFill>
        <p:spPr>
          <a:xfrm>
            <a:off x="1033272" y="2148840"/>
            <a:ext cx="237744" cy="237744"/>
          </a:xfrm>
          <a:prstGeom prst="rect">
            <a:avLst/>
          </a:prstGeom>
        </p:spPr>
      </p:pic>
      <p:sp>
        <p:nvSpPr>
          <p:cNvPr id="9" name="Text 5"/>
          <p:cNvSpPr/>
          <p:nvPr/>
        </p:nvSpPr>
        <p:spPr>
          <a:xfrm>
            <a:off x="1554480" y="2084832"/>
            <a:ext cx="4114800" cy="329184"/>
          </a:xfrm>
          <a:prstGeom prst="rect">
            <a:avLst/>
          </a:prstGeom>
          <a:noFill/>
          <a:ln/>
        </p:spPr>
        <p:txBody>
          <a:bodyPr wrap="square" lIns="0" tIns="0" rIns="0" bIns="0" rtlCol="0" anchor="ctr"/>
          <a:lstStyle/>
          <a:p>
            <a:pPr indent="0" marL="0">
              <a:buNone/>
            </a:pPr>
            <a:r>
              <a:rPr lang="en-US" sz="1450" b="1" dirty="0">
                <a:solidFill>
                  <a:srgbClr val="1E1B3A"/>
                </a:solidFill>
                <a:latin typeface="Malgun Gothic" pitchFamily="34" charset="0"/>
                <a:ea typeface="Malgun Gothic" pitchFamily="34" charset="-122"/>
                <a:cs typeface="Malgun Gothic" pitchFamily="34" charset="-120"/>
              </a:rPr>
              <a:t>장점 — 명확함</a:t>
            </a:r>
            <a:endParaRPr lang="en-US" sz="1450" dirty="0"/>
          </a:p>
        </p:txBody>
      </p:sp>
      <p:sp>
        <p:nvSpPr>
          <p:cNvPr id="10" name="Text 6"/>
          <p:cNvSpPr/>
          <p:nvPr/>
        </p:nvSpPr>
        <p:spPr>
          <a:xfrm>
            <a:off x="950976" y="2651760"/>
            <a:ext cx="4754880" cy="2834640"/>
          </a:xfrm>
          <a:prstGeom prst="rect">
            <a:avLst/>
          </a:prstGeom>
          <a:noFill/>
          <a:ln/>
        </p:spPr>
        <p:txBody>
          <a:bodyPr wrap="square" lIns="0" tIns="0" rIns="0" bIns="0" rtlCol="0" anchor="t"/>
          <a:lstStyle/>
          <a:p>
            <a:pPr algn="l" indent="0" marL="0">
              <a:lnSpc>
                <a:spcPts val="1860"/>
              </a:lnSpc>
              <a:buNone/>
            </a:pPr>
            <a:r>
              <a:rPr lang="en-US" sz="1200" dirty="0">
                <a:solidFill>
                  <a:srgbClr val="3C3B57"/>
                </a:solidFill>
                <a:latin typeface="Malgun Gothic" pitchFamily="34" charset="0"/>
                <a:ea typeface="Malgun Gothic" pitchFamily="34" charset="-122"/>
                <a:cs typeface="Malgun Gothic" pitchFamily="34" charset="-120"/>
              </a:rPr>
              <a:t>단계와 산출물이 뚜렷해 계획 · 일정 · 역할 분담이 쉽습니다.</a:t>
            </a:r>
            <a:endParaRPr lang="en-US" sz="1200" dirty="0"/>
          </a:p>
          <a:p>
            <a:pPr algn="l" indent="0" marL="0">
              <a:lnSpc>
                <a:spcPts val="1860"/>
              </a:lnSpc>
              <a:buNone/>
            </a:pPr>
            <a:endParaRPr lang="en-US" sz="1200" dirty="0"/>
          </a:p>
          <a:p>
            <a:pPr algn="l" indent="0" marL="0">
              <a:lnSpc>
                <a:spcPts val="1860"/>
              </a:lnSpc>
              <a:buNone/>
            </a:pPr>
            <a:r>
              <a:rPr lang="en-US" sz="1200" dirty="0">
                <a:solidFill>
                  <a:srgbClr val="3C3B57"/>
                </a:solidFill>
                <a:latin typeface="Malgun Gothic" pitchFamily="34" charset="0"/>
                <a:ea typeface="Malgun Gothic" pitchFamily="34" charset="-122"/>
                <a:cs typeface="Malgun Gothic" pitchFamily="34" charset="-120"/>
              </a:rPr>
              <a:t>각 단계의 문서가 남아 인수인계와 감리에 강합니다.</a:t>
            </a:r>
            <a:endParaRPr lang="en-US" sz="1200" dirty="0"/>
          </a:p>
          <a:p>
            <a:pPr algn="l" indent="0" marL="0">
              <a:lnSpc>
                <a:spcPts val="1860"/>
              </a:lnSpc>
              <a:buNone/>
            </a:pPr>
            <a:endParaRPr lang="en-US" sz="1200" dirty="0"/>
          </a:p>
          <a:p>
            <a:pPr algn="l" indent="0" marL="0">
              <a:lnSpc>
                <a:spcPts val="1860"/>
              </a:lnSpc>
              <a:buNone/>
            </a:pPr>
            <a:r>
              <a:rPr lang="en-US" sz="1200" dirty="0">
                <a:solidFill>
                  <a:srgbClr val="3C3B57"/>
                </a:solidFill>
                <a:latin typeface="Malgun Gothic" pitchFamily="34" charset="0"/>
                <a:ea typeface="Malgun Gothic" pitchFamily="34" charset="-122"/>
                <a:cs typeface="Malgun Gothic" pitchFamily="34" charset="-120"/>
              </a:rPr>
              <a:t>요구가 처음부터 확정될 수 있는 프로젝트에서는 여전히 유효합니다.</a:t>
            </a:r>
            <a:endParaRPr lang="en-US" sz="1200" dirty="0"/>
          </a:p>
        </p:txBody>
      </p:sp>
      <p:sp>
        <p:nvSpPr>
          <p:cNvPr id="11" name="Shape 7"/>
          <p:cNvSpPr/>
          <p:nvPr/>
        </p:nvSpPr>
        <p:spPr>
          <a:xfrm>
            <a:off x="6227064" y="1783080"/>
            <a:ext cx="5303520" cy="3977640"/>
          </a:xfrm>
          <a:prstGeom prst="roundRect">
            <a:avLst>
              <a:gd name="adj" fmla="val 2299"/>
            </a:avLst>
          </a:prstGeom>
          <a:solidFill>
            <a:srgbClr val="FFFFFF"/>
          </a:solidFill>
          <a:ln/>
          <a:effectLst>
            <a:outerShdw sx="100000" sy="100000" kx="0" ky="0" algn="bl" rotWithShape="0" blurRad="152400" dist="25400" dir="5400000">
              <a:srgbClr val="1F1D48">
                <a:alpha val="16000"/>
              </a:srgbClr>
            </a:outerShdw>
          </a:effectLst>
        </p:spPr>
      </p:sp>
      <p:sp>
        <p:nvSpPr>
          <p:cNvPr id="12" name="Shape 8"/>
          <p:cNvSpPr/>
          <p:nvPr/>
        </p:nvSpPr>
        <p:spPr>
          <a:xfrm>
            <a:off x="6483096" y="2029968"/>
            <a:ext cx="475488" cy="475488"/>
          </a:xfrm>
          <a:prstGeom prst="ellipse">
            <a:avLst/>
          </a:prstGeom>
          <a:solidFill>
            <a:srgbClr val="FB7185"/>
          </a:solidFill>
          <a:ln/>
        </p:spPr>
      </p:sp>
      <p:pic>
        <p:nvPicPr>
          <p:cNvPr id="13" name="Image 2" descr="/home/claude/icons/warn_white.png">    </p:cNvPr>
          <p:cNvPicPr>
            <a:picLocks noChangeAspect="1"/>
          </p:cNvPicPr>
          <p:nvPr/>
        </p:nvPicPr>
        <p:blipFill>
          <a:blip r:embed="rId3"/>
          <a:stretch>
            <a:fillRect/>
          </a:stretch>
        </p:blipFill>
        <p:spPr>
          <a:xfrm>
            <a:off x="6601968" y="2148840"/>
            <a:ext cx="237744" cy="237744"/>
          </a:xfrm>
          <a:prstGeom prst="rect">
            <a:avLst/>
          </a:prstGeom>
        </p:spPr>
      </p:pic>
      <p:sp>
        <p:nvSpPr>
          <p:cNvPr id="14" name="Text 9"/>
          <p:cNvSpPr/>
          <p:nvPr/>
        </p:nvSpPr>
        <p:spPr>
          <a:xfrm>
            <a:off x="7123176" y="2084832"/>
            <a:ext cx="4114800" cy="329184"/>
          </a:xfrm>
          <a:prstGeom prst="rect">
            <a:avLst/>
          </a:prstGeom>
          <a:noFill/>
          <a:ln/>
        </p:spPr>
        <p:txBody>
          <a:bodyPr wrap="square" lIns="0" tIns="0" rIns="0" bIns="0" rtlCol="0" anchor="ctr"/>
          <a:lstStyle/>
          <a:p>
            <a:pPr indent="0" marL="0">
              <a:buNone/>
            </a:pPr>
            <a:r>
              <a:rPr lang="en-US" sz="1450" b="1" dirty="0">
                <a:solidFill>
                  <a:srgbClr val="1E1B3A"/>
                </a:solidFill>
                <a:latin typeface="Malgun Gothic" pitchFamily="34" charset="0"/>
                <a:ea typeface="Malgun Gothic" pitchFamily="34" charset="-122"/>
                <a:cs typeface="Malgun Gothic" pitchFamily="34" charset="-120"/>
              </a:rPr>
              <a:t>한계 — 피드백이 늦다</a:t>
            </a:r>
            <a:endParaRPr lang="en-US" sz="1450" dirty="0"/>
          </a:p>
        </p:txBody>
      </p:sp>
      <p:sp>
        <p:nvSpPr>
          <p:cNvPr id="15" name="Text 10"/>
          <p:cNvSpPr/>
          <p:nvPr/>
        </p:nvSpPr>
        <p:spPr>
          <a:xfrm>
            <a:off x="6519672" y="2651760"/>
            <a:ext cx="4754880" cy="2834640"/>
          </a:xfrm>
          <a:prstGeom prst="rect">
            <a:avLst/>
          </a:prstGeom>
          <a:noFill/>
          <a:ln/>
        </p:spPr>
        <p:txBody>
          <a:bodyPr wrap="square" lIns="0" tIns="0" rIns="0" bIns="0" rtlCol="0" anchor="t"/>
          <a:lstStyle/>
          <a:p>
            <a:pPr algn="l" indent="0" marL="0">
              <a:lnSpc>
                <a:spcPts val="1860"/>
              </a:lnSpc>
              <a:buNone/>
            </a:pPr>
            <a:r>
              <a:rPr lang="en-US" sz="1200" dirty="0">
                <a:solidFill>
                  <a:srgbClr val="3C3B57"/>
                </a:solidFill>
                <a:latin typeface="Malgun Gothic" pitchFamily="34" charset="0"/>
                <a:ea typeface="Malgun Gothic" pitchFamily="34" charset="-122"/>
                <a:cs typeface="Malgun Gothic" pitchFamily="34" charset="-120"/>
              </a:rPr>
              <a:t>고객은 맨 끝에야 동작하는 것을 봅니다 — "다 만들었는데, 이게 아니에요"가 최악의 시나리오.</a:t>
            </a:r>
            <a:endParaRPr lang="en-US" sz="1200" dirty="0"/>
          </a:p>
          <a:p>
            <a:pPr algn="l" indent="0" marL="0">
              <a:lnSpc>
                <a:spcPts val="1860"/>
              </a:lnSpc>
              <a:buNone/>
            </a:pPr>
            <a:endParaRPr lang="en-US" sz="1200" dirty="0"/>
          </a:p>
          <a:p>
            <a:pPr algn="l" indent="0" marL="0">
              <a:lnSpc>
                <a:spcPts val="1860"/>
              </a:lnSpc>
              <a:buNone/>
            </a:pPr>
            <a:r>
              <a:rPr lang="en-US" sz="1200" dirty="0">
                <a:solidFill>
                  <a:srgbClr val="3C3B57"/>
                </a:solidFill>
                <a:latin typeface="Malgun Gothic" pitchFamily="34" charset="0"/>
                <a:ea typeface="Malgun Gothic" pitchFamily="34" charset="-122"/>
                <a:cs typeface="Malgun Gothic" pitchFamily="34" charset="-120"/>
              </a:rPr>
              <a:t>뒤늦게 발견된 요구 변경은 앞 단계 전부를 다시 여는 비용을 부릅니다.</a:t>
            </a:r>
            <a:endParaRPr lang="en-US" sz="1200" dirty="0"/>
          </a:p>
          <a:p>
            <a:pPr algn="l" indent="0" marL="0">
              <a:lnSpc>
                <a:spcPts val="1860"/>
              </a:lnSpc>
              <a:buNone/>
            </a:pPr>
            <a:endParaRPr lang="en-US" sz="1200" dirty="0"/>
          </a:p>
          <a:p>
            <a:pPr algn="l" indent="0" marL="0">
              <a:lnSpc>
                <a:spcPts val="1860"/>
              </a:lnSpc>
              <a:buNone/>
            </a:pPr>
            <a:r>
              <a:rPr lang="en-US" sz="1200" dirty="0">
                <a:solidFill>
                  <a:srgbClr val="3C3B57"/>
                </a:solidFill>
                <a:latin typeface="Malgun Gothic" pitchFamily="34" charset="0"/>
                <a:ea typeface="Malgun Gothic" pitchFamily="34" charset="-122"/>
                <a:cs typeface="Malgun Gothic" pitchFamily="34" charset="-120"/>
              </a:rPr>
              <a:t>처음에 요구를 완벽히 아는 프로젝트는 생각보다 드뭅니다.</a:t>
            </a:r>
            <a:endParaRPr lang="en-US" sz="1200" dirty="0"/>
          </a:p>
        </p:txBody>
      </p:sp>
      <p:sp>
        <p:nvSpPr>
          <p:cNvPr id="16" name="Text 11"/>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06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766060" cy="384048"/>
          </a:xfrm>
          <a:prstGeom prst="roundRect">
            <a:avLst>
              <a:gd name="adj" fmla="val 50000"/>
            </a:avLst>
          </a:prstGeom>
          <a:solidFill>
            <a:srgbClr val="EDECFB"/>
          </a:solidFill>
          <a:ln/>
        </p:spPr>
      </p:sp>
      <p:pic>
        <p:nvPicPr>
          <p:cNvPr id="3" name="Image 0" descr="/home/claude/icons/route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382012"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1부 · 개발 프로세스 모델</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반복적(Iterative) 모델 — 작은 바퀴를 여러 번</a:t>
            </a:r>
            <a:endParaRPr lang="en-US" sz="2600" dirty="0"/>
          </a:p>
        </p:txBody>
      </p:sp>
      <p:sp>
        <p:nvSpPr>
          <p:cNvPr id="6" name="Shape 3"/>
          <p:cNvSpPr/>
          <p:nvPr/>
        </p:nvSpPr>
        <p:spPr>
          <a:xfrm>
            <a:off x="749808" y="1874520"/>
            <a:ext cx="1225296" cy="658368"/>
          </a:xfrm>
          <a:prstGeom prst="roundRect">
            <a:avLst>
              <a:gd name="adj" fmla="val 13889"/>
            </a:avLst>
          </a:prstGeom>
          <a:solidFill>
            <a:srgbClr val="FFFFFF"/>
          </a:solidFill>
          <a:ln/>
          <a:effectLst>
            <a:outerShdw sx="100000" sy="100000" kx="0" ky="0" algn="bl" rotWithShape="0" blurRad="152400" dist="25400" dir="5400000">
              <a:srgbClr val="1F1D48">
                <a:alpha val="16000"/>
              </a:srgbClr>
            </a:outerShdw>
          </a:effectLst>
        </p:spPr>
      </p:sp>
      <p:sp>
        <p:nvSpPr>
          <p:cNvPr id="7" name="Text 4"/>
          <p:cNvSpPr/>
          <p:nvPr/>
        </p:nvSpPr>
        <p:spPr>
          <a:xfrm>
            <a:off x="749808" y="1874520"/>
            <a:ext cx="1225296" cy="658368"/>
          </a:xfrm>
          <a:prstGeom prst="rect">
            <a:avLst/>
          </a:prstGeom>
          <a:noFill/>
          <a:ln/>
        </p:spPr>
        <p:txBody>
          <a:bodyPr wrap="square" lIns="0" tIns="0" rIns="0" bIns="0" rtlCol="0" anchor="ctr"/>
          <a:lstStyle/>
          <a:p>
            <a:pPr algn="ctr" indent="0" marL="0">
              <a:buNone/>
            </a:pPr>
            <a:r>
              <a:rPr lang="en-US" sz="1250" b="1" dirty="0">
                <a:solidFill>
                  <a:srgbClr val="1E1B3A"/>
                </a:solidFill>
                <a:latin typeface="Malgun Gothic" pitchFamily="34" charset="0"/>
                <a:ea typeface="Malgun Gothic" pitchFamily="34" charset="-122"/>
                <a:cs typeface="Malgun Gothic" pitchFamily="34" charset="-120"/>
              </a:rPr>
              <a:t>계획</a:t>
            </a:r>
            <a:endParaRPr lang="en-US" sz="1250" dirty="0"/>
          </a:p>
        </p:txBody>
      </p:sp>
      <p:sp>
        <p:nvSpPr>
          <p:cNvPr id="8" name="Shape 5"/>
          <p:cNvSpPr/>
          <p:nvPr/>
        </p:nvSpPr>
        <p:spPr>
          <a:xfrm>
            <a:off x="2011680" y="2103120"/>
            <a:ext cx="182880" cy="201168"/>
          </a:xfrm>
          <a:prstGeom prst="rightArrow">
            <a:avLst/>
          </a:prstGeom>
          <a:solidFill>
            <a:srgbClr val="7C3AED"/>
          </a:solidFill>
          <a:ln/>
        </p:spPr>
      </p:sp>
      <p:sp>
        <p:nvSpPr>
          <p:cNvPr id="9" name="Shape 6"/>
          <p:cNvSpPr/>
          <p:nvPr/>
        </p:nvSpPr>
        <p:spPr>
          <a:xfrm>
            <a:off x="2231136" y="1874520"/>
            <a:ext cx="1225296" cy="658368"/>
          </a:xfrm>
          <a:prstGeom prst="roundRect">
            <a:avLst>
              <a:gd name="adj" fmla="val 13889"/>
            </a:avLst>
          </a:prstGeom>
          <a:solidFill>
            <a:srgbClr val="FFFFFF"/>
          </a:solidFill>
          <a:ln/>
          <a:effectLst>
            <a:outerShdw sx="100000" sy="100000" kx="0" ky="0" algn="bl" rotWithShape="0" blurRad="152400" dist="25400" dir="5400000">
              <a:srgbClr val="1F1D48">
                <a:alpha val="16000"/>
              </a:srgbClr>
            </a:outerShdw>
          </a:effectLst>
        </p:spPr>
      </p:sp>
      <p:sp>
        <p:nvSpPr>
          <p:cNvPr id="10" name="Text 7"/>
          <p:cNvSpPr/>
          <p:nvPr/>
        </p:nvSpPr>
        <p:spPr>
          <a:xfrm>
            <a:off x="2231136" y="1874520"/>
            <a:ext cx="1225296" cy="658368"/>
          </a:xfrm>
          <a:prstGeom prst="rect">
            <a:avLst/>
          </a:prstGeom>
          <a:noFill/>
          <a:ln/>
        </p:spPr>
        <p:txBody>
          <a:bodyPr wrap="square" lIns="0" tIns="0" rIns="0" bIns="0" rtlCol="0" anchor="ctr"/>
          <a:lstStyle/>
          <a:p>
            <a:pPr algn="ctr" indent="0" marL="0">
              <a:buNone/>
            </a:pPr>
            <a:r>
              <a:rPr lang="en-US" sz="1250" b="1" dirty="0">
                <a:solidFill>
                  <a:srgbClr val="1E1B3A"/>
                </a:solidFill>
                <a:latin typeface="Malgun Gothic" pitchFamily="34" charset="0"/>
                <a:ea typeface="Malgun Gothic" pitchFamily="34" charset="-122"/>
                <a:cs typeface="Malgun Gothic" pitchFamily="34" charset="-120"/>
              </a:rPr>
              <a:t>개발</a:t>
            </a:r>
            <a:endParaRPr lang="en-US" sz="1250" dirty="0"/>
          </a:p>
        </p:txBody>
      </p:sp>
      <p:sp>
        <p:nvSpPr>
          <p:cNvPr id="11" name="Shape 8"/>
          <p:cNvSpPr/>
          <p:nvPr/>
        </p:nvSpPr>
        <p:spPr>
          <a:xfrm>
            <a:off x="3493008" y="2103120"/>
            <a:ext cx="182880" cy="201168"/>
          </a:xfrm>
          <a:prstGeom prst="rightArrow">
            <a:avLst/>
          </a:prstGeom>
          <a:solidFill>
            <a:srgbClr val="7C3AED"/>
          </a:solidFill>
          <a:ln/>
        </p:spPr>
      </p:sp>
      <p:sp>
        <p:nvSpPr>
          <p:cNvPr id="12" name="Shape 9"/>
          <p:cNvSpPr/>
          <p:nvPr/>
        </p:nvSpPr>
        <p:spPr>
          <a:xfrm>
            <a:off x="3712464" y="1874520"/>
            <a:ext cx="1225296" cy="658368"/>
          </a:xfrm>
          <a:prstGeom prst="roundRect">
            <a:avLst>
              <a:gd name="adj" fmla="val 13889"/>
            </a:avLst>
          </a:prstGeom>
          <a:solidFill>
            <a:srgbClr val="FFFFFF"/>
          </a:solidFill>
          <a:ln/>
          <a:effectLst>
            <a:outerShdw sx="100000" sy="100000" kx="0" ky="0" algn="bl" rotWithShape="0" blurRad="152400" dist="25400" dir="5400000">
              <a:srgbClr val="1F1D48">
                <a:alpha val="16000"/>
              </a:srgbClr>
            </a:outerShdw>
          </a:effectLst>
        </p:spPr>
      </p:sp>
      <p:sp>
        <p:nvSpPr>
          <p:cNvPr id="13" name="Text 10"/>
          <p:cNvSpPr/>
          <p:nvPr/>
        </p:nvSpPr>
        <p:spPr>
          <a:xfrm>
            <a:off x="3712464" y="1874520"/>
            <a:ext cx="1225296" cy="658368"/>
          </a:xfrm>
          <a:prstGeom prst="rect">
            <a:avLst/>
          </a:prstGeom>
          <a:noFill/>
          <a:ln/>
        </p:spPr>
        <p:txBody>
          <a:bodyPr wrap="square" lIns="0" tIns="0" rIns="0" bIns="0" rtlCol="0" anchor="ctr"/>
          <a:lstStyle/>
          <a:p>
            <a:pPr algn="ctr" indent="0" marL="0">
              <a:buNone/>
            </a:pPr>
            <a:r>
              <a:rPr lang="en-US" sz="1250" b="1" dirty="0">
                <a:solidFill>
                  <a:srgbClr val="1E1B3A"/>
                </a:solidFill>
                <a:latin typeface="Malgun Gothic" pitchFamily="34" charset="0"/>
                <a:ea typeface="Malgun Gothic" pitchFamily="34" charset="-122"/>
                <a:cs typeface="Malgun Gothic" pitchFamily="34" charset="-120"/>
              </a:rPr>
              <a:t>확인</a:t>
            </a:r>
            <a:endParaRPr lang="en-US" sz="1250" dirty="0"/>
          </a:p>
        </p:txBody>
      </p:sp>
      <p:sp>
        <p:nvSpPr>
          <p:cNvPr id="14" name="Shape 11"/>
          <p:cNvSpPr/>
          <p:nvPr/>
        </p:nvSpPr>
        <p:spPr>
          <a:xfrm>
            <a:off x="4974336" y="2103120"/>
            <a:ext cx="182880" cy="201168"/>
          </a:xfrm>
          <a:prstGeom prst="rightArrow">
            <a:avLst/>
          </a:prstGeom>
          <a:solidFill>
            <a:srgbClr val="7C3AED"/>
          </a:solidFill>
          <a:ln/>
        </p:spPr>
      </p:sp>
      <p:sp>
        <p:nvSpPr>
          <p:cNvPr id="15" name="Shape 12"/>
          <p:cNvSpPr/>
          <p:nvPr/>
        </p:nvSpPr>
        <p:spPr>
          <a:xfrm>
            <a:off x="5193792" y="1874520"/>
            <a:ext cx="1225296" cy="658368"/>
          </a:xfrm>
          <a:prstGeom prst="roundRect">
            <a:avLst>
              <a:gd name="adj" fmla="val 13889"/>
            </a:avLst>
          </a:prstGeom>
          <a:solidFill>
            <a:srgbClr val="FFFFFF"/>
          </a:solidFill>
          <a:ln/>
          <a:effectLst>
            <a:outerShdw sx="100000" sy="100000" kx="0" ky="0" algn="bl" rotWithShape="0" blurRad="152400" dist="25400" dir="5400000">
              <a:srgbClr val="1F1D48">
                <a:alpha val="16000"/>
              </a:srgbClr>
            </a:outerShdw>
          </a:effectLst>
        </p:spPr>
      </p:sp>
      <p:sp>
        <p:nvSpPr>
          <p:cNvPr id="16" name="Text 13"/>
          <p:cNvSpPr/>
          <p:nvPr/>
        </p:nvSpPr>
        <p:spPr>
          <a:xfrm>
            <a:off x="5193792" y="1874520"/>
            <a:ext cx="1225296" cy="658368"/>
          </a:xfrm>
          <a:prstGeom prst="rect">
            <a:avLst/>
          </a:prstGeom>
          <a:noFill/>
          <a:ln/>
        </p:spPr>
        <p:txBody>
          <a:bodyPr wrap="square" lIns="0" tIns="0" rIns="0" bIns="0" rtlCol="0" anchor="ctr"/>
          <a:lstStyle/>
          <a:p>
            <a:pPr algn="ctr" indent="0" marL="0">
              <a:buNone/>
            </a:pPr>
            <a:r>
              <a:rPr lang="en-US" sz="1250" b="1" dirty="0">
                <a:solidFill>
                  <a:srgbClr val="1E1B3A"/>
                </a:solidFill>
                <a:latin typeface="Malgun Gothic" pitchFamily="34" charset="0"/>
                <a:ea typeface="Malgun Gothic" pitchFamily="34" charset="-122"/>
                <a:cs typeface="Malgun Gothic" pitchFamily="34" charset="-120"/>
              </a:rPr>
              <a:t>피드백</a:t>
            </a:r>
            <a:endParaRPr lang="en-US" sz="1250" dirty="0"/>
          </a:p>
        </p:txBody>
      </p:sp>
      <p:sp>
        <p:nvSpPr>
          <p:cNvPr id="17" name="Shape 14"/>
          <p:cNvSpPr/>
          <p:nvPr/>
        </p:nvSpPr>
        <p:spPr>
          <a:xfrm>
            <a:off x="1069848" y="2761488"/>
            <a:ext cx="4892040" cy="219456"/>
          </a:xfrm>
          <a:prstGeom prst="leftArrow">
            <a:avLst/>
          </a:prstGeom>
          <a:solidFill>
            <a:srgbClr val="E7E6FB"/>
          </a:solidFill>
          <a:ln/>
        </p:spPr>
      </p:sp>
      <p:sp>
        <p:nvSpPr>
          <p:cNvPr id="18" name="Text 15"/>
          <p:cNvSpPr/>
          <p:nvPr/>
        </p:nvSpPr>
        <p:spPr>
          <a:xfrm>
            <a:off x="1069848" y="3017520"/>
            <a:ext cx="4892040" cy="274320"/>
          </a:xfrm>
          <a:prstGeom prst="rect">
            <a:avLst/>
          </a:prstGeom>
          <a:noFill/>
          <a:ln/>
        </p:spPr>
        <p:txBody>
          <a:bodyPr wrap="square" lIns="0" tIns="0" rIns="0" bIns="0" rtlCol="0" anchor="ctr"/>
          <a:lstStyle/>
          <a:p>
            <a:pPr algn="ctr" indent="0" marL="0">
              <a:buNone/>
            </a:pPr>
            <a:r>
              <a:rPr lang="en-US" sz="1050" dirty="0">
                <a:solidFill>
                  <a:srgbClr val="6B7185"/>
                </a:solidFill>
                <a:latin typeface="Malgun Gothic" pitchFamily="34" charset="0"/>
                <a:ea typeface="Malgun Gothic" pitchFamily="34" charset="-122"/>
                <a:cs typeface="Malgun Gothic" pitchFamily="34" charset="-120"/>
              </a:rPr>
              <a:t>× N번 반복하며 점점 완성으로</a:t>
            </a:r>
            <a:endParaRPr lang="en-US" sz="1050" dirty="0"/>
          </a:p>
        </p:txBody>
      </p:sp>
      <p:sp>
        <p:nvSpPr>
          <p:cNvPr id="19" name="Text 16"/>
          <p:cNvSpPr/>
          <p:nvPr/>
        </p:nvSpPr>
        <p:spPr>
          <a:xfrm>
            <a:off x="6675120" y="1847088"/>
            <a:ext cx="4846320" cy="1554480"/>
          </a:xfrm>
          <a:prstGeom prst="rect">
            <a:avLst/>
          </a:prstGeom>
          <a:noFill/>
          <a:ln/>
        </p:spPr>
        <p:txBody>
          <a:bodyPr wrap="square" lIns="0" tIns="0" rIns="0" bIns="0" rtlCol="0" anchor="t"/>
          <a:lstStyle/>
          <a:p>
            <a:pPr algn="l" indent="0" marL="0">
              <a:lnSpc>
                <a:spcPts val="1900"/>
              </a:lnSpc>
              <a:buNone/>
            </a:pPr>
            <a:r>
              <a:rPr lang="en-US" sz="1250" dirty="0">
                <a:solidFill>
                  <a:srgbClr val="3C3B57"/>
                </a:solidFill>
                <a:latin typeface="Malgun Gothic" pitchFamily="34" charset="0"/>
                <a:ea typeface="Malgun Gothic" pitchFamily="34" charset="-122"/>
                <a:cs typeface="Malgun Gothic" pitchFamily="34" charset="-120"/>
              </a:rPr>
              <a:t>한 번에 전부를 만드는 대신, 계획 → 개발 → 확인 → 피드백의 작은 바퀴를 여러 번 굴려 완성에 다가갑니다. 확인이 매 바퀴마다 있으니 "이게 아니에요"를 일찍 듣습니다.</a:t>
            </a:r>
            <a:endParaRPr lang="en-US" sz="1250" dirty="0"/>
          </a:p>
        </p:txBody>
      </p:sp>
      <p:sp>
        <p:nvSpPr>
          <p:cNvPr id="20" name="Shape 17"/>
          <p:cNvSpPr/>
          <p:nvPr/>
        </p:nvSpPr>
        <p:spPr>
          <a:xfrm>
            <a:off x="658368" y="3703320"/>
            <a:ext cx="5308092" cy="1965960"/>
          </a:xfrm>
          <a:prstGeom prst="roundRect">
            <a:avLst>
              <a:gd name="adj" fmla="val 4651"/>
            </a:avLst>
          </a:prstGeom>
          <a:solidFill>
            <a:srgbClr val="FFFFFF"/>
          </a:solidFill>
          <a:ln/>
          <a:effectLst>
            <a:outerShdw sx="100000" sy="100000" kx="0" ky="0" algn="bl" rotWithShape="0" blurRad="152400" dist="25400" dir="5400000">
              <a:srgbClr val="1F1D48">
                <a:alpha val="16000"/>
              </a:srgbClr>
            </a:outerShdw>
          </a:effectLst>
        </p:spPr>
      </p:sp>
      <p:sp>
        <p:nvSpPr>
          <p:cNvPr id="21" name="Shape 18"/>
          <p:cNvSpPr/>
          <p:nvPr/>
        </p:nvSpPr>
        <p:spPr>
          <a:xfrm>
            <a:off x="896112" y="3941064"/>
            <a:ext cx="512064" cy="512064"/>
          </a:xfrm>
          <a:prstGeom prst="ellipse">
            <a:avLst/>
          </a:prstGeom>
          <a:solidFill>
            <a:srgbClr val="38BDF8"/>
          </a:solidFill>
          <a:ln/>
        </p:spPr>
      </p:sp>
      <p:pic>
        <p:nvPicPr>
          <p:cNvPr id="22" name="Image 1" descr="/home/claude/icons/layers_white.png">    </p:cNvPr>
          <p:cNvPicPr>
            <a:picLocks noChangeAspect="1"/>
          </p:cNvPicPr>
          <p:nvPr/>
        </p:nvPicPr>
        <p:blipFill>
          <a:blip r:embed="rId2"/>
          <a:stretch>
            <a:fillRect/>
          </a:stretch>
        </p:blipFill>
        <p:spPr>
          <a:xfrm>
            <a:off x="1024128" y="4069080"/>
            <a:ext cx="256032" cy="256032"/>
          </a:xfrm>
          <a:prstGeom prst="rect">
            <a:avLst/>
          </a:prstGeom>
        </p:spPr>
      </p:pic>
      <p:sp>
        <p:nvSpPr>
          <p:cNvPr id="23" name="Text 19"/>
          <p:cNvSpPr/>
          <p:nvPr/>
        </p:nvSpPr>
        <p:spPr>
          <a:xfrm>
            <a:off x="896112" y="4581144"/>
            <a:ext cx="4850892" cy="292608"/>
          </a:xfrm>
          <a:prstGeom prst="rect">
            <a:avLst/>
          </a:prstGeom>
          <a:noFill/>
          <a:ln/>
        </p:spPr>
        <p:txBody>
          <a:bodyPr wrap="square" lIns="0" tIns="0" rIns="0" bIns="0" rtlCol="0" anchor="ctr"/>
          <a:lstStyle/>
          <a:p>
            <a:pPr indent="0" marL="0">
              <a:buNone/>
            </a:pPr>
            <a:r>
              <a:rPr lang="en-US" sz="1250" b="1" dirty="0">
                <a:solidFill>
                  <a:srgbClr val="1E1B3A"/>
                </a:solidFill>
                <a:latin typeface="Malgun Gothic" pitchFamily="34" charset="0"/>
                <a:ea typeface="Malgun Gothic" pitchFamily="34" charset="-122"/>
                <a:cs typeface="Malgun Gothic" pitchFamily="34" charset="-120"/>
              </a:rPr>
              <a:t>증분(Incremental) — 조각씩 완성</a:t>
            </a:r>
            <a:endParaRPr lang="en-US" sz="1250" dirty="0"/>
          </a:p>
        </p:txBody>
      </p:sp>
      <p:sp>
        <p:nvSpPr>
          <p:cNvPr id="24" name="Text 20"/>
          <p:cNvSpPr/>
          <p:nvPr/>
        </p:nvSpPr>
        <p:spPr>
          <a:xfrm>
            <a:off x="896112" y="4873752"/>
            <a:ext cx="4850892" cy="68580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피자를 한 조각씩 완성해 내놓는 방식. 기능 1을 끝내 배포하고, 기능 2를 더하고… 매 회차 '완성된 일부'가 나옵니다.</a:t>
            </a:r>
            <a:endParaRPr lang="en-US" sz="1100" dirty="0"/>
          </a:p>
        </p:txBody>
      </p:sp>
      <p:sp>
        <p:nvSpPr>
          <p:cNvPr id="25" name="Shape 21"/>
          <p:cNvSpPr/>
          <p:nvPr/>
        </p:nvSpPr>
        <p:spPr>
          <a:xfrm>
            <a:off x="6222492" y="3703320"/>
            <a:ext cx="5308092" cy="1965960"/>
          </a:xfrm>
          <a:prstGeom prst="roundRect">
            <a:avLst>
              <a:gd name="adj" fmla="val 4651"/>
            </a:avLst>
          </a:prstGeom>
          <a:solidFill>
            <a:srgbClr val="FFFFFF"/>
          </a:solidFill>
          <a:ln/>
          <a:effectLst>
            <a:outerShdw sx="100000" sy="100000" kx="0" ky="0" algn="bl" rotWithShape="0" blurRad="152400" dist="25400" dir="5400000">
              <a:srgbClr val="1F1D48">
                <a:alpha val="16000"/>
              </a:srgbClr>
            </a:outerShdw>
          </a:effectLst>
        </p:spPr>
      </p:sp>
      <p:sp>
        <p:nvSpPr>
          <p:cNvPr id="26" name="Shape 22"/>
          <p:cNvSpPr/>
          <p:nvPr/>
        </p:nvSpPr>
        <p:spPr>
          <a:xfrm>
            <a:off x="6460236" y="3941064"/>
            <a:ext cx="512064" cy="512064"/>
          </a:xfrm>
          <a:prstGeom prst="ellipse">
            <a:avLst/>
          </a:prstGeom>
          <a:solidFill>
            <a:srgbClr val="7C3AED"/>
          </a:solidFill>
          <a:ln/>
        </p:spPr>
      </p:sp>
      <p:pic>
        <p:nvPicPr>
          <p:cNvPr id="27" name="Image 2" descr="/home/claude/icons/sync_white.png">    </p:cNvPr>
          <p:cNvPicPr>
            <a:picLocks noChangeAspect="1"/>
          </p:cNvPicPr>
          <p:nvPr/>
        </p:nvPicPr>
        <p:blipFill>
          <a:blip r:embed="rId3"/>
          <a:stretch>
            <a:fillRect/>
          </a:stretch>
        </p:blipFill>
        <p:spPr>
          <a:xfrm>
            <a:off x="6588252" y="4069080"/>
            <a:ext cx="256032" cy="256032"/>
          </a:xfrm>
          <a:prstGeom prst="rect">
            <a:avLst/>
          </a:prstGeom>
        </p:spPr>
      </p:pic>
      <p:sp>
        <p:nvSpPr>
          <p:cNvPr id="28" name="Text 23"/>
          <p:cNvSpPr/>
          <p:nvPr/>
        </p:nvSpPr>
        <p:spPr>
          <a:xfrm>
            <a:off x="6460236" y="4581144"/>
            <a:ext cx="4850892" cy="292608"/>
          </a:xfrm>
          <a:prstGeom prst="rect">
            <a:avLst/>
          </a:prstGeom>
          <a:noFill/>
          <a:ln/>
        </p:spPr>
        <p:txBody>
          <a:bodyPr wrap="square" lIns="0" tIns="0" rIns="0" bIns="0" rtlCol="0" anchor="ctr"/>
          <a:lstStyle/>
          <a:p>
            <a:pPr indent="0" marL="0">
              <a:buNone/>
            </a:pPr>
            <a:r>
              <a:rPr lang="en-US" sz="1250" b="1" dirty="0">
                <a:solidFill>
                  <a:srgbClr val="1E1B3A"/>
                </a:solidFill>
                <a:latin typeface="Malgun Gothic" pitchFamily="34" charset="0"/>
                <a:ea typeface="Malgun Gothic" pitchFamily="34" charset="-122"/>
                <a:cs typeface="Malgun Gothic" pitchFamily="34" charset="-120"/>
              </a:rPr>
              <a:t>반복(Iterative) — 전체를 다듬기</a:t>
            </a:r>
            <a:endParaRPr lang="en-US" sz="1250" dirty="0"/>
          </a:p>
        </p:txBody>
      </p:sp>
      <p:sp>
        <p:nvSpPr>
          <p:cNvPr id="29" name="Text 24"/>
          <p:cNvSpPr/>
          <p:nvPr/>
        </p:nvSpPr>
        <p:spPr>
          <a:xfrm>
            <a:off x="6460236" y="4873752"/>
            <a:ext cx="4850892" cy="68580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그림을 스케치 → 밑색 → 세부 묘사로 완성하는 방식. 매 회차 '전체의 더 나은 버전'이 나옵니다. 실제로는 둘을 섞어 씁니다.</a:t>
            </a:r>
            <a:endParaRPr lang="en-US" sz="1100" dirty="0"/>
          </a:p>
        </p:txBody>
      </p:sp>
      <p:sp>
        <p:nvSpPr>
          <p:cNvPr id="30" name="Text 25"/>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07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766060" cy="384048"/>
          </a:xfrm>
          <a:prstGeom prst="roundRect">
            <a:avLst>
              <a:gd name="adj" fmla="val 50000"/>
            </a:avLst>
          </a:prstGeom>
          <a:solidFill>
            <a:srgbClr val="EDECFB"/>
          </a:solidFill>
          <a:ln/>
        </p:spPr>
      </p:sp>
      <p:pic>
        <p:nvPicPr>
          <p:cNvPr id="3" name="Image 0" descr="/home/claude/icons/route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382012"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1부 · 개발 프로세스 모델</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애자일 — 2001년, 열일곱 명의 선언</a:t>
            </a:r>
            <a:endParaRPr lang="en-US" sz="2600" dirty="0"/>
          </a:p>
        </p:txBody>
      </p:sp>
      <p:sp>
        <p:nvSpPr>
          <p:cNvPr id="6" name="Text 3"/>
          <p:cNvSpPr/>
          <p:nvPr/>
        </p:nvSpPr>
        <p:spPr>
          <a:xfrm>
            <a:off x="658368" y="1609344"/>
            <a:ext cx="10872216" cy="914400"/>
          </a:xfrm>
          <a:prstGeom prst="rect">
            <a:avLst/>
          </a:prstGeom>
          <a:noFill/>
          <a:ln/>
        </p:spPr>
        <p:txBody>
          <a:bodyPr wrap="square" lIns="0" tIns="0" rIns="0" bIns="0" rtlCol="0" anchor="t"/>
          <a:lstStyle/>
          <a:p>
            <a:pPr algn="l" indent="0" marL="0">
              <a:lnSpc>
                <a:spcPts val="1900"/>
              </a:lnSpc>
              <a:buNone/>
            </a:pPr>
            <a:r>
              <a:rPr lang="en-US" sz="1250" dirty="0">
                <a:solidFill>
                  <a:srgbClr val="3C3B57"/>
                </a:solidFill>
                <a:latin typeface="Malgun Gothic" pitchFamily="34" charset="0"/>
                <a:ea typeface="Malgun Gothic" pitchFamily="34" charset="-122"/>
                <a:cs typeface="Malgun Gothic" pitchFamily="34" charset="-120"/>
              </a:rPr>
              <a:t>무거운 문서와 계획 중심 개발에 지친 개발자 17명이 모여 네 줄의 가치 선언을 발표했습니다.</a:t>
            </a:r>
            <a:endParaRPr lang="en-US" sz="1250" dirty="0"/>
          </a:p>
        </p:txBody>
      </p:sp>
      <p:sp>
        <p:nvSpPr>
          <p:cNvPr id="7" name="Shape 4"/>
          <p:cNvSpPr/>
          <p:nvPr/>
        </p:nvSpPr>
        <p:spPr>
          <a:xfrm>
            <a:off x="658368" y="2148840"/>
            <a:ext cx="10872216" cy="676656"/>
          </a:xfrm>
          <a:prstGeom prst="roundRect">
            <a:avLst>
              <a:gd name="adj" fmla="val 13514"/>
            </a:avLst>
          </a:prstGeom>
          <a:solidFill>
            <a:srgbClr val="FFFFFF"/>
          </a:solidFill>
          <a:ln w="9525">
            <a:solidFill>
              <a:srgbClr val="E5E5F0"/>
            </a:solidFill>
            <a:prstDash val="solid"/>
          </a:ln>
        </p:spPr>
      </p:sp>
      <p:sp>
        <p:nvSpPr>
          <p:cNvPr id="8" name="Text 5"/>
          <p:cNvSpPr/>
          <p:nvPr/>
        </p:nvSpPr>
        <p:spPr>
          <a:xfrm>
            <a:off x="1024128" y="2148840"/>
            <a:ext cx="4480560" cy="676656"/>
          </a:xfrm>
          <a:prstGeom prst="rect">
            <a:avLst/>
          </a:prstGeom>
          <a:noFill/>
          <a:ln/>
        </p:spPr>
        <p:txBody>
          <a:bodyPr wrap="square" lIns="0" tIns="0" rIns="0" bIns="0" rtlCol="0" anchor="ctr"/>
          <a:lstStyle/>
          <a:p>
            <a:pPr indent="0" marL="0">
              <a:buNone/>
            </a:pPr>
            <a:r>
              <a:rPr lang="en-US" sz="1500" b="1" dirty="0">
                <a:solidFill>
                  <a:srgbClr val="4338CA"/>
                </a:solidFill>
                <a:latin typeface="Malgun Gothic" pitchFamily="34" charset="0"/>
                <a:ea typeface="Malgun Gothic" pitchFamily="34" charset="-122"/>
                <a:cs typeface="Malgun Gothic" pitchFamily="34" charset="-120"/>
              </a:rPr>
              <a:t>개인과 상호작용</a:t>
            </a:r>
            <a:endParaRPr lang="en-US" sz="1500" dirty="0"/>
          </a:p>
        </p:txBody>
      </p:sp>
      <p:sp>
        <p:nvSpPr>
          <p:cNvPr id="9" name="Shape 6"/>
          <p:cNvSpPr/>
          <p:nvPr/>
        </p:nvSpPr>
        <p:spPr>
          <a:xfrm>
            <a:off x="5806440" y="2304288"/>
            <a:ext cx="365760" cy="365760"/>
          </a:xfrm>
          <a:prstGeom prst="ellipse">
            <a:avLst/>
          </a:prstGeom>
          <a:solidFill>
            <a:srgbClr val="7C3AED"/>
          </a:solidFill>
          <a:ln/>
        </p:spPr>
      </p:sp>
      <p:sp>
        <p:nvSpPr>
          <p:cNvPr id="10" name="Text 7"/>
          <p:cNvSpPr/>
          <p:nvPr/>
        </p:nvSpPr>
        <p:spPr>
          <a:xfrm>
            <a:off x="5806440" y="228600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&gt;</a:t>
            </a:r>
            <a:endParaRPr lang="en-US" sz="1500" dirty="0"/>
          </a:p>
        </p:txBody>
      </p:sp>
      <p:sp>
        <p:nvSpPr>
          <p:cNvPr id="11" name="Text 8"/>
          <p:cNvSpPr/>
          <p:nvPr/>
        </p:nvSpPr>
        <p:spPr>
          <a:xfrm>
            <a:off x="6446520" y="2148840"/>
            <a:ext cx="4754880" cy="676656"/>
          </a:xfrm>
          <a:prstGeom prst="rect">
            <a:avLst/>
          </a:prstGeom>
          <a:noFill/>
          <a:ln/>
        </p:spPr>
        <p:txBody>
          <a:bodyPr wrap="square" lIns="0" tIns="0" rIns="0" bIns="0" rtlCol="0" anchor="ctr"/>
          <a:lstStyle/>
          <a:p>
            <a:pPr indent="0" marL="0">
              <a:buNone/>
            </a:pPr>
            <a:r>
              <a:rPr lang="en-US" sz="1350" dirty="0">
                <a:solidFill>
                  <a:srgbClr val="6B7185"/>
                </a:solidFill>
                <a:latin typeface="Malgun Gothic" pitchFamily="34" charset="0"/>
                <a:ea typeface="Malgun Gothic" pitchFamily="34" charset="-122"/>
                <a:cs typeface="Malgun Gothic" pitchFamily="34" charset="-120"/>
              </a:rPr>
              <a:t>프로세스와 도구</a:t>
            </a:r>
            <a:endParaRPr lang="en-US" sz="1350" dirty="0"/>
          </a:p>
        </p:txBody>
      </p:sp>
      <p:sp>
        <p:nvSpPr>
          <p:cNvPr id="12" name="Shape 9"/>
          <p:cNvSpPr/>
          <p:nvPr/>
        </p:nvSpPr>
        <p:spPr>
          <a:xfrm>
            <a:off x="658368" y="2990088"/>
            <a:ext cx="10872216" cy="676656"/>
          </a:xfrm>
          <a:prstGeom prst="roundRect">
            <a:avLst>
              <a:gd name="adj" fmla="val 13514"/>
            </a:avLst>
          </a:prstGeom>
          <a:solidFill>
            <a:srgbClr val="F5F4FC"/>
          </a:solidFill>
          <a:ln w="9525">
            <a:solidFill>
              <a:srgbClr val="E5E5F0"/>
            </a:solidFill>
            <a:prstDash val="solid"/>
          </a:ln>
        </p:spPr>
      </p:sp>
      <p:sp>
        <p:nvSpPr>
          <p:cNvPr id="13" name="Text 10"/>
          <p:cNvSpPr/>
          <p:nvPr/>
        </p:nvSpPr>
        <p:spPr>
          <a:xfrm>
            <a:off x="1024128" y="2990088"/>
            <a:ext cx="4480560" cy="676656"/>
          </a:xfrm>
          <a:prstGeom prst="rect">
            <a:avLst/>
          </a:prstGeom>
          <a:noFill/>
          <a:ln/>
        </p:spPr>
        <p:txBody>
          <a:bodyPr wrap="square" lIns="0" tIns="0" rIns="0" bIns="0" rtlCol="0" anchor="ctr"/>
          <a:lstStyle/>
          <a:p>
            <a:pPr indent="0" marL="0">
              <a:buNone/>
            </a:pPr>
            <a:r>
              <a:rPr lang="en-US" sz="1500" b="1" dirty="0">
                <a:solidFill>
                  <a:srgbClr val="4338CA"/>
                </a:solidFill>
                <a:latin typeface="Malgun Gothic" pitchFamily="34" charset="0"/>
                <a:ea typeface="Malgun Gothic" pitchFamily="34" charset="-122"/>
                <a:cs typeface="Malgun Gothic" pitchFamily="34" charset="-120"/>
              </a:rPr>
              <a:t>작동하는 소프트웨어</a:t>
            </a:r>
            <a:endParaRPr lang="en-US" sz="1500" dirty="0"/>
          </a:p>
        </p:txBody>
      </p:sp>
      <p:sp>
        <p:nvSpPr>
          <p:cNvPr id="14" name="Shape 11"/>
          <p:cNvSpPr/>
          <p:nvPr/>
        </p:nvSpPr>
        <p:spPr>
          <a:xfrm>
            <a:off x="5806440" y="3145536"/>
            <a:ext cx="365760" cy="365760"/>
          </a:xfrm>
          <a:prstGeom prst="ellipse">
            <a:avLst/>
          </a:prstGeom>
          <a:solidFill>
            <a:srgbClr val="7C3AED"/>
          </a:solidFill>
          <a:ln/>
        </p:spPr>
      </p:sp>
      <p:sp>
        <p:nvSpPr>
          <p:cNvPr id="15" name="Text 12"/>
          <p:cNvSpPr/>
          <p:nvPr/>
        </p:nvSpPr>
        <p:spPr>
          <a:xfrm>
            <a:off x="5806440" y="3127248"/>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&gt;</a:t>
            </a:r>
            <a:endParaRPr lang="en-US" sz="1500" dirty="0"/>
          </a:p>
        </p:txBody>
      </p:sp>
      <p:sp>
        <p:nvSpPr>
          <p:cNvPr id="16" name="Text 13"/>
          <p:cNvSpPr/>
          <p:nvPr/>
        </p:nvSpPr>
        <p:spPr>
          <a:xfrm>
            <a:off x="6446520" y="2990088"/>
            <a:ext cx="4754880" cy="676656"/>
          </a:xfrm>
          <a:prstGeom prst="rect">
            <a:avLst/>
          </a:prstGeom>
          <a:noFill/>
          <a:ln/>
        </p:spPr>
        <p:txBody>
          <a:bodyPr wrap="square" lIns="0" tIns="0" rIns="0" bIns="0" rtlCol="0" anchor="ctr"/>
          <a:lstStyle/>
          <a:p>
            <a:pPr indent="0" marL="0">
              <a:buNone/>
            </a:pPr>
            <a:r>
              <a:rPr lang="en-US" sz="1350" dirty="0">
                <a:solidFill>
                  <a:srgbClr val="6B7185"/>
                </a:solidFill>
                <a:latin typeface="Malgun Gothic" pitchFamily="34" charset="0"/>
                <a:ea typeface="Malgun Gothic" pitchFamily="34" charset="-122"/>
                <a:cs typeface="Malgun Gothic" pitchFamily="34" charset="-120"/>
              </a:rPr>
              <a:t>포괄적인 문서</a:t>
            </a:r>
            <a:endParaRPr lang="en-US" sz="1350" dirty="0"/>
          </a:p>
        </p:txBody>
      </p:sp>
      <p:sp>
        <p:nvSpPr>
          <p:cNvPr id="17" name="Shape 14"/>
          <p:cNvSpPr/>
          <p:nvPr/>
        </p:nvSpPr>
        <p:spPr>
          <a:xfrm>
            <a:off x="658368" y="3831336"/>
            <a:ext cx="10872216" cy="676656"/>
          </a:xfrm>
          <a:prstGeom prst="roundRect">
            <a:avLst>
              <a:gd name="adj" fmla="val 13514"/>
            </a:avLst>
          </a:prstGeom>
          <a:solidFill>
            <a:srgbClr val="FFFFFF"/>
          </a:solidFill>
          <a:ln w="9525">
            <a:solidFill>
              <a:srgbClr val="E5E5F0"/>
            </a:solidFill>
            <a:prstDash val="solid"/>
          </a:ln>
        </p:spPr>
      </p:sp>
      <p:sp>
        <p:nvSpPr>
          <p:cNvPr id="18" name="Text 15"/>
          <p:cNvSpPr/>
          <p:nvPr/>
        </p:nvSpPr>
        <p:spPr>
          <a:xfrm>
            <a:off x="1024128" y="3831336"/>
            <a:ext cx="4480560" cy="676656"/>
          </a:xfrm>
          <a:prstGeom prst="rect">
            <a:avLst/>
          </a:prstGeom>
          <a:noFill/>
          <a:ln/>
        </p:spPr>
        <p:txBody>
          <a:bodyPr wrap="square" lIns="0" tIns="0" rIns="0" bIns="0" rtlCol="0" anchor="ctr"/>
          <a:lstStyle/>
          <a:p>
            <a:pPr indent="0" marL="0">
              <a:buNone/>
            </a:pPr>
            <a:r>
              <a:rPr lang="en-US" sz="1500" b="1" dirty="0">
                <a:solidFill>
                  <a:srgbClr val="4338CA"/>
                </a:solidFill>
                <a:latin typeface="Malgun Gothic" pitchFamily="34" charset="0"/>
                <a:ea typeface="Malgun Gothic" pitchFamily="34" charset="-122"/>
                <a:cs typeface="Malgun Gothic" pitchFamily="34" charset="-120"/>
              </a:rPr>
              <a:t>고객과의 협력</a:t>
            </a:r>
            <a:endParaRPr lang="en-US" sz="1500" dirty="0"/>
          </a:p>
        </p:txBody>
      </p:sp>
      <p:sp>
        <p:nvSpPr>
          <p:cNvPr id="19" name="Shape 16"/>
          <p:cNvSpPr/>
          <p:nvPr/>
        </p:nvSpPr>
        <p:spPr>
          <a:xfrm>
            <a:off x="5806440" y="3986784"/>
            <a:ext cx="365760" cy="365760"/>
          </a:xfrm>
          <a:prstGeom prst="ellipse">
            <a:avLst/>
          </a:prstGeom>
          <a:solidFill>
            <a:srgbClr val="7C3AED"/>
          </a:solidFill>
          <a:ln/>
        </p:spPr>
      </p:sp>
      <p:sp>
        <p:nvSpPr>
          <p:cNvPr id="20" name="Text 17"/>
          <p:cNvSpPr/>
          <p:nvPr/>
        </p:nvSpPr>
        <p:spPr>
          <a:xfrm>
            <a:off x="5806440" y="3968496"/>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&gt;</a:t>
            </a:r>
            <a:endParaRPr lang="en-US" sz="1500" dirty="0"/>
          </a:p>
        </p:txBody>
      </p:sp>
      <p:sp>
        <p:nvSpPr>
          <p:cNvPr id="21" name="Text 18"/>
          <p:cNvSpPr/>
          <p:nvPr/>
        </p:nvSpPr>
        <p:spPr>
          <a:xfrm>
            <a:off x="6446520" y="3831336"/>
            <a:ext cx="4754880" cy="676656"/>
          </a:xfrm>
          <a:prstGeom prst="rect">
            <a:avLst/>
          </a:prstGeom>
          <a:noFill/>
          <a:ln/>
        </p:spPr>
        <p:txBody>
          <a:bodyPr wrap="square" lIns="0" tIns="0" rIns="0" bIns="0" rtlCol="0" anchor="ctr"/>
          <a:lstStyle/>
          <a:p>
            <a:pPr indent="0" marL="0">
              <a:buNone/>
            </a:pPr>
            <a:r>
              <a:rPr lang="en-US" sz="1350" dirty="0">
                <a:solidFill>
                  <a:srgbClr val="6B7185"/>
                </a:solidFill>
                <a:latin typeface="Malgun Gothic" pitchFamily="34" charset="0"/>
                <a:ea typeface="Malgun Gothic" pitchFamily="34" charset="-122"/>
                <a:cs typeface="Malgun Gothic" pitchFamily="34" charset="-120"/>
              </a:rPr>
              <a:t>계약 협상</a:t>
            </a:r>
            <a:endParaRPr lang="en-US" sz="1350" dirty="0"/>
          </a:p>
        </p:txBody>
      </p:sp>
      <p:sp>
        <p:nvSpPr>
          <p:cNvPr id="22" name="Shape 19"/>
          <p:cNvSpPr/>
          <p:nvPr/>
        </p:nvSpPr>
        <p:spPr>
          <a:xfrm>
            <a:off x="658368" y="4672584"/>
            <a:ext cx="10872216" cy="676656"/>
          </a:xfrm>
          <a:prstGeom prst="roundRect">
            <a:avLst>
              <a:gd name="adj" fmla="val 13514"/>
            </a:avLst>
          </a:prstGeom>
          <a:solidFill>
            <a:srgbClr val="F5F4FC"/>
          </a:solidFill>
          <a:ln w="9525">
            <a:solidFill>
              <a:srgbClr val="E5E5F0"/>
            </a:solidFill>
            <a:prstDash val="solid"/>
          </a:ln>
        </p:spPr>
      </p:sp>
      <p:sp>
        <p:nvSpPr>
          <p:cNvPr id="23" name="Text 20"/>
          <p:cNvSpPr/>
          <p:nvPr/>
        </p:nvSpPr>
        <p:spPr>
          <a:xfrm>
            <a:off x="1024128" y="4672584"/>
            <a:ext cx="4480560" cy="676656"/>
          </a:xfrm>
          <a:prstGeom prst="rect">
            <a:avLst/>
          </a:prstGeom>
          <a:noFill/>
          <a:ln/>
        </p:spPr>
        <p:txBody>
          <a:bodyPr wrap="square" lIns="0" tIns="0" rIns="0" bIns="0" rtlCol="0" anchor="ctr"/>
          <a:lstStyle/>
          <a:p>
            <a:pPr indent="0" marL="0">
              <a:buNone/>
            </a:pPr>
            <a:r>
              <a:rPr lang="en-US" sz="1500" b="1" dirty="0">
                <a:solidFill>
                  <a:srgbClr val="4338CA"/>
                </a:solidFill>
                <a:latin typeface="Malgun Gothic" pitchFamily="34" charset="0"/>
                <a:ea typeface="Malgun Gothic" pitchFamily="34" charset="-122"/>
                <a:cs typeface="Malgun Gothic" pitchFamily="34" charset="-120"/>
              </a:rPr>
              <a:t>변화에 대응하기</a:t>
            </a:r>
            <a:endParaRPr lang="en-US" sz="1500" dirty="0"/>
          </a:p>
        </p:txBody>
      </p:sp>
      <p:sp>
        <p:nvSpPr>
          <p:cNvPr id="24" name="Shape 21"/>
          <p:cNvSpPr/>
          <p:nvPr/>
        </p:nvSpPr>
        <p:spPr>
          <a:xfrm>
            <a:off x="5806440" y="4828032"/>
            <a:ext cx="365760" cy="365760"/>
          </a:xfrm>
          <a:prstGeom prst="ellipse">
            <a:avLst/>
          </a:prstGeom>
          <a:solidFill>
            <a:srgbClr val="7C3AED"/>
          </a:solidFill>
          <a:ln/>
        </p:spPr>
      </p:sp>
      <p:sp>
        <p:nvSpPr>
          <p:cNvPr id="25" name="Text 22"/>
          <p:cNvSpPr/>
          <p:nvPr/>
        </p:nvSpPr>
        <p:spPr>
          <a:xfrm>
            <a:off x="5806440" y="4809744"/>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&gt;</a:t>
            </a:r>
            <a:endParaRPr lang="en-US" sz="1500" dirty="0"/>
          </a:p>
        </p:txBody>
      </p:sp>
      <p:sp>
        <p:nvSpPr>
          <p:cNvPr id="26" name="Text 23"/>
          <p:cNvSpPr/>
          <p:nvPr/>
        </p:nvSpPr>
        <p:spPr>
          <a:xfrm>
            <a:off x="6446520" y="4672584"/>
            <a:ext cx="4754880" cy="676656"/>
          </a:xfrm>
          <a:prstGeom prst="rect">
            <a:avLst/>
          </a:prstGeom>
          <a:noFill/>
          <a:ln/>
        </p:spPr>
        <p:txBody>
          <a:bodyPr wrap="square" lIns="0" tIns="0" rIns="0" bIns="0" rtlCol="0" anchor="ctr"/>
          <a:lstStyle/>
          <a:p>
            <a:pPr indent="0" marL="0">
              <a:buNone/>
            </a:pPr>
            <a:r>
              <a:rPr lang="en-US" sz="1350" dirty="0">
                <a:solidFill>
                  <a:srgbClr val="6B7185"/>
                </a:solidFill>
                <a:latin typeface="Malgun Gothic" pitchFamily="34" charset="0"/>
                <a:ea typeface="Malgun Gothic" pitchFamily="34" charset="-122"/>
                <a:cs typeface="Malgun Gothic" pitchFamily="34" charset="-120"/>
              </a:rPr>
              <a:t>계획을 따르기</a:t>
            </a:r>
            <a:endParaRPr lang="en-US" sz="1350" dirty="0"/>
          </a:p>
        </p:txBody>
      </p:sp>
      <p:sp>
        <p:nvSpPr>
          <p:cNvPr id="27" name="Text 24"/>
          <p:cNvSpPr/>
          <p:nvPr/>
        </p:nvSpPr>
        <p:spPr>
          <a:xfrm>
            <a:off x="658368" y="5669280"/>
            <a:ext cx="10872216" cy="914400"/>
          </a:xfrm>
          <a:prstGeom prst="rect">
            <a:avLst/>
          </a:prstGeom>
          <a:noFill/>
          <a:ln/>
        </p:spPr>
        <p:txBody>
          <a:bodyPr wrap="square" lIns="0" tIns="0" rIns="0" bIns="0" rtlCol="0" anchor="t"/>
          <a:lstStyle/>
          <a:p>
            <a:pPr algn="l" indent="0" marL="0">
              <a:lnSpc>
                <a:spcPts val="1824"/>
              </a:lnSpc>
              <a:buNone/>
            </a:pPr>
            <a:r>
              <a:rPr lang="en-US" sz="1200" i="1" dirty="0">
                <a:solidFill>
                  <a:srgbClr val="6B7185"/>
                </a:solidFill>
                <a:latin typeface="Malgun Gothic" pitchFamily="34" charset="0"/>
                <a:ea typeface="Malgun Gothic" pitchFamily="34" charset="-122"/>
                <a:cs typeface="Malgun Gothic" pitchFamily="34" charset="-120"/>
              </a:rPr>
              <a:t>오른쪽에도 가치가 있다 — 다만 왼쪽을 '더' 높게 친다는 선언입니다. 문서를 버리자는 뜻이 아닙니다.</a:t>
            </a:r>
            <a:endParaRPr lang="en-US" sz="1200" dirty="0"/>
          </a:p>
        </p:txBody>
      </p:sp>
      <p:sp>
        <p:nvSpPr>
          <p:cNvPr id="28" name="Text 25"/>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08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766060" cy="384048"/>
          </a:xfrm>
          <a:prstGeom prst="roundRect">
            <a:avLst>
              <a:gd name="adj" fmla="val 50000"/>
            </a:avLst>
          </a:prstGeom>
          <a:solidFill>
            <a:srgbClr val="EDECFB"/>
          </a:solidFill>
          <a:ln/>
        </p:spPr>
      </p:sp>
      <p:pic>
        <p:nvPicPr>
          <p:cNvPr id="3" name="Image 0" descr="/home/claude/icons/route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382012"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1부 · 개발 프로세스 모델</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세 모델 한눈에 비교</a:t>
            </a:r>
            <a:endParaRPr lang="en-US" sz="2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58368" y="1783080"/>
          <a:ext cx="10872216" cy="914400"/>
        </p:xfrm>
        <a:graphic>
          <a:graphicData uri="http://schemas.openxmlformats.org/drawingml/2006/table">
            <a:tbl>
              <a:tblPr/>
              <a:tblGrid>
                <a:gridCol w="1691640"/>
                <a:gridCol w="2926080"/>
                <a:gridCol w="2926080"/>
                <a:gridCol w="3328416"/>
              </a:tblGrid>
              <a:tr h="475488">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구분</a:t>
                      </a:r>
                      <a:endParaRPr lang="en-US" sz="12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7C3AED"/>
                    </a:solidFill>
                  </a:tcPr>
                </a:tc>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폭포수</a:t>
                      </a:r>
                      <a:endParaRPr lang="en-US" sz="12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7C3AED"/>
                    </a:solidFill>
                  </a:tcPr>
                </a:tc>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반복적</a:t>
                      </a:r>
                      <a:endParaRPr lang="en-US" sz="12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7C3AED"/>
                    </a:solidFill>
                  </a:tcPr>
                </a:tc>
                <a:tc>
                  <a:txBody>
                    <a:bodyP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애자일</a:t>
                      </a:r>
                      <a:endParaRPr lang="en-US" sz="12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7C3AED"/>
                    </a:solidFill>
                  </a:tcPr>
                </a:tc>
              </a:tr>
              <a:tr h="621792">
                <a:tc>
                  <a:txBody>
                    <a:bodyPr/>
                    <a:lstStyle/>
                    <a:p>
                      <a:pPr algn="l" indent="0" marL="0">
                        <a:buNone/>
                      </a:pPr>
                      <a:r>
                        <a:rPr lang="en-US" sz="1150" b="1" dirty="0">
                          <a:solidFill>
                            <a:srgbClr val="1E1B3A"/>
                          </a:solidFill>
                          <a:latin typeface="Malgun Gothic" pitchFamily="34" charset="0"/>
                          <a:ea typeface="Malgun Gothic" pitchFamily="34" charset="-122"/>
                          <a:cs typeface="Malgun Gothic" pitchFamily="34" charset="-120"/>
                        </a:rPr>
                        <a:t>피드백 시점</a:t>
                      </a:r>
                      <a:endParaRPr lang="en-US" sz="11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3C3B57"/>
                          </a:solidFill>
                          <a:latin typeface="Malgun Gothic" pitchFamily="34" charset="0"/>
                          <a:ea typeface="Malgun Gothic" pitchFamily="34" charset="-122"/>
                          <a:cs typeface="Malgun Gothic" pitchFamily="34" charset="-120"/>
                        </a:rPr>
                        <a:t>맨 끝 — 전체 완성 후</a:t>
                      </a:r>
                      <a:endParaRPr lang="en-US" sz="11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3C3B57"/>
                          </a:solidFill>
                          <a:latin typeface="Malgun Gothic" pitchFamily="34" charset="0"/>
                          <a:ea typeface="Malgun Gothic" pitchFamily="34" charset="-122"/>
                          <a:cs typeface="Malgun Gothic" pitchFamily="34" charset="-120"/>
                        </a:rPr>
                        <a:t>매 회차 끝</a:t>
                      </a:r>
                      <a:endParaRPr lang="en-US" sz="11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3C3B57"/>
                          </a:solidFill>
                          <a:latin typeface="Malgun Gothic" pitchFamily="34" charset="0"/>
                          <a:ea typeface="Malgun Gothic" pitchFamily="34" charset="-122"/>
                          <a:cs typeface="Malgun Gothic" pitchFamily="34" charset="-120"/>
                        </a:rPr>
                        <a:t>매일 · 매 스프린트</a:t>
                      </a:r>
                      <a:endParaRPr lang="en-US" sz="11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r>
              <a:tr h="621792">
                <a:tc>
                  <a:txBody>
                    <a:bodyPr/>
                    <a:lstStyle/>
                    <a:p>
                      <a:pPr algn="l" indent="0" marL="0">
                        <a:buNone/>
                      </a:pPr>
                      <a:r>
                        <a:rPr lang="en-US" sz="1150" b="1" dirty="0">
                          <a:solidFill>
                            <a:srgbClr val="1E1B3A"/>
                          </a:solidFill>
                          <a:latin typeface="Malgun Gothic" pitchFamily="34" charset="0"/>
                          <a:ea typeface="Malgun Gothic" pitchFamily="34" charset="-122"/>
                          <a:cs typeface="Malgun Gothic" pitchFamily="34" charset="-120"/>
                        </a:rPr>
                        <a:t>변경 대응</a:t>
                      </a:r>
                      <a:endParaRPr lang="en-US" sz="11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5F4FC"/>
                    </a:solidFill>
                  </a:tcPr>
                </a:tc>
                <a:tc>
                  <a:txBody>
                    <a:bodyPr/>
                    <a:lstStyle/>
                    <a:p>
                      <a:pPr algn="l" indent="0" marL="0">
                        <a:buNone/>
                      </a:pPr>
                      <a:r>
                        <a:rPr lang="en-US" sz="1150" dirty="0">
                          <a:solidFill>
                            <a:srgbClr val="3C3B57"/>
                          </a:solidFill>
                          <a:latin typeface="Malgun Gothic" pitchFamily="34" charset="0"/>
                          <a:ea typeface="Malgun Gothic" pitchFamily="34" charset="-122"/>
                          <a:cs typeface="Malgun Gothic" pitchFamily="34" charset="-120"/>
                        </a:rPr>
                        <a:t>비용이 매우 크다</a:t>
                      </a:r>
                      <a:endParaRPr lang="en-US" sz="11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5F4FC"/>
                    </a:solidFill>
                  </a:tcPr>
                </a:tc>
                <a:tc>
                  <a:txBody>
                    <a:bodyPr/>
                    <a:lstStyle/>
                    <a:p>
                      <a:pPr algn="l" indent="0" marL="0">
                        <a:buNone/>
                      </a:pPr>
                      <a:r>
                        <a:rPr lang="en-US" sz="1150" dirty="0">
                          <a:solidFill>
                            <a:srgbClr val="3C3B57"/>
                          </a:solidFill>
                          <a:latin typeface="Malgun Gothic" pitchFamily="34" charset="0"/>
                          <a:ea typeface="Malgun Gothic" pitchFamily="34" charset="-122"/>
                          <a:cs typeface="Malgun Gothic" pitchFamily="34" charset="-120"/>
                        </a:rPr>
                        <a:t>다음 회차에 반영</a:t>
                      </a:r>
                      <a:endParaRPr lang="en-US" sz="11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5F4FC"/>
                    </a:solidFill>
                  </a:tcPr>
                </a:tc>
                <a:tc>
                  <a:txBody>
                    <a:bodyPr/>
                    <a:lstStyle/>
                    <a:p>
                      <a:pPr algn="l" indent="0" marL="0">
                        <a:buNone/>
                      </a:pPr>
                      <a:r>
                        <a:rPr lang="en-US" sz="1150" dirty="0">
                          <a:solidFill>
                            <a:srgbClr val="3C3B57"/>
                          </a:solidFill>
                          <a:latin typeface="Malgun Gothic" pitchFamily="34" charset="0"/>
                          <a:ea typeface="Malgun Gothic" pitchFamily="34" charset="-122"/>
                          <a:cs typeface="Malgun Gothic" pitchFamily="34" charset="-120"/>
                        </a:rPr>
                        <a:t>환영 — 백로그로 수용</a:t>
                      </a:r>
                      <a:endParaRPr lang="en-US" sz="11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5F4FC"/>
                    </a:solidFill>
                  </a:tcPr>
                </a:tc>
              </a:tr>
              <a:tr h="621792">
                <a:tc>
                  <a:txBody>
                    <a:bodyPr/>
                    <a:lstStyle/>
                    <a:p>
                      <a:pPr algn="l" indent="0" marL="0">
                        <a:buNone/>
                      </a:pPr>
                      <a:r>
                        <a:rPr lang="en-US" sz="1150" b="1" dirty="0">
                          <a:solidFill>
                            <a:srgbClr val="1E1B3A"/>
                          </a:solidFill>
                          <a:latin typeface="Malgun Gothic" pitchFamily="34" charset="0"/>
                          <a:ea typeface="Malgun Gothic" pitchFamily="34" charset="-122"/>
                          <a:cs typeface="Malgun Gothic" pitchFamily="34" charset="-120"/>
                        </a:rPr>
                        <a:t>산출 문서</a:t>
                      </a:r>
                      <a:endParaRPr lang="en-US" sz="11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3C3B57"/>
                          </a:solidFill>
                          <a:latin typeface="Malgun Gothic" pitchFamily="34" charset="0"/>
                          <a:ea typeface="Malgun Gothic" pitchFamily="34" charset="-122"/>
                          <a:cs typeface="Malgun Gothic" pitchFamily="34" charset="-120"/>
                        </a:rPr>
                        <a:t>단계마다 상세 문서</a:t>
                      </a:r>
                      <a:endParaRPr lang="en-US" sz="11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3C3B57"/>
                          </a:solidFill>
                          <a:latin typeface="Malgun Gothic" pitchFamily="34" charset="0"/>
                          <a:ea typeface="Malgun Gothic" pitchFamily="34" charset="-122"/>
                          <a:cs typeface="Malgun Gothic" pitchFamily="34" charset="-120"/>
                        </a:rPr>
                        <a:t>회차별 핵심 문서</a:t>
                      </a:r>
                      <a:endParaRPr lang="en-US" sz="11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3C3B57"/>
                          </a:solidFill>
                          <a:latin typeface="Malgun Gothic" pitchFamily="34" charset="0"/>
                          <a:ea typeface="Malgun Gothic" pitchFamily="34" charset="-122"/>
                          <a:cs typeface="Malgun Gothic" pitchFamily="34" charset="-120"/>
                        </a:rPr>
                        <a:t>필요한 만큼만</a:t>
                      </a:r>
                      <a:endParaRPr lang="en-US" sz="11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r>
              <a:tr h="786384">
                <a:tc>
                  <a:txBody>
                    <a:bodyPr/>
                    <a:lstStyle/>
                    <a:p>
                      <a:pPr algn="l" indent="0" marL="0">
                        <a:buNone/>
                      </a:pPr>
                      <a:r>
                        <a:rPr lang="en-US" sz="1150" b="1" dirty="0">
                          <a:solidFill>
                            <a:srgbClr val="1E1B3A"/>
                          </a:solidFill>
                          <a:latin typeface="Malgun Gothic" pitchFamily="34" charset="0"/>
                          <a:ea typeface="Malgun Gothic" pitchFamily="34" charset="-122"/>
                          <a:cs typeface="Malgun Gothic" pitchFamily="34" charset="-120"/>
                        </a:rPr>
                        <a:t>잘 맞는 상황</a:t>
                      </a:r>
                      <a:endParaRPr lang="en-US" sz="11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5F4FC"/>
                    </a:solidFill>
                  </a:tcPr>
                </a:tc>
                <a:tc>
                  <a:txBody>
                    <a:bodyPr/>
                    <a:lstStyle/>
                    <a:p>
                      <a:pPr algn="l" indent="0" marL="0">
                        <a:buNone/>
                      </a:pPr>
                      <a:r>
                        <a:rPr lang="en-US" sz="1150" dirty="0">
                          <a:solidFill>
                            <a:srgbClr val="3C3B57"/>
                          </a:solidFill>
                          <a:latin typeface="Malgun Gothic" pitchFamily="34" charset="0"/>
                          <a:ea typeface="Malgun Gothic" pitchFamily="34" charset="-122"/>
                          <a:cs typeface="Malgun Gothic" pitchFamily="34" charset="-120"/>
                        </a:rPr>
                        <a:t>요구 확정 · 규제 · 안전 필수</a:t>
                      </a:r>
                      <a:endParaRPr lang="en-US" sz="11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5F4FC"/>
                    </a:solidFill>
                  </a:tcPr>
                </a:tc>
                <a:tc>
                  <a:txBody>
                    <a:bodyPr/>
                    <a:lstStyle/>
                    <a:p>
                      <a:pPr algn="l" indent="0" marL="0">
                        <a:buNone/>
                      </a:pPr>
                      <a:r>
                        <a:rPr lang="en-US" sz="1150" dirty="0">
                          <a:solidFill>
                            <a:srgbClr val="3C3B57"/>
                          </a:solidFill>
                          <a:latin typeface="Malgun Gothic" pitchFamily="34" charset="0"/>
                          <a:ea typeface="Malgun Gothic" pitchFamily="34" charset="-122"/>
                          <a:cs typeface="Malgun Gothic" pitchFamily="34" charset="-120"/>
                        </a:rPr>
                        <a:t>규모가 크고 요구가 일부 유동적</a:t>
                      </a:r>
                      <a:endParaRPr lang="en-US" sz="11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5F4FC"/>
                    </a:solidFill>
                  </a:tcPr>
                </a:tc>
                <a:tc>
                  <a:txBody>
                    <a:bodyPr/>
                    <a:lstStyle/>
                    <a:p>
                      <a:pPr algn="l" indent="0" marL="0">
                        <a:buNone/>
                      </a:pPr>
                      <a:r>
                        <a:rPr lang="en-US" sz="1150" dirty="0">
                          <a:solidFill>
                            <a:srgbClr val="3C3B57"/>
                          </a:solidFill>
                          <a:latin typeface="Malgun Gothic" pitchFamily="34" charset="0"/>
                          <a:ea typeface="Malgun Gothic" pitchFamily="34" charset="-122"/>
                          <a:cs typeface="Malgun Gothic" pitchFamily="34" charset="-120"/>
                        </a:rPr>
                        <a:t>요구가 불확실 · 빠른 출시와 학습</a:t>
                      </a:r>
                      <a:endParaRPr lang="en-US" sz="115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5F4FC"/>
                    </a:solidFill>
                  </a:tcPr>
                </a:tc>
              </a:tr>
            </a:tbl>
          </a:graphicData>
        </a:graphic>
      </p:graphicFrame>
      <p:sp>
        <p:nvSpPr>
          <p:cNvPr id="7" name="Text 3"/>
          <p:cNvSpPr/>
          <p:nvPr/>
        </p:nvSpPr>
        <p:spPr>
          <a:xfrm>
            <a:off x="658368" y="5349240"/>
            <a:ext cx="10872216" cy="914400"/>
          </a:xfrm>
          <a:prstGeom prst="rect">
            <a:avLst/>
          </a:prstGeom>
          <a:noFill/>
          <a:ln/>
        </p:spPr>
        <p:txBody>
          <a:bodyPr wrap="square" lIns="0" tIns="0" rIns="0" bIns="0" rtlCol="0" anchor="t"/>
          <a:lstStyle/>
          <a:p>
            <a:pPr algn="l" indent="0" marL="0">
              <a:lnSpc>
                <a:spcPts val="1900"/>
              </a:lnSpc>
              <a:buNone/>
            </a:pPr>
            <a:r>
              <a:rPr lang="en-US" sz="1250" i="1" dirty="0">
                <a:solidFill>
                  <a:srgbClr val="6B7185"/>
                </a:solidFill>
                <a:latin typeface="Malgun Gothic" pitchFamily="34" charset="0"/>
                <a:ea typeface="Malgun Gothic" pitchFamily="34" charset="-122"/>
                <a:cs typeface="Malgun Gothic" pitchFamily="34" charset="-120"/>
              </a:rPr>
              <a:t>정답 모델은 없습니다 — 상황이 모델을 고릅니다. 다음 장에서 상황별로 골라 봅시다.</a:t>
            </a:r>
            <a:endParaRPr lang="en-US" sz="1250" dirty="0"/>
          </a:p>
        </p:txBody>
      </p:sp>
      <p:sp>
        <p:nvSpPr>
          <p:cNvPr id="8" name="Text 4"/>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09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766060" cy="384048"/>
          </a:xfrm>
          <a:prstGeom prst="roundRect">
            <a:avLst>
              <a:gd name="adj" fmla="val 50000"/>
            </a:avLst>
          </a:prstGeom>
          <a:solidFill>
            <a:srgbClr val="EDECFB"/>
          </a:solidFill>
          <a:ln/>
        </p:spPr>
      </p:sp>
      <p:pic>
        <p:nvPicPr>
          <p:cNvPr id="3" name="Image 0" descr="/home/claude/icons/route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382012"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1부 · 개발 프로세스 모델</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상황이 모델을 고른다 — 세 가지 사례</a:t>
            </a:r>
            <a:endParaRPr lang="en-US" sz="2600" dirty="0"/>
          </a:p>
        </p:txBody>
      </p:sp>
      <p:sp>
        <p:nvSpPr>
          <p:cNvPr id="6" name="Shape 3"/>
          <p:cNvSpPr/>
          <p:nvPr/>
        </p:nvSpPr>
        <p:spPr>
          <a:xfrm>
            <a:off x="658368" y="1783080"/>
            <a:ext cx="10872216" cy="1188720"/>
          </a:xfrm>
          <a:prstGeom prst="roundRect">
            <a:avLst>
              <a:gd name="adj" fmla="val 7692"/>
            </a:avLst>
          </a:prstGeom>
          <a:solidFill>
            <a:srgbClr val="FFFFFF"/>
          </a:solidFill>
          <a:ln/>
          <a:effectLst>
            <a:outerShdw sx="100000" sy="100000" kx="0" ky="0" algn="bl" rotWithShape="0" blurRad="152400" dist="25400" dir="5400000">
              <a:srgbClr val="1F1D48">
                <a:alpha val="16000"/>
              </a:srgbClr>
            </a:outerShdw>
          </a:effectLst>
        </p:spPr>
      </p:sp>
      <p:sp>
        <p:nvSpPr>
          <p:cNvPr id="7" name="Shape 4"/>
          <p:cNvSpPr/>
          <p:nvPr/>
        </p:nvSpPr>
        <p:spPr>
          <a:xfrm>
            <a:off x="896112" y="2130552"/>
            <a:ext cx="493776" cy="493776"/>
          </a:xfrm>
          <a:prstGeom prst="ellipse">
            <a:avLst/>
          </a:prstGeom>
          <a:solidFill>
            <a:srgbClr val="FB7185"/>
          </a:solidFill>
          <a:ln/>
        </p:spPr>
      </p:sp>
      <p:pic>
        <p:nvPicPr>
          <p:cNvPr id="8" name="Image 1" descr="/home/claude/icons/shield_white.png">    </p:cNvPr>
          <p:cNvPicPr>
            <a:picLocks noChangeAspect="1"/>
          </p:cNvPicPr>
          <p:nvPr/>
        </p:nvPicPr>
        <p:blipFill>
          <a:blip r:embed="rId2"/>
          <a:stretch>
            <a:fillRect/>
          </a:stretch>
        </p:blipFill>
        <p:spPr>
          <a:xfrm>
            <a:off x="1019556" y="2253996"/>
            <a:ext cx="246888" cy="246888"/>
          </a:xfrm>
          <a:prstGeom prst="rect">
            <a:avLst/>
          </a:prstGeom>
        </p:spPr>
      </p:pic>
      <p:sp>
        <p:nvSpPr>
          <p:cNvPr id="9" name="Text 5"/>
          <p:cNvSpPr/>
          <p:nvPr/>
        </p:nvSpPr>
        <p:spPr>
          <a:xfrm>
            <a:off x="1609344" y="1929384"/>
            <a:ext cx="4206240" cy="36576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병원 의료기기 제어 SW</a:t>
            </a:r>
            <a:endParaRPr lang="en-US" sz="1350" dirty="0"/>
          </a:p>
        </p:txBody>
      </p:sp>
      <p:sp>
        <p:nvSpPr>
          <p:cNvPr id="10" name="Shape 6"/>
          <p:cNvSpPr/>
          <p:nvPr/>
        </p:nvSpPr>
        <p:spPr>
          <a:xfrm>
            <a:off x="1609344" y="2350008"/>
            <a:ext cx="1828800" cy="384048"/>
          </a:xfrm>
          <a:prstGeom prst="roundRect">
            <a:avLst>
              <a:gd name="adj" fmla="val 50000"/>
            </a:avLst>
          </a:prstGeom>
          <a:solidFill>
            <a:srgbClr val="EDECFB"/>
          </a:solidFill>
          <a:ln/>
        </p:spPr>
      </p:sp>
      <p:sp>
        <p:nvSpPr>
          <p:cNvPr id="11" name="Text 7"/>
          <p:cNvSpPr/>
          <p:nvPr/>
        </p:nvSpPr>
        <p:spPr>
          <a:xfrm>
            <a:off x="1609344" y="2350008"/>
            <a:ext cx="1828800" cy="384048"/>
          </a:xfrm>
          <a:prstGeom prst="rect">
            <a:avLst/>
          </a:prstGeom>
          <a:noFill/>
          <a:ln/>
        </p:spPr>
        <p:txBody>
          <a:bodyPr wrap="square" lIns="0" tIns="0" rIns="0" bIns="0" rtlCol="0" anchor="ctr"/>
          <a:lstStyle/>
          <a:p>
            <a:pPr algn="ctr" indent="0" marL="0">
              <a:buNone/>
            </a:pPr>
            <a:r>
              <a:rPr lang="en-US" sz="1150" b="1" dirty="0">
                <a:solidFill>
                  <a:srgbClr val="4338CA"/>
                </a:solidFill>
                <a:latin typeface="Malgun Gothic" pitchFamily="34" charset="0"/>
                <a:ea typeface="Malgun Gothic" pitchFamily="34" charset="-122"/>
                <a:cs typeface="Malgun Gothic" pitchFamily="34" charset="-120"/>
              </a:rPr>
              <a:t>폭포수 계열</a:t>
            </a:r>
            <a:endParaRPr lang="en-US" sz="1150" dirty="0"/>
          </a:p>
        </p:txBody>
      </p:sp>
      <p:sp>
        <p:nvSpPr>
          <p:cNvPr id="12" name="Text 8"/>
          <p:cNvSpPr/>
          <p:nvPr/>
        </p:nvSpPr>
        <p:spPr>
          <a:xfrm>
            <a:off x="6053328" y="1911096"/>
            <a:ext cx="5202936" cy="960120"/>
          </a:xfrm>
          <a:prstGeom prst="rect">
            <a:avLst/>
          </a:prstGeom>
          <a:noFill/>
          <a:ln/>
        </p:spPr>
        <p:txBody>
          <a:bodyPr wrap="square" lIns="0" tIns="0" rIns="0" bIns="0" rtlCol="0" anchor="ctr"/>
          <a:lstStyle/>
          <a:p>
            <a:pPr indent="0" marL="0">
              <a:lnSpc>
                <a:spcPts val="1650"/>
              </a:lnSpc>
              <a:buNone/>
            </a:pPr>
            <a:r>
              <a:rPr lang="en-US" sz="1150" dirty="0">
                <a:solidFill>
                  <a:srgbClr val="3C3B57"/>
                </a:solidFill>
                <a:latin typeface="Malgun Gothic" pitchFamily="34" charset="0"/>
                <a:ea typeface="Malgun Gothic" pitchFamily="34" charset="-122"/>
                <a:cs typeface="Malgun Gothic" pitchFamily="34" charset="-120"/>
              </a:rPr>
              <a:t>요구가 규격으로 확정되고, 인허가 문서와 단계별 검증이 필수 — 변경보다 확실성이 우선입니다.</a:t>
            </a:r>
            <a:endParaRPr lang="en-US" sz="1150" dirty="0"/>
          </a:p>
        </p:txBody>
      </p:sp>
      <p:sp>
        <p:nvSpPr>
          <p:cNvPr id="13" name="Shape 9"/>
          <p:cNvSpPr/>
          <p:nvPr/>
        </p:nvSpPr>
        <p:spPr>
          <a:xfrm>
            <a:off x="658368" y="3154680"/>
            <a:ext cx="10872216" cy="1188720"/>
          </a:xfrm>
          <a:prstGeom prst="roundRect">
            <a:avLst>
              <a:gd name="adj" fmla="val 7692"/>
            </a:avLst>
          </a:prstGeom>
          <a:solidFill>
            <a:srgbClr val="FFFFFF"/>
          </a:solidFill>
          <a:ln/>
          <a:effectLst>
            <a:outerShdw sx="100000" sy="100000" kx="0" ky="0" algn="bl" rotWithShape="0" blurRad="152400" dist="25400" dir="5400000">
              <a:srgbClr val="1F1D48">
                <a:alpha val="16000"/>
              </a:srgbClr>
            </a:outerShdw>
          </a:effectLst>
        </p:spPr>
      </p:sp>
      <p:sp>
        <p:nvSpPr>
          <p:cNvPr id="14" name="Shape 10"/>
          <p:cNvSpPr/>
          <p:nvPr/>
        </p:nvSpPr>
        <p:spPr>
          <a:xfrm>
            <a:off x="896112" y="3502152"/>
            <a:ext cx="493776" cy="493776"/>
          </a:xfrm>
          <a:prstGeom prst="ellipse">
            <a:avLst/>
          </a:prstGeom>
          <a:solidFill>
            <a:srgbClr val="38BDF8"/>
          </a:solidFill>
          <a:ln/>
        </p:spPr>
      </p:sp>
      <p:pic>
        <p:nvPicPr>
          <p:cNvPr id="15" name="Image 2" descr="/home/claude/icons/rocket_white.png">    </p:cNvPr>
          <p:cNvPicPr>
            <a:picLocks noChangeAspect="1"/>
          </p:cNvPicPr>
          <p:nvPr/>
        </p:nvPicPr>
        <p:blipFill>
          <a:blip r:embed="rId3"/>
          <a:stretch>
            <a:fillRect/>
          </a:stretch>
        </p:blipFill>
        <p:spPr>
          <a:xfrm>
            <a:off x="1019556" y="3625596"/>
            <a:ext cx="246888" cy="246888"/>
          </a:xfrm>
          <a:prstGeom prst="rect">
            <a:avLst/>
          </a:prstGeom>
        </p:spPr>
      </p:pic>
      <p:sp>
        <p:nvSpPr>
          <p:cNvPr id="16" name="Text 11"/>
          <p:cNvSpPr/>
          <p:nvPr/>
        </p:nvSpPr>
        <p:spPr>
          <a:xfrm>
            <a:off x="1609344" y="3300984"/>
            <a:ext cx="4206240" cy="36576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스타트업의 신규 서비스</a:t>
            </a:r>
            <a:endParaRPr lang="en-US" sz="1350" dirty="0"/>
          </a:p>
        </p:txBody>
      </p:sp>
      <p:sp>
        <p:nvSpPr>
          <p:cNvPr id="17" name="Shape 12"/>
          <p:cNvSpPr/>
          <p:nvPr/>
        </p:nvSpPr>
        <p:spPr>
          <a:xfrm>
            <a:off x="1609344" y="3721608"/>
            <a:ext cx="1828800" cy="384048"/>
          </a:xfrm>
          <a:prstGeom prst="roundRect">
            <a:avLst>
              <a:gd name="adj" fmla="val 50000"/>
            </a:avLst>
          </a:prstGeom>
          <a:solidFill>
            <a:srgbClr val="EDECFB"/>
          </a:solidFill>
          <a:ln/>
        </p:spPr>
      </p:sp>
      <p:sp>
        <p:nvSpPr>
          <p:cNvPr id="18" name="Text 13"/>
          <p:cNvSpPr/>
          <p:nvPr/>
        </p:nvSpPr>
        <p:spPr>
          <a:xfrm>
            <a:off x="1609344" y="3721608"/>
            <a:ext cx="1828800" cy="384048"/>
          </a:xfrm>
          <a:prstGeom prst="rect">
            <a:avLst/>
          </a:prstGeom>
          <a:noFill/>
          <a:ln/>
        </p:spPr>
        <p:txBody>
          <a:bodyPr wrap="square" lIns="0" tIns="0" rIns="0" bIns="0" rtlCol="0" anchor="ctr"/>
          <a:lstStyle/>
          <a:p>
            <a:pPr algn="ctr" indent="0" marL="0">
              <a:buNone/>
            </a:pPr>
            <a:r>
              <a:rPr lang="en-US" sz="1150" b="1" dirty="0">
                <a:solidFill>
                  <a:srgbClr val="4338CA"/>
                </a:solidFill>
                <a:latin typeface="Malgun Gothic" pitchFamily="34" charset="0"/>
                <a:ea typeface="Malgun Gothic" pitchFamily="34" charset="-122"/>
                <a:cs typeface="Malgun Gothic" pitchFamily="34" charset="-120"/>
              </a:rPr>
              <a:t>애자일</a:t>
            </a:r>
            <a:endParaRPr lang="en-US" sz="1150" dirty="0"/>
          </a:p>
        </p:txBody>
      </p:sp>
      <p:sp>
        <p:nvSpPr>
          <p:cNvPr id="19" name="Text 14"/>
          <p:cNvSpPr/>
          <p:nvPr/>
        </p:nvSpPr>
        <p:spPr>
          <a:xfrm>
            <a:off x="6053328" y="3282696"/>
            <a:ext cx="5202936" cy="960120"/>
          </a:xfrm>
          <a:prstGeom prst="rect">
            <a:avLst/>
          </a:prstGeom>
          <a:noFill/>
          <a:ln/>
        </p:spPr>
        <p:txBody>
          <a:bodyPr wrap="square" lIns="0" tIns="0" rIns="0" bIns="0" rtlCol="0" anchor="ctr"/>
          <a:lstStyle/>
          <a:p>
            <a:pPr indent="0" marL="0">
              <a:lnSpc>
                <a:spcPts val="1650"/>
              </a:lnSpc>
              <a:buNone/>
            </a:pPr>
            <a:r>
              <a:rPr lang="en-US" sz="1150" dirty="0">
                <a:solidFill>
                  <a:srgbClr val="3C3B57"/>
                </a:solidFill>
                <a:latin typeface="Malgun Gothic" pitchFamily="34" charset="0"/>
                <a:ea typeface="Malgun Gothic" pitchFamily="34" charset="-122"/>
                <a:cs typeface="Malgun Gothic" pitchFamily="34" charset="-120"/>
              </a:rPr>
              <a:t>무엇이 먹힐지 아무도 모릅니다 — 작게 내놓고 사용자 반응으로 배우는 속도가 생명입니다.</a:t>
            </a:r>
            <a:endParaRPr lang="en-US" sz="1150" dirty="0"/>
          </a:p>
        </p:txBody>
      </p:sp>
      <p:sp>
        <p:nvSpPr>
          <p:cNvPr id="20" name="Shape 15"/>
          <p:cNvSpPr/>
          <p:nvPr/>
        </p:nvSpPr>
        <p:spPr>
          <a:xfrm>
            <a:off x="658368" y="4526280"/>
            <a:ext cx="10872216" cy="1188720"/>
          </a:xfrm>
          <a:prstGeom prst="roundRect">
            <a:avLst>
              <a:gd name="adj" fmla="val 7692"/>
            </a:avLst>
          </a:prstGeom>
          <a:solidFill>
            <a:srgbClr val="FFFFFF"/>
          </a:solidFill>
          <a:ln/>
          <a:effectLst>
            <a:outerShdw sx="100000" sy="100000" kx="0" ky="0" algn="bl" rotWithShape="0" blurRad="152400" dist="25400" dir="5400000">
              <a:srgbClr val="1F1D48">
                <a:alpha val="16000"/>
              </a:srgbClr>
            </a:outerShdw>
          </a:effectLst>
        </p:spPr>
      </p:sp>
      <p:sp>
        <p:nvSpPr>
          <p:cNvPr id="21" name="Shape 16"/>
          <p:cNvSpPr/>
          <p:nvPr/>
        </p:nvSpPr>
        <p:spPr>
          <a:xfrm>
            <a:off x="896112" y="4873752"/>
            <a:ext cx="493776" cy="493776"/>
          </a:xfrm>
          <a:prstGeom prst="ellipse">
            <a:avLst/>
          </a:prstGeom>
          <a:solidFill>
            <a:srgbClr val="10B981"/>
          </a:solidFill>
          <a:ln/>
        </p:spPr>
      </p:sp>
      <p:pic>
        <p:nvPicPr>
          <p:cNvPr id="22" name="Image 3" descr="/home/claude/icons/users_white.png">    </p:cNvPr>
          <p:cNvPicPr>
            <a:picLocks noChangeAspect="1"/>
          </p:cNvPicPr>
          <p:nvPr/>
        </p:nvPicPr>
        <p:blipFill>
          <a:blip r:embed="rId4"/>
          <a:stretch>
            <a:fillRect/>
          </a:stretch>
        </p:blipFill>
        <p:spPr>
          <a:xfrm>
            <a:off x="1019556" y="4997196"/>
            <a:ext cx="246888" cy="246888"/>
          </a:xfrm>
          <a:prstGeom prst="rect">
            <a:avLst/>
          </a:prstGeom>
        </p:spPr>
      </p:pic>
      <p:sp>
        <p:nvSpPr>
          <p:cNvPr id="23" name="Text 17"/>
          <p:cNvSpPr/>
          <p:nvPr/>
        </p:nvSpPr>
        <p:spPr>
          <a:xfrm>
            <a:off x="1609344" y="4672584"/>
            <a:ext cx="4206240" cy="36576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우리 팀 프로젝트</a:t>
            </a:r>
            <a:endParaRPr lang="en-US" sz="1350" dirty="0"/>
          </a:p>
        </p:txBody>
      </p:sp>
      <p:sp>
        <p:nvSpPr>
          <p:cNvPr id="24" name="Shape 18"/>
          <p:cNvSpPr/>
          <p:nvPr/>
        </p:nvSpPr>
        <p:spPr>
          <a:xfrm>
            <a:off x="1609344" y="5093208"/>
            <a:ext cx="1828800" cy="384048"/>
          </a:xfrm>
          <a:prstGeom prst="roundRect">
            <a:avLst>
              <a:gd name="adj" fmla="val 50000"/>
            </a:avLst>
          </a:prstGeom>
          <a:solidFill>
            <a:srgbClr val="EDECFB"/>
          </a:solidFill>
          <a:ln/>
        </p:spPr>
      </p:sp>
      <p:sp>
        <p:nvSpPr>
          <p:cNvPr id="25" name="Text 19"/>
          <p:cNvSpPr/>
          <p:nvPr/>
        </p:nvSpPr>
        <p:spPr>
          <a:xfrm>
            <a:off x="1609344" y="5093208"/>
            <a:ext cx="1828800" cy="384048"/>
          </a:xfrm>
          <a:prstGeom prst="rect">
            <a:avLst/>
          </a:prstGeom>
          <a:noFill/>
          <a:ln/>
        </p:spPr>
        <p:txBody>
          <a:bodyPr wrap="square" lIns="0" tIns="0" rIns="0" bIns="0" rtlCol="0" anchor="ctr"/>
          <a:lstStyle/>
          <a:p>
            <a:pPr algn="ctr" indent="0" marL="0">
              <a:buNone/>
            </a:pPr>
            <a:r>
              <a:rPr lang="en-US" sz="1150" b="1" dirty="0">
                <a:solidFill>
                  <a:srgbClr val="4338CA"/>
                </a:solidFill>
                <a:latin typeface="Malgun Gothic" pitchFamily="34" charset="0"/>
                <a:ea typeface="Malgun Gothic" pitchFamily="34" charset="-122"/>
                <a:cs typeface="Malgun Gothic" pitchFamily="34" charset="-120"/>
              </a:rPr>
              <a:t>애자일 + AI 반복</a:t>
            </a:r>
            <a:endParaRPr lang="en-US" sz="1150" dirty="0"/>
          </a:p>
        </p:txBody>
      </p:sp>
      <p:sp>
        <p:nvSpPr>
          <p:cNvPr id="26" name="Text 20"/>
          <p:cNvSpPr/>
          <p:nvPr/>
        </p:nvSpPr>
        <p:spPr>
          <a:xfrm>
            <a:off x="6053328" y="4654296"/>
            <a:ext cx="5202936" cy="960120"/>
          </a:xfrm>
          <a:prstGeom prst="rect">
            <a:avLst/>
          </a:prstGeom>
          <a:noFill/>
          <a:ln/>
        </p:spPr>
        <p:txBody>
          <a:bodyPr wrap="square" lIns="0" tIns="0" rIns="0" bIns="0" rtlCol="0" anchor="ctr"/>
          <a:lstStyle/>
          <a:p>
            <a:pPr indent="0" marL="0">
              <a:lnSpc>
                <a:spcPts val="1650"/>
              </a:lnSpc>
              <a:buNone/>
            </a:pPr>
            <a:r>
              <a:rPr lang="en-US" sz="1150" dirty="0">
                <a:solidFill>
                  <a:srgbClr val="3C3B57"/>
                </a:solidFill>
                <a:latin typeface="Malgun Gothic" pitchFamily="34" charset="0"/>
                <a:ea typeface="Malgun Gothic" pitchFamily="34" charset="-122"/>
                <a:cs typeface="Malgun Gothic" pitchFamily="34" charset="-120"/>
              </a:rPr>
              <a:t>작게 만들고 자주 확인 — 여기에 AI로 구현 속도까지 붙입니다. 자세한 방식은 2부에서.</a:t>
            </a:r>
            <a:endParaRPr lang="en-US" sz="1150" dirty="0"/>
          </a:p>
        </p:txBody>
      </p:sp>
      <p:sp>
        <p:nvSpPr>
          <p:cNvPr id="27" name="Text 21"/>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7163A"/>
        </a:solidFill>
      </p:bgPr>
    </p:bg>
    <p:spTree>
      <p:nvGrpSpPr>
        <p:cNvPr id="1" name=""/>
        <p:cNvGrpSpPr/>
        <p:nvPr/>
      </p:nvGrpSpPr>
      <p:grpSpPr>
        <a:xfrm>
          <a:off x="0" y="0"/>
          <a:ext cx="0" cy="0"/>
          <a:chOff x="0" y="0"/>
          <a:chExt cx="0" cy="0"/>
        </a:xfrm>
      </p:grpSpPr>
      <p:sp>
        <p:nvSpPr>
          <p:cNvPr id="2" name="Shape 0"/>
          <p:cNvSpPr/>
          <p:nvPr/>
        </p:nvSpPr>
        <p:spPr>
          <a:xfrm>
            <a:off x="8503920" y="-2103120"/>
            <a:ext cx="6035040" cy="6035040"/>
          </a:xfrm>
          <a:prstGeom prst="ellipse">
            <a:avLst/>
          </a:prstGeom>
          <a:solidFill>
            <a:srgbClr val="201E4C"/>
          </a:solidFill>
          <a:ln/>
        </p:spPr>
      </p:sp>
      <p:sp>
        <p:nvSpPr>
          <p:cNvPr id="3" name="Shape 1"/>
          <p:cNvSpPr/>
          <p:nvPr/>
        </p:nvSpPr>
        <p:spPr>
          <a:xfrm>
            <a:off x="-1737360" y="4480560"/>
            <a:ext cx="4297680" cy="4297680"/>
          </a:xfrm>
          <a:prstGeom prst="ellipse">
            <a:avLst/>
          </a:prstGeom>
          <a:solidFill>
            <a:srgbClr val="2A2860"/>
          </a:solidFill>
          <a:ln/>
        </p:spPr>
      </p:sp>
      <p:sp>
        <p:nvSpPr>
          <p:cNvPr id="4" name="Text 2"/>
          <p:cNvSpPr/>
          <p:nvPr/>
        </p:nvSpPr>
        <p:spPr>
          <a:xfrm>
            <a:off x="7863840" y="320040"/>
            <a:ext cx="3840480" cy="2103120"/>
          </a:xfrm>
          <a:prstGeom prst="rect">
            <a:avLst/>
          </a:prstGeom>
          <a:noFill/>
          <a:ln/>
        </p:spPr>
        <p:txBody>
          <a:bodyPr wrap="square" lIns="0" tIns="0" rIns="0" bIns="0" rtlCol="0" anchor="ctr"/>
          <a:lstStyle/>
          <a:p>
            <a:pPr algn="r" indent="0" marL="0">
              <a:buNone/>
            </a:pPr>
            <a:r>
              <a:rPr lang="en-US" sz="12000" b="1" dirty="0">
                <a:solidFill>
                  <a:srgbClr val="343070"/>
                </a:solidFill>
                <a:latin typeface="Malgun Gothic" pitchFamily="34" charset="0"/>
                <a:ea typeface="Malgun Gothic" pitchFamily="34" charset="-122"/>
                <a:cs typeface="Malgun Gothic" pitchFamily="34" charset="-120"/>
              </a:rPr>
              <a:t>02</a:t>
            </a:r>
            <a:endParaRPr lang="en-US" sz="12000" dirty="0"/>
          </a:p>
        </p:txBody>
      </p:sp>
      <p:sp>
        <p:nvSpPr>
          <p:cNvPr id="5" name="Shape 3"/>
          <p:cNvSpPr/>
          <p:nvPr/>
        </p:nvSpPr>
        <p:spPr>
          <a:xfrm>
            <a:off x="658368" y="2103120"/>
            <a:ext cx="1691640" cy="457200"/>
          </a:xfrm>
          <a:prstGeom prst="roundRect">
            <a:avLst>
              <a:gd name="adj" fmla="val 50000"/>
            </a:avLst>
          </a:prstGeom>
          <a:solidFill>
            <a:srgbClr val="38BDF8"/>
          </a:solidFill>
          <a:ln/>
        </p:spPr>
      </p:sp>
      <p:sp>
        <p:nvSpPr>
          <p:cNvPr id="6" name="Text 4"/>
          <p:cNvSpPr/>
          <p:nvPr/>
        </p:nvSpPr>
        <p:spPr>
          <a:xfrm>
            <a:off x="658368" y="2103120"/>
            <a:ext cx="1691640" cy="457200"/>
          </a:xfrm>
          <a:prstGeom prst="rect">
            <a:avLst/>
          </a:prstGeom>
          <a:noFill/>
          <a:ln/>
        </p:spPr>
        <p:txBody>
          <a:bodyPr wrap="square" lIns="0" tIns="0" rIns="0" bIns="0" rtlCol="0" anchor="ctr"/>
          <a:lstStyle/>
          <a:p>
            <a:pPr algn="ctr" indent="0" marL="0">
              <a:buNone/>
            </a:pPr>
            <a:r>
              <a:rPr lang="en-US" sz="1250" b="1" spc="200" kern="0" dirty="0">
                <a:solidFill>
                  <a:srgbClr val="FFFFFF"/>
                </a:solidFill>
                <a:latin typeface="Malgun Gothic" pitchFamily="34" charset="0"/>
                <a:ea typeface="Malgun Gothic" pitchFamily="34" charset="-122"/>
                <a:cs typeface="Malgun Gothic" pitchFamily="34" charset="-120"/>
              </a:rPr>
              <a:t>PART 2</a:t>
            </a:r>
            <a:endParaRPr lang="en-US" sz="1250" dirty="0"/>
          </a:p>
        </p:txBody>
      </p:sp>
      <p:sp>
        <p:nvSpPr>
          <p:cNvPr id="7" name="Text 5"/>
          <p:cNvSpPr/>
          <p:nvPr/>
        </p:nvSpPr>
        <p:spPr>
          <a:xfrm>
            <a:off x="658368" y="2743200"/>
            <a:ext cx="8961120" cy="1005840"/>
          </a:xfrm>
          <a:prstGeom prst="rect">
            <a:avLst/>
          </a:prstGeom>
          <a:noFill/>
          <a:ln/>
        </p:spPr>
        <p:txBody>
          <a:bodyPr wrap="square" lIns="0" tIns="0" rIns="0" bIns="0" rtlCol="0" anchor="t"/>
          <a:lstStyle/>
          <a:p>
            <a:pPr indent="0" marL="0">
              <a:lnSpc>
                <a:spcPts val="5000"/>
              </a:lnSpc>
              <a:buNone/>
            </a:pPr>
            <a:r>
              <a:rPr lang="en-US" sz="3800" b="1" dirty="0">
                <a:solidFill>
                  <a:srgbClr val="FFFFFF"/>
                </a:solidFill>
                <a:latin typeface="Malgun Gothic" pitchFamily="34" charset="0"/>
                <a:ea typeface="Malgun Gothic" pitchFamily="34" charset="-122"/>
                <a:cs typeface="Malgun Gothic" pitchFamily="34" charset="-120"/>
              </a:rPr>
              <a:t>애자일 실무 용어</a:t>
            </a:r>
            <a:endParaRPr lang="en-US" sz="3800" dirty="0"/>
          </a:p>
        </p:txBody>
      </p:sp>
      <p:sp>
        <p:nvSpPr>
          <p:cNvPr id="8" name="Text 6"/>
          <p:cNvSpPr/>
          <p:nvPr/>
        </p:nvSpPr>
        <p:spPr>
          <a:xfrm>
            <a:off x="658368" y="3913632"/>
            <a:ext cx="9052560" cy="868680"/>
          </a:xfrm>
          <a:prstGeom prst="rect">
            <a:avLst/>
          </a:prstGeom>
          <a:noFill/>
          <a:ln/>
        </p:spPr>
        <p:txBody>
          <a:bodyPr wrap="square" lIns="0" tIns="0" rIns="0" bIns="0" rtlCol="0" anchor="t"/>
          <a:lstStyle/>
          <a:p>
            <a:pPr indent="0" marL="0">
              <a:lnSpc>
                <a:spcPts val="2200"/>
              </a:lnSpc>
              <a:buNone/>
            </a:pPr>
            <a:r>
              <a:rPr lang="en-US" sz="1400" dirty="0">
                <a:solidFill>
                  <a:srgbClr val="E7E6FB"/>
                </a:solidFill>
                <a:latin typeface="Malgun Gothic" pitchFamily="34" charset="0"/>
                <a:ea typeface="Malgun Gothic" pitchFamily="34" charset="-122"/>
                <a:cs typeface="Malgun Gothic" pitchFamily="34" charset="-120"/>
              </a:rPr>
              <a:t>스프린트 · 데일리 스크럼 · 백로그 — 팀 프로젝트에서 그대로 쓸 최소한의 공용어를 정리합니다.</a:t>
            </a:r>
            <a:endParaRPr lang="en-US" sz="1400" dirty="0"/>
          </a:p>
        </p:txBody>
      </p:sp>
      <p:sp>
        <p:nvSpPr>
          <p:cNvPr id="9" name="Shape 7"/>
          <p:cNvSpPr/>
          <p:nvPr/>
        </p:nvSpPr>
        <p:spPr>
          <a:xfrm>
            <a:off x="9738360" y="4343400"/>
            <a:ext cx="1325880" cy="1325880"/>
          </a:xfrm>
          <a:prstGeom prst="ellipse">
            <a:avLst/>
          </a:prstGeom>
          <a:solidFill>
            <a:srgbClr val="38BDF8"/>
          </a:solidFill>
          <a:ln/>
        </p:spPr>
      </p:sp>
      <p:pic>
        <p:nvPicPr>
          <p:cNvPr id="10" name="Image 0" descr="/home/claude/icons/users_white.png">    </p:cNvPr>
          <p:cNvPicPr>
            <a:picLocks noChangeAspect="1"/>
          </p:cNvPicPr>
          <p:nvPr/>
        </p:nvPicPr>
        <p:blipFill>
          <a:blip r:embed="rId1"/>
          <a:stretch>
            <a:fillRect/>
          </a:stretch>
        </p:blipFill>
        <p:spPr>
          <a:xfrm>
            <a:off x="10069830" y="4674870"/>
            <a:ext cx="662940" cy="662940"/>
          </a:xfrm>
          <a:prstGeom prst="rect">
            <a:avLst/>
          </a:prstGeom>
        </p:spPr>
      </p:pic>
      <p:sp>
        <p:nvSpPr>
          <p:cNvPr id="11" name="Text 8"/>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8A88C4"/>
                </a:solidFill>
                <a:latin typeface="Malgun Gothic" pitchFamily="34" charset="0"/>
                <a:ea typeface="Malgun Gothic" pitchFamily="34" charset="-122"/>
                <a:cs typeface="Malgun Gothic"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624328" cy="384048"/>
          </a:xfrm>
          <a:prstGeom prst="roundRect">
            <a:avLst>
              <a:gd name="adj" fmla="val 50000"/>
            </a:avLst>
          </a:prstGeom>
          <a:solidFill>
            <a:srgbClr val="EDECFB"/>
          </a:solidFill>
          <a:ln/>
        </p:spPr>
      </p:sp>
      <p:pic>
        <p:nvPicPr>
          <p:cNvPr id="3" name="Image 0" descr="/home/claude/icons/users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240280"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2부 · 애자일 실무 용어</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스크럼(Scrum) 한눈에</a:t>
            </a:r>
            <a:endParaRPr lang="en-US" sz="2600" dirty="0"/>
          </a:p>
        </p:txBody>
      </p:sp>
      <p:sp>
        <p:nvSpPr>
          <p:cNvPr id="6" name="Text 3"/>
          <p:cNvSpPr/>
          <p:nvPr/>
        </p:nvSpPr>
        <p:spPr>
          <a:xfrm>
            <a:off x="658368" y="1609344"/>
            <a:ext cx="10872216" cy="914400"/>
          </a:xfrm>
          <a:prstGeom prst="rect">
            <a:avLst/>
          </a:prstGeom>
          <a:noFill/>
          <a:ln/>
        </p:spPr>
        <p:txBody>
          <a:bodyPr wrap="square" lIns="0" tIns="0" rIns="0" bIns="0" rtlCol="0" anchor="t"/>
          <a:lstStyle/>
          <a:p>
            <a:pPr algn="l" indent="0" marL="0">
              <a:lnSpc>
                <a:spcPts val="1900"/>
              </a:lnSpc>
              <a:buNone/>
            </a:pPr>
            <a:r>
              <a:rPr lang="en-US" sz="1250" dirty="0">
                <a:solidFill>
                  <a:srgbClr val="3C3B57"/>
                </a:solidFill>
                <a:latin typeface="Malgun Gothic" pitchFamily="34" charset="0"/>
                <a:ea typeface="Malgun Gothic" pitchFamily="34" charset="-122"/>
                <a:cs typeface="Malgun Gothic" pitchFamily="34" charset="-120"/>
              </a:rPr>
              <a:t>애자일 가치를 실행하는 가장 널리 쓰이는 틀 — 흐름은 이 한 줄입니다.</a:t>
            </a:r>
            <a:endParaRPr lang="en-US" sz="1250" dirty="0"/>
          </a:p>
        </p:txBody>
      </p:sp>
      <p:sp>
        <p:nvSpPr>
          <p:cNvPr id="7" name="Shape 4"/>
          <p:cNvSpPr/>
          <p:nvPr/>
        </p:nvSpPr>
        <p:spPr>
          <a:xfrm>
            <a:off x="658368" y="2240280"/>
            <a:ext cx="1874520" cy="1325880"/>
          </a:xfrm>
          <a:prstGeom prst="roundRect">
            <a:avLst>
              <a:gd name="adj" fmla="val 6897"/>
            </a:avLst>
          </a:prstGeom>
          <a:solidFill>
            <a:srgbClr val="FFFFFF"/>
          </a:solidFill>
          <a:ln/>
          <a:effectLst>
            <a:outerShdw sx="100000" sy="100000" kx="0" ky="0" algn="bl" rotWithShape="0" blurRad="152400" dist="25400" dir="5400000">
              <a:srgbClr val="1F1D48">
                <a:alpha val="16000"/>
              </a:srgbClr>
            </a:outerShdw>
          </a:effectLst>
        </p:spPr>
      </p:sp>
      <p:sp>
        <p:nvSpPr>
          <p:cNvPr id="8" name="Text 5"/>
          <p:cNvSpPr/>
          <p:nvPr/>
        </p:nvSpPr>
        <p:spPr>
          <a:xfrm>
            <a:off x="768096" y="2395728"/>
            <a:ext cx="1655064" cy="310896"/>
          </a:xfrm>
          <a:prstGeom prst="rect">
            <a:avLst/>
          </a:prstGeom>
          <a:noFill/>
          <a:ln/>
        </p:spPr>
        <p:txBody>
          <a:bodyPr wrap="square" lIns="0" tIns="0" rIns="0" bIns="0" rtlCol="0" anchor="ctr"/>
          <a:lstStyle/>
          <a:p>
            <a:pPr algn="ctr" indent="0" marL="0">
              <a:buNone/>
            </a:pPr>
            <a:r>
              <a:rPr lang="en-US" sz="1250" b="1" dirty="0">
                <a:solidFill>
                  <a:srgbClr val="1E1B3A"/>
                </a:solidFill>
                <a:latin typeface="Malgun Gothic" pitchFamily="34" charset="0"/>
                <a:ea typeface="Malgun Gothic" pitchFamily="34" charset="-122"/>
                <a:cs typeface="Malgun Gothic" pitchFamily="34" charset="-120"/>
              </a:rPr>
              <a:t>제품 백로그</a:t>
            </a:r>
            <a:endParaRPr lang="en-US" sz="1250" dirty="0"/>
          </a:p>
        </p:txBody>
      </p:sp>
      <p:sp>
        <p:nvSpPr>
          <p:cNvPr id="9" name="Text 6"/>
          <p:cNvSpPr/>
          <p:nvPr/>
        </p:nvSpPr>
        <p:spPr>
          <a:xfrm>
            <a:off x="768096" y="2743200"/>
            <a:ext cx="1655064" cy="731520"/>
          </a:xfrm>
          <a:prstGeom prst="rect">
            <a:avLst/>
          </a:prstGeom>
          <a:noFill/>
          <a:ln/>
        </p:spPr>
        <p:txBody>
          <a:bodyPr wrap="square" lIns="0" tIns="0" rIns="0" bIns="0" rtlCol="0" anchor="t"/>
          <a:lstStyle/>
          <a:p>
            <a:pPr algn="ctr" indent="0" marL="0">
              <a:lnSpc>
                <a:spcPts val="1400"/>
              </a:lnSpc>
              <a:buNone/>
            </a:pPr>
            <a:r>
              <a:rPr lang="en-US" sz="1000" dirty="0">
                <a:solidFill>
                  <a:srgbClr val="3C3B57"/>
                </a:solidFill>
                <a:latin typeface="Malgun Gothic" pitchFamily="34" charset="0"/>
                <a:ea typeface="Malgun Gothic" pitchFamily="34" charset="-122"/>
                <a:cs typeface="Malgun Gothic" pitchFamily="34" charset="-120"/>
              </a:rPr>
              <a:t>할 일 전체의</a:t>
            </a:r>
            <a:endParaRPr lang="en-US" sz="1000" dirty="0"/>
          </a:p>
          <a:p>
            <a:pPr algn="ctr" indent="0" marL="0">
              <a:lnSpc>
                <a:spcPts val="1400"/>
              </a:lnSpc>
              <a:buNone/>
            </a:pPr>
            <a:r>
              <a:rPr lang="en-US" sz="1000" dirty="0">
                <a:solidFill>
                  <a:srgbClr val="3C3B57"/>
                </a:solidFill>
                <a:latin typeface="Malgun Gothic" pitchFamily="34" charset="0"/>
                <a:ea typeface="Malgun Gothic" pitchFamily="34" charset="-122"/>
                <a:cs typeface="Malgun Gothic" pitchFamily="34" charset="-120"/>
              </a:rPr>
              <a:t>우선순위 목록</a:t>
            </a:r>
            <a:endParaRPr lang="en-US" sz="1000" dirty="0"/>
          </a:p>
        </p:txBody>
      </p:sp>
      <p:sp>
        <p:nvSpPr>
          <p:cNvPr id="10" name="Shape 7"/>
          <p:cNvSpPr/>
          <p:nvPr/>
        </p:nvSpPr>
        <p:spPr>
          <a:xfrm>
            <a:off x="2574036" y="2798064"/>
            <a:ext cx="219456" cy="201168"/>
          </a:xfrm>
          <a:prstGeom prst="rightArrow">
            <a:avLst/>
          </a:prstGeom>
          <a:solidFill>
            <a:srgbClr val="38BDF8"/>
          </a:solidFill>
          <a:ln/>
        </p:spPr>
      </p:sp>
      <p:sp>
        <p:nvSpPr>
          <p:cNvPr id="11" name="Shape 8"/>
          <p:cNvSpPr/>
          <p:nvPr/>
        </p:nvSpPr>
        <p:spPr>
          <a:xfrm>
            <a:off x="2834640" y="2240280"/>
            <a:ext cx="1874520" cy="1325880"/>
          </a:xfrm>
          <a:prstGeom prst="roundRect">
            <a:avLst>
              <a:gd name="adj" fmla="val 6897"/>
            </a:avLst>
          </a:prstGeom>
          <a:solidFill>
            <a:srgbClr val="FFFFFF"/>
          </a:solidFill>
          <a:ln/>
          <a:effectLst>
            <a:outerShdw sx="100000" sy="100000" kx="0" ky="0" algn="bl" rotWithShape="0" blurRad="152400" dist="25400" dir="5400000">
              <a:srgbClr val="1F1D48">
                <a:alpha val="16000"/>
              </a:srgbClr>
            </a:outerShdw>
          </a:effectLst>
        </p:spPr>
      </p:sp>
      <p:sp>
        <p:nvSpPr>
          <p:cNvPr id="12" name="Text 9"/>
          <p:cNvSpPr/>
          <p:nvPr/>
        </p:nvSpPr>
        <p:spPr>
          <a:xfrm>
            <a:off x="2944368" y="2395728"/>
            <a:ext cx="1655064" cy="310896"/>
          </a:xfrm>
          <a:prstGeom prst="rect">
            <a:avLst/>
          </a:prstGeom>
          <a:noFill/>
          <a:ln/>
        </p:spPr>
        <p:txBody>
          <a:bodyPr wrap="square" lIns="0" tIns="0" rIns="0" bIns="0" rtlCol="0" anchor="ctr"/>
          <a:lstStyle/>
          <a:p>
            <a:pPr algn="ctr" indent="0" marL="0">
              <a:buNone/>
            </a:pPr>
            <a:r>
              <a:rPr lang="en-US" sz="1250" b="1" dirty="0">
                <a:solidFill>
                  <a:srgbClr val="1E1B3A"/>
                </a:solidFill>
                <a:latin typeface="Malgun Gothic" pitchFamily="34" charset="0"/>
                <a:ea typeface="Malgun Gothic" pitchFamily="34" charset="-122"/>
                <a:cs typeface="Malgun Gothic" pitchFamily="34" charset="-120"/>
              </a:rPr>
              <a:t>스프린트 계획</a:t>
            </a:r>
            <a:endParaRPr lang="en-US" sz="1250" dirty="0"/>
          </a:p>
        </p:txBody>
      </p:sp>
      <p:sp>
        <p:nvSpPr>
          <p:cNvPr id="13" name="Text 10"/>
          <p:cNvSpPr/>
          <p:nvPr/>
        </p:nvSpPr>
        <p:spPr>
          <a:xfrm>
            <a:off x="2944368" y="2743200"/>
            <a:ext cx="1655064" cy="731520"/>
          </a:xfrm>
          <a:prstGeom prst="rect">
            <a:avLst/>
          </a:prstGeom>
          <a:noFill/>
          <a:ln/>
        </p:spPr>
        <p:txBody>
          <a:bodyPr wrap="square" lIns="0" tIns="0" rIns="0" bIns="0" rtlCol="0" anchor="t"/>
          <a:lstStyle/>
          <a:p>
            <a:pPr algn="ctr" indent="0" marL="0">
              <a:lnSpc>
                <a:spcPts val="1400"/>
              </a:lnSpc>
              <a:buNone/>
            </a:pPr>
            <a:r>
              <a:rPr lang="en-US" sz="1000" dirty="0">
                <a:solidFill>
                  <a:srgbClr val="3C3B57"/>
                </a:solidFill>
                <a:latin typeface="Malgun Gothic" pitchFamily="34" charset="0"/>
                <a:ea typeface="Malgun Gothic" pitchFamily="34" charset="-122"/>
                <a:cs typeface="Malgun Gothic" pitchFamily="34" charset="-120"/>
              </a:rPr>
              <a:t>이번 주기에 할</a:t>
            </a:r>
            <a:endParaRPr lang="en-US" sz="1000" dirty="0"/>
          </a:p>
          <a:p>
            <a:pPr algn="ctr" indent="0" marL="0">
              <a:lnSpc>
                <a:spcPts val="1400"/>
              </a:lnSpc>
              <a:buNone/>
            </a:pPr>
            <a:r>
              <a:rPr lang="en-US" sz="1000" dirty="0">
                <a:solidFill>
                  <a:srgbClr val="3C3B57"/>
                </a:solidFill>
                <a:latin typeface="Malgun Gothic" pitchFamily="34" charset="0"/>
                <a:ea typeface="Malgun Gothic" pitchFamily="34" charset="-122"/>
                <a:cs typeface="Malgun Gothic" pitchFamily="34" charset="-120"/>
              </a:rPr>
              <a:t>일을 골라 확정</a:t>
            </a:r>
            <a:endParaRPr lang="en-US" sz="1000" dirty="0"/>
          </a:p>
        </p:txBody>
      </p:sp>
      <p:sp>
        <p:nvSpPr>
          <p:cNvPr id="14" name="Shape 11"/>
          <p:cNvSpPr/>
          <p:nvPr/>
        </p:nvSpPr>
        <p:spPr>
          <a:xfrm>
            <a:off x="4750308" y="2798064"/>
            <a:ext cx="219456" cy="201168"/>
          </a:xfrm>
          <a:prstGeom prst="rightArrow">
            <a:avLst/>
          </a:prstGeom>
          <a:solidFill>
            <a:srgbClr val="38BDF8"/>
          </a:solidFill>
          <a:ln/>
        </p:spPr>
      </p:sp>
      <p:sp>
        <p:nvSpPr>
          <p:cNvPr id="15" name="Shape 12"/>
          <p:cNvSpPr/>
          <p:nvPr/>
        </p:nvSpPr>
        <p:spPr>
          <a:xfrm>
            <a:off x="5010912" y="2240280"/>
            <a:ext cx="2331720" cy="1325880"/>
          </a:xfrm>
          <a:prstGeom prst="roundRect">
            <a:avLst>
              <a:gd name="adj" fmla="val 6897"/>
            </a:avLst>
          </a:prstGeom>
          <a:solidFill>
            <a:srgbClr val="EEF0FF"/>
          </a:solidFill>
          <a:ln/>
          <a:effectLst>
            <a:outerShdw sx="100000" sy="100000" kx="0" ky="0" algn="bl" rotWithShape="0" blurRad="152400" dist="25400" dir="5400000">
              <a:srgbClr val="1F1D48">
                <a:alpha val="16000"/>
              </a:srgbClr>
            </a:outerShdw>
          </a:effectLst>
        </p:spPr>
      </p:sp>
      <p:sp>
        <p:nvSpPr>
          <p:cNvPr id="16" name="Text 13"/>
          <p:cNvSpPr/>
          <p:nvPr/>
        </p:nvSpPr>
        <p:spPr>
          <a:xfrm>
            <a:off x="5120640" y="2395728"/>
            <a:ext cx="2112264" cy="310896"/>
          </a:xfrm>
          <a:prstGeom prst="rect">
            <a:avLst/>
          </a:prstGeom>
          <a:noFill/>
          <a:ln/>
        </p:spPr>
        <p:txBody>
          <a:bodyPr wrap="square" lIns="0" tIns="0" rIns="0" bIns="0" rtlCol="0" anchor="ctr"/>
          <a:lstStyle/>
          <a:p>
            <a:pPr algn="ctr" indent="0" marL="0">
              <a:buNone/>
            </a:pPr>
            <a:r>
              <a:rPr lang="en-US" sz="1250" b="1" dirty="0">
                <a:solidFill>
                  <a:srgbClr val="4338CA"/>
                </a:solidFill>
                <a:latin typeface="Malgun Gothic" pitchFamily="34" charset="0"/>
                <a:ea typeface="Malgun Gothic" pitchFamily="34" charset="-122"/>
                <a:cs typeface="Malgun Gothic" pitchFamily="34" charset="-120"/>
              </a:rPr>
              <a:t>스프린트 (1–4주)</a:t>
            </a:r>
            <a:endParaRPr lang="en-US" sz="1250" dirty="0"/>
          </a:p>
        </p:txBody>
      </p:sp>
      <p:sp>
        <p:nvSpPr>
          <p:cNvPr id="17" name="Text 14"/>
          <p:cNvSpPr/>
          <p:nvPr/>
        </p:nvSpPr>
        <p:spPr>
          <a:xfrm>
            <a:off x="5120640" y="2743200"/>
            <a:ext cx="2112264" cy="731520"/>
          </a:xfrm>
          <a:prstGeom prst="rect">
            <a:avLst/>
          </a:prstGeom>
          <a:noFill/>
          <a:ln/>
        </p:spPr>
        <p:txBody>
          <a:bodyPr wrap="square" lIns="0" tIns="0" rIns="0" bIns="0" rtlCol="0" anchor="t"/>
          <a:lstStyle/>
          <a:p>
            <a:pPr algn="ctr" indent="0" marL="0">
              <a:lnSpc>
                <a:spcPts val="1400"/>
              </a:lnSpc>
              <a:buNone/>
            </a:pPr>
            <a:r>
              <a:rPr lang="en-US" sz="1000" dirty="0">
                <a:solidFill>
                  <a:srgbClr val="3C3B57"/>
                </a:solidFill>
                <a:latin typeface="Malgun Gothic" pitchFamily="34" charset="0"/>
                <a:ea typeface="Malgun Gothic" pitchFamily="34" charset="-122"/>
                <a:cs typeface="Malgun Gothic" pitchFamily="34" charset="-120"/>
              </a:rPr>
              <a:t>매일 15분</a:t>
            </a:r>
            <a:endParaRPr lang="en-US" sz="1000" dirty="0"/>
          </a:p>
          <a:p>
            <a:pPr algn="ctr" indent="0" marL="0">
              <a:lnSpc>
                <a:spcPts val="1400"/>
              </a:lnSpc>
              <a:buNone/>
            </a:pPr>
            <a:r>
              <a:rPr lang="en-US" sz="1000" dirty="0">
                <a:solidFill>
                  <a:srgbClr val="3C3B57"/>
                </a:solidFill>
                <a:latin typeface="Malgun Gothic" pitchFamily="34" charset="0"/>
                <a:ea typeface="Malgun Gothic" pitchFamily="34" charset="-122"/>
                <a:cs typeface="Malgun Gothic" pitchFamily="34" charset="-120"/>
              </a:rPr>
              <a:t>데일리 스크럼</a:t>
            </a:r>
            <a:endParaRPr lang="en-US" sz="1000" dirty="0"/>
          </a:p>
        </p:txBody>
      </p:sp>
      <p:sp>
        <p:nvSpPr>
          <p:cNvPr id="18" name="Shape 15"/>
          <p:cNvSpPr/>
          <p:nvPr/>
        </p:nvSpPr>
        <p:spPr>
          <a:xfrm>
            <a:off x="7383780" y="2798064"/>
            <a:ext cx="219456" cy="201168"/>
          </a:xfrm>
          <a:prstGeom prst="rightArrow">
            <a:avLst/>
          </a:prstGeom>
          <a:solidFill>
            <a:srgbClr val="38BDF8"/>
          </a:solidFill>
          <a:ln/>
        </p:spPr>
      </p:sp>
      <p:sp>
        <p:nvSpPr>
          <p:cNvPr id="19" name="Shape 16"/>
          <p:cNvSpPr/>
          <p:nvPr/>
        </p:nvSpPr>
        <p:spPr>
          <a:xfrm>
            <a:off x="7644384" y="2240280"/>
            <a:ext cx="1874520" cy="1325880"/>
          </a:xfrm>
          <a:prstGeom prst="roundRect">
            <a:avLst>
              <a:gd name="adj" fmla="val 6897"/>
            </a:avLst>
          </a:prstGeom>
          <a:solidFill>
            <a:srgbClr val="FFFFFF"/>
          </a:solidFill>
          <a:ln/>
          <a:effectLst>
            <a:outerShdw sx="100000" sy="100000" kx="0" ky="0" algn="bl" rotWithShape="0" blurRad="152400" dist="25400" dir="5400000">
              <a:srgbClr val="1F1D48">
                <a:alpha val="16000"/>
              </a:srgbClr>
            </a:outerShdw>
          </a:effectLst>
        </p:spPr>
      </p:sp>
      <p:sp>
        <p:nvSpPr>
          <p:cNvPr id="20" name="Text 17"/>
          <p:cNvSpPr/>
          <p:nvPr/>
        </p:nvSpPr>
        <p:spPr>
          <a:xfrm>
            <a:off x="7754112" y="2395728"/>
            <a:ext cx="1655064" cy="310896"/>
          </a:xfrm>
          <a:prstGeom prst="rect">
            <a:avLst/>
          </a:prstGeom>
          <a:noFill/>
          <a:ln/>
        </p:spPr>
        <p:txBody>
          <a:bodyPr wrap="square" lIns="0" tIns="0" rIns="0" bIns="0" rtlCol="0" anchor="ctr"/>
          <a:lstStyle/>
          <a:p>
            <a:pPr algn="ctr" indent="0" marL="0">
              <a:buNone/>
            </a:pPr>
            <a:r>
              <a:rPr lang="en-US" sz="1250" b="1" dirty="0">
                <a:solidFill>
                  <a:srgbClr val="1E1B3A"/>
                </a:solidFill>
                <a:latin typeface="Malgun Gothic" pitchFamily="34" charset="0"/>
                <a:ea typeface="Malgun Gothic" pitchFamily="34" charset="-122"/>
                <a:cs typeface="Malgun Gothic" pitchFamily="34" charset="-120"/>
              </a:rPr>
              <a:t>동작하는 증분</a:t>
            </a:r>
            <a:endParaRPr lang="en-US" sz="1250" dirty="0"/>
          </a:p>
        </p:txBody>
      </p:sp>
      <p:sp>
        <p:nvSpPr>
          <p:cNvPr id="21" name="Text 18"/>
          <p:cNvSpPr/>
          <p:nvPr/>
        </p:nvSpPr>
        <p:spPr>
          <a:xfrm>
            <a:off x="7754112" y="2743200"/>
            <a:ext cx="1655064" cy="731520"/>
          </a:xfrm>
          <a:prstGeom prst="rect">
            <a:avLst/>
          </a:prstGeom>
          <a:noFill/>
          <a:ln/>
        </p:spPr>
        <p:txBody>
          <a:bodyPr wrap="square" lIns="0" tIns="0" rIns="0" bIns="0" rtlCol="0" anchor="t"/>
          <a:lstStyle/>
          <a:p>
            <a:pPr algn="ctr" indent="0" marL="0">
              <a:lnSpc>
                <a:spcPts val="1400"/>
              </a:lnSpc>
              <a:buNone/>
            </a:pPr>
            <a:r>
              <a:rPr lang="en-US" sz="1000" dirty="0">
                <a:solidFill>
                  <a:srgbClr val="3C3B57"/>
                </a:solidFill>
                <a:latin typeface="Malgun Gothic" pitchFamily="34" charset="0"/>
                <a:ea typeface="Malgun Gothic" pitchFamily="34" charset="-122"/>
                <a:cs typeface="Malgun Gothic" pitchFamily="34" charset="-120"/>
              </a:rPr>
              <a:t>실제로 돌아가는</a:t>
            </a:r>
            <a:endParaRPr lang="en-US" sz="1000" dirty="0"/>
          </a:p>
          <a:p>
            <a:pPr algn="ctr" indent="0" marL="0">
              <a:lnSpc>
                <a:spcPts val="1400"/>
              </a:lnSpc>
              <a:buNone/>
            </a:pPr>
            <a:r>
              <a:rPr lang="en-US" sz="1000" dirty="0">
                <a:solidFill>
                  <a:srgbClr val="3C3B57"/>
                </a:solidFill>
                <a:latin typeface="Malgun Gothic" pitchFamily="34" charset="0"/>
                <a:ea typeface="Malgun Gothic" pitchFamily="34" charset="-122"/>
                <a:cs typeface="Malgun Gothic" pitchFamily="34" charset="-120"/>
              </a:rPr>
              <a:t>결과물 한 덩이</a:t>
            </a:r>
            <a:endParaRPr lang="en-US" sz="1000" dirty="0"/>
          </a:p>
        </p:txBody>
      </p:sp>
      <p:sp>
        <p:nvSpPr>
          <p:cNvPr id="22" name="Shape 19"/>
          <p:cNvSpPr/>
          <p:nvPr/>
        </p:nvSpPr>
        <p:spPr>
          <a:xfrm>
            <a:off x="9560052" y="2798064"/>
            <a:ext cx="219456" cy="201168"/>
          </a:xfrm>
          <a:prstGeom prst="rightArrow">
            <a:avLst/>
          </a:prstGeom>
          <a:solidFill>
            <a:srgbClr val="38BDF8"/>
          </a:solidFill>
          <a:ln/>
        </p:spPr>
      </p:sp>
      <p:sp>
        <p:nvSpPr>
          <p:cNvPr id="23" name="Shape 20"/>
          <p:cNvSpPr/>
          <p:nvPr/>
        </p:nvSpPr>
        <p:spPr>
          <a:xfrm>
            <a:off x="9820656" y="2240280"/>
            <a:ext cx="1874520" cy="1325880"/>
          </a:xfrm>
          <a:prstGeom prst="roundRect">
            <a:avLst>
              <a:gd name="adj" fmla="val 6897"/>
            </a:avLst>
          </a:prstGeom>
          <a:solidFill>
            <a:srgbClr val="FFFFFF"/>
          </a:solidFill>
          <a:ln/>
          <a:effectLst>
            <a:outerShdw sx="100000" sy="100000" kx="0" ky="0" algn="bl" rotWithShape="0" blurRad="152400" dist="25400" dir="5400000">
              <a:srgbClr val="1F1D48">
                <a:alpha val="16000"/>
              </a:srgbClr>
            </a:outerShdw>
          </a:effectLst>
        </p:spPr>
      </p:sp>
      <p:sp>
        <p:nvSpPr>
          <p:cNvPr id="24" name="Text 21"/>
          <p:cNvSpPr/>
          <p:nvPr/>
        </p:nvSpPr>
        <p:spPr>
          <a:xfrm>
            <a:off x="9930384" y="2395728"/>
            <a:ext cx="1655064" cy="310896"/>
          </a:xfrm>
          <a:prstGeom prst="rect">
            <a:avLst/>
          </a:prstGeom>
          <a:noFill/>
          <a:ln/>
        </p:spPr>
        <p:txBody>
          <a:bodyPr wrap="square" lIns="0" tIns="0" rIns="0" bIns="0" rtlCol="0" anchor="ctr"/>
          <a:lstStyle/>
          <a:p>
            <a:pPr algn="ctr" indent="0" marL="0">
              <a:buNone/>
            </a:pPr>
            <a:r>
              <a:rPr lang="en-US" sz="1250" b="1" dirty="0">
                <a:solidFill>
                  <a:srgbClr val="1E1B3A"/>
                </a:solidFill>
                <a:latin typeface="Malgun Gothic" pitchFamily="34" charset="0"/>
                <a:ea typeface="Malgun Gothic" pitchFamily="34" charset="-122"/>
                <a:cs typeface="Malgun Gothic" pitchFamily="34" charset="-120"/>
              </a:rPr>
              <a:t>리뷰 · 회고</a:t>
            </a:r>
            <a:endParaRPr lang="en-US" sz="1250" dirty="0"/>
          </a:p>
        </p:txBody>
      </p:sp>
      <p:sp>
        <p:nvSpPr>
          <p:cNvPr id="25" name="Text 22"/>
          <p:cNvSpPr/>
          <p:nvPr/>
        </p:nvSpPr>
        <p:spPr>
          <a:xfrm>
            <a:off x="9930384" y="2743200"/>
            <a:ext cx="1655064" cy="731520"/>
          </a:xfrm>
          <a:prstGeom prst="rect">
            <a:avLst/>
          </a:prstGeom>
          <a:noFill/>
          <a:ln/>
        </p:spPr>
        <p:txBody>
          <a:bodyPr wrap="square" lIns="0" tIns="0" rIns="0" bIns="0" rtlCol="0" anchor="t"/>
          <a:lstStyle/>
          <a:p>
            <a:pPr algn="ctr" indent="0" marL="0">
              <a:lnSpc>
                <a:spcPts val="1400"/>
              </a:lnSpc>
              <a:buNone/>
            </a:pPr>
            <a:r>
              <a:rPr lang="en-US" sz="1000" dirty="0">
                <a:solidFill>
                  <a:srgbClr val="3C3B57"/>
                </a:solidFill>
                <a:latin typeface="Malgun Gothic" pitchFamily="34" charset="0"/>
                <a:ea typeface="Malgun Gothic" pitchFamily="34" charset="-122"/>
                <a:cs typeface="Malgun Gothic" pitchFamily="34" charset="-120"/>
              </a:rPr>
              <a:t>결과와 과정을</a:t>
            </a:r>
            <a:endParaRPr lang="en-US" sz="1000" dirty="0"/>
          </a:p>
          <a:p>
            <a:pPr algn="ctr" indent="0" marL="0">
              <a:lnSpc>
                <a:spcPts val="1400"/>
              </a:lnSpc>
              <a:buNone/>
            </a:pPr>
            <a:r>
              <a:rPr lang="en-US" sz="1000" dirty="0">
                <a:solidFill>
                  <a:srgbClr val="3C3B57"/>
                </a:solidFill>
                <a:latin typeface="Malgun Gothic" pitchFamily="34" charset="0"/>
                <a:ea typeface="Malgun Gothic" pitchFamily="34" charset="-122"/>
                <a:cs typeface="Malgun Gothic" pitchFamily="34" charset="-120"/>
              </a:rPr>
              <a:t>돌아보고 개선</a:t>
            </a:r>
            <a:endParaRPr lang="en-US" sz="1000" dirty="0"/>
          </a:p>
        </p:txBody>
      </p:sp>
      <p:sp>
        <p:nvSpPr>
          <p:cNvPr id="26" name="Shape 23"/>
          <p:cNvSpPr/>
          <p:nvPr/>
        </p:nvSpPr>
        <p:spPr>
          <a:xfrm>
            <a:off x="1938528" y="3977640"/>
            <a:ext cx="8138160" cy="237744"/>
          </a:xfrm>
          <a:prstGeom prst="leftArrow">
            <a:avLst/>
          </a:prstGeom>
          <a:solidFill>
            <a:srgbClr val="E7E6FB"/>
          </a:solidFill>
          <a:ln/>
        </p:spPr>
      </p:sp>
      <p:sp>
        <p:nvSpPr>
          <p:cNvPr id="27" name="Text 24"/>
          <p:cNvSpPr/>
          <p:nvPr/>
        </p:nvSpPr>
        <p:spPr>
          <a:xfrm>
            <a:off x="1938528" y="4279392"/>
            <a:ext cx="8138160" cy="274320"/>
          </a:xfrm>
          <a:prstGeom prst="rect">
            <a:avLst/>
          </a:prstGeom>
          <a:noFill/>
          <a:ln/>
        </p:spPr>
        <p:txBody>
          <a:bodyPr wrap="square" lIns="0" tIns="0" rIns="0" bIns="0" rtlCol="0" anchor="ctr"/>
          <a:lstStyle/>
          <a:p>
            <a:pPr algn="ctr" indent="0" marL="0">
              <a:buNone/>
            </a:pPr>
            <a:r>
              <a:rPr lang="en-US" sz="1050" dirty="0">
                <a:solidFill>
                  <a:srgbClr val="6B7185"/>
                </a:solidFill>
                <a:latin typeface="Malgun Gothic" pitchFamily="34" charset="0"/>
                <a:ea typeface="Malgun Gothic" pitchFamily="34" charset="-122"/>
                <a:cs typeface="Malgun Gothic" pitchFamily="34" charset="-120"/>
              </a:rPr>
              <a:t>다음 스프린트로 — 이 바퀴를 프로젝트가 끝날 때까지 반복</a:t>
            </a:r>
            <a:endParaRPr lang="en-US" sz="1050" dirty="0"/>
          </a:p>
        </p:txBody>
      </p:sp>
      <p:sp>
        <p:nvSpPr>
          <p:cNvPr id="28" name="Shape 25"/>
          <p:cNvSpPr/>
          <p:nvPr/>
        </p:nvSpPr>
        <p:spPr>
          <a:xfrm>
            <a:off x="658368" y="4892040"/>
            <a:ext cx="10872216" cy="868680"/>
          </a:xfrm>
          <a:prstGeom prst="roundRect">
            <a:avLst>
              <a:gd name="adj" fmla="val 10526"/>
            </a:avLst>
          </a:prstGeom>
          <a:solidFill>
            <a:srgbClr val="F5F4FC"/>
          </a:solidFill>
          <a:ln/>
        </p:spPr>
      </p:sp>
      <p:sp>
        <p:nvSpPr>
          <p:cNvPr id="29" name="Shape 26"/>
          <p:cNvSpPr/>
          <p:nvPr/>
        </p:nvSpPr>
        <p:spPr>
          <a:xfrm>
            <a:off x="877824" y="5088636"/>
            <a:ext cx="475488" cy="475488"/>
          </a:xfrm>
          <a:prstGeom prst="ellipse">
            <a:avLst/>
          </a:prstGeom>
          <a:solidFill>
            <a:srgbClr val="38BDF8"/>
          </a:solidFill>
          <a:ln/>
        </p:spPr>
      </p:sp>
      <p:pic>
        <p:nvPicPr>
          <p:cNvPr id="30" name="Image 1" descr="/home/claude/icons/bulb_white.png">    </p:cNvPr>
          <p:cNvPicPr>
            <a:picLocks noChangeAspect="1"/>
          </p:cNvPicPr>
          <p:nvPr/>
        </p:nvPicPr>
        <p:blipFill>
          <a:blip r:embed="rId2"/>
          <a:stretch>
            <a:fillRect/>
          </a:stretch>
        </p:blipFill>
        <p:spPr>
          <a:xfrm>
            <a:off x="996696" y="5207508"/>
            <a:ext cx="237744" cy="237744"/>
          </a:xfrm>
          <a:prstGeom prst="rect">
            <a:avLst/>
          </a:prstGeom>
        </p:spPr>
      </p:pic>
      <p:sp>
        <p:nvSpPr>
          <p:cNvPr id="31" name="Text 27"/>
          <p:cNvSpPr/>
          <p:nvPr/>
        </p:nvSpPr>
        <p:spPr>
          <a:xfrm>
            <a:off x="1554480" y="4983480"/>
            <a:ext cx="9738360" cy="685800"/>
          </a:xfrm>
          <a:prstGeom prst="rect">
            <a:avLst/>
          </a:prstGeom>
          <a:noFill/>
          <a:ln/>
        </p:spPr>
        <p:txBody>
          <a:bodyPr wrap="square" lIns="0" tIns="0" rIns="0" bIns="0" rtlCol="0" anchor="ctr"/>
          <a:lstStyle/>
          <a:p>
            <a:pPr indent="0" marL="0">
              <a:lnSpc>
                <a:spcPts val="1633"/>
              </a:lnSpc>
              <a:buNone/>
            </a:pPr>
            <a:r>
              <a:rPr lang="en-US" sz="1300" b="1" dirty="0">
                <a:solidFill>
                  <a:srgbClr val="1E1B3A"/>
                </a:solidFill>
                <a:latin typeface="Malgun Gothic" pitchFamily="34" charset="0"/>
                <a:ea typeface="Malgun Gothic" pitchFamily="34" charset="-122"/>
                <a:cs typeface="Malgun Gothic" pitchFamily="34" charset="-120"/>
              </a:rPr>
              <a:t>왜 이 틀이 강한가
</a:t>
            </a:r>
            <a:pPr indent="0" marL="0">
              <a:lnSpc>
                <a:spcPts val="1633"/>
              </a:lnSpc>
              <a:buNone/>
            </a:pPr>
            <a:r>
              <a:rPr lang="en-US" sz="1150" dirty="0">
                <a:solidFill>
                  <a:srgbClr val="3C3B57"/>
                </a:solidFill>
                <a:latin typeface="Malgun Gothic" pitchFamily="34" charset="0"/>
                <a:ea typeface="Malgun Gothic" pitchFamily="34" charset="-122"/>
                <a:cs typeface="Malgun Gothic" pitchFamily="34" charset="-120"/>
              </a:rPr>
              <a:t>매 스프린트 끝에 '동작하는 것'이 나오고, 매일 15분의 확인이 있으니 — 문제가 커지기 전에 드러납니다. 폭포수의 "맨 끝의 충격"이 구조적으로 사라집니다.</a:t>
            </a:r>
            <a:endParaRPr lang="en-US" sz="1300" dirty="0"/>
          </a:p>
        </p:txBody>
      </p:sp>
      <p:sp>
        <p:nvSpPr>
          <p:cNvPr id="32" name="Text 28"/>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624328" cy="384048"/>
          </a:xfrm>
          <a:prstGeom prst="roundRect">
            <a:avLst>
              <a:gd name="adj" fmla="val 50000"/>
            </a:avLst>
          </a:prstGeom>
          <a:solidFill>
            <a:srgbClr val="EDECFB"/>
          </a:solidFill>
          <a:ln/>
        </p:spPr>
      </p:sp>
      <p:pic>
        <p:nvPicPr>
          <p:cNvPr id="3" name="Image 0" descr="/home/claude/icons/users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240280"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2부 · 애자일 실무 용어</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팀 프로젝트 공용어 네 가지</a:t>
            </a:r>
            <a:endParaRPr lang="en-US" sz="2600" dirty="0"/>
          </a:p>
        </p:txBody>
      </p:sp>
      <p:sp>
        <p:nvSpPr>
          <p:cNvPr id="6" name="Shape 3"/>
          <p:cNvSpPr/>
          <p:nvPr/>
        </p:nvSpPr>
        <p:spPr>
          <a:xfrm>
            <a:off x="658368" y="1828800"/>
            <a:ext cx="5308092" cy="1874520"/>
          </a:xfrm>
          <a:prstGeom prst="roundRect">
            <a:avLst>
              <a:gd name="adj" fmla="val 4878"/>
            </a:avLst>
          </a:prstGeom>
          <a:solidFill>
            <a:srgbClr val="FFFFFF"/>
          </a:solidFill>
          <a:ln/>
          <a:effectLst>
            <a:outerShdw sx="100000" sy="100000" kx="0" ky="0" algn="bl" rotWithShape="0" blurRad="152400" dist="25400" dir="5400000">
              <a:srgbClr val="1F1D48">
                <a:alpha val="16000"/>
              </a:srgbClr>
            </a:outerShdw>
          </a:effectLst>
        </p:spPr>
      </p:sp>
      <p:sp>
        <p:nvSpPr>
          <p:cNvPr id="7" name="Shape 4"/>
          <p:cNvSpPr/>
          <p:nvPr/>
        </p:nvSpPr>
        <p:spPr>
          <a:xfrm>
            <a:off x="896112" y="2066544"/>
            <a:ext cx="512064" cy="512064"/>
          </a:xfrm>
          <a:prstGeom prst="ellipse">
            <a:avLst/>
          </a:prstGeom>
          <a:solidFill>
            <a:srgbClr val="38BDF8"/>
          </a:solidFill>
          <a:ln/>
        </p:spPr>
      </p:sp>
      <p:pic>
        <p:nvPicPr>
          <p:cNvPr id="8" name="Image 1" descr="/home/claude/icons/clock_white.png">    </p:cNvPr>
          <p:cNvPicPr>
            <a:picLocks noChangeAspect="1"/>
          </p:cNvPicPr>
          <p:nvPr/>
        </p:nvPicPr>
        <p:blipFill>
          <a:blip r:embed="rId2"/>
          <a:stretch>
            <a:fillRect/>
          </a:stretch>
        </p:blipFill>
        <p:spPr>
          <a:xfrm>
            <a:off x="1024128" y="2194560"/>
            <a:ext cx="256032" cy="256032"/>
          </a:xfrm>
          <a:prstGeom prst="rect">
            <a:avLst/>
          </a:prstGeom>
        </p:spPr>
      </p:pic>
      <p:sp>
        <p:nvSpPr>
          <p:cNvPr id="9" name="Text 5"/>
          <p:cNvSpPr/>
          <p:nvPr/>
        </p:nvSpPr>
        <p:spPr>
          <a:xfrm>
            <a:off x="896112" y="2706624"/>
            <a:ext cx="4850892" cy="292608"/>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스프린트</a:t>
            </a:r>
            <a:endParaRPr lang="en-US" sz="1400" dirty="0"/>
          </a:p>
        </p:txBody>
      </p:sp>
      <p:sp>
        <p:nvSpPr>
          <p:cNvPr id="10" name="Text 6"/>
          <p:cNvSpPr/>
          <p:nvPr/>
        </p:nvSpPr>
        <p:spPr>
          <a:xfrm>
            <a:off x="896112" y="2999232"/>
            <a:ext cx="4850892" cy="59436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짧고 '고정된' 개발 주기(1–4주). 기간을 늘리지 않고, 못 끝낸 일은 다음 스프린트로 넘깁니다. 우리 프로젝트는 1주 스프린트로 갑니다.</a:t>
            </a:r>
            <a:endParaRPr lang="en-US" sz="1100" dirty="0"/>
          </a:p>
        </p:txBody>
      </p:sp>
      <p:sp>
        <p:nvSpPr>
          <p:cNvPr id="11" name="Shape 7"/>
          <p:cNvSpPr/>
          <p:nvPr/>
        </p:nvSpPr>
        <p:spPr>
          <a:xfrm>
            <a:off x="6222492" y="1828800"/>
            <a:ext cx="5308092" cy="1874520"/>
          </a:xfrm>
          <a:prstGeom prst="roundRect">
            <a:avLst>
              <a:gd name="adj" fmla="val 4878"/>
            </a:avLst>
          </a:prstGeom>
          <a:solidFill>
            <a:srgbClr val="FFFFFF"/>
          </a:solidFill>
          <a:ln/>
          <a:effectLst>
            <a:outerShdw sx="100000" sy="100000" kx="0" ky="0" algn="bl" rotWithShape="0" blurRad="152400" dist="25400" dir="5400000">
              <a:srgbClr val="1F1D48">
                <a:alpha val="16000"/>
              </a:srgbClr>
            </a:outerShdw>
          </a:effectLst>
        </p:spPr>
      </p:sp>
      <p:sp>
        <p:nvSpPr>
          <p:cNvPr id="12" name="Shape 8"/>
          <p:cNvSpPr/>
          <p:nvPr/>
        </p:nvSpPr>
        <p:spPr>
          <a:xfrm>
            <a:off x="6460236" y="2066544"/>
            <a:ext cx="512064" cy="512064"/>
          </a:xfrm>
          <a:prstGeom prst="ellipse">
            <a:avLst/>
          </a:prstGeom>
          <a:solidFill>
            <a:srgbClr val="4F46E5"/>
          </a:solidFill>
          <a:ln/>
        </p:spPr>
      </p:sp>
      <p:pic>
        <p:nvPicPr>
          <p:cNvPr id="13" name="Image 2" descr="/home/claude/icons/comments_white.png">    </p:cNvPr>
          <p:cNvPicPr>
            <a:picLocks noChangeAspect="1"/>
          </p:cNvPicPr>
          <p:nvPr/>
        </p:nvPicPr>
        <p:blipFill>
          <a:blip r:embed="rId3"/>
          <a:stretch>
            <a:fillRect/>
          </a:stretch>
        </p:blipFill>
        <p:spPr>
          <a:xfrm>
            <a:off x="6588252" y="2194560"/>
            <a:ext cx="256032" cy="256032"/>
          </a:xfrm>
          <a:prstGeom prst="rect">
            <a:avLst/>
          </a:prstGeom>
        </p:spPr>
      </p:pic>
      <p:sp>
        <p:nvSpPr>
          <p:cNvPr id="14" name="Text 9"/>
          <p:cNvSpPr/>
          <p:nvPr/>
        </p:nvSpPr>
        <p:spPr>
          <a:xfrm>
            <a:off x="6460236" y="2706624"/>
            <a:ext cx="4850892" cy="292608"/>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데일리 스크럼</a:t>
            </a:r>
            <a:endParaRPr lang="en-US" sz="1400" dirty="0"/>
          </a:p>
        </p:txBody>
      </p:sp>
      <p:sp>
        <p:nvSpPr>
          <p:cNvPr id="15" name="Text 10"/>
          <p:cNvSpPr/>
          <p:nvPr/>
        </p:nvSpPr>
        <p:spPr>
          <a:xfrm>
            <a:off x="6460236" y="2999232"/>
            <a:ext cx="4850892" cy="59436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매일 15분, 서서 하는 확인 — 어제 한 것 · 오늘 할 것 · 막힌 것 세 가지만 말합니다. 문제 해결 회의가 아니라 '드러내는' 자리입니다.</a:t>
            </a:r>
            <a:endParaRPr lang="en-US" sz="1100" dirty="0"/>
          </a:p>
        </p:txBody>
      </p:sp>
      <p:sp>
        <p:nvSpPr>
          <p:cNvPr id="16" name="Shape 11"/>
          <p:cNvSpPr/>
          <p:nvPr/>
        </p:nvSpPr>
        <p:spPr>
          <a:xfrm>
            <a:off x="658368" y="3977640"/>
            <a:ext cx="5308092" cy="1874520"/>
          </a:xfrm>
          <a:prstGeom prst="roundRect">
            <a:avLst>
              <a:gd name="adj" fmla="val 4878"/>
            </a:avLst>
          </a:prstGeom>
          <a:solidFill>
            <a:srgbClr val="FFFFFF"/>
          </a:solidFill>
          <a:ln/>
          <a:effectLst>
            <a:outerShdw sx="100000" sy="100000" kx="0" ky="0" algn="bl" rotWithShape="0" blurRad="152400" dist="25400" dir="5400000">
              <a:srgbClr val="1F1D48">
                <a:alpha val="16000"/>
              </a:srgbClr>
            </a:outerShdw>
          </a:effectLst>
        </p:spPr>
      </p:sp>
      <p:sp>
        <p:nvSpPr>
          <p:cNvPr id="17" name="Shape 12"/>
          <p:cNvSpPr/>
          <p:nvPr/>
        </p:nvSpPr>
        <p:spPr>
          <a:xfrm>
            <a:off x="896112" y="4215384"/>
            <a:ext cx="512064" cy="512064"/>
          </a:xfrm>
          <a:prstGeom prst="ellipse">
            <a:avLst/>
          </a:prstGeom>
          <a:solidFill>
            <a:srgbClr val="7C3AED"/>
          </a:solidFill>
          <a:ln/>
        </p:spPr>
      </p:sp>
      <p:pic>
        <p:nvPicPr>
          <p:cNvPr id="18" name="Image 3" descr="/home/claude/icons/listol_white.png">    </p:cNvPr>
          <p:cNvPicPr>
            <a:picLocks noChangeAspect="1"/>
          </p:cNvPicPr>
          <p:nvPr/>
        </p:nvPicPr>
        <p:blipFill>
          <a:blip r:embed="rId4"/>
          <a:stretch>
            <a:fillRect/>
          </a:stretch>
        </p:blipFill>
        <p:spPr>
          <a:xfrm>
            <a:off x="1024128" y="4343400"/>
            <a:ext cx="256032" cy="256032"/>
          </a:xfrm>
          <a:prstGeom prst="rect">
            <a:avLst/>
          </a:prstGeom>
        </p:spPr>
      </p:pic>
      <p:sp>
        <p:nvSpPr>
          <p:cNvPr id="19" name="Text 13"/>
          <p:cNvSpPr/>
          <p:nvPr/>
        </p:nvSpPr>
        <p:spPr>
          <a:xfrm>
            <a:off x="896112" y="4855464"/>
            <a:ext cx="4850892" cy="292608"/>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백로그</a:t>
            </a:r>
            <a:endParaRPr lang="en-US" sz="1400" dirty="0"/>
          </a:p>
        </p:txBody>
      </p:sp>
      <p:sp>
        <p:nvSpPr>
          <p:cNvPr id="20" name="Text 14"/>
          <p:cNvSpPr/>
          <p:nvPr/>
        </p:nvSpPr>
        <p:spPr>
          <a:xfrm>
            <a:off x="896112" y="5148072"/>
            <a:ext cx="4850892" cy="59436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할 일의 우선순위 목록. 새 요구와 변경은 전부 여기로 들어와 순서를 받습니다 — "변화를 환영"하는 실제 장치입니다.</a:t>
            </a:r>
            <a:endParaRPr lang="en-US" sz="1100" dirty="0"/>
          </a:p>
        </p:txBody>
      </p:sp>
      <p:sp>
        <p:nvSpPr>
          <p:cNvPr id="21" name="Shape 15"/>
          <p:cNvSpPr/>
          <p:nvPr/>
        </p:nvSpPr>
        <p:spPr>
          <a:xfrm>
            <a:off x="6222492" y="3977640"/>
            <a:ext cx="5308092" cy="1874520"/>
          </a:xfrm>
          <a:prstGeom prst="roundRect">
            <a:avLst>
              <a:gd name="adj" fmla="val 4878"/>
            </a:avLst>
          </a:prstGeom>
          <a:solidFill>
            <a:srgbClr val="FFFFFF"/>
          </a:solidFill>
          <a:ln/>
          <a:effectLst>
            <a:outerShdw sx="100000" sy="100000" kx="0" ky="0" algn="bl" rotWithShape="0" blurRad="152400" dist="25400" dir="5400000">
              <a:srgbClr val="1F1D48">
                <a:alpha val="16000"/>
              </a:srgbClr>
            </a:outerShdw>
          </a:effectLst>
        </p:spPr>
      </p:sp>
      <p:sp>
        <p:nvSpPr>
          <p:cNvPr id="22" name="Shape 16"/>
          <p:cNvSpPr/>
          <p:nvPr/>
        </p:nvSpPr>
        <p:spPr>
          <a:xfrm>
            <a:off x="6460236" y="4215384"/>
            <a:ext cx="512064" cy="512064"/>
          </a:xfrm>
          <a:prstGeom prst="ellipse">
            <a:avLst/>
          </a:prstGeom>
          <a:solidFill>
            <a:srgbClr val="10B981"/>
          </a:solidFill>
          <a:ln/>
        </p:spPr>
      </p:sp>
      <p:pic>
        <p:nvPicPr>
          <p:cNvPr id="23" name="Image 4" descr="/home/claude/icons/history_white.png">    </p:cNvPr>
          <p:cNvPicPr>
            <a:picLocks noChangeAspect="1"/>
          </p:cNvPicPr>
          <p:nvPr/>
        </p:nvPicPr>
        <p:blipFill>
          <a:blip r:embed="rId5"/>
          <a:stretch>
            <a:fillRect/>
          </a:stretch>
        </p:blipFill>
        <p:spPr>
          <a:xfrm>
            <a:off x="6588252" y="4343400"/>
            <a:ext cx="256032" cy="256032"/>
          </a:xfrm>
          <a:prstGeom prst="rect">
            <a:avLst/>
          </a:prstGeom>
        </p:spPr>
      </p:pic>
      <p:sp>
        <p:nvSpPr>
          <p:cNvPr id="24" name="Text 17"/>
          <p:cNvSpPr/>
          <p:nvPr/>
        </p:nvSpPr>
        <p:spPr>
          <a:xfrm>
            <a:off x="6460236" y="4855464"/>
            <a:ext cx="4850892" cy="292608"/>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회고</a:t>
            </a:r>
            <a:endParaRPr lang="en-US" sz="1400" dirty="0"/>
          </a:p>
        </p:txBody>
      </p:sp>
      <p:sp>
        <p:nvSpPr>
          <p:cNvPr id="25" name="Text 18"/>
          <p:cNvSpPr/>
          <p:nvPr/>
        </p:nvSpPr>
        <p:spPr>
          <a:xfrm>
            <a:off x="6460236" y="5148072"/>
            <a:ext cx="4850892" cy="59436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스프린트 끝에 결과물이 아니라 '일하는 방식'을 돌아봅니다. 좋았던 것 · 아쉬웠던 것 · 다음에 바꿀 것 하나.</a:t>
            </a:r>
            <a:endParaRPr lang="en-US" sz="1100" dirty="0"/>
          </a:p>
        </p:txBody>
      </p:sp>
      <p:sp>
        <p:nvSpPr>
          <p:cNvPr id="26" name="Text 19"/>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624328" cy="384048"/>
          </a:xfrm>
          <a:prstGeom prst="roundRect">
            <a:avLst>
              <a:gd name="adj" fmla="val 50000"/>
            </a:avLst>
          </a:prstGeom>
          <a:solidFill>
            <a:srgbClr val="EDECFB"/>
          </a:solidFill>
          <a:ln/>
        </p:spPr>
      </p:sp>
      <p:pic>
        <p:nvPicPr>
          <p:cNvPr id="3" name="Image 0" descr="/home/claude/icons/users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240280"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2부 · 애자일 실무 용어</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AI 시대의 개발 주기 — 스프린트가 분 단위로</a:t>
            </a:r>
            <a:endParaRPr lang="en-US" sz="2600" dirty="0"/>
          </a:p>
        </p:txBody>
      </p:sp>
      <p:sp>
        <p:nvSpPr>
          <p:cNvPr id="6" name="Text 3"/>
          <p:cNvSpPr/>
          <p:nvPr/>
        </p:nvSpPr>
        <p:spPr>
          <a:xfrm>
            <a:off x="658368" y="1645920"/>
            <a:ext cx="10872216" cy="685800"/>
          </a:xfrm>
          <a:prstGeom prst="rect">
            <a:avLst/>
          </a:prstGeom>
          <a:noFill/>
          <a:ln/>
        </p:spPr>
        <p:txBody>
          <a:bodyPr wrap="square" lIns="0" tIns="0" rIns="0" bIns="0" rtlCol="0" anchor="t"/>
          <a:lstStyle/>
          <a:p>
            <a:pPr algn="l" indent="0" marL="0">
              <a:lnSpc>
                <a:spcPts val="1900"/>
              </a:lnSpc>
              <a:buNone/>
            </a:pPr>
            <a:r>
              <a:rPr lang="en-US" sz="1250" dirty="0">
                <a:solidFill>
                  <a:srgbClr val="3C3B57"/>
                </a:solidFill>
                <a:latin typeface="Malgun Gothic" pitchFamily="34" charset="0"/>
                <a:ea typeface="Malgun Gothic" pitchFamily="34" charset="-122"/>
                <a:cs typeface="Malgun Gothic" pitchFamily="34" charset="-120"/>
              </a:rPr>
              <a:t>구현이 몇 분으로 줄어들면, 병목은 '만들기'에서 '확인하기'로 이동합니다. 그리고 우리의 하루는 이 초소형 스프린트의 반복이 됩니다 —</a:t>
            </a:r>
            <a:endParaRPr lang="en-US" sz="1250" dirty="0"/>
          </a:p>
        </p:txBody>
      </p:sp>
      <p:sp>
        <p:nvSpPr>
          <p:cNvPr id="7" name="Shape 4"/>
          <p:cNvSpPr/>
          <p:nvPr/>
        </p:nvSpPr>
        <p:spPr>
          <a:xfrm>
            <a:off x="978408" y="2514600"/>
            <a:ext cx="2240280" cy="1371600"/>
          </a:xfrm>
          <a:prstGeom prst="roundRect">
            <a:avLst>
              <a:gd name="adj" fmla="val 6667"/>
            </a:avLst>
          </a:prstGeom>
          <a:solidFill>
            <a:srgbClr val="FFFFFF"/>
          </a:solidFill>
          <a:ln/>
          <a:effectLst>
            <a:outerShdw sx="100000" sy="100000" kx="0" ky="0" algn="bl" rotWithShape="0" blurRad="152400" dist="25400" dir="5400000">
              <a:srgbClr val="1F1D48">
                <a:alpha val="16000"/>
              </a:srgbClr>
            </a:outerShdw>
          </a:effectLst>
        </p:spPr>
      </p:sp>
      <p:sp>
        <p:nvSpPr>
          <p:cNvPr id="8" name="Shape 5"/>
          <p:cNvSpPr/>
          <p:nvPr/>
        </p:nvSpPr>
        <p:spPr>
          <a:xfrm>
            <a:off x="1874520" y="2651760"/>
            <a:ext cx="438912" cy="438912"/>
          </a:xfrm>
          <a:prstGeom prst="ellipse">
            <a:avLst/>
          </a:prstGeom>
          <a:solidFill>
            <a:srgbClr val="4F46E5"/>
          </a:solidFill>
          <a:ln/>
        </p:spPr>
      </p:sp>
      <p:sp>
        <p:nvSpPr>
          <p:cNvPr id="9" name="Text 6"/>
          <p:cNvSpPr/>
          <p:nvPr/>
        </p:nvSpPr>
        <p:spPr>
          <a:xfrm>
            <a:off x="1874520" y="26517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1</a:t>
            </a:r>
            <a:endParaRPr lang="en-US" sz="1500" dirty="0"/>
          </a:p>
        </p:txBody>
      </p:sp>
      <p:sp>
        <p:nvSpPr>
          <p:cNvPr id="10" name="Text 7"/>
          <p:cNvSpPr/>
          <p:nvPr/>
        </p:nvSpPr>
        <p:spPr>
          <a:xfrm>
            <a:off x="1088136" y="3145536"/>
            <a:ext cx="2020824" cy="292608"/>
          </a:xfrm>
          <a:prstGeom prst="rect">
            <a:avLst/>
          </a:prstGeom>
          <a:noFill/>
          <a:ln/>
        </p:spPr>
        <p:txBody>
          <a:bodyPr wrap="square" lIns="0" tIns="0" rIns="0" bIns="0" rtlCol="0" anchor="ctr"/>
          <a:lstStyle/>
          <a:p>
            <a:pPr algn="ctr" indent="0" marL="0">
              <a:buNone/>
            </a:pPr>
            <a:r>
              <a:rPr lang="en-US" sz="1300" b="1" dirty="0">
                <a:solidFill>
                  <a:srgbClr val="1E1B3A"/>
                </a:solidFill>
                <a:latin typeface="Malgun Gothic" pitchFamily="34" charset="0"/>
                <a:ea typeface="Malgun Gothic" pitchFamily="34" charset="-122"/>
                <a:cs typeface="Malgun Gothic" pitchFamily="34" charset="-120"/>
              </a:rPr>
              <a:t>지시</a:t>
            </a:r>
            <a:endParaRPr lang="en-US" sz="1300" dirty="0"/>
          </a:p>
        </p:txBody>
      </p:sp>
      <p:sp>
        <p:nvSpPr>
          <p:cNvPr id="11" name="Text 8"/>
          <p:cNvSpPr/>
          <p:nvPr/>
        </p:nvSpPr>
        <p:spPr>
          <a:xfrm>
            <a:off x="1088136" y="3438144"/>
            <a:ext cx="2020824" cy="411480"/>
          </a:xfrm>
          <a:prstGeom prst="rect">
            <a:avLst/>
          </a:prstGeom>
          <a:noFill/>
          <a:ln/>
        </p:spPr>
        <p:txBody>
          <a:bodyPr wrap="square" lIns="0" tIns="0" rIns="0" bIns="0" rtlCol="0" anchor="t"/>
          <a:lstStyle/>
          <a:p>
            <a:pPr algn="ctr" indent="0" marL="0">
              <a:lnSpc>
                <a:spcPts val="1300"/>
              </a:lnSpc>
              <a:buNone/>
            </a:pPr>
            <a:r>
              <a:rPr lang="en-US" sz="950" dirty="0">
                <a:solidFill>
                  <a:srgbClr val="6B7185"/>
                </a:solidFill>
                <a:latin typeface="Malgun Gothic" pitchFamily="34" charset="0"/>
                <a:ea typeface="Malgun Gothic" pitchFamily="34" charset="-122"/>
                <a:cs typeface="Malgun Gothic" pitchFamily="34" charset="-120"/>
              </a:rPr>
              <a:t>무엇을 만들지</a:t>
            </a:r>
            <a:endParaRPr lang="en-US" sz="950" dirty="0"/>
          </a:p>
          <a:p>
            <a:pPr algn="ctr" indent="0" marL="0">
              <a:lnSpc>
                <a:spcPts val="1300"/>
              </a:lnSpc>
              <a:buNone/>
            </a:pPr>
            <a:r>
              <a:rPr lang="en-US" sz="950" dirty="0">
                <a:solidFill>
                  <a:srgbClr val="6B7185"/>
                </a:solidFill>
                <a:latin typeface="Malgun Gothic" pitchFamily="34" charset="0"/>
                <a:ea typeface="Malgun Gothic" pitchFamily="34" charset="-122"/>
                <a:cs typeface="Malgun Gothic" pitchFamily="34" charset="-120"/>
              </a:rPr>
              <a:t>말로 정확히</a:t>
            </a:r>
            <a:endParaRPr lang="en-US" sz="950" dirty="0"/>
          </a:p>
        </p:txBody>
      </p:sp>
      <p:sp>
        <p:nvSpPr>
          <p:cNvPr id="12" name="Shape 9"/>
          <p:cNvSpPr/>
          <p:nvPr/>
        </p:nvSpPr>
        <p:spPr>
          <a:xfrm>
            <a:off x="3282696" y="3108960"/>
            <a:ext cx="274320" cy="219456"/>
          </a:xfrm>
          <a:prstGeom prst="rightArrow">
            <a:avLst/>
          </a:prstGeom>
          <a:solidFill>
            <a:srgbClr val="38BDF8"/>
          </a:solidFill>
          <a:ln/>
        </p:spPr>
      </p:sp>
      <p:sp>
        <p:nvSpPr>
          <p:cNvPr id="13" name="Shape 10"/>
          <p:cNvSpPr/>
          <p:nvPr/>
        </p:nvSpPr>
        <p:spPr>
          <a:xfrm>
            <a:off x="3675888" y="2514600"/>
            <a:ext cx="2240280" cy="1371600"/>
          </a:xfrm>
          <a:prstGeom prst="roundRect">
            <a:avLst>
              <a:gd name="adj" fmla="val 6667"/>
            </a:avLst>
          </a:prstGeom>
          <a:solidFill>
            <a:srgbClr val="FFFFFF"/>
          </a:solidFill>
          <a:ln/>
          <a:effectLst>
            <a:outerShdw sx="100000" sy="100000" kx="0" ky="0" algn="bl" rotWithShape="0" blurRad="152400" dist="25400" dir="5400000">
              <a:srgbClr val="1F1D48">
                <a:alpha val="16000"/>
              </a:srgbClr>
            </a:outerShdw>
          </a:effectLst>
        </p:spPr>
      </p:sp>
      <p:sp>
        <p:nvSpPr>
          <p:cNvPr id="14" name="Shape 11"/>
          <p:cNvSpPr/>
          <p:nvPr/>
        </p:nvSpPr>
        <p:spPr>
          <a:xfrm>
            <a:off x="4572000" y="2651760"/>
            <a:ext cx="438912" cy="438912"/>
          </a:xfrm>
          <a:prstGeom prst="ellipse">
            <a:avLst/>
          </a:prstGeom>
          <a:solidFill>
            <a:srgbClr val="7C3AED"/>
          </a:solidFill>
          <a:ln/>
        </p:spPr>
      </p:sp>
      <p:sp>
        <p:nvSpPr>
          <p:cNvPr id="15" name="Text 12"/>
          <p:cNvSpPr/>
          <p:nvPr/>
        </p:nvSpPr>
        <p:spPr>
          <a:xfrm>
            <a:off x="4572000" y="26517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2</a:t>
            </a:r>
            <a:endParaRPr lang="en-US" sz="1500" dirty="0"/>
          </a:p>
        </p:txBody>
      </p:sp>
      <p:sp>
        <p:nvSpPr>
          <p:cNvPr id="16" name="Text 13"/>
          <p:cNvSpPr/>
          <p:nvPr/>
        </p:nvSpPr>
        <p:spPr>
          <a:xfrm>
            <a:off x="3785616" y="3145536"/>
            <a:ext cx="2020824" cy="292608"/>
          </a:xfrm>
          <a:prstGeom prst="rect">
            <a:avLst/>
          </a:prstGeom>
          <a:noFill/>
          <a:ln/>
        </p:spPr>
        <p:txBody>
          <a:bodyPr wrap="square" lIns="0" tIns="0" rIns="0" bIns="0" rtlCol="0" anchor="ctr"/>
          <a:lstStyle/>
          <a:p>
            <a:pPr algn="ctr" indent="0" marL="0">
              <a:buNone/>
            </a:pPr>
            <a:r>
              <a:rPr lang="en-US" sz="1300" b="1" dirty="0">
                <a:solidFill>
                  <a:srgbClr val="1E1B3A"/>
                </a:solidFill>
                <a:latin typeface="Malgun Gothic" pitchFamily="34" charset="0"/>
                <a:ea typeface="Malgun Gothic" pitchFamily="34" charset="-122"/>
                <a:cs typeface="Malgun Gothic" pitchFamily="34" charset="-120"/>
              </a:rPr>
              <a:t>생성</a:t>
            </a:r>
            <a:endParaRPr lang="en-US" sz="1300" dirty="0"/>
          </a:p>
        </p:txBody>
      </p:sp>
      <p:sp>
        <p:nvSpPr>
          <p:cNvPr id="17" name="Text 14"/>
          <p:cNvSpPr/>
          <p:nvPr/>
        </p:nvSpPr>
        <p:spPr>
          <a:xfrm>
            <a:off x="3785616" y="3438144"/>
            <a:ext cx="2020824" cy="411480"/>
          </a:xfrm>
          <a:prstGeom prst="rect">
            <a:avLst/>
          </a:prstGeom>
          <a:noFill/>
          <a:ln/>
        </p:spPr>
        <p:txBody>
          <a:bodyPr wrap="square" lIns="0" tIns="0" rIns="0" bIns="0" rtlCol="0" anchor="t"/>
          <a:lstStyle/>
          <a:p>
            <a:pPr algn="ctr" indent="0" marL="0">
              <a:lnSpc>
                <a:spcPts val="1300"/>
              </a:lnSpc>
              <a:buNone/>
            </a:pPr>
            <a:r>
              <a:rPr lang="en-US" sz="950" dirty="0">
                <a:solidFill>
                  <a:srgbClr val="6B7185"/>
                </a:solidFill>
                <a:latin typeface="Malgun Gothic" pitchFamily="34" charset="0"/>
                <a:ea typeface="Malgun Gothic" pitchFamily="34" charset="-122"/>
                <a:cs typeface="Malgun Gothic" pitchFamily="34" charset="-120"/>
              </a:rPr>
              <a:t>AI가 몇 분 안에</a:t>
            </a:r>
            <a:endParaRPr lang="en-US" sz="950" dirty="0"/>
          </a:p>
          <a:p>
            <a:pPr algn="ctr" indent="0" marL="0">
              <a:lnSpc>
                <a:spcPts val="1300"/>
              </a:lnSpc>
              <a:buNone/>
            </a:pPr>
            <a:r>
              <a:rPr lang="en-US" sz="950" dirty="0">
                <a:solidFill>
                  <a:srgbClr val="6B7185"/>
                </a:solidFill>
                <a:latin typeface="Malgun Gothic" pitchFamily="34" charset="0"/>
                <a:ea typeface="Malgun Gothic" pitchFamily="34" charset="-122"/>
                <a:cs typeface="Malgun Gothic" pitchFamily="34" charset="-120"/>
              </a:rPr>
              <a:t>초안을 구현</a:t>
            </a:r>
            <a:endParaRPr lang="en-US" sz="950" dirty="0"/>
          </a:p>
        </p:txBody>
      </p:sp>
      <p:sp>
        <p:nvSpPr>
          <p:cNvPr id="18" name="Shape 15"/>
          <p:cNvSpPr/>
          <p:nvPr/>
        </p:nvSpPr>
        <p:spPr>
          <a:xfrm>
            <a:off x="5980176" y="3108960"/>
            <a:ext cx="274320" cy="219456"/>
          </a:xfrm>
          <a:prstGeom prst="rightArrow">
            <a:avLst/>
          </a:prstGeom>
          <a:solidFill>
            <a:srgbClr val="38BDF8"/>
          </a:solidFill>
          <a:ln/>
        </p:spPr>
      </p:sp>
      <p:sp>
        <p:nvSpPr>
          <p:cNvPr id="19" name="Shape 16"/>
          <p:cNvSpPr/>
          <p:nvPr/>
        </p:nvSpPr>
        <p:spPr>
          <a:xfrm>
            <a:off x="6373368" y="2514600"/>
            <a:ext cx="2240280" cy="1371600"/>
          </a:xfrm>
          <a:prstGeom prst="roundRect">
            <a:avLst>
              <a:gd name="adj" fmla="val 6667"/>
            </a:avLst>
          </a:prstGeom>
          <a:solidFill>
            <a:srgbClr val="FFFFFF"/>
          </a:solidFill>
          <a:ln/>
          <a:effectLst>
            <a:outerShdw sx="100000" sy="100000" kx="0" ky="0" algn="bl" rotWithShape="0" blurRad="152400" dist="25400" dir="5400000">
              <a:srgbClr val="1F1D48">
                <a:alpha val="16000"/>
              </a:srgbClr>
            </a:outerShdw>
          </a:effectLst>
        </p:spPr>
      </p:sp>
      <p:sp>
        <p:nvSpPr>
          <p:cNvPr id="20" name="Shape 17"/>
          <p:cNvSpPr/>
          <p:nvPr/>
        </p:nvSpPr>
        <p:spPr>
          <a:xfrm>
            <a:off x="7269480" y="2651760"/>
            <a:ext cx="438912" cy="438912"/>
          </a:xfrm>
          <a:prstGeom prst="ellipse">
            <a:avLst/>
          </a:prstGeom>
          <a:solidFill>
            <a:srgbClr val="F59E0B"/>
          </a:solidFill>
          <a:ln/>
        </p:spPr>
      </p:sp>
      <p:sp>
        <p:nvSpPr>
          <p:cNvPr id="21" name="Text 18"/>
          <p:cNvSpPr/>
          <p:nvPr/>
        </p:nvSpPr>
        <p:spPr>
          <a:xfrm>
            <a:off x="7269480" y="26517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3</a:t>
            </a:r>
            <a:endParaRPr lang="en-US" sz="1500" dirty="0"/>
          </a:p>
        </p:txBody>
      </p:sp>
      <p:sp>
        <p:nvSpPr>
          <p:cNvPr id="22" name="Text 19"/>
          <p:cNvSpPr/>
          <p:nvPr/>
        </p:nvSpPr>
        <p:spPr>
          <a:xfrm>
            <a:off x="6483096" y="3145536"/>
            <a:ext cx="2020824" cy="292608"/>
          </a:xfrm>
          <a:prstGeom prst="rect">
            <a:avLst/>
          </a:prstGeom>
          <a:noFill/>
          <a:ln/>
        </p:spPr>
        <p:txBody>
          <a:bodyPr wrap="square" lIns="0" tIns="0" rIns="0" bIns="0" rtlCol="0" anchor="ctr"/>
          <a:lstStyle/>
          <a:p>
            <a:pPr algn="ctr" indent="0" marL="0">
              <a:buNone/>
            </a:pPr>
            <a:r>
              <a:rPr lang="en-US" sz="1300" b="1" dirty="0">
                <a:solidFill>
                  <a:srgbClr val="1E1B3A"/>
                </a:solidFill>
                <a:latin typeface="Malgun Gothic" pitchFamily="34" charset="0"/>
                <a:ea typeface="Malgun Gothic" pitchFamily="34" charset="-122"/>
                <a:cs typeface="Malgun Gothic" pitchFamily="34" charset="-120"/>
              </a:rPr>
              <a:t>확인</a:t>
            </a:r>
            <a:endParaRPr lang="en-US" sz="1300" dirty="0"/>
          </a:p>
        </p:txBody>
      </p:sp>
      <p:sp>
        <p:nvSpPr>
          <p:cNvPr id="23" name="Text 20"/>
          <p:cNvSpPr/>
          <p:nvPr/>
        </p:nvSpPr>
        <p:spPr>
          <a:xfrm>
            <a:off x="6483096" y="3438144"/>
            <a:ext cx="2020824" cy="411480"/>
          </a:xfrm>
          <a:prstGeom prst="rect">
            <a:avLst/>
          </a:prstGeom>
          <a:noFill/>
          <a:ln/>
        </p:spPr>
        <p:txBody>
          <a:bodyPr wrap="square" lIns="0" tIns="0" rIns="0" bIns="0" rtlCol="0" anchor="t"/>
          <a:lstStyle/>
          <a:p>
            <a:pPr algn="ctr" indent="0" marL="0">
              <a:lnSpc>
                <a:spcPts val="1300"/>
              </a:lnSpc>
              <a:buNone/>
            </a:pPr>
            <a:r>
              <a:rPr lang="en-US" sz="950" dirty="0">
                <a:solidFill>
                  <a:srgbClr val="6B7185"/>
                </a:solidFill>
                <a:latin typeface="Malgun Gothic" pitchFamily="34" charset="0"/>
                <a:ea typeface="Malgun Gothic" pitchFamily="34" charset="-122"/>
                <a:cs typeface="Malgun Gothic" pitchFamily="34" charset="-120"/>
              </a:rPr>
              <a:t>실행 · 코드 읽기</a:t>
            </a:r>
            <a:endParaRPr lang="en-US" sz="950" dirty="0"/>
          </a:p>
          <a:p>
            <a:pPr algn="ctr" indent="0" marL="0">
              <a:lnSpc>
                <a:spcPts val="1300"/>
              </a:lnSpc>
              <a:buNone/>
            </a:pPr>
            <a:r>
              <a:rPr lang="en-US" sz="950" dirty="0">
                <a:solidFill>
                  <a:srgbClr val="6B7185"/>
                </a:solidFill>
                <a:latin typeface="Malgun Gothic" pitchFamily="34" charset="0"/>
                <a:ea typeface="Malgun Gothic" pitchFamily="34" charset="-122"/>
                <a:cs typeface="Malgun Gothic" pitchFamily="34" charset="-120"/>
              </a:rPr>
              <a:t>기준과 비교</a:t>
            </a:r>
            <a:endParaRPr lang="en-US" sz="950" dirty="0"/>
          </a:p>
        </p:txBody>
      </p:sp>
      <p:sp>
        <p:nvSpPr>
          <p:cNvPr id="24" name="Shape 21"/>
          <p:cNvSpPr/>
          <p:nvPr/>
        </p:nvSpPr>
        <p:spPr>
          <a:xfrm>
            <a:off x="8677656" y="3108960"/>
            <a:ext cx="274320" cy="219456"/>
          </a:xfrm>
          <a:prstGeom prst="rightArrow">
            <a:avLst/>
          </a:prstGeom>
          <a:solidFill>
            <a:srgbClr val="38BDF8"/>
          </a:solidFill>
          <a:ln/>
        </p:spPr>
      </p:sp>
      <p:sp>
        <p:nvSpPr>
          <p:cNvPr id="25" name="Shape 22"/>
          <p:cNvSpPr/>
          <p:nvPr/>
        </p:nvSpPr>
        <p:spPr>
          <a:xfrm>
            <a:off x="9070848" y="2514600"/>
            <a:ext cx="2240280" cy="1371600"/>
          </a:xfrm>
          <a:prstGeom prst="roundRect">
            <a:avLst>
              <a:gd name="adj" fmla="val 6667"/>
            </a:avLst>
          </a:prstGeom>
          <a:solidFill>
            <a:srgbClr val="FFFFFF"/>
          </a:solidFill>
          <a:ln/>
          <a:effectLst>
            <a:outerShdw sx="100000" sy="100000" kx="0" ky="0" algn="bl" rotWithShape="0" blurRad="152400" dist="25400" dir="5400000">
              <a:srgbClr val="1F1D48">
                <a:alpha val="16000"/>
              </a:srgbClr>
            </a:outerShdw>
          </a:effectLst>
        </p:spPr>
      </p:sp>
      <p:sp>
        <p:nvSpPr>
          <p:cNvPr id="26" name="Shape 23"/>
          <p:cNvSpPr/>
          <p:nvPr/>
        </p:nvSpPr>
        <p:spPr>
          <a:xfrm>
            <a:off x="9966960" y="2651760"/>
            <a:ext cx="438912" cy="438912"/>
          </a:xfrm>
          <a:prstGeom prst="ellipse">
            <a:avLst/>
          </a:prstGeom>
          <a:solidFill>
            <a:srgbClr val="10B981"/>
          </a:solidFill>
          <a:ln/>
        </p:spPr>
      </p:sp>
      <p:sp>
        <p:nvSpPr>
          <p:cNvPr id="27" name="Text 24"/>
          <p:cNvSpPr/>
          <p:nvPr/>
        </p:nvSpPr>
        <p:spPr>
          <a:xfrm>
            <a:off x="9966960" y="26517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4</a:t>
            </a:r>
            <a:endParaRPr lang="en-US" sz="1500" dirty="0"/>
          </a:p>
        </p:txBody>
      </p:sp>
      <p:sp>
        <p:nvSpPr>
          <p:cNvPr id="28" name="Text 25"/>
          <p:cNvSpPr/>
          <p:nvPr/>
        </p:nvSpPr>
        <p:spPr>
          <a:xfrm>
            <a:off x="9180576" y="3145536"/>
            <a:ext cx="2020824" cy="292608"/>
          </a:xfrm>
          <a:prstGeom prst="rect">
            <a:avLst/>
          </a:prstGeom>
          <a:noFill/>
          <a:ln/>
        </p:spPr>
        <p:txBody>
          <a:bodyPr wrap="square" lIns="0" tIns="0" rIns="0" bIns="0" rtlCol="0" anchor="ctr"/>
          <a:lstStyle/>
          <a:p>
            <a:pPr algn="ctr" indent="0" marL="0">
              <a:buNone/>
            </a:pPr>
            <a:r>
              <a:rPr lang="en-US" sz="1300" b="1" dirty="0">
                <a:solidFill>
                  <a:srgbClr val="1E1B3A"/>
                </a:solidFill>
                <a:latin typeface="Malgun Gothic" pitchFamily="34" charset="0"/>
                <a:ea typeface="Malgun Gothic" pitchFamily="34" charset="-122"/>
                <a:cs typeface="Malgun Gothic" pitchFamily="34" charset="-120"/>
              </a:rPr>
              <a:t>수정 지시</a:t>
            </a:r>
            <a:endParaRPr lang="en-US" sz="1300" dirty="0"/>
          </a:p>
        </p:txBody>
      </p:sp>
      <p:sp>
        <p:nvSpPr>
          <p:cNvPr id="29" name="Text 26"/>
          <p:cNvSpPr/>
          <p:nvPr/>
        </p:nvSpPr>
        <p:spPr>
          <a:xfrm>
            <a:off x="9180576" y="3438144"/>
            <a:ext cx="2020824" cy="411480"/>
          </a:xfrm>
          <a:prstGeom prst="rect">
            <a:avLst/>
          </a:prstGeom>
          <a:noFill/>
          <a:ln/>
        </p:spPr>
        <p:txBody>
          <a:bodyPr wrap="square" lIns="0" tIns="0" rIns="0" bIns="0" rtlCol="0" anchor="t"/>
          <a:lstStyle/>
          <a:p>
            <a:pPr algn="ctr" indent="0" marL="0">
              <a:lnSpc>
                <a:spcPts val="1300"/>
              </a:lnSpc>
              <a:buNone/>
            </a:pPr>
            <a:r>
              <a:rPr lang="en-US" sz="950" dirty="0">
                <a:solidFill>
                  <a:srgbClr val="6B7185"/>
                </a:solidFill>
                <a:latin typeface="Malgun Gothic" pitchFamily="34" charset="0"/>
                <a:ea typeface="Malgun Gothic" pitchFamily="34" charset="-122"/>
                <a:cs typeface="Malgun Gothic" pitchFamily="34" charset="-120"/>
              </a:rPr>
              <a:t>차이를 말로</a:t>
            </a:r>
            <a:endParaRPr lang="en-US" sz="950" dirty="0"/>
          </a:p>
          <a:p>
            <a:pPr algn="ctr" indent="0" marL="0">
              <a:lnSpc>
                <a:spcPts val="1300"/>
              </a:lnSpc>
              <a:buNone/>
            </a:pPr>
            <a:r>
              <a:rPr lang="en-US" sz="950" dirty="0">
                <a:solidFill>
                  <a:srgbClr val="6B7185"/>
                </a:solidFill>
                <a:latin typeface="Malgun Gothic" pitchFamily="34" charset="0"/>
                <a:ea typeface="Malgun Gothic" pitchFamily="34" charset="-122"/>
                <a:cs typeface="Malgun Gothic" pitchFamily="34" charset="-120"/>
              </a:rPr>
              <a:t>다시 요청</a:t>
            </a:r>
            <a:endParaRPr lang="en-US" sz="950" dirty="0"/>
          </a:p>
        </p:txBody>
      </p:sp>
      <p:sp>
        <p:nvSpPr>
          <p:cNvPr id="30" name="Shape 27"/>
          <p:cNvSpPr/>
          <p:nvPr/>
        </p:nvSpPr>
        <p:spPr>
          <a:xfrm>
            <a:off x="2075688" y="4160520"/>
            <a:ext cx="8046720" cy="237744"/>
          </a:xfrm>
          <a:prstGeom prst="leftArrow">
            <a:avLst/>
          </a:prstGeom>
          <a:solidFill>
            <a:srgbClr val="E7E6FB"/>
          </a:solidFill>
          <a:ln/>
        </p:spPr>
      </p:sp>
      <p:sp>
        <p:nvSpPr>
          <p:cNvPr id="31" name="Text 28"/>
          <p:cNvSpPr/>
          <p:nvPr/>
        </p:nvSpPr>
        <p:spPr>
          <a:xfrm>
            <a:off x="2075688" y="4462272"/>
            <a:ext cx="8046720" cy="274320"/>
          </a:xfrm>
          <a:prstGeom prst="rect">
            <a:avLst/>
          </a:prstGeom>
          <a:noFill/>
          <a:ln/>
        </p:spPr>
        <p:txBody>
          <a:bodyPr wrap="square" lIns="0" tIns="0" rIns="0" bIns="0" rtlCol="0" anchor="ctr"/>
          <a:lstStyle/>
          <a:p>
            <a:pPr algn="ctr" indent="0" marL="0">
              <a:buNone/>
            </a:pPr>
            <a:r>
              <a:rPr lang="en-US" sz="1050" dirty="0">
                <a:solidFill>
                  <a:srgbClr val="6B7185"/>
                </a:solidFill>
                <a:latin typeface="Malgun Gothic" pitchFamily="34" charset="0"/>
                <a:ea typeface="Malgun Gothic" pitchFamily="34" charset="-122"/>
                <a:cs typeface="Malgun Gothic" pitchFamily="34" charset="-120"/>
              </a:rPr>
              <a:t>통과 기준을 만족할 때까지 — 수 분 단위로 반복</a:t>
            </a:r>
            <a:endParaRPr lang="en-US" sz="1050" dirty="0"/>
          </a:p>
        </p:txBody>
      </p:sp>
      <p:sp>
        <p:nvSpPr>
          <p:cNvPr id="32" name="Shape 29"/>
          <p:cNvSpPr/>
          <p:nvPr/>
        </p:nvSpPr>
        <p:spPr>
          <a:xfrm>
            <a:off x="658368" y="5074920"/>
            <a:ext cx="10872216" cy="868680"/>
          </a:xfrm>
          <a:prstGeom prst="roundRect">
            <a:avLst>
              <a:gd name="adj" fmla="val 10526"/>
            </a:avLst>
          </a:prstGeom>
          <a:solidFill>
            <a:srgbClr val="EEF0FF"/>
          </a:solidFill>
          <a:ln/>
        </p:spPr>
      </p:sp>
      <p:sp>
        <p:nvSpPr>
          <p:cNvPr id="33" name="Shape 30"/>
          <p:cNvSpPr/>
          <p:nvPr/>
        </p:nvSpPr>
        <p:spPr>
          <a:xfrm>
            <a:off x="877824" y="5271516"/>
            <a:ext cx="475488" cy="475488"/>
          </a:xfrm>
          <a:prstGeom prst="ellipse">
            <a:avLst/>
          </a:prstGeom>
          <a:solidFill>
            <a:srgbClr val="14B8A6"/>
          </a:solidFill>
          <a:ln/>
        </p:spPr>
      </p:sp>
      <p:pic>
        <p:nvPicPr>
          <p:cNvPr id="34" name="Image 1" descr="/home/claude/icons/bolt_white.png">    </p:cNvPr>
          <p:cNvPicPr>
            <a:picLocks noChangeAspect="1"/>
          </p:cNvPicPr>
          <p:nvPr/>
        </p:nvPicPr>
        <p:blipFill>
          <a:blip r:embed="rId2"/>
          <a:stretch>
            <a:fillRect/>
          </a:stretch>
        </p:blipFill>
        <p:spPr>
          <a:xfrm>
            <a:off x="996696" y="5390388"/>
            <a:ext cx="237744" cy="237744"/>
          </a:xfrm>
          <a:prstGeom prst="rect">
            <a:avLst/>
          </a:prstGeom>
        </p:spPr>
      </p:pic>
      <p:sp>
        <p:nvSpPr>
          <p:cNvPr id="35" name="Text 31"/>
          <p:cNvSpPr/>
          <p:nvPr/>
        </p:nvSpPr>
        <p:spPr>
          <a:xfrm>
            <a:off x="1554480" y="5166360"/>
            <a:ext cx="9738360" cy="685800"/>
          </a:xfrm>
          <a:prstGeom prst="rect">
            <a:avLst/>
          </a:prstGeom>
          <a:noFill/>
          <a:ln/>
        </p:spPr>
        <p:txBody>
          <a:bodyPr wrap="square" lIns="0" tIns="0" rIns="0" bIns="0" rtlCol="0" anchor="ctr"/>
          <a:lstStyle/>
          <a:p>
            <a:pPr indent="0" marL="0">
              <a:lnSpc>
                <a:spcPts val="1633"/>
              </a:lnSpc>
              <a:buNone/>
            </a:pPr>
            <a:r>
              <a:rPr lang="en-US" sz="1300" b="1" dirty="0">
                <a:solidFill>
                  <a:srgbClr val="1E1B3A"/>
                </a:solidFill>
                <a:latin typeface="Malgun Gothic" pitchFamily="34" charset="0"/>
                <a:ea typeface="Malgun Gothic" pitchFamily="34" charset="-122"/>
                <a:cs typeface="Malgun Gothic" pitchFamily="34" charset="-120"/>
              </a:rPr>
              <a:t>그래서 프로세스는 덜이 아니라 '더' 중요해집니다
</a:t>
            </a:r>
            <a:pPr indent="0" marL="0">
              <a:lnSpc>
                <a:spcPts val="1633"/>
              </a:lnSpc>
              <a:buNone/>
            </a:pPr>
            <a:r>
              <a:rPr lang="en-US" sz="1150" dirty="0">
                <a:solidFill>
                  <a:srgbClr val="3C3B57"/>
                </a:solidFill>
                <a:latin typeface="Malgun Gothic" pitchFamily="34" charset="0"/>
                <a:ea typeface="Malgun Gothic" pitchFamily="34" charset="-122"/>
                <a:cs typeface="Malgun Gothic" pitchFamily="34" charset="-120"/>
              </a:rPr>
              <a:t>바퀴가 빨라질수록 방향(요구·기준)이 틀리면 더 빨리 엉뚱한 곳에 도착합니다 — 오늘 실습에서 이 바퀴를 처음으로 한 바퀴 돌려 봅니다.</a:t>
            </a:r>
            <a:endParaRPr lang="en-US" sz="1300" dirty="0"/>
          </a:p>
        </p:txBody>
      </p:sp>
      <p:sp>
        <p:nvSpPr>
          <p:cNvPr id="36" name="Text 32"/>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7163A"/>
        </a:solidFill>
      </p:bgPr>
    </p:bg>
    <p:spTree>
      <p:nvGrpSpPr>
        <p:cNvPr id="1" name=""/>
        <p:cNvGrpSpPr/>
        <p:nvPr/>
      </p:nvGrpSpPr>
      <p:grpSpPr>
        <a:xfrm>
          <a:off x="0" y="0"/>
          <a:ext cx="0" cy="0"/>
          <a:chOff x="0" y="0"/>
          <a:chExt cx="0" cy="0"/>
        </a:xfrm>
      </p:grpSpPr>
      <p:sp>
        <p:nvSpPr>
          <p:cNvPr id="2" name="Shape 0"/>
          <p:cNvSpPr/>
          <p:nvPr/>
        </p:nvSpPr>
        <p:spPr>
          <a:xfrm>
            <a:off x="8503920" y="-2103120"/>
            <a:ext cx="6035040" cy="6035040"/>
          </a:xfrm>
          <a:prstGeom prst="ellipse">
            <a:avLst/>
          </a:prstGeom>
          <a:solidFill>
            <a:srgbClr val="201E4C"/>
          </a:solidFill>
          <a:ln/>
        </p:spPr>
      </p:sp>
      <p:sp>
        <p:nvSpPr>
          <p:cNvPr id="3" name="Shape 1"/>
          <p:cNvSpPr/>
          <p:nvPr/>
        </p:nvSpPr>
        <p:spPr>
          <a:xfrm>
            <a:off x="-1737360" y="4480560"/>
            <a:ext cx="4297680" cy="4297680"/>
          </a:xfrm>
          <a:prstGeom prst="ellipse">
            <a:avLst/>
          </a:prstGeom>
          <a:solidFill>
            <a:srgbClr val="2A2860"/>
          </a:solidFill>
          <a:ln/>
        </p:spPr>
      </p:sp>
      <p:sp>
        <p:nvSpPr>
          <p:cNvPr id="4" name="Text 2"/>
          <p:cNvSpPr/>
          <p:nvPr/>
        </p:nvSpPr>
        <p:spPr>
          <a:xfrm>
            <a:off x="7863840" y="320040"/>
            <a:ext cx="3840480" cy="2103120"/>
          </a:xfrm>
          <a:prstGeom prst="rect">
            <a:avLst/>
          </a:prstGeom>
          <a:noFill/>
          <a:ln/>
        </p:spPr>
        <p:txBody>
          <a:bodyPr wrap="square" lIns="0" tIns="0" rIns="0" bIns="0" rtlCol="0" anchor="ctr"/>
          <a:lstStyle/>
          <a:p>
            <a:pPr algn="r" indent="0" marL="0">
              <a:buNone/>
            </a:pPr>
            <a:r>
              <a:rPr lang="en-US" sz="12000" b="1" dirty="0">
                <a:solidFill>
                  <a:srgbClr val="343070"/>
                </a:solidFill>
                <a:latin typeface="Malgun Gothic" pitchFamily="34" charset="0"/>
                <a:ea typeface="Malgun Gothic" pitchFamily="34" charset="-122"/>
                <a:cs typeface="Malgun Gothic" pitchFamily="34" charset="-120"/>
              </a:rPr>
              <a:t>03</a:t>
            </a:r>
            <a:endParaRPr lang="en-US" sz="12000" dirty="0"/>
          </a:p>
        </p:txBody>
      </p:sp>
      <p:sp>
        <p:nvSpPr>
          <p:cNvPr id="5" name="Shape 3"/>
          <p:cNvSpPr/>
          <p:nvPr/>
        </p:nvSpPr>
        <p:spPr>
          <a:xfrm>
            <a:off x="658368" y="2103120"/>
            <a:ext cx="1691640" cy="457200"/>
          </a:xfrm>
          <a:prstGeom prst="roundRect">
            <a:avLst>
              <a:gd name="adj" fmla="val 50000"/>
            </a:avLst>
          </a:prstGeom>
          <a:solidFill>
            <a:srgbClr val="14B8A6"/>
          </a:solidFill>
          <a:ln/>
        </p:spPr>
      </p:sp>
      <p:sp>
        <p:nvSpPr>
          <p:cNvPr id="6" name="Text 4"/>
          <p:cNvSpPr/>
          <p:nvPr/>
        </p:nvSpPr>
        <p:spPr>
          <a:xfrm>
            <a:off x="658368" y="2103120"/>
            <a:ext cx="1691640" cy="457200"/>
          </a:xfrm>
          <a:prstGeom prst="rect">
            <a:avLst/>
          </a:prstGeom>
          <a:noFill/>
          <a:ln/>
        </p:spPr>
        <p:txBody>
          <a:bodyPr wrap="square" lIns="0" tIns="0" rIns="0" bIns="0" rtlCol="0" anchor="ctr"/>
          <a:lstStyle/>
          <a:p>
            <a:pPr algn="ctr" indent="0" marL="0">
              <a:buNone/>
            </a:pPr>
            <a:r>
              <a:rPr lang="en-US" sz="1250" b="1" spc="200" kern="0" dirty="0">
                <a:solidFill>
                  <a:srgbClr val="FFFFFF"/>
                </a:solidFill>
                <a:latin typeface="Malgun Gothic" pitchFamily="34" charset="0"/>
                <a:ea typeface="Malgun Gothic" pitchFamily="34" charset="-122"/>
                <a:cs typeface="Malgun Gothic" pitchFamily="34" charset="-120"/>
              </a:rPr>
              <a:t>PART 3</a:t>
            </a:r>
            <a:endParaRPr lang="en-US" sz="1250" dirty="0"/>
          </a:p>
        </p:txBody>
      </p:sp>
      <p:sp>
        <p:nvSpPr>
          <p:cNvPr id="7" name="Text 5"/>
          <p:cNvSpPr/>
          <p:nvPr/>
        </p:nvSpPr>
        <p:spPr>
          <a:xfrm>
            <a:off x="658368" y="2743200"/>
            <a:ext cx="8961120" cy="1005840"/>
          </a:xfrm>
          <a:prstGeom prst="rect">
            <a:avLst/>
          </a:prstGeom>
          <a:noFill/>
          <a:ln/>
        </p:spPr>
        <p:txBody>
          <a:bodyPr wrap="square" lIns="0" tIns="0" rIns="0" bIns="0" rtlCol="0" anchor="t"/>
          <a:lstStyle/>
          <a:p>
            <a:pPr indent="0" marL="0">
              <a:lnSpc>
                <a:spcPts val="5000"/>
              </a:lnSpc>
              <a:buNone/>
            </a:pPr>
            <a:r>
              <a:rPr lang="en-US" sz="3800" b="1" dirty="0">
                <a:solidFill>
                  <a:srgbClr val="FFFFFF"/>
                </a:solidFill>
                <a:latin typeface="Malgun Gothic" pitchFamily="34" charset="0"/>
                <a:ea typeface="Malgun Gothic" pitchFamily="34" charset="-122"/>
                <a:cs typeface="Malgun Gothic" pitchFamily="34" charset="-120"/>
              </a:rPr>
              <a:t>AI 도구 환경 구축</a:t>
            </a:r>
            <a:endParaRPr lang="en-US" sz="3800" dirty="0"/>
          </a:p>
        </p:txBody>
      </p:sp>
      <p:sp>
        <p:nvSpPr>
          <p:cNvPr id="8" name="Text 6"/>
          <p:cNvSpPr/>
          <p:nvPr/>
        </p:nvSpPr>
        <p:spPr>
          <a:xfrm>
            <a:off x="658368" y="3913632"/>
            <a:ext cx="9052560" cy="868680"/>
          </a:xfrm>
          <a:prstGeom prst="rect">
            <a:avLst/>
          </a:prstGeom>
          <a:noFill/>
          <a:ln/>
        </p:spPr>
        <p:txBody>
          <a:bodyPr wrap="square" lIns="0" tIns="0" rIns="0" bIns="0" rtlCol="0" anchor="t"/>
          <a:lstStyle/>
          <a:p>
            <a:pPr indent="0" marL="0">
              <a:lnSpc>
                <a:spcPts val="2200"/>
              </a:lnSpc>
              <a:buNone/>
            </a:pPr>
            <a:r>
              <a:rPr lang="en-US" sz="1400" dirty="0">
                <a:solidFill>
                  <a:srgbClr val="E7E6FB"/>
                </a:solidFill>
                <a:latin typeface="Malgun Gothic" pitchFamily="34" charset="0"/>
                <a:ea typeface="Malgun Gothic" pitchFamily="34" charset="-122"/>
                <a:cs typeface="Malgun Gothic" pitchFamily="34" charset="-120"/>
              </a:rPr>
              <a:t>내 VS Code에 Gemini를 연결하고, 첫 지시를 내립니다 — 키 발급부터 결과 확인까지.</a:t>
            </a:r>
            <a:endParaRPr lang="en-US" sz="1400" dirty="0"/>
          </a:p>
        </p:txBody>
      </p:sp>
      <p:sp>
        <p:nvSpPr>
          <p:cNvPr id="9" name="Shape 7"/>
          <p:cNvSpPr/>
          <p:nvPr/>
        </p:nvSpPr>
        <p:spPr>
          <a:xfrm>
            <a:off x="9738360" y="4343400"/>
            <a:ext cx="1325880" cy="1325880"/>
          </a:xfrm>
          <a:prstGeom prst="ellipse">
            <a:avLst/>
          </a:prstGeom>
          <a:solidFill>
            <a:srgbClr val="14B8A6"/>
          </a:solidFill>
          <a:ln/>
        </p:spPr>
      </p:sp>
      <p:pic>
        <p:nvPicPr>
          <p:cNvPr id="10" name="Image 0" descr="/home/claude/icons/bolt_white.png">    </p:cNvPr>
          <p:cNvPicPr>
            <a:picLocks noChangeAspect="1"/>
          </p:cNvPicPr>
          <p:nvPr/>
        </p:nvPicPr>
        <p:blipFill>
          <a:blip r:embed="rId1"/>
          <a:stretch>
            <a:fillRect/>
          </a:stretch>
        </p:blipFill>
        <p:spPr>
          <a:xfrm>
            <a:off x="10069830" y="4674870"/>
            <a:ext cx="662940" cy="662940"/>
          </a:xfrm>
          <a:prstGeom prst="rect">
            <a:avLst/>
          </a:prstGeom>
        </p:spPr>
      </p:pic>
      <p:sp>
        <p:nvSpPr>
          <p:cNvPr id="11" name="Text 8"/>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8A88C4"/>
                </a:solidFill>
                <a:latin typeface="Malgun Gothic" pitchFamily="34" charset="0"/>
                <a:ea typeface="Malgun Gothic" pitchFamily="34" charset="-122"/>
                <a:cs typeface="Malgun Gothic" pitchFamily="34" charset="-120"/>
              </a:rPr>
              <a:t>15</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907792" cy="384048"/>
          </a:xfrm>
          <a:prstGeom prst="roundRect">
            <a:avLst>
              <a:gd name="adj" fmla="val 50000"/>
            </a:avLst>
          </a:prstGeom>
          <a:solidFill>
            <a:srgbClr val="EDECFB"/>
          </a:solidFill>
          <a:ln/>
        </p:spPr>
      </p:sp>
      <p:pic>
        <p:nvPicPr>
          <p:cNvPr id="3" name="Image 0" descr="/home/claude/icons/bolt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523744"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3부 · AI 도구 환경 구축</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오늘 만들 환경 — 연결 구조 먼저</a:t>
            </a:r>
            <a:endParaRPr lang="en-US" sz="2600" dirty="0"/>
          </a:p>
        </p:txBody>
      </p:sp>
      <p:sp>
        <p:nvSpPr>
          <p:cNvPr id="6" name="Shape 3"/>
          <p:cNvSpPr/>
          <p:nvPr/>
        </p:nvSpPr>
        <p:spPr>
          <a:xfrm>
            <a:off x="658368" y="2148840"/>
            <a:ext cx="2377440" cy="1691640"/>
          </a:xfrm>
          <a:prstGeom prst="roundRect">
            <a:avLst>
              <a:gd name="adj" fmla="val 5405"/>
            </a:avLst>
          </a:prstGeom>
          <a:solidFill>
            <a:srgbClr val="FFFFFF"/>
          </a:solidFill>
          <a:ln/>
          <a:effectLst>
            <a:outerShdw sx="100000" sy="100000" kx="0" ky="0" algn="bl" rotWithShape="0" blurRad="152400" dist="25400" dir="5400000">
              <a:srgbClr val="1F1D48">
                <a:alpha val="16000"/>
              </a:srgbClr>
            </a:outerShdw>
          </a:effectLst>
        </p:spPr>
      </p:sp>
      <p:sp>
        <p:nvSpPr>
          <p:cNvPr id="7" name="Shape 4"/>
          <p:cNvSpPr/>
          <p:nvPr/>
        </p:nvSpPr>
        <p:spPr>
          <a:xfrm>
            <a:off x="1591056" y="2331720"/>
            <a:ext cx="512064" cy="512064"/>
          </a:xfrm>
          <a:prstGeom prst="ellipse">
            <a:avLst/>
          </a:prstGeom>
          <a:solidFill>
            <a:srgbClr val="4F46E5"/>
          </a:solidFill>
          <a:ln/>
        </p:spPr>
      </p:sp>
      <p:pic>
        <p:nvPicPr>
          <p:cNvPr id="8" name="Image 1" descr="/home/claude/icons/robot_white.png">    </p:cNvPr>
          <p:cNvPicPr>
            <a:picLocks noChangeAspect="1"/>
          </p:cNvPicPr>
          <p:nvPr/>
        </p:nvPicPr>
        <p:blipFill>
          <a:blip r:embed="rId2"/>
          <a:stretch>
            <a:fillRect/>
          </a:stretch>
        </p:blipFill>
        <p:spPr>
          <a:xfrm>
            <a:off x="1719072" y="2459736"/>
            <a:ext cx="256032" cy="256032"/>
          </a:xfrm>
          <a:prstGeom prst="rect">
            <a:avLst/>
          </a:prstGeom>
        </p:spPr>
      </p:pic>
      <p:sp>
        <p:nvSpPr>
          <p:cNvPr id="9" name="Text 5"/>
          <p:cNvSpPr/>
          <p:nvPr/>
        </p:nvSpPr>
        <p:spPr>
          <a:xfrm>
            <a:off x="749808" y="2944368"/>
            <a:ext cx="2194560" cy="292608"/>
          </a:xfrm>
          <a:prstGeom prst="rect">
            <a:avLst/>
          </a:prstGeom>
          <a:noFill/>
          <a:ln/>
        </p:spPr>
        <p:txBody>
          <a:bodyPr wrap="square" lIns="0" tIns="0" rIns="0" bIns="0" rtlCol="0" anchor="ctr"/>
          <a:lstStyle/>
          <a:p>
            <a:pPr algn="ctr" indent="0" marL="0">
              <a:buNone/>
            </a:pPr>
            <a:r>
              <a:rPr lang="en-US" sz="1250" b="1" dirty="0">
                <a:solidFill>
                  <a:srgbClr val="1E1B3A"/>
                </a:solidFill>
                <a:latin typeface="Malgun Gothic" pitchFamily="34" charset="0"/>
                <a:ea typeface="Malgun Gothic" pitchFamily="34" charset="-122"/>
                <a:cs typeface="Malgun Gothic" pitchFamily="34" charset="-120"/>
              </a:rPr>
              <a:t>Google AI Studio</a:t>
            </a:r>
            <a:endParaRPr lang="en-US" sz="1250" dirty="0"/>
          </a:p>
        </p:txBody>
      </p:sp>
      <p:sp>
        <p:nvSpPr>
          <p:cNvPr id="10" name="Text 6"/>
          <p:cNvSpPr/>
          <p:nvPr/>
        </p:nvSpPr>
        <p:spPr>
          <a:xfrm>
            <a:off x="749808" y="3255264"/>
            <a:ext cx="2194560" cy="512064"/>
          </a:xfrm>
          <a:prstGeom prst="rect">
            <a:avLst/>
          </a:prstGeom>
          <a:noFill/>
          <a:ln/>
        </p:spPr>
        <p:txBody>
          <a:bodyPr wrap="square" lIns="0" tIns="0" rIns="0" bIns="0" rtlCol="0" anchor="t"/>
          <a:lstStyle/>
          <a:p>
            <a:pPr algn="ctr" indent="0" marL="0">
              <a:lnSpc>
                <a:spcPts val="1350"/>
              </a:lnSpc>
              <a:buNone/>
            </a:pPr>
            <a:r>
              <a:rPr lang="en-US" sz="950" dirty="0">
                <a:solidFill>
                  <a:srgbClr val="6B7185"/>
                </a:solidFill>
                <a:latin typeface="Malgun Gothic" pitchFamily="34" charset="0"/>
                <a:ea typeface="Malgun Gothic" pitchFamily="34" charset="-122"/>
                <a:cs typeface="Malgun Gothic" pitchFamily="34" charset="-120"/>
              </a:rPr>
              <a:t>키를 발급하는 곳</a:t>
            </a:r>
            <a:endParaRPr lang="en-US" sz="950" dirty="0"/>
          </a:p>
          <a:p>
            <a:pPr algn="ctr" indent="0" marL="0">
              <a:lnSpc>
                <a:spcPts val="1350"/>
              </a:lnSpc>
              <a:buNone/>
            </a:pPr>
            <a:r>
              <a:rPr lang="en-US" sz="950" dirty="0">
                <a:solidFill>
                  <a:srgbClr val="6B7185"/>
                </a:solidFill>
                <a:latin typeface="Malgun Gothic" pitchFamily="34" charset="0"/>
                <a:ea typeface="Malgun Gothic" pitchFamily="34" charset="-122"/>
                <a:cs typeface="Malgun Gothic" pitchFamily="34" charset="-120"/>
              </a:rPr>
              <a:t>aistudio.google.com</a:t>
            </a:r>
            <a:endParaRPr lang="en-US" sz="950" dirty="0"/>
          </a:p>
        </p:txBody>
      </p:sp>
      <p:sp>
        <p:nvSpPr>
          <p:cNvPr id="11" name="Shape 7"/>
          <p:cNvSpPr/>
          <p:nvPr/>
        </p:nvSpPr>
        <p:spPr>
          <a:xfrm>
            <a:off x="3081528" y="2862072"/>
            <a:ext cx="274320" cy="219456"/>
          </a:xfrm>
          <a:prstGeom prst="rightArrow">
            <a:avLst/>
          </a:prstGeom>
          <a:solidFill>
            <a:srgbClr val="14B8A6"/>
          </a:solidFill>
          <a:ln/>
        </p:spPr>
      </p:sp>
      <p:sp>
        <p:nvSpPr>
          <p:cNvPr id="12" name="Shape 8"/>
          <p:cNvSpPr/>
          <p:nvPr/>
        </p:nvSpPr>
        <p:spPr>
          <a:xfrm>
            <a:off x="3401568" y="2148840"/>
            <a:ext cx="2377440" cy="1691640"/>
          </a:xfrm>
          <a:prstGeom prst="roundRect">
            <a:avLst>
              <a:gd name="adj" fmla="val 5405"/>
            </a:avLst>
          </a:prstGeom>
          <a:solidFill>
            <a:srgbClr val="FFFFFF"/>
          </a:solidFill>
          <a:ln/>
          <a:effectLst>
            <a:outerShdw sx="100000" sy="100000" kx="0" ky="0" algn="bl" rotWithShape="0" blurRad="152400" dist="25400" dir="5400000">
              <a:srgbClr val="1F1D48">
                <a:alpha val="16000"/>
              </a:srgbClr>
            </a:outerShdw>
          </a:effectLst>
        </p:spPr>
      </p:sp>
      <p:sp>
        <p:nvSpPr>
          <p:cNvPr id="13" name="Shape 9"/>
          <p:cNvSpPr/>
          <p:nvPr/>
        </p:nvSpPr>
        <p:spPr>
          <a:xfrm>
            <a:off x="4334256" y="2331720"/>
            <a:ext cx="512064" cy="512064"/>
          </a:xfrm>
          <a:prstGeom prst="ellipse">
            <a:avLst/>
          </a:prstGeom>
          <a:solidFill>
            <a:srgbClr val="F59E0B"/>
          </a:solidFill>
          <a:ln/>
        </p:spPr>
      </p:sp>
      <p:pic>
        <p:nvPicPr>
          <p:cNvPr id="14" name="Image 2" descr="/home/claude/icons/lock_white.png">    </p:cNvPr>
          <p:cNvPicPr>
            <a:picLocks noChangeAspect="1"/>
          </p:cNvPicPr>
          <p:nvPr/>
        </p:nvPicPr>
        <p:blipFill>
          <a:blip r:embed="rId3"/>
          <a:stretch>
            <a:fillRect/>
          </a:stretch>
        </p:blipFill>
        <p:spPr>
          <a:xfrm>
            <a:off x="4462272" y="2459736"/>
            <a:ext cx="256032" cy="256032"/>
          </a:xfrm>
          <a:prstGeom prst="rect">
            <a:avLst/>
          </a:prstGeom>
        </p:spPr>
      </p:pic>
      <p:sp>
        <p:nvSpPr>
          <p:cNvPr id="15" name="Text 10"/>
          <p:cNvSpPr/>
          <p:nvPr/>
        </p:nvSpPr>
        <p:spPr>
          <a:xfrm>
            <a:off x="3493008" y="2944368"/>
            <a:ext cx="2194560" cy="292608"/>
          </a:xfrm>
          <a:prstGeom prst="rect">
            <a:avLst/>
          </a:prstGeom>
          <a:noFill/>
          <a:ln/>
        </p:spPr>
        <p:txBody>
          <a:bodyPr wrap="square" lIns="0" tIns="0" rIns="0" bIns="0" rtlCol="0" anchor="ctr"/>
          <a:lstStyle/>
          <a:p>
            <a:pPr algn="ctr" indent="0" marL="0">
              <a:buNone/>
            </a:pPr>
            <a:r>
              <a:rPr lang="en-US" sz="1250" b="1" dirty="0">
                <a:solidFill>
                  <a:srgbClr val="1E1B3A"/>
                </a:solidFill>
                <a:latin typeface="Malgun Gothic" pitchFamily="34" charset="0"/>
                <a:ea typeface="Malgun Gothic" pitchFamily="34" charset="-122"/>
                <a:cs typeface="Malgun Gothic" pitchFamily="34" charset="-120"/>
              </a:rPr>
              <a:t>환경변수</a:t>
            </a:r>
            <a:endParaRPr lang="en-US" sz="1250" dirty="0"/>
          </a:p>
        </p:txBody>
      </p:sp>
      <p:sp>
        <p:nvSpPr>
          <p:cNvPr id="16" name="Text 11"/>
          <p:cNvSpPr/>
          <p:nvPr/>
        </p:nvSpPr>
        <p:spPr>
          <a:xfrm>
            <a:off x="3493008" y="3255264"/>
            <a:ext cx="2194560" cy="512064"/>
          </a:xfrm>
          <a:prstGeom prst="rect">
            <a:avLst/>
          </a:prstGeom>
          <a:noFill/>
          <a:ln/>
        </p:spPr>
        <p:txBody>
          <a:bodyPr wrap="square" lIns="0" tIns="0" rIns="0" bIns="0" rtlCol="0" anchor="t"/>
          <a:lstStyle/>
          <a:p>
            <a:pPr algn="ctr" indent="0" marL="0">
              <a:lnSpc>
                <a:spcPts val="1350"/>
              </a:lnSpc>
              <a:buNone/>
            </a:pPr>
            <a:r>
              <a:rPr lang="en-US" sz="950" dirty="0">
                <a:solidFill>
                  <a:srgbClr val="6B7185"/>
                </a:solidFill>
                <a:latin typeface="Malgun Gothic" pitchFamily="34" charset="0"/>
                <a:ea typeface="Malgun Gothic" pitchFamily="34" charset="-122"/>
                <a:cs typeface="Malgun Gothic" pitchFamily="34" charset="-120"/>
              </a:rPr>
              <a:t>GEMINI_API_KEY</a:t>
            </a:r>
            <a:endParaRPr lang="en-US" sz="950" dirty="0"/>
          </a:p>
          <a:p>
            <a:pPr algn="ctr" indent="0" marL="0">
              <a:lnSpc>
                <a:spcPts val="1350"/>
              </a:lnSpc>
              <a:buNone/>
            </a:pPr>
            <a:r>
              <a:rPr lang="en-US" sz="950" dirty="0">
                <a:solidFill>
                  <a:srgbClr val="6B7185"/>
                </a:solidFill>
                <a:latin typeface="Malgun Gothic" pitchFamily="34" charset="0"/>
                <a:ea typeface="Malgun Gothic" pitchFamily="34" charset="-122"/>
                <a:cs typeface="Malgun Gothic" pitchFamily="34" charset="-120"/>
              </a:rPr>
              <a:t>키의 안전한 보관소</a:t>
            </a:r>
            <a:endParaRPr lang="en-US" sz="950" dirty="0"/>
          </a:p>
        </p:txBody>
      </p:sp>
      <p:sp>
        <p:nvSpPr>
          <p:cNvPr id="17" name="Shape 12"/>
          <p:cNvSpPr/>
          <p:nvPr/>
        </p:nvSpPr>
        <p:spPr>
          <a:xfrm>
            <a:off x="5824728" y="2862072"/>
            <a:ext cx="274320" cy="219456"/>
          </a:xfrm>
          <a:prstGeom prst="rightArrow">
            <a:avLst/>
          </a:prstGeom>
          <a:solidFill>
            <a:srgbClr val="14B8A6"/>
          </a:solidFill>
          <a:ln/>
        </p:spPr>
      </p:sp>
      <p:sp>
        <p:nvSpPr>
          <p:cNvPr id="18" name="Shape 13"/>
          <p:cNvSpPr/>
          <p:nvPr/>
        </p:nvSpPr>
        <p:spPr>
          <a:xfrm>
            <a:off x="6144768" y="2148840"/>
            <a:ext cx="2377440" cy="1691640"/>
          </a:xfrm>
          <a:prstGeom prst="roundRect">
            <a:avLst>
              <a:gd name="adj" fmla="val 5405"/>
            </a:avLst>
          </a:prstGeom>
          <a:solidFill>
            <a:srgbClr val="FFFFFF"/>
          </a:solidFill>
          <a:ln/>
          <a:effectLst>
            <a:outerShdw sx="100000" sy="100000" kx="0" ky="0" algn="bl" rotWithShape="0" blurRad="152400" dist="25400" dir="5400000">
              <a:srgbClr val="1F1D48">
                <a:alpha val="16000"/>
              </a:srgbClr>
            </a:outerShdw>
          </a:effectLst>
        </p:spPr>
      </p:sp>
      <p:sp>
        <p:nvSpPr>
          <p:cNvPr id="19" name="Shape 14"/>
          <p:cNvSpPr/>
          <p:nvPr/>
        </p:nvSpPr>
        <p:spPr>
          <a:xfrm>
            <a:off x="7077456" y="2331720"/>
            <a:ext cx="512064" cy="512064"/>
          </a:xfrm>
          <a:prstGeom prst="ellipse">
            <a:avLst/>
          </a:prstGeom>
          <a:solidFill>
            <a:srgbClr val="10B981"/>
          </a:solidFill>
          <a:ln/>
        </p:spPr>
      </p:sp>
      <p:pic>
        <p:nvPicPr>
          <p:cNvPr id="20" name="Image 3" descr="/home/claude/icons/code_white.png">    </p:cNvPr>
          <p:cNvPicPr>
            <a:picLocks noChangeAspect="1"/>
          </p:cNvPicPr>
          <p:nvPr/>
        </p:nvPicPr>
        <p:blipFill>
          <a:blip r:embed="rId4"/>
          <a:stretch>
            <a:fillRect/>
          </a:stretch>
        </p:blipFill>
        <p:spPr>
          <a:xfrm>
            <a:off x="7205472" y="2459736"/>
            <a:ext cx="256032" cy="256032"/>
          </a:xfrm>
          <a:prstGeom prst="rect">
            <a:avLst/>
          </a:prstGeom>
        </p:spPr>
      </p:pic>
      <p:sp>
        <p:nvSpPr>
          <p:cNvPr id="21" name="Text 15"/>
          <p:cNvSpPr/>
          <p:nvPr/>
        </p:nvSpPr>
        <p:spPr>
          <a:xfrm>
            <a:off x="6236208" y="2944368"/>
            <a:ext cx="2194560" cy="292608"/>
          </a:xfrm>
          <a:prstGeom prst="rect">
            <a:avLst/>
          </a:prstGeom>
          <a:noFill/>
          <a:ln/>
        </p:spPr>
        <p:txBody>
          <a:bodyPr wrap="square" lIns="0" tIns="0" rIns="0" bIns="0" rtlCol="0" anchor="ctr"/>
          <a:lstStyle/>
          <a:p>
            <a:pPr algn="ctr" indent="0" marL="0">
              <a:buNone/>
            </a:pPr>
            <a:r>
              <a:rPr lang="en-US" sz="1250" b="1" dirty="0">
                <a:solidFill>
                  <a:srgbClr val="1E1B3A"/>
                </a:solidFill>
                <a:latin typeface="Malgun Gothic" pitchFamily="34" charset="0"/>
                <a:ea typeface="Malgun Gothic" pitchFamily="34" charset="-122"/>
                <a:cs typeface="Malgun Gothic" pitchFamily="34" charset="-120"/>
              </a:rPr>
              <a:t>VS Code + Cline</a:t>
            </a:r>
            <a:endParaRPr lang="en-US" sz="1250" dirty="0"/>
          </a:p>
        </p:txBody>
      </p:sp>
      <p:sp>
        <p:nvSpPr>
          <p:cNvPr id="22" name="Text 16"/>
          <p:cNvSpPr/>
          <p:nvPr/>
        </p:nvSpPr>
        <p:spPr>
          <a:xfrm>
            <a:off x="6236208" y="3255264"/>
            <a:ext cx="2194560" cy="512064"/>
          </a:xfrm>
          <a:prstGeom prst="rect">
            <a:avLst/>
          </a:prstGeom>
          <a:noFill/>
          <a:ln/>
        </p:spPr>
        <p:txBody>
          <a:bodyPr wrap="square" lIns="0" tIns="0" rIns="0" bIns="0" rtlCol="0" anchor="t"/>
          <a:lstStyle/>
          <a:p>
            <a:pPr algn="ctr" indent="0" marL="0">
              <a:lnSpc>
                <a:spcPts val="1350"/>
              </a:lnSpc>
              <a:buNone/>
            </a:pPr>
            <a:r>
              <a:rPr lang="en-US" sz="950" dirty="0">
                <a:solidFill>
                  <a:srgbClr val="6B7185"/>
                </a:solidFill>
                <a:latin typeface="Malgun Gothic" pitchFamily="34" charset="0"/>
                <a:ea typeface="Malgun Gothic" pitchFamily="34" charset="-122"/>
                <a:cs typeface="Malgun Gothic" pitchFamily="34" charset="-120"/>
              </a:rPr>
              <a:t>지시를 받아 파일을</a:t>
            </a:r>
            <a:endParaRPr lang="en-US" sz="950" dirty="0"/>
          </a:p>
          <a:p>
            <a:pPr algn="ctr" indent="0" marL="0">
              <a:lnSpc>
                <a:spcPts val="1350"/>
              </a:lnSpc>
              <a:buNone/>
            </a:pPr>
            <a:r>
              <a:rPr lang="en-US" sz="950" dirty="0">
                <a:solidFill>
                  <a:srgbClr val="6B7185"/>
                </a:solidFill>
                <a:latin typeface="Malgun Gothic" pitchFamily="34" charset="0"/>
                <a:ea typeface="Malgun Gothic" pitchFamily="34" charset="-122"/>
                <a:cs typeface="Malgun Gothic" pitchFamily="34" charset="-120"/>
              </a:rPr>
              <a:t>만들고 고치는 에이전트</a:t>
            </a:r>
            <a:endParaRPr lang="en-US" sz="950" dirty="0"/>
          </a:p>
        </p:txBody>
      </p:sp>
      <p:sp>
        <p:nvSpPr>
          <p:cNvPr id="23" name="Shape 17"/>
          <p:cNvSpPr/>
          <p:nvPr/>
        </p:nvSpPr>
        <p:spPr>
          <a:xfrm>
            <a:off x="8887968" y="2148840"/>
            <a:ext cx="2377440" cy="1691640"/>
          </a:xfrm>
          <a:prstGeom prst="roundRect">
            <a:avLst>
              <a:gd name="adj" fmla="val 5405"/>
            </a:avLst>
          </a:prstGeom>
          <a:solidFill>
            <a:srgbClr val="FFFFFF"/>
          </a:solidFill>
          <a:ln/>
          <a:effectLst>
            <a:outerShdw sx="100000" sy="100000" kx="0" ky="0" algn="bl" rotWithShape="0" blurRad="152400" dist="25400" dir="5400000">
              <a:srgbClr val="1F1D48">
                <a:alpha val="16000"/>
              </a:srgbClr>
            </a:outerShdw>
          </a:effectLst>
        </p:spPr>
      </p:sp>
      <p:sp>
        <p:nvSpPr>
          <p:cNvPr id="24" name="Shape 18"/>
          <p:cNvSpPr/>
          <p:nvPr/>
        </p:nvSpPr>
        <p:spPr>
          <a:xfrm>
            <a:off x="9820656" y="2331720"/>
            <a:ext cx="512064" cy="512064"/>
          </a:xfrm>
          <a:prstGeom prst="ellipse">
            <a:avLst/>
          </a:prstGeom>
          <a:solidFill>
            <a:srgbClr val="7C3AED"/>
          </a:solidFill>
          <a:ln/>
        </p:spPr>
      </p:sp>
      <p:pic>
        <p:nvPicPr>
          <p:cNvPr id="25" name="Image 4" descr="/home/claude/icons/bolt_white.png">    </p:cNvPr>
          <p:cNvPicPr>
            <a:picLocks noChangeAspect="1"/>
          </p:cNvPicPr>
          <p:nvPr/>
        </p:nvPicPr>
        <p:blipFill>
          <a:blip r:embed="rId5"/>
          <a:stretch>
            <a:fillRect/>
          </a:stretch>
        </p:blipFill>
        <p:spPr>
          <a:xfrm>
            <a:off x="9948672" y="2459736"/>
            <a:ext cx="256032" cy="256032"/>
          </a:xfrm>
          <a:prstGeom prst="rect">
            <a:avLst/>
          </a:prstGeom>
        </p:spPr>
      </p:pic>
      <p:sp>
        <p:nvSpPr>
          <p:cNvPr id="26" name="Text 19"/>
          <p:cNvSpPr/>
          <p:nvPr/>
        </p:nvSpPr>
        <p:spPr>
          <a:xfrm>
            <a:off x="8979408" y="2944368"/>
            <a:ext cx="2194560" cy="292608"/>
          </a:xfrm>
          <a:prstGeom prst="rect">
            <a:avLst/>
          </a:prstGeom>
          <a:noFill/>
          <a:ln/>
        </p:spPr>
        <p:txBody>
          <a:bodyPr wrap="square" lIns="0" tIns="0" rIns="0" bIns="0" rtlCol="0" anchor="ctr"/>
          <a:lstStyle/>
          <a:p>
            <a:pPr algn="ctr" indent="0" marL="0">
              <a:buNone/>
            </a:pPr>
            <a:r>
              <a:rPr lang="en-US" sz="1250" b="1" dirty="0">
                <a:solidFill>
                  <a:srgbClr val="1E1B3A"/>
                </a:solidFill>
                <a:latin typeface="Malgun Gothic" pitchFamily="34" charset="0"/>
                <a:ea typeface="Malgun Gothic" pitchFamily="34" charset="-122"/>
                <a:cs typeface="Malgun Gothic" pitchFamily="34" charset="-120"/>
              </a:rPr>
              <a:t>Gemini API</a:t>
            </a:r>
            <a:endParaRPr lang="en-US" sz="1250" dirty="0"/>
          </a:p>
        </p:txBody>
      </p:sp>
      <p:sp>
        <p:nvSpPr>
          <p:cNvPr id="27" name="Text 20"/>
          <p:cNvSpPr/>
          <p:nvPr/>
        </p:nvSpPr>
        <p:spPr>
          <a:xfrm>
            <a:off x="8979408" y="3255264"/>
            <a:ext cx="2194560" cy="512064"/>
          </a:xfrm>
          <a:prstGeom prst="rect">
            <a:avLst/>
          </a:prstGeom>
          <a:noFill/>
          <a:ln/>
        </p:spPr>
        <p:txBody>
          <a:bodyPr wrap="square" lIns="0" tIns="0" rIns="0" bIns="0" rtlCol="0" anchor="t"/>
          <a:lstStyle/>
          <a:p>
            <a:pPr algn="ctr" indent="0" marL="0">
              <a:lnSpc>
                <a:spcPts val="1350"/>
              </a:lnSpc>
              <a:buNone/>
            </a:pPr>
            <a:r>
              <a:rPr lang="en-US" sz="950" dirty="0">
                <a:solidFill>
                  <a:srgbClr val="6B7185"/>
                </a:solidFill>
                <a:latin typeface="Malgun Gothic" pitchFamily="34" charset="0"/>
                <a:ea typeface="Malgun Gothic" pitchFamily="34" charset="-122"/>
                <a:cs typeface="Malgun Gothic" pitchFamily="34" charset="-120"/>
              </a:rPr>
              <a:t>실제로 코드를 생성하는</a:t>
            </a:r>
            <a:endParaRPr lang="en-US" sz="950" dirty="0"/>
          </a:p>
          <a:p>
            <a:pPr algn="ctr" indent="0" marL="0">
              <a:lnSpc>
                <a:spcPts val="1350"/>
              </a:lnSpc>
              <a:buNone/>
            </a:pPr>
            <a:r>
              <a:rPr lang="en-US" sz="950" dirty="0">
                <a:solidFill>
                  <a:srgbClr val="6B7185"/>
                </a:solidFill>
                <a:latin typeface="Malgun Gothic" pitchFamily="34" charset="0"/>
                <a:ea typeface="Malgun Gothic" pitchFamily="34" charset="-122"/>
                <a:cs typeface="Malgun Gothic" pitchFamily="34" charset="-120"/>
              </a:rPr>
              <a:t>생성형 AI 엔진</a:t>
            </a:r>
            <a:endParaRPr lang="en-US" sz="950" dirty="0"/>
          </a:p>
        </p:txBody>
      </p:sp>
      <p:sp>
        <p:nvSpPr>
          <p:cNvPr id="28" name="Shape 21"/>
          <p:cNvSpPr/>
          <p:nvPr/>
        </p:nvSpPr>
        <p:spPr>
          <a:xfrm>
            <a:off x="8567928" y="2862072"/>
            <a:ext cx="274320" cy="219456"/>
          </a:xfrm>
          <a:prstGeom prst="leftRightArrow">
            <a:avLst/>
          </a:prstGeom>
          <a:solidFill>
            <a:srgbClr val="14B8A6"/>
          </a:solidFill>
          <a:ln/>
        </p:spPr>
      </p:sp>
      <p:sp>
        <p:nvSpPr>
          <p:cNvPr id="29" name="Text 22"/>
          <p:cNvSpPr/>
          <p:nvPr/>
        </p:nvSpPr>
        <p:spPr>
          <a:xfrm>
            <a:off x="2944368" y="3913632"/>
            <a:ext cx="822960" cy="237744"/>
          </a:xfrm>
          <a:prstGeom prst="rect">
            <a:avLst/>
          </a:prstGeom>
          <a:noFill/>
          <a:ln/>
        </p:spPr>
        <p:txBody>
          <a:bodyPr wrap="square" lIns="0" tIns="0" rIns="0" bIns="0" rtlCol="0" anchor="ctr"/>
          <a:lstStyle/>
          <a:p>
            <a:pPr algn="ctr" indent="0" marL="0">
              <a:buNone/>
            </a:pPr>
            <a:r>
              <a:rPr lang="en-US" sz="950" dirty="0">
                <a:solidFill>
                  <a:srgbClr val="6B7185"/>
                </a:solidFill>
                <a:latin typeface="Malgun Gothic" pitchFamily="34" charset="0"/>
                <a:ea typeface="Malgun Gothic" pitchFamily="34" charset="-122"/>
                <a:cs typeface="Malgun Gothic" pitchFamily="34" charset="-120"/>
              </a:rPr>
              <a:t>발급</a:t>
            </a:r>
            <a:endParaRPr lang="en-US" sz="950" dirty="0"/>
          </a:p>
        </p:txBody>
      </p:sp>
      <p:sp>
        <p:nvSpPr>
          <p:cNvPr id="30" name="Text 23"/>
          <p:cNvSpPr/>
          <p:nvPr/>
        </p:nvSpPr>
        <p:spPr>
          <a:xfrm>
            <a:off x="5687568" y="3913632"/>
            <a:ext cx="822960" cy="237744"/>
          </a:xfrm>
          <a:prstGeom prst="rect">
            <a:avLst/>
          </a:prstGeom>
          <a:noFill/>
          <a:ln/>
        </p:spPr>
        <p:txBody>
          <a:bodyPr wrap="square" lIns="0" tIns="0" rIns="0" bIns="0" rtlCol="0" anchor="ctr"/>
          <a:lstStyle/>
          <a:p>
            <a:pPr algn="ctr" indent="0" marL="0">
              <a:buNone/>
            </a:pPr>
            <a:r>
              <a:rPr lang="en-US" sz="950" dirty="0">
                <a:solidFill>
                  <a:srgbClr val="6B7185"/>
                </a:solidFill>
                <a:latin typeface="Malgun Gothic" pitchFamily="34" charset="0"/>
                <a:ea typeface="Malgun Gothic" pitchFamily="34" charset="-122"/>
                <a:cs typeface="Malgun Gothic" pitchFamily="34" charset="-120"/>
              </a:rPr>
              <a:t>등록</a:t>
            </a:r>
            <a:endParaRPr lang="en-US" sz="950" dirty="0"/>
          </a:p>
        </p:txBody>
      </p:sp>
      <p:sp>
        <p:nvSpPr>
          <p:cNvPr id="31" name="Text 24"/>
          <p:cNvSpPr/>
          <p:nvPr/>
        </p:nvSpPr>
        <p:spPr>
          <a:xfrm>
            <a:off x="8293608" y="3913632"/>
            <a:ext cx="822960" cy="237744"/>
          </a:xfrm>
          <a:prstGeom prst="rect">
            <a:avLst/>
          </a:prstGeom>
          <a:noFill/>
          <a:ln/>
        </p:spPr>
        <p:txBody>
          <a:bodyPr wrap="square" lIns="0" tIns="0" rIns="0" bIns="0" rtlCol="0" anchor="ctr"/>
          <a:lstStyle/>
          <a:p>
            <a:pPr algn="ctr" indent="0" marL="0">
              <a:buNone/>
            </a:pPr>
            <a:r>
              <a:rPr lang="en-US" sz="950" dirty="0">
                <a:solidFill>
                  <a:srgbClr val="6B7185"/>
                </a:solidFill>
                <a:latin typeface="Malgun Gothic" pitchFamily="34" charset="0"/>
                <a:ea typeface="Malgun Gothic" pitchFamily="34" charset="-122"/>
                <a:cs typeface="Malgun Gothic" pitchFamily="34" charset="-120"/>
              </a:rPr>
              <a:t>요청 · 응답</a:t>
            </a:r>
            <a:endParaRPr lang="en-US" sz="950" dirty="0"/>
          </a:p>
        </p:txBody>
      </p:sp>
      <p:sp>
        <p:nvSpPr>
          <p:cNvPr id="32" name="Shape 25"/>
          <p:cNvSpPr/>
          <p:nvPr/>
        </p:nvSpPr>
        <p:spPr>
          <a:xfrm>
            <a:off x="658368" y="4526280"/>
            <a:ext cx="10872216" cy="914400"/>
          </a:xfrm>
          <a:prstGeom prst="roundRect">
            <a:avLst>
              <a:gd name="adj" fmla="val 10000"/>
            </a:avLst>
          </a:prstGeom>
          <a:solidFill>
            <a:srgbClr val="F5F4FC"/>
          </a:solidFill>
          <a:ln/>
        </p:spPr>
      </p:sp>
      <p:sp>
        <p:nvSpPr>
          <p:cNvPr id="33" name="Shape 26"/>
          <p:cNvSpPr/>
          <p:nvPr/>
        </p:nvSpPr>
        <p:spPr>
          <a:xfrm>
            <a:off x="877824" y="4745736"/>
            <a:ext cx="475488" cy="475488"/>
          </a:xfrm>
          <a:prstGeom prst="ellipse">
            <a:avLst/>
          </a:prstGeom>
          <a:solidFill>
            <a:srgbClr val="4F46E5"/>
          </a:solidFill>
          <a:ln/>
        </p:spPr>
      </p:sp>
      <p:pic>
        <p:nvPicPr>
          <p:cNvPr id="34" name="Image 5" descr="/home/claude/icons/key_white.png">    </p:cNvPr>
          <p:cNvPicPr>
            <a:picLocks noChangeAspect="1"/>
          </p:cNvPicPr>
          <p:nvPr/>
        </p:nvPicPr>
        <p:blipFill>
          <a:blip r:embed="rId6"/>
          <a:stretch>
            <a:fillRect/>
          </a:stretch>
        </p:blipFill>
        <p:spPr>
          <a:xfrm>
            <a:off x="996696" y="4864608"/>
            <a:ext cx="237744" cy="237744"/>
          </a:xfrm>
          <a:prstGeom prst="rect">
            <a:avLst/>
          </a:prstGeom>
        </p:spPr>
      </p:pic>
      <p:sp>
        <p:nvSpPr>
          <p:cNvPr id="35" name="Text 27"/>
          <p:cNvSpPr/>
          <p:nvPr/>
        </p:nvSpPr>
        <p:spPr>
          <a:xfrm>
            <a:off x="1554480" y="4617720"/>
            <a:ext cx="9738360" cy="731520"/>
          </a:xfrm>
          <a:prstGeom prst="rect">
            <a:avLst/>
          </a:prstGeom>
          <a:noFill/>
          <a:ln/>
        </p:spPr>
        <p:txBody>
          <a:bodyPr wrap="square" lIns="0" tIns="0" rIns="0" bIns="0" rtlCol="0" anchor="ctr"/>
          <a:lstStyle/>
          <a:p>
            <a:pPr indent="0" marL="0">
              <a:lnSpc>
                <a:spcPts val="1633"/>
              </a:lnSpc>
              <a:buNone/>
            </a:pPr>
            <a:r>
              <a:rPr lang="en-US" sz="1300" b="1" dirty="0">
                <a:solidFill>
                  <a:srgbClr val="1E1B3A"/>
                </a:solidFill>
                <a:latin typeface="Malgun Gothic" pitchFamily="34" charset="0"/>
                <a:ea typeface="Malgun Gothic" pitchFamily="34" charset="-122"/>
                <a:cs typeface="Malgun Gothic" pitchFamily="34" charset="-120"/>
              </a:rPr>
              <a:t>API 키가 전부를 잇습니다
</a:t>
            </a:r>
            <a:pPr indent="0" marL="0">
              <a:lnSpc>
                <a:spcPts val="1633"/>
              </a:lnSpc>
              <a:buNone/>
            </a:pPr>
            <a:r>
              <a:rPr lang="en-US" sz="1150" dirty="0">
                <a:solidFill>
                  <a:srgbClr val="3C3B57"/>
                </a:solidFill>
                <a:latin typeface="Malgun Gothic" pitchFamily="34" charset="0"/>
                <a:ea typeface="Malgun Gothic" pitchFamily="34" charset="-122"/>
                <a:cs typeface="Malgun Gothic" pitchFamily="34" charset="-120"/>
              </a:rPr>
              <a:t>AI Studio에서 발급한 키를 환경변수에 넣어 두면, Cline이 그 키로 Gemini에 요청을 보내고 코드를 받아 옵니다 — 오늘 실습은 이 화살표들을 왼쪽부터 하나씩 잇는 과정입니다.</a:t>
            </a:r>
            <a:endParaRPr lang="en-US" sz="1300" dirty="0"/>
          </a:p>
        </p:txBody>
      </p:sp>
      <p:sp>
        <p:nvSpPr>
          <p:cNvPr id="36" name="Text 28"/>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16</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907792" cy="384048"/>
          </a:xfrm>
          <a:prstGeom prst="roundRect">
            <a:avLst>
              <a:gd name="adj" fmla="val 50000"/>
            </a:avLst>
          </a:prstGeom>
          <a:solidFill>
            <a:srgbClr val="EDECFB"/>
          </a:solidFill>
          <a:ln/>
        </p:spPr>
      </p:sp>
      <p:pic>
        <p:nvPicPr>
          <p:cNvPr id="3" name="Image 0" descr="/home/claude/icons/bolt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523744"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3부 · AI 도구 환경 구축</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① Gemini API 키 발급</a:t>
            </a:r>
            <a:endParaRPr lang="en-US" sz="2600" dirty="0"/>
          </a:p>
        </p:txBody>
      </p:sp>
      <p:sp>
        <p:nvSpPr>
          <p:cNvPr id="6" name="Shape 3"/>
          <p:cNvSpPr/>
          <p:nvPr/>
        </p:nvSpPr>
        <p:spPr>
          <a:xfrm>
            <a:off x="658368" y="1874520"/>
            <a:ext cx="2306574" cy="1463040"/>
          </a:xfrm>
          <a:prstGeom prst="roundRect">
            <a:avLst>
              <a:gd name="adj" fmla="val 6250"/>
            </a:avLst>
          </a:prstGeom>
          <a:solidFill>
            <a:srgbClr val="FFFFFF"/>
          </a:solidFill>
          <a:ln/>
          <a:effectLst>
            <a:outerShdw sx="100000" sy="100000" kx="0" ky="0" algn="bl" rotWithShape="0" blurRad="152400" dist="25400" dir="5400000">
              <a:srgbClr val="1F1D48">
                <a:alpha val="16000"/>
              </a:srgbClr>
            </a:outerShdw>
          </a:effectLst>
        </p:spPr>
      </p:sp>
      <p:sp>
        <p:nvSpPr>
          <p:cNvPr id="7" name="Shape 4"/>
          <p:cNvSpPr/>
          <p:nvPr/>
        </p:nvSpPr>
        <p:spPr>
          <a:xfrm>
            <a:off x="822960" y="2020824"/>
            <a:ext cx="384048" cy="384048"/>
          </a:xfrm>
          <a:prstGeom prst="ellipse">
            <a:avLst/>
          </a:prstGeom>
          <a:solidFill>
            <a:srgbClr val="14B8A6"/>
          </a:solidFill>
          <a:ln/>
        </p:spPr>
      </p:sp>
      <p:sp>
        <p:nvSpPr>
          <p:cNvPr id="8" name="Text 5"/>
          <p:cNvSpPr/>
          <p:nvPr/>
        </p:nvSpPr>
        <p:spPr>
          <a:xfrm>
            <a:off x="822960" y="202082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1</a:t>
            </a:r>
            <a:endParaRPr lang="en-US" sz="1500" dirty="0"/>
          </a:p>
        </p:txBody>
      </p:sp>
      <p:sp>
        <p:nvSpPr>
          <p:cNvPr id="9" name="Text 6"/>
          <p:cNvSpPr/>
          <p:nvPr/>
        </p:nvSpPr>
        <p:spPr>
          <a:xfrm>
            <a:off x="1298448" y="2020824"/>
            <a:ext cx="1538478" cy="402336"/>
          </a:xfrm>
          <a:prstGeom prst="rect">
            <a:avLst/>
          </a:prstGeom>
          <a:noFill/>
          <a:ln/>
        </p:spPr>
        <p:txBody>
          <a:bodyPr wrap="square" lIns="0" tIns="0" rIns="0" bIns="0" rtlCol="0" anchor="ctr"/>
          <a:lstStyle/>
          <a:p>
            <a:pPr indent="0" marL="0">
              <a:buNone/>
            </a:pPr>
            <a:r>
              <a:rPr lang="en-US" sz="1250" b="1" dirty="0">
                <a:solidFill>
                  <a:srgbClr val="1E1B3A"/>
                </a:solidFill>
                <a:latin typeface="Malgun Gothic" pitchFamily="34" charset="0"/>
                <a:ea typeface="Malgun Gothic" pitchFamily="34" charset="-122"/>
                <a:cs typeface="Malgun Gothic" pitchFamily="34" charset="-120"/>
              </a:rPr>
              <a:t>AI Studio 접속</a:t>
            </a:r>
            <a:endParaRPr lang="en-US" sz="1250" dirty="0"/>
          </a:p>
        </p:txBody>
      </p:sp>
      <p:sp>
        <p:nvSpPr>
          <p:cNvPr id="10" name="Text 7"/>
          <p:cNvSpPr/>
          <p:nvPr/>
        </p:nvSpPr>
        <p:spPr>
          <a:xfrm>
            <a:off x="822960" y="2496312"/>
            <a:ext cx="1977390" cy="713232"/>
          </a:xfrm>
          <a:prstGeom prst="rect">
            <a:avLst/>
          </a:prstGeom>
          <a:noFill/>
          <a:ln/>
        </p:spPr>
        <p:txBody>
          <a:bodyPr wrap="square" lIns="0" tIns="0" rIns="0" bIns="0" rtlCol="0" anchor="t"/>
          <a:lstStyle/>
          <a:p>
            <a:pPr indent="0" marL="0">
              <a:lnSpc>
                <a:spcPts val="1449"/>
              </a:lnSpc>
              <a:buNone/>
            </a:pPr>
            <a:r>
              <a:rPr lang="en-US" sz="1050" dirty="0">
                <a:solidFill>
                  <a:srgbClr val="3C3B57"/>
                </a:solidFill>
                <a:latin typeface="Malgun Gothic" pitchFamily="34" charset="0"/>
                <a:ea typeface="Malgun Gothic" pitchFamily="34" charset="-122"/>
                <a:cs typeface="Malgun Gothic" pitchFamily="34" charset="-120"/>
              </a:rPr>
              <a:t>aistudio.google.com</a:t>
            </a:r>
            <a:endParaRPr lang="en-US" sz="1050" dirty="0"/>
          </a:p>
          <a:p>
            <a:pPr indent="0" marL="0">
              <a:lnSpc>
                <a:spcPts val="1449"/>
              </a:lnSpc>
              <a:buNone/>
            </a:pPr>
            <a:r>
              <a:rPr lang="en-US" sz="1050" dirty="0">
                <a:solidFill>
                  <a:srgbClr val="3C3B57"/>
                </a:solidFill>
                <a:latin typeface="Malgun Gothic" pitchFamily="34" charset="0"/>
                <a:ea typeface="Malgun Gothic" pitchFamily="34" charset="-122"/>
                <a:cs typeface="Malgun Gothic" pitchFamily="34" charset="-120"/>
              </a:rPr>
              <a:t>구글 계정 로그인</a:t>
            </a:r>
            <a:endParaRPr lang="en-US" sz="1050" dirty="0"/>
          </a:p>
        </p:txBody>
      </p:sp>
      <p:sp>
        <p:nvSpPr>
          <p:cNvPr id="11" name="Shape 8"/>
          <p:cNvSpPr/>
          <p:nvPr/>
        </p:nvSpPr>
        <p:spPr>
          <a:xfrm>
            <a:off x="3092958" y="2505456"/>
            <a:ext cx="292608" cy="201168"/>
          </a:xfrm>
          <a:prstGeom prst="rightArrow">
            <a:avLst/>
          </a:prstGeom>
          <a:solidFill>
            <a:srgbClr val="E7E6FB"/>
          </a:solidFill>
          <a:ln/>
        </p:spPr>
      </p:sp>
      <p:sp>
        <p:nvSpPr>
          <p:cNvPr id="12" name="Shape 9"/>
          <p:cNvSpPr/>
          <p:nvPr/>
        </p:nvSpPr>
        <p:spPr>
          <a:xfrm>
            <a:off x="3513582" y="1874520"/>
            <a:ext cx="2306574" cy="1463040"/>
          </a:xfrm>
          <a:prstGeom prst="roundRect">
            <a:avLst>
              <a:gd name="adj" fmla="val 6250"/>
            </a:avLst>
          </a:prstGeom>
          <a:solidFill>
            <a:srgbClr val="FFFFFF"/>
          </a:solidFill>
          <a:ln/>
          <a:effectLst>
            <a:outerShdw sx="100000" sy="100000" kx="0" ky="0" algn="bl" rotWithShape="0" blurRad="152400" dist="25400" dir="5400000">
              <a:srgbClr val="1F1D48">
                <a:alpha val="16000"/>
              </a:srgbClr>
            </a:outerShdw>
          </a:effectLst>
        </p:spPr>
      </p:sp>
      <p:sp>
        <p:nvSpPr>
          <p:cNvPr id="13" name="Shape 10"/>
          <p:cNvSpPr/>
          <p:nvPr/>
        </p:nvSpPr>
        <p:spPr>
          <a:xfrm>
            <a:off x="3678174" y="2020824"/>
            <a:ext cx="384048" cy="384048"/>
          </a:xfrm>
          <a:prstGeom prst="ellipse">
            <a:avLst/>
          </a:prstGeom>
          <a:solidFill>
            <a:srgbClr val="14B8A6"/>
          </a:solidFill>
          <a:ln/>
        </p:spPr>
      </p:sp>
      <p:sp>
        <p:nvSpPr>
          <p:cNvPr id="14" name="Text 11"/>
          <p:cNvSpPr/>
          <p:nvPr/>
        </p:nvSpPr>
        <p:spPr>
          <a:xfrm>
            <a:off x="3678174" y="202082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2</a:t>
            </a:r>
            <a:endParaRPr lang="en-US" sz="1500" dirty="0"/>
          </a:p>
        </p:txBody>
      </p:sp>
      <p:sp>
        <p:nvSpPr>
          <p:cNvPr id="15" name="Text 12"/>
          <p:cNvSpPr/>
          <p:nvPr/>
        </p:nvSpPr>
        <p:spPr>
          <a:xfrm>
            <a:off x="4153662" y="2020824"/>
            <a:ext cx="1538478" cy="402336"/>
          </a:xfrm>
          <a:prstGeom prst="rect">
            <a:avLst/>
          </a:prstGeom>
          <a:noFill/>
          <a:ln/>
        </p:spPr>
        <p:txBody>
          <a:bodyPr wrap="square" lIns="0" tIns="0" rIns="0" bIns="0" rtlCol="0" anchor="ctr"/>
          <a:lstStyle/>
          <a:p>
            <a:pPr indent="0" marL="0">
              <a:buNone/>
            </a:pPr>
            <a:r>
              <a:rPr lang="en-US" sz="1250" b="1" dirty="0">
                <a:solidFill>
                  <a:srgbClr val="1E1B3A"/>
                </a:solidFill>
                <a:latin typeface="Malgun Gothic" pitchFamily="34" charset="0"/>
                <a:ea typeface="Malgun Gothic" pitchFamily="34" charset="-122"/>
                <a:cs typeface="Malgun Gothic" pitchFamily="34" charset="-120"/>
              </a:rPr>
              <a:t>Get API key</a:t>
            </a:r>
            <a:endParaRPr lang="en-US" sz="1250" dirty="0"/>
          </a:p>
        </p:txBody>
      </p:sp>
      <p:sp>
        <p:nvSpPr>
          <p:cNvPr id="16" name="Text 13"/>
          <p:cNvSpPr/>
          <p:nvPr/>
        </p:nvSpPr>
        <p:spPr>
          <a:xfrm>
            <a:off x="3678174" y="2496312"/>
            <a:ext cx="1977390" cy="713232"/>
          </a:xfrm>
          <a:prstGeom prst="rect">
            <a:avLst/>
          </a:prstGeom>
          <a:noFill/>
          <a:ln/>
        </p:spPr>
        <p:txBody>
          <a:bodyPr wrap="square" lIns="0" tIns="0" rIns="0" bIns="0" rtlCol="0" anchor="t"/>
          <a:lstStyle/>
          <a:p>
            <a:pPr indent="0" marL="0">
              <a:lnSpc>
                <a:spcPts val="1449"/>
              </a:lnSpc>
              <a:buNone/>
            </a:pPr>
            <a:r>
              <a:rPr lang="en-US" sz="1050" dirty="0">
                <a:solidFill>
                  <a:srgbClr val="3C3B57"/>
                </a:solidFill>
                <a:latin typeface="Malgun Gothic" pitchFamily="34" charset="0"/>
                <a:ea typeface="Malgun Gothic" pitchFamily="34" charset="-122"/>
                <a:cs typeface="Malgun Gothic" pitchFamily="34" charset="-120"/>
              </a:rPr>
              <a:t>화면의 API 키</a:t>
            </a:r>
            <a:endParaRPr lang="en-US" sz="1050" dirty="0"/>
          </a:p>
          <a:p>
            <a:pPr indent="0" marL="0">
              <a:lnSpc>
                <a:spcPts val="1449"/>
              </a:lnSpc>
              <a:buNone/>
            </a:pPr>
            <a:r>
              <a:rPr lang="en-US" sz="1050" dirty="0">
                <a:solidFill>
                  <a:srgbClr val="3C3B57"/>
                </a:solidFill>
                <a:latin typeface="Malgun Gothic" pitchFamily="34" charset="0"/>
                <a:ea typeface="Malgun Gothic" pitchFamily="34" charset="-122"/>
                <a:cs typeface="Malgun Gothic" pitchFamily="34" charset="-120"/>
              </a:rPr>
              <a:t>메뉴로 이동</a:t>
            </a:r>
            <a:endParaRPr lang="en-US" sz="1050" dirty="0"/>
          </a:p>
        </p:txBody>
      </p:sp>
      <p:sp>
        <p:nvSpPr>
          <p:cNvPr id="17" name="Shape 14"/>
          <p:cNvSpPr/>
          <p:nvPr/>
        </p:nvSpPr>
        <p:spPr>
          <a:xfrm>
            <a:off x="5948172" y="2505456"/>
            <a:ext cx="292608" cy="201168"/>
          </a:xfrm>
          <a:prstGeom prst="rightArrow">
            <a:avLst/>
          </a:prstGeom>
          <a:solidFill>
            <a:srgbClr val="E7E6FB"/>
          </a:solidFill>
          <a:ln/>
        </p:spPr>
      </p:sp>
      <p:sp>
        <p:nvSpPr>
          <p:cNvPr id="18" name="Shape 15"/>
          <p:cNvSpPr/>
          <p:nvPr/>
        </p:nvSpPr>
        <p:spPr>
          <a:xfrm>
            <a:off x="6368796" y="1874520"/>
            <a:ext cx="2306574" cy="1463040"/>
          </a:xfrm>
          <a:prstGeom prst="roundRect">
            <a:avLst>
              <a:gd name="adj" fmla="val 6250"/>
            </a:avLst>
          </a:prstGeom>
          <a:solidFill>
            <a:srgbClr val="FFFFFF"/>
          </a:solidFill>
          <a:ln/>
          <a:effectLst>
            <a:outerShdw sx="100000" sy="100000" kx="0" ky="0" algn="bl" rotWithShape="0" blurRad="152400" dist="25400" dir="5400000">
              <a:srgbClr val="1F1D48">
                <a:alpha val="16000"/>
              </a:srgbClr>
            </a:outerShdw>
          </a:effectLst>
        </p:spPr>
      </p:sp>
      <p:sp>
        <p:nvSpPr>
          <p:cNvPr id="19" name="Shape 16"/>
          <p:cNvSpPr/>
          <p:nvPr/>
        </p:nvSpPr>
        <p:spPr>
          <a:xfrm>
            <a:off x="6533388" y="2020824"/>
            <a:ext cx="384048" cy="384048"/>
          </a:xfrm>
          <a:prstGeom prst="ellipse">
            <a:avLst/>
          </a:prstGeom>
          <a:solidFill>
            <a:srgbClr val="14B8A6"/>
          </a:solidFill>
          <a:ln/>
        </p:spPr>
      </p:sp>
      <p:sp>
        <p:nvSpPr>
          <p:cNvPr id="20" name="Text 17"/>
          <p:cNvSpPr/>
          <p:nvPr/>
        </p:nvSpPr>
        <p:spPr>
          <a:xfrm>
            <a:off x="6533388" y="202082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3</a:t>
            </a:r>
            <a:endParaRPr lang="en-US" sz="1500" dirty="0"/>
          </a:p>
        </p:txBody>
      </p:sp>
      <p:sp>
        <p:nvSpPr>
          <p:cNvPr id="21" name="Text 18"/>
          <p:cNvSpPr/>
          <p:nvPr/>
        </p:nvSpPr>
        <p:spPr>
          <a:xfrm>
            <a:off x="7008876" y="2020824"/>
            <a:ext cx="1538478" cy="402336"/>
          </a:xfrm>
          <a:prstGeom prst="rect">
            <a:avLst/>
          </a:prstGeom>
          <a:noFill/>
          <a:ln/>
        </p:spPr>
        <p:txBody>
          <a:bodyPr wrap="square" lIns="0" tIns="0" rIns="0" bIns="0" rtlCol="0" anchor="ctr"/>
          <a:lstStyle/>
          <a:p>
            <a:pPr indent="0" marL="0">
              <a:buNone/>
            </a:pPr>
            <a:r>
              <a:rPr lang="en-US" sz="1250" b="1" dirty="0">
                <a:solidFill>
                  <a:srgbClr val="1E1B3A"/>
                </a:solidFill>
                <a:latin typeface="Malgun Gothic" pitchFamily="34" charset="0"/>
                <a:ea typeface="Malgun Gothic" pitchFamily="34" charset="-122"/>
                <a:cs typeface="Malgun Gothic" pitchFamily="34" charset="-120"/>
              </a:rPr>
              <a:t>Create API key</a:t>
            </a:r>
            <a:endParaRPr lang="en-US" sz="1250" dirty="0"/>
          </a:p>
        </p:txBody>
      </p:sp>
      <p:sp>
        <p:nvSpPr>
          <p:cNvPr id="22" name="Text 19"/>
          <p:cNvSpPr/>
          <p:nvPr/>
        </p:nvSpPr>
        <p:spPr>
          <a:xfrm>
            <a:off x="6533388" y="2496312"/>
            <a:ext cx="1977390" cy="713232"/>
          </a:xfrm>
          <a:prstGeom prst="rect">
            <a:avLst/>
          </a:prstGeom>
          <a:noFill/>
          <a:ln/>
        </p:spPr>
        <p:txBody>
          <a:bodyPr wrap="square" lIns="0" tIns="0" rIns="0" bIns="0" rtlCol="0" anchor="t"/>
          <a:lstStyle/>
          <a:p>
            <a:pPr indent="0" marL="0">
              <a:lnSpc>
                <a:spcPts val="1449"/>
              </a:lnSpc>
              <a:buNone/>
            </a:pPr>
            <a:r>
              <a:rPr lang="en-US" sz="1050" dirty="0">
                <a:solidFill>
                  <a:srgbClr val="3C3B57"/>
                </a:solidFill>
                <a:latin typeface="Malgun Gothic" pitchFamily="34" charset="0"/>
                <a:ea typeface="Malgun Gothic" pitchFamily="34" charset="-122"/>
                <a:cs typeface="Malgun Gothic" pitchFamily="34" charset="-120"/>
              </a:rPr>
              <a:t>새 키 생성 버튼</a:t>
            </a:r>
            <a:endParaRPr lang="en-US" sz="1050" dirty="0"/>
          </a:p>
          <a:p>
            <a:pPr indent="0" marL="0">
              <a:lnSpc>
                <a:spcPts val="1449"/>
              </a:lnSpc>
              <a:buNone/>
            </a:pPr>
            <a:r>
              <a:rPr lang="en-US" sz="1050" dirty="0">
                <a:solidFill>
                  <a:srgbClr val="3C3B57"/>
                </a:solidFill>
                <a:latin typeface="Malgun Gothic" pitchFamily="34" charset="0"/>
                <a:ea typeface="Malgun Gothic" pitchFamily="34" charset="-122"/>
                <a:cs typeface="Malgun Gothic" pitchFamily="34" charset="-120"/>
              </a:rPr>
              <a:t>클릭</a:t>
            </a:r>
            <a:endParaRPr lang="en-US" sz="1050" dirty="0"/>
          </a:p>
        </p:txBody>
      </p:sp>
      <p:sp>
        <p:nvSpPr>
          <p:cNvPr id="23" name="Shape 20"/>
          <p:cNvSpPr/>
          <p:nvPr/>
        </p:nvSpPr>
        <p:spPr>
          <a:xfrm>
            <a:off x="8803386" y="2505456"/>
            <a:ext cx="292608" cy="201168"/>
          </a:xfrm>
          <a:prstGeom prst="rightArrow">
            <a:avLst/>
          </a:prstGeom>
          <a:solidFill>
            <a:srgbClr val="E7E6FB"/>
          </a:solidFill>
          <a:ln/>
        </p:spPr>
      </p:sp>
      <p:sp>
        <p:nvSpPr>
          <p:cNvPr id="24" name="Shape 21"/>
          <p:cNvSpPr/>
          <p:nvPr/>
        </p:nvSpPr>
        <p:spPr>
          <a:xfrm>
            <a:off x="9224010" y="1874520"/>
            <a:ext cx="2306574" cy="1463040"/>
          </a:xfrm>
          <a:prstGeom prst="roundRect">
            <a:avLst>
              <a:gd name="adj" fmla="val 6250"/>
            </a:avLst>
          </a:prstGeom>
          <a:solidFill>
            <a:srgbClr val="FFFFFF"/>
          </a:solidFill>
          <a:ln/>
          <a:effectLst>
            <a:outerShdw sx="100000" sy="100000" kx="0" ky="0" algn="bl" rotWithShape="0" blurRad="152400" dist="25400" dir="5400000">
              <a:srgbClr val="1F1D48">
                <a:alpha val="16000"/>
              </a:srgbClr>
            </a:outerShdw>
          </a:effectLst>
        </p:spPr>
      </p:sp>
      <p:sp>
        <p:nvSpPr>
          <p:cNvPr id="25" name="Shape 22"/>
          <p:cNvSpPr/>
          <p:nvPr/>
        </p:nvSpPr>
        <p:spPr>
          <a:xfrm>
            <a:off x="9388602" y="2020824"/>
            <a:ext cx="384048" cy="384048"/>
          </a:xfrm>
          <a:prstGeom prst="ellipse">
            <a:avLst/>
          </a:prstGeom>
          <a:solidFill>
            <a:srgbClr val="14B8A6"/>
          </a:solidFill>
          <a:ln/>
        </p:spPr>
      </p:sp>
      <p:sp>
        <p:nvSpPr>
          <p:cNvPr id="26" name="Text 23"/>
          <p:cNvSpPr/>
          <p:nvPr/>
        </p:nvSpPr>
        <p:spPr>
          <a:xfrm>
            <a:off x="9388602" y="202082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4</a:t>
            </a:r>
            <a:endParaRPr lang="en-US" sz="1500" dirty="0"/>
          </a:p>
        </p:txBody>
      </p:sp>
      <p:sp>
        <p:nvSpPr>
          <p:cNvPr id="27" name="Text 24"/>
          <p:cNvSpPr/>
          <p:nvPr/>
        </p:nvSpPr>
        <p:spPr>
          <a:xfrm>
            <a:off x="9864090" y="2020824"/>
            <a:ext cx="1538478" cy="402336"/>
          </a:xfrm>
          <a:prstGeom prst="rect">
            <a:avLst/>
          </a:prstGeom>
          <a:noFill/>
          <a:ln/>
        </p:spPr>
        <p:txBody>
          <a:bodyPr wrap="square" lIns="0" tIns="0" rIns="0" bIns="0" rtlCol="0" anchor="ctr"/>
          <a:lstStyle/>
          <a:p>
            <a:pPr indent="0" marL="0">
              <a:buNone/>
            </a:pPr>
            <a:r>
              <a:rPr lang="en-US" sz="1250" b="1" dirty="0">
                <a:solidFill>
                  <a:srgbClr val="1E1B3A"/>
                </a:solidFill>
                <a:latin typeface="Malgun Gothic" pitchFamily="34" charset="0"/>
                <a:ea typeface="Malgun Gothic" pitchFamily="34" charset="-122"/>
                <a:cs typeface="Malgun Gothic" pitchFamily="34" charset="-120"/>
              </a:rPr>
              <a:t>키 복사</a:t>
            </a:r>
            <a:endParaRPr lang="en-US" sz="1250" dirty="0"/>
          </a:p>
        </p:txBody>
      </p:sp>
      <p:sp>
        <p:nvSpPr>
          <p:cNvPr id="28" name="Text 25"/>
          <p:cNvSpPr/>
          <p:nvPr/>
        </p:nvSpPr>
        <p:spPr>
          <a:xfrm>
            <a:off x="9388602" y="2496312"/>
            <a:ext cx="1977390" cy="713232"/>
          </a:xfrm>
          <a:prstGeom prst="rect">
            <a:avLst/>
          </a:prstGeom>
          <a:noFill/>
          <a:ln/>
        </p:spPr>
        <p:txBody>
          <a:bodyPr wrap="square" lIns="0" tIns="0" rIns="0" bIns="0" rtlCol="0" anchor="t"/>
          <a:lstStyle/>
          <a:p>
            <a:pPr indent="0" marL="0">
              <a:lnSpc>
                <a:spcPts val="1449"/>
              </a:lnSpc>
              <a:buNone/>
            </a:pPr>
            <a:r>
              <a:rPr lang="en-US" sz="1050" dirty="0">
                <a:solidFill>
                  <a:srgbClr val="3C3B57"/>
                </a:solidFill>
                <a:latin typeface="Malgun Gothic" pitchFamily="34" charset="0"/>
                <a:ea typeface="Malgun Gothic" pitchFamily="34" charset="-122"/>
                <a:cs typeface="Malgun Gothic" pitchFamily="34" charset="-120"/>
              </a:rPr>
              <a:t>AIza… 로 시작하는</a:t>
            </a:r>
            <a:endParaRPr lang="en-US" sz="1050" dirty="0"/>
          </a:p>
          <a:p>
            <a:pPr indent="0" marL="0">
              <a:lnSpc>
                <a:spcPts val="1449"/>
              </a:lnSpc>
              <a:buNone/>
            </a:pPr>
            <a:r>
              <a:rPr lang="en-US" sz="1050" dirty="0">
                <a:solidFill>
                  <a:srgbClr val="3C3B57"/>
                </a:solidFill>
                <a:latin typeface="Malgun Gothic" pitchFamily="34" charset="0"/>
                <a:ea typeface="Malgun Gothic" pitchFamily="34" charset="-122"/>
                <a:cs typeface="Malgun Gothic" pitchFamily="34" charset="-120"/>
              </a:rPr>
              <a:t>문자열을 복사</a:t>
            </a:r>
            <a:endParaRPr lang="en-US" sz="1050" dirty="0"/>
          </a:p>
        </p:txBody>
      </p:sp>
      <p:sp>
        <p:nvSpPr>
          <p:cNvPr id="29" name="Shape 26"/>
          <p:cNvSpPr/>
          <p:nvPr/>
        </p:nvSpPr>
        <p:spPr>
          <a:xfrm>
            <a:off x="658368" y="3794760"/>
            <a:ext cx="10872216" cy="914400"/>
          </a:xfrm>
          <a:prstGeom prst="roundRect">
            <a:avLst>
              <a:gd name="adj" fmla="val 10000"/>
            </a:avLst>
          </a:prstGeom>
          <a:solidFill>
            <a:srgbClr val="EEF0FF"/>
          </a:solidFill>
          <a:ln/>
        </p:spPr>
      </p:sp>
      <p:sp>
        <p:nvSpPr>
          <p:cNvPr id="30" name="Shape 27"/>
          <p:cNvSpPr/>
          <p:nvPr/>
        </p:nvSpPr>
        <p:spPr>
          <a:xfrm>
            <a:off x="877824" y="4014216"/>
            <a:ext cx="475488" cy="475488"/>
          </a:xfrm>
          <a:prstGeom prst="ellipse">
            <a:avLst/>
          </a:prstGeom>
          <a:solidFill>
            <a:srgbClr val="10B981"/>
          </a:solidFill>
          <a:ln/>
        </p:spPr>
      </p:sp>
      <p:pic>
        <p:nvPicPr>
          <p:cNvPr id="31" name="Image 1" descr="/home/claude/icons/check_white.png">    </p:cNvPr>
          <p:cNvPicPr>
            <a:picLocks noChangeAspect="1"/>
          </p:cNvPicPr>
          <p:nvPr/>
        </p:nvPicPr>
        <p:blipFill>
          <a:blip r:embed="rId2"/>
          <a:stretch>
            <a:fillRect/>
          </a:stretch>
        </p:blipFill>
        <p:spPr>
          <a:xfrm>
            <a:off x="996696" y="4133088"/>
            <a:ext cx="237744" cy="237744"/>
          </a:xfrm>
          <a:prstGeom prst="rect">
            <a:avLst/>
          </a:prstGeom>
        </p:spPr>
      </p:pic>
      <p:sp>
        <p:nvSpPr>
          <p:cNvPr id="32" name="Text 28"/>
          <p:cNvSpPr/>
          <p:nvPr/>
        </p:nvSpPr>
        <p:spPr>
          <a:xfrm>
            <a:off x="1554480" y="3886200"/>
            <a:ext cx="9738360" cy="731520"/>
          </a:xfrm>
          <a:prstGeom prst="rect">
            <a:avLst/>
          </a:prstGeom>
          <a:noFill/>
          <a:ln/>
        </p:spPr>
        <p:txBody>
          <a:bodyPr wrap="square" lIns="0" tIns="0" rIns="0" bIns="0" rtlCol="0" anchor="ctr"/>
          <a:lstStyle/>
          <a:p>
            <a:pPr indent="0" marL="0">
              <a:lnSpc>
                <a:spcPts val="1633"/>
              </a:lnSpc>
              <a:buNone/>
            </a:pPr>
            <a:r>
              <a:rPr lang="en-US" sz="1300" b="1" dirty="0">
                <a:solidFill>
                  <a:srgbClr val="1E1B3A"/>
                </a:solidFill>
                <a:latin typeface="Malgun Gothic" pitchFamily="34" charset="0"/>
                <a:ea typeface="Malgun Gothic" pitchFamily="34" charset="-122"/>
                <a:cs typeface="Malgun Gothic" pitchFamily="34" charset="-120"/>
              </a:rPr>
              <a:t>비용 걱정은 안 해도 됩니다
</a:t>
            </a:r>
            <a:pPr indent="0" marL="0">
              <a:lnSpc>
                <a:spcPts val="1633"/>
              </a:lnSpc>
              <a:buNone/>
            </a:pPr>
            <a:r>
              <a:rPr lang="en-US" sz="1150" dirty="0">
                <a:solidFill>
                  <a:srgbClr val="3C3B57"/>
                </a:solidFill>
                <a:latin typeface="Malgun Gothic" pitchFamily="34" charset="0"/>
                <a:ea typeface="Malgun Gothic" pitchFamily="34" charset="-122"/>
                <a:cs typeface="Malgun Gothic" pitchFamily="34" charset="-120"/>
              </a:rPr>
              <a:t>무료 등급으로 수업 실습은 충분합니다. 분당 요청 수 제한이 있어서 잠깐 기다리라는 메시지가 나올 수는 있지만, 결제 정보를 넣지 않는 한 요금이 나가지 않습니다.</a:t>
            </a:r>
            <a:endParaRPr lang="en-US" sz="1300" dirty="0"/>
          </a:p>
        </p:txBody>
      </p:sp>
      <p:sp>
        <p:nvSpPr>
          <p:cNvPr id="33" name="Text 29"/>
          <p:cNvSpPr/>
          <p:nvPr/>
        </p:nvSpPr>
        <p:spPr>
          <a:xfrm>
            <a:off x="658368" y="4983480"/>
            <a:ext cx="10872216" cy="914400"/>
          </a:xfrm>
          <a:prstGeom prst="rect">
            <a:avLst/>
          </a:prstGeom>
          <a:noFill/>
          <a:ln/>
        </p:spPr>
        <p:txBody>
          <a:bodyPr wrap="square" lIns="0" tIns="0" rIns="0" bIns="0" rtlCol="0" anchor="t"/>
          <a:lstStyle/>
          <a:p>
            <a:pPr algn="l" indent="0" marL="0">
              <a:lnSpc>
                <a:spcPts val="1900"/>
              </a:lnSpc>
              <a:buNone/>
            </a:pPr>
            <a:r>
              <a:rPr lang="en-US" sz="1250" dirty="0">
                <a:solidFill>
                  <a:srgbClr val="6B7185"/>
                </a:solidFill>
                <a:latin typeface="Malgun Gothic" pitchFamily="34" charset="0"/>
                <a:ea typeface="Malgun Gothic" pitchFamily="34" charset="-122"/>
                <a:cs typeface="Malgun Gothic" pitchFamily="34" charset="-120"/>
              </a:rPr>
              <a:t>복사한 키는 잠시 메모장에 두세요 — 단, 다음 장을 보기 전까지는 절대 아무 데도 올리지 않습니다.</a:t>
            </a:r>
            <a:endParaRPr lang="en-US" sz="1250" dirty="0"/>
          </a:p>
        </p:txBody>
      </p:sp>
      <p:sp>
        <p:nvSpPr>
          <p:cNvPr id="34" name="Text 30"/>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17</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907792" cy="384048"/>
          </a:xfrm>
          <a:prstGeom prst="roundRect">
            <a:avLst>
              <a:gd name="adj" fmla="val 50000"/>
            </a:avLst>
          </a:prstGeom>
          <a:solidFill>
            <a:srgbClr val="EDECFB"/>
          </a:solidFill>
          <a:ln/>
        </p:spPr>
      </p:sp>
      <p:pic>
        <p:nvPicPr>
          <p:cNvPr id="3" name="Image 0" descr="/home/claude/icons/bolt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523744"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3부 · AI 도구 환경 구축</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API 키는 비밀번호입니다</a:t>
            </a:r>
            <a:endParaRPr lang="en-US" sz="2600" dirty="0"/>
          </a:p>
        </p:txBody>
      </p:sp>
      <p:sp>
        <p:nvSpPr>
          <p:cNvPr id="6" name="Shape 3"/>
          <p:cNvSpPr/>
          <p:nvPr/>
        </p:nvSpPr>
        <p:spPr>
          <a:xfrm>
            <a:off x="658368" y="1828800"/>
            <a:ext cx="457200" cy="457200"/>
          </a:xfrm>
          <a:prstGeom prst="ellipse">
            <a:avLst/>
          </a:prstGeom>
          <a:solidFill>
            <a:srgbClr val="FB7185"/>
          </a:solidFill>
          <a:ln/>
        </p:spPr>
      </p:sp>
      <p:pic>
        <p:nvPicPr>
          <p:cNvPr id="7" name="Image 1" descr="/home/claude/icons/times_white.png">    </p:cNvPr>
          <p:cNvPicPr>
            <a:picLocks noChangeAspect="1"/>
          </p:cNvPicPr>
          <p:nvPr/>
        </p:nvPicPr>
        <p:blipFill>
          <a:blip r:embed="rId2"/>
          <a:stretch>
            <a:fillRect/>
          </a:stretch>
        </p:blipFill>
        <p:spPr>
          <a:xfrm>
            <a:off x="772668" y="1943100"/>
            <a:ext cx="228600" cy="228600"/>
          </a:xfrm>
          <a:prstGeom prst="rect">
            <a:avLst/>
          </a:prstGeom>
        </p:spPr>
      </p:pic>
      <p:sp>
        <p:nvSpPr>
          <p:cNvPr id="8" name="Text 4"/>
          <p:cNvSpPr/>
          <p:nvPr/>
        </p:nvSpPr>
        <p:spPr>
          <a:xfrm>
            <a:off x="1335024" y="1792224"/>
            <a:ext cx="10195560"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코드에 직접 붙여넣지 않는다</a:t>
            </a:r>
            <a:endParaRPr lang="en-US" sz="1400" dirty="0"/>
          </a:p>
        </p:txBody>
      </p:sp>
      <p:sp>
        <p:nvSpPr>
          <p:cNvPr id="9" name="Text 5"/>
          <p:cNvSpPr/>
          <p:nvPr/>
        </p:nvSpPr>
        <p:spPr>
          <a:xfrm>
            <a:off x="1335024" y="2066544"/>
            <a:ext cx="10195560" cy="804672"/>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api_key = "AIza..." 처럼 소스 코드에 키를 박는 순간, 그 파일이 가는 모든 곳에 비밀번호가 따라갑니다.</a:t>
            </a:r>
            <a:endParaRPr lang="en-US" sz="1150" dirty="0"/>
          </a:p>
        </p:txBody>
      </p:sp>
      <p:sp>
        <p:nvSpPr>
          <p:cNvPr id="10" name="Shape 6"/>
          <p:cNvSpPr/>
          <p:nvPr/>
        </p:nvSpPr>
        <p:spPr>
          <a:xfrm>
            <a:off x="658368" y="2871216"/>
            <a:ext cx="457200" cy="457200"/>
          </a:xfrm>
          <a:prstGeom prst="ellipse">
            <a:avLst/>
          </a:prstGeom>
          <a:solidFill>
            <a:srgbClr val="F59E0B"/>
          </a:solidFill>
          <a:ln/>
        </p:spPr>
      </p:sp>
      <p:pic>
        <p:nvPicPr>
          <p:cNvPr id="11" name="Image 2" descr="/home/claude/icons/warn_white.png">    </p:cNvPr>
          <p:cNvPicPr>
            <a:picLocks noChangeAspect="1"/>
          </p:cNvPicPr>
          <p:nvPr/>
        </p:nvPicPr>
        <p:blipFill>
          <a:blip r:embed="rId3"/>
          <a:stretch>
            <a:fillRect/>
          </a:stretch>
        </p:blipFill>
        <p:spPr>
          <a:xfrm>
            <a:off x="772668" y="2985516"/>
            <a:ext cx="228600" cy="228600"/>
          </a:xfrm>
          <a:prstGeom prst="rect">
            <a:avLst/>
          </a:prstGeom>
        </p:spPr>
      </p:pic>
      <p:sp>
        <p:nvSpPr>
          <p:cNvPr id="12" name="Text 7"/>
          <p:cNvSpPr/>
          <p:nvPr/>
        </p:nvSpPr>
        <p:spPr>
          <a:xfrm>
            <a:off x="1335024" y="2834640"/>
            <a:ext cx="10195560"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GitHub에 올라간 키는 몇 분 안에 수집됩니다</a:t>
            </a:r>
            <a:endParaRPr lang="en-US" sz="1400" dirty="0"/>
          </a:p>
        </p:txBody>
      </p:sp>
      <p:sp>
        <p:nvSpPr>
          <p:cNvPr id="13" name="Text 8"/>
          <p:cNvSpPr/>
          <p:nvPr/>
        </p:nvSpPr>
        <p:spPr>
          <a:xfrm>
            <a:off x="1335024" y="3108960"/>
            <a:ext cx="10195560" cy="804672"/>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공개 저장소를 훑는 봇이 상시 돌고 있습니다 — 유출된 키로 남이 요청을 보내면 한도 소진과 과금 피해는 내 몫입니다.</a:t>
            </a:r>
            <a:endParaRPr lang="en-US" sz="1150" dirty="0"/>
          </a:p>
        </p:txBody>
      </p:sp>
      <p:sp>
        <p:nvSpPr>
          <p:cNvPr id="14" name="Shape 9"/>
          <p:cNvSpPr/>
          <p:nvPr/>
        </p:nvSpPr>
        <p:spPr>
          <a:xfrm>
            <a:off x="658368" y="3913632"/>
            <a:ext cx="457200" cy="457200"/>
          </a:xfrm>
          <a:prstGeom prst="ellipse">
            <a:avLst/>
          </a:prstGeom>
          <a:solidFill>
            <a:srgbClr val="4F46E5"/>
          </a:solidFill>
          <a:ln/>
        </p:spPr>
      </p:sp>
      <p:pic>
        <p:nvPicPr>
          <p:cNvPr id="15" name="Image 3" descr="/home/claude/icons/sync_white.png">    </p:cNvPr>
          <p:cNvPicPr>
            <a:picLocks noChangeAspect="1"/>
          </p:cNvPicPr>
          <p:nvPr/>
        </p:nvPicPr>
        <p:blipFill>
          <a:blip r:embed="rId4"/>
          <a:stretch>
            <a:fillRect/>
          </a:stretch>
        </p:blipFill>
        <p:spPr>
          <a:xfrm>
            <a:off x="772668" y="4027932"/>
            <a:ext cx="228600" cy="228600"/>
          </a:xfrm>
          <a:prstGeom prst="rect">
            <a:avLst/>
          </a:prstGeom>
        </p:spPr>
      </p:pic>
      <p:sp>
        <p:nvSpPr>
          <p:cNvPr id="16" name="Text 10"/>
          <p:cNvSpPr/>
          <p:nvPr/>
        </p:nvSpPr>
        <p:spPr>
          <a:xfrm>
            <a:off x="1335024" y="3877056"/>
            <a:ext cx="10195560"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유출이 의심되면 즉시 폐기 · 재발급</a:t>
            </a:r>
            <a:endParaRPr lang="en-US" sz="1400" dirty="0"/>
          </a:p>
        </p:txBody>
      </p:sp>
      <p:sp>
        <p:nvSpPr>
          <p:cNvPr id="17" name="Text 11"/>
          <p:cNvSpPr/>
          <p:nvPr/>
        </p:nvSpPr>
        <p:spPr>
          <a:xfrm>
            <a:off x="1335024" y="4151376"/>
            <a:ext cx="10195560" cy="804672"/>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AI Studio에서 해당 키를 Delete 하고 새로 만들면 됩니다 — 키는 얼마든지 다시 만들 수 있으니 아까워하지 마세요.</a:t>
            </a:r>
            <a:endParaRPr lang="en-US" sz="1150" dirty="0"/>
          </a:p>
        </p:txBody>
      </p:sp>
      <p:sp>
        <p:nvSpPr>
          <p:cNvPr id="18" name="Shape 12"/>
          <p:cNvSpPr/>
          <p:nvPr/>
        </p:nvSpPr>
        <p:spPr>
          <a:xfrm>
            <a:off x="658368" y="5120640"/>
            <a:ext cx="10872216" cy="868680"/>
          </a:xfrm>
          <a:prstGeom prst="roundRect">
            <a:avLst>
              <a:gd name="adj" fmla="val 10526"/>
            </a:avLst>
          </a:prstGeom>
          <a:solidFill>
            <a:srgbClr val="EEF0FF"/>
          </a:solidFill>
          <a:ln/>
        </p:spPr>
      </p:sp>
      <p:sp>
        <p:nvSpPr>
          <p:cNvPr id="19" name="Shape 13"/>
          <p:cNvSpPr/>
          <p:nvPr/>
        </p:nvSpPr>
        <p:spPr>
          <a:xfrm>
            <a:off x="877824" y="5317236"/>
            <a:ext cx="475488" cy="475488"/>
          </a:xfrm>
          <a:prstGeom prst="ellipse">
            <a:avLst/>
          </a:prstGeom>
          <a:solidFill>
            <a:srgbClr val="10B981"/>
          </a:solidFill>
          <a:ln/>
        </p:spPr>
      </p:sp>
      <p:pic>
        <p:nvPicPr>
          <p:cNvPr id="20" name="Image 4" descr="/home/claude/icons/lock_white.png">    </p:cNvPr>
          <p:cNvPicPr>
            <a:picLocks noChangeAspect="1"/>
          </p:cNvPicPr>
          <p:nvPr/>
        </p:nvPicPr>
        <p:blipFill>
          <a:blip r:embed="rId5"/>
          <a:stretch>
            <a:fillRect/>
          </a:stretch>
        </p:blipFill>
        <p:spPr>
          <a:xfrm>
            <a:off x="996696" y="5436108"/>
            <a:ext cx="237744" cy="237744"/>
          </a:xfrm>
          <a:prstGeom prst="rect">
            <a:avLst/>
          </a:prstGeom>
        </p:spPr>
      </p:pic>
      <p:sp>
        <p:nvSpPr>
          <p:cNvPr id="21" name="Text 14"/>
          <p:cNvSpPr/>
          <p:nvPr/>
        </p:nvSpPr>
        <p:spPr>
          <a:xfrm>
            <a:off x="1554480" y="5212080"/>
            <a:ext cx="9738360" cy="685800"/>
          </a:xfrm>
          <a:prstGeom prst="rect">
            <a:avLst/>
          </a:prstGeom>
          <a:noFill/>
          <a:ln/>
        </p:spPr>
        <p:txBody>
          <a:bodyPr wrap="square" lIns="0" tIns="0" rIns="0" bIns="0" rtlCol="0" anchor="ctr"/>
          <a:lstStyle/>
          <a:p>
            <a:pPr indent="0" marL="0">
              <a:lnSpc>
                <a:spcPts val="1633"/>
              </a:lnSpc>
              <a:buNone/>
            </a:pPr>
            <a:r>
              <a:rPr lang="en-US" sz="1300" b="1" dirty="0">
                <a:solidFill>
                  <a:srgbClr val="1E1B3A"/>
                </a:solidFill>
                <a:latin typeface="Malgun Gothic" pitchFamily="34" charset="0"/>
                <a:ea typeface="Malgun Gothic" pitchFamily="34" charset="-122"/>
                <a:cs typeface="Malgun Gothic" pitchFamily="34" charset="-120"/>
              </a:rPr>
              <a:t>그래서 쓰는 방법이 '환경변수'입니다
</a:t>
            </a:r>
            <a:pPr indent="0" marL="0">
              <a:lnSpc>
                <a:spcPts val="1633"/>
              </a:lnSpc>
              <a:buNone/>
            </a:pPr>
            <a:r>
              <a:rPr lang="en-US" sz="1150" dirty="0">
                <a:solidFill>
                  <a:srgbClr val="3C3B57"/>
                </a:solidFill>
                <a:latin typeface="Malgun Gothic" pitchFamily="34" charset="0"/>
                <a:ea typeface="Malgun Gothic" pitchFamily="34" charset="-122"/>
                <a:cs typeface="Malgun Gothic" pitchFamily="34" charset="-120"/>
              </a:rPr>
              <a:t>키를 코드 밖, 내 컴퓨터의 설정에 보관하고 프로그램이 이름으로 꺼내 쓰게 합니다 — 코드에는 키가 없으니 저장소에 올려도 안전합니다. 지금 바로 설정해 봅시다.</a:t>
            </a:r>
            <a:endParaRPr lang="en-US" sz="1300" dirty="0"/>
          </a:p>
        </p:txBody>
      </p:sp>
      <p:sp>
        <p:nvSpPr>
          <p:cNvPr id="22" name="Text 15"/>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18</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907792" cy="384048"/>
          </a:xfrm>
          <a:prstGeom prst="roundRect">
            <a:avLst>
              <a:gd name="adj" fmla="val 50000"/>
            </a:avLst>
          </a:prstGeom>
          <a:solidFill>
            <a:srgbClr val="EDECFB"/>
          </a:solidFill>
          <a:ln/>
        </p:spPr>
      </p:sp>
      <p:pic>
        <p:nvPicPr>
          <p:cNvPr id="3" name="Image 0" descr="/home/claude/icons/bolt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523744"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3부 · AI 도구 환경 구축</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② 환경변수 설정 — Windows</a:t>
            </a:r>
            <a:endParaRPr lang="en-US" sz="2600" dirty="0"/>
          </a:p>
        </p:txBody>
      </p:sp>
      <p:sp>
        <p:nvSpPr>
          <p:cNvPr id="6" name="Shape 3"/>
          <p:cNvSpPr/>
          <p:nvPr/>
        </p:nvSpPr>
        <p:spPr>
          <a:xfrm>
            <a:off x="658368" y="1828800"/>
            <a:ext cx="6400800" cy="2834640"/>
          </a:xfrm>
          <a:prstGeom prst="roundRect">
            <a:avLst>
              <a:gd name="adj" fmla="val 3226"/>
            </a:avLst>
          </a:prstGeom>
          <a:solidFill>
            <a:srgbClr val="1D1C3D"/>
          </a:solidFill>
          <a:ln/>
          <a:effectLst>
            <a:outerShdw sx="100000" sy="100000" kx="0" ky="0" algn="bl" rotWithShape="0" blurRad="152400" dist="25400" dir="5400000">
              <a:srgbClr val="1F1D48">
                <a:alpha val="16000"/>
              </a:srgbClr>
            </a:outerShdw>
          </a:effectLst>
        </p:spPr>
      </p:sp>
      <p:sp>
        <p:nvSpPr>
          <p:cNvPr id="7" name="Shape 4"/>
          <p:cNvSpPr/>
          <p:nvPr/>
        </p:nvSpPr>
        <p:spPr>
          <a:xfrm>
            <a:off x="658368" y="1828800"/>
            <a:ext cx="6400800" cy="329184"/>
          </a:xfrm>
          <a:prstGeom prst="roundRect">
            <a:avLst>
              <a:gd name="adj" fmla="val 27778"/>
            </a:avLst>
          </a:prstGeom>
          <a:solidFill>
            <a:srgbClr val="2A2856"/>
          </a:solidFill>
          <a:ln/>
        </p:spPr>
      </p:sp>
      <p:sp>
        <p:nvSpPr>
          <p:cNvPr id="8" name="Shape 5"/>
          <p:cNvSpPr/>
          <p:nvPr/>
        </p:nvSpPr>
        <p:spPr>
          <a:xfrm>
            <a:off x="658368" y="2011680"/>
            <a:ext cx="6400800" cy="146304"/>
          </a:xfrm>
          <a:prstGeom prst="rect">
            <a:avLst/>
          </a:prstGeom>
          <a:solidFill>
            <a:srgbClr val="2A2856"/>
          </a:solidFill>
          <a:ln/>
        </p:spPr>
      </p:sp>
      <p:sp>
        <p:nvSpPr>
          <p:cNvPr id="9" name="Shape 6"/>
          <p:cNvSpPr/>
          <p:nvPr/>
        </p:nvSpPr>
        <p:spPr>
          <a:xfrm>
            <a:off x="804672" y="1943100"/>
            <a:ext cx="100584" cy="100584"/>
          </a:xfrm>
          <a:prstGeom prst="ellipse">
            <a:avLst/>
          </a:prstGeom>
          <a:solidFill>
            <a:srgbClr val="FF5F56"/>
          </a:solidFill>
          <a:ln/>
        </p:spPr>
      </p:sp>
      <p:sp>
        <p:nvSpPr>
          <p:cNvPr id="10" name="Shape 7"/>
          <p:cNvSpPr/>
          <p:nvPr/>
        </p:nvSpPr>
        <p:spPr>
          <a:xfrm>
            <a:off x="987552" y="1943100"/>
            <a:ext cx="100584" cy="100584"/>
          </a:xfrm>
          <a:prstGeom prst="ellipse">
            <a:avLst/>
          </a:prstGeom>
          <a:solidFill>
            <a:srgbClr val="FFBD2E"/>
          </a:solidFill>
          <a:ln/>
        </p:spPr>
      </p:sp>
      <p:sp>
        <p:nvSpPr>
          <p:cNvPr id="11" name="Shape 8"/>
          <p:cNvSpPr/>
          <p:nvPr/>
        </p:nvSpPr>
        <p:spPr>
          <a:xfrm>
            <a:off x="1170432" y="1943100"/>
            <a:ext cx="100584" cy="100584"/>
          </a:xfrm>
          <a:prstGeom prst="ellipse">
            <a:avLst/>
          </a:prstGeom>
          <a:solidFill>
            <a:srgbClr val="27C93F"/>
          </a:solidFill>
          <a:ln/>
        </p:spPr>
      </p:sp>
      <p:sp>
        <p:nvSpPr>
          <p:cNvPr id="12" name="Text 9"/>
          <p:cNvSpPr/>
          <p:nvPr/>
        </p:nvSpPr>
        <p:spPr>
          <a:xfrm>
            <a:off x="1481328" y="1828800"/>
            <a:ext cx="4754880" cy="329184"/>
          </a:xfrm>
          <a:prstGeom prst="rect">
            <a:avLst/>
          </a:prstGeom>
          <a:noFill/>
          <a:ln/>
        </p:spPr>
        <p:txBody>
          <a:bodyPr wrap="square" lIns="0" tIns="0" rIns="0" bIns="0" rtlCol="0" anchor="ctr"/>
          <a:lstStyle/>
          <a:p>
            <a:pPr algn="ctr" indent="0" marL="0">
              <a:buNone/>
            </a:pPr>
            <a:r>
              <a:rPr lang="en-US" sz="1000" dirty="0">
                <a:solidFill>
                  <a:srgbClr val="C9C9E6"/>
                </a:solidFill>
                <a:latin typeface="Consolas" pitchFamily="34" charset="0"/>
                <a:ea typeface="Consolas" pitchFamily="34" charset="-122"/>
                <a:cs typeface="Consolas" pitchFamily="34" charset="-120"/>
              </a:rPr>
              <a:t>PowerShell / CMD</a:t>
            </a:r>
            <a:endParaRPr lang="en-US" sz="1000" dirty="0"/>
          </a:p>
        </p:txBody>
      </p:sp>
      <p:sp>
        <p:nvSpPr>
          <p:cNvPr id="13" name="Text 10"/>
          <p:cNvSpPr/>
          <p:nvPr/>
        </p:nvSpPr>
        <p:spPr>
          <a:xfrm>
            <a:off x="877824" y="2249424"/>
            <a:ext cx="5980176" cy="2267712"/>
          </a:xfrm>
          <a:prstGeom prst="rect">
            <a:avLst/>
          </a:prstGeom>
          <a:noFill/>
          <a:ln/>
        </p:spPr>
        <p:txBody>
          <a:bodyPr wrap="square" lIns="0" tIns="0" rIns="0" bIns="0" rtlCol="0" anchor="t"/>
          <a:lstStyle/>
          <a:p>
            <a:pPr indent="0" marL="0">
              <a:lnSpc>
                <a:spcPts val="1824"/>
              </a:lnSpc>
              <a:buNone/>
            </a:pPr>
            <a:r>
              <a:rPr lang="en-US" sz="1200" dirty="0">
                <a:solidFill>
                  <a:srgbClr val="C7A8F7"/>
                </a:solidFill>
                <a:latin typeface="Consolas" pitchFamily="34" charset="0"/>
                <a:ea typeface="Consolas" pitchFamily="34" charset="-122"/>
                <a:cs typeface="Consolas" pitchFamily="34" charset="-120"/>
              </a:rPr>
              <a:t>setx</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 </a:t>
            </a:r>
            <a:pPr indent="0" marL="0">
              <a:lnSpc>
                <a:spcPts val="1824"/>
              </a:lnSpc>
              <a:buNone/>
            </a:pPr>
            <a:r>
              <a:rPr lang="en-US" sz="1200" dirty="0">
                <a:solidFill>
                  <a:srgbClr val="F7C978"/>
                </a:solidFill>
                <a:latin typeface="Consolas" pitchFamily="34" charset="0"/>
                <a:ea typeface="Consolas" pitchFamily="34" charset="-122"/>
                <a:cs typeface="Consolas" pitchFamily="34" charset="-120"/>
              </a:rPr>
              <a:t>GEMINI_API_KEY</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 </a:t>
            </a:r>
            <a:pPr indent="0" marL="0">
              <a:lnSpc>
                <a:spcPts val="1824"/>
              </a:lnSpc>
              <a:buNone/>
            </a:pPr>
            <a:r>
              <a:rPr lang="en-US" sz="1200" dirty="0">
                <a:solidFill>
                  <a:srgbClr val="9FE0A0"/>
                </a:solidFill>
                <a:latin typeface="Consolas" pitchFamily="34" charset="0"/>
                <a:ea typeface="Consolas" pitchFamily="34" charset="-122"/>
                <a:cs typeface="Consolas" pitchFamily="34" charset="-120"/>
              </a:rPr>
              <a:t>"AIza...본인키"</a:t>
            </a:r>
            <a:endParaRPr lang="en-US" sz="1200" dirty="0"/>
          </a:p>
          <a:p>
            <a:pPr indent="0" marL="0">
              <a:lnSpc>
                <a:spcPts val="1824"/>
              </a:lnSpc>
              <a:buNone/>
            </a:pPr>
            <a:r>
              <a:rPr lang="en-US" sz="1200" dirty="0">
                <a:solidFill>
                  <a:srgbClr val="8686AA"/>
                </a:solidFill>
                <a:latin typeface="Consolas" pitchFamily="34" charset="0"/>
                <a:ea typeface="Consolas" pitchFamily="34" charset="-122"/>
                <a:cs typeface="Consolas" pitchFamily="34" charset="-120"/>
              </a:rPr>
              <a:t># '성공' 메시지가 나오면 등록 완료</a:t>
            </a:r>
            <a:endParaRPr lang="en-US" sz="1200" dirty="0"/>
          </a:p>
          <a:p>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 </a:t>
            </a:r>
            <a:endParaRPr lang="en-US" sz="1200" dirty="0"/>
          </a:p>
          <a:p>
            <a:pPr indent="0" marL="0">
              <a:lnSpc>
                <a:spcPts val="1824"/>
              </a:lnSpc>
              <a:buNone/>
            </a:pPr>
            <a:r>
              <a:rPr lang="en-US" sz="1200" dirty="0">
                <a:solidFill>
                  <a:srgbClr val="8686AA"/>
                </a:solidFill>
                <a:latin typeface="Consolas" pitchFamily="34" charset="0"/>
                <a:ea typeface="Consolas" pitchFamily="34" charset="-122"/>
                <a:cs typeface="Consolas" pitchFamily="34" charset="-120"/>
              </a:rPr>
              <a:t># ※ 반드시 '새' 터미널을 열고 확인</a:t>
            </a:r>
            <a:endParaRPr lang="en-US" sz="1200" dirty="0"/>
          </a:p>
          <a:p>
            <a:pPr indent="0" marL="0">
              <a:lnSpc>
                <a:spcPts val="1824"/>
              </a:lnSpc>
              <a:buNone/>
            </a:pPr>
            <a:r>
              <a:rPr lang="en-US" sz="1200" dirty="0">
                <a:solidFill>
                  <a:srgbClr val="C7A8F7"/>
                </a:solidFill>
                <a:latin typeface="Consolas" pitchFamily="34" charset="0"/>
                <a:ea typeface="Consolas" pitchFamily="34" charset="-122"/>
                <a:cs typeface="Consolas" pitchFamily="34" charset="-120"/>
              </a:rPr>
              <a:t>echo</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 </a:t>
            </a:r>
            <a:pPr indent="0" marL="0">
              <a:lnSpc>
                <a:spcPts val="1824"/>
              </a:lnSpc>
              <a:buNone/>
            </a:pPr>
            <a:r>
              <a:rPr lang="en-US" sz="1200" dirty="0">
                <a:solidFill>
                  <a:srgbClr val="F7C978"/>
                </a:solidFill>
                <a:latin typeface="Consolas" pitchFamily="34" charset="0"/>
                <a:ea typeface="Consolas" pitchFamily="34" charset="-122"/>
                <a:cs typeface="Consolas" pitchFamily="34" charset="-120"/>
              </a:rPr>
              <a:t>%</a:t>
            </a:r>
            <a:pPr indent="0" marL="0">
              <a:lnSpc>
                <a:spcPts val="1824"/>
              </a:lnSpc>
              <a:buNone/>
            </a:pPr>
            <a:r>
              <a:rPr lang="en-US" sz="1200" dirty="0">
                <a:solidFill>
                  <a:srgbClr val="F7C978"/>
                </a:solidFill>
                <a:latin typeface="Consolas" pitchFamily="34" charset="0"/>
                <a:ea typeface="Consolas" pitchFamily="34" charset="-122"/>
                <a:cs typeface="Consolas" pitchFamily="34" charset="-120"/>
              </a:rPr>
              <a:t>GEMINI_API_KEY</a:t>
            </a:r>
            <a:pPr indent="0" marL="0">
              <a:lnSpc>
                <a:spcPts val="1824"/>
              </a:lnSpc>
              <a:buNone/>
            </a:pPr>
            <a:r>
              <a:rPr lang="en-US" sz="1200" dirty="0">
                <a:solidFill>
                  <a:srgbClr val="F7C978"/>
                </a:solidFill>
                <a:latin typeface="Consolas" pitchFamily="34" charset="0"/>
                <a:ea typeface="Consolas" pitchFamily="34" charset="-122"/>
                <a:cs typeface="Consolas" pitchFamily="34" charset="-120"/>
              </a:rPr>
              <a:t>%</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       </a:t>
            </a:r>
            <a:pPr indent="0" marL="0">
              <a:lnSpc>
                <a:spcPts val="1824"/>
              </a:lnSpc>
              <a:buNone/>
            </a:pPr>
            <a:r>
              <a:rPr lang="en-US" sz="1200" dirty="0">
                <a:solidFill>
                  <a:srgbClr val="8686AA"/>
                </a:solidFill>
                <a:latin typeface="Consolas" pitchFamily="34" charset="0"/>
                <a:ea typeface="Consolas" pitchFamily="34" charset="-122"/>
                <a:cs typeface="Consolas" pitchFamily="34" charset="-120"/>
              </a:rPr>
              <a:t># CMD</a:t>
            </a:r>
            <a:endParaRPr lang="en-US" sz="1200" dirty="0"/>
          </a:p>
          <a:p>
            <a:pPr indent="0" marL="0">
              <a:lnSpc>
                <a:spcPts val="1824"/>
              </a:lnSpc>
              <a:buNone/>
            </a:pPr>
            <a:r>
              <a:rPr lang="en-US" sz="1200" dirty="0">
                <a:solidFill>
                  <a:srgbClr val="C7A8F7"/>
                </a:solidFill>
                <a:latin typeface="Consolas" pitchFamily="34" charset="0"/>
                <a:ea typeface="Consolas" pitchFamily="34" charset="-122"/>
                <a:cs typeface="Consolas" pitchFamily="34" charset="-120"/>
              </a:rPr>
              <a:t>echo</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 </a:t>
            </a:r>
            <a:pPr indent="0" marL="0">
              <a:lnSpc>
                <a:spcPts val="1824"/>
              </a:lnSpc>
              <a:buNone/>
            </a:pPr>
            <a:r>
              <a:rPr lang="en-US" sz="1200" dirty="0">
                <a:solidFill>
                  <a:srgbClr val="F7C978"/>
                </a:solidFill>
                <a:latin typeface="Consolas" pitchFamily="34" charset="0"/>
                <a:ea typeface="Consolas" pitchFamily="34" charset="-122"/>
                <a:cs typeface="Consolas" pitchFamily="34" charset="-120"/>
              </a:rPr>
              <a:t>$</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env</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a:t>
            </a:r>
            <a:pPr indent="0" marL="0">
              <a:lnSpc>
                <a:spcPts val="1824"/>
              </a:lnSpc>
              <a:buNone/>
            </a:pPr>
            <a:r>
              <a:rPr lang="en-US" sz="1200" dirty="0">
                <a:solidFill>
                  <a:srgbClr val="F7C978"/>
                </a:solidFill>
                <a:latin typeface="Consolas" pitchFamily="34" charset="0"/>
                <a:ea typeface="Consolas" pitchFamily="34" charset="-122"/>
                <a:cs typeface="Consolas" pitchFamily="34" charset="-120"/>
              </a:rPr>
              <a:t>GEMINI_API_KEY</a:t>
            </a:r>
            <a:pPr indent="0" marL="0">
              <a:lnSpc>
                <a:spcPts val="1824"/>
              </a:lnSpc>
              <a:buNone/>
            </a:pPr>
            <a:r>
              <a:rPr lang="en-US" sz="1200" dirty="0">
                <a:solidFill>
                  <a:srgbClr val="DCDCF0"/>
                </a:solidFill>
                <a:latin typeface="Consolas" pitchFamily="34" charset="0"/>
                <a:ea typeface="Consolas" pitchFamily="34" charset="-122"/>
                <a:cs typeface="Consolas" pitchFamily="34" charset="-120"/>
              </a:rPr>
              <a:t>    </a:t>
            </a:r>
            <a:pPr indent="0" marL="0">
              <a:lnSpc>
                <a:spcPts val="1824"/>
              </a:lnSpc>
              <a:buNone/>
            </a:pPr>
            <a:r>
              <a:rPr lang="en-US" sz="1200" dirty="0">
                <a:solidFill>
                  <a:srgbClr val="8686AA"/>
                </a:solidFill>
                <a:latin typeface="Consolas" pitchFamily="34" charset="0"/>
                <a:ea typeface="Consolas" pitchFamily="34" charset="-122"/>
                <a:cs typeface="Consolas" pitchFamily="34" charset="-120"/>
              </a:rPr>
              <a:t># PowerShell</a:t>
            </a:r>
            <a:endParaRPr lang="en-US" sz="1200" dirty="0"/>
          </a:p>
        </p:txBody>
      </p:sp>
      <p:sp>
        <p:nvSpPr>
          <p:cNvPr id="14" name="Shape 11"/>
          <p:cNvSpPr/>
          <p:nvPr/>
        </p:nvSpPr>
        <p:spPr>
          <a:xfrm>
            <a:off x="7360920" y="1920240"/>
            <a:ext cx="457200" cy="457200"/>
          </a:xfrm>
          <a:prstGeom prst="ellipse">
            <a:avLst/>
          </a:prstGeom>
          <a:solidFill>
            <a:srgbClr val="F59E0B"/>
          </a:solidFill>
          <a:ln/>
        </p:spPr>
      </p:sp>
      <p:pic>
        <p:nvPicPr>
          <p:cNvPr id="15" name="Image 1" descr="/home/claude/icons/warn_white.png">    </p:cNvPr>
          <p:cNvPicPr>
            <a:picLocks noChangeAspect="1"/>
          </p:cNvPicPr>
          <p:nvPr/>
        </p:nvPicPr>
        <p:blipFill>
          <a:blip r:embed="rId2"/>
          <a:stretch>
            <a:fillRect/>
          </a:stretch>
        </p:blipFill>
        <p:spPr>
          <a:xfrm>
            <a:off x="7475220" y="2034540"/>
            <a:ext cx="228600" cy="228600"/>
          </a:xfrm>
          <a:prstGeom prst="rect">
            <a:avLst/>
          </a:prstGeom>
        </p:spPr>
      </p:pic>
      <p:sp>
        <p:nvSpPr>
          <p:cNvPr id="16" name="Text 12"/>
          <p:cNvSpPr/>
          <p:nvPr/>
        </p:nvSpPr>
        <p:spPr>
          <a:xfrm>
            <a:off x="8037576" y="1883664"/>
            <a:ext cx="3483864" cy="274320"/>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가장 흔한 실수</a:t>
            </a:r>
            <a:endParaRPr lang="en-US" sz="1300" dirty="0"/>
          </a:p>
        </p:txBody>
      </p:sp>
      <p:sp>
        <p:nvSpPr>
          <p:cNvPr id="17" name="Text 13"/>
          <p:cNvSpPr/>
          <p:nvPr/>
        </p:nvSpPr>
        <p:spPr>
          <a:xfrm>
            <a:off x="8037576" y="2157984"/>
            <a:ext cx="3483864" cy="996696"/>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setx는 이미 열려 있는 터미널에는 적용되지 않습니다 — 꼭 새 창에서 확인하세요.</a:t>
            </a:r>
            <a:endParaRPr lang="en-US" sz="1100" dirty="0"/>
          </a:p>
        </p:txBody>
      </p:sp>
      <p:sp>
        <p:nvSpPr>
          <p:cNvPr id="18" name="Shape 14"/>
          <p:cNvSpPr/>
          <p:nvPr/>
        </p:nvSpPr>
        <p:spPr>
          <a:xfrm>
            <a:off x="7360920" y="3154680"/>
            <a:ext cx="457200" cy="457200"/>
          </a:xfrm>
          <a:prstGeom prst="ellipse">
            <a:avLst/>
          </a:prstGeom>
          <a:solidFill>
            <a:srgbClr val="4F46E5"/>
          </a:solidFill>
          <a:ln/>
        </p:spPr>
      </p:sp>
      <p:pic>
        <p:nvPicPr>
          <p:cNvPr id="19" name="Image 2" descr="/home/claude/icons/eye_white.png">    </p:cNvPr>
          <p:cNvPicPr>
            <a:picLocks noChangeAspect="1"/>
          </p:cNvPicPr>
          <p:nvPr/>
        </p:nvPicPr>
        <p:blipFill>
          <a:blip r:embed="rId3"/>
          <a:stretch>
            <a:fillRect/>
          </a:stretch>
        </p:blipFill>
        <p:spPr>
          <a:xfrm>
            <a:off x="7475220" y="3268980"/>
            <a:ext cx="228600" cy="228600"/>
          </a:xfrm>
          <a:prstGeom prst="rect">
            <a:avLst/>
          </a:prstGeom>
        </p:spPr>
      </p:pic>
      <p:sp>
        <p:nvSpPr>
          <p:cNvPr id="20" name="Text 15"/>
          <p:cNvSpPr/>
          <p:nvPr/>
        </p:nvSpPr>
        <p:spPr>
          <a:xfrm>
            <a:off x="8037576" y="3118104"/>
            <a:ext cx="3483864" cy="274320"/>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GUI로도 가능</a:t>
            </a:r>
            <a:endParaRPr lang="en-US" sz="1300" dirty="0"/>
          </a:p>
        </p:txBody>
      </p:sp>
      <p:sp>
        <p:nvSpPr>
          <p:cNvPr id="21" name="Text 16"/>
          <p:cNvSpPr/>
          <p:nvPr/>
        </p:nvSpPr>
        <p:spPr>
          <a:xfrm>
            <a:off x="8037576" y="3392424"/>
            <a:ext cx="3483864" cy="996696"/>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설정 → 시스템 → 정보 → 고급 시스템 설정 → 환경 변수에서 같은 이름으로 추가해도 됩니다.</a:t>
            </a:r>
            <a:endParaRPr lang="en-US" sz="1100" dirty="0"/>
          </a:p>
        </p:txBody>
      </p:sp>
      <p:sp>
        <p:nvSpPr>
          <p:cNvPr id="22" name="Shape 17"/>
          <p:cNvSpPr/>
          <p:nvPr/>
        </p:nvSpPr>
        <p:spPr>
          <a:xfrm>
            <a:off x="658368" y="4983480"/>
            <a:ext cx="10872216" cy="777240"/>
          </a:xfrm>
          <a:prstGeom prst="roundRect">
            <a:avLst>
              <a:gd name="adj" fmla="val 11765"/>
            </a:avLst>
          </a:prstGeom>
          <a:solidFill>
            <a:srgbClr val="F5F4FC"/>
          </a:solidFill>
          <a:ln/>
        </p:spPr>
      </p:sp>
      <p:sp>
        <p:nvSpPr>
          <p:cNvPr id="23" name="Shape 18"/>
          <p:cNvSpPr/>
          <p:nvPr/>
        </p:nvSpPr>
        <p:spPr>
          <a:xfrm>
            <a:off x="877824" y="5134356"/>
            <a:ext cx="475488" cy="475488"/>
          </a:xfrm>
          <a:prstGeom prst="ellipse">
            <a:avLst/>
          </a:prstGeom>
          <a:solidFill>
            <a:srgbClr val="10B981"/>
          </a:solidFill>
          <a:ln/>
        </p:spPr>
      </p:sp>
      <p:pic>
        <p:nvPicPr>
          <p:cNvPr id="24" name="Image 3" descr="/home/claude/icons/check_white.png">    </p:cNvPr>
          <p:cNvPicPr>
            <a:picLocks noChangeAspect="1"/>
          </p:cNvPicPr>
          <p:nvPr/>
        </p:nvPicPr>
        <p:blipFill>
          <a:blip r:embed="rId4"/>
          <a:stretch>
            <a:fillRect/>
          </a:stretch>
        </p:blipFill>
        <p:spPr>
          <a:xfrm>
            <a:off x="996696" y="5253228"/>
            <a:ext cx="237744" cy="237744"/>
          </a:xfrm>
          <a:prstGeom prst="rect">
            <a:avLst/>
          </a:prstGeom>
        </p:spPr>
      </p:pic>
      <p:sp>
        <p:nvSpPr>
          <p:cNvPr id="25" name="Text 19"/>
          <p:cNvSpPr/>
          <p:nvPr/>
        </p:nvSpPr>
        <p:spPr>
          <a:xfrm>
            <a:off x="1554480" y="5074920"/>
            <a:ext cx="9738360" cy="594360"/>
          </a:xfrm>
          <a:prstGeom prst="rect">
            <a:avLst/>
          </a:prstGeom>
          <a:noFill/>
          <a:ln/>
        </p:spPr>
        <p:txBody>
          <a:bodyPr wrap="square" lIns="0" tIns="0" rIns="0" bIns="0" rtlCol="0" anchor="ctr"/>
          <a:lstStyle/>
          <a:p>
            <a:pPr indent="0" marL="0">
              <a:lnSpc>
                <a:spcPts val="1704"/>
              </a:lnSpc>
              <a:buNone/>
            </a:pPr>
            <a:r>
              <a:rPr lang="en-US" sz="1200" dirty="0">
                <a:solidFill>
                  <a:srgbClr val="3C3B57"/>
                </a:solidFill>
                <a:latin typeface="Malgun Gothic" pitchFamily="34" charset="0"/>
                <a:ea typeface="Malgun Gothic" pitchFamily="34" charset="-122"/>
                <a:cs typeface="Malgun Gothic" pitchFamily="34" charset="-120"/>
              </a:rPr>
              <a:t>새 터미널에서 echo 명령이 내 키를 그대로 출력하면 이 단계 통과입니다.</a:t>
            </a:r>
            <a:endParaRPr lang="en-US" sz="1200" dirty="0"/>
          </a:p>
        </p:txBody>
      </p:sp>
      <p:sp>
        <p:nvSpPr>
          <p:cNvPr id="26" name="Text 20"/>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19</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907792" cy="384048"/>
          </a:xfrm>
          <a:prstGeom prst="roundRect">
            <a:avLst>
              <a:gd name="adj" fmla="val 50000"/>
            </a:avLst>
          </a:prstGeom>
          <a:solidFill>
            <a:srgbClr val="EDECFB"/>
          </a:solidFill>
          <a:ln/>
        </p:spPr>
      </p:sp>
      <p:pic>
        <p:nvPicPr>
          <p:cNvPr id="3" name="Image 0" descr="/home/claude/icons/bolt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523744"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3부 · AI 도구 환경 구축</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② 환경변수 설정 — macOS</a:t>
            </a:r>
            <a:endParaRPr lang="en-US" sz="2600" dirty="0"/>
          </a:p>
        </p:txBody>
      </p:sp>
      <p:sp>
        <p:nvSpPr>
          <p:cNvPr id="6" name="Shape 3"/>
          <p:cNvSpPr/>
          <p:nvPr/>
        </p:nvSpPr>
        <p:spPr>
          <a:xfrm>
            <a:off x="658368" y="1828800"/>
            <a:ext cx="6903720" cy="2834640"/>
          </a:xfrm>
          <a:prstGeom prst="roundRect">
            <a:avLst>
              <a:gd name="adj" fmla="val 3226"/>
            </a:avLst>
          </a:prstGeom>
          <a:solidFill>
            <a:srgbClr val="1D1C3D"/>
          </a:solidFill>
          <a:ln/>
          <a:effectLst>
            <a:outerShdw sx="100000" sy="100000" kx="0" ky="0" algn="bl" rotWithShape="0" blurRad="152400" dist="25400" dir="5400000">
              <a:srgbClr val="1F1D48">
                <a:alpha val="16000"/>
              </a:srgbClr>
            </a:outerShdw>
          </a:effectLst>
        </p:spPr>
      </p:sp>
      <p:sp>
        <p:nvSpPr>
          <p:cNvPr id="7" name="Shape 4"/>
          <p:cNvSpPr/>
          <p:nvPr/>
        </p:nvSpPr>
        <p:spPr>
          <a:xfrm>
            <a:off x="658368" y="1828800"/>
            <a:ext cx="6903720" cy="329184"/>
          </a:xfrm>
          <a:prstGeom prst="roundRect">
            <a:avLst>
              <a:gd name="adj" fmla="val 27778"/>
            </a:avLst>
          </a:prstGeom>
          <a:solidFill>
            <a:srgbClr val="2A2856"/>
          </a:solidFill>
          <a:ln/>
        </p:spPr>
      </p:sp>
      <p:sp>
        <p:nvSpPr>
          <p:cNvPr id="8" name="Shape 5"/>
          <p:cNvSpPr/>
          <p:nvPr/>
        </p:nvSpPr>
        <p:spPr>
          <a:xfrm>
            <a:off x="658368" y="2011680"/>
            <a:ext cx="6903720" cy="146304"/>
          </a:xfrm>
          <a:prstGeom prst="rect">
            <a:avLst/>
          </a:prstGeom>
          <a:solidFill>
            <a:srgbClr val="2A2856"/>
          </a:solidFill>
          <a:ln/>
        </p:spPr>
      </p:sp>
      <p:sp>
        <p:nvSpPr>
          <p:cNvPr id="9" name="Shape 6"/>
          <p:cNvSpPr/>
          <p:nvPr/>
        </p:nvSpPr>
        <p:spPr>
          <a:xfrm>
            <a:off x="804672" y="1943100"/>
            <a:ext cx="100584" cy="100584"/>
          </a:xfrm>
          <a:prstGeom prst="ellipse">
            <a:avLst/>
          </a:prstGeom>
          <a:solidFill>
            <a:srgbClr val="FF5F56"/>
          </a:solidFill>
          <a:ln/>
        </p:spPr>
      </p:sp>
      <p:sp>
        <p:nvSpPr>
          <p:cNvPr id="10" name="Shape 7"/>
          <p:cNvSpPr/>
          <p:nvPr/>
        </p:nvSpPr>
        <p:spPr>
          <a:xfrm>
            <a:off x="987552" y="1943100"/>
            <a:ext cx="100584" cy="100584"/>
          </a:xfrm>
          <a:prstGeom prst="ellipse">
            <a:avLst/>
          </a:prstGeom>
          <a:solidFill>
            <a:srgbClr val="FFBD2E"/>
          </a:solidFill>
          <a:ln/>
        </p:spPr>
      </p:sp>
      <p:sp>
        <p:nvSpPr>
          <p:cNvPr id="11" name="Shape 8"/>
          <p:cNvSpPr/>
          <p:nvPr/>
        </p:nvSpPr>
        <p:spPr>
          <a:xfrm>
            <a:off x="1170432" y="1943100"/>
            <a:ext cx="100584" cy="100584"/>
          </a:xfrm>
          <a:prstGeom prst="ellipse">
            <a:avLst/>
          </a:prstGeom>
          <a:solidFill>
            <a:srgbClr val="27C93F"/>
          </a:solidFill>
          <a:ln/>
        </p:spPr>
      </p:sp>
      <p:sp>
        <p:nvSpPr>
          <p:cNvPr id="12" name="Text 9"/>
          <p:cNvSpPr/>
          <p:nvPr/>
        </p:nvSpPr>
        <p:spPr>
          <a:xfrm>
            <a:off x="1481328" y="1828800"/>
            <a:ext cx="5257800" cy="329184"/>
          </a:xfrm>
          <a:prstGeom prst="rect">
            <a:avLst/>
          </a:prstGeom>
          <a:noFill/>
          <a:ln/>
        </p:spPr>
        <p:txBody>
          <a:bodyPr wrap="square" lIns="0" tIns="0" rIns="0" bIns="0" rtlCol="0" anchor="ctr"/>
          <a:lstStyle/>
          <a:p>
            <a:pPr algn="ctr" indent="0" marL="0">
              <a:buNone/>
            </a:pPr>
            <a:r>
              <a:rPr lang="en-US" sz="1000" dirty="0">
                <a:solidFill>
                  <a:srgbClr val="C9C9E6"/>
                </a:solidFill>
                <a:latin typeface="Consolas" pitchFamily="34" charset="0"/>
                <a:ea typeface="Consolas" pitchFamily="34" charset="-122"/>
                <a:cs typeface="Consolas" pitchFamily="34" charset="-120"/>
              </a:rPr>
              <a:t>터미널 — zsh</a:t>
            </a:r>
            <a:endParaRPr lang="en-US" sz="1000" dirty="0"/>
          </a:p>
        </p:txBody>
      </p:sp>
      <p:sp>
        <p:nvSpPr>
          <p:cNvPr id="13" name="Text 10"/>
          <p:cNvSpPr/>
          <p:nvPr/>
        </p:nvSpPr>
        <p:spPr>
          <a:xfrm>
            <a:off x="877824" y="2249424"/>
            <a:ext cx="6483096" cy="2267712"/>
          </a:xfrm>
          <a:prstGeom prst="rect">
            <a:avLst/>
          </a:prstGeom>
          <a:noFill/>
          <a:ln/>
        </p:spPr>
        <p:txBody>
          <a:bodyPr wrap="square" lIns="0" tIns="0" rIns="0" bIns="0" rtlCol="0" anchor="t"/>
          <a:lstStyle/>
          <a:p>
            <a:pPr indent="0" marL="0">
              <a:lnSpc>
                <a:spcPts val="1748"/>
              </a:lnSpc>
              <a:buNone/>
            </a:pPr>
            <a:r>
              <a:rPr lang="en-US" sz="1150" dirty="0">
                <a:solidFill>
                  <a:srgbClr val="8686AA"/>
                </a:solidFill>
                <a:latin typeface="Consolas" pitchFamily="34" charset="0"/>
                <a:ea typeface="Consolas" pitchFamily="34" charset="-122"/>
                <a:cs typeface="Consolas" pitchFamily="34" charset="-120"/>
              </a:rPr>
              <a:t># 셸 설정 파일에 한 줄 추가 (기본 셸 zsh 기준)</a:t>
            </a:r>
            <a:endParaRPr lang="en-US" sz="1150" dirty="0"/>
          </a:p>
          <a:p>
            <a:pPr indent="0" marL="0">
              <a:lnSpc>
                <a:spcPts val="1748"/>
              </a:lnSpc>
              <a:buNone/>
            </a:pPr>
            <a:r>
              <a:rPr lang="en-US" sz="1150" dirty="0">
                <a:solidFill>
                  <a:srgbClr val="C7A8F7"/>
                </a:solidFill>
                <a:latin typeface="Consolas" pitchFamily="34" charset="0"/>
                <a:ea typeface="Consolas" pitchFamily="34" charset="-122"/>
                <a:cs typeface="Consolas" pitchFamily="34" charset="-120"/>
              </a:rPr>
              <a:t>echo</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pPr indent="0" marL="0">
              <a:lnSpc>
                <a:spcPts val="1748"/>
              </a:lnSpc>
              <a:buNone/>
            </a:pPr>
            <a:r>
              <a:rPr lang="en-US" sz="1150" dirty="0">
                <a:solidFill>
                  <a:srgbClr val="9FE0A0"/>
                </a:solidFill>
                <a:latin typeface="Consolas" pitchFamily="34" charset="0"/>
                <a:ea typeface="Consolas" pitchFamily="34" charset="-122"/>
                <a:cs typeface="Consolas" pitchFamily="34" charset="-120"/>
              </a:rPr>
              <a:t>'export GEMINI_API_KEY="AIza...본인키"'</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&gt;</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&gt;</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zshrc</a:t>
            </a:r>
            <a:endParaRPr lang="en-US" sz="1150" dirty="0"/>
          </a:p>
          <a:p>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endParaRPr lang="en-US" sz="1150" dirty="0"/>
          </a:p>
          <a:p>
            <a:pPr indent="0" marL="0">
              <a:lnSpc>
                <a:spcPts val="1748"/>
              </a:lnSpc>
              <a:buNone/>
            </a:pPr>
            <a:r>
              <a:rPr lang="en-US" sz="1150" dirty="0">
                <a:solidFill>
                  <a:srgbClr val="C7A8F7"/>
                </a:solidFill>
                <a:latin typeface="Consolas" pitchFamily="34" charset="0"/>
                <a:ea typeface="Consolas" pitchFamily="34" charset="-122"/>
                <a:cs typeface="Consolas" pitchFamily="34" charset="-120"/>
              </a:rPr>
              <a:t>source</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zshrc</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pPr indent="0" marL="0">
              <a:lnSpc>
                <a:spcPts val="1748"/>
              </a:lnSpc>
              <a:buNone/>
            </a:pPr>
            <a:r>
              <a:rPr lang="en-US" sz="1150" dirty="0">
                <a:solidFill>
                  <a:srgbClr val="8686AA"/>
                </a:solidFill>
                <a:latin typeface="Consolas" pitchFamily="34" charset="0"/>
                <a:ea typeface="Consolas" pitchFamily="34" charset="-122"/>
                <a:cs typeface="Consolas" pitchFamily="34" charset="-120"/>
              </a:rPr>
              <a:t># 설정을 다시 읽기</a:t>
            </a:r>
            <a:endParaRPr lang="en-US" sz="1150" dirty="0"/>
          </a:p>
          <a:p>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endParaRPr lang="en-US" sz="1150" dirty="0"/>
          </a:p>
          <a:p>
            <a:pPr indent="0" marL="0">
              <a:lnSpc>
                <a:spcPts val="1748"/>
              </a:lnSpc>
              <a:buNone/>
            </a:pPr>
            <a:r>
              <a:rPr lang="en-US" sz="1150" dirty="0">
                <a:solidFill>
                  <a:srgbClr val="C7A8F7"/>
                </a:solidFill>
                <a:latin typeface="Consolas" pitchFamily="34" charset="0"/>
                <a:ea typeface="Consolas" pitchFamily="34" charset="-122"/>
                <a:cs typeface="Consolas" pitchFamily="34" charset="-120"/>
              </a:rPr>
              <a:t>echo</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pPr indent="0" marL="0">
              <a:lnSpc>
                <a:spcPts val="1748"/>
              </a:lnSpc>
              <a:buNone/>
            </a:pPr>
            <a:r>
              <a:rPr lang="en-US" sz="1150" dirty="0">
                <a:solidFill>
                  <a:srgbClr val="F7C978"/>
                </a:solidFill>
                <a:latin typeface="Consolas" pitchFamily="34" charset="0"/>
                <a:ea typeface="Consolas" pitchFamily="34" charset="-122"/>
                <a:cs typeface="Consolas" pitchFamily="34" charset="-120"/>
              </a:rPr>
              <a:t>$</a:t>
            </a:r>
            <a:pPr indent="0" marL="0">
              <a:lnSpc>
                <a:spcPts val="1748"/>
              </a:lnSpc>
              <a:buNone/>
            </a:pPr>
            <a:r>
              <a:rPr lang="en-US" sz="1150" dirty="0">
                <a:solidFill>
                  <a:srgbClr val="F7C978"/>
                </a:solidFill>
                <a:latin typeface="Consolas" pitchFamily="34" charset="0"/>
                <a:ea typeface="Consolas" pitchFamily="34" charset="-122"/>
                <a:cs typeface="Consolas" pitchFamily="34" charset="-120"/>
              </a:rPr>
              <a:t>GEMINI_API_KEY</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pPr indent="0" marL="0">
              <a:lnSpc>
                <a:spcPts val="1748"/>
              </a:lnSpc>
              <a:buNone/>
            </a:pPr>
            <a:r>
              <a:rPr lang="en-US" sz="1150" dirty="0">
                <a:solidFill>
                  <a:srgbClr val="8686AA"/>
                </a:solidFill>
                <a:latin typeface="Consolas" pitchFamily="34" charset="0"/>
                <a:ea typeface="Consolas" pitchFamily="34" charset="-122"/>
                <a:cs typeface="Consolas" pitchFamily="34" charset="-120"/>
              </a:rPr>
              <a:t># 키가 출력되면 성공</a:t>
            </a:r>
            <a:endParaRPr lang="en-US" sz="1150" dirty="0"/>
          </a:p>
        </p:txBody>
      </p:sp>
      <p:sp>
        <p:nvSpPr>
          <p:cNvPr id="14" name="Shape 11"/>
          <p:cNvSpPr/>
          <p:nvPr/>
        </p:nvSpPr>
        <p:spPr>
          <a:xfrm>
            <a:off x="7863840" y="1920240"/>
            <a:ext cx="457200" cy="457200"/>
          </a:xfrm>
          <a:prstGeom prst="ellipse">
            <a:avLst/>
          </a:prstGeom>
          <a:solidFill>
            <a:srgbClr val="7C3AED"/>
          </a:solidFill>
          <a:ln/>
        </p:spPr>
      </p:sp>
      <p:pic>
        <p:nvPicPr>
          <p:cNvPr id="15" name="Image 1" descr="/home/claude/icons/folder_white.png">    </p:cNvPr>
          <p:cNvPicPr>
            <a:picLocks noChangeAspect="1"/>
          </p:cNvPicPr>
          <p:nvPr/>
        </p:nvPicPr>
        <p:blipFill>
          <a:blip r:embed="rId2"/>
          <a:stretch>
            <a:fillRect/>
          </a:stretch>
        </p:blipFill>
        <p:spPr>
          <a:xfrm>
            <a:off x="7978140" y="2034540"/>
            <a:ext cx="228600" cy="228600"/>
          </a:xfrm>
          <a:prstGeom prst="rect">
            <a:avLst/>
          </a:prstGeom>
        </p:spPr>
      </p:pic>
      <p:sp>
        <p:nvSpPr>
          <p:cNvPr id="16" name="Text 12"/>
          <p:cNvSpPr/>
          <p:nvPr/>
        </p:nvSpPr>
        <p:spPr>
          <a:xfrm>
            <a:off x="8540496" y="1883664"/>
            <a:ext cx="2980944" cy="274320"/>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~/.zshrc 란</a:t>
            </a:r>
            <a:endParaRPr lang="en-US" sz="1300" dirty="0"/>
          </a:p>
        </p:txBody>
      </p:sp>
      <p:sp>
        <p:nvSpPr>
          <p:cNvPr id="17" name="Text 13"/>
          <p:cNvSpPr/>
          <p:nvPr/>
        </p:nvSpPr>
        <p:spPr>
          <a:xfrm>
            <a:off x="8540496" y="2157984"/>
            <a:ext cx="2980944" cy="996696"/>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터미널이 켜질 때마다 읽는 내 설정 파일 — 여기 적으면 매번 자동 적용됩니다.</a:t>
            </a:r>
            <a:endParaRPr lang="en-US" sz="1100" dirty="0"/>
          </a:p>
        </p:txBody>
      </p:sp>
      <p:sp>
        <p:nvSpPr>
          <p:cNvPr id="18" name="Shape 14"/>
          <p:cNvSpPr/>
          <p:nvPr/>
        </p:nvSpPr>
        <p:spPr>
          <a:xfrm>
            <a:off x="7863840" y="3154680"/>
            <a:ext cx="457200" cy="457200"/>
          </a:xfrm>
          <a:prstGeom prst="ellipse">
            <a:avLst/>
          </a:prstGeom>
          <a:solidFill>
            <a:srgbClr val="F59E0B"/>
          </a:solidFill>
          <a:ln/>
        </p:spPr>
      </p:sp>
      <p:pic>
        <p:nvPicPr>
          <p:cNvPr id="19" name="Image 2" descr="/home/claude/icons/warn_white.png">    </p:cNvPr>
          <p:cNvPicPr>
            <a:picLocks noChangeAspect="1"/>
          </p:cNvPicPr>
          <p:nvPr/>
        </p:nvPicPr>
        <p:blipFill>
          <a:blip r:embed="rId3"/>
          <a:stretch>
            <a:fillRect/>
          </a:stretch>
        </p:blipFill>
        <p:spPr>
          <a:xfrm>
            <a:off x="7978140" y="3268980"/>
            <a:ext cx="228600" cy="228600"/>
          </a:xfrm>
          <a:prstGeom prst="rect">
            <a:avLst/>
          </a:prstGeom>
        </p:spPr>
      </p:pic>
      <p:sp>
        <p:nvSpPr>
          <p:cNvPr id="20" name="Text 15"/>
          <p:cNvSpPr/>
          <p:nvPr/>
        </p:nvSpPr>
        <p:spPr>
          <a:xfrm>
            <a:off x="8540496" y="3118104"/>
            <a:ext cx="2980944" cy="274320"/>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&gt;&gt; 를 &gt; 로 쓰지 않기</a:t>
            </a:r>
            <a:endParaRPr lang="en-US" sz="1300" dirty="0"/>
          </a:p>
        </p:txBody>
      </p:sp>
      <p:sp>
        <p:nvSpPr>
          <p:cNvPr id="21" name="Text 16"/>
          <p:cNvSpPr/>
          <p:nvPr/>
        </p:nvSpPr>
        <p:spPr>
          <a:xfrm>
            <a:off x="8540496" y="3392424"/>
            <a:ext cx="2980944" cy="996696"/>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꺾쇠 두 개는 '추가', 한 개는 '덮어쓰기' — 한 개로 쓰면 기존 설정이 날아갑니다.</a:t>
            </a:r>
            <a:endParaRPr lang="en-US" sz="1100" dirty="0"/>
          </a:p>
        </p:txBody>
      </p:sp>
      <p:sp>
        <p:nvSpPr>
          <p:cNvPr id="22" name="Shape 17"/>
          <p:cNvSpPr/>
          <p:nvPr/>
        </p:nvSpPr>
        <p:spPr>
          <a:xfrm>
            <a:off x="658368" y="4983480"/>
            <a:ext cx="10872216" cy="777240"/>
          </a:xfrm>
          <a:prstGeom prst="roundRect">
            <a:avLst>
              <a:gd name="adj" fmla="val 11765"/>
            </a:avLst>
          </a:prstGeom>
          <a:solidFill>
            <a:srgbClr val="F5F4FC"/>
          </a:solidFill>
          <a:ln/>
        </p:spPr>
      </p:sp>
      <p:sp>
        <p:nvSpPr>
          <p:cNvPr id="23" name="Shape 18"/>
          <p:cNvSpPr/>
          <p:nvPr/>
        </p:nvSpPr>
        <p:spPr>
          <a:xfrm>
            <a:off x="877824" y="5134356"/>
            <a:ext cx="475488" cy="475488"/>
          </a:xfrm>
          <a:prstGeom prst="ellipse">
            <a:avLst/>
          </a:prstGeom>
          <a:solidFill>
            <a:srgbClr val="10B981"/>
          </a:solidFill>
          <a:ln/>
        </p:spPr>
      </p:sp>
      <p:pic>
        <p:nvPicPr>
          <p:cNvPr id="24" name="Image 3" descr="/home/claude/icons/check_white.png">    </p:cNvPr>
          <p:cNvPicPr>
            <a:picLocks noChangeAspect="1"/>
          </p:cNvPicPr>
          <p:nvPr/>
        </p:nvPicPr>
        <p:blipFill>
          <a:blip r:embed="rId4"/>
          <a:stretch>
            <a:fillRect/>
          </a:stretch>
        </p:blipFill>
        <p:spPr>
          <a:xfrm>
            <a:off x="996696" y="5253228"/>
            <a:ext cx="237744" cy="237744"/>
          </a:xfrm>
          <a:prstGeom prst="rect">
            <a:avLst/>
          </a:prstGeom>
        </p:spPr>
      </p:pic>
      <p:sp>
        <p:nvSpPr>
          <p:cNvPr id="25" name="Text 19"/>
          <p:cNvSpPr/>
          <p:nvPr/>
        </p:nvSpPr>
        <p:spPr>
          <a:xfrm>
            <a:off x="1554480" y="5074920"/>
            <a:ext cx="9738360" cy="594360"/>
          </a:xfrm>
          <a:prstGeom prst="rect">
            <a:avLst/>
          </a:prstGeom>
          <a:noFill/>
          <a:ln/>
        </p:spPr>
        <p:txBody>
          <a:bodyPr wrap="square" lIns="0" tIns="0" rIns="0" bIns="0" rtlCol="0" anchor="ctr"/>
          <a:lstStyle/>
          <a:p>
            <a:pPr indent="0" marL="0">
              <a:lnSpc>
                <a:spcPts val="1704"/>
              </a:lnSpc>
              <a:buNone/>
            </a:pPr>
            <a:r>
              <a:rPr lang="en-US" sz="1200" dirty="0">
                <a:solidFill>
                  <a:srgbClr val="3C3B57"/>
                </a:solidFill>
                <a:latin typeface="Malgun Gothic" pitchFamily="34" charset="0"/>
                <a:ea typeface="Malgun Gothic" pitchFamily="34" charset="-122"/>
                <a:cs typeface="Malgun Gothic" pitchFamily="34" charset="-120"/>
              </a:rPr>
              <a:t>echo $GEMINI_API_KEY 가 내 키를 출력하면 이 단계 통과 — 이제 전원 Cline 연결로 갑니다.</a:t>
            </a:r>
            <a:endParaRPr lang="en-US" sz="1200" dirty="0"/>
          </a:p>
        </p:txBody>
      </p:sp>
      <p:sp>
        <p:nvSpPr>
          <p:cNvPr id="26" name="Text 20"/>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20</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907792" cy="384048"/>
          </a:xfrm>
          <a:prstGeom prst="roundRect">
            <a:avLst>
              <a:gd name="adj" fmla="val 50000"/>
            </a:avLst>
          </a:prstGeom>
          <a:solidFill>
            <a:srgbClr val="EDECFB"/>
          </a:solidFill>
          <a:ln/>
        </p:spPr>
      </p:sp>
      <p:pic>
        <p:nvPicPr>
          <p:cNvPr id="3" name="Image 0" descr="/home/claude/icons/bolt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523744"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3부 · AI 도구 환경 구축</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③ VS Code에 Cline 연결</a:t>
            </a:r>
            <a:endParaRPr lang="en-US" sz="2600" dirty="0"/>
          </a:p>
        </p:txBody>
      </p:sp>
      <p:sp>
        <p:nvSpPr>
          <p:cNvPr id="6" name="Shape 3"/>
          <p:cNvSpPr/>
          <p:nvPr/>
        </p:nvSpPr>
        <p:spPr>
          <a:xfrm>
            <a:off x="658368" y="1828800"/>
            <a:ext cx="457200" cy="457200"/>
          </a:xfrm>
          <a:prstGeom prst="ellipse">
            <a:avLst/>
          </a:prstGeom>
          <a:solidFill>
            <a:srgbClr val="4F46E5"/>
          </a:solidFill>
          <a:ln/>
        </p:spPr>
      </p:sp>
      <p:pic>
        <p:nvPicPr>
          <p:cNvPr id="7" name="Image 1" descr="/home/claude/icons/puzzle_white.png">    </p:cNvPr>
          <p:cNvPicPr>
            <a:picLocks noChangeAspect="1"/>
          </p:cNvPicPr>
          <p:nvPr/>
        </p:nvPicPr>
        <p:blipFill>
          <a:blip r:embed="rId2"/>
          <a:stretch>
            <a:fillRect/>
          </a:stretch>
        </p:blipFill>
        <p:spPr>
          <a:xfrm>
            <a:off x="772668" y="1943100"/>
            <a:ext cx="228600" cy="228600"/>
          </a:xfrm>
          <a:prstGeom prst="rect">
            <a:avLst/>
          </a:prstGeom>
        </p:spPr>
      </p:pic>
      <p:sp>
        <p:nvSpPr>
          <p:cNvPr id="8" name="Text 4"/>
          <p:cNvSpPr/>
          <p:nvPr/>
        </p:nvSpPr>
        <p:spPr>
          <a:xfrm>
            <a:off x="1335024" y="1792224"/>
            <a:ext cx="10195560" cy="27432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확장에서 "Cline" 설치</a:t>
            </a:r>
            <a:endParaRPr lang="en-US" sz="1350" dirty="0"/>
          </a:p>
        </p:txBody>
      </p:sp>
      <p:sp>
        <p:nvSpPr>
          <p:cNvPr id="9" name="Text 5"/>
          <p:cNvSpPr/>
          <p:nvPr/>
        </p:nvSpPr>
        <p:spPr>
          <a:xfrm>
            <a:off x="1335024" y="2066544"/>
            <a:ext cx="10195560" cy="804672"/>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지난주에 확장 설치했던 그 메뉴(Ctrl+Shift+X)에서 Cline을 검색해 설치 — 왼쪽 사이드바에 Cline 아이콘이 생깁니다.</a:t>
            </a:r>
            <a:endParaRPr lang="en-US" sz="1150" dirty="0"/>
          </a:p>
        </p:txBody>
      </p:sp>
      <p:sp>
        <p:nvSpPr>
          <p:cNvPr id="10" name="Shape 6"/>
          <p:cNvSpPr/>
          <p:nvPr/>
        </p:nvSpPr>
        <p:spPr>
          <a:xfrm>
            <a:off x="658368" y="2871216"/>
            <a:ext cx="457200" cy="457200"/>
          </a:xfrm>
          <a:prstGeom prst="ellipse">
            <a:avLst/>
          </a:prstGeom>
          <a:solidFill>
            <a:srgbClr val="7C3AED"/>
          </a:solidFill>
          <a:ln/>
        </p:spPr>
      </p:sp>
      <p:pic>
        <p:nvPicPr>
          <p:cNvPr id="11" name="Image 2" descr="/home/claude/icons/gear_white.png">    </p:cNvPr>
          <p:cNvPicPr>
            <a:picLocks noChangeAspect="1"/>
          </p:cNvPicPr>
          <p:nvPr/>
        </p:nvPicPr>
        <p:blipFill>
          <a:blip r:embed="rId3"/>
          <a:stretch>
            <a:fillRect/>
          </a:stretch>
        </p:blipFill>
        <p:spPr>
          <a:xfrm>
            <a:off x="772668" y="2985516"/>
            <a:ext cx="228600" cy="228600"/>
          </a:xfrm>
          <a:prstGeom prst="rect">
            <a:avLst/>
          </a:prstGeom>
        </p:spPr>
      </p:pic>
      <p:sp>
        <p:nvSpPr>
          <p:cNvPr id="12" name="Text 7"/>
          <p:cNvSpPr/>
          <p:nvPr/>
        </p:nvSpPr>
        <p:spPr>
          <a:xfrm>
            <a:off x="1335024" y="2834640"/>
            <a:ext cx="10195560" cy="27432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API Provider를 Google Gemini로</a:t>
            </a:r>
            <a:endParaRPr lang="en-US" sz="1350" dirty="0"/>
          </a:p>
        </p:txBody>
      </p:sp>
      <p:sp>
        <p:nvSpPr>
          <p:cNvPr id="13" name="Text 8"/>
          <p:cNvSpPr/>
          <p:nvPr/>
        </p:nvSpPr>
        <p:spPr>
          <a:xfrm>
            <a:off x="1335024" y="3108960"/>
            <a:ext cx="10195560" cy="804672"/>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Cline 설정에서 제공자 목록 중 Google Gemini 선택 — API 키 칸에 본인 키를 입력합니다(환경변수의 키를 붙여 넣으면 됩니다).</a:t>
            </a:r>
            <a:endParaRPr lang="en-US" sz="1150" dirty="0"/>
          </a:p>
        </p:txBody>
      </p:sp>
      <p:sp>
        <p:nvSpPr>
          <p:cNvPr id="14" name="Shape 9"/>
          <p:cNvSpPr/>
          <p:nvPr/>
        </p:nvSpPr>
        <p:spPr>
          <a:xfrm>
            <a:off x="658368" y="3913632"/>
            <a:ext cx="457200" cy="457200"/>
          </a:xfrm>
          <a:prstGeom prst="ellipse">
            <a:avLst/>
          </a:prstGeom>
          <a:solidFill>
            <a:srgbClr val="F59E0B"/>
          </a:solidFill>
          <a:ln/>
        </p:spPr>
      </p:sp>
      <p:pic>
        <p:nvPicPr>
          <p:cNvPr id="15" name="Image 3" descr="/home/claude/icons/micro_white.png">    </p:cNvPr>
          <p:cNvPicPr>
            <a:picLocks noChangeAspect="1"/>
          </p:cNvPicPr>
          <p:nvPr/>
        </p:nvPicPr>
        <p:blipFill>
          <a:blip r:embed="rId4"/>
          <a:stretch>
            <a:fillRect/>
          </a:stretch>
        </p:blipFill>
        <p:spPr>
          <a:xfrm>
            <a:off x="772668" y="4027932"/>
            <a:ext cx="228600" cy="228600"/>
          </a:xfrm>
          <a:prstGeom prst="rect">
            <a:avLst/>
          </a:prstGeom>
        </p:spPr>
      </p:pic>
      <p:sp>
        <p:nvSpPr>
          <p:cNvPr id="16" name="Text 10"/>
          <p:cNvSpPr/>
          <p:nvPr/>
        </p:nvSpPr>
        <p:spPr>
          <a:xfrm>
            <a:off x="1335024" y="3877056"/>
            <a:ext cx="10195560" cy="27432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모델 선택</a:t>
            </a:r>
            <a:endParaRPr lang="en-US" sz="1350" dirty="0"/>
          </a:p>
        </p:txBody>
      </p:sp>
      <p:sp>
        <p:nvSpPr>
          <p:cNvPr id="17" name="Text 11"/>
          <p:cNvSpPr/>
          <p:nvPr/>
        </p:nvSpPr>
        <p:spPr>
          <a:xfrm>
            <a:off x="1335024" y="4151376"/>
            <a:ext cx="10195560" cy="804672"/>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Gemini Flash 계열 최신 모델 권장 — 빠르고 무료 한도가 넉넉해 수업 실습에 적합합니다.</a:t>
            </a:r>
            <a:endParaRPr lang="en-US" sz="1150" dirty="0"/>
          </a:p>
        </p:txBody>
      </p:sp>
      <p:sp>
        <p:nvSpPr>
          <p:cNvPr id="18" name="Shape 12"/>
          <p:cNvSpPr/>
          <p:nvPr/>
        </p:nvSpPr>
        <p:spPr>
          <a:xfrm>
            <a:off x="658368" y="4956048"/>
            <a:ext cx="457200" cy="457200"/>
          </a:xfrm>
          <a:prstGeom prst="ellipse">
            <a:avLst/>
          </a:prstGeom>
          <a:solidFill>
            <a:srgbClr val="10B981"/>
          </a:solidFill>
          <a:ln/>
        </p:spPr>
      </p:sp>
      <p:pic>
        <p:nvPicPr>
          <p:cNvPr id="19" name="Image 4" descr="/home/claude/icons/comments_white.png">    </p:cNvPr>
          <p:cNvPicPr>
            <a:picLocks noChangeAspect="1"/>
          </p:cNvPicPr>
          <p:nvPr/>
        </p:nvPicPr>
        <p:blipFill>
          <a:blip r:embed="rId5"/>
          <a:stretch>
            <a:fillRect/>
          </a:stretch>
        </p:blipFill>
        <p:spPr>
          <a:xfrm>
            <a:off x="772668" y="5070348"/>
            <a:ext cx="228600" cy="228600"/>
          </a:xfrm>
          <a:prstGeom prst="rect">
            <a:avLst/>
          </a:prstGeom>
        </p:spPr>
      </p:pic>
      <p:sp>
        <p:nvSpPr>
          <p:cNvPr id="20" name="Text 13"/>
          <p:cNvSpPr/>
          <p:nvPr/>
        </p:nvSpPr>
        <p:spPr>
          <a:xfrm>
            <a:off x="1335024" y="4919472"/>
            <a:ext cx="10195560" cy="27432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연결 확인</a:t>
            </a:r>
            <a:endParaRPr lang="en-US" sz="1350" dirty="0"/>
          </a:p>
        </p:txBody>
      </p:sp>
      <p:sp>
        <p:nvSpPr>
          <p:cNvPr id="21" name="Text 14"/>
          <p:cNvSpPr/>
          <p:nvPr/>
        </p:nvSpPr>
        <p:spPr>
          <a:xfrm>
            <a:off x="1335024" y="5193792"/>
            <a:ext cx="10195560" cy="804672"/>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Cline 채팅창에 "안녕"이라고 보내 응답이 오면 연결 성공 — 이제 지시를 내릴 준비가 끝났습니다.</a:t>
            </a:r>
            <a:endParaRPr lang="en-US" sz="1150" dirty="0"/>
          </a:p>
        </p:txBody>
      </p:sp>
      <p:sp>
        <p:nvSpPr>
          <p:cNvPr id="22" name="Text 15"/>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21</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907792" cy="384048"/>
          </a:xfrm>
          <a:prstGeom prst="roundRect">
            <a:avLst>
              <a:gd name="adj" fmla="val 50000"/>
            </a:avLst>
          </a:prstGeom>
          <a:solidFill>
            <a:srgbClr val="EDECFB"/>
          </a:solidFill>
          <a:ln/>
        </p:spPr>
      </p:sp>
      <p:pic>
        <p:nvPicPr>
          <p:cNvPr id="3" name="Image 0" descr="/home/claude/icons/bolt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523744"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3부 · AI 도구 환경 구축</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④ 첫 지시 — 일부러 '작게' 시킵니다</a:t>
            </a:r>
            <a:endParaRPr lang="en-US" sz="2600" dirty="0"/>
          </a:p>
        </p:txBody>
      </p:sp>
      <p:sp>
        <p:nvSpPr>
          <p:cNvPr id="6" name="Shape 3"/>
          <p:cNvSpPr/>
          <p:nvPr/>
        </p:nvSpPr>
        <p:spPr>
          <a:xfrm>
            <a:off x="658368" y="1828800"/>
            <a:ext cx="10872216" cy="1508760"/>
          </a:xfrm>
          <a:prstGeom prst="roundRect">
            <a:avLst>
              <a:gd name="adj" fmla="val 6061"/>
            </a:avLst>
          </a:prstGeom>
          <a:solidFill>
            <a:srgbClr val="EEF0FF"/>
          </a:solidFill>
          <a:ln/>
        </p:spPr>
      </p:sp>
      <p:sp>
        <p:nvSpPr>
          <p:cNvPr id="7" name="Shape 4"/>
          <p:cNvSpPr/>
          <p:nvPr/>
        </p:nvSpPr>
        <p:spPr>
          <a:xfrm>
            <a:off x="914400" y="2176272"/>
            <a:ext cx="512064" cy="512064"/>
          </a:xfrm>
          <a:prstGeom prst="ellipse">
            <a:avLst/>
          </a:prstGeom>
          <a:solidFill>
            <a:srgbClr val="14B8A6"/>
          </a:solidFill>
          <a:ln/>
        </p:spPr>
      </p:sp>
      <p:pic>
        <p:nvPicPr>
          <p:cNvPr id="8" name="Image 1" descr="/home/claude/icons/comments_white.png">    </p:cNvPr>
          <p:cNvPicPr>
            <a:picLocks noChangeAspect="1"/>
          </p:cNvPicPr>
          <p:nvPr/>
        </p:nvPicPr>
        <p:blipFill>
          <a:blip r:embed="rId2"/>
          <a:stretch>
            <a:fillRect/>
          </a:stretch>
        </p:blipFill>
        <p:spPr>
          <a:xfrm>
            <a:off x="1042416" y="2304288"/>
            <a:ext cx="256032" cy="256032"/>
          </a:xfrm>
          <a:prstGeom prst="rect">
            <a:avLst/>
          </a:prstGeom>
        </p:spPr>
      </p:pic>
      <p:sp>
        <p:nvSpPr>
          <p:cNvPr id="9" name="Text 5"/>
          <p:cNvSpPr/>
          <p:nvPr/>
        </p:nvSpPr>
        <p:spPr>
          <a:xfrm>
            <a:off x="1618488" y="1993392"/>
            <a:ext cx="9592056" cy="1188720"/>
          </a:xfrm>
          <a:prstGeom prst="rect">
            <a:avLst/>
          </a:prstGeom>
          <a:noFill/>
          <a:ln/>
        </p:spPr>
        <p:txBody>
          <a:bodyPr wrap="square" lIns="0" tIns="0" rIns="0" bIns="0" rtlCol="0" anchor="ctr"/>
          <a:lstStyle/>
          <a:p>
            <a:pPr indent="0" marL="0">
              <a:lnSpc>
                <a:spcPts val="2200"/>
              </a:lnSpc>
              <a:buNone/>
            </a:pPr>
            <a:r>
              <a:rPr lang="en-US" sz="1150" b="1" dirty="0">
                <a:solidFill>
                  <a:srgbClr val="4338CA"/>
                </a:solidFill>
                <a:latin typeface="Malgun Gothic" pitchFamily="34" charset="0"/>
                <a:ea typeface="Malgun Gothic" pitchFamily="34" charset="-122"/>
                <a:cs typeface="Malgun Gothic" pitchFamily="34" charset="-120"/>
              </a:rPr>
              <a:t>Cline에 보낼 지시문 — 그대로 입력
</a:t>
            </a:r>
            <a:pPr indent="0" marL="0">
              <a:lnSpc>
                <a:spcPts val="2200"/>
              </a:lnSpc>
              <a:buNone/>
            </a:pPr>
            <a:r>
              <a:rPr lang="en-US" sz="1450" b="1" dirty="0">
                <a:solidFill>
                  <a:srgbClr val="1E1B3A"/>
                </a:solidFill>
                <a:latin typeface="Malgun Gothic" pitchFamily="34" charset="0"/>
                <a:ea typeface="Malgun Gothic" pitchFamily="34" charset="-122"/>
                <a:cs typeface="Malgun Gothic" pitchFamily="34" charset="-120"/>
              </a:rPr>
              <a:t>"temp.py 파일을 만들어 줘. 섭씨 온도를 화씨로 바꾸는 함수 c_to_f를 작성하고,</a:t>
            </a:r>
            <a:endParaRPr lang="en-US" sz="1150" dirty="0"/>
          </a:p>
          <a:p>
            <a:pPr indent="0" marL="0">
              <a:lnSpc>
                <a:spcPts val="2200"/>
              </a:lnSpc>
              <a:buNone/>
            </a:pPr>
            <a:r>
              <a:rPr lang="en-US" sz="1450" b="1" dirty="0">
                <a:solidFill>
                  <a:srgbClr val="1E1B3A"/>
                </a:solidFill>
                <a:latin typeface="Malgun Gothic" pitchFamily="34" charset="0"/>
                <a:ea typeface="Malgun Gothic" pitchFamily="34" charset="-122"/>
                <a:cs typeface="Malgun Gothic" pitchFamily="34" charset="-120"/>
              </a:rPr>
              <a:t>25도를 변환한 결과를 출력해."</a:t>
            </a:r>
            <a:endParaRPr lang="en-US" sz="1150" dirty="0"/>
          </a:p>
        </p:txBody>
      </p:sp>
      <p:sp>
        <p:nvSpPr>
          <p:cNvPr id="10" name="Shape 6"/>
          <p:cNvSpPr/>
          <p:nvPr/>
        </p:nvSpPr>
        <p:spPr>
          <a:xfrm>
            <a:off x="658368" y="3657600"/>
            <a:ext cx="3453384" cy="1874520"/>
          </a:xfrm>
          <a:prstGeom prst="roundRect">
            <a:avLst>
              <a:gd name="adj" fmla="val 4878"/>
            </a:avLst>
          </a:prstGeom>
          <a:solidFill>
            <a:srgbClr val="FFFFFF"/>
          </a:solidFill>
          <a:ln/>
          <a:effectLst>
            <a:outerShdw sx="100000" sy="100000" kx="0" ky="0" algn="bl" rotWithShape="0" blurRad="152400" dist="25400" dir="5400000">
              <a:srgbClr val="1F1D48">
                <a:alpha val="16000"/>
              </a:srgbClr>
            </a:outerShdw>
          </a:effectLst>
        </p:spPr>
      </p:sp>
      <p:sp>
        <p:nvSpPr>
          <p:cNvPr id="11" name="Shape 7"/>
          <p:cNvSpPr/>
          <p:nvPr/>
        </p:nvSpPr>
        <p:spPr>
          <a:xfrm>
            <a:off x="896112" y="3895344"/>
            <a:ext cx="512064" cy="512064"/>
          </a:xfrm>
          <a:prstGeom prst="ellipse">
            <a:avLst/>
          </a:prstGeom>
          <a:solidFill>
            <a:srgbClr val="4F46E5"/>
          </a:solidFill>
          <a:ln/>
        </p:spPr>
      </p:sp>
      <p:pic>
        <p:nvPicPr>
          <p:cNvPr id="12" name="Image 2" descr="/home/claude/icons/target_white.png">    </p:cNvPr>
          <p:cNvPicPr>
            <a:picLocks noChangeAspect="1"/>
          </p:cNvPicPr>
          <p:nvPr/>
        </p:nvPicPr>
        <p:blipFill>
          <a:blip r:embed="rId3"/>
          <a:stretch>
            <a:fillRect/>
          </a:stretch>
        </p:blipFill>
        <p:spPr>
          <a:xfrm>
            <a:off x="1024128" y="4023360"/>
            <a:ext cx="256032" cy="256032"/>
          </a:xfrm>
          <a:prstGeom prst="rect">
            <a:avLst/>
          </a:prstGeom>
        </p:spPr>
      </p:pic>
      <p:sp>
        <p:nvSpPr>
          <p:cNvPr id="13" name="Text 8"/>
          <p:cNvSpPr/>
          <p:nvPr/>
        </p:nvSpPr>
        <p:spPr>
          <a:xfrm>
            <a:off x="896112" y="4535424"/>
            <a:ext cx="2996184" cy="292608"/>
          </a:xfrm>
          <a:prstGeom prst="rect">
            <a:avLst/>
          </a:prstGeom>
          <a:noFill/>
          <a:ln/>
        </p:spPr>
        <p:txBody>
          <a:bodyPr wrap="square" lIns="0" tIns="0" rIns="0" bIns="0" rtlCol="0" anchor="ctr"/>
          <a:lstStyle/>
          <a:p>
            <a:pPr indent="0" marL="0">
              <a:buNone/>
            </a:pPr>
            <a:r>
              <a:rPr lang="en-US" sz="1250" b="1" dirty="0">
                <a:solidFill>
                  <a:srgbClr val="1E1B3A"/>
                </a:solidFill>
                <a:latin typeface="Malgun Gothic" pitchFamily="34" charset="0"/>
                <a:ea typeface="Malgun Gothic" pitchFamily="34" charset="-122"/>
                <a:cs typeface="Malgun Gothic" pitchFamily="34" charset="-120"/>
              </a:rPr>
              <a:t>왜 이렇게 '작게'?</a:t>
            </a:r>
            <a:endParaRPr lang="en-US" sz="1250" dirty="0"/>
          </a:p>
        </p:txBody>
      </p:sp>
      <p:sp>
        <p:nvSpPr>
          <p:cNvPr id="14" name="Text 9"/>
          <p:cNvSpPr/>
          <p:nvPr/>
        </p:nvSpPr>
        <p:spPr>
          <a:xfrm>
            <a:off x="896112" y="4828032"/>
            <a:ext cx="2996184" cy="594360"/>
          </a:xfrm>
          <a:prstGeom prst="rect">
            <a:avLst/>
          </a:prstGeom>
          <a:noFill/>
          <a:ln/>
        </p:spPr>
        <p:txBody>
          <a:bodyPr wrap="square" lIns="0" tIns="0" rIns="0" bIns="0" rtlCol="0" anchor="t"/>
          <a:lstStyle/>
          <a:p>
            <a:pPr indent="0" marL="0">
              <a:lnSpc>
                <a:spcPts val="1469"/>
              </a:lnSpc>
              <a:buNone/>
            </a:pPr>
            <a:r>
              <a:rPr lang="en-US" sz="1080" dirty="0">
                <a:solidFill>
                  <a:srgbClr val="3C3B57"/>
                </a:solidFill>
                <a:latin typeface="Malgun Gothic" pitchFamily="34" charset="0"/>
                <a:ea typeface="Malgun Gothic" pitchFamily="34" charset="-122"/>
                <a:cs typeface="Malgun Gothic" pitchFamily="34" charset="-120"/>
              </a:rPr>
              <a:t>결과를 눈으로 전부 확인할 수 있는 크기이기 때문입니다 — 확인 못 할 크기로 시키는 것이 초보의 1번 실수입니다.</a:t>
            </a:r>
            <a:endParaRPr lang="en-US" sz="1080" dirty="0"/>
          </a:p>
        </p:txBody>
      </p:sp>
      <p:sp>
        <p:nvSpPr>
          <p:cNvPr id="15" name="Shape 10"/>
          <p:cNvSpPr/>
          <p:nvPr/>
        </p:nvSpPr>
        <p:spPr>
          <a:xfrm>
            <a:off x="4367784" y="3657600"/>
            <a:ext cx="3453384" cy="1874520"/>
          </a:xfrm>
          <a:prstGeom prst="roundRect">
            <a:avLst>
              <a:gd name="adj" fmla="val 4878"/>
            </a:avLst>
          </a:prstGeom>
          <a:solidFill>
            <a:srgbClr val="FFFFFF"/>
          </a:solidFill>
          <a:ln/>
          <a:effectLst>
            <a:outerShdw sx="100000" sy="100000" kx="0" ky="0" algn="bl" rotWithShape="0" blurRad="152400" dist="25400" dir="5400000">
              <a:srgbClr val="1F1D48">
                <a:alpha val="16000"/>
              </a:srgbClr>
            </a:outerShdw>
          </a:effectLst>
        </p:spPr>
      </p:sp>
      <p:sp>
        <p:nvSpPr>
          <p:cNvPr id="16" name="Shape 11"/>
          <p:cNvSpPr/>
          <p:nvPr/>
        </p:nvSpPr>
        <p:spPr>
          <a:xfrm>
            <a:off x="4605528" y="3895344"/>
            <a:ext cx="512064" cy="512064"/>
          </a:xfrm>
          <a:prstGeom prst="ellipse">
            <a:avLst/>
          </a:prstGeom>
          <a:solidFill>
            <a:srgbClr val="7C3AED"/>
          </a:solidFill>
          <a:ln/>
        </p:spPr>
      </p:sp>
      <p:pic>
        <p:nvPicPr>
          <p:cNvPr id="17" name="Image 3" descr="/home/claude/icons/listol_white.png">    </p:cNvPr>
          <p:cNvPicPr>
            <a:picLocks noChangeAspect="1"/>
          </p:cNvPicPr>
          <p:nvPr/>
        </p:nvPicPr>
        <p:blipFill>
          <a:blip r:embed="rId4"/>
          <a:stretch>
            <a:fillRect/>
          </a:stretch>
        </p:blipFill>
        <p:spPr>
          <a:xfrm>
            <a:off x="4733544" y="4023360"/>
            <a:ext cx="256032" cy="256032"/>
          </a:xfrm>
          <a:prstGeom prst="rect">
            <a:avLst/>
          </a:prstGeom>
        </p:spPr>
      </p:pic>
      <p:sp>
        <p:nvSpPr>
          <p:cNvPr id="18" name="Text 12"/>
          <p:cNvSpPr/>
          <p:nvPr/>
        </p:nvSpPr>
        <p:spPr>
          <a:xfrm>
            <a:off x="4605528" y="4535424"/>
            <a:ext cx="2996184" cy="292608"/>
          </a:xfrm>
          <a:prstGeom prst="rect">
            <a:avLst/>
          </a:prstGeom>
          <a:noFill/>
          <a:ln/>
        </p:spPr>
        <p:txBody>
          <a:bodyPr wrap="square" lIns="0" tIns="0" rIns="0" bIns="0" rtlCol="0" anchor="ctr"/>
          <a:lstStyle/>
          <a:p>
            <a:pPr indent="0" marL="0">
              <a:buNone/>
            </a:pPr>
            <a:r>
              <a:rPr lang="en-US" sz="1250" b="1" dirty="0">
                <a:solidFill>
                  <a:srgbClr val="1E1B3A"/>
                </a:solidFill>
                <a:latin typeface="Malgun Gothic" pitchFamily="34" charset="0"/>
                <a:ea typeface="Malgun Gothic" pitchFamily="34" charset="-122"/>
                <a:cs typeface="Malgun Gothic" pitchFamily="34" charset="-120"/>
              </a:rPr>
              <a:t>지시문에 들어간 세 가지</a:t>
            </a:r>
            <a:endParaRPr lang="en-US" sz="1250" dirty="0"/>
          </a:p>
        </p:txBody>
      </p:sp>
      <p:sp>
        <p:nvSpPr>
          <p:cNvPr id="19" name="Text 13"/>
          <p:cNvSpPr/>
          <p:nvPr/>
        </p:nvSpPr>
        <p:spPr>
          <a:xfrm>
            <a:off x="4605528" y="4828032"/>
            <a:ext cx="2996184" cy="594360"/>
          </a:xfrm>
          <a:prstGeom prst="rect">
            <a:avLst/>
          </a:prstGeom>
          <a:noFill/>
          <a:ln/>
        </p:spPr>
        <p:txBody>
          <a:bodyPr wrap="square" lIns="0" tIns="0" rIns="0" bIns="0" rtlCol="0" anchor="t"/>
          <a:lstStyle/>
          <a:p>
            <a:pPr indent="0" marL="0">
              <a:lnSpc>
                <a:spcPts val="1469"/>
              </a:lnSpc>
              <a:buNone/>
            </a:pPr>
            <a:r>
              <a:rPr lang="en-US" sz="1080" dirty="0">
                <a:solidFill>
                  <a:srgbClr val="3C3B57"/>
                </a:solidFill>
                <a:latin typeface="Malgun Gothic" pitchFamily="34" charset="0"/>
                <a:ea typeface="Malgun Gothic" pitchFamily="34" charset="-122"/>
                <a:cs typeface="Malgun Gothic" pitchFamily="34" charset="-120"/>
              </a:rPr>
              <a:t>만들 파일 이름(temp.py) · 만들 것(함수 c_to_f) · 확인 방법(25도 변환 출력) — 좋은 지시의 최소 골격입니다.</a:t>
            </a:r>
            <a:endParaRPr lang="en-US" sz="1080" dirty="0"/>
          </a:p>
        </p:txBody>
      </p:sp>
      <p:sp>
        <p:nvSpPr>
          <p:cNvPr id="20" name="Shape 14"/>
          <p:cNvSpPr/>
          <p:nvPr/>
        </p:nvSpPr>
        <p:spPr>
          <a:xfrm>
            <a:off x="8077200" y="3657600"/>
            <a:ext cx="3453384" cy="1874520"/>
          </a:xfrm>
          <a:prstGeom prst="roundRect">
            <a:avLst>
              <a:gd name="adj" fmla="val 4878"/>
            </a:avLst>
          </a:prstGeom>
          <a:solidFill>
            <a:srgbClr val="FFFFFF"/>
          </a:solidFill>
          <a:ln/>
          <a:effectLst>
            <a:outerShdw sx="100000" sy="100000" kx="0" ky="0" algn="bl" rotWithShape="0" blurRad="152400" dist="25400" dir="5400000">
              <a:srgbClr val="1F1D48">
                <a:alpha val="16000"/>
              </a:srgbClr>
            </a:outerShdw>
          </a:effectLst>
        </p:spPr>
      </p:sp>
      <p:sp>
        <p:nvSpPr>
          <p:cNvPr id="21" name="Shape 15"/>
          <p:cNvSpPr/>
          <p:nvPr/>
        </p:nvSpPr>
        <p:spPr>
          <a:xfrm>
            <a:off x="8314944" y="3895344"/>
            <a:ext cx="512064" cy="512064"/>
          </a:xfrm>
          <a:prstGeom prst="ellipse">
            <a:avLst/>
          </a:prstGeom>
          <a:solidFill>
            <a:srgbClr val="F59E0B"/>
          </a:solidFill>
          <a:ln/>
        </p:spPr>
      </p:sp>
      <p:pic>
        <p:nvPicPr>
          <p:cNvPr id="22" name="Image 4" descr="/home/claude/icons/eye_white.png">    </p:cNvPr>
          <p:cNvPicPr>
            <a:picLocks noChangeAspect="1"/>
          </p:cNvPicPr>
          <p:nvPr/>
        </p:nvPicPr>
        <p:blipFill>
          <a:blip r:embed="rId5"/>
          <a:stretch>
            <a:fillRect/>
          </a:stretch>
        </p:blipFill>
        <p:spPr>
          <a:xfrm>
            <a:off x="8442960" y="4023360"/>
            <a:ext cx="256032" cy="256032"/>
          </a:xfrm>
          <a:prstGeom prst="rect">
            <a:avLst/>
          </a:prstGeom>
        </p:spPr>
      </p:pic>
      <p:sp>
        <p:nvSpPr>
          <p:cNvPr id="23" name="Text 16"/>
          <p:cNvSpPr/>
          <p:nvPr/>
        </p:nvSpPr>
        <p:spPr>
          <a:xfrm>
            <a:off x="8314944" y="4535424"/>
            <a:ext cx="2996184" cy="292608"/>
          </a:xfrm>
          <a:prstGeom prst="rect">
            <a:avLst/>
          </a:prstGeom>
          <a:noFill/>
          <a:ln/>
        </p:spPr>
        <p:txBody>
          <a:bodyPr wrap="square" lIns="0" tIns="0" rIns="0" bIns="0" rtlCol="0" anchor="ctr"/>
          <a:lstStyle/>
          <a:p>
            <a:pPr indent="0" marL="0">
              <a:buNone/>
            </a:pPr>
            <a:r>
              <a:rPr lang="en-US" sz="1250" b="1" dirty="0">
                <a:solidFill>
                  <a:srgbClr val="1E1B3A"/>
                </a:solidFill>
                <a:latin typeface="Malgun Gothic" pitchFamily="34" charset="0"/>
                <a:ea typeface="Malgun Gothic" pitchFamily="34" charset="-122"/>
                <a:cs typeface="Malgun Gothic" pitchFamily="34" charset="-120"/>
              </a:rPr>
              <a:t>실행 전에 승인</a:t>
            </a:r>
            <a:endParaRPr lang="en-US" sz="1250" dirty="0"/>
          </a:p>
        </p:txBody>
      </p:sp>
      <p:sp>
        <p:nvSpPr>
          <p:cNvPr id="24" name="Text 17"/>
          <p:cNvSpPr/>
          <p:nvPr/>
        </p:nvSpPr>
        <p:spPr>
          <a:xfrm>
            <a:off x="8314944" y="4828032"/>
            <a:ext cx="2996184" cy="594360"/>
          </a:xfrm>
          <a:prstGeom prst="rect">
            <a:avLst/>
          </a:prstGeom>
          <a:noFill/>
          <a:ln/>
        </p:spPr>
        <p:txBody>
          <a:bodyPr wrap="square" lIns="0" tIns="0" rIns="0" bIns="0" rtlCol="0" anchor="t"/>
          <a:lstStyle/>
          <a:p>
            <a:pPr indent="0" marL="0">
              <a:lnSpc>
                <a:spcPts val="1469"/>
              </a:lnSpc>
              <a:buNone/>
            </a:pPr>
            <a:r>
              <a:rPr lang="en-US" sz="1080" dirty="0">
                <a:solidFill>
                  <a:srgbClr val="3C3B57"/>
                </a:solidFill>
                <a:latin typeface="Malgun Gothic" pitchFamily="34" charset="0"/>
                <a:ea typeface="Malgun Gothic" pitchFamily="34" charset="-122"/>
                <a:cs typeface="Malgun Gothic" pitchFamily="34" charset="-120"/>
              </a:rPr>
              <a:t>Cline이 파일을 만들기 전 변경 내용을 보여 주고 승인을 기다립니다 — 내용을 읽고 승인하는 습관을 오늘부터.</a:t>
            </a:r>
            <a:endParaRPr lang="en-US" sz="1080" dirty="0"/>
          </a:p>
        </p:txBody>
      </p:sp>
      <p:sp>
        <p:nvSpPr>
          <p:cNvPr id="25" name="Text 18"/>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22</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907792" cy="384048"/>
          </a:xfrm>
          <a:prstGeom prst="roundRect">
            <a:avLst>
              <a:gd name="adj" fmla="val 50000"/>
            </a:avLst>
          </a:prstGeom>
          <a:solidFill>
            <a:srgbClr val="EDECFB"/>
          </a:solidFill>
          <a:ln/>
        </p:spPr>
      </p:sp>
      <p:pic>
        <p:nvPicPr>
          <p:cNvPr id="3" name="Image 0" descr="/home/claude/icons/bolt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523744"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3부 · AI 도구 환경 구축</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⑤ 결과 확인 — 바퀴를 끝까지 돌립니다</a:t>
            </a:r>
            <a:endParaRPr lang="en-US" sz="2600" dirty="0"/>
          </a:p>
        </p:txBody>
      </p:sp>
      <p:sp>
        <p:nvSpPr>
          <p:cNvPr id="6" name="Shape 3"/>
          <p:cNvSpPr/>
          <p:nvPr/>
        </p:nvSpPr>
        <p:spPr>
          <a:xfrm>
            <a:off x="658368" y="1828800"/>
            <a:ext cx="6126480" cy="3291840"/>
          </a:xfrm>
          <a:prstGeom prst="roundRect">
            <a:avLst>
              <a:gd name="adj" fmla="val 2778"/>
            </a:avLst>
          </a:prstGeom>
          <a:solidFill>
            <a:srgbClr val="1D1C3D"/>
          </a:solidFill>
          <a:ln/>
          <a:effectLst>
            <a:outerShdw sx="100000" sy="100000" kx="0" ky="0" algn="bl" rotWithShape="0" blurRad="152400" dist="25400" dir="5400000">
              <a:srgbClr val="1F1D48">
                <a:alpha val="16000"/>
              </a:srgbClr>
            </a:outerShdw>
          </a:effectLst>
        </p:spPr>
      </p:sp>
      <p:sp>
        <p:nvSpPr>
          <p:cNvPr id="7" name="Shape 4"/>
          <p:cNvSpPr/>
          <p:nvPr/>
        </p:nvSpPr>
        <p:spPr>
          <a:xfrm>
            <a:off x="658368" y="1828800"/>
            <a:ext cx="6126480" cy="329184"/>
          </a:xfrm>
          <a:prstGeom prst="roundRect">
            <a:avLst>
              <a:gd name="adj" fmla="val 27778"/>
            </a:avLst>
          </a:prstGeom>
          <a:solidFill>
            <a:srgbClr val="2A2856"/>
          </a:solidFill>
          <a:ln/>
        </p:spPr>
      </p:sp>
      <p:sp>
        <p:nvSpPr>
          <p:cNvPr id="8" name="Shape 5"/>
          <p:cNvSpPr/>
          <p:nvPr/>
        </p:nvSpPr>
        <p:spPr>
          <a:xfrm>
            <a:off x="658368" y="2011680"/>
            <a:ext cx="6126480" cy="146304"/>
          </a:xfrm>
          <a:prstGeom prst="rect">
            <a:avLst/>
          </a:prstGeom>
          <a:solidFill>
            <a:srgbClr val="2A2856"/>
          </a:solidFill>
          <a:ln/>
        </p:spPr>
      </p:sp>
      <p:sp>
        <p:nvSpPr>
          <p:cNvPr id="9" name="Shape 6"/>
          <p:cNvSpPr/>
          <p:nvPr/>
        </p:nvSpPr>
        <p:spPr>
          <a:xfrm>
            <a:off x="804672" y="1943100"/>
            <a:ext cx="100584" cy="100584"/>
          </a:xfrm>
          <a:prstGeom prst="ellipse">
            <a:avLst/>
          </a:prstGeom>
          <a:solidFill>
            <a:srgbClr val="FF5F56"/>
          </a:solidFill>
          <a:ln/>
        </p:spPr>
      </p:sp>
      <p:sp>
        <p:nvSpPr>
          <p:cNvPr id="10" name="Shape 7"/>
          <p:cNvSpPr/>
          <p:nvPr/>
        </p:nvSpPr>
        <p:spPr>
          <a:xfrm>
            <a:off x="987552" y="1943100"/>
            <a:ext cx="100584" cy="100584"/>
          </a:xfrm>
          <a:prstGeom prst="ellipse">
            <a:avLst/>
          </a:prstGeom>
          <a:solidFill>
            <a:srgbClr val="FFBD2E"/>
          </a:solidFill>
          <a:ln/>
        </p:spPr>
      </p:sp>
      <p:sp>
        <p:nvSpPr>
          <p:cNvPr id="11" name="Shape 8"/>
          <p:cNvSpPr/>
          <p:nvPr/>
        </p:nvSpPr>
        <p:spPr>
          <a:xfrm>
            <a:off x="1170432" y="1943100"/>
            <a:ext cx="100584" cy="100584"/>
          </a:xfrm>
          <a:prstGeom prst="ellipse">
            <a:avLst/>
          </a:prstGeom>
          <a:solidFill>
            <a:srgbClr val="27C93F"/>
          </a:solidFill>
          <a:ln/>
        </p:spPr>
      </p:sp>
      <p:sp>
        <p:nvSpPr>
          <p:cNvPr id="12" name="Text 9"/>
          <p:cNvSpPr/>
          <p:nvPr/>
        </p:nvSpPr>
        <p:spPr>
          <a:xfrm>
            <a:off x="1481328" y="1828800"/>
            <a:ext cx="4480560" cy="329184"/>
          </a:xfrm>
          <a:prstGeom prst="rect">
            <a:avLst/>
          </a:prstGeom>
          <a:noFill/>
          <a:ln/>
        </p:spPr>
        <p:txBody>
          <a:bodyPr wrap="square" lIns="0" tIns="0" rIns="0" bIns="0" rtlCol="0" anchor="ctr"/>
          <a:lstStyle/>
          <a:p>
            <a:pPr algn="ctr" indent="0" marL="0">
              <a:buNone/>
            </a:pPr>
            <a:r>
              <a:rPr lang="en-US" sz="1000" dirty="0">
                <a:solidFill>
                  <a:srgbClr val="C9C9E6"/>
                </a:solidFill>
                <a:latin typeface="Consolas" pitchFamily="34" charset="0"/>
                <a:ea typeface="Consolas" pitchFamily="34" charset="-122"/>
                <a:cs typeface="Consolas" pitchFamily="34" charset="-120"/>
              </a:rPr>
              <a:t>temp.py</a:t>
            </a:r>
            <a:endParaRPr lang="en-US" sz="1000" dirty="0"/>
          </a:p>
        </p:txBody>
      </p:sp>
      <p:sp>
        <p:nvSpPr>
          <p:cNvPr id="13" name="Text 10"/>
          <p:cNvSpPr/>
          <p:nvPr/>
        </p:nvSpPr>
        <p:spPr>
          <a:xfrm>
            <a:off x="877824" y="2249424"/>
            <a:ext cx="5705856" cy="2724912"/>
          </a:xfrm>
          <a:prstGeom prst="rect">
            <a:avLst/>
          </a:prstGeom>
          <a:noFill/>
          <a:ln/>
        </p:spPr>
        <p:txBody>
          <a:bodyPr wrap="square" lIns="0" tIns="0" rIns="0" bIns="0" rtlCol="0" anchor="t"/>
          <a:lstStyle/>
          <a:p>
            <a:pPr indent="0" marL="0">
              <a:lnSpc>
                <a:spcPts val="1748"/>
              </a:lnSpc>
              <a:buNone/>
            </a:pPr>
            <a:r>
              <a:rPr lang="en-US" sz="1150" dirty="0">
                <a:solidFill>
                  <a:srgbClr val="8686AA"/>
                </a:solidFill>
                <a:latin typeface="Consolas" pitchFamily="34" charset="0"/>
                <a:ea typeface="Consolas" pitchFamily="34" charset="-122"/>
                <a:cs typeface="Consolas" pitchFamily="34" charset="-120"/>
              </a:rPr>
              <a:t># AI가 만든 temp.py — 예시 (여러분 것과 다를 수 있음)</a:t>
            </a:r>
            <a:endParaRPr lang="en-US" sz="1150" dirty="0"/>
          </a:p>
          <a:p>
            <a:pPr indent="0" marL="0">
              <a:lnSpc>
                <a:spcPts val="1748"/>
              </a:lnSpc>
              <a:buNone/>
            </a:pPr>
            <a:r>
              <a:rPr lang="en-US" sz="1150" dirty="0">
                <a:solidFill>
                  <a:srgbClr val="C7A8F7"/>
                </a:solidFill>
                <a:latin typeface="Consolas" pitchFamily="34" charset="0"/>
                <a:ea typeface="Consolas" pitchFamily="34" charset="-122"/>
                <a:cs typeface="Consolas" pitchFamily="34" charset="-120"/>
              </a:rPr>
              <a:t>def</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c_to_f</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c</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a:t>
            </a:r>
            <a:endParaRPr lang="en-US" sz="1150" dirty="0"/>
          </a:p>
          <a:p>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pPr indent="0" marL="0">
              <a:lnSpc>
                <a:spcPts val="1748"/>
              </a:lnSpc>
              <a:buNone/>
            </a:pPr>
            <a:r>
              <a:rPr lang="en-US" sz="1150" dirty="0">
                <a:solidFill>
                  <a:srgbClr val="C7A8F7"/>
                </a:solidFill>
                <a:latin typeface="Consolas" pitchFamily="34" charset="0"/>
                <a:ea typeface="Consolas" pitchFamily="34" charset="-122"/>
                <a:cs typeface="Consolas" pitchFamily="34" charset="-120"/>
              </a:rPr>
              <a:t>return</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c</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pPr indent="0" marL="0">
              <a:lnSpc>
                <a:spcPts val="1748"/>
              </a:lnSpc>
              <a:buNone/>
            </a:pPr>
            <a:r>
              <a:rPr lang="en-US" sz="1150" dirty="0">
                <a:solidFill>
                  <a:srgbClr val="F7C978"/>
                </a:solidFill>
                <a:latin typeface="Consolas" pitchFamily="34" charset="0"/>
                <a:ea typeface="Consolas" pitchFamily="34" charset="-122"/>
                <a:cs typeface="Consolas" pitchFamily="34" charset="-120"/>
              </a:rPr>
              <a:t>9</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pPr indent="0" marL="0">
              <a:lnSpc>
                <a:spcPts val="1748"/>
              </a:lnSpc>
              <a:buNone/>
            </a:pPr>
            <a:r>
              <a:rPr lang="en-US" sz="1150" dirty="0">
                <a:solidFill>
                  <a:srgbClr val="F7C978"/>
                </a:solidFill>
                <a:latin typeface="Consolas" pitchFamily="34" charset="0"/>
                <a:ea typeface="Consolas" pitchFamily="34" charset="-122"/>
                <a:cs typeface="Consolas" pitchFamily="34" charset="-120"/>
              </a:rPr>
              <a:t>5</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pPr indent="0" marL="0">
              <a:lnSpc>
                <a:spcPts val="1748"/>
              </a:lnSpc>
              <a:buNone/>
            </a:pPr>
            <a:r>
              <a:rPr lang="en-US" sz="1150" dirty="0">
                <a:solidFill>
                  <a:srgbClr val="F7C978"/>
                </a:solidFill>
                <a:latin typeface="Consolas" pitchFamily="34" charset="0"/>
                <a:ea typeface="Consolas" pitchFamily="34" charset="-122"/>
                <a:cs typeface="Consolas" pitchFamily="34" charset="-120"/>
              </a:rPr>
              <a:t>32</a:t>
            </a:r>
            <a:endParaRPr lang="en-US" sz="1150" dirty="0"/>
          </a:p>
          <a:p>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endParaRPr lang="en-US" sz="1150" dirty="0"/>
          </a:p>
          <a:p>
            <a:pPr indent="0" marL="0">
              <a:lnSpc>
                <a:spcPts val="1748"/>
              </a:lnSpc>
              <a:buNone/>
            </a:pPr>
            <a:r>
              <a:rPr lang="en-US" sz="1150" dirty="0">
                <a:solidFill>
                  <a:srgbClr val="9CC4FF"/>
                </a:solidFill>
                <a:latin typeface="Consolas" pitchFamily="34" charset="0"/>
                <a:ea typeface="Consolas" pitchFamily="34" charset="-122"/>
                <a:cs typeface="Consolas" pitchFamily="34" charset="-120"/>
              </a:rPr>
              <a:t>print</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c_to_f</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a:t>
            </a:r>
            <a:pPr indent="0" marL="0">
              <a:lnSpc>
                <a:spcPts val="1748"/>
              </a:lnSpc>
              <a:buNone/>
            </a:pPr>
            <a:r>
              <a:rPr lang="en-US" sz="1150" dirty="0">
                <a:solidFill>
                  <a:srgbClr val="F7C978"/>
                </a:solidFill>
                <a:latin typeface="Consolas" pitchFamily="34" charset="0"/>
                <a:ea typeface="Consolas" pitchFamily="34" charset="-122"/>
                <a:cs typeface="Consolas" pitchFamily="34" charset="-120"/>
              </a:rPr>
              <a:t>25</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a:t>
            </a:r>
            <a:endParaRPr lang="en-US" sz="1150" dirty="0"/>
          </a:p>
          <a:p>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endParaRPr lang="en-US" sz="1150" dirty="0"/>
          </a:p>
          <a:p>
            <a:pPr indent="0" marL="0">
              <a:lnSpc>
                <a:spcPts val="1748"/>
              </a:lnSpc>
              <a:buNone/>
            </a:pPr>
            <a:r>
              <a:rPr lang="en-US" sz="1150" dirty="0">
                <a:solidFill>
                  <a:srgbClr val="8686AA"/>
                </a:solidFill>
                <a:latin typeface="Consolas" pitchFamily="34" charset="0"/>
                <a:ea typeface="Consolas" pitchFamily="34" charset="-122"/>
                <a:cs typeface="Consolas" pitchFamily="34" charset="-120"/>
              </a:rPr>
              <a:t># 터미널에서 실행</a:t>
            </a:r>
            <a:endParaRPr lang="en-US" sz="1150" dirty="0"/>
          </a:p>
          <a:p>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python</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temp</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py</a:t>
            </a:r>
            <a:pPr indent="0" marL="0">
              <a:lnSpc>
                <a:spcPts val="1748"/>
              </a:lnSpc>
              <a:buNone/>
            </a:pPr>
            <a:r>
              <a:rPr lang="en-US" sz="1150" dirty="0">
                <a:solidFill>
                  <a:srgbClr val="DCDCF0"/>
                </a:solidFill>
                <a:latin typeface="Consolas" pitchFamily="34" charset="0"/>
                <a:ea typeface="Consolas" pitchFamily="34" charset="-122"/>
                <a:cs typeface="Consolas" pitchFamily="34" charset="-120"/>
              </a:rPr>
              <a:t>           </a:t>
            </a:r>
            <a:pPr indent="0" marL="0">
              <a:lnSpc>
                <a:spcPts val="1748"/>
              </a:lnSpc>
              <a:buNone/>
            </a:pPr>
            <a:r>
              <a:rPr lang="en-US" sz="1150" dirty="0">
                <a:solidFill>
                  <a:srgbClr val="8686AA"/>
                </a:solidFill>
                <a:latin typeface="Consolas" pitchFamily="34" charset="0"/>
                <a:ea typeface="Consolas" pitchFamily="34" charset="-122"/>
                <a:cs typeface="Consolas" pitchFamily="34" charset="-120"/>
              </a:rPr>
              <a:t># → 77.0</a:t>
            </a:r>
            <a:endParaRPr lang="en-US" sz="1150" dirty="0"/>
          </a:p>
        </p:txBody>
      </p:sp>
      <p:sp>
        <p:nvSpPr>
          <p:cNvPr id="14" name="Shape 11"/>
          <p:cNvSpPr/>
          <p:nvPr/>
        </p:nvSpPr>
        <p:spPr>
          <a:xfrm>
            <a:off x="7086600" y="1874520"/>
            <a:ext cx="457200" cy="457200"/>
          </a:xfrm>
          <a:prstGeom prst="ellipse">
            <a:avLst/>
          </a:prstGeom>
          <a:solidFill>
            <a:srgbClr val="10B981"/>
          </a:solidFill>
          <a:ln/>
        </p:spPr>
      </p:sp>
      <p:pic>
        <p:nvPicPr>
          <p:cNvPr id="15" name="Image 1" descr="/home/claude/icons/play_white.png">    </p:cNvPr>
          <p:cNvPicPr>
            <a:picLocks noChangeAspect="1"/>
          </p:cNvPicPr>
          <p:nvPr/>
        </p:nvPicPr>
        <p:blipFill>
          <a:blip r:embed="rId2"/>
          <a:stretch>
            <a:fillRect/>
          </a:stretch>
        </p:blipFill>
        <p:spPr>
          <a:xfrm>
            <a:off x="7200900" y="1988820"/>
            <a:ext cx="228600" cy="228600"/>
          </a:xfrm>
          <a:prstGeom prst="rect">
            <a:avLst/>
          </a:prstGeom>
        </p:spPr>
      </p:pic>
      <p:sp>
        <p:nvSpPr>
          <p:cNvPr id="16" name="Text 12"/>
          <p:cNvSpPr/>
          <p:nvPr/>
        </p:nvSpPr>
        <p:spPr>
          <a:xfrm>
            <a:off x="7763256" y="1837944"/>
            <a:ext cx="3758184" cy="274320"/>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1. 실행한다</a:t>
            </a:r>
            <a:endParaRPr lang="en-US" sz="1300" dirty="0"/>
          </a:p>
        </p:txBody>
      </p:sp>
      <p:sp>
        <p:nvSpPr>
          <p:cNvPr id="17" name="Text 13"/>
          <p:cNvSpPr/>
          <p:nvPr/>
        </p:nvSpPr>
        <p:spPr>
          <a:xfrm>
            <a:off x="7763256" y="2112264"/>
            <a:ext cx="3758184" cy="822960"/>
          </a:xfrm>
          <a:prstGeom prst="rect">
            <a:avLst/>
          </a:prstGeom>
          <a:noFill/>
          <a:ln/>
        </p:spPr>
        <p:txBody>
          <a:bodyPr wrap="square" lIns="0" tIns="0" rIns="0" bIns="0" rtlCol="0" anchor="t"/>
          <a:lstStyle/>
          <a:p>
            <a:pPr indent="0" marL="0">
              <a:lnSpc>
                <a:spcPts val="1469"/>
              </a:lnSpc>
              <a:buNone/>
            </a:pPr>
            <a:r>
              <a:rPr lang="en-US" sz="1080" dirty="0">
                <a:solidFill>
                  <a:srgbClr val="3C3B57"/>
                </a:solidFill>
                <a:latin typeface="Malgun Gothic" pitchFamily="34" charset="0"/>
                <a:ea typeface="Malgun Gothic" pitchFamily="34" charset="-122"/>
                <a:cs typeface="Malgun Gothic" pitchFamily="34" charset="-120"/>
              </a:rPr>
              <a:t>python temp.py — 77.0이 나오는지.</a:t>
            </a:r>
            <a:endParaRPr lang="en-US" sz="1080" dirty="0"/>
          </a:p>
        </p:txBody>
      </p:sp>
      <p:sp>
        <p:nvSpPr>
          <p:cNvPr id="18" name="Shape 14"/>
          <p:cNvSpPr/>
          <p:nvPr/>
        </p:nvSpPr>
        <p:spPr>
          <a:xfrm>
            <a:off x="7086600" y="2935224"/>
            <a:ext cx="457200" cy="457200"/>
          </a:xfrm>
          <a:prstGeom prst="ellipse">
            <a:avLst/>
          </a:prstGeom>
          <a:solidFill>
            <a:srgbClr val="4F46E5"/>
          </a:solidFill>
          <a:ln/>
        </p:spPr>
      </p:sp>
      <p:pic>
        <p:nvPicPr>
          <p:cNvPr id="19" name="Image 2" descr="/home/claude/icons/eye_white.png">    </p:cNvPr>
          <p:cNvPicPr>
            <a:picLocks noChangeAspect="1"/>
          </p:cNvPicPr>
          <p:nvPr/>
        </p:nvPicPr>
        <p:blipFill>
          <a:blip r:embed="rId3"/>
          <a:stretch>
            <a:fillRect/>
          </a:stretch>
        </p:blipFill>
        <p:spPr>
          <a:xfrm>
            <a:off x="7200900" y="3049524"/>
            <a:ext cx="228600" cy="228600"/>
          </a:xfrm>
          <a:prstGeom prst="rect">
            <a:avLst/>
          </a:prstGeom>
        </p:spPr>
      </p:pic>
      <p:sp>
        <p:nvSpPr>
          <p:cNvPr id="20" name="Text 15"/>
          <p:cNvSpPr/>
          <p:nvPr/>
        </p:nvSpPr>
        <p:spPr>
          <a:xfrm>
            <a:off x="7763256" y="2898648"/>
            <a:ext cx="3758184" cy="274320"/>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2. 코드를 읽는다</a:t>
            </a:r>
            <a:endParaRPr lang="en-US" sz="1300" dirty="0"/>
          </a:p>
        </p:txBody>
      </p:sp>
      <p:sp>
        <p:nvSpPr>
          <p:cNvPr id="21" name="Text 16"/>
          <p:cNvSpPr/>
          <p:nvPr/>
        </p:nvSpPr>
        <p:spPr>
          <a:xfrm>
            <a:off x="7763256" y="3172968"/>
            <a:ext cx="3758184" cy="822960"/>
          </a:xfrm>
          <a:prstGeom prst="rect">
            <a:avLst/>
          </a:prstGeom>
          <a:noFill/>
          <a:ln/>
        </p:spPr>
        <p:txBody>
          <a:bodyPr wrap="square" lIns="0" tIns="0" rIns="0" bIns="0" rtlCol="0" anchor="t"/>
          <a:lstStyle/>
          <a:p>
            <a:pPr indent="0" marL="0">
              <a:lnSpc>
                <a:spcPts val="1469"/>
              </a:lnSpc>
              <a:buNone/>
            </a:pPr>
            <a:r>
              <a:rPr lang="en-US" sz="1080" dirty="0">
                <a:solidFill>
                  <a:srgbClr val="3C3B57"/>
                </a:solidFill>
                <a:latin typeface="Malgun Gothic" pitchFamily="34" charset="0"/>
                <a:ea typeface="Malgun Gothic" pitchFamily="34" charset="-122"/>
                <a:cs typeface="Malgun Gothic" pitchFamily="34" charset="-120"/>
              </a:rPr>
              <a:t>무슨 일을 하는지 설명할 수 있는가 — 설명 못 하면 내 것이 아닙니다(1강 규칙 ②).</a:t>
            </a:r>
            <a:endParaRPr lang="en-US" sz="1080" dirty="0"/>
          </a:p>
        </p:txBody>
      </p:sp>
      <p:sp>
        <p:nvSpPr>
          <p:cNvPr id="22" name="Shape 17"/>
          <p:cNvSpPr/>
          <p:nvPr/>
        </p:nvSpPr>
        <p:spPr>
          <a:xfrm>
            <a:off x="7086600" y="3995928"/>
            <a:ext cx="457200" cy="457200"/>
          </a:xfrm>
          <a:prstGeom prst="ellipse">
            <a:avLst/>
          </a:prstGeom>
          <a:solidFill>
            <a:srgbClr val="F59E0B"/>
          </a:solidFill>
          <a:ln/>
        </p:spPr>
      </p:sp>
      <p:pic>
        <p:nvPicPr>
          <p:cNvPr id="23" name="Image 3" descr="/home/claude/icons/comments_white.png">    </p:cNvPr>
          <p:cNvPicPr>
            <a:picLocks noChangeAspect="1"/>
          </p:cNvPicPr>
          <p:nvPr/>
        </p:nvPicPr>
        <p:blipFill>
          <a:blip r:embed="rId4"/>
          <a:stretch>
            <a:fillRect/>
          </a:stretch>
        </p:blipFill>
        <p:spPr>
          <a:xfrm>
            <a:off x="7200900" y="4110228"/>
            <a:ext cx="228600" cy="228600"/>
          </a:xfrm>
          <a:prstGeom prst="rect">
            <a:avLst/>
          </a:prstGeom>
        </p:spPr>
      </p:pic>
      <p:sp>
        <p:nvSpPr>
          <p:cNvPr id="24" name="Text 18"/>
          <p:cNvSpPr/>
          <p:nvPr/>
        </p:nvSpPr>
        <p:spPr>
          <a:xfrm>
            <a:off x="7763256" y="3959352"/>
            <a:ext cx="3758184" cy="274320"/>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3. 다르면 말로 수정 지시</a:t>
            </a:r>
            <a:endParaRPr lang="en-US" sz="1300" dirty="0"/>
          </a:p>
        </p:txBody>
      </p:sp>
      <p:sp>
        <p:nvSpPr>
          <p:cNvPr id="25" name="Text 19"/>
          <p:cNvSpPr/>
          <p:nvPr/>
        </p:nvSpPr>
        <p:spPr>
          <a:xfrm>
            <a:off x="7763256" y="4233672"/>
            <a:ext cx="3758184" cy="822960"/>
          </a:xfrm>
          <a:prstGeom prst="rect">
            <a:avLst/>
          </a:prstGeom>
          <a:noFill/>
          <a:ln/>
        </p:spPr>
        <p:txBody>
          <a:bodyPr wrap="square" lIns="0" tIns="0" rIns="0" bIns="0" rtlCol="0" anchor="t"/>
          <a:lstStyle/>
          <a:p>
            <a:pPr indent="0" marL="0">
              <a:lnSpc>
                <a:spcPts val="1469"/>
              </a:lnSpc>
              <a:buNone/>
            </a:pPr>
            <a:r>
              <a:rPr lang="en-US" sz="1080" dirty="0">
                <a:solidFill>
                  <a:srgbClr val="3C3B57"/>
                </a:solidFill>
                <a:latin typeface="Malgun Gothic" pitchFamily="34" charset="0"/>
                <a:ea typeface="Malgun Gothic" pitchFamily="34" charset="-122"/>
                <a:cs typeface="Malgun Gothic" pitchFamily="34" charset="-120"/>
              </a:rPr>
              <a:t>"소수점 한 자리로 반올림해 줘"처럼 — 기대와 결과의 차이를 말로 정리해 다시 요청합니다.</a:t>
            </a:r>
            <a:endParaRPr lang="en-US" sz="1080" dirty="0"/>
          </a:p>
        </p:txBody>
      </p:sp>
      <p:sp>
        <p:nvSpPr>
          <p:cNvPr id="26" name="Shape 20"/>
          <p:cNvSpPr/>
          <p:nvPr/>
        </p:nvSpPr>
        <p:spPr>
          <a:xfrm>
            <a:off x="658368" y="5349240"/>
            <a:ext cx="10872216" cy="731520"/>
          </a:xfrm>
          <a:prstGeom prst="roundRect">
            <a:avLst>
              <a:gd name="adj" fmla="val 12500"/>
            </a:avLst>
          </a:prstGeom>
          <a:solidFill>
            <a:srgbClr val="F5F4FC"/>
          </a:solidFill>
          <a:ln/>
        </p:spPr>
      </p:sp>
      <p:sp>
        <p:nvSpPr>
          <p:cNvPr id="27" name="Shape 21"/>
          <p:cNvSpPr/>
          <p:nvPr/>
        </p:nvSpPr>
        <p:spPr>
          <a:xfrm>
            <a:off x="877824" y="5477256"/>
            <a:ext cx="475488" cy="475488"/>
          </a:xfrm>
          <a:prstGeom prst="ellipse">
            <a:avLst/>
          </a:prstGeom>
          <a:solidFill>
            <a:srgbClr val="14B8A6"/>
          </a:solidFill>
          <a:ln/>
        </p:spPr>
      </p:sp>
      <p:pic>
        <p:nvPicPr>
          <p:cNvPr id="28" name="Image 4" descr="/home/claude/icons/sync_white.png">    </p:cNvPr>
          <p:cNvPicPr>
            <a:picLocks noChangeAspect="1"/>
          </p:cNvPicPr>
          <p:nvPr/>
        </p:nvPicPr>
        <p:blipFill>
          <a:blip r:embed="rId5"/>
          <a:stretch>
            <a:fillRect/>
          </a:stretch>
        </p:blipFill>
        <p:spPr>
          <a:xfrm>
            <a:off x="996696" y="5596128"/>
            <a:ext cx="237744" cy="237744"/>
          </a:xfrm>
          <a:prstGeom prst="rect">
            <a:avLst/>
          </a:prstGeom>
        </p:spPr>
      </p:pic>
      <p:sp>
        <p:nvSpPr>
          <p:cNvPr id="29" name="Text 22"/>
          <p:cNvSpPr/>
          <p:nvPr/>
        </p:nvSpPr>
        <p:spPr>
          <a:xfrm>
            <a:off x="1554480" y="5440680"/>
            <a:ext cx="9738360" cy="548640"/>
          </a:xfrm>
          <a:prstGeom prst="rect">
            <a:avLst/>
          </a:prstGeom>
          <a:noFill/>
          <a:ln/>
        </p:spPr>
        <p:txBody>
          <a:bodyPr wrap="square" lIns="0" tIns="0" rIns="0" bIns="0" rtlCol="0" anchor="ctr"/>
          <a:lstStyle/>
          <a:p>
            <a:pPr indent="0" marL="0">
              <a:lnSpc>
                <a:spcPts val="1704"/>
              </a:lnSpc>
              <a:buNone/>
            </a:pPr>
            <a:r>
              <a:rPr lang="en-US" sz="1200" dirty="0">
                <a:solidFill>
                  <a:srgbClr val="3C3B57"/>
                </a:solidFill>
                <a:latin typeface="Malgun Gothic" pitchFamily="34" charset="0"/>
                <a:ea typeface="Malgun Gothic" pitchFamily="34" charset="-122"/>
                <a:cs typeface="Malgun Gothic" pitchFamily="34" charset="-120"/>
              </a:rPr>
              <a:t>지시 → 생성 → 확인 → 수정 지시 — 2부에서 본 초소형 스프린트를 방금 여러분이 한 바퀴 돌렸습니다.</a:t>
            </a:r>
            <a:endParaRPr lang="en-US" sz="1200" dirty="0"/>
          </a:p>
        </p:txBody>
      </p:sp>
      <p:sp>
        <p:nvSpPr>
          <p:cNvPr id="30" name="Text 23"/>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23</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907792" cy="384048"/>
          </a:xfrm>
          <a:prstGeom prst="roundRect">
            <a:avLst>
              <a:gd name="adj" fmla="val 50000"/>
            </a:avLst>
          </a:prstGeom>
          <a:solidFill>
            <a:srgbClr val="EDECFB"/>
          </a:solidFill>
          <a:ln/>
        </p:spPr>
      </p:sp>
      <p:pic>
        <p:nvPicPr>
          <p:cNvPr id="3" name="Image 0" descr="/home/claude/icons/bolt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523744"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3부 · AI 도구 환경 구축</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잘 안 될 때 — 네 가지 점검</a:t>
            </a:r>
            <a:endParaRPr lang="en-US" sz="2600" dirty="0"/>
          </a:p>
        </p:txBody>
      </p:sp>
      <p:sp>
        <p:nvSpPr>
          <p:cNvPr id="6" name="Shape 3"/>
          <p:cNvSpPr/>
          <p:nvPr/>
        </p:nvSpPr>
        <p:spPr>
          <a:xfrm>
            <a:off x="658368" y="1828800"/>
            <a:ext cx="5308092" cy="1783080"/>
          </a:xfrm>
          <a:prstGeom prst="roundRect">
            <a:avLst>
              <a:gd name="adj" fmla="val 5128"/>
            </a:avLst>
          </a:prstGeom>
          <a:solidFill>
            <a:srgbClr val="FFFFFF"/>
          </a:solidFill>
          <a:ln/>
          <a:effectLst>
            <a:outerShdw sx="100000" sy="100000" kx="0" ky="0" algn="bl" rotWithShape="0" blurRad="152400" dist="25400" dir="5400000">
              <a:srgbClr val="1F1D48">
                <a:alpha val="16000"/>
              </a:srgbClr>
            </a:outerShdw>
          </a:effectLst>
        </p:spPr>
      </p:sp>
      <p:sp>
        <p:nvSpPr>
          <p:cNvPr id="7" name="Shape 4"/>
          <p:cNvSpPr/>
          <p:nvPr/>
        </p:nvSpPr>
        <p:spPr>
          <a:xfrm>
            <a:off x="896112" y="2066544"/>
            <a:ext cx="512064" cy="512064"/>
          </a:xfrm>
          <a:prstGeom prst="ellipse">
            <a:avLst/>
          </a:prstGeom>
          <a:solidFill>
            <a:srgbClr val="FB7185"/>
          </a:solidFill>
          <a:ln/>
        </p:spPr>
      </p:sp>
      <p:pic>
        <p:nvPicPr>
          <p:cNvPr id="8" name="Image 1" descr="/home/claude/icons/key_white.png">    </p:cNvPr>
          <p:cNvPicPr>
            <a:picLocks noChangeAspect="1"/>
          </p:cNvPicPr>
          <p:nvPr/>
        </p:nvPicPr>
        <p:blipFill>
          <a:blip r:embed="rId2"/>
          <a:stretch>
            <a:fillRect/>
          </a:stretch>
        </p:blipFill>
        <p:spPr>
          <a:xfrm>
            <a:off x="1024128" y="2194560"/>
            <a:ext cx="256032" cy="256032"/>
          </a:xfrm>
          <a:prstGeom prst="rect">
            <a:avLst/>
          </a:prstGeom>
        </p:spPr>
      </p:pic>
      <p:sp>
        <p:nvSpPr>
          <p:cNvPr id="9" name="Text 5"/>
          <p:cNvSpPr/>
          <p:nvPr/>
        </p:nvSpPr>
        <p:spPr>
          <a:xfrm>
            <a:off x="896112" y="2706624"/>
            <a:ext cx="4850892" cy="292608"/>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키 오류 (401 · invalid)</a:t>
            </a:r>
            <a:endParaRPr lang="en-US" sz="1350" dirty="0"/>
          </a:p>
        </p:txBody>
      </p:sp>
      <p:sp>
        <p:nvSpPr>
          <p:cNvPr id="10" name="Text 6"/>
          <p:cNvSpPr/>
          <p:nvPr/>
        </p:nvSpPr>
        <p:spPr>
          <a:xfrm>
            <a:off x="896112" y="2999232"/>
            <a:ext cx="4850892" cy="50292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키를 다시 복사해 붙여넣기 — 앞뒤 공백·줄바꿈이 섞였는지, 따옴표까지 복사했는지 확인. 환경변수를 고쳤다면 새 터미널과 VS Code 재시작.</a:t>
            </a:r>
            <a:endParaRPr lang="en-US" sz="1100" dirty="0"/>
          </a:p>
        </p:txBody>
      </p:sp>
      <p:sp>
        <p:nvSpPr>
          <p:cNvPr id="11" name="Shape 7"/>
          <p:cNvSpPr/>
          <p:nvPr/>
        </p:nvSpPr>
        <p:spPr>
          <a:xfrm>
            <a:off x="6222492" y="1828800"/>
            <a:ext cx="5308092" cy="1783080"/>
          </a:xfrm>
          <a:prstGeom prst="roundRect">
            <a:avLst>
              <a:gd name="adj" fmla="val 5128"/>
            </a:avLst>
          </a:prstGeom>
          <a:solidFill>
            <a:srgbClr val="FFFFFF"/>
          </a:solidFill>
          <a:ln/>
          <a:effectLst>
            <a:outerShdw sx="100000" sy="100000" kx="0" ky="0" algn="bl" rotWithShape="0" blurRad="152400" dist="25400" dir="5400000">
              <a:srgbClr val="1F1D48">
                <a:alpha val="16000"/>
              </a:srgbClr>
            </a:outerShdw>
          </a:effectLst>
        </p:spPr>
      </p:sp>
      <p:sp>
        <p:nvSpPr>
          <p:cNvPr id="12" name="Shape 8"/>
          <p:cNvSpPr/>
          <p:nvPr/>
        </p:nvSpPr>
        <p:spPr>
          <a:xfrm>
            <a:off x="6460236" y="2066544"/>
            <a:ext cx="512064" cy="512064"/>
          </a:xfrm>
          <a:prstGeom prst="ellipse">
            <a:avLst/>
          </a:prstGeom>
          <a:solidFill>
            <a:srgbClr val="F59E0B"/>
          </a:solidFill>
          <a:ln/>
        </p:spPr>
      </p:sp>
      <p:pic>
        <p:nvPicPr>
          <p:cNvPr id="13" name="Image 2" descr="/home/claude/icons/hourglass_white.png">    </p:cNvPr>
          <p:cNvPicPr>
            <a:picLocks noChangeAspect="1"/>
          </p:cNvPicPr>
          <p:nvPr/>
        </p:nvPicPr>
        <p:blipFill>
          <a:blip r:embed="rId3"/>
          <a:stretch>
            <a:fillRect/>
          </a:stretch>
        </p:blipFill>
        <p:spPr>
          <a:xfrm>
            <a:off x="6588252" y="2194560"/>
            <a:ext cx="256032" cy="256032"/>
          </a:xfrm>
          <a:prstGeom prst="rect">
            <a:avLst/>
          </a:prstGeom>
        </p:spPr>
      </p:pic>
      <p:sp>
        <p:nvSpPr>
          <p:cNvPr id="14" name="Text 9"/>
          <p:cNvSpPr/>
          <p:nvPr/>
        </p:nvSpPr>
        <p:spPr>
          <a:xfrm>
            <a:off x="6460236" y="2706624"/>
            <a:ext cx="4850892" cy="292608"/>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한도 초과 (429)</a:t>
            </a:r>
            <a:endParaRPr lang="en-US" sz="1350" dirty="0"/>
          </a:p>
        </p:txBody>
      </p:sp>
      <p:sp>
        <p:nvSpPr>
          <p:cNvPr id="15" name="Text 10"/>
          <p:cNvSpPr/>
          <p:nvPr/>
        </p:nvSpPr>
        <p:spPr>
          <a:xfrm>
            <a:off x="6460236" y="2999232"/>
            <a:ext cx="4850892" cy="50292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무료 등급의 분당 요청 제한 — 요금 문제가 아닙니다. 1분쯤 기다렸다 다시 시도하면 됩니다.</a:t>
            </a:r>
            <a:endParaRPr lang="en-US" sz="1100" dirty="0"/>
          </a:p>
        </p:txBody>
      </p:sp>
      <p:sp>
        <p:nvSpPr>
          <p:cNvPr id="16" name="Shape 11"/>
          <p:cNvSpPr/>
          <p:nvPr/>
        </p:nvSpPr>
        <p:spPr>
          <a:xfrm>
            <a:off x="658368" y="3886200"/>
            <a:ext cx="5308092" cy="1783080"/>
          </a:xfrm>
          <a:prstGeom prst="roundRect">
            <a:avLst>
              <a:gd name="adj" fmla="val 5128"/>
            </a:avLst>
          </a:prstGeom>
          <a:solidFill>
            <a:srgbClr val="FFFFFF"/>
          </a:solidFill>
          <a:ln/>
          <a:effectLst>
            <a:outerShdw sx="100000" sy="100000" kx="0" ky="0" algn="bl" rotWithShape="0" blurRad="152400" dist="25400" dir="5400000">
              <a:srgbClr val="1F1D48">
                <a:alpha val="16000"/>
              </a:srgbClr>
            </a:outerShdw>
          </a:effectLst>
        </p:spPr>
      </p:sp>
      <p:sp>
        <p:nvSpPr>
          <p:cNvPr id="17" name="Shape 12"/>
          <p:cNvSpPr/>
          <p:nvPr/>
        </p:nvSpPr>
        <p:spPr>
          <a:xfrm>
            <a:off x="896112" y="4123944"/>
            <a:ext cx="512064" cy="512064"/>
          </a:xfrm>
          <a:prstGeom prst="ellipse">
            <a:avLst/>
          </a:prstGeom>
          <a:solidFill>
            <a:srgbClr val="4F46E5"/>
          </a:solidFill>
          <a:ln/>
        </p:spPr>
      </p:sp>
      <p:pic>
        <p:nvPicPr>
          <p:cNvPr id="18" name="Image 3" descr="/home/claude/icons/sync_white.png">    </p:cNvPr>
          <p:cNvPicPr>
            <a:picLocks noChangeAspect="1"/>
          </p:cNvPicPr>
          <p:nvPr/>
        </p:nvPicPr>
        <p:blipFill>
          <a:blip r:embed="rId4"/>
          <a:stretch>
            <a:fillRect/>
          </a:stretch>
        </p:blipFill>
        <p:spPr>
          <a:xfrm>
            <a:off x="1024128" y="4251960"/>
            <a:ext cx="256032" cy="256032"/>
          </a:xfrm>
          <a:prstGeom prst="rect">
            <a:avLst/>
          </a:prstGeom>
        </p:spPr>
      </p:pic>
      <p:sp>
        <p:nvSpPr>
          <p:cNvPr id="19" name="Text 13"/>
          <p:cNvSpPr/>
          <p:nvPr/>
        </p:nvSpPr>
        <p:spPr>
          <a:xfrm>
            <a:off x="896112" y="4764024"/>
            <a:ext cx="4850892" cy="292608"/>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응답이 없음</a:t>
            </a:r>
            <a:endParaRPr lang="en-US" sz="1350" dirty="0"/>
          </a:p>
        </p:txBody>
      </p:sp>
      <p:sp>
        <p:nvSpPr>
          <p:cNvPr id="20" name="Text 14"/>
          <p:cNvSpPr/>
          <p:nvPr/>
        </p:nvSpPr>
        <p:spPr>
          <a:xfrm>
            <a:off x="896112" y="5056632"/>
            <a:ext cx="4850892" cy="50292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네트워크·방화벽 확인(교내 와이파이 이슈 가능), Cline 확장 재시작 또는 VS Code 재시작.</a:t>
            </a:r>
            <a:endParaRPr lang="en-US" sz="1100" dirty="0"/>
          </a:p>
        </p:txBody>
      </p:sp>
      <p:sp>
        <p:nvSpPr>
          <p:cNvPr id="21" name="Shape 15"/>
          <p:cNvSpPr/>
          <p:nvPr/>
        </p:nvSpPr>
        <p:spPr>
          <a:xfrm>
            <a:off x="6222492" y="3886200"/>
            <a:ext cx="5308092" cy="1783080"/>
          </a:xfrm>
          <a:prstGeom prst="roundRect">
            <a:avLst>
              <a:gd name="adj" fmla="val 5128"/>
            </a:avLst>
          </a:prstGeom>
          <a:solidFill>
            <a:srgbClr val="FFFFFF"/>
          </a:solidFill>
          <a:ln/>
          <a:effectLst>
            <a:outerShdw sx="100000" sy="100000" kx="0" ky="0" algn="bl" rotWithShape="0" blurRad="152400" dist="25400" dir="5400000">
              <a:srgbClr val="1F1D48">
                <a:alpha val="16000"/>
              </a:srgbClr>
            </a:outerShdw>
          </a:effectLst>
        </p:spPr>
      </p:sp>
      <p:sp>
        <p:nvSpPr>
          <p:cNvPr id="22" name="Shape 16"/>
          <p:cNvSpPr/>
          <p:nvPr/>
        </p:nvSpPr>
        <p:spPr>
          <a:xfrm>
            <a:off x="6460236" y="4123944"/>
            <a:ext cx="512064" cy="512064"/>
          </a:xfrm>
          <a:prstGeom prst="ellipse">
            <a:avLst/>
          </a:prstGeom>
          <a:solidFill>
            <a:srgbClr val="10B981"/>
          </a:solidFill>
          <a:ln/>
        </p:spPr>
      </p:sp>
      <p:pic>
        <p:nvPicPr>
          <p:cNvPr id="23" name="Image 4" descr="/home/claude/icons/question_white.png">    </p:cNvPr>
          <p:cNvPicPr>
            <a:picLocks noChangeAspect="1"/>
          </p:cNvPicPr>
          <p:nvPr/>
        </p:nvPicPr>
        <p:blipFill>
          <a:blip r:embed="rId5"/>
          <a:stretch>
            <a:fillRect/>
          </a:stretch>
        </p:blipFill>
        <p:spPr>
          <a:xfrm>
            <a:off x="6588252" y="4251960"/>
            <a:ext cx="256032" cy="256032"/>
          </a:xfrm>
          <a:prstGeom prst="rect">
            <a:avLst/>
          </a:prstGeom>
        </p:spPr>
      </p:pic>
      <p:sp>
        <p:nvSpPr>
          <p:cNvPr id="24" name="Text 17"/>
          <p:cNvSpPr/>
          <p:nvPr/>
        </p:nvSpPr>
        <p:spPr>
          <a:xfrm>
            <a:off x="6460236" y="4764024"/>
            <a:ext cx="4850892" cy="292608"/>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그래도 안 되면</a:t>
            </a:r>
            <a:endParaRPr lang="en-US" sz="1350" dirty="0"/>
          </a:p>
        </p:txBody>
      </p:sp>
      <p:sp>
        <p:nvSpPr>
          <p:cNvPr id="25" name="Text 18"/>
          <p:cNvSpPr/>
          <p:nvPr/>
        </p:nvSpPr>
        <p:spPr>
          <a:xfrm>
            <a:off x="6460236" y="5056632"/>
            <a:ext cx="4850892" cy="50292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옆 사람의 설정 화면과 비교 — 그리고 손 드세요. 오류 메시지를 지우지 말고 그대로 보여 주는 것이 가장 빠릅니다.</a:t>
            </a:r>
            <a:endParaRPr lang="en-US" sz="1100" dirty="0"/>
          </a:p>
        </p:txBody>
      </p:sp>
      <p:sp>
        <p:nvSpPr>
          <p:cNvPr id="26" name="Text 19"/>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24</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907792" cy="384048"/>
          </a:xfrm>
          <a:prstGeom prst="roundRect">
            <a:avLst>
              <a:gd name="adj" fmla="val 50000"/>
            </a:avLst>
          </a:prstGeom>
          <a:solidFill>
            <a:srgbClr val="EDECFB"/>
          </a:solidFill>
          <a:ln/>
        </p:spPr>
      </p:sp>
      <p:pic>
        <p:nvPicPr>
          <p:cNvPr id="3" name="Image 0" descr="/home/claude/icons/bolt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523744"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3부 · AI 도구 환경 구축</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실습 체크리스트 — 나가기 전에</a:t>
            </a:r>
            <a:endParaRPr lang="en-US" sz="2600" dirty="0"/>
          </a:p>
        </p:txBody>
      </p:sp>
      <p:sp>
        <p:nvSpPr>
          <p:cNvPr id="6" name="Shape 3"/>
          <p:cNvSpPr/>
          <p:nvPr/>
        </p:nvSpPr>
        <p:spPr>
          <a:xfrm>
            <a:off x="658368" y="1783080"/>
            <a:ext cx="10872216" cy="3977640"/>
          </a:xfrm>
          <a:prstGeom prst="roundRect">
            <a:avLst>
              <a:gd name="adj" fmla="val 2299"/>
            </a:avLst>
          </a:prstGeom>
          <a:solidFill>
            <a:srgbClr val="FFFFFF"/>
          </a:solidFill>
          <a:ln/>
          <a:effectLst>
            <a:outerShdw sx="100000" sy="100000" kx="0" ky="0" algn="bl" rotWithShape="0" blurRad="152400" dist="25400" dir="5400000">
              <a:srgbClr val="1F1D48">
                <a:alpha val="16000"/>
              </a:srgbClr>
            </a:outerShdw>
          </a:effectLst>
        </p:spPr>
      </p:sp>
      <p:sp>
        <p:nvSpPr>
          <p:cNvPr id="7" name="Shape 4"/>
          <p:cNvSpPr/>
          <p:nvPr/>
        </p:nvSpPr>
        <p:spPr>
          <a:xfrm>
            <a:off x="1069848" y="2103120"/>
            <a:ext cx="384048" cy="384048"/>
          </a:xfrm>
          <a:prstGeom prst="ellipse">
            <a:avLst/>
          </a:prstGeom>
          <a:solidFill>
            <a:srgbClr val="10B981"/>
          </a:solidFill>
          <a:ln/>
        </p:spPr>
      </p:sp>
      <p:pic>
        <p:nvPicPr>
          <p:cNvPr id="8" name="Image 1" descr="/home/claude/icons/check_white.png">    </p:cNvPr>
          <p:cNvPicPr>
            <a:picLocks noChangeAspect="1"/>
          </p:cNvPicPr>
          <p:nvPr/>
        </p:nvPicPr>
        <p:blipFill>
          <a:blip r:embed="rId2"/>
          <a:stretch>
            <a:fillRect/>
          </a:stretch>
        </p:blipFill>
        <p:spPr>
          <a:xfrm>
            <a:off x="1165860" y="2199132"/>
            <a:ext cx="192024" cy="192024"/>
          </a:xfrm>
          <a:prstGeom prst="rect">
            <a:avLst/>
          </a:prstGeom>
        </p:spPr>
      </p:pic>
      <p:sp>
        <p:nvSpPr>
          <p:cNvPr id="9" name="Text 5"/>
          <p:cNvSpPr/>
          <p:nvPr/>
        </p:nvSpPr>
        <p:spPr>
          <a:xfrm>
            <a:off x="1636776" y="2075688"/>
            <a:ext cx="9482328" cy="457200"/>
          </a:xfrm>
          <a:prstGeom prst="rect">
            <a:avLst/>
          </a:prstGeom>
          <a:noFill/>
          <a:ln/>
        </p:spPr>
        <p:txBody>
          <a:bodyPr wrap="square" lIns="0" tIns="0" rIns="0" bIns="0" rtlCol="0" anchor="ctr"/>
          <a:lstStyle/>
          <a:p>
            <a:pPr indent="0" marL="0">
              <a:lnSpc>
                <a:spcPts val="1755"/>
              </a:lnSpc>
              <a:buNone/>
            </a:pPr>
            <a:r>
              <a:rPr lang="en-US" sz="1350" dirty="0">
                <a:solidFill>
                  <a:srgbClr val="3C3B57"/>
                </a:solidFill>
                <a:latin typeface="Malgun Gothic" pitchFamily="34" charset="0"/>
                <a:ea typeface="Malgun Gothic" pitchFamily="34" charset="-122"/>
                <a:cs typeface="Malgun Gothic" pitchFamily="34" charset="-120"/>
              </a:rPr>
              <a:t>AI Studio에서 내 API 키를 발급받았다.</a:t>
            </a:r>
            <a:endParaRPr lang="en-US" sz="1350" dirty="0"/>
          </a:p>
        </p:txBody>
      </p:sp>
      <p:sp>
        <p:nvSpPr>
          <p:cNvPr id="10" name="Shape 6"/>
          <p:cNvSpPr/>
          <p:nvPr/>
        </p:nvSpPr>
        <p:spPr>
          <a:xfrm>
            <a:off x="1069848" y="2798064"/>
            <a:ext cx="384048" cy="384048"/>
          </a:xfrm>
          <a:prstGeom prst="ellipse">
            <a:avLst/>
          </a:prstGeom>
          <a:solidFill>
            <a:srgbClr val="10B981"/>
          </a:solidFill>
          <a:ln/>
        </p:spPr>
      </p:sp>
      <p:pic>
        <p:nvPicPr>
          <p:cNvPr id="11" name="Image 2" descr="/home/claude/icons/check_white.png">    </p:cNvPr>
          <p:cNvPicPr>
            <a:picLocks noChangeAspect="1"/>
          </p:cNvPicPr>
          <p:nvPr/>
        </p:nvPicPr>
        <p:blipFill>
          <a:blip r:embed="rId3"/>
          <a:stretch>
            <a:fillRect/>
          </a:stretch>
        </p:blipFill>
        <p:spPr>
          <a:xfrm>
            <a:off x="1165860" y="2894076"/>
            <a:ext cx="192024" cy="192024"/>
          </a:xfrm>
          <a:prstGeom prst="rect">
            <a:avLst/>
          </a:prstGeom>
        </p:spPr>
      </p:pic>
      <p:sp>
        <p:nvSpPr>
          <p:cNvPr id="12" name="Text 7"/>
          <p:cNvSpPr/>
          <p:nvPr/>
        </p:nvSpPr>
        <p:spPr>
          <a:xfrm>
            <a:off x="1636776" y="2770632"/>
            <a:ext cx="9482328" cy="457200"/>
          </a:xfrm>
          <a:prstGeom prst="rect">
            <a:avLst/>
          </a:prstGeom>
          <a:noFill/>
          <a:ln/>
        </p:spPr>
        <p:txBody>
          <a:bodyPr wrap="square" lIns="0" tIns="0" rIns="0" bIns="0" rtlCol="0" anchor="ctr"/>
          <a:lstStyle/>
          <a:p>
            <a:pPr indent="0" marL="0">
              <a:lnSpc>
                <a:spcPts val="1755"/>
              </a:lnSpc>
              <a:buNone/>
            </a:pPr>
            <a:r>
              <a:rPr lang="en-US" sz="1350" dirty="0">
                <a:solidFill>
                  <a:srgbClr val="3C3B57"/>
                </a:solidFill>
                <a:latin typeface="Malgun Gothic" pitchFamily="34" charset="0"/>
                <a:ea typeface="Malgun Gothic" pitchFamily="34" charset="-122"/>
                <a:cs typeface="Malgun Gothic" pitchFamily="34" charset="-120"/>
              </a:rPr>
              <a:t>환경변수 GEMINI_API_KEY 를 등록했다.</a:t>
            </a:r>
            <a:endParaRPr lang="en-US" sz="1350" dirty="0"/>
          </a:p>
        </p:txBody>
      </p:sp>
      <p:sp>
        <p:nvSpPr>
          <p:cNvPr id="13" name="Shape 8"/>
          <p:cNvSpPr/>
          <p:nvPr/>
        </p:nvSpPr>
        <p:spPr>
          <a:xfrm>
            <a:off x="1069848" y="3493008"/>
            <a:ext cx="384048" cy="384048"/>
          </a:xfrm>
          <a:prstGeom prst="ellipse">
            <a:avLst/>
          </a:prstGeom>
          <a:solidFill>
            <a:srgbClr val="10B981"/>
          </a:solidFill>
          <a:ln/>
        </p:spPr>
      </p:sp>
      <p:pic>
        <p:nvPicPr>
          <p:cNvPr id="14" name="Image 3" descr="/home/claude/icons/check_white.png">    </p:cNvPr>
          <p:cNvPicPr>
            <a:picLocks noChangeAspect="1"/>
          </p:cNvPicPr>
          <p:nvPr/>
        </p:nvPicPr>
        <p:blipFill>
          <a:blip r:embed="rId4"/>
          <a:stretch>
            <a:fillRect/>
          </a:stretch>
        </p:blipFill>
        <p:spPr>
          <a:xfrm>
            <a:off x="1165860" y="3589020"/>
            <a:ext cx="192024" cy="192024"/>
          </a:xfrm>
          <a:prstGeom prst="rect">
            <a:avLst/>
          </a:prstGeom>
        </p:spPr>
      </p:pic>
      <p:sp>
        <p:nvSpPr>
          <p:cNvPr id="15" name="Text 9"/>
          <p:cNvSpPr/>
          <p:nvPr/>
        </p:nvSpPr>
        <p:spPr>
          <a:xfrm>
            <a:off x="1636776" y="3465576"/>
            <a:ext cx="9482328" cy="457200"/>
          </a:xfrm>
          <a:prstGeom prst="rect">
            <a:avLst/>
          </a:prstGeom>
          <a:noFill/>
          <a:ln/>
        </p:spPr>
        <p:txBody>
          <a:bodyPr wrap="square" lIns="0" tIns="0" rIns="0" bIns="0" rtlCol="0" anchor="ctr"/>
          <a:lstStyle/>
          <a:p>
            <a:pPr indent="0" marL="0">
              <a:lnSpc>
                <a:spcPts val="1755"/>
              </a:lnSpc>
              <a:buNone/>
            </a:pPr>
            <a:r>
              <a:rPr lang="en-US" sz="1350" dirty="0">
                <a:solidFill>
                  <a:srgbClr val="3C3B57"/>
                </a:solidFill>
                <a:latin typeface="Malgun Gothic" pitchFamily="34" charset="0"/>
                <a:ea typeface="Malgun Gothic" pitchFamily="34" charset="-122"/>
                <a:cs typeface="Malgun Gothic" pitchFamily="34" charset="-120"/>
              </a:rPr>
              <a:t>새 터미널에서 echo 로 키가 출력되는 것을 확인했다.</a:t>
            </a:r>
            <a:endParaRPr lang="en-US" sz="1350" dirty="0"/>
          </a:p>
        </p:txBody>
      </p:sp>
      <p:sp>
        <p:nvSpPr>
          <p:cNvPr id="16" name="Shape 10"/>
          <p:cNvSpPr/>
          <p:nvPr/>
        </p:nvSpPr>
        <p:spPr>
          <a:xfrm>
            <a:off x="1069848" y="4187952"/>
            <a:ext cx="384048" cy="384048"/>
          </a:xfrm>
          <a:prstGeom prst="ellipse">
            <a:avLst/>
          </a:prstGeom>
          <a:solidFill>
            <a:srgbClr val="10B981"/>
          </a:solidFill>
          <a:ln/>
        </p:spPr>
      </p:sp>
      <p:pic>
        <p:nvPicPr>
          <p:cNvPr id="17" name="Image 4" descr="/home/claude/icons/check_white.png">    </p:cNvPr>
          <p:cNvPicPr>
            <a:picLocks noChangeAspect="1"/>
          </p:cNvPicPr>
          <p:nvPr/>
        </p:nvPicPr>
        <p:blipFill>
          <a:blip r:embed="rId5"/>
          <a:stretch>
            <a:fillRect/>
          </a:stretch>
        </p:blipFill>
        <p:spPr>
          <a:xfrm>
            <a:off x="1165860" y="4283964"/>
            <a:ext cx="192024" cy="192024"/>
          </a:xfrm>
          <a:prstGeom prst="rect">
            <a:avLst/>
          </a:prstGeom>
        </p:spPr>
      </p:pic>
      <p:sp>
        <p:nvSpPr>
          <p:cNvPr id="18" name="Text 11"/>
          <p:cNvSpPr/>
          <p:nvPr/>
        </p:nvSpPr>
        <p:spPr>
          <a:xfrm>
            <a:off x="1636776" y="4160520"/>
            <a:ext cx="9482328" cy="457200"/>
          </a:xfrm>
          <a:prstGeom prst="rect">
            <a:avLst/>
          </a:prstGeom>
          <a:noFill/>
          <a:ln/>
        </p:spPr>
        <p:txBody>
          <a:bodyPr wrap="square" lIns="0" tIns="0" rIns="0" bIns="0" rtlCol="0" anchor="ctr"/>
          <a:lstStyle/>
          <a:p>
            <a:pPr indent="0" marL="0">
              <a:lnSpc>
                <a:spcPts val="1755"/>
              </a:lnSpc>
              <a:buNone/>
            </a:pPr>
            <a:r>
              <a:rPr lang="en-US" sz="1350" dirty="0">
                <a:solidFill>
                  <a:srgbClr val="3C3B57"/>
                </a:solidFill>
                <a:latin typeface="Malgun Gothic" pitchFamily="34" charset="0"/>
                <a:ea typeface="Malgun Gothic" pitchFamily="34" charset="-122"/>
                <a:cs typeface="Malgun Gothic" pitchFamily="34" charset="-120"/>
              </a:rPr>
              <a:t>Cline이 Gemini와 연결되어 채팅 응답을 받는다.</a:t>
            </a:r>
            <a:endParaRPr lang="en-US" sz="1350" dirty="0"/>
          </a:p>
        </p:txBody>
      </p:sp>
      <p:sp>
        <p:nvSpPr>
          <p:cNvPr id="19" name="Shape 12"/>
          <p:cNvSpPr/>
          <p:nvPr/>
        </p:nvSpPr>
        <p:spPr>
          <a:xfrm>
            <a:off x="1069848" y="4882896"/>
            <a:ext cx="384048" cy="384048"/>
          </a:xfrm>
          <a:prstGeom prst="ellipse">
            <a:avLst/>
          </a:prstGeom>
          <a:solidFill>
            <a:srgbClr val="10B981"/>
          </a:solidFill>
          <a:ln/>
        </p:spPr>
      </p:sp>
      <p:pic>
        <p:nvPicPr>
          <p:cNvPr id="20" name="Image 5" descr="/home/claude/icons/check_white.png">    </p:cNvPr>
          <p:cNvPicPr>
            <a:picLocks noChangeAspect="1"/>
          </p:cNvPicPr>
          <p:nvPr/>
        </p:nvPicPr>
        <p:blipFill>
          <a:blip r:embed="rId6"/>
          <a:stretch>
            <a:fillRect/>
          </a:stretch>
        </p:blipFill>
        <p:spPr>
          <a:xfrm>
            <a:off x="1165860" y="4978908"/>
            <a:ext cx="192024" cy="192024"/>
          </a:xfrm>
          <a:prstGeom prst="rect">
            <a:avLst/>
          </a:prstGeom>
        </p:spPr>
      </p:pic>
      <p:sp>
        <p:nvSpPr>
          <p:cNvPr id="21" name="Text 13"/>
          <p:cNvSpPr/>
          <p:nvPr/>
        </p:nvSpPr>
        <p:spPr>
          <a:xfrm>
            <a:off x="1636776" y="4855464"/>
            <a:ext cx="9482328" cy="457200"/>
          </a:xfrm>
          <a:prstGeom prst="rect">
            <a:avLst/>
          </a:prstGeom>
          <a:noFill/>
          <a:ln/>
        </p:spPr>
        <p:txBody>
          <a:bodyPr wrap="square" lIns="0" tIns="0" rIns="0" bIns="0" rtlCol="0" anchor="ctr"/>
          <a:lstStyle/>
          <a:p>
            <a:pPr indent="0" marL="0">
              <a:lnSpc>
                <a:spcPts val="1755"/>
              </a:lnSpc>
              <a:buNone/>
            </a:pPr>
            <a:r>
              <a:rPr lang="en-US" sz="1350" dirty="0">
                <a:solidFill>
                  <a:srgbClr val="3C3B57"/>
                </a:solidFill>
                <a:latin typeface="Malgun Gothic" pitchFamily="34" charset="0"/>
                <a:ea typeface="Malgun Gothic" pitchFamily="34" charset="-122"/>
                <a:cs typeface="Malgun Gothic" pitchFamily="34" charset="-120"/>
              </a:rPr>
              <a:t>지시로 temp.py 가 생성되고, 실행하면 77.0 이 나온다.</a:t>
            </a:r>
            <a:endParaRPr lang="en-US" sz="1350" dirty="0"/>
          </a:p>
        </p:txBody>
      </p:sp>
      <p:sp>
        <p:nvSpPr>
          <p:cNvPr id="22" name="Text 14"/>
          <p:cNvSpPr/>
          <p:nvPr/>
        </p:nvSpPr>
        <p:spPr>
          <a:xfrm>
            <a:off x="658368" y="5943600"/>
            <a:ext cx="10872216" cy="914400"/>
          </a:xfrm>
          <a:prstGeom prst="rect">
            <a:avLst/>
          </a:prstGeom>
          <a:noFill/>
          <a:ln/>
        </p:spPr>
        <p:txBody>
          <a:bodyPr wrap="square" lIns="0" tIns="0" rIns="0" bIns="0" rtlCol="0" anchor="t"/>
          <a:lstStyle/>
          <a:p>
            <a:pPr algn="l" indent="0" marL="0">
              <a:lnSpc>
                <a:spcPts val="1824"/>
              </a:lnSpc>
              <a:buNone/>
            </a:pPr>
            <a:r>
              <a:rPr lang="en-US" sz="1200" dirty="0">
                <a:solidFill>
                  <a:srgbClr val="6B7185"/>
                </a:solidFill>
                <a:latin typeface="Malgun Gothic" pitchFamily="34" charset="0"/>
                <a:ea typeface="Malgun Gothic" pitchFamily="34" charset="-122"/>
                <a:cs typeface="Malgun Gothic" pitchFamily="34" charset="-120"/>
              </a:rPr>
              <a:t>오늘의 출석 인증 — temp.py를 지난주 hello-sw 저장소에 push하고, 저장소 주소를 LMS 2주차 게시판에 제출하세요. (키는 코드에 없죠? 그래서 올려도 안전합니다.)</a:t>
            </a:r>
            <a:endParaRPr lang="en-US" sz="1200" dirty="0"/>
          </a:p>
        </p:txBody>
      </p:sp>
      <p:sp>
        <p:nvSpPr>
          <p:cNvPr id="23" name="Text 15"/>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25</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1632204" cy="384048"/>
          </a:xfrm>
          <a:prstGeom prst="roundRect">
            <a:avLst>
              <a:gd name="adj" fmla="val 50000"/>
            </a:avLst>
          </a:prstGeom>
          <a:solidFill>
            <a:srgbClr val="EDECFB"/>
          </a:solidFill>
          <a:ln/>
        </p:spPr>
      </p:sp>
      <p:pic>
        <p:nvPicPr>
          <p:cNvPr id="3" name="Image 0" descr="/home/claude/icons/check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1248156"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2강 · 정리</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오늘의 세 문장</a:t>
            </a:r>
            <a:endParaRPr lang="en-US" sz="2600" dirty="0"/>
          </a:p>
        </p:txBody>
      </p:sp>
      <p:sp>
        <p:nvSpPr>
          <p:cNvPr id="6" name="Shape 3"/>
          <p:cNvSpPr/>
          <p:nvPr/>
        </p:nvSpPr>
        <p:spPr>
          <a:xfrm>
            <a:off x="658368" y="1920240"/>
            <a:ext cx="10872216" cy="1097280"/>
          </a:xfrm>
          <a:prstGeom prst="roundRect">
            <a:avLst>
              <a:gd name="adj" fmla="val 8333"/>
            </a:avLst>
          </a:prstGeom>
          <a:solidFill>
            <a:srgbClr val="FFFFFF"/>
          </a:solidFill>
          <a:ln/>
          <a:effectLst>
            <a:outerShdw sx="100000" sy="100000" kx="0" ky="0" algn="bl" rotWithShape="0" blurRad="152400" dist="25400" dir="5400000">
              <a:srgbClr val="1F1D48">
                <a:alpha val="16000"/>
              </a:srgbClr>
            </a:outerShdw>
          </a:effectLst>
        </p:spPr>
      </p:sp>
      <p:sp>
        <p:nvSpPr>
          <p:cNvPr id="7" name="Shape 4"/>
          <p:cNvSpPr/>
          <p:nvPr/>
        </p:nvSpPr>
        <p:spPr>
          <a:xfrm>
            <a:off x="896112" y="2221992"/>
            <a:ext cx="493776" cy="493776"/>
          </a:xfrm>
          <a:prstGeom prst="ellipse">
            <a:avLst/>
          </a:prstGeom>
          <a:solidFill>
            <a:srgbClr val="7C3AED"/>
          </a:solidFill>
          <a:ln/>
        </p:spPr>
      </p:sp>
      <p:sp>
        <p:nvSpPr>
          <p:cNvPr id="8" name="Text 5"/>
          <p:cNvSpPr/>
          <p:nvPr/>
        </p:nvSpPr>
        <p:spPr>
          <a:xfrm>
            <a:off x="896112" y="222199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1</a:t>
            </a:r>
            <a:endParaRPr lang="en-US" sz="1800" dirty="0"/>
          </a:p>
        </p:txBody>
      </p:sp>
      <p:sp>
        <p:nvSpPr>
          <p:cNvPr id="9" name="Text 6"/>
          <p:cNvSpPr/>
          <p:nvPr/>
        </p:nvSpPr>
        <p:spPr>
          <a:xfrm>
            <a:off x="1627632" y="2048256"/>
            <a:ext cx="9592056" cy="859536"/>
          </a:xfrm>
          <a:prstGeom prst="rect">
            <a:avLst/>
          </a:prstGeom>
          <a:noFill/>
          <a:ln/>
        </p:spPr>
        <p:txBody>
          <a:bodyPr wrap="square" lIns="0" tIns="0" rIns="0" bIns="0" rtlCol="0" anchor="ctr"/>
          <a:lstStyle/>
          <a:p>
            <a:pPr indent="0" marL="0">
              <a:lnSpc>
                <a:spcPts val="2000"/>
              </a:lnSpc>
              <a:buNone/>
            </a:pPr>
            <a:r>
              <a:rPr lang="en-US" sz="1350" dirty="0">
                <a:solidFill>
                  <a:srgbClr val="3C3B57"/>
                </a:solidFill>
                <a:latin typeface="Malgun Gothic" pitchFamily="34" charset="0"/>
                <a:ea typeface="Malgun Gothic" pitchFamily="34" charset="-122"/>
                <a:cs typeface="Malgun Gothic" pitchFamily="34" charset="-120"/>
              </a:rPr>
              <a:t>정답 프로세스 모델은 없습니다 — 요구의 확실성과 변경 가능성이라는 '상황'이 폭포수 · 반복 · 애자일 중에서 고릅니다.</a:t>
            </a:r>
            <a:endParaRPr lang="en-US" sz="1350" dirty="0"/>
          </a:p>
        </p:txBody>
      </p:sp>
      <p:sp>
        <p:nvSpPr>
          <p:cNvPr id="10" name="Shape 7"/>
          <p:cNvSpPr/>
          <p:nvPr/>
        </p:nvSpPr>
        <p:spPr>
          <a:xfrm>
            <a:off x="658368" y="3246120"/>
            <a:ext cx="10872216" cy="1097280"/>
          </a:xfrm>
          <a:prstGeom prst="roundRect">
            <a:avLst>
              <a:gd name="adj" fmla="val 8333"/>
            </a:avLst>
          </a:prstGeom>
          <a:solidFill>
            <a:srgbClr val="FFFFFF"/>
          </a:solidFill>
          <a:ln/>
          <a:effectLst>
            <a:outerShdw sx="100000" sy="100000" kx="0" ky="0" algn="bl" rotWithShape="0" blurRad="152400" dist="25400" dir="5400000">
              <a:srgbClr val="1F1D48">
                <a:alpha val="16000"/>
              </a:srgbClr>
            </a:outerShdw>
          </a:effectLst>
        </p:spPr>
      </p:sp>
      <p:sp>
        <p:nvSpPr>
          <p:cNvPr id="11" name="Shape 8"/>
          <p:cNvSpPr/>
          <p:nvPr/>
        </p:nvSpPr>
        <p:spPr>
          <a:xfrm>
            <a:off x="896112" y="3547872"/>
            <a:ext cx="493776" cy="493776"/>
          </a:xfrm>
          <a:prstGeom prst="ellipse">
            <a:avLst/>
          </a:prstGeom>
          <a:solidFill>
            <a:srgbClr val="38BDF8"/>
          </a:solidFill>
          <a:ln/>
        </p:spPr>
      </p:sp>
      <p:sp>
        <p:nvSpPr>
          <p:cNvPr id="12" name="Text 9"/>
          <p:cNvSpPr/>
          <p:nvPr/>
        </p:nvSpPr>
        <p:spPr>
          <a:xfrm>
            <a:off x="896112" y="354787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2</a:t>
            </a:r>
            <a:endParaRPr lang="en-US" sz="1800" dirty="0"/>
          </a:p>
        </p:txBody>
      </p:sp>
      <p:sp>
        <p:nvSpPr>
          <p:cNvPr id="13" name="Text 10"/>
          <p:cNvSpPr/>
          <p:nvPr/>
        </p:nvSpPr>
        <p:spPr>
          <a:xfrm>
            <a:off x="1627632" y="3374136"/>
            <a:ext cx="9592056" cy="859536"/>
          </a:xfrm>
          <a:prstGeom prst="rect">
            <a:avLst/>
          </a:prstGeom>
          <a:noFill/>
          <a:ln/>
        </p:spPr>
        <p:txBody>
          <a:bodyPr wrap="square" lIns="0" tIns="0" rIns="0" bIns="0" rtlCol="0" anchor="ctr"/>
          <a:lstStyle/>
          <a:p>
            <a:pPr indent="0" marL="0">
              <a:lnSpc>
                <a:spcPts val="2000"/>
              </a:lnSpc>
              <a:buNone/>
            </a:pPr>
            <a:r>
              <a:rPr lang="en-US" sz="1350" dirty="0">
                <a:solidFill>
                  <a:srgbClr val="3C3B57"/>
                </a:solidFill>
                <a:latin typeface="Malgun Gothic" pitchFamily="34" charset="0"/>
                <a:ea typeface="Malgun Gothic" pitchFamily="34" charset="-122"/>
                <a:cs typeface="Malgun Gothic" pitchFamily="34" charset="-120"/>
              </a:rPr>
              <a:t>애자일은 짧은 고정 주기와 잦은 확인의 문화 — AI는 그 주기를 분 단위 '지시 → 생성 → 확인 → 수정' 루프로 압축합니다.</a:t>
            </a:r>
            <a:endParaRPr lang="en-US" sz="1350" dirty="0"/>
          </a:p>
        </p:txBody>
      </p:sp>
      <p:sp>
        <p:nvSpPr>
          <p:cNvPr id="14" name="Shape 11"/>
          <p:cNvSpPr/>
          <p:nvPr/>
        </p:nvSpPr>
        <p:spPr>
          <a:xfrm>
            <a:off x="658368" y="4572000"/>
            <a:ext cx="10872216" cy="1097280"/>
          </a:xfrm>
          <a:prstGeom prst="roundRect">
            <a:avLst>
              <a:gd name="adj" fmla="val 8333"/>
            </a:avLst>
          </a:prstGeom>
          <a:solidFill>
            <a:srgbClr val="FFFFFF"/>
          </a:solidFill>
          <a:ln/>
          <a:effectLst>
            <a:outerShdw sx="100000" sy="100000" kx="0" ky="0" algn="bl" rotWithShape="0" blurRad="152400" dist="25400" dir="5400000">
              <a:srgbClr val="1F1D48">
                <a:alpha val="16000"/>
              </a:srgbClr>
            </a:outerShdw>
          </a:effectLst>
        </p:spPr>
      </p:sp>
      <p:sp>
        <p:nvSpPr>
          <p:cNvPr id="15" name="Shape 12"/>
          <p:cNvSpPr/>
          <p:nvPr/>
        </p:nvSpPr>
        <p:spPr>
          <a:xfrm>
            <a:off x="896112" y="4873752"/>
            <a:ext cx="493776" cy="493776"/>
          </a:xfrm>
          <a:prstGeom prst="ellipse">
            <a:avLst/>
          </a:prstGeom>
          <a:solidFill>
            <a:srgbClr val="14B8A6"/>
          </a:solidFill>
          <a:ln/>
        </p:spPr>
      </p:sp>
      <p:sp>
        <p:nvSpPr>
          <p:cNvPr id="16" name="Text 13"/>
          <p:cNvSpPr/>
          <p:nvPr/>
        </p:nvSpPr>
        <p:spPr>
          <a:xfrm>
            <a:off x="896112" y="487375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3</a:t>
            </a:r>
            <a:endParaRPr lang="en-US" sz="1800" dirty="0"/>
          </a:p>
        </p:txBody>
      </p:sp>
      <p:sp>
        <p:nvSpPr>
          <p:cNvPr id="17" name="Text 14"/>
          <p:cNvSpPr/>
          <p:nvPr/>
        </p:nvSpPr>
        <p:spPr>
          <a:xfrm>
            <a:off x="1627632" y="4700016"/>
            <a:ext cx="9592056" cy="859536"/>
          </a:xfrm>
          <a:prstGeom prst="rect">
            <a:avLst/>
          </a:prstGeom>
          <a:noFill/>
          <a:ln/>
        </p:spPr>
        <p:txBody>
          <a:bodyPr wrap="square" lIns="0" tIns="0" rIns="0" bIns="0" rtlCol="0" anchor="ctr"/>
          <a:lstStyle/>
          <a:p>
            <a:pPr indent="0" marL="0">
              <a:lnSpc>
                <a:spcPts val="2000"/>
              </a:lnSpc>
              <a:buNone/>
            </a:pPr>
            <a:r>
              <a:rPr lang="en-US" sz="1350" dirty="0">
                <a:solidFill>
                  <a:srgbClr val="3C3B57"/>
                </a:solidFill>
                <a:latin typeface="Malgun Gothic" pitchFamily="34" charset="0"/>
                <a:ea typeface="Malgun Gothic" pitchFamily="34" charset="-122"/>
                <a:cs typeface="Malgun Gothic" pitchFamily="34" charset="-120"/>
              </a:rPr>
              <a:t>내 작업대에 AI가 연결되었습니다 — 키는 환경변수에, 지시는 확인 가능한 크기로. 이 두 습관이 오늘의 진짜 결과물입니다.</a:t>
            </a:r>
            <a:endParaRPr lang="en-US" sz="1350" dirty="0"/>
          </a:p>
        </p:txBody>
      </p:sp>
      <p:sp>
        <p:nvSpPr>
          <p:cNvPr id="18" name="Text 15"/>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26</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1632204" cy="384048"/>
          </a:xfrm>
          <a:prstGeom prst="roundRect">
            <a:avLst>
              <a:gd name="adj" fmla="val 50000"/>
            </a:avLst>
          </a:prstGeom>
          <a:solidFill>
            <a:srgbClr val="EDECFB"/>
          </a:solidFill>
          <a:ln/>
        </p:spPr>
      </p:sp>
      <p:pic>
        <p:nvPicPr>
          <p:cNvPr id="3" name="Image 0" descr="/home/claude/icons/chevron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1248156"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예고 · 3강</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다음 주 — 생성형 AI의 이해와 지시문 작성 기초</a:t>
            </a:r>
            <a:endParaRPr lang="en-US" sz="2600" dirty="0"/>
          </a:p>
        </p:txBody>
      </p:sp>
      <p:sp>
        <p:nvSpPr>
          <p:cNvPr id="6" name="Shape 3"/>
          <p:cNvSpPr/>
          <p:nvPr/>
        </p:nvSpPr>
        <p:spPr>
          <a:xfrm>
            <a:off x="658368" y="1828800"/>
            <a:ext cx="457200" cy="457200"/>
          </a:xfrm>
          <a:prstGeom prst="ellipse">
            <a:avLst/>
          </a:prstGeom>
          <a:solidFill>
            <a:srgbClr val="4F46E5"/>
          </a:solidFill>
          <a:ln/>
        </p:spPr>
      </p:sp>
      <p:pic>
        <p:nvPicPr>
          <p:cNvPr id="7" name="Image 1" descr="/home/claude/icons/brain_white.png">    </p:cNvPr>
          <p:cNvPicPr>
            <a:picLocks noChangeAspect="1"/>
          </p:cNvPicPr>
          <p:nvPr/>
        </p:nvPicPr>
        <p:blipFill>
          <a:blip r:embed="rId2"/>
          <a:stretch>
            <a:fillRect/>
          </a:stretch>
        </p:blipFill>
        <p:spPr>
          <a:xfrm>
            <a:off x="772668" y="1943100"/>
            <a:ext cx="228600" cy="228600"/>
          </a:xfrm>
          <a:prstGeom prst="rect">
            <a:avLst/>
          </a:prstGeom>
        </p:spPr>
      </p:pic>
      <p:sp>
        <p:nvSpPr>
          <p:cNvPr id="8" name="Text 4"/>
          <p:cNvSpPr/>
          <p:nvPr/>
        </p:nvSpPr>
        <p:spPr>
          <a:xfrm>
            <a:off x="1335024" y="1792224"/>
            <a:ext cx="5084064"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생성형 AI는 어떻게 동작하는가</a:t>
            </a:r>
            <a:endParaRPr lang="en-US" sz="1400" dirty="0"/>
          </a:p>
        </p:txBody>
      </p:sp>
      <p:sp>
        <p:nvSpPr>
          <p:cNvPr id="9" name="Text 5"/>
          <p:cNvSpPr/>
          <p:nvPr/>
        </p:nvSpPr>
        <p:spPr>
          <a:xfrm>
            <a:off x="1335024" y="2066544"/>
            <a:ext cx="5084064" cy="905256"/>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왜 같은 지시에 다른 답이 나오는지, 왜 그럴듯한 거짓말을 하는지 — 원리를 알아야 부릴 수 있습니다.</a:t>
            </a:r>
            <a:endParaRPr lang="en-US" sz="1150" dirty="0"/>
          </a:p>
        </p:txBody>
      </p:sp>
      <p:sp>
        <p:nvSpPr>
          <p:cNvPr id="10" name="Shape 6"/>
          <p:cNvSpPr/>
          <p:nvPr/>
        </p:nvSpPr>
        <p:spPr>
          <a:xfrm>
            <a:off x="658368" y="2971800"/>
            <a:ext cx="457200" cy="457200"/>
          </a:xfrm>
          <a:prstGeom prst="ellipse">
            <a:avLst/>
          </a:prstGeom>
          <a:solidFill>
            <a:srgbClr val="7C3AED"/>
          </a:solidFill>
          <a:ln/>
        </p:spPr>
      </p:sp>
      <p:pic>
        <p:nvPicPr>
          <p:cNvPr id="11" name="Image 2" descr="/home/claude/icons/pen_white.png">    </p:cNvPr>
          <p:cNvPicPr>
            <a:picLocks noChangeAspect="1"/>
          </p:cNvPicPr>
          <p:nvPr/>
        </p:nvPicPr>
        <p:blipFill>
          <a:blip r:embed="rId3"/>
          <a:stretch>
            <a:fillRect/>
          </a:stretch>
        </p:blipFill>
        <p:spPr>
          <a:xfrm>
            <a:off x="772668" y="3086100"/>
            <a:ext cx="228600" cy="228600"/>
          </a:xfrm>
          <a:prstGeom prst="rect">
            <a:avLst/>
          </a:prstGeom>
        </p:spPr>
      </p:pic>
      <p:sp>
        <p:nvSpPr>
          <p:cNvPr id="12" name="Text 7"/>
          <p:cNvSpPr/>
          <p:nvPr/>
        </p:nvSpPr>
        <p:spPr>
          <a:xfrm>
            <a:off x="1335024" y="2935224"/>
            <a:ext cx="5084064"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지시문 작성 기초</a:t>
            </a:r>
            <a:endParaRPr lang="en-US" sz="1400" dirty="0"/>
          </a:p>
        </p:txBody>
      </p:sp>
      <p:sp>
        <p:nvSpPr>
          <p:cNvPr id="13" name="Text 8"/>
          <p:cNvSpPr/>
          <p:nvPr/>
        </p:nvSpPr>
        <p:spPr>
          <a:xfrm>
            <a:off x="1335024" y="3209544"/>
            <a:ext cx="5084064" cy="905256"/>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역할 · 맥락 · 요구 · 형식 — 결과 품질을 바꾸는 지시문의 구조를 배우고 직접 비교 실험합니다.</a:t>
            </a:r>
            <a:endParaRPr lang="en-US" sz="1150" dirty="0"/>
          </a:p>
        </p:txBody>
      </p:sp>
      <p:sp>
        <p:nvSpPr>
          <p:cNvPr id="14" name="Shape 9"/>
          <p:cNvSpPr/>
          <p:nvPr/>
        </p:nvSpPr>
        <p:spPr>
          <a:xfrm>
            <a:off x="6720840" y="1828800"/>
            <a:ext cx="4809744" cy="2423160"/>
          </a:xfrm>
          <a:prstGeom prst="roundRect">
            <a:avLst>
              <a:gd name="adj" fmla="val 3774"/>
            </a:avLst>
          </a:prstGeom>
          <a:solidFill>
            <a:srgbClr val="EEF0FF"/>
          </a:solidFill>
          <a:ln/>
        </p:spPr>
      </p:sp>
      <p:sp>
        <p:nvSpPr>
          <p:cNvPr id="15" name="Text 10"/>
          <p:cNvSpPr/>
          <p:nvPr/>
        </p:nvSpPr>
        <p:spPr>
          <a:xfrm>
            <a:off x="6995160" y="2048256"/>
            <a:ext cx="4206240" cy="292608"/>
          </a:xfrm>
          <a:prstGeom prst="rect">
            <a:avLst/>
          </a:prstGeom>
          <a:noFill/>
          <a:ln/>
        </p:spPr>
        <p:txBody>
          <a:bodyPr wrap="square" lIns="0" tIns="0" rIns="0" bIns="0" rtlCol="0" anchor="ctr"/>
          <a:lstStyle/>
          <a:p>
            <a:pPr indent="0" marL="0">
              <a:buNone/>
            </a:pPr>
            <a:r>
              <a:rPr lang="en-US" sz="1350" b="1" dirty="0">
                <a:solidFill>
                  <a:srgbClr val="4338CA"/>
                </a:solidFill>
                <a:latin typeface="Malgun Gothic" pitchFamily="34" charset="0"/>
                <a:ea typeface="Malgun Gothic" pitchFamily="34" charset="-122"/>
                <a:cs typeface="Malgun Gothic" pitchFamily="34" charset="-120"/>
              </a:rPr>
              <a:t>예고 — 과제 1</a:t>
            </a:r>
            <a:endParaRPr lang="en-US" sz="1350" dirty="0"/>
          </a:p>
        </p:txBody>
      </p:sp>
      <p:sp>
        <p:nvSpPr>
          <p:cNvPr id="16" name="Text 11"/>
          <p:cNvSpPr/>
          <p:nvPr/>
        </p:nvSpPr>
        <p:spPr>
          <a:xfrm>
            <a:off x="6995160" y="2432304"/>
            <a:ext cx="4297680" cy="1828800"/>
          </a:xfrm>
          <a:prstGeom prst="rect">
            <a:avLst/>
          </a:prstGeom>
          <a:noFill/>
          <a:ln/>
        </p:spPr>
        <p:txBody>
          <a:bodyPr wrap="square" lIns="0" tIns="0" rIns="0" bIns="0" rtlCol="0" anchor="t"/>
          <a:lstStyle/>
          <a:p>
            <a:pPr algn="l" indent="0" marL="0">
              <a:lnSpc>
                <a:spcPts val="1800"/>
              </a:lnSpc>
              <a:buNone/>
            </a:pPr>
            <a:r>
              <a:rPr lang="en-US" sz="1200" dirty="0">
                <a:solidFill>
                  <a:srgbClr val="3C3B57"/>
                </a:solidFill>
                <a:latin typeface="Malgun Gothic" pitchFamily="34" charset="0"/>
                <a:ea typeface="Malgun Gothic" pitchFamily="34" charset="-122"/>
                <a:cs typeface="Malgun Gothic" pitchFamily="34" charset="-120"/>
              </a:rPr>
              <a:t>같은 기능을 서로 다른 지시문 세 가지로 요청하고 결과를 비교·분석하는 과제가 3주차에 공지됩니다.</a:t>
            </a:r>
            <a:endParaRPr lang="en-US" sz="1200" dirty="0"/>
          </a:p>
          <a:p>
            <a:pPr algn="l" indent="0" marL="0">
              <a:lnSpc>
                <a:spcPts val="1800"/>
              </a:lnSpc>
              <a:buNone/>
            </a:pPr>
            <a:endParaRPr lang="en-US" sz="1200" dirty="0"/>
          </a:p>
          <a:p>
            <a:pPr algn="l" indent="0" marL="0">
              <a:lnSpc>
                <a:spcPts val="1800"/>
              </a:lnSpc>
              <a:buNone/>
            </a:pPr>
            <a:r>
              <a:rPr lang="en-US" sz="1200" dirty="0">
                <a:solidFill>
                  <a:srgbClr val="3C3B57"/>
                </a:solidFill>
                <a:latin typeface="Malgun Gothic" pitchFamily="34" charset="0"/>
                <a:ea typeface="Malgun Gothic" pitchFamily="34" charset="-122"/>
                <a:cs typeface="Malgun Gothic" pitchFamily="34" charset="-120"/>
              </a:rPr>
              <a:t>오늘 연결한 환경을 그대로 사용하니, 환경이 불안한 분은 이번 주 안에 꼭 정리해 두세요.</a:t>
            </a:r>
            <a:endParaRPr lang="en-US" sz="1200" dirty="0"/>
          </a:p>
        </p:txBody>
      </p:sp>
      <p:sp>
        <p:nvSpPr>
          <p:cNvPr id="17" name="Text 12"/>
          <p:cNvSpPr/>
          <p:nvPr/>
        </p:nvSpPr>
        <p:spPr>
          <a:xfrm>
            <a:off x="658368" y="4846320"/>
            <a:ext cx="10872216" cy="914400"/>
          </a:xfrm>
          <a:prstGeom prst="rect">
            <a:avLst/>
          </a:prstGeom>
          <a:noFill/>
          <a:ln/>
        </p:spPr>
        <p:txBody>
          <a:bodyPr wrap="square" lIns="0" tIns="0" rIns="0" bIns="0" rtlCol="0" anchor="t"/>
          <a:lstStyle/>
          <a:p>
            <a:pPr algn="l" indent="0" marL="0">
              <a:lnSpc>
                <a:spcPts val="1976"/>
              </a:lnSpc>
              <a:buNone/>
            </a:pPr>
            <a:r>
              <a:rPr lang="en-US" sz="1300" dirty="0">
                <a:solidFill>
                  <a:srgbClr val="6B7185"/>
                </a:solidFill>
                <a:latin typeface="Malgun Gothic" pitchFamily="34" charset="0"/>
                <a:ea typeface="Malgun Gothic" pitchFamily="34" charset="-122"/>
                <a:cs typeface="Malgun Gothic" pitchFamily="34" charset="-120"/>
              </a:rPr>
              <a:t>temp.py push와 저장소 주소 제출 잊지 마시고 — 수고하셨습니다!</a:t>
            </a:r>
            <a:endParaRPr lang="en-US" sz="1300" dirty="0"/>
          </a:p>
        </p:txBody>
      </p:sp>
      <p:sp>
        <p:nvSpPr>
          <p:cNvPr id="18" name="Text 13"/>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27</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2026-08-04T08:21:01Z</dcterms:created>
  <dcterms:modified xsi:type="dcterms:W3CDTF">2026-08-04T08:21:01Z</dcterms:modified>
</cp:coreProperties>
</file>