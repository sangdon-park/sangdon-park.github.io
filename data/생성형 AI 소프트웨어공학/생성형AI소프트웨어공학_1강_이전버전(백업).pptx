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생성형 AI 소프트웨어공학 첫 시간입니다. 담당하는 컴퓨터공학과 박상돈입니다. 과목 이름이 조금 낯설 텐데, 한 문장으로 말하면 이렇습니다. "AI가 코드를 짜는 시대에, 사람은 무엇을 해야 하는가"를 배우는 수업입니다.
오늘은 세 가지를 합니다. 먼저 이 수업이 어떻게 굴러가는지, 평가는 어떻게 하는지, AI를 어디까지 써도 되는지 규칙을 정합니다. 그다음 소프트웨어공학이라는 학문이 왜 생겼는지 유명한 실패 사례로 살펴봅니다. 마지막으로는 노트북을 꺼내서 한 학기 동안 쓸 개발 환경을 직접 설치하고, GitHub에 첫 파일을 올리는 것까지 오늘 다 끝냅니다.
노트북 다들 가져오셨죠? 오늘부터 매주 실습이 있으니 노트북은 항상 지참입니다. 그럼 시작하겠습니다.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오늘의 흐름입니다. 1부는 오리엔테이션, 2부는 소프트웨어공학이 무엇이고 왜 필요한지, 3부는 실습으로 개발 환경 구축입니다.
오른쪽이 강의계획서에 있는 이번 주 성취 기준 세 가지입니다. 수업이 끝날 때 이 세 문장에 스스로 "할 수 있다"라고 답할 수 있으면 오늘 목표 달성입니다. 특히 세 번째, GitHub에 파일 올리기는 오늘 강의실을 나가기 전에 전원이 완료하는 게 목표입니다. 중간에 막히면 그냥 손 드세요. 환경 설치는 원래 다 같이 헤매면서 하는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1부 오리엔테이션입니다. 강의계획서를 같이 훑는 시간이지만, 이 수업은 다른 과목과 전제가 다르기 때문에 특히 AI 활용 규칙 부분은 집중해서 들어 주세요. 여기서 합의한 규칙이 한 학기 내내 과제와 시험의 기준이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과목 이름을 풀어 보겠습니다. 여러분이 지금까지 들은 프로그래밍 수업은 대부분 "코드를 직접 작성하는 법"을 가르쳤습니다. 이 수업은 다릅니다. 코드 작성은 생성형 AI에게 맡깁니다. 대신 우리는 세 가지를 훈련합니다.
첫째, 정의. 무엇을 만들지 말과 글로 명확하게 표현하는 능력입니다. 둘째, 설계. 어떤 구조로 만들지 큰 그림을 그리는 판단력입니다. 셋째, 검증. 만들어진 것이 정말 요구를 만족하는지 기준을 세우고 판정하는 능력입니다.
"그럼 코딩은 안 배워도 되나요?"라는 질문이 나올 수 있는데, 답은 "읽을 줄은 알아야 한다"입니다. AI가 만든 코드를 읽고 판단하지 못하면 검증이 불가능하니까요. 이 얘기는 AI 활용 규칙에서 다시 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수업의 작업 방식을 저는 "풀 바이브 코딩"이라고 부릅니다. 처음부터 끝까지, 사람이 자연어로 지시하고 AI가 구현합니다. 코드를 한 줄씩 타이핑하는 게 아니라, "이런 기능을 만들어 줘"라고 말하고, 나온 결과를 확인하고, 다르면 다시 지시하는 방식입니다.
도구는 네 가지입니다. Google AI Studio에서 API 키를 발급받고, 그 키로 Gemini API를 쓰고, VS Code 안의 Cline이라는 코딩 에이전트가 실제 파일을 만들고 고칩니다. 그리고 모든 결과물은 GitHub에 기록합니다. AI Studio와 Cline 연결은 다음 주 실습이고, GitHub는 오늘 바로 시작합니다.
비용 걱정하는 분들 계실 텐데, 무료 등급으로 수업 실습은 충분합니다. 자세한 건 다음 주에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학기 지도를 먼저 보여 드립니다. 전반부 1주부터 7주까지는 기초와 언어입니다. 환경을 만들고, 생성형 AI가 어떻게 동작하는지 이해하고, 지시문 쓰는 법을 배운 뒤, 요구사항 정의, 설계, 그리고 명세를 기반으로 AI에게 지시해서 기능을 받아내는 것까지 갑니다. 8주차 중간고사는 이 전반부가 범위입니다.
후반부 9주부터 13주는 품질과 운영입니다. 테스트 설계, 결함 수정, 배포와 지속적 통합, 코딩 에이전트 자동화, 그리고 마지막에 보안과 윤리를 다룹니다. 14주차에 팀 프로젝트를 실제 배포된 주소에서 시연하고 발표하고, 15주 보강을 거쳐 16주에 학기 총정리와 프로젝트 회고로 마무리합니다.
과제는 3주, 7주, 9주에 세 번 나가고, 팀 프로젝트는 5주차에 주제를 정합니다. 그러니까 4주차까지는 개인 훈련, 5주차부터는 팀으로도 움직인다고 기억해 두세요.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운영 방식 네 가지입니다. 첫째, 매주 개념 강의와 실습이 한 세트입니다. 듣기만 하고 가는 날은 없습니다. 둘째, 교재는 따로 없고 제가 만든 자료를 매주 LMS에 올립니다. 시험 범위도 이 자료 기준입니다. 셋째, 노트북은 매주 가져오세요. 실습실 컴퓨터가 아니라 본인 노트북에 환경을 만드는 이유는, 한 학기 동안 쌓이는 설정과 기록이 전부 여러분 자산이 되기 때문입니다. 넷째, 팀 프로젝트는 마지막에 몰아서 하는 게 아니라 5주차부터 매주 조금씩 키웁니다. 매주 배우는 걸 그 주에 프로젝트에 적용하는 구조입니다.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평가는 학사 시스템에 등록된 일곱 항목입니다.
먼저 시험이 두 번입니다. 중간 25, 기말 25로 합쳐 50퍼센트. 두 시험 모두 AI 도구 없이 보고, 개념 문항에 더해 "이 상황에서 요구사항을 어떻게 정리하겠는가" 같은 판단 서술형이 나옵니다.
과제는 10퍼센트, 세 번 나갑니다. 프로젝트는 20퍼센트인데, 발표 자료가 아니라 실제 배포된 주소에서 동작하는 결과물과 저장소 기록으로 평가합니다. 누가 언제 무엇을 했는지 커밋에 다 남으니 무임승차는 구조적으로 어렵습니다.
출석은 기본 10에 기타 항목 5가 더해져 실질 15퍼센트 비중입니다. 단순히 앉아 있는 게 아니라 그날 실습 체크리스트 통과가 출석 확인입니다. 마지막 역량평가 5퍼센트는 학교 공통 항목이고 세부 기준은 별도 공지합니다.
세부 규정은 슬라이드가 아니라 LMS의 강의계획서 원문이 기준이니 꼭 한 번 읽어 두세요.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중요한 슬라이드입니다. AI 활용 규칙, 세 가지만 기억하세요.
첫째, 쓰는 것이 기본입니다. 다른 수업에서는 AI를 쓰면 부정행위일 수 있지만, 이 수업에서는 반대로 AI를 쓰는 것이 요구사항입니다. 과제 자체가 그렇게 설계되어 있습니다.
둘째, 그 대신 조건이 하나 붙습니다. 설명하지 못하는 것은 제출하지 마세요. AI가 만들어 준 코드라도 제출하는 순간 그건 여러분 이름이 붙은 결과물입니다. "이 함수 왜 이렇게 짰어요?"라고 물었을 때 답하지 못하면 본인 것이 아닙니다. 과제에 대해 구두로 확인하는 경우가 있을 겁니다.
셋째, 중간·기말 두 번의 시험만은 AI 없이 봅니다. 도구는 빌릴 수 있지만 판단력은 빌릴 수 없기 때문입니다.
그리고 제출물에는 어떤 도구에 어떤 지시를 했는지 기록을 남깁니다. 이건 감시 목적이 아니라, 지시문 자체가 여러분 실력의 증거이기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2부입니다. 소프트웨어공학이 뭔지 정의부터 하고 싶지만, 정의보다 먼저 보여 드리고 싶은 게 있습니다. 이 학문이 왜 생겼는지를 말해 주는 실제 사고들입니다. 사람이 다치고, 로켓이 터지고, 회사가 무너진 사건들인데, 셋 다 원인이 "코딩 실력 부족"이 아니었다는 게 핵심입니다.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정의부터 보겠습니다. IEEE의 고전적 정의를 우리말로 풀면, 소프트웨어의 개발·운영·유지보수에 체계적이고, 규율 있으며, 측정 가능한 접근을 적용하는 것입니다.
말이 딱딱한데, 핵심은 세 단어입니다. 체계적 — 정해진 과정과 순서가 있다. 규율 — 개인기가 아니라 팀이 합의한 규칙을 지킨다. 정량적 — 감이 아니라 측정과 근거로 판단한다.
혼자 취미로 짜는 코드에는 이런 게 필요 없습니다. 하지만 여러 사람이 만들고, 다른 사람이 쓰고, 몇 년을 살아남아야 하는 소프트웨어는 다릅니다. 왜 다른지, 이 정의가 왜 피로 쓰였는지, 다음 슬라이드의 세 사건이 말해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사건입니다.
Therac-25는 80년대 방사선 치료기입니다. 특정한 드문 입력 순서에서만 나타나는 소프트웨어 결함이 있었는데, 이전 모델에 있던 하드웨어 안전장치를 빼고 소프트웨어만 믿었습니다. 결과는 환자 과다 피폭, 사망을 포함한 최소 6건의 사고였습니다.
Ariane 5는 96년 유럽 로켓입니다. 이전 기종 Ariane 4에서 잘 돌던 코드를 재사용했는데, 새 로켓은 더 빨랐고, 속도 값이 변환 범위를 넘어 오버플로가 났습니다. 발사 37초 만에 자폭, 약 5억 달러. 코드 자체는 버그가 아니었어요. 옛 기종의 가정이 새 기종에서 틀렸는데 아무도 그 가정을 재검증하지 않은 겁니다.
Knight Capital은 2012년 증권사입니다. 서버 8대 중 7대에만 새 버전이 배포됐고, 남은 1대에서 잠자던 옛 코드가 깨어나 미친 듯이 주문을 냈습니다. 45분에 약 4억 4천만 달러, 회사는 사실상 끝났습니다.
(학생들에게) 셋의 공통점이 뭘까요? 코딩을 못해서가 아니라는 건 분명하죠. 잠깐 생각해 보고 다음 장에서 정리하겠습니다.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공통점은 "과정이 무너졌다"입니다.
Ariane 5는 요구와 가정의 검증 실패입니다. 코드를 재사용할 때 그 코드가 깔고 있는 가정까지 함께 옮겨 온다는 걸 놓쳤습니다. Therac-25는 테스트 실패입니다. 실험실의 얌전한 입력만 시험했지, 숙련된 조작자가 빠르게 입력을 고치는 현실 패턴은 시험하지 않았습니다. Knight Capital은 변경 관리와 배포 절차의 실패입니다. 어디에 뭐가 깔려 있는지 확인하는 절차 자체가 없었습니다.
그래서 소프트웨어공학은 천재 프로그래머를 만드는 학문이 아니라, 평범한 사람들이 모여도 사고가 나지 않게 하는 과정의 학문입니다. 그리고 미리 말씀드리면 — AI가 코드를 아무리 잘 짜도, 이 세 가지 실패는 AI가 막아 주지 않습니다. 가정 확인, 테스트 설계, 배포 관리. 전부 이 수업 후반부의 주차 제목들입니다.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그럼 왜 소프트웨어만 유독 이럴까요. 재료의 성질이 다르기 때문입니다.
첫째, 안 보입니다. 다리는 반쯤 지으면 반쯤 지어진 게 보이는데, 소프트웨어는 "90퍼센트 완성"이라는 말을 확인할 방법이 없습니다. 둘째, 복잡도가 폭발합니다. 입력과 상태의 조합이 천문학적이라 모든 경우를 시험할 수 없습니다. 셋째, 바꾸기가 너무 쉬워 보입니다. 건물 기둥은 함부로 못 건드리는데 코드는 한 줄 고치는 데 1초면 되죠. 그래서 더 위험합니다. 넷째, 요구가 계속 자랍니다. 소프트웨어에는 완공식이 없습니다.
중요한 건 이겁니다. 이 네 가지 성질은 코드를 사람이 짜든 AI가 짜든 그대로 남는다는 것. 그래서 자연스럽게 다음 질문으로 넘어갑니다.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 잠깐 멈추고 여러분 생각을 듣고 싶습니다. 구현이 자동화되면 개발자는 사라질까요?
(2~3명 답을 들어 본다. "사라진다", "줄어든다", "역할이 바뀐다" 등 어떤 답이든 받아 준다.)
제 답은 "작성자는 줄고, 책임자는 남는다"입니다. 타자수로서의 개발자는 이미 대체되고 있습니다. 하지만 아까 본 세 사고를 떠올려 보세요. 코드를 빨리 짜는 능력이 있었어도 못 막았을 사고들입니다. 가정을 검증하고, 테스트를 설계하고, 배포를 관리하는 일 — 즉 판단하고 책임지는 일은 자동화되지 않았습니다. 오히려 코드가 쏟아질수록 그 일은 더 중요해집니다. 구체적으로 뭐가 남는지 다음 장에서 목록으로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구현이 자동화되어도 남는 일, 다섯 가지입니다.
첫째, 정의. AI는 시키지 않은 것을 만들어 주지 않습니다. 무엇을 만들지 명확히 말하는 능력이 첫 번째 병목입니다. 둘째, 설계 판단. 화면 흐름, 데이터 구조, 기능 경계 같은 큰 결정은 먼저 사람이 정해야 합니다. 셋째, 기준 세우기. 결과물을 받았을 때 "됐다"라고 판정할 인수 조건을 미리 정하는 일입니다. 넷째, 검증. 테스트를 설계하고, 통과했는데도 남은 결함을 찾아내는 눈입니다. 다섯째, 책임. AI가 만든 코드의 보안 취약점이나 라이선스 문제도 결국 이름 올린 사람 책임입니다.
그리고 보세요 — 괄호 안의 주차 번호. 이 다섯 줄이 그대로 우리 수업 5주차부터 13주차까지의 목차입니다. 이 과목은 "AI 시대에 남는 일"만 골라서 한 학기를 짠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과목 구조를 생명주기 위에 얹어 보겠습니다. 소프트웨어는 요구에서 시작해서, 설계를 거치고, 구현되고, 검증되고, 고쳐지고, 배포되어 운영됩니다. 이 흐름을 생명주기라고 부르는데, 우리 수업 5주차부터 12주차가 정확히 이 순서입니다.
다만 차이가 하나 있죠. 전통적인 수업이라면 '구현' 자리에서 코딩 문법을 몇 주 배우겠지만, 우리는 그 자리에 "AI에게 지시해서 받아내기"가 들어갑니다.
그리고 이 여정을 떠나려면 장비와 언어가 필요합니다. 장비는 개발 환경과 AI 도구, 언어는 지시문 작성법입니다. 그게 1주차부터 4주차, 즉 오늘부터 한 달 동안 준비할 것들입니다. 자, 개념 얘기는 여기까지 하고 — 이제 진짜로 장비를 갖추러 갑시다. 노트북 여세요.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3부, 실습입니다. 지금부터는 제 화면을 같이 보면서 한 단계씩 따라 합니다. 각 단계마다 확인 명령이 있으니, 확인이 안 되면 다음으로 넘어가지 말고 바로 손 드세요. 옆 사람이 끝났으면 서로 봐 주셔도 좋습니다. 환경 구축은 원래 오늘 하루 고생하고 한 학기 편해지는 작업입니다.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설치할 건 네 가지입니다. Python은 AI가 만들어 준 코드를 실제로 돌려 볼 실행기입니다. VS Code는 한 학기 내내 쓸 작업대인데, 다음 주에 여기에 Cline이라는 AI 에이전트를 붙일 겁니다. Git은 변경 기록 도구입니다. 파일을 언제 누가 어떻게 바꿨는지 전부 기록해 주는데, 팀 프로젝트 평가 때 이 기록을 봅니다. GitHub는 그 기록을 인터넷에 보관하고 공유하는 서비스고, 오늘 만들 계정이 졸업할 때쯤엔 여러분 포트폴리오가 되어 있을 겁니다.
순서대로 하나씩 갑니다. 각 단계 끝에 확인 명령이 있고, 그게 통과돼야 다음으로 넘어갑니다.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Python입니다. python.org 다운로드 페이지에서 최신 버전을 받으세요.
설치 화면이 뜨면 바로 Install Now를 누르지 말고, 맨 아래 "Add python.exe to PATH" 체크박스부터 확인하세요. 이거 하나 때문에 매 학기 수십 분씩 잡아먹습니다. PATH에 등록해야 터미널 어디서든 python 명령이 먹습니다.
설치가 끝나면 터미널을 새로 열어서 python --version을 칩니다. 버전 번호가 찍히면 성공. 윈도우에서 python이 안 먹으면 py --version으로도 확인해 보세요. 맥은 python3 --version입니다.
체크를 놓치고 설치했다면 고민하지 말고 제거 후 재설치하세요. 그게 제일 빠릅니다. (교실을 한 바퀴 돌며 버전 출력 확인)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VS Code입니다. code.visualstudio.com에서 받고, 설치 옵션은 전부 기본값으로 Next만 누르면 됩니다.
설치 후 실행하면 영어 화면이 뜰 텐데, 왼쪽에 네모 블록 네 개짜리 아이콘이 확장 메뉴입니다. 거기서 Korean을 검색해 한국어 언어 팩을 설치하고, Python도 검색해서 마이크로소프트가 만든 파란 체크 확장을 설치하세요.
VS Code의 철학은 '빈 작업대'입니다. 필요한 공구를 확장으로 끼우는 구조인데, 다음 주에 우리가 끼울 가장 중요한 공구가 Cline입니다. 오늘은 자리만 만들어 두는 셈입니다. 두 확장 설치되고 화면이 한국어로 바뀌면 이 단계 통과입니다.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Git입니다. git-scm.com에서 받아서 설치하는데, 설치 중 옵션이 굉장히 많이 나옵니다. 전부 기본값으로 Next 누르세요. 하나도 바꿀 필요 없습니다.
설치가 끝나면 VS Code로 돌아와서 컨트롤과 백틱 키로 터미널을 엽니다. 백틱은 키보드 왼쪽 위, 숫자 1 왼쪽에 있는 키입니다. git --version으로 설치를 확인하고, 이제 서명을 등록합니다.
git config로 등록하는 이름과 이메일은 앞으로 여러분이 남기는 모든 커밋에 찍히는 서명입니다. 이메일은 잠시 후 GitHub 가입에 쓸 이메일과 똑같이 맞춰 주세요. 그래야 GitHub가 "이 기록은 이 계정 것"이라고 연결해 줍니다. 따옴표 안에 본인 것으로 바꿔서 입력하고, git config --list로 잘 들어갔는지 확인하면 통과입니다.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GitHub 계정입니다. github.com에서 Sign up을 누르고, 이메일은 아까 Git에 등록한 학교 이메일로 하세요.
아이디는 잠깐 진지하게 생각하고 정하세요. github.com 슬래시 아이디가 여러분의 공개 포트폴리오 주소가 됩니다. 몇 년 뒤 입사 지원서에 그대로 적을 주소예요. 실명 기반이나 깔끔한 닉네임을 추천합니다.
그리고 하나 알려 드리면, GitHub Student Developer Pack이라는 게 있습니다. 학교 이메일로 학생 인증을 하면 여러 유료 개발 도구를 재학 중 무료로 쓸 수 있습니다. 오늘 필수는 아니니 나중에 여유 있을 때 신청해 두세요.
가입 절차 마치고 로그인된 대시보드 화면이 보이면 통과입니다.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첫 저장소를 만듭니다. 화면 오른쪽 위 플러스 버튼에서 New repository를 누르세요.
이름은 다 같이 hello-sw로 통일하겠습니다. 저장소 이름은 영문과 하이픈만 쓰는 게 관례입니다. 공개 범위는 Public으로 하고, 아래 "Add a README file" 체크박스를 켜세요. README를 켜는 이유는, 파일이 하나라도 있는 상태로 시작해야 바로 내 컴퓨터로 내려받아 작업할 수 있기 때문입니다.
Create repository를 누르면 저장소 페이지가 뜹니다. 용어 정리하면, 저장소는 프로젝트 하나의 모든 파일과 변경 기록이 담기는 서랍입니다. 앞으로 과제 하나에 저장소 하나, 팀 프로젝트에 저장소 하나, 이런 식으로 늘려 갈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오늘의 하이라이트, 내 컴퓨터와 GitHub를 연결합니다. 터미널에서 git clone 뒤에 저장소 주소를 붙입니다. 주소는 저장소 페이지의 초록 Code 버튼을 누르면 복사할 수 있고, ID 자리는 본인 아이디입니다. clone이 끝나면 cd hello-sw로 그 폴더에 들어갑니다.
VS Code에서 이 폴더를 열고 hello.py 파일을 하나 만드세요. 내용은 print("Hello, Software Engineering") 한 줄이면 충분합니다. 저장하고 터미널로 돌아와서 세 명령을 순서대로 칩니다. git add는 올릴 변경을 고르는 것, git commit은 메시지를 붙여 기록으로 남기는 것, git push는 그 기록을 GitHub로 올리는 것입니다. 왜 세 단계로 나뉘는지는 지금은 몰라도 됩니다. 쓰다 보면 이해되고, 필요한 순간에 다시 설명합니다.
첫 push 때 브라우저에 로그인 창이 뜹니다. GitHub 계정으로 로그인하면 되고, 한 번 인증하면 다음부터는 묻지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성공 확인은 간단합니다. 브라우저에서 저장소 페이지를 새로고침해서 hello.py가 보이면 끝. 파일 옆에 "first commit"이라는 메시지도 같이 보일 겁니다. 그게 여러분이 남긴 첫 번째 기록입니다.
잘 안 되는 경우 세 가지가 대부분입니다. 인증 창이 안 뜨면 터미널에 찍힌 링크를 브라우저에 직접 붙여 넣으세요. push가 거부되면 십중팔구 clone한 주소가 본인 저장소가 아닌 경우입니다. 주소의 아이디를 확인하세요. 한글 파일 내용이 깨지면 인코딩 문제인데, VS Code 기본값이 UTF-8이라 오늘은 거의 없을 겁니다.
(전원 완료할 때까지 순회. 끝난 학생에게는 옆 사람 도와주기를 부탁한다.)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나가기 전 체크리스트 다섯 개입니다. 파이썬 버전 확인, VS Code와 확장 두 개, Git 버전과 서명 등록, GitHub 로그인, 그리고 저장소에 hello.py.
오늘 출석 인증은 마지막 항목입니다. 본인 저장소 주소, 그러니까 github.com 슬래시 본인아이디 슬래시 hello-sw 주소를 LMS 1주차 게시판에 제출하세요. 제가 들어가서 hello.py가 있는지 직접 확인합니다.
다섯 개 중 하나라도 안 되는 분은 지금 해결하고 가는 게 최선입니다. 집에 가면 다음 주까지 안 하게 되고, 다음 주 실습은 오늘 환경 위에서 바로 시작하기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오늘을 세 문장으로 정리합니다.
첫째, 소프트웨어공학은 과정의 학문입니다. Therac-25도, Ariane 5도, Knight Capital도 코딩 실력이 아니라 과정이 무너져서 생긴 사고였습니다.
둘째, 구현이 자동화될수록 사람의 몫은 정의, 설계, 검증, 책임으로 옮겨 갑니다. 그 몫만 골라 담은 것이 이 과목의 커리큘럼입니다.
셋째, 오늘 여러분 노트북에 만든 환경이 한 학기의 작업대입니다. 다음 주에는 이 작업대에 드디어 AI를 연결합니다.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 주 예고입니다. 앞부분에서는 개발 프로세스 모델을 다룹니다. 폭포수, 반복적 모델, 애자일 — 같은 것을 만들어도 순서가 다르면 결과가 어떻게 달라지는지 봅니다. 팀 프로젝트를 어떤 방식으로 운영할지도 여기서 결정됩니다.
뒷부분 실습에서는 드디어 AI를 연결합니다. Google AI Studio에서 Gemini API 키를 발급받고, 환경변수로 안전하게 설정하고, VS Code에 Cline을 연결해서 첫 지시를 내려 봅니다.
준비물은 두 가지. 개인 구글 계정이 꼭 필요하고, 오늘 설치한 노트북 그대로 가져오시면 됩니다.
체크리스트 다섯 개 확인하고, 저장소 주소 LMS에 올리는 것 잊지 마세요. 첫 시간 수고 많으셨습니다.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2.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2.png"/><Relationship Id="rId4" Type="http://schemas.openxmlformats.org/officeDocument/2006/relationships/image" Target="../media/image-27-2.png"/><Relationship Id="rId5" Type="http://schemas.openxmlformats.org/officeDocument/2006/relationships/image" Target="../media/image-27-2.png"/><Relationship Id="rId6" Type="http://schemas.openxmlformats.org/officeDocument/2006/relationships/image" Target="../media/image-27-2.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63A"/>
        </a:solidFill>
      </p:bgPr>
    </p:bg>
    <p:spTree>
      <p:nvGrpSpPr>
        <p:cNvPr id="1" name=""/>
        <p:cNvGrpSpPr/>
        <p:nvPr/>
      </p:nvGrpSpPr>
      <p:grpSpPr>
        <a:xfrm>
          <a:off x="0" y="0"/>
          <a:ext cx="0" cy="0"/>
          <a:chOff x="0" y="0"/>
          <a:chExt cx="0" cy="0"/>
        </a:xfrm>
      </p:grpSpPr>
      <p:sp>
        <p:nvSpPr>
          <p:cNvPr id="2" name="Shape 0"/>
          <p:cNvSpPr/>
          <p:nvPr/>
        </p:nvSpPr>
        <p:spPr>
          <a:xfrm>
            <a:off x="8778240" y="-2377440"/>
            <a:ext cx="6583680" cy="6583680"/>
          </a:xfrm>
          <a:prstGeom prst="ellipse">
            <a:avLst/>
          </a:prstGeom>
          <a:solidFill>
            <a:srgbClr val="201E4C"/>
          </a:solidFill>
          <a:ln/>
        </p:spPr>
      </p:sp>
      <p:sp>
        <p:nvSpPr>
          <p:cNvPr id="3" name="Shape 1"/>
          <p:cNvSpPr/>
          <p:nvPr/>
        </p:nvSpPr>
        <p:spPr>
          <a:xfrm>
            <a:off x="-1920240" y="4206240"/>
            <a:ext cx="4937760" cy="4937760"/>
          </a:xfrm>
          <a:prstGeom prst="ellipse">
            <a:avLst/>
          </a:prstGeom>
          <a:solidFill>
            <a:srgbClr val="2A2860"/>
          </a:solidFill>
          <a:ln/>
        </p:spPr>
      </p:sp>
      <p:sp>
        <p:nvSpPr>
          <p:cNvPr id="4" name="Shape 2"/>
          <p:cNvSpPr/>
          <p:nvPr/>
        </p:nvSpPr>
        <p:spPr>
          <a:xfrm>
            <a:off x="10149840" y="4937760"/>
            <a:ext cx="2377440" cy="2377440"/>
          </a:xfrm>
          <a:prstGeom prst="ellipse">
            <a:avLst/>
          </a:prstGeom>
          <a:solidFill>
            <a:srgbClr val="17163A"/>
          </a:solidFill>
          <a:ln w="19050">
            <a:solidFill>
              <a:srgbClr val="F59E0B"/>
            </a:solidFill>
            <a:prstDash val="solid"/>
          </a:ln>
        </p:spPr>
      </p:sp>
      <p:sp>
        <p:nvSpPr>
          <p:cNvPr id="5" name="Text 3"/>
          <p:cNvSpPr/>
          <p:nvPr/>
        </p:nvSpPr>
        <p:spPr>
          <a:xfrm>
            <a:off x="658368" y="1417320"/>
            <a:ext cx="8229600" cy="292608"/>
          </a:xfrm>
          <a:prstGeom prst="rect">
            <a:avLst/>
          </a:prstGeom>
          <a:noFill/>
          <a:ln/>
        </p:spPr>
        <p:txBody>
          <a:bodyPr wrap="square" lIns="0" tIns="0" rIns="0" bIns="0" rtlCol="0" anchor="ctr"/>
          <a:lstStyle/>
          <a:p>
            <a:pPr indent="0" marL="0">
              <a:buNone/>
            </a:pPr>
            <a:r>
              <a:rPr lang="en-US" sz="1300" b="1" spc="200" kern="0" dirty="0">
                <a:solidFill>
                  <a:srgbClr val="FBBF24"/>
                </a:solidFill>
                <a:latin typeface="Malgun Gothic" pitchFamily="34" charset="0"/>
                <a:ea typeface="Malgun Gothic" pitchFamily="34" charset="-122"/>
                <a:cs typeface="Malgun Gothic" pitchFamily="34" charset="-120"/>
              </a:rPr>
              <a:t>생성형 AI 소프트웨어공학  ·  2026학년도 2학기  ·  1강</a:t>
            </a:r>
            <a:endParaRPr lang="en-US" sz="1300" dirty="0"/>
          </a:p>
        </p:txBody>
      </p:sp>
      <p:sp>
        <p:nvSpPr>
          <p:cNvPr id="6" name="Text 4"/>
          <p:cNvSpPr/>
          <p:nvPr/>
        </p:nvSpPr>
        <p:spPr>
          <a:xfrm>
            <a:off x="658368" y="1874520"/>
            <a:ext cx="9326880" cy="2103120"/>
          </a:xfrm>
          <a:prstGeom prst="rect">
            <a:avLst/>
          </a:prstGeom>
          <a:noFill/>
          <a:ln/>
        </p:spPr>
        <p:txBody>
          <a:bodyPr wrap="square" lIns="0" tIns="0" rIns="0" bIns="0" rtlCol="0" anchor="t"/>
          <a:lstStyle/>
          <a:p>
            <a:pPr indent="0" marL="0">
              <a:lnSpc>
                <a:spcPts val="6000"/>
              </a:lnSpc>
              <a:buNone/>
            </a:pPr>
            <a:r>
              <a:rPr lang="en-US" sz="4600" b="1" dirty="0">
                <a:solidFill>
                  <a:srgbClr val="FFFFFF"/>
                </a:solidFill>
                <a:latin typeface="Malgun Gothic" pitchFamily="34" charset="0"/>
                <a:ea typeface="Malgun Gothic" pitchFamily="34" charset="-122"/>
                <a:cs typeface="Malgun Gothic" pitchFamily="34" charset="-120"/>
              </a:rPr>
              <a:t>오리엔테이션과</a:t>
            </a:r>
            <a:endParaRPr lang="en-US" sz="4600" dirty="0"/>
          </a:p>
          <a:p>
            <a:pPr indent="0" marL="0">
              <a:lnSpc>
                <a:spcPts val="6000"/>
              </a:lnSpc>
              <a:buNone/>
            </a:pPr>
            <a:r>
              <a:rPr lang="en-US" sz="4600" b="1" dirty="0">
                <a:solidFill>
                  <a:srgbClr val="FFFFFF"/>
                </a:solidFill>
                <a:latin typeface="Malgun Gothic" pitchFamily="34" charset="0"/>
                <a:ea typeface="Malgun Gothic" pitchFamily="34" charset="-122"/>
                <a:cs typeface="Malgun Gothic" pitchFamily="34" charset="-120"/>
              </a:rPr>
              <a:t>소프트웨어공학 개관</a:t>
            </a:r>
            <a:endParaRPr lang="en-US" sz="4600" dirty="0"/>
          </a:p>
        </p:txBody>
      </p:sp>
      <p:sp>
        <p:nvSpPr>
          <p:cNvPr id="7" name="Text 5"/>
          <p:cNvSpPr/>
          <p:nvPr/>
        </p:nvSpPr>
        <p:spPr>
          <a:xfrm>
            <a:off x="658368" y="4160520"/>
            <a:ext cx="9144000" cy="548640"/>
          </a:xfrm>
          <a:prstGeom prst="rect">
            <a:avLst/>
          </a:prstGeom>
          <a:noFill/>
          <a:ln/>
        </p:spPr>
        <p:txBody>
          <a:bodyPr wrap="square" lIns="0" tIns="0" rIns="0" bIns="0" rtlCol="0" anchor="ctr"/>
          <a:lstStyle/>
          <a:p>
            <a:pPr indent="0" marL="0">
              <a:buNone/>
            </a:pPr>
            <a:r>
              <a:rPr lang="en-US" sz="1500" dirty="0">
                <a:solidFill>
                  <a:srgbClr val="E7E6FB"/>
                </a:solidFill>
                <a:latin typeface="Malgun Gothic" pitchFamily="34" charset="0"/>
                <a:ea typeface="Malgun Gothic" pitchFamily="34" charset="-122"/>
                <a:cs typeface="Malgun Gothic" pitchFamily="34" charset="-120"/>
              </a:rPr>
              <a:t>그리고 개발 환경 구축 — Python · VS Code · Git · GitHub, 첫 저장소에 파일을 올리기까지</a:t>
            </a:r>
            <a:endParaRPr lang="en-US" sz="1500" dirty="0"/>
          </a:p>
        </p:txBody>
      </p:sp>
      <p:sp>
        <p:nvSpPr>
          <p:cNvPr id="8" name="Text 6"/>
          <p:cNvSpPr/>
          <p:nvPr/>
        </p:nvSpPr>
        <p:spPr>
          <a:xfrm>
            <a:off x="658368" y="5989320"/>
            <a:ext cx="7315200" cy="365760"/>
          </a:xfrm>
          <a:prstGeom prst="rect">
            <a:avLst/>
          </a:prstGeom>
          <a:noFill/>
          <a:ln/>
        </p:spPr>
        <p:txBody>
          <a:bodyPr wrap="square" lIns="0" tIns="0" rIns="0" bIns="0" rtlCol="0" anchor="ctr"/>
          <a:lstStyle/>
          <a:p>
            <a:pPr indent="0" marL="0">
              <a:buNone/>
            </a:pPr>
            <a:r>
              <a:rPr lang="en-US" sz="1300" dirty="0">
                <a:solidFill>
                  <a:srgbClr val="9E9CCF"/>
                </a:solidFill>
                <a:latin typeface="Malgun Gothic" pitchFamily="34" charset="0"/>
                <a:ea typeface="Malgun Gothic" pitchFamily="34" charset="-122"/>
                <a:cs typeface="Malgun Gothic" pitchFamily="34" charset="-120"/>
              </a:rPr>
              <a:t>대전대학교 컴퓨터공학과  ·  박상돈</a:t>
            </a:r>
            <a:endParaRPr lang="en-US" sz="1300" dirty="0"/>
          </a:p>
        </p:txBody>
      </p:sp>
      <p:sp>
        <p:nvSpPr>
          <p:cNvPr id="9" name="Shape 7"/>
          <p:cNvSpPr/>
          <p:nvPr/>
        </p:nvSpPr>
        <p:spPr>
          <a:xfrm>
            <a:off x="9829800" y="1234440"/>
            <a:ext cx="1417320" cy="1417320"/>
          </a:xfrm>
          <a:prstGeom prst="ellipse">
            <a:avLst/>
          </a:prstGeom>
          <a:solidFill>
            <a:srgbClr val="F59E0B"/>
          </a:solidFill>
          <a:ln/>
        </p:spPr>
      </p:sp>
      <p:pic>
        <p:nvPicPr>
          <p:cNvPr id="10" name="Image 0" descr="/home/claude/icons/rocket_white.png">    </p:cNvPr>
          <p:cNvPicPr>
            <a:picLocks noChangeAspect="1"/>
          </p:cNvPicPr>
          <p:nvPr/>
        </p:nvPicPr>
        <p:blipFill>
          <a:blip r:embed="rId1"/>
          <a:stretch>
            <a:fillRect/>
          </a:stretch>
        </p:blipFill>
        <p:spPr>
          <a:xfrm>
            <a:off x="10184130" y="1588770"/>
            <a:ext cx="708660" cy="7086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057400" cy="384048"/>
          </a:xfrm>
          <a:prstGeom prst="roundRect">
            <a:avLst>
              <a:gd name="adj" fmla="val 50000"/>
            </a:avLst>
          </a:prstGeom>
          <a:solidFill>
            <a:srgbClr val="EDECFB"/>
          </a:solidFill>
          <a:ln/>
        </p:spPr>
      </p:sp>
      <p:pic>
        <p:nvPicPr>
          <p:cNvPr id="3" name="Image 0" descr="/home/claude/icons/compass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67335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1강 · 수업 안내</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오늘 세 가지를 합니다</a:t>
            </a:r>
            <a:endParaRPr lang="en-US" sz="2600" dirty="0"/>
          </a:p>
        </p:txBody>
      </p:sp>
      <p:sp>
        <p:nvSpPr>
          <p:cNvPr id="6" name="Shape 3"/>
          <p:cNvSpPr/>
          <p:nvPr/>
        </p:nvSpPr>
        <p:spPr>
          <a:xfrm>
            <a:off x="658368" y="1783080"/>
            <a:ext cx="5989320" cy="1115568"/>
          </a:xfrm>
          <a:prstGeom prst="roundRect">
            <a:avLst>
              <a:gd name="adj" fmla="val 8197"/>
            </a:avLst>
          </a:prstGeom>
          <a:solidFill>
            <a:srgbClr val="FFFFFF"/>
          </a:solidFill>
          <a:ln/>
          <a:effectLst>
            <a:outerShdw sx="100000" sy="100000" kx="0" ky="0" algn="bl" rotWithShape="0" blurRad="152400" dist="25400" dir="5400000">
              <a:srgbClr val="1F1D48">
                <a:alpha val="16000"/>
              </a:srgbClr>
            </a:outerShdw>
          </a:effectLst>
        </p:spPr>
      </p:sp>
      <p:sp>
        <p:nvSpPr>
          <p:cNvPr id="7" name="Shape 4"/>
          <p:cNvSpPr/>
          <p:nvPr/>
        </p:nvSpPr>
        <p:spPr>
          <a:xfrm>
            <a:off x="877824" y="2093976"/>
            <a:ext cx="493776" cy="493776"/>
          </a:xfrm>
          <a:prstGeom prst="ellipse">
            <a:avLst/>
          </a:prstGeom>
          <a:solidFill>
            <a:srgbClr val="4F46E5"/>
          </a:solidFill>
          <a:ln/>
        </p:spPr>
      </p:sp>
      <p:sp>
        <p:nvSpPr>
          <p:cNvPr id="8" name="Text 5"/>
          <p:cNvSpPr/>
          <p:nvPr/>
        </p:nvSpPr>
        <p:spPr>
          <a:xfrm>
            <a:off x="877824" y="2093976"/>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1</a:t>
            </a:r>
            <a:endParaRPr lang="en-US" sz="1800" dirty="0"/>
          </a:p>
        </p:txBody>
      </p:sp>
      <p:sp>
        <p:nvSpPr>
          <p:cNvPr id="9" name="Text 6"/>
          <p:cNvSpPr/>
          <p:nvPr/>
        </p:nvSpPr>
        <p:spPr>
          <a:xfrm>
            <a:off x="1591056" y="1911096"/>
            <a:ext cx="4846320" cy="329184"/>
          </a:xfrm>
          <a:prstGeom prst="rect">
            <a:avLst/>
          </a:prstGeom>
          <a:noFill/>
          <a:ln/>
        </p:spPr>
        <p:txBody>
          <a:bodyPr wrap="square" lIns="0" tIns="0" rIns="0" bIns="0" rtlCol="0" anchor="ctr"/>
          <a:lstStyle/>
          <a:p>
            <a:pPr indent="0" marL="0">
              <a:buNone/>
            </a:pPr>
            <a:r>
              <a:rPr lang="en-US" sz="1450" b="1" dirty="0">
                <a:solidFill>
                  <a:srgbClr val="1E1B3A"/>
                </a:solidFill>
                <a:latin typeface="Malgun Gothic" pitchFamily="34" charset="0"/>
                <a:ea typeface="Malgun Gothic" pitchFamily="34" charset="-122"/>
                <a:cs typeface="Malgun Gothic" pitchFamily="34" charset="-120"/>
              </a:rPr>
              <a:t>오리엔테이션</a:t>
            </a:r>
            <a:endParaRPr lang="en-US" sz="1450" dirty="0"/>
          </a:p>
        </p:txBody>
      </p:sp>
      <p:sp>
        <p:nvSpPr>
          <p:cNvPr id="10" name="Text 7"/>
          <p:cNvSpPr/>
          <p:nvPr/>
        </p:nvSpPr>
        <p:spPr>
          <a:xfrm>
            <a:off x="1591056" y="2240280"/>
            <a:ext cx="4846320" cy="603504"/>
          </a:xfrm>
          <a:prstGeom prst="rect">
            <a:avLst/>
          </a:prstGeom>
          <a:noFill/>
          <a:ln/>
        </p:spPr>
        <p:txBody>
          <a:bodyPr wrap="square" lIns="0" tIns="0" rIns="0" bIns="0" rtlCol="0" anchor="t"/>
          <a:lstStyle/>
          <a:p>
            <a:pPr indent="0" marL="0">
              <a:lnSpc>
                <a:spcPts val="1550"/>
              </a:lnSpc>
              <a:buNone/>
            </a:pPr>
            <a:r>
              <a:rPr lang="en-US" sz="1100" dirty="0">
                <a:solidFill>
                  <a:srgbClr val="3C3B57"/>
                </a:solidFill>
                <a:latin typeface="Malgun Gothic" pitchFamily="34" charset="0"/>
                <a:ea typeface="Malgun Gothic" pitchFamily="34" charset="-122"/>
                <a:cs typeface="Malgun Gothic" pitchFamily="34" charset="-120"/>
              </a:rPr>
              <a:t>수업 방식과 평가 기준, 그리고 이 수업만의 AI 활용 규칙을 합의합니다.</a:t>
            </a:r>
            <a:endParaRPr lang="en-US" sz="1100" dirty="0"/>
          </a:p>
        </p:txBody>
      </p:sp>
      <p:sp>
        <p:nvSpPr>
          <p:cNvPr id="11" name="Shape 8"/>
          <p:cNvSpPr/>
          <p:nvPr/>
        </p:nvSpPr>
        <p:spPr>
          <a:xfrm>
            <a:off x="658368" y="3108960"/>
            <a:ext cx="5989320" cy="1115568"/>
          </a:xfrm>
          <a:prstGeom prst="roundRect">
            <a:avLst>
              <a:gd name="adj" fmla="val 8197"/>
            </a:avLst>
          </a:prstGeom>
          <a:solidFill>
            <a:srgbClr val="FFFFFF"/>
          </a:solidFill>
          <a:ln/>
          <a:effectLst>
            <a:outerShdw sx="100000" sy="100000" kx="0" ky="0" algn="bl" rotWithShape="0" blurRad="152400" dist="25400" dir="5400000">
              <a:srgbClr val="1F1D48">
                <a:alpha val="16000"/>
              </a:srgbClr>
            </a:outerShdw>
          </a:effectLst>
        </p:spPr>
      </p:sp>
      <p:sp>
        <p:nvSpPr>
          <p:cNvPr id="12" name="Shape 9"/>
          <p:cNvSpPr/>
          <p:nvPr/>
        </p:nvSpPr>
        <p:spPr>
          <a:xfrm>
            <a:off x="877824" y="3419856"/>
            <a:ext cx="493776" cy="493776"/>
          </a:xfrm>
          <a:prstGeom prst="ellipse">
            <a:avLst/>
          </a:prstGeom>
          <a:solidFill>
            <a:srgbClr val="F59E0B"/>
          </a:solidFill>
          <a:ln/>
        </p:spPr>
      </p:sp>
      <p:sp>
        <p:nvSpPr>
          <p:cNvPr id="13" name="Text 10"/>
          <p:cNvSpPr/>
          <p:nvPr/>
        </p:nvSpPr>
        <p:spPr>
          <a:xfrm>
            <a:off x="877824" y="3419856"/>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2</a:t>
            </a:r>
            <a:endParaRPr lang="en-US" sz="1800" dirty="0"/>
          </a:p>
        </p:txBody>
      </p:sp>
      <p:sp>
        <p:nvSpPr>
          <p:cNvPr id="14" name="Text 11"/>
          <p:cNvSpPr/>
          <p:nvPr/>
        </p:nvSpPr>
        <p:spPr>
          <a:xfrm>
            <a:off x="1591056" y="3236976"/>
            <a:ext cx="4846320" cy="329184"/>
          </a:xfrm>
          <a:prstGeom prst="rect">
            <a:avLst/>
          </a:prstGeom>
          <a:noFill/>
          <a:ln/>
        </p:spPr>
        <p:txBody>
          <a:bodyPr wrap="square" lIns="0" tIns="0" rIns="0" bIns="0" rtlCol="0" anchor="ctr"/>
          <a:lstStyle/>
          <a:p>
            <a:pPr indent="0" marL="0">
              <a:buNone/>
            </a:pPr>
            <a:r>
              <a:rPr lang="en-US" sz="1450" b="1" dirty="0">
                <a:solidFill>
                  <a:srgbClr val="1E1B3A"/>
                </a:solidFill>
                <a:latin typeface="Malgun Gothic" pitchFamily="34" charset="0"/>
                <a:ea typeface="Malgun Gothic" pitchFamily="34" charset="-122"/>
                <a:cs typeface="Malgun Gothic" pitchFamily="34" charset="-120"/>
              </a:rPr>
              <a:t>소프트웨어공학 개관</a:t>
            </a:r>
            <a:endParaRPr lang="en-US" sz="1450" dirty="0"/>
          </a:p>
        </p:txBody>
      </p:sp>
      <p:sp>
        <p:nvSpPr>
          <p:cNvPr id="15" name="Text 12"/>
          <p:cNvSpPr/>
          <p:nvPr/>
        </p:nvSpPr>
        <p:spPr>
          <a:xfrm>
            <a:off x="1591056" y="3566160"/>
            <a:ext cx="4846320" cy="603504"/>
          </a:xfrm>
          <a:prstGeom prst="rect">
            <a:avLst/>
          </a:prstGeom>
          <a:noFill/>
          <a:ln/>
        </p:spPr>
        <p:txBody>
          <a:bodyPr wrap="square" lIns="0" tIns="0" rIns="0" bIns="0" rtlCol="0" anchor="t"/>
          <a:lstStyle/>
          <a:p>
            <a:pPr indent="0" marL="0">
              <a:lnSpc>
                <a:spcPts val="1550"/>
              </a:lnSpc>
              <a:buNone/>
            </a:pPr>
            <a:r>
              <a:rPr lang="en-US" sz="1100" dirty="0">
                <a:solidFill>
                  <a:srgbClr val="3C3B57"/>
                </a:solidFill>
                <a:latin typeface="Malgun Gothic" pitchFamily="34" charset="0"/>
                <a:ea typeface="Malgun Gothic" pitchFamily="34" charset="-122"/>
                <a:cs typeface="Malgun Gothic" pitchFamily="34" charset="-120"/>
              </a:rPr>
              <a:t>왜 이 학문이 필요해졌는지 실패 사례에서 출발해, AI 시대에 사람에게 남는 일을 정리합니다.</a:t>
            </a:r>
            <a:endParaRPr lang="en-US" sz="1100" dirty="0"/>
          </a:p>
        </p:txBody>
      </p:sp>
      <p:sp>
        <p:nvSpPr>
          <p:cNvPr id="16" name="Shape 13"/>
          <p:cNvSpPr/>
          <p:nvPr/>
        </p:nvSpPr>
        <p:spPr>
          <a:xfrm>
            <a:off x="658368" y="4434840"/>
            <a:ext cx="5989320" cy="1115568"/>
          </a:xfrm>
          <a:prstGeom prst="roundRect">
            <a:avLst>
              <a:gd name="adj" fmla="val 8197"/>
            </a:avLst>
          </a:prstGeom>
          <a:solidFill>
            <a:srgbClr val="FFFFFF"/>
          </a:solidFill>
          <a:ln/>
          <a:effectLst>
            <a:outerShdw sx="100000" sy="100000" kx="0" ky="0" algn="bl" rotWithShape="0" blurRad="152400" dist="25400" dir="5400000">
              <a:srgbClr val="1F1D48">
                <a:alpha val="16000"/>
              </a:srgbClr>
            </a:outerShdw>
          </a:effectLst>
        </p:spPr>
      </p:sp>
      <p:sp>
        <p:nvSpPr>
          <p:cNvPr id="17" name="Shape 14"/>
          <p:cNvSpPr/>
          <p:nvPr/>
        </p:nvSpPr>
        <p:spPr>
          <a:xfrm>
            <a:off x="877824" y="4745736"/>
            <a:ext cx="493776" cy="493776"/>
          </a:xfrm>
          <a:prstGeom prst="ellipse">
            <a:avLst/>
          </a:prstGeom>
          <a:solidFill>
            <a:srgbClr val="10B981"/>
          </a:solidFill>
          <a:ln/>
        </p:spPr>
      </p:sp>
      <p:sp>
        <p:nvSpPr>
          <p:cNvPr id="18" name="Text 15"/>
          <p:cNvSpPr/>
          <p:nvPr/>
        </p:nvSpPr>
        <p:spPr>
          <a:xfrm>
            <a:off x="877824" y="4745736"/>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3</a:t>
            </a:r>
            <a:endParaRPr lang="en-US" sz="1800" dirty="0"/>
          </a:p>
        </p:txBody>
      </p:sp>
      <p:sp>
        <p:nvSpPr>
          <p:cNvPr id="19" name="Text 16"/>
          <p:cNvSpPr/>
          <p:nvPr/>
        </p:nvSpPr>
        <p:spPr>
          <a:xfrm>
            <a:off x="1591056" y="4562856"/>
            <a:ext cx="4846320" cy="329184"/>
          </a:xfrm>
          <a:prstGeom prst="rect">
            <a:avLst/>
          </a:prstGeom>
          <a:noFill/>
          <a:ln/>
        </p:spPr>
        <p:txBody>
          <a:bodyPr wrap="square" lIns="0" tIns="0" rIns="0" bIns="0" rtlCol="0" anchor="ctr"/>
          <a:lstStyle/>
          <a:p>
            <a:pPr indent="0" marL="0">
              <a:buNone/>
            </a:pPr>
            <a:r>
              <a:rPr lang="en-US" sz="1450" b="1" dirty="0">
                <a:solidFill>
                  <a:srgbClr val="1E1B3A"/>
                </a:solidFill>
                <a:latin typeface="Malgun Gothic" pitchFamily="34" charset="0"/>
                <a:ea typeface="Malgun Gothic" pitchFamily="34" charset="-122"/>
                <a:cs typeface="Malgun Gothic" pitchFamily="34" charset="-120"/>
              </a:rPr>
              <a:t>개발 환경 구축 (실습)</a:t>
            </a:r>
            <a:endParaRPr lang="en-US" sz="1450" dirty="0"/>
          </a:p>
        </p:txBody>
      </p:sp>
      <p:sp>
        <p:nvSpPr>
          <p:cNvPr id="20" name="Text 17"/>
          <p:cNvSpPr/>
          <p:nvPr/>
        </p:nvSpPr>
        <p:spPr>
          <a:xfrm>
            <a:off x="1591056" y="4892040"/>
            <a:ext cx="4846320" cy="603504"/>
          </a:xfrm>
          <a:prstGeom prst="rect">
            <a:avLst/>
          </a:prstGeom>
          <a:noFill/>
          <a:ln/>
        </p:spPr>
        <p:txBody>
          <a:bodyPr wrap="square" lIns="0" tIns="0" rIns="0" bIns="0" rtlCol="0" anchor="t"/>
          <a:lstStyle/>
          <a:p>
            <a:pPr indent="0" marL="0">
              <a:lnSpc>
                <a:spcPts val="1550"/>
              </a:lnSpc>
              <a:buNone/>
            </a:pPr>
            <a:r>
              <a:rPr lang="en-US" sz="1100" dirty="0">
                <a:solidFill>
                  <a:srgbClr val="3C3B57"/>
                </a:solidFill>
                <a:latin typeface="Malgun Gothic" pitchFamily="34" charset="0"/>
                <a:ea typeface="Malgun Gothic" pitchFamily="34" charset="-122"/>
                <a:cs typeface="Malgun Gothic" pitchFamily="34" charset="-120"/>
              </a:rPr>
              <a:t>Python · VS Code · Git을 설치하고, GitHub 저장소를 만들어 첫 파일을 올립니다.</a:t>
            </a:r>
            <a:endParaRPr lang="en-US" sz="1100" dirty="0"/>
          </a:p>
        </p:txBody>
      </p:sp>
      <p:sp>
        <p:nvSpPr>
          <p:cNvPr id="21" name="Shape 18"/>
          <p:cNvSpPr/>
          <p:nvPr/>
        </p:nvSpPr>
        <p:spPr>
          <a:xfrm>
            <a:off x="6967728" y="1783080"/>
            <a:ext cx="4562856" cy="3977640"/>
          </a:xfrm>
          <a:prstGeom prst="roundRect">
            <a:avLst>
              <a:gd name="adj" fmla="val 2299"/>
            </a:avLst>
          </a:prstGeom>
          <a:solidFill>
            <a:srgbClr val="EEF0FF"/>
          </a:solidFill>
          <a:ln/>
        </p:spPr>
      </p:sp>
      <p:sp>
        <p:nvSpPr>
          <p:cNvPr id="22" name="Text 19"/>
          <p:cNvSpPr/>
          <p:nvPr/>
        </p:nvSpPr>
        <p:spPr>
          <a:xfrm>
            <a:off x="7242048" y="2011680"/>
            <a:ext cx="4023360" cy="329184"/>
          </a:xfrm>
          <a:prstGeom prst="rect">
            <a:avLst/>
          </a:prstGeom>
          <a:noFill/>
          <a:ln/>
        </p:spPr>
        <p:txBody>
          <a:bodyPr wrap="square" lIns="0" tIns="0" rIns="0" bIns="0" rtlCol="0" anchor="ctr"/>
          <a:lstStyle/>
          <a:p>
            <a:pPr indent="0" marL="0">
              <a:buNone/>
            </a:pPr>
            <a:r>
              <a:rPr lang="en-US" sz="1400" b="1" dirty="0">
                <a:solidFill>
                  <a:srgbClr val="4338CA"/>
                </a:solidFill>
                <a:latin typeface="Malgun Gothic" pitchFamily="34" charset="0"/>
                <a:ea typeface="Malgun Gothic" pitchFamily="34" charset="-122"/>
                <a:cs typeface="Malgun Gothic" pitchFamily="34" charset="-120"/>
              </a:rPr>
              <a:t>이번 주 성취 기준</a:t>
            </a:r>
            <a:endParaRPr lang="en-US" sz="1400" dirty="0"/>
          </a:p>
        </p:txBody>
      </p:sp>
      <p:sp>
        <p:nvSpPr>
          <p:cNvPr id="23" name="Shape 20"/>
          <p:cNvSpPr/>
          <p:nvPr/>
        </p:nvSpPr>
        <p:spPr>
          <a:xfrm>
            <a:off x="7242048" y="2514600"/>
            <a:ext cx="365760" cy="365760"/>
          </a:xfrm>
          <a:prstGeom prst="ellipse">
            <a:avLst/>
          </a:prstGeom>
          <a:solidFill>
            <a:srgbClr val="4F46E5"/>
          </a:solidFill>
          <a:ln/>
        </p:spPr>
      </p:sp>
      <p:pic>
        <p:nvPicPr>
          <p:cNvPr id="24" name="Image 1" descr="/home/claude/icons/check_white.png">    </p:cNvPr>
          <p:cNvPicPr>
            <a:picLocks noChangeAspect="1"/>
          </p:cNvPicPr>
          <p:nvPr/>
        </p:nvPicPr>
        <p:blipFill>
          <a:blip r:embed="rId2"/>
          <a:stretch>
            <a:fillRect/>
          </a:stretch>
        </p:blipFill>
        <p:spPr>
          <a:xfrm>
            <a:off x="7333488" y="2606040"/>
            <a:ext cx="182880" cy="182880"/>
          </a:xfrm>
          <a:prstGeom prst="rect">
            <a:avLst/>
          </a:prstGeom>
        </p:spPr>
      </p:pic>
      <p:sp>
        <p:nvSpPr>
          <p:cNvPr id="25" name="Text 21"/>
          <p:cNvSpPr/>
          <p:nvPr/>
        </p:nvSpPr>
        <p:spPr>
          <a:xfrm>
            <a:off x="7754112" y="2468880"/>
            <a:ext cx="3611880" cy="914400"/>
          </a:xfrm>
          <a:prstGeom prst="rect">
            <a:avLst/>
          </a:prstGeom>
          <a:noFill/>
          <a:ln/>
        </p:spPr>
        <p:txBody>
          <a:bodyPr wrap="square" lIns="0" tIns="0" rIns="0" bIns="0" rtlCol="0" anchor="t"/>
          <a:lstStyle/>
          <a:p>
            <a:pPr indent="0" marL="0">
              <a:lnSpc>
                <a:spcPts val="1650"/>
              </a:lnSpc>
              <a:buNone/>
            </a:pPr>
            <a:r>
              <a:rPr lang="en-US" sz="1150" dirty="0">
                <a:solidFill>
                  <a:srgbClr val="3C3B57"/>
                </a:solidFill>
                <a:latin typeface="Malgun Gothic" pitchFamily="34" charset="0"/>
                <a:ea typeface="Malgun Gothic" pitchFamily="34" charset="-122"/>
                <a:cs typeface="Malgun Gothic" pitchFamily="34" charset="-120"/>
              </a:rPr>
              <a:t>소프트웨어공학이 왜 필요한지와 이 과목의 전체 구조를 설명할 수 있다.</a:t>
            </a:r>
            <a:endParaRPr lang="en-US" sz="1150" dirty="0"/>
          </a:p>
        </p:txBody>
      </p:sp>
      <p:sp>
        <p:nvSpPr>
          <p:cNvPr id="26" name="Shape 22"/>
          <p:cNvSpPr/>
          <p:nvPr/>
        </p:nvSpPr>
        <p:spPr>
          <a:xfrm>
            <a:off x="7242048" y="3538728"/>
            <a:ext cx="365760" cy="365760"/>
          </a:xfrm>
          <a:prstGeom prst="ellipse">
            <a:avLst/>
          </a:prstGeom>
          <a:solidFill>
            <a:srgbClr val="4F46E5"/>
          </a:solidFill>
          <a:ln/>
        </p:spPr>
      </p:sp>
      <p:pic>
        <p:nvPicPr>
          <p:cNvPr id="27" name="Image 2" descr="/home/claude/icons/check_white.png">    </p:cNvPr>
          <p:cNvPicPr>
            <a:picLocks noChangeAspect="1"/>
          </p:cNvPicPr>
          <p:nvPr/>
        </p:nvPicPr>
        <p:blipFill>
          <a:blip r:embed="rId3"/>
          <a:stretch>
            <a:fillRect/>
          </a:stretch>
        </p:blipFill>
        <p:spPr>
          <a:xfrm>
            <a:off x="7333488" y="3630168"/>
            <a:ext cx="182880" cy="182880"/>
          </a:xfrm>
          <a:prstGeom prst="rect">
            <a:avLst/>
          </a:prstGeom>
        </p:spPr>
      </p:pic>
      <p:sp>
        <p:nvSpPr>
          <p:cNvPr id="28" name="Text 23"/>
          <p:cNvSpPr/>
          <p:nvPr/>
        </p:nvSpPr>
        <p:spPr>
          <a:xfrm>
            <a:off x="7754112" y="3493008"/>
            <a:ext cx="3611880" cy="914400"/>
          </a:xfrm>
          <a:prstGeom prst="rect">
            <a:avLst/>
          </a:prstGeom>
          <a:noFill/>
          <a:ln/>
        </p:spPr>
        <p:txBody>
          <a:bodyPr wrap="square" lIns="0" tIns="0" rIns="0" bIns="0" rtlCol="0" anchor="t"/>
          <a:lstStyle/>
          <a:p>
            <a:pPr indent="0" marL="0">
              <a:lnSpc>
                <a:spcPts val="1650"/>
              </a:lnSpc>
              <a:buNone/>
            </a:pPr>
            <a:r>
              <a:rPr lang="en-US" sz="1150" dirty="0">
                <a:solidFill>
                  <a:srgbClr val="3C3B57"/>
                </a:solidFill>
                <a:latin typeface="Malgun Gothic" pitchFamily="34" charset="0"/>
                <a:ea typeface="Malgun Gothic" pitchFamily="34" charset="-122"/>
                <a:cs typeface="Malgun Gothic" pitchFamily="34" charset="-120"/>
              </a:rPr>
              <a:t>구현이 자동화된 환경에서 개발자에게 남는 역할을 내 말로 설명할 수 있다.</a:t>
            </a:r>
            <a:endParaRPr lang="en-US" sz="1150" dirty="0"/>
          </a:p>
        </p:txBody>
      </p:sp>
      <p:sp>
        <p:nvSpPr>
          <p:cNvPr id="29" name="Shape 24"/>
          <p:cNvSpPr/>
          <p:nvPr/>
        </p:nvSpPr>
        <p:spPr>
          <a:xfrm>
            <a:off x="7242048" y="4562856"/>
            <a:ext cx="365760" cy="365760"/>
          </a:xfrm>
          <a:prstGeom prst="ellipse">
            <a:avLst/>
          </a:prstGeom>
          <a:solidFill>
            <a:srgbClr val="4F46E5"/>
          </a:solidFill>
          <a:ln/>
        </p:spPr>
      </p:sp>
      <p:pic>
        <p:nvPicPr>
          <p:cNvPr id="30" name="Image 3" descr="/home/claude/icons/check_white.png">    </p:cNvPr>
          <p:cNvPicPr>
            <a:picLocks noChangeAspect="1"/>
          </p:cNvPicPr>
          <p:nvPr/>
        </p:nvPicPr>
        <p:blipFill>
          <a:blip r:embed="rId4"/>
          <a:stretch>
            <a:fillRect/>
          </a:stretch>
        </p:blipFill>
        <p:spPr>
          <a:xfrm>
            <a:off x="7333488" y="4654296"/>
            <a:ext cx="182880" cy="182880"/>
          </a:xfrm>
          <a:prstGeom prst="rect">
            <a:avLst/>
          </a:prstGeom>
        </p:spPr>
      </p:pic>
      <p:sp>
        <p:nvSpPr>
          <p:cNvPr id="31" name="Text 25"/>
          <p:cNvSpPr/>
          <p:nvPr/>
        </p:nvSpPr>
        <p:spPr>
          <a:xfrm>
            <a:off x="7754112" y="4517136"/>
            <a:ext cx="3611880" cy="914400"/>
          </a:xfrm>
          <a:prstGeom prst="rect">
            <a:avLst/>
          </a:prstGeom>
          <a:noFill/>
          <a:ln/>
        </p:spPr>
        <p:txBody>
          <a:bodyPr wrap="square" lIns="0" tIns="0" rIns="0" bIns="0" rtlCol="0" anchor="t"/>
          <a:lstStyle/>
          <a:p>
            <a:pPr indent="0" marL="0">
              <a:lnSpc>
                <a:spcPts val="1650"/>
              </a:lnSpc>
              <a:buNone/>
            </a:pPr>
            <a:r>
              <a:rPr lang="en-US" sz="1150" dirty="0">
                <a:solidFill>
                  <a:srgbClr val="3C3B57"/>
                </a:solidFill>
                <a:latin typeface="Malgun Gothic" pitchFamily="34" charset="0"/>
                <a:ea typeface="Malgun Gothic" pitchFamily="34" charset="-122"/>
                <a:cs typeface="Malgun Gothic" pitchFamily="34" charset="-120"/>
              </a:rPr>
              <a:t>개발 환경을 스스로 구축하고 GitHub 저장소에 내 파일을 올릴 수 있다.</a:t>
            </a:r>
            <a:endParaRPr lang="en-US" sz="1150" dirty="0"/>
          </a:p>
        </p:txBody>
      </p:sp>
      <p:sp>
        <p:nvSpPr>
          <p:cNvPr id="32" name="Text 26"/>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7163A"/>
        </a:solidFill>
      </p:bgPr>
    </p:bg>
    <p:spTree>
      <p:nvGrpSpPr>
        <p:cNvPr id="1" name=""/>
        <p:cNvGrpSpPr/>
        <p:nvPr/>
      </p:nvGrpSpPr>
      <p:grpSpPr>
        <a:xfrm>
          <a:off x="0" y="0"/>
          <a:ext cx="0" cy="0"/>
          <a:chOff x="0" y="0"/>
          <a:chExt cx="0" cy="0"/>
        </a:xfrm>
      </p:grpSpPr>
      <p:sp>
        <p:nvSpPr>
          <p:cNvPr id="2" name="Shape 0"/>
          <p:cNvSpPr/>
          <p:nvPr/>
        </p:nvSpPr>
        <p:spPr>
          <a:xfrm>
            <a:off x="8503920" y="-2103120"/>
            <a:ext cx="6035040" cy="6035040"/>
          </a:xfrm>
          <a:prstGeom prst="ellipse">
            <a:avLst/>
          </a:prstGeom>
          <a:solidFill>
            <a:srgbClr val="201E4C"/>
          </a:solidFill>
          <a:ln/>
        </p:spPr>
      </p:sp>
      <p:sp>
        <p:nvSpPr>
          <p:cNvPr id="3" name="Shape 1"/>
          <p:cNvSpPr/>
          <p:nvPr/>
        </p:nvSpPr>
        <p:spPr>
          <a:xfrm>
            <a:off x="-1737360" y="4480560"/>
            <a:ext cx="4297680" cy="4297680"/>
          </a:xfrm>
          <a:prstGeom prst="ellipse">
            <a:avLst/>
          </a:prstGeom>
          <a:solidFill>
            <a:srgbClr val="2A2860"/>
          </a:solidFill>
          <a:ln/>
        </p:spPr>
      </p:sp>
      <p:sp>
        <p:nvSpPr>
          <p:cNvPr id="4" name="Text 2"/>
          <p:cNvSpPr/>
          <p:nvPr/>
        </p:nvSpPr>
        <p:spPr>
          <a:xfrm>
            <a:off x="7863840" y="320040"/>
            <a:ext cx="3840480" cy="2103120"/>
          </a:xfrm>
          <a:prstGeom prst="rect">
            <a:avLst/>
          </a:prstGeom>
          <a:noFill/>
          <a:ln/>
        </p:spPr>
        <p:txBody>
          <a:bodyPr wrap="square" lIns="0" tIns="0" rIns="0" bIns="0" rtlCol="0" anchor="ctr"/>
          <a:lstStyle/>
          <a:p>
            <a:pPr algn="r" indent="0" marL="0">
              <a:buNone/>
            </a:pPr>
            <a:r>
              <a:rPr lang="en-US" sz="12000" b="1" dirty="0">
                <a:solidFill>
                  <a:srgbClr val="343070"/>
                </a:solidFill>
                <a:latin typeface="Malgun Gothic" pitchFamily="34" charset="0"/>
                <a:ea typeface="Malgun Gothic" pitchFamily="34" charset="-122"/>
                <a:cs typeface="Malgun Gothic" pitchFamily="34" charset="-120"/>
              </a:rPr>
              <a:t>01</a:t>
            </a:r>
            <a:endParaRPr lang="en-US" sz="12000" dirty="0"/>
          </a:p>
        </p:txBody>
      </p:sp>
      <p:sp>
        <p:nvSpPr>
          <p:cNvPr id="5" name="Shape 3"/>
          <p:cNvSpPr/>
          <p:nvPr/>
        </p:nvSpPr>
        <p:spPr>
          <a:xfrm>
            <a:off x="658368" y="2103120"/>
            <a:ext cx="1691640" cy="457200"/>
          </a:xfrm>
          <a:prstGeom prst="roundRect">
            <a:avLst>
              <a:gd name="adj" fmla="val 50000"/>
            </a:avLst>
          </a:prstGeom>
          <a:solidFill>
            <a:srgbClr val="4F46E5"/>
          </a:solidFill>
          <a:ln/>
        </p:spPr>
      </p:sp>
      <p:sp>
        <p:nvSpPr>
          <p:cNvPr id="6" name="Text 4"/>
          <p:cNvSpPr/>
          <p:nvPr/>
        </p:nvSpPr>
        <p:spPr>
          <a:xfrm>
            <a:off x="658368" y="2103120"/>
            <a:ext cx="1691640" cy="457200"/>
          </a:xfrm>
          <a:prstGeom prst="rect">
            <a:avLst/>
          </a:prstGeom>
          <a:noFill/>
          <a:ln/>
        </p:spPr>
        <p:txBody>
          <a:bodyPr wrap="square" lIns="0" tIns="0" rIns="0" bIns="0" rtlCol="0" anchor="ctr"/>
          <a:lstStyle/>
          <a:p>
            <a:pPr algn="ctr" indent="0" marL="0">
              <a:buNone/>
            </a:pPr>
            <a:r>
              <a:rPr lang="en-US" sz="1250" b="1" spc="200" kern="0" dirty="0">
                <a:solidFill>
                  <a:srgbClr val="FFFFFF"/>
                </a:solidFill>
                <a:latin typeface="Malgun Gothic" pitchFamily="34" charset="0"/>
                <a:ea typeface="Malgun Gothic" pitchFamily="34" charset="-122"/>
                <a:cs typeface="Malgun Gothic" pitchFamily="34" charset="-120"/>
              </a:rPr>
              <a:t>PART 1</a:t>
            </a:r>
            <a:endParaRPr lang="en-US" sz="1250" dirty="0"/>
          </a:p>
        </p:txBody>
      </p:sp>
      <p:sp>
        <p:nvSpPr>
          <p:cNvPr id="7" name="Text 5"/>
          <p:cNvSpPr/>
          <p:nvPr/>
        </p:nvSpPr>
        <p:spPr>
          <a:xfrm>
            <a:off x="658368" y="2743200"/>
            <a:ext cx="8961120" cy="1005840"/>
          </a:xfrm>
          <a:prstGeom prst="rect">
            <a:avLst/>
          </a:prstGeom>
          <a:noFill/>
          <a:ln/>
        </p:spPr>
        <p:txBody>
          <a:bodyPr wrap="square" lIns="0" tIns="0" rIns="0" bIns="0" rtlCol="0" anchor="t"/>
          <a:lstStyle/>
          <a:p>
            <a:pPr indent="0" marL="0">
              <a:lnSpc>
                <a:spcPts val="5000"/>
              </a:lnSpc>
              <a:buNone/>
            </a:pPr>
            <a:r>
              <a:rPr lang="en-US" sz="3800" b="1" dirty="0">
                <a:solidFill>
                  <a:srgbClr val="FFFFFF"/>
                </a:solidFill>
                <a:latin typeface="Malgun Gothic" pitchFamily="34" charset="0"/>
                <a:ea typeface="Malgun Gothic" pitchFamily="34" charset="-122"/>
                <a:cs typeface="Malgun Gothic" pitchFamily="34" charset="-120"/>
              </a:rPr>
              <a:t>오리엔테이션</a:t>
            </a:r>
            <a:endParaRPr lang="en-US" sz="3800" dirty="0"/>
          </a:p>
        </p:txBody>
      </p:sp>
      <p:sp>
        <p:nvSpPr>
          <p:cNvPr id="8" name="Text 6"/>
          <p:cNvSpPr/>
          <p:nvPr/>
        </p:nvSpPr>
        <p:spPr>
          <a:xfrm>
            <a:off x="658368" y="3913632"/>
            <a:ext cx="9052560" cy="868680"/>
          </a:xfrm>
          <a:prstGeom prst="rect">
            <a:avLst/>
          </a:prstGeom>
          <a:noFill/>
          <a:ln/>
        </p:spPr>
        <p:txBody>
          <a:bodyPr wrap="square" lIns="0" tIns="0" rIns="0" bIns="0" rtlCol="0" anchor="t"/>
          <a:lstStyle/>
          <a:p>
            <a:pPr indent="0" marL="0">
              <a:lnSpc>
                <a:spcPts val="2200"/>
              </a:lnSpc>
              <a:buNone/>
            </a:pPr>
            <a:r>
              <a:rPr lang="en-US" sz="1400" dirty="0">
                <a:solidFill>
                  <a:srgbClr val="E7E6FB"/>
                </a:solidFill>
                <a:latin typeface="Malgun Gothic" pitchFamily="34" charset="0"/>
                <a:ea typeface="Malgun Gothic" pitchFamily="34" charset="-122"/>
                <a:cs typeface="Malgun Gothic" pitchFamily="34" charset="-120"/>
              </a:rPr>
              <a:t>이 수업이 무엇을, 어떻게 배우는 수업인지 — 그리고 AI를 어디까지 쓸 수 있는지부터 합의합니다.</a:t>
            </a:r>
            <a:endParaRPr lang="en-US" sz="1400" dirty="0"/>
          </a:p>
        </p:txBody>
      </p:sp>
      <p:sp>
        <p:nvSpPr>
          <p:cNvPr id="9" name="Shape 7"/>
          <p:cNvSpPr/>
          <p:nvPr/>
        </p:nvSpPr>
        <p:spPr>
          <a:xfrm>
            <a:off x="9738360" y="4343400"/>
            <a:ext cx="1325880" cy="1325880"/>
          </a:xfrm>
          <a:prstGeom prst="ellipse">
            <a:avLst/>
          </a:prstGeom>
          <a:solidFill>
            <a:srgbClr val="4F46E5"/>
          </a:solidFill>
          <a:ln/>
        </p:spPr>
      </p:sp>
      <p:pic>
        <p:nvPicPr>
          <p:cNvPr id="10" name="Image 0" descr="/home/claude/icons/flag_white.png">    </p:cNvPr>
          <p:cNvPicPr>
            <a:picLocks noChangeAspect="1"/>
          </p:cNvPicPr>
          <p:nvPr/>
        </p:nvPicPr>
        <p:blipFill>
          <a:blip r:embed="rId1"/>
          <a:stretch>
            <a:fillRect/>
          </a:stretch>
        </p:blipFill>
        <p:spPr>
          <a:xfrm>
            <a:off x="10069830" y="4674870"/>
            <a:ext cx="662940" cy="662940"/>
          </a:xfrm>
          <a:prstGeom prst="rect">
            <a:avLst/>
          </a:prstGeom>
        </p:spPr>
      </p:pic>
      <p:sp>
        <p:nvSpPr>
          <p:cNvPr id="11" name="Text 8"/>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8A88C4"/>
                </a:solidFill>
                <a:latin typeface="Malgun Gothic" pitchFamily="34" charset="0"/>
                <a:ea typeface="Malgun Gothic" pitchFamily="34" charset="-122"/>
                <a:cs typeface="Malgun Gothic" pitchFamily="34" charset="-120"/>
              </a:rPr>
              <a:t>03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199132" cy="384048"/>
          </a:xfrm>
          <a:prstGeom prst="roundRect">
            <a:avLst>
              <a:gd name="adj" fmla="val 50000"/>
            </a:avLst>
          </a:prstGeom>
          <a:solidFill>
            <a:srgbClr val="EDECFB"/>
          </a:solidFill>
          <a:ln/>
        </p:spPr>
      </p:sp>
      <p:pic>
        <p:nvPicPr>
          <p:cNvPr id="3" name="Image 0" descr="/home/claude/icons/flag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815084"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오리엔테이션</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"생성형 AI 소프트웨어공학"이란</a:t>
            </a:r>
            <a:endParaRPr lang="en-US" sz="2600" dirty="0"/>
          </a:p>
        </p:txBody>
      </p:sp>
      <p:sp>
        <p:nvSpPr>
          <p:cNvPr id="6" name="Shape 3"/>
          <p:cNvSpPr/>
          <p:nvPr/>
        </p:nvSpPr>
        <p:spPr>
          <a:xfrm>
            <a:off x="658368" y="1783080"/>
            <a:ext cx="10872216" cy="1783080"/>
          </a:xfrm>
          <a:prstGeom prst="roundRect">
            <a:avLst>
              <a:gd name="adj" fmla="val 5128"/>
            </a:avLst>
          </a:prstGeom>
          <a:solidFill>
            <a:srgbClr val="F5F4FC"/>
          </a:solidFill>
          <a:ln/>
        </p:spPr>
      </p:sp>
      <p:sp>
        <p:nvSpPr>
          <p:cNvPr id="7" name="Text 4"/>
          <p:cNvSpPr/>
          <p:nvPr/>
        </p:nvSpPr>
        <p:spPr>
          <a:xfrm>
            <a:off x="1024128" y="1965960"/>
            <a:ext cx="10140696" cy="1417320"/>
          </a:xfrm>
          <a:prstGeom prst="rect">
            <a:avLst/>
          </a:prstGeom>
          <a:noFill/>
          <a:ln/>
        </p:spPr>
        <p:txBody>
          <a:bodyPr wrap="square" lIns="0" tIns="0" rIns="0" bIns="0" rtlCol="0" anchor="ctr"/>
          <a:lstStyle/>
          <a:p>
            <a:pPr indent="0" marL="0">
              <a:lnSpc>
                <a:spcPts val="2500"/>
              </a:lnSpc>
              <a:buNone/>
            </a:pPr>
            <a:r>
              <a:rPr lang="en-US" sz="1550" dirty="0">
                <a:solidFill>
                  <a:srgbClr val="3C3B57"/>
                </a:solidFill>
                <a:latin typeface="Malgun Gothic" pitchFamily="34" charset="0"/>
                <a:ea typeface="Malgun Gothic" pitchFamily="34" charset="-122"/>
                <a:cs typeface="Malgun Gothic" pitchFamily="34" charset="-120"/>
              </a:rPr>
              <a:t>코드를 </a:t>
            </a:r>
            <a:pPr indent="0" marL="0">
              <a:lnSpc>
                <a:spcPts val="2500"/>
              </a:lnSpc>
              <a:buNone/>
            </a:pPr>
            <a:r>
              <a:rPr lang="en-US" sz="1550" b="1" dirty="0">
                <a:solidFill>
                  <a:srgbClr val="3C3B57"/>
                </a:solidFill>
                <a:latin typeface="Malgun Gothic" pitchFamily="34" charset="0"/>
                <a:ea typeface="Malgun Gothic" pitchFamily="34" charset="-122"/>
                <a:cs typeface="Malgun Gothic" pitchFamily="34" charset="-120"/>
              </a:rPr>
              <a:t>'작성'하는 법</a:t>
            </a:r>
            <a:pPr indent="0" marL="0">
              <a:lnSpc>
                <a:spcPts val="2500"/>
              </a:lnSpc>
              <a:buNone/>
            </a:pPr>
            <a:r>
              <a:rPr lang="en-US" sz="1550" dirty="0">
                <a:solidFill>
                  <a:srgbClr val="3C3B57"/>
                </a:solidFill>
                <a:latin typeface="Malgun Gothic" pitchFamily="34" charset="0"/>
                <a:ea typeface="Malgun Gothic" pitchFamily="34" charset="-122"/>
                <a:cs typeface="Malgun Gothic" pitchFamily="34" charset="-120"/>
              </a:rPr>
              <a:t>이 아니라, AI에게 코드를 </a:t>
            </a:r>
            <a:pPr indent="0" marL="0">
              <a:lnSpc>
                <a:spcPts val="2500"/>
              </a:lnSpc>
              <a:buNone/>
            </a:pPr>
            <a:r>
              <a:rPr lang="en-US" sz="1550" b="1" dirty="0">
                <a:solidFill>
                  <a:srgbClr val="4338CA"/>
                </a:solidFill>
                <a:latin typeface="Malgun Gothic" pitchFamily="34" charset="0"/>
                <a:ea typeface="Malgun Gothic" pitchFamily="34" charset="-122"/>
                <a:cs typeface="Malgun Gothic" pitchFamily="34" charset="-120"/>
              </a:rPr>
              <a:t>'만들게 하고' 그 결과에 책임지는 법</a:t>
            </a:r>
            <a:pPr indent="0" marL="0">
              <a:lnSpc>
                <a:spcPts val="2500"/>
              </a:lnSpc>
              <a:buNone/>
            </a:pPr>
            <a:r>
              <a:rPr lang="en-US" sz="1550" dirty="0">
                <a:solidFill>
                  <a:srgbClr val="3C3B57"/>
                </a:solidFill>
                <a:latin typeface="Malgun Gothic" pitchFamily="34" charset="0"/>
                <a:ea typeface="Malgun Gothic" pitchFamily="34" charset="-122"/>
                <a:cs typeface="Malgun Gothic" pitchFamily="34" charset="-120"/>
              </a:rPr>
              <a:t>을 배우는 수업입니다.</a:t>
            </a:r>
            <a:endParaRPr lang="en-US" sz="1550" dirty="0"/>
          </a:p>
          <a:p>
            <a:pPr indent="0" marL="0">
              <a:lnSpc>
                <a:spcPts val="2500"/>
              </a:lnSpc>
              <a:buNone/>
            </a:pPr>
            <a:r>
              <a:rPr lang="en-US" sz="1550" dirty="0">
                <a:solidFill>
                  <a:srgbClr val="3C3B57"/>
                </a:solidFill>
                <a:latin typeface="Malgun Gothic" pitchFamily="34" charset="0"/>
                <a:ea typeface="Malgun Gothic" pitchFamily="34" charset="-122"/>
                <a:cs typeface="Malgun Gothic" pitchFamily="34" charset="-120"/>
              </a:rPr>
              <a:t>구현은 생성형 AI가 맡습니다. 우리는 무엇을 만들지 정의하고, 어떤 구조로 만들지 설계하고,</a:t>
            </a:r>
            <a:endParaRPr lang="en-US" sz="1550" dirty="0"/>
          </a:p>
          <a:p>
            <a:pPr indent="0" marL="0">
              <a:lnSpc>
                <a:spcPts val="2500"/>
              </a:lnSpc>
              <a:buNone/>
            </a:pPr>
            <a:r>
              <a:rPr lang="en-US" sz="1550" dirty="0">
                <a:solidFill>
                  <a:srgbClr val="3C3B57"/>
                </a:solidFill>
                <a:latin typeface="Malgun Gothic" pitchFamily="34" charset="0"/>
                <a:ea typeface="Malgun Gothic" pitchFamily="34" charset="-122"/>
                <a:cs typeface="Malgun Gothic" pitchFamily="34" charset="-120"/>
              </a:rPr>
              <a:t>제대로 만들어졌는지 검증합니다.</a:t>
            </a:r>
            <a:endParaRPr lang="en-US" sz="1550" dirty="0"/>
          </a:p>
        </p:txBody>
      </p:sp>
      <p:sp>
        <p:nvSpPr>
          <p:cNvPr id="8" name="Shape 5"/>
          <p:cNvSpPr/>
          <p:nvPr/>
        </p:nvSpPr>
        <p:spPr>
          <a:xfrm>
            <a:off x="658368" y="3886200"/>
            <a:ext cx="3453384" cy="1828800"/>
          </a:xfrm>
          <a:prstGeom prst="roundRect">
            <a:avLst>
              <a:gd name="adj" fmla="val 5000"/>
            </a:avLst>
          </a:prstGeom>
          <a:solidFill>
            <a:srgbClr val="FFFFFF"/>
          </a:solidFill>
          <a:ln/>
          <a:effectLst>
            <a:outerShdw sx="100000" sy="100000" kx="0" ky="0" algn="bl" rotWithShape="0" blurRad="152400" dist="25400" dir="5400000">
              <a:srgbClr val="1F1D48">
                <a:alpha val="16000"/>
              </a:srgbClr>
            </a:outerShdw>
          </a:effectLst>
        </p:spPr>
      </p:sp>
      <p:sp>
        <p:nvSpPr>
          <p:cNvPr id="9" name="Shape 6"/>
          <p:cNvSpPr/>
          <p:nvPr/>
        </p:nvSpPr>
        <p:spPr>
          <a:xfrm>
            <a:off x="896112" y="4123944"/>
            <a:ext cx="512064" cy="512064"/>
          </a:xfrm>
          <a:prstGeom prst="ellipse">
            <a:avLst/>
          </a:prstGeom>
          <a:solidFill>
            <a:srgbClr val="4F46E5"/>
          </a:solidFill>
          <a:ln/>
        </p:spPr>
      </p:sp>
      <p:pic>
        <p:nvPicPr>
          <p:cNvPr id="10" name="Image 1" descr="/home/claude/icons/pen_white.png">    </p:cNvPr>
          <p:cNvPicPr>
            <a:picLocks noChangeAspect="1"/>
          </p:cNvPicPr>
          <p:nvPr/>
        </p:nvPicPr>
        <p:blipFill>
          <a:blip r:embed="rId2"/>
          <a:stretch>
            <a:fillRect/>
          </a:stretch>
        </p:blipFill>
        <p:spPr>
          <a:xfrm>
            <a:off x="1024128" y="4251960"/>
            <a:ext cx="256032" cy="256032"/>
          </a:xfrm>
          <a:prstGeom prst="rect">
            <a:avLst/>
          </a:prstGeom>
        </p:spPr>
      </p:pic>
      <p:sp>
        <p:nvSpPr>
          <p:cNvPr id="11" name="Text 7"/>
          <p:cNvSpPr/>
          <p:nvPr/>
        </p:nvSpPr>
        <p:spPr>
          <a:xfrm>
            <a:off x="896112" y="4764024"/>
            <a:ext cx="2996184" cy="292608"/>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정의한다</a:t>
            </a:r>
            <a:endParaRPr lang="en-US" sz="1400" dirty="0"/>
          </a:p>
        </p:txBody>
      </p:sp>
      <p:sp>
        <p:nvSpPr>
          <p:cNvPr id="12" name="Text 8"/>
          <p:cNvSpPr/>
          <p:nvPr/>
        </p:nvSpPr>
        <p:spPr>
          <a:xfrm>
            <a:off x="896112" y="5056632"/>
            <a:ext cx="2996184" cy="548640"/>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무엇을 만들 것인가 — 요구사항을 말과 글로 명확히 한다.</a:t>
            </a:r>
            <a:endParaRPr lang="en-US" sz="1150" dirty="0"/>
          </a:p>
        </p:txBody>
      </p:sp>
      <p:sp>
        <p:nvSpPr>
          <p:cNvPr id="13" name="Shape 9"/>
          <p:cNvSpPr/>
          <p:nvPr/>
        </p:nvSpPr>
        <p:spPr>
          <a:xfrm>
            <a:off x="4367784" y="3886200"/>
            <a:ext cx="3453384" cy="1828800"/>
          </a:xfrm>
          <a:prstGeom prst="roundRect">
            <a:avLst>
              <a:gd name="adj" fmla="val 5000"/>
            </a:avLst>
          </a:prstGeom>
          <a:solidFill>
            <a:srgbClr val="FFFFFF"/>
          </a:solidFill>
          <a:ln/>
          <a:effectLst>
            <a:outerShdw sx="100000" sy="100000" kx="0" ky="0" algn="bl" rotWithShape="0" blurRad="152400" dist="25400" dir="5400000">
              <a:srgbClr val="1F1D48">
                <a:alpha val="16000"/>
              </a:srgbClr>
            </a:outerShdw>
          </a:effectLst>
        </p:spPr>
      </p:sp>
      <p:sp>
        <p:nvSpPr>
          <p:cNvPr id="14" name="Shape 10"/>
          <p:cNvSpPr/>
          <p:nvPr/>
        </p:nvSpPr>
        <p:spPr>
          <a:xfrm>
            <a:off x="4605528" y="4123944"/>
            <a:ext cx="512064" cy="512064"/>
          </a:xfrm>
          <a:prstGeom prst="ellipse">
            <a:avLst/>
          </a:prstGeom>
          <a:solidFill>
            <a:srgbClr val="7C3AED"/>
          </a:solidFill>
          <a:ln/>
        </p:spPr>
      </p:sp>
      <p:pic>
        <p:nvPicPr>
          <p:cNvPr id="15" name="Image 2" descr="/home/claude/icons/sitemap_white.png">    </p:cNvPr>
          <p:cNvPicPr>
            <a:picLocks noChangeAspect="1"/>
          </p:cNvPicPr>
          <p:nvPr/>
        </p:nvPicPr>
        <p:blipFill>
          <a:blip r:embed="rId3"/>
          <a:stretch>
            <a:fillRect/>
          </a:stretch>
        </p:blipFill>
        <p:spPr>
          <a:xfrm>
            <a:off x="4733544" y="4251960"/>
            <a:ext cx="256032" cy="256032"/>
          </a:xfrm>
          <a:prstGeom prst="rect">
            <a:avLst/>
          </a:prstGeom>
        </p:spPr>
      </p:pic>
      <p:sp>
        <p:nvSpPr>
          <p:cNvPr id="16" name="Text 11"/>
          <p:cNvSpPr/>
          <p:nvPr/>
        </p:nvSpPr>
        <p:spPr>
          <a:xfrm>
            <a:off x="4605528" y="4764024"/>
            <a:ext cx="2996184" cy="292608"/>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설계한다</a:t>
            </a:r>
            <a:endParaRPr lang="en-US" sz="1400" dirty="0"/>
          </a:p>
        </p:txBody>
      </p:sp>
      <p:sp>
        <p:nvSpPr>
          <p:cNvPr id="17" name="Text 12"/>
          <p:cNvSpPr/>
          <p:nvPr/>
        </p:nvSpPr>
        <p:spPr>
          <a:xfrm>
            <a:off x="4605528" y="5056632"/>
            <a:ext cx="2996184" cy="548640"/>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어떤 구조로 만들 것인가 — 큰 그림과 경계를 사람이 정한다.</a:t>
            </a:r>
            <a:endParaRPr lang="en-US" sz="1150" dirty="0"/>
          </a:p>
        </p:txBody>
      </p:sp>
      <p:sp>
        <p:nvSpPr>
          <p:cNvPr id="18" name="Shape 13"/>
          <p:cNvSpPr/>
          <p:nvPr/>
        </p:nvSpPr>
        <p:spPr>
          <a:xfrm>
            <a:off x="8077200" y="3886200"/>
            <a:ext cx="3453384" cy="1828800"/>
          </a:xfrm>
          <a:prstGeom prst="roundRect">
            <a:avLst>
              <a:gd name="adj" fmla="val 5000"/>
            </a:avLst>
          </a:prstGeom>
          <a:solidFill>
            <a:srgbClr val="FFFFFF"/>
          </a:solidFill>
          <a:ln/>
          <a:effectLst>
            <a:outerShdw sx="100000" sy="100000" kx="0" ky="0" algn="bl" rotWithShape="0" blurRad="152400" dist="25400" dir="5400000">
              <a:srgbClr val="1F1D48">
                <a:alpha val="16000"/>
              </a:srgbClr>
            </a:outerShdw>
          </a:effectLst>
        </p:spPr>
      </p:sp>
      <p:sp>
        <p:nvSpPr>
          <p:cNvPr id="19" name="Shape 14"/>
          <p:cNvSpPr/>
          <p:nvPr/>
        </p:nvSpPr>
        <p:spPr>
          <a:xfrm>
            <a:off x="8314944" y="4123944"/>
            <a:ext cx="512064" cy="512064"/>
          </a:xfrm>
          <a:prstGeom prst="ellipse">
            <a:avLst/>
          </a:prstGeom>
          <a:solidFill>
            <a:srgbClr val="10B981"/>
          </a:solidFill>
          <a:ln/>
        </p:spPr>
      </p:sp>
      <p:pic>
        <p:nvPicPr>
          <p:cNvPr id="20" name="Image 3" descr="/home/claude/icons/clipboard_white.png">    </p:cNvPr>
          <p:cNvPicPr>
            <a:picLocks noChangeAspect="1"/>
          </p:cNvPicPr>
          <p:nvPr/>
        </p:nvPicPr>
        <p:blipFill>
          <a:blip r:embed="rId4"/>
          <a:stretch>
            <a:fillRect/>
          </a:stretch>
        </p:blipFill>
        <p:spPr>
          <a:xfrm>
            <a:off x="8442960" y="4251960"/>
            <a:ext cx="256032" cy="256032"/>
          </a:xfrm>
          <a:prstGeom prst="rect">
            <a:avLst/>
          </a:prstGeom>
        </p:spPr>
      </p:pic>
      <p:sp>
        <p:nvSpPr>
          <p:cNvPr id="21" name="Text 15"/>
          <p:cNvSpPr/>
          <p:nvPr/>
        </p:nvSpPr>
        <p:spPr>
          <a:xfrm>
            <a:off x="8314944" y="4764024"/>
            <a:ext cx="2996184" cy="292608"/>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검증한다</a:t>
            </a:r>
            <a:endParaRPr lang="en-US" sz="1400" dirty="0"/>
          </a:p>
        </p:txBody>
      </p:sp>
      <p:sp>
        <p:nvSpPr>
          <p:cNvPr id="22" name="Text 16"/>
          <p:cNvSpPr/>
          <p:nvPr/>
        </p:nvSpPr>
        <p:spPr>
          <a:xfrm>
            <a:off x="8314944" y="5056632"/>
            <a:ext cx="2996184" cy="548640"/>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제대로 만들어졌는가 — 기준을 세우고 결과를 판정한다.</a:t>
            </a:r>
            <a:endParaRPr lang="en-US" sz="1150" dirty="0"/>
          </a:p>
        </p:txBody>
      </p:sp>
      <p:sp>
        <p:nvSpPr>
          <p:cNvPr id="23" name="Text 17"/>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199132" cy="384048"/>
          </a:xfrm>
          <a:prstGeom prst="roundRect">
            <a:avLst>
              <a:gd name="adj" fmla="val 50000"/>
            </a:avLst>
          </a:prstGeom>
          <a:solidFill>
            <a:srgbClr val="EDECFB"/>
          </a:solidFill>
          <a:ln/>
        </p:spPr>
      </p:sp>
      <p:pic>
        <p:nvPicPr>
          <p:cNvPr id="3" name="Image 0" descr="/home/claude/icons/flag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815084"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오리엔테이션</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우리의 작업 방식 — "풀 바이브 코딩"</a:t>
            </a:r>
            <a:endParaRPr lang="en-US" sz="2600" dirty="0"/>
          </a:p>
        </p:txBody>
      </p:sp>
      <p:sp>
        <p:nvSpPr>
          <p:cNvPr id="6" name="Text 3"/>
          <p:cNvSpPr/>
          <p:nvPr/>
        </p:nvSpPr>
        <p:spPr>
          <a:xfrm>
            <a:off x="658368" y="1737360"/>
            <a:ext cx="5120640" cy="2926080"/>
          </a:xfrm>
          <a:prstGeom prst="rect">
            <a:avLst/>
          </a:prstGeom>
          <a:noFill/>
          <a:ln/>
        </p:spPr>
        <p:txBody>
          <a:bodyPr wrap="square" lIns="0" tIns="0" rIns="0" bIns="0" rtlCol="0" anchor="t"/>
          <a:lstStyle/>
          <a:p>
            <a:pPr algn="l" indent="0" marL="0">
              <a:lnSpc>
                <a:spcPts val="2052"/>
              </a:lnSpc>
              <a:buNone/>
            </a:pPr>
            <a:r>
              <a:rPr lang="en-US" sz="1350" dirty="0">
                <a:solidFill>
                  <a:srgbClr val="3C3B57"/>
                </a:solidFill>
                <a:latin typeface="Malgun Gothic" pitchFamily="34" charset="0"/>
                <a:ea typeface="Malgun Gothic" pitchFamily="34" charset="-122"/>
                <a:cs typeface="Malgun Gothic" pitchFamily="34" charset="-120"/>
              </a:rPr>
              <a:t>한 학기 내내, 사람이 자연어로 지시하고 AI가 구현하는 방식으로 작업합니다. 키보드로 코드를 치는 시간보다, 무엇을 시킬지 생각하고 결과를 확인하는 시간이 훨씬 깁니다.</a:t>
            </a:r>
            <a:endParaRPr lang="en-US" sz="1350" dirty="0"/>
          </a:p>
          <a:p>
            <a:pPr algn="l" indent="0" marL="0">
              <a:lnSpc>
                <a:spcPts val="2052"/>
              </a:lnSpc>
              <a:buNone/>
            </a:pPr>
            <a:endParaRPr lang="en-US" sz="1350" dirty="0"/>
          </a:p>
          <a:p>
            <a:pPr algn="l" indent="0" marL="0">
              <a:lnSpc>
                <a:spcPts val="2052"/>
              </a:lnSpc>
              <a:buNone/>
            </a:pPr>
            <a:r>
              <a:rPr lang="en-US" sz="1350" dirty="0">
                <a:solidFill>
                  <a:srgbClr val="3C3B57"/>
                </a:solidFill>
                <a:latin typeface="Malgun Gothic" pitchFamily="34" charset="0"/>
                <a:ea typeface="Malgun Gothic" pitchFamily="34" charset="-122"/>
                <a:cs typeface="Malgun Gothic" pitchFamily="34" charset="-120"/>
              </a:rPr>
              <a:t>그래서 이 수업의 실력은 타자 속도가 아니라 지시의 정확도와 검증의 꼼꼼함으로 결정됩니다.</a:t>
            </a:r>
            <a:endParaRPr lang="en-US" sz="1350" dirty="0"/>
          </a:p>
        </p:txBody>
      </p:sp>
      <p:sp>
        <p:nvSpPr>
          <p:cNvPr id="7" name="Shape 4"/>
          <p:cNvSpPr/>
          <p:nvPr/>
        </p:nvSpPr>
        <p:spPr>
          <a:xfrm>
            <a:off x="6126480" y="1737360"/>
            <a:ext cx="5404104" cy="4160520"/>
          </a:xfrm>
          <a:prstGeom prst="roundRect">
            <a:avLst>
              <a:gd name="adj" fmla="val 2198"/>
            </a:avLst>
          </a:prstGeom>
          <a:solidFill>
            <a:srgbClr val="FFFFFF"/>
          </a:solidFill>
          <a:ln/>
          <a:effectLst>
            <a:outerShdw sx="100000" sy="100000" kx="0" ky="0" algn="bl" rotWithShape="0" blurRad="152400" dist="25400" dir="5400000">
              <a:srgbClr val="1F1D48">
                <a:alpha val="16000"/>
              </a:srgbClr>
            </a:outerShdw>
          </a:effectLst>
        </p:spPr>
      </p:sp>
      <p:sp>
        <p:nvSpPr>
          <p:cNvPr id="8" name="Text 5"/>
          <p:cNvSpPr/>
          <p:nvPr/>
        </p:nvSpPr>
        <p:spPr>
          <a:xfrm>
            <a:off x="6400800" y="1938528"/>
            <a:ext cx="4846320" cy="310896"/>
          </a:xfrm>
          <a:prstGeom prst="rect">
            <a:avLst/>
          </a:prstGeom>
          <a:noFill/>
          <a:ln/>
        </p:spPr>
        <p:txBody>
          <a:bodyPr wrap="square" lIns="0" tIns="0" rIns="0" bIns="0" rtlCol="0" anchor="ctr"/>
          <a:lstStyle/>
          <a:p>
            <a:pPr indent="0" marL="0">
              <a:buNone/>
            </a:pPr>
            <a:r>
              <a:rPr lang="en-US" sz="1350" b="1" dirty="0">
                <a:solidFill>
                  <a:srgbClr val="4338CA"/>
                </a:solidFill>
                <a:latin typeface="Malgun Gothic" pitchFamily="34" charset="0"/>
                <a:ea typeface="Malgun Gothic" pitchFamily="34" charset="-122"/>
                <a:cs typeface="Malgun Gothic" pitchFamily="34" charset="-120"/>
              </a:rPr>
              <a:t>한 학기 도구 스택</a:t>
            </a:r>
            <a:endParaRPr lang="en-US" sz="1350" dirty="0"/>
          </a:p>
        </p:txBody>
      </p:sp>
      <p:sp>
        <p:nvSpPr>
          <p:cNvPr id="9" name="Shape 6"/>
          <p:cNvSpPr/>
          <p:nvPr/>
        </p:nvSpPr>
        <p:spPr>
          <a:xfrm>
            <a:off x="6400800" y="2395728"/>
            <a:ext cx="457200" cy="457200"/>
          </a:xfrm>
          <a:prstGeom prst="ellipse">
            <a:avLst/>
          </a:prstGeom>
          <a:solidFill>
            <a:srgbClr val="4F46E5"/>
          </a:solidFill>
          <a:ln/>
        </p:spPr>
      </p:sp>
      <p:pic>
        <p:nvPicPr>
          <p:cNvPr id="10" name="Image 1" descr="/home/claude/icons/robot_white.png">    </p:cNvPr>
          <p:cNvPicPr>
            <a:picLocks noChangeAspect="1"/>
          </p:cNvPicPr>
          <p:nvPr/>
        </p:nvPicPr>
        <p:blipFill>
          <a:blip r:embed="rId2"/>
          <a:stretch>
            <a:fillRect/>
          </a:stretch>
        </p:blipFill>
        <p:spPr>
          <a:xfrm>
            <a:off x="6515100" y="2510028"/>
            <a:ext cx="228600" cy="228600"/>
          </a:xfrm>
          <a:prstGeom prst="rect">
            <a:avLst/>
          </a:prstGeom>
        </p:spPr>
      </p:pic>
      <p:sp>
        <p:nvSpPr>
          <p:cNvPr id="11" name="Text 7"/>
          <p:cNvSpPr/>
          <p:nvPr/>
        </p:nvSpPr>
        <p:spPr>
          <a:xfrm>
            <a:off x="7077456" y="2359152"/>
            <a:ext cx="4215384" cy="274320"/>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Google AI Studio</a:t>
            </a:r>
            <a:endParaRPr lang="en-US" sz="1300" dirty="0"/>
          </a:p>
        </p:txBody>
      </p:sp>
      <p:sp>
        <p:nvSpPr>
          <p:cNvPr id="12" name="Text 8"/>
          <p:cNvSpPr/>
          <p:nvPr/>
        </p:nvSpPr>
        <p:spPr>
          <a:xfrm>
            <a:off x="7077456" y="2633472"/>
            <a:ext cx="4215384" cy="621792"/>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모델을 실험하고 API 키를 발급받는 곳 (2주차)</a:t>
            </a:r>
            <a:endParaRPr lang="en-US" sz="1100" dirty="0"/>
          </a:p>
        </p:txBody>
      </p:sp>
      <p:sp>
        <p:nvSpPr>
          <p:cNvPr id="13" name="Shape 9"/>
          <p:cNvSpPr/>
          <p:nvPr/>
        </p:nvSpPr>
        <p:spPr>
          <a:xfrm>
            <a:off x="6400800" y="3255264"/>
            <a:ext cx="457200" cy="457200"/>
          </a:xfrm>
          <a:prstGeom prst="ellipse">
            <a:avLst/>
          </a:prstGeom>
          <a:solidFill>
            <a:srgbClr val="7C3AED"/>
          </a:solidFill>
          <a:ln/>
        </p:spPr>
      </p:sp>
      <p:pic>
        <p:nvPicPr>
          <p:cNvPr id="14" name="Image 2" descr="/home/claude/icons/bolt_white.png">    </p:cNvPr>
          <p:cNvPicPr>
            <a:picLocks noChangeAspect="1"/>
          </p:cNvPicPr>
          <p:nvPr/>
        </p:nvPicPr>
        <p:blipFill>
          <a:blip r:embed="rId3"/>
          <a:stretch>
            <a:fillRect/>
          </a:stretch>
        </p:blipFill>
        <p:spPr>
          <a:xfrm>
            <a:off x="6515100" y="3369564"/>
            <a:ext cx="228600" cy="228600"/>
          </a:xfrm>
          <a:prstGeom prst="rect">
            <a:avLst/>
          </a:prstGeom>
        </p:spPr>
      </p:pic>
      <p:sp>
        <p:nvSpPr>
          <p:cNvPr id="15" name="Text 10"/>
          <p:cNvSpPr/>
          <p:nvPr/>
        </p:nvSpPr>
        <p:spPr>
          <a:xfrm>
            <a:off x="7077456" y="3218688"/>
            <a:ext cx="4215384" cy="274320"/>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Gemini API</a:t>
            </a:r>
            <a:endParaRPr lang="en-US" sz="1300" dirty="0"/>
          </a:p>
        </p:txBody>
      </p:sp>
      <p:sp>
        <p:nvSpPr>
          <p:cNvPr id="16" name="Text 11"/>
          <p:cNvSpPr/>
          <p:nvPr/>
        </p:nvSpPr>
        <p:spPr>
          <a:xfrm>
            <a:off x="7077456" y="3493008"/>
            <a:ext cx="4215384" cy="621792"/>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우리 수업의 엔진 — 코드를 생성하는 생성형 AI</a:t>
            </a:r>
            <a:endParaRPr lang="en-US" sz="1100" dirty="0"/>
          </a:p>
        </p:txBody>
      </p:sp>
      <p:sp>
        <p:nvSpPr>
          <p:cNvPr id="17" name="Shape 12"/>
          <p:cNvSpPr/>
          <p:nvPr/>
        </p:nvSpPr>
        <p:spPr>
          <a:xfrm>
            <a:off x="6400800" y="4114800"/>
            <a:ext cx="457200" cy="457200"/>
          </a:xfrm>
          <a:prstGeom prst="ellipse">
            <a:avLst/>
          </a:prstGeom>
          <a:solidFill>
            <a:srgbClr val="10B981"/>
          </a:solidFill>
          <a:ln/>
        </p:spPr>
      </p:sp>
      <p:pic>
        <p:nvPicPr>
          <p:cNvPr id="18" name="Image 3" descr="/home/claude/icons/code_white.png">    </p:cNvPr>
          <p:cNvPicPr>
            <a:picLocks noChangeAspect="1"/>
          </p:cNvPicPr>
          <p:nvPr/>
        </p:nvPicPr>
        <p:blipFill>
          <a:blip r:embed="rId4"/>
          <a:stretch>
            <a:fillRect/>
          </a:stretch>
        </p:blipFill>
        <p:spPr>
          <a:xfrm>
            <a:off x="6515100" y="4229100"/>
            <a:ext cx="228600" cy="228600"/>
          </a:xfrm>
          <a:prstGeom prst="rect">
            <a:avLst/>
          </a:prstGeom>
        </p:spPr>
      </p:pic>
      <p:sp>
        <p:nvSpPr>
          <p:cNvPr id="19" name="Text 13"/>
          <p:cNvSpPr/>
          <p:nvPr/>
        </p:nvSpPr>
        <p:spPr>
          <a:xfrm>
            <a:off x="7077456" y="4078224"/>
            <a:ext cx="4215384" cy="274320"/>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VS Code + Cline</a:t>
            </a:r>
            <a:endParaRPr lang="en-US" sz="1300" dirty="0"/>
          </a:p>
        </p:txBody>
      </p:sp>
      <p:sp>
        <p:nvSpPr>
          <p:cNvPr id="20" name="Text 14"/>
          <p:cNvSpPr/>
          <p:nvPr/>
        </p:nvSpPr>
        <p:spPr>
          <a:xfrm>
            <a:off x="7077456" y="4352544"/>
            <a:ext cx="4215384" cy="621792"/>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에디터 속 코딩 에이전트 — 지시하면 파일을 만들고 고침</a:t>
            </a:r>
            <a:endParaRPr lang="en-US" sz="1100" dirty="0"/>
          </a:p>
        </p:txBody>
      </p:sp>
      <p:sp>
        <p:nvSpPr>
          <p:cNvPr id="21" name="Shape 15"/>
          <p:cNvSpPr/>
          <p:nvPr/>
        </p:nvSpPr>
        <p:spPr>
          <a:xfrm>
            <a:off x="6400800" y="4974336"/>
            <a:ext cx="457200" cy="457200"/>
          </a:xfrm>
          <a:prstGeom prst="ellipse">
            <a:avLst/>
          </a:prstGeom>
          <a:solidFill>
            <a:srgbClr val="17163A"/>
          </a:solidFill>
          <a:ln/>
        </p:spPr>
      </p:sp>
      <p:pic>
        <p:nvPicPr>
          <p:cNvPr id="22" name="Image 4" descr="/home/claude/icons/github_white.png">    </p:cNvPr>
          <p:cNvPicPr>
            <a:picLocks noChangeAspect="1"/>
          </p:cNvPicPr>
          <p:nvPr/>
        </p:nvPicPr>
        <p:blipFill>
          <a:blip r:embed="rId5"/>
          <a:stretch>
            <a:fillRect/>
          </a:stretch>
        </p:blipFill>
        <p:spPr>
          <a:xfrm>
            <a:off x="6515100" y="5088636"/>
            <a:ext cx="228600" cy="228600"/>
          </a:xfrm>
          <a:prstGeom prst="rect">
            <a:avLst/>
          </a:prstGeom>
        </p:spPr>
      </p:pic>
      <p:sp>
        <p:nvSpPr>
          <p:cNvPr id="23" name="Text 16"/>
          <p:cNvSpPr/>
          <p:nvPr/>
        </p:nvSpPr>
        <p:spPr>
          <a:xfrm>
            <a:off x="7077456" y="4937760"/>
            <a:ext cx="4215384" cy="274320"/>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GitHub</a:t>
            </a:r>
            <a:endParaRPr lang="en-US" sz="1300" dirty="0"/>
          </a:p>
        </p:txBody>
      </p:sp>
      <p:sp>
        <p:nvSpPr>
          <p:cNvPr id="24" name="Text 17"/>
          <p:cNvSpPr/>
          <p:nvPr/>
        </p:nvSpPr>
        <p:spPr>
          <a:xfrm>
            <a:off x="7077456" y="5212080"/>
            <a:ext cx="4215384" cy="621792"/>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모든 결과물의 기록·제출·협업 장소 (오늘 시작)</a:t>
            </a:r>
            <a:endParaRPr lang="en-US" sz="1100" dirty="0"/>
          </a:p>
        </p:txBody>
      </p:sp>
      <p:sp>
        <p:nvSpPr>
          <p:cNvPr id="25" name="Text 18"/>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199132" cy="384048"/>
          </a:xfrm>
          <a:prstGeom prst="roundRect">
            <a:avLst>
              <a:gd name="adj" fmla="val 50000"/>
            </a:avLst>
          </a:prstGeom>
          <a:solidFill>
            <a:srgbClr val="EDECFB"/>
          </a:solidFill>
          <a:ln/>
        </p:spPr>
      </p:sp>
      <p:pic>
        <p:nvPicPr>
          <p:cNvPr id="3" name="Image 0" descr="/home/claude/icons/flag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815084"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오리엔테이션</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한 학기 로드맵</a:t>
            </a:r>
            <a:endParaRPr lang="en-US" sz="2600" dirty="0"/>
          </a:p>
        </p:txBody>
      </p:sp>
      <p:sp>
        <p:nvSpPr>
          <p:cNvPr id="6" name="Shape 3"/>
          <p:cNvSpPr/>
          <p:nvPr/>
        </p:nvSpPr>
        <p:spPr>
          <a:xfrm>
            <a:off x="658368" y="1737360"/>
            <a:ext cx="3931920" cy="2788920"/>
          </a:xfrm>
          <a:prstGeom prst="roundRect">
            <a:avLst>
              <a:gd name="adj" fmla="val 3279"/>
            </a:avLst>
          </a:prstGeom>
          <a:solidFill>
            <a:srgbClr val="FFFFFF"/>
          </a:solidFill>
          <a:ln/>
          <a:effectLst>
            <a:outerShdw sx="100000" sy="100000" kx="0" ky="0" algn="bl" rotWithShape="0" blurRad="152400" dist="25400" dir="5400000">
              <a:srgbClr val="1F1D48">
                <a:alpha val="16000"/>
              </a:srgbClr>
            </a:outerShdw>
          </a:effectLst>
        </p:spPr>
      </p:sp>
      <p:sp>
        <p:nvSpPr>
          <p:cNvPr id="7" name="Shape 4"/>
          <p:cNvSpPr/>
          <p:nvPr/>
        </p:nvSpPr>
        <p:spPr>
          <a:xfrm>
            <a:off x="859536" y="1938528"/>
            <a:ext cx="457200" cy="457200"/>
          </a:xfrm>
          <a:prstGeom prst="ellipse">
            <a:avLst/>
          </a:prstGeom>
          <a:solidFill>
            <a:srgbClr val="4F46E5"/>
          </a:solidFill>
          <a:ln/>
        </p:spPr>
      </p:sp>
      <p:pic>
        <p:nvPicPr>
          <p:cNvPr id="8" name="Image 1" descr="/home/claude/icons/seedling_white.png">    </p:cNvPr>
          <p:cNvPicPr>
            <a:picLocks noChangeAspect="1"/>
          </p:cNvPicPr>
          <p:nvPr/>
        </p:nvPicPr>
        <p:blipFill>
          <a:blip r:embed="rId2"/>
          <a:stretch>
            <a:fillRect/>
          </a:stretch>
        </p:blipFill>
        <p:spPr>
          <a:xfrm>
            <a:off x="973836" y="2052828"/>
            <a:ext cx="228600" cy="228600"/>
          </a:xfrm>
          <a:prstGeom prst="rect">
            <a:avLst/>
          </a:prstGeom>
        </p:spPr>
      </p:pic>
      <p:sp>
        <p:nvSpPr>
          <p:cNvPr id="9" name="Text 5"/>
          <p:cNvSpPr/>
          <p:nvPr/>
        </p:nvSpPr>
        <p:spPr>
          <a:xfrm>
            <a:off x="859536" y="2505456"/>
            <a:ext cx="3529584"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1 – 7주</a:t>
            </a:r>
            <a:endParaRPr lang="en-US" sz="1350" dirty="0"/>
          </a:p>
        </p:txBody>
      </p:sp>
      <p:sp>
        <p:nvSpPr>
          <p:cNvPr id="10" name="Text 6"/>
          <p:cNvSpPr/>
          <p:nvPr/>
        </p:nvSpPr>
        <p:spPr>
          <a:xfrm>
            <a:off x="859536" y="2779776"/>
            <a:ext cx="3529584" cy="237744"/>
          </a:xfrm>
          <a:prstGeom prst="rect">
            <a:avLst/>
          </a:prstGeom>
          <a:noFill/>
          <a:ln/>
        </p:spPr>
        <p:txBody>
          <a:bodyPr wrap="square" lIns="0" tIns="0" rIns="0" bIns="0" rtlCol="0" anchor="ctr"/>
          <a:lstStyle/>
          <a:p>
            <a:pPr indent="0" marL="0">
              <a:buNone/>
            </a:pPr>
            <a:r>
              <a:rPr lang="en-US" sz="1050" b="1" dirty="0">
                <a:solidFill>
                  <a:srgbClr val="4F46E5"/>
                </a:solidFill>
                <a:latin typeface="Malgun Gothic" pitchFamily="34" charset="0"/>
                <a:ea typeface="Malgun Gothic" pitchFamily="34" charset="-122"/>
                <a:cs typeface="Malgun Gothic" pitchFamily="34" charset="-120"/>
              </a:rPr>
              <a:t>기초와 언어</a:t>
            </a:r>
            <a:endParaRPr lang="en-US" sz="1050" dirty="0"/>
          </a:p>
        </p:txBody>
      </p:sp>
      <p:sp>
        <p:nvSpPr>
          <p:cNvPr id="11" name="Text 7"/>
          <p:cNvSpPr/>
          <p:nvPr/>
        </p:nvSpPr>
        <p:spPr>
          <a:xfrm>
            <a:off x="859536" y="3145536"/>
            <a:ext cx="3529584" cy="1298448"/>
          </a:xfrm>
          <a:prstGeom prst="rect">
            <a:avLst/>
          </a:prstGeom>
          <a:noFill/>
          <a:ln/>
        </p:spPr>
        <p:txBody>
          <a:bodyPr wrap="square" lIns="0" tIns="0" rIns="0" bIns="0" rtlCol="0" anchor="t"/>
          <a:lstStyle/>
          <a:p>
            <a:pPr indent="0" marL="0">
              <a:lnSpc>
                <a:spcPts val="1500"/>
              </a:lnSpc>
              <a:buNone/>
            </a:pPr>
            <a:r>
              <a:rPr lang="en-US" sz="1050" dirty="0">
                <a:solidFill>
                  <a:srgbClr val="3C3B57"/>
                </a:solidFill>
                <a:latin typeface="Malgun Gothic" pitchFamily="34" charset="0"/>
                <a:ea typeface="Malgun Gothic" pitchFamily="34" charset="-122"/>
                <a:cs typeface="Malgun Gothic" pitchFamily="34" charset="-120"/>
              </a:rPr>
              <a:t>환경 구축(1–2주), 생성형 AI 이해와 지시문 작성(3–4주), 요구사항 정의(5주), 설계(6주), 명세 기반 구현 — 지시하고 받아내기(7주)</a:t>
            </a:r>
            <a:endParaRPr lang="en-US" sz="1050" dirty="0"/>
          </a:p>
        </p:txBody>
      </p:sp>
      <p:sp>
        <p:nvSpPr>
          <p:cNvPr id="12" name="Shape 8"/>
          <p:cNvSpPr/>
          <p:nvPr/>
        </p:nvSpPr>
        <p:spPr>
          <a:xfrm>
            <a:off x="4809744" y="1737360"/>
            <a:ext cx="1508760" cy="2788920"/>
          </a:xfrm>
          <a:prstGeom prst="roundRect">
            <a:avLst>
              <a:gd name="adj" fmla="val 6061"/>
            </a:avLst>
          </a:prstGeom>
          <a:solidFill>
            <a:srgbClr val="FFFFFF"/>
          </a:solidFill>
          <a:ln/>
          <a:effectLst>
            <a:outerShdw sx="100000" sy="100000" kx="0" ky="0" algn="bl" rotWithShape="0" blurRad="152400" dist="25400" dir="5400000">
              <a:srgbClr val="1F1D48">
                <a:alpha val="16000"/>
              </a:srgbClr>
            </a:outerShdw>
          </a:effectLst>
        </p:spPr>
      </p:sp>
      <p:sp>
        <p:nvSpPr>
          <p:cNvPr id="13" name="Shape 9"/>
          <p:cNvSpPr/>
          <p:nvPr/>
        </p:nvSpPr>
        <p:spPr>
          <a:xfrm>
            <a:off x="5010912" y="1938528"/>
            <a:ext cx="457200" cy="457200"/>
          </a:xfrm>
          <a:prstGeom prst="ellipse">
            <a:avLst/>
          </a:prstGeom>
          <a:solidFill>
            <a:srgbClr val="F59E0B"/>
          </a:solidFill>
          <a:ln/>
        </p:spPr>
      </p:sp>
      <p:pic>
        <p:nvPicPr>
          <p:cNvPr id="14" name="Image 2" descr="/home/claude/icons/edit_white.png">    </p:cNvPr>
          <p:cNvPicPr>
            <a:picLocks noChangeAspect="1"/>
          </p:cNvPicPr>
          <p:nvPr/>
        </p:nvPicPr>
        <p:blipFill>
          <a:blip r:embed="rId3"/>
          <a:stretch>
            <a:fillRect/>
          </a:stretch>
        </p:blipFill>
        <p:spPr>
          <a:xfrm>
            <a:off x="5125212" y="2052828"/>
            <a:ext cx="228600" cy="228600"/>
          </a:xfrm>
          <a:prstGeom prst="rect">
            <a:avLst/>
          </a:prstGeom>
        </p:spPr>
      </p:pic>
      <p:sp>
        <p:nvSpPr>
          <p:cNvPr id="15" name="Text 10"/>
          <p:cNvSpPr/>
          <p:nvPr/>
        </p:nvSpPr>
        <p:spPr>
          <a:xfrm>
            <a:off x="5010912" y="2505456"/>
            <a:ext cx="1106424"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8주</a:t>
            </a:r>
            <a:endParaRPr lang="en-US" sz="1350" dirty="0"/>
          </a:p>
        </p:txBody>
      </p:sp>
      <p:sp>
        <p:nvSpPr>
          <p:cNvPr id="16" name="Text 11"/>
          <p:cNvSpPr/>
          <p:nvPr/>
        </p:nvSpPr>
        <p:spPr>
          <a:xfrm>
            <a:off x="5010912" y="2779776"/>
            <a:ext cx="1106424" cy="237744"/>
          </a:xfrm>
          <a:prstGeom prst="rect">
            <a:avLst/>
          </a:prstGeom>
          <a:noFill/>
          <a:ln/>
        </p:spPr>
        <p:txBody>
          <a:bodyPr wrap="square" lIns="0" tIns="0" rIns="0" bIns="0" rtlCol="0" anchor="ctr"/>
          <a:lstStyle/>
          <a:p>
            <a:pPr indent="0" marL="0">
              <a:buNone/>
            </a:pPr>
            <a:r>
              <a:rPr lang="en-US" sz="1050" b="1" dirty="0">
                <a:solidFill>
                  <a:srgbClr val="F59E0B"/>
                </a:solidFill>
                <a:latin typeface="Malgun Gothic" pitchFamily="34" charset="0"/>
                <a:ea typeface="Malgun Gothic" pitchFamily="34" charset="-122"/>
                <a:cs typeface="Malgun Gothic" pitchFamily="34" charset="-120"/>
              </a:rPr>
              <a:t>중간고사</a:t>
            </a:r>
            <a:endParaRPr lang="en-US" sz="1050" dirty="0"/>
          </a:p>
        </p:txBody>
      </p:sp>
      <p:sp>
        <p:nvSpPr>
          <p:cNvPr id="17" name="Text 12"/>
          <p:cNvSpPr/>
          <p:nvPr/>
        </p:nvSpPr>
        <p:spPr>
          <a:xfrm>
            <a:off x="5010912" y="3145536"/>
            <a:ext cx="1106424" cy="1298448"/>
          </a:xfrm>
          <a:prstGeom prst="rect">
            <a:avLst/>
          </a:prstGeom>
          <a:noFill/>
          <a:ln/>
        </p:spPr>
        <p:txBody>
          <a:bodyPr wrap="square" lIns="0" tIns="0" rIns="0" bIns="0" rtlCol="0" anchor="t"/>
          <a:lstStyle/>
          <a:p>
            <a:pPr indent="0" marL="0">
              <a:lnSpc>
                <a:spcPts val="1500"/>
              </a:lnSpc>
              <a:buNone/>
            </a:pPr>
            <a:r>
              <a:rPr lang="en-US" sz="1050" dirty="0">
                <a:solidFill>
                  <a:srgbClr val="3C3B57"/>
                </a:solidFill>
                <a:latin typeface="Malgun Gothic" pitchFamily="34" charset="0"/>
                <a:ea typeface="Malgun Gothic" pitchFamily="34" charset="-122"/>
                <a:cs typeface="Malgun Gothic" pitchFamily="34" charset="-120"/>
              </a:rPr>
              <a:t>1–7주 개념과 실습을 평가 범위로</a:t>
            </a:r>
            <a:endParaRPr lang="en-US" sz="1050" dirty="0"/>
          </a:p>
        </p:txBody>
      </p:sp>
      <p:sp>
        <p:nvSpPr>
          <p:cNvPr id="18" name="Shape 13"/>
          <p:cNvSpPr/>
          <p:nvPr/>
        </p:nvSpPr>
        <p:spPr>
          <a:xfrm>
            <a:off x="6537960" y="1737360"/>
            <a:ext cx="3246120" cy="2788920"/>
          </a:xfrm>
          <a:prstGeom prst="roundRect">
            <a:avLst>
              <a:gd name="adj" fmla="val 3279"/>
            </a:avLst>
          </a:prstGeom>
          <a:solidFill>
            <a:srgbClr val="FFFFFF"/>
          </a:solidFill>
          <a:ln/>
          <a:effectLst>
            <a:outerShdw sx="100000" sy="100000" kx="0" ky="0" algn="bl" rotWithShape="0" blurRad="152400" dist="25400" dir="5400000">
              <a:srgbClr val="1F1D48">
                <a:alpha val="16000"/>
              </a:srgbClr>
            </a:outerShdw>
          </a:effectLst>
        </p:spPr>
      </p:sp>
      <p:sp>
        <p:nvSpPr>
          <p:cNvPr id="19" name="Shape 14"/>
          <p:cNvSpPr/>
          <p:nvPr/>
        </p:nvSpPr>
        <p:spPr>
          <a:xfrm>
            <a:off x="6739128" y="1938528"/>
            <a:ext cx="457200" cy="457200"/>
          </a:xfrm>
          <a:prstGeom prst="ellipse">
            <a:avLst/>
          </a:prstGeom>
          <a:solidFill>
            <a:srgbClr val="7C3AED"/>
          </a:solidFill>
          <a:ln/>
        </p:spPr>
      </p:sp>
      <p:pic>
        <p:nvPicPr>
          <p:cNvPr id="20" name="Image 3" descr="/home/claude/icons/gear_white.png">    </p:cNvPr>
          <p:cNvPicPr>
            <a:picLocks noChangeAspect="1"/>
          </p:cNvPicPr>
          <p:nvPr/>
        </p:nvPicPr>
        <p:blipFill>
          <a:blip r:embed="rId4"/>
          <a:stretch>
            <a:fillRect/>
          </a:stretch>
        </p:blipFill>
        <p:spPr>
          <a:xfrm>
            <a:off x="6853428" y="2052828"/>
            <a:ext cx="228600" cy="228600"/>
          </a:xfrm>
          <a:prstGeom prst="rect">
            <a:avLst/>
          </a:prstGeom>
        </p:spPr>
      </p:pic>
      <p:sp>
        <p:nvSpPr>
          <p:cNvPr id="21" name="Text 15"/>
          <p:cNvSpPr/>
          <p:nvPr/>
        </p:nvSpPr>
        <p:spPr>
          <a:xfrm>
            <a:off x="6739128" y="2505456"/>
            <a:ext cx="2843784"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9 – 13주</a:t>
            </a:r>
            <a:endParaRPr lang="en-US" sz="1350" dirty="0"/>
          </a:p>
        </p:txBody>
      </p:sp>
      <p:sp>
        <p:nvSpPr>
          <p:cNvPr id="22" name="Text 16"/>
          <p:cNvSpPr/>
          <p:nvPr/>
        </p:nvSpPr>
        <p:spPr>
          <a:xfrm>
            <a:off x="6739128" y="2779776"/>
            <a:ext cx="2843784" cy="237744"/>
          </a:xfrm>
          <a:prstGeom prst="rect">
            <a:avLst/>
          </a:prstGeom>
          <a:noFill/>
          <a:ln/>
        </p:spPr>
        <p:txBody>
          <a:bodyPr wrap="square" lIns="0" tIns="0" rIns="0" bIns="0" rtlCol="0" anchor="ctr"/>
          <a:lstStyle/>
          <a:p>
            <a:pPr indent="0" marL="0">
              <a:buNone/>
            </a:pPr>
            <a:r>
              <a:rPr lang="en-US" sz="1050" b="1" dirty="0">
                <a:solidFill>
                  <a:srgbClr val="7C3AED"/>
                </a:solidFill>
                <a:latin typeface="Malgun Gothic" pitchFamily="34" charset="0"/>
                <a:ea typeface="Malgun Gothic" pitchFamily="34" charset="-122"/>
                <a:cs typeface="Malgun Gothic" pitchFamily="34" charset="-120"/>
              </a:rPr>
              <a:t>품질과 운영</a:t>
            </a:r>
            <a:endParaRPr lang="en-US" sz="1050" dirty="0"/>
          </a:p>
        </p:txBody>
      </p:sp>
      <p:sp>
        <p:nvSpPr>
          <p:cNvPr id="23" name="Text 17"/>
          <p:cNvSpPr/>
          <p:nvPr/>
        </p:nvSpPr>
        <p:spPr>
          <a:xfrm>
            <a:off x="6739128" y="3145536"/>
            <a:ext cx="2843784" cy="1298448"/>
          </a:xfrm>
          <a:prstGeom prst="rect">
            <a:avLst/>
          </a:prstGeom>
          <a:noFill/>
          <a:ln/>
        </p:spPr>
        <p:txBody>
          <a:bodyPr wrap="square" lIns="0" tIns="0" rIns="0" bIns="0" rtlCol="0" anchor="t"/>
          <a:lstStyle/>
          <a:p>
            <a:pPr indent="0" marL="0">
              <a:lnSpc>
                <a:spcPts val="1500"/>
              </a:lnSpc>
              <a:buNone/>
            </a:pPr>
            <a:r>
              <a:rPr lang="en-US" sz="1050" dirty="0">
                <a:solidFill>
                  <a:srgbClr val="3C3B57"/>
                </a:solidFill>
                <a:latin typeface="Malgun Gothic" pitchFamily="34" charset="0"/>
                <a:ea typeface="Malgun Gothic" pitchFamily="34" charset="-122"/>
                <a:cs typeface="Malgun Gothic" pitchFamily="34" charset="-120"/>
              </a:rPr>
              <a:t>테스트 설계(9주), 결함 수정·유지보수(10주), 배포와 CI(11주), 코딩 에이전트 자동화(12주), 품질·보안·윤리(13주)</a:t>
            </a:r>
            <a:endParaRPr lang="en-US" sz="1050" dirty="0"/>
          </a:p>
        </p:txBody>
      </p:sp>
      <p:sp>
        <p:nvSpPr>
          <p:cNvPr id="24" name="Shape 18"/>
          <p:cNvSpPr/>
          <p:nvPr/>
        </p:nvSpPr>
        <p:spPr>
          <a:xfrm>
            <a:off x="10003536" y="1737360"/>
            <a:ext cx="1527048" cy="2788920"/>
          </a:xfrm>
          <a:prstGeom prst="roundRect">
            <a:avLst>
              <a:gd name="adj" fmla="val 5988"/>
            </a:avLst>
          </a:prstGeom>
          <a:solidFill>
            <a:srgbClr val="FFFFFF"/>
          </a:solidFill>
          <a:ln/>
          <a:effectLst>
            <a:outerShdw sx="100000" sy="100000" kx="0" ky="0" algn="bl" rotWithShape="0" blurRad="152400" dist="25400" dir="5400000">
              <a:srgbClr val="1F1D48">
                <a:alpha val="16000"/>
              </a:srgbClr>
            </a:outerShdw>
          </a:effectLst>
        </p:spPr>
      </p:sp>
      <p:sp>
        <p:nvSpPr>
          <p:cNvPr id="25" name="Shape 19"/>
          <p:cNvSpPr/>
          <p:nvPr/>
        </p:nvSpPr>
        <p:spPr>
          <a:xfrm>
            <a:off x="10204704" y="1938528"/>
            <a:ext cx="457200" cy="457200"/>
          </a:xfrm>
          <a:prstGeom prst="ellipse">
            <a:avLst/>
          </a:prstGeom>
          <a:solidFill>
            <a:srgbClr val="10B981"/>
          </a:solidFill>
          <a:ln/>
        </p:spPr>
      </p:sp>
      <p:pic>
        <p:nvPicPr>
          <p:cNvPr id="26" name="Image 4" descr="/home/claude/icons/trophy_white.png">    </p:cNvPr>
          <p:cNvPicPr>
            <a:picLocks noChangeAspect="1"/>
          </p:cNvPicPr>
          <p:nvPr/>
        </p:nvPicPr>
        <p:blipFill>
          <a:blip r:embed="rId5"/>
          <a:stretch>
            <a:fillRect/>
          </a:stretch>
        </p:blipFill>
        <p:spPr>
          <a:xfrm>
            <a:off x="10319004" y="2052828"/>
            <a:ext cx="228600" cy="228600"/>
          </a:xfrm>
          <a:prstGeom prst="rect">
            <a:avLst/>
          </a:prstGeom>
        </p:spPr>
      </p:pic>
      <p:sp>
        <p:nvSpPr>
          <p:cNvPr id="27" name="Text 20"/>
          <p:cNvSpPr/>
          <p:nvPr/>
        </p:nvSpPr>
        <p:spPr>
          <a:xfrm>
            <a:off x="10204704" y="2505456"/>
            <a:ext cx="1124712"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14 – 16주</a:t>
            </a:r>
            <a:endParaRPr lang="en-US" sz="1350" dirty="0"/>
          </a:p>
        </p:txBody>
      </p:sp>
      <p:sp>
        <p:nvSpPr>
          <p:cNvPr id="28" name="Text 21"/>
          <p:cNvSpPr/>
          <p:nvPr/>
        </p:nvSpPr>
        <p:spPr>
          <a:xfrm>
            <a:off x="10204704" y="2779776"/>
            <a:ext cx="1124712" cy="237744"/>
          </a:xfrm>
          <a:prstGeom prst="rect">
            <a:avLst/>
          </a:prstGeom>
          <a:noFill/>
          <a:ln/>
        </p:spPr>
        <p:txBody>
          <a:bodyPr wrap="square" lIns="0" tIns="0" rIns="0" bIns="0" rtlCol="0" anchor="ctr"/>
          <a:lstStyle/>
          <a:p>
            <a:pPr indent="0" marL="0">
              <a:buNone/>
            </a:pPr>
            <a:r>
              <a:rPr lang="en-US" sz="1050" b="1" dirty="0">
                <a:solidFill>
                  <a:srgbClr val="10B981"/>
                </a:solidFill>
                <a:latin typeface="Malgun Gothic" pitchFamily="34" charset="0"/>
                <a:ea typeface="Malgun Gothic" pitchFamily="34" charset="-122"/>
                <a:cs typeface="Malgun Gothic" pitchFamily="34" charset="-120"/>
              </a:rPr>
              <a:t>발표·마무리</a:t>
            </a:r>
            <a:endParaRPr lang="en-US" sz="1050" dirty="0"/>
          </a:p>
        </p:txBody>
      </p:sp>
      <p:sp>
        <p:nvSpPr>
          <p:cNvPr id="29" name="Text 22"/>
          <p:cNvSpPr/>
          <p:nvPr/>
        </p:nvSpPr>
        <p:spPr>
          <a:xfrm>
            <a:off x="10204704" y="3145536"/>
            <a:ext cx="1124712" cy="1298448"/>
          </a:xfrm>
          <a:prstGeom prst="rect">
            <a:avLst/>
          </a:prstGeom>
          <a:noFill/>
          <a:ln/>
        </p:spPr>
        <p:txBody>
          <a:bodyPr wrap="square" lIns="0" tIns="0" rIns="0" bIns="0" rtlCol="0" anchor="t"/>
          <a:lstStyle/>
          <a:p>
            <a:pPr indent="0" marL="0">
              <a:lnSpc>
                <a:spcPts val="1500"/>
              </a:lnSpc>
              <a:buNone/>
            </a:pPr>
            <a:r>
              <a:rPr lang="en-US" sz="1050" dirty="0">
                <a:solidFill>
                  <a:srgbClr val="3C3B57"/>
                </a:solidFill>
                <a:latin typeface="Malgun Gothic" pitchFamily="34" charset="0"/>
                <a:ea typeface="Malgun Gothic" pitchFamily="34" charset="-122"/>
                <a:cs typeface="Malgun Gothic" pitchFamily="34" charset="-120"/>
              </a:rPr>
              <a:t>발표·시연(14), 보강(15), 총정리·회고(16)</a:t>
            </a:r>
            <a:endParaRPr lang="en-US" sz="1050" dirty="0"/>
          </a:p>
        </p:txBody>
      </p:sp>
      <p:sp>
        <p:nvSpPr>
          <p:cNvPr id="30" name="Shape 23"/>
          <p:cNvSpPr/>
          <p:nvPr/>
        </p:nvSpPr>
        <p:spPr>
          <a:xfrm>
            <a:off x="658368" y="4800600"/>
            <a:ext cx="10872216" cy="713232"/>
          </a:xfrm>
          <a:prstGeom prst="roundRect">
            <a:avLst>
              <a:gd name="adj" fmla="val 12821"/>
            </a:avLst>
          </a:prstGeom>
          <a:solidFill>
            <a:srgbClr val="EEF0FF"/>
          </a:solidFill>
          <a:ln/>
        </p:spPr>
      </p:sp>
      <p:sp>
        <p:nvSpPr>
          <p:cNvPr id="31" name="Shape 24"/>
          <p:cNvSpPr/>
          <p:nvPr/>
        </p:nvSpPr>
        <p:spPr>
          <a:xfrm>
            <a:off x="877824" y="4919472"/>
            <a:ext cx="475488" cy="475488"/>
          </a:xfrm>
          <a:prstGeom prst="ellipse">
            <a:avLst/>
          </a:prstGeom>
          <a:solidFill>
            <a:srgbClr val="4F46E5"/>
          </a:solidFill>
          <a:ln/>
        </p:spPr>
      </p:sp>
      <p:pic>
        <p:nvPicPr>
          <p:cNvPr id="32" name="Image 5" descr="/home/claude/icons/tasks_white.png">    </p:cNvPr>
          <p:cNvPicPr>
            <a:picLocks noChangeAspect="1"/>
          </p:cNvPicPr>
          <p:nvPr/>
        </p:nvPicPr>
        <p:blipFill>
          <a:blip r:embed="rId6"/>
          <a:stretch>
            <a:fillRect/>
          </a:stretch>
        </p:blipFill>
        <p:spPr>
          <a:xfrm>
            <a:off x="996696" y="5038344"/>
            <a:ext cx="237744" cy="237744"/>
          </a:xfrm>
          <a:prstGeom prst="rect">
            <a:avLst/>
          </a:prstGeom>
        </p:spPr>
      </p:pic>
      <p:sp>
        <p:nvSpPr>
          <p:cNvPr id="33" name="Text 25"/>
          <p:cNvSpPr/>
          <p:nvPr/>
        </p:nvSpPr>
        <p:spPr>
          <a:xfrm>
            <a:off x="1554480" y="4892040"/>
            <a:ext cx="9738360" cy="530352"/>
          </a:xfrm>
          <a:prstGeom prst="rect">
            <a:avLst/>
          </a:prstGeom>
          <a:noFill/>
          <a:ln/>
        </p:spPr>
        <p:txBody>
          <a:bodyPr wrap="square" lIns="0" tIns="0" rIns="0" bIns="0" rtlCol="0" anchor="ctr"/>
          <a:lstStyle/>
          <a:p>
            <a:pPr indent="0" marL="0">
              <a:lnSpc>
                <a:spcPts val="1562"/>
              </a:lnSpc>
              <a:buNone/>
            </a:pPr>
            <a:r>
              <a:rPr lang="en-US" sz="1250" b="1" dirty="0">
                <a:solidFill>
                  <a:srgbClr val="1E1B3A"/>
                </a:solidFill>
                <a:latin typeface="Malgun Gothic" pitchFamily="34" charset="0"/>
                <a:ea typeface="Malgun Gothic" pitchFamily="34" charset="-122"/>
                <a:cs typeface="Malgun Gothic" pitchFamily="34" charset="-120"/>
              </a:rPr>
              <a:t>과제와 팀 프로젝트
</a:t>
            </a:r>
            <a:pPr indent="0" marL="0">
              <a:lnSpc>
                <a:spcPts val="1562"/>
              </a:lnSpc>
              <a:buNone/>
            </a:pPr>
            <a:r>
              <a:rPr lang="en-US" sz="1100" dirty="0">
                <a:solidFill>
                  <a:srgbClr val="3C3B57"/>
                </a:solidFill>
                <a:latin typeface="Malgun Gothic" pitchFamily="34" charset="0"/>
                <a:ea typeface="Malgun Gothic" pitchFamily="34" charset="-122"/>
                <a:cs typeface="Malgun Gothic" pitchFamily="34" charset="-120"/>
              </a:rPr>
              <a:t>개인 과제는 3·7·9주에 나갑니다. 팀 프로젝트는 5주차에 주제를 정해 학기 내내 키워서 14주차에 배포된 주소로 시연합니다.</a:t>
            </a:r>
            <a:endParaRPr lang="en-US" sz="1250" dirty="0"/>
          </a:p>
        </p:txBody>
      </p:sp>
      <p:sp>
        <p:nvSpPr>
          <p:cNvPr id="34" name="Text 26"/>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199132" cy="384048"/>
          </a:xfrm>
          <a:prstGeom prst="roundRect">
            <a:avLst>
              <a:gd name="adj" fmla="val 50000"/>
            </a:avLst>
          </a:prstGeom>
          <a:solidFill>
            <a:srgbClr val="EDECFB"/>
          </a:solidFill>
          <a:ln/>
        </p:spPr>
      </p:sp>
      <p:pic>
        <p:nvPicPr>
          <p:cNvPr id="3" name="Image 0" descr="/home/claude/icons/flag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815084"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오리엔테이션</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매주 이렇게 진행합니다</a:t>
            </a:r>
            <a:endParaRPr lang="en-US" sz="2600" dirty="0"/>
          </a:p>
        </p:txBody>
      </p:sp>
      <p:sp>
        <p:nvSpPr>
          <p:cNvPr id="6" name="Shape 3"/>
          <p:cNvSpPr/>
          <p:nvPr/>
        </p:nvSpPr>
        <p:spPr>
          <a:xfrm>
            <a:off x="658368" y="1828800"/>
            <a:ext cx="457200" cy="457200"/>
          </a:xfrm>
          <a:prstGeom prst="ellipse">
            <a:avLst/>
          </a:prstGeom>
          <a:solidFill>
            <a:srgbClr val="4F46E5"/>
          </a:solidFill>
          <a:ln/>
        </p:spPr>
      </p:sp>
      <p:pic>
        <p:nvPicPr>
          <p:cNvPr id="7" name="Image 1" descr="/home/claude/icons/clock_white.png">    </p:cNvPr>
          <p:cNvPicPr>
            <a:picLocks noChangeAspect="1"/>
          </p:cNvPicPr>
          <p:nvPr/>
        </p:nvPicPr>
        <p:blipFill>
          <a:blip r:embed="rId2"/>
          <a:stretch>
            <a:fillRect/>
          </a:stretch>
        </p:blipFill>
        <p:spPr>
          <a:xfrm>
            <a:off x="772668" y="1943100"/>
            <a:ext cx="228600" cy="228600"/>
          </a:xfrm>
          <a:prstGeom prst="rect">
            <a:avLst/>
          </a:prstGeom>
        </p:spPr>
      </p:pic>
      <p:sp>
        <p:nvSpPr>
          <p:cNvPr id="8" name="Text 4"/>
          <p:cNvSpPr/>
          <p:nvPr/>
        </p:nvSpPr>
        <p:spPr>
          <a:xfrm>
            <a:off x="1335024" y="1792224"/>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개념 강의 + 실습이 한 세트</a:t>
            </a:r>
            <a:endParaRPr lang="en-US" sz="1400" dirty="0"/>
          </a:p>
        </p:txBody>
      </p:sp>
      <p:sp>
        <p:nvSpPr>
          <p:cNvPr id="9" name="Text 5"/>
          <p:cNvSpPr/>
          <p:nvPr/>
        </p:nvSpPr>
        <p:spPr>
          <a:xfrm>
            <a:off x="1335024" y="2066544"/>
            <a:ext cx="10195560" cy="786384"/>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앞부분은 개념, 뒷부분은 반드시 손으로 해 보는 실습입니다. 실습 결과 확인까지가 그날 수업입니다.</a:t>
            </a:r>
            <a:endParaRPr lang="en-US" sz="1150" dirty="0"/>
          </a:p>
        </p:txBody>
      </p:sp>
      <p:sp>
        <p:nvSpPr>
          <p:cNvPr id="10" name="Shape 6"/>
          <p:cNvSpPr/>
          <p:nvPr/>
        </p:nvSpPr>
        <p:spPr>
          <a:xfrm>
            <a:off x="658368" y="2852928"/>
            <a:ext cx="457200" cy="457200"/>
          </a:xfrm>
          <a:prstGeom prst="ellipse">
            <a:avLst/>
          </a:prstGeom>
          <a:solidFill>
            <a:srgbClr val="7C3AED"/>
          </a:solidFill>
          <a:ln/>
        </p:spPr>
      </p:sp>
      <p:pic>
        <p:nvPicPr>
          <p:cNvPr id="11" name="Image 2" descr="/home/claude/icons/book2_white.png">    </p:cNvPr>
          <p:cNvPicPr>
            <a:picLocks noChangeAspect="1"/>
          </p:cNvPicPr>
          <p:nvPr/>
        </p:nvPicPr>
        <p:blipFill>
          <a:blip r:embed="rId3"/>
          <a:stretch>
            <a:fillRect/>
          </a:stretch>
        </p:blipFill>
        <p:spPr>
          <a:xfrm>
            <a:off x="772668" y="2967228"/>
            <a:ext cx="228600" cy="228600"/>
          </a:xfrm>
          <a:prstGeom prst="rect">
            <a:avLst/>
          </a:prstGeom>
        </p:spPr>
      </p:pic>
      <p:sp>
        <p:nvSpPr>
          <p:cNvPr id="12" name="Text 7"/>
          <p:cNvSpPr/>
          <p:nvPr/>
        </p:nvSpPr>
        <p:spPr>
          <a:xfrm>
            <a:off x="1335024" y="2816352"/>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강의 자료는 전부 자체 제작</a:t>
            </a:r>
            <a:endParaRPr lang="en-US" sz="1400" dirty="0"/>
          </a:p>
        </p:txBody>
      </p:sp>
      <p:sp>
        <p:nvSpPr>
          <p:cNvPr id="13" name="Text 8"/>
          <p:cNvSpPr/>
          <p:nvPr/>
        </p:nvSpPr>
        <p:spPr>
          <a:xfrm>
            <a:off x="1335024" y="3090672"/>
            <a:ext cx="10195560" cy="786384"/>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교재 대신 매주 이 슬라이드와 실습 안내를 LMS에 올립니다. 시험도 이 자료가 기준입니다.</a:t>
            </a:r>
            <a:endParaRPr lang="en-US" sz="1150" dirty="0"/>
          </a:p>
        </p:txBody>
      </p:sp>
      <p:sp>
        <p:nvSpPr>
          <p:cNvPr id="14" name="Shape 9"/>
          <p:cNvSpPr/>
          <p:nvPr/>
        </p:nvSpPr>
        <p:spPr>
          <a:xfrm>
            <a:off x="658368" y="3877056"/>
            <a:ext cx="457200" cy="457200"/>
          </a:xfrm>
          <a:prstGeom prst="ellipse">
            <a:avLst/>
          </a:prstGeom>
          <a:solidFill>
            <a:srgbClr val="F59E0B"/>
          </a:solidFill>
          <a:ln/>
        </p:spPr>
      </p:sp>
      <p:pic>
        <p:nvPicPr>
          <p:cNvPr id="15" name="Image 3" descr="/home/claude/icons/laptop_white.png">    </p:cNvPr>
          <p:cNvPicPr>
            <a:picLocks noChangeAspect="1"/>
          </p:cNvPicPr>
          <p:nvPr/>
        </p:nvPicPr>
        <p:blipFill>
          <a:blip r:embed="rId4"/>
          <a:stretch>
            <a:fillRect/>
          </a:stretch>
        </p:blipFill>
        <p:spPr>
          <a:xfrm>
            <a:off x="772668" y="3991356"/>
            <a:ext cx="228600" cy="228600"/>
          </a:xfrm>
          <a:prstGeom prst="rect">
            <a:avLst/>
          </a:prstGeom>
        </p:spPr>
      </p:pic>
      <p:sp>
        <p:nvSpPr>
          <p:cNvPr id="16" name="Text 10"/>
          <p:cNvSpPr/>
          <p:nvPr/>
        </p:nvSpPr>
        <p:spPr>
          <a:xfrm>
            <a:off x="1335024" y="3840480"/>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노트북 지참 필수</a:t>
            </a:r>
            <a:endParaRPr lang="en-US" sz="1400" dirty="0"/>
          </a:p>
        </p:txBody>
      </p:sp>
      <p:sp>
        <p:nvSpPr>
          <p:cNvPr id="17" name="Text 11"/>
          <p:cNvSpPr/>
          <p:nvPr/>
        </p:nvSpPr>
        <p:spPr>
          <a:xfrm>
            <a:off x="1335024" y="4114800"/>
            <a:ext cx="10195560" cy="786384"/>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매주 본인 노트북으로 실습합니다. 설치와 설정은 오늘 다 같이 하니 빈 노트북이어도 괜찮습니다.</a:t>
            </a:r>
            <a:endParaRPr lang="en-US" sz="1150" dirty="0"/>
          </a:p>
        </p:txBody>
      </p:sp>
      <p:sp>
        <p:nvSpPr>
          <p:cNvPr id="18" name="Shape 12"/>
          <p:cNvSpPr/>
          <p:nvPr/>
        </p:nvSpPr>
        <p:spPr>
          <a:xfrm>
            <a:off x="658368" y="4901184"/>
            <a:ext cx="457200" cy="457200"/>
          </a:xfrm>
          <a:prstGeom prst="ellipse">
            <a:avLst/>
          </a:prstGeom>
          <a:solidFill>
            <a:srgbClr val="10B981"/>
          </a:solidFill>
          <a:ln/>
        </p:spPr>
      </p:sp>
      <p:pic>
        <p:nvPicPr>
          <p:cNvPr id="19" name="Image 4" descr="/home/claude/icons/users_white.png">    </p:cNvPr>
          <p:cNvPicPr>
            <a:picLocks noChangeAspect="1"/>
          </p:cNvPicPr>
          <p:nvPr/>
        </p:nvPicPr>
        <p:blipFill>
          <a:blip r:embed="rId5"/>
          <a:stretch>
            <a:fillRect/>
          </a:stretch>
        </p:blipFill>
        <p:spPr>
          <a:xfrm>
            <a:off x="772668" y="5015484"/>
            <a:ext cx="228600" cy="228600"/>
          </a:xfrm>
          <a:prstGeom prst="rect">
            <a:avLst/>
          </a:prstGeom>
        </p:spPr>
      </p:pic>
      <p:sp>
        <p:nvSpPr>
          <p:cNvPr id="20" name="Text 13"/>
          <p:cNvSpPr/>
          <p:nvPr/>
        </p:nvSpPr>
        <p:spPr>
          <a:xfrm>
            <a:off x="1335024" y="4864608"/>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팀 프로젝트는 학기 내내</a:t>
            </a:r>
            <a:endParaRPr lang="en-US" sz="1400" dirty="0"/>
          </a:p>
        </p:txBody>
      </p:sp>
      <p:sp>
        <p:nvSpPr>
          <p:cNvPr id="21" name="Text 14"/>
          <p:cNvSpPr/>
          <p:nvPr/>
        </p:nvSpPr>
        <p:spPr>
          <a:xfrm>
            <a:off x="1335024" y="5138928"/>
            <a:ext cx="10195560" cy="786384"/>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5주차 주제 선정부터 14주차 발표까지, 매주 배우는 내용을 팀 프로젝트에 바로 적용합니다.</a:t>
            </a:r>
            <a:endParaRPr lang="en-US" sz="1150" dirty="0"/>
          </a:p>
        </p:txBody>
      </p:sp>
      <p:sp>
        <p:nvSpPr>
          <p:cNvPr id="22" name="Text 1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199132" cy="384048"/>
          </a:xfrm>
          <a:prstGeom prst="roundRect">
            <a:avLst>
              <a:gd name="adj" fmla="val 50000"/>
            </a:avLst>
          </a:prstGeom>
          <a:solidFill>
            <a:srgbClr val="EDECFB"/>
          </a:solidFill>
          <a:ln/>
        </p:spPr>
      </p:sp>
      <p:pic>
        <p:nvPicPr>
          <p:cNvPr id="3" name="Image 0" descr="/home/claude/icons/flag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815084"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오리엔테이션</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평가 기준</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58368" y="1783080"/>
          <a:ext cx="10872216" cy="914400"/>
        </p:xfrm>
        <a:graphic>
          <a:graphicData uri="http://schemas.openxmlformats.org/drawingml/2006/table">
            <a:tbl>
              <a:tblPr/>
              <a:tblGrid>
                <a:gridCol w="2377440"/>
                <a:gridCol w="1005840"/>
                <a:gridCol w="7488936"/>
              </a:tblGrid>
              <a:tr h="457200">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항목</a:t>
                      </a:r>
                      <a:endParaRPr lang="en-US" sz="12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4F46E5"/>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비율</a:t>
                      </a:r>
                      <a:endParaRPr lang="en-US" sz="12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4F46E5"/>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내용</a:t>
                      </a:r>
                      <a:endParaRPr lang="en-US" sz="12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4F46E5"/>
                    </a:solidFill>
                  </a:tcPr>
                </a:tc>
              </a:tr>
              <a:tr h="457200">
                <a:tc>
                  <a:txBody>
                    <a:bodyPr/>
                    <a:lstStyle/>
                    <a:p>
                      <a:pPr algn="l" indent="0" marL="0">
                        <a:buNone/>
                      </a:pPr>
                      <a:r>
                        <a:rPr lang="en-US" sz="1100" b="1" dirty="0">
                          <a:solidFill>
                            <a:srgbClr val="1E1B3A"/>
                          </a:solidFill>
                          <a:latin typeface="Malgun Gothic" pitchFamily="34" charset="0"/>
                          <a:ea typeface="Malgun Gothic" pitchFamily="34" charset="-122"/>
                          <a:cs typeface="Malgun Gothic" pitchFamily="34" charset="-120"/>
                        </a:rPr>
                        <a:t>출석</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C3B57"/>
                          </a:solidFill>
                          <a:latin typeface="Malgun Gothic" pitchFamily="34" charset="0"/>
                          <a:ea typeface="Malgun Gothic" pitchFamily="34" charset="-122"/>
                          <a:cs typeface="Malgun Gothic" pitchFamily="34" charset="-120"/>
                        </a:rPr>
                        <a:t>10%</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C3B57"/>
                          </a:solidFill>
                          <a:latin typeface="Malgun Gothic" pitchFamily="34" charset="0"/>
                          <a:ea typeface="Malgun Gothic" pitchFamily="34" charset="-122"/>
                          <a:cs typeface="Malgun Gothic" pitchFamily="34" charset="-120"/>
                        </a:rPr>
                        <a:t>매주 실습 체크리스트 통과가 출석 확인을 겸합니다</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1E1B3A"/>
                          </a:solidFill>
                          <a:latin typeface="Malgun Gothic" pitchFamily="34" charset="0"/>
                          <a:ea typeface="Malgun Gothic" pitchFamily="34" charset="-122"/>
                          <a:cs typeface="Malgun Gothic" pitchFamily="34" charset="-120"/>
                        </a:rPr>
                        <a:t>중간고사</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lstStyle/>
                    <a:p>
                      <a:pPr algn="ctr" indent="0" marL="0">
                        <a:buNone/>
                      </a:pPr>
                      <a:r>
                        <a:rPr lang="en-US" sz="1100" dirty="0">
                          <a:solidFill>
                            <a:srgbClr val="3C3B57"/>
                          </a:solidFill>
                          <a:latin typeface="Malgun Gothic" pitchFamily="34" charset="0"/>
                          <a:ea typeface="Malgun Gothic" pitchFamily="34" charset="-122"/>
                          <a:cs typeface="Malgun Gothic" pitchFamily="34" charset="-120"/>
                        </a:rPr>
                        <a:t>25%</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lstStyle/>
                    <a:p>
                      <a:pPr algn="l" indent="0" marL="0">
                        <a:buNone/>
                      </a:pPr>
                      <a:r>
                        <a:rPr lang="en-US" sz="1100" dirty="0">
                          <a:solidFill>
                            <a:srgbClr val="3C3B57"/>
                          </a:solidFill>
                          <a:latin typeface="Malgun Gothic" pitchFamily="34" charset="0"/>
                          <a:ea typeface="Malgun Gothic" pitchFamily="34" charset="-122"/>
                          <a:cs typeface="Malgun Gothic" pitchFamily="34" charset="-120"/>
                        </a:rPr>
                        <a:t>8주차 — 1~7주 범위, 개념 + 상황 판단 서술 (AI 도구 없이)</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r>
              <a:tr h="457200">
                <a:tc>
                  <a:txBody>
                    <a:bodyPr/>
                    <a:lstStyle/>
                    <a:p>
                      <a:pPr algn="l" indent="0" marL="0">
                        <a:buNone/>
                      </a:pPr>
                      <a:r>
                        <a:rPr lang="en-US" sz="1100" b="1" dirty="0">
                          <a:solidFill>
                            <a:srgbClr val="1E1B3A"/>
                          </a:solidFill>
                          <a:latin typeface="Malgun Gothic" pitchFamily="34" charset="0"/>
                          <a:ea typeface="Malgun Gothic" pitchFamily="34" charset="-122"/>
                          <a:cs typeface="Malgun Gothic" pitchFamily="34" charset="-120"/>
                        </a:rPr>
                        <a:t>과제</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C3B57"/>
                          </a:solidFill>
                          <a:latin typeface="Malgun Gothic" pitchFamily="34" charset="0"/>
                          <a:ea typeface="Malgun Gothic" pitchFamily="34" charset="-122"/>
                          <a:cs typeface="Malgun Gothic" pitchFamily="34" charset="-120"/>
                        </a:rPr>
                        <a:t>10%</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C3B57"/>
                          </a:solidFill>
                          <a:latin typeface="Malgun Gothic" pitchFamily="34" charset="0"/>
                          <a:ea typeface="Malgun Gothic" pitchFamily="34" charset="-122"/>
                          <a:cs typeface="Malgun Gothic" pitchFamily="34" charset="-120"/>
                        </a:rPr>
                        <a:t>개인 과제 3회 — 3주 · 7주 · 9주 공지</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1E1B3A"/>
                          </a:solidFill>
                          <a:latin typeface="Malgun Gothic" pitchFamily="34" charset="0"/>
                          <a:ea typeface="Malgun Gothic" pitchFamily="34" charset="-122"/>
                          <a:cs typeface="Malgun Gothic" pitchFamily="34" charset="-120"/>
                        </a:rPr>
                        <a:t>기말고사</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lstStyle/>
                    <a:p>
                      <a:pPr algn="ctr" indent="0" marL="0">
                        <a:buNone/>
                      </a:pPr>
                      <a:r>
                        <a:rPr lang="en-US" sz="1100" dirty="0">
                          <a:solidFill>
                            <a:srgbClr val="3C3B57"/>
                          </a:solidFill>
                          <a:latin typeface="Malgun Gothic" pitchFamily="34" charset="0"/>
                          <a:ea typeface="Malgun Gothic" pitchFamily="34" charset="-122"/>
                          <a:cs typeface="Malgun Gothic" pitchFamily="34" charset="-120"/>
                        </a:rPr>
                        <a:t>25%</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lstStyle/>
                    <a:p>
                      <a:pPr algn="l" indent="0" marL="0">
                        <a:buNone/>
                      </a:pPr>
                      <a:r>
                        <a:rPr lang="en-US" sz="1100" dirty="0">
                          <a:solidFill>
                            <a:srgbClr val="3C3B57"/>
                          </a:solidFill>
                          <a:latin typeface="Malgun Gothic" pitchFamily="34" charset="0"/>
                          <a:ea typeface="Malgun Gothic" pitchFamily="34" charset="-122"/>
                          <a:cs typeface="Malgun Gothic" pitchFamily="34" charset="-120"/>
                        </a:rPr>
                        <a:t>학기 말 — 전 범위, 개념 + 판단 서술 (AI 도구 없이)</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r>
              <a:tr h="457200">
                <a:tc>
                  <a:txBody>
                    <a:bodyPr/>
                    <a:lstStyle/>
                    <a:p>
                      <a:pPr algn="l" indent="0" marL="0">
                        <a:buNone/>
                      </a:pPr>
                      <a:r>
                        <a:rPr lang="en-US" sz="1100" b="1" dirty="0">
                          <a:solidFill>
                            <a:srgbClr val="1E1B3A"/>
                          </a:solidFill>
                          <a:latin typeface="Malgun Gothic" pitchFamily="34" charset="0"/>
                          <a:ea typeface="Malgun Gothic" pitchFamily="34" charset="-122"/>
                          <a:cs typeface="Malgun Gothic" pitchFamily="34" charset="-120"/>
                        </a:rPr>
                        <a:t>프로젝트 (기타1)</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C3B57"/>
                          </a:solidFill>
                          <a:latin typeface="Malgun Gothic" pitchFamily="34" charset="0"/>
                          <a:ea typeface="Malgun Gothic" pitchFamily="34" charset="-122"/>
                          <a:cs typeface="Malgun Gothic" pitchFamily="34" charset="-120"/>
                        </a:rPr>
                        <a:t>20%</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C3B57"/>
                          </a:solidFill>
                          <a:latin typeface="Malgun Gothic" pitchFamily="34" charset="0"/>
                          <a:ea typeface="Malgun Gothic" pitchFamily="34" charset="-122"/>
                          <a:cs typeface="Malgun Gothic" pitchFamily="34" charset="-120"/>
                        </a:rPr>
                        <a:t>14주차 — 배포된 결과물 시연 + 발표 + 저장소 기록 + 동료평가</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1E1B3A"/>
                          </a:solidFill>
                          <a:latin typeface="Malgun Gothic" pitchFamily="34" charset="0"/>
                          <a:ea typeface="Malgun Gothic" pitchFamily="34" charset="-122"/>
                          <a:cs typeface="Malgun Gothic" pitchFamily="34" charset="-120"/>
                        </a:rPr>
                        <a:t>출석 (기타2)</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lstStyle/>
                    <a:p>
                      <a:pPr algn="ctr" indent="0" marL="0">
                        <a:buNone/>
                      </a:pPr>
                      <a:r>
                        <a:rPr lang="en-US" sz="1100" dirty="0">
                          <a:solidFill>
                            <a:srgbClr val="3C3B57"/>
                          </a:solidFill>
                          <a:latin typeface="Malgun Gothic" pitchFamily="34" charset="0"/>
                          <a:ea typeface="Malgun Gothic" pitchFamily="34" charset="-122"/>
                          <a:cs typeface="Malgun Gothic" pitchFamily="34" charset="-120"/>
                        </a:rPr>
                        <a:t>5%</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lstStyle/>
                    <a:p>
                      <a:pPr algn="l" indent="0" marL="0">
                        <a:buNone/>
                      </a:pPr>
                      <a:r>
                        <a:rPr lang="en-US" sz="1100" dirty="0">
                          <a:solidFill>
                            <a:srgbClr val="3C3B57"/>
                          </a:solidFill>
                          <a:latin typeface="Malgun Gothic" pitchFamily="34" charset="0"/>
                          <a:ea typeface="Malgun Gothic" pitchFamily="34" charset="-122"/>
                          <a:cs typeface="Malgun Gothic" pitchFamily="34" charset="-120"/>
                        </a:rPr>
                        <a:t>학사 평가 기준에 따른 추가 출석 반영</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r>
              <a:tr h="457200">
                <a:tc>
                  <a:txBody>
                    <a:bodyPr/>
                    <a:lstStyle/>
                    <a:p>
                      <a:pPr algn="l" indent="0" marL="0">
                        <a:buNone/>
                      </a:pPr>
                      <a:r>
                        <a:rPr lang="en-US" sz="1100" b="1" dirty="0">
                          <a:solidFill>
                            <a:srgbClr val="1E1B3A"/>
                          </a:solidFill>
                          <a:latin typeface="Malgun Gothic" pitchFamily="34" charset="0"/>
                          <a:ea typeface="Malgun Gothic" pitchFamily="34" charset="-122"/>
                          <a:cs typeface="Malgun Gothic" pitchFamily="34" charset="-120"/>
                        </a:rPr>
                        <a:t>역량평가 (기타3)</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C3B57"/>
                          </a:solidFill>
                          <a:latin typeface="Malgun Gothic" pitchFamily="34" charset="0"/>
                          <a:ea typeface="Malgun Gothic" pitchFamily="34" charset="-122"/>
                          <a:cs typeface="Malgun Gothic" pitchFamily="34" charset="-120"/>
                        </a:rPr>
                        <a:t>5%</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C3B57"/>
                          </a:solidFill>
                          <a:latin typeface="Malgun Gothic" pitchFamily="34" charset="0"/>
                          <a:ea typeface="Malgun Gothic" pitchFamily="34" charset="-122"/>
                          <a:cs typeface="Malgun Gothic" pitchFamily="34" charset="-120"/>
                        </a:rPr>
                        <a:t>학교 공통 역량평가 — 세부 기준은 별도 공지</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r>
            </a:tbl>
          </a:graphicData>
        </a:graphic>
      </p:graphicFrame>
      <p:sp>
        <p:nvSpPr>
          <p:cNvPr id="7" name="Shape 3"/>
          <p:cNvSpPr/>
          <p:nvPr/>
        </p:nvSpPr>
        <p:spPr>
          <a:xfrm>
            <a:off x="658368" y="5623560"/>
            <a:ext cx="10872216" cy="603504"/>
          </a:xfrm>
          <a:prstGeom prst="roundRect">
            <a:avLst>
              <a:gd name="adj" fmla="val 15152"/>
            </a:avLst>
          </a:prstGeom>
          <a:solidFill>
            <a:srgbClr val="F5F4FC"/>
          </a:solidFill>
          <a:ln/>
        </p:spPr>
      </p:sp>
      <p:sp>
        <p:nvSpPr>
          <p:cNvPr id="8" name="Shape 4"/>
          <p:cNvSpPr/>
          <p:nvPr/>
        </p:nvSpPr>
        <p:spPr>
          <a:xfrm>
            <a:off x="877824" y="5687568"/>
            <a:ext cx="475488" cy="475488"/>
          </a:xfrm>
          <a:prstGeom prst="ellipse">
            <a:avLst/>
          </a:prstGeom>
          <a:solidFill>
            <a:srgbClr val="F59E0B"/>
          </a:solidFill>
          <a:ln/>
        </p:spPr>
      </p:sp>
      <p:pic>
        <p:nvPicPr>
          <p:cNvPr id="9" name="Image 1" descr="/home/claude/icons/warn_white.png">    </p:cNvPr>
          <p:cNvPicPr>
            <a:picLocks noChangeAspect="1"/>
          </p:cNvPicPr>
          <p:nvPr/>
        </p:nvPicPr>
        <p:blipFill>
          <a:blip r:embed="rId2"/>
          <a:stretch>
            <a:fillRect/>
          </a:stretch>
        </p:blipFill>
        <p:spPr>
          <a:xfrm>
            <a:off x="996696" y="5806440"/>
            <a:ext cx="237744" cy="237744"/>
          </a:xfrm>
          <a:prstGeom prst="rect">
            <a:avLst/>
          </a:prstGeom>
        </p:spPr>
      </p:pic>
      <p:sp>
        <p:nvSpPr>
          <p:cNvPr id="10" name="Text 5"/>
          <p:cNvSpPr/>
          <p:nvPr/>
        </p:nvSpPr>
        <p:spPr>
          <a:xfrm>
            <a:off x="1554480" y="5715000"/>
            <a:ext cx="9738360" cy="420624"/>
          </a:xfrm>
          <a:prstGeom prst="rect">
            <a:avLst/>
          </a:prstGeom>
          <a:noFill/>
          <a:ln/>
        </p:spPr>
        <p:txBody>
          <a:bodyPr wrap="square" lIns="0" tIns="0" rIns="0" bIns="0" rtlCol="0" anchor="ctr"/>
          <a:lstStyle/>
          <a:p>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합계 100% — 지각·결석 처리, 제출 기한 등 세부 규정은 LMS의 강의계획서 원문이 기준입니다.</a:t>
            </a:r>
            <a:endParaRPr lang="en-US" sz="1150" dirty="0"/>
          </a:p>
        </p:txBody>
      </p:sp>
      <p:sp>
        <p:nvSpPr>
          <p:cNvPr id="11" name="Text 6"/>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199132" cy="384048"/>
          </a:xfrm>
          <a:prstGeom prst="roundRect">
            <a:avLst>
              <a:gd name="adj" fmla="val 50000"/>
            </a:avLst>
          </a:prstGeom>
          <a:solidFill>
            <a:srgbClr val="EDECFB"/>
          </a:solidFill>
          <a:ln/>
        </p:spPr>
      </p:sp>
      <p:pic>
        <p:nvPicPr>
          <p:cNvPr id="3" name="Image 0" descr="/home/claude/icons/flag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815084"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오리엔테이션</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AI 활용 규칙 — 딱 세 가지</a:t>
            </a:r>
            <a:endParaRPr lang="en-US" sz="2600" dirty="0"/>
          </a:p>
        </p:txBody>
      </p:sp>
      <p:sp>
        <p:nvSpPr>
          <p:cNvPr id="6" name="Shape 3"/>
          <p:cNvSpPr/>
          <p:nvPr/>
        </p:nvSpPr>
        <p:spPr>
          <a:xfrm>
            <a:off x="658368" y="1783080"/>
            <a:ext cx="10872216" cy="1115568"/>
          </a:xfrm>
          <a:prstGeom prst="roundRect">
            <a:avLst>
              <a:gd name="adj" fmla="val 8197"/>
            </a:avLst>
          </a:prstGeom>
          <a:solidFill>
            <a:srgbClr val="FFFFFF"/>
          </a:solidFill>
          <a:ln/>
          <a:effectLst>
            <a:outerShdw sx="100000" sy="100000" kx="0" ky="0" algn="bl" rotWithShape="0" blurRad="152400" dist="25400" dir="5400000">
              <a:srgbClr val="1F1D48">
                <a:alpha val="16000"/>
              </a:srgbClr>
            </a:outerShdw>
          </a:effectLst>
        </p:spPr>
      </p:sp>
      <p:sp>
        <p:nvSpPr>
          <p:cNvPr id="7" name="Shape 4"/>
          <p:cNvSpPr/>
          <p:nvPr/>
        </p:nvSpPr>
        <p:spPr>
          <a:xfrm>
            <a:off x="896112" y="2103120"/>
            <a:ext cx="475488" cy="475488"/>
          </a:xfrm>
          <a:prstGeom prst="ellipse">
            <a:avLst/>
          </a:prstGeom>
          <a:solidFill>
            <a:srgbClr val="10B981"/>
          </a:solidFill>
          <a:ln/>
        </p:spPr>
      </p:sp>
      <p:pic>
        <p:nvPicPr>
          <p:cNvPr id="8" name="Image 1" descr="/home/claude/icons/check_white.png">    </p:cNvPr>
          <p:cNvPicPr>
            <a:picLocks noChangeAspect="1"/>
          </p:cNvPicPr>
          <p:nvPr/>
        </p:nvPicPr>
        <p:blipFill>
          <a:blip r:embed="rId2"/>
          <a:stretch>
            <a:fillRect/>
          </a:stretch>
        </p:blipFill>
        <p:spPr>
          <a:xfrm>
            <a:off x="1014984" y="2221992"/>
            <a:ext cx="237744" cy="237744"/>
          </a:xfrm>
          <a:prstGeom prst="rect">
            <a:avLst/>
          </a:prstGeom>
        </p:spPr>
      </p:pic>
      <p:sp>
        <p:nvSpPr>
          <p:cNvPr id="9" name="Text 5"/>
          <p:cNvSpPr/>
          <p:nvPr/>
        </p:nvSpPr>
        <p:spPr>
          <a:xfrm>
            <a:off x="1591056" y="1911096"/>
            <a:ext cx="9683496" cy="310896"/>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① 쓰는 것이 기본입니다</a:t>
            </a:r>
            <a:endParaRPr lang="en-US" sz="1400" dirty="0"/>
          </a:p>
        </p:txBody>
      </p:sp>
      <p:sp>
        <p:nvSpPr>
          <p:cNvPr id="10" name="Text 6"/>
          <p:cNvSpPr/>
          <p:nvPr/>
        </p:nvSpPr>
        <p:spPr>
          <a:xfrm>
            <a:off x="1591056" y="2240280"/>
            <a:ext cx="9683496" cy="603504"/>
          </a:xfrm>
          <a:prstGeom prst="rect">
            <a:avLst/>
          </a:prstGeom>
          <a:noFill/>
          <a:ln/>
        </p:spPr>
        <p:txBody>
          <a:bodyPr wrap="square" lIns="0" tIns="0" rIns="0" bIns="0" rtlCol="0" anchor="t"/>
          <a:lstStyle/>
          <a:p>
            <a:pPr indent="0" marL="0">
              <a:lnSpc>
                <a:spcPts val="1600"/>
              </a:lnSpc>
              <a:buNone/>
            </a:pPr>
            <a:r>
              <a:rPr lang="en-US" sz="1150" dirty="0">
                <a:solidFill>
                  <a:srgbClr val="3C3B57"/>
                </a:solidFill>
                <a:latin typeface="Malgun Gothic" pitchFamily="34" charset="0"/>
                <a:ea typeface="Malgun Gothic" pitchFamily="34" charset="-122"/>
                <a:cs typeface="Malgun Gothic" pitchFamily="34" charset="-120"/>
              </a:rPr>
              <a:t>이 수업에서 AI 사용은 부정행위가 아니라 요구사항입니다. 과제와 프로젝트는 AI를 활용해 만드는 것을 전제로 설계되어 있습니다.</a:t>
            </a:r>
            <a:endParaRPr lang="en-US" sz="1150" dirty="0"/>
          </a:p>
        </p:txBody>
      </p:sp>
      <p:sp>
        <p:nvSpPr>
          <p:cNvPr id="11" name="Shape 7"/>
          <p:cNvSpPr/>
          <p:nvPr/>
        </p:nvSpPr>
        <p:spPr>
          <a:xfrm>
            <a:off x="658368" y="3081528"/>
            <a:ext cx="10872216" cy="1115568"/>
          </a:xfrm>
          <a:prstGeom prst="roundRect">
            <a:avLst>
              <a:gd name="adj" fmla="val 8197"/>
            </a:avLst>
          </a:prstGeom>
          <a:solidFill>
            <a:srgbClr val="FFFFFF"/>
          </a:solidFill>
          <a:ln/>
          <a:effectLst>
            <a:outerShdw sx="100000" sy="100000" kx="0" ky="0" algn="bl" rotWithShape="0" blurRad="152400" dist="25400" dir="5400000">
              <a:srgbClr val="1F1D48">
                <a:alpha val="16000"/>
              </a:srgbClr>
            </a:outerShdw>
          </a:effectLst>
        </p:spPr>
      </p:sp>
      <p:sp>
        <p:nvSpPr>
          <p:cNvPr id="12" name="Shape 8"/>
          <p:cNvSpPr/>
          <p:nvPr/>
        </p:nvSpPr>
        <p:spPr>
          <a:xfrm>
            <a:off x="896112" y="3401568"/>
            <a:ext cx="475488" cy="475488"/>
          </a:xfrm>
          <a:prstGeom prst="ellipse">
            <a:avLst/>
          </a:prstGeom>
          <a:solidFill>
            <a:srgbClr val="F59E0B"/>
          </a:solidFill>
          <a:ln/>
        </p:spPr>
      </p:sp>
      <p:pic>
        <p:nvPicPr>
          <p:cNvPr id="13" name="Image 2" descr="/home/claude/icons/comments_white.png">    </p:cNvPr>
          <p:cNvPicPr>
            <a:picLocks noChangeAspect="1"/>
          </p:cNvPicPr>
          <p:nvPr/>
        </p:nvPicPr>
        <p:blipFill>
          <a:blip r:embed="rId3"/>
          <a:stretch>
            <a:fillRect/>
          </a:stretch>
        </p:blipFill>
        <p:spPr>
          <a:xfrm>
            <a:off x="1014984" y="3520440"/>
            <a:ext cx="237744" cy="237744"/>
          </a:xfrm>
          <a:prstGeom prst="rect">
            <a:avLst/>
          </a:prstGeom>
        </p:spPr>
      </p:pic>
      <p:sp>
        <p:nvSpPr>
          <p:cNvPr id="14" name="Text 9"/>
          <p:cNvSpPr/>
          <p:nvPr/>
        </p:nvSpPr>
        <p:spPr>
          <a:xfrm>
            <a:off x="1591056" y="3209544"/>
            <a:ext cx="9683496" cy="310896"/>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② 설명하지 못하면 제출하지 마세요</a:t>
            </a:r>
            <a:endParaRPr lang="en-US" sz="1400" dirty="0"/>
          </a:p>
        </p:txBody>
      </p:sp>
      <p:sp>
        <p:nvSpPr>
          <p:cNvPr id="15" name="Text 10"/>
          <p:cNvSpPr/>
          <p:nvPr/>
        </p:nvSpPr>
        <p:spPr>
          <a:xfrm>
            <a:off x="1591056" y="3538728"/>
            <a:ext cx="9683496" cy="603504"/>
          </a:xfrm>
          <a:prstGeom prst="rect">
            <a:avLst/>
          </a:prstGeom>
          <a:noFill/>
          <a:ln/>
        </p:spPr>
        <p:txBody>
          <a:bodyPr wrap="square" lIns="0" tIns="0" rIns="0" bIns="0" rtlCol="0" anchor="t"/>
          <a:lstStyle/>
          <a:p>
            <a:pPr indent="0" marL="0">
              <a:lnSpc>
                <a:spcPts val="1600"/>
              </a:lnSpc>
              <a:buNone/>
            </a:pPr>
            <a:r>
              <a:rPr lang="en-US" sz="1150" dirty="0">
                <a:solidFill>
                  <a:srgbClr val="3C3B57"/>
                </a:solidFill>
                <a:latin typeface="Malgun Gothic" pitchFamily="34" charset="0"/>
                <a:ea typeface="Malgun Gothic" pitchFamily="34" charset="-122"/>
                <a:cs typeface="Malgun Gothic" pitchFamily="34" charset="-120"/>
              </a:rPr>
              <a:t>제출물의 기준은 "내가 설명할 수 있는 것"까지입니다. 코드 한 줄, 설계 한 문장이라도 물었을 때 답하지 못하면 본인 것이 아닙니다. 구두 확인이 있을 수 있습니다.</a:t>
            </a:r>
            <a:endParaRPr lang="en-US" sz="1150" dirty="0"/>
          </a:p>
        </p:txBody>
      </p:sp>
      <p:sp>
        <p:nvSpPr>
          <p:cNvPr id="16" name="Shape 11"/>
          <p:cNvSpPr/>
          <p:nvPr/>
        </p:nvSpPr>
        <p:spPr>
          <a:xfrm>
            <a:off x="658368" y="4379976"/>
            <a:ext cx="10872216" cy="1115568"/>
          </a:xfrm>
          <a:prstGeom prst="roundRect">
            <a:avLst>
              <a:gd name="adj" fmla="val 8197"/>
            </a:avLst>
          </a:prstGeom>
          <a:solidFill>
            <a:srgbClr val="FFFFFF"/>
          </a:solidFill>
          <a:ln/>
          <a:effectLst>
            <a:outerShdw sx="100000" sy="100000" kx="0" ky="0" algn="bl" rotWithShape="0" blurRad="152400" dist="25400" dir="5400000">
              <a:srgbClr val="1F1D48">
                <a:alpha val="16000"/>
              </a:srgbClr>
            </a:outerShdw>
          </a:effectLst>
        </p:spPr>
      </p:sp>
      <p:sp>
        <p:nvSpPr>
          <p:cNvPr id="17" name="Shape 12"/>
          <p:cNvSpPr/>
          <p:nvPr/>
        </p:nvSpPr>
        <p:spPr>
          <a:xfrm>
            <a:off x="896112" y="4700016"/>
            <a:ext cx="475488" cy="475488"/>
          </a:xfrm>
          <a:prstGeom prst="ellipse">
            <a:avLst/>
          </a:prstGeom>
          <a:solidFill>
            <a:srgbClr val="FB7185"/>
          </a:solidFill>
          <a:ln/>
        </p:spPr>
      </p:sp>
      <p:pic>
        <p:nvPicPr>
          <p:cNvPr id="18" name="Image 3" descr="/home/claude/icons/times_white.png">    </p:cNvPr>
          <p:cNvPicPr>
            <a:picLocks noChangeAspect="1"/>
          </p:cNvPicPr>
          <p:nvPr/>
        </p:nvPicPr>
        <p:blipFill>
          <a:blip r:embed="rId4"/>
          <a:stretch>
            <a:fillRect/>
          </a:stretch>
        </p:blipFill>
        <p:spPr>
          <a:xfrm>
            <a:off x="1014984" y="4818888"/>
            <a:ext cx="237744" cy="237744"/>
          </a:xfrm>
          <a:prstGeom prst="rect">
            <a:avLst/>
          </a:prstGeom>
        </p:spPr>
      </p:pic>
      <p:sp>
        <p:nvSpPr>
          <p:cNvPr id="19" name="Text 13"/>
          <p:cNvSpPr/>
          <p:nvPr/>
        </p:nvSpPr>
        <p:spPr>
          <a:xfrm>
            <a:off x="1591056" y="4507992"/>
            <a:ext cx="9683496" cy="310896"/>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③ 시험은 AI 없이</a:t>
            </a:r>
            <a:endParaRPr lang="en-US" sz="1400" dirty="0"/>
          </a:p>
        </p:txBody>
      </p:sp>
      <p:sp>
        <p:nvSpPr>
          <p:cNvPr id="20" name="Text 14"/>
          <p:cNvSpPr/>
          <p:nvPr/>
        </p:nvSpPr>
        <p:spPr>
          <a:xfrm>
            <a:off x="1591056" y="4837176"/>
            <a:ext cx="9683496" cy="603504"/>
          </a:xfrm>
          <a:prstGeom prst="rect">
            <a:avLst/>
          </a:prstGeom>
          <a:noFill/>
          <a:ln/>
        </p:spPr>
        <p:txBody>
          <a:bodyPr wrap="square" lIns="0" tIns="0" rIns="0" bIns="0" rtlCol="0" anchor="t"/>
          <a:lstStyle/>
          <a:p>
            <a:pPr indent="0" marL="0">
              <a:lnSpc>
                <a:spcPts val="1600"/>
              </a:lnSpc>
              <a:buNone/>
            </a:pPr>
            <a:r>
              <a:rPr lang="en-US" sz="1150" dirty="0">
                <a:solidFill>
                  <a:srgbClr val="3C3B57"/>
                </a:solidFill>
                <a:latin typeface="Malgun Gothic" pitchFamily="34" charset="0"/>
                <a:ea typeface="Malgun Gothic" pitchFamily="34" charset="-122"/>
                <a:cs typeface="Malgun Gothic" pitchFamily="34" charset="-120"/>
              </a:rPr>
              <a:t>중간·기말고사는 도구 없이 봅니다. 개념과 판단력은 본인 머리에 있어야 하고, 그것이 이 수업이 기르려는 능력입니다.</a:t>
            </a:r>
            <a:endParaRPr lang="en-US" sz="1150" dirty="0"/>
          </a:p>
        </p:txBody>
      </p:sp>
      <p:sp>
        <p:nvSpPr>
          <p:cNvPr id="21" name="Text 15"/>
          <p:cNvSpPr/>
          <p:nvPr/>
        </p:nvSpPr>
        <p:spPr>
          <a:xfrm>
            <a:off x="658368" y="5760720"/>
            <a:ext cx="10872216" cy="914400"/>
          </a:xfrm>
          <a:prstGeom prst="rect">
            <a:avLst/>
          </a:prstGeom>
          <a:noFill/>
          <a:ln/>
        </p:spPr>
        <p:txBody>
          <a:bodyPr wrap="square" lIns="0" tIns="0" rIns="0" bIns="0" rtlCol="0" anchor="t"/>
          <a:lstStyle/>
          <a:p>
            <a:pPr algn="l" indent="0" marL="0">
              <a:lnSpc>
                <a:spcPts val="1672"/>
              </a:lnSpc>
              <a:buNone/>
            </a:pPr>
            <a:r>
              <a:rPr lang="en-US" sz="1100" dirty="0">
                <a:solidFill>
                  <a:srgbClr val="6B7185"/>
                </a:solidFill>
                <a:latin typeface="Malgun Gothic" pitchFamily="34" charset="0"/>
                <a:ea typeface="Malgun Gothic" pitchFamily="34" charset="-122"/>
                <a:cs typeface="Malgun Gothic" pitchFamily="34" charset="-120"/>
              </a:rPr>
              <a:t>제출물에는 사용한 도구와 핵심 지시문을 함께 기록합니다 — 기록 양식은 과제 공지에 포함됩니다.</a:t>
            </a:r>
            <a:endParaRPr lang="en-US" sz="1100" dirty="0"/>
          </a:p>
        </p:txBody>
      </p:sp>
      <p:sp>
        <p:nvSpPr>
          <p:cNvPr id="22" name="Text 16"/>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163A"/>
        </a:solidFill>
      </p:bgPr>
    </p:bg>
    <p:spTree>
      <p:nvGrpSpPr>
        <p:cNvPr id="1" name=""/>
        <p:cNvGrpSpPr/>
        <p:nvPr/>
      </p:nvGrpSpPr>
      <p:grpSpPr>
        <a:xfrm>
          <a:off x="0" y="0"/>
          <a:ext cx="0" cy="0"/>
          <a:chOff x="0" y="0"/>
          <a:chExt cx="0" cy="0"/>
        </a:xfrm>
      </p:grpSpPr>
      <p:sp>
        <p:nvSpPr>
          <p:cNvPr id="2" name="Shape 0"/>
          <p:cNvSpPr/>
          <p:nvPr/>
        </p:nvSpPr>
        <p:spPr>
          <a:xfrm>
            <a:off x="8503920" y="-2103120"/>
            <a:ext cx="6035040" cy="6035040"/>
          </a:xfrm>
          <a:prstGeom prst="ellipse">
            <a:avLst/>
          </a:prstGeom>
          <a:solidFill>
            <a:srgbClr val="201E4C"/>
          </a:solidFill>
          <a:ln/>
        </p:spPr>
      </p:sp>
      <p:sp>
        <p:nvSpPr>
          <p:cNvPr id="3" name="Shape 1"/>
          <p:cNvSpPr/>
          <p:nvPr/>
        </p:nvSpPr>
        <p:spPr>
          <a:xfrm>
            <a:off x="-1737360" y="4480560"/>
            <a:ext cx="4297680" cy="4297680"/>
          </a:xfrm>
          <a:prstGeom prst="ellipse">
            <a:avLst/>
          </a:prstGeom>
          <a:solidFill>
            <a:srgbClr val="2A2860"/>
          </a:solidFill>
          <a:ln/>
        </p:spPr>
      </p:sp>
      <p:sp>
        <p:nvSpPr>
          <p:cNvPr id="4" name="Text 2"/>
          <p:cNvSpPr/>
          <p:nvPr/>
        </p:nvSpPr>
        <p:spPr>
          <a:xfrm>
            <a:off x="7863840" y="320040"/>
            <a:ext cx="3840480" cy="2103120"/>
          </a:xfrm>
          <a:prstGeom prst="rect">
            <a:avLst/>
          </a:prstGeom>
          <a:noFill/>
          <a:ln/>
        </p:spPr>
        <p:txBody>
          <a:bodyPr wrap="square" lIns="0" tIns="0" rIns="0" bIns="0" rtlCol="0" anchor="ctr"/>
          <a:lstStyle/>
          <a:p>
            <a:pPr algn="r" indent="0" marL="0">
              <a:buNone/>
            </a:pPr>
            <a:r>
              <a:rPr lang="en-US" sz="12000" b="1" dirty="0">
                <a:solidFill>
                  <a:srgbClr val="343070"/>
                </a:solidFill>
                <a:latin typeface="Malgun Gothic" pitchFamily="34" charset="0"/>
                <a:ea typeface="Malgun Gothic" pitchFamily="34" charset="-122"/>
                <a:cs typeface="Malgun Gothic" pitchFamily="34" charset="-120"/>
              </a:rPr>
              <a:t>02</a:t>
            </a:r>
            <a:endParaRPr lang="en-US" sz="12000" dirty="0"/>
          </a:p>
        </p:txBody>
      </p:sp>
      <p:sp>
        <p:nvSpPr>
          <p:cNvPr id="5" name="Shape 3"/>
          <p:cNvSpPr/>
          <p:nvPr/>
        </p:nvSpPr>
        <p:spPr>
          <a:xfrm>
            <a:off x="658368" y="2103120"/>
            <a:ext cx="1691640" cy="457200"/>
          </a:xfrm>
          <a:prstGeom prst="roundRect">
            <a:avLst>
              <a:gd name="adj" fmla="val 50000"/>
            </a:avLst>
          </a:prstGeom>
          <a:solidFill>
            <a:srgbClr val="F59E0B"/>
          </a:solidFill>
          <a:ln/>
        </p:spPr>
      </p:sp>
      <p:sp>
        <p:nvSpPr>
          <p:cNvPr id="6" name="Text 4"/>
          <p:cNvSpPr/>
          <p:nvPr/>
        </p:nvSpPr>
        <p:spPr>
          <a:xfrm>
            <a:off x="658368" y="2103120"/>
            <a:ext cx="1691640" cy="457200"/>
          </a:xfrm>
          <a:prstGeom prst="rect">
            <a:avLst/>
          </a:prstGeom>
          <a:noFill/>
          <a:ln/>
        </p:spPr>
        <p:txBody>
          <a:bodyPr wrap="square" lIns="0" tIns="0" rIns="0" bIns="0" rtlCol="0" anchor="ctr"/>
          <a:lstStyle/>
          <a:p>
            <a:pPr algn="ctr" indent="0" marL="0">
              <a:buNone/>
            </a:pPr>
            <a:r>
              <a:rPr lang="en-US" sz="1250" b="1" spc="200" kern="0" dirty="0">
                <a:solidFill>
                  <a:srgbClr val="FFFFFF"/>
                </a:solidFill>
                <a:latin typeface="Malgun Gothic" pitchFamily="34" charset="0"/>
                <a:ea typeface="Malgun Gothic" pitchFamily="34" charset="-122"/>
                <a:cs typeface="Malgun Gothic" pitchFamily="34" charset="-120"/>
              </a:rPr>
              <a:t>PART 2</a:t>
            </a:r>
            <a:endParaRPr lang="en-US" sz="1250" dirty="0"/>
          </a:p>
        </p:txBody>
      </p:sp>
      <p:sp>
        <p:nvSpPr>
          <p:cNvPr id="7" name="Text 5"/>
          <p:cNvSpPr/>
          <p:nvPr/>
        </p:nvSpPr>
        <p:spPr>
          <a:xfrm>
            <a:off x="658368" y="2743200"/>
            <a:ext cx="8961120" cy="1005840"/>
          </a:xfrm>
          <a:prstGeom prst="rect">
            <a:avLst/>
          </a:prstGeom>
          <a:noFill/>
          <a:ln/>
        </p:spPr>
        <p:txBody>
          <a:bodyPr wrap="square" lIns="0" tIns="0" rIns="0" bIns="0" rtlCol="0" anchor="t"/>
          <a:lstStyle/>
          <a:p>
            <a:pPr indent="0" marL="0">
              <a:lnSpc>
                <a:spcPts val="5000"/>
              </a:lnSpc>
              <a:buNone/>
            </a:pPr>
            <a:r>
              <a:rPr lang="en-US" sz="3800" b="1" dirty="0">
                <a:solidFill>
                  <a:srgbClr val="FFFFFF"/>
                </a:solidFill>
                <a:latin typeface="Malgun Gothic" pitchFamily="34" charset="0"/>
                <a:ea typeface="Malgun Gothic" pitchFamily="34" charset="-122"/>
                <a:cs typeface="Malgun Gothic" pitchFamily="34" charset="-120"/>
              </a:rPr>
              <a:t>소프트웨어공학 개관</a:t>
            </a:r>
            <a:endParaRPr lang="en-US" sz="3800" dirty="0"/>
          </a:p>
        </p:txBody>
      </p:sp>
      <p:sp>
        <p:nvSpPr>
          <p:cNvPr id="8" name="Text 6"/>
          <p:cNvSpPr/>
          <p:nvPr/>
        </p:nvSpPr>
        <p:spPr>
          <a:xfrm>
            <a:off x="658368" y="3913632"/>
            <a:ext cx="9052560" cy="868680"/>
          </a:xfrm>
          <a:prstGeom prst="rect">
            <a:avLst/>
          </a:prstGeom>
          <a:noFill/>
          <a:ln/>
        </p:spPr>
        <p:txBody>
          <a:bodyPr wrap="square" lIns="0" tIns="0" rIns="0" bIns="0" rtlCol="0" anchor="t"/>
          <a:lstStyle/>
          <a:p>
            <a:pPr indent="0" marL="0">
              <a:lnSpc>
                <a:spcPts val="2200"/>
              </a:lnSpc>
              <a:buNone/>
            </a:pPr>
            <a:r>
              <a:rPr lang="en-US" sz="1400" dirty="0">
                <a:solidFill>
                  <a:srgbClr val="E7E6FB"/>
                </a:solidFill>
                <a:latin typeface="Malgun Gothic" pitchFamily="34" charset="0"/>
                <a:ea typeface="Malgun Gothic" pitchFamily="34" charset="-122"/>
                <a:cs typeface="Malgun Gothic" pitchFamily="34" charset="-120"/>
              </a:rPr>
              <a:t>코드가 아니라 '만드는 과정'의 학문 — 왜 필요해졌는지, 유명한 실패에서부터 배웁니다.</a:t>
            </a:r>
            <a:endParaRPr lang="en-US" sz="1400" dirty="0"/>
          </a:p>
        </p:txBody>
      </p:sp>
      <p:sp>
        <p:nvSpPr>
          <p:cNvPr id="9" name="Shape 7"/>
          <p:cNvSpPr/>
          <p:nvPr/>
        </p:nvSpPr>
        <p:spPr>
          <a:xfrm>
            <a:off x="9738360" y="4343400"/>
            <a:ext cx="1325880" cy="1325880"/>
          </a:xfrm>
          <a:prstGeom prst="ellipse">
            <a:avLst/>
          </a:prstGeom>
          <a:solidFill>
            <a:srgbClr val="F59E0B"/>
          </a:solidFill>
          <a:ln/>
        </p:spPr>
      </p:sp>
      <p:pic>
        <p:nvPicPr>
          <p:cNvPr id="10" name="Image 0" descr="/home/claude/icons/book2_white.png">    </p:cNvPr>
          <p:cNvPicPr>
            <a:picLocks noChangeAspect="1"/>
          </p:cNvPicPr>
          <p:nvPr/>
        </p:nvPicPr>
        <p:blipFill>
          <a:blip r:embed="rId1"/>
          <a:stretch>
            <a:fillRect/>
          </a:stretch>
        </p:blipFill>
        <p:spPr>
          <a:xfrm>
            <a:off x="10069830" y="4674870"/>
            <a:ext cx="662940" cy="662940"/>
          </a:xfrm>
          <a:prstGeom prst="rect">
            <a:avLst/>
          </a:prstGeom>
        </p:spPr>
      </p:pic>
      <p:sp>
        <p:nvSpPr>
          <p:cNvPr id="11" name="Text 8"/>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8A88C4"/>
                </a:solidFill>
                <a:latin typeface="Malgun Gothic" pitchFamily="34" charset="0"/>
                <a:ea typeface="Malgun Gothic" pitchFamily="34" charset="-122"/>
                <a:cs typeface="Malgun Gothic"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sp>
      <p:pic>
        <p:nvPicPr>
          <p:cNvPr id="3" name="Image 0" descr="/home/claude/icons/book2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소프트웨어공학 개관</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소프트웨어공학이란 무엇인가</a:t>
            </a:r>
            <a:endParaRPr lang="en-US" sz="2600" dirty="0"/>
          </a:p>
        </p:txBody>
      </p:sp>
      <p:sp>
        <p:nvSpPr>
          <p:cNvPr id="6" name="Shape 3"/>
          <p:cNvSpPr/>
          <p:nvPr/>
        </p:nvSpPr>
        <p:spPr>
          <a:xfrm>
            <a:off x="658368" y="1783080"/>
            <a:ext cx="10872216" cy="1600200"/>
          </a:xfrm>
          <a:prstGeom prst="roundRect">
            <a:avLst>
              <a:gd name="adj" fmla="val 5714"/>
            </a:avLst>
          </a:prstGeom>
          <a:solidFill>
            <a:srgbClr val="F5F4FC"/>
          </a:solidFill>
          <a:ln/>
        </p:spPr>
      </p:sp>
      <p:sp>
        <p:nvSpPr>
          <p:cNvPr id="7" name="Shape 4"/>
          <p:cNvSpPr/>
          <p:nvPr/>
        </p:nvSpPr>
        <p:spPr>
          <a:xfrm>
            <a:off x="932688" y="2148840"/>
            <a:ext cx="566928" cy="566928"/>
          </a:xfrm>
          <a:prstGeom prst="ellipse">
            <a:avLst/>
          </a:prstGeom>
          <a:solidFill>
            <a:srgbClr val="F59E0B"/>
          </a:solidFill>
          <a:ln/>
        </p:spPr>
      </p:sp>
      <p:pic>
        <p:nvPicPr>
          <p:cNvPr id="8" name="Image 1" descr="/home/claude/icons/quote_white.png">    </p:cNvPr>
          <p:cNvPicPr>
            <a:picLocks noChangeAspect="1"/>
          </p:cNvPicPr>
          <p:nvPr/>
        </p:nvPicPr>
        <p:blipFill>
          <a:blip r:embed="rId2"/>
          <a:stretch>
            <a:fillRect/>
          </a:stretch>
        </p:blipFill>
        <p:spPr>
          <a:xfrm>
            <a:off x="1074420" y="2290572"/>
            <a:ext cx="283464" cy="283464"/>
          </a:xfrm>
          <a:prstGeom prst="rect">
            <a:avLst/>
          </a:prstGeom>
        </p:spPr>
      </p:pic>
      <p:sp>
        <p:nvSpPr>
          <p:cNvPr id="9" name="Text 5"/>
          <p:cNvSpPr/>
          <p:nvPr/>
        </p:nvSpPr>
        <p:spPr>
          <a:xfrm>
            <a:off x="1755648" y="1965960"/>
            <a:ext cx="9454896" cy="1234440"/>
          </a:xfrm>
          <a:prstGeom prst="rect">
            <a:avLst/>
          </a:prstGeom>
          <a:noFill/>
          <a:ln/>
        </p:spPr>
        <p:txBody>
          <a:bodyPr wrap="square" lIns="0" tIns="0" rIns="0" bIns="0" rtlCol="0" anchor="ctr"/>
          <a:lstStyle/>
          <a:p>
            <a:pPr indent="0" marL="0">
              <a:lnSpc>
                <a:spcPts val="2600"/>
              </a:lnSpc>
              <a:buNone/>
            </a:pPr>
            <a:r>
              <a:rPr lang="en-US" sz="1600" dirty="0">
                <a:solidFill>
                  <a:srgbClr val="3C3B57"/>
                </a:solidFill>
                <a:latin typeface="Malgun Gothic" pitchFamily="34" charset="0"/>
                <a:ea typeface="Malgun Gothic" pitchFamily="34" charset="-122"/>
                <a:cs typeface="Malgun Gothic" pitchFamily="34" charset="-120"/>
              </a:rPr>
              <a:t>소프트웨어의 개발·운영·유지보수에 </a:t>
            </a:r>
            <a:pPr indent="0" marL="0">
              <a:lnSpc>
                <a:spcPts val="2600"/>
              </a:lnSpc>
              <a:buNone/>
            </a:pPr>
            <a:r>
              <a:rPr lang="en-US" sz="1600" b="1" dirty="0">
                <a:solidFill>
                  <a:srgbClr val="1E1B3A"/>
                </a:solidFill>
                <a:latin typeface="Malgun Gothic" pitchFamily="34" charset="0"/>
                <a:ea typeface="Malgun Gothic" pitchFamily="34" charset="-122"/>
                <a:cs typeface="Malgun Gothic" pitchFamily="34" charset="-120"/>
              </a:rPr>
              <a:t>체계적이고, 규율 있으며, 측정 가능한 접근</a:t>
            </a:r>
            <a:pPr indent="0" marL="0">
              <a:lnSpc>
                <a:spcPts val="2600"/>
              </a:lnSpc>
              <a:buNone/>
            </a:pPr>
            <a:r>
              <a:rPr lang="en-US" sz="1600" dirty="0">
                <a:solidFill>
                  <a:srgbClr val="3C3B57"/>
                </a:solidFill>
                <a:latin typeface="Malgun Gothic" pitchFamily="34" charset="0"/>
                <a:ea typeface="Malgun Gothic" pitchFamily="34" charset="-122"/>
                <a:cs typeface="Malgun Gothic" pitchFamily="34" charset="-120"/>
              </a:rPr>
              <a:t>을 적용하는 것.</a:t>
            </a:r>
            <a:pPr indent="0" marL="0">
              <a:lnSpc>
                <a:spcPts val="2600"/>
              </a:lnSpc>
              <a:buNone/>
            </a:pPr>
            <a:endParaRPr lang="en-US" sz="1600" dirty="0"/>
          </a:p>
          <a:p>
            <a:pPr indent="0" marL="0">
              <a:lnSpc>
                <a:spcPts val="2600"/>
              </a:lnSpc>
              <a:buNone/>
            </a:pPr>
            <a:r>
              <a:rPr lang="en-US" sz="1100" dirty="0">
                <a:solidFill>
                  <a:srgbClr val="6B7185"/>
                </a:solidFill>
                <a:latin typeface="Malgun Gothic" pitchFamily="34" charset="0"/>
                <a:ea typeface="Malgun Gothic" pitchFamily="34" charset="-122"/>
                <a:cs typeface="Malgun Gothic" pitchFamily="34" charset="-120"/>
              </a:rPr>
              <a:t>— IEEE의 고전적 정의를 우리말로 풀면</a:t>
            </a:r>
            <a:endParaRPr lang="en-US" sz="1600" dirty="0"/>
          </a:p>
        </p:txBody>
      </p:sp>
      <p:sp>
        <p:nvSpPr>
          <p:cNvPr id="10" name="Text 6"/>
          <p:cNvSpPr/>
          <p:nvPr/>
        </p:nvSpPr>
        <p:spPr>
          <a:xfrm>
            <a:off x="658368" y="3657600"/>
            <a:ext cx="10872216" cy="914400"/>
          </a:xfrm>
          <a:prstGeom prst="rect">
            <a:avLst/>
          </a:prstGeom>
          <a:noFill/>
          <a:ln/>
        </p:spPr>
        <p:txBody>
          <a:bodyPr wrap="square" lIns="0" tIns="0" rIns="0" bIns="0" rtlCol="0" anchor="t"/>
          <a:lstStyle/>
          <a:p>
            <a:pPr algn="l" indent="0" marL="0">
              <a:lnSpc>
                <a:spcPts val="1976"/>
              </a:lnSpc>
              <a:buNone/>
            </a:pPr>
            <a:r>
              <a:rPr lang="en-US" sz="1300" dirty="0">
                <a:solidFill>
                  <a:srgbClr val="3C3B57"/>
                </a:solidFill>
                <a:latin typeface="Malgun Gothic" pitchFamily="34" charset="0"/>
                <a:ea typeface="Malgun Gothic" pitchFamily="34" charset="-122"/>
                <a:cs typeface="Malgun Gothic" pitchFamily="34" charset="-120"/>
              </a:rPr>
              <a:t>혼자서 감으로 짜는 '프로그래밍'과, 여러 사람이 만들어 오래 쓰이는 것을 책임지는 '공학'은 다릅니다. 그 차이를 만드는 세 단어가 정의 안에 들어 있습니다.</a:t>
            </a:r>
            <a:endParaRPr lang="en-US" sz="1300" dirty="0"/>
          </a:p>
        </p:txBody>
      </p:sp>
      <p:sp>
        <p:nvSpPr>
          <p:cNvPr id="11" name="Shape 7"/>
          <p:cNvSpPr/>
          <p:nvPr/>
        </p:nvSpPr>
        <p:spPr>
          <a:xfrm>
            <a:off x="658368" y="4434840"/>
            <a:ext cx="3453384" cy="1691640"/>
          </a:xfrm>
          <a:prstGeom prst="roundRect">
            <a:avLst>
              <a:gd name="adj" fmla="val 5405"/>
            </a:avLst>
          </a:prstGeom>
          <a:solidFill>
            <a:srgbClr val="FFFFFF"/>
          </a:solidFill>
          <a:ln/>
          <a:effectLst>
            <a:outerShdw sx="100000" sy="100000" kx="0" ky="0" algn="bl" rotWithShape="0" blurRad="152400" dist="25400" dir="5400000">
              <a:srgbClr val="1F1D48">
                <a:alpha val="16000"/>
              </a:srgbClr>
            </a:outerShdw>
          </a:effectLst>
        </p:spPr>
      </p:sp>
      <p:sp>
        <p:nvSpPr>
          <p:cNvPr id="12" name="Shape 8"/>
          <p:cNvSpPr/>
          <p:nvPr/>
        </p:nvSpPr>
        <p:spPr>
          <a:xfrm>
            <a:off x="896112" y="4672584"/>
            <a:ext cx="512064" cy="512064"/>
          </a:xfrm>
          <a:prstGeom prst="ellipse">
            <a:avLst/>
          </a:prstGeom>
          <a:solidFill>
            <a:srgbClr val="4F46E5"/>
          </a:solidFill>
          <a:ln/>
        </p:spPr>
      </p:sp>
      <p:pic>
        <p:nvPicPr>
          <p:cNvPr id="13" name="Image 2" descr="/home/claude/icons/route_white.png">    </p:cNvPr>
          <p:cNvPicPr>
            <a:picLocks noChangeAspect="1"/>
          </p:cNvPicPr>
          <p:nvPr/>
        </p:nvPicPr>
        <p:blipFill>
          <a:blip r:embed="rId3"/>
          <a:stretch>
            <a:fillRect/>
          </a:stretch>
        </p:blipFill>
        <p:spPr>
          <a:xfrm>
            <a:off x="1024128" y="4800600"/>
            <a:ext cx="256032" cy="256032"/>
          </a:xfrm>
          <a:prstGeom prst="rect">
            <a:avLst/>
          </a:prstGeom>
        </p:spPr>
      </p:pic>
      <p:sp>
        <p:nvSpPr>
          <p:cNvPr id="14" name="Text 9"/>
          <p:cNvSpPr/>
          <p:nvPr/>
        </p:nvSpPr>
        <p:spPr>
          <a:xfrm>
            <a:off x="896112" y="5312664"/>
            <a:ext cx="2996184" cy="292608"/>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체계적</a:t>
            </a:r>
            <a:endParaRPr lang="en-US" sz="1350" dirty="0"/>
          </a:p>
        </p:txBody>
      </p:sp>
      <p:sp>
        <p:nvSpPr>
          <p:cNvPr id="15" name="Text 10"/>
          <p:cNvSpPr/>
          <p:nvPr/>
        </p:nvSpPr>
        <p:spPr>
          <a:xfrm>
            <a:off x="896112" y="5605272"/>
            <a:ext cx="2996184" cy="41148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정해진 과정을 따른다 — 순서와 산출물이 있다.</a:t>
            </a:r>
            <a:endParaRPr lang="en-US" sz="1100" dirty="0"/>
          </a:p>
        </p:txBody>
      </p:sp>
      <p:sp>
        <p:nvSpPr>
          <p:cNvPr id="16" name="Shape 11"/>
          <p:cNvSpPr/>
          <p:nvPr/>
        </p:nvSpPr>
        <p:spPr>
          <a:xfrm>
            <a:off x="4367784" y="4434840"/>
            <a:ext cx="3453384" cy="1691640"/>
          </a:xfrm>
          <a:prstGeom prst="roundRect">
            <a:avLst>
              <a:gd name="adj" fmla="val 5405"/>
            </a:avLst>
          </a:prstGeom>
          <a:solidFill>
            <a:srgbClr val="FFFFFF"/>
          </a:solidFill>
          <a:ln/>
          <a:effectLst>
            <a:outerShdw sx="100000" sy="100000" kx="0" ky="0" algn="bl" rotWithShape="0" blurRad="152400" dist="25400" dir="5400000">
              <a:srgbClr val="1F1D48">
                <a:alpha val="16000"/>
              </a:srgbClr>
            </a:outerShdw>
          </a:effectLst>
        </p:spPr>
      </p:sp>
      <p:sp>
        <p:nvSpPr>
          <p:cNvPr id="17" name="Shape 12"/>
          <p:cNvSpPr/>
          <p:nvPr/>
        </p:nvSpPr>
        <p:spPr>
          <a:xfrm>
            <a:off x="4605528" y="4672584"/>
            <a:ext cx="512064" cy="512064"/>
          </a:xfrm>
          <a:prstGeom prst="ellipse">
            <a:avLst/>
          </a:prstGeom>
          <a:solidFill>
            <a:srgbClr val="7C3AED"/>
          </a:solidFill>
          <a:ln/>
        </p:spPr>
      </p:sp>
      <p:pic>
        <p:nvPicPr>
          <p:cNvPr id="18" name="Image 3" descr="/home/claude/icons/scale_white.png">    </p:cNvPr>
          <p:cNvPicPr>
            <a:picLocks noChangeAspect="1"/>
          </p:cNvPicPr>
          <p:nvPr/>
        </p:nvPicPr>
        <p:blipFill>
          <a:blip r:embed="rId4"/>
          <a:stretch>
            <a:fillRect/>
          </a:stretch>
        </p:blipFill>
        <p:spPr>
          <a:xfrm>
            <a:off x="4733544" y="4800600"/>
            <a:ext cx="256032" cy="256032"/>
          </a:xfrm>
          <a:prstGeom prst="rect">
            <a:avLst/>
          </a:prstGeom>
        </p:spPr>
      </p:pic>
      <p:sp>
        <p:nvSpPr>
          <p:cNvPr id="19" name="Text 13"/>
          <p:cNvSpPr/>
          <p:nvPr/>
        </p:nvSpPr>
        <p:spPr>
          <a:xfrm>
            <a:off x="4605528" y="5312664"/>
            <a:ext cx="2996184" cy="292608"/>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규율</a:t>
            </a:r>
            <a:endParaRPr lang="en-US" sz="1350" dirty="0"/>
          </a:p>
        </p:txBody>
      </p:sp>
      <p:sp>
        <p:nvSpPr>
          <p:cNvPr id="20" name="Text 14"/>
          <p:cNvSpPr/>
          <p:nvPr/>
        </p:nvSpPr>
        <p:spPr>
          <a:xfrm>
            <a:off x="4605528" y="5605272"/>
            <a:ext cx="2996184" cy="41148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팀이 합의한 규칙을 지킨다 — 개인기가 아니라 약속.</a:t>
            </a:r>
            <a:endParaRPr lang="en-US" sz="1100" dirty="0"/>
          </a:p>
        </p:txBody>
      </p:sp>
      <p:sp>
        <p:nvSpPr>
          <p:cNvPr id="21" name="Shape 15"/>
          <p:cNvSpPr/>
          <p:nvPr/>
        </p:nvSpPr>
        <p:spPr>
          <a:xfrm>
            <a:off x="8077200" y="4434840"/>
            <a:ext cx="3453384" cy="1691640"/>
          </a:xfrm>
          <a:prstGeom prst="roundRect">
            <a:avLst>
              <a:gd name="adj" fmla="val 5405"/>
            </a:avLst>
          </a:prstGeom>
          <a:solidFill>
            <a:srgbClr val="FFFFFF"/>
          </a:solidFill>
          <a:ln/>
          <a:effectLst>
            <a:outerShdw sx="100000" sy="100000" kx="0" ky="0" algn="bl" rotWithShape="0" blurRad="152400" dist="25400" dir="5400000">
              <a:srgbClr val="1F1D48">
                <a:alpha val="16000"/>
              </a:srgbClr>
            </a:outerShdw>
          </a:effectLst>
        </p:spPr>
      </p:sp>
      <p:sp>
        <p:nvSpPr>
          <p:cNvPr id="22" name="Shape 16"/>
          <p:cNvSpPr/>
          <p:nvPr/>
        </p:nvSpPr>
        <p:spPr>
          <a:xfrm>
            <a:off x="8314944" y="4672584"/>
            <a:ext cx="512064" cy="512064"/>
          </a:xfrm>
          <a:prstGeom prst="ellipse">
            <a:avLst/>
          </a:prstGeom>
          <a:solidFill>
            <a:srgbClr val="10B981"/>
          </a:solidFill>
          <a:ln/>
        </p:spPr>
      </p:sp>
      <p:pic>
        <p:nvPicPr>
          <p:cNvPr id="23" name="Image 4" descr="/home/claude/icons/chart_white.png">    </p:cNvPr>
          <p:cNvPicPr>
            <a:picLocks noChangeAspect="1"/>
          </p:cNvPicPr>
          <p:nvPr/>
        </p:nvPicPr>
        <p:blipFill>
          <a:blip r:embed="rId5"/>
          <a:stretch>
            <a:fillRect/>
          </a:stretch>
        </p:blipFill>
        <p:spPr>
          <a:xfrm>
            <a:off x="8442960" y="4800600"/>
            <a:ext cx="256032" cy="256032"/>
          </a:xfrm>
          <a:prstGeom prst="rect">
            <a:avLst/>
          </a:prstGeom>
        </p:spPr>
      </p:pic>
      <p:sp>
        <p:nvSpPr>
          <p:cNvPr id="24" name="Text 17"/>
          <p:cNvSpPr/>
          <p:nvPr/>
        </p:nvSpPr>
        <p:spPr>
          <a:xfrm>
            <a:off x="8314944" y="5312664"/>
            <a:ext cx="2996184" cy="292608"/>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정량적</a:t>
            </a:r>
            <a:endParaRPr lang="en-US" sz="1350" dirty="0"/>
          </a:p>
        </p:txBody>
      </p:sp>
      <p:sp>
        <p:nvSpPr>
          <p:cNvPr id="25" name="Text 18"/>
          <p:cNvSpPr/>
          <p:nvPr/>
        </p:nvSpPr>
        <p:spPr>
          <a:xfrm>
            <a:off x="8314944" y="5605272"/>
            <a:ext cx="2996184" cy="41148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감이 아니라 측정과 근거로 판단한다.</a:t>
            </a:r>
            <a:endParaRPr lang="en-US" sz="1100" dirty="0"/>
          </a:p>
        </p:txBody>
      </p:sp>
      <p:sp>
        <p:nvSpPr>
          <p:cNvPr id="26" name="Text 19"/>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sp>
      <p:pic>
        <p:nvPicPr>
          <p:cNvPr id="3" name="Image 0" descr="/home/claude/icons/book2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소프트웨어공학 개관</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실패에서 시작합니다</a:t>
            </a:r>
            <a:endParaRPr lang="en-US" sz="2600" dirty="0"/>
          </a:p>
        </p:txBody>
      </p:sp>
      <p:sp>
        <p:nvSpPr>
          <p:cNvPr id="6" name="Shape 3"/>
          <p:cNvSpPr/>
          <p:nvPr/>
        </p:nvSpPr>
        <p:spPr>
          <a:xfrm>
            <a:off x="658368" y="1783080"/>
            <a:ext cx="3453384" cy="3794760"/>
          </a:xfrm>
          <a:prstGeom prst="roundRect">
            <a:avLst>
              <a:gd name="adj" fmla="val 2648"/>
            </a:avLst>
          </a:prstGeom>
          <a:solidFill>
            <a:srgbClr val="FFFFFF"/>
          </a:solidFill>
          <a:ln/>
          <a:effectLst>
            <a:outerShdw sx="100000" sy="100000" kx="0" ky="0" algn="bl" rotWithShape="0" blurRad="152400" dist="25400" dir="5400000">
              <a:srgbClr val="1F1D48">
                <a:alpha val="16000"/>
              </a:srgbClr>
            </a:outerShdw>
          </a:effectLst>
        </p:spPr>
      </p:sp>
      <p:sp>
        <p:nvSpPr>
          <p:cNvPr id="7" name="Shape 4"/>
          <p:cNvSpPr/>
          <p:nvPr/>
        </p:nvSpPr>
        <p:spPr>
          <a:xfrm>
            <a:off x="896112" y="2011680"/>
            <a:ext cx="512064" cy="512064"/>
          </a:xfrm>
          <a:prstGeom prst="ellipse">
            <a:avLst/>
          </a:prstGeom>
          <a:solidFill>
            <a:srgbClr val="FB7185"/>
          </a:solidFill>
          <a:ln/>
        </p:spPr>
      </p:sp>
      <p:pic>
        <p:nvPicPr>
          <p:cNvPr id="8" name="Image 1" descr="/home/claude/icons/warn_white.png">    </p:cNvPr>
          <p:cNvPicPr>
            <a:picLocks noChangeAspect="1"/>
          </p:cNvPicPr>
          <p:nvPr/>
        </p:nvPicPr>
        <p:blipFill>
          <a:blip r:embed="rId2"/>
          <a:stretch>
            <a:fillRect/>
          </a:stretch>
        </p:blipFill>
        <p:spPr>
          <a:xfrm>
            <a:off x="1024128" y="2139696"/>
            <a:ext cx="256032" cy="256032"/>
          </a:xfrm>
          <a:prstGeom prst="rect">
            <a:avLst/>
          </a:prstGeom>
        </p:spPr>
      </p:pic>
      <p:sp>
        <p:nvSpPr>
          <p:cNvPr id="9" name="Text 5"/>
          <p:cNvSpPr/>
          <p:nvPr/>
        </p:nvSpPr>
        <p:spPr>
          <a:xfrm>
            <a:off x="1536192" y="2011680"/>
            <a:ext cx="2447544" cy="292608"/>
          </a:xfrm>
          <a:prstGeom prst="rect">
            <a:avLst/>
          </a:prstGeom>
          <a:noFill/>
          <a:ln/>
        </p:spPr>
        <p:txBody>
          <a:bodyPr wrap="square" lIns="0" tIns="0" rIns="0" bIns="0" rtlCol="0" anchor="ctr"/>
          <a:lstStyle/>
          <a:p>
            <a:pPr indent="0" marL="0">
              <a:buNone/>
            </a:pPr>
            <a:r>
              <a:rPr lang="en-US" sz="1450" b="1" dirty="0">
                <a:solidFill>
                  <a:srgbClr val="1E1B3A"/>
                </a:solidFill>
                <a:latin typeface="Malgun Gothic" pitchFamily="34" charset="0"/>
                <a:ea typeface="Malgun Gothic" pitchFamily="34" charset="-122"/>
                <a:cs typeface="Malgun Gothic" pitchFamily="34" charset="-120"/>
              </a:rPr>
              <a:t>Therac-25</a:t>
            </a:r>
            <a:endParaRPr lang="en-US" sz="1450" dirty="0"/>
          </a:p>
        </p:txBody>
      </p:sp>
      <p:sp>
        <p:nvSpPr>
          <p:cNvPr id="10" name="Text 6"/>
          <p:cNvSpPr/>
          <p:nvPr/>
        </p:nvSpPr>
        <p:spPr>
          <a:xfrm>
            <a:off x="1536192" y="2304288"/>
            <a:ext cx="2447544" cy="237744"/>
          </a:xfrm>
          <a:prstGeom prst="rect">
            <a:avLst/>
          </a:prstGeom>
          <a:noFill/>
          <a:ln/>
        </p:spPr>
        <p:txBody>
          <a:bodyPr wrap="square" lIns="0" tIns="0" rIns="0" bIns="0" rtlCol="0" anchor="ctr"/>
          <a:lstStyle/>
          <a:p>
            <a:pPr indent="0" marL="0">
              <a:buNone/>
            </a:pPr>
            <a:r>
              <a:rPr lang="en-US" sz="1000" b="1" dirty="0">
                <a:solidFill>
                  <a:srgbClr val="FB7185"/>
                </a:solidFill>
                <a:latin typeface="Malgun Gothic" pitchFamily="34" charset="0"/>
                <a:ea typeface="Malgun Gothic" pitchFamily="34" charset="-122"/>
                <a:cs typeface="Malgun Gothic" pitchFamily="34" charset="-120"/>
              </a:rPr>
              <a:t>1985–87 · 방사선 치료기</a:t>
            </a:r>
            <a:endParaRPr lang="en-US" sz="1000" dirty="0"/>
          </a:p>
        </p:txBody>
      </p:sp>
      <p:sp>
        <p:nvSpPr>
          <p:cNvPr id="11" name="Text 7"/>
          <p:cNvSpPr/>
          <p:nvPr/>
        </p:nvSpPr>
        <p:spPr>
          <a:xfrm>
            <a:off x="896112" y="2724912"/>
            <a:ext cx="2977896" cy="2697480"/>
          </a:xfrm>
          <a:prstGeom prst="rect">
            <a:avLst/>
          </a:prstGeom>
          <a:noFill/>
          <a:ln/>
        </p:spPr>
        <p:txBody>
          <a:bodyPr wrap="square" lIns="0" tIns="0" rIns="0" bIns="0" rtlCol="0" anchor="t"/>
          <a:lstStyle/>
          <a:p>
            <a:pPr indent="0" marL="0">
              <a:lnSpc>
                <a:spcPts val="1650"/>
              </a:lnSpc>
              <a:buNone/>
            </a:pPr>
            <a:r>
              <a:rPr lang="en-US" sz="1100" dirty="0">
                <a:solidFill>
                  <a:srgbClr val="3C3B57"/>
                </a:solidFill>
                <a:latin typeface="Malgun Gothic" pitchFamily="34" charset="0"/>
                <a:ea typeface="Malgun Gothic" pitchFamily="34" charset="-122"/>
                <a:cs typeface="Malgun Gothic" pitchFamily="34" charset="-120"/>
              </a:rPr>
              <a:t>드문 입력 순서에서만 터지는 결함과 검증 부재가 겹쳐 환자들이 과다 피폭 — 사망 사고를 포함해 최소 6건. 하드웨어 안전장치를 빼고 소프트웨어만 믿은 대가였습니다.</a:t>
            </a:r>
            <a:endParaRPr lang="en-US" sz="1100" dirty="0"/>
          </a:p>
        </p:txBody>
      </p:sp>
      <p:sp>
        <p:nvSpPr>
          <p:cNvPr id="12" name="Shape 8"/>
          <p:cNvSpPr/>
          <p:nvPr/>
        </p:nvSpPr>
        <p:spPr>
          <a:xfrm>
            <a:off x="4367784" y="1783080"/>
            <a:ext cx="3453384" cy="3794760"/>
          </a:xfrm>
          <a:prstGeom prst="roundRect">
            <a:avLst>
              <a:gd name="adj" fmla="val 2648"/>
            </a:avLst>
          </a:prstGeom>
          <a:solidFill>
            <a:srgbClr val="FFFFFF"/>
          </a:solidFill>
          <a:ln/>
          <a:effectLst>
            <a:outerShdw sx="100000" sy="100000" kx="0" ky="0" algn="bl" rotWithShape="0" blurRad="152400" dist="25400" dir="5400000">
              <a:srgbClr val="1F1D48">
                <a:alpha val="16000"/>
              </a:srgbClr>
            </a:outerShdw>
          </a:effectLst>
        </p:spPr>
      </p:sp>
      <p:sp>
        <p:nvSpPr>
          <p:cNvPr id="13" name="Shape 9"/>
          <p:cNvSpPr/>
          <p:nvPr/>
        </p:nvSpPr>
        <p:spPr>
          <a:xfrm>
            <a:off x="4605528" y="2011680"/>
            <a:ext cx="512064" cy="512064"/>
          </a:xfrm>
          <a:prstGeom prst="ellipse">
            <a:avLst/>
          </a:prstGeom>
          <a:solidFill>
            <a:srgbClr val="F59E0B"/>
          </a:solidFill>
          <a:ln/>
        </p:spPr>
      </p:sp>
      <p:pic>
        <p:nvPicPr>
          <p:cNvPr id="14" name="Image 2" descr="/home/claude/icons/rocket_white.png">    </p:cNvPr>
          <p:cNvPicPr>
            <a:picLocks noChangeAspect="1"/>
          </p:cNvPicPr>
          <p:nvPr/>
        </p:nvPicPr>
        <p:blipFill>
          <a:blip r:embed="rId3"/>
          <a:stretch>
            <a:fillRect/>
          </a:stretch>
        </p:blipFill>
        <p:spPr>
          <a:xfrm>
            <a:off x="4733544" y="2139696"/>
            <a:ext cx="256032" cy="256032"/>
          </a:xfrm>
          <a:prstGeom prst="rect">
            <a:avLst/>
          </a:prstGeom>
        </p:spPr>
      </p:pic>
      <p:sp>
        <p:nvSpPr>
          <p:cNvPr id="15" name="Text 10"/>
          <p:cNvSpPr/>
          <p:nvPr/>
        </p:nvSpPr>
        <p:spPr>
          <a:xfrm>
            <a:off x="5245608" y="2011680"/>
            <a:ext cx="2447544" cy="292608"/>
          </a:xfrm>
          <a:prstGeom prst="rect">
            <a:avLst/>
          </a:prstGeom>
          <a:noFill/>
          <a:ln/>
        </p:spPr>
        <p:txBody>
          <a:bodyPr wrap="square" lIns="0" tIns="0" rIns="0" bIns="0" rtlCol="0" anchor="ctr"/>
          <a:lstStyle/>
          <a:p>
            <a:pPr indent="0" marL="0">
              <a:buNone/>
            </a:pPr>
            <a:r>
              <a:rPr lang="en-US" sz="1450" b="1" dirty="0">
                <a:solidFill>
                  <a:srgbClr val="1E1B3A"/>
                </a:solidFill>
                <a:latin typeface="Malgun Gothic" pitchFamily="34" charset="0"/>
                <a:ea typeface="Malgun Gothic" pitchFamily="34" charset="-122"/>
                <a:cs typeface="Malgun Gothic" pitchFamily="34" charset="-120"/>
              </a:rPr>
              <a:t>Ariane 5</a:t>
            </a:r>
            <a:endParaRPr lang="en-US" sz="1450" dirty="0"/>
          </a:p>
        </p:txBody>
      </p:sp>
      <p:sp>
        <p:nvSpPr>
          <p:cNvPr id="16" name="Text 11"/>
          <p:cNvSpPr/>
          <p:nvPr/>
        </p:nvSpPr>
        <p:spPr>
          <a:xfrm>
            <a:off x="5245608" y="2304288"/>
            <a:ext cx="2447544" cy="237744"/>
          </a:xfrm>
          <a:prstGeom prst="rect">
            <a:avLst/>
          </a:prstGeom>
          <a:noFill/>
          <a:ln/>
        </p:spPr>
        <p:txBody>
          <a:bodyPr wrap="square" lIns="0" tIns="0" rIns="0" bIns="0" rtlCol="0" anchor="ctr"/>
          <a:lstStyle/>
          <a:p>
            <a:pPr indent="0" marL="0">
              <a:buNone/>
            </a:pPr>
            <a:r>
              <a:rPr lang="en-US" sz="1000" b="1" dirty="0">
                <a:solidFill>
                  <a:srgbClr val="B45309"/>
                </a:solidFill>
                <a:latin typeface="Malgun Gothic" pitchFamily="34" charset="0"/>
                <a:ea typeface="Malgun Gothic" pitchFamily="34" charset="-122"/>
                <a:cs typeface="Malgun Gothic" pitchFamily="34" charset="-120"/>
              </a:rPr>
              <a:t>1996 · 유럽 우주 로켓</a:t>
            </a:r>
            <a:endParaRPr lang="en-US" sz="1000" dirty="0"/>
          </a:p>
        </p:txBody>
      </p:sp>
      <p:sp>
        <p:nvSpPr>
          <p:cNvPr id="17" name="Text 12"/>
          <p:cNvSpPr/>
          <p:nvPr/>
        </p:nvSpPr>
        <p:spPr>
          <a:xfrm>
            <a:off x="4605528" y="2724912"/>
            <a:ext cx="2977896" cy="2697480"/>
          </a:xfrm>
          <a:prstGeom prst="rect">
            <a:avLst/>
          </a:prstGeom>
          <a:noFill/>
          <a:ln/>
        </p:spPr>
        <p:txBody>
          <a:bodyPr wrap="square" lIns="0" tIns="0" rIns="0" bIns="0" rtlCol="0" anchor="t"/>
          <a:lstStyle/>
          <a:p>
            <a:pPr indent="0" marL="0">
              <a:lnSpc>
                <a:spcPts val="1650"/>
              </a:lnSpc>
              <a:buNone/>
            </a:pPr>
            <a:r>
              <a:rPr lang="en-US" sz="1100" dirty="0">
                <a:solidFill>
                  <a:srgbClr val="3C3B57"/>
                </a:solidFill>
                <a:latin typeface="Malgun Gothic" pitchFamily="34" charset="0"/>
                <a:ea typeface="Malgun Gothic" pitchFamily="34" charset="-122"/>
                <a:cs typeface="Malgun Gothic" pitchFamily="34" charset="-120"/>
              </a:rPr>
              <a:t>이전 기종에서 재사용한 코드의 수치 변환 오버플로로 발사 37초 만에 자폭. 약 5억 달러가 사라졌습니다. 코드는 멀쩡했습니다 — 옛 기종의 '가정'이 새 기종에선 틀렸을 뿐.</a:t>
            </a:r>
            <a:endParaRPr lang="en-US" sz="1100" dirty="0"/>
          </a:p>
        </p:txBody>
      </p:sp>
      <p:sp>
        <p:nvSpPr>
          <p:cNvPr id="18" name="Shape 13"/>
          <p:cNvSpPr/>
          <p:nvPr/>
        </p:nvSpPr>
        <p:spPr>
          <a:xfrm>
            <a:off x="8077200" y="1783080"/>
            <a:ext cx="3453384" cy="3794760"/>
          </a:xfrm>
          <a:prstGeom prst="roundRect">
            <a:avLst>
              <a:gd name="adj" fmla="val 2648"/>
            </a:avLst>
          </a:prstGeom>
          <a:solidFill>
            <a:srgbClr val="FFFFFF"/>
          </a:solidFill>
          <a:ln/>
          <a:effectLst>
            <a:outerShdw sx="100000" sy="100000" kx="0" ky="0" algn="bl" rotWithShape="0" blurRad="152400" dist="25400" dir="5400000">
              <a:srgbClr val="1F1D48">
                <a:alpha val="16000"/>
              </a:srgbClr>
            </a:outerShdw>
          </a:effectLst>
        </p:spPr>
      </p:sp>
      <p:sp>
        <p:nvSpPr>
          <p:cNvPr id="19" name="Shape 14"/>
          <p:cNvSpPr/>
          <p:nvPr/>
        </p:nvSpPr>
        <p:spPr>
          <a:xfrm>
            <a:off x="8314944" y="2011680"/>
            <a:ext cx="512064" cy="512064"/>
          </a:xfrm>
          <a:prstGeom prst="ellipse">
            <a:avLst/>
          </a:prstGeom>
          <a:solidFill>
            <a:srgbClr val="4F46E5"/>
          </a:solidFill>
          <a:ln/>
        </p:spPr>
      </p:sp>
      <p:pic>
        <p:nvPicPr>
          <p:cNvPr id="20" name="Image 3" descr="/home/claude/icons/chart_white.png">    </p:cNvPr>
          <p:cNvPicPr>
            <a:picLocks noChangeAspect="1"/>
          </p:cNvPicPr>
          <p:nvPr/>
        </p:nvPicPr>
        <p:blipFill>
          <a:blip r:embed="rId4"/>
          <a:stretch>
            <a:fillRect/>
          </a:stretch>
        </p:blipFill>
        <p:spPr>
          <a:xfrm>
            <a:off x="8442960" y="2139696"/>
            <a:ext cx="256032" cy="256032"/>
          </a:xfrm>
          <a:prstGeom prst="rect">
            <a:avLst/>
          </a:prstGeom>
        </p:spPr>
      </p:pic>
      <p:sp>
        <p:nvSpPr>
          <p:cNvPr id="21" name="Text 15"/>
          <p:cNvSpPr/>
          <p:nvPr/>
        </p:nvSpPr>
        <p:spPr>
          <a:xfrm>
            <a:off x="8955024" y="2011680"/>
            <a:ext cx="2447544" cy="292608"/>
          </a:xfrm>
          <a:prstGeom prst="rect">
            <a:avLst/>
          </a:prstGeom>
          <a:noFill/>
          <a:ln/>
        </p:spPr>
        <p:txBody>
          <a:bodyPr wrap="square" lIns="0" tIns="0" rIns="0" bIns="0" rtlCol="0" anchor="ctr"/>
          <a:lstStyle/>
          <a:p>
            <a:pPr indent="0" marL="0">
              <a:buNone/>
            </a:pPr>
            <a:r>
              <a:rPr lang="en-US" sz="1450" b="1" dirty="0">
                <a:solidFill>
                  <a:srgbClr val="1E1B3A"/>
                </a:solidFill>
                <a:latin typeface="Malgun Gothic" pitchFamily="34" charset="0"/>
                <a:ea typeface="Malgun Gothic" pitchFamily="34" charset="-122"/>
                <a:cs typeface="Malgun Gothic" pitchFamily="34" charset="-120"/>
              </a:rPr>
              <a:t>Knight Capital</a:t>
            </a:r>
            <a:endParaRPr lang="en-US" sz="1450" dirty="0"/>
          </a:p>
        </p:txBody>
      </p:sp>
      <p:sp>
        <p:nvSpPr>
          <p:cNvPr id="22" name="Text 16"/>
          <p:cNvSpPr/>
          <p:nvPr/>
        </p:nvSpPr>
        <p:spPr>
          <a:xfrm>
            <a:off x="8955024" y="2304288"/>
            <a:ext cx="2447544" cy="237744"/>
          </a:xfrm>
          <a:prstGeom prst="rect">
            <a:avLst/>
          </a:prstGeom>
          <a:noFill/>
          <a:ln/>
        </p:spPr>
        <p:txBody>
          <a:bodyPr wrap="square" lIns="0" tIns="0" rIns="0" bIns="0" rtlCol="0" anchor="ctr"/>
          <a:lstStyle/>
          <a:p>
            <a:pPr indent="0" marL="0">
              <a:buNone/>
            </a:pPr>
            <a:r>
              <a:rPr lang="en-US" sz="1000" b="1" dirty="0">
                <a:solidFill>
                  <a:srgbClr val="4F46E5"/>
                </a:solidFill>
                <a:latin typeface="Malgun Gothic" pitchFamily="34" charset="0"/>
                <a:ea typeface="Malgun Gothic" pitchFamily="34" charset="-122"/>
                <a:cs typeface="Malgun Gothic" pitchFamily="34" charset="-120"/>
              </a:rPr>
              <a:t>2012 · 미국 증권사</a:t>
            </a:r>
            <a:endParaRPr lang="en-US" sz="1000" dirty="0"/>
          </a:p>
        </p:txBody>
      </p:sp>
      <p:sp>
        <p:nvSpPr>
          <p:cNvPr id="23" name="Text 17"/>
          <p:cNvSpPr/>
          <p:nvPr/>
        </p:nvSpPr>
        <p:spPr>
          <a:xfrm>
            <a:off x="8314944" y="2724912"/>
            <a:ext cx="2977896" cy="2697480"/>
          </a:xfrm>
          <a:prstGeom prst="rect">
            <a:avLst/>
          </a:prstGeom>
          <a:noFill/>
          <a:ln/>
        </p:spPr>
        <p:txBody>
          <a:bodyPr wrap="square" lIns="0" tIns="0" rIns="0" bIns="0" rtlCol="0" anchor="t"/>
          <a:lstStyle/>
          <a:p>
            <a:pPr indent="0" marL="0">
              <a:lnSpc>
                <a:spcPts val="1650"/>
              </a:lnSpc>
              <a:buNone/>
            </a:pPr>
            <a:r>
              <a:rPr lang="en-US" sz="1100" dirty="0">
                <a:solidFill>
                  <a:srgbClr val="3C3B57"/>
                </a:solidFill>
                <a:latin typeface="Malgun Gothic" pitchFamily="34" charset="0"/>
                <a:ea typeface="Malgun Gothic" pitchFamily="34" charset="-122"/>
                <a:cs typeface="Malgun Gothic" pitchFamily="34" charset="-120"/>
              </a:rPr>
              <a:t>서버 8대 중 1대에 새 버전 배포가 누락되어 잠자던 옛 코드가 깨어남. 45분 만에 약 4억 4천만 달러 손실, 회사는 사실상 무너졌습니다. 배포라는 '과정'의 실패였습니다.</a:t>
            </a:r>
            <a:endParaRPr lang="en-US" sz="1100" dirty="0"/>
          </a:p>
        </p:txBody>
      </p:sp>
      <p:sp>
        <p:nvSpPr>
          <p:cNvPr id="24" name="Text 18"/>
          <p:cNvSpPr/>
          <p:nvPr/>
        </p:nvSpPr>
        <p:spPr>
          <a:xfrm>
            <a:off x="658368" y="5760720"/>
            <a:ext cx="10872216" cy="914400"/>
          </a:xfrm>
          <a:prstGeom prst="rect">
            <a:avLst/>
          </a:prstGeom>
          <a:noFill/>
          <a:ln/>
        </p:spPr>
        <p:txBody>
          <a:bodyPr wrap="square" lIns="0" tIns="0" rIns="0" bIns="0" rtlCol="0" anchor="t"/>
          <a:lstStyle/>
          <a:p>
            <a:pPr algn="l" indent="0" marL="0">
              <a:lnSpc>
                <a:spcPts val="1900"/>
              </a:lnSpc>
              <a:buNone/>
            </a:pPr>
            <a:r>
              <a:rPr lang="en-US" sz="1250" i="1" dirty="0">
                <a:solidFill>
                  <a:srgbClr val="6B7185"/>
                </a:solidFill>
                <a:latin typeface="Malgun Gothic" pitchFamily="34" charset="0"/>
                <a:ea typeface="Malgun Gothic" pitchFamily="34" charset="-122"/>
                <a:cs typeface="Malgun Gothic" pitchFamily="34" charset="-120"/>
              </a:rPr>
              <a:t>셋 다 '코딩 실력'의 문제가 아니었습니다 — 그렇다면 무엇의 문제였을까요?</a:t>
            </a:r>
            <a:endParaRPr lang="en-US" sz="1250" dirty="0"/>
          </a:p>
        </p:txBody>
      </p:sp>
      <p:sp>
        <p:nvSpPr>
          <p:cNvPr id="25" name="Text 19"/>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sp>
      <p:pic>
        <p:nvPicPr>
          <p:cNvPr id="3" name="Image 0" descr="/home/claude/icons/book2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소프트웨어공학 개관</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세 사고의 공통점 — 과정이 무너졌다</a:t>
            </a:r>
            <a:endParaRPr lang="en-US" sz="2600" dirty="0"/>
          </a:p>
        </p:txBody>
      </p:sp>
      <p:sp>
        <p:nvSpPr>
          <p:cNvPr id="6" name="Shape 3"/>
          <p:cNvSpPr/>
          <p:nvPr/>
        </p:nvSpPr>
        <p:spPr>
          <a:xfrm>
            <a:off x="658368" y="1810512"/>
            <a:ext cx="457200" cy="457200"/>
          </a:xfrm>
          <a:prstGeom prst="ellipse">
            <a:avLst/>
          </a:prstGeom>
          <a:solidFill>
            <a:srgbClr val="FB7185"/>
          </a:solidFill>
          <a:ln/>
        </p:spPr>
      </p:sp>
      <p:pic>
        <p:nvPicPr>
          <p:cNvPr id="7" name="Image 1" descr="/home/claude/icons/search_white.png">    </p:cNvPr>
          <p:cNvPicPr>
            <a:picLocks noChangeAspect="1"/>
          </p:cNvPicPr>
          <p:nvPr/>
        </p:nvPicPr>
        <p:blipFill>
          <a:blip r:embed="rId2"/>
          <a:stretch>
            <a:fillRect/>
          </a:stretch>
        </p:blipFill>
        <p:spPr>
          <a:xfrm>
            <a:off x="772668" y="1924812"/>
            <a:ext cx="228600" cy="228600"/>
          </a:xfrm>
          <a:prstGeom prst="rect">
            <a:avLst/>
          </a:prstGeom>
        </p:spPr>
      </p:pic>
      <p:sp>
        <p:nvSpPr>
          <p:cNvPr id="8" name="Text 4"/>
          <p:cNvSpPr/>
          <p:nvPr/>
        </p:nvSpPr>
        <p:spPr>
          <a:xfrm>
            <a:off x="1335024" y="1773936"/>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가정이 검증되지 않았다</a:t>
            </a:r>
            <a:endParaRPr lang="en-US" sz="1400" dirty="0"/>
          </a:p>
        </p:txBody>
      </p:sp>
      <p:sp>
        <p:nvSpPr>
          <p:cNvPr id="9" name="Text 5"/>
          <p:cNvSpPr/>
          <p:nvPr/>
        </p:nvSpPr>
        <p:spPr>
          <a:xfrm>
            <a:off x="1335024" y="2048256"/>
            <a:ext cx="10195560" cy="841248"/>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Ariane 5 — "이 값은 범위를 안 넘는다"는 옛 기종의 가정을 아무도 새 기종에서 다시 확인하지 않았습니다.</a:t>
            </a:r>
            <a:endParaRPr lang="en-US" sz="1150" dirty="0"/>
          </a:p>
        </p:txBody>
      </p:sp>
      <p:sp>
        <p:nvSpPr>
          <p:cNvPr id="10" name="Shape 6"/>
          <p:cNvSpPr/>
          <p:nvPr/>
        </p:nvSpPr>
        <p:spPr>
          <a:xfrm>
            <a:off x="658368" y="2889504"/>
            <a:ext cx="457200" cy="457200"/>
          </a:xfrm>
          <a:prstGeom prst="ellipse">
            <a:avLst/>
          </a:prstGeom>
          <a:solidFill>
            <a:srgbClr val="F59E0B"/>
          </a:solidFill>
          <a:ln/>
        </p:spPr>
      </p:sp>
      <p:pic>
        <p:nvPicPr>
          <p:cNvPr id="11" name="Image 2" descr="/home/claude/icons/bug_white.png">    </p:cNvPr>
          <p:cNvPicPr>
            <a:picLocks noChangeAspect="1"/>
          </p:cNvPicPr>
          <p:nvPr/>
        </p:nvPicPr>
        <p:blipFill>
          <a:blip r:embed="rId3"/>
          <a:stretch>
            <a:fillRect/>
          </a:stretch>
        </p:blipFill>
        <p:spPr>
          <a:xfrm>
            <a:off x="772668" y="3003804"/>
            <a:ext cx="228600" cy="228600"/>
          </a:xfrm>
          <a:prstGeom prst="rect">
            <a:avLst/>
          </a:prstGeom>
        </p:spPr>
      </p:pic>
      <p:sp>
        <p:nvSpPr>
          <p:cNvPr id="12" name="Text 7"/>
          <p:cNvSpPr/>
          <p:nvPr/>
        </p:nvSpPr>
        <p:spPr>
          <a:xfrm>
            <a:off x="1335024" y="2852928"/>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테스트가 현실을 덮지 못했다</a:t>
            </a:r>
            <a:endParaRPr lang="en-US" sz="1400" dirty="0"/>
          </a:p>
        </p:txBody>
      </p:sp>
      <p:sp>
        <p:nvSpPr>
          <p:cNvPr id="13" name="Text 8"/>
          <p:cNvSpPr/>
          <p:nvPr/>
        </p:nvSpPr>
        <p:spPr>
          <a:xfrm>
            <a:off x="1335024" y="3127248"/>
            <a:ext cx="10195560" cy="841248"/>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Therac-25 — 숙련된 조작자의 빠른 입력 순서라는 현실적 사용 패턴이 시험 항목에 없었습니다.</a:t>
            </a:r>
            <a:endParaRPr lang="en-US" sz="1150" dirty="0"/>
          </a:p>
        </p:txBody>
      </p:sp>
      <p:sp>
        <p:nvSpPr>
          <p:cNvPr id="14" name="Shape 9"/>
          <p:cNvSpPr/>
          <p:nvPr/>
        </p:nvSpPr>
        <p:spPr>
          <a:xfrm>
            <a:off x="658368" y="3968496"/>
            <a:ext cx="457200" cy="457200"/>
          </a:xfrm>
          <a:prstGeom prst="ellipse">
            <a:avLst/>
          </a:prstGeom>
          <a:solidFill>
            <a:srgbClr val="4F46E5"/>
          </a:solidFill>
          <a:ln/>
        </p:spPr>
      </p:sp>
      <p:pic>
        <p:nvPicPr>
          <p:cNvPr id="15" name="Image 3" descr="/home/claude/icons/exchange_white.png">    </p:cNvPr>
          <p:cNvPicPr>
            <a:picLocks noChangeAspect="1"/>
          </p:cNvPicPr>
          <p:nvPr/>
        </p:nvPicPr>
        <p:blipFill>
          <a:blip r:embed="rId4"/>
          <a:stretch>
            <a:fillRect/>
          </a:stretch>
        </p:blipFill>
        <p:spPr>
          <a:xfrm>
            <a:off x="772668" y="4082796"/>
            <a:ext cx="228600" cy="228600"/>
          </a:xfrm>
          <a:prstGeom prst="rect">
            <a:avLst/>
          </a:prstGeom>
        </p:spPr>
      </p:pic>
      <p:sp>
        <p:nvSpPr>
          <p:cNvPr id="16" name="Text 10"/>
          <p:cNvSpPr/>
          <p:nvPr/>
        </p:nvSpPr>
        <p:spPr>
          <a:xfrm>
            <a:off x="1335024" y="3931920"/>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변경과 배포가 관리되지 않았다</a:t>
            </a:r>
            <a:endParaRPr lang="en-US" sz="1400" dirty="0"/>
          </a:p>
        </p:txBody>
      </p:sp>
      <p:sp>
        <p:nvSpPr>
          <p:cNvPr id="17" name="Text 11"/>
          <p:cNvSpPr/>
          <p:nvPr/>
        </p:nvSpPr>
        <p:spPr>
          <a:xfrm>
            <a:off x="1335024" y="4206240"/>
            <a:ext cx="10195560" cy="841248"/>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Knight Capital — 무엇이 어디에 배포되었는지 확인하는 절차가 없었고, 8대 중 1대의 누락을 아무도 몰랐습니다.</a:t>
            </a:r>
            <a:endParaRPr lang="en-US" sz="1150" dirty="0"/>
          </a:p>
        </p:txBody>
      </p:sp>
      <p:sp>
        <p:nvSpPr>
          <p:cNvPr id="18" name="Shape 12"/>
          <p:cNvSpPr/>
          <p:nvPr/>
        </p:nvSpPr>
        <p:spPr>
          <a:xfrm>
            <a:off x="658368" y="5166360"/>
            <a:ext cx="10872216" cy="868680"/>
          </a:xfrm>
          <a:prstGeom prst="roundRect">
            <a:avLst>
              <a:gd name="adj" fmla="val 10526"/>
            </a:avLst>
          </a:prstGeom>
          <a:solidFill>
            <a:srgbClr val="EEF0FF"/>
          </a:solidFill>
          <a:ln/>
        </p:spPr>
      </p:sp>
      <p:sp>
        <p:nvSpPr>
          <p:cNvPr id="19" name="Shape 13"/>
          <p:cNvSpPr/>
          <p:nvPr/>
        </p:nvSpPr>
        <p:spPr>
          <a:xfrm>
            <a:off x="877824" y="5362956"/>
            <a:ext cx="475488" cy="475488"/>
          </a:xfrm>
          <a:prstGeom prst="ellipse">
            <a:avLst/>
          </a:prstGeom>
          <a:solidFill>
            <a:srgbClr val="10B981"/>
          </a:solidFill>
          <a:ln/>
        </p:spPr>
      </p:sp>
      <p:pic>
        <p:nvPicPr>
          <p:cNvPr id="20" name="Image 4" descr="/home/claude/icons/bulb_white.png">    </p:cNvPr>
          <p:cNvPicPr>
            <a:picLocks noChangeAspect="1"/>
          </p:cNvPicPr>
          <p:nvPr/>
        </p:nvPicPr>
        <p:blipFill>
          <a:blip r:embed="rId5"/>
          <a:stretch>
            <a:fillRect/>
          </a:stretch>
        </p:blipFill>
        <p:spPr>
          <a:xfrm>
            <a:off x="996696" y="5481828"/>
            <a:ext cx="237744" cy="237744"/>
          </a:xfrm>
          <a:prstGeom prst="rect">
            <a:avLst/>
          </a:prstGeom>
        </p:spPr>
      </p:pic>
      <p:sp>
        <p:nvSpPr>
          <p:cNvPr id="21" name="Text 14"/>
          <p:cNvSpPr/>
          <p:nvPr/>
        </p:nvSpPr>
        <p:spPr>
          <a:xfrm>
            <a:off x="1554480" y="5257800"/>
            <a:ext cx="9738360" cy="685800"/>
          </a:xfrm>
          <a:prstGeom prst="rect">
            <a:avLst/>
          </a:prstGeom>
          <a:noFill/>
          <a:ln/>
        </p:spPr>
        <p:txBody>
          <a:bodyPr wrap="square" lIns="0" tIns="0" rIns="0" bIns="0" rtlCol="0" anchor="ctr"/>
          <a:lstStyle/>
          <a:p>
            <a:pPr indent="0" marL="0">
              <a:lnSpc>
                <a:spcPts val="1633"/>
              </a:lnSpc>
              <a:buNone/>
            </a:pPr>
            <a:r>
              <a:rPr lang="en-US" sz="1300" b="1" dirty="0">
                <a:solidFill>
                  <a:srgbClr val="1E1B3A"/>
                </a:solidFill>
                <a:latin typeface="Malgun Gothic" pitchFamily="34" charset="0"/>
                <a:ea typeface="Malgun Gothic" pitchFamily="34" charset="-122"/>
                <a:cs typeface="Malgun Gothic" pitchFamily="34" charset="-120"/>
              </a:rPr>
              <a:t>그래서 '공학'이 필요합니다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개인의 실력이 아니라 팀의 과정 — 요구를 확인하고, 검증하고, 변경을 관리하는 체계가 사고를 막습니다. 이 수업이 다루는 것이 바로 그 과정입니다.</a:t>
            </a:r>
            <a:endParaRPr lang="en-US" sz="1300" dirty="0"/>
          </a:p>
        </p:txBody>
      </p:sp>
      <p:sp>
        <p:nvSpPr>
          <p:cNvPr id="22" name="Text 1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sp>
      <p:pic>
        <p:nvPicPr>
          <p:cNvPr id="3" name="Image 0" descr="/home/claude/icons/book2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소프트웨어공학 개관</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소프트웨어는 왜 유독 어려운가</a:t>
            </a:r>
            <a:endParaRPr lang="en-US" sz="2600" dirty="0"/>
          </a:p>
        </p:txBody>
      </p:sp>
      <p:sp>
        <p:nvSpPr>
          <p:cNvPr id="6" name="Text 3"/>
          <p:cNvSpPr/>
          <p:nvPr/>
        </p:nvSpPr>
        <p:spPr>
          <a:xfrm>
            <a:off x="658368" y="1645920"/>
            <a:ext cx="10872216" cy="914400"/>
          </a:xfrm>
          <a:prstGeom prst="rect">
            <a:avLst/>
          </a:prstGeom>
          <a:noFill/>
          <a:ln/>
        </p:spPr>
        <p:txBody>
          <a:bodyPr wrap="square" lIns="0" tIns="0" rIns="0" bIns="0" rtlCol="0" anchor="t"/>
          <a:lstStyle/>
          <a:p>
            <a:pPr algn="l" indent="0" marL="0">
              <a:lnSpc>
                <a:spcPts val="1976"/>
              </a:lnSpc>
              <a:buNone/>
            </a:pPr>
            <a:r>
              <a:rPr lang="en-US" sz="1300" dirty="0">
                <a:solidFill>
                  <a:srgbClr val="3C3B57"/>
                </a:solidFill>
                <a:latin typeface="Malgun Gothic" pitchFamily="34" charset="0"/>
                <a:ea typeface="Malgun Gothic" pitchFamily="34" charset="-122"/>
                <a:cs typeface="Malgun Gothic" pitchFamily="34" charset="-120"/>
              </a:rPr>
              <a:t>다리나 건물을 짓는 공학에는 수백 년의 노하우가 있는데, 소프트웨어는 왜 아직도 자주 무너질까요. 소프트웨어라는 재료 자체의 성질 때문입니다.</a:t>
            </a:r>
            <a:endParaRPr lang="en-US" sz="1300" dirty="0"/>
          </a:p>
        </p:txBody>
      </p:sp>
      <p:sp>
        <p:nvSpPr>
          <p:cNvPr id="7" name="Shape 4"/>
          <p:cNvSpPr/>
          <p:nvPr/>
        </p:nvSpPr>
        <p:spPr>
          <a:xfrm>
            <a:off x="658368" y="2377440"/>
            <a:ext cx="2526030" cy="2377440"/>
          </a:xfrm>
          <a:prstGeom prst="roundRect">
            <a:avLst>
              <a:gd name="adj" fmla="val 3846"/>
            </a:avLst>
          </a:prstGeom>
          <a:solidFill>
            <a:srgbClr val="FFFFFF"/>
          </a:solidFill>
          <a:ln/>
          <a:effectLst>
            <a:outerShdw sx="100000" sy="100000" kx="0" ky="0" algn="bl" rotWithShape="0" blurRad="152400" dist="25400" dir="5400000">
              <a:srgbClr val="1F1D48">
                <a:alpha val="16000"/>
              </a:srgbClr>
            </a:outerShdw>
          </a:effectLst>
        </p:spPr>
      </p:sp>
      <p:sp>
        <p:nvSpPr>
          <p:cNvPr id="8" name="Shape 5"/>
          <p:cNvSpPr/>
          <p:nvPr/>
        </p:nvSpPr>
        <p:spPr>
          <a:xfrm>
            <a:off x="896112" y="2615184"/>
            <a:ext cx="512064" cy="512064"/>
          </a:xfrm>
          <a:prstGeom prst="ellipse">
            <a:avLst/>
          </a:prstGeom>
          <a:solidFill>
            <a:srgbClr val="4F46E5"/>
          </a:solidFill>
          <a:ln/>
        </p:spPr>
      </p:sp>
      <p:pic>
        <p:nvPicPr>
          <p:cNvPr id="9" name="Image 1" descr="/home/claude/icons/eye_white.png">    </p:cNvPr>
          <p:cNvPicPr>
            <a:picLocks noChangeAspect="1"/>
          </p:cNvPicPr>
          <p:nvPr/>
        </p:nvPicPr>
        <p:blipFill>
          <a:blip r:embed="rId2"/>
          <a:stretch>
            <a:fillRect/>
          </a:stretch>
        </p:blipFill>
        <p:spPr>
          <a:xfrm>
            <a:off x="1024128" y="2743200"/>
            <a:ext cx="256032" cy="256032"/>
          </a:xfrm>
          <a:prstGeom prst="rect">
            <a:avLst/>
          </a:prstGeom>
        </p:spPr>
      </p:pic>
      <p:sp>
        <p:nvSpPr>
          <p:cNvPr id="10" name="Text 6"/>
          <p:cNvSpPr/>
          <p:nvPr/>
        </p:nvSpPr>
        <p:spPr>
          <a:xfrm>
            <a:off x="896112" y="3255264"/>
            <a:ext cx="206883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보이지 않는다</a:t>
            </a:r>
            <a:endParaRPr lang="en-US" sz="1300" dirty="0"/>
          </a:p>
        </p:txBody>
      </p:sp>
      <p:sp>
        <p:nvSpPr>
          <p:cNvPr id="11" name="Text 7"/>
          <p:cNvSpPr/>
          <p:nvPr/>
        </p:nvSpPr>
        <p:spPr>
          <a:xfrm>
            <a:off x="896112" y="3547872"/>
            <a:ext cx="2068830" cy="1097280"/>
          </a:xfrm>
          <a:prstGeom prst="rect">
            <a:avLst/>
          </a:prstGeom>
          <a:noFill/>
          <a:ln/>
        </p:spPr>
        <p:txBody>
          <a:bodyPr wrap="square" lIns="0" tIns="0" rIns="0" bIns="0" rtlCol="0" anchor="t"/>
          <a:lstStyle/>
          <a:p>
            <a:pPr indent="0" marL="0">
              <a:lnSpc>
                <a:spcPts val="1469"/>
              </a:lnSpc>
              <a:buNone/>
            </a:pPr>
            <a:r>
              <a:rPr lang="en-US" sz="1080" dirty="0">
                <a:solidFill>
                  <a:srgbClr val="3C3B57"/>
                </a:solidFill>
                <a:latin typeface="Malgun Gothic" pitchFamily="34" charset="0"/>
                <a:ea typeface="Malgun Gothic" pitchFamily="34" charset="-122"/>
                <a:cs typeface="Malgun Gothic" pitchFamily="34" charset="-120"/>
              </a:rPr>
              <a:t>진척도, 구조, 부실 공사가 눈에 안 보입니다. "거의 다 됐어요"를 확인할 방법이 마땅치 않습니다.</a:t>
            </a:r>
            <a:endParaRPr lang="en-US" sz="1080" dirty="0"/>
          </a:p>
        </p:txBody>
      </p:sp>
      <p:sp>
        <p:nvSpPr>
          <p:cNvPr id="12" name="Shape 8"/>
          <p:cNvSpPr/>
          <p:nvPr/>
        </p:nvSpPr>
        <p:spPr>
          <a:xfrm>
            <a:off x="3440430" y="2377440"/>
            <a:ext cx="2526030" cy="2377440"/>
          </a:xfrm>
          <a:prstGeom prst="roundRect">
            <a:avLst>
              <a:gd name="adj" fmla="val 3846"/>
            </a:avLst>
          </a:prstGeom>
          <a:solidFill>
            <a:srgbClr val="FFFFFF"/>
          </a:solidFill>
          <a:ln/>
          <a:effectLst>
            <a:outerShdw sx="100000" sy="100000" kx="0" ky="0" algn="bl" rotWithShape="0" blurRad="152400" dist="25400" dir="5400000">
              <a:srgbClr val="1F1D48">
                <a:alpha val="16000"/>
              </a:srgbClr>
            </a:outerShdw>
          </a:effectLst>
        </p:spPr>
      </p:sp>
      <p:sp>
        <p:nvSpPr>
          <p:cNvPr id="13" name="Shape 9"/>
          <p:cNvSpPr/>
          <p:nvPr/>
        </p:nvSpPr>
        <p:spPr>
          <a:xfrm>
            <a:off x="3678174" y="2615184"/>
            <a:ext cx="512064" cy="512064"/>
          </a:xfrm>
          <a:prstGeom prst="ellipse">
            <a:avLst/>
          </a:prstGeom>
          <a:solidFill>
            <a:srgbClr val="7C3AED"/>
          </a:solidFill>
          <a:ln/>
        </p:spPr>
      </p:sp>
      <p:pic>
        <p:nvPicPr>
          <p:cNvPr id="14" name="Image 2" descr="/home/claude/icons/sitemap_white.png">    </p:cNvPr>
          <p:cNvPicPr>
            <a:picLocks noChangeAspect="1"/>
          </p:cNvPicPr>
          <p:nvPr/>
        </p:nvPicPr>
        <p:blipFill>
          <a:blip r:embed="rId3"/>
          <a:stretch>
            <a:fillRect/>
          </a:stretch>
        </p:blipFill>
        <p:spPr>
          <a:xfrm>
            <a:off x="3806190" y="2743200"/>
            <a:ext cx="256032" cy="256032"/>
          </a:xfrm>
          <a:prstGeom prst="rect">
            <a:avLst/>
          </a:prstGeom>
        </p:spPr>
      </p:pic>
      <p:sp>
        <p:nvSpPr>
          <p:cNvPr id="15" name="Text 10"/>
          <p:cNvSpPr/>
          <p:nvPr/>
        </p:nvSpPr>
        <p:spPr>
          <a:xfrm>
            <a:off x="3678174" y="3255264"/>
            <a:ext cx="206883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복잡도가 폭발한다</a:t>
            </a:r>
            <a:endParaRPr lang="en-US" sz="1300" dirty="0"/>
          </a:p>
        </p:txBody>
      </p:sp>
      <p:sp>
        <p:nvSpPr>
          <p:cNvPr id="16" name="Text 11"/>
          <p:cNvSpPr/>
          <p:nvPr/>
        </p:nvSpPr>
        <p:spPr>
          <a:xfrm>
            <a:off x="3678174" y="3547872"/>
            <a:ext cx="2068830" cy="1097280"/>
          </a:xfrm>
          <a:prstGeom prst="rect">
            <a:avLst/>
          </a:prstGeom>
          <a:noFill/>
          <a:ln/>
        </p:spPr>
        <p:txBody>
          <a:bodyPr wrap="square" lIns="0" tIns="0" rIns="0" bIns="0" rtlCol="0" anchor="t"/>
          <a:lstStyle/>
          <a:p>
            <a:pPr indent="0" marL="0">
              <a:lnSpc>
                <a:spcPts val="1469"/>
              </a:lnSpc>
              <a:buNone/>
            </a:pPr>
            <a:r>
              <a:rPr lang="en-US" sz="1080" dirty="0">
                <a:solidFill>
                  <a:srgbClr val="3C3B57"/>
                </a:solidFill>
                <a:latin typeface="Malgun Gothic" pitchFamily="34" charset="0"/>
                <a:ea typeface="Malgun Gothic" pitchFamily="34" charset="-122"/>
                <a:cs typeface="Malgun Gothic" pitchFamily="34" charset="-120"/>
              </a:rPr>
              <a:t>상태와 입력의 조합이 천문학적으로 늘어나, 모든 경우를 머리로도 시험으로도 다 덮기 어렵습니다.</a:t>
            </a:r>
            <a:endParaRPr lang="en-US" sz="1080" dirty="0"/>
          </a:p>
        </p:txBody>
      </p:sp>
      <p:sp>
        <p:nvSpPr>
          <p:cNvPr id="17" name="Shape 12"/>
          <p:cNvSpPr/>
          <p:nvPr/>
        </p:nvSpPr>
        <p:spPr>
          <a:xfrm>
            <a:off x="6222492" y="2377440"/>
            <a:ext cx="2526030" cy="2377440"/>
          </a:xfrm>
          <a:prstGeom prst="roundRect">
            <a:avLst>
              <a:gd name="adj" fmla="val 3846"/>
            </a:avLst>
          </a:prstGeom>
          <a:solidFill>
            <a:srgbClr val="FFFFFF"/>
          </a:solidFill>
          <a:ln/>
          <a:effectLst>
            <a:outerShdw sx="100000" sy="100000" kx="0" ky="0" algn="bl" rotWithShape="0" blurRad="152400" dist="25400" dir="5400000">
              <a:srgbClr val="1F1D48">
                <a:alpha val="16000"/>
              </a:srgbClr>
            </a:outerShdw>
          </a:effectLst>
        </p:spPr>
      </p:sp>
      <p:sp>
        <p:nvSpPr>
          <p:cNvPr id="18" name="Shape 13"/>
          <p:cNvSpPr/>
          <p:nvPr/>
        </p:nvSpPr>
        <p:spPr>
          <a:xfrm>
            <a:off x="6460236" y="2615184"/>
            <a:ext cx="512064" cy="512064"/>
          </a:xfrm>
          <a:prstGeom prst="ellipse">
            <a:avLst/>
          </a:prstGeom>
          <a:solidFill>
            <a:srgbClr val="F59E0B"/>
          </a:solidFill>
          <a:ln/>
        </p:spPr>
      </p:sp>
      <p:pic>
        <p:nvPicPr>
          <p:cNvPr id="19" name="Image 3" descr="/home/claude/icons/exchange_white.png">    </p:cNvPr>
          <p:cNvPicPr>
            <a:picLocks noChangeAspect="1"/>
          </p:cNvPicPr>
          <p:nvPr/>
        </p:nvPicPr>
        <p:blipFill>
          <a:blip r:embed="rId4"/>
          <a:stretch>
            <a:fillRect/>
          </a:stretch>
        </p:blipFill>
        <p:spPr>
          <a:xfrm>
            <a:off x="6588252" y="2743200"/>
            <a:ext cx="256032" cy="256032"/>
          </a:xfrm>
          <a:prstGeom prst="rect">
            <a:avLst/>
          </a:prstGeom>
        </p:spPr>
      </p:pic>
      <p:sp>
        <p:nvSpPr>
          <p:cNvPr id="20" name="Text 14"/>
          <p:cNvSpPr/>
          <p:nvPr/>
        </p:nvSpPr>
        <p:spPr>
          <a:xfrm>
            <a:off x="6460236" y="3255264"/>
            <a:ext cx="206883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바꾸기 쉬워 보인다</a:t>
            </a:r>
            <a:endParaRPr lang="en-US" sz="1300" dirty="0"/>
          </a:p>
        </p:txBody>
      </p:sp>
      <p:sp>
        <p:nvSpPr>
          <p:cNvPr id="21" name="Text 15"/>
          <p:cNvSpPr/>
          <p:nvPr/>
        </p:nvSpPr>
        <p:spPr>
          <a:xfrm>
            <a:off x="6460236" y="3547872"/>
            <a:ext cx="2068830" cy="1097280"/>
          </a:xfrm>
          <a:prstGeom prst="rect">
            <a:avLst/>
          </a:prstGeom>
          <a:noFill/>
          <a:ln/>
        </p:spPr>
        <p:txBody>
          <a:bodyPr wrap="square" lIns="0" tIns="0" rIns="0" bIns="0" rtlCol="0" anchor="t"/>
          <a:lstStyle/>
          <a:p>
            <a:pPr indent="0" marL="0">
              <a:lnSpc>
                <a:spcPts val="1469"/>
              </a:lnSpc>
              <a:buNone/>
            </a:pPr>
            <a:r>
              <a:rPr lang="en-US" sz="1080" dirty="0">
                <a:solidFill>
                  <a:srgbClr val="3C3B57"/>
                </a:solidFill>
                <a:latin typeface="Malgun Gothic" pitchFamily="34" charset="0"/>
                <a:ea typeface="Malgun Gothic" pitchFamily="34" charset="-122"/>
                <a:cs typeface="Malgun Gothic" pitchFamily="34" charset="-120"/>
              </a:rPr>
              <a:t>벽돌과 달리 코드는 즉시 고칠 수 있습니다 — 그래서 아무나, 아무 때나 바꾸다 사고가 납니다.</a:t>
            </a:r>
            <a:endParaRPr lang="en-US" sz="1080" dirty="0"/>
          </a:p>
        </p:txBody>
      </p:sp>
      <p:sp>
        <p:nvSpPr>
          <p:cNvPr id="22" name="Shape 16"/>
          <p:cNvSpPr/>
          <p:nvPr/>
        </p:nvSpPr>
        <p:spPr>
          <a:xfrm>
            <a:off x="9004554" y="2377440"/>
            <a:ext cx="2526030" cy="2377440"/>
          </a:xfrm>
          <a:prstGeom prst="roundRect">
            <a:avLst>
              <a:gd name="adj" fmla="val 3846"/>
            </a:avLst>
          </a:prstGeom>
          <a:solidFill>
            <a:srgbClr val="FFFFFF"/>
          </a:solidFill>
          <a:ln/>
          <a:effectLst>
            <a:outerShdw sx="100000" sy="100000" kx="0" ky="0" algn="bl" rotWithShape="0" blurRad="152400" dist="25400" dir="5400000">
              <a:srgbClr val="1F1D48">
                <a:alpha val="16000"/>
              </a:srgbClr>
            </a:outerShdw>
          </a:effectLst>
        </p:spPr>
      </p:sp>
      <p:sp>
        <p:nvSpPr>
          <p:cNvPr id="23" name="Shape 17"/>
          <p:cNvSpPr/>
          <p:nvPr/>
        </p:nvSpPr>
        <p:spPr>
          <a:xfrm>
            <a:off x="9242298" y="2615184"/>
            <a:ext cx="512064" cy="512064"/>
          </a:xfrm>
          <a:prstGeom prst="ellipse">
            <a:avLst/>
          </a:prstGeom>
          <a:solidFill>
            <a:srgbClr val="10B981"/>
          </a:solidFill>
          <a:ln/>
        </p:spPr>
      </p:sp>
      <p:pic>
        <p:nvPicPr>
          <p:cNvPr id="24" name="Image 4" descr="/home/claude/icons/seedling_white.png">    </p:cNvPr>
          <p:cNvPicPr>
            <a:picLocks noChangeAspect="1"/>
          </p:cNvPicPr>
          <p:nvPr/>
        </p:nvPicPr>
        <p:blipFill>
          <a:blip r:embed="rId5"/>
          <a:stretch>
            <a:fillRect/>
          </a:stretch>
        </p:blipFill>
        <p:spPr>
          <a:xfrm>
            <a:off x="9370314" y="2743200"/>
            <a:ext cx="256032" cy="256032"/>
          </a:xfrm>
          <a:prstGeom prst="rect">
            <a:avLst/>
          </a:prstGeom>
        </p:spPr>
      </p:pic>
      <p:sp>
        <p:nvSpPr>
          <p:cNvPr id="25" name="Text 18"/>
          <p:cNvSpPr/>
          <p:nvPr/>
        </p:nvSpPr>
        <p:spPr>
          <a:xfrm>
            <a:off x="9242298" y="3255264"/>
            <a:ext cx="206883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요구가 계속 자란다</a:t>
            </a:r>
            <a:endParaRPr lang="en-US" sz="1300" dirty="0"/>
          </a:p>
        </p:txBody>
      </p:sp>
      <p:sp>
        <p:nvSpPr>
          <p:cNvPr id="26" name="Text 19"/>
          <p:cNvSpPr/>
          <p:nvPr/>
        </p:nvSpPr>
        <p:spPr>
          <a:xfrm>
            <a:off x="9242298" y="3547872"/>
            <a:ext cx="2068830" cy="1097280"/>
          </a:xfrm>
          <a:prstGeom prst="rect">
            <a:avLst/>
          </a:prstGeom>
          <a:noFill/>
          <a:ln/>
        </p:spPr>
        <p:txBody>
          <a:bodyPr wrap="square" lIns="0" tIns="0" rIns="0" bIns="0" rtlCol="0" anchor="t"/>
          <a:lstStyle/>
          <a:p>
            <a:pPr indent="0" marL="0">
              <a:lnSpc>
                <a:spcPts val="1469"/>
              </a:lnSpc>
              <a:buNone/>
            </a:pPr>
            <a:r>
              <a:rPr lang="en-US" sz="1080" dirty="0">
                <a:solidFill>
                  <a:srgbClr val="3C3B57"/>
                </a:solidFill>
                <a:latin typeface="Malgun Gothic" pitchFamily="34" charset="0"/>
                <a:ea typeface="Malgun Gothic" pitchFamily="34" charset="-122"/>
                <a:cs typeface="Malgun Gothic" pitchFamily="34" charset="-120"/>
              </a:rPr>
              <a:t>완공이 없습니다. 쓰이는 소프트웨어일수록 요구가 늘고, 변경은 죽을 때까지 계속됩니다.</a:t>
            </a:r>
            <a:endParaRPr lang="en-US" sz="1080" dirty="0"/>
          </a:p>
        </p:txBody>
      </p:sp>
      <p:sp>
        <p:nvSpPr>
          <p:cNvPr id="27" name="Text 20"/>
          <p:cNvSpPr/>
          <p:nvPr/>
        </p:nvSpPr>
        <p:spPr>
          <a:xfrm>
            <a:off x="658368" y="5074920"/>
            <a:ext cx="10872216" cy="914400"/>
          </a:xfrm>
          <a:prstGeom prst="rect">
            <a:avLst/>
          </a:prstGeom>
          <a:noFill/>
          <a:ln/>
        </p:spPr>
        <p:txBody>
          <a:bodyPr wrap="square" lIns="0" tIns="0" rIns="0" bIns="0" rtlCol="0" anchor="t"/>
          <a:lstStyle/>
          <a:p>
            <a:pPr algn="l" indent="0" marL="0">
              <a:lnSpc>
                <a:spcPts val="1900"/>
              </a:lnSpc>
              <a:buNone/>
            </a:pPr>
            <a:r>
              <a:rPr lang="en-US" sz="1250" i="1" dirty="0">
                <a:solidFill>
                  <a:srgbClr val="6B7185"/>
                </a:solidFill>
                <a:latin typeface="Malgun Gothic" pitchFamily="34" charset="0"/>
                <a:ea typeface="Malgun Gothic" pitchFamily="34" charset="-122"/>
                <a:cs typeface="Malgun Gothic" pitchFamily="34" charset="-120"/>
              </a:rPr>
              <a:t>이 네 성질은 구현을 사람이 하든 AI가 하든 사라지지 않습니다 — 그래서 다음 질문이 중요해집니다.</a:t>
            </a:r>
            <a:endParaRPr lang="en-US" sz="1250" dirty="0"/>
          </a:p>
        </p:txBody>
      </p:sp>
      <p:sp>
        <p:nvSpPr>
          <p:cNvPr id="28" name="Text 21"/>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18608" y="1234440"/>
            <a:ext cx="822960" cy="822960"/>
          </a:xfrm>
          <a:prstGeom prst="ellipse">
            <a:avLst/>
          </a:prstGeom>
          <a:solidFill>
            <a:srgbClr val="F59E0B"/>
          </a:solidFill>
          <a:ln/>
        </p:spPr>
      </p:sp>
      <p:pic>
        <p:nvPicPr>
          <p:cNvPr id="3" name="Image 0" descr="/home/claude/icons/question_white.png">    </p:cNvPr>
          <p:cNvPicPr>
            <a:picLocks noChangeAspect="1"/>
          </p:cNvPicPr>
          <p:nvPr/>
        </p:nvPicPr>
        <p:blipFill>
          <a:blip r:embed="rId1"/>
          <a:stretch>
            <a:fillRect/>
          </a:stretch>
        </p:blipFill>
        <p:spPr>
          <a:xfrm>
            <a:off x="5524348" y="1440180"/>
            <a:ext cx="411480" cy="411480"/>
          </a:xfrm>
          <a:prstGeom prst="rect">
            <a:avLst/>
          </a:prstGeom>
        </p:spPr>
      </p:pic>
      <p:sp>
        <p:nvSpPr>
          <p:cNvPr id="4" name="Text 1"/>
          <p:cNvSpPr/>
          <p:nvPr/>
        </p:nvSpPr>
        <p:spPr>
          <a:xfrm>
            <a:off x="914400" y="2331720"/>
            <a:ext cx="10362895" cy="1828800"/>
          </a:xfrm>
          <a:prstGeom prst="rect">
            <a:avLst/>
          </a:prstGeom>
          <a:noFill/>
          <a:ln/>
        </p:spPr>
        <p:txBody>
          <a:bodyPr wrap="square" lIns="0" tIns="0" rIns="0" bIns="0" rtlCol="0" anchor="ctr"/>
          <a:lstStyle/>
          <a:p>
            <a:pPr algn="ctr" indent="0" marL="0">
              <a:lnSpc>
                <a:spcPts val="5000"/>
              </a:lnSpc>
              <a:buNone/>
            </a:pPr>
            <a:r>
              <a:rPr lang="en-US" sz="3700" b="1" dirty="0">
                <a:solidFill>
                  <a:srgbClr val="1E1B3A"/>
                </a:solidFill>
                <a:latin typeface="Malgun Gothic" pitchFamily="34" charset="0"/>
                <a:ea typeface="Malgun Gothic" pitchFamily="34" charset="-122"/>
                <a:cs typeface="Malgun Gothic" pitchFamily="34" charset="-120"/>
              </a:rPr>
              <a:t>구현이 자동화되면,</a:t>
            </a:r>
            <a:endParaRPr lang="en-US" sz="3700" dirty="0"/>
          </a:p>
          <a:p>
            <a:pPr algn="ctr" indent="0" marL="0">
              <a:lnSpc>
                <a:spcPts val="5000"/>
              </a:lnSpc>
              <a:buNone/>
            </a:pPr>
            <a:r>
              <a:rPr lang="en-US" sz="3700" b="1" dirty="0">
                <a:solidFill>
                  <a:srgbClr val="1E1B3A"/>
                </a:solidFill>
                <a:latin typeface="Malgun Gothic" pitchFamily="34" charset="0"/>
                <a:ea typeface="Malgun Gothic" pitchFamily="34" charset="-122"/>
                <a:cs typeface="Malgun Gothic" pitchFamily="34" charset="-120"/>
              </a:rPr>
              <a:t>개발자는 사라질까?</a:t>
            </a:r>
            <a:endParaRPr lang="en-US" sz="3700" dirty="0"/>
          </a:p>
        </p:txBody>
      </p:sp>
      <p:sp>
        <p:nvSpPr>
          <p:cNvPr id="5" name="Text 2"/>
          <p:cNvSpPr/>
          <p:nvPr/>
        </p:nvSpPr>
        <p:spPr>
          <a:xfrm>
            <a:off x="1554480" y="4343400"/>
            <a:ext cx="9082735" cy="868680"/>
          </a:xfrm>
          <a:prstGeom prst="rect">
            <a:avLst/>
          </a:prstGeom>
          <a:noFill/>
          <a:ln/>
        </p:spPr>
        <p:txBody>
          <a:bodyPr wrap="square" lIns="0" tIns="0" rIns="0" bIns="0" rtlCol="0" anchor="ctr"/>
          <a:lstStyle/>
          <a:p>
            <a:pPr algn="ctr" indent="0" marL="0">
              <a:lnSpc>
                <a:spcPts val="2300"/>
              </a:lnSpc>
              <a:buNone/>
            </a:pPr>
            <a:r>
              <a:rPr lang="en-US" sz="1450" dirty="0">
                <a:solidFill>
                  <a:srgbClr val="6B7185"/>
                </a:solidFill>
                <a:latin typeface="Malgun Gothic" pitchFamily="34" charset="0"/>
                <a:ea typeface="Malgun Gothic" pitchFamily="34" charset="-122"/>
                <a:cs typeface="Malgun Gothic" pitchFamily="34" charset="-120"/>
              </a:rPr>
              <a:t>생성형 AI는 초안 코드를 몇 초 만에 만들어 냅니다.</a:t>
            </a:r>
            <a:endParaRPr lang="en-US" sz="1450" dirty="0"/>
          </a:p>
          <a:p>
            <a:pPr algn="ctr" indent="0" marL="0">
              <a:lnSpc>
                <a:spcPts val="2300"/>
              </a:lnSpc>
              <a:buNone/>
            </a:pPr>
            <a:r>
              <a:rPr lang="en-US" sz="1450" dirty="0">
                <a:solidFill>
                  <a:srgbClr val="6B7185"/>
                </a:solidFill>
                <a:latin typeface="Malgun Gothic" pitchFamily="34" charset="0"/>
                <a:ea typeface="Malgun Gothic" pitchFamily="34" charset="-122"/>
                <a:cs typeface="Malgun Gothic" pitchFamily="34" charset="-120"/>
              </a:rPr>
              <a:t>코드 '작성'이 병목이 아니게 된 시대 — 그렇다면 사람의 일은 무엇이 남을까요.</a:t>
            </a:r>
            <a:endParaRPr lang="en-US" sz="1450" dirty="0"/>
          </a:p>
        </p:txBody>
      </p:sp>
      <p:sp>
        <p:nvSpPr>
          <p:cNvPr id="6" name="Text 3"/>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sp>
      <p:pic>
        <p:nvPicPr>
          <p:cNvPr id="3" name="Image 0" descr="/home/claude/icons/book2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소프트웨어공학 개관</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구현이 자동화되어도 남는 일</a:t>
            </a:r>
            <a:endParaRPr lang="en-US" sz="2600" dirty="0"/>
          </a:p>
        </p:txBody>
      </p:sp>
      <p:sp>
        <p:nvSpPr>
          <p:cNvPr id="6" name="Shape 3"/>
          <p:cNvSpPr/>
          <p:nvPr/>
        </p:nvSpPr>
        <p:spPr>
          <a:xfrm>
            <a:off x="658368" y="1737360"/>
            <a:ext cx="457200" cy="457200"/>
          </a:xfrm>
          <a:prstGeom prst="ellipse">
            <a:avLst/>
          </a:prstGeom>
          <a:solidFill>
            <a:srgbClr val="4F46E5"/>
          </a:solidFill>
          <a:ln/>
        </p:spPr>
      </p:sp>
      <p:pic>
        <p:nvPicPr>
          <p:cNvPr id="7" name="Image 1" descr="/home/claude/icons/pen_white.png">    </p:cNvPr>
          <p:cNvPicPr>
            <a:picLocks noChangeAspect="1"/>
          </p:cNvPicPr>
          <p:nvPr/>
        </p:nvPicPr>
        <p:blipFill>
          <a:blip r:embed="rId2"/>
          <a:stretch>
            <a:fillRect/>
          </a:stretch>
        </p:blipFill>
        <p:spPr>
          <a:xfrm>
            <a:off x="772668" y="1851660"/>
            <a:ext cx="228600" cy="228600"/>
          </a:xfrm>
          <a:prstGeom prst="rect">
            <a:avLst/>
          </a:prstGeom>
        </p:spPr>
      </p:pic>
      <p:sp>
        <p:nvSpPr>
          <p:cNvPr id="8" name="Text 4"/>
          <p:cNvSpPr/>
          <p:nvPr/>
        </p:nvSpPr>
        <p:spPr>
          <a:xfrm>
            <a:off x="1335024" y="1700784"/>
            <a:ext cx="10195560"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무엇을 만들지 정의한다</a:t>
            </a:r>
            <a:endParaRPr lang="en-US" sz="1350" dirty="0"/>
          </a:p>
        </p:txBody>
      </p:sp>
      <p:sp>
        <p:nvSpPr>
          <p:cNvPr id="9" name="Text 5"/>
          <p:cNvSpPr/>
          <p:nvPr/>
        </p:nvSpPr>
        <p:spPr>
          <a:xfrm>
            <a:off x="1335024" y="1975104"/>
            <a:ext cx="10195560" cy="603504"/>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요구사항을 명확한 말과 글로 — AI는 시키지 않은 것을 만들어 주지 않습니다. (5주차 · 요구공학)</a:t>
            </a:r>
            <a:endParaRPr lang="en-US" sz="1100" dirty="0"/>
          </a:p>
        </p:txBody>
      </p:sp>
      <p:sp>
        <p:nvSpPr>
          <p:cNvPr id="10" name="Shape 6"/>
          <p:cNvSpPr/>
          <p:nvPr/>
        </p:nvSpPr>
        <p:spPr>
          <a:xfrm>
            <a:off x="658368" y="2578608"/>
            <a:ext cx="457200" cy="457200"/>
          </a:xfrm>
          <a:prstGeom prst="ellipse">
            <a:avLst/>
          </a:prstGeom>
          <a:solidFill>
            <a:srgbClr val="7C3AED"/>
          </a:solidFill>
          <a:ln/>
        </p:spPr>
      </p:sp>
      <p:pic>
        <p:nvPicPr>
          <p:cNvPr id="11" name="Image 2" descr="/home/claude/icons/sitemap_white.png">    </p:cNvPr>
          <p:cNvPicPr>
            <a:picLocks noChangeAspect="1"/>
          </p:cNvPicPr>
          <p:nvPr/>
        </p:nvPicPr>
        <p:blipFill>
          <a:blip r:embed="rId3"/>
          <a:stretch>
            <a:fillRect/>
          </a:stretch>
        </p:blipFill>
        <p:spPr>
          <a:xfrm>
            <a:off x="772668" y="2692908"/>
            <a:ext cx="228600" cy="228600"/>
          </a:xfrm>
          <a:prstGeom prst="rect">
            <a:avLst/>
          </a:prstGeom>
        </p:spPr>
      </p:pic>
      <p:sp>
        <p:nvSpPr>
          <p:cNvPr id="12" name="Text 7"/>
          <p:cNvSpPr/>
          <p:nvPr/>
        </p:nvSpPr>
        <p:spPr>
          <a:xfrm>
            <a:off x="1335024" y="2542032"/>
            <a:ext cx="10195560"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어떤 구조로 만들지 판단한다</a:t>
            </a:r>
            <a:endParaRPr lang="en-US" sz="1350" dirty="0"/>
          </a:p>
        </p:txBody>
      </p:sp>
      <p:sp>
        <p:nvSpPr>
          <p:cNvPr id="13" name="Text 8"/>
          <p:cNvSpPr/>
          <p:nvPr/>
        </p:nvSpPr>
        <p:spPr>
          <a:xfrm>
            <a:off x="1335024" y="2816352"/>
            <a:ext cx="10195560" cy="603504"/>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화면 흐름, 데이터 구조, 기능의 경계 — 좋은 설계를 고르는 안목은 사람의 몫입니다. (6주차 · 설계)</a:t>
            </a:r>
            <a:endParaRPr lang="en-US" sz="1100" dirty="0"/>
          </a:p>
        </p:txBody>
      </p:sp>
      <p:sp>
        <p:nvSpPr>
          <p:cNvPr id="14" name="Shape 9"/>
          <p:cNvSpPr/>
          <p:nvPr/>
        </p:nvSpPr>
        <p:spPr>
          <a:xfrm>
            <a:off x="658368" y="3419856"/>
            <a:ext cx="457200" cy="457200"/>
          </a:xfrm>
          <a:prstGeom prst="ellipse">
            <a:avLst/>
          </a:prstGeom>
          <a:solidFill>
            <a:srgbClr val="F59E0B"/>
          </a:solidFill>
          <a:ln/>
        </p:spPr>
      </p:sp>
      <p:pic>
        <p:nvPicPr>
          <p:cNvPr id="15" name="Image 3" descr="/home/claude/icons/target_white.png">    </p:cNvPr>
          <p:cNvPicPr>
            <a:picLocks noChangeAspect="1"/>
          </p:cNvPicPr>
          <p:nvPr/>
        </p:nvPicPr>
        <p:blipFill>
          <a:blip r:embed="rId4"/>
          <a:stretch>
            <a:fillRect/>
          </a:stretch>
        </p:blipFill>
        <p:spPr>
          <a:xfrm>
            <a:off x="772668" y="3534156"/>
            <a:ext cx="228600" cy="228600"/>
          </a:xfrm>
          <a:prstGeom prst="rect">
            <a:avLst/>
          </a:prstGeom>
        </p:spPr>
      </p:pic>
      <p:sp>
        <p:nvSpPr>
          <p:cNvPr id="16" name="Text 10"/>
          <p:cNvSpPr/>
          <p:nvPr/>
        </p:nvSpPr>
        <p:spPr>
          <a:xfrm>
            <a:off x="1335024" y="3383280"/>
            <a:ext cx="10195560"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"됐다"의 기준을 세운다</a:t>
            </a:r>
            <a:endParaRPr lang="en-US" sz="1350" dirty="0"/>
          </a:p>
        </p:txBody>
      </p:sp>
      <p:sp>
        <p:nvSpPr>
          <p:cNvPr id="17" name="Text 11"/>
          <p:cNvSpPr/>
          <p:nvPr/>
        </p:nvSpPr>
        <p:spPr>
          <a:xfrm>
            <a:off x="1335024" y="3657600"/>
            <a:ext cx="10195560" cy="603504"/>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인수 조건 — 결과물을 받았을 때 통과·불통과를 판정할 기준을 미리 정합니다. (8·9주차)</a:t>
            </a:r>
            <a:endParaRPr lang="en-US" sz="1100" dirty="0"/>
          </a:p>
        </p:txBody>
      </p:sp>
      <p:sp>
        <p:nvSpPr>
          <p:cNvPr id="18" name="Shape 12"/>
          <p:cNvSpPr/>
          <p:nvPr/>
        </p:nvSpPr>
        <p:spPr>
          <a:xfrm>
            <a:off x="658368" y="4261104"/>
            <a:ext cx="457200" cy="457200"/>
          </a:xfrm>
          <a:prstGeom prst="ellipse">
            <a:avLst/>
          </a:prstGeom>
          <a:solidFill>
            <a:srgbClr val="10B981"/>
          </a:solidFill>
          <a:ln/>
        </p:spPr>
      </p:sp>
      <p:pic>
        <p:nvPicPr>
          <p:cNvPr id="19" name="Image 4" descr="/home/claude/icons/clipboard_white.png">    </p:cNvPr>
          <p:cNvPicPr>
            <a:picLocks noChangeAspect="1"/>
          </p:cNvPicPr>
          <p:nvPr/>
        </p:nvPicPr>
        <p:blipFill>
          <a:blip r:embed="rId5"/>
          <a:stretch>
            <a:fillRect/>
          </a:stretch>
        </p:blipFill>
        <p:spPr>
          <a:xfrm>
            <a:off x="772668" y="4375404"/>
            <a:ext cx="228600" cy="228600"/>
          </a:xfrm>
          <a:prstGeom prst="rect">
            <a:avLst/>
          </a:prstGeom>
        </p:spPr>
      </p:pic>
      <p:sp>
        <p:nvSpPr>
          <p:cNvPr id="20" name="Text 13"/>
          <p:cNvSpPr/>
          <p:nvPr/>
        </p:nvSpPr>
        <p:spPr>
          <a:xfrm>
            <a:off x="1335024" y="4224528"/>
            <a:ext cx="10195560"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정말 되는지 검증한다</a:t>
            </a:r>
            <a:endParaRPr lang="en-US" sz="1350" dirty="0"/>
          </a:p>
        </p:txBody>
      </p:sp>
      <p:sp>
        <p:nvSpPr>
          <p:cNvPr id="21" name="Text 14"/>
          <p:cNvSpPr/>
          <p:nvPr/>
        </p:nvSpPr>
        <p:spPr>
          <a:xfrm>
            <a:off x="1335024" y="4498848"/>
            <a:ext cx="10195560" cy="603504"/>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테스트 설계와 결함 발견 — 통과했는데도 남아 있는 결함을 찾아내는 눈. (9·10주차)</a:t>
            </a:r>
            <a:endParaRPr lang="en-US" sz="1100" dirty="0"/>
          </a:p>
        </p:txBody>
      </p:sp>
      <p:sp>
        <p:nvSpPr>
          <p:cNvPr id="22" name="Shape 15"/>
          <p:cNvSpPr/>
          <p:nvPr/>
        </p:nvSpPr>
        <p:spPr>
          <a:xfrm>
            <a:off x="658368" y="5102352"/>
            <a:ext cx="457200" cy="457200"/>
          </a:xfrm>
          <a:prstGeom prst="ellipse">
            <a:avLst/>
          </a:prstGeom>
          <a:solidFill>
            <a:srgbClr val="FB7185"/>
          </a:solidFill>
          <a:ln/>
        </p:spPr>
      </p:sp>
      <p:pic>
        <p:nvPicPr>
          <p:cNvPr id="23" name="Image 5" descr="/home/claude/icons/scale_white.png">    </p:cNvPr>
          <p:cNvPicPr>
            <a:picLocks noChangeAspect="1"/>
          </p:cNvPicPr>
          <p:nvPr/>
        </p:nvPicPr>
        <p:blipFill>
          <a:blip r:embed="rId6"/>
          <a:stretch>
            <a:fillRect/>
          </a:stretch>
        </p:blipFill>
        <p:spPr>
          <a:xfrm>
            <a:off x="772668" y="5216652"/>
            <a:ext cx="228600" cy="228600"/>
          </a:xfrm>
          <a:prstGeom prst="rect">
            <a:avLst/>
          </a:prstGeom>
        </p:spPr>
      </p:pic>
      <p:sp>
        <p:nvSpPr>
          <p:cNvPr id="24" name="Text 16"/>
          <p:cNvSpPr/>
          <p:nvPr/>
        </p:nvSpPr>
        <p:spPr>
          <a:xfrm>
            <a:off x="1335024" y="5065776"/>
            <a:ext cx="10195560"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품질·보안·윤리에 책임진다</a:t>
            </a:r>
            <a:endParaRPr lang="en-US" sz="1350" dirty="0"/>
          </a:p>
        </p:txBody>
      </p:sp>
      <p:sp>
        <p:nvSpPr>
          <p:cNvPr id="25" name="Text 17"/>
          <p:cNvSpPr/>
          <p:nvPr/>
        </p:nvSpPr>
        <p:spPr>
          <a:xfrm>
            <a:off x="1335024" y="5340096"/>
            <a:ext cx="10195560" cy="603504"/>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AI가 만든 취약점, 라이선스, 개인정보 — 최종 책임은 이름을 올린 사람에게. (13주차)</a:t>
            </a:r>
            <a:endParaRPr lang="en-US" sz="1100" dirty="0"/>
          </a:p>
        </p:txBody>
      </p:sp>
      <p:sp>
        <p:nvSpPr>
          <p:cNvPr id="26" name="Text 18"/>
          <p:cNvSpPr/>
          <p:nvPr/>
        </p:nvSpPr>
        <p:spPr>
          <a:xfrm>
            <a:off x="658368" y="5897880"/>
            <a:ext cx="10872216" cy="914400"/>
          </a:xfrm>
          <a:prstGeom prst="rect">
            <a:avLst/>
          </a:prstGeom>
          <a:noFill/>
          <a:ln/>
        </p:spPr>
        <p:txBody>
          <a:bodyPr wrap="square" lIns="0" tIns="0" rIns="0" bIns="0" rtlCol="0" anchor="t"/>
          <a:lstStyle/>
          <a:p>
            <a:pPr algn="l" indent="0" marL="0">
              <a:lnSpc>
                <a:spcPts val="1824"/>
              </a:lnSpc>
              <a:buNone/>
            </a:pPr>
            <a:r>
              <a:rPr lang="en-US" sz="1200" i="1" dirty="0">
                <a:solidFill>
                  <a:srgbClr val="6B7185"/>
                </a:solidFill>
                <a:latin typeface="Malgun Gothic" pitchFamily="34" charset="0"/>
                <a:ea typeface="Malgun Gothic" pitchFamily="34" charset="-122"/>
                <a:cs typeface="Malgun Gothic" pitchFamily="34" charset="-120"/>
              </a:rPr>
              <a:t>이 다섯 줄이 곧 이 과목의 목차입니다.</a:t>
            </a:r>
            <a:endParaRPr lang="en-US" sz="1200" dirty="0"/>
          </a:p>
        </p:txBody>
      </p:sp>
      <p:sp>
        <p:nvSpPr>
          <p:cNvPr id="27" name="Text 19"/>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sp>
      <p:pic>
        <p:nvPicPr>
          <p:cNvPr id="3" name="Image 0" descr="/home/claude/icons/book2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소프트웨어공학 개관</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이 과목의 구조 — 생명주기를 따라갑니다</a:t>
            </a:r>
            <a:endParaRPr lang="en-US" sz="2600" dirty="0"/>
          </a:p>
        </p:txBody>
      </p:sp>
      <p:sp>
        <p:nvSpPr>
          <p:cNvPr id="6" name="Text 3"/>
          <p:cNvSpPr/>
          <p:nvPr/>
        </p:nvSpPr>
        <p:spPr>
          <a:xfrm>
            <a:off x="658368" y="1627632"/>
            <a:ext cx="10872216" cy="914400"/>
          </a:xfrm>
          <a:prstGeom prst="rect">
            <a:avLst/>
          </a:prstGeom>
          <a:noFill/>
          <a:ln/>
        </p:spPr>
        <p:txBody>
          <a:bodyPr wrap="square" lIns="0" tIns="0" rIns="0" bIns="0" rtlCol="0" anchor="t"/>
          <a:lstStyle/>
          <a:p>
            <a:pPr algn="l" indent="0" marL="0">
              <a:lnSpc>
                <a:spcPts val="1900"/>
              </a:lnSpc>
              <a:buNone/>
            </a:pPr>
            <a:r>
              <a:rPr lang="en-US" sz="1250" dirty="0">
                <a:solidFill>
                  <a:srgbClr val="3C3B57"/>
                </a:solidFill>
                <a:latin typeface="Malgun Gothic" pitchFamily="34" charset="0"/>
                <a:ea typeface="Malgun Gothic" pitchFamily="34" charset="-122"/>
                <a:cs typeface="Malgun Gothic" pitchFamily="34" charset="-120"/>
              </a:rPr>
              <a:t>소프트웨어가 태어나서 운영되기까지의 여정을 '생명주기'라고 부릅니다. 우리 수업의 주차 구성이 곧 이 생명주기입니다.</a:t>
            </a:r>
            <a:endParaRPr lang="en-US" sz="1250" dirty="0"/>
          </a:p>
        </p:txBody>
      </p:sp>
      <p:sp>
        <p:nvSpPr>
          <p:cNvPr id="7" name="Shape 4"/>
          <p:cNvSpPr/>
          <p:nvPr/>
        </p:nvSpPr>
        <p:spPr>
          <a:xfrm>
            <a:off x="658368" y="2331720"/>
            <a:ext cx="1354836" cy="1600200"/>
          </a:xfrm>
          <a:prstGeom prst="roundRect">
            <a:avLst>
              <a:gd name="adj" fmla="val 6749"/>
            </a:avLst>
          </a:prstGeom>
          <a:solidFill>
            <a:srgbClr val="FFFFFF"/>
          </a:solidFill>
          <a:ln/>
          <a:effectLst>
            <a:outerShdw sx="100000" sy="100000" kx="0" ky="0" algn="bl" rotWithShape="0" blurRad="152400" dist="25400" dir="5400000">
              <a:srgbClr val="1F1D48">
                <a:alpha val="16000"/>
              </a:srgbClr>
            </a:outerShdw>
          </a:effectLst>
        </p:spPr>
      </p:sp>
      <p:sp>
        <p:nvSpPr>
          <p:cNvPr id="8" name="Shape 5"/>
          <p:cNvSpPr/>
          <p:nvPr/>
        </p:nvSpPr>
        <p:spPr>
          <a:xfrm>
            <a:off x="1152906" y="2478024"/>
            <a:ext cx="365760" cy="365760"/>
          </a:xfrm>
          <a:prstGeom prst="ellipse">
            <a:avLst/>
          </a:prstGeom>
          <a:solidFill>
            <a:srgbClr val="F59E0B"/>
          </a:solidFill>
          <a:ln/>
        </p:spPr>
      </p:sp>
      <p:sp>
        <p:nvSpPr>
          <p:cNvPr id="9" name="Text 6"/>
          <p:cNvSpPr/>
          <p:nvPr/>
        </p:nvSpPr>
        <p:spPr>
          <a:xfrm>
            <a:off x="1152906" y="24780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1</a:t>
            </a:r>
            <a:endParaRPr lang="en-US" sz="1400" dirty="0"/>
          </a:p>
        </p:txBody>
      </p:sp>
      <p:sp>
        <p:nvSpPr>
          <p:cNvPr id="10" name="Text 7"/>
          <p:cNvSpPr/>
          <p:nvPr/>
        </p:nvSpPr>
        <p:spPr>
          <a:xfrm>
            <a:off x="713232" y="2898648"/>
            <a:ext cx="1245108" cy="310896"/>
          </a:xfrm>
          <a:prstGeom prst="rect">
            <a:avLst/>
          </a:prstGeom>
          <a:noFill/>
          <a:ln/>
        </p:spPr>
        <p:txBody>
          <a:bodyPr wrap="square" lIns="0" tIns="0" rIns="0" bIns="0" rtlCol="0" anchor="ctr"/>
          <a:lstStyle/>
          <a:p>
            <a:pPr algn="ctr" indent="0" marL="0">
              <a:buNone/>
            </a:pPr>
            <a:r>
              <a:rPr lang="en-US" sz="1200" b="1" dirty="0">
                <a:solidFill>
                  <a:srgbClr val="1E1B3A"/>
                </a:solidFill>
                <a:latin typeface="Malgun Gothic" pitchFamily="34" charset="0"/>
                <a:ea typeface="Malgun Gothic" pitchFamily="34" charset="-122"/>
                <a:cs typeface="Malgun Gothic" pitchFamily="34" charset="-120"/>
              </a:rPr>
              <a:t>요구</a:t>
            </a:r>
            <a:endParaRPr lang="en-US" sz="1200" dirty="0"/>
          </a:p>
        </p:txBody>
      </p:sp>
      <p:sp>
        <p:nvSpPr>
          <p:cNvPr id="11" name="Text 8"/>
          <p:cNvSpPr/>
          <p:nvPr/>
        </p:nvSpPr>
        <p:spPr>
          <a:xfrm>
            <a:off x="713232" y="3209544"/>
            <a:ext cx="1245108" cy="630936"/>
          </a:xfrm>
          <a:prstGeom prst="rect">
            <a:avLst/>
          </a:prstGeom>
          <a:noFill/>
          <a:ln/>
        </p:spPr>
        <p:txBody>
          <a:bodyPr wrap="square" lIns="0" tIns="0" rIns="0" bIns="0" rtlCol="0" anchor="t"/>
          <a:lstStyle/>
          <a:p>
            <a:pPr algn="ctr" indent="0" marL="0">
              <a:lnSpc>
                <a:spcPts val="1235"/>
              </a:lnSpc>
              <a:buNone/>
            </a:pPr>
            <a:r>
              <a:rPr lang="en-US" sz="950" dirty="0">
                <a:solidFill>
                  <a:srgbClr val="6B7185"/>
                </a:solidFill>
                <a:latin typeface="Malgun Gothic" pitchFamily="34" charset="0"/>
                <a:ea typeface="Malgun Gothic" pitchFamily="34" charset="-122"/>
                <a:cs typeface="Malgun Gothic" pitchFamily="34" charset="-120"/>
              </a:rPr>
              <a:t>무엇을</a:t>
            </a:r>
            <a:endParaRPr lang="en-US" sz="950" dirty="0"/>
          </a:p>
          <a:p>
            <a:pPr algn="ctr" indent="0" marL="0">
              <a:lnSpc>
                <a:spcPts val="1235"/>
              </a:lnSpc>
              <a:buNone/>
            </a:pPr>
            <a:r>
              <a:rPr lang="en-US" sz="950" dirty="0">
                <a:solidFill>
                  <a:srgbClr val="6B7185"/>
                </a:solidFill>
                <a:latin typeface="Malgun Gothic" pitchFamily="34" charset="0"/>
                <a:ea typeface="Malgun Gothic" pitchFamily="34" charset="-122"/>
                <a:cs typeface="Malgun Gothic" pitchFamily="34" charset="-120"/>
              </a:rPr>
              <a:t>만들까</a:t>
            </a:r>
            <a:endParaRPr lang="en-US" sz="950" dirty="0"/>
          </a:p>
          <a:p>
            <a:pPr algn="ctr" indent="0" marL="0">
              <a:lnSpc>
                <a:spcPts val="1235"/>
              </a:lnSpc>
              <a:buNone/>
            </a:pPr>
            <a:r>
              <a:rPr lang="en-US" sz="950" dirty="0">
                <a:solidFill>
                  <a:srgbClr val="6B7185"/>
                </a:solidFill>
                <a:latin typeface="Malgun Gothic" pitchFamily="34" charset="0"/>
                <a:ea typeface="Malgun Gothic" pitchFamily="34" charset="-122"/>
                <a:cs typeface="Malgun Gothic" pitchFamily="34" charset="-120"/>
              </a:rPr>
              <a:t>(5주)</a:t>
            </a:r>
            <a:endParaRPr lang="en-US" sz="950" dirty="0"/>
          </a:p>
        </p:txBody>
      </p:sp>
      <p:sp>
        <p:nvSpPr>
          <p:cNvPr id="12" name="Shape 9"/>
          <p:cNvSpPr/>
          <p:nvPr/>
        </p:nvSpPr>
        <p:spPr>
          <a:xfrm>
            <a:off x="2141220" y="3031236"/>
            <a:ext cx="292608" cy="201168"/>
          </a:xfrm>
          <a:prstGeom prst="rightArrow">
            <a:avLst/>
          </a:prstGeom>
          <a:solidFill>
            <a:srgbClr val="E7E6FB"/>
          </a:solidFill>
          <a:ln/>
        </p:spPr>
      </p:sp>
      <p:sp>
        <p:nvSpPr>
          <p:cNvPr id="13" name="Shape 10"/>
          <p:cNvSpPr/>
          <p:nvPr/>
        </p:nvSpPr>
        <p:spPr>
          <a:xfrm>
            <a:off x="2561844" y="2331720"/>
            <a:ext cx="1354836" cy="1600200"/>
          </a:xfrm>
          <a:prstGeom prst="roundRect">
            <a:avLst>
              <a:gd name="adj" fmla="val 6749"/>
            </a:avLst>
          </a:prstGeom>
          <a:solidFill>
            <a:srgbClr val="FFFFFF"/>
          </a:solidFill>
          <a:ln/>
          <a:effectLst>
            <a:outerShdw sx="100000" sy="100000" kx="0" ky="0" algn="bl" rotWithShape="0" blurRad="152400" dist="25400" dir="5400000">
              <a:srgbClr val="1F1D48">
                <a:alpha val="16000"/>
              </a:srgbClr>
            </a:outerShdw>
          </a:effectLst>
        </p:spPr>
      </p:sp>
      <p:sp>
        <p:nvSpPr>
          <p:cNvPr id="14" name="Shape 11"/>
          <p:cNvSpPr/>
          <p:nvPr/>
        </p:nvSpPr>
        <p:spPr>
          <a:xfrm>
            <a:off x="3056382" y="2478024"/>
            <a:ext cx="365760" cy="365760"/>
          </a:xfrm>
          <a:prstGeom prst="ellipse">
            <a:avLst/>
          </a:prstGeom>
          <a:solidFill>
            <a:srgbClr val="F59E0B"/>
          </a:solidFill>
          <a:ln/>
        </p:spPr>
      </p:sp>
      <p:sp>
        <p:nvSpPr>
          <p:cNvPr id="15" name="Text 12"/>
          <p:cNvSpPr/>
          <p:nvPr/>
        </p:nvSpPr>
        <p:spPr>
          <a:xfrm>
            <a:off x="3056382" y="24780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2</a:t>
            </a:r>
            <a:endParaRPr lang="en-US" sz="1400" dirty="0"/>
          </a:p>
        </p:txBody>
      </p:sp>
      <p:sp>
        <p:nvSpPr>
          <p:cNvPr id="16" name="Text 13"/>
          <p:cNvSpPr/>
          <p:nvPr/>
        </p:nvSpPr>
        <p:spPr>
          <a:xfrm>
            <a:off x="2616708" y="2898648"/>
            <a:ext cx="1245108" cy="310896"/>
          </a:xfrm>
          <a:prstGeom prst="rect">
            <a:avLst/>
          </a:prstGeom>
          <a:noFill/>
          <a:ln/>
        </p:spPr>
        <p:txBody>
          <a:bodyPr wrap="square" lIns="0" tIns="0" rIns="0" bIns="0" rtlCol="0" anchor="ctr"/>
          <a:lstStyle/>
          <a:p>
            <a:pPr algn="ctr" indent="0" marL="0">
              <a:buNone/>
            </a:pPr>
            <a:r>
              <a:rPr lang="en-US" sz="1200" b="1" dirty="0">
                <a:solidFill>
                  <a:srgbClr val="1E1B3A"/>
                </a:solidFill>
                <a:latin typeface="Malgun Gothic" pitchFamily="34" charset="0"/>
                <a:ea typeface="Malgun Gothic" pitchFamily="34" charset="-122"/>
                <a:cs typeface="Malgun Gothic" pitchFamily="34" charset="-120"/>
              </a:rPr>
              <a:t>설계</a:t>
            </a:r>
            <a:endParaRPr lang="en-US" sz="1200" dirty="0"/>
          </a:p>
        </p:txBody>
      </p:sp>
      <p:sp>
        <p:nvSpPr>
          <p:cNvPr id="17" name="Text 14"/>
          <p:cNvSpPr/>
          <p:nvPr/>
        </p:nvSpPr>
        <p:spPr>
          <a:xfrm>
            <a:off x="2616708" y="3209544"/>
            <a:ext cx="1245108" cy="630936"/>
          </a:xfrm>
          <a:prstGeom prst="rect">
            <a:avLst/>
          </a:prstGeom>
          <a:noFill/>
          <a:ln/>
        </p:spPr>
        <p:txBody>
          <a:bodyPr wrap="square" lIns="0" tIns="0" rIns="0" bIns="0" rtlCol="0" anchor="t"/>
          <a:lstStyle/>
          <a:p>
            <a:pPr algn="ctr" indent="0" marL="0">
              <a:lnSpc>
                <a:spcPts val="1235"/>
              </a:lnSpc>
              <a:buNone/>
            </a:pPr>
            <a:r>
              <a:rPr lang="en-US" sz="950" dirty="0">
                <a:solidFill>
                  <a:srgbClr val="6B7185"/>
                </a:solidFill>
                <a:latin typeface="Malgun Gothic" pitchFamily="34" charset="0"/>
                <a:ea typeface="Malgun Gothic" pitchFamily="34" charset="-122"/>
                <a:cs typeface="Malgun Gothic" pitchFamily="34" charset="-120"/>
              </a:rPr>
              <a:t>어떤 구조로</a:t>
            </a:r>
            <a:endParaRPr lang="en-US" sz="950" dirty="0"/>
          </a:p>
          <a:p>
            <a:pPr algn="ctr" indent="0" marL="0">
              <a:lnSpc>
                <a:spcPts val="1235"/>
              </a:lnSpc>
              <a:buNone/>
            </a:pPr>
            <a:r>
              <a:rPr lang="en-US" sz="950" dirty="0">
                <a:solidFill>
                  <a:srgbClr val="6B7185"/>
                </a:solidFill>
                <a:latin typeface="Malgun Gothic" pitchFamily="34" charset="0"/>
                <a:ea typeface="Malgun Gothic" pitchFamily="34" charset="-122"/>
                <a:cs typeface="Malgun Gothic" pitchFamily="34" charset="-120"/>
              </a:rPr>
              <a:t>(6주)</a:t>
            </a:r>
            <a:endParaRPr lang="en-US" sz="950" dirty="0"/>
          </a:p>
        </p:txBody>
      </p:sp>
      <p:sp>
        <p:nvSpPr>
          <p:cNvPr id="18" name="Shape 15"/>
          <p:cNvSpPr/>
          <p:nvPr/>
        </p:nvSpPr>
        <p:spPr>
          <a:xfrm>
            <a:off x="4044696" y="3031236"/>
            <a:ext cx="292608" cy="201168"/>
          </a:xfrm>
          <a:prstGeom prst="rightArrow">
            <a:avLst/>
          </a:prstGeom>
          <a:solidFill>
            <a:srgbClr val="E7E6FB"/>
          </a:solidFill>
          <a:ln/>
        </p:spPr>
      </p:sp>
      <p:sp>
        <p:nvSpPr>
          <p:cNvPr id="19" name="Shape 16"/>
          <p:cNvSpPr/>
          <p:nvPr/>
        </p:nvSpPr>
        <p:spPr>
          <a:xfrm>
            <a:off x="4465320" y="2331720"/>
            <a:ext cx="1354836" cy="1600200"/>
          </a:xfrm>
          <a:prstGeom prst="roundRect">
            <a:avLst>
              <a:gd name="adj" fmla="val 6749"/>
            </a:avLst>
          </a:prstGeom>
          <a:solidFill>
            <a:srgbClr val="FFFFFF"/>
          </a:solidFill>
          <a:ln/>
          <a:effectLst>
            <a:outerShdw sx="100000" sy="100000" kx="0" ky="0" algn="bl" rotWithShape="0" blurRad="152400" dist="25400" dir="5400000">
              <a:srgbClr val="1F1D48">
                <a:alpha val="16000"/>
              </a:srgbClr>
            </a:outerShdw>
          </a:effectLst>
        </p:spPr>
      </p:sp>
      <p:sp>
        <p:nvSpPr>
          <p:cNvPr id="20" name="Shape 17"/>
          <p:cNvSpPr/>
          <p:nvPr/>
        </p:nvSpPr>
        <p:spPr>
          <a:xfrm>
            <a:off x="4959858" y="2478024"/>
            <a:ext cx="365760" cy="365760"/>
          </a:xfrm>
          <a:prstGeom prst="ellipse">
            <a:avLst/>
          </a:prstGeom>
          <a:solidFill>
            <a:srgbClr val="F59E0B"/>
          </a:solidFill>
          <a:ln/>
        </p:spPr>
      </p:sp>
      <p:sp>
        <p:nvSpPr>
          <p:cNvPr id="21" name="Text 18"/>
          <p:cNvSpPr/>
          <p:nvPr/>
        </p:nvSpPr>
        <p:spPr>
          <a:xfrm>
            <a:off x="4959858" y="24780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3</a:t>
            </a:r>
            <a:endParaRPr lang="en-US" sz="1400" dirty="0"/>
          </a:p>
        </p:txBody>
      </p:sp>
      <p:sp>
        <p:nvSpPr>
          <p:cNvPr id="22" name="Text 19"/>
          <p:cNvSpPr/>
          <p:nvPr/>
        </p:nvSpPr>
        <p:spPr>
          <a:xfrm>
            <a:off x="4520184" y="2898648"/>
            <a:ext cx="1245108" cy="310896"/>
          </a:xfrm>
          <a:prstGeom prst="rect">
            <a:avLst/>
          </a:prstGeom>
          <a:noFill/>
          <a:ln/>
        </p:spPr>
        <p:txBody>
          <a:bodyPr wrap="square" lIns="0" tIns="0" rIns="0" bIns="0" rtlCol="0" anchor="ctr"/>
          <a:lstStyle/>
          <a:p>
            <a:pPr algn="ctr" indent="0" marL="0">
              <a:buNone/>
            </a:pPr>
            <a:r>
              <a:rPr lang="en-US" sz="1200" b="1" dirty="0">
                <a:solidFill>
                  <a:srgbClr val="1E1B3A"/>
                </a:solidFill>
                <a:latin typeface="Malgun Gothic" pitchFamily="34" charset="0"/>
                <a:ea typeface="Malgun Gothic" pitchFamily="34" charset="-122"/>
                <a:cs typeface="Malgun Gothic" pitchFamily="34" charset="-120"/>
              </a:rPr>
              <a:t>구현·지시</a:t>
            </a:r>
            <a:endParaRPr lang="en-US" sz="1200" dirty="0"/>
          </a:p>
        </p:txBody>
      </p:sp>
      <p:sp>
        <p:nvSpPr>
          <p:cNvPr id="23" name="Text 20"/>
          <p:cNvSpPr/>
          <p:nvPr/>
        </p:nvSpPr>
        <p:spPr>
          <a:xfrm>
            <a:off x="4520184" y="3209544"/>
            <a:ext cx="1245108" cy="630936"/>
          </a:xfrm>
          <a:prstGeom prst="rect">
            <a:avLst/>
          </a:prstGeom>
          <a:noFill/>
          <a:ln/>
        </p:spPr>
        <p:txBody>
          <a:bodyPr wrap="square" lIns="0" tIns="0" rIns="0" bIns="0" rtlCol="0" anchor="t"/>
          <a:lstStyle/>
          <a:p>
            <a:pPr algn="ctr" indent="0" marL="0">
              <a:lnSpc>
                <a:spcPts val="1235"/>
              </a:lnSpc>
              <a:buNone/>
            </a:pPr>
            <a:r>
              <a:rPr lang="en-US" sz="950" dirty="0">
                <a:solidFill>
                  <a:srgbClr val="6B7185"/>
                </a:solidFill>
                <a:latin typeface="Malgun Gothic" pitchFamily="34" charset="0"/>
                <a:ea typeface="Malgun Gothic" pitchFamily="34" charset="-122"/>
                <a:cs typeface="Malgun Gothic" pitchFamily="34" charset="-120"/>
              </a:rPr>
              <a:t>AI에게 맡겨</a:t>
            </a:r>
            <a:endParaRPr lang="en-US" sz="950" dirty="0"/>
          </a:p>
          <a:p>
            <a:pPr algn="ctr" indent="0" marL="0">
              <a:lnSpc>
                <a:spcPts val="1235"/>
              </a:lnSpc>
              <a:buNone/>
            </a:pPr>
            <a:r>
              <a:rPr lang="en-US" sz="950" dirty="0">
                <a:solidFill>
                  <a:srgbClr val="6B7185"/>
                </a:solidFill>
                <a:latin typeface="Malgun Gothic" pitchFamily="34" charset="0"/>
                <a:ea typeface="Malgun Gothic" pitchFamily="34" charset="-122"/>
                <a:cs typeface="Malgun Gothic" pitchFamily="34" charset="-120"/>
              </a:rPr>
              <a:t>받아내기</a:t>
            </a:r>
            <a:endParaRPr lang="en-US" sz="950" dirty="0"/>
          </a:p>
          <a:p>
            <a:pPr algn="ctr" indent="0" marL="0">
              <a:lnSpc>
                <a:spcPts val="1235"/>
              </a:lnSpc>
              <a:buNone/>
            </a:pPr>
            <a:r>
              <a:rPr lang="en-US" sz="950" dirty="0">
                <a:solidFill>
                  <a:srgbClr val="6B7185"/>
                </a:solidFill>
                <a:latin typeface="Malgun Gothic" pitchFamily="34" charset="0"/>
                <a:ea typeface="Malgun Gothic" pitchFamily="34" charset="-122"/>
                <a:cs typeface="Malgun Gothic" pitchFamily="34" charset="-120"/>
              </a:rPr>
              <a:t>(7주)</a:t>
            </a:r>
            <a:endParaRPr lang="en-US" sz="950" dirty="0"/>
          </a:p>
        </p:txBody>
      </p:sp>
      <p:sp>
        <p:nvSpPr>
          <p:cNvPr id="24" name="Shape 21"/>
          <p:cNvSpPr/>
          <p:nvPr/>
        </p:nvSpPr>
        <p:spPr>
          <a:xfrm>
            <a:off x="5948172" y="3031236"/>
            <a:ext cx="292608" cy="201168"/>
          </a:xfrm>
          <a:prstGeom prst="rightArrow">
            <a:avLst/>
          </a:prstGeom>
          <a:solidFill>
            <a:srgbClr val="E7E6FB"/>
          </a:solidFill>
          <a:ln/>
        </p:spPr>
      </p:sp>
      <p:sp>
        <p:nvSpPr>
          <p:cNvPr id="25" name="Shape 22"/>
          <p:cNvSpPr/>
          <p:nvPr/>
        </p:nvSpPr>
        <p:spPr>
          <a:xfrm>
            <a:off x="6368796" y="2331720"/>
            <a:ext cx="1354836" cy="1600200"/>
          </a:xfrm>
          <a:prstGeom prst="roundRect">
            <a:avLst>
              <a:gd name="adj" fmla="val 6749"/>
            </a:avLst>
          </a:prstGeom>
          <a:solidFill>
            <a:srgbClr val="FFFFFF"/>
          </a:solidFill>
          <a:ln/>
          <a:effectLst>
            <a:outerShdw sx="100000" sy="100000" kx="0" ky="0" algn="bl" rotWithShape="0" blurRad="152400" dist="25400" dir="5400000">
              <a:srgbClr val="1F1D48">
                <a:alpha val="16000"/>
              </a:srgbClr>
            </a:outerShdw>
          </a:effectLst>
        </p:spPr>
      </p:sp>
      <p:sp>
        <p:nvSpPr>
          <p:cNvPr id="26" name="Shape 23"/>
          <p:cNvSpPr/>
          <p:nvPr/>
        </p:nvSpPr>
        <p:spPr>
          <a:xfrm>
            <a:off x="6863334" y="2478024"/>
            <a:ext cx="365760" cy="365760"/>
          </a:xfrm>
          <a:prstGeom prst="ellipse">
            <a:avLst/>
          </a:prstGeom>
          <a:solidFill>
            <a:srgbClr val="F59E0B"/>
          </a:solidFill>
          <a:ln/>
        </p:spPr>
      </p:sp>
      <p:sp>
        <p:nvSpPr>
          <p:cNvPr id="27" name="Text 24"/>
          <p:cNvSpPr/>
          <p:nvPr/>
        </p:nvSpPr>
        <p:spPr>
          <a:xfrm>
            <a:off x="6863334" y="24780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4</a:t>
            </a:r>
            <a:endParaRPr lang="en-US" sz="1400" dirty="0"/>
          </a:p>
        </p:txBody>
      </p:sp>
      <p:sp>
        <p:nvSpPr>
          <p:cNvPr id="28" name="Text 25"/>
          <p:cNvSpPr/>
          <p:nvPr/>
        </p:nvSpPr>
        <p:spPr>
          <a:xfrm>
            <a:off x="6423660" y="2898648"/>
            <a:ext cx="1245108" cy="310896"/>
          </a:xfrm>
          <a:prstGeom prst="rect">
            <a:avLst/>
          </a:prstGeom>
          <a:noFill/>
          <a:ln/>
        </p:spPr>
        <p:txBody>
          <a:bodyPr wrap="square" lIns="0" tIns="0" rIns="0" bIns="0" rtlCol="0" anchor="ctr"/>
          <a:lstStyle/>
          <a:p>
            <a:pPr algn="ctr" indent="0" marL="0">
              <a:buNone/>
            </a:pPr>
            <a:r>
              <a:rPr lang="en-US" sz="1200" b="1" dirty="0">
                <a:solidFill>
                  <a:srgbClr val="1E1B3A"/>
                </a:solidFill>
                <a:latin typeface="Malgun Gothic" pitchFamily="34" charset="0"/>
                <a:ea typeface="Malgun Gothic" pitchFamily="34" charset="-122"/>
                <a:cs typeface="Malgun Gothic" pitchFamily="34" charset="-120"/>
              </a:rPr>
              <a:t>검증</a:t>
            </a:r>
            <a:endParaRPr lang="en-US" sz="1200" dirty="0"/>
          </a:p>
        </p:txBody>
      </p:sp>
      <p:sp>
        <p:nvSpPr>
          <p:cNvPr id="29" name="Text 26"/>
          <p:cNvSpPr/>
          <p:nvPr/>
        </p:nvSpPr>
        <p:spPr>
          <a:xfrm>
            <a:off x="6423660" y="3209544"/>
            <a:ext cx="1245108" cy="630936"/>
          </a:xfrm>
          <a:prstGeom prst="rect">
            <a:avLst/>
          </a:prstGeom>
          <a:noFill/>
          <a:ln/>
        </p:spPr>
        <p:txBody>
          <a:bodyPr wrap="square" lIns="0" tIns="0" rIns="0" bIns="0" rtlCol="0" anchor="t"/>
          <a:lstStyle/>
          <a:p>
            <a:pPr algn="ctr" indent="0" marL="0">
              <a:lnSpc>
                <a:spcPts val="1235"/>
              </a:lnSpc>
              <a:buNone/>
            </a:pPr>
            <a:r>
              <a:rPr lang="en-US" sz="950" dirty="0">
                <a:solidFill>
                  <a:srgbClr val="6B7185"/>
                </a:solidFill>
                <a:latin typeface="Malgun Gothic" pitchFamily="34" charset="0"/>
                <a:ea typeface="Malgun Gothic" pitchFamily="34" charset="-122"/>
                <a:cs typeface="Malgun Gothic" pitchFamily="34" charset="-120"/>
              </a:rPr>
              <a:t>테스트 설계</a:t>
            </a:r>
            <a:endParaRPr lang="en-US" sz="950" dirty="0"/>
          </a:p>
          <a:p>
            <a:pPr algn="ctr" indent="0" marL="0">
              <a:lnSpc>
                <a:spcPts val="1235"/>
              </a:lnSpc>
              <a:buNone/>
            </a:pPr>
            <a:r>
              <a:rPr lang="en-US" sz="950" dirty="0">
                <a:solidFill>
                  <a:srgbClr val="6B7185"/>
                </a:solidFill>
                <a:latin typeface="Malgun Gothic" pitchFamily="34" charset="0"/>
                <a:ea typeface="Malgun Gothic" pitchFamily="34" charset="-122"/>
                <a:cs typeface="Malgun Gothic" pitchFamily="34" charset="-120"/>
              </a:rPr>
              <a:t>(9주)</a:t>
            </a:r>
            <a:endParaRPr lang="en-US" sz="950" dirty="0"/>
          </a:p>
        </p:txBody>
      </p:sp>
      <p:sp>
        <p:nvSpPr>
          <p:cNvPr id="30" name="Shape 27"/>
          <p:cNvSpPr/>
          <p:nvPr/>
        </p:nvSpPr>
        <p:spPr>
          <a:xfrm>
            <a:off x="7851648" y="3031236"/>
            <a:ext cx="292608" cy="201168"/>
          </a:xfrm>
          <a:prstGeom prst="rightArrow">
            <a:avLst/>
          </a:prstGeom>
          <a:solidFill>
            <a:srgbClr val="E7E6FB"/>
          </a:solidFill>
          <a:ln/>
        </p:spPr>
      </p:sp>
      <p:sp>
        <p:nvSpPr>
          <p:cNvPr id="31" name="Shape 28"/>
          <p:cNvSpPr/>
          <p:nvPr/>
        </p:nvSpPr>
        <p:spPr>
          <a:xfrm>
            <a:off x="8272272" y="2331720"/>
            <a:ext cx="1354836" cy="1600200"/>
          </a:xfrm>
          <a:prstGeom prst="roundRect">
            <a:avLst>
              <a:gd name="adj" fmla="val 6749"/>
            </a:avLst>
          </a:prstGeom>
          <a:solidFill>
            <a:srgbClr val="FFFFFF"/>
          </a:solidFill>
          <a:ln/>
          <a:effectLst>
            <a:outerShdw sx="100000" sy="100000" kx="0" ky="0" algn="bl" rotWithShape="0" blurRad="152400" dist="25400" dir="5400000">
              <a:srgbClr val="1F1D48">
                <a:alpha val="16000"/>
              </a:srgbClr>
            </a:outerShdw>
          </a:effectLst>
        </p:spPr>
      </p:sp>
      <p:sp>
        <p:nvSpPr>
          <p:cNvPr id="32" name="Shape 29"/>
          <p:cNvSpPr/>
          <p:nvPr/>
        </p:nvSpPr>
        <p:spPr>
          <a:xfrm>
            <a:off x="8766810" y="2478024"/>
            <a:ext cx="365760" cy="365760"/>
          </a:xfrm>
          <a:prstGeom prst="ellipse">
            <a:avLst/>
          </a:prstGeom>
          <a:solidFill>
            <a:srgbClr val="F59E0B"/>
          </a:solidFill>
          <a:ln/>
        </p:spPr>
      </p:sp>
      <p:sp>
        <p:nvSpPr>
          <p:cNvPr id="33" name="Text 30"/>
          <p:cNvSpPr/>
          <p:nvPr/>
        </p:nvSpPr>
        <p:spPr>
          <a:xfrm>
            <a:off x="8766810" y="24780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5</a:t>
            </a:r>
            <a:endParaRPr lang="en-US" sz="1400" dirty="0"/>
          </a:p>
        </p:txBody>
      </p:sp>
      <p:sp>
        <p:nvSpPr>
          <p:cNvPr id="34" name="Text 31"/>
          <p:cNvSpPr/>
          <p:nvPr/>
        </p:nvSpPr>
        <p:spPr>
          <a:xfrm>
            <a:off x="8327136" y="2898648"/>
            <a:ext cx="1245108" cy="310896"/>
          </a:xfrm>
          <a:prstGeom prst="rect">
            <a:avLst/>
          </a:prstGeom>
          <a:noFill/>
          <a:ln/>
        </p:spPr>
        <p:txBody>
          <a:bodyPr wrap="square" lIns="0" tIns="0" rIns="0" bIns="0" rtlCol="0" anchor="ctr"/>
          <a:lstStyle/>
          <a:p>
            <a:pPr algn="ctr" indent="0" marL="0">
              <a:buNone/>
            </a:pPr>
            <a:r>
              <a:rPr lang="en-US" sz="1200" b="1" dirty="0">
                <a:solidFill>
                  <a:srgbClr val="1E1B3A"/>
                </a:solidFill>
                <a:latin typeface="Malgun Gothic" pitchFamily="34" charset="0"/>
                <a:ea typeface="Malgun Gothic" pitchFamily="34" charset="-122"/>
                <a:cs typeface="Malgun Gothic" pitchFamily="34" charset="-120"/>
              </a:rPr>
              <a:t>유지보수</a:t>
            </a:r>
            <a:endParaRPr lang="en-US" sz="1200" dirty="0"/>
          </a:p>
        </p:txBody>
      </p:sp>
      <p:sp>
        <p:nvSpPr>
          <p:cNvPr id="35" name="Text 32"/>
          <p:cNvSpPr/>
          <p:nvPr/>
        </p:nvSpPr>
        <p:spPr>
          <a:xfrm>
            <a:off x="8327136" y="3209544"/>
            <a:ext cx="1245108" cy="630936"/>
          </a:xfrm>
          <a:prstGeom prst="rect">
            <a:avLst/>
          </a:prstGeom>
          <a:noFill/>
          <a:ln/>
        </p:spPr>
        <p:txBody>
          <a:bodyPr wrap="square" lIns="0" tIns="0" rIns="0" bIns="0" rtlCol="0" anchor="t"/>
          <a:lstStyle/>
          <a:p>
            <a:pPr algn="ctr" indent="0" marL="0">
              <a:lnSpc>
                <a:spcPts val="1235"/>
              </a:lnSpc>
              <a:buNone/>
            </a:pPr>
            <a:r>
              <a:rPr lang="en-US" sz="950" dirty="0">
                <a:solidFill>
                  <a:srgbClr val="6B7185"/>
                </a:solidFill>
                <a:latin typeface="Malgun Gothic" pitchFamily="34" charset="0"/>
                <a:ea typeface="Malgun Gothic" pitchFamily="34" charset="-122"/>
                <a:cs typeface="Malgun Gothic" pitchFamily="34" charset="-120"/>
              </a:rPr>
              <a:t>결함 재현과</a:t>
            </a:r>
            <a:endParaRPr lang="en-US" sz="950" dirty="0"/>
          </a:p>
          <a:p>
            <a:pPr algn="ctr" indent="0" marL="0">
              <a:lnSpc>
                <a:spcPts val="1235"/>
              </a:lnSpc>
              <a:buNone/>
            </a:pPr>
            <a:r>
              <a:rPr lang="en-US" sz="950" dirty="0">
                <a:solidFill>
                  <a:srgbClr val="6B7185"/>
                </a:solidFill>
                <a:latin typeface="Malgun Gothic" pitchFamily="34" charset="0"/>
                <a:ea typeface="Malgun Gothic" pitchFamily="34" charset="-122"/>
                <a:cs typeface="Malgun Gothic" pitchFamily="34" charset="-120"/>
              </a:rPr>
              <a:t>수정 (10주)</a:t>
            </a:r>
            <a:endParaRPr lang="en-US" sz="950" dirty="0"/>
          </a:p>
        </p:txBody>
      </p:sp>
      <p:sp>
        <p:nvSpPr>
          <p:cNvPr id="36" name="Shape 33"/>
          <p:cNvSpPr/>
          <p:nvPr/>
        </p:nvSpPr>
        <p:spPr>
          <a:xfrm>
            <a:off x="9755124" y="3031236"/>
            <a:ext cx="292608" cy="201168"/>
          </a:xfrm>
          <a:prstGeom prst="rightArrow">
            <a:avLst/>
          </a:prstGeom>
          <a:solidFill>
            <a:srgbClr val="E7E6FB"/>
          </a:solidFill>
          <a:ln/>
        </p:spPr>
      </p:sp>
      <p:sp>
        <p:nvSpPr>
          <p:cNvPr id="37" name="Shape 34"/>
          <p:cNvSpPr/>
          <p:nvPr/>
        </p:nvSpPr>
        <p:spPr>
          <a:xfrm>
            <a:off x="10175748" y="2331720"/>
            <a:ext cx="1354836" cy="1600200"/>
          </a:xfrm>
          <a:prstGeom prst="roundRect">
            <a:avLst>
              <a:gd name="adj" fmla="val 6749"/>
            </a:avLst>
          </a:prstGeom>
          <a:solidFill>
            <a:srgbClr val="FFFFFF"/>
          </a:solidFill>
          <a:ln/>
          <a:effectLst>
            <a:outerShdw sx="100000" sy="100000" kx="0" ky="0" algn="bl" rotWithShape="0" blurRad="152400" dist="25400" dir="5400000">
              <a:srgbClr val="1F1D48">
                <a:alpha val="16000"/>
              </a:srgbClr>
            </a:outerShdw>
          </a:effectLst>
        </p:spPr>
      </p:sp>
      <p:sp>
        <p:nvSpPr>
          <p:cNvPr id="38" name="Shape 35"/>
          <p:cNvSpPr/>
          <p:nvPr/>
        </p:nvSpPr>
        <p:spPr>
          <a:xfrm>
            <a:off x="10670286" y="2478024"/>
            <a:ext cx="365760" cy="365760"/>
          </a:xfrm>
          <a:prstGeom prst="ellipse">
            <a:avLst/>
          </a:prstGeom>
          <a:solidFill>
            <a:srgbClr val="F59E0B"/>
          </a:solidFill>
          <a:ln/>
        </p:spPr>
      </p:sp>
      <p:sp>
        <p:nvSpPr>
          <p:cNvPr id="39" name="Text 36"/>
          <p:cNvSpPr/>
          <p:nvPr/>
        </p:nvSpPr>
        <p:spPr>
          <a:xfrm>
            <a:off x="10670286" y="24780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6</a:t>
            </a:r>
            <a:endParaRPr lang="en-US" sz="1400" dirty="0"/>
          </a:p>
        </p:txBody>
      </p:sp>
      <p:sp>
        <p:nvSpPr>
          <p:cNvPr id="40" name="Text 37"/>
          <p:cNvSpPr/>
          <p:nvPr/>
        </p:nvSpPr>
        <p:spPr>
          <a:xfrm>
            <a:off x="10230612" y="2898648"/>
            <a:ext cx="1245108" cy="310896"/>
          </a:xfrm>
          <a:prstGeom prst="rect">
            <a:avLst/>
          </a:prstGeom>
          <a:noFill/>
          <a:ln/>
        </p:spPr>
        <p:txBody>
          <a:bodyPr wrap="square" lIns="0" tIns="0" rIns="0" bIns="0" rtlCol="0" anchor="ctr"/>
          <a:lstStyle/>
          <a:p>
            <a:pPr algn="ctr" indent="0" marL="0">
              <a:buNone/>
            </a:pPr>
            <a:r>
              <a:rPr lang="en-US" sz="1200" b="1" dirty="0">
                <a:solidFill>
                  <a:srgbClr val="1E1B3A"/>
                </a:solidFill>
                <a:latin typeface="Malgun Gothic" pitchFamily="34" charset="0"/>
                <a:ea typeface="Malgun Gothic" pitchFamily="34" charset="-122"/>
                <a:cs typeface="Malgun Gothic" pitchFamily="34" charset="-120"/>
              </a:rPr>
              <a:t>배포·자동화</a:t>
            </a:r>
            <a:endParaRPr lang="en-US" sz="1200" dirty="0"/>
          </a:p>
        </p:txBody>
      </p:sp>
      <p:sp>
        <p:nvSpPr>
          <p:cNvPr id="41" name="Text 38"/>
          <p:cNvSpPr/>
          <p:nvPr/>
        </p:nvSpPr>
        <p:spPr>
          <a:xfrm>
            <a:off x="10230612" y="3209544"/>
            <a:ext cx="1245108" cy="630936"/>
          </a:xfrm>
          <a:prstGeom prst="rect">
            <a:avLst/>
          </a:prstGeom>
          <a:noFill/>
          <a:ln/>
        </p:spPr>
        <p:txBody>
          <a:bodyPr wrap="square" lIns="0" tIns="0" rIns="0" bIns="0" rtlCol="0" anchor="t"/>
          <a:lstStyle/>
          <a:p>
            <a:pPr algn="ctr" indent="0" marL="0">
              <a:lnSpc>
                <a:spcPts val="1235"/>
              </a:lnSpc>
              <a:buNone/>
            </a:pPr>
            <a:r>
              <a:rPr lang="en-US" sz="950" dirty="0">
                <a:solidFill>
                  <a:srgbClr val="6B7185"/>
                </a:solidFill>
                <a:latin typeface="Malgun Gothic" pitchFamily="34" charset="0"/>
                <a:ea typeface="Malgun Gothic" pitchFamily="34" charset="-122"/>
                <a:cs typeface="Malgun Gothic" pitchFamily="34" charset="-120"/>
              </a:rPr>
              <a:t>CI/CD와</a:t>
            </a:r>
            <a:endParaRPr lang="en-US" sz="950" dirty="0"/>
          </a:p>
          <a:p>
            <a:pPr algn="ctr" indent="0" marL="0">
              <a:lnSpc>
                <a:spcPts val="1235"/>
              </a:lnSpc>
              <a:buNone/>
            </a:pPr>
            <a:r>
              <a:rPr lang="en-US" sz="950" dirty="0">
                <a:solidFill>
                  <a:srgbClr val="6B7185"/>
                </a:solidFill>
                <a:latin typeface="Malgun Gothic" pitchFamily="34" charset="0"/>
                <a:ea typeface="Malgun Gothic" pitchFamily="34" charset="-122"/>
                <a:cs typeface="Malgun Gothic" pitchFamily="34" charset="-120"/>
              </a:rPr>
              <a:t>에이전트</a:t>
            </a:r>
            <a:endParaRPr lang="en-US" sz="950" dirty="0"/>
          </a:p>
          <a:p>
            <a:pPr algn="ctr" indent="0" marL="0">
              <a:lnSpc>
                <a:spcPts val="1235"/>
              </a:lnSpc>
              <a:buNone/>
            </a:pPr>
            <a:r>
              <a:rPr lang="en-US" sz="950" dirty="0">
                <a:solidFill>
                  <a:srgbClr val="6B7185"/>
                </a:solidFill>
                <a:latin typeface="Malgun Gothic" pitchFamily="34" charset="0"/>
                <a:ea typeface="Malgun Gothic" pitchFamily="34" charset="-122"/>
                <a:cs typeface="Malgun Gothic" pitchFamily="34" charset="-120"/>
              </a:rPr>
              <a:t>(11–12주)</a:t>
            </a:r>
            <a:endParaRPr lang="en-US" sz="950" dirty="0"/>
          </a:p>
        </p:txBody>
      </p:sp>
      <p:sp>
        <p:nvSpPr>
          <p:cNvPr id="42" name="Shape 39"/>
          <p:cNvSpPr/>
          <p:nvPr/>
        </p:nvSpPr>
        <p:spPr>
          <a:xfrm>
            <a:off x="658368" y="4343400"/>
            <a:ext cx="10872216" cy="868680"/>
          </a:xfrm>
          <a:prstGeom prst="roundRect">
            <a:avLst>
              <a:gd name="adj" fmla="val 10526"/>
            </a:avLst>
          </a:prstGeom>
          <a:solidFill>
            <a:srgbClr val="F5F4FC"/>
          </a:solidFill>
          <a:ln/>
        </p:spPr>
      </p:sp>
      <p:sp>
        <p:nvSpPr>
          <p:cNvPr id="43" name="Shape 40"/>
          <p:cNvSpPr/>
          <p:nvPr/>
        </p:nvSpPr>
        <p:spPr>
          <a:xfrm>
            <a:off x="877824" y="4539996"/>
            <a:ext cx="475488" cy="475488"/>
          </a:xfrm>
          <a:prstGeom prst="ellipse">
            <a:avLst/>
          </a:prstGeom>
          <a:solidFill>
            <a:srgbClr val="4F46E5"/>
          </a:solidFill>
          <a:ln/>
        </p:spPr>
      </p:sp>
      <p:pic>
        <p:nvPicPr>
          <p:cNvPr id="44" name="Image 1" descr="/home/claude/icons/key_white.png">    </p:cNvPr>
          <p:cNvPicPr>
            <a:picLocks noChangeAspect="1"/>
          </p:cNvPicPr>
          <p:nvPr/>
        </p:nvPicPr>
        <p:blipFill>
          <a:blip r:embed="rId2"/>
          <a:stretch>
            <a:fillRect/>
          </a:stretch>
        </p:blipFill>
        <p:spPr>
          <a:xfrm>
            <a:off x="996696" y="4658868"/>
            <a:ext cx="237744" cy="237744"/>
          </a:xfrm>
          <a:prstGeom prst="rect">
            <a:avLst/>
          </a:prstGeom>
        </p:spPr>
      </p:pic>
      <p:sp>
        <p:nvSpPr>
          <p:cNvPr id="45" name="Text 41"/>
          <p:cNvSpPr/>
          <p:nvPr/>
        </p:nvSpPr>
        <p:spPr>
          <a:xfrm>
            <a:off x="1554480" y="4434840"/>
            <a:ext cx="9738360" cy="685800"/>
          </a:xfrm>
          <a:prstGeom prst="rect">
            <a:avLst/>
          </a:prstGeom>
          <a:noFill/>
          <a:ln/>
        </p:spPr>
        <p:txBody>
          <a:bodyPr wrap="square" lIns="0" tIns="0" rIns="0" bIns="0" rtlCol="0" anchor="ctr"/>
          <a:lstStyle/>
          <a:p>
            <a:pPr indent="0" marL="0">
              <a:lnSpc>
                <a:spcPts val="1633"/>
              </a:lnSpc>
              <a:buNone/>
            </a:pPr>
            <a:r>
              <a:rPr lang="en-US" sz="1300" b="1" dirty="0">
                <a:solidFill>
                  <a:srgbClr val="1E1B3A"/>
                </a:solidFill>
                <a:latin typeface="Malgun Gothic" pitchFamily="34" charset="0"/>
                <a:ea typeface="Malgun Gothic" pitchFamily="34" charset="-122"/>
                <a:cs typeface="Malgun Gothic" pitchFamily="34" charset="-120"/>
              </a:rPr>
              <a:t>그 전에, 1–4주는 준비 기간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이 여정을 떠나기 위한 장비(개발 환경 · AI 도구)와 언어(지시문 작성법)를 먼저 갖춥니다. 오늘이 그 첫날입니다.</a:t>
            </a:r>
            <a:endParaRPr lang="en-US" sz="1300" dirty="0"/>
          </a:p>
        </p:txBody>
      </p:sp>
      <p:sp>
        <p:nvSpPr>
          <p:cNvPr id="46" name="Text 42"/>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7163A"/>
        </a:solidFill>
      </p:bgPr>
    </p:bg>
    <p:spTree>
      <p:nvGrpSpPr>
        <p:cNvPr id="1" name=""/>
        <p:cNvGrpSpPr/>
        <p:nvPr/>
      </p:nvGrpSpPr>
      <p:grpSpPr>
        <a:xfrm>
          <a:off x="0" y="0"/>
          <a:ext cx="0" cy="0"/>
          <a:chOff x="0" y="0"/>
          <a:chExt cx="0" cy="0"/>
        </a:xfrm>
      </p:grpSpPr>
      <p:sp>
        <p:nvSpPr>
          <p:cNvPr id="2" name="Shape 0"/>
          <p:cNvSpPr/>
          <p:nvPr/>
        </p:nvSpPr>
        <p:spPr>
          <a:xfrm>
            <a:off x="8503920" y="-2103120"/>
            <a:ext cx="6035040" cy="6035040"/>
          </a:xfrm>
          <a:prstGeom prst="ellipse">
            <a:avLst/>
          </a:prstGeom>
          <a:solidFill>
            <a:srgbClr val="201E4C"/>
          </a:solidFill>
          <a:ln/>
        </p:spPr>
      </p:sp>
      <p:sp>
        <p:nvSpPr>
          <p:cNvPr id="3" name="Shape 1"/>
          <p:cNvSpPr/>
          <p:nvPr/>
        </p:nvSpPr>
        <p:spPr>
          <a:xfrm>
            <a:off x="-1737360" y="4480560"/>
            <a:ext cx="4297680" cy="4297680"/>
          </a:xfrm>
          <a:prstGeom prst="ellipse">
            <a:avLst/>
          </a:prstGeom>
          <a:solidFill>
            <a:srgbClr val="2A2860"/>
          </a:solidFill>
          <a:ln/>
        </p:spPr>
      </p:sp>
      <p:sp>
        <p:nvSpPr>
          <p:cNvPr id="4" name="Text 2"/>
          <p:cNvSpPr/>
          <p:nvPr/>
        </p:nvSpPr>
        <p:spPr>
          <a:xfrm>
            <a:off x="7863840" y="320040"/>
            <a:ext cx="3840480" cy="2103120"/>
          </a:xfrm>
          <a:prstGeom prst="rect">
            <a:avLst/>
          </a:prstGeom>
          <a:noFill/>
          <a:ln/>
        </p:spPr>
        <p:txBody>
          <a:bodyPr wrap="square" lIns="0" tIns="0" rIns="0" bIns="0" rtlCol="0" anchor="ctr"/>
          <a:lstStyle/>
          <a:p>
            <a:pPr algn="r" indent="0" marL="0">
              <a:buNone/>
            </a:pPr>
            <a:r>
              <a:rPr lang="en-US" sz="12000" b="1" dirty="0">
                <a:solidFill>
                  <a:srgbClr val="343070"/>
                </a:solidFill>
                <a:latin typeface="Malgun Gothic" pitchFamily="34" charset="0"/>
                <a:ea typeface="Malgun Gothic" pitchFamily="34" charset="-122"/>
                <a:cs typeface="Malgun Gothic" pitchFamily="34" charset="-120"/>
              </a:rPr>
              <a:t>03</a:t>
            </a:r>
            <a:endParaRPr lang="en-US" sz="12000" dirty="0"/>
          </a:p>
        </p:txBody>
      </p:sp>
      <p:sp>
        <p:nvSpPr>
          <p:cNvPr id="5" name="Shape 3"/>
          <p:cNvSpPr/>
          <p:nvPr/>
        </p:nvSpPr>
        <p:spPr>
          <a:xfrm>
            <a:off x="658368" y="2103120"/>
            <a:ext cx="1691640" cy="457200"/>
          </a:xfrm>
          <a:prstGeom prst="roundRect">
            <a:avLst>
              <a:gd name="adj" fmla="val 50000"/>
            </a:avLst>
          </a:prstGeom>
          <a:solidFill>
            <a:srgbClr val="10B981"/>
          </a:solidFill>
          <a:ln/>
        </p:spPr>
      </p:sp>
      <p:sp>
        <p:nvSpPr>
          <p:cNvPr id="6" name="Text 4"/>
          <p:cNvSpPr/>
          <p:nvPr/>
        </p:nvSpPr>
        <p:spPr>
          <a:xfrm>
            <a:off x="658368" y="2103120"/>
            <a:ext cx="1691640" cy="457200"/>
          </a:xfrm>
          <a:prstGeom prst="rect">
            <a:avLst/>
          </a:prstGeom>
          <a:noFill/>
          <a:ln/>
        </p:spPr>
        <p:txBody>
          <a:bodyPr wrap="square" lIns="0" tIns="0" rIns="0" bIns="0" rtlCol="0" anchor="ctr"/>
          <a:lstStyle/>
          <a:p>
            <a:pPr algn="ctr" indent="0" marL="0">
              <a:buNone/>
            </a:pPr>
            <a:r>
              <a:rPr lang="en-US" sz="1250" b="1" spc="200" kern="0" dirty="0">
                <a:solidFill>
                  <a:srgbClr val="FFFFFF"/>
                </a:solidFill>
                <a:latin typeface="Malgun Gothic" pitchFamily="34" charset="0"/>
                <a:ea typeface="Malgun Gothic" pitchFamily="34" charset="-122"/>
                <a:cs typeface="Malgun Gothic" pitchFamily="34" charset="-120"/>
              </a:rPr>
              <a:t>PART 3</a:t>
            </a:r>
            <a:endParaRPr lang="en-US" sz="1250" dirty="0"/>
          </a:p>
        </p:txBody>
      </p:sp>
      <p:sp>
        <p:nvSpPr>
          <p:cNvPr id="7" name="Text 5"/>
          <p:cNvSpPr/>
          <p:nvPr/>
        </p:nvSpPr>
        <p:spPr>
          <a:xfrm>
            <a:off x="658368" y="2743200"/>
            <a:ext cx="8961120" cy="1005840"/>
          </a:xfrm>
          <a:prstGeom prst="rect">
            <a:avLst/>
          </a:prstGeom>
          <a:noFill/>
          <a:ln/>
        </p:spPr>
        <p:txBody>
          <a:bodyPr wrap="square" lIns="0" tIns="0" rIns="0" bIns="0" rtlCol="0" anchor="t"/>
          <a:lstStyle/>
          <a:p>
            <a:pPr indent="0" marL="0">
              <a:lnSpc>
                <a:spcPts val="5000"/>
              </a:lnSpc>
              <a:buNone/>
            </a:pPr>
            <a:r>
              <a:rPr lang="en-US" sz="3800" b="1" dirty="0">
                <a:solidFill>
                  <a:srgbClr val="FFFFFF"/>
                </a:solidFill>
                <a:latin typeface="Malgun Gothic" pitchFamily="34" charset="0"/>
                <a:ea typeface="Malgun Gothic" pitchFamily="34" charset="-122"/>
                <a:cs typeface="Malgun Gothic" pitchFamily="34" charset="-120"/>
              </a:rPr>
              <a:t>개발 환경 구축</a:t>
            </a:r>
            <a:endParaRPr lang="en-US" sz="3800" dirty="0"/>
          </a:p>
        </p:txBody>
      </p:sp>
      <p:sp>
        <p:nvSpPr>
          <p:cNvPr id="8" name="Text 6"/>
          <p:cNvSpPr/>
          <p:nvPr/>
        </p:nvSpPr>
        <p:spPr>
          <a:xfrm>
            <a:off x="658368" y="3913632"/>
            <a:ext cx="9052560" cy="868680"/>
          </a:xfrm>
          <a:prstGeom prst="rect">
            <a:avLst/>
          </a:prstGeom>
          <a:noFill/>
          <a:ln/>
        </p:spPr>
        <p:txBody>
          <a:bodyPr wrap="square" lIns="0" tIns="0" rIns="0" bIns="0" rtlCol="0" anchor="t"/>
          <a:lstStyle/>
          <a:p>
            <a:pPr indent="0" marL="0">
              <a:lnSpc>
                <a:spcPts val="2200"/>
              </a:lnSpc>
              <a:buNone/>
            </a:pPr>
            <a:r>
              <a:rPr lang="en-US" sz="1400" dirty="0">
                <a:solidFill>
                  <a:srgbClr val="E7E6FB"/>
                </a:solidFill>
                <a:latin typeface="Malgun Gothic" pitchFamily="34" charset="0"/>
                <a:ea typeface="Malgun Gothic" pitchFamily="34" charset="-122"/>
                <a:cs typeface="Malgun Gothic" pitchFamily="34" charset="-120"/>
              </a:rPr>
              <a:t>여러분 노트북에 한 학기 치 작업대를 만듭니다 — 설치부터 GitHub 첫 업로드까지, 오늘 다 끝냅니다.</a:t>
            </a:r>
            <a:endParaRPr lang="en-US" sz="1400" dirty="0"/>
          </a:p>
        </p:txBody>
      </p:sp>
      <p:sp>
        <p:nvSpPr>
          <p:cNvPr id="9" name="Shape 7"/>
          <p:cNvSpPr/>
          <p:nvPr/>
        </p:nvSpPr>
        <p:spPr>
          <a:xfrm>
            <a:off x="9738360" y="4343400"/>
            <a:ext cx="1325880" cy="1325880"/>
          </a:xfrm>
          <a:prstGeom prst="ellipse">
            <a:avLst/>
          </a:prstGeom>
          <a:solidFill>
            <a:srgbClr val="10B981"/>
          </a:solidFill>
          <a:ln/>
        </p:spPr>
      </p:sp>
      <p:pic>
        <p:nvPicPr>
          <p:cNvPr id="10" name="Image 0" descr="/home/claude/icons/tools_white.png">    </p:cNvPr>
          <p:cNvPicPr>
            <a:picLocks noChangeAspect="1"/>
          </p:cNvPicPr>
          <p:nvPr/>
        </p:nvPicPr>
        <p:blipFill>
          <a:blip r:embed="rId1"/>
          <a:stretch>
            <a:fillRect/>
          </a:stretch>
        </p:blipFill>
        <p:spPr>
          <a:xfrm>
            <a:off x="10069830" y="4674870"/>
            <a:ext cx="662940" cy="662940"/>
          </a:xfrm>
          <a:prstGeom prst="rect">
            <a:avLst/>
          </a:prstGeom>
        </p:spPr>
      </p:pic>
      <p:sp>
        <p:nvSpPr>
          <p:cNvPr id="11" name="Text 8"/>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8A88C4"/>
                </a:solidFill>
                <a:latin typeface="Malgun Gothic" pitchFamily="34" charset="0"/>
                <a:ea typeface="Malgun Gothic" pitchFamily="34" charset="-122"/>
                <a:cs typeface="Malgun Gothic"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482596" cy="384048"/>
          </a:xfrm>
          <a:prstGeom prst="roundRect">
            <a:avLst>
              <a:gd name="adj" fmla="val 50000"/>
            </a:avLst>
          </a:prstGeom>
          <a:solidFill>
            <a:srgbClr val="EDECFB"/>
          </a:solidFill>
          <a:ln/>
        </p:spPr>
      </p:sp>
      <p:pic>
        <p:nvPicPr>
          <p:cNvPr id="3" name="Image 0" descr="/home/claude/icons/tools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098548"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개발 환경 구축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오늘 설치할 네 가지</a:t>
            </a:r>
            <a:endParaRPr lang="en-US" sz="2600" dirty="0"/>
          </a:p>
        </p:txBody>
      </p:sp>
      <p:sp>
        <p:nvSpPr>
          <p:cNvPr id="6" name="Shape 3"/>
          <p:cNvSpPr/>
          <p:nvPr/>
        </p:nvSpPr>
        <p:spPr>
          <a:xfrm>
            <a:off x="658368" y="1828800"/>
            <a:ext cx="2526030" cy="2514600"/>
          </a:xfrm>
          <a:prstGeom prst="roundRect">
            <a:avLst>
              <a:gd name="adj" fmla="val 3636"/>
            </a:avLst>
          </a:prstGeom>
          <a:solidFill>
            <a:srgbClr val="FFFFFF"/>
          </a:solidFill>
          <a:ln/>
          <a:effectLst>
            <a:outerShdw sx="100000" sy="100000" kx="0" ky="0" algn="bl" rotWithShape="0" blurRad="152400" dist="25400" dir="5400000">
              <a:srgbClr val="1F1D48">
                <a:alpha val="16000"/>
              </a:srgbClr>
            </a:outerShdw>
          </a:effectLst>
        </p:spPr>
      </p:sp>
      <p:sp>
        <p:nvSpPr>
          <p:cNvPr id="7" name="Shape 4"/>
          <p:cNvSpPr/>
          <p:nvPr/>
        </p:nvSpPr>
        <p:spPr>
          <a:xfrm>
            <a:off x="896112" y="2066544"/>
            <a:ext cx="512064" cy="512064"/>
          </a:xfrm>
          <a:prstGeom prst="ellipse">
            <a:avLst/>
          </a:prstGeom>
          <a:solidFill>
            <a:srgbClr val="4F46E5"/>
          </a:solidFill>
          <a:ln/>
        </p:spPr>
      </p:sp>
      <p:pic>
        <p:nvPicPr>
          <p:cNvPr id="8" name="Image 1" descr="/home/claude/icons/code_white.png">    </p:cNvPr>
          <p:cNvPicPr>
            <a:picLocks noChangeAspect="1"/>
          </p:cNvPicPr>
          <p:nvPr/>
        </p:nvPicPr>
        <p:blipFill>
          <a:blip r:embed="rId2"/>
          <a:stretch>
            <a:fillRect/>
          </a:stretch>
        </p:blipFill>
        <p:spPr>
          <a:xfrm>
            <a:off x="1024128" y="2194560"/>
            <a:ext cx="256032" cy="256032"/>
          </a:xfrm>
          <a:prstGeom prst="rect">
            <a:avLst/>
          </a:prstGeom>
        </p:spPr>
      </p:pic>
      <p:sp>
        <p:nvSpPr>
          <p:cNvPr id="9" name="Text 5"/>
          <p:cNvSpPr/>
          <p:nvPr/>
        </p:nvSpPr>
        <p:spPr>
          <a:xfrm>
            <a:off x="896112" y="2706624"/>
            <a:ext cx="2068830" cy="292608"/>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Python</a:t>
            </a:r>
            <a:endParaRPr lang="en-US" sz="1400" dirty="0"/>
          </a:p>
        </p:txBody>
      </p:sp>
      <p:sp>
        <p:nvSpPr>
          <p:cNvPr id="10" name="Text 6"/>
          <p:cNvSpPr/>
          <p:nvPr/>
        </p:nvSpPr>
        <p:spPr>
          <a:xfrm>
            <a:off x="896112" y="2999232"/>
            <a:ext cx="2068830" cy="123444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우리가 다룰 언어의 실행기. AI가 만든 코드를 내 컴퓨터에서 돌리기 위해 필요합니다.</a:t>
            </a:r>
            <a:endParaRPr lang="en-US" sz="1100" dirty="0"/>
          </a:p>
        </p:txBody>
      </p:sp>
      <p:sp>
        <p:nvSpPr>
          <p:cNvPr id="11" name="Shape 7"/>
          <p:cNvSpPr/>
          <p:nvPr/>
        </p:nvSpPr>
        <p:spPr>
          <a:xfrm>
            <a:off x="3440430" y="1828800"/>
            <a:ext cx="2526030" cy="2514600"/>
          </a:xfrm>
          <a:prstGeom prst="roundRect">
            <a:avLst>
              <a:gd name="adj" fmla="val 3636"/>
            </a:avLst>
          </a:prstGeom>
          <a:solidFill>
            <a:srgbClr val="FFFFFF"/>
          </a:solidFill>
          <a:ln/>
          <a:effectLst>
            <a:outerShdw sx="100000" sy="100000" kx="0" ky="0" algn="bl" rotWithShape="0" blurRad="152400" dist="25400" dir="5400000">
              <a:srgbClr val="1F1D48">
                <a:alpha val="16000"/>
              </a:srgbClr>
            </a:outerShdw>
          </a:effectLst>
        </p:spPr>
      </p:sp>
      <p:sp>
        <p:nvSpPr>
          <p:cNvPr id="12" name="Shape 8"/>
          <p:cNvSpPr/>
          <p:nvPr/>
        </p:nvSpPr>
        <p:spPr>
          <a:xfrm>
            <a:off x="3678174" y="2066544"/>
            <a:ext cx="512064" cy="512064"/>
          </a:xfrm>
          <a:prstGeom prst="ellipse">
            <a:avLst/>
          </a:prstGeom>
          <a:solidFill>
            <a:srgbClr val="7C3AED"/>
          </a:solidFill>
          <a:ln/>
        </p:spPr>
      </p:sp>
      <p:pic>
        <p:nvPicPr>
          <p:cNvPr id="13" name="Image 2" descr="/home/claude/icons/laptop_white.png">    </p:cNvPr>
          <p:cNvPicPr>
            <a:picLocks noChangeAspect="1"/>
          </p:cNvPicPr>
          <p:nvPr/>
        </p:nvPicPr>
        <p:blipFill>
          <a:blip r:embed="rId3"/>
          <a:stretch>
            <a:fillRect/>
          </a:stretch>
        </p:blipFill>
        <p:spPr>
          <a:xfrm>
            <a:off x="3806190" y="2194560"/>
            <a:ext cx="256032" cy="256032"/>
          </a:xfrm>
          <a:prstGeom prst="rect">
            <a:avLst/>
          </a:prstGeom>
        </p:spPr>
      </p:pic>
      <p:sp>
        <p:nvSpPr>
          <p:cNvPr id="14" name="Text 9"/>
          <p:cNvSpPr/>
          <p:nvPr/>
        </p:nvSpPr>
        <p:spPr>
          <a:xfrm>
            <a:off x="3678174" y="2706624"/>
            <a:ext cx="2068830" cy="292608"/>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VS Code</a:t>
            </a:r>
            <a:endParaRPr lang="en-US" sz="1400" dirty="0"/>
          </a:p>
        </p:txBody>
      </p:sp>
      <p:sp>
        <p:nvSpPr>
          <p:cNvPr id="15" name="Text 10"/>
          <p:cNvSpPr/>
          <p:nvPr/>
        </p:nvSpPr>
        <p:spPr>
          <a:xfrm>
            <a:off x="3678174" y="2999232"/>
            <a:ext cx="2068830" cy="123444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한 학기 내내 쓸 작업대(에디터). 다음 주에 AI 에이전트 Cline이 이 안에 들어옵니다.</a:t>
            </a:r>
            <a:endParaRPr lang="en-US" sz="1100" dirty="0"/>
          </a:p>
        </p:txBody>
      </p:sp>
      <p:sp>
        <p:nvSpPr>
          <p:cNvPr id="16" name="Shape 11"/>
          <p:cNvSpPr/>
          <p:nvPr/>
        </p:nvSpPr>
        <p:spPr>
          <a:xfrm>
            <a:off x="6222492" y="1828800"/>
            <a:ext cx="2526030" cy="2514600"/>
          </a:xfrm>
          <a:prstGeom prst="roundRect">
            <a:avLst>
              <a:gd name="adj" fmla="val 3636"/>
            </a:avLst>
          </a:prstGeom>
          <a:solidFill>
            <a:srgbClr val="FFFFFF"/>
          </a:solidFill>
          <a:ln/>
          <a:effectLst>
            <a:outerShdw sx="100000" sy="100000" kx="0" ky="0" algn="bl" rotWithShape="0" blurRad="152400" dist="25400" dir="5400000">
              <a:srgbClr val="1F1D48">
                <a:alpha val="16000"/>
              </a:srgbClr>
            </a:outerShdw>
          </a:effectLst>
        </p:spPr>
      </p:sp>
      <p:sp>
        <p:nvSpPr>
          <p:cNvPr id="17" name="Shape 12"/>
          <p:cNvSpPr/>
          <p:nvPr/>
        </p:nvSpPr>
        <p:spPr>
          <a:xfrm>
            <a:off x="6460236" y="2066544"/>
            <a:ext cx="512064" cy="512064"/>
          </a:xfrm>
          <a:prstGeom prst="ellipse">
            <a:avLst/>
          </a:prstGeom>
          <a:solidFill>
            <a:srgbClr val="F59E0B"/>
          </a:solidFill>
          <a:ln/>
        </p:spPr>
      </p:sp>
      <p:pic>
        <p:nvPicPr>
          <p:cNvPr id="18" name="Image 3" descr="/home/claude/icons/branch_white.png">    </p:cNvPr>
          <p:cNvPicPr>
            <a:picLocks noChangeAspect="1"/>
          </p:cNvPicPr>
          <p:nvPr/>
        </p:nvPicPr>
        <p:blipFill>
          <a:blip r:embed="rId4"/>
          <a:stretch>
            <a:fillRect/>
          </a:stretch>
        </p:blipFill>
        <p:spPr>
          <a:xfrm>
            <a:off x="6588252" y="2194560"/>
            <a:ext cx="256032" cy="256032"/>
          </a:xfrm>
          <a:prstGeom prst="rect">
            <a:avLst/>
          </a:prstGeom>
        </p:spPr>
      </p:pic>
      <p:sp>
        <p:nvSpPr>
          <p:cNvPr id="19" name="Text 13"/>
          <p:cNvSpPr/>
          <p:nvPr/>
        </p:nvSpPr>
        <p:spPr>
          <a:xfrm>
            <a:off x="6460236" y="2706624"/>
            <a:ext cx="2068830" cy="292608"/>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Git</a:t>
            </a:r>
            <a:endParaRPr lang="en-US" sz="1400" dirty="0"/>
          </a:p>
        </p:txBody>
      </p:sp>
      <p:sp>
        <p:nvSpPr>
          <p:cNvPr id="20" name="Text 14"/>
          <p:cNvSpPr/>
          <p:nvPr/>
        </p:nvSpPr>
        <p:spPr>
          <a:xfrm>
            <a:off x="6460236" y="2999232"/>
            <a:ext cx="2068830" cy="123444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변경 기록을 남기는 도구. 누가 언제 무엇을 바꿨는지 전부 기록됩니다.</a:t>
            </a:r>
            <a:endParaRPr lang="en-US" sz="1100" dirty="0"/>
          </a:p>
        </p:txBody>
      </p:sp>
      <p:sp>
        <p:nvSpPr>
          <p:cNvPr id="21" name="Shape 15"/>
          <p:cNvSpPr/>
          <p:nvPr/>
        </p:nvSpPr>
        <p:spPr>
          <a:xfrm>
            <a:off x="9004554" y="1828800"/>
            <a:ext cx="2526030" cy="2514600"/>
          </a:xfrm>
          <a:prstGeom prst="roundRect">
            <a:avLst>
              <a:gd name="adj" fmla="val 3636"/>
            </a:avLst>
          </a:prstGeom>
          <a:solidFill>
            <a:srgbClr val="FFFFFF"/>
          </a:solidFill>
          <a:ln/>
          <a:effectLst>
            <a:outerShdw sx="100000" sy="100000" kx="0" ky="0" algn="bl" rotWithShape="0" blurRad="152400" dist="25400" dir="5400000">
              <a:srgbClr val="1F1D48">
                <a:alpha val="16000"/>
              </a:srgbClr>
            </a:outerShdw>
          </a:effectLst>
        </p:spPr>
      </p:sp>
      <p:sp>
        <p:nvSpPr>
          <p:cNvPr id="22" name="Shape 16"/>
          <p:cNvSpPr/>
          <p:nvPr/>
        </p:nvSpPr>
        <p:spPr>
          <a:xfrm>
            <a:off x="9242298" y="2066544"/>
            <a:ext cx="512064" cy="512064"/>
          </a:xfrm>
          <a:prstGeom prst="ellipse">
            <a:avLst/>
          </a:prstGeom>
          <a:solidFill>
            <a:srgbClr val="17163A"/>
          </a:solidFill>
          <a:ln/>
        </p:spPr>
      </p:sp>
      <p:pic>
        <p:nvPicPr>
          <p:cNvPr id="23" name="Image 4" descr="/home/claude/icons/github_white.png">    </p:cNvPr>
          <p:cNvPicPr>
            <a:picLocks noChangeAspect="1"/>
          </p:cNvPicPr>
          <p:nvPr/>
        </p:nvPicPr>
        <p:blipFill>
          <a:blip r:embed="rId5"/>
          <a:stretch>
            <a:fillRect/>
          </a:stretch>
        </p:blipFill>
        <p:spPr>
          <a:xfrm>
            <a:off x="9370314" y="2194560"/>
            <a:ext cx="256032" cy="256032"/>
          </a:xfrm>
          <a:prstGeom prst="rect">
            <a:avLst/>
          </a:prstGeom>
        </p:spPr>
      </p:pic>
      <p:sp>
        <p:nvSpPr>
          <p:cNvPr id="24" name="Text 17"/>
          <p:cNvSpPr/>
          <p:nvPr/>
        </p:nvSpPr>
        <p:spPr>
          <a:xfrm>
            <a:off x="9242298" y="2706624"/>
            <a:ext cx="2068830" cy="292608"/>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GitHub</a:t>
            </a:r>
            <a:endParaRPr lang="en-US" sz="1400" dirty="0"/>
          </a:p>
        </p:txBody>
      </p:sp>
      <p:sp>
        <p:nvSpPr>
          <p:cNvPr id="25" name="Text 18"/>
          <p:cNvSpPr/>
          <p:nvPr/>
        </p:nvSpPr>
        <p:spPr>
          <a:xfrm>
            <a:off x="9242298" y="2999232"/>
            <a:ext cx="2068830" cy="123444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기록을 보관·공유하는 곳. 계정 하나가 여러분의 개발 이력서가 됩니다.</a:t>
            </a:r>
            <a:endParaRPr lang="en-US" sz="1100" dirty="0"/>
          </a:p>
        </p:txBody>
      </p:sp>
      <p:sp>
        <p:nvSpPr>
          <p:cNvPr id="26" name="Shape 19"/>
          <p:cNvSpPr/>
          <p:nvPr/>
        </p:nvSpPr>
        <p:spPr>
          <a:xfrm>
            <a:off x="658368" y="4709160"/>
            <a:ext cx="10872216" cy="685800"/>
          </a:xfrm>
          <a:prstGeom prst="roundRect">
            <a:avLst>
              <a:gd name="adj" fmla="val 13333"/>
            </a:avLst>
          </a:prstGeom>
          <a:solidFill>
            <a:srgbClr val="F5F4FC"/>
          </a:solidFill>
          <a:ln/>
        </p:spPr>
      </p:sp>
      <p:sp>
        <p:nvSpPr>
          <p:cNvPr id="27" name="Shape 20"/>
          <p:cNvSpPr/>
          <p:nvPr/>
        </p:nvSpPr>
        <p:spPr>
          <a:xfrm>
            <a:off x="877824" y="4814316"/>
            <a:ext cx="475488" cy="475488"/>
          </a:xfrm>
          <a:prstGeom prst="ellipse">
            <a:avLst/>
          </a:prstGeom>
          <a:solidFill>
            <a:srgbClr val="10B981"/>
          </a:solidFill>
          <a:ln/>
        </p:spPr>
      </p:sp>
      <p:pic>
        <p:nvPicPr>
          <p:cNvPr id="28" name="Image 5" descr="/home/claude/icons/listol_white.png">    </p:cNvPr>
          <p:cNvPicPr>
            <a:picLocks noChangeAspect="1"/>
          </p:cNvPicPr>
          <p:nvPr/>
        </p:nvPicPr>
        <p:blipFill>
          <a:blip r:embed="rId6"/>
          <a:stretch>
            <a:fillRect/>
          </a:stretch>
        </p:blipFill>
        <p:spPr>
          <a:xfrm>
            <a:off x="996696" y="4933188"/>
            <a:ext cx="237744" cy="237744"/>
          </a:xfrm>
          <a:prstGeom prst="rect">
            <a:avLst/>
          </a:prstGeom>
        </p:spPr>
      </p:pic>
      <p:sp>
        <p:nvSpPr>
          <p:cNvPr id="29" name="Text 21"/>
          <p:cNvSpPr/>
          <p:nvPr/>
        </p:nvSpPr>
        <p:spPr>
          <a:xfrm>
            <a:off x="1554480" y="4800600"/>
            <a:ext cx="9738360" cy="502920"/>
          </a:xfrm>
          <a:prstGeom prst="rect">
            <a:avLst/>
          </a:prstGeom>
          <a:noFill/>
          <a:ln/>
        </p:spPr>
        <p:txBody>
          <a:bodyPr wrap="square" lIns="0" tIns="0" rIns="0" bIns="0" rtlCol="0" anchor="ctr"/>
          <a:lstStyle/>
          <a:p>
            <a:pPr indent="0" marL="0">
              <a:lnSpc>
                <a:spcPts val="1704"/>
              </a:lnSpc>
              <a:buNone/>
            </a:pPr>
            <a:r>
              <a:rPr lang="en-US" sz="1200" dirty="0">
                <a:solidFill>
                  <a:srgbClr val="3C3B57"/>
                </a:solidFill>
                <a:latin typeface="Malgun Gothic" pitchFamily="34" charset="0"/>
                <a:ea typeface="Malgun Gothic" pitchFamily="34" charset="-122"/>
                <a:cs typeface="Malgun Gothic" pitchFamily="34" charset="-120"/>
              </a:rPr>
              <a:t>왼쪽부터 순서대로, 다 같이 진행합니다. 각 단계의 '확인 명령'이 통과되어야 다음 단계로 갑니다.</a:t>
            </a:r>
            <a:endParaRPr lang="en-US" sz="1200" dirty="0"/>
          </a:p>
        </p:txBody>
      </p:sp>
      <p:sp>
        <p:nvSpPr>
          <p:cNvPr id="30" name="Text 22"/>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482596" cy="384048"/>
          </a:xfrm>
          <a:prstGeom prst="roundRect">
            <a:avLst>
              <a:gd name="adj" fmla="val 50000"/>
            </a:avLst>
          </a:prstGeom>
          <a:solidFill>
            <a:srgbClr val="EDECFB"/>
          </a:solidFill>
          <a:ln/>
        </p:spPr>
      </p:sp>
      <p:pic>
        <p:nvPicPr>
          <p:cNvPr id="3" name="Image 0" descr="/home/claude/icons/tools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098548"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개발 환경 구축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① Python 설치</a:t>
            </a:r>
            <a:endParaRPr lang="en-US" sz="2600" dirty="0"/>
          </a:p>
        </p:txBody>
      </p:sp>
      <p:sp>
        <p:nvSpPr>
          <p:cNvPr id="6" name="Shape 3"/>
          <p:cNvSpPr/>
          <p:nvPr/>
        </p:nvSpPr>
        <p:spPr>
          <a:xfrm>
            <a:off x="658368" y="1828800"/>
            <a:ext cx="457200" cy="457200"/>
          </a:xfrm>
          <a:prstGeom prst="ellipse">
            <a:avLst/>
          </a:prstGeom>
          <a:solidFill>
            <a:srgbClr val="4F46E5"/>
          </a:solidFill>
          <a:ln/>
        </p:spPr>
      </p:sp>
      <p:pic>
        <p:nvPicPr>
          <p:cNvPr id="7" name="Image 1" descr="/home/claude/icons/download_white.png">    </p:cNvPr>
          <p:cNvPicPr>
            <a:picLocks noChangeAspect="1"/>
          </p:cNvPicPr>
          <p:nvPr/>
        </p:nvPicPr>
        <p:blipFill>
          <a:blip r:embed="rId2"/>
          <a:stretch>
            <a:fillRect/>
          </a:stretch>
        </p:blipFill>
        <p:spPr>
          <a:xfrm>
            <a:off x="772668" y="1943100"/>
            <a:ext cx="228600" cy="228600"/>
          </a:xfrm>
          <a:prstGeom prst="rect">
            <a:avLst/>
          </a:prstGeom>
        </p:spPr>
      </p:pic>
      <p:sp>
        <p:nvSpPr>
          <p:cNvPr id="8" name="Text 4"/>
          <p:cNvSpPr/>
          <p:nvPr/>
        </p:nvSpPr>
        <p:spPr>
          <a:xfrm>
            <a:off x="1335024" y="1792224"/>
            <a:ext cx="4352544"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python.org/downloads 접속</a:t>
            </a:r>
            <a:endParaRPr lang="en-US" sz="1350" dirty="0"/>
          </a:p>
        </p:txBody>
      </p:sp>
      <p:sp>
        <p:nvSpPr>
          <p:cNvPr id="9" name="Text 5"/>
          <p:cNvSpPr/>
          <p:nvPr/>
        </p:nvSpPr>
        <p:spPr>
          <a:xfrm>
            <a:off x="1335024" y="2066544"/>
            <a:ext cx="4352544" cy="73152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노란 버튼의 최신 버전을 내려받습니다.</a:t>
            </a:r>
            <a:endParaRPr lang="en-US" sz="1100" dirty="0"/>
          </a:p>
        </p:txBody>
      </p:sp>
      <p:sp>
        <p:nvSpPr>
          <p:cNvPr id="10" name="Shape 6"/>
          <p:cNvSpPr/>
          <p:nvPr/>
        </p:nvSpPr>
        <p:spPr>
          <a:xfrm>
            <a:off x="658368" y="2798064"/>
            <a:ext cx="457200" cy="457200"/>
          </a:xfrm>
          <a:prstGeom prst="ellipse">
            <a:avLst/>
          </a:prstGeom>
          <a:solidFill>
            <a:srgbClr val="FB7185"/>
          </a:solidFill>
          <a:ln/>
        </p:spPr>
      </p:sp>
      <p:pic>
        <p:nvPicPr>
          <p:cNvPr id="11" name="Image 2" descr="/home/claude/icons/warn_white.png">    </p:cNvPr>
          <p:cNvPicPr>
            <a:picLocks noChangeAspect="1"/>
          </p:cNvPicPr>
          <p:nvPr/>
        </p:nvPicPr>
        <p:blipFill>
          <a:blip r:embed="rId3"/>
          <a:stretch>
            <a:fillRect/>
          </a:stretch>
        </p:blipFill>
        <p:spPr>
          <a:xfrm>
            <a:off x="772668" y="2912364"/>
            <a:ext cx="228600" cy="228600"/>
          </a:xfrm>
          <a:prstGeom prst="rect">
            <a:avLst/>
          </a:prstGeom>
        </p:spPr>
      </p:pic>
      <p:sp>
        <p:nvSpPr>
          <p:cNvPr id="12" name="Text 7"/>
          <p:cNvSpPr/>
          <p:nvPr/>
        </p:nvSpPr>
        <p:spPr>
          <a:xfrm>
            <a:off x="1335024" y="2761488"/>
            <a:ext cx="4352544"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"Add python.exe to PATH" 체크</a:t>
            </a:r>
            <a:endParaRPr lang="en-US" sz="1350" dirty="0"/>
          </a:p>
        </p:txBody>
      </p:sp>
      <p:sp>
        <p:nvSpPr>
          <p:cNvPr id="13" name="Text 8"/>
          <p:cNvSpPr/>
          <p:nvPr/>
        </p:nvSpPr>
        <p:spPr>
          <a:xfrm>
            <a:off x="1335024" y="3035808"/>
            <a:ext cx="4352544" cy="73152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설치 첫 화면 맨 아래 체크박스 — 오늘 실습에서 가장 많이 놓치는 지점입니다.</a:t>
            </a:r>
            <a:endParaRPr lang="en-US" sz="1100" dirty="0"/>
          </a:p>
        </p:txBody>
      </p:sp>
      <p:sp>
        <p:nvSpPr>
          <p:cNvPr id="14" name="Shape 9"/>
          <p:cNvSpPr/>
          <p:nvPr/>
        </p:nvSpPr>
        <p:spPr>
          <a:xfrm>
            <a:off x="658368" y="3767328"/>
            <a:ext cx="457200" cy="457200"/>
          </a:xfrm>
          <a:prstGeom prst="ellipse">
            <a:avLst/>
          </a:prstGeom>
          <a:solidFill>
            <a:srgbClr val="10B981"/>
          </a:solidFill>
          <a:ln/>
        </p:spPr>
      </p:sp>
      <p:pic>
        <p:nvPicPr>
          <p:cNvPr id="15" name="Image 3" descr="/home/claude/icons/play_white.png">    </p:cNvPr>
          <p:cNvPicPr>
            <a:picLocks noChangeAspect="1"/>
          </p:cNvPicPr>
          <p:nvPr/>
        </p:nvPicPr>
        <p:blipFill>
          <a:blip r:embed="rId4"/>
          <a:stretch>
            <a:fillRect/>
          </a:stretch>
        </p:blipFill>
        <p:spPr>
          <a:xfrm>
            <a:off x="772668" y="3881628"/>
            <a:ext cx="228600" cy="228600"/>
          </a:xfrm>
          <a:prstGeom prst="rect">
            <a:avLst/>
          </a:prstGeom>
        </p:spPr>
      </p:pic>
      <p:sp>
        <p:nvSpPr>
          <p:cNvPr id="16" name="Text 10"/>
          <p:cNvSpPr/>
          <p:nvPr/>
        </p:nvSpPr>
        <p:spPr>
          <a:xfrm>
            <a:off x="1335024" y="3730752"/>
            <a:ext cx="4352544"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Install Now → 완료</a:t>
            </a:r>
            <a:endParaRPr lang="en-US" sz="1350" dirty="0"/>
          </a:p>
        </p:txBody>
      </p:sp>
      <p:sp>
        <p:nvSpPr>
          <p:cNvPr id="17" name="Text 11"/>
          <p:cNvSpPr/>
          <p:nvPr/>
        </p:nvSpPr>
        <p:spPr>
          <a:xfrm>
            <a:off x="1335024" y="4005072"/>
            <a:ext cx="4352544" cy="73152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설치가 끝나면 터미널(명령 프롬프트)을 새로 엽니다.</a:t>
            </a:r>
            <a:endParaRPr lang="en-US" sz="1100" dirty="0"/>
          </a:p>
        </p:txBody>
      </p:sp>
      <p:sp>
        <p:nvSpPr>
          <p:cNvPr id="18" name="Shape 12"/>
          <p:cNvSpPr/>
          <p:nvPr/>
        </p:nvSpPr>
        <p:spPr>
          <a:xfrm>
            <a:off x="5989320" y="1828800"/>
            <a:ext cx="5541264" cy="2148840"/>
          </a:xfrm>
          <a:prstGeom prst="roundRect">
            <a:avLst>
              <a:gd name="adj" fmla="val 4255"/>
            </a:avLst>
          </a:prstGeom>
          <a:solidFill>
            <a:srgbClr val="1D1C3D"/>
          </a:solidFill>
          <a:ln/>
          <a:effectLst>
            <a:outerShdw sx="100000" sy="100000" kx="0" ky="0" algn="bl" rotWithShape="0" blurRad="152400" dist="25400" dir="5400000">
              <a:srgbClr val="1F1D48">
                <a:alpha val="16000"/>
              </a:srgbClr>
            </a:outerShdw>
          </a:effectLst>
        </p:spPr>
      </p:sp>
      <p:sp>
        <p:nvSpPr>
          <p:cNvPr id="19" name="Shape 13"/>
          <p:cNvSpPr/>
          <p:nvPr/>
        </p:nvSpPr>
        <p:spPr>
          <a:xfrm>
            <a:off x="5989320" y="1828800"/>
            <a:ext cx="5541264" cy="329184"/>
          </a:xfrm>
          <a:prstGeom prst="roundRect">
            <a:avLst>
              <a:gd name="adj" fmla="val 27778"/>
            </a:avLst>
          </a:prstGeom>
          <a:solidFill>
            <a:srgbClr val="2A2856"/>
          </a:solidFill>
          <a:ln/>
        </p:spPr>
      </p:sp>
      <p:sp>
        <p:nvSpPr>
          <p:cNvPr id="20" name="Shape 14"/>
          <p:cNvSpPr/>
          <p:nvPr/>
        </p:nvSpPr>
        <p:spPr>
          <a:xfrm>
            <a:off x="5989320" y="2011680"/>
            <a:ext cx="5541264" cy="146304"/>
          </a:xfrm>
          <a:prstGeom prst="rect">
            <a:avLst/>
          </a:prstGeom>
          <a:solidFill>
            <a:srgbClr val="2A2856"/>
          </a:solidFill>
          <a:ln/>
        </p:spPr>
      </p:sp>
      <p:sp>
        <p:nvSpPr>
          <p:cNvPr id="21" name="Shape 15"/>
          <p:cNvSpPr/>
          <p:nvPr/>
        </p:nvSpPr>
        <p:spPr>
          <a:xfrm>
            <a:off x="6135624" y="1943100"/>
            <a:ext cx="100584" cy="100584"/>
          </a:xfrm>
          <a:prstGeom prst="ellipse">
            <a:avLst/>
          </a:prstGeom>
          <a:solidFill>
            <a:srgbClr val="FF5F56"/>
          </a:solidFill>
          <a:ln/>
        </p:spPr>
      </p:sp>
      <p:sp>
        <p:nvSpPr>
          <p:cNvPr id="22" name="Shape 16"/>
          <p:cNvSpPr/>
          <p:nvPr/>
        </p:nvSpPr>
        <p:spPr>
          <a:xfrm>
            <a:off x="6318504" y="1943100"/>
            <a:ext cx="100584" cy="100584"/>
          </a:xfrm>
          <a:prstGeom prst="ellipse">
            <a:avLst/>
          </a:prstGeom>
          <a:solidFill>
            <a:srgbClr val="FFBD2E"/>
          </a:solidFill>
          <a:ln/>
        </p:spPr>
      </p:sp>
      <p:sp>
        <p:nvSpPr>
          <p:cNvPr id="23" name="Shape 17"/>
          <p:cNvSpPr/>
          <p:nvPr/>
        </p:nvSpPr>
        <p:spPr>
          <a:xfrm>
            <a:off x="6501384" y="1943100"/>
            <a:ext cx="100584" cy="100584"/>
          </a:xfrm>
          <a:prstGeom prst="ellipse">
            <a:avLst/>
          </a:prstGeom>
          <a:solidFill>
            <a:srgbClr val="27C93F"/>
          </a:solidFill>
          <a:ln/>
        </p:spPr>
      </p:sp>
      <p:sp>
        <p:nvSpPr>
          <p:cNvPr id="24" name="Text 18"/>
          <p:cNvSpPr/>
          <p:nvPr/>
        </p:nvSpPr>
        <p:spPr>
          <a:xfrm>
            <a:off x="6812280" y="1828800"/>
            <a:ext cx="3895344" cy="329184"/>
          </a:xfrm>
          <a:prstGeom prst="rect">
            <a:avLst/>
          </a:prstGeom>
          <a:noFill/>
          <a:ln/>
        </p:spPr>
        <p:txBody>
          <a:bodyPr wrap="square" lIns="0" tIns="0" rIns="0" bIns="0" rtlCol="0" anchor="ctr"/>
          <a:lstStyle/>
          <a:p>
            <a:pPr algn="ctr" indent="0" marL="0">
              <a:buNone/>
            </a:pPr>
            <a:r>
              <a:rPr lang="en-US" sz="1000" dirty="0">
                <a:solidFill>
                  <a:srgbClr val="C9C9E6"/>
                </a:solidFill>
                <a:latin typeface="Consolas" pitchFamily="34" charset="0"/>
                <a:ea typeface="Consolas" pitchFamily="34" charset="-122"/>
                <a:cs typeface="Consolas" pitchFamily="34" charset="-120"/>
              </a:rPr>
              <a:t>확인 — 터미널</a:t>
            </a:r>
            <a:endParaRPr lang="en-US" sz="1000" dirty="0"/>
          </a:p>
        </p:txBody>
      </p:sp>
      <p:sp>
        <p:nvSpPr>
          <p:cNvPr id="25" name="Text 19"/>
          <p:cNvSpPr/>
          <p:nvPr/>
        </p:nvSpPr>
        <p:spPr>
          <a:xfrm>
            <a:off x="6208776" y="2249424"/>
            <a:ext cx="5120640" cy="1581912"/>
          </a:xfrm>
          <a:prstGeom prst="rect">
            <a:avLst/>
          </a:prstGeom>
          <a:noFill/>
          <a:ln/>
        </p:spPr>
        <p:txBody>
          <a:bodyPr wrap="square" lIns="0" tIns="0" rIns="0" bIns="0" rtlCol="0" anchor="t"/>
          <a:lstStyle/>
          <a:p>
            <a:pPr indent="0" marL="0">
              <a:lnSpc>
                <a:spcPts val="1900"/>
              </a:lnSpc>
              <a:buNone/>
            </a:pPr>
            <a:r>
              <a:rPr lang="en-US" sz="1250" dirty="0">
                <a:solidFill>
                  <a:srgbClr val="C7A8F7"/>
                </a:solidFill>
                <a:latin typeface="Consolas" pitchFamily="34" charset="0"/>
                <a:ea typeface="Consolas" pitchFamily="34" charset="-122"/>
                <a:cs typeface="Consolas" pitchFamily="34" charset="-120"/>
              </a:rPr>
              <a:t>python</a:t>
            </a:r>
            <a:pPr indent="0" marL="0">
              <a:lnSpc>
                <a:spcPts val="1900"/>
              </a:lnSpc>
              <a:buNone/>
            </a:pPr>
            <a:r>
              <a:rPr lang="en-US" sz="1250" dirty="0">
                <a:solidFill>
                  <a:srgbClr val="DCDCF0"/>
                </a:solidFill>
                <a:latin typeface="Consolas" pitchFamily="34" charset="0"/>
                <a:ea typeface="Consolas" pitchFamily="34" charset="-122"/>
                <a:cs typeface="Consolas" pitchFamily="34" charset="-120"/>
              </a:rPr>
              <a:t> </a:t>
            </a:r>
            <a:pPr indent="0" marL="0">
              <a:lnSpc>
                <a:spcPts val="1900"/>
              </a:lnSpc>
              <a:buNone/>
            </a:pPr>
            <a:r>
              <a:rPr lang="en-US" sz="1250" dirty="0">
                <a:solidFill>
                  <a:srgbClr val="DCDCF0"/>
                </a:solidFill>
                <a:latin typeface="Consolas" pitchFamily="34" charset="0"/>
                <a:ea typeface="Consolas" pitchFamily="34" charset="-122"/>
                <a:cs typeface="Consolas" pitchFamily="34" charset="-120"/>
              </a:rPr>
              <a:t>-</a:t>
            </a:r>
            <a:pPr indent="0" marL="0">
              <a:lnSpc>
                <a:spcPts val="1900"/>
              </a:lnSpc>
              <a:buNone/>
            </a:pPr>
            <a:r>
              <a:rPr lang="en-US" sz="1250" dirty="0">
                <a:solidFill>
                  <a:srgbClr val="DCDCF0"/>
                </a:solidFill>
                <a:latin typeface="Consolas" pitchFamily="34" charset="0"/>
                <a:ea typeface="Consolas" pitchFamily="34" charset="-122"/>
                <a:cs typeface="Consolas" pitchFamily="34" charset="-120"/>
              </a:rPr>
              <a:t>-</a:t>
            </a:r>
            <a:pPr indent="0" marL="0">
              <a:lnSpc>
                <a:spcPts val="1900"/>
              </a:lnSpc>
              <a:buNone/>
            </a:pPr>
            <a:r>
              <a:rPr lang="en-US" sz="1250" dirty="0">
                <a:solidFill>
                  <a:srgbClr val="DCDCF0"/>
                </a:solidFill>
                <a:latin typeface="Consolas" pitchFamily="34" charset="0"/>
                <a:ea typeface="Consolas" pitchFamily="34" charset="-122"/>
                <a:cs typeface="Consolas" pitchFamily="34" charset="-120"/>
              </a:rPr>
              <a:t>version</a:t>
            </a:r>
            <a:endParaRPr lang="en-US" sz="1250" dirty="0"/>
          </a:p>
          <a:p>
            <a:pPr indent="0" marL="0">
              <a:lnSpc>
                <a:spcPts val="1900"/>
              </a:lnSpc>
              <a:buNone/>
            </a:pPr>
            <a:r>
              <a:rPr lang="en-US" sz="1250" dirty="0">
                <a:solidFill>
                  <a:srgbClr val="8686AA"/>
                </a:solidFill>
                <a:latin typeface="Consolas" pitchFamily="34" charset="0"/>
                <a:ea typeface="Consolas" pitchFamily="34" charset="-122"/>
                <a:cs typeface="Consolas" pitchFamily="34" charset="-120"/>
              </a:rPr>
              <a:t># Python 3.13.x  ← 버전이 찍히면 성공</a:t>
            </a:r>
            <a:endParaRPr lang="en-US" sz="1250" dirty="0"/>
          </a:p>
          <a:p>
            <a:pPr indent="0" marL="0">
              <a:lnSpc>
                <a:spcPts val="1900"/>
              </a:lnSpc>
              <a:buNone/>
            </a:pPr>
            <a:r>
              <a:rPr lang="en-US" sz="1250" dirty="0">
                <a:solidFill>
                  <a:srgbClr val="DCDCF0"/>
                </a:solidFill>
                <a:latin typeface="Consolas" pitchFamily="34" charset="0"/>
                <a:ea typeface="Consolas" pitchFamily="34" charset="-122"/>
                <a:cs typeface="Consolas" pitchFamily="34" charset="-120"/>
              </a:rPr>
              <a:t> </a:t>
            </a:r>
            <a:endParaRPr lang="en-US" sz="1250" dirty="0"/>
          </a:p>
          <a:p>
            <a:pPr indent="0" marL="0">
              <a:lnSpc>
                <a:spcPts val="1900"/>
              </a:lnSpc>
              <a:buNone/>
            </a:pPr>
            <a:r>
              <a:rPr lang="en-US" sz="1250" dirty="0">
                <a:solidFill>
                  <a:srgbClr val="C7A8F7"/>
                </a:solidFill>
                <a:latin typeface="Consolas" pitchFamily="34" charset="0"/>
                <a:ea typeface="Consolas" pitchFamily="34" charset="-122"/>
                <a:cs typeface="Consolas" pitchFamily="34" charset="-120"/>
              </a:rPr>
              <a:t>py</a:t>
            </a:r>
            <a:pPr indent="0" marL="0">
              <a:lnSpc>
                <a:spcPts val="1900"/>
              </a:lnSpc>
              <a:buNone/>
            </a:pPr>
            <a:r>
              <a:rPr lang="en-US" sz="1250" dirty="0">
                <a:solidFill>
                  <a:srgbClr val="DCDCF0"/>
                </a:solidFill>
                <a:latin typeface="Consolas" pitchFamily="34" charset="0"/>
                <a:ea typeface="Consolas" pitchFamily="34" charset="-122"/>
                <a:cs typeface="Consolas" pitchFamily="34" charset="-120"/>
              </a:rPr>
              <a:t> </a:t>
            </a:r>
            <a:pPr indent="0" marL="0">
              <a:lnSpc>
                <a:spcPts val="1900"/>
              </a:lnSpc>
              <a:buNone/>
            </a:pPr>
            <a:r>
              <a:rPr lang="en-US" sz="1250" dirty="0">
                <a:solidFill>
                  <a:srgbClr val="DCDCF0"/>
                </a:solidFill>
                <a:latin typeface="Consolas" pitchFamily="34" charset="0"/>
                <a:ea typeface="Consolas" pitchFamily="34" charset="-122"/>
                <a:cs typeface="Consolas" pitchFamily="34" charset="-120"/>
              </a:rPr>
              <a:t>-</a:t>
            </a:r>
            <a:pPr indent="0" marL="0">
              <a:lnSpc>
                <a:spcPts val="1900"/>
              </a:lnSpc>
              <a:buNone/>
            </a:pPr>
            <a:r>
              <a:rPr lang="en-US" sz="1250" dirty="0">
                <a:solidFill>
                  <a:srgbClr val="DCDCF0"/>
                </a:solidFill>
                <a:latin typeface="Consolas" pitchFamily="34" charset="0"/>
                <a:ea typeface="Consolas" pitchFamily="34" charset="-122"/>
                <a:cs typeface="Consolas" pitchFamily="34" charset="-120"/>
              </a:rPr>
              <a:t>-</a:t>
            </a:r>
            <a:pPr indent="0" marL="0">
              <a:lnSpc>
                <a:spcPts val="1900"/>
              </a:lnSpc>
              <a:buNone/>
            </a:pPr>
            <a:r>
              <a:rPr lang="en-US" sz="1250" dirty="0">
                <a:solidFill>
                  <a:srgbClr val="DCDCF0"/>
                </a:solidFill>
                <a:latin typeface="Consolas" pitchFamily="34" charset="0"/>
                <a:ea typeface="Consolas" pitchFamily="34" charset="-122"/>
                <a:cs typeface="Consolas" pitchFamily="34" charset="-120"/>
              </a:rPr>
              <a:t>version</a:t>
            </a:r>
            <a:endParaRPr lang="en-US" sz="1250" dirty="0"/>
          </a:p>
          <a:p>
            <a:pPr indent="0" marL="0">
              <a:lnSpc>
                <a:spcPts val="1900"/>
              </a:lnSpc>
              <a:buNone/>
            </a:pPr>
            <a:r>
              <a:rPr lang="en-US" sz="1250" dirty="0">
                <a:solidFill>
                  <a:srgbClr val="8686AA"/>
                </a:solidFill>
                <a:latin typeface="Consolas" pitchFamily="34" charset="0"/>
                <a:ea typeface="Consolas" pitchFamily="34" charset="-122"/>
                <a:cs typeface="Consolas" pitchFamily="34" charset="-120"/>
              </a:rPr>
              <a:t># 위가 안 되면 Windows에선 py 로도 확인</a:t>
            </a:r>
            <a:endParaRPr lang="en-US" sz="1250" dirty="0"/>
          </a:p>
        </p:txBody>
      </p:sp>
      <p:sp>
        <p:nvSpPr>
          <p:cNvPr id="26" name="Shape 20"/>
          <p:cNvSpPr/>
          <p:nvPr/>
        </p:nvSpPr>
        <p:spPr>
          <a:xfrm>
            <a:off x="5989320" y="4206240"/>
            <a:ext cx="5541264" cy="777240"/>
          </a:xfrm>
          <a:prstGeom prst="roundRect">
            <a:avLst>
              <a:gd name="adj" fmla="val 11765"/>
            </a:avLst>
          </a:prstGeom>
          <a:solidFill>
            <a:srgbClr val="F5F4FC"/>
          </a:solidFill>
          <a:ln/>
        </p:spPr>
      </p:sp>
      <p:sp>
        <p:nvSpPr>
          <p:cNvPr id="27" name="Shape 21"/>
          <p:cNvSpPr/>
          <p:nvPr/>
        </p:nvSpPr>
        <p:spPr>
          <a:xfrm>
            <a:off x="6208776" y="4357116"/>
            <a:ext cx="475488" cy="475488"/>
          </a:xfrm>
          <a:prstGeom prst="ellipse">
            <a:avLst/>
          </a:prstGeom>
          <a:solidFill>
            <a:srgbClr val="F59E0B"/>
          </a:solidFill>
          <a:ln/>
        </p:spPr>
      </p:sp>
      <p:pic>
        <p:nvPicPr>
          <p:cNvPr id="28" name="Image 4" descr="/home/claude/icons/question_white.png">    </p:cNvPr>
          <p:cNvPicPr>
            <a:picLocks noChangeAspect="1"/>
          </p:cNvPicPr>
          <p:nvPr/>
        </p:nvPicPr>
        <p:blipFill>
          <a:blip r:embed="rId5"/>
          <a:stretch>
            <a:fillRect/>
          </a:stretch>
        </p:blipFill>
        <p:spPr>
          <a:xfrm>
            <a:off x="6327648" y="4475988"/>
            <a:ext cx="237744" cy="237744"/>
          </a:xfrm>
          <a:prstGeom prst="rect">
            <a:avLst/>
          </a:prstGeom>
        </p:spPr>
      </p:pic>
      <p:sp>
        <p:nvSpPr>
          <p:cNvPr id="29" name="Text 22"/>
          <p:cNvSpPr/>
          <p:nvPr/>
        </p:nvSpPr>
        <p:spPr>
          <a:xfrm>
            <a:off x="6885432" y="4297680"/>
            <a:ext cx="4407408" cy="594360"/>
          </a:xfrm>
          <a:prstGeom prst="rect">
            <a:avLst/>
          </a:prstGeom>
          <a:noFill/>
          <a:ln/>
        </p:spPr>
        <p:txBody>
          <a:bodyPr wrap="square" lIns="0" tIns="0" rIns="0" bIns="0" rtlCol="0" anchor="ctr"/>
          <a:lstStyle/>
          <a:p>
            <a:pPr indent="0" marL="0">
              <a:lnSpc>
                <a:spcPts val="1562"/>
              </a:lnSpc>
              <a:buNone/>
            </a:pPr>
            <a:r>
              <a:rPr lang="en-US" sz="1200" b="1" dirty="0">
                <a:solidFill>
                  <a:srgbClr val="1E1B3A"/>
                </a:solidFill>
                <a:latin typeface="Malgun Gothic" pitchFamily="34" charset="0"/>
                <a:ea typeface="Malgun Gothic" pitchFamily="34" charset="-122"/>
                <a:cs typeface="Malgun Gothic" pitchFamily="34" charset="-120"/>
              </a:rPr>
              <a:t>PATH 체크를 놓쳤다면?
</a:t>
            </a:r>
            <a:pPr indent="0" marL="0">
              <a:lnSpc>
                <a:spcPts val="1562"/>
              </a:lnSpc>
              <a:buNone/>
            </a:pPr>
            <a:r>
              <a:rPr lang="en-US" sz="1100" dirty="0">
                <a:solidFill>
                  <a:srgbClr val="3C3B57"/>
                </a:solidFill>
                <a:latin typeface="Malgun Gothic" pitchFamily="34" charset="0"/>
                <a:ea typeface="Malgun Gothic" pitchFamily="34" charset="-122"/>
                <a:cs typeface="Malgun Gothic" pitchFamily="34" charset="-120"/>
              </a:rPr>
              <a:t>제어판에서 제거 후 재설치가 가장 빠릅니다. 1분이면 됩니다.</a:t>
            </a:r>
            <a:endParaRPr lang="en-US" sz="1200" dirty="0"/>
          </a:p>
        </p:txBody>
      </p:sp>
      <p:sp>
        <p:nvSpPr>
          <p:cNvPr id="30" name="Text 23"/>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482596" cy="384048"/>
          </a:xfrm>
          <a:prstGeom prst="roundRect">
            <a:avLst>
              <a:gd name="adj" fmla="val 50000"/>
            </a:avLst>
          </a:prstGeom>
          <a:solidFill>
            <a:srgbClr val="EDECFB"/>
          </a:solidFill>
          <a:ln/>
        </p:spPr>
      </p:sp>
      <p:pic>
        <p:nvPicPr>
          <p:cNvPr id="3" name="Image 0" descr="/home/claude/icons/tools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098548"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개발 환경 구축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② VS Code 설치</a:t>
            </a:r>
            <a:endParaRPr lang="en-US" sz="2600" dirty="0"/>
          </a:p>
        </p:txBody>
      </p:sp>
      <p:sp>
        <p:nvSpPr>
          <p:cNvPr id="6" name="Shape 3"/>
          <p:cNvSpPr/>
          <p:nvPr/>
        </p:nvSpPr>
        <p:spPr>
          <a:xfrm>
            <a:off x="658368" y="1828800"/>
            <a:ext cx="457200" cy="457200"/>
          </a:xfrm>
          <a:prstGeom prst="ellipse">
            <a:avLst/>
          </a:prstGeom>
          <a:solidFill>
            <a:srgbClr val="7C3AED"/>
          </a:solidFill>
          <a:ln/>
        </p:spPr>
      </p:sp>
      <p:pic>
        <p:nvPicPr>
          <p:cNvPr id="7" name="Image 1" descr="/home/claude/icons/download_white.png">    </p:cNvPr>
          <p:cNvPicPr>
            <a:picLocks noChangeAspect="1"/>
          </p:cNvPicPr>
          <p:nvPr/>
        </p:nvPicPr>
        <p:blipFill>
          <a:blip r:embed="rId2"/>
          <a:stretch>
            <a:fillRect/>
          </a:stretch>
        </p:blipFill>
        <p:spPr>
          <a:xfrm>
            <a:off x="772668" y="1943100"/>
            <a:ext cx="228600" cy="228600"/>
          </a:xfrm>
          <a:prstGeom prst="rect">
            <a:avLst/>
          </a:prstGeom>
        </p:spPr>
      </p:pic>
      <p:sp>
        <p:nvSpPr>
          <p:cNvPr id="8" name="Text 4"/>
          <p:cNvSpPr/>
          <p:nvPr/>
        </p:nvSpPr>
        <p:spPr>
          <a:xfrm>
            <a:off x="1335024" y="1792224"/>
            <a:ext cx="4352544"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code.visualstudio.com 접속</a:t>
            </a:r>
            <a:endParaRPr lang="en-US" sz="1350" dirty="0"/>
          </a:p>
        </p:txBody>
      </p:sp>
      <p:sp>
        <p:nvSpPr>
          <p:cNvPr id="9" name="Text 5"/>
          <p:cNvSpPr/>
          <p:nvPr/>
        </p:nvSpPr>
        <p:spPr>
          <a:xfrm>
            <a:off x="1335024" y="2066544"/>
            <a:ext cx="4352544" cy="73152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큰 다운로드 버튼 — 설치 옵션은 전부 기본값으로 Next.</a:t>
            </a:r>
            <a:endParaRPr lang="en-US" sz="1100" dirty="0"/>
          </a:p>
        </p:txBody>
      </p:sp>
      <p:sp>
        <p:nvSpPr>
          <p:cNvPr id="10" name="Shape 6"/>
          <p:cNvSpPr/>
          <p:nvPr/>
        </p:nvSpPr>
        <p:spPr>
          <a:xfrm>
            <a:off x="658368" y="2798064"/>
            <a:ext cx="457200" cy="457200"/>
          </a:xfrm>
          <a:prstGeom prst="ellipse">
            <a:avLst/>
          </a:prstGeom>
          <a:solidFill>
            <a:srgbClr val="4F46E5"/>
          </a:solidFill>
          <a:ln/>
        </p:spPr>
      </p:sp>
      <p:pic>
        <p:nvPicPr>
          <p:cNvPr id="11" name="Image 2" descr="/home/claude/icons/puzzle_white.png">    </p:cNvPr>
          <p:cNvPicPr>
            <a:picLocks noChangeAspect="1"/>
          </p:cNvPicPr>
          <p:nvPr/>
        </p:nvPicPr>
        <p:blipFill>
          <a:blip r:embed="rId3"/>
          <a:stretch>
            <a:fillRect/>
          </a:stretch>
        </p:blipFill>
        <p:spPr>
          <a:xfrm>
            <a:off x="772668" y="2912364"/>
            <a:ext cx="228600" cy="228600"/>
          </a:xfrm>
          <a:prstGeom prst="rect">
            <a:avLst/>
          </a:prstGeom>
        </p:spPr>
      </p:pic>
      <p:sp>
        <p:nvSpPr>
          <p:cNvPr id="12" name="Text 7"/>
          <p:cNvSpPr/>
          <p:nvPr/>
        </p:nvSpPr>
        <p:spPr>
          <a:xfrm>
            <a:off x="1335024" y="2761488"/>
            <a:ext cx="4352544"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확장(Extensions) 열기</a:t>
            </a:r>
            <a:endParaRPr lang="en-US" sz="1350" dirty="0"/>
          </a:p>
        </p:txBody>
      </p:sp>
      <p:sp>
        <p:nvSpPr>
          <p:cNvPr id="13" name="Text 8"/>
          <p:cNvSpPr/>
          <p:nvPr/>
        </p:nvSpPr>
        <p:spPr>
          <a:xfrm>
            <a:off x="1335024" y="3035808"/>
            <a:ext cx="4352544" cy="73152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왼쪽 네모 블록 아이콘, 또는 Ctrl+Shift+X.</a:t>
            </a:r>
            <a:endParaRPr lang="en-US" sz="1100" dirty="0"/>
          </a:p>
        </p:txBody>
      </p:sp>
      <p:sp>
        <p:nvSpPr>
          <p:cNvPr id="14" name="Shape 9"/>
          <p:cNvSpPr/>
          <p:nvPr/>
        </p:nvSpPr>
        <p:spPr>
          <a:xfrm>
            <a:off x="658368" y="3767328"/>
            <a:ext cx="457200" cy="457200"/>
          </a:xfrm>
          <a:prstGeom prst="ellipse">
            <a:avLst/>
          </a:prstGeom>
          <a:solidFill>
            <a:srgbClr val="10B981"/>
          </a:solidFill>
          <a:ln/>
        </p:spPr>
      </p:sp>
      <p:pic>
        <p:nvPicPr>
          <p:cNvPr id="15" name="Image 3" descr="/home/claude/icons/plus_white.png">    </p:cNvPr>
          <p:cNvPicPr>
            <a:picLocks noChangeAspect="1"/>
          </p:cNvPicPr>
          <p:nvPr/>
        </p:nvPicPr>
        <p:blipFill>
          <a:blip r:embed="rId4"/>
          <a:stretch>
            <a:fillRect/>
          </a:stretch>
        </p:blipFill>
        <p:spPr>
          <a:xfrm>
            <a:off x="772668" y="3881628"/>
            <a:ext cx="228600" cy="228600"/>
          </a:xfrm>
          <a:prstGeom prst="rect">
            <a:avLst/>
          </a:prstGeom>
        </p:spPr>
      </p:pic>
      <p:sp>
        <p:nvSpPr>
          <p:cNvPr id="16" name="Text 10"/>
          <p:cNvSpPr/>
          <p:nvPr/>
        </p:nvSpPr>
        <p:spPr>
          <a:xfrm>
            <a:off x="1335024" y="3730752"/>
            <a:ext cx="4352544"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확장 2개 설치</a:t>
            </a:r>
            <a:endParaRPr lang="en-US" sz="1350" dirty="0"/>
          </a:p>
        </p:txBody>
      </p:sp>
      <p:sp>
        <p:nvSpPr>
          <p:cNvPr id="17" name="Text 11"/>
          <p:cNvSpPr/>
          <p:nvPr/>
        </p:nvSpPr>
        <p:spPr>
          <a:xfrm>
            <a:off x="1335024" y="4005072"/>
            <a:ext cx="4352544" cy="73152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"Korean Language Pack"(한국어 화면) · "Python"(마이크로소프트 제공).</a:t>
            </a:r>
            <a:endParaRPr lang="en-US" sz="1100" dirty="0"/>
          </a:p>
        </p:txBody>
      </p:sp>
      <p:sp>
        <p:nvSpPr>
          <p:cNvPr id="18" name="Shape 12"/>
          <p:cNvSpPr/>
          <p:nvPr/>
        </p:nvSpPr>
        <p:spPr>
          <a:xfrm>
            <a:off x="5989320" y="1828800"/>
            <a:ext cx="5541264" cy="3154680"/>
          </a:xfrm>
          <a:prstGeom prst="roundRect">
            <a:avLst>
              <a:gd name="adj" fmla="val 2899"/>
            </a:avLst>
          </a:prstGeom>
          <a:solidFill>
            <a:srgbClr val="EEF0FF"/>
          </a:solidFill>
          <a:ln/>
        </p:spPr>
      </p:sp>
      <p:sp>
        <p:nvSpPr>
          <p:cNvPr id="19" name="Text 13"/>
          <p:cNvSpPr/>
          <p:nvPr/>
        </p:nvSpPr>
        <p:spPr>
          <a:xfrm>
            <a:off x="6263640" y="2048256"/>
            <a:ext cx="4937760" cy="292608"/>
          </a:xfrm>
          <a:prstGeom prst="rect">
            <a:avLst/>
          </a:prstGeom>
          <a:noFill/>
          <a:ln/>
        </p:spPr>
        <p:txBody>
          <a:bodyPr wrap="square" lIns="0" tIns="0" rIns="0" bIns="0" rtlCol="0" anchor="ctr"/>
          <a:lstStyle/>
          <a:p>
            <a:pPr indent="0" marL="0">
              <a:buNone/>
            </a:pPr>
            <a:r>
              <a:rPr lang="en-US" sz="1350" b="1" dirty="0">
                <a:solidFill>
                  <a:srgbClr val="4338CA"/>
                </a:solidFill>
                <a:latin typeface="Malgun Gothic" pitchFamily="34" charset="0"/>
                <a:ea typeface="Malgun Gothic" pitchFamily="34" charset="-122"/>
                <a:cs typeface="Malgun Gothic" pitchFamily="34" charset="-120"/>
              </a:rPr>
              <a:t>확장이라는 개념</a:t>
            </a:r>
            <a:endParaRPr lang="en-US" sz="1350" dirty="0"/>
          </a:p>
        </p:txBody>
      </p:sp>
      <p:sp>
        <p:nvSpPr>
          <p:cNvPr id="20" name="Text 14"/>
          <p:cNvSpPr/>
          <p:nvPr/>
        </p:nvSpPr>
        <p:spPr>
          <a:xfrm>
            <a:off x="6263640" y="2432304"/>
            <a:ext cx="4983480" cy="2377440"/>
          </a:xfrm>
          <a:prstGeom prst="rect">
            <a:avLst/>
          </a:prstGeom>
          <a:noFill/>
          <a:ln/>
        </p:spPr>
        <p:txBody>
          <a:bodyPr wrap="square" lIns="0" tIns="0" rIns="0" bIns="0" rtlCol="0" anchor="t"/>
          <a:lstStyle/>
          <a:p>
            <a:pPr algn="l" indent="0" marL="0">
              <a:lnSpc>
                <a:spcPts val="1860"/>
              </a:lnSpc>
              <a:buNone/>
            </a:pPr>
            <a:r>
              <a:rPr lang="en-US" sz="1200" dirty="0">
                <a:solidFill>
                  <a:srgbClr val="3C3B57"/>
                </a:solidFill>
                <a:latin typeface="Malgun Gothic" pitchFamily="34" charset="0"/>
                <a:ea typeface="Malgun Gothic" pitchFamily="34" charset="-122"/>
                <a:cs typeface="Malgun Gothic" pitchFamily="34" charset="-120"/>
              </a:rPr>
              <a:t>VS Code는 빈 작업대이고, 필요한 공구를 '확장'으로 끼워 넣는 구조입니다. 오늘은 한국어 팩과 Python 두 개만 설치합니다.</a:t>
            </a:r>
            <a:endParaRPr lang="en-US" sz="1200" dirty="0"/>
          </a:p>
          <a:p>
            <a:pPr algn="l" indent="0" marL="0">
              <a:lnSpc>
                <a:spcPts val="1860"/>
              </a:lnSpc>
              <a:buNone/>
            </a:pPr>
            <a:endParaRPr lang="en-US" sz="1200" dirty="0"/>
          </a:p>
          <a:p>
            <a:pPr algn="l" indent="0" marL="0">
              <a:lnSpc>
                <a:spcPts val="1860"/>
              </a:lnSpc>
              <a:buNone/>
            </a:pPr>
            <a:r>
              <a:rPr lang="en-US" sz="1200" dirty="0">
                <a:solidFill>
                  <a:srgbClr val="3C3B57"/>
                </a:solidFill>
                <a:latin typeface="Malgun Gothic" pitchFamily="34" charset="0"/>
                <a:ea typeface="Malgun Gothic" pitchFamily="34" charset="-122"/>
                <a:cs typeface="Malgun Gothic" pitchFamily="34" charset="-120"/>
              </a:rPr>
              <a:t>다음 주에는 이 확장 목록에 Cline이 추가됩니다 — AI에게 지시하면 파일을 만들고 고쳐 주는 코딩 에이전트가 이 자리로 들어옵니다.</a:t>
            </a:r>
            <a:endParaRPr lang="en-US" sz="1200" dirty="0"/>
          </a:p>
        </p:txBody>
      </p:sp>
      <p:sp>
        <p:nvSpPr>
          <p:cNvPr id="21" name="Text 1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482596" cy="384048"/>
          </a:xfrm>
          <a:prstGeom prst="roundRect">
            <a:avLst>
              <a:gd name="adj" fmla="val 50000"/>
            </a:avLst>
          </a:prstGeom>
          <a:solidFill>
            <a:srgbClr val="EDECFB"/>
          </a:solidFill>
          <a:ln/>
        </p:spPr>
      </p:sp>
      <p:pic>
        <p:nvPicPr>
          <p:cNvPr id="3" name="Image 0" descr="/home/claude/icons/tools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098548"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개발 환경 구축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③ Git 설치와 첫 설정</a:t>
            </a:r>
            <a:endParaRPr lang="en-US" sz="2600" dirty="0"/>
          </a:p>
        </p:txBody>
      </p:sp>
      <p:sp>
        <p:nvSpPr>
          <p:cNvPr id="6" name="Shape 3"/>
          <p:cNvSpPr/>
          <p:nvPr/>
        </p:nvSpPr>
        <p:spPr>
          <a:xfrm>
            <a:off x="658368" y="1828800"/>
            <a:ext cx="457200" cy="457200"/>
          </a:xfrm>
          <a:prstGeom prst="ellipse">
            <a:avLst/>
          </a:prstGeom>
          <a:solidFill>
            <a:srgbClr val="F59E0B"/>
          </a:solidFill>
          <a:ln/>
        </p:spPr>
      </p:sp>
      <p:pic>
        <p:nvPicPr>
          <p:cNvPr id="7" name="Image 1" descr="/home/claude/icons/download_white.png">    </p:cNvPr>
          <p:cNvPicPr>
            <a:picLocks noChangeAspect="1"/>
          </p:cNvPicPr>
          <p:nvPr/>
        </p:nvPicPr>
        <p:blipFill>
          <a:blip r:embed="rId2"/>
          <a:stretch>
            <a:fillRect/>
          </a:stretch>
        </p:blipFill>
        <p:spPr>
          <a:xfrm>
            <a:off x="772668" y="1943100"/>
            <a:ext cx="228600" cy="228600"/>
          </a:xfrm>
          <a:prstGeom prst="rect">
            <a:avLst/>
          </a:prstGeom>
        </p:spPr>
      </p:pic>
      <p:sp>
        <p:nvSpPr>
          <p:cNvPr id="8" name="Text 4"/>
          <p:cNvSpPr/>
          <p:nvPr/>
        </p:nvSpPr>
        <p:spPr>
          <a:xfrm>
            <a:off x="1335024" y="1792224"/>
            <a:ext cx="4215384"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git-scm.com에서 설치</a:t>
            </a:r>
            <a:endParaRPr lang="en-US" sz="1350" dirty="0"/>
          </a:p>
        </p:txBody>
      </p:sp>
      <p:sp>
        <p:nvSpPr>
          <p:cNvPr id="9" name="Text 5"/>
          <p:cNvSpPr/>
          <p:nvPr/>
        </p:nvSpPr>
        <p:spPr>
          <a:xfrm>
            <a:off x="1335024" y="2066544"/>
            <a:ext cx="4215384" cy="73152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설치 옵션이 많지만 전부 기본값 Next로 충분합니다.</a:t>
            </a:r>
            <a:endParaRPr lang="en-US" sz="1100" dirty="0"/>
          </a:p>
        </p:txBody>
      </p:sp>
      <p:sp>
        <p:nvSpPr>
          <p:cNvPr id="10" name="Shape 6"/>
          <p:cNvSpPr/>
          <p:nvPr/>
        </p:nvSpPr>
        <p:spPr>
          <a:xfrm>
            <a:off x="658368" y="2798064"/>
            <a:ext cx="457200" cy="457200"/>
          </a:xfrm>
          <a:prstGeom prst="ellipse">
            <a:avLst/>
          </a:prstGeom>
          <a:solidFill>
            <a:srgbClr val="4F46E5"/>
          </a:solidFill>
          <a:ln/>
        </p:spPr>
      </p:sp>
      <p:pic>
        <p:nvPicPr>
          <p:cNvPr id="11" name="Image 2" descr="/home/claude/icons/terminal_white.png">    </p:cNvPr>
          <p:cNvPicPr>
            <a:picLocks noChangeAspect="1"/>
          </p:cNvPicPr>
          <p:nvPr/>
        </p:nvPicPr>
        <p:blipFill>
          <a:blip r:embed="rId3"/>
          <a:stretch>
            <a:fillRect/>
          </a:stretch>
        </p:blipFill>
        <p:spPr>
          <a:xfrm>
            <a:off x="772668" y="2912364"/>
            <a:ext cx="228600" cy="228600"/>
          </a:xfrm>
          <a:prstGeom prst="rect">
            <a:avLst/>
          </a:prstGeom>
        </p:spPr>
      </p:pic>
      <p:sp>
        <p:nvSpPr>
          <p:cNvPr id="12" name="Text 7"/>
          <p:cNvSpPr/>
          <p:nvPr/>
        </p:nvSpPr>
        <p:spPr>
          <a:xfrm>
            <a:off x="1335024" y="2761488"/>
            <a:ext cx="4215384"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VS Code에서 터미널 열기</a:t>
            </a:r>
            <a:endParaRPr lang="en-US" sz="1350" dirty="0"/>
          </a:p>
        </p:txBody>
      </p:sp>
      <p:sp>
        <p:nvSpPr>
          <p:cNvPr id="13" name="Text 8"/>
          <p:cNvSpPr/>
          <p:nvPr/>
        </p:nvSpPr>
        <p:spPr>
          <a:xfrm>
            <a:off x="1335024" y="3035808"/>
            <a:ext cx="4215384" cy="73152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메뉴 [터미널 → 새 터미널], 단축키 Ctrl+` (백틱).</a:t>
            </a:r>
            <a:endParaRPr lang="en-US" sz="1100" dirty="0"/>
          </a:p>
        </p:txBody>
      </p:sp>
      <p:sp>
        <p:nvSpPr>
          <p:cNvPr id="14" name="Shape 9"/>
          <p:cNvSpPr/>
          <p:nvPr/>
        </p:nvSpPr>
        <p:spPr>
          <a:xfrm>
            <a:off x="658368" y="3767328"/>
            <a:ext cx="457200" cy="457200"/>
          </a:xfrm>
          <a:prstGeom prst="ellipse">
            <a:avLst/>
          </a:prstGeom>
          <a:solidFill>
            <a:srgbClr val="10B981"/>
          </a:solidFill>
          <a:ln/>
        </p:spPr>
      </p:sp>
      <p:pic>
        <p:nvPicPr>
          <p:cNvPr id="15" name="Image 3" descr="/home/claude/icons/gear_white.png">    </p:cNvPr>
          <p:cNvPicPr>
            <a:picLocks noChangeAspect="1"/>
          </p:cNvPicPr>
          <p:nvPr/>
        </p:nvPicPr>
        <p:blipFill>
          <a:blip r:embed="rId4"/>
          <a:stretch>
            <a:fillRect/>
          </a:stretch>
        </p:blipFill>
        <p:spPr>
          <a:xfrm>
            <a:off x="772668" y="3881628"/>
            <a:ext cx="228600" cy="228600"/>
          </a:xfrm>
          <a:prstGeom prst="rect">
            <a:avLst/>
          </a:prstGeom>
        </p:spPr>
      </p:pic>
      <p:sp>
        <p:nvSpPr>
          <p:cNvPr id="16" name="Text 10"/>
          <p:cNvSpPr/>
          <p:nvPr/>
        </p:nvSpPr>
        <p:spPr>
          <a:xfrm>
            <a:off x="1335024" y="3730752"/>
            <a:ext cx="4215384"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이름과 이메일 등록</a:t>
            </a:r>
            <a:endParaRPr lang="en-US" sz="1350" dirty="0"/>
          </a:p>
        </p:txBody>
      </p:sp>
      <p:sp>
        <p:nvSpPr>
          <p:cNvPr id="17" name="Text 11"/>
          <p:cNvSpPr/>
          <p:nvPr/>
        </p:nvSpPr>
        <p:spPr>
          <a:xfrm>
            <a:off x="1335024" y="4005072"/>
            <a:ext cx="4215384" cy="73152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앞으로 남길 모든 기록에 붙을 서명입니다 — GitHub 가입 이메일과 같게.</a:t>
            </a:r>
            <a:endParaRPr lang="en-US" sz="1100" dirty="0"/>
          </a:p>
        </p:txBody>
      </p:sp>
      <p:sp>
        <p:nvSpPr>
          <p:cNvPr id="18" name="Shape 12"/>
          <p:cNvSpPr/>
          <p:nvPr/>
        </p:nvSpPr>
        <p:spPr>
          <a:xfrm>
            <a:off x="5852160" y="1828800"/>
            <a:ext cx="5678424" cy="3063240"/>
          </a:xfrm>
          <a:prstGeom prst="roundRect">
            <a:avLst>
              <a:gd name="adj" fmla="val 2985"/>
            </a:avLst>
          </a:prstGeom>
          <a:solidFill>
            <a:srgbClr val="1D1C3D"/>
          </a:solidFill>
          <a:ln/>
          <a:effectLst>
            <a:outerShdw sx="100000" sy="100000" kx="0" ky="0" algn="bl" rotWithShape="0" blurRad="152400" dist="25400" dir="5400000">
              <a:srgbClr val="1F1D48">
                <a:alpha val="16000"/>
              </a:srgbClr>
            </a:outerShdw>
          </a:effectLst>
        </p:spPr>
      </p:sp>
      <p:sp>
        <p:nvSpPr>
          <p:cNvPr id="19" name="Shape 13"/>
          <p:cNvSpPr/>
          <p:nvPr/>
        </p:nvSpPr>
        <p:spPr>
          <a:xfrm>
            <a:off x="5852160" y="1828800"/>
            <a:ext cx="5678424" cy="329184"/>
          </a:xfrm>
          <a:prstGeom prst="roundRect">
            <a:avLst>
              <a:gd name="adj" fmla="val 27778"/>
            </a:avLst>
          </a:prstGeom>
          <a:solidFill>
            <a:srgbClr val="2A2856"/>
          </a:solidFill>
          <a:ln/>
        </p:spPr>
      </p:sp>
      <p:sp>
        <p:nvSpPr>
          <p:cNvPr id="20" name="Shape 14"/>
          <p:cNvSpPr/>
          <p:nvPr/>
        </p:nvSpPr>
        <p:spPr>
          <a:xfrm>
            <a:off x="5852160" y="2011680"/>
            <a:ext cx="5678424" cy="146304"/>
          </a:xfrm>
          <a:prstGeom prst="rect">
            <a:avLst/>
          </a:prstGeom>
          <a:solidFill>
            <a:srgbClr val="2A2856"/>
          </a:solidFill>
          <a:ln/>
        </p:spPr>
      </p:sp>
      <p:sp>
        <p:nvSpPr>
          <p:cNvPr id="21" name="Shape 15"/>
          <p:cNvSpPr/>
          <p:nvPr/>
        </p:nvSpPr>
        <p:spPr>
          <a:xfrm>
            <a:off x="5998464" y="1943100"/>
            <a:ext cx="100584" cy="100584"/>
          </a:xfrm>
          <a:prstGeom prst="ellipse">
            <a:avLst/>
          </a:prstGeom>
          <a:solidFill>
            <a:srgbClr val="FF5F56"/>
          </a:solidFill>
          <a:ln/>
        </p:spPr>
      </p:sp>
      <p:sp>
        <p:nvSpPr>
          <p:cNvPr id="22" name="Shape 16"/>
          <p:cNvSpPr/>
          <p:nvPr/>
        </p:nvSpPr>
        <p:spPr>
          <a:xfrm>
            <a:off x="6181344" y="1943100"/>
            <a:ext cx="100584" cy="100584"/>
          </a:xfrm>
          <a:prstGeom prst="ellipse">
            <a:avLst/>
          </a:prstGeom>
          <a:solidFill>
            <a:srgbClr val="FFBD2E"/>
          </a:solidFill>
          <a:ln/>
        </p:spPr>
      </p:sp>
      <p:sp>
        <p:nvSpPr>
          <p:cNvPr id="23" name="Shape 17"/>
          <p:cNvSpPr/>
          <p:nvPr/>
        </p:nvSpPr>
        <p:spPr>
          <a:xfrm>
            <a:off x="6364224" y="1943100"/>
            <a:ext cx="100584" cy="100584"/>
          </a:xfrm>
          <a:prstGeom prst="ellipse">
            <a:avLst/>
          </a:prstGeom>
          <a:solidFill>
            <a:srgbClr val="27C93F"/>
          </a:solidFill>
          <a:ln/>
        </p:spPr>
      </p:sp>
      <p:sp>
        <p:nvSpPr>
          <p:cNvPr id="24" name="Text 18"/>
          <p:cNvSpPr/>
          <p:nvPr/>
        </p:nvSpPr>
        <p:spPr>
          <a:xfrm>
            <a:off x="6675120" y="1828800"/>
            <a:ext cx="4032504" cy="329184"/>
          </a:xfrm>
          <a:prstGeom prst="rect">
            <a:avLst/>
          </a:prstGeom>
          <a:noFill/>
          <a:ln/>
        </p:spPr>
        <p:txBody>
          <a:bodyPr wrap="square" lIns="0" tIns="0" rIns="0" bIns="0" rtlCol="0" anchor="ctr"/>
          <a:lstStyle/>
          <a:p>
            <a:pPr algn="ctr" indent="0" marL="0">
              <a:buNone/>
            </a:pPr>
            <a:r>
              <a:rPr lang="en-US" sz="1000" dirty="0">
                <a:solidFill>
                  <a:srgbClr val="C9C9E6"/>
                </a:solidFill>
                <a:latin typeface="Consolas" pitchFamily="34" charset="0"/>
                <a:ea typeface="Consolas" pitchFamily="34" charset="-122"/>
                <a:cs typeface="Consolas" pitchFamily="34" charset="-120"/>
              </a:rPr>
              <a:t>터미널</a:t>
            </a:r>
            <a:endParaRPr lang="en-US" sz="1000" dirty="0"/>
          </a:p>
        </p:txBody>
      </p:sp>
      <p:sp>
        <p:nvSpPr>
          <p:cNvPr id="25" name="Text 19"/>
          <p:cNvSpPr/>
          <p:nvPr/>
        </p:nvSpPr>
        <p:spPr>
          <a:xfrm>
            <a:off x="6071616" y="2249424"/>
            <a:ext cx="5257800" cy="2496312"/>
          </a:xfrm>
          <a:prstGeom prst="rect">
            <a:avLst/>
          </a:prstGeom>
          <a:noFill/>
          <a:ln/>
        </p:spPr>
        <p:txBody>
          <a:bodyPr wrap="square" lIns="0" tIns="0" rIns="0" bIns="0" rtlCol="0" anchor="t"/>
          <a:lstStyle/>
          <a:p>
            <a:pPr indent="0" marL="0">
              <a:lnSpc>
                <a:spcPts val="1824"/>
              </a:lnSpc>
              <a:buNone/>
            </a:pPr>
            <a:r>
              <a:rPr lang="en-US" sz="1200" dirty="0">
                <a:solidFill>
                  <a:srgbClr val="C7A8F7"/>
                </a:solidFill>
                <a:latin typeface="Consolas" pitchFamily="34" charset="0"/>
                <a:ea typeface="Consolas" pitchFamily="34" charset="-122"/>
                <a:cs typeface="Consolas" pitchFamily="34" charset="-120"/>
              </a:rPr>
              <a:t>git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version</a:t>
            </a:r>
            <a:endParaRPr lang="en-US" sz="1200" dirty="0"/>
          </a:p>
          <a:p>
            <a:pPr indent="0" marL="0">
              <a:lnSpc>
                <a:spcPts val="1824"/>
              </a:lnSpc>
              <a:buNone/>
            </a:pPr>
            <a:r>
              <a:rPr lang="en-US" sz="1200" dirty="0">
                <a:solidFill>
                  <a:srgbClr val="8686AA"/>
                </a:solidFill>
                <a:latin typeface="Consolas" pitchFamily="34" charset="0"/>
                <a:ea typeface="Consolas" pitchFamily="34" charset="-122"/>
                <a:cs typeface="Consolas" pitchFamily="34" charset="-120"/>
              </a:rPr>
              <a:t># git version 2.x.x 가 찍히면 설치 성공</a:t>
            </a:r>
            <a:endParaRPr lang="en-US" sz="1200" dirty="0"/>
          </a:p>
          <a:p>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endParaRPr lang="en-US" sz="1200" dirty="0"/>
          </a:p>
          <a:p>
            <a:pPr indent="0" marL="0">
              <a:lnSpc>
                <a:spcPts val="1824"/>
              </a:lnSpc>
              <a:buNone/>
            </a:pPr>
            <a:r>
              <a:rPr lang="en-US" sz="1200" dirty="0">
                <a:solidFill>
                  <a:srgbClr val="C7A8F7"/>
                </a:solidFill>
                <a:latin typeface="Consolas" pitchFamily="34" charset="0"/>
                <a:ea typeface="Consolas" pitchFamily="34" charset="-122"/>
                <a:cs typeface="Consolas" pitchFamily="34" charset="-120"/>
              </a:rPr>
              <a:t>git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config</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global</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user</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name</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9FE0A0"/>
                </a:solidFill>
                <a:latin typeface="Consolas" pitchFamily="34" charset="0"/>
                <a:ea typeface="Consolas" pitchFamily="34" charset="-122"/>
                <a:cs typeface="Consolas" pitchFamily="34" charset="-120"/>
              </a:rPr>
              <a:t>"Hong Gildong"</a:t>
            </a:r>
            <a:endParaRPr lang="en-US" sz="1200" dirty="0"/>
          </a:p>
          <a:p>
            <a:pPr indent="0" marL="0">
              <a:lnSpc>
                <a:spcPts val="1824"/>
              </a:lnSpc>
              <a:buNone/>
            </a:pPr>
            <a:r>
              <a:rPr lang="en-US" sz="1200" dirty="0">
                <a:solidFill>
                  <a:srgbClr val="C7A8F7"/>
                </a:solidFill>
                <a:latin typeface="Consolas" pitchFamily="34" charset="0"/>
                <a:ea typeface="Consolas" pitchFamily="34" charset="-122"/>
                <a:cs typeface="Consolas" pitchFamily="34" charset="-120"/>
              </a:rPr>
              <a:t>git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config</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global</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user</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email</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9FE0A0"/>
                </a:solidFill>
                <a:latin typeface="Consolas" pitchFamily="34" charset="0"/>
                <a:ea typeface="Consolas" pitchFamily="34" charset="-122"/>
                <a:cs typeface="Consolas" pitchFamily="34" charset="-120"/>
              </a:rPr>
              <a:t>"you@dju.kr"</a:t>
            </a:r>
            <a:endParaRPr lang="en-US" sz="1200" dirty="0"/>
          </a:p>
          <a:p>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endParaRPr lang="en-US" sz="1200" dirty="0"/>
          </a:p>
          <a:p>
            <a:pPr indent="0" marL="0">
              <a:lnSpc>
                <a:spcPts val="1824"/>
              </a:lnSpc>
              <a:buNone/>
            </a:pPr>
            <a:r>
              <a:rPr lang="en-US" sz="1200" dirty="0">
                <a:solidFill>
                  <a:srgbClr val="C7A8F7"/>
                </a:solidFill>
                <a:latin typeface="Consolas" pitchFamily="34" charset="0"/>
                <a:ea typeface="Consolas" pitchFamily="34" charset="-122"/>
                <a:cs typeface="Consolas" pitchFamily="34" charset="-120"/>
              </a:rPr>
              <a:t>git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config</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list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8686AA"/>
                </a:solidFill>
                <a:latin typeface="Consolas" pitchFamily="34" charset="0"/>
                <a:ea typeface="Consolas" pitchFamily="34" charset="-122"/>
                <a:cs typeface="Consolas" pitchFamily="34" charset="-120"/>
              </a:rPr>
              <a:t># 등록된 설정 확인</a:t>
            </a:r>
            <a:endParaRPr lang="en-US" sz="1200" dirty="0"/>
          </a:p>
        </p:txBody>
      </p:sp>
      <p:sp>
        <p:nvSpPr>
          <p:cNvPr id="26" name="Text 20"/>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22</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482596" cy="384048"/>
          </a:xfrm>
          <a:prstGeom prst="roundRect">
            <a:avLst>
              <a:gd name="adj" fmla="val 50000"/>
            </a:avLst>
          </a:prstGeom>
          <a:solidFill>
            <a:srgbClr val="EDECFB"/>
          </a:solidFill>
          <a:ln/>
        </p:spPr>
      </p:sp>
      <p:pic>
        <p:nvPicPr>
          <p:cNvPr id="3" name="Image 0" descr="/home/claude/icons/tools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098548"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개발 환경 구축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④ GitHub 계정 만들기</a:t>
            </a:r>
            <a:endParaRPr lang="en-US" sz="2600" dirty="0"/>
          </a:p>
        </p:txBody>
      </p:sp>
      <p:sp>
        <p:nvSpPr>
          <p:cNvPr id="6" name="Shape 3"/>
          <p:cNvSpPr/>
          <p:nvPr/>
        </p:nvSpPr>
        <p:spPr>
          <a:xfrm>
            <a:off x="658368" y="1828800"/>
            <a:ext cx="457200" cy="457200"/>
          </a:xfrm>
          <a:prstGeom prst="ellipse">
            <a:avLst/>
          </a:prstGeom>
          <a:solidFill>
            <a:srgbClr val="17163A"/>
          </a:solidFill>
          <a:ln/>
        </p:spPr>
      </p:sp>
      <p:pic>
        <p:nvPicPr>
          <p:cNvPr id="7" name="Image 1" descr="/home/claude/icons/key_white.png">    </p:cNvPr>
          <p:cNvPicPr>
            <a:picLocks noChangeAspect="1"/>
          </p:cNvPicPr>
          <p:nvPr/>
        </p:nvPicPr>
        <p:blipFill>
          <a:blip r:embed="rId2"/>
          <a:stretch>
            <a:fillRect/>
          </a:stretch>
        </p:blipFill>
        <p:spPr>
          <a:xfrm>
            <a:off x="772668" y="1943100"/>
            <a:ext cx="228600" cy="228600"/>
          </a:xfrm>
          <a:prstGeom prst="rect">
            <a:avLst/>
          </a:prstGeom>
        </p:spPr>
      </p:pic>
      <p:sp>
        <p:nvSpPr>
          <p:cNvPr id="8" name="Text 4"/>
          <p:cNvSpPr/>
          <p:nvPr/>
        </p:nvSpPr>
        <p:spPr>
          <a:xfrm>
            <a:off x="1335024" y="1792224"/>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github.com → Sign up</a:t>
            </a:r>
            <a:endParaRPr lang="en-US" sz="1400" dirty="0"/>
          </a:p>
        </p:txBody>
      </p:sp>
      <p:sp>
        <p:nvSpPr>
          <p:cNvPr id="9" name="Text 5"/>
          <p:cNvSpPr/>
          <p:nvPr/>
        </p:nvSpPr>
        <p:spPr>
          <a:xfrm>
            <a:off x="1335024" y="2066544"/>
            <a:ext cx="10195560" cy="877824"/>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이메일은 학교 이메일 추천 — Git에 등록한 이메일과 동일하게 맞춥니다.</a:t>
            </a:r>
            <a:endParaRPr lang="en-US" sz="1150" dirty="0"/>
          </a:p>
        </p:txBody>
      </p:sp>
      <p:sp>
        <p:nvSpPr>
          <p:cNvPr id="10" name="Shape 6"/>
          <p:cNvSpPr/>
          <p:nvPr/>
        </p:nvSpPr>
        <p:spPr>
          <a:xfrm>
            <a:off x="658368" y="2944368"/>
            <a:ext cx="457200" cy="457200"/>
          </a:xfrm>
          <a:prstGeom prst="ellipse">
            <a:avLst/>
          </a:prstGeom>
          <a:solidFill>
            <a:srgbClr val="F59E0B"/>
          </a:solidFill>
          <a:ln/>
        </p:spPr>
      </p:sp>
      <p:pic>
        <p:nvPicPr>
          <p:cNvPr id="11" name="Image 2" descr="/home/claude/icons/star_white.png">    </p:cNvPr>
          <p:cNvPicPr>
            <a:picLocks noChangeAspect="1"/>
          </p:cNvPicPr>
          <p:nvPr/>
        </p:nvPicPr>
        <p:blipFill>
          <a:blip r:embed="rId3"/>
          <a:stretch>
            <a:fillRect/>
          </a:stretch>
        </p:blipFill>
        <p:spPr>
          <a:xfrm>
            <a:off x="772668" y="3058668"/>
            <a:ext cx="228600" cy="228600"/>
          </a:xfrm>
          <a:prstGeom prst="rect">
            <a:avLst/>
          </a:prstGeom>
        </p:spPr>
      </p:pic>
      <p:sp>
        <p:nvSpPr>
          <p:cNvPr id="12" name="Text 7"/>
          <p:cNvSpPr/>
          <p:nvPr/>
        </p:nvSpPr>
        <p:spPr>
          <a:xfrm>
            <a:off x="1335024" y="2907792"/>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아이디는 신중하게</a:t>
            </a:r>
            <a:endParaRPr lang="en-US" sz="1400" dirty="0"/>
          </a:p>
        </p:txBody>
      </p:sp>
      <p:sp>
        <p:nvSpPr>
          <p:cNvPr id="13" name="Text 8"/>
          <p:cNvSpPr/>
          <p:nvPr/>
        </p:nvSpPr>
        <p:spPr>
          <a:xfrm>
            <a:off x="1335024" y="3182112"/>
            <a:ext cx="10195560" cy="877824"/>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github.com/아이디 가 여러분의 공개 포트폴리오 주소가 됩니다. 이력서에 그대로 적히는 이름이니 장난스러운 아이디는 피하세요.</a:t>
            </a:r>
            <a:endParaRPr lang="en-US" sz="1150" dirty="0"/>
          </a:p>
        </p:txBody>
      </p:sp>
      <p:sp>
        <p:nvSpPr>
          <p:cNvPr id="14" name="Shape 9"/>
          <p:cNvSpPr/>
          <p:nvPr/>
        </p:nvSpPr>
        <p:spPr>
          <a:xfrm>
            <a:off x="658368" y="4059936"/>
            <a:ext cx="457200" cy="457200"/>
          </a:xfrm>
          <a:prstGeom prst="ellipse">
            <a:avLst/>
          </a:prstGeom>
          <a:solidFill>
            <a:srgbClr val="10B981"/>
          </a:solidFill>
          <a:ln/>
        </p:spPr>
      </p:sp>
      <p:pic>
        <p:nvPicPr>
          <p:cNvPr id="15" name="Image 3" descr="/home/claude/icons/grad_white.png">    </p:cNvPr>
          <p:cNvPicPr>
            <a:picLocks noChangeAspect="1"/>
          </p:cNvPicPr>
          <p:nvPr/>
        </p:nvPicPr>
        <p:blipFill>
          <a:blip r:embed="rId4"/>
          <a:stretch>
            <a:fillRect/>
          </a:stretch>
        </p:blipFill>
        <p:spPr>
          <a:xfrm>
            <a:off x="772668" y="4174236"/>
            <a:ext cx="228600" cy="228600"/>
          </a:xfrm>
          <a:prstGeom prst="rect">
            <a:avLst/>
          </a:prstGeom>
        </p:spPr>
      </p:pic>
      <p:sp>
        <p:nvSpPr>
          <p:cNvPr id="16" name="Text 10"/>
          <p:cNvSpPr/>
          <p:nvPr/>
        </p:nvSpPr>
        <p:spPr>
          <a:xfrm>
            <a:off x="1335024" y="4023360"/>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학생 인증 혜택 (선택)</a:t>
            </a:r>
            <a:endParaRPr lang="en-US" sz="1400" dirty="0"/>
          </a:p>
        </p:txBody>
      </p:sp>
      <p:sp>
        <p:nvSpPr>
          <p:cNvPr id="17" name="Text 11"/>
          <p:cNvSpPr/>
          <p:nvPr/>
        </p:nvSpPr>
        <p:spPr>
          <a:xfrm>
            <a:off x="1335024" y="4297680"/>
            <a:ext cx="10195560" cy="877824"/>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GitHub Student Developer Pack — 학교 이메일로 인증하면 여러 유료 개발 도구를 재학 중 무료로 쓸 수 있습니다. 오늘 안 해도 되니 링크만 기억해 두세요.</a:t>
            </a:r>
            <a:endParaRPr lang="en-US" sz="1150" dirty="0"/>
          </a:p>
        </p:txBody>
      </p:sp>
      <p:sp>
        <p:nvSpPr>
          <p:cNvPr id="18" name="Shape 12"/>
          <p:cNvSpPr/>
          <p:nvPr/>
        </p:nvSpPr>
        <p:spPr>
          <a:xfrm>
            <a:off x="658368" y="5303520"/>
            <a:ext cx="10872216" cy="685800"/>
          </a:xfrm>
          <a:prstGeom prst="roundRect">
            <a:avLst>
              <a:gd name="adj" fmla="val 13333"/>
            </a:avLst>
          </a:prstGeom>
          <a:solidFill>
            <a:srgbClr val="EEF0FF"/>
          </a:solidFill>
          <a:ln/>
        </p:spPr>
      </p:sp>
      <p:sp>
        <p:nvSpPr>
          <p:cNvPr id="19" name="Shape 13"/>
          <p:cNvSpPr/>
          <p:nvPr/>
        </p:nvSpPr>
        <p:spPr>
          <a:xfrm>
            <a:off x="877824" y="5408676"/>
            <a:ext cx="475488" cy="475488"/>
          </a:xfrm>
          <a:prstGeom prst="ellipse">
            <a:avLst/>
          </a:prstGeom>
          <a:solidFill>
            <a:srgbClr val="4F46E5"/>
          </a:solidFill>
          <a:ln/>
        </p:spPr>
      </p:sp>
      <p:pic>
        <p:nvPicPr>
          <p:cNvPr id="20" name="Image 4" descr="/home/claude/icons/check_white.png">    </p:cNvPr>
          <p:cNvPicPr>
            <a:picLocks noChangeAspect="1"/>
          </p:cNvPicPr>
          <p:nvPr/>
        </p:nvPicPr>
        <p:blipFill>
          <a:blip r:embed="rId5"/>
          <a:stretch>
            <a:fillRect/>
          </a:stretch>
        </p:blipFill>
        <p:spPr>
          <a:xfrm>
            <a:off x="996696" y="5527548"/>
            <a:ext cx="237744" cy="237744"/>
          </a:xfrm>
          <a:prstGeom prst="rect">
            <a:avLst/>
          </a:prstGeom>
        </p:spPr>
      </p:pic>
      <p:sp>
        <p:nvSpPr>
          <p:cNvPr id="21" name="Text 14"/>
          <p:cNvSpPr/>
          <p:nvPr/>
        </p:nvSpPr>
        <p:spPr>
          <a:xfrm>
            <a:off x="1554480" y="5394960"/>
            <a:ext cx="9738360" cy="502920"/>
          </a:xfrm>
          <a:prstGeom prst="rect">
            <a:avLst/>
          </a:prstGeom>
          <a:noFill/>
          <a:ln/>
        </p:spPr>
        <p:txBody>
          <a:bodyPr wrap="square" lIns="0" tIns="0" rIns="0" bIns="0" rtlCol="0" anchor="ctr"/>
          <a:lstStyle/>
          <a:p>
            <a:pPr indent="0" marL="0">
              <a:lnSpc>
                <a:spcPts val="1704"/>
              </a:lnSpc>
              <a:buNone/>
            </a:pPr>
            <a:r>
              <a:rPr lang="en-US" sz="1200" dirty="0">
                <a:solidFill>
                  <a:srgbClr val="3C3B57"/>
                </a:solidFill>
                <a:latin typeface="Malgun Gothic" pitchFamily="34" charset="0"/>
                <a:ea typeface="Malgun Gothic" pitchFamily="34" charset="-122"/>
                <a:cs typeface="Malgun Gothic" pitchFamily="34" charset="-120"/>
              </a:rPr>
              <a:t>로그인된 첫 화면(대시보드)이 보이면 이 단계 통과입니다.</a:t>
            </a:r>
            <a:endParaRPr lang="en-US" sz="1200" dirty="0"/>
          </a:p>
        </p:txBody>
      </p:sp>
      <p:sp>
        <p:nvSpPr>
          <p:cNvPr id="22" name="Text 1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23</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482596" cy="384048"/>
          </a:xfrm>
          <a:prstGeom prst="roundRect">
            <a:avLst>
              <a:gd name="adj" fmla="val 50000"/>
            </a:avLst>
          </a:prstGeom>
          <a:solidFill>
            <a:srgbClr val="EDECFB"/>
          </a:solidFill>
          <a:ln/>
        </p:spPr>
      </p:sp>
      <p:pic>
        <p:nvPicPr>
          <p:cNvPr id="3" name="Image 0" descr="/home/claude/icons/tools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098548"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개발 환경 구축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첫 저장소(Repository) 만들기</a:t>
            </a:r>
            <a:endParaRPr lang="en-US" sz="2600" dirty="0"/>
          </a:p>
        </p:txBody>
      </p:sp>
      <p:sp>
        <p:nvSpPr>
          <p:cNvPr id="6" name="Shape 3"/>
          <p:cNvSpPr/>
          <p:nvPr/>
        </p:nvSpPr>
        <p:spPr>
          <a:xfrm>
            <a:off x="658368" y="1874520"/>
            <a:ext cx="2306574" cy="1417320"/>
          </a:xfrm>
          <a:prstGeom prst="roundRect">
            <a:avLst>
              <a:gd name="adj" fmla="val 6452"/>
            </a:avLst>
          </a:prstGeom>
          <a:solidFill>
            <a:srgbClr val="FFFFFF"/>
          </a:solidFill>
          <a:ln/>
          <a:effectLst>
            <a:outerShdw sx="100000" sy="100000" kx="0" ky="0" algn="bl" rotWithShape="0" blurRad="152400" dist="25400" dir="5400000">
              <a:srgbClr val="1F1D48">
                <a:alpha val="16000"/>
              </a:srgbClr>
            </a:outerShdw>
          </a:effectLst>
        </p:spPr>
      </p:sp>
      <p:sp>
        <p:nvSpPr>
          <p:cNvPr id="7" name="Shape 4"/>
          <p:cNvSpPr/>
          <p:nvPr/>
        </p:nvSpPr>
        <p:spPr>
          <a:xfrm>
            <a:off x="822960" y="2020824"/>
            <a:ext cx="384048" cy="384048"/>
          </a:xfrm>
          <a:prstGeom prst="ellipse">
            <a:avLst/>
          </a:prstGeom>
          <a:solidFill>
            <a:srgbClr val="10B981"/>
          </a:solidFill>
          <a:ln/>
        </p:spPr>
      </p:sp>
      <p:sp>
        <p:nvSpPr>
          <p:cNvPr id="8" name="Text 5"/>
          <p:cNvSpPr/>
          <p:nvPr/>
        </p:nvSpPr>
        <p:spPr>
          <a:xfrm>
            <a:off x="822960" y="202082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1</a:t>
            </a:r>
            <a:endParaRPr lang="en-US" sz="1500" dirty="0"/>
          </a:p>
        </p:txBody>
      </p:sp>
      <p:sp>
        <p:nvSpPr>
          <p:cNvPr id="9" name="Text 6"/>
          <p:cNvSpPr/>
          <p:nvPr/>
        </p:nvSpPr>
        <p:spPr>
          <a:xfrm>
            <a:off x="1298448" y="2020824"/>
            <a:ext cx="1538478" cy="402336"/>
          </a:xfrm>
          <a:prstGeom prst="rect">
            <a:avLst/>
          </a:prstGeom>
          <a:noFill/>
          <a:ln/>
        </p:spPr>
        <p:txBody>
          <a:bodyPr wrap="square" lIns="0" tIns="0" rIns="0" bIns="0" rtlCol="0" anchor="ctr"/>
          <a:lstStyle/>
          <a:p>
            <a:pPr indent="0" marL="0">
              <a:buNone/>
            </a:pPr>
            <a:r>
              <a:rPr lang="en-US" sz="1250" b="1" dirty="0">
                <a:solidFill>
                  <a:srgbClr val="1E1B3A"/>
                </a:solidFill>
                <a:latin typeface="Malgun Gothic" pitchFamily="34" charset="0"/>
                <a:ea typeface="Malgun Gothic" pitchFamily="34" charset="-122"/>
                <a:cs typeface="Malgun Gothic" pitchFamily="34" charset="-120"/>
              </a:rPr>
              <a:t>New repository</a:t>
            </a:r>
            <a:endParaRPr lang="en-US" sz="1250" dirty="0"/>
          </a:p>
        </p:txBody>
      </p:sp>
      <p:sp>
        <p:nvSpPr>
          <p:cNvPr id="10" name="Text 7"/>
          <p:cNvSpPr/>
          <p:nvPr/>
        </p:nvSpPr>
        <p:spPr>
          <a:xfrm>
            <a:off x="822960" y="2496312"/>
            <a:ext cx="1977390" cy="667512"/>
          </a:xfrm>
          <a:prstGeom prst="rect">
            <a:avLst/>
          </a:prstGeom>
          <a:noFill/>
          <a:ln/>
        </p:spPr>
        <p:txBody>
          <a:bodyPr wrap="square" lIns="0" tIns="0" rIns="0" bIns="0" rtlCol="0" anchor="t"/>
          <a:lstStyle/>
          <a:p>
            <a:pPr indent="0" marL="0">
              <a:lnSpc>
                <a:spcPts val="1449"/>
              </a:lnSpc>
              <a:buNone/>
            </a:pPr>
            <a:r>
              <a:rPr lang="en-US" sz="1050" dirty="0">
                <a:solidFill>
                  <a:srgbClr val="3C3B57"/>
                </a:solidFill>
                <a:latin typeface="Malgun Gothic" pitchFamily="34" charset="0"/>
                <a:ea typeface="Malgun Gothic" pitchFamily="34" charset="-122"/>
                <a:cs typeface="Malgun Gothic" pitchFamily="34" charset="-120"/>
              </a:rPr>
              <a:t>오른쪽 위 + 버튼</a:t>
            </a:r>
            <a:endParaRPr lang="en-US" sz="1050" dirty="0"/>
          </a:p>
          <a:p>
            <a:pPr indent="0" marL="0">
              <a:lnSpc>
                <a:spcPts val="1449"/>
              </a:lnSpc>
              <a:buNone/>
            </a:pPr>
            <a:r>
              <a:rPr lang="en-US" sz="1050" dirty="0">
                <a:solidFill>
                  <a:srgbClr val="3C3B57"/>
                </a:solidFill>
                <a:latin typeface="Malgun Gothic" pitchFamily="34" charset="0"/>
                <a:ea typeface="Malgun Gothic" pitchFamily="34" charset="-122"/>
                <a:cs typeface="Malgun Gothic" pitchFamily="34" charset="-120"/>
              </a:rPr>
              <a:t>→ New repository</a:t>
            </a:r>
            <a:endParaRPr lang="en-US" sz="1050" dirty="0"/>
          </a:p>
        </p:txBody>
      </p:sp>
      <p:sp>
        <p:nvSpPr>
          <p:cNvPr id="11" name="Shape 8"/>
          <p:cNvSpPr/>
          <p:nvPr/>
        </p:nvSpPr>
        <p:spPr>
          <a:xfrm>
            <a:off x="3092958" y="2482596"/>
            <a:ext cx="292608" cy="201168"/>
          </a:xfrm>
          <a:prstGeom prst="rightArrow">
            <a:avLst/>
          </a:prstGeom>
          <a:solidFill>
            <a:srgbClr val="E7E6FB"/>
          </a:solidFill>
          <a:ln/>
        </p:spPr>
      </p:sp>
      <p:sp>
        <p:nvSpPr>
          <p:cNvPr id="12" name="Shape 9"/>
          <p:cNvSpPr/>
          <p:nvPr/>
        </p:nvSpPr>
        <p:spPr>
          <a:xfrm>
            <a:off x="3513582" y="1874520"/>
            <a:ext cx="2306574" cy="1417320"/>
          </a:xfrm>
          <a:prstGeom prst="roundRect">
            <a:avLst>
              <a:gd name="adj" fmla="val 6452"/>
            </a:avLst>
          </a:prstGeom>
          <a:solidFill>
            <a:srgbClr val="FFFFFF"/>
          </a:solidFill>
          <a:ln/>
          <a:effectLst>
            <a:outerShdw sx="100000" sy="100000" kx="0" ky="0" algn="bl" rotWithShape="0" blurRad="152400" dist="25400" dir="5400000">
              <a:srgbClr val="1F1D48">
                <a:alpha val="16000"/>
              </a:srgbClr>
            </a:outerShdw>
          </a:effectLst>
        </p:spPr>
      </p:sp>
      <p:sp>
        <p:nvSpPr>
          <p:cNvPr id="13" name="Shape 10"/>
          <p:cNvSpPr/>
          <p:nvPr/>
        </p:nvSpPr>
        <p:spPr>
          <a:xfrm>
            <a:off x="3678174" y="2020824"/>
            <a:ext cx="384048" cy="384048"/>
          </a:xfrm>
          <a:prstGeom prst="ellipse">
            <a:avLst/>
          </a:prstGeom>
          <a:solidFill>
            <a:srgbClr val="10B981"/>
          </a:solidFill>
          <a:ln/>
        </p:spPr>
      </p:sp>
      <p:sp>
        <p:nvSpPr>
          <p:cNvPr id="14" name="Text 11"/>
          <p:cNvSpPr/>
          <p:nvPr/>
        </p:nvSpPr>
        <p:spPr>
          <a:xfrm>
            <a:off x="3678174" y="202082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2</a:t>
            </a:r>
            <a:endParaRPr lang="en-US" sz="1500" dirty="0"/>
          </a:p>
        </p:txBody>
      </p:sp>
      <p:sp>
        <p:nvSpPr>
          <p:cNvPr id="15" name="Text 12"/>
          <p:cNvSpPr/>
          <p:nvPr/>
        </p:nvSpPr>
        <p:spPr>
          <a:xfrm>
            <a:off x="4153662" y="2020824"/>
            <a:ext cx="1538478" cy="402336"/>
          </a:xfrm>
          <a:prstGeom prst="rect">
            <a:avLst/>
          </a:prstGeom>
          <a:noFill/>
          <a:ln/>
        </p:spPr>
        <p:txBody>
          <a:bodyPr wrap="square" lIns="0" tIns="0" rIns="0" bIns="0" rtlCol="0" anchor="ctr"/>
          <a:lstStyle/>
          <a:p>
            <a:pPr indent="0" marL="0">
              <a:buNone/>
            </a:pPr>
            <a:r>
              <a:rPr lang="en-US" sz="1250" b="1" dirty="0">
                <a:solidFill>
                  <a:srgbClr val="1E1B3A"/>
                </a:solidFill>
                <a:latin typeface="Malgun Gothic" pitchFamily="34" charset="0"/>
                <a:ea typeface="Malgun Gothic" pitchFamily="34" charset="-122"/>
                <a:cs typeface="Malgun Gothic" pitchFamily="34" charset="-120"/>
              </a:rPr>
              <a:t>이름 입력</a:t>
            </a:r>
            <a:endParaRPr lang="en-US" sz="1250" dirty="0"/>
          </a:p>
        </p:txBody>
      </p:sp>
      <p:sp>
        <p:nvSpPr>
          <p:cNvPr id="16" name="Text 13"/>
          <p:cNvSpPr/>
          <p:nvPr/>
        </p:nvSpPr>
        <p:spPr>
          <a:xfrm>
            <a:off x="3678174" y="2496312"/>
            <a:ext cx="1977390" cy="667512"/>
          </a:xfrm>
          <a:prstGeom prst="rect">
            <a:avLst/>
          </a:prstGeom>
          <a:noFill/>
          <a:ln/>
        </p:spPr>
        <p:txBody>
          <a:bodyPr wrap="square" lIns="0" tIns="0" rIns="0" bIns="0" rtlCol="0" anchor="t"/>
          <a:lstStyle/>
          <a:p>
            <a:pPr indent="0" marL="0">
              <a:lnSpc>
                <a:spcPts val="1449"/>
              </a:lnSpc>
              <a:buNone/>
            </a:pPr>
            <a:r>
              <a:rPr lang="en-US" sz="1050" dirty="0">
                <a:solidFill>
                  <a:srgbClr val="3C3B57"/>
                </a:solidFill>
                <a:latin typeface="Malgun Gothic" pitchFamily="34" charset="0"/>
                <a:ea typeface="Malgun Gothic" pitchFamily="34" charset="-122"/>
                <a:cs typeface="Malgun Gothic" pitchFamily="34" charset="-120"/>
              </a:rPr>
              <a:t>hello-sw</a:t>
            </a:r>
            <a:endParaRPr lang="en-US" sz="1050" dirty="0"/>
          </a:p>
          <a:p>
            <a:pPr indent="0" marL="0">
              <a:lnSpc>
                <a:spcPts val="1449"/>
              </a:lnSpc>
              <a:buNone/>
            </a:pPr>
            <a:r>
              <a:rPr lang="en-US" sz="1050" dirty="0">
                <a:solidFill>
                  <a:srgbClr val="3C3B57"/>
                </a:solidFill>
                <a:latin typeface="Malgun Gothic" pitchFamily="34" charset="0"/>
                <a:ea typeface="Malgun Gothic" pitchFamily="34" charset="-122"/>
                <a:cs typeface="Malgun Gothic" pitchFamily="34" charset="-120"/>
              </a:rPr>
              <a:t>(영문·하이픈만)</a:t>
            </a:r>
            <a:endParaRPr lang="en-US" sz="1050" dirty="0"/>
          </a:p>
        </p:txBody>
      </p:sp>
      <p:sp>
        <p:nvSpPr>
          <p:cNvPr id="17" name="Shape 14"/>
          <p:cNvSpPr/>
          <p:nvPr/>
        </p:nvSpPr>
        <p:spPr>
          <a:xfrm>
            <a:off x="5948172" y="2482596"/>
            <a:ext cx="292608" cy="201168"/>
          </a:xfrm>
          <a:prstGeom prst="rightArrow">
            <a:avLst/>
          </a:prstGeom>
          <a:solidFill>
            <a:srgbClr val="E7E6FB"/>
          </a:solidFill>
          <a:ln/>
        </p:spPr>
      </p:sp>
      <p:sp>
        <p:nvSpPr>
          <p:cNvPr id="18" name="Shape 15"/>
          <p:cNvSpPr/>
          <p:nvPr/>
        </p:nvSpPr>
        <p:spPr>
          <a:xfrm>
            <a:off x="6368796" y="1874520"/>
            <a:ext cx="2306574" cy="1417320"/>
          </a:xfrm>
          <a:prstGeom prst="roundRect">
            <a:avLst>
              <a:gd name="adj" fmla="val 6452"/>
            </a:avLst>
          </a:prstGeom>
          <a:solidFill>
            <a:srgbClr val="FFFFFF"/>
          </a:solidFill>
          <a:ln/>
          <a:effectLst>
            <a:outerShdw sx="100000" sy="100000" kx="0" ky="0" algn="bl" rotWithShape="0" blurRad="152400" dist="25400" dir="5400000">
              <a:srgbClr val="1F1D48">
                <a:alpha val="16000"/>
              </a:srgbClr>
            </a:outerShdw>
          </a:effectLst>
        </p:spPr>
      </p:sp>
      <p:sp>
        <p:nvSpPr>
          <p:cNvPr id="19" name="Shape 16"/>
          <p:cNvSpPr/>
          <p:nvPr/>
        </p:nvSpPr>
        <p:spPr>
          <a:xfrm>
            <a:off x="6533388" y="2020824"/>
            <a:ext cx="384048" cy="384048"/>
          </a:xfrm>
          <a:prstGeom prst="ellipse">
            <a:avLst/>
          </a:prstGeom>
          <a:solidFill>
            <a:srgbClr val="10B981"/>
          </a:solidFill>
          <a:ln/>
        </p:spPr>
      </p:sp>
      <p:sp>
        <p:nvSpPr>
          <p:cNvPr id="20" name="Text 17"/>
          <p:cNvSpPr/>
          <p:nvPr/>
        </p:nvSpPr>
        <p:spPr>
          <a:xfrm>
            <a:off x="6533388" y="202082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3</a:t>
            </a:r>
            <a:endParaRPr lang="en-US" sz="1500" dirty="0"/>
          </a:p>
        </p:txBody>
      </p:sp>
      <p:sp>
        <p:nvSpPr>
          <p:cNvPr id="21" name="Text 18"/>
          <p:cNvSpPr/>
          <p:nvPr/>
        </p:nvSpPr>
        <p:spPr>
          <a:xfrm>
            <a:off x="7008876" y="2020824"/>
            <a:ext cx="1538478" cy="402336"/>
          </a:xfrm>
          <a:prstGeom prst="rect">
            <a:avLst/>
          </a:prstGeom>
          <a:noFill/>
          <a:ln/>
        </p:spPr>
        <p:txBody>
          <a:bodyPr wrap="square" lIns="0" tIns="0" rIns="0" bIns="0" rtlCol="0" anchor="ctr"/>
          <a:lstStyle/>
          <a:p>
            <a:pPr indent="0" marL="0">
              <a:buNone/>
            </a:pPr>
            <a:r>
              <a:rPr lang="en-US" sz="1250" b="1" dirty="0">
                <a:solidFill>
                  <a:srgbClr val="1E1B3A"/>
                </a:solidFill>
                <a:latin typeface="Malgun Gothic" pitchFamily="34" charset="0"/>
                <a:ea typeface="Malgun Gothic" pitchFamily="34" charset="-122"/>
                <a:cs typeface="Malgun Gothic" pitchFamily="34" charset="-120"/>
              </a:rPr>
              <a:t>옵션 선택</a:t>
            </a:r>
            <a:endParaRPr lang="en-US" sz="1250" dirty="0"/>
          </a:p>
        </p:txBody>
      </p:sp>
      <p:sp>
        <p:nvSpPr>
          <p:cNvPr id="22" name="Text 19"/>
          <p:cNvSpPr/>
          <p:nvPr/>
        </p:nvSpPr>
        <p:spPr>
          <a:xfrm>
            <a:off x="6533388" y="2496312"/>
            <a:ext cx="1977390" cy="667512"/>
          </a:xfrm>
          <a:prstGeom prst="rect">
            <a:avLst/>
          </a:prstGeom>
          <a:noFill/>
          <a:ln/>
        </p:spPr>
        <p:txBody>
          <a:bodyPr wrap="square" lIns="0" tIns="0" rIns="0" bIns="0" rtlCol="0" anchor="t"/>
          <a:lstStyle/>
          <a:p>
            <a:pPr indent="0" marL="0">
              <a:lnSpc>
                <a:spcPts val="1449"/>
              </a:lnSpc>
              <a:buNone/>
            </a:pPr>
            <a:r>
              <a:rPr lang="en-US" sz="1050" dirty="0">
                <a:solidFill>
                  <a:srgbClr val="3C3B57"/>
                </a:solidFill>
                <a:latin typeface="Malgun Gothic" pitchFamily="34" charset="0"/>
                <a:ea typeface="Malgun Gothic" pitchFamily="34" charset="-122"/>
                <a:cs typeface="Malgun Gothic" pitchFamily="34" charset="-120"/>
              </a:rPr>
              <a:t>Public 선택,</a:t>
            </a:r>
            <a:endParaRPr lang="en-US" sz="1050" dirty="0"/>
          </a:p>
          <a:p>
            <a:pPr indent="0" marL="0">
              <a:lnSpc>
                <a:spcPts val="1449"/>
              </a:lnSpc>
              <a:buNone/>
            </a:pPr>
            <a:r>
              <a:rPr lang="en-US" sz="1050" dirty="0">
                <a:solidFill>
                  <a:srgbClr val="3C3B57"/>
                </a:solidFill>
                <a:latin typeface="Malgun Gothic" pitchFamily="34" charset="0"/>
                <a:ea typeface="Malgun Gothic" pitchFamily="34" charset="-122"/>
                <a:cs typeface="Malgun Gothic" pitchFamily="34" charset="-120"/>
              </a:rPr>
              <a:t>"Add a README" 체크</a:t>
            </a:r>
            <a:endParaRPr lang="en-US" sz="1050" dirty="0"/>
          </a:p>
        </p:txBody>
      </p:sp>
      <p:sp>
        <p:nvSpPr>
          <p:cNvPr id="23" name="Shape 20"/>
          <p:cNvSpPr/>
          <p:nvPr/>
        </p:nvSpPr>
        <p:spPr>
          <a:xfrm>
            <a:off x="8803386" y="2482596"/>
            <a:ext cx="292608" cy="201168"/>
          </a:xfrm>
          <a:prstGeom prst="rightArrow">
            <a:avLst/>
          </a:prstGeom>
          <a:solidFill>
            <a:srgbClr val="E7E6FB"/>
          </a:solidFill>
          <a:ln/>
        </p:spPr>
      </p:sp>
      <p:sp>
        <p:nvSpPr>
          <p:cNvPr id="24" name="Shape 21"/>
          <p:cNvSpPr/>
          <p:nvPr/>
        </p:nvSpPr>
        <p:spPr>
          <a:xfrm>
            <a:off x="9224010" y="1874520"/>
            <a:ext cx="2306574" cy="1417320"/>
          </a:xfrm>
          <a:prstGeom prst="roundRect">
            <a:avLst>
              <a:gd name="adj" fmla="val 6452"/>
            </a:avLst>
          </a:prstGeom>
          <a:solidFill>
            <a:srgbClr val="FFFFFF"/>
          </a:solidFill>
          <a:ln/>
          <a:effectLst>
            <a:outerShdw sx="100000" sy="100000" kx="0" ky="0" algn="bl" rotWithShape="0" blurRad="152400" dist="25400" dir="5400000">
              <a:srgbClr val="1F1D48">
                <a:alpha val="16000"/>
              </a:srgbClr>
            </a:outerShdw>
          </a:effectLst>
        </p:spPr>
      </p:sp>
      <p:sp>
        <p:nvSpPr>
          <p:cNvPr id="25" name="Shape 22"/>
          <p:cNvSpPr/>
          <p:nvPr/>
        </p:nvSpPr>
        <p:spPr>
          <a:xfrm>
            <a:off x="9388602" y="2020824"/>
            <a:ext cx="384048" cy="384048"/>
          </a:xfrm>
          <a:prstGeom prst="ellipse">
            <a:avLst/>
          </a:prstGeom>
          <a:solidFill>
            <a:srgbClr val="10B981"/>
          </a:solidFill>
          <a:ln/>
        </p:spPr>
      </p:sp>
      <p:sp>
        <p:nvSpPr>
          <p:cNvPr id="26" name="Text 23"/>
          <p:cNvSpPr/>
          <p:nvPr/>
        </p:nvSpPr>
        <p:spPr>
          <a:xfrm>
            <a:off x="9388602" y="202082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4</a:t>
            </a:r>
            <a:endParaRPr lang="en-US" sz="1500" dirty="0"/>
          </a:p>
        </p:txBody>
      </p:sp>
      <p:sp>
        <p:nvSpPr>
          <p:cNvPr id="27" name="Text 24"/>
          <p:cNvSpPr/>
          <p:nvPr/>
        </p:nvSpPr>
        <p:spPr>
          <a:xfrm>
            <a:off x="9864090" y="2020824"/>
            <a:ext cx="1538478" cy="402336"/>
          </a:xfrm>
          <a:prstGeom prst="rect">
            <a:avLst/>
          </a:prstGeom>
          <a:noFill/>
          <a:ln/>
        </p:spPr>
        <p:txBody>
          <a:bodyPr wrap="square" lIns="0" tIns="0" rIns="0" bIns="0" rtlCol="0" anchor="ctr"/>
          <a:lstStyle/>
          <a:p>
            <a:pPr indent="0" marL="0">
              <a:buNone/>
            </a:pPr>
            <a:r>
              <a:rPr lang="en-US" sz="1250" b="1" dirty="0">
                <a:solidFill>
                  <a:srgbClr val="1E1B3A"/>
                </a:solidFill>
                <a:latin typeface="Malgun Gothic" pitchFamily="34" charset="0"/>
                <a:ea typeface="Malgun Gothic" pitchFamily="34" charset="-122"/>
                <a:cs typeface="Malgun Gothic" pitchFamily="34" charset="-120"/>
              </a:rPr>
              <a:t>Create</a:t>
            </a:r>
            <a:endParaRPr lang="en-US" sz="1250" dirty="0"/>
          </a:p>
        </p:txBody>
      </p:sp>
      <p:sp>
        <p:nvSpPr>
          <p:cNvPr id="28" name="Text 25"/>
          <p:cNvSpPr/>
          <p:nvPr/>
        </p:nvSpPr>
        <p:spPr>
          <a:xfrm>
            <a:off x="9388602" y="2496312"/>
            <a:ext cx="1977390" cy="667512"/>
          </a:xfrm>
          <a:prstGeom prst="rect">
            <a:avLst/>
          </a:prstGeom>
          <a:noFill/>
          <a:ln/>
        </p:spPr>
        <p:txBody>
          <a:bodyPr wrap="square" lIns="0" tIns="0" rIns="0" bIns="0" rtlCol="0" anchor="t"/>
          <a:lstStyle/>
          <a:p>
            <a:pPr indent="0" marL="0">
              <a:lnSpc>
                <a:spcPts val="1449"/>
              </a:lnSpc>
              <a:buNone/>
            </a:pPr>
            <a:r>
              <a:rPr lang="en-US" sz="1050" dirty="0">
                <a:solidFill>
                  <a:srgbClr val="3C3B57"/>
                </a:solidFill>
                <a:latin typeface="Malgun Gothic" pitchFamily="34" charset="0"/>
                <a:ea typeface="Malgun Gothic" pitchFamily="34" charset="-122"/>
                <a:cs typeface="Malgun Gothic" pitchFamily="34" charset="-120"/>
              </a:rPr>
              <a:t>초록 버튼 클릭</a:t>
            </a:r>
            <a:endParaRPr lang="en-US" sz="1050" dirty="0"/>
          </a:p>
          <a:p>
            <a:pPr indent="0" marL="0">
              <a:lnSpc>
                <a:spcPts val="1449"/>
              </a:lnSpc>
              <a:buNone/>
            </a:pPr>
            <a:r>
              <a:rPr lang="en-US" sz="1050" dirty="0">
                <a:solidFill>
                  <a:srgbClr val="3C3B57"/>
                </a:solidFill>
                <a:latin typeface="Malgun Gothic" pitchFamily="34" charset="0"/>
                <a:ea typeface="Malgun Gothic" pitchFamily="34" charset="-122"/>
                <a:cs typeface="Malgun Gothic" pitchFamily="34" charset="-120"/>
              </a:rPr>
              <a:t>→ 저장소 페이지 확인</a:t>
            </a:r>
            <a:endParaRPr lang="en-US" sz="1050" dirty="0"/>
          </a:p>
        </p:txBody>
      </p:sp>
      <p:sp>
        <p:nvSpPr>
          <p:cNvPr id="29" name="Shape 26"/>
          <p:cNvSpPr/>
          <p:nvPr/>
        </p:nvSpPr>
        <p:spPr>
          <a:xfrm>
            <a:off x="658368" y="3703320"/>
            <a:ext cx="10872216" cy="960120"/>
          </a:xfrm>
          <a:prstGeom prst="roundRect">
            <a:avLst>
              <a:gd name="adj" fmla="val 9524"/>
            </a:avLst>
          </a:prstGeom>
          <a:solidFill>
            <a:srgbClr val="F5F4FC"/>
          </a:solidFill>
          <a:ln/>
        </p:spPr>
      </p:sp>
      <p:sp>
        <p:nvSpPr>
          <p:cNvPr id="30" name="Shape 27"/>
          <p:cNvSpPr/>
          <p:nvPr/>
        </p:nvSpPr>
        <p:spPr>
          <a:xfrm>
            <a:off x="877824" y="3945636"/>
            <a:ext cx="475488" cy="475488"/>
          </a:xfrm>
          <a:prstGeom prst="ellipse">
            <a:avLst/>
          </a:prstGeom>
          <a:solidFill>
            <a:srgbClr val="4F46E5"/>
          </a:solidFill>
          <a:ln/>
        </p:spPr>
      </p:sp>
      <p:pic>
        <p:nvPicPr>
          <p:cNvPr id="31" name="Image 1" descr="/home/claude/icons/folder_white.png">    </p:cNvPr>
          <p:cNvPicPr>
            <a:picLocks noChangeAspect="1"/>
          </p:cNvPicPr>
          <p:nvPr/>
        </p:nvPicPr>
        <p:blipFill>
          <a:blip r:embed="rId2"/>
          <a:stretch>
            <a:fillRect/>
          </a:stretch>
        </p:blipFill>
        <p:spPr>
          <a:xfrm>
            <a:off x="996696" y="4064508"/>
            <a:ext cx="237744" cy="237744"/>
          </a:xfrm>
          <a:prstGeom prst="rect">
            <a:avLst/>
          </a:prstGeom>
        </p:spPr>
      </p:pic>
      <p:sp>
        <p:nvSpPr>
          <p:cNvPr id="32" name="Text 28"/>
          <p:cNvSpPr/>
          <p:nvPr/>
        </p:nvSpPr>
        <p:spPr>
          <a:xfrm>
            <a:off x="1554480" y="3794760"/>
            <a:ext cx="9738360" cy="777240"/>
          </a:xfrm>
          <a:prstGeom prst="rect">
            <a:avLst/>
          </a:prstGeom>
          <a:noFill/>
          <a:ln/>
        </p:spPr>
        <p:txBody>
          <a:bodyPr wrap="square" lIns="0" tIns="0" rIns="0" bIns="0" rtlCol="0" anchor="ctr"/>
          <a:lstStyle/>
          <a:p>
            <a:pPr indent="0" marL="0">
              <a:lnSpc>
                <a:spcPts val="1633"/>
              </a:lnSpc>
              <a:buNone/>
            </a:pPr>
            <a:r>
              <a:rPr lang="en-US" sz="1300" b="1" dirty="0">
                <a:solidFill>
                  <a:srgbClr val="1E1B3A"/>
                </a:solidFill>
                <a:latin typeface="Malgun Gothic" pitchFamily="34" charset="0"/>
                <a:ea typeface="Malgun Gothic" pitchFamily="34" charset="-122"/>
                <a:cs typeface="Malgun Gothic" pitchFamily="34" charset="-120"/>
              </a:rPr>
              <a:t>저장소(Repository)란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프로젝트 하나의 모든 파일과 변경 기록이 담기는 '서랍'입니다. 앞으로 과제 하나, 프로젝트 하나마다 저장소를 하나씩 만들게 됩니다.</a:t>
            </a:r>
            <a:endParaRPr lang="en-US" sz="1300" dirty="0"/>
          </a:p>
        </p:txBody>
      </p:sp>
      <p:sp>
        <p:nvSpPr>
          <p:cNvPr id="33" name="Text 29"/>
          <p:cNvSpPr/>
          <p:nvPr/>
        </p:nvSpPr>
        <p:spPr>
          <a:xfrm>
            <a:off x="658368" y="4937760"/>
            <a:ext cx="10872216" cy="914400"/>
          </a:xfrm>
          <a:prstGeom prst="rect">
            <a:avLst/>
          </a:prstGeom>
          <a:noFill/>
          <a:ln/>
        </p:spPr>
        <p:txBody>
          <a:bodyPr wrap="square" lIns="0" tIns="0" rIns="0" bIns="0" rtlCol="0" anchor="t"/>
          <a:lstStyle/>
          <a:p>
            <a:pPr algn="l" indent="0" marL="0">
              <a:lnSpc>
                <a:spcPts val="1748"/>
              </a:lnSpc>
              <a:buNone/>
            </a:pPr>
            <a:r>
              <a:rPr lang="en-US" sz="1150" dirty="0">
                <a:solidFill>
                  <a:srgbClr val="6B7185"/>
                </a:solidFill>
                <a:latin typeface="Malgun Gothic" pitchFamily="34" charset="0"/>
                <a:ea typeface="Malgun Gothic" pitchFamily="34" charset="-122"/>
                <a:cs typeface="Malgun Gothic" pitchFamily="34" charset="-120"/>
              </a:rPr>
              <a:t>README 체크를 켜는 이유 — 빈 저장소가 아니라 파일이 하나 있는 상태로 시작해야 바로 내려받아(clone) 작업할 수 있습니다.</a:t>
            </a:r>
            <a:endParaRPr lang="en-US" sz="1150" dirty="0"/>
          </a:p>
        </p:txBody>
      </p:sp>
      <p:sp>
        <p:nvSpPr>
          <p:cNvPr id="34" name="Text 30"/>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24</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482596" cy="384048"/>
          </a:xfrm>
          <a:prstGeom prst="roundRect">
            <a:avLst>
              <a:gd name="adj" fmla="val 50000"/>
            </a:avLst>
          </a:prstGeom>
          <a:solidFill>
            <a:srgbClr val="EDECFB"/>
          </a:solidFill>
          <a:ln/>
        </p:spPr>
      </p:sp>
      <p:pic>
        <p:nvPicPr>
          <p:cNvPr id="3" name="Image 0" descr="/home/claude/icons/tools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098548"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개발 환경 구축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내 컴퓨터와 저장소 연결하기</a:t>
            </a:r>
            <a:endParaRPr lang="en-US" sz="2600" dirty="0"/>
          </a:p>
        </p:txBody>
      </p:sp>
      <p:sp>
        <p:nvSpPr>
          <p:cNvPr id="6" name="Shape 3"/>
          <p:cNvSpPr/>
          <p:nvPr/>
        </p:nvSpPr>
        <p:spPr>
          <a:xfrm>
            <a:off x="658368" y="1828800"/>
            <a:ext cx="6492240" cy="3154680"/>
          </a:xfrm>
          <a:prstGeom prst="roundRect">
            <a:avLst>
              <a:gd name="adj" fmla="val 2899"/>
            </a:avLst>
          </a:prstGeom>
          <a:solidFill>
            <a:srgbClr val="1D1C3D"/>
          </a:solidFill>
          <a:ln/>
          <a:effectLst>
            <a:outerShdw sx="100000" sy="100000" kx="0" ky="0" algn="bl" rotWithShape="0" blurRad="152400" dist="25400" dir="5400000">
              <a:srgbClr val="1F1D48">
                <a:alpha val="16000"/>
              </a:srgbClr>
            </a:outerShdw>
          </a:effectLst>
        </p:spPr>
      </p:sp>
      <p:sp>
        <p:nvSpPr>
          <p:cNvPr id="7" name="Shape 4"/>
          <p:cNvSpPr/>
          <p:nvPr/>
        </p:nvSpPr>
        <p:spPr>
          <a:xfrm>
            <a:off x="658368" y="1828800"/>
            <a:ext cx="6492240" cy="329184"/>
          </a:xfrm>
          <a:prstGeom prst="roundRect">
            <a:avLst>
              <a:gd name="adj" fmla="val 27778"/>
            </a:avLst>
          </a:prstGeom>
          <a:solidFill>
            <a:srgbClr val="2A2856"/>
          </a:solidFill>
          <a:ln/>
        </p:spPr>
      </p:sp>
      <p:sp>
        <p:nvSpPr>
          <p:cNvPr id="8" name="Shape 5"/>
          <p:cNvSpPr/>
          <p:nvPr/>
        </p:nvSpPr>
        <p:spPr>
          <a:xfrm>
            <a:off x="658368" y="2011680"/>
            <a:ext cx="6492240" cy="146304"/>
          </a:xfrm>
          <a:prstGeom prst="rect">
            <a:avLst/>
          </a:prstGeom>
          <a:solidFill>
            <a:srgbClr val="2A2856"/>
          </a:solidFill>
          <a:ln/>
        </p:spPr>
      </p:sp>
      <p:sp>
        <p:nvSpPr>
          <p:cNvPr id="9" name="Shape 6"/>
          <p:cNvSpPr/>
          <p:nvPr/>
        </p:nvSpPr>
        <p:spPr>
          <a:xfrm>
            <a:off x="804672" y="1943100"/>
            <a:ext cx="100584" cy="100584"/>
          </a:xfrm>
          <a:prstGeom prst="ellipse">
            <a:avLst/>
          </a:prstGeom>
          <a:solidFill>
            <a:srgbClr val="FF5F56"/>
          </a:solidFill>
          <a:ln/>
        </p:spPr>
      </p:sp>
      <p:sp>
        <p:nvSpPr>
          <p:cNvPr id="10" name="Shape 7"/>
          <p:cNvSpPr/>
          <p:nvPr/>
        </p:nvSpPr>
        <p:spPr>
          <a:xfrm>
            <a:off x="987552" y="1943100"/>
            <a:ext cx="100584" cy="100584"/>
          </a:xfrm>
          <a:prstGeom prst="ellipse">
            <a:avLst/>
          </a:prstGeom>
          <a:solidFill>
            <a:srgbClr val="FFBD2E"/>
          </a:solidFill>
          <a:ln/>
        </p:spPr>
      </p:sp>
      <p:sp>
        <p:nvSpPr>
          <p:cNvPr id="11" name="Shape 8"/>
          <p:cNvSpPr/>
          <p:nvPr/>
        </p:nvSpPr>
        <p:spPr>
          <a:xfrm>
            <a:off x="1170432" y="1943100"/>
            <a:ext cx="100584" cy="100584"/>
          </a:xfrm>
          <a:prstGeom prst="ellipse">
            <a:avLst/>
          </a:prstGeom>
          <a:solidFill>
            <a:srgbClr val="27C93F"/>
          </a:solidFill>
          <a:ln/>
        </p:spPr>
      </p:sp>
      <p:sp>
        <p:nvSpPr>
          <p:cNvPr id="12" name="Text 9"/>
          <p:cNvSpPr/>
          <p:nvPr/>
        </p:nvSpPr>
        <p:spPr>
          <a:xfrm>
            <a:off x="1481328" y="1828800"/>
            <a:ext cx="4846320" cy="329184"/>
          </a:xfrm>
          <a:prstGeom prst="rect">
            <a:avLst/>
          </a:prstGeom>
          <a:noFill/>
          <a:ln/>
        </p:spPr>
        <p:txBody>
          <a:bodyPr wrap="square" lIns="0" tIns="0" rIns="0" bIns="0" rtlCol="0" anchor="ctr"/>
          <a:lstStyle/>
          <a:p>
            <a:pPr algn="ctr" indent="0" marL="0">
              <a:buNone/>
            </a:pPr>
            <a:r>
              <a:rPr lang="en-US" sz="1000" dirty="0">
                <a:solidFill>
                  <a:srgbClr val="C9C9E6"/>
                </a:solidFill>
                <a:latin typeface="Consolas" pitchFamily="34" charset="0"/>
                <a:ea typeface="Consolas" pitchFamily="34" charset="-122"/>
                <a:cs typeface="Consolas" pitchFamily="34" charset="-120"/>
              </a:rPr>
              <a:t>터미널 — ID는 본인 아이디로</a:t>
            </a:r>
            <a:endParaRPr lang="en-US" sz="1000" dirty="0"/>
          </a:p>
        </p:txBody>
      </p:sp>
      <p:sp>
        <p:nvSpPr>
          <p:cNvPr id="13" name="Text 10"/>
          <p:cNvSpPr/>
          <p:nvPr/>
        </p:nvSpPr>
        <p:spPr>
          <a:xfrm>
            <a:off x="877824" y="2249424"/>
            <a:ext cx="6071616" cy="2587752"/>
          </a:xfrm>
          <a:prstGeom prst="rect">
            <a:avLst/>
          </a:prstGeom>
          <a:noFill/>
          <a:ln/>
        </p:spPr>
        <p:txBody>
          <a:bodyPr wrap="square" lIns="0" tIns="0" rIns="0" bIns="0" rtlCol="0" anchor="t"/>
          <a:lstStyle/>
          <a:p>
            <a:pPr indent="0" marL="0">
              <a:lnSpc>
                <a:spcPts val="1824"/>
              </a:lnSpc>
              <a:buNone/>
            </a:pPr>
            <a:r>
              <a:rPr lang="en-US" sz="1200" dirty="0">
                <a:solidFill>
                  <a:srgbClr val="C7A8F7"/>
                </a:solidFill>
                <a:latin typeface="Consolas" pitchFamily="34" charset="0"/>
                <a:ea typeface="Consolas" pitchFamily="34" charset="-122"/>
                <a:cs typeface="Consolas" pitchFamily="34" charset="-120"/>
              </a:rPr>
              <a:t>git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clone</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https</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github</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com</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ID</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hello</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sw</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a:t>
            </a:r>
            <a:pPr indent="0" marL="0">
              <a:lnSpc>
                <a:spcPts val="1824"/>
              </a:lnSpc>
              <a:buNone/>
            </a:pPr>
            <a:r>
              <a:rPr lang="en-US" sz="1200" dirty="0">
                <a:solidFill>
                  <a:srgbClr val="C7A8F7"/>
                </a:solidFill>
                <a:latin typeface="Consolas" pitchFamily="34" charset="0"/>
                <a:ea typeface="Consolas" pitchFamily="34" charset="-122"/>
                <a:cs typeface="Consolas" pitchFamily="34" charset="-120"/>
              </a:rPr>
              <a:t>git</a:t>
            </a:r>
            <a:endParaRPr lang="en-US" sz="1200" dirty="0"/>
          </a:p>
          <a:p>
            <a:pPr indent="0" marL="0">
              <a:lnSpc>
                <a:spcPts val="1824"/>
              </a:lnSpc>
              <a:buNone/>
            </a:pPr>
            <a:r>
              <a:rPr lang="en-US" sz="1200" dirty="0">
                <a:solidFill>
                  <a:srgbClr val="C7A8F7"/>
                </a:solidFill>
                <a:latin typeface="Consolas" pitchFamily="34" charset="0"/>
                <a:ea typeface="Consolas" pitchFamily="34" charset="-122"/>
                <a:cs typeface="Consolas" pitchFamily="34" charset="-120"/>
              </a:rPr>
              <a:t>cd</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hello</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sw</a:t>
            </a:r>
            <a:endParaRPr lang="en-US" sz="1200" dirty="0"/>
          </a:p>
          <a:p>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endParaRPr lang="en-US" sz="1200" dirty="0"/>
          </a:p>
          <a:p>
            <a:pPr indent="0" marL="0">
              <a:lnSpc>
                <a:spcPts val="1824"/>
              </a:lnSpc>
              <a:buNone/>
            </a:pPr>
            <a:r>
              <a:rPr lang="en-US" sz="1200" dirty="0">
                <a:solidFill>
                  <a:srgbClr val="8686AA"/>
                </a:solidFill>
                <a:latin typeface="Consolas" pitchFamily="34" charset="0"/>
                <a:ea typeface="Consolas" pitchFamily="34" charset="-122"/>
                <a:cs typeface="Consolas" pitchFamily="34" charset="-120"/>
              </a:rPr>
              <a:t># VS Code에서 hello.py 파일을 만들어 저장한 뒤</a:t>
            </a:r>
            <a:endParaRPr lang="en-US" sz="1200" dirty="0"/>
          </a:p>
          <a:p>
            <a:pPr indent="0" marL="0">
              <a:lnSpc>
                <a:spcPts val="1824"/>
              </a:lnSpc>
              <a:buNone/>
            </a:pPr>
            <a:r>
              <a:rPr lang="en-US" sz="1200" dirty="0">
                <a:solidFill>
                  <a:srgbClr val="C7A8F7"/>
                </a:solidFill>
                <a:latin typeface="Consolas" pitchFamily="34" charset="0"/>
                <a:ea typeface="Consolas" pitchFamily="34" charset="-122"/>
                <a:cs typeface="Consolas" pitchFamily="34" charset="-120"/>
              </a:rPr>
              <a:t>git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add</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hello</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a:t>
            </a:r>
            <a:pPr indent="0" marL="0">
              <a:lnSpc>
                <a:spcPts val="1824"/>
              </a:lnSpc>
              <a:buNone/>
            </a:pPr>
            <a:r>
              <a:rPr lang="en-US" sz="1200" dirty="0">
                <a:solidFill>
                  <a:srgbClr val="C7A8F7"/>
                </a:solidFill>
                <a:latin typeface="Consolas" pitchFamily="34" charset="0"/>
                <a:ea typeface="Consolas" pitchFamily="34" charset="-122"/>
                <a:cs typeface="Consolas" pitchFamily="34" charset="-120"/>
              </a:rPr>
              <a:t>py</a:t>
            </a:r>
            <a:endParaRPr lang="en-US" sz="1200" dirty="0"/>
          </a:p>
          <a:p>
            <a:pPr indent="0" marL="0">
              <a:lnSpc>
                <a:spcPts val="1824"/>
              </a:lnSpc>
              <a:buNone/>
            </a:pPr>
            <a:r>
              <a:rPr lang="en-US" sz="1200" dirty="0">
                <a:solidFill>
                  <a:srgbClr val="C7A8F7"/>
                </a:solidFill>
                <a:latin typeface="Consolas" pitchFamily="34" charset="0"/>
                <a:ea typeface="Consolas" pitchFamily="34" charset="-122"/>
                <a:cs typeface="Consolas" pitchFamily="34" charset="-120"/>
              </a:rPr>
              <a:t>git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commit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m</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9FE0A0"/>
                </a:solidFill>
                <a:latin typeface="Consolas" pitchFamily="34" charset="0"/>
                <a:ea typeface="Consolas" pitchFamily="34" charset="-122"/>
                <a:cs typeface="Consolas" pitchFamily="34" charset="-120"/>
              </a:rPr>
              <a:t>"first commit"</a:t>
            </a:r>
            <a:endParaRPr lang="en-US" sz="1200" dirty="0"/>
          </a:p>
          <a:p>
            <a:pPr indent="0" marL="0">
              <a:lnSpc>
                <a:spcPts val="1824"/>
              </a:lnSpc>
              <a:buNone/>
            </a:pPr>
            <a:r>
              <a:rPr lang="en-US" sz="1200" dirty="0">
                <a:solidFill>
                  <a:srgbClr val="C7A8F7"/>
                </a:solidFill>
                <a:latin typeface="Consolas" pitchFamily="34" charset="0"/>
                <a:ea typeface="Consolas" pitchFamily="34" charset="-122"/>
                <a:cs typeface="Consolas" pitchFamily="34" charset="-120"/>
              </a:rPr>
              <a:t>git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push</a:t>
            </a:r>
            <a:endParaRPr lang="en-US" sz="1200" dirty="0"/>
          </a:p>
        </p:txBody>
      </p:sp>
      <p:sp>
        <p:nvSpPr>
          <p:cNvPr id="14" name="Shape 11"/>
          <p:cNvSpPr/>
          <p:nvPr/>
        </p:nvSpPr>
        <p:spPr>
          <a:xfrm>
            <a:off x="7452360" y="1874520"/>
            <a:ext cx="457200" cy="457200"/>
          </a:xfrm>
          <a:prstGeom prst="ellipse">
            <a:avLst/>
          </a:prstGeom>
          <a:solidFill>
            <a:srgbClr val="4F46E5"/>
          </a:solidFill>
          <a:ln/>
        </p:spPr>
      </p:sp>
      <p:pic>
        <p:nvPicPr>
          <p:cNvPr id="15" name="Image 1" descr="/home/claude/icons/download_white.png">    </p:cNvPr>
          <p:cNvPicPr>
            <a:picLocks noChangeAspect="1"/>
          </p:cNvPicPr>
          <p:nvPr/>
        </p:nvPicPr>
        <p:blipFill>
          <a:blip r:embed="rId2"/>
          <a:stretch>
            <a:fillRect/>
          </a:stretch>
        </p:blipFill>
        <p:spPr>
          <a:xfrm>
            <a:off x="7566660" y="1988820"/>
            <a:ext cx="228600" cy="228600"/>
          </a:xfrm>
          <a:prstGeom prst="rect">
            <a:avLst/>
          </a:prstGeom>
        </p:spPr>
      </p:pic>
      <p:sp>
        <p:nvSpPr>
          <p:cNvPr id="16" name="Text 12"/>
          <p:cNvSpPr/>
          <p:nvPr/>
        </p:nvSpPr>
        <p:spPr>
          <a:xfrm>
            <a:off x="8129016" y="1837944"/>
            <a:ext cx="3392424" cy="274320"/>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clone</a:t>
            </a:r>
            <a:endParaRPr lang="en-US" sz="1300" dirty="0"/>
          </a:p>
        </p:txBody>
      </p:sp>
      <p:sp>
        <p:nvSpPr>
          <p:cNvPr id="17" name="Text 13"/>
          <p:cNvSpPr/>
          <p:nvPr/>
        </p:nvSpPr>
        <p:spPr>
          <a:xfrm>
            <a:off x="8129016" y="2112264"/>
            <a:ext cx="3392424" cy="694944"/>
          </a:xfrm>
          <a:prstGeom prst="rect">
            <a:avLst/>
          </a:prstGeom>
          <a:noFill/>
          <a:ln/>
        </p:spPr>
        <p:txBody>
          <a:bodyPr wrap="square" lIns="0" tIns="0" rIns="0" bIns="0" rtlCol="0" anchor="t"/>
          <a:lstStyle/>
          <a:p>
            <a:pPr indent="0" marL="0">
              <a:lnSpc>
                <a:spcPts val="1428"/>
              </a:lnSpc>
              <a:buNone/>
            </a:pPr>
            <a:r>
              <a:rPr lang="en-US" sz="1050" dirty="0">
                <a:solidFill>
                  <a:srgbClr val="3C3B57"/>
                </a:solidFill>
                <a:latin typeface="Malgun Gothic" pitchFamily="34" charset="0"/>
                <a:ea typeface="Malgun Gothic" pitchFamily="34" charset="-122"/>
                <a:cs typeface="Malgun Gothic" pitchFamily="34" charset="-120"/>
              </a:rPr>
              <a:t>저장소를 내 컴퓨터로 복사</a:t>
            </a:r>
            <a:endParaRPr lang="en-US" sz="1050" dirty="0"/>
          </a:p>
        </p:txBody>
      </p:sp>
      <p:sp>
        <p:nvSpPr>
          <p:cNvPr id="18" name="Shape 14"/>
          <p:cNvSpPr/>
          <p:nvPr/>
        </p:nvSpPr>
        <p:spPr>
          <a:xfrm>
            <a:off x="7452360" y="2807208"/>
            <a:ext cx="457200" cy="457200"/>
          </a:xfrm>
          <a:prstGeom prst="ellipse">
            <a:avLst/>
          </a:prstGeom>
          <a:solidFill>
            <a:srgbClr val="F59E0B"/>
          </a:solidFill>
          <a:ln/>
        </p:spPr>
      </p:sp>
      <p:pic>
        <p:nvPicPr>
          <p:cNvPr id="19" name="Image 2" descr="/home/claude/icons/clipboard_white.png">    </p:cNvPr>
          <p:cNvPicPr>
            <a:picLocks noChangeAspect="1"/>
          </p:cNvPicPr>
          <p:nvPr/>
        </p:nvPicPr>
        <p:blipFill>
          <a:blip r:embed="rId3"/>
          <a:stretch>
            <a:fillRect/>
          </a:stretch>
        </p:blipFill>
        <p:spPr>
          <a:xfrm>
            <a:off x="7566660" y="2921508"/>
            <a:ext cx="228600" cy="228600"/>
          </a:xfrm>
          <a:prstGeom prst="rect">
            <a:avLst/>
          </a:prstGeom>
        </p:spPr>
      </p:pic>
      <p:sp>
        <p:nvSpPr>
          <p:cNvPr id="20" name="Text 15"/>
          <p:cNvSpPr/>
          <p:nvPr/>
        </p:nvSpPr>
        <p:spPr>
          <a:xfrm>
            <a:off x="8129016" y="2770632"/>
            <a:ext cx="3392424" cy="274320"/>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add · commit</a:t>
            </a:r>
            <a:endParaRPr lang="en-US" sz="1300" dirty="0"/>
          </a:p>
        </p:txBody>
      </p:sp>
      <p:sp>
        <p:nvSpPr>
          <p:cNvPr id="21" name="Text 16"/>
          <p:cNvSpPr/>
          <p:nvPr/>
        </p:nvSpPr>
        <p:spPr>
          <a:xfrm>
            <a:off x="8129016" y="3044952"/>
            <a:ext cx="3392424" cy="694944"/>
          </a:xfrm>
          <a:prstGeom prst="rect">
            <a:avLst/>
          </a:prstGeom>
          <a:noFill/>
          <a:ln/>
        </p:spPr>
        <p:txBody>
          <a:bodyPr wrap="square" lIns="0" tIns="0" rIns="0" bIns="0" rtlCol="0" anchor="t"/>
          <a:lstStyle/>
          <a:p>
            <a:pPr indent="0" marL="0">
              <a:lnSpc>
                <a:spcPts val="1428"/>
              </a:lnSpc>
              <a:buNone/>
            </a:pPr>
            <a:r>
              <a:rPr lang="en-US" sz="1050" dirty="0">
                <a:solidFill>
                  <a:srgbClr val="3C3B57"/>
                </a:solidFill>
                <a:latin typeface="Malgun Gothic" pitchFamily="34" charset="0"/>
                <a:ea typeface="Malgun Gothic" pitchFamily="34" charset="-122"/>
                <a:cs typeface="Malgun Gothic" pitchFamily="34" charset="-120"/>
              </a:rPr>
              <a:t>변경을 골라 기록으로 남김</a:t>
            </a:r>
            <a:endParaRPr lang="en-US" sz="1050" dirty="0"/>
          </a:p>
        </p:txBody>
      </p:sp>
      <p:sp>
        <p:nvSpPr>
          <p:cNvPr id="22" name="Shape 17"/>
          <p:cNvSpPr/>
          <p:nvPr/>
        </p:nvSpPr>
        <p:spPr>
          <a:xfrm>
            <a:off x="7452360" y="3739896"/>
            <a:ext cx="457200" cy="457200"/>
          </a:xfrm>
          <a:prstGeom prst="ellipse">
            <a:avLst/>
          </a:prstGeom>
          <a:solidFill>
            <a:srgbClr val="10B981"/>
          </a:solidFill>
          <a:ln/>
        </p:spPr>
      </p:sp>
      <p:pic>
        <p:nvPicPr>
          <p:cNvPr id="23" name="Image 3" descr="/home/claude/icons/upload_white.png">    </p:cNvPr>
          <p:cNvPicPr>
            <a:picLocks noChangeAspect="1"/>
          </p:cNvPicPr>
          <p:nvPr/>
        </p:nvPicPr>
        <p:blipFill>
          <a:blip r:embed="rId4"/>
          <a:stretch>
            <a:fillRect/>
          </a:stretch>
        </p:blipFill>
        <p:spPr>
          <a:xfrm>
            <a:off x="7566660" y="3854196"/>
            <a:ext cx="228600" cy="228600"/>
          </a:xfrm>
          <a:prstGeom prst="rect">
            <a:avLst/>
          </a:prstGeom>
        </p:spPr>
      </p:pic>
      <p:sp>
        <p:nvSpPr>
          <p:cNvPr id="24" name="Text 18"/>
          <p:cNvSpPr/>
          <p:nvPr/>
        </p:nvSpPr>
        <p:spPr>
          <a:xfrm>
            <a:off x="8129016" y="3703320"/>
            <a:ext cx="3392424" cy="274320"/>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push</a:t>
            </a:r>
            <a:endParaRPr lang="en-US" sz="1300" dirty="0"/>
          </a:p>
        </p:txBody>
      </p:sp>
      <p:sp>
        <p:nvSpPr>
          <p:cNvPr id="25" name="Text 19"/>
          <p:cNvSpPr/>
          <p:nvPr/>
        </p:nvSpPr>
        <p:spPr>
          <a:xfrm>
            <a:off x="8129016" y="3977640"/>
            <a:ext cx="3392424" cy="694944"/>
          </a:xfrm>
          <a:prstGeom prst="rect">
            <a:avLst/>
          </a:prstGeom>
          <a:noFill/>
          <a:ln/>
        </p:spPr>
        <p:txBody>
          <a:bodyPr wrap="square" lIns="0" tIns="0" rIns="0" bIns="0" rtlCol="0" anchor="t"/>
          <a:lstStyle/>
          <a:p>
            <a:pPr indent="0" marL="0">
              <a:lnSpc>
                <a:spcPts val="1428"/>
              </a:lnSpc>
              <a:buNone/>
            </a:pPr>
            <a:r>
              <a:rPr lang="en-US" sz="1050" dirty="0">
                <a:solidFill>
                  <a:srgbClr val="3C3B57"/>
                </a:solidFill>
                <a:latin typeface="Malgun Gothic" pitchFamily="34" charset="0"/>
                <a:ea typeface="Malgun Gothic" pitchFamily="34" charset="-122"/>
                <a:cs typeface="Malgun Gothic" pitchFamily="34" charset="-120"/>
              </a:rPr>
              <a:t>기록을 GitHub로 올림</a:t>
            </a:r>
            <a:endParaRPr lang="en-US" sz="1050" dirty="0"/>
          </a:p>
        </p:txBody>
      </p:sp>
      <p:sp>
        <p:nvSpPr>
          <p:cNvPr id="26" name="Shape 20"/>
          <p:cNvSpPr/>
          <p:nvPr/>
        </p:nvSpPr>
        <p:spPr>
          <a:xfrm>
            <a:off x="658368" y="5212080"/>
            <a:ext cx="10872216" cy="777240"/>
          </a:xfrm>
          <a:prstGeom prst="roundRect">
            <a:avLst>
              <a:gd name="adj" fmla="val 11765"/>
            </a:avLst>
          </a:prstGeom>
          <a:solidFill>
            <a:srgbClr val="EEF0FF"/>
          </a:solidFill>
          <a:ln/>
        </p:spPr>
      </p:sp>
      <p:sp>
        <p:nvSpPr>
          <p:cNvPr id="27" name="Shape 21"/>
          <p:cNvSpPr/>
          <p:nvPr/>
        </p:nvSpPr>
        <p:spPr>
          <a:xfrm>
            <a:off x="877824" y="5362956"/>
            <a:ext cx="475488" cy="475488"/>
          </a:xfrm>
          <a:prstGeom prst="ellipse">
            <a:avLst/>
          </a:prstGeom>
          <a:solidFill>
            <a:srgbClr val="7C3AED"/>
          </a:solidFill>
          <a:ln/>
        </p:spPr>
      </p:sp>
      <p:pic>
        <p:nvPicPr>
          <p:cNvPr id="28" name="Image 4" descr="/home/claude/icons/key_white.png">    </p:cNvPr>
          <p:cNvPicPr>
            <a:picLocks noChangeAspect="1"/>
          </p:cNvPicPr>
          <p:nvPr/>
        </p:nvPicPr>
        <p:blipFill>
          <a:blip r:embed="rId5"/>
          <a:stretch>
            <a:fillRect/>
          </a:stretch>
        </p:blipFill>
        <p:spPr>
          <a:xfrm>
            <a:off x="996696" y="5481828"/>
            <a:ext cx="237744" cy="237744"/>
          </a:xfrm>
          <a:prstGeom prst="rect">
            <a:avLst/>
          </a:prstGeom>
        </p:spPr>
      </p:pic>
      <p:sp>
        <p:nvSpPr>
          <p:cNvPr id="29" name="Text 22"/>
          <p:cNvSpPr/>
          <p:nvPr/>
        </p:nvSpPr>
        <p:spPr>
          <a:xfrm>
            <a:off x="1554480" y="5303520"/>
            <a:ext cx="9738360" cy="594360"/>
          </a:xfrm>
          <a:prstGeom prst="rect">
            <a:avLst/>
          </a:prstGeom>
          <a:noFill/>
          <a:ln/>
        </p:spPr>
        <p:txBody>
          <a:bodyPr wrap="square" lIns="0" tIns="0" rIns="0" bIns="0" rtlCol="0" anchor="ctr"/>
          <a:lstStyle/>
          <a:p>
            <a:pPr indent="0" marL="0">
              <a:lnSpc>
                <a:spcPts val="1562"/>
              </a:lnSpc>
              <a:buNone/>
            </a:pPr>
            <a:r>
              <a:rPr lang="en-US" sz="1250" b="1" dirty="0">
                <a:solidFill>
                  <a:srgbClr val="1E1B3A"/>
                </a:solidFill>
                <a:latin typeface="Malgun Gothic" pitchFamily="34" charset="0"/>
                <a:ea typeface="Malgun Gothic" pitchFamily="34" charset="-122"/>
                <a:cs typeface="Malgun Gothic" pitchFamily="34" charset="-120"/>
              </a:rPr>
              <a:t>첫 push에서 로그인 창이 뜹니다
</a:t>
            </a:r>
            <a:pPr indent="0" marL="0">
              <a:lnSpc>
                <a:spcPts val="1562"/>
              </a:lnSpc>
              <a:buNone/>
            </a:pPr>
            <a:r>
              <a:rPr lang="en-US" sz="1100" dirty="0">
                <a:solidFill>
                  <a:srgbClr val="3C3B57"/>
                </a:solidFill>
                <a:latin typeface="Malgun Gothic" pitchFamily="34" charset="0"/>
                <a:ea typeface="Malgun Gothic" pitchFamily="34" charset="-122"/>
                <a:cs typeface="Malgun Gothic" pitchFamily="34" charset="-120"/>
              </a:rPr>
              <a:t>브라우저 인증 창이 열리면 GitHub 계정으로 로그인 — 한 번 하면 이후엔 묻지 않습니다.</a:t>
            </a:r>
            <a:endParaRPr lang="en-US" sz="1250" dirty="0"/>
          </a:p>
        </p:txBody>
      </p:sp>
      <p:sp>
        <p:nvSpPr>
          <p:cNvPr id="30" name="Text 23"/>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25</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482596" cy="384048"/>
          </a:xfrm>
          <a:prstGeom prst="roundRect">
            <a:avLst>
              <a:gd name="adj" fmla="val 50000"/>
            </a:avLst>
          </a:prstGeom>
          <a:solidFill>
            <a:srgbClr val="EDECFB"/>
          </a:solidFill>
          <a:ln/>
        </p:spPr>
      </p:sp>
      <p:pic>
        <p:nvPicPr>
          <p:cNvPr id="3" name="Image 0" descr="/home/claude/icons/tools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098548"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개발 환경 구축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성공했는지 확인하기</a:t>
            </a:r>
            <a:endParaRPr lang="en-US" sz="2600" dirty="0"/>
          </a:p>
        </p:txBody>
      </p:sp>
      <p:sp>
        <p:nvSpPr>
          <p:cNvPr id="6" name="Shape 3"/>
          <p:cNvSpPr/>
          <p:nvPr/>
        </p:nvSpPr>
        <p:spPr>
          <a:xfrm>
            <a:off x="658368" y="1828800"/>
            <a:ext cx="4892040" cy="2286000"/>
          </a:xfrm>
          <a:prstGeom prst="roundRect">
            <a:avLst>
              <a:gd name="adj" fmla="val 4000"/>
            </a:avLst>
          </a:prstGeom>
          <a:solidFill>
            <a:srgbClr val="EEF0FF"/>
          </a:solidFill>
          <a:ln/>
        </p:spPr>
      </p:sp>
      <p:sp>
        <p:nvSpPr>
          <p:cNvPr id="7" name="Text 4"/>
          <p:cNvSpPr/>
          <p:nvPr/>
        </p:nvSpPr>
        <p:spPr>
          <a:xfrm>
            <a:off x="932688" y="2048256"/>
            <a:ext cx="4206240" cy="292608"/>
          </a:xfrm>
          <a:prstGeom prst="rect">
            <a:avLst/>
          </a:prstGeom>
          <a:noFill/>
          <a:ln/>
        </p:spPr>
        <p:txBody>
          <a:bodyPr wrap="square" lIns="0" tIns="0" rIns="0" bIns="0" rtlCol="0" anchor="ctr"/>
          <a:lstStyle/>
          <a:p>
            <a:pPr indent="0" marL="0">
              <a:buNone/>
            </a:pPr>
            <a:r>
              <a:rPr lang="en-US" sz="1350" b="1" dirty="0">
                <a:solidFill>
                  <a:srgbClr val="4338CA"/>
                </a:solidFill>
                <a:latin typeface="Malgun Gothic" pitchFamily="34" charset="0"/>
                <a:ea typeface="Malgun Gothic" pitchFamily="34" charset="-122"/>
                <a:cs typeface="Malgun Gothic" pitchFamily="34" charset="-120"/>
              </a:rPr>
              <a:t>확인 방법</a:t>
            </a:r>
            <a:endParaRPr lang="en-US" sz="1350" dirty="0"/>
          </a:p>
        </p:txBody>
      </p:sp>
      <p:sp>
        <p:nvSpPr>
          <p:cNvPr id="8" name="Text 5"/>
          <p:cNvSpPr/>
          <p:nvPr/>
        </p:nvSpPr>
        <p:spPr>
          <a:xfrm>
            <a:off x="932688" y="2432304"/>
            <a:ext cx="4389120" cy="1645920"/>
          </a:xfrm>
          <a:prstGeom prst="rect">
            <a:avLst/>
          </a:prstGeom>
          <a:noFill/>
          <a:ln/>
        </p:spPr>
        <p:txBody>
          <a:bodyPr wrap="square" lIns="0" tIns="0" rIns="0" bIns="0" rtlCol="0" anchor="t"/>
          <a:lstStyle/>
          <a:p>
            <a:pPr algn="l" indent="0" marL="0">
              <a:lnSpc>
                <a:spcPts val="1875"/>
              </a:lnSpc>
              <a:buNone/>
            </a:pPr>
            <a:r>
              <a:rPr lang="en-US" sz="1250" dirty="0">
                <a:solidFill>
                  <a:srgbClr val="3C3B57"/>
                </a:solidFill>
                <a:latin typeface="Malgun Gothic" pitchFamily="34" charset="0"/>
                <a:ea typeface="Malgun Gothic" pitchFamily="34" charset="-122"/>
                <a:cs typeface="Malgun Gothic" pitchFamily="34" charset="-120"/>
              </a:rPr>
              <a:t>브라우저에서 내 저장소 페이지를 새로고침합니다.</a:t>
            </a:r>
            <a:endParaRPr lang="en-US" sz="1250" dirty="0"/>
          </a:p>
          <a:p>
            <a:pPr algn="l" indent="0" marL="0">
              <a:lnSpc>
                <a:spcPts val="1875"/>
              </a:lnSpc>
              <a:buNone/>
            </a:pPr>
            <a:endParaRPr lang="en-US" sz="1250" dirty="0"/>
          </a:p>
          <a:p>
            <a:pPr algn="l" indent="0" marL="0">
              <a:lnSpc>
                <a:spcPts val="1875"/>
              </a:lnSpc>
              <a:buNone/>
            </a:pPr>
            <a:r>
              <a:rPr lang="en-US" sz="1250" dirty="0">
                <a:solidFill>
                  <a:srgbClr val="3C3B57"/>
                </a:solidFill>
                <a:latin typeface="Malgun Gothic" pitchFamily="34" charset="0"/>
                <a:ea typeface="Malgun Gothic" pitchFamily="34" charset="-122"/>
                <a:cs typeface="Malgun Gothic" pitchFamily="34" charset="-120"/>
              </a:rPr>
              <a:t>파일 목록에 hello.py가 보이고, 옆에 "first commit" 메시지가 함께 표시되면 성공입니다.</a:t>
            </a:r>
            <a:endParaRPr lang="en-US" sz="1250" dirty="0"/>
          </a:p>
        </p:txBody>
      </p:sp>
      <p:sp>
        <p:nvSpPr>
          <p:cNvPr id="9" name="Shape 6"/>
          <p:cNvSpPr/>
          <p:nvPr/>
        </p:nvSpPr>
        <p:spPr>
          <a:xfrm>
            <a:off x="5852160" y="1874520"/>
            <a:ext cx="457200" cy="457200"/>
          </a:xfrm>
          <a:prstGeom prst="ellipse">
            <a:avLst/>
          </a:prstGeom>
          <a:solidFill>
            <a:srgbClr val="F59E0B"/>
          </a:solidFill>
          <a:ln/>
        </p:spPr>
      </p:sp>
      <p:pic>
        <p:nvPicPr>
          <p:cNvPr id="10" name="Image 1" descr="/home/claude/icons/key_white.png">    </p:cNvPr>
          <p:cNvPicPr>
            <a:picLocks noChangeAspect="1"/>
          </p:cNvPicPr>
          <p:nvPr/>
        </p:nvPicPr>
        <p:blipFill>
          <a:blip r:embed="rId2"/>
          <a:stretch>
            <a:fillRect/>
          </a:stretch>
        </p:blipFill>
        <p:spPr>
          <a:xfrm>
            <a:off x="5966460" y="1988820"/>
            <a:ext cx="228600" cy="228600"/>
          </a:xfrm>
          <a:prstGeom prst="rect">
            <a:avLst/>
          </a:prstGeom>
        </p:spPr>
      </p:pic>
      <p:sp>
        <p:nvSpPr>
          <p:cNvPr id="11" name="Text 7"/>
          <p:cNvSpPr/>
          <p:nvPr/>
        </p:nvSpPr>
        <p:spPr>
          <a:xfrm>
            <a:off x="6528816" y="1837944"/>
            <a:ext cx="4992624" cy="274320"/>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인증 창이 안 떠요</a:t>
            </a:r>
            <a:endParaRPr lang="en-US" sz="1300" dirty="0"/>
          </a:p>
        </p:txBody>
      </p:sp>
      <p:sp>
        <p:nvSpPr>
          <p:cNvPr id="12" name="Text 8"/>
          <p:cNvSpPr/>
          <p:nvPr/>
        </p:nvSpPr>
        <p:spPr>
          <a:xfrm>
            <a:off x="6528816" y="2112264"/>
            <a:ext cx="4992624" cy="768096"/>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터미널 메시지에 나온 링크를 브라우저에 직접 붙여 넣어 로그인하세요.</a:t>
            </a:r>
            <a:endParaRPr lang="en-US" sz="1100" dirty="0"/>
          </a:p>
        </p:txBody>
      </p:sp>
      <p:sp>
        <p:nvSpPr>
          <p:cNvPr id="13" name="Shape 9"/>
          <p:cNvSpPr/>
          <p:nvPr/>
        </p:nvSpPr>
        <p:spPr>
          <a:xfrm>
            <a:off x="5852160" y="2880360"/>
            <a:ext cx="457200" cy="457200"/>
          </a:xfrm>
          <a:prstGeom prst="ellipse">
            <a:avLst/>
          </a:prstGeom>
          <a:solidFill>
            <a:srgbClr val="FB7185"/>
          </a:solidFill>
          <a:ln/>
        </p:spPr>
      </p:sp>
      <p:pic>
        <p:nvPicPr>
          <p:cNvPr id="14" name="Image 2" descr="/home/claude/icons/warn_white.png">    </p:cNvPr>
          <p:cNvPicPr>
            <a:picLocks noChangeAspect="1"/>
          </p:cNvPicPr>
          <p:nvPr/>
        </p:nvPicPr>
        <p:blipFill>
          <a:blip r:embed="rId3"/>
          <a:stretch>
            <a:fillRect/>
          </a:stretch>
        </p:blipFill>
        <p:spPr>
          <a:xfrm>
            <a:off x="5966460" y="2994660"/>
            <a:ext cx="228600" cy="228600"/>
          </a:xfrm>
          <a:prstGeom prst="rect">
            <a:avLst/>
          </a:prstGeom>
        </p:spPr>
      </p:pic>
      <p:sp>
        <p:nvSpPr>
          <p:cNvPr id="15" name="Text 10"/>
          <p:cNvSpPr/>
          <p:nvPr/>
        </p:nvSpPr>
        <p:spPr>
          <a:xfrm>
            <a:off x="6528816" y="2843784"/>
            <a:ext cx="4992624" cy="274320"/>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push가 거부돼요</a:t>
            </a:r>
            <a:endParaRPr lang="en-US" sz="1300" dirty="0"/>
          </a:p>
        </p:txBody>
      </p:sp>
      <p:sp>
        <p:nvSpPr>
          <p:cNvPr id="16" name="Text 11"/>
          <p:cNvSpPr/>
          <p:nvPr/>
        </p:nvSpPr>
        <p:spPr>
          <a:xfrm>
            <a:off x="6528816" y="3118104"/>
            <a:ext cx="4992624" cy="768096"/>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주소의 ID가 본인 아이디인지, 본인 저장소인지 확인 — clone 주소가 다른 사람 것일 때 자주 납니다.</a:t>
            </a:r>
            <a:endParaRPr lang="en-US" sz="1100" dirty="0"/>
          </a:p>
        </p:txBody>
      </p:sp>
      <p:sp>
        <p:nvSpPr>
          <p:cNvPr id="17" name="Shape 12"/>
          <p:cNvSpPr/>
          <p:nvPr/>
        </p:nvSpPr>
        <p:spPr>
          <a:xfrm>
            <a:off x="5852160" y="3886200"/>
            <a:ext cx="457200" cy="457200"/>
          </a:xfrm>
          <a:prstGeom prst="ellipse">
            <a:avLst/>
          </a:prstGeom>
          <a:solidFill>
            <a:srgbClr val="4F46E5"/>
          </a:solidFill>
          <a:ln/>
        </p:spPr>
      </p:sp>
      <p:pic>
        <p:nvPicPr>
          <p:cNvPr id="18" name="Image 3" descr="/home/claude/icons/lang_white.png">    </p:cNvPr>
          <p:cNvPicPr>
            <a:picLocks noChangeAspect="1"/>
          </p:cNvPicPr>
          <p:nvPr/>
        </p:nvPicPr>
        <p:blipFill>
          <a:blip r:embed="rId4"/>
          <a:stretch>
            <a:fillRect/>
          </a:stretch>
        </p:blipFill>
        <p:spPr>
          <a:xfrm>
            <a:off x="5966460" y="4000500"/>
            <a:ext cx="228600" cy="228600"/>
          </a:xfrm>
          <a:prstGeom prst="rect">
            <a:avLst/>
          </a:prstGeom>
        </p:spPr>
      </p:pic>
      <p:sp>
        <p:nvSpPr>
          <p:cNvPr id="19" name="Text 13"/>
          <p:cNvSpPr/>
          <p:nvPr/>
        </p:nvSpPr>
        <p:spPr>
          <a:xfrm>
            <a:off x="6528816" y="3849624"/>
            <a:ext cx="4992624" cy="274320"/>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한글이 깨져요</a:t>
            </a:r>
            <a:endParaRPr lang="en-US" sz="1300" dirty="0"/>
          </a:p>
        </p:txBody>
      </p:sp>
      <p:sp>
        <p:nvSpPr>
          <p:cNvPr id="20" name="Text 14"/>
          <p:cNvSpPr/>
          <p:nvPr/>
        </p:nvSpPr>
        <p:spPr>
          <a:xfrm>
            <a:off x="6528816" y="4123944"/>
            <a:ext cx="4992624" cy="768096"/>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파일 저장 시 인코딩을 UTF-8로 — VS Code 기본값이면 대부분 문제없습니다.</a:t>
            </a:r>
            <a:endParaRPr lang="en-US" sz="1100" dirty="0"/>
          </a:p>
        </p:txBody>
      </p:sp>
      <p:sp>
        <p:nvSpPr>
          <p:cNvPr id="21" name="Text 1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26</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482596" cy="384048"/>
          </a:xfrm>
          <a:prstGeom prst="roundRect">
            <a:avLst>
              <a:gd name="adj" fmla="val 50000"/>
            </a:avLst>
          </a:prstGeom>
          <a:solidFill>
            <a:srgbClr val="EDECFB"/>
          </a:solidFill>
          <a:ln/>
        </p:spPr>
      </p:sp>
      <p:pic>
        <p:nvPicPr>
          <p:cNvPr id="3" name="Image 0" descr="/home/claude/icons/tools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098548"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개발 환경 구축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실습 체크리스트 — 나가기 전에</a:t>
            </a:r>
            <a:endParaRPr lang="en-US" sz="2600" dirty="0"/>
          </a:p>
        </p:txBody>
      </p:sp>
      <p:sp>
        <p:nvSpPr>
          <p:cNvPr id="6" name="Shape 3"/>
          <p:cNvSpPr/>
          <p:nvPr/>
        </p:nvSpPr>
        <p:spPr>
          <a:xfrm>
            <a:off x="658368" y="1783080"/>
            <a:ext cx="10872216" cy="3977640"/>
          </a:xfrm>
          <a:prstGeom prst="roundRect">
            <a:avLst>
              <a:gd name="adj" fmla="val 2299"/>
            </a:avLst>
          </a:prstGeom>
          <a:solidFill>
            <a:srgbClr val="FFFFFF"/>
          </a:solidFill>
          <a:ln/>
          <a:effectLst>
            <a:outerShdw sx="100000" sy="100000" kx="0" ky="0" algn="bl" rotWithShape="0" blurRad="152400" dist="25400" dir="5400000">
              <a:srgbClr val="1F1D48">
                <a:alpha val="16000"/>
              </a:srgbClr>
            </a:outerShdw>
          </a:effectLst>
        </p:spPr>
      </p:sp>
      <p:sp>
        <p:nvSpPr>
          <p:cNvPr id="7" name="Shape 4"/>
          <p:cNvSpPr/>
          <p:nvPr/>
        </p:nvSpPr>
        <p:spPr>
          <a:xfrm>
            <a:off x="1069848" y="2103120"/>
            <a:ext cx="384048" cy="384048"/>
          </a:xfrm>
          <a:prstGeom prst="ellipse">
            <a:avLst/>
          </a:prstGeom>
          <a:solidFill>
            <a:srgbClr val="10B981"/>
          </a:solidFill>
          <a:ln/>
        </p:spPr>
      </p:sp>
      <p:pic>
        <p:nvPicPr>
          <p:cNvPr id="8" name="Image 1" descr="/home/claude/icons/check_white.png">    </p:cNvPr>
          <p:cNvPicPr>
            <a:picLocks noChangeAspect="1"/>
          </p:cNvPicPr>
          <p:nvPr/>
        </p:nvPicPr>
        <p:blipFill>
          <a:blip r:embed="rId2"/>
          <a:stretch>
            <a:fillRect/>
          </a:stretch>
        </p:blipFill>
        <p:spPr>
          <a:xfrm>
            <a:off x="1165860" y="2199132"/>
            <a:ext cx="192024" cy="192024"/>
          </a:xfrm>
          <a:prstGeom prst="rect">
            <a:avLst/>
          </a:prstGeom>
        </p:spPr>
      </p:pic>
      <p:sp>
        <p:nvSpPr>
          <p:cNvPr id="9" name="Text 5"/>
          <p:cNvSpPr/>
          <p:nvPr/>
        </p:nvSpPr>
        <p:spPr>
          <a:xfrm>
            <a:off x="1636776" y="2075688"/>
            <a:ext cx="9482328" cy="457200"/>
          </a:xfrm>
          <a:prstGeom prst="rect">
            <a:avLst/>
          </a:prstGeom>
          <a:noFill/>
          <a:ln/>
        </p:spPr>
        <p:txBody>
          <a:bodyPr wrap="square" lIns="0" tIns="0" rIns="0" bIns="0" rtlCol="0" anchor="ctr"/>
          <a:lstStyle/>
          <a:p>
            <a:pPr indent="0" marL="0">
              <a:lnSpc>
                <a:spcPts val="1755"/>
              </a:lnSpc>
              <a:buNone/>
            </a:pPr>
            <a:r>
              <a:rPr lang="en-US" sz="1350" dirty="0">
                <a:solidFill>
                  <a:srgbClr val="3C3B57"/>
                </a:solidFill>
                <a:latin typeface="Malgun Gothic" pitchFamily="34" charset="0"/>
                <a:ea typeface="Malgun Gothic" pitchFamily="34" charset="-122"/>
                <a:cs typeface="Malgun Gothic" pitchFamily="34" charset="-120"/>
              </a:rPr>
              <a:t>터미널에서 python --version 이 버전을 출력한다.</a:t>
            </a:r>
            <a:endParaRPr lang="en-US" sz="1350" dirty="0"/>
          </a:p>
        </p:txBody>
      </p:sp>
      <p:sp>
        <p:nvSpPr>
          <p:cNvPr id="10" name="Shape 6"/>
          <p:cNvSpPr/>
          <p:nvPr/>
        </p:nvSpPr>
        <p:spPr>
          <a:xfrm>
            <a:off x="1069848" y="2798064"/>
            <a:ext cx="384048" cy="384048"/>
          </a:xfrm>
          <a:prstGeom prst="ellipse">
            <a:avLst/>
          </a:prstGeom>
          <a:solidFill>
            <a:srgbClr val="10B981"/>
          </a:solidFill>
          <a:ln/>
        </p:spPr>
      </p:sp>
      <p:pic>
        <p:nvPicPr>
          <p:cNvPr id="11" name="Image 2" descr="/home/claude/icons/check_white.png">    </p:cNvPr>
          <p:cNvPicPr>
            <a:picLocks noChangeAspect="1"/>
          </p:cNvPicPr>
          <p:nvPr/>
        </p:nvPicPr>
        <p:blipFill>
          <a:blip r:embed="rId3"/>
          <a:stretch>
            <a:fillRect/>
          </a:stretch>
        </p:blipFill>
        <p:spPr>
          <a:xfrm>
            <a:off x="1165860" y="2894076"/>
            <a:ext cx="192024" cy="192024"/>
          </a:xfrm>
          <a:prstGeom prst="rect">
            <a:avLst/>
          </a:prstGeom>
        </p:spPr>
      </p:pic>
      <p:sp>
        <p:nvSpPr>
          <p:cNvPr id="12" name="Text 7"/>
          <p:cNvSpPr/>
          <p:nvPr/>
        </p:nvSpPr>
        <p:spPr>
          <a:xfrm>
            <a:off x="1636776" y="2770632"/>
            <a:ext cx="9482328" cy="457200"/>
          </a:xfrm>
          <a:prstGeom prst="rect">
            <a:avLst/>
          </a:prstGeom>
          <a:noFill/>
          <a:ln/>
        </p:spPr>
        <p:txBody>
          <a:bodyPr wrap="square" lIns="0" tIns="0" rIns="0" bIns="0" rtlCol="0" anchor="ctr"/>
          <a:lstStyle/>
          <a:p>
            <a:pPr indent="0" marL="0">
              <a:lnSpc>
                <a:spcPts val="1755"/>
              </a:lnSpc>
              <a:buNone/>
            </a:pPr>
            <a:r>
              <a:rPr lang="en-US" sz="1350" dirty="0">
                <a:solidFill>
                  <a:srgbClr val="3C3B57"/>
                </a:solidFill>
                <a:latin typeface="Malgun Gothic" pitchFamily="34" charset="0"/>
                <a:ea typeface="Malgun Gothic" pitchFamily="34" charset="-122"/>
                <a:cs typeface="Malgun Gothic" pitchFamily="34" charset="-120"/>
              </a:rPr>
              <a:t>VS Code가 실행되고, 한국어 팩과 Python 확장이 설치되어 있다.</a:t>
            </a:r>
            <a:endParaRPr lang="en-US" sz="1350" dirty="0"/>
          </a:p>
        </p:txBody>
      </p:sp>
      <p:sp>
        <p:nvSpPr>
          <p:cNvPr id="13" name="Shape 8"/>
          <p:cNvSpPr/>
          <p:nvPr/>
        </p:nvSpPr>
        <p:spPr>
          <a:xfrm>
            <a:off x="1069848" y="3493008"/>
            <a:ext cx="384048" cy="384048"/>
          </a:xfrm>
          <a:prstGeom prst="ellipse">
            <a:avLst/>
          </a:prstGeom>
          <a:solidFill>
            <a:srgbClr val="10B981"/>
          </a:solidFill>
          <a:ln/>
        </p:spPr>
      </p:sp>
      <p:pic>
        <p:nvPicPr>
          <p:cNvPr id="14" name="Image 3" descr="/home/claude/icons/check_white.png">    </p:cNvPr>
          <p:cNvPicPr>
            <a:picLocks noChangeAspect="1"/>
          </p:cNvPicPr>
          <p:nvPr/>
        </p:nvPicPr>
        <p:blipFill>
          <a:blip r:embed="rId4"/>
          <a:stretch>
            <a:fillRect/>
          </a:stretch>
        </p:blipFill>
        <p:spPr>
          <a:xfrm>
            <a:off x="1165860" y="3589020"/>
            <a:ext cx="192024" cy="192024"/>
          </a:xfrm>
          <a:prstGeom prst="rect">
            <a:avLst/>
          </a:prstGeom>
        </p:spPr>
      </p:pic>
      <p:sp>
        <p:nvSpPr>
          <p:cNvPr id="15" name="Text 9"/>
          <p:cNvSpPr/>
          <p:nvPr/>
        </p:nvSpPr>
        <p:spPr>
          <a:xfrm>
            <a:off x="1636776" y="3465576"/>
            <a:ext cx="9482328" cy="457200"/>
          </a:xfrm>
          <a:prstGeom prst="rect">
            <a:avLst/>
          </a:prstGeom>
          <a:noFill/>
          <a:ln/>
        </p:spPr>
        <p:txBody>
          <a:bodyPr wrap="square" lIns="0" tIns="0" rIns="0" bIns="0" rtlCol="0" anchor="ctr"/>
          <a:lstStyle/>
          <a:p>
            <a:pPr indent="0" marL="0">
              <a:lnSpc>
                <a:spcPts val="1755"/>
              </a:lnSpc>
              <a:buNone/>
            </a:pPr>
            <a:r>
              <a:rPr lang="en-US" sz="1350" dirty="0">
                <a:solidFill>
                  <a:srgbClr val="3C3B57"/>
                </a:solidFill>
                <a:latin typeface="Malgun Gothic" pitchFamily="34" charset="0"/>
                <a:ea typeface="Malgun Gothic" pitchFamily="34" charset="-122"/>
                <a:cs typeface="Malgun Gothic" pitchFamily="34" charset="-120"/>
              </a:rPr>
              <a:t>git --version 이 동작하고 user.name / user.email 이 등록되어 있다.</a:t>
            </a:r>
            <a:endParaRPr lang="en-US" sz="1350" dirty="0"/>
          </a:p>
        </p:txBody>
      </p:sp>
      <p:sp>
        <p:nvSpPr>
          <p:cNvPr id="16" name="Shape 10"/>
          <p:cNvSpPr/>
          <p:nvPr/>
        </p:nvSpPr>
        <p:spPr>
          <a:xfrm>
            <a:off x="1069848" y="4187952"/>
            <a:ext cx="384048" cy="384048"/>
          </a:xfrm>
          <a:prstGeom prst="ellipse">
            <a:avLst/>
          </a:prstGeom>
          <a:solidFill>
            <a:srgbClr val="10B981"/>
          </a:solidFill>
          <a:ln/>
        </p:spPr>
      </p:sp>
      <p:pic>
        <p:nvPicPr>
          <p:cNvPr id="17" name="Image 4" descr="/home/claude/icons/check_white.png">    </p:cNvPr>
          <p:cNvPicPr>
            <a:picLocks noChangeAspect="1"/>
          </p:cNvPicPr>
          <p:nvPr/>
        </p:nvPicPr>
        <p:blipFill>
          <a:blip r:embed="rId5"/>
          <a:stretch>
            <a:fillRect/>
          </a:stretch>
        </p:blipFill>
        <p:spPr>
          <a:xfrm>
            <a:off x="1165860" y="4283964"/>
            <a:ext cx="192024" cy="192024"/>
          </a:xfrm>
          <a:prstGeom prst="rect">
            <a:avLst/>
          </a:prstGeom>
        </p:spPr>
      </p:pic>
      <p:sp>
        <p:nvSpPr>
          <p:cNvPr id="18" name="Text 11"/>
          <p:cNvSpPr/>
          <p:nvPr/>
        </p:nvSpPr>
        <p:spPr>
          <a:xfrm>
            <a:off x="1636776" y="4160520"/>
            <a:ext cx="9482328" cy="457200"/>
          </a:xfrm>
          <a:prstGeom prst="rect">
            <a:avLst/>
          </a:prstGeom>
          <a:noFill/>
          <a:ln/>
        </p:spPr>
        <p:txBody>
          <a:bodyPr wrap="square" lIns="0" tIns="0" rIns="0" bIns="0" rtlCol="0" anchor="ctr"/>
          <a:lstStyle/>
          <a:p>
            <a:pPr indent="0" marL="0">
              <a:lnSpc>
                <a:spcPts val="1755"/>
              </a:lnSpc>
              <a:buNone/>
            </a:pPr>
            <a:r>
              <a:rPr lang="en-US" sz="1350" dirty="0">
                <a:solidFill>
                  <a:srgbClr val="3C3B57"/>
                </a:solidFill>
                <a:latin typeface="Malgun Gothic" pitchFamily="34" charset="0"/>
                <a:ea typeface="Malgun Gothic" pitchFamily="34" charset="-122"/>
                <a:cs typeface="Malgun Gothic" pitchFamily="34" charset="-120"/>
              </a:rPr>
              <a:t>GitHub에 내 계정으로 로그인할 수 있다.</a:t>
            </a:r>
            <a:endParaRPr lang="en-US" sz="1350" dirty="0"/>
          </a:p>
        </p:txBody>
      </p:sp>
      <p:sp>
        <p:nvSpPr>
          <p:cNvPr id="19" name="Shape 12"/>
          <p:cNvSpPr/>
          <p:nvPr/>
        </p:nvSpPr>
        <p:spPr>
          <a:xfrm>
            <a:off x="1069848" y="4882896"/>
            <a:ext cx="384048" cy="384048"/>
          </a:xfrm>
          <a:prstGeom prst="ellipse">
            <a:avLst/>
          </a:prstGeom>
          <a:solidFill>
            <a:srgbClr val="10B981"/>
          </a:solidFill>
          <a:ln/>
        </p:spPr>
      </p:sp>
      <p:pic>
        <p:nvPicPr>
          <p:cNvPr id="20" name="Image 5" descr="/home/claude/icons/check_white.png">    </p:cNvPr>
          <p:cNvPicPr>
            <a:picLocks noChangeAspect="1"/>
          </p:cNvPicPr>
          <p:nvPr/>
        </p:nvPicPr>
        <p:blipFill>
          <a:blip r:embed="rId6"/>
          <a:stretch>
            <a:fillRect/>
          </a:stretch>
        </p:blipFill>
        <p:spPr>
          <a:xfrm>
            <a:off x="1165860" y="4978908"/>
            <a:ext cx="192024" cy="192024"/>
          </a:xfrm>
          <a:prstGeom prst="rect">
            <a:avLst/>
          </a:prstGeom>
        </p:spPr>
      </p:pic>
      <p:sp>
        <p:nvSpPr>
          <p:cNvPr id="21" name="Text 13"/>
          <p:cNvSpPr/>
          <p:nvPr/>
        </p:nvSpPr>
        <p:spPr>
          <a:xfrm>
            <a:off x="1636776" y="4855464"/>
            <a:ext cx="9482328" cy="457200"/>
          </a:xfrm>
          <a:prstGeom prst="rect">
            <a:avLst/>
          </a:prstGeom>
          <a:noFill/>
          <a:ln/>
        </p:spPr>
        <p:txBody>
          <a:bodyPr wrap="square" lIns="0" tIns="0" rIns="0" bIns="0" rtlCol="0" anchor="ctr"/>
          <a:lstStyle/>
          <a:p>
            <a:pPr indent="0" marL="0">
              <a:lnSpc>
                <a:spcPts val="1755"/>
              </a:lnSpc>
              <a:buNone/>
            </a:pPr>
            <a:r>
              <a:rPr lang="en-US" sz="1350" dirty="0">
                <a:solidFill>
                  <a:srgbClr val="3C3B57"/>
                </a:solidFill>
                <a:latin typeface="Malgun Gothic" pitchFamily="34" charset="0"/>
                <a:ea typeface="Malgun Gothic" pitchFamily="34" charset="-122"/>
                <a:cs typeface="Malgun Gothic" pitchFamily="34" charset="-120"/>
              </a:rPr>
              <a:t>내 hello-sw 저장소에 hello.py 가 올라가 있다.</a:t>
            </a:r>
            <a:endParaRPr lang="en-US" sz="1350" dirty="0"/>
          </a:p>
        </p:txBody>
      </p:sp>
      <p:sp>
        <p:nvSpPr>
          <p:cNvPr id="22" name="Text 14"/>
          <p:cNvSpPr/>
          <p:nvPr/>
        </p:nvSpPr>
        <p:spPr>
          <a:xfrm>
            <a:off x="658368" y="5943600"/>
            <a:ext cx="10872216" cy="914400"/>
          </a:xfrm>
          <a:prstGeom prst="rect">
            <a:avLst/>
          </a:prstGeom>
          <a:noFill/>
          <a:ln/>
        </p:spPr>
        <p:txBody>
          <a:bodyPr wrap="square" lIns="0" tIns="0" rIns="0" bIns="0" rtlCol="0" anchor="t"/>
          <a:lstStyle/>
          <a:p>
            <a:pPr algn="l" indent="0" marL="0">
              <a:lnSpc>
                <a:spcPts val="1824"/>
              </a:lnSpc>
              <a:buNone/>
            </a:pPr>
            <a:r>
              <a:rPr lang="en-US" sz="1200" dirty="0">
                <a:solidFill>
                  <a:srgbClr val="6B7185"/>
                </a:solidFill>
                <a:latin typeface="Malgun Gothic" pitchFamily="34" charset="0"/>
                <a:ea typeface="Malgun Gothic" pitchFamily="34" charset="-122"/>
                <a:cs typeface="Malgun Gothic" pitchFamily="34" charset="-120"/>
              </a:rPr>
              <a:t>다섯 개 모두 통과가 오늘의 출석 인증입니다 — 마지막 항목의 저장소 주소를 LMS 1주차 게시판에 제출하세요.</a:t>
            </a:r>
            <a:endParaRPr lang="en-US" sz="1200" dirty="0"/>
          </a:p>
        </p:txBody>
      </p:sp>
      <p:sp>
        <p:nvSpPr>
          <p:cNvPr id="23" name="Text 1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27</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632204" cy="384048"/>
          </a:xfrm>
          <a:prstGeom prst="roundRect">
            <a:avLst>
              <a:gd name="adj" fmla="val 50000"/>
            </a:avLst>
          </a:prstGeom>
          <a:solidFill>
            <a:srgbClr val="EDECFB"/>
          </a:solidFill>
          <a:ln/>
        </p:spPr>
      </p:sp>
      <p:pic>
        <p:nvPicPr>
          <p:cNvPr id="3" name="Image 0" descr="/home/claude/icons/check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248156"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1강 · 정리</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오늘의 세 문장</a:t>
            </a:r>
            <a:endParaRPr lang="en-US" sz="2600" dirty="0"/>
          </a:p>
        </p:txBody>
      </p:sp>
      <p:sp>
        <p:nvSpPr>
          <p:cNvPr id="6" name="Shape 3"/>
          <p:cNvSpPr/>
          <p:nvPr/>
        </p:nvSpPr>
        <p:spPr>
          <a:xfrm>
            <a:off x="658368" y="1920240"/>
            <a:ext cx="10872216" cy="1097280"/>
          </a:xfrm>
          <a:prstGeom prst="roundRect">
            <a:avLst>
              <a:gd name="adj" fmla="val 8333"/>
            </a:avLst>
          </a:prstGeom>
          <a:solidFill>
            <a:srgbClr val="FFFFFF"/>
          </a:solidFill>
          <a:ln/>
          <a:effectLst>
            <a:outerShdw sx="100000" sy="100000" kx="0" ky="0" algn="bl" rotWithShape="0" blurRad="152400" dist="25400" dir="5400000">
              <a:srgbClr val="1F1D48">
                <a:alpha val="16000"/>
              </a:srgbClr>
            </a:outerShdw>
          </a:effectLst>
        </p:spPr>
      </p:sp>
      <p:sp>
        <p:nvSpPr>
          <p:cNvPr id="7" name="Shape 4"/>
          <p:cNvSpPr/>
          <p:nvPr/>
        </p:nvSpPr>
        <p:spPr>
          <a:xfrm>
            <a:off x="896112" y="2221992"/>
            <a:ext cx="493776" cy="493776"/>
          </a:xfrm>
          <a:prstGeom prst="ellipse">
            <a:avLst/>
          </a:prstGeom>
          <a:solidFill>
            <a:srgbClr val="4F46E5"/>
          </a:solidFill>
          <a:ln/>
        </p:spPr>
      </p:sp>
      <p:sp>
        <p:nvSpPr>
          <p:cNvPr id="8" name="Text 5"/>
          <p:cNvSpPr/>
          <p:nvPr/>
        </p:nvSpPr>
        <p:spPr>
          <a:xfrm>
            <a:off x="896112" y="222199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1</a:t>
            </a:r>
            <a:endParaRPr lang="en-US" sz="1800" dirty="0"/>
          </a:p>
        </p:txBody>
      </p:sp>
      <p:sp>
        <p:nvSpPr>
          <p:cNvPr id="9" name="Text 6"/>
          <p:cNvSpPr/>
          <p:nvPr/>
        </p:nvSpPr>
        <p:spPr>
          <a:xfrm>
            <a:off x="1627632" y="2048256"/>
            <a:ext cx="9592056" cy="859536"/>
          </a:xfrm>
          <a:prstGeom prst="rect">
            <a:avLst/>
          </a:prstGeom>
          <a:noFill/>
          <a:ln/>
        </p:spPr>
        <p:txBody>
          <a:bodyPr wrap="square" lIns="0" tIns="0" rIns="0" bIns="0" rtlCol="0" anchor="ctr"/>
          <a:lstStyle/>
          <a:p>
            <a:pPr indent="0" marL="0">
              <a:lnSpc>
                <a:spcPts val="2000"/>
              </a:lnSpc>
              <a:buNone/>
            </a:pPr>
            <a:r>
              <a:rPr lang="en-US" sz="1350" dirty="0">
                <a:solidFill>
                  <a:srgbClr val="3C3B57"/>
                </a:solidFill>
                <a:latin typeface="Malgun Gothic" pitchFamily="34" charset="0"/>
                <a:ea typeface="Malgun Gothic" pitchFamily="34" charset="-122"/>
                <a:cs typeface="Malgun Gothic" pitchFamily="34" charset="-120"/>
              </a:rPr>
              <a:t>소프트웨어공학은 코드가 아니라 '만드는 과정'의 학문입니다 — 큰 실패는 언제나 과정에서 왔습니다.</a:t>
            </a:r>
            <a:endParaRPr lang="en-US" sz="1350" dirty="0"/>
          </a:p>
        </p:txBody>
      </p:sp>
      <p:sp>
        <p:nvSpPr>
          <p:cNvPr id="10" name="Shape 7"/>
          <p:cNvSpPr/>
          <p:nvPr/>
        </p:nvSpPr>
        <p:spPr>
          <a:xfrm>
            <a:off x="658368" y="3246120"/>
            <a:ext cx="10872216" cy="1097280"/>
          </a:xfrm>
          <a:prstGeom prst="roundRect">
            <a:avLst>
              <a:gd name="adj" fmla="val 8333"/>
            </a:avLst>
          </a:prstGeom>
          <a:solidFill>
            <a:srgbClr val="FFFFFF"/>
          </a:solidFill>
          <a:ln/>
          <a:effectLst>
            <a:outerShdw sx="100000" sy="100000" kx="0" ky="0" algn="bl" rotWithShape="0" blurRad="152400" dist="25400" dir="5400000">
              <a:srgbClr val="1F1D48">
                <a:alpha val="16000"/>
              </a:srgbClr>
            </a:outerShdw>
          </a:effectLst>
        </p:spPr>
      </p:sp>
      <p:sp>
        <p:nvSpPr>
          <p:cNvPr id="11" name="Shape 8"/>
          <p:cNvSpPr/>
          <p:nvPr/>
        </p:nvSpPr>
        <p:spPr>
          <a:xfrm>
            <a:off x="896112" y="3547872"/>
            <a:ext cx="493776" cy="493776"/>
          </a:xfrm>
          <a:prstGeom prst="ellipse">
            <a:avLst/>
          </a:prstGeom>
          <a:solidFill>
            <a:srgbClr val="F59E0B"/>
          </a:solidFill>
          <a:ln/>
        </p:spPr>
      </p:sp>
      <p:sp>
        <p:nvSpPr>
          <p:cNvPr id="12" name="Text 9"/>
          <p:cNvSpPr/>
          <p:nvPr/>
        </p:nvSpPr>
        <p:spPr>
          <a:xfrm>
            <a:off x="896112" y="354787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2</a:t>
            </a:r>
            <a:endParaRPr lang="en-US" sz="1800" dirty="0"/>
          </a:p>
        </p:txBody>
      </p:sp>
      <p:sp>
        <p:nvSpPr>
          <p:cNvPr id="13" name="Text 10"/>
          <p:cNvSpPr/>
          <p:nvPr/>
        </p:nvSpPr>
        <p:spPr>
          <a:xfrm>
            <a:off x="1627632" y="3374136"/>
            <a:ext cx="9592056" cy="859536"/>
          </a:xfrm>
          <a:prstGeom prst="rect">
            <a:avLst/>
          </a:prstGeom>
          <a:noFill/>
          <a:ln/>
        </p:spPr>
        <p:txBody>
          <a:bodyPr wrap="square" lIns="0" tIns="0" rIns="0" bIns="0" rtlCol="0" anchor="ctr"/>
          <a:lstStyle/>
          <a:p>
            <a:pPr indent="0" marL="0">
              <a:lnSpc>
                <a:spcPts val="2000"/>
              </a:lnSpc>
              <a:buNone/>
            </a:pPr>
            <a:r>
              <a:rPr lang="en-US" sz="1350" dirty="0">
                <a:solidFill>
                  <a:srgbClr val="3C3B57"/>
                </a:solidFill>
                <a:latin typeface="Malgun Gothic" pitchFamily="34" charset="0"/>
                <a:ea typeface="Malgun Gothic" pitchFamily="34" charset="-122"/>
                <a:cs typeface="Malgun Gothic" pitchFamily="34" charset="-120"/>
              </a:rPr>
              <a:t>구현이 자동화될수록 정의 · 설계 · 검증 · 책임이라는 사람의 몫이 오히려 커집니다 — 그 몫이 이 과목의 목차입니다.</a:t>
            </a:r>
            <a:endParaRPr lang="en-US" sz="1350" dirty="0"/>
          </a:p>
        </p:txBody>
      </p:sp>
      <p:sp>
        <p:nvSpPr>
          <p:cNvPr id="14" name="Shape 11"/>
          <p:cNvSpPr/>
          <p:nvPr/>
        </p:nvSpPr>
        <p:spPr>
          <a:xfrm>
            <a:off x="658368" y="4572000"/>
            <a:ext cx="10872216" cy="1097280"/>
          </a:xfrm>
          <a:prstGeom prst="roundRect">
            <a:avLst>
              <a:gd name="adj" fmla="val 8333"/>
            </a:avLst>
          </a:prstGeom>
          <a:solidFill>
            <a:srgbClr val="FFFFFF"/>
          </a:solidFill>
          <a:ln/>
          <a:effectLst>
            <a:outerShdw sx="100000" sy="100000" kx="0" ky="0" algn="bl" rotWithShape="0" blurRad="152400" dist="25400" dir="5400000">
              <a:srgbClr val="1F1D48">
                <a:alpha val="16000"/>
              </a:srgbClr>
            </a:outerShdw>
          </a:effectLst>
        </p:spPr>
      </p:sp>
      <p:sp>
        <p:nvSpPr>
          <p:cNvPr id="15" name="Shape 12"/>
          <p:cNvSpPr/>
          <p:nvPr/>
        </p:nvSpPr>
        <p:spPr>
          <a:xfrm>
            <a:off x="896112" y="4873752"/>
            <a:ext cx="493776" cy="493776"/>
          </a:xfrm>
          <a:prstGeom prst="ellipse">
            <a:avLst/>
          </a:prstGeom>
          <a:solidFill>
            <a:srgbClr val="10B981"/>
          </a:solidFill>
          <a:ln/>
        </p:spPr>
      </p:sp>
      <p:sp>
        <p:nvSpPr>
          <p:cNvPr id="16" name="Text 13"/>
          <p:cNvSpPr/>
          <p:nvPr/>
        </p:nvSpPr>
        <p:spPr>
          <a:xfrm>
            <a:off x="896112" y="487375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3</a:t>
            </a:r>
            <a:endParaRPr lang="en-US" sz="1800" dirty="0"/>
          </a:p>
        </p:txBody>
      </p:sp>
      <p:sp>
        <p:nvSpPr>
          <p:cNvPr id="17" name="Text 14"/>
          <p:cNvSpPr/>
          <p:nvPr/>
        </p:nvSpPr>
        <p:spPr>
          <a:xfrm>
            <a:off x="1627632" y="4700016"/>
            <a:ext cx="9592056" cy="859536"/>
          </a:xfrm>
          <a:prstGeom prst="rect">
            <a:avLst/>
          </a:prstGeom>
          <a:noFill/>
          <a:ln/>
        </p:spPr>
        <p:txBody>
          <a:bodyPr wrap="square" lIns="0" tIns="0" rIns="0" bIns="0" rtlCol="0" anchor="ctr"/>
          <a:lstStyle/>
          <a:p>
            <a:pPr indent="0" marL="0">
              <a:lnSpc>
                <a:spcPts val="2000"/>
              </a:lnSpc>
              <a:buNone/>
            </a:pPr>
            <a:r>
              <a:rPr lang="en-US" sz="1350" dirty="0">
                <a:solidFill>
                  <a:srgbClr val="3C3B57"/>
                </a:solidFill>
                <a:latin typeface="Malgun Gothic" pitchFamily="34" charset="0"/>
                <a:ea typeface="Malgun Gothic" pitchFamily="34" charset="-122"/>
                <a:cs typeface="Malgun Gothic" pitchFamily="34" charset="-120"/>
              </a:rPr>
              <a:t>오늘 만든 Python · VS Code · Git · GitHub 환경이 한 학기의 작업대입니다 — 다음 주, 이 작업대에 AI를 연결합니다.</a:t>
            </a:r>
            <a:endParaRPr lang="en-US" sz="1350" dirty="0"/>
          </a:p>
        </p:txBody>
      </p:sp>
      <p:sp>
        <p:nvSpPr>
          <p:cNvPr id="18" name="Text 1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28</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632204" cy="384048"/>
          </a:xfrm>
          <a:prstGeom prst="roundRect">
            <a:avLst>
              <a:gd name="adj" fmla="val 50000"/>
            </a:avLst>
          </a:prstGeom>
          <a:solidFill>
            <a:srgbClr val="EDECFB"/>
          </a:solidFill>
          <a:ln/>
        </p:spPr>
      </p:sp>
      <p:pic>
        <p:nvPicPr>
          <p:cNvPr id="3" name="Image 0" descr="/home/claude/icons/chevro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248156"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예고 · 2강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다음 주 — 프로세스 모델, 그리고 AI 연결</a:t>
            </a:r>
            <a:endParaRPr lang="en-US" sz="2600" dirty="0"/>
          </a:p>
        </p:txBody>
      </p:sp>
      <p:sp>
        <p:nvSpPr>
          <p:cNvPr id="6" name="Shape 3"/>
          <p:cNvSpPr/>
          <p:nvPr/>
        </p:nvSpPr>
        <p:spPr>
          <a:xfrm>
            <a:off x="658368" y="1828800"/>
            <a:ext cx="457200" cy="457200"/>
          </a:xfrm>
          <a:prstGeom prst="ellipse">
            <a:avLst/>
          </a:prstGeom>
          <a:solidFill>
            <a:srgbClr val="7C3AED"/>
          </a:solidFill>
          <a:ln/>
        </p:spPr>
      </p:sp>
      <p:pic>
        <p:nvPicPr>
          <p:cNvPr id="7" name="Image 1" descr="/home/claude/icons/route_white.png">    </p:cNvPr>
          <p:cNvPicPr>
            <a:picLocks noChangeAspect="1"/>
          </p:cNvPicPr>
          <p:nvPr/>
        </p:nvPicPr>
        <p:blipFill>
          <a:blip r:embed="rId2"/>
          <a:stretch>
            <a:fillRect/>
          </a:stretch>
        </p:blipFill>
        <p:spPr>
          <a:xfrm>
            <a:off x="772668" y="1943100"/>
            <a:ext cx="228600" cy="228600"/>
          </a:xfrm>
          <a:prstGeom prst="rect">
            <a:avLst/>
          </a:prstGeom>
        </p:spPr>
      </p:pic>
      <p:sp>
        <p:nvSpPr>
          <p:cNvPr id="8" name="Text 4"/>
          <p:cNvSpPr/>
          <p:nvPr/>
        </p:nvSpPr>
        <p:spPr>
          <a:xfrm>
            <a:off x="1335024" y="1792224"/>
            <a:ext cx="5084064"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개발 프로세스 모델</a:t>
            </a:r>
            <a:endParaRPr lang="en-US" sz="1400" dirty="0"/>
          </a:p>
        </p:txBody>
      </p:sp>
      <p:sp>
        <p:nvSpPr>
          <p:cNvPr id="9" name="Text 5"/>
          <p:cNvSpPr/>
          <p:nvPr/>
        </p:nvSpPr>
        <p:spPr>
          <a:xfrm>
            <a:off x="1335024" y="2066544"/>
            <a:ext cx="5084064" cy="905256"/>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폭포수 · 반복적 · 애자일 — 만드는 '순서'가 결과를 어떻게 바꾸는지.</a:t>
            </a:r>
            <a:endParaRPr lang="en-US" sz="1150" dirty="0"/>
          </a:p>
        </p:txBody>
      </p:sp>
      <p:sp>
        <p:nvSpPr>
          <p:cNvPr id="10" name="Shape 6"/>
          <p:cNvSpPr/>
          <p:nvPr/>
        </p:nvSpPr>
        <p:spPr>
          <a:xfrm>
            <a:off x="658368" y="2971800"/>
            <a:ext cx="457200" cy="457200"/>
          </a:xfrm>
          <a:prstGeom prst="ellipse">
            <a:avLst/>
          </a:prstGeom>
          <a:solidFill>
            <a:srgbClr val="4F46E5"/>
          </a:solidFill>
          <a:ln/>
        </p:spPr>
      </p:sp>
      <p:pic>
        <p:nvPicPr>
          <p:cNvPr id="11" name="Image 2" descr="/home/claude/icons/bolt_white.png">    </p:cNvPr>
          <p:cNvPicPr>
            <a:picLocks noChangeAspect="1"/>
          </p:cNvPicPr>
          <p:nvPr/>
        </p:nvPicPr>
        <p:blipFill>
          <a:blip r:embed="rId3"/>
          <a:stretch>
            <a:fillRect/>
          </a:stretch>
        </p:blipFill>
        <p:spPr>
          <a:xfrm>
            <a:off x="772668" y="3086100"/>
            <a:ext cx="228600" cy="228600"/>
          </a:xfrm>
          <a:prstGeom prst="rect">
            <a:avLst/>
          </a:prstGeom>
        </p:spPr>
      </p:pic>
      <p:sp>
        <p:nvSpPr>
          <p:cNvPr id="12" name="Text 7"/>
          <p:cNvSpPr/>
          <p:nvPr/>
        </p:nvSpPr>
        <p:spPr>
          <a:xfrm>
            <a:off x="1335024" y="2935224"/>
            <a:ext cx="5084064"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AI 도구 환경 구축 (실습)</a:t>
            </a:r>
            <a:endParaRPr lang="en-US" sz="1400" dirty="0"/>
          </a:p>
        </p:txBody>
      </p:sp>
      <p:sp>
        <p:nvSpPr>
          <p:cNvPr id="13" name="Text 8"/>
          <p:cNvSpPr/>
          <p:nvPr/>
        </p:nvSpPr>
        <p:spPr>
          <a:xfrm>
            <a:off x="1335024" y="3209544"/>
            <a:ext cx="5084064" cy="905256"/>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Gemini API 키 발급 → 환경변수 설정 → VS Code에 Cline 연결 → 첫 지시.</a:t>
            </a:r>
            <a:endParaRPr lang="en-US" sz="1150" dirty="0"/>
          </a:p>
        </p:txBody>
      </p:sp>
      <p:sp>
        <p:nvSpPr>
          <p:cNvPr id="14" name="Shape 9"/>
          <p:cNvSpPr/>
          <p:nvPr/>
        </p:nvSpPr>
        <p:spPr>
          <a:xfrm>
            <a:off x="6720840" y="1828800"/>
            <a:ext cx="4809744" cy="2240280"/>
          </a:xfrm>
          <a:prstGeom prst="roundRect">
            <a:avLst>
              <a:gd name="adj" fmla="val 4082"/>
            </a:avLst>
          </a:prstGeom>
          <a:solidFill>
            <a:srgbClr val="EEF0FF"/>
          </a:solidFill>
          <a:ln/>
        </p:spPr>
      </p:sp>
      <p:sp>
        <p:nvSpPr>
          <p:cNvPr id="15" name="Text 10"/>
          <p:cNvSpPr/>
          <p:nvPr/>
        </p:nvSpPr>
        <p:spPr>
          <a:xfrm>
            <a:off x="6995160" y="2048256"/>
            <a:ext cx="4206240" cy="292608"/>
          </a:xfrm>
          <a:prstGeom prst="rect">
            <a:avLst/>
          </a:prstGeom>
          <a:noFill/>
          <a:ln/>
        </p:spPr>
        <p:txBody>
          <a:bodyPr wrap="square" lIns="0" tIns="0" rIns="0" bIns="0" rtlCol="0" anchor="ctr"/>
          <a:lstStyle/>
          <a:p>
            <a:pPr indent="0" marL="0">
              <a:buNone/>
            </a:pPr>
            <a:r>
              <a:rPr lang="en-US" sz="1350" b="1" dirty="0">
                <a:solidFill>
                  <a:srgbClr val="4338CA"/>
                </a:solidFill>
                <a:latin typeface="Malgun Gothic" pitchFamily="34" charset="0"/>
                <a:ea typeface="Malgun Gothic" pitchFamily="34" charset="-122"/>
                <a:cs typeface="Malgun Gothic" pitchFamily="34" charset="-120"/>
              </a:rPr>
              <a:t>준비물</a:t>
            </a:r>
            <a:endParaRPr lang="en-US" sz="1350" dirty="0"/>
          </a:p>
        </p:txBody>
      </p:sp>
      <p:sp>
        <p:nvSpPr>
          <p:cNvPr id="16" name="Text 11"/>
          <p:cNvSpPr/>
          <p:nvPr/>
        </p:nvSpPr>
        <p:spPr>
          <a:xfrm>
            <a:off x="6995160" y="2432304"/>
            <a:ext cx="4297680" cy="1463040"/>
          </a:xfrm>
          <a:prstGeom prst="rect">
            <a:avLst/>
          </a:prstGeom>
          <a:noFill/>
          <a:ln/>
        </p:spPr>
        <p:txBody>
          <a:bodyPr wrap="square" lIns="0" tIns="0" rIns="0" bIns="0" rtlCol="0" anchor="t"/>
          <a:lstStyle/>
          <a:p>
            <a:pPr algn="l" indent="0" marL="0">
              <a:lnSpc>
                <a:spcPts val="1800"/>
              </a:lnSpc>
              <a:buNone/>
            </a:pPr>
            <a:r>
              <a:rPr lang="en-US" sz="1200" dirty="0">
                <a:solidFill>
                  <a:srgbClr val="3C3B57"/>
                </a:solidFill>
                <a:latin typeface="Malgun Gothic" pitchFamily="34" charset="0"/>
                <a:ea typeface="Malgun Gothic" pitchFamily="34" charset="-122"/>
                <a:cs typeface="Malgun Gothic" pitchFamily="34" charset="-120"/>
              </a:rPr>
              <a:t>개인 구글 계정 — API 키 발급에 필요합니다.</a:t>
            </a:r>
            <a:endParaRPr lang="en-US" sz="1200" dirty="0"/>
          </a:p>
          <a:p>
            <a:pPr algn="l" indent="0" marL="0">
              <a:lnSpc>
                <a:spcPts val="1800"/>
              </a:lnSpc>
              <a:buNone/>
            </a:pPr>
            <a:endParaRPr lang="en-US" sz="1200" dirty="0"/>
          </a:p>
          <a:p>
            <a:pPr algn="l" indent="0" marL="0">
              <a:lnSpc>
                <a:spcPts val="1800"/>
              </a:lnSpc>
              <a:buNone/>
            </a:pPr>
            <a:r>
              <a:rPr lang="en-US" sz="1200" dirty="0">
                <a:solidFill>
                  <a:srgbClr val="3C3B57"/>
                </a:solidFill>
                <a:latin typeface="Malgun Gothic" pitchFamily="34" charset="0"/>
                <a:ea typeface="Malgun Gothic" pitchFamily="34" charset="-122"/>
                <a:cs typeface="Malgun Gothic" pitchFamily="34" charset="-120"/>
              </a:rPr>
              <a:t>오늘 설치한 환경 그대로의 노트북 — 새로 설치할 것은 확장 하나뿐입니다.</a:t>
            </a:r>
            <a:endParaRPr lang="en-US" sz="1200" dirty="0"/>
          </a:p>
        </p:txBody>
      </p:sp>
      <p:sp>
        <p:nvSpPr>
          <p:cNvPr id="17" name="Text 12"/>
          <p:cNvSpPr/>
          <p:nvPr/>
        </p:nvSpPr>
        <p:spPr>
          <a:xfrm>
            <a:off x="658368" y="4846320"/>
            <a:ext cx="10872216" cy="914400"/>
          </a:xfrm>
          <a:prstGeom prst="rect">
            <a:avLst/>
          </a:prstGeom>
          <a:noFill/>
          <a:ln/>
        </p:spPr>
        <p:txBody>
          <a:bodyPr wrap="square" lIns="0" tIns="0" rIns="0" bIns="0" rtlCol="0" anchor="t"/>
          <a:lstStyle/>
          <a:p>
            <a:pPr algn="l" indent="0" marL="0">
              <a:lnSpc>
                <a:spcPts val="1976"/>
              </a:lnSpc>
              <a:buNone/>
            </a:pPr>
            <a:r>
              <a:rPr lang="en-US" sz="1300" dirty="0">
                <a:solidFill>
                  <a:srgbClr val="6B7185"/>
                </a:solidFill>
                <a:latin typeface="Malgun Gothic" pitchFamily="34" charset="0"/>
                <a:ea typeface="Malgun Gothic" pitchFamily="34" charset="-122"/>
                <a:cs typeface="Malgun Gothic" pitchFamily="34" charset="-120"/>
              </a:rPr>
              <a:t>오늘 수업은 여기까지입니다. 체크리스트 다섯 개, 확인하고 가세요. 수고하셨습니다!</a:t>
            </a:r>
            <a:endParaRPr lang="en-US" sz="1300" dirty="0"/>
          </a:p>
        </p:txBody>
      </p:sp>
      <p:sp>
        <p:nvSpPr>
          <p:cNvPr id="18" name="Text 13"/>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29</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2026-08-04T08:27:57Z</dcterms:created>
  <dcterms:modified xsi:type="dcterms:W3CDTF">2026-08-04T08:27:57Z</dcterms:modified>
</cp:coreProperties>
</file>